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5.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64" r:id="rId3"/>
    <p:sldMasterId id="2147483677" r:id="rId4"/>
    <p:sldMasterId id="2147483669" r:id="rId5"/>
    <p:sldMasterId id="2147483672" r:id="rId6"/>
  </p:sldMasterIdLst>
  <p:notesMasterIdLst>
    <p:notesMasterId r:id="rId57"/>
  </p:notesMasterIdLst>
  <p:handoutMasterIdLst>
    <p:handoutMasterId r:id="rId58"/>
  </p:handoutMasterIdLst>
  <p:sldIdLst>
    <p:sldId id="258" r:id="rId7"/>
    <p:sldId id="269" r:id="rId8"/>
    <p:sldId id="270" r:id="rId9"/>
    <p:sldId id="271" r:id="rId10"/>
    <p:sldId id="272" r:id="rId11"/>
    <p:sldId id="273" r:id="rId12"/>
    <p:sldId id="274" r:id="rId13"/>
    <p:sldId id="275" r:id="rId14"/>
    <p:sldId id="276" r:id="rId15"/>
    <p:sldId id="277" r:id="rId16"/>
    <p:sldId id="278" r:id="rId17"/>
    <p:sldId id="279" r:id="rId18"/>
    <p:sldId id="280" r:id="rId19"/>
    <p:sldId id="281" r:id="rId20"/>
    <p:sldId id="282" r:id="rId21"/>
    <p:sldId id="283" r:id="rId22"/>
    <p:sldId id="284" r:id="rId23"/>
    <p:sldId id="285" r:id="rId24"/>
    <p:sldId id="286" r:id="rId25"/>
    <p:sldId id="287" r:id="rId26"/>
    <p:sldId id="288" r:id="rId27"/>
    <p:sldId id="289" r:id="rId28"/>
    <p:sldId id="290" r:id="rId29"/>
    <p:sldId id="291" r:id="rId30"/>
    <p:sldId id="292" r:id="rId31"/>
    <p:sldId id="293" r:id="rId32"/>
    <p:sldId id="294" r:id="rId33"/>
    <p:sldId id="295" r:id="rId34"/>
    <p:sldId id="296" r:id="rId35"/>
    <p:sldId id="297" r:id="rId36"/>
    <p:sldId id="298" r:id="rId37"/>
    <p:sldId id="299" r:id="rId38"/>
    <p:sldId id="300" r:id="rId39"/>
    <p:sldId id="301" r:id="rId40"/>
    <p:sldId id="302" r:id="rId41"/>
    <p:sldId id="303" r:id="rId42"/>
    <p:sldId id="304" r:id="rId43"/>
    <p:sldId id="305" r:id="rId44"/>
    <p:sldId id="306" r:id="rId45"/>
    <p:sldId id="307" r:id="rId46"/>
    <p:sldId id="308" r:id="rId47"/>
    <p:sldId id="309" r:id="rId48"/>
    <p:sldId id="310" r:id="rId49"/>
    <p:sldId id="311" r:id="rId50"/>
    <p:sldId id="312" r:id="rId51"/>
    <p:sldId id="313" r:id="rId52"/>
    <p:sldId id="314" r:id="rId53"/>
    <p:sldId id="315" r:id="rId54"/>
    <p:sldId id="316" r:id="rId55"/>
    <p:sldId id="317" r:id="rId5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D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88" autoAdjust="0"/>
    <p:restoredTop sz="83799" autoAdjust="0"/>
  </p:normalViewPr>
  <p:slideViewPr>
    <p:cSldViewPr>
      <p:cViewPr>
        <p:scale>
          <a:sx n="70" d="100"/>
          <a:sy n="70" d="100"/>
        </p:scale>
        <p:origin x="-1386" y="-84"/>
      </p:cViewPr>
      <p:guideLst>
        <p:guide orient="horz" pos="2160"/>
        <p:guide pos="2880"/>
      </p:guideLst>
    </p:cSldViewPr>
  </p:slideViewPr>
  <p:outlineViewPr>
    <p:cViewPr>
      <p:scale>
        <a:sx n="33" d="100"/>
        <a:sy n="33" d="100"/>
      </p:scale>
      <p:origin x="0" y="36504"/>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3" d="100"/>
          <a:sy n="53" d="100"/>
        </p:scale>
        <p:origin x="-2952"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slide" Target="slides/slide49.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handoutMaster" Target="handoutMasters/handoutMaster1.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notesMaster" Target="notesMasters/notesMaster1.xml"/><Relationship Id="rId61"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image" Target="../media/image20.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image" Target="../media/image22.e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image" Target="../media/image24.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4C3143B-620F-4987-B4C6-8DA41D14F534}" type="datetimeFigureOut">
              <a:rPr lang="en-US" smtClean="0"/>
              <a:t>6/16/2016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C9E537F-0D91-4DE0-B9F5-55E2B2118790}" type="slidenum">
              <a:rPr lang="en-US" smtClean="0"/>
              <a:t>‹#›</a:t>
            </a:fld>
            <a:endParaRPr lang="en-US"/>
          </a:p>
        </p:txBody>
      </p:sp>
    </p:spTree>
    <p:extLst>
      <p:ext uri="{BB962C8B-B14F-4D97-AF65-F5344CB8AC3E}">
        <p14:creationId xmlns:p14="http://schemas.microsoft.com/office/powerpoint/2010/main" val="6755922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8B7A522-1067-4090-8338-D2D3A24AAAF6}" type="datetimeFigureOut">
              <a:rPr lang="en-US" smtClean="0"/>
              <a:t>6/16/2016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F19A4D4-42B8-482F-A3F9-BD6E0B3BC1CB}" type="slidenum">
              <a:rPr lang="en-US" smtClean="0"/>
              <a:t>‹#›</a:t>
            </a:fld>
            <a:endParaRPr lang="en-US"/>
          </a:p>
        </p:txBody>
      </p:sp>
    </p:spTree>
    <p:extLst>
      <p:ext uri="{BB962C8B-B14F-4D97-AF65-F5344CB8AC3E}">
        <p14:creationId xmlns:p14="http://schemas.microsoft.com/office/powerpoint/2010/main" val="19818132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F19A4D4-42B8-482F-A3F9-BD6E0B3BC1CB}" type="slidenum">
              <a:rPr lang="en-US" smtClean="0"/>
              <a:t>1</a:t>
            </a:fld>
            <a:endParaRPr lang="en-US"/>
          </a:p>
        </p:txBody>
      </p:sp>
    </p:spTree>
    <p:extLst>
      <p:ext uri="{BB962C8B-B14F-4D97-AF65-F5344CB8AC3E}">
        <p14:creationId xmlns:p14="http://schemas.microsoft.com/office/powerpoint/2010/main" val="30850018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2971800"/>
            <a:ext cx="9144000" cy="1676400"/>
          </a:xfrm>
          <a:prstGeom prst="rect">
            <a:avLst/>
          </a:prstGeom>
          <a:noFill/>
        </p:spPr>
        <p:txBody>
          <a:bodyPr/>
          <a:lstStyle>
            <a:lvl1pPr marL="91440">
              <a:lnSpc>
                <a:spcPct val="100000"/>
              </a:lnSpc>
              <a:spcBef>
                <a:spcPts val="600"/>
              </a:spcBef>
              <a:defRPr sz="5400" b="0">
                <a:solidFill>
                  <a:srgbClr val="002D56"/>
                </a:solidFill>
              </a:defRPr>
            </a:lvl1pPr>
          </a:lstStyle>
          <a:p>
            <a:r>
              <a:rPr lang="en-US" dirty="0" smtClean="0"/>
              <a:t>CLICK TO EDIT				Master title style</a:t>
            </a:r>
            <a:endParaRPr lang="en-US" dirty="0"/>
          </a:p>
        </p:txBody>
      </p:sp>
      <p:sp>
        <p:nvSpPr>
          <p:cNvPr id="8" name="Title Placeholder 1"/>
          <p:cNvSpPr txBox="1">
            <a:spLocks/>
          </p:cNvSpPr>
          <p:nvPr userDrawn="1"/>
        </p:nvSpPr>
        <p:spPr>
          <a:xfrm>
            <a:off x="-76200" y="0"/>
            <a:ext cx="9220200" cy="609600"/>
          </a:xfrm>
          <a:prstGeom prst="rect">
            <a:avLst/>
          </a:prstGeom>
          <a:blipFill>
            <a:blip r:embed="rId2"/>
            <a:stretch>
              <a:fillRect/>
            </a:stretch>
          </a:blipFill>
        </p:spPr>
        <p:txBody>
          <a:bodyPr vert="horz" lIns="0" tIns="182880" rIns="0" bIns="45720" rtlCol="0" anchor="ctr">
            <a:noAutofit/>
          </a:bodyPr>
          <a:lstStyle>
            <a:lvl1pPr algn="ctr" defTabSz="914400" rtl="0" eaLnBrk="1" latinLnBrk="0" hangingPunct="1">
              <a:lnSpc>
                <a:spcPct val="200000"/>
              </a:lnSpc>
              <a:spcBef>
                <a:spcPct val="0"/>
              </a:spcBef>
              <a:buNone/>
              <a:defRPr sz="4400" b="0" kern="1200" baseline="30000">
                <a:solidFill>
                  <a:schemeClr val="bg1"/>
                </a:solidFill>
                <a:latin typeface="+mj-lt"/>
                <a:ea typeface="+mj-ea"/>
                <a:cs typeface="+mj-cs"/>
              </a:defRPr>
            </a:lvl1pPr>
          </a:lstStyle>
          <a:p>
            <a:r>
              <a:rPr lang="en-US" dirty="0" smtClean="0"/>
              <a:t>Walter Nicholson | Christopher Snyder	 12th edition</a:t>
            </a:r>
            <a:endParaRPr lang="en-US" dirty="0"/>
          </a:p>
        </p:txBody>
      </p:sp>
      <p:sp>
        <p:nvSpPr>
          <p:cNvPr id="9" name="Footer Placeholder 8"/>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10" name="Slide Number Placeholder 9"/>
          <p:cNvSpPr>
            <a:spLocks noGrp="1"/>
          </p:cNvSpPr>
          <p:nvPr>
            <p:ph type="sldNum" sz="quarter" idx="11"/>
          </p:nvPr>
        </p:nvSpPr>
        <p:spPr/>
        <p:txBody>
          <a:bodyPr/>
          <a:lstStyle/>
          <a:p>
            <a:fld id="{DF079196-2514-49FB-B48C-98AEBE754E63}" type="slidenum">
              <a:rPr lang="en-US" smtClean="0"/>
              <a:t>‹#›</a:t>
            </a:fld>
            <a:endParaRPr lang="en-US"/>
          </a:p>
        </p:txBody>
      </p:sp>
    </p:spTree>
    <p:extLst>
      <p:ext uri="{BB962C8B-B14F-4D97-AF65-F5344CB8AC3E}">
        <p14:creationId xmlns:p14="http://schemas.microsoft.com/office/powerpoint/2010/main" val="38421878"/>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610600" cy="1143000"/>
          </a:xfrm>
        </p:spPr>
        <p:txBody>
          <a:bodyPr/>
          <a:lstStyle>
            <a:lvl1pPr>
              <a:defRPr>
                <a:solidFill>
                  <a:srgbClr val="002D56"/>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381000" y="1219200"/>
            <a:ext cx="8534400" cy="5181600"/>
          </a:xfrm>
        </p:spPr>
        <p:txBody>
          <a:bodyPr>
            <a:noAutofit/>
          </a:bodyPr>
          <a:lstStyle>
            <a:lvl1pPr>
              <a:defRPr>
                <a:solidFill>
                  <a:srgbClr val="C00000"/>
                </a:solidFill>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6"/>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8" name="Slide Number Placeholder 7"/>
          <p:cNvSpPr>
            <a:spLocks noGrp="1"/>
          </p:cNvSpPr>
          <p:nvPr>
            <p:ph type="sldNum" sz="quarter" idx="11"/>
          </p:nvPr>
        </p:nvSpPr>
        <p:spPr/>
        <p:txBody>
          <a:bodyPr/>
          <a:lstStyle/>
          <a:p>
            <a:fld id="{720B335A-255B-4303-A333-FBB711D61B6F}" type="slidenum">
              <a:rPr lang="en-US" smtClean="0"/>
              <a:t>‹#›</a:t>
            </a:fld>
            <a:endParaRPr lang="en-US"/>
          </a:p>
        </p:txBody>
      </p:sp>
    </p:spTree>
    <p:extLst>
      <p:ext uri="{BB962C8B-B14F-4D97-AF65-F5344CB8AC3E}">
        <p14:creationId xmlns:p14="http://schemas.microsoft.com/office/powerpoint/2010/main" val="3338480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610600" cy="1143000"/>
          </a:xfrm>
        </p:spPr>
        <p:txBody>
          <a:bodyPr/>
          <a:lstStyle>
            <a:lvl1pPr>
              <a:defRPr>
                <a:solidFill>
                  <a:srgbClr val="002D56"/>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381000" y="1219200"/>
            <a:ext cx="8534400" cy="2819400"/>
          </a:xfrm>
        </p:spPr>
        <p:txBody>
          <a:bodyPr>
            <a:noAutofit/>
          </a:bodyPr>
          <a:lstStyle>
            <a:lvl1pPr>
              <a:defRPr>
                <a:solidFill>
                  <a:srgbClr val="C00000"/>
                </a:solidFill>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6"/>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8" name="Slide Number Placeholder 7"/>
          <p:cNvSpPr>
            <a:spLocks noGrp="1"/>
          </p:cNvSpPr>
          <p:nvPr>
            <p:ph type="sldNum" sz="quarter" idx="11"/>
          </p:nvPr>
        </p:nvSpPr>
        <p:spPr/>
        <p:txBody>
          <a:bodyPr/>
          <a:lstStyle/>
          <a:p>
            <a:fld id="{720B335A-255B-4303-A333-FBB711D61B6F}" type="slidenum">
              <a:rPr lang="en-US" smtClean="0"/>
              <a:t>‹#›</a:t>
            </a:fld>
            <a:endParaRPr lang="en-US"/>
          </a:p>
        </p:txBody>
      </p:sp>
      <p:sp>
        <p:nvSpPr>
          <p:cNvPr id="5" name="Text Placeholder 4"/>
          <p:cNvSpPr>
            <a:spLocks noGrp="1"/>
          </p:cNvSpPr>
          <p:nvPr>
            <p:ph type="body" sz="quarter" idx="12"/>
          </p:nvPr>
        </p:nvSpPr>
        <p:spPr>
          <a:xfrm>
            <a:off x="381000" y="4114800"/>
            <a:ext cx="8534400" cy="21336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590485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sz="half" idx="1"/>
          </p:nvPr>
        </p:nvSpPr>
        <p:spPr>
          <a:xfrm>
            <a:off x="457200" y="1600200"/>
            <a:ext cx="2971800" cy="4525963"/>
          </a:xfrm>
          <a:prstGeom prst="rect">
            <a:avLst/>
          </a:prstGeom>
        </p:spPr>
        <p:txBody>
          <a:bodyPr/>
          <a:lstStyle>
            <a:lvl1pPr marL="0" indent="0">
              <a:buNone/>
              <a:defRPr sz="1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endParaRPr lang="en-US" dirty="0"/>
          </a:p>
        </p:txBody>
      </p:sp>
      <p:sp>
        <p:nvSpPr>
          <p:cNvPr id="8" name="Footer Placeholder 7"/>
          <p:cNvSpPr>
            <a:spLocks noGrp="1"/>
          </p:cNvSpPr>
          <p:nvPr>
            <p:ph type="ftr" sz="quarter" idx="10"/>
          </p:nvPr>
        </p:nvSpPr>
        <p:spPr/>
        <p:txBody>
          <a:body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9" name="Slide Number Placeholder 8"/>
          <p:cNvSpPr>
            <a:spLocks noGrp="1"/>
          </p:cNvSpPr>
          <p:nvPr>
            <p:ph type="sldNum" sz="quarter" idx="11"/>
          </p:nvPr>
        </p:nvSpPr>
        <p:spPr/>
        <p:txBody>
          <a:bodyPr/>
          <a:lstStyle/>
          <a:p>
            <a:fld id="{F2BCF9F2-1022-4C47-AC3A-FA21E418CE18}" type="slidenum">
              <a:rPr lang="en-US" smtClean="0"/>
              <a:t>‹#›</a:t>
            </a:fld>
            <a:endParaRPr lang="en-US" dirty="0"/>
          </a:p>
        </p:txBody>
      </p:sp>
    </p:spTree>
    <p:extLst>
      <p:ext uri="{BB962C8B-B14F-4D97-AF65-F5344CB8AC3E}">
        <p14:creationId xmlns:p14="http://schemas.microsoft.com/office/powerpoint/2010/main" val="134382034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sz="half" idx="1"/>
          </p:nvPr>
        </p:nvSpPr>
        <p:spPr>
          <a:xfrm>
            <a:off x="457200" y="1600200"/>
            <a:ext cx="2971800" cy="4525963"/>
          </a:xfrm>
          <a:prstGeom prst="rect">
            <a:avLst/>
          </a:prstGeom>
        </p:spPr>
        <p:txBody>
          <a:bodyPr/>
          <a:lstStyle>
            <a:lvl1pPr marL="0" indent="0">
              <a:buNone/>
              <a:defRPr sz="1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endParaRPr lang="en-US" dirty="0"/>
          </a:p>
        </p:txBody>
      </p:sp>
      <p:sp>
        <p:nvSpPr>
          <p:cNvPr id="8" name="Footer Placeholder 7"/>
          <p:cNvSpPr>
            <a:spLocks noGrp="1"/>
          </p:cNvSpPr>
          <p:nvPr>
            <p:ph type="ftr" sz="quarter" idx="10"/>
          </p:nvPr>
        </p:nvSpPr>
        <p:spPr/>
        <p:txBody>
          <a:body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9" name="Slide Number Placeholder 8"/>
          <p:cNvSpPr>
            <a:spLocks noGrp="1"/>
          </p:cNvSpPr>
          <p:nvPr>
            <p:ph type="sldNum" sz="quarter" idx="11"/>
          </p:nvPr>
        </p:nvSpPr>
        <p:spPr/>
        <p:txBody>
          <a:bodyPr/>
          <a:lstStyle/>
          <a:p>
            <a:fld id="{F2BCF9F2-1022-4C47-AC3A-FA21E418CE18}" type="slidenum">
              <a:rPr lang="en-US" smtClean="0"/>
              <a:t>‹#›</a:t>
            </a:fld>
            <a:endParaRPr lang="en-US" dirty="0"/>
          </a:p>
        </p:txBody>
      </p:sp>
    </p:spTree>
    <p:extLst>
      <p:ext uri="{BB962C8B-B14F-4D97-AF65-F5344CB8AC3E}">
        <p14:creationId xmlns:p14="http://schemas.microsoft.com/office/powerpoint/2010/main" val="1615134138"/>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5867400"/>
          </a:xfrm>
          <a:prstGeom prst="rect">
            <a:avLst/>
          </a:prstGeom>
        </p:spPr>
        <p:txBody>
          <a:bodyPr>
            <a:noAutofit/>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995695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2667000"/>
          </a:xfrm>
          <a:prstGeom prst="rect">
            <a:avLst/>
          </a:prstGeom>
        </p:spPr>
        <p:txBody>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ext Placeholder 6"/>
          <p:cNvSpPr>
            <a:spLocks noGrp="1"/>
          </p:cNvSpPr>
          <p:nvPr>
            <p:ph type="body" sz="quarter" idx="13"/>
          </p:nvPr>
        </p:nvSpPr>
        <p:spPr>
          <a:xfrm>
            <a:off x="381000" y="3429000"/>
            <a:ext cx="8382000" cy="27432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919192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Tree>
    <p:extLst>
      <p:ext uri="{BB962C8B-B14F-4D97-AF65-F5344CB8AC3E}">
        <p14:creationId xmlns:p14="http://schemas.microsoft.com/office/powerpoint/2010/main" val="3595564253"/>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lvl1pPr>
              <a:defRPr>
                <a:latin typeface="+mn-lt"/>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5867400"/>
          </a:xfrm>
          <a:prstGeom prst="rect">
            <a:avLst/>
          </a:prstGeom>
        </p:spPr>
        <p:txBody>
          <a:bodyPr>
            <a:noAutofit/>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40793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lvl1pPr>
              <a:defRPr>
                <a:latin typeface="+mn-lt"/>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2667000"/>
          </a:xfrm>
          <a:prstGeom prst="rect">
            <a:avLst/>
          </a:prstGeom>
        </p:spPr>
        <p:txBody>
          <a:bodyPr>
            <a:noAutofit/>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ext Placeholder 6"/>
          <p:cNvSpPr>
            <a:spLocks noGrp="1"/>
          </p:cNvSpPr>
          <p:nvPr>
            <p:ph type="body" sz="quarter" idx="13"/>
          </p:nvPr>
        </p:nvSpPr>
        <p:spPr>
          <a:xfrm>
            <a:off x="457200" y="3352800"/>
            <a:ext cx="8305800" cy="2895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87490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3.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6.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4.xml"/><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6.png"/></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10.png"/><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9.png"/><Relationship Id="rId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9.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8" name="Picture 4" descr="C:\Users\Andreea\Desktop\Cengage\Nicholson 12e\cover\ch bkg.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2590800"/>
            <a:ext cx="9144000" cy="3779959"/>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Andreea\Desktop\Cengage\Nicholson 12e\cover\MT.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516184"/>
            <a:ext cx="9144000" cy="2243731"/>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p:cNvSpPr>
            <a:spLocks noGrp="1"/>
          </p:cNvSpPr>
          <p:nvPr>
            <p:ph type="ftr" sz="quarter" idx="3"/>
          </p:nvPr>
        </p:nvSpPr>
        <p:spPr>
          <a:xfrm>
            <a:off x="0" y="6400800"/>
            <a:ext cx="8686800" cy="457201"/>
          </a:xfrm>
          <a:prstGeom prst="rect">
            <a:avLst/>
          </a:prstGeom>
        </p:spPr>
        <p:txBody>
          <a:bodyPr vert="horz" lIns="91440" tIns="45720" rIns="91440" bIns="45720" rtlCol="0" anchor="ctr"/>
          <a:lstStyle>
            <a:lvl1pPr algn="l">
              <a:defRPr sz="1100">
                <a:solidFill>
                  <a:schemeClr val="tx1"/>
                </a:solidFill>
              </a:defRPr>
            </a:lvl1p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86800" y="6492875"/>
            <a:ext cx="457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079196-2514-49FB-B48C-98AEBE754E63}" type="slidenum">
              <a:rPr lang="en-US" smtClean="0"/>
              <a:t>‹#›</a:t>
            </a:fld>
            <a:endParaRPr lang="en-US"/>
          </a:p>
        </p:txBody>
      </p:sp>
      <p:sp>
        <p:nvSpPr>
          <p:cNvPr id="7" name="Subtitle 2"/>
          <p:cNvSpPr txBox="1">
            <a:spLocks/>
          </p:cNvSpPr>
          <p:nvPr userDrawn="1"/>
        </p:nvSpPr>
        <p:spPr>
          <a:xfrm>
            <a:off x="5105400" y="5562600"/>
            <a:ext cx="4038600" cy="914400"/>
          </a:xfrm>
          <a:prstGeom prst="rect">
            <a:avLst/>
          </a:prstGeom>
        </p:spPr>
        <p:txBody>
          <a:bodyPr/>
          <a:lstStyle>
            <a:lvl1pPr marL="0" indent="0" algn="ctr" defTabSz="914400" rtl="0" eaLnBrk="1" latinLnBrk="0" hangingPunct="1">
              <a:lnSpc>
                <a:spcPct val="80000"/>
              </a:lnSpc>
              <a:spcBef>
                <a:spcPct val="20000"/>
              </a:spcBef>
              <a:buFont typeface="Arial" panose="020B0604020202020204" pitchFamily="34" charset="0"/>
              <a:buNone/>
              <a:defRPr sz="3200" kern="1200">
                <a:solidFill>
                  <a:schemeClr val="tx1"/>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defRPr/>
            </a:pPr>
            <a:r>
              <a:rPr lang="en-US" sz="1600" smtClean="0">
                <a:latin typeface="Arial" pitchFamily="34" charset="0"/>
              </a:rPr>
              <a:t>PowerPoint Slides prepared by: </a:t>
            </a:r>
          </a:p>
          <a:p>
            <a:pPr>
              <a:defRPr/>
            </a:pPr>
            <a:r>
              <a:rPr lang="en-US" sz="1600" smtClean="0">
                <a:latin typeface="Arial" pitchFamily="34" charset="0"/>
              </a:rPr>
              <a:t>V. Andreea CHIRITESCU</a:t>
            </a:r>
          </a:p>
          <a:p>
            <a:pPr>
              <a:defRPr/>
            </a:pPr>
            <a:r>
              <a:rPr lang="en-US" sz="1600" smtClean="0">
                <a:latin typeface="Arial" pitchFamily="34" charset="0"/>
              </a:rPr>
              <a:t>Eastern Illinois University</a:t>
            </a:r>
            <a:endParaRPr lang="en-US" sz="1600" dirty="0">
              <a:latin typeface="Arial" pitchFamily="34" charset="0"/>
            </a:endParaRPr>
          </a:p>
        </p:txBody>
      </p:sp>
    </p:spTree>
    <p:extLst>
      <p:ext uri="{BB962C8B-B14F-4D97-AF65-F5344CB8AC3E}">
        <p14:creationId xmlns:p14="http://schemas.microsoft.com/office/powerpoint/2010/main" val="2146056027"/>
      </p:ext>
    </p:extLst>
  </p:cSld>
  <p:clrMap bg1="lt1" tx1="dk1" bg2="lt2" tx2="dk2" accent1="accent1" accent2="accent2" accent3="accent3" accent4="accent4" accent5="accent5" accent6="accent6" hlink="hlink" folHlink="folHlink"/>
  <p:sldLayoutIdLst>
    <p:sldLayoutId id="2147483649" r:id="rId1"/>
  </p:sldLayoutIdLst>
  <p:timing>
    <p:tnLst>
      <p:par>
        <p:cTn id="1" dur="indefinite" restart="never" nodeType="tmRoot"/>
      </p:par>
    </p:tnLst>
  </p:timing>
  <p:hf hdr="0" dt="0"/>
  <p:txStyles>
    <p:titleStyle>
      <a:lvl1pPr algn="ctr" defTabSz="914400" rtl="0" eaLnBrk="1" latinLnBrk="0" hangingPunct="1">
        <a:lnSpc>
          <a:spcPct val="200000"/>
        </a:lnSpc>
        <a:spcBef>
          <a:spcPct val="0"/>
        </a:spcBef>
        <a:buNone/>
        <a:defRPr sz="4400" b="0" kern="1200" baseline="300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0668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314328" y="1143000"/>
            <a:ext cx="8601072" cy="5335589"/>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3"/>
          </p:nvPr>
        </p:nvSpPr>
        <p:spPr>
          <a:xfrm>
            <a:off x="0" y="6400801"/>
            <a:ext cx="8686800"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86800" y="6492875"/>
            <a:ext cx="457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0B335A-255B-4303-A333-FBB711D61B6F}" type="slidenum">
              <a:rPr lang="en-US" smtClean="0"/>
              <a:t>‹#›</a:t>
            </a:fld>
            <a:endParaRPr lang="en-US"/>
          </a:p>
        </p:txBody>
      </p:sp>
      <p:pic>
        <p:nvPicPr>
          <p:cNvPr id="3074" name="Picture 2" descr="C:\Users\Andreea\Desktop\Cengage\Nicholson 12e\cover\red.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6200000">
            <a:off x="-3043235" y="3043235"/>
            <a:ext cx="6400800" cy="31432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C:\Users\Andreea\Desktop\Cengage\Nicholson 12e\cover\red.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0800000">
            <a:off x="314328" y="985836"/>
            <a:ext cx="8829672" cy="1571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3163784"/>
      </p:ext>
    </p:extLst>
  </p:cSld>
  <p:clrMap bg1="lt1" tx1="dk1" bg2="lt2" tx2="dk2" accent1="accent1" accent2="accent2" accent3="accent3" accent4="accent4" accent5="accent5" accent6="accent6" hlink="hlink" folHlink="folHlink"/>
  <p:sldLayoutIdLst>
    <p:sldLayoutId id="2147483662" r:id="rId1"/>
    <p:sldLayoutId id="2147483676" r:id="rId2"/>
  </p:sldLayoutIdLst>
  <p:timing>
    <p:tnLst>
      <p:par>
        <p:cTn id="1" dur="indefinite" restart="never" nodeType="tmRoot"/>
      </p:par>
    </p:tnLst>
  </p:timing>
  <p:hf hdr="0" dt="0"/>
  <p:txStyles>
    <p:titleStyle>
      <a:lvl1pPr algn="ctr" defTabSz="914400" rtl="0" eaLnBrk="1" latinLnBrk="0" hangingPunct="1">
        <a:spcBef>
          <a:spcPct val="0"/>
        </a:spcBef>
        <a:buNone/>
        <a:defRPr sz="40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400" kern="1200">
          <a:solidFill>
            <a:srgbClr val="C00000"/>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098"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14287" y="471488"/>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0800000">
            <a:off x="8248650" y="457200"/>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9144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143000" y="0"/>
            <a:ext cx="8001000"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defRPr>
            </a:lvl1p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pic>
        <p:nvPicPr>
          <p:cNvPr id="4100" name="Picture 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 y="0"/>
            <a:ext cx="1143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12366463"/>
      </p:ext>
    </p:extLst>
  </p:cSld>
  <p:clrMap bg1="lt1" tx1="dk1" bg2="lt2" tx2="dk2" accent1="accent1" accent2="accent2" accent3="accent3" accent4="accent4" accent5="accent5" accent6="accent6" hlink="hlink" folHlink="folHlink"/>
  <p:sldLayoutIdLst>
    <p:sldLayoutId id="2147483668" r:id="rId1"/>
  </p:sldLayoutIdLst>
  <p:timing>
    <p:tnLst>
      <p:par>
        <p:cTn id="1" dur="indefinite" restart="never" nodeType="tmRoot"/>
      </p:par>
    </p:tnLst>
  </p:timing>
  <p:hf hdr="0" dt="0"/>
  <p:txStyles>
    <p:titleStyle>
      <a:lvl1pPr algn="l"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098"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14287" y="471488"/>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0800000">
            <a:off x="8248650" y="457200"/>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9144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200150" y="0"/>
            <a:ext cx="7943850"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defRPr>
            </a:lvl1p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grpSp>
        <p:nvGrpSpPr>
          <p:cNvPr id="3" name="Group 2"/>
          <p:cNvGrpSpPr/>
          <p:nvPr userDrawn="1"/>
        </p:nvGrpSpPr>
        <p:grpSpPr>
          <a:xfrm rot="10800000">
            <a:off x="1" y="5505448"/>
            <a:ext cx="9144000" cy="895351"/>
            <a:chOff x="138110" y="3505200"/>
            <a:chExt cx="9144000" cy="895351"/>
          </a:xfrm>
        </p:grpSpPr>
        <p:pic>
          <p:nvPicPr>
            <p:cNvPr id="9"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123823" y="3519488"/>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0800000">
              <a:off x="8386760" y="3505200"/>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84994" name="Picture 2"/>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0"/>
            <a:ext cx="12001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75858699"/>
      </p:ext>
    </p:extLst>
  </p:cSld>
  <p:clrMap bg1="lt1" tx1="dk1" bg2="lt2" tx2="dk2" accent1="accent1" accent2="accent2" accent3="accent3" accent4="accent4" accent5="accent5" accent6="accent6" hlink="hlink" folHlink="folHlink"/>
  <p:sldLayoutIdLst>
    <p:sldLayoutId id="2147483678" r:id="rId1"/>
  </p:sldLayoutIdLst>
  <p:timing>
    <p:tnLst>
      <p:par>
        <p:cTn id="1" dur="indefinite" restart="never" nodeType="tmRoot"/>
      </p:par>
    </p:tnLst>
  </p:timing>
  <p:hf hdr="0" dt="0"/>
  <p:txStyles>
    <p:titleStyle>
      <a:lvl1pPr algn="l"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2" name="Picture 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rot="5400000">
            <a:off x="5700712" y="3414712"/>
            <a:ext cx="6477000"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rot="5400000">
            <a:off x="-3033712" y="3414712"/>
            <a:ext cx="6477000"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 y="0"/>
            <a:ext cx="9144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764344" y="0"/>
            <a:ext cx="7379656"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defRPr>
            </a:lvl1p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pic>
        <p:nvPicPr>
          <p:cNvPr id="5122" name="Picture 2"/>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 y="0"/>
            <a:ext cx="1764345"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 Placeholder 2"/>
          <p:cNvSpPr>
            <a:spLocks noGrp="1"/>
          </p:cNvSpPr>
          <p:nvPr>
            <p:ph type="body" idx="1"/>
          </p:nvPr>
        </p:nvSpPr>
        <p:spPr>
          <a:xfrm>
            <a:off x="457200" y="609600"/>
            <a:ext cx="8229600" cy="58674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453884566"/>
      </p:ext>
    </p:extLst>
  </p:cSld>
  <p:clrMap bg1="lt1" tx1="dk1" bg2="lt2" tx2="dk2" accent1="accent1" accent2="accent2" accent3="accent3" accent4="accent4" accent5="accent5" accent6="accent6" hlink="hlink" folHlink="folHlink"/>
  <p:sldLayoutIdLst>
    <p:sldLayoutId id="2147483671" r:id="rId1"/>
    <p:sldLayoutId id="2147483674" r:id="rId2"/>
    <p:sldLayoutId id="2147483679" r:id="rId3"/>
  </p:sldLayoutIdLst>
  <p:timing>
    <p:tnLst>
      <p:par>
        <p:cTn id="1" dur="indefinite" restart="never" nodeType="tmRoot"/>
      </p:par>
    </p:tnLst>
  </p:timing>
  <p:hf hdr="0" dt="0"/>
  <p:txStyles>
    <p:titleStyle>
      <a:lvl1pPr algn="l"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rgbClr val="C00000"/>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 name="Picture 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6200000">
            <a:off x="5510213" y="3224211"/>
            <a:ext cx="6858001"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6200000">
            <a:off x="-2895600" y="3095624"/>
            <a:ext cx="6200777"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0"/>
            <a:ext cx="9144000" cy="4619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600200" y="0"/>
            <a:ext cx="7543800"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latin typeface="+mn-lt"/>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sp>
        <p:nvSpPr>
          <p:cNvPr id="3" name="Text Placeholder 2"/>
          <p:cNvSpPr>
            <a:spLocks noGrp="1"/>
          </p:cNvSpPr>
          <p:nvPr>
            <p:ph type="body" idx="1"/>
          </p:nvPr>
        </p:nvSpPr>
        <p:spPr>
          <a:xfrm>
            <a:off x="457200" y="533400"/>
            <a:ext cx="8229600" cy="59436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6146"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0" y="0"/>
            <a:ext cx="1724025" cy="400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75283110"/>
      </p:ext>
    </p:extLst>
  </p:cSld>
  <p:clrMap bg1="lt1" tx1="dk1" bg2="lt2" tx2="dk2" accent1="accent1" accent2="accent2" accent3="accent3" accent4="accent4" accent5="accent5" accent6="accent6" hlink="hlink" folHlink="folHlink"/>
  <p:sldLayoutIdLst>
    <p:sldLayoutId id="2147483673" r:id="rId1"/>
    <p:sldLayoutId id="2147483689" r:id="rId2"/>
  </p:sldLayoutIdLst>
  <p:timing>
    <p:tnLst>
      <p:par>
        <p:cTn id="1" dur="indefinite" restart="never" nodeType="tmRoot"/>
      </p:par>
    </p:tnLst>
  </p:timing>
  <p:hf hdr="0" dt="0"/>
  <p:txStyles>
    <p:titleStyle>
      <a:lvl1pPr algn="ctr"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rgbClr val="C00000"/>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image" Target="../media/image14.wmf"/><Relationship Id="rId5" Type="http://schemas.openxmlformats.org/officeDocument/2006/relationships/oleObject" Target="../embeddings/oleObject2.bin"/><Relationship Id="rId4" Type="http://schemas.openxmlformats.org/officeDocument/2006/relationships/image" Target="../media/image13.w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5.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6.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7.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8.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3.xml"/><Relationship Id="rId1" Type="http://schemas.openxmlformats.org/officeDocument/2006/relationships/vmlDrawing" Target="../drawings/vmlDrawing6.vml"/><Relationship Id="rId4" Type="http://schemas.openxmlformats.org/officeDocument/2006/relationships/image" Target="../media/image19.w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21.emf"/><Relationship Id="rId5" Type="http://schemas.openxmlformats.org/officeDocument/2006/relationships/oleObject" Target="../embeddings/oleObject9.bin"/><Relationship Id="rId4" Type="http://schemas.openxmlformats.org/officeDocument/2006/relationships/image" Target="../media/image20.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6.xml"/><Relationship Id="rId1" Type="http://schemas.openxmlformats.org/officeDocument/2006/relationships/vmlDrawing" Target="../drawings/vmlDrawing8.vml"/><Relationship Id="rId6" Type="http://schemas.openxmlformats.org/officeDocument/2006/relationships/image" Target="../media/image23.emf"/><Relationship Id="rId5" Type="http://schemas.openxmlformats.org/officeDocument/2006/relationships/oleObject" Target="../embeddings/oleObject11.bin"/><Relationship Id="rId4" Type="http://schemas.openxmlformats.org/officeDocument/2006/relationships/image" Target="../media/image22.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6.xml"/><Relationship Id="rId1" Type="http://schemas.openxmlformats.org/officeDocument/2006/relationships/vmlDrawing" Target="../drawings/vmlDrawing9.vml"/><Relationship Id="rId6" Type="http://schemas.openxmlformats.org/officeDocument/2006/relationships/image" Target="../media/image25.emf"/><Relationship Id="rId5" Type="http://schemas.openxmlformats.org/officeDocument/2006/relationships/oleObject" Target="../embeddings/oleObject13.bin"/><Relationship Id="rId4" Type="http://schemas.openxmlformats.org/officeDocument/2006/relationships/image" Target="../media/image24.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6.xml"/><Relationship Id="rId1" Type="http://schemas.openxmlformats.org/officeDocument/2006/relationships/vmlDrawing" Target="../drawings/vmlDrawing10.vml"/><Relationship Id="rId4" Type="http://schemas.openxmlformats.org/officeDocument/2006/relationships/image" Target="../media/image27.e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6.xml"/><Relationship Id="rId1" Type="http://schemas.openxmlformats.org/officeDocument/2006/relationships/vmlDrawing" Target="../drawings/vmlDrawing11.vml"/><Relationship Id="rId4" Type="http://schemas.openxmlformats.org/officeDocument/2006/relationships/image" Target="../media/image28.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7.xml"/><Relationship Id="rId1" Type="http://schemas.openxmlformats.org/officeDocument/2006/relationships/vmlDrawing" Target="../drawings/vmlDrawing12.vml"/><Relationship Id="rId4" Type="http://schemas.openxmlformats.org/officeDocument/2006/relationships/image" Target="../media/image29.e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vmlDrawing" Target="../drawings/vmlDrawing13.vml"/><Relationship Id="rId4" Type="http://schemas.openxmlformats.org/officeDocument/2006/relationships/image" Target="../media/image30.e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10.xml"/><Relationship Id="rId1" Type="http://schemas.openxmlformats.org/officeDocument/2006/relationships/vmlDrawing" Target="../drawings/vmlDrawing14.vml"/><Relationship Id="rId4" Type="http://schemas.openxmlformats.org/officeDocument/2006/relationships/image" Target="../media/image32.wmf"/></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9.xml"/><Relationship Id="rId1" Type="http://schemas.openxmlformats.org/officeDocument/2006/relationships/vmlDrawing" Target="../drawings/vmlDrawing15.vml"/><Relationship Id="rId4" Type="http://schemas.openxmlformats.org/officeDocument/2006/relationships/image" Target="../media/image33.wmf"/></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10.xml"/><Relationship Id="rId1" Type="http://schemas.openxmlformats.org/officeDocument/2006/relationships/vmlDrawing" Target="../drawings/vmlDrawing16.vml"/><Relationship Id="rId4" Type="http://schemas.openxmlformats.org/officeDocument/2006/relationships/image" Target="../media/image34.wmf"/></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9.xml"/><Relationship Id="rId1" Type="http://schemas.openxmlformats.org/officeDocument/2006/relationships/vmlDrawing" Target="../drawings/vmlDrawing17.vml"/><Relationship Id="rId4" Type="http://schemas.openxmlformats.org/officeDocument/2006/relationships/image" Target="../media/image35.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2895600"/>
            <a:ext cx="8991600" cy="1676400"/>
          </a:xfrm>
        </p:spPr>
        <p:txBody>
          <a:bodyPr/>
          <a:lstStyle/>
          <a:p>
            <a:pPr algn="l"/>
            <a:r>
              <a:rPr lang="en-US" dirty="0" smtClean="0"/>
              <a:t>CHAPTER</a:t>
            </a:r>
            <a:r>
              <a:rPr lang="en-US" b="1" baseline="0" dirty="0"/>
              <a:t> </a:t>
            </a:r>
            <a:r>
              <a:rPr lang="en-US" b="1" baseline="0" dirty="0" smtClean="0"/>
              <a:t>	</a:t>
            </a:r>
            <a:r>
              <a:rPr lang="en-US" sz="4800" b="1" baseline="0" dirty="0" smtClean="0"/>
              <a:t>Utility </a:t>
            </a:r>
            <a:r>
              <a:rPr lang="en-US" sz="4800" b="1" baseline="0" dirty="0"/>
              <a:t>Maximization</a:t>
            </a:r>
            <a:r>
              <a:rPr lang="en-US" dirty="0" smtClean="0"/>
              <a:t/>
            </a:r>
            <a:br>
              <a:rPr lang="en-US" dirty="0" smtClean="0"/>
            </a:br>
            <a:r>
              <a:rPr lang="en-US" baseline="0" dirty="0" smtClean="0"/>
              <a:t> 4</a:t>
            </a:r>
            <a:r>
              <a:rPr lang="en-US" b="1" baseline="0" dirty="0" smtClean="0"/>
              <a:t>	 		 	</a:t>
            </a:r>
            <a:r>
              <a:rPr lang="en-US" sz="4800" b="1" baseline="0" dirty="0" smtClean="0"/>
              <a:t>and </a:t>
            </a:r>
            <a:r>
              <a:rPr lang="en-US" sz="4800" b="1" baseline="0" dirty="0"/>
              <a:t>Choice</a:t>
            </a:r>
            <a:r>
              <a:rPr lang="en-US" b="1" baseline="0" dirty="0"/>
              <a:t/>
            </a:r>
            <a:br>
              <a:rPr lang="en-US" b="1" baseline="0" dirty="0"/>
            </a:br>
            <a:r>
              <a:rPr lang="en-US" b="1" baseline="0" dirty="0"/>
              <a:t/>
            </a:r>
            <a:br>
              <a:rPr lang="en-US" b="1" baseline="0" dirty="0"/>
            </a:br>
            <a:endParaRPr lang="en-US" b="1" dirty="0"/>
          </a:p>
        </p:txBody>
      </p:sp>
      <p:sp>
        <p:nvSpPr>
          <p:cNvPr id="3" name="Footer Placeholder 2"/>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DF079196-2514-49FB-B48C-98AEBE754E63}" type="slidenum">
              <a:rPr lang="en-US" smtClean="0"/>
              <a:t>1</a:t>
            </a:fld>
            <a:endParaRPr lang="en-US"/>
          </a:p>
        </p:txBody>
      </p:sp>
    </p:spTree>
    <p:extLst>
      <p:ext uri="{BB962C8B-B14F-4D97-AF65-F5344CB8AC3E}">
        <p14:creationId xmlns:p14="http://schemas.microsoft.com/office/powerpoint/2010/main" val="36601923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altLang="en-US" smtClean="0"/>
              <a:t>Utility Maximization and Choice</a:t>
            </a:r>
          </a:p>
        </p:txBody>
      </p:sp>
      <p:sp>
        <p:nvSpPr>
          <p:cNvPr id="30723" name="Content Placeholder 2"/>
          <p:cNvSpPr>
            <a:spLocks noGrp="1"/>
          </p:cNvSpPr>
          <p:nvPr>
            <p:ph idx="1"/>
          </p:nvPr>
        </p:nvSpPr>
        <p:spPr/>
        <p:txBody>
          <a:bodyPr/>
          <a:lstStyle/>
          <a:p>
            <a:r>
              <a:rPr lang="en-US" altLang="en-US" smtClean="0"/>
              <a:t>Complaints about the Economic Approach</a:t>
            </a:r>
          </a:p>
          <a:p>
            <a:pPr lvl="1"/>
            <a:r>
              <a:rPr lang="en-US" altLang="en-US" smtClean="0"/>
              <a:t>Do individuals make the “lightning calculations” required for utility maximization?</a:t>
            </a:r>
          </a:p>
          <a:p>
            <a:pPr lvl="2"/>
            <a:r>
              <a:rPr lang="en-US" altLang="en-US" smtClean="0"/>
              <a:t>The utility-maximization model predicts many aspects of behavior</a:t>
            </a:r>
          </a:p>
          <a:p>
            <a:pPr lvl="2"/>
            <a:r>
              <a:rPr lang="en-US" altLang="en-US" smtClean="0"/>
              <a:t>Economists assume that people behave </a:t>
            </a:r>
            <a:r>
              <a:rPr lang="en-US" altLang="en-US" b="1" i="1" smtClean="0"/>
              <a:t>as if</a:t>
            </a:r>
            <a:r>
              <a:rPr lang="en-US" altLang="en-US" smtClean="0"/>
              <a:t> they made such calculations</a:t>
            </a:r>
          </a:p>
          <a:p>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1BE96A26-6CF4-40E6-8F01-457E36E60B0C}" type="slidenum">
              <a:rPr lang="en-US" smtClean="0"/>
              <a:pPr>
                <a:defRPr/>
              </a:pPr>
              <a:t>2</a:t>
            </a:fld>
            <a:endParaRPr lang="en-US"/>
          </a:p>
        </p:txBody>
      </p:sp>
    </p:spTree>
    <p:extLst>
      <p:ext uri="{BB962C8B-B14F-4D97-AF65-F5344CB8AC3E}">
        <p14:creationId xmlns:p14="http://schemas.microsoft.com/office/powerpoint/2010/main" val="26720695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altLang="en-US" smtClean="0"/>
              <a:t>Utility Maximization and Choice</a:t>
            </a:r>
          </a:p>
        </p:txBody>
      </p:sp>
      <p:sp>
        <p:nvSpPr>
          <p:cNvPr id="31747" name="Content Placeholder 2"/>
          <p:cNvSpPr>
            <a:spLocks noGrp="1"/>
          </p:cNvSpPr>
          <p:nvPr>
            <p:ph idx="1"/>
          </p:nvPr>
        </p:nvSpPr>
        <p:spPr/>
        <p:txBody>
          <a:bodyPr/>
          <a:lstStyle/>
          <a:p>
            <a:r>
              <a:rPr lang="en-US" altLang="en-US" smtClean="0"/>
              <a:t>Complaints about the Economic Approach</a:t>
            </a:r>
          </a:p>
          <a:p>
            <a:pPr lvl="1"/>
            <a:r>
              <a:rPr lang="en-US" altLang="en-US" smtClean="0"/>
              <a:t>The economic model of choice is extremely selfish</a:t>
            </a:r>
          </a:p>
          <a:p>
            <a:pPr lvl="2"/>
            <a:r>
              <a:rPr lang="en-US" altLang="en-US" smtClean="0"/>
              <a:t>Nothing in the model prevents individuals from getting satisfaction from “doing good”</a:t>
            </a:r>
          </a:p>
          <a:p>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8C30CB75-A69A-4EFA-8572-9BE2D444EE27}" type="slidenum">
              <a:rPr lang="en-US" smtClean="0"/>
              <a:pPr>
                <a:defRPr/>
              </a:pPr>
              <a:t>3</a:t>
            </a:fld>
            <a:endParaRPr lang="en-US"/>
          </a:p>
        </p:txBody>
      </p:sp>
    </p:spTree>
    <p:extLst>
      <p:ext uri="{BB962C8B-B14F-4D97-AF65-F5344CB8AC3E}">
        <p14:creationId xmlns:p14="http://schemas.microsoft.com/office/powerpoint/2010/main" val="30112981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altLang="en-US" smtClean="0"/>
              <a:t>An Initial Survey</a:t>
            </a:r>
          </a:p>
        </p:txBody>
      </p:sp>
      <p:sp>
        <p:nvSpPr>
          <p:cNvPr id="32771" name="Content Placeholder 4"/>
          <p:cNvSpPr>
            <a:spLocks noGrp="1"/>
          </p:cNvSpPr>
          <p:nvPr>
            <p:ph idx="1"/>
          </p:nvPr>
        </p:nvSpPr>
        <p:spPr>
          <a:xfrm>
            <a:off x="381000" y="1219200"/>
            <a:ext cx="8763000" cy="5181600"/>
          </a:xfrm>
        </p:spPr>
        <p:txBody>
          <a:bodyPr/>
          <a:lstStyle/>
          <a:p>
            <a:r>
              <a:rPr lang="en-US" altLang="en-US" dirty="0" smtClean="0"/>
              <a:t>Optimization principle, Utility maximization</a:t>
            </a:r>
          </a:p>
          <a:p>
            <a:pPr lvl="1"/>
            <a:r>
              <a:rPr lang="en-US" altLang="en-US" dirty="0" smtClean="0"/>
              <a:t>To maximize utility, given a fixed amount of income to spend</a:t>
            </a:r>
          </a:p>
          <a:p>
            <a:pPr lvl="1"/>
            <a:r>
              <a:rPr lang="en-US" altLang="en-US" dirty="0" smtClean="0"/>
              <a:t>An individual will buy those quantities of goods </a:t>
            </a:r>
          </a:p>
          <a:p>
            <a:pPr lvl="2"/>
            <a:r>
              <a:rPr lang="en-US" altLang="en-US" sz="2700" dirty="0" smtClean="0"/>
              <a:t>That exhaust his or her total income </a:t>
            </a:r>
          </a:p>
          <a:p>
            <a:pPr lvl="2"/>
            <a:r>
              <a:rPr lang="en-US" altLang="en-US" sz="2700" dirty="0" smtClean="0"/>
              <a:t>And for which the MRS is equal to the rate at which the goods can be traded one for the other in the marketplace</a:t>
            </a:r>
          </a:p>
          <a:p>
            <a:pPr lvl="3"/>
            <a:r>
              <a:rPr lang="en-US" altLang="en-US" dirty="0" smtClean="0"/>
              <a:t> MRS (of x for y) = the ratio of the price of x to the price of y (</a:t>
            </a:r>
            <a:r>
              <a:rPr lang="en-US" altLang="en-US" dirty="0" err="1" smtClean="0"/>
              <a:t>p</a:t>
            </a:r>
            <a:r>
              <a:rPr lang="en-US" altLang="en-US" baseline="-25000" dirty="0" err="1" smtClean="0"/>
              <a:t>x</a:t>
            </a:r>
            <a:r>
              <a:rPr lang="en-US" altLang="en-US" dirty="0" smtClean="0"/>
              <a:t>/</a:t>
            </a:r>
            <a:r>
              <a:rPr lang="en-US" altLang="en-US" dirty="0" err="1" smtClean="0"/>
              <a:t>p</a:t>
            </a:r>
            <a:r>
              <a:rPr lang="en-US" altLang="en-US" baseline="-25000" dirty="0" err="1" smtClean="0"/>
              <a:t>y</a:t>
            </a:r>
            <a:r>
              <a:rPr lang="en-US" altLang="en-US" dirty="0" smtClean="0"/>
              <a:t>)</a:t>
            </a:r>
          </a:p>
          <a:p>
            <a:pPr lvl="1"/>
            <a:endParaRPr lang="en-US" altLang="en-US" dirty="0" smtClean="0"/>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7E73E74D-C3C4-480B-9F9C-D2DF7DF435A1}" type="slidenum">
              <a:rPr lang="en-US" smtClean="0"/>
              <a:pPr>
                <a:defRPr/>
              </a:pPr>
              <a:t>4</a:t>
            </a:fld>
            <a:endParaRPr lang="en-US"/>
          </a:p>
        </p:txBody>
      </p:sp>
    </p:spTree>
    <p:extLst>
      <p:ext uri="{BB962C8B-B14F-4D97-AF65-F5344CB8AC3E}">
        <p14:creationId xmlns:p14="http://schemas.microsoft.com/office/powerpoint/2010/main" val="36037821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altLang="en-US" smtClean="0"/>
              <a:t>The Two-Good Case</a:t>
            </a:r>
          </a:p>
        </p:txBody>
      </p:sp>
      <p:sp>
        <p:nvSpPr>
          <p:cNvPr id="33795" name="Content Placeholder 4"/>
          <p:cNvSpPr>
            <a:spLocks noGrp="1"/>
          </p:cNvSpPr>
          <p:nvPr>
            <p:ph idx="1"/>
          </p:nvPr>
        </p:nvSpPr>
        <p:spPr/>
        <p:txBody>
          <a:bodyPr/>
          <a:lstStyle/>
          <a:p>
            <a:r>
              <a:rPr lang="en-US" altLang="en-US" dirty="0" smtClean="0"/>
              <a:t>Assumptions </a:t>
            </a:r>
          </a:p>
          <a:p>
            <a:pPr lvl="1"/>
            <a:r>
              <a:rPr lang="en-US" altLang="en-US" dirty="0" smtClean="0"/>
              <a:t>Budget: </a:t>
            </a:r>
            <a:r>
              <a:rPr lang="en-US" altLang="en-US" dirty="0" smtClean="0">
                <a:latin typeface="Bell MT" panose="02020503060305020303" pitchFamily="18" charset="0"/>
              </a:rPr>
              <a:t>I</a:t>
            </a:r>
            <a:r>
              <a:rPr lang="en-US" altLang="en-US" dirty="0" smtClean="0"/>
              <a:t> dollars to allocate between good x and good y</a:t>
            </a:r>
          </a:p>
          <a:p>
            <a:pPr lvl="1"/>
            <a:r>
              <a:rPr lang="en-US" altLang="en-US" dirty="0" smtClean="0"/>
              <a:t> </a:t>
            </a:r>
            <a:r>
              <a:rPr lang="en-US" altLang="en-US" dirty="0" err="1" smtClean="0"/>
              <a:t>p</a:t>
            </a:r>
            <a:r>
              <a:rPr lang="en-US" altLang="en-US" baseline="-25000" dirty="0" err="1" smtClean="0"/>
              <a:t>x</a:t>
            </a:r>
            <a:r>
              <a:rPr lang="en-US" altLang="en-US" dirty="0" smtClean="0"/>
              <a:t> - price of good x </a:t>
            </a:r>
          </a:p>
          <a:p>
            <a:pPr lvl="1"/>
            <a:r>
              <a:rPr lang="en-US" altLang="en-US" dirty="0" smtClean="0"/>
              <a:t> </a:t>
            </a:r>
            <a:r>
              <a:rPr lang="en-US" altLang="en-US" dirty="0" err="1" smtClean="0"/>
              <a:t>p</a:t>
            </a:r>
            <a:r>
              <a:rPr lang="en-US" altLang="en-US" baseline="-25000" dirty="0" err="1" smtClean="0"/>
              <a:t>y</a:t>
            </a:r>
            <a:r>
              <a:rPr lang="en-US" altLang="en-US" dirty="0" smtClean="0"/>
              <a:t> - price of good y</a:t>
            </a:r>
          </a:p>
          <a:p>
            <a:r>
              <a:rPr lang="en-US" altLang="en-US" dirty="0" smtClean="0"/>
              <a:t>Budget constraint: </a:t>
            </a:r>
            <a:r>
              <a:rPr lang="en-US" altLang="en-US" i="1" dirty="0" err="1" smtClean="0"/>
              <a:t>p</a:t>
            </a:r>
            <a:r>
              <a:rPr lang="en-US" altLang="en-US" i="1" baseline="-25000" dirty="0" err="1" smtClean="0"/>
              <a:t>x</a:t>
            </a:r>
            <a:r>
              <a:rPr lang="en-US" altLang="en-US" i="1" dirty="0" err="1" smtClean="0"/>
              <a:t>x</a:t>
            </a:r>
            <a:r>
              <a:rPr lang="en-US" altLang="en-US" dirty="0" smtClean="0"/>
              <a:t> + </a:t>
            </a:r>
            <a:r>
              <a:rPr lang="en-US" altLang="en-US" i="1" dirty="0" err="1" smtClean="0"/>
              <a:t>p</a:t>
            </a:r>
            <a:r>
              <a:rPr lang="en-US" altLang="en-US" i="1" baseline="-25000" dirty="0" err="1" smtClean="0"/>
              <a:t>y</a:t>
            </a:r>
            <a:r>
              <a:rPr lang="en-US" altLang="en-US" i="1" dirty="0" err="1" smtClean="0"/>
              <a:t>y</a:t>
            </a:r>
            <a:r>
              <a:rPr lang="en-US" altLang="en-US" dirty="0" smtClean="0"/>
              <a:t> ≤ </a:t>
            </a:r>
            <a:r>
              <a:rPr lang="en-US" altLang="en-US" i="1" dirty="0" smtClean="0">
                <a:latin typeface="Bell MT" panose="02020503060305020303" pitchFamily="18" charset="0"/>
              </a:rPr>
              <a:t>I</a:t>
            </a:r>
            <a:r>
              <a:rPr lang="en-US" altLang="en-US" dirty="0" smtClean="0"/>
              <a:t> </a:t>
            </a:r>
          </a:p>
          <a:p>
            <a:pPr lvl="1"/>
            <a:r>
              <a:rPr lang="en-US" altLang="en-US" dirty="0" smtClean="0"/>
              <a:t>Slope = -</a:t>
            </a:r>
            <a:r>
              <a:rPr lang="en-US" altLang="en-US" dirty="0" err="1" smtClean="0"/>
              <a:t>p</a:t>
            </a:r>
            <a:r>
              <a:rPr lang="en-US" altLang="en-US" baseline="-25000" dirty="0" err="1" smtClean="0"/>
              <a:t>x</a:t>
            </a:r>
            <a:r>
              <a:rPr lang="en-US" altLang="en-US" dirty="0" smtClean="0"/>
              <a:t>/</a:t>
            </a:r>
            <a:r>
              <a:rPr lang="en-US" altLang="en-US" dirty="0" err="1" smtClean="0"/>
              <a:t>p</a:t>
            </a:r>
            <a:r>
              <a:rPr lang="en-US" altLang="en-US" baseline="-25000" dirty="0" err="1" smtClean="0"/>
              <a:t>y</a:t>
            </a:r>
            <a:endParaRPr lang="en-US" altLang="en-US" baseline="-25000" dirty="0" smtClean="0"/>
          </a:p>
          <a:p>
            <a:pPr lvl="1"/>
            <a:r>
              <a:rPr lang="en-US" altLang="en-US" dirty="0" smtClean="0"/>
              <a:t>If all of </a:t>
            </a:r>
            <a:r>
              <a:rPr lang="en-US" altLang="en-US" dirty="0" smtClean="0">
                <a:latin typeface="Bell MT" panose="02020503060305020303" pitchFamily="18" charset="0"/>
              </a:rPr>
              <a:t>I</a:t>
            </a:r>
            <a:r>
              <a:rPr lang="en-US" altLang="en-US" dirty="0" smtClean="0"/>
              <a:t> is spent on good x, buy </a:t>
            </a:r>
            <a:r>
              <a:rPr lang="en-US" altLang="en-US" dirty="0" smtClean="0">
                <a:latin typeface="Bell MT" panose="02020503060305020303" pitchFamily="18" charset="0"/>
              </a:rPr>
              <a:t>I</a:t>
            </a:r>
            <a:r>
              <a:rPr lang="en-US" altLang="en-US" dirty="0" smtClean="0"/>
              <a:t>/</a:t>
            </a:r>
            <a:r>
              <a:rPr lang="en-US" altLang="en-US" dirty="0" err="1" smtClean="0"/>
              <a:t>p</a:t>
            </a:r>
            <a:r>
              <a:rPr lang="en-US" altLang="en-US" baseline="-25000" dirty="0" err="1" smtClean="0"/>
              <a:t>x</a:t>
            </a:r>
            <a:r>
              <a:rPr lang="en-US" altLang="en-US" dirty="0" smtClean="0"/>
              <a:t> units of good x</a:t>
            </a:r>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CF7161F4-8FE9-4F26-8A7F-AC78474D67B7}" type="slidenum">
              <a:rPr lang="en-US" smtClean="0"/>
              <a:pPr>
                <a:defRPr/>
              </a:pPr>
              <a:t>5</a:t>
            </a:fld>
            <a:endParaRPr lang="en-US"/>
          </a:p>
        </p:txBody>
      </p:sp>
    </p:spTree>
    <p:extLst>
      <p:ext uri="{BB962C8B-B14F-4D97-AF65-F5344CB8AC3E}">
        <p14:creationId xmlns:p14="http://schemas.microsoft.com/office/powerpoint/2010/main" val="157279933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Title 1"/>
          <p:cNvSpPr>
            <a:spLocks noGrp="1"/>
          </p:cNvSpPr>
          <p:nvPr>
            <p:ph type="title"/>
          </p:nvPr>
        </p:nvSpPr>
        <p:spPr bwMode="auto">
          <a:xfrm>
            <a:off x="1143000" y="0"/>
            <a:ext cx="8001000" cy="9985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4.1	The Individual’s Budget Constraint for Two </a:t>
            </a:r>
            <a:r>
              <a:rPr lang="en-US" altLang="en-US" dirty="0" smtClean="0"/>
              <a:t>	</a:t>
            </a:r>
            <a:r>
              <a:rPr lang="en-US" altLang="en-US" dirty="0" smtClean="0">
                <a:solidFill>
                  <a:srgbClr val="002D56"/>
                </a:solidFill>
              </a:rPr>
              <a:t>Goods</a:t>
            </a:r>
          </a:p>
        </p:txBody>
      </p:sp>
      <p:sp>
        <p:nvSpPr>
          <p:cNvPr id="1029" name="Text Placeholder 2"/>
          <p:cNvSpPr>
            <a:spLocks noGrp="1"/>
          </p:cNvSpPr>
          <p:nvPr>
            <p:ph sz="half" idx="1"/>
          </p:nvPr>
        </p:nvSpPr>
        <p:spPr>
          <a:xfrm>
            <a:off x="152400" y="4800600"/>
            <a:ext cx="8763000" cy="1616869"/>
          </a:xfrm>
        </p:spPr>
        <p:txBody>
          <a:bodyPr>
            <a:normAutofit/>
          </a:bodyPr>
          <a:lstStyle/>
          <a:p>
            <a:pPr>
              <a:spcBef>
                <a:spcPct val="0"/>
              </a:spcBef>
            </a:pPr>
            <a:r>
              <a:rPr lang="en-US" altLang="en-US" dirty="0"/>
              <a:t>Those combinations of x and y that the individual can afford are shown in the shaded triangle. If, as we usually assume, the individual prefers more rather than less of every good, the outer boundary of this triangle is the relevant constraint where all the available funds are spent either on x or on y. The slope of this straight-line boundary is given by –</a:t>
            </a:r>
            <a:r>
              <a:rPr lang="en-US" altLang="en-US" dirty="0" err="1"/>
              <a:t>p</a:t>
            </a:r>
            <a:r>
              <a:rPr lang="en-US" altLang="en-US" baseline="-25000" dirty="0" err="1"/>
              <a:t>x</a:t>
            </a:r>
            <a:r>
              <a:rPr lang="en-US" altLang="en-US" dirty="0"/>
              <a:t>/</a:t>
            </a:r>
            <a:r>
              <a:rPr lang="en-US" altLang="en-US" dirty="0" err="1"/>
              <a:t>p</a:t>
            </a:r>
            <a:r>
              <a:rPr lang="en-US" altLang="en-US" baseline="-25000" dirty="0" err="1"/>
              <a:t>y</a:t>
            </a:r>
            <a:r>
              <a:rPr lang="en-US" altLang="en-US" dirty="0" smtClean="0"/>
              <a:t>.</a:t>
            </a:r>
            <a:endParaRPr lang="en-US" altLang="en-US" dirty="0"/>
          </a:p>
        </p:txBody>
      </p:sp>
      <p:sp>
        <p:nvSpPr>
          <p:cNvPr id="1032"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EEFD9AB8-78BC-4BA8-B921-D459E20CE6D0}" type="slidenum">
              <a:rPr lang="en-US" smtClean="0"/>
              <a:pPr>
                <a:defRPr/>
              </a:pPr>
              <a:t>6</a:t>
            </a:fld>
            <a:endParaRPr lang="en-US" dirty="0"/>
          </a:p>
        </p:txBody>
      </p:sp>
      <p:grpSp>
        <p:nvGrpSpPr>
          <p:cNvPr id="2" name="Group 19"/>
          <p:cNvGrpSpPr>
            <a:grpSpLocks/>
          </p:cNvGrpSpPr>
          <p:nvPr/>
        </p:nvGrpSpPr>
        <p:grpSpPr bwMode="auto">
          <a:xfrm>
            <a:off x="2166938" y="1425575"/>
            <a:ext cx="2768600" cy="3200400"/>
            <a:chOff x="2167247" y="1425039"/>
            <a:chExt cx="2768602" cy="3200401"/>
          </a:xfrm>
        </p:grpSpPr>
        <p:sp>
          <p:nvSpPr>
            <p:cNvPr id="9" name="AutoShape 14" descr="70%"/>
            <p:cNvSpPr>
              <a:spLocks noChangeArrowheads="1"/>
            </p:cNvSpPr>
            <p:nvPr/>
          </p:nvSpPr>
          <p:spPr bwMode="auto">
            <a:xfrm>
              <a:off x="2624447" y="1828264"/>
              <a:ext cx="2133601" cy="2133601"/>
            </a:xfrm>
            <a:prstGeom prst="rtTriangle">
              <a:avLst/>
            </a:prstGeom>
            <a:solidFill>
              <a:schemeClr val="tx2">
                <a:lumMod val="20000"/>
                <a:lumOff val="80000"/>
              </a:schemeClr>
            </a:solidFill>
            <a:ln w="28575">
              <a:solidFill>
                <a:srgbClr val="000099"/>
              </a:solidFill>
              <a:miter lim="800000"/>
              <a:headEnd/>
              <a:tailEnd/>
            </a:ln>
            <a:effectLst/>
          </p:spPr>
          <p:txBody>
            <a:bodyPr wrap="none" anchor="ctr">
              <a:spAutoFit/>
            </a:bodyPr>
            <a:lstStyle/>
            <a:p>
              <a:pPr>
                <a:defRPr/>
              </a:pPr>
              <a:endParaRPr lang="en-US"/>
            </a:p>
          </p:txBody>
        </p:sp>
        <p:grpSp>
          <p:nvGrpSpPr>
            <p:cNvPr id="1042" name="Group 53"/>
            <p:cNvGrpSpPr>
              <a:grpSpLocks/>
            </p:cNvGrpSpPr>
            <p:nvPr/>
          </p:nvGrpSpPr>
          <p:grpSpPr bwMode="auto">
            <a:xfrm>
              <a:off x="2167247" y="1425039"/>
              <a:ext cx="2768602" cy="1076325"/>
              <a:chOff x="864" y="2304"/>
              <a:chExt cx="1744" cy="678"/>
            </a:xfrm>
          </p:grpSpPr>
          <p:grpSp>
            <p:nvGrpSpPr>
              <p:cNvPr id="1043" name="Group 23"/>
              <p:cNvGrpSpPr>
                <a:grpSpLocks/>
              </p:cNvGrpSpPr>
              <p:nvPr/>
            </p:nvGrpSpPr>
            <p:grpSpPr bwMode="auto">
              <a:xfrm>
                <a:off x="1638" y="2748"/>
                <a:ext cx="970" cy="234"/>
                <a:chOff x="1734" y="2748"/>
                <a:chExt cx="970" cy="234"/>
              </a:xfrm>
            </p:grpSpPr>
            <p:sp>
              <p:nvSpPr>
                <p:cNvPr id="1044" name="Text Box 21"/>
                <p:cNvSpPr txBox="1">
                  <a:spLocks noChangeArrowheads="1"/>
                </p:cNvSpPr>
                <p:nvPr/>
              </p:nvSpPr>
              <p:spPr bwMode="auto">
                <a:xfrm>
                  <a:off x="1974" y="2748"/>
                  <a:ext cx="73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solidFill>
                        <a:schemeClr val="tx2">
                          <a:lumMod val="75000"/>
                        </a:schemeClr>
                      </a:solidFill>
                    </a:rPr>
                    <a:t>I=</a:t>
                  </a:r>
                  <a:r>
                    <a:rPr lang="en-US" altLang="en-US" sz="1800" dirty="0" err="1">
                      <a:solidFill>
                        <a:schemeClr val="tx2">
                          <a:lumMod val="75000"/>
                        </a:schemeClr>
                      </a:solidFill>
                    </a:rPr>
                    <a:t>p</a:t>
                  </a:r>
                  <a:r>
                    <a:rPr lang="en-US" altLang="en-US" sz="1800" baseline="-25000" dirty="0" err="1">
                      <a:solidFill>
                        <a:schemeClr val="tx2">
                          <a:lumMod val="75000"/>
                        </a:schemeClr>
                      </a:solidFill>
                    </a:rPr>
                    <a:t>x</a:t>
                  </a:r>
                  <a:r>
                    <a:rPr lang="en-US" altLang="en-US" sz="1800" dirty="0" err="1">
                      <a:solidFill>
                        <a:schemeClr val="tx2">
                          <a:lumMod val="75000"/>
                        </a:schemeClr>
                      </a:solidFill>
                    </a:rPr>
                    <a:t>x+p</a:t>
                  </a:r>
                  <a:r>
                    <a:rPr lang="en-US" altLang="en-US" sz="1800" baseline="-25000" dirty="0" err="1">
                      <a:solidFill>
                        <a:schemeClr val="tx2">
                          <a:lumMod val="75000"/>
                        </a:schemeClr>
                      </a:solidFill>
                    </a:rPr>
                    <a:t>y</a:t>
                  </a:r>
                  <a:r>
                    <a:rPr lang="en-US" altLang="en-US" sz="1800" dirty="0" err="1">
                      <a:solidFill>
                        <a:schemeClr val="tx2">
                          <a:lumMod val="75000"/>
                        </a:schemeClr>
                      </a:solidFill>
                    </a:rPr>
                    <a:t>y</a:t>
                  </a:r>
                  <a:endParaRPr lang="en-US" altLang="en-US" sz="1800" dirty="0">
                    <a:solidFill>
                      <a:schemeClr val="tx2">
                        <a:lumMod val="75000"/>
                      </a:schemeClr>
                    </a:solidFill>
                  </a:endParaRPr>
                </a:p>
              </p:txBody>
            </p:sp>
            <p:sp>
              <p:nvSpPr>
                <p:cNvPr id="1045" name="Line 22"/>
                <p:cNvSpPr>
                  <a:spLocks noChangeShapeType="1"/>
                </p:cNvSpPr>
                <p:nvPr/>
              </p:nvSpPr>
              <p:spPr bwMode="auto">
                <a:xfrm flipH="1">
                  <a:off x="1734" y="2886"/>
                  <a:ext cx="240" cy="96"/>
                </a:xfrm>
                <a:prstGeom prst="line">
                  <a:avLst/>
                </a:prstGeom>
                <a:noFill/>
                <a:ln w="28575">
                  <a:solidFill>
                    <a:srgbClr val="394DA3"/>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US"/>
                </a:p>
              </p:txBody>
            </p:sp>
          </p:grpSp>
          <p:graphicFrame>
            <p:nvGraphicFramePr>
              <p:cNvPr id="1027" name="Object 2"/>
              <p:cNvGraphicFramePr>
                <a:graphicFrameLocks noChangeAspect="1"/>
              </p:cNvGraphicFramePr>
              <p:nvPr>
                <p:extLst>
                  <p:ext uri="{D42A27DB-BD31-4B8C-83A1-F6EECF244321}">
                    <p14:modId xmlns:p14="http://schemas.microsoft.com/office/powerpoint/2010/main" val="3163636715"/>
                  </p:ext>
                </p:extLst>
              </p:nvPr>
            </p:nvGraphicFramePr>
            <p:xfrm>
              <a:off x="864" y="2304"/>
              <a:ext cx="208" cy="384"/>
            </p:xfrm>
            <a:graphic>
              <a:graphicData uri="http://schemas.openxmlformats.org/presentationml/2006/ole">
                <mc:AlternateContent xmlns:mc="http://schemas.openxmlformats.org/markup-compatibility/2006">
                  <mc:Choice xmlns:v="urn:schemas-microsoft-com:vml" Requires="v">
                    <p:oleObj spid="_x0000_s129058" name="Equation" r:id="rId3" imgW="241200" imgH="444240" progId="Equation.DSMT4">
                      <p:embed/>
                    </p:oleObj>
                  </mc:Choice>
                  <mc:Fallback>
                    <p:oleObj name="Equation" r:id="rId3" imgW="241200" imgH="444240" progId="Equation.DSMT4">
                      <p:embed/>
                      <p:pic>
                        <p:nvPicPr>
                          <p:cNvPr id="0" name=""/>
                          <p:cNvPicPr>
                            <a:picLocks noChangeAspect="1" noChangeArrowheads="1"/>
                          </p:cNvPicPr>
                          <p:nvPr/>
                        </p:nvPicPr>
                        <p:blipFill>
                          <a:blip r:embed="rId4"/>
                          <a:srcRect/>
                          <a:stretch>
                            <a:fillRect/>
                          </a:stretch>
                        </p:blipFill>
                        <p:spPr bwMode="auto">
                          <a:xfrm>
                            <a:off x="864" y="2304"/>
                            <a:ext cx="20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470F3E"/>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026" name="Object 3"/>
            <p:cNvGraphicFramePr>
              <a:graphicFrameLocks noChangeAspect="1"/>
            </p:cNvGraphicFramePr>
            <p:nvPr>
              <p:extLst>
                <p:ext uri="{D42A27DB-BD31-4B8C-83A1-F6EECF244321}">
                  <p14:modId xmlns:p14="http://schemas.microsoft.com/office/powerpoint/2010/main" val="147084982"/>
                </p:ext>
              </p:extLst>
            </p:nvPr>
          </p:nvGraphicFramePr>
          <p:xfrm>
            <a:off x="4605647" y="4033302"/>
            <a:ext cx="312738" cy="592138"/>
          </p:xfrm>
          <a:graphic>
            <a:graphicData uri="http://schemas.openxmlformats.org/presentationml/2006/ole">
              <mc:AlternateContent xmlns:mc="http://schemas.openxmlformats.org/markup-compatibility/2006">
                <mc:Choice xmlns:v="urn:schemas-microsoft-com:vml" Requires="v">
                  <p:oleObj spid="_x0000_s129059" name="Equation" r:id="rId5" imgW="228600" imgH="431640" progId="Equation.DSMT4">
                    <p:embed/>
                  </p:oleObj>
                </mc:Choice>
                <mc:Fallback>
                  <p:oleObj name="Equation" r:id="rId5" imgW="228600" imgH="431640" progId="Equation.DSMT4">
                    <p:embed/>
                    <p:pic>
                      <p:nvPicPr>
                        <p:cNvPr id="0" name=""/>
                        <p:cNvPicPr>
                          <a:picLocks noChangeAspect="1" noChangeArrowheads="1"/>
                        </p:cNvPicPr>
                        <p:nvPr/>
                      </p:nvPicPr>
                      <p:blipFill>
                        <a:blip r:embed="rId6"/>
                        <a:srcRect/>
                        <a:stretch>
                          <a:fillRect/>
                        </a:stretch>
                      </p:blipFill>
                      <p:spPr bwMode="auto">
                        <a:xfrm>
                          <a:off x="4605647" y="4033302"/>
                          <a:ext cx="312738" cy="592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7B332D"/>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 name="Group 20"/>
          <p:cNvGrpSpPr>
            <a:grpSpLocks/>
          </p:cNvGrpSpPr>
          <p:nvPr/>
        </p:nvGrpSpPr>
        <p:grpSpPr bwMode="auto">
          <a:xfrm>
            <a:off x="1438275" y="998538"/>
            <a:ext cx="6253163" cy="3155950"/>
            <a:chOff x="1437904" y="998517"/>
            <a:chExt cx="6253843" cy="3155435"/>
          </a:xfrm>
        </p:grpSpPr>
        <p:grpSp>
          <p:nvGrpSpPr>
            <p:cNvPr id="1035" name="Group 18"/>
            <p:cNvGrpSpPr>
              <a:grpSpLocks/>
            </p:cNvGrpSpPr>
            <p:nvPr/>
          </p:nvGrpSpPr>
          <p:grpSpPr bwMode="auto">
            <a:xfrm>
              <a:off x="2624447" y="3787239"/>
              <a:ext cx="5067300" cy="366713"/>
              <a:chOff x="2624447" y="3787239"/>
              <a:chExt cx="5067300" cy="366713"/>
            </a:xfrm>
          </p:grpSpPr>
          <p:sp>
            <p:nvSpPr>
              <p:cNvPr id="1039" name="Text Box 8"/>
              <p:cNvSpPr txBox="1">
                <a:spLocks noChangeArrowheads="1"/>
              </p:cNvSpPr>
              <p:nvPr/>
            </p:nvSpPr>
            <p:spPr bwMode="auto">
              <a:xfrm>
                <a:off x="6224897" y="3787239"/>
                <a:ext cx="1466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Quantity of </a:t>
                </a:r>
                <a:r>
                  <a:rPr lang="en-US" altLang="en-US" sz="1800" i="1"/>
                  <a:t>x</a:t>
                </a:r>
                <a:endParaRPr lang="en-US" altLang="en-US" sz="1800"/>
              </a:p>
            </p:txBody>
          </p:sp>
          <p:sp>
            <p:nvSpPr>
              <p:cNvPr id="1040" name="Line 5"/>
              <p:cNvSpPr>
                <a:spLocks noChangeShapeType="1"/>
              </p:cNvSpPr>
              <p:nvPr/>
            </p:nvSpPr>
            <p:spPr bwMode="auto">
              <a:xfrm>
                <a:off x="2624447" y="3939639"/>
                <a:ext cx="3505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grpSp>
          <p:nvGrpSpPr>
            <p:cNvPr id="1036" name="Group 17"/>
            <p:cNvGrpSpPr>
              <a:grpSpLocks/>
            </p:cNvGrpSpPr>
            <p:nvPr/>
          </p:nvGrpSpPr>
          <p:grpSpPr bwMode="auto">
            <a:xfrm>
              <a:off x="1437904" y="998517"/>
              <a:ext cx="1466850" cy="2941122"/>
              <a:chOff x="1437904" y="998517"/>
              <a:chExt cx="1466850" cy="2941122"/>
            </a:xfrm>
          </p:grpSpPr>
          <p:sp>
            <p:nvSpPr>
              <p:cNvPr id="1037" name="Text Box 9"/>
              <p:cNvSpPr txBox="1">
                <a:spLocks noChangeArrowheads="1"/>
              </p:cNvSpPr>
              <p:nvPr/>
            </p:nvSpPr>
            <p:spPr bwMode="auto">
              <a:xfrm>
                <a:off x="1437904" y="998517"/>
                <a:ext cx="1466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Quantity of </a:t>
                </a:r>
                <a:r>
                  <a:rPr lang="en-US" altLang="en-US" sz="1800" i="1"/>
                  <a:t>y</a:t>
                </a:r>
                <a:endParaRPr lang="en-US" altLang="en-US" sz="1800"/>
              </a:p>
            </p:txBody>
          </p:sp>
          <p:sp>
            <p:nvSpPr>
              <p:cNvPr id="1038" name="Line 4"/>
              <p:cNvSpPr>
                <a:spLocks noChangeShapeType="1"/>
              </p:cNvSpPr>
              <p:nvPr/>
            </p:nvSpPr>
            <p:spPr bwMode="auto">
              <a:xfrm>
                <a:off x="2624447" y="1425039"/>
                <a:ext cx="0" cy="2514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grpSp>
      </p:grpSp>
    </p:spTree>
    <p:extLst>
      <p:ext uri="{BB962C8B-B14F-4D97-AF65-F5344CB8AC3E}">
        <p14:creationId xmlns:p14="http://schemas.microsoft.com/office/powerpoint/2010/main" val="11620502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29">
                                            <p:txEl>
                                              <p:pRg st="0" end="0"/>
                                            </p:txEl>
                                          </p:spTgt>
                                        </p:tgtEl>
                                        <p:attrNameLst>
                                          <p:attrName>style.visibility</p:attrName>
                                        </p:attrNameLst>
                                      </p:cBhvr>
                                      <p:to>
                                        <p:strVal val="visible"/>
                                      </p:to>
                                    </p:set>
                                    <p:animEffect transition="in" filter="wipe(left)">
                                      <p:cBhvr>
                                        <p:cTn id="15" dur="500"/>
                                        <p:tgtEl>
                                          <p:spTgt spid="102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9"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Title 1"/>
          <p:cNvSpPr>
            <a:spLocks noGrp="1"/>
          </p:cNvSpPr>
          <p:nvPr>
            <p:ph type="title"/>
          </p:nvPr>
        </p:nvSpPr>
        <p:spPr/>
        <p:txBody>
          <a:bodyPr/>
          <a:lstStyle/>
          <a:p>
            <a:r>
              <a:rPr lang="en-US" altLang="en-US" smtClean="0"/>
              <a:t>The Two-Good Case</a:t>
            </a:r>
          </a:p>
        </p:txBody>
      </p:sp>
      <p:sp>
        <p:nvSpPr>
          <p:cNvPr id="2052" name="Content Placeholder 4"/>
          <p:cNvSpPr>
            <a:spLocks noGrp="1"/>
          </p:cNvSpPr>
          <p:nvPr>
            <p:ph idx="1"/>
          </p:nvPr>
        </p:nvSpPr>
        <p:spPr/>
        <p:txBody>
          <a:bodyPr/>
          <a:lstStyle/>
          <a:p>
            <a:r>
              <a:rPr lang="en-US" altLang="en-US" smtClean="0"/>
              <a:t>First-order conditions for a maximum</a:t>
            </a:r>
          </a:p>
          <a:p>
            <a:pPr lvl="1"/>
            <a:r>
              <a:rPr lang="en-US" altLang="en-US" smtClean="0"/>
              <a:t>Point of tangency between the budget constraint and the indifference curve:</a:t>
            </a:r>
          </a:p>
          <a:p>
            <a:pPr lvl="1"/>
            <a:endParaRPr lang="en-US" altLang="en-US" smtClean="0"/>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7EBB05BA-C85C-465C-8B1C-7E41EE179E9B}" type="slidenum">
              <a:rPr lang="en-US" smtClean="0"/>
              <a:pPr>
                <a:defRPr/>
              </a:pPr>
              <a:t>7</a:t>
            </a:fld>
            <a:endParaRPr lang="en-US"/>
          </a:p>
        </p:txBody>
      </p:sp>
      <p:graphicFrame>
        <p:nvGraphicFramePr>
          <p:cNvPr id="7" name="Object 2"/>
          <p:cNvGraphicFramePr>
            <a:graphicFrameLocks noChangeAspect="1"/>
          </p:cNvGraphicFramePr>
          <p:nvPr>
            <p:extLst>
              <p:ext uri="{D42A27DB-BD31-4B8C-83A1-F6EECF244321}">
                <p14:modId xmlns:p14="http://schemas.microsoft.com/office/powerpoint/2010/main" val="4255203276"/>
              </p:ext>
            </p:extLst>
          </p:nvPr>
        </p:nvGraphicFramePr>
        <p:xfrm>
          <a:off x="1559378" y="2808288"/>
          <a:ext cx="6025244" cy="3287712"/>
        </p:xfrm>
        <a:graphic>
          <a:graphicData uri="http://schemas.openxmlformats.org/presentationml/2006/ole">
            <mc:AlternateContent xmlns:mc="http://schemas.openxmlformats.org/markup-compatibility/2006">
              <mc:Choice xmlns:v="urn:schemas-microsoft-com:vml" Requires="v">
                <p:oleObj spid="_x0000_s130065" name="Equation" r:id="rId3" imgW="2539800" imgH="1384200" progId="Equation.DSMT4">
                  <p:embed/>
                </p:oleObj>
              </mc:Choice>
              <mc:Fallback>
                <p:oleObj name="Equation" r:id="rId3" imgW="2539800" imgH="1384200" progId="Equation.DSMT4">
                  <p:embed/>
                  <p:pic>
                    <p:nvPicPr>
                      <p:cNvPr id="0" name=""/>
                      <p:cNvPicPr>
                        <a:picLocks noChangeAspect="1" noChangeArrowheads="1"/>
                      </p:cNvPicPr>
                      <p:nvPr/>
                    </p:nvPicPr>
                    <p:blipFill>
                      <a:blip r:embed="rId4"/>
                      <a:srcRect/>
                      <a:stretch>
                        <a:fillRect/>
                      </a:stretch>
                    </p:blipFill>
                    <p:spPr bwMode="auto">
                      <a:xfrm>
                        <a:off x="1559378" y="2808288"/>
                        <a:ext cx="6025244" cy="3287712"/>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5594904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bwMode="auto">
          <a:xfrm>
            <a:off x="1143000" y="0"/>
            <a:ext cx="8001000" cy="99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4.2	A Graphical Demonstration of Utility </a:t>
            </a:r>
            <a:r>
              <a:rPr lang="en-US" altLang="en-US" dirty="0" smtClean="0"/>
              <a:t>	</a:t>
            </a:r>
            <a:r>
              <a:rPr lang="en-US" altLang="en-US" dirty="0" smtClean="0">
                <a:solidFill>
                  <a:schemeClr val="tx2">
                    <a:lumMod val="75000"/>
                  </a:schemeClr>
                </a:solidFill>
              </a:rPr>
              <a:t>Maximization</a:t>
            </a:r>
          </a:p>
        </p:txBody>
      </p:sp>
      <p:sp>
        <p:nvSpPr>
          <p:cNvPr id="34819" name="Text Placeholder 2"/>
          <p:cNvSpPr>
            <a:spLocks noGrp="1"/>
          </p:cNvSpPr>
          <p:nvPr>
            <p:ph sz="half" idx="1"/>
          </p:nvPr>
        </p:nvSpPr>
        <p:spPr>
          <a:xfrm>
            <a:off x="266700" y="4592638"/>
            <a:ext cx="8610600" cy="1738188"/>
          </a:xfrm>
        </p:spPr>
        <p:txBody>
          <a:bodyPr>
            <a:normAutofit/>
          </a:bodyPr>
          <a:lstStyle/>
          <a:p>
            <a:pPr>
              <a:spcBef>
                <a:spcPct val="0"/>
              </a:spcBef>
            </a:pPr>
            <a:r>
              <a:rPr lang="en-US" altLang="en-US" dirty="0"/>
              <a:t>Point C represents the highest utility level that can be reached by the individual, given the budget constraint. Therefore, the combination x*,y* is the rational way for the individual to allocate purchasing power. Only for this combination of goods will two conditions hold: All available funds will be spent, and the individual’s psychic rate of trade-off (MRS) will be equal to the rate at which the goods can be traded in the market ( </a:t>
            </a:r>
            <a:r>
              <a:rPr lang="en-US" altLang="en-US" dirty="0" err="1"/>
              <a:t>p</a:t>
            </a:r>
            <a:r>
              <a:rPr lang="en-US" altLang="en-US" baseline="-25000" dirty="0" err="1"/>
              <a:t>x</a:t>
            </a:r>
            <a:r>
              <a:rPr lang="en-US" altLang="en-US" dirty="0"/>
              <a:t>/</a:t>
            </a:r>
            <a:r>
              <a:rPr lang="en-US" altLang="en-US" dirty="0" err="1"/>
              <a:t>p</a:t>
            </a:r>
            <a:r>
              <a:rPr lang="en-US" altLang="en-US" baseline="-25000" dirty="0" err="1"/>
              <a:t>y</a:t>
            </a:r>
            <a:r>
              <a:rPr lang="en-US" altLang="en-US" dirty="0" smtClean="0"/>
              <a:t>).</a:t>
            </a:r>
            <a:endParaRPr lang="en-US" altLang="en-US" dirty="0"/>
          </a:p>
        </p:txBody>
      </p:sp>
      <p:sp>
        <p:nvSpPr>
          <p:cNvPr id="34822"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9FAC1C7D-2560-4A18-AB9F-2BC6DCD8B0CA}" type="slidenum">
              <a:rPr lang="en-US" smtClean="0"/>
              <a:pPr>
                <a:defRPr/>
              </a:pPr>
              <a:t>8</a:t>
            </a:fld>
            <a:endParaRPr lang="en-US" dirty="0"/>
          </a:p>
        </p:txBody>
      </p:sp>
      <p:grpSp>
        <p:nvGrpSpPr>
          <p:cNvPr id="2" name="Group 6"/>
          <p:cNvGrpSpPr>
            <a:grpSpLocks/>
          </p:cNvGrpSpPr>
          <p:nvPr/>
        </p:nvGrpSpPr>
        <p:grpSpPr bwMode="auto">
          <a:xfrm>
            <a:off x="2476500" y="1935163"/>
            <a:ext cx="3573462" cy="2133600"/>
            <a:chOff x="2624447" y="1791752"/>
            <a:chExt cx="3573466" cy="2133600"/>
          </a:xfrm>
        </p:grpSpPr>
        <p:sp>
          <p:nvSpPr>
            <p:cNvPr id="8" name="AutoShape 14" descr="70%"/>
            <p:cNvSpPr>
              <a:spLocks noChangeArrowheads="1"/>
            </p:cNvSpPr>
            <p:nvPr/>
          </p:nvSpPr>
          <p:spPr bwMode="auto">
            <a:xfrm>
              <a:off x="2624447" y="1791752"/>
              <a:ext cx="2133602" cy="2133600"/>
            </a:xfrm>
            <a:prstGeom prst="rtTriangle">
              <a:avLst/>
            </a:prstGeom>
            <a:solidFill>
              <a:schemeClr val="tx2">
                <a:lumMod val="20000"/>
                <a:lumOff val="80000"/>
              </a:schemeClr>
            </a:solidFill>
            <a:ln w="28575">
              <a:solidFill>
                <a:srgbClr val="000099"/>
              </a:solidFill>
              <a:miter lim="800000"/>
              <a:headEnd/>
              <a:tailEnd/>
            </a:ln>
            <a:effectLst/>
          </p:spPr>
          <p:txBody>
            <a:bodyPr wrap="none" anchor="ctr">
              <a:spAutoFit/>
            </a:bodyPr>
            <a:lstStyle/>
            <a:p>
              <a:pPr>
                <a:defRPr/>
              </a:pPr>
              <a:endParaRPr lang="en-US"/>
            </a:p>
          </p:txBody>
        </p:sp>
        <p:grpSp>
          <p:nvGrpSpPr>
            <p:cNvPr id="34860" name="Group 23"/>
            <p:cNvGrpSpPr>
              <a:grpSpLocks/>
            </p:cNvGrpSpPr>
            <p:nvPr/>
          </p:nvGrpSpPr>
          <p:grpSpPr bwMode="auto">
            <a:xfrm>
              <a:off x="4408799" y="2366433"/>
              <a:ext cx="1789114" cy="1177925"/>
              <a:chOff x="2372" y="2897"/>
              <a:chExt cx="1127" cy="742"/>
            </a:xfrm>
          </p:grpSpPr>
          <p:sp>
            <p:nvSpPr>
              <p:cNvPr id="34861" name="Text Box 21"/>
              <p:cNvSpPr txBox="1">
                <a:spLocks noChangeArrowheads="1"/>
              </p:cNvSpPr>
              <p:nvPr/>
            </p:nvSpPr>
            <p:spPr bwMode="auto">
              <a:xfrm>
                <a:off x="2769" y="2897"/>
                <a:ext cx="73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394DA3"/>
                    </a:solidFill>
                  </a:rPr>
                  <a:t>I=p</a:t>
                </a:r>
                <a:r>
                  <a:rPr lang="en-US" altLang="en-US" sz="1800" baseline="-25000">
                    <a:solidFill>
                      <a:srgbClr val="394DA3"/>
                    </a:solidFill>
                  </a:rPr>
                  <a:t>x</a:t>
                </a:r>
                <a:r>
                  <a:rPr lang="en-US" altLang="en-US" sz="1800">
                    <a:solidFill>
                      <a:srgbClr val="394DA3"/>
                    </a:solidFill>
                  </a:rPr>
                  <a:t>x+p</a:t>
                </a:r>
                <a:r>
                  <a:rPr lang="en-US" altLang="en-US" sz="1800" baseline="-25000">
                    <a:solidFill>
                      <a:srgbClr val="394DA3"/>
                    </a:solidFill>
                  </a:rPr>
                  <a:t>y</a:t>
                </a:r>
                <a:r>
                  <a:rPr lang="en-US" altLang="en-US" sz="1800">
                    <a:solidFill>
                      <a:srgbClr val="394DA3"/>
                    </a:solidFill>
                  </a:rPr>
                  <a:t>y</a:t>
                </a:r>
              </a:p>
            </p:txBody>
          </p:sp>
          <p:sp>
            <p:nvSpPr>
              <p:cNvPr id="34862" name="Line 22"/>
              <p:cNvSpPr>
                <a:spLocks noChangeShapeType="1"/>
              </p:cNvSpPr>
              <p:nvPr/>
            </p:nvSpPr>
            <p:spPr bwMode="auto">
              <a:xfrm flipH="1">
                <a:off x="2372" y="3093"/>
                <a:ext cx="466" cy="546"/>
              </a:xfrm>
              <a:prstGeom prst="line">
                <a:avLst/>
              </a:prstGeom>
              <a:noFill/>
              <a:ln w="28575">
                <a:solidFill>
                  <a:srgbClr val="394DA3"/>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grpSp>
      </p:grpSp>
      <p:grpSp>
        <p:nvGrpSpPr>
          <p:cNvPr id="6" name="Group 14"/>
          <p:cNvGrpSpPr>
            <a:grpSpLocks/>
          </p:cNvGrpSpPr>
          <p:nvPr/>
        </p:nvGrpSpPr>
        <p:grpSpPr bwMode="auto">
          <a:xfrm>
            <a:off x="1290637" y="1143000"/>
            <a:ext cx="6253163" cy="3154363"/>
            <a:chOff x="1437904" y="998517"/>
            <a:chExt cx="6253843" cy="3155435"/>
          </a:xfrm>
        </p:grpSpPr>
        <p:grpSp>
          <p:nvGrpSpPr>
            <p:cNvPr id="34853" name="Group 18"/>
            <p:cNvGrpSpPr>
              <a:grpSpLocks/>
            </p:cNvGrpSpPr>
            <p:nvPr/>
          </p:nvGrpSpPr>
          <p:grpSpPr bwMode="auto">
            <a:xfrm>
              <a:off x="2624447" y="3787239"/>
              <a:ext cx="5067300" cy="366713"/>
              <a:chOff x="2624447" y="3787239"/>
              <a:chExt cx="5067300" cy="366713"/>
            </a:xfrm>
          </p:grpSpPr>
          <p:sp>
            <p:nvSpPr>
              <p:cNvPr id="34857" name="Text Box 8"/>
              <p:cNvSpPr txBox="1">
                <a:spLocks noChangeArrowheads="1"/>
              </p:cNvSpPr>
              <p:nvPr/>
            </p:nvSpPr>
            <p:spPr bwMode="auto">
              <a:xfrm>
                <a:off x="6224897" y="3787239"/>
                <a:ext cx="1466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Quantity of </a:t>
                </a:r>
                <a:r>
                  <a:rPr lang="en-US" altLang="en-US" sz="1800" i="1"/>
                  <a:t>x</a:t>
                </a:r>
                <a:endParaRPr lang="en-US" altLang="en-US" sz="1800"/>
              </a:p>
            </p:txBody>
          </p:sp>
          <p:sp>
            <p:nvSpPr>
              <p:cNvPr id="34858" name="Line 5"/>
              <p:cNvSpPr>
                <a:spLocks noChangeShapeType="1"/>
              </p:cNvSpPr>
              <p:nvPr/>
            </p:nvSpPr>
            <p:spPr bwMode="auto">
              <a:xfrm>
                <a:off x="2624447" y="3939639"/>
                <a:ext cx="3505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grpSp>
          <p:nvGrpSpPr>
            <p:cNvPr id="34854" name="Group 17"/>
            <p:cNvGrpSpPr>
              <a:grpSpLocks/>
            </p:cNvGrpSpPr>
            <p:nvPr/>
          </p:nvGrpSpPr>
          <p:grpSpPr bwMode="auto">
            <a:xfrm>
              <a:off x="1437904" y="998517"/>
              <a:ext cx="1466850" cy="2941122"/>
              <a:chOff x="1437904" y="998517"/>
              <a:chExt cx="1466850" cy="2941122"/>
            </a:xfrm>
          </p:grpSpPr>
          <p:sp>
            <p:nvSpPr>
              <p:cNvPr id="34855" name="Text Box 9"/>
              <p:cNvSpPr txBox="1">
                <a:spLocks noChangeArrowheads="1"/>
              </p:cNvSpPr>
              <p:nvPr/>
            </p:nvSpPr>
            <p:spPr bwMode="auto">
              <a:xfrm>
                <a:off x="1437904" y="998517"/>
                <a:ext cx="1466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Quantity of </a:t>
                </a:r>
                <a:r>
                  <a:rPr lang="en-US" altLang="en-US" sz="1800" i="1"/>
                  <a:t>y</a:t>
                </a:r>
                <a:endParaRPr lang="en-US" altLang="en-US" sz="1800"/>
              </a:p>
            </p:txBody>
          </p:sp>
          <p:sp>
            <p:nvSpPr>
              <p:cNvPr id="34856" name="Line 4"/>
              <p:cNvSpPr>
                <a:spLocks noChangeShapeType="1"/>
              </p:cNvSpPr>
              <p:nvPr/>
            </p:nvSpPr>
            <p:spPr bwMode="auto">
              <a:xfrm>
                <a:off x="2624447" y="1425039"/>
                <a:ext cx="0" cy="2514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grpSp>
      </p:grpSp>
      <p:grpSp>
        <p:nvGrpSpPr>
          <p:cNvPr id="10" name="Group 45"/>
          <p:cNvGrpSpPr>
            <a:grpSpLocks/>
          </p:cNvGrpSpPr>
          <p:nvPr/>
        </p:nvGrpSpPr>
        <p:grpSpPr bwMode="auto">
          <a:xfrm>
            <a:off x="2600325" y="1920875"/>
            <a:ext cx="2554287" cy="2028825"/>
            <a:chOff x="2522517" y="2216727"/>
            <a:chExt cx="2553784" cy="2028240"/>
          </a:xfrm>
        </p:grpSpPr>
        <p:sp>
          <p:nvSpPr>
            <p:cNvPr id="34851" name="Freeform 23"/>
            <p:cNvSpPr>
              <a:spLocks/>
            </p:cNvSpPr>
            <p:nvPr/>
          </p:nvSpPr>
          <p:spPr bwMode="auto">
            <a:xfrm>
              <a:off x="2522517" y="2216727"/>
              <a:ext cx="2133600" cy="1752600"/>
            </a:xfrm>
            <a:custGeom>
              <a:avLst/>
              <a:gdLst>
                <a:gd name="T0" fmla="*/ 0 w 1008"/>
                <a:gd name="T1" fmla="*/ 0 h 864"/>
                <a:gd name="T2" fmla="*/ 711200 w 1008"/>
                <a:gd name="T3" fmla="*/ 1265767 h 864"/>
                <a:gd name="T4" fmla="*/ 2133600 w 1008"/>
                <a:gd name="T5" fmla="*/ 1752600 h 864"/>
                <a:gd name="T6" fmla="*/ 0 60000 65536"/>
                <a:gd name="T7" fmla="*/ 0 60000 65536"/>
                <a:gd name="T8" fmla="*/ 0 60000 65536"/>
                <a:gd name="T9" fmla="*/ 0 w 1008"/>
                <a:gd name="T10" fmla="*/ 0 h 864"/>
                <a:gd name="T11" fmla="*/ 1008 w 1008"/>
                <a:gd name="T12" fmla="*/ 864 h 864"/>
              </a:gdLst>
              <a:ahLst/>
              <a:cxnLst>
                <a:cxn ang="T6">
                  <a:pos x="T0" y="T1"/>
                </a:cxn>
                <a:cxn ang="T7">
                  <a:pos x="T2" y="T3"/>
                </a:cxn>
                <a:cxn ang="T8">
                  <a:pos x="T4" y="T5"/>
                </a:cxn>
              </a:cxnLst>
              <a:rect l="T9" t="T10" r="T11" b="T12"/>
              <a:pathLst>
                <a:path w="1008" h="864">
                  <a:moveTo>
                    <a:pt x="0" y="0"/>
                  </a:moveTo>
                  <a:cubicBezTo>
                    <a:pt x="84" y="240"/>
                    <a:pt x="168" y="480"/>
                    <a:pt x="336" y="624"/>
                  </a:cubicBezTo>
                  <a:cubicBezTo>
                    <a:pt x="504" y="768"/>
                    <a:pt x="756" y="816"/>
                    <a:pt x="1008" y="864"/>
                  </a:cubicBezTo>
                </a:path>
              </a:pathLst>
            </a:custGeom>
            <a:noFill/>
            <a:ln w="28575" cap="flat" cmpd="sng">
              <a:solidFill>
                <a:srgbClr val="C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4852" name="Text Box 27"/>
            <p:cNvSpPr txBox="1">
              <a:spLocks noChangeArrowheads="1"/>
            </p:cNvSpPr>
            <p:nvPr/>
          </p:nvSpPr>
          <p:spPr bwMode="auto">
            <a:xfrm>
              <a:off x="4668817" y="3906413"/>
              <a:ext cx="40748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dirty="0">
                  <a:solidFill>
                    <a:srgbClr val="C00000"/>
                  </a:solidFill>
                </a:rPr>
                <a:t>U</a:t>
              </a:r>
              <a:r>
                <a:rPr lang="en-US" altLang="en-US" sz="1600" baseline="-25000" dirty="0">
                  <a:solidFill>
                    <a:srgbClr val="C00000"/>
                  </a:solidFill>
                </a:rPr>
                <a:t>1</a:t>
              </a:r>
            </a:p>
          </p:txBody>
        </p:sp>
      </p:grpSp>
      <p:grpSp>
        <p:nvGrpSpPr>
          <p:cNvPr id="11" name="Group 47"/>
          <p:cNvGrpSpPr>
            <a:grpSpLocks/>
          </p:cNvGrpSpPr>
          <p:nvPr/>
        </p:nvGrpSpPr>
        <p:grpSpPr bwMode="auto">
          <a:xfrm>
            <a:off x="3057525" y="1463675"/>
            <a:ext cx="2401887" cy="1800225"/>
            <a:chOff x="2979717" y="1759527"/>
            <a:chExt cx="2401384" cy="1799640"/>
          </a:xfrm>
        </p:grpSpPr>
        <p:sp>
          <p:nvSpPr>
            <p:cNvPr id="34849" name="Freeform 24"/>
            <p:cNvSpPr>
              <a:spLocks/>
            </p:cNvSpPr>
            <p:nvPr/>
          </p:nvSpPr>
          <p:spPr bwMode="auto">
            <a:xfrm>
              <a:off x="2979717" y="1759527"/>
              <a:ext cx="1981200" cy="1600200"/>
            </a:xfrm>
            <a:custGeom>
              <a:avLst/>
              <a:gdLst>
                <a:gd name="T0" fmla="*/ 0 w 1008"/>
                <a:gd name="T1" fmla="*/ 0 h 864"/>
                <a:gd name="T2" fmla="*/ 660400 w 1008"/>
                <a:gd name="T3" fmla="*/ 1155700 h 864"/>
                <a:gd name="T4" fmla="*/ 1981200 w 1008"/>
                <a:gd name="T5" fmla="*/ 1600200 h 864"/>
                <a:gd name="T6" fmla="*/ 0 60000 65536"/>
                <a:gd name="T7" fmla="*/ 0 60000 65536"/>
                <a:gd name="T8" fmla="*/ 0 60000 65536"/>
                <a:gd name="T9" fmla="*/ 0 w 1008"/>
                <a:gd name="T10" fmla="*/ 0 h 864"/>
                <a:gd name="T11" fmla="*/ 1008 w 1008"/>
                <a:gd name="T12" fmla="*/ 864 h 864"/>
              </a:gdLst>
              <a:ahLst/>
              <a:cxnLst>
                <a:cxn ang="T6">
                  <a:pos x="T0" y="T1"/>
                </a:cxn>
                <a:cxn ang="T7">
                  <a:pos x="T2" y="T3"/>
                </a:cxn>
                <a:cxn ang="T8">
                  <a:pos x="T4" y="T5"/>
                </a:cxn>
              </a:cxnLst>
              <a:rect l="T9" t="T10" r="T11" b="T12"/>
              <a:pathLst>
                <a:path w="1008" h="864">
                  <a:moveTo>
                    <a:pt x="0" y="0"/>
                  </a:moveTo>
                  <a:cubicBezTo>
                    <a:pt x="84" y="240"/>
                    <a:pt x="168" y="480"/>
                    <a:pt x="336" y="624"/>
                  </a:cubicBezTo>
                  <a:cubicBezTo>
                    <a:pt x="504" y="768"/>
                    <a:pt x="756" y="816"/>
                    <a:pt x="1008" y="864"/>
                  </a:cubicBezTo>
                </a:path>
              </a:pathLst>
            </a:custGeom>
            <a:noFill/>
            <a:ln w="28575" cap="flat" cmpd="sng">
              <a:solidFill>
                <a:srgbClr val="C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4850" name="Text Box 25"/>
            <p:cNvSpPr txBox="1">
              <a:spLocks noChangeArrowheads="1"/>
            </p:cNvSpPr>
            <p:nvPr/>
          </p:nvSpPr>
          <p:spPr bwMode="auto">
            <a:xfrm>
              <a:off x="4973617" y="3220613"/>
              <a:ext cx="40748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dirty="0">
                  <a:solidFill>
                    <a:srgbClr val="C00000"/>
                  </a:solidFill>
                </a:rPr>
                <a:t>U</a:t>
              </a:r>
              <a:r>
                <a:rPr lang="en-US" altLang="en-US" sz="1600" baseline="-25000" dirty="0">
                  <a:solidFill>
                    <a:srgbClr val="C00000"/>
                  </a:solidFill>
                </a:rPr>
                <a:t>3</a:t>
              </a:r>
            </a:p>
          </p:txBody>
        </p:sp>
      </p:grpSp>
      <p:grpSp>
        <p:nvGrpSpPr>
          <p:cNvPr id="12" name="Group 44"/>
          <p:cNvGrpSpPr>
            <a:grpSpLocks/>
          </p:cNvGrpSpPr>
          <p:nvPr/>
        </p:nvGrpSpPr>
        <p:grpSpPr bwMode="auto">
          <a:xfrm>
            <a:off x="3590925" y="2239963"/>
            <a:ext cx="341312" cy="338137"/>
            <a:chOff x="3513117" y="2534813"/>
            <a:chExt cx="341667" cy="338554"/>
          </a:xfrm>
        </p:grpSpPr>
        <p:sp>
          <p:nvSpPr>
            <p:cNvPr id="34847" name="Oval 29"/>
            <p:cNvSpPr>
              <a:spLocks noChangeArrowheads="1"/>
            </p:cNvSpPr>
            <p:nvPr/>
          </p:nvSpPr>
          <p:spPr bwMode="auto">
            <a:xfrm>
              <a:off x="3513117" y="2792579"/>
              <a:ext cx="76200" cy="76200"/>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34848" name="Text Box 33"/>
            <p:cNvSpPr txBox="1">
              <a:spLocks noChangeArrowheads="1"/>
            </p:cNvSpPr>
            <p:nvPr/>
          </p:nvSpPr>
          <p:spPr bwMode="auto">
            <a:xfrm>
              <a:off x="3522642" y="2534813"/>
              <a:ext cx="3321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b="1" i="1"/>
                <a:t>D</a:t>
              </a:r>
              <a:endParaRPr lang="en-US" altLang="en-US" sz="1600" b="1"/>
            </a:p>
          </p:txBody>
        </p:sp>
      </p:grpSp>
      <p:grpSp>
        <p:nvGrpSpPr>
          <p:cNvPr id="13" name="Group 46"/>
          <p:cNvGrpSpPr>
            <a:grpSpLocks/>
          </p:cNvGrpSpPr>
          <p:nvPr/>
        </p:nvGrpSpPr>
        <p:grpSpPr bwMode="auto">
          <a:xfrm>
            <a:off x="2828925" y="1768475"/>
            <a:ext cx="2597150" cy="1879600"/>
            <a:chOff x="2751117" y="2064326"/>
            <a:chExt cx="2597151" cy="1879601"/>
          </a:xfrm>
        </p:grpSpPr>
        <p:sp>
          <p:nvSpPr>
            <p:cNvPr id="34845" name="Freeform 22"/>
            <p:cNvSpPr>
              <a:spLocks/>
            </p:cNvSpPr>
            <p:nvPr/>
          </p:nvSpPr>
          <p:spPr bwMode="auto">
            <a:xfrm>
              <a:off x="2751117" y="2064326"/>
              <a:ext cx="2133601" cy="1676400"/>
            </a:xfrm>
            <a:custGeom>
              <a:avLst/>
              <a:gdLst>
                <a:gd name="T0" fmla="*/ 0 w 1008"/>
                <a:gd name="T1" fmla="*/ 0 h 864"/>
                <a:gd name="T2" fmla="*/ 711200 w 1008"/>
                <a:gd name="T3" fmla="*/ 1210733 h 864"/>
                <a:gd name="T4" fmla="*/ 2133601 w 1008"/>
                <a:gd name="T5" fmla="*/ 1676400 h 864"/>
                <a:gd name="T6" fmla="*/ 0 60000 65536"/>
                <a:gd name="T7" fmla="*/ 0 60000 65536"/>
                <a:gd name="T8" fmla="*/ 0 60000 65536"/>
                <a:gd name="T9" fmla="*/ 0 w 1008"/>
                <a:gd name="T10" fmla="*/ 0 h 864"/>
                <a:gd name="T11" fmla="*/ 1008 w 1008"/>
                <a:gd name="T12" fmla="*/ 864 h 864"/>
              </a:gdLst>
              <a:ahLst/>
              <a:cxnLst>
                <a:cxn ang="T6">
                  <a:pos x="T0" y="T1"/>
                </a:cxn>
                <a:cxn ang="T7">
                  <a:pos x="T2" y="T3"/>
                </a:cxn>
                <a:cxn ang="T8">
                  <a:pos x="T4" y="T5"/>
                </a:cxn>
              </a:cxnLst>
              <a:rect l="T9" t="T10" r="T11" b="T12"/>
              <a:pathLst>
                <a:path w="1008" h="864">
                  <a:moveTo>
                    <a:pt x="0" y="0"/>
                  </a:moveTo>
                  <a:cubicBezTo>
                    <a:pt x="84" y="240"/>
                    <a:pt x="168" y="480"/>
                    <a:pt x="336" y="624"/>
                  </a:cubicBezTo>
                  <a:cubicBezTo>
                    <a:pt x="504" y="768"/>
                    <a:pt x="756" y="816"/>
                    <a:pt x="1008" y="864"/>
                  </a:cubicBezTo>
                </a:path>
              </a:pathLst>
            </a:custGeom>
            <a:noFill/>
            <a:ln w="28575" cap="flat" cmpd="sng">
              <a:solidFill>
                <a:srgbClr val="C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4846" name="Text Box 26"/>
            <p:cNvSpPr txBox="1">
              <a:spLocks noChangeArrowheads="1"/>
            </p:cNvSpPr>
            <p:nvPr/>
          </p:nvSpPr>
          <p:spPr bwMode="auto">
            <a:xfrm>
              <a:off x="4940280" y="3605789"/>
              <a:ext cx="4079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dirty="0">
                  <a:solidFill>
                    <a:srgbClr val="C00000"/>
                  </a:solidFill>
                </a:rPr>
                <a:t>U</a:t>
              </a:r>
              <a:r>
                <a:rPr lang="en-US" altLang="en-US" sz="1600" baseline="-25000" dirty="0">
                  <a:solidFill>
                    <a:srgbClr val="C00000"/>
                  </a:solidFill>
                </a:rPr>
                <a:t>2</a:t>
              </a:r>
            </a:p>
          </p:txBody>
        </p:sp>
      </p:grpSp>
      <p:grpSp>
        <p:nvGrpSpPr>
          <p:cNvPr id="14" name="Group 42"/>
          <p:cNvGrpSpPr>
            <a:grpSpLocks/>
          </p:cNvGrpSpPr>
          <p:nvPr/>
        </p:nvGrpSpPr>
        <p:grpSpPr bwMode="auto">
          <a:xfrm>
            <a:off x="2892425" y="3076575"/>
            <a:ext cx="381000" cy="438150"/>
            <a:chOff x="2293917" y="2445327"/>
            <a:chExt cx="381000" cy="438150"/>
          </a:xfrm>
        </p:grpSpPr>
        <p:sp>
          <p:nvSpPr>
            <p:cNvPr id="34843" name="Oval 34"/>
            <p:cNvSpPr>
              <a:spLocks noChangeArrowheads="1"/>
            </p:cNvSpPr>
            <p:nvPr/>
          </p:nvSpPr>
          <p:spPr bwMode="auto">
            <a:xfrm>
              <a:off x="2598717" y="2445327"/>
              <a:ext cx="76200" cy="76200"/>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34844" name="Text Box 35"/>
            <p:cNvSpPr txBox="1">
              <a:spLocks noChangeArrowheads="1"/>
            </p:cNvSpPr>
            <p:nvPr/>
          </p:nvSpPr>
          <p:spPr bwMode="auto">
            <a:xfrm>
              <a:off x="2293917" y="2546927"/>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b="1" i="1"/>
                <a:t>A</a:t>
              </a:r>
              <a:endParaRPr lang="en-US" altLang="en-US" sz="1600" b="1"/>
            </a:p>
          </p:txBody>
        </p:sp>
      </p:grpSp>
      <p:grpSp>
        <p:nvGrpSpPr>
          <p:cNvPr id="15" name="Group 48"/>
          <p:cNvGrpSpPr>
            <a:grpSpLocks/>
          </p:cNvGrpSpPr>
          <p:nvPr/>
        </p:nvGrpSpPr>
        <p:grpSpPr bwMode="auto">
          <a:xfrm>
            <a:off x="2624137" y="1804988"/>
            <a:ext cx="331788" cy="368300"/>
            <a:chOff x="2583477" y="2153495"/>
            <a:chExt cx="332142" cy="368032"/>
          </a:xfrm>
        </p:grpSpPr>
        <p:sp>
          <p:nvSpPr>
            <p:cNvPr id="34841" name="Oval 34"/>
            <p:cNvSpPr>
              <a:spLocks noChangeArrowheads="1"/>
            </p:cNvSpPr>
            <p:nvPr/>
          </p:nvSpPr>
          <p:spPr bwMode="auto">
            <a:xfrm>
              <a:off x="2598717" y="2445327"/>
              <a:ext cx="76200" cy="76200"/>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34842" name="Text Box 35"/>
            <p:cNvSpPr txBox="1">
              <a:spLocks noChangeArrowheads="1"/>
            </p:cNvSpPr>
            <p:nvPr/>
          </p:nvSpPr>
          <p:spPr bwMode="auto">
            <a:xfrm>
              <a:off x="2583477" y="2153495"/>
              <a:ext cx="3321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b="1" i="1"/>
                <a:t>B</a:t>
              </a:r>
              <a:endParaRPr lang="en-US" altLang="en-US" sz="1600" b="1"/>
            </a:p>
          </p:txBody>
        </p:sp>
      </p:grpSp>
      <p:grpSp>
        <p:nvGrpSpPr>
          <p:cNvPr id="16" name="Group 59"/>
          <p:cNvGrpSpPr>
            <a:grpSpLocks/>
          </p:cNvGrpSpPr>
          <p:nvPr/>
        </p:nvGrpSpPr>
        <p:grpSpPr bwMode="auto">
          <a:xfrm>
            <a:off x="2049462" y="2544763"/>
            <a:ext cx="1587500" cy="1876425"/>
            <a:chOff x="1972153" y="2839612"/>
            <a:chExt cx="1587014" cy="1876614"/>
          </a:xfrm>
        </p:grpSpPr>
        <p:grpSp>
          <p:nvGrpSpPr>
            <p:cNvPr id="34832" name="Group 43"/>
            <p:cNvGrpSpPr>
              <a:grpSpLocks/>
            </p:cNvGrpSpPr>
            <p:nvPr/>
          </p:nvGrpSpPr>
          <p:grpSpPr bwMode="auto">
            <a:xfrm>
              <a:off x="3217842" y="2839612"/>
              <a:ext cx="332142" cy="367714"/>
              <a:chOff x="3217842" y="2839612"/>
              <a:chExt cx="332142" cy="367714"/>
            </a:xfrm>
          </p:grpSpPr>
          <p:sp>
            <p:nvSpPr>
              <p:cNvPr id="34839" name="Oval 28"/>
              <p:cNvSpPr>
                <a:spLocks noChangeArrowheads="1"/>
              </p:cNvSpPr>
              <p:nvPr/>
            </p:nvSpPr>
            <p:spPr bwMode="auto">
              <a:xfrm>
                <a:off x="3284517" y="3131126"/>
                <a:ext cx="76200" cy="76200"/>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34840" name="Text Box 32"/>
              <p:cNvSpPr txBox="1">
                <a:spLocks noChangeArrowheads="1"/>
              </p:cNvSpPr>
              <p:nvPr/>
            </p:nvSpPr>
            <p:spPr bwMode="auto">
              <a:xfrm>
                <a:off x="3217842" y="2839612"/>
                <a:ext cx="3321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b="1" i="1"/>
                  <a:t>C</a:t>
                </a:r>
                <a:endParaRPr lang="en-US" altLang="en-US" sz="1600" b="1"/>
              </a:p>
            </p:txBody>
          </p:sp>
        </p:grpSp>
        <p:grpSp>
          <p:nvGrpSpPr>
            <p:cNvPr id="34833" name="Group 56"/>
            <p:cNvGrpSpPr>
              <a:grpSpLocks/>
            </p:cNvGrpSpPr>
            <p:nvPr/>
          </p:nvGrpSpPr>
          <p:grpSpPr bwMode="auto">
            <a:xfrm>
              <a:off x="1972153" y="3003634"/>
              <a:ext cx="1341634" cy="338554"/>
              <a:chOff x="1972153" y="3003634"/>
              <a:chExt cx="1341634" cy="338554"/>
            </a:xfrm>
          </p:grpSpPr>
          <p:cxnSp>
            <p:nvCxnSpPr>
              <p:cNvPr id="34837" name="Straight Connector 52"/>
              <p:cNvCxnSpPr>
                <a:cxnSpLocks noChangeShapeType="1"/>
              </p:cNvCxnSpPr>
              <p:nvPr/>
            </p:nvCxnSpPr>
            <p:spPr bwMode="auto">
              <a:xfrm rot="10800000">
                <a:off x="2421332" y="3160169"/>
                <a:ext cx="892455" cy="0"/>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sp>
            <p:nvSpPr>
              <p:cNvPr id="34838" name="Text Box 35"/>
              <p:cNvSpPr txBox="1">
                <a:spLocks noChangeArrowheads="1"/>
              </p:cNvSpPr>
              <p:nvPr/>
            </p:nvSpPr>
            <p:spPr bwMode="auto">
              <a:xfrm>
                <a:off x="1972153" y="3003634"/>
                <a:ext cx="43633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i="1"/>
                  <a:t> y*</a:t>
                </a:r>
                <a:endParaRPr lang="en-US" altLang="en-US" sz="1600"/>
              </a:p>
            </p:txBody>
          </p:sp>
        </p:grpSp>
        <p:grpSp>
          <p:nvGrpSpPr>
            <p:cNvPr id="34834" name="Group 58"/>
            <p:cNvGrpSpPr>
              <a:grpSpLocks/>
            </p:cNvGrpSpPr>
            <p:nvPr/>
          </p:nvGrpSpPr>
          <p:grpSpPr bwMode="auto">
            <a:xfrm>
              <a:off x="3134051" y="3160166"/>
              <a:ext cx="425116" cy="1556060"/>
              <a:chOff x="3134051" y="3160166"/>
              <a:chExt cx="425116" cy="1556060"/>
            </a:xfrm>
          </p:grpSpPr>
          <p:cxnSp>
            <p:nvCxnSpPr>
              <p:cNvPr id="34835" name="Straight Connector 54"/>
              <p:cNvCxnSpPr>
                <a:cxnSpLocks noChangeShapeType="1"/>
              </p:cNvCxnSpPr>
              <p:nvPr/>
            </p:nvCxnSpPr>
            <p:spPr bwMode="auto">
              <a:xfrm rot="5400000">
                <a:off x="2732209" y="3756355"/>
                <a:ext cx="1192378" cy="0"/>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sp>
            <p:nvSpPr>
              <p:cNvPr id="34836" name="Text Box 35"/>
              <p:cNvSpPr txBox="1">
                <a:spLocks noChangeArrowheads="1"/>
              </p:cNvSpPr>
              <p:nvPr/>
            </p:nvSpPr>
            <p:spPr bwMode="auto">
              <a:xfrm>
                <a:off x="3134051" y="4377672"/>
                <a:ext cx="42511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i="1"/>
                  <a:t> x*</a:t>
                </a:r>
                <a:endParaRPr lang="en-US" altLang="en-US" sz="1600"/>
              </a:p>
            </p:txBody>
          </p:sp>
        </p:grpSp>
      </p:grpSp>
    </p:spTree>
    <p:extLst>
      <p:ext uri="{BB962C8B-B14F-4D97-AF65-F5344CB8AC3E}">
        <p14:creationId xmlns:p14="http://schemas.microsoft.com/office/powerpoint/2010/main" val="19728735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childTnLst>
                          </p:cTn>
                        </p:par>
                        <p:par>
                          <p:cTn id="20" fill="hold" nodeType="afterGroup">
                            <p:stCondLst>
                              <p:cond delay="2000"/>
                            </p:stCondLst>
                            <p:childTnLst>
                              <p:par>
                                <p:cTn id="21" presetID="22" presetClass="entr" presetSubtype="8"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left)">
                                      <p:cBhvr>
                                        <p:cTn id="23" dur="500"/>
                                        <p:tgtEl>
                                          <p:spTgt spid="11"/>
                                        </p:tgtEl>
                                      </p:cBhvr>
                                    </p:animEffect>
                                  </p:childTnLst>
                                </p:cTn>
                              </p:par>
                            </p:childTnLst>
                          </p:cTn>
                        </p:par>
                        <p:par>
                          <p:cTn id="24" fill="hold" nodeType="afterGroup">
                            <p:stCondLst>
                              <p:cond delay="2500"/>
                            </p:stCondLst>
                            <p:childTnLst>
                              <p:par>
                                <p:cTn id="25" presetID="22" presetClass="entr" presetSubtype="8" fill="hold"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par>
                          <p:cTn id="28" fill="hold" nodeType="afterGroup">
                            <p:stCondLst>
                              <p:cond delay="3000"/>
                            </p:stCondLst>
                            <p:childTnLst>
                              <p:par>
                                <p:cTn id="29" presetID="22" presetClass="entr" presetSubtype="8" fill="hold" nodeType="after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left)">
                                      <p:cBhvr>
                                        <p:cTn id="31" dur="500"/>
                                        <p:tgtEl>
                                          <p:spTgt spid="15"/>
                                        </p:tgtEl>
                                      </p:cBhvr>
                                    </p:animEffect>
                                  </p:childTnLst>
                                </p:cTn>
                              </p:par>
                            </p:childTnLst>
                          </p:cTn>
                        </p:par>
                        <p:par>
                          <p:cTn id="32" fill="hold" nodeType="afterGroup">
                            <p:stCondLst>
                              <p:cond delay="3500"/>
                            </p:stCondLst>
                            <p:childTnLst>
                              <p:par>
                                <p:cTn id="33" presetID="22" presetClass="entr" presetSubtype="8" fill="hold" nodeType="after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wipe(left)">
                                      <p:cBhvr>
                                        <p:cTn id="35" dur="500"/>
                                        <p:tgtEl>
                                          <p:spTgt spid="16"/>
                                        </p:tgtEl>
                                      </p:cBhvr>
                                    </p:animEffect>
                                  </p:childTnLst>
                                </p:cTn>
                              </p:par>
                            </p:childTnLst>
                          </p:cTn>
                        </p:par>
                        <p:par>
                          <p:cTn id="36" fill="hold" nodeType="afterGroup">
                            <p:stCondLst>
                              <p:cond delay="4000"/>
                            </p:stCondLst>
                            <p:childTnLst>
                              <p:par>
                                <p:cTn id="37" presetID="22" presetClass="entr" presetSubtype="8" fill="hold" nodeType="after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left)">
                                      <p:cBhvr>
                                        <p:cTn id="39" dur="500"/>
                                        <p:tgtEl>
                                          <p:spTgt spid="12"/>
                                        </p:tgtEl>
                                      </p:cBhvr>
                                    </p:animEffect>
                                  </p:childTnLst>
                                </p:cTn>
                              </p:par>
                            </p:childTnLst>
                          </p:cTn>
                        </p:par>
                        <p:par>
                          <p:cTn id="40" fill="hold">
                            <p:stCondLst>
                              <p:cond delay="4500"/>
                            </p:stCondLst>
                            <p:childTnLst>
                              <p:par>
                                <p:cTn id="41" presetID="22" presetClass="entr" presetSubtype="8" fill="hold" grpId="0" nodeType="afterEffect">
                                  <p:stCondLst>
                                    <p:cond delay="0"/>
                                  </p:stCondLst>
                                  <p:childTnLst>
                                    <p:set>
                                      <p:cBhvr>
                                        <p:cTn id="42" dur="1" fill="hold">
                                          <p:stCondLst>
                                            <p:cond delay="0"/>
                                          </p:stCondLst>
                                        </p:cTn>
                                        <p:tgtEl>
                                          <p:spTgt spid="34819">
                                            <p:txEl>
                                              <p:pRg st="0" end="0"/>
                                            </p:txEl>
                                          </p:spTgt>
                                        </p:tgtEl>
                                        <p:attrNameLst>
                                          <p:attrName>style.visibility</p:attrName>
                                        </p:attrNameLst>
                                      </p:cBhvr>
                                      <p:to>
                                        <p:strVal val="visible"/>
                                      </p:to>
                                    </p:set>
                                    <p:animEffect transition="in" filter="wipe(left)">
                                      <p:cBhvr>
                                        <p:cTn id="43" dur="500"/>
                                        <p:tgtEl>
                                          <p:spTgt spid="348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r>
              <a:rPr lang="en-US" altLang="en-US" smtClean="0"/>
              <a:t>The Two-Good Case</a:t>
            </a:r>
          </a:p>
        </p:txBody>
      </p:sp>
      <p:sp>
        <p:nvSpPr>
          <p:cNvPr id="35843" name="Content Placeholder 4"/>
          <p:cNvSpPr>
            <a:spLocks noGrp="1"/>
          </p:cNvSpPr>
          <p:nvPr>
            <p:ph idx="1"/>
          </p:nvPr>
        </p:nvSpPr>
        <p:spPr/>
        <p:txBody>
          <a:bodyPr/>
          <a:lstStyle/>
          <a:p>
            <a:r>
              <a:rPr lang="en-US" altLang="en-US" smtClean="0"/>
              <a:t>The tangency rule </a:t>
            </a:r>
          </a:p>
          <a:p>
            <a:pPr lvl="1"/>
            <a:r>
              <a:rPr lang="en-US" altLang="en-US" smtClean="0"/>
              <a:t>Is </a:t>
            </a:r>
            <a:r>
              <a:rPr lang="en-US" altLang="en-US" u="sng" smtClean="0"/>
              <a:t>necessary but not sufficient</a:t>
            </a:r>
            <a:r>
              <a:rPr lang="en-US" altLang="en-US" smtClean="0"/>
              <a:t> unless we assume that </a:t>
            </a:r>
            <a:r>
              <a:rPr lang="en-US" altLang="en-US" i="1" smtClean="0"/>
              <a:t>MRS</a:t>
            </a:r>
            <a:r>
              <a:rPr lang="en-US" altLang="en-US" smtClean="0"/>
              <a:t> is diminishing</a:t>
            </a:r>
          </a:p>
          <a:p>
            <a:pPr lvl="2"/>
            <a:r>
              <a:rPr lang="en-US" altLang="en-US" smtClean="0">
                <a:sym typeface="Symbol" pitchFamily="18" charset="2"/>
              </a:rPr>
              <a:t>If </a:t>
            </a:r>
            <a:r>
              <a:rPr lang="en-US" altLang="en-US" i="1" smtClean="0">
                <a:sym typeface="Symbol" pitchFamily="18" charset="2"/>
              </a:rPr>
              <a:t>MRS</a:t>
            </a:r>
            <a:r>
              <a:rPr lang="en-US" altLang="en-US" smtClean="0">
                <a:sym typeface="Symbol" pitchFamily="18" charset="2"/>
              </a:rPr>
              <a:t> is diminishing, then indifference curves are strictly convex</a:t>
            </a:r>
          </a:p>
          <a:p>
            <a:pPr lvl="2"/>
            <a:r>
              <a:rPr lang="en-US" altLang="en-US" smtClean="0">
                <a:sym typeface="Symbol" pitchFamily="18" charset="2"/>
              </a:rPr>
              <a:t>If </a:t>
            </a:r>
            <a:r>
              <a:rPr lang="en-US" altLang="en-US" i="1" smtClean="0">
                <a:sym typeface="Symbol" pitchFamily="18" charset="2"/>
              </a:rPr>
              <a:t>MRS</a:t>
            </a:r>
            <a:r>
              <a:rPr lang="en-US" altLang="en-US" smtClean="0">
                <a:sym typeface="Symbol" pitchFamily="18" charset="2"/>
              </a:rPr>
              <a:t> is not diminishing, we must check second-order conditions to ensure that we are at a maximum</a:t>
            </a:r>
            <a:endParaRPr lang="en-US" altLang="en-US" smtClean="0"/>
          </a:p>
          <a:p>
            <a:pPr lvl="1"/>
            <a:endParaRPr lang="en-US" altLang="en-US" smtClean="0"/>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D2CDEAE3-9F5F-4E8C-8708-A2803E666E66}" type="slidenum">
              <a:rPr lang="en-US" smtClean="0"/>
              <a:pPr>
                <a:defRPr/>
              </a:pPr>
              <a:t>9</a:t>
            </a:fld>
            <a:endParaRPr lang="en-US"/>
          </a:p>
        </p:txBody>
      </p:sp>
    </p:spTree>
    <p:extLst>
      <p:ext uri="{BB962C8B-B14F-4D97-AF65-F5344CB8AC3E}">
        <p14:creationId xmlns:p14="http://schemas.microsoft.com/office/powerpoint/2010/main" val="377096134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4.3	Example of an Indifference Curve Map for </a:t>
            </a:r>
            <a:r>
              <a:rPr lang="en-US" altLang="en-US" dirty="0" smtClean="0"/>
              <a:t/>
            </a:r>
            <a:br>
              <a:rPr lang="en-US" altLang="en-US" dirty="0" smtClean="0"/>
            </a:br>
            <a:r>
              <a:rPr lang="en-US" altLang="en-US" dirty="0"/>
              <a:t>	</a:t>
            </a:r>
            <a:r>
              <a:rPr lang="en-US" altLang="en-US" dirty="0" smtClean="0">
                <a:solidFill>
                  <a:srgbClr val="002D56"/>
                </a:solidFill>
              </a:rPr>
              <a:t>Which </a:t>
            </a:r>
            <a:r>
              <a:rPr lang="en-US" altLang="en-US" dirty="0">
                <a:solidFill>
                  <a:srgbClr val="002D56"/>
                </a:solidFill>
              </a:rPr>
              <a:t>the Tangency Condition Does Not </a:t>
            </a:r>
            <a:r>
              <a:rPr lang="en-US" altLang="en-US" dirty="0" smtClean="0">
                <a:solidFill>
                  <a:srgbClr val="002D56"/>
                </a:solidFill>
              </a:rPr>
              <a:t>	Ensure </a:t>
            </a:r>
            <a:r>
              <a:rPr lang="en-US" altLang="en-US" dirty="0">
                <a:solidFill>
                  <a:srgbClr val="002D56"/>
                </a:solidFill>
              </a:rPr>
              <a:t>a </a:t>
            </a:r>
            <a:r>
              <a:rPr lang="en-US" altLang="en-US" dirty="0" smtClean="0">
                <a:solidFill>
                  <a:srgbClr val="002D56"/>
                </a:solidFill>
              </a:rPr>
              <a:t>Maximum</a:t>
            </a:r>
          </a:p>
        </p:txBody>
      </p:sp>
      <p:sp>
        <p:nvSpPr>
          <p:cNvPr id="36867" name="Text Placeholder 2"/>
          <p:cNvSpPr>
            <a:spLocks noGrp="1"/>
          </p:cNvSpPr>
          <p:nvPr>
            <p:ph sz="half" idx="1"/>
          </p:nvPr>
        </p:nvSpPr>
        <p:spPr>
          <a:xfrm>
            <a:off x="46286" y="4592638"/>
            <a:ext cx="9051427" cy="1792009"/>
          </a:xfrm>
        </p:spPr>
        <p:txBody>
          <a:bodyPr>
            <a:normAutofit/>
          </a:bodyPr>
          <a:lstStyle/>
          <a:p>
            <a:pPr>
              <a:spcBef>
                <a:spcPct val="0"/>
              </a:spcBef>
            </a:pPr>
            <a:r>
              <a:rPr lang="en-US" altLang="en-US" dirty="0"/>
              <a:t>If indifference curves do not obey the assumption of a diminishing MRS, not all points of tangency (points for which MRS = </a:t>
            </a:r>
            <a:r>
              <a:rPr lang="en-US" altLang="en-US" dirty="0" err="1"/>
              <a:t>p</a:t>
            </a:r>
            <a:r>
              <a:rPr lang="en-US" altLang="en-US" baseline="-25000" dirty="0" err="1"/>
              <a:t>x</a:t>
            </a:r>
            <a:r>
              <a:rPr lang="en-US" altLang="en-US" dirty="0"/>
              <a:t>/</a:t>
            </a:r>
            <a:r>
              <a:rPr lang="en-US" altLang="en-US" dirty="0" err="1"/>
              <a:t>p</a:t>
            </a:r>
            <a:r>
              <a:rPr lang="en-US" altLang="en-US" baseline="-25000" dirty="0" err="1"/>
              <a:t>y</a:t>
            </a:r>
            <a:r>
              <a:rPr lang="en-US" altLang="en-US" dirty="0"/>
              <a:t>) may truly be points of maximum utility. In this example, tangency point C is inferior to many other points that can also be purchased with the available funds. In order that the necessary conditions for a maximum (i.e., the tangency conditions) also be sufficient, one usually assumes that the MRS is diminishing; that is, the utility function is strictly quasi-concave</a:t>
            </a:r>
            <a:r>
              <a:rPr lang="en-US" altLang="en-US" dirty="0" smtClean="0"/>
              <a:t>.</a:t>
            </a:r>
            <a:endParaRPr lang="en-US" altLang="en-US" dirty="0"/>
          </a:p>
        </p:txBody>
      </p:sp>
      <p:sp>
        <p:nvSpPr>
          <p:cNvPr id="36870"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298C23E2-E05B-46E0-BB41-B9C7F7C26BEF}" type="slidenum">
              <a:rPr lang="en-US" smtClean="0"/>
              <a:pPr>
                <a:defRPr/>
              </a:pPr>
              <a:t>10</a:t>
            </a:fld>
            <a:endParaRPr lang="en-US" dirty="0"/>
          </a:p>
        </p:txBody>
      </p:sp>
      <p:sp>
        <p:nvSpPr>
          <p:cNvPr id="8" name="AutoShape 14" descr="70%"/>
          <p:cNvSpPr>
            <a:spLocks noChangeArrowheads="1"/>
          </p:cNvSpPr>
          <p:nvPr/>
        </p:nvSpPr>
        <p:spPr bwMode="auto">
          <a:xfrm>
            <a:off x="2398713" y="2230438"/>
            <a:ext cx="2133600" cy="2133600"/>
          </a:xfrm>
          <a:prstGeom prst="rtTriangle">
            <a:avLst/>
          </a:prstGeom>
          <a:solidFill>
            <a:schemeClr val="tx2">
              <a:lumMod val="20000"/>
              <a:lumOff val="80000"/>
            </a:schemeClr>
          </a:solidFill>
          <a:ln w="28575">
            <a:solidFill>
              <a:srgbClr val="000099"/>
            </a:solidFill>
            <a:miter lim="800000"/>
            <a:headEnd/>
            <a:tailEnd/>
          </a:ln>
          <a:effectLst/>
        </p:spPr>
        <p:txBody>
          <a:bodyPr wrap="none" anchor="ctr">
            <a:spAutoFit/>
          </a:bodyPr>
          <a:lstStyle/>
          <a:p>
            <a:pPr>
              <a:defRPr/>
            </a:pPr>
            <a:endParaRPr lang="en-US"/>
          </a:p>
        </p:txBody>
      </p:sp>
      <p:grpSp>
        <p:nvGrpSpPr>
          <p:cNvPr id="2" name="Group 11"/>
          <p:cNvGrpSpPr>
            <a:grpSpLocks/>
          </p:cNvGrpSpPr>
          <p:nvPr/>
        </p:nvGrpSpPr>
        <p:grpSpPr bwMode="auto">
          <a:xfrm>
            <a:off x="1212850" y="1438275"/>
            <a:ext cx="6253163" cy="3154363"/>
            <a:chOff x="1437904" y="998517"/>
            <a:chExt cx="6253843" cy="3155435"/>
          </a:xfrm>
        </p:grpSpPr>
        <p:grpSp>
          <p:nvGrpSpPr>
            <p:cNvPr id="36891" name="Group 18"/>
            <p:cNvGrpSpPr>
              <a:grpSpLocks/>
            </p:cNvGrpSpPr>
            <p:nvPr/>
          </p:nvGrpSpPr>
          <p:grpSpPr bwMode="auto">
            <a:xfrm>
              <a:off x="2624447" y="3787239"/>
              <a:ext cx="5067300" cy="366713"/>
              <a:chOff x="2624447" y="3787239"/>
              <a:chExt cx="5067300" cy="366713"/>
            </a:xfrm>
          </p:grpSpPr>
          <p:sp>
            <p:nvSpPr>
              <p:cNvPr id="36895" name="Text Box 8"/>
              <p:cNvSpPr txBox="1">
                <a:spLocks noChangeArrowheads="1"/>
              </p:cNvSpPr>
              <p:nvPr/>
            </p:nvSpPr>
            <p:spPr bwMode="auto">
              <a:xfrm>
                <a:off x="6224897" y="3787239"/>
                <a:ext cx="1466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Quantity of </a:t>
                </a:r>
                <a:r>
                  <a:rPr lang="en-US" altLang="en-US" sz="1800" i="1"/>
                  <a:t>x</a:t>
                </a:r>
                <a:endParaRPr lang="en-US" altLang="en-US" sz="1800"/>
              </a:p>
            </p:txBody>
          </p:sp>
          <p:sp>
            <p:nvSpPr>
              <p:cNvPr id="36896" name="Line 5"/>
              <p:cNvSpPr>
                <a:spLocks noChangeShapeType="1"/>
              </p:cNvSpPr>
              <p:nvPr/>
            </p:nvSpPr>
            <p:spPr bwMode="auto">
              <a:xfrm>
                <a:off x="2624447" y="3939639"/>
                <a:ext cx="3505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grpSp>
          <p:nvGrpSpPr>
            <p:cNvPr id="36892" name="Group 17"/>
            <p:cNvGrpSpPr>
              <a:grpSpLocks/>
            </p:cNvGrpSpPr>
            <p:nvPr/>
          </p:nvGrpSpPr>
          <p:grpSpPr bwMode="auto">
            <a:xfrm>
              <a:off x="1437904" y="998517"/>
              <a:ext cx="1466850" cy="2941122"/>
              <a:chOff x="1437904" y="998517"/>
              <a:chExt cx="1466850" cy="2941122"/>
            </a:xfrm>
          </p:grpSpPr>
          <p:sp>
            <p:nvSpPr>
              <p:cNvPr id="36893" name="Text Box 9"/>
              <p:cNvSpPr txBox="1">
                <a:spLocks noChangeArrowheads="1"/>
              </p:cNvSpPr>
              <p:nvPr/>
            </p:nvSpPr>
            <p:spPr bwMode="auto">
              <a:xfrm>
                <a:off x="1437904" y="998517"/>
                <a:ext cx="1466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Quantity of </a:t>
                </a:r>
                <a:r>
                  <a:rPr lang="en-US" altLang="en-US" sz="1800" i="1"/>
                  <a:t>y</a:t>
                </a:r>
                <a:endParaRPr lang="en-US" altLang="en-US" sz="1800"/>
              </a:p>
            </p:txBody>
          </p:sp>
          <p:sp>
            <p:nvSpPr>
              <p:cNvPr id="36894" name="Line 4"/>
              <p:cNvSpPr>
                <a:spLocks noChangeShapeType="1"/>
              </p:cNvSpPr>
              <p:nvPr/>
            </p:nvSpPr>
            <p:spPr bwMode="auto">
              <a:xfrm>
                <a:off x="2624447" y="1425039"/>
                <a:ext cx="0" cy="2514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grpSp>
      </p:grpSp>
      <p:grpSp>
        <p:nvGrpSpPr>
          <p:cNvPr id="7" name="Group 54"/>
          <p:cNvGrpSpPr>
            <a:grpSpLocks/>
          </p:cNvGrpSpPr>
          <p:nvPr/>
        </p:nvGrpSpPr>
        <p:grpSpPr bwMode="auto">
          <a:xfrm>
            <a:off x="2632075" y="2459038"/>
            <a:ext cx="2049463" cy="1676400"/>
            <a:chOff x="2632364" y="2458749"/>
            <a:chExt cx="2049238" cy="1676400"/>
          </a:xfrm>
        </p:grpSpPr>
        <p:sp>
          <p:nvSpPr>
            <p:cNvPr id="36889" name="Freeform 15"/>
            <p:cNvSpPr>
              <a:spLocks/>
            </p:cNvSpPr>
            <p:nvPr/>
          </p:nvSpPr>
          <p:spPr bwMode="auto">
            <a:xfrm>
              <a:off x="2632364" y="2458749"/>
              <a:ext cx="1600200" cy="1676400"/>
            </a:xfrm>
            <a:custGeom>
              <a:avLst/>
              <a:gdLst>
                <a:gd name="T0" fmla="*/ 0 w 1776"/>
                <a:gd name="T1" fmla="*/ 0 h 1040"/>
                <a:gd name="T2" fmla="*/ 172995 w 1776"/>
                <a:gd name="T3" fmla="*/ 773723 h 1040"/>
                <a:gd name="T4" fmla="*/ 778476 w 1776"/>
                <a:gd name="T5" fmla="*/ 773723 h 1040"/>
                <a:gd name="T6" fmla="*/ 994719 w 1776"/>
                <a:gd name="T7" fmla="*/ 1547446 h 1040"/>
                <a:gd name="T8" fmla="*/ 1600200 w 1776"/>
                <a:gd name="T9" fmla="*/ 1547446 h 1040"/>
                <a:gd name="T10" fmla="*/ 0 60000 65536"/>
                <a:gd name="T11" fmla="*/ 0 60000 65536"/>
                <a:gd name="T12" fmla="*/ 0 60000 65536"/>
                <a:gd name="T13" fmla="*/ 0 60000 65536"/>
                <a:gd name="T14" fmla="*/ 0 60000 65536"/>
                <a:gd name="T15" fmla="*/ 0 w 1776"/>
                <a:gd name="T16" fmla="*/ 0 h 1040"/>
                <a:gd name="T17" fmla="*/ 1776 w 1776"/>
                <a:gd name="T18" fmla="*/ 1040 h 1040"/>
              </a:gdLst>
              <a:ahLst/>
              <a:cxnLst>
                <a:cxn ang="T10">
                  <a:pos x="T0" y="T1"/>
                </a:cxn>
                <a:cxn ang="T11">
                  <a:pos x="T2" y="T3"/>
                </a:cxn>
                <a:cxn ang="T12">
                  <a:pos x="T4" y="T5"/>
                </a:cxn>
                <a:cxn ang="T13">
                  <a:pos x="T6" y="T7"/>
                </a:cxn>
                <a:cxn ang="T14">
                  <a:pos x="T8" y="T9"/>
                </a:cxn>
              </a:cxnLst>
              <a:rect l="T15" t="T16" r="T17" b="T18"/>
              <a:pathLst>
                <a:path w="1776" h="1040">
                  <a:moveTo>
                    <a:pt x="0" y="0"/>
                  </a:moveTo>
                  <a:cubicBezTo>
                    <a:pt x="24" y="200"/>
                    <a:pt x="48" y="400"/>
                    <a:pt x="192" y="480"/>
                  </a:cubicBezTo>
                  <a:cubicBezTo>
                    <a:pt x="336" y="560"/>
                    <a:pt x="712" y="400"/>
                    <a:pt x="864" y="480"/>
                  </a:cubicBezTo>
                  <a:cubicBezTo>
                    <a:pt x="1016" y="560"/>
                    <a:pt x="952" y="880"/>
                    <a:pt x="1104" y="960"/>
                  </a:cubicBezTo>
                  <a:cubicBezTo>
                    <a:pt x="1256" y="1040"/>
                    <a:pt x="1516" y="1000"/>
                    <a:pt x="1776" y="960"/>
                  </a:cubicBezTo>
                </a:path>
              </a:pathLst>
            </a:custGeom>
            <a:noFill/>
            <a:ln w="28575" cap="flat" cmpd="sng">
              <a:solidFill>
                <a:srgbClr val="C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6890" name="Text Box 11"/>
            <p:cNvSpPr txBox="1">
              <a:spLocks noChangeArrowheads="1"/>
            </p:cNvSpPr>
            <p:nvPr/>
          </p:nvSpPr>
          <p:spPr bwMode="auto">
            <a:xfrm>
              <a:off x="4245264" y="3752045"/>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b="1" dirty="0">
                  <a:solidFill>
                    <a:srgbClr val="C00000"/>
                  </a:solidFill>
                </a:rPr>
                <a:t>U</a:t>
              </a:r>
              <a:r>
                <a:rPr lang="en-US" altLang="en-US" sz="1800" b="1" baseline="-25000" dirty="0">
                  <a:solidFill>
                    <a:srgbClr val="C00000"/>
                  </a:solidFill>
                </a:rPr>
                <a:t>1</a:t>
              </a:r>
            </a:p>
          </p:txBody>
        </p:sp>
      </p:grpSp>
      <p:grpSp>
        <p:nvGrpSpPr>
          <p:cNvPr id="9" name="Group 52"/>
          <p:cNvGrpSpPr>
            <a:grpSpLocks/>
          </p:cNvGrpSpPr>
          <p:nvPr/>
        </p:nvGrpSpPr>
        <p:grpSpPr bwMode="auto">
          <a:xfrm>
            <a:off x="3255963" y="1863725"/>
            <a:ext cx="2119312" cy="1711325"/>
            <a:chOff x="3255819" y="1863004"/>
            <a:chExt cx="2119744" cy="1712272"/>
          </a:xfrm>
        </p:grpSpPr>
        <p:sp>
          <p:nvSpPr>
            <p:cNvPr id="36887" name="Freeform 16"/>
            <p:cNvSpPr>
              <a:spLocks/>
            </p:cNvSpPr>
            <p:nvPr/>
          </p:nvSpPr>
          <p:spPr bwMode="auto">
            <a:xfrm>
              <a:off x="3255819" y="1863004"/>
              <a:ext cx="1600200" cy="1676400"/>
            </a:xfrm>
            <a:custGeom>
              <a:avLst/>
              <a:gdLst>
                <a:gd name="T0" fmla="*/ 0 w 1776"/>
                <a:gd name="T1" fmla="*/ 0 h 1040"/>
                <a:gd name="T2" fmla="*/ 172995 w 1776"/>
                <a:gd name="T3" fmla="*/ 773723 h 1040"/>
                <a:gd name="T4" fmla="*/ 778476 w 1776"/>
                <a:gd name="T5" fmla="*/ 773723 h 1040"/>
                <a:gd name="T6" fmla="*/ 994719 w 1776"/>
                <a:gd name="T7" fmla="*/ 1547446 h 1040"/>
                <a:gd name="T8" fmla="*/ 1600200 w 1776"/>
                <a:gd name="T9" fmla="*/ 1547446 h 1040"/>
                <a:gd name="T10" fmla="*/ 0 60000 65536"/>
                <a:gd name="T11" fmla="*/ 0 60000 65536"/>
                <a:gd name="T12" fmla="*/ 0 60000 65536"/>
                <a:gd name="T13" fmla="*/ 0 60000 65536"/>
                <a:gd name="T14" fmla="*/ 0 60000 65536"/>
                <a:gd name="T15" fmla="*/ 0 w 1776"/>
                <a:gd name="T16" fmla="*/ 0 h 1040"/>
                <a:gd name="T17" fmla="*/ 1776 w 1776"/>
                <a:gd name="T18" fmla="*/ 1040 h 1040"/>
              </a:gdLst>
              <a:ahLst/>
              <a:cxnLst>
                <a:cxn ang="T10">
                  <a:pos x="T0" y="T1"/>
                </a:cxn>
                <a:cxn ang="T11">
                  <a:pos x="T2" y="T3"/>
                </a:cxn>
                <a:cxn ang="T12">
                  <a:pos x="T4" y="T5"/>
                </a:cxn>
                <a:cxn ang="T13">
                  <a:pos x="T6" y="T7"/>
                </a:cxn>
                <a:cxn ang="T14">
                  <a:pos x="T8" y="T9"/>
                </a:cxn>
              </a:cxnLst>
              <a:rect l="T15" t="T16" r="T17" b="T18"/>
              <a:pathLst>
                <a:path w="1776" h="1040">
                  <a:moveTo>
                    <a:pt x="0" y="0"/>
                  </a:moveTo>
                  <a:cubicBezTo>
                    <a:pt x="24" y="200"/>
                    <a:pt x="48" y="400"/>
                    <a:pt x="192" y="480"/>
                  </a:cubicBezTo>
                  <a:cubicBezTo>
                    <a:pt x="336" y="560"/>
                    <a:pt x="712" y="400"/>
                    <a:pt x="864" y="480"/>
                  </a:cubicBezTo>
                  <a:cubicBezTo>
                    <a:pt x="1016" y="560"/>
                    <a:pt x="952" y="880"/>
                    <a:pt x="1104" y="960"/>
                  </a:cubicBezTo>
                  <a:cubicBezTo>
                    <a:pt x="1256" y="1040"/>
                    <a:pt x="1516" y="1000"/>
                    <a:pt x="1776" y="960"/>
                  </a:cubicBezTo>
                </a:path>
              </a:pathLst>
            </a:custGeom>
            <a:noFill/>
            <a:ln w="28575" cap="flat" cmpd="sng">
              <a:solidFill>
                <a:srgbClr val="C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6888" name="Text Box 17"/>
            <p:cNvSpPr txBox="1">
              <a:spLocks noChangeArrowheads="1"/>
            </p:cNvSpPr>
            <p:nvPr/>
          </p:nvSpPr>
          <p:spPr bwMode="auto">
            <a:xfrm>
              <a:off x="4856018" y="3205944"/>
              <a:ext cx="5195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b="1" dirty="0">
                  <a:solidFill>
                    <a:srgbClr val="C00000"/>
                  </a:solidFill>
                </a:rPr>
                <a:t>U</a:t>
              </a:r>
              <a:r>
                <a:rPr lang="en-US" altLang="en-US" sz="1800" b="1" baseline="-25000" dirty="0">
                  <a:solidFill>
                    <a:srgbClr val="C00000"/>
                  </a:solidFill>
                </a:rPr>
                <a:t>3</a:t>
              </a:r>
            </a:p>
          </p:txBody>
        </p:sp>
      </p:grpSp>
      <p:grpSp>
        <p:nvGrpSpPr>
          <p:cNvPr id="10" name="Group 53"/>
          <p:cNvGrpSpPr>
            <a:grpSpLocks/>
          </p:cNvGrpSpPr>
          <p:nvPr/>
        </p:nvGrpSpPr>
        <p:grpSpPr bwMode="auto">
          <a:xfrm>
            <a:off x="2936875" y="2154238"/>
            <a:ext cx="2119313" cy="1711325"/>
            <a:chOff x="2937164" y="2153949"/>
            <a:chExt cx="2119744" cy="1712272"/>
          </a:xfrm>
        </p:grpSpPr>
        <p:sp>
          <p:nvSpPr>
            <p:cNvPr id="36885" name="Freeform 16"/>
            <p:cNvSpPr>
              <a:spLocks/>
            </p:cNvSpPr>
            <p:nvPr/>
          </p:nvSpPr>
          <p:spPr bwMode="auto">
            <a:xfrm>
              <a:off x="2937164" y="2153949"/>
              <a:ext cx="1600200" cy="1676400"/>
            </a:xfrm>
            <a:custGeom>
              <a:avLst/>
              <a:gdLst>
                <a:gd name="T0" fmla="*/ 0 w 1776"/>
                <a:gd name="T1" fmla="*/ 0 h 1040"/>
                <a:gd name="T2" fmla="*/ 172995 w 1776"/>
                <a:gd name="T3" fmla="*/ 773723 h 1040"/>
                <a:gd name="T4" fmla="*/ 778476 w 1776"/>
                <a:gd name="T5" fmla="*/ 773723 h 1040"/>
                <a:gd name="T6" fmla="*/ 994719 w 1776"/>
                <a:gd name="T7" fmla="*/ 1547446 h 1040"/>
                <a:gd name="T8" fmla="*/ 1600200 w 1776"/>
                <a:gd name="T9" fmla="*/ 1547446 h 1040"/>
                <a:gd name="T10" fmla="*/ 0 60000 65536"/>
                <a:gd name="T11" fmla="*/ 0 60000 65536"/>
                <a:gd name="T12" fmla="*/ 0 60000 65536"/>
                <a:gd name="T13" fmla="*/ 0 60000 65536"/>
                <a:gd name="T14" fmla="*/ 0 60000 65536"/>
                <a:gd name="T15" fmla="*/ 0 w 1776"/>
                <a:gd name="T16" fmla="*/ 0 h 1040"/>
                <a:gd name="T17" fmla="*/ 1776 w 1776"/>
                <a:gd name="T18" fmla="*/ 1040 h 1040"/>
              </a:gdLst>
              <a:ahLst/>
              <a:cxnLst>
                <a:cxn ang="T10">
                  <a:pos x="T0" y="T1"/>
                </a:cxn>
                <a:cxn ang="T11">
                  <a:pos x="T2" y="T3"/>
                </a:cxn>
                <a:cxn ang="T12">
                  <a:pos x="T4" y="T5"/>
                </a:cxn>
                <a:cxn ang="T13">
                  <a:pos x="T6" y="T7"/>
                </a:cxn>
                <a:cxn ang="T14">
                  <a:pos x="T8" y="T9"/>
                </a:cxn>
              </a:cxnLst>
              <a:rect l="T15" t="T16" r="T17" b="T18"/>
              <a:pathLst>
                <a:path w="1776" h="1040">
                  <a:moveTo>
                    <a:pt x="0" y="0"/>
                  </a:moveTo>
                  <a:cubicBezTo>
                    <a:pt x="24" y="200"/>
                    <a:pt x="48" y="400"/>
                    <a:pt x="192" y="480"/>
                  </a:cubicBezTo>
                  <a:cubicBezTo>
                    <a:pt x="336" y="560"/>
                    <a:pt x="712" y="400"/>
                    <a:pt x="864" y="480"/>
                  </a:cubicBezTo>
                  <a:cubicBezTo>
                    <a:pt x="1016" y="560"/>
                    <a:pt x="952" y="880"/>
                    <a:pt x="1104" y="960"/>
                  </a:cubicBezTo>
                  <a:cubicBezTo>
                    <a:pt x="1256" y="1040"/>
                    <a:pt x="1516" y="1000"/>
                    <a:pt x="1776" y="960"/>
                  </a:cubicBezTo>
                </a:path>
              </a:pathLst>
            </a:custGeom>
            <a:noFill/>
            <a:ln w="28575" cap="flat" cmpd="sng">
              <a:solidFill>
                <a:srgbClr val="C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6886" name="Text Box 17"/>
            <p:cNvSpPr txBox="1">
              <a:spLocks noChangeArrowheads="1"/>
            </p:cNvSpPr>
            <p:nvPr/>
          </p:nvSpPr>
          <p:spPr bwMode="auto">
            <a:xfrm>
              <a:off x="4537363" y="3496889"/>
              <a:ext cx="5195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b="1" dirty="0">
                  <a:solidFill>
                    <a:srgbClr val="C00000"/>
                  </a:solidFill>
                </a:rPr>
                <a:t>U</a:t>
              </a:r>
              <a:r>
                <a:rPr lang="en-US" altLang="en-US" sz="1800" b="1" baseline="-25000" dirty="0">
                  <a:solidFill>
                    <a:srgbClr val="C00000"/>
                  </a:solidFill>
                </a:rPr>
                <a:t>2</a:t>
              </a:r>
            </a:p>
          </p:txBody>
        </p:sp>
      </p:grpSp>
      <p:grpSp>
        <p:nvGrpSpPr>
          <p:cNvPr id="11" name="Group 24"/>
          <p:cNvGrpSpPr>
            <a:grpSpLocks/>
          </p:cNvGrpSpPr>
          <p:nvPr/>
        </p:nvGrpSpPr>
        <p:grpSpPr bwMode="auto">
          <a:xfrm>
            <a:off x="3375025" y="2951163"/>
            <a:ext cx="341313" cy="338137"/>
            <a:chOff x="3513117" y="2534813"/>
            <a:chExt cx="341667" cy="338554"/>
          </a:xfrm>
        </p:grpSpPr>
        <p:sp>
          <p:nvSpPr>
            <p:cNvPr id="36883" name="Oval 29"/>
            <p:cNvSpPr>
              <a:spLocks noChangeArrowheads="1"/>
            </p:cNvSpPr>
            <p:nvPr/>
          </p:nvSpPr>
          <p:spPr bwMode="auto">
            <a:xfrm>
              <a:off x="3513117" y="2792579"/>
              <a:ext cx="76200" cy="76200"/>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36884" name="Text Box 33"/>
            <p:cNvSpPr txBox="1">
              <a:spLocks noChangeArrowheads="1"/>
            </p:cNvSpPr>
            <p:nvPr/>
          </p:nvSpPr>
          <p:spPr bwMode="auto">
            <a:xfrm>
              <a:off x="3522642" y="2534813"/>
              <a:ext cx="3321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b="1" i="1"/>
                <a:t>C</a:t>
              </a:r>
              <a:endParaRPr lang="en-US" altLang="en-US" sz="1600" b="1"/>
            </a:p>
          </p:txBody>
        </p:sp>
      </p:grpSp>
      <p:grpSp>
        <p:nvGrpSpPr>
          <p:cNvPr id="12" name="Group 30"/>
          <p:cNvGrpSpPr>
            <a:grpSpLocks/>
          </p:cNvGrpSpPr>
          <p:nvPr/>
        </p:nvGrpSpPr>
        <p:grpSpPr bwMode="auto">
          <a:xfrm>
            <a:off x="2744788" y="2873375"/>
            <a:ext cx="381000" cy="438150"/>
            <a:chOff x="2293917" y="2445327"/>
            <a:chExt cx="381000" cy="438150"/>
          </a:xfrm>
        </p:grpSpPr>
        <p:sp>
          <p:nvSpPr>
            <p:cNvPr id="36881" name="Oval 34"/>
            <p:cNvSpPr>
              <a:spLocks noChangeArrowheads="1"/>
            </p:cNvSpPr>
            <p:nvPr/>
          </p:nvSpPr>
          <p:spPr bwMode="auto">
            <a:xfrm>
              <a:off x="2598717" y="2445327"/>
              <a:ext cx="76200" cy="76200"/>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36882" name="Text Box 35"/>
            <p:cNvSpPr txBox="1">
              <a:spLocks noChangeArrowheads="1"/>
            </p:cNvSpPr>
            <p:nvPr/>
          </p:nvSpPr>
          <p:spPr bwMode="auto">
            <a:xfrm>
              <a:off x="2293917" y="2546927"/>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b="1" i="1"/>
                <a:t>A</a:t>
              </a:r>
              <a:endParaRPr lang="en-US" altLang="en-US" sz="1600" b="1"/>
            </a:p>
          </p:txBody>
        </p:sp>
      </p:grpSp>
      <p:grpSp>
        <p:nvGrpSpPr>
          <p:cNvPr id="13" name="Group 33"/>
          <p:cNvGrpSpPr>
            <a:grpSpLocks/>
          </p:cNvGrpSpPr>
          <p:nvPr/>
        </p:nvGrpSpPr>
        <p:grpSpPr bwMode="auto">
          <a:xfrm>
            <a:off x="3225800" y="3846513"/>
            <a:ext cx="576263" cy="420687"/>
            <a:chOff x="2098568" y="2445327"/>
            <a:chExt cx="576349" cy="420795"/>
          </a:xfrm>
        </p:grpSpPr>
        <p:sp>
          <p:nvSpPr>
            <p:cNvPr id="36879" name="Oval 34"/>
            <p:cNvSpPr>
              <a:spLocks noChangeArrowheads="1"/>
            </p:cNvSpPr>
            <p:nvPr/>
          </p:nvSpPr>
          <p:spPr bwMode="auto">
            <a:xfrm>
              <a:off x="2598717" y="2445327"/>
              <a:ext cx="76200" cy="76200"/>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36880" name="Text Box 35"/>
            <p:cNvSpPr txBox="1">
              <a:spLocks noChangeArrowheads="1"/>
            </p:cNvSpPr>
            <p:nvPr/>
          </p:nvSpPr>
          <p:spPr bwMode="auto">
            <a:xfrm>
              <a:off x="2098568" y="2527568"/>
              <a:ext cx="3321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b="1" i="1"/>
                <a:t>B</a:t>
              </a:r>
              <a:endParaRPr lang="en-US" altLang="en-US" sz="1600" b="1"/>
            </a:p>
          </p:txBody>
        </p:sp>
      </p:grpSp>
    </p:spTree>
    <p:extLst>
      <p:ext uri="{BB962C8B-B14F-4D97-AF65-F5344CB8AC3E}">
        <p14:creationId xmlns:p14="http://schemas.microsoft.com/office/powerpoint/2010/main" val="20016242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left)">
                                      <p:cBhvr>
                                        <p:cTn id="19" dur="500"/>
                                        <p:tgtEl>
                                          <p:spTgt spid="10"/>
                                        </p:tgtEl>
                                      </p:cBhvr>
                                    </p:animEffect>
                                  </p:childTnLst>
                                </p:cTn>
                              </p:par>
                            </p:childTnLst>
                          </p:cTn>
                        </p:par>
                        <p:par>
                          <p:cTn id="20" fill="hold" nodeType="afterGroup">
                            <p:stCondLst>
                              <p:cond delay="2000"/>
                            </p:stCondLst>
                            <p:childTnLst>
                              <p:par>
                                <p:cTn id="21" presetID="22" presetClass="entr" presetSubtype="8" fill="hold"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left)">
                                      <p:cBhvr>
                                        <p:cTn id="23" dur="500"/>
                                        <p:tgtEl>
                                          <p:spTgt spid="9"/>
                                        </p:tgtEl>
                                      </p:cBhvr>
                                    </p:animEffect>
                                  </p:childTnLst>
                                </p:cTn>
                              </p:par>
                            </p:childTnLst>
                          </p:cTn>
                        </p:par>
                        <p:par>
                          <p:cTn id="24" fill="hold" nodeType="afterGroup">
                            <p:stCondLst>
                              <p:cond delay="2500"/>
                            </p:stCondLst>
                            <p:childTnLst>
                              <p:par>
                                <p:cTn id="25" presetID="22" presetClass="entr" presetSubtype="8" fill="hold"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childTnLst>
                          </p:cTn>
                        </p:par>
                        <p:par>
                          <p:cTn id="28" fill="hold" nodeType="afterGroup">
                            <p:stCondLst>
                              <p:cond delay="3000"/>
                            </p:stCondLst>
                            <p:childTnLst>
                              <p:par>
                                <p:cTn id="29" presetID="22" presetClass="entr" presetSubtype="8" fill="hold"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childTnLst>
                          </p:cTn>
                        </p:par>
                        <p:par>
                          <p:cTn id="32" fill="hold" nodeType="afterGroup">
                            <p:stCondLst>
                              <p:cond delay="3500"/>
                            </p:stCondLst>
                            <p:childTnLst>
                              <p:par>
                                <p:cTn id="33" presetID="22" presetClass="entr" presetSubtype="8" fill="hold" nodeType="after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left)">
                                      <p:cBhvr>
                                        <p:cTn id="35" dur="500"/>
                                        <p:tgtEl>
                                          <p:spTgt spid="11"/>
                                        </p:tgtEl>
                                      </p:cBhvr>
                                    </p:animEffect>
                                  </p:childTnLst>
                                </p:cTn>
                              </p:par>
                            </p:childTnLst>
                          </p:cTn>
                        </p:par>
                        <p:par>
                          <p:cTn id="36" fill="hold">
                            <p:stCondLst>
                              <p:cond delay="4000"/>
                            </p:stCondLst>
                            <p:childTnLst>
                              <p:par>
                                <p:cTn id="37" presetID="22" presetClass="entr" presetSubtype="8" fill="hold" grpId="0" nodeType="afterEffect">
                                  <p:stCondLst>
                                    <p:cond delay="0"/>
                                  </p:stCondLst>
                                  <p:childTnLst>
                                    <p:set>
                                      <p:cBhvr>
                                        <p:cTn id="38" dur="1" fill="hold">
                                          <p:stCondLst>
                                            <p:cond delay="0"/>
                                          </p:stCondLst>
                                        </p:cTn>
                                        <p:tgtEl>
                                          <p:spTgt spid="36867">
                                            <p:txEl>
                                              <p:pRg st="0" end="0"/>
                                            </p:txEl>
                                          </p:spTgt>
                                        </p:tgtEl>
                                        <p:attrNameLst>
                                          <p:attrName>style.visibility</p:attrName>
                                        </p:attrNameLst>
                                      </p:cBhvr>
                                      <p:to>
                                        <p:strVal val="visible"/>
                                      </p:to>
                                    </p:set>
                                    <p:animEffect transition="in" filter="wipe(left)">
                                      <p:cBhvr>
                                        <p:cTn id="39" dur="500"/>
                                        <p:tgtEl>
                                          <p:spTgt spid="3686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build="p"/>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US" altLang="en-US" smtClean="0"/>
              <a:t>The Two-Good Case</a:t>
            </a:r>
          </a:p>
        </p:txBody>
      </p:sp>
      <p:sp>
        <p:nvSpPr>
          <p:cNvPr id="37891" name="Content Placeholder 4"/>
          <p:cNvSpPr>
            <a:spLocks noGrp="1"/>
          </p:cNvSpPr>
          <p:nvPr>
            <p:ph idx="1"/>
          </p:nvPr>
        </p:nvSpPr>
        <p:spPr/>
        <p:txBody>
          <a:bodyPr/>
          <a:lstStyle/>
          <a:p>
            <a:r>
              <a:rPr lang="en-US" altLang="en-US" smtClean="0"/>
              <a:t>Corner solutions</a:t>
            </a:r>
          </a:p>
          <a:p>
            <a:pPr lvl="1"/>
            <a:r>
              <a:rPr lang="en-US" altLang="en-US" smtClean="0"/>
              <a:t>Individuals may maximize utility by choosing to consume only one of the goods</a:t>
            </a:r>
          </a:p>
          <a:p>
            <a:pPr lvl="1"/>
            <a:r>
              <a:rPr lang="en-US" altLang="en-US" smtClean="0"/>
              <a:t>At the optimal point the budget constraint is flatter than the indifference curve</a:t>
            </a:r>
          </a:p>
          <a:p>
            <a:pPr lvl="2"/>
            <a:r>
              <a:rPr lang="en-US" altLang="en-US" smtClean="0"/>
              <a:t>The rate at which x can be traded for y in the market is lower than the MRS</a:t>
            </a:r>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3FD116AC-6EB2-4FFC-B5DB-07AFEEB387FF}" type="slidenum">
              <a:rPr lang="en-US" smtClean="0"/>
              <a:pPr>
                <a:defRPr/>
              </a:pPr>
              <a:t>11</a:t>
            </a:fld>
            <a:endParaRPr lang="en-US"/>
          </a:p>
        </p:txBody>
      </p:sp>
    </p:spTree>
    <p:extLst>
      <p:ext uri="{BB962C8B-B14F-4D97-AF65-F5344CB8AC3E}">
        <p14:creationId xmlns:p14="http://schemas.microsoft.com/office/powerpoint/2010/main" val="22295144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4.4	Corner Solution for Utility </a:t>
            </a:r>
            <a:r>
              <a:rPr lang="en-US" altLang="en-US" dirty="0" smtClean="0"/>
              <a:t>Maximization</a:t>
            </a:r>
          </a:p>
        </p:txBody>
      </p:sp>
      <p:sp>
        <p:nvSpPr>
          <p:cNvPr id="38915" name="Text Placeholder 2"/>
          <p:cNvSpPr>
            <a:spLocks noGrp="1"/>
          </p:cNvSpPr>
          <p:nvPr>
            <p:ph sz="half" idx="1"/>
          </p:nvPr>
        </p:nvSpPr>
        <p:spPr>
          <a:xfrm>
            <a:off x="266700" y="4953000"/>
            <a:ext cx="8610600" cy="1377826"/>
          </a:xfrm>
        </p:spPr>
        <p:txBody>
          <a:bodyPr>
            <a:normAutofit/>
          </a:bodyPr>
          <a:lstStyle/>
          <a:p>
            <a:pPr>
              <a:spcBef>
                <a:spcPct val="0"/>
              </a:spcBef>
            </a:pPr>
            <a:r>
              <a:rPr lang="en-US" altLang="en-US" dirty="0"/>
              <a:t>With the preferences represented by this set of indifference curves, utility maximization occurs at E, where 0 amounts of good y are consumed. The first-order conditions for a maximum must be modified somewhat to accommodate this possibility</a:t>
            </a:r>
            <a:r>
              <a:rPr lang="en-US" altLang="en-US" dirty="0" smtClean="0"/>
              <a:t>.</a:t>
            </a:r>
            <a:endParaRPr lang="en-US" altLang="en-US" dirty="0"/>
          </a:p>
        </p:txBody>
      </p:sp>
      <p:sp>
        <p:nvSpPr>
          <p:cNvPr id="38918"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928DCAA3-89E4-46FB-946D-3056A3393496}" type="slidenum">
              <a:rPr lang="en-US" smtClean="0"/>
              <a:pPr>
                <a:defRPr/>
              </a:pPr>
              <a:t>12</a:t>
            </a:fld>
            <a:endParaRPr lang="en-US" dirty="0"/>
          </a:p>
        </p:txBody>
      </p:sp>
      <p:sp>
        <p:nvSpPr>
          <p:cNvPr id="7" name="AutoShape 14" descr="70%"/>
          <p:cNvSpPr>
            <a:spLocks noChangeArrowheads="1"/>
          </p:cNvSpPr>
          <p:nvPr/>
        </p:nvSpPr>
        <p:spPr bwMode="auto">
          <a:xfrm>
            <a:off x="2400151" y="2100913"/>
            <a:ext cx="2133600" cy="2133600"/>
          </a:xfrm>
          <a:prstGeom prst="rtTriangle">
            <a:avLst/>
          </a:prstGeom>
          <a:solidFill>
            <a:schemeClr val="tx2">
              <a:lumMod val="20000"/>
              <a:lumOff val="80000"/>
            </a:schemeClr>
          </a:solidFill>
          <a:ln w="28575">
            <a:solidFill>
              <a:srgbClr val="000099"/>
            </a:solidFill>
            <a:miter lim="800000"/>
            <a:headEnd/>
            <a:tailEnd/>
          </a:ln>
          <a:effectLst/>
        </p:spPr>
        <p:txBody>
          <a:bodyPr wrap="none" anchor="ctr">
            <a:spAutoFit/>
          </a:bodyPr>
          <a:lstStyle/>
          <a:p>
            <a:pPr>
              <a:defRPr/>
            </a:pPr>
            <a:endParaRPr lang="en-US"/>
          </a:p>
        </p:txBody>
      </p:sp>
      <p:grpSp>
        <p:nvGrpSpPr>
          <p:cNvPr id="2" name="Group 7"/>
          <p:cNvGrpSpPr>
            <a:grpSpLocks/>
          </p:cNvGrpSpPr>
          <p:nvPr/>
        </p:nvGrpSpPr>
        <p:grpSpPr bwMode="auto">
          <a:xfrm>
            <a:off x="1212850" y="1295400"/>
            <a:ext cx="6253163" cy="3154363"/>
            <a:chOff x="1437904" y="998517"/>
            <a:chExt cx="6253843" cy="3155435"/>
          </a:xfrm>
        </p:grpSpPr>
        <p:grpSp>
          <p:nvGrpSpPr>
            <p:cNvPr id="38932" name="Group 18"/>
            <p:cNvGrpSpPr>
              <a:grpSpLocks/>
            </p:cNvGrpSpPr>
            <p:nvPr/>
          </p:nvGrpSpPr>
          <p:grpSpPr bwMode="auto">
            <a:xfrm>
              <a:off x="2624447" y="3787239"/>
              <a:ext cx="5067300" cy="366713"/>
              <a:chOff x="2624447" y="3787239"/>
              <a:chExt cx="5067300" cy="366713"/>
            </a:xfrm>
          </p:grpSpPr>
          <p:sp>
            <p:nvSpPr>
              <p:cNvPr id="38936" name="Text Box 8"/>
              <p:cNvSpPr txBox="1">
                <a:spLocks noChangeArrowheads="1"/>
              </p:cNvSpPr>
              <p:nvPr/>
            </p:nvSpPr>
            <p:spPr bwMode="auto">
              <a:xfrm>
                <a:off x="6224897" y="3787239"/>
                <a:ext cx="1466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Quantity of </a:t>
                </a:r>
                <a:r>
                  <a:rPr lang="en-US" altLang="en-US" sz="1800" i="1"/>
                  <a:t>x</a:t>
                </a:r>
                <a:endParaRPr lang="en-US" altLang="en-US" sz="1800"/>
              </a:p>
            </p:txBody>
          </p:sp>
          <p:sp>
            <p:nvSpPr>
              <p:cNvPr id="38937" name="Line 5"/>
              <p:cNvSpPr>
                <a:spLocks noChangeShapeType="1"/>
              </p:cNvSpPr>
              <p:nvPr/>
            </p:nvSpPr>
            <p:spPr bwMode="auto">
              <a:xfrm>
                <a:off x="2624447" y="3939639"/>
                <a:ext cx="3505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grpSp>
          <p:nvGrpSpPr>
            <p:cNvPr id="38933" name="Group 17"/>
            <p:cNvGrpSpPr>
              <a:grpSpLocks/>
            </p:cNvGrpSpPr>
            <p:nvPr/>
          </p:nvGrpSpPr>
          <p:grpSpPr bwMode="auto">
            <a:xfrm>
              <a:off x="1437904" y="998517"/>
              <a:ext cx="1466850" cy="2941122"/>
              <a:chOff x="1437904" y="998517"/>
              <a:chExt cx="1466850" cy="2941122"/>
            </a:xfrm>
          </p:grpSpPr>
          <p:sp>
            <p:nvSpPr>
              <p:cNvPr id="38934" name="Text Box 9"/>
              <p:cNvSpPr txBox="1">
                <a:spLocks noChangeArrowheads="1"/>
              </p:cNvSpPr>
              <p:nvPr/>
            </p:nvSpPr>
            <p:spPr bwMode="auto">
              <a:xfrm>
                <a:off x="1437904" y="998517"/>
                <a:ext cx="1466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Quantity of </a:t>
                </a:r>
                <a:r>
                  <a:rPr lang="en-US" altLang="en-US" sz="1800" i="1"/>
                  <a:t>y</a:t>
                </a:r>
                <a:endParaRPr lang="en-US" altLang="en-US" sz="1800"/>
              </a:p>
            </p:txBody>
          </p:sp>
          <p:sp>
            <p:nvSpPr>
              <p:cNvPr id="38935" name="Line 4"/>
              <p:cNvSpPr>
                <a:spLocks noChangeShapeType="1"/>
              </p:cNvSpPr>
              <p:nvPr/>
            </p:nvSpPr>
            <p:spPr bwMode="auto">
              <a:xfrm>
                <a:off x="2624447" y="1425039"/>
                <a:ext cx="0" cy="2514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grpSp>
      </p:grpSp>
      <p:grpSp>
        <p:nvGrpSpPr>
          <p:cNvPr id="8" name="Group 22"/>
          <p:cNvGrpSpPr>
            <a:grpSpLocks/>
          </p:cNvGrpSpPr>
          <p:nvPr/>
        </p:nvGrpSpPr>
        <p:grpSpPr bwMode="auto">
          <a:xfrm>
            <a:off x="3235325" y="1546225"/>
            <a:ext cx="1295400" cy="2681288"/>
            <a:chOff x="3235036" y="1689160"/>
            <a:chExt cx="1295400" cy="2681517"/>
          </a:xfrm>
        </p:grpSpPr>
        <p:sp>
          <p:nvSpPr>
            <p:cNvPr id="38930" name="Freeform 19"/>
            <p:cNvSpPr>
              <a:spLocks/>
            </p:cNvSpPr>
            <p:nvPr/>
          </p:nvSpPr>
          <p:spPr bwMode="auto">
            <a:xfrm>
              <a:off x="3463636" y="2008477"/>
              <a:ext cx="1066800" cy="2362200"/>
            </a:xfrm>
            <a:custGeom>
              <a:avLst/>
              <a:gdLst>
                <a:gd name="T0" fmla="*/ 0 w 432"/>
                <a:gd name="T1" fmla="*/ 0 h 960"/>
                <a:gd name="T2" fmla="*/ 355600 w 432"/>
                <a:gd name="T3" fmla="*/ 1181100 h 960"/>
                <a:gd name="T4" fmla="*/ 1066800 w 432"/>
                <a:gd name="T5" fmla="*/ 2362200 h 960"/>
                <a:gd name="T6" fmla="*/ 0 60000 65536"/>
                <a:gd name="T7" fmla="*/ 0 60000 65536"/>
                <a:gd name="T8" fmla="*/ 0 60000 65536"/>
                <a:gd name="T9" fmla="*/ 0 w 432"/>
                <a:gd name="T10" fmla="*/ 0 h 960"/>
                <a:gd name="T11" fmla="*/ 432 w 432"/>
                <a:gd name="T12" fmla="*/ 960 h 960"/>
              </a:gdLst>
              <a:ahLst/>
              <a:cxnLst>
                <a:cxn ang="T6">
                  <a:pos x="T0" y="T1"/>
                </a:cxn>
                <a:cxn ang="T7">
                  <a:pos x="T2" y="T3"/>
                </a:cxn>
                <a:cxn ang="T8">
                  <a:pos x="T4" y="T5"/>
                </a:cxn>
              </a:cxnLst>
              <a:rect l="T9" t="T10" r="T11" b="T12"/>
              <a:pathLst>
                <a:path w="432" h="960">
                  <a:moveTo>
                    <a:pt x="0" y="0"/>
                  </a:moveTo>
                  <a:cubicBezTo>
                    <a:pt x="36" y="160"/>
                    <a:pt x="72" y="320"/>
                    <a:pt x="144" y="480"/>
                  </a:cubicBezTo>
                  <a:cubicBezTo>
                    <a:pt x="216" y="640"/>
                    <a:pt x="324" y="800"/>
                    <a:pt x="432" y="960"/>
                  </a:cubicBezTo>
                </a:path>
              </a:pathLst>
            </a:custGeom>
            <a:noFill/>
            <a:ln w="28575" cap="flat" cmpd="sng">
              <a:solidFill>
                <a:srgbClr val="C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8931" name="Text Box 22"/>
            <p:cNvSpPr txBox="1">
              <a:spLocks noChangeArrowheads="1"/>
            </p:cNvSpPr>
            <p:nvPr/>
          </p:nvSpPr>
          <p:spPr bwMode="auto">
            <a:xfrm>
              <a:off x="3235036" y="1689160"/>
              <a:ext cx="5749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solidFill>
                    <a:srgbClr val="C00000"/>
                  </a:solidFill>
                </a:rPr>
                <a:t>U</a:t>
              </a:r>
              <a:r>
                <a:rPr lang="en-US" altLang="en-US" sz="1800" baseline="-25000" dirty="0">
                  <a:solidFill>
                    <a:srgbClr val="C00000"/>
                  </a:solidFill>
                </a:rPr>
                <a:t>2</a:t>
              </a:r>
            </a:p>
          </p:txBody>
        </p:sp>
      </p:grpSp>
      <p:grpSp>
        <p:nvGrpSpPr>
          <p:cNvPr id="9" name="Group 23"/>
          <p:cNvGrpSpPr>
            <a:grpSpLocks/>
          </p:cNvGrpSpPr>
          <p:nvPr/>
        </p:nvGrpSpPr>
        <p:grpSpPr bwMode="auto">
          <a:xfrm>
            <a:off x="3692525" y="1539875"/>
            <a:ext cx="1295400" cy="2687638"/>
            <a:chOff x="3692235" y="1682234"/>
            <a:chExt cx="1295401" cy="2688443"/>
          </a:xfrm>
        </p:grpSpPr>
        <p:sp>
          <p:nvSpPr>
            <p:cNvPr id="38928" name="Freeform 20"/>
            <p:cNvSpPr>
              <a:spLocks/>
            </p:cNvSpPr>
            <p:nvPr/>
          </p:nvSpPr>
          <p:spPr bwMode="auto">
            <a:xfrm>
              <a:off x="3920836" y="2008477"/>
              <a:ext cx="1066800" cy="2362200"/>
            </a:xfrm>
            <a:custGeom>
              <a:avLst/>
              <a:gdLst>
                <a:gd name="T0" fmla="*/ 0 w 432"/>
                <a:gd name="T1" fmla="*/ 0 h 960"/>
                <a:gd name="T2" fmla="*/ 355600 w 432"/>
                <a:gd name="T3" fmla="*/ 1181100 h 960"/>
                <a:gd name="T4" fmla="*/ 1066800 w 432"/>
                <a:gd name="T5" fmla="*/ 2362200 h 960"/>
                <a:gd name="T6" fmla="*/ 0 60000 65536"/>
                <a:gd name="T7" fmla="*/ 0 60000 65536"/>
                <a:gd name="T8" fmla="*/ 0 60000 65536"/>
                <a:gd name="T9" fmla="*/ 0 w 432"/>
                <a:gd name="T10" fmla="*/ 0 h 960"/>
                <a:gd name="T11" fmla="*/ 432 w 432"/>
                <a:gd name="T12" fmla="*/ 960 h 960"/>
              </a:gdLst>
              <a:ahLst/>
              <a:cxnLst>
                <a:cxn ang="T6">
                  <a:pos x="T0" y="T1"/>
                </a:cxn>
                <a:cxn ang="T7">
                  <a:pos x="T2" y="T3"/>
                </a:cxn>
                <a:cxn ang="T8">
                  <a:pos x="T4" y="T5"/>
                </a:cxn>
              </a:cxnLst>
              <a:rect l="T9" t="T10" r="T11" b="T12"/>
              <a:pathLst>
                <a:path w="432" h="960">
                  <a:moveTo>
                    <a:pt x="0" y="0"/>
                  </a:moveTo>
                  <a:cubicBezTo>
                    <a:pt x="36" y="160"/>
                    <a:pt x="72" y="320"/>
                    <a:pt x="144" y="480"/>
                  </a:cubicBezTo>
                  <a:cubicBezTo>
                    <a:pt x="216" y="640"/>
                    <a:pt x="324" y="800"/>
                    <a:pt x="432" y="960"/>
                  </a:cubicBezTo>
                </a:path>
              </a:pathLst>
            </a:custGeom>
            <a:noFill/>
            <a:ln w="28575" cap="flat" cmpd="sng">
              <a:solidFill>
                <a:srgbClr val="C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8929" name="Text Box 24"/>
            <p:cNvSpPr txBox="1">
              <a:spLocks noChangeArrowheads="1"/>
            </p:cNvSpPr>
            <p:nvPr/>
          </p:nvSpPr>
          <p:spPr bwMode="auto">
            <a:xfrm>
              <a:off x="3692235" y="1682234"/>
              <a:ext cx="4918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solidFill>
                    <a:srgbClr val="C00000"/>
                  </a:solidFill>
                </a:rPr>
                <a:t>U</a:t>
              </a:r>
              <a:r>
                <a:rPr lang="en-US" altLang="en-US" sz="1800" baseline="-25000" dirty="0">
                  <a:solidFill>
                    <a:srgbClr val="C00000"/>
                  </a:solidFill>
                </a:rPr>
                <a:t>3</a:t>
              </a:r>
            </a:p>
          </p:txBody>
        </p:sp>
      </p:grpSp>
      <p:grpSp>
        <p:nvGrpSpPr>
          <p:cNvPr id="10" name="Group 25"/>
          <p:cNvGrpSpPr>
            <a:grpSpLocks/>
          </p:cNvGrpSpPr>
          <p:nvPr/>
        </p:nvGrpSpPr>
        <p:grpSpPr bwMode="auto">
          <a:xfrm>
            <a:off x="2854325" y="1484313"/>
            <a:ext cx="1858963" cy="3119437"/>
            <a:chOff x="2854036" y="1626813"/>
            <a:chExt cx="1858680" cy="3120236"/>
          </a:xfrm>
        </p:grpSpPr>
        <p:grpSp>
          <p:nvGrpSpPr>
            <p:cNvPr id="38924" name="Group 21"/>
            <p:cNvGrpSpPr>
              <a:grpSpLocks/>
            </p:cNvGrpSpPr>
            <p:nvPr/>
          </p:nvGrpSpPr>
          <p:grpSpPr bwMode="auto">
            <a:xfrm>
              <a:off x="2854036" y="1626813"/>
              <a:ext cx="1219200" cy="2743864"/>
              <a:chOff x="2854036" y="1626813"/>
              <a:chExt cx="1219200" cy="2743864"/>
            </a:xfrm>
          </p:grpSpPr>
          <p:sp>
            <p:nvSpPr>
              <p:cNvPr id="38926" name="Freeform 21"/>
              <p:cNvSpPr>
                <a:spLocks/>
              </p:cNvSpPr>
              <p:nvPr/>
            </p:nvSpPr>
            <p:spPr bwMode="auto">
              <a:xfrm>
                <a:off x="3082636" y="1932277"/>
                <a:ext cx="990600" cy="2438400"/>
              </a:xfrm>
              <a:custGeom>
                <a:avLst/>
                <a:gdLst>
                  <a:gd name="T0" fmla="*/ 0 w 432"/>
                  <a:gd name="T1" fmla="*/ 0 h 960"/>
                  <a:gd name="T2" fmla="*/ 330200 w 432"/>
                  <a:gd name="T3" fmla="*/ 1219200 h 960"/>
                  <a:gd name="T4" fmla="*/ 990600 w 432"/>
                  <a:gd name="T5" fmla="*/ 2438400 h 960"/>
                  <a:gd name="T6" fmla="*/ 0 60000 65536"/>
                  <a:gd name="T7" fmla="*/ 0 60000 65536"/>
                  <a:gd name="T8" fmla="*/ 0 60000 65536"/>
                  <a:gd name="T9" fmla="*/ 0 w 432"/>
                  <a:gd name="T10" fmla="*/ 0 h 960"/>
                  <a:gd name="T11" fmla="*/ 432 w 432"/>
                  <a:gd name="T12" fmla="*/ 960 h 960"/>
                </a:gdLst>
                <a:ahLst/>
                <a:cxnLst>
                  <a:cxn ang="T6">
                    <a:pos x="T0" y="T1"/>
                  </a:cxn>
                  <a:cxn ang="T7">
                    <a:pos x="T2" y="T3"/>
                  </a:cxn>
                  <a:cxn ang="T8">
                    <a:pos x="T4" y="T5"/>
                  </a:cxn>
                </a:cxnLst>
                <a:rect l="T9" t="T10" r="T11" b="T12"/>
                <a:pathLst>
                  <a:path w="432" h="960">
                    <a:moveTo>
                      <a:pt x="0" y="0"/>
                    </a:moveTo>
                    <a:cubicBezTo>
                      <a:pt x="36" y="160"/>
                      <a:pt x="72" y="320"/>
                      <a:pt x="144" y="480"/>
                    </a:cubicBezTo>
                    <a:cubicBezTo>
                      <a:pt x="216" y="640"/>
                      <a:pt x="324" y="800"/>
                      <a:pt x="432" y="960"/>
                    </a:cubicBezTo>
                  </a:path>
                </a:pathLst>
              </a:custGeom>
              <a:noFill/>
              <a:ln w="28575" cap="flat" cmpd="sng">
                <a:solidFill>
                  <a:srgbClr val="C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8927" name="Text Box 23"/>
              <p:cNvSpPr txBox="1">
                <a:spLocks noChangeArrowheads="1"/>
              </p:cNvSpPr>
              <p:nvPr/>
            </p:nvSpPr>
            <p:spPr bwMode="auto">
              <a:xfrm>
                <a:off x="2854036" y="1626813"/>
                <a:ext cx="5541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solidFill>
                      <a:srgbClr val="C00000"/>
                    </a:solidFill>
                  </a:rPr>
                  <a:t>U</a:t>
                </a:r>
                <a:r>
                  <a:rPr lang="en-US" altLang="en-US" sz="1800" baseline="-25000" dirty="0">
                    <a:solidFill>
                      <a:srgbClr val="C00000"/>
                    </a:solidFill>
                  </a:rPr>
                  <a:t>1</a:t>
                </a:r>
              </a:p>
            </p:txBody>
          </p:sp>
        </p:grpSp>
        <p:sp>
          <p:nvSpPr>
            <p:cNvPr id="38925" name="Text Box 8"/>
            <p:cNvSpPr txBox="1">
              <a:spLocks noChangeArrowheads="1"/>
            </p:cNvSpPr>
            <p:nvPr/>
          </p:nvSpPr>
          <p:spPr bwMode="auto">
            <a:xfrm>
              <a:off x="4322866" y="4377717"/>
              <a:ext cx="3898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x*</a:t>
              </a:r>
              <a:endParaRPr lang="en-US" altLang="en-US" sz="1800"/>
            </a:p>
          </p:txBody>
        </p:sp>
      </p:grpSp>
    </p:spTree>
    <p:extLst>
      <p:ext uri="{BB962C8B-B14F-4D97-AF65-F5344CB8AC3E}">
        <p14:creationId xmlns:p14="http://schemas.microsoft.com/office/powerpoint/2010/main" val="27184577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childTnLst>
                          </p:cTn>
                        </p:par>
                        <p:par>
                          <p:cTn id="20" fill="hold" nodeType="afterGroup">
                            <p:stCondLst>
                              <p:cond delay="2000"/>
                            </p:stCondLst>
                            <p:childTnLst>
                              <p:par>
                                <p:cTn id="21" presetID="22" presetClass="entr" presetSubtype="8" fill="hold"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left)">
                                      <p:cBhvr>
                                        <p:cTn id="23" dur="500"/>
                                        <p:tgtEl>
                                          <p:spTgt spid="9"/>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8915">
                                            <p:txEl>
                                              <p:pRg st="0" end="0"/>
                                            </p:txEl>
                                          </p:spTgt>
                                        </p:tgtEl>
                                        <p:attrNameLst>
                                          <p:attrName>style.visibility</p:attrName>
                                        </p:attrNameLst>
                                      </p:cBhvr>
                                      <p:to>
                                        <p:strVal val="visible"/>
                                      </p:to>
                                    </p:set>
                                    <p:animEffect transition="in" filter="wipe(left)">
                                      <p:cBhvr>
                                        <p:cTn id="27" dur="500"/>
                                        <p:tgtEl>
                                          <p:spTgt spid="389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build="p"/>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r>
              <a:rPr lang="en-US" altLang="en-US" smtClean="0"/>
              <a:t>The n-Good Case</a:t>
            </a:r>
          </a:p>
        </p:txBody>
      </p:sp>
      <p:sp>
        <p:nvSpPr>
          <p:cNvPr id="39939" name="Content Placeholder 2"/>
          <p:cNvSpPr>
            <a:spLocks noGrp="1"/>
          </p:cNvSpPr>
          <p:nvPr>
            <p:ph idx="1"/>
          </p:nvPr>
        </p:nvSpPr>
        <p:spPr/>
        <p:txBody>
          <a:bodyPr/>
          <a:lstStyle/>
          <a:p>
            <a:pPr>
              <a:lnSpc>
                <a:spcPct val="130000"/>
              </a:lnSpc>
            </a:pPr>
            <a:r>
              <a:rPr lang="en-US" altLang="en-US" dirty="0" smtClean="0"/>
              <a:t>The individual’s objective is to maximize</a:t>
            </a:r>
          </a:p>
          <a:p>
            <a:pPr algn="ctr">
              <a:lnSpc>
                <a:spcPct val="140000"/>
              </a:lnSpc>
              <a:buFontTx/>
              <a:buNone/>
            </a:pPr>
            <a:r>
              <a:rPr lang="en-US" altLang="en-US" sz="3200" dirty="0" smtClean="0">
                <a:solidFill>
                  <a:srgbClr val="FF0000"/>
                </a:solidFill>
              </a:rPr>
              <a:t>utility = </a:t>
            </a:r>
            <a:r>
              <a:rPr lang="en-US" altLang="en-US" sz="3200" i="1" dirty="0" smtClean="0">
                <a:solidFill>
                  <a:srgbClr val="FF0000"/>
                </a:solidFill>
              </a:rPr>
              <a:t>U</a:t>
            </a:r>
            <a:r>
              <a:rPr lang="en-US" altLang="en-US" sz="3200" dirty="0" smtClean="0">
                <a:solidFill>
                  <a:srgbClr val="FF0000"/>
                </a:solidFill>
              </a:rPr>
              <a:t>(</a:t>
            </a:r>
            <a:r>
              <a:rPr lang="en-US" altLang="en-US" sz="3200" i="1" dirty="0" smtClean="0">
                <a:solidFill>
                  <a:srgbClr val="FF0000"/>
                </a:solidFill>
              </a:rPr>
              <a:t>x</a:t>
            </a:r>
            <a:r>
              <a:rPr lang="en-US" altLang="en-US" sz="3200" baseline="-25000" dirty="0" smtClean="0">
                <a:solidFill>
                  <a:srgbClr val="FF0000"/>
                </a:solidFill>
              </a:rPr>
              <a:t>1</a:t>
            </a:r>
            <a:r>
              <a:rPr lang="en-US" altLang="en-US" sz="3200" dirty="0" smtClean="0">
                <a:solidFill>
                  <a:srgbClr val="FF0000"/>
                </a:solidFill>
              </a:rPr>
              <a:t>,</a:t>
            </a:r>
            <a:r>
              <a:rPr lang="en-US" altLang="en-US" sz="3200" i="1" dirty="0" smtClean="0">
                <a:solidFill>
                  <a:srgbClr val="FF0000"/>
                </a:solidFill>
              </a:rPr>
              <a:t>x</a:t>
            </a:r>
            <a:r>
              <a:rPr lang="en-US" altLang="en-US" sz="3200" baseline="-25000" dirty="0" smtClean="0">
                <a:solidFill>
                  <a:srgbClr val="FF0000"/>
                </a:solidFill>
              </a:rPr>
              <a:t>2</a:t>
            </a:r>
            <a:r>
              <a:rPr lang="en-US" altLang="en-US" sz="3200" dirty="0" smtClean="0">
                <a:solidFill>
                  <a:srgbClr val="FF0000"/>
                </a:solidFill>
              </a:rPr>
              <a:t>,…,</a:t>
            </a:r>
            <a:r>
              <a:rPr lang="en-US" altLang="en-US" sz="3200" i="1" dirty="0" err="1" smtClean="0">
                <a:solidFill>
                  <a:srgbClr val="FF0000"/>
                </a:solidFill>
              </a:rPr>
              <a:t>x</a:t>
            </a:r>
            <a:r>
              <a:rPr lang="en-US" altLang="en-US" sz="3200" i="1" baseline="-25000" dirty="0" err="1" smtClean="0">
                <a:solidFill>
                  <a:srgbClr val="FF0000"/>
                </a:solidFill>
              </a:rPr>
              <a:t>n</a:t>
            </a:r>
            <a:r>
              <a:rPr lang="en-US" altLang="en-US" sz="3200" dirty="0" smtClean="0">
                <a:solidFill>
                  <a:srgbClr val="FF0000"/>
                </a:solidFill>
              </a:rPr>
              <a:t>)</a:t>
            </a:r>
          </a:p>
          <a:p>
            <a:pPr lvl="1"/>
            <a:r>
              <a:rPr lang="en-US" altLang="en-US" dirty="0" smtClean="0"/>
              <a:t>    subject to the budget constraint</a:t>
            </a:r>
          </a:p>
          <a:p>
            <a:pPr algn="ctr">
              <a:lnSpc>
                <a:spcPct val="140000"/>
              </a:lnSpc>
              <a:buFontTx/>
              <a:buNone/>
            </a:pPr>
            <a:r>
              <a:rPr lang="en-US" altLang="en-US" sz="3200" i="1" dirty="0" smtClean="0">
                <a:solidFill>
                  <a:srgbClr val="FF0000"/>
                </a:solidFill>
                <a:latin typeface="Verdana" pitchFamily="34" charset="0"/>
              </a:rPr>
              <a:t>I</a:t>
            </a:r>
            <a:r>
              <a:rPr lang="en-US" altLang="en-US" sz="3200" dirty="0" smtClean="0">
                <a:solidFill>
                  <a:srgbClr val="FF0000"/>
                </a:solidFill>
              </a:rPr>
              <a:t> = </a:t>
            </a:r>
            <a:r>
              <a:rPr lang="en-US" altLang="en-US" sz="3200" i="1" dirty="0" smtClean="0">
                <a:solidFill>
                  <a:srgbClr val="FF0000"/>
                </a:solidFill>
              </a:rPr>
              <a:t>p</a:t>
            </a:r>
            <a:r>
              <a:rPr lang="en-US" altLang="en-US" sz="3200" baseline="-25000" dirty="0" smtClean="0">
                <a:solidFill>
                  <a:srgbClr val="FF0000"/>
                </a:solidFill>
              </a:rPr>
              <a:t>1</a:t>
            </a:r>
            <a:r>
              <a:rPr lang="en-US" altLang="en-US" sz="3200" i="1" dirty="0" smtClean="0">
                <a:solidFill>
                  <a:srgbClr val="FF0000"/>
                </a:solidFill>
              </a:rPr>
              <a:t>x</a:t>
            </a:r>
            <a:r>
              <a:rPr lang="en-US" altLang="en-US" sz="3200" baseline="-25000" dirty="0" smtClean="0">
                <a:solidFill>
                  <a:srgbClr val="FF0000"/>
                </a:solidFill>
              </a:rPr>
              <a:t>1</a:t>
            </a:r>
            <a:r>
              <a:rPr lang="en-US" altLang="en-US" sz="3200" dirty="0" smtClean="0">
                <a:solidFill>
                  <a:srgbClr val="FF0000"/>
                </a:solidFill>
              </a:rPr>
              <a:t> + </a:t>
            </a:r>
            <a:r>
              <a:rPr lang="en-US" altLang="en-US" sz="3200" i="1" dirty="0" smtClean="0">
                <a:solidFill>
                  <a:srgbClr val="FF0000"/>
                </a:solidFill>
              </a:rPr>
              <a:t>p</a:t>
            </a:r>
            <a:r>
              <a:rPr lang="en-US" altLang="en-US" sz="3200" baseline="-25000" dirty="0" smtClean="0">
                <a:solidFill>
                  <a:srgbClr val="FF0000"/>
                </a:solidFill>
              </a:rPr>
              <a:t>2</a:t>
            </a:r>
            <a:r>
              <a:rPr lang="en-US" altLang="en-US" sz="3200" i="1" dirty="0" smtClean="0">
                <a:solidFill>
                  <a:srgbClr val="FF0000"/>
                </a:solidFill>
              </a:rPr>
              <a:t>x</a:t>
            </a:r>
            <a:r>
              <a:rPr lang="en-US" altLang="en-US" sz="3200" baseline="-25000" dirty="0" smtClean="0">
                <a:solidFill>
                  <a:srgbClr val="FF0000"/>
                </a:solidFill>
              </a:rPr>
              <a:t>2</a:t>
            </a:r>
            <a:r>
              <a:rPr lang="en-US" altLang="en-US" sz="3200" dirty="0" smtClean="0">
                <a:solidFill>
                  <a:srgbClr val="FF0000"/>
                </a:solidFill>
              </a:rPr>
              <a:t> +…+ </a:t>
            </a:r>
            <a:r>
              <a:rPr lang="en-US" altLang="en-US" sz="3200" i="1" dirty="0" err="1" smtClean="0">
                <a:solidFill>
                  <a:srgbClr val="FF0000"/>
                </a:solidFill>
              </a:rPr>
              <a:t>p</a:t>
            </a:r>
            <a:r>
              <a:rPr lang="en-US" altLang="en-US" sz="3200" i="1" baseline="-25000" dirty="0" err="1" smtClean="0">
                <a:solidFill>
                  <a:srgbClr val="FF0000"/>
                </a:solidFill>
              </a:rPr>
              <a:t>n</a:t>
            </a:r>
            <a:r>
              <a:rPr lang="en-US" altLang="en-US" sz="3200" i="1" dirty="0" err="1" smtClean="0">
                <a:solidFill>
                  <a:srgbClr val="FF0000"/>
                </a:solidFill>
              </a:rPr>
              <a:t>x</a:t>
            </a:r>
            <a:r>
              <a:rPr lang="en-US" altLang="en-US" sz="3200" i="1" baseline="-25000" dirty="0" err="1" smtClean="0">
                <a:solidFill>
                  <a:srgbClr val="FF0000"/>
                </a:solidFill>
              </a:rPr>
              <a:t>n</a:t>
            </a:r>
            <a:endParaRPr lang="en-US" altLang="en-US" sz="2800" dirty="0" smtClean="0">
              <a:solidFill>
                <a:srgbClr val="7B332D"/>
              </a:solidFill>
            </a:endParaRPr>
          </a:p>
          <a:p>
            <a:r>
              <a:rPr lang="en-US" altLang="en-US" dirty="0" smtClean="0"/>
              <a:t>Set up the </a:t>
            </a:r>
            <a:r>
              <a:rPr lang="en-US" altLang="en-US" dirty="0" err="1" smtClean="0"/>
              <a:t>Lagrangian</a:t>
            </a:r>
            <a:r>
              <a:rPr lang="en-US" altLang="en-US" dirty="0" smtClean="0"/>
              <a:t>:</a:t>
            </a:r>
          </a:p>
          <a:p>
            <a:pPr algn="ctr">
              <a:lnSpc>
                <a:spcPct val="150000"/>
              </a:lnSpc>
              <a:buFontTx/>
              <a:buNone/>
            </a:pPr>
            <a:r>
              <a:rPr lang="en-US" altLang="en-US" sz="3200" b="1" dirty="0" smtClean="0">
                <a:solidFill>
                  <a:srgbClr val="FF0000"/>
                </a:solidFill>
                <a:latin typeface="Arial Unicode MS" pitchFamily="34" charset="-128"/>
                <a:ea typeface="Arial Unicode MS" pitchFamily="34" charset="-128"/>
                <a:cs typeface="Arial Unicode MS" pitchFamily="34" charset="-128"/>
              </a:rPr>
              <a:t>ℒ</a:t>
            </a:r>
            <a:r>
              <a:rPr lang="en-US" altLang="en-US" sz="3200" dirty="0" smtClean="0">
                <a:solidFill>
                  <a:srgbClr val="FF0000"/>
                </a:solidFill>
              </a:rPr>
              <a:t> = </a:t>
            </a:r>
            <a:r>
              <a:rPr lang="en-US" altLang="en-US" sz="3200" i="1" dirty="0" smtClean="0">
                <a:solidFill>
                  <a:srgbClr val="FF0000"/>
                </a:solidFill>
              </a:rPr>
              <a:t>U</a:t>
            </a:r>
            <a:r>
              <a:rPr lang="en-US" altLang="en-US" sz="3200" dirty="0" smtClean="0">
                <a:solidFill>
                  <a:srgbClr val="FF0000"/>
                </a:solidFill>
              </a:rPr>
              <a:t>(</a:t>
            </a:r>
            <a:r>
              <a:rPr lang="en-US" altLang="en-US" sz="3200" i="1" dirty="0" smtClean="0">
                <a:solidFill>
                  <a:srgbClr val="FF0000"/>
                </a:solidFill>
              </a:rPr>
              <a:t>x</a:t>
            </a:r>
            <a:r>
              <a:rPr lang="en-US" altLang="en-US" sz="3200" baseline="-25000" dirty="0" smtClean="0">
                <a:solidFill>
                  <a:srgbClr val="FF0000"/>
                </a:solidFill>
              </a:rPr>
              <a:t>1</a:t>
            </a:r>
            <a:r>
              <a:rPr lang="en-US" altLang="en-US" sz="3200" dirty="0" smtClean="0">
                <a:solidFill>
                  <a:srgbClr val="FF0000"/>
                </a:solidFill>
              </a:rPr>
              <a:t>,</a:t>
            </a:r>
            <a:r>
              <a:rPr lang="en-US" altLang="en-US" sz="3200" i="1" dirty="0" smtClean="0">
                <a:solidFill>
                  <a:srgbClr val="FF0000"/>
                </a:solidFill>
              </a:rPr>
              <a:t>x</a:t>
            </a:r>
            <a:r>
              <a:rPr lang="en-US" altLang="en-US" sz="3200" baseline="-25000" dirty="0" smtClean="0">
                <a:solidFill>
                  <a:srgbClr val="FF0000"/>
                </a:solidFill>
              </a:rPr>
              <a:t>2</a:t>
            </a:r>
            <a:r>
              <a:rPr lang="en-US" altLang="en-US" sz="3200" dirty="0" smtClean="0">
                <a:solidFill>
                  <a:srgbClr val="FF0000"/>
                </a:solidFill>
              </a:rPr>
              <a:t>,…,</a:t>
            </a:r>
            <a:r>
              <a:rPr lang="en-US" altLang="en-US" sz="3200" i="1" dirty="0" err="1" smtClean="0">
                <a:solidFill>
                  <a:srgbClr val="FF0000"/>
                </a:solidFill>
              </a:rPr>
              <a:t>x</a:t>
            </a:r>
            <a:r>
              <a:rPr lang="en-US" altLang="en-US" sz="3200" i="1" baseline="-25000" dirty="0" err="1" smtClean="0">
                <a:solidFill>
                  <a:srgbClr val="FF0000"/>
                </a:solidFill>
              </a:rPr>
              <a:t>n</a:t>
            </a:r>
            <a:r>
              <a:rPr lang="en-US" altLang="en-US" sz="3200" dirty="0" smtClean="0">
                <a:solidFill>
                  <a:srgbClr val="FF0000"/>
                </a:solidFill>
              </a:rPr>
              <a:t>) + </a:t>
            </a:r>
            <a:r>
              <a:rPr lang="en-US" altLang="en-US" sz="3200" dirty="0" smtClean="0">
                <a:solidFill>
                  <a:srgbClr val="FF0000"/>
                </a:solidFill>
                <a:sym typeface="Symbol" pitchFamily="18" charset="2"/>
              </a:rPr>
              <a:t>(</a:t>
            </a:r>
            <a:r>
              <a:rPr lang="en-US" altLang="en-US" sz="3200" i="1" dirty="0" smtClean="0">
                <a:solidFill>
                  <a:srgbClr val="FF0000"/>
                </a:solidFill>
                <a:latin typeface="Verdana" pitchFamily="34" charset="0"/>
              </a:rPr>
              <a:t>I</a:t>
            </a:r>
            <a:r>
              <a:rPr lang="en-US" altLang="en-US" sz="3200" i="1" baseline="30000" dirty="0" smtClean="0">
                <a:solidFill>
                  <a:srgbClr val="FF0000"/>
                </a:solidFill>
                <a:latin typeface="Verdana" pitchFamily="34" charset="0"/>
              </a:rPr>
              <a:t> </a:t>
            </a:r>
            <a:r>
              <a:rPr lang="en-US" altLang="en-US" sz="3200" dirty="0" smtClean="0">
                <a:solidFill>
                  <a:srgbClr val="FF0000"/>
                </a:solidFill>
              </a:rPr>
              <a:t>-</a:t>
            </a:r>
            <a:r>
              <a:rPr lang="en-US" altLang="en-US" sz="3200" baseline="30000" dirty="0" smtClean="0">
                <a:solidFill>
                  <a:srgbClr val="FF0000"/>
                </a:solidFill>
              </a:rPr>
              <a:t> </a:t>
            </a:r>
            <a:r>
              <a:rPr lang="en-US" altLang="en-US" sz="3200" i="1" dirty="0" smtClean="0">
                <a:solidFill>
                  <a:srgbClr val="FF0000"/>
                </a:solidFill>
              </a:rPr>
              <a:t>p</a:t>
            </a:r>
            <a:r>
              <a:rPr lang="en-US" altLang="en-US" sz="3200" baseline="-25000" dirty="0" smtClean="0">
                <a:solidFill>
                  <a:srgbClr val="FF0000"/>
                </a:solidFill>
              </a:rPr>
              <a:t>1</a:t>
            </a:r>
            <a:r>
              <a:rPr lang="en-US" altLang="en-US" sz="3200" i="1" dirty="0" smtClean="0">
                <a:solidFill>
                  <a:srgbClr val="FF0000"/>
                </a:solidFill>
              </a:rPr>
              <a:t>x</a:t>
            </a:r>
            <a:r>
              <a:rPr lang="en-US" altLang="en-US" sz="3200" baseline="-25000" dirty="0" smtClean="0">
                <a:solidFill>
                  <a:srgbClr val="FF0000"/>
                </a:solidFill>
              </a:rPr>
              <a:t>1 </a:t>
            </a:r>
            <a:r>
              <a:rPr lang="en-US" altLang="en-US" sz="3200" dirty="0" smtClean="0">
                <a:solidFill>
                  <a:srgbClr val="FF0000"/>
                </a:solidFill>
              </a:rPr>
              <a:t>-</a:t>
            </a:r>
            <a:r>
              <a:rPr lang="en-US" altLang="en-US" sz="3200" baseline="30000" dirty="0" smtClean="0">
                <a:solidFill>
                  <a:srgbClr val="FF0000"/>
                </a:solidFill>
              </a:rPr>
              <a:t> </a:t>
            </a:r>
            <a:r>
              <a:rPr lang="en-US" altLang="en-US" sz="3200" i="1" dirty="0" smtClean="0">
                <a:solidFill>
                  <a:srgbClr val="FF0000"/>
                </a:solidFill>
              </a:rPr>
              <a:t>p</a:t>
            </a:r>
            <a:r>
              <a:rPr lang="en-US" altLang="en-US" sz="3200" baseline="-25000" dirty="0" smtClean="0">
                <a:solidFill>
                  <a:srgbClr val="FF0000"/>
                </a:solidFill>
              </a:rPr>
              <a:t>2</a:t>
            </a:r>
            <a:r>
              <a:rPr lang="en-US" altLang="en-US" sz="3200" i="1" dirty="0" smtClean="0">
                <a:solidFill>
                  <a:srgbClr val="FF0000"/>
                </a:solidFill>
              </a:rPr>
              <a:t>x</a:t>
            </a:r>
            <a:r>
              <a:rPr lang="en-US" altLang="en-US" sz="3200" baseline="-25000" dirty="0" smtClean="0">
                <a:solidFill>
                  <a:srgbClr val="FF0000"/>
                </a:solidFill>
              </a:rPr>
              <a:t>2 </a:t>
            </a:r>
            <a:r>
              <a:rPr lang="en-US" altLang="en-US" sz="3200" dirty="0" smtClean="0">
                <a:solidFill>
                  <a:srgbClr val="FF0000"/>
                </a:solidFill>
              </a:rPr>
              <a:t>-…-</a:t>
            </a:r>
            <a:r>
              <a:rPr lang="en-US" altLang="en-US" sz="3200" baseline="-25000" dirty="0" smtClean="0">
                <a:solidFill>
                  <a:srgbClr val="FF0000"/>
                </a:solidFill>
              </a:rPr>
              <a:t> </a:t>
            </a:r>
            <a:r>
              <a:rPr lang="en-US" altLang="en-US" sz="3200" i="1" dirty="0" err="1" smtClean="0">
                <a:solidFill>
                  <a:srgbClr val="FF0000"/>
                </a:solidFill>
              </a:rPr>
              <a:t>p</a:t>
            </a:r>
            <a:r>
              <a:rPr lang="en-US" altLang="en-US" sz="3200" i="1" baseline="-25000" dirty="0" err="1" smtClean="0">
                <a:solidFill>
                  <a:srgbClr val="FF0000"/>
                </a:solidFill>
              </a:rPr>
              <a:t>n</a:t>
            </a:r>
            <a:r>
              <a:rPr lang="en-US" altLang="en-US" sz="3200" i="1" dirty="0" err="1" smtClean="0">
                <a:solidFill>
                  <a:srgbClr val="FF0000"/>
                </a:solidFill>
              </a:rPr>
              <a:t>x</a:t>
            </a:r>
            <a:r>
              <a:rPr lang="en-US" altLang="en-US" sz="3200" i="1" baseline="-25000" dirty="0" err="1" smtClean="0">
                <a:solidFill>
                  <a:srgbClr val="FF0000"/>
                </a:solidFill>
              </a:rPr>
              <a:t>n</a:t>
            </a:r>
            <a:r>
              <a:rPr lang="en-US" altLang="en-US" sz="3200" dirty="0" smtClean="0">
                <a:solidFill>
                  <a:srgbClr val="FF0000"/>
                </a:solidFill>
              </a:rPr>
              <a:t>)</a:t>
            </a:r>
            <a:endParaRPr lang="en-US" altLang="en-US" sz="3200" baseline="-25000" dirty="0" smtClean="0">
              <a:solidFill>
                <a:srgbClr val="FF0000"/>
              </a:solidFill>
            </a:endParaRPr>
          </a:p>
          <a:p>
            <a:endParaRPr lang="en-US" altLang="en-US"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9BC9681E-66E7-4918-BBDD-1AB320BDB3AB}" type="slidenum">
              <a:rPr lang="en-US" smtClean="0"/>
              <a:pPr>
                <a:defRPr/>
              </a:pPr>
              <a:t>13</a:t>
            </a:fld>
            <a:endParaRPr lang="en-US"/>
          </a:p>
        </p:txBody>
      </p:sp>
    </p:spTree>
    <p:extLst>
      <p:ext uri="{BB962C8B-B14F-4D97-AF65-F5344CB8AC3E}">
        <p14:creationId xmlns:p14="http://schemas.microsoft.com/office/powerpoint/2010/main" val="30541697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r>
              <a:rPr lang="en-US" altLang="en-US" smtClean="0"/>
              <a:t>The n-Good Case</a:t>
            </a:r>
          </a:p>
        </p:txBody>
      </p:sp>
      <p:sp>
        <p:nvSpPr>
          <p:cNvPr id="40963" name="Content Placeholder 2"/>
          <p:cNvSpPr>
            <a:spLocks noGrp="1"/>
          </p:cNvSpPr>
          <p:nvPr>
            <p:ph idx="1"/>
          </p:nvPr>
        </p:nvSpPr>
        <p:spPr/>
        <p:txBody>
          <a:bodyPr/>
          <a:lstStyle/>
          <a:p>
            <a:pPr>
              <a:lnSpc>
                <a:spcPct val="130000"/>
              </a:lnSpc>
            </a:pPr>
            <a:r>
              <a:rPr lang="en-US" altLang="en-US" dirty="0" smtClean="0"/>
              <a:t>First-order conditions for an interior maximum</a:t>
            </a:r>
          </a:p>
          <a:p>
            <a:pPr>
              <a:lnSpc>
                <a:spcPct val="140000"/>
              </a:lnSpc>
              <a:buFontTx/>
              <a:buNone/>
            </a:pPr>
            <a:r>
              <a:rPr lang="en-US" altLang="en-US" sz="3200" dirty="0" smtClean="0">
                <a:solidFill>
                  <a:srgbClr val="FF0000"/>
                </a:solidFill>
                <a:sym typeface="Symbol" pitchFamily="18" charset="2"/>
              </a:rPr>
              <a:t>		</a:t>
            </a:r>
            <a:r>
              <a:rPr lang="en-US" altLang="en-US" sz="3000" dirty="0" smtClean="0">
                <a:solidFill>
                  <a:srgbClr val="FF0000"/>
                </a:solidFill>
                <a:sym typeface="Symbol" pitchFamily="18" charset="2"/>
              </a:rPr>
              <a:t></a:t>
            </a:r>
            <a:r>
              <a:rPr lang="en-US" altLang="en-US" sz="3000" b="1" dirty="0" smtClean="0">
                <a:solidFill>
                  <a:srgbClr val="FF0000"/>
                </a:solidFill>
                <a:latin typeface="Arial Unicode MS" pitchFamily="34" charset="-128"/>
                <a:ea typeface="Arial Unicode MS" pitchFamily="34" charset="-128"/>
                <a:cs typeface="Arial Unicode MS" pitchFamily="34" charset="-128"/>
                <a:sym typeface="Symbol" pitchFamily="18" charset="2"/>
              </a:rPr>
              <a:t>ℒ</a:t>
            </a:r>
            <a:r>
              <a:rPr lang="en-US" altLang="en-US" sz="3000" dirty="0" smtClean="0">
                <a:solidFill>
                  <a:srgbClr val="FF0000"/>
                </a:solidFill>
                <a:sym typeface="Symbol" pitchFamily="18" charset="2"/>
              </a:rPr>
              <a:t>/</a:t>
            </a:r>
            <a:r>
              <a:rPr lang="en-US" altLang="en-US" sz="3000" i="1" dirty="0" smtClean="0">
                <a:solidFill>
                  <a:srgbClr val="FF0000"/>
                </a:solidFill>
                <a:sym typeface="Symbol" pitchFamily="18" charset="2"/>
              </a:rPr>
              <a:t>x</a:t>
            </a:r>
            <a:r>
              <a:rPr lang="en-US" altLang="en-US" sz="3000" baseline="-25000" dirty="0" smtClean="0">
                <a:solidFill>
                  <a:srgbClr val="FF0000"/>
                </a:solidFill>
                <a:sym typeface="Symbol" pitchFamily="18" charset="2"/>
              </a:rPr>
              <a:t>1</a:t>
            </a:r>
            <a:r>
              <a:rPr lang="en-US" altLang="en-US" sz="3000" dirty="0" smtClean="0">
                <a:solidFill>
                  <a:srgbClr val="FF0000"/>
                </a:solidFill>
                <a:sym typeface="Symbol" pitchFamily="18" charset="2"/>
              </a:rPr>
              <a:t> = </a:t>
            </a:r>
            <a:r>
              <a:rPr lang="en-US" altLang="en-US" sz="3000" i="1" dirty="0" smtClean="0">
                <a:solidFill>
                  <a:srgbClr val="FF0000"/>
                </a:solidFill>
                <a:sym typeface="Symbol" pitchFamily="18" charset="2"/>
              </a:rPr>
              <a:t>U</a:t>
            </a:r>
            <a:r>
              <a:rPr lang="en-US" altLang="en-US" sz="3000" dirty="0" smtClean="0">
                <a:solidFill>
                  <a:srgbClr val="FF0000"/>
                </a:solidFill>
                <a:sym typeface="Symbol" pitchFamily="18" charset="2"/>
              </a:rPr>
              <a:t>/</a:t>
            </a:r>
            <a:r>
              <a:rPr lang="en-US" altLang="en-US" sz="3000" i="1" dirty="0" smtClean="0">
                <a:solidFill>
                  <a:srgbClr val="FF0000"/>
                </a:solidFill>
                <a:sym typeface="Symbol" pitchFamily="18" charset="2"/>
              </a:rPr>
              <a:t>x</a:t>
            </a:r>
            <a:r>
              <a:rPr lang="en-US" altLang="en-US" sz="3000" baseline="-25000" dirty="0" smtClean="0">
                <a:solidFill>
                  <a:srgbClr val="FF0000"/>
                </a:solidFill>
                <a:sym typeface="Symbol" pitchFamily="18" charset="2"/>
              </a:rPr>
              <a:t>1</a:t>
            </a:r>
            <a:r>
              <a:rPr lang="en-US" altLang="en-US" sz="3000" dirty="0" smtClean="0">
                <a:solidFill>
                  <a:srgbClr val="FF0000"/>
                </a:solidFill>
                <a:sym typeface="Symbol" pitchFamily="18" charset="2"/>
              </a:rPr>
              <a:t> - </a:t>
            </a:r>
            <a:r>
              <a:rPr lang="en-US" altLang="en-US" sz="3000" i="1" dirty="0" smtClean="0">
                <a:solidFill>
                  <a:srgbClr val="FF0000"/>
                </a:solidFill>
                <a:sym typeface="Symbol" pitchFamily="18" charset="2"/>
              </a:rPr>
              <a:t>p</a:t>
            </a:r>
            <a:r>
              <a:rPr lang="en-US" altLang="en-US" sz="3000" baseline="-25000" dirty="0" smtClean="0">
                <a:solidFill>
                  <a:srgbClr val="FF0000"/>
                </a:solidFill>
                <a:sym typeface="Symbol" pitchFamily="18" charset="2"/>
              </a:rPr>
              <a:t>1</a:t>
            </a:r>
            <a:r>
              <a:rPr lang="en-US" altLang="en-US" sz="3000" dirty="0" smtClean="0">
                <a:solidFill>
                  <a:srgbClr val="FF0000"/>
                </a:solidFill>
                <a:sym typeface="Symbol" pitchFamily="18" charset="2"/>
              </a:rPr>
              <a:t> = 0</a:t>
            </a:r>
          </a:p>
          <a:p>
            <a:pPr>
              <a:lnSpc>
                <a:spcPct val="140000"/>
              </a:lnSpc>
              <a:buFontTx/>
              <a:buNone/>
            </a:pPr>
            <a:r>
              <a:rPr lang="en-US" altLang="en-US" sz="3000" dirty="0" smtClean="0">
                <a:solidFill>
                  <a:srgbClr val="FF0000"/>
                </a:solidFill>
                <a:sym typeface="Symbol" pitchFamily="18" charset="2"/>
              </a:rPr>
              <a:t>		</a:t>
            </a:r>
            <a:r>
              <a:rPr lang="en-US" altLang="en-US" sz="3000" b="1" dirty="0" smtClean="0">
                <a:solidFill>
                  <a:srgbClr val="FF0000"/>
                </a:solidFill>
                <a:latin typeface="Arial Unicode MS" pitchFamily="34" charset="-128"/>
                <a:ea typeface="Arial Unicode MS" pitchFamily="34" charset="-128"/>
                <a:cs typeface="Arial Unicode MS" pitchFamily="34" charset="-128"/>
                <a:sym typeface="Symbol" pitchFamily="18" charset="2"/>
              </a:rPr>
              <a:t>ℒ</a:t>
            </a:r>
            <a:r>
              <a:rPr lang="en-US" altLang="en-US" sz="3000" b="1" dirty="0" smtClean="0">
                <a:solidFill>
                  <a:srgbClr val="FF0000"/>
                </a:solidFill>
                <a:sym typeface="Symbol" pitchFamily="18" charset="2"/>
              </a:rPr>
              <a:t> </a:t>
            </a:r>
            <a:r>
              <a:rPr lang="en-US" altLang="en-US" sz="3000" dirty="0" smtClean="0">
                <a:solidFill>
                  <a:srgbClr val="FF0000"/>
                </a:solidFill>
                <a:sym typeface="Symbol" pitchFamily="18" charset="2"/>
              </a:rPr>
              <a:t>/</a:t>
            </a:r>
            <a:r>
              <a:rPr lang="en-US" altLang="en-US" sz="3000" i="1" dirty="0" smtClean="0">
                <a:solidFill>
                  <a:srgbClr val="FF0000"/>
                </a:solidFill>
                <a:sym typeface="Symbol" pitchFamily="18" charset="2"/>
              </a:rPr>
              <a:t>x</a:t>
            </a:r>
            <a:r>
              <a:rPr lang="en-US" altLang="en-US" sz="3000" baseline="-25000" dirty="0" smtClean="0">
                <a:solidFill>
                  <a:srgbClr val="FF0000"/>
                </a:solidFill>
                <a:sym typeface="Symbol" pitchFamily="18" charset="2"/>
              </a:rPr>
              <a:t>2</a:t>
            </a:r>
            <a:r>
              <a:rPr lang="en-US" altLang="en-US" sz="3000" dirty="0" smtClean="0">
                <a:solidFill>
                  <a:srgbClr val="FF0000"/>
                </a:solidFill>
                <a:sym typeface="Symbol" pitchFamily="18" charset="2"/>
              </a:rPr>
              <a:t> = </a:t>
            </a:r>
            <a:r>
              <a:rPr lang="en-US" altLang="en-US" sz="3000" i="1" dirty="0" smtClean="0">
                <a:solidFill>
                  <a:srgbClr val="FF0000"/>
                </a:solidFill>
                <a:sym typeface="Symbol" pitchFamily="18" charset="2"/>
              </a:rPr>
              <a:t>U</a:t>
            </a:r>
            <a:r>
              <a:rPr lang="en-US" altLang="en-US" sz="3000" dirty="0" smtClean="0">
                <a:solidFill>
                  <a:srgbClr val="FF0000"/>
                </a:solidFill>
                <a:sym typeface="Symbol" pitchFamily="18" charset="2"/>
              </a:rPr>
              <a:t>/</a:t>
            </a:r>
            <a:r>
              <a:rPr lang="en-US" altLang="en-US" sz="3000" i="1" dirty="0" smtClean="0">
                <a:solidFill>
                  <a:srgbClr val="FF0000"/>
                </a:solidFill>
                <a:sym typeface="Symbol" pitchFamily="18" charset="2"/>
              </a:rPr>
              <a:t>x</a:t>
            </a:r>
            <a:r>
              <a:rPr lang="en-US" altLang="en-US" sz="3000" baseline="-25000" dirty="0" smtClean="0">
                <a:solidFill>
                  <a:srgbClr val="FF0000"/>
                </a:solidFill>
                <a:sym typeface="Symbol" pitchFamily="18" charset="2"/>
              </a:rPr>
              <a:t>2</a:t>
            </a:r>
            <a:r>
              <a:rPr lang="en-US" altLang="en-US" sz="3000" dirty="0" smtClean="0">
                <a:solidFill>
                  <a:srgbClr val="FF0000"/>
                </a:solidFill>
                <a:sym typeface="Symbol" pitchFamily="18" charset="2"/>
              </a:rPr>
              <a:t> - </a:t>
            </a:r>
            <a:r>
              <a:rPr lang="en-US" altLang="en-US" sz="3000" i="1" dirty="0" smtClean="0">
                <a:solidFill>
                  <a:srgbClr val="FF0000"/>
                </a:solidFill>
                <a:sym typeface="Symbol" pitchFamily="18" charset="2"/>
              </a:rPr>
              <a:t>p</a:t>
            </a:r>
            <a:r>
              <a:rPr lang="en-US" altLang="en-US" sz="3000" baseline="-25000" dirty="0" smtClean="0">
                <a:solidFill>
                  <a:srgbClr val="FF0000"/>
                </a:solidFill>
                <a:sym typeface="Symbol" pitchFamily="18" charset="2"/>
              </a:rPr>
              <a:t>2</a:t>
            </a:r>
            <a:r>
              <a:rPr lang="en-US" altLang="en-US" sz="3000" dirty="0" smtClean="0">
                <a:solidFill>
                  <a:srgbClr val="FF0000"/>
                </a:solidFill>
                <a:sym typeface="Symbol" pitchFamily="18" charset="2"/>
              </a:rPr>
              <a:t> = 0</a:t>
            </a:r>
          </a:p>
          <a:p>
            <a:pPr>
              <a:lnSpc>
                <a:spcPct val="130000"/>
              </a:lnSpc>
              <a:buFontTx/>
              <a:buNone/>
            </a:pPr>
            <a:r>
              <a:rPr lang="en-US" altLang="en-US" sz="3000" dirty="0" smtClean="0">
                <a:solidFill>
                  <a:srgbClr val="FF0000"/>
                </a:solidFill>
              </a:rPr>
              <a:t>		…</a:t>
            </a:r>
          </a:p>
          <a:p>
            <a:pPr>
              <a:lnSpc>
                <a:spcPct val="140000"/>
              </a:lnSpc>
              <a:buFontTx/>
              <a:buNone/>
            </a:pPr>
            <a:r>
              <a:rPr lang="en-US" altLang="en-US" sz="3000" dirty="0" smtClean="0">
                <a:solidFill>
                  <a:srgbClr val="FF0000"/>
                </a:solidFill>
                <a:sym typeface="Symbol" pitchFamily="18" charset="2"/>
              </a:rPr>
              <a:t>		</a:t>
            </a:r>
            <a:r>
              <a:rPr lang="en-US" altLang="en-US" sz="3000" b="1" dirty="0" smtClean="0">
                <a:solidFill>
                  <a:srgbClr val="FF0000"/>
                </a:solidFill>
                <a:latin typeface="Arial Unicode MS" pitchFamily="34" charset="-128"/>
                <a:ea typeface="Arial Unicode MS" pitchFamily="34" charset="-128"/>
                <a:cs typeface="Arial Unicode MS" pitchFamily="34" charset="-128"/>
                <a:sym typeface="Symbol" pitchFamily="18" charset="2"/>
              </a:rPr>
              <a:t>ℒ</a:t>
            </a:r>
            <a:r>
              <a:rPr lang="en-US" altLang="en-US" sz="3000" b="1" dirty="0" smtClean="0">
                <a:solidFill>
                  <a:srgbClr val="FF0000"/>
                </a:solidFill>
                <a:sym typeface="Symbol" pitchFamily="18" charset="2"/>
              </a:rPr>
              <a:t> </a:t>
            </a:r>
            <a:r>
              <a:rPr lang="en-US" altLang="en-US" sz="3000" dirty="0" smtClean="0">
                <a:solidFill>
                  <a:srgbClr val="FF0000"/>
                </a:solidFill>
                <a:sym typeface="Symbol" pitchFamily="18" charset="2"/>
              </a:rPr>
              <a:t>/</a:t>
            </a:r>
            <a:r>
              <a:rPr lang="en-US" altLang="en-US" sz="3000" i="1" dirty="0" err="1" smtClean="0">
                <a:solidFill>
                  <a:srgbClr val="FF0000"/>
                </a:solidFill>
                <a:sym typeface="Symbol" pitchFamily="18" charset="2"/>
              </a:rPr>
              <a:t>x</a:t>
            </a:r>
            <a:r>
              <a:rPr lang="en-US" altLang="en-US" sz="3000" i="1" baseline="-25000" dirty="0" err="1" smtClean="0">
                <a:solidFill>
                  <a:srgbClr val="FF0000"/>
                </a:solidFill>
                <a:sym typeface="Symbol" pitchFamily="18" charset="2"/>
              </a:rPr>
              <a:t>n</a:t>
            </a:r>
            <a:r>
              <a:rPr lang="en-US" altLang="en-US" sz="3000" dirty="0" smtClean="0">
                <a:solidFill>
                  <a:srgbClr val="FF0000"/>
                </a:solidFill>
                <a:sym typeface="Symbol" pitchFamily="18" charset="2"/>
              </a:rPr>
              <a:t> = </a:t>
            </a:r>
            <a:r>
              <a:rPr lang="en-US" altLang="en-US" sz="3000" i="1" dirty="0" smtClean="0">
                <a:solidFill>
                  <a:srgbClr val="FF0000"/>
                </a:solidFill>
                <a:sym typeface="Symbol" pitchFamily="18" charset="2"/>
              </a:rPr>
              <a:t>U</a:t>
            </a:r>
            <a:r>
              <a:rPr lang="en-US" altLang="en-US" sz="3000" dirty="0" smtClean="0">
                <a:solidFill>
                  <a:srgbClr val="FF0000"/>
                </a:solidFill>
                <a:sym typeface="Symbol" pitchFamily="18" charset="2"/>
              </a:rPr>
              <a:t>/</a:t>
            </a:r>
            <a:r>
              <a:rPr lang="en-US" altLang="en-US" sz="3000" i="1" dirty="0" err="1" smtClean="0">
                <a:solidFill>
                  <a:srgbClr val="FF0000"/>
                </a:solidFill>
                <a:sym typeface="Symbol" pitchFamily="18" charset="2"/>
              </a:rPr>
              <a:t>x</a:t>
            </a:r>
            <a:r>
              <a:rPr lang="en-US" altLang="en-US" sz="3000" i="1" baseline="-25000" dirty="0" err="1" smtClean="0">
                <a:solidFill>
                  <a:srgbClr val="FF0000"/>
                </a:solidFill>
                <a:sym typeface="Symbol" pitchFamily="18" charset="2"/>
              </a:rPr>
              <a:t>n</a:t>
            </a:r>
            <a:r>
              <a:rPr lang="en-US" altLang="en-US" sz="3000" dirty="0" smtClean="0">
                <a:solidFill>
                  <a:srgbClr val="FF0000"/>
                </a:solidFill>
                <a:sym typeface="Symbol" pitchFamily="18" charset="2"/>
              </a:rPr>
              <a:t> - </a:t>
            </a:r>
            <a:r>
              <a:rPr lang="en-US" altLang="en-US" sz="3000" i="1" dirty="0" err="1" smtClean="0">
                <a:solidFill>
                  <a:srgbClr val="FF0000"/>
                </a:solidFill>
                <a:sym typeface="Symbol" pitchFamily="18" charset="2"/>
              </a:rPr>
              <a:t>p</a:t>
            </a:r>
            <a:r>
              <a:rPr lang="en-US" altLang="en-US" sz="3000" i="1" baseline="-25000" dirty="0" err="1" smtClean="0">
                <a:solidFill>
                  <a:srgbClr val="FF0000"/>
                </a:solidFill>
                <a:sym typeface="Symbol" pitchFamily="18" charset="2"/>
              </a:rPr>
              <a:t>n</a:t>
            </a:r>
            <a:r>
              <a:rPr lang="en-US" altLang="en-US" sz="3000" dirty="0" smtClean="0">
                <a:solidFill>
                  <a:srgbClr val="FF0000"/>
                </a:solidFill>
                <a:sym typeface="Symbol" pitchFamily="18" charset="2"/>
              </a:rPr>
              <a:t> = 0</a:t>
            </a:r>
          </a:p>
          <a:p>
            <a:pPr>
              <a:lnSpc>
                <a:spcPct val="140000"/>
              </a:lnSpc>
              <a:buFontTx/>
              <a:buNone/>
            </a:pPr>
            <a:r>
              <a:rPr lang="en-US" altLang="en-US" sz="3000" dirty="0" smtClean="0">
                <a:solidFill>
                  <a:srgbClr val="FF0000"/>
                </a:solidFill>
                <a:sym typeface="Symbol" pitchFamily="18" charset="2"/>
              </a:rPr>
              <a:t>		</a:t>
            </a:r>
            <a:r>
              <a:rPr lang="en-US" altLang="en-US" sz="3000" b="1" dirty="0" smtClean="0">
                <a:solidFill>
                  <a:srgbClr val="FF0000"/>
                </a:solidFill>
                <a:latin typeface="Arial Unicode MS" pitchFamily="34" charset="-128"/>
                <a:ea typeface="Arial Unicode MS" pitchFamily="34" charset="-128"/>
                <a:cs typeface="Arial Unicode MS" pitchFamily="34" charset="-128"/>
                <a:sym typeface="Symbol" pitchFamily="18" charset="2"/>
              </a:rPr>
              <a:t>ℒ</a:t>
            </a:r>
            <a:r>
              <a:rPr lang="en-US" altLang="en-US" sz="3000" b="1" dirty="0" smtClean="0">
                <a:solidFill>
                  <a:srgbClr val="FF0000"/>
                </a:solidFill>
                <a:sym typeface="Symbol" pitchFamily="18" charset="2"/>
              </a:rPr>
              <a:t> </a:t>
            </a:r>
            <a:r>
              <a:rPr lang="en-US" altLang="en-US" sz="3000" dirty="0" smtClean="0">
                <a:solidFill>
                  <a:srgbClr val="FF0000"/>
                </a:solidFill>
                <a:sym typeface="Symbol" pitchFamily="18" charset="2"/>
              </a:rPr>
              <a:t>/ = </a:t>
            </a:r>
            <a:r>
              <a:rPr lang="en-US" altLang="en-US" sz="3000" i="1" dirty="0" smtClean="0">
                <a:solidFill>
                  <a:srgbClr val="FF0000"/>
                </a:solidFill>
                <a:latin typeface="Verdana" pitchFamily="34" charset="0"/>
              </a:rPr>
              <a:t>I</a:t>
            </a:r>
            <a:r>
              <a:rPr lang="en-US" altLang="en-US" sz="3000" i="1" dirty="0" smtClean="0">
                <a:solidFill>
                  <a:srgbClr val="FF0000"/>
                </a:solidFill>
              </a:rPr>
              <a:t> </a:t>
            </a:r>
            <a:r>
              <a:rPr lang="en-US" altLang="en-US" sz="3000" dirty="0" smtClean="0">
                <a:solidFill>
                  <a:srgbClr val="FF0000"/>
                </a:solidFill>
              </a:rPr>
              <a:t>- </a:t>
            </a:r>
            <a:r>
              <a:rPr lang="en-US" altLang="en-US" sz="3000" i="1" dirty="0" smtClean="0">
                <a:solidFill>
                  <a:srgbClr val="FF0000"/>
                </a:solidFill>
              </a:rPr>
              <a:t>p</a:t>
            </a:r>
            <a:r>
              <a:rPr lang="en-US" altLang="en-US" sz="3000" baseline="-25000" dirty="0" smtClean="0">
                <a:solidFill>
                  <a:srgbClr val="FF0000"/>
                </a:solidFill>
              </a:rPr>
              <a:t>1</a:t>
            </a:r>
            <a:r>
              <a:rPr lang="en-US" altLang="en-US" sz="3000" i="1" dirty="0" smtClean="0">
                <a:solidFill>
                  <a:srgbClr val="FF0000"/>
                </a:solidFill>
              </a:rPr>
              <a:t>x</a:t>
            </a:r>
            <a:r>
              <a:rPr lang="en-US" altLang="en-US" sz="3000" baseline="-25000" dirty="0" smtClean="0">
                <a:solidFill>
                  <a:srgbClr val="FF0000"/>
                </a:solidFill>
              </a:rPr>
              <a:t>1</a:t>
            </a:r>
            <a:r>
              <a:rPr lang="en-US" altLang="en-US" sz="3000" dirty="0" smtClean="0">
                <a:solidFill>
                  <a:srgbClr val="FF0000"/>
                </a:solidFill>
              </a:rPr>
              <a:t> - </a:t>
            </a:r>
            <a:r>
              <a:rPr lang="en-US" altLang="en-US" sz="3000" i="1" dirty="0" smtClean="0">
                <a:solidFill>
                  <a:srgbClr val="FF0000"/>
                </a:solidFill>
              </a:rPr>
              <a:t>p</a:t>
            </a:r>
            <a:r>
              <a:rPr lang="en-US" altLang="en-US" sz="3000" baseline="-25000" dirty="0" smtClean="0">
                <a:solidFill>
                  <a:srgbClr val="FF0000"/>
                </a:solidFill>
              </a:rPr>
              <a:t>2</a:t>
            </a:r>
            <a:r>
              <a:rPr lang="en-US" altLang="en-US" sz="3000" i="1" dirty="0" smtClean="0">
                <a:solidFill>
                  <a:srgbClr val="FF0000"/>
                </a:solidFill>
              </a:rPr>
              <a:t>x</a:t>
            </a:r>
            <a:r>
              <a:rPr lang="en-US" altLang="en-US" sz="3000" baseline="-25000" dirty="0" smtClean="0">
                <a:solidFill>
                  <a:srgbClr val="FF0000"/>
                </a:solidFill>
              </a:rPr>
              <a:t>2</a:t>
            </a:r>
            <a:r>
              <a:rPr lang="en-US" altLang="en-US" sz="3000" dirty="0" smtClean="0">
                <a:solidFill>
                  <a:srgbClr val="FF0000"/>
                </a:solidFill>
              </a:rPr>
              <a:t> - … - </a:t>
            </a:r>
            <a:r>
              <a:rPr lang="en-US" altLang="en-US" sz="3000" i="1" dirty="0" err="1" smtClean="0">
                <a:solidFill>
                  <a:srgbClr val="FF0000"/>
                </a:solidFill>
              </a:rPr>
              <a:t>p</a:t>
            </a:r>
            <a:r>
              <a:rPr lang="en-US" altLang="en-US" sz="3000" i="1" baseline="-25000" dirty="0" err="1" smtClean="0">
                <a:solidFill>
                  <a:srgbClr val="FF0000"/>
                </a:solidFill>
              </a:rPr>
              <a:t>n</a:t>
            </a:r>
            <a:r>
              <a:rPr lang="en-US" altLang="en-US" sz="3000" i="1" dirty="0" err="1" smtClean="0">
                <a:solidFill>
                  <a:srgbClr val="FF0000"/>
                </a:solidFill>
              </a:rPr>
              <a:t>x</a:t>
            </a:r>
            <a:r>
              <a:rPr lang="en-US" altLang="en-US" sz="3000" i="1" baseline="-25000" dirty="0" err="1" smtClean="0">
                <a:solidFill>
                  <a:srgbClr val="FF0000"/>
                </a:solidFill>
              </a:rPr>
              <a:t>n</a:t>
            </a:r>
            <a:r>
              <a:rPr lang="en-US" altLang="en-US" sz="3000" dirty="0" smtClean="0">
                <a:solidFill>
                  <a:srgbClr val="FF0000"/>
                </a:solidFill>
                <a:sym typeface="Symbol" pitchFamily="18" charset="2"/>
              </a:rPr>
              <a:t> = 0</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37F9C58C-CFCB-4EB3-A235-82BDA024F147}" type="slidenum">
              <a:rPr lang="en-US" smtClean="0"/>
              <a:pPr>
                <a:defRPr/>
              </a:pPr>
              <a:t>14</a:t>
            </a:fld>
            <a:endParaRPr lang="en-US"/>
          </a:p>
        </p:txBody>
      </p:sp>
    </p:spTree>
    <p:extLst>
      <p:ext uri="{BB962C8B-B14F-4D97-AF65-F5344CB8AC3E}">
        <p14:creationId xmlns:p14="http://schemas.microsoft.com/office/powerpoint/2010/main" val="4626870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Title 1"/>
          <p:cNvSpPr>
            <a:spLocks noGrp="1"/>
          </p:cNvSpPr>
          <p:nvPr>
            <p:ph type="title"/>
          </p:nvPr>
        </p:nvSpPr>
        <p:spPr/>
        <p:txBody>
          <a:bodyPr/>
          <a:lstStyle/>
          <a:p>
            <a:r>
              <a:rPr lang="en-US" altLang="en-US" smtClean="0"/>
              <a:t>The n-Good Case</a:t>
            </a:r>
          </a:p>
        </p:txBody>
      </p:sp>
      <p:sp>
        <p:nvSpPr>
          <p:cNvPr id="3076" name="Content Placeholder 2"/>
          <p:cNvSpPr>
            <a:spLocks noGrp="1"/>
          </p:cNvSpPr>
          <p:nvPr>
            <p:ph idx="1"/>
          </p:nvPr>
        </p:nvSpPr>
        <p:spPr/>
        <p:txBody>
          <a:bodyPr/>
          <a:lstStyle/>
          <a:p>
            <a:pPr>
              <a:lnSpc>
                <a:spcPct val="130000"/>
              </a:lnSpc>
            </a:pPr>
            <a:r>
              <a:rPr lang="en-US" altLang="en-US" smtClean="0"/>
              <a:t>Implications of first-order conditions</a:t>
            </a:r>
          </a:p>
          <a:p>
            <a:pPr lvl="1">
              <a:lnSpc>
                <a:spcPct val="130000"/>
              </a:lnSpc>
            </a:pPr>
            <a:r>
              <a:rPr lang="en-US" altLang="en-US" smtClean="0"/>
              <a:t>For any two goods, x</a:t>
            </a:r>
            <a:r>
              <a:rPr lang="en-US" altLang="en-US" baseline="-25000" smtClean="0"/>
              <a:t>i</a:t>
            </a:r>
            <a:r>
              <a:rPr lang="en-US" altLang="en-US" smtClean="0"/>
              <a:t> and y</a:t>
            </a:r>
            <a:r>
              <a:rPr lang="en-US" altLang="en-US" baseline="-25000" smtClean="0"/>
              <a:t>j</a:t>
            </a:r>
            <a:r>
              <a:rPr lang="en-US" altLang="en-US" smtClean="0"/>
              <a:t>:</a:t>
            </a:r>
          </a:p>
          <a:p>
            <a:pPr>
              <a:lnSpc>
                <a:spcPct val="130000"/>
              </a:lnSpc>
            </a:pPr>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84B4670B-2F16-41D7-A1BC-6D77EA8DC6BC}" type="slidenum">
              <a:rPr lang="en-US" smtClean="0"/>
              <a:pPr>
                <a:defRPr/>
              </a:pPr>
              <a:t>15</a:t>
            </a:fld>
            <a:endParaRPr lang="en-US"/>
          </a:p>
        </p:txBody>
      </p:sp>
      <p:graphicFrame>
        <p:nvGraphicFramePr>
          <p:cNvPr id="50178" name="Object 2"/>
          <p:cNvGraphicFramePr>
            <a:graphicFrameLocks noChangeAspect="1"/>
          </p:cNvGraphicFramePr>
          <p:nvPr/>
        </p:nvGraphicFramePr>
        <p:xfrm>
          <a:off x="1198563" y="2708275"/>
          <a:ext cx="5680075" cy="1254125"/>
        </p:xfrm>
        <a:graphic>
          <a:graphicData uri="http://schemas.openxmlformats.org/presentationml/2006/ole">
            <mc:AlternateContent xmlns:mc="http://schemas.openxmlformats.org/markup-compatibility/2006">
              <mc:Choice xmlns:v="urn:schemas-microsoft-com:vml" Requires="v">
                <p:oleObj spid="_x0000_s131088" name="Equation" r:id="rId3" imgW="2006280" imgH="444240" progId="Equation.DSMT4">
                  <p:embed/>
                </p:oleObj>
              </mc:Choice>
              <mc:Fallback>
                <p:oleObj name="Equation" r:id="rId3" imgW="2006280" imgH="4442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8563" y="2708275"/>
                        <a:ext cx="5680075" cy="1254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8454065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0178"/>
                                        </p:tgtEl>
                                        <p:attrNameLst>
                                          <p:attrName>style.visibility</p:attrName>
                                        </p:attrNameLst>
                                      </p:cBhvr>
                                      <p:to>
                                        <p:strVal val="visible"/>
                                      </p:to>
                                    </p:set>
                                    <p:animEffect transition="in" filter="wipe(left)">
                                      <p:cBhvr>
                                        <p:cTn id="7" dur="500"/>
                                        <p:tgtEl>
                                          <p:spTgt spid="501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itle 1"/>
          <p:cNvSpPr>
            <a:spLocks noGrp="1"/>
          </p:cNvSpPr>
          <p:nvPr>
            <p:ph type="title"/>
          </p:nvPr>
        </p:nvSpPr>
        <p:spPr/>
        <p:txBody>
          <a:bodyPr/>
          <a:lstStyle/>
          <a:p>
            <a:r>
              <a:rPr lang="en-US" altLang="en-US" smtClean="0"/>
              <a:t>The n-Good Case</a:t>
            </a:r>
          </a:p>
        </p:txBody>
      </p:sp>
      <p:sp>
        <p:nvSpPr>
          <p:cNvPr id="4100" name="Content Placeholder 2"/>
          <p:cNvSpPr>
            <a:spLocks noGrp="1"/>
          </p:cNvSpPr>
          <p:nvPr>
            <p:ph idx="1"/>
          </p:nvPr>
        </p:nvSpPr>
        <p:spPr/>
        <p:txBody>
          <a:bodyPr/>
          <a:lstStyle/>
          <a:p>
            <a:pPr>
              <a:lnSpc>
                <a:spcPct val="130000"/>
              </a:lnSpc>
            </a:pPr>
            <a:r>
              <a:rPr lang="en-US" altLang="en-US" smtClean="0"/>
              <a:t>Interpreting the Lagrange multiplier</a:t>
            </a:r>
          </a:p>
          <a:p>
            <a:pPr lvl="1"/>
            <a:r>
              <a:rPr lang="en-US" altLang="en-US" smtClean="0">
                <a:sym typeface="Symbol" pitchFamily="18" charset="2"/>
              </a:rPr>
              <a:t> is the marginal utility of an extra dollar of consumption expenditure</a:t>
            </a:r>
          </a:p>
          <a:p>
            <a:pPr lvl="2"/>
            <a:r>
              <a:rPr lang="en-US" altLang="en-US" smtClean="0"/>
              <a:t>The marginal utility of income</a:t>
            </a:r>
          </a:p>
          <a:p>
            <a:pPr>
              <a:lnSpc>
                <a:spcPct val="130000"/>
              </a:lnSpc>
            </a:pPr>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10E23E40-A5A0-4312-AAED-2258DE0C1D37}" type="slidenum">
              <a:rPr lang="en-US" smtClean="0"/>
              <a:pPr>
                <a:defRPr/>
              </a:pPr>
              <a:t>16</a:t>
            </a:fld>
            <a:endParaRPr lang="en-US"/>
          </a:p>
        </p:txBody>
      </p:sp>
      <p:graphicFrame>
        <p:nvGraphicFramePr>
          <p:cNvPr id="51204" name="Object 4"/>
          <p:cNvGraphicFramePr>
            <a:graphicFrameLocks noChangeAspect="1"/>
          </p:cNvGraphicFramePr>
          <p:nvPr>
            <p:extLst>
              <p:ext uri="{D42A27DB-BD31-4B8C-83A1-F6EECF244321}">
                <p14:modId xmlns:p14="http://schemas.microsoft.com/office/powerpoint/2010/main" val="1724963697"/>
              </p:ext>
            </p:extLst>
          </p:nvPr>
        </p:nvGraphicFramePr>
        <p:xfrm>
          <a:off x="842168" y="3699408"/>
          <a:ext cx="7459663" cy="1329792"/>
        </p:xfrm>
        <a:graphic>
          <a:graphicData uri="http://schemas.openxmlformats.org/presentationml/2006/ole">
            <mc:AlternateContent xmlns:mc="http://schemas.openxmlformats.org/markup-compatibility/2006">
              <mc:Choice xmlns:v="urn:schemas-microsoft-com:vml" Requires="v">
                <p:oleObj spid="_x0000_s132113" name="Equation" r:id="rId3" imgW="2412720" imgH="431640" progId="Equation.DSMT4">
                  <p:embed/>
                </p:oleObj>
              </mc:Choice>
              <mc:Fallback>
                <p:oleObj name="Equation" r:id="rId3" imgW="2412720" imgH="4316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2168" y="3699408"/>
                        <a:ext cx="7459663" cy="1329792"/>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0171101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1204"/>
                                        </p:tgtEl>
                                        <p:attrNameLst>
                                          <p:attrName>style.visibility</p:attrName>
                                        </p:attrNameLst>
                                      </p:cBhvr>
                                      <p:to>
                                        <p:strVal val="visible"/>
                                      </p:to>
                                    </p:set>
                                    <p:animEffect transition="in" filter="wipe(left)">
                                      <p:cBhvr>
                                        <p:cTn id="7" dur="500"/>
                                        <p:tgtEl>
                                          <p:spTgt spid="51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itle 1"/>
          <p:cNvSpPr>
            <a:spLocks noGrp="1"/>
          </p:cNvSpPr>
          <p:nvPr>
            <p:ph type="title"/>
          </p:nvPr>
        </p:nvSpPr>
        <p:spPr/>
        <p:txBody>
          <a:bodyPr/>
          <a:lstStyle/>
          <a:p>
            <a:r>
              <a:rPr lang="en-US" altLang="en-US" smtClean="0"/>
              <a:t>The n-Good Case</a:t>
            </a:r>
          </a:p>
        </p:txBody>
      </p:sp>
      <p:sp>
        <p:nvSpPr>
          <p:cNvPr id="5124" name="Content Placeholder 2"/>
          <p:cNvSpPr>
            <a:spLocks noGrp="1"/>
          </p:cNvSpPr>
          <p:nvPr>
            <p:ph idx="1"/>
          </p:nvPr>
        </p:nvSpPr>
        <p:spPr/>
        <p:txBody>
          <a:bodyPr/>
          <a:lstStyle/>
          <a:p>
            <a:r>
              <a:rPr lang="en-US" altLang="en-US" smtClean="0">
                <a:sym typeface="Symbol" pitchFamily="18" charset="2"/>
              </a:rPr>
              <a:t>At the margin, the price of a good</a:t>
            </a:r>
          </a:p>
          <a:p>
            <a:pPr lvl="1"/>
            <a:r>
              <a:rPr lang="en-US" altLang="en-US" smtClean="0">
                <a:sym typeface="Symbol" pitchFamily="18" charset="2"/>
              </a:rPr>
              <a:t>Represents the consumer’s evaluation of the utility of the last unit consumed</a:t>
            </a:r>
          </a:p>
          <a:p>
            <a:pPr lvl="1"/>
            <a:r>
              <a:rPr lang="en-US" altLang="en-US" smtClean="0"/>
              <a:t>How much the consumer is willing to pay for the last unit</a:t>
            </a:r>
          </a:p>
          <a:p>
            <a:pPr>
              <a:lnSpc>
                <a:spcPct val="130000"/>
              </a:lnSpc>
            </a:pPr>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41093CFB-6CC6-4204-A7FB-B9F31246FFB7}" type="slidenum">
              <a:rPr lang="en-US" smtClean="0"/>
              <a:pPr>
                <a:defRPr/>
              </a:pPr>
              <a:t>17</a:t>
            </a:fld>
            <a:endParaRPr lang="en-US"/>
          </a:p>
        </p:txBody>
      </p:sp>
      <p:graphicFrame>
        <p:nvGraphicFramePr>
          <p:cNvPr id="51204" name="Object 2"/>
          <p:cNvGraphicFramePr>
            <a:graphicFrameLocks noChangeAspect="1"/>
          </p:cNvGraphicFramePr>
          <p:nvPr/>
        </p:nvGraphicFramePr>
        <p:xfrm>
          <a:off x="1222375" y="4154488"/>
          <a:ext cx="5000625" cy="1235075"/>
        </p:xfrm>
        <a:graphic>
          <a:graphicData uri="http://schemas.openxmlformats.org/presentationml/2006/ole">
            <mc:AlternateContent xmlns:mc="http://schemas.openxmlformats.org/markup-compatibility/2006">
              <mc:Choice xmlns:v="urn:schemas-microsoft-com:vml" Requires="v">
                <p:oleObj spid="_x0000_s133136" name="Equation" r:id="rId3" imgW="1587240" imgH="393480" progId="Equation.DSMT4">
                  <p:embed/>
                </p:oleObj>
              </mc:Choice>
              <mc:Fallback>
                <p:oleObj name="Equation" r:id="rId3" imgW="1587240" imgH="3934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2375" y="4154488"/>
                        <a:ext cx="5000625" cy="1235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262222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1204"/>
                                        </p:tgtEl>
                                        <p:attrNameLst>
                                          <p:attrName>style.visibility</p:attrName>
                                        </p:attrNameLst>
                                      </p:cBhvr>
                                      <p:to>
                                        <p:strVal val="visible"/>
                                      </p:to>
                                    </p:set>
                                    <p:animEffect transition="in" filter="wipe(left)">
                                      <p:cBhvr>
                                        <p:cTn id="7" dur="500"/>
                                        <p:tgtEl>
                                          <p:spTgt spid="51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itle 1"/>
          <p:cNvSpPr>
            <a:spLocks noGrp="1"/>
          </p:cNvSpPr>
          <p:nvPr>
            <p:ph type="title"/>
          </p:nvPr>
        </p:nvSpPr>
        <p:spPr/>
        <p:txBody>
          <a:bodyPr/>
          <a:lstStyle/>
          <a:p>
            <a:r>
              <a:rPr lang="en-US" altLang="en-US" smtClean="0"/>
              <a:t>The n-Good Case</a:t>
            </a:r>
          </a:p>
        </p:txBody>
      </p:sp>
      <p:sp>
        <p:nvSpPr>
          <p:cNvPr id="6148" name="Content Placeholder 2"/>
          <p:cNvSpPr>
            <a:spLocks noGrp="1"/>
          </p:cNvSpPr>
          <p:nvPr>
            <p:ph idx="1"/>
          </p:nvPr>
        </p:nvSpPr>
        <p:spPr/>
        <p:txBody>
          <a:bodyPr/>
          <a:lstStyle/>
          <a:p>
            <a:r>
              <a:rPr lang="en-US" altLang="en-US" dirty="0" smtClean="0">
                <a:sym typeface="Symbol" pitchFamily="18" charset="2"/>
              </a:rPr>
              <a:t>Corner solutions</a:t>
            </a:r>
            <a:endParaRPr lang="en-US" altLang="en-US" dirty="0" smtClean="0"/>
          </a:p>
          <a:p>
            <a:pPr lvl="1"/>
            <a:r>
              <a:rPr lang="en-US" altLang="en-US" dirty="0" smtClean="0"/>
              <a:t>Means that the first-order conditions must be modified:</a:t>
            </a:r>
          </a:p>
          <a:p>
            <a:pPr algn="ctr">
              <a:lnSpc>
                <a:spcPct val="120000"/>
              </a:lnSpc>
              <a:buFontTx/>
              <a:buNone/>
            </a:pPr>
            <a:r>
              <a:rPr lang="en-US" altLang="en-US" sz="3200" dirty="0" smtClean="0">
                <a:solidFill>
                  <a:srgbClr val="FF0000"/>
                </a:solidFill>
                <a:sym typeface="Symbol" pitchFamily="18" charset="2"/>
              </a:rPr>
              <a:t></a:t>
            </a:r>
            <a:r>
              <a:rPr lang="en-US" altLang="en-US" sz="3200" b="1" dirty="0" smtClean="0">
                <a:solidFill>
                  <a:srgbClr val="FF0000"/>
                </a:solidFill>
                <a:latin typeface="Arial Unicode MS" pitchFamily="34" charset="-128"/>
                <a:ea typeface="Arial Unicode MS" pitchFamily="34" charset="-128"/>
                <a:cs typeface="Arial Unicode MS" pitchFamily="34" charset="-128"/>
              </a:rPr>
              <a:t>ℒ</a:t>
            </a:r>
            <a:r>
              <a:rPr lang="en-US" altLang="en-US" sz="3200" dirty="0" smtClean="0">
                <a:solidFill>
                  <a:srgbClr val="FF0000"/>
                </a:solidFill>
                <a:sym typeface="Symbol" pitchFamily="18" charset="2"/>
              </a:rPr>
              <a:t>/</a:t>
            </a:r>
            <a:r>
              <a:rPr lang="en-US" altLang="en-US" sz="3200" i="1" dirty="0" smtClean="0">
                <a:solidFill>
                  <a:srgbClr val="FF0000"/>
                </a:solidFill>
                <a:sym typeface="Symbol" pitchFamily="18" charset="2"/>
              </a:rPr>
              <a:t>x</a:t>
            </a:r>
            <a:r>
              <a:rPr lang="en-US" altLang="en-US" sz="3200" i="1" baseline="-25000" dirty="0" smtClean="0">
                <a:solidFill>
                  <a:srgbClr val="FF0000"/>
                </a:solidFill>
                <a:sym typeface="Symbol" pitchFamily="18" charset="2"/>
              </a:rPr>
              <a:t>i</a:t>
            </a:r>
            <a:r>
              <a:rPr lang="en-US" altLang="en-US" sz="3200" dirty="0" smtClean="0">
                <a:solidFill>
                  <a:srgbClr val="FF0000"/>
                </a:solidFill>
                <a:sym typeface="Symbol" pitchFamily="18" charset="2"/>
              </a:rPr>
              <a:t> = </a:t>
            </a:r>
            <a:r>
              <a:rPr lang="en-US" altLang="en-US" sz="3200" i="1" dirty="0" smtClean="0">
                <a:solidFill>
                  <a:srgbClr val="FF0000"/>
                </a:solidFill>
                <a:sym typeface="Symbol" pitchFamily="18" charset="2"/>
              </a:rPr>
              <a:t>U</a:t>
            </a:r>
            <a:r>
              <a:rPr lang="en-US" altLang="en-US" sz="3200" dirty="0" smtClean="0">
                <a:solidFill>
                  <a:srgbClr val="FF0000"/>
                </a:solidFill>
                <a:sym typeface="Symbol" pitchFamily="18" charset="2"/>
              </a:rPr>
              <a:t>/</a:t>
            </a:r>
            <a:r>
              <a:rPr lang="en-US" altLang="en-US" sz="3200" i="1" dirty="0" smtClean="0">
                <a:solidFill>
                  <a:srgbClr val="FF0000"/>
                </a:solidFill>
                <a:sym typeface="Symbol" pitchFamily="18" charset="2"/>
              </a:rPr>
              <a:t>x</a:t>
            </a:r>
            <a:r>
              <a:rPr lang="en-US" altLang="en-US" sz="3200" i="1" baseline="-25000" dirty="0" smtClean="0">
                <a:solidFill>
                  <a:srgbClr val="FF0000"/>
                </a:solidFill>
                <a:sym typeface="Symbol" pitchFamily="18" charset="2"/>
              </a:rPr>
              <a:t>i</a:t>
            </a:r>
            <a:r>
              <a:rPr lang="en-US" altLang="en-US" sz="3200" dirty="0" smtClean="0">
                <a:solidFill>
                  <a:srgbClr val="FF0000"/>
                </a:solidFill>
                <a:sym typeface="Symbol" pitchFamily="18" charset="2"/>
              </a:rPr>
              <a:t> - </a:t>
            </a:r>
            <a:r>
              <a:rPr lang="en-US" altLang="en-US" sz="3200" i="1" dirty="0" smtClean="0">
                <a:solidFill>
                  <a:srgbClr val="FF0000"/>
                </a:solidFill>
                <a:sym typeface="Symbol" pitchFamily="18" charset="2"/>
              </a:rPr>
              <a:t>p</a:t>
            </a:r>
            <a:r>
              <a:rPr lang="en-US" altLang="en-US" sz="3200" i="1" baseline="-25000" dirty="0" smtClean="0">
                <a:solidFill>
                  <a:srgbClr val="FF0000"/>
                </a:solidFill>
                <a:sym typeface="Symbol" pitchFamily="18" charset="2"/>
              </a:rPr>
              <a:t>i</a:t>
            </a:r>
            <a:r>
              <a:rPr lang="en-US" altLang="en-US" sz="3200" dirty="0" smtClean="0">
                <a:solidFill>
                  <a:srgbClr val="FF0000"/>
                </a:solidFill>
                <a:sym typeface="Symbol" pitchFamily="18" charset="2"/>
              </a:rPr>
              <a:t>  0  (</a:t>
            </a:r>
            <a:r>
              <a:rPr lang="en-US" altLang="en-US" sz="3200" i="1" dirty="0" err="1" smtClean="0">
                <a:solidFill>
                  <a:srgbClr val="FF0000"/>
                </a:solidFill>
                <a:sym typeface="Symbol" pitchFamily="18" charset="2"/>
              </a:rPr>
              <a:t>i</a:t>
            </a:r>
            <a:r>
              <a:rPr lang="en-US" altLang="en-US" sz="3200" dirty="0" smtClean="0">
                <a:solidFill>
                  <a:srgbClr val="FF0000"/>
                </a:solidFill>
                <a:sym typeface="Symbol" pitchFamily="18" charset="2"/>
              </a:rPr>
              <a:t> = 1,…,</a:t>
            </a:r>
            <a:r>
              <a:rPr lang="en-US" altLang="en-US" sz="3200" i="1" dirty="0" smtClean="0">
                <a:solidFill>
                  <a:srgbClr val="FF0000"/>
                </a:solidFill>
                <a:sym typeface="Symbol" pitchFamily="18" charset="2"/>
              </a:rPr>
              <a:t>n</a:t>
            </a:r>
            <a:r>
              <a:rPr lang="en-US" altLang="en-US" sz="3200" dirty="0" smtClean="0">
                <a:solidFill>
                  <a:srgbClr val="FF0000"/>
                </a:solidFill>
                <a:sym typeface="Symbol" pitchFamily="18" charset="2"/>
              </a:rPr>
              <a:t>)</a:t>
            </a:r>
          </a:p>
          <a:p>
            <a:pPr lvl="1">
              <a:lnSpc>
                <a:spcPct val="120000"/>
              </a:lnSpc>
            </a:pPr>
            <a:r>
              <a:rPr lang="en-US" altLang="en-US" dirty="0" smtClean="0">
                <a:sym typeface="Symbol" pitchFamily="18" charset="2"/>
              </a:rPr>
              <a:t>If </a:t>
            </a:r>
            <a:r>
              <a:rPr lang="en-US" altLang="en-US" dirty="0" smtClean="0">
                <a:solidFill>
                  <a:srgbClr val="FF0000"/>
                </a:solidFill>
                <a:sym typeface="Symbol" pitchFamily="18" charset="2"/>
              </a:rPr>
              <a:t></a:t>
            </a:r>
            <a:r>
              <a:rPr lang="en-US" altLang="en-US" b="1" dirty="0" smtClean="0">
                <a:solidFill>
                  <a:srgbClr val="FF0000"/>
                </a:solidFill>
                <a:latin typeface="Arial Unicode MS" pitchFamily="34" charset="-128"/>
                <a:ea typeface="Arial Unicode MS" pitchFamily="34" charset="-128"/>
                <a:cs typeface="Arial Unicode MS" pitchFamily="34" charset="-128"/>
              </a:rPr>
              <a:t>ℒ</a:t>
            </a:r>
            <a:r>
              <a:rPr lang="en-US" altLang="en-US" dirty="0" smtClean="0">
                <a:solidFill>
                  <a:srgbClr val="FF0000"/>
                </a:solidFill>
                <a:sym typeface="Symbol" pitchFamily="18" charset="2"/>
              </a:rPr>
              <a:t>/</a:t>
            </a:r>
            <a:r>
              <a:rPr lang="en-US" altLang="en-US" i="1" dirty="0" smtClean="0">
                <a:solidFill>
                  <a:srgbClr val="FF0000"/>
                </a:solidFill>
                <a:sym typeface="Symbol" pitchFamily="18" charset="2"/>
              </a:rPr>
              <a:t>x</a:t>
            </a:r>
            <a:r>
              <a:rPr lang="en-US" altLang="en-US" i="1" baseline="-25000" dirty="0" smtClean="0">
                <a:solidFill>
                  <a:srgbClr val="FF0000"/>
                </a:solidFill>
                <a:sym typeface="Symbol" pitchFamily="18" charset="2"/>
              </a:rPr>
              <a:t>i</a:t>
            </a:r>
            <a:r>
              <a:rPr lang="en-US" altLang="en-US" dirty="0" smtClean="0">
                <a:solidFill>
                  <a:srgbClr val="FF0000"/>
                </a:solidFill>
                <a:sym typeface="Symbol" pitchFamily="18" charset="2"/>
              </a:rPr>
              <a:t> = </a:t>
            </a:r>
            <a:r>
              <a:rPr lang="en-US" altLang="en-US" i="1" dirty="0" smtClean="0">
                <a:solidFill>
                  <a:srgbClr val="FF0000"/>
                </a:solidFill>
                <a:sym typeface="Symbol" pitchFamily="18" charset="2"/>
              </a:rPr>
              <a:t>U</a:t>
            </a:r>
            <a:r>
              <a:rPr lang="en-US" altLang="en-US" dirty="0" smtClean="0">
                <a:solidFill>
                  <a:srgbClr val="FF0000"/>
                </a:solidFill>
                <a:sym typeface="Symbol" pitchFamily="18" charset="2"/>
              </a:rPr>
              <a:t>/</a:t>
            </a:r>
            <a:r>
              <a:rPr lang="en-US" altLang="en-US" i="1" dirty="0" smtClean="0">
                <a:solidFill>
                  <a:srgbClr val="FF0000"/>
                </a:solidFill>
                <a:sym typeface="Symbol" pitchFamily="18" charset="2"/>
              </a:rPr>
              <a:t>x</a:t>
            </a:r>
            <a:r>
              <a:rPr lang="en-US" altLang="en-US" i="1" baseline="-25000" dirty="0" smtClean="0">
                <a:solidFill>
                  <a:srgbClr val="FF0000"/>
                </a:solidFill>
                <a:sym typeface="Symbol" pitchFamily="18" charset="2"/>
              </a:rPr>
              <a:t>i</a:t>
            </a:r>
            <a:r>
              <a:rPr lang="en-US" altLang="en-US" dirty="0" smtClean="0">
                <a:solidFill>
                  <a:srgbClr val="FF0000"/>
                </a:solidFill>
                <a:sym typeface="Symbol" pitchFamily="18" charset="2"/>
              </a:rPr>
              <a:t> - </a:t>
            </a:r>
            <a:r>
              <a:rPr lang="en-US" altLang="en-US" i="1" dirty="0" smtClean="0">
                <a:solidFill>
                  <a:srgbClr val="FF0000"/>
                </a:solidFill>
                <a:sym typeface="Symbol" pitchFamily="18" charset="2"/>
              </a:rPr>
              <a:t>p</a:t>
            </a:r>
            <a:r>
              <a:rPr lang="en-US" altLang="en-US" i="1" baseline="-25000" dirty="0" smtClean="0">
                <a:solidFill>
                  <a:srgbClr val="FF0000"/>
                </a:solidFill>
                <a:sym typeface="Symbol" pitchFamily="18" charset="2"/>
              </a:rPr>
              <a:t>i</a:t>
            </a:r>
            <a:r>
              <a:rPr lang="en-US" altLang="en-US" dirty="0" smtClean="0">
                <a:solidFill>
                  <a:srgbClr val="FF0000"/>
                </a:solidFill>
                <a:sym typeface="Symbol" pitchFamily="18" charset="2"/>
              </a:rPr>
              <a:t> &lt; 0</a:t>
            </a:r>
            <a:r>
              <a:rPr lang="en-US" altLang="en-US" dirty="0" smtClean="0">
                <a:sym typeface="Symbol" pitchFamily="18" charset="2"/>
              </a:rPr>
              <a:t>, then </a:t>
            </a:r>
            <a:r>
              <a:rPr lang="en-US" altLang="en-US" i="1" dirty="0" smtClean="0">
                <a:solidFill>
                  <a:srgbClr val="FF0000"/>
                </a:solidFill>
                <a:sym typeface="Symbol" pitchFamily="18" charset="2"/>
              </a:rPr>
              <a:t>x</a:t>
            </a:r>
            <a:r>
              <a:rPr lang="en-US" altLang="en-US" i="1" baseline="-25000" dirty="0" smtClean="0">
                <a:solidFill>
                  <a:srgbClr val="FF0000"/>
                </a:solidFill>
                <a:sym typeface="Symbol" pitchFamily="18" charset="2"/>
              </a:rPr>
              <a:t>i</a:t>
            </a:r>
            <a:r>
              <a:rPr lang="en-US" altLang="en-US" dirty="0" smtClean="0">
                <a:solidFill>
                  <a:srgbClr val="FF0000"/>
                </a:solidFill>
                <a:sym typeface="Symbol" pitchFamily="18" charset="2"/>
              </a:rPr>
              <a:t> = 0</a:t>
            </a:r>
          </a:p>
          <a:p>
            <a:pPr lvl="1">
              <a:lnSpc>
                <a:spcPct val="120000"/>
              </a:lnSpc>
            </a:pPr>
            <a:r>
              <a:rPr lang="en-US" altLang="en-US" dirty="0" smtClean="0">
                <a:sym typeface="Symbol" pitchFamily="18" charset="2"/>
              </a:rPr>
              <a:t>This means that</a:t>
            </a:r>
          </a:p>
          <a:p>
            <a:pPr>
              <a:lnSpc>
                <a:spcPct val="130000"/>
              </a:lnSpc>
            </a:pPr>
            <a:endParaRPr lang="en-US" altLang="en-US"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4D6EF511-7B82-48C4-9B51-E980B5A81AC0}" type="slidenum">
              <a:rPr lang="en-US" smtClean="0"/>
              <a:pPr>
                <a:defRPr/>
              </a:pPr>
              <a:t>18</a:t>
            </a:fld>
            <a:endParaRPr lang="en-US"/>
          </a:p>
        </p:txBody>
      </p:sp>
      <p:sp>
        <p:nvSpPr>
          <p:cNvPr id="2" name="Text Placeholder 1"/>
          <p:cNvSpPr>
            <a:spLocks noGrp="1"/>
          </p:cNvSpPr>
          <p:nvPr>
            <p:ph type="body" sz="quarter" idx="12"/>
          </p:nvPr>
        </p:nvSpPr>
        <p:spPr>
          <a:xfrm>
            <a:off x="381000" y="5181600"/>
            <a:ext cx="8534400" cy="1066800"/>
          </a:xfrm>
        </p:spPr>
        <p:txBody>
          <a:bodyPr/>
          <a:lstStyle/>
          <a:p>
            <a:pPr lvl="1"/>
            <a:r>
              <a:rPr lang="en-US" dirty="0"/>
              <a:t>any good whose price exceeds its marginal value to the consumer will not be </a:t>
            </a:r>
            <a:r>
              <a:rPr lang="en-US" dirty="0" smtClean="0"/>
              <a:t>purchased</a:t>
            </a:r>
            <a:endParaRPr lang="en-US" dirty="0"/>
          </a:p>
        </p:txBody>
      </p:sp>
      <p:graphicFrame>
        <p:nvGraphicFramePr>
          <p:cNvPr id="7" name="Object 3"/>
          <p:cNvGraphicFramePr>
            <a:graphicFrameLocks noChangeAspect="1"/>
          </p:cNvGraphicFramePr>
          <p:nvPr>
            <p:extLst>
              <p:ext uri="{D42A27DB-BD31-4B8C-83A1-F6EECF244321}">
                <p14:modId xmlns:p14="http://schemas.microsoft.com/office/powerpoint/2010/main" val="3545488456"/>
              </p:ext>
            </p:extLst>
          </p:nvPr>
        </p:nvGraphicFramePr>
        <p:xfrm>
          <a:off x="4191000" y="4267200"/>
          <a:ext cx="2105025" cy="976312"/>
        </p:xfrm>
        <a:graphic>
          <a:graphicData uri="http://schemas.openxmlformats.org/presentationml/2006/ole">
            <mc:AlternateContent xmlns:mc="http://schemas.openxmlformats.org/markup-compatibility/2006">
              <mc:Choice xmlns:v="urn:schemas-microsoft-com:vml" Requires="v">
                <p:oleObj spid="_x0000_s134161" name="Equation" r:id="rId3" imgW="876240" imgH="406080" progId="Equation.DSMT4">
                  <p:embed/>
                </p:oleObj>
              </mc:Choice>
              <mc:Fallback>
                <p:oleObj name="Equation" r:id="rId3" imgW="876240" imgH="406080" progId="Equation.DSMT4">
                  <p:embed/>
                  <p:pic>
                    <p:nvPicPr>
                      <p:cNvPr id="0" name=""/>
                      <p:cNvPicPr>
                        <a:picLocks noChangeAspect="1" noChangeArrowheads="1"/>
                      </p:cNvPicPr>
                      <p:nvPr/>
                    </p:nvPicPr>
                    <p:blipFill>
                      <a:blip r:embed="rId4"/>
                      <a:srcRect/>
                      <a:stretch>
                        <a:fillRect/>
                      </a:stretch>
                    </p:blipFill>
                    <p:spPr bwMode="auto">
                      <a:xfrm>
                        <a:off x="4191000" y="4267200"/>
                        <a:ext cx="2105025" cy="976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1893912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4.1 	Cobb–Douglas Demand Functions</a:t>
            </a:r>
          </a:p>
        </p:txBody>
      </p:sp>
      <p:sp>
        <p:nvSpPr>
          <p:cNvPr id="41989"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32ED3246-6AD5-47EA-879C-0E0B35D22551}" type="slidenum">
              <a:rPr lang="en-US" smtClean="0"/>
              <a:pPr>
                <a:defRPr/>
              </a:pPr>
              <a:t>19</a:t>
            </a:fld>
            <a:endParaRPr lang="en-US" dirty="0"/>
          </a:p>
        </p:txBody>
      </p:sp>
      <p:sp>
        <p:nvSpPr>
          <p:cNvPr id="41987" name="Content Placeholder 2"/>
          <p:cNvSpPr>
            <a:spLocks noGrp="1"/>
          </p:cNvSpPr>
          <p:nvPr>
            <p:ph type="body" sz="quarter" idx="12"/>
          </p:nvPr>
        </p:nvSpPr>
        <p:spPr>
          <a:prstGeom prst="rect">
            <a:avLst/>
          </a:prstGeom>
        </p:spPr>
        <p:txBody>
          <a:bodyPr/>
          <a:lstStyle/>
          <a:p>
            <a:r>
              <a:rPr lang="en-US" altLang="en-US" dirty="0" smtClean="0"/>
              <a:t>Cobb-Douglas utility function:</a:t>
            </a:r>
          </a:p>
          <a:p>
            <a:pPr algn="ctr">
              <a:buFontTx/>
              <a:buNone/>
            </a:pPr>
            <a:r>
              <a:rPr lang="en-US" altLang="en-US" i="1" dirty="0" smtClean="0">
                <a:solidFill>
                  <a:srgbClr val="FF0000"/>
                </a:solidFill>
              </a:rPr>
              <a:t>U</a:t>
            </a:r>
            <a:r>
              <a:rPr lang="en-US" altLang="en-US" dirty="0" smtClean="0">
                <a:solidFill>
                  <a:srgbClr val="FF0000"/>
                </a:solidFill>
              </a:rPr>
              <a:t>(</a:t>
            </a:r>
            <a:r>
              <a:rPr lang="en-US" altLang="en-US" i="1" dirty="0" err="1" smtClean="0">
                <a:solidFill>
                  <a:srgbClr val="FF0000"/>
                </a:solidFill>
              </a:rPr>
              <a:t>x,y</a:t>
            </a:r>
            <a:r>
              <a:rPr lang="en-US" altLang="en-US" dirty="0" smtClean="0">
                <a:solidFill>
                  <a:srgbClr val="FF0000"/>
                </a:solidFill>
              </a:rPr>
              <a:t>) = </a:t>
            </a:r>
            <a:r>
              <a:rPr lang="en-US" altLang="en-US" i="1" dirty="0" err="1" smtClean="0">
                <a:solidFill>
                  <a:srgbClr val="FF0000"/>
                </a:solidFill>
              </a:rPr>
              <a:t>x</a:t>
            </a:r>
            <a:r>
              <a:rPr lang="en-US" altLang="en-US" baseline="30000" dirty="0" err="1" smtClean="0">
                <a:solidFill>
                  <a:srgbClr val="FF0000"/>
                </a:solidFill>
                <a:sym typeface="Symbol" pitchFamily="18" charset="2"/>
              </a:rPr>
              <a:t></a:t>
            </a:r>
            <a:r>
              <a:rPr lang="en-US" altLang="en-US" i="1" dirty="0" err="1" smtClean="0">
                <a:solidFill>
                  <a:srgbClr val="FF0000"/>
                </a:solidFill>
                <a:sym typeface="Symbol" pitchFamily="18" charset="2"/>
              </a:rPr>
              <a:t>y</a:t>
            </a:r>
            <a:r>
              <a:rPr lang="en-US" altLang="en-US" baseline="30000" dirty="0" smtClean="0">
                <a:solidFill>
                  <a:srgbClr val="FF0000"/>
                </a:solidFill>
                <a:sym typeface="Symbol" pitchFamily="18" charset="2"/>
              </a:rPr>
              <a:t></a:t>
            </a:r>
            <a:r>
              <a:rPr lang="en-US" altLang="en-US" dirty="0" smtClean="0">
                <a:solidFill>
                  <a:schemeClr val="tx1"/>
                </a:solidFill>
                <a:sym typeface="Symbol" pitchFamily="18" charset="2"/>
              </a:rPr>
              <a:t>, where </a:t>
            </a:r>
            <a:r>
              <a:rPr lang="el-GR" altLang="en-US" dirty="0" smtClean="0">
                <a:solidFill>
                  <a:schemeClr val="tx1"/>
                </a:solidFill>
                <a:sym typeface="Symbol" pitchFamily="18" charset="2"/>
              </a:rPr>
              <a:t>α</a:t>
            </a:r>
            <a:r>
              <a:rPr lang="en-US" altLang="en-US" dirty="0" smtClean="0">
                <a:solidFill>
                  <a:schemeClr val="tx1"/>
                </a:solidFill>
                <a:sym typeface="Symbol" pitchFamily="18" charset="2"/>
              </a:rPr>
              <a:t>+</a:t>
            </a:r>
            <a:r>
              <a:rPr lang="el-GR" altLang="en-US" dirty="0" smtClean="0">
                <a:solidFill>
                  <a:schemeClr val="tx1"/>
                </a:solidFill>
                <a:sym typeface="Symbol" pitchFamily="18" charset="2"/>
              </a:rPr>
              <a:t>β</a:t>
            </a:r>
            <a:r>
              <a:rPr lang="en-US" altLang="en-US" dirty="0" smtClean="0">
                <a:solidFill>
                  <a:schemeClr val="tx1"/>
                </a:solidFill>
                <a:sym typeface="Symbol" pitchFamily="18" charset="2"/>
              </a:rPr>
              <a:t>=1</a:t>
            </a:r>
            <a:endParaRPr lang="en-US" altLang="en-US" dirty="0" smtClean="0">
              <a:solidFill>
                <a:srgbClr val="FF0000"/>
              </a:solidFill>
              <a:sym typeface="Symbol" pitchFamily="18" charset="2"/>
            </a:endParaRPr>
          </a:p>
          <a:p>
            <a:r>
              <a:rPr lang="en-US" altLang="en-US" dirty="0" smtClean="0"/>
              <a:t>Setting up the </a:t>
            </a:r>
            <a:r>
              <a:rPr lang="en-US" altLang="en-US" dirty="0" err="1" smtClean="0"/>
              <a:t>Lagrangian</a:t>
            </a:r>
            <a:r>
              <a:rPr lang="en-US" altLang="en-US" dirty="0" smtClean="0"/>
              <a:t>:</a:t>
            </a:r>
          </a:p>
          <a:p>
            <a:pPr algn="ctr">
              <a:lnSpc>
                <a:spcPct val="110000"/>
              </a:lnSpc>
              <a:buFontTx/>
              <a:buNone/>
            </a:pPr>
            <a:r>
              <a:rPr lang="en-US" altLang="en-US" b="1" dirty="0" smtClean="0">
                <a:solidFill>
                  <a:srgbClr val="FF0000"/>
                </a:solidFill>
                <a:latin typeface="Arial Unicode MS" pitchFamily="34" charset="-128"/>
                <a:ea typeface="Arial Unicode MS" pitchFamily="34" charset="-128"/>
                <a:cs typeface="Arial Unicode MS" pitchFamily="34" charset="-128"/>
              </a:rPr>
              <a:t>ℒ</a:t>
            </a:r>
            <a:r>
              <a:rPr lang="en-US" altLang="en-US" dirty="0" smtClean="0">
                <a:solidFill>
                  <a:srgbClr val="FF0000"/>
                </a:solidFill>
              </a:rPr>
              <a:t> = </a:t>
            </a:r>
            <a:r>
              <a:rPr lang="en-US" altLang="en-US" i="1" dirty="0" err="1" smtClean="0">
                <a:solidFill>
                  <a:srgbClr val="FF0000"/>
                </a:solidFill>
              </a:rPr>
              <a:t>x</a:t>
            </a:r>
            <a:r>
              <a:rPr lang="en-US" altLang="en-US" baseline="30000" dirty="0" err="1" smtClean="0">
                <a:solidFill>
                  <a:srgbClr val="FF0000"/>
                </a:solidFill>
                <a:sym typeface="Symbol" pitchFamily="18" charset="2"/>
              </a:rPr>
              <a:t></a:t>
            </a:r>
            <a:r>
              <a:rPr lang="en-US" altLang="en-US" i="1" dirty="0" err="1" smtClean="0">
                <a:solidFill>
                  <a:srgbClr val="FF0000"/>
                </a:solidFill>
                <a:sym typeface="Symbol" pitchFamily="18" charset="2"/>
              </a:rPr>
              <a:t>y</a:t>
            </a:r>
            <a:r>
              <a:rPr lang="en-US" altLang="en-US" baseline="30000" dirty="0" smtClean="0">
                <a:solidFill>
                  <a:srgbClr val="FF0000"/>
                </a:solidFill>
                <a:sym typeface="Symbol" pitchFamily="18" charset="2"/>
              </a:rPr>
              <a:t></a:t>
            </a:r>
            <a:r>
              <a:rPr lang="en-US" altLang="en-US" dirty="0" smtClean="0">
                <a:solidFill>
                  <a:srgbClr val="FF0000"/>
                </a:solidFill>
                <a:sym typeface="Symbol" pitchFamily="18" charset="2"/>
              </a:rPr>
              <a:t> + (</a:t>
            </a:r>
            <a:r>
              <a:rPr lang="en-US" altLang="en-US" i="1" dirty="0" smtClean="0">
                <a:solidFill>
                  <a:srgbClr val="FF0000"/>
                </a:solidFill>
                <a:latin typeface="Verdana" pitchFamily="34" charset="0"/>
                <a:sym typeface="Symbol" pitchFamily="18" charset="2"/>
              </a:rPr>
              <a:t>I</a:t>
            </a:r>
            <a:r>
              <a:rPr lang="en-US" altLang="en-US" dirty="0" smtClean="0">
                <a:solidFill>
                  <a:srgbClr val="FF0000"/>
                </a:solidFill>
                <a:sym typeface="Symbol" pitchFamily="18" charset="2"/>
              </a:rPr>
              <a:t> - </a:t>
            </a:r>
            <a:r>
              <a:rPr lang="en-US" altLang="en-US" i="1" dirty="0" err="1" smtClean="0">
                <a:solidFill>
                  <a:srgbClr val="FF0000"/>
                </a:solidFill>
                <a:sym typeface="Symbol" pitchFamily="18" charset="2"/>
              </a:rPr>
              <a:t>p</a:t>
            </a:r>
            <a:r>
              <a:rPr lang="en-US" altLang="en-US" i="1" baseline="-25000" dirty="0" err="1" smtClean="0">
                <a:solidFill>
                  <a:srgbClr val="FF0000"/>
                </a:solidFill>
                <a:sym typeface="Symbol" pitchFamily="18" charset="2"/>
              </a:rPr>
              <a:t>x</a:t>
            </a:r>
            <a:r>
              <a:rPr lang="en-US" altLang="en-US" i="1" dirty="0" err="1" smtClean="0">
                <a:solidFill>
                  <a:srgbClr val="FF0000"/>
                </a:solidFill>
                <a:sym typeface="Symbol" pitchFamily="18" charset="2"/>
              </a:rPr>
              <a:t>x</a:t>
            </a:r>
            <a:r>
              <a:rPr lang="en-US" altLang="en-US" dirty="0" smtClean="0">
                <a:solidFill>
                  <a:srgbClr val="FF0000"/>
                </a:solidFill>
                <a:sym typeface="Symbol" pitchFamily="18" charset="2"/>
              </a:rPr>
              <a:t> - </a:t>
            </a:r>
            <a:r>
              <a:rPr lang="en-US" altLang="en-US" i="1" dirty="0" err="1" smtClean="0">
                <a:solidFill>
                  <a:srgbClr val="FF0000"/>
                </a:solidFill>
                <a:sym typeface="Symbol" pitchFamily="18" charset="2"/>
              </a:rPr>
              <a:t>p</a:t>
            </a:r>
            <a:r>
              <a:rPr lang="en-US" altLang="en-US" i="1" baseline="-25000" dirty="0" err="1" smtClean="0">
                <a:solidFill>
                  <a:srgbClr val="FF0000"/>
                </a:solidFill>
                <a:sym typeface="Symbol" pitchFamily="18" charset="2"/>
              </a:rPr>
              <a:t>y</a:t>
            </a:r>
            <a:r>
              <a:rPr lang="en-US" altLang="en-US" i="1" dirty="0" err="1" smtClean="0">
                <a:solidFill>
                  <a:srgbClr val="FF0000"/>
                </a:solidFill>
                <a:sym typeface="Symbol" pitchFamily="18" charset="2"/>
              </a:rPr>
              <a:t>y</a:t>
            </a:r>
            <a:r>
              <a:rPr lang="en-US" altLang="en-US" dirty="0" smtClean="0">
                <a:solidFill>
                  <a:srgbClr val="FF0000"/>
                </a:solidFill>
                <a:sym typeface="Symbol" pitchFamily="18" charset="2"/>
              </a:rPr>
              <a:t>)</a:t>
            </a:r>
          </a:p>
          <a:p>
            <a:r>
              <a:rPr lang="en-US" altLang="en-US" dirty="0" smtClean="0">
                <a:sym typeface="Symbol" pitchFamily="18" charset="2"/>
              </a:rPr>
              <a:t>F</a:t>
            </a:r>
            <a:r>
              <a:rPr lang="en-US" altLang="en-US" dirty="0" smtClean="0"/>
              <a:t>irst-order conditions</a:t>
            </a:r>
            <a:r>
              <a:rPr lang="en-US" altLang="en-US" dirty="0" smtClean="0">
                <a:sym typeface="Symbol" pitchFamily="18" charset="2"/>
              </a:rPr>
              <a:t>:</a:t>
            </a:r>
          </a:p>
          <a:p>
            <a:pPr algn="ctr">
              <a:lnSpc>
                <a:spcPct val="110000"/>
              </a:lnSpc>
              <a:buFontTx/>
              <a:buNone/>
            </a:pPr>
            <a:r>
              <a:rPr lang="en-US" altLang="en-US" dirty="0" smtClean="0">
                <a:solidFill>
                  <a:srgbClr val="FF0000"/>
                </a:solidFill>
                <a:sym typeface="Symbol" pitchFamily="18" charset="2"/>
              </a:rPr>
              <a:t></a:t>
            </a:r>
            <a:r>
              <a:rPr lang="en-US" altLang="en-US" b="1" dirty="0" smtClean="0">
                <a:solidFill>
                  <a:srgbClr val="FF0000"/>
                </a:solidFill>
                <a:latin typeface="Arial Unicode MS" pitchFamily="34" charset="-128"/>
                <a:ea typeface="Arial Unicode MS" pitchFamily="34" charset="-128"/>
                <a:cs typeface="Arial Unicode MS" pitchFamily="34" charset="-128"/>
              </a:rPr>
              <a:t>ℒ</a:t>
            </a:r>
            <a:r>
              <a:rPr lang="en-US" altLang="en-US" dirty="0" smtClean="0">
                <a:solidFill>
                  <a:srgbClr val="FF0000"/>
                </a:solidFill>
                <a:sym typeface="Symbol" pitchFamily="18" charset="2"/>
              </a:rPr>
              <a:t>/</a:t>
            </a:r>
            <a:r>
              <a:rPr lang="en-US" altLang="en-US" i="1" dirty="0" smtClean="0">
                <a:solidFill>
                  <a:srgbClr val="FF0000"/>
                </a:solidFill>
                <a:sym typeface="Symbol" pitchFamily="18" charset="2"/>
              </a:rPr>
              <a:t>x</a:t>
            </a:r>
            <a:r>
              <a:rPr lang="en-US" altLang="en-US" dirty="0" smtClean="0">
                <a:solidFill>
                  <a:srgbClr val="FF0000"/>
                </a:solidFill>
                <a:sym typeface="Symbol" pitchFamily="18" charset="2"/>
              </a:rPr>
              <a:t> = </a:t>
            </a:r>
            <a:r>
              <a:rPr lang="en-US" altLang="en-US" i="1" dirty="0" smtClean="0">
                <a:solidFill>
                  <a:srgbClr val="FF0000"/>
                </a:solidFill>
                <a:sym typeface="Symbol" pitchFamily="18" charset="2"/>
              </a:rPr>
              <a:t>x</a:t>
            </a:r>
            <a:r>
              <a:rPr lang="en-US" altLang="en-US" baseline="30000" dirty="0" smtClean="0">
                <a:solidFill>
                  <a:srgbClr val="FF0000"/>
                </a:solidFill>
                <a:sym typeface="Symbol" pitchFamily="18" charset="2"/>
              </a:rPr>
              <a:t>-1</a:t>
            </a:r>
            <a:r>
              <a:rPr lang="en-US" altLang="en-US" i="1" dirty="0" smtClean="0">
                <a:solidFill>
                  <a:srgbClr val="FF0000"/>
                </a:solidFill>
                <a:sym typeface="Symbol" pitchFamily="18" charset="2"/>
              </a:rPr>
              <a:t>y</a:t>
            </a:r>
            <a:r>
              <a:rPr lang="en-US" altLang="en-US" baseline="30000" dirty="0" smtClean="0">
                <a:solidFill>
                  <a:srgbClr val="FF0000"/>
                </a:solidFill>
                <a:sym typeface="Symbol" pitchFamily="18" charset="2"/>
              </a:rPr>
              <a:t></a:t>
            </a:r>
            <a:r>
              <a:rPr lang="en-US" altLang="en-US" dirty="0" smtClean="0">
                <a:solidFill>
                  <a:srgbClr val="FF0000"/>
                </a:solidFill>
                <a:sym typeface="Symbol" pitchFamily="18" charset="2"/>
              </a:rPr>
              <a:t> - </a:t>
            </a:r>
            <a:r>
              <a:rPr lang="en-US" altLang="en-US" i="1" dirty="0" err="1" smtClean="0">
                <a:solidFill>
                  <a:srgbClr val="FF0000"/>
                </a:solidFill>
                <a:sym typeface="Symbol" pitchFamily="18" charset="2"/>
              </a:rPr>
              <a:t>p</a:t>
            </a:r>
            <a:r>
              <a:rPr lang="en-US" altLang="en-US" i="1" baseline="-25000" dirty="0" err="1" smtClean="0">
                <a:solidFill>
                  <a:srgbClr val="FF0000"/>
                </a:solidFill>
                <a:sym typeface="Symbol" pitchFamily="18" charset="2"/>
              </a:rPr>
              <a:t>x</a:t>
            </a:r>
            <a:r>
              <a:rPr lang="en-US" altLang="en-US" dirty="0" smtClean="0">
                <a:solidFill>
                  <a:srgbClr val="FF0000"/>
                </a:solidFill>
                <a:sym typeface="Symbol" pitchFamily="18" charset="2"/>
              </a:rPr>
              <a:t> = 0</a:t>
            </a:r>
          </a:p>
          <a:p>
            <a:pPr algn="ctr">
              <a:lnSpc>
                <a:spcPct val="110000"/>
              </a:lnSpc>
              <a:buFontTx/>
              <a:buNone/>
            </a:pPr>
            <a:r>
              <a:rPr lang="en-US" altLang="en-US" dirty="0" smtClean="0">
                <a:solidFill>
                  <a:srgbClr val="FF0000"/>
                </a:solidFill>
                <a:sym typeface="Symbol" pitchFamily="18" charset="2"/>
              </a:rPr>
              <a:t></a:t>
            </a:r>
            <a:r>
              <a:rPr lang="en-US" altLang="en-US" b="1" dirty="0" smtClean="0">
                <a:solidFill>
                  <a:srgbClr val="FF0000"/>
                </a:solidFill>
                <a:latin typeface="Arial Unicode MS" pitchFamily="34" charset="-128"/>
                <a:ea typeface="Arial Unicode MS" pitchFamily="34" charset="-128"/>
                <a:cs typeface="Arial Unicode MS" pitchFamily="34" charset="-128"/>
              </a:rPr>
              <a:t>ℒ</a:t>
            </a:r>
            <a:r>
              <a:rPr lang="en-US" altLang="en-US" dirty="0" smtClean="0">
                <a:solidFill>
                  <a:srgbClr val="FF0000"/>
                </a:solidFill>
                <a:sym typeface="Symbol" pitchFamily="18" charset="2"/>
              </a:rPr>
              <a:t>/</a:t>
            </a:r>
            <a:r>
              <a:rPr lang="en-US" altLang="en-US" i="1" dirty="0" smtClean="0">
                <a:solidFill>
                  <a:srgbClr val="FF0000"/>
                </a:solidFill>
                <a:sym typeface="Symbol" pitchFamily="18" charset="2"/>
              </a:rPr>
              <a:t>y</a:t>
            </a:r>
            <a:r>
              <a:rPr lang="en-US" altLang="en-US" dirty="0" smtClean="0">
                <a:solidFill>
                  <a:srgbClr val="FF0000"/>
                </a:solidFill>
                <a:sym typeface="Symbol" pitchFamily="18" charset="2"/>
              </a:rPr>
              <a:t> = </a:t>
            </a:r>
            <a:r>
              <a:rPr lang="en-US" altLang="en-US" i="1" dirty="0" err="1" smtClean="0">
                <a:solidFill>
                  <a:srgbClr val="FF0000"/>
                </a:solidFill>
                <a:sym typeface="Symbol" pitchFamily="18" charset="2"/>
              </a:rPr>
              <a:t>x</a:t>
            </a:r>
            <a:r>
              <a:rPr lang="en-US" altLang="en-US" baseline="30000" dirty="0" err="1" smtClean="0">
                <a:solidFill>
                  <a:srgbClr val="FF0000"/>
                </a:solidFill>
                <a:sym typeface="Symbol" pitchFamily="18" charset="2"/>
              </a:rPr>
              <a:t></a:t>
            </a:r>
            <a:r>
              <a:rPr lang="en-US" altLang="en-US" i="1" dirty="0" err="1" smtClean="0">
                <a:solidFill>
                  <a:srgbClr val="FF0000"/>
                </a:solidFill>
                <a:sym typeface="Symbol" pitchFamily="18" charset="2"/>
              </a:rPr>
              <a:t>y</a:t>
            </a:r>
            <a:r>
              <a:rPr lang="en-US" altLang="en-US" baseline="30000" dirty="0" smtClean="0">
                <a:solidFill>
                  <a:srgbClr val="FF0000"/>
                </a:solidFill>
                <a:sym typeface="Symbol" pitchFamily="18" charset="2"/>
              </a:rPr>
              <a:t>-1</a:t>
            </a:r>
            <a:r>
              <a:rPr lang="en-US" altLang="en-US" dirty="0" smtClean="0">
                <a:solidFill>
                  <a:srgbClr val="FF0000"/>
                </a:solidFill>
                <a:sym typeface="Symbol" pitchFamily="18" charset="2"/>
              </a:rPr>
              <a:t> - </a:t>
            </a:r>
            <a:r>
              <a:rPr lang="en-US" altLang="en-US" i="1" dirty="0" err="1" smtClean="0">
                <a:solidFill>
                  <a:srgbClr val="FF0000"/>
                </a:solidFill>
                <a:sym typeface="Symbol" pitchFamily="18" charset="2"/>
              </a:rPr>
              <a:t>p</a:t>
            </a:r>
            <a:r>
              <a:rPr lang="en-US" altLang="en-US" i="1" baseline="-25000" dirty="0" err="1" smtClean="0">
                <a:solidFill>
                  <a:srgbClr val="FF0000"/>
                </a:solidFill>
                <a:sym typeface="Symbol" pitchFamily="18" charset="2"/>
              </a:rPr>
              <a:t>y</a:t>
            </a:r>
            <a:r>
              <a:rPr lang="en-US" altLang="en-US" dirty="0" smtClean="0">
                <a:solidFill>
                  <a:srgbClr val="FF0000"/>
                </a:solidFill>
                <a:sym typeface="Symbol" pitchFamily="18" charset="2"/>
              </a:rPr>
              <a:t> = 0</a:t>
            </a:r>
          </a:p>
          <a:p>
            <a:pPr algn="ctr">
              <a:lnSpc>
                <a:spcPct val="110000"/>
              </a:lnSpc>
              <a:buFontTx/>
              <a:buNone/>
            </a:pPr>
            <a:r>
              <a:rPr lang="en-US" altLang="en-US" dirty="0" smtClean="0">
                <a:solidFill>
                  <a:srgbClr val="FF0000"/>
                </a:solidFill>
                <a:sym typeface="Symbol" pitchFamily="18" charset="2"/>
              </a:rPr>
              <a:t></a:t>
            </a:r>
            <a:r>
              <a:rPr lang="en-US" altLang="en-US" b="1" dirty="0" smtClean="0">
                <a:solidFill>
                  <a:srgbClr val="FF0000"/>
                </a:solidFill>
                <a:latin typeface="Arial Unicode MS" pitchFamily="34" charset="-128"/>
                <a:ea typeface="Arial Unicode MS" pitchFamily="34" charset="-128"/>
                <a:cs typeface="Arial Unicode MS" pitchFamily="34" charset="-128"/>
              </a:rPr>
              <a:t>ℒ</a:t>
            </a:r>
            <a:r>
              <a:rPr lang="en-US" altLang="en-US" dirty="0" smtClean="0">
                <a:solidFill>
                  <a:srgbClr val="FF0000"/>
                </a:solidFill>
                <a:sym typeface="Symbol" pitchFamily="18" charset="2"/>
              </a:rPr>
              <a:t>/ = </a:t>
            </a:r>
            <a:r>
              <a:rPr lang="en-US" altLang="en-US" i="1" dirty="0" smtClean="0">
                <a:solidFill>
                  <a:srgbClr val="FF0000"/>
                </a:solidFill>
                <a:latin typeface="Verdana" pitchFamily="34" charset="0"/>
              </a:rPr>
              <a:t>I</a:t>
            </a:r>
            <a:r>
              <a:rPr lang="en-US" altLang="en-US" i="1" dirty="0" smtClean="0">
                <a:solidFill>
                  <a:srgbClr val="FF0000"/>
                </a:solidFill>
              </a:rPr>
              <a:t> </a:t>
            </a:r>
            <a:r>
              <a:rPr lang="en-US" altLang="en-US" dirty="0" smtClean="0">
                <a:solidFill>
                  <a:srgbClr val="FF0000"/>
                </a:solidFill>
              </a:rPr>
              <a:t>- </a:t>
            </a:r>
            <a:r>
              <a:rPr lang="en-US" altLang="en-US" i="1" dirty="0" err="1" smtClean="0">
                <a:solidFill>
                  <a:srgbClr val="FF0000"/>
                </a:solidFill>
              </a:rPr>
              <a:t>p</a:t>
            </a:r>
            <a:r>
              <a:rPr lang="en-US" altLang="en-US" i="1" baseline="-25000" dirty="0" err="1" smtClean="0">
                <a:solidFill>
                  <a:srgbClr val="FF0000"/>
                </a:solidFill>
              </a:rPr>
              <a:t>x</a:t>
            </a:r>
            <a:r>
              <a:rPr lang="en-US" altLang="en-US" i="1" dirty="0" err="1" smtClean="0">
                <a:solidFill>
                  <a:srgbClr val="FF0000"/>
                </a:solidFill>
              </a:rPr>
              <a:t>x</a:t>
            </a:r>
            <a:r>
              <a:rPr lang="en-US" altLang="en-US" baseline="-25000" dirty="0" smtClean="0">
                <a:solidFill>
                  <a:srgbClr val="FF0000"/>
                </a:solidFill>
              </a:rPr>
              <a:t> </a:t>
            </a:r>
            <a:r>
              <a:rPr lang="en-US" altLang="en-US" dirty="0" smtClean="0">
                <a:solidFill>
                  <a:srgbClr val="FF0000"/>
                </a:solidFill>
              </a:rPr>
              <a:t>- </a:t>
            </a:r>
            <a:r>
              <a:rPr lang="en-US" altLang="en-US" i="1" dirty="0" err="1" smtClean="0">
                <a:solidFill>
                  <a:srgbClr val="FF0000"/>
                </a:solidFill>
              </a:rPr>
              <a:t>p</a:t>
            </a:r>
            <a:r>
              <a:rPr lang="en-US" altLang="en-US" i="1" baseline="-25000" dirty="0" err="1" smtClean="0">
                <a:solidFill>
                  <a:srgbClr val="FF0000"/>
                </a:solidFill>
              </a:rPr>
              <a:t>y</a:t>
            </a:r>
            <a:r>
              <a:rPr lang="en-US" altLang="en-US" i="1" dirty="0" err="1" smtClean="0">
                <a:solidFill>
                  <a:srgbClr val="FF0000"/>
                </a:solidFill>
              </a:rPr>
              <a:t>y</a:t>
            </a:r>
            <a:r>
              <a:rPr lang="en-US" altLang="en-US" baseline="-25000" dirty="0" smtClean="0">
                <a:solidFill>
                  <a:srgbClr val="FF0000"/>
                </a:solidFill>
              </a:rPr>
              <a:t> </a:t>
            </a:r>
            <a:r>
              <a:rPr lang="en-US" altLang="en-US" dirty="0" smtClean="0">
                <a:solidFill>
                  <a:srgbClr val="FF0000"/>
                </a:solidFill>
                <a:sym typeface="Symbol" pitchFamily="18" charset="2"/>
              </a:rPr>
              <a:t>= 0</a:t>
            </a:r>
          </a:p>
          <a:p>
            <a:endParaRPr lang="en-US" altLang="en-US" dirty="0" smtClean="0"/>
          </a:p>
        </p:txBody>
      </p:sp>
    </p:spTree>
    <p:extLst>
      <p:ext uri="{BB962C8B-B14F-4D97-AF65-F5344CB8AC3E}">
        <p14:creationId xmlns:p14="http://schemas.microsoft.com/office/powerpoint/2010/main" val="44766885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4.1 	Cobb–Douglas Demand Functions</a:t>
            </a:r>
          </a:p>
        </p:txBody>
      </p:sp>
      <p:sp>
        <p:nvSpPr>
          <p:cNvPr id="43013"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2F8F5096-5044-433F-B2E9-318D5CF9AD94}" type="slidenum">
              <a:rPr lang="en-US" smtClean="0"/>
              <a:pPr>
                <a:defRPr/>
              </a:pPr>
              <a:t>20</a:t>
            </a:fld>
            <a:endParaRPr lang="en-US" dirty="0"/>
          </a:p>
        </p:txBody>
      </p:sp>
      <p:sp>
        <p:nvSpPr>
          <p:cNvPr id="43011" name="Content Placeholder 2"/>
          <p:cNvSpPr>
            <a:spLocks noGrp="1"/>
          </p:cNvSpPr>
          <p:nvPr>
            <p:ph type="body" sz="quarter" idx="12"/>
          </p:nvPr>
        </p:nvSpPr>
        <p:spPr>
          <a:prstGeom prst="rect">
            <a:avLst/>
          </a:prstGeom>
        </p:spPr>
        <p:txBody>
          <a:bodyPr/>
          <a:lstStyle/>
          <a:p>
            <a:r>
              <a:rPr lang="en-US" altLang="en-US" dirty="0" smtClean="0">
                <a:sym typeface="Symbol" pitchFamily="18" charset="2"/>
              </a:rPr>
              <a:t>First-order conditions imply: </a:t>
            </a:r>
            <a:r>
              <a:rPr lang="en-US" altLang="en-US" dirty="0" smtClean="0">
                <a:solidFill>
                  <a:srgbClr val="FF0000"/>
                </a:solidFill>
                <a:sym typeface="Symbol" pitchFamily="18" charset="2"/>
              </a:rPr>
              <a:t></a:t>
            </a:r>
            <a:r>
              <a:rPr lang="en-US" altLang="en-US" i="1" dirty="0" smtClean="0">
                <a:solidFill>
                  <a:srgbClr val="FF0000"/>
                </a:solidFill>
                <a:sym typeface="Symbol" pitchFamily="18" charset="2"/>
              </a:rPr>
              <a:t>y</a:t>
            </a:r>
            <a:r>
              <a:rPr lang="en-US" altLang="en-US" dirty="0" smtClean="0">
                <a:solidFill>
                  <a:srgbClr val="FF0000"/>
                </a:solidFill>
                <a:sym typeface="Symbol" pitchFamily="18" charset="2"/>
              </a:rPr>
              <a:t>/</a:t>
            </a:r>
            <a:r>
              <a:rPr lang="en-US" altLang="en-US" i="1" dirty="0" smtClean="0">
                <a:solidFill>
                  <a:srgbClr val="FF0000"/>
                </a:solidFill>
                <a:sym typeface="Symbol" pitchFamily="18" charset="2"/>
              </a:rPr>
              <a:t>x</a:t>
            </a:r>
            <a:r>
              <a:rPr lang="en-US" altLang="en-US" dirty="0" smtClean="0">
                <a:solidFill>
                  <a:srgbClr val="FF0000"/>
                </a:solidFill>
                <a:sym typeface="Symbol" pitchFamily="18" charset="2"/>
              </a:rPr>
              <a:t> = </a:t>
            </a:r>
            <a:r>
              <a:rPr lang="en-US" altLang="en-US" i="1" dirty="0" err="1" smtClean="0">
                <a:solidFill>
                  <a:srgbClr val="FF0000"/>
                </a:solidFill>
                <a:sym typeface="Symbol" pitchFamily="18" charset="2"/>
              </a:rPr>
              <a:t>p</a:t>
            </a:r>
            <a:r>
              <a:rPr lang="en-US" altLang="en-US" i="1" baseline="-25000" dirty="0" err="1" smtClean="0">
                <a:solidFill>
                  <a:srgbClr val="FF0000"/>
                </a:solidFill>
                <a:sym typeface="Symbol" pitchFamily="18" charset="2"/>
              </a:rPr>
              <a:t>x</a:t>
            </a:r>
            <a:r>
              <a:rPr lang="en-US" altLang="en-US" dirty="0" smtClean="0">
                <a:solidFill>
                  <a:srgbClr val="FF0000"/>
                </a:solidFill>
                <a:sym typeface="Symbol" pitchFamily="18" charset="2"/>
              </a:rPr>
              <a:t>/</a:t>
            </a:r>
            <a:r>
              <a:rPr lang="en-US" altLang="en-US" i="1" dirty="0" err="1" smtClean="0">
                <a:solidFill>
                  <a:srgbClr val="FF0000"/>
                </a:solidFill>
                <a:sym typeface="Symbol" pitchFamily="18" charset="2"/>
              </a:rPr>
              <a:t>p</a:t>
            </a:r>
            <a:r>
              <a:rPr lang="en-US" altLang="en-US" i="1" baseline="-25000" dirty="0" err="1" smtClean="0">
                <a:solidFill>
                  <a:srgbClr val="FF0000"/>
                </a:solidFill>
                <a:sym typeface="Symbol" pitchFamily="18" charset="2"/>
              </a:rPr>
              <a:t>y</a:t>
            </a:r>
            <a:endParaRPr lang="en-US" altLang="en-US" dirty="0" smtClean="0">
              <a:solidFill>
                <a:srgbClr val="FF0000"/>
              </a:solidFill>
              <a:sym typeface="Symbol" pitchFamily="18" charset="2"/>
            </a:endParaRPr>
          </a:p>
          <a:p>
            <a:pPr lvl="1">
              <a:lnSpc>
                <a:spcPct val="130000"/>
              </a:lnSpc>
            </a:pPr>
            <a:r>
              <a:rPr lang="en-US" altLang="en-US" dirty="0" smtClean="0">
                <a:sym typeface="Symbol" pitchFamily="18" charset="2"/>
              </a:rPr>
              <a:t>Since  +  = 1: </a:t>
            </a:r>
            <a:r>
              <a:rPr lang="en-US" altLang="en-US" i="1" dirty="0" err="1" smtClean="0">
                <a:solidFill>
                  <a:srgbClr val="FF0000"/>
                </a:solidFill>
                <a:sym typeface="Symbol" pitchFamily="18" charset="2"/>
              </a:rPr>
              <a:t>p</a:t>
            </a:r>
            <a:r>
              <a:rPr lang="en-US" altLang="en-US" i="1" baseline="-25000" dirty="0" err="1" smtClean="0">
                <a:solidFill>
                  <a:srgbClr val="FF0000"/>
                </a:solidFill>
                <a:sym typeface="Symbol" pitchFamily="18" charset="2"/>
              </a:rPr>
              <a:t>y</a:t>
            </a:r>
            <a:r>
              <a:rPr lang="en-US" altLang="en-US" i="1" dirty="0" err="1" smtClean="0">
                <a:solidFill>
                  <a:srgbClr val="FF0000"/>
                </a:solidFill>
                <a:sym typeface="Symbol" pitchFamily="18" charset="2"/>
              </a:rPr>
              <a:t>y</a:t>
            </a:r>
            <a:r>
              <a:rPr lang="en-US" altLang="en-US" dirty="0" smtClean="0">
                <a:solidFill>
                  <a:srgbClr val="FF0000"/>
                </a:solidFill>
                <a:sym typeface="Symbol" pitchFamily="18" charset="2"/>
              </a:rPr>
              <a:t> = (/)</a:t>
            </a:r>
            <a:r>
              <a:rPr lang="en-US" altLang="en-US" i="1" dirty="0" err="1" smtClean="0">
                <a:solidFill>
                  <a:srgbClr val="FF0000"/>
                </a:solidFill>
                <a:sym typeface="Symbol" pitchFamily="18" charset="2"/>
              </a:rPr>
              <a:t>p</a:t>
            </a:r>
            <a:r>
              <a:rPr lang="en-US" altLang="en-US" i="1" baseline="-25000" dirty="0" err="1" smtClean="0">
                <a:solidFill>
                  <a:srgbClr val="FF0000"/>
                </a:solidFill>
                <a:sym typeface="Symbol" pitchFamily="18" charset="2"/>
              </a:rPr>
              <a:t>x</a:t>
            </a:r>
            <a:r>
              <a:rPr lang="en-US" altLang="en-US" i="1" dirty="0" err="1" smtClean="0">
                <a:solidFill>
                  <a:srgbClr val="FF0000"/>
                </a:solidFill>
                <a:sym typeface="Symbol" pitchFamily="18" charset="2"/>
              </a:rPr>
              <a:t>x</a:t>
            </a:r>
            <a:r>
              <a:rPr lang="en-US" altLang="en-US" dirty="0" smtClean="0">
                <a:solidFill>
                  <a:srgbClr val="FF0000"/>
                </a:solidFill>
                <a:sym typeface="Symbol" pitchFamily="18" charset="2"/>
              </a:rPr>
              <a:t> = [(1- )/]</a:t>
            </a:r>
            <a:r>
              <a:rPr lang="en-US" altLang="en-US" i="1" dirty="0" err="1" smtClean="0">
                <a:solidFill>
                  <a:srgbClr val="FF0000"/>
                </a:solidFill>
                <a:sym typeface="Symbol" pitchFamily="18" charset="2"/>
              </a:rPr>
              <a:t>p</a:t>
            </a:r>
            <a:r>
              <a:rPr lang="en-US" altLang="en-US" i="1" baseline="-25000" dirty="0" err="1" smtClean="0">
                <a:solidFill>
                  <a:srgbClr val="FF0000"/>
                </a:solidFill>
                <a:sym typeface="Symbol" pitchFamily="18" charset="2"/>
              </a:rPr>
              <a:t>x</a:t>
            </a:r>
            <a:r>
              <a:rPr lang="en-US" altLang="en-US" i="1" dirty="0" err="1" smtClean="0">
                <a:solidFill>
                  <a:srgbClr val="FF0000"/>
                </a:solidFill>
                <a:sym typeface="Symbol" pitchFamily="18" charset="2"/>
              </a:rPr>
              <a:t>x</a:t>
            </a:r>
            <a:endParaRPr lang="en-US" altLang="en-US" i="1" dirty="0" smtClean="0">
              <a:solidFill>
                <a:srgbClr val="FF0000"/>
              </a:solidFill>
              <a:sym typeface="Symbol" pitchFamily="18" charset="2"/>
            </a:endParaRPr>
          </a:p>
          <a:p>
            <a:pPr>
              <a:lnSpc>
                <a:spcPct val="130000"/>
              </a:lnSpc>
            </a:pPr>
            <a:r>
              <a:rPr lang="en-US" altLang="en-US" dirty="0" smtClean="0">
                <a:sym typeface="Symbol" pitchFamily="18" charset="2"/>
              </a:rPr>
              <a:t>Substituting into the budget constraint: </a:t>
            </a:r>
          </a:p>
          <a:p>
            <a:pPr>
              <a:lnSpc>
                <a:spcPct val="130000"/>
              </a:lnSpc>
              <a:buFont typeface="Arial" charset="0"/>
              <a:buNone/>
            </a:pPr>
            <a:r>
              <a:rPr lang="en-US" altLang="en-US" i="1" dirty="0" smtClean="0">
                <a:solidFill>
                  <a:srgbClr val="FF0000"/>
                </a:solidFill>
                <a:latin typeface="Verdana" pitchFamily="34" charset="0"/>
                <a:sym typeface="Symbol" pitchFamily="18" charset="2"/>
              </a:rPr>
              <a:t>	I</a:t>
            </a:r>
            <a:r>
              <a:rPr lang="en-US" altLang="en-US" i="1" dirty="0" smtClean="0">
                <a:solidFill>
                  <a:srgbClr val="FF0000"/>
                </a:solidFill>
                <a:sym typeface="Symbol" pitchFamily="18" charset="2"/>
              </a:rPr>
              <a:t> = </a:t>
            </a:r>
            <a:r>
              <a:rPr lang="en-US" altLang="en-US" i="1" dirty="0" err="1" smtClean="0">
                <a:solidFill>
                  <a:srgbClr val="FF0000"/>
                </a:solidFill>
                <a:sym typeface="Symbol" pitchFamily="18" charset="2"/>
              </a:rPr>
              <a:t>p</a:t>
            </a:r>
            <a:r>
              <a:rPr lang="en-US" altLang="en-US" i="1" baseline="-25000" dirty="0" err="1" smtClean="0">
                <a:solidFill>
                  <a:srgbClr val="FF0000"/>
                </a:solidFill>
                <a:sym typeface="Symbol" pitchFamily="18" charset="2"/>
              </a:rPr>
              <a:t>x</a:t>
            </a:r>
            <a:r>
              <a:rPr lang="en-US" altLang="en-US" i="1" dirty="0" err="1" smtClean="0">
                <a:solidFill>
                  <a:srgbClr val="FF0000"/>
                </a:solidFill>
                <a:sym typeface="Symbol" pitchFamily="18" charset="2"/>
              </a:rPr>
              <a:t>x</a:t>
            </a:r>
            <a:r>
              <a:rPr lang="en-US" altLang="en-US" dirty="0" smtClean="0">
                <a:solidFill>
                  <a:srgbClr val="FF0000"/>
                </a:solidFill>
                <a:sym typeface="Symbol" pitchFamily="18" charset="2"/>
              </a:rPr>
              <a:t> + [(1- )/]</a:t>
            </a:r>
            <a:r>
              <a:rPr lang="en-US" altLang="en-US" i="1" dirty="0" err="1" smtClean="0">
                <a:solidFill>
                  <a:srgbClr val="FF0000"/>
                </a:solidFill>
                <a:sym typeface="Symbol" pitchFamily="18" charset="2"/>
              </a:rPr>
              <a:t>p</a:t>
            </a:r>
            <a:r>
              <a:rPr lang="en-US" altLang="en-US" i="1" baseline="-25000" dirty="0" err="1" smtClean="0">
                <a:solidFill>
                  <a:srgbClr val="FF0000"/>
                </a:solidFill>
                <a:sym typeface="Symbol" pitchFamily="18" charset="2"/>
              </a:rPr>
              <a:t>x</a:t>
            </a:r>
            <a:r>
              <a:rPr lang="en-US" altLang="en-US" i="1" dirty="0" err="1" smtClean="0">
                <a:solidFill>
                  <a:srgbClr val="FF0000"/>
                </a:solidFill>
                <a:sym typeface="Symbol" pitchFamily="18" charset="2"/>
              </a:rPr>
              <a:t>x</a:t>
            </a:r>
            <a:r>
              <a:rPr lang="en-US" altLang="en-US" dirty="0" smtClean="0">
                <a:solidFill>
                  <a:srgbClr val="FF0000"/>
                </a:solidFill>
                <a:sym typeface="Symbol" pitchFamily="18" charset="2"/>
              </a:rPr>
              <a:t> = (1/)</a:t>
            </a:r>
            <a:r>
              <a:rPr lang="en-US" altLang="en-US" i="1" dirty="0" err="1" smtClean="0">
                <a:solidFill>
                  <a:srgbClr val="FF0000"/>
                </a:solidFill>
                <a:sym typeface="Symbol" pitchFamily="18" charset="2"/>
              </a:rPr>
              <a:t>p</a:t>
            </a:r>
            <a:r>
              <a:rPr lang="en-US" altLang="en-US" i="1" baseline="-25000" dirty="0" err="1" smtClean="0">
                <a:solidFill>
                  <a:srgbClr val="FF0000"/>
                </a:solidFill>
                <a:sym typeface="Symbol" pitchFamily="18" charset="2"/>
              </a:rPr>
              <a:t>x</a:t>
            </a:r>
            <a:r>
              <a:rPr lang="en-US" altLang="en-US" i="1" dirty="0" err="1" smtClean="0">
                <a:solidFill>
                  <a:srgbClr val="FF0000"/>
                </a:solidFill>
                <a:sym typeface="Symbol" pitchFamily="18" charset="2"/>
              </a:rPr>
              <a:t>x</a:t>
            </a:r>
            <a:endParaRPr lang="en-US" altLang="en-US" i="1" dirty="0" smtClean="0">
              <a:solidFill>
                <a:srgbClr val="FF0000"/>
              </a:solidFill>
              <a:sym typeface="Symbol" pitchFamily="18" charset="2"/>
            </a:endParaRPr>
          </a:p>
          <a:p>
            <a:pPr>
              <a:lnSpc>
                <a:spcPct val="130000"/>
              </a:lnSpc>
            </a:pPr>
            <a:r>
              <a:rPr lang="en-US" altLang="en-US" dirty="0" smtClean="0">
                <a:sym typeface="Symbol" pitchFamily="18" charset="2"/>
              </a:rPr>
              <a:t>Solving: </a:t>
            </a:r>
            <a:r>
              <a:rPr lang="en-US" altLang="en-US" i="1" dirty="0" smtClean="0">
                <a:sym typeface="Symbol" pitchFamily="18" charset="2"/>
              </a:rPr>
              <a:t>x*=</a:t>
            </a:r>
            <a:r>
              <a:rPr lang="en-US" altLang="en-US" i="1" dirty="0" smtClean="0">
                <a:latin typeface="Bell MT" panose="02020503060305020303" pitchFamily="18" charset="0"/>
                <a:sym typeface="Symbol" pitchFamily="18" charset="2"/>
              </a:rPr>
              <a:t>I</a:t>
            </a:r>
            <a:r>
              <a:rPr lang="en-US" altLang="en-US" i="1" dirty="0" smtClean="0">
                <a:sym typeface="Symbol" pitchFamily="18" charset="2"/>
              </a:rPr>
              <a:t>/</a:t>
            </a:r>
            <a:r>
              <a:rPr lang="en-US" altLang="en-US" i="1" dirty="0" err="1" smtClean="0">
                <a:sym typeface="Symbol" pitchFamily="18" charset="2"/>
              </a:rPr>
              <a:t>p</a:t>
            </a:r>
            <a:r>
              <a:rPr lang="en-US" altLang="en-US" i="1" baseline="-25000" dirty="0" err="1" smtClean="0">
                <a:sym typeface="Symbol" pitchFamily="18" charset="2"/>
              </a:rPr>
              <a:t>x</a:t>
            </a:r>
            <a:r>
              <a:rPr lang="en-US" altLang="en-US" i="1" baseline="-25000" dirty="0" smtClean="0">
                <a:sym typeface="Symbol" pitchFamily="18" charset="2"/>
              </a:rPr>
              <a:t> </a:t>
            </a:r>
            <a:r>
              <a:rPr lang="en-US" altLang="en-US" i="1" dirty="0" smtClean="0">
                <a:sym typeface="Symbol" pitchFamily="18" charset="2"/>
              </a:rPr>
              <a:t> </a:t>
            </a:r>
            <a:r>
              <a:rPr lang="en-US" altLang="en-US" dirty="0" smtClean="0">
                <a:sym typeface="Symbol" pitchFamily="18" charset="2"/>
              </a:rPr>
              <a:t>and </a:t>
            </a:r>
            <a:r>
              <a:rPr lang="en-US" altLang="en-US" i="1" dirty="0" smtClean="0">
                <a:sym typeface="Symbol" pitchFamily="18" charset="2"/>
              </a:rPr>
              <a:t>y*=</a:t>
            </a:r>
            <a:r>
              <a:rPr lang="en-US" altLang="en-US" i="1" dirty="0" smtClean="0">
                <a:latin typeface="Bell MT" panose="02020503060305020303" pitchFamily="18" charset="0"/>
                <a:sym typeface="Symbol" pitchFamily="18" charset="2"/>
              </a:rPr>
              <a:t>I</a:t>
            </a:r>
            <a:r>
              <a:rPr lang="en-US" altLang="en-US" i="1" dirty="0" smtClean="0">
                <a:sym typeface="Symbol" pitchFamily="18" charset="2"/>
              </a:rPr>
              <a:t>/</a:t>
            </a:r>
            <a:r>
              <a:rPr lang="en-US" altLang="en-US" i="1" dirty="0" err="1" smtClean="0">
                <a:sym typeface="Symbol" pitchFamily="18" charset="2"/>
              </a:rPr>
              <a:t>p</a:t>
            </a:r>
            <a:r>
              <a:rPr lang="en-US" altLang="en-US" i="1" baseline="-25000" dirty="0" err="1" smtClean="0">
                <a:sym typeface="Symbol" pitchFamily="18" charset="2"/>
              </a:rPr>
              <a:t>y</a:t>
            </a:r>
            <a:endParaRPr lang="en-US" altLang="en-US" i="1" baseline="-25000" dirty="0" smtClean="0">
              <a:sym typeface="Symbol" pitchFamily="18" charset="2"/>
            </a:endParaRPr>
          </a:p>
          <a:p>
            <a:pPr lvl="1">
              <a:lnSpc>
                <a:spcPct val="130000"/>
              </a:lnSpc>
            </a:pPr>
            <a:r>
              <a:rPr lang="en-US" altLang="en-US" dirty="0" smtClean="0">
                <a:sym typeface="Symbol" pitchFamily="18" charset="2"/>
              </a:rPr>
              <a:t>The individual will allocate  percent of his income to good </a:t>
            </a:r>
            <a:r>
              <a:rPr lang="en-US" altLang="en-US" i="1" dirty="0" smtClean="0">
                <a:sym typeface="Symbol" pitchFamily="18" charset="2"/>
              </a:rPr>
              <a:t>x</a:t>
            </a:r>
            <a:r>
              <a:rPr lang="en-US" altLang="en-US" dirty="0" smtClean="0">
                <a:sym typeface="Symbol" pitchFamily="18" charset="2"/>
              </a:rPr>
              <a:t> and  percent of his income to good </a:t>
            </a:r>
            <a:r>
              <a:rPr lang="en-US" altLang="en-US" i="1" dirty="0" smtClean="0">
                <a:sym typeface="Symbol" pitchFamily="18" charset="2"/>
              </a:rPr>
              <a:t>y</a:t>
            </a:r>
            <a:endParaRPr lang="en-US" altLang="en-US" sz="2400" baseline="30000" dirty="0" smtClean="0">
              <a:solidFill>
                <a:srgbClr val="7B332D"/>
              </a:solidFill>
              <a:sym typeface="Symbol" pitchFamily="18" charset="2"/>
            </a:endParaRPr>
          </a:p>
          <a:p>
            <a:endParaRPr lang="en-US" altLang="en-US" dirty="0" smtClean="0"/>
          </a:p>
        </p:txBody>
      </p:sp>
    </p:spTree>
    <p:extLst>
      <p:ext uri="{BB962C8B-B14F-4D97-AF65-F5344CB8AC3E}">
        <p14:creationId xmlns:p14="http://schemas.microsoft.com/office/powerpoint/2010/main" val="170233591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4.1 	Cobb–Douglas Demand Functions</a:t>
            </a:r>
          </a:p>
        </p:txBody>
      </p:sp>
      <p:sp>
        <p:nvSpPr>
          <p:cNvPr id="44037"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7FF7CD1B-72EB-45E7-92FB-A8FFCD99466D}" type="slidenum">
              <a:rPr lang="en-US" smtClean="0"/>
              <a:pPr>
                <a:defRPr/>
              </a:pPr>
              <a:t>21</a:t>
            </a:fld>
            <a:endParaRPr lang="en-US" dirty="0"/>
          </a:p>
        </p:txBody>
      </p:sp>
      <p:sp>
        <p:nvSpPr>
          <p:cNvPr id="44035" name="Content Placeholder 2"/>
          <p:cNvSpPr>
            <a:spLocks noGrp="1"/>
          </p:cNvSpPr>
          <p:nvPr>
            <p:ph type="body" sz="quarter" idx="12"/>
          </p:nvPr>
        </p:nvSpPr>
        <p:spPr>
          <a:prstGeom prst="rect">
            <a:avLst/>
          </a:prstGeom>
        </p:spPr>
        <p:txBody>
          <a:bodyPr/>
          <a:lstStyle/>
          <a:p>
            <a:r>
              <a:rPr lang="en-US" altLang="en-US" dirty="0" smtClean="0">
                <a:sym typeface="Symbol" pitchFamily="18" charset="2"/>
              </a:rPr>
              <a:t>Cobb-Douglas utility function</a:t>
            </a:r>
          </a:p>
          <a:p>
            <a:pPr lvl="1"/>
            <a:r>
              <a:rPr lang="en-US" altLang="en-US" dirty="0" smtClean="0">
                <a:sym typeface="Symbol" pitchFamily="18" charset="2"/>
              </a:rPr>
              <a:t>Is limited in its ability to explain actual consumption behavior</a:t>
            </a:r>
          </a:p>
          <a:p>
            <a:pPr lvl="1"/>
            <a:r>
              <a:rPr lang="en-US" altLang="en-US" dirty="0" smtClean="0">
                <a:sym typeface="Symbol" pitchFamily="18" charset="2"/>
              </a:rPr>
              <a:t>The share of income devoted to a good often changes in response to changing economic conditions</a:t>
            </a:r>
          </a:p>
          <a:p>
            <a:r>
              <a:rPr lang="en-US" altLang="en-US" dirty="0" smtClean="0">
                <a:sym typeface="Symbol" pitchFamily="18" charset="2"/>
              </a:rPr>
              <a:t>A more general functional form might be more useful</a:t>
            </a:r>
            <a:endParaRPr lang="en-US" altLang="en-US" baseline="30000" dirty="0" smtClean="0">
              <a:sym typeface="Symbol" pitchFamily="18" charset="2"/>
            </a:endParaRPr>
          </a:p>
        </p:txBody>
      </p:sp>
    </p:spTree>
    <p:extLst>
      <p:ext uri="{BB962C8B-B14F-4D97-AF65-F5344CB8AC3E}">
        <p14:creationId xmlns:p14="http://schemas.microsoft.com/office/powerpoint/2010/main" val="393538867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4.2 	CES Demand</a:t>
            </a:r>
          </a:p>
        </p:txBody>
      </p:sp>
      <p:sp>
        <p:nvSpPr>
          <p:cNvPr id="45061"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7169C2C9-2E25-46AD-9056-C7F9A332AF39}" type="slidenum">
              <a:rPr lang="en-US" smtClean="0"/>
              <a:pPr>
                <a:defRPr/>
              </a:pPr>
              <a:t>22</a:t>
            </a:fld>
            <a:endParaRPr lang="en-US" dirty="0"/>
          </a:p>
        </p:txBody>
      </p:sp>
      <p:sp>
        <p:nvSpPr>
          <p:cNvPr id="45059" name="Content Placeholder 2"/>
          <p:cNvSpPr>
            <a:spLocks noGrp="1"/>
          </p:cNvSpPr>
          <p:nvPr>
            <p:ph type="body" sz="quarter" idx="12"/>
          </p:nvPr>
        </p:nvSpPr>
        <p:spPr>
          <a:prstGeom prst="rect">
            <a:avLst/>
          </a:prstGeom>
        </p:spPr>
        <p:txBody>
          <a:bodyPr/>
          <a:lstStyle/>
          <a:p>
            <a:r>
              <a:rPr lang="en-US" altLang="en-US" smtClean="0"/>
              <a:t>Assume that </a:t>
            </a:r>
            <a:r>
              <a:rPr lang="en-US" altLang="en-US" smtClean="0">
                <a:sym typeface="Symbol" pitchFamily="18" charset="2"/>
              </a:rPr>
              <a:t> = 0.5</a:t>
            </a:r>
          </a:p>
          <a:p>
            <a:pPr algn="ctr">
              <a:lnSpc>
                <a:spcPct val="120000"/>
              </a:lnSpc>
              <a:buFontTx/>
              <a:buNone/>
            </a:pPr>
            <a:r>
              <a:rPr lang="en-US" altLang="en-US" i="1" smtClean="0">
                <a:solidFill>
                  <a:srgbClr val="FF0000"/>
                </a:solidFill>
              </a:rPr>
              <a:t>U</a:t>
            </a:r>
            <a:r>
              <a:rPr lang="en-US" altLang="en-US" smtClean="0">
                <a:solidFill>
                  <a:srgbClr val="FF0000"/>
                </a:solidFill>
              </a:rPr>
              <a:t>(</a:t>
            </a:r>
            <a:r>
              <a:rPr lang="en-US" altLang="en-US" i="1" smtClean="0">
                <a:solidFill>
                  <a:srgbClr val="FF0000"/>
                </a:solidFill>
              </a:rPr>
              <a:t>x,y</a:t>
            </a:r>
            <a:r>
              <a:rPr lang="en-US" altLang="en-US" smtClean="0">
                <a:solidFill>
                  <a:srgbClr val="FF0000"/>
                </a:solidFill>
              </a:rPr>
              <a:t>) = </a:t>
            </a:r>
            <a:r>
              <a:rPr lang="en-US" altLang="en-US" i="1" smtClean="0">
                <a:solidFill>
                  <a:srgbClr val="FF0000"/>
                </a:solidFill>
              </a:rPr>
              <a:t>x</a:t>
            </a:r>
            <a:r>
              <a:rPr lang="en-US" altLang="en-US" baseline="30000" smtClean="0">
                <a:solidFill>
                  <a:srgbClr val="FF0000"/>
                </a:solidFill>
                <a:sym typeface="Symbol" pitchFamily="18" charset="2"/>
              </a:rPr>
              <a:t>0.5</a:t>
            </a:r>
            <a:r>
              <a:rPr lang="en-US" altLang="en-US" smtClean="0">
                <a:solidFill>
                  <a:srgbClr val="FF0000"/>
                </a:solidFill>
                <a:sym typeface="Symbol" pitchFamily="18" charset="2"/>
              </a:rPr>
              <a:t> + </a:t>
            </a:r>
            <a:r>
              <a:rPr lang="en-US" altLang="en-US" i="1" smtClean="0">
                <a:solidFill>
                  <a:srgbClr val="FF0000"/>
                </a:solidFill>
                <a:sym typeface="Symbol" pitchFamily="18" charset="2"/>
              </a:rPr>
              <a:t>y</a:t>
            </a:r>
            <a:r>
              <a:rPr lang="en-US" altLang="en-US" baseline="30000" smtClean="0">
                <a:solidFill>
                  <a:srgbClr val="FF0000"/>
                </a:solidFill>
                <a:sym typeface="Symbol" pitchFamily="18" charset="2"/>
              </a:rPr>
              <a:t>0.5</a:t>
            </a:r>
            <a:endParaRPr lang="en-US" altLang="en-US" smtClean="0">
              <a:solidFill>
                <a:srgbClr val="FF0000"/>
              </a:solidFill>
              <a:sym typeface="Symbol" pitchFamily="18" charset="2"/>
            </a:endParaRPr>
          </a:p>
          <a:p>
            <a:r>
              <a:rPr lang="en-US" altLang="en-US" smtClean="0">
                <a:sym typeface="Symbol" pitchFamily="18" charset="2"/>
              </a:rPr>
              <a:t>Setting up the Lagrangian:</a:t>
            </a:r>
          </a:p>
          <a:p>
            <a:pPr algn="ctr">
              <a:lnSpc>
                <a:spcPct val="120000"/>
              </a:lnSpc>
              <a:buFontTx/>
              <a:buNone/>
            </a:pPr>
            <a:r>
              <a:rPr lang="en-US" altLang="en-US" b="1" smtClean="0">
                <a:solidFill>
                  <a:srgbClr val="FF0000"/>
                </a:solidFill>
                <a:latin typeface="Arial Unicode MS" pitchFamily="34" charset="-128"/>
                <a:ea typeface="Arial Unicode MS" pitchFamily="34" charset="-128"/>
                <a:cs typeface="Arial Unicode MS" pitchFamily="34" charset="-128"/>
              </a:rPr>
              <a:t>ℒ</a:t>
            </a:r>
            <a:r>
              <a:rPr lang="en-US" altLang="en-US" smtClean="0">
                <a:solidFill>
                  <a:srgbClr val="FF0000"/>
                </a:solidFill>
                <a:sym typeface="Symbol" pitchFamily="18" charset="2"/>
              </a:rPr>
              <a:t> =</a:t>
            </a:r>
            <a:r>
              <a:rPr lang="en-US" altLang="en-US" baseline="30000" smtClean="0">
                <a:solidFill>
                  <a:srgbClr val="FF0000"/>
                </a:solidFill>
                <a:sym typeface="Symbol" pitchFamily="18" charset="2"/>
              </a:rPr>
              <a:t> </a:t>
            </a:r>
            <a:r>
              <a:rPr lang="en-US" altLang="en-US" i="1" smtClean="0">
                <a:solidFill>
                  <a:srgbClr val="FF0000"/>
                </a:solidFill>
              </a:rPr>
              <a:t>x</a:t>
            </a:r>
            <a:r>
              <a:rPr lang="en-US" altLang="en-US" baseline="30000" smtClean="0">
                <a:solidFill>
                  <a:srgbClr val="FF0000"/>
                </a:solidFill>
                <a:sym typeface="Symbol" pitchFamily="18" charset="2"/>
              </a:rPr>
              <a:t>0.5</a:t>
            </a:r>
            <a:r>
              <a:rPr lang="en-US" altLang="en-US" smtClean="0">
                <a:solidFill>
                  <a:srgbClr val="FF0000"/>
                </a:solidFill>
                <a:sym typeface="Symbol" pitchFamily="18" charset="2"/>
              </a:rPr>
              <a:t> + </a:t>
            </a:r>
            <a:r>
              <a:rPr lang="en-US" altLang="en-US" i="1" smtClean="0">
                <a:solidFill>
                  <a:srgbClr val="FF0000"/>
                </a:solidFill>
                <a:sym typeface="Symbol" pitchFamily="18" charset="2"/>
              </a:rPr>
              <a:t>y</a:t>
            </a:r>
            <a:r>
              <a:rPr lang="en-US" altLang="en-US" baseline="30000" smtClean="0">
                <a:solidFill>
                  <a:srgbClr val="FF0000"/>
                </a:solidFill>
                <a:sym typeface="Symbol" pitchFamily="18" charset="2"/>
              </a:rPr>
              <a:t>0.5</a:t>
            </a:r>
            <a:r>
              <a:rPr lang="en-US" altLang="en-US" smtClean="0">
                <a:solidFill>
                  <a:srgbClr val="FF0000"/>
                </a:solidFill>
                <a:sym typeface="Symbol" pitchFamily="18" charset="2"/>
              </a:rPr>
              <a:t> + (</a:t>
            </a:r>
            <a:r>
              <a:rPr lang="en-US" altLang="en-US" i="1" smtClean="0">
                <a:solidFill>
                  <a:srgbClr val="FF0000"/>
                </a:solidFill>
                <a:latin typeface="Verdana" pitchFamily="34" charset="0"/>
                <a:sym typeface="Symbol" pitchFamily="18" charset="2"/>
              </a:rPr>
              <a:t>I</a:t>
            </a:r>
            <a:r>
              <a:rPr lang="en-US" altLang="en-US" smtClean="0">
                <a:solidFill>
                  <a:srgbClr val="FF0000"/>
                </a:solidFill>
                <a:sym typeface="Symbol" pitchFamily="18" charset="2"/>
              </a:rPr>
              <a:t> - </a:t>
            </a:r>
            <a:r>
              <a:rPr lang="en-US" altLang="en-US" i="1" smtClean="0">
                <a:solidFill>
                  <a:srgbClr val="FF0000"/>
                </a:solidFill>
                <a:sym typeface="Symbol" pitchFamily="18" charset="2"/>
              </a:rPr>
              <a:t>p</a:t>
            </a:r>
            <a:r>
              <a:rPr lang="en-US" altLang="en-US" i="1" baseline="-25000" smtClean="0">
                <a:solidFill>
                  <a:srgbClr val="FF0000"/>
                </a:solidFill>
                <a:sym typeface="Symbol" pitchFamily="18" charset="2"/>
              </a:rPr>
              <a:t>x</a:t>
            </a:r>
            <a:r>
              <a:rPr lang="en-US" altLang="en-US" i="1" smtClean="0">
                <a:solidFill>
                  <a:srgbClr val="FF0000"/>
                </a:solidFill>
                <a:sym typeface="Symbol" pitchFamily="18" charset="2"/>
              </a:rPr>
              <a:t>x</a:t>
            </a:r>
            <a:r>
              <a:rPr lang="en-US" altLang="en-US" smtClean="0">
                <a:solidFill>
                  <a:srgbClr val="FF0000"/>
                </a:solidFill>
                <a:sym typeface="Symbol" pitchFamily="18" charset="2"/>
              </a:rPr>
              <a:t> - </a:t>
            </a:r>
            <a:r>
              <a:rPr lang="en-US" altLang="en-US" i="1" smtClean="0">
                <a:solidFill>
                  <a:srgbClr val="FF0000"/>
                </a:solidFill>
                <a:sym typeface="Symbol" pitchFamily="18" charset="2"/>
              </a:rPr>
              <a:t>p</a:t>
            </a:r>
            <a:r>
              <a:rPr lang="en-US" altLang="en-US" i="1" baseline="-25000" smtClean="0">
                <a:solidFill>
                  <a:srgbClr val="FF0000"/>
                </a:solidFill>
                <a:sym typeface="Symbol" pitchFamily="18" charset="2"/>
              </a:rPr>
              <a:t>y</a:t>
            </a:r>
            <a:r>
              <a:rPr lang="en-US" altLang="en-US" i="1" smtClean="0">
                <a:solidFill>
                  <a:srgbClr val="FF0000"/>
                </a:solidFill>
                <a:sym typeface="Symbol" pitchFamily="18" charset="2"/>
              </a:rPr>
              <a:t>y</a:t>
            </a:r>
            <a:r>
              <a:rPr lang="en-US" altLang="en-US" smtClean="0">
                <a:solidFill>
                  <a:srgbClr val="FF0000"/>
                </a:solidFill>
                <a:sym typeface="Symbol" pitchFamily="18" charset="2"/>
              </a:rPr>
              <a:t>)</a:t>
            </a:r>
          </a:p>
          <a:p>
            <a:r>
              <a:rPr lang="en-US" altLang="en-US" smtClean="0">
                <a:sym typeface="Symbol" pitchFamily="18" charset="2"/>
              </a:rPr>
              <a:t>F</a:t>
            </a:r>
            <a:r>
              <a:rPr lang="en-US" altLang="en-US" smtClean="0"/>
              <a:t>irst-order conditions for a maximum</a:t>
            </a:r>
            <a:r>
              <a:rPr lang="en-US" altLang="en-US" smtClean="0">
                <a:sym typeface="Symbol" pitchFamily="18" charset="2"/>
              </a:rPr>
              <a:t>:</a:t>
            </a:r>
          </a:p>
          <a:p>
            <a:pPr algn="ctr">
              <a:lnSpc>
                <a:spcPct val="120000"/>
              </a:lnSpc>
              <a:buFontTx/>
              <a:buNone/>
            </a:pPr>
            <a:r>
              <a:rPr lang="en-US" altLang="en-US" smtClean="0">
                <a:solidFill>
                  <a:srgbClr val="FF0000"/>
                </a:solidFill>
                <a:sym typeface="Symbol" pitchFamily="18" charset="2"/>
              </a:rPr>
              <a:t></a:t>
            </a:r>
            <a:r>
              <a:rPr lang="en-US" altLang="en-US" b="1" smtClean="0">
                <a:solidFill>
                  <a:srgbClr val="FF0000"/>
                </a:solidFill>
                <a:latin typeface="Arial Unicode MS" pitchFamily="34" charset="-128"/>
                <a:ea typeface="Arial Unicode MS" pitchFamily="34" charset="-128"/>
                <a:cs typeface="Arial Unicode MS" pitchFamily="34" charset="-128"/>
              </a:rPr>
              <a:t>ℒ</a:t>
            </a:r>
            <a:r>
              <a:rPr lang="en-US" altLang="en-US" smtClean="0">
                <a:solidFill>
                  <a:srgbClr val="FF0000"/>
                </a:solidFill>
                <a:sym typeface="Symbol" pitchFamily="18" charset="2"/>
              </a:rPr>
              <a:t>/</a:t>
            </a:r>
            <a:r>
              <a:rPr lang="en-US" altLang="en-US" i="1" smtClean="0">
                <a:solidFill>
                  <a:srgbClr val="FF0000"/>
                </a:solidFill>
                <a:sym typeface="Symbol" pitchFamily="18" charset="2"/>
              </a:rPr>
              <a:t>x</a:t>
            </a:r>
            <a:r>
              <a:rPr lang="en-US" altLang="en-US" smtClean="0">
                <a:solidFill>
                  <a:srgbClr val="FF0000"/>
                </a:solidFill>
                <a:sym typeface="Symbol" pitchFamily="18" charset="2"/>
              </a:rPr>
              <a:t> = 0.5</a:t>
            </a:r>
            <a:r>
              <a:rPr lang="en-US" altLang="en-US" i="1" smtClean="0">
                <a:solidFill>
                  <a:srgbClr val="FF0000"/>
                </a:solidFill>
                <a:sym typeface="Symbol" pitchFamily="18" charset="2"/>
              </a:rPr>
              <a:t>x</a:t>
            </a:r>
            <a:r>
              <a:rPr lang="en-US" altLang="en-US" i="1" baseline="30000" smtClean="0">
                <a:solidFill>
                  <a:srgbClr val="FF0000"/>
                </a:solidFill>
                <a:sym typeface="Symbol" pitchFamily="18" charset="2"/>
              </a:rPr>
              <a:t> </a:t>
            </a:r>
            <a:r>
              <a:rPr lang="en-US" altLang="en-US" baseline="30000" smtClean="0">
                <a:solidFill>
                  <a:srgbClr val="FF0000"/>
                </a:solidFill>
                <a:sym typeface="Symbol" pitchFamily="18" charset="2"/>
              </a:rPr>
              <a:t>-0.5 </a:t>
            </a:r>
            <a:r>
              <a:rPr lang="en-US" altLang="en-US" smtClean="0">
                <a:solidFill>
                  <a:srgbClr val="FF0000"/>
                </a:solidFill>
                <a:sym typeface="Symbol" pitchFamily="18" charset="2"/>
              </a:rPr>
              <a:t>- </a:t>
            </a:r>
            <a:r>
              <a:rPr lang="en-US" altLang="en-US" i="1" smtClean="0">
                <a:solidFill>
                  <a:srgbClr val="FF0000"/>
                </a:solidFill>
                <a:sym typeface="Symbol" pitchFamily="18" charset="2"/>
              </a:rPr>
              <a:t>p</a:t>
            </a:r>
            <a:r>
              <a:rPr lang="en-US" altLang="en-US" i="1" baseline="-25000" smtClean="0">
                <a:solidFill>
                  <a:srgbClr val="FF0000"/>
                </a:solidFill>
                <a:sym typeface="Symbol" pitchFamily="18" charset="2"/>
              </a:rPr>
              <a:t>x</a:t>
            </a:r>
            <a:r>
              <a:rPr lang="en-US" altLang="en-US" smtClean="0">
                <a:solidFill>
                  <a:srgbClr val="FF0000"/>
                </a:solidFill>
                <a:sym typeface="Symbol" pitchFamily="18" charset="2"/>
              </a:rPr>
              <a:t> = 0</a:t>
            </a:r>
          </a:p>
          <a:p>
            <a:pPr algn="ctr">
              <a:lnSpc>
                <a:spcPct val="120000"/>
              </a:lnSpc>
              <a:buFontTx/>
              <a:buNone/>
            </a:pPr>
            <a:r>
              <a:rPr lang="en-US" altLang="en-US" smtClean="0">
                <a:solidFill>
                  <a:srgbClr val="FF0000"/>
                </a:solidFill>
                <a:sym typeface="Symbol" pitchFamily="18" charset="2"/>
              </a:rPr>
              <a:t></a:t>
            </a:r>
            <a:r>
              <a:rPr lang="en-US" altLang="en-US" b="1" smtClean="0">
                <a:solidFill>
                  <a:srgbClr val="FF0000"/>
                </a:solidFill>
                <a:latin typeface="Arial Unicode MS" pitchFamily="34" charset="-128"/>
                <a:ea typeface="Arial Unicode MS" pitchFamily="34" charset="-128"/>
                <a:cs typeface="Arial Unicode MS" pitchFamily="34" charset="-128"/>
              </a:rPr>
              <a:t>ℒ</a:t>
            </a:r>
            <a:r>
              <a:rPr lang="en-US" altLang="en-US" smtClean="0">
                <a:solidFill>
                  <a:srgbClr val="FF0000"/>
                </a:solidFill>
                <a:sym typeface="Symbol" pitchFamily="18" charset="2"/>
              </a:rPr>
              <a:t>/</a:t>
            </a:r>
            <a:r>
              <a:rPr lang="en-US" altLang="en-US" i="1" smtClean="0">
                <a:solidFill>
                  <a:srgbClr val="FF0000"/>
                </a:solidFill>
                <a:sym typeface="Symbol" pitchFamily="18" charset="2"/>
              </a:rPr>
              <a:t>y</a:t>
            </a:r>
            <a:r>
              <a:rPr lang="en-US" altLang="en-US" smtClean="0">
                <a:solidFill>
                  <a:srgbClr val="FF0000"/>
                </a:solidFill>
                <a:sym typeface="Symbol" pitchFamily="18" charset="2"/>
              </a:rPr>
              <a:t> = 0.5</a:t>
            </a:r>
            <a:r>
              <a:rPr lang="en-US" altLang="en-US" i="1" smtClean="0">
                <a:solidFill>
                  <a:srgbClr val="FF0000"/>
                </a:solidFill>
                <a:sym typeface="Symbol" pitchFamily="18" charset="2"/>
              </a:rPr>
              <a:t>y</a:t>
            </a:r>
            <a:r>
              <a:rPr lang="en-US" altLang="en-US" i="1" baseline="30000" smtClean="0">
                <a:solidFill>
                  <a:srgbClr val="FF0000"/>
                </a:solidFill>
                <a:sym typeface="Symbol" pitchFamily="18" charset="2"/>
              </a:rPr>
              <a:t> </a:t>
            </a:r>
            <a:r>
              <a:rPr lang="en-US" altLang="en-US" baseline="30000" smtClean="0">
                <a:solidFill>
                  <a:srgbClr val="FF0000"/>
                </a:solidFill>
                <a:sym typeface="Symbol" pitchFamily="18" charset="2"/>
              </a:rPr>
              <a:t>-0.5</a:t>
            </a:r>
            <a:r>
              <a:rPr lang="en-US" altLang="en-US" smtClean="0">
                <a:solidFill>
                  <a:srgbClr val="FF0000"/>
                </a:solidFill>
                <a:sym typeface="Symbol" pitchFamily="18" charset="2"/>
              </a:rPr>
              <a:t> - </a:t>
            </a:r>
            <a:r>
              <a:rPr lang="en-US" altLang="en-US" i="1" smtClean="0">
                <a:solidFill>
                  <a:srgbClr val="FF0000"/>
                </a:solidFill>
                <a:sym typeface="Symbol" pitchFamily="18" charset="2"/>
              </a:rPr>
              <a:t>p</a:t>
            </a:r>
            <a:r>
              <a:rPr lang="en-US" altLang="en-US" i="1" baseline="-25000" smtClean="0">
                <a:solidFill>
                  <a:srgbClr val="FF0000"/>
                </a:solidFill>
                <a:sym typeface="Symbol" pitchFamily="18" charset="2"/>
              </a:rPr>
              <a:t>y</a:t>
            </a:r>
            <a:r>
              <a:rPr lang="en-US" altLang="en-US" smtClean="0">
                <a:solidFill>
                  <a:srgbClr val="FF0000"/>
                </a:solidFill>
                <a:sym typeface="Symbol" pitchFamily="18" charset="2"/>
              </a:rPr>
              <a:t> = 0</a:t>
            </a:r>
          </a:p>
          <a:p>
            <a:pPr algn="ctr">
              <a:lnSpc>
                <a:spcPct val="120000"/>
              </a:lnSpc>
              <a:buFontTx/>
              <a:buNone/>
            </a:pPr>
            <a:r>
              <a:rPr lang="en-US" altLang="en-US" smtClean="0">
                <a:solidFill>
                  <a:srgbClr val="FF0000"/>
                </a:solidFill>
                <a:sym typeface="Symbol" pitchFamily="18" charset="2"/>
              </a:rPr>
              <a:t></a:t>
            </a:r>
            <a:r>
              <a:rPr lang="en-US" altLang="en-US" b="1" smtClean="0">
                <a:solidFill>
                  <a:srgbClr val="FF0000"/>
                </a:solidFill>
                <a:latin typeface="Arial Unicode MS" pitchFamily="34" charset="-128"/>
                <a:ea typeface="Arial Unicode MS" pitchFamily="34" charset="-128"/>
                <a:cs typeface="Arial Unicode MS" pitchFamily="34" charset="-128"/>
              </a:rPr>
              <a:t>ℒ</a:t>
            </a:r>
            <a:r>
              <a:rPr lang="en-US" altLang="en-US" smtClean="0">
                <a:solidFill>
                  <a:srgbClr val="FF0000"/>
                </a:solidFill>
                <a:sym typeface="Symbol" pitchFamily="18" charset="2"/>
              </a:rPr>
              <a:t>/ = </a:t>
            </a:r>
            <a:r>
              <a:rPr lang="en-US" altLang="en-US" i="1" smtClean="0">
                <a:solidFill>
                  <a:srgbClr val="FF0000"/>
                </a:solidFill>
                <a:latin typeface="Verdana" pitchFamily="34" charset="0"/>
              </a:rPr>
              <a:t>I</a:t>
            </a:r>
            <a:r>
              <a:rPr lang="en-US" altLang="en-US" i="1" smtClean="0">
                <a:solidFill>
                  <a:srgbClr val="FF0000"/>
                </a:solidFill>
              </a:rPr>
              <a:t> </a:t>
            </a:r>
            <a:r>
              <a:rPr lang="en-US" altLang="en-US" smtClean="0">
                <a:solidFill>
                  <a:srgbClr val="FF0000"/>
                </a:solidFill>
              </a:rPr>
              <a:t>- </a:t>
            </a:r>
            <a:r>
              <a:rPr lang="en-US" altLang="en-US" i="1" smtClean="0">
                <a:solidFill>
                  <a:srgbClr val="FF0000"/>
                </a:solidFill>
              </a:rPr>
              <a:t>p</a:t>
            </a:r>
            <a:r>
              <a:rPr lang="en-US" altLang="en-US" i="1" baseline="-25000" smtClean="0">
                <a:solidFill>
                  <a:srgbClr val="FF0000"/>
                </a:solidFill>
              </a:rPr>
              <a:t>x</a:t>
            </a:r>
            <a:r>
              <a:rPr lang="en-US" altLang="en-US" i="1" smtClean="0">
                <a:solidFill>
                  <a:srgbClr val="FF0000"/>
                </a:solidFill>
              </a:rPr>
              <a:t>x</a:t>
            </a:r>
            <a:r>
              <a:rPr lang="en-US" altLang="en-US" baseline="-25000" smtClean="0">
                <a:solidFill>
                  <a:srgbClr val="FF0000"/>
                </a:solidFill>
              </a:rPr>
              <a:t> </a:t>
            </a:r>
            <a:r>
              <a:rPr lang="en-US" altLang="en-US" smtClean="0">
                <a:solidFill>
                  <a:srgbClr val="FF0000"/>
                </a:solidFill>
              </a:rPr>
              <a:t>- </a:t>
            </a:r>
            <a:r>
              <a:rPr lang="en-US" altLang="en-US" i="1" smtClean="0">
                <a:solidFill>
                  <a:srgbClr val="FF0000"/>
                </a:solidFill>
              </a:rPr>
              <a:t>p</a:t>
            </a:r>
            <a:r>
              <a:rPr lang="en-US" altLang="en-US" i="1" baseline="-25000" smtClean="0">
                <a:solidFill>
                  <a:srgbClr val="FF0000"/>
                </a:solidFill>
              </a:rPr>
              <a:t>y</a:t>
            </a:r>
            <a:r>
              <a:rPr lang="en-US" altLang="en-US" i="1" smtClean="0">
                <a:solidFill>
                  <a:srgbClr val="FF0000"/>
                </a:solidFill>
              </a:rPr>
              <a:t>y</a:t>
            </a:r>
            <a:r>
              <a:rPr lang="en-US" altLang="en-US" baseline="-25000" smtClean="0">
                <a:solidFill>
                  <a:srgbClr val="FF0000"/>
                </a:solidFill>
              </a:rPr>
              <a:t> </a:t>
            </a:r>
            <a:r>
              <a:rPr lang="en-US" altLang="en-US" smtClean="0">
                <a:solidFill>
                  <a:srgbClr val="FF0000"/>
                </a:solidFill>
                <a:sym typeface="Symbol" pitchFamily="18" charset="2"/>
              </a:rPr>
              <a:t>= 0</a:t>
            </a:r>
          </a:p>
          <a:p>
            <a:endParaRPr lang="en-US" altLang="en-US" smtClean="0"/>
          </a:p>
        </p:txBody>
      </p:sp>
    </p:spTree>
    <p:extLst>
      <p:ext uri="{BB962C8B-B14F-4D97-AF65-F5344CB8AC3E}">
        <p14:creationId xmlns:p14="http://schemas.microsoft.com/office/powerpoint/2010/main" val="333988159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4.2 	CES Demand</a:t>
            </a:r>
          </a:p>
        </p:txBody>
      </p:sp>
      <p:sp>
        <p:nvSpPr>
          <p:cNvPr id="7175"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C191D4ED-54E3-4EF8-804A-408DD60BF5CD}" type="slidenum">
              <a:rPr lang="en-US" smtClean="0"/>
              <a:pPr>
                <a:defRPr/>
              </a:pPr>
              <a:t>23</a:t>
            </a:fld>
            <a:endParaRPr lang="en-US" dirty="0"/>
          </a:p>
        </p:txBody>
      </p:sp>
      <p:sp>
        <p:nvSpPr>
          <p:cNvPr id="7173" name="Content Placeholder 2"/>
          <p:cNvSpPr>
            <a:spLocks noGrp="1"/>
          </p:cNvSpPr>
          <p:nvPr>
            <p:ph type="body" sz="quarter" idx="12"/>
          </p:nvPr>
        </p:nvSpPr>
        <p:spPr>
          <a:prstGeom prst="rect">
            <a:avLst/>
          </a:prstGeom>
        </p:spPr>
        <p:txBody>
          <a:bodyPr/>
          <a:lstStyle/>
          <a:p>
            <a:r>
              <a:rPr lang="en-US" altLang="en-US" dirty="0" smtClean="0"/>
              <a:t>This means that: </a:t>
            </a:r>
            <a:r>
              <a:rPr lang="en-US" altLang="en-US" dirty="0" smtClean="0">
                <a:solidFill>
                  <a:srgbClr val="FF0000"/>
                </a:solidFill>
                <a:sym typeface="Symbol" pitchFamily="18" charset="2"/>
              </a:rPr>
              <a:t>(</a:t>
            </a:r>
            <a:r>
              <a:rPr lang="en-US" altLang="en-US" i="1" dirty="0" smtClean="0">
                <a:solidFill>
                  <a:srgbClr val="FF0000"/>
                </a:solidFill>
                <a:sym typeface="Symbol" pitchFamily="18" charset="2"/>
              </a:rPr>
              <a:t>y</a:t>
            </a:r>
            <a:r>
              <a:rPr lang="en-US" altLang="en-US" dirty="0" smtClean="0">
                <a:solidFill>
                  <a:srgbClr val="FF0000"/>
                </a:solidFill>
                <a:sym typeface="Symbol" pitchFamily="18" charset="2"/>
              </a:rPr>
              <a:t>/</a:t>
            </a:r>
            <a:r>
              <a:rPr lang="en-US" altLang="en-US" i="1" dirty="0" smtClean="0">
                <a:solidFill>
                  <a:srgbClr val="FF0000"/>
                </a:solidFill>
                <a:sym typeface="Symbol" pitchFamily="18" charset="2"/>
              </a:rPr>
              <a:t>x</a:t>
            </a:r>
            <a:r>
              <a:rPr lang="en-US" altLang="en-US" dirty="0" smtClean="0">
                <a:solidFill>
                  <a:srgbClr val="FF0000"/>
                </a:solidFill>
                <a:sym typeface="Symbol" pitchFamily="18" charset="2"/>
              </a:rPr>
              <a:t>)</a:t>
            </a:r>
            <a:r>
              <a:rPr lang="en-US" altLang="en-US" baseline="30000" dirty="0" smtClean="0">
                <a:solidFill>
                  <a:srgbClr val="FF0000"/>
                </a:solidFill>
                <a:sym typeface="Symbol" pitchFamily="18" charset="2"/>
              </a:rPr>
              <a:t>0.5</a:t>
            </a:r>
            <a:r>
              <a:rPr lang="en-US" altLang="en-US" dirty="0" smtClean="0">
                <a:solidFill>
                  <a:srgbClr val="FF0000"/>
                </a:solidFill>
                <a:sym typeface="Symbol" pitchFamily="18" charset="2"/>
              </a:rPr>
              <a:t> = </a:t>
            </a:r>
            <a:r>
              <a:rPr lang="en-US" altLang="en-US" i="1" dirty="0" err="1" smtClean="0">
                <a:solidFill>
                  <a:srgbClr val="FF0000"/>
                </a:solidFill>
                <a:sym typeface="Symbol" pitchFamily="18" charset="2"/>
              </a:rPr>
              <a:t>p</a:t>
            </a:r>
            <a:r>
              <a:rPr lang="en-US" altLang="en-US" i="1" baseline="-25000" dirty="0" err="1" smtClean="0">
                <a:solidFill>
                  <a:srgbClr val="FF0000"/>
                </a:solidFill>
                <a:sym typeface="Symbol" pitchFamily="18" charset="2"/>
              </a:rPr>
              <a:t>x</a:t>
            </a:r>
            <a:r>
              <a:rPr lang="en-US" altLang="en-US" dirty="0" smtClean="0">
                <a:solidFill>
                  <a:srgbClr val="FF0000"/>
                </a:solidFill>
                <a:sym typeface="Symbol" pitchFamily="18" charset="2"/>
              </a:rPr>
              <a:t>/</a:t>
            </a:r>
            <a:r>
              <a:rPr lang="en-US" altLang="en-US" i="1" dirty="0" err="1" smtClean="0">
                <a:solidFill>
                  <a:srgbClr val="FF0000"/>
                </a:solidFill>
                <a:sym typeface="Symbol" pitchFamily="18" charset="2"/>
              </a:rPr>
              <a:t>p</a:t>
            </a:r>
            <a:r>
              <a:rPr lang="en-US" altLang="en-US" i="1" baseline="-25000" dirty="0" err="1" smtClean="0">
                <a:solidFill>
                  <a:srgbClr val="FF0000"/>
                </a:solidFill>
                <a:sym typeface="Symbol" pitchFamily="18" charset="2"/>
              </a:rPr>
              <a:t>y</a:t>
            </a:r>
            <a:endParaRPr lang="en-US" altLang="en-US" dirty="0" smtClean="0">
              <a:solidFill>
                <a:srgbClr val="FF0000"/>
              </a:solidFill>
              <a:sym typeface="Symbol" pitchFamily="18" charset="2"/>
            </a:endParaRPr>
          </a:p>
          <a:p>
            <a:pPr lvl="1"/>
            <a:r>
              <a:rPr lang="en-US" altLang="en-US" dirty="0" smtClean="0">
                <a:sym typeface="Symbol" pitchFamily="18" charset="2"/>
              </a:rPr>
              <a:t>Substituting into the budget constraint, we can solve for the demand functions</a:t>
            </a:r>
          </a:p>
        </p:txBody>
      </p:sp>
      <p:sp>
        <p:nvSpPr>
          <p:cNvPr id="2" name="Text Placeholder 1"/>
          <p:cNvSpPr>
            <a:spLocks noGrp="1"/>
          </p:cNvSpPr>
          <p:nvPr>
            <p:ph type="body" sz="quarter" idx="13"/>
          </p:nvPr>
        </p:nvSpPr>
        <p:spPr>
          <a:xfrm>
            <a:off x="381000" y="3429000"/>
            <a:ext cx="8382000" cy="2895600"/>
          </a:xfrm>
        </p:spPr>
        <p:txBody>
          <a:bodyPr>
            <a:normAutofit/>
          </a:bodyPr>
          <a:lstStyle/>
          <a:p>
            <a:pPr eaLnBrk="0" hangingPunct="0">
              <a:buFont typeface="Arial" charset="0"/>
              <a:buChar char="•"/>
              <a:defRPr/>
            </a:pPr>
            <a:r>
              <a:rPr lang="en-US" kern="0" dirty="0"/>
              <a:t>The share of income spent on either </a:t>
            </a:r>
            <a:r>
              <a:rPr lang="en-US" i="1" kern="0" dirty="0"/>
              <a:t>x</a:t>
            </a:r>
            <a:r>
              <a:rPr lang="en-US" kern="0" dirty="0"/>
              <a:t> or </a:t>
            </a:r>
            <a:r>
              <a:rPr lang="en-US" i="1" kern="0" dirty="0"/>
              <a:t>y</a:t>
            </a:r>
            <a:r>
              <a:rPr lang="en-US" kern="0" dirty="0"/>
              <a:t> is not a constant</a:t>
            </a:r>
          </a:p>
          <a:p>
            <a:pPr lvl="1" eaLnBrk="0" hangingPunct="0">
              <a:lnSpc>
                <a:spcPct val="120000"/>
              </a:lnSpc>
              <a:buFont typeface="Arial" charset="0"/>
              <a:buChar char="•"/>
              <a:defRPr/>
            </a:pPr>
            <a:r>
              <a:rPr lang="en-US" kern="0" dirty="0">
                <a:sym typeface="Symbol" pitchFamily="18" charset="2"/>
              </a:rPr>
              <a:t>Depends on the ratio of the two prices </a:t>
            </a:r>
          </a:p>
          <a:p>
            <a:pPr lvl="1" eaLnBrk="0" hangingPunct="0">
              <a:lnSpc>
                <a:spcPct val="120000"/>
              </a:lnSpc>
              <a:buFont typeface="Arial" charset="0"/>
              <a:buChar char="•"/>
              <a:defRPr/>
            </a:pPr>
            <a:r>
              <a:rPr lang="en-US" kern="0" dirty="0">
                <a:sym typeface="Symbol" pitchFamily="18" charset="2"/>
              </a:rPr>
              <a:t>The higher is the relative price of </a:t>
            </a:r>
            <a:r>
              <a:rPr lang="en-US" i="1" kern="0" dirty="0">
                <a:sym typeface="Symbol" pitchFamily="18" charset="2"/>
              </a:rPr>
              <a:t>x</a:t>
            </a:r>
            <a:r>
              <a:rPr lang="en-US" kern="0" dirty="0">
                <a:sym typeface="Symbol" pitchFamily="18" charset="2"/>
              </a:rPr>
              <a:t>, the smaller will be the share of income spent on </a:t>
            </a:r>
            <a:r>
              <a:rPr lang="en-US" i="1" kern="0" dirty="0" smtClean="0">
                <a:sym typeface="Symbol" pitchFamily="18" charset="2"/>
              </a:rPr>
              <a:t>x</a:t>
            </a:r>
            <a:endParaRPr lang="en-US" kern="0" dirty="0">
              <a:sym typeface="Symbol" pitchFamily="18" charset="2"/>
            </a:endParaRPr>
          </a:p>
        </p:txBody>
      </p:sp>
      <p:graphicFrame>
        <p:nvGraphicFramePr>
          <p:cNvPr id="54274" name="Object 2"/>
          <p:cNvGraphicFramePr>
            <a:graphicFrameLocks noChangeAspect="1"/>
          </p:cNvGraphicFramePr>
          <p:nvPr/>
        </p:nvGraphicFramePr>
        <p:xfrm>
          <a:off x="592138" y="2147888"/>
          <a:ext cx="3509962" cy="1177925"/>
        </p:xfrm>
        <a:graphic>
          <a:graphicData uri="http://schemas.openxmlformats.org/presentationml/2006/ole">
            <mc:AlternateContent xmlns:mc="http://schemas.openxmlformats.org/markup-compatibility/2006">
              <mc:Choice xmlns:v="urn:schemas-microsoft-com:vml" Requires="v">
                <p:oleObj spid="_x0000_s135200" name="Equation" r:id="rId3" imgW="1320480" imgH="444240" progId="Equation.DSMT4">
                  <p:embed/>
                </p:oleObj>
              </mc:Choice>
              <mc:Fallback>
                <p:oleObj name="Equation" r:id="rId3" imgW="1320480" imgH="4442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2138" y="2147888"/>
                        <a:ext cx="3509962" cy="1177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275" name="Object 3"/>
          <p:cNvGraphicFramePr>
            <a:graphicFrameLocks noChangeAspect="1"/>
          </p:cNvGraphicFramePr>
          <p:nvPr/>
        </p:nvGraphicFramePr>
        <p:xfrm>
          <a:off x="4772025" y="2147888"/>
          <a:ext cx="3544888" cy="1177925"/>
        </p:xfrm>
        <a:graphic>
          <a:graphicData uri="http://schemas.openxmlformats.org/presentationml/2006/ole">
            <mc:AlternateContent xmlns:mc="http://schemas.openxmlformats.org/markup-compatibility/2006">
              <mc:Choice xmlns:v="urn:schemas-microsoft-com:vml" Requires="v">
                <p:oleObj spid="_x0000_s135201" name="Equation" r:id="rId5" imgW="1333440" imgH="444240" progId="Equation.DSMT4">
                  <p:embed/>
                </p:oleObj>
              </mc:Choice>
              <mc:Fallback>
                <p:oleObj name="Equation" r:id="rId5" imgW="1333440" imgH="44424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72025" y="2147888"/>
                        <a:ext cx="3544888" cy="1177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5349733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4274"/>
                                        </p:tgtEl>
                                        <p:attrNameLst>
                                          <p:attrName>style.visibility</p:attrName>
                                        </p:attrNameLst>
                                      </p:cBhvr>
                                      <p:to>
                                        <p:strVal val="visible"/>
                                      </p:to>
                                    </p:set>
                                    <p:animEffect transition="in" filter="wipe(left)">
                                      <p:cBhvr>
                                        <p:cTn id="7" dur="500"/>
                                        <p:tgtEl>
                                          <p:spTgt spid="54274"/>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54275"/>
                                        </p:tgtEl>
                                        <p:attrNameLst>
                                          <p:attrName>style.visibility</p:attrName>
                                        </p:attrNameLst>
                                      </p:cBhvr>
                                      <p:to>
                                        <p:strVal val="visible"/>
                                      </p:to>
                                    </p:set>
                                    <p:animEffect transition="in" filter="wipe(left)">
                                      <p:cBhvr>
                                        <p:cTn id="11" dur="500"/>
                                        <p:tgtEl>
                                          <p:spTgt spid="54275"/>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animEffect transition="in" filter="wipe(left)">
                                      <p:cBhvr>
                                        <p:cTn id="15" dur="500"/>
                                        <p:tgtEl>
                                          <p:spTgt spid="2">
                                            <p:txEl>
                                              <p:pRg st="0" end="0"/>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Effect transition="in" filter="wipe(left)">
                                      <p:cBhvr>
                                        <p:cTn id="19" dur="500"/>
                                        <p:tgtEl>
                                          <p:spTgt spid="2">
                                            <p:txEl>
                                              <p:pRg st="1" end="1"/>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animEffect transition="in" filter="wipe(left)">
                                      <p:cBhvr>
                                        <p:cTn id="23"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4.2 	CES Demand</a:t>
            </a:r>
          </a:p>
        </p:txBody>
      </p:sp>
      <p:sp>
        <p:nvSpPr>
          <p:cNvPr id="8199"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90A871C1-0825-43D3-9E9C-B5EDC65C3DA0}" type="slidenum">
              <a:rPr lang="en-US" smtClean="0"/>
              <a:pPr>
                <a:defRPr/>
              </a:pPr>
              <a:t>24</a:t>
            </a:fld>
            <a:endParaRPr lang="en-US" dirty="0"/>
          </a:p>
        </p:txBody>
      </p:sp>
      <p:sp>
        <p:nvSpPr>
          <p:cNvPr id="8197" name="Content Placeholder 2"/>
          <p:cNvSpPr>
            <a:spLocks noGrp="1"/>
          </p:cNvSpPr>
          <p:nvPr>
            <p:ph type="body" sz="quarter" idx="12"/>
          </p:nvPr>
        </p:nvSpPr>
        <p:spPr>
          <a:prstGeom prst="rect">
            <a:avLst/>
          </a:prstGeom>
        </p:spPr>
        <p:txBody>
          <a:bodyPr/>
          <a:lstStyle/>
          <a:p>
            <a:r>
              <a:rPr lang="en-US" altLang="en-US" smtClean="0"/>
              <a:t>If </a:t>
            </a:r>
            <a:r>
              <a:rPr lang="en-US" altLang="en-US" smtClean="0">
                <a:sym typeface="Symbol" pitchFamily="18" charset="2"/>
              </a:rPr>
              <a:t> = -1</a:t>
            </a:r>
            <a:r>
              <a:rPr lang="en-US" altLang="en-US" smtClean="0"/>
              <a:t>,</a:t>
            </a:r>
          </a:p>
          <a:p>
            <a:pPr algn="ctr">
              <a:lnSpc>
                <a:spcPct val="120000"/>
              </a:lnSpc>
              <a:buFontTx/>
              <a:buNone/>
            </a:pPr>
            <a:r>
              <a:rPr lang="en-US" altLang="en-US" i="1" smtClean="0">
                <a:solidFill>
                  <a:srgbClr val="FF0000"/>
                </a:solidFill>
              </a:rPr>
              <a:t>U</a:t>
            </a:r>
            <a:r>
              <a:rPr lang="en-US" altLang="en-US" smtClean="0">
                <a:solidFill>
                  <a:srgbClr val="FF0000"/>
                </a:solidFill>
              </a:rPr>
              <a:t>(</a:t>
            </a:r>
            <a:r>
              <a:rPr lang="en-US" altLang="en-US" i="1" smtClean="0">
                <a:solidFill>
                  <a:srgbClr val="FF0000"/>
                </a:solidFill>
              </a:rPr>
              <a:t>x,y</a:t>
            </a:r>
            <a:r>
              <a:rPr lang="en-US" altLang="en-US" smtClean="0">
                <a:solidFill>
                  <a:srgbClr val="FF0000"/>
                </a:solidFill>
              </a:rPr>
              <a:t>) = </a:t>
            </a:r>
            <a:r>
              <a:rPr lang="en-US" altLang="en-US" smtClean="0">
                <a:solidFill>
                  <a:srgbClr val="FF0000"/>
                </a:solidFill>
                <a:sym typeface="Symbol" pitchFamily="18" charset="2"/>
              </a:rPr>
              <a:t>-</a:t>
            </a:r>
            <a:r>
              <a:rPr lang="en-US" altLang="en-US" i="1" smtClean="0">
                <a:solidFill>
                  <a:srgbClr val="FF0000"/>
                </a:solidFill>
              </a:rPr>
              <a:t>x</a:t>
            </a:r>
            <a:r>
              <a:rPr lang="en-US" altLang="en-US" i="1" baseline="30000" smtClean="0">
                <a:solidFill>
                  <a:srgbClr val="FF0000"/>
                </a:solidFill>
              </a:rPr>
              <a:t> </a:t>
            </a:r>
            <a:r>
              <a:rPr lang="en-US" altLang="en-US" baseline="30000" smtClean="0">
                <a:solidFill>
                  <a:srgbClr val="FF0000"/>
                </a:solidFill>
                <a:sym typeface="Symbol" pitchFamily="18" charset="2"/>
              </a:rPr>
              <a:t>-1</a:t>
            </a:r>
            <a:r>
              <a:rPr lang="en-US" altLang="en-US" smtClean="0">
                <a:solidFill>
                  <a:srgbClr val="FF0000"/>
                </a:solidFill>
                <a:sym typeface="Symbol" pitchFamily="18" charset="2"/>
              </a:rPr>
              <a:t> - </a:t>
            </a:r>
            <a:r>
              <a:rPr lang="en-US" altLang="en-US" i="1" smtClean="0">
                <a:solidFill>
                  <a:srgbClr val="FF0000"/>
                </a:solidFill>
                <a:sym typeface="Symbol" pitchFamily="18" charset="2"/>
              </a:rPr>
              <a:t>y</a:t>
            </a:r>
            <a:r>
              <a:rPr lang="en-US" altLang="en-US" i="1" baseline="30000" smtClean="0">
                <a:solidFill>
                  <a:srgbClr val="FF0000"/>
                </a:solidFill>
                <a:sym typeface="Symbol" pitchFamily="18" charset="2"/>
              </a:rPr>
              <a:t> </a:t>
            </a:r>
            <a:r>
              <a:rPr lang="en-US" altLang="en-US" baseline="30000" smtClean="0">
                <a:solidFill>
                  <a:srgbClr val="FF0000"/>
                </a:solidFill>
                <a:sym typeface="Symbol" pitchFamily="18" charset="2"/>
              </a:rPr>
              <a:t>-1</a:t>
            </a:r>
            <a:endParaRPr lang="en-US" altLang="en-US" smtClean="0">
              <a:solidFill>
                <a:srgbClr val="FF0000"/>
              </a:solidFill>
              <a:sym typeface="Symbol" pitchFamily="18" charset="2"/>
            </a:endParaRPr>
          </a:p>
          <a:p>
            <a:pPr>
              <a:lnSpc>
                <a:spcPct val="120000"/>
              </a:lnSpc>
            </a:pPr>
            <a:r>
              <a:rPr lang="en-US" altLang="en-US" smtClean="0">
                <a:sym typeface="Symbol" pitchFamily="18" charset="2"/>
              </a:rPr>
              <a:t>First-order conditions imply that</a:t>
            </a:r>
          </a:p>
          <a:p>
            <a:pPr algn="ctr">
              <a:lnSpc>
                <a:spcPct val="120000"/>
              </a:lnSpc>
              <a:buFontTx/>
              <a:buNone/>
            </a:pPr>
            <a:r>
              <a:rPr lang="en-US" altLang="en-US" i="1" smtClean="0">
                <a:solidFill>
                  <a:srgbClr val="FF0000"/>
                </a:solidFill>
                <a:sym typeface="Symbol" pitchFamily="18" charset="2"/>
              </a:rPr>
              <a:t>y</a:t>
            </a:r>
            <a:r>
              <a:rPr lang="en-US" altLang="en-US" smtClean="0">
                <a:solidFill>
                  <a:srgbClr val="FF0000"/>
                </a:solidFill>
                <a:sym typeface="Symbol" pitchFamily="18" charset="2"/>
              </a:rPr>
              <a:t>/</a:t>
            </a:r>
            <a:r>
              <a:rPr lang="en-US" altLang="en-US" i="1" smtClean="0">
                <a:solidFill>
                  <a:srgbClr val="FF0000"/>
                </a:solidFill>
                <a:sym typeface="Symbol" pitchFamily="18" charset="2"/>
              </a:rPr>
              <a:t>x</a:t>
            </a:r>
            <a:r>
              <a:rPr lang="en-US" altLang="en-US" smtClean="0">
                <a:solidFill>
                  <a:srgbClr val="FF0000"/>
                </a:solidFill>
                <a:sym typeface="Symbol" pitchFamily="18" charset="2"/>
              </a:rPr>
              <a:t> = (</a:t>
            </a:r>
            <a:r>
              <a:rPr lang="en-US" altLang="en-US" i="1" smtClean="0">
                <a:solidFill>
                  <a:srgbClr val="FF0000"/>
                </a:solidFill>
                <a:sym typeface="Symbol" pitchFamily="18" charset="2"/>
              </a:rPr>
              <a:t>p</a:t>
            </a:r>
            <a:r>
              <a:rPr lang="en-US" altLang="en-US" i="1" baseline="-25000" smtClean="0">
                <a:solidFill>
                  <a:srgbClr val="FF0000"/>
                </a:solidFill>
                <a:sym typeface="Symbol" pitchFamily="18" charset="2"/>
              </a:rPr>
              <a:t>x</a:t>
            </a:r>
            <a:r>
              <a:rPr lang="en-US" altLang="en-US" smtClean="0">
                <a:solidFill>
                  <a:srgbClr val="FF0000"/>
                </a:solidFill>
                <a:sym typeface="Symbol" pitchFamily="18" charset="2"/>
              </a:rPr>
              <a:t>/</a:t>
            </a:r>
            <a:r>
              <a:rPr lang="en-US" altLang="en-US" i="1" smtClean="0">
                <a:solidFill>
                  <a:srgbClr val="FF0000"/>
                </a:solidFill>
                <a:sym typeface="Symbol" pitchFamily="18" charset="2"/>
              </a:rPr>
              <a:t>p</a:t>
            </a:r>
            <a:r>
              <a:rPr lang="en-US" altLang="en-US" i="1" baseline="-25000" smtClean="0">
                <a:solidFill>
                  <a:srgbClr val="FF0000"/>
                </a:solidFill>
                <a:sym typeface="Symbol" pitchFamily="18" charset="2"/>
              </a:rPr>
              <a:t>y</a:t>
            </a:r>
            <a:r>
              <a:rPr lang="en-US" altLang="en-US" smtClean="0">
                <a:solidFill>
                  <a:srgbClr val="FF0000"/>
                </a:solidFill>
                <a:sym typeface="Symbol" pitchFamily="18" charset="2"/>
              </a:rPr>
              <a:t>)</a:t>
            </a:r>
            <a:r>
              <a:rPr lang="en-US" altLang="en-US" baseline="30000" smtClean="0">
                <a:solidFill>
                  <a:srgbClr val="FF0000"/>
                </a:solidFill>
                <a:sym typeface="Symbol" pitchFamily="18" charset="2"/>
              </a:rPr>
              <a:t>0.5</a:t>
            </a:r>
            <a:endParaRPr lang="en-US" altLang="en-US" smtClean="0">
              <a:solidFill>
                <a:srgbClr val="FF0000"/>
              </a:solidFill>
              <a:sym typeface="Symbol" pitchFamily="18" charset="2"/>
            </a:endParaRPr>
          </a:p>
          <a:p>
            <a:pPr>
              <a:lnSpc>
                <a:spcPct val="120000"/>
              </a:lnSpc>
            </a:pPr>
            <a:r>
              <a:rPr lang="en-US" altLang="en-US" smtClean="0">
                <a:sym typeface="Symbol" pitchFamily="18" charset="2"/>
              </a:rPr>
              <a:t>The demand functions are</a:t>
            </a:r>
          </a:p>
        </p:txBody>
      </p:sp>
      <p:graphicFrame>
        <p:nvGraphicFramePr>
          <p:cNvPr id="55300" name="Object 4"/>
          <p:cNvGraphicFramePr>
            <a:graphicFrameLocks noChangeAspect="1"/>
          </p:cNvGraphicFramePr>
          <p:nvPr/>
        </p:nvGraphicFramePr>
        <p:xfrm>
          <a:off x="941388" y="4052888"/>
          <a:ext cx="2909887" cy="1652587"/>
        </p:xfrm>
        <a:graphic>
          <a:graphicData uri="http://schemas.openxmlformats.org/presentationml/2006/ole">
            <mc:AlternateContent xmlns:mc="http://schemas.openxmlformats.org/markup-compatibility/2006">
              <mc:Choice xmlns:v="urn:schemas-microsoft-com:vml" Requires="v">
                <p:oleObj spid="_x0000_s136224" name="Equation" r:id="rId3" imgW="1320480" imgH="749160" progId="Equation.DSMT4">
                  <p:embed/>
                </p:oleObj>
              </mc:Choice>
              <mc:Fallback>
                <p:oleObj name="Equation" r:id="rId3" imgW="1320480" imgH="74916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1388" y="4052888"/>
                        <a:ext cx="2909887" cy="1652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301" name="Object 5"/>
          <p:cNvGraphicFramePr>
            <a:graphicFrameLocks noChangeAspect="1"/>
          </p:cNvGraphicFramePr>
          <p:nvPr/>
        </p:nvGraphicFramePr>
        <p:xfrm>
          <a:off x="4738688" y="3976688"/>
          <a:ext cx="3084512" cy="1808162"/>
        </p:xfrm>
        <a:graphic>
          <a:graphicData uri="http://schemas.openxmlformats.org/presentationml/2006/ole">
            <mc:AlternateContent xmlns:mc="http://schemas.openxmlformats.org/markup-compatibility/2006">
              <mc:Choice xmlns:v="urn:schemas-microsoft-com:vml" Requires="v">
                <p:oleObj spid="_x0000_s136225" name="Equation" r:id="rId5" imgW="1346040" imgH="787320" progId="Equation.DSMT4">
                  <p:embed/>
                </p:oleObj>
              </mc:Choice>
              <mc:Fallback>
                <p:oleObj name="Equation" r:id="rId5" imgW="1346040" imgH="78732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38688" y="3976688"/>
                        <a:ext cx="3084512" cy="1808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1291486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5300"/>
                                        </p:tgtEl>
                                        <p:attrNameLst>
                                          <p:attrName>style.visibility</p:attrName>
                                        </p:attrNameLst>
                                      </p:cBhvr>
                                      <p:to>
                                        <p:strVal val="visible"/>
                                      </p:to>
                                    </p:set>
                                    <p:animEffect transition="in" filter="wipe(left)">
                                      <p:cBhvr>
                                        <p:cTn id="7" dur="500"/>
                                        <p:tgtEl>
                                          <p:spTgt spid="55300"/>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55301"/>
                                        </p:tgtEl>
                                        <p:attrNameLst>
                                          <p:attrName>style.visibility</p:attrName>
                                        </p:attrNameLst>
                                      </p:cBhvr>
                                      <p:to>
                                        <p:strVal val="visible"/>
                                      </p:to>
                                    </p:set>
                                    <p:animEffect transition="in" filter="wipe(left)">
                                      <p:cBhvr>
                                        <p:cTn id="11" dur="500"/>
                                        <p:tgtEl>
                                          <p:spTgt spid="553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4.2 	CES Demand</a:t>
            </a:r>
          </a:p>
        </p:txBody>
      </p:sp>
      <p:sp>
        <p:nvSpPr>
          <p:cNvPr id="9223"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84F3CE32-4D2D-40A7-A6A2-617EEA0E7A95}" type="slidenum">
              <a:rPr lang="en-US" smtClean="0"/>
              <a:pPr>
                <a:defRPr/>
              </a:pPr>
              <a:t>25</a:t>
            </a:fld>
            <a:endParaRPr lang="en-US" dirty="0"/>
          </a:p>
        </p:txBody>
      </p:sp>
      <p:sp>
        <p:nvSpPr>
          <p:cNvPr id="9221" name="Content Placeholder 2"/>
          <p:cNvSpPr>
            <a:spLocks noGrp="1"/>
          </p:cNvSpPr>
          <p:nvPr>
            <p:ph type="body" sz="quarter" idx="12"/>
          </p:nvPr>
        </p:nvSpPr>
        <p:spPr>
          <a:prstGeom prst="rect">
            <a:avLst/>
          </a:prstGeom>
        </p:spPr>
        <p:txBody>
          <a:bodyPr/>
          <a:lstStyle/>
          <a:p>
            <a:r>
              <a:rPr lang="en-US" altLang="en-US" dirty="0" smtClean="0"/>
              <a:t>If </a:t>
            </a:r>
            <a:r>
              <a:rPr lang="en-US" altLang="en-US" dirty="0" smtClean="0">
                <a:sym typeface="Symbol" pitchFamily="18" charset="2"/>
              </a:rPr>
              <a:t> = -</a:t>
            </a:r>
            <a:r>
              <a:rPr lang="en-US" altLang="en-US" dirty="0" smtClean="0"/>
              <a:t>, </a:t>
            </a:r>
            <a:r>
              <a:rPr lang="en-US" altLang="en-US" i="1" dirty="0" smtClean="0">
                <a:solidFill>
                  <a:srgbClr val="FF0000"/>
                </a:solidFill>
              </a:rPr>
              <a:t>U</a:t>
            </a:r>
            <a:r>
              <a:rPr lang="en-US" altLang="en-US" dirty="0" smtClean="0">
                <a:solidFill>
                  <a:srgbClr val="FF0000"/>
                </a:solidFill>
              </a:rPr>
              <a:t>(</a:t>
            </a:r>
            <a:r>
              <a:rPr lang="en-US" altLang="en-US" i="1" dirty="0" err="1" smtClean="0">
                <a:solidFill>
                  <a:srgbClr val="FF0000"/>
                </a:solidFill>
              </a:rPr>
              <a:t>x,y</a:t>
            </a:r>
            <a:r>
              <a:rPr lang="en-US" altLang="en-US" dirty="0" smtClean="0">
                <a:solidFill>
                  <a:srgbClr val="FF0000"/>
                </a:solidFill>
              </a:rPr>
              <a:t>) = </a:t>
            </a:r>
            <a:r>
              <a:rPr lang="en-US" altLang="en-US" i="1" dirty="0" smtClean="0">
                <a:solidFill>
                  <a:srgbClr val="FF0000"/>
                </a:solidFill>
                <a:sym typeface="Symbol" pitchFamily="18" charset="2"/>
              </a:rPr>
              <a:t>min</a:t>
            </a:r>
            <a:r>
              <a:rPr lang="en-US" altLang="en-US" dirty="0" smtClean="0">
                <a:solidFill>
                  <a:srgbClr val="FF0000"/>
                </a:solidFill>
                <a:sym typeface="Symbol" pitchFamily="18" charset="2"/>
              </a:rPr>
              <a:t>(</a:t>
            </a:r>
            <a:r>
              <a:rPr lang="en-US" altLang="en-US" i="1" dirty="0" smtClean="0">
                <a:solidFill>
                  <a:srgbClr val="FF0000"/>
                </a:solidFill>
                <a:sym typeface="Symbol" pitchFamily="18" charset="2"/>
              </a:rPr>
              <a:t>x</a:t>
            </a:r>
            <a:r>
              <a:rPr lang="en-US" altLang="en-US" dirty="0" smtClean="0">
                <a:solidFill>
                  <a:srgbClr val="FF0000"/>
                </a:solidFill>
                <a:sym typeface="Symbol" pitchFamily="18" charset="2"/>
              </a:rPr>
              <a:t>,4</a:t>
            </a:r>
            <a:r>
              <a:rPr lang="en-US" altLang="en-US" i="1" dirty="0" smtClean="0">
                <a:solidFill>
                  <a:srgbClr val="FF0000"/>
                </a:solidFill>
                <a:sym typeface="Symbol" pitchFamily="18" charset="2"/>
              </a:rPr>
              <a:t>y</a:t>
            </a:r>
            <a:r>
              <a:rPr lang="en-US" altLang="en-US" dirty="0" smtClean="0">
                <a:solidFill>
                  <a:srgbClr val="FF0000"/>
                </a:solidFill>
                <a:sym typeface="Symbol" pitchFamily="18" charset="2"/>
              </a:rPr>
              <a:t>)</a:t>
            </a:r>
            <a:endParaRPr lang="en-US" altLang="en-US" i="1" dirty="0" smtClean="0">
              <a:solidFill>
                <a:srgbClr val="FF0000"/>
              </a:solidFill>
              <a:sym typeface="Symbol" pitchFamily="18" charset="2"/>
            </a:endParaRPr>
          </a:p>
          <a:p>
            <a:pPr lvl="1"/>
            <a:r>
              <a:rPr lang="en-US" altLang="en-US" dirty="0" smtClean="0">
                <a:sym typeface="Symbol" pitchFamily="18" charset="2"/>
              </a:rPr>
              <a:t>The person will choose only combinations for which </a:t>
            </a:r>
            <a:r>
              <a:rPr lang="en-US" altLang="en-US" i="1" dirty="0" smtClean="0">
                <a:sym typeface="Symbol" pitchFamily="18" charset="2"/>
              </a:rPr>
              <a:t>x = </a:t>
            </a:r>
            <a:r>
              <a:rPr lang="en-US" altLang="en-US" dirty="0" smtClean="0">
                <a:sym typeface="Symbol" pitchFamily="18" charset="2"/>
              </a:rPr>
              <a:t>4</a:t>
            </a:r>
            <a:r>
              <a:rPr lang="en-US" altLang="en-US" i="1" dirty="0" smtClean="0">
                <a:sym typeface="Symbol" pitchFamily="18" charset="2"/>
              </a:rPr>
              <a:t>y</a:t>
            </a:r>
            <a:endParaRPr lang="en-US" altLang="en-US" dirty="0" smtClean="0">
              <a:solidFill>
                <a:srgbClr val="3B4F89"/>
              </a:solidFill>
              <a:sym typeface="Symbol" pitchFamily="18" charset="2"/>
            </a:endParaRPr>
          </a:p>
          <a:p>
            <a:pPr lvl="1">
              <a:lnSpc>
                <a:spcPct val="120000"/>
              </a:lnSpc>
            </a:pPr>
            <a:r>
              <a:rPr lang="en-US" altLang="en-US" dirty="0" smtClean="0">
                <a:sym typeface="Symbol" pitchFamily="18" charset="2"/>
              </a:rPr>
              <a:t>This means that</a:t>
            </a:r>
          </a:p>
          <a:p>
            <a:pPr algn="ctr">
              <a:lnSpc>
                <a:spcPct val="140000"/>
              </a:lnSpc>
              <a:buFontTx/>
              <a:buNone/>
            </a:pPr>
            <a:r>
              <a:rPr lang="en-US" altLang="en-US" i="1" dirty="0" smtClean="0">
                <a:solidFill>
                  <a:srgbClr val="FF0000"/>
                </a:solidFill>
                <a:latin typeface="Verdana" pitchFamily="34" charset="0"/>
                <a:sym typeface="Symbol" pitchFamily="18" charset="2"/>
              </a:rPr>
              <a:t>I</a:t>
            </a:r>
            <a:r>
              <a:rPr lang="en-US" altLang="en-US" dirty="0" smtClean="0">
                <a:solidFill>
                  <a:srgbClr val="FF0000"/>
                </a:solidFill>
                <a:sym typeface="Symbol" pitchFamily="18" charset="2"/>
              </a:rPr>
              <a:t> = </a:t>
            </a:r>
            <a:r>
              <a:rPr lang="en-US" altLang="en-US" i="1" dirty="0" err="1" smtClean="0">
                <a:solidFill>
                  <a:srgbClr val="FF0000"/>
                </a:solidFill>
                <a:sym typeface="Symbol" pitchFamily="18" charset="2"/>
              </a:rPr>
              <a:t>p</a:t>
            </a:r>
            <a:r>
              <a:rPr lang="en-US" altLang="en-US" i="1" baseline="-25000" dirty="0" err="1" smtClean="0">
                <a:solidFill>
                  <a:srgbClr val="FF0000"/>
                </a:solidFill>
                <a:sym typeface="Symbol" pitchFamily="18" charset="2"/>
              </a:rPr>
              <a:t>x</a:t>
            </a:r>
            <a:r>
              <a:rPr lang="en-US" altLang="en-US" i="1" dirty="0" err="1" smtClean="0">
                <a:solidFill>
                  <a:srgbClr val="FF0000"/>
                </a:solidFill>
                <a:sym typeface="Symbol" pitchFamily="18" charset="2"/>
              </a:rPr>
              <a:t>x</a:t>
            </a:r>
            <a:r>
              <a:rPr lang="en-US" altLang="en-US" i="1" dirty="0" smtClean="0">
                <a:solidFill>
                  <a:srgbClr val="FF0000"/>
                </a:solidFill>
                <a:sym typeface="Symbol" pitchFamily="18" charset="2"/>
              </a:rPr>
              <a:t> + </a:t>
            </a:r>
            <a:r>
              <a:rPr lang="en-US" altLang="en-US" i="1" dirty="0" err="1" smtClean="0">
                <a:solidFill>
                  <a:srgbClr val="FF0000"/>
                </a:solidFill>
                <a:sym typeface="Symbol" pitchFamily="18" charset="2"/>
              </a:rPr>
              <a:t>p</a:t>
            </a:r>
            <a:r>
              <a:rPr lang="en-US" altLang="en-US" i="1" baseline="-25000" dirty="0" err="1" smtClean="0">
                <a:solidFill>
                  <a:srgbClr val="FF0000"/>
                </a:solidFill>
                <a:sym typeface="Symbol" pitchFamily="18" charset="2"/>
              </a:rPr>
              <a:t>y</a:t>
            </a:r>
            <a:r>
              <a:rPr lang="en-US" altLang="en-US" i="1" dirty="0" err="1" smtClean="0">
                <a:solidFill>
                  <a:srgbClr val="FF0000"/>
                </a:solidFill>
                <a:sym typeface="Symbol" pitchFamily="18" charset="2"/>
              </a:rPr>
              <a:t>y</a:t>
            </a:r>
            <a:r>
              <a:rPr lang="en-US" altLang="en-US" i="1" dirty="0" smtClean="0">
                <a:solidFill>
                  <a:srgbClr val="FF0000"/>
                </a:solidFill>
                <a:sym typeface="Symbol" pitchFamily="18" charset="2"/>
              </a:rPr>
              <a:t> = </a:t>
            </a:r>
            <a:r>
              <a:rPr lang="en-US" altLang="en-US" i="1" dirty="0" err="1" smtClean="0">
                <a:solidFill>
                  <a:srgbClr val="FF0000"/>
                </a:solidFill>
                <a:sym typeface="Symbol" pitchFamily="18" charset="2"/>
              </a:rPr>
              <a:t>p</a:t>
            </a:r>
            <a:r>
              <a:rPr lang="en-US" altLang="en-US" i="1" baseline="-25000" dirty="0" err="1" smtClean="0">
                <a:solidFill>
                  <a:srgbClr val="FF0000"/>
                </a:solidFill>
                <a:sym typeface="Symbol" pitchFamily="18" charset="2"/>
              </a:rPr>
              <a:t>x</a:t>
            </a:r>
            <a:r>
              <a:rPr lang="en-US" altLang="en-US" i="1" dirty="0" err="1" smtClean="0">
                <a:solidFill>
                  <a:srgbClr val="FF0000"/>
                </a:solidFill>
                <a:sym typeface="Symbol" pitchFamily="18" charset="2"/>
              </a:rPr>
              <a:t>x</a:t>
            </a:r>
            <a:r>
              <a:rPr lang="en-US" altLang="en-US" i="1" dirty="0" smtClean="0">
                <a:solidFill>
                  <a:srgbClr val="FF0000"/>
                </a:solidFill>
                <a:sym typeface="Symbol" pitchFamily="18" charset="2"/>
              </a:rPr>
              <a:t> + </a:t>
            </a:r>
            <a:r>
              <a:rPr lang="en-US" altLang="en-US" i="1" dirty="0" err="1" smtClean="0">
                <a:solidFill>
                  <a:srgbClr val="FF0000"/>
                </a:solidFill>
                <a:sym typeface="Symbol" pitchFamily="18" charset="2"/>
              </a:rPr>
              <a:t>p</a:t>
            </a:r>
            <a:r>
              <a:rPr lang="en-US" altLang="en-US" i="1" baseline="-25000" dirty="0" err="1" smtClean="0">
                <a:solidFill>
                  <a:srgbClr val="FF0000"/>
                </a:solidFill>
                <a:sym typeface="Symbol" pitchFamily="18" charset="2"/>
              </a:rPr>
              <a:t>y</a:t>
            </a:r>
            <a:r>
              <a:rPr lang="en-US" altLang="en-US" dirty="0" smtClean="0">
                <a:solidFill>
                  <a:srgbClr val="FF0000"/>
                </a:solidFill>
                <a:sym typeface="Symbol" pitchFamily="18" charset="2"/>
              </a:rPr>
              <a:t>(</a:t>
            </a:r>
            <a:r>
              <a:rPr lang="en-US" altLang="en-US" i="1" dirty="0" smtClean="0">
                <a:solidFill>
                  <a:srgbClr val="FF0000"/>
                </a:solidFill>
                <a:sym typeface="Symbol" pitchFamily="18" charset="2"/>
              </a:rPr>
              <a:t>x</a:t>
            </a:r>
            <a:r>
              <a:rPr lang="en-US" altLang="en-US" dirty="0" smtClean="0">
                <a:solidFill>
                  <a:srgbClr val="FF0000"/>
                </a:solidFill>
                <a:sym typeface="Symbol" pitchFamily="18" charset="2"/>
              </a:rPr>
              <a:t>/4)</a:t>
            </a:r>
          </a:p>
          <a:p>
            <a:pPr algn="ctr">
              <a:lnSpc>
                <a:spcPct val="140000"/>
              </a:lnSpc>
              <a:buFontTx/>
              <a:buNone/>
            </a:pPr>
            <a:r>
              <a:rPr lang="en-US" altLang="en-US" i="1" dirty="0" smtClean="0">
                <a:solidFill>
                  <a:srgbClr val="FF0000"/>
                </a:solidFill>
                <a:latin typeface="Verdana" pitchFamily="34" charset="0"/>
                <a:sym typeface="Symbol" pitchFamily="18" charset="2"/>
              </a:rPr>
              <a:t>I</a:t>
            </a:r>
            <a:r>
              <a:rPr lang="en-US" altLang="en-US" i="1" dirty="0" smtClean="0">
                <a:solidFill>
                  <a:srgbClr val="FF0000"/>
                </a:solidFill>
                <a:sym typeface="Symbol" pitchFamily="18" charset="2"/>
              </a:rPr>
              <a:t> = </a:t>
            </a:r>
            <a:r>
              <a:rPr lang="en-US" altLang="en-US" dirty="0" smtClean="0">
                <a:solidFill>
                  <a:srgbClr val="FF0000"/>
                </a:solidFill>
                <a:sym typeface="Symbol" pitchFamily="18" charset="2"/>
              </a:rPr>
              <a:t>(</a:t>
            </a:r>
            <a:r>
              <a:rPr lang="en-US" altLang="en-US" i="1" dirty="0" err="1" smtClean="0">
                <a:solidFill>
                  <a:srgbClr val="FF0000"/>
                </a:solidFill>
                <a:sym typeface="Symbol" pitchFamily="18" charset="2"/>
              </a:rPr>
              <a:t>p</a:t>
            </a:r>
            <a:r>
              <a:rPr lang="en-US" altLang="en-US" i="1" baseline="-25000" dirty="0" err="1" smtClean="0">
                <a:solidFill>
                  <a:srgbClr val="FF0000"/>
                </a:solidFill>
                <a:sym typeface="Symbol" pitchFamily="18" charset="2"/>
              </a:rPr>
              <a:t>x</a:t>
            </a:r>
            <a:r>
              <a:rPr lang="en-US" altLang="en-US" dirty="0" smtClean="0">
                <a:solidFill>
                  <a:srgbClr val="FF0000"/>
                </a:solidFill>
                <a:sym typeface="Symbol" pitchFamily="18" charset="2"/>
              </a:rPr>
              <a:t> + 0.25</a:t>
            </a:r>
            <a:r>
              <a:rPr lang="en-US" altLang="en-US" i="1" dirty="0" smtClean="0">
                <a:solidFill>
                  <a:srgbClr val="FF0000"/>
                </a:solidFill>
                <a:sym typeface="Symbol" pitchFamily="18" charset="2"/>
              </a:rPr>
              <a:t>p</a:t>
            </a:r>
            <a:r>
              <a:rPr lang="en-US" altLang="en-US" i="1" baseline="-25000" dirty="0" smtClean="0">
                <a:solidFill>
                  <a:srgbClr val="FF0000"/>
                </a:solidFill>
                <a:sym typeface="Symbol" pitchFamily="18" charset="2"/>
              </a:rPr>
              <a:t>y</a:t>
            </a:r>
            <a:r>
              <a:rPr lang="en-US" altLang="en-US" dirty="0" smtClean="0">
                <a:solidFill>
                  <a:srgbClr val="FF0000"/>
                </a:solidFill>
                <a:sym typeface="Symbol" pitchFamily="18" charset="2"/>
              </a:rPr>
              <a:t>)</a:t>
            </a:r>
            <a:r>
              <a:rPr lang="en-US" altLang="en-US" i="1" dirty="0" smtClean="0">
                <a:solidFill>
                  <a:srgbClr val="FF0000"/>
                </a:solidFill>
                <a:sym typeface="Symbol" pitchFamily="18" charset="2"/>
              </a:rPr>
              <a:t>x</a:t>
            </a:r>
          </a:p>
          <a:p>
            <a:pPr>
              <a:lnSpc>
                <a:spcPct val="140000"/>
              </a:lnSpc>
            </a:pPr>
            <a:r>
              <a:rPr lang="en-US" altLang="en-US" dirty="0" smtClean="0">
                <a:sym typeface="Symbol" pitchFamily="18" charset="2"/>
              </a:rPr>
              <a:t>The demand functions are</a:t>
            </a:r>
          </a:p>
          <a:p>
            <a:pPr>
              <a:lnSpc>
                <a:spcPct val="140000"/>
              </a:lnSpc>
            </a:pPr>
            <a:endParaRPr lang="en-US" altLang="en-US" i="1" dirty="0" smtClean="0">
              <a:solidFill>
                <a:srgbClr val="FF0000"/>
              </a:solidFill>
              <a:sym typeface="Symbol" pitchFamily="18" charset="2"/>
            </a:endParaRPr>
          </a:p>
        </p:txBody>
      </p:sp>
      <p:graphicFrame>
        <p:nvGraphicFramePr>
          <p:cNvPr id="56324" name="Object 4"/>
          <p:cNvGraphicFramePr>
            <a:graphicFrameLocks noChangeAspect="1"/>
          </p:cNvGraphicFramePr>
          <p:nvPr/>
        </p:nvGraphicFramePr>
        <p:xfrm>
          <a:off x="1155700" y="5014913"/>
          <a:ext cx="2725738" cy="1122362"/>
        </p:xfrm>
        <a:graphic>
          <a:graphicData uri="http://schemas.openxmlformats.org/presentationml/2006/ole">
            <mc:AlternateContent xmlns:mc="http://schemas.openxmlformats.org/markup-compatibility/2006">
              <mc:Choice xmlns:v="urn:schemas-microsoft-com:vml" Requires="v">
                <p:oleObj spid="_x0000_s137248" name="Equation" r:id="rId3" imgW="1079280" imgH="444240" progId="Equation.DSMT4">
                  <p:embed/>
                </p:oleObj>
              </mc:Choice>
              <mc:Fallback>
                <p:oleObj name="Equation" r:id="rId3" imgW="1079280" imgH="4442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5700" y="5014913"/>
                        <a:ext cx="2725738" cy="1122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5" name="Object 5"/>
          <p:cNvGraphicFramePr>
            <a:graphicFrameLocks noChangeAspect="1"/>
          </p:cNvGraphicFramePr>
          <p:nvPr/>
        </p:nvGraphicFramePr>
        <p:xfrm>
          <a:off x="5113338" y="5014913"/>
          <a:ext cx="2368550" cy="1169987"/>
        </p:xfrm>
        <a:graphic>
          <a:graphicData uri="http://schemas.openxmlformats.org/presentationml/2006/ole">
            <mc:AlternateContent xmlns:mc="http://schemas.openxmlformats.org/markup-compatibility/2006">
              <mc:Choice xmlns:v="urn:schemas-microsoft-com:vml" Requires="v">
                <p:oleObj spid="_x0000_s137249" name="Equation" r:id="rId5" imgW="901440" imgH="444240" progId="Equation.DSMT4">
                  <p:embed/>
                </p:oleObj>
              </mc:Choice>
              <mc:Fallback>
                <p:oleObj name="Equation" r:id="rId5" imgW="901440" imgH="44424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13338" y="5014913"/>
                        <a:ext cx="2368550" cy="1169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764222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6324"/>
                                        </p:tgtEl>
                                        <p:attrNameLst>
                                          <p:attrName>style.visibility</p:attrName>
                                        </p:attrNameLst>
                                      </p:cBhvr>
                                      <p:to>
                                        <p:strVal val="visible"/>
                                      </p:to>
                                    </p:set>
                                    <p:animEffect transition="in" filter="wipe(left)">
                                      <p:cBhvr>
                                        <p:cTn id="7" dur="500"/>
                                        <p:tgtEl>
                                          <p:spTgt spid="56324"/>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56325"/>
                                        </p:tgtEl>
                                        <p:attrNameLst>
                                          <p:attrName>style.visibility</p:attrName>
                                        </p:attrNameLst>
                                      </p:cBhvr>
                                      <p:to>
                                        <p:strVal val="visible"/>
                                      </p:to>
                                    </p:set>
                                    <p:animEffect transition="in" filter="wipe(left)">
                                      <p:cBhvr>
                                        <p:cTn id="11" dur="500"/>
                                        <p:tgtEl>
                                          <p:spTgt spid="563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lstStyle/>
          <a:p>
            <a:r>
              <a:rPr lang="en-US" altLang="en-US" smtClean="0"/>
              <a:t>Indirect Utility Function</a:t>
            </a:r>
          </a:p>
        </p:txBody>
      </p:sp>
      <p:sp>
        <p:nvSpPr>
          <p:cNvPr id="46083" name="Content Placeholder 2"/>
          <p:cNvSpPr>
            <a:spLocks noGrp="1"/>
          </p:cNvSpPr>
          <p:nvPr>
            <p:ph idx="1"/>
          </p:nvPr>
        </p:nvSpPr>
        <p:spPr/>
        <p:txBody>
          <a:bodyPr/>
          <a:lstStyle/>
          <a:p>
            <a:r>
              <a:rPr lang="en-US" altLang="en-US" smtClean="0"/>
              <a:t>It is often possible to manipulate first-order conditions to solve for optimal values of </a:t>
            </a:r>
            <a:r>
              <a:rPr lang="en-US" altLang="en-US" i="1" smtClean="0"/>
              <a:t>x</a:t>
            </a:r>
            <a:r>
              <a:rPr lang="en-US" altLang="en-US" baseline="-25000" smtClean="0"/>
              <a:t>1</a:t>
            </a:r>
            <a:r>
              <a:rPr lang="en-US" altLang="en-US" smtClean="0"/>
              <a:t>,</a:t>
            </a:r>
            <a:r>
              <a:rPr lang="en-US" altLang="en-US" i="1" smtClean="0"/>
              <a:t>x</a:t>
            </a:r>
            <a:r>
              <a:rPr lang="en-US" altLang="en-US" baseline="-25000" smtClean="0"/>
              <a:t>2</a:t>
            </a:r>
            <a:r>
              <a:rPr lang="en-US" altLang="en-US" smtClean="0"/>
              <a:t>,…,</a:t>
            </a:r>
            <a:r>
              <a:rPr lang="en-US" altLang="en-US" i="1" smtClean="0"/>
              <a:t>x</a:t>
            </a:r>
            <a:r>
              <a:rPr lang="en-US" altLang="en-US" i="1" baseline="-25000" smtClean="0"/>
              <a:t>n</a:t>
            </a:r>
            <a:endParaRPr lang="en-US" altLang="en-US" i="1" smtClean="0"/>
          </a:p>
          <a:p>
            <a:pPr lvl="1"/>
            <a:r>
              <a:rPr lang="en-US" altLang="en-US" smtClean="0"/>
              <a:t>These optimal values will be</a:t>
            </a:r>
          </a:p>
          <a:p>
            <a:pPr lvl="2">
              <a:buFontTx/>
              <a:buNone/>
            </a:pPr>
            <a:r>
              <a:rPr lang="en-US" altLang="en-US" sz="3200" i="1" smtClean="0">
                <a:solidFill>
                  <a:srgbClr val="FF0000"/>
                </a:solidFill>
              </a:rPr>
              <a:t>x*</a:t>
            </a:r>
            <a:r>
              <a:rPr lang="en-US" altLang="en-US" sz="3200" baseline="-25000" smtClean="0">
                <a:solidFill>
                  <a:srgbClr val="FF0000"/>
                </a:solidFill>
              </a:rPr>
              <a:t>1</a:t>
            </a:r>
            <a:r>
              <a:rPr lang="en-US" altLang="en-US" sz="3200" smtClean="0">
                <a:solidFill>
                  <a:srgbClr val="FF0000"/>
                </a:solidFill>
              </a:rPr>
              <a:t> = </a:t>
            </a:r>
            <a:r>
              <a:rPr lang="en-US" altLang="en-US" sz="3200" i="1" smtClean="0">
                <a:solidFill>
                  <a:srgbClr val="FF0000"/>
                </a:solidFill>
              </a:rPr>
              <a:t>x</a:t>
            </a:r>
            <a:r>
              <a:rPr lang="en-US" altLang="en-US" sz="3200" baseline="-25000" smtClean="0">
                <a:solidFill>
                  <a:srgbClr val="FF0000"/>
                </a:solidFill>
              </a:rPr>
              <a:t>1</a:t>
            </a:r>
            <a:r>
              <a:rPr lang="en-US" altLang="en-US" sz="3200" smtClean="0">
                <a:solidFill>
                  <a:srgbClr val="FF0000"/>
                </a:solidFill>
              </a:rPr>
              <a:t>(</a:t>
            </a:r>
            <a:r>
              <a:rPr lang="en-US" altLang="en-US" sz="3200" i="1" smtClean="0">
                <a:solidFill>
                  <a:srgbClr val="FF0000"/>
                </a:solidFill>
              </a:rPr>
              <a:t>p</a:t>
            </a:r>
            <a:r>
              <a:rPr lang="en-US" altLang="en-US" sz="3200" baseline="-25000" smtClean="0">
                <a:solidFill>
                  <a:srgbClr val="FF0000"/>
                </a:solidFill>
              </a:rPr>
              <a:t>1</a:t>
            </a:r>
            <a:r>
              <a:rPr lang="en-US" altLang="en-US" sz="3200" smtClean="0">
                <a:solidFill>
                  <a:srgbClr val="FF0000"/>
                </a:solidFill>
              </a:rPr>
              <a:t>,</a:t>
            </a:r>
            <a:r>
              <a:rPr lang="en-US" altLang="en-US" sz="3200" i="1" smtClean="0">
                <a:solidFill>
                  <a:srgbClr val="FF0000"/>
                </a:solidFill>
              </a:rPr>
              <a:t>p</a:t>
            </a:r>
            <a:r>
              <a:rPr lang="en-US" altLang="en-US" sz="3200" baseline="-25000" smtClean="0">
                <a:solidFill>
                  <a:srgbClr val="FF0000"/>
                </a:solidFill>
              </a:rPr>
              <a:t>2</a:t>
            </a:r>
            <a:r>
              <a:rPr lang="en-US" altLang="en-US" sz="3200" smtClean="0">
                <a:solidFill>
                  <a:srgbClr val="FF0000"/>
                </a:solidFill>
              </a:rPr>
              <a:t>,…,</a:t>
            </a:r>
            <a:r>
              <a:rPr lang="en-US" altLang="en-US" sz="3200" i="1" smtClean="0">
                <a:solidFill>
                  <a:srgbClr val="FF0000"/>
                </a:solidFill>
              </a:rPr>
              <a:t>p</a:t>
            </a:r>
            <a:r>
              <a:rPr lang="en-US" altLang="en-US" sz="3200" i="1" baseline="-25000" smtClean="0">
                <a:solidFill>
                  <a:srgbClr val="FF0000"/>
                </a:solidFill>
              </a:rPr>
              <a:t>n</a:t>
            </a:r>
            <a:r>
              <a:rPr lang="en-US" altLang="en-US" sz="3200" smtClean="0">
                <a:solidFill>
                  <a:srgbClr val="FF0000"/>
                </a:solidFill>
              </a:rPr>
              <a:t>,</a:t>
            </a:r>
            <a:r>
              <a:rPr lang="en-US" altLang="en-US" sz="3200" i="1" smtClean="0">
                <a:solidFill>
                  <a:srgbClr val="FF0000"/>
                </a:solidFill>
                <a:latin typeface="Verdana" pitchFamily="34" charset="0"/>
              </a:rPr>
              <a:t>I</a:t>
            </a:r>
            <a:r>
              <a:rPr lang="en-US" altLang="en-US" sz="3200" smtClean="0">
                <a:solidFill>
                  <a:srgbClr val="FF0000"/>
                </a:solidFill>
              </a:rPr>
              <a:t>)</a:t>
            </a:r>
          </a:p>
          <a:p>
            <a:pPr lvl="2">
              <a:lnSpc>
                <a:spcPct val="120000"/>
              </a:lnSpc>
              <a:buFontTx/>
              <a:buNone/>
            </a:pPr>
            <a:r>
              <a:rPr lang="en-US" altLang="en-US" sz="3200" i="1" smtClean="0">
                <a:solidFill>
                  <a:srgbClr val="FF0000"/>
                </a:solidFill>
              </a:rPr>
              <a:t>x*</a:t>
            </a:r>
            <a:r>
              <a:rPr lang="en-US" altLang="en-US" sz="3200" baseline="-25000" smtClean="0">
                <a:solidFill>
                  <a:srgbClr val="FF0000"/>
                </a:solidFill>
              </a:rPr>
              <a:t>2</a:t>
            </a:r>
            <a:r>
              <a:rPr lang="en-US" altLang="en-US" sz="3200" smtClean="0">
                <a:solidFill>
                  <a:srgbClr val="FF0000"/>
                </a:solidFill>
              </a:rPr>
              <a:t> = </a:t>
            </a:r>
            <a:r>
              <a:rPr lang="en-US" altLang="en-US" sz="3200" i="1" smtClean="0">
                <a:solidFill>
                  <a:srgbClr val="FF0000"/>
                </a:solidFill>
              </a:rPr>
              <a:t>x</a:t>
            </a:r>
            <a:r>
              <a:rPr lang="en-US" altLang="en-US" sz="3200" baseline="-25000" smtClean="0">
                <a:solidFill>
                  <a:srgbClr val="FF0000"/>
                </a:solidFill>
              </a:rPr>
              <a:t>2</a:t>
            </a:r>
            <a:r>
              <a:rPr lang="en-US" altLang="en-US" sz="3200" smtClean="0">
                <a:solidFill>
                  <a:srgbClr val="FF0000"/>
                </a:solidFill>
              </a:rPr>
              <a:t>(</a:t>
            </a:r>
            <a:r>
              <a:rPr lang="en-US" altLang="en-US" sz="3200" i="1" smtClean="0">
                <a:solidFill>
                  <a:srgbClr val="FF0000"/>
                </a:solidFill>
              </a:rPr>
              <a:t>p</a:t>
            </a:r>
            <a:r>
              <a:rPr lang="en-US" altLang="en-US" sz="3200" baseline="-25000" smtClean="0">
                <a:solidFill>
                  <a:srgbClr val="FF0000"/>
                </a:solidFill>
              </a:rPr>
              <a:t>1</a:t>
            </a:r>
            <a:r>
              <a:rPr lang="en-US" altLang="en-US" sz="3200" smtClean="0">
                <a:solidFill>
                  <a:srgbClr val="FF0000"/>
                </a:solidFill>
              </a:rPr>
              <a:t>,</a:t>
            </a:r>
            <a:r>
              <a:rPr lang="en-US" altLang="en-US" sz="3200" i="1" smtClean="0">
                <a:solidFill>
                  <a:srgbClr val="FF0000"/>
                </a:solidFill>
              </a:rPr>
              <a:t>p</a:t>
            </a:r>
            <a:r>
              <a:rPr lang="en-US" altLang="en-US" sz="3200" baseline="-25000" smtClean="0">
                <a:solidFill>
                  <a:srgbClr val="FF0000"/>
                </a:solidFill>
              </a:rPr>
              <a:t>2</a:t>
            </a:r>
            <a:r>
              <a:rPr lang="en-US" altLang="en-US" sz="3200" smtClean="0">
                <a:solidFill>
                  <a:srgbClr val="FF0000"/>
                </a:solidFill>
              </a:rPr>
              <a:t>,…,</a:t>
            </a:r>
            <a:r>
              <a:rPr lang="en-US" altLang="en-US" sz="3200" i="1" smtClean="0">
                <a:solidFill>
                  <a:srgbClr val="FF0000"/>
                </a:solidFill>
              </a:rPr>
              <a:t>p</a:t>
            </a:r>
            <a:r>
              <a:rPr lang="en-US" altLang="en-US" sz="3200" i="1" baseline="-25000" smtClean="0">
                <a:solidFill>
                  <a:srgbClr val="FF0000"/>
                </a:solidFill>
              </a:rPr>
              <a:t>n</a:t>
            </a:r>
            <a:r>
              <a:rPr lang="en-US" altLang="en-US" sz="3200" smtClean="0">
                <a:solidFill>
                  <a:srgbClr val="FF0000"/>
                </a:solidFill>
              </a:rPr>
              <a:t>,</a:t>
            </a:r>
            <a:r>
              <a:rPr lang="en-US" altLang="en-US" sz="3200" i="1" smtClean="0">
                <a:solidFill>
                  <a:srgbClr val="FF0000"/>
                </a:solidFill>
                <a:latin typeface="Verdana" pitchFamily="34" charset="0"/>
              </a:rPr>
              <a:t>I</a:t>
            </a:r>
            <a:r>
              <a:rPr lang="en-US" altLang="en-US" sz="3200" smtClean="0">
                <a:solidFill>
                  <a:srgbClr val="FF0000"/>
                </a:solidFill>
              </a:rPr>
              <a:t>)</a:t>
            </a:r>
          </a:p>
          <a:p>
            <a:pPr lvl="2">
              <a:lnSpc>
                <a:spcPct val="120000"/>
              </a:lnSpc>
              <a:buFontTx/>
              <a:buNone/>
            </a:pPr>
            <a:r>
              <a:rPr lang="en-US" altLang="en-US" sz="3200" smtClean="0">
                <a:solidFill>
                  <a:srgbClr val="FF0000"/>
                </a:solidFill>
              </a:rPr>
              <a:t>…</a:t>
            </a:r>
          </a:p>
          <a:p>
            <a:pPr lvl="2">
              <a:lnSpc>
                <a:spcPct val="120000"/>
              </a:lnSpc>
              <a:buFontTx/>
              <a:buNone/>
            </a:pPr>
            <a:r>
              <a:rPr lang="en-US" altLang="en-US" sz="3200" i="1" smtClean="0">
                <a:solidFill>
                  <a:srgbClr val="FF0000"/>
                </a:solidFill>
              </a:rPr>
              <a:t>x*</a:t>
            </a:r>
            <a:r>
              <a:rPr lang="en-US" altLang="en-US" sz="3200" i="1" baseline="-25000" smtClean="0">
                <a:solidFill>
                  <a:srgbClr val="FF0000"/>
                </a:solidFill>
              </a:rPr>
              <a:t>n</a:t>
            </a:r>
            <a:r>
              <a:rPr lang="en-US" altLang="en-US" sz="3200" baseline="-25000" smtClean="0">
                <a:solidFill>
                  <a:srgbClr val="FF0000"/>
                </a:solidFill>
              </a:rPr>
              <a:t> </a:t>
            </a:r>
            <a:r>
              <a:rPr lang="en-US" altLang="en-US" sz="3200" smtClean="0">
                <a:solidFill>
                  <a:srgbClr val="FF0000"/>
                </a:solidFill>
              </a:rPr>
              <a:t>= </a:t>
            </a:r>
            <a:r>
              <a:rPr lang="en-US" altLang="en-US" sz="3200" i="1" smtClean="0">
                <a:solidFill>
                  <a:srgbClr val="FF0000"/>
                </a:solidFill>
              </a:rPr>
              <a:t>x</a:t>
            </a:r>
            <a:r>
              <a:rPr lang="en-US" altLang="en-US" sz="3200" i="1" baseline="-25000" smtClean="0">
                <a:solidFill>
                  <a:srgbClr val="FF0000"/>
                </a:solidFill>
              </a:rPr>
              <a:t>n</a:t>
            </a:r>
            <a:r>
              <a:rPr lang="en-US" altLang="en-US" sz="3200" smtClean="0">
                <a:solidFill>
                  <a:srgbClr val="FF0000"/>
                </a:solidFill>
              </a:rPr>
              <a:t>(</a:t>
            </a:r>
            <a:r>
              <a:rPr lang="en-US" altLang="en-US" sz="3200" i="1" smtClean="0">
                <a:solidFill>
                  <a:srgbClr val="FF0000"/>
                </a:solidFill>
              </a:rPr>
              <a:t>p</a:t>
            </a:r>
            <a:r>
              <a:rPr lang="en-US" altLang="en-US" sz="3200" baseline="-25000" smtClean="0">
                <a:solidFill>
                  <a:srgbClr val="FF0000"/>
                </a:solidFill>
              </a:rPr>
              <a:t>1</a:t>
            </a:r>
            <a:r>
              <a:rPr lang="en-US" altLang="en-US" sz="3200" smtClean="0">
                <a:solidFill>
                  <a:srgbClr val="FF0000"/>
                </a:solidFill>
              </a:rPr>
              <a:t>,</a:t>
            </a:r>
            <a:r>
              <a:rPr lang="en-US" altLang="en-US" sz="3200" i="1" smtClean="0">
                <a:solidFill>
                  <a:srgbClr val="FF0000"/>
                </a:solidFill>
              </a:rPr>
              <a:t>p</a:t>
            </a:r>
            <a:r>
              <a:rPr lang="en-US" altLang="en-US" sz="3200" baseline="-25000" smtClean="0">
                <a:solidFill>
                  <a:srgbClr val="FF0000"/>
                </a:solidFill>
              </a:rPr>
              <a:t>2</a:t>
            </a:r>
            <a:r>
              <a:rPr lang="en-US" altLang="en-US" sz="3200" smtClean="0">
                <a:solidFill>
                  <a:srgbClr val="FF0000"/>
                </a:solidFill>
              </a:rPr>
              <a:t>,…,</a:t>
            </a:r>
            <a:r>
              <a:rPr lang="en-US" altLang="en-US" sz="3200" i="1" smtClean="0">
                <a:solidFill>
                  <a:srgbClr val="FF0000"/>
                </a:solidFill>
              </a:rPr>
              <a:t>p</a:t>
            </a:r>
            <a:r>
              <a:rPr lang="en-US" altLang="en-US" sz="3200" i="1" baseline="-25000" smtClean="0">
                <a:solidFill>
                  <a:srgbClr val="FF0000"/>
                </a:solidFill>
              </a:rPr>
              <a:t>n</a:t>
            </a:r>
            <a:r>
              <a:rPr lang="en-US" altLang="en-US" sz="3200" smtClean="0">
                <a:solidFill>
                  <a:srgbClr val="FF0000"/>
                </a:solidFill>
              </a:rPr>
              <a:t>,</a:t>
            </a:r>
            <a:r>
              <a:rPr lang="en-US" altLang="en-US" sz="3200" i="1" smtClean="0">
                <a:solidFill>
                  <a:srgbClr val="FF0000"/>
                </a:solidFill>
                <a:latin typeface="Verdana" pitchFamily="34" charset="0"/>
              </a:rPr>
              <a:t>I</a:t>
            </a:r>
            <a:r>
              <a:rPr lang="en-US" altLang="en-US" sz="3200" smtClean="0">
                <a:solidFill>
                  <a:srgbClr val="FF0000"/>
                </a:solidFill>
              </a:rPr>
              <a:t>)</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15D253F8-E127-4FA2-9712-1105664CAC41}" type="slidenum">
              <a:rPr lang="en-US" smtClean="0"/>
              <a:pPr>
                <a:defRPr/>
              </a:pPr>
              <a:t>26</a:t>
            </a:fld>
            <a:endParaRPr lang="en-US"/>
          </a:p>
        </p:txBody>
      </p:sp>
    </p:spTree>
    <p:extLst>
      <p:ext uri="{BB962C8B-B14F-4D97-AF65-F5344CB8AC3E}">
        <p14:creationId xmlns:p14="http://schemas.microsoft.com/office/powerpoint/2010/main" val="12262934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r>
              <a:rPr lang="en-US" altLang="en-US" smtClean="0"/>
              <a:t>Indirect Utility Function</a:t>
            </a:r>
          </a:p>
        </p:txBody>
      </p:sp>
      <p:sp>
        <p:nvSpPr>
          <p:cNvPr id="47107" name="Content Placeholder 2"/>
          <p:cNvSpPr>
            <a:spLocks noGrp="1"/>
          </p:cNvSpPr>
          <p:nvPr>
            <p:ph idx="1"/>
          </p:nvPr>
        </p:nvSpPr>
        <p:spPr>
          <a:xfrm>
            <a:off x="381000" y="1104900"/>
            <a:ext cx="8534400" cy="5295900"/>
          </a:xfrm>
        </p:spPr>
        <p:txBody>
          <a:bodyPr/>
          <a:lstStyle/>
          <a:p>
            <a:pPr>
              <a:lnSpc>
                <a:spcPct val="110000"/>
              </a:lnSpc>
            </a:pPr>
            <a:r>
              <a:rPr lang="en-US" altLang="en-US" dirty="0" smtClean="0"/>
              <a:t>We can use the optimal values of the </a:t>
            </a:r>
            <a:r>
              <a:rPr lang="en-US" altLang="en-US" i="1" dirty="0" smtClean="0"/>
              <a:t>x’</a:t>
            </a:r>
            <a:r>
              <a:rPr lang="en-US" altLang="en-US" dirty="0" smtClean="0"/>
              <a:t>s to find the indirect utility function</a:t>
            </a:r>
          </a:p>
          <a:p>
            <a:pPr algn="ctr">
              <a:lnSpc>
                <a:spcPct val="110000"/>
              </a:lnSpc>
              <a:buFontTx/>
              <a:buNone/>
            </a:pPr>
            <a:r>
              <a:rPr lang="en-US" altLang="en-US" sz="3000" dirty="0" smtClean="0">
                <a:solidFill>
                  <a:srgbClr val="002D56"/>
                </a:solidFill>
              </a:rPr>
              <a:t>maximum utility = </a:t>
            </a:r>
            <a:r>
              <a:rPr lang="en-US" altLang="en-US" sz="3000" i="1" dirty="0" smtClean="0">
                <a:solidFill>
                  <a:srgbClr val="002D56"/>
                </a:solidFill>
              </a:rPr>
              <a:t>U[x*</a:t>
            </a:r>
            <a:r>
              <a:rPr lang="en-US" altLang="en-US" sz="3000" baseline="-25000" dirty="0" smtClean="0">
                <a:solidFill>
                  <a:srgbClr val="002D56"/>
                </a:solidFill>
              </a:rPr>
              <a:t>1</a:t>
            </a:r>
            <a:r>
              <a:rPr lang="en-US" altLang="en-US" sz="3000" dirty="0" smtClean="0">
                <a:solidFill>
                  <a:srgbClr val="002D56"/>
                </a:solidFill>
              </a:rPr>
              <a:t>(</a:t>
            </a:r>
            <a:r>
              <a:rPr lang="en-US" altLang="en-US" sz="3000" i="1" dirty="0" smtClean="0">
                <a:solidFill>
                  <a:srgbClr val="002D56"/>
                </a:solidFill>
              </a:rPr>
              <a:t>p</a:t>
            </a:r>
            <a:r>
              <a:rPr lang="en-US" altLang="en-US" sz="3000" baseline="-25000" dirty="0" smtClean="0">
                <a:solidFill>
                  <a:srgbClr val="002D56"/>
                </a:solidFill>
              </a:rPr>
              <a:t>1</a:t>
            </a:r>
            <a:r>
              <a:rPr lang="en-US" altLang="en-US" sz="3000" dirty="0" smtClean="0">
                <a:solidFill>
                  <a:srgbClr val="002D56"/>
                </a:solidFill>
              </a:rPr>
              <a:t>,</a:t>
            </a:r>
            <a:r>
              <a:rPr lang="en-US" altLang="en-US" sz="3000" i="1" dirty="0" smtClean="0">
                <a:solidFill>
                  <a:srgbClr val="002D56"/>
                </a:solidFill>
              </a:rPr>
              <a:t>p</a:t>
            </a:r>
            <a:r>
              <a:rPr lang="en-US" altLang="en-US" sz="3000" baseline="-25000" dirty="0" smtClean="0">
                <a:solidFill>
                  <a:srgbClr val="002D56"/>
                </a:solidFill>
              </a:rPr>
              <a:t>2</a:t>
            </a:r>
            <a:r>
              <a:rPr lang="en-US" altLang="en-US" sz="3000" dirty="0" smtClean="0">
                <a:solidFill>
                  <a:srgbClr val="002D56"/>
                </a:solidFill>
              </a:rPr>
              <a:t>,…,</a:t>
            </a:r>
            <a:r>
              <a:rPr lang="en-US" altLang="en-US" sz="3000" i="1" dirty="0" err="1" smtClean="0">
                <a:solidFill>
                  <a:srgbClr val="002D56"/>
                </a:solidFill>
              </a:rPr>
              <a:t>p</a:t>
            </a:r>
            <a:r>
              <a:rPr lang="en-US" altLang="en-US" sz="3000" i="1" baseline="-25000" dirty="0" err="1" smtClean="0">
                <a:solidFill>
                  <a:srgbClr val="002D56"/>
                </a:solidFill>
              </a:rPr>
              <a:t>n</a:t>
            </a:r>
            <a:r>
              <a:rPr lang="en-US" altLang="en-US" sz="3000" dirty="0" err="1" smtClean="0">
                <a:solidFill>
                  <a:srgbClr val="002D56"/>
                </a:solidFill>
              </a:rPr>
              <a:t>,</a:t>
            </a:r>
            <a:r>
              <a:rPr lang="en-US" altLang="en-US" sz="3000" i="1" dirty="0" err="1" smtClean="0">
                <a:solidFill>
                  <a:srgbClr val="002D56"/>
                </a:solidFill>
                <a:latin typeface="Verdana" pitchFamily="34" charset="0"/>
              </a:rPr>
              <a:t>I</a:t>
            </a:r>
            <a:r>
              <a:rPr lang="en-US" altLang="en-US" sz="3000" dirty="0" smtClean="0">
                <a:solidFill>
                  <a:srgbClr val="002D56"/>
                </a:solidFill>
              </a:rPr>
              <a:t>), </a:t>
            </a:r>
            <a:r>
              <a:rPr lang="en-US" altLang="en-US" sz="3000" i="1" dirty="0" smtClean="0">
                <a:solidFill>
                  <a:srgbClr val="002D56"/>
                </a:solidFill>
              </a:rPr>
              <a:t>x*</a:t>
            </a:r>
            <a:r>
              <a:rPr lang="en-US" altLang="en-US" sz="3000" baseline="-25000" dirty="0" smtClean="0">
                <a:solidFill>
                  <a:srgbClr val="002D56"/>
                </a:solidFill>
              </a:rPr>
              <a:t>2</a:t>
            </a:r>
            <a:r>
              <a:rPr lang="en-US" altLang="en-US" sz="3000" dirty="0" smtClean="0">
                <a:solidFill>
                  <a:srgbClr val="002D56"/>
                </a:solidFill>
              </a:rPr>
              <a:t>(</a:t>
            </a:r>
            <a:r>
              <a:rPr lang="en-US" altLang="en-US" sz="3000" i="1" dirty="0" smtClean="0">
                <a:solidFill>
                  <a:srgbClr val="002D56"/>
                </a:solidFill>
              </a:rPr>
              <a:t>p</a:t>
            </a:r>
            <a:r>
              <a:rPr lang="en-US" altLang="en-US" sz="3000" baseline="-25000" dirty="0" smtClean="0">
                <a:solidFill>
                  <a:srgbClr val="002D56"/>
                </a:solidFill>
              </a:rPr>
              <a:t>1</a:t>
            </a:r>
            <a:r>
              <a:rPr lang="en-US" altLang="en-US" sz="3000" dirty="0" smtClean="0">
                <a:solidFill>
                  <a:srgbClr val="002D56"/>
                </a:solidFill>
              </a:rPr>
              <a:t>,</a:t>
            </a:r>
            <a:r>
              <a:rPr lang="en-US" altLang="en-US" sz="3000" i="1" dirty="0" smtClean="0">
                <a:solidFill>
                  <a:srgbClr val="002D56"/>
                </a:solidFill>
              </a:rPr>
              <a:t>p</a:t>
            </a:r>
            <a:r>
              <a:rPr lang="en-US" altLang="en-US" sz="3000" baseline="-25000" dirty="0" smtClean="0">
                <a:solidFill>
                  <a:srgbClr val="002D56"/>
                </a:solidFill>
              </a:rPr>
              <a:t>2</a:t>
            </a:r>
            <a:r>
              <a:rPr lang="en-US" altLang="en-US" sz="3000" dirty="0" smtClean="0">
                <a:solidFill>
                  <a:srgbClr val="002D56"/>
                </a:solidFill>
              </a:rPr>
              <a:t>,…,</a:t>
            </a:r>
            <a:r>
              <a:rPr lang="en-US" altLang="en-US" sz="3000" i="1" dirty="0" err="1" smtClean="0">
                <a:solidFill>
                  <a:srgbClr val="002D56"/>
                </a:solidFill>
              </a:rPr>
              <a:t>p</a:t>
            </a:r>
            <a:r>
              <a:rPr lang="en-US" altLang="en-US" sz="3000" i="1" baseline="-25000" dirty="0" err="1" smtClean="0">
                <a:solidFill>
                  <a:srgbClr val="002D56"/>
                </a:solidFill>
              </a:rPr>
              <a:t>n</a:t>
            </a:r>
            <a:r>
              <a:rPr lang="en-US" altLang="en-US" sz="3000" dirty="0" err="1" smtClean="0">
                <a:solidFill>
                  <a:srgbClr val="002D56"/>
                </a:solidFill>
              </a:rPr>
              <a:t>,</a:t>
            </a:r>
            <a:r>
              <a:rPr lang="en-US" altLang="en-US" sz="3000" i="1" dirty="0" err="1" smtClean="0">
                <a:solidFill>
                  <a:srgbClr val="002D56"/>
                </a:solidFill>
                <a:latin typeface="Verdana" pitchFamily="34" charset="0"/>
              </a:rPr>
              <a:t>I</a:t>
            </a:r>
            <a:r>
              <a:rPr lang="en-US" altLang="en-US" sz="3000" dirty="0" smtClean="0">
                <a:solidFill>
                  <a:srgbClr val="002D56"/>
                </a:solidFill>
              </a:rPr>
              <a:t>),…,</a:t>
            </a:r>
            <a:r>
              <a:rPr lang="en-US" altLang="en-US" sz="3000" i="1" dirty="0" smtClean="0">
                <a:solidFill>
                  <a:srgbClr val="002D56"/>
                </a:solidFill>
              </a:rPr>
              <a:t>x*</a:t>
            </a:r>
            <a:r>
              <a:rPr lang="en-US" altLang="en-US" sz="3000" i="1" baseline="-25000" dirty="0" smtClean="0">
                <a:solidFill>
                  <a:srgbClr val="002D56"/>
                </a:solidFill>
              </a:rPr>
              <a:t>n</a:t>
            </a:r>
            <a:r>
              <a:rPr lang="en-US" altLang="en-US" sz="3000" dirty="0" smtClean="0">
                <a:solidFill>
                  <a:srgbClr val="002D56"/>
                </a:solidFill>
              </a:rPr>
              <a:t>(</a:t>
            </a:r>
            <a:r>
              <a:rPr lang="en-US" altLang="en-US" sz="3000" i="1" dirty="0" smtClean="0">
                <a:solidFill>
                  <a:srgbClr val="002D56"/>
                </a:solidFill>
              </a:rPr>
              <a:t>p</a:t>
            </a:r>
            <a:r>
              <a:rPr lang="en-US" altLang="en-US" sz="3000" baseline="-25000" dirty="0" smtClean="0">
                <a:solidFill>
                  <a:srgbClr val="002D56"/>
                </a:solidFill>
              </a:rPr>
              <a:t>1</a:t>
            </a:r>
            <a:r>
              <a:rPr lang="en-US" altLang="en-US" sz="3000" dirty="0" smtClean="0">
                <a:solidFill>
                  <a:srgbClr val="002D56"/>
                </a:solidFill>
              </a:rPr>
              <a:t>,</a:t>
            </a:r>
            <a:r>
              <a:rPr lang="en-US" altLang="en-US" sz="3000" i="1" dirty="0" smtClean="0">
                <a:solidFill>
                  <a:srgbClr val="002D56"/>
                </a:solidFill>
              </a:rPr>
              <a:t>p</a:t>
            </a:r>
            <a:r>
              <a:rPr lang="en-US" altLang="en-US" sz="3000" baseline="-25000" dirty="0" smtClean="0">
                <a:solidFill>
                  <a:srgbClr val="002D56"/>
                </a:solidFill>
              </a:rPr>
              <a:t>2</a:t>
            </a:r>
            <a:r>
              <a:rPr lang="en-US" altLang="en-US" sz="3000" dirty="0" smtClean="0">
                <a:solidFill>
                  <a:srgbClr val="002D56"/>
                </a:solidFill>
              </a:rPr>
              <a:t>,…,</a:t>
            </a:r>
            <a:r>
              <a:rPr lang="en-US" altLang="en-US" sz="3000" i="1" dirty="0" err="1" smtClean="0">
                <a:solidFill>
                  <a:srgbClr val="002D56"/>
                </a:solidFill>
              </a:rPr>
              <a:t>p</a:t>
            </a:r>
            <a:r>
              <a:rPr lang="en-US" altLang="en-US" sz="3000" i="1" baseline="-25000" dirty="0" err="1" smtClean="0">
                <a:solidFill>
                  <a:srgbClr val="002D56"/>
                </a:solidFill>
              </a:rPr>
              <a:t>n</a:t>
            </a:r>
            <a:r>
              <a:rPr lang="en-US" altLang="en-US" sz="3000" dirty="0" err="1" smtClean="0">
                <a:solidFill>
                  <a:srgbClr val="002D56"/>
                </a:solidFill>
              </a:rPr>
              <a:t>,</a:t>
            </a:r>
            <a:r>
              <a:rPr lang="en-US" altLang="en-US" sz="3000" i="1" dirty="0" err="1" smtClean="0">
                <a:solidFill>
                  <a:srgbClr val="002D56"/>
                </a:solidFill>
                <a:latin typeface="Verdana" pitchFamily="34" charset="0"/>
              </a:rPr>
              <a:t>I</a:t>
            </a:r>
            <a:r>
              <a:rPr lang="en-US" altLang="en-US" sz="3000" dirty="0" smtClean="0">
                <a:solidFill>
                  <a:srgbClr val="002D56"/>
                </a:solidFill>
              </a:rPr>
              <a:t>)] = </a:t>
            </a:r>
          </a:p>
          <a:p>
            <a:pPr algn="ctr">
              <a:lnSpc>
                <a:spcPct val="110000"/>
              </a:lnSpc>
              <a:buFontTx/>
              <a:buNone/>
            </a:pPr>
            <a:r>
              <a:rPr lang="en-US" altLang="en-US" sz="3000" dirty="0" smtClean="0">
                <a:solidFill>
                  <a:srgbClr val="002D56"/>
                </a:solidFill>
              </a:rPr>
              <a:t>= </a:t>
            </a:r>
            <a:r>
              <a:rPr lang="en-US" altLang="en-US" sz="3000" i="1" dirty="0" smtClean="0">
                <a:solidFill>
                  <a:srgbClr val="002D56"/>
                </a:solidFill>
              </a:rPr>
              <a:t>V</a:t>
            </a:r>
            <a:r>
              <a:rPr lang="en-US" altLang="en-US" sz="3000" dirty="0" smtClean="0">
                <a:solidFill>
                  <a:srgbClr val="002D56"/>
                </a:solidFill>
              </a:rPr>
              <a:t>(</a:t>
            </a:r>
            <a:r>
              <a:rPr lang="en-US" altLang="en-US" sz="3000" i="1" dirty="0" smtClean="0">
                <a:solidFill>
                  <a:srgbClr val="002D56"/>
                </a:solidFill>
              </a:rPr>
              <a:t>p</a:t>
            </a:r>
            <a:r>
              <a:rPr lang="en-US" altLang="en-US" sz="3000" baseline="-25000" dirty="0" smtClean="0">
                <a:solidFill>
                  <a:srgbClr val="002D56"/>
                </a:solidFill>
              </a:rPr>
              <a:t>1</a:t>
            </a:r>
            <a:r>
              <a:rPr lang="en-US" altLang="en-US" sz="3000" dirty="0" smtClean="0">
                <a:solidFill>
                  <a:srgbClr val="002D56"/>
                </a:solidFill>
              </a:rPr>
              <a:t>,</a:t>
            </a:r>
            <a:r>
              <a:rPr lang="en-US" altLang="en-US" sz="3000" i="1" dirty="0" smtClean="0">
                <a:solidFill>
                  <a:srgbClr val="002D56"/>
                </a:solidFill>
              </a:rPr>
              <a:t>p</a:t>
            </a:r>
            <a:r>
              <a:rPr lang="en-US" altLang="en-US" sz="3000" baseline="-25000" dirty="0" smtClean="0">
                <a:solidFill>
                  <a:srgbClr val="002D56"/>
                </a:solidFill>
              </a:rPr>
              <a:t>2</a:t>
            </a:r>
            <a:r>
              <a:rPr lang="en-US" altLang="en-US" sz="3000" dirty="0" smtClean="0">
                <a:solidFill>
                  <a:srgbClr val="002D56"/>
                </a:solidFill>
              </a:rPr>
              <a:t>,…,</a:t>
            </a:r>
            <a:r>
              <a:rPr lang="en-US" altLang="en-US" sz="3000" i="1" dirty="0" err="1" smtClean="0">
                <a:solidFill>
                  <a:srgbClr val="002D56"/>
                </a:solidFill>
              </a:rPr>
              <a:t>p</a:t>
            </a:r>
            <a:r>
              <a:rPr lang="en-US" altLang="en-US" sz="3000" i="1" baseline="-25000" dirty="0" err="1" smtClean="0">
                <a:solidFill>
                  <a:srgbClr val="002D56"/>
                </a:solidFill>
              </a:rPr>
              <a:t>n</a:t>
            </a:r>
            <a:r>
              <a:rPr lang="en-US" altLang="en-US" sz="3000" dirty="0" err="1" smtClean="0">
                <a:solidFill>
                  <a:srgbClr val="002D56"/>
                </a:solidFill>
              </a:rPr>
              <a:t>,</a:t>
            </a:r>
            <a:r>
              <a:rPr lang="en-US" altLang="en-US" sz="3000" i="1" dirty="0" err="1" smtClean="0">
                <a:solidFill>
                  <a:srgbClr val="002D56"/>
                </a:solidFill>
                <a:latin typeface="Verdana" pitchFamily="34" charset="0"/>
              </a:rPr>
              <a:t>I</a:t>
            </a:r>
            <a:r>
              <a:rPr lang="en-US" altLang="en-US" sz="3000" i="1" dirty="0" smtClean="0">
                <a:solidFill>
                  <a:srgbClr val="002D56"/>
                </a:solidFill>
              </a:rPr>
              <a:t>)</a:t>
            </a:r>
            <a:endParaRPr lang="en-US" altLang="en-US" sz="2000" i="1" dirty="0" smtClean="0">
              <a:solidFill>
                <a:srgbClr val="7B332D"/>
              </a:solidFill>
            </a:endParaRPr>
          </a:p>
          <a:p>
            <a:pPr lvl="1">
              <a:lnSpc>
                <a:spcPct val="110000"/>
              </a:lnSpc>
            </a:pPr>
            <a:r>
              <a:rPr lang="en-US" altLang="en-US" sz="3000" dirty="0"/>
              <a:t>The indirect utility function is an example of a value function</a:t>
            </a:r>
          </a:p>
          <a:p>
            <a:pPr>
              <a:lnSpc>
                <a:spcPct val="110000"/>
              </a:lnSpc>
            </a:pPr>
            <a:r>
              <a:rPr lang="en-US" altLang="en-US" dirty="0" smtClean="0"/>
              <a:t>The optimal level of utility will depend </a:t>
            </a:r>
            <a:r>
              <a:rPr lang="en-US" altLang="en-US" u="sng" dirty="0" smtClean="0"/>
              <a:t>indirectly</a:t>
            </a:r>
            <a:r>
              <a:rPr lang="en-US" altLang="en-US" dirty="0" smtClean="0"/>
              <a:t> on prices and income</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DA91D474-E1BB-429C-B2F3-3F3D37200010}" type="slidenum">
              <a:rPr lang="en-US" smtClean="0"/>
              <a:pPr>
                <a:defRPr/>
              </a:pPr>
              <a:t>27</a:t>
            </a:fld>
            <a:endParaRPr lang="en-US"/>
          </a:p>
        </p:txBody>
      </p:sp>
    </p:spTree>
    <p:extLst>
      <p:ext uri="{BB962C8B-B14F-4D97-AF65-F5344CB8AC3E}">
        <p14:creationId xmlns:p14="http://schemas.microsoft.com/office/powerpoint/2010/main" val="25340226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r>
              <a:rPr lang="en-US" altLang="en-US" smtClean="0"/>
              <a:t>The Lump Sum Principle</a:t>
            </a:r>
          </a:p>
        </p:txBody>
      </p:sp>
      <p:sp>
        <p:nvSpPr>
          <p:cNvPr id="48131" name="Content Placeholder 4"/>
          <p:cNvSpPr>
            <a:spLocks noGrp="1"/>
          </p:cNvSpPr>
          <p:nvPr>
            <p:ph idx="1"/>
          </p:nvPr>
        </p:nvSpPr>
        <p:spPr/>
        <p:txBody>
          <a:bodyPr/>
          <a:lstStyle/>
          <a:p>
            <a:r>
              <a:rPr lang="en-US" altLang="en-US" smtClean="0"/>
              <a:t>Taxes on an individual’s general purchasing power </a:t>
            </a:r>
          </a:p>
          <a:p>
            <a:pPr lvl="1"/>
            <a:r>
              <a:rPr lang="en-US" altLang="en-US" smtClean="0"/>
              <a:t>Are superior to taxes on a specific good</a:t>
            </a:r>
          </a:p>
          <a:p>
            <a:pPr lvl="2"/>
            <a:r>
              <a:rPr lang="en-US" altLang="en-US" smtClean="0"/>
              <a:t>An income tax allows the individual to decide freely how to allocate remaining income</a:t>
            </a:r>
          </a:p>
          <a:p>
            <a:pPr lvl="2"/>
            <a:r>
              <a:rPr lang="en-US" altLang="en-US" smtClean="0"/>
              <a:t>A tax on a specific good will reduce an individual’s purchasing power and distort his choices</a:t>
            </a:r>
          </a:p>
          <a:p>
            <a:endParaRPr lang="en-US" altLang="en-US" smtClean="0"/>
          </a:p>
        </p:txBody>
      </p:sp>
      <p:sp>
        <p:nvSpPr>
          <p:cNvPr id="48133" name="Footer Placeholder 2"/>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p:txBody>
          <a:bodyPr/>
          <a:lstStyle/>
          <a:p>
            <a:pPr>
              <a:defRPr/>
            </a:pPr>
            <a:fld id="{7A6A9F50-254F-4386-BF5E-51569E0C5324}" type="slidenum">
              <a:rPr lang="en-US" smtClean="0"/>
              <a:pPr>
                <a:defRPr/>
              </a:pPr>
              <a:t>28</a:t>
            </a:fld>
            <a:endParaRPr lang="en-US"/>
          </a:p>
        </p:txBody>
      </p:sp>
    </p:spTree>
    <p:extLst>
      <p:ext uri="{BB962C8B-B14F-4D97-AF65-F5344CB8AC3E}">
        <p14:creationId xmlns:p14="http://schemas.microsoft.com/office/powerpoint/2010/main" val="73546274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809625"/>
            <a:ext cx="6070600" cy="536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4"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4.5	The Lump Sum Principle of </a:t>
            </a:r>
            <a:r>
              <a:rPr lang="en-US" altLang="en-US" dirty="0" smtClean="0"/>
              <a:t>Taxation</a:t>
            </a:r>
          </a:p>
        </p:txBody>
      </p:sp>
      <p:sp>
        <p:nvSpPr>
          <p:cNvPr id="49155" name="Text Placeholder 2"/>
          <p:cNvSpPr>
            <a:spLocks noGrp="1"/>
          </p:cNvSpPr>
          <p:nvPr>
            <p:ph sz="half" idx="1"/>
          </p:nvPr>
        </p:nvSpPr>
        <p:spPr>
          <a:xfrm>
            <a:off x="6172200" y="1447800"/>
            <a:ext cx="2743200" cy="4525963"/>
          </a:xfrm>
        </p:spPr>
        <p:txBody>
          <a:bodyPr>
            <a:normAutofit/>
          </a:bodyPr>
          <a:lstStyle/>
          <a:p>
            <a:pPr>
              <a:spcBef>
                <a:spcPct val="0"/>
              </a:spcBef>
            </a:pPr>
            <a:r>
              <a:rPr lang="en-US" altLang="en-US" dirty="0"/>
              <a:t>A tax on good x would shift the utility-maximizing choice from x*, y* to x</a:t>
            </a:r>
            <a:r>
              <a:rPr lang="en-US" altLang="en-US" baseline="-25000" dirty="0"/>
              <a:t>1</a:t>
            </a:r>
            <a:r>
              <a:rPr lang="en-US" altLang="en-US" dirty="0"/>
              <a:t>, y</a:t>
            </a:r>
            <a:r>
              <a:rPr lang="en-US" altLang="en-US" baseline="-25000" dirty="0"/>
              <a:t>1</a:t>
            </a:r>
            <a:r>
              <a:rPr lang="en-US" altLang="en-US" dirty="0"/>
              <a:t>. An income tax that collected the same amount would shift the budget constraint to I’. Utility would be higher (U</a:t>
            </a:r>
            <a:r>
              <a:rPr lang="en-US" altLang="en-US" baseline="-25000" dirty="0"/>
              <a:t>2</a:t>
            </a:r>
            <a:r>
              <a:rPr lang="en-US" altLang="en-US" dirty="0"/>
              <a:t>) with the income tax than with the tax on x alone (U</a:t>
            </a:r>
            <a:r>
              <a:rPr lang="en-US" altLang="en-US" baseline="-25000" dirty="0"/>
              <a:t>1</a:t>
            </a:r>
            <a:r>
              <a:rPr lang="en-US" altLang="en-US" dirty="0" smtClean="0"/>
              <a:t>).</a:t>
            </a:r>
            <a:endParaRPr lang="en-US" altLang="en-US" dirty="0"/>
          </a:p>
        </p:txBody>
      </p:sp>
      <p:sp>
        <p:nvSpPr>
          <p:cNvPr id="49157"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70E72AA3-EA67-44D5-B0B2-41122E7714A0}" type="slidenum">
              <a:rPr lang="en-US" smtClean="0"/>
              <a:pPr>
                <a:defRPr/>
              </a:pPr>
              <a:t>29</a:t>
            </a:fld>
            <a:endParaRPr lang="en-US" dirty="0"/>
          </a:p>
        </p:txBody>
      </p:sp>
    </p:spTree>
    <p:extLst>
      <p:ext uri="{BB962C8B-B14F-4D97-AF65-F5344CB8AC3E}">
        <p14:creationId xmlns:p14="http://schemas.microsoft.com/office/powerpoint/2010/main" val="38494133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7346"/>
                                        </p:tgtEl>
                                        <p:attrNameLst>
                                          <p:attrName>style.visibility</p:attrName>
                                        </p:attrNameLst>
                                      </p:cBhvr>
                                      <p:to>
                                        <p:strVal val="visible"/>
                                      </p:to>
                                    </p:set>
                                    <p:animEffect transition="in" filter="wipe(left)">
                                      <p:cBhvr>
                                        <p:cTn id="7" dur="500"/>
                                        <p:tgtEl>
                                          <p:spTgt spid="5734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9155">
                                            <p:txEl>
                                              <p:pRg st="0" end="0"/>
                                            </p:txEl>
                                          </p:spTgt>
                                        </p:tgtEl>
                                        <p:attrNameLst>
                                          <p:attrName>style.visibility</p:attrName>
                                        </p:attrNameLst>
                                      </p:cBhvr>
                                      <p:to>
                                        <p:strVal val="visible"/>
                                      </p:to>
                                    </p:set>
                                    <p:animEffect transition="in" filter="wipe(left)">
                                      <p:cBhvr>
                                        <p:cTn id="11" dur="500"/>
                                        <p:tgtEl>
                                          <p:spTgt spid="4915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4.3 Indirect Utility and the Lump Sum Principle</a:t>
            </a:r>
          </a:p>
        </p:txBody>
      </p:sp>
      <p:sp>
        <p:nvSpPr>
          <p:cNvPr id="10246"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70BAF9BB-C174-4E6A-9DB1-A9565CDC6E0D}" type="slidenum">
              <a:rPr lang="en-US" smtClean="0"/>
              <a:pPr>
                <a:defRPr/>
              </a:pPr>
              <a:t>30</a:t>
            </a:fld>
            <a:endParaRPr lang="en-US" dirty="0"/>
          </a:p>
        </p:txBody>
      </p:sp>
      <p:sp>
        <p:nvSpPr>
          <p:cNvPr id="10244" name="Content Placeholder 2"/>
          <p:cNvSpPr>
            <a:spLocks noGrp="1"/>
          </p:cNvSpPr>
          <p:nvPr>
            <p:ph type="body" sz="quarter" idx="12"/>
          </p:nvPr>
        </p:nvSpPr>
        <p:spPr>
          <a:prstGeom prst="rect">
            <a:avLst/>
          </a:prstGeom>
        </p:spPr>
        <p:txBody>
          <a:bodyPr/>
          <a:lstStyle/>
          <a:p>
            <a:r>
              <a:rPr lang="en-US" altLang="en-US" u="sng" dirty="0" smtClean="0"/>
              <a:t>Cobb-Douglas utility function</a:t>
            </a:r>
          </a:p>
          <a:p>
            <a:pPr lvl="1"/>
            <a:r>
              <a:rPr lang="en-US" altLang="en-US" dirty="0" smtClean="0"/>
              <a:t>With </a:t>
            </a:r>
            <a:r>
              <a:rPr lang="en-US" altLang="en-US" dirty="0" smtClean="0">
                <a:sym typeface="Symbol" pitchFamily="18" charset="2"/>
              </a:rPr>
              <a:t> =  = 0.5</a:t>
            </a:r>
            <a:r>
              <a:rPr lang="en-US" altLang="en-US" dirty="0" smtClean="0"/>
              <a:t>, </a:t>
            </a:r>
          </a:p>
          <a:p>
            <a:pPr lvl="1"/>
            <a:r>
              <a:rPr lang="en-US" altLang="en-US" dirty="0" smtClean="0"/>
              <a:t>We know that </a:t>
            </a:r>
          </a:p>
          <a:p>
            <a:pPr>
              <a:buFont typeface="Arial" charset="0"/>
              <a:buNone/>
            </a:pPr>
            <a:r>
              <a:rPr lang="en-US" altLang="en-US" dirty="0" smtClean="0"/>
              <a:t>		 </a:t>
            </a:r>
            <a:r>
              <a:rPr lang="en-US" altLang="en-US" i="1" dirty="0" smtClean="0"/>
              <a:t>x*=</a:t>
            </a:r>
            <a:r>
              <a:rPr lang="en-US" altLang="en-US" i="1" dirty="0" smtClean="0">
                <a:latin typeface="Bell MT" panose="02020503060305020303" pitchFamily="18" charset="0"/>
              </a:rPr>
              <a:t>I</a:t>
            </a:r>
            <a:r>
              <a:rPr lang="en-US" altLang="en-US" i="1" dirty="0" smtClean="0"/>
              <a:t>/2p</a:t>
            </a:r>
            <a:r>
              <a:rPr lang="en-US" altLang="en-US" i="1" baseline="-25000" dirty="0" smtClean="0"/>
              <a:t>x</a:t>
            </a:r>
            <a:r>
              <a:rPr lang="en-US" altLang="en-US" i="1" dirty="0" smtClean="0"/>
              <a:t> </a:t>
            </a:r>
            <a:r>
              <a:rPr lang="en-US" altLang="en-US" dirty="0" smtClean="0"/>
              <a:t>and </a:t>
            </a:r>
            <a:r>
              <a:rPr lang="en-US" altLang="en-US" i="1" dirty="0" smtClean="0"/>
              <a:t>y*=</a:t>
            </a:r>
            <a:r>
              <a:rPr lang="en-US" altLang="en-US" i="1" dirty="0" smtClean="0">
                <a:latin typeface="Bell MT" panose="02020503060305020303" pitchFamily="18" charset="0"/>
              </a:rPr>
              <a:t>I</a:t>
            </a:r>
            <a:r>
              <a:rPr lang="en-US" altLang="en-US" i="1" dirty="0" smtClean="0"/>
              <a:t>/2p</a:t>
            </a:r>
            <a:r>
              <a:rPr lang="en-US" altLang="en-US" i="1" baseline="-25000" dirty="0" smtClean="0"/>
              <a:t>y</a:t>
            </a:r>
          </a:p>
          <a:p>
            <a:endParaRPr lang="en-US" altLang="en-US" dirty="0" smtClean="0"/>
          </a:p>
          <a:p>
            <a:r>
              <a:rPr lang="en-US" altLang="en-US" dirty="0" smtClean="0"/>
              <a:t>The indirect utility function</a:t>
            </a:r>
          </a:p>
          <a:p>
            <a:endParaRPr lang="en-US" altLang="en-US" dirty="0" smtClean="0"/>
          </a:p>
        </p:txBody>
      </p:sp>
      <p:graphicFrame>
        <p:nvGraphicFramePr>
          <p:cNvPr id="58370" name="Object 2"/>
          <p:cNvGraphicFramePr>
            <a:graphicFrameLocks noChangeAspect="1"/>
          </p:cNvGraphicFramePr>
          <p:nvPr>
            <p:extLst>
              <p:ext uri="{D42A27DB-BD31-4B8C-83A1-F6EECF244321}">
                <p14:modId xmlns:p14="http://schemas.microsoft.com/office/powerpoint/2010/main" val="2045278607"/>
              </p:ext>
            </p:extLst>
          </p:nvPr>
        </p:nvGraphicFramePr>
        <p:xfrm>
          <a:off x="776288" y="3921125"/>
          <a:ext cx="6770687" cy="1260475"/>
        </p:xfrm>
        <a:graphic>
          <a:graphicData uri="http://schemas.openxmlformats.org/presentationml/2006/ole">
            <mc:AlternateContent xmlns:mc="http://schemas.openxmlformats.org/markup-compatibility/2006">
              <mc:Choice xmlns:v="urn:schemas-microsoft-com:vml" Requires="v">
                <p:oleObj spid="_x0000_s138259" name="Equation" r:id="rId3" imgW="2387520" imgH="444240" progId="Equation.DSMT4">
                  <p:embed/>
                </p:oleObj>
              </mc:Choice>
              <mc:Fallback>
                <p:oleObj name="Equation" r:id="rId3" imgW="2387520" imgH="4442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6288" y="3921125"/>
                        <a:ext cx="6770687" cy="1260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1173694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8370"/>
                                        </p:tgtEl>
                                        <p:attrNameLst>
                                          <p:attrName>style.visibility</p:attrName>
                                        </p:attrNameLst>
                                      </p:cBhvr>
                                      <p:to>
                                        <p:strVal val="visible"/>
                                      </p:to>
                                    </p:set>
                                    <p:animEffect transition="in" filter="wipe(left)">
                                      <p:cBhvr>
                                        <p:cTn id="7" dur="500"/>
                                        <p:tgtEl>
                                          <p:spTgt spid="583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4.3 Indirect Utility and the Lump Sum Principle</a:t>
            </a:r>
          </a:p>
        </p:txBody>
      </p:sp>
      <p:sp>
        <p:nvSpPr>
          <p:cNvPr id="11270"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49D85168-31BA-4F13-BC93-3CAD8F374AC3}" type="slidenum">
              <a:rPr lang="en-US" smtClean="0"/>
              <a:pPr>
                <a:defRPr/>
              </a:pPr>
              <a:t>31</a:t>
            </a:fld>
            <a:endParaRPr lang="en-US" dirty="0"/>
          </a:p>
        </p:txBody>
      </p:sp>
      <p:sp>
        <p:nvSpPr>
          <p:cNvPr id="11268" name="Content Placeholder 2"/>
          <p:cNvSpPr>
            <a:spLocks noGrp="1"/>
          </p:cNvSpPr>
          <p:nvPr>
            <p:ph type="body" sz="quarter" idx="12"/>
          </p:nvPr>
        </p:nvSpPr>
        <p:spPr>
          <a:prstGeom prst="rect">
            <a:avLst/>
          </a:prstGeom>
        </p:spPr>
        <p:txBody>
          <a:bodyPr/>
          <a:lstStyle/>
          <a:p>
            <a:r>
              <a:rPr lang="en-US" altLang="en-US" u="sng" dirty="0" smtClean="0"/>
              <a:t>Fixed proportions</a:t>
            </a:r>
          </a:p>
          <a:p>
            <a:pPr>
              <a:buFont typeface="Arial" charset="0"/>
              <a:buNone/>
            </a:pPr>
            <a:r>
              <a:rPr lang="en-US" altLang="en-US" dirty="0" smtClean="0"/>
              <a:t>		 </a:t>
            </a:r>
            <a:r>
              <a:rPr lang="en-US" altLang="en-US" i="1" dirty="0" smtClean="0">
                <a:solidFill>
                  <a:srgbClr val="FF0000"/>
                </a:solidFill>
              </a:rPr>
              <a:t>x*=</a:t>
            </a:r>
            <a:r>
              <a:rPr lang="en-US" altLang="en-US" i="1" dirty="0" smtClean="0">
                <a:solidFill>
                  <a:srgbClr val="FF0000"/>
                </a:solidFill>
                <a:latin typeface="Bell MT" panose="02020503060305020303" pitchFamily="18" charset="0"/>
              </a:rPr>
              <a:t>I</a:t>
            </a:r>
            <a:r>
              <a:rPr lang="en-US" altLang="en-US" i="1" dirty="0" smtClean="0">
                <a:solidFill>
                  <a:srgbClr val="FF0000"/>
                </a:solidFill>
              </a:rPr>
              <a:t>/[</a:t>
            </a:r>
            <a:r>
              <a:rPr lang="en-US" altLang="en-US" i="1" dirty="0" err="1" smtClean="0">
                <a:solidFill>
                  <a:srgbClr val="FF0000"/>
                </a:solidFill>
              </a:rPr>
              <a:t>p</a:t>
            </a:r>
            <a:r>
              <a:rPr lang="en-US" altLang="en-US" i="1" baseline="-25000" dirty="0" err="1" smtClean="0">
                <a:solidFill>
                  <a:srgbClr val="FF0000"/>
                </a:solidFill>
              </a:rPr>
              <a:t>x</a:t>
            </a:r>
            <a:r>
              <a:rPr lang="en-US" altLang="en-US" i="1" dirty="0" smtClean="0">
                <a:solidFill>
                  <a:srgbClr val="FF0000"/>
                </a:solidFill>
              </a:rPr>
              <a:t> + 0.25p</a:t>
            </a:r>
            <a:r>
              <a:rPr lang="en-US" altLang="en-US" i="1" baseline="-25000" dirty="0" smtClean="0">
                <a:solidFill>
                  <a:srgbClr val="FF0000"/>
                </a:solidFill>
              </a:rPr>
              <a:t>y</a:t>
            </a:r>
            <a:r>
              <a:rPr lang="en-US" altLang="en-US" i="1" dirty="0" smtClean="0">
                <a:solidFill>
                  <a:srgbClr val="FF0000"/>
                </a:solidFill>
              </a:rPr>
              <a:t>] </a:t>
            </a:r>
            <a:r>
              <a:rPr lang="en-US" altLang="en-US" dirty="0" smtClean="0"/>
              <a:t>and </a:t>
            </a:r>
            <a:r>
              <a:rPr lang="en-US" altLang="en-US" i="1" dirty="0" smtClean="0">
                <a:solidFill>
                  <a:srgbClr val="FF0000"/>
                </a:solidFill>
              </a:rPr>
              <a:t>y*=</a:t>
            </a:r>
            <a:r>
              <a:rPr lang="en-US" altLang="en-US" i="1" dirty="0" smtClean="0">
                <a:solidFill>
                  <a:srgbClr val="FF0000"/>
                </a:solidFill>
                <a:latin typeface="Bell MT" panose="02020503060305020303" pitchFamily="18" charset="0"/>
              </a:rPr>
              <a:t>I</a:t>
            </a:r>
            <a:r>
              <a:rPr lang="en-US" altLang="en-US" i="1" dirty="0" smtClean="0">
                <a:solidFill>
                  <a:srgbClr val="FF0000"/>
                </a:solidFill>
              </a:rPr>
              <a:t>/[4p</a:t>
            </a:r>
            <a:r>
              <a:rPr lang="en-US" altLang="en-US" i="1" baseline="-25000" dirty="0" smtClean="0">
                <a:solidFill>
                  <a:srgbClr val="FF0000"/>
                </a:solidFill>
              </a:rPr>
              <a:t>x</a:t>
            </a:r>
            <a:r>
              <a:rPr lang="en-US" altLang="en-US" i="1" dirty="0" smtClean="0">
                <a:solidFill>
                  <a:srgbClr val="FF0000"/>
                </a:solidFill>
              </a:rPr>
              <a:t>+p</a:t>
            </a:r>
            <a:r>
              <a:rPr lang="en-US" altLang="en-US" i="1" baseline="-25000" dirty="0" smtClean="0">
                <a:solidFill>
                  <a:srgbClr val="FF0000"/>
                </a:solidFill>
              </a:rPr>
              <a:t>y</a:t>
            </a:r>
            <a:r>
              <a:rPr lang="en-US" altLang="en-US" dirty="0" smtClean="0">
                <a:solidFill>
                  <a:srgbClr val="FF0000"/>
                </a:solidFill>
              </a:rPr>
              <a:t>]</a:t>
            </a:r>
            <a:endParaRPr lang="en-US" altLang="en-US" baseline="-25000" dirty="0" smtClean="0">
              <a:solidFill>
                <a:srgbClr val="FF0000"/>
              </a:solidFill>
            </a:endParaRPr>
          </a:p>
          <a:p>
            <a:r>
              <a:rPr lang="en-US" altLang="en-US" dirty="0" smtClean="0"/>
              <a:t>The indirect utility function</a:t>
            </a:r>
          </a:p>
          <a:p>
            <a:endParaRPr lang="en-US" altLang="en-US" dirty="0" smtClean="0"/>
          </a:p>
        </p:txBody>
      </p:sp>
      <p:graphicFrame>
        <p:nvGraphicFramePr>
          <p:cNvPr id="58370" name="Object 2"/>
          <p:cNvGraphicFramePr>
            <a:graphicFrameLocks noChangeAspect="1"/>
          </p:cNvGraphicFramePr>
          <p:nvPr>
            <p:extLst>
              <p:ext uri="{D42A27DB-BD31-4B8C-83A1-F6EECF244321}">
                <p14:modId xmlns:p14="http://schemas.microsoft.com/office/powerpoint/2010/main" val="983839272"/>
              </p:ext>
            </p:extLst>
          </p:nvPr>
        </p:nvGraphicFramePr>
        <p:xfrm>
          <a:off x="1371600" y="2537080"/>
          <a:ext cx="4876800" cy="3158870"/>
        </p:xfrm>
        <a:graphic>
          <a:graphicData uri="http://schemas.openxmlformats.org/presentationml/2006/ole">
            <mc:AlternateContent xmlns:mc="http://schemas.openxmlformats.org/markup-compatibility/2006">
              <mc:Choice xmlns:v="urn:schemas-microsoft-com:vml" Requires="v">
                <p:oleObj spid="_x0000_s139283" name="Equation" r:id="rId3" imgW="1803240" imgH="1168200" progId="Equation.DSMT4">
                  <p:embed/>
                </p:oleObj>
              </mc:Choice>
              <mc:Fallback>
                <p:oleObj name="Equation" r:id="rId3" imgW="1803240" imgH="11682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2537080"/>
                        <a:ext cx="4876800" cy="315887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3482854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8370"/>
                                        </p:tgtEl>
                                        <p:attrNameLst>
                                          <p:attrName>style.visibility</p:attrName>
                                        </p:attrNameLst>
                                      </p:cBhvr>
                                      <p:to>
                                        <p:strVal val="visible"/>
                                      </p:to>
                                    </p:set>
                                    <p:animEffect transition="in" filter="wipe(left)">
                                      <p:cBhvr>
                                        <p:cTn id="7" dur="500"/>
                                        <p:tgtEl>
                                          <p:spTgt spid="583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4.3 Indirect Utility and the Lump Sum Principle</a:t>
            </a:r>
          </a:p>
        </p:txBody>
      </p:sp>
      <p:sp>
        <p:nvSpPr>
          <p:cNvPr id="50181"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34AF11E6-CD54-4E97-BDA7-4BCAE6328964}" type="slidenum">
              <a:rPr lang="en-US" smtClean="0"/>
              <a:pPr>
                <a:defRPr/>
              </a:pPr>
              <a:t>32</a:t>
            </a:fld>
            <a:endParaRPr lang="en-US" dirty="0"/>
          </a:p>
        </p:txBody>
      </p:sp>
      <p:sp>
        <p:nvSpPr>
          <p:cNvPr id="50179" name="Content Placeholder 2"/>
          <p:cNvSpPr>
            <a:spLocks noGrp="1"/>
          </p:cNvSpPr>
          <p:nvPr>
            <p:ph type="body" sz="quarter" idx="12"/>
          </p:nvPr>
        </p:nvSpPr>
        <p:spPr>
          <a:prstGeom prst="rect">
            <a:avLst/>
          </a:prstGeom>
        </p:spPr>
        <p:txBody>
          <a:bodyPr/>
          <a:lstStyle/>
          <a:p>
            <a:r>
              <a:rPr lang="en-US" altLang="en-US" u="sng" dirty="0" smtClean="0"/>
              <a:t>The lump sum principle</a:t>
            </a:r>
          </a:p>
          <a:p>
            <a:r>
              <a:rPr lang="en-US" altLang="en-US" dirty="0" smtClean="0"/>
              <a:t>Cobb-Douglas</a:t>
            </a:r>
          </a:p>
          <a:p>
            <a:pPr lvl="1"/>
            <a:r>
              <a:rPr lang="en-US" altLang="en-US" dirty="0" smtClean="0"/>
              <a:t>If a tax of $1 was imposed on good </a:t>
            </a:r>
            <a:r>
              <a:rPr lang="en-US" altLang="en-US" i="1" dirty="0" smtClean="0"/>
              <a:t>x</a:t>
            </a:r>
          </a:p>
          <a:p>
            <a:pPr lvl="2"/>
            <a:r>
              <a:rPr lang="en-US" altLang="en-US" dirty="0" smtClean="0"/>
              <a:t>The individual will purchase </a:t>
            </a:r>
            <a:r>
              <a:rPr lang="en-US" altLang="en-US" i="1" dirty="0" smtClean="0"/>
              <a:t>x</a:t>
            </a:r>
            <a:r>
              <a:rPr lang="en-US" altLang="en-US" dirty="0" smtClean="0"/>
              <a:t>* = 2</a:t>
            </a:r>
          </a:p>
          <a:p>
            <a:pPr lvl="2"/>
            <a:r>
              <a:rPr lang="en-US" altLang="en-US" dirty="0" smtClean="0"/>
              <a:t>Indirect utility will fall from 2 to 1.41</a:t>
            </a:r>
            <a:endParaRPr lang="en-US" altLang="en-US" sz="1400" dirty="0" smtClean="0"/>
          </a:p>
          <a:p>
            <a:pPr lvl="1"/>
            <a:r>
              <a:rPr lang="en-US" altLang="en-US" dirty="0" smtClean="0"/>
              <a:t>An equal-revenue tax will reduce income to $6</a:t>
            </a:r>
          </a:p>
          <a:p>
            <a:pPr lvl="2"/>
            <a:r>
              <a:rPr lang="en-US" altLang="en-US" dirty="0" smtClean="0"/>
              <a:t>Indirect utility will fall from 2 to 1.5</a:t>
            </a:r>
          </a:p>
        </p:txBody>
      </p:sp>
    </p:spTree>
    <p:extLst>
      <p:ext uri="{BB962C8B-B14F-4D97-AF65-F5344CB8AC3E}">
        <p14:creationId xmlns:p14="http://schemas.microsoft.com/office/powerpoint/2010/main" val="116760581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4.3 Indirect Utility and the Lump Sum Principle</a:t>
            </a:r>
          </a:p>
        </p:txBody>
      </p:sp>
      <p:sp>
        <p:nvSpPr>
          <p:cNvPr id="51205"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A3CF4FBA-F812-48DF-AD73-3B14CED6D43C}" type="slidenum">
              <a:rPr lang="en-US" smtClean="0"/>
              <a:pPr>
                <a:defRPr/>
              </a:pPr>
              <a:t>33</a:t>
            </a:fld>
            <a:endParaRPr lang="en-US" dirty="0"/>
          </a:p>
        </p:txBody>
      </p:sp>
      <p:sp>
        <p:nvSpPr>
          <p:cNvPr id="51203" name="Content Placeholder 2"/>
          <p:cNvSpPr>
            <a:spLocks noGrp="1"/>
          </p:cNvSpPr>
          <p:nvPr>
            <p:ph type="body" sz="quarter" idx="12"/>
          </p:nvPr>
        </p:nvSpPr>
        <p:spPr>
          <a:prstGeom prst="rect">
            <a:avLst/>
          </a:prstGeom>
        </p:spPr>
        <p:txBody>
          <a:bodyPr/>
          <a:lstStyle/>
          <a:p>
            <a:r>
              <a:rPr lang="en-US" altLang="en-US" dirty="0" smtClean="0"/>
              <a:t>The lump sum principle</a:t>
            </a:r>
          </a:p>
          <a:p>
            <a:r>
              <a:rPr lang="en-US" altLang="en-US" dirty="0" smtClean="0"/>
              <a:t>Fixed-proportions</a:t>
            </a:r>
          </a:p>
          <a:p>
            <a:pPr lvl="1"/>
            <a:r>
              <a:rPr lang="en-US" altLang="en-US" dirty="0" smtClean="0"/>
              <a:t>If a tax of $1 was imposed on good </a:t>
            </a:r>
            <a:r>
              <a:rPr lang="en-US" altLang="en-US" i="1" dirty="0" smtClean="0"/>
              <a:t>x</a:t>
            </a:r>
          </a:p>
          <a:p>
            <a:pPr lvl="2"/>
            <a:r>
              <a:rPr lang="en-US" altLang="en-US" dirty="0" smtClean="0"/>
              <a:t>Indirect utility will fall from 4 to 8/3</a:t>
            </a:r>
            <a:endParaRPr lang="en-US" altLang="en-US" sz="1400" dirty="0" smtClean="0"/>
          </a:p>
          <a:p>
            <a:pPr lvl="1"/>
            <a:r>
              <a:rPr lang="en-US" altLang="en-US" dirty="0" smtClean="0"/>
              <a:t>An equal-revenue tax will reduce income to $16/3</a:t>
            </a:r>
          </a:p>
          <a:p>
            <a:pPr lvl="2"/>
            <a:r>
              <a:rPr lang="en-US" altLang="en-US" dirty="0" smtClean="0"/>
              <a:t>Indirect utility will fall from 4 to 8/3</a:t>
            </a:r>
            <a:endParaRPr lang="en-US" altLang="en-US" sz="1000" dirty="0" smtClean="0"/>
          </a:p>
          <a:p>
            <a:r>
              <a:rPr lang="en-US" altLang="en-US" dirty="0" smtClean="0"/>
              <a:t>Since preferences are rigid, the tax on </a:t>
            </a:r>
            <a:r>
              <a:rPr lang="en-US" altLang="en-US" i="1" dirty="0" smtClean="0"/>
              <a:t>x</a:t>
            </a:r>
            <a:r>
              <a:rPr lang="en-US" altLang="en-US" dirty="0" smtClean="0"/>
              <a:t> does not distort choices</a:t>
            </a:r>
          </a:p>
          <a:p>
            <a:endParaRPr lang="en-US" altLang="en-US" dirty="0" smtClean="0"/>
          </a:p>
        </p:txBody>
      </p:sp>
    </p:spTree>
    <p:extLst>
      <p:ext uri="{BB962C8B-B14F-4D97-AF65-F5344CB8AC3E}">
        <p14:creationId xmlns:p14="http://schemas.microsoft.com/office/powerpoint/2010/main" val="52546826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p:txBody>
          <a:bodyPr/>
          <a:lstStyle/>
          <a:p>
            <a:r>
              <a:rPr lang="en-US" altLang="en-US" smtClean="0"/>
              <a:t>Expenditure Minimization</a:t>
            </a:r>
          </a:p>
        </p:txBody>
      </p:sp>
      <p:sp>
        <p:nvSpPr>
          <p:cNvPr id="52227" name="Content Placeholder 2"/>
          <p:cNvSpPr>
            <a:spLocks noGrp="1"/>
          </p:cNvSpPr>
          <p:nvPr>
            <p:ph idx="1"/>
          </p:nvPr>
        </p:nvSpPr>
        <p:spPr/>
        <p:txBody>
          <a:bodyPr/>
          <a:lstStyle/>
          <a:p>
            <a:r>
              <a:rPr lang="en-US" altLang="en-US" smtClean="0"/>
              <a:t>Dual minimization problem for utility maximization</a:t>
            </a:r>
          </a:p>
          <a:p>
            <a:pPr lvl="1"/>
            <a:r>
              <a:rPr lang="en-US" altLang="en-US" smtClean="0"/>
              <a:t>Allocate income to achieve a given level of utility with the minimal expenditure</a:t>
            </a:r>
          </a:p>
          <a:p>
            <a:pPr lvl="2"/>
            <a:r>
              <a:rPr lang="en-US" altLang="en-US" smtClean="0"/>
              <a:t>The goal and the constraint have been reversed</a:t>
            </a:r>
          </a:p>
          <a:p>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314990BD-BDB7-4858-8591-1130F19F6F3B}" type="slidenum">
              <a:rPr lang="en-US" smtClean="0"/>
              <a:pPr>
                <a:defRPr/>
              </a:pPr>
              <a:t>34</a:t>
            </a:fld>
            <a:endParaRPr lang="en-US"/>
          </a:p>
        </p:txBody>
      </p:sp>
    </p:spTree>
    <p:extLst>
      <p:ext uri="{BB962C8B-B14F-4D97-AF65-F5344CB8AC3E}">
        <p14:creationId xmlns:p14="http://schemas.microsoft.com/office/powerpoint/2010/main" val="19725040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4.6	The Dual Expenditure-Minimization </a:t>
            </a:r>
            <a:r>
              <a:rPr lang="en-US" altLang="en-US" dirty="0" smtClean="0"/>
              <a:t>Problem</a:t>
            </a:r>
          </a:p>
        </p:txBody>
      </p:sp>
      <p:sp>
        <p:nvSpPr>
          <p:cNvPr id="53251" name="Text Placeholder 2"/>
          <p:cNvSpPr>
            <a:spLocks noGrp="1"/>
          </p:cNvSpPr>
          <p:nvPr>
            <p:ph sz="half" idx="1"/>
          </p:nvPr>
        </p:nvSpPr>
        <p:spPr>
          <a:xfrm>
            <a:off x="152400" y="4800600"/>
            <a:ext cx="8686800" cy="1600200"/>
          </a:xfrm>
        </p:spPr>
        <p:txBody>
          <a:bodyPr>
            <a:normAutofit/>
          </a:bodyPr>
          <a:lstStyle/>
          <a:p>
            <a:pPr>
              <a:spcBef>
                <a:spcPct val="0"/>
              </a:spcBef>
            </a:pPr>
            <a:r>
              <a:rPr lang="en-US" altLang="en-US" dirty="0"/>
              <a:t>The dual of the utility-maximization problem is to attain a given utility level (U</a:t>
            </a:r>
            <a:r>
              <a:rPr lang="en-US" altLang="en-US" baseline="-25000" dirty="0"/>
              <a:t>2</a:t>
            </a:r>
            <a:r>
              <a:rPr lang="en-US" altLang="en-US" dirty="0"/>
              <a:t>) with minimal expenditures. An expenditure level of E</a:t>
            </a:r>
            <a:r>
              <a:rPr lang="en-US" altLang="en-US" baseline="-25000" dirty="0"/>
              <a:t>1</a:t>
            </a:r>
            <a:r>
              <a:rPr lang="en-US" altLang="en-US" dirty="0"/>
              <a:t> does not permit U</a:t>
            </a:r>
            <a:r>
              <a:rPr lang="en-US" altLang="en-US" baseline="-25000" dirty="0"/>
              <a:t>2</a:t>
            </a:r>
            <a:r>
              <a:rPr lang="en-US" altLang="en-US" dirty="0"/>
              <a:t> to be reached, whereas E</a:t>
            </a:r>
            <a:r>
              <a:rPr lang="en-US" altLang="en-US" baseline="-25000" dirty="0"/>
              <a:t>3</a:t>
            </a:r>
            <a:r>
              <a:rPr lang="en-US" altLang="en-US" dirty="0"/>
              <a:t> provides more spending power than is strictly necessary. With expenditure E</a:t>
            </a:r>
            <a:r>
              <a:rPr lang="en-US" altLang="en-US" baseline="-25000" dirty="0"/>
              <a:t>2</a:t>
            </a:r>
            <a:r>
              <a:rPr lang="en-US" altLang="en-US" dirty="0"/>
              <a:t>, this person can just reach U</a:t>
            </a:r>
            <a:r>
              <a:rPr lang="en-US" altLang="en-US" baseline="-25000" dirty="0"/>
              <a:t>2</a:t>
            </a:r>
            <a:r>
              <a:rPr lang="en-US" altLang="en-US" dirty="0"/>
              <a:t> by consuming x and y</a:t>
            </a:r>
            <a:r>
              <a:rPr lang="en-US" altLang="en-US" dirty="0" smtClean="0"/>
              <a:t>.</a:t>
            </a:r>
            <a:endParaRPr lang="en-US" altLang="en-US" dirty="0"/>
          </a:p>
        </p:txBody>
      </p:sp>
      <p:sp>
        <p:nvSpPr>
          <p:cNvPr id="53254"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5202F938-00DD-44E5-92A0-A337626DB617}" type="slidenum">
              <a:rPr lang="en-US" smtClean="0"/>
              <a:pPr>
                <a:defRPr/>
              </a:pPr>
              <a:t>35</a:t>
            </a:fld>
            <a:endParaRPr lang="en-US" dirty="0"/>
          </a:p>
        </p:txBody>
      </p:sp>
      <p:grpSp>
        <p:nvGrpSpPr>
          <p:cNvPr id="2" name="Group 30"/>
          <p:cNvGrpSpPr>
            <a:grpSpLocks/>
          </p:cNvGrpSpPr>
          <p:nvPr/>
        </p:nvGrpSpPr>
        <p:grpSpPr bwMode="auto">
          <a:xfrm>
            <a:off x="1974850" y="1004888"/>
            <a:ext cx="1524000" cy="3255962"/>
            <a:chOff x="1152" y="1837"/>
            <a:chExt cx="960" cy="2051"/>
          </a:xfrm>
        </p:grpSpPr>
        <p:sp>
          <p:nvSpPr>
            <p:cNvPr id="53290" name="Line 14"/>
            <p:cNvSpPr>
              <a:spLocks noChangeShapeType="1"/>
            </p:cNvSpPr>
            <p:nvPr/>
          </p:nvSpPr>
          <p:spPr bwMode="auto">
            <a:xfrm>
              <a:off x="1152" y="2736"/>
              <a:ext cx="960" cy="1152"/>
            </a:xfrm>
            <a:prstGeom prst="line">
              <a:avLst/>
            </a:prstGeom>
            <a:noFill/>
            <a:ln w="28575">
              <a:solidFill>
                <a:srgbClr val="177B2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53291" name="Text Box 22"/>
            <p:cNvSpPr txBox="1">
              <a:spLocks noChangeArrowheads="1"/>
            </p:cNvSpPr>
            <p:nvPr/>
          </p:nvSpPr>
          <p:spPr bwMode="auto">
            <a:xfrm>
              <a:off x="1475" y="1837"/>
              <a:ext cx="32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000099"/>
                  </a:solidFill>
                </a:rPr>
                <a:t>E</a:t>
              </a:r>
              <a:r>
                <a:rPr lang="en-US" altLang="en-US" sz="1800" baseline="-25000">
                  <a:solidFill>
                    <a:srgbClr val="000099"/>
                  </a:solidFill>
                </a:rPr>
                <a:t>2</a:t>
              </a:r>
            </a:p>
          </p:txBody>
        </p:sp>
        <p:sp>
          <p:nvSpPr>
            <p:cNvPr id="53292" name="Line 23"/>
            <p:cNvSpPr>
              <a:spLocks noChangeShapeType="1"/>
            </p:cNvSpPr>
            <p:nvPr/>
          </p:nvSpPr>
          <p:spPr bwMode="auto">
            <a:xfrm flipH="1">
              <a:off x="1257" y="2164"/>
              <a:ext cx="253" cy="668"/>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grpSp>
      <p:grpSp>
        <p:nvGrpSpPr>
          <p:cNvPr id="3" name="Group 27"/>
          <p:cNvGrpSpPr>
            <a:grpSpLocks/>
          </p:cNvGrpSpPr>
          <p:nvPr/>
        </p:nvGrpSpPr>
        <p:grpSpPr bwMode="auto">
          <a:xfrm>
            <a:off x="469900" y="1365250"/>
            <a:ext cx="6572250" cy="3109913"/>
            <a:chOff x="434975" y="1364673"/>
            <a:chExt cx="6572250" cy="3109913"/>
          </a:xfrm>
        </p:grpSpPr>
        <p:grpSp>
          <p:nvGrpSpPr>
            <p:cNvPr id="53284" name="Group 25"/>
            <p:cNvGrpSpPr>
              <a:grpSpLocks/>
            </p:cNvGrpSpPr>
            <p:nvPr/>
          </p:nvGrpSpPr>
          <p:grpSpPr bwMode="auto">
            <a:xfrm>
              <a:off x="1939925" y="4107873"/>
              <a:ext cx="5067300" cy="366713"/>
              <a:chOff x="1939925" y="4107873"/>
              <a:chExt cx="5067300" cy="366713"/>
            </a:xfrm>
          </p:grpSpPr>
          <p:sp>
            <p:nvSpPr>
              <p:cNvPr id="53288" name="Line 6"/>
              <p:cNvSpPr>
                <a:spLocks noChangeShapeType="1"/>
              </p:cNvSpPr>
              <p:nvPr/>
            </p:nvSpPr>
            <p:spPr bwMode="auto">
              <a:xfrm>
                <a:off x="1939925" y="4260273"/>
                <a:ext cx="3505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53289" name="Text Box 7"/>
              <p:cNvSpPr txBox="1">
                <a:spLocks noChangeArrowheads="1"/>
              </p:cNvSpPr>
              <p:nvPr/>
            </p:nvSpPr>
            <p:spPr bwMode="auto">
              <a:xfrm>
                <a:off x="5540375" y="4107873"/>
                <a:ext cx="1466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Quantity of </a:t>
                </a:r>
                <a:r>
                  <a:rPr lang="en-US" altLang="en-US" sz="1800" i="1"/>
                  <a:t>x</a:t>
                </a:r>
                <a:endParaRPr lang="en-US" altLang="en-US" sz="1800"/>
              </a:p>
            </p:txBody>
          </p:sp>
        </p:grpSp>
        <p:grpSp>
          <p:nvGrpSpPr>
            <p:cNvPr id="53285" name="Group 26"/>
            <p:cNvGrpSpPr>
              <a:grpSpLocks/>
            </p:cNvGrpSpPr>
            <p:nvPr/>
          </p:nvGrpSpPr>
          <p:grpSpPr bwMode="auto">
            <a:xfrm>
              <a:off x="434975" y="1364673"/>
              <a:ext cx="1504950" cy="2895600"/>
              <a:chOff x="434975" y="1364673"/>
              <a:chExt cx="1504950" cy="2895600"/>
            </a:xfrm>
          </p:grpSpPr>
          <p:sp>
            <p:nvSpPr>
              <p:cNvPr id="53286" name="Line 5"/>
              <p:cNvSpPr>
                <a:spLocks noChangeShapeType="1"/>
              </p:cNvSpPr>
              <p:nvPr/>
            </p:nvSpPr>
            <p:spPr bwMode="auto">
              <a:xfrm>
                <a:off x="1939925" y="1745673"/>
                <a:ext cx="0" cy="2514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53287" name="Text Box 8"/>
              <p:cNvSpPr txBox="1">
                <a:spLocks noChangeArrowheads="1"/>
              </p:cNvSpPr>
              <p:nvPr/>
            </p:nvSpPr>
            <p:spPr bwMode="auto">
              <a:xfrm>
                <a:off x="434975" y="1364673"/>
                <a:ext cx="1466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t>Quantity of </a:t>
                </a:r>
                <a:r>
                  <a:rPr lang="en-US" altLang="en-US" sz="1800" i="1" dirty="0"/>
                  <a:t>y</a:t>
                </a:r>
                <a:endParaRPr lang="en-US" altLang="en-US" sz="1800" dirty="0"/>
              </a:p>
            </p:txBody>
          </p:sp>
        </p:grpSp>
      </p:grpSp>
      <p:grpSp>
        <p:nvGrpSpPr>
          <p:cNvPr id="8" name="Group 24"/>
          <p:cNvGrpSpPr>
            <a:grpSpLocks/>
          </p:cNvGrpSpPr>
          <p:nvPr/>
        </p:nvGrpSpPr>
        <p:grpSpPr bwMode="auto">
          <a:xfrm>
            <a:off x="2163763" y="2262188"/>
            <a:ext cx="2417762" cy="1985962"/>
            <a:chOff x="2129522" y="2261739"/>
            <a:chExt cx="2417960" cy="1986568"/>
          </a:xfrm>
        </p:grpSpPr>
        <p:sp>
          <p:nvSpPr>
            <p:cNvPr id="53282" name="Freeform 10"/>
            <p:cNvSpPr>
              <a:spLocks/>
            </p:cNvSpPr>
            <p:nvPr/>
          </p:nvSpPr>
          <p:spPr bwMode="auto">
            <a:xfrm rot="618892">
              <a:off x="2129522" y="2261739"/>
              <a:ext cx="2133600" cy="1676400"/>
            </a:xfrm>
            <a:custGeom>
              <a:avLst/>
              <a:gdLst>
                <a:gd name="T0" fmla="*/ 0 w 1008"/>
                <a:gd name="T1" fmla="*/ 0 h 864"/>
                <a:gd name="T2" fmla="*/ 711200 w 1008"/>
                <a:gd name="T3" fmla="*/ 1210733 h 864"/>
                <a:gd name="T4" fmla="*/ 2133600 w 1008"/>
                <a:gd name="T5" fmla="*/ 1676400 h 864"/>
                <a:gd name="T6" fmla="*/ 0 60000 65536"/>
                <a:gd name="T7" fmla="*/ 0 60000 65536"/>
                <a:gd name="T8" fmla="*/ 0 60000 65536"/>
                <a:gd name="T9" fmla="*/ 0 w 1008"/>
                <a:gd name="T10" fmla="*/ 0 h 864"/>
                <a:gd name="T11" fmla="*/ 1008 w 1008"/>
                <a:gd name="T12" fmla="*/ 864 h 864"/>
              </a:gdLst>
              <a:ahLst/>
              <a:cxnLst>
                <a:cxn ang="T6">
                  <a:pos x="T0" y="T1"/>
                </a:cxn>
                <a:cxn ang="T7">
                  <a:pos x="T2" y="T3"/>
                </a:cxn>
                <a:cxn ang="T8">
                  <a:pos x="T4" y="T5"/>
                </a:cxn>
              </a:cxnLst>
              <a:rect l="T9" t="T10" r="T11" b="T12"/>
              <a:pathLst>
                <a:path w="1008" h="864">
                  <a:moveTo>
                    <a:pt x="0" y="0"/>
                  </a:moveTo>
                  <a:cubicBezTo>
                    <a:pt x="84" y="240"/>
                    <a:pt x="168" y="480"/>
                    <a:pt x="336" y="624"/>
                  </a:cubicBezTo>
                  <a:cubicBezTo>
                    <a:pt x="504" y="768"/>
                    <a:pt x="756" y="816"/>
                    <a:pt x="1008" y="864"/>
                  </a:cubicBezTo>
                </a:path>
              </a:pathLst>
            </a:custGeom>
            <a:noFill/>
            <a:ln w="28575" cap="flat" cmpd="sng">
              <a:solidFill>
                <a:srgbClr val="C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53283" name="Text Box 11"/>
            <p:cNvSpPr txBox="1">
              <a:spLocks noChangeArrowheads="1"/>
            </p:cNvSpPr>
            <p:nvPr/>
          </p:nvSpPr>
          <p:spPr bwMode="auto">
            <a:xfrm>
              <a:off x="4111144" y="3878975"/>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solidFill>
                    <a:srgbClr val="C00000"/>
                  </a:solidFill>
                </a:rPr>
                <a:t>U</a:t>
              </a:r>
              <a:r>
                <a:rPr lang="en-US" altLang="en-US" sz="1800" baseline="-25000" dirty="0">
                  <a:solidFill>
                    <a:srgbClr val="C00000"/>
                  </a:solidFill>
                </a:rPr>
                <a:t>2</a:t>
              </a:r>
            </a:p>
          </p:txBody>
        </p:sp>
      </p:grpSp>
      <p:grpSp>
        <p:nvGrpSpPr>
          <p:cNvPr id="9" name="Group 31"/>
          <p:cNvGrpSpPr>
            <a:grpSpLocks/>
          </p:cNvGrpSpPr>
          <p:nvPr/>
        </p:nvGrpSpPr>
        <p:grpSpPr bwMode="auto">
          <a:xfrm>
            <a:off x="1974850" y="2667000"/>
            <a:ext cx="1830388" cy="1593850"/>
            <a:chOff x="1152" y="2884"/>
            <a:chExt cx="1153" cy="1004"/>
          </a:xfrm>
        </p:grpSpPr>
        <p:sp>
          <p:nvSpPr>
            <p:cNvPr id="53279" name="Line 16"/>
            <p:cNvSpPr>
              <a:spLocks noChangeShapeType="1"/>
            </p:cNvSpPr>
            <p:nvPr/>
          </p:nvSpPr>
          <p:spPr bwMode="auto">
            <a:xfrm>
              <a:off x="1152" y="3024"/>
              <a:ext cx="720" cy="864"/>
            </a:xfrm>
            <a:prstGeom prst="line">
              <a:avLst/>
            </a:prstGeom>
            <a:noFill/>
            <a:ln w="28575">
              <a:solidFill>
                <a:srgbClr val="177B2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53280" name="Text Box 17"/>
            <p:cNvSpPr txBox="1">
              <a:spLocks noChangeArrowheads="1"/>
            </p:cNvSpPr>
            <p:nvPr/>
          </p:nvSpPr>
          <p:spPr bwMode="auto">
            <a:xfrm>
              <a:off x="2038" y="2884"/>
              <a:ext cx="26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000099"/>
                  </a:solidFill>
                </a:rPr>
                <a:t>E</a:t>
              </a:r>
              <a:r>
                <a:rPr lang="en-US" altLang="en-US" sz="1800" baseline="-25000">
                  <a:solidFill>
                    <a:srgbClr val="000099"/>
                  </a:solidFill>
                </a:rPr>
                <a:t>1</a:t>
              </a:r>
            </a:p>
          </p:txBody>
        </p:sp>
        <p:sp>
          <p:nvSpPr>
            <p:cNvPr id="53281" name="Line 18"/>
            <p:cNvSpPr>
              <a:spLocks noChangeShapeType="1"/>
            </p:cNvSpPr>
            <p:nvPr/>
          </p:nvSpPr>
          <p:spPr bwMode="auto">
            <a:xfrm flipH="1">
              <a:off x="1820" y="3133"/>
              <a:ext cx="310" cy="685"/>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grpSp>
      <p:grpSp>
        <p:nvGrpSpPr>
          <p:cNvPr id="10" name="Group 32"/>
          <p:cNvGrpSpPr>
            <a:grpSpLocks/>
          </p:cNvGrpSpPr>
          <p:nvPr/>
        </p:nvGrpSpPr>
        <p:grpSpPr bwMode="auto">
          <a:xfrm>
            <a:off x="1974850" y="1265238"/>
            <a:ext cx="1981200" cy="2995612"/>
            <a:chOff x="1152" y="2001"/>
            <a:chExt cx="1248" cy="1887"/>
          </a:xfrm>
        </p:grpSpPr>
        <p:sp>
          <p:nvSpPr>
            <p:cNvPr id="53276" name="Line 15"/>
            <p:cNvSpPr>
              <a:spLocks noChangeShapeType="1"/>
            </p:cNvSpPr>
            <p:nvPr/>
          </p:nvSpPr>
          <p:spPr bwMode="auto">
            <a:xfrm>
              <a:off x="1152" y="2400"/>
              <a:ext cx="1248" cy="1488"/>
            </a:xfrm>
            <a:prstGeom prst="line">
              <a:avLst/>
            </a:prstGeom>
            <a:noFill/>
            <a:ln w="28575">
              <a:solidFill>
                <a:srgbClr val="177B2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53277" name="Text Box 19"/>
            <p:cNvSpPr txBox="1">
              <a:spLocks noChangeArrowheads="1"/>
            </p:cNvSpPr>
            <p:nvPr/>
          </p:nvSpPr>
          <p:spPr bwMode="auto">
            <a:xfrm>
              <a:off x="1815" y="2001"/>
              <a:ext cx="26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000099"/>
                  </a:solidFill>
                </a:rPr>
                <a:t>E</a:t>
              </a:r>
              <a:r>
                <a:rPr lang="en-US" altLang="en-US" sz="1800" baseline="-25000">
                  <a:solidFill>
                    <a:srgbClr val="000099"/>
                  </a:solidFill>
                </a:rPr>
                <a:t>3</a:t>
              </a:r>
            </a:p>
          </p:txBody>
        </p:sp>
        <p:sp>
          <p:nvSpPr>
            <p:cNvPr id="53278" name="Line 21"/>
            <p:cNvSpPr>
              <a:spLocks noChangeShapeType="1"/>
            </p:cNvSpPr>
            <p:nvPr/>
          </p:nvSpPr>
          <p:spPr bwMode="auto">
            <a:xfrm flipH="1">
              <a:off x="1584" y="2278"/>
              <a:ext cx="275" cy="611"/>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grpSp>
      <p:grpSp>
        <p:nvGrpSpPr>
          <p:cNvPr id="11" name="Group 31"/>
          <p:cNvGrpSpPr>
            <a:grpSpLocks/>
          </p:cNvGrpSpPr>
          <p:nvPr/>
        </p:nvGrpSpPr>
        <p:grpSpPr bwMode="auto">
          <a:xfrm>
            <a:off x="2339975" y="2046288"/>
            <a:ext cx="452438" cy="382587"/>
            <a:chOff x="2537927" y="4874986"/>
            <a:chExt cx="453736" cy="382814"/>
          </a:xfrm>
        </p:grpSpPr>
        <p:sp>
          <p:nvSpPr>
            <p:cNvPr id="53274" name="Oval 12"/>
            <p:cNvSpPr>
              <a:spLocks noChangeArrowheads="1"/>
            </p:cNvSpPr>
            <p:nvPr/>
          </p:nvSpPr>
          <p:spPr bwMode="auto">
            <a:xfrm>
              <a:off x="2556164" y="5181600"/>
              <a:ext cx="76200" cy="76200"/>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53275" name="Text Box 13"/>
            <p:cNvSpPr txBox="1">
              <a:spLocks noChangeArrowheads="1"/>
            </p:cNvSpPr>
            <p:nvPr/>
          </p:nvSpPr>
          <p:spPr bwMode="auto">
            <a:xfrm>
              <a:off x="2537927" y="4874986"/>
              <a:ext cx="45373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b="1" i="1"/>
                <a:t>B</a:t>
              </a:r>
              <a:endParaRPr lang="en-US" altLang="en-US" sz="1600" b="1"/>
            </a:p>
          </p:txBody>
        </p:sp>
      </p:grpSp>
      <p:grpSp>
        <p:nvGrpSpPr>
          <p:cNvPr id="12" name="Group 34"/>
          <p:cNvGrpSpPr>
            <a:grpSpLocks/>
          </p:cNvGrpSpPr>
          <p:nvPr/>
        </p:nvGrpSpPr>
        <p:grpSpPr bwMode="auto">
          <a:xfrm>
            <a:off x="3640138" y="3594100"/>
            <a:ext cx="454025" cy="382588"/>
            <a:chOff x="2537927" y="4874986"/>
            <a:chExt cx="453736" cy="382814"/>
          </a:xfrm>
        </p:grpSpPr>
        <p:sp>
          <p:nvSpPr>
            <p:cNvPr id="53272" name="Oval 12"/>
            <p:cNvSpPr>
              <a:spLocks noChangeArrowheads="1"/>
            </p:cNvSpPr>
            <p:nvPr/>
          </p:nvSpPr>
          <p:spPr bwMode="auto">
            <a:xfrm>
              <a:off x="2556164" y="5181600"/>
              <a:ext cx="76200" cy="76200"/>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53273" name="Text Box 13"/>
            <p:cNvSpPr txBox="1">
              <a:spLocks noChangeArrowheads="1"/>
            </p:cNvSpPr>
            <p:nvPr/>
          </p:nvSpPr>
          <p:spPr bwMode="auto">
            <a:xfrm>
              <a:off x="2537927" y="4874986"/>
              <a:ext cx="45373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b="1" i="1"/>
                <a:t>C</a:t>
              </a:r>
              <a:endParaRPr lang="en-US" altLang="en-US" sz="1600" b="1"/>
            </a:p>
          </p:txBody>
        </p:sp>
      </p:grpSp>
      <p:grpSp>
        <p:nvGrpSpPr>
          <p:cNvPr id="13" name="Group 37"/>
          <p:cNvGrpSpPr>
            <a:grpSpLocks/>
          </p:cNvGrpSpPr>
          <p:nvPr/>
        </p:nvGrpSpPr>
        <p:grpSpPr bwMode="auto">
          <a:xfrm>
            <a:off x="1531938" y="2990850"/>
            <a:ext cx="1471612" cy="1633538"/>
            <a:chOff x="2087899" y="2839612"/>
            <a:chExt cx="1471268" cy="1633545"/>
          </a:xfrm>
        </p:grpSpPr>
        <p:grpSp>
          <p:nvGrpSpPr>
            <p:cNvPr id="53263" name="Group 43"/>
            <p:cNvGrpSpPr>
              <a:grpSpLocks/>
            </p:cNvGrpSpPr>
            <p:nvPr/>
          </p:nvGrpSpPr>
          <p:grpSpPr bwMode="auto">
            <a:xfrm>
              <a:off x="3217842" y="2839612"/>
              <a:ext cx="332142" cy="367714"/>
              <a:chOff x="3217842" y="2839612"/>
              <a:chExt cx="332142" cy="367714"/>
            </a:xfrm>
          </p:grpSpPr>
          <p:sp>
            <p:nvSpPr>
              <p:cNvPr id="53270" name="Oval 28"/>
              <p:cNvSpPr>
                <a:spLocks noChangeArrowheads="1"/>
              </p:cNvSpPr>
              <p:nvPr/>
            </p:nvSpPr>
            <p:spPr bwMode="auto">
              <a:xfrm>
                <a:off x="3284517" y="3131126"/>
                <a:ext cx="76200" cy="76200"/>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53271" name="Text Box 32"/>
              <p:cNvSpPr txBox="1">
                <a:spLocks noChangeArrowheads="1"/>
              </p:cNvSpPr>
              <p:nvPr/>
            </p:nvSpPr>
            <p:spPr bwMode="auto">
              <a:xfrm>
                <a:off x="3217842" y="2839612"/>
                <a:ext cx="3321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b="1" i="1"/>
                  <a:t>A</a:t>
                </a:r>
                <a:endParaRPr lang="en-US" altLang="en-US" sz="1600" b="1"/>
              </a:p>
            </p:txBody>
          </p:sp>
        </p:grpSp>
        <p:grpSp>
          <p:nvGrpSpPr>
            <p:cNvPr id="53264" name="Group 56"/>
            <p:cNvGrpSpPr>
              <a:grpSpLocks/>
            </p:cNvGrpSpPr>
            <p:nvPr/>
          </p:nvGrpSpPr>
          <p:grpSpPr bwMode="auto">
            <a:xfrm>
              <a:off x="2087899" y="2992059"/>
              <a:ext cx="1225889" cy="338554"/>
              <a:chOff x="2087899" y="2992059"/>
              <a:chExt cx="1225889" cy="338554"/>
            </a:xfrm>
          </p:grpSpPr>
          <p:cxnSp>
            <p:nvCxnSpPr>
              <p:cNvPr id="53268" name="Straight Connector 43"/>
              <p:cNvCxnSpPr>
                <a:cxnSpLocks noChangeShapeType="1"/>
              </p:cNvCxnSpPr>
              <p:nvPr/>
            </p:nvCxnSpPr>
            <p:spPr bwMode="auto">
              <a:xfrm rot="10800000">
                <a:off x="2523280" y="3148315"/>
                <a:ext cx="790508" cy="11855"/>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sp>
            <p:nvSpPr>
              <p:cNvPr id="53269" name="Text Box 35"/>
              <p:cNvSpPr txBox="1">
                <a:spLocks noChangeArrowheads="1"/>
              </p:cNvSpPr>
              <p:nvPr/>
            </p:nvSpPr>
            <p:spPr bwMode="auto">
              <a:xfrm>
                <a:off x="2087899" y="2992059"/>
                <a:ext cx="43633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i="1"/>
                  <a:t> y*</a:t>
                </a:r>
                <a:endParaRPr lang="en-US" altLang="en-US" sz="1600"/>
              </a:p>
            </p:txBody>
          </p:sp>
        </p:grpSp>
        <p:grpSp>
          <p:nvGrpSpPr>
            <p:cNvPr id="53265" name="Group 58"/>
            <p:cNvGrpSpPr>
              <a:grpSpLocks/>
            </p:cNvGrpSpPr>
            <p:nvPr/>
          </p:nvGrpSpPr>
          <p:grpSpPr bwMode="auto">
            <a:xfrm>
              <a:off x="3134051" y="3160165"/>
              <a:ext cx="425116" cy="1312992"/>
              <a:chOff x="3134051" y="3160165"/>
              <a:chExt cx="425116" cy="1312992"/>
            </a:xfrm>
          </p:grpSpPr>
          <p:cxnSp>
            <p:nvCxnSpPr>
              <p:cNvPr id="53266" name="Straight Connector 41"/>
              <p:cNvCxnSpPr>
                <a:cxnSpLocks noChangeShapeType="1"/>
              </p:cNvCxnSpPr>
              <p:nvPr/>
            </p:nvCxnSpPr>
            <p:spPr bwMode="auto">
              <a:xfrm rot="16200000" flipH="1">
                <a:off x="2850743" y="3637821"/>
                <a:ext cx="960421" cy="5110"/>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sp>
            <p:nvSpPr>
              <p:cNvPr id="53267" name="Text Box 35"/>
              <p:cNvSpPr txBox="1">
                <a:spLocks noChangeArrowheads="1"/>
              </p:cNvSpPr>
              <p:nvPr/>
            </p:nvSpPr>
            <p:spPr bwMode="auto">
              <a:xfrm>
                <a:off x="3134051" y="4134603"/>
                <a:ext cx="42511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i="1"/>
                  <a:t> x*</a:t>
                </a:r>
                <a:endParaRPr lang="en-US" altLang="en-US" sz="1600"/>
              </a:p>
            </p:txBody>
          </p:sp>
        </p:grpSp>
      </p:grpSp>
    </p:spTree>
    <p:extLst>
      <p:ext uri="{BB962C8B-B14F-4D97-AF65-F5344CB8AC3E}">
        <p14:creationId xmlns:p14="http://schemas.microsoft.com/office/powerpoint/2010/main" val="25876650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left)">
                                      <p:cBhvr>
                                        <p:cTn id="19" dur="500"/>
                                        <p:tgtEl>
                                          <p:spTgt spid="2"/>
                                        </p:tgtEl>
                                      </p:cBhvr>
                                    </p:animEffect>
                                  </p:childTnLst>
                                </p:cTn>
                              </p:par>
                            </p:childTnLst>
                          </p:cTn>
                        </p:par>
                        <p:par>
                          <p:cTn id="20" fill="hold" nodeType="afterGroup">
                            <p:stCondLst>
                              <p:cond delay="2000"/>
                            </p:stCondLst>
                            <p:childTnLst>
                              <p:par>
                                <p:cTn id="21" presetID="22" presetClass="entr" presetSubtype="8"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left)">
                                      <p:cBhvr>
                                        <p:cTn id="23" dur="500"/>
                                        <p:tgtEl>
                                          <p:spTgt spid="10"/>
                                        </p:tgtEl>
                                      </p:cBhvr>
                                    </p:animEffect>
                                  </p:childTnLst>
                                </p:cTn>
                              </p:par>
                            </p:childTnLst>
                          </p:cTn>
                        </p:par>
                        <p:par>
                          <p:cTn id="24" fill="hold" nodeType="afterGroup">
                            <p:stCondLst>
                              <p:cond delay="2500"/>
                            </p:stCondLst>
                            <p:childTnLst>
                              <p:par>
                                <p:cTn id="25" presetID="22" presetClass="entr" presetSubtype="8" fill="hold"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par>
                          <p:cTn id="28" fill="hold" nodeType="afterGroup">
                            <p:stCondLst>
                              <p:cond delay="3000"/>
                            </p:stCondLst>
                            <p:childTnLst>
                              <p:par>
                                <p:cTn id="29" presetID="22" presetClass="entr" presetSubtype="8" fill="hold" nodeType="after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500"/>
                                        <p:tgtEl>
                                          <p:spTgt spid="12"/>
                                        </p:tgtEl>
                                      </p:cBhvr>
                                    </p:animEffect>
                                  </p:childTnLst>
                                </p:cTn>
                              </p:par>
                            </p:childTnLst>
                          </p:cTn>
                        </p:par>
                        <p:par>
                          <p:cTn id="32" fill="hold" nodeType="afterGroup">
                            <p:stCondLst>
                              <p:cond delay="3500"/>
                            </p:stCondLst>
                            <p:childTnLst>
                              <p:par>
                                <p:cTn id="33" presetID="22" presetClass="entr" presetSubtype="8" fill="hold"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ipe(left)">
                                      <p:cBhvr>
                                        <p:cTn id="35" dur="500"/>
                                        <p:tgtEl>
                                          <p:spTgt spid="13"/>
                                        </p:tgtEl>
                                      </p:cBhvr>
                                    </p:animEffect>
                                  </p:childTnLst>
                                </p:cTn>
                              </p:par>
                            </p:childTnLst>
                          </p:cTn>
                        </p:par>
                        <p:par>
                          <p:cTn id="36" fill="hold">
                            <p:stCondLst>
                              <p:cond delay="4000"/>
                            </p:stCondLst>
                            <p:childTnLst>
                              <p:par>
                                <p:cTn id="37" presetID="22" presetClass="entr" presetSubtype="8" fill="hold" grpId="0" nodeType="afterEffect">
                                  <p:stCondLst>
                                    <p:cond delay="0"/>
                                  </p:stCondLst>
                                  <p:childTnLst>
                                    <p:set>
                                      <p:cBhvr>
                                        <p:cTn id="38" dur="1" fill="hold">
                                          <p:stCondLst>
                                            <p:cond delay="0"/>
                                          </p:stCondLst>
                                        </p:cTn>
                                        <p:tgtEl>
                                          <p:spTgt spid="53251">
                                            <p:txEl>
                                              <p:pRg st="0" end="0"/>
                                            </p:txEl>
                                          </p:spTgt>
                                        </p:tgtEl>
                                        <p:attrNameLst>
                                          <p:attrName>style.visibility</p:attrName>
                                        </p:attrNameLst>
                                      </p:cBhvr>
                                      <p:to>
                                        <p:strVal val="visible"/>
                                      </p:to>
                                    </p:set>
                                    <p:animEffect transition="in" filter="wipe(left)">
                                      <p:cBhvr>
                                        <p:cTn id="39" dur="500"/>
                                        <p:tgtEl>
                                          <p:spTgt spid="5325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p:txBody>
          <a:bodyPr/>
          <a:lstStyle/>
          <a:p>
            <a:r>
              <a:rPr lang="en-US" altLang="en-US" smtClean="0"/>
              <a:t>Expenditure Minimization</a:t>
            </a:r>
          </a:p>
        </p:txBody>
      </p:sp>
      <p:sp>
        <p:nvSpPr>
          <p:cNvPr id="54275" name="Content Placeholder 2"/>
          <p:cNvSpPr>
            <a:spLocks noGrp="1"/>
          </p:cNvSpPr>
          <p:nvPr>
            <p:ph idx="1"/>
          </p:nvPr>
        </p:nvSpPr>
        <p:spPr/>
        <p:txBody>
          <a:bodyPr/>
          <a:lstStyle/>
          <a:p>
            <a:r>
              <a:rPr lang="en-US" altLang="en-US" dirty="0" smtClean="0"/>
              <a:t>The individual’s problem is to choose </a:t>
            </a:r>
            <a:r>
              <a:rPr lang="en-US" altLang="en-US" i="1" dirty="0" smtClean="0"/>
              <a:t>x</a:t>
            </a:r>
            <a:r>
              <a:rPr lang="en-US" altLang="en-US" baseline="-25000" dirty="0" smtClean="0"/>
              <a:t>1</a:t>
            </a:r>
            <a:r>
              <a:rPr lang="en-US" altLang="en-US" dirty="0" smtClean="0"/>
              <a:t>,</a:t>
            </a:r>
            <a:r>
              <a:rPr lang="en-US" altLang="en-US" i="1" dirty="0" smtClean="0"/>
              <a:t>x</a:t>
            </a:r>
            <a:r>
              <a:rPr lang="en-US" altLang="en-US" baseline="-25000" dirty="0" smtClean="0"/>
              <a:t>2</a:t>
            </a:r>
            <a:r>
              <a:rPr lang="en-US" altLang="en-US" dirty="0" smtClean="0"/>
              <a:t>,…,</a:t>
            </a:r>
            <a:r>
              <a:rPr lang="en-US" altLang="en-US" i="1" dirty="0" err="1" smtClean="0"/>
              <a:t>x</a:t>
            </a:r>
            <a:r>
              <a:rPr lang="en-US" altLang="en-US" i="1" baseline="-25000" dirty="0" err="1" smtClean="0"/>
              <a:t>n</a:t>
            </a:r>
            <a:r>
              <a:rPr lang="en-US" altLang="en-US" dirty="0" smtClean="0"/>
              <a:t> to minimize</a:t>
            </a:r>
          </a:p>
          <a:p>
            <a:pPr algn="ctr">
              <a:lnSpc>
                <a:spcPct val="140000"/>
              </a:lnSpc>
              <a:buFontTx/>
              <a:buNone/>
            </a:pPr>
            <a:r>
              <a:rPr lang="en-US" altLang="en-US" sz="3200" dirty="0" smtClean="0">
                <a:solidFill>
                  <a:srgbClr val="002D56"/>
                </a:solidFill>
              </a:rPr>
              <a:t>total expenditures</a:t>
            </a:r>
            <a:r>
              <a:rPr lang="en-US" altLang="en-US" sz="3200" baseline="30000" dirty="0" smtClean="0">
                <a:solidFill>
                  <a:srgbClr val="002D56"/>
                </a:solidFill>
              </a:rPr>
              <a:t> </a:t>
            </a:r>
            <a:r>
              <a:rPr lang="en-US" altLang="en-US" sz="3200" dirty="0" smtClean="0">
                <a:solidFill>
                  <a:srgbClr val="002D56"/>
                </a:solidFill>
              </a:rPr>
              <a:t>=</a:t>
            </a:r>
            <a:r>
              <a:rPr lang="en-US" altLang="en-US" sz="3200" i="1" baseline="30000" dirty="0" smtClean="0">
                <a:solidFill>
                  <a:srgbClr val="002D56"/>
                </a:solidFill>
              </a:rPr>
              <a:t> </a:t>
            </a:r>
            <a:r>
              <a:rPr lang="en-US" altLang="en-US" sz="3200" i="1" dirty="0" smtClean="0">
                <a:solidFill>
                  <a:srgbClr val="002D56"/>
                </a:solidFill>
              </a:rPr>
              <a:t>E</a:t>
            </a:r>
            <a:r>
              <a:rPr lang="en-US" altLang="en-US" sz="3200" baseline="30000" dirty="0" smtClean="0">
                <a:solidFill>
                  <a:srgbClr val="002D56"/>
                </a:solidFill>
              </a:rPr>
              <a:t> </a:t>
            </a:r>
            <a:r>
              <a:rPr lang="en-US" altLang="en-US" sz="3200" dirty="0" smtClean="0">
                <a:solidFill>
                  <a:srgbClr val="002D56"/>
                </a:solidFill>
              </a:rPr>
              <a:t>= </a:t>
            </a:r>
            <a:r>
              <a:rPr lang="en-US" altLang="en-US" sz="3200" i="1" dirty="0" smtClean="0">
                <a:solidFill>
                  <a:srgbClr val="002D56"/>
                </a:solidFill>
              </a:rPr>
              <a:t>p</a:t>
            </a:r>
            <a:r>
              <a:rPr lang="en-US" altLang="en-US" sz="3200" baseline="-25000" dirty="0" smtClean="0">
                <a:solidFill>
                  <a:srgbClr val="002D56"/>
                </a:solidFill>
              </a:rPr>
              <a:t>1</a:t>
            </a:r>
            <a:r>
              <a:rPr lang="en-US" altLang="en-US" sz="3200" i="1" dirty="0" smtClean="0">
                <a:solidFill>
                  <a:srgbClr val="002D56"/>
                </a:solidFill>
              </a:rPr>
              <a:t>x</a:t>
            </a:r>
            <a:r>
              <a:rPr lang="en-US" altLang="en-US" sz="3200" baseline="-25000" dirty="0" smtClean="0">
                <a:solidFill>
                  <a:srgbClr val="002D56"/>
                </a:solidFill>
              </a:rPr>
              <a:t>1</a:t>
            </a:r>
            <a:r>
              <a:rPr lang="en-US" altLang="en-US" sz="3200" baseline="30000" dirty="0" smtClean="0">
                <a:solidFill>
                  <a:srgbClr val="002D56"/>
                </a:solidFill>
              </a:rPr>
              <a:t> </a:t>
            </a:r>
            <a:r>
              <a:rPr lang="en-US" altLang="en-US" sz="3200" dirty="0" smtClean="0">
                <a:solidFill>
                  <a:srgbClr val="002D56"/>
                </a:solidFill>
              </a:rPr>
              <a:t>+</a:t>
            </a:r>
            <a:r>
              <a:rPr lang="en-US" altLang="en-US" sz="3200" baseline="30000" dirty="0" smtClean="0">
                <a:solidFill>
                  <a:srgbClr val="002D56"/>
                </a:solidFill>
              </a:rPr>
              <a:t> </a:t>
            </a:r>
            <a:r>
              <a:rPr lang="en-US" altLang="en-US" sz="3200" i="1" dirty="0" smtClean="0">
                <a:solidFill>
                  <a:srgbClr val="002D56"/>
                </a:solidFill>
              </a:rPr>
              <a:t>p</a:t>
            </a:r>
            <a:r>
              <a:rPr lang="en-US" altLang="en-US" sz="3200" baseline="-25000" dirty="0" smtClean="0">
                <a:solidFill>
                  <a:srgbClr val="002D56"/>
                </a:solidFill>
              </a:rPr>
              <a:t>2</a:t>
            </a:r>
            <a:r>
              <a:rPr lang="en-US" altLang="en-US" sz="3200" i="1" dirty="0" smtClean="0">
                <a:solidFill>
                  <a:srgbClr val="002D56"/>
                </a:solidFill>
              </a:rPr>
              <a:t>x</a:t>
            </a:r>
            <a:r>
              <a:rPr lang="en-US" altLang="en-US" sz="3200" baseline="-25000" dirty="0" smtClean="0">
                <a:solidFill>
                  <a:srgbClr val="002D56"/>
                </a:solidFill>
              </a:rPr>
              <a:t>2</a:t>
            </a:r>
            <a:r>
              <a:rPr lang="en-US" altLang="en-US" sz="3200" baseline="30000" dirty="0" smtClean="0">
                <a:solidFill>
                  <a:srgbClr val="002D56"/>
                </a:solidFill>
              </a:rPr>
              <a:t> </a:t>
            </a:r>
            <a:r>
              <a:rPr lang="en-US" altLang="en-US" sz="3200" dirty="0" smtClean="0">
                <a:solidFill>
                  <a:srgbClr val="002D56"/>
                </a:solidFill>
              </a:rPr>
              <a:t>+…+</a:t>
            </a:r>
            <a:r>
              <a:rPr lang="en-US" altLang="en-US" sz="3200" baseline="30000" dirty="0" smtClean="0">
                <a:solidFill>
                  <a:srgbClr val="002D56"/>
                </a:solidFill>
              </a:rPr>
              <a:t> </a:t>
            </a:r>
            <a:r>
              <a:rPr lang="en-US" altLang="en-US" sz="3200" i="1" dirty="0" err="1" smtClean="0">
                <a:solidFill>
                  <a:srgbClr val="002D56"/>
                </a:solidFill>
              </a:rPr>
              <a:t>p</a:t>
            </a:r>
            <a:r>
              <a:rPr lang="en-US" altLang="en-US" sz="3200" i="1" baseline="-25000" dirty="0" err="1" smtClean="0">
                <a:solidFill>
                  <a:srgbClr val="002D56"/>
                </a:solidFill>
              </a:rPr>
              <a:t>n</a:t>
            </a:r>
            <a:r>
              <a:rPr lang="en-US" altLang="en-US" sz="3200" i="1" dirty="0" err="1" smtClean="0">
                <a:solidFill>
                  <a:srgbClr val="002D56"/>
                </a:solidFill>
              </a:rPr>
              <a:t>x</a:t>
            </a:r>
            <a:r>
              <a:rPr lang="en-US" altLang="en-US" sz="3200" i="1" baseline="-25000" dirty="0" err="1" smtClean="0">
                <a:solidFill>
                  <a:srgbClr val="002D56"/>
                </a:solidFill>
              </a:rPr>
              <a:t>n</a:t>
            </a:r>
            <a:endParaRPr lang="en-US" altLang="en-US" sz="3200" i="1" dirty="0" smtClean="0">
              <a:solidFill>
                <a:srgbClr val="002D56"/>
              </a:solidFill>
            </a:endParaRPr>
          </a:p>
          <a:p>
            <a:pPr>
              <a:buFontTx/>
              <a:buNone/>
            </a:pPr>
            <a:r>
              <a:rPr lang="en-US" altLang="en-US" dirty="0" smtClean="0"/>
              <a:t>   subject to the constraint</a:t>
            </a:r>
          </a:p>
          <a:p>
            <a:pPr algn="ctr">
              <a:lnSpc>
                <a:spcPct val="140000"/>
              </a:lnSpc>
              <a:buFontTx/>
              <a:buNone/>
            </a:pPr>
            <a:r>
              <a:rPr lang="en-US" altLang="en-US" sz="3200" dirty="0" smtClean="0">
                <a:solidFill>
                  <a:srgbClr val="002D56"/>
                </a:solidFill>
              </a:rPr>
              <a:t>utility =</a:t>
            </a:r>
            <a:r>
              <a:rPr lang="en-US" altLang="en-US" sz="3200" i="1" dirty="0" smtClean="0">
                <a:solidFill>
                  <a:srgbClr val="002D56"/>
                </a:solidFill>
              </a:rPr>
              <a:t> </a:t>
            </a:r>
            <a:r>
              <a:rPr lang="en-US" altLang="en-US" sz="3200" i="1" dirty="0" smtClean="0">
                <a:solidFill>
                  <a:srgbClr val="002D56"/>
                </a:solidFill>
                <a:cs typeface="Arial" charset="0"/>
              </a:rPr>
              <a:t>Ū</a:t>
            </a:r>
            <a:r>
              <a:rPr lang="en-US" altLang="en-US" sz="3200" dirty="0" smtClean="0">
                <a:solidFill>
                  <a:srgbClr val="002D56"/>
                </a:solidFill>
              </a:rPr>
              <a:t> = </a:t>
            </a:r>
            <a:r>
              <a:rPr lang="en-US" altLang="en-US" sz="3200" i="1" dirty="0" smtClean="0">
                <a:solidFill>
                  <a:srgbClr val="002D56"/>
                </a:solidFill>
              </a:rPr>
              <a:t>U</a:t>
            </a:r>
            <a:r>
              <a:rPr lang="en-US" altLang="en-US" sz="3200" dirty="0" smtClean="0">
                <a:solidFill>
                  <a:srgbClr val="002D56"/>
                </a:solidFill>
              </a:rPr>
              <a:t>(</a:t>
            </a:r>
            <a:r>
              <a:rPr lang="en-US" altLang="en-US" sz="3200" i="1" dirty="0" smtClean="0">
                <a:solidFill>
                  <a:srgbClr val="002D56"/>
                </a:solidFill>
              </a:rPr>
              <a:t>x</a:t>
            </a:r>
            <a:r>
              <a:rPr lang="en-US" altLang="en-US" sz="3200" baseline="-25000" dirty="0" smtClean="0">
                <a:solidFill>
                  <a:srgbClr val="002D56"/>
                </a:solidFill>
              </a:rPr>
              <a:t>1</a:t>
            </a:r>
            <a:r>
              <a:rPr lang="en-US" altLang="en-US" sz="3200" dirty="0" smtClean="0">
                <a:solidFill>
                  <a:srgbClr val="002D56"/>
                </a:solidFill>
              </a:rPr>
              <a:t>,</a:t>
            </a:r>
            <a:r>
              <a:rPr lang="en-US" altLang="en-US" sz="3200" i="1" dirty="0" smtClean="0">
                <a:solidFill>
                  <a:srgbClr val="002D56"/>
                </a:solidFill>
              </a:rPr>
              <a:t>x</a:t>
            </a:r>
            <a:r>
              <a:rPr lang="en-US" altLang="en-US" sz="3200" baseline="-25000" dirty="0" smtClean="0">
                <a:solidFill>
                  <a:srgbClr val="002D56"/>
                </a:solidFill>
              </a:rPr>
              <a:t>2</a:t>
            </a:r>
            <a:r>
              <a:rPr lang="en-US" altLang="en-US" sz="3200" dirty="0" smtClean="0">
                <a:solidFill>
                  <a:srgbClr val="002D56"/>
                </a:solidFill>
              </a:rPr>
              <a:t>,…,</a:t>
            </a:r>
            <a:r>
              <a:rPr lang="en-US" altLang="en-US" sz="3200" i="1" dirty="0" err="1" smtClean="0">
                <a:solidFill>
                  <a:srgbClr val="002D56"/>
                </a:solidFill>
              </a:rPr>
              <a:t>x</a:t>
            </a:r>
            <a:r>
              <a:rPr lang="en-US" altLang="en-US" sz="3200" i="1" baseline="-25000" dirty="0" err="1" smtClean="0">
                <a:solidFill>
                  <a:srgbClr val="002D56"/>
                </a:solidFill>
              </a:rPr>
              <a:t>n</a:t>
            </a:r>
            <a:r>
              <a:rPr lang="en-US" altLang="en-US" sz="3200" dirty="0" smtClean="0">
                <a:solidFill>
                  <a:srgbClr val="002D56"/>
                </a:solidFill>
              </a:rPr>
              <a:t>)</a:t>
            </a:r>
          </a:p>
          <a:p>
            <a:pPr lvl="1"/>
            <a:r>
              <a:rPr lang="en-US" altLang="en-US" dirty="0" smtClean="0"/>
              <a:t>The optimal amounts of </a:t>
            </a:r>
            <a:r>
              <a:rPr lang="en-US" altLang="en-US" i="1" dirty="0" smtClean="0"/>
              <a:t>x</a:t>
            </a:r>
            <a:r>
              <a:rPr lang="en-US" altLang="en-US" baseline="-25000" dirty="0" smtClean="0"/>
              <a:t>1</a:t>
            </a:r>
            <a:r>
              <a:rPr lang="en-US" altLang="en-US" dirty="0" smtClean="0"/>
              <a:t>,</a:t>
            </a:r>
            <a:r>
              <a:rPr lang="en-US" altLang="en-US" i="1" dirty="0" smtClean="0"/>
              <a:t>x</a:t>
            </a:r>
            <a:r>
              <a:rPr lang="en-US" altLang="en-US" baseline="-25000" dirty="0" smtClean="0"/>
              <a:t>2</a:t>
            </a:r>
            <a:r>
              <a:rPr lang="en-US" altLang="en-US" dirty="0" smtClean="0"/>
              <a:t>,…,</a:t>
            </a:r>
            <a:r>
              <a:rPr lang="en-US" altLang="en-US" i="1" dirty="0" err="1" smtClean="0"/>
              <a:t>x</a:t>
            </a:r>
            <a:r>
              <a:rPr lang="en-US" altLang="en-US" i="1" baseline="-25000" dirty="0" err="1" smtClean="0"/>
              <a:t>n</a:t>
            </a:r>
            <a:r>
              <a:rPr lang="en-US" altLang="en-US" dirty="0" smtClean="0"/>
              <a:t> will depend on the prices of the goods and the required utility level</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EFB5531B-2445-48D6-91E3-258C47D3DCEA}" type="slidenum">
              <a:rPr lang="en-US" smtClean="0"/>
              <a:pPr>
                <a:defRPr/>
              </a:pPr>
              <a:t>36</a:t>
            </a:fld>
            <a:endParaRPr lang="en-US"/>
          </a:p>
        </p:txBody>
      </p:sp>
    </p:spTree>
    <p:extLst>
      <p:ext uri="{BB962C8B-B14F-4D97-AF65-F5344CB8AC3E}">
        <p14:creationId xmlns:p14="http://schemas.microsoft.com/office/powerpoint/2010/main" val="17174260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p:txBody>
          <a:bodyPr/>
          <a:lstStyle/>
          <a:p>
            <a:r>
              <a:rPr lang="en-US" altLang="en-US" smtClean="0"/>
              <a:t>Expenditure Minimization</a:t>
            </a:r>
          </a:p>
        </p:txBody>
      </p:sp>
      <p:sp>
        <p:nvSpPr>
          <p:cNvPr id="55299" name="Content Placeholder 2"/>
          <p:cNvSpPr>
            <a:spLocks noGrp="1"/>
          </p:cNvSpPr>
          <p:nvPr>
            <p:ph idx="1"/>
          </p:nvPr>
        </p:nvSpPr>
        <p:spPr/>
        <p:txBody>
          <a:bodyPr/>
          <a:lstStyle/>
          <a:p>
            <a:r>
              <a:rPr lang="en-US" altLang="en-US" dirty="0" smtClean="0"/>
              <a:t>Expenditure function</a:t>
            </a:r>
          </a:p>
          <a:p>
            <a:pPr lvl="1"/>
            <a:r>
              <a:rPr lang="en-US" altLang="en-US" dirty="0" smtClean="0"/>
              <a:t>The individual’s expenditure function </a:t>
            </a:r>
          </a:p>
          <a:p>
            <a:pPr lvl="1"/>
            <a:r>
              <a:rPr lang="en-US" altLang="en-US" dirty="0" smtClean="0"/>
              <a:t>Shows the minimal expenditures</a:t>
            </a:r>
          </a:p>
          <a:p>
            <a:pPr lvl="1"/>
            <a:r>
              <a:rPr lang="en-US" altLang="en-US" dirty="0" smtClean="0"/>
              <a:t>Necessary to achieve a given utility level </a:t>
            </a:r>
          </a:p>
          <a:p>
            <a:pPr lvl="1"/>
            <a:r>
              <a:rPr lang="en-US" altLang="en-US" dirty="0" smtClean="0"/>
              <a:t>For a particular set of prices </a:t>
            </a:r>
          </a:p>
          <a:p>
            <a:pPr lvl="1"/>
            <a:r>
              <a:rPr lang="en-US" altLang="en-US" dirty="0" smtClean="0"/>
              <a:t>Also a value function</a:t>
            </a:r>
          </a:p>
          <a:p>
            <a:r>
              <a:rPr lang="en-US" altLang="en-US" dirty="0" smtClean="0"/>
              <a:t>minimal expenditures =</a:t>
            </a:r>
            <a:r>
              <a:rPr lang="en-US" altLang="en-US" i="1" dirty="0" smtClean="0"/>
              <a:t> E</a:t>
            </a:r>
            <a:r>
              <a:rPr lang="en-US" altLang="en-US" dirty="0" smtClean="0"/>
              <a:t>(</a:t>
            </a:r>
            <a:r>
              <a:rPr lang="en-US" altLang="en-US" i="1" dirty="0" smtClean="0"/>
              <a:t>p</a:t>
            </a:r>
            <a:r>
              <a:rPr lang="en-US" altLang="en-US" baseline="-25000" dirty="0" smtClean="0"/>
              <a:t>1</a:t>
            </a:r>
            <a:r>
              <a:rPr lang="en-US" altLang="en-US" dirty="0" smtClean="0"/>
              <a:t>,</a:t>
            </a:r>
            <a:r>
              <a:rPr lang="en-US" altLang="en-US" i="1" dirty="0" smtClean="0"/>
              <a:t>p</a:t>
            </a:r>
            <a:r>
              <a:rPr lang="en-US" altLang="en-US" baseline="-25000" dirty="0" smtClean="0"/>
              <a:t>2</a:t>
            </a:r>
            <a:r>
              <a:rPr lang="en-US" altLang="en-US" dirty="0" smtClean="0"/>
              <a:t>,…,</a:t>
            </a:r>
            <a:r>
              <a:rPr lang="en-US" altLang="en-US" i="1" dirty="0" err="1" smtClean="0"/>
              <a:t>p</a:t>
            </a:r>
            <a:r>
              <a:rPr lang="en-US" altLang="en-US" i="1" baseline="-25000" dirty="0" err="1" smtClean="0"/>
              <a:t>n</a:t>
            </a:r>
            <a:r>
              <a:rPr lang="en-US" altLang="en-US" dirty="0" err="1" smtClean="0"/>
              <a:t>,</a:t>
            </a:r>
            <a:r>
              <a:rPr lang="en-US" altLang="en-US" i="1" dirty="0" err="1" smtClean="0"/>
              <a:t>U</a:t>
            </a:r>
            <a:r>
              <a:rPr lang="en-US" altLang="en-US" dirty="0" smtClean="0"/>
              <a:t>)</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C0BCD032-27B2-4E95-88D7-F6B3527AC6A3}" type="slidenum">
              <a:rPr lang="en-US" smtClean="0"/>
              <a:pPr>
                <a:defRPr/>
              </a:pPr>
              <a:t>37</a:t>
            </a:fld>
            <a:endParaRPr lang="en-US"/>
          </a:p>
        </p:txBody>
      </p:sp>
    </p:spTree>
    <p:extLst>
      <p:ext uri="{BB962C8B-B14F-4D97-AF65-F5344CB8AC3E}">
        <p14:creationId xmlns:p14="http://schemas.microsoft.com/office/powerpoint/2010/main" val="14615846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p:txBody>
          <a:bodyPr/>
          <a:lstStyle/>
          <a:p>
            <a:r>
              <a:rPr lang="en-US" altLang="en-US" smtClean="0"/>
              <a:t>Expenditure Minimization</a:t>
            </a:r>
          </a:p>
        </p:txBody>
      </p:sp>
      <p:sp>
        <p:nvSpPr>
          <p:cNvPr id="56323" name="Content Placeholder 2"/>
          <p:cNvSpPr>
            <a:spLocks noGrp="1"/>
          </p:cNvSpPr>
          <p:nvPr>
            <p:ph idx="1"/>
          </p:nvPr>
        </p:nvSpPr>
        <p:spPr/>
        <p:txBody>
          <a:bodyPr/>
          <a:lstStyle/>
          <a:p>
            <a:r>
              <a:rPr lang="en-US" altLang="en-US" dirty="0" smtClean="0"/>
              <a:t>The expenditure function and the indirect utility function </a:t>
            </a:r>
          </a:p>
          <a:p>
            <a:pPr lvl="1"/>
            <a:r>
              <a:rPr lang="en-US" altLang="en-US" dirty="0" smtClean="0"/>
              <a:t>Are inversely related</a:t>
            </a:r>
          </a:p>
          <a:p>
            <a:pPr lvl="1">
              <a:lnSpc>
                <a:spcPct val="90000"/>
              </a:lnSpc>
            </a:pPr>
            <a:r>
              <a:rPr lang="en-US" altLang="en-US" dirty="0" smtClean="0"/>
              <a:t>Both depend on market prices </a:t>
            </a:r>
          </a:p>
          <a:p>
            <a:pPr lvl="1">
              <a:lnSpc>
                <a:spcPct val="90000"/>
              </a:lnSpc>
            </a:pPr>
            <a:r>
              <a:rPr lang="en-US" altLang="en-US" dirty="0" smtClean="0"/>
              <a:t>But involve different constraints (income or utility) </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D72350A5-E82B-4B91-80F2-B631184990B1}" type="slidenum">
              <a:rPr lang="en-US" smtClean="0"/>
              <a:pPr>
                <a:defRPr/>
              </a:pPr>
              <a:t>38</a:t>
            </a:fld>
            <a:endParaRPr lang="en-US"/>
          </a:p>
        </p:txBody>
      </p:sp>
    </p:spTree>
    <p:extLst>
      <p:ext uri="{BB962C8B-B14F-4D97-AF65-F5344CB8AC3E}">
        <p14:creationId xmlns:p14="http://schemas.microsoft.com/office/powerpoint/2010/main" val="1524810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4.4 	Two Expenditure Functions</a:t>
            </a:r>
          </a:p>
        </p:txBody>
      </p:sp>
      <p:sp>
        <p:nvSpPr>
          <p:cNvPr id="12294"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1E083644-F98D-4E09-9DD9-F3E5A090AAC0}" type="slidenum">
              <a:rPr lang="en-US" smtClean="0"/>
              <a:pPr>
                <a:defRPr/>
              </a:pPr>
              <a:t>39</a:t>
            </a:fld>
            <a:endParaRPr lang="en-US" dirty="0"/>
          </a:p>
        </p:txBody>
      </p:sp>
      <p:sp>
        <p:nvSpPr>
          <p:cNvPr id="12292" name="Content Placeholder 2"/>
          <p:cNvSpPr>
            <a:spLocks noGrp="1"/>
          </p:cNvSpPr>
          <p:nvPr>
            <p:ph type="body" sz="quarter" idx="12"/>
          </p:nvPr>
        </p:nvSpPr>
        <p:spPr>
          <a:prstGeom prst="rect">
            <a:avLst/>
          </a:prstGeom>
        </p:spPr>
        <p:txBody>
          <a:bodyPr/>
          <a:lstStyle/>
          <a:p>
            <a:r>
              <a:rPr lang="en-US" altLang="en-US" dirty="0" smtClean="0"/>
              <a:t>Cobb-Douglas </a:t>
            </a:r>
          </a:p>
          <a:p>
            <a:pPr lvl="1"/>
            <a:r>
              <a:rPr lang="en-US" altLang="en-US" dirty="0" smtClean="0"/>
              <a:t>The indirect utility function in the two-good case:</a:t>
            </a:r>
          </a:p>
        </p:txBody>
      </p:sp>
      <p:sp>
        <p:nvSpPr>
          <p:cNvPr id="2" name="Text Placeholder 1"/>
          <p:cNvSpPr>
            <a:spLocks noGrp="1"/>
          </p:cNvSpPr>
          <p:nvPr>
            <p:ph type="body" sz="quarter" idx="13"/>
          </p:nvPr>
        </p:nvSpPr>
        <p:spPr/>
        <p:txBody>
          <a:bodyPr/>
          <a:lstStyle/>
          <a:p>
            <a:pPr lvl="1"/>
            <a:r>
              <a:rPr lang="en-US" dirty="0"/>
              <a:t>If we interchange the role of utility and income (expenditure), we will have the expenditure function</a:t>
            </a:r>
          </a:p>
          <a:p>
            <a:pPr marL="0" indent="0">
              <a:buNone/>
            </a:pPr>
            <a:r>
              <a:rPr lang="en-US" dirty="0"/>
              <a:t>		</a:t>
            </a:r>
            <a:r>
              <a:rPr lang="en-US" i="1" dirty="0"/>
              <a:t>E</a:t>
            </a:r>
            <a:r>
              <a:rPr lang="en-US" dirty="0"/>
              <a:t>(</a:t>
            </a:r>
            <a:r>
              <a:rPr lang="en-US" i="1" dirty="0" err="1"/>
              <a:t>p</a:t>
            </a:r>
            <a:r>
              <a:rPr lang="en-US" i="1" baseline="-25000" dirty="0" err="1"/>
              <a:t>x</a:t>
            </a:r>
            <a:r>
              <a:rPr lang="en-US" dirty="0" err="1"/>
              <a:t>,</a:t>
            </a:r>
            <a:r>
              <a:rPr lang="en-US" i="1" dirty="0" err="1"/>
              <a:t>p</a:t>
            </a:r>
            <a:r>
              <a:rPr lang="en-US" i="1" baseline="-25000" dirty="0" err="1"/>
              <a:t>y</a:t>
            </a:r>
            <a:r>
              <a:rPr lang="en-US" dirty="0" err="1"/>
              <a:t>,</a:t>
            </a:r>
            <a:r>
              <a:rPr lang="en-US" i="1" dirty="0" err="1"/>
              <a:t>U</a:t>
            </a:r>
            <a:r>
              <a:rPr lang="en-US" dirty="0"/>
              <a:t>) = </a:t>
            </a:r>
            <a:r>
              <a:rPr lang="en-US" i="1" dirty="0"/>
              <a:t>2p</a:t>
            </a:r>
            <a:r>
              <a:rPr lang="en-US" i="1" baseline="-25000" dirty="0"/>
              <a:t>x</a:t>
            </a:r>
            <a:r>
              <a:rPr lang="en-US" i="1" baseline="30000" dirty="0"/>
              <a:t>0.5</a:t>
            </a:r>
            <a:r>
              <a:rPr lang="en-US" i="1" dirty="0"/>
              <a:t>p</a:t>
            </a:r>
            <a:r>
              <a:rPr lang="en-US" i="1" baseline="-25000" dirty="0"/>
              <a:t>y</a:t>
            </a:r>
            <a:r>
              <a:rPr lang="en-US" i="1" baseline="30000" dirty="0"/>
              <a:t>0.5</a:t>
            </a:r>
            <a:r>
              <a:rPr lang="en-US" i="1" dirty="0"/>
              <a:t>U</a:t>
            </a:r>
          </a:p>
          <a:p>
            <a:pPr lvl="1"/>
            <a:endParaRPr lang="en-US" dirty="0"/>
          </a:p>
        </p:txBody>
      </p:sp>
      <p:graphicFrame>
        <p:nvGraphicFramePr>
          <p:cNvPr id="61442" name="Object 2"/>
          <p:cNvGraphicFramePr>
            <a:graphicFrameLocks noChangeAspect="1"/>
          </p:cNvGraphicFramePr>
          <p:nvPr/>
        </p:nvGraphicFramePr>
        <p:xfrm>
          <a:off x="1338263" y="1654175"/>
          <a:ext cx="3471862" cy="1011238"/>
        </p:xfrm>
        <a:graphic>
          <a:graphicData uri="http://schemas.openxmlformats.org/presentationml/2006/ole">
            <mc:AlternateContent xmlns:mc="http://schemas.openxmlformats.org/markup-compatibility/2006">
              <mc:Choice xmlns:v="urn:schemas-microsoft-com:vml" Requires="v">
                <p:oleObj spid="_x0000_s140307" name="Equation" r:id="rId3" imgW="1523880" imgH="444240" progId="Equation.DSMT4">
                  <p:embed/>
                </p:oleObj>
              </mc:Choice>
              <mc:Fallback>
                <p:oleObj name="Equation" r:id="rId3" imgW="1523880" imgH="4442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8263" y="1654175"/>
                        <a:ext cx="3471862" cy="1011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7482506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1442"/>
                                        </p:tgtEl>
                                        <p:attrNameLst>
                                          <p:attrName>style.visibility</p:attrName>
                                        </p:attrNameLst>
                                      </p:cBhvr>
                                      <p:to>
                                        <p:strVal val="visible"/>
                                      </p:to>
                                    </p:set>
                                    <p:animEffect transition="in" filter="wipe(left)">
                                      <p:cBhvr>
                                        <p:cTn id="7" dur="500"/>
                                        <p:tgtEl>
                                          <p:spTgt spid="6144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wipe(left)">
                                      <p:cBhvr>
                                        <p:cTn id="15"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4.4 	Two Expenditure Functions</a:t>
            </a:r>
          </a:p>
        </p:txBody>
      </p:sp>
      <p:sp>
        <p:nvSpPr>
          <p:cNvPr id="13318"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380189F2-C584-4595-9F05-B3B8E482743F}" type="slidenum">
              <a:rPr lang="en-US" smtClean="0"/>
              <a:pPr>
                <a:defRPr/>
              </a:pPr>
              <a:t>40</a:t>
            </a:fld>
            <a:endParaRPr lang="en-US" dirty="0"/>
          </a:p>
        </p:txBody>
      </p:sp>
      <p:sp>
        <p:nvSpPr>
          <p:cNvPr id="13316" name="Content Placeholder 2"/>
          <p:cNvSpPr>
            <a:spLocks noGrp="1"/>
          </p:cNvSpPr>
          <p:nvPr>
            <p:ph type="body" sz="quarter" idx="12"/>
          </p:nvPr>
        </p:nvSpPr>
        <p:spPr>
          <a:prstGeom prst="rect">
            <a:avLst/>
          </a:prstGeom>
        </p:spPr>
        <p:txBody>
          <a:bodyPr/>
          <a:lstStyle/>
          <a:p>
            <a:r>
              <a:rPr lang="en-US" altLang="en-US" dirty="0" smtClean="0"/>
              <a:t>Fixed-proportions case</a:t>
            </a:r>
          </a:p>
          <a:p>
            <a:pPr lvl="1"/>
            <a:r>
              <a:rPr lang="en-US" altLang="en-US" dirty="0" smtClean="0"/>
              <a:t>The indirect utility function:</a:t>
            </a:r>
          </a:p>
        </p:txBody>
      </p:sp>
      <p:sp>
        <p:nvSpPr>
          <p:cNvPr id="2" name="Text Placeholder 1"/>
          <p:cNvSpPr>
            <a:spLocks noGrp="1"/>
          </p:cNvSpPr>
          <p:nvPr>
            <p:ph type="body" sz="quarter" idx="13"/>
          </p:nvPr>
        </p:nvSpPr>
        <p:spPr/>
        <p:txBody>
          <a:bodyPr/>
          <a:lstStyle/>
          <a:p>
            <a:pPr lvl="1" eaLnBrk="0" hangingPunct="0">
              <a:buFontTx/>
              <a:buChar char="•"/>
              <a:defRPr/>
            </a:pPr>
            <a:r>
              <a:rPr lang="en-US" kern="0" dirty="0"/>
              <a:t>If we interchange the role of utility and income (expenditure), we will have the expenditure function</a:t>
            </a:r>
          </a:p>
          <a:p>
            <a:pPr marL="0" indent="0" eaLnBrk="0" hangingPunct="0">
              <a:lnSpc>
                <a:spcPct val="130000"/>
              </a:lnSpc>
              <a:buNone/>
              <a:defRPr/>
            </a:pPr>
            <a:r>
              <a:rPr lang="en-US" sz="2800" i="1" kern="0" dirty="0">
                <a:solidFill>
                  <a:srgbClr val="FF0000"/>
                </a:solidFill>
              </a:rPr>
              <a:t>		</a:t>
            </a:r>
            <a:r>
              <a:rPr lang="en-US" i="1" kern="0" dirty="0">
                <a:solidFill>
                  <a:srgbClr val="FF0000"/>
                </a:solidFill>
              </a:rPr>
              <a:t>E</a:t>
            </a:r>
            <a:r>
              <a:rPr lang="en-US" kern="0" dirty="0">
                <a:solidFill>
                  <a:srgbClr val="FF0000"/>
                </a:solidFill>
              </a:rPr>
              <a:t>(</a:t>
            </a:r>
            <a:r>
              <a:rPr lang="en-US" i="1" kern="0" dirty="0" err="1">
                <a:solidFill>
                  <a:srgbClr val="FF0000"/>
                </a:solidFill>
              </a:rPr>
              <a:t>p</a:t>
            </a:r>
            <a:r>
              <a:rPr lang="en-US" i="1" kern="0" baseline="-25000" dirty="0" err="1">
                <a:solidFill>
                  <a:srgbClr val="FF0000"/>
                </a:solidFill>
              </a:rPr>
              <a:t>x</a:t>
            </a:r>
            <a:r>
              <a:rPr lang="en-US" kern="0" dirty="0" err="1">
                <a:solidFill>
                  <a:srgbClr val="FF0000"/>
                </a:solidFill>
              </a:rPr>
              <a:t>,</a:t>
            </a:r>
            <a:r>
              <a:rPr lang="en-US" i="1" kern="0" dirty="0" err="1">
                <a:solidFill>
                  <a:srgbClr val="FF0000"/>
                </a:solidFill>
              </a:rPr>
              <a:t>p</a:t>
            </a:r>
            <a:r>
              <a:rPr lang="en-US" i="1" kern="0" baseline="-25000" dirty="0" err="1">
                <a:solidFill>
                  <a:srgbClr val="FF0000"/>
                </a:solidFill>
              </a:rPr>
              <a:t>y</a:t>
            </a:r>
            <a:r>
              <a:rPr lang="en-US" kern="0" dirty="0" err="1">
                <a:solidFill>
                  <a:srgbClr val="FF0000"/>
                </a:solidFill>
              </a:rPr>
              <a:t>,</a:t>
            </a:r>
            <a:r>
              <a:rPr lang="en-US" i="1" kern="0" dirty="0" err="1">
                <a:solidFill>
                  <a:srgbClr val="FF0000"/>
                </a:solidFill>
              </a:rPr>
              <a:t>U</a:t>
            </a:r>
            <a:r>
              <a:rPr lang="en-US" kern="0" dirty="0">
                <a:solidFill>
                  <a:srgbClr val="FF0000"/>
                </a:solidFill>
              </a:rPr>
              <a:t>) = </a:t>
            </a:r>
            <a:r>
              <a:rPr lang="en-US" dirty="0">
                <a:solidFill>
                  <a:srgbClr val="FF0000"/>
                </a:solidFill>
              </a:rPr>
              <a:t>(</a:t>
            </a:r>
            <a:r>
              <a:rPr lang="en-US" i="1" dirty="0" err="1">
                <a:solidFill>
                  <a:srgbClr val="FF0000"/>
                </a:solidFill>
              </a:rPr>
              <a:t>p</a:t>
            </a:r>
            <a:r>
              <a:rPr lang="en-US" i="1" baseline="-25000" dirty="0" err="1">
                <a:solidFill>
                  <a:srgbClr val="FF0000"/>
                </a:solidFill>
              </a:rPr>
              <a:t>x</a:t>
            </a:r>
            <a:r>
              <a:rPr lang="en-US" i="1" dirty="0">
                <a:solidFill>
                  <a:srgbClr val="FF0000"/>
                </a:solidFill>
              </a:rPr>
              <a:t> + </a:t>
            </a:r>
            <a:r>
              <a:rPr lang="en-US" dirty="0" smtClean="0">
                <a:solidFill>
                  <a:srgbClr val="FF0000"/>
                </a:solidFill>
              </a:rPr>
              <a:t>0.25</a:t>
            </a:r>
            <a:r>
              <a:rPr lang="en-US" i="1" dirty="0" smtClean="0">
                <a:solidFill>
                  <a:srgbClr val="FF0000"/>
                </a:solidFill>
              </a:rPr>
              <a:t>p</a:t>
            </a:r>
            <a:r>
              <a:rPr lang="en-US" i="1" baseline="-25000" dirty="0" smtClean="0">
                <a:solidFill>
                  <a:srgbClr val="FF0000"/>
                </a:solidFill>
              </a:rPr>
              <a:t>y</a:t>
            </a:r>
            <a:r>
              <a:rPr lang="en-US" dirty="0" smtClean="0">
                <a:solidFill>
                  <a:srgbClr val="FF0000"/>
                </a:solidFill>
              </a:rPr>
              <a:t>)</a:t>
            </a:r>
            <a:r>
              <a:rPr lang="en-US" i="1" dirty="0" smtClean="0">
                <a:solidFill>
                  <a:srgbClr val="FF0000"/>
                </a:solidFill>
              </a:rPr>
              <a:t>U</a:t>
            </a:r>
            <a:endParaRPr lang="en-US" i="1" dirty="0">
              <a:solidFill>
                <a:srgbClr val="FF0000"/>
              </a:solidFill>
            </a:endParaRPr>
          </a:p>
        </p:txBody>
      </p:sp>
      <p:graphicFrame>
        <p:nvGraphicFramePr>
          <p:cNvPr id="62467" name="Object 3"/>
          <p:cNvGraphicFramePr>
            <a:graphicFrameLocks noChangeAspect="1"/>
          </p:cNvGraphicFramePr>
          <p:nvPr/>
        </p:nvGraphicFramePr>
        <p:xfrm>
          <a:off x="1920875" y="1614488"/>
          <a:ext cx="4310063" cy="1117600"/>
        </p:xfrm>
        <a:graphic>
          <a:graphicData uri="http://schemas.openxmlformats.org/presentationml/2006/ole">
            <mc:AlternateContent xmlns:mc="http://schemas.openxmlformats.org/markup-compatibility/2006">
              <mc:Choice xmlns:v="urn:schemas-microsoft-com:vml" Requires="v">
                <p:oleObj spid="_x0000_s141330" name="Equation" r:id="rId3" imgW="1714320" imgH="444240" progId="Equation.DSMT4">
                  <p:embed/>
                </p:oleObj>
              </mc:Choice>
              <mc:Fallback>
                <p:oleObj name="Equation" r:id="rId3" imgW="1714320" imgH="4442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0875" y="1614488"/>
                        <a:ext cx="4310063" cy="1117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4549823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2467"/>
                                        </p:tgtEl>
                                        <p:attrNameLst>
                                          <p:attrName>style.visibility</p:attrName>
                                        </p:attrNameLst>
                                      </p:cBhvr>
                                      <p:to>
                                        <p:strVal val="visible"/>
                                      </p:to>
                                    </p:set>
                                    <p:animEffect transition="in" filter="wipe(left)">
                                      <p:cBhvr>
                                        <p:cTn id="7" dur="500"/>
                                        <p:tgtEl>
                                          <p:spTgt spid="6246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wipe(left)">
                                      <p:cBhvr>
                                        <p:cTn id="15"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p:txBody>
          <a:bodyPr/>
          <a:lstStyle/>
          <a:p>
            <a:r>
              <a:rPr lang="en-US" altLang="en-US" smtClean="0"/>
              <a:t>Properties of Expenditure Functions</a:t>
            </a:r>
          </a:p>
        </p:txBody>
      </p:sp>
      <p:sp>
        <p:nvSpPr>
          <p:cNvPr id="57347" name="Content Placeholder 2"/>
          <p:cNvSpPr>
            <a:spLocks noGrp="1"/>
          </p:cNvSpPr>
          <p:nvPr>
            <p:ph idx="1"/>
          </p:nvPr>
        </p:nvSpPr>
        <p:spPr/>
        <p:txBody>
          <a:bodyPr/>
          <a:lstStyle/>
          <a:p>
            <a:r>
              <a:rPr lang="en-US" altLang="en-US" smtClean="0"/>
              <a:t>Homogeneity</a:t>
            </a:r>
          </a:p>
          <a:p>
            <a:pPr lvl="1"/>
            <a:r>
              <a:rPr lang="en-US" altLang="en-US" smtClean="0"/>
              <a:t>A doubling of all prices will precisely double the value of required expenditures</a:t>
            </a:r>
          </a:p>
          <a:p>
            <a:pPr lvl="2"/>
            <a:r>
              <a:rPr lang="en-US" altLang="en-US" smtClean="0"/>
              <a:t>Homogeneous of degree one</a:t>
            </a:r>
          </a:p>
          <a:p>
            <a:r>
              <a:rPr lang="en-US" altLang="en-US" smtClean="0"/>
              <a:t>Nondecreasing in prices</a:t>
            </a:r>
          </a:p>
          <a:p>
            <a:pPr lvl="1"/>
            <a:r>
              <a:rPr lang="en-US" altLang="en-US" smtClean="0">
                <a:sym typeface="Symbol" pitchFamily="18" charset="2"/>
              </a:rPr>
              <a:t></a:t>
            </a:r>
            <a:r>
              <a:rPr lang="en-US" altLang="en-US" i="1" smtClean="0">
                <a:sym typeface="Symbol" pitchFamily="18" charset="2"/>
              </a:rPr>
              <a:t>E</a:t>
            </a:r>
            <a:r>
              <a:rPr lang="en-US" altLang="en-US" smtClean="0">
                <a:sym typeface="Symbol" pitchFamily="18" charset="2"/>
              </a:rPr>
              <a:t>/</a:t>
            </a:r>
            <a:r>
              <a:rPr lang="en-US" altLang="en-US" i="1" smtClean="0">
                <a:sym typeface="Symbol" pitchFamily="18" charset="2"/>
              </a:rPr>
              <a:t>p</a:t>
            </a:r>
            <a:r>
              <a:rPr lang="en-US" altLang="en-US" i="1" baseline="-25000" smtClean="0">
                <a:sym typeface="Symbol" pitchFamily="18" charset="2"/>
              </a:rPr>
              <a:t>i</a:t>
            </a:r>
            <a:r>
              <a:rPr lang="en-US" altLang="en-US" smtClean="0">
                <a:sym typeface="Symbol" pitchFamily="18" charset="2"/>
              </a:rPr>
              <a:t>  0 for every good, </a:t>
            </a:r>
            <a:r>
              <a:rPr lang="en-US" altLang="en-US" i="1" smtClean="0">
                <a:sym typeface="Symbol" pitchFamily="18" charset="2"/>
              </a:rPr>
              <a:t>i</a:t>
            </a:r>
          </a:p>
          <a:p>
            <a:r>
              <a:rPr lang="en-US" altLang="en-US" smtClean="0">
                <a:sym typeface="Symbol" pitchFamily="18" charset="2"/>
              </a:rPr>
              <a:t>Concave in prices </a:t>
            </a:r>
          </a:p>
          <a:p>
            <a:pPr lvl="1"/>
            <a:r>
              <a:rPr lang="en-US" altLang="en-US" smtClean="0">
                <a:sym typeface="Symbol" pitchFamily="18" charset="2"/>
              </a:rPr>
              <a:t>F</a:t>
            </a:r>
            <a:r>
              <a:rPr lang="en-US" altLang="en-US" smtClean="0"/>
              <a:t>unctions that always lie below tangents to them</a:t>
            </a:r>
            <a:endParaRPr lang="en-US" altLang="en-US" smtClean="0">
              <a:sym typeface="Symbol" pitchFamily="18" charset="2"/>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AF52D993-CE35-444E-B95B-12796C9732BA}" type="slidenum">
              <a:rPr lang="en-US" smtClean="0"/>
              <a:pPr>
                <a:defRPr/>
              </a:pPr>
              <a:t>41</a:t>
            </a:fld>
            <a:endParaRPr lang="en-US"/>
          </a:p>
        </p:txBody>
      </p:sp>
    </p:spTree>
    <p:extLst>
      <p:ext uri="{BB962C8B-B14F-4D97-AF65-F5344CB8AC3E}">
        <p14:creationId xmlns:p14="http://schemas.microsoft.com/office/powerpoint/2010/main" val="40184089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4.7	Expenditure Functions Are Concave in </a:t>
            </a:r>
            <a:r>
              <a:rPr lang="en-US" altLang="en-US" dirty="0" smtClean="0"/>
              <a:t>Prices</a:t>
            </a:r>
          </a:p>
        </p:txBody>
      </p:sp>
      <p:sp>
        <p:nvSpPr>
          <p:cNvPr id="58371" name="Text Placeholder 2"/>
          <p:cNvSpPr>
            <a:spLocks noGrp="1"/>
          </p:cNvSpPr>
          <p:nvPr>
            <p:ph sz="half" idx="1"/>
          </p:nvPr>
        </p:nvSpPr>
        <p:spPr>
          <a:xfrm>
            <a:off x="228600" y="4953000"/>
            <a:ext cx="8686800" cy="1398283"/>
          </a:xfrm>
        </p:spPr>
        <p:txBody>
          <a:bodyPr>
            <a:normAutofit/>
          </a:bodyPr>
          <a:lstStyle/>
          <a:p>
            <a:pPr>
              <a:spcBef>
                <a:spcPct val="0"/>
              </a:spcBef>
            </a:pPr>
            <a:r>
              <a:rPr lang="en-US" altLang="en-US" dirty="0"/>
              <a:t>At p</a:t>
            </a:r>
            <a:r>
              <a:rPr lang="en-US" altLang="en-US" baseline="-25000" dirty="0"/>
              <a:t>1</a:t>
            </a:r>
            <a:r>
              <a:rPr lang="en-US" altLang="en-US" dirty="0"/>
              <a:t> this person spends E(p</a:t>
            </a:r>
            <a:r>
              <a:rPr lang="en-US" altLang="en-US" baseline="-25000" dirty="0"/>
              <a:t>1</a:t>
            </a:r>
            <a:r>
              <a:rPr lang="en-US" altLang="en-US" dirty="0"/>
              <a:t>* , . . .). If he or she continues to buy the same set of goods as p</a:t>
            </a:r>
            <a:r>
              <a:rPr lang="en-US" altLang="en-US" baseline="-25000" dirty="0"/>
              <a:t>1 </a:t>
            </a:r>
            <a:r>
              <a:rPr lang="en-US" altLang="en-US" dirty="0"/>
              <a:t>changes, then expenditures would be given by </a:t>
            </a:r>
            <a:r>
              <a:rPr lang="en-US" altLang="en-US" dirty="0" err="1"/>
              <a:t>E</a:t>
            </a:r>
            <a:r>
              <a:rPr lang="en-US" altLang="en-US" baseline="30000" dirty="0" err="1"/>
              <a:t>pseudo</a:t>
            </a:r>
            <a:r>
              <a:rPr lang="en-US" altLang="en-US" dirty="0"/>
              <a:t>. Because his or her consumption patterns will likely change as p</a:t>
            </a:r>
            <a:r>
              <a:rPr lang="en-US" altLang="en-US" baseline="-25000" dirty="0"/>
              <a:t>1</a:t>
            </a:r>
            <a:r>
              <a:rPr lang="en-US" altLang="en-US" dirty="0"/>
              <a:t> changes, actual expenditures will be less than this</a:t>
            </a:r>
            <a:r>
              <a:rPr lang="en-US" altLang="en-US" dirty="0" smtClean="0"/>
              <a:t>.</a:t>
            </a:r>
            <a:endParaRPr lang="en-US" altLang="en-US" dirty="0"/>
          </a:p>
        </p:txBody>
      </p:sp>
      <p:sp>
        <p:nvSpPr>
          <p:cNvPr id="58374"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88CB533C-9B0D-4887-9EE5-CF8EA13B2406}" type="slidenum">
              <a:rPr lang="en-US" smtClean="0"/>
              <a:pPr>
                <a:defRPr/>
              </a:pPr>
              <a:t>42</a:t>
            </a:fld>
            <a:endParaRPr lang="en-US" dirty="0"/>
          </a:p>
        </p:txBody>
      </p:sp>
      <p:grpSp>
        <p:nvGrpSpPr>
          <p:cNvPr id="2" name="Group 26"/>
          <p:cNvGrpSpPr>
            <a:grpSpLocks/>
          </p:cNvGrpSpPr>
          <p:nvPr/>
        </p:nvGrpSpPr>
        <p:grpSpPr bwMode="auto">
          <a:xfrm>
            <a:off x="3973513" y="1979613"/>
            <a:ext cx="2470150" cy="1690687"/>
            <a:chOff x="1919" y="2534"/>
            <a:chExt cx="1556" cy="1065"/>
          </a:xfrm>
        </p:grpSpPr>
        <p:sp>
          <p:nvSpPr>
            <p:cNvPr id="58392" name="Arc 9"/>
            <p:cNvSpPr>
              <a:spLocks/>
            </p:cNvSpPr>
            <p:nvPr/>
          </p:nvSpPr>
          <p:spPr bwMode="auto">
            <a:xfrm rot="-5400000">
              <a:off x="1965" y="2641"/>
              <a:ext cx="912" cy="1003"/>
            </a:xfrm>
            <a:custGeom>
              <a:avLst/>
              <a:gdLst>
                <a:gd name="T0" fmla="*/ 0 w 21600"/>
                <a:gd name="T1" fmla="*/ 0 h 21600"/>
                <a:gd name="T2" fmla="*/ 39 w 21600"/>
                <a:gd name="T3" fmla="*/ 47 h 21600"/>
                <a:gd name="T4" fmla="*/ 0 w 21600"/>
                <a:gd name="T5" fmla="*/ 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5D0D8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58393" name="Text Box 10"/>
            <p:cNvSpPr txBox="1">
              <a:spLocks noChangeArrowheads="1"/>
            </p:cNvSpPr>
            <p:nvPr/>
          </p:nvSpPr>
          <p:spPr bwMode="auto">
            <a:xfrm>
              <a:off x="2897" y="2534"/>
              <a:ext cx="57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b="1" i="1" dirty="0">
                  <a:solidFill>
                    <a:srgbClr val="5D0D8F"/>
                  </a:solidFill>
                </a:rPr>
                <a:t>E</a:t>
              </a:r>
              <a:r>
                <a:rPr lang="en-US" altLang="en-US" sz="1600" b="1" dirty="0">
                  <a:solidFill>
                    <a:srgbClr val="5D0D8F"/>
                  </a:solidFill>
                </a:rPr>
                <a:t>(</a:t>
              </a:r>
              <a:r>
                <a:rPr lang="en-US" altLang="en-US" sz="1600" b="1" i="1" dirty="0">
                  <a:solidFill>
                    <a:srgbClr val="5D0D8F"/>
                  </a:solidFill>
                </a:rPr>
                <a:t>p</a:t>
              </a:r>
              <a:r>
                <a:rPr lang="en-US" altLang="en-US" sz="1600" b="1" baseline="-25000" dirty="0">
                  <a:solidFill>
                    <a:srgbClr val="5D0D8F"/>
                  </a:solidFill>
                </a:rPr>
                <a:t>1</a:t>
              </a:r>
              <a:r>
                <a:rPr lang="en-US" altLang="en-US" sz="1600" b="1" dirty="0">
                  <a:solidFill>
                    <a:srgbClr val="5D0D8F"/>
                  </a:solidFill>
                </a:rPr>
                <a:t>,…)</a:t>
              </a:r>
              <a:endParaRPr lang="en-US" altLang="en-US" sz="1600" b="1" i="1" dirty="0">
                <a:solidFill>
                  <a:srgbClr val="5D0D8F"/>
                </a:solidFill>
              </a:endParaRPr>
            </a:p>
          </p:txBody>
        </p:sp>
      </p:grpSp>
      <p:grpSp>
        <p:nvGrpSpPr>
          <p:cNvPr id="3" name="Group 24"/>
          <p:cNvGrpSpPr>
            <a:grpSpLocks/>
          </p:cNvGrpSpPr>
          <p:nvPr/>
        </p:nvGrpSpPr>
        <p:grpSpPr bwMode="auto">
          <a:xfrm>
            <a:off x="3363913" y="1392238"/>
            <a:ext cx="3178175" cy="2073275"/>
            <a:chOff x="1536" y="2150"/>
            <a:chExt cx="2002" cy="1306"/>
          </a:xfrm>
        </p:grpSpPr>
        <p:sp>
          <p:nvSpPr>
            <p:cNvPr id="58390" name="Line 11"/>
            <p:cNvSpPr>
              <a:spLocks noChangeShapeType="1"/>
            </p:cNvSpPr>
            <p:nvPr/>
          </p:nvSpPr>
          <p:spPr bwMode="auto">
            <a:xfrm flipV="1">
              <a:off x="1536" y="2304"/>
              <a:ext cx="1488" cy="1152"/>
            </a:xfrm>
            <a:prstGeom prst="line">
              <a:avLst/>
            </a:prstGeom>
            <a:noFill/>
            <a:ln w="28575">
              <a:solidFill>
                <a:srgbClr val="177B2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58391" name="Text Box 19"/>
            <p:cNvSpPr txBox="1">
              <a:spLocks noChangeArrowheads="1"/>
            </p:cNvSpPr>
            <p:nvPr/>
          </p:nvSpPr>
          <p:spPr bwMode="auto">
            <a:xfrm>
              <a:off x="3023" y="2150"/>
              <a:ext cx="51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b="1" i="1">
                  <a:solidFill>
                    <a:srgbClr val="177B21"/>
                  </a:solidFill>
                </a:rPr>
                <a:t>E</a:t>
              </a:r>
              <a:r>
                <a:rPr lang="en-US" altLang="en-US" sz="1600" b="1" baseline="30000">
                  <a:solidFill>
                    <a:srgbClr val="177B21"/>
                  </a:solidFill>
                </a:rPr>
                <a:t>pseudo</a:t>
              </a:r>
              <a:endParaRPr lang="en-US" altLang="en-US" sz="1600" b="1" i="1">
                <a:solidFill>
                  <a:srgbClr val="177B21"/>
                </a:solidFill>
              </a:endParaRPr>
            </a:p>
          </p:txBody>
        </p:sp>
      </p:grpSp>
      <p:grpSp>
        <p:nvGrpSpPr>
          <p:cNvPr id="6" name="Group 24"/>
          <p:cNvGrpSpPr>
            <a:grpSpLocks/>
          </p:cNvGrpSpPr>
          <p:nvPr/>
        </p:nvGrpSpPr>
        <p:grpSpPr bwMode="auto">
          <a:xfrm>
            <a:off x="1787525" y="1344613"/>
            <a:ext cx="4954588" cy="3113087"/>
            <a:chOff x="1788226" y="1344561"/>
            <a:chExt cx="4953769" cy="3112532"/>
          </a:xfrm>
        </p:grpSpPr>
        <p:grpSp>
          <p:nvGrpSpPr>
            <p:cNvPr id="58384" name="Group 12"/>
            <p:cNvGrpSpPr>
              <a:grpSpLocks/>
            </p:cNvGrpSpPr>
            <p:nvPr/>
          </p:nvGrpSpPr>
          <p:grpSpPr bwMode="auto">
            <a:xfrm>
              <a:off x="2778826" y="4087761"/>
              <a:ext cx="3963169" cy="369332"/>
              <a:chOff x="1828800" y="6094691"/>
              <a:chExt cx="3963169" cy="369332"/>
            </a:xfrm>
          </p:grpSpPr>
          <p:sp>
            <p:nvSpPr>
              <p:cNvPr id="58388" name="Line 6"/>
              <p:cNvSpPr>
                <a:spLocks noChangeShapeType="1"/>
              </p:cNvSpPr>
              <p:nvPr/>
            </p:nvSpPr>
            <p:spPr bwMode="auto">
              <a:xfrm>
                <a:off x="1828800" y="6172200"/>
                <a:ext cx="3505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58389" name="Text Box 7"/>
              <p:cNvSpPr txBox="1">
                <a:spLocks noChangeArrowheads="1"/>
              </p:cNvSpPr>
              <p:nvPr/>
            </p:nvSpPr>
            <p:spPr bwMode="auto">
              <a:xfrm>
                <a:off x="5350823" y="6094691"/>
                <a:ext cx="4411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p</a:t>
                </a:r>
                <a:r>
                  <a:rPr lang="en-US" altLang="en-US" sz="1800"/>
                  <a:t>1</a:t>
                </a:r>
                <a:endParaRPr lang="en-US" altLang="en-US" sz="1800" i="1"/>
              </a:p>
            </p:txBody>
          </p:sp>
        </p:grpSp>
        <p:grpSp>
          <p:nvGrpSpPr>
            <p:cNvPr id="58385" name="Group 15"/>
            <p:cNvGrpSpPr>
              <a:grpSpLocks/>
            </p:cNvGrpSpPr>
            <p:nvPr/>
          </p:nvGrpSpPr>
          <p:grpSpPr bwMode="auto">
            <a:xfrm>
              <a:off x="1788226" y="1344561"/>
              <a:ext cx="1000595" cy="2820709"/>
              <a:chOff x="838200" y="3351491"/>
              <a:chExt cx="1000595" cy="2820709"/>
            </a:xfrm>
          </p:grpSpPr>
          <p:sp>
            <p:nvSpPr>
              <p:cNvPr id="58386" name="Line 5"/>
              <p:cNvSpPr>
                <a:spLocks noChangeShapeType="1"/>
              </p:cNvSpPr>
              <p:nvPr/>
            </p:nvSpPr>
            <p:spPr bwMode="auto">
              <a:xfrm>
                <a:off x="1828800" y="3657600"/>
                <a:ext cx="0" cy="2514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58387" name="Text Box 8"/>
              <p:cNvSpPr txBox="1">
                <a:spLocks noChangeArrowheads="1"/>
              </p:cNvSpPr>
              <p:nvPr/>
            </p:nvSpPr>
            <p:spPr bwMode="auto">
              <a:xfrm>
                <a:off x="838200" y="3351491"/>
                <a:ext cx="100059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E</a:t>
                </a:r>
                <a:r>
                  <a:rPr lang="en-US" altLang="en-US" sz="1800"/>
                  <a:t>(</a:t>
                </a:r>
                <a:r>
                  <a:rPr lang="en-US" altLang="en-US" sz="1800" i="1"/>
                  <a:t>p</a:t>
                </a:r>
                <a:r>
                  <a:rPr lang="en-US" altLang="en-US" sz="1800" baseline="-25000"/>
                  <a:t>1</a:t>
                </a:r>
                <a:r>
                  <a:rPr lang="en-US" altLang="en-US" sz="1800"/>
                  <a:t>,…)</a:t>
                </a:r>
                <a:endParaRPr lang="en-US" altLang="en-US" sz="1800" i="1"/>
              </a:p>
            </p:txBody>
          </p:sp>
        </p:grpSp>
      </p:grpSp>
      <p:grpSp>
        <p:nvGrpSpPr>
          <p:cNvPr id="9" name="Group 22"/>
          <p:cNvGrpSpPr>
            <a:grpSpLocks/>
          </p:cNvGrpSpPr>
          <p:nvPr/>
        </p:nvGrpSpPr>
        <p:grpSpPr bwMode="auto">
          <a:xfrm>
            <a:off x="1703388" y="2366963"/>
            <a:ext cx="3489327" cy="2205037"/>
            <a:chOff x="475" y="2764"/>
            <a:chExt cx="2198" cy="1389"/>
          </a:xfrm>
        </p:grpSpPr>
        <p:sp>
          <p:nvSpPr>
            <p:cNvPr id="58379" name="Oval 13"/>
            <p:cNvSpPr>
              <a:spLocks noChangeArrowheads="1"/>
            </p:cNvSpPr>
            <p:nvPr/>
          </p:nvSpPr>
          <p:spPr bwMode="auto">
            <a:xfrm>
              <a:off x="2208" y="2880"/>
              <a:ext cx="48" cy="48"/>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58380" name="Line 16"/>
            <p:cNvSpPr>
              <a:spLocks noChangeShapeType="1"/>
            </p:cNvSpPr>
            <p:nvPr/>
          </p:nvSpPr>
          <p:spPr bwMode="auto">
            <a:xfrm flipH="1">
              <a:off x="1152" y="2880"/>
              <a:ext cx="1056"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58381" name="Line 17"/>
            <p:cNvSpPr>
              <a:spLocks noChangeShapeType="1"/>
            </p:cNvSpPr>
            <p:nvPr/>
          </p:nvSpPr>
          <p:spPr bwMode="auto">
            <a:xfrm>
              <a:off x="2256" y="2928"/>
              <a:ext cx="0" cy="96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58382" name="Text Box 18"/>
            <p:cNvSpPr txBox="1">
              <a:spLocks noChangeArrowheads="1"/>
            </p:cNvSpPr>
            <p:nvPr/>
          </p:nvSpPr>
          <p:spPr bwMode="auto">
            <a:xfrm>
              <a:off x="475" y="2764"/>
              <a:ext cx="71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E</a:t>
              </a:r>
              <a:r>
                <a:rPr lang="en-US" altLang="en-US" sz="1800"/>
                <a:t>(</a:t>
              </a:r>
              <a:r>
                <a:rPr lang="en-US" altLang="en-US" sz="1800" i="1"/>
                <a:t>p*</a:t>
              </a:r>
              <a:r>
                <a:rPr lang="en-US" altLang="en-US" sz="1800" baseline="-25000"/>
                <a:t>1</a:t>
              </a:r>
              <a:r>
                <a:rPr lang="en-US" altLang="en-US" sz="1800"/>
                <a:t>,…)</a:t>
              </a:r>
              <a:endParaRPr lang="en-US" altLang="en-US" sz="1800" i="1"/>
            </a:p>
          </p:txBody>
        </p:sp>
        <p:sp>
          <p:nvSpPr>
            <p:cNvPr id="58383" name="Text Box 20"/>
            <p:cNvSpPr txBox="1">
              <a:spLocks noChangeArrowheads="1"/>
            </p:cNvSpPr>
            <p:nvPr/>
          </p:nvSpPr>
          <p:spPr bwMode="auto">
            <a:xfrm>
              <a:off x="1946" y="3920"/>
              <a:ext cx="72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smtClean="0"/>
                <a:t>E(p*</a:t>
              </a:r>
              <a:r>
                <a:rPr lang="en-US" altLang="en-US" sz="1800" baseline="-25000" dirty="0" smtClean="0"/>
                <a:t>1</a:t>
              </a:r>
              <a:r>
                <a:rPr lang="en-US" altLang="en-US" sz="1800" dirty="0" smtClean="0"/>
                <a:t>, …)</a:t>
              </a:r>
              <a:endParaRPr lang="en-US" altLang="en-US" sz="1800" i="1" baseline="-25000" dirty="0"/>
            </a:p>
          </p:txBody>
        </p:sp>
      </p:grpSp>
    </p:spTree>
    <p:extLst>
      <p:ext uri="{BB962C8B-B14F-4D97-AF65-F5344CB8AC3E}">
        <p14:creationId xmlns:p14="http://schemas.microsoft.com/office/powerpoint/2010/main" val="1548013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58371">
                                            <p:txEl>
                                              <p:pRg st="0" end="0"/>
                                            </p:txEl>
                                          </p:spTgt>
                                        </p:tgtEl>
                                        <p:attrNameLst>
                                          <p:attrName>style.visibility</p:attrName>
                                        </p:attrNameLst>
                                      </p:cBhvr>
                                      <p:to>
                                        <p:strVal val="visible"/>
                                      </p:to>
                                    </p:set>
                                    <p:animEffect transition="in" filter="wipe(left)">
                                      <p:cBhvr>
                                        <p:cTn id="23" dur="500"/>
                                        <p:tgtEl>
                                          <p:spTgt spid="5837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p:txBody>
          <a:bodyPr/>
          <a:lstStyle/>
          <a:p>
            <a:r>
              <a:rPr lang="en-US" altLang="en-US" smtClean="0"/>
              <a:t>Budget Shares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21CC7A3F-E530-4F3B-AE48-9473E1E49A12}" type="slidenum">
              <a:rPr lang="en-US" smtClean="0"/>
              <a:pPr>
                <a:defRPr/>
              </a:pPr>
              <a:t>43</a:t>
            </a:fld>
            <a:endParaRPr lang="en-US"/>
          </a:p>
        </p:txBody>
      </p:sp>
      <p:sp>
        <p:nvSpPr>
          <p:cNvPr id="59395" name="Content Placeholder 2"/>
          <p:cNvSpPr>
            <a:spLocks noGrp="1"/>
          </p:cNvSpPr>
          <p:nvPr>
            <p:ph type="body" sz="quarter" idx="12"/>
          </p:nvPr>
        </p:nvSpPr>
        <p:spPr/>
        <p:txBody>
          <a:bodyPr/>
          <a:lstStyle/>
          <a:p>
            <a:r>
              <a:rPr lang="en-US" altLang="en-US" dirty="0" smtClean="0"/>
              <a:t>Engel’s law </a:t>
            </a:r>
          </a:p>
          <a:p>
            <a:pPr lvl="1"/>
            <a:r>
              <a:rPr lang="en-US" altLang="en-US" dirty="0" smtClean="0"/>
              <a:t>Fraction of income spent on food decreases as income increases</a:t>
            </a:r>
          </a:p>
          <a:p>
            <a:r>
              <a:rPr lang="en-US" altLang="en-US" dirty="0" smtClean="0"/>
              <a:t>Budget shares, </a:t>
            </a:r>
            <a:r>
              <a:rPr lang="en-US" altLang="en-US" i="1" dirty="0" err="1" smtClean="0"/>
              <a:t>s</a:t>
            </a:r>
            <a:r>
              <a:rPr lang="en-US" altLang="en-US" i="1" baseline="-25000" dirty="0" err="1" smtClean="0"/>
              <a:t>i</a:t>
            </a:r>
            <a:r>
              <a:rPr lang="en-US" altLang="en-US" i="1" dirty="0" smtClean="0"/>
              <a:t>=</a:t>
            </a:r>
            <a:r>
              <a:rPr lang="en-US" altLang="en-US" i="1" dirty="0" err="1" smtClean="0"/>
              <a:t>p</a:t>
            </a:r>
            <a:r>
              <a:rPr lang="en-US" altLang="en-US" i="1" baseline="-25000" dirty="0" err="1" smtClean="0"/>
              <a:t>i</a:t>
            </a:r>
            <a:r>
              <a:rPr lang="en-US" altLang="en-US" i="1" dirty="0" err="1" smtClean="0"/>
              <a:t>x</a:t>
            </a:r>
            <a:r>
              <a:rPr lang="en-US" altLang="en-US" i="1" baseline="-25000" dirty="0" err="1" smtClean="0"/>
              <a:t>i</a:t>
            </a:r>
            <a:r>
              <a:rPr lang="en-US" altLang="en-US" i="1" baseline="-25000" dirty="0" smtClean="0"/>
              <a:t> </a:t>
            </a:r>
            <a:r>
              <a:rPr lang="en-US" altLang="en-US" i="1" dirty="0" smtClean="0"/>
              <a:t>/ </a:t>
            </a:r>
            <a:r>
              <a:rPr lang="en-US" altLang="en-US" i="1" dirty="0" smtClean="0">
                <a:latin typeface="Bell MT" panose="02020503060305020303" pitchFamily="18" charset="0"/>
              </a:rPr>
              <a:t>I</a:t>
            </a:r>
          </a:p>
          <a:p>
            <a:r>
              <a:rPr lang="en-US" altLang="en-US" dirty="0" smtClean="0"/>
              <a:t>Recent budget share data</a:t>
            </a:r>
          </a:p>
          <a:p>
            <a:pPr lvl="1"/>
            <a:r>
              <a:rPr lang="en-US" altLang="en-US" dirty="0" smtClean="0"/>
              <a:t>Engel’s law is clearly visible</a:t>
            </a:r>
          </a:p>
          <a:p>
            <a:r>
              <a:rPr lang="en-US" altLang="en-US" dirty="0" smtClean="0"/>
              <a:t>Cobb–Douglas utility function </a:t>
            </a:r>
          </a:p>
          <a:p>
            <a:pPr lvl="1"/>
            <a:r>
              <a:rPr lang="en-US" altLang="en-US" dirty="0" smtClean="0"/>
              <a:t>Is not useful for detailed empirical studies of household behavior</a:t>
            </a:r>
            <a:endParaRPr lang="en-US" altLang="en-US" i="1" dirty="0" smtClean="0"/>
          </a:p>
        </p:txBody>
      </p:sp>
    </p:spTree>
    <p:extLst>
      <p:ext uri="{BB962C8B-B14F-4D97-AF65-F5344CB8AC3E}">
        <p14:creationId xmlns:p14="http://schemas.microsoft.com/office/powerpoint/2010/main" val="18188765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E4.1	Budget shares of U.S. households, </a:t>
            </a:r>
            <a:r>
              <a:rPr lang="en-US" altLang="en-US" dirty="0" smtClean="0"/>
              <a:t>2008</a:t>
            </a:r>
          </a:p>
        </p:txBody>
      </p:sp>
      <p:sp>
        <p:nvSpPr>
          <p:cNvPr id="60421"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1F367293-309D-475E-9A8E-09CCEA40101E}" type="slidenum">
              <a:rPr lang="en-US" smtClean="0"/>
              <a:pPr>
                <a:defRPr/>
              </a:pPr>
              <a:t>44</a:t>
            </a:fld>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2363039119"/>
              </p:ext>
            </p:extLst>
          </p:nvPr>
        </p:nvGraphicFramePr>
        <p:xfrm>
          <a:off x="266700" y="1371600"/>
          <a:ext cx="8610601" cy="4191000"/>
        </p:xfrm>
        <a:graphic>
          <a:graphicData uri="http://schemas.openxmlformats.org/drawingml/2006/table">
            <a:tbl>
              <a:tblPr firstRow="1" firstCol="1" lastRow="1" lastCol="1" bandRow="1" bandCol="1">
                <a:tableStyleId>{5C22544A-7EE6-4342-B048-85BDC9FD1C3A}</a:tableStyleId>
              </a:tblPr>
              <a:tblGrid>
                <a:gridCol w="3619713"/>
                <a:gridCol w="1780701"/>
                <a:gridCol w="1780701"/>
                <a:gridCol w="1429486"/>
              </a:tblGrid>
              <a:tr h="279400">
                <a:tc>
                  <a:txBody>
                    <a:bodyPr/>
                    <a:lstStyle/>
                    <a:p>
                      <a:pPr marL="0" marR="0">
                        <a:spcBef>
                          <a:spcPts val="0"/>
                        </a:spcBef>
                        <a:spcAft>
                          <a:spcPts val="0"/>
                        </a:spcAft>
                      </a:pPr>
                      <a:r>
                        <a:rPr lang="en-US" sz="1800" dirty="0">
                          <a:solidFill>
                            <a:srgbClr val="002D56"/>
                          </a:solidFill>
                          <a:effectLst/>
                        </a:rPr>
                        <a:t> </a:t>
                      </a:r>
                      <a:endParaRPr lang="en-US" sz="1200" dirty="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c gridSpan="3">
                  <a:txBody>
                    <a:bodyPr/>
                    <a:lstStyle/>
                    <a:p>
                      <a:pPr marL="0" marR="0" algn="ctr">
                        <a:spcBef>
                          <a:spcPts val="0"/>
                        </a:spcBef>
                        <a:spcAft>
                          <a:spcPts val="0"/>
                        </a:spcAft>
                      </a:pPr>
                      <a:r>
                        <a:rPr lang="en-US" sz="1800" dirty="0">
                          <a:solidFill>
                            <a:srgbClr val="002D56"/>
                          </a:solidFill>
                          <a:effectLst/>
                        </a:rPr>
                        <a:t>Annual Income</a:t>
                      </a:r>
                      <a:endParaRPr lang="en-US" sz="1200" dirty="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c hMerge="1">
                  <a:txBody>
                    <a:bodyPr/>
                    <a:lstStyle/>
                    <a:p>
                      <a:endParaRPr lang="en-US"/>
                    </a:p>
                  </a:txBody>
                  <a:tcPr/>
                </a:tc>
                <a:tc hMerge="1">
                  <a:txBody>
                    <a:bodyPr/>
                    <a:lstStyle/>
                    <a:p>
                      <a:endParaRPr lang="en-US"/>
                    </a:p>
                  </a:txBody>
                  <a:tcPr/>
                </a:tc>
              </a:tr>
              <a:tr h="558800">
                <a:tc>
                  <a:txBody>
                    <a:bodyPr/>
                    <a:lstStyle/>
                    <a:p>
                      <a:pPr marL="0" marR="0">
                        <a:spcBef>
                          <a:spcPts val="0"/>
                        </a:spcBef>
                        <a:spcAft>
                          <a:spcPts val="0"/>
                        </a:spcAft>
                      </a:pPr>
                      <a:r>
                        <a:rPr lang="en-US" sz="1800" dirty="0">
                          <a:solidFill>
                            <a:srgbClr val="002D56"/>
                          </a:solidFill>
                          <a:effectLst/>
                        </a:rPr>
                        <a:t> </a:t>
                      </a:r>
                      <a:endParaRPr lang="en-US" sz="1200" dirty="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c>
                  <a:txBody>
                    <a:bodyPr/>
                    <a:lstStyle/>
                    <a:p>
                      <a:pPr marL="0" marR="0" algn="ctr">
                        <a:spcBef>
                          <a:spcPts val="0"/>
                        </a:spcBef>
                        <a:spcAft>
                          <a:spcPts val="0"/>
                        </a:spcAft>
                      </a:pPr>
                      <a:r>
                        <a:rPr lang="en-US" sz="1800" dirty="0">
                          <a:solidFill>
                            <a:srgbClr val="002D56"/>
                          </a:solidFill>
                          <a:effectLst/>
                        </a:rPr>
                        <a:t>$10,000−$14,999</a:t>
                      </a:r>
                      <a:endParaRPr lang="en-US" sz="1200" dirty="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c>
                  <a:txBody>
                    <a:bodyPr/>
                    <a:lstStyle/>
                    <a:p>
                      <a:pPr marL="0" marR="0" algn="ctr">
                        <a:spcBef>
                          <a:spcPts val="0"/>
                        </a:spcBef>
                        <a:spcAft>
                          <a:spcPts val="0"/>
                        </a:spcAft>
                      </a:pPr>
                      <a:r>
                        <a:rPr lang="en-US" sz="1800" dirty="0">
                          <a:solidFill>
                            <a:srgbClr val="002D56"/>
                          </a:solidFill>
                          <a:effectLst/>
                        </a:rPr>
                        <a:t>$40,000−$49,999</a:t>
                      </a:r>
                      <a:endParaRPr lang="en-US" sz="1200" dirty="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c>
                  <a:txBody>
                    <a:bodyPr/>
                    <a:lstStyle/>
                    <a:p>
                      <a:pPr marL="0" marR="0" algn="ctr">
                        <a:spcBef>
                          <a:spcPts val="0"/>
                        </a:spcBef>
                        <a:spcAft>
                          <a:spcPts val="0"/>
                        </a:spcAft>
                      </a:pPr>
                      <a:r>
                        <a:rPr lang="en-US" sz="1800" dirty="0">
                          <a:solidFill>
                            <a:srgbClr val="002D56"/>
                          </a:solidFill>
                          <a:effectLst/>
                        </a:rPr>
                        <a:t>Over $70,000</a:t>
                      </a:r>
                      <a:endParaRPr lang="en-US" sz="1200" dirty="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r>
              <a:tr h="279400">
                <a:tc>
                  <a:txBody>
                    <a:bodyPr/>
                    <a:lstStyle/>
                    <a:p>
                      <a:pPr marL="0" marR="0">
                        <a:spcBef>
                          <a:spcPts val="0"/>
                        </a:spcBef>
                        <a:spcAft>
                          <a:spcPts val="0"/>
                        </a:spcAft>
                      </a:pPr>
                      <a:r>
                        <a:rPr lang="en-US" sz="1800">
                          <a:solidFill>
                            <a:srgbClr val="002D56"/>
                          </a:solidFill>
                          <a:effectLst/>
                        </a:rPr>
                        <a:t>Expenditure Item</a:t>
                      </a:r>
                      <a:endParaRPr lang="en-US" sz="120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c>
                  <a:txBody>
                    <a:bodyPr/>
                    <a:lstStyle/>
                    <a:p>
                      <a:pPr marL="0" marR="0" algn="ctr">
                        <a:spcBef>
                          <a:spcPts val="0"/>
                        </a:spcBef>
                        <a:spcAft>
                          <a:spcPts val="0"/>
                        </a:spcAft>
                      </a:pPr>
                      <a:r>
                        <a:rPr lang="en-US" sz="1800">
                          <a:solidFill>
                            <a:srgbClr val="002D56"/>
                          </a:solidFill>
                          <a:effectLst/>
                        </a:rPr>
                        <a:t> </a:t>
                      </a:r>
                      <a:endParaRPr lang="en-US" sz="120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c>
                  <a:txBody>
                    <a:bodyPr/>
                    <a:lstStyle/>
                    <a:p>
                      <a:pPr marL="0" marR="0" algn="ctr">
                        <a:spcBef>
                          <a:spcPts val="0"/>
                        </a:spcBef>
                        <a:spcAft>
                          <a:spcPts val="0"/>
                        </a:spcAft>
                      </a:pPr>
                      <a:r>
                        <a:rPr lang="en-US" sz="1800">
                          <a:solidFill>
                            <a:srgbClr val="002D56"/>
                          </a:solidFill>
                          <a:effectLst/>
                        </a:rPr>
                        <a:t> </a:t>
                      </a:r>
                      <a:endParaRPr lang="en-US" sz="120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c>
                  <a:txBody>
                    <a:bodyPr/>
                    <a:lstStyle/>
                    <a:p>
                      <a:pPr marL="0" marR="0" algn="ctr">
                        <a:spcBef>
                          <a:spcPts val="0"/>
                        </a:spcBef>
                        <a:spcAft>
                          <a:spcPts val="0"/>
                        </a:spcAft>
                      </a:pPr>
                      <a:r>
                        <a:rPr lang="en-US" sz="1800" dirty="0">
                          <a:solidFill>
                            <a:srgbClr val="002D56"/>
                          </a:solidFill>
                          <a:effectLst/>
                        </a:rPr>
                        <a:t> </a:t>
                      </a:r>
                      <a:endParaRPr lang="en-US" sz="1200" dirty="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r>
              <a:tr h="279400">
                <a:tc>
                  <a:txBody>
                    <a:bodyPr/>
                    <a:lstStyle/>
                    <a:p>
                      <a:pPr marL="0" marR="0">
                        <a:spcBef>
                          <a:spcPts val="0"/>
                        </a:spcBef>
                        <a:spcAft>
                          <a:spcPts val="0"/>
                        </a:spcAft>
                      </a:pPr>
                      <a:r>
                        <a:rPr lang="en-US" sz="1800">
                          <a:solidFill>
                            <a:srgbClr val="002D56"/>
                          </a:solidFill>
                          <a:effectLst/>
                        </a:rPr>
                        <a:t>Food</a:t>
                      </a:r>
                      <a:endParaRPr lang="en-US" sz="120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c>
                  <a:txBody>
                    <a:bodyPr/>
                    <a:lstStyle/>
                    <a:p>
                      <a:pPr marL="0" marR="0" algn="ctr">
                        <a:spcBef>
                          <a:spcPts val="0"/>
                        </a:spcBef>
                        <a:spcAft>
                          <a:spcPts val="0"/>
                        </a:spcAft>
                      </a:pPr>
                      <a:r>
                        <a:rPr lang="en-US" sz="1800">
                          <a:solidFill>
                            <a:srgbClr val="002D56"/>
                          </a:solidFill>
                          <a:effectLst/>
                        </a:rPr>
                        <a:t>15.7</a:t>
                      </a:r>
                      <a:endParaRPr lang="en-US" sz="120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c>
                  <a:txBody>
                    <a:bodyPr/>
                    <a:lstStyle/>
                    <a:p>
                      <a:pPr marL="0" marR="0" algn="ctr">
                        <a:spcBef>
                          <a:spcPts val="0"/>
                        </a:spcBef>
                        <a:spcAft>
                          <a:spcPts val="0"/>
                        </a:spcAft>
                      </a:pPr>
                      <a:r>
                        <a:rPr lang="en-US" sz="1800">
                          <a:solidFill>
                            <a:srgbClr val="002D56"/>
                          </a:solidFill>
                          <a:effectLst/>
                        </a:rPr>
                        <a:t>13.4</a:t>
                      </a:r>
                      <a:endParaRPr lang="en-US" sz="120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c>
                  <a:txBody>
                    <a:bodyPr/>
                    <a:lstStyle/>
                    <a:p>
                      <a:pPr marL="0" marR="0" algn="ctr">
                        <a:spcBef>
                          <a:spcPts val="0"/>
                        </a:spcBef>
                        <a:spcAft>
                          <a:spcPts val="0"/>
                        </a:spcAft>
                      </a:pPr>
                      <a:r>
                        <a:rPr lang="en-US" sz="1800" dirty="0">
                          <a:solidFill>
                            <a:srgbClr val="002D56"/>
                          </a:solidFill>
                          <a:effectLst/>
                        </a:rPr>
                        <a:t>11.8</a:t>
                      </a:r>
                      <a:endParaRPr lang="en-US" sz="1200" dirty="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r>
              <a:tr h="279400">
                <a:tc>
                  <a:txBody>
                    <a:bodyPr/>
                    <a:lstStyle/>
                    <a:p>
                      <a:pPr marL="0" marR="0">
                        <a:spcBef>
                          <a:spcPts val="0"/>
                        </a:spcBef>
                        <a:spcAft>
                          <a:spcPts val="0"/>
                        </a:spcAft>
                      </a:pPr>
                      <a:r>
                        <a:rPr lang="en-US" sz="1800">
                          <a:solidFill>
                            <a:srgbClr val="002D56"/>
                          </a:solidFill>
                          <a:effectLst/>
                        </a:rPr>
                        <a:t>Shelter</a:t>
                      </a:r>
                      <a:endParaRPr lang="en-US" sz="120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c>
                  <a:txBody>
                    <a:bodyPr/>
                    <a:lstStyle/>
                    <a:p>
                      <a:pPr marL="0" marR="0" algn="ctr">
                        <a:spcBef>
                          <a:spcPts val="0"/>
                        </a:spcBef>
                        <a:spcAft>
                          <a:spcPts val="0"/>
                        </a:spcAft>
                      </a:pPr>
                      <a:r>
                        <a:rPr lang="en-US" sz="1800">
                          <a:solidFill>
                            <a:srgbClr val="002D56"/>
                          </a:solidFill>
                          <a:effectLst/>
                        </a:rPr>
                        <a:t>23.1</a:t>
                      </a:r>
                      <a:endParaRPr lang="en-US" sz="120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c>
                  <a:txBody>
                    <a:bodyPr/>
                    <a:lstStyle/>
                    <a:p>
                      <a:pPr marL="0" marR="0" algn="ctr">
                        <a:spcBef>
                          <a:spcPts val="0"/>
                        </a:spcBef>
                        <a:spcAft>
                          <a:spcPts val="0"/>
                        </a:spcAft>
                      </a:pPr>
                      <a:r>
                        <a:rPr lang="en-US" sz="1800">
                          <a:solidFill>
                            <a:srgbClr val="002D56"/>
                          </a:solidFill>
                          <a:effectLst/>
                        </a:rPr>
                        <a:t>21.2</a:t>
                      </a:r>
                      <a:endParaRPr lang="en-US" sz="120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c>
                  <a:txBody>
                    <a:bodyPr/>
                    <a:lstStyle/>
                    <a:p>
                      <a:pPr marL="0" marR="0" algn="ctr">
                        <a:spcBef>
                          <a:spcPts val="0"/>
                        </a:spcBef>
                        <a:spcAft>
                          <a:spcPts val="0"/>
                        </a:spcAft>
                      </a:pPr>
                      <a:r>
                        <a:rPr lang="en-US" sz="1800" dirty="0">
                          <a:solidFill>
                            <a:srgbClr val="002D56"/>
                          </a:solidFill>
                          <a:effectLst/>
                        </a:rPr>
                        <a:t>19.3</a:t>
                      </a:r>
                      <a:endParaRPr lang="en-US" sz="1200" dirty="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r>
              <a:tr h="279400">
                <a:tc>
                  <a:txBody>
                    <a:bodyPr/>
                    <a:lstStyle/>
                    <a:p>
                      <a:pPr marL="0" marR="0">
                        <a:spcBef>
                          <a:spcPts val="0"/>
                        </a:spcBef>
                        <a:spcAft>
                          <a:spcPts val="0"/>
                        </a:spcAft>
                      </a:pPr>
                      <a:r>
                        <a:rPr lang="en-US" sz="1800">
                          <a:solidFill>
                            <a:srgbClr val="002D56"/>
                          </a:solidFill>
                          <a:effectLst/>
                        </a:rPr>
                        <a:t>Utilities, fuel, and public services</a:t>
                      </a:r>
                      <a:endParaRPr lang="en-US" sz="120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c>
                  <a:txBody>
                    <a:bodyPr/>
                    <a:lstStyle/>
                    <a:p>
                      <a:pPr marL="0" marR="0" algn="ctr">
                        <a:spcBef>
                          <a:spcPts val="0"/>
                        </a:spcBef>
                        <a:spcAft>
                          <a:spcPts val="0"/>
                        </a:spcAft>
                      </a:pPr>
                      <a:r>
                        <a:rPr lang="en-US" sz="1800">
                          <a:solidFill>
                            <a:srgbClr val="002D56"/>
                          </a:solidFill>
                          <a:effectLst/>
                        </a:rPr>
                        <a:t>11.2</a:t>
                      </a:r>
                      <a:endParaRPr lang="en-US" sz="120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c>
                  <a:txBody>
                    <a:bodyPr/>
                    <a:lstStyle/>
                    <a:p>
                      <a:pPr marL="0" marR="0" algn="ctr">
                        <a:spcBef>
                          <a:spcPts val="0"/>
                        </a:spcBef>
                        <a:spcAft>
                          <a:spcPts val="0"/>
                        </a:spcAft>
                      </a:pPr>
                      <a:r>
                        <a:rPr lang="en-US" sz="1800">
                          <a:solidFill>
                            <a:srgbClr val="002D56"/>
                          </a:solidFill>
                          <a:effectLst/>
                        </a:rPr>
                        <a:t>8.6</a:t>
                      </a:r>
                      <a:endParaRPr lang="en-US" sz="120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c>
                  <a:txBody>
                    <a:bodyPr/>
                    <a:lstStyle/>
                    <a:p>
                      <a:pPr marL="0" marR="0" algn="ctr">
                        <a:spcBef>
                          <a:spcPts val="0"/>
                        </a:spcBef>
                        <a:spcAft>
                          <a:spcPts val="0"/>
                        </a:spcAft>
                      </a:pPr>
                      <a:r>
                        <a:rPr lang="en-US" sz="1800" dirty="0">
                          <a:solidFill>
                            <a:srgbClr val="002D56"/>
                          </a:solidFill>
                          <a:effectLst/>
                        </a:rPr>
                        <a:t>5.8</a:t>
                      </a:r>
                      <a:endParaRPr lang="en-US" sz="1200" dirty="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r>
              <a:tr h="279400">
                <a:tc>
                  <a:txBody>
                    <a:bodyPr/>
                    <a:lstStyle/>
                    <a:p>
                      <a:pPr marL="0" marR="0">
                        <a:spcBef>
                          <a:spcPts val="0"/>
                        </a:spcBef>
                        <a:spcAft>
                          <a:spcPts val="0"/>
                        </a:spcAft>
                      </a:pPr>
                      <a:r>
                        <a:rPr lang="en-US" sz="1800">
                          <a:solidFill>
                            <a:srgbClr val="002D56"/>
                          </a:solidFill>
                          <a:effectLst/>
                        </a:rPr>
                        <a:t>Transportation</a:t>
                      </a:r>
                      <a:endParaRPr lang="en-US" sz="120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c>
                  <a:txBody>
                    <a:bodyPr/>
                    <a:lstStyle/>
                    <a:p>
                      <a:pPr marL="0" marR="0" algn="ctr">
                        <a:spcBef>
                          <a:spcPts val="0"/>
                        </a:spcBef>
                        <a:spcAft>
                          <a:spcPts val="0"/>
                        </a:spcAft>
                      </a:pPr>
                      <a:r>
                        <a:rPr lang="en-US" sz="1800">
                          <a:solidFill>
                            <a:srgbClr val="002D56"/>
                          </a:solidFill>
                          <a:effectLst/>
                        </a:rPr>
                        <a:t>14.1</a:t>
                      </a:r>
                      <a:endParaRPr lang="en-US" sz="120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c>
                  <a:txBody>
                    <a:bodyPr/>
                    <a:lstStyle/>
                    <a:p>
                      <a:pPr marL="0" marR="0" algn="ctr">
                        <a:spcBef>
                          <a:spcPts val="0"/>
                        </a:spcBef>
                        <a:spcAft>
                          <a:spcPts val="0"/>
                        </a:spcAft>
                      </a:pPr>
                      <a:r>
                        <a:rPr lang="en-US" sz="1800">
                          <a:solidFill>
                            <a:srgbClr val="002D56"/>
                          </a:solidFill>
                          <a:effectLst/>
                        </a:rPr>
                        <a:t>17.8</a:t>
                      </a:r>
                      <a:endParaRPr lang="en-US" sz="120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c>
                  <a:txBody>
                    <a:bodyPr/>
                    <a:lstStyle/>
                    <a:p>
                      <a:pPr marL="0" marR="0" algn="ctr">
                        <a:spcBef>
                          <a:spcPts val="0"/>
                        </a:spcBef>
                        <a:spcAft>
                          <a:spcPts val="0"/>
                        </a:spcAft>
                      </a:pPr>
                      <a:r>
                        <a:rPr lang="en-US" sz="1800" dirty="0">
                          <a:solidFill>
                            <a:srgbClr val="002D56"/>
                          </a:solidFill>
                          <a:effectLst/>
                        </a:rPr>
                        <a:t>16.8</a:t>
                      </a:r>
                      <a:endParaRPr lang="en-US" sz="1200" dirty="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r>
              <a:tr h="279400">
                <a:tc>
                  <a:txBody>
                    <a:bodyPr/>
                    <a:lstStyle/>
                    <a:p>
                      <a:pPr marL="0" marR="0">
                        <a:spcBef>
                          <a:spcPts val="0"/>
                        </a:spcBef>
                        <a:spcAft>
                          <a:spcPts val="0"/>
                        </a:spcAft>
                      </a:pPr>
                      <a:r>
                        <a:rPr lang="en-US" sz="1800">
                          <a:solidFill>
                            <a:srgbClr val="002D56"/>
                          </a:solidFill>
                          <a:effectLst/>
                        </a:rPr>
                        <a:t>Health insurance</a:t>
                      </a:r>
                      <a:endParaRPr lang="en-US" sz="120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c>
                  <a:txBody>
                    <a:bodyPr/>
                    <a:lstStyle/>
                    <a:p>
                      <a:pPr marL="0" marR="0" algn="ctr">
                        <a:spcBef>
                          <a:spcPts val="0"/>
                        </a:spcBef>
                        <a:spcAft>
                          <a:spcPts val="0"/>
                        </a:spcAft>
                      </a:pPr>
                      <a:r>
                        <a:rPr lang="en-US" sz="1800">
                          <a:solidFill>
                            <a:srgbClr val="002D56"/>
                          </a:solidFill>
                          <a:effectLst/>
                        </a:rPr>
                        <a:t>5.3</a:t>
                      </a:r>
                      <a:endParaRPr lang="en-US" sz="120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c>
                  <a:txBody>
                    <a:bodyPr/>
                    <a:lstStyle/>
                    <a:p>
                      <a:pPr marL="0" marR="0" algn="ctr">
                        <a:spcBef>
                          <a:spcPts val="0"/>
                        </a:spcBef>
                        <a:spcAft>
                          <a:spcPts val="0"/>
                        </a:spcAft>
                      </a:pPr>
                      <a:r>
                        <a:rPr lang="en-US" sz="1800">
                          <a:solidFill>
                            <a:srgbClr val="002D56"/>
                          </a:solidFill>
                          <a:effectLst/>
                        </a:rPr>
                        <a:t>4.0</a:t>
                      </a:r>
                      <a:endParaRPr lang="en-US" sz="120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c>
                  <a:txBody>
                    <a:bodyPr/>
                    <a:lstStyle/>
                    <a:p>
                      <a:pPr marL="0" marR="0" algn="ctr">
                        <a:spcBef>
                          <a:spcPts val="0"/>
                        </a:spcBef>
                        <a:spcAft>
                          <a:spcPts val="0"/>
                        </a:spcAft>
                      </a:pPr>
                      <a:r>
                        <a:rPr lang="en-US" sz="1800" dirty="0">
                          <a:solidFill>
                            <a:srgbClr val="002D56"/>
                          </a:solidFill>
                          <a:effectLst/>
                        </a:rPr>
                        <a:t>2.6</a:t>
                      </a:r>
                      <a:endParaRPr lang="en-US" sz="1200" dirty="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r>
              <a:tr h="279400">
                <a:tc>
                  <a:txBody>
                    <a:bodyPr/>
                    <a:lstStyle/>
                    <a:p>
                      <a:pPr marL="0" marR="0">
                        <a:spcBef>
                          <a:spcPts val="0"/>
                        </a:spcBef>
                        <a:spcAft>
                          <a:spcPts val="0"/>
                        </a:spcAft>
                      </a:pPr>
                      <a:r>
                        <a:rPr lang="en-US" sz="1800">
                          <a:solidFill>
                            <a:srgbClr val="002D56"/>
                          </a:solidFill>
                          <a:effectLst/>
                        </a:rPr>
                        <a:t>Other health-care expenses</a:t>
                      </a:r>
                      <a:endParaRPr lang="en-US" sz="120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c>
                  <a:txBody>
                    <a:bodyPr/>
                    <a:lstStyle/>
                    <a:p>
                      <a:pPr marL="0" marR="0" algn="ctr">
                        <a:spcBef>
                          <a:spcPts val="0"/>
                        </a:spcBef>
                        <a:spcAft>
                          <a:spcPts val="0"/>
                        </a:spcAft>
                      </a:pPr>
                      <a:r>
                        <a:rPr lang="en-US" sz="1800">
                          <a:solidFill>
                            <a:srgbClr val="002D56"/>
                          </a:solidFill>
                          <a:effectLst/>
                        </a:rPr>
                        <a:t>2.6</a:t>
                      </a:r>
                      <a:endParaRPr lang="en-US" sz="120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c>
                  <a:txBody>
                    <a:bodyPr/>
                    <a:lstStyle/>
                    <a:p>
                      <a:pPr marL="0" marR="0" algn="ctr">
                        <a:spcBef>
                          <a:spcPts val="0"/>
                        </a:spcBef>
                        <a:spcAft>
                          <a:spcPts val="0"/>
                        </a:spcAft>
                      </a:pPr>
                      <a:r>
                        <a:rPr lang="en-US" sz="1800">
                          <a:solidFill>
                            <a:srgbClr val="002D56"/>
                          </a:solidFill>
                          <a:effectLst/>
                        </a:rPr>
                        <a:t>2.8</a:t>
                      </a:r>
                      <a:endParaRPr lang="en-US" sz="120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c>
                  <a:txBody>
                    <a:bodyPr/>
                    <a:lstStyle/>
                    <a:p>
                      <a:pPr marL="0" marR="0" algn="ctr">
                        <a:spcBef>
                          <a:spcPts val="0"/>
                        </a:spcBef>
                        <a:spcAft>
                          <a:spcPts val="0"/>
                        </a:spcAft>
                      </a:pPr>
                      <a:r>
                        <a:rPr lang="en-US" sz="1800" dirty="0">
                          <a:solidFill>
                            <a:srgbClr val="002D56"/>
                          </a:solidFill>
                          <a:effectLst/>
                        </a:rPr>
                        <a:t>2.3</a:t>
                      </a:r>
                      <a:endParaRPr lang="en-US" sz="1200" dirty="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r>
              <a:tr h="279400">
                <a:tc>
                  <a:txBody>
                    <a:bodyPr/>
                    <a:lstStyle/>
                    <a:p>
                      <a:pPr marL="0" marR="0">
                        <a:spcBef>
                          <a:spcPts val="0"/>
                        </a:spcBef>
                        <a:spcAft>
                          <a:spcPts val="0"/>
                        </a:spcAft>
                      </a:pPr>
                      <a:r>
                        <a:rPr lang="en-US" sz="1800">
                          <a:solidFill>
                            <a:srgbClr val="002D56"/>
                          </a:solidFill>
                          <a:effectLst/>
                        </a:rPr>
                        <a:t>Entertainment (including alcohol)</a:t>
                      </a:r>
                      <a:endParaRPr lang="en-US" sz="120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c>
                  <a:txBody>
                    <a:bodyPr/>
                    <a:lstStyle/>
                    <a:p>
                      <a:pPr marL="0" marR="0" algn="ctr">
                        <a:spcBef>
                          <a:spcPts val="0"/>
                        </a:spcBef>
                        <a:spcAft>
                          <a:spcPts val="0"/>
                        </a:spcAft>
                      </a:pPr>
                      <a:r>
                        <a:rPr lang="en-US" sz="1800">
                          <a:solidFill>
                            <a:srgbClr val="002D56"/>
                          </a:solidFill>
                          <a:effectLst/>
                        </a:rPr>
                        <a:t>4.6</a:t>
                      </a:r>
                      <a:endParaRPr lang="en-US" sz="120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c>
                  <a:txBody>
                    <a:bodyPr/>
                    <a:lstStyle/>
                    <a:p>
                      <a:pPr marL="0" marR="0" algn="ctr">
                        <a:spcBef>
                          <a:spcPts val="0"/>
                        </a:spcBef>
                        <a:spcAft>
                          <a:spcPts val="0"/>
                        </a:spcAft>
                      </a:pPr>
                      <a:r>
                        <a:rPr lang="en-US" sz="1800">
                          <a:solidFill>
                            <a:srgbClr val="002D56"/>
                          </a:solidFill>
                          <a:effectLst/>
                        </a:rPr>
                        <a:t>5.2</a:t>
                      </a:r>
                      <a:endParaRPr lang="en-US" sz="120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c>
                  <a:txBody>
                    <a:bodyPr/>
                    <a:lstStyle/>
                    <a:p>
                      <a:pPr marL="0" marR="0" algn="ctr">
                        <a:spcBef>
                          <a:spcPts val="0"/>
                        </a:spcBef>
                        <a:spcAft>
                          <a:spcPts val="0"/>
                        </a:spcAft>
                      </a:pPr>
                      <a:r>
                        <a:rPr lang="en-US" sz="1800" dirty="0">
                          <a:solidFill>
                            <a:srgbClr val="002D56"/>
                          </a:solidFill>
                          <a:effectLst/>
                        </a:rPr>
                        <a:t>5.8</a:t>
                      </a:r>
                      <a:endParaRPr lang="en-US" sz="1200" dirty="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r>
              <a:tr h="279400">
                <a:tc>
                  <a:txBody>
                    <a:bodyPr/>
                    <a:lstStyle/>
                    <a:p>
                      <a:pPr marL="0" marR="0">
                        <a:spcBef>
                          <a:spcPts val="0"/>
                        </a:spcBef>
                        <a:spcAft>
                          <a:spcPts val="0"/>
                        </a:spcAft>
                      </a:pPr>
                      <a:r>
                        <a:rPr lang="en-US" sz="1800">
                          <a:solidFill>
                            <a:srgbClr val="002D56"/>
                          </a:solidFill>
                          <a:effectLst/>
                        </a:rPr>
                        <a:t>Education</a:t>
                      </a:r>
                      <a:endParaRPr lang="en-US" sz="120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c>
                  <a:txBody>
                    <a:bodyPr/>
                    <a:lstStyle/>
                    <a:p>
                      <a:pPr marL="0" marR="0" algn="ctr">
                        <a:spcBef>
                          <a:spcPts val="0"/>
                        </a:spcBef>
                        <a:spcAft>
                          <a:spcPts val="0"/>
                        </a:spcAft>
                      </a:pPr>
                      <a:r>
                        <a:rPr lang="en-US" sz="1800">
                          <a:solidFill>
                            <a:srgbClr val="002D56"/>
                          </a:solidFill>
                          <a:effectLst/>
                        </a:rPr>
                        <a:t>2.3</a:t>
                      </a:r>
                      <a:endParaRPr lang="en-US" sz="120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c>
                  <a:txBody>
                    <a:bodyPr/>
                    <a:lstStyle/>
                    <a:p>
                      <a:pPr marL="0" marR="0" algn="ctr">
                        <a:spcBef>
                          <a:spcPts val="0"/>
                        </a:spcBef>
                        <a:spcAft>
                          <a:spcPts val="0"/>
                        </a:spcAft>
                      </a:pPr>
                      <a:r>
                        <a:rPr lang="en-US" sz="1800">
                          <a:solidFill>
                            <a:srgbClr val="002D56"/>
                          </a:solidFill>
                          <a:effectLst/>
                        </a:rPr>
                        <a:t>1.2</a:t>
                      </a:r>
                      <a:endParaRPr lang="en-US" sz="120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c>
                  <a:txBody>
                    <a:bodyPr/>
                    <a:lstStyle/>
                    <a:p>
                      <a:pPr marL="0" marR="0" algn="ctr">
                        <a:spcBef>
                          <a:spcPts val="0"/>
                        </a:spcBef>
                        <a:spcAft>
                          <a:spcPts val="0"/>
                        </a:spcAft>
                      </a:pPr>
                      <a:r>
                        <a:rPr lang="en-US" sz="1800" dirty="0">
                          <a:solidFill>
                            <a:srgbClr val="002D56"/>
                          </a:solidFill>
                          <a:effectLst/>
                        </a:rPr>
                        <a:t>2.6</a:t>
                      </a:r>
                      <a:endParaRPr lang="en-US" sz="1200" dirty="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r>
              <a:tr h="279400">
                <a:tc>
                  <a:txBody>
                    <a:bodyPr/>
                    <a:lstStyle/>
                    <a:p>
                      <a:pPr marL="0" marR="0">
                        <a:spcBef>
                          <a:spcPts val="0"/>
                        </a:spcBef>
                        <a:spcAft>
                          <a:spcPts val="0"/>
                        </a:spcAft>
                      </a:pPr>
                      <a:r>
                        <a:rPr lang="en-US" sz="1800">
                          <a:solidFill>
                            <a:srgbClr val="002D56"/>
                          </a:solidFill>
                          <a:effectLst/>
                        </a:rPr>
                        <a:t>Insurance and pensions</a:t>
                      </a:r>
                      <a:endParaRPr lang="en-US" sz="120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c>
                  <a:txBody>
                    <a:bodyPr/>
                    <a:lstStyle/>
                    <a:p>
                      <a:pPr marL="0" marR="0" algn="ctr">
                        <a:spcBef>
                          <a:spcPts val="0"/>
                        </a:spcBef>
                        <a:spcAft>
                          <a:spcPts val="0"/>
                        </a:spcAft>
                      </a:pPr>
                      <a:r>
                        <a:rPr lang="en-US" sz="1800">
                          <a:solidFill>
                            <a:srgbClr val="002D56"/>
                          </a:solidFill>
                          <a:effectLst/>
                        </a:rPr>
                        <a:t>2.2</a:t>
                      </a:r>
                      <a:endParaRPr lang="en-US" sz="120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c>
                  <a:txBody>
                    <a:bodyPr/>
                    <a:lstStyle/>
                    <a:p>
                      <a:pPr marL="0" marR="0" algn="ctr">
                        <a:spcBef>
                          <a:spcPts val="0"/>
                        </a:spcBef>
                        <a:spcAft>
                          <a:spcPts val="0"/>
                        </a:spcAft>
                      </a:pPr>
                      <a:r>
                        <a:rPr lang="en-US" sz="1800">
                          <a:solidFill>
                            <a:srgbClr val="002D56"/>
                          </a:solidFill>
                          <a:effectLst/>
                        </a:rPr>
                        <a:t>8.5</a:t>
                      </a:r>
                      <a:endParaRPr lang="en-US" sz="120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c>
                  <a:txBody>
                    <a:bodyPr/>
                    <a:lstStyle/>
                    <a:p>
                      <a:pPr marL="0" marR="0" algn="ctr">
                        <a:spcBef>
                          <a:spcPts val="0"/>
                        </a:spcBef>
                        <a:spcAft>
                          <a:spcPts val="0"/>
                        </a:spcAft>
                      </a:pPr>
                      <a:r>
                        <a:rPr lang="en-US" sz="1800" dirty="0">
                          <a:solidFill>
                            <a:srgbClr val="002D56"/>
                          </a:solidFill>
                          <a:effectLst/>
                        </a:rPr>
                        <a:t>14.6</a:t>
                      </a:r>
                      <a:endParaRPr lang="en-US" sz="1200" dirty="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r>
              <a:tr h="558800">
                <a:tc>
                  <a:txBody>
                    <a:bodyPr/>
                    <a:lstStyle/>
                    <a:p>
                      <a:pPr marL="0" marR="0">
                        <a:spcBef>
                          <a:spcPts val="0"/>
                        </a:spcBef>
                        <a:spcAft>
                          <a:spcPts val="0"/>
                        </a:spcAft>
                      </a:pPr>
                      <a:r>
                        <a:rPr lang="en-US" sz="1800">
                          <a:solidFill>
                            <a:srgbClr val="002D56"/>
                          </a:solidFill>
                          <a:effectLst/>
                        </a:rPr>
                        <a:t>Other (apparel, personal care, other housing expenses, and misc.)</a:t>
                      </a:r>
                      <a:endParaRPr lang="en-US" sz="120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c>
                  <a:txBody>
                    <a:bodyPr/>
                    <a:lstStyle/>
                    <a:p>
                      <a:pPr marL="0" marR="0" algn="ctr">
                        <a:spcBef>
                          <a:spcPts val="0"/>
                        </a:spcBef>
                        <a:spcAft>
                          <a:spcPts val="0"/>
                        </a:spcAft>
                      </a:pPr>
                      <a:r>
                        <a:rPr lang="en-US" sz="1800">
                          <a:solidFill>
                            <a:srgbClr val="002D56"/>
                          </a:solidFill>
                          <a:effectLst/>
                        </a:rPr>
                        <a:t>18.9</a:t>
                      </a:r>
                      <a:endParaRPr lang="en-US" sz="120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c>
                  <a:txBody>
                    <a:bodyPr/>
                    <a:lstStyle/>
                    <a:p>
                      <a:pPr marL="0" marR="0" algn="ctr">
                        <a:spcBef>
                          <a:spcPts val="0"/>
                        </a:spcBef>
                        <a:spcAft>
                          <a:spcPts val="0"/>
                        </a:spcAft>
                      </a:pPr>
                      <a:r>
                        <a:rPr lang="en-US" sz="1800">
                          <a:solidFill>
                            <a:srgbClr val="002D56"/>
                          </a:solidFill>
                          <a:effectLst/>
                        </a:rPr>
                        <a:t>17.3</a:t>
                      </a:r>
                      <a:endParaRPr lang="en-US" sz="120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c>
                  <a:txBody>
                    <a:bodyPr/>
                    <a:lstStyle/>
                    <a:p>
                      <a:pPr marL="0" marR="0" algn="ctr">
                        <a:spcBef>
                          <a:spcPts val="0"/>
                        </a:spcBef>
                        <a:spcAft>
                          <a:spcPts val="0"/>
                        </a:spcAft>
                      </a:pPr>
                      <a:r>
                        <a:rPr lang="en-US" sz="1800" dirty="0">
                          <a:solidFill>
                            <a:srgbClr val="002D56"/>
                          </a:solidFill>
                          <a:effectLst/>
                        </a:rPr>
                        <a:t>18.4</a:t>
                      </a:r>
                      <a:endParaRPr lang="en-US" sz="1200" dirty="0">
                        <a:solidFill>
                          <a:srgbClr val="002D56"/>
                        </a:solidFill>
                        <a:effectLst/>
                        <a:latin typeface="Times New Roman"/>
                        <a:ea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a:stretch>
                    </a:blipFill>
                  </a:tcPr>
                </a:tc>
              </a:tr>
            </a:tbl>
          </a:graphicData>
        </a:graphic>
      </p:graphicFrame>
    </p:spTree>
    <p:extLst>
      <p:ext uri="{BB962C8B-B14F-4D97-AF65-F5344CB8AC3E}">
        <p14:creationId xmlns:p14="http://schemas.microsoft.com/office/powerpoint/2010/main" val="596909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p:txBody>
          <a:bodyPr/>
          <a:lstStyle/>
          <a:p>
            <a:r>
              <a:rPr lang="en-US" altLang="en-US" smtClean="0"/>
              <a:t>Linear expenditure system</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BC63B335-D463-4C0C-AC75-D0A731F0C1E1}" type="slidenum">
              <a:rPr lang="en-US" smtClean="0"/>
              <a:pPr>
                <a:defRPr/>
              </a:pPr>
              <a:t>45</a:t>
            </a:fld>
            <a:endParaRPr lang="en-US"/>
          </a:p>
        </p:txBody>
      </p:sp>
      <p:sp>
        <p:nvSpPr>
          <p:cNvPr id="61443" name="Content Placeholder 2"/>
          <p:cNvSpPr>
            <a:spLocks noGrp="1"/>
          </p:cNvSpPr>
          <p:nvPr>
            <p:ph type="body" sz="quarter" idx="12"/>
          </p:nvPr>
        </p:nvSpPr>
        <p:spPr/>
        <p:txBody>
          <a:bodyPr/>
          <a:lstStyle/>
          <a:p>
            <a:r>
              <a:rPr lang="en-US" altLang="en-US" smtClean="0"/>
              <a:t>Generalization of the Cobb–Douglas function</a:t>
            </a:r>
          </a:p>
          <a:p>
            <a:pPr lvl="1"/>
            <a:r>
              <a:rPr lang="en-US" altLang="en-US" smtClean="0"/>
              <a:t>Incorporates the idea that certain minimal amounts of each good must be bought by an individual </a:t>
            </a:r>
            <a:r>
              <a:rPr lang="en-US" altLang="en-US" i="1" smtClean="0"/>
              <a:t>(x</a:t>
            </a:r>
            <a:r>
              <a:rPr lang="en-US" altLang="en-US" i="1" baseline="-25000" smtClean="0"/>
              <a:t>0</a:t>
            </a:r>
            <a:r>
              <a:rPr lang="en-US" altLang="en-US" i="1" smtClean="0"/>
              <a:t>, y</a:t>
            </a:r>
            <a:r>
              <a:rPr lang="en-US" altLang="en-US" i="1" baseline="-25000" smtClean="0"/>
              <a:t>0</a:t>
            </a:r>
            <a:r>
              <a:rPr lang="en-US" altLang="en-US" i="1" smtClean="0"/>
              <a:t>)</a:t>
            </a:r>
          </a:p>
          <a:p>
            <a:pPr lvl="1" algn="ctr">
              <a:buFont typeface="Arial" charset="0"/>
              <a:buNone/>
            </a:pPr>
            <a:r>
              <a:rPr lang="en-US" altLang="en-US" i="1" smtClean="0">
                <a:solidFill>
                  <a:srgbClr val="FF0000"/>
                </a:solidFill>
              </a:rPr>
              <a:t>U(x,y)=(x-x</a:t>
            </a:r>
            <a:r>
              <a:rPr lang="en-US" altLang="en-US" i="1" baseline="-25000" smtClean="0">
                <a:solidFill>
                  <a:srgbClr val="FF0000"/>
                </a:solidFill>
              </a:rPr>
              <a:t>0</a:t>
            </a:r>
            <a:r>
              <a:rPr lang="en-US" altLang="en-US" i="1" smtClean="0">
                <a:solidFill>
                  <a:srgbClr val="FF0000"/>
                </a:solidFill>
              </a:rPr>
              <a:t>)</a:t>
            </a:r>
            <a:r>
              <a:rPr lang="en-US" altLang="en-US" i="1" baseline="30000" smtClean="0">
                <a:solidFill>
                  <a:srgbClr val="FF0000"/>
                </a:solidFill>
                <a:sym typeface="Symbol" pitchFamily="18" charset="2"/>
              </a:rPr>
              <a:t></a:t>
            </a:r>
            <a:r>
              <a:rPr lang="en-US" altLang="en-US" i="1" smtClean="0">
                <a:solidFill>
                  <a:srgbClr val="FF0000"/>
                </a:solidFill>
                <a:sym typeface="Symbol" pitchFamily="18" charset="2"/>
              </a:rPr>
              <a:t>(y-y</a:t>
            </a:r>
            <a:r>
              <a:rPr lang="en-US" altLang="en-US" i="1" baseline="-25000" smtClean="0">
                <a:solidFill>
                  <a:srgbClr val="FF0000"/>
                </a:solidFill>
                <a:sym typeface="Symbol" pitchFamily="18" charset="2"/>
              </a:rPr>
              <a:t>0</a:t>
            </a:r>
            <a:r>
              <a:rPr lang="en-US" altLang="en-US" i="1" smtClean="0">
                <a:solidFill>
                  <a:srgbClr val="FF0000"/>
                </a:solidFill>
                <a:sym typeface="Symbol" pitchFamily="18" charset="2"/>
              </a:rPr>
              <a:t>)</a:t>
            </a:r>
            <a:r>
              <a:rPr lang="en-US" altLang="en-US" i="1" baseline="30000" smtClean="0">
                <a:solidFill>
                  <a:srgbClr val="FF0000"/>
                </a:solidFill>
                <a:sym typeface="Symbol" pitchFamily="18" charset="2"/>
              </a:rPr>
              <a:t></a:t>
            </a:r>
            <a:r>
              <a:rPr lang="en-US" altLang="en-US" i="1" smtClean="0">
                <a:solidFill>
                  <a:srgbClr val="FF0000"/>
                </a:solidFill>
                <a:sym typeface="Symbol" pitchFamily="18" charset="2"/>
              </a:rPr>
              <a:t> </a:t>
            </a:r>
          </a:p>
          <a:p>
            <a:pPr lvl="2"/>
            <a:r>
              <a:rPr lang="en-US" altLang="en-US" smtClean="0">
                <a:sym typeface="Symbol" pitchFamily="18" charset="2"/>
              </a:rPr>
              <a:t>For</a:t>
            </a:r>
            <a:r>
              <a:rPr lang="en-US" altLang="en-US" i="1" smtClean="0">
                <a:sym typeface="Symbol" pitchFamily="18" charset="2"/>
              </a:rPr>
              <a:t> x ≥ x</a:t>
            </a:r>
            <a:r>
              <a:rPr lang="en-US" altLang="en-US" i="1" baseline="-25000" smtClean="0">
                <a:sym typeface="Symbol" pitchFamily="18" charset="2"/>
              </a:rPr>
              <a:t>0</a:t>
            </a:r>
            <a:r>
              <a:rPr lang="en-US" altLang="en-US" i="1" smtClean="0">
                <a:sym typeface="Symbol" pitchFamily="18" charset="2"/>
              </a:rPr>
              <a:t> </a:t>
            </a:r>
            <a:r>
              <a:rPr lang="en-US" altLang="en-US" smtClean="0">
                <a:sym typeface="Symbol" pitchFamily="18" charset="2"/>
              </a:rPr>
              <a:t>and</a:t>
            </a:r>
            <a:r>
              <a:rPr lang="en-US" altLang="en-US" i="1" smtClean="0">
                <a:sym typeface="Symbol" pitchFamily="18" charset="2"/>
              </a:rPr>
              <a:t> y ≥ y</a:t>
            </a:r>
            <a:r>
              <a:rPr lang="en-US" altLang="en-US" i="1" baseline="-25000" smtClean="0">
                <a:sym typeface="Symbol" pitchFamily="18" charset="2"/>
              </a:rPr>
              <a:t>0</a:t>
            </a:r>
            <a:r>
              <a:rPr lang="en-US" altLang="en-US" i="1" smtClean="0">
                <a:sym typeface="Symbol" pitchFamily="18" charset="2"/>
              </a:rPr>
              <a:t>, </a:t>
            </a:r>
          </a:p>
          <a:p>
            <a:pPr lvl="2"/>
            <a:r>
              <a:rPr lang="en-US" altLang="en-US" smtClean="0">
                <a:sym typeface="Symbol" pitchFamily="18" charset="2"/>
              </a:rPr>
              <a:t>Where</a:t>
            </a:r>
            <a:r>
              <a:rPr lang="en-US" altLang="en-US" i="1" smtClean="0">
                <a:sym typeface="Symbol" pitchFamily="18" charset="2"/>
              </a:rPr>
              <a:t> +=1</a:t>
            </a:r>
            <a:endParaRPr lang="en-US" altLang="en-US" i="1" smtClean="0"/>
          </a:p>
        </p:txBody>
      </p:sp>
    </p:spTree>
    <p:extLst>
      <p:ext uri="{BB962C8B-B14F-4D97-AF65-F5344CB8AC3E}">
        <p14:creationId xmlns:p14="http://schemas.microsoft.com/office/powerpoint/2010/main" val="21154091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p:txBody>
          <a:bodyPr/>
          <a:lstStyle/>
          <a:p>
            <a:r>
              <a:rPr lang="en-US" altLang="en-US" smtClean="0"/>
              <a:t>Linear expenditure system</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FAB7903F-4EE8-4EFF-B83F-F0C633BB9BCD}" type="slidenum">
              <a:rPr lang="en-US" smtClean="0"/>
              <a:pPr>
                <a:defRPr/>
              </a:pPr>
              <a:t>46</a:t>
            </a:fld>
            <a:endParaRPr lang="en-US"/>
          </a:p>
        </p:txBody>
      </p:sp>
      <p:sp>
        <p:nvSpPr>
          <p:cNvPr id="62467" name="Content Placeholder 2"/>
          <p:cNvSpPr>
            <a:spLocks noGrp="1"/>
          </p:cNvSpPr>
          <p:nvPr>
            <p:ph type="body" sz="quarter" idx="12"/>
          </p:nvPr>
        </p:nvSpPr>
        <p:spPr/>
        <p:txBody>
          <a:bodyPr/>
          <a:lstStyle/>
          <a:p>
            <a:r>
              <a:rPr lang="en-US" altLang="en-US" dirty="0" smtClean="0"/>
              <a:t>Supernumerary income (</a:t>
            </a:r>
            <a:r>
              <a:rPr lang="en-US" altLang="en-US" dirty="0" smtClean="0">
                <a:latin typeface="Bell MT" panose="02020503060305020303" pitchFamily="18" charset="0"/>
              </a:rPr>
              <a:t>I</a:t>
            </a:r>
            <a:r>
              <a:rPr lang="en-US" altLang="en-US" dirty="0" smtClean="0"/>
              <a:t>*)</a:t>
            </a:r>
          </a:p>
          <a:p>
            <a:pPr lvl="1"/>
            <a:r>
              <a:rPr lang="en-US" altLang="en-US" dirty="0" smtClean="0"/>
              <a:t>Amount of purchasing power remaining after purchasing the minimum bundle</a:t>
            </a:r>
          </a:p>
          <a:p>
            <a:pPr lvl="1">
              <a:buFont typeface="Arial" charset="0"/>
              <a:buNone/>
            </a:pPr>
            <a:r>
              <a:rPr lang="en-US" altLang="en-US" i="1" dirty="0" smtClean="0">
                <a:solidFill>
                  <a:srgbClr val="FF0000"/>
                </a:solidFill>
              </a:rPr>
              <a:t>		</a:t>
            </a:r>
            <a:r>
              <a:rPr lang="en-US" altLang="en-US" i="1" dirty="0" smtClean="0">
                <a:solidFill>
                  <a:srgbClr val="FF0000"/>
                </a:solidFill>
                <a:latin typeface="Bell MT" panose="02020503060305020303" pitchFamily="18" charset="0"/>
              </a:rPr>
              <a:t>I</a:t>
            </a:r>
            <a:r>
              <a:rPr lang="en-US" altLang="en-US" i="1" dirty="0" smtClean="0">
                <a:solidFill>
                  <a:srgbClr val="FF0000"/>
                </a:solidFill>
              </a:rPr>
              <a:t>*=</a:t>
            </a:r>
            <a:r>
              <a:rPr lang="en-US" altLang="en-US" i="1" dirty="0" smtClean="0">
                <a:solidFill>
                  <a:srgbClr val="FF0000"/>
                </a:solidFill>
                <a:latin typeface="Bell MT" panose="02020503060305020303" pitchFamily="18" charset="0"/>
              </a:rPr>
              <a:t>I</a:t>
            </a:r>
            <a:r>
              <a:rPr lang="en-US" altLang="en-US" i="1" dirty="0" smtClean="0">
                <a:solidFill>
                  <a:srgbClr val="FF0000"/>
                </a:solidFill>
              </a:rPr>
              <a:t>-p</a:t>
            </a:r>
            <a:r>
              <a:rPr lang="en-US" altLang="en-US" i="1" baseline="-25000" dirty="0" smtClean="0">
                <a:solidFill>
                  <a:srgbClr val="FF0000"/>
                </a:solidFill>
              </a:rPr>
              <a:t>x</a:t>
            </a:r>
            <a:r>
              <a:rPr lang="en-US" altLang="en-US" i="1" dirty="0" smtClean="0">
                <a:solidFill>
                  <a:srgbClr val="FF0000"/>
                </a:solidFill>
              </a:rPr>
              <a:t>x</a:t>
            </a:r>
            <a:r>
              <a:rPr lang="en-US" altLang="en-US" i="1" baseline="-25000" dirty="0" smtClean="0">
                <a:solidFill>
                  <a:srgbClr val="FF0000"/>
                </a:solidFill>
              </a:rPr>
              <a:t>0</a:t>
            </a:r>
            <a:r>
              <a:rPr lang="en-US" altLang="en-US" i="1" dirty="0" smtClean="0">
                <a:solidFill>
                  <a:srgbClr val="FF0000"/>
                </a:solidFill>
              </a:rPr>
              <a:t>-p</a:t>
            </a:r>
            <a:r>
              <a:rPr lang="en-US" altLang="en-US" i="1" baseline="-25000" dirty="0" smtClean="0">
                <a:solidFill>
                  <a:srgbClr val="FF0000"/>
                </a:solidFill>
              </a:rPr>
              <a:t>y</a:t>
            </a:r>
            <a:r>
              <a:rPr lang="en-US" altLang="en-US" i="1" dirty="0" smtClean="0">
                <a:solidFill>
                  <a:srgbClr val="FF0000"/>
                </a:solidFill>
              </a:rPr>
              <a:t>y</a:t>
            </a:r>
            <a:r>
              <a:rPr lang="en-US" altLang="en-US" i="1" baseline="-25000" dirty="0" smtClean="0">
                <a:solidFill>
                  <a:srgbClr val="FF0000"/>
                </a:solidFill>
              </a:rPr>
              <a:t>0</a:t>
            </a:r>
            <a:r>
              <a:rPr lang="en-US" altLang="en-US" i="1" dirty="0" smtClean="0">
                <a:solidFill>
                  <a:srgbClr val="FF0000"/>
                </a:solidFill>
              </a:rPr>
              <a:t> </a:t>
            </a:r>
          </a:p>
          <a:p>
            <a:r>
              <a:rPr lang="en-US" altLang="en-US" dirty="0" smtClean="0"/>
              <a:t>The demand functions are:</a:t>
            </a:r>
          </a:p>
          <a:p>
            <a:pPr lvl="1">
              <a:buFont typeface="Arial" charset="0"/>
              <a:buNone/>
            </a:pPr>
            <a:r>
              <a:rPr lang="en-US" altLang="en-US" i="1" dirty="0" smtClean="0"/>
              <a:t> </a:t>
            </a:r>
            <a:r>
              <a:rPr lang="en-US" altLang="en-US" i="1" dirty="0" smtClean="0">
                <a:solidFill>
                  <a:srgbClr val="FF0000"/>
                </a:solidFill>
              </a:rPr>
              <a:t>x = (p</a:t>
            </a:r>
            <a:r>
              <a:rPr lang="en-US" altLang="en-US" i="1" baseline="-25000" dirty="0" smtClean="0">
                <a:solidFill>
                  <a:srgbClr val="FF0000"/>
                </a:solidFill>
              </a:rPr>
              <a:t>x</a:t>
            </a:r>
            <a:r>
              <a:rPr lang="en-US" altLang="en-US" i="1" dirty="0" smtClean="0">
                <a:solidFill>
                  <a:srgbClr val="FF0000"/>
                </a:solidFill>
              </a:rPr>
              <a:t>x</a:t>
            </a:r>
            <a:r>
              <a:rPr lang="en-US" altLang="en-US" i="1" baseline="-25000" dirty="0" smtClean="0">
                <a:solidFill>
                  <a:srgbClr val="FF0000"/>
                </a:solidFill>
              </a:rPr>
              <a:t>0</a:t>
            </a:r>
            <a:r>
              <a:rPr lang="en-US" altLang="en-US" i="1" dirty="0" smtClean="0">
                <a:solidFill>
                  <a:srgbClr val="FF0000"/>
                </a:solidFill>
              </a:rPr>
              <a:t>+</a:t>
            </a:r>
            <a:r>
              <a:rPr lang="en-US" altLang="en-US" i="1" dirty="0" smtClean="0">
                <a:solidFill>
                  <a:srgbClr val="FF0000"/>
                </a:solidFill>
                <a:sym typeface="Symbol" pitchFamily="18" charset="2"/>
              </a:rPr>
              <a:t></a:t>
            </a:r>
            <a:r>
              <a:rPr lang="en-US" altLang="en-US" i="1" dirty="0" smtClean="0">
                <a:solidFill>
                  <a:srgbClr val="FF0000"/>
                </a:solidFill>
                <a:latin typeface="Bell MT" panose="02020503060305020303" pitchFamily="18" charset="0"/>
                <a:sym typeface="Symbol" pitchFamily="18" charset="2"/>
              </a:rPr>
              <a:t>I</a:t>
            </a:r>
            <a:r>
              <a:rPr lang="en-US" altLang="en-US" i="1" dirty="0" smtClean="0">
                <a:solidFill>
                  <a:srgbClr val="FF0000"/>
                </a:solidFill>
                <a:sym typeface="Symbol" pitchFamily="18" charset="2"/>
              </a:rPr>
              <a:t>*</a:t>
            </a:r>
            <a:r>
              <a:rPr lang="en-US" altLang="en-US" i="1" dirty="0" smtClean="0">
                <a:solidFill>
                  <a:srgbClr val="FF0000"/>
                </a:solidFill>
              </a:rPr>
              <a:t>)/</a:t>
            </a:r>
            <a:r>
              <a:rPr lang="en-US" altLang="en-US" i="1" dirty="0" err="1" smtClean="0">
                <a:solidFill>
                  <a:srgbClr val="FF0000"/>
                </a:solidFill>
              </a:rPr>
              <a:t>p</a:t>
            </a:r>
            <a:r>
              <a:rPr lang="en-US" altLang="en-US" i="1" baseline="-25000" dirty="0" err="1" smtClean="0">
                <a:solidFill>
                  <a:srgbClr val="FF0000"/>
                </a:solidFill>
              </a:rPr>
              <a:t>x</a:t>
            </a:r>
            <a:r>
              <a:rPr lang="en-US" altLang="en-US" i="1" dirty="0" smtClean="0">
                <a:solidFill>
                  <a:srgbClr val="FF0000"/>
                </a:solidFill>
              </a:rPr>
              <a:t> </a:t>
            </a:r>
            <a:r>
              <a:rPr lang="en-US" altLang="en-US" dirty="0" smtClean="0">
                <a:solidFill>
                  <a:srgbClr val="FF0000"/>
                </a:solidFill>
              </a:rPr>
              <a:t>and </a:t>
            </a:r>
            <a:r>
              <a:rPr lang="en-US" altLang="en-US" i="1" dirty="0" smtClean="0">
                <a:solidFill>
                  <a:srgbClr val="FF0000"/>
                </a:solidFill>
              </a:rPr>
              <a:t>y = (p</a:t>
            </a:r>
            <a:r>
              <a:rPr lang="en-US" altLang="en-US" i="1" baseline="-25000" dirty="0" smtClean="0">
                <a:solidFill>
                  <a:srgbClr val="FF0000"/>
                </a:solidFill>
              </a:rPr>
              <a:t>y</a:t>
            </a:r>
            <a:r>
              <a:rPr lang="en-US" altLang="en-US" i="1" dirty="0" smtClean="0">
                <a:solidFill>
                  <a:srgbClr val="FF0000"/>
                </a:solidFill>
              </a:rPr>
              <a:t>y</a:t>
            </a:r>
            <a:r>
              <a:rPr lang="en-US" altLang="en-US" i="1" baseline="-25000" dirty="0" smtClean="0">
                <a:solidFill>
                  <a:srgbClr val="FF0000"/>
                </a:solidFill>
              </a:rPr>
              <a:t>0</a:t>
            </a:r>
            <a:r>
              <a:rPr lang="en-US" altLang="en-US" i="1" dirty="0" smtClean="0">
                <a:solidFill>
                  <a:srgbClr val="FF0000"/>
                </a:solidFill>
              </a:rPr>
              <a:t>+</a:t>
            </a:r>
            <a:r>
              <a:rPr lang="en-US" altLang="en-US" i="1" dirty="0" smtClean="0">
                <a:solidFill>
                  <a:srgbClr val="FF0000"/>
                </a:solidFill>
                <a:sym typeface="Symbol" pitchFamily="18" charset="2"/>
              </a:rPr>
              <a:t></a:t>
            </a:r>
            <a:r>
              <a:rPr lang="en-US" altLang="en-US" i="1" dirty="0" smtClean="0">
                <a:solidFill>
                  <a:srgbClr val="FF0000"/>
                </a:solidFill>
                <a:latin typeface="Bell MT" panose="02020503060305020303" pitchFamily="18" charset="0"/>
                <a:sym typeface="Symbol" pitchFamily="18" charset="2"/>
              </a:rPr>
              <a:t>I</a:t>
            </a:r>
            <a:r>
              <a:rPr lang="en-US" altLang="en-US" i="1" dirty="0" smtClean="0">
                <a:solidFill>
                  <a:srgbClr val="FF0000"/>
                </a:solidFill>
                <a:sym typeface="Symbol" pitchFamily="18" charset="2"/>
              </a:rPr>
              <a:t>*</a:t>
            </a:r>
            <a:r>
              <a:rPr lang="en-US" altLang="en-US" i="1" dirty="0" smtClean="0">
                <a:solidFill>
                  <a:srgbClr val="FF0000"/>
                </a:solidFill>
              </a:rPr>
              <a:t>)/</a:t>
            </a:r>
            <a:r>
              <a:rPr lang="en-US" altLang="en-US" i="1" dirty="0" err="1" smtClean="0">
                <a:solidFill>
                  <a:srgbClr val="FF0000"/>
                </a:solidFill>
              </a:rPr>
              <a:t>p</a:t>
            </a:r>
            <a:r>
              <a:rPr lang="en-US" altLang="en-US" i="1" baseline="-25000" dirty="0" err="1" smtClean="0">
                <a:solidFill>
                  <a:srgbClr val="FF0000"/>
                </a:solidFill>
              </a:rPr>
              <a:t>y</a:t>
            </a:r>
            <a:r>
              <a:rPr lang="en-US" altLang="en-US" i="1" dirty="0" smtClean="0">
                <a:solidFill>
                  <a:srgbClr val="FF0000"/>
                </a:solidFill>
              </a:rPr>
              <a:t> </a:t>
            </a:r>
          </a:p>
          <a:p>
            <a:pPr lvl="1"/>
            <a:r>
              <a:rPr lang="en-US" altLang="en-US" dirty="0" smtClean="0"/>
              <a:t>The share equations:</a:t>
            </a:r>
          </a:p>
          <a:p>
            <a:pPr lvl="2">
              <a:buFontTx/>
              <a:buNone/>
            </a:pPr>
            <a:r>
              <a:rPr lang="en-US" altLang="en-US" dirty="0" smtClean="0"/>
              <a:t> </a:t>
            </a:r>
            <a:r>
              <a:rPr lang="en-US" altLang="en-US" dirty="0" err="1" smtClean="0">
                <a:solidFill>
                  <a:srgbClr val="FF0000"/>
                </a:solidFill>
              </a:rPr>
              <a:t>s</a:t>
            </a:r>
            <a:r>
              <a:rPr lang="en-US" altLang="en-US" baseline="-25000" dirty="0" err="1" smtClean="0">
                <a:solidFill>
                  <a:srgbClr val="FF0000"/>
                </a:solidFill>
              </a:rPr>
              <a:t>x</a:t>
            </a:r>
            <a:r>
              <a:rPr lang="en-US" altLang="en-US" dirty="0" smtClean="0">
                <a:solidFill>
                  <a:srgbClr val="FF0000"/>
                </a:solidFill>
              </a:rPr>
              <a:t>= </a:t>
            </a:r>
            <a:r>
              <a:rPr lang="en-US" altLang="en-US" dirty="0" smtClean="0">
                <a:solidFill>
                  <a:srgbClr val="FF0000"/>
                </a:solidFill>
                <a:sym typeface="Symbol" pitchFamily="18" charset="2"/>
              </a:rPr>
              <a:t>+(p</a:t>
            </a:r>
            <a:r>
              <a:rPr lang="en-US" altLang="en-US" baseline="-25000" dirty="0" smtClean="0">
                <a:solidFill>
                  <a:srgbClr val="FF0000"/>
                </a:solidFill>
                <a:sym typeface="Symbol" pitchFamily="18" charset="2"/>
              </a:rPr>
              <a:t>x</a:t>
            </a:r>
            <a:r>
              <a:rPr lang="en-US" altLang="en-US" dirty="0" smtClean="0">
                <a:solidFill>
                  <a:srgbClr val="FF0000"/>
                </a:solidFill>
                <a:sym typeface="Symbol" pitchFamily="18" charset="2"/>
              </a:rPr>
              <a:t>x</a:t>
            </a:r>
            <a:r>
              <a:rPr lang="en-US" altLang="en-US" baseline="-25000" dirty="0" smtClean="0">
                <a:solidFill>
                  <a:srgbClr val="FF0000"/>
                </a:solidFill>
                <a:sym typeface="Symbol" pitchFamily="18" charset="2"/>
              </a:rPr>
              <a:t>0</a:t>
            </a:r>
            <a:r>
              <a:rPr lang="en-US" altLang="en-US" dirty="0" smtClean="0">
                <a:solidFill>
                  <a:srgbClr val="FF0000"/>
                </a:solidFill>
                <a:sym typeface="Symbol" pitchFamily="18" charset="2"/>
              </a:rPr>
              <a:t>-p</a:t>
            </a:r>
            <a:r>
              <a:rPr lang="en-US" altLang="en-US" baseline="-25000" dirty="0" smtClean="0">
                <a:solidFill>
                  <a:srgbClr val="FF0000"/>
                </a:solidFill>
                <a:sym typeface="Symbol" pitchFamily="18" charset="2"/>
              </a:rPr>
              <a:t>y</a:t>
            </a:r>
            <a:r>
              <a:rPr lang="en-US" altLang="en-US" dirty="0" smtClean="0">
                <a:solidFill>
                  <a:srgbClr val="FF0000"/>
                </a:solidFill>
                <a:sym typeface="Symbol" pitchFamily="18" charset="2"/>
              </a:rPr>
              <a:t>y</a:t>
            </a:r>
            <a:r>
              <a:rPr lang="en-US" altLang="en-US" baseline="-25000" dirty="0" smtClean="0">
                <a:solidFill>
                  <a:srgbClr val="FF0000"/>
                </a:solidFill>
                <a:sym typeface="Symbol" pitchFamily="18" charset="2"/>
              </a:rPr>
              <a:t>0</a:t>
            </a:r>
            <a:r>
              <a:rPr lang="en-US" altLang="en-US" dirty="0" smtClean="0">
                <a:solidFill>
                  <a:srgbClr val="FF0000"/>
                </a:solidFill>
                <a:sym typeface="Symbol" pitchFamily="18" charset="2"/>
              </a:rPr>
              <a:t>)/</a:t>
            </a:r>
            <a:r>
              <a:rPr lang="en-US" altLang="en-US" dirty="0" smtClean="0">
                <a:solidFill>
                  <a:srgbClr val="FF0000"/>
                </a:solidFill>
                <a:latin typeface="Bell MT" panose="02020503060305020303" pitchFamily="18" charset="0"/>
                <a:sym typeface="Symbol" pitchFamily="18" charset="2"/>
              </a:rPr>
              <a:t>I</a:t>
            </a:r>
            <a:r>
              <a:rPr lang="en-US" altLang="en-US" dirty="0" smtClean="0">
                <a:solidFill>
                  <a:srgbClr val="FF0000"/>
                </a:solidFill>
                <a:sym typeface="Symbol" pitchFamily="18" charset="2"/>
              </a:rPr>
              <a:t>     </a:t>
            </a:r>
          </a:p>
          <a:p>
            <a:pPr lvl="2">
              <a:buFontTx/>
              <a:buNone/>
            </a:pPr>
            <a:r>
              <a:rPr lang="en-US" altLang="en-US" dirty="0" smtClean="0">
                <a:solidFill>
                  <a:srgbClr val="FF0000"/>
                </a:solidFill>
              </a:rPr>
              <a:t> </a:t>
            </a:r>
            <a:r>
              <a:rPr lang="en-US" altLang="en-US" dirty="0" err="1" smtClean="0">
                <a:solidFill>
                  <a:srgbClr val="FF0000"/>
                </a:solidFill>
              </a:rPr>
              <a:t>s</a:t>
            </a:r>
            <a:r>
              <a:rPr lang="en-US" altLang="en-US" baseline="-25000" dirty="0" err="1" smtClean="0">
                <a:solidFill>
                  <a:srgbClr val="FF0000"/>
                </a:solidFill>
              </a:rPr>
              <a:t>y</a:t>
            </a:r>
            <a:r>
              <a:rPr lang="en-US" altLang="en-US" dirty="0" smtClean="0">
                <a:solidFill>
                  <a:srgbClr val="FF0000"/>
                </a:solidFill>
              </a:rPr>
              <a:t>= </a:t>
            </a:r>
            <a:r>
              <a:rPr lang="en-US" altLang="en-US" dirty="0" smtClean="0">
                <a:solidFill>
                  <a:srgbClr val="FF0000"/>
                </a:solidFill>
                <a:sym typeface="Symbol" pitchFamily="18" charset="2"/>
              </a:rPr>
              <a:t>+(p</a:t>
            </a:r>
            <a:r>
              <a:rPr lang="en-US" altLang="en-US" baseline="-25000" dirty="0" smtClean="0">
                <a:solidFill>
                  <a:srgbClr val="FF0000"/>
                </a:solidFill>
                <a:sym typeface="Symbol" pitchFamily="18" charset="2"/>
              </a:rPr>
              <a:t>y</a:t>
            </a:r>
            <a:r>
              <a:rPr lang="en-US" altLang="en-US" dirty="0" smtClean="0">
                <a:solidFill>
                  <a:srgbClr val="FF0000"/>
                </a:solidFill>
                <a:sym typeface="Symbol" pitchFamily="18" charset="2"/>
              </a:rPr>
              <a:t>y</a:t>
            </a:r>
            <a:r>
              <a:rPr lang="en-US" altLang="en-US" baseline="-25000" dirty="0" smtClean="0">
                <a:solidFill>
                  <a:srgbClr val="FF0000"/>
                </a:solidFill>
                <a:sym typeface="Symbol" pitchFamily="18" charset="2"/>
              </a:rPr>
              <a:t>0 </a:t>
            </a:r>
            <a:r>
              <a:rPr lang="en-US" altLang="en-US" dirty="0" smtClean="0">
                <a:solidFill>
                  <a:srgbClr val="FF0000"/>
                </a:solidFill>
                <a:sym typeface="Symbol" pitchFamily="18" charset="2"/>
              </a:rPr>
              <a:t>-p</a:t>
            </a:r>
            <a:r>
              <a:rPr lang="en-US" altLang="en-US" baseline="-25000" dirty="0" smtClean="0">
                <a:solidFill>
                  <a:srgbClr val="FF0000"/>
                </a:solidFill>
                <a:sym typeface="Symbol" pitchFamily="18" charset="2"/>
              </a:rPr>
              <a:t>x</a:t>
            </a:r>
            <a:r>
              <a:rPr lang="en-US" altLang="en-US" dirty="0" smtClean="0">
                <a:solidFill>
                  <a:srgbClr val="FF0000"/>
                </a:solidFill>
                <a:sym typeface="Symbol" pitchFamily="18" charset="2"/>
              </a:rPr>
              <a:t>x</a:t>
            </a:r>
            <a:r>
              <a:rPr lang="en-US" altLang="en-US" baseline="-25000" dirty="0" smtClean="0">
                <a:solidFill>
                  <a:srgbClr val="FF0000"/>
                </a:solidFill>
                <a:sym typeface="Symbol" pitchFamily="18" charset="2"/>
              </a:rPr>
              <a:t>0</a:t>
            </a:r>
            <a:r>
              <a:rPr lang="en-US" altLang="en-US" dirty="0" smtClean="0">
                <a:solidFill>
                  <a:srgbClr val="FF0000"/>
                </a:solidFill>
                <a:sym typeface="Symbol" pitchFamily="18" charset="2"/>
              </a:rPr>
              <a:t>)/</a:t>
            </a:r>
            <a:r>
              <a:rPr lang="en-US" altLang="en-US" dirty="0" smtClean="0">
                <a:solidFill>
                  <a:srgbClr val="FF0000"/>
                </a:solidFill>
                <a:latin typeface="Bell MT" panose="02020503060305020303" pitchFamily="18" charset="0"/>
                <a:sym typeface="Symbol" pitchFamily="18" charset="2"/>
              </a:rPr>
              <a:t>I</a:t>
            </a:r>
            <a:endParaRPr lang="en-US" altLang="en-US" dirty="0" smtClean="0">
              <a:solidFill>
                <a:srgbClr val="FF0000"/>
              </a:solidFill>
              <a:latin typeface="Bell MT" panose="02020503060305020303" pitchFamily="18" charset="0"/>
            </a:endParaRPr>
          </a:p>
          <a:p>
            <a:pPr lvl="2"/>
            <a:r>
              <a:rPr lang="en-US" altLang="en-US" dirty="0" smtClean="0"/>
              <a:t>Not homothetic</a:t>
            </a:r>
          </a:p>
        </p:txBody>
      </p:sp>
    </p:spTree>
    <p:extLst>
      <p:ext uri="{BB962C8B-B14F-4D97-AF65-F5344CB8AC3E}">
        <p14:creationId xmlns:p14="http://schemas.microsoft.com/office/powerpoint/2010/main" val="24132141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1"/>
          <p:cNvSpPr>
            <a:spLocks noGrp="1"/>
          </p:cNvSpPr>
          <p:nvPr>
            <p:ph type="title"/>
          </p:nvPr>
        </p:nvSpPr>
        <p:spPr/>
        <p:txBody>
          <a:bodyPr/>
          <a:lstStyle/>
          <a:p>
            <a:r>
              <a:rPr lang="en-US" altLang="en-US" smtClean="0"/>
              <a:t>CES utility</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E24EA42D-C826-48A8-AF9D-296482BAE44E}" type="slidenum">
              <a:rPr lang="en-US" smtClean="0"/>
              <a:pPr>
                <a:defRPr/>
              </a:pPr>
              <a:t>47</a:t>
            </a:fld>
            <a:endParaRPr lang="en-US"/>
          </a:p>
        </p:txBody>
      </p:sp>
      <p:sp>
        <p:nvSpPr>
          <p:cNvPr id="14340" name="Content Placeholder 2"/>
          <p:cNvSpPr>
            <a:spLocks noGrp="1"/>
          </p:cNvSpPr>
          <p:nvPr>
            <p:ph type="body" sz="quarter" idx="12"/>
          </p:nvPr>
        </p:nvSpPr>
        <p:spPr/>
        <p:txBody>
          <a:bodyPr/>
          <a:lstStyle/>
          <a:p>
            <a:r>
              <a:rPr lang="en-US" altLang="en-US" dirty="0" smtClean="0"/>
              <a:t>CES utility function</a:t>
            </a:r>
          </a:p>
        </p:txBody>
      </p:sp>
      <p:sp>
        <p:nvSpPr>
          <p:cNvPr id="2" name="Text Placeholder 1"/>
          <p:cNvSpPr>
            <a:spLocks noGrp="1"/>
          </p:cNvSpPr>
          <p:nvPr>
            <p:ph type="body" sz="quarter" idx="13"/>
          </p:nvPr>
        </p:nvSpPr>
        <p:spPr>
          <a:xfrm>
            <a:off x="457200" y="3048000"/>
            <a:ext cx="8305800" cy="3200400"/>
          </a:xfrm>
        </p:spPr>
        <p:txBody>
          <a:bodyPr/>
          <a:lstStyle/>
          <a:p>
            <a:pPr eaLnBrk="0" hangingPunct="0">
              <a:buFontTx/>
              <a:buChar char="•"/>
              <a:defRPr/>
            </a:pPr>
            <a:r>
              <a:rPr lang="en-US" kern="0" dirty="0"/>
              <a:t>Budget shares:</a:t>
            </a:r>
          </a:p>
          <a:p>
            <a:pPr lvl="1" eaLnBrk="0" hangingPunct="0">
              <a:buNone/>
              <a:defRPr/>
            </a:pPr>
            <a:r>
              <a:rPr lang="en-US" sz="3200" kern="0" dirty="0" err="1" smtClean="0">
                <a:solidFill>
                  <a:srgbClr val="002D56"/>
                </a:solidFill>
              </a:rPr>
              <a:t>s</a:t>
            </a:r>
            <a:r>
              <a:rPr lang="en-US" sz="3200" kern="0" baseline="-25000" dirty="0" err="1" smtClean="0">
                <a:solidFill>
                  <a:srgbClr val="002D56"/>
                </a:solidFill>
              </a:rPr>
              <a:t>x</a:t>
            </a:r>
            <a:r>
              <a:rPr lang="en-US" sz="3200" kern="0" dirty="0" smtClean="0">
                <a:solidFill>
                  <a:srgbClr val="002D56"/>
                </a:solidFill>
              </a:rPr>
              <a:t>=1</a:t>
            </a:r>
            <a:r>
              <a:rPr lang="en-US" sz="3200" kern="0" dirty="0">
                <a:solidFill>
                  <a:srgbClr val="002D56"/>
                </a:solidFill>
              </a:rPr>
              <a:t>/[1+(</a:t>
            </a:r>
            <a:r>
              <a:rPr lang="en-US" sz="3200" kern="0" dirty="0" err="1">
                <a:solidFill>
                  <a:srgbClr val="002D56"/>
                </a:solidFill>
              </a:rPr>
              <a:t>p</a:t>
            </a:r>
            <a:r>
              <a:rPr lang="en-US" sz="3200" kern="0" baseline="-25000" dirty="0" err="1">
                <a:solidFill>
                  <a:srgbClr val="002D56"/>
                </a:solidFill>
              </a:rPr>
              <a:t>y</a:t>
            </a:r>
            <a:r>
              <a:rPr lang="en-US" sz="3200" kern="0" dirty="0">
                <a:solidFill>
                  <a:srgbClr val="002D56"/>
                </a:solidFill>
              </a:rPr>
              <a:t>/</a:t>
            </a:r>
            <a:r>
              <a:rPr lang="en-US" sz="3200" kern="0" dirty="0" err="1">
                <a:solidFill>
                  <a:srgbClr val="002D56"/>
                </a:solidFill>
              </a:rPr>
              <a:t>p</a:t>
            </a:r>
            <a:r>
              <a:rPr lang="en-US" sz="3200" kern="0" baseline="-25000" dirty="0" err="1">
                <a:solidFill>
                  <a:srgbClr val="002D56"/>
                </a:solidFill>
              </a:rPr>
              <a:t>x</a:t>
            </a:r>
            <a:r>
              <a:rPr lang="en-US" sz="3200" kern="0" dirty="0">
                <a:solidFill>
                  <a:srgbClr val="002D56"/>
                </a:solidFill>
              </a:rPr>
              <a:t>)</a:t>
            </a:r>
            <a:r>
              <a:rPr lang="en-US" sz="3200" kern="0" baseline="30000" dirty="0">
                <a:solidFill>
                  <a:srgbClr val="002D56"/>
                </a:solidFill>
              </a:rPr>
              <a:t>K</a:t>
            </a:r>
            <a:r>
              <a:rPr lang="en-US" sz="3200" kern="0" dirty="0">
                <a:solidFill>
                  <a:srgbClr val="002D56"/>
                </a:solidFill>
              </a:rPr>
              <a:t>]  and  </a:t>
            </a:r>
            <a:endParaRPr lang="en-US" sz="3200" kern="0" dirty="0" smtClean="0">
              <a:solidFill>
                <a:srgbClr val="002D56"/>
              </a:solidFill>
            </a:endParaRPr>
          </a:p>
          <a:p>
            <a:pPr lvl="1" eaLnBrk="0" hangingPunct="0">
              <a:buNone/>
              <a:defRPr/>
            </a:pPr>
            <a:r>
              <a:rPr lang="en-US" sz="3200" kern="0" dirty="0" err="1" smtClean="0">
                <a:solidFill>
                  <a:srgbClr val="002D56"/>
                </a:solidFill>
              </a:rPr>
              <a:t>s</a:t>
            </a:r>
            <a:r>
              <a:rPr lang="en-US" sz="3200" kern="0" baseline="-25000" dirty="0" err="1" smtClean="0">
                <a:solidFill>
                  <a:srgbClr val="002D56"/>
                </a:solidFill>
              </a:rPr>
              <a:t>y</a:t>
            </a:r>
            <a:r>
              <a:rPr lang="en-US" sz="3200" kern="0" dirty="0" smtClean="0">
                <a:solidFill>
                  <a:srgbClr val="002D56"/>
                </a:solidFill>
              </a:rPr>
              <a:t>=1</a:t>
            </a:r>
            <a:r>
              <a:rPr lang="en-US" sz="3200" kern="0" dirty="0">
                <a:solidFill>
                  <a:srgbClr val="002D56"/>
                </a:solidFill>
              </a:rPr>
              <a:t>/[1+(</a:t>
            </a:r>
            <a:r>
              <a:rPr lang="en-US" sz="3200" kern="0" dirty="0" err="1">
                <a:solidFill>
                  <a:srgbClr val="002D56"/>
                </a:solidFill>
              </a:rPr>
              <a:t>p</a:t>
            </a:r>
            <a:r>
              <a:rPr lang="en-US" sz="3200" kern="0" baseline="-25000" dirty="0" err="1">
                <a:solidFill>
                  <a:srgbClr val="002D56"/>
                </a:solidFill>
              </a:rPr>
              <a:t>x</a:t>
            </a:r>
            <a:r>
              <a:rPr lang="en-US" sz="3200" kern="0" dirty="0">
                <a:solidFill>
                  <a:srgbClr val="002D56"/>
                </a:solidFill>
              </a:rPr>
              <a:t>/</a:t>
            </a:r>
            <a:r>
              <a:rPr lang="en-US" sz="3200" kern="0" dirty="0" err="1">
                <a:solidFill>
                  <a:srgbClr val="002D56"/>
                </a:solidFill>
              </a:rPr>
              <a:t>p</a:t>
            </a:r>
            <a:r>
              <a:rPr lang="en-US" sz="3200" kern="0" baseline="-25000" dirty="0" err="1">
                <a:solidFill>
                  <a:srgbClr val="002D56"/>
                </a:solidFill>
              </a:rPr>
              <a:t>y</a:t>
            </a:r>
            <a:r>
              <a:rPr lang="en-US" sz="3200" kern="0" dirty="0">
                <a:solidFill>
                  <a:srgbClr val="002D56"/>
                </a:solidFill>
              </a:rPr>
              <a:t>)</a:t>
            </a:r>
            <a:r>
              <a:rPr lang="en-US" sz="3200" kern="0" baseline="30000" dirty="0">
                <a:solidFill>
                  <a:srgbClr val="002D56"/>
                </a:solidFill>
              </a:rPr>
              <a:t>K</a:t>
            </a:r>
            <a:r>
              <a:rPr lang="en-US" sz="3200" kern="0" dirty="0">
                <a:solidFill>
                  <a:srgbClr val="002D56"/>
                </a:solidFill>
              </a:rPr>
              <a:t>]</a:t>
            </a:r>
          </a:p>
          <a:p>
            <a:pPr lvl="2" eaLnBrk="0" hangingPunct="0">
              <a:buSzPct val="90000"/>
              <a:buFontTx/>
              <a:buChar char="•"/>
              <a:defRPr/>
            </a:pPr>
            <a:r>
              <a:rPr lang="en-US" kern="0" dirty="0"/>
              <a:t>Where K = </a:t>
            </a:r>
            <a:r>
              <a:rPr lang="en-US" kern="0" dirty="0">
                <a:sym typeface="Symbol"/>
              </a:rPr>
              <a:t>/(-1)</a:t>
            </a:r>
          </a:p>
          <a:p>
            <a:pPr eaLnBrk="0" hangingPunct="0">
              <a:buFontTx/>
              <a:buChar char="•"/>
              <a:defRPr/>
            </a:pPr>
            <a:r>
              <a:rPr lang="en-US" kern="0" dirty="0">
                <a:sym typeface="Symbol"/>
              </a:rPr>
              <a:t>Homothetic </a:t>
            </a:r>
            <a:endParaRPr lang="en-US" kern="0" dirty="0"/>
          </a:p>
        </p:txBody>
      </p:sp>
      <p:graphicFrame>
        <p:nvGraphicFramePr>
          <p:cNvPr id="6" name="Object 2"/>
          <p:cNvGraphicFramePr>
            <a:graphicFrameLocks noChangeAspect="1"/>
          </p:cNvGraphicFramePr>
          <p:nvPr/>
        </p:nvGraphicFramePr>
        <p:xfrm>
          <a:off x="1214438" y="1477963"/>
          <a:ext cx="5592762" cy="981075"/>
        </p:xfrm>
        <a:graphic>
          <a:graphicData uri="http://schemas.openxmlformats.org/presentationml/2006/ole">
            <mc:AlternateContent xmlns:mc="http://schemas.openxmlformats.org/markup-compatibility/2006">
              <mc:Choice xmlns:v="urn:schemas-microsoft-com:vml" Requires="v">
                <p:oleObj spid="_x0000_s142354" name="Equation" r:id="rId3" imgW="2133360" imgH="419040" progId="Equation.DSMT4">
                  <p:embed/>
                </p:oleObj>
              </mc:Choice>
              <mc:Fallback>
                <p:oleObj name="Equation" r:id="rId3" imgW="2133360" imgH="4190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4438" y="1477963"/>
                        <a:ext cx="5592762" cy="981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9343863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wipe(left)">
                                      <p:cBhvr>
                                        <p:cTn id="15" dur="500"/>
                                        <p:tgtEl>
                                          <p:spTgt spid="2">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Effect transition="in" filter="wipe(left)">
                                      <p:cBhvr>
                                        <p:cTn id="19" dur="500"/>
                                        <p:tgtEl>
                                          <p:spTgt spid="2">
                                            <p:txEl>
                                              <p:pRg st="2" end="2"/>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animEffect transition="in" filter="wipe(left)">
                                      <p:cBhvr>
                                        <p:cTn id="23" dur="500"/>
                                        <p:tgtEl>
                                          <p:spTgt spid="2">
                                            <p:txEl>
                                              <p:pRg st="3" end="3"/>
                                            </p:txEl>
                                          </p:spTgt>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itle 1"/>
          <p:cNvSpPr>
            <a:spLocks noGrp="1"/>
          </p:cNvSpPr>
          <p:nvPr>
            <p:ph type="title"/>
          </p:nvPr>
        </p:nvSpPr>
        <p:spPr/>
        <p:txBody>
          <a:bodyPr/>
          <a:lstStyle/>
          <a:p>
            <a:r>
              <a:rPr lang="en-US" altLang="en-US" smtClean="0"/>
              <a:t>The almost ideal demand system</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0128A71A-18FC-4135-8062-5FC84A8DFA9D}" type="slidenum">
              <a:rPr lang="en-US" smtClean="0"/>
              <a:pPr>
                <a:defRPr/>
              </a:pPr>
              <a:t>48</a:t>
            </a:fld>
            <a:endParaRPr lang="en-US"/>
          </a:p>
        </p:txBody>
      </p:sp>
      <p:sp>
        <p:nvSpPr>
          <p:cNvPr id="15364" name="Content Placeholder 2"/>
          <p:cNvSpPr>
            <a:spLocks noGrp="1"/>
          </p:cNvSpPr>
          <p:nvPr>
            <p:ph type="body" sz="quarter" idx="12"/>
          </p:nvPr>
        </p:nvSpPr>
        <p:spPr/>
        <p:txBody>
          <a:bodyPr/>
          <a:lstStyle/>
          <a:p>
            <a:r>
              <a:rPr lang="en-US" altLang="en-US" smtClean="0"/>
              <a:t>Expenditure functions</a:t>
            </a:r>
          </a:p>
          <a:p>
            <a:pPr lvl="1"/>
            <a:r>
              <a:rPr lang="en-US" altLang="en-US" smtClean="0"/>
              <a:t>Logarithmic differentiation</a:t>
            </a:r>
          </a:p>
          <a:p>
            <a:pPr lvl="1"/>
            <a:endParaRPr lang="en-US" altLang="en-US" smtClean="0"/>
          </a:p>
          <a:p>
            <a:pPr>
              <a:buFontTx/>
              <a:buNone/>
            </a:pPr>
            <a:endParaRPr lang="en-US" altLang="en-US" smtClean="0"/>
          </a:p>
          <a:p>
            <a:pPr lvl="1"/>
            <a:endParaRPr lang="en-US" altLang="en-US" smtClean="0"/>
          </a:p>
        </p:txBody>
      </p:sp>
      <p:graphicFrame>
        <p:nvGraphicFramePr>
          <p:cNvPr id="6" name="Object 2"/>
          <p:cNvGraphicFramePr>
            <a:graphicFrameLocks noChangeAspect="1"/>
          </p:cNvGraphicFramePr>
          <p:nvPr/>
        </p:nvGraphicFramePr>
        <p:xfrm>
          <a:off x="376238" y="2176463"/>
          <a:ext cx="8377237" cy="1149350"/>
        </p:xfrm>
        <a:graphic>
          <a:graphicData uri="http://schemas.openxmlformats.org/presentationml/2006/ole">
            <mc:AlternateContent xmlns:mc="http://schemas.openxmlformats.org/markup-compatibility/2006">
              <mc:Choice xmlns:v="urn:schemas-microsoft-com:vml" Requires="v">
                <p:oleObj spid="_x0000_s143376" name="Equation" r:id="rId3" imgW="3429000" imgH="469800" progId="Equation.DSMT4">
                  <p:embed/>
                </p:oleObj>
              </mc:Choice>
              <mc:Fallback>
                <p:oleObj name="Equation" r:id="rId3" imgW="3429000" imgH="4698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6238" y="2176463"/>
                        <a:ext cx="8377237" cy="1149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6441783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p:txBody>
          <a:bodyPr/>
          <a:lstStyle/>
          <a:p>
            <a:r>
              <a:rPr lang="en-US" altLang="en-US" dirty="0" smtClean="0"/>
              <a:t>The almost ideal demand system</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F98D4126-29CE-4783-9CE5-8E236E28B102}" type="slidenum">
              <a:rPr lang="en-US" smtClean="0"/>
              <a:pPr>
                <a:defRPr/>
              </a:pPr>
              <a:t>49</a:t>
            </a:fld>
            <a:endParaRPr lang="en-US"/>
          </a:p>
        </p:txBody>
      </p:sp>
      <p:sp>
        <p:nvSpPr>
          <p:cNvPr id="16388" name="Content Placeholder 2"/>
          <p:cNvSpPr>
            <a:spLocks noGrp="1"/>
          </p:cNvSpPr>
          <p:nvPr>
            <p:ph type="body" sz="quarter" idx="12"/>
          </p:nvPr>
        </p:nvSpPr>
        <p:spPr/>
        <p:txBody>
          <a:bodyPr/>
          <a:lstStyle/>
          <a:p>
            <a:r>
              <a:rPr lang="en-US" altLang="en-US" smtClean="0"/>
              <a:t>Almost ideal demand system</a:t>
            </a:r>
          </a:p>
          <a:p>
            <a:pPr lvl="1"/>
            <a:r>
              <a:rPr lang="en-US" altLang="en-US" smtClean="0"/>
              <a:t>Expenditure function</a:t>
            </a:r>
          </a:p>
        </p:txBody>
      </p:sp>
      <p:sp>
        <p:nvSpPr>
          <p:cNvPr id="2" name="Text Placeholder 1"/>
          <p:cNvSpPr>
            <a:spLocks noGrp="1"/>
          </p:cNvSpPr>
          <p:nvPr>
            <p:ph type="body" sz="quarter" idx="13"/>
          </p:nvPr>
        </p:nvSpPr>
        <p:spPr>
          <a:xfrm>
            <a:off x="457200" y="3810000"/>
            <a:ext cx="8305800" cy="2438400"/>
          </a:xfrm>
        </p:spPr>
        <p:txBody>
          <a:bodyPr/>
          <a:lstStyle/>
          <a:p>
            <a:pPr eaLnBrk="0" hangingPunct="0">
              <a:buFontTx/>
              <a:buChar char="•"/>
              <a:defRPr/>
            </a:pPr>
            <a:r>
              <a:rPr lang="en-US" kern="0" dirty="0"/>
              <a:t>Almost ideal demand system</a:t>
            </a:r>
          </a:p>
          <a:p>
            <a:pPr lvl="1" eaLnBrk="0" hangingPunct="0">
              <a:buFont typeface="Arial" charset="0"/>
              <a:buChar char="–"/>
              <a:defRPr/>
            </a:pPr>
            <a:r>
              <a:rPr lang="en-US" sz="3200" kern="0" dirty="0"/>
              <a:t>Expenditure function </a:t>
            </a:r>
          </a:p>
          <a:p>
            <a:pPr eaLnBrk="0" hangingPunct="0">
              <a:buFontTx/>
              <a:buChar char="•"/>
              <a:defRPr/>
            </a:pPr>
            <a:r>
              <a:rPr lang="en-US" kern="0" dirty="0"/>
              <a:t>Homogeneous of degree one in the prices </a:t>
            </a:r>
          </a:p>
          <a:p>
            <a:pPr lvl="1" eaLnBrk="0" hangingPunct="0">
              <a:buFont typeface="Arial" charset="0"/>
              <a:buChar char="–"/>
              <a:defRPr/>
            </a:pPr>
            <a:r>
              <a:rPr lang="en-US" sz="3200" kern="0" dirty="0"/>
              <a:t> a</a:t>
            </a:r>
            <a:r>
              <a:rPr lang="en-US" sz="3200" kern="0" baseline="-25000" dirty="0"/>
              <a:t>1</a:t>
            </a:r>
            <a:r>
              <a:rPr lang="en-US" sz="3200" kern="0" dirty="0"/>
              <a:t>+a</a:t>
            </a:r>
            <a:r>
              <a:rPr lang="en-US" sz="3200" kern="0" baseline="-25000" dirty="0"/>
              <a:t>2</a:t>
            </a:r>
            <a:r>
              <a:rPr lang="en-US" sz="3200" kern="0" dirty="0"/>
              <a:t>=1, b</a:t>
            </a:r>
            <a:r>
              <a:rPr lang="en-US" sz="3200" kern="0" baseline="-25000" dirty="0"/>
              <a:t>1</a:t>
            </a:r>
            <a:r>
              <a:rPr lang="en-US" sz="3200" kern="0" dirty="0"/>
              <a:t>+b</a:t>
            </a:r>
            <a:r>
              <a:rPr lang="en-US" sz="3200" kern="0" baseline="-25000" dirty="0"/>
              <a:t>2</a:t>
            </a:r>
            <a:r>
              <a:rPr lang="en-US" sz="3200" kern="0" dirty="0"/>
              <a:t>=0</a:t>
            </a:r>
            <a:r>
              <a:rPr lang="en-US" sz="3200" kern="0" dirty="0" smtClean="0"/>
              <a:t>,</a:t>
            </a:r>
            <a:r>
              <a:rPr lang="en-US" sz="3200" kern="0" dirty="0"/>
              <a:t> </a:t>
            </a:r>
            <a:r>
              <a:rPr lang="en-US" sz="3200" kern="0" dirty="0" smtClean="0"/>
              <a:t>b</a:t>
            </a:r>
            <a:r>
              <a:rPr lang="en-US" sz="3200" kern="0" baseline="-25000" dirty="0" smtClean="0"/>
              <a:t>2</a:t>
            </a:r>
            <a:r>
              <a:rPr lang="en-US" sz="3200" kern="0" dirty="0" smtClean="0"/>
              <a:t>+b</a:t>
            </a:r>
            <a:r>
              <a:rPr lang="en-US" sz="3200" kern="0" baseline="-25000" dirty="0" smtClean="0"/>
              <a:t>3</a:t>
            </a:r>
            <a:r>
              <a:rPr lang="en-US" sz="3200" kern="0" dirty="0" smtClean="0"/>
              <a:t>=0, </a:t>
            </a:r>
            <a:r>
              <a:rPr lang="en-US" sz="3200" kern="0" dirty="0"/>
              <a:t>and </a:t>
            </a:r>
            <a:r>
              <a:rPr lang="en-US" sz="3200" kern="0" dirty="0" smtClean="0"/>
              <a:t>c</a:t>
            </a:r>
            <a:r>
              <a:rPr lang="en-US" sz="3200" kern="0" baseline="-25000" dirty="0" smtClean="0"/>
              <a:t>1</a:t>
            </a:r>
            <a:r>
              <a:rPr lang="en-US" sz="3200" kern="0" dirty="0" smtClean="0"/>
              <a:t>+c</a:t>
            </a:r>
            <a:r>
              <a:rPr lang="en-US" sz="3200" kern="0" baseline="-25000" dirty="0" smtClean="0"/>
              <a:t>2</a:t>
            </a:r>
            <a:r>
              <a:rPr lang="en-US" sz="3200" kern="0" dirty="0" smtClean="0"/>
              <a:t>=0</a:t>
            </a:r>
            <a:endParaRPr lang="en-US" sz="3200" kern="0" dirty="0"/>
          </a:p>
        </p:txBody>
      </p:sp>
      <p:graphicFrame>
        <p:nvGraphicFramePr>
          <p:cNvPr id="7" name="Object 3"/>
          <p:cNvGraphicFramePr>
            <a:graphicFrameLocks noChangeAspect="1"/>
          </p:cNvGraphicFramePr>
          <p:nvPr>
            <p:extLst>
              <p:ext uri="{D42A27DB-BD31-4B8C-83A1-F6EECF244321}">
                <p14:modId xmlns:p14="http://schemas.microsoft.com/office/powerpoint/2010/main" val="2797644817"/>
              </p:ext>
            </p:extLst>
          </p:nvPr>
        </p:nvGraphicFramePr>
        <p:xfrm>
          <a:off x="800100" y="1676400"/>
          <a:ext cx="6897688" cy="2008188"/>
        </p:xfrm>
        <a:graphic>
          <a:graphicData uri="http://schemas.openxmlformats.org/presentationml/2006/ole">
            <mc:AlternateContent xmlns:mc="http://schemas.openxmlformats.org/markup-compatibility/2006">
              <mc:Choice xmlns:v="urn:schemas-microsoft-com:vml" Requires="v">
                <p:oleObj spid="_x0000_s144402" name="Equation" r:id="rId3" imgW="2654280" imgH="774360" progId="Equation.DSMT4">
                  <p:embed/>
                </p:oleObj>
              </mc:Choice>
              <mc:Fallback>
                <p:oleObj name="Equation" r:id="rId3" imgW="2654280" imgH="774360" progId="Equation.DSMT4">
                  <p:embed/>
                  <p:pic>
                    <p:nvPicPr>
                      <p:cNvPr id="0" name=""/>
                      <p:cNvPicPr>
                        <a:picLocks noChangeAspect="1" noChangeArrowheads="1"/>
                      </p:cNvPicPr>
                      <p:nvPr/>
                    </p:nvPicPr>
                    <p:blipFill>
                      <a:blip r:embed="rId4"/>
                      <a:srcRect/>
                      <a:stretch>
                        <a:fillRect/>
                      </a:stretch>
                    </p:blipFill>
                    <p:spPr bwMode="auto">
                      <a:xfrm>
                        <a:off x="800100" y="1676400"/>
                        <a:ext cx="6897688" cy="2008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8800516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wipe(left)">
                                      <p:cBhvr>
                                        <p:cTn id="15" dur="500"/>
                                        <p:tgtEl>
                                          <p:spTgt spid="2">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Effect transition="in" filter="wipe(left)">
                                      <p:cBhvr>
                                        <p:cTn id="19" dur="500"/>
                                        <p:tgtEl>
                                          <p:spTgt spid="2">
                                            <p:txEl>
                                              <p:pRg st="2" end="2"/>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animEffect transition="in" filter="wipe(left)">
                                      <p:cBhvr>
                                        <p:cTn id="23"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Title 1"/>
          <p:cNvSpPr>
            <a:spLocks noGrp="1"/>
          </p:cNvSpPr>
          <p:nvPr>
            <p:ph type="title"/>
          </p:nvPr>
        </p:nvSpPr>
        <p:spPr/>
        <p:txBody>
          <a:bodyPr/>
          <a:lstStyle/>
          <a:p>
            <a:r>
              <a:rPr lang="en-US" altLang="en-US" smtClean="0"/>
              <a:t>The almost ideal demand system</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DD5616CB-B0BF-4C3B-802F-F5BF35D1DF9F}" type="slidenum">
              <a:rPr lang="en-US" smtClean="0"/>
              <a:pPr>
                <a:defRPr/>
              </a:pPr>
              <a:t>50</a:t>
            </a:fld>
            <a:endParaRPr lang="en-US"/>
          </a:p>
        </p:txBody>
      </p:sp>
      <p:graphicFrame>
        <p:nvGraphicFramePr>
          <p:cNvPr id="8" name="Object 3"/>
          <p:cNvGraphicFramePr>
            <a:graphicFrameLocks noChangeAspect="1"/>
          </p:cNvGraphicFramePr>
          <p:nvPr>
            <p:extLst>
              <p:ext uri="{D42A27DB-BD31-4B8C-83A1-F6EECF244321}">
                <p14:modId xmlns:p14="http://schemas.microsoft.com/office/powerpoint/2010/main" val="2871549554"/>
              </p:ext>
            </p:extLst>
          </p:nvPr>
        </p:nvGraphicFramePr>
        <p:xfrm>
          <a:off x="747713" y="685800"/>
          <a:ext cx="7650162" cy="5559425"/>
        </p:xfrm>
        <a:graphic>
          <a:graphicData uri="http://schemas.openxmlformats.org/presentationml/2006/ole">
            <mc:AlternateContent xmlns:mc="http://schemas.openxmlformats.org/markup-compatibility/2006">
              <mc:Choice xmlns:v="urn:schemas-microsoft-com:vml" Requires="v">
                <p:oleObj spid="_x0000_s145426" name="Equation" r:id="rId3" imgW="2831760" imgH="2057400" progId="Equation.DSMT4">
                  <p:embed/>
                </p:oleObj>
              </mc:Choice>
              <mc:Fallback>
                <p:oleObj name="Equation" r:id="rId3" imgW="2831760" imgH="2057400" progId="Equation.DSMT4">
                  <p:embed/>
                  <p:pic>
                    <p:nvPicPr>
                      <p:cNvPr id="0" name=""/>
                      <p:cNvPicPr>
                        <a:picLocks noChangeAspect="1" noChangeArrowheads="1"/>
                      </p:cNvPicPr>
                      <p:nvPr/>
                    </p:nvPicPr>
                    <p:blipFill>
                      <a:blip r:embed="rId4"/>
                      <a:srcRect/>
                      <a:stretch>
                        <a:fillRect/>
                      </a:stretch>
                    </p:blipFill>
                    <p:spPr bwMode="auto">
                      <a:xfrm>
                        <a:off x="747713" y="685800"/>
                        <a:ext cx="7650162" cy="555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0356567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p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a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figur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ab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examp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extension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4914</TotalTime>
  <Words>5268</Words>
  <Application>Microsoft Office PowerPoint</Application>
  <PresentationFormat>On-screen Show (4:3)</PresentationFormat>
  <Paragraphs>460</Paragraphs>
  <Slides>50</Slides>
  <Notes>1</Notes>
  <HiddenSlides>0</HiddenSlides>
  <MMClips>0</MMClips>
  <ScaleCrop>false</ScaleCrop>
  <HeadingPairs>
    <vt:vector size="6" baseType="variant">
      <vt:variant>
        <vt:lpstr>Theme</vt:lpstr>
      </vt:variant>
      <vt:variant>
        <vt:i4>6</vt:i4>
      </vt:variant>
      <vt:variant>
        <vt:lpstr>Embedded OLE Servers</vt:lpstr>
      </vt:variant>
      <vt:variant>
        <vt:i4>1</vt:i4>
      </vt:variant>
      <vt:variant>
        <vt:lpstr>Slide Titles</vt:lpstr>
      </vt:variant>
      <vt:variant>
        <vt:i4>50</vt:i4>
      </vt:variant>
    </vt:vector>
  </HeadingPairs>
  <TitlesOfParts>
    <vt:vector size="57" baseType="lpstr">
      <vt:lpstr>chapter</vt:lpstr>
      <vt:lpstr>main</vt:lpstr>
      <vt:lpstr>figure</vt:lpstr>
      <vt:lpstr>table</vt:lpstr>
      <vt:lpstr>example</vt:lpstr>
      <vt:lpstr>extensions</vt:lpstr>
      <vt:lpstr>Equation</vt:lpstr>
      <vt:lpstr>CHAPTER  Utility Maximization  4      and Choice  </vt:lpstr>
      <vt:lpstr>Utility Maximization and Choice</vt:lpstr>
      <vt:lpstr>Utility Maximization and Choice</vt:lpstr>
      <vt:lpstr>An Initial Survey</vt:lpstr>
      <vt:lpstr>The Two-Good Case</vt:lpstr>
      <vt:lpstr>4.1 The Individual’s Budget Constraint for Two  Goods</vt:lpstr>
      <vt:lpstr>The Two-Good Case</vt:lpstr>
      <vt:lpstr>4.2 A Graphical Demonstration of Utility  Maximization</vt:lpstr>
      <vt:lpstr>The Two-Good Case</vt:lpstr>
      <vt:lpstr>4.3 Example of an Indifference Curve Map for   Which the Tangency Condition Does Not  Ensure a Maximum</vt:lpstr>
      <vt:lpstr>The Two-Good Case</vt:lpstr>
      <vt:lpstr>4.4 Corner Solution for Utility Maximization</vt:lpstr>
      <vt:lpstr>The n-Good Case</vt:lpstr>
      <vt:lpstr>The n-Good Case</vt:lpstr>
      <vt:lpstr>The n-Good Case</vt:lpstr>
      <vt:lpstr>The n-Good Case</vt:lpstr>
      <vt:lpstr>The n-Good Case</vt:lpstr>
      <vt:lpstr>The n-Good Case</vt:lpstr>
      <vt:lpstr>4.1  Cobb–Douglas Demand Functions</vt:lpstr>
      <vt:lpstr>4.1  Cobb–Douglas Demand Functions</vt:lpstr>
      <vt:lpstr>4.1  Cobb–Douglas Demand Functions</vt:lpstr>
      <vt:lpstr>4.2  CES Demand</vt:lpstr>
      <vt:lpstr>4.2  CES Demand</vt:lpstr>
      <vt:lpstr>4.2  CES Demand</vt:lpstr>
      <vt:lpstr>4.2  CES Demand</vt:lpstr>
      <vt:lpstr>Indirect Utility Function</vt:lpstr>
      <vt:lpstr>Indirect Utility Function</vt:lpstr>
      <vt:lpstr>The Lump Sum Principle</vt:lpstr>
      <vt:lpstr>4.5 The Lump Sum Principle of Taxation</vt:lpstr>
      <vt:lpstr>4.3 Indirect Utility and the Lump Sum Principle</vt:lpstr>
      <vt:lpstr>4.3 Indirect Utility and the Lump Sum Principle</vt:lpstr>
      <vt:lpstr>4.3 Indirect Utility and the Lump Sum Principle</vt:lpstr>
      <vt:lpstr>4.3 Indirect Utility and the Lump Sum Principle</vt:lpstr>
      <vt:lpstr>Expenditure Minimization</vt:lpstr>
      <vt:lpstr>4.6 The Dual Expenditure-Minimization Problem</vt:lpstr>
      <vt:lpstr>Expenditure Minimization</vt:lpstr>
      <vt:lpstr>Expenditure Minimization</vt:lpstr>
      <vt:lpstr>Expenditure Minimization</vt:lpstr>
      <vt:lpstr>4.4  Two Expenditure Functions</vt:lpstr>
      <vt:lpstr>4.4  Two Expenditure Functions</vt:lpstr>
      <vt:lpstr>Properties of Expenditure Functions</vt:lpstr>
      <vt:lpstr>4.7 Expenditure Functions Are Concave in Prices</vt:lpstr>
      <vt:lpstr>Budget Shares</vt:lpstr>
      <vt:lpstr>E4.1 Budget shares of U.S. households, 2008</vt:lpstr>
      <vt:lpstr>Linear expenditure system</vt:lpstr>
      <vt:lpstr>Linear expenditure system</vt:lpstr>
      <vt:lpstr>CES utility</vt:lpstr>
      <vt:lpstr>The almost ideal demand system</vt:lpstr>
      <vt:lpstr>The almost ideal demand system</vt:lpstr>
      <vt:lpstr>The almost ideal demand system</vt:lpstr>
    </vt:vector>
  </TitlesOfParts>
  <Company>Eastern Illinois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Andreea Chiritescu</dc:creator>
  <cp:lastModifiedBy>Andreea Chiritescu</cp:lastModifiedBy>
  <cp:revision>272</cp:revision>
  <dcterms:created xsi:type="dcterms:W3CDTF">2016-06-05T19:40:39Z</dcterms:created>
  <dcterms:modified xsi:type="dcterms:W3CDTF">2016-06-16T14:09:28Z</dcterms:modified>
</cp:coreProperties>
</file>