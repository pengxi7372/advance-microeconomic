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77" r:id="rId4"/>
    <p:sldMasterId id="2147483669" r:id="rId5"/>
    <p:sldMasterId id="2147483672" r:id="rId6"/>
  </p:sldMasterIdLst>
  <p:notesMasterIdLst>
    <p:notesMasterId r:id="rId54"/>
  </p:notesMasterIdLst>
  <p:handoutMasterIdLst>
    <p:handoutMasterId r:id="rId55"/>
  </p:handoutMasterIdLst>
  <p:sldIdLst>
    <p:sldId id="258" r:id="rId7"/>
    <p:sldId id="267" r:id="rId8"/>
    <p:sldId id="268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83799" autoAdjust="0"/>
  </p:normalViewPr>
  <p:slideViewPr>
    <p:cSldViewPr>
      <p:cViewPr varScale="1">
        <p:scale>
          <a:sx n="81" d="100"/>
          <a:sy n="81" d="100"/>
        </p:scale>
        <p:origin x="86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13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143B-620F-4987-B4C6-8DA41D14F534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537F-0D91-4DE0-B9F5-55E2B2118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2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A522-1067-4090-8338-D2D3A24AAAF6}" type="datetimeFigureOut">
              <a:rPr lang="en-US" smtClean="0"/>
              <a:t>9/17/2020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A4D4-42B8-482F-A3F9-BD6E0B3B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A4D4-42B8-482F-A3F9-BD6E0B3BC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971800"/>
            <a:ext cx="9144000" cy="1676400"/>
          </a:xfrm>
          <a:prstGeom prst="rect">
            <a:avLst/>
          </a:prstGeom>
          <a:noFill/>
        </p:spPr>
        <p:txBody>
          <a:bodyPr/>
          <a:lstStyle>
            <a:lvl1pPr marL="91440">
              <a:lnSpc>
                <a:spcPct val="100000"/>
              </a:lnSpc>
              <a:spcBef>
                <a:spcPts val="600"/>
              </a:spcBef>
              <a:defRPr sz="5400" b="0">
                <a:solidFill>
                  <a:srgbClr val="002D56"/>
                </a:solidFill>
              </a:defRPr>
            </a:lvl1pPr>
          </a:lstStyle>
          <a:p>
            <a:r>
              <a:rPr lang="en-US" dirty="0"/>
              <a:t>CLICK TO EDIT				Master title style</a:t>
            </a:r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-76200" y="0"/>
            <a:ext cx="9220200" cy="609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18288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200000"/>
              </a:lnSpc>
              <a:spcBef>
                <a:spcPct val="0"/>
              </a:spcBef>
              <a:buNone/>
              <a:defRPr sz="4400" b="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Walter Nicholson | Christopher Snyder	 12th edition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1816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28194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133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04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2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34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6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3429000"/>
            <a:ext cx="8382000" cy="2743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91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6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079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3352800"/>
            <a:ext cx="8305800" cy="2895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74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ndreea\Desktop\Cengage\Nicholson 12e\cover\ch bk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377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dreea\Desktop\Cengage\Nicholson 12e\cover\M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184"/>
            <a:ext cx="9144000" cy="22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8686800" cy="457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5400" y="5562600"/>
            <a:ext cx="4038600" cy="9144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>
                <a:latin typeface="Arial" pitchFamily="34" charset="0"/>
              </a:rPr>
              <a:t>PowerPoint Slides prepared by: </a:t>
            </a:r>
          </a:p>
          <a:p>
            <a:pPr>
              <a:defRPr/>
            </a:pPr>
            <a:r>
              <a:rPr lang="en-US" sz="1600">
                <a:latin typeface="Arial" pitchFamily="34" charset="0"/>
              </a:rPr>
              <a:t>V. Andreea CHIRITESCU</a:t>
            </a:r>
          </a:p>
          <a:p>
            <a:pPr>
              <a:defRPr/>
            </a:pPr>
            <a:r>
              <a:rPr lang="en-US" sz="1600">
                <a:latin typeface="Arial" pitchFamily="34" charset="0"/>
              </a:rPr>
              <a:t>Eastern Illinois University</a:t>
            </a:r>
            <a:endParaRPr lang="en-US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lnSpc>
          <a:spcPct val="200000"/>
        </a:lnSpc>
        <a:spcBef>
          <a:spcPct val="0"/>
        </a:spcBef>
        <a:buNone/>
        <a:defRPr sz="4400" b="0" kern="1200" baseline="30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8" y="1143000"/>
            <a:ext cx="8601072" cy="533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1"/>
            <a:ext cx="8686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043235" y="3043235"/>
            <a:ext cx="6400800" cy="31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328" y="985836"/>
            <a:ext cx="8829672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3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3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1" y="5505448"/>
            <a:ext cx="9144000" cy="895351"/>
            <a:chOff x="138110" y="3505200"/>
            <a:chExt cx="9144000" cy="895351"/>
          </a:xfrm>
        </p:grpSpPr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3823" y="3519488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86760" y="3505200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499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8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0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033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764345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38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9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10213" y="3224211"/>
            <a:ext cx="6858001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895600" y="3095624"/>
            <a:ext cx="620077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28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6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8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895600"/>
            <a:ext cx="9144000" cy="1676400"/>
          </a:xfrm>
        </p:spPr>
        <p:txBody>
          <a:bodyPr/>
          <a:lstStyle/>
          <a:p>
            <a:pPr algn="l"/>
            <a:r>
              <a:rPr lang="en-US" dirty="0"/>
              <a:t>CHAPTER</a:t>
            </a:r>
            <a:r>
              <a:rPr lang="en-US" b="1" baseline="0" dirty="0"/>
              <a:t> 		 Preferences </a:t>
            </a:r>
            <a:br>
              <a:rPr lang="en-US" dirty="0"/>
            </a:br>
            <a:r>
              <a:rPr lang="en-US" baseline="0" dirty="0"/>
              <a:t> 3</a:t>
            </a:r>
            <a:r>
              <a:rPr lang="en-US" b="1" baseline="0" dirty="0"/>
              <a:t>	 				and Utility</a:t>
            </a:r>
            <a:br>
              <a:rPr lang="en-US" b="1" baseline="0" dirty="0"/>
            </a:br>
            <a:endParaRPr lang="en-US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Axioms of Rational Choice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altLang="en-US" dirty="0"/>
              <a:t>Completeness</a:t>
            </a:r>
          </a:p>
          <a:p>
            <a:pPr lvl="1"/>
            <a:r>
              <a:rPr lang="en-US" altLang="en-US" dirty="0"/>
              <a:t>If A and B are any two situations, an individual can always specify exactly one of these possibilities:</a:t>
            </a:r>
          </a:p>
          <a:p>
            <a:pPr lvl="2"/>
            <a:r>
              <a:rPr lang="en-US" altLang="en-US" dirty="0"/>
              <a:t>A is preferred to B</a:t>
            </a:r>
          </a:p>
          <a:p>
            <a:pPr lvl="2"/>
            <a:r>
              <a:rPr lang="en-US" altLang="en-US" dirty="0"/>
              <a:t>B is preferred to A</a:t>
            </a:r>
          </a:p>
          <a:p>
            <a:pPr lvl="2"/>
            <a:r>
              <a:rPr lang="en-US" altLang="en-US" dirty="0"/>
              <a:t>A and B are equally attractive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280DC40-4517-45BE-BF84-B0EDD4FA630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8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Axioms of Rational Choice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/>
          <a:lstStyle/>
          <a:p>
            <a:pPr marL="571500" indent="-571500">
              <a:buFont typeface="+mj-lt"/>
              <a:buAutoNum type="romanUcPeriod" startAt="2"/>
            </a:pPr>
            <a:r>
              <a:rPr lang="en-US" altLang="en-US" dirty="0"/>
              <a:t>Transitivity</a:t>
            </a:r>
          </a:p>
          <a:p>
            <a:pPr lvl="1"/>
            <a:r>
              <a:rPr lang="en-US" altLang="en-US" sz="3000" dirty="0"/>
              <a:t>If A is preferred to B, and B is preferred to C, then A is preferred to C</a:t>
            </a:r>
          </a:p>
          <a:p>
            <a:pPr lvl="1"/>
            <a:r>
              <a:rPr lang="en-US" altLang="en-US" sz="3000" dirty="0"/>
              <a:t>Assumes that the individual’s choices are internally consistent</a:t>
            </a:r>
          </a:p>
          <a:p>
            <a:pPr marL="571500" indent="-571500">
              <a:buFont typeface="+mj-lt"/>
              <a:buAutoNum type="romanUcPeriod" startAt="3"/>
            </a:pPr>
            <a:r>
              <a:rPr lang="en-US" altLang="en-US" dirty="0"/>
              <a:t>Continuity</a:t>
            </a:r>
          </a:p>
          <a:p>
            <a:pPr lvl="1"/>
            <a:r>
              <a:rPr lang="en-US" altLang="en-US" sz="3000" dirty="0"/>
              <a:t>If A is preferred to B, then situations suitably “close to” A must also be preferred to B</a:t>
            </a:r>
          </a:p>
          <a:p>
            <a:pPr lvl="1"/>
            <a:r>
              <a:rPr lang="en-US" altLang="en-US" sz="3000" dirty="0"/>
              <a:t>Used to analyze individuals’ responses to relatively small changes in income and prices</a:t>
            </a:r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57345B-B695-4B96-AC05-8E5E636B070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53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Utility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Assuming: completeness, transitivity, and continuity</a:t>
            </a:r>
          </a:p>
          <a:p>
            <a:pPr lvl="1"/>
            <a:r>
              <a:rPr lang="en-US" altLang="en-US" dirty="0"/>
              <a:t>People are able to rank all possible situations from the least desirable to the most</a:t>
            </a:r>
          </a:p>
          <a:p>
            <a:r>
              <a:rPr lang="en-US" altLang="en-US" dirty="0"/>
              <a:t>Economists call this ranking </a:t>
            </a:r>
            <a:r>
              <a:rPr lang="en-US" altLang="en-US" u="sng" dirty="0"/>
              <a:t>utility</a:t>
            </a:r>
            <a:endParaRPr lang="en-US" altLang="en-US" dirty="0"/>
          </a:p>
          <a:p>
            <a:pPr lvl="1">
              <a:lnSpc>
                <a:spcPct val="110000"/>
              </a:lnSpc>
            </a:pPr>
            <a:r>
              <a:rPr lang="en-US" altLang="en-US" dirty="0"/>
              <a:t>If A is preferred to B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Then the utility assigned to A exceeds or equal to the utility assigned to B: </a:t>
            </a:r>
            <a:r>
              <a:rPr lang="en-US" altLang="en-US" i="1" dirty="0">
                <a:solidFill>
                  <a:srgbClr val="FF0000"/>
                </a:solidFill>
              </a:rPr>
              <a:t>U</a:t>
            </a:r>
            <a:r>
              <a:rPr lang="en-US" altLang="en-US" dirty="0">
                <a:solidFill>
                  <a:srgbClr val="FF0000"/>
                </a:solidFill>
              </a:rPr>
              <a:t>(A) &gt; =</a:t>
            </a:r>
            <a:r>
              <a:rPr lang="en-US" altLang="en-US" i="1" dirty="0">
                <a:solidFill>
                  <a:srgbClr val="FF0000"/>
                </a:solidFill>
              </a:rPr>
              <a:t>U</a:t>
            </a:r>
            <a:r>
              <a:rPr lang="en-US" altLang="en-US" dirty="0">
                <a:solidFill>
                  <a:srgbClr val="FF0000"/>
                </a:solidFill>
              </a:rPr>
              <a:t>(B)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561C3D1-CDDD-4AFD-825D-E2D96D8D78F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22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Utility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Utility</a:t>
            </a:r>
          </a:p>
          <a:p>
            <a:pPr lvl="1"/>
            <a:r>
              <a:rPr lang="en-US" altLang="en-US" dirty="0"/>
              <a:t>Individuals’ preferences are assumed to be represented by a utility function of the form </a:t>
            </a:r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x</a:t>
            </a:r>
            <a:r>
              <a:rPr lang="en-US" altLang="en-US" baseline="-25000" dirty="0"/>
              <a:t>2</a:t>
            </a:r>
            <a:r>
              <a:rPr lang="en-US" altLang="en-US" dirty="0"/>
              <a:t>, . . . , </a:t>
            </a:r>
            <a:r>
              <a:rPr lang="en-US" altLang="en-US" i="1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Where </a:t>
            </a:r>
            <a:r>
              <a:rPr lang="en-US" altLang="en-US" i="1" dirty="0"/>
              <a:t>x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x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,…,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are the quantities of each of n goods that might be consumed in a period</a:t>
            </a:r>
          </a:p>
          <a:p>
            <a:pPr lvl="2"/>
            <a:r>
              <a:rPr lang="en-US" altLang="en-US" dirty="0"/>
              <a:t>This function is unique only up to an order-preserving transformation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486800-8D40-41DD-876D-A478B2BF939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1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Utility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Utility rankings are ordinal in nature</a:t>
            </a:r>
          </a:p>
          <a:p>
            <a:pPr lvl="1"/>
            <a:r>
              <a:rPr lang="en-US" altLang="en-US"/>
              <a:t>Record the relative desirability of commodity bundles</a:t>
            </a:r>
          </a:p>
          <a:p>
            <a:pPr lvl="1"/>
            <a:r>
              <a:rPr lang="en-US" altLang="en-US"/>
              <a:t>It makes no sense to consider how much more utility is gained from A than from B</a:t>
            </a:r>
          </a:p>
          <a:p>
            <a:pPr lvl="1"/>
            <a:r>
              <a:rPr lang="en-US" altLang="en-US"/>
              <a:t>Impossible to compare utilities between people</a:t>
            </a:r>
          </a:p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78768E-AF6F-418C-8902-D07D679D4E0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21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Utility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Utility is affected by </a:t>
            </a:r>
          </a:p>
          <a:p>
            <a:pPr lvl="1"/>
            <a:r>
              <a:rPr lang="en-US" altLang="en-US"/>
              <a:t>The consumption of physical commodities</a:t>
            </a:r>
          </a:p>
          <a:p>
            <a:pPr lvl="1"/>
            <a:r>
              <a:rPr lang="en-US" altLang="en-US"/>
              <a:t>Psychological attitudes</a:t>
            </a:r>
          </a:p>
          <a:p>
            <a:pPr lvl="1"/>
            <a:r>
              <a:rPr lang="en-US" altLang="en-US"/>
              <a:t>Peer group pressures</a:t>
            </a:r>
          </a:p>
          <a:p>
            <a:pPr lvl="1"/>
            <a:r>
              <a:rPr lang="en-US" altLang="en-US"/>
              <a:t>Personal experiences</a:t>
            </a:r>
          </a:p>
          <a:p>
            <a:pPr lvl="1"/>
            <a:r>
              <a:rPr lang="en-US" altLang="en-US"/>
              <a:t>The general cultural environment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F2F1CB-087E-4513-AC16-AB50E25DAFD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83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Utility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ceteris paribus assumption</a:t>
            </a:r>
          </a:p>
          <a:p>
            <a:pPr lvl="1"/>
            <a:r>
              <a:rPr lang="en-US" altLang="en-US"/>
              <a:t>“Other things being equal”</a:t>
            </a:r>
          </a:p>
          <a:p>
            <a:pPr lvl="1"/>
            <a:r>
              <a:rPr lang="en-US" altLang="en-US"/>
              <a:t>Devote attention exclusively to choices among quantifiable options </a:t>
            </a:r>
          </a:p>
          <a:p>
            <a:pPr lvl="2"/>
            <a:r>
              <a:rPr lang="en-US" altLang="en-US"/>
              <a:t>While holding constant the other things that affect behavior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FC57B6F-3A74-4B2B-9B8B-94C0AC1B813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37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Utility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Utility from consumption of goods</a:t>
            </a:r>
          </a:p>
          <a:p>
            <a:pPr lvl="1"/>
            <a:r>
              <a:rPr lang="en-US" altLang="en-US"/>
              <a:t>Assume - an individual must choose among consumption goods </a:t>
            </a:r>
            <a:r>
              <a:rPr lang="en-US" altLang="en-US" i="1">
                <a:solidFill>
                  <a:srgbClr val="FF0000"/>
                </a:solidFill>
              </a:rPr>
              <a:t>x</a:t>
            </a:r>
            <a:r>
              <a:rPr lang="en-US" altLang="en-US" baseline="-25000">
                <a:solidFill>
                  <a:srgbClr val="FF0000"/>
                </a:solidFill>
              </a:rPr>
              <a:t>1</a:t>
            </a:r>
            <a:r>
              <a:rPr lang="en-US" altLang="en-US">
                <a:solidFill>
                  <a:srgbClr val="FF0000"/>
                </a:solidFill>
              </a:rPr>
              <a:t>, </a:t>
            </a:r>
            <a:r>
              <a:rPr lang="en-US" altLang="en-US" i="1">
                <a:solidFill>
                  <a:srgbClr val="FF0000"/>
                </a:solidFill>
              </a:rPr>
              <a:t>x</a:t>
            </a:r>
            <a:r>
              <a:rPr lang="en-US" altLang="en-US" baseline="-25000">
                <a:solidFill>
                  <a:srgbClr val="FF0000"/>
                </a:solidFill>
              </a:rPr>
              <a:t>2</a:t>
            </a:r>
            <a:r>
              <a:rPr lang="en-US" altLang="en-US">
                <a:solidFill>
                  <a:srgbClr val="FF0000"/>
                </a:solidFill>
              </a:rPr>
              <a:t>,…, </a:t>
            </a:r>
            <a:r>
              <a:rPr lang="en-US" altLang="en-US" i="1">
                <a:solidFill>
                  <a:srgbClr val="FF0000"/>
                </a:solidFill>
              </a:rPr>
              <a:t>x</a:t>
            </a:r>
            <a:r>
              <a:rPr lang="en-US" altLang="en-US" baseline="-25000">
                <a:solidFill>
                  <a:srgbClr val="FF0000"/>
                </a:solidFill>
              </a:rPr>
              <a:t>n</a:t>
            </a:r>
            <a:endParaRPr lang="en-US" altLang="en-US">
              <a:solidFill>
                <a:srgbClr val="FF0000"/>
              </a:solidFill>
            </a:endParaRPr>
          </a:p>
          <a:p>
            <a:pPr lvl="1"/>
            <a:r>
              <a:rPr lang="en-US" altLang="en-US"/>
              <a:t>Show his rankings using a utility function of the form: </a:t>
            </a:r>
            <a:r>
              <a:rPr lang="en-US" altLang="en-US" sz="3000">
                <a:solidFill>
                  <a:srgbClr val="FF0000"/>
                </a:solidFill>
              </a:rPr>
              <a:t>utility = </a:t>
            </a:r>
            <a:r>
              <a:rPr lang="en-US" altLang="en-US" sz="3000" i="1">
                <a:solidFill>
                  <a:srgbClr val="FF0000"/>
                </a:solidFill>
              </a:rPr>
              <a:t>U</a:t>
            </a:r>
            <a:r>
              <a:rPr lang="en-US" altLang="en-US" sz="3000">
                <a:solidFill>
                  <a:srgbClr val="FF0000"/>
                </a:solidFill>
              </a:rPr>
              <a:t>(</a:t>
            </a:r>
            <a:r>
              <a:rPr lang="en-US" altLang="en-US" sz="3000" i="1">
                <a:solidFill>
                  <a:srgbClr val="FF0000"/>
                </a:solidFill>
              </a:rPr>
              <a:t>x</a:t>
            </a:r>
            <a:r>
              <a:rPr lang="en-US" altLang="en-US" sz="3000" baseline="-25000">
                <a:solidFill>
                  <a:srgbClr val="FF0000"/>
                </a:solidFill>
              </a:rPr>
              <a:t>1</a:t>
            </a:r>
            <a:r>
              <a:rPr lang="en-US" altLang="en-US" sz="3000">
                <a:solidFill>
                  <a:srgbClr val="FF0000"/>
                </a:solidFill>
              </a:rPr>
              <a:t>, </a:t>
            </a:r>
            <a:r>
              <a:rPr lang="en-US" altLang="en-US" sz="3000" i="1">
                <a:solidFill>
                  <a:srgbClr val="FF0000"/>
                </a:solidFill>
              </a:rPr>
              <a:t>x</a:t>
            </a:r>
            <a:r>
              <a:rPr lang="en-US" altLang="en-US" sz="3000" baseline="-25000">
                <a:solidFill>
                  <a:srgbClr val="FF0000"/>
                </a:solidFill>
              </a:rPr>
              <a:t>2</a:t>
            </a:r>
            <a:r>
              <a:rPr lang="en-US" altLang="en-US" sz="3000">
                <a:solidFill>
                  <a:srgbClr val="FF0000"/>
                </a:solidFill>
              </a:rPr>
              <a:t>,…, </a:t>
            </a:r>
            <a:r>
              <a:rPr lang="en-US" altLang="en-US" sz="3000" i="1">
                <a:solidFill>
                  <a:srgbClr val="FF0000"/>
                </a:solidFill>
              </a:rPr>
              <a:t>x</a:t>
            </a:r>
            <a:r>
              <a:rPr lang="en-US" altLang="en-US" sz="3000" baseline="-25000">
                <a:solidFill>
                  <a:srgbClr val="FF0000"/>
                </a:solidFill>
              </a:rPr>
              <a:t>n</a:t>
            </a:r>
            <a:r>
              <a:rPr lang="en-US" altLang="en-US" sz="3000">
                <a:solidFill>
                  <a:srgbClr val="FF0000"/>
                </a:solidFill>
              </a:rPr>
              <a:t>; other things)</a:t>
            </a:r>
          </a:p>
          <a:p>
            <a:pPr lvl="1">
              <a:lnSpc>
                <a:spcPct val="140000"/>
              </a:lnSpc>
            </a:pPr>
            <a:r>
              <a:rPr lang="en-US" altLang="en-US"/>
              <a:t>Often “other things” are held constant, so </a:t>
            </a:r>
            <a:r>
              <a:rPr lang="en-US" altLang="en-US" sz="3000">
                <a:solidFill>
                  <a:srgbClr val="FF0000"/>
                </a:solidFill>
              </a:rPr>
              <a:t>utility = </a:t>
            </a:r>
            <a:r>
              <a:rPr lang="en-US" altLang="en-US" sz="3000" i="1">
                <a:solidFill>
                  <a:srgbClr val="FF0000"/>
                </a:solidFill>
              </a:rPr>
              <a:t>U</a:t>
            </a:r>
            <a:r>
              <a:rPr lang="en-US" altLang="en-US" sz="3000">
                <a:solidFill>
                  <a:srgbClr val="FF0000"/>
                </a:solidFill>
              </a:rPr>
              <a:t>(</a:t>
            </a:r>
            <a:r>
              <a:rPr lang="en-US" altLang="en-US" sz="3000" i="1">
                <a:solidFill>
                  <a:srgbClr val="FF0000"/>
                </a:solidFill>
              </a:rPr>
              <a:t>x</a:t>
            </a:r>
            <a:r>
              <a:rPr lang="en-US" altLang="en-US" sz="3000" baseline="-25000">
                <a:solidFill>
                  <a:srgbClr val="FF0000"/>
                </a:solidFill>
              </a:rPr>
              <a:t>1</a:t>
            </a:r>
            <a:r>
              <a:rPr lang="en-US" altLang="en-US" sz="3000">
                <a:solidFill>
                  <a:srgbClr val="FF0000"/>
                </a:solidFill>
              </a:rPr>
              <a:t>, </a:t>
            </a:r>
            <a:r>
              <a:rPr lang="en-US" altLang="en-US" sz="3000" i="1">
                <a:solidFill>
                  <a:srgbClr val="FF0000"/>
                </a:solidFill>
              </a:rPr>
              <a:t>x</a:t>
            </a:r>
            <a:r>
              <a:rPr lang="en-US" altLang="en-US" sz="3000" baseline="-25000">
                <a:solidFill>
                  <a:srgbClr val="FF0000"/>
                </a:solidFill>
              </a:rPr>
              <a:t>2</a:t>
            </a:r>
            <a:r>
              <a:rPr lang="en-US" altLang="en-US" sz="3000">
                <a:solidFill>
                  <a:srgbClr val="FF0000"/>
                </a:solidFill>
              </a:rPr>
              <a:t>,…, </a:t>
            </a:r>
            <a:r>
              <a:rPr lang="en-US" altLang="en-US" sz="3000" i="1">
                <a:solidFill>
                  <a:srgbClr val="FF0000"/>
                </a:solidFill>
              </a:rPr>
              <a:t>x</a:t>
            </a:r>
            <a:r>
              <a:rPr lang="en-US" altLang="en-US" sz="3000" baseline="-25000">
                <a:solidFill>
                  <a:srgbClr val="FF0000"/>
                </a:solidFill>
              </a:rPr>
              <a:t>n</a:t>
            </a:r>
            <a:r>
              <a:rPr lang="en-US" altLang="en-US" sz="300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/>
              <a:t>For two goods, </a:t>
            </a:r>
            <a:r>
              <a:rPr lang="en-US" altLang="en-US" i="1"/>
              <a:t>x</a:t>
            </a:r>
            <a:r>
              <a:rPr lang="en-US" altLang="en-US"/>
              <a:t> and </a:t>
            </a:r>
            <a:r>
              <a:rPr lang="en-US" altLang="en-US" i="1"/>
              <a:t>y: </a:t>
            </a:r>
            <a:r>
              <a:rPr lang="en-US" altLang="en-US" sz="3000">
                <a:solidFill>
                  <a:srgbClr val="FF0000"/>
                </a:solidFill>
              </a:rPr>
              <a:t>utility = </a:t>
            </a:r>
            <a:r>
              <a:rPr lang="en-US" altLang="en-US" sz="3000" i="1">
                <a:solidFill>
                  <a:srgbClr val="FF0000"/>
                </a:solidFill>
              </a:rPr>
              <a:t>U</a:t>
            </a:r>
            <a:r>
              <a:rPr lang="en-US" altLang="en-US" sz="3000">
                <a:solidFill>
                  <a:srgbClr val="FF0000"/>
                </a:solidFill>
              </a:rPr>
              <a:t>(</a:t>
            </a:r>
            <a:r>
              <a:rPr lang="en-US" altLang="en-US" sz="3000" i="1">
                <a:solidFill>
                  <a:srgbClr val="FF0000"/>
                </a:solidFill>
              </a:rPr>
              <a:t>x,y</a:t>
            </a:r>
            <a:r>
              <a:rPr lang="en-US" altLang="en-US" sz="3000">
                <a:solidFill>
                  <a:srgbClr val="FF0000"/>
                </a:solidFill>
              </a:rPr>
              <a:t>)</a:t>
            </a:r>
          </a:p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9E0747D-FD16-49CF-8461-EA245DC35BA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4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Utility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Arguments of utility functions</a:t>
            </a:r>
          </a:p>
          <a:p>
            <a:pPr lvl="2"/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/>
              <a:t>W</a:t>
            </a:r>
            <a:r>
              <a:rPr lang="en-US" altLang="en-US" dirty="0"/>
              <a:t>) = utility an individual receives from real wealth (</a:t>
            </a:r>
            <a:r>
              <a:rPr lang="en-US" altLang="en-US" i="1" dirty="0"/>
              <a:t>W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 err="1"/>
              <a:t>c</a:t>
            </a:r>
            <a:r>
              <a:rPr lang="en-US" altLang="en-US" dirty="0" err="1"/>
              <a:t>,</a:t>
            </a:r>
            <a:r>
              <a:rPr lang="en-US" altLang="en-US" i="1" dirty="0" err="1"/>
              <a:t>h</a:t>
            </a:r>
            <a:r>
              <a:rPr lang="en-US" altLang="en-US" dirty="0"/>
              <a:t>) = utility from consumption (</a:t>
            </a:r>
            <a:r>
              <a:rPr lang="en-US" altLang="en-US" i="1" dirty="0"/>
              <a:t>c</a:t>
            </a:r>
            <a:r>
              <a:rPr lang="en-US" altLang="en-US" dirty="0"/>
              <a:t>) and leisure (</a:t>
            </a:r>
            <a:r>
              <a:rPr lang="en-US" altLang="en-US" i="1" dirty="0"/>
              <a:t>h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,c</a:t>
            </a:r>
            <a:r>
              <a:rPr lang="en-US" altLang="en-US" baseline="-25000" dirty="0"/>
              <a:t>2</a:t>
            </a:r>
            <a:r>
              <a:rPr lang="en-US" altLang="en-US" dirty="0"/>
              <a:t>) = utility from consumption in two different periods</a:t>
            </a:r>
          </a:p>
          <a:p>
            <a:r>
              <a:rPr lang="en-US" altLang="en-US" dirty="0"/>
              <a:t>Two-good utility function </a:t>
            </a:r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More of any particular x</a:t>
            </a:r>
            <a:r>
              <a:rPr lang="en-US" altLang="en-US" baseline="-25000" dirty="0"/>
              <a:t>i</a:t>
            </a:r>
            <a:r>
              <a:rPr lang="en-US" altLang="en-US" dirty="0"/>
              <a:t> during some period is preferred to less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31F69D-4185-4299-90D4-94466D88836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38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3.1	More of a Good Is Preferred to Less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295400"/>
            <a:ext cx="3124200" cy="4830763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sz="2000" dirty="0"/>
              <a:t>The shaded area represents those combinations of x and y that are unambiguously preferred to the combination x*, y*. Ceteris paribus, individuals prefer more of any good rather than less. </a:t>
            </a:r>
          </a:p>
          <a:p>
            <a:pPr>
              <a:spcBef>
                <a:spcPct val="0"/>
              </a:spcBef>
            </a:pPr>
            <a:r>
              <a:rPr lang="en-US" altLang="en-US" sz="2000" dirty="0"/>
              <a:t>Combinations identified by ‘‘?’’ involve ambiguous changes in welfare because they contain more of one good and less of the other.</a:t>
            </a:r>
          </a:p>
        </p:txBody>
      </p:sp>
      <p:sp>
        <p:nvSpPr>
          <p:cNvPr id="30725" name="Footer Placeholder 2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ED2E1C-F59B-4D0D-BFE6-0738F7F7228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63" y="838200"/>
            <a:ext cx="5380037" cy="5273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360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Trades and Substitution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Indifference curve</a:t>
            </a:r>
          </a:p>
          <a:p>
            <a:pPr lvl="1"/>
            <a:r>
              <a:rPr lang="en-US" altLang="en-US"/>
              <a:t>Shows a set of consumption bundles about which the individual is indifferent</a:t>
            </a:r>
          </a:p>
          <a:p>
            <a:pPr lvl="1"/>
            <a:r>
              <a:rPr lang="en-US" altLang="en-US"/>
              <a:t>All consumption bundles that the individual ranks equally </a:t>
            </a:r>
          </a:p>
          <a:p>
            <a:pPr lvl="1"/>
            <a:r>
              <a:rPr lang="en-US" altLang="en-US"/>
              <a:t>The bundles all provide the same level of utility</a:t>
            </a:r>
          </a:p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89C30D-57CC-46D9-8443-CE0BF752191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15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Trades and Substitution</a:t>
            </a:r>
          </a:p>
        </p:txBody>
      </p:sp>
      <p:sp>
        <p:nvSpPr>
          <p:cNvPr id="102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Marginal rate of substitution, MRS</a:t>
            </a:r>
          </a:p>
          <a:p>
            <a:pPr lvl="1"/>
            <a:r>
              <a:rPr lang="en-US" altLang="en-US" dirty="0"/>
              <a:t>The negative of the slope of an indifference curve (</a:t>
            </a:r>
            <a:r>
              <a:rPr lang="en-US" altLang="en-US" i="1" dirty="0"/>
              <a:t>U</a:t>
            </a:r>
            <a:r>
              <a:rPr lang="en-US" altLang="en-US" baseline="-25000" dirty="0"/>
              <a:t>1</a:t>
            </a:r>
            <a:r>
              <a:rPr lang="en-US" altLang="en-US" dirty="0"/>
              <a:t>) at some point</a:t>
            </a:r>
          </a:p>
          <a:p>
            <a:pPr lvl="2"/>
            <a:r>
              <a:rPr lang="en-US" altLang="en-US" dirty="0"/>
              <a:t>Marginal rate of substitution at that point</a:t>
            </a:r>
          </a:p>
          <a:p>
            <a:pPr lvl="1"/>
            <a:r>
              <a:rPr lang="en-US" altLang="en-US" dirty="0"/>
              <a:t>MRS changes as </a:t>
            </a:r>
            <a:r>
              <a:rPr lang="en-US" altLang="en-US" i="1" dirty="0"/>
              <a:t>x</a:t>
            </a:r>
            <a:r>
              <a:rPr lang="en-US" altLang="en-US" dirty="0"/>
              <a:t> and </a:t>
            </a:r>
            <a:r>
              <a:rPr lang="en-US" altLang="en-US" i="1" dirty="0"/>
              <a:t>y</a:t>
            </a:r>
            <a:r>
              <a:rPr lang="en-US" altLang="en-US" dirty="0"/>
              <a:t> change</a:t>
            </a:r>
          </a:p>
          <a:p>
            <a:pPr lvl="2"/>
            <a:r>
              <a:rPr lang="en-US" altLang="en-US" dirty="0"/>
              <a:t>Reflects the individual’s willingness to </a:t>
            </a:r>
            <a:r>
              <a:rPr lang="en-US" altLang="en-US"/>
              <a:t>trade </a:t>
            </a:r>
            <a:r>
              <a:rPr lang="en-US" altLang="en-US" i="1" dirty="0"/>
              <a:t>x</a:t>
            </a:r>
            <a:r>
              <a:rPr lang="en-US" altLang="en-US"/>
              <a:t> for </a:t>
            </a:r>
            <a:r>
              <a:rPr lang="en-US" altLang="en-US" i="1" dirty="0"/>
              <a:t>y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D10244-501F-483C-910F-6B9A533D1151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2906713" y="4810125"/>
          <a:ext cx="3140075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8" name="Equation" r:id="rId3" imgW="1091880" imgH="469800" progId="Equation.DSMT4">
                  <p:embed/>
                </p:oleObj>
              </mc:Choice>
              <mc:Fallback>
                <p:oleObj name="Equation" r:id="rId3" imgW="1091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4810125"/>
                        <a:ext cx="3140075" cy="1350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B4F8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349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3.2	A Single Indifference Curve</a:t>
            </a:r>
          </a:p>
        </p:txBody>
      </p:sp>
      <p:sp>
        <p:nvSpPr>
          <p:cNvPr id="32771" name="Text Placeholder 2"/>
          <p:cNvSpPr>
            <a:spLocks noGrp="1"/>
          </p:cNvSpPr>
          <p:nvPr>
            <p:ph sz="half" idx="1"/>
          </p:nvPr>
        </p:nvSpPr>
        <p:spPr>
          <a:xfrm>
            <a:off x="152400" y="4541252"/>
            <a:ext cx="8839200" cy="170714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curve </a:t>
            </a:r>
            <a:r>
              <a:rPr lang="en-US" altLang="en-US" i="1" dirty="0"/>
              <a:t>U</a:t>
            </a:r>
            <a:r>
              <a:rPr lang="en-US" altLang="en-US" baseline="-25000" dirty="0"/>
              <a:t>1</a:t>
            </a:r>
            <a:r>
              <a:rPr lang="en-US" altLang="en-US" dirty="0"/>
              <a:t> represents those combinations of x and y from which the individual derives the same utility. The slope of this curve represents the rate at which the individual is willing to trade x for y while remaining equally well off. This slope (or, more properly, the negative of the slope) is termed the </a:t>
            </a:r>
            <a:r>
              <a:rPr lang="en-US" altLang="en-US" u="sng" dirty="0"/>
              <a:t>marginal rate of substitution</a:t>
            </a:r>
            <a:r>
              <a:rPr lang="en-US" altLang="en-US" dirty="0"/>
              <a:t>. In the figure, the indifference curve is drawn on the assumption of a diminishing marginal rate of substitution.</a:t>
            </a:r>
          </a:p>
        </p:txBody>
      </p:sp>
      <p:sp>
        <p:nvSpPr>
          <p:cNvPr id="3277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D2884D8-8B69-47B1-9097-37260515A64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pSp>
        <p:nvGrpSpPr>
          <p:cNvPr id="21" name="Group 26"/>
          <p:cNvGrpSpPr>
            <a:grpSpLocks/>
          </p:cNvGrpSpPr>
          <p:nvPr/>
        </p:nvGrpSpPr>
        <p:grpSpPr bwMode="auto">
          <a:xfrm>
            <a:off x="1200150" y="985629"/>
            <a:ext cx="5834628" cy="3310355"/>
            <a:chOff x="1200813" y="986367"/>
            <a:chExt cx="5834628" cy="3310354"/>
          </a:xfrm>
        </p:grpSpPr>
        <p:grpSp>
          <p:nvGrpSpPr>
            <p:cNvPr id="32789" name="Group 24"/>
            <p:cNvGrpSpPr>
              <a:grpSpLocks/>
            </p:cNvGrpSpPr>
            <p:nvPr/>
          </p:nvGrpSpPr>
          <p:grpSpPr bwMode="auto">
            <a:xfrm>
              <a:off x="2253325" y="3958167"/>
              <a:ext cx="4782116" cy="338554"/>
              <a:chOff x="2253325" y="3958167"/>
              <a:chExt cx="4782116" cy="338554"/>
            </a:xfrm>
          </p:grpSpPr>
          <p:sp>
            <p:nvSpPr>
              <p:cNvPr id="32793" name="Line 5"/>
              <p:cNvSpPr>
                <a:spLocks noChangeShapeType="1"/>
              </p:cNvSpPr>
              <p:nvPr/>
            </p:nvSpPr>
            <p:spPr bwMode="auto">
              <a:xfrm>
                <a:off x="2253325" y="4158400"/>
                <a:ext cx="3276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 sz="1600"/>
              </a:p>
            </p:txBody>
          </p:sp>
          <p:sp>
            <p:nvSpPr>
              <p:cNvPr id="32794" name="Text Box 6"/>
              <p:cNvSpPr txBox="1">
                <a:spLocks noChangeArrowheads="1"/>
              </p:cNvSpPr>
              <p:nvPr/>
            </p:nvSpPr>
            <p:spPr bwMode="auto">
              <a:xfrm>
                <a:off x="5696613" y="3958167"/>
                <a:ext cx="133882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600"/>
                  <a:t>Quantity of x</a:t>
                </a:r>
              </a:p>
            </p:txBody>
          </p:sp>
        </p:grpSp>
        <p:grpSp>
          <p:nvGrpSpPr>
            <p:cNvPr id="32790" name="Group 25"/>
            <p:cNvGrpSpPr>
              <a:grpSpLocks/>
            </p:cNvGrpSpPr>
            <p:nvPr/>
          </p:nvGrpSpPr>
          <p:grpSpPr bwMode="auto">
            <a:xfrm>
              <a:off x="1200813" y="986367"/>
              <a:ext cx="1338828" cy="3172033"/>
              <a:chOff x="1200813" y="986367"/>
              <a:chExt cx="1338828" cy="3172033"/>
            </a:xfrm>
          </p:grpSpPr>
          <p:sp>
            <p:nvSpPr>
              <p:cNvPr id="32791" name="Line 4"/>
              <p:cNvSpPr>
                <a:spLocks noChangeShapeType="1"/>
              </p:cNvSpPr>
              <p:nvPr/>
            </p:nvSpPr>
            <p:spPr bwMode="auto">
              <a:xfrm>
                <a:off x="2253325" y="1339000"/>
                <a:ext cx="0" cy="2819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 sz="1600"/>
              </a:p>
            </p:txBody>
          </p:sp>
          <p:sp>
            <p:nvSpPr>
              <p:cNvPr id="32792" name="Text Box 7"/>
              <p:cNvSpPr txBox="1">
                <a:spLocks noChangeArrowheads="1"/>
              </p:cNvSpPr>
              <p:nvPr/>
            </p:nvSpPr>
            <p:spPr bwMode="auto">
              <a:xfrm>
                <a:off x="1200813" y="986367"/>
                <a:ext cx="133882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600"/>
                  <a:t>Quantity of y</a:t>
                </a:r>
              </a:p>
            </p:txBody>
          </p:sp>
        </p:grp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1719263" y="2739024"/>
            <a:ext cx="1752600" cy="1800642"/>
            <a:chOff x="1719925" y="2739762"/>
            <a:chExt cx="1752600" cy="1800641"/>
          </a:xfrm>
        </p:grpSpPr>
        <p:sp>
          <p:nvSpPr>
            <p:cNvPr id="32785" name="Text Box 8"/>
            <p:cNvSpPr txBox="1">
              <a:spLocks noChangeArrowheads="1"/>
            </p:cNvSpPr>
            <p:nvPr/>
          </p:nvSpPr>
          <p:spPr bwMode="auto">
            <a:xfrm>
              <a:off x="2939125" y="4201849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 dirty="0"/>
                <a:t>x</a:t>
              </a:r>
              <a:r>
                <a:rPr lang="en-US" altLang="en-US" sz="1600" b="1" baseline="-25000" dirty="0"/>
                <a:t>1</a:t>
              </a:r>
              <a:endParaRPr lang="en-US" altLang="en-US" sz="1600" b="1" dirty="0"/>
            </a:p>
          </p:txBody>
        </p:sp>
        <p:sp>
          <p:nvSpPr>
            <p:cNvPr id="32786" name="Text Box 9"/>
            <p:cNvSpPr txBox="1">
              <a:spLocks noChangeArrowheads="1"/>
            </p:cNvSpPr>
            <p:nvPr/>
          </p:nvSpPr>
          <p:spPr bwMode="auto">
            <a:xfrm>
              <a:off x="1719925" y="2739762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 dirty="0"/>
                <a:t>y</a:t>
              </a:r>
              <a:r>
                <a:rPr lang="en-US" altLang="en-US" sz="1600" b="1" baseline="-25000" dirty="0"/>
                <a:t>1</a:t>
              </a:r>
              <a:endParaRPr lang="en-US" altLang="en-US" sz="1600" b="1" dirty="0"/>
            </a:p>
          </p:txBody>
        </p:sp>
        <p:sp>
          <p:nvSpPr>
            <p:cNvPr id="32787" name="Line 10"/>
            <p:cNvSpPr>
              <a:spLocks noChangeShapeType="1"/>
            </p:cNvSpPr>
            <p:nvPr/>
          </p:nvSpPr>
          <p:spPr bwMode="auto">
            <a:xfrm flipV="1">
              <a:off x="3167725" y="2939200"/>
              <a:ext cx="0" cy="12192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600"/>
            </a:p>
          </p:txBody>
        </p:sp>
        <p:sp>
          <p:nvSpPr>
            <p:cNvPr id="32788" name="Line 11"/>
            <p:cNvSpPr>
              <a:spLocks noChangeShapeType="1"/>
            </p:cNvSpPr>
            <p:nvPr/>
          </p:nvSpPr>
          <p:spPr bwMode="auto">
            <a:xfrm flipH="1">
              <a:off x="2253325" y="2939200"/>
              <a:ext cx="914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600"/>
            </a:p>
          </p:txBody>
        </p:sp>
      </p:grpSp>
      <p:grpSp>
        <p:nvGrpSpPr>
          <p:cNvPr id="25" name="Group 22"/>
          <p:cNvGrpSpPr>
            <a:grpSpLocks/>
          </p:cNvGrpSpPr>
          <p:nvPr/>
        </p:nvGrpSpPr>
        <p:grpSpPr bwMode="auto">
          <a:xfrm>
            <a:off x="1719263" y="3272423"/>
            <a:ext cx="2667000" cy="1268829"/>
            <a:chOff x="1719925" y="3273161"/>
            <a:chExt cx="2667000" cy="1268829"/>
          </a:xfrm>
        </p:grpSpPr>
        <p:sp>
          <p:nvSpPr>
            <p:cNvPr id="32781" name="Line 28"/>
            <p:cNvSpPr>
              <a:spLocks noChangeShapeType="1"/>
            </p:cNvSpPr>
            <p:nvPr/>
          </p:nvSpPr>
          <p:spPr bwMode="auto">
            <a:xfrm>
              <a:off x="2253325" y="3396400"/>
              <a:ext cx="1905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 sz="1600"/>
            </a:p>
          </p:txBody>
        </p:sp>
        <p:sp>
          <p:nvSpPr>
            <p:cNvPr id="32782" name="Line 29"/>
            <p:cNvSpPr>
              <a:spLocks noChangeShapeType="1"/>
            </p:cNvSpPr>
            <p:nvPr/>
          </p:nvSpPr>
          <p:spPr bwMode="auto">
            <a:xfrm>
              <a:off x="4082125" y="3396400"/>
              <a:ext cx="0" cy="76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 sz="1600"/>
            </a:p>
          </p:txBody>
        </p:sp>
        <p:sp>
          <p:nvSpPr>
            <p:cNvPr id="32783" name="Text Box 30"/>
            <p:cNvSpPr txBox="1">
              <a:spLocks noChangeArrowheads="1"/>
            </p:cNvSpPr>
            <p:nvPr/>
          </p:nvSpPr>
          <p:spPr bwMode="auto">
            <a:xfrm>
              <a:off x="1719925" y="3273161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/>
                <a:t>y</a:t>
              </a:r>
              <a:r>
                <a:rPr lang="en-US" altLang="en-US" sz="1600" b="1" baseline="-25000"/>
                <a:t>2</a:t>
              </a:r>
              <a:endParaRPr lang="en-US" altLang="en-US" sz="1600" b="1"/>
            </a:p>
          </p:txBody>
        </p:sp>
        <p:sp>
          <p:nvSpPr>
            <p:cNvPr id="32784" name="Text Box 31"/>
            <p:cNvSpPr txBox="1">
              <a:spLocks noChangeArrowheads="1"/>
            </p:cNvSpPr>
            <p:nvPr/>
          </p:nvSpPr>
          <p:spPr bwMode="auto">
            <a:xfrm>
              <a:off x="3853525" y="4203436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/>
                <a:t>x</a:t>
              </a:r>
              <a:r>
                <a:rPr lang="en-US" altLang="en-US" sz="1600" b="1" baseline="-25000"/>
                <a:t>2</a:t>
              </a:r>
              <a:endParaRPr lang="en-US" altLang="en-US" sz="1600" b="1"/>
            </a:p>
          </p:txBody>
        </p:sp>
      </p:grpSp>
      <p:grpSp>
        <p:nvGrpSpPr>
          <p:cNvPr id="26" name="Group 23"/>
          <p:cNvGrpSpPr>
            <a:grpSpLocks/>
          </p:cNvGrpSpPr>
          <p:nvPr/>
        </p:nvGrpSpPr>
        <p:grpSpPr bwMode="auto">
          <a:xfrm>
            <a:off x="2605088" y="1504950"/>
            <a:ext cx="2847975" cy="2181225"/>
            <a:chOff x="2605750" y="1505688"/>
            <a:chExt cx="2847975" cy="2181225"/>
          </a:xfrm>
        </p:grpSpPr>
        <p:sp>
          <p:nvSpPr>
            <p:cNvPr id="32779" name="Freeform 27"/>
            <p:cNvSpPr>
              <a:spLocks/>
            </p:cNvSpPr>
            <p:nvPr/>
          </p:nvSpPr>
          <p:spPr bwMode="auto">
            <a:xfrm>
              <a:off x="2605750" y="1505688"/>
              <a:ext cx="2362200" cy="2000250"/>
            </a:xfrm>
            <a:custGeom>
              <a:avLst/>
              <a:gdLst>
                <a:gd name="T0" fmla="*/ 0 w 1488"/>
                <a:gd name="T1" fmla="*/ 0 h 1248"/>
                <a:gd name="T2" fmla="*/ 432 w 1488"/>
                <a:gd name="T3" fmla="*/ 960 h 1248"/>
                <a:gd name="T4" fmla="*/ 1488 w 1488"/>
                <a:gd name="T5" fmla="*/ 1248 h 1248"/>
                <a:gd name="T6" fmla="*/ 0 60000 65536"/>
                <a:gd name="T7" fmla="*/ 0 60000 65536"/>
                <a:gd name="T8" fmla="*/ 0 60000 65536"/>
                <a:gd name="T9" fmla="*/ 0 w 1488"/>
                <a:gd name="T10" fmla="*/ 0 h 1248"/>
                <a:gd name="T11" fmla="*/ 1488 w 1488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248">
                  <a:moveTo>
                    <a:pt x="0" y="0"/>
                  </a:moveTo>
                  <a:cubicBezTo>
                    <a:pt x="92" y="376"/>
                    <a:pt x="184" y="752"/>
                    <a:pt x="432" y="960"/>
                  </a:cubicBezTo>
                  <a:cubicBezTo>
                    <a:pt x="680" y="1168"/>
                    <a:pt x="1084" y="1208"/>
                    <a:pt x="1488" y="124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0" name="Text Box 32"/>
            <p:cNvSpPr txBox="1">
              <a:spLocks noChangeArrowheads="1"/>
            </p:cNvSpPr>
            <p:nvPr/>
          </p:nvSpPr>
          <p:spPr bwMode="auto">
            <a:xfrm>
              <a:off x="4920325" y="3350363"/>
              <a:ext cx="533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>
                  <a:solidFill>
                    <a:srgbClr val="000099"/>
                  </a:solidFill>
                </a:rPr>
                <a:t>U</a:t>
              </a:r>
              <a:r>
                <a:rPr lang="en-US" altLang="en-US" sz="1600" b="1" baseline="-25000">
                  <a:solidFill>
                    <a:srgbClr val="000099"/>
                  </a:solidFill>
                </a:rPr>
                <a:t>1</a:t>
              </a:r>
              <a:endParaRPr lang="en-US" altLang="en-US" sz="1600" b="1">
                <a:solidFill>
                  <a:srgbClr val="00009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50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Trades and Substitution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Indifference curve map</a:t>
            </a:r>
          </a:p>
          <a:p>
            <a:pPr lvl="1"/>
            <a:r>
              <a:rPr lang="en-US" altLang="en-US"/>
              <a:t>Several indifference curves</a:t>
            </a:r>
          </a:p>
          <a:p>
            <a:pPr lvl="1"/>
            <a:r>
              <a:rPr lang="en-US" altLang="en-US"/>
              <a:t>Level of utility represented by these curves increases as we move in a northeast direction</a:t>
            </a:r>
          </a:p>
          <a:p>
            <a:pPr lvl="2"/>
            <a:r>
              <a:rPr lang="en-US" altLang="en-US"/>
              <a:t>More of a good is preferred to less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B45DC8-1FBF-4DDC-BD83-04A1774ED46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55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3.3	There Are Infinitely Many Indifference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>
                <a:solidFill>
                  <a:srgbClr val="002D56"/>
                </a:solidFill>
              </a:rPr>
              <a:t>Curves in the x–y Plane</a:t>
            </a:r>
          </a:p>
        </p:txBody>
      </p:sp>
      <p:sp>
        <p:nvSpPr>
          <p:cNvPr id="34819" name="Text Placeholder 2"/>
          <p:cNvSpPr>
            <a:spLocks noGrp="1"/>
          </p:cNvSpPr>
          <p:nvPr>
            <p:ph sz="half" idx="1"/>
          </p:nvPr>
        </p:nvSpPr>
        <p:spPr>
          <a:xfrm>
            <a:off x="152400" y="4800600"/>
            <a:ext cx="8839200" cy="152399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There is an indifference curve passing through each point in the x–y plane. Each of these curves records combinations of x and y from which the individual receives a certain level of satisfaction. </a:t>
            </a:r>
          </a:p>
          <a:p>
            <a:pPr>
              <a:spcBef>
                <a:spcPct val="0"/>
              </a:spcBef>
            </a:pPr>
            <a:r>
              <a:rPr lang="en-US" altLang="en-US" dirty="0"/>
              <a:t>Movements in a northeast direction represent movements to higher levels of satisfaction.</a:t>
            </a:r>
          </a:p>
        </p:txBody>
      </p:sp>
      <p:sp>
        <p:nvSpPr>
          <p:cNvPr id="3482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F7B960-DFC9-43D8-9F30-983A628219A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grpSp>
        <p:nvGrpSpPr>
          <p:cNvPr id="12" name="Group 21"/>
          <p:cNvGrpSpPr>
            <a:grpSpLocks/>
          </p:cNvGrpSpPr>
          <p:nvPr/>
        </p:nvGrpSpPr>
        <p:grpSpPr bwMode="auto">
          <a:xfrm>
            <a:off x="987425" y="1339850"/>
            <a:ext cx="5962650" cy="3338513"/>
            <a:chOff x="987076" y="1340366"/>
            <a:chExt cx="5962650" cy="3338512"/>
          </a:xfrm>
        </p:grpSpPr>
        <p:sp>
          <p:nvSpPr>
            <p:cNvPr id="34835" name="Line 4"/>
            <p:cNvSpPr>
              <a:spLocks noChangeShapeType="1"/>
            </p:cNvSpPr>
            <p:nvPr/>
          </p:nvSpPr>
          <p:spPr bwMode="auto">
            <a:xfrm>
              <a:off x="2039588" y="1707078"/>
              <a:ext cx="0" cy="2819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836" name="Line 5"/>
            <p:cNvSpPr>
              <a:spLocks noChangeShapeType="1"/>
            </p:cNvSpPr>
            <p:nvPr/>
          </p:nvSpPr>
          <p:spPr bwMode="auto">
            <a:xfrm>
              <a:off x="2039588" y="4526478"/>
              <a:ext cx="3276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837" name="Text Box 6"/>
            <p:cNvSpPr txBox="1">
              <a:spLocks noChangeArrowheads="1"/>
            </p:cNvSpPr>
            <p:nvPr/>
          </p:nvSpPr>
          <p:spPr bwMode="auto">
            <a:xfrm>
              <a:off x="5482876" y="4312166"/>
              <a:ext cx="14668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Quantity of x</a:t>
              </a:r>
            </a:p>
          </p:txBody>
        </p:sp>
        <p:sp>
          <p:nvSpPr>
            <p:cNvPr id="34838" name="Text Box 7"/>
            <p:cNvSpPr txBox="1">
              <a:spLocks noChangeArrowheads="1"/>
            </p:cNvSpPr>
            <p:nvPr/>
          </p:nvSpPr>
          <p:spPr bwMode="auto">
            <a:xfrm>
              <a:off x="987076" y="1340366"/>
              <a:ext cx="14668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Quantity of y</a:t>
              </a:r>
            </a:p>
          </p:txBody>
        </p:sp>
      </p:grpSp>
      <p:sp>
        <p:nvSpPr>
          <p:cNvPr id="11" name="Text Box 30"/>
          <p:cNvSpPr txBox="1">
            <a:spLocks noChangeArrowheads="1"/>
          </p:cNvSpPr>
          <p:nvPr/>
        </p:nvSpPr>
        <p:spPr bwMode="auto">
          <a:xfrm>
            <a:off x="6046788" y="1722438"/>
            <a:ext cx="2232025" cy="534987"/>
          </a:xfrm>
          <a:prstGeom prst="rect">
            <a:avLst/>
          </a:prstGeom>
          <a:noFill/>
          <a:ln w="15875">
            <a:solidFill>
              <a:srgbClr val="7B332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800" i="1">
                <a:solidFill>
                  <a:srgbClr val="FF0000"/>
                </a:solidFill>
              </a:rPr>
              <a:t>U</a:t>
            </a:r>
            <a:r>
              <a:rPr lang="en-US" altLang="en-US" sz="2800" baseline="-25000">
                <a:solidFill>
                  <a:srgbClr val="FF0000"/>
                </a:solidFill>
              </a:rPr>
              <a:t>1</a:t>
            </a:r>
            <a:r>
              <a:rPr lang="en-US" altLang="en-US" sz="2800">
                <a:solidFill>
                  <a:srgbClr val="FF0000"/>
                </a:solidFill>
              </a:rPr>
              <a:t> &lt; </a:t>
            </a:r>
            <a:r>
              <a:rPr lang="en-US" altLang="en-US" sz="2800" i="1">
                <a:solidFill>
                  <a:srgbClr val="FF0000"/>
                </a:solidFill>
              </a:rPr>
              <a:t>U</a:t>
            </a:r>
            <a:r>
              <a:rPr lang="en-US" altLang="en-US" sz="2800" baseline="-25000">
                <a:solidFill>
                  <a:srgbClr val="FF0000"/>
                </a:solidFill>
              </a:rPr>
              <a:t>2</a:t>
            </a:r>
            <a:r>
              <a:rPr lang="en-US" altLang="en-US" sz="2800">
                <a:solidFill>
                  <a:srgbClr val="FF0000"/>
                </a:solidFill>
              </a:rPr>
              <a:t> &lt; </a:t>
            </a:r>
            <a:r>
              <a:rPr lang="en-US" altLang="en-US" sz="2800" i="1">
                <a:solidFill>
                  <a:srgbClr val="FF0000"/>
                </a:solidFill>
              </a:rPr>
              <a:t>U</a:t>
            </a:r>
            <a:r>
              <a:rPr lang="en-US" altLang="en-US" sz="2800" baseline="-25000">
                <a:solidFill>
                  <a:srgbClr val="FF0000"/>
                </a:solidFill>
              </a:rPr>
              <a:t>3</a:t>
            </a:r>
            <a:endParaRPr lang="en-US" altLang="en-US" sz="2800">
              <a:solidFill>
                <a:srgbClr val="FF0000"/>
              </a:solidFill>
            </a:endParaRPr>
          </a:p>
        </p:txBody>
      </p:sp>
      <p:grpSp>
        <p:nvGrpSpPr>
          <p:cNvPr id="19" name="Group 36"/>
          <p:cNvGrpSpPr>
            <a:grpSpLocks/>
          </p:cNvGrpSpPr>
          <p:nvPr/>
        </p:nvGrpSpPr>
        <p:grpSpPr bwMode="auto">
          <a:xfrm>
            <a:off x="2116138" y="1463675"/>
            <a:ext cx="4078287" cy="2933700"/>
            <a:chOff x="1056" y="2016"/>
            <a:chExt cx="2569" cy="1848"/>
          </a:xfrm>
        </p:grpSpPr>
        <p:sp>
          <p:nvSpPr>
            <p:cNvPr id="34826" name="Freeform 12"/>
            <p:cNvSpPr>
              <a:spLocks/>
            </p:cNvSpPr>
            <p:nvPr/>
          </p:nvSpPr>
          <p:spPr bwMode="auto">
            <a:xfrm>
              <a:off x="1248" y="2256"/>
              <a:ext cx="1488" cy="1248"/>
            </a:xfrm>
            <a:custGeom>
              <a:avLst/>
              <a:gdLst>
                <a:gd name="T0" fmla="*/ 0 w 1488"/>
                <a:gd name="T1" fmla="*/ 0 h 1248"/>
                <a:gd name="T2" fmla="*/ 432 w 1488"/>
                <a:gd name="T3" fmla="*/ 960 h 1248"/>
                <a:gd name="T4" fmla="*/ 1488 w 1488"/>
                <a:gd name="T5" fmla="*/ 1248 h 1248"/>
                <a:gd name="T6" fmla="*/ 0 60000 65536"/>
                <a:gd name="T7" fmla="*/ 0 60000 65536"/>
                <a:gd name="T8" fmla="*/ 0 60000 65536"/>
                <a:gd name="T9" fmla="*/ 0 w 1488"/>
                <a:gd name="T10" fmla="*/ 0 h 1248"/>
                <a:gd name="T11" fmla="*/ 1488 w 1488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248">
                  <a:moveTo>
                    <a:pt x="0" y="0"/>
                  </a:moveTo>
                  <a:cubicBezTo>
                    <a:pt x="92" y="376"/>
                    <a:pt x="184" y="752"/>
                    <a:pt x="432" y="960"/>
                  </a:cubicBezTo>
                  <a:cubicBezTo>
                    <a:pt x="680" y="1168"/>
                    <a:pt x="1084" y="1208"/>
                    <a:pt x="1488" y="124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827" name="Text Box 17"/>
            <p:cNvSpPr txBox="1">
              <a:spLocks noChangeArrowheads="1"/>
            </p:cNvSpPr>
            <p:nvPr/>
          </p:nvSpPr>
          <p:spPr bwMode="auto">
            <a:xfrm>
              <a:off x="2592" y="3631"/>
              <a:ext cx="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1</a:t>
              </a:r>
              <a:endParaRPr lang="en-US" altLang="en-US" sz="1800">
                <a:solidFill>
                  <a:srgbClr val="000099"/>
                </a:solidFill>
              </a:endParaRPr>
            </a:p>
          </p:txBody>
        </p:sp>
        <p:sp>
          <p:nvSpPr>
            <p:cNvPr id="34828" name="Freeform 24"/>
            <p:cNvSpPr>
              <a:spLocks/>
            </p:cNvSpPr>
            <p:nvPr/>
          </p:nvSpPr>
          <p:spPr bwMode="auto">
            <a:xfrm>
              <a:off x="1056" y="2544"/>
              <a:ext cx="1488" cy="1248"/>
            </a:xfrm>
            <a:custGeom>
              <a:avLst/>
              <a:gdLst>
                <a:gd name="T0" fmla="*/ 0 w 1488"/>
                <a:gd name="T1" fmla="*/ 0 h 1248"/>
                <a:gd name="T2" fmla="*/ 432 w 1488"/>
                <a:gd name="T3" fmla="*/ 960 h 1248"/>
                <a:gd name="T4" fmla="*/ 1488 w 1488"/>
                <a:gd name="T5" fmla="*/ 1248 h 1248"/>
                <a:gd name="T6" fmla="*/ 0 60000 65536"/>
                <a:gd name="T7" fmla="*/ 0 60000 65536"/>
                <a:gd name="T8" fmla="*/ 0 60000 65536"/>
                <a:gd name="T9" fmla="*/ 0 w 1488"/>
                <a:gd name="T10" fmla="*/ 0 h 1248"/>
                <a:gd name="T11" fmla="*/ 1488 w 1488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248">
                  <a:moveTo>
                    <a:pt x="0" y="0"/>
                  </a:moveTo>
                  <a:cubicBezTo>
                    <a:pt x="92" y="376"/>
                    <a:pt x="184" y="752"/>
                    <a:pt x="432" y="960"/>
                  </a:cubicBezTo>
                  <a:cubicBezTo>
                    <a:pt x="680" y="1168"/>
                    <a:pt x="1084" y="1208"/>
                    <a:pt x="1488" y="124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829" name="Freeform 25"/>
            <p:cNvSpPr>
              <a:spLocks/>
            </p:cNvSpPr>
            <p:nvPr/>
          </p:nvSpPr>
          <p:spPr bwMode="auto">
            <a:xfrm>
              <a:off x="1488" y="2016"/>
              <a:ext cx="1488" cy="1248"/>
            </a:xfrm>
            <a:custGeom>
              <a:avLst/>
              <a:gdLst>
                <a:gd name="T0" fmla="*/ 0 w 1488"/>
                <a:gd name="T1" fmla="*/ 0 h 1248"/>
                <a:gd name="T2" fmla="*/ 432 w 1488"/>
                <a:gd name="T3" fmla="*/ 960 h 1248"/>
                <a:gd name="T4" fmla="*/ 1488 w 1488"/>
                <a:gd name="T5" fmla="*/ 1248 h 1248"/>
                <a:gd name="T6" fmla="*/ 0 60000 65536"/>
                <a:gd name="T7" fmla="*/ 0 60000 65536"/>
                <a:gd name="T8" fmla="*/ 0 60000 65536"/>
                <a:gd name="T9" fmla="*/ 0 w 1488"/>
                <a:gd name="T10" fmla="*/ 0 h 1248"/>
                <a:gd name="T11" fmla="*/ 1488 w 1488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248">
                  <a:moveTo>
                    <a:pt x="0" y="0"/>
                  </a:moveTo>
                  <a:cubicBezTo>
                    <a:pt x="92" y="376"/>
                    <a:pt x="184" y="752"/>
                    <a:pt x="432" y="960"/>
                  </a:cubicBezTo>
                  <a:cubicBezTo>
                    <a:pt x="680" y="1168"/>
                    <a:pt x="1084" y="1208"/>
                    <a:pt x="1488" y="124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4830" name="Text Box 26"/>
            <p:cNvSpPr txBox="1">
              <a:spLocks noChangeArrowheads="1"/>
            </p:cNvSpPr>
            <p:nvPr/>
          </p:nvSpPr>
          <p:spPr bwMode="auto">
            <a:xfrm>
              <a:off x="2784" y="3343"/>
              <a:ext cx="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2</a:t>
              </a:r>
              <a:endParaRPr lang="en-US" altLang="en-US" sz="1800">
                <a:solidFill>
                  <a:srgbClr val="000099"/>
                </a:solidFill>
              </a:endParaRPr>
            </a:p>
          </p:txBody>
        </p:sp>
        <p:sp>
          <p:nvSpPr>
            <p:cNvPr id="34831" name="Text Box 27"/>
            <p:cNvSpPr txBox="1">
              <a:spLocks noChangeArrowheads="1"/>
            </p:cNvSpPr>
            <p:nvPr/>
          </p:nvSpPr>
          <p:spPr bwMode="auto">
            <a:xfrm>
              <a:off x="3024" y="3151"/>
              <a:ext cx="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99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000099"/>
                  </a:solidFill>
                </a:rPr>
                <a:t>3</a:t>
              </a:r>
              <a:endParaRPr lang="en-US" altLang="en-US" sz="1800">
                <a:solidFill>
                  <a:srgbClr val="000099"/>
                </a:solidFill>
              </a:endParaRPr>
            </a:p>
          </p:txBody>
        </p:sp>
        <p:grpSp>
          <p:nvGrpSpPr>
            <p:cNvPr id="34832" name="Group 35"/>
            <p:cNvGrpSpPr>
              <a:grpSpLocks/>
            </p:cNvGrpSpPr>
            <p:nvPr/>
          </p:nvGrpSpPr>
          <p:grpSpPr bwMode="auto">
            <a:xfrm>
              <a:off x="2064" y="2256"/>
              <a:ext cx="1561" cy="624"/>
              <a:chOff x="2064" y="2256"/>
              <a:chExt cx="1561" cy="624"/>
            </a:xfrm>
          </p:grpSpPr>
          <p:sp>
            <p:nvSpPr>
              <p:cNvPr id="34833" name="Line 32"/>
              <p:cNvSpPr>
                <a:spLocks noChangeShapeType="1"/>
              </p:cNvSpPr>
              <p:nvPr/>
            </p:nvSpPr>
            <p:spPr bwMode="auto">
              <a:xfrm flipV="1">
                <a:off x="2064" y="2256"/>
                <a:ext cx="624" cy="624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34" name="Text Box 33"/>
              <p:cNvSpPr txBox="1">
                <a:spLocks noChangeArrowheads="1"/>
              </p:cNvSpPr>
              <p:nvPr/>
            </p:nvSpPr>
            <p:spPr bwMode="auto">
              <a:xfrm>
                <a:off x="2467" y="2544"/>
                <a:ext cx="115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99"/>
                    </a:solidFill>
                  </a:rPr>
                  <a:t>Increasing utility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435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Trades and Substitution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Indifference curves and transitivity</a:t>
            </a:r>
          </a:p>
          <a:p>
            <a:pPr lvl="1"/>
            <a:r>
              <a:rPr lang="en-US" altLang="en-US" sz="2000" dirty="0"/>
              <a:t>Indifference curves cannot intersect </a:t>
            </a:r>
          </a:p>
          <a:p>
            <a:r>
              <a:rPr lang="en-US" altLang="en-US" dirty="0"/>
              <a:t>A set of points is </a:t>
            </a:r>
            <a:r>
              <a:rPr lang="en-US" altLang="en-US" u="sng" dirty="0"/>
              <a:t>convex</a:t>
            </a:r>
          </a:p>
          <a:p>
            <a:pPr lvl="1"/>
            <a:r>
              <a:rPr lang="en-US" altLang="en-US" sz="2000" dirty="0"/>
              <a:t>If any two points can be joined by a straight line that is contained completely within the set</a:t>
            </a:r>
          </a:p>
          <a:p>
            <a:r>
              <a:rPr lang="en-US" altLang="en-US" dirty="0"/>
              <a:t>Convexity of indifference curves</a:t>
            </a:r>
          </a:p>
          <a:p>
            <a:pPr lvl="1"/>
            <a:r>
              <a:rPr lang="en-US" altLang="en-US" sz="2000" dirty="0"/>
              <a:t>Diminishing MRS</a:t>
            </a:r>
          </a:p>
          <a:p>
            <a:pPr lvl="1"/>
            <a:r>
              <a:rPr lang="en-US" sz="2000" b="0" i="0" u="none" strike="noStrike" baseline="0" dirty="0">
                <a:solidFill>
                  <a:srgbClr val="0F4458"/>
                </a:solidFill>
                <a:latin typeface="MinionPro-Regular"/>
              </a:rPr>
              <a:t>all combinations of </a:t>
            </a:r>
            <a:r>
              <a:rPr lang="en-US" sz="2000" b="0" i="1" u="none" strike="noStrike" baseline="0" dirty="0">
                <a:solidFill>
                  <a:srgbClr val="0F4458"/>
                </a:solidFill>
                <a:latin typeface="MinionPro-It"/>
              </a:rPr>
              <a:t>x </a:t>
            </a:r>
            <a:r>
              <a:rPr lang="en-US" sz="2000" b="0" i="0" u="none" strike="noStrike" baseline="0" dirty="0">
                <a:solidFill>
                  <a:srgbClr val="0F4458"/>
                </a:solidFill>
                <a:latin typeface="MinionPro-Regular"/>
              </a:rPr>
              <a:t>and </a:t>
            </a:r>
            <a:r>
              <a:rPr lang="en-US" sz="2000" b="0" i="1" u="none" strike="noStrike" baseline="0" dirty="0">
                <a:solidFill>
                  <a:srgbClr val="0F4458"/>
                </a:solidFill>
                <a:latin typeface="MinionPro-It"/>
              </a:rPr>
              <a:t>y </a:t>
            </a:r>
            <a:r>
              <a:rPr lang="en-US" sz="2000" b="0" i="0" u="none" strike="noStrike" baseline="0" dirty="0">
                <a:solidFill>
                  <a:srgbClr val="0F4458"/>
                </a:solidFill>
                <a:latin typeface="MinionPro-Regular"/>
              </a:rPr>
              <a:t>that are preferred or indifferent to a particular combination </a:t>
            </a:r>
            <a:r>
              <a:rPr lang="en-US" sz="2000" b="0" i="1" u="none" strike="noStrike" baseline="0" dirty="0">
                <a:solidFill>
                  <a:srgbClr val="0F4458"/>
                </a:solidFill>
                <a:latin typeface="MinionPro-It"/>
              </a:rPr>
              <a:t>x</a:t>
            </a:r>
            <a:r>
              <a:rPr lang="en-US" sz="2000" b="0" i="0" u="none" strike="noStrike" baseline="0" dirty="0">
                <a:solidFill>
                  <a:srgbClr val="0F4458"/>
                </a:solidFill>
                <a:latin typeface="SymbolStd"/>
              </a:rPr>
              <a:t>∗</a:t>
            </a:r>
            <a:r>
              <a:rPr lang="en-US" sz="2000" b="0" i="0" u="none" strike="noStrike" baseline="0" dirty="0">
                <a:solidFill>
                  <a:srgbClr val="0F4458"/>
                </a:solidFill>
                <a:latin typeface="MinionPro-Regular"/>
              </a:rPr>
              <a:t>, </a:t>
            </a:r>
            <a:r>
              <a:rPr lang="en-US" sz="2000" b="0" i="1" u="none" strike="noStrike" baseline="0" dirty="0">
                <a:solidFill>
                  <a:srgbClr val="0F4458"/>
                </a:solidFill>
                <a:latin typeface="MinionPro-It"/>
              </a:rPr>
              <a:t>y</a:t>
            </a:r>
            <a:r>
              <a:rPr lang="en-US" sz="2000" b="0" i="0" u="none" strike="noStrike" baseline="0" dirty="0">
                <a:solidFill>
                  <a:srgbClr val="0F4458"/>
                </a:solidFill>
                <a:latin typeface="SymbolStd"/>
              </a:rPr>
              <a:t>∗ </a:t>
            </a:r>
            <a:r>
              <a:rPr lang="en-US" sz="2000" b="0" i="0" u="none" strike="noStrike" baseline="0" dirty="0">
                <a:solidFill>
                  <a:srgbClr val="0F4458"/>
                </a:solidFill>
                <a:latin typeface="MinionPro-Regular"/>
              </a:rPr>
              <a:t>form a convex set</a:t>
            </a:r>
            <a:endParaRPr lang="en-US" altLang="en-US" sz="2000" dirty="0"/>
          </a:p>
          <a:p>
            <a:pPr marL="457200" lvl="1" indent="0">
              <a:buNone/>
            </a:pPr>
            <a:endParaRPr lang="en-US" altLang="en-US" sz="2000" dirty="0"/>
          </a:p>
          <a:p>
            <a:pPr marL="457200" lvl="1" indent="0">
              <a:buNone/>
            </a:pPr>
            <a:endParaRPr lang="en-US" altLang="en-US" sz="2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8A1939-3F28-40F3-AF45-2489E6CFDAA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89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416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3.4	Intersecting Indifference Curves Imply 	</a:t>
            </a:r>
            <a:r>
              <a:rPr lang="en-US" altLang="en-US" dirty="0">
                <a:solidFill>
                  <a:srgbClr val="002D56"/>
                </a:solidFill>
              </a:rPr>
              <a:t>Inconsistent Preferences</a:t>
            </a:r>
          </a:p>
        </p:txBody>
      </p:sp>
      <p:sp>
        <p:nvSpPr>
          <p:cNvPr id="36867" name="Text Placeholder 2"/>
          <p:cNvSpPr>
            <a:spLocks noGrp="1"/>
          </p:cNvSpPr>
          <p:nvPr>
            <p:ph sz="half" idx="1"/>
          </p:nvPr>
        </p:nvSpPr>
        <p:spPr>
          <a:xfrm>
            <a:off x="124572" y="4953000"/>
            <a:ext cx="8867028" cy="1416281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Combinations A and D lie on the same indifference curve and therefore are equally desirable. But the axiom of transitivity can be used to show that A is preferred to D. Hence intersecting indifference curves are not consistent with rational preferences. That is, point E cannot represent two different levels of utility.</a:t>
            </a:r>
          </a:p>
        </p:txBody>
      </p:sp>
      <p:sp>
        <p:nvSpPr>
          <p:cNvPr id="36870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FC327E8-6529-4694-9302-040CC63F30A8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1435100" y="1328738"/>
            <a:ext cx="5962650" cy="3338512"/>
            <a:chOff x="1434792" y="1329023"/>
            <a:chExt cx="5962650" cy="3338512"/>
          </a:xfrm>
        </p:grpSpPr>
        <p:grpSp>
          <p:nvGrpSpPr>
            <p:cNvPr id="36893" name="Group 6"/>
            <p:cNvGrpSpPr>
              <a:grpSpLocks/>
            </p:cNvGrpSpPr>
            <p:nvPr/>
          </p:nvGrpSpPr>
          <p:grpSpPr bwMode="auto">
            <a:xfrm>
              <a:off x="2487304" y="4300823"/>
              <a:ext cx="4910138" cy="366712"/>
              <a:chOff x="1600200" y="6034088"/>
              <a:chExt cx="4910138" cy="366712"/>
            </a:xfrm>
          </p:grpSpPr>
          <p:sp>
            <p:nvSpPr>
              <p:cNvPr id="36897" name="Line 5"/>
              <p:cNvSpPr>
                <a:spLocks noChangeShapeType="1"/>
              </p:cNvSpPr>
              <p:nvPr/>
            </p:nvSpPr>
            <p:spPr bwMode="auto">
              <a:xfrm>
                <a:off x="1600200" y="6248400"/>
                <a:ext cx="3276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98" name="Text Box 6"/>
              <p:cNvSpPr txBox="1">
                <a:spLocks noChangeArrowheads="1"/>
              </p:cNvSpPr>
              <p:nvPr/>
            </p:nvSpPr>
            <p:spPr bwMode="auto">
              <a:xfrm>
                <a:off x="5043488" y="6034088"/>
                <a:ext cx="14668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x</a:t>
                </a:r>
              </a:p>
            </p:txBody>
          </p:sp>
        </p:grpSp>
        <p:grpSp>
          <p:nvGrpSpPr>
            <p:cNvPr id="36894" name="Group 9"/>
            <p:cNvGrpSpPr>
              <a:grpSpLocks/>
            </p:cNvGrpSpPr>
            <p:nvPr/>
          </p:nvGrpSpPr>
          <p:grpSpPr bwMode="auto">
            <a:xfrm>
              <a:off x="1434792" y="1329023"/>
              <a:ext cx="1466850" cy="3186112"/>
              <a:chOff x="547688" y="3062288"/>
              <a:chExt cx="1466850" cy="3186112"/>
            </a:xfrm>
          </p:grpSpPr>
          <p:sp>
            <p:nvSpPr>
              <p:cNvPr id="36895" name="Line 4"/>
              <p:cNvSpPr>
                <a:spLocks noChangeShapeType="1"/>
              </p:cNvSpPr>
              <p:nvPr/>
            </p:nvSpPr>
            <p:spPr bwMode="auto">
              <a:xfrm>
                <a:off x="1600200" y="3429000"/>
                <a:ext cx="0" cy="28194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96" name="Text Box 7"/>
              <p:cNvSpPr txBox="1">
                <a:spLocks noChangeArrowheads="1"/>
              </p:cNvSpPr>
              <p:nvPr/>
            </p:nvSpPr>
            <p:spPr bwMode="auto">
              <a:xfrm>
                <a:off x="547688" y="3062288"/>
                <a:ext cx="14668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y</a:t>
                </a:r>
              </a:p>
            </p:txBody>
          </p:sp>
        </p:grpSp>
      </p:grpSp>
      <p:grpSp>
        <p:nvGrpSpPr>
          <p:cNvPr id="16" name="Group 12"/>
          <p:cNvGrpSpPr>
            <a:grpSpLocks/>
          </p:cNvGrpSpPr>
          <p:nvPr/>
        </p:nvGrpSpPr>
        <p:grpSpPr bwMode="auto">
          <a:xfrm>
            <a:off x="3021013" y="2000250"/>
            <a:ext cx="3352800" cy="2195513"/>
            <a:chOff x="2133600" y="3733800"/>
            <a:chExt cx="3352800" cy="2195513"/>
          </a:xfrm>
        </p:grpSpPr>
        <p:sp>
          <p:nvSpPr>
            <p:cNvPr id="36891" name="Freeform 27"/>
            <p:cNvSpPr>
              <a:spLocks/>
            </p:cNvSpPr>
            <p:nvPr/>
          </p:nvSpPr>
          <p:spPr bwMode="auto">
            <a:xfrm rot="668480">
              <a:off x="2133600" y="3733800"/>
              <a:ext cx="3048000" cy="1828800"/>
            </a:xfrm>
            <a:custGeom>
              <a:avLst/>
              <a:gdLst>
                <a:gd name="T0" fmla="*/ 0 w 1488"/>
                <a:gd name="T1" fmla="*/ 0 h 1248"/>
                <a:gd name="T2" fmla="*/ 432 w 1488"/>
                <a:gd name="T3" fmla="*/ 960 h 1248"/>
                <a:gd name="T4" fmla="*/ 1488 w 1488"/>
                <a:gd name="T5" fmla="*/ 1248 h 1248"/>
                <a:gd name="T6" fmla="*/ 0 60000 65536"/>
                <a:gd name="T7" fmla="*/ 0 60000 65536"/>
                <a:gd name="T8" fmla="*/ 0 60000 65536"/>
                <a:gd name="T9" fmla="*/ 0 w 1488"/>
                <a:gd name="T10" fmla="*/ 0 h 1248"/>
                <a:gd name="T11" fmla="*/ 1488 w 1488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248">
                  <a:moveTo>
                    <a:pt x="0" y="0"/>
                  </a:moveTo>
                  <a:cubicBezTo>
                    <a:pt x="92" y="376"/>
                    <a:pt x="184" y="752"/>
                    <a:pt x="432" y="960"/>
                  </a:cubicBezTo>
                  <a:cubicBezTo>
                    <a:pt x="680" y="1168"/>
                    <a:pt x="1084" y="1208"/>
                    <a:pt x="1488" y="124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892" name="Text Box 9"/>
            <p:cNvSpPr txBox="1">
              <a:spLocks noChangeArrowheads="1"/>
            </p:cNvSpPr>
            <p:nvPr/>
          </p:nvSpPr>
          <p:spPr bwMode="auto">
            <a:xfrm>
              <a:off x="4953000" y="5592763"/>
              <a:ext cx="533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>
                  <a:solidFill>
                    <a:srgbClr val="000099"/>
                  </a:solidFill>
                </a:rPr>
                <a:t>U</a:t>
              </a:r>
              <a:r>
                <a:rPr lang="en-US" altLang="en-US" sz="1600" b="1" baseline="-25000">
                  <a:solidFill>
                    <a:srgbClr val="000099"/>
                  </a:solidFill>
                </a:rPr>
                <a:t>2</a:t>
              </a:r>
              <a:endParaRPr lang="en-US" altLang="en-US" sz="1600" b="1">
                <a:solidFill>
                  <a:srgbClr val="000099"/>
                </a:solidFill>
              </a:endParaRPr>
            </a:p>
          </p:txBody>
        </p:sp>
      </p:grpSp>
      <p:grpSp>
        <p:nvGrpSpPr>
          <p:cNvPr id="19" name="Group 15"/>
          <p:cNvGrpSpPr>
            <a:grpSpLocks/>
          </p:cNvGrpSpPr>
          <p:nvPr/>
        </p:nvGrpSpPr>
        <p:grpSpPr bwMode="auto">
          <a:xfrm>
            <a:off x="2868613" y="1924050"/>
            <a:ext cx="3505200" cy="1828800"/>
            <a:chOff x="1981200" y="3657600"/>
            <a:chExt cx="3505200" cy="1828800"/>
          </a:xfrm>
        </p:grpSpPr>
        <p:sp>
          <p:nvSpPr>
            <p:cNvPr id="36889" name="Freeform 8"/>
            <p:cNvSpPr>
              <a:spLocks/>
            </p:cNvSpPr>
            <p:nvPr/>
          </p:nvSpPr>
          <p:spPr bwMode="auto">
            <a:xfrm>
              <a:off x="1981200" y="3657600"/>
              <a:ext cx="3048000" cy="1828800"/>
            </a:xfrm>
            <a:custGeom>
              <a:avLst/>
              <a:gdLst>
                <a:gd name="T0" fmla="*/ 0 w 1488"/>
                <a:gd name="T1" fmla="*/ 0 h 1248"/>
                <a:gd name="T2" fmla="*/ 432 w 1488"/>
                <a:gd name="T3" fmla="*/ 960 h 1248"/>
                <a:gd name="T4" fmla="*/ 1488 w 1488"/>
                <a:gd name="T5" fmla="*/ 1248 h 1248"/>
                <a:gd name="T6" fmla="*/ 0 60000 65536"/>
                <a:gd name="T7" fmla="*/ 0 60000 65536"/>
                <a:gd name="T8" fmla="*/ 0 60000 65536"/>
                <a:gd name="T9" fmla="*/ 0 w 1488"/>
                <a:gd name="T10" fmla="*/ 0 h 1248"/>
                <a:gd name="T11" fmla="*/ 1488 w 1488"/>
                <a:gd name="T12" fmla="*/ 1248 h 1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8" h="1248">
                  <a:moveTo>
                    <a:pt x="0" y="0"/>
                  </a:moveTo>
                  <a:cubicBezTo>
                    <a:pt x="92" y="376"/>
                    <a:pt x="184" y="752"/>
                    <a:pt x="432" y="960"/>
                  </a:cubicBezTo>
                  <a:cubicBezTo>
                    <a:pt x="680" y="1168"/>
                    <a:pt x="1084" y="1208"/>
                    <a:pt x="1488" y="1248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890" name="Text Box 12"/>
            <p:cNvSpPr txBox="1">
              <a:spLocks noChangeArrowheads="1"/>
            </p:cNvSpPr>
            <p:nvPr/>
          </p:nvSpPr>
          <p:spPr bwMode="auto">
            <a:xfrm>
              <a:off x="4953000" y="5135563"/>
              <a:ext cx="533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600" b="1">
                  <a:solidFill>
                    <a:srgbClr val="000099"/>
                  </a:solidFill>
                </a:rPr>
                <a:t>U</a:t>
              </a:r>
              <a:r>
                <a:rPr lang="en-US" altLang="en-US" sz="1600" b="1" baseline="-25000">
                  <a:solidFill>
                    <a:srgbClr val="000099"/>
                  </a:solidFill>
                </a:rPr>
                <a:t>1</a:t>
              </a:r>
              <a:endParaRPr lang="en-US" altLang="en-US" sz="1600" b="1">
                <a:solidFill>
                  <a:srgbClr val="000099"/>
                </a:solidFill>
              </a:endParaRPr>
            </a:p>
          </p:txBody>
        </p:sp>
      </p:grp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4545013" y="3752850"/>
            <a:ext cx="338137" cy="422275"/>
            <a:chOff x="3657600" y="5486400"/>
            <a:chExt cx="338554" cy="422615"/>
          </a:xfrm>
        </p:grpSpPr>
        <p:sp>
          <p:nvSpPr>
            <p:cNvPr id="36887" name="Oval 20"/>
            <p:cNvSpPr>
              <a:spLocks noChangeArrowheads="1"/>
            </p:cNvSpPr>
            <p:nvPr/>
          </p:nvSpPr>
          <p:spPr bwMode="auto">
            <a:xfrm>
              <a:off x="3886200" y="54864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8" name="Text Box 23"/>
            <p:cNvSpPr txBox="1">
              <a:spLocks noChangeArrowheads="1"/>
            </p:cNvSpPr>
            <p:nvPr/>
          </p:nvSpPr>
          <p:spPr bwMode="auto">
            <a:xfrm>
              <a:off x="3657600" y="5539683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B</a:t>
              </a:r>
            </a:p>
          </p:txBody>
        </p:sp>
      </p:grpSp>
      <p:grpSp>
        <p:nvGrpSpPr>
          <p:cNvPr id="25" name="Group 21"/>
          <p:cNvGrpSpPr>
            <a:grpSpLocks/>
          </p:cNvGrpSpPr>
          <p:nvPr/>
        </p:nvGrpSpPr>
        <p:grpSpPr bwMode="auto">
          <a:xfrm>
            <a:off x="4945063" y="3246438"/>
            <a:ext cx="338137" cy="457200"/>
            <a:chOff x="3962400" y="4951691"/>
            <a:chExt cx="338554" cy="458509"/>
          </a:xfrm>
        </p:grpSpPr>
        <p:sp>
          <p:nvSpPr>
            <p:cNvPr id="36885" name="Oval 21"/>
            <p:cNvSpPr>
              <a:spLocks noChangeArrowheads="1"/>
            </p:cNvSpPr>
            <p:nvPr/>
          </p:nvSpPr>
          <p:spPr bwMode="auto">
            <a:xfrm>
              <a:off x="3962400" y="53340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6" name="Text Box 24"/>
            <p:cNvSpPr txBox="1">
              <a:spLocks noChangeArrowheads="1"/>
            </p:cNvSpPr>
            <p:nvPr/>
          </p:nvSpPr>
          <p:spPr bwMode="auto">
            <a:xfrm>
              <a:off x="3962400" y="4951691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A</a:t>
              </a:r>
            </a:p>
          </p:txBody>
        </p:sp>
      </p:grpSp>
      <p:grpSp>
        <p:nvGrpSpPr>
          <p:cNvPr id="28" name="Group 24"/>
          <p:cNvGrpSpPr>
            <a:grpSpLocks/>
          </p:cNvGrpSpPr>
          <p:nvPr/>
        </p:nvGrpSpPr>
        <p:grpSpPr bwMode="auto">
          <a:xfrm>
            <a:off x="4087813" y="3141663"/>
            <a:ext cx="338137" cy="382587"/>
            <a:chOff x="3200400" y="4875491"/>
            <a:chExt cx="338554" cy="382309"/>
          </a:xfrm>
        </p:grpSpPr>
        <p:sp>
          <p:nvSpPr>
            <p:cNvPr id="36883" name="Oval 22"/>
            <p:cNvSpPr>
              <a:spLocks noChangeArrowheads="1"/>
            </p:cNvSpPr>
            <p:nvPr/>
          </p:nvSpPr>
          <p:spPr bwMode="auto">
            <a:xfrm>
              <a:off x="3200400" y="51816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4" name="Text Box 25"/>
            <p:cNvSpPr txBox="1">
              <a:spLocks noChangeArrowheads="1"/>
            </p:cNvSpPr>
            <p:nvPr/>
          </p:nvSpPr>
          <p:spPr bwMode="auto">
            <a:xfrm>
              <a:off x="3200400" y="4875491"/>
              <a:ext cx="3385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E</a:t>
              </a:r>
            </a:p>
          </p:txBody>
        </p:sp>
      </p:grpSp>
      <p:grpSp>
        <p:nvGrpSpPr>
          <p:cNvPr id="31" name="Group 27"/>
          <p:cNvGrpSpPr>
            <a:grpSpLocks/>
          </p:cNvGrpSpPr>
          <p:nvPr/>
        </p:nvGrpSpPr>
        <p:grpSpPr bwMode="auto">
          <a:xfrm>
            <a:off x="2936875" y="2705100"/>
            <a:ext cx="350838" cy="422275"/>
            <a:chOff x="3657600" y="5486400"/>
            <a:chExt cx="351378" cy="422615"/>
          </a:xfrm>
        </p:grpSpPr>
        <p:sp>
          <p:nvSpPr>
            <p:cNvPr id="36881" name="Oval 20"/>
            <p:cNvSpPr>
              <a:spLocks noChangeArrowheads="1"/>
            </p:cNvSpPr>
            <p:nvPr/>
          </p:nvSpPr>
          <p:spPr bwMode="auto">
            <a:xfrm>
              <a:off x="3886200" y="54864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2" name="Text Box 23"/>
            <p:cNvSpPr txBox="1">
              <a:spLocks noChangeArrowheads="1"/>
            </p:cNvSpPr>
            <p:nvPr/>
          </p:nvSpPr>
          <p:spPr bwMode="auto">
            <a:xfrm>
              <a:off x="3657600" y="5539683"/>
              <a:ext cx="3513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D</a:t>
              </a:r>
            </a:p>
          </p:txBody>
        </p:sp>
      </p:grpSp>
      <p:grpSp>
        <p:nvGrpSpPr>
          <p:cNvPr id="34" name="Group 30"/>
          <p:cNvGrpSpPr>
            <a:grpSpLocks/>
          </p:cNvGrpSpPr>
          <p:nvPr/>
        </p:nvGrpSpPr>
        <p:grpSpPr bwMode="auto">
          <a:xfrm>
            <a:off x="3351213" y="2128838"/>
            <a:ext cx="350837" cy="458787"/>
            <a:chOff x="3962400" y="4951691"/>
            <a:chExt cx="351378" cy="458509"/>
          </a:xfrm>
        </p:grpSpPr>
        <p:sp>
          <p:nvSpPr>
            <p:cNvPr id="36879" name="Oval 21"/>
            <p:cNvSpPr>
              <a:spLocks noChangeArrowheads="1"/>
            </p:cNvSpPr>
            <p:nvPr/>
          </p:nvSpPr>
          <p:spPr bwMode="auto">
            <a:xfrm>
              <a:off x="3962400" y="5334000"/>
              <a:ext cx="76200" cy="7620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0" name="Text Box 24"/>
            <p:cNvSpPr txBox="1">
              <a:spLocks noChangeArrowheads="1"/>
            </p:cNvSpPr>
            <p:nvPr/>
          </p:nvSpPr>
          <p:spPr bwMode="auto">
            <a:xfrm>
              <a:off x="3962400" y="4951691"/>
              <a:ext cx="3513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525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9" y="1089616"/>
            <a:ext cx="7324416" cy="4441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3.5	The Notion of Convexity as an Alternative</a:t>
            </a:r>
            <a:br>
              <a:rPr lang="en-US" altLang="en-US" dirty="0"/>
            </a:br>
            <a:r>
              <a:rPr lang="en-US" altLang="en-US" dirty="0">
                <a:solidFill>
                  <a:srgbClr val="002D56"/>
                </a:solidFill>
              </a:rPr>
              <a:t> 	Definition of a Diminishing MRS</a:t>
            </a:r>
          </a:p>
        </p:txBody>
      </p:sp>
      <p:sp>
        <p:nvSpPr>
          <p:cNvPr id="37892" name="Text Placeholder 2"/>
          <p:cNvSpPr>
            <a:spLocks noGrp="1"/>
          </p:cNvSpPr>
          <p:nvPr>
            <p:ph sz="half" idx="1"/>
          </p:nvPr>
        </p:nvSpPr>
        <p:spPr>
          <a:xfrm>
            <a:off x="190500" y="5410200"/>
            <a:ext cx="8763000" cy="9144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 (a) the indifference curve is convex (any line joining two points above </a:t>
            </a:r>
            <a:r>
              <a:rPr lang="en-US" altLang="en-US" i="1" dirty="0"/>
              <a:t>U</a:t>
            </a:r>
            <a:r>
              <a:rPr lang="en-US" altLang="en-US" baseline="-25000" dirty="0"/>
              <a:t>1</a:t>
            </a:r>
            <a:r>
              <a:rPr lang="en-US" altLang="en-US" dirty="0"/>
              <a:t> is also above </a:t>
            </a:r>
            <a:r>
              <a:rPr lang="en-US" altLang="en-US" i="1" dirty="0"/>
              <a:t>U</a:t>
            </a:r>
            <a:r>
              <a:rPr lang="en-US" altLang="en-US" baseline="-25000" dirty="0"/>
              <a:t>1</a:t>
            </a:r>
            <a:r>
              <a:rPr lang="en-US" altLang="en-US" dirty="0"/>
              <a:t>). In (b) this is not the case, and the curve shown here does not everywhere have a diminishing MRS.</a:t>
            </a:r>
          </a:p>
        </p:txBody>
      </p:sp>
      <p:sp>
        <p:nvSpPr>
          <p:cNvPr id="37895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FA2816-8B98-4143-9F1E-FD03B411E5D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42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Trades and Substitution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Convexity and balance in consumption</a:t>
            </a:r>
          </a:p>
          <a:p>
            <a:pPr lvl="1"/>
            <a:r>
              <a:rPr lang="en-US" altLang="en-US"/>
              <a:t>Individuals prefer some balance in their consumption</a:t>
            </a:r>
          </a:p>
          <a:p>
            <a:pPr lvl="1"/>
            <a:r>
              <a:rPr lang="en-US" altLang="en-US"/>
              <a:t>‘‘Well-balanced’’ bundles of commodities are preferred to bundles that are heavily weighted toward one commodity</a:t>
            </a:r>
          </a:p>
          <a:p>
            <a:pPr lvl="1"/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8D91E6-0CF7-4448-BDB4-C2E0C7532CC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168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3.6	Balanced Bundles of Goods Are Preferred to 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dirty="0">
                <a:solidFill>
                  <a:srgbClr val="002D56"/>
                </a:solidFill>
              </a:rPr>
              <a:t>Extreme Bundles</a:t>
            </a:r>
          </a:p>
        </p:txBody>
      </p:sp>
      <p:sp>
        <p:nvSpPr>
          <p:cNvPr id="39939" name="Text Placeholder 2"/>
          <p:cNvSpPr>
            <a:spLocks noGrp="1"/>
          </p:cNvSpPr>
          <p:nvPr>
            <p:ph sz="half" idx="1"/>
          </p:nvPr>
        </p:nvSpPr>
        <p:spPr>
          <a:xfrm>
            <a:off x="152400" y="5248566"/>
            <a:ext cx="8686800" cy="110619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If indifference curves are convex (if they obey the assumption of a diminishing MRS), then the line joining any two points that are indifferent will contain points preferred to either of the initial combinations. Intuitively, balanced bundles are preferred to unbalanced ones.</a:t>
            </a:r>
          </a:p>
        </p:txBody>
      </p:sp>
      <p:sp>
        <p:nvSpPr>
          <p:cNvPr id="3994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A273AC-F41A-4867-B1FA-CB56DE3C5068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9" y="990600"/>
            <a:ext cx="5338762" cy="425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694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3.1 	Utility and the MRS</a:t>
            </a:r>
          </a:p>
        </p:txBody>
      </p:sp>
      <p:sp>
        <p:nvSpPr>
          <p:cNvPr id="4096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C332D168-8F45-428F-98D4-F4E1CFEAAE2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/>
                  <a:t>A person’s ranking of hamburgers (y) and soft drinks (x), </a:t>
                </a:r>
                <a:r>
                  <a:rPr lang="en-US" altLang="en-US" dirty="0">
                    <a:solidFill>
                      <a:srgbClr val="FF0000"/>
                    </a:solidFill>
                  </a:rPr>
                  <a:t>utility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en-US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·</m:t>
                        </m:r>
                        <m:r>
                          <a:rPr lang="en-US" altLang="en-US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e>
                    </m:rad>
                  </m:oMath>
                </a14:m>
                <a:endParaRPr lang="en-US" altLang="en-US" dirty="0"/>
              </a:p>
              <a:p>
                <a:r>
                  <a:rPr lang="en-US" altLang="en-US" dirty="0"/>
                  <a:t>An indifference curve for this function </a:t>
                </a:r>
              </a:p>
              <a:p>
                <a:pPr lvl="1"/>
                <a:r>
                  <a:rPr lang="en-US" altLang="en-US" dirty="0"/>
                  <a:t>Identify that set of combinations of x and y for which utility has the same value</a:t>
                </a:r>
              </a:p>
              <a:p>
                <a:pPr lvl="1"/>
                <a:r>
                  <a:rPr lang="en-US" altLang="en-US" dirty="0"/>
                  <a:t>Utility = 10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en-US" i="1" dirty="0">
                            <a:latin typeface="Cambria Math"/>
                          </a:rPr>
                          <m:t>𝑥</m:t>
                        </m:r>
                        <m:r>
                          <a:rPr lang="en-US" altLang="en-US" i="1" dirty="0">
                            <a:latin typeface="Cambria Math"/>
                          </a:rPr>
                          <m:t>·</m:t>
                        </m:r>
                        <m:r>
                          <a:rPr lang="en-US" altLang="en-US" i="1" dirty="0">
                            <a:latin typeface="Cambria Math"/>
                          </a:rPr>
                          <m:t>𝑦</m:t>
                        </m:r>
                      </m:e>
                    </m:rad>
                  </m:oMath>
                </a14:m>
                <a:r>
                  <a:rPr lang="en-US" altLang="en-US" dirty="0"/>
                  <a:t>, so 100=</a:t>
                </a:r>
                <a:r>
                  <a:rPr lang="en-US" altLang="en-US" dirty="0" err="1"/>
                  <a:t>x·y</a:t>
                </a:r>
                <a:r>
                  <a:rPr lang="en-US" altLang="en-US" dirty="0"/>
                  <a:t>, therefore  y=100/x </a:t>
                </a:r>
              </a:p>
              <a:p>
                <a:r>
                  <a:rPr lang="en-US" altLang="en-US" dirty="0"/>
                  <a:t>MRS = -</a:t>
                </a:r>
                <a:r>
                  <a:rPr lang="en-US" altLang="en-US" dirty="0" err="1"/>
                  <a:t>dy</a:t>
                </a:r>
                <a:r>
                  <a:rPr lang="en-US" altLang="en-US" dirty="0"/>
                  <a:t>/dx(along </a:t>
                </a:r>
                <a:r>
                  <a:rPr lang="en-US" altLang="en-US" i="1" dirty="0"/>
                  <a:t>U</a:t>
                </a:r>
                <a:r>
                  <a:rPr lang="en-US" altLang="en-US" baseline="-25000" dirty="0"/>
                  <a:t>1</a:t>
                </a:r>
                <a:r>
                  <a:rPr lang="en-US" altLang="en-US" dirty="0"/>
                  <a:t>)=100/x</a:t>
                </a:r>
                <a:r>
                  <a:rPr lang="en-US" altLang="en-US" baseline="30000" dirty="0"/>
                  <a:t>2</a:t>
                </a:r>
              </a:p>
              <a:p>
                <a:pPr lvl="1">
                  <a:lnSpc>
                    <a:spcPct val="140000"/>
                  </a:lnSpc>
                </a:pPr>
                <a:r>
                  <a:rPr lang="en-US" altLang="en-US" dirty="0"/>
                  <a:t>As 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 rises, </a:t>
                </a:r>
                <a:r>
                  <a:rPr lang="en-US" altLang="en-US" i="1" dirty="0"/>
                  <a:t>MRS</a:t>
                </a:r>
                <a:r>
                  <a:rPr lang="en-US" altLang="en-US" dirty="0"/>
                  <a:t> falls</a:t>
                </a:r>
              </a:p>
              <a:p>
                <a:pPr lvl="2"/>
                <a:r>
                  <a:rPr lang="en-US" altLang="en-US" dirty="0"/>
                  <a:t>When 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 = 5, </a:t>
                </a:r>
                <a:r>
                  <a:rPr lang="en-US" altLang="en-US" i="1" dirty="0"/>
                  <a:t>MRS</a:t>
                </a:r>
                <a:r>
                  <a:rPr lang="en-US" altLang="en-US" dirty="0"/>
                  <a:t> = 4</a:t>
                </a:r>
              </a:p>
              <a:p>
                <a:pPr lvl="2"/>
                <a:r>
                  <a:rPr lang="en-US" altLang="en-US" dirty="0"/>
                  <a:t>When </a:t>
                </a:r>
                <a:r>
                  <a:rPr lang="en-US" altLang="en-US" i="1" dirty="0"/>
                  <a:t>x</a:t>
                </a:r>
                <a:r>
                  <a:rPr lang="en-US" altLang="en-US" dirty="0"/>
                  <a:t> = 20, </a:t>
                </a:r>
                <a:r>
                  <a:rPr lang="en-US" altLang="en-US" i="1" dirty="0"/>
                  <a:t>MRS</a:t>
                </a:r>
                <a:r>
                  <a:rPr lang="en-US" altLang="en-US" dirty="0"/>
                  <a:t> = 0.25</a:t>
                </a:r>
              </a:p>
            </p:txBody>
          </p:sp>
        </mc:Choice>
        <mc:Fallback xmlns="">
          <p:sp>
            <p:nvSpPr>
              <p:cNvPr id="4096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1673" t="-1351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911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17" y="685800"/>
            <a:ext cx="6276975" cy="559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987" name="Title 1"/>
              <p:cNvSpPr>
                <a:spLocks noGrp="1"/>
              </p:cNvSpPr>
              <p:nvPr>
                <p:ph type="title"/>
              </p:nvPr>
            </p:nvSpPr>
            <p:spPr bwMode="auto"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altLang="en-US" dirty="0"/>
                  <a:t>3.7	Indifference Curve for Utility=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en-US" dirty="0"/>
                          <m:t>𝑥</m:t>
                        </m:r>
                        <m:r>
                          <m:rPr>
                            <m:nor/>
                          </m:rPr>
                          <a:rPr lang="en-US" altLang="en-US" dirty="0"/>
                          <m:t>·</m:t>
                        </m:r>
                        <m:r>
                          <m:rPr>
                            <m:nor/>
                          </m:rPr>
                          <a:rPr lang="en-US" altLang="en-US" dirty="0"/>
                          <m:t>𝑦</m:t>
                        </m:r>
                      </m:e>
                    </m:rad>
                    <m:r>
                      <a:rPr lang="en-US" altLang="en-US" b="0" i="1" smtClean="0">
                        <a:latin typeface="Cambria Math"/>
                      </a:rPr>
                      <m:t> 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41987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 bwMode="auto">
              <a:blipFill rotWithShape="1">
                <a:blip r:embed="rId3"/>
                <a:stretch>
                  <a:fillRect l="-1829" t="-16000" b="-6266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988" name="Tex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800600" y="1524001"/>
                <a:ext cx="4038600" cy="28956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This indifference curve illustrates the function 10 = </a:t>
                </a:r>
                <a:r>
                  <a:rPr lang="en-US" altLang="en-US" sz="2000" i="1" dirty="0"/>
                  <a:t>U</a:t>
                </a:r>
                <a:r>
                  <a:rPr lang="en-US" altLang="en-US" sz="2000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en-US" sz="2000" dirty="0"/>
                          <m:t>𝑥</m:t>
                        </m:r>
                        <m:r>
                          <m:rPr>
                            <m:nor/>
                          </m:rPr>
                          <a:rPr lang="en-US" altLang="en-US" sz="2000" dirty="0"/>
                          <m:t>·</m:t>
                        </m:r>
                        <m:r>
                          <m:rPr>
                            <m:nor/>
                          </m:rPr>
                          <a:rPr lang="en-US" altLang="en-US" sz="2000" dirty="0"/>
                          <m:t>𝑦</m:t>
                        </m:r>
                      </m:e>
                    </m:rad>
                  </m:oMath>
                </a14:m>
                <a:r>
                  <a:rPr lang="en-US" altLang="en-US" sz="2000" dirty="0"/>
                  <a:t>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At point A (5, 20), the MRS is 4, implying that this person is willing to trade 4y for an additional x.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At point B (20, 5), however, the MRS is 0.25, implying a greatly reduced willingness to trade.</a:t>
                </a:r>
              </a:p>
            </p:txBody>
          </p:sp>
        </mc:Choice>
        <mc:Fallback xmlns="">
          <p:sp>
            <p:nvSpPr>
              <p:cNvPr id="41988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800600" y="1524001"/>
                <a:ext cx="4038600" cy="2895600"/>
              </a:xfrm>
              <a:blipFill rotWithShape="1">
                <a:blip r:embed="rId4"/>
                <a:stretch>
                  <a:fillRect l="-1662" t="-1053" r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91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F7BA02-3FFD-466D-A3CB-54B20E9937E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72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900"/>
              <a:t>The Mathematics of Indifference Curves</a:t>
            </a:r>
          </a:p>
        </p:txBody>
      </p:sp>
      <p:sp>
        <p:nvSpPr>
          <p:cNvPr id="205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individual – consumes x and y</a:t>
            </a:r>
          </a:p>
          <a:p>
            <a:pPr lvl="1"/>
            <a:r>
              <a:rPr lang="en-US" altLang="en-US" dirty="0"/>
              <a:t>Utility = </a:t>
            </a:r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Specific level of utility, k: </a:t>
            </a:r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dirty="0"/>
              <a:t>)=</a:t>
            </a:r>
            <a:r>
              <a:rPr lang="en-US" altLang="en-US" i="1" dirty="0"/>
              <a:t>k</a:t>
            </a:r>
          </a:p>
          <a:p>
            <a:pPr lvl="1"/>
            <a:r>
              <a:rPr lang="en-US" altLang="en-US" dirty="0"/>
              <a:t>Trade-offs: the rate at which x can be traded for y</a:t>
            </a:r>
          </a:p>
          <a:p>
            <a:pPr lvl="2"/>
            <a:r>
              <a:rPr lang="en-US" altLang="en-US" dirty="0"/>
              <a:t>Is given by the negative of the ratio of the ‘‘marginal utility’’ of good x to that of good 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9DD05A-BE8E-4A7F-B583-75B3B275AB8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346325" y="4897438"/>
          <a:ext cx="4451350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2" name="Equation" r:id="rId3" imgW="1562040" imgH="457200" progId="Equation.DSMT4">
                  <p:embed/>
                </p:oleObj>
              </mc:Choice>
              <mc:Fallback>
                <p:oleObj name="Equation" r:id="rId3" imgW="15620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5" y="4897438"/>
                        <a:ext cx="4451350" cy="130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11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900"/>
              <a:t>The Mathematics of Indifference Curves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Diminishing </a:t>
            </a:r>
            <a:r>
              <a:rPr lang="en-US" altLang="en-US" i="1"/>
              <a:t>MRS</a:t>
            </a:r>
            <a:r>
              <a:rPr lang="en-US" altLang="en-US"/>
              <a:t> </a:t>
            </a:r>
          </a:p>
          <a:p>
            <a:pPr lvl="1"/>
            <a:r>
              <a:rPr lang="en-US" altLang="en-US"/>
              <a:t>Requires that the utility function be quasi-concave</a:t>
            </a:r>
          </a:p>
          <a:p>
            <a:pPr lvl="1"/>
            <a:r>
              <a:rPr lang="en-US" altLang="en-US"/>
              <a:t>This is independent of how utility is measured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Diminishing marginal utility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Depends on how utility is measured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Thus, these two concepts are different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25AFA17-3DF7-4192-8C90-2996A02CC0BF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44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3.2   Showing Convexity of Indifference Curves</a:t>
            </a:r>
          </a:p>
        </p:txBody>
      </p:sp>
      <p:sp>
        <p:nvSpPr>
          <p:cNvPr id="307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B4EE01C5-2108-477B-B6DC-C59C4487948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MRS is diminishing as x increases and y decreases</a:t>
            </a:r>
          </a:p>
          <a:p>
            <a:r>
              <a:rPr lang="en-US" dirty="0"/>
              <a:t>Therefore, the indifference curves are convex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"/>
              <p:cNvSpPr txBox="1"/>
              <p:nvPr/>
            </p:nvSpPr>
            <p:spPr bwMode="auto">
              <a:xfrm>
                <a:off x="609600" y="609600"/>
                <a:ext cx="8213725" cy="2640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1. 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rad>
                    </m:oMath>
                  </m:oMathPara>
                </a14:m>
                <a:endParaRPr lang="en-US" sz="28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br>
                  <a:rPr lang="en-US" sz="2800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</a:br>
                <a:endParaRPr lang="en-US" sz="2800" i="1" dirty="0">
                  <a:solidFill>
                    <a:srgbClr val="00408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4080"/>
                          </a:solidFill>
                          <a:latin typeface="Cambria Math" panose="02040503050406030204" pitchFamily="18" charset="0"/>
                        </a:rPr>
                        <m:t>𝑀𝑅𝑆</m:t>
                      </m:r>
                      <m:r>
                        <a:rPr lang="en-US" sz="2800" i="1">
                          <a:solidFill>
                            <a:srgbClr val="00408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∗/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∗/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2800" i="1">
                          <a:solidFill>
                            <a:srgbClr val="00408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609600"/>
                <a:ext cx="8213725" cy="2640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08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3.2   Showing Convexity of Indifference Curves</a:t>
            </a:r>
          </a:p>
        </p:txBody>
      </p:sp>
      <p:sp>
        <p:nvSpPr>
          <p:cNvPr id="410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B3D39AE-75F9-4767-B0CB-90937E83D58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MRS is diminishing as x increases and y decreases</a:t>
            </a:r>
          </a:p>
          <a:p>
            <a:r>
              <a:rPr lang="en-US" dirty="0"/>
              <a:t>Therefore, the indifference curves are convex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080939"/>
              </p:ext>
            </p:extLst>
          </p:nvPr>
        </p:nvGraphicFramePr>
        <p:xfrm>
          <a:off x="463550" y="871538"/>
          <a:ext cx="4232275" cy="187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60" name="Equation" r:id="rId3" imgW="1434960" imgH="634680" progId="Equation.DSMT4">
                  <p:embed/>
                </p:oleObj>
              </mc:Choice>
              <mc:Fallback>
                <p:oleObj name="Equation" r:id="rId3" imgW="143496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" y="871538"/>
                        <a:ext cx="4232275" cy="187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743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3.2   Showing Convexity of Indifference Curves</a:t>
            </a:r>
          </a:p>
        </p:txBody>
      </p:sp>
      <p:sp>
        <p:nvSpPr>
          <p:cNvPr id="512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1EFB2A2-C29A-420B-869D-A9671BFFFB86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 x increases and y decreases, the MRS </a:t>
            </a:r>
            <a:r>
              <a:rPr lang="en-US" i="1" dirty="0"/>
              <a:t>increases</a:t>
            </a:r>
            <a:r>
              <a:rPr lang="en-US" dirty="0"/>
              <a:t>! </a:t>
            </a:r>
          </a:p>
          <a:p>
            <a:r>
              <a:rPr lang="en-US" dirty="0"/>
              <a:t>The indifference curves are concave, not convex</a:t>
            </a:r>
          </a:p>
          <a:p>
            <a:r>
              <a:rPr lang="en-US" dirty="0"/>
              <a:t>This is not a quasi-concave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"/>
              <p:cNvSpPr txBox="1"/>
              <p:nvPr/>
            </p:nvSpPr>
            <p:spPr bwMode="auto">
              <a:xfrm>
                <a:off x="533400" y="685800"/>
                <a:ext cx="6667500" cy="284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3.</m:t>
                      </m:r>
                      <m: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br>
                  <a:rPr lang="en-US" i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</a:br>
                <a:br>
                  <a:rPr lang="en-US" i="1" dirty="0">
                    <a:solidFill>
                      <a:srgbClr val="00408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4080"/>
                          </a:solidFill>
                          <a:latin typeface="Cambria Math" panose="02040503050406030204" pitchFamily="18" charset="0"/>
                        </a:rPr>
                        <m:t>𝑀𝑅𝑆</m:t>
                      </m:r>
                      <m:r>
                        <a:rPr lang="en-US" sz="2800" i="1">
                          <a:solidFill>
                            <a:srgbClr val="00408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∗/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∗/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2800" i="1">
                          <a:solidFill>
                            <a:srgbClr val="00408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408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685800"/>
                <a:ext cx="6667500" cy="2844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94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Utility Functions for Specific Preferences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Cobb-Douglas Utility, 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i="1" dirty="0">
                <a:solidFill>
                  <a:srgbClr val="FF0000"/>
                </a:solidFill>
              </a:rPr>
              <a:t>U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i="1" dirty="0" err="1">
                <a:solidFill>
                  <a:srgbClr val="FF0000"/>
                </a:solidFill>
              </a:rPr>
              <a:t>x,y</a:t>
            </a:r>
            <a:r>
              <a:rPr lang="en-US" altLang="en-US" dirty="0">
                <a:solidFill>
                  <a:srgbClr val="FF0000"/>
                </a:solidFill>
              </a:rPr>
              <a:t>) = </a:t>
            </a:r>
            <a:r>
              <a:rPr lang="en-US" altLang="en-US" i="1" dirty="0" err="1">
                <a:solidFill>
                  <a:srgbClr val="FF0000"/>
                </a:solidFill>
              </a:rPr>
              <a:t>x</a:t>
            </a:r>
            <a:r>
              <a:rPr lang="en-US" altLang="en-US" baseline="30000" dirty="0" err="1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en-US" i="1" dirty="0" err="1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baseline="30000" dirty="0">
                <a:solidFill>
                  <a:srgbClr val="FF0000"/>
                </a:solidFill>
                <a:sym typeface="Symbol" pitchFamily="18" charset="2"/>
              </a:rPr>
              <a:t></a:t>
            </a:r>
            <a:endParaRPr lang="en-US" altLang="en-US" dirty="0">
              <a:solidFill>
                <a:srgbClr val="FF0000"/>
              </a:solidFill>
              <a:sym typeface="Symbol" pitchFamily="18" charset="2"/>
            </a:endParaRPr>
          </a:p>
          <a:p>
            <a:pPr lvl="1">
              <a:lnSpc>
                <a:spcPct val="110000"/>
              </a:lnSpc>
            </a:pPr>
            <a:r>
              <a:rPr lang="en-US" altLang="en-US" dirty="0">
                <a:sym typeface="Symbol" pitchFamily="18" charset="2"/>
              </a:rPr>
              <a:t> and  are positive constants, each &lt;1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itchFamily="18" charset="2"/>
              </a:rPr>
              <a:t>The relative sizes of  and  indicate the relative importance of the goods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ym typeface="Symbol" pitchFamily="18" charset="2"/>
              </a:rPr>
              <a:t>Normalize so that  +  = 1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en-US" altLang="en-US" i="1" dirty="0">
                <a:solidFill>
                  <a:srgbClr val="FF0000"/>
                </a:solidFill>
              </a:rPr>
              <a:t>		U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i="1" dirty="0" err="1">
                <a:solidFill>
                  <a:srgbClr val="FF0000"/>
                </a:solidFill>
              </a:rPr>
              <a:t>x,y</a:t>
            </a:r>
            <a:r>
              <a:rPr lang="en-US" altLang="en-US" dirty="0">
                <a:solidFill>
                  <a:srgbClr val="FF0000"/>
                </a:solidFill>
              </a:rPr>
              <a:t>) = 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baseline="30000" dirty="0">
                <a:solidFill>
                  <a:srgbClr val="FF0000"/>
                </a:solidFill>
                <a:sym typeface="Symbol" pitchFamily="18" charset="2"/>
              </a:rPr>
              <a:t></a:t>
            </a: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baseline="30000" dirty="0">
                <a:solidFill>
                  <a:srgbClr val="FF0000"/>
                </a:solidFill>
                <a:sym typeface="Symbol" pitchFamily="18" charset="2"/>
              </a:rPr>
              <a:t>1-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 </a:t>
            </a:r>
          </a:p>
          <a:p>
            <a:pPr lvl="2">
              <a:lnSpc>
                <a:spcPct val="120000"/>
              </a:lnSpc>
            </a:pPr>
            <a:r>
              <a:rPr lang="en-US" altLang="en-US" dirty="0">
                <a:sym typeface="Symbol" pitchFamily="18" charset="2"/>
              </a:rPr>
              <a:t>Where =/(+) and 1-=/(+)</a:t>
            </a:r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B35BE3-25FE-45DC-AB66-EDB363956A6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63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Utility Functions for Specific Preferences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Perfect substitutes </a:t>
            </a:r>
            <a:endParaRPr lang="en-US" altLang="en-US" dirty="0">
              <a:sym typeface="Symbol" pitchFamily="18" charset="2"/>
            </a:endParaRPr>
          </a:p>
          <a:p>
            <a:pPr lvl="1"/>
            <a:r>
              <a:rPr lang="en-US" altLang="en-US" dirty="0"/>
              <a:t>Linear indifference curves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		 </a:t>
            </a: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U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en-US" i="1" dirty="0" err="1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err="1">
                <a:solidFill>
                  <a:srgbClr val="FF0000"/>
                </a:solidFill>
                <a:sym typeface="Symbol" pitchFamily="18" charset="2"/>
              </a:rPr>
              <a:t>,</a:t>
            </a:r>
            <a:r>
              <a:rPr lang="en-US" altLang="en-US" i="1" dirty="0" err="1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) = </a:t>
            </a: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 + </a:t>
            </a: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y</a:t>
            </a:r>
            <a:endParaRPr lang="en-US" altLang="en-US" dirty="0">
              <a:solidFill>
                <a:srgbClr val="FF0000"/>
              </a:solidFill>
              <a:sym typeface="Symbol" pitchFamily="18" charset="2"/>
            </a:endParaRPr>
          </a:p>
          <a:p>
            <a:pPr lvl="1"/>
            <a:r>
              <a:rPr lang="en-US" altLang="en-US" dirty="0">
                <a:sym typeface="Symbol" pitchFamily="18" charset="2"/>
              </a:rPr>
              <a:t>Where  and  are positive constants</a:t>
            </a:r>
          </a:p>
          <a:p>
            <a:pPr lvl="1"/>
            <a:r>
              <a:rPr lang="en-US" altLang="en-US" dirty="0"/>
              <a:t>The MRS will be constant along the indifference curves</a:t>
            </a:r>
          </a:p>
          <a:p>
            <a:pPr lvl="2"/>
            <a:r>
              <a:rPr lang="en-US" altLang="en-US" dirty="0"/>
              <a:t>MRS = </a:t>
            </a:r>
            <a:r>
              <a:rPr lang="en-US" altLang="en-US" dirty="0">
                <a:sym typeface="Symbol" pitchFamily="18" charset="2"/>
              </a:rPr>
              <a:t>/ along the entire indifference curve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6276F9-374F-4295-A9B4-DA9BBBFAE542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31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Utility Functions for Specific Preferences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Perfect complements </a:t>
            </a:r>
            <a:endParaRPr lang="en-US" altLang="en-US" dirty="0">
              <a:sym typeface="Symbol" pitchFamily="18" charset="2"/>
            </a:endParaRPr>
          </a:p>
          <a:p>
            <a:pPr lvl="1"/>
            <a:r>
              <a:rPr lang="en-US" altLang="en-US" dirty="0"/>
              <a:t>L-shaped indifference curves</a:t>
            </a:r>
          </a:p>
          <a:p>
            <a:pPr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		 </a:t>
            </a: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U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en-US" i="1" dirty="0" err="1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 err="1">
                <a:solidFill>
                  <a:srgbClr val="FF0000"/>
                </a:solidFill>
                <a:sym typeface="Symbol" pitchFamily="18" charset="2"/>
              </a:rPr>
              <a:t>,</a:t>
            </a:r>
            <a:r>
              <a:rPr lang="en-US" altLang="en-US" i="1" dirty="0" err="1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) = min (</a:t>
            </a: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, </a:t>
            </a:r>
            <a:r>
              <a:rPr lang="en-US" altLang="en-US" i="1" dirty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dirty="0">
                <a:solidFill>
                  <a:srgbClr val="FF0000"/>
                </a:solidFill>
                <a:sym typeface="Symbol" pitchFamily="18" charset="2"/>
              </a:rPr>
              <a:t>)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Where  and  are positive parameters</a:t>
            </a:r>
          </a:p>
          <a:p>
            <a:endParaRPr lang="en-US" altLang="en-US" dirty="0"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476DA4-19AA-47C8-BD49-3CFD9F9DD9E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65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Utility Functions for Specific Preferences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34400" cy="5257800"/>
          </a:xfrm>
        </p:spPr>
        <p:txBody>
          <a:bodyPr/>
          <a:lstStyle/>
          <a:p>
            <a:r>
              <a:rPr lang="en-US" altLang="en-US" sz="3000" dirty="0"/>
              <a:t>CES Utility (constant elasticity of substitution)</a:t>
            </a:r>
          </a:p>
          <a:p>
            <a:pPr>
              <a:buFontTx/>
              <a:buNone/>
            </a:pP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	 </a:t>
            </a:r>
            <a:r>
              <a:rPr lang="en-US" altLang="en-US" sz="3000" i="1" dirty="0">
                <a:solidFill>
                  <a:srgbClr val="FF0000"/>
                </a:solidFill>
                <a:sym typeface="Symbol" pitchFamily="18" charset="2"/>
              </a:rPr>
              <a:t>U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en-US" sz="3000" i="1" dirty="0" err="1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000" dirty="0" err="1">
                <a:solidFill>
                  <a:srgbClr val="FF0000"/>
                </a:solidFill>
                <a:sym typeface="Symbol" pitchFamily="18" charset="2"/>
              </a:rPr>
              <a:t>,</a:t>
            </a:r>
            <a:r>
              <a:rPr lang="en-US" altLang="en-US" sz="3000" i="1" dirty="0" err="1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) = [</a:t>
            </a:r>
            <a:r>
              <a:rPr lang="en-US" altLang="en-US" sz="3000" i="1" dirty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000" baseline="30000" dirty="0">
                <a:solidFill>
                  <a:srgbClr val="FF0000"/>
                </a:solidFill>
                <a:sym typeface="Symbol" pitchFamily="18" charset="2"/>
              </a:rPr>
              <a:t>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 + </a:t>
            </a:r>
            <a:r>
              <a:rPr lang="en-US" altLang="en-US" sz="3000" i="1" dirty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sz="3000" baseline="30000" dirty="0">
                <a:solidFill>
                  <a:srgbClr val="FF0000"/>
                </a:solidFill>
                <a:sym typeface="Symbol" pitchFamily="18" charset="2"/>
              </a:rPr>
              <a:t>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]</a:t>
            </a:r>
            <a:r>
              <a:rPr lang="en-US" altLang="en-US" sz="3000" baseline="30000" dirty="0">
                <a:solidFill>
                  <a:srgbClr val="FF0000"/>
                </a:solidFill>
                <a:sym typeface="Symbol" pitchFamily="18" charset="2"/>
              </a:rPr>
              <a:t>1/ 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, </a:t>
            </a:r>
            <a:r>
              <a:rPr lang="en-US" altLang="en-US" sz="3000" dirty="0">
                <a:solidFill>
                  <a:schemeClr val="tx1"/>
                </a:solidFill>
                <a:sym typeface="Symbol" pitchFamily="18" charset="2"/>
              </a:rPr>
              <a:t>where   1,   0</a:t>
            </a:r>
          </a:p>
          <a:p>
            <a:pPr lvl="1"/>
            <a:r>
              <a:rPr lang="en-US" altLang="en-US" sz="3000" dirty="0">
                <a:sym typeface="Symbol" pitchFamily="18" charset="2"/>
              </a:rPr>
              <a:t>For  = 1: </a:t>
            </a:r>
            <a:r>
              <a:rPr lang="en-US" altLang="en-US" sz="3000" i="1" dirty="0">
                <a:sym typeface="Symbol" pitchFamily="18" charset="2"/>
              </a:rPr>
              <a:t>U</a:t>
            </a:r>
            <a:r>
              <a:rPr lang="en-US" altLang="en-US" sz="3000" dirty="0">
                <a:sym typeface="Symbol" pitchFamily="18" charset="2"/>
              </a:rPr>
              <a:t>(</a:t>
            </a:r>
            <a:r>
              <a:rPr lang="en-US" altLang="en-US" sz="3000" i="1" dirty="0" err="1">
                <a:sym typeface="Symbol" pitchFamily="18" charset="2"/>
              </a:rPr>
              <a:t>x</a:t>
            </a:r>
            <a:r>
              <a:rPr lang="en-US" altLang="en-US" sz="3000" dirty="0" err="1">
                <a:sym typeface="Symbol" pitchFamily="18" charset="2"/>
              </a:rPr>
              <a:t>,</a:t>
            </a:r>
            <a:r>
              <a:rPr lang="en-US" altLang="en-US" sz="3000" i="1" dirty="0" err="1">
                <a:sym typeface="Symbol" pitchFamily="18" charset="2"/>
              </a:rPr>
              <a:t>y</a:t>
            </a:r>
            <a:r>
              <a:rPr lang="en-US" altLang="en-US" sz="3000" dirty="0">
                <a:sym typeface="Symbol" pitchFamily="18" charset="2"/>
              </a:rPr>
              <a:t>) corresponds to perfect substitutes case</a:t>
            </a:r>
          </a:p>
          <a:p>
            <a:pPr lvl="1"/>
            <a:r>
              <a:rPr lang="en-US" altLang="en-US" sz="3000" dirty="0">
                <a:sym typeface="Symbol" pitchFamily="18" charset="2"/>
              </a:rPr>
              <a:t>For  approaching 0: </a:t>
            </a:r>
            <a:r>
              <a:rPr lang="en-US" altLang="en-US" sz="3000" i="1" dirty="0">
                <a:sym typeface="Symbol" pitchFamily="18" charset="2"/>
              </a:rPr>
              <a:t>U</a:t>
            </a:r>
            <a:r>
              <a:rPr lang="en-US" altLang="en-US" sz="3000" dirty="0">
                <a:sym typeface="Symbol" pitchFamily="18" charset="2"/>
              </a:rPr>
              <a:t>(</a:t>
            </a:r>
            <a:r>
              <a:rPr lang="en-US" altLang="en-US" sz="3000" i="1" dirty="0" err="1">
                <a:sym typeface="Symbol" pitchFamily="18" charset="2"/>
              </a:rPr>
              <a:t>x</a:t>
            </a:r>
            <a:r>
              <a:rPr lang="en-US" altLang="en-US" sz="3000" dirty="0" err="1">
                <a:sym typeface="Symbol" pitchFamily="18" charset="2"/>
              </a:rPr>
              <a:t>,</a:t>
            </a:r>
            <a:r>
              <a:rPr lang="en-US" altLang="en-US" sz="3000" i="1" dirty="0" err="1">
                <a:sym typeface="Symbol" pitchFamily="18" charset="2"/>
              </a:rPr>
              <a:t>y</a:t>
            </a:r>
            <a:r>
              <a:rPr lang="en-US" altLang="en-US" sz="3000" dirty="0">
                <a:sym typeface="Symbol" pitchFamily="18" charset="2"/>
              </a:rPr>
              <a:t>) approaches Cobb-Douglas</a:t>
            </a:r>
          </a:p>
          <a:p>
            <a:pPr lvl="1"/>
            <a:r>
              <a:rPr lang="en-US" altLang="en-US" sz="3000" dirty="0">
                <a:sym typeface="Symbol" pitchFamily="18" charset="2"/>
              </a:rPr>
              <a:t>For  approaching -: </a:t>
            </a:r>
            <a:r>
              <a:rPr lang="en-US" altLang="en-US" sz="3000" i="1" dirty="0">
                <a:sym typeface="Symbol" pitchFamily="18" charset="2"/>
              </a:rPr>
              <a:t>U</a:t>
            </a:r>
            <a:r>
              <a:rPr lang="en-US" altLang="en-US" sz="3000" dirty="0">
                <a:sym typeface="Symbol" pitchFamily="18" charset="2"/>
              </a:rPr>
              <a:t>(</a:t>
            </a:r>
            <a:r>
              <a:rPr lang="en-US" altLang="en-US" sz="3000" i="1" dirty="0" err="1">
                <a:sym typeface="Symbol" pitchFamily="18" charset="2"/>
              </a:rPr>
              <a:t>x</a:t>
            </a:r>
            <a:r>
              <a:rPr lang="en-US" altLang="en-US" sz="3000" dirty="0" err="1">
                <a:sym typeface="Symbol" pitchFamily="18" charset="2"/>
              </a:rPr>
              <a:t>,</a:t>
            </a:r>
            <a:r>
              <a:rPr lang="en-US" altLang="en-US" sz="3000" i="1" dirty="0" err="1">
                <a:sym typeface="Symbol" pitchFamily="18" charset="2"/>
              </a:rPr>
              <a:t>y</a:t>
            </a:r>
            <a:r>
              <a:rPr lang="en-US" altLang="en-US" sz="3000" dirty="0">
                <a:sym typeface="Symbol" pitchFamily="18" charset="2"/>
              </a:rPr>
              <a:t>) approaches the case of perfect complements</a:t>
            </a:r>
          </a:p>
          <a:p>
            <a:pPr lvl="1"/>
            <a:r>
              <a:rPr lang="en-US" altLang="en-US" sz="3000" dirty="0">
                <a:sym typeface="Symbol" pitchFamily="18" charset="2"/>
              </a:rPr>
              <a:t>Monotonic transformation U* = U</a:t>
            </a:r>
            <a:r>
              <a:rPr lang="el-GR" altLang="en-US" sz="3000" baseline="30000" dirty="0">
                <a:sym typeface="Symbol" pitchFamily="18" charset="2"/>
              </a:rPr>
              <a:t>δ</a:t>
            </a:r>
            <a:r>
              <a:rPr lang="en-US" altLang="en-US" sz="3000" dirty="0">
                <a:sym typeface="Symbol" pitchFamily="18" charset="2"/>
              </a:rPr>
              <a:t>/</a:t>
            </a:r>
            <a:r>
              <a:rPr lang="el-GR" altLang="en-US" sz="3000" dirty="0">
                <a:sym typeface="Symbol" pitchFamily="18" charset="2"/>
              </a:rPr>
              <a:t>δ</a:t>
            </a:r>
            <a:r>
              <a:rPr lang="en-US" altLang="en-US" sz="3000" dirty="0">
                <a:sym typeface="Symbol" pitchFamily="18" charset="2"/>
              </a:rPr>
              <a:t>, so</a:t>
            </a:r>
          </a:p>
          <a:p>
            <a:pPr marL="457200" lvl="1" indent="0">
              <a:buNone/>
            </a:pPr>
            <a:r>
              <a:rPr lang="en-US" altLang="en-US" sz="3000" dirty="0">
                <a:sym typeface="Symbol" pitchFamily="18" charset="2"/>
              </a:rPr>
              <a:t>	 </a:t>
            </a:r>
            <a:r>
              <a:rPr lang="en-US" altLang="en-US" sz="3000" i="1" dirty="0">
                <a:solidFill>
                  <a:srgbClr val="FF0000"/>
                </a:solidFill>
                <a:sym typeface="Symbol" pitchFamily="18" charset="2"/>
              </a:rPr>
              <a:t>U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(</a:t>
            </a:r>
            <a:r>
              <a:rPr lang="en-US" altLang="en-US" sz="3000" i="1" dirty="0" err="1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000" dirty="0" err="1">
                <a:solidFill>
                  <a:srgbClr val="FF0000"/>
                </a:solidFill>
                <a:sym typeface="Symbol" pitchFamily="18" charset="2"/>
              </a:rPr>
              <a:t>,</a:t>
            </a:r>
            <a:r>
              <a:rPr lang="en-US" altLang="en-US" sz="3000" i="1" dirty="0" err="1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) = </a:t>
            </a:r>
            <a:r>
              <a:rPr lang="en-US" altLang="en-US" sz="3000" i="1" dirty="0">
                <a:solidFill>
                  <a:srgbClr val="FF0000"/>
                </a:solidFill>
                <a:sym typeface="Symbol" pitchFamily="18" charset="2"/>
              </a:rPr>
              <a:t>x</a:t>
            </a:r>
            <a:r>
              <a:rPr lang="en-US" altLang="en-US" sz="3000" baseline="30000" dirty="0">
                <a:solidFill>
                  <a:srgbClr val="FF0000"/>
                </a:solidFill>
                <a:sym typeface="Symbol" pitchFamily="18" charset="2"/>
              </a:rPr>
              <a:t>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/</a:t>
            </a:r>
            <a:r>
              <a:rPr lang="el-GR" altLang="en-US" sz="3000" dirty="0">
                <a:solidFill>
                  <a:srgbClr val="FF0000"/>
                </a:solidFill>
                <a:sym typeface="Symbol" pitchFamily="18" charset="2"/>
              </a:rPr>
              <a:t>δ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+ </a:t>
            </a:r>
            <a:r>
              <a:rPr lang="en-US" altLang="en-US" sz="3000" i="1" dirty="0">
                <a:solidFill>
                  <a:srgbClr val="FF0000"/>
                </a:solidFill>
                <a:sym typeface="Symbol" pitchFamily="18" charset="2"/>
              </a:rPr>
              <a:t>y</a:t>
            </a:r>
            <a:r>
              <a:rPr lang="en-US" altLang="en-US" sz="3000" baseline="30000" dirty="0">
                <a:solidFill>
                  <a:srgbClr val="FF0000"/>
                </a:solidFill>
                <a:sym typeface="Symbol" pitchFamily="18" charset="2"/>
              </a:rPr>
              <a:t></a:t>
            </a:r>
            <a:r>
              <a:rPr lang="en-US" altLang="en-US" sz="3000" dirty="0">
                <a:solidFill>
                  <a:srgbClr val="FF0000"/>
                </a:solidFill>
                <a:sym typeface="Symbol" pitchFamily="18" charset="2"/>
              </a:rPr>
              <a:t>/ </a:t>
            </a:r>
            <a:endParaRPr lang="en-US" altLang="en-US" sz="3000" dirty="0"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0E7793-DCA1-4954-9423-E784CC4CA65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81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Utility Functions for Specific Preferences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elasticity of substitution, </a:t>
            </a:r>
            <a:r>
              <a:rPr lang="el-GR" altLang="en-US">
                <a:cs typeface="Arial" charset="0"/>
              </a:rPr>
              <a:t>σ</a:t>
            </a:r>
            <a:endParaRPr lang="en-US" altLang="en-US"/>
          </a:p>
          <a:p>
            <a:pPr lvl="1"/>
            <a:r>
              <a:rPr lang="en-US" altLang="en-US"/>
              <a:t>CES utility </a:t>
            </a:r>
            <a:r>
              <a:rPr lang="en-US" altLang="en-US">
                <a:sym typeface="Symbol" pitchFamily="18" charset="2"/>
              </a:rPr>
              <a:t> </a:t>
            </a:r>
            <a:r>
              <a:rPr lang="el-GR" altLang="en-US">
                <a:cs typeface="Arial" charset="0"/>
                <a:sym typeface="Symbol" pitchFamily="18" charset="2"/>
              </a:rPr>
              <a:t>σ</a:t>
            </a:r>
            <a:r>
              <a:rPr lang="en-US" altLang="en-US">
                <a:sym typeface="Symbol" pitchFamily="18" charset="2"/>
              </a:rPr>
              <a:t> = </a:t>
            </a:r>
            <a:r>
              <a:rPr lang="en-US" altLang="en-US"/>
              <a:t> 1/(1 - </a:t>
            </a:r>
            <a:r>
              <a:rPr lang="en-US" altLang="en-US">
                <a:sym typeface="Symbol" pitchFamily="18" charset="2"/>
              </a:rPr>
              <a:t></a:t>
            </a:r>
            <a:r>
              <a:rPr lang="en-US" altLang="en-US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en-US">
                <a:sym typeface="Symbol" pitchFamily="18" charset="2"/>
              </a:rPr>
              <a:t>Perfect substitutes  </a:t>
            </a:r>
            <a:r>
              <a:rPr lang="el-GR" altLang="en-US">
                <a:cs typeface="Arial" charset="0"/>
                <a:sym typeface="Symbol" pitchFamily="18" charset="2"/>
              </a:rPr>
              <a:t>σ</a:t>
            </a:r>
            <a:r>
              <a:rPr lang="en-US" altLang="en-US">
                <a:sym typeface="Symbol" pitchFamily="18" charset="2"/>
              </a:rPr>
              <a:t> = </a:t>
            </a:r>
          </a:p>
          <a:p>
            <a:pPr lvl="1"/>
            <a:r>
              <a:rPr lang="en-US" altLang="en-US">
                <a:sym typeface="Symbol" pitchFamily="18" charset="2"/>
              </a:rPr>
              <a:t>Perfect complements  </a:t>
            </a:r>
            <a:r>
              <a:rPr lang="el-GR" altLang="en-US">
                <a:cs typeface="Arial" charset="0"/>
                <a:sym typeface="Symbol" pitchFamily="18" charset="2"/>
              </a:rPr>
              <a:t>σ</a:t>
            </a:r>
            <a:r>
              <a:rPr lang="en-US" altLang="en-US">
                <a:sym typeface="Symbol" pitchFamily="18" charset="2"/>
              </a:rPr>
              <a:t> = 0</a:t>
            </a:r>
            <a:endParaRPr lang="en-US" altLang="en-US"/>
          </a:p>
          <a:p>
            <a:endParaRPr lang="en-US" altLang="en-US"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CE8479-1CAC-493D-96D8-86307CE9A94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669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" y="762000"/>
            <a:ext cx="8482013" cy="44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3.8 	Examples of Utility Functions (a, b)</a:t>
            </a:r>
          </a:p>
        </p:txBody>
      </p:sp>
      <p:sp>
        <p:nvSpPr>
          <p:cNvPr id="49155" name="Text Placeholder 2"/>
          <p:cNvSpPr>
            <a:spLocks noGrp="1"/>
          </p:cNvSpPr>
          <p:nvPr>
            <p:ph sz="half" idx="1"/>
          </p:nvPr>
        </p:nvSpPr>
        <p:spPr>
          <a:xfrm>
            <a:off x="152400" y="5181600"/>
            <a:ext cx="8763000" cy="12493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four indifference curve maps illustrate alternative degrees of substitutability of x for y. The Cobb–Douglas and constant elasticity of substitution (CES) functions (drawn here for relatively low substitutability) fall between the extremes of perfect substitution (b) and no substitution (c).</a:t>
            </a:r>
          </a:p>
        </p:txBody>
      </p:sp>
      <p:sp>
        <p:nvSpPr>
          <p:cNvPr id="4915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3EE0BB1-CE09-48B3-9A11-FC4CDC943F3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1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762000"/>
            <a:ext cx="8305800" cy="4374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3.8 	 Examples of Utility Functions (c, d)</a:t>
            </a:r>
          </a:p>
        </p:txBody>
      </p:sp>
      <p:sp>
        <p:nvSpPr>
          <p:cNvPr id="50179" name="Text Placeholder 2"/>
          <p:cNvSpPr>
            <a:spLocks noGrp="1"/>
          </p:cNvSpPr>
          <p:nvPr>
            <p:ph sz="half" idx="1"/>
          </p:nvPr>
        </p:nvSpPr>
        <p:spPr>
          <a:xfrm>
            <a:off x="152400" y="5136811"/>
            <a:ext cx="8839200" cy="1217952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four indifference curve maps illustrate alternative degrees of substitutability of x for y. The Cobb–Douglas and constant elasticity of substitution (CES) functions (drawn here for relatively low substitutability) fall between the extremes of perfect substitution (b) and no substitution (c).</a:t>
            </a:r>
          </a:p>
        </p:txBody>
      </p:sp>
      <p:sp>
        <p:nvSpPr>
          <p:cNvPr id="5018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E2E856-5663-4B99-BFE7-491602275E5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5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3.3 	Homothetic Preferences</a:t>
            </a:r>
          </a:p>
        </p:txBody>
      </p:sp>
      <p:sp>
        <p:nvSpPr>
          <p:cNvPr id="5120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DF5FEFD-AEC6-4C97-BA47-DFD4DEA569B6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5120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Utility function is homothetic</a:t>
            </a:r>
          </a:p>
          <a:p>
            <a:pPr lvl="1"/>
            <a:r>
              <a:rPr lang="en-US" altLang="en-US" dirty="0"/>
              <a:t>If the </a:t>
            </a:r>
            <a:r>
              <a:rPr lang="en-US" altLang="en-US" i="1" dirty="0"/>
              <a:t>MRS</a:t>
            </a:r>
            <a:r>
              <a:rPr lang="en-US" altLang="en-US" dirty="0"/>
              <a:t> depends only on the ratio of the amounts of the two goods </a:t>
            </a:r>
          </a:p>
          <a:p>
            <a:pPr lvl="2"/>
            <a:r>
              <a:rPr lang="en-US" altLang="en-US" dirty="0"/>
              <a:t>Not on the total quantities of the good</a:t>
            </a:r>
          </a:p>
          <a:p>
            <a:r>
              <a:rPr lang="en-US" altLang="en-US" dirty="0"/>
              <a:t>Perfect substitutes</a:t>
            </a:r>
          </a:p>
          <a:p>
            <a:pPr lvl="1"/>
            <a:r>
              <a:rPr lang="en-US" altLang="en-US" i="1" dirty="0">
                <a:sym typeface="Symbol" pitchFamily="18" charset="2"/>
              </a:rPr>
              <a:t>MRS</a:t>
            </a:r>
            <a:r>
              <a:rPr lang="en-US" altLang="en-US" dirty="0">
                <a:sym typeface="Symbol" pitchFamily="18" charset="2"/>
              </a:rPr>
              <a:t> is the same at every point</a:t>
            </a:r>
          </a:p>
          <a:p>
            <a:r>
              <a:rPr lang="en-US" altLang="en-US" dirty="0">
                <a:sym typeface="Symbol" pitchFamily="18" charset="2"/>
              </a:rPr>
              <a:t>Perfect complements</a:t>
            </a:r>
          </a:p>
          <a:p>
            <a:pPr lvl="1"/>
            <a:r>
              <a:rPr lang="en-US" altLang="en-US" i="1" dirty="0">
                <a:sym typeface="Symbol" pitchFamily="18" charset="2"/>
              </a:rPr>
              <a:t>MRS</a:t>
            </a:r>
            <a:r>
              <a:rPr lang="en-US" altLang="en-US" dirty="0">
                <a:sym typeface="Symbol" pitchFamily="18" charset="2"/>
              </a:rPr>
              <a:t> is  if </a:t>
            </a:r>
            <a:r>
              <a:rPr lang="en-US" altLang="en-US" i="1" dirty="0">
                <a:sym typeface="Symbol" pitchFamily="18" charset="2"/>
              </a:rPr>
              <a:t>y</a:t>
            </a:r>
            <a:r>
              <a:rPr lang="en-US" altLang="en-US" dirty="0">
                <a:sym typeface="Symbol" pitchFamily="18" charset="2"/>
              </a:rPr>
              <a:t>/</a:t>
            </a:r>
            <a:r>
              <a:rPr lang="en-US" altLang="en-US" i="1" dirty="0">
                <a:sym typeface="Symbol" pitchFamily="18" charset="2"/>
              </a:rPr>
              <a:t>x</a:t>
            </a:r>
            <a:r>
              <a:rPr lang="en-US" altLang="en-US" dirty="0">
                <a:sym typeface="Symbol" pitchFamily="18" charset="2"/>
              </a:rPr>
              <a:t> &gt; /</a:t>
            </a:r>
          </a:p>
          <a:p>
            <a:pPr lvl="1"/>
            <a:r>
              <a:rPr lang="en-US" altLang="en-US" i="1" dirty="0">
                <a:sym typeface="Symbol" pitchFamily="18" charset="2"/>
              </a:rPr>
              <a:t>MRS </a:t>
            </a:r>
            <a:r>
              <a:rPr lang="en-US" altLang="en-US" dirty="0">
                <a:sym typeface="Symbol" pitchFamily="18" charset="2"/>
              </a:rPr>
              <a:t>is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undefined if </a:t>
            </a:r>
            <a:r>
              <a:rPr lang="en-US" altLang="en-US" i="1" dirty="0">
                <a:sym typeface="Symbol" pitchFamily="18" charset="2"/>
              </a:rPr>
              <a:t>y</a:t>
            </a:r>
            <a:r>
              <a:rPr lang="en-US" altLang="en-US" dirty="0">
                <a:sym typeface="Symbol" pitchFamily="18" charset="2"/>
              </a:rPr>
              <a:t>/</a:t>
            </a:r>
            <a:r>
              <a:rPr lang="en-US" altLang="en-US" i="1" dirty="0">
                <a:sym typeface="Symbol" pitchFamily="18" charset="2"/>
              </a:rPr>
              <a:t>x</a:t>
            </a:r>
            <a:r>
              <a:rPr lang="en-US" altLang="en-US" dirty="0">
                <a:sym typeface="Symbol" pitchFamily="18" charset="2"/>
              </a:rPr>
              <a:t> = /</a:t>
            </a:r>
          </a:p>
          <a:p>
            <a:pPr lvl="1"/>
            <a:r>
              <a:rPr lang="en-US" altLang="en-US" i="1" dirty="0">
                <a:sym typeface="Symbol" pitchFamily="18" charset="2"/>
              </a:rPr>
              <a:t>MRS</a:t>
            </a:r>
            <a:r>
              <a:rPr lang="en-US" altLang="en-US" dirty="0">
                <a:sym typeface="Symbol" pitchFamily="18" charset="2"/>
              </a:rPr>
              <a:t> is 0 if </a:t>
            </a:r>
            <a:r>
              <a:rPr lang="en-US" altLang="en-US" i="1" dirty="0">
                <a:sym typeface="Symbol" pitchFamily="18" charset="2"/>
              </a:rPr>
              <a:t>y</a:t>
            </a:r>
            <a:r>
              <a:rPr lang="en-US" altLang="en-US" dirty="0">
                <a:sym typeface="Symbol" pitchFamily="18" charset="2"/>
              </a:rPr>
              <a:t>/</a:t>
            </a:r>
            <a:r>
              <a:rPr lang="en-US" altLang="en-US" i="1" dirty="0">
                <a:sym typeface="Symbol" pitchFamily="18" charset="2"/>
              </a:rPr>
              <a:t>x</a:t>
            </a:r>
            <a:r>
              <a:rPr lang="en-US" altLang="en-US" dirty="0">
                <a:sym typeface="Symbol" pitchFamily="18" charset="2"/>
              </a:rPr>
              <a:t> &lt; /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65402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3.3 	Homothetic Preferences</a:t>
            </a:r>
          </a:p>
        </p:txBody>
      </p:sp>
      <p:sp>
        <p:nvSpPr>
          <p:cNvPr id="6150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E80AFA6-EFD4-40CD-9B18-147AB03CD240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148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/>
              <a:t>General Cobb-Douglas function</a:t>
            </a:r>
          </a:p>
          <a:p>
            <a:pPr lvl="1"/>
            <a:r>
              <a:rPr lang="en-US" altLang="en-US"/>
              <a:t>The </a:t>
            </a:r>
            <a:r>
              <a:rPr lang="en-US" altLang="en-US" i="1"/>
              <a:t>MRS</a:t>
            </a:r>
            <a:r>
              <a:rPr lang="en-US" altLang="en-US"/>
              <a:t> depends only on the ratio y/x</a:t>
            </a:r>
            <a:endParaRPr lang="en-US" altLang="en-US">
              <a:sym typeface="Symbol" pitchFamily="18" charset="2"/>
            </a:endParaRPr>
          </a:p>
          <a:p>
            <a:endParaRPr lang="en-US" altLang="en-US"/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942975" y="1952625"/>
          <a:ext cx="5962650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08" name="Equation" r:id="rId3" imgW="2095200" imgH="457200" progId="Equation.DSMT4">
                  <p:embed/>
                </p:oleObj>
              </mc:Choice>
              <mc:Fallback>
                <p:oleObj name="Equation" r:id="rId3" imgW="2095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975" y="1952625"/>
                        <a:ext cx="5962650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039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3.4 	Nonhomothetic Preferences</a:t>
            </a:r>
          </a:p>
        </p:txBody>
      </p:sp>
      <p:sp>
        <p:nvSpPr>
          <p:cNvPr id="717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39C449E-D4AF-4ECC-B1BE-E2D153168C13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717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Some utility functions do not exhibit homothetic preferences</a:t>
            </a:r>
          </a:p>
          <a:p>
            <a:pPr>
              <a:buFont typeface="Arial" charset="0"/>
              <a:buNone/>
            </a:pPr>
            <a:r>
              <a:rPr lang="en-US" altLang="en-US" dirty="0">
                <a:solidFill>
                  <a:srgbClr val="FF0000"/>
                </a:solidFill>
              </a:rPr>
              <a:t>	utility = </a:t>
            </a:r>
            <a:r>
              <a:rPr lang="en-US" altLang="en-US" i="1" dirty="0">
                <a:solidFill>
                  <a:srgbClr val="FF0000"/>
                </a:solidFill>
              </a:rPr>
              <a:t>U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i="1" dirty="0" err="1">
                <a:solidFill>
                  <a:srgbClr val="FF0000"/>
                </a:solidFill>
              </a:rPr>
              <a:t>x</a:t>
            </a:r>
            <a:r>
              <a:rPr lang="en-US" altLang="en-US" dirty="0" err="1">
                <a:solidFill>
                  <a:srgbClr val="FF0000"/>
                </a:solidFill>
              </a:rPr>
              <a:t>,</a:t>
            </a:r>
            <a:r>
              <a:rPr lang="en-US" altLang="en-US" i="1" dirty="0" err="1">
                <a:solidFill>
                  <a:srgbClr val="FF0000"/>
                </a:solidFill>
              </a:rPr>
              <a:t>y</a:t>
            </a:r>
            <a:r>
              <a:rPr lang="en-US" altLang="en-US" dirty="0">
                <a:solidFill>
                  <a:srgbClr val="FF0000"/>
                </a:solidFill>
              </a:rPr>
              <a:t>) = 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dirty="0">
                <a:solidFill>
                  <a:srgbClr val="FF0000"/>
                </a:solidFill>
              </a:rPr>
              <a:t> + ln </a:t>
            </a:r>
            <a:r>
              <a:rPr lang="en-US" altLang="en-US" i="1" dirty="0">
                <a:solidFill>
                  <a:srgbClr val="FF0000"/>
                </a:solidFill>
              </a:rPr>
              <a:t>y</a:t>
            </a:r>
          </a:p>
          <a:p>
            <a:pPr lvl="1"/>
            <a:r>
              <a:rPr lang="en-US" altLang="en-US" dirty="0"/>
              <a:t>Good y exhibits diminishing marginal utility, but good x does not</a:t>
            </a:r>
          </a:p>
          <a:p>
            <a:pPr lvl="1"/>
            <a:r>
              <a:rPr lang="en-US" altLang="en-US" dirty="0"/>
              <a:t>The MRS diminishes as the chosen quantity of y decreases, but it is independent of the quantity of x consumed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4025" y="3198813"/>
            <a:ext cx="8077200" cy="1752600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sz="3200" kern="0" dirty="0">
                <a:solidFill>
                  <a:srgbClr val="FF0000"/>
                </a:solidFill>
                <a:latin typeface="+mn-lt"/>
                <a:cs typeface="+mn-cs"/>
              </a:rPr>
              <a:t>		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689100" y="4713288"/>
          <a:ext cx="4343400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32" name="Equation" r:id="rId3" imgW="1549080" imgH="431640" progId="Equation.DSMT4">
                  <p:embed/>
                </p:oleObj>
              </mc:Choice>
              <mc:Fallback>
                <p:oleObj name="Equation" r:id="rId3" imgW="15490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4713288"/>
                        <a:ext cx="4343400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375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Many-Good Case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Suppose utility is a function of </a:t>
            </a:r>
            <a:r>
              <a:rPr lang="en-US" altLang="en-US" i="1" dirty="0"/>
              <a:t>n</a:t>
            </a:r>
            <a:r>
              <a:rPr lang="en-US" altLang="en-US" dirty="0"/>
              <a:t> goods given by </a:t>
            </a:r>
            <a:r>
              <a:rPr lang="en-US" altLang="en-US" i="1" dirty="0">
                <a:solidFill>
                  <a:srgbClr val="FF0000"/>
                </a:solidFill>
              </a:rPr>
              <a:t>U</a:t>
            </a:r>
            <a:r>
              <a:rPr lang="en-US" altLang="en-US" dirty="0">
                <a:solidFill>
                  <a:srgbClr val="FF0000"/>
                </a:solidFill>
              </a:rPr>
              <a:t>(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baseline="-25000" dirty="0">
                <a:solidFill>
                  <a:srgbClr val="FF0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, </a:t>
            </a:r>
            <a:r>
              <a:rPr lang="en-US" altLang="en-US" i="1" dirty="0">
                <a:solidFill>
                  <a:srgbClr val="FF0000"/>
                </a:solidFill>
              </a:rPr>
              <a:t>x</a:t>
            </a:r>
            <a:r>
              <a:rPr lang="en-US" altLang="en-US" baseline="-25000" dirty="0">
                <a:solidFill>
                  <a:srgbClr val="FF0000"/>
                </a:solidFill>
              </a:rPr>
              <a:t>2</a:t>
            </a:r>
            <a:r>
              <a:rPr lang="en-US" altLang="en-US" dirty="0">
                <a:solidFill>
                  <a:srgbClr val="FF0000"/>
                </a:solidFill>
              </a:rPr>
              <a:t>,…, </a:t>
            </a:r>
            <a:r>
              <a:rPr lang="en-US" altLang="en-US" i="1" dirty="0" err="1">
                <a:solidFill>
                  <a:srgbClr val="FF0000"/>
                </a:solidFill>
              </a:rPr>
              <a:t>x</a:t>
            </a:r>
            <a:r>
              <a:rPr lang="en-US" altLang="en-US" baseline="-25000" dirty="0" err="1">
                <a:solidFill>
                  <a:srgbClr val="FF0000"/>
                </a:solidFill>
              </a:rPr>
              <a:t>n</a:t>
            </a:r>
            <a:r>
              <a:rPr lang="en-US" altLang="en-US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Equation </a:t>
            </a:r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x</a:t>
            </a:r>
            <a:r>
              <a:rPr lang="en-US" altLang="en-US" baseline="-25000" dirty="0"/>
              <a:t>2</a:t>
            </a:r>
            <a:r>
              <a:rPr lang="en-US" altLang="en-US" dirty="0"/>
              <a:t>,…, </a:t>
            </a:r>
            <a:r>
              <a:rPr lang="en-US" altLang="en-US" i="1" dirty="0" err="1"/>
              <a:t>x</a:t>
            </a:r>
            <a:r>
              <a:rPr lang="en-US" altLang="en-US" baseline="-25000" dirty="0" err="1"/>
              <a:t>n</a:t>
            </a:r>
            <a:r>
              <a:rPr lang="en-US" altLang="en-US" dirty="0"/>
              <a:t>)=k</a:t>
            </a:r>
          </a:p>
          <a:p>
            <a:pPr lvl="1"/>
            <a:r>
              <a:rPr lang="en-US" altLang="en-US" dirty="0"/>
              <a:t>Defines an indifference surface in n dimensions</a:t>
            </a:r>
          </a:p>
          <a:p>
            <a:pPr lvl="2"/>
            <a:r>
              <a:rPr lang="en-US" altLang="en-US" dirty="0"/>
              <a:t>All those combinations of the n goods that yield the same level of utility (Convex surface)</a:t>
            </a:r>
          </a:p>
          <a:p>
            <a:pPr lvl="1"/>
            <a:r>
              <a:rPr lang="en-US" altLang="en-US" dirty="0"/>
              <a:t>Quasi-concave</a:t>
            </a:r>
          </a:p>
          <a:p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458E64-5C58-406F-8EDD-45B1C636C8C1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443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Many-Good Case</a:t>
            </a:r>
          </a:p>
        </p:txBody>
      </p:sp>
      <p:sp>
        <p:nvSpPr>
          <p:cNvPr id="81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MRS with many goods</a:t>
            </a:r>
            <a:endParaRPr lang="en-US" altLang="en-US">
              <a:solidFill>
                <a:srgbClr val="FF0000"/>
              </a:solidFill>
            </a:endParaRPr>
          </a:p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F0E553-15EC-412B-8D2E-0192E9192BF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415829"/>
              </p:ext>
            </p:extLst>
          </p:nvPr>
        </p:nvGraphicFramePr>
        <p:xfrm>
          <a:off x="515938" y="1941513"/>
          <a:ext cx="7850187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56" name="Equation" r:id="rId3" imgW="2679480" imgH="507960" progId="Equation.DSMT4">
                  <p:embed/>
                </p:oleObj>
              </mc:Choice>
              <mc:Fallback>
                <p:oleObj name="Equation" r:id="rId3" imgW="26794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1941513"/>
                        <a:ext cx="7850187" cy="148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028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Special Preferences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D4AA2A-E8F6-4D42-A505-F54B93F7C1B5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53251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/>
              <a:t>The utility function   </a:t>
            </a:r>
          </a:p>
          <a:p>
            <a:pPr lvl="1"/>
            <a:r>
              <a:rPr lang="en-US" altLang="en-US" dirty="0"/>
              <a:t>General concept</a:t>
            </a:r>
          </a:p>
          <a:p>
            <a:pPr lvl="1"/>
            <a:r>
              <a:rPr lang="en-US" altLang="en-US" dirty="0"/>
              <a:t>Can be adapted to a large number of special circumstances</a:t>
            </a:r>
          </a:p>
          <a:p>
            <a:r>
              <a:rPr lang="en-US" altLang="en-US" dirty="0"/>
              <a:t>Aspects of preferences that economists have tried to model</a:t>
            </a:r>
          </a:p>
          <a:p>
            <a:pPr lvl="2">
              <a:buFontTx/>
              <a:buNone/>
            </a:pPr>
            <a:r>
              <a:rPr lang="en-US" altLang="en-US" dirty="0"/>
              <a:t>(1) threshold effects</a:t>
            </a:r>
          </a:p>
          <a:p>
            <a:pPr lvl="2">
              <a:buFontTx/>
              <a:buNone/>
            </a:pPr>
            <a:r>
              <a:rPr lang="en-US" altLang="en-US" dirty="0"/>
              <a:t>(2) quality</a:t>
            </a:r>
          </a:p>
          <a:p>
            <a:pPr lvl="2">
              <a:buFontTx/>
              <a:buNone/>
            </a:pPr>
            <a:r>
              <a:rPr lang="en-US" altLang="en-US" dirty="0"/>
              <a:t>(3) habits and addiction</a:t>
            </a:r>
          </a:p>
          <a:p>
            <a:pPr lvl="2">
              <a:buFontTx/>
              <a:buNone/>
            </a:pPr>
            <a:r>
              <a:rPr lang="en-US" altLang="en-US" dirty="0"/>
              <a:t>(4) second-party preferences</a:t>
            </a:r>
          </a:p>
        </p:txBody>
      </p:sp>
    </p:spTree>
    <p:extLst>
      <p:ext uri="{BB962C8B-B14F-4D97-AF65-F5344CB8AC3E}">
        <p14:creationId xmlns:p14="http://schemas.microsoft.com/office/powerpoint/2010/main" val="33235377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Threshold effects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28CF1B-4C4D-4449-BF81-B2FEF5DDB395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54275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/>
              <a:t>People may be ‘‘set in their ways’’ </a:t>
            </a:r>
          </a:p>
          <a:p>
            <a:pPr lvl="1"/>
            <a:r>
              <a:rPr lang="en-US" altLang="en-US"/>
              <a:t>May require a rather large change in circumstances to change what they do</a:t>
            </a:r>
          </a:p>
          <a:p>
            <a:pPr lvl="1"/>
            <a:r>
              <a:rPr lang="en-US" altLang="en-US"/>
              <a:t>Assume individuals make decisions as though they faced thresholds of preference</a:t>
            </a:r>
          </a:p>
          <a:p>
            <a:r>
              <a:rPr lang="en-US" altLang="en-US"/>
              <a:t>Bundle A might be chosen over B only when: U(A) &gt; U(B) + </a:t>
            </a:r>
            <a:r>
              <a:rPr lang="el-GR" altLang="en-US">
                <a:cs typeface="Arial" charset="0"/>
              </a:rPr>
              <a:t>ε</a:t>
            </a:r>
            <a:r>
              <a:rPr lang="en-US" altLang="en-US">
                <a:cs typeface="Arial" charset="0"/>
              </a:rPr>
              <a:t> </a:t>
            </a:r>
          </a:p>
          <a:p>
            <a:pPr lvl="1"/>
            <a:r>
              <a:rPr lang="en-US" altLang="en-US">
                <a:cs typeface="Arial" charset="0"/>
              </a:rPr>
              <a:t>Where </a:t>
            </a:r>
            <a:r>
              <a:rPr lang="el-GR" altLang="en-US">
                <a:cs typeface="Arial" charset="0"/>
              </a:rPr>
              <a:t>ε </a:t>
            </a:r>
            <a:r>
              <a:rPr lang="en-US" altLang="en-US"/>
              <a:t>is the threshold that must be overcome</a:t>
            </a:r>
          </a:p>
        </p:txBody>
      </p:sp>
    </p:spTree>
    <p:extLst>
      <p:ext uri="{BB962C8B-B14F-4D97-AF65-F5344CB8AC3E}">
        <p14:creationId xmlns:p14="http://schemas.microsoft.com/office/powerpoint/2010/main" val="865667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Quality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173F88-03A2-4490-A183-849EC14CFA2C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55299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/>
              <a:t>Many consumption items differ in quality</a:t>
            </a:r>
          </a:p>
          <a:p>
            <a:pPr lvl="1"/>
            <a:r>
              <a:rPr lang="en-US" altLang="en-US" dirty="0"/>
              <a:t>Focus on quality as a direct item of choice</a:t>
            </a:r>
          </a:p>
          <a:p>
            <a:r>
              <a:rPr lang="en-US" altLang="en-US" dirty="0"/>
              <a:t>Utility = </a:t>
            </a:r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 err="1"/>
              <a:t>q</a:t>
            </a:r>
            <a:r>
              <a:rPr lang="en-US" altLang="en-US" dirty="0" err="1"/>
              <a:t>,</a:t>
            </a:r>
            <a:r>
              <a:rPr lang="en-US" altLang="en-US" i="1" dirty="0" err="1"/>
              <a:t>Q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q is the quantity consumed </a:t>
            </a:r>
          </a:p>
          <a:p>
            <a:pPr lvl="1"/>
            <a:r>
              <a:rPr lang="en-US" altLang="en-US" dirty="0"/>
              <a:t>Q is the quality of that consumption</a:t>
            </a:r>
          </a:p>
          <a:p>
            <a:r>
              <a:rPr lang="en-US" altLang="en-US" dirty="0"/>
              <a:t>Utility = </a:t>
            </a:r>
            <a:r>
              <a:rPr lang="en-US" altLang="en-US" i="1" dirty="0"/>
              <a:t>U</a:t>
            </a:r>
            <a:r>
              <a:rPr lang="en-US" altLang="en-US" dirty="0"/>
              <a:t>[</a:t>
            </a:r>
            <a:r>
              <a:rPr lang="en-US" altLang="en-US" i="1" dirty="0"/>
              <a:t>q</a:t>
            </a:r>
            <a:r>
              <a:rPr lang="en-US" altLang="en-US" dirty="0"/>
              <a:t>,</a:t>
            </a:r>
            <a:r>
              <a:rPr lang="en-US" altLang="en-US" i="1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),</a:t>
            </a:r>
            <a:r>
              <a:rPr lang="en-US" altLang="en-US" i="1" dirty="0"/>
              <a:t>a</a:t>
            </a:r>
            <a:r>
              <a:rPr lang="en-US" altLang="en-US" baseline="-25000" dirty="0"/>
              <a:t>2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)]</a:t>
            </a:r>
          </a:p>
          <a:p>
            <a:pPr lvl="1"/>
            <a:r>
              <a:rPr lang="en-US" altLang="en-US" dirty="0"/>
              <a:t>Good q provides a well-defined set of attributes of goods (a)</a:t>
            </a:r>
          </a:p>
          <a:p>
            <a:pPr lvl="2"/>
            <a:r>
              <a:rPr lang="en-US" altLang="en-US" dirty="0"/>
              <a:t>Assumes that those attributes provide utility</a:t>
            </a:r>
          </a:p>
        </p:txBody>
      </p:sp>
    </p:spTree>
    <p:extLst>
      <p:ext uri="{BB962C8B-B14F-4D97-AF65-F5344CB8AC3E}">
        <p14:creationId xmlns:p14="http://schemas.microsoft.com/office/powerpoint/2010/main" val="39639261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Habits and addiction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62B0D5-04E3-4F72-B341-179BC732DCCA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56323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/>
              <a:t>Habits </a:t>
            </a:r>
          </a:p>
          <a:p>
            <a:pPr lvl="1"/>
            <a:r>
              <a:rPr lang="en-US" altLang="en-US"/>
              <a:t>Are formed when individuals discover they enjoy using a commodity in one period </a:t>
            </a:r>
          </a:p>
          <a:p>
            <a:pPr lvl="1"/>
            <a:r>
              <a:rPr lang="en-US" altLang="en-US"/>
              <a:t>And this increases their consumption in subsequent periods</a:t>
            </a:r>
          </a:p>
          <a:p>
            <a:r>
              <a:rPr lang="en-US" altLang="en-US"/>
              <a:t>Addiction</a:t>
            </a:r>
          </a:p>
          <a:p>
            <a:pPr lvl="1"/>
            <a:r>
              <a:rPr lang="en-US" altLang="en-US"/>
              <a:t>An extreme case of habits</a:t>
            </a:r>
          </a:p>
          <a:p>
            <a:pPr lvl="1"/>
            <a:r>
              <a:rPr lang="en-US" altLang="en-US"/>
              <a:t>Past consumption significantly increases the utility of present consumption</a:t>
            </a:r>
          </a:p>
        </p:txBody>
      </p:sp>
    </p:spTree>
    <p:extLst>
      <p:ext uri="{BB962C8B-B14F-4D97-AF65-F5344CB8AC3E}">
        <p14:creationId xmlns:p14="http://schemas.microsoft.com/office/powerpoint/2010/main" val="37016321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Habits and addiction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8B89AE9-5215-4EAF-A654-7F62DB058472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9220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/>
              <a:t>Utility = </a:t>
            </a:r>
            <a:r>
              <a:rPr lang="en-US" altLang="en-US" i="1" dirty="0"/>
              <a:t>U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baseline="-25000" dirty="0" err="1"/>
              <a:t>t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baseline="-25000" dirty="0" err="1"/>
              <a:t>t</a:t>
            </a:r>
            <a:r>
              <a:rPr lang="en-US" altLang="en-US" dirty="0" err="1"/>
              <a:t>,</a:t>
            </a:r>
            <a:r>
              <a:rPr lang="en-US" altLang="en-US" i="1" dirty="0" err="1"/>
              <a:t>s</a:t>
            </a:r>
            <a:r>
              <a:rPr lang="en-US" altLang="en-US" baseline="-25000" dirty="0" err="1"/>
              <a:t>t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Utility in period t depends on </a:t>
            </a:r>
          </a:p>
          <a:p>
            <a:pPr lvl="2"/>
            <a:r>
              <a:rPr lang="en-US" altLang="en-US" dirty="0"/>
              <a:t>Consumption in period t and the total of all previous consumption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57200" y="3962400"/>
            <a:ext cx="8305800" cy="2286000"/>
          </a:xfrm>
        </p:spPr>
        <p:txBody>
          <a:bodyPr/>
          <a:lstStyle/>
          <a:p>
            <a:pPr eaLnBrk="0" hangingPunct="0">
              <a:buFontTx/>
              <a:buChar char="•"/>
              <a:defRPr/>
            </a:pPr>
            <a:r>
              <a:rPr lang="en-US" kern="0" dirty="0">
                <a:solidFill>
                  <a:srgbClr val="FF0000"/>
                </a:solidFill>
              </a:rPr>
              <a:t>Utility = </a:t>
            </a:r>
            <a:r>
              <a:rPr lang="en-US" i="1" kern="0" dirty="0">
                <a:solidFill>
                  <a:srgbClr val="FF0000"/>
                </a:solidFill>
              </a:rPr>
              <a:t>U</a:t>
            </a:r>
            <a:r>
              <a:rPr lang="en-US" kern="0" dirty="0">
                <a:solidFill>
                  <a:srgbClr val="FF0000"/>
                </a:solidFill>
              </a:rPr>
              <a:t>(</a:t>
            </a:r>
            <a:r>
              <a:rPr lang="en-US" i="1" kern="0" dirty="0" err="1">
                <a:solidFill>
                  <a:srgbClr val="FF0000"/>
                </a:solidFill>
              </a:rPr>
              <a:t>x</a:t>
            </a:r>
            <a:r>
              <a:rPr lang="en-US" kern="0" baseline="-25000" dirty="0" err="1">
                <a:solidFill>
                  <a:srgbClr val="FF0000"/>
                </a:solidFill>
              </a:rPr>
              <a:t>t</a:t>
            </a:r>
            <a:r>
              <a:rPr lang="en-US" kern="0" dirty="0">
                <a:solidFill>
                  <a:srgbClr val="FF0000"/>
                </a:solidFill>
              </a:rPr>
              <a:t>*,</a:t>
            </a:r>
            <a:r>
              <a:rPr lang="en-US" i="1" kern="0" dirty="0" err="1">
                <a:solidFill>
                  <a:srgbClr val="FF0000"/>
                </a:solidFill>
              </a:rPr>
              <a:t>y</a:t>
            </a:r>
            <a:r>
              <a:rPr lang="en-US" kern="0" baseline="-25000" dirty="0" err="1">
                <a:solidFill>
                  <a:srgbClr val="FF0000"/>
                </a:solidFill>
              </a:rPr>
              <a:t>t</a:t>
            </a:r>
            <a:r>
              <a:rPr lang="en-US" kern="0" dirty="0">
                <a:solidFill>
                  <a:srgbClr val="FF0000"/>
                </a:solidFill>
              </a:rPr>
              <a:t>) 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sz="3200" kern="0" dirty="0" err="1"/>
              <a:t>x</a:t>
            </a:r>
            <a:r>
              <a:rPr lang="en-US" sz="3200" kern="0" baseline="-25000" dirty="0" err="1"/>
              <a:t>t</a:t>
            </a:r>
            <a:r>
              <a:rPr lang="en-US" sz="3200" kern="0" dirty="0"/>
              <a:t>* is a function of </a:t>
            </a:r>
          </a:p>
          <a:p>
            <a:pPr lvl="2" eaLnBrk="0" hangingPunct="0">
              <a:buSzPct val="90000"/>
              <a:buFontTx/>
              <a:buChar char="•"/>
              <a:defRPr/>
            </a:pPr>
            <a:r>
              <a:rPr lang="en-US" kern="0" dirty="0"/>
              <a:t>Current consumption (</a:t>
            </a:r>
            <a:r>
              <a:rPr lang="en-US" kern="0" dirty="0" err="1"/>
              <a:t>x</a:t>
            </a:r>
            <a:r>
              <a:rPr lang="en-US" kern="0" baseline="-25000" dirty="0" err="1"/>
              <a:t>t</a:t>
            </a:r>
            <a:r>
              <a:rPr lang="en-US" kern="0" dirty="0"/>
              <a:t>) and consumption in the previous period (x</a:t>
            </a:r>
            <a:r>
              <a:rPr lang="en-US" kern="0" baseline="-25000" dirty="0"/>
              <a:t>t-1</a:t>
            </a:r>
            <a:r>
              <a:rPr lang="en-US" kern="0" dirty="0"/>
              <a:t>)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069943"/>
              </p:ext>
            </p:extLst>
          </p:nvPr>
        </p:nvGraphicFramePr>
        <p:xfrm>
          <a:off x="1512888" y="2667000"/>
          <a:ext cx="2103437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81" name="Equation" r:id="rId3" imgW="685800" imgH="431640" progId="Equation.DSMT4">
                  <p:embed/>
                </p:oleObj>
              </mc:Choice>
              <mc:Fallback>
                <p:oleObj name="Equation" r:id="rId3" imgW="685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2888" y="2667000"/>
                        <a:ext cx="2103437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277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Second-party preferences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9E949D3-7FC6-4206-9CD4-430C9251E54A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57347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/>
              <a:t>Second-party preferences </a:t>
            </a:r>
          </a:p>
          <a:p>
            <a:pPr lvl="1"/>
            <a:r>
              <a:rPr lang="en-US" altLang="en-US" dirty="0"/>
              <a:t>Can be incorporated into the utility function of person </a:t>
            </a:r>
            <a:r>
              <a:rPr lang="en-US" altLang="en-US" dirty="0" err="1"/>
              <a:t>i</a:t>
            </a:r>
            <a:endParaRPr lang="en-US" altLang="en-US" dirty="0"/>
          </a:p>
          <a:p>
            <a:r>
              <a:rPr lang="en-US" altLang="en-US" dirty="0"/>
              <a:t>Utility = </a:t>
            </a:r>
            <a:r>
              <a:rPr lang="en-US" altLang="en-US" i="1" dirty="0" err="1"/>
              <a:t>U</a:t>
            </a:r>
            <a:r>
              <a:rPr lang="en-US" altLang="en-US" baseline="-25000" dirty="0" err="1"/>
              <a:t>i</a:t>
            </a:r>
            <a:r>
              <a:rPr lang="en-US" altLang="en-US" dirty="0"/>
              <a:t>(</a:t>
            </a:r>
            <a:r>
              <a:rPr lang="en-US" altLang="en-US" i="1" dirty="0" err="1"/>
              <a:t>x</a:t>
            </a:r>
            <a:r>
              <a:rPr lang="en-US" altLang="en-US" baseline="-25000" dirty="0" err="1"/>
              <a:t>i</a:t>
            </a:r>
            <a:r>
              <a:rPr lang="en-US" altLang="en-US" dirty="0" err="1"/>
              <a:t>,</a:t>
            </a:r>
            <a:r>
              <a:rPr lang="en-US" altLang="en-US" i="1" dirty="0" err="1"/>
              <a:t>y</a:t>
            </a:r>
            <a:r>
              <a:rPr lang="en-US" altLang="en-US" baseline="-25000" dirty="0" err="1"/>
              <a:t>i</a:t>
            </a:r>
            <a:r>
              <a:rPr lang="en-US" altLang="en-US" dirty="0" err="1"/>
              <a:t>,</a:t>
            </a:r>
            <a:r>
              <a:rPr lang="en-US" altLang="en-US" i="1" dirty="0" err="1"/>
              <a:t>U</a:t>
            </a:r>
            <a:r>
              <a:rPr lang="en-US" altLang="en-US" baseline="-25000" dirty="0" err="1"/>
              <a:t>j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Where </a:t>
            </a:r>
            <a:r>
              <a:rPr lang="en-US" altLang="en-US" dirty="0" err="1"/>
              <a:t>U</a:t>
            </a:r>
            <a:r>
              <a:rPr lang="en-US" altLang="en-US" baseline="-25000" dirty="0" err="1"/>
              <a:t>j</a:t>
            </a:r>
            <a:r>
              <a:rPr lang="en-US" altLang="en-US" dirty="0"/>
              <a:t> is the utility of someone else</a:t>
            </a:r>
          </a:p>
          <a:p>
            <a:r>
              <a:rPr lang="en-US" altLang="en-US" dirty="0"/>
              <a:t>If </a:t>
            </a:r>
            <a:r>
              <a:rPr lang="en-US" altLang="en-US" dirty="0">
                <a:cs typeface="Arial" charset="0"/>
              </a:rPr>
              <a:t>∂</a:t>
            </a:r>
            <a:r>
              <a:rPr lang="en-US" altLang="en-US" dirty="0" err="1">
                <a:cs typeface="Arial" charset="0"/>
              </a:rPr>
              <a:t>U</a:t>
            </a:r>
            <a:r>
              <a:rPr lang="en-US" altLang="en-US" baseline="-25000" dirty="0" err="1">
                <a:cs typeface="Arial" charset="0"/>
              </a:rPr>
              <a:t>i</a:t>
            </a:r>
            <a:r>
              <a:rPr lang="en-US" altLang="en-US" dirty="0">
                <a:cs typeface="Arial" charset="0"/>
              </a:rPr>
              <a:t>/∂</a:t>
            </a:r>
            <a:r>
              <a:rPr lang="en-US" altLang="en-US" dirty="0" err="1">
                <a:cs typeface="Arial" charset="0"/>
              </a:rPr>
              <a:t>U</a:t>
            </a:r>
            <a:r>
              <a:rPr lang="en-US" altLang="en-US" baseline="-25000" dirty="0" err="1">
                <a:cs typeface="Arial" charset="0"/>
              </a:rPr>
              <a:t>j</a:t>
            </a:r>
            <a:r>
              <a:rPr lang="en-US" altLang="en-US" dirty="0">
                <a:cs typeface="Arial" charset="0"/>
              </a:rPr>
              <a:t>&gt;0</a:t>
            </a:r>
          </a:p>
          <a:p>
            <a:pPr lvl="1"/>
            <a:r>
              <a:rPr lang="en-US" altLang="en-US" dirty="0">
                <a:cs typeface="Arial" charset="0"/>
              </a:rPr>
              <a:t>T</a:t>
            </a:r>
            <a:r>
              <a:rPr lang="en-US" altLang="en-US" dirty="0"/>
              <a:t>his person will engage in altruistic behavior</a:t>
            </a:r>
          </a:p>
        </p:txBody>
      </p:sp>
    </p:spTree>
    <p:extLst>
      <p:ext uri="{BB962C8B-B14F-4D97-AF65-F5344CB8AC3E}">
        <p14:creationId xmlns:p14="http://schemas.microsoft.com/office/powerpoint/2010/main" val="219247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Second-party preferences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7FEDE0-EE4C-4450-8FE4-9FDF384B3C50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58371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/>
              <a:t>If </a:t>
            </a:r>
            <a:r>
              <a:rPr lang="en-US" altLang="en-US">
                <a:cs typeface="Arial" charset="0"/>
              </a:rPr>
              <a:t>∂U</a:t>
            </a:r>
            <a:r>
              <a:rPr lang="en-US" altLang="en-US" sz="2800" baseline="-25000">
                <a:cs typeface="Arial" charset="0"/>
              </a:rPr>
              <a:t>i</a:t>
            </a:r>
            <a:r>
              <a:rPr lang="en-US" altLang="en-US">
                <a:cs typeface="Arial" charset="0"/>
              </a:rPr>
              <a:t>/∂U</a:t>
            </a:r>
            <a:r>
              <a:rPr lang="en-US" altLang="en-US" sz="2800" baseline="-25000">
                <a:cs typeface="Arial" charset="0"/>
              </a:rPr>
              <a:t>j</a:t>
            </a:r>
            <a:r>
              <a:rPr lang="en-US" altLang="en-US">
                <a:cs typeface="Arial" charset="0"/>
              </a:rPr>
              <a:t>&lt;0</a:t>
            </a:r>
          </a:p>
          <a:p>
            <a:pPr lvl="1"/>
            <a:r>
              <a:rPr lang="en-US" altLang="en-US"/>
              <a:t>This person will demonstrate the malevolent behavior associated with envy</a:t>
            </a:r>
          </a:p>
          <a:p>
            <a:r>
              <a:rPr lang="en-US" altLang="en-US"/>
              <a:t>If </a:t>
            </a:r>
            <a:r>
              <a:rPr lang="en-US" altLang="en-US">
                <a:cs typeface="Arial" charset="0"/>
              </a:rPr>
              <a:t>∂U</a:t>
            </a:r>
            <a:r>
              <a:rPr lang="en-US" altLang="en-US" sz="2800" baseline="-25000">
                <a:cs typeface="Arial" charset="0"/>
              </a:rPr>
              <a:t>i</a:t>
            </a:r>
            <a:r>
              <a:rPr lang="en-US" altLang="en-US">
                <a:cs typeface="Arial" charset="0"/>
              </a:rPr>
              <a:t>/∂U</a:t>
            </a:r>
            <a:r>
              <a:rPr lang="en-US" altLang="en-US" sz="2800" baseline="-25000">
                <a:cs typeface="Arial" charset="0"/>
              </a:rPr>
              <a:t>j</a:t>
            </a:r>
            <a:r>
              <a:rPr lang="en-US" altLang="en-US">
                <a:cs typeface="Arial" charset="0"/>
              </a:rPr>
              <a:t>=0</a:t>
            </a:r>
          </a:p>
          <a:p>
            <a:pPr lvl="1"/>
            <a:r>
              <a:rPr lang="en-US" altLang="en-US"/>
              <a:t>The usual case</a:t>
            </a:r>
          </a:p>
          <a:p>
            <a:pPr lvl="1"/>
            <a:r>
              <a:rPr lang="en-US" altLang="en-US"/>
              <a:t>Middle ground between these alternative preference types</a:t>
            </a:r>
          </a:p>
        </p:txBody>
      </p:sp>
    </p:spTree>
    <p:extLst>
      <p:ext uri="{BB962C8B-B14F-4D97-AF65-F5344CB8AC3E}">
        <p14:creationId xmlns:p14="http://schemas.microsoft.com/office/powerpoint/2010/main" val="919445413"/>
      </p:ext>
    </p:extLst>
  </p:cSld>
  <p:clrMapOvr>
    <a:masterClrMapping/>
  </p:clrMapOvr>
</p:sld>
</file>

<file path=ppt/theme/theme1.xml><?xml version="1.0" encoding="utf-8"?>
<a:theme xmlns:a="http://schemas.openxmlformats.org/drawingml/2006/main" name="chap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g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xten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4985</TotalTime>
  <Words>5331</Words>
  <Application>Microsoft Office PowerPoint</Application>
  <PresentationFormat>全屏显示(4:3)</PresentationFormat>
  <Paragraphs>369</Paragraphs>
  <Slides>47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0" baseType="lpstr">
      <vt:lpstr>MinionPro-It</vt:lpstr>
      <vt:lpstr>MinionPro-Regular</vt:lpstr>
      <vt:lpstr>SymbolStd</vt:lpstr>
      <vt:lpstr>Arial</vt:lpstr>
      <vt:lpstr>Calibri</vt:lpstr>
      <vt:lpstr>Cambria Math</vt:lpstr>
      <vt:lpstr>chapter</vt:lpstr>
      <vt:lpstr>main</vt:lpstr>
      <vt:lpstr>figure</vt:lpstr>
      <vt:lpstr>table</vt:lpstr>
      <vt:lpstr>example</vt:lpstr>
      <vt:lpstr>extensions</vt:lpstr>
      <vt:lpstr>Equation</vt:lpstr>
      <vt:lpstr>CHAPTER    Preferences   3      and Utility </vt:lpstr>
      <vt:lpstr>Axioms of Rational Choice</vt:lpstr>
      <vt:lpstr>Axioms of Rational Choice</vt:lpstr>
      <vt:lpstr>Utility</vt:lpstr>
      <vt:lpstr>Utility</vt:lpstr>
      <vt:lpstr>Utility</vt:lpstr>
      <vt:lpstr>Utility</vt:lpstr>
      <vt:lpstr>Utility</vt:lpstr>
      <vt:lpstr>Utility</vt:lpstr>
      <vt:lpstr>Utility</vt:lpstr>
      <vt:lpstr>3.1 More of a Good Is Preferred to Less</vt:lpstr>
      <vt:lpstr>Trades and Substitution</vt:lpstr>
      <vt:lpstr>Trades and Substitution</vt:lpstr>
      <vt:lpstr>3.2 A Single Indifference Curve</vt:lpstr>
      <vt:lpstr>Trades and Substitution</vt:lpstr>
      <vt:lpstr>3.3 There Are Infinitely Many Indifference   Curves in the x–y Plane</vt:lpstr>
      <vt:lpstr>Trades and Substitution</vt:lpstr>
      <vt:lpstr>3.4 Intersecting Indifference Curves Imply  Inconsistent Preferences</vt:lpstr>
      <vt:lpstr>3.5 The Notion of Convexity as an Alternative   Definition of a Diminishing MRS</vt:lpstr>
      <vt:lpstr>Trades and Substitution</vt:lpstr>
      <vt:lpstr>3.6 Balanced Bundles of Goods Are Preferred to   Extreme Bundles</vt:lpstr>
      <vt:lpstr>3.1  Utility and the MRS</vt:lpstr>
      <vt:lpstr>3.7 Indifference Curve for Utility=√("x·y" )  </vt:lpstr>
      <vt:lpstr>The Mathematics of Indifference Curves</vt:lpstr>
      <vt:lpstr>The Mathematics of Indifference Curves</vt:lpstr>
      <vt:lpstr>3.2   Showing Convexity of Indifference Curves</vt:lpstr>
      <vt:lpstr>3.2   Showing Convexity of Indifference Curves</vt:lpstr>
      <vt:lpstr>3.2   Showing Convexity of Indifference Curves</vt:lpstr>
      <vt:lpstr>Utility Functions for Specific Preferences</vt:lpstr>
      <vt:lpstr>Utility Functions for Specific Preferences</vt:lpstr>
      <vt:lpstr>Utility Functions for Specific Preferences</vt:lpstr>
      <vt:lpstr>Utility Functions for Specific Preferences</vt:lpstr>
      <vt:lpstr>Utility Functions for Specific Preferences</vt:lpstr>
      <vt:lpstr>3.8  Examples of Utility Functions (a, b)</vt:lpstr>
      <vt:lpstr>3.8   Examples of Utility Functions (c, d)</vt:lpstr>
      <vt:lpstr>3.3  Homothetic Preferences</vt:lpstr>
      <vt:lpstr>3.3  Homothetic Preferences</vt:lpstr>
      <vt:lpstr>3.4  Nonhomothetic Preferences</vt:lpstr>
      <vt:lpstr>The Many-Good Case</vt:lpstr>
      <vt:lpstr>The Many-Good Case</vt:lpstr>
      <vt:lpstr>Special Preferences</vt:lpstr>
      <vt:lpstr>Threshold effects</vt:lpstr>
      <vt:lpstr>Quality</vt:lpstr>
      <vt:lpstr>Habits and addiction</vt:lpstr>
      <vt:lpstr>Habits and addiction</vt:lpstr>
      <vt:lpstr>Second-party preferences</vt:lpstr>
      <vt:lpstr>Second-party preferences</vt:lpstr>
    </vt:vector>
  </TitlesOfParts>
  <Company>Eastern Illinois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Andreea Chiritescu</dc:creator>
  <cp:lastModifiedBy>xuhaibo81@outlook.com</cp:lastModifiedBy>
  <cp:revision>216</cp:revision>
  <dcterms:created xsi:type="dcterms:W3CDTF">2016-06-05T19:40:39Z</dcterms:created>
  <dcterms:modified xsi:type="dcterms:W3CDTF">2020-09-17T03:54:33Z</dcterms:modified>
</cp:coreProperties>
</file>