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5.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64" r:id="rId3"/>
    <p:sldMasterId id="2147483677" r:id="rId4"/>
    <p:sldMasterId id="2147483669" r:id="rId5"/>
    <p:sldMasterId id="2147483672" r:id="rId6"/>
  </p:sldMasterIdLst>
  <p:notesMasterIdLst>
    <p:notesMasterId r:id="rId105"/>
  </p:notesMasterIdLst>
  <p:handoutMasterIdLst>
    <p:handoutMasterId r:id="rId106"/>
  </p:handoutMasterIdLst>
  <p:sldIdLst>
    <p:sldId id="258" r:id="rId7"/>
    <p:sldId id="271" r:id="rId8"/>
    <p:sldId id="272" r:id="rId9"/>
    <p:sldId id="273" r:id="rId10"/>
    <p:sldId id="274" r:id="rId11"/>
    <p:sldId id="275" r:id="rId12"/>
    <p:sldId id="276" r:id="rId13"/>
    <p:sldId id="277" r:id="rId14"/>
    <p:sldId id="278" r:id="rId15"/>
    <p:sldId id="279" r:id="rId16"/>
    <p:sldId id="280" r:id="rId17"/>
    <p:sldId id="281" r:id="rId18"/>
    <p:sldId id="282" r:id="rId19"/>
    <p:sldId id="283" r:id="rId20"/>
    <p:sldId id="284" r:id="rId21"/>
    <p:sldId id="285" r:id="rId22"/>
    <p:sldId id="286" r:id="rId23"/>
    <p:sldId id="287" r:id="rId24"/>
    <p:sldId id="290" r:id="rId25"/>
    <p:sldId id="291" r:id="rId26"/>
    <p:sldId id="292" r:id="rId27"/>
    <p:sldId id="293" r:id="rId28"/>
    <p:sldId id="294" r:id="rId29"/>
    <p:sldId id="295" r:id="rId30"/>
    <p:sldId id="296" r:id="rId31"/>
    <p:sldId id="297" r:id="rId32"/>
    <p:sldId id="298" r:id="rId33"/>
    <p:sldId id="299" r:id="rId34"/>
    <p:sldId id="368" r:id="rId35"/>
    <p:sldId id="300" r:id="rId36"/>
    <p:sldId id="301" r:id="rId37"/>
    <p:sldId id="302" r:id="rId38"/>
    <p:sldId id="303" r:id="rId39"/>
    <p:sldId id="304" r:id="rId40"/>
    <p:sldId id="305" r:id="rId41"/>
    <p:sldId id="306" r:id="rId42"/>
    <p:sldId id="307" r:id="rId43"/>
    <p:sldId id="308" r:id="rId44"/>
    <p:sldId id="309" r:id="rId45"/>
    <p:sldId id="310" r:id="rId46"/>
    <p:sldId id="311" r:id="rId47"/>
    <p:sldId id="312" r:id="rId48"/>
    <p:sldId id="313" r:id="rId49"/>
    <p:sldId id="314" r:id="rId50"/>
    <p:sldId id="315" r:id="rId51"/>
    <p:sldId id="316" r:id="rId52"/>
    <p:sldId id="317" r:id="rId53"/>
    <p:sldId id="318" r:id="rId54"/>
    <p:sldId id="319" r:id="rId55"/>
    <p:sldId id="320" r:id="rId56"/>
    <p:sldId id="321" r:id="rId57"/>
    <p:sldId id="322" r:id="rId58"/>
    <p:sldId id="323" r:id="rId59"/>
    <p:sldId id="324" r:id="rId60"/>
    <p:sldId id="325" r:id="rId61"/>
    <p:sldId id="326" r:id="rId62"/>
    <p:sldId id="327" r:id="rId63"/>
    <p:sldId id="328" r:id="rId64"/>
    <p:sldId id="329" r:id="rId65"/>
    <p:sldId id="330" r:id="rId66"/>
    <p:sldId id="331" r:id="rId67"/>
    <p:sldId id="332" r:id="rId68"/>
    <p:sldId id="333" r:id="rId69"/>
    <p:sldId id="334" r:id="rId70"/>
    <p:sldId id="335" r:id="rId71"/>
    <p:sldId id="336" r:id="rId72"/>
    <p:sldId id="337" r:id="rId73"/>
    <p:sldId id="338" r:id="rId74"/>
    <p:sldId id="339" r:id="rId75"/>
    <p:sldId id="340" r:id="rId76"/>
    <p:sldId id="341" r:id="rId77"/>
    <p:sldId id="342" r:id="rId78"/>
    <p:sldId id="343" r:id="rId79"/>
    <p:sldId id="344" r:id="rId80"/>
    <p:sldId id="345" r:id="rId81"/>
    <p:sldId id="346" r:id="rId82"/>
    <p:sldId id="347" r:id="rId83"/>
    <p:sldId id="348" r:id="rId84"/>
    <p:sldId id="369" r:id="rId85"/>
    <p:sldId id="349" r:id="rId86"/>
    <p:sldId id="350" r:id="rId87"/>
    <p:sldId id="351" r:id="rId88"/>
    <p:sldId id="352" r:id="rId89"/>
    <p:sldId id="353" r:id="rId90"/>
    <p:sldId id="354" r:id="rId91"/>
    <p:sldId id="355" r:id="rId92"/>
    <p:sldId id="356" r:id="rId93"/>
    <p:sldId id="357" r:id="rId94"/>
    <p:sldId id="358" r:id="rId95"/>
    <p:sldId id="359" r:id="rId96"/>
    <p:sldId id="360" r:id="rId97"/>
    <p:sldId id="361" r:id="rId98"/>
    <p:sldId id="362" r:id="rId99"/>
    <p:sldId id="363" r:id="rId100"/>
    <p:sldId id="364" r:id="rId101"/>
    <p:sldId id="365" r:id="rId102"/>
    <p:sldId id="366" r:id="rId103"/>
    <p:sldId id="367" r:id="rId10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D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4" autoAdjust="0"/>
    <p:restoredTop sz="83799" autoAdjust="0"/>
  </p:normalViewPr>
  <p:slideViewPr>
    <p:cSldViewPr>
      <p:cViewPr>
        <p:scale>
          <a:sx n="68" d="100"/>
          <a:sy n="68" d="100"/>
        </p:scale>
        <p:origin x="-1446" y="-144"/>
      </p:cViewPr>
      <p:guideLst>
        <p:guide orient="horz" pos="2160"/>
        <p:guide pos="2880"/>
      </p:guideLst>
    </p:cSldViewPr>
  </p:slideViewPr>
  <p:outlineViewPr>
    <p:cViewPr>
      <p:scale>
        <a:sx n="33" d="100"/>
        <a:sy n="33" d="100"/>
      </p:scale>
      <p:origin x="0" y="23946"/>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3" d="100"/>
          <a:sy n="53" d="100"/>
        </p:scale>
        <p:origin x="-2952"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slide" Target="slides/slide78.xml"/><Relationship Id="rId89" Type="http://schemas.openxmlformats.org/officeDocument/2006/relationships/slide" Target="slides/slide83.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07" Type="http://schemas.openxmlformats.org/officeDocument/2006/relationships/presProps" Target="presProps.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slide" Target="slides/slide60.xml"/><Relationship Id="rId74" Type="http://schemas.openxmlformats.org/officeDocument/2006/relationships/slide" Target="slides/slide68.xml"/><Relationship Id="rId79" Type="http://schemas.openxmlformats.org/officeDocument/2006/relationships/slide" Target="slides/slide73.xml"/><Relationship Id="rId87" Type="http://schemas.openxmlformats.org/officeDocument/2006/relationships/slide" Target="slides/slide81.xml"/><Relationship Id="rId102" Type="http://schemas.openxmlformats.org/officeDocument/2006/relationships/slide" Target="slides/slide96.xml"/><Relationship Id="rId110" Type="http://schemas.openxmlformats.org/officeDocument/2006/relationships/tableStyles" Target="tableStyles.xml"/><Relationship Id="rId5" Type="http://schemas.openxmlformats.org/officeDocument/2006/relationships/slideMaster" Target="slideMasters/slideMaster5.xml"/><Relationship Id="rId61" Type="http://schemas.openxmlformats.org/officeDocument/2006/relationships/slide" Target="slides/slide55.xml"/><Relationship Id="rId82" Type="http://schemas.openxmlformats.org/officeDocument/2006/relationships/slide" Target="slides/slide76.xml"/><Relationship Id="rId90" Type="http://schemas.openxmlformats.org/officeDocument/2006/relationships/slide" Target="slides/slide84.xml"/><Relationship Id="rId95" Type="http://schemas.openxmlformats.org/officeDocument/2006/relationships/slide" Target="slides/slide89.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slide" Target="slides/slide71.xml"/><Relationship Id="rId100" Type="http://schemas.openxmlformats.org/officeDocument/2006/relationships/slide" Target="slides/slide94.xml"/><Relationship Id="rId105" Type="http://schemas.openxmlformats.org/officeDocument/2006/relationships/notesMaster" Target="notesMasters/notesMaster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80" Type="http://schemas.openxmlformats.org/officeDocument/2006/relationships/slide" Target="slides/slide74.xml"/><Relationship Id="rId85" Type="http://schemas.openxmlformats.org/officeDocument/2006/relationships/slide" Target="slides/slide79.xml"/><Relationship Id="rId93" Type="http://schemas.openxmlformats.org/officeDocument/2006/relationships/slide" Target="slides/slide87.xml"/><Relationship Id="rId98" Type="http://schemas.openxmlformats.org/officeDocument/2006/relationships/slide" Target="slides/slide92.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103" Type="http://schemas.openxmlformats.org/officeDocument/2006/relationships/slide" Target="slides/slide97.xml"/><Relationship Id="rId108" Type="http://schemas.openxmlformats.org/officeDocument/2006/relationships/viewProps" Target="viewProps.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slide" Target="slides/slide77.xml"/><Relationship Id="rId88" Type="http://schemas.openxmlformats.org/officeDocument/2006/relationships/slide" Target="slides/slide82.xml"/><Relationship Id="rId91" Type="http://schemas.openxmlformats.org/officeDocument/2006/relationships/slide" Target="slides/slide85.xml"/><Relationship Id="rId96" Type="http://schemas.openxmlformats.org/officeDocument/2006/relationships/slide" Target="slides/slide90.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6" Type="http://schemas.openxmlformats.org/officeDocument/2006/relationships/handoutMaster" Target="handoutMasters/handoutMaster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slide" Target="slides/slide80.xml"/><Relationship Id="rId94" Type="http://schemas.openxmlformats.org/officeDocument/2006/relationships/slide" Target="slides/slide88.xml"/><Relationship Id="rId99" Type="http://schemas.openxmlformats.org/officeDocument/2006/relationships/slide" Target="slides/slide93.xml"/><Relationship Id="rId101" Type="http://schemas.openxmlformats.org/officeDocument/2006/relationships/slide" Target="slides/slide95.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109" Type="http://schemas.openxmlformats.org/officeDocument/2006/relationships/theme" Target="theme/theme1.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slide" Target="slides/slide91.xml"/><Relationship Id="rId104" Type="http://schemas.openxmlformats.org/officeDocument/2006/relationships/slide" Target="slides/slide98.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slide" Target="slides/slide8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8.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image" Target="../media/image40.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4C3143B-620F-4987-B4C6-8DA41D14F534}" type="datetimeFigureOut">
              <a:rPr lang="en-US" smtClean="0"/>
              <a:t>6/15/2016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C9E537F-0D91-4DE0-B9F5-55E2B2118790}" type="slidenum">
              <a:rPr lang="en-US" smtClean="0"/>
              <a:t>‹#›</a:t>
            </a:fld>
            <a:endParaRPr lang="en-US"/>
          </a:p>
        </p:txBody>
      </p:sp>
    </p:spTree>
    <p:extLst>
      <p:ext uri="{BB962C8B-B14F-4D97-AF65-F5344CB8AC3E}">
        <p14:creationId xmlns:p14="http://schemas.microsoft.com/office/powerpoint/2010/main" val="6755922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8B7A522-1067-4090-8338-D2D3A24AAAF6}" type="datetimeFigureOut">
              <a:rPr lang="en-US" smtClean="0"/>
              <a:t>6/15/2016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F19A4D4-42B8-482F-A3F9-BD6E0B3BC1CB}" type="slidenum">
              <a:rPr lang="en-US" smtClean="0"/>
              <a:t>‹#›</a:t>
            </a:fld>
            <a:endParaRPr lang="en-US"/>
          </a:p>
        </p:txBody>
      </p:sp>
    </p:spTree>
    <p:extLst>
      <p:ext uri="{BB962C8B-B14F-4D97-AF65-F5344CB8AC3E}">
        <p14:creationId xmlns:p14="http://schemas.microsoft.com/office/powerpoint/2010/main" val="1981813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F19A4D4-42B8-482F-A3F9-BD6E0B3BC1CB}" type="slidenum">
              <a:rPr lang="en-US" smtClean="0"/>
              <a:t>1</a:t>
            </a:fld>
            <a:endParaRPr lang="en-US"/>
          </a:p>
        </p:txBody>
      </p:sp>
    </p:spTree>
    <p:extLst>
      <p:ext uri="{BB962C8B-B14F-4D97-AF65-F5344CB8AC3E}">
        <p14:creationId xmlns:p14="http://schemas.microsoft.com/office/powerpoint/2010/main" val="30850018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2971800"/>
            <a:ext cx="9144000" cy="1676400"/>
          </a:xfrm>
          <a:prstGeom prst="rect">
            <a:avLst/>
          </a:prstGeom>
          <a:noFill/>
        </p:spPr>
        <p:txBody>
          <a:bodyPr/>
          <a:lstStyle>
            <a:lvl1pPr marL="91440">
              <a:lnSpc>
                <a:spcPct val="100000"/>
              </a:lnSpc>
              <a:spcBef>
                <a:spcPts val="600"/>
              </a:spcBef>
              <a:defRPr sz="5400" b="0">
                <a:solidFill>
                  <a:srgbClr val="002D56"/>
                </a:solidFill>
              </a:defRPr>
            </a:lvl1pPr>
          </a:lstStyle>
          <a:p>
            <a:r>
              <a:rPr lang="en-US" dirty="0" smtClean="0"/>
              <a:t>CLICK TO EDIT				Master title style</a:t>
            </a:r>
            <a:endParaRPr lang="en-US" dirty="0"/>
          </a:p>
        </p:txBody>
      </p:sp>
      <p:sp>
        <p:nvSpPr>
          <p:cNvPr id="8" name="Title Placeholder 1"/>
          <p:cNvSpPr txBox="1">
            <a:spLocks/>
          </p:cNvSpPr>
          <p:nvPr userDrawn="1"/>
        </p:nvSpPr>
        <p:spPr>
          <a:xfrm>
            <a:off x="-76200" y="0"/>
            <a:ext cx="9220200" cy="609600"/>
          </a:xfrm>
          <a:prstGeom prst="rect">
            <a:avLst/>
          </a:prstGeom>
          <a:blipFill>
            <a:blip r:embed="rId2"/>
            <a:stretch>
              <a:fillRect/>
            </a:stretch>
          </a:blipFill>
        </p:spPr>
        <p:txBody>
          <a:bodyPr vert="horz" lIns="0" tIns="182880" rIns="0" bIns="45720" rtlCol="0" anchor="ctr">
            <a:noAutofit/>
          </a:bodyPr>
          <a:lstStyle>
            <a:lvl1pPr algn="ctr" defTabSz="914400" rtl="0" eaLnBrk="1" latinLnBrk="0" hangingPunct="1">
              <a:lnSpc>
                <a:spcPct val="200000"/>
              </a:lnSpc>
              <a:spcBef>
                <a:spcPct val="0"/>
              </a:spcBef>
              <a:buNone/>
              <a:defRPr sz="4400" b="0" kern="1200" baseline="30000">
                <a:solidFill>
                  <a:schemeClr val="bg1"/>
                </a:solidFill>
                <a:latin typeface="+mj-lt"/>
                <a:ea typeface="+mj-ea"/>
                <a:cs typeface="+mj-cs"/>
              </a:defRPr>
            </a:lvl1pPr>
          </a:lstStyle>
          <a:p>
            <a:r>
              <a:rPr lang="en-US" dirty="0" smtClean="0"/>
              <a:t>Walter Nicholson | Christopher Snyder	 12th edition</a:t>
            </a:r>
            <a:endParaRPr lang="en-US" dirty="0"/>
          </a:p>
        </p:txBody>
      </p:sp>
      <p:sp>
        <p:nvSpPr>
          <p:cNvPr id="9" name="Footer Placeholder 8"/>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10" name="Slide Number Placeholder 9"/>
          <p:cNvSpPr>
            <a:spLocks noGrp="1"/>
          </p:cNvSpPr>
          <p:nvPr>
            <p:ph type="sldNum" sz="quarter" idx="11"/>
          </p:nvPr>
        </p:nvSpPr>
        <p:spPr/>
        <p:txBody>
          <a:bodyPr/>
          <a:lstStyle/>
          <a:p>
            <a:fld id="{DF079196-2514-49FB-B48C-98AEBE754E63}" type="slidenum">
              <a:rPr lang="en-US" smtClean="0"/>
              <a:t>‹#›</a:t>
            </a:fld>
            <a:endParaRPr lang="en-US"/>
          </a:p>
        </p:txBody>
      </p:sp>
    </p:spTree>
    <p:extLst>
      <p:ext uri="{BB962C8B-B14F-4D97-AF65-F5344CB8AC3E}">
        <p14:creationId xmlns:p14="http://schemas.microsoft.com/office/powerpoint/2010/main" val="38421878"/>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610600" cy="1143000"/>
          </a:xfrm>
        </p:spPr>
        <p:txBody>
          <a:bodyPr/>
          <a:lstStyle>
            <a:lvl1pPr>
              <a:defRPr>
                <a:solidFill>
                  <a:srgbClr val="002D56"/>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381000" y="1219200"/>
            <a:ext cx="8534400" cy="5181600"/>
          </a:xfrm>
        </p:spPr>
        <p:txBody>
          <a:bodyPr>
            <a:noAutofit/>
          </a:bodyPr>
          <a:lstStyle>
            <a:lvl1pPr>
              <a:defRPr>
                <a:solidFill>
                  <a:srgbClr val="C00000"/>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6"/>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8" name="Slide Number Placeholder 7"/>
          <p:cNvSpPr>
            <a:spLocks noGrp="1"/>
          </p:cNvSpPr>
          <p:nvPr>
            <p:ph type="sldNum" sz="quarter" idx="11"/>
          </p:nvPr>
        </p:nvSpPr>
        <p:spPr/>
        <p:txBody>
          <a:bodyPr/>
          <a:lstStyle/>
          <a:p>
            <a:fld id="{720B335A-255B-4303-A333-FBB711D61B6F}" type="slidenum">
              <a:rPr lang="en-US" smtClean="0"/>
              <a:t>‹#›</a:t>
            </a:fld>
            <a:endParaRPr lang="en-US"/>
          </a:p>
        </p:txBody>
      </p:sp>
    </p:spTree>
    <p:extLst>
      <p:ext uri="{BB962C8B-B14F-4D97-AF65-F5344CB8AC3E}">
        <p14:creationId xmlns:p14="http://schemas.microsoft.com/office/powerpoint/2010/main" val="333848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610600" cy="1143000"/>
          </a:xfrm>
        </p:spPr>
        <p:txBody>
          <a:bodyPr/>
          <a:lstStyle>
            <a:lvl1pPr>
              <a:defRPr>
                <a:solidFill>
                  <a:srgbClr val="002D56"/>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381000" y="1219200"/>
            <a:ext cx="8534400" cy="2819400"/>
          </a:xfrm>
        </p:spPr>
        <p:txBody>
          <a:bodyPr>
            <a:noAutofit/>
          </a:bodyPr>
          <a:lstStyle>
            <a:lvl1pPr>
              <a:defRPr>
                <a:solidFill>
                  <a:srgbClr val="C00000"/>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6"/>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8" name="Slide Number Placeholder 7"/>
          <p:cNvSpPr>
            <a:spLocks noGrp="1"/>
          </p:cNvSpPr>
          <p:nvPr>
            <p:ph type="sldNum" sz="quarter" idx="11"/>
          </p:nvPr>
        </p:nvSpPr>
        <p:spPr/>
        <p:txBody>
          <a:bodyPr/>
          <a:lstStyle/>
          <a:p>
            <a:fld id="{720B335A-255B-4303-A333-FBB711D61B6F}" type="slidenum">
              <a:rPr lang="en-US" smtClean="0"/>
              <a:t>‹#›</a:t>
            </a:fld>
            <a:endParaRPr lang="en-US"/>
          </a:p>
        </p:txBody>
      </p:sp>
      <p:sp>
        <p:nvSpPr>
          <p:cNvPr id="5" name="Text Placeholder 4"/>
          <p:cNvSpPr>
            <a:spLocks noGrp="1"/>
          </p:cNvSpPr>
          <p:nvPr>
            <p:ph type="body" sz="quarter" idx="12"/>
          </p:nvPr>
        </p:nvSpPr>
        <p:spPr>
          <a:xfrm>
            <a:off x="381000" y="4114800"/>
            <a:ext cx="8534400" cy="21336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590485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sz="half" idx="1"/>
          </p:nvPr>
        </p:nvSpPr>
        <p:spPr>
          <a:xfrm>
            <a:off x="457200" y="1600200"/>
            <a:ext cx="2971800" cy="4525963"/>
          </a:xfrm>
          <a:prstGeom prst="rect">
            <a:avLst/>
          </a:prstGeom>
        </p:spPr>
        <p:txBody>
          <a:bodyPr/>
          <a:lstStyle>
            <a:lvl1pPr marL="0" indent="0">
              <a:buNone/>
              <a:defRPr sz="1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endParaRPr lang="en-US" dirty="0"/>
          </a:p>
        </p:txBody>
      </p:sp>
      <p:sp>
        <p:nvSpPr>
          <p:cNvPr id="8" name="Footer Placeholder 7"/>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9" name="Slide Number Placeholder 8"/>
          <p:cNvSpPr>
            <a:spLocks noGrp="1"/>
          </p:cNvSpPr>
          <p:nvPr>
            <p:ph type="sldNum" sz="quarter" idx="11"/>
          </p:nvPr>
        </p:nvSpPr>
        <p:spPr/>
        <p:txBody>
          <a:bodyPr/>
          <a:lstStyle/>
          <a:p>
            <a:fld id="{F2BCF9F2-1022-4C47-AC3A-FA21E418CE18}" type="slidenum">
              <a:rPr lang="en-US" smtClean="0"/>
              <a:t>‹#›</a:t>
            </a:fld>
            <a:endParaRPr lang="en-US" dirty="0"/>
          </a:p>
        </p:txBody>
      </p:sp>
    </p:spTree>
    <p:extLst>
      <p:ext uri="{BB962C8B-B14F-4D97-AF65-F5344CB8AC3E}">
        <p14:creationId xmlns:p14="http://schemas.microsoft.com/office/powerpoint/2010/main" val="134382034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sz="half" idx="1"/>
          </p:nvPr>
        </p:nvSpPr>
        <p:spPr>
          <a:xfrm>
            <a:off x="457200" y="1600200"/>
            <a:ext cx="2971800" cy="4525963"/>
          </a:xfrm>
          <a:prstGeom prst="rect">
            <a:avLst/>
          </a:prstGeom>
        </p:spPr>
        <p:txBody>
          <a:bodyPr/>
          <a:lstStyle>
            <a:lvl1pPr marL="0" indent="0">
              <a:buNone/>
              <a:defRPr sz="1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endParaRPr lang="en-US" dirty="0"/>
          </a:p>
        </p:txBody>
      </p:sp>
      <p:sp>
        <p:nvSpPr>
          <p:cNvPr id="8" name="Footer Placeholder 7"/>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9" name="Slide Number Placeholder 8"/>
          <p:cNvSpPr>
            <a:spLocks noGrp="1"/>
          </p:cNvSpPr>
          <p:nvPr>
            <p:ph type="sldNum" sz="quarter" idx="11"/>
          </p:nvPr>
        </p:nvSpPr>
        <p:spPr/>
        <p:txBody>
          <a:bodyPr/>
          <a:lstStyle/>
          <a:p>
            <a:fld id="{F2BCF9F2-1022-4C47-AC3A-FA21E418CE18}" type="slidenum">
              <a:rPr lang="en-US" smtClean="0"/>
              <a:t>‹#›</a:t>
            </a:fld>
            <a:endParaRPr lang="en-US" dirty="0"/>
          </a:p>
        </p:txBody>
      </p:sp>
    </p:spTree>
    <p:extLst>
      <p:ext uri="{BB962C8B-B14F-4D97-AF65-F5344CB8AC3E}">
        <p14:creationId xmlns:p14="http://schemas.microsoft.com/office/powerpoint/2010/main" val="161513413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5867400"/>
          </a:xfrm>
          <a:prstGeom prst="rect">
            <a:avLst/>
          </a:prstGeom>
        </p:spPr>
        <p:txBody>
          <a:bodyPr>
            <a:noAutofit/>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995695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2667000"/>
          </a:xfrm>
          <a:prstGeom prst="rect">
            <a:avLst/>
          </a:prstGeom>
        </p:spPr>
        <p:txBody>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ext Placeholder 6"/>
          <p:cNvSpPr>
            <a:spLocks noGrp="1"/>
          </p:cNvSpPr>
          <p:nvPr>
            <p:ph type="body" sz="quarter" idx="13"/>
          </p:nvPr>
        </p:nvSpPr>
        <p:spPr>
          <a:xfrm>
            <a:off x="381000" y="3429000"/>
            <a:ext cx="8382000" cy="27432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919192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Tree>
    <p:extLst>
      <p:ext uri="{BB962C8B-B14F-4D97-AF65-F5344CB8AC3E}">
        <p14:creationId xmlns:p14="http://schemas.microsoft.com/office/powerpoint/2010/main" val="359556425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a:latin typeface="+mn-lt"/>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5867400"/>
          </a:xfrm>
          <a:prstGeom prst="rect">
            <a:avLst/>
          </a:prstGeom>
        </p:spPr>
        <p:txBody>
          <a:bodyPr>
            <a:noAutofit/>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40793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a:latin typeface="+mn-lt"/>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2667000"/>
          </a:xfrm>
          <a:prstGeom prst="rect">
            <a:avLst/>
          </a:prstGeom>
        </p:spPr>
        <p:txBody>
          <a:bodyPr>
            <a:noAutofit/>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ext Placeholder 6"/>
          <p:cNvSpPr>
            <a:spLocks noGrp="1"/>
          </p:cNvSpPr>
          <p:nvPr>
            <p:ph type="body" sz="quarter" idx="13"/>
          </p:nvPr>
        </p:nvSpPr>
        <p:spPr>
          <a:xfrm>
            <a:off x="457200" y="3352800"/>
            <a:ext cx="8305800" cy="2895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87490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3.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4.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6.png"/></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10.pn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9.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8" name="Picture 4" descr="C:\Users\Andreea\Desktop\Cengage\Nicholson 12e\cover\ch bkg.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2590800"/>
            <a:ext cx="9144000" cy="3779959"/>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Andreea\Desktop\Cengage\Nicholson 12e\cover\MT.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516184"/>
            <a:ext cx="9144000" cy="2243731"/>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p:cNvSpPr>
            <a:spLocks noGrp="1"/>
          </p:cNvSpPr>
          <p:nvPr>
            <p:ph type="ftr" sz="quarter" idx="3"/>
          </p:nvPr>
        </p:nvSpPr>
        <p:spPr>
          <a:xfrm>
            <a:off x="0" y="6400800"/>
            <a:ext cx="8686800" cy="457201"/>
          </a:xfrm>
          <a:prstGeom prst="rect">
            <a:avLst/>
          </a:prstGeom>
        </p:spPr>
        <p:txBody>
          <a:bodyPr vert="horz" lIns="91440" tIns="45720" rIns="91440" bIns="45720" rtlCol="0" anchor="ctr"/>
          <a:lstStyle>
            <a:lvl1pPr algn="l">
              <a:defRPr sz="1100">
                <a:solidFill>
                  <a:schemeClr val="tx1"/>
                </a:solidFill>
              </a:defRPr>
            </a:lvl1p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86800" y="6492875"/>
            <a:ext cx="457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079196-2514-49FB-B48C-98AEBE754E63}" type="slidenum">
              <a:rPr lang="en-US" smtClean="0"/>
              <a:t>‹#›</a:t>
            </a:fld>
            <a:endParaRPr lang="en-US"/>
          </a:p>
        </p:txBody>
      </p:sp>
      <p:sp>
        <p:nvSpPr>
          <p:cNvPr id="7" name="Subtitle 2"/>
          <p:cNvSpPr txBox="1">
            <a:spLocks/>
          </p:cNvSpPr>
          <p:nvPr userDrawn="1"/>
        </p:nvSpPr>
        <p:spPr>
          <a:xfrm>
            <a:off x="5105400" y="5562600"/>
            <a:ext cx="4038600" cy="914400"/>
          </a:xfrm>
          <a:prstGeom prst="rect">
            <a:avLst/>
          </a:prstGeom>
        </p:spPr>
        <p:txBody>
          <a:bodyPr/>
          <a:lstStyle>
            <a:lvl1pPr marL="0" indent="0" algn="ctr" defTabSz="914400" rtl="0" eaLnBrk="1" latinLnBrk="0" hangingPunct="1">
              <a:lnSpc>
                <a:spcPct val="80000"/>
              </a:lnSpc>
              <a:spcBef>
                <a:spcPct val="20000"/>
              </a:spcBef>
              <a:buFont typeface="Arial" panose="020B0604020202020204" pitchFamily="34" charset="0"/>
              <a:buNone/>
              <a:defRPr sz="3200" kern="1200">
                <a:solidFill>
                  <a:schemeClr val="tx1"/>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defRPr/>
            </a:pPr>
            <a:r>
              <a:rPr lang="en-US" sz="1600" smtClean="0">
                <a:latin typeface="Arial" pitchFamily="34" charset="0"/>
              </a:rPr>
              <a:t>PowerPoint Slides prepared by: </a:t>
            </a:r>
          </a:p>
          <a:p>
            <a:pPr>
              <a:defRPr/>
            </a:pPr>
            <a:r>
              <a:rPr lang="en-US" sz="1600" smtClean="0">
                <a:latin typeface="Arial" pitchFamily="34" charset="0"/>
              </a:rPr>
              <a:t>V. Andreea CHIRITESCU</a:t>
            </a:r>
          </a:p>
          <a:p>
            <a:pPr>
              <a:defRPr/>
            </a:pPr>
            <a:r>
              <a:rPr lang="en-US" sz="1600" smtClean="0">
                <a:latin typeface="Arial" pitchFamily="34" charset="0"/>
              </a:rPr>
              <a:t>Eastern Illinois University</a:t>
            </a:r>
            <a:endParaRPr lang="en-US" sz="1600" dirty="0">
              <a:latin typeface="Arial" pitchFamily="34" charset="0"/>
            </a:endParaRPr>
          </a:p>
        </p:txBody>
      </p:sp>
    </p:spTree>
    <p:extLst>
      <p:ext uri="{BB962C8B-B14F-4D97-AF65-F5344CB8AC3E}">
        <p14:creationId xmlns:p14="http://schemas.microsoft.com/office/powerpoint/2010/main" val="2146056027"/>
      </p:ext>
    </p:extLst>
  </p:cSld>
  <p:clrMap bg1="lt1" tx1="dk1" bg2="lt2" tx2="dk2" accent1="accent1" accent2="accent2" accent3="accent3" accent4="accent4" accent5="accent5" accent6="accent6" hlink="hlink" folHlink="folHlink"/>
  <p:sldLayoutIdLst>
    <p:sldLayoutId id="2147483649" r:id="rId1"/>
  </p:sldLayoutIdLst>
  <p:timing>
    <p:tnLst>
      <p:par>
        <p:cTn id="1" dur="indefinite" restart="never" nodeType="tmRoot"/>
      </p:par>
    </p:tnLst>
  </p:timing>
  <p:hf hdr="0" dt="0"/>
  <p:txStyles>
    <p:titleStyle>
      <a:lvl1pPr algn="ctr" defTabSz="914400" rtl="0" eaLnBrk="1" latinLnBrk="0" hangingPunct="1">
        <a:lnSpc>
          <a:spcPct val="200000"/>
        </a:lnSpc>
        <a:spcBef>
          <a:spcPct val="0"/>
        </a:spcBef>
        <a:buNone/>
        <a:defRPr sz="4400" b="0" kern="1200" baseline="300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0668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314328" y="1143000"/>
            <a:ext cx="8601072" cy="5335589"/>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3"/>
          </p:nvPr>
        </p:nvSpPr>
        <p:spPr>
          <a:xfrm>
            <a:off x="0" y="6400801"/>
            <a:ext cx="8686800"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86800" y="6492875"/>
            <a:ext cx="457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0B335A-255B-4303-A333-FBB711D61B6F}" type="slidenum">
              <a:rPr lang="en-US" smtClean="0"/>
              <a:t>‹#›</a:t>
            </a:fld>
            <a:endParaRPr lang="en-US"/>
          </a:p>
        </p:txBody>
      </p:sp>
      <p:pic>
        <p:nvPicPr>
          <p:cNvPr id="3074" name="Picture 2" descr="C:\Users\Andreea\Desktop\Cengage\Nicholson 12e\cover\red.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6200000">
            <a:off x="-3043235" y="3043235"/>
            <a:ext cx="6400800" cy="31432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C:\Users\Andreea\Desktop\Cengage\Nicholson 12e\cover\red.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0800000">
            <a:off x="314328" y="985836"/>
            <a:ext cx="8829672" cy="157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3163784"/>
      </p:ext>
    </p:extLst>
  </p:cSld>
  <p:clrMap bg1="lt1" tx1="dk1" bg2="lt2" tx2="dk2" accent1="accent1" accent2="accent2" accent3="accent3" accent4="accent4" accent5="accent5" accent6="accent6" hlink="hlink" folHlink="folHlink"/>
  <p:sldLayoutIdLst>
    <p:sldLayoutId id="2147483662" r:id="rId1"/>
    <p:sldLayoutId id="2147483676" r:id="rId2"/>
  </p:sldLayoutIdLst>
  <p:timing>
    <p:tnLst>
      <p:par>
        <p:cTn id="1" dur="indefinite" restart="never" nodeType="tmRoot"/>
      </p:par>
    </p:tnLst>
  </p:timing>
  <p:hf hdr="0" dt="0"/>
  <p:txStyles>
    <p:titleStyle>
      <a:lvl1pPr algn="ctr" defTabSz="914400" rtl="0" eaLnBrk="1" latinLnBrk="0" hangingPunct="1">
        <a:spcBef>
          <a:spcPct val="0"/>
        </a:spcBef>
        <a:buNone/>
        <a:defRPr sz="40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4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098"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14287" y="471488"/>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0800000">
            <a:off x="8248650" y="457200"/>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9144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143000" y="0"/>
            <a:ext cx="8001000"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pic>
        <p:nvPicPr>
          <p:cNvPr id="4100" name="Picture 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 y="0"/>
            <a:ext cx="1143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12366463"/>
      </p:ext>
    </p:extLst>
  </p:cSld>
  <p:clrMap bg1="lt1" tx1="dk1" bg2="lt2" tx2="dk2" accent1="accent1" accent2="accent2" accent3="accent3" accent4="accent4" accent5="accent5" accent6="accent6" hlink="hlink" folHlink="folHlink"/>
  <p:sldLayoutIdLst>
    <p:sldLayoutId id="2147483668" r:id="rId1"/>
  </p:sldLayoutIdLst>
  <p:timing>
    <p:tnLst>
      <p:par>
        <p:cTn id="1" dur="indefinite" restart="never" nodeType="tmRoot"/>
      </p:par>
    </p:tnLst>
  </p:timing>
  <p:hf hdr="0" dt="0"/>
  <p:txStyles>
    <p:titleStyle>
      <a:lvl1pPr algn="l"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098"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14287" y="471488"/>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0800000">
            <a:off x="8248650" y="457200"/>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9144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200150" y="0"/>
            <a:ext cx="7943850"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grpSp>
        <p:nvGrpSpPr>
          <p:cNvPr id="3" name="Group 2"/>
          <p:cNvGrpSpPr/>
          <p:nvPr userDrawn="1"/>
        </p:nvGrpSpPr>
        <p:grpSpPr>
          <a:xfrm rot="10800000">
            <a:off x="1" y="5505448"/>
            <a:ext cx="9144000" cy="895351"/>
            <a:chOff x="138110" y="3505200"/>
            <a:chExt cx="9144000" cy="895351"/>
          </a:xfrm>
        </p:grpSpPr>
        <p:pic>
          <p:nvPicPr>
            <p:cNvPr id="9"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123823" y="3519488"/>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0800000">
              <a:off x="8386760" y="3505200"/>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84994" name="Picture 2"/>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0"/>
            <a:ext cx="12001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75858699"/>
      </p:ext>
    </p:extLst>
  </p:cSld>
  <p:clrMap bg1="lt1" tx1="dk1" bg2="lt2" tx2="dk2" accent1="accent1" accent2="accent2" accent3="accent3" accent4="accent4" accent5="accent5" accent6="accent6" hlink="hlink" folHlink="folHlink"/>
  <p:sldLayoutIdLst>
    <p:sldLayoutId id="2147483678" r:id="rId1"/>
  </p:sldLayoutIdLst>
  <p:timing>
    <p:tnLst>
      <p:par>
        <p:cTn id="1" dur="indefinite" restart="never" nodeType="tmRoot"/>
      </p:par>
    </p:tnLst>
  </p:timing>
  <p:hf hdr="0" dt="0"/>
  <p:txStyles>
    <p:titleStyle>
      <a:lvl1pPr algn="l"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2"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rot="5400000">
            <a:off x="5700712" y="3414712"/>
            <a:ext cx="6477000"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rot="5400000">
            <a:off x="-3033712" y="3414712"/>
            <a:ext cx="6477000"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 y="0"/>
            <a:ext cx="9144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764344" y="0"/>
            <a:ext cx="7379656"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pic>
        <p:nvPicPr>
          <p:cNvPr id="5122" name="Picture 2"/>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 y="0"/>
            <a:ext cx="1764345"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 Placeholder 2"/>
          <p:cNvSpPr>
            <a:spLocks noGrp="1"/>
          </p:cNvSpPr>
          <p:nvPr>
            <p:ph type="body" idx="1"/>
          </p:nvPr>
        </p:nvSpPr>
        <p:spPr>
          <a:xfrm>
            <a:off x="457200" y="609600"/>
            <a:ext cx="8229600" cy="58674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453884566"/>
      </p:ext>
    </p:extLst>
  </p:cSld>
  <p:clrMap bg1="lt1" tx1="dk1" bg2="lt2" tx2="dk2" accent1="accent1" accent2="accent2" accent3="accent3" accent4="accent4" accent5="accent5" accent6="accent6" hlink="hlink" folHlink="folHlink"/>
  <p:sldLayoutIdLst>
    <p:sldLayoutId id="2147483671" r:id="rId1"/>
    <p:sldLayoutId id="2147483674" r:id="rId2"/>
    <p:sldLayoutId id="2147483679" r:id="rId3"/>
  </p:sldLayoutIdLst>
  <p:timing>
    <p:tnLst>
      <p:par>
        <p:cTn id="1" dur="indefinite" restart="never" nodeType="tmRoot"/>
      </p:par>
    </p:tnLst>
  </p:timing>
  <p:hf hdr="0" dt="0"/>
  <p:txStyles>
    <p:titleStyle>
      <a:lvl1pPr algn="l"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Picture 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6200000">
            <a:off x="5510213" y="3224211"/>
            <a:ext cx="6858001"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6200000">
            <a:off x="-2895600" y="3095624"/>
            <a:ext cx="6200777"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0"/>
            <a:ext cx="9144000" cy="4619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600200" y="0"/>
            <a:ext cx="7543800"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latin typeface="+mn-lt"/>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sp>
        <p:nvSpPr>
          <p:cNvPr id="3" name="Text Placeholder 2"/>
          <p:cNvSpPr>
            <a:spLocks noGrp="1"/>
          </p:cNvSpPr>
          <p:nvPr>
            <p:ph type="body" idx="1"/>
          </p:nvPr>
        </p:nvSpPr>
        <p:spPr>
          <a:xfrm>
            <a:off x="457200" y="533400"/>
            <a:ext cx="8229600" cy="59436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6146"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0" y="0"/>
            <a:ext cx="1724025" cy="400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75283110"/>
      </p:ext>
    </p:extLst>
  </p:cSld>
  <p:clrMap bg1="lt1" tx1="dk1" bg2="lt2" tx2="dk2" accent1="accent1" accent2="accent2" accent3="accent3" accent4="accent4" accent5="accent5" accent6="accent6" hlink="hlink" folHlink="folHlink"/>
  <p:sldLayoutIdLst>
    <p:sldLayoutId id="2147483673" r:id="rId1"/>
    <p:sldLayoutId id="2147483689" r:id="rId2"/>
  </p:sldLayoutIdLst>
  <p:timing>
    <p:tnLst>
      <p:par>
        <p:cTn id="1" dur="indefinite" restart="never" nodeType="tmRoot"/>
      </p:par>
    </p:tnLst>
  </p:timing>
  <p:hf hdr="0" dt="0"/>
  <p:txStyles>
    <p:titleStyle>
      <a:lvl1pPr algn="ctr"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4" Type="http://schemas.openxmlformats.org/officeDocument/2006/relationships/image" Target="../media/image20.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6.xml"/><Relationship Id="rId1" Type="http://schemas.openxmlformats.org/officeDocument/2006/relationships/vmlDrawing" Target="../drawings/vmlDrawing2.vml"/><Relationship Id="rId4" Type="http://schemas.openxmlformats.org/officeDocument/2006/relationships/image" Target="../media/image21.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33.wmf"/></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34.wmf"/></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6.xml"/><Relationship Id="rId1" Type="http://schemas.openxmlformats.org/officeDocument/2006/relationships/vmlDrawing" Target="../drawings/vmlDrawing5.vml"/><Relationship Id="rId4" Type="http://schemas.openxmlformats.org/officeDocument/2006/relationships/image" Target="../media/image35.wmf"/></Relationships>
</file>

<file path=ppt/slides/_rels/slide7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38.emf"/></Relationships>
</file>

<file path=ppt/slides/_rels/slide7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3.xml"/><Relationship Id="rId1" Type="http://schemas.openxmlformats.org/officeDocument/2006/relationships/vmlDrawing" Target="../drawings/vmlDrawing7.vml"/><Relationship Id="rId6" Type="http://schemas.openxmlformats.org/officeDocument/2006/relationships/image" Target="../media/image41.wmf"/><Relationship Id="rId5" Type="http://schemas.openxmlformats.org/officeDocument/2006/relationships/oleObject" Target="../embeddings/oleObject8.bin"/><Relationship Id="rId4" Type="http://schemas.openxmlformats.org/officeDocument/2006/relationships/image" Target="../media/image40.wmf"/></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42.wmf"/></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6.xml"/><Relationship Id="rId1" Type="http://schemas.openxmlformats.org/officeDocument/2006/relationships/vmlDrawing" Target="../drawings/vmlDrawing9.vml"/><Relationship Id="rId4" Type="http://schemas.openxmlformats.org/officeDocument/2006/relationships/image" Target="../media/image43.wmf"/></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2895600"/>
            <a:ext cx="8991600" cy="1676400"/>
          </a:xfrm>
        </p:spPr>
        <p:txBody>
          <a:bodyPr/>
          <a:lstStyle/>
          <a:p>
            <a:pPr algn="l"/>
            <a:r>
              <a:rPr lang="en-US" dirty="0" smtClean="0"/>
              <a:t>CHAPTER</a:t>
            </a:r>
            <a:r>
              <a:rPr lang="en-US" b="1" baseline="0" dirty="0"/>
              <a:t> </a:t>
            </a:r>
            <a:r>
              <a:rPr lang="en-US" b="1" baseline="0" dirty="0" smtClean="0"/>
              <a:t>	</a:t>
            </a:r>
            <a:r>
              <a:rPr lang="en-US" sz="4800" b="1" baseline="0" dirty="0" smtClean="0"/>
              <a:t> </a:t>
            </a:r>
            <a:r>
              <a:rPr lang="en-US" dirty="0" smtClean="0"/>
              <a:t/>
            </a:r>
            <a:br>
              <a:rPr lang="en-US" dirty="0" smtClean="0"/>
            </a:br>
            <a:r>
              <a:rPr lang="en-US" baseline="0" dirty="0" smtClean="0"/>
              <a:t> 8</a:t>
            </a:r>
            <a:r>
              <a:rPr lang="en-US" b="1" baseline="0" dirty="0" smtClean="0"/>
              <a:t>	 		 	</a:t>
            </a:r>
            <a:r>
              <a:rPr lang="en-US" b="1" baseline="0" dirty="0"/>
              <a:t>Game Theory</a:t>
            </a:r>
            <a:endParaRPr lang="en-US" sz="4800" b="1" dirty="0"/>
          </a:p>
        </p:txBody>
      </p:sp>
      <p:sp>
        <p:nvSpPr>
          <p:cNvPr id="3" name="Footer Placeholder 2"/>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DF079196-2514-49FB-B48C-98AEBE754E63}" type="slidenum">
              <a:rPr lang="en-US" smtClean="0"/>
              <a:t>1</a:t>
            </a:fld>
            <a:endParaRPr lang="en-US"/>
          </a:p>
        </p:txBody>
      </p:sp>
    </p:spTree>
    <p:extLst>
      <p:ext uri="{BB962C8B-B14F-4D97-AF65-F5344CB8AC3E}">
        <p14:creationId xmlns:p14="http://schemas.microsoft.com/office/powerpoint/2010/main" val="36601923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tLang="en-US" smtClean="0"/>
              <a:t>Basic Concepts</a:t>
            </a:r>
          </a:p>
        </p:txBody>
      </p:sp>
      <p:sp>
        <p:nvSpPr>
          <p:cNvPr id="20483" name="Rectangle 3"/>
          <p:cNvSpPr>
            <a:spLocks noGrp="1" noChangeArrowheads="1"/>
          </p:cNvSpPr>
          <p:nvPr>
            <p:ph idx="1"/>
          </p:nvPr>
        </p:nvSpPr>
        <p:spPr/>
        <p:txBody>
          <a:bodyPr/>
          <a:lstStyle/>
          <a:p>
            <a:r>
              <a:rPr lang="en-US" altLang="en-US" smtClean="0"/>
              <a:t>In a strategic setting</a:t>
            </a:r>
          </a:p>
          <a:p>
            <a:pPr lvl="1"/>
            <a:r>
              <a:rPr lang="en-US" altLang="en-US" smtClean="0"/>
              <a:t>A person may not always have an obvious choice of what is best</a:t>
            </a:r>
          </a:p>
          <a:p>
            <a:pPr lvl="2"/>
            <a:r>
              <a:rPr lang="en-US" altLang="en-US" smtClean="0"/>
              <a:t>May depend on the actions of another person</a:t>
            </a:r>
          </a:p>
          <a:p>
            <a:r>
              <a:rPr lang="en-US" altLang="en-US" smtClean="0"/>
              <a:t>Using game theory to analyze an economic situation</a:t>
            </a:r>
          </a:p>
          <a:p>
            <a:pPr lvl="1"/>
            <a:r>
              <a:rPr lang="en-US" altLang="en-US" smtClean="0"/>
              <a:t>Distill the situation into a simple game</a:t>
            </a:r>
          </a:p>
          <a:p>
            <a:pPr lvl="1"/>
            <a:r>
              <a:rPr lang="en-US" altLang="en-US" smtClean="0"/>
              <a:t>Solve the game</a:t>
            </a:r>
          </a:p>
          <a:p>
            <a:pPr lvl="2"/>
            <a:r>
              <a:rPr lang="en-US" altLang="en-US" smtClean="0"/>
              <a:t>Results in a prediction about what will happen</a:t>
            </a:r>
          </a:p>
          <a:p>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94CA3A04-4FAA-4BB5-9282-1648FFBACD9F}" type="slidenum">
              <a:rPr lang="en-US" smtClean="0"/>
              <a:pPr>
                <a:defRPr/>
              </a:pPr>
              <a:t>2</a:t>
            </a:fld>
            <a:endParaRPr lang="en-US"/>
          </a:p>
        </p:txBody>
      </p:sp>
    </p:spTree>
    <p:extLst>
      <p:ext uri="{BB962C8B-B14F-4D97-AF65-F5344CB8AC3E}">
        <p14:creationId xmlns:p14="http://schemas.microsoft.com/office/powerpoint/2010/main" val="38721683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ltLang="en-US" smtClean="0"/>
              <a:t>Basic Concepts</a:t>
            </a:r>
          </a:p>
        </p:txBody>
      </p:sp>
      <p:sp>
        <p:nvSpPr>
          <p:cNvPr id="21507" name="Rectangle 3"/>
          <p:cNvSpPr>
            <a:spLocks noGrp="1" noChangeArrowheads="1"/>
          </p:cNvSpPr>
          <p:nvPr>
            <p:ph idx="1"/>
          </p:nvPr>
        </p:nvSpPr>
        <p:spPr/>
        <p:txBody>
          <a:bodyPr/>
          <a:lstStyle/>
          <a:p>
            <a:r>
              <a:rPr lang="en-US" altLang="en-US" smtClean="0"/>
              <a:t>A game </a:t>
            </a:r>
          </a:p>
          <a:p>
            <a:pPr lvl="1"/>
            <a:r>
              <a:rPr lang="en-US" altLang="en-US" smtClean="0"/>
              <a:t>An abstract model of a strategic situation</a:t>
            </a:r>
          </a:p>
          <a:p>
            <a:r>
              <a:rPr lang="en-US" altLang="en-US" smtClean="0"/>
              <a:t>Three elements to a game</a:t>
            </a:r>
          </a:p>
          <a:p>
            <a:pPr lvl="1"/>
            <a:r>
              <a:rPr lang="en-US" altLang="en-US" smtClean="0"/>
              <a:t>Players</a:t>
            </a:r>
          </a:p>
          <a:p>
            <a:pPr lvl="1"/>
            <a:r>
              <a:rPr lang="en-US" altLang="en-US" smtClean="0"/>
              <a:t>Strategies</a:t>
            </a:r>
          </a:p>
          <a:p>
            <a:pPr lvl="1"/>
            <a:r>
              <a:rPr lang="en-US" altLang="en-US" smtClean="0"/>
              <a:t>Payoffs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1C243203-788F-4362-AE09-ED1637CBBCC5}" type="slidenum">
              <a:rPr lang="en-US" smtClean="0"/>
              <a:pPr>
                <a:defRPr/>
              </a:pPr>
              <a:t>3</a:t>
            </a:fld>
            <a:endParaRPr lang="en-US"/>
          </a:p>
        </p:txBody>
      </p:sp>
    </p:spTree>
    <p:extLst>
      <p:ext uri="{BB962C8B-B14F-4D97-AF65-F5344CB8AC3E}">
        <p14:creationId xmlns:p14="http://schemas.microsoft.com/office/powerpoint/2010/main" val="255643635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smtClean="0"/>
              <a:t>Basic Concepts</a:t>
            </a:r>
          </a:p>
        </p:txBody>
      </p:sp>
      <p:sp>
        <p:nvSpPr>
          <p:cNvPr id="22531" name="Rectangle 3"/>
          <p:cNvSpPr>
            <a:spLocks noGrp="1" noChangeArrowheads="1"/>
          </p:cNvSpPr>
          <p:nvPr>
            <p:ph idx="1"/>
          </p:nvPr>
        </p:nvSpPr>
        <p:spPr>
          <a:xfrm>
            <a:off x="381000" y="1143000"/>
            <a:ext cx="8534400" cy="5257800"/>
          </a:xfrm>
        </p:spPr>
        <p:txBody>
          <a:bodyPr/>
          <a:lstStyle/>
          <a:p>
            <a:r>
              <a:rPr lang="en-US" altLang="en-US" dirty="0" smtClean="0"/>
              <a:t>Players: each decision maker </a:t>
            </a:r>
          </a:p>
          <a:p>
            <a:pPr lvl="2"/>
            <a:r>
              <a:rPr lang="en-US" altLang="en-US" dirty="0" smtClean="0"/>
              <a:t>May be individuals, firms, countries, etc.</a:t>
            </a:r>
          </a:p>
          <a:p>
            <a:pPr lvl="2"/>
            <a:r>
              <a:rPr lang="en-US" altLang="en-US" dirty="0" smtClean="0"/>
              <a:t>Have the ability to choose from among a set of possible actions</a:t>
            </a:r>
          </a:p>
          <a:p>
            <a:r>
              <a:rPr lang="en-US" altLang="en-US" dirty="0" smtClean="0"/>
              <a:t>Strategy: each course of action open to a player </a:t>
            </a:r>
            <a:endParaRPr lang="en-US" altLang="en-US" u="sng" dirty="0" smtClean="0"/>
          </a:p>
          <a:p>
            <a:pPr lvl="2"/>
            <a:r>
              <a:rPr lang="en-US" altLang="en-US" dirty="0" smtClean="0"/>
              <a:t>It may be a simple action or a complex plan of action</a:t>
            </a:r>
          </a:p>
          <a:p>
            <a:pPr lvl="2"/>
            <a:r>
              <a:rPr lang="en-US" altLang="en-US" i="1" dirty="0" smtClean="0"/>
              <a:t>S</a:t>
            </a:r>
            <a:r>
              <a:rPr lang="en-US" altLang="en-US" i="1" baseline="-25000" dirty="0" smtClean="0"/>
              <a:t>i</a:t>
            </a:r>
            <a:r>
              <a:rPr lang="en-US" altLang="en-US" dirty="0" smtClean="0"/>
              <a:t> is the set of strategies open to player </a:t>
            </a:r>
            <a:r>
              <a:rPr lang="en-US" altLang="en-US" i="1" dirty="0" err="1" smtClean="0"/>
              <a:t>i</a:t>
            </a:r>
            <a:endParaRPr lang="en-US" altLang="en-US" dirty="0" smtClean="0"/>
          </a:p>
          <a:p>
            <a:pPr lvl="2"/>
            <a:r>
              <a:rPr lang="en-US" altLang="en-US" i="1" dirty="0" err="1" smtClean="0"/>
              <a:t>s</a:t>
            </a:r>
            <a:r>
              <a:rPr lang="en-US" altLang="en-US" i="1" baseline="-25000" dirty="0" err="1" smtClean="0"/>
              <a:t>i</a:t>
            </a:r>
            <a:r>
              <a:rPr lang="en-US" altLang="en-US" dirty="0" smtClean="0"/>
              <a:t> is the strategy chosen by player </a:t>
            </a:r>
            <a:r>
              <a:rPr lang="en-US" altLang="en-US" i="1" dirty="0" err="1" smtClean="0"/>
              <a:t>i</a:t>
            </a:r>
            <a:r>
              <a:rPr lang="en-US" altLang="en-US" dirty="0" smtClean="0"/>
              <a:t>, </a:t>
            </a:r>
            <a:r>
              <a:rPr lang="en-US" altLang="en-US" i="1" dirty="0" err="1" smtClean="0"/>
              <a:t>s</a:t>
            </a:r>
            <a:r>
              <a:rPr lang="en-US" altLang="en-US" i="1" baseline="-25000" dirty="0" err="1" smtClean="0"/>
              <a:t>i</a:t>
            </a:r>
            <a:r>
              <a:rPr lang="en-US" altLang="en-US" baseline="-25000" dirty="0" smtClean="0"/>
              <a:t> </a:t>
            </a:r>
            <a:r>
              <a:rPr lang="en-US" altLang="en-US" dirty="0" smtClean="0">
                <a:sym typeface="Symbol" pitchFamily="18" charset="2"/>
              </a:rPr>
              <a:t></a:t>
            </a:r>
            <a:r>
              <a:rPr lang="en-US" altLang="en-US" baseline="-25000" dirty="0" smtClean="0">
                <a:sym typeface="Symbol" pitchFamily="18" charset="2"/>
              </a:rPr>
              <a:t> </a:t>
            </a:r>
            <a:r>
              <a:rPr lang="en-US" altLang="en-US" i="1" dirty="0" smtClean="0">
                <a:sym typeface="Symbol" pitchFamily="18" charset="2"/>
              </a:rPr>
              <a:t>S</a:t>
            </a:r>
            <a:r>
              <a:rPr lang="en-US" altLang="en-US" i="1" baseline="-25000" dirty="0" smtClean="0">
                <a:sym typeface="Symbol" pitchFamily="18" charset="2"/>
              </a:rPr>
              <a:t>i</a:t>
            </a:r>
            <a:endParaRPr lang="en-US" altLang="en-US" i="1" dirty="0" smtClean="0">
              <a:sym typeface="Symbol" pitchFamily="18" charset="2"/>
            </a:endParaRPr>
          </a:p>
          <a:p>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2C494306-11AB-4A8D-9112-FB77FC0D8329}" type="slidenum">
              <a:rPr lang="en-US" smtClean="0"/>
              <a:pPr>
                <a:defRPr/>
              </a:pPr>
              <a:t>4</a:t>
            </a:fld>
            <a:endParaRPr lang="en-US"/>
          </a:p>
        </p:txBody>
      </p:sp>
    </p:spTree>
    <p:extLst>
      <p:ext uri="{BB962C8B-B14F-4D97-AF65-F5344CB8AC3E}">
        <p14:creationId xmlns:p14="http://schemas.microsoft.com/office/powerpoint/2010/main" val="3436711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mtClean="0"/>
              <a:t>Basic Concepts</a:t>
            </a:r>
          </a:p>
        </p:txBody>
      </p:sp>
      <p:sp>
        <p:nvSpPr>
          <p:cNvPr id="23555" name="Rectangle 3"/>
          <p:cNvSpPr>
            <a:spLocks noGrp="1" noChangeArrowheads="1"/>
          </p:cNvSpPr>
          <p:nvPr>
            <p:ph idx="1"/>
          </p:nvPr>
        </p:nvSpPr>
        <p:spPr/>
        <p:txBody>
          <a:bodyPr/>
          <a:lstStyle/>
          <a:p>
            <a:r>
              <a:rPr lang="en-US" altLang="en-US" dirty="0" smtClean="0"/>
              <a:t>Payoffs </a:t>
            </a:r>
          </a:p>
          <a:p>
            <a:pPr lvl="1"/>
            <a:r>
              <a:rPr lang="en-US" altLang="en-US" dirty="0" smtClean="0"/>
              <a:t>Are measured in levels of utility obtained by the players</a:t>
            </a:r>
          </a:p>
          <a:p>
            <a:pPr lvl="1"/>
            <a:r>
              <a:rPr lang="en-US" altLang="en-US" dirty="0" smtClean="0"/>
              <a:t>Players are assumed to prefer higher payoffs to lower ones</a:t>
            </a:r>
          </a:p>
          <a:p>
            <a:pPr lvl="2"/>
            <a:r>
              <a:rPr lang="en-US" altLang="en-US" i="1" dirty="0" smtClean="0"/>
              <a:t>U</a:t>
            </a:r>
            <a:r>
              <a:rPr lang="en-US" altLang="en-US" baseline="-25000" dirty="0" smtClean="0"/>
              <a:t>1</a:t>
            </a:r>
            <a:r>
              <a:rPr lang="en-US" altLang="en-US" dirty="0" smtClean="0"/>
              <a:t>(</a:t>
            </a:r>
            <a:r>
              <a:rPr lang="en-US" altLang="en-US" i="1" dirty="0" smtClean="0"/>
              <a:t>s</a:t>
            </a:r>
            <a:r>
              <a:rPr lang="en-US" altLang="en-US" baseline="-25000" dirty="0" smtClean="0"/>
              <a:t>1</a:t>
            </a:r>
            <a:r>
              <a:rPr lang="en-US" altLang="en-US" dirty="0" smtClean="0"/>
              <a:t>,</a:t>
            </a:r>
            <a:r>
              <a:rPr lang="en-US" altLang="en-US" i="1" dirty="0" smtClean="0"/>
              <a:t>s</a:t>
            </a:r>
            <a:r>
              <a:rPr lang="en-US" altLang="en-US" baseline="-25000" dirty="0" smtClean="0"/>
              <a:t>2</a:t>
            </a:r>
            <a:r>
              <a:rPr lang="en-US" altLang="en-US" dirty="0" smtClean="0"/>
              <a:t>) denotes player 1’s payoff assuming she follows </a:t>
            </a:r>
            <a:r>
              <a:rPr lang="en-US" altLang="en-US" i="1" dirty="0" smtClean="0"/>
              <a:t>s</a:t>
            </a:r>
            <a:r>
              <a:rPr lang="en-US" altLang="en-US" baseline="-25000" dirty="0" smtClean="0"/>
              <a:t>1</a:t>
            </a:r>
            <a:r>
              <a:rPr lang="en-US" altLang="en-US" dirty="0" smtClean="0"/>
              <a:t> and player 2 follows </a:t>
            </a:r>
            <a:r>
              <a:rPr lang="en-US" altLang="en-US" i="1" dirty="0" smtClean="0"/>
              <a:t>s</a:t>
            </a:r>
            <a:r>
              <a:rPr lang="en-US" altLang="en-US" baseline="-25000" dirty="0" smtClean="0"/>
              <a:t>2</a:t>
            </a:r>
            <a:endParaRPr lang="en-US" altLang="en-US" dirty="0" smtClean="0"/>
          </a:p>
          <a:p>
            <a:pPr lvl="2"/>
            <a:r>
              <a:rPr lang="en-US" altLang="en-US" i="1" dirty="0" smtClean="0"/>
              <a:t>U</a:t>
            </a:r>
            <a:r>
              <a:rPr lang="en-US" altLang="en-US" baseline="-25000" dirty="0" smtClean="0"/>
              <a:t>2</a:t>
            </a:r>
            <a:r>
              <a:rPr lang="en-US" altLang="en-US" dirty="0" smtClean="0"/>
              <a:t>(</a:t>
            </a:r>
            <a:r>
              <a:rPr lang="en-US" altLang="en-US" i="1" dirty="0" smtClean="0"/>
              <a:t>s</a:t>
            </a:r>
            <a:r>
              <a:rPr lang="en-US" altLang="en-US" baseline="-25000" dirty="0" smtClean="0"/>
              <a:t>2</a:t>
            </a:r>
            <a:r>
              <a:rPr lang="en-US" altLang="en-US" dirty="0" smtClean="0"/>
              <a:t>, </a:t>
            </a:r>
            <a:r>
              <a:rPr lang="en-US" altLang="en-US" i="1" dirty="0" smtClean="0"/>
              <a:t>s</a:t>
            </a:r>
            <a:r>
              <a:rPr lang="en-US" altLang="en-US" baseline="-25000" dirty="0" smtClean="0"/>
              <a:t>1</a:t>
            </a:r>
            <a:r>
              <a:rPr lang="en-US" altLang="en-US" dirty="0" smtClean="0"/>
              <a:t>) would be player 2’s payoff under the same circumstances</a:t>
            </a:r>
            <a:endParaRPr lang="en-US" altLang="en-US" i="1" dirty="0" smtClean="0"/>
          </a:p>
          <a:p>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F9668503-BC21-4DA1-8EF1-863339BAAAD7}" type="slidenum">
              <a:rPr lang="en-US" smtClean="0"/>
              <a:pPr>
                <a:defRPr/>
              </a:pPr>
              <a:t>5</a:t>
            </a:fld>
            <a:endParaRPr lang="en-US"/>
          </a:p>
        </p:txBody>
      </p:sp>
    </p:spTree>
    <p:extLst>
      <p:ext uri="{BB962C8B-B14F-4D97-AF65-F5344CB8AC3E}">
        <p14:creationId xmlns:p14="http://schemas.microsoft.com/office/powerpoint/2010/main" val="102005568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en-US" smtClean="0"/>
              <a:t>Prisoners’ Dilemma</a:t>
            </a:r>
          </a:p>
        </p:txBody>
      </p:sp>
      <p:sp>
        <p:nvSpPr>
          <p:cNvPr id="24579" name="Rectangle 3"/>
          <p:cNvSpPr>
            <a:spLocks noGrp="1" noChangeArrowheads="1"/>
          </p:cNvSpPr>
          <p:nvPr>
            <p:ph idx="1"/>
          </p:nvPr>
        </p:nvSpPr>
        <p:spPr/>
        <p:txBody>
          <a:bodyPr/>
          <a:lstStyle/>
          <a:p>
            <a:r>
              <a:rPr lang="en-US" altLang="en-US" smtClean="0"/>
              <a:t>The Prisoners’ Dilemma </a:t>
            </a:r>
          </a:p>
          <a:p>
            <a:pPr lvl="1"/>
            <a:r>
              <a:rPr lang="en-US" altLang="en-US" smtClean="0"/>
              <a:t>One of the most famous games studied in game theory</a:t>
            </a:r>
            <a:endParaRPr lang="en-US" altLang="en-US" sz="1800" smtClean="0"/>
          </a:p>
          <a:p>
            <a:pPr lvl="1"/>
            <a:r>
              <a:rPr lang="en-US" altLang="en-US" smtClean="0"/>
              <a:t>Two suspects are arrested for a crime</a:t>
            </a:r>
          </a:p>
          <a:p>
            <a:pPr lvl="1"/>
            <a:r>
              <a:rPr lang="en-US" altLang="en-US" smtClean="0"/>
              <a:t>The DA wants to extract a confession so he offers each a deal</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2D520FA7-8274-4875-8D7F-18CE67B05E14}" type="slidenum">
              <a:rPr lang="en-US" smtClean="0"/>
              <a:pPr>
                <a:defRPr/>
              </a:pPr>
              <a:t>6</a:t>
            </a:fld>
            <a:endParaRPr lang="en-US"/>
          </a:p>
        </p:txBody>
      </p:sp>
    </p:spTree>
    <p:extLst>
      <p:ext uri="{BB962C8B-B14F-4D97-AF65-F5344CB8AC3E}">
        <p14:creationId xmlns:p14="http://schemas.microsoft.com/office/powerpoint/2010/main" val="30481379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ltLang="en-US" smtClean="0"/>
              <a:t>Prisoners’ Dilemma</a:t>
            </a:r>
          </a:p>
        </p:txBody>
      </p:sp>
      <p:sp>
        <p:nvSpPr>
          <p:cNvPr id="25603" name="Rectangle 3"/>
          <p:cNvSpPr>
            <a:spLocks noGrp="1" noChangeArrowheads="1"/>
          </p:cNvSpPr>
          <p:nvPr>
            <p:ph idx="1"/>
          </p:nvPr>
        </p:nvSpPr>
        <p:spPr/>
        <p:txBody>
          <a:bodyPr/>
          <a:lstStyle/>
          <a:p>
            <a:r>
              <a:rPr lang="en-US" altLang="en-US" smtClean="0"/>
              <a:t>The Deal</a:t>
            </a:r>
          </a:p>
          <a:p>
            <a:pPr lvl="1"/>
            <a:r>
              <a:rPr lang="en-US" altLang="en-US" smtClean="0"/>
              <a:t>“</a:t>
            </a:r>
            <a:r>
              <a:rPr lang="en-US" altLang="en-US" sz="3600" smtClean="0"/>
              <a:t>If</a:t>
            </a:r>
            <a:r>
              <a:rPr lang="en-US" altLang="en-US" smtClean="0"/>
              <a:t> you fink on your companion, but your companion doesn’t fink on you, you get a one-year sentence and your companion gets a four-year sentence”</a:t>
            </a:r>
          </a:p>
          <a:p>
            <a:pPr lvl="1"/>
            <a:r>
              <a:rPr lang="en-US" altLang="en-US" smtClean="0"/>
              <a:t>“If you both fink on each other, you will each get a three-year sentence”</a:t>
            </a:r>
          </a:p>
          <a:p>
            <a:pPr lvl="1"/>
            <a:r>
              <a:rPr lang="en-US" altLang="en-US" smtClean="0"/>
              <a:t>“If neither finks, we will get tried for a lesser crime and each get a two-year sentence”</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969C693F-E477-43D8-8E21-C7B2DF8C33D1}" type="slidenum">
              <a:rPr lang="en-US" smtClean="0"/>
              <a:pPr>
                <a:defRPr/>
              </a:pPr>
              <a:t>7</a:t>
            </a:fld>
            <a:endParaRPr lang="en-US"/>
          </a:p>
        </p:txBody>
      </p:sp>
    </p:spTree>
    <p:extLst>
      <p:ext uri="{BB962C8B-B14F-4D97-AF65-F5344CB8AC3E}">
        <p14:creationId xmlns:p14="http://schemas.microsoft.com/office/powerpoint/2010/main" val="29323314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ltLang="en-US" smtClean="0"/>
              <a:t>Prisoners’ Dilemma</a:t>
            </a:r>
          </a:p>
        </p:txBody>
      </p:sp>
      <p:sp>
        <p:nvSpPr>
          <p:cNvPr id="26627" name="Rectangle 3"/>
          <p:cNvSpPr>
            <a:spLocks noGrp="1" noChangeArrowheads="1"/>
          </p:cNvSpPr>
          <p:nvPr>
            <p:ph idx="1"/>
          </p:nvPr>
        </p:nvSpPr>
        <p:spPr/>
        <p:txBody>
          <a:bodyPr/>
          <a:lstStyle/>
          <a:p>
            <a:r>
              <a:rPr lang="en-US" altLang="en-US" smtClean="0"/>
              <a:t>There are 4 combinations of strategies and two payoffs for each combination</a:t>
            </a:r>
          </a:p>
          <a:p>
            <a:pPr lvl="1"/>
            <a:r>
              <a:rPr lang="en-US" altLang="en-US" smtClean="0"/>
              <a:t>Useful to use a game tree or a matrix to show the payoffs</a:t>
            </a:r>
          </a:p>
          <a:p>
            <a:pPr lvl="2"/>
            <a:r>
              <a:rPr lang="en-US" altLang="en-US" smtClean="0"/>
              <a:t>A game tree is called the extensive form</a:t>
            </a:r>
          </a:p>
          <a:p>
            <a:pPr lvl="2"/>
            <a:r>
              <a:rPr lang="en-US" altLang="en-US" smtClean="0"/>
              <a:t>A matrix is called the normal form</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C4239AA9-72F7-4372-9443-5C24D5BA57A5}" type="slidenum">
              <a:rPr lang="en-US" smtClean="0"/>
              <a:pPr>
                <a:defRPr/>
              </a:pPr>
              <a:t>8</a:t>
            </a:fld>
            <a:endParaRPr lang="en-US"/>
          </a:p>
        </p:txBody>
      </p:sp>
    </p:spTree>
    <p:extLst>
      <p:ext uri="{BB962C8B-B14F-4D97-AF65-F5344CB8AC3E}">
        <p14:creationId xmlns:p14="http://schemas.microsoft.com/office/powerpoint/2010/main" val="327298010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8.1	Normal Form for the Prisoners’ </a:t>
            </a:r>
            <a:r>
              <a:rPr lang="en-US" altLang="en-US" dirty="0" smtClean="0"/>
              <a:t>Dilemma</a:t>
            </a:r>
          </a:p>
        </p:txBody>
      </p:sp>
      <p:sp>
        <p:nvSpPr>
          <p:cNvPr id="27651" name="Text Placeholder 2"/>
          <p:cNvSpPr>
            <a:spLocks noGrp="1"/>
          </p:cNvSpPr>
          <p:nvPr>
            <p:ph sz="half" idx="1"/>
          </p:nvPr>
        </p:nvSpPr>
        <p:spPr>
          <a:xfrm>
            <a:off x="304800" y="4876800"/>
            <a:ext cx="8534400" cy="1477963"/>
          </a:xfrm>
        </p:spPr>
        <p:txBody>
          <a:bodyPr>
            <a:normAutofit/>
          </a:bodyPr>
          <a:lstStyle/>
          <a:p>
            <a:pPr>
              <a:spcBef>
                <a:spcPct val="0"/>
              </a:spcBef>
            </a:pPr>
            <a:r>
              <a:rPr lang="en-US" altLang="en-US" dirty="0"/>
              <a:t>Two suspects simultaneously choose to fink or be silent.  Rows refer to player 1’s actions and columns to player 2’s.  Each box is an outcome; the first entry is player 1’s payoff and the second player 2’s in that outcome. </a:t>
            </a:r>
            <a:endParaRPr lang="en-US" altLang="en-US" dirty="0" smtClean="0"/>
          </a:p>
        </p:txBody>
      </p:sp>
      <p:sp>
        <p:nvSpPr>
          <p:cNvPr id="27653"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36AE866E-A360-49F9-B848-F5B57424DD7E}" type="slidenum">
              <a:rPr lang="en-US" smtClean="0"/>
              <a:pPr>
                <a:defRPr/>
              </a:pPr>
              <a:t>9</a:t>
            </a:fld>
            <a:endParaRPr lang="en-US" dirty="0"/>
          </a:p>
        </p:txBody>
      </p:sp>
      <p:grpSp>
        <p:nvGrpSpPr>
          <p:cNvPr id="4" name="Group 3"/>
          <p:cNvGrpSpPr/>
          <p:nvPr/>
        </p:nvGrpSpPr>
        <p:grpSpPr>
          <a:xfrm>
            <a:off x="2238375" y="676275"/>
            <a:ext cx="4667250" cy="4200525"/>
            <a:chOff x="1727200" y="960438"/>
            <a:chExt cx="4667250" cy="4200525"/>
          </a:xfrm>
        </p:grpSpPr>
        <p:pic>
          <p:nvPicPr>
            <p:cNvPr id="399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7200" y="960438"/>
              <a:ext cx="4667250" cy="420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Group 2"/>
            <p:cNvGrpSpPr/>
            <p:nvPr/>
          </p:nvGrpSpPr>
          <p:grpSpPr>
            <a:xfrm>
              <a:off x="3048000" y="2286000"/>
              <a:ext cx="3051238" cy="1908721"/>
              <a:chOff x="3048000" y="2286000"/>
              <a:chExt cx="3051238" cy="1908721"/>
            </a:xfrm>
          </p:grpSpPr>
          <p:sp>
            <p:nvSpPr>
              <p:cNvPr id="2" name="TextBox 1"/>
              <p:cNvSpPr txBox="1"/>
              <p:nvPr/>
            </p:nvSpPr>
            <p:spPr>
              <a:xfrm>
                <a:off x="4648200" y="3810000"/>
                <a:ext cx="1451038" cy="384721"/>
              </a:xfrm>
              <a:prstGeom prst="rect">
                <a:avLst/>
              </a:prstGeom>
              <a:solidFill>
                <a:schemeClr val="bg1"/>
              </a:solidFill>
            </p:spPr>
            <p:txBody>
              <a:bodyPr wrap="none" rtlCol="0">
                <a:spAutoFit/>
              </a:bodyPr>
              <a:lstStyle/>
              <a:p>
                <a:r>
                  <a:rPr lang="en-US" sz="1900" i="1" dirty="0" smtClean="0">
                    <a:solidFill>
                      <a:srgbClr val="002D56"/>
                    </a:solidFill>
                  </a:rPr>
                  <a:t>U</a:t>
                </a:r>
                <a:r>
                  <a:rPr lang="en-US" sz="1900" i="1" baseline="-25000" dirty="0" smtClean="0">
                    <a:solidFill>
                      <a:srgbClr val="002D56"/>
                    </a:solidFill>
                  </a:rPr>
                  <a:t>1 </a:t>
                </a:r>
                <a:r>
                  <a:rPr lang="en-US" sz="1900" dirty="0" smtClean="0">
                    <a:solidFill>
                      <a:srgbClr val="002D56"/>
                    </a:solidFill>
                  </a:rPr>
                  <a:t>= 2, </a:t>
                </a:r>
                <a:r>
                  <a:rPr lang="en-US" sz="1900" i="1" dirty="0" smtClean="0">
                    <a:solidFill>
                      <a:srgbClr val="002D56"/>
                    </a:solidFill>
                  </a:rPr>
                  <a:t>U</a:t>
                </a:r>
                <a:r>
                  <a:rPr lang="en-US" sz="1900" i="1" baseline="-25000" dirty="0" smtClean="0">
                    <a:solidFill>
                      <a:srgbClr val="002D56"/>
                    </a:solidFill>
                  </a:rPr>
                  <a:t>2 </a:t>
                </a:r>
                <a:r>
                  <a:rPr lang="en-US" sz="1900" dirty="0" smtClean="0">
                    <a:solidFill>
                      <a:srgbClr val="002D56"/>
                    </a:solidFill>
                  </a:rPr>
                  <a:t>= 2</a:t>
                </a:r>
                <a:endParaRPr lang="en-US" sz="1900" dirty="0">
                  <a:solidFill>
                    <a:srgbClr val="002D56"/>
                  </a:solidFill>
                </a:endParaRPr>
              </a:p>
            </p:txBody>
          </p:sp>
          <p:sp>
            <p:nvSpPr>
              <p:cNvPr id="8" name="TextBox 7"/>
              <p:cNvSpPr txBox="1"/>
              <p:nvPr/>
            </p:nvSpPr>
            <p:spPr>
              <a:xfrm>
                <a:off x="3048000" y="2286000"/>
                <a:ext cx="1451038" cy="384721"/>
              </a:xfrm>
              <a:prstGeom prst="rect">
                <a:avLst/>
              </a:prstGeom>
              <a:solidFill>
                <a:schemeClr val="bg1"/>
              </a:solidFill>
            </p:spPr>
            <p:txBody>
              <a:bodyPr wrap="none" rtlCol="0">
                <a:spAutoFit/>
              </a:bodyPr>
              <a:lstStyle/>
              <a:p>
                <a:r>
                  <a:rPr lang="en-US" sz="1900" i="1" dirty="0" smtClean="0">
                    <a:solidFill>
                      <a:srgbClr val="002D56"/>
                    </a:solidFill>
                  </a:rPr>
                  <a:t>U</a:t>
                </a:r>
                <a:r>
                  <a:rPr lang="en-US" sz="1900" i="1" baseline="-25000" dirty="0" smtClean="0">
                    <a:solidFill>
                      <a:srgbClr val="002D56"/>
                    </a:solidFill>
                  </a:rPr>
                  <a:t>1 </a:t>
                </a:r>
                <a:r>
                  <a:rPr lang="en-US" sz="1900" dirty="0" smtClean="0">
                    <a:solidFill>
                      <a:srgbClr val="002D56"/>
                    </a:solidFill>
                  </a:rPr>
                  <a:t>= 1, </a:t>
                </a:r>
                <a:r>
                  <a:rPr lang="en-US" sz="1900" i="1" dirty="0" smtClean="0">
                    <a:solidFill>
                      <a:srgbClr val="002D56"/>
                    </a:solidFill>
                  </a:rPr>
                  <a:t>U</a:t>
                </a:r>
                <a:r>
                  <a:rPr lang="en-US" sz="1900" i="1" baseline="-25000" dirty="0" smtClean="0">
                    <a:solidFill>
                      <a:srgbClr val="002D56"/>
                    </a:solidFill>
                  </a:rPr>
                  <a:t>2 </a:t>
                </a:r>
                <a:r>
                  <a:rPr lang="en-US" sz="1900" dirty="0" smtClean="0">
                    <a:solidFill>
                      <a:srgbClr val="002D56"/>
                    </a:solidFill>
                  </a:rPr>
                  <a:t>= 1</a:t>
                </a:r>
                <a:endParaRPr lang="en-US" sz="1900" dirty="0">
                  <a:solidFill>
                    <a:srgbClr val="002D56"/>
                  </a:solidFill>
                </a:endParaRPr>
              </a:p>
            </p:txBody>
          </p:sp>
          <p:sp>
            <p:nvSpPr>
              <p:cNvPr id="9" name="TextBox 8"/>
              <p:cNvSpPr txBox="1"/>
              <p:nvPr/>
            </p:nvSpPr>
            <p:spPr>
              <a:xfrm>
                <a:off x="4648200" y="2286000"/>
                <a:ext cx="1451038" cy="384721"/>
              </a:xfrm>
              <a:prstGeom prst="rect">
                <a:avLst/>
              </a:prstGeom>
              <a:solidFill>
                <a:schemeClr val="bg1"/>
              </a:solidFill>
            </p:spPr>
            <p:txBody>
              <a:bodyPr wrap="none" rtlCol="0">
                <a:spAutoFit/>
              </a:bodyPr>
              <a:lstStyle/>
              <a:p>
                <a:r>
                  <a:rPr lang="en-US" sz="1900" i="1" dirty="0" smtClean="0">
                    <a:solidFill>
                      <a:srgbClr val="002D56"/>
                    </a:solidFill>
                  </a:rPr>
                  <a:t>U</a:t>
                </a:r>
                <a:r>
                  <a:rPr lang="en-US" sz="1900" i="1" baseline="-25000" dirty="0" smtClean="0">
                    <a:solidFill>
                      <a:srgbClr val="002D56"/>
                    </a:solidFill>
                  </a:rPr>
                  <a:t>1 </a:t>
                </a:r>
                <a:r>
                  <a:rPr lang="en-US" sz="1900" dirty="0" smtClean="0">
                    <a:solidFill>
                      <a:srgbClr val="002D56"/>
                    </a:solidFill>
                  </a:rPr>
                  <a:t>= 3, </a:t>
                </a:r>
                <a:r>
                  <a:rPr lang="en-US" sz="1900" i="1" dirty="0" smtClean="0">
                    <a:solidFill>
                      <a:srgbClr val="002D56"/>
                    </a:solidFill>
                  </a:rPr>
                  <a:t>U</a:t>
                </a:r>
                <a:r>
                  <a:rPr lang="en-US" sz="1900" i="1" baseline="-25000" dirty="0" smtClean="0">
                    <a:solidFill>
                      <a:srgbClr val="002D56"/>
                    </a:solidFill>
                  </a:rPr>
                  <a:t>2 </a:t>
                </a:r>
                <a:r>
                  <a:rPr lang="en-US" sz="1900" dirty="0" smtClean="0">
                    <a:solidFill>
                      <a:srgbClr val="002D56"/>
                    </a:solidFill>
                  </a:rPr>
                  <a:t>= 0</a:t>
                </a:r>
                <a:endParaRPr lang="en-US" sz="1900" dirty="0">
                  <a:solidFill>
                    <a:srgbClr val="002D56"/>
                  </a:solidFill>
                </a:endParaRPr>
              </a:p>
            </p:txBody>
          </p:sp>
          <p:sp>
            <p:nvSpPr>
              <p:cNvPr id="10" name="TextBox 9"/>
              <p:cNvSpPr txBox="1"/>
              <p:nvPr/>
            </p:nvSpPr>
            <p:spPr>
              <a:xfrm>
                <a:off x="3048000" y="3810000"/>
                <a:ext cx="1451038" cy="384721"/>
              </a:xfrm>
              <a:prstGeom prst="rect">
                <a:avLst/>
              </a:prstGeom>
              <a:solidFill>
                <a:schemeClr val="bg1"/>
              </a:solidFill>
            </p:spPr>
            <p:txBody>
              <a:bodyPr wrap="none" rtlCol="0">
                <a:spAutoFit/>
              </a:bodyPr>
              <a:lstStyle/>
              <a:p>
                <a:r>
                  <a:rPr lang="en-US" sz="1900" i="1" dirty="0" smtClean="0">
                    <a:solidFill>
                      <a:srgbClr val="002D56"/>
                    </a:solidFill>
                  </a:rPr>
                  <a:t>U</a:t>
                </a:r>
                <a:r>
                  <a:rPr lang="en-US" sz="1900" i="1" baseline="-25000" dirty="0" smtClean="0">
                    <a:solidFill>
                      <a:srgbClr val="002D56"/>
                    </a:solidFill>
                  </a:rPr>
                  <a:t>1 </a:t>
                </a:r>
                <a:r>
                  <a:rPr lang="en-US" sz="1900" dirty="0" smtClean="0">
                    <a:solidFill>
                      <a:srgbClr val="002D56"/>
                    </a:solidFill>
                  </a:rPr>
                  <a:t>= 0, </a:t>
                </a:r>
                <a:r>
                  <a:rPr lang="en-US" sz="1900" i="1" dirty="0" smtClean="0">
                    <a:solidFill>
                      <a:srgbClr val="002D56"/>
                    </a:solidFill>
                  </a:rPr>
                  <a:t>U</a:t>
                </a:r>
                <a:r>
                  <a:rPr lang="en-US" sz="1900" i="1" baseline="-25000" dirty="0" smtClean="0">
                    <a:solidFill>
                      <a:srgbClr val="002D56"/>
                    </a:solidFill>
                  </a:rPr>
                  <a:t>2 </a:t>
                </a:r>
                <a:r>
                  <a:rPr lang="en-US" sz="1900" dirty="0" smtClean="0">
                    <a:solidFill>
                      <a:srgbClr val="002D56"/>
                    </a:solidFill>
                  </a:rPr>
                  <a:t>= 3</a:t>
                </a:r>
                <a:endParaRPr lang="en-US" sz="1900" dirty="0">
                  <a:solidFill>
                    <a:srgbClr val="002D56"/>
                  </a:solidFill>
                </a:endParaRPr>
              </a:p>
            </p:txBody>
          </p:sp>
        </p:grpSp>
      </p:grpSp>
    </p:spTree>
    <p:extLst>
      <p:ext uri="{BB962C8B-B14F-4D97-AF65-F5344CB8AC3E}">
        <p14:creationId xmlns:p14="http://schemas.microsoft.com/office/powerpoint/2010/main" val="2555075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7651">
                                            <p:txEl>
                                              <p:pRg st="0" end="0"/>
                                            </p:txEl>
                                          </p:spTgt>
                                        </p:tgtEl>
                                        <p:attrNameLst>
                                          <p:attrName>style.visibility</p:attrName>
                                        </p:attrNameLst>
                                      </p:cBhvr>
                                      <p:to>
                                        <p:strVal val="visible"/>
                                      </p:to>
                                    </p:set>
                                    <p:animEffect transition="in" filter="wipe(left)">
                                      <p:cBhvr>
                                        <p:cTn id="11" dur="500"/>
                                        <p:tgtEl>
                                          <p:spTgt spid="2765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altLang="en-US" smtClean="0"/>
              <a:t>Nash Equilibrium</a:t>
            </a:r>
          </a:p>
        </p:txBody>
      </p:sp>
      <p:sp>
        <p:nvSpPr>
          <p:cNvPr id="28675" name="Rectangle 3"/>
          <p:cNvSpPr>
            <a:spLocks noGrp="1" noChangeArrowheads="1"/>
          </p:cNvSpPr>
          <p:nvPr>
            <p:ph idx="1"/>
          </p:nvPr>
        </p:nvSpPr>
        <p:spPr/>
        <p:txBody>
          <a:bodyPr/>
          <a:lstStyle/>
          <a:p>
            <a:r>
              <a:rPr lang="en-US" altLang="en-US" smtClean="0"/>
              <a:t>Nash equilibrium </a:t>
            </a:r>
          </a:p>
          <a:p>
            <a:pPr lvl="1"/>
            <a:r>
              <a:rPr lang="en-US" altLang="en-US" smtClean="0"/>
              <a:t>Involves strategic choices that, once made, provide no incentives for players to alter their behavior</a:t>
            </a:r>
          </a:p>
          <a:p>
            <a:pPr lvl="1"/>
            <a:r>
              <a:rPr lang="en-US" altLang="en-US" smtClean="0"/>
              <a:t>Best choice for each player given the other players’ equilibrium strategies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A1775F0-4F8E-4FAC-8541-70F7439FA48D}" type="slidenum">
              <a:rPr lang="en-US" smtClean="0"/>
              <a:pPr>
                <a:defRPr/>
              </a:pPr>
              <a:t>10</a:t>
            </a:fld>
            <a:endParaRPr lang="en-US"/>
          </a:p>
        </p:txBody>
      </p:sp>
    </p:spTree>
    <p:extLst>
      <p:ext uri="{BB962C8B-B14F-4D97-AF65-F5344CB8AC3E}">
        <p14:creationId xmlns:p14="http://schemas.microsoft.com/office/powerpoint/2010/main" val="576255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altLang="en-US" smtClean="0"/>
              <a:t>Nash Equilibrium</a:t>
            </a:r>
          </a:p>
        </p:txBody>
      </p:sp>
      <p:sp>
        <p:nvSpPr>
          <p:cNvPr id="29699" name="Rectangle 3"/>
          <p:cNvSpPr>
            <a:spLocks noGrp="1" noChangeArrowheads="1"/>
          </p:cNvSpPr>
          <p:nvPr>
            <p:ph idx="1"/>
          </p:nvPr>
        </p:nvSpPr>
        <p:spPr/>
        <p:txBody>
          <a:bodyPr/>
          <a:lstStyle/>
          <a:p>
            <a:r>
              <a:rPr lang="en-US" altLang="en-US" dirty="0" smtClean="0"/>
              <a:t>Best response</a:t>
            </a:r>
          </a:p>
          <a:p>
            <a:pPr lvl="1"/>
            <a:r>
              <a:rPr lang="en-US" altLang="en-US" i="1" dirty="0" err="1" smtClean="0"/>
              <a:t>s</a:t>
            </a:r>
            <a:r>
              <a:rPr lang="en-US" altLang="en-US" i="1" baseline="-25000" dirty="0" err="1" smtClean="0"/>
              <a:t>i</a:t>
            </a:r>
            <a:r>
              <a:rPr lang="en-US" altLang="en-US" dirty="0" smtClean="0"/>
              <a:t> is the best response for player </a:t>
            </a:r>
            <a:r>
              <a:rPr lang="en-US" altLang="en-US" i="1" dirty="0" err="1" smtClean="0"/>
              <a:t>i</a:t>
            </a:r>
            <a:r>
              <a:rPr lang="en-US" altLang="en-US" dirty="0" smtClean="0"/>
              <a:t> to rivals’ strategies </a:t>
            </a:r>
            <a:r>
              <a:rPr lang="en-US" altLang="en-US" i="1" dirty="0" smtClean="0"/>
              <a:t>s</a:t>
            </a:r>
            <a:r>
              <a:rPr lang="en-US" altLang="en-US" i="1" baseline="-25000" dirty="0" smtClean="0"/>
              <a:t>-</a:t>
            </a:r>
            <a:r>
              <a:rPr lang="en-US" altLang="en-US" i="1" baseline="-25000" dirty="0" err="1" smtClean="0"/>
              <a:t>i</a:t>
            </a:r>
            <a:r>
              <a:rPr lang="en-US" altLang="en-US" dirty="0" smtClean="0"/>
              <a:t>, denoted </a:t>
            </a:r>
            <a:r>
              <a:rPr lang="en-US" altLang="en-US" i="1" dirty="0" err="1" smtClean="0"/>
              <a:t>s</a:t>
            </a:r>
            <a:r>
              <a:rPr lang="en-US" altLang="en-US" i="1" baseline="-25000" dirty="0" err="1" smtClean="0"/>
              <a:t>i</a:t>
            </a:r>
            <a:r>
              <a:rPr lang="en-US" altLang="en-US" baseline="-25000" dirty="0" smtClean="0"/>
              <a:t> </a:t>
            </a:r>
            <a:r>
              <a:rPr lang="en-US" altLang="en-US" dirty="0" smtClean="0">
                <a:sym typeface="Symbol" pitchFamily="18" charset="2"/>
              </a:rPr>
              <a:t></a:t>
            </a:r>
            <a:r>
              <a:rPr lang="en-US" altLang="en-US" baseline="-25000" dirty="0" smtClean="0">
                <a:sym typeface="Symbol" pitchFamily="18" charset="2"/>
              </a:rPr>
              <a:t> </a:t>
            </a:r>
            <a:r>
              <a:rPr lang="en-US" altLang="en-US" i="1" dirty="0" err="1" smtClean="0">
                <a:sym typeface="Symbol" pitchFamily="18" charset="2"/>
              </a:rPr>
              <a:t>BR</a:t>
            </a:r>
            <a:r>
              <a:rPr lang="en-US" altLang="en-US" i="1" baseline="-25000" dirty="0" err="1" smtClean="0">
                <a:sym typeface="Symbol" pitchFamily="18" charset="2"/>
              </a:rPr>
              <a:t>i</a:t>
            </a:r>
            <a:r>
              <a:rPr lang="en-US" altLang="en-US" dirty="0" smtClean="0">
                <a:sym typeface="Symbol" pitchFamily="18" charset="2"/>
              </a:rPr>
              <a:t>(</a:t>
            </a:r>
            <a:r>
              <a:rPr lang="en-US" altLang="en-US" i="1" dirty="0" smtClean="0">
                <a:sym typeface="Symbol" pitchFamily="18" charset="2"/>
              </a:rPr>
              <a:t>s</a:t>
            </a:r>
            <a:r>
              <a:rPr lang="en-US" altLang="en-US" i="1" baseline="-25000" dirty="0" smtClean="0">
                <a:sym typeface="Symbol" pitchFamily="18" charset="2"/>
              </a:rPr>
              <a:t>-</a:t>
            </a:r>
            <a:r>
              <a:rPr lang="en-US" altLang="en-US" i="1" baseline="-25000" dirty="0" err="1" smtClean="0">
                <a:sym typeface="Symbol" pitchFamily="18" charset="2"/>
              </a:rPr>
              <a:t>i</a:t>
            </a:r>
            <a:r>
              <a:rPr lang="en-US" altLang="en-US" dirty="0" smtClean="0">
                <a:sym typeface="Symbol" pitchFamily="18" charset="2"/>
              </a:rPr>
              <a:t>) if</a:t>
            </a:r>
          </a:p>
          <a:p>
            <a:pPr algn="ctr">
              <a:buFontTx/>
              <a:buNone/>
            </a:pPr>
            <a:r>
              <a:rPr lang="en-US" altLang="en-US" sz="3200" i="1" dirty="0" err="1" smtClean="0">
                <a:solidFill>
                  <a:srgbClr val="FF0000"/>
                </a:solidFill>
                <a:sym typeface="Symbol" pitchFamily="18" charset="2"/>
              </a:rPr>
              <a:t>U</a:t>
            </a:r>
            <a:r>
              <a:rPr lang="en-US" altLang="en-US" sz="3200" i="1" baseline="-25000" dirty="0" err="1" smtClean="0">
                <a:solidFill>
                  <a:srgbClr val="FF0000"/>
                </a:solidFill>
                <a:sym typeface="Symbol" pitchFamily="18" charset="2"/>
              </a:rPr>
              <a:t>i</a:t>
            </a:r>
            <a:r>
              <a:rPr lang="en-US" altLang="en-US" sz="3200" dirty="0" smtClean="0">
                <a:solidFill>
                  <a:srgbClr val="FF0000"/>
                </a:solidFill>
                <a:sym typeface="Symbol" pitchFamily="18" charset="2"/>
              </a:rPr>
              <a:t>(</a:t>
            </a:r>
            <a:r>
              <a:rPr lang="en-US" altLang="en-US" sz="3200" i="1" dirty="0" err="1" smtClean="0">
                <a:solidFill>
                  <a:srgbClr val="FF0000"/>
                </a:solidFill>
                <a:sym typeface="Symbol" pitchFamily="18" charset="2"/>
              </a:rPr>
              <a:t>s</a:t>
            </a:r>
            <a:r>
              <a:rPr lang="en-US" altLang="en-US" sz="3200" i="1" baseline="-25000" dirty="0" err="1" smtClean="0">
                <a:solidFill>
                  <a:srgbClr val="FF0000"/>
                </a:solidFill>
                <a:sym typeface="Symbol" pitchFamily="18" charset="2"/>
              </a:rPr>
              <a:t>i</a:t>
            </a:r>
            <a:r>
              <a:rPr lang="en-US" altLang="en-US" sz="3200" dirty="0" err="1" smtClean="0">
                <a:solidFill>
                  <a:srgbClr val="FF0000"/>
                </a:solidFill>
                <a:sym typeface="Symbol" pitchFamily="18" charset="2"/>
              </a:rPr>
              <a:t>,</a:t>
            </a:r>
            <a:r>
              <a:rPr lang="en-US" altLang="en-US" sz="3200" i="1" dirty="0" err="1" smtClean="0">
                <a:solidFill>
                  <a:srgbClr val="FF0000"/>
                </a:solidFill>
                <a:sym typeface="Symbol" pitchFamily="18" charset="2"/>
              </a:rPr>
              <a:t>s</a:t>
            </a:r>
            <a:r>
              <a:rPr lang="en-US" altLang="en-US" sz="3200" i="1" baseline="-25000" dirty="0" err="1" smtClean="0">
                <a:solidFill>
                  <a:srgbClr val="FF0000"/>
                </a:solidFill>
                <a:sym typeface="Symbol" pitchFamily="18" charset="2"/>
              </a:rPr>
              <a:t>-i</a:t>
            </a:r>
            <a:r>
              <a:rPr lang="en-US" altLang="en-US" sz="3200" dirty="0" smtClean="0">
                <a:solidFill>
                  <a:srgbClr val="FF0000"/>
                </a:solidFill>
                <a:sym typeface="Symbol" pitchFamily="18" charset="2"/>
              </a:rPr>
              <a:t>)  </a:t>
            </a:r>
            <a:r>
              <a:rPr lang="en-US" altLang="en-US" sz="3200" i="1" dirty="0" err="1" smtClean="0">
                <a:solidFill>
                  <a:srgbClr val="FF0000"/>
                </a:solidFill>
                <a:sym typeface="Symbol" pitchFamily="18" charset="2"/>
              </a:rPr>
              <a:t>u</a:t>
            </a:r>
            <a:r>
              <a:rPr lang="en-US" altLang="en-US" sz="3200" i="1" baseline="-25000" dirty="0" err="1" smtClean="0">
                <a:solidFill>
                  <a:srgbClr val="FF0000"/>
                </a:solidFill>
                <a:sym typeface="Symbol" pitchFamily="18" charset="2"/>
              </a:rPr>
              <a:t>i</a:t>
            </a:r>
            <a:r>
              <a:rPr lang="en-US" altLang="en-US" sz="3200" dirty="0" smtClean="0">
                <a:solidFill>
                  <a:srgbClr val="FF0000"/>
                </a:solidFill>
                <a:sym typeface="Symbol" pitchFamily="18" charset="2"/>
              </a:rPr>
              <a:t>(</a:t>
            </a:r>
            <a:r>
              <a:rPr lang="en-US" altLang="en-US" sz="3200" i="1" dirty="0" err="1" smtClean="0">
                <a:solidFill>
                  <a:srgbClr val="FF0000"/>
                </a:solidFill>
                <a:sym typeface="Symbol" pitchFamily="18" charset="2"/>
              </a:rPr>
              <a:t>s’</a:t>
            </a:r>
            <a:r>
              <a:rPr lang="en-US" altLang="en-US" sz="3200" i="1" baseline="-25000" dirty="0" err="1" smtClean="0">
                <a:solidFill>
                  <a:srgbClr val="FF0000"/>
                </a:solidFill>
                <a:sym typeface="Symbol" pitchFamily="18" charset="2"/>
              </a:rPr>
              <a:t>i</a:t>
            </a:r>
            <a:r>
              <a:rPr lang="en-US" altLang="en-US" sz="3200" dirty="0" err="1" smtClean="0">
                <a:solidFill>
                  <a:srgbClr val="FF0000"/>
                </a:solidFill>
                <a:sym typeface="Symbol" pitchFamily="18" charset="2"/>
              </a:rPr>
              <a:t>,</a:t>
            </a:r>
            <a:r>
              <a:rPr lang="en-US" altLang="en-US" sz="3200" i="1" dirty="0" err="1" smtClean="0">
                <a:solidFill>
                  <a:srgbClr val="FF0000"/>
                </a:solidFill>
                <a:sym typeface="Symbol" pitchFamily="18" charset="2"/>
              </a:rPr>
              <a:t>s</a:t>
            </a:r>
            <a:r>
              <a:rPr lang="en-US" altLang="en-US" sz="3200" i="1" baseline="-25000" dirty="0" err="1" smtClean="0">
                <a:solidFill>
                  <a:srgbClr val="FF0000"/>
                </a:solidFill>
                <a:sym typeface="Symbol" pitchFamily="18" charset="2"/>
              </a:rPr>
              <a:t>-i</a:t>
            </a:r>
            <a:r>
              <a:rPr lang="en-US" altLang="en-US" sz="3200" dirty="0" smtClean="0">
                <a:solidFill>
                  <a:srgbClr val="FF0000"/>
                </a:solidFill>
                <a:sym typeface="Symbol" pitchFamily="18" charset="2"/>
              </a:rPr>
              <a:t>) for all </a:t>
            </a:r>
            <a:r>
              <a:rPr lang="en-US" altLang="en-US" sz="3200" i="1" dirty="0" err="1" smtClean="0">
                <a:solidFill>
                  <a:srgbClr val="FF0000"/>
                </a:solidFill>
                <a:sym typeface="Symbol" pitchFamily="18" charset="2"/>
              </a:rPr>
              <a:t>s’</a:t>
            </a:r>
            <a:r>
              <a:rPr lang="en-US" altLang="en-US" sz="3200" i="1" baseline="-25000" dirty="0" err="1" smtClean="0">
                <a:solidFill>
                  <a:srgbClr val="FF0000"/>
                </a:solidFill>
                <a:sym typeface="Symbol" pitchFamily="18" charset="2"/>
              </a:rPr>
              <a:t>i</a:t>
            </a:r>
            <a:r>
              <a:rPr lang="en-US" altLang="en-US" sz="3200" baseline="-25000" dirty="0" smtClean="0">
                <a:solidFill>
                  <a:srgbClr val="FF0000"/>
                </a:solidFill>
                <a:sym typeface="Symbol" pitchFamily="18" charset="2"/>
              </a:rPr>
              <a:t> </a:t>
            </a:r>
            <a:r>
              <a:rPr lang="en-US" altLang="en-US" sz="3200" dirty="0" smtClean="0">
                <a:solidFill>
                  <a:srgbClr val="FF0000"/>
                </a:solidFill>
                <a:sym typeface="Symbol" pitchFamily="18" charset="2"/>
              </a:rPr>
              <a:t></a:t>
            </a:r>
            <a:r>
              <a:rPr lang="en-US" altLang="en-US" sz="3200" baseline="-25000" dirty="0" smtClean="0">
                <a:solidFill>
                  <a:srgbClr val="FF0000"/>
                </a:solidFill>
                <a:sym typeface="Symbol" pitchFamily="18" charset="2"/>
              </a:rPr>
              <a:t> </a:t>
            </a:r>
            <a:r>
              <a:rPr lang="en-US" altLang="en-US" sz="3200" i="1" dirty="0" smtClean="0">
                <a:solidFill>
                  <a:srgbClr val="FF0000"/>
                </a:solidFill>
                <a:sym typeface="Symbol" pitchFamily="18" charset="2"/>
              </a:rPr>
              <a:t>S</a:t>
            </a:r>
            <a:r>
              <a:rPr lang="en-US" altLang="en-US" sz="3200" i="1" baseline="-25000" dirty="0" smtClean="0">
                <a:solidFill>
                  <a:srgbClr val="FF0000"/>
                </a:solidFill>
                <a:sym typeface="Symbol" pitchFamily="18" charset="2"/>
              </a:rPr>
              <a:t>i</a:t>
            </a:r>
          </a:p>
          <a:p>
            <a:r>
              <a:rPr lang="en-US" altLang="en-US" dirty="0" smtClean="0">
                <a:sym typeface="Symbol" pitchFamily="18" charset="2"/>
              </a:rPr>
              <a:t>A Nash equilibrium </a:t>
            </a:r>
          </a:p>
          <a:p>
            <a:pPr lvl="1"/>
            <a:r>
              <a:rPr lang="en-US" altLang="en-US" dirty="0" smtClean="0">
                <a:sym typeface="Symbol" pitchFamily="18" charset="2"/>
              </a:rPr>
              <a:t>Is a strategy profile (</a:t>
            </a:r>
            <a:r>
              <a:rPr lang="en-US" altLang="en-US" i="1" dirty="0" smtClean="0">
                <a:sym typeface="Symbol" pitchFamily="18" charset="2"/>
              </a:rPr>
              <a:t>s</a:t>
            </a:r>
            <a:r>
              <a:rPr lang="en-US" altLang="en-US" dirty="0" smtClean="0">
                <a:sym typeface="Symbol" pitchFamily="18" charset="2"/>
              </a:rPr>
              <a:t>*</a:t>
            </a:r>
            <a:r>
              <a:rPr lang="en-US" altLang="en-US" baseline="-25000" dirty="0" smtClean="0">
                <a:sym typeface="Symbol" pitchFamily="18" charset="2"/>
              </a:rPr>
              <a:t>1</a:t>
            </a:r>
            <a:r>
              <a:rPr lang="en-US" altLang="en-US" dirty="0" smtClean="0">
                <a:sym typeface="Symbol" pitchFamily="18" charset="2"/>
              </a:rPr>
              <a:t>,</a:t>
            </a:r>
            <a:r>
              <a:rPr lang="en-US" altLang="en-US" i="1" dirty="0" smtClean="0">
                <a:sym typeface="Symbol" pitchFamily="18" charset="2"/>
              </a:rPr>
              <a:t>s</a:t>
            </a:r>
            <a:r>
              <a:rPr lang="en-US" altLang="en-US" dirty="0" smtClean="0">
                <a:sym typeface="Symbol" pitchFamily="18" charset="2"/>
              </a:rPr>
              <a:t>*</a:t>
            </a:r>
            <a:r>
              <a:rPr lang="en-US" altLang="en-US" baseline="-25000" dirty="0" smtClean="0">
                <a:sym typeface="Symbol" pitchFamily="18" charset="2"/>
              </a:rPr>
              <a:t>2</a:t>
            </a:r>
            <a:r>
              <a:rPr lang="en-US" altLang="en-US" dirty="0" smtClean="0">
                <a:sym typeface="Symbol" pitchFamily="18" charset="2"/>
              </a:rPr>
              <a:t>,…</a:t>
            </a:r>
            <a:r>
              <a:rPr lang="en-US" altLang="en-US" i="1" dirty="0" smtClean="0">
                <a:sym typeface="Symbol" pitchFamily="18" charset="2"/>
              </a:rPr>
              <a:t>s</a:t>
            </a:r>
            <a:r>
              <a:rPr lang="en-US" altLang="en-US" dirty="0" smtClean="0">
                <a:sym typeface="Symbol" pitchFamily="18" charset="2"/>
              </a:rPr>
              <a:t>*</a:t>
            </a:r>
            <a:r>
              <a:rPr lang="en-US" altLang="en-US" i="1" baseline="-25000" dirty="0" smtClean="0">
                <a:sym typeface="Symbol" pitchFamily="18" charset="2"/>
              </a:rPr>
              <a:t>n</a:t>
            </a:r>
            <a:r>
              <a:rPr lang="en-US" altLang="en-US" dirty="0" smtClean="0">
                <a:sym typeface="Symbol" pitchFamily="18" charset="2"/>
              </a:rPr>
              <a:t>) </a:t>
            </a:r>
          </a:p>
          <a:p>
            <a:pPr lvl="1"/>
            <a:r>
              <a:rPr lang="en-US" altLang="en-US" dirty="0" smtClean="0">
                <a:sym typeface="Symbol" pitchFamily="18" charset="2"/>
              </a:rPr>
              <a:t>Such that </a:t>
            </a:r>
            <a:r>
              <a:rPr lang="en-US" altLang="en-US" i="1" dirty="0" smtClean="0">
                <a:sym typeface="Symbol" pitchFamily="18" charset="2"/>
              </a:rPr>
              <a:t>s</a:t>
            </a:r>
            <a:r>
              <a:rPr lang="en-US" altLang="en-US" dirty="0" smtClean="0">
                <a:sym typeface="Symbol" pitchFamily="18" charset="2"/>
              </a:rPr>
              <a:t>*</a:t>
            </a:r>
            <a:r>
              <a:rPr lang="en-US" altLang="en-US" i="1" baseline="-25000" dirty="0" err="1" smtClean="0">
                <a:sym typeface="Symbol" pitchFamily="18" charset="2"/>
              </a:rPr>
              <a:t>i</a:t>
            </a:r>
            <a:r>
              <a:rPr lang="en-US" altLang="en-US" dirty="0" smtClean="0">
                <a:sym typeface="Symbol" pitchFamily="18" charset="2"/>
              </a:rPr>
              <a:t> is a best response to other players’ equilibrium strategies, </a:t>
            </a:r>
            <a:r>
              <a:rPr lang="en-US" altLang="en-US" i="1" dirty="0" smtClean="0">
                <a:sym typeface="Symbol" pitchFamily="18" charset="2"/>
              </a:rPr>
              <a:t>s</a:t>
            </a:r>
            <a:r>
              <a:rPr lang="en-US" altLang="en-US" dirty="0" smtClean="0">
                <a:sym typeface="Symbol" pitchFamily="18" charset="2"/>
              </a:rPr>
              <a:t>*</a:t>
            </a:r>
            <a:r>
              <a:rPr lang="en-US" altLang="en-US" i="1" baseline="-25000" dirty="0" smtClean="0">
                <a:sym typeface="Symbol" pitchFamily="18" charset="2"/>
              </a:rPr>
              <a:t>-</a:t>
            </a:r>
            <a:r>
              <a:rPr lang="en-US" altLang="en-US" i="1" baseline="-25000" dirty="0" err="1" smtClean="0">
                <a:sym typeface="Symbol" pitchFamily="18" charset="2"/>
              </a:rPr>
              <a:t>i</a:t>
            </a:r>
            <a:r>
              <a:rPr lang="en-US" altLang="en-US" dirty="0" smtClean="0">
                <a:sym typeface="Symbol" pitchFamily="18" charset="2"/>
              </a:rPr>
              <a:t> or</a:t>
            </a:r>
          </a:p>
          <a:p>
            <a:pPr algn="ctr">
              <a:buFontTx/>
              <a:buNone/>
            </a:pPr>
            <a:r>
              <a:rPr lang="en-US" altLang="en-US" sz="3200" i="1" dirty="0" smtClean="0">
                <a:solidFill>
                  <a:srgbClr val="FF0000"/>
                </a:solidFill>
                <a:sym typeface="Symbol" pitchFamily="18" charset="2"/>
              </a:rPr>
              <a:t>s</a:t>
            </a:r>
            <a:r>
              <a:rPr lang="en-US" altLang="en-US" sz="3200" dirty="0" smtClean="0">
                <a:solidFill>
                  <a:srgbClr val="FF0000"/>
                </a:solidFill>
                <a:sym typeface="Symbol" pitchFamily="18" charset="2"/>
              </a:rPr>
              <a:t>*</a:t>
            </a:r>
            <a:r>
              <a:rPr lang="en-US" altLang="en-US" sz="3200" i="1" baseline="-25000" dirty="0" err="1" smtClean="0">
                <a:solidFill>
                  <a:srgbClr val="FF0000"/>
                </a:solidFill>
                <a:sym typeface="Symbol" pitchFamily="18" charset="2"/>
              </a:rPr>
              <a:t>i</a:t>
            </a:r>
            <a:r>
              <a:rPr lang="en-US" altLang="en-US" sz="3200" i="1" dirty="0" smtClean="0">
                <a:solidFill>
                  <a:srgbClr val="FF0000"/>
                </a:solidFill>
                <a:sym typeface="Symbol" pitchFamily="18" charset="2"/>
              </a:rPr>
              <a:t> </a:t>
            </a:r>
            <a:r>
              <a:rPr lang="en-US" altLang="en-US" sz="3200" dirty="0" smtClean="0">
                <a:solidFill>
                  <a:srgbClr val="FF0000"/>
                </a:solidFill>
                <a:sym typeface="Symbol" pitchFamily="18" charset="2"/>
              </a:rPr>
              <a:t></a:t>
            </a:r>
            <a:r>
              <a:rPr lang="en-US" altLang="en-US" sz="3200" baseline="-25000" dirty="0" smtClean="0">
                <a:solidFill>
                  <a:srgbClr val="FF0000"/>
                </a:solidFill>
                <a:sym typeface="Symbol" pitchFamily="18" charset="2"/>
              </a:rPr>
              <a:t> </a:t>
            </a:r>
            <a:r>
              <a:rPr lang="en-US" altLang="en-US" sz="3200" i="1" dirty="0" err="1" smtClean="0">
                <a:solidFill>
                  <a:srgbClr val="FF0000"/>
                </a:solidFill>
                <a:sym typeface="Symbol" pitchFamily="18" charset="2"/>
              </a:rPr>
              <a:t>BR</a:t>
            </a:r>
            <a:r>
              <a:rPr lang="en-US" altLang="en-US" sz="3200" i="1" baseline="-25000" dirty="0" err="1" smtClean="0">
                <a:solidFill>
                  <a:srgbClr val="FF0000"/>
                </a:solidFill>
                <a:sym typeface="Symbol" pitchFamily="18" charset="2"/>
              </a:rPr>
              <a:t>i</a:t>
            </a:r>
            <a:r>
              <a:rPr lang="en-US" altLang="en-US" sz="3200" dirty="0" smtClean="0">
                <a:solidFill>
                  <a:srgbClr val="FF0000"/>
                </a:solidFill>
                <a:sym typeface="Symbol" pitchFamily="18" charset="2"/>
              </a:rPr>
              <a:t>(</a:t>
            </a:r>
            <a:r>
              <a:rPr lang="en-US" altLang="en-US" sz="3200" i="1" dirty="0" smtClean="0">
                <a:solidFill>
                  <a:srgbClr val="FF0000"/>
                </a:solidFill>
                <a:sym typeface="Symbol" pitchFamily="18" charset="2"/>
              </a:rPr>
              <a:t>s</a:t>
            </a:r>
            <a:r>
              <a:rPr lang="en-US" altLang="en-US" sz="3200" dirty="0" smtClean="0">
                <a:solidFill>
                  <a:srgbClr val="FF0000"/>
                </a:solidFill>
                <a:sym typeface="Symbol" pitchFamily="18" charset="2"/>
              </a:rPr>
              <a:t>*</a:t>
            </a:r>
            <a:r>
              <a:rPr lang="en-US" altLang="en-US" sz="3200" i="1" baseline="-25000" dirty="0" smtClean="0">
                <a:solidFill>
                  <a:srgbClr val="FF0000"/>
                </a:solidFill>
                <a:sym typeface="Symbol" pitchFamily="18" charset="2"/>
              </a:rPr>
              <a:t>-</a:t>
            </a:r>
            <a:r>
              <a:rPr lang="en-US" altLang="en-US" sz="3200" i="1" baseline="-25000" dirty="0" err="1" smtClean="0">
                <a:solidFill>
                  <a:srgbClr val="FF0000"/>
                </a:solidFill>
                <a:sym typeface="Symbol" pitchFamily="18" charset="2"/>
              </a:rPr>
              <a:t>i</a:t>
            </a:r>
            <a:r>
              <a:rPr lang="en-US" altLang="en-US" sz="3200" dirty="0" smtClean="0">
                <a:solidFill>
                  <a:srgbClr val="FF0000"/>
                </a:solidFill>
                <a:sym typeface="Symbol" pitchFamily="18" charset="2"/>
              </a:rPr>
              <a: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38ACB616-A7A7-4B04-98E0-57B1272796A8}" type="slidenum">
              <a:rPr lang="en-US" smtClean="0"/>
              <a:pPr>
                <a:defRPr/>
              </a:pPr>
              <a:t>11</a:t>
            </a:fld>
            <a:endParaRPr lang="en-US"/>
          </a:p>
        </p:txBody>
      </p:sp>
    </p:spTree>
    <p:extLst>
      <p:ext uri="{BB962C8B-B14F-4D97-AF65-F5344CB8AC3E}">
        <p14:creationId xmlns:p14="http://schemas.microsoft.com/office/powerpoint/2010/main" val="165953146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ltLang="en-US" smtClean="0"/>
              <a:t>Nash Equilibrium</a:t>
            </a:r>
          </a:p>
        </p:txBody>
      </p:sp>
      <p:sp>
        <p:nvSpPr>
          <p:cNvPr id="30723" name="Rectangle 3"/>
          <p:cNvSpPr>
            <a:spLocks noGrp="1" noChangeArrowheads="1"/>
          </p:cNvSpPr>
          <p:nvPr>
            <p:ph idx="1"/>
          </p:nvPr>
        </p:nvSpPr>
        <p:spPr/>
        <p:txBody>
          <a:bodyPr/>
          <a:lstStyle/>
          <a:p>
            <a:r>
              <a:rPr lang="en-US" altLang="en-US" dirty="0" smtClean="0">
                <a:sym typeface="Symbol" pitchFamily="18" charset="2"/>
              </a:rPr>
              <a:t>In a 2-player game, (</a:t>
            </a:r>
            <a:r>
              <a:rPr lang="en-US" altLang="en-US" i="1" dirty="0" smtClean="0">
                <a:sym typeface="Symbol" pitchFamily="18" charset="2"/>
              </a:rPr>
              <a:t>s</a:t>
            </a:r>
            <a:r>
              <a:rPr lang="en-US" altLang="en-US" dirty="0" smtClean="0">
                <a:sym typeface="Symbol" pitchFamily="18" charset="2"/>
              </a:rPr>
              <a:t>*</a:t>
            </a:r>
            <a:r>
              <a:rPr lang="en-US" altLang="en-US" baseline="-25000" dirty="0" smtClean="0">
                <a:sym typeface="Symbol" pitchFamily="18" charset="2"/>
              </a:rPr>
              <a:t>1</a:t>
            </a:r>
            <a:r>
              <a:rPr lang="en-US" altLang="en-US" dirty="0" smtClean="0">
                <a:sym typeface="Symbol" pitchFamily="18" charset="2"/>
              </a:rPr>
              <a:t>,</a:t>
            </a:r>
            <a:r>
              <a:rPr lang="en-US" altLang="en-US" i="1" dirty="0" smtClean="0">
                <a:sym typeface="Symbol" pitchFamily="18" charset="2"/>
              </a:rPr>
              <a:t>s</a:t>
            </a:r>
            <a:r>
              <a:rPr lang="en-US" altLang="en-US" dirty="0" smtClean="0">
                <a:sym typeface="Symbol" pitchFamily="18" charset="2"/>
              </a:rPr>
              <a:t>*</a:t>
            </a:r>
            <a:r>
              <a:rPr lang="en-US" altLang="en-US" baseline="-25000" dirty="0" smtClean="0">
                <a:sym typeface="Symbol" pitchFamily="18" charset="2"/>
              </a:rPr>
              <a:t>2</a:t>
            </a:r>
            <a:r>
              <a:rPr lang="en-US" altLang="en-US" dirty="0" smtClean="0">
                <a:sym typeface="Symbol" pitchFamily="18" charset="2"/>
              </a:rPr>
              <a:t>) is a Nash equilibrium if</a:t>
            </a:r>
          </a:p>
          <a:p>
            <a:pPr algn="ctr">
              <a:lnSpc>
                <a:spcPct val="120000"/>
              </a:lnSpc>
              <a:buFontTx/>
              <a:buNone/>
            </a:pPr>
            <a:r>
              <a:rPr lang="en-US" altLang="en-US" sz="3200" i="1" dirty="0" smtClean="0">
                <a:solidFill>
                  <a:srgbClr val="FF0000"/>
                </a:solidFill>
                <a:sym typeface="Symbol" pitchFamily="18" charset="2"/>
              </a:rPr>
              <a:t>U</a:t>
            </a:r>
            <a:r>
              <a:rPr lang="en-US" altLang="en-US" sz="3200" baseline="-25000" dirty="0" smtClean="0">
                <a:solidFill>
                  <a:srgbClr val="FF0000"/>
                </a:solidFill>
                <a:sym typeface="Symbol" pitchFamily="18" charset="2"/>
              </a:rPr>
              <a:t>1</a:t>
            </a:r>
            <a:r>
              <a:rPr lang="en-US" altLang="en-US" sz="3200" dirty="0" smtClean="0">
                <a:solidFill>
                  <a:srgbClr val="FF0000"/>
                </a:solidFill>
                <a:sym typeface="Symbol" pitchFamily="18" charset="2"/>
              </a:rPr>
              <a:t>(</a:t>
            </a:r>
            <a:r>
              <a:rPr lang="en-US" altLang="en-US" sz="3200" i="1" dirty="0" smtClean="0">
                <a:solidFill>
                  <a:srgbClr val="FF0000"/>
                </a:solidFill>
                <a:sym typeface="Symbol" pitchFamily="18" charset="2"/>
              </a:rPr>
              <a:t>s</a:t>
            </a:r>
            <a:r>
              <a:rPr lang="en-US" altLang="en-US" sz="3200" dirty="0" smtClean="0">
                <a:solidFill>
                  <a:srgbClr val="FF0000"/>
                </a:solidFill>
                <a:sym typeface="Symbol" pitchFamily="18" charset="2"/>
              </a:rPr>
              <a:t>*</a:t>
            </a:r>
            <a:r>
              <a:rPr lang="en-US" altLang="en-US" sz="3200" baseline="-25000" dirty="0" smtClean="0">
                <a:solidFill>
                  <a:srgbClr val="FF0000"/>
                </a:solidFill>
                <a:sym typeface="Symbol" pitchFamily="18" charset="2"/>
              </a:rPr>
              <a:t>1</a:t>
            </a:r>
            <a:r>
              <a:rPr lang="en-US" altLang="en-US" sz="3200" dirty="0" smtClean="0">
                <a:solidFill>
                  <a:srgbClr val="FF0000"/>
                </a:solidFill>
                <a:sym typeface="Symbol" pitchFamily="18" charset="2"/>
              </a:rPr>
              <a:t>,</a:t>
            </a:r>
            <a:r>
              <a:rPr lang="en-US" altLang="en-US" sz="3200" i="1" dirty="0" smtClean="0">
                <a:solidFill>
                  <a:srgbClr val="FF0000"/>
                </a:solidFill>
                <a:sym typeface="Symbol" pitchFamily="18" charset="2"/>
              </a:rPr>
              <a:t>s</a:t>
            </a:r>
            <a:r>
              <a:rPr lang="en-US" altLang="en-US" sz="3200" dirty="0" smtClean="0">
                <a:solidFill>
                  <a:srgbClr val="FF0000"/>
                </a:solidFill>
                <a:sym typeface="Symbol" pitchFamily="18" charset="2"/>
              </a:rPr>
              <a:t>*</a:t>
            </a:r>
            <a:r>
              <a:rPr lang="en-US" altLang="en-US" sz="3200" baseline="-25000" dirty="0" smtClean="0">
                <a:solidFill>
                  <a:srgbClr val="FF0000"/>
                </a:solidFill>
                <a:sym typeface="Symbol" pitchFamily="18" charset="2"/>
              </a:rPr>
              <a:t>2</a:t>
            </a:r>
            <a:r>
              <a:rPr lang="en-US" altLang="en-US" sz="3200" dirty="0" smtClean="0">
                <a:solidFill>
                  <a:srgbClr val="FF0000"/>
                </a:solidFill>
                <a:sym typeface="Symbol" pitchFamily="18" charset="2"/>
              </a:rPr>
              <a:t>)  </a:t>
            </a:r>
            <a:r>
              <a:rPr lang="en-US" altLang="en-US" sz="3200" i="1" dirty="0" smtClean="0">
                <a:solidFill>
                  <a:srgbClr val="FF0000"/>
                </a:solidFill>
                <a:sym typeface="Symbol" pitchFamily="18" charset="2"/>
              </a:rPr>
              <a:t>U</a:t>
            </a:r>
            <a:r>
              <a:rPr lang="en-US" altLang="en-US" sz="3200" baseline="-25000" dirty="0" smtClean="0">
                <a:solidFill>
                  <a:srgbClr val="FF0000"/>
                </a:solidFill>
                <a:sym typeface="Symbol" pitchFamily="18" charset="2"/>
              </a:rPr>
              <a:t>1</a:t>
            </a:r>
            <a:r>
              <a:rPr lang="en-US" altLang="en-US" sz="3200" dirty="0" smtClean="0">
                <a:solidFill>
                  <a:srgbClr val="FF0000"/>
                </a:solidFill>
                <a:sym typeface="Symbol" pitchFamily="18" charset="2"/>
              </a:rPr>
              <a:t>(</a:t>
            </a:r>
            <a:r>
              <a:rPr lang="en-US" altLang="en-US" sz="3200" i="1" dirty="0" smtClean="0">
                <a:solidFill>
                  <a:srgbClr val="FF0000"/>
                </a:solidFill>
                <a:sym typeface="Symbol" pitchFamily="18" charset="2"/>
              </a:rPr>
              <a:t>s</a:t>
            </a:r>
            <a:r>
              <a:rPr lang="en-US" altLang="en-US" sz="3200" baseline="-25000" dirty="0" smtClean="0">
                <a:solidFill>
                  <a:srgbClr val="FF0000"/>
                </a:solidFill>
                <a:sym typeface="Symbol" pitchFamily="18" charset="2"/>
              </a:rPr>
              <a:t>1</a:t>
            </a:r>
            <a:r>
              <a:rPr lang="en-US" altLang="en-US" sz="3200" dirty="0" smtClean="0">
                <a:solidFill>
                  <a:srgbClr val="FF0000"/>
                </a:solidFill>
                <a:sym typeface="Symbol" pitchFamily="18" charset="2"/>
              </a:rPr>
              <a:t>,</a:t>
            </a:r>
            <a:r>
              <a:rPr lang="en-US" altLang="en-US" sz="3200" i="1" dirty="0" smtClean="0">
                <a:solidFill>
                  <a:srgbClr val="FF0000"/>
                </a:solidFill>
                <a:sym typeface="Symbol" pitchFamily="18" charset="2"/>
              </a:rPr>
              <a:t>s</a:t>
            </a:r>
            <a:r>
              <a:rPr lang="en-US" altLang="en-US" sz="3200" dirty="0" smtClean="0">
                <a:solidFill>
                  <a:srgbClr val="FF0000"/>
                </a:solidFill>
                <a:sym typeface="Symbol" pitchFamily="18" charset="2"/>
              </a:rPr>
              <a:t>*</a:t>
            </a:r>
            <a:r>
              <a:rPr lang="en-US" altLang="en-US" sz="3200" baseline="-25000" dirty="0" smtClean="0">
                <a:solidFill>
                  <a:srgbClr val="FF0000"/>
                </a:solidFill>
                <a:sym typeface="Symbol" pitchFamily="18" charset="2"/>
              </a:rPr>
              <a:t>2</a:t>
            </a:r>
            <a:r>
              <a:rPr lang="en-US" altLang="en-US" sz="3200" dirty="0" smtClean="0">
                <a:solidFill>
                  <a:srgbClr val="FF0000"/>
                </a:solidFill>
                <a:sym typeface="Symbol" pitchFamily="18" charset="2"/>
              </a:rPr>
              <a:t>) for all </a:t>
            </a:r>
            <a:r>
              <a:rPr lang="en-US" altLang="en-US" sz="3200" i="1" dirty="0" smtClean="0">
                <a:solidFill>
                  <a:srgbClr val="FF0000"/>
                </a:solidFill>
                <a:sym typeface="Symbol" pitchFamily="18" charset="2"/>
              </a:rPr>
              <a:t>s</a:t>
            </a:r>
            <a:r>
              <a:rPr lang="en-US" altLang="en-US" sz="3200" baseline="-25000" dirty="0" smtClean="0">
                <a:solidFill>
                  <a:srgbClr val="FF0000"/>
                </a:solidFill>
                <a:sym typeface="Symbol" pitchFamily="18" charset="2"/>
              </a:rPr>
              <a:t>1 </a:t>
            </a:r>
            <a:r>
              <a:rPr lang="en-US" altLang="en-US" sz="3200" dirty="0" smtClean="0">
                <a:solidFill>
                  <a:srgbClr val="FF0000"/>
                </a:solidFill>
                <a:sym typeface="Symbol" pitchFamily="18" charset="2"/>
              </a:rPr>
              <a:t></a:t>
            </a:r>
            <a:r>
              <a:rPr lang="en-US" altLang="en-US" sz="3200" baseline="-25000" dirty="0" smtClean="0">
                <a:solidFill>
                  <a:srgbClr val="FF0000"/>
                </a:solidFill>
                <a:sym typeface="Symbol" pitchFamily="18" charset="2"/>
              </a:rPr>
              <a:t> </a:t>
            </a:r>
            <a:r>
              <a:rPr lang="en-US" altLang="en-US" sz="3200" i="1" dirty="0" smtClean="0">
                <a:solidFill>
                  <a:srgbClr val="FF0000"/>
                </a:solidFill>
                <a:sym typeface="Symbol" pitchFamily="18" charset="2"/>
              </a:rPr>
              <a:t>S</a:t>
            </a:r>
            <a:r>
              <a:rPr lang="en-US" altLang="en-US" sz="3200" baseline="-25000" dirty="0" smtClean="0">
                <a:solidFill>
                  <a:srgbClr val="FF0000"/>
                </a:solidFill>
                <a:sym typeface="Symbol" pitchFamily="18" charset="2"/>
              </a:rPr>
              <a:t>1</a:t>
            </a:r>
            <a:endParaRPr lang="en-US" altLang="en-US" sz="3200" dirty="0" smtClean="0">
              <a:solidFill>
                <a:srgbClr val="FF0000"/>
              </a:solidFill>
              <a:sym typeface="Symbol" pitchFamily="18" charset="2"/>
            </a:endParaRPr>
          </a:p>
          <a:p>
            <a:pPr algn="ctr">
              <a:lnSpc>
                <a:spcPct val="120000"/>
              </a:lnSpc>
              <a:buFontTx/>
              <a:buNone/>
            </a:pPr>
            <a:r>
              <a:rPr lang="en-US" altLang="en-US" sz="3200" i="1" dirty="0" smtClean="0">
                <a:solidFill>
                  <a:srgbClr val="FF0000"/>
                </a:solidFill>
                <a:sym typeface="Symbol" pitchFamily="18" charset="2"/>
              </a:rPr>
              <a:t>U</a:t>
            </a:r>
            <a:r>
              <a:rPr lang="en-US" altLang="en-US" sz="3200" baseline="-25000" dirty="0" smtClean="0">
                <a:solidFill>
                  <a:srgbClr val="FF0000"/>
                </a:solidFill>
                <a:sym typeface="Symbol" pitchFamily="18" charset="2"/>
              </a:rPr>
              <a:t>2</a:t>
            </a:r>
            <a:r>
              <a:rPr lang="en-US" altLang="en-US" sz="3200" dirty="0" smtClean="0">
                <a:solidFill>
                  <a:srgbClr val="FF0000"/>
                </a:solidFill>
                <a:sym typeface="Symbol" pitchFamily="18" charset="2"/>
              </a:rPr>
              <a:t>(</a:t>
            </a:r>
            <a:r>
              <a:rPr lang="en-US" altLang="en-US" sz="3200" i="1" dirty="0" smtClean="0">
                <a:solidFill>
                  <a:srgbClr val="FF0000"/>
                </a:solidFill>
                <a:sym typeface="Symbol" pitchFamily="18" charset="2"/>
              </a:rPr>
              <a:t>s</a:t>
            </a:r>
            <a:r>
              <a:rPr lang="en-US" altLang="en-US" sz="3200" dirty="0" smtClean="0">
                <a:solidFill>
                  <a:srgbClr val="FF0000"/>
                </a:solidFill>
                <a:sym typeface="Symbol" pitchFamily="18" charset="2"/>
              </a:rPr>
              <a:t>*</a:t>
            </a:r>
            <a:r>
              <a:rPr lang="en-US" altLang="en-US" sz="3200" baseline="-25000" dirty="0" smtClean="0">
                <a:solidFill>
                  <a:srgbClr val="FF0000"/>
                </a:solidFill>
                <a:sym typeface="Symbol" pitchFamily="18" charset="2"/>
              </a:rPr>
              <a:t>2</a:t>
            </a:r>
            <a:r>
              <a:rPr lang="en-US" altLang="en-US" sz="3200" dirty="0" smtClean="0">
                <a:solidFill>
                  <a:srgbClr val="FF0000"/>
                </a:solidFill>
                <a:sym typeface="Symbol" pitchFamily="18" charset="2"/>
              </a:rPr>
              <a:t>,</a:t>
            </a:r>
            <a:r>
              <a:rPr lang="en-US" altLang="en-US" sz="3200" i="1" dirty="0" smtClean="0">
                <a:solidFill>
                  <a:srgbClr val="FF0000"/>
                </a:solidFill>
                <a:sym typeface="Symbol" pitchFamily="18" charset="2"/>
              </a:rPr>
              <a:t>s</a:t>
            </a:r>
            <a:r>
              <a:rPr lang="en-US" altLang="en-US" sz="3200" dirty="0" smtClean="0">
                <a:solidFill>
                  <a:srgbClr val="FF0000"/>
                </a:solidFill>
                <a:sym typeface="Symbol" pitchFamily="18" charset="2"/>
              </a:rPr>
              <a:t>*</a:t>
            </a:r>
            <a:r>
              <a:rPr lang="en-US" altLang="en-US" sz="3200" baseline="-25000" dirty="0" smtClean="0">
                <a:solidFill>
                  <a:srgbClr val="FF0000"/>
                </a:solidFill>
                <a:sym typeface="Symbol" pitchFamily="18" charset="2"/>
              </a:rPr>
              <a:t>1</a:t>
            </a:r>
            <a:r>
              <a:rPr lang="en-US" altLang="en-US" sz="3200" dirty="0" smtClean="0">
                <a:solidFill>
                  <a:srgbClr val="FF0000"/>
                </a:solidFill>
                <a:sym typeface="Symbol" pitchFamily="18" charset="2"/>
              </a:rPr>
              <a:t>)  </a:t>
            </a:r>
            <a:r>
              <a:rPr lang="en-US" altLang="en-US" sz="3200" i="1" dirty="0" smtClean="0">
                <a:solidFill>
                  <a:srgbClr val="FF0000"/>
                </a:solidFill>
                <a:sym typeface="Symbol" pitchFamily="18" charset="2"/>
              </a:rPr>
              <a:t>U</a:t>
            </a:r>
            <a:r>
              <a:rPr lang="en-US" altLang="en-US" sz="3200" baseline="-25000" dirty="0" smtClean="0">
                <a:solidFill>
                  <a:srgbClr val="FF0000"/>
                </a:solidFill>
                <a:sym typeface="Symbol" pitchFamily="18" charset="2"/>
              </a:rPr>
              <a:t>2</a:t>
            </a:r>
            <a:r>
              <a:rPr lang="en-US" altLang="en-US" sz="3200" dirty="0" smtClean="0">
                <a:solidFill>
                  <a:srgbClr val="FF0000"/>
                </a:solidFill>
                <a:sym typeface="Symbol" pitchFamily="18" charset="2"/>
              </a:rPr>
              <a:t>(s</a:t>
            </a:r>
            <a:r>
              <a:rPr lang="en-US" altLang="en-US" sz="3200" baseline="-25000" dirty="0" smtClean="0">
                <a:solidFill>
                  <a:srgbClr val="FF0000"/>
                </a:solidFill>
                <a:sym typeface="Symbol" pitchFamily="18" charset="2"/>
              </a:rPr>
              <a:t>2</a:t>
            </a:r>
            <a:r>
              <a:rPr lang="en-US" altLang="en-US" sz="3200" dirty="0" smtClean="0">
                <a:solidFill>
                  <a:srgbClr val="FF0000"/>
                </a:solidFill>
                <a:sym typeface="Symbol" pitchFamily="18" charset="2"/>
              </a:rPr>
              <a:t>,s*</a:t>
            </a:r>
            <a:r>
              <a:rPr lang="en-US" altLang="en-US" sz="3200" baseline="-25000" dirty="0" smtClean="0">
                <a:solidFill>
                  <a:srgbClr val="FF0000"/>
                </a:solidFill>
                <a:sym typeface="Symbol" pitchFamily="18" charset="2"/>
              </a:rPr>
              <a:t>1</a:t>
            </a:r>
            <a:r>
              <a:rPr lang="en-US" altLang="en-US" sz="3200" dirty="0" smtClean="0">
                <a:solidFill>
                  <a:srgbClr val="FF0000"/>
                </a:solidFill>
                <a:sym typeface="Symbol" pitchFamily="18" charset="2"/>
              </a:rPr>
              <a:t>) for all </a:t>
            </a:r>
            <a:r>
              <a:rPr lang="en-US" altLang="en-US" sz="3200" i="1" dirty="0" smtClean="0">
                <a:solidFill>
                  <a:srgbClr val="FF0000"/>
                </a:solidFill>
                <a:sym typeface="Symbol" pitchFamily="18" charset="2"/>
              </a:rPr>
              <a:t>s</a:t>
            </a:r>
            <a:r>
              <a:rPr lang="en-US" altLang="en-US" sz="3200" baseline="-25000" dirty="0" smtClean="0">
                <a:solidFill>
                  <a:srgbClr val="FF0000"/>
                </a:solidFill>
                <a:sym typeface="Symbol" pitchFamily="18" charset="2"/>
              </a:rPr>
              <a:t>2 </a:t>
            </a:r>
            <a:r>
              <a:rPr lang="en-US" altLang="en-US" sz="3200" dirty="0" smtClean="0">
                <a:solidFill>
                  <a:srgbClr val="FF0000"/>
                </a:solidFill>
                <a:sym typeface="Symbol" pitchFamily="18" charset="2"/>
              </a:rPr>
              <a:t></a:t>
            </a:r>
            <a:r>
              <a:rPr lang="en-US" altLang="en-US" sz="3200" baseline="-25000" dirty="0" smtClean="0">
                <a:solidFill>
                  <a:srgbClr val="FF0000"/>
                </a:solidFill>
                <a:sym typeface="Symbol" pitchFamily="18" charset="2"/>
              </a:rPr>
              <a:t> </a:t>
            </a:r>
            <a:r>
              <a:rPr lang="en-US" altLang="en-US" sz="3200" i="1" dirty="0" smtClean="0">
                <a:solidFill>
                  <a:srgbClr val="FF0000"/>
                </a:solidFill>
                <a:sym typeface="Symbol" pitchFamily="18" charset="2"/>
              </a:rPr>
              <a:t>S</a:t>
            </a:r>
            <a:r>
              <a:rPr lang="en-US" altLang="en-US" sz="3200" baseline="-25000" dirty="0" smtClean="0">
                <a:solidFill>
                  <a:srgbClr val="FF0000"/>
                </a:solidFill>
                <a:sym typeface="Symbol" pitchFamily="18" charset="2"/>
              </a:rPr>
              <a:t>2</a:t>
            </a:r>
          </a:p>
          <a:p>
            <a:r>
              <a:rPr lang="en-US" altLang="en-US" dirty="0" smtClean="0">
                <a:sym typeface="Symbol" pitchFamily="18" charset="2"/>
              </a:rPr>
              <a:t>Drawbacks to Nash equilibrium</a:t>
            </a:r>
          </a:p>
          <a:p>
            <a:pPr lvl="2"/>
            <a:r>
              <a:rPr lang="en-US" altLang="en-US" dirty="0" smtClean="0">
                <a:sym typeface="Symbol" pitchFamily="18" charset="2"/>
              </a:rPr>
              <a:t>There may be multiple Nash equilibria</a:t>
            </a:r>
          </a:p>
          <a:p>
            <a:pPr lvl="2"/>
            <a:r>
              <a:rPr lang="en-US" altLang="en-US" dirty="0" smtClean="0">
                <a:sym typeface="Symbol" pitchFamily="18" charset="2"/>
              </a:rPr>
              <a:t>It is unclear how a player can choose a best-response strategy before knowing how rivals will play</a:t>
            </a:r>
            <a:endParaRPr lang="en-US" altLang="en-US" i="1" dirty="0" smtClean="0">
              <a:solidFill>
                <a:srgbClr val="FF0000"/>
              </a:solidFill>
              <a:sym typeface="Symbol" pitchFamily="18" charset="2"/>
            </a:endParaRPr>
          </a:p>
          <a:p>
            <a:pPr algn="ctr">
              <a:buFontTx/>
              <a:buNone/>
            </a:pPr>
            <a:endParaRPr lang="en-US" altLang="en-US" sz="2800" i="1" dirty="0" smtClean="0">
              <a:solidFill>
                <a:srgbClr val="7B332D"/>
              </a:solidFill>
              <a:sym typeface="Symbol" pitchFamily="18" charset="2"/>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DA1F541F-041D-4E82-8FB3-C144BFCFE8DD}" type="slidenum">
              <a:rPr lang="en-US" smtClean="0"/>
              <a:pPr>
                <a:defRPr/>
              </a:pPr>
              <a:t>12</a:t>
            </a:fld>
            <a:endParaRPr lang="en-US"/>
          </a:p>
        </p:txBody>
      </p:sp>
    </p:spTree>
    <p:extLst>
      <p:ext uri="{BB962C8B-B14F-4D97-AF65-F5344CB8AC3E}">
        <p14:creationId xmlns:p14="http://schemas.microsoft.com/office/powerpoint/2010/main" val="421036763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sz="3900" smtClean="0"/>
              <a:t>Nash Equilibrium in Prisoners’ Dilemma</a:t>
            </a:r>
          </a:p>
        </p:txBody>
      </p:sp>
      <p:sp>
        <p:nvSpPr>
          <p:cNvPr id="31747" name="Rectangle 3"/>
          <p:cNvSpPr>
            <a:spLocks noGrp="1" noChangeArrowheads="1"/>
          </p:cNvSpPr>
          <p:nvPr>
            <p:ph idx="1"/>
          </p:nvPr>
        </p:nvSpPr>
        <p:spPr>
          <a:xfrm>
            <a:off x="381000" y="1066800"/>
            <a:ext cx="8534400" cy="5334000"/>
          </a:xfrm>
        </p:spPr>
        <p:txBody>
          <a:bodyPr/>
          <a:lstStyle/>
          <a:p>
            <a:r>
              <a:rPr lang="en-US" altLang="en-US" dirty="0" smtClean="0">
                <a:sym typeface="Symbol" pitchFamily="18" charset="2"/>
              </a:rPr>
              <a:t>Finking is player 1’s best response to player 2’s finking</a:t>
            </a:r>
          </a:p>
          <a:p>
            <a:pPr lvl="1"/>
            <a:r>
              <a:rPr lang="en-US" altLang="en-US" dirty="0" smtClean="0">
                <a:sym typeface="Symbol" pitchFamily="18" charset="2"/>
              </a:rPr>
              <a:t>The same logic applies for player 2</a:t>
            </a:r>
          </a:p>
          <a:p>
            <a:r>
              <a:rPr lang="en-US" altLang="en-US" dirty="0" smtClean="0"/>
              <a:t>If player 2 finks</a:t>
            </a:r>
          </a:p>
          <a:p>
            <a:pPr lvl="1"/>
            <a:r>
              <a:rPr lang="en-US" altLang="en-US" dirty="0" smtClean="0"/>
              <a:t>If player 1 also finks, his payoff is 1</a:t>
            </a:r>
          </a:p>
          <a:p>
            <a:pPr lvl="1"/>
            <a:r>
              <a:rPr lang="en-US" altLang="en-US" dirty="0" smtClean="0"/>
              <a:t>If player 1 is silent, his payoff is 0</a:t>
            </a:r>
          </a:p>
          <a:p>
            <a:pPr lvl="2"/>
            <a:r>
              <a:rPr lang="en-US" altLang="en-US" dirty="0" smtClean="0"/>
              <a:t>Best response: fink</a:t>
            </a:r>
          </a:p>
          <a:p>
            <a:r>
              <a:rPr lang="en-US" altLang="en-US" dirty="0" smtClean="0"/>
              <a:t>Players are symmetric</a:t>
            </a:r>
          </a:p>
          <a:p>
            <a:pPr lvl="1"/>
            <a:r>
              <a:rPr lang="en-US" altLang="en-US" dirty="0" smtClean="0"/>
              <a:t>Best response for player 2: fink</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96EB6283-5926-4140-88F0-7BBF3CBE5525}" type="slidenum">
              <a:rPr lang="en-US" smtClean="0"/>
              <a:pPr>
                <a:defRPr/>
              </a:pPr>
              <a:t>13</a:t>
            </a:fld>
            <a:endParaRPr lang="en-US"/>
          </a:p>
        </p:txBody>
      </p:sp>
    </p:spTree>
    <p:extLst>
      <p:ext uri="{BB962C8B-B14F-4D97-AF65-F5344CB8AC3E}">
        <p14:creationId xmlns:p14="http://schemas.microsoft.com/office/powerpoint/2010/main" val="320373563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p:cNvGrpSpPr/>
          <p:nvPr/>
        </p:nvGrpSpPr>
        <p:grpSpPr>
          <a:xfrm>
            <a:off x="2257425" y="533400"/>
            <a:ext cx="4629150" cy="4086225"/>
            <a:chOff x="2257425" y="533400"/>
            <a:chExt cx="4629150" cy="4086225"/>
          </a:xfrm>
        </p:grpSpPr>
        <p:pic>
          <p:nvPicPr>
            <p:cNvPr id="409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7425" y="533400"/>
              <a:ext cx="4629150" cy="408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 name="Group 11"/>
            <p:cNvGrpSpPr/>
            <p:nvPr/>
          </p:nvGrpSpPr>
          <p:grpSpPr>
            <a:xfrm>
              <a:off x="3534770" y="1672679"/>
              <a:ext cx="3075643" cy="2137321"/>
              <a:chOff x="3534770" y="1676400"/>
              <a:chExt cx="3075643" cy="2137321"/>
            </a:xfrm>
          </p:grpSpPr>
          <p:sp>
            <p:nvSpPr>
              <p:cNvPr id="7" name="TextBox 6"/>
              <p:cNvSpPr txBox="1"/>
              <p:nvPr/>
            </p:nvSpPr>
            <p:spPr>
              <a:xfrm>
                <a:off x="5159375" y="3429000"/>
                <a:ext cx="1451038" cy="384721"/>
              </a:xfrm>
              <a:prstGeom prst="rect">
                <a:avLst/>
              </a:prstGeom>
              <a:solidFill>
                <a:schemeClr val="bg1"/>
              </a:solidFill>
            </p:spPr>
            <p:txBody>
              <a:bodyPr wrap="none" rtlCol="0">
                <a:spAutoFit/>
              </a:bodyPr>
              <a:lstStyle/>
              <a:p>
                <a:r>
                  <a:rPr lang="en-US" sz="1900" i="1" dirty="0" smtClean="0">
                    <a:solidFill>
                      <a:srgbClr val="002D56"/>
                    </a:solidFill>
                  </a:rPr>
                  <a:t>U</a:t>
                </a:r>
                <a:r>
                  <a:rPr lang="en-US" sz="1900" i="1" baseline="-25000" dirty="0" smtClean="0">
                    <a:solidFill>
                      <a:srgbClr val="002D56"/>
                    </a:solidFill>
                  </a:rPr>
                  <a:t>1 </a:t>
                </a:r>
                <a:r>
                  <a:rPr lang="en-US" sz="1900" dirty="0" smtClean="0">
                    <a:solidFill>
                      <a:srgbClr val="002D56"/>
                    </a:solidFill>
                  </a:rPr>
                  <a:t>= 2, </a:t>
                </a:r>
                <a:r>
                  <a:rPr lang="en-US" sz="1900" i="1" dirty="0" smtClean="0">
                    <a:solidFill>
                      <a:srgbClr val="002D56"/>
                    </a:solidFill>
                  </a:rPr>
                  <a:t>U</a:t>
                </a:r>
                <a:r>
                  <a:rPr lang="en-US" sz="1900" i="1" baseline="-25000" dirty="0" smtClean="0">
                    <a:solidFill>
                      <a:srgbClr val="002D56"/>
                    </a:solidFill>
                  </a:rPr>
                  <a:t>2 </a:t>
                </a:r>
                <a:r>
                  <a:rPr lang="en-US" sz="1900" dirty="0" smtClean="0">
                    <a:solidFill>
                      <a:srgbClr val="002D56"/>
                    </a:solidFill>
                  </a:rPr>
                  <a:t>= 2</a:t>
                </a:r>
                <a:endParaRPr lang="en-US" sz="1900" dirty="0">
                  <a:solidFill>
                    <a:srgbClr val="002D56"/>
                  </a:solidFill>
                </a:endParaRPr>
              </a:p>
            </p:txBody>
          </p:sp>
          <p:sp>
            <p:nvSpPr>
              <p:cNvPr id="8" name="TextBox 7"/>
              <p:cNvSpPr txBox="1"/>
              <p:nvPr/>
            </p:nvSpPr>
            <p:spPr>
              <a:xfrm>
                <a:off x="3559175" y="1752600"/>
                <a:ext cx="1451038" cy="384721"/>
              </a:xfrm>
              <a:prstGeom prst="rect">
                <a:avLst/>
              </a:prstGeom>
              <a:solidFill>
                <a:schemeClr val="bg1"/>
              </a:solidFill>
            </p:spPr>
            <p:txBody>
              <a:bodyPr wrap="none" rtlCol="0">
                <a:spAutoFit/>
              </a:bodyPr>
              <a:lstStyle/>
              <a:p>
                <a:r>
                  <a:rPr lang="en-US" sz="1900" i="1" dirty="0" smtClean="0">
                    <a:solidFill>
                      <a:srgbClr val="002D56"/>
                    </a:solidFill>
                  </a:rPr>
                  <a:t>U</a:t>
                </a:r>
                <a:r>
                  <a:rPr lang="en-US" sz="1900" i="1" baseline="-25000" dirty="0" smtClean="0">
                    <a:solidFill>
                      <a:srgbClr val="002D56"/>
                    </a:solidFill>
                  </a:rPr>
                  <a:t>1 </a:t>
                </a:r>
                <a:r>
                  <a:rPr lang="en-US" sz="1900" dirty="0" smtClean="0">
                    <a:solidFill>
                      <a:srgbClr val="002D56"/>
                    </a:solidFill>
                  </a:rPr>
                  <a:t>= 1, </a:t>
                </a:r>
                <a:r>
                  <a:rPr lang="en-US" sz="1900" i="1" dirty="0" smtClean="0">
                    <a:solidFill>
                      <a:srgbClr val="002D56"/>
                    </a:solidFill>
                  </a:rPr>
                  <a:t>U</a:t>
                </a:r>
                <a:r>
                  <a:rPr lang="en-US" sz="1900" i="1" baseline="-25000" dirty="0" smtClean="0">
                    <a:solidFill>
                      <a:srgbClr val="002D56"/>
                    </a:solidFill>
                  </a:rPr>
                  <a:t>2 </a:t>
                </a:r>
                <a:r>
                  <a:rPr lang="en-US" sz="1900" dirty="0" smtClean="0">
                    <a:solidFill>
                      <a:srgbClr val="002D56"/>
                    </a:solidFill>
                  </a:rPr>
                  <a:t>= 1</a:t>
                </a:r>
                <a:endParaRPr lang="en-US" sz="1900" dirty="0">
                  <a:solidFill>
                    <a:srgbClr val="002D56"/>
                  </a:solidFill>
                </a:endParaRPr>
              </a:p>
            </p:txBody>
          </p:sp>
          <p:sp>
            <p:nvSpPr>
              <p:cNvPr id="9" name="TextBox 8"/>
              <p:cNvSpPr txBox="1"/>
              <p:nvPr/>
            </p:nvSpPr>
            <p:spPr>
              <a:xfrm>
                <a:off x="5159375" y="1752600"/>
                <a:ext cx="1451038" cy="384721"/>
              </a:xfrm>
              <a:prstGeom prst="rect">
                <a:avLst/>
              </a:prstGeom>
              <a:solidFill>
                <a:schemeClr val="bg1"/>
              </a:solidFill>
            </p:spPr>
            <p:txBody>
              <a:bodyPr wrap="none" rtlCol="0">
                <a:spAutoFit/>
              </a:bodyPr>
              <a:lstStyle/>
              <a:p>
                <a:r>
                  <a:rPr lang="en-US" sz="1900" i="1" dirty="0" smtClean="0">
                    <a:solidFill>
                      <a:srgbClr val="002D56"/>
                    </a:solidFill>
                  </a:rPr>
                  <a:t>U</a:t>
                </a:r>
                <a:r>
                  <a:rPr lang="en-US" sz="1900" i="1" baseline="-25000" dirty="0" smtClean="0">
                    <a:solidFill>
                      <a:srgbClr val="002D56"/>
                    </a:solidFill>
                  </a:rPr>
                  <a:t>1 </a:t>
                </a:r>
                <a:r>
                  <a:rPr lang="en-US" sz="1900" dirty="0" smtClean="0">
                    <a:solidFill>
                      <a:srgbClr val="002D56"/>
                    </a:solidFill>
                  </a:rPr>
                  <a:t>= 3, </a:t>
                </a:r>
                <a:r>
                  <a:rPr lang="en-US" sz="1900" i="1" dirty="0" smtClean="0">
                    <a:solidFill>
                      <a:srgbClr val="002D56"/>
                    </a:solidFill>
                  </a:rPr>
                  <a:t>U</a:t>
                </a:r>
                <a:r>
                  <a:rPr lang="en-US" sz="1900" i="1" baseline="-25000" dirty="0" smtClean="0">
                    <a:solidFill>
                      <a:srgbClr val="002D56"/>
                    </a:solidFill>
                  </a:rPr>
                  <a:t>2 </a:t>
                </a:r>
                <a:r>
                  <a:rPr lang="en-US" sz="1900" dirty="0" smtClean="0">
                    <a:solidFill>
                      <a:srgbClr val="002D56"/>
                    </a:solidFill>
                  </a:rPr>
                  <a:t>= 0</a:t>
                </a:r>
                <a:endParaRPr lang="en-US" sz="1900" dirty="0">
                  <a:solidFill>
                    <a:srgbClr val="002D56"/>
                  </a:solidFill>
                </a:endParaRPr>
              </a:p>
            </p:txBody>
          </p:sp>
          <p:sp>
            <p:nvSpPr>
              <p:cNvPr id="10" name="TextBox 9"/>
              <p:cNvSpPr txBox="1"/>
              <p:nvPr/>
            </p:nvSpPr>
            <p:spPr>
              <a:xfrm>
                <a:off x="3559175" y="3429000"/>
                <a:ext cx="1451038" cy="384721"/>
              </a:xfrm>
              <a:prstGeom prst="rect">
                <a:avLst/>
              </a:prstGeom>
              <a:solidFill>
                <a:schemeClr val="bg1"/>
              </a:solidFill>
            </p:spPr>
            <p:txBody>
              <a:bodyPr wrap="none" rtlCol="0">
                <a:spAutoFit/>
              </a:bodyPr>
              <a:lstStyle/>
              <a:p>
                <a:r>
                  <a:rPr lang="en-US" sz="1900" i="1" dirty="0" smtClean="0">
                    <a:solidFill>
                      <a:srgbClr val="002D56"/>
                    </a:solidFill>
                  </a:rPr>
                  <a:t>U</a:t>
                </a:r>
                <a:r>
                  <a:rPr lang="en-US" sz="1900" i="1" baseline="-25000" dirty="0" smtClean="0">
                    <a:solidFill>
                      <a:srgbClr val="002D56"/>
                    </a:solidFill>
                  </a:rPr>
                  <a:t>1 </a:t>
                </a:r>
                <a:r>
                  <a:rPr lang="en-US" sz="1900" dirty="0" smtClean="0">
                    <a:solidFill>
                      <a:srgbClr val="002D56"/>
                    </a:solidFill>
                  </a:rPr>
                  <a:t>= 0, </a:t>
                </a:r>
                <a:r>
                  <a:rPr lang="en-US" sz="1900" i="1" dirty="0" smtClean="0">
                    <a:solidFill>
                      <a:srgbClr val="002D56"/>
                    </a:solidFill>
                  </a:rPr>
                  <a:t>U</a:t>
                </a:r>
                <a:r>
                  <a:rPr lang="en-US" sz="1900" i="1" baseline="-25000" dirty="0" smtClean="0">
                    <a:solidFill>
                      <a:srgbClr val="002D56"/>
                    </a:solidFill>
                  </a:rPr>
                  <a:t>2 </a:t>
                </a:r>
                <a:r>
                  <a:rPr lang="en-US" sz="1900" dirty="0" smtClean="0">
                    <a:solidFill>
                      <a:srgbClr val="002D56"/>
                    </a:solidFill>
                  </a:rPr>
                  <a:t>= 3</a:t>
                </a:r>
                <a:endParaRPr lang="en-US" sz="1900" dirty="0">
                  <a:solidFill>
                    <a:srgbClr val="002D56"/>
                  </a:solidFill>
                </a:endParaRPr>
              </a:p>
            </p:txBody>
          </p:sp>
          <p:cxnSp>
            <p:nvCxnSpPr>
              <p:cNvPr id="3" name="Straight Connector 2"/>
              <p:cNvCxnSpPr/>
              <p:nvPr/>
            </p:nvCxnSpPr>
            <p:spPr>
              <a:xfrm>
                <a:off x="5235575" y="2148054"/>
                <a:ext cx="631825" cy="0"/>
              </a:xfrm>
              <a:prstGeom prst="line">
                <a:avLst/>
              </a:prstGeom>
              <a:ln w="28575">
                <a:solidFill>
                  <a:srgbClr val="002D56"/>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4284694" y="3813721"/>
                <a:ext cx="631825" cy="0"/>
              </a:xfrm>
              <a:prstGeom prst="line">
                <a:avLst/>
              </a:prstGeom>
              <a:ln w="28575">
                <a:solidFill>
                  <a:srgbClr val="002D56"/>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4284694" y="2137321"/>
                <a:ext cx="631825" cy="0"/>
              </a:xfrm>
              <a:prstGeom prst="line">
                <a:avLst/>
              </a:prstGeom>
              <a:ln w="28575">
                <a:solidFill>
                  <a:srgbClr val="002D5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3559175" y="2137321"/>
                <a:ext cx="631825" cy="0"/>
              </a:xfrm>
              <a:prstGeom prst="line">
                <a:avLst/>
              </a:prstGeom>
              <a:ln w="28575">
                <a:solidFill>
                  <a:srgbClr val="002D56"/>
                </a:solidFill>
              </a:ln>
            </p:spPr>
            <p:style>
              <a:lnRef idx="1">
                <a:schemeClr val="accent1"/>
              </a:lnRef>
              <a:fillRef idx="0">
                <a:schemeClr val="accent1"/>
              </a:fillRef>
              <a:effectRef idx="0">
                <a:schemeClr val="accent1"/>
              </a:effectRef>
              <a:fontRef idx="minor">
                <a:schemeClr val="tx1"/>
              </a:fontRef>
            </p:style>
          </p:cxnSp>
          <p:sp>
            <p:nvSpPr>
              <p:cNvPr id="11" name="Oval 10"/>
              <p:cNvSpPr/>
              <p:nvPr/>
            </p:nvSpPr>
            <p:spPr>
              <a:xfrm>
                <a:off x="3534770" y="1676400"/>
                <a:ext cx="1494429" cy="609600"/>
              </a:xfrm>
              <a:prstGeom prst="ellipse">
                <a:avLst/>
              </a:prstGeom>
              <a:noFill/>
              <a:ln w="38100">
                <a:solidFill>
                  <a:srgbClr val="002D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277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8.2	</a:t>
            </a:r>
            <a:r>
              <a:rPr lang="en-US" altLang="en-US" dirty="0"/>
              <a:t>Underlining Procedure in the Prisoners’ </a:t>
            </a:r>
            <a:r>
              <a:rPr lang="en-US" altLang="en-US" dirty="0" smtClean="0"/>
              <a:t/>
            </a:r>
            <a:br>
              <a:rPr lang="en-US" altLang="en-US" dirty="0" smtClean="0"/>
            </a:br>
            <a:r>
              <a:rPr lang="en-US" altLang="en-US" dirty="0"/>
              <a:t>	</a:t>
            </a:r>
            <a:r>
              <a:rPr lang="en-US" altLang="en-US" dirty="0" smtClean="0">
                <a:solidFill>
                  <a:srgbClr val="002D56"/>
                </a:solidFill>
              </a:rPr>
              <a:t>Dilemma</a:t>
            </a:r>
          </a:p>
        </p:txBody>
      </p:sp>
      <mc:AlternateContent xmlns:mc="http://schemas.openxmlformats.org/markup-compatibility/2006" xmlns:a14="http://schemas.microsoft.com/office/drawing/2010/main">
        <mc:Choice Requires="a14">
          <p:sp>
            <p:nvSpPr>
              <p:cNvPr id="32771" name="Text Placeholder 2"/>
              <p:cNvSpPr>
                <a:spLocks noGrp="1"/>
              </p:cNvSpPr>
              <p:nvPr>
                <p:ph sz="half" idx="1"/>
              </p:nvPr>
            </p:nvSpPr>
            <p:spPr>
              <a:xfrm>
                <a:off x="17060" y="4495800"/>
                <a:ext cx="8974540" cy="1858963"/>
              </a:xfrm>
            </p:spPr>
            <p:txBody>
              <a:bodyPr>
                <a:noAutofit/>
              </a:bodyPr>
              <a:lstStyle/>
              <a:p>
                <a:r>
                  <a:rPr lang="en-US" dirty="0"/>
                  <a:t>The first step is to underline player 1’s best responses.  Player 1 prefers to fink if 2 finks, so we underline </a:t>
                </a:r>
                <a14:m>
                  <m:oMath xmlns:m="http://schemas.openxmlformats.org/officeDocument/2006/math">
                    <m:sSub>
                      <m:sSubPr>
                        <m:ctrlPr>
                          <a:rPr lang="en-US" i="1">
                            <a:latin typeface="Cambria Math"/>
                          </a:rPr>
                        </m:ctrlPr>
                      </m:sSubPr>
                      <m:e>
                        <m:r>
                          <a:rPr lang="en-US" i="1">
                            <a:latin typeface="Cambria Math"/>
                          </a:rPr>
                          <m:t>𝑈</m:t>
                        </m:r>
                      </m:e>
                      <m:sub>
                        <m:r>
                          <a:rPr lang="en-US" i="1">
                            <a:latin typeface="Cambria Math"/>
                          </a:rPr>
                          <m:t>1</m:t>
                        </m:r>
                      </m:sub>
                    </m:sSub>
                    <m:r>
                      <a:rPr lang="en-US" i="1">
                        <a:latin typeface="Cambria Math"/>
                      </a:rPr>
                      <m:t>=1</m:t>
                    </m:r>
                  </m:oMath>
                </a14:m>
                <a:r>
                  <a:rPr lang="en-US" dirty="0"/>
                  <a:t> in the upper left box.  Player 1 prefers to fink if 2 is silent, so we underline </a:t>
                </a:r>
                <a14:m>
                  <m:oMath xmlns:m="http://schemas.openxmlformats.org/officeDocument/2006/math">
                    <m:sSub>
                      <m:sSubPr>
                        <m:ctrlPr>
                          <a:rPr lang="en-US" i="1">
                            <a:latin typeface="Cambria Math"/>
                          </a:rPr>
                        </m:ctrlPr>
                      </m:sSubPr>
                      <m:e>
                        <m:r>
                          <a:rPr lang="en-US" i="1">
                            <a:latin typeface="Cambria Math"/>
                          </a:rPr>
                          <m:t>𝑈</m:t>
                        </m:r>
                      </m:e>
                      <m:sub>
                        <m:r>
                          <a:rPr lang="en-US" i="1">
                            <a:latin typeface="Cambria Math"/>
                          </a:rPr>
                          <m:t>1</m:t>
                        </m:r>
                      </m:sub>
                    </m:sSub>
                    <m:r>
                      <a:rPr lang="en-US" i="1">
                        <a:latin typeface="Cambria Math"/>
                      </a:rPr>
                      <m:t>=3</m:t>
                    </m:r>
                  </m:oMath>
                </a14:m>
                <a:r>
                  <a:rPr lang="en-US" dirty="0"/>
                  <a:t> in the upper right box.  The next step is to underline player 2’s best responses.  Player 2 prefers to fink if 1 finks, so we underline </a:t>
                </a:r>
                <a14:m>
                  <m:oMath xmlns:m="http://schemas.openxmlformats.org/officeDocument/2006/math">
                    <m:sSub>
                      <m:sSubPr>
                        <m:ctrlPr>
                          <a:rPr lang="en-US" i="1">
                            <a:latin typeface="Cambria Math"/>
                          </a:rPr>
                        </m:ctrlPr>
                      </m:sSubPr>
                      <m:e>
                        <m:r>
                          <a:rPr lang="en-US" i="1">
                            <a:latin typeface="Cambria Math"/>
                          </a:rPr>
                          <m:t>𝑈</m:t>
                        </m:r>
                      </m:e>
                      <m:sub>
                        <m:r>
                          <a:rPr lang="en-US" i="1">
                            <a:latin typeface="Cambria Math"/>
                          </a:rPr>
                          <m:t>2</m:t>
                        </m:r>
                      </m:sub>
                    </m:sSub>
                    <m:r>
                      <a:rPr lang="en-US" i="1">
                        <a:latin typeface="Cambria Math"/>
                      </a:rPr>
                      <m:t>=1</m:t>
                    </m:r>
                  </m:oMath>
                </a14:m>
                <a:r>
                  <a:rPr lang="en-US" dirty="0"/>
                  <a:t> in the upper left box.  Player 2 prefers to fink if 1 is silent, so we underline </a:t>
                </a:r>
                <a14:m>
                  <m:oMath xmlns:m="http://schemas.openxmlformats.org/officeDocument/2006/math">
                    <m:sSub>
                      <m:sSubPr>
                        <m:ctrlPr>
                          <a:rPr lang="en-US" i="1">
                            <a:latin typeface="Cambria Math"/>
                          </a:rPr>
                        </m:ctrlPr>
                      </m:sSubPr>
                      <m:e>
                        <m:r>
                          <a:rPr lang="en-US" i="1">
                            <a:latin typeface="Cambria Math"/>
                          </a:rPr>
                          <m:t>𝑈</m:t>
                        </m:r>
                      </m:e>
                      <m:sub>
                        <m:r>
                          <a:rPr lang="en-US" i="1">
                            <a:latin typeface="Cambria Math"/>
                          </a:rPr>
                          <m:t>2</m:t>
                        </m:r>
                      </m:sub>
                    </m:sSub>
                    <m:r>
                      <a:rPr lang="en-US" i="1">
                        <a:latin typeface="Cambria Math"/>
                      </a:rPr>
                      <m:t>=3</m:t>
                    </m:r>
                  </m:oMath>
                </a14:m>
                <a:r>
                  <a:rPr lang="en-US" dirty="0"/>
                  <a:t> in the lower left box.  The final step is to circle any box with both payoffs underlined, here showing the Nash equilibrium involves both finking.  </a:t>
                </a:r>
              </a:p>
              <a:p>
                <a:r>
                  <a:rPr lang="en-US" b="1" dirty="0"/>
                  <a:t> </a:t>
                </a:r>
                <a:endParaRPr lang="en-US" dirty="0"/>
              </a:p>
              <a:p>
                <a:pPr>
                  <a:spcBef>
                    <a:spcPct val="0"/>
                  </a:spcBef>
                </a:pPr>
                <a:endParaRPr lang="en-US" altLang="en-US" dirty="0" smtClean="0"/>
              </a:p>
            </p:txBody>
          </p:sp>
        </mc:Choice>
        <mc:Fallback xmlns="">
          <p:sp>
            <p:nvSpPr>
              <p:cNvPr id="32771" name="Text Placeholder 2"/>
              <p:cNvSpPr>
                <a:spLocks noGrp="1" noRot="1" noChangeAspect="1" noMove="1" noResize="1" noEditPoints="1" noAdjustHandles="1" noChangeArrowheads="1" noChangeShapeType="1" noTextEdit="1"/>
              </p:cNvSpPr>
              <p:nvPr>
                <p:ph sz="half" idx="1"/>
              </p:nvPr>
            </p:nvSpPr>
            <p:spPr>
              <a:xfrm>
                <a:off x="17060" y="4495800"/>
                <a:ext cx="8974540" cy="1858963"/>
              </a:xfrm>
              <a:blipFill rotWithShape="1">
                <a:blip r:embed="rId3"/>
                <a:stretch>
                  <a:fillRect l="-611" t="-1645"/>
                </a:stretch>
              </a:blipFill>
            </p:spPr>
            <p:txBody>
              <a:bodyPr/>
              <a:lstStyle/>
              <a:p>
                <a:r>
                  <a:rPr lang="en-US">
                    <a:noFill/>
                  </a:rPr>
                  <a:t> </a:t>
                </a:r>
              </a:p>
            </p:txBody>
          </p:sp>
        </mc:Fallback>
      </mc:AlternateContent>
      <p:sp>
        <p:nvSpPr>
          <p:cNvPr id="32773"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759BA8C3-EB9B-427A-8AA9-208B9DDB863D}" type="slidenum">
              <a:rPr lang="en-US" smtClean="0"/>
              <a:pPr>
                <a:defRPr/>
              </a:pPr>
              <a:t>14</a:t>
            </a:fld>
            <a:endParaRPr lang="en-US" dirty="0"/>
          </a:p>
        </p:txBody>
      </p:sp>
    </p:spTree>
    <p:extLst>
      <p:ext uri="{BB962C8B-B14F-4D97-AF65-F5344CB8AC3E}">
        <p14:creationId xmlns:p14="http://schemas.microsoft.com/office/powerpoint/2010/main" val="96294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2771">
                                            <p:txEl>
                                              <p:pRg st="0" end="0"/>
                                            </p:txEl>
                                          </p:spTgt>
                                        </p:tgtEl>
                                        <p:attrNameLst>
                                          <p:attrName>style.visibility</p:attrName>
                                        </p:attrNameLst>
                                      </p:cBhvr>
                                      <p:to>
                                        <p:strVal val="visible"/>
                                      </p:to>
                                    </p:set>
                                    <p:animEffect transition="in" filter="wipe(left)">
                                      <p:cBhvr>
                                        <p:cTn id="11" dur="500"/>
                                        <p:tgtEl>
                                          <p:spTgt spid="32771">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2771">
                                            <p:txEl>
                                              <p:pRg st="1" end="1"/>
                                            </p:txEl>
                                          </p:spTgt>
                                        </p:tgtEl>
                                        <p:attrNameLst>
                                          <p:attrName>style.visibility</p:attrName>
                                        </p:attrNameLst>
                                      </p:cBhvr>
                                      <p:to>
                                        <p:strVal val="visible"/>
                                      </p:to>
                                    </p:set>
                                    <p:animEffect transition="in" filter="wipe(left)">
                                      <p:cBhvr>
                                        <p:cTn id="15" dur="500"/>
                                        <p:tgtEl>
                                          <p:spTgt spid="3277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altLang="en-US" smtClean="0"/>
              <a:t>Dominant Strategies</a:t>
            </a:r>
          </a:p>
        </p:txBody>
      </p:sp>
      <p:sp>
        <p:nvSpPr>
          <p:cNvPr id="33795" name="Rectangle 3"/>
          <p:cNvSpPr>
            <a:spLocks noGrp="1" noChangeArrowheads="1"/>
          </p:cNvSpPr>
          <p:nvPr>
            <p:ph idx="1"/>
          </p:nvPr>
        </p:nvSpPr>
        <p:spPr/>
        <p:txBody>
          <a:bodyPr/>
          <a:lstStyle/>
          <a:p>
            <a:r>
              <a:rPr lang="en-US" altLang="en-US" smtClean="0"/>
              <a:t>Dominant strategy</a:t>
            </a:r>
          </a:p>
          <a:p>
            <a:pPr lvl="1"/>
            <a:r>
              <a:rPr lang="en-US" altLang="en-US" smtClean="0"/>
              <a:t>A strategy that is a best response to any strategy the other players might choose</a:t>
            </a:r>
            <a:endParaRPr lang="en-US" altLang="en-US" u="sng" smtClean="0"/>
          </a:p>
          <a:p>
            <a:pPr lvl="1"/>
            <a:r>
              <a:rPr lang="en-US" altLang="en-US" smtClean="0"/>
              <a:t>Finking is a dominant strategy for both players</a:t>
            </a:r>
          </a:p>
          <a:p>
            <a:pPr lvl="1" algn="ctr">
              <a:lnSpc>
                <a:spcPct val="140000"/>
              </a:lnSpc>
              <a:buFontTx/>
              <a:buNone/>
            </a:pPr>
            <a:r>
              <a:rPr lang="en-US" altLang="en-US" i="1" smtClean="0">
                <a:solidFill>
                  <a:srgbClr val="FF0000"/>
                </a:solidFill>
              </a:rPr>
              <a:t>s</a:t>
            </a:r>
            <a:r>
              <a:rPr lang="en-US" altLang="en-US" smtClean="0">
                <a:solidFill>
                  <a:srgbClr val="FF0000"/>
                </a:solidFill>
              </a:rPr>
              <a:t>*</a:t>
            </a:r>
            <a:r>
              <a:rPr lang="en-US" altLang="en-US" i="1" baseline="-25000" smtClean="0">
                <a:solidFill>
                  <a:srgbClr val="FF0000"/>
                </a:solidFill>
              </a:rPr>
              <a:t>i</a:t>
            </a:r>
            <a:r>
              <a:rPr lang="en-US" altLang="en-US" i="1" smtClean="0">
                <a:solidFill>
                  <a:srgbClr val="FF0000"/>
                </a:solidFill>
              </a:rPr>
              <a:t> </a:t>
            </a:r>
            <a:r>
              <a:rPr lang="en-US" altLang="en-US" smtClean="0">
                <a:solidFill>
                  <a:srgbClr val="FF0000"/>
                </a:solidFill>
                <a:sym typeface="Symbol" pitchFamily="18" charset="2"/>
              </a:rPr>
              <a:t></a:t>
            </a:r>
            <a:r>
              <a:rPr lang="en-US" altLang="en-US" baseline="-25000" smtClean="0">
                <a:solidFill>
                  <a:srgbClr val="FF0000"/>
                </a:solidFill>
                <a:sym typeface="Symbol" pitchFamily="18" charset="2"/>
              </a:rPr>
              <a:t> </a:t>
            </a:r>
            <a:r>
              <a:rPr lang="en-US" altLang="en-US" i="1" smtClean="0">
                <a:solidFill>
                  <a:srgbClr val="FF0000"/>
                </a:solidFill>
                <a:sym typeface="Symbol" pitchFamily="18" charset="2"/>
              </a:rPr>
              <a:t>BR</a:t>
            </a:r>
            <a:r>
              <a:rPr lang="en-US" altLang="en-US" i="1" baseline="-25000" smtClean="0">
                <a:solidFill>
                  <a:srgbClr val="FF0000"/>
                </a:solidFill>
                <a:sym typeface="Symbol" pitchFamily="18" charset="2"/>
              </a:rPr>
              <a:t>i</a:t>
            </a:r>
            <a:r>
              <a:rPr lang="en-US" altLang="en-US" smtClean="0">
                <a:solidFill>
                  <a:srgbClr val="FF0000"/>
                </a:solidFill>
                <a:sym typeface="Symbol" pitchFamily="18" charset="2"/>
              </a:rPr>
              <a:t>(</a:t>
            </a:r>
            <a:r>
              <a:rPr lang="en-US" altLang="en-US" i="1" smtClean="0">
                <a:solidFill>
                  <a:srgbClr val="FF0000"/>
                </a:solidFill>
                <a:sym typeface="Symbol" pitchFamily="18" charset="2"/>
              </a:rPr>
              <a:t>s</a:t>
            </a:r>
            <a:r>
              <a:rPr lang="en-US" altLang="en-US" i="1" baseline="-25000" smtClean="0">
                <a:solidFill>
                  <a:srgbClr val="FF0000"/>
                </a:solidFill>
                <a:sym typeface="Symbol" pitchFamily="18" charset="2"/>
              </a:rPr>
              <a:t>-i</a:t>
            </a:r>
            <a:r>
              <a:rPr lang="en-US" altLang="en-US" smtClean="0">
                <a:solidFill>
                  <a:srgbClr val="FF0000"/>
                </a:solidFill>
                <a:sym typeface="Symbol" pitchFamily="18" charset="2"/>
              </a:rPr>
              <a:t>) for all </a:t>
            </a:r>
            <a:r>
              <a:rPr lang="en-US" altLang="en-US" i="1" smtClean="0">
                <a:solidFill>
                  <a:srgbClr val="FF0000"/>
                </a:solidFill>
                <a:sym typeface="Symbol" pitchFamily="18" charset="2"/>
              </a:rPr>
              <a:t>s</a:t>
            </a:r>
            <a:r>
              <a:rPr lang="en-US" altLang="en-US" i="1" baseline="-25000" smtClean="0">
                <a:solidFill>
                  <a:srgbClr val="FF0000"/>
                </a:solidFill>
                <a:sym typeface="Symbol" pitchFamily="18" charset="2"/>
              </a:rPr>
              <a:t>-i</a:t>
            </a:r>
            <a:endParaRPr lang="en-US" altLang="en-US" smtClean="0">
              <a:solidFill>
                <a:srgbClr val="FF0000"/>
              </a:solidFill>
              <a:sym typeface="Symbol" pitchFamily="18" charset="2"/>
            </a:endParaRPr>
          </a:p>
          <a:p>
            <a:r>
              <a:rPr lang="en-US" altLang="en-US" smtClean="0">
                <a:sym typeface="Symbol" pitchFamily="18" charset="2"/>
              </a:rPr>
              <a:t>When a dominant strategy exists, it is the unique Nash equilibrium</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8DCE08FE-0448-4984-A3B6-30955F591B18}" type="slidenum">
              <a:rPr lang="en-US" smtClean="0"/>
              <a:pPr>
                <a:defRPr/>
              </a:pPr>
              <a:t>15</a:t>
            </a:fld>
            <a:endParaRPr lang="en-US"/>
          </a:p>
        </p:txBody>
      </p:sp>
    </p:spTree>
    <p:extLst>
      <p:ext uri="{BB962C8B-B14F-4D97-AF65-F5344CB8AC3E}">
        <p14:creationId xmlns:p14="http://schemas.microsoft.com/office/powerpoint/2010/main" val="276013378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altLang="en-US" smtClean="0"/>
              <a:t>Battle of the Sexes</a:t>
            </a:r>
          </a:p>
        </p:txBody>
      </p:sp>
      <p:sp>
        <p:nvSpPr>
          <p:cNvPr id="34819" name="Rectangle 3"/>
          <p:cNvSpPr>
            <a:spLocks noGrp="1" noChangeArrowheads="1"/>
          </p:cNvSpPr>
          <p:nvPr>
            <p:ph idx="1"/>
          </p:nvPr>
        </p:nvSpPr>
        <p:spPr>
          <a:xfrm>
            <a:off x="381000" y="1066800"/>
            <a:ext cx="8534400" cy="5334000"/>
          </a:xfrm>
        </p:spPr>
        <p:txBody>
          <a:bodyPr/>
          <a:lstStyle/>
          <a:p>
            <a:r>
              <a:rPr lang="en-US" altLang="en-US" dirty="0" smtClean="0"/>
              <a:t>A wife and husband may either go to the ballet or to a boxing match</a:t>
            </a:r>
          </a:p>
          <a:p>
            <a:pPr lvl="1"/>
            <a:r>
              <a:rPr lang="en-US" altLang="en-US" dirty="0" smtClean="0"/>
              <a:t>Both prefer spending time together</a:t>
            </a:r>
          </a:p>
          <a:p>
            <a:pPr lvl="1"/>
            <a:r>
              <a:rPr lang="en-US" altLang="en-US" dirty="0" smtClean="0"/>
              <a:t>The wife prefers ballet and the husband prefers boxing</a:t>
            </a:r>
          </a:p>
          <a:p>
            <a:r>
              <a:rPr lang="en-US" altLang="en-US" dirty="0" smtClean="0"/>
              <a:t>There are two Nash equilibria</a:t>
            </a:r>
          </a:p>
          <a:p>
            <a:pPr lvl="1"/>
            <a:r>
              <a:rPr lang="en-US" altLang="en-US" dirty="0" smtClean="0"/>
              <a:t>Both going to the ballet</a:t>
            </a:r>
          </a:p>
          <a:p>
            <a:pPr lvl="1"/>
            <a:r>
              <a:rPr lang="en-US" altLang="en-US" dirty="0" smtClean="0"/>
              <a:t>Both going to boxing</a:t>
            </a:r>
          </a:p>
          <a:p>
            <a:r>
              <a:rPr lang="en-US" altLang="en-US" dirty="0" smtClean="0"/>
              <a:t>There is no dominant strategy</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89D9134E-6541-4A71-9E1E-08C6EFE2F086}" type="slidenum">
              <a:rPr lang="en-US" smtClean="0"/>
              <a:pPr>
                <a:defRPr/>
              </a:pPr>
              <a:t>16</a:t>
            </a:fld>
            <a:endParaRPr lang="en-US"/>
          </a:p>
        </p:txBody>
      </p:sp>
    </p:spTree>
    <p:extLst>
      <p:ext uri="{BB962C8B-B14F-4D97-AF65-F5344CB8AC3E}">
        <p14:creationId xmlns:p14="http://schemas.microsoft.com/office/powerpoint/2010/main" val="45356369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8.3	Normal Form for the Battle of the </a:t>
            </a:r>
            <a:r>
              <a:rPr lang="en-US" altLang="en-US" dirty="0" smtClean="0"/>
              <a:t>Sexes</a:t>
            </a:r>
          </a:p>
        </p:txBody>
      </p:sp>
      <p:sp>
        <p:nvSpPr>
          <p:cNvPr id="35843" name="Text Placeholder 2"/>
          <p:cNvSpPr>
            <a:spLocks noGrp="1"/>
          </p:cNvSpPr>
          <p:nvPr>
            <p:ph sz="half" idx="1"/>
          </p:nvPr>
        </p:nvSpPr>
        <p:spPr>
          <a:xfrm>
            <a:off x="457200" y="4419601"/>
            <a:ext cx="8229600" cy="1523999"/>
          </a:xfrm>
        </p:spPr>
        <p:txBody>
          <a:bodyPr>
            <a:normAutofit/>
          </a:bodyPr>
          <a:lstStyle/>
          <a:p>
            <a:pPr>
              <a:spcBef>
                <a:spcPct val="0"/>
              </a:spcBef>
            </a:pPr>
            <a:r>
              <a:rPr lang="en-US" altLang="en-US" dirty="0"/>
              <a:t>The wife and husband simultaneously choose which event, ballet or boxing, to show up to.  They obtain 0 payoff if they do not end up coordinating.</a:t>
            </a:r>
            <a:endParaRPr lang="en-US" altLang="en-US" dirty="0" smtClean="0"/>
          </a:p>
        </p:txBody>
      </p:sp>
      <p:sp>
        <p:nvSpPr>
          <p:cNvPr id="35845"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9C758474-CC68-464E-904C-F30F1C018A39}" type="slidenum">
              <a:rPr lang="en-US" smtClean="0"/>
              <a:pPr>
                <a:defRPr/>
              </a:pPr>
              <a:t>17</a:t>
            </a:fld>
            <a:endParaRPr lang="en-US" dirty="0"/>
          </a:p>
        </p:txBody>
      </p:sp>
      <p:pic>
        <p:nvPicPr>
          <p:cNvPr id="419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1275" y="1128713"/>
            <a:ext cx="3981450" cy="315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436943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1986"/>
                                        </p:tgtEl>
                                        <p:attrNameLst>
                                          <p:attrName>style.visibility</p:attrName>
                                        </p:attrNameLst>
                                      </p:cBhvr>
                                      <p:to>
                                        <p:strVal val="visible"/>
                                      </p:to>
                                    </p:set>
                                    <p:animEffect transition="in" filter="wipe(left)">
                                      <p:cBhvr>
                                        <p:cTn id="7" dur="500"/>
                                        <p:tgtEl>
                                          <p:spTgt spid="4198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5843">
                                            <p:txEl>
                                              <p:pRg st="0" end="0"/>
                                            </p:txEl>
                                          </p:spTgt>
                                        </p:tgtEl>
                                        <p:attrNameLst>
                                          <p:attrName>style.visibility</p:attrName>
                                        </p:attrNameLst>
                                      </p:cBhvr>
                                      <p:to>
                                        <p:strVal val="visible"/>
                                      </p:to>
                                    </p:set>
                                    <p:animEffect transition="in" filter="wipe(left)">
                                      <p:cBhvr>
                                        <p:cTn id="11" dur="500"/>
                                        <p:tgtEl>
                                          <p:spTgt spid="3584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bwMode="auto">
          <a:xfrm>
            <a:off x="1143000" y="0"/>
            <a:ext cx="8001000"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8.4	Underlining Procedure in the </a:t>
            </a:r>
            <a:r>
              <a:rPr lang="en-US" altLang="en-US" dirty="0" smtClean="0"/>
              <a:t/>
            </a:r>
            <a:br>
              <a:rPr lang="en-US" altLang="en-US" dirty="0" smtClean="0"/>
            </a:br>
            <a:r>
              <a:rPr lang="en-US" altLang="en-US" dirty="0"/>
              <a:t>	</a:t>
            </a:r>
            <a:r>
              <a:rPr lang="en-US" altLang="en-US" dirty="0" smtClean="0">
                <a:solidFill>
                  <a:srgbClr val="002D56"/>
                </a:solidFill>
              </a:rPr>
              <a:t>Battle </a:t>
            </a:r>
            <a:r>
              <a:rPr lang="en-US" altLang="en-US" dirty="0">
                <a:solidFill>
                  <a:srgbClr val="002D56"/>
                </a:solidFill>
              </a:rPr>
              <a:t>of the </a:t>
            </a:r>
            <a:r>
              <a:rPr lang="en-US" altLang="en-US" dirty="0" smtClean="0">
                <a:solidFill>
                  <a:srgbClr val="002D56"/>
                </a:solidFill>
              </a:rPr>
              <a:t>Sexes</a:t>
            </a:r>
          </a:p>
        </p:txBody>
      </p:sp>
      <p:sp>
        <p:nvSpPr>
          <p:cNvPr id="36867" name="Text Placeholder 2"/>
          <p:cNvSpPr>
            <a:spLocks noGrp="1"/>
          </p:cNvSpPr>
          <p:nvPr>
            <p:ph sz="half" idx="1"/>
          </p:nvPr>
        </p:nvSpPr>
        <p:spPr>
          <a:xfrm>
            <a:off x="838200" y="4495800"/>
            <a:ext cx="7543800" cy="1782763"/>
          </a:xfrm>
        </p:spPr>
        <p:txBody>
          <a:bodyPr>
            <a:normAutofit/>
          </a:bodyPr>
          <a:lstStyle/>
          <a:p>
            <a:pPr>
              <a:spcBef>
                <a:spcPct val="0"/>
              </a:spcBef>
            </a:pPr>
            <a:r>
              <a:rPr lang="en-US" altLang="en-US" dirty="0"/>
              <a:t>The underlining procedure yields two Nash equilibria in pure strategies: both go to ballet and both go to boxing. </a:t>
            </a:r>
            <a:endParaRPr lang="en-US" altLang="en-US" dirty="0" smtClean="0"/>
          </a:p>
        </p:txBody>
      </p:sp>
      <p:sp>
        <p:nvSpPr>
          <p:cNvPr id="36869"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CE5359F0-AA52-438B-A43F-BAE86418DA84}" type="slidenum">
              <a:rPr lang="en-US" smtClean="0"/>
              <a:pPr>
                <a:defRPr/>
              </a:pPr>
              <a:t>18</a:t>
            </a:fld>
            <a:endParaRPr lang="en-US" dirty="0"/>
          </a:p>
        </p:txBody>
      </p:sp>
      <p:pic>
        <p:nvPicPr>
          <p:cNvPr id="430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8513" y="1257300"/>
            <a:ext cx="3962400"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923917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3010"/>
                                        </p:tgtEl>
                                        <p:attrNameLst>
                                          <p:attrName>style.visibility</p:attrName>
                                        </p:attrNameLst>
                                      </p:cBhvr>
                                      <p:to>
                                        <p:strVal val="visible"/>
                                      </p:to>
                                    </p:set>
                                    <p:animEffect transition="in" filter="wipe(left)">
                                      <p:cBhvr>
                                        <p:cTn id="7" dur="500"/>
                                        <p:tgtEl>
                                          <p:spTgt spid="4301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6867">
                                            <p:txEl>
                                              <p:pRg st="0" end="0"/>
                                            </p:txEl>
                                          </p:spTgt>
                                        </p:tgtEl>
                                        <p:attrNameLst>
                                          <p:attrName>style.visibility</p:attrName>
                                        </p:attrNameLst>
                                      </p:cBhvr>
                                      <p:to>
                                        <p:strVal val="visible"/>
                                      </p:to>
                                    </p:set>
                                    <p:animEffect transition="in" filter="wipe(left)">
                                      <p:cBhvr>
                                        <p:cTn id="11" dur="500"/>
                                        <p:tgtEl>
                                          <p:spTgt spid="3686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8.1 	Rock, Paper, Scissors</a:t>
            </a:r>
          </a:p>
        </p:txBody>
      </p:sp>
      <p:sp>
        <p:nvSpPr>
          <p:cNvPr id="5" name="Footer Placeholder 4"/>
          <p:cNvSpPr>
            <a:spLocks noGrp="1"/>
          </p:cNvSpPr>
          <p:nvPr>
            <p:ph type="ftr" sz="quarter" idx="10"/>
          </p:nvPr>
        </p:nvSpPr>
        <p:spPr>
          <a:prstGeom prst="rect">
            <a:avLst/>
          </a:prstGeom>
        </p:spPr>
        <p:txBody>
          <a:bodyPr/>
          <a:lstStyle/>
          <a:p>
            <a:pPr>
              <a:defRPr/>
            </a:pPr>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cs typeface="+mn-cs"/>
            </a:endParaRPr>
          </a:p>
        </p:txBody>
      </p:sp>
      <p:sp>
        <p:nvSpPr>
          <p:cNvPr id="4" name="Slide Number Placeholder 3"/>
          <p:cNvSpPr>
            <a:spLocks noGrp="1"/>
          </p:cNvSpPr>
          <p:nvPr>
            <p:ph type="sldNum" sz="quarter" idx="11"/>
          </p:nvPr>
        </p:nvSpPr>
        <p:spPr>
          <a:prstGeom prst="rect">
            <a:avLst/>
          </a:prstGeom>
        </p:spPr>
        <p:txBody>
          <a:bodyPr/>
          <a:lstStyle/>
          <a:p>
            <a:pPr>
              <a:defRPr/>
            </a:pPr>
            <a:fld id="{3C313D2D-2E55-4F5B-8468-F5DA96F1431C}" type="slidenum">
              <a:rPr lang="en-US" smtClean="0"/>
              <a:pPr>
                <a:defRPr/>
              </a:pPr>
              <a:t>19</a:t>
            </a:fld>
            <a:endParaRPr lang="en-US"/>
          </a:p>
        </p:txBody>
      </p:sp>
      <p:sp>
        <p:nvSpPr>
          <p:cNvPr id="39939" name="Rectangle 3"/>
          <p:cNvSpPr>
            <a:spLocks noGrp="1" noChangeArrowheads="1"/>
          </p:cNvSpPr>
          <p:nvPr>
            <p:ph type="body" sz="quarter" idx="12"/>
          </p:nvPr>
        </p:nvSpPr>
        <p:spPr>
          <a:prstGeom prst="rect">
            <a:avLst/>
          </a:prstGeom>
        </p:spPr>
        <p:txBody>
          <a:bodyPr/>
          <a:lstStyle/>
          <a:p>
            <a:r>
              <a:rPr lang="en-US" altLang="en-US" dirty="0" smtClean="0"/>
              <a:t>Two players simultaneously display one of three hand signals</a:t>
            </a:r>
          </a:p>
          <a:p>
            <a:pPr lvl="1"/>
            <a:r>
              <a:rPr lang="en-US" altLang="en-US" dirty="0" smtClean="0"/>
              <a:t>Rock breaks scissors</a:t>
            </a:r>
          </a:p>
          <a:p>
            <a:pPr lvl="1"/>
            <a:r>
              <a:rPr lang="en-US" altLang="en-US" dirty="0" smtClean="0"/>
              <a:t>Scissors cut paper</a:t>
            </a:r>
          </a:p>
          <a:p>
            <a:pPr lvl="1"/>
            <a:r>
              <a:rPr lang="en-US" altLang="en-US" dirty="0" smtClean="0"/>
              <a:t>Paper covers rock</a:t>
            </a:r>
          </a:p>
          <a:p>
            <a:r>
              <a:rPr lang="en-US" altLang="en-US" dirty="0" smtClean="0"/>
              <a:t>None of the nine boxes represents a Nash equilibrium</a:t>
            </a:r>
          </a:p>
          <a:p>
            <a:pPr lvl="1"/>
            <a:r>
              <a:rPr lang="en-US" altLang="en-US" dirty="0" smtClean="0"/>
              <a:t>Any strategy pair is unstable because it offers at least one of the players an incentive to deviate</a:t>
            </a:r>
          </a:p>
        </p:txBody>
      </p:sp>
    </p:spTree>
    <p:extLst>
      <p:ext uri="{BB962C8B-B14F-4D97-AF65-F5344CB8AC3E}">
        <p14:creationId xmlns:p14="http://schemas.microsoft.com/office/powerpoint/2010/main" val="164646608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8.5 </a:t>
            </a:r>
            <a:r>
              <a:rPr lang="en-US" altLang="en-US" dirty="0" smtClean="0"/>
              <a:t>	Rock</a:t>
            </a:r>
            <a:r>
              <a:rPr lang="en-US" altLang="en-US" dirty="0"/>
              <a:t>, Paper, </a:t>
            </a:r>
            <a:r>
              <a:rPr lang="en-US" altLang="en-US" dirty="0" smtClean="0"/>
              <a:t>Scissors	</a:t>
            </a:r>
            <a:r>
              <a:rPr lang="en-US" altLang="en-US" dirty="0"/>
              <a:t>	</a:t>
            </a:r>
            <a:endParaRPr lang="en-US" altLang="en-US" dirty="0" smtClean="0"/>
          </a:p>
        </p:txBody>
      </p:sp>
      <p:sp>
        <p:nvSpPr>
          <p:cNvPr id="40963" name="Text Placeholder 2"/>
          <p:cNvSpPr>
            <a:spLocks noGrp="1"/>
          </p:cNvSpPr>
          <p:nvPr>
            <p:ph sz="half" idx="1"/>
          </p:nvPr>
        </p:nvSpPr>
        <p:spPr>
          <a:xfrm>
            <a:off x="228600" y="5310188"/>
            <a:ext cx="8458200" cy="1014412"/>
          </a:xfrm>
        </p:spPr>
        <p:txBody>
          <a:bodyPr>
            <a:normAutofit/>
          </a:bodyPr>
          <a:lstStyle/>
          <a:p>
            <a:pPr>
              <a:spcBef>
                <a:spcPct val="0"/>
              </a:spcBef>
            </a:pPr>
            <a:r>
              <a:rPr lang="en-US" altLang="en-US" dirty="0"/>
              <a:t>Rock, Papers, Scissors involves three strategies for each player.  The underlining procedure shows that it has no Nash equilibrium in pure strategies. </a:t>
            </a:r>
            <a:endParaRPr lang="en-US" altLang="en-US" dirty="0" smtClean="0"/>
          </a:p>
        </p:txBody>
      </p:sp>
      <p:sp>
        <p:nvSpPr>
          <p:cNvPr id="40965"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8CB161D8-65E6-4B36-A734-57B4309497B1}" type="slidenum">
              <a:rPr lang="en-US" smtClean="0"/>
              <a:pPr>
                <a:defRPr/>
              </a:pPr>
              <a:t>20</a:t>
            </a:fld>
            <a:endParaRPr lang="en-US" dirty="0"/>
          </a:p>
        </p:txBody>
      </p:sp>
      <p:grpSp>
        <p:nvGrpSpPr>
          <p:cNvPr id="4" name="Group 10"/>
          <p:cNvGrpSpPr>
            <a:grpSpLocks/>
          </p:cNvGrpSpPr>
          <p:nvPr/>
        </p:nvGrpSpPr>
        <p:grpSpPr bwMode="auto">
          <a:xfrm>
            <a:off x="117475" y="1019175"/>
            <a:ext cx="4378325" cy="4291013"/>
            <a:chOff x="0" y="1019302"/>
            <a:chExt cx="4378315" cy="4290771"/>
          </a:xfrm>
        </p:grpSpPr>
        <p:sp>
          <p:nvSpPr>
            <p:cNvPr id="40970" name="TextBox 6"/>
            <p:cNvSpPr txBox="1">
              <a:spLocks noChangeArrowheads="1"/>
            </p:cNvSpPr>
            <p:nvPr/>
          </p:nvSpPr>
          <p:spPr bwMode="auto">
            <a:xfrm>
              <a:off x="1441681" y="1019302"/>
              <a:ext cx="18004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solidFill>
                    <a:srgbClr val="002D56"/>
                  </a:solidFill>
                </a:rPr>
                <a:t>(a) Normal form</a:t>
              </a:r>
            </a:p>
          </p:txBody>
        </p:sp>
        <p:pic>
          <p:nvPicPr>
            <p:cNvPr id="4097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45264"/>
              <a:ext cx="4378315" cy="3864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9" name="Group 11"/>
          <p:cNvGrpSpPr>
            <a:grpSpLocks/>
          </p:cNvGrpSpPr>
          <p:nvPr/>
        </p:nvGrpSpPr>
        <p:grpSpPr bwMode="auto">
          <a:xfrm>
            <a:off x="4581525" y="1019175"/>
            <a:ext cx="4314825" cy="4229100"/>
            <a:chOff x="4581526" y="1019302"/>
            <a:chExt cx="4315252" cy="4229592"/>
          </a:xfrm>
        </p:grpSpPr>
        <p:sp>
          <p:nvSpPr>
            <p:cNvPr id="40968" name="TextBox 7"/>
            <p:cNvSpPr txBox="1">
              <a:spLocks noChangeArrowheads="1"/>
            </p:cNvSpPr>
            <p:nvPr/>
          </p:nvSpPr>
          <p:spPr bwMode="auto">
            <a:xfrm>
              <a:off x="5750409" y="1019302"/>
              <a:ext cx="28007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solidFill>
                    <a:srgbClr val="002D56"/>
                  </a:solidFill>
                </a:rPr>
                <a:t>(b) Underlining procedure</a:t>
              </a:r>
            </a:p>
          </p:txBody>
        </p:sp>
        <p:pic>
          <p:nvPicPr>
            <p:cNvPr id="4096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1526" y="1564263"/>
              <a:ext cx="4315252" cy="3684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2321659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40963">
                                            <p:txEl>
                                              <p:pRg st="0" end="0"/>
                                            </p:txEl>
                                          </p:spTgt>
                                        </p:tgtEl>
                                        <p:attrNameLst>
                                          <p:attrName>style.visibility</p:attrName>
                                        </p:attrNameLst>
                                      </p:cBhvr>
                                      <p:to>
                                        <p:strVal val="visible"/>
                                      </p:to>
                                    </p:set>
                                    <p:animEffect transition="in" filter="wipe(left)">
                                      <p:cBhvr>
                                        <p:cTn id="15" dur="500"/>
                                        <p:tgtEl>
                                          <p:spTgt spid="4096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altLang="en-US" smtClean="0"/>
              <a:t>Mixed Strategies</a:t>
            </a:r>
          </a:p>
        </p:txBody>
      </p:sp>
      <p:sp>
        <p:nvSpPr>
          <p:cNvPr id="41987" name="Rectangle 3"/>
          <p:cNvSpPr>
            <a:spLocks noGrp="1" noChangeArrowheads="1"/>
          </p:cNvSpPr>
          <p:nvPr>
            <p:ph idx="1"/>
          </p:nvPr>
        </p:nvSpPr>
        <p:spPr/>
        <p:txBody>
          <a:bodyPr/>
          <a:lstStyle/>
          <a:p>
            <a:r>
              <a:rPr lang="en-US" altLang="en-US" smtClean="0"/>
              <a:t>Pure strategy</a:t>
            </a:r>
          </a:p>
          <a:p>
            <a:pPr lvl="1"/>
            <a:r>
              <a:rPr lang="en-US" altLang="en-US" smtClean="0"/>
              <a:t>When a player chooses one action of another with certainty</a:t>
            </a:r>
            <a:endParaRPr lang="en-US" altLang="en-US" u="sng" smtClean="0"/>
          </a:p>
          <a:p>
            <a:r>
              <a:rPr lang="en-US" altLang="en-US" smtClean="0"/>
              <a:t>Mixed strategies</a:t>
            </a:r>
          </a:p>
          <a:p>
            <a:pPr lvl="1"/>
            <a:r>
              <a:rPr lang="en-US" altLang="en-US" smtClean="0"/>
              <a:t>Players may randomly select from several possible actions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8B9DB2DC-D4A1-4C88-83F2-51AC5B052D7A}" type="slidenum">
              <a:rPr lang="en-US" smtClean="0"/>
              <a:pPr>
                <a:defRPr/>
              </a:pPr>
              <a:t>21</a:t>
            </a:fld>
            <a:endParaRPr lang="en-US"/>
          </a:p>
        </p:txBody>
      </p:sp>
    </p:spTree>
    <p:extLst>
      <p:ext uri="{BB962C8B-B14F-4D97-AF65-F5344CB8AC3E}">
        <p14:creationId xmlns:p14="http://schemas.microsoft.com/office/powerpoint/2010/main" val="72283856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US" altLang="en-US" smtClean="0"/>
              <a:t>Mixed Strategies</a:t>
            </a:r>
          </a:p>
        </p:txBody>
      </p:sp>
      <p:sp>
        <p:nvSpPr>
          <p:cNvPr id="43011" name="Rectangle 3"/>
          <p:cNvSpPr>
            <a:spLocks noGrp="1" noChangeArrowheads="1"/>
          </p:cNvSpPr>
          <p:nvPr>
            <p:ph idx="1"/>
          </p:nvPr>
        </p:nvSpPr>
        <p:spPr/>
        <p:txBody>
          <a:bodyPr/>
          <a:lstStyle/>
          <a:p>
            <a:r>
              <a:rPr lang="en-US" altLang="en-US" smtClean="0"/>
              <a:t>Reasons for studying mixed strategies</a:t>
            </a:r>
          </a:p>
          <a:p>
            <a:pPr lvl="1"/>
            <a:r>
              <a:rPr lang="en-US" altLang="en-US" smtClean="0"/>
              <a:t>Some games have no nash equilibria in pure strategies but will have one in mixed strategies</a:t>
            </a:r>
          </a:p>
          <a:p>
            <a:pPr lvl="1"/>
            <a:r>
              <a:rPr lang="en-US" altLang="en-US" smtClean="0"/>
              <a:t>Strategies involving randomization are familiar and natural in certain settings</a:t>
            </a:r>
          </a:p>
          <a:p>
            <a:pPr lvl="1"/>
            <a:r>
              <a:rPr lang="en-US" altLang="en-US" smtClean="0"/>
              <a:t>It is possible to “purify” mixed strategies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4B189772-9B24-4408-A625-1774D4A48187}" type="slidenum">
              <a:rPr lang="en-US" smtClean="0"/>
              <a:pPr>
                <a:defRPr/>
              </a:pPr>
              <a:t>22</a:t>
            </a:fld>
            <a:endParaRPr lang="en-US"/>
          </a:p>
        </p:txBody>
      </p:sp>
    </p:spTree>
    <p:extLst>
      <p:ext uri="{BB962C8B-B14F-4D97-AF65-F5344CB8AC3E}">
        <p14:creationId xmlns:p14="http://schemas.microsoft.com/office/powerpoint/2010/main" val="299370205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ltLang="en-US" smtClean="0"/>
              <a:t>Mixed Strategies</a:t>
            </a:r>
          </a:p>
        </p:txBody>
      </p:sp>
      <p:sp>
        <p:nvSpPr>
          <p:cNvPr id="44035" name="Rectangle 3"/>
          <p:cNvSpPr>
            <a:spLocks noGrp="1" noChangeArrowheads="1"/>
          </p:cNvSpPr>
          <p:nvPr>
            <p:ph idx="1"/>
          </p:nvPr>
        </p:nvSpPr>
        <p:spPr/>
        <p:txBody>
          <a:bodyPr/>
          <a:lstStyle/>
          <a:p>
            <a:r>
              <a:rPr lang="en-US" altLang="en-US" smtClean="0"/>
              <a:t>Suppose that player </a:t>
            </a:r>
            <a:r>
              <a:rPr lang="en-US" altLang="en-US" i="1" smtClean="0"/>
              <a:t>i</a:t>
            </a:r>
            <a:r>
              <a:rPr lang="en-US" altLang="en-US" smtClean="0"/>
              <a:t> has a set of </a:t>
            </a:r>
            <a:r>
              <a:rPr lang="en-US" altLang="en-US" i="1" smtClean="0"/>
              <a:t>M</a:t>
            </a:r>
            <a:r>
              <a:rPr lang="en-US" altLang="en-US" smtClean="0"/>
              <a:t> possible actions, </a:t>
            </a:r>
            <a:r>
              <a:rPr lang="en-US" altLang="en-US" i="1" smtClean="0">
                <a:solidFill>
                  <a:srgbClr val="FF0000"/>
                </a:solidFill>
              </a:rPr>
              <a:t>A</a:t>
            </a:r>
            <a:r>
              <a:rPr lang="en-US" altLang="en-US" i="1" baseline="-25000" smtClean="0">
                <a:solidFill>
                  <a:srgbClr val="FF0000"/>
                </a:solidFill>
              </a:rPr>
              <a:t>i</a:t>
            </a:r>
            <a:r>
              <a:rPr lang="en-US" altLang="en-US" i="1" smtClean="0">
                <a:solidFill>
                  <a:srgbClr val="FF0000"/>
                </a:solidFill>
              </a:rPr>
              <a:t> = </a:t>
            </a:r>
            <a:r>
              <a:rPr lang="en-US" altLang="en-US" smtClean="0">
                <a:solidFill>
                  <a:srgbClr val="FF0000"/>
                </a:solidFill>
              </a:rPr>
              <a:t>{</a:t>
            </a:r>
            <a:r>
              <a:rPr lang="en-US" altLang="en-US" i="1" smtClean="0">
                <a:solidFill>
                  <a:srgbClr val="FF0000"/>
                </a:solidFill>
              </a:rPr>
              <a:t>a</a:t>
            </a:r>
            <a:r>
              <a:rPr lang="en-US" altLang="en-US" baseline="30000" smtClean="0">
                <a:solidFill>
                  <a:srgbClr val="FF0000"/>
                </a:solidFill>
              </a:rPr>
              <a:t>1</a:t>
            </a:r>
            <a:r>
              <a:rPr lang="en-US" altLang="en-US" i="1" baseline="-25000" smtClean="0">
                <a:solidFill>
                  <a:srgbClr val="FF0000"/>
                </a:solidFill>
              </a:rPr>
              <a:t>i</a:t>
            </a:r>
            <a:r>
              <a:rPr lang="en-US" altLang="en-US" smtClean="0">
                <a:solidFill>
                  <a:srgbClr val="FF0000"/>
                </a:solidFill>
              </a:rPr>
              <a:t>,</a:t>
            </a:r>
            <a:r>
              <a:rPr lang="en-US" altLang="en-US" i="1" smtClean="0">
                <a:solidFill>
                  <a:srgbClr val="FF0000"/>
                </a:solidFill>
              </a:rPr>
              <a:t>…a</a:t>
            </a:r>
            <a:r>
              <a:rPr lang="en-US" altLang="en-US" i="1" baseline="30000" smtClean="0">
                <a:solidFill>
                  <a:srgbClr val="FF0000"/>
                </a:solidFill>
              </a:rPr>
              <a:t>m</a:t>
            </a:r>
            <a:r>
              <a:rPr lang="en-US" altLang="en-US" i="1" baseline="-25000" smtClean="0">
                <a:solidFill>
                  <a:srgbClr val="FF0000"/>
                </a:solidFill>
              </a:rPr>
              <a:t>i</a:t>
            </a:r>
            <a:r>
              <a:rPr lang="en-US" altLang="en-US" smtClean="0">
                <a:solidFill>
                  <a:srgbClr val="FF0000"/>
                </a:solidFill>
              </a:rPr>
              <a:t>,…,</a:t>
            </a:r>
            <a:r>
              <a:rPr lang="en-US" altLang="en-US" i="1" smtClean="0">
                <a:solidFill>
                  <a:srgbClr val="FF0000"/>
                </a:solidFill>
              </a:rPr>
              <a:t>a</a:t>
            </a:r>
            <a:r>
              <a:rPr lang="en-US" altLang="en-US" i="1" baseline="30000" smtClean="0">
                <a:solidFill>
                  <a:srgbClr val="FF0000"/>
                </a:solidFill>
              </a:rPr>
              <a:t>M</a:t>
            </a:r>
            <a:r>
              <a:rPr lang="en-US" altLang="en-US" i="1" baseline="-25000" smtClean="0">
                <a:solidFill>
                  <a:srgbClr val="FF0000"/>
                </a:solidFill>
              </a:rPr>
              <a:t>i</a:t>
            </a:r>
            <a:r>
              <a:rPr lang="en-US" altLang="en-US" smtClean="0">
                <a:solidFill>
                  <a:srgbClr val="FF0000"/>
                </a:solidFill>
              </a:rPr>
              <a:t>}</a:t>
            </a:r>
          </a:p>
          <a:p>
            <a:pPr lvl="1"/>
            <a:r>
              <a:rPr lang="en-US" altLang="en-US" smtClean="0"/>
              <a:t>A mixed strategy is a probability distribution over the </a:t>
            </a:r>
            <a:r>
              <a:rPr lang="en-US" altLang="en-US" i="1" smtClean="0"/>
              <a:t>M</a:t>
            </a:r>
            <a:r>
              <a:rPr lang="en-US" altLang="en-US" smtClean="0"/>
              <a:t> actions, </a:t>
            </a:r>
          </a:p>
          <a:p>
            <a:pPr lvl="1">
              <a:buFont typeface="Arial" charset="0"/>
              <a:buNone/>
            </a:pPr>
            <a:r>
              <a:rPr lang="en-US" altLang="en-US" i="1" smtClean="0">
                <a:solidFill>
                  <a:srgbClr val="FF0000"/>
                </a:solidFill>
              </a:rPr>
              <a:t>s</a:t>
            </a:r>
            <a:r>
              <a:rPr lang="en-US" altLang="en-US" i="1" baseline="-25000" smtClean="0">
                <a:solidFill>
                  <a:srgbClr val="FF0000"/>
                </a:solidFill>
              </a:rPr>
              <a:t>i</a:t>
            </a:r>
            <a:r>
              <a:rPr lang="en-US" altLang="en-US" smtClean="0">
                <a:solidFill>
                  <a:srgbClr val="FF0000"/>
                </a:solidFill>
              </a:rPr>
              <a:t> = (</a:t>
            </a:r>
            <a:r>
              <a:rPr lang="en-US" altLang="en-US" smtClean="0">
                <a:solidFill>
                  <a:srgbClr val="FF0000"/>
                </a:solidFill>
                <a:sym typeface="Symbol" pitchFamily="18" charset="2"/>
              </a:rPr>
              <a:t></a:t>
            </a:r>
            <a:r>
              <a:rPr lang="en-US" altLang="en-US" baseline="30000" smtClean="0">
                <a:solidFill>
                  <a:srgbClr val="FF0000"/>
                </a:solidFill>
                <a:sym typeface="Symbol" pitchFamily="18" charset="2"/>
              </a:rPr>
              <a:t>1</a:t>
            </a:r>
            <a:r>
              <a:rPr lang="en-US" altLang="en-US" i="1" baseline="-25000" smtClean="0">
                <a:solidFill>
                  <a:srgbClr val="FF0000"/>
                </a:solidFill>
                <a:sym typeface="Symbol" pitchFamily="18" charset="2"/>
              </a:rPr>
              <a:t>i</a:t>
            </a:r>
            <a:r>
              <a:rPr lang="en-US" altLang="en-US" smtClean="0">
                <a:solidFill>
                  <a:srgbClr val="FF0000"/>
                </a:solidFill>
                <a:sym typeface="Symbol" pitchFamily="18" charset="2"/>
              </a:rPr>
              <a:t>,…,</a:t>
            </a:r>
            <a:r>
              <a:rPr lang="en-US" altLang="en-US" i="1" baseline="30000" smtClean="0">
                <a:solidFill>
                  <a:srgbClr val="FF0000"/>
                </a:solidFill>
                <a:sym typeface="Symbol" pitchFamily="18" charset="2"/>
              </a:rPr>
              <a:t>m</a:t>
            </a:r>
            <a:r>
              <a:rPr lang="en-US" altLang="en-US" i="1" baseline="-25000" smtClean="0">
                <a:solidFill>
                  <a:srgbClr val="FF0000"/>
                </a:solidFill>
                <a:sym typeface="Symbol" pitchFamily="18" charset="2"/>
              </a:rPr>
              <a:t>i</a:t>
            </a:r>
            <a:r>
              <a:rPr lang="en-US" altLang="en-US" smtClean="0">
                <a:solidFill>
                  <a:srgbClr val="FF0000"/>
                </a:solidFill>
                <a:sym typeface="Symbol" pitchFamily="18" charset="2"/>
              </a:rPr>
              <a:t>,…,</a:t>
            </a:r>
            <a:r>
              <a:rPr lang="en-US" altLang="en-US" i="1" baseline="30000" smtClean="0">
                <a:solidFill>
                  <a:srgbClr val="FF0000"/>
                </a:solidFill>
                <a:sym typeface="Symbol" pitchFamily="18" charset="2"/>
              </a:rPr>
              <a:t>M</a:t>
            </a:r>
            <a:r>
              <a:rPr lang="en-US" altLang="en-US" i="1" baseline="-25000" smtClean="0">
                <a:solidFill>
                  <a:srgbClr val="FF0000"/>
                </a:solidFill>
                <a:sym typeface="Symbol" pitchFamily="18" charset="2"/>
              </a:rPr>
              <a:t>i</a:t>
            </a:r>
            <a:r>
              <a:rPr lang="en-US" altLang="en-US" smtClean="0">
                <a:solidFill>
                  <a:srgbClr val="FF0000"/>
                </a:solidFill>
                <a:sym typeface="Symbol" pitchFamily="18" charset="2"/>
              </a:rPr>
              <a:t>)</a:t>
            </a:r>
          </a:p>
          <a:p>
            <a:pPr lvl="1"/>
            <a:r>
              <a:rPr lang="en-US" altLang="en-US" smtClean="0">
                <a:sym typeface="Symbol" pitchFamily="18" charset="2"/>
              </a:rPr>
              <a:t></a:t>
            </a:r>
            <a:r>
              <a:rPr lang="en-US" altLang="en-US" i="1" baseline="30000" smtClean="0">
                <a:sym typeface="Symbol" pitchFamily="18" charset="2"/>
              </a:rPr>
              <a:t>m</a:t>
            </a:r>
            <a:r>
              <a:rPr lang="en-US" altLang="en-US" i="1" baseline="-25000" smtClean="0">
                <a:sym typeface="Symbol" pitchFamily="18" charset="2"/>
              </a:rPr>
              <a:t>i</a:t>
            </a:r>
            <a:r>
              <a:rPr lang="en-US" altLang="en-US" smtClean="0">
                <a:sym typeface="Symbol" pitchFamily="18" charset="2"/>
              </a:rPr>
              <a:t> </a:t>
            </a:r>
            <a:r>
              <a:rPr lang="en-US" altLang="en-US" smtClean="0"/>
              <a:t>indicates the probability of player i playing action </a:t>
            </a:r>
            <a:r>
              <a:rPr lang="en-US" altLang="en-US" i="1" smtClean="0">
                <a:solidFill>
                  <a:srgbClr val="FF0000"/>
                </a:solidFill>
              </a:rPr>
              <a:t>a</a:t>
            </a:r>
            <a:r>
              <a:rPr lang="en-US" altLang="en-US" i="1" baseline="30000" smtClean="0">
                <a:solidFill>
                  <a:srgbClr val="FF0000"/>
                </a:solidFill>
              </a:rPr>
              <a:t>m</a:t>
            </a:r>
            <a:r>
              <a:rPr lang="en-US" altLang="en-US" i="1" baseline="-25000" smtClean="0">
                <a:solidFill>
                  <a:srgbClr val="FF0000"/>
                </a:solidFill>
              </a:rPr>
              <a:t>i</a:t>
            </a:r>
            <a:endParaRPr lang="en-US" altLang="en-US" smtClean="0">
              <a:sym typeface="Symbol" pitchFamily="18" charset="2"/>
            </a:endParaRPr>
          </a:p>
          <a:p>
            <a:pPr lvl="2"/>
            <a:r>
              <a:rPr lang="en-US" altLang="en-US" smtClean="0">
                <a:sym typeface="Symbol" pitchFamily="18" charset="2"/>
              </a:rPr>
              <a:t>0  </a:t>
            </a:r>
            <a:r>
              <a:rPr lang="en-US" altLang="en-US" i="1" baseline="30000" smtClean="0">
                <a:sym typeface="Symbol" pitchFamily="18" charset="2"/>
              </a:rPr>
              <a:t>m</a:t>
            </a:r>
            <a:r>
              <a:rPr lang="en-US" altLang="en-US" i="1" baseline="-25000" smtClean="0">
                <a:sym typeface="Symbol" pitchFamily="18" charset="2"/>
              </a:rPr>
              <a:t>i</a:t>
            </a:r>
            <a:r>
              <a:rPr lang="en-US" altLang="en-US" smtClean="0">
                <a:sym typeface="Symbol" pitchFamily="18" charset="2"/>
              </a:rPr>
              <a:t>  1</a:t>
            </a:r>
          </a:p>
          <a:p>
            <a:pPr lvl="2"/>
            <a:r>
              <a:rPr lang="en-US" altLang="en-US" smtClean="0">
                <a:sym typeface="Symbol" pitchFamily="18" charset="2"/>
              </a:rPr>
              <a:t></a:t>
            </a:r>
            <a:r>
              <a:rPr lang="en-US" altLang="en-US" baseline="30000" smtClean="0">
                <a:sym typeface="Symbol" pitchFamily="18" charset="2"/>
              </a:rPr>
              <a:t>1</a:t>
            </a:r>
            <a:r>
              <a:rPr lang="en-US" altLang="en-US" i="1" baseline="-25000" smtClean="0">
                <a:sym typeface="Symbol" pitchFamily="18" charset="2"/>
              </a:rPr>
              <a:t>i</a:t>
            </a:r>
            <a:r>
              <a:rPr lang="en-US" altLang="en-US" smtClean="0">
                <a:sym typeface="Symbol" pitchFamily="18" charset="2"/>
              </a:rPr>
              <a:t>+…+</a:t>
            </a:r>
            <a:r>
              <a:rPr lang="en-US" altLang="en-US" i="1" baseline="30000" smtClean="0">
                <a:sym typeface="Symbol" pitchFamily="18" charset="2"/>
              </a:rPr>
              <a:t>m</a:t>
            </a:r>
            <a:r>
              <a:rPr lang="en-US" altLang="en-US" i="1" baseline="-25000" smtClean="0">
                <a:sym typeface="Symbol" pitchFamily="18" charset="2"/>
              </a:rPr>
              <a:t>i</a:t>
            </a:r>
            <a:r>
              <a:rPr lang="en-US" altLang="en-US" smtClean="0">
                <a:sym typeface="Symbol" pitchFamily="18" charset="2"/>
              </a:rPr>
              <a:t>+…+</a:t>
            </a:r>
            <a:r>
              <a:rPr lang="en-US" altLang="en-US" i="1" baseline="30000" smtClean="0">
                <a:sym typeface="Symbol" pitchFamily="18" charset="2"/>
              </a:rPr>
              <a:t>M</a:t>
            </a:r>
            <a:r>
              <a:rPr lang="en-US" altLang="en-US" i="1" baseline="-25000" smtClean="0">
                <a:sym typeface="Symbol" pitchFamily="18" charset="2"/>
              </a:rPr>
              <a:t>i</a:t>
            </a:r>
            <a:r>
              <a:rPr lang="en-US" altLang="en-US" smtClean="0">
                <a:sym typeface="Symbol" pitchFamily="18" charset="2"/>
              </a:rPr>
              <a:t> = 1</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2DF6284-6D73-4758-A9BF-568392DCB3A9}" type="slidenum">
              <a:rPr lang="en-US" smtClean="0"/>
              <a:pPr>
                <a:defRPr/>
              </a:pPr>
              <a:t>23</a:t>
            </a:fld>
            <a:endParaRPr lang="en-US"/>
          </a:p>
        </p:txBody>
      </p:sp>
    </p:spTree>
    <p:extLst>
      <p:ext uri="{BB962C8B-B14F-4D97-AF65-F5344CB8AC3E}">
        <p14:creationId xmlns:p14="http://schemas.microsoft.com/office/powerpoint/2010/main" val="12659476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ltLang="en-US" smtClean="0"/>
              <a:t>Mixed Strategies</a:t>
            </a:r>
          </a:p>
        </p:txBody>
      </p:sp>
      <p:sp>
        <p:nvSpPr>
          <p:cNvPr id="45059" name="Rectangle 3"/>
          <p:cNvSpPr>
            <a:spLocks noGrp="1" noChangeArrowheads="1"/>
          </p:cNvSpPr>
          <p:nvPr>
            <p:ph idx="1"/>
          </p:nvPr>
        </p:nvSpPr>
        <p:spPr/>
        <p:txBody>
          <a:bodyPr/>
          <a:lstStyle/>
          <a:p>
            <a:r>
              <a:rPr lang="en-US" altLang="en-US" smtClean="0"/>
              <a:t>Battle of the Sexes</a:t>
            </a:r>
          </a:p>
          <a:p>
            <a:pPr lvl="1"/>
            <a:r>
              <a:rPr lang="en-US" altLang="en-US" smtClean="0"/>
              <a:t>A</a:t>
            </a:r>
            <a:r>
              <a:rPr lang="en-US" altLang="en-US" baseline="-25000" smtClean="0"/>
              <a:t>1</a:t>
            </a:r>
            <a:r>
              <a:rPr lang="en-US" altLang="en-US" smtClean="0"/>
              <a:t>=A</a:t>
            </a:r>
            <a:r>
              <a:rPr lang="en-US" altLang="en-US" baseline="-25000" smtClean="0"/>
              <a:t>2</a:t>
            </a:r>
            <a:r>
              <a:rPr lang="en-US" altLang="en-US" smtClean="0"/>
              <a:t>={ballet, boxing}</a:t>
            </a:r>
          </a:p>
          <a:p>
            <a:pPr lvl="1"/>
            <a:r>
              <a:rPr lang="en-US" altLang="en-US" smtClean="0"/>
              <a:t>A mixed strategy (</a:t>
            </a:r>
            <a:r>
              <a:rPr lang="el-GR" altLang="en-US" smtClean="0">
                <a:cs typeface="Arial" charset="0"/>
              </a:rPr>
              <a:t>σ</a:t>
            </a:r>
            <a:r>
              <a:rPr lang="en-US" altLang="en-US" smtClean="0">
                <a:cs typeface="Arial" charset="0"/>
              </a:rPr>
              <a:t>, 1-</a:t>
            </a:r>
            <a:r>
              <a:rPr lang="el-GR" altLang="en-US" smtClean="0">
                <a:cs typeface="Arial" charset="0"/>
              </a:rPr>
              <a:t>σ</a:t>
            </a:r>
            <a:r>
              <a:rPr lang="en-US" altLang="en-US" smtClean="0"/>
              <a:t>) </a:t>
            </a:r>
          </a:p>
          <a:p>
            <a:pPr lvl="2"/>
            <a:r>
              <a:rPr lang="el-GR" altLang="en-US" smtClean="0">
                <a:cs typeface="Arial" charset="0"/>
              </a:rPr>
              <a:t>σ</a:t>
            </a:r>
            <a:r>
              <a:rPr lang="en-US" altLang="en-US" smtClean="0">
                <a:cs typeface="Arial" charset="0"/>
              </a:rPr>
              <a:t> = probability that the player chooses ballet</a:t>
            </a:r>
            <a:endParaRPr lang="en-US" altLang="en-US" smtClean="0"/>
          </a:p>
          <a:p>
            <a:pPr lvl="2"/>
            <a:r>
              <a:rPr lang="en-US" altLang="en-US" smtClean="0"/>
              <a:t>(1/3, 2/3): Player plays ballet with probability 1/3 and boxing with probability 2/3</a:t>
            </a:r>
          </a:p>
          <a:p>
            <a:pPr lvl="2"/>
            <a:r>
              <a:rPr lang="en-US" altLang="en-US" smtClean="0"/>
              <a:t>(1/2, 1/2): Player is equally likely to play ballet or boxing</a:t>
            </a:r>
          </a:p>
          <a:p>
            <a:pPr lvl="2"/>
            <a:r>
              <a:rPr lang="en-US" altLang="en-US" smtClean="0"/>
              <a:t>(1, 0): Player chooses ballet with certainty</a:t>
            </a:r>
          </a:p>
          <a:p>
            <a:pPr lvl="2"/>
            <a:r>
              <a:rPr lang="en-US" altLang="en-US" smtClean="0"/>
              <a:t>(0, 1): Player chooses boxing with certainty</a:t>
            </a:r>
          </a:p>
        </p:txBody>
      </p:sp>
      <p:sp>
        <p:nvSpPr>
          <p:cNvPr id="7" name="Footer Placeholder 6"/>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6" name="Slide Number Placeholder 5"/>
          <p:cNvSpPr>
            <a:spLocks noGrp="1"/>
          </p:cNvSpPr>
          <p:nvPr>
            <p:ph type="sldNum" sz="quarter" idx="11"/>
          </p:nvPr>
        </p:nvSpPr>
        <p:spPr/>
        <p:txBody>
          <a:bodyPr/>
          <a:lstStyle/>
          <a:p>
            <a:pPr>
              <a:defRPr/>
            </a:pPr>
            <a:fld id="{185689B1-E400-411D-834C-AD8736AF5BFC}" type="slidenum">
              <a:rPr lang="en-US" smtClean="0"/>
              <a:pPr>
                <a:defRPr/>
              </a:pPr>
              <a:t>24</a:t>
            </a:fld>
            <a:endParaRPr lang="en-US"/>
          </a:p>
        </p:txBody>
      </p:sp>
    </p:spTree>
    <p:extLst>
      <p:ext uri="{BB962C8B-B14F-4D97-AF65-F5344CB8AC3E}">
        <p14:creationId xmlns:p14="http://schemas.microsoft.com/office/powerpoint/2010/main" val="339843490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altLang="en-US" smtClean="0"/>
              <a:t>Mixed Strategies</a:t>
            </a:r>
          </a:p>
        </p:txBody>
      </p:sp>
      <p:sp>
        <p:nvSpPr>
          <p:cNvPr id="46083" name="Rectangle 3"/>
          <p:cNvSpPr>
            <a:spLocks noGrp="1" noChangeArrowheads="1"/>
          </p:cNvSpPr>
          <p:nvPr>
            <p:ph idx="1"/>
          </p:nvPr>
        </p:nvSpPr>
        <p:spPr/>
        <p:txBody>
          <a:bodyPr/>
          <a:lstStyle/>
          <a:p>
            <a:r>
              <a:rPr lang="en-US" altLang="en-US" smtClean="0"/>
              <a:t>A pure strategy </a:t>
            </a:r>
          </a:p>
          <a:p>
            <a:pPr lvl="1"/>
            <a:r>
              <a:rPr lang="en-US" altLang="en-US" smtClean="0"/>
              <a:t>Is a special case of a mixed strategy</a:t>
            </a:r>
          </a:p>
          <a:p>
            <a:pPr lvl="1"/>
            <a:r>
              <a:rPr lang="en-US" altLang="en-US" smtClean="0">
                <a:sym typeface="Symbol" pitchFamily="18" charset="2"/>
              </a:rPr>
              <a:t>Only one action is played with positive probability</a:t>
            </a:r>
          </a:p>
          <a:p>
            <a:r>
              <a:rPr lang="en-US" altLang="en-US" smtClean="0">
                <a:sym typeface="Symbol" pitchFamily="18" charset="2"/>
              </a:rPr>
              <a:t>Strictly mixed strategies</a:t>
            </a:r>
          </a:p>
          <a:p>
            <a:pPr lvl="1"/>
            <a:r>
              <a:rPr lang="en-US" altLang="en-US" smtClean="0">
                <a:sym typeface="Symbol" pitchFamily="18" charset="2"/>
              </a:rPr>
              <a:t>Mixed strategies that involve two or more actions being played with positive probability  </a:t>
            </a:r>
            <a:endParaRPr lang="en-US" altLang="en-US" u="sng" smtClean="0">
              <a:sym typeface="Symbol" pitchFamily="18" charset="2"/>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8F7B8DA1-2BB2-403E-99EB-471FCA980BB9}" type="slidenum">
              <a:rPr lang="en-US" smtClean="0"/>
              <a:pPr>
                <a:defRPr/>
              </a:pPr>
              <a:t>25</a:t>
            </a:fld>
            <a:endParaRPr lang="en-US"/>
          </a:p>
        </p:txBody>
      </p:sp>
    </p:spTree>
    <p:extLst>
      <p:ext uri="{BB962C8B-B14F-4D97-AF65-F5344CB8AC3E}">
        <p14:creationId xmlns:p14="http://schemas.microsoft.com/office/powerpoint/2010/main" val="372251593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bwMode="auto">
          <a:xfrm>
            <a:off x="1764344" y="0"/>
            <a:ext cx="7379656"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8.2   Expected Payoffs in the </a:t>
            </a:r>
            <a:br>
              <a:rPr lang="en-US" altLang="en-US" dirty="0" smtClean="0"/>
            </a:br>
            <a:r>
              <a:rPr lang="en-US" altLang="en-US" dirty="0"/>
              <a:t>	</a:t>
            </a:r>
            <a:r>
              <a:rPr lang="en-US" altLang="en-US" dirty="0" smtClean="0">
                <a:solidFill>
                  <a:srgbClr val="002D56"/>
                </a:solidFill>
              </a:rPr>
              <a:t>Battle of the Sexes</a:t>
            </a:r>
          </a:p>
        </p:txBody>
      </p:sp>
      <p:sp>
        <p:nvSpPr>
          <p:cNvPr id="7" name="Footer Placeholder 6"/>
          <p:cNvSpPr>
            <a:spLocks noGrp="1"/>
          </p:cNvSpPr>
          <p:nvPr>
            <p:ph type="ftr" sz="quarter" idx="10"/>
          </p:nvPr>
        </p:nvSpPr>
        <p:spPr>
          <a:prstGeom prst="rect">
            <a:avLst/>
          </a:prstGeom>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6" name="Slide Number Placeholder 5"/>
          <p:cNvSpPr>
            <a:spLocks noGrp="1"/>
          </p:cNvSpPr>
          <p:nvPr>
            <p:ph type="sldNum" sz="quarter" idx="11"/>
          </p:nvPr>
        </p:nvSpPr>
        <p:spPr>
          <a:prstGeom prst="rect">
            <a:avLst/>
          </a:prstGeom>
        </p:spPr>
        <p:txBody>
          <a:bodyPr/>
          <a:lstStyle/>
          <a:p>
            <a:pPr>
              <a:defRPr/>
            </a:pPr>
            <a:fld id="{E8A93BB2-05D5-4069-ABD3-7069A8FE8746}" type="slidenum">
              <a:rPr lang="en-US" smtClean="0"/>
              <a:pPr>
                <a:defRPr/>
              </a:pPr>
              <a:t>26</a:t>
            </a:fld>
            <a:endParaRPr lang="en-US"/>
          </a:p>
        </p:txBody>
      </p:sp>
      <p:sp>
        <p:nvSpPr>
          <p:cNvPr id="1028" name="Rectangle 3"/>
          <p:cNvSpPr>
            <a:spLocks noGrp="1" noChangeArrowheads="1"/>
          </p:cNvSpPr>
          <p:nvPr>
            <p:ph type="body" sz="quarter" idx="12"/>
          </p:nvPr>
        </p:nvSpPr>
        <p:spPr>
          <a:xfrm>
            <a:off x="381000" y="1066800"/>
            <a:ext cx="8382000" cy="5334000"/>
          </a:xfrm>
          <a:prstGeom prst="rect">
            <a:avLst/>
          </a:prstGeom>
        </p:spPr>
        <p:txBody>
          <a:bodyPr/>
          <a:lstStyle/>
          <a:p>
            <a:r>
              <a:rPr lang="en-US" altLang="en-US" dirty="0" smtClean="0"/>
              <a:t>Suppose the wife chooses mixed strategy (1/9,8/9) and the husband chooses (4/5,1/5)</a:t>
            </a:r>
          </a:p>
          <a:p>
            <a:r>
              <a:rPr lang="en-US" altLang="en-US" dirty="0" smtClean="0"/>
              <a:t>The wife’s expected payoff is</a:t>
            </a:r>
          </a:p>
        </p:txBody>
      </p:sp>
      <p:graphicFrame>
        <p:nvGraphicFramePr>
          <p:cNvPr id="37892" name="Object 2"/>
          <p:cNvGraphicFramePr>
            <a:graphicFrameLocks noChangeAspect="1"/>
          </p:cNvGraphicFramePr>
          <p:nvPr>
            <p:extLst>
              <p:ext uri="{D42A27DB-BD31-4B8C-83A1-F6EECF244321}">
                <p14:modId xmlns:p14="http://schemas.microsoft.com/office/powerpoint/2010/main" val="1861255582"/>
              </p:ext>
            </p:extLst>
          </p:nvPr>
        </p:nvGraphicFramePr>
        <p:xfrm>
          <a:off x="236538" y="3192463"/>
          <a:ext cx="8670925" cy="2535237"/>
        </p:xfrm>
        <a:graphic>
          <a:graphicData uri="http://schemas.openxmlformats.org/presentationml/2006/ole">
            <mc:AlternateContent xmlns:mc="http://schemas.openxmlformats.org/markup-compatibility/2006">
              <mc:Choice xmlns:v="urn:schemas-microsoft-com:vml" Requires="v">
                <p:oleObj spid="_x0000_s166924" name="Equation" r:id="rId3" imgW="4647960" imgH="1358640" progId="Equation.DSMT4">
                  <p:embed/>
                </p:oleObj>
              </mc:Choice>
              <mc:Fallback>
                <p:oleObj name="Equation" r:id="rId3" imgW="4647960" imgH="1358640" progId="Equation.DSMT4">
                  <p:embed/>
                  <p:pic>
                    <p:nvPicPr>
                      <p:cNvPr id="0" name=""/>
                      <p:cNvPicPr>
                        <a:picLocks noChangeAspect="1" noChangeArrowheads="1"/>
                      </p:cNvPicPr>
                      <p:nvPr/>
                    </p:nvPicPr>
                    <p:blipFill>
                      <a:blip r:embed="rId4"/>
                      <a:srcRect/>
                      <a:stretch>
                        <a:fillRect/>
                      </a:stretch>
                    </p:blipFill>
                    <p:spPr bwMode="auto">
                      <a:xfrm>
                        <a:off x="236538" y="3192463"/>
                        <a:ext cx="8670925" cy="2535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0529989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7892"/>
                                        </p:tgtEl>
                                        <p:attrNameLst>
                                          <p:attrName>style.visibility</p:attrName>
                                        </p:attrNameLst>
                                      </p:cBhvr>
                                      <p:to>
                                        <p:strVal val="visible"/>
                                      </p:to>
                                    </p:set>
                                    <p:animEffect transition="in" filter="wipe(left)">
                                      <p:cBhvr>
                                        <p:cTn id="7" dur="500"/>
                                        <p:tgtEl>
                                          <p:spTgt spid="378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itle 1"/>
          <p:cNvSpPr>
            <a:spLocks noGrp="1"/>
          </p:cNvSpPr>
          <p:nvPr>
            <p:ph type="title"/>
          </p:nvPr>
        </p:nvSpPr>
        <p:spPr bwMode="auto">
          <a:xfrm>
            <a:off x="1764344" y="0"/>
            <a:ext cx="7379656"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8.2   	Expected Payoffs in the </a:t>
            </a:r>
            <a:br>
              <a:rPr lang="en-US" altLang="en-US" dirty="0" smtClean="0"/>
            </a:br>
            <a:r>
              <a:rPr lang="en-US" altLang="en-US" dirty="0"/>
              <a:t>	</a:t>
            </a:r>
            <a:r>
              <a:rPr lang="en-US" altLang="en-US" dirty="0" smtClean="0">
                <a:solidFill>
                  <a:srgbClr val="002D56"/>
                </a:solidFill>
              </a:rPr>
              <a:t>Battle of the Sexes</a:t>
            </a:r>
          </a:p>
        </p:txBody>
      </p:sp>
      <p:sp>
        <p:nvSpPr>
          <p:cNvPr id="2054"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97F9D3E8-F937-45C3-B38C-C6C880F986FB}" type="slidenum">
              <a:rPr lang="en-US" smtClean="0"/>
              <a:pPr>
                <a:defRPr/>
              </a:pPr>
              <a:t>27</a:t>
            </a:fld>
            <a:endParaRPr lang="en-US" dirty="0"/>
          </a:p>
        </p:txBody>
      </p:sp>
      <p:sp>
        <p:nvSpPr>
          <p:cNvPr id="2052" name="Content Placeholder 2"/>
          <p:cNvSpPr>
            <a:spLocks noGrp="1"/>
          </p:cNvSpPr>
          <p:nvPr>
            <p:ph type="body" sz="quarter" idx="12"/>
          </p:nvPr>
        </p:nvSpPr>
        <p:spPr>
          <a:xfrm>
            <a:off x="381000" y="1143000"/>
            <a:ext cx="8610600" cy="5257800"/>
          </a:xfrm>
          <a:prstGeom prst="rect">
            <a:avLst/>
          </a:prstGeom>
        </p:spPr>
        <p:txBody>
          <a:bodyPr/>
          <a:lstStyle/>
          <a:p>
            <a:pPr>
              <a:lnSpc>
                <a:spcPct val="90000"/>
              </a:lnSpc>
            </a:pPr>
            <a:r>
              <a:rPr lang="en-US" altLang="en-US" dirty="0" smtClean="0"/>
              <a:t>Suppose the wife chooses mixed strategy (</a:t>
            </a:r>
            <a:r>
              <a:rPr lang="en-US" altLang="en-US" i="1" dirty="0" smtClean="0"/>
              <a:t>w</a:t>
            </a:r>
            <a:r>
              <a:rPr lang="en-US" altLang="en-US" dirty="0" smtClean="0"/>
              <a:t>,1-</a:t>
            </a:r>
            <a:r>
              <a:rPr lang="en-US" altLang="en-US" i="1" dirty="0" smtClean="0"/>
              <a:t>w</a:t>
            </a:r>
            <a:r>
              <a:rPr lang="en-US" altLang="en-US" dirty="0" smtClean="0"/>
              <a:t>) and the husband chooses (</a:t>
            </a:r>
            <a:r>
              <a:rPr lang="en-US" altLang="en-US" i="1" dirty="0" smtClean="0"/>
              <a:t>h</a:t>
            </a:r>
            <a:r>
              <a:rPr lang="en-US" altLang="en-US" dirty="0" smtClean="0"/>
              <a:t>,1-</a:t>
            </a:r>
            <a:r>
              <a:rPr lang="en-US" altLang="en-US" i="1" dirty="0" smtClean="0"/>
              <a:t>h</a:t>
            </a:r>
            <a:r>
              <a:rPr lang="en-US" altLang="en-US" dirty="0" smtClean="0"/>
              <a:t>)</a:t>
            </a:r>
          </a:p>
          <a:p>
            <a:pPr lvl="1">
              <a:lnSpc>
                <a:spcPct val="90000"/>
              </a:lnSpc>
            </a:pPr>
            <a:r>
              <a:rPr lang="en-US" altLang="en-US" dirty="0" smtClean="0"/>
              <a:t>The wife plays ballet with probability </a:t>
            </a:r>
            <a:r>
              <a:rPr lang="en-US" altLang="en-US" i="1" dirty="0" smtClean="0"/>
              <a:t>w</a:t>
            </a:r>
            <a:r>
              <a:rPr lang="en-US" altLang="en-US" dirty="0" smtClean="0"/>
              <a:t> and the husband with probability </a:t>
            </a:r>
            <a:r>
              <a:rPr lang="en-US" altLang="en-US" i="1" dirty="0" smtClean="0"/>
              <a:t>h</a:t>
            </a:r>
          </a:p>
          <a:p>
            <a:pPr>
              <a:lnSpc>
                <a:spcPct val="90000"/>
              </a:lnSpc>
            </a:pPr>
            <a:r>
              <a:rPr lang="en-US" altLang="en-US" dirty="0" smtClean="0"/>
              <a:t>Her expected payoff becomes </a:t>
            </a:r>
            <a:r>
              <a:rPr lang="en-US" altLang="en-US" sz="2800" i="1" dirty="0" smtClean="0"/>
              <a:t>U((w, 1-w), (h, 1-h))=</a:t>
            </a:r>
          </a:p>
          <a:p>
            <a:endParaRPr lang="en-US" altLang="en-US" dirty="0" smtClean="0"/>
          </a:p>
        </p:txBody>
      </p:sp>
      <p:graphicFrame>
        <p:nvGraphicFramePr>
          <p:cNvPr id="47106" name="Object 2"/>
          <p:cNvGraphicFramePr>
            <a:graphicFrameLocks noChangeAspect="1"/>
          </p:cNvGraphicFramePr>
          <p:nvPr>
            <p:extLst>
              <p:ext uri="{D42A27DB-BD31-4B8C-83A1-F6EECF244321}">
                <p14:modId xmlns:p14="http://schemas.microsoft.com/office/powerpoint/2010/main" val="3722468565"/>
              </p:ext>
            </p:extLst>
          </p:nvPr>
        </p:nvGraphicFramePr>
        <p:xfrm>
          <a:off x="389731" y="3589338"/>
          <a:ext cx="8364537" cy="2582862"/>
        </p:xfrm>
        <a:graphic>
          <a:graphicData uri="http://schemas.openxmlformats.org/presentationml/2006/ole">
            <mc:AlternateContent xmlns:mc="http://schemas.openxmlformats.org/markup-compatibility/2006">
              <mc:Choice xmlns:v="urn:schemas-microsoft-com:vml" Requires="v">
                <p:oleObj spid="_x0000_s167950" name="Equation" r:id="rId3" imgW="3911400" imgH="1206360" progId="Equation.DSMT4">
                  <p:embed/>
                </p:oleObj>
              </mc:Choice>
              <mc:Fallback>
                <p:oleObj name="Equation" r:id="rId3" imgW="3911400" imgH="1206360" progId="Equation.DSMT4">
                  <p:embed/>
                  <p:pic>
                    <p:nvPicPr>
                      <p:cNvPr id="0" name=""/>
                      <p:cNvPicPr>
                        <a:picLocks noChangeAspect="1" noChangeArrowheads="1"/>
                      </p:cNvPicPr>
                      <p:nvPr/>
                    </p:nvPicPr>
                    <p:blipFill>
                      <a:blip r:embed="rId4"/>
                      <a:srcRect/>
                      <a:stretch>
                        <a:fillRect/>
                      </a:stretch>
                    </p:blipFill>
                    <p:spPr bwMode="auto">
                      <a:xfrm>
                        <a:off x="389731" y="3589338"/>
                        <a:ext cx="8364537" cy="2582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3670039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7106"/>
                                        </p:tgtEl>
                                        <p:attrNameLst>
                                          <p:attrName>style.visibility</p:attrName>
                                        </p:attrNameLst>
                                      </p:cBhvr>
                                      <p:to>
                                        <p:strVal val="visible"/>
                                      </p:to>
                                    </p:set>
                                    <p:animEffect transition="in" filter="wipe(left)">
                                      <p:cBhvr>
                                        <p:cTn id="7" dur="500"/>
                                        <p:tgtEl>
                                          <p:spTgt spid="47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bwMode="auto">
          <a:xfrm>
            <a:off x="1764344" y="0"/>
            <a:ext cx="7379656"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8.3   Mixed-Strategy Nash Equilibrium in the </a:t>
            </a:r>
            <a:br>
              <a:rPr lang="en-US" altLang="en-US" dirty="0" smtClean="0"/>
            </a:br>
            <a:r>
              <a:rPr lang="en-US" altLang="en-US" dirty="0" smtClean="0"/>
              <a:t>	</a:t>
            </a:r>
            <a:r>
              <a:rPr lang="en-US" altLang="en-US" dirty="0" smtClean="0">
                <a:solidFill>
                  <a:srgbClr val="002D56"/>
                </a:solidFill>
              </a:rPr>
              <a:t>Battle of the Sexes</a:t>
            </a:r>
          </a:p>
        </p:txBody>
      </p:sp>
      <p:sp>
        <p:nvSpPr>
          <p:cNvPr id="47109"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AB08AB6D-297D-4ABF-8A9C-6AA3092797CF}" type="slidenum">
              <a:rPr lang="en-US" smtClean="0"/>
              <a:pPr>
                <a:defRPr/>
              </a:pPr>
              <a:t>28</a:t>
            </a:fld>
            <a:endParaRPr lang="en-US" dirty="0"/>
          </a:p>
        </p:txBody>
      </p:sp>
      <p:sp>
        <p:nvSpPr>
          <p:cNvPr id="47107" name="Content Placeholder 2"/>
          <p:cNvSpPr>
            <a:spLocks noGrp="1"/>
          </p:cNvSpPr>
          <p:nvPr>
            <p:ph type="body" sz="quarter" idx="12"/>
          </p:nvPr>
        </p:nvSpPr>
        <p:spPr>
          <a:xfrm>
            <a:off x="381000" y="1066800"/>
            <a:ext cx="8382000" cy="5334000"/>
          </a:xfrm>
          <a:prstGeom prst="rect">
            <a:avLst/>
          </a:prstGeom>
        </p:spPr>
        <p:txBody>
          <a:bodyPr/>
          <a:lstStyle/>
          <a:p>
            <a:r>
              <a:rPr lang="en-US" altLang="en-US" sz="2800" dirty="0" smtClean="0"/>
              <a:t>General mixed strategy: the </a:t>
            </a:r>
            <a:r>
              <a:rPr lang="en-US" altLang="en-US" sz="2800" dirty="0"/>
              <a:t>wife chooses </a:t>
            </a:r>
            <a:r>
              <a:rPr lang="en-US" altLang="en-US" sz="2800" dirty="0" smtClean="0"/>
              <a:t>(</a:t>
            </a:r>
            <a:r>
              <a:rPr lang="en-US" altLang="en-US" sz="2800" dirty="0"/>
              <a:t>w,1-w) and the husband chooses (h,1-h</a:t>
            </a:r>
            <a:r>
              <a:rPr lang="en-US" altLang="en-US" sz="2800" dirty="0" smtClean="0"/>
              <a:t>)</a:t>
            </a:r>
          </a:p>
          <a:p>
            <a:r>
              <a:rPr lang="en-US" altLang="en-US" sz="2800" dirty="0" smtClean="0"/>
              <a:t>Wife’s expected payoff: </a:t>
            </a:r>
          </a:p>
          <a:p>
            <a:pPr marL="457200" lvl="1" indent="0">
              <a:buNone/>
            </a:pPr>
            <a:r>
              <a:rPr lang="en-US" altLang="en-US" dirty="0" smtClean="0"/>
              <a:t>U</a:t>
            </a:r>
            <a:r>
              <a:rPr lang="en-US" altLang="en-US" baseline="-25000" dirty="0" smtClean="0"/>
              <a:t>1</a:t>
            </a:r>
            <a:r>
              <a:rPr lang="en-US" altLang="en-US" dirty="0" smtClean="0"/>
              <a:t>((</a:t>
            </a:r>
            <a:r>
              <a:rPr lang="en-US" altLang="en-US" dirty="0"/>
              <a:t>w, 1-w), (h, 1-h</a:t>
            </a:r>
            <a:r>
              <a:rPr lang="en-US" altLang="en-US" dirty="0" smtClean="0"/>
              <a:t>))= 1 – h – w + 3hw</a:t>
            </a:r>
          </a:p>
          <a:p>
            <a:r>
              <a:rPr lang="en-US" altLang="en-US" sz="2800" dirty="0"/>
              <a:t>The wife’s best response depends on </a:t>
            </a:r>
            <a:r>
              <a:rPr lang="en-US" altLang="en-US" sz="2800" i="1" dirty="0"/>
              <a:t>h</a:t>
            </a:r>
            <a:endParaRPr lang="en-US" altLang="en-US" sz="2800" dirty="0"/>
          </a:p>
          <a:p>
            <a:pPr lvl="1"/>
            <a:r>
              <a:rPr lang="en-US" altLang="en-US" dirty="0"/>
              <a:t>If </a:t>
            </a:r>
            <a:r>
              <a:rPr lang="en-US" altLang="en-US" i="1" dirty="0"/>
              <a:t>h </a:t>
            </a:r>
            <a:r>
              <a:rPr lang="en-US" altLang="en-US" dirty="0"/>
              <a:t>&lt; 1/3, she should set </a:t>
            </a:r>
            <a:r>
              <a:rPr lang="en-US" altLang="en-US" i="1" dirty="0"/>
              <a:t>w</a:t>
            </a:r>
            <a:r>
              <a:rPr lang="en-US" altLang="en-US" dirty="0"/>
              <a:t> = 0</a:t>
            </a:r>
          </a:p>
          <a:p>
            <a:pPr lvl="1"/>
            <a:r>
              <a:rPr lang="en-US" altLang="en-US" dirty="0"/>
              <a:t>If </a:t>
            </a:r>
            <a:r>
              <a:rPr lang="en-US" altLang="en-US" i="1" dirty="0"/>
              <a:t>h</a:t>
            </a:r>
            <a:r>
              <a:rPr lang="en-US" altLang="en-US" dirty="0"/>
              <a:t> &gt; 1/3, she should set </a:t>
            </a:r>
            <a:r>
              <a:rPr lang="en-US" altLang="en-US" i="1" dirty="0"/>
              <a:t>w</a:t>
            </a:r>
            <a:r>
              <a:rPr lang="en-US" altLang="en-US" dirty="0"/>
              <a:t> = 1</a:t>
            </a:r>
          </a:p>
          <a:p>
            <a:pPr lvl="1"/>
            <a:r>
              <a:rPr lang="en-US" altLang="en-US" dirty="0"/>
              <a:t>If </a:t>
            </a:r>
            <a:r>
              <a:rPr lang="en-US" altLang="en-US" i="1" dirty="0"/>
              <a:t>h</a:t>
            </a:r>
            <a:r>
              <a:rPr lang="en-US" altLang="en-US" dirty="0"/>
              <a:t> = 1/3, her expected payoff is the same no matter what value of </a:t>
            </a:r>
            <a:r>
              <a:rPr lang="en-US" altLang="en-US" i="1" dirty="0"/>
              <a:t>w</a:t>
            </a:r>
            <a:r>
              <a:rPr lang="en-US" altLang="en-US" dirty="0"/>
              <a:t> she </a:t>
            </a:r>
            <a:r>
              <a:rPr lang="en-US" altLang="en-US" dirty="0" smtClean="0"/>
              <a:t>chooses</a:t>
            </a:r>
            <a:endParaRPr lang="en-US" altLang="en-US" dirty="0"/>
          </a:p>
          <a:p>
            <a:endParaRPr lang="en-US" altLang="en-US" sz="2800" dirty="0"/>
          </a:p>
        </p:txBody>
      </p:sp>
    </p:spTree>
    <p:extLst>
      <p:ext uri="{BB962C8B-B14F-4D97-AF65-F5344CB8AC3E}">
        <p14:creationId xmlns:p14="http://schemas.microsoft.com/office/powerpoint/2010/main" val="140578457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bwMode="auto">
          <a:xfrm>
            <a:off x="1764344" y="0"/>
            <a:ext cx="7379656"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8.3   Mixed-Strategy Nash Equilibrium in the </a:t>
            </a:r>
            <a:br>
              <a:rPr lang="en-US" altLang="en-US" dirty="0" smtClean="0"/>
            </a:br>
            <a:r>
              <a:rPr lang="en-US" altLang="en-US" dirty="0" smtClean="0"/>
              <a:t>	</a:t>
            </a:r>
            <a:r>
              <a:rPr lang="en-US" altLang="en-US" dirty="0" smtClean="0">
                <a:solidFill>
                  <a:srgbClr val="002D56"/>
                </a:solidFill>
              </a:rPr>
              <a:t>Battle of the Sexes</a:t>
            </a:r>
          </a:p>
        </p:txBody>
      </p:sp>
      <p:sp>
        <p:nvSpPr>
          <p:cNvPr id="47109"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AB08AB6D-297D-4ABF-8A9C-6AA3092797CF}" type="slidenum">
              <a:rPr lang="en-US" smtClean="0"/>
              <a:pPr>
                <a:defRPr/>
              </a:pPr>
              <a:t>29</a:t>
            </a:fld>
            <a:endParaRPr lang="en-US" dirty="0"/>
          </a:p>
        </p:txBody>
      </p:sp>
      <p:sp>
        <p:nvSpPr>
          <p:cNvPr id="47107" name="Content Placeholder 2"/>
          <p:cNvSpPr>
            <a:spLocks noGrp="1"/>
          </p:cNvSpPr>
          <p:nvPr>
            <p:ph type="body" sz="quarter" idx="12"/>
          </p:nvPr>
        </p:nvSpPr>
        <p:spPr>
          <a:xfrm>
            <a:off x="381000" y="1066800"/>
            <a:ext cx="8382000" cy="5334000"/>
          </a:xfrm>
          <a:prstGeom prst="rect">
            <a:avLst/>
          </a:prstGeom>
        </p:spPr>
        <p:txBody>
          <a:bodyPr/>
          <a:lstStyle/>
          <a:p>
            <a:r>
              <a:rPr lang="en-US" altLang="en-US" sz="2800" dirty="0" smtClean="0"/>
              <a:t>Husband’s </a:t>
            </a:r>
            <a:r>
              <a:rPr lang="en-US" altLang="en-US" sz="2800" dirty="0"/>
              <a:t>expected payoff: </a:t>
            </a:r>
          </a:p>
          <a:p>
            <a:pPr marL="457200" lvl="1" indent="0">
              <a:buNone/>
            </a:pPr>
            <a:r>
              <a:rPr lang="en-US" altLang="en-US" dirty="0"/>
              <a:t>U</a:t>
            </a:r>
            <a:r>
              <a:rPr lang="en-US" altLang="en-US" baseline="-25000" dirty="0"/>
              <a:t>2</a:t>
            </a:r>
            <a:r>
              <a:rPr lang="en-US" altLang="en-US" dirty="0"/>
              <a:t>((h, 1-h), (w, 1-w))= 2 – 2h – 2w + 3hw</a:t>
            </a:r>
          </a:p>
          <a:p>
            <a:r>
              <a:rPr lang="en-US" altLang="en-US" sz="2800" dirty="0" smtClean="0"/>
              <a:t>The husband’s expected payoff is maximized </a:t>
            </a:r>
          </a:p>
          <a:p>
            <a:pPr lvl="1"/>
            <a:r>
              <a:rPr lang="en-US" altLang="en-US" dirty="0" smtClean="0"/>
              <a:t>when </a:t>
            </a:r>
            <a:r>
              <a:rPr lang="en-US" altLang="en-US" i="1" dirty="0" smtClean="0"/>
              <a:t>w</a:t>
            </a:r>
            <a:r>
              <a:rPr lang="en-US" altLang="en-US" dirty="0" smtClean="0"/>
              <a:t> &lt; 2/3, he should set </a:t>
            </a:r>
            <a:r>
              <a:rPr lang="en-US" altLang="en-US" i="1" dirty="0" smtClean="0"/>
              <a:t>h</a:t>
            </a:r>
            <a:r>
              <a:rPr lang="en-US" altLang="en-US" dirty="0" smtClean="0"/>
              <a:t> = 0</a:t>
            </a:r>
          </a:p>
          <a:p>
            <a:pPr lvl="1"/>
            <a:r>
              <a:rPr lang="en-US" altLang="en-US" dirty="0" smtClean="0"/>
              <a:t>when </a:t>
            </a:r>
            <a:r>
              <a:rPr lang="en-US" altLang="en-US" i="1" dirty="0" smtClean="0"/>
              <a:t>w</a:t>
            </a:r>
            <a:r>
              <a:rPr lang="en-US" altLang="en-US" dirty="0" smtClean="0"/>
              <a:t> &gt; 2/3, he should set </a:t>
            </a:r>
            <a:r>
              <a:rPr lang="en-US" altLang="en-US" i="1" dirty="0" smtClean="0"/>
              <a:t>h</a:t>
            </a:r>
            <a:r>
              <a:rPr lang="en-US" altLang="en-US" dirty="0" smtClean="0"/>
              <a:t> = 1</a:t>
            </a:r>
          </a:p>
          <a:p>
            <a:pPr lvl="1"/>
            <a:r>
              <a:rPr lang="en-US" altLang="en-US" dirty="0" smtClean="0"/>
              <a:t>when </a:t>
            </a:r>
            <a:r>
              <a:rPr lang="en-US" altLang="en-US" i="1" dirty="0" smtClean="0"/>
              <a:t>w</a:t>
            </a:r>
            <a:r>
              <a:rPr lang="en-US" altLang="en-US" dirty="0" smtClean="0"/>
              <a:t> = 2/3, his expected payoff is the same no matter what value of </a:t>
            </a:r>
            <a:r>
              <a:rPr lang="en-US" altLang="en-US" i="1" dirty="0" smtClean="0"/>
              <a:t>h</a:t>
            </a:r>
            <a:r>
              <a:rPr lang="en-US" altLang="en-US" dirty="0" smtClean="0"/>
              <a:t> he chooses</a:t>
            </a:r>
          </a:p>
        </p:txBody>
      </p:sp>
    </p:spTree>
    <p:extLst>
      <p:ext uri="{BB962C8B-B14F-4D97-AF65-F5344CB8AC3E}">
        <p14:creationId xmlns:p14="http://schemas.microsoft.com/office/powerpoint/2010/main" val="185041961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8.6	Nash Equilibria in Mixed Strategies in </a:t>
            </a:r>
            <a:r>
              <a:rPr lang="en-US" altLang="en-US" dirty="0" smtClean="0"/>
              <a:t>the</a:t>
            </a:r>
            <a:br>
              <a:rPr lang="en-US" altLang="en-US" dirty="0" smtClean="0"/>
            </a:br>
            <a:r>
              <a:rPr lang="en-US" altLang="en-US" dirty="0"/>
              <a:t>	</a:t>
            </a:r>
            <a:r>
              <a:rPr lang="en-US" altLang="en-US" dirty="0" smtClean="0">
                <a:solidFill>
                  <a:srgbClr val="002D56"/>
                </a:solidFill>
              </a:rPr>
              <a:t> </a:t>
            </a:r>
            <a:r>
              <a:rPr lang="en-US" altLang="en-US" dirty="0">
                <a:solidFill>
                  <a:srgbClr val="002D56"/>
                </a:solidFill>
              </a:rPr>
              <a:t>Battle of the </a:t>
            </a:r>
            <a:r>
              <a:rPr lang="en-US" altLang="en-US" dirty="0" smtClean="0">
                <a:solidFill>
                  <a:srgbClr val="002D56"/>
                </a:solidFill>
              </a:rPr>
              <a:t>Sexes</a:t>
            </a:r>
          </a:p>
        </p:txBody>
      </p:sp>
      <p:sp>
        <p:nvSpPr>
          <p:cNvPr id="48131" name="Text Placeholder 2"/>
          <p:cNvSpPr>
            <a:spLocks noGrp="1"/>
          </p:cNvSpPr>
          <p:nvPr>
            <p:ph sz="half" idx="1"/>
          </p:nvPr>
        </p:nvSpPr>
        <p:spPr/>
        <p:txBody>
          <a:bodyPr>
            <a:normAutofit/>
          </a:bodyPr>
          <a:lstStyle/>
          <a:p>
            <a:pPr>
              <a:spcBef>
                <a:spcPct val="0"/>
              </a:spcBef>
            </a:pPr>
            <a:r>
              <a:rPr lang="en-US" altLang="en-US" dirty="0" smtClean="0"/>
              <a:t>Ballet </a:t>
            </a:r>
            <a:r>
              <a:rPr lang="en-US" altLang="en-US" dirty="0"/>
              <a:t>is chosen by the wife with probability w and by the husband with probability h. Players’ best responses are graphed on the same set of axes. The three intersection points E</a:t>
            </a:r>
            <a:r>
              <a:rPr lang="en-US" altLang="en-US" baseline="-25000" dirty="0"/>
              <a:t>1</a:t>
            </a:r>
            <a:r>
              <a:rPr lang="en-US" altLang="en-US" dirty="0"/>
              <a:t>, E</a:t>
            </a:r>
            <a:r>
              <a:rPr lang="en-US" altLang="en-US" baseline="-25000" dirty="0"/>
              <a:t>2</a:t>
            </a:r>
            <a:r>
              <a:rPr lang="en-US" altLang="en-US" dirty="0"/>
              <a:t>, and E</a:t>
            </a:r>
            <a:r>
              <a:rPr lang="en-US" altLang="en-US" baseline="-25000" dirty="0"/>
              <a:t>3</a:t>
            </a:r>
            <a:r>
              <a:rPr lang="en-US" altLang="en-US" dirty="0"/>
              <a:t> are Nash equilibria. The Nash equilibrium in strictly mixed strategies, E</a:t>
            </a:r>
            <a:r>
              <a:rPr lang="en-US" altLang="en-US" baseline="-25000" dirty="0"/>
              <a:t>3</a:t>
            </a:r>
            <a:r>
              <a:rPr lang="en-US" altLang="en-US" dirty="0"/>
              <a:t>, is w*=2/3 and h*=1/3.</a:t>
            </a:r>
          </a:p>
          <a:p>
            <a:pPr>
              <a:spcBef>
                <a:spcPct val="0"/>
              </a:spcBef>
            </a:pPr>
            <a:endParaRPr lang="en-US" altLang="en-US" dirty="0" smtClean="0"/>
          </a:p>
        </p:txBody>
      </p:sp>
      <p:sp>
        <p:nvSpPr>
          <p:cNvPr id="48134"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C6FDB9C2-657B-4D97-83B1-71B591EFE918}" type="slidenum">
              <a:rPr lang="en-US" smtClean="0"/>
              <a:pPr>
                <a:defRPr/>
              </a:pPr>
              <a:t>30</a:t>
            </a:fld>
            <a:endParaRPr lang="en-US" dirty="0"/>
          </a:p>
        </p:txBody>
      </p:sp>
      <p:pic>
        <p:nvPicPr>
          <p:cNvPr id="491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3000" y="974725"/>
            <a:ext cx="5461000" cy="530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246261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9154"/>
                                        </p:tgtEl>
                                        <p:attrNameLst>
                                          <p:attrName>style.visibility</p:attrName>
                                        </p:attrNameLst>
                                      </p:cBhvr>
                                      <p:to>
                                        <p:strVal val="visible"/>
                                      </p:to>
                                    </p:set>
                                    <p:animEffect transition="in" filter="wipe(left)">
                                      <p:cBhvr>
                                        <p:cTn id="7" dur="500"/>
                                        <p:tgtEl>
                                          <p:spTgt spid="4915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8131">
                                            <p:txEl>
                                              <p:pRg st="0" end="0"/>
                                            </p:txEl>
                                          </p:spTgt>
                                        </p:tgtEl>
                                        <p:attrNameLst>
                                          <p:attrName>style.visibility</p:attrName>
                                        </p:attrNameLst>
                                      </p:cBhvr>
                                      <p:to>
                                        <p:strVal val="visible"/>
                                      </p:to>
                                    </p:set>
                                    <p:animEffect transition="in" filter="wipe(left)">
                                      <p:cBhvr>
                                        <p:cTn id="11" dur="500"/>
                                        <p:tgtEl>
                                          <p:spTgt spid="481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US" altLang="en-US" smtClean="0"/>
              <a:t>Mixed Strategies</a:t>
            </a:r>
          </a:p>
        </p:txBody>
      </p:sp>
      <p:sp>
        <p:nvSpPr>
          <p:cNvPr id="49155" name="Rectangle 3"/>
          <p:cNvSpPr>
            <a:spLocks noGrp="1" noChangeArrowheads="1"/>
          </p:cNvSpPr>
          <p:nvPr>
            <p:ph idx="1"/>
          </p:nvPr>
        </p:nvSpPr>
        <p:spPr/>
        <p:txBody>
          <a:bodyPr/>
          <a:lstStyle/>
          <a:p>
            <a:r>
              <a:rPr lang="en-US" altLang="en-US" smtClean="0"/>
              <a:t>A player </a:t>
            </a:r>
          </a:p>
          <a:p>
            <a:pPr lvl="1"/>
            <a:r>
              <a:rPr lang="en-US" altLang="en-US" smtClean="0"/>
              <a:t>Randomizes over only those actions among which he or she is indifferent</a:t>
            </a:r>
          </a:p>
          <a:p>
            <a:r>
              <a:rPr lang="en-US" altLang="en-US" smtClean="0"/>
              <a:t>One player’s indifference condition </a:t>
            </a:r>
          </a:p>
          <a:p>
            <a:pPr lvl="1"/>
            <a:r>
              <a:rPr lang="en-US" altLang="en-US" smtClean="0"/>
              <a:t>Pins down the other player’s mixed strategy</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A86096CC-7FFB-4185-9F66-29959ADB10EA}" type="slidenum">
              <a:rPr lang="en-US" smtClean="0"/>
              <a:pPr>
                <a:defRPr/>
              </a:pPr>
              <a:t>31</a:t>
            </a:fld>
            <a:endParaRPr lang="en-US"/>
          </a:p>
        </p:txBody>
      </p:sp>
    </p:spTree>
    <p:extLst>
      <p:ext uri="{BB962C8B-B14F-4D97-AF65-F5344CB8AC3E}">
        <p14:creationId xmlns:p14="http://schemas.microsoft.com/office/powerpoint/2010/main" val="246967703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en-US" altLang="en-US" smtClean="0"/>
              <a:t>Existence Of Equilibrium</a:t>
            </a:r>
          </a:p>
        </p:txBody>
      </p:sp>
      <p:sp>
        <p:nvSpPr>
          <p:cNvPr id="50179" name="Rectangle 3"/>
          <p:cNvSpPr>
            <a:spLocks noGrp="1" noChangeArrowheads="1"/>
          </p:cNvSpPr>
          <p:nvPr>
            <p:ph idx="1"/>
          </p:nvPr>
        </p:nvSpPr>
        <p:spPr/>
        <p:txBody>
          <a:bodyPr/>
          <a:lstStyle/>
          <a:p>
            <a:r>
              <a:rPr lang="en-US" altLang="en-US" smtClean="0"/>
              <a:t>Nash proved the existence of a Nash equilibrium in all finite games</a:t>
            </a:r>
          </a:p>
          <a:p>
            <a:pPr lvl="1"/>
            <a:r>
              <a:rPr lang="en-US" altLang="en-US" smtClean="0"/>
              <a:t>The existence theorem does not guarantee the existence of a pure-strategy Nash equilibrium</a:t>
            </a:r>
          </a:p>
          <a:p>
            <a:pPr lvl="1"/>
            <a:r>
              <a:rPr lang="en-US" altLang="en-US" smtClean="0"/>
              <a:t>It does guarantee that, if a pure-strategy Nash equilibrium does not exist, a mixed-strategy Nash equilibrium does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070D6DED-8F34-479F-8553-A77A1DBF1F1F}" type="slidenum">
              <a:rPr lang="en-US" smtClean="0"/>
              <a:pPr>
                <a:defRPr/>
              </a:pPr>
              <a:t>32</a:t>
            </a:fld>
            <a:endParaRPr lang="en-US"/>
          </a:p>
        </p:txBody>
      </p:sp>
    </p:spTree>
    <p:extLst>
      <p:ext uri="{BB962C8B-B14F-4D97-AF65-F5344CB8AC3E}">
        <p14:creationId xmlns:p14="http://schemas.microsoft.com/office/powerpoint/2010/main" val="143813595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altLang="en-US" smtClean="0"/>
              <a:t>Continuum of Actions</a:t>
            </a:r>
          </a:p>
        </p:txBody>
      </p:sp>
      <p:sp>
        <p:nvSpPr>
          <p:cNvPr id="51203" name="Rectangle 3"/>
          <p:cNvSpPr>
            <a:spLocks noGrp="1" noChangeArrowheads="1"/>
          </p:cNvSpPr>
          <p:nvPr>
            <p:ph idx="1"/>
          </p:nvPr>
        </p:nvSpPr>
        <p:spPr/>
        <p:txBody>
          <a:bodyPr/>
          <a:lstStyle/>
          <a:p>
            <a:r>
              <a:rPr lang="en-US" altLang="en-US" smtClean="0"/>
              <a:t>Some settings </a:t>
            </a:r>
          </a:p>
          <a:p>
            <a:pPr lvl="1"/>
            <a:r>
              <a:rPr lang="en-US" altLang="en-US" smtClean="0"/>
              <a:t>Are more realistically modeled via a continuous range of actions</a:t>
            </a:r>
          </a:p>
          <a:p>
            <a:r>
              <a:rPr lang="en-US" altLang="en-US" smtClean="0"/>
              <a:t>Using calculus to solve for Nash equilibria</a:t>
            </a:r>
          </a:p>
          <a:p>
            <a:pPr lvl="1"/>
            <a:r>
              <a:rPr lang="en-US" altLang="en-US" smtClean="0"/>
              <a:t>Makes it possible to analyze how the equilibrium actions vary with changes in underlying parameters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5DA51BE1-0E3B-44D2-86D3-959062AA3A98}" type="slidenum">
              <a:rPr lang="en-US" smtClean="0"/>
              <a:pPr>
                <a:defRPr/>
              </a:pPr>
              <a:t>33</a:t>
            </a:fld>
            <a:endParaRPr lang="en-US"/>
          </a:p>
        </p:txBody>
      </p:sp>
    </p:spTree>
    <p:extLst>
      <p:ext uri="{BB962C8B-B14F-4D97-AF65-F5344CB8AC3E}">
        <p14:creationId xmlns:p14="http://schemas.microsoft.com/office/powerpoint/2010/main" val="121047689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4"/>
          <p:cNvSpPr>
            <a:spLocks noGrp="1"/>
          </p:cNvSpPr>
          <p:nvPr>
            <p:ph type="title"/>
          </p:nvPr>
        </p:nvSpPr>
        <p:spPr/>
        <p:txBody>
          <a:bodyPr/>
          <a:lstStyle/>
          <a:p>
            <a:r>
              <a:rPr lang="en-US" altLang="en-US" smtClean="0"/>
              <a:t>Tragedy of the Commons</a:t>
            </a:r>
          </a:p>
        </p:txBody>
      </p:sp>
      <p:sp>
        <p:nvSpPr>
          <p:cNvPr id="52227" name="Content Placeholder 5"/>
          <p:cNvSpPr>
            <a:spLocks noGrp="1"/>
          </p:cNvSpPr>
          <p:nvPr>
            <p:ph idx="1"/>
          </p:nvPr>
        </p:nvSpPr>
        <p:spPr/>
        <p:txBody>
          <a:bodyPr/>
          <a:lstStyle/>
          <a:p>
            <a:r>
              <a:rPr lang="en-US" altLang="en-US" smtClean="0"/>
              <a:t>Solve for the Nash equilibrium when the game involves a continuum of actions</a:t>
            </a:r>
          </a:p>
          <a:p>
            <a:pPr lvl="2"/>
            <a:r>
              <a:rPr lang="en-US" altLang="en-US" smtClean="0"/>
              <a:t>Write down the payoff for each player as a function of all players’ actions</a:t>
            </a:r>
          </a:p>
          <a:p>
            <a:pPr lvl="2"/>
            <a:r>
              <a:rPr lang="en-US" altLang="en-US" smtClean="0"/>
              <a:t>Compute the first-order condition associated with each player’s payoff maximum</a:t>
            </a:r>
          </a:p>
          <a:p>
            <a:pPr lvl="3"/>
            <a:r>
              <a:rPr lang="en-US" altLang="en-US" smtClean="0"/>
              <a:t>Equation -  can be rearranged into the best response of each player as a function of all other players’ actions</a:t>
            </a:r>
          </a:p>
          <a:p>
            <a:pPr lvl="3"/>
            <a:r>
              <a:rPr lang="en-US" altLang="en-US" smtClean="0"/>
              <a:t>Solve the system of n equations for the n unknown equilibrium actions</a:t>
            </a:r>
          </a:p>
        </p:txBody>
      </p:sp>
      <p:sp>
        <p:nvSpPr>
          <p:cNvPr id="52229" name="Footer Placeholder 2"/>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p:txBody>
          <a:bodyPr/>
          <a:lstStyle/>
          <a:p>
            <a:pPr>
              <a:defRPr/>
            </a:pPr>
            <a:fld id="{DE1BD02A-6786-4560-AFFD-B878F1B025E0}" type="slidenum">
              <a:rPr lang="en-US" smtClean="0"/>
              <a:pPr>
                <a:defRPr/>
              </a:pPr>
              <a:t>34</a:t>
            </a:fld>
            <a:endParaRPr lang="en-US"/>
          </a:p>
        </p:txBody>
      </p:sp>
    </p:spTree>
    <p:extLst>
      <p:ext uri="{BB962C8B-B14F-4D97-AF65-F5344CB8AC3E}">
        <p14:creationId xmlns:p14="http://schemas.microsoft.com/office/powerpoint/2010/main" val="415700732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8.4 	Tragedy of the Commons</a:t>
            </a:r>
          </a:p>
        </p:txBody>
      </p:sp>
      <p:sp>
        <p:nvSpPr>
          <p:cNvPr id="5" name="Footer Placeholder 4"/>
          <p:cNvSpPr>
            <a:spLocks noGrp="1"/>
          </p:cNvSpPr>
          <p:nvPr>
            <p:ph type="ftr" sz="quarter" idx="10"/>
          </p:nvPr>
        </p:nvSpPr>
        <p:spPr>
          <a:prstGeom prst="rect">
            <a:avLst/>
          </a:prstGeom>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a:prstGeom prst="rect">
            <a:avLst/>
          </a:prstGeom>
        </p:spPr>
        <p:txBody>
          <a:bodyPr/>
          <a:lstStyle/>
          <a:p>
            <a:pPr>
              <a:defRPr/>
            </a:pPr>
            <a:fld id="{42DE5230-D2F4-4FD5-BEBE-25E5D480ADD8}" type="slidenum">
              <a:rPr lang="en-US" smtClean="0"/>
              <a:pPr>
                <a:defRPr/>
              </a:pPr>
              <a:t>35</a:t>
            </a:fld>
            <a:endParaRPr lang="en-US"/>
          </a:p>
        </p:txBody>
      </p:sp>
      <p:sp>
        <p:nvSpPr>
          <p:cNvPr id="53251" name="Rectangle 3"/>
          <p:cNvSpPr>
            <a:spLocks noGrp="1" noChangeArrowheads="1"/>
          </p:cNvSpPr>
          <p:nvPr>
            <p:ph type="body" sz="quarter" idx="12"/>
          </p:nvPr>
        </p:nvSpPr>
        <p:spPr>
          <a:prstGeom prst="rect">
            <a:avLst/>
          </a:prstGeom>
        </p:spPr>
        <p:txBody>
          <a:bodyPr/>
          <a:lstStyle/>
          <a:p>
            <a:r>
              <a:rPr lang="en-US" altLang="en-US" smtClean="0"/>
              <a:t>The “Tragedy of the Commons” </a:t>
            </a:r>
          </a:p>
          <a:p>
            <a:pPr lvl="1"/>
            <a:r>
              <a:rPr lang="en-US" altLang="en-US" smtClean="0"/>
              <a:t>Describes the overuse that arises when scarce resources are treated as common property</a:t>
            </a:r>
          </a:p>
          <a:p>
            <a:pPr lvl="1"/>
            <a:r>
              <a:rPr lang="en-US" altLang="en-US" smtClean="0"/>
              <a:t>Two herders decide how many sheep to graze on the village commons</a:t>
            </a:r>
          </a:p>
          <a:p>
            <a:pPr lvl="1"/>
            <a:r>
              <a:rPr lang="en-US" altLang="en-US" smtClean="0"/>
              <a:t>The commons is quite small and can rapidly succumb to overgrazing</a:t>
            </a:r>
          </a:p>
          <a:p>
            <a:pPr lvl="1"/>
            <a:r>
              <a:rPr lang="en-US" altLang="en-US" i="1" smtClean="0"/>
              <a:t>q</a:t>
            </a:r>
            <a:r>
              <a:rPr lang="en-US" altLang="en-US" i="1" baseline="-25000" smtClean="0"/>
              <a:t>i</a:t>
            </a:r>
            <a:r>
              <a:rPr lang="en-US" altLang="en-US" smtClean="0"/>
              <a:t> = the number of sheep chosen by herder </a:t>
            </a:r>
            <a:r>
              <a:rPr lang="en-US" altLang="en-US" i="1" smtClean="0"/>
              <a:t>i</a:t>
            </a:r>
          </a:p>
          <a:p>
            <a:pPr lvl="1"/>
            <a:r>
              <a:rPr lang="en-US" altLang="en-US" smtClean="0"/>
              <a:t>Per-sheep value of grazing on the commons is</a:t>
            </a:r>
          </a:p>
          <a:p>
            <a:pPr algn="ctr">
              <a:lnSpc>
                <a:spcPct val="130000"/>
              </a:lnSpc>
              <a:buFontTx/>
              <a:buNone/>
            </a:pPr>
            <a:r>
              <a:rPr lang="en-US" altLang="en-US" sz="2800" i="1" smtClean="0">
                <a:solidFill>
                  <a:srgbClr val="FF0000"/>
                </a:solidFill>
              </a:rPr>
              <a:t>v</a:t>
            </a:r>
            <a:r>
              <a:rPr lang="en-US" altLang="en-US" sz="2800" smtClean="0">
                <a:solidFill>
                  <a:srgbClr val="FF0000"/>
                </a:solidFill>
              </a:rPr>
              <a:t>(</a:t>
            </a:r>
            <a:r>
              <a:rPr lang="en-US" altLang="en-US" sz="2800" i="1" smtClean="0">
                <a:solidFill>
                  <a:srgbClr val="FF0000"/>
                </a:solidFill>
              </a:rPr>
              <a:t>q</a:t>
            </a:r>
            <a:r>
              <a:rPr lang="en-US" altLang="en-US" sz="2800" baseline="-25000" smtClean="0">
                <a:solidFill>
                  <a:srgbClr val="FF0000"/>
                </a:solidFill>
              </a:rPr>
              <a:t>1</a:t>
            </a:r>
            <a:r>
              <a:rPr lang="en-US" altLang="en-US" sz="2800" smtClean="0">
                <a:solidFill>
                  <a:srgbClr val="FF0000"/>
                </a:solidFill>
              </a:rPr>
              <a:t>,</a:t>
            </a:r>
            <a:r>
              <a:rPr lang="en-US" altLang="en-US" sz="2800" i="1" smtClean="0">
                <a:solidFill>
                  <a:srgbClr val="FF0000"/>
                </a:solidFill>
              </a:rPr>
              <a:t>q</a:t>
            </a:r>
            <a:r>
              <a:rPr lang="en-US" altLang="en-US" sz="2800" baseline="-25000" smtClean="0">
                <a:solidFill>
                  <a:srgbClr val="FF0000"/>
                </a:solidFill>
              </a:rPr>
              <a:t>2</a:t>
            </a:r>
            <a:r>
              <a:rPr lang="en-US" altLang="en-US" sz="2800" smtClean="0">
                <a:solidFill>
                  <a:srgbClr val="FF0000"/>
                </a:solidFill>
              </a:rPr>
              <a:t>) = 120 – (</a:t>
            </a:r>
            <a:r>
              <a:rPr lang="en-US" altLang="en-US" sz="2800" i="1" smtClean="0">
                <a:solidFill>
                  <a:srgbClr val="FF0000"/>
                </a:solidFill>
              </a:rPr>
              <a:t>q</a:t>
            </a:r>
            <a:r>
              <a:rPr lang="en-US" altLang="en-US" sz="2800" baseline="-25000" smtClean="0">
                <a:solidFill>
                  <a:srgbClr val="FF0000"/>
                </a:solidFill>
              </a:rPr>
              <a:t>1</a:t>
            </a:r>
            <a:r>
              <a:rPr lang="en-US" altLang="en-US" sz="2800" smtClean="0">
                <a:solidFill>
                  <a:srgbClr val="FF0000"/>
                </a:solidFill>
              </a:rPr>
              <a:t> + </a:t>
            </a:r>
            <a:r>
              <a:rPr lang="en-US" altLang="en-US" sz="2800" i="1" smtClean="0">
                <a:solidFill>
                  <a:srgbClr val="FF0000"/>
                </a:solidFill>
              </a:rPr>
              <a:t>q</a:t>
            </a:r>
            <a:r>
              <a:rPr lang="en-US" altLang="en-US" sz="2800" baseline="-25000" smtClean="0">
                <a:solidFill>
                  <a:srgbClr val="FF0000"/>
                </a:solidFill>
              </a:rPr>
              <a:t>2</a:t>
            </a:r>
            <a:r>
              <a:rPr lang="en-US" altLang="en-US" sz="2800" smtClean="0">
                <a:solidFill>
                  <a:srgbClr val="FF0000"/>
                </a:solidFill>
              </a:rPr>
              <a:t>)</a:t>
            </a:r>
          </a:p>
          <a:p>
            <a:endParaRPr lang="en-US" altLang="en-US" smtClean="0"/>
          </a:p>
        </p:txBody>
      </p:sp>
    </p:spTree>
    <p:extLst>
      <p:ext uri="{BB962C8B-B14F-4D97-AF65-F5344CB8AC3E}">
        <p14:creationId xmlns:p14="http://schemas.microsoft.com/office/powerpoint/2010/main" val="134189644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8.4 	Tragedy of the Commons</a:t>
            </a:r>
          </a:p>
        </p:txBody>
      </p:sp>
      <p:sp>
        <p:nvSpPr>
          <p:cNvPr id="5" name="Footer Placeholder 4"/>
          <p:cNvSpPr>
            <a:spLocks noGrp="1"/>
          </p:cNvSpPr>
          <p:nvPr>
            <p:ph type="ftr" sz="quarter" idx="10"/>
          </p:nvPr>
        </p:nvSpPr>
        <p:spPr>
          <a:prstGeom prst="rect">
            <a:avLst/>
          </a:prstGeom>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a:prstGeom prst="rect">
            <a:avLst/>
          </a:prstGeom>
        </p:spPr>
        <p:txBody>
          <a:bodyPr/>
          <a:lstStyle/>
          <a:p>
            <a:pPr>
              <a:defRPr/>
            </a:pPr>
            <a:fld id="{C798079A-0AE2-4F0D-B7F0-3BAEF4D10C5B}" type="slidenum">
              <a:rPr lang="en-US" smtClean="0"/>
              <a:pPr>
                <a:defRPr/>
              </a:pPr>
              <a:t>36</a:t>
            </a:fld>
            <a:endParaRPr lang="en-US"/>
          </a:p>
        </p:txBody>
      </p:sp>
      <p:sp>
        <p:nvSpPr>
          <p:cNvPr id="54275" name="Rectangle 3"/>
          <p:cNvSpPr>
            <a:spLocks noGrp="1" noChangeArrowheads="1"/>
          </p:cNvSpPr>
          <p:nvPr>
            <p:ph type="body" sz="quarter" idx="12"/>
          </p:nvPr>
        </p:nvSpPr>
        <p:spPr>
          <a:prstGeom prst="rect">
            <a:avLst/>
          </a:prstGeom>
        </p:spPr>
        <p:txBody>
          <a:bodyPr/>
          <a:lstStyle/>
          <a:p>
            <a:r>
              <a:rPr lang="en-US" altLang="en-US" dirty="0" smtClean="0"/>
              <a:t>The “Tragedy of the Commons” </a:t>
            </a:r>
          </a:p>
          <a:p>
            <a:pPr lvl="1"/>
            <a:r>
              <a:rPr lang="en-US" altLang="en-US" dirty="0" smtClean="0"/>
              <a:t>The normal form is a listing of the herders’ payoff functions</a:t>
            </a:r>
          </a:p>
          <a:p>
            <a:pPr algn="ctr">
              <a:buFontTx/>
              <a:buNone/>
            </a:pPr>
            <a:r>
              <a:rPr lang="en-US" altLang="en-US" sz="2800" i="1" dirty="0" smtClean="0">
                <a:solidFill>
                  <a:srgbClr val="FF0000"/>
                </a:solidFill>
              </a:rPr>
              <a:t>U</a:t>
            </a:r>
            <a:r>
              <a:rPr lang="en-US" altLang="en-US" sz="2800" baseline="-25000" dirty="0" smtClean="0">
                <a:solidFill>
                  <a:srgbClr val="FF0000"/>
                </a:solidFill>
              </a:rPr>
              <a:t>1</a:t>
            </a:r>
            <a:r>
              <a:rPr lang="en-US" altLang="en-US" sz="2800" dirty="0" smtClean="0">
                <a:solidFill>
                  <a:srgbClr val="FF0000"/>
                </a:solidFill>
              </a:rPr>
              <a:t>(</a:t>
            </a:r>
            <a:r>
              <a:rPr lang="en-US" altLang="en-US" sz="2800" i="1" dirty="0" smtClean="0">
                <a:solidFill>
                  <a:srgbClr val="FF0000"/>
                </a:solidFill>
              </a:rPr>
              <a:t>q</a:t>
            </a:r>
            <a:r>
              <a:rPr lang="en-US" altLang="en-US" sz="2800" baseline="-25000" dirty="0" smtClean="0">
                <a:solidFill>
                  <a:srgbClr val="FF0000"/>
                </a:solidFill>
              </a:rPr>
              <a:t>1</a:t>
            </a:r>
            <a:r>
              <a:rPr lang="en-US" altLang="en-US" sz="2800" dirty="0" smtClean="0">
                <a:solidFill>
                  <a:srgbClr val="FF0000"/>
                </a:solidFill>
              </a:rPr>
              <a:t>,</a:t>
            </a:r>
            <a:r>
              <a:rPr lang="en-US" altLang="en-US" sz="2800" i="1" dirty="0" smtClean="0">
                <a:solidFill>
                  <a:srgbClr val="FF0000"/>
                </a:solidFill>
              </a:rPr>
              <a:t>q</a:t>
            </a:r>
            <a:r>
              <a:rPr lang="en-US" altLang="en-US" sz="2800" baseline="-25000" dirty="0" smtClean="0">
                <a:solidFill>
                  <a:srgbClr val="FF0000"/>
                </a:solidFill>
              </a:rPr>
              <a:t>2</a:t>
            </a:r>
            <a:r>
              <a:rPr lang="en-US" altLang="en-US" sz="2800" dirty="0" smtClean="0">
                <a:solidFill>
                  <a:srgbClr val="FF0000"/>
                </a:solidFill>
              </a:rPr>
              <a:t>) = </a:t>
            </a:r>
            <a:r>
              <a:rPr lang="en-US" altLang="en-US" sz="2800" i="1" dirty="0" smtClean="0">
                <a:solidFill>
                  <a:srgbClr val="FF0000"/>
                </a:solidFill>
              </a:rPr>
              <a:t>q</a:t>
            </a:r>
            <a:r>
              <a:rPr lang="en-US" altLang="en-US" sz="2800" baseline="-25000" dirty="0" smtClean="0">
                <a:solidFill>
                  <a:srgbClr val="FF0000"/>
                </a:solidFill>
              </a:rPr>
              <a:t>1</a:t>
            </a:r>
            <a:r>
              <a:rPr lang="en-US" altLang="en-US" sz="2800" i="1" dirty="0" smtClean="0">
                <a:solidFill>
                  <a:srgbClr val="FF0000"/>
                </a:solidFill>
              </a:rPr>
              <a:t>v</a:t>
            </a:r>
            <a:r>
              <a:rPr lang="en-US" altLang="en-US" sz="2800" dirty="0" smtClean="0">
                <a:solidFill>
                  <a:srgbClr val="FF0000"/>
                </a:solidFill>
              </a:rPr>
              <a:t>(</a:t>
            </a:r>
            <a:r>
              <a:rPr lang="en-US" altLang="en-US" sz="2800" i="1" dirty="0" smtClean="0">
                <a:solidFill>
                  <a:srgbClr val="FF0000"/>
                </a:solidFill>
              </a:rPr>
              <a:t>q</a:t>
            </a:r>
            <a:r>
              <a:rPr lang="en-US" altLang="en-US" sz="2800" baseline="-25000" dirty="0" smtClean="0">
                <a:solidFill>
                  <a:srgbClr val="FF0000"/>
                </a:solidFill>
              </a:rPr>
              <a:t>1</a:t>
            </a:r>
            <a:r>
              <a:rPr lang="en-US" altLang="en-US" sz="2800" dirty="0" smtClean="0">
                <a:solidFill>
                  <a:srgbClr val="FF0000"/>
                </a:solidFill>
              </a:rPr>
              <a:t>,</a:t>
            </a:r>
            <a:r>
              <a:rPr lang="en-US" altLang="en-US" sz="2800" i="1" dirty="0" smtClean="0">
                <a:solidFill>
                  <a:srgbClr val="FF0000"/>
                </a:solidFill>
              </a:rPr>
              <a:t>q</a:t>
            </a:r>
            <a:r>
              <a:rPr lang="en-US" altLang="en-US" sz="2800" baseline="-25000" dirty="0" smtClean="0">
                <a:solidFill>
                  <a:srgbClr val="FF0000"/>
                </a:solidFill>
              </a:rPr>
              <a:t>2</a:t>
            </a:r>
            <a:r>
              <a:rPr lang="en-US" altLang="en-US" sz="2800" dirty="0" smtClean="0">
                <a:solidFill>
                  <a:srgbClr val="FF0000"/>
                </a:solidFill>
              </a:rPr>
              <a:t>) = </a:t>
            </a:r>
            <a:r>
              <a:rPr lang="en-US" altLang="en-US" sz="2800" i="1" dirty="0" smtClean="0">
                <a:solidFill>
                  <a:srgbClr val="FF0000"/>
                </a:solidFill>
              </a:rPr>
              <a:t>q</a:t>
            </a:r>
            <a:r>
              <a:rPr lang="en-US" altLang="en-US" sz="2800" baseline="-25000" dirty="0" smtClean="0">
                <a:solidFill>
                  <a:srgbClr val="FF0000"/>
                </a:solidFill>
              </a:rPr>
              <a:t>1</a:t>
            </a:r>
            <a:r>
              <a:rPr lang="en-US" altLang="en-US" sz="2800" dirty="0" smtClean="0">
                <a:solidFill>
                  <a:srgbClr val="FF0000"/>
                </a:solidFill>
              </a:rPr>
              <a:t>(120 – </a:t>
            </a:r>
            <a:r>
              <a:rPr lang="en-US" altLang="en-US" sz="2800" i="1" dirty="0" smtClean="0">
                <a:solidFill>
                  <a:srgbClr val="FF0000"/>
                </a:solidFill>
              </a:rPr>
              <a:t>q</a:t>
            </a:r>
            <a:r>
              <a:rPr lang="en-US" altLang="en-US" sz="2800" baseline="-25000" dirty="0" smtClean="0">
                <a:solidFill>
                  <a:srgbClr val="FF0000"/>
                </a:solidFill>
              </a:rPr>
              <a:t>1</a:t>
            </a:r>
            <a:r>
              <a:rPr lang="en-US" altLang="en-US" sz="2800" dirty="0" smtClean="0">
                <a:solidFill>
                  <a:srgbClr val="FF0000"/>
                </a:solidFill>
              </a:rPr>
              <a:t> – </a:t>
            </a:r>
            <a:r>
              <a:rPr lang="en-US" altLang="en-US" sz="2800" i="1" dirty="0" smtClean="0">
                <a:solidFill>
                  <a:srgbClr val="FF0000"/>
                </a:solidFill>
              </a:rPr>
              <a:t>q</a:t>
            </a:r>
            <a:r>
              <a:rPr lang="en-US" altLang="en-US" sz="2800" baseline="-25000" dirty="0" smtClean="0">
                <a:solidFill>
                  <a:srgbClr val="FF0000"/>
                </a:solidFill>
              </a:rPr>
              <a:t>2</a:t>
            </a:r>
            <a:r>
              <a:rPr lang="en-US" altLang="en-US" sz="2800" dirty="0" smtClean="0">
                <a:solidFill>
                  <a:srgbClr val="FF0000"/>
                </a:solidFill>
              </a:rPr>
              <a:t>)</a:t>
            </a:r>
          </a:p>
          <a:p>
            <a:pPr algn="ctr">
              <a:buFontTx/>
              <a:buNone/>
            </a:pPr>
            <a:r>
              <a:rPr lang="en-US" altLang="en-US" sz="2800" i="1" dirty="0" smtClean="0">
                <a:solidFill>
                  <a:srgbClr val="FF0000"/>
                </a:solidFill>
              </a:rPr>
              <a:t>U</a:t>
            </a:r>
            <a:r>
              <a:rPr lang="en-US" altLang="en-US" sz="2800" baseline="-25000" dirty="0" smtClean="0">
                <a:solidFill>
                  <a:srgbClr val="FF0000"/>
                </a:solidFill>
              </a:rPr>
              <a:t>2</a:t>
            </a:r>
            <a:r>
              <a:rPr lang="en-US" altLang="en-US" sz="2800" dirty="0" smtClean="0">
                <a:solidFill>
                  <a:srgbClr val="FF0000"/>
                </a:solidFill>
              </a:rPr>
              <a:t>(</a:t>
            </a:r>
            <a:r>
              <a:rPr lang="en-US" altLang="en-US" sz="2800" i="1" dirty="0" smtClean="0">
                <a:solidFill>
                  <a:srgbClr val="FF0000"/>
                </a:solidFill>
              </a:rPr>
              <a:t>q</a:t>
            </a:r>
            <a:r>
              <a:rPr lang="en-US" altLang="en-US" sz="2800" baseline="-25000" dirty="0" smtClean="0">
                <a:solidFill>
                  <a:srgbClr val="FF0000"/>
                </a:solidFill>
              </a:rPr>
              <a:t>1</a:t>
            </a:r>
            <a:r>
              <a:rPr lang="en-US" altLang="en-US" sz="2800" dirty="0" smtClean="0">
                <a:solidFill>
                  <a:srgbClr val="FF0000"/>
                </a:solidFill>
              </a:rPr>
              <a:t>,</a:t>
            </a:r>
            <a:r>
              <a:rPr lang="en-US" altLang="en-US" sz="2800" i="1" dirty="0" smtClean="0">
                <a:solidFill>
                  <a:srgbClr val="FF0000"/>
                </a:solidFill>
              </a:rPr>
              <a:t>q</a:t>
            </a:r>
            <a:r>
              <a:rPr lang="en-US" altLang="en-US" sz="2800" baseline="-25000" dirty="0" smtClean="0">
                <a:solidFill>
                  <a:srgbClr val="FF0000"/>
                </a:solidFill>
              </a:rPr>
              <a:t>2</a:t>
            </a:r>
            <a:r>
              <a:rPr lang="en-US" altLang="en-US" sz="2800" dirty="0" smtClean="0">
                <a:solidFill>
                  <a:srgbClr val="FF0000"/>
                </a:solidFill>
              </a:rPr>
              <a:t>) = </a:t>
            </a:r>
            <a:r>
              <a:rPr lang="en-US" altLang="en-US" sz="2800" i="1" dirty="0" smtClean="0">
                <a:solidFill>
                  <a:srgbClr val="FF0000"/>
                </a:solidFill>
              </a:rPr>
              <a:t>q</a:t>
            </a:r>
            <a:r>
              <a:rPr lang="en-US" altLang="en-US" sz="2800" baseline="-25000" dirty="0" smtClean="0">
                <a:solidFill>
                  <a:srgbClr val="FF0000"/>
                </a:solidFill>
              </a:rPr>
              <a:t>2</a:t>
            </a:r>
            <a:r>
              <a:rPr lang="en-US" altLang="en-US" sz="2800" i="1" dirty="0" smtClean="0">
                <a:solidFill>
                  <a:srgbClr val="FF0000"/>
                </a:solidFill>
              </a:rPr>
              <a:t>v</a:t>
            </a:r>
            <a:r>
              <a:rPr lang="en-US" altLang="en-US" sz="2800" dirty="0" smtClean="0">
                <a:solidFill>
                  <a:srgbClr val="FF0000"/>
                </a:solidFill>
              </a:rPr>
              <a:t>(</a:t>
            </a:r>
            <a:r>
              <a:rPr lang="en-US" altLang="en-US" sz="2800" i="1" dirty="0" smtClean="0">
                <a:solidFill>
                  <a:srgbClr val="FF0000"/>
                </a:solidFill>
              </a:rPr>
              <a:t>q</a:t>
            </a:r>
            <a:r>
              <a:rPr lang="en-US" altLang="en-US" sz="2800" baseline="-25000" dirty="0" smtClean="0">
                <a:solidFill>
                  <a:srgbClr val="FF0000"/>
                </a:solidFill>
              </a:rPr>
              <a:t>1</a:t>
            </a:r>
            <a:r>
              <a:rPr lang="en-US" altLang="en-US" sz="2800" dirty="0" smtClean="0">
                <a:solidFill>
                  <a:srgbClr val="FF0000"/>
                </a:solidFill>
              </a:rPr>
              <a:t>,</a:t>
            </a:r>
            <a:r>
              <a:rPr lang="en-US" altLang="en-US" sz="2800" i="1" dirty="0" smtClean="0">
                <a:solidFill>
                  <a:srgbClr val="FF0000"/>
                </a:solidFill>
              </a:rPr>
              <a:t>q</a:t>
            </a:r>
            <a:r>
              <a:rPr lang="en-US" altLang="en-US" sz="2800" baseline="-25000" dirty="0" smtClean="0">
                <a:solidFill>
                  <a:srgbClr val="FF0000"/>
                </a:solidFill>
              </a:rPr>
              <a:t>2</a:t>
            </a:r>
            <a:r>
              <a:rPr lang="en-US" altLang="en-US" sz="2800" dirty="0" smtClean="0">
                <a:solidFill>
                  <a:srgbClr val="FF0000"/>
                </a:solidFill>
              </a:rPr>
              <a:t>) = </a:t>
            </a:r>
            <a:r>
              <a:rPr lang="en-US" altLang="en-US" sz="2800" i="1" dirty="0" smtClean="0">
                <a:solidFill>
                  <a:srgbClr val="FF0000"/>
                </a:solidFill>
              </a:rPr>
              <a:t>q</a:t>
            </a:r>
            <a:r>
              <a:rPr lang="en-US" altLang="en-US" sz="2800" baseline="-25000" dirty="0" smtClean="0">
                <a:solidFill>
                  <a:srgbClr val="FF0000"/>
                </a:solidFill>
              </a:rPr>
              <a:t>2</a:t>
            </a:r>
            <a:r>
              <a:rPr lang="en-US" altLang="en-US" sz="2800" dirty="0" smtClean="0">
                <a:solidFill>
                  <a:srgbClr val="FF0000"/>
                </a:solidFill>
              </a:rPr>
              <a:t>(120 – </a:t>
            </a:r>
            <a:r>
              <a:rPr lang="en-US" altLang="en-US" sz="2800" i="1" dirty="0" smtClean="0">
                <a:solidFill>
                  <a:srgbClr val="FF0000"/>
                </a:solidFill>
              </a:rPr>
              <a:t>q</a:t>
            </a:r>
            <a:r>
              <a:rPr lang="en-US" altLang="en-US" sz="2800" baseline="-25000" dirty="0" smtClean="0">
                <a:solidFill>
                  <a:srgbClr val="FF0000"/>
                </a:solidFill>
              </a:rPr>
              <a:t>1</a:t>
            </a:r>
            <a:r>
              <a:rPr lang="en-US" altLang="en-US" sz="2800" dirty="0" smtClean="0">
                <a:solidFill>
                  <a:srgbClr val="FF0000"/>
                </a:solidFill>
              </a:rPr>
              <a:t> – </a:t>
            </a:r>
            <a:r>
              <a:rPr lang="en-US" altLang="en-US" sz="2800" i="1" dirty="0" smtClean="0">
                <a:solidFill>
                  <a:srgbClr val="FF0000"/>
                </a:solidFill>
              </a:rPr>
              <a:t>q</a:t>
            </a:r>
            <a:r>
              <a:rPr lang="en-US" altLang="en-US" sz="2800" baseline="-25000" dirty="0" smtClean="0">
                <a:solidFill>
                  <a:srgbClr val="FF0000"/>
                </a:solidFill>
              </a:rPr>
              <a:t>2</a:t>
            </a:r>
            <a:r>
              <a:rPr lang="en-US" altLang="en-US" sz="2800" dirty="0" smtClean="0">
                <a:solidFill>
                  <a:srgbClr val="FF0000"/>
                </a:solidFill>
              </a:rPr>
              <a:t>)</a:t>
            </a:r>
            <a:endParaRPr lang="en-US" altLang="en-US" sz="2800" i="1" dirty="0" smtClean="0">
              <a:solidFill>
                <a:srgbClr val="FF0000"/>
              </a:solidFill>
            </a:endParaRPr>
          </a:p>
          <a:p>
            <a:r>
              <a:rPr lang="en-US" altLang="en-US" dirty="0" smtClean="0"/>
              <a:t>Solve for the Nash equilibrium</a:t>
            </a:r>
          </a:p>
          <a:p>
            <a:pPr lvl="1"/>
            <a:r>
              <a:rPr lang="en-US" altLang="en-US" dirty="0" smtClean="0"/>
              <a:t>Solve herder 1’s maximization problem and get his best-response function: </a:t>
            </a:r>
            <a:r>
              <a:rPr lang="en-US" altLang="en-US" i="1" dirty="0" smtClean="0">
                <a:solidFill>
                  <a:srgbClr val="FF0000"/>
                </a:solidFill>
              </a:rPr>
              <a:t>q</a:t>
            </a:r>
            <a:r>
              <a:rPr lang="en-US" altLang="en-US" i="1" baseline="-25000" dirty="0" smtClean="0">
                <a:solidFill>
                  <a:srgbClr val="FF0000"/>
                </a:solidFill>
              </a:rPr>
              <a:t>1</a:t>
            </a:r>
            <a:r>
              <a:rPr lang="en-US" altLang="en-US" i="1" dirty="0" smtClean="0">
                <a:solidFill>
                  <a:srgbClr val="FF0000"/>
                </a:solidFill>
              </a:rPr>
              <a:t>=60-q</a:t>
            </a:r>
            <a:r>
              <a:rPr lang="en-US" altLang="en-US" i="1" baseline="-25000" dirty="0" smtClean="0">
                <a:solidFill>
                  <a:srgbClr val="FF0000"/>
                </a:solidFill>
              </a:rPr>
              <a:t>2</a:t>
            </a:r>
            <a:r>
              <a:rPr lang="en-US" altLang="en-US" i="1" dirty="0" smtClean="0">
                <a:solidFill>
                  <a:srgbClr val="FF0000"/>
                </a:solidFill>
              </a:rPr>
              <a:t>/2=BR</a:t>
            </a:r>
            <a:r>
              <a:rPr lang="en-US" altLang="en-US" i="1" baseline="-25000" dirty="0" smtClean="0">
                <a:solidFill>
                  <a:srgbClr val="FF0000"/>
                </a:solidFill>
              </a:rPr>
              <a:t>1</a:t>
            </a:r>
            <a:r>
              <a:rPr lang="en-US" altLang="en-US" i="1" dirty="0" smtClean="0">
                <a:solidFill>
                  <a:srgbClr val="FF0000"/>
                </a:solidFill>
              </a:rPr>
              <a:t>(q</a:t>
            </a:r>
            <a:r>
              <a:rPr lang="en-US" altLang="en-US" i="1" baseline="-25000" dirty="0" smtClean="0">
                <a:solidFill>
                  <a:srgbClr val="FF0000"/>
                </a:solidFill>
              </a:rPr>
              <a:t>2</a:t>
            </a:r>
            <a:r>
              <a:rPr lang="en-US" altLang="en-US" i="1" dirty="0" smtClean="0">
                <a:solidFill>
                  <a:srgbClr val="FF0000"/>
                </a:solidFill>
              </a:rPr>
              <a:t>)</a:t>
            </a:r>
          </a:p>
          <a:p>
            <a:pPr lvl="1"/>
            <a:r>
              <a:rPr lang="en-US" altLang="en-US" dirty="0" smtClean="0"/>
              <a:t>Solve herder 2’s maximization problem and get his best-response function: </a:t>
            </a:r>
            <a:r>
              <a:rPr lang="en-US" altLang="en-US" i="1" dirty="0" smtClean="0">
                <a:solidFill>
                  <a:srgbClr val="FF0000"/>
                </a:solidFill>
              </a:rPr>
              <a:t>q</a:t>
            </a:r>
            <a:r>
              <a:rPr lang="en-US" altLang="en-US" i="1" baseline="-25000" dirty="0" smtClean="0">
                <a:solidFill>
                  <a:srgbClr val="FF0000"/>
                </a:solidFill>
              </a:rPr>
              <a:t>2</a:t>
            </a:r>
            <a:r>
              <a:rPr lang="en-US" altLang="en-US" i="1" dirty="0" smtClean="0">
                <a:solidFill>
                  <a:srgbClr val="FF0000"/>
                </a:solidFill>
              </a:rPr>
              <a:t>=60-q</a:t>
            </a:r>
            <a:r>
              <a:rPr lang="en-US" altLang="en-US" i="1" baseline="-25000" dirty="0" smtClean="0">
                <a:solidFill>
                  <a:srgbClr val="FF0000"/>
                </a:solidFill>
              </a:rPr>
              <a:t>1</a:t>
            </a:r>
            <a:r>
              <a:rPr lang="en-US" altLang="en-US" i="1" dirty="0" smtClean="0">
                <a:solidFill>
                  <a:srgbClr val="FF0000"/>
                </a:solidFill>
              </a:rPr>
              <a:t>/2=BR</a:t>
            </a:r>
            <a:r>
              <a:rPr lang="en-US" altLang="en-US" i="1" baseline="-25000" dirty="0" smtClean="0">
                <a:solidFill>
                  <a:srgbClr val="FF0000"/>
                </a:solidFill>
              </a:rPr>
              <a:t>2</a:t>
            </a:r>
            <a:r>
              <a:rPr lang="en-US" altLang="en-US" i="1" dirty="0" smtClean="0">
                <a:solidFill>
                  <a:srgbClr val="FF0000"/>
                </a:solidFill>
              </a:rPr>
              <a:t>(q</a:t>
            </a:r>
            <a:r>
              <a:rPr lang="en-US" altLang="en-US" i="1" baseline="-25000" dirty="0" smtClean="0">
                <a:solidFill>
                  <a:srgbClr val="FF0000"/>
                </a:solidFill>
              </a:rPr>
              <a:t>1</a:t>
            </a:r>
            <a:r>
              <a:rPr lang="en-US" altLang="en-US" i="1" dirty="0" smtClean="0">
                <a:solidFill>
                  <a:srgbClr val="FF0000"/>
                </a:solidFill>
              </a:rPr>
              <a:t>)</a:t>
            </a:r>
          </a:p>
          <a:p>
            <a:pPr lvl="1"/>
            <a:r>
              <a:rPr lang="en-US" altLang="en-US" dirty="0" smtClean="0"/>
              <a:t>The Nash equilibrium: q*</a:t>
            </a:r>
            <a:r>
              <a:rPr lang="en-US" altLang="en-US" baseline="-25000" dirty="0" smtClean="0"/>
              <a:t>1</a:t>
            </a:r>
            <a:r>
              <a:rPr lang="en-US" altLang="en-US" dirty="0" smtClean="0"/>
              <a:t>=q*</a:t>
            </a:r>
            <a:r>
              <a:rPr lang="en-US" altLang="en-US" baseline="-25000" dirty="0" smtClean="0"/>
              <a:t>2</a:t>
            </a:r>
            <a:r>
              <a:rPr lang="en-US" altLang="en-US" dirty="0" smtClean="0"/>
              <a:t>=40, payoff=1,600</a:t>
            </a:r>
          </a:p>
        </p:txBody>
      </p:sp>
    </p:spTree>
    <p:extLst>
      <p:ext uri="{BB962C8B-B14F-4D97-AF65-F5344CB8AC3E}">
        <p14:creationId xmlns:p14="http://schemas.microsoft.com/office/powerpoint/2010/main" val="310336893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bwMode="auto">
          <a:xfrm>
            <a:off x="1143000" y="0"/>
            <a:ext cx="8001000" cy="9000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8.7	Best-Response Diagram for the </a:t>
            </a:r>
            <a:r>
              <a:rPr lang="en-US" altLang="en-US" dirty="0" smtClean="0"/>
              <a:t/>
            </a:r>
            <a:br>
              <a:rPr lang="en-US" altLang="en-US" dirty="0" smtClean="0"/>
            </a:br>
            <a:r>
              <a:rPr lang="en-US" altLang="en-US" dirty="0"/>
              <a:t>	</a:t>
            </a:r>
            <a:r>
              <a:rPr lang="en-US" altLang="en-US" dirty="0" smtClean="0">
                <a:solidFill>
                  <a:srgbClr val="002D56"/>
                </a:solidFill>
              </a:rPr>
              <a:t>Tragedy </a:t>
            </a:r>
            <a:r>
              <a:rPr lang="en-US" altLang="en-US" dirty="0">
                <a:solidFill>
                  <a:srgbClr val="002D56"/>
                </a:solidFill>
              </a:rPr>
              <a:t>of the </a:t>
            </a:r>
            <a:r>
              <a:rPr lang="en-US" altLang="en-US" dirty="0" smtClean="0">
                <a:solidFill>
                  <a:srgbClr val="002D56"/>
                </a:solidFill>
              </a:rPr>
              <a:t>Commons</a:t>
            </a:r>
          </a:p>
        </p:txBody>
      </p:sp>
      <p:sp>
        <p:nvSpPr>
          <p:cNvPr id="55299" name="Text Placeholder 2"/>
          <p:cNvSpPr>
            <a:spLocks noGrp="1"/>
          </p:cNvSpPr>
          <p:nvPr>
            <p:ph sz="half" idx="1"/>
          </p:nvPr>
        </p:nvSpPr>
        <p:spPr>
          <a:xfrm>
            <a:off x="152400" y="1524000"/>
            <a:ext cx="2971800" cy="4525963"/>
          </a:xfrm>
        </p:spPr>
        <p:txBody>
          <a:bodyPr>
            <a:normAutofit/>
          </a:bodyPr>
          <a:lstStyle/>
          <a:p>
            <a:pPr>
              <a:spcBef>
                <a:spcPct val="0"/>
              </a:spcBef>
            </a:pPr>
            <a:r>
              <a:rPr lang="en-US" altLang="en-US" dirty="0"/>
              <a:t>The intersection, E</a:t>
            </a:r>
            <a:r>
              <a:rPr lang="en-US" altLang="en-US" baseline="-25000" dirty="0"/>
              <a:t>1</a:t>
            </a:r>
            <a:r>
              <a:rPr lang="en-US" altLang="en-US" dirty="0"/>
              <a:t>, between the two herders’ best responses is the Nash equilibrium. An increase in the per-sheep value of grazing in the Tragedy of the Commons shifts out herder 1’s best response, resulting in a Nash equilibrium E</a:t>
            </a:r>
            <a:r>
              <a:rPr lang="en-US" altLang="en-US" baseline="-25000" dirty="0"/>
              <a:t>2</a:t>
            </a:r>
            <a:r>
              <a:rPr lang="en-US" altLang="en-US" dirty="0"/>
              <a:t> in which herder 1 grazes more sheep (and herder 2, fewer sheep) than in the original Nash equilibrium.</a:t>
            </a:r>
          </a:p>
          <a:p>
            <a:pPr>
              <a:spcBef>
                <a:spcPct val="0"/>
              </a:spcBef>
            </a:pPr>
            <a:endParaRPr lang="en-US" altLang="en-US" dirty="0" smtClean="0"/>
          </a:p>
        </p:txBody>
      </p:sp>
      <p:sp>
        <p:nvSpPr>
          <p:cNvPr id="55301"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F51E92BD-8599-402D-AA96-488D6C5630A2}" type="slidenum">
              <a:rPr lang="en-US" smtClean="0"/>
              <a:pPr>
                <a:defRPr/>
              </a:pPr>
              <a:t>37</a:t>
            </a:fld>
            <a:endParaRPr lang="en-US" dirty="0"/>
          </a:p>
        </p:txBody>
      </p:sp>
      <p:pic>
        <p:nvPicPr>
          <p:cNvPr id="512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908050"/>
            <a:ext cx="5727700" cy="541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732503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1202"/>
                                        </p:tgtEl>
                                        <p:attrNameLst>
                                          <p:attrName>style.visibility</p:attrName>
                                        </p:attrNameLst>
                                      </p:cBhvr>
                                      <p:to>
                                        <p:strVal val="visible"/>
                                      </p:to>
                                    </p:set>
                                    <p:animEffect transition="in" filter="wipe(left)">
                                      <p:cBhvr>
                                        <p:cTn id="7" dur="500"/>
                                        <p:tgtEl>
                                          <p:spTgt spid="5120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5299">
                                            <p:txEl>
                                              <p:pRg st="0" end="0"/>
                                            </p:txEl>
                                          </p:spTgt>
                                        </p:tgtEl>
                                        <p:attrNameLst>
                                          <p:attrName>style.visibility</p:attrName>
                                        </p:attrNameLst>
                                      </p:cBhvr>
                                      <p:to>
                                        <p:strVal val="visible"/>
                                      </p:to>
                                    </p:set>
                                    <p:animEffect transition="in" filter="wipe(left)">
                                      <p:cBhvr>
                                        <p:cTn id="11" dur="500"/>
                                        <p:tgtEl>
                                          <p:spTgt spid="5529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8.4 	Tragedy of the Commons</a:t>
            </a:r>
          </a:p>
        </p:txBody>
      </p:sp>
      <p:sp>
        <p:nvSpPr>
          <p:cNvPr id="5" name="Footer Placeholder 4"/>
          <p:cNvSpPr>
            <a:spLocks noGrp="1"/>
          </p:cNvSpPr>
          <p:nvPr>
            <p:ph type="ftr" sz="quarter" idx="10"/>
          </p:nvPr>
        </p:nvSpPr>
        <p:spPr>
          <a:prstGeom prst="rect">
            <a:avLst/>
          </a:prstGeom>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a:prstGeom prst="rect">
            <a:avLst/>
          </a:prstGeom>
        </p:spPr>
        <p:txBody>
          <a:bodyPr/>
          <a:lstStyle/>
          <a:p>
            <a:pPr>
              <a:defRPr/>
            </a:pPr>
            <a:fld id="{CB0730B0-649B-4182-BDD3-F706EFD70356}" type="slidenum">
              <a:rPr lang="en-US" smtClean="0"/>
              <a:pPr>
                <a:defRPr/>
              </a:pPr>
              <a:t>38</a:t>
            </a:fld>
            <a:endParaRPr lang="en-US"/>
          </a:p>
        </p:txBody>
      </p:sp>
      <p:sp>
        <p:nvSpPr>
          <p:cNvPr id="56323" name="Rectangle 3"/>
          <p:cNvSpPr>
            <a:spLocks noGrp="1" noChangeArrowheads="1"/>
          </p:cNvSpPr>
          <p:nvPr>
            <p:ph type="body" sz="quarter" idx="12"/>
          </p:nvPr>
        </p:nvSpPr>
        <p:spPr>
          <a:prstGeom prst="rect">
            <a:avLst/>
          </a:prstGeom>
        </p:spPr>
        <p:txBody>
          <a:bodyPr/>
          <a:lstStyle/>
          <a:p>
            <a:pPr>
              <a:lnSpc>
                <a:spcPct val="90000"/>
              </a:lnSpc>
            </a:pPr>
            <a:r>
              <a:rPr lang="en-US" altLang="en-US" dirty="0" smtClean="0"/>
              <a:t>Suppose the per-sheep value of grazing rises for herder 1</a:t>
            </a:r>
          </a:p>
          <a:p>
            <a:pPr lvl="1">
              <a:lnSpc>
                <a:spcPct val="90000"/>
              </a:lnSpc>
            </a:pPr>
            <a:r>
              <a:rPr lang="en-US" altLang="en-US" dirty="0" smtClean="0"/>
              <a:t>Would result in more sheep for herder 1 and fewer for herder 2</a:t>
            </a:r>
          </a:p>
          <a:p>
            <a:r>
              <a:rPr lang="en-US" altLang="en-US" dirty="0" smtClean="0"/>
              <a:t>The Nash equilibrium is not the best use of the commons</a:t>
            </a:r>
          </a:p>
          <a:p>
            <a:pPr lvl="1"/>
            <a:r>
              <a:rPr lang="en-US" altLang="en-US" dirty="0" smtClean="0"/>
              <a:t>If both herders grazed 30 sheep each, their payoffs would rise</a:t>
            </a:r>
          </a:p>
          <a:p>
            <a:r>
              <a:rPr lang="en-US" altLang="en-US" dirty="0" smtClean="0"/>
              <a:t>Solving a joint-</a:t>
            </a:r>
            <a:r>
              <a:rPr lang="en-US" altLang="en-US" dirty="0" err="1" smtClean="0"/>
              <a:t>maxizimization</a:t>
            </a:r>
            <a:r>
              <a:rPr lang="en-US" altLang="en-US" dirty="0" smtClean="0"/>
              <a:t> problem will lead to the higher payoffs</a:t>
            </a:r>
          </a:p>
          <a:p>
            <a:pPr>
              <a:lnSpc>
                <a:spcPct val="90000"/>
              </a:lnSpc>
            </a:pPr>
            <a:endParaRPr lang="en-US" altLang="en-US" dirty="0" smtClean="0"/>
          </a:p>
        </p:txBody>
      </p:sp>
    </p:spTree>
    <p:extLst>
      <p:ext uri="{BB962C8B-B14F-4D97-AF65-F5344CB8AC3E}">
        <p14:creationId xmlns:p14="http://schemas.microsoft.com/office/powerpoint/2010/main" val="127603116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en-US" altLang="en-US" smtClean="0"/>
              <a:t>Sequential Games</a:t>
            </a:r>
          </a:p>
        </p:txBody>
      </p:sp>
      <p:sp>
        <p:nvSpPr>
          <p:cNvPr id="57347" name="Rectangle 3"/>
          <p:cNvSpPr>
            <a:spLocks noGrp="1" noChangeArrowheads="1"/>
          </p:cNvSpPr>
          <p:nvPr>
            <p:ph idx="1"/>
          </p:nvPr>
        </p:nvSpPr>
        <p:spPr/>
        <p:txBody>
          <a:bodyPr/>
          <a:lstStyle/>
          <a:p>
            <a:r>
              <a:rPr lang="en-US" altLang="en-US" smtClean="0"/>
              <a:t>In some games, the order of moves matters</a:t>
            </a:r>
          </a:p>
          <a:p>
            <a:pPr lvl="1"/>
            <a:r>
              <a:rPr lang="en-US" altLang="en-US" smtClean="0"/>
              <a:t>A player that can move later in the game can see how others have played up to that point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2E1ECA8C-32D9-4CA3-B404-8D20C65AB8D3}" type="slidenum">
              <a:rPr lang="en-US" smtClean="0"/>
              <a:pPr>
                <a:defRPr/>
              </a:pPr>
              <a:t>39</a:t>
            </a:fld>
            <a:endParaRPr lang="en-US"/>
          </a:p>
        </p:txBody>
      </p:sp>
    </p:spTree>
    <p:extLst>
      <p:ext uri="{BB962C8B-B14F-4D97-AF65-F5344CB8AC3E}">
        <p14:creationId xmlns:p14="http://schemas.microsoft.com/office/powerpoint/2010/main" val="25649090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en-US" altLang="en-US" smtClean="0"/>
              <a:t>Sequential Battle of the Sexes</a:t>
            </a:r>
          </a:p>
        </p:txBody>
      </p:sp>
      <p:sp>
        <p:nvSpPr>
          <p:cNvPr id="58371" name="Rectangle 3"/>
          <p:cNvSpPr>
            <a:spLocks noGrp="1" noChangeArrowheads="1"/>
          </p:cNvSpPr>
          <p:nvPr>
            <p:ph idx="1"/>
          </p:nvPr>
        </p:nvSpPr>
        <p:spPr/>
        <p:txBody>
          <a:bodyPr/>
          <a:lstStyle/>
          <a:p>
            <a:r>
              <a:rPr lang="en-US" altLang="en-US" smtClean="0"/>
              <a:t>Suppose the wife chooses first </a:t>
            </a:r>
          </a:p>
          <a:p>
            <a:pPr lvl="1"/>
            <a:r>
              <a:rPr lang="en-US" altLang="en-US" smtClean="0"/>
              <a:t>And the husband observes her choice before making his</a:t>
            </a:r>
          </a:p>
          <a:p>
            <a:pPr lvl="1"/>
            <a:r>
              <a:rPr lang="en-US" altLang="en-US" smtClean="0"/>
              <a:t>Her possible strategies haven’t changed</a:t>
            </a:r>
          </a:p>
          <a:p>
            <a:pPr lvl="1"/>
            <a:r>
              <a:rPr lang="en-US" altLang="en-US" smtClean="0"/>
              <a:t>His possible strategies have expanded</a:t>
            </a:r>
          </a:p>
          <a:p>
            <a:pPr lvl="2"/>
            <a:r>
              <a:rPr lang="en-US" altLang="en-US" smtClean="0"/>
              <a:t>For each of his wife’s actions, he can choose one of two actions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BB5C67E3-2E4B-42A7-BEC6-2A200F3D8BAC}" type="slidenum">
              <a:rPr lang="en-US" smtClean="0"/>
              <a:pPr>
                <a:defRPr/>
              </a:pPr>
              <a:t>40</a:t>
            </a:fld>
            <a:endParaRPr lang="en-US"/>
          </a:p>
        </p:txBody>
      </p:sp>
    </p:spTree>
    <p:extLst>
      <p:ext uri="{BB962C8B-B14F-4D97-AF65-F5344CB8AC3E}">
        <p14:creationId xmlns:p14="http://schemas.microsoft.com/office/powerpoint/2010/main" val="281741951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8.1	Husband’s contingent </a:t>
            </a:r>
            <a:r>
              <a:rPr lang="en-US" altLang="en-US" dirty="0" smtClean="0"/>
              <a:t>strategies</a:t>
            </a:r>
          </a:p>
        </p:txBody>
      </p:sp>
      <p:sp>
        <p:nvSpPr>
          <p:cNvPr id="59397"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A9A7EE7F-A854-4156-9871-C36E805AEF49}" type="slidenum">
              <a:rPr lang="en-US" smtClean="0"/>
              <a:pPr>
                <a:defRPr/>
              </a:pPr>
              <a:t>41</a:t>
            </a:fld>
            <a:endParaRPr lang="en-US" dirty="0"/>
          </a:p>
        </p:txBody>
      </p:sp>
      <p:pic>
        <p:nvPicPr>
          <p:cNvPr id="52226" name="Picture 2" descr="C:\Documents and Settings\user\My Documents\Andreea\Nicholson_ Snyder\pic\t8-1.bm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225" y="1497013"/>
            <a:ext cx="8845550" cy="185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50819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2226"/>
                                        </p:tgtEl>
                                        <p:attrNameLst>
                                          <p:attrName>style.visibility</p:attrName>
                                        </p:attrNameLst>
                                      </p:cBhvr>
                                      <p:to>
                                        <p:strVal val="visible"/>
                                      </p:to>
                                    </p:set>
                                    <p:animEffect transition="in" filter="wipe(left)">
                                      <p:cBhvr>
                                        <p:cTn id="7" dur="500"/>
                                        <p:tgtEl>
                                          <p:spTgt spid="522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bwMode="auto">
          <a:xfrm>
            <a:off x="1143000" y="0"/>
            <a:ext cx="8001000"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8.8	Normal Form for the Sequential </a:t>
            </a:r>
            <a:r>
              <a:rPr lang="en-US" altLang="en-US" dirty="0" smtClean="0"/>
              <a:t/>
            </a:r>
            <a:br>
              <a:rPr lang="en-US" altLang="en-US" dirty="0" smtClean="0"/>
            </a:br>
            <a:r>
              <a:rPr lang="en-US" altLang="en-US" dirty="0"/>
              <a:t>	</a:t>
            </a:r>
            <a:r>
              <a:rPr lang="en-US" altLang="en-US" dirty="0" smtClean="0">
                <a:solidFill>
                  <a:srgbClr val="002D56"/>
                </a:solidFill>
              </a:rPr>
              <a:t>Battle </a:t>
            </a:r>
            <a:r>
              <a:rPr lang="en-US" altLang="en-US" dirty="0">
                <a:solidFill>
                  <a:srgbClr val="002D56"/>
                </a:solidFill>
              </a:rPr>
              <a:t>of the </a:t>
            </a:r>
            <a:r>
              <a:rPr lang="en-US" altLang="en-US" dirty="0" smtClean="0">
                <a:solidFill>
                  <a:srgbClr val="002D56"/>
                </a:solidFill>
              </a:rPr>
              <a:t>Sexes</a:t>
            </a:r>
          </a:p>
        </p:txBody>
      </p:sp>
      <p:sp>
        <p:nvSpPr>
          <p:cNvPr id="60419" name="Text Placeholder 2"/>
          <p:cNvSpPr>
            <a:spLocks noGrp="1"/>
          </p:cNvSpPr>
          <p:nvPr>
            <p:ph sz="half" idx="1"/>
          </p:nvPr>
        </p:nvSpPr>
        <p:spPr>
          <a:xfrm>
            <a:off x="152400" y="5334000"/>
            <a:ext cx="8686800" cy="1043781"/>
          </a:xfrm>
        </p:spPr>
        <p:txBody>
          <a:bodyPr>
            <a:normAutofit/>
          </a:bodyPr>
          <a:lstStyle/>
          <a:p>
            <a:pPr>
              <a:spcBef>
                <a:spcPct val="0"/>
              </a:spcBef>
            </a:pPr>
            <a:r>
              <a:rPr lang="en-US" altLang="en-US" dirty="0"/>
              <a:t>The column player (husband) has more complicated, contingent strategies in the sequential Battle of the Sexes.  The normal form expands to reflect his expanded strategy space. </a:t>
            </a:r>
            <a:endParaRPr lang="en-US" altLang="en-US" dirty="0" smtClean="0"/>
          </a:p>
        </p:txBody>
      </p:sp>
      <p:sp>
        <p:nvSpPr>
          <p:cNvPr id="60421"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B0DBF335-0595-49C6-B809-F4D9D6A44162}" type="slidenum">
              <a:rPr lang="en-US" smtClean="0"/>
              <a:pPr>
                <a:defRPr/>
              </a:pPr>
              <a:t>42</a:t>
            </a:fld>
            <a:endParaRPr lang="en-US" dirty="0"/>
          </a:p>
        </p:txBody>
      </p:sp>
      <p:pic>
        <p:nvPicPr>
          <p:cNvPr id="532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066800"/>
            <a:ext cx="785495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854046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3250"/>
                                        </p:tgtEl>
                                        <p:attrNameLst>
                                          <p:attrName>style.visibility</p:attrName>
                                        </p:attrNameLst>
                                      </p:cBhvr>
                                      <p:to>
                                        <p:strVal val="visible"/>
                                      </p:to>
                                    </p:set>
                                    <p:animEffect transition="in" filter="wipe(left)">
                                      <p:cBhvr>
                                        <p:cTn id="7" dur="500"/>
                                        <p:tgtEl>
                                          <p:spTgt spid="5325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0419">
                                            <p:txEl>
                                              <p:pRg st="0" end="0"/>
                                            </p:txEl>
                                          </p:spTgt>
                                        </p:tgtEl>
                                        <p:attrNameLst>
                                          <p:attrName>style.visibility</p:attrName>
                                        </p:attrNameLst>
                                      </p:cBhvr>
                                      <p:to>
                                        <p:strVal val="visible"/>
                                      </p:to>
                                    </p:set>
                                    <p:animEffect transition="in" filter="wipe(left)">
                                      <p:cBhvr>
                                        <p:cTn id="11" dur="500"/>
                                        <p:tgtEl>
                                          <p:spTgt spid="604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8.9	Extensive Form for the Battle of the </a:t>
            </a:r>
            <a:r>
              <a:rPr lang="en-US" altLang="en-US" dirty="0" smtClean="0"/>
              <a:t>Sexes</a:t>
            </a:r>
          </a:p>
        </p:txBody>
      </p:sp>
      <p:sp>
        <p:nvSpPr>
          <p:cNvPr id="61443" name="Text Placeholder 2"/>
          <p:cNvSpPr>
            <a:spLocks noGrp="1"/>
          </p:cNvSpPr>
          <p:nvPr>
            <p:ph sz="half" idx="1"/>
          </p:nvPr>
        </p:nvSpPr>
        <p:spPr>
          <a:xfrm>
            <a:off x="76200" y="5410200"/>
            <a:ext cx="9067800" cy="944563"/>
          </a:xfrm>
        </p:spPr>
        <p:txBody>
          <a:bodyPr>
            <a:normAutofit/>
          </a:bodyPr>
          <a:lstStyle/>
          <a:p>
            <a:pPr>
              <a:spcBef>
                <a:spcPct val="0"/>
              </a:spcBef>
            </a:pPr>
            <a:r>
              <a:rPr lang="en-US" altLang="en-US" dirty="0"/>
              <a:t>In the sequential version (a), the husband moves second, after observing his wife’s move. In the simultaneous version (b), he does not know her choice when he moves, so his decision nodes must be connected in one information set.</a:t>
            </a:r>
          </a:p>
          <a:p>
            <a:pPr>
              <a:spcBef>
                <a:spcPct val="0"/>
              </a:spcBef>
            </a:pPr>
            <a:endParaRPr lang="en-US" altLang="en-US" dirty="0" smtClean="0"/>
          </a:p>
        </p:txBody>
      </p:sp>
      <p:sp>
        <p:nvSpPr>
          <p:cNvPr id="61446"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F5F10CB3-2726-4429-978B-50BB6481CF1A}" type="slidenum">
              <a:rPr lang="en-US" smtClean="0"/>
              <a:pPr>
                <a:defRPr/>
              </a:pPr>
              <a:t>43</a:t>
            </a:fld>
            <a:endParaRPr lang="en-US" dirty="0"/>
          </a:p>
        </p:txBody>
      </p:sp>
      <p:pic>
        <p:nvPicPr>
          <p:cNvPr id="542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2537" y="530225"/>
            <a:ext cx="6638925" cy="487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298239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4274"/>
                                        </p:tgtEl>
                                        <p:attrNameLst>
                                          <p:attrName>style.visibility</p:attrName>
                                        </p:attrNameLst>
                                      </p:cBhvr>
                                      <p:to>
                                        <p:strVal val="visible"/>
                                      </p:to>
                                    </p:set>
                                    <p:animEffect transition="in" filter="wipe(left)">
                                      <p:cBhvr>
                                        <p:cTn id="7" dur="500"/>
                                        <p:tgtEl>
                                          <p:spTgt spid="5427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1443">
                                            <p:txEl>
                                              <p:pRg st="0" end="0"/>
                                            </p:txEl>
                                          </p:spTgt>
                                        </p:tgtEl>
                                        <p:attrNameLst>
                                          <p:attrName>style.visibility</p:attrName>
                                        </p:attrNameLst>
                                      </p:cBhvr>
                                      <p:to>
                                        <p:strVal val="visible"/>
                                      </p:to>
                                    </p:set>
                                    <p:animEffect transition="in" filter="wipe(left)">
                                      <p:cBhvr>
                                        <p:cTn id="11" dur="500"/>
                                        <p:tgtEl>
                                          <p:spTgt spid="6144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en-US" altLang="en-US" smtClean="0"/>
              <a:t>Sequential Battle of the Sexes</a:t>
            </a:r>
          </a:p>
        </p:txBody>
      </p:sp>
      <p:sp>
        <p:nvSpPr>
          <p:cNvPr id="62467" name="Rectangle 3"/>
          <p:cNvSpPr>
            <a:spLocks noGrp="1" noChangeArrowheads="1"/>
          </p:cNvSpPr>
          <p:nvPr>
            <p:ph idx="1"/>
          </p:nvPr>
        </p:nvSpPr>
        <p:spPr/>
        <p:txBody>
          <a:bodyPr/>
          <a:lstStyle/>
          <a:p>
            <a:r>
              <a:rPr lang="en-US" altLang="en-US" smtClean="0"/>
              <a:t>There are three pure-strategy Nash equilibria</a:t>
            </a:r>
          </a:p>
          <a:p>
            <a:pPr marL="971550" lvl="1" indent="-514350">
              <a:buFont typeface="Arial" charset="0"/>
              <a:buAutoNum type="arabicPeriod"/>
            </a:pPr>
            <a:r>
              <a:rPr lang="en-US" altLang="en-US" smtClean="0"/>
              <a:t>Wife plays ballet, husband plays (ballet | ballet, ballet | boxing)</a:t>
            </a:r>
          </a:p>
          <a:p>
            <a:pPr marL="971550" lvl="1" indent="-514350">
              <a:buFont typeface="Arial" charset="0"/>
              <a:buAutoNum type="arabicPeriod"/>
            </a:pPr>
            <a:r>
              <a:rPr lang="en-US" altLang="en-US" smtClean="0"/>
              <a:t>Wife plays ballet, husband plays (ballet | ballet, boxing | boxing)</a:t>
            </a:r>
          </a:p>
          <a:p>
            <a:pPr marL="971550" lvl="1" indent="-514350">
              <a:buFont typeface="Arial" charset="0"/>
              <a:buAutoNum type="arabicPeriod"/>
            </a:pPr>
            <a:r>
              <a:rPr lang="en-US" altLang="en-US" smtClean="0"/>
              <a:t>Wife plays boxing, husband plays (boxing | ballet, boxing | boxing)</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AC8A694E-6EC7-4327-9763-0C2DC06DBED0}" type="slidenum">
              <a:rPr lang="en-US" smtClean="0"/>
              <a:pPr>
                <a:defRPr/>
              </a:pPr>
              <a:t>44</a:t>
            </a:fld>
            <a:endParaRPr lang="en-US"/>
          </a:p>
        </p:txBody>
      </p:sp>
    </p:spTree>
    <p:extLst>
      <p:ext uri="{BB962C8B-B14F-4D97-AF65-F5344CB8AC3E}">
        <p14:creationId xmlns:p14="http://schemas.microsoft.com/office/powerpoint/2010/main" val="199687552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US" altLang="en-US" smtClean="0"/>
              <a:t>Subgame-Perfect Equilibrium</a:t>
            </a:r>
          </a:p>
        </p:txBody>
      </p:sp>
      <p:sp>
        <p:nvSpPr>
          <p:cNvPr id="63491" name="Rectangle 3"/>
          <p:cNvSpPr>
            <a:spLocks noGrp="1" noChangeArrowheads="1"/>
          </p:cNvSpPr>
          <p:nvPr>
            <p:ph idx="1"/>
          </p:nvPr>
        </p:nvSpPr>
        <p:spPr/>
        <p:txBody>
          <a:bodyPr/>
          <a:lstStyle/>
          <a:p>
            <a:r>
              <a:rPr lang="en-US" altLang="en-US" smtClean="0"/>
              <a:t>A subgame</a:t>
            </a:r>
          </a:p>
          <a:p>
            <a:pPr lvl="1"/>
            <a:r>
              <a:rPr lang="en-US" altLang="en-US" smtClean="0"/>
              <a:t>A part of the extensive form beginning with a decision node and including everything to the right of it</a:t>
            </a:r>
          </a:p>
          <a:p>
            <a:r>
              <a:rPr lang="en-US" altLang="en-US" smtClean="0"/>
              <a:t>A proper subgame </a:t>
            </a:r>
          </a:p>
          <a:p>
            <a:pPr lvl="1"/>
            <a:r>
              <a:rPr lang="en-US" altLang="en-US" smtClean="0"/>
              <a:t>Starts at a decision node not connected to another in an information set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5EA5FC4B-919A-4C52-BD83-899971E881CF}" type="slidenum">
              <a:rPr lang="en-US" smtClean="0"/>
              <a:pPr>
                <a:defRPr/>
              </a:pPr>
              <a:t>45</a:t>
            </a:fld>
            <a:endParaRPr lang="en-US"/>
          </a:p>
        </p:txBody>
      </p:sp>
    </p:spTree>
    <p:extLst>
      <p:ext uri="{BB962C8B-B14F-4D97-AF65-F5344CB8AC3E}">
        <p14:creationId xmlns:p14="http://schemas.microsoft.com/office/powerpoint/2010/main" val="342525622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8.10	Equilibrium </a:t>
            </a:r>
            <a:r>
              <a:rPr lang="en-US" altLang="en-US" dirty="0" smtClean="0"/>
              <a:t>Path</a:t>
            </a:r>
          </a:p>
        </p:txBody>
      </p:sp>
      <p:sp>
        <p:nvSpPr>
          <p:cNvPr id="64515" name="Text Placeholder 2"/>
          <p:cNvSpPr>
            <a:spLocks noGrp="1"/>
          </p:cNvSpPr>
          <p:nvPr>
            <p:ph sz="half" idx="1"/>
          </p:nvPr>
        </p:nvSpPr>
        <p:spPr>
          <a:xfrm>
            <a:off x="152400" y="1600200"/>
            <a:ext cx="3581400" cy="4525963"/>
          </a:xfrm>
        </p:spPr>
        <p:txBody>
          <a:bodyPr>
            <a:normAutofit/>
          </a:bodyPr>
          <a:lstStyle/>
          <a:p>
            <a:pPr>
              <a:spcBef>
                <a:spcPct val="0"/>
              </a:spcBef>
            </a:pPr>
            <a:r>
              <a:rPr lang="en-US" altLang="en-US" dirty="0"/>
              <a:t>In the third of the Nash equilibria listed for the sequential Battle of the Sexes, the wife plays boxing and the husband plays (boxing | ballet, boxing | boxing), tracing out the branches indicated with thick lines (both solid and dashed). The dashed line is the equilibrium path; the rest of the tree is referred to as being ‘‘off the equilibrium path.’’</a:t>
            </a:r>
          </a:p>
          <a:p>
            <a:pPr>
              <a:spcBef>
                <a:spcPct val="0"/>
              </a:spcBef>
            </a:pPr>
            <a:endParaRPr lang="en-US" altLang="en-US" dirty="0" smtClean="0"/>
          </a:p>
        </p:txBody>
      </p:sp>
      <p:sp>
        <p:nvSpPr>
          <p:cNvPr id="64518"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2FE199D5-095F-48B4-B08E-73CCA7763E7D}" type="slidenum">
              <a:rPr lang="en-US" smtClean="0"/>
              <a:pPr>
                <a:defRPr/>
              </a:pPr>
              <a:t>46</a:t>
            </a:fld>
            <a:endParaRPr lang="en-US" dirty="0"/>
          </a:p>
        </p:txBody>
      </p:sp>
      <p:pic>
        <p:nvPicPr>
          <p:cNvPr id="552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2263" y="685800"/>
            <a:ext cx="4021137" cy="548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461397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5298"/>
                                        </p:tgtEl>
                                        <p:attrNameLst>
                                          <p:attrName>style.visibility</p:attrName>
                                        </p:attrNameLst>
                                      </p:cBhvr>
                                      <p:to>
                                        <p:strVal val="visible"/>
                                      </p:to>
                                    </p:set>
                                    <p:animEffect transition="in" filter="wipe(left)">
                                      <p:cBhvr>
                                        <p:cTn id="7" dur="500"/>
                                        <p:tgtEl>
                                          <p:spTgt spid="5529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4515">
                                            <p:txEl>
                                              <p:pRg st="0" end="0"/>
                                            </p:txEl>
                                          </p:spTgt>
                                        </p:tgtEl>
                                        <p:attrNameLst>
                                          <p:attrName>style.visibility</p:attrName>
                                        </p:attrNameLst>
                                      </p:cBhvr>
                                      <p:to>
                                        <p:strVal val="visible"/>
                                      </p:to>
                                    </p:set>
                                    <p:animEffect transition="in" filter="wipe(left)">
                                      <p:cBhvr>
                                        <p:cTn id="11" dur="500"/>
                                        <p:tgtEl>
                                          <p:spTgt spid="645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8.11	Proper Subgames in the Battle of the </a:t>
            </a:r>
            <a:r>
              <a:rPr lang="en-US" altLang="en-US" dirty="0" smtClean="0"/>
              <a:t>Sexes</a:t>
            </a:r>
          </a:p>
        </p:txBody>
      </p:sp>
      <p:sp>
        <p:nvSpPr>
          <p:cNvPr id="65539" name="Text Placeholder 2"/>
          <p:cNvSpPr>
            <a:spLocks noGrp="1"/>
          </p:cNvSpPr>
          <p:nvPr>
            <p:ph sz="half" idx="1"/>
          </p:nvPr>
        </p:nvSpPr>
        <p:spPr>
          <a:xfrm>
            <a:off x="152400" y="1511300"/>
            <a:ext cx="1981200" cy="4525963"/>
          </a:xfrm>
        </p:spPr>
        <p:txBody>
          <a:bodyPr>
            <a:normAutofit/>
          </a:bodyPr>
          <a:lstStyle/>
          <a:p>
            <a:pPr>
              <a:spcBef>
                <a:spcPct val="0"/>
              </a:spcBef>
            </a:pPr>
            <a:r>
              <a:rPr lang="en-US" altLang="en-US" dirty="0"/>
              <a:t>The sequential version in (a) has three proper subgames, labeled A, B, and C. The simultaneous version in (b) has only one proper subgame: the whole game itself, labeled D.</a:t>
            </a:r>
          </a:p>
          <a:p>
            <a:pPr>
              <a:spcBef>
                <a:spcPct val="0"/>
              </a:spcBef>
            </a:pPr>
            <a:endParaRPr lang="en-US" altLang="en-US" dirty="0" smtClean="0"/>
          </a:p>
        </p:txBody>
      </p:sp>
      <p:sp>
        <p:nvSpPr>
          <p:cNvPr id="65541"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BD75626E-CB47-43C1-B8C0-0950951E9BD8}" type="slidenum">
              <a:rPr lang="en-US" smtClean="0"/>
              <a:pPr>
                <a:defRPr/>
              </a:pPr>
              <a:t>47</a:t>
            </a:fld>
            <a:endParaRPr lang="en-US" dirty="0"/>
          </a:p>
        </p:txBody>
      </p:sp>
      <p:pic>
        <p:nvPicPr>
          <p:cNvPr id="563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762000"/>
            <a:ext cx="6734175" cy="527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703692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6322"/>
                                        </p:tgtEl>
                                        <p:attrNameLst>
                                          <p:attrName>style.visibility</p:attrName>
                                        </p:attrNameLst>
                                      </p:cBhvr>
                                      <p:to>
                                        <p:strVal val="visible"/>
                                      </p:to>
                                    </p:set>
                                    <p:animEffect transition="in" filter="wipe(left)">
                                      <p:cBhvr>
                                        <p:cTn id="7" dur="500"/>
                                        <p:tgtEl>
                                          <p:spTgt spid="5632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5539">
                                            <p:txEl>
                                              <p:pRg st="0" end="0"/>
                                            </p:txEl>
                                          </p:spTgt>
                                        </p:tgtEl>
                                        <p:attrNameLst>
                                          <p:attrName>style.visibility</p:attrName>
                                        </p:attrNameLst>
                                      </p:cBhvr>
                                      <p:to>
                                        <p:strVal val="visible"/>
                                      </p:to>
                                    </p:set>
                                    <p:animEffect transition="in" filter="wipe(left)">
                                      <p:cBhvr>
                                        <p:cTn id="11" dur="500"/>
                                        <p:tgtEl>
                                          <p:spTgt spid="6553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r>
              <a:rPr lang="en-US" altLang="en-US" smtClean="0"/>
              <a:t>Subgame-Perfect Equilibrium</a:t>
            </a:r>
          </a:p>
        </p:txBody>
      </p:sp>
      <p:sp>
        <p:nvSpPr>
          <p:cNvPr id="66563" name="Rectangle 3"/>
          <p:cNvSpPr>
            <a:spLocks noGrp="1" noChangeArrowheads="1"/>
          </p:cNvSpPr>
          <p:nvPr>
            <p:ph idx="1"/>
          </p:nvPr>
        </p:nvSpPr>
        <p:spPr/>
        <p:txBody>
          <a:bodyPr/>
          <a:lstStyle/>
          <a:p>
            <a:r>
              <a:rPr lang="en-US" altLang="en-US" smtClean="0"/>
              <a:t>A subgame-perfect equilibrium </a:t>
            </a:r>
          </a:p>
          <a:p>
            <a:pPr lvl="1"/>
            <a:r>
              <a:rPr lang="en-US" altLang="en-US" smtClean="0"/>
              <a:t>A strategy profile (</a:t>
            </a:r>
            <a:r>
              <a:rPr lang="en-US" altLang="en-US" i="1" smtClean="0"/>
              <a:t>s</a:t>
            </a:r>
            <a:r>
              <a:rPr lang="en-US" altLang="en-US" smtClean="0"/>
              <a:t>*</a:t>
            </a:r>
            <a:r>
              <a:rPr lang="en-US" altLang="en-US" baseline="-25000" smtClean="0"/>
              <a:t>1</a:t>
            </a:r>
            <a:r>
              <a:rPr lang="en-US" altLang="en-US" smtClean="0"/>
              <a:t>,</a:t>
            </a:r>
            <a:r>
              <a:rPr lang="en-US" altLang="en-US" i="1" smtClean="0"/>
              <a:t>s</a:t>
            </a:r>
            <a:r>
              <a:rPr lang="en-US" altLang="en-US" smtClean="0"/>
              <a:t>*</a:t>
            </a:r>
            <a:r>
              <a:rPr lang="en-US" altLang="en-US" baseline="-25000" smtClean="0"/>
              <a:t>2</a:t>
            </a:r>
            <a:r>
              <a:rPr lang="en-US" altLang="en-US" smtClean="0"/>
              <a:t>,…,</a:t>
            </a:r>
            <a:r>
              <a:rPr lang="en-US" altLang="en-US" i="1" smtClean="0"/>
              <a:t>s</a:t>
            </a:r>
            <a:r>
              <a:rPr lang="en-US" altLang="en-US" smtClean="0"/>
              <a:t>*</a:t>
            </a:r>
            <a:r>
              <a:rPr lang="en-US" altLang="en-US" i="1" baseline="-25000" smtClean="0"/>
              <a:t>n</a:t>
            </a:r>
            <a:r>
              <a:rPr lang="en-US" altLang="en-US" smtClean="0"/>
              <a:t>) that constitutes a Nash equilibrium for every proper subgame</a:t>
            </a:r>
          </a:p>
          <a:p>
            <a:pPr lvl="1"/>
            <a:r>
              <a:rPr lang="en-US" altLang="en-US" smtClean="0"/>
              <a:t>Is always a Nash equilibrium</a:t>
            </a:r>
          </a:p>
          <a:p>
            <a:pPr lvl="1"/>
            <a:r>
              <a:rPr lang="en-US" altLang="en-US" smtClean="0"/>
              <a:t>Rules out any empty threat in a sequential game</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97B4DD25-FC30-4358-A9E0-7E0332BC4CEE}" type="slidenum">
              <a:rPr lang="en-US" smtClean="0"/>
              <a:pPr>
                <a:defRPr/>
              </a:pPr>
              <a:t>48</a:t>
            </a:fld>
            <a:endParaRPr lang="en-US"/>
          </a:p>
        </p:txBody>
      </p:sp>
    </p:spTree>
    <p:extLst>
      <p:ext uri="{BB962C8B-B14F-4D97-AF65-F5344CB8AC3E}">
        <p14:creationId xmlns:p14="http://schemas.microsoft.com/office/powerpoint/2010/main" val="101871247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altLang="en-US" smtClean="0"/>
              <a:t>Backward Induction</a:t>
            </a:r>
          </a:p>
        </p:txBody>
      </p:sp>
      <p:sp>
        <p:nvSpPr>
          <p:cNvPr id="67587" name="Rectangle 3"/>
          <p:cNvSpPr>
            <a:spLocks noGrp="1" noChangeArrowheads="1"/>
          </p:cNvSpPr>
          <p:nvPr>
            <p:ph idx="1"/>
          </p:nvPr>
        </p:nvSpPr>
        <p:spPr>
          <a:xfrm>
            <a:off x="381000" y="1066800"/>
            <a:ext cx="8610600" cy="5334000"/>
          </a:xfrm>
        </p:spPr>
        <p:txBody>
          <a:bodyPr>
            <a:noAutofit/>
          </a:bodyPr>
          <a:lstStyle/>
          <a:p>
            <a:r>
              <a:rPr lang="en-US" altLang="en-US" sz="3200" dirty="0" smtClean="0"/>
              <a:t>Backward induction</a:t>
            </a:r>
          </a:p>
          <a:p>
            <a:pPr lvl="1"/>
            <a:r>
              <a:rPr lang="en-US" altLang="en-US" sz="3000" dirty="0" smtClean="0"/>
              <a:t>A shortcut for finding the perfect-subgame equilibrium directly  </a:t>
            </a:r>
            <a:endParaRPr lang="en-US" altLang="en-US" sz="3000" u="sng" dirty="0" smtClean="0"/>
          </a:p>
          <a:p>
            <a:pPr lvl="1"/>
            <a:r>
              <a:rPr lang="en-US" altLang="en-US" sz="3000" dirty="0" smtClean="0"/>
              <a:t>Working backwards from the end of the game to the beginning</a:t>
            </a:r>
          </a:p>
          <a:p>
            <a:pPr lvl="2"/>
            <a:r>
              <a:rPr lang="en-US" altLang="en-US" dirty="0" smtClean="0"/>
              <a:t>Compute the Nash equilibria for the bottommost subgames at the husband’s decision nodes</a:t>
            </a:r>
          </a:p>
          <a:p>
            <a:pPr lvl="2"/>
            <a:r>
              <a:rPr lang="en-US" altLang="en-US" dirty="0" smtClean="0"/>
              <a:t>Substitute his equilibrium strategies for the subgames themselves</a:t>
            </a:r>
          </a:p>
          <a:p>
            <a:pPr lvl="2"/>
            <a:r>
              <a:rPr lang="en-US" altLang="en-US" dirty="0" smtClean="0"/>
              <a:t>The resulting game is a simple decision problem for the wife</a:t>
            </a:r>
          </a:p>
          <a:p>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10A9D18-C151-4081-A937-8EEE7B025556}" type="slidenum">
              <a:rPr lang="en-US" smtClean="0"/>
              <a:pPr>
                <a:defRPr/>
              </a:pPr>
              <a:t>49</a:t>
            </a:fld>
            <a:endParaRPr lang="en-US"/>
          </a:p>
        </p:txBody>
      </p:sp>
    </p:spTree>
    <p:extLst>
      <p:ext uri="{BB962C8B-B14F-4D97-AF65-F5344CB8AC3E}">
        <p14:creationId xmlns:p14="http://schemas.microsoft.com/office/powerpoint/2010/main" val="105843497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8.12	Applying Backward </a:t>
            </a:r>
            <a:r>
              <a:rPr lang="en-US" altLang="en-US" dirty="0" smtClean="0"/>
              <a:t>Induction</a:t>
            </a:r>
          </a:p>
        </p:txBody>
      </p:sp>
      <p:sp>
        <p:nvSpPr>
          <p:cNvPr id="68611" name="Text Placeholder 2"/>
          <p:cNvSpPr>
            <a:spLocks noGrp="1"/>
          </p:cNvSpPr>
          <p:nvPr>
            <p:ph sz="half" idx="1"/>
          </p:nvPr>
        </p:nvSpPr>
        <p:spPr>
          <a:xfrm>
            <a:off x="76200" y="5472112"/>
            <a:ext cx="9067800" cy="852488"/>
          </a:xfrm>
        </p:spPr>
        <p:txBody>
          <a:bodyPr>
            <a:normAutofit/>
          </a:bodyPr>
          <a:lstStyle/>
          <a:p>
            <a:pPr>
              <a:spcBef>
                <a:spcPct val="0"/>
              </a:spcBef>
            </a:pPr>
            <a:r>
              <a:rPr lang="en-US" altLang="en-US" dirty="0"/>
              <a:t>The last subgames (where player 2 moves) are replaced by the Nash equilibria on these subgames. The simple game that results at right can be solved for player 1’s equilibrium action.</a:t>
            </a:r>
          </a:p>
          <a:p>
            <a:pPr>
              <a:spcBef>
                <a:spcPct val="0"/>
              </a:spcBef>
            </a:pPr>
            <a:endParaRPr lang="en-US" altLang="en-US" dirty="0" smtClean="0"/>
          </a:p>
        </p:txBody>
      </p:sp>
      <p:sp>
        <p:nvSpPr>
          <p:cNvPr id="68614"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EA86076F-ECC6-4CC1-B8B5-8DFD8D3B37BD}" type="slidenum">
              <a:rPr lang="en-US" smtClean="0"/>
              <a:pPr>
                <a:defRPr/>
              </a:pPr>
              <a:t>50</a:t>
            </a:fld>
            <a:endParaRPr lang="en-US" dirty="0"/>
          </a:p>
        </p:txBody>
      </p:sp>
      <p:pic>
        <p:nvPicPr>
          <p:cNvPr id="573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2975" y="533400"/>
            <a:ext cx="7210425" cy="4938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51960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7346"/>
                                        </p:tgtEl>
                                        <p:attrNameLst>
                                          <p:attrName>style.visibility</p:attrName>
                                        </p:attrNameLst>
                                      </p:cBhvr>
                                      <p:to>
                                        <p:strVal val="visible"/>
                                      </p:to>
                                    </p:set>
                                    <p:animEffect transition="in" filter="wipe(left)">
                                      <p:cBhvr>
                                        <p:cTn id="7" dur="500"/>
                                        <p:tgtEl>
                                          <p:spTgt spid="5734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8611">
                                            <p:txEl>
                                              <p:pRg st="0" end="0"/>
                                            </p:txEl>
                                          </p:spTgt>
                                        </p:tgtEl>
                                        <p:attrNameLst>
                                          <p:attrName>style.visibility</p:attrName>
                                        </p:attrNameLst>
                                      </p:cBhvr>
                                      <p:to>
                                        <p:strVal val="visible"/>
                                      </p:to>
                                    </p:set>
                                    <p:animEffect transition="in" filter="wipe(left)">
                                      <p:cBhvr>
                                        <p:cTn id="11" dur="500"/>
                                        <p:tgtEl>
                                          <p:spTgt spid="686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1"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en-US" altLang="en-US" smtClean="0"/>
              <a:t>Repeated Games</a:t>
            </a:r>
          </a:p>
        </p:txBody>
      </p:sp>
      <p:sp>
        <p:nvSpPr>
          <p:cNvPr id="69635" name="Rectangle 3"/>
          <p:cNvSpPr>
            <a:spLocks noGrp="1" noChangeArrowheads="1"/>
          </p:cNvSpPr>
          <p:nvPr>
            <p:ph idx="1"/>
          </p:nvPr>
        </p:nvSpPr>
        <p:spPr/>
        <p:txBody>
          <a:bodyPr/>
          <a:lstStyle/>
          <a:p>
            <a:r>
              <a:rPr lang="en-US" altLang="en-US" smtClean="0"/>
              <a:t>Stage game</a:t>
            </a:r>
          </a:p>
          <a:p>
            <a:pPr lvl="1"/>
            <a:r>
              <a:rPr lang="en-US" altLang="en-US" smtClean="0"/>
              <a:t>Simple constituent game that is played repeatedly</a:t>
            </a:r>
            <a:endParaRPr lang="en-US" altLang="en-US" u="sng" smtClean="0"/>
          </a:p>
          <a:p>
            <a:r>
              <a:rPr lang="en-US" altLang="en-US" smtClean="0"/>
              <a:t>Repeated play </a:t>
            </a:r>
          </a:p>
          <a:p>
            <a:pPr lvl="1"/>
            <a:r>
              <a:rPr lang="en-US" altLang="en-US" smtClean="0"/>
              <a:t>Opens up the possibility of cooperation in equilibrium</a:t>
            </a:r>
          </a:p>
          <a:p>
            <a:pPr lvl="1"/>
            <a:r>
              <a:rPr lang="en-US" altLang="en-US" smtClean="0"/>
              <a:t>Players can adopt trigger strategies</a:t>
            </a:r>
          </a:p>
          <a:p>
            <a:pPr lvl="2"/>
            <a:r>
              <a:rPr lang="en-US" altLang="en-US" smtClean="0"/>
              <a:t>Cooperate as long as everyone else does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9A7F9369-7A7D-46D6-A224-4851BC39C78B}" type="slidenum">
              <a:rPr lang="en-US" smtClean="0"/>
              <a:pPr>
                <a:defRPr/>
              </a:pPr>
              <a:t>51</a:t>
            </a:fld>
            <a:endParaRPr lang="en-US"/>
          </a:p>
        </p:txBody>
      </p:sp>
    </p:spTree>
    <p:extLst>
      <p:ext uri="{BB962C8B-B14F-4D97-AF65-F5344CB8AC3E}">
        <p14:creationId xmlns:p14="http://schemas.microsoft.com/office/powerpoint/2010/main" val="59089973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en-US" altLang="en-US" smtClean="0"/>
              <a:t>Finitely Repeated Games</a:t>
            </a:r>
          </a:p>
        </p:txBody>
      </p:sp>
      <p:sp>
        <p:nvSpPr>
          <p:cNvPr id="70659" name="Rectangle 3"/>
          <p:cNvSpPr>
            <a:spLocks noGrp="1" noChangeArrowheads="1"/>
          </p:cNvSpPr>
          <p:nvPr>
            <p:ph idx="1"/>
          </p:nvPr>
        </p:nvSpPr>
        <p:spPr/>
        <p:txBody>
          <a:bodyPr/>
          <a:lstStyle/>
          <a:p>
            <a:r>
              <a:rPr lang="en-US" altLang="en-US" smtClean="0"/>
              <a:t>Repeat a stage game for a known, finite number of times </a:t>
            </a:r>
          </a:p>
          <a:p>
            <a:pPr lvl="1"/>
            <a:r>
              <a:rPr lang="en-US" altLang="en-US" smtClean="0"/>
              <a:t>May not increase the possibility for cooperation</a:t>
            </a:r>
          </a:p>
          <a:p>
            <a:r>
              <a:rPr lang="en-US" altLang="en-US" smtClean="0"/>
              <a:t>Selten’s theorem</a:t>
            </a:r>
          </a:p>
          <a:p>
            <a:pPr lvl="1"/>
            <a:r>
              <a:rPr lang="en-US" altLang="en-US" sz="2800" smtClean="0"/>
              <a:t>For any stage game with a unique Nash equilibrium</a:t>
            </a:r>
          </a:p>
          <a:p>
            <a:pPr lvl="1"/>
            <a:r>
              <a:rPr lang="en-US" altLang="en-US" sz="2800" smtClean="0"/>
              <a:t>The unique subgame-perfect equilibrium of the finitely repeated game </a:t>
            </a:r>
          </a:p>
          <a:p>
            <a:pPr lvl="1"/>
            <a:r>
              <a:rPr lang="en-US" altLang="en-US" sz="2800" smtClean="0"/>
              <a:t>Involves playing Nash equilibrium every period</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0F991D49-6C97-4698-A6AF-26B50B5970CE}" type="slidenum">
              <a:rPr lang="en-US" smtClean="0"/>
              <a:pPr>
                <a:defRPr/>
              </a:pPr>
              <a:t>52</a:t>
            </a:fld>
            <a:endParaRPr lang="en-US"/>
          </a:p>
        </p:txBody>
      </p:sp>
    </p:spTree>
    <p:extLst>
      <p:ext uri="{BB962C8B-B14F-4D97-AF65-F5344CB8AC3E}">
        <p14:creationId xmlns:p14="http://schemas.microsoft.com/office/powerpoint/2010/main" val="418290916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en-US" altLang="en-US" smtClean="0"/>
              <a:t>Finitely Repeated Games</a:t>
            </a:r>
          </a:p>
        </p:txBody>
      </p:sp>
      <p:sp>
        <p:nvSpPr>
          <p:cNvPr id="71683" name="Rectangle 3"/>
          <p:cNvSpPr>
            <a:spLocks noGrp="1" noChangeArrowheads="1"/>
          </p:cNvSpPr>
          <p:nvPr>
            <p:ph idx="1"/>
          </p:nvPr>
        </p:nvSpPr>
        <p:spPr/>
        <p:txBody>
          <a:bodyPr/>
          <a:lstStyle/>
          <a:p>
            <a:r>
              <a:rPr lang="en-US" altLang="en-US" smtClean="0"/>
              <a:t>If the stage game has multiple Nash equilibria</a:t>
            </a:r>
          </a:p>
          <a:p>
            <a:pPr lvl="1"/>
            <a:r>
              <a:rPr lang="en-US" altLang="en-US" smtClean="0"/>
              <a:t>It may be possible to achieve cooperation in a finitely repeated game</a:t>
            </a:r>
          </a:p>
          <a:p>
            <a:pPr lvl="1"/>
            <a:r>
              <a:rPr lang="en-US" altLang="en-US" smtClean="0"/>
              <a:t>Players can use trigger strategies to maintain cooperation</a:t>
            </a:r>
          </a:p>
          <a:p>
            <a:pPr lvl="2"/>
            <a:r>
              <a:rPr lang="en-US" altLang="en-US" smtClean="0"/>
              <a:t>Threaten to play the Nash equilibrium that yields a worse outcome for the player who deviates from cooperation</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91B4697B-3277-480E-9A05-D993490CE1E5}" type="slidenum">
              <a:rPr lang="en-US" smtClean="0"/>
              <a:pPr>
                <a:defRPr/>
              </a:pPr>
              <a:t>53</a:t>
            </a:fld>
            <a:endParaRPr lang="en-US"/>
          </a:p>
        </p:txBody>
      </p:sp>
    </p:spTree>
    <p:extLst>
      <p:ext uri="{BB962C8B-B14F-4D97-AF65-F5344CB8AC3E}">
        <p14:creationId xmlns:p14="http://schemas.microsoft.com/office/powerpoint/2010/main" val="219202121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r>
              <a:rPr lang="en-US" altLang="en-US" smtClean="0"/>
              <a:t>Infinitely Repeated Games</a:t>
            </a:r>
          </a:p>
        </p:txBody>
      </p:sp>
      <p:sp>
        <p:nvSpPr>
          <p:cNvPr id="72707" name="Rectangle 3"/>
          <p:cNvSpPr>
            <a:spLocks noGrp="1" noChangeArrowheads="1"/>
          </p:cNvSpPr>
          <p:nvPr>
            <p:ph idx="1"/>
          </p:nvPr>
        </p:nvSpPr>
        <p:spPr/>
        <p:txBody>
          <a:bodyPr/>
          <a:lstStyle/>
          <a:p>
            <a:r>
              <a:rPr lang="en-US" altLang="en-US" smtClean="0"/>
              <a:t>Players can sustain cooperation in infinitely repeated games </a:t>
            </a:r>
          </a:p>
          <a:p>
            <a:pPr lvl="1"/>
            <a:r>
              <a:rPr lang="en-US" altLang="en-US" smtClean="0"/>
              <a:t>By using trigger strategies</a:t>
            </a:r>
          </a:p>
          <a:p>
            <a:pPr lvl="1"/>
            <a:r>
              <a:rPr lang="en-US" altLang="en-US" smtClean="0">
                <a:sym typeface="Symbol" pitchFamily="18" charset="2"/>
              </a:rPr>
              <a:t>The trigger strategy must be severe enough to deter deviation</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3B0D8C54-9D73-4A19-A3E4-C1DC3DBCE363}" type="slidenum">
              <a:rPr lang="en-US" smtClean="0"/>
              <a:pPr>
                <a:defRPr/>
              </a:pPr>
              <a:t>54</a:t>
            </a:fld>
            <a:endParaRPr lang="en-US"/>
          </a:p>
        </p:txBody>
      </p:sp>
    </p:spTree>
    <p:extLst>
      <p:ext uri="{BB962C8B-B14F-4D97-AF65-F5344CB8AC3E}">
        <p14:creationId xmlns:p14="http://schemas.microsoft.com/office/powerpoint/2010/main" val="295707145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r>
              <a:rPr lang="en-US" altLang="en-US" smtClean="0"/>
              <a:t>Infinitely Repeated Games</a:t>
            </a:r>
          </a:p>
        </p:txBody>
      </p:sp>
      <p:sp>
        <p:nvSpPr>
          <p:cNvPr id="73731" name="Rectangle 3"/>
          <p:cNvSpPr>
            <a:spLocks noGrp="1" noChangeArrowheads="1"/>
          </p:cNvSpPr>
          <p:nvPr>
            <p:ph idx="1"/>
          </p:nvPr>
        </p:nvSpPr>
        <p:spPr>
          <a:xfrm>
            <a:off x="381000" y="1066800"/>
            <a:ext cx="8534400" cy="5334000"/>
          </a:xfrm>
        </p:spPr>
        <p:txBody>
          <a:bodyPr/>
          <a:lstStyle/>
          <a:p>
            <a:r>
              <a:rPr lang="en-US" altLang="en-US" dirty="0" smtClean="0"/>
              <a:t>Both players follow a trigger strategy in the Prisoners’ Dilemma</a:t>
            </a:r>
          </a:p>
          <a:p>
            <a:pPr lvl="1"/>
            <a:r>
              <a:rPr lang="en-US" altLang="en-US" sz="3000" dirty="0" smtClean="0">
                <a:sym typeface="Symbol" pitchFamily="18" charset="2"/>
              </a:rPr>
              <a:t>If both players are silent every period, the payoff over time would be</a:t>
            </a:r>
          </a:p>
          <a:p>
            <a:pPr lvl="1" algn="ctr">
              <a:buFontTx/>
              <a:buNone/>
            </a:pPr>
            <a:r>
              <a:rPr lang="en-US" altLang="en-US" sz="3000" i="1" dirty="0" err="1" smtClean="0">
                <a:solidFill>
                  <a:srgbClr val="FF0000"/>
                </a:solidFill>
                <a:sym typeface="Symbol" pitchFamily="18" charset="2"/>
              </a:rPr>
              <a:t>V</a:t>
            </a:r>
            <a:r>
              <a:rPr lang="en-US" altLang="en-US" sz="3000" i="1" baseline="30000" dirty="0" err="1" smtClean="0">
                <a:solidFill>
                  <a:srgbClr val="FF0000"/>
                </a:solidFill>
                <a:sym typeface="Symbol" pitchFamily="18" charset="2"/>
              </a:rPr>
              <a:t>eq</a:t>
            </a:r>
            <a:r>
              <a:rPr lang="en-US" altLang="en-US" sz="3000" dirty="0" smtClean="0">
                <a:solidFill>
                  <a:srgbClr val="FF0000"/>
                </a:solidFill>
                <a:sym typeface="Symbol" pitchFamily="18" charset="2"/>
              </a:rPr>
              <a:t> = 2 + 2 + 2</a:t>
            </a:r>
            <a:r>
              <a:rPr lang="en-US" altLang="en-US" sz="3000" baseline="30000" dirty="0" smtClean="0">
                <a:solidFill>
                  <a:srgbClr val="FF0000"/>
                </a:solidFill>
                <a:sym typeface="Symbol" pitchFamily="18" charset="2"/>
              </a:rPr>
              <a:t>2</a:t>
            </a:r>
            <a:r>
              <a:rPr lang="en-US" altLang="en-US" sz="3000" dirty="0" smtClean="0">
                <a:solidFill>
                  <a:srgbClr val="FF0000"/>
                </a:solidFill>
                <a:sym typeface="Symbol" pitchFamily="18" charset="2"/>
              </a:rPr>
              <a:t> + … = 2/(1–)</a:t>
            </a:r>
          </a:p>
          <a:p>
            <a:pPr lvl="1"/>
            <a:r>
              <a:rPr lang="en-US" altLang="en-US" sz="3000" dirty="0" smtClean="0">
                <a:sym typeface="Symbol" pitchFamily="18" charset="2"/>
              </a:rPr>
              <a:t>If a player deviates and then the other finks every period, that player’s payoff is</a:t>
            </a:r>
          </a:p>
          <a:p>
            <a:pPr lvl="1" algn="ctr">
              <a:buFontTx/>
              <a:buNone/>
            </a:pPr>
            <a:r>
              <a:rPr lang="en-US" altLang="en-US" sz="3000" i="1" dirty="0" err="1" smtClean="0">
                <a:solidFill>
                  <a:srgbClr val="FF0000"/>
                </a:solidFill>
                <a:sym typeface="Symbol" pitchFamily="18" charset="2"/>
              </a:rPr>
              <a:t>V</a:t>
            </a:r>
            <a:r>
              <a:rPr lang="en-US" altLang="en-US" sz="3000" i="1" baseline="30000" dirty="0" err="1" smtClean="0">
                <a:solidFill>
                  <a:srgbClr val="FF0000"/>
                </a:solidFill>
                <a:sym typeface="Symbol" pitchFamily="18" charset="2"/>
              </a:rPr>
              <a:t>dev</a:t>
            </a:r>
            <a:r>
              <a:rPr lang="en-US" altLang="en-US" sz="3000" dirty="0" smtClean="0">
                <a:solidFill>
                  <a:srgbClr val="FF0000"/>
                </a:solidFill>
                <a:sym typeface="Symbol" pitchFamily="18" charset="2"/>
              </a:rPr>
              <a:t> = 3 + 1 + 1</a:t>
            </a:r>
            <a:r>
              <a:rPr lang="en-US" altLang="en-US" sz="3000" baseline="30000" dirty="0" smtClean="0">
                <a:solidFill>
                  <a:srgbClr val="FF0000"/>
                </a:solidFill>
                <a:sym typeface="Symbol" pitchFamily="18" charset="2"/>
              </a:rPr>
              <a:t>2</a:t>
            </a:r>
            <a:r>
              <a:rPr lang="en-US" altLang="en-US" sz="3000" dirty="0" smtClean="0">
                <a:solidFill>
                  <a:srgbClr val="FF0000"/>
                </a:solidFill>
                <a:sym typeface="Symbol" pitchFamily="18" charset="2"/>
              </a:rPr>
              <a:t> + … = 3 + /(1–)</a:t>
            </a:r>
          </a:p>
          <a:p>
            <a:pPr lvl="1"/>
            <a:r>
              <a:rPr lang="en-US" altLang="en-US" sz="3000" dirty="0" smtClean="0"/>
              <a:t>Trigger strategies form a perfect-subgame equilibrium:</a:t>
            </a:r>
            <a:r>
              <a:rPr lang="en-US" altLang="en-US" sz="3000" dirty="0" smtClean="0">
                <a:solidFill>
                  <a:srgbClr val="FF0000"/>
                </a:solidFill>
              </a:rPr>
              <a:t> </a:t>
            </a:r>
            <a:r>
              <a:rPr lang="en-US" altLang="en-US" sz="3000" i="1" dirty="0" err="1" smtClean="0">
                <a:solidFill>
                  <a:srgbClr val="FF0000"/>
                </a:solidFill>
              </a:rPr>
              <a:t>V</a:t>
            </a:r>
            <a:r>
              <a:rPr lang="en-US" altLang="en-US" sz="3000" i="1" baseline="30000" dirty="0" err="1" smtClean="0">
                <a:solidFill>
                  <a:srgbClr val="FF0000"/>
                </a:solidFill>
              </a:rPr>
              <a:t>eq</a:t>
            </a:r>
            <a:r>
              <a:rPr lang="en-US" altLang="en-US" sz="3000" i="1" dirty="0" smtClean="0">
                <a:solidFill>
                  <a:srgbClr val="FF0000"/>
                </a:solidFill>
              </a:rPr>
              <a:t> </a:t>
            </a:r>
            <a:r>
              <a:rPr lang="en-US" altLang="en-US" sz="3000" dirty="0" smtClean="0">
                <a:solidFill>
                  <a:srgbClr val="FF0000"/>
                </a:solidFill>
                <a:sym typeface="Symbol" pitchFamily="18" charset="2"/>
              </a:rPr>
              <a:t> </a:t>
            </a:r>
            <a:r>
              <a:rPr lang="en-US" altLang="en-US" sz="3000" i="1" dirty="0" err="1" smtClean="0">
                <a:solidFill>
                  <a:srgbClr val="FF0000"/>
                </a:solidFill>
                <a:sym typeface="Symbol" pitchFamily="18" charset="2"/>
              </a:rPr>
              <a:t>V</a:t>
            </a:r>
            <a:r>
              <a:rPr lang="en-US" altLang="en-US" sz="3000" i="1" baseline="30000" dirty="0" err="1" smtClean="0">
                <a:solidFill>
                  <a:srgbClr val="FF0000"/>
                </a:solidFill>
                <a:sym typeface="Symbol" pitchFamily="18" charset="2"/>
              </a:rPr>
              <a:t>dev</a:t>
            </a:r>
            <a:r>
              <a:rPr lang="en-US" altLang="en-US" sz="3000" i="1" baseline="30000" dirty="0" smtClean="0">
                <a:solidFill>
                  <a:srgbClr val="FF0000"/>
                </a:solidFill>
                <a:sym typeface="Symbol" pitchFamily="18" charset="2"/>
              </a:rPr>
              <a:t>, </a:t>
            </a:r>
            <a:r>
              <a:rPr lang="en-US" altLang="en-US" sz="3000" dirty="0" smtClean="0">
                <a:sym typeface="Symbol" pitchFamily="18" charset="2"/>
              </a:rPr>
              <a:t>so</a:t>
            </a:r>
            <a:r>
              <a:rPr lang="en-US" altLang="en-US" sz="3000" i="1" baseline="30000" dirty="0" smtClean="0">
                <a:solidFill>
                  <a:srgbClr val="FF0000"/>
                </a:solidFill>
                <a:sym typeface="Symbol" pitchFamily="18" charset="2"/>
              </a:rPr>
              <a:t> </a:t>
            </a:r>
            <a:r>
              <a:rPr lang="en-US" altLang="en-US" sz="3000" dirty="0" smtClean="0">
                <a:solidFill>
                  <a:srgbClr val="FF0000"/>
                </a:solidFill>
                <a:sym typeface="Symbol" pitchFamily="18" charset="2"/>
              </a:rPr>
              <a:t>  1/2</a:t>
            </a:r>
          </a:p>
          <a:p>
            <a:endParaRPr lang="en-US" altLang="en-US" dirty="0" smtClean="0">
              <a:sym typeface="Symbol" pitchFamily="18" charset="2"/>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C0A13F18-2FCC-4DB9-BB3A-3E1052772875}" type="slidenum">
              <a:rPr lang="en-US" smtClean="0"/>
              <a:pPr>
                <a:defRPr/>
              </a:pPr>
              <a:t>55</a:t>
            </a:fld>
            <a:endParaRPr lang="en-US"/>
          </a:p>
        </p:txBody>
      </p:sp>
    </p:spTree>
    <p:extLst>
      <p:ext uri="{BB962C8B-B14F-4D97-AF65-F5344CB8AC3E}">
        <p14:creationId xmlns:p14="http://schemas.microsoft.com/office/powerpoint/2010/main" val="397386750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en-US" altLang="en-US" smtClean="0"/>
              <a:t>Infinitely Repeated Games</a:t>
            </a:r>
          </a:p>
        </p:txBody>
      </p:sp>
      <p:sp>
        <p:nvSpPr>
          <p:cNvPr id="74755" name="Rectangle 3"/>
          <p:cNvSpPr>
            <a:spLocks noGrp="1" noChangeArrowheads="1"/>
          </p:cNvSpPr>
          <p:nvPr>
            <p:ph idx="1"/>
          </p:nvPr>
        </p:nvSpPr>
        <p:spPr>
          <a:xfrm>
            <a:off x="381000" y="1066800"/>
            <a:ext cx="8686800" cy="5334000"/>
          </a:xfrm>
        </p:spPr>
        <p:txBody>
          <a:bodyPr/>
          <a:lstStyle/>
          <a:p>
            <a:r>
              <a:rPr lang="en-US" altLang="en-US" dirty="0" smtClean="0"/>
              <a:t>Grim strategy</a:t>
            </a:r>
          </a:p>
          <a:p>
            <a:pPr lvl="1"/>
            <a:r>
              <a:rPr lang="en-US" altLang="en-US" dirty="0" smtClean="0"/>
              <a:t>The trigger strategy in which players revert to the harshest punishment possible </a:t>
            </a:r>
            <a:endParaRPr lang="en-US" altLang="en-US" u="sng" dirty="0" smtClean="0"/>
          </a:p>
          <a:p>
            <a:pPr lvl="1"/>
            <a:r>
              <a:rPr lang="en-US" altLang="en-US" dirty="0" smtClean="0">
                <a:sym typeface="Symbol" pitchFamily="18" charset="2"/>
              </a:rPr>
              <a:t>Revert to stage-game Nash equilibrium forever</a:t>
            </a:r>
          </a:p>
          <a:p>
            <a:pPr lvl="1"/>
            <a:r>
              <a:rPr lang="en-US" altLang="en-US" dirty="0" smtClean="0">
                <a:sym typeface="Symbol" pitchFamily="18" charset="2"/>
              </a:rPr>
              <a:t>Elicits cooperation for the lowest value of  for any strategy</a:t>
            </a:r>
          </a:p>
          <a:p>
            <a:r>
              <a:rPr lang="en-US" altLang="en-US" dirty="0" smtClean="0">
                <a:sym typeface="Symbol" pitchFamily="18" charset="2"/>
              </a:rPr>
              <a:t>A tit-for-tat strategy </a:t>
            </a:r>
          </a:p>
          <a:p>
            <a:pPr lvl="2"/>
            <a:r>
              <a:rPr lang="en-US" altLang="en-US" dirty="0" smtClean="0">
                <a:sym typeface="Symbol" pitchFamily="18" charset="2"/>
              </a:rPr>
              <a:t>Involves only one round of punishment for cheating</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A664D145-CA92-40AB-A7E0-D3DE737858E2}" type="slidenum">
              <a:rPr lang="en-US" smtClean="0"/>
              <a:pPr>
                <a:defRPr/>
              </a:pPr>
              <a:t>56</a:t>
            </a:fld>
            <a:endParaRPr lang="en-US"/>
          </a:p>
        </p:txBody>
      </p:sp>
    </p:spTree>
    <p:extLst>
      <p:ext uri="{BB962C8B-B14F-4D97-AF65-F5344CB8AC3E}">
        <p14:creationId xmlns:p14="http://schemas.microsoft.com/office/powerpoint/2010/main" val="106837758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en-US" altLang="en-US" smtClean="0"/>
              <a:t>Infinitely Repeated Games</a:t>
            </a:r>
          </a:p>
        </p:txBody>
      </p:sp>
      <p:sp>
        <p:nvSpPr>
          <p:cNvPr id="75779" name="Rectangle 3"/>
          <p:cNvSpPr>
            <a:spLocks noGrp="1" noChangeArrowheads="1"/>
          </p:cNvSpPr>
          <p:nvPr>
            <p:ph idx="1"/>
          </p:nvPr>
        </p:nvSpPr>
        <p:spPr/>
        <p:txBody>
          <a:bodyPr/>
          <a:lstStyle/>
          <a:p>
            <a:r>
              <a:rPr lang="en-US" altLang="en-US" smtClean="0"/>
              <a:t>As </a:t>
            </a:r>
            <a:r>
              <a:rPr lang="en-US" altLang="en-US" smtClean="0">
                <a:sym typeface="Symbol" pitchFamily="18" charset="2"/>
              </a:rPr>
              <a:t> approaches 1</a:t>
            </a:r>
          </a:p>
          <a:p>
            <a:pPr lvl="1"/>
            <a:r>
              <a:rPr lang="en-US" altLang="en-US" smtClean="0">
                <a:sym typeface="Symbol" pitchFamily="18" charset="2"/>
              </a:rPr>
              <a:t>Grim-strategy punishments become infinitely harsh</a:t>
            </a:r>
          </a:p>
          <a:p>
            <a:pPr lvl="2"/>
            <a:r>
              <a:rPr lang="en-US" altLang="en-US" smtClean="0"/>
              <a:t>Because they involve an unending stream of undiscounted losses</a:t>
            </a:r>
          </a:p>
          <a:p>
            <a:pPr lvl="1"/>
            <a:r>
              <a:rPr lang="en-US" altLang="en-US" smtClean="0"/>
              <a:t>Infinite punishments can be used to sustain a wide range of possible outcomes</a:t>
            </a:r>
            <a:endParaRPr lang="en-US" altLang="en-US" smtClean="0">
              <a:sym typeface="Symbol" pitchFamily="18" charset="2"/>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A265F349-2E95-4676-AE67-D373E6C91DDA}" type="slidenum">
              <a:rPr lang="en-US" smtClean="0"/>
              <a:pPr>
                <a:defRPr/>
              </a:pPr>
              <a:t>57</a:t>
            </a:fld>
            <a:endParaRPr lang="en-US"/>
          </a:p>
        </p:txBody>
      </p:sp>
    </p:spTree>
    <p:extLst>
      <p:ext uri="{BB962C8B-B14F-4D97-AF65-F5344CB8AC3E}">
        <p14:creationId xmlns:p14="http://schemas.microsoft.com/office/powerpoint/2010/main" val="126788894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US" altLang="en-US" smtClean="0"/>
              <a:t>Incomplete Information</a:t>
            </a:r>
          </a:p>
        </p:txBody>
      </p:sp>
      <p:sp>
        <p:nvSpPr>
          <p:cNvPr id="76803" name="Rectangle 3"/>
          <p:cNvSpPr>
            <a:spLocks noGrp="1" noChangeArrowheads="1"/>
          </p:cNvSpPr>
          <p:nvPr>
            <p:ph idx="1"/>
          </p:nvPr>
        </p:nvSpPr>
        <p:spPr/>
        <p:txBody>
          <a:bodyPr/>
          <a:lstStyle/>
          <a:p>
            <a:r>
              <a:rPr lang="en-US" altLang="en-US" smtClean="0"/>
              <a:t>Some players </a:t>
            </a:r>
          </a:p>
          <a:p>
            <a:pPr lvl="1"/>
            <a:r>
              <a:rPr lang="en-US" altLang="en-US" smtClean="0"/>
              <a:t>Have information about the game that others do not</a:t>
            </a:r>
          </a:p>
          <a:p>
            <a:r>
              <a:rPr lang="en-US" altLang="en-US" smtClean="0"/>
              <a:t>Players that lack full information </a:t>
            </a:r>
          </a:p>
          <a:p>
            <a:pPr lvl="1"/>
            <a:r>
              <a:rPr lang="en-US" altLang="en-US" smtClean="0"/>
              <a:t>Will try to use what they do know to make inferences about what they do not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9090925F-7C76-46C2-B8EE-D75E362B3231}" type="slidenum">
              <a:rPr lang="en-US" smtClean="0"/>
              <a:pPr>
                <a:defRPr/>
              </a:pPr>
              <a:t>58</a:t>
            </a:fld>
            <a:endParaRPr lang="en-US"/>
          </a:p>
        </p:txBody>
      </p:sp>
    </p:spTree>
    <p:extLst>
      <p:ext uri="{BB962C8B-B14F-4D97-AF65-F5344CB8AC3E}">
        <p14:creationId xmlns:p14="http://schemas.microsoft.com/office/powerpoint/2010/main" val="357595677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US" altLang="en-US" smtClean="0"/>
              <a:t>Simultaneous Bayesian Games</a:t>
            </a:r>
          </a:p>
        </p:txBody>
      </p:sp>
      <p:sp>
        <p:nvSpPr>
          <p:cNvPr id="77827" name="Rectangle 3"/>
          <p:cNvSpPr>
            <a:spLocks noGrp="1" noChangeArrowheads="1"/>
          </p:cNvSpPr>
          <p:nvPr>
            <p:ph idx="1"/>
          </p:nvPr>
        </p:nvSpPr>
        <p:spPr/>
        <p:txBody>
          <a:bodyPr/>
          <a:lstStyle/>
          <a:p>
            <a:r>
              <a:rPr lang="en-US" altLang="en-US" smtClean="0"/>
              <a:t>A two-player</a:t>
            </a:r>
          </a:p>
          <a:p>
            <a:pPr lvl="1"/>
            <a:r>
              <a:rPr lang="en-US" altLang="en-US" smtClean="0"/>
              <a:t>Simultaneous-move game </a:t>
            </a:r>
          </a:p>
          <a:p>
            <a:pPr lvl="1"/>
            <a:r>
              <a:rPr lang="en-US" altLang="en-US" smtClean="0"/>
              <a:t>In which player 1 has private information </a:t>
            </a:r>
          </a:p>
          <a:p>
            <a:pPr lvl="1"/>
            <a:r>
              <a:rPr lang="en-US" altLang="en-US" smtClean="0"/>
              <a:t>But player 2 does not</a:t>
            </a:r>
          </a:p>
          <a:p>
            <a:r>
              <a:rPr lang="en-US" altLang="en-US" smtClean="0"/>
              <a:t>We can model private information </a:t>
            </a:r>
          </a:p>
          <a:p>
            <a:pPr lvl="1"/>
            <a:r>
              <a:rPr lang="en-US" altLang="en-US" smtClean="0"/>
              <a:t>By introducing player types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A94B82B6-AFCF-4D79-8B1B-B99A81DB0918}" type="slidenum">
              <a:rPr lang="en-US" smtClean="0"/>
              <a:pPr>
                <a:defRPr/>
              </a:pPr>
              <a:t>59</a:t>
            </a:fld>
            <a:endParaRPr lang="en-US"/>
          </a:p>
        </p:txBody>
      </p:sp>
    </p:spTree>
    <p:extLst>
      <p:ext uri="{BB962C8B-B14F-4D97-AF65-F5344CB8AC3E}">
        <p14:creationId xmlns:p14="http://schemas.microsoft.com/office/powerpoint/2010/main" val="174330706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r>
              <a:rPr lang="en-US" altLang="en-US" smtClean="0"/>
              <a:t>Player Types and Beliefs</a:t>
            </a:r>
          </a:p>
        </p:txBody>
      </p:sp>
      <p:sp>
        <p:nvSpPr>
          <p:cNvPr id="78851" name="Rectangle 3"/>
          <p:cNvSpPr>
            <a:spLocks noGrp="1" noChangeArrowheads="1"/>
          </p:cNvSpPr>
          <p:nvPr>
            <p:ph idx="1"/>
          </p:nvPr>
        </p:nvSpPr>
        <p:spPr/>
        <p:txBody>
          <a:bodyPr/>
          <a:lstStyle/>
          <a:p>
            <a:r>
              <a:rPr lang="en-US" altLang="en-US" smtClean="0"/>
              <a:t>Player 1 </a:t>
            </a:r>
          </a:p>
          <a:p>
            <a:pPr lvl="1"/>
            <a:r>
              <a:rPr lang="en-US" altLang="en-US" smtClean="0"/>
              <a:t>Can be of a number of possible types, </a:t>
            </a:r>
            <a:r>
              <a:rPr lang="en-US" altLang="en-US" i="1" smtClean="0"/>
              <a:t>t</a:t>
            </a:r>
            <a:endParaRPr lang="en-US" altLang="en-US" smtClean="0"/>
          </a:p>
          <a:p>
            <a:pPr lvl="1"/>
            <a:r>
              <a:rPr lang="en-US" altLang="en-US" smtClean="0"/>
              <a:t>Knows his own type</a:t>
            </a:r>
          </a:p>
          <a:p>
            <a:r>
              <a:rPr lang="en-US" altLang="en-US" smtClean="0"/>
              <a:t>Player 2 </a:t>
            </a:r>
          </a:p>
          <a:p>
            <a:pPr lvl="1"/>
            <a:r>
              <a:rPr lang="en-US" altLang="en-US" smtClean="0"/>
              <a:t>Is uncertain about </a:t>
            </a:r>
            <a:r>
              <a:rPr lang="en-US" altLang="en-US" i="1" smtClean="0"/>
              <a:t>t</a:t>
            </a:r>
            <a:endParaRPr lang="en-US" altLang="en-US" smtClean="0"/>
          </a:p>
          <a:p>
            <a:pPr lvl="1"/>
            <a:r>
              <a:rPr lang="en-US" altLang="en-US" smtClean="0"/>
              <a:t>Must decide strategy based on her beliefs about </a:t>
            </a:r>
            <a:r>
              <a:rPr lang="en-US" altLang="en-US" i="1" smtClean="0"/>
              <a:t>t</a:t>
            </a:r>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6138D556-2E24-4D71-B8A8-D51F77931544}" type="slidenum">
              <a:rPr lang="en-US" smtClean="0"/>
              <a:pPr>
                <a:defRPr/>
              </a:pPr>
              <a:t>60</a:t>
            </a:fld>
            <a:endParaRPr lang="en-US"/>
          </a:p>
        </p:txBody>
      </p:sp>
    </p:spTree>
    <p:extLst>
      <p:ext uri="{BB962C8B-B14F-4D97-AF65-F5344CB8AC3E}">
        <p14:creationId xmlns:p14="http://schemas.microsoft.com/office/powerpoint/2010/main" val="60677950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r>
              <a:rPr lang="en-US" altLang="en-US" smtClean="0"/>
              <a:t>Player Types and Beliefs</a:t>
            </a:r>
          </a:p>
        </p:txBody>
      </p:sp>
      <p:sp>
        <p:nvSpPr>
          <p:cNvPr id="79875" name="Rectangle 3"/>
          <p:cNvSpPr>
            <a:spLocks noGrp="1" noChangeArrowheads="1"/>
          </p:cNvSpPr>
          <p:nvPr>
            <p:ph idx="1"/>
          </p:nvPr>
        </p:nvSpPr>
        <p:spPr/>
        <p:txBody>
          <a:bodyPr/>
          <a:lstStyle/>
          <a:p>
            <a:r>
              <a:rPr lang="en-US" altLang="en-US" smtClean="0"/>
              <a:t>The game begins at a chance node</a:t>
            </a:r>
          </a:p>
          <a:p>
            <a:pPr lvl="1"/>
            <a:r>
              <a:rPr lang="en-US" altLang="en-US" smtClean="0"/>
              <a:t>At which a value of </a:t>
            </a:r>
            <a:r>
              <a:rPr lang="en-US" altLang="en-US" i="1" smtClean="0"/>
              <a:t>t</a:t>
            </a:r>
            <a:r>
              <a:rPr lang="en-US" altLang="en-US" i="1" baseline="-25000" smtClean="0"/>
              <a:t>k</a:t>
            </a:r>
            <a:r>
              <a:rPr lang="en-US" altLang="en-US" smtClean="0"/>
              <a:t> is drawn for player 1 from a set of possible types, </a:t>
            </a:r>
          </a:p>
          <a:p>
            <a:pPr lvl="1">
              <a:buFont typeface="Arial" charset="0"/>
              <a:buNone/>
            </a:pPr>
            <a:r>
              <a:rPr lang="en-US" altLang="en-US" i="1" smtClean="0"/>
              <a:t>T = </a:t>
            </a:r>
            <a:r>
              <a:rPr lang="en-US" altLang="en-US" smtClean="0"/>
              <a:t>{</a:t>
            </a:r>
            <a:r>
              <a:rPr lang="en-US" altLang="en-US" i="1" smtClean="0"/>
              <a:t>t</a:t>
            </a:r>
            <a:r>
              <a:rPr lang="en-US" altLang="en-US" baseline="-25000" smtClean="0"/>
              <a:t>1</a:t>
            </a:r>
            <a:r>
              <a:rPr lang="en-US" altLang="en-US" smtClean="0"/>
              <a:t>,…,</a:t>
            </a:r>
            <a:r>
              <a:rPr lang="en-US" altLang="en-US" i="1" smtClean="0"/>
              <a:t>t</a:t>
            </a:r>
            <a:r>
              <a:rPr lang="en-US" altLang="en-US" i="1" baseline="-25000" smtClean="0"/>
              <a:t>k</a:t>
            </a:r>
            <a:r>
              <a:rPr lang="en-US" altLang="en-US" smtClean="0"/>
              <a:t>,…,</a:t>
            </a:r>
            <a:r>
              <a:rPr lang="en-US" altLang="en-US" i="1" smtClean="0"/>
              <a:t>t</a:t>
            </a:r>
            <a:r>
              <a:rPr lang="en-US" altLang="en-US" i="1" baseline="-25000" smtClean="0"/>
              <a:t>K</a:t>
            </a:r>
            <a:r>
              <a:rPr lang="en-US" altLang="en-US" smtClean="0"/>
              <a:t>}</a:t>
            </a:r>
          </a:p>
          <a:p>
            <a:pPr lvl="1"/>
            <a:r>
              <a:rPr lang="en-US" altLang="en-US" i="1" smtClean="0"/>
              <a:t>Pr</a:t>
            </a:r>
            <a:r>
              <a:rPr lang="en-US" altLang="en-US" smtClean="0"/>
              <a:t>(</a:t>
            </a:r>
            <a:r>
              <a:rPr lang="en-US" altLang="en-US" i="1" smtClean="0"/>
              <a:t>t</a:t>
            </a:r>
            <a:r>
              <a:rPr lang="en-US" altLang="en-US" i="1" baseline="-25000" smtClean="0"/>
              <a:t>k</a:t>
            </a:r>
            <a:r>
              <a:rPr lang="en-US" altLang="en-US" smtClean="0"/>
              <a:t>)</a:t>
            </a:r>
            <a:r>
              <a:rPr lang="en-US" altLang="en-US" i="1" smtClean="0"/>
              <a:t> = </a:t>
            </a:r>
            <a:r>
              <a:rPr lang="en-US" altLang="en-US" smtClean="0"/>
              <a:t>probability of drawing type</a:t>
            </a:r>
            <a:r>
              <a:rPr lang="en-US" altLang="en-US" i="1" smtClean="0"/>
              <a:t> t</a:t>
            </a:r>
            <a:r>
              <a:rPr lang="en-US" altLang="en-US" i="1" baseline="-25000" smtClean="0"/>
              <a:t>k</a:t>
            </a:r>
            <a:endParaRPr lang="en-US" altLang="en-US" smtClean="0"/>
          </a:p>
          <a:p>
            <a:pPr lvl="1"/>
            <a:r>
              <a:rPr lang="en-US" altLang="en-US" smtClean="0"/>
              <a:t>Player 1 sees which type is drawn</a:t>
            </a:r>
          </a:p>
          <a:p>
            <a:pPr lvl="1"/>
            <a:r>
              <a:rPr lang="en-US" altLang="en-US" smtClean="0"/>
              <a:t>Player 2 does not see which type is drawn</a:t>
            </a:r>
          </a:p>
          <a:p>
            <a:pPr lvl="2"/>
            <a:r>
              <a:rPr lang="en-US" altLang="en-US" smtClean="0"/>
              <a:t>Only knows the probabilities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44DB6B0B-2622-491E-833A-64CB608B98EA}" type="slidenum">
              <a:rPr lang="en-US" smtClean="0"/>
              <a:pPr>
                <a:defRPr/>
              </a:pPr>
              <a:t>61</a:t>
            </a:fld>
            <a:endParaRPr lang="en-US"/>
          </a:p>
        </p:txBody>
      </p:sp>
    </p:spTree>
    <p:extLst>
      <p:ext uri="{BB962C8B-B14F-4D97-AF65-F5344CB8AC3E}">
        <p14:creationId xmlns:p14="http://schemas.microsoft.com/office/powerpoint/2010/main" val="2275014148"/>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r>
              <a:rPr lang="en-US" altLang="en-US" smtClean="0"/>
              <a:t>Player Types and Beliefs</a:t>
            </a:r>
          </a:p>
        </p:txBody>
      </p:sp>
      <p:sp>
        <p:nvSpPr>
          <p:cNvPr id="80899" name="Rectangle 3"/>
          <p:cNvSpPr>
            <a:spLocks noGrp="1" noChangeArrowheads="1"/>
          </p:cNvSpPr>
          <p:nvPr>
            <p:ph idx="1"/>
          </p:nvPr>
        </p:nvSpPr>
        <p:spPr/>
        <p:txBody>
          <a:bodyPr/>
          <a:lstStyle/>
          <a:p>
            <a:r>
              <a:rPr lang="en-US" altLang="en-US" smtClean="0"/>
              <a:t>Since player 1 observes </a:t>
            </a:r>
            <a:r>
              <a:rPr lang="en-US" altLang="en-US" i="1" smtClean="0"/>
              <a:t>t</a:t>
            </a:r>
            <a:r>
              <a:rPr lang="en-US" altLang="en-US" smtClean="0"/>
              <a:t> before moving</a:t>
            </a:r>
          </a:p>
          <a:p>
            <a:pPr lvl="1"/>
            <a:r>
              <a:rPr lang="en-US" altLang="en-US" smtClean="0"/>
              <a:t>His strategy can be conditioned on </a:t>
            </a:r>
            <a:r>
              <a:rPr lang="en-US" altLang="en-US" i="1" smtClean="0"/>
              <a:t>t</a:t>
            </a:r>
            <a:endParaRPr lang="en-US" altLang="en-US" smtClean="0"/>
          </a:p>
          <a:p>
            <a:pPr lvl="2"/>
            <a:r>
              <a:rPr lang="en-US" altLang="en-US" smtClean="0"/>
              <a:t>Let </a:t>
            </a:r>
            <a:r>
              <a:rPr lang="en-US" altLang="en-US" i="1" smtClean="0"/>
              <a:t>s</a:t>
            </a:r>
            <a:r>
              <a:rPr lang="en-US" altLang="en-US" baseline="-25000" smtClean="0"/>
              <a:t>1</a:t>
            </a:r>
            <a:r>
              <a:rPr lang="en-US" altLang="en-US" smtClean="0"/>
              <a:t>(</a:t>
            </a:r>
            <a:r>
              <a:rPr lang="en-US" altLang="en-US" i="1" smtClean="0"/>
              <a:t>t</a:t>
            </a:r>
            <a:r>
              <a:rPr lang="en-US" altLang="en-US" smtClean="0"/>
              <a:t>) be 1’s strategy contingent on his type</a:t>
            </a:r>
          </a:p>
          <a:p>
            <a:pPr lvl="2"/>
            <a:r>
              <a:rPr lang="en-US" altLang="en-US" smtClean="0"/>
              <a:t>Player 2’s strategy is an unconditional one, </a:t>
            </a:r>
            <a:r>
              <a:rPr lang="en-US" altLang="en-US" i="1" smtClean="0"/>
              <a:t>s</a:t>
            </a:r>
            <a:r>
              <a:rPr lang="en-US" altLang="en-US" baseline="-25000" smtClean="0"/>
              <a:t>2</a:t>
            </a:r>
          </a:p>
          <a:p>
            <a:r>
              <a:rPr lang="en-US" altLang="en-US" smtClean="0"/>
              <a:t>Player 1’s type may affect player 2’s payoff in two ways</a:t>
            </a:r>
          </a:p>
          <a:p>
            <a:pPr lvl="1"/>
            <a:r>
              <a:rPr lang="en-US" altLang="en-US" smtClean="0"/>
              <a:t>Directly</a:t>
            </a:r>
          </a:p>
          <a:p>
            <a:pPr lvl="1"/>
            <a:r>
              <a:rPr lang="en-US" altLang="en-US" smtClean="0"/>
              <a:t>Indirectly through player 1’s strategy</a:t>
            </a:r>
          </a:p>
          <a:p>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FC1D21E8-6FF4-48D7-BBA8-6915391ABF8A}" type="slidenum">
              <a:rPr lang="en-US" smtClean="0"/>
              <a:pPr>
                <a:defRPr/>
              </a:pPr>
              <a:t>62</a:t>
            </a:fld>
            <a:endParaRPr lang="en-US"/>
          </a:p>
        </p:txBody>
      </p:sp>
    </p:spTree>
    <p:extLst>
      <p:ext uri="{BB962C8B-B14F-4D97-AF65-F5344CB8AC3E}">
        <p14:creationId xmlns:p14="http://schemas.microsoft.com/office/powerpoint/2010/main" val="208049654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8.13 	Simple Game of Incomplete </a:t>
            </a:r>
            <a:r>
              <a:rPr lang="en-US" altLang="en-US" dirty="0" smtClean="0"/>
              <a:t>Information</a:t>
            </a:r>
          </a:p>
        </p:txBody>
      </p:sp>
      <mc:AlternateContent xmlns:mc="http://schemas.openxmlformats.org/markup-compatibility/2006" xmlns:a14="http://schemas.microsoft.com/office/drawing/2010/main">
        <mc:Choice Requires="a14">
          <p:sp>
            <p:nvSpPr>
              <p:cNvPr id="81923" name="Text Placeholder 2"/>
              <p:cNvSpPr>
                <a:spLocks noGrp="1"/>
              </p:cNvSpPr>
              <p:nvPr>
                <p:ph sz="half" idx="1"/>
              </p:nvPr>
            </p:nvSpPr>
            <p:spPr>
              <a:xfrm>
                <a:off x="381001" y="4572000"/>
                <a:ext cx="8305800" cy="1656556"/>
              </a:xfrm>
            </p:spPr>
            <p:txBody>
              <a:bodyPr>
                <a:normAutofit/>
              </a:bodyPr>
              <a:lstStyle/>
              <a:p>
                <a:pPr>
                  <a:spcBef>
                    <a:spcPct val="0"/>
                  </a:spcBef>
                </a:pPr>
                <a:r>
                  <a:rPr lang="en-US" dirty="0"/>
                  <a:t>In this game, all payoffs are known to both players except for </a:t>
                </a:r>
                <a14:m>
                  <m:oMath xmlns:m="http://schemas.openxmlformats.org/officeDocument/2006/math">
                    <m:r>
                      <a:rPr lang="en-US" i="1">
                        <a:latin typeface="Cambria Math"/>
                      </a:rPr>
                      <m:t>𝑡</m:t>
                    </m:r>
                  </m:oMath>
                </a14:m>
                <a:r>
                  <a:rPr lang="en-US" dirty="0"/>
                  <a:t> in the upper left.  Player 2 only knows the distribution:  an equal chance that </a:t>
                </a:r>
                <a14:m>
                  <m:oMath xmlns:m="http://schemas.openxmlformats.org/officeDocument/2006/math">
                    <m:r>
                      <a:rPr lang="en-US" i="1">
                        <a:latin typeface="Cambria Math"/>
                      </a:rPr>
                      <m:t>𝑡</m:t>
                    </m:r>
                    <m:r>
                      <a:rPr lang="en-US" i="1">
                        <a:latin typeface="Cambria Math"/>
                      </a:rPr>
                      <m:t>=0</m:t>
                    </m:r>
                  </m:oMath>
                </a14:m>
                <a:r>
                  <a:rPr lang="en-US" dirty="0"/>
                  <a:t> or </a:t>
                </a:r>
                <a14:m>
                  <m:oMath xmlns:m="http://schemas.openxmlformats.org/officeDocument/2006/math">
                    <m:r>
                      <a:rPr lang="en-US" i="1">
                        <a:latin typeface="Cambria Math"/>
                      </a:rPr>
                      <m:t>𝑡</m:t>
                    </m:r>
                    <m:r>
                      <a:rPr lang="en-US" i="1">
                        <a:latin typeface="Cambria Math"/>
                      </a:rPr>
                      <m:t>=6</m:t>
                    </m:r>
                  </m:oMath>
                </a14:m>
                <a:r>
                  <a:rPr lang="en-US" dirty="0"/>
                  <a:t>.  Player 1 knows the realized value of </a:t>
                </a:r>
                <a14:m>
                  <m:oMath xmlns:m="http://schemas.openxmlformats.org/officeDocument/2006/math">
                    <m:r>
                      <a:rPr lang="en-US" i="1">
                        <a:latin typeface="Cambria Math"/>
                      </a:rPr>
                      <m:t>𝑡</m:t>
                    </m:r>
                  </m:oMath>
                </a14:m>
                <a:r>
                  <a:rPr lang="en-US" dirty="0"/>
                  <a:t>, equivalent to knowing his or her type.  </a:t>
                </a:r>
              </a:p>
              <a:p>
                <a:pPr>
                  <a:spcBef>
                    <a:spcPct val="0"/>
                  </a:spcBef>
                </a:pPr>
                <a:endParaRPr lang="en-US" altLang="en-US" dirty="0" smtClean="0"/>
              </a:p>
            </p:txBody>
          </p:sp>
        </mc:Choice>
        <mc:Fallback xmlns="">
          <p:sp>
            <p:nvSpPr>
              <p:cNvPr id="81923" name="Text Placeholder 2"/>
              <p:cNvSpPr>
                <a:spLocks noGrp="1" noRot="1" noChangeAspect="1" noMove="1" noResize="1" noEditPoints="1" noAdjustHandles="1" noChangeArrowheads="1" noChangeShapeType="1" noTextEdit="1"/>
              </p:cNvSpPr>
              <p:nvPr>
                <p:ph sz="half" idx="1"/>
              </p:nvPr>
            </p:nvSpPr>
            <p:spPr>
              <a:xfrm>
                <a:off x="381001" y="4572000"/>
                <a:ext cx="8305800" cy="1656556"/>
              </a:xfrm>
              <a:blipFill rotWithShape="1">
                <a:blip r:embed="rId2"/>
                <a:stretch>
                  <a:fillRect l="-661" t="-1838" r="-1175"/>
                </a:stretch>
              </a:blipFill>
            </p:spPr>
            <p:txBody>
              <a:bodyPr/>
              <a:lstStyle/>
              <a:p>
                <a:r>
                  <a:rPr lang="en-US">
                    <a:noFill/>
                  </a:rPr>
                  <a:t> </a:t>
                </a:r>
              </a:p>
            </p:txBody>
          </p:sp>
        </mc:Fallback>
      </mc:AlternateContent>
      <p:sp>
        <p:nvSpPr>
          <p:cNvPr id="81926"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4CCEF951-48DA-4DF5-9BF7-902CEB9DE4FC}" type="slidenum">
              <a:rPr lang="en-US" smtClean="0"/>
              <a:pPr>
                <a:defRPr/>
              </a:pPr>
              <a:t>63</a:t>
            </a:fld>
            <a:endParaRPr lang="en-US" dirty="0"/>
          </a:p>
        </p:txBody>
      </p:sp>
      <p:grpSp>
        <p:nvGrpSpPr>
          <p:cNvPr id="6" name="Group 5"/>
          <p:cNvGrpSpPr/>
          <p:nvPr/>
        </p:nvGrpSpPr>
        <p:grpSpPr>
          <a:xfrm>
            <a:off x="2976563" y="946150"/>
            <a:ext cx="3190875" cy="3019425"/>
            <a:chOff x="2976563" y="946150"/>
            <a:chExt cx="3190875" cy="3019425"/>
          </a:xfrm>
        </p:grpSpPr>
        <p:pic>
          <p:nvPicPr>
            <p:cNvPr id="583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6563" y="946150"/>
              <a:ext cx="3190875" cy="301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Group 2"/>
            <p:cNvGrpSpPr/>
            <p:nvPr/>
          </p:nvGrpSpPr>
          <p:grpSpPr>
            <a:xfrm>
              <a:off x="3048000" y="1295400"/>
              <a:ext cx="2640369" cy="2198132"/>
              <a:chOff x="3048000" y="1295400"/>
              <a:chExt cx="2640369" cy="2198132"/>
            </a:xfrm>
          </p:grpSpPr>
          <p:sp>
            <p:nvSpPr>
              <p:cNvPr id="2" name="TextBox 1"/>
              <p:cNvSpPr txBox="1"/>
              <p:nvPr/>
            </p:nvSpPr>
            <p:spPr>
              <a:xfrm>
                <a:off x="3329231" y="1981200"/>
                <a:ext cx="453970" cy="369332"/>
              </a:xfrm>
              <a:prstGeom prst="rect">
                <a:avLst/>
              </a:prstGeom>
              <a:solidFill>
                <a:schemeClr val="bg1"/>
              </a:solidFill>
            </p:spPr>
            <p:txBody>
              <a:bodyPr wrap="none" rtlCol="0">
                <a:spAutoFit/>
              </a:bodyPr>
              <a:lstStyle/>
              <a:p>
                <a:r>
                  <a:rPr lang="en-US" dirty="0" smtClean="0">
                    <a:solidFill>
                      <a:srgbClr val="002D56"/>
                    </a:solidFill>
                  </a:rPr>
                  <a:t>Up</a:t>
                </a:r>
                <a:endParaRPr lang="en-US" dirty="0">
                  <a:solidFill>
                    <a:srgbClr val="002D56"/>
                  </a:solidFill>
                </a:endParaRPr>
              </a:p>
            </p:txBody>
          </p:sp>
          <p:sp>
            <p:nvSpPr>
              <p:cNvPr id="9" name="TextBox 8"/>
              <p:cNvSpPr txBox="1"/>
              <p:nvPr/>
            </p:nvSpPr>
            <p:spPr>
              <a:xfrm>
                <a:off x="3048000" y="3124200"/>
                <a:ext cx="735201" cy="369332"/>
              </a:xfrm>
              <a:prstGeom prst="rect">
                <a:avLst/>
              </a:prstGeom>
              <a:solidFill>
                <a:schemeClr val="bg1"/>
              </a:solidFill>
            </p:spPr>
            <p:txBody>
              <a:bodyPr wrap="none" rtlCol="0">
                <a:spAutoFit/>
              </a:bodyPr>
              <a:lstStyle/>
              <a:p>
                <a:r>
                  <a:rPr lang="en-US" dirty="0" smtClean="0">
                    <a:solidFill>
                      <a:srgbClr val="002D56"/>
                    </a:solidFill>
                  </a:rPr>
                  <a:t>Down</a:t>
                </a:r>
                <a:endParaRPr lang="en-US" dirty="0">
                  <a:solidFill>
                    <a:srgbClr val="002D56"/>
                  </a:solidFill>
                </a:endParaRPr>
              </a:p>
            </p:txBody>
          </p:sp>
          <p:sp>
            <p:nvSpPr>
              <p:cNvPr id="10" name="TextBox 9"/>
              <p:cNvSpPr txBox="1"/>
              <p:nvPr/>
            </p:nvSpPr>
            <p:spPr>
              <a:xfrm>
                <a:off x="4028710" y="1295400"/>
                <a:ext cx="543290" cy="369332"/>
              </a:xfrm>
              <a:prstGeom prst="rect">
                <a:avLst/>
              </a:prstGeom>
              <a:solidFill>
                <a:schemeClr val="bg1"/>
              </a:solidFill>
            </p:spPr>
            <p:txBody>
              <a:bodyPr wrap="none" rtlCol="0">
                <a:spAutoFit/>
              </a:bodyPr>
              <a:lstStyle/>
              <a:p>
                <a:r>
                  <a:rPr lang="en-US" dirty="0" smtClean="0">
                    <a:solidFill>
                      <a:srgbClr val="002D56"/>
                    </a:solidFill>
                  </a:rPr>
                  <a:t>Left</a:t>
                </a:r>
                <a:endParaRPr lang="en-US" dirty="0">
                  <a:solidFill>
                    <a:srgbClr val="002D56"/>
                  </a:solidFill>
                </a:endParaRPr>
              </a:p>
            </p:txBody>
          </p:sp>
          <p:sp>
            <p:nvSpPr>
              <p:cNvPr id="11" name="TextBox 10"/>
              <p:cNvSpPr txBox="1"/>
              <p:nvPr/>
            </p:nvSpPr>
            <p:spPr>
              <a:xfrm>
                <a:off x="5020109" y="1295400"/>
                <a:ext cx="668260" cy="369332"/>
              </a:xfrm>
              <a:prstGeom prst="rect">
                <a:avLst/>
              </a:prstGeom>
              <a:solidFill>
                <a:schemeClr val="bg1"/>
              </a:solidFill>
            </p:spPr>
            <p:txBody>
              <a:bodyPr wrap="none" rtlCol="0">
                <a:spAutoFit/>
              </a:bodyPr>
              <a:lstStyle/>
              <a:p>
                <a:r>
                  <a:rPr lang="en-US" dirty="0" smtClean="0">
                    <a:solidFill>
                      <a:srgbClr val="002D56"/>
                    </a:solidFill>
                  </a:rPr>
                  <a:t>Right</a:t>
                </a:r>
                <a:endParaRPr lang="en-US" dirty="0">
                  <a:solidFill>
                    <a:srgbClr val="002D56"/>
                  </a:solidFill>
                </a:endParaRPr>
              </a:p>
            </p:txBody>
          </p:sp>
        </p:grpSp>
      </p:grpSp>
    </p:spTree>
    <p:extLst>
      <p:ext uri="{BB962C8B-B14F-4D97-AF65-F5344CB8AC3E}">
        <p14:creationId xmlns:p14="http://schemas.microsoft.com/office/powerpoint/2010/main" val="1305337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1923">
                                            <p:txEl>
                                              <p:pRg st="0" end="0"/>
                                            </p:txEl>
                                          </p:spTgt>
                                        </p:tgtEl>
                                        <p:attrNameLst>
                                          <p:attrName>style.visibility</p:attrName>
                                        </p:attrNameLst>
                                      </p:cBhvr>
                                      <p:to>
                                        <p:strVal val="visible"/>
                                      </p:to>
                                    </p:set>
                                    <p:animEffect transition="in" filter="wipe(left)">
                                      <p:cBhvr>
                                        <p:cTn id="11" dur="500"/>
                                        <p:tgtEl>
                                          <p:spTgt spid="819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8.14	Extensive Form for Simple Game of </a:t>
            </a:r>
            <a:r>
              <a:rPr lang="en-US" altLang="en-US" dirty="0" smtClean="0"/>
              <a:t/>
            </a:r>
            <a:br>
              <a:rPr lang="en-US" altLang="en-US" dirty="0" smtClean="0"/>
            </a:br>
            <a:r>
              <a:rPr lang="en-US" altLang="en-US" dirty="0"/>
              <a:t>	</a:t>
            </a:r>
            <a:r>
              <a:rPr lang="en-US" altLang="en-US" dirty="0" smtClean="0">
                <a:solidFill>
                  <a:srgbClr val="002D56"/>
                </a:solidFill>
              </a:rPr>
              <a:t>Incomplete Information</a:t>
            </a:r>
          </a:p>
        </p:txBody>
      </p:sp>
      <p:sp>
        <p:nvSpPr>
          <p:cNvPr id="82947" name="Text Placeholder 2"/>
          <p:cNvSpPr>
            <a:spLocks noGrp="1"/>
          </p:cNvSpPr>
          <p:nvPr>
            <p:ph sz="half" idx="1"/>
          </p:nvPr>
        </p:nvSpPr>
        <p:spPr/>
        <p:txBody>
          <a:bodyPr>
            <a:normAutofit/>
          </a:bodyPr>
          <a:lstStyle/>
          <a:p>
            <a:pPr>
              <a:spcBef>
                <a:spcPct val="0"/>
              </a:spcBef>
            </a:pPr>
            <a:r>
              <a:rPr lang="en-US" altLang="en-US" dirty="0"/>
              <a:t>This figure translates Figure 8.13 into an extensive-form game. The initial chance node is indicated by an open circle. Player 2’s decision nodes are in the same information set because she does not observe player 1’s type or action before moving.</a:t>
            </a:r>
          </a:p>
          <a:p>
            <a:pPr>
              <a:spcBef>
                <a:spcPct val="0"/>
              </a:spcBef>
            </a:pPr>
            <a:endParaRPr lang="en-US" altLang="en-US" dirty="0" smtClean="0"/>
          </a:p>
        </p:txBody>
      </p:sp>
      <p:sp>
        <p:nvSpPr>
          <p:cNvPr id="82950"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632839CF-D9FF-489B-A9E6-F3CBBEEE02D2}" type="slidenum">
              <a:rPr lang="en-US" smtClean="0"/>
              <a:pPr>
                <a:defRPr/>
              </a:pPr>
              <a:t>64</a:t>
            </a:fld>
            <a:endParaRPr lang="en-US" dirty="0"/>
          </a:p>
        </p:txBody>
      </p:sp>
      <p:grpSp>
        <p:nvGrpSpPr>
          <p:cNvPr id="3" name="Group 2"/>
          <p:cNvGrpSpPr/>
          <p:nvPr/>
        </p:nvGrpSpPr>
        <p:grpSpPr>
          <a:xfrm>
            <a:off x="3932237" y="804446"/>
            <a:ext cx="4754563" cy="5596354"/>
            <a:chOff x="3932237" y="804446"/>
            <a:chExt cx="4754563" cy="5596354"/>
          </a:xfrm>
        </p:grpSpPr>
        <p:pic>
          <p:nvPicPr>
            <p:cNvPr id="593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2237" y="819150"/>
              <a:ext cx="4754563" cy="554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1"/>
            <p:cNvGrpSpPr/>
            <p:nvPr/>
          </p:nvGrpSpPr>
          <p:grpSpPr>
            <a:xfrm>
              <a:off x="5393812" y="804446"/>
              <a:ext cx="2267526" cy="5596354"/>
              <a:chOff x="5393812" y="804446"/>
              <a:chExt cx="2267526" cy="5596354"/>
            </a:xfrm>
          </p:grpSpPr>
          <p:sp>
            <p:nvSpPr>
              <p:cNvPr id="8" name="TextBox 7"/>
              <p:cNvSpPr txBox="1"/>
              <p:nvPr/>
            </p:nvSpPr>
            <p:spPr>
              <a:xfrm>
                <a:off x="5565830" y="1383268"/>
                <a:ext cx="423514" cy="338554"/>
              </a:xfrm>
              <a:prstGeom prst="rect">
                <a:avLst/>
              </a:prstGeom>
              <a:solidFill>
                <a:schemeClr val="bg1"/>
              </a:solidFill>
            </p:spPr>
            <p:txBody>
              <a:bodyPr wrap="none" rtlCol="0">
                <a:spAutoFit/>
              </a:bodyPr>
              <a:lstStyle/>
              <a:p>
                <a:r>
                  <a:rPr lang="en-US" sz="1600" dirty="0" smtClean="0">
                    <a:solidFill>
                      <a:srgbClr val="002D56"/>
                    </a:solidFill>
                  </a:rPr>
                  <a:t>Up</a:t>
                </a:r>
                <a:endParaRPr lang="en-US" sz="1600" dirty="0">
                  <a:solidFill>
                    <a:srgbClr val="002D56"/>
                  </a:solidFill>
                </a:endParaRPr>
              </a:p>
            </p:txBody>
          </p:sp>
          <p:sp>
            <p:nvSpPr>
              <p:cNvPr id="9" name="TextBox 8"/>
              <p:cNvSpPr txBox="1"/>
              <p:nvPr/>
            </p:nvSpPr>
            <p:spPr>
              <a:xfrm>
                <a:off x="5565830" y="4278868"/>
                <a:ext cx="423514" cy="338554"/>
              </a:xfrm>
              <a:prstGeom prst="rect">
                <a:avLst/>
              </a:prstGeom>
              <a:solidFill>
                <a:schemeClr val="bg1"/>
              </a:solidFill>
            </p:spPr>
            <p:txBody>
              <a:bodyPr wrap="none" rtlCol="0">
                <a:spAutoFit/>
              </a:bodyPr>
              <a:lstStyle/>
              <a:p>
                <a:r>
                  <a:rPr lang="en-US" sz="1600" dirty="0" smtClean="0">
                    <a:solidFill>
                      <a:srgbClr val="002D56"/>
                    </a:solidFill>
                  </a:rPr>
                  <a:t>Up</a:t>
                </a:r>
                <a:endParaRPr lang="en-US" sz="1600" dirty="0">
                  <a:solidFill>
                    <a:srgbClr val="002D56"/>
                  </a:solidFill>
                </a:endParaRPr>
              </a:p>
            </p:txBody>
          </p:sp>
          <p:sp>
            <p:nvSpPr>
              <p:cNvPr id="10" name="TextBox 9"/>
              <p:cNvSpPr txBox="1"/>
              <p:nvPr/>
            </p:nvSpPr>
            <p:spPr>
              <a:xfrm>
                <a:off x="5393812" y="5486400"/>
                <a:ext cx="674352" cy="338554"/>
              </a:xfrm>
              <a:prstGeom prst="rect">
                <a:avLst/>
              </a:prstGeom>
              <a:solidFill>
                <a:schemeClr val="bg1"/>
              </a:solidFill>
            </p:spPr>
            <p:txBody>
              <a:bodyPr wrap="none" rtlCol="0">
                <a:spAutoFit/>
              </a:bodyPr>
              <a:lstStyle/>
              <a:p>
                <a:r>
                  <a:rPr lang="en-US" sz="1600" dirty="0" smtClean="0">
                    <a:solidFill>
                      <a:srgbClr val="002D56"/>
                    </a:solidFill>
                  </a:rPr>
                  <a:t>Down</a:t>
                </a:r>
                <a:endParaRPr lang="en-US" sz="1600" dirty="0">
                  <a:solidFill>
                    <a:srgbClr val="002D56"/>
                  </a:solidFill>
                </a:endParaRPr>
              </a:p>
            </p:txBody>
          </p:sp>
          <p:sp>
            <p:nvSpPr>
              <p:cNvPr id="11" name="TextBox 10"/>
              <p:cNvSpPr txBox="1"/>
              <p:nvPr/>
            </p:nvSpPr>
            <p:spPr>
              <a:xfrm>
                <a:off x="5393812" y="2667000"/>
                <a:ext cx="674352" cy="338554"/>
              </a:xfrm>
              <a:prstGeom prst="rect">
                <a:avLst/>
              </a:prstGeom>
              <a:solidFill>
                <a:schemeClr val="bg1"/>
              </a:solidFill>
            </p:spPr>
            <p:txBody>
              <a:bodyPr wrap="none" rtlCol="0">
                <a:spAutoFit/>
              </a:bodyPr>
              <a:lstStyle/>
              <a:p>
                <a:r>
                  <a:rPr lang="en-US" sz="1600" dirty="0" smtClean="0">
                    <a:solidFill>
                      <a:srgbClr val="002D56"/>
                    </a:solidFill>
                  </a:rPr>
                  <a:t>Down</a:t>
                </a:r>
                <a:endParaRPr lang="en-US" sz="1600" dirty="0">
                  <a:solidFill>
                    <a:srgbClr val="002D56"/>
                  </a:solidFill>
                </a:endParaRPr>
              </a:p>
            </p:txBody>
          </p:sp>
          <p:sp>
            <p:nvSpPr>
              <p:cNvPr id="12" name="TextBox 11"/>
              <p:cNvSpPr txBox="1"/>
              <p:nvPr/>
            </p:nvSpPr>
            <p:spPr>
              <a:xfrm>
                <a:off x="7125907" y="804446"/>
                <a:ext cx="503471" cy="338554"/>
              </a:xfrm>
              <a:prstGeom prst="rect">
                <a:avLst/>
              </a:prstGeom>
              <a:solidFill>
                <a:schemeClr val="bg1"/>
              </a:solidFill>
            </p:spPr>
            <p:txBody>
              <a:bodyPr wrap="none" rtlCol="0">
                <a:spAutoFit/>
              </a:bodyPr>
              <a:lstStyle/>
              <a:p>
                <a:r>
                  <a:rPr lang="en-US" sz="1600" dirty="0" smtClean="0">
                    <a:solidFill>
                      <a:srgbClr val="002D56"/>
                    </a:solidFill>
                  </a:rPr>
                  <a:t>Left</a:t>
                </a:r>
                <a:endParaRPr lang="en-US" sz="1600" dirty="0">
                  <a:solidFill>
                    <a:srgbClr val="002D56"/>
                  </a:solidFill>
                </a:endParaRPr>
              </a:p>
            </p:txBody>
          </p:sp>
          <p:sp>
            <p:nvSpPr>
              <p:cNvPr id="13" name="TextBox 12"/>
              <p:cNvSpPr txBox="1"/>
              <p:nvPr/>
            </p:nvSpPr>
            <p:spPr>
              <a:xfrm>
                <a:off x="7125907" y="2252246"/>
                <a:ext cx="503471" cy="338554"/>
              </a:xfrm>
              <a:prstGeom prst="rect">
                <a:avLst/>
              </a:prstGeom>
              <a:solidFill>
                <a:schemeClr val="bg1"/>
              </a:solidFill>
            </p:spPr>
            <p:txBody>
              <a:bodyPr wrap="none" rtlCol="0">
                <a:spAutoFit/>
              </a:bodyPr>
              <a:lstStyle/>
              <a:p>
                <a:r>
                  <a:rPr lang="en-US" sz="1600" dirty="0" smtClean="0">
                    <a:solidFill>
                      <a:srgbClr val="002D56"/>
                    </a:solidFill>
                  </a:rPr>
                  <a:t>Left</a:t>
                </a:r>
                <a:endParaRPr lang="en-US" sz="1600" dirty="0">
                  <a:solidFill>
                    <a:srgbClr val="002D56"/>
                  </a:solidFill>
                </a:endParaRPr>
              </a:p>
            </p:txBody>
          </p:sp>
          <p:sp>
            <p:nvSpPr>
              <p:cNvPr id="14" name="TextBox 13"/>
              <p:cNvSpPr txBox="1"/>
              <p:nvPr/>
            </p:nvSpPr>
            <p:spPr>
              <a:xfrm>
                <a:off x="7125907" y="3623846"/>
                <a:ext cx="503471" cy="338554"/>
              </a:xfrm>
              <a:prstGeom prst="rect">
                <a:avLst/>
              </a:prstGeom>
              <a:solidFill>
                <a:schemeClr val="bg1"/>
              </a:solidFill>
            </p:spPr>
            <p:txBody>
              <a:bodyPr wrap="none" rtlCol="0">
                <a:spAutoFit/>
              </a:bodyPr>
              <a:lstStyle/>
              <a:p>
                <a:r>
                  <a:rPr lang="en-US" sz="1600" dirty="0" smtClean="0">
                    <a:solidFill>
                      <a:srgbClr val="002D56"/>
                    </a:solidFill>
                  </a:rPr>
                  <a:t>Left</a:t>
                </a:r>
                <a:endParaRPr lang="en-US" sz="1600" dirty="0">
                  <a:solidFill>
                    <a:srgbClr val="002D56"/>
                  </a:solidFill>
                </a:endParaRPr>
              </a:p>
            </p:txBody>
          </p:sp>
          <p:sp>
            <p:nvSpPr>
              <p:cNvPr id="15" name="TextBox 14"/>
              <p:cNvSpPr txBox="1"/>
              <p:nvPr/>
            </p:nvSpPr>
            <p:spPr>
              <a:xfrm>
                <a:off x="7125907" y="5147846"/>
                <a:ext cx="503471" cy="338554"/>
              </a:xfrm>
              <a:prstGeom prst="rect">
                <a:avLst/>
              </a:prstGeom>
              <a:solidFill>
                <a:schemeClr val="bg1"/>
              </a:solidFill>
            </p:spPr>
            <p:txBody>
              <a:bodyPr wrap="none" rtlCol="0">
                <a:spAutoFit/>
              </a:bodyPr>
              <a:lstStyle/>
              <a:p>
                <a:r>
                  <a:rPr lang="en-US" sz="1600" dirty="0" smtClean="0">
                    <a:solidFill>
                      <a:srgbClr val="002D56"/>
                    </a:solidFill>
                  </a:rPr>
                  <a:t>Left</a:t>
                </a:r>
                <a:endParaRPr lang="en-US" sz="1600" dirty="0">
                  <a:solidFill>
                    <a:srgbClr val="002D56"/>
                  </a:solidFill>
                </a:endParaRPr>
              </a:p>
            </p:txBody>
          </p:sp>
          <p:sp>
            <p:nvSpPr>
              <p:cNvPr id="16" name="TextBox 15"/>
              <p:cNvSpPr txBox="1"/>
              <p:nvPr/>
            </p:nvSpPr>
            <p:spPr>
              <a:xfrm>
                <a:off x="7047387" y="1752600"/>
                <a:ext cx="613951" cy="338554"/>
              </a:xfrm>
              <a:prstGeom prst="rect">
                <a:avLst/>
              </a:prstGeom>
              <a:solidFill>
                <a:schemeClr val="bg1"/>
              </a:solidFill>
            </p:spPr>
            <p:txBody>
              <a:bodyPr wrap="none" rtlCol="0">
                <a:spAutoFit/>
              </a:bodyPr>
              <a:lstStyle/>
              <a:p>
                <a:r>
                  <a:rPr lang="en-US" sz="1600" dirty="0" smtClean="0">
                    <a:solidFill>
                      <a:srgbClr val="002D56"/>
                    </a:solidFill>
                  </a:rPr>
                  <a:t>Right</a:t>
                </a:r>
                <a:endParaRPr lang="en-US" sz="1600" dirty="0">
                  <a:solidFill>
                    <a:srgbClr val="002D56"/>
                  </a:solidFill>
                </a:endParaRPr>
              </a:p>
            </p:txBody>
          </p:sp>
          <p:sp>
            <p:nvSpPr>
              <p:cNvPr id="17" name="TextBox 16"/>
              <p:cNvSpPr txBox="1"/>
              <p:nvPr/>
            </p:nvSpPr>
            <p:spPr>
              <a:xfrm>
                <a:off x="7047387" y="3200400"/>
                <a:ext cx="613951" cy="338554"/>
              </a:xfrm>
              <a:prstGeom prst="rect">
                <a:avLst/>
              </a:prstGeom>
              <a:solidFill>
                <a:schemeClr val="bg1"/>
              </a:solidFill>
            </p:spPr>
            <p:txBody>
              <a:bodyPr wrap="none" rtlCol="0">
                <a:spAutoFit/>
              </a:bodyPr>
              <a:lstStyle/>
              <a:p>
                <a:r>
                  <a:rPr lang="en-US" sz="1600" dirty="0" smtClean="0">
                    <a:solidFill>
                      <a:srgbClr val="002D56"/>
                    </a:solidFill>
                  </a:rPr>
                  <a:t>Right</a:t>
                </a:r>
                <a:endParaRPr lang="en-US" sz="1600" dirty="0">
                  <a:solidFill>
                    <a:srgbClr val="002D56"/>
                  </a:solidFill>
                </a:endParaRPr>
              </a:p>
            </p:txBody>
          </p:sp>
          <p:sp>
            <p:nvSpPr>
              <p:cNvPr id="18" name="TextBox 17"/>
              <p:cNvSpPr txBox="1"/>
              <p:nvPr/>
            </p:nvSpPr>
            <p:spPr>
              <a:xfrm>
                <a:off x="7047387" y="4572000"/>
                <a:ext cx="613951" cy="338554"/>
              </a:xfrm>
              <a:prstGeom prst="rect">
                <a:avLst/>
              </a:prstGeom>
              <a:solidFill>
                <a:schemeClr val="bg1"/>
              </a:solidFill>
            </p:spPr>
            <p:txBody>
              <a:bodyPr wrap="none" rtlCol="0">
                <a:spAutoFit/>
              </a:bodyPr>
              <a:lstStyle/>
              <a:p>
                <a:r>
                  <a:rPr lang="en-US" sz="1600" dirty="0" smtClean="0">
                    <a:solidFill>
                      <a:srgbClr val="002D56"/>
                    </a:solidFill>
                  </a:rPr>
                  <a:t>Right</a:t>
                </a:r>
                <a:endParaRPr lang="en-US" sz="1600" dirty="0">
                  <a:solidFill>
                    <a:srgbClr val="002D56"/>
                  </a:solidFill>
                </a:endParaRPr>
              </a:p>
            </p:txBody>
          </p:sp>
          <p:sp>
            <p:nvSpPr>
              <p:cNvPr id="19" name="TextBox 18"/>
              <p:cNvSpPr txBox="1"/>
              <p:nvPr/>
            </p:nvSpPr>
            <p:spPr>
              <a:xfrm>
                <a:off x="7047387" y="6062246"/>
                <a:ext cx="613951" cy="338554"/>
              </a:xfrm>
              <a:prstGeom prst="rect">
                <a:avLst/>
              </a:prstGeom>
              <a:solidFill>
                <a:schemeClr val="bg1"/>
              </a:solidFill>
            </p:spPr>
            <p:txBody>
              <a:bodyPr wrap="none" rtlCol="0">
                <a:spAutoFit/>
              </a:bodyPr>
              <a:lstStyle/>
              <a:p>
                <a:r>
                  <a:rPr lang="en-US" sz="1600" dirty="0" smtClean="0">
                    <a:solidFill>
                      <a:srgbClr val="002D56"/>
                    </a:solidFill>
                  </a:rPr>
                  <a:t>Right</a:t>
                </a:r>
                <a:endParaRPr lang="en-US" sz="1600" dirty="0">
                  <a:solidFill>
                    <a:srgbClr val="002D56"/>
                  </a:solidFill>
                </a:endParaRPr>
              </a:p>
            </p:txBody>
          </p:sp>
        </p:grpSp>
      </p:grpSp>
    </p:spTree>
    <p:extLst>
      <p:ext uri="{BB962C8B-B14F-4D97-AF65-F5344CB8AC3E}">
        <p14:creationId xmlns:p14="http://schemas.microsoft.com/office/powerpoint/2010/main" val="2624606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2947">
                                            <p:txEl>
                                              <p:pRg st="0" end="0"/>
                                            </p:txEl>
                                          </p:spTgt>
                                        </p:tgtEl>
                                        <p:attrNameLst>
                                          <p:attrName>style.visibility</p:attrName>
                                        </p:attrNameLst>
                                      </p:cBhvr>
                                      <p:to>
                                        <p:strVal val="visible"/>
                                      </p:to>
                                    </p:set>
                                    <p:animEffect transition="in" filter="wipe(left)">
                                      <p:cBhvr>
                                        <p:cTn id="10" dur="500"/>
                                        <p:tgtEl>
                                          <p:spTgt spid="8294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7"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en-US" altLang="en-US" smtClean="0"/>
              <a:t>Bayesian-Nash Equilibrium</a:t>
            </a:r>
          </a:p>
        </p:txBody>
      </p:sp>
      <p:sp>
        <p:nvSpPr>
          <p:cNvPr id="83971" name="Rectangle 3"/>
          <p:cNvSpPr>
            <a:spLocks noGrp="1" noChangeArrowheads="1"/>
          </p:cNvSpPr>
          <p:nvPr>
            <p:ph idx="1"/>
          </p:nvPr>
        </p:nvSpPr>
        <p:spPr/>
        <p:txBody>
          <a:bodyPr/>
          <a:lstStyle/>
          <a:p>
            <a:r>
              <a:rPr lang="en-US" altLang="en-US" smtClean="0"/>
              <a:t>Equilibrium requires that </a:t>
            </a:r>
          </a:p>
          <a:p>
            <a:pPr lvl="1"/>
            <a:r>
              <a:rPr lang="en-US" altLang="en-US" smtClean="0"/>
              <a:t>1’s strategy be the best response for each and every one of his types</a:t>
            </a:r>
          </a:p>
          <a:p>
            <a:pPr lvl="1"/>
            <a:r>
              <a:rPr lang="en-US" altLang="en-US" smtClean="0"/>
              <a:t>2’s strategy maximize an expected payoff</a:t>
            </a:r>
          </a:p>
          <a:p>
            <a:pPr lvl="2"/>
            <a:r>
              <a:rPr lang="en-US" altLang="en-US" smtClean="0"/>
              <a:t>The expectation is taken with respect to her beliefs about 1’s type</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210F311B-A28F-46C6-AC7E-912F6B87BB67}" type="slidenum">
              <a:rPr lang="en-US" smtClean="0"/>
              <a:pPr>
                <a:defRPr/>
              </a:pPr>
              <a:t>65</a:t>
            </a:fld>
            <a:endParaRPr lang="en-US"/>
          </a:p>
        </p:txBody>
      </p:sp>
    </p:spTree>
    <p:extLst>
      <p:ext uri="{BB962C8B-B14F-4D97-AF65-F5344CB8AC3E}">
        <p14:creationId xmlns:p14="http://schemas.microsoft.com/office/powerpoint/2010/main" val="31235250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r>
              <a:rPr lang="en-US" altLang="en-US" smtClean="0"/>
              <a:t>Bayesian-Nash Equilibrium</a:t>
            </a:r>
          </a:p>
        </p:txBody>
      </p:sp>
      <p:sp>
        <p:nvSpPr>
          <p:cNvPr id="3076" name="Rectangle 3"/>
          <p:cNvSpPr>
            <a:spLocks noGrp="1" noChangeArrowheads="1"/>
          </p:cNvSpPr>
          <p:nvPr>
            <p:ph idx="1"/>
          </p:nvPr>
        </p:nvSpPr>
        <p:spPr/>
        <p:txBody>
          <a:bodyPr/>
          <a:lstStyle/>
          <a:p>
            <a:pPr>
              <a:lnSpc>
                <a:spcPct val="90000"/>
              </a:lnSpc>
            </a:pPr>
            <a:r>
              <a:rPr lang="en-US" altLang="en-US" dirty="0" smtClean="0"/>
              <a:t>Bayesian-Nash equilibrium</a:t>
            </a:r>
          </a:p>
          <a:p>
            <a:pPr lvl="1">
              <a:lnSpc>
                <a:spcPct val="90000"/>
              </a:lnSpc>
            </a:pPr>
            <a:r>
              <a:rPr lang="en-US" altLang="en-US" dirty="0" smtClean="0"/>
              <a:t>In a two-player simultaneous move game in which player 1 has private information, </a:t>
            </a:r>
          </a:p>
          <a:p>
            <a:pPr lvl="1">
              <a:lnSpc>
                <a:spcPct val="90000"/>
              </a:lnSpc>
            </a:pPr>
            <a:r>
              <a:rPr lang="en-US" altLang="en-US" dirty="0" smtClean="0"/>
              <a:t>Is a strategy profile (</a:t>
            </a:r>
            <a:r>
              <a:rPr lang="en-US" altLang="en-US" i="1" dirty="0" smtClean="0"/>
              <a:t>s</a:t>
            </a:r>
            <a:r>
              <a:rPr lang="en-US" altLang="en-US" dirty="0" smtClean="0"/>
              <a:t>*</a:t>
            </a:r>
            <a:r>
              <a:rPr lang="en-US" altLang="en-US" baseline="-25000" dirty="0" smtClean="0"/>
              <a:t>1</a:t>
            </a:r>
            <a:r>
              <a:rPr lang="en-US" altLang="en-US" dirty="0" smtClean="0"/>
              <a:t>(</a:t>
            </a:r>
            <a:r>
              <a:rPr lang="en-US" altLang="en-US" i="1" dirty="0" smtClean="0"/>
              <a:t>t</a:t>
            </a:r>
            <a:r>
              <a:rPr lang="en-US" altLang="en-US" dirty="0" smtClean="0"/>
              <a:t>),</a:t>
            </a:r>
            <a:r>
              <a:rPr lang="en-US" altLang="en-US" i="1" dirty="0" smtClean="0"/>
              <a:t>s</a:t>
            </a:r>
            <a:r>
              <a:rPr lang="en-US" altLang="en-US" dirty="0" smtClean="0"/>
              <a:t>*</a:t>
            </a:r>
            <a:r>
              <a:rPr lang="en-US" altLang="en-US" baseline="-25000" dirty="0" smtClean="0"/>
              <a:t>2</a:t>
            </a:r>
            <a:r>
              <a:rPr lang="en-US" altLang="en-US" dirty="0" smtClean="0"/>
              <a:t>) such that </a:t>
            </a:r>
          </a:p>
          <a:p>
            <a:pPr algn="ctr">
              <a:lnSpc>
                <a:spcPct val="120000"/>
              </a:lnSpc>
              <a:buFontTx/>
              <a:buNone/>
            </a:pPr>
            <a:r>
              <a:rPr lang="en-US" altLang="en-US" sz="3200" i="1" dirty="0" smtClean="0">
                <a:solidFill>
                  <a:srgbClr val="FF0000"/>
                </a:solidFill>
              </a:rPr>
              <a:t>U</a:t>
            </a:r>
            <a:r>
              <a:rPr lang="en-US" altLang="en-US" sz="3200" baseline="-25000" dirty="0" smtClean="0">
                <a:solidFill>
                  <a:srgbClr val="FF0000"/>
                </a:solidFill>
              </a:rPr>
              <a:t>1</a:t>
            </a:r>
            <a:r>
              <a:rPr lang="en-US" altLang="en-US" sz="3200" dirty="0" smtClean="0">
                <a:solidFill>
                  <a:srgbClr val="FF0000"/>
                </a:solidFill>
              </a:rPr>
              <a:t>(</a:t>
            </a:r>
            <a:r>
              <a:rPr lang="en-US" altLang="en-US" sz="3200" i="1" dirty="0" smtClean="0">
                <a:solidFill>
                  <a:srgbClr val="FF0000"/>
                </a:solidFill>
              </a:rPr>
              <a:t>s</a:t>
            </a:r>
            <a:r>
              <a:rPr lang="en-US" altLang="en-US" sz="3200" dirty="0" smtClean="0">
                <a:solidFill>
                  <a:srgbClr val="FF0000"/>
                </a:solidFill>
              </a:rPr>
              <a:t>*</a:t>
            </a:r>
            <a:r>
              <a:rPr lang="en-US" altLang="en-US" sz="3200" baseline="-25000" dirty="0" smtClean="0">
                <a:solidFill>
                  <a:srgbClr val="FF0000"/>
                </a:solidFill>
              </a:rPr>
              <a:t>1</a:t>
            </a:r>
            <a:r>
              <a:rPr lang="en-US" altLang="en-US" sz="3200" dirty="0" smtClean="0">
                <a:solidFill>
                  <a:srgbClr val="FF0000"/>
                </a:solidFill>
              </a:rPr>
              <a:t>(</a:t>
            </a:r>
            <a:r>
              <a:rPr lang="en-US" altLang="en-US" sz="3200" i="1" dirty="0" smtClean="0">
                <a:solidFill>
                  <a:srgbClr val="FF0000"/>
                </a:solidFill>
              </a:rPr>
              <a:t>t</a:t>
            </a:r>
            <a:r>
              <a:rPr lang="en-US" altLang="en-US" sz="3200" dirty="0" smtClean="0">
                <a:solidFill>
                  <a:srgbClr val="FF0000"/>
                </a:solidFill>
              </a:rPr>
              <a:t>),</a:t>
            </a:r>
            <a:r>
              <a:rPr lang="en-US" altLang="en-US" sz="3200" i="1" dirty="0" smtClean="0">
                <a:solidFill>
                  <a:srgbClr val="FF0000"/>
                </a:solidFill>
              </a:rPr>
              <a:t>s</a:t>
            </a:r>
            <a:r>
              <a:rPr lang="en-US" altLang="en-US" sz="3200" dirty="0" smtClean="0">
                <a:solidFill>
                  <a:srgbClr val="FF0000"/>
                </a:solidFill>
              </a:rPr>
              <a:t>*</a:t>
            </a:r>
            <a:r>
              <a:rPr lang="en-US" altLang="en-US" sz="3200" baseline="-25000" dirty="0" smtClean="0">
                <a:solidFill>
                  <a:srgbClr val="FF0000"/>
                </a:solidFill>
              </a:rPr>
              <a:t>2</a:t>
            </a:r>
            <a:r>
              <a:rPr lang="en-US" altLang="en-US" sz="3200" dirty="0" smtClean="0">
                <a:solidFill>
                  <a:srgbClr val="FF0000"/>
                </a:solidFill>
              </a:rPr>
              <a:t>,</a:t>
            </a:r>
            <a:r>
              <a:rPr lang="en-US" altLang="en-US" sz="3200" i="1" dirty="0" smtClean="0">
                <a:solidFill>
                  <a:srgbClr val="FF0000"/>
                </a:solidFill>
              </a:rPr>
              <a:t>t</a:t>
            </a:r>
            <a:r>
              <a:rPr lang="en-US" altLang="en-US" sz="3200" dirty="0" smtClean="0">
                <a:solidFill>
                  <a:srgbClr val="FF0000"/>
                </a:solidFill>
              </a:rPr>
              <a:t>) </a:t>
            </a:r>
            <a:r>
              <a:rPr lang="en-US" altLang="en-US" sz="3200" dirty="0" smtClean="0">
                <a:solidFill>
                  <a:srgbClr val="FF0000"/>
                </a:solidFill>
                <a:sym typeface="Symbol" pitchFamily="18" charset="2"/>
              </a:rPr>
              <a:t> </a:t>
            </a:r>
            <a:r>
              <a:rPr lang="en-US" altLang="en-US" sz="3200" i="1" dirty="0" smtClean="0">
                <a:solidFill>
                  <a:srgbClr val="FF0000"/>
                </a:solidFill>
                <a:sym typeface="Symbol" pitchFamily="18" charset="2"/>
              </a:rPr>
              <a:t>U</a:t>
            </a:r>
            <a:r>
              <a:rPr lang="en-US" altLang="en-US" sz="3200" baseline="-25000" dirty="0" smtClean="0">
                <a:solidFill>
                  <a:srgbClr val="FF0000"/>
                </a:solidFill>
                <a:sym typeface="Symbol" pitchFamily="18" charset="2"/>
              </a:rPr>
              <a:t>1</a:t>
            </a:r>
            <a:r>
              <a:rPr lang="en-US" altLang="en-US" sz="3200" dirty="0" smtClean="0">
                <a:solidFill>
                  <a:srgbClr val="FF0000"/>
                </a:solidFill>
                <a:sym typeface="Symbol" pitchFamily="18" charset="2"/>
              </a:rPr>
              <a:t>(</a:t>
            </a:r>
            <a:r>
              <a:rPr lang="en-US" altLang="en-US" sz="3200" i="1" dirty="0" smtClean="0">
                <a:solidFill>
                  <a:srgbClr val="FF0000"/>
                </a:solidFill>
                <a:sym typeface="Symbol" pitchFamily="18" charset="2"/>
              </a:rPr>
              <a:t>s</a:t>
            </a:r>
            <a:r>
              <a:rPr lang="en-US" altLang="en-US" sz="3200" dirty="0" smtClean="0">
                <a:solidFill>
                  <a:srgbClr val="FF0000"/>
                </a:solidFill>
                <a:sym typeface="Symbol" pitchFamily="18" charset="2"/>
              </a:rPr>
              <a:t>’</a:t>
            </a:r>
            <a:r>
              <a:rPr lang="en-US" altLang="en-US" sz="3200" baseline="-25000" dirty="0" smtClean="0">
                <a:solidFill>
                  <a:srgbClr val="FF0000"/>
                </a:solidFill>
                <a:sym typeface="Symbol" pitchFamily="18" charset="2"/>
              </a:rPr>
              <a:t>1</a:t>
            </a:r>
            <a:r>
              <a:rPr lang="en-US" altLang="en-US" sz="3200" dirty="0" smtClean="0">
                <a:solidFill>
                  <a:srgbClr val="FF0000"/>
                </a:solidFill>
                <a:sym typeface="Symbol" pitchFamily="18" charset="2"/>
              </a:rPr>
              <a:t>,</a:t>
            </a:r>
            <a:r>
              <a:rPr lang="en-US" altLang="en-US" sz="3200" i="1" dirty="0" smtClean="0">
                <a:solidFill>
                  <a:srgbClr val="FF0000"/>
                </a:solidFill>
                <a:sym typeface="Symbol" pitchFamily="18" charset="2"/>
              </a:rPr>
              <a:t>s</a:t>
            </a:r>
            <a:r>
              <a:rPr lang="en-US" altLang="en-US" sz="3200" dirty="0" smtClean="0">
                <a:solidFill>
                  <a:srgbClr val="FF0000"/>
                </a:solidFill>
                <a:sym typeface="Symbol" pitchFamily="18" charset="2"/>
              </a:rPr>
              <a:t>*</a:t>
            </a:r>
            <a:r>
              <a:rPr lang="en-US" altLang="en-US" sz="3200" baseline="-25000" dirty="0" smtClean="0">
                <a:solidFill>
                  <a:srgbClr val="FF0000"/>
                </a:solidFill>
                <a:sym typeface="Symbol" pitchFamily="18" charset="2"/>
              </a:rPr>
              <a:t>2</a:t>
            </a:r>
            <a:r>
              <a:rPr lang="en-US" altLang="en-US" sz="3200" dirty="0" smtClean="0">
                <a:solidFill>
                  <a:srgbClr val="FF0000"/>
                </a:solidFill>
                <a:sym typeface="Symbol" pitchFamily="18" charset="2"/>
              </a:rPr>
              <a:t>,</a:t>
            </a:r>
            <a:r>
              <a:rPr lang="en-US" altLang="en-US" sz="3200" i="1" dirty="0" smtClean="0">
                <a:solidFill>
                  <a:srgbClr val="FF0000"/>
                </a:solidFill>
                <a:sym typeface="Symbol" pitchFamily="18" charset="2"/>
              </a:rPr>
              <a:t>t</a:t>
            </a:r>
            <a:r>
              <a:rPr lang="en-US" altLang="en-US" sz="3200" dirty="0" smtClean="0">
                <a:solidFill>
                  <a:srgbClr val="FF0000"/>
                </a:solidFill>
                <a:sym typeface="Symbol" pitchFamily="18" charset="2"/>
              </a:rPr>
              <a:t>)  for all </a:t>
            </a:r>
            <a:r>
              <a:rPr lang="en-US" altLang="en-US" sz="3200" i="1" dirty="0" smtClean="0">
                <a:solidFill>
                  <a:srgbClr val="FF0000"/>
                </a:solidFill>
                <a:sym typeface="Symbol" pitchFamily="18" charset="2"/>
              </a:rPr>
              <a:t>s</a:t>
            </a:r>
            <a:r>
              <a:rPr lang="en-US" altLang="en-US" sz="3200" dirty="0" smtClean="0">
                <a:solidFill>
                  <a:srgbClr val="FF0000"/>
                </a:solidFill>
                <a:sym typeface="Symbol" pitchFamily="18" charset="2"/>
              </a:rPr>
              <a:t>’</a:t>
            </a:r>
            <a:r>
              <a:rPr lang="en-US" altLang="en-US" sz="3200" baseline="-25000" dirty="0" smtClean="0">
                <a:solidFill>
                  <a:srgbClr val="FF0000"/>
                </a:solidFill>
                <a:sym typeface="Symbol" pitchFamily="18" charset="2"/>
              </a:rPr>
              <a:t>1 </a:t>
            </a:r>
            <a:r>
              <a:rPr lang="en-US" altLang="en-US" sz="3200" dirty="0" smtClean="0">
                <a:solidFill>
                  <a:srgbClr val="FF0000"/>
                </a:solidFill>
                <a:sym typeface="Symbol" pitchFamily="18" charset="2"/>
              </a:rPr>
              <a:t></a:t>
            </a:r>
            <a:r>
              <a:rPr lang="en-US" altLang="en-US" sz="3200" baseline="-25000" dirty="0" smtClean="0">
                <a:solidFill>
                  <a:srgbClr val="FF0000"/>
                </a:solidFill>
                <a:sym typeface="Symbol" pitchFamily="18" charset="2"/>
              </a:rPr>
              <a:t> </a:t>
            </a:r>
            <a:r>
              <a:rPr lang="en-US" altLang="en-US" sz="3200" i="1" dirty="0" smtClean="0">
                <a:solidFill>
                  <a:srgbClr val="FF0000"/>
                </a:solidFill>
                <a:sym typeface="Symbol" pitchFamily="18" charset="2"/>
              </a:rPr>
              <a:t>S</a:t>
            </a:r>
            <a:r>
              <a:rPr lang="en-US" altLang="en-US" sz="3200" baseline="-25000" dirty="0" smtClean="0">
                <a:solidFill>
                  <a:srgbClr val="FF0000"/>
                </a:solidFill>
                <a:sym typeface="Symbol" pitchFamily="18" charset="2"/>
              </a:rPr>
              <a:t>1</a:t>
            </a:r>
            <a:endParaRPr lang="en-US" altLang="en-US" sz="3200" dirty="0" smtClean="0">
              <a:solidFill>
                <a:srgbClr val="FF0000"/>
              </a:solidFill>
              <a:sym typeface="Symbol" pitchFamily="18" charset="2"/>
            </a:endParaRPr>
          </a:p>
          <a:p>
            <a:pPr lvl="1">
              <a:lnSpc>
                <a:spcPct val="120000"/>
              </a:lnSpc>
              <a:buFont typeface="Arial" charset="0"/>
              <a:buNone/>
            </a:pPr>
            <a:r>
              <a:rPr lang="en-US" altLang="en-US" dirty="0" smtClean="0">
                <a:sym typeface="Symbol" pitchFamily="18" charset="2"/>
              </a:rPr>
              <a:t>and</a:t>
            </a:r>
          </a:p>
          <a:p>
            <a:pPr>
              <a:lnSpc>
                <a:spcPct val="90000"/>
              </a:lnSpc>
              <a:buFontTx/>
              <a:buNone/>
            </a:pPr>
            <a:endParaRPr lang="en-US" altLang="en-US" dirty="0" smtClean="0">
              <a:sym typeface="Symbol" pitchFamily="18" charset="2"/>
            </a:endParaRP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5" name="Slide Number Placeholder 4"/>
          <p:cNvSpPr>
            <a:spLocks noGrp="1"/>
          </p:cNvSpPr>
          <p:nvPr>
            <p:ph type="sldNum" sz="quarter" idx="11"/>
          </p:nvPr>
        </p:nvSpPr>
        <p:spPr/>
        <p:txBody>
          <a:bodyPr/>
          <a:lstStyle/>
          <a:p>
            <a:pPr>
              <a:defRPr/>
            </a:pPr>
            <a:fld id="{24C5FC22-8D61-4CEF-B549-688019398247}" type="slidenum">
              <a:rPr lang="en-US" smtClean="0"/>
              <a:pPr>
                <a:defRPr/>
              </a:pPr>
              <a:t>66</a:t>
            </a:fld>
            <a:endParaRPr lang="en-US"/>
          </a:p>
        </p:txBody>
      </p:sp>
      <p:graphicFrame>
        <p:nvGraphicFramePr>
          <p:cNvPr id="92164" name="Object 2"/>
          <p:cNvGraphicFramePr>
            <a:graphicFrameLocks noChangeAspect="1"/>
          </p:cNvGraphicFramePr>
          <p:nvPr>
            <p:extLst>
              <p:ext uri="{D42A27DB-BD31-4B8C-83A1-F6EECF244321}">
                <p14:modId xmlns:p14="http://schemas.microsoft.com/office/powerpoint/2010/main" val="2756475994"/>
              </p:ext>
            </p:extLst>
          </p:nvPr>
        </p:nvGraphicFramePr>
        <p:xfrm>
          <a:off x="409575" y="4576763"/>
          <a:ext cx="8429625" cy="1519237"/>
        </p:xfrm>
        <a:graphic>
          <a:graphicData uri="http://schemas.openxmlformats.org/presentationml/2006/ole">
            <mc:AlternateContent xmlns:mc="http://schemas.openxmlformats.org/markup-compatibility/2006">
              <mc:Choice xmlns:v="urn:schemas-microsoft-com:vml" Requires="v">
                <p:oleObj spid="_x0000_s168971" name="Equation" r:id="rId3" imgW="3517560" imgH="634680" progId="Equation.DSMT4">
                  <p:embed/>
                </p:oleObj>
              </mc:Choice>
              <mc:Fallback>
                <p:oleObj name="Equation" r:id="rId3" imgW="3517560" imgH="634680" progId="Equation.DSMT4">
                  <p:embed/>
                  <p:pic>
                    <p:nvPicPr>
                      <p:cNvPr id="0" name=""/>
                      <p:cNvPicPr>
                        <a:picLocks noChangeAspect="1" noChangeArrowheads="1"/>
                      </p:cNvPicPr>
                      <p:nvPr/>
                    </p:nvPicPr>
                    <p:blipFill>
                      <a:blip r:embed="rId4"/>
                      <a:srcRect/>
                      <a:stretch>
                        <a:fillRect/>
                      </a:stretch>
                    </p:blipFill>
                    <p:spPr bwMode="auto">
                      <a:xfrm>
                        <a:off x="409575" y="4576763"/>
                        <a:ext cx="8429625" cy="1519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5724394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92164"/>
                                        </p:tgtEl>
                                        <p:attrNameLst>
                                          <p:attrName>style.visibility</p:attrName>
                                        </p:attrNameLst>
                                      </p:cBhvr>
                                      <p:to>
                                        <p:strVal val="visible"/>
                                      </p:to>
                                    </p:set>
                                    <p:animEffect transition="in" filter="wipe(left)">
                                      <p:cBhvr>
                                        <p:cTn id="7" dur="500"/>
                                        <p:tgtEl>
                                          <p:spTgt spid="92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p:cNvSpPr>
            <a:spLocks noGrp="1"/>
          </p:cNvSpPr>
          <p:nvPr>
            <p:ph type="title"/>
          </p:nvPr>
        </p:nvSpPr>
        <p:spPr bwMode="auto">
          <a:xfrm>
            <a:off x="1764344" y="0"/>
            <a:ext cx="7379656"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8.5 	Bayesian–Nash Equilibrium of Game </a:t>
            </a:r>
            <a:br>
              <a:rPr lang="en-US" altLang="en-US" dirty="0" smtClean="0"/>
            </a:br>
            <a:r>
              <a:rPr lang="en-US" altLang="en-US" dirty="0" smtClean="0"/>
              <a:t>	</a:t>
            </a:r>
            <a:r>
              <a:rPr lang="en-US" altLang="en-US" dirty="0" smtClean="0">
                <a:solidFill>
                  <a:srgbClr val="002D56"/>
                </a:solidFill>
              </a:rPr>
              <a:t>in Figure 8.14</a:t>
            </a:r>
          </a:p>
        </p:txBody>
      </p:sp>
      <p:sp>
        <p:nvSpPr>
          <p:cNvPr id="84997"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B2B52ADE-27F9-417B-83AF-2D2892A6663A}" type="slidenum">
              <a:rPr lang="en-US" smtClean="0"/>
              <a:pPr>
                <a:defRPr/>
              </a:pPr>
              <a:t>67</a:t>
            </a:fld>
            <a:endParaRPr lang="en-US" dirty="0"/>
          </a:p>
        </p:txBody>
      </p:sp>
      <p:sp>
        <p:nvSpPr>
          <p:cNvPr id="84995" name="Content Placeholder 2"/>
          <p:cNvSpPr>
            <a:spLocks noGrp="1"/>
          </p:cNvSpPr>
          <p:nvPr>
            <p:ph type="body" sz="quarter" idx="12"/>
          </p:nvPr>
        </p:nvSpPr>
        <p:spPr>
          <a:xfrm>
            <a:off x="381000" y="1219200"/>
            <a:ext cx="8382000" cy="5181600"/>
          </a:xfrm>
          <a:prstGeom prst="rect">
            <a:avLst/>
          </a:prstGeom>
        </p:spPr>
        <p:txBody>
          <a:bodyPr/>
          <a:lstStyle/>
          <a:p>
            <a:r>
              <a:rPr lang="en-US" altLang="en-US" dirty="0" smtClean="0">
                <a:sym typeface="Symbol" pitchFamily="18" charset="2"/>
              </a:rPr>
              <a:t>Two possible candidates for an equilibrium in pure strategies</a:t>
            </a:r>
            <a:endParaRPr lang="en-US" altLang="en-US" dirty="0" smtClean="0">
              <a:solidFill>
                <a:schemeClr val="tx1"/>
              </a:solidFill>
              <a:sym typeface="Symbol" pitchFamily="18" charset="2"/>
            </a:endParaRPr>
          </a:p>
          <a:p>
            <a:pPr lvl="1"/>
            <a:r>
              <a:rPr lang="en-US" altLang="en-US" sz="3200" dirty="0" smtClean="0">
                <a:sym typeface="Symbol" pitchFamily="18" charset="2"/>
              </a:rPr>
              <a:t>1 plays (</a:t>
            </a:r>
            <a:r>
              <a:rPr lang="en-US" altLang="en-US" sz="3200" i="1" dirty="0" err="1" smtClean="0">
                <a:sym typeface="Symbol" pitchFamily="18" charset="2"/>
              </a:rPr>
              <a:t>Up</a:t>
            </a:r>
            <a:r>
              <a:rPr lang="en-US" altLang="en-US" sz="3200" dirty="0" err="1" smtClean="0">
                <a:sym typeface="Symbol" pitchFamily="18" charset="2"/>
              </a:rPr>
              <a:t>|</a:t>
            </a:r>
            <a:r>
              <a:rPr lang="en-US" altLang="en-US" sz="3200" i="1" dirty="0" err="1" smtClean="0">
                <a:sym typeface="Symbol" pitchFamily="18" charset="2"/>
              </a:rPr>
              <a:t>t</a:t>
            </a:r>
            <a:r>
              <a:rPr lang="en-US" altLang="en-US" sz="3200" dirty="0" smtClean="0">
                <a:sym typeface="Symbol" pitchFamily="18" charset="2"/>
              </a:rPr>
              <a:t>=6, </a:t>
            </a:r>
            <a:r>
              <a:rPr lang="en-US" altLang="en-US" sz="3200" i="1" dirty="0" err="1" smtClean="0">
                <a:sym typeface="Symbol" pitchFamily="18" charset="2"/>
              </a:rPr>
              <a:t>Down</a:t>
            </a:r>
            <a:r>
              <a:rPr lang="en-US" altLang="en-US" sz="3200" dirty="0" err="1" smtClean="0">
                <a:sym typeface="Symbol" pitchFamily="18" charset="2"/>
              </a:rPr>
              <a:t>|</a:t>
            </a:r>
            <a:r>
              <a:rPr lang="en-US" altLang="en-US" sz="3200" i="1" dirty="0" err="1" smtClean="0">
                <a:sym typeface="Symbol" pitchFamily="18" charset="2"/>
              </a:rPr>
              <a:t>t</a:t>
            </a:r>
            <a:r>
              <a:rPr lang="en-US" altLang="en-US" sz="3200" i="1" dirty="0" smtClean="0">
                <a:sym typeface="Symbol" pitchFamily="18" charset="2"/>
              </a:rPr>
              <a:t>=</a:t>
            </a:r>
            <a:r>
              <a:rPr lang="en-US" altLang="en-US" sz="3200" dirty="0" smtClean="0">
                <a:sym typeface="Symbol" pitchFamily="18" charset="2"/>
              </a:rPr>
              <a:t>0) and 2 plays </a:t>
            </a:r>
            <a:r>
              <a:rPr lang="en-US" altLang="en-US" sz="3200" i="1" dirty="0" smtClean="0">
                <a:sym typeface="Symbol" pitchFamily="18" charset="2"/>
              </a:rPr>
              <a:t>Left</a:t>
            </a:r>
          </a:p>
          <a:p>
            <a:pPr lvl="2"/>
            <a:r>
              <a:rPr lang="en-US" altLang="en-US" sz="3200" dirty="0" smtClean="0">
                <a:sym typeface="Symbol" pitchFamily="18" charset="2"/>
              </a:rPr>
              <a:t>Not an equilibrium </a:t>
            </a:r>
          </a:p>
          <a:p>
            <a:pPr lvl="1"/>
            <a:r>
              <a:rPr lang="en-US" altLang="en-US" sz="3200" dirty="0" smtClean="0">
                <a:sym typeface="Symbol" pitchFamily="18" charset="2"/>
              </a:rPr>
              <a:t>1 plays (</a:t>
            </a:r>
            <a:r>
              <a:rPr lang="en-US" altLang="en-US" sz="3200" i="1" dirty="0" err="1" smtClean="0">
                <a:sym typeface="Symbol" pitchFamily="18" charset="2"/>
              </a:rPr>
              <a:t>Down</a:t>
            </a:r>
            <a:r>
              <a:rPr lang="en-US" altLang="en-US" sz="3200" dirty="0" err="1" smtClean="0">
                <a:sym typeface="Symbol" pitchFamily="18" charset="2"/>
              </a:rPr>
              <a:t>|</a:t>
            </a:r>
            <a:r>
              <a:rPr lang="en-US" altLang="en-US" sz="3200" i="1" dirty="0" err="1" smtClean="0">
                <a:sym typeface="Symbol" pitchFamily="18" charset="2"/>
              </a:rPr>
              <a:t>t</a:t>
            </a:r>
            <a:r>
              <a:rPr lang="en-US" altLang="en-US" sz="3200" dirty="0" smtClean="0">
                <a:sym typeface="Symbol" pitchFamily="18" charset="2"/>
              </a:rPr>
              <a:t>=6, </a:t>
            </a:r>
            <a:r>
              <a:rPr lang="en-US" altLang="en-US" sz="3200" i="1" dirty="0" err="1" smtClean="0">
                <a:sym typeface="Symbol" pitchFamily="18" charset="2"/>
              </a:rPr>
              <a:t>Down</a:t>
            </a:r>
            <a:r>
              <a:rPr lang="en-US" altLang="en-US" sz="3200" dirty="0" err="1" smtClean="0">
                <a:sym typeface="Symbol" pitchFamily="18" charset="2"/>
              </a:rPr>
              <a:t>|</a:t>
            </a:r>
            <a:r>
              <a:rPr lang="en-US" altLang="en-US" sz="3200" i="1" dirty="0" err="1" smtClean="0">
                <a:sym typeface="Symbol" pitchFamily="18" charset="2"/>
              </a:rPr>
              <a:t>t</a:t>
            </a:r>
            <a:r>
              <a:rPr lang="en-US" altLang="en-US" sz="3200" i="1" dirty="0" smtClean="0">
                <a:sym typeface="Symbol" pitchFamily="18" charset="2"/>
              </a:rPr>
              <a:t>=</a:t>
            </a:r>
            <a:r>
              <a:rPr lang="en-US" altLang="en-US" sz="3200" dirty="0" smtClean="0">
                <a:sym typeface="Symbol" pitchFamily="18" charset="2"/>
              </a:rPr>
              <a:t>0) and 2 plays </a:t>
            </a:r>
            <a:r>
              <a:rPr lang="en-US" altLang="en-US" sz="3200" i="1" dirty="0" smtClean="0">
                <a:sym typeface="Symbol" pitchFamily="18" charset="2"/>
              </a:rPr>
              <a:t>Right</a:t>
            </a:r>
          </a:p>
          <a:p>
            <a:pPr lvl="2"/>
            <a:r>
              <a:rPr lang="en-US" altLang="en-US" sz="3200" dirty="0" smtClean="0">
                <a:sym typeface="Symbol" pitchFamily="18" charset="2"/>
              </a:rPr>
              <a:t>A Bayesian-Nash equilibrium</a:t>
            </a:r>
            <a:endParaRPr lang="en-US" altLang="en-US" sz="3200" i="1" dirty="0" smtClean="0">
              <a:sym typeface="Symbol" pitchFamily="18" charset="2"/>
            </a:endParaRPr>
          </a:p>
        </p:txBody>
      </p:sp>
    </p:spTree>
    <p:extLst>
      <p:ext uri="{BB962C8B-B14F-4D97-AF65-F5344CB8AC3E}">
        <p14:creationId xmlns:p14="http://schemas.microsoft.com/office/powerpoint/2010/main" val="14179069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8.6	 Tragedy of the Commons as a </a:t>
            </a:r>
            <a:br>
              <a:rPr lang="en-US" altLang="en-US" dirty="0" smtClean="0"/>
            </a:br>
            <a:r>
              <a:rPr lang="en-US" altLang="en-US" dirty="0" smtClean="0"/>
              <a:t>	</a:t>
            </a:r>
            <a:r>
              <a:rPr lang="en-US" altLang="en-US" dirty="0" smtClean="0">
                <a:solidFill>
                  <a:srgbClr val="002D56"/>
                </a:solidFill>
              </a:rPr>
              <a:t>Bayesian Game</a:t>
            </a:r>
          </a:p>
        </p:txBody>
      </p:sp>
      <p:sp>
        <p:nvSpPr>
          <p:cNvPr id="4102"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FC4B09A3-2F2C-4510-8E1B-9C008D7D134F}" type="slidenum">
              <a:rPr lang="en-US" smtClean="0"/>
              <a:pPr>
                <a:defRPr/>
              </a:pPr>
              <a:t>68</a:t>
            </a:fld>
            <a:endParaRPr lang="en-US" dirty="0"/>
          </a:p>
        </p:txBody>
      </p:sp>
      <p:sp>
        <p:nvSpPr>
          <p:cNvPr id="4100" name="Content Placeholder 2"/>
          <p:cNvSpPr>
            <a:spLocks noGrp="1"/>
          </p:cNvSpPr>
          <p:nvPr>
            <p:ph type="body" sz="quarter" idx="12"/>
          </p:nvPr>
        </p:nvSpPr>
        <p:spPr>
          <a:xfrm>
            <a:off x="381000" y="762000"/>
            <a:ext cx="8382000" cy="3886200"/>
          </a:xfrm>
          <a:prstGeom prst="rect">
            <a:avLst/>
          </a:prstGeom>
        </p:spPr>
        <p:txBody>
          <a:bodyPr>
            <a:normAutofit/>
          </a:bodyPr>
          <a:lstStyle/>
          <a:p>
            <a:r>
              <a:rPr lang="en-US" altLang="en-US" dirty="0" smtClean="0"/>
              <a:t>Herder 1 </a:t>
            </a:r>
          </a:p>
          <a:p>
            <a:pPr lvl="1"/>
            <a:r>
              <a:rPr lang="en-US" altLang="en-US" dirty="0" smtClean="0"/>
              <a:t>Has private information regarding his value of grazing per sheep, </a:t>
            </a:r>
            <a:r>
              <a:rPr lang="en-US" altLang="en-US" i="1" dirty="0" smtClean="0">
                <a:solidFill>
                  <a:srgbClr val="FF0000"/>
                </a:solidFill>
              </a:rPr>
              <a:t>v</a:t>
            </a:r>
            <a:r>
              <a:rPr lang="en-US" altLang="en-US" i="1" baseline="-25000" dirty="0" smtClean="0">
                <a:solidFill>
                  <a:srgbClr val="FF0000"/>
                </a:solidFill>
              </a:rPr>
              <a:t>1</a:t>
            </a:r>
            <a:r>
              <a:rPr lang="en-US" altLang="en-US" i="1" dirty="0" smtClean="0">
                <a:solidFill>
                  <a:srgbClr val="FF0000"/>
                </a:solidFill>
              </a:rPr>
              <a:t>(q</a:t>
            </a:r>
            <a:r>
              <a:rPr lang="en-US" altLang="en-US" i="1" baseline="-25000" dirty="0" smtClean="0">
                <a:solidFill>
                  <a:srgbClr val="FF0000"/>
                </a:solidFill>
              </a:rPr>
              <a:t>1</a:t>
            </a:r>
            <a:r>
              <a:rPr lang="en-US" altLang="en-US" i="1" dirty="0" smtClean="0">
                <a:solidFill>
                  <a:srgbClr val="FF0000"/>
                </a:solidFill>
              </a:rPr>
              <a:t>,q</a:t>
            </a:r>
            <a:r>
              <a:rPr lang="en-US" altLang="en-US" i="1" baseline="-25000" dirty="0" smtClean="0">
                <a:solidFill>
                  <a:srgbClr val="FF0000"/>
                </a:solidFill>
              </a:rPr>
              <a:t>2</a:t>
            </a:r>
            <a:r>
              <a:rPr lang="en-US" altLang="en-US" i="1" dirty="0" smtClean="0">
                <a:solidFill>
                  <a:srgbClr val="FF0000"/>
                </a:solidFill>
              </a:rPr>
              <a:t>,t)=t-(q</a:t>
            </a:r>
            <a:r>
              <a:rPr lang="en-US" altLang="en-US" i="1" baseline="-25000" dirty="0" smtClean="0">
                <a:solidFill>
                  <a:srgbClr val="FF0000"/>
                </a:solidFill>
              </a:rPr>
              <a:t>1</a:t>
            </a:r>
            <a:r>
              <a:rPr lang="en-US" altLang="en-US" i="1" dirty="0" smtClean="0">
                <a:solidFill>
                  <a:srgbClr val="FF0000"/>
                </a:solidFill>
              </a:rPr>
              <a:t>+q</a:t>
            </a:r>
            <a:r>
              <a:rPr lang="en-US" altLang="en-US" i="1" baseline="-25000" dirty="0" smtClean="0">
                <a:solidFill>
                  <a:srgbClr val="FF0000"/>
                </a:solidFill>
              </a:rPr>
              <a:t>2</a:t>
            </a:r>
            <a:r>
              <a:rPr lang="en-US" altLang="en-US" i="1" dirty="0" smtClean="0">
                <a:solidFill>
                  <a:srgbClr val="FF0000"/>
                </a:solidFill>
              </a:rPr>
              <a:t>)</a:t>
            </a:r>
          </a:p>
          <a:p>
            <a:pPr lvl="1"/>
            <a:r>
              <a:rPr lang="en-US" altLang="en-US" dirty="0" smtClean="0"/>
              <a:t>His type is </a:t>
            </a:r>
          </a:p>
          <a:p>
            <a:pPr lvl="2"/>
            <a:r>
              <a:rPr lang="en-US" altLang="en-US" dirty="0" smtClean="0"/>
              <a:t>t=130 (the ‘‘high’’ type) with probability 2/3 </a:t>
            </a:r>
          </a:p>
          <a:p>
            <a:pPr lvl="2"/>
            <a:r>
              <a:rPr lang="en-US" altLang="en-US" dirty="0" smtClean="0"/>
              <a:t>t=100 (the ‘‘low’’ type) with probability 1/3</a:t>
            </a:r>
          </a:p>
          <a:p>
            <a:pPr lvl="1"/>
            <a:r>
              <a:rPr lang="en-US" altLang="en-US" dirty="0" smtClean="0"/>
              <a:t>Value-maximization problem:</a:t>
            </a:r>
            <a:endParaRPr lang="en-US" altLang="en-US" i="1" dirty="0" smtClean="0"/>
          </a:p>
        </p:txBody>
      </p:sp>
      <p:sp>
        <p:nvSpPr>
          <p:cNvPr id="2" name="Text Placeholder 1"/>
          <p:cNvSpPr>
            <a:spLocks noGrp="1"/>
          </p:cNvSpPr>
          <p:nvPr>
            <p:ph type="body" sz="quarter" idx="13"/>
          </p:nvPr>
        </p:nvSpPr>
        <p:spPr>
          <a:xfrm>
            <a:off x="381000" y="5029200"/>
            <a:ext cx="8382000" cy="1143000"/>
          </a:xfrm>
        </p:spPr>
        <p:txBody>
          <a:bodyPr/>
          <a:lstStyle/>
          <a:p>
            <a:pPr lvl="1" eaLnBrk="0" hangingPunct="0">
              <a:buFont typeface="Arial" charset="0"/>
              <a:buChar char="•"/>
              <a:defRPr/>
            </a:pPr>
            <a:r>
              <a:rPr lang="en-US" kern="0" dirty="0"/>
              <a:t>First-order condition: </a:t>
            </a:r>
            <a:r>
              <a:rPr lang="en-US" i="1" kern="0" dirty="0"/>
              <a:t>t-2q</a:t>
            </a:r>
            <a:r>
              <a:rPr lang="en-US" i="1" kern="0" baseline="-25000" dirty="0"/>
              <a:t>1</a:t>
            </a:r>
            <a:r>
              <a:rPr lang="en-US" i="1" kern="0" dirty="0"/>
              <a:t>-q</a:t>
            </a:r>
            <a:r>
              <a:rPr lang="en-US" i="1" kern="0" baseline="-25000" dirty="0"/>
              <a:t>2</a:t>
            </a:r>
            <a:r>
              <a:rPr lang="en-US" i="1" kern="0" dirty="0"/>
              <a:t>=0 </a:t>
            </a:r>
          </a:p>
          <a:p>
            <a:pPr lvl="1" eaLnBrk="0" hangingPunct="0">
              <a:buFont typeface="Arial" charset="0"/>
              <a:buChar char="•"/>
              <a:defRPr/>
            </a:pPr>
            <a:r>
              <a:rPr lang="en-US" kern="0" dirty="0"/>
              <a:t>So, </a:t>
            </a:r>
            <a:r>
              <a:rPr lang="en-US" i="1" kern="0" dirty="0"/>
              <a:t>q</a:t>
            </a:r>
            <a:r>
              <a:rPr lang="en-US" i="1" kern="0" baseline="-25000" dirty="0"/>
              <a:t>1H</a:t>
            </a:r>
            <a:r>
              <a:rPr lang="en-US" i="1" kern="0" dirty="0"/>
              <a:t>=65-q</a:t>
            </a:r>
            <a:r>
              <a:rPr lang="en-US" i="1" kern="0" baseline="-25000" dirty="0"/>
              <a:t>2</a:t>
            </a:r>
            <a:r>
              <a:rPr lang="en-US" i="1" kern="0" dirty="0"/>
              <a:t>/2</a:t>
            </a:r>
            <a:r>
              <a:rPr lang="en-US" kern="0" dirty="0"/>
              <a:t>  and </a:t>
            </a:r>
            <a:r>
              <a:rPr lang="en-US" i="1" kern="0" dirty="0"/>
              <a:t>q</a:t>
            </a:r>
            <a:r>
              <a:rPr lang="en-US" i="1" kern="0" baseline="-25000" dirty="0"/>
              <a:t>1L</a:t>
            </a:r>
            <a:r>
              <a:rPr lang="en-US" i="1" kern="0" dirty="0"/>
              <a:t>=50-q</a:t>
            </a:r>
            <a:r>
              <a:rPr lang="en-US" i="1" kern="0" baseline="-25000" dirty="0"/>
              <a:t>2</a:t>
            </a:r>
            <a:r>
              <a:rPr lang="en-US" i="1" kern="0" dirty="0"/>
              <a:t>/2</a:t>
            </a:r>
          </a:p>
          <a:p>
            <a:pPr marL="457200" lvl="1" indent="0">
              <a:buNone/>
            </a:pPr>
            <a:endParaRPr lang="en-US" dirty="0"/>
          </a:p>
        </p:txBody>
      </p:sp>
      <p:graphicFrame>
        <p:nvGraphicFramePr>
          <p:cNvPr id="6" name="Object 2"/>
          <p:cNvGraphicFramePr>
            <a:graphicFrameLocks noChangeAspect="1"/>
          </p:cNvGraphicFramePr>
          <p:nvPr/>
        </p:nvGraphicFramePr>
        <p:xfrm>
          <a:off x="1260475" y="4414838"/>
          <a:ext cx="5846763" cy="679450"/>
        </p:xfrm>
        <a:graphic>
          <a:graphicData uri="http://schemas.openxmlformats.org/presentationml/2006/ole">
            <mc:AlternateContent xmlns:mc="http://schemas.openxmlformats.org/markup-compatibility/2006">
              <mc:Choice xmlns:v="urn:schemas-microsoft-com:vml" Requires="v">
                <p:oleObj spid="_x0000_s169996" name="Equation" r:id="rId3" imgW="2514600" imgH="291960" progId="Equation.DSMT4">
                  <p:embed/>
                </p:oleObj>
              </mc:Choice>
              <mc:Fallback>
                <p:oleObj name="Equation" r:id="rId3" imgW="2514600" imgH="29196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0475" y="4414838"/>
                        <a:ext cx="5846763" cy="679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4064627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8.6	 Tragedy of the Commons as a </a:t>
            </a:r>
            <a:br>
              <a:rPr lang="en-US" altLang="en-US" dirty="0" smtClean="0"/>
            </a:br>
            <a:r>
              <a:rPr lang="en-US" altLang="en-US" dirty="0" smtClean="0"/>
              <a:t>	</a:t>
            </a:r>
            <a:r>
              <a:rPr lang="en-US" altLang="en-US" dirty="0" smtClean="0">
                <a:solidFill>
                  <a:srgbClr val="002D56"/>
                </a:solidFill>
              </a:rPr>
              <a:t>Bayesian Game</a:t>
            </a:r>
          </a:p>
        </p:txBody>
      </p:sp>
      <p:sp>
        <p:nvSpPr>
          <p:cNvPr id="5126"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00464915-E4EC-4B6E-AA6F-FB9B5520B898}" type="slidenum">
              <a:rPr lang="en-US" smtClean="0"/>
              <a:pPr>
                <a:defRPr/>
              </a:pPr>
              <a:t>69</a:t>
            </a:fld>
            <a:endParaRPr lang="en-US" dirty="0"/>
          </a:p>
        </p:txBody>
      </p:sp>
      <p:sp>
        <p:nvSpPr>
          <p:cNvPr id="5124" name="Content Placeholder 2"/>
          <p:cNvSpPr>
            <a:spLocks noGrp="1"/>
          </p:cNvSpPr>
          <p:nvPr>
            <p:ph type="body" sz="quarter" idx="12"/>
          </p:nvPr>
        </p:nvSpPr>
        <p:spPr>
          <a:xfrm>
            <a:off x="381000" y="990600"/>
            <a:ext cx="8382000" cy="5410200"/>
          </a:xfrm>
          <a:prstGeom prst="rect">
            <a:avLst/>
          </a:prstGeom>
        </p:spPr>
        <p:txBody>
          <a:bodyPr/>
          <a:lstStyle/>
          <a:p>
            <a:r>
              <a:rPr lang="en-US" altLang="en-US" dirty="0" smtClean="0"/>
              <a:t>Herder 2 </a:t>
            </a:r>
          </a:p>
          <a:p>
            <a:pPr lvl="1"/>
            <a:r>
              <a:rPr lang="en-US" altLang="en-US" dirty="0" smtClean="0"/>
              <a:t>Expected payoff: </a:t>
            </a:r>
            <a:endParaRPr lang="en-US" altLang="en-US" i="1" dirty="0" smtClean="0"/>
          </a:p>
        </p:txBody>
      </p:sp>
      <p:graphicFrame>
        <p:nvGraphicFramePr>
          <p:cNvPr id="6" name="Object 2"/>
          <p:cNvGraphicFramePr>
            <a:graphicFrameLocks noChangeAspect="1"/>
          </p:cNvGraphicFramePr>
          <p:nvPr/>
        </p:nvGraphicFramePr>
        <p:xfrm>
          <a:off x="425450" y="2144713"/>
          <a:ext cx="8428038" cy="3294062"/>
        </p:xfrm>
        <a:graphic>
          <a:graphicData uri="http://schemas.openxmlformats.org/presentationml/2006/ole">
            <mc:AlternateContent xmlns:mc="http://schemas.openxmlformats.org/markup-compatibility/2006">
              <mc:Choice xmlns:v="urn:schemas-microsoft-com:vml" Requires="v">
                <p:oleObj spid="_x0000_s171020" name="Equation" r:id="rId3" imgW="3835080" imgH="1498320" progId="Equation.DSMT4">
                  <p:embed/>
                </p:oleObj>
              </mc:Choice>
              <mc:Fallback>
                <p:oleObj name="Equation" r:id="rId3" imgW="3835080" imgH="149832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450" y="2144713"/>
                        <a:ext cx="8428038" cy="3294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2536195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8.15	Equilibrium of the Bayesian Tragedy of </a:t>
            </a:r>
            <a:r>
              <a:rPr lang="en-US" altLang="en-US" dirty="0" smtClean="0"/>
              <a:t>the</a:t>
            </a:r>
            <a:br>
              <a:rPr lang="en-US" altLang="en-US" dirty="0" smtClean="0"/>
            </a:br>
            <a:r>
              <a:rPr lang="en-US" altLang="en-US" dirty="0"/>
              <a:t>	</a:t>
            </a:r>
            <a:r>
              <a:rPr lang="en-US" altLang="en-US" dirty="0" smtClean="0">
                <a:solidFill>
                  <a:srgbClr val="002D56"/>
                </a:solidFill>
              </a:rPr>
              <a:t> Commons</a:t>
            </a:r>
          </a:p>
        </p:txBody>
      </p:sp>
      <p:sp>
        <p:nvSpPr>
          <p:cNvPr id="86019" name="Text Placeholder 2"/>
          <p:cNvSpPr>
            <a:spLocks noGrp="1"/>
          </p:cNvSpPr>
          <p:nvPr>
            <p:ph sz="half" idx="1"/>
          </p:nvPr>
        </p:nvSpPr>
        <p:spPr>
          <a:xfrm>
            <a:off x="381000" y="1600200"/>
            <a:ext cx="3048000" cy="4525963"/>
          </a:xfrm>
        </p:spPr>
        <p:txBody>
          <a:bodyPr>
            <a:normAutofit/>
          </a:bodyPr>
          <a:lstStyle/>
          <a:p>
            <a:pPr>
              <a:spcBef>
                <a:spcPct val="0"/>
              </a:spcBef>
            </a:pPr>
            <a:r>
              <a:rPr lang="en-US" altLang="en-US" dirty="0" smtClean="0"/>
              <a:t>Best </a:t>
            </a:r>
            <a:r>
              <a:rPr lang="en-US" altLang="en-US" dirty="0"/>
              <a:t>responses for herder 2 and both types of herder 1 are drawn as thick solid lines; the expected best response as perceived by 2 is drawn as the thick dashed line. The Bayesian–Nash equilibrium of the incomplete-information game is given by points A and C; Nash equilibria of the corresponding full-information games are given by points A’ and C’ .</a:t>
            </a:r>
          </a:p>
          <a:p>
            <a:pPr>
              <a:spcBef>
                <a:spcPct val="0"/>
              </a:spcBef>
            </a:pPr>
            <a:endParaRPr lang="en-US" altLang="en-US" dirty="0" smtClean="0"/>
          </a:p>
        </p:txBody>
      </p:sp>
      <p:sp>
        <p:nvSpPr>
          <p:cNvPr id="86022"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2EB67591-A0F8-45A3-928E-02A323CCB385}" type="slidenum">
              <a:rPr lang="en-US" smtClean="0"/>
              <a:pPr>
                <a:defRPr/>
              </a:pPr>
              <a:t>70</a:t>
            </a:fld>
            <a:endParaRPr lang="en-US" dirty="0"/>
          </a:p>
        </p:txBody>
      </p:sp>
      <p:pic>
        <p:nvPicPr>
          <p:cNvPr id="624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900113"/>
            <a:ext cx="5399088" cy="534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771739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2466"/>
                                        </p:tgtEl>
                                        <p:attrNameLst>
                                          <p:attrName>style.visibility</p:attrName>
                                        </p:attrNameLst>
                                      </p:cBhvr>
                                      <p:to>
                                        <p:strVal val="visible"/>
                                      </p:to>
                                    </p:set>
                                    <p:animEffect transition="in" filter="wipe(left)">
                                      <p:cBhvr>
                                        <p:cTn id="7" dur="500"/>
                                        <p:tgtEl>
                                          <p:spTgt spid="6246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6019">
                                            <p:txEl>
                                              <p:pRg st="0" end="0"/>
                                            </p:txEl>
                                          </p:spTgt>
                                        </p:tgtEl>
                                        <p:attrNameLst>
                                          <p:attrName>style.visibility</p:attrName>
                                        </p:attrNameLst>
                                      </p:cBhvr>
                                      <p:to>
                                        <p:strVal val="visible"/>
                                      </p:to>
                                    </p:set>
                                    <p:animEffect transition="in" filter="wipe(left)">
                                      <p:cBhvr>
                                        <p:cTn id="11" dur="500"/>
                                        <p:tgtEl>
                                          <p:spTgt spid="860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9"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r>
              <a:rPr lang="en-US" altLang="en-US" smtClean="0"/>
              <a:t>Signaling Games</a:t>
            </a:r>
          </a:p>
        </p:txBody>
      </p:sp>
      <p:sp>
        <p:nvSpPr>
          <p:cNvPr id="87043" name="Rectangle 3"/>
          <p:cNvSpPr>
            <a:spLocks noGrp="1" noChangeArrowheads="1"/>
          </p:cNvSpPr>
          <p:nvPr>
            <p:ph idx="1"/>
          </p:nvPr>
        </p:nvSpPr>
        <p:spPr/>
        <p:txBody>
          <a:bodyPr/>
          <a:lstStyle/>
          <a:p>
            <a:r>
              <a:rPr lang="en-US" altLang="en-US" smtClean="0"/>
              <a:t>Signaling game</a:t>
            </a:r>
          </a:p>
          <a:p>
            <a:pPr lvl="1"/>
            <a:r>
              <a:rPr lang="en-US" altLang="en-US" smtClean="0"/>
              <a:t>Occurs in a sequential game with private information</a:t>
            </a:r>
          </a:p>
          <a:p>
            <a:pPr lvl="1"/>
            <a:r>
              <a:rPr lang="en-US" altLang="en-US" smtClean="0"/>
              <a:t>The informed player (player 1 ) takes an action that is observable to player 2 before 2 moves</a:t>
            </a:r>
          </a:p>
          <a:p>
            <a:pPr lvl="2"/>
            <a:r>
              <a:rPr lang="en-US" altLang="en-US" smtClean="0"/>
              <a:t>Player 1’s action can serve as a signal to player 2 that can be used to update her beliefs about player 1’s type</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50EFE90-FA3A-48BB-9ABF-FC74E50FB1F9}" type="slidenum">
              <a:rPr lang="en-US" smtClean="0"/>
              <a:pPr>
                <a:defRPr/>
              </a:pPr>
              <a:t>71</a:t>
            </a:fld>
            <a:endParaRPr lang="en-US"/>
          </a:p>
        </p:txBody>
      </p:sp>
    </p:spTree>
    <p:extLst>
      <p:ext uri="{BB962C8B-B14F-4D97-AF65-F5344CB8AC3E}">
        <p14:creationId xmlns:p14="http://schemas.microsoft.com/office/powerpoint/2010/main" val="2384452306"/>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r>
              <a:rPr lang="en-US" altLang="en-US" smtClean="0"/>
              <a:t>Job-Market Signaling</a:t>
            </a:r>
          </a:p>
        </p:txBody>
      </p:sp>
      <p:sp>
        <p:nvSpPr>
          <p:cNvPr id="88067" name="Rectangle 3"/>
          <p:cNvSpPr>
            <a:spLocks noGrp="1" noChangeArrowheads="1"/>
          </p:cNvSpPr>
          <p:nvPr>
            <p:ph idx="1"/>
          </p:nvPr>
        </p:nvSpPr>
        <p:spPr/>
        <p:txBody>
          <a:bodyPr/>
          <a:lstStyle/>
          <a:p>
            <a:r>
              <a:rPr lang="en-US" altLang="en-US" smtClean="0"/>
              <a:t>Player 1 can be of two types</a:t>
            </a:r>
          </a:p>
          <a:p>
            <a:pPr lvl="1"/>
            <a:r>
              <a:rPr lang="en-US" altLang="en-US" smtClean="0"/>
              <a:t>Highly skilled (</a:t>
            </a:r>
            <a:r>
              <a:rPr lang="en-US" altLang="en-US" i="1" smtClean="0"/>
              <a:t>t</a:t>
            </a:r>
            <a:r>
              <a:rPr lang="en-US" altLang="en-US" smtClean="0"/>
              <a:t> = </a:t>
            </a:r>
            <a:r>
              <a:rPr lang="en-US" altLang="en-US" i="1" smtClean="0"/>
              <a:t>H</a:t>
            </a:r>
            <a:r>
              <a:rPr lang="en-US" altLang="en-US" smtClean="0"/>
              <a:t>)</a:t>
            </a:r>
          </a:p>
          <a:p>
            <a:pPr lvl="1"/>
            <a:r>
              <a:rPr lang="en-US" altLang="en-US" smtClean="0"/>
              <a:t>Low skilled (</a:t>
            </a:r>
            <a:r>
              <a:rPr lang="en-US" altLang="en-US" i="1" smtClean="0"/>
              <a:t>t</a:t>
            </a:r>
            <a:r>
              <a:rPr lang="en-US" altLang="en-US" smtClean="0"/>
              <a:t> = </a:t>
            </a:r>
            <a:r>
              <a:rPr lang="en-US" altLang="en-US" i="1" smtClean="0"/>
              <a:t>L</a:t>
            </a:r>
            <a:r>
              <a:rPr lang="en-US" altLang="en-US" smtClean="0"/>
              <a:t>)</a:t>
            </a:r>
          </a:p>
          <a:p>
            <a:r>
              <a:rPr lang="en-US" altLang="en-US" sz="3200" smtClean="0"/>
              <a:t>Player 2 is a firm considering hiring player 1</a:t>
            </a:r>
          </a:p>
          <a:p>
            <a:pPr lvl="1"/>
            <a:r>
              <a:rPr lang="en-US" altLang="en-US" smtClean="0"/>
              <a:t>Low-skilled worker generates no revenue for the firm</a:t>
            </a:r>
          </a:p>
          <a:p>
            <a:pPr lvl="1"/>
            <a:r>
              <a:rPr lang="en-US" altLang="en-US" smtClean="0"/>
              <a:t>High-skilled worker generates revenue of </a:t>
            </a:r>
            <a:r>
              <a:rPr lang="en-US" altLang="en-US" smtClean="0">
                <a:sym typeface="Symbol" pitchFamily="18" charset="2"/>
              </a:rPr>
              <a: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E4A42F5-0CB3-4AEF-8C42-1AEF8D2DB077}" type="slidenum">
              <a:rPr lang="en-US" smtClean="0"/>
              <a:pPr>
                <a:defRPr/>
              </a:pPr>
              <a:t>72</a:t>
            </a:fld>
            <a:endParaRPr lang="en-US"/>
          </a:p>
        </p:txBody>
      </p:sp>
    </p:spTree>
    <p:extLst>
      <p:ext uri="{BB962C8B-B14F-4D97-AF65-F5344CB8AC3E}">
        <p14:creationId xmlns:p14="http://schemas.microsoft.com/office/powerpoint/2010/main" val="2291372241"/>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en-US" altLang="en-US" smtClean="0"/>
              <a:t>Job-Market Signaling</a:t>
            </a:r>
          </a:p>
        </p:txBody>
      </p:sp>
      <p:sp>
        <p:nvSpPr>
          <p:cNvPr id="89091" name="Rectangle 3"/>
          <p:cNvSpPr>
            <a:spLocks noGrp="1" noChangeArrowheads="1"/>
          </p:cNvSpPr>
          <p:nvPr>
            <p:ph idx="1"/>
          </p:nvPr>
        </p:nvSpPr>
        <p:spPr/>
        <p:txBody>
          <a:bodyPr/>
          <a:lstStyle/>
          <a:p>
            <a:r>
              <a:rPr lang="en-US" altLang="en-US" smtClean="0"/>
              <a:t>Wage = w</a:t>
            </a:r>
          </a:p>
          <a:p>
            <a:pPr lvl="1"/>
            <a:r>
              <a:rPr lang="en-US" altLang="en-US" smtClean="0"/>
              <a:t>Received by the worker, if hired, regardless of type; </a:t>
            </a:r>
            <a:r>
              <a:rPr lang="en-US" altLang="en-US" smtClean="0">
                <a:solidFill>
                  <a:srgbClr val="FF0000"/>
                </a:solidFill>
                <a:sym typeface="Symbol" pitchFamily="18" charset="2"/>
              </a:rPr>
              <a:t> &gt; </a:t>
            </a:r>
            <a:r>
              <a:rPr lang="en-US" altLang="en-US" i="1" smtClean="0">
                <a:solidFill>
                  <a:srgbClr val="FF0000"/>
                </a:solidFill>
                <a:sym typeface="Symbol" pitchFamily="18" charset="2"/>
              </a:rPr>
              <a:t>w</a:t>
            </a:r>
            <a:r>
              <a:rPr lang="en-US" altLang="en-US" smtClean="0">
                <a:solidFill>
                  <a:srgbClr val="FF0000"/>
                </a:solidFill>
                <a:sym typeface="Symbol" pitchFamily="18" charset="2"/>
              </a:rPr>
              <a:t> &gt; 0</a:t>
            </a:r>
          </a:p>
          <a:p>
            <a:r>
              <a:rPr lang="en-US" altLang="en-US" smtClean="0">
                <a:sym typeface="Symbol" pitchFamily="18" charset="2"/>
              </a:rPr>
              <a:t>The firm cannot observe the worker’s skill, only his education level</a:t>
            </a:r>
          </a:p>
          <a:p>
            <a:pPr lvl="1"/>
            <a:r>
              <a:rPr lang="en-US" altLang="en-US" smtClean="0">
                <a:sym typeface="Symbol" pitchFamily="18" charset="2"/>
              </a:rPr>
              <a:t>Let </a:t>
            </a:r>
            <a:r>
              <a:rPr lang="en-US" altLang="en-US" i="1" smtClean="0">
                <a:sym typeface="Symbol" pitchFamily="18" charset="2"/>
              </a:rPr>
              <a:t>c</a:t>
            </a:r>
            <a:r>
              <a:rPr lang="en-US" altLang="en-US" i="1" baseline="-25000" smtClean="0">
                <a:sym typeface="Symbol" pitchFamily="18" charset="2"/>
              </a:rPr>
              <a:t>L</a:t>
            </a:r>
            <a:r>
              <a:rPr lang="en-US" altLang="en-US" smtClean="0">
                <a:sym typeface="Symbol" pitchFamily="18" charset="2"/>
              </a:rPr>
              <a:t> be the cost of obtaining an education for the low type</a:t>
            </a:r>
          </a:p>
          <a:p>
            <a:pPr lvl="1"/>
            <a:r>
              <a:rPr lang="en-US" altLang="en-US" smtClean="0">
                <a:sym typeface="Symbol" pitchFamily="18" charset="2"/>
              </a:rPr>
              <a:t>Let </a:t>
            </a:r>
            <a:r>
              <a:rPr lang="en-US" altLang="en-US" i="1" smtClean="0">
                <a:sym typeface="Symbol" pitchFamily="18" charset="2"/>
              </a:rPr>
              <a:t>c</a:t>
            </a:r>
            <a:r>
              <a:rPr lang="en-US" altLang="en-US" i="1" baseline="-25000" smtClean="0">
                <a:sym typeface="Symbol" pitchFamily="18" charset="2"/>
              </a:rPr>
              <a:t>H</a:t>
            </a:r>
            <a:r>
              <a:rPr lang="en-US" altLang="en-US" smtClean="0">
                <a:sym typeface="Symbol" pitchFamily="18" charset="2"/>
              </a:rPr>
              <a:t> be the cost of obtaining an education for the high type, </a:t>
            </a:r>
            <a:r>
              <a:rPr lang="en-US" altLang="en-US" i="1" smtClean="0">
                <a:solidFill>
                  <a:srgbClr val="FF0000"/>
                </a:solidFill>
                <a:sym typeface="Symbol" pitchFamily="18" charset="2"/>
              </a:rPr>
              <a:t>c</a:t>
            </a:r>
            <a:r>
              <a:rPr lang="en-US" altLang="en-US" i="1" baseline="-25000" smtClean="0">
                <a:solidFill>
                  <a:srgbClr val="FF0000"/>
                </a:solidFill>
                <a:sym typeface="Symbol" pitchFamily="18" charset="2"/>
              </a:rPr>
              <a:t>H</a:t>
            </a:r>
            <a:r>
              <a:rPr lang="en-US" altLang="en-US" smtClean="0">
                <a:solidFill>
                  <a:srgbClr val="FF0000"/>
                </a:solidFill>
                <a:sym typeface="Symbol" pitchFamily="18" charset="2"/>
              </a:rPr>
              <a:t>&lt; </a:t>
            </a:r>
            <a:r>
              <a:rPr lang="en-US" altLang="en-US" i="1" smtClean="0">
                <a:solidFill>
                  <a:srgbClr val="FF0000"/>
                </a:solidFill>
                <a:sym typeface="Symbol" pitchFamily="18" charset="2"/>
              </a:rPr>
              <a:t>c</a:t>
            </a:r>
            <a:r>
              <a:rPr lang="en-US" altLang="en-US" i="1" baseline="-25000" smtClean="0">
                <a:solidFill>
                  <a:srgbClr val="FF0000"/>
                </a:solidFill>
                <a:sym typeface="Symbol" pitchFamily="18" charset="2"/>
              </a:rPr>
              <a:t>L</a:t>
            </a:r>
            <a:endParaRPr lang="en-US" altLang="en-US" smtClean="0">
              <a:solidFill>
                <a:srgbClr val="FF0000"/>
              </a:solidFill>
              <a:sym typeface="Symbol" pitchFamily="18" charset="2"/>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FB14AEBD-5998-4CC9-ABED-01A10BAC3D32}" type="slidenum">
              <a:rPr lang="en-US" smtClean="0"/>
              <a:pPr>
                <a:defRPr/>
              </a:pPr>
              <a:t>73</a:t>
            </a:fld>
            <a:endParaRPr lang="en-US"/>
          </a:p>
        </p:txBody>
      </p:sp>
    </p:spTree>
    <p:extLst>
      <p:ext uri="{BB962C8B-B14F-4D97-AF65-F5344CB8AC3E}">
        <p14:creationId xmlns:p14="http://schemas.microsoft.com/office/powerpoint/2010/main" val="163311071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8.16	Job-Market </a:t>
            </a:r>
            <a:r>
              <a:rPr lang="en-US" altLang="en-US" dirty="0" smtClean="0"/>
              <a:t>Signaling</a:t>
            </a:r>
          </a:p>
        </p:txBody>
      </p:sp>
      <p:sp>
        <p:nvSpPr>
          <p:cNvPr id="90115" name="Text Placeholder 2"/>
          <p:cNvSpPr>
            <a:spLocks noGrp="1"/>
          </p:cNvSpPr>
          <p:nvPr>
            <p:ph sz="half" idx="1"/>
          </p:nvPr>
        </p:nvSpPr>
        <p:spPr>
          <a:xfrm>
            <a:off x="228600" y="1600200"/>
            <a:ext cx="2819400" cy="4525963"/>
          </a:xfrm>
        </p:spPr>
        <p:txBody>
          <a:bodyPr>
            <a:normAutofit/>
          </a:bodyPr>
          <a:lstStyle/>
          <a:p>
            <a:pPr>
              <a:spcBef>
                <a:spcPct val="0"/>
              </a:spcBef>
            </a:pPr>
            <a:r>
              <a:rPr lang="en-US" altLang="en-US" dirty="0" smtClean="0"/>
              <a:t>Player </a:t>
            </a:r>
            <a:r>
              <a:rPr lang="en-US" altLang="en-US" dirty="0"/>
              <a:t>1 (worker) observes his or her own type. Then player 1 chooses to become educated (E) or not (NE). After observing player 1’s action, player 2 (firm) decides to make him or her a job offer (J ) or not (NJ). The nodes in player 2’s information sets are labeled n</a:t>
            </a:r>
            <a:r>
              <a:rPr lang="en-US" altLang="en-US" baseline="-25000" dirty="0"/>
              <a:t>1</a:t>
            </a:r>
            <a:r>
              <a:rPr lang="en-US" altLang="en-US" dirty="0"/>
              <a:t>,…, n</a:t>
            </a:r>
            <a:r>
              <a:rPr lang="en-US" altLang="en-US" baseline="-25000" dirty="0"/>
              <a:t>4</a:t>
            </a:r>
            <a:r>
              <a:rPr lang="en-US" altLang="en-US" dirty="0"/>
              <a:t> for reference.</a:t>
            </a:r>
          </a:p>
          <a:p>
            <a:pPr>
              <a:spcBef>
                <a:spcPct val="0"/>
              </a:spcBef>
            </a:pPr>
            <a:endParaRPr lang="en-US" altLang="en-US" dirty="0" smtClean="0"/>
          </a:p>
        </p:txBody>
      </p:sp>
      <p:sp>
        <p:nvSpPr>
          <p:cNvPr id="90117"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8E9F49B3-29AD-4986-AD7D-E0B6CEAE2F64}" type="slidenum">
              <a:rPr lang="en-US" smtClean="0"/>
              <a:pPr>
                <a:defRPr/>
              </a:pPr>
              <a:t>74</a:t>
            </a:fld>
            <a:endParaRPr lang="en-US" dirty="0"/>
          </a:p>
        </p:txBody>
      </p:sp>
      <p:pic>
        <p:nvPicPr>
          <p:cNvPr id="634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762000"/>
            <a:ext cx="5294313" cy="55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355617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3490"/>
                                        </p:tgtEl>
                                        <p:attrNameLst>
                                          <p:attrName>style.visibility</p:attrName>
                                        </p:attrNameLst>
                                      </p:cBhvr>
                                      <p:to>
                                        <p:strVal val="visible"/>
                                      </p:to>
                                    </p:set>
                                    <p:animEffect transition="in" filter="wipe(left)">
                                      <p:cBhvr>
                                        <p:cTn id="7" dur="500"/>
                                        <p:tgtEl>
                                          <p:spTgt spid="6349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0115">
                                            <p:txEl>
                                              <p:pRg st="0" end="0"/>
                                            </p:txEl>
                                          </p:spTgt>
                                        </p:tgtEl>
                                        <p:attrNameLst>
                                          <p:attrName>style.visibility</p:attrName>
                                        </p:attrNameLst>
                                      </p:cBhvr>
                                      <p:to>
                                        <p:strVal val="visible"/>
                                      </p:to>
                                    </p:set>
                                    <p:animEffect transition="in" filter="wipe(left)">
                                      <p:cBhvr>
                                        <p:cTn id="11" dur="500"/>
                                        <p:tgtEl>
                                          <p:spTgt spid="901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5"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r>
              <a:rPr lang="en-US" altLang="en-US" smtClean="0"/>
              <a:t>Job-Market Signaling</a:t>
            </a:r>
          </a:p>
        </p:txBody>
      </p:sp>
      <p:sp>
        <p:nvSpPr>
          <p:cNvPr id="91139" name="Rectangle 3"/>
          <p:cNvSpPr>
            <a:spLocks noGrp="1" noChangeArrowheads="1"/>
          </p:cNvSpPr>
          <p:nvPr>
            <p:ph idx="1"/>
          </p:nvPr>
        </p:nvSpPr>
        <p:spPr/>
        <p:txBody>
          <a:bodyPr/>
          <a:lstStyle/>
          <a:p>
            <a:r>
              <a:rPr lang="en-US" altLang="en-US" smtClean="0"/>
              <a:t>Player 1 </a:t>
            </a:r>
          </a:p>
          <a:p>
            <a:pPr lvl="1"/>
            <a:r>
              <a:rPr lang="en-US" altLang="en-US" smtClean="0"/>
              <a:t>Observes his type before moving</a:t>
            </a:r>
          </a:p>
          <a:p>
            <a:r>
              <a:rPr lang="en-US" altLang="en-US" smtClean="0"/>
              <a:t>Player 2 </a:t>
            </a:r>
          </a:p>
          <a:p>
            <a:pPr lvl="1"/>
            <a:r>
              <a:rPr lang="en-US" altLang="en-US" smtClean="0"/>
              <a:t>Only observes player 1’s action (education signal) before moving</a:t>
            </a:r>
          </a:p>
          <a:p>
            <a:pPr lvl="1"/>
            <a:r>
              <a:rPr lang="en-US" altLang="en-US" smtClean="0"/>
              <a:t>Expected payoff from playing </a:t>
            </a:r>
            <a:r>
              <a:rPr lang="en-US" altLang="en-US" i="1" smtClean="0"/>
              <a:t>J</a:t>
            </a:r>
            <a:r>
              <a:rPr lang="en-US" altLang="en-US" smtClean="0"/>
              <a:t> is</a:t>
            </a:r>
          </a:p>
          <a:p>
            <a:pPr algn="ctr">
              <a:buFontTx/>
              <a:buNone/>
            </a:pPr>
            <a:r>
              <a:rPr lang="en-US" altLang="en-US" sz="3200" smtClean="0">
                <a:solidFill>
                  <a:srgbClr val="FF0000"/>
                </a:solidFill>
                <a:sym typeface="Symbol" pitchFamily="18" charset="2"/>
              </a:rPr>
              <a:t>Pr(</a:t>
            </a:r>
            <a:r>
              <a:rPr lang="en-US" altLang="en-US" sz="3200" i="1" smtClean="0">
                <a:solidFill>
                  <a:srgbClr val="FF0000"/>
                </a:solidFill>
                <a:sym typeface="Symbol" pitchFamily="18" charset="2"/>
              </a:rPr>
              <a:t>H|E</a:t>
            </a:r>
            <a:r>
              <a:rPr lang="en-US" altLang="en-US" sz="3200" smtClean="0">
                <a:solidFill>
                  <a:srgbClr val="FF0000"/>
                </a:solidFill>
                <a:sym typeface="Symbol" pitchFamily="18" charset="2"/>
              </a:rPr>
              <a:t>)( - </a:t>
            </a:r>
            <a:r>
              <a:rPr lang="en-US" altLang="en-US" sz="3200" i="1" smtClean="0">
                <a:solidFill>
                  <a:srgbClr val="FF0000"/>
                </a:solidFill>
                <a:sym typeface="Symbol" pitchFamily="18" charset="2"/>
              </a:rPr>
              <a:t>w</a:t>
            </a:r>
            <a:r>
              <a:rPr lang="en-US" altLang="en-US" sz="3200" smtClean="0">
                <a:solidFill>
                  <a:srgbClr val="FF0000"/>
                </a:solidFill>
                <a:sym typeface="Symbol" pitchFamily="18" charset="2"/>
              </a:rPr>
              <a:t>) + Pr(</a:t>
            </a:r>
            <a:r>
              <a:rPr lang="en-US" altLang="en-US" sz="3200" i="1" smtClean="0">
                <a:solidFill>
                  <a:srgbClr val="FF0000"/>
                </a:solidFill>
                <a:sym typeface="Symbol" pitchFamily="18" charset="2"/>
              </a:rPr>
              <a:t>L|E</a:t>
            </a:r>
            <a:r>
              <a:rPr lang="en-US" altLang="en-US" sz="3200" smtClean="0">
                <a:solidFill>
                  <a:srgbClr val="FF0000"/>
                </a:solidFill>
                <a:sym typeface="Symbol" pitchFamily="18" charset="2"/>
              </a:rPr>
              <a:t>)(-</a:t>
            </a:r>
            <a:r>
              <a:rPr lang="en-US" altLang="en-US" sz="3200" i="1" smtClean="0">
                <a:solidFill>
                  <a:srgbClr val="FF0000"/>
                </a:solidFill>
                <a:sym typeface="Symbol" pitchFamily="18" charset="2"/>
              </a:rPr>
              <a:t>w</a:t>
            </a:r>
            <a:r>
              <a:rPr lang="en-US" altLang="en-US" sz="3200" smtClean="0">
                <a:solidFill>
                  <a:srgbClr val="FF0000"/>
                </a:solidFill>
                <a:sym typeface="Symbol" pitchFamily="18" charset="2"/>
              </a:rPr>
              <a:t>) = Pr(</a:t>
            </a:r>
            <a:r>
              <a:rPr lang="en-US" altLang="en-US" sz="3200" i="1" smtClean="0">
                <a:solidFill>
                  <a:srgbClr val="FF0000"/>
                </a:solidFill>
                <a:sym typeface="Symbol" pitchFamily="18" charset="2"/>
              </a:rPr>
              <a:t>H|E</a:t>
            </a:r>
            <a:r>
              <a:rPr lang="en-US" altLang="en-US" sz="3200" smtClean="0">
                <a:solidFill>
                  <a:srgbClr val="FF0000"/>
                </a:solidFill>
                <a:sym typeface="Symbol" pitchFamily="18" charset="2"/>
              </a:rPr>
              <a:t>) - </a:t>
            </a:r>
            <a:r>
              <a:rPr lang="en-US" altLang="en-US" sz="3200" i="1" smtClean="0">
                <a:solidFill>
                  <a:srgbClr val="FF0000"/>
                </a:solidFill>
                <a:sym typeface="Symbol" pitchFamily="18" charset="2"/>
              </a:rPr>
              <a:t>w</a:t>
            </a:r>
            <a:endParaRPr lang="en-US" altLang="en-US" sz="3200" smtClean="0">
              <a:solidFill>
                <a:srgbClr val="FF0000"/>
              </a:solidFill>
              <a:sym typeface="Symbol" pitchFamily="18" charset="2"/>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817B6501-17C9-4511-A3E2-82CBFCCC1220}" type="slidenum">
              <a:rPr lang="en-US" smtClean="0"/>
              <a:pPr>
                <a:defRPr/>
              </a:pPr>
              <a:t>75</a:t>
            </a:fld>
            <a:endParaRPr lang="en-US"/>
          </a:p>
        </p:txBody>
      </p:sp>
    </p:spTree>
    <p:extLst>
      <p:ext uri="{BB962C8B-B14F-4D97-AF65-F5344CB8AC3E}">
        <p14:creationId xmlns:p14="http://schemas.microsoft.com/office/powerpoint/2010/main" val="585758853"/>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r>
              <a:rPr lang="en-US" altLang="en-US" smtClean="0"/>
              <a:t>Bayes’ Rule</a:t>
            </a:r>
          </a:p>
        </p:txBody>
      </p:sp>
      <p:sp>
        <p:nvSpPr>
          <p:cNvPr id="6149"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B0405404-DF9C-4916-AFA9-988276794BF2}" type="slidenum">
              <a:rPr lang="en-US" smtClean="0"/>
              <a:pPr>
                <a:defRPr/>
              </a:pPr>
              <a:t>76</a:t>
            </a:fld>
            <a:endParaRPr lang="en-US"/>
          </a:p>
        </p:txBody>
      </p:sp>
      <p:graphicFrame>
        <p:nvGraphicFramePr>
          <p:cNvPr id="101380" name="Object 2"/>
          <p:cNvGraphicFramePr>
            <a:graphicFrameLocks noChangeAspect="1"/>
          </p:cNvGraphicFramePr>
          <p:nvPr/>
        </p:nvGraphicFramePr>
        <p:xfrm>
          <a:off x="355600" y="1449388"/>
          <a:ext cx="8442325" cy="2787650"/>
        </p:xfrm>
        <a:graphic>
          <a:graphicData uri="http://schemas.openxmlformats.org/presentationml/2006/ole">
            <mc:AlternateContent xmlns:mc="http://schemas.openxmlformats.org/markup-compatibility/2006">
              <mc:Choice xmlns:v="urn:schemas-microsoft-com:vml" Requires="v">
                <p:oleObj spid="_x0000_s172044" name="Equation" r:id="rId3" imgW="3149280" imgH="1041120" progId="Equation.DSMT4">
                  <p:embed/>
                </p:oleObj>
              </mc:Choice>
              <mc:Fallback>
                <p:oleObj name="Equation" r:id="rId3" imgW="3149280" imgH="104112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600" y="1449388"/>
                        <a:ext cx="8442325" cy="278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2215646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01380"/>
                                        </p:tgtEl>
                                        <p:attrNameLst>
                                          <p:attrName>style.visibility</p:attrName>
                                        </p:attrNameLst>
                                      </p:cBhvr>
                                      <p:to>
                                        <p:strVal val="visible"/>
                                      </p:to>
                                    </p:set>
                                    <p:animEffect transition="in" filter="wipe(left)">
                                      <p:cBhvr>
                                        <p:cTn id="7" dur="500"/>
                                        <p:tgtEl>
                                          <p:spTgt spid="1013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8.17	Bayes’ Rule as a Black Box</a:t>
            </a:r>
            <a:br>
              <a:rPr lang="en-US" altLang="en-US" dirty="0"/>
            </a:br>
            <a:endParaRPr lang="en-US" altLang="en-US" dirty="0" smtClean="0"/>
          </a:p>
        </p:txBody>
      </p:sp>
      <p:sp>
        <p:nvSpPr>
          <p:cNvPr id="92163" name="Text Placeholder 2"/>
          <p:cNvSpPr>
            <a:spLocks noGrp="1"/>
          </p:cNvSpPr>
          <p:nvPr>
            <p:ph sz="half" idx="1"/>
          </p:nvPr>
        </p:nvSpPr>
        <p:spPr>
          <a:xfrm>
            <a:off x="152400" y="5181600"/>
            <a:ext cx="8839200" cy="1069707"/>
          </a:xfrm>
        </p:spPr>
        <p:txBody>
          <a:bodyPr>
            <a:normAutofit/>
          </a:bodyPr>
          <a:lstStyle/>
          <a:p>
            <a:pPr>
              <a:spcBef>
                <a:spcPct val="0"/>
              </a:spcBef>
            </a:pPr>
            <a:r>
              <a:rPr lang="en-US" altLang="en-US" dirty="0" smtClean="0"/>
              <a:t>Bayes</a:t>
            </a:r>
            <a:r>
              <a:rPr lang="en-US" altLang="en-US" dirty="0"/>
              <a:t>’ rule is a formula for computing player 2’s posterior beliefs from other pieces of information in the game.</a:t>
            </a:r>
          </a:p>
          <a:p>
            <a:pPr>
              <a:spcBef>
                <a:spcPct val="0"/>
              </a:spcBef>
            </a:pPr>
            <a:endParaRPr lang="en-US" altLang="en-US" dirty="0" smtClean="0"/>
          </a:p>
        </p:txBody>
      </p:sp>
      <p:sp>
        <p:nvSpPr>
          <p:cNvPr id="92166"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5A07DEED-7CB2-4F28-BC35-18E4B63BFED7}" type="slidenum">
              <a:rPr lang="en-US" smtClean="0"/>
              <a:pPr>
                <a:defRPr/>
              </a:pPr>
              <a:t>77</a:t>
            </a:fld>
            <a:endParaRPr lang="en-US" dirty="0"/>
          </a:p>
        </p:txBody>
      </p:sp>
      <p:pic>
        <p:nvPicPr>
          <p:cNvPr id="6451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219200"/>
            <a:ext cx="7515225" cy="302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163647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4515"/>
                                        </p:tgtEl>
                                        <p:attrNameLst>
                                          <p:attrName>style.visibility</p:attrName>
                                        </p:attrNameLst>
                                      </p:cBhvr>
                                      <p:to>
                                        <p:strVal val="visible"/>
                                      </p:to>
                                    </p:set>
                                    <p:animEffect transition="in" filter="wipe(left)">
                                      <p:cBhvr>
                                        <p:cTn id="7" dur="500"/>
                                        <p:tgtEl>
                                          <p:spTgt spid="6451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2163">
                                            <p:txEl>
                                              <p:pRg st="0" end="0"/>
                                            </p:txEl>
                                          </p:spTgt>
                                        </p:tgtEl>
                                        <p:attrNameLst>
                                          <p:attrName>style.visibility</p:attrName>
                                        </p:attrNameLst>
                                      </p:cBhvr>
                                      <p:to>
                                        <p:strVal val="visible"/>
                                      </p:to>
                                    </p:set>
                                    <p:animEffect transition="in" filter="wipe(left)">
                                      <p:cBhvr>
                                        <p:cTn id="11" dur="500"/>
                                        <p:tgtEl>
                                          <p:spTgt spid="9216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3"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noChangeArrowheads="1"/>
          </p:cNvSpPr>
          <p:nvPr>
            <p:ph type="title"/>
          </p:nvPr>
        </p:nvSpPr>
        <p:spPr/>
        <p:txBody>
          <a:bodyPr/>
          <a:lstStyle/>
          <a:p>
            <a:r>
              <a:rPr lang="en-US" altLang="en-US" smtClean="0"/>
              <a:t>Bayes’ Rule</a:t>
            </a:r>
          </a:p>
        </p:txBody>
      </p:sp>
      <p:sp>
        <p:nvSpPr>
          <p:cNvPr id="7173" name="Rectangle 3"/>
          <p:cNvSpPr>
            <a:spLocks noGrp="1" noChangeArrowheads="1"/>
          </p:cNvSpPr>
          <p:nvPr>
            <p:ph idx="1"/>
          </p:nvPr>
        </p:nvSpPr>
        <p:spPr/>
        <p:txBody>
          <a:bodyPr/>
          <a:lstStyle/>
          <a:p>
            <a:r>
              <a:rPr lang="en-US" altLang="en-US" dirty="0" smtClean="0"/>
              <a:t>When player 1 plays a pure strategy</a:t>
            </a:r>
          </a:p>
          <a:p>
            <a:pPr lvl="1"/>
            <a:r>
              <a:rPr lang="en-US" altLang="en-US" dirty="0" smtClean="0"/>
              <a:t>Bayes’ rule often gives a simple result</a:t>
            </a:r>
          </a:p>
          <a:p>
            <a:r>
              <a:rPr lang="en-US" altLang="en-US" dirty="0" smtClean="0"/>
              <a:t>Suppose that </a:t>
            </a:r>
            <a:r>
              <a:rPr lang="en-US" altLang="en-US" dirty="0" err="1" smtClean="0"/>
              <a:t>Pr</a:t>
            </a:r>
            <a:r>
              <a:rPr lang="en-US" altLang="en-US" dirty="0" smtClean="0"/>
              <a:t>(E|H) = 1 and </a:t>
            </a:r>
            <a:r>
              <a:rPr lang="en-US" altLang="en-US" dirty="0" err="1" smtClean="0"/>
              <a:t>Pr</a:t>
            </a:r>
            <a:r>
              <a:rPr lang="en-US" altLang="en-US" dirty="0" smtClean="0"/>
              <a:t>(E|L)=0</a:t>
            </a: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5" name="Slide Number Placeholder 4"/>
          <p:cNvSpPr>
            <a:spLocks noGrp="1"/>
          </p:cNvSpPr>
          <p:nvPr>
            <p:ph type="sldNum" sz="quarter" idx="11"/>
          </p:nvPr>
        </p:nvSpPr>
        <p:spPr/>
        <p:txBody>
          <a:bodyPr/>
          <a:lstStyle/>
          <a:p>
            <a:pPr>
              <a:defRPr/>
            </a:pPr>
            <a:fld id="{9CDD5084-B901-4F7E-BAB7-39041FACAD05}" type="slidenum">
              <a:rPr lang="en-US" smtClean="0"/>
              <a:pPr>
                <a:defRPr/>
              </a:pPr>
              <a:t>78</a:t>
            </a:fld>
            <a:endParaRPr lang="en-US"/>
          </a:p>
        </p:txBody>
      </p:sp>
      <p:sp>
        <p:nvSpPr>
          <p:cNvPr id="2" name="Text Placeholder 1"/>
          <p:cNvSpPr>
            <a:spLocks noGrp="1"/>
          </p:cNvSpPr>
          <p:nvPr>
            <p:ph type="body" sz="quarter" idx="12"/>
          </p:nvPr>
        </p:nvSpPr>
        <p:spPr/>
        <p:txBody>
          <a:bodyPr/>
          <a:lstStyle/>
          <a:p>
            <a:r>
              <a:rPr lang="en-US" dirty="0"/>
              <a:t>Suppose that </a:t>
            </a:r>
            <a:r>
              <a:rPr lang="en-US" dirty="0" err="1"/>
              <a:t>Pr</a:t>
            </a:r>
            <a:r>
              <a:rPr lang="en-US" dirty="0"/>
              <a:t>(E|H) = </a:t>
            </a:r>
            <a:r>
              <a:rPr lang="en-US" dirty="0" err="1" smtClean="0"/>
              <a:t>Pr</a:t>
            </a:r>
            <a:r>
              <a:rPr lang="en-US" dirty="0" smtClean="0"/>
              <a:t>(E|L</a:t>
            </a:r>
            <a:r>
              <a:rPr lang="en-US" dirty="0"/>
              <a:t>)=1</a:t>
            </a:r>
          </a:p>
          <a:p>
            <a:pPr marL="0" indent="0">
              <a:buNone/>
            </a:pPr>
            <a:endParaRPr lang="en-US" dirty="0"/>
          </a:p>
        </p:txBody>
      </p:sp>
      <p:graphicFrame>
        <p:nvGraphicFramePr>
          <p:cNvPr id="103428" name="Object 2"/>
          <p:cNvGraphicFramePr>
            <a:graphicFrameLocks noChangeAspect="1"/>
          </p:cNvGraphicFramePr>
          <p:nvPr>
            <p:extLst>
              <p:ext uri="{D42A27DB-BD31-4B8C-83A1-F6EECF244321}">
                <p14:modId xmlns:p14="http://schemas.microsoft.com/office/powerpoint/2010/main" val="3082281661"/>
              </p:ext>
            </p:extLst>
          </p:nvPr>
        </p:nvGraphicFramePr>
        <p:xfrm>
          <a:off x="1346200" y="2974975"/>
          <a:ext cx="5337175" cy="1155700"/>
        </p:xfrm>
        <a:graphic>
          <a:graphicData uri="http://schemas.openxmlformats.org/presentationml/2006/ole">
            <mc:AlternateContent xmlns:mc="http://schemas.openxmlformats.org/markup-compatibility/2006">
              <mc:Choice xmlns:v="urn:schemas-microsoft-com:vml" Requires="v">
                <p:oleObj spid="_x0000_s173076" name="Equation" r:id="rId3" imgW="2222280" imgH="482400" progId="Equation.DSMT4">
                  <p:embed/>
                </p:oleObj>
              </mc:Choice>
              <mc:Fallback>
                <p:oleObj name="Equation" r:id="rId3" imgW="2222280" imgH="482400" progId="Equation.DSMT4">
                  <p:embed/>
                  <p:pic>
                    <p:nvPicPr>
                      <p:cNvPr id="0" name=""/>
                      <p:cNvPicPr>
                        <a:picLocks noChangeAspect="1" noChangeArrowheads="1"/>
                      </p:cNvPicPr>
                      <p:nvPr/>
                    </p:nvPicPr>
                    <p:blipFill>
                      <a:blip r:embed="rId4"/>
                      <a:srcRect/>
                      <a:stretch>
                        <a:fillRect/>
                      </a:stretch>
                    </p:blipFill>
                    <p:spPr bwMode="auto">
                      <a:xfrm>
                        <a:off x="1346200" y="2974975"/>
                        <a:ext cx="5337175" cy="1155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891" name="Object 3"/>
          <p:cNvGraphicFramePr>
            <a:graphicFrameLocks noChangeAspect="1"/>
          </p:cNvGraphicFramePr>
          <p:nvPr>
            <p:extLst>
              <p:ext uri="{D42A27DB-BD31-4B8C-83A1-F6EECF244321}">
                <p14:modId xmlns:p14="http://schemas.microsoft.com/office/powerpoint/2010/main" val="2000570972"/>
              </p:ext>
            </p:extLst>
          </p:nvPr>
        </p:nvGraphicFramePr>
        <p:xfrm>
          <a:off x="1358900" y="4848225"/>
          <a:ext cx="5980113" cy="1122363"/>
        </p:xfrm>
        <a:graphic>
          <a:graphicData uri="http://schemas.openxmlformats.org/presentationml/2006/ole">
            <mc:AlternateContent xmlns:mc="http://schemas.openxmlformats.org/markup-compatibility/2006">
              <mc:Choice xmlns:v="urn:schemas-microsoft-com:vml" Requires="v">
                <p:oleObj spid="_x0000_s173077" name="Equation" r:id="rId5" imgW="2565360" imgH="482400" progId="Equation.DSMT4">
                  <p:embed/>
                </p:oleObj>
              </mc:Choice>
              <mc:Fallback>
                <p:oleObj name="Equation" r:id="rId5" imgW="2565360" imgH="482400" progId="Equation.DSMT4">
                  <p:embed/>
                  <p:pic>
                    <p:nvPicPr>
                      <p:cNvPr id="0" name=""/>
                      <p:cNvPicPr>
                        <a:picLocks noChangeAspect="1" noChangeArrowheads="1"/>
                      </p:cNvPicPr>
                      <p:nvPr/>
                    </p:nvPicPr>
                    <p:blipFill>
                      <a:blip r:embed="rId6"/>
                      <a:srcRect/>
                      <a:stretch>
                        <a:fillRect/>
                      </a:stretch>
                    </p:blipFill>
                    <p:spPr bwMode="auto">
                      <a:xfrm>
                        <a:off x="1358900" y="4848225"/>
                        <a:ext cx="5980113" cy="1122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6700134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03428"/>
                                        </p:tgtEl>
                                        <p:attrNameLst>
                                          <p:attrName>style.visibility</p:attrName>
                                        </p:attrNameLst>
                                      </p:cBhvr>
                                      <p:to>
                                        <p:strVal val="visible"/>
                                      </p:to>
                                    </p:set>
                                    <p:animEffect transition="in" filter="wipe(left)">
                                      <p:cBhvr>
                                        <p:cTn id="7" dur="500"/>
                                        <p:tgtEl>
                                          <p:spTgt spid="10342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7891"/>
                                        </p:tgtEl>
                                        <p:attrNameLst>
                                          <p:attrName>style.visibility</p:attrName>
                                        </p:attrNameLst>
                                      </p:cBhvr>
                                      <p:to>
                                        <p:strVal val="visible"/>
                                      </p:to>
                                    </p:set>
                                    <p:animEffect transition="in" filter="wipe(left)">
                                      <p:cBhvr>
                                        <p:cTn id="15" dur="500"/>
                                        <p:tgtEl>
                                          <p:spTgt spid="378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noChangeArrowheads="1"/>
          </p:cNvSpPr>
          <p:nvPr>
            <p:ph type="title"/>
          </p:nvPr>
        </p:nvSpPr>
        <p:spPr/>
        <p:txBody>
          <a:bodyPr/>
          <a:lstStyle/>
          <a:p>
            <a:r>
              <a:rPr lang="en-US" altLang="en-US" smtClean="0"/>
              <a:t>Bayes’ Rule</a:t>
            </a:r>
          </a:p>
        </p:txBody>
      </p:sp>
      <p:sp>
        <p:nvSpPr>
          <p:cNvPr id="7173" name="Rectangle 3"/>
          <p:cNvSpPr>
            <a:spLocks noGrp="1" noChangeArrowheads="1"/>
          </p:cNvSpPr>
          <p:nvPr>
            <p:ph idx="1"/>
          </p:nvPr>
        </p:nvSpPr>
        <p:spPr/>
        <p:txBody>
          <a:bodyPr/>
          <a:lstStyle/>
          <a:p>
            <a:r>
              <a:rPr lang="en-US" altLang="en-US" dirty="0" smtClean="0"/>
              <a:t>More generally, when player 1 plays the mixed strategy </a:t>
            </a:r>
          </a:p>
          <a:p>
            <a:pPr marL="0" indent="0">
              <a:buNone/>
            </a:pPr>
            <a:r>
              <a:rPr lang="en-US" altLang="en-US" dirty="0"/>
              <a:t>	</a:t>
            </a:r>
            <a:r>
              <a:rPr lang="en-US" altLang="en-US" dirty="0" err="1" smtClean="0">
                <a:solidFill>
                  <a:schemeClr val="tx1"/>
                </a:solidFill>
              </a:rPr>
              <a:t>Pr</a:t>
            </a:r>
            <a:r>
              <a:rPr lang="en-US" altLang="en-US" dirty="0" smtClean="0">
                <a:solidFill>
                  <a:schemeClr val="tx1"/>
                </a:solidFill>
              </a:rPr>
              <a:t>(E|H) = p and </a:t>
            </a:r>
            <a:r>
              <a:rPr lang="en-US" altLang="en-US" dirty="0" err="1" smtClean="0">
                <a:solidFill>
                  <a:schemeClr val="tx1"/>
                </a:solidFill>
              </a:rPr>
              <a:t>Pr</a:t>
            </a:r>
            <a:r>
              <a:rPr lang="en-US" altLang="en-US" dirty="0" smtClean="0">
                <a:solidFill>
                  <a:schemeClr val="tx1"/>
                </a:solidFill>
              </a:rPr>
              <a:t>(E|L)= q</a:t>
            </a:r>
          </a:p>
          <a:p>
            <a:r>
              <a:rPr lang="en-US" altLang="en-US" dirty="0" smtClean="0"/>
              <a:t>Then Bayes’ rule implies: </a:t>
            </a: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5" name="Slide Number Placeholder 4"/>
          <p:cNvSpPr>
            <a:spLocks noGrp="1"/>
          </p:cNvSpPr>
          <p:nvPr>
            <p:ph type="sldNum" sz="quarter" idx="11"/>
          </p:nvPr>
        </p:nvSpPr>
        <p:spPr/>
        <p:txBody>
          <a:bodyPr/>
          <a:lstStyle/>
          <a:p>
            <a:pPr>
              <a:defRPr/>
            </a:pPr>
            <a:fld id="{9CDD5084-B901-4F7E-BAB7-39041FACAD05}" type="slidenum">
              <a:rPr lang="en-US" smtClean="0"/>
              <a:pPr>
                <a:defRPr/>
              </a:pPr>
              <a:t>79</a:t>
            </a:fld>
            <a:endParaRPr lang="en-US"/>
          </a:p>
        </p:txBody>
      </p:sp>
      <p:graphicFrame>
        <p:nvGraphicFramePr>
          <p:cNvPr id="103428" name="Object 2"/>
          <p:cNvGraphicFramePr>
            <a:graphicFrameLocks noChangeAspect="1"/>
          </p:cNvGraphicFramePr>
          <p:nvPr>
            <p:extLst>
              <p:ext uri="{D42A27DB-BD31-4B8C-83A1-F6EECF244321}">
                <p14:modId xmlns:p14="http://schemas.microsoft.com/office/powerpoint/2010/main" val="2224800421"/>
              </p:ext>
            </p:extLst>
          </p:nvPr>
        </p:nvGraphicFramePr>
        <p:xfrm>
          <a:off x="1158875" y="4267200"/>
          <a:ext cx="5000625" cy="1155700"/>
        </p:xfrm>
        <a:graphic>
          <a:graphicData uri="http://schemas.openxmlformats.org/presentationml/2006/ole">
            <mc:AlternateContent xmlns:mc="http://schemas.openxmlformats.org/markup-compatibility/2006">
              <mc:Choice xmlns:v="urn:schemas-microsoft-com:vml" Requires="v">
                <p:oleObj spid="_x0000_s175109" name="Equation" r:id="rId3" imgW="2082600" imgH="482400" progId="Equation.DSMT4">
                  <p:embed/>
                </p:oleObj>
              </mc:Choice>
              <mc:Fallback>
                <p:oleObj name="Equation" r:id="rId3" imgW="2082600" imgH="482400" progId="Equation.DSMT4">
                  <p:embed/>
                  <p:pic>
                    <p:nvPicPr>
                      <p:cNvPr id="0" name=""/>
                      <p:cNvPicPr>
                        <a:picLocks noChangeAspect="1" noChangeArrowheads="1"/>
                      </p:cNvPicPr>
                      <p:nvPr/>
                    </p:nvPicPr>
                    <p:blipFill>
                      <a:blip r:embed="rId4"/>
                      <a:srcRect/>
                      <a:stretch>
                        <a:fillRect/>
                      </a:stretch>
                    </p:blipFill>
                    <p:spPr bwMode="auto">
                      <a:xfrm>
                        <a:off x="1158875" y="4267200"/>
                        <a:ext cx="5000625" cy="1155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8737163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03428"/>
                                        </p:tgtEl>
                                        <p:attrNameLst>
                                          <p:attrName>style.visibility</p:attrName>
                                        </p:attrNameLst>
                                      </p:cBhvr>
                                      <p:to>
                                        <p:strVal val="visible"/>
                                      </p:to>
                                    </p:set>
                                    <p:animEffect transition="in" filter="wipe(left)">
                                      <p:cBhvr>
                                        <p:cTn id="7" dur="500"/>
                                        <p:tgtEl>
                                          <p:spTgt spid="1034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r>
              <a:rPr lang="en-US" altLang="en-US" smtClean="0"/>
              <a:t>Perfect Bayesian Equilibrium</a:t>
            </a:r>
          </a:p>
        </p:txBody>
      </p:sp>
      <p:sp>
        <p:nvSpPr>
          <p:cNvPr id="93187" name="Rectangle 3"/>
          <p:cNvSpPr>
            <a:spLocks noGrp="1" noChangeArrowheads="1"/>
          </p:cNvSpPr>
          <p:nvPr>
            <p:ph idx="1"/>
          </p:nvPr>
        </p:nvSpPr>
        <p:spPr/>
        <p:txBody>
          <a:bodyPr/>
          <a:lstStyle/>
          <a:p>
            <a:r>
              <a:rPr lang="en-US" altLang="en-US" smtClean="0"/>
              <a:t>A perfect Bayesian equilibrium </a:t>
            </a:r>
          </a:p>
          <a:p>
            <a:pPr lvl="1"/>
            <a:r>
              <a:rPr lang="en-US" altLang="en-US" smtClean="0"/>
              <a:t>Consists of a strategy profile and a set of beliefs such that at each information set</a:t>
            </a:r>
          </a:p>
          <a:p>
            <a:pPr lvl="2"/>
            <a:r>
              <a:rPr lang="en-US" altLang="en-US" smtClean="0"/>
              <a:t>The strategy of a player moving there maximizes his expected payoff</a:t>
            </a:r>
          </a:p>
          <a:p>
            <a:pPr lvl="3"/>
            <a:r>
              <a:rPr lang="en-US" altLang="en-US" smtClean="0"/>
              <a:t>The expectation is taken with respect to his beliefs</a:t>
            </a:r>
          </a:p>
          <a:p>
            <a:pPr lvl="2"/>
            <a:r>
              <a:rPr lang="en-US" altLang="en-US" smtClean="0"/>
              <a:t>The beliefs of the player moving there are formed using Bayes’ rule</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11717120-ABE8-4697-9349-9F99F8A8580A}" type="slidenum">
              <a:rPr lang="en-US" smtClean="0"/>
              <a:pPr>
                <a:defRPr/>
              </a:pPr>
              <a:t>80</a:t>
            </a:fld>
            <a:endParaRPr lang="en-US"/>
          </a:p>
        </p:txBody>
      </p:sp>
    </p:spTree>
    <p:extLst>
      <p:ext uri="{BB962C8B-B14F-4D97-AF65-F5344CB8AC3E}">
        <p14:creationId xmlns:p14="http://schemas.microsoft.com/office/powerpoint/2010/main" val="114162839"/>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en-US" altLang="en-US" smtClean="0"/>
              <a:t>Perfect Bayesian Equilibrium</a:t>
            </a:r>
          </a:p>
        </p:txBody>
      </p:sp>
      <p:sp>
        <p:nvSpPr>
          <p:cNvPr id="94211" name="Rectangle 3"/>
          <p:cNvSpPr>
            <a:spLocks noGrp="1" noChangeArrowheads="1"/>
          </p:cNvSpPr>
          <p:nvPr>
            <p:ph idx="1"/>
          </p:nvPr>
        </p:nvSpPr>
        <p:spPr/>
        <p:txBody>
          <a:bodyPr/>
          <a:lstStyle/>
          <a:p>
            <a:r>
              <a:rPr lang="en-US" altLang="en-US" smtClean="0"/>
              <a:t>Signaling games may have multiple equilibria </a:t>
            </a:r>
          </a:p>
          <a:p>
            <a:pPr lvl="1"/>
            <a:r>
              <a:rPr lang="en-US" altLang="en-US" smtClean="0"/>
              <a:t>Separating, Pooling, Hybrid</a:t>
            </a:r>
          </a:p>
          <a:p>
            <a:r>
              <a:rPr lang="en-US" altLang="en-US" smtClean="0"/>
              <a:t>Separating equilibrium</a:t>
            </a:r>
          </a:p>
          <a:p>
            <a:pPr lvl="1"/>
            <a:r>
              <a:rPr lang="en-US" altLang="en-US" smtClean="0"/>
              <a:t>Each type of player chooses a different action</a:t>
            </a:r>
          </a:p>
          <a:p>
            <a:pPr lvl="1"/>
            <a:r>
              <a:rPr lang="en-US" altLang="en-US" smtClean="0"/>
              <a:t>Player 2 learns player 1’s type with certainty after 1 moves</a:t>
            </a:r>
          </a:p>
          <a:p>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EF7FCF11-428B-4C51-9659-8448CD4C238D}" type="slidenum">
              <a:rPr lang="en-US" smtClean="0"/>
              <a:pPr>
                <a:defRPr/>
              </a:pPr>
              <a:t>81</a:t>
            </a:fld>
            <a:endParaRPr lang="en-US"/>
          </a:p>
        </p:txBody>
      </p:sp>
    </p:spTree>
    <p:extLst>
      <p:ext uri="{BB962C8B-B14F-4D97-AF65-F5344CB8AC3E}">
        <p14:creationId xmlns:p14="http://schemas.microsoft.com/office/powerpoint/2010/main" val="1348514844"/>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r>
              <a:rPr lang="en-US" altLang="en-US" smtClean="0"/>
              <a:t>Perfect Bayesian Equilibrium</a:t>
            </a:r>
          </a:p>
        </p:txBody>
      </p:sp>
      <p:sp>
        <p:nvSpPr>
          <p:cNvPr id="95235" name="Rectangle 3"/>
          <p:cNvSpPr>
            <a:spLocks noGrp="1" noChangeArrowheads="1"/>
          </p:cNvSpPr>
          <p:nvPr>
            <p:ph idx="1"/>
          </p:nvPr>
        </p:nvSpPr>
        <p:spPr/>
        <p:txBody>
          <a:bodyPr/>
          <a:lstStyle/>
          <a:p>
            <a:r>
              <a:rPr lang="en-US" altLang="en-US" smtClean="0"/>
              <a:t>Pooling equilibrium</a:t>
            </a:r>
          </a:p>
          <a:p>
            <a:pPr lvl="1"/>
            <a:r>
              <a:rPr lang="en-US" altLang="en-US" smtClean="0"/>
              <a:t>Different types of player 1 choose the same action</a:t>
            </a:r>
          </a:p>
          <a:p>
            <a:pPr lvl="1"/>
            <a:r>
              <a:rPr lang="en-US" altLang="en-US" smtClean="0"/>
              <a:t>Observing player 1’s move provides player 2 with no additional information</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1A3E4034-5696-44F4-A66A-0D07E554C0E8}" type="slidenum">
              <a:rPr lang="en-US" smtClean="0"/>
              <a:pPr>
                <a:defRPr/>
              </a:pPr>
              <a:t>82</a:t>
            </a:fld>
            <a:endParaRPr lang="en-US"/>
          </a:p>
        </p:txBody>
      </p:sp>
    </p:spTree>
    <p:extLst>
      <p:ext uri="{BB962C8B-B14F-4D97-AF65-F5344CB8AC3E}">
        <p14:creationId xmlns:p14="http://schemas.microsoft.com/office/powerpoint/2010/main" val="4116107033"/>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r>
              <a:rPr lang="en-US" altLang="en-US" smtClean="0"/>
              <a:t>Perfect Bayesian Equilibrium</a:t>
            </a:r>
          </a:p>
        </p:txBody>
      </p:sp>
      <p:sp>
        <p:nvSpPr>
          <p:cNvPr id="96259" name="Rectangle 3"/>
          <p:cNvSpPr>
            <a:spLocks noGrp="1" noChangeArrowheads="1"/>
          </p:cNvSpPr>
          <p:nvPr>
            <p:ph idx="1"/>
          </p:nvPr>
        </p:nvSpPr>
        <p:spPr/>
        <p:txBody>
          <a:bodyPr/>
          <a:lstStyle/>
          <a:p>
            <a:r>
              <a:rPr lang="en-US" altLang="en-US" smtClean="0"/>
              <a:t>Hybrid equilibrium</a:t>
            </a:r>
          </a:p>
          <a:p>
            <a:pPr lvl="1"/>
            <a:r>
              <a:rPr lang="en-US" altLang="en-US" smtClean="0"/>
              <a:t>One type of player 1 plays a strictly mixed strategy</a:t>
            </a:r>
          </a:p>
          <a:p>
            <a:pPr lvl="1"/>
            <a:r>
              <a:rPr lang="en-US" altLang="en-US" smtClean="0"/>
              <a:t>Player 2 learns a little about player 1’s type but doesn’t learn it with certainty</a:t>
            </a:r>
          </a:p>
          <a:p>
            <a:pPr lvl="1"/>
            <a:r>
              <a:rPr lang="en-US" altLang="en-US" smtClean="0"/>
              <a:t>Player 2 may respond by also playing a mixed strategy</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F214BA26-1B71-4715-BF92-A0890C4F3394}" type="slidenum">
              <a:rPr lang="en-US" smtClean="0"/>
              <a:pPr>
                <a:defRPr/>
              </a:pPr>
              <a:t>83</a:t>
            </a:fld>
            <a:endParaRPr lang="en-US"/>
          </a:p>
        </p:txBody>
      </p:sp>
    </p:spTree>
    <p:extLst>
      <p:ext uri="{BB962C8B-B14F-4D97-AF65-F5344CB8AC3E}">
        <p14:creationId xmlns:p14="http://schemas.microsoft.com/office/powerpoint/2010/main" val="2411298822"/>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p:cNvSpPr>
            <a:spLocks noGrp="1"/>
          </p:cNvSpPr>
          <p:nvPr>
            <p:ph type="title"/>
          </p:nvPr>
        </p:nvSpPr>
        <p:spPr bwMode="auto">
          <a:xfrm>
            <a:off x="1764344" y="0"/>
            <a:ext cx="7379656"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8.7 	Separating Equilibrium in the </a:t>
            </a:r>
            <a:br>
              <a:rPr lang="en-US" altLang="en-US" dirty="0" smtClean="0"/>
            </a:br>
            <a:r>
              <a:rPr lang="en-US" altLang="en-US" dirty="0" smtClean="0"/>
              <a:t>	</a:t>
            </a:r>
            <a:r>
              <a:rPr lang="en-US" altLang="en-US" dirty="0" smtClean="0">
                <a:solidFill>
                  <a:srgbClr val="002D56"/>
                </a:solidFill>
              </a:rPr>
              <a:t>Job-Market Signaling Game</a:t>
            </a:r>
          </a:p>
        </p:txBody>
      </p:sp>
      <p:sp>
        <p:nvSpPr>
          <p:cNvPr id="97285"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A4171049-9921-4257-AFBF-4A05504F9D8C}" type="slidenum">
              <a:rPr lang="en-US" smtClean="0"/>
              <a:pPr>
                <a:defRPr/>
              </a:pPr>
              <a:t>84</a:t>
            </a:fld>
            <a:endParaRPr lang="en-US" dirty="0"/>
          </a:p>
        </p:txBody>
      </p:sp>
      <p:sp>
        <p:nvSpPr>
          <p:cNvPr id="97283" name="Content Placeholder 2"/>
          <p:cNvSpPr>
            <a:spLocks noGrp="1"/>
          </p:cNvSpPr>
          <p:nvPr>
            <p:ph type="body" sz="quarter" idx="12"/>
          </p:nvPr>
        </p:nvSpPr>
        <p:spPr>
          <a:xfrm>
            <a:off x="381000" y="990600"/>
            <a:ext cx="8382000" cy="5410200"/>
          </a:xfrm>
          <a:prstGeom prst="rect">
            <a:avLst/>
          </a:prstGeom>
        </p:spPr>
        <p:txBody>
          <a:bodyPr/>
          <a:lstStyle/>
          <a:p>
            <a:r>
              <a:rPr lang="en-US" altLang="en-US" dirty="0" smtClean="0"/>
              <a:t>High-skilled worker </a:t>
            </a:r>
          </a:p>
          <a:p>
            <a:pPr lvl="1"/>
            <a:r>
              <a:rPr lang="en-US" altLang="en-US" dirty="0" smtClean="0"/>
              <a:t>Signals his or her type by getting an education </a:t>
            </a:r>
          </a:p>
          <a:p>
            <a:r>
              <a:rPr lang="en-US" altLang="en-US" dirty="0" smtClean="0"/>
              <a:t>Player 2’s beliefs</a:t>
            </a:r>
          </a:p>
          <a:p>
            <a:pPr lvl="1"/>
            <a:r>
              <a:rPr lang="en-US" altLang="en-US" dirty="0" err="1" smtClean="0"/>
              <a:t>Pr</a:t>
            </a:r>
            <a:r>
              <a:rPr lang="en-US" altLang="en-US" dirty="0" smtClean="0"/>
              <a:t>(H|E)=</a:t>
            </a:r>
            <a:r>
              <a:rPr lang="en-US" altLang="en-US" dirty="0" err="1" smtClean="0"/>
              <a:t>Pr</a:t>
            </a:r>
            <a:r>
              <a:rPr lang="en-US" altLang="en-US" dirty="0" smtClean="0"/>
              <a:t>(L|NE)=1</a:t>
            </a:r>
          </a:p>
          <a:p>
            <a:pPr lvl="1"/>
            <a:r>
              <a:rPr lang="en-US" altLang="en-US" dirty="0" err="1" smtClean="0"/>
              <a:t>Pr</a:t>
            </a:r>
            <a:r>
              <a:rPr lang="en-US" altLang="en-US" dirty="0" smtClean="0"/>
              <a:t>(H|NE)=</a:t>
            </a:r>
            <a:r>
              <a:rPr lang="en-US" altLang="en-US" dirty="0" err="1" smtClean="0"/>
              <a:t>Pr</a:t>
            </a:r>
            <a:r>
              <a:rPr lang="en-US" altLang="en-US" dirty="0" smtClean="0"/>
              <a:t>(L|E)=0</a:t>
            </a:r>
          </a:p>
          <a:p>
            <a:r>
              <a:rPr lang="en-US" altLang="en-US" dirty="0" smtClean="0"/>
              <a:t>Player 2’s response </a:t>
            </a:r>
          </a:p>
          <a:p>
            <a:pPr lvl="1"/>
            <a:r>
              <a:rPr lang="en-US" altLang="en-US" dirty="0" smtClean="0"/>
              <a:t>Offer a job if he observes that player 1  obtains an education</a:t>
            </a:r>
          </a:p>
          <a:p>
            <a:pPr lvl="1"/>
            <a:r>
              <a:rPr lang="en-US" altLang="en-US" dirty="0" smtClean="0"/>
              <a:t>Not offer a job if he observes that player 1 does not obtain an education</a:t>
            </a:r>
          </a:p>
        </p:txBody>
      </p:sp>
    </p:spTree>
    <p:extLst>
      <p:ext uri="{BB962C8B-B14F-4D97-AF65-F5344CB8AC3E}">
        <p14:creationId xmlns:p14="http://schemas.microsoft.com/office/powerpoint/2010/main" val="1731544265"/>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p:cNvSpPr>
            <a:spLocks noGrp="1"/>
          </p:cNvSpPr>
          <p:nvPr>
            <p:ph type="title"/>
          </p:nvPr>
        </p:nvSpPr>
        <p:spPr bwMode="auto">
          <a:xfrm>
            <a:off x="1764344" y="0"/>
            <a:ext cx="7379656"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8.7 	Separating Equilibrium in the </a:t>
            </a:r>
            <a:br>
              <a:rPr lang="en-US" altLang="en-US" dirty="0" smtClean="0"/>
            </a:br>
            <a:r>
              <a:rPr lang="en-US" altLang="en-US" dirty="0"/>
              <a:t>	</a:t>
            </a:r>
            <a:r>
              <a:rPr lang="en-US" altLang="en-US" dirty="0" smtClean="0">
                <a:solidFill>
                  <a:srgbClr val="002D56"/>
                </a:solidFill>
              </a:rPr>
              <a:t>Job-Market Signaling Game</a:t>
            </a:r>
          </a:p>
        </p:txBody>
      </p:sp>
      <p:sp>
        <p:nvSpPr>
          <p:cNvPr id="98309"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4DA43CFC-818D-4F0D-8E22-120B5FEAF6AD}" type="slidenum">
              <a:rPr lang="en-US" smtClean="0"/>
              <a:pPr>
                <a:defRPr/>
              </a:pPr>
              <a:t>85</a:t>
            </a:fld>
            <a:endParaRPr lang="en-US" dirty="0"/>
          </a:p>
        </p:txBody>
      </p:sp>
      <p:sp>
        <p:nvSpPr>
          <p:cNvPr id="98307" name="Content Placeholder 2"/>
          <p:cNvSpPr>
            <a:spLocks noGrp="1"/>
          </p:cNvSpPr>
          <p:nvPr>
            <p:ph type="body" sz="quarter" idx="12"/>
          </p:nvPr>
        </p:nvSpPr>
        <p:spPr>
          <a:xfrm>
            <a:off x="381000" y="914400"/>
            <a:ext cx="8382000" cy="5486400"/>
          </a:xfrm>
          <a:prstGeom prst="rect">
            <a:avLst/>
          </a:prstGeom>
        </p:spPr>
        <p:txBody>
          <a:bodyPr/>
          <a:lstStyle/>
          <a:p>
            <a:r>
              <a:rPr lang="en-US" altLang="en-US" dirty="0" smtClean="0"/>
              <a:t>Check: player 1 would not want to deviate from the separating strategy (E|H, NE|L) </a:t>
            </a:r>
          </a:p>
          <a:p>
            <a:pPr lvl="1"/>
            <a:r>
              <a:rPr lang="en-US" altLang="en-US" dirty="0" smtClean="0"/>
              <a:t>Given that player 2 plays (J|E, NJ|NE)</a:t>
            </a:r>
          </a:p>
          <a:p>
            <a:r>
              <a:rPr lang="en-US" altLang="en-US" dirty="0" smtClean="0"/>
              <a:t>Separating equilibrium</a:t>
            </a:r>
          </a:p>
          <a:p>
            <a:pPr lvl="1"/>
            <a:r>
              <a:rPr lang="en-US" altLang="en-US" sz="2700" dirty="0" smtClean="0"/>
              <a:t>The worker obtains an education if and only if he is high-skilled</a:t>
            </a:r>
          </a:p>
          <a:p>
            <a:pPr lvl="1"/>
            <a:r>
              <a:rPr lang="en-US" altLang="en-US" sz="2700" dirty="0" smtClean="0"/>
              <a:t>The firm offers a job only to applicants with an education if and only if </a:t>
            </a:r>
            <a:r>
              <a:rPr lang="en-US" altLang="en-US" sz="2700" dirty="0" err="1" smtClean="0"/>
              <a:t>c</a:t>
            </a:r>
            <a:r>
              <a:rPr lang="en-US" altLang="en-US" sz="2700" baseline="-25000" dirty="0" err="1" smtClean="0"/>
              <a:t>H</a:t>
            </a:r>
            <a:r>
              <a:rPr lang="en-US" altLang="en-US" sz="2700" dirty="0" smtClean="0"/>
              <a:t> &lt; w &lt; </a:t>
            </a:r>
            <a:r>
              <a:rPr lang="en-US" altLang="en-US" sz="2700" dirty="0" err="1" smtClean="0"/>
              <a:t>c</a:t>
            </a:r>
            <a:r>
              <a:rPr lang="en-US" altLang="en-US" sz="2700" baseline="-25000" dirty="0" err="1" smtClean="0"/>
              <a:t>L</a:t>
            </a:r>
            <a:endParaRPr lang="en-US" altLang="en-US" sz="2700" baseline="-25000" dirty="0" smtClean="0"/>
          </a:p>
          <a:p>
            <a:r>
              <a:rPr lang="en-US" altLang="en-US" dirty="0" smtClean="0"/>
              <a:t>Another possible separating equilibrium</a:t>
            </a:r>
          </a:p>
          <a:p>
            <a:pPr lvl="1"/>
            <a:r>
              <a:rPr lang="en-US" altLang="en-US" dirty="0" smtClean="0"/>
              <a:t>Player 1 to obtain an education if and only if he or she is low-skilled</a:t>
            </a:r>
          </a:p>
        </p:txBody>
      </p:sp>
    </p:spTree>
    <p:extLst>
      <p:ext uri="{BB962C8B-B14F-4D97-AF65-F5344CB8AC3E}">
        <p14:creationId xmlns:p14="http://schemas.microsoft.com/office/powerpoint/2010/main" val="2009580781"/>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p:cNvSpPr>
            <a:spLocks noGrp="1"/>
          </p:cNvSpPr>
          <p:nvPr>
            <p:ph type="title"/>
          </p:nvPr>
        </p:nvSpPr>
        <p:spPr bwMode="auto">
          <a:xfrm>
            <a:off x="1764344" y="0"/>
            <a:ext cx="7379656" cy="1066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8.8	 Pooling Equilibria in the Job-Market 	</a:t>
            </a:r>
            <a:r>
              <a:rPr lang="en-US" altLang="en-US" dirty="0" smtClean="0">
                <a:solidFill>
                  <a:srgbClr val="002D56"/>
                </a:solidFill>
              </a:rPr>
              <a:t>Signaling Game</a:t>
            </a:r>
          </a:p>
        </p:txBody>
      </p:sp>
      <p:sp>
        <p:nvSpPr>
          <p:cNvPr id="99333"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ED13D3EF-5D73-4D85-93EE-61119CB0CDF0}" type="slidenum">
              <a:rPr lang="en-US" smtClean="0"/>
              <a:pPr>
                <a:defRPr/>
              </a:pPr>
              <a:t>86</a:t>
            </a:fld>
            <a:endParaRPr lang="en-US" dirty="0"/>
          </a:p>
        </p:txBody>
      </p:sp>
      <p:sp>
        <p:nvSpPr>
          <p:cNvPr id="99331" name="Content Placeholder 2"/>
          <p:cNvSpPr>
            <a:spLocks noGrp="1"/>
          </p:cNvSpPr>
          <p:nvPr>
            <p:ph type="body" sz="quarter" idx="12"/>
          </p:nvPr>
        </p:nvSpPr>
        <p:spPr>
          <a:xfrm>
            <a:off x="381000" y="1066800"/>
            <a:ext cx="8382000" cy="5334000"/>
          </a:xfrm>
          <a:prstGeom prst="rect">
            <a:avLst/>
          </a:prstGeom>
        </p:spPr>
        <p:txBody>
          <a:bodyPr/>
          <a:lstStyle/>
          <a:p>
            <a:r>
              <a:rPr lang="en-US" altLang="en-US" dirty="0" smtClean="0"/>
              <a:t>To be a pooling equilibrium</a:t>
            </a:r>
          </a:p>
          <a:p>
            <a:pPr lvl="1"/>
            <a:r>
              <a:rPr lang="en-US" altLang="en-US" dirty="0" smtClean="0"/>
              <a:t>In which both types of player 1 choose E</a:t>
            </a:r>
          </a:p>
          <a:p>
            <a:pPr lvl="1"/>
            <a:r>
              <a:rPr lang="en-US" altLang="en-US" dirty="0" smtClean="0"/>
              <a:t>We need </a:t>
            </a:r>
            <a:r>
              <a:rPr lang="en-US" altLang="en-US" dirty="0" err="1" smtClean="0"/>
              <a:t>Pr</a:t>
            </a:r>
            <a:r>
              <a:rPr lang="en-US" altLang="en-US" dirty="0" smtClean="0"/>
              <a:t>(H|NE) ≤ w/</a:t>
            </a:r>
            <a:r>
              <a:rPr lang="el-GR" altLang="en-US" dirty="0" smtClean="0"/>
              <a:t>π</a:t>
            </a:r>
            <a:r>
              <a:rPr lang="en-US" altLang="en-US" dirty="0" smtClean="0"/>
              <a:t> ≤ </a:t>
            </a:r>
            <a:r>
              <a:rPr lang="en-US" altLang="en-US" dirty="0" err="1" smtClean="0"/>
              <a:t>Pr</a:t>
            </a:r>
            <a:r>
              <a:rPr lang="en-US" altLang="en-US" dirty="0" smtClean="0"/>
              <a:t>(H)</a:t>
            </a:r>
          </a:p>
          <a:p>
            <a:pPr lvl="1"/>
            <a:r>
              <a:rPr lang="en-US" altLang="en-US" dirty="0" err="1" smtClean="0"/>
              <a:t>Pr</a:t>
            </a:r>
            <a:r>
              <a:rPr lang="en-US" altLang="en-US" dirty="0" smtClean="0"/>
              <a:t>(H) must be sufficiently high</a:t>
            </a:r>
          </a:p>
          <a:p>
            <a:pPr lvl="1"/>
            <a:r>
              <a:rPr lang="en-US" altLang="en-US" dirty="0" err="1" smtClean="0"/>
              <a:t>Pr</a:t>
            </a:r>
            <a:r>
              <a:rPr lang="en-US" altLang="en-US" dirty="0" smtClean="0"/>
              <a:t>(H|NE) must be sufficiently low</a:t>
            </a:r>
          </a:p>
          <a:p>
            <a:pPr lvl="1"/>
            <a:r>
              <a:rPr lang="en-US" altLang="en-US" dirty="0" smtClean="0"/>
              <a:t>Type L pools with type H to prevent player 2 from learning anything about the worker’s skill from the education signal</a:t>
            </a:r>
          </a:p>
        </p:txBody>
      </p:sp>
    </p:spTree>
    <p:extLst>
      <p:ext uri="{BB962C8B-B14F-4D97-AF65-F5344CB8AC3E}">
        <p14:creationId xmlns:p14="http://schemas.microsoft.com/office/powerpoint/2010/main" val="4113562475"/>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itle 1"/>
          <p:cNvSpPr>
            <a:spLocks noGrp="1"/>
          </p:cNvSpPr>
          <p:nvPr>
            <p:ph type="title"/>
          </p:nvPr>
        </p:nvSpPr>
        <p:spPr bwMode="auto">
          <a:xfrm>
            <a:off x="1764344" y="0"/>
            <a:ext cx="7379656"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8.9 	Hybrid Equilibria in the Job-Market 	</a:t>
            </a:r>
            <a:r>
              <a:rPr lang="en-US" altLang="en-US" dirty="0" smtClean="0">
                <a:solidFill>
                  <a:srgbClr val="002D56"/>
                </a:solidFill>
              </a:rPr>
              <a:t>Signaling Game</a:t>
            </a:r>
          </a:p>
        </p:txBody>
      </p:sp>
      <p:sp>
        <p:nvSpPr>
          <p:cNvPr id="8198"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799BD7A2-4FA4-43DE-95FD-8023B4DDEE2B}" type="slidenum">
              <a:rPr lang="en-US" smtClean="0"/>
              <a:pPr>
                <a:defRPr/>
              </a:pPr>
              <a:t>87</a:t>
            </a:fld>
            <a:endParaRPr lang="en-US" dirty="0"/>
          </a:p>
        </p:txBody>
      </p:sp>
      <p:sp>
        <p:nvSpPr>
          <p:cNvPr id="8196" name="Content Placeholder 2"/>
          <p:cNvSpPr>
            <a:spLocks noGrp="1"/>
          </p:cNvSpPr>
          <p:nvPr>
            <p:ph type="body" sz="quarter" idx="12"/>
          </p:nvPr>
        </p:nvSpPr>
        <p:spPr>
          <a:xfrm>
            <a:off x="381000" y="914400"/>
            <a:ext cx="8382000" cy="5486400"/>
          </a:xfrm>
          <a:prstGeom prst="rect">
            <a:avLst/>
          </a:prstGeom>
        </p:spPr>
        <p:txBody>
          <a:bodyPr/>
          <a:lstStyle/>
          <a:p>
            <a:r>
              <a:rPr lang="en-US" altLang="en-US" dirty="0" smtClean="0"/>
              <a:t>Hybrid equilibrium</a:t>
            </a:r>
          </a:p>
          <a:p>
            <a:pPr lvl="1"/>
            <a:r>
              <a:rPr lang="en-US" altLang="en-US" dirty="0" smtClean="0"/>
              <a:t>Type H always to obtain an education </a:t>
            </a:r>
          </a:p>
          <a:p>
            <a:pPr lvl="1"/>
            <a:r>
              <a:rPr lang="en-US" altLang="en-US" dirty="0" smtClean="0"/>
              <a:t>Type L to randomize</a:t>
            </a:r>
          </a:p>
          <a:p>
            <a:pPr lvl="2"/>
            <a:r>
              <a:rPr lang="en-US" altLang="en-US" dirty="0" smtClean="0"/>
              <a:t>Between playing E and NE with probabilities e and 1 – e</a:t>
            </a:r>
          </a:p>
          <a:p>
            <a:pPr lvl="1"/>
            <a:r>
              <a:rPr lang="en-US" altLang="en-US" dirty="0" smtClean="0"/>
              <a:t>Player 2’s strategy</a:t>
            </a:r>
          </a:p>
          <a:p>
            <a:pPr lvl="2"/>
            <a:r>
              <a:rPr lang="en-US" altLang="en-US" dirty="0" smtClean="0"/>
              <a:t>Offer a job to an educated applicant with probability j </a:t>
            </a:r>
          </a:p>
          <a:p>
            <a:pPr lvl="2"/>
            <a:r>
              <a:rPr lang="en-US" altLang="en-US" dirty="0" smtClean="0"/>
              <a:t>Not to offer a job to an uneducated applicant</a:t>
            </a:r>
          </a:p>
        </p:txBody>
      </p:sp>
      <p:graphicFrame>
        <p:nvGraphicFramePr>
          <p:cNvPr id="6" name="Object 2"/>
          <p:cNvGraphicFramePr>
            <a:graphicFrameLocks noChangeAspect="1"/>
          </p:cNvGraphicFramePr>
          <p:nvPr/>
        </p:nvGraphicFramePr>
        <p:xfrm>
          <a:off x="2620963" y="5294313"/>
          <a:ext cx="2892425" cy="1133475"/>
        </p:xfrm>
        <a:graphic>
          <a:graphicData uri="http://schemas.openxmlformats.org/presentationml/2006/ole">
            <mc:AlternateContent xmlns:mc="http://schemas.openxmlformats.org/markup-compatibility/2006">
              <mc:Choice xmlns:v="urn:schemas-microsoft-com:vml" Requires="v">
                <p:oleObj spid="_x0000_s174092" name="Equation" r:id="rId3" imgW="1231560" imgH="482400" progId="Equation.DSMT4">
                  <p:embed/>
                </p:oleObj>
              </mc:Choice>
              <mc:Fallback>
                <p:oleObj name="Equation" r:id="rId3" imgW="1231560" imgH="4824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0963" y="5294313"/>
                        <a:ext cx="2892425" cy="1133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2645171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en-US" altLang="en-US" smtClean="0"/>
              <a:t>Experimental Games</a:t>
            </a:r>
          </a:p>
        </p:txBody>
      </p:sp>
      <p:sp>
        <p:nvSpPr>
          <p:cNvPr id="100355" name="Rectangle 3"/>
          <p:cNvSpPr>
            <a:spLocks noGrp="1" noChangeArrowheads="1"/>
          </p:cNvSpPr>
          <p:nvPr>
            <p:ph idx="1"/>
          </p:nvPr>
        </p:nvSpPr>
        <p:spPr/>
        <p:txBody>
          <a:bodyPr/>
          <a:lstStyle/>
          <a:p>
            <a:r>
              <a:rPr lang="en-US" altLang="en-US" smtClean="0"/>
              <a:t>Experimental economics </a:t>
            </a:r>
          </a:p>
          <a:p>
            <a:pPr lvl="1"/>
            <a:r>
              <a:rPr lang="en-US" altLang="en-US" smtClean="0"/>
              <a:t>Explores how well economic theory matches the behavior or experimental subjects in a laboratory setting</a:t>
            </a:r>
          </a:p>
          <a:p>
            <a:pPr lvl="1"/>
            <a:r>
              <a:rPr lang="en-US" altLang="en-US" smtClean="0"/>
              <a:t>Play in the Prisoners’ Dilemma converged to the Nash equilibrium as subjects gained experience</a:t>
            </a:r>
          </a:p>
          <a:p>
            <a:pPr lvl="1"/>
            <a:r>
              <a:rPr lang="en-US" altLang="en-US" smtClean="0"/>
              <a:t>Results from the Ultimatum game suggests that fairness matters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C6458B50-4A7D-4B8A-A70F-7DF4035134F0}" type="slidenum">
              <a:rPr lang="en-US" smtClean="0"/>
              <a:pPr>
                <a:defRPr/>
              </a:pPr>
              <a:t>88</a:t>
            </a:fld>
            <a:endParaRPr lang="en-US"/>
          </a:p>
        </p:txBody>
      </p:sp>
    </p:spTree>
    <p:extLst>
      <p:ext uri="{BB962C8B-B14F-4D97-AF65-F5344CB8AC3E}">
        <p14:creationId xmlns:p14="http://schemas.microsoft.com/office/powerpoint/2010/main" val="433045602"/>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tle 1"/>
          <p:cNvSpPr>
            <a:spLocks noGrp="1"/>
          </p:cNvSpPr>
          <p:nvPr>
            <p:ph type="title"/>
          </p:nvPr>
        </p:nvSpPr>
        <p:spPr/>
        <p:txBody>
          <a:bodyPr/>
          <a:lstStyle/>
          <a:p>
            <a:r>
              <a:rPr lang="en-US" altLang="en-US" smtClean="0"/>
              <a:t>Evolutionary Games And Learning</a:t>
            </a:r>
          </a:p>
        </p:txBody>
      </p:sp>
      <p:sp>
        <p:nvSpPr>
          <p:cNvPr id="101379" name="Content Placeholder 4"/>
          <p:cNvSpPr>
            <a:spLocks noGrp="1"/>
          </p:cNvSpPr>
          <p:nvPr>
            <p:ph idx="1"/>
          </p:nvPr>
        </p:nvSpPr>
        <p:spPr/>
        <p:txBody>
          <a:bodyPr/>
          <a:lstStyle/>
          <a:p>
            <a:r>
              <a:rPr lang="en-US" altLang="en-US" smtClean="0"/>
              <a:t>Evolutionary model</a:t>
            </a:r>
          </a:p>
          <a:p>
            <a:pPr lvl="1"/>
            <a:r>
              <a:rPr lang="en-US" altLang="en-US" smtClean="0"/>
              <a:t>Players do not make rational decisions</a:t>
            </a:r>
          </a:p>
          <a:p>
            <a:pPr lvl="2"/>
            <a:r>
              <a:rPr lang="en-US" altLang="en-US" smtClean="0"/>
              <a:t>They play the way they are genetically programmed</a:t>
            </a:r>
          </a:p>
          <a:p>
            <a:pPr lvl="1"/>
            <a:r>
              <a:rPr lang="en-US" altLang="en-US" smtClean="0"/>
              <a:t>The more successful a player’s strategy in the population</a:t>
            </a:r>
          </a:p>
          <a:p>
            <a:pPr lvl="2"/>
            <a:r>
              <a:rPr lang="en-US" altLang="en-US" smtClean="0"/>
              <a:t>The more fit is the player</a:t>
            </a:r>
          </a:p>
          <a:p>
            <a:pPr lvl="2"/>
            <a:r>
              <a:rPr lang="en-US" altLang="en-US" smtClean="0"/>
              <a:t>The more likely will the player survive to pass his or her genes on to future generations</a:t>
            </a:r>
          </a:p>
        </p:txBody>
      </p:sp>
      <p:sp>
        <p:nvSpPr>
          <p:cNvPr id="101381" name="Footer Placeholder 2"/>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p:txBody>
          <a:bodyPr/>
          <a:lstStyle/>
          <a:p>
            <a:pPr>
              <a:defRPr/>
            </a:pPr>
            <a:fld id="{A8AC5E8C-CA6A-48A0-B7CF-3F9925BA7BC0}" type="slidenum">
              <a:rPr lang="en-US" smtClean="0"/>
              <a:pPr>
                <a:defRPr/>
              </a:pPr>
              <a:t>89</a:t>
            </a:fld>
            <a:endParaRPr lang="en-US"/>
          </a:p>
        </p:txBody>
      </p:sp>
    </p:spTree>
    <p:extLst>
      <p:ext uri="{BB962C8B-B14F-4D97-AF65-F5344CB8AC3E}">
        <p14:creationId xmlns:p14="http://schemas.microsoft.com/office/powerpoint/2010/main" val="4176360609"/>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itle 1"/>
          <p:cNvSpPr>
            <a:spLocks noGrp="1"/>
          </p:cNvSpPr>
          <p:nvPr>
            <p:ph type="title"/>
          </p:nvPr>
        </p:nvSpPr>
        <p:spPr/>
        <p:txBody>
          <a:bodyPr/>
          <a:lstStyle/>
          <a:p>
            <a:r>
              <a:rPr lang="en-US" altLang="en-US" smtClean="0"/>
              <a:t>Evolutionary Games And Learning</a:t>
            </a:r>
          </a:p>
        </p:txBody>
      </p:sp>
      <p:sp>
        <p:nvSpPr>
          <p:cNvPr id="102403" name="Content Placeholder 4"/>
          <p:cNvSpPr>
            <a:spLocks noGrp="1"/>
          </p:cNvSpPr>
          <p:nvPr>
            <p:ph idx="1"/>
          </p:nvPr>
        </p:nvSpPr>
        <p:spPr/>
        <p:txBody>
          <a:bodyPr/>
          <a:lstStyle/>
          <a:p>
            <a:r>
              <a:rPr lang="en-US" altLang="en-US" smtClean="0"/>
              <a:t>Learning model, players</a:t>
            </a:r>
          </a:p>
          <a:p>
            <a:pPr lvl="1"/>
            <a:r>
              <a:rPr lang="en-US" altLang="en-US" smtClean="0"/>
              <a:t>Are matched at random with others from a large population</a:t>
            </a:r>
          </a:p>
          <a:p>
            <a:pPr lvl="1"/>
            <a:r>
              <a:rPr lang="en-US" altLang="en-US" smtClean="0"/>
              <a:t>Use their experiences of payoffs from past play </a:t>
            </a:r>
          </a:p>
          <a:p>
            <a:pPr lvl="1"/>
            <a:r>
              <a:rPr lang="en-US" altLang="en-US" smtClean="0"/>
              <a:t>Are assumed to have a degree of rationality </a:t>
            </a:r>
          </a:p>
          <a:p>
            <a:pPr lvl="1"/>
            <a:r>
              <a:rPr lang="en-US" altLang="en-US" smtClean="0"/>
              <a:t>Are not fully rational</a:t>
            </a:r>
          </a:p>
        </p:txBody>
      </p:sp>
      <p:sp>
        <p:nvSpPr>
          <p:cNvPr id="102405" name="Footer Placeholder 2"/>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p:txBody>
          <a:bodyPr/>
          <a:lstStyle/>
          <a:p>
            <a:pPr>
              <a:defRPr/>
            </a:pPr>
            <a:fld id="{2B88DBDE-55AB-4DDE-A192-129E7E92008B}" type="slidenum">
              <a:rPr lang="en-US" smtClean="0"/>
              <a:pPr>
                <a:defRPr/>
              </a:pPr>
              <a:t>90</a:t>
            </a:fld>
            <a:endParaRPr lang="en-US"/>
          </a:p>
        </p:txBody>
      </p:sp>
    </p:spTree>
    <p:extLst>
      <p:ext uri="{BB962C8B-B14F-4D97-AF65-F5344CB8AC3E}">
        <p14:creationId xmlns:p14="http://schemas.microsoft.com/office/powerpoint/2010/main" val="1375105643"/>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itle 1"/>
          <p:cNvSpPr>
            <a:spLocks noGrp="1"/>
          </p:cNvSpPr>
          <p:nvPr>
            <p:ph type="title"/>
          </p:nvPr>
        </p:nvSpPr>
        <p:spPr/>
        <p:txBody>
          <a:bodyPr/>
          <a:lstStyle/>
          <a:p>
            <a:r>
              <a:rPr lang="en-US" altLang="en-US" smtClean="0"/>
              <a:t>Existence of Nash equilibrium</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6BA593A7-8E67-4397-A3BE-E12F15068882}" type="slidenum">
              <a:rPr lang="en-US" smtClean="0"/>
              <a:pPr>
                <a:defRPr/>
              </a:pPr>
              <a:t>91</a:t>
            </a:fld>
            <a:endParaRPr lang="en-US"/>
          </a:p>
        </p:txBody>
      </p:sp>
      <p:sp>
        <p:nvSpPr>
          <p:cNvPr id="103427" name="Content Placeholder 2"/>
          <p:cNvSpPr>
            <a:spLocks noGrp="1"/>
          </p:cNvSpPr>
          <p:nvPr>
            <p:ph type="body" sz="quarter" idx="12"/>
          </p:nvPr>
        </p:nvSpPr>
        <p:spPr/>
        <p:txBody>
          <a:bodyPr/>
          <a:lstStyle/>
          <a:p>
            <a:r>
              <a:rPr lang="en-US" altLang="en-US" smtClean="0"/>
              <a:t>A function </a:t>
            </a:r>
          </a:p>
          <a:p>
            <a:pPr lvl="1"/>
            <a:r>
              <a:rPr lang="en-US" altLang="en-US" smtClean="0"/>
              <a:t>Maps each point in a first set to a single point in a second set</a:t>
            </a:r>
          </a:p>
          <a:p>
            <a:r>
              <a:rPr lang="en-US" altLang="en-US" smtClean="0"/>
              <a:t>A correspondence</a:t>
            </a:r>
          </a:p>
          <a:p>
            <a:pPr lvl="1"/>
            <a:r>
              <a:rPr lang="en-US" altLang="en-US" smtClean="0"/>
              <a:t>Maps a single point in the first set to possibly many points in the second set</a:t>
            </a:r>
          </a:p>
          <a:p>
            <a:pPr lvl="1"/>
            <a:r>
              <a:rPr lang="en-US" altLang="en-US" smtClean="0"/>
              <a:t>E.g.: the best response </a:t>
            </a:r>
          </a:p>
          <a:p>
            <a:endParaRPr lang="en-US" altLang="en-US" smtClean="0"/>
          </a:p>
        </p:txBody>
      </p:sp>
    </p:spTree>
    <p:extLst>
      <p:ext uri="{BB962C8B-B14F-4D97-AF65-F5344CB8AC3E}">
        <p14:creationId xmlns:p14="http://schemas.microsoft.com/office/powerpoint/2010/main" val="35255283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438" y="1016000"/>
            <a:ext cx="7985125" cy="424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E </a:t>
            </a:r>
            <a:r>
              <a:rPr lang="en-US" altLang="en-US" dirty="0"/>
              <a:t>8.1	Comparison of Functions </a:t>
            </a:r>
            <a:r>
              <a:rPr lang="en-US" altLang="en-US" dirty="0" smtClean="0"/>
              <a:t>and</a:t>
            </a:r>
            <a:br>
              <a:rPr lang="en-US" altLang="en-US" dirty="0" smtClean="0"/>
            </a:br>
            <a:r>
              <a:rPr lang="en-US" altLang="en-US" dirty="0" smtClean="0"/>
              <a:t>	</a:t>
            </a:r>
            <a:r>
              <a:rPr lang="en-US" altLang="en-US" dirty="0" smtClean="0">
                <a:solidFill>
                  <a:srgbClr val="002D56"/>
                </a:solidFill>
              </a:rPr>
              <a:t>Correspondences</a:t>
            </a:r>
          </a:p>
        </p:txBody>
      </p:sp>
      <p:sp>
        <p:nvSpPr>
          <p:cNvPr id="104451" name="Text Placeholder 2"/>
          <p:cNvSpPr>
            <a:spLocks noGrp="1"/>
          </p:cNvSpPr>
          <p:nvPr>
            <p:ph sz="half" idx="1"/>
          </p:nvPr>
        </p:nvSpPr>
        <p:spPr>
          <a:xfrm>
            <a:off x="17584" y="5334000"/>
            <a:ext cx="8974015" cy="1020763"/>
          </a:xfrm>
        </p:spPr>
        <p:txBody>
          <a:bodyPr>
            <a:normAutofit/>
          </a:bodyPr>
          <a:lstStyle/>
          <a:p>
            <a:pPr>
              <a:spcBef>
                <a:spcPct val="0"/>
              </a:spcBef>
            </a:pPr>
            <a:r>
              <a:rPr lang="en-US" altLang="en-US" dirty="0"/>
              <a:t>The function graphed in (a) looks like a familiar curve. Each value of x is mapped into a single value of y. With the correspondence graphed in (b), each value of x may be mapped into many values of y. Thus, correspondences can have bulges as shown by the shaded regions in (b).</a:t>
            </a:r>
          </a:p>
        </p:txBody>
      </p:sp>
      <p:sp>
        <p:nvSpPr>
          <p:cNvPr id="104454"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65747784-BF0D-4E5F-B6B8-C365F034D119}" type="slidenum">
              <a:rPr lang="en-US" smtClean="0"/>
              <a:pPr>
                <a:defRPr/>
              </a:pPr>
              <a:t>92</a:t>
            </a:fld>
            <a:endParaRPr lang="en-US" dirty="0"/>
          </a:p>
        </p:txBody>
      </p:sp>
    </p:spTree>
    <p:extLst>
      <p:ext uri="{BB962C8B-B14F-4D97-AF65-F5344CB8AC3E}">
        <p14:creationId xmlns:p14="http://schemas.microsoft.com/office/powerpoint/2010/main" val="27383469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5538"/>
                                        </p:tgtEl>
                                        <p:attrNameLst>
                                          <p:attrName>style.visibility</p:attrName>
                                        </p:attrNameLst>
                                      </p:cBhvr>
                                      <p:to>
                                        <p:strVal val="visible"/>
                                      </p:to>
                                    </p:set>
                                    <p:animEffect transition="in" filter="wipe(left)">
                                      <p:cBhvr>
                                        <p:cTn id="7" dur="500"/>
                                        <p:tgtEl>
                                          <p:spTgt spid="6553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4451">
                                            <p:txEl>
                                              <p:pRg st="0" end="0"/>
                                            </p:txEl>
                                          </p:spTgt>
                                        </p:tgtEl>
                                        <p:attrNameLst>
                                          <p:attrName>style.visibility</p:attrName>
                                        </p:attrNameLst>
                                      </p:cBhvr>
                                      <p:to>
                                        <p:strVal val="visible"/>
                                      </p:to>
                                    </p:set>
                                    <p:animEffect transition="in" filter="wipe(left)">
                                      <p:cBhvr>
                                        <p:cTn id="11" dur="500"/>
                                        <p:tgtEl>
                                          <p:spTgt spid="10445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1"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itle 1"/>
          <p:cNvSpPr>
            <a:spLocks noGrp="1"/>
          </p:cNvSpPr>
          <p:nvPr>
            <p:ph type="title"/>
          </p:nvPr>
        </p:nvSpPr>
        <p:spPr/>
        <p:txBody>
          <a:bodyPr/>
          <a:lstStyle/>
          <a:p>
            <a:r>
              <a:rPr lang="en-US" altLang="en-US" smtClean="0"/>
              <a:t>Existence of Nash equilibrium</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CF9339AB-9FD8-40A5-9633-0A2C80F8E5B2}" type="slidenum">
              <a:rPr lang="en-US" smtClean="0"/>
              <a:pPr>
                <a:defRPr/>
              </a:pPr>
              <a:t>93</a:t>
            </a:fld>
            <a:endParaRPr lang="en-US"/>
          </a:p>
        </p:txBody>
      </p:sp>
      <p:sp>
        <p:nvSpPr>
          <p:cNvPr id="105475" name="Content Placeholder 2"/>
          <p:cNvSpPr>
            <a:spLocks noGrp="1"/>
          </p:cNvSpPr>
          <p:nvPr>
            <p:ph type="body" sz="quarter" idx="12"/>
          </p:nvPr>
        </p:nvSpPr>
        <p:spPr/>
        <p:txBody>
          <a:bodyPr/>
          <a:lstStyle/>
          <a:p>
            <a:r>
              <a:rPr lang="en-US" altLang="en-US" smtClean="0"/>
              <a:t>Kakutani’s fixed point theorem</a:t>
            </a:r>
          </a:p>
          <a:p>
            <a:pPr lvl="1"/>
            <a:r>
              <a:rPr lang="en-US" altLang="en-US" smtClean="0"/>
              <a:t>Any convex, upper-semicontinuous correspondence [ f(x)] </a:t>
            </a:r>
          </a:p>
          <a:p>
            <a:pPr lvl="1"/>
            <a:r>
              <a:rPr lang="en-US" altLang="en-US" smtClean="0"/>
              <a:t>From a closed, bounded, convex set into itself </a:t>
            </a:r>
          </a:p>
          <a:p>
            <a:pPr lvl="1"/>
            <a:r>
              <a:rPr lang="en-US" altLang="en-US" smtClean="0"/>
              <a:t>Has at least one fixed point (x*) such that x*</a:t>
            </a:r>
            <a:r>
              <a:rPr lang="az-Cyrl-AZ" altLang="en-US" smtClean="0">
                <a:cs typeface="Arial" charset="0"/>
              </a:rPr>
              <a:t>Є</a:t>
            </a:r>
            <a:r>
              <a:rPr lang="en-US" altLang="en-US" smtClean="0"/>
              <a:t> f (x)</a:t>
            </a:r>
          </a:p>
        </p:txBody>
      </p:sp>
    </p:spTree>
    <p:extLst>
      <p:ext uri="{BB962C8B-B14F-4D97-AF65-F5344CB8AC3E}">
        <p14:creationId xmlns:p14="http://schemas.microsoft.com/office/powerpoint/2010/main" val="8115060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E </a:t>
            </a:r>
            <a:r>
              <a:rPr lang="en-US" altLang="en-US" dirty="0"/>
              <a:t>8.2	</a:t>
            </a:r>
            <a:r>
              <a:rPr lang="en-US" altLang="en-US" dirty="0" err="1"/>
              <a:t>Kakutani’s</a:t>
            </a:r>
            <a:r>
              <a:rPr lang="en-US" altLang="en-US" dirty="0"/>
              <a:t> Conditions on </a:t>
            </a:r>
            <a:r>
              <a:rPr lang="en-US" altLang="en-US" dirty="0" smtClean="0"/>
              <a:t>Correspondences</a:t>
            </a:r>
          </a:p>
        </p:txBody>
      </p:sp>
      <p:sp>
        <p:nvSpPr>
          <p:cNvPr id="106499" name="Text Placeholder 2"/>
          <p:cNvSpPr>
            <a:spLocks noGrp="1"/>
          </p:cNvSpPr>
          <p:nvPr>
            <p:ph sz="half" idx="1"/>
          </p:nvPr>
        </p:nvSpPr>
        <p:spPr>
          <a:xfrm>
            <a:off x="76200" y="5127625"/>
            <a:ext cx="9067800" cy="1196975"/>
          </a:xfrm>
        </p:spPr>
        <p:txBody>
          <a:bodyPr>
            <a:normAutofit/>
          </a:bodyPr>
          <a:lstStyle/>
          <a:p>
            <a:pPr>
              <a:spcBef>
                <a:spcPct val="0"/>
              </a:spcBef>
            </a:pPr>
            <a:r>
              <a:rPr lang="en-US" altLang="en-US" dirty="0"/>
              <a:t>The correspondence in (a) is not convex because the dashed vertical segment between A and B is not inside the correspondence. The correspondence in (b) is not upper semi-continuous because there is a path (C) inside the correspondence leading to a point (D) that, as indicated by the open circle, is not inside the correspondence. Both (a) and (b) fail to have fixed points.</a:t>
            </a:r>
          </a:p>
          <a:p>
            <a:pPr>
              <a:spcBef>
                <a:spcPct val="0"/>
              </a:spcBef>
            </a:pPr>
            <a:endParaRPr lang="en-US" altLang="en-US" dirty="0" smtClean="0"/>
          </a:p>
        </p:txBody>
      </p:sp>
      <p:sp>
        <p:nvSpPr>
          <p:cNvPr id="106502"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17744AD4-2A75-4DB8-A11C-6DD690A3B5FF}" type="slidenum">
              <a:rPr lang="en-US" smtClean="0"/>
              <a:pPr>
                <a:defRPr/>
              </a:pPr>
              <a:t>94</a:t>
            </a:fld>
            <a:endParaRPr lang="en-US" dirty="0"/>
          </a:p>
        </p:txBody>
      </p:sp>
      <p:pic>
        <p:nvPicPr>
          <p:cNvPr id="665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262" y="774700"/>
            <a:ext cx="7737475" cy="435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650039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6562"/>
                                        </p:tgtEl>
                                        <p:attrNameLst>
                                          <p:attrName>style.visibility</p:attrName>
                                        </p:attrNameLst>
                                      </p:cBhvr>
                                      <p:to>
                                        <p:strVal val="visible"/>
                                      </p:to>
                                    </p:set>
                                    <p:animEffect transition="in" filter="wipe(left)">
                                      <p:cBhvr>
                                        <p:cTn id="7" dur="500"/>
                                        <p:tgtEl>
                                          <p:spTgt spid="6656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6499">
                                            <p:txEl>
                                              <p:pRg st="0" end="0"/>
                                            </p:txEl>
                                          </p:spTgt>
                                        </p:tgtEl>
                                        <p:attrNameLst>
                                          <p:attrName>style.visibility</p:attrName>
                                        </p:attrNameLst>
                                      </p:cBhvr>
                                      <p:to>
                                        <p:strVal val="visible"/>
                                      </p:to>
                                    </p:set>
                                    <p:animEffect transition="in" filter="wipe(left)">
                                      <p:cBhvr>
                                        <p:cTn id="11" dur="500"/>
                                        <p:tgtEl>
                                          <p:spTgt spid="10649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9" grpId="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1"/>
          <p:cNvSpPr>
            <a:spLocks noGrp="1"/>
          </p:cNvSpPr>
          <p:nvPr>
            <p:ph type="title"/>
          </p:nvPr>
        </p:nvSpPr>
        <p:spPr/>
        <p:txBody>
          <a:bodyPr/>
          <a:lstStyle/>
          <a:p>
            <a:r>
              <a:rPr lang="en-US" altLang="en-US" smtClean="0"/>
              <a:t>Existence of Nash equilibrium</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2889C205-AF7A-44D7-ADE8-4C1162BE8FAF}" type="slidenum">
              <a:rPr lang="en-US" smtClean="0"/>
              <a:pPr>
                <a:defRPr/>
              </a:pPr>
              <a:t>95</a:t>
            </a:fld>
            <a:endParaRPr lang="en-US"/>
          </a:p>
        </p:txBody>
      </p:sp>
      <p:sp>
        <p:nvSpPr>
          <p:cNvPr id="107523" name="Content Placeholder 2"/>
          <p:cNvSpPr>
            <a:spLocks noGrp="1"/>
          </p:cNvSpPr>
          <p:nvPr>
            <p:ph type="body" sz="quarter" idx="12"/>
          </p:nvPr>
        </p:nvSpPr>
        <p:spPr/>
        <p:txBody>
          <a:bodyPr/>
          <a:lstStyle/>
          <a:p>
            <a:r>
              <a:rPr lang="en-US" altLang="en-US" smtClean="0"/>
              <a:t>R(s)- the correspondence that underlies Nash’s existence proof</a:t>
            </a:r>
          </a:p>
          <a:p>
            <a:pPr lvl="1"/>
            <a:r>
              <a:rPr lang="en-US" altLang="en-US" smtClean="0"/>
              <a:t>Takes any profile of players’ strategies s = (s</a:t>
            </a:r>
            <a:r>
              <a:rPr lang="en-US" altLang="en-US" baseline="-25000" smtClean="0"/>
              <a:t>1</a:t>
            </a:r>
            <a:r>
              <a:rPr lang="en-US" altLang="en-US" smtClean="0"/>
              <a:t>, s</a:t>
            </a:r>
            <a:r>
              <a:rPr lang="en-US" altLang="en-US" baseline="-25000" smtClean="0"/>
              <a:t>2</a:t>
            </a:r>
            <a:r>
              <a:rPr lang="en-US" altLang="en-US" smtClean="0"/>
              <a:t>,…, s</a:t>
            </a:r>
            <a:r>
              <a:rPr lang="en-US" altLang="en-US" baseline="-25000" smtClean="0"/>
              <a:t>n</a:t>
            </a:r>
            <a:r>
              <a:rPr lang="en-US" altLang="en-US" smtClean="0"/>
              <a:t>)</a:t>
            </a:r>
          </a:p>
          <a:p>
            <a:pPr lvl="1"/>
            <a:r>
              <a:rPr lang="en-US" altLang="en-US" smtClean="0"/>
              <a:t>And maps it into another mixed strategy profile - the profile of best responses:</a:t>
            </a:r>
          </a:p>
          <a:p>
            <a:r>
              <a:rPr lang="en-US" altLang="en-US" smtClean="0"/>
              <a:t>R(s) = (BR</a:t>
            </a:r>
            <a:r>
              <a:rPr lang="en-US" altLang="en-US" baseline="-25000" smtClean="0"/>
              <a:t>1</a:t>
            </a:r>
            <a:r>
              <a:rPr lang="en-US" altLang="en-US" smtClean="0"/>
              <a:t>(s</a:t>
            </a:r>
            <a:r>
              <a:rPr lang="en-US" altLang="en-US" baseline="-25000" smtClean="0"/>
              <a:t>-1</a:t>
            </a:r>
            <a:r>
              <a:rPr lang="en-US" altLang="en-US" smtClean="0"/>
              <a:t>); BR</a:t>
            </a:r>
            <a:r>
              <a:rPr lang="en-US" altLang="en-US" baseline="-25000" smtClean="0"/>
              <a:t>2</a:t>
            </a:r>
            <a:r>
              <a:rPr lang="en-US" altLang="en-US" smtClean="0"/>
              <a:t>(s</a:t>
            </a:r>
            <a:r>
              <a:rPr lang="en-US" altLang="en-US" baseline="-25000" smtClean="0"/>
              <a:t>-2</a:t>
            </a:r>
            <a:r>
              <a:rPr lang="en-US" altLang="en-US" smtClean="0"/>
              <a:t>), . . . , BR</a:t>
            </a:r>
            <a:r>
              <a:rPr lang="en-US" altLang="en-US" baseline="-25000" smtClean="0"/>
              <a:t>n</a:t>
            </a:r>
            <a:r>
              <a:rPr lang="en-US" altLang="en-US" smtClean="0"/>
              <a:t>(s</a:t>
            </a:r>
            <a:r>
              <a:rPr lang="en-US" altLang="en-US" baseline="-25000" smtClean="0"/>
              <a:t>-n</a:t>
            </a:r>
            <a:r>
              <a:rPr lang="en-US" altLang="en-US" smtClean="0"/>
              <a:t>))</a:t>
            </a:r>
          </a:p>
        </p:txBody>
      </p:sp>
    </p:spTree>
    <p:extLst>
      <p:ext uri="{BB962C8B-B14F-4D97-AF65-F5344CB8AC3E}">
        <p14:creationId xmlns:p14="http://schemas.microsoft.com/office/powerpoint/2010/main" val="29546765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itle 1"/>
          <p:cNvSpPr>
            <a:spLocks noGrp="1"/>
          </p:cNvSpPr>
          <p:nvPr>
            <p:ph type="title"/>
          </p:nvPr>
        </p:nvSpPr>
        <p:spPr/>
        <p:txBody>
          <a:bodyPr/>
          <a:lstStyle/>
          <a:p>
            <a:r>
              <a:rPr lang="en-US" altLang="en-US" smtClean="0"/>
              <a:t>Existence of Nash equilibrium</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3E28094E-417A-40C4-A372-810730B84556}" type="slidenum">
              <a:rPr lang="en-US" smtClean="0"/>
              <a:pPr>
                <a:defRPr/>
              </a:pPr>
              <a:t>96</a:t>
            </a:fld>
            <a:endParaRPr lang="en-US"/>
          </a:p>
        </p:txBody>
      </p:sp>
      <p:sp>
        <p:nvSpPr>
          <p:cNvPr id="108547" name="Content Placeholder 2"/>
          <p:cNvSpPr>
            <a:spLocks noGrp="1"/>
          </p:cNvSpPr>
          <p:nvPr>
            <p:ph type="body" sz="quarter" idx="12"/>
          </p:nvPr>
        </p:nvSpPr>
        <p:spPr/>
        <p:txBody>
          <a:bodyPr/>
          <a:lstStyle/>
          <a:p>
            <a:r>
              <a:rPr lang="en-US" altLang="en-US" smtClean="0"/>
              <a:t>Nash equilibrium</a:t>
            </a:r>
          </a:p>
          <a:p>
            <a:pPr lvl="1"/>
            <a:r>
              <a:rPr lang="en-US" altLang="en-US" smtClean="0"/>
              <a:t>A fixed point of the correspondence is a strategy for which s* </a:t>
            </a:r>
            <a:r>
              <a:rPr lang="az-Cyrl-AZ" altLang="en-US" smtClean="0">
                <a:cs typeface="Arial" charset="0"/>
              </a:rPr>
              <a:t>Є</a:t>
            </a:r>
            <a:r>
              <a:rPr lang="en-US" altLang="en-US" smtClean="0"/>
              <a:t> R(s*)</a:t>
            </a:r>
          </a:p>
          <a:p>
            <a:pPr lvl="2"/>
            <a:r>
              <a:rPr lang="en-US" altLang="en-US" smtClean="0"/>
              <a:t>Each player’s strategy is a best response to others’ strategies</a:t>
            </a:r>
          </a:p>
          <a:p>
            <a:r>
              <a:rPr lang="en-US" altLang="en-US" smtClean="0"/>
              <a:t>The proof </a:t>
            </a:r>
          </a:p>
          <a:p>
            <a:pPr lvl="1"/>
            <a:r>
              <a:rPr lang="en-US" altLang="en-US" smtClean="0"/>
              <a:t>Checks that all the conditions involved in Kakutani’s fixed point theorem are satisfied by the best-response correspondence R(s)</a:t>
            </a:r>
          </a:p>
        </p:txBody>
      </p:sp>
    </p:spTree>
    <p:extLst>
      <p:ext uri="{BB962C8B-B14F-4D97-AF65-F5344CB8AC3E}">
        <p14:creationId xmlns:p14="http://schemas.microsoft.com/office/powerpoint/2010/main" val="9200891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itle 1"/>
          <p:cNvSpPr>
            <a:spLocks noGrp="1"/>
          </p:cNvSpPr>
          <p:nvPr>
            <p:ph type="title"/>
          </p:nvPr>
        </p:nvSpPr>
        <p:spPr/>
        <p:txBody>
          <a:bodyPr/>
          <a:lstStyle/>
          <a:p>
            <a:r>
              <a:rPr lang="en-US" altLang="en-US" smtClean="0"/>
              <a:t>Existence of Nash equilibrium</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4CCA2109-5E06-4EA6-8DB7-B5E898706BA5}" type="slidenum">
              <a:rPr lang="en-US" smtClean="0"/>
              <a:pPr>
                <a:defRPr/>
              </a:pPr>
              <a:t>97</a:t>
            </a:fld>
            <a:endParaRPr lang="en-US"/>
          </a:p>
        </p:txBody>
      </p:sp>
      <p:sp>
        <p:nvSpPr>
          <p:cNvPr id="109571" name="Content Placeholder 2"/>
          <p:cNvSpPr>
            <a:spLocks noGrp="1"/>
          </p:cNvSpPr>
          <p:nvPr>
            <p:ph type="body" sz="quarter" idx="12"/>
          </p:nvPr>
        </p:nvSpPr>
        <p:spPr/>
        <p:txBody>
          <a:bodyPr/>
          <a:lstStyle/>
          <a:p>
            <a:r>
              <a:rPr lang="en-US" altLang="en-US" smtClean="0"/>
              <a:t>The proof </a:t>
            </a:r>
          </a:p>
          <a:p>
            <a:pPr lvl="1"/>
            <a:r>
              <a:rPr lang="en-US" altLang="en-US" smtClean="0"/>
              <a:t>Show that the set of mixed-strategy profiles is closed, bounded, and convex</a:t>
            </a:r>
          </a:p>
          <a:p>
            <a:pPr lvl="1"/>
            <a:r>
              <a:rPr lang="en-US" altLang="en-US" smtClean="0"/>
              <a:t>Check that the best-response correspondence R(s) is convex</a:t>
            </a:r>
          </a:p>
          <a:p>
            <a:pPr lvl="1"/>
            <a:r>
              <a:rPr lang="en-US" altLang="en-US" smtClean="0"/>
              <a:t>Check that R(s) is upper semicontinuous</a:t>
            </a:r>
          </a:p>
        </p:txBody>
      </p:sp>
    </p:spTree>
    <p:extLst>
      <p:ext uri="{BB962C8B-B14F-4D97-AF65-F5344CB8AC3E}">
        <p14:creationId xmlns:p14="http://schemas.microsoft.com/office/powerpoint/2010/main" val="5393527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E </a:t>
            </a:r>
            <a:r>
              <a:rPr lang="en-US" altLang="en-US" dirty="0"/>
              <a:t>8.3	Set of Mixed Strategies for an </a:t>
            </a:r>
            <a:r>
              <a:rPr lang="en-US" altLang="en-US" dirty="0" smtClean="0"/>
              <a:t>Individual</a:t>
            </a:r>
          </a:p>
        </p:txBody>
      </p:sp>
      <p:sp>
        <p:nvSpPr>
          <p:cNvPr id="110595" name="Text Placeholder 2"/>
          <p:cNvSpPr>
            <a:spLocks noGrp="1"/>
          </p:cNvSpPr>
          <p:nvPr>
            <p:ph sz="half" idx="1"/>
          </p:nvPr>
        </p:nvSpPr>
        <p:spPr>
          <a:xfrm>
            <a:off x="152400" y="5257800"/>
            <a:ext cx="8839200" cy="1066800"/>
          </a:xfrm>
        </p:spPr>
        <p:txBody>
          <a:bodyPr>
            <a:normAutofit/>
          </a:bodyPr>
          <a:lstStyle/>
          <a:p>
            <a:pPr>
              <a:spcBef>
                <a:spcPct val="0"/>
              </a:spcBef>
            </a:pPr>
            <a:r>
              <a:rPr lang="en-US" altLang="en-US" dirty="0"/>
              <a:t>Player 1’s set of possible mixed strategies over two actions is given by the diagonal line segment in (a). The set for three actions is given by the shaded triangle on the three-dimensional graph in (b).</a:t>
            </a:r>
          </a:p>
          <a:p>
            <a:pPr>
              <a:spcBef>
                <a:spcPct val="0"/>
              </a:spcBef>
            </a:pPr>
            <a:endParaRPr lang="en-US" altLang="en-US" dirty="0" smtClean="0"/>
          </a:p>
        </p:txBody>
      </p:sp>
      <p:sp>
        <p:nvSpPr>
          <p:cNvPr id="110598"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E21D0FCD-67F4-4653-94AE-D0824B3D1CE6}" type="slidenum">
              <a:rPr lang="en-US" smtClean="0"/>
              <a:pPr>
                <a:defRPr/>
              </a:pPr>
              <a:t>98</a:t>
            </a:fld>
            <a:endParaRPr lang="en-US" dirty="0"/>
          </a:p>
        </p:txBody>
      </p:sp>
      <p:pic>
        <p:nvPicPr>
          <p:cNvPr id="675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325" y="833438"/>
            <a:ext cx="7753350" cy="433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243365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7586"/>
                                        </p:tgtEl>
                                        <p:attrNameLst>
                                          <p:attrName>style.visibility</p:attrName>
                                        </p:attrNameLst>
                                      </p:cBhvr>
                                      <p:to>
                                        <p:strVal val="visible"/>
                                      </p:to>
                                    </p:set>
                                    <p:animEffect transition="in" filter="wipe(left)">
                                      <p:cBhvr>
                                        <p:cTn id="7" dur="500"/>
                                        <p:tgtEl>
                                          <p:spTgt spid="6758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10595">
                                            <p:txEl>
                                              <p:pRg st="0" end="0"/>
                                            </p:txEl>
                                          </p:spTgt>
                                        </p:tgtEl>
                                        <p:attrNameLst>
                                          <p:attrName>style.visibility</p:attrName>
                                        </p:attrNameLst>
                                      </p:cBhvr>
                                      <p:to>
                                        <p:strVal val="visible"/>
                                      </p:to>
                                    </p:set>
                                    <p:animEffect transition="in" filter="wipe(left)">
                                      <p:cBhvr>
                                        <p:cTn id="11" dur="500"/>
                                        <p:tgtEl>
                                          <p:spTgt spid="11059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5" grpId="0" build="p"/>
    </p:bldLst>
  </p:timing>
</p:sld>
</file>

<file path=ppt/theme/theme1.xml><?xml version="1.0" encoding="utf-8"?>
<a:theme xmlns:a="http://schemas.openxmlformats.org/drawingml/2006/main" name="chap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a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figur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ab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examp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extension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5211</TotalTime>
  <Words>10573</Words>
  <Application>Microsoft Office PowerPoint</Application>
  <PresentationFormat>On-screen Show (4:3)</PresentationFormat>
  <Paragraphs>726</Paragraphs>
  <Slides>98</Slides>
  <Notes>1</Notes>
  <HiddenSlides>0</HiddenSlides>
  <MMClips>0</MMClips>
  <ScaleCrop>false</ScaleCrop>
  <HeadingPairs>
    <vt:vector size="6" baseType="variant">
      <vt:variant>
        <vt:lpstr>Theme</vt:lpstr>
      </vt:variant>
      <vt:variant>
        <vt:i4>6</vt:i4>
      </vt:variant>
      <vt:variant>
        <vt:lpstr>Embedded OLE Servers</vt:lpstr>
      </vt:variant>
      <vt:variant>
        <vt:i4>1</vt:i4>
      </vt:variant>
      <vt:variant>
        <vt:lpstr>Slide Titles</vt:lpstr>
      </vt:variant>
      <vt:variant>
        <vt:i4>98</vt:i4>
      </vt:variant>
    </vt:vector>
  </HeadingPairs>
  <TitlesOfParts>
    <vt:vector size="105" baseType="lpstr">
      <vt:lpstr>chapter</vt:lpstr>
      <vt:lpstr>main</vt:lpstr>
      <vt:lpstr>figure</vt:lpstr>
      <vt:lpstr>table</vt:lpstr>
      <vt:lpstr>example</vt:lpstr>
      <vt:lpstr>extensions</vt:lpstr>
      <vt:lpstr>Equation</vt:lpstr>
      <vt:lpstr>CHAPTER     8      Game Theory</vt:lpstr>
      <vt:lpstr>Basic Concepts</vt:lpstr>
      <vt:lpstr>Basic Concepts</vt:lpstr>
      <vt:lpstr>Basic Concepts</vt:lpstr>
      <vt:lpstr>Basic Concepts</vt:lpstr>
      <vt:lpstr>Prisoners’ Dilemma</vt:lpstr>
      <vt:lpstr>Prisoners’ Dilemma</vt:lpstr>
      <vt:lpstr>Prisoners’ Dilemma</vt:lpstr>
      <vt:lpstr>8.1 Normal Form for the Prisoners’ Dilemma</vt:lpstr>
      <vt:lpstr>Nash Equilibrium</vt:lpstr>
      <vt:lpstr>Nash Equilibrium</vt:lpstr>
      <vt:lpstr>Nash Equilibrium</vt:lpstr>
      <vt:lpstr>Nash Equilibrium in Prisoners’ Dilemma</vt:lpstr>
      <vt:lpstr>8.2 Underlining Procedure in the Prisoners’   Dilemma</vt:lpstr>
      <vt:lpstr>Dominant Strategies</vt:lpstr>
      <vt:lpstr>Battle of the Sexes</vt:lpstr>
      <vt:lpstr>8.3 Normal Form for the Battle of the Sexes</vt:lpstr>
      <vt:lpstr>8.4 Underlining Procedure in the   Battle of the Sexes</vt:lpstr>
      <vt:lpstr>8.1  Rock, Paper, Scissors</vt:lpstr>
      <vt:lpstr>8.5  Rock, Paper, Scissors  </vt:lpstr>
      <vt:lpstr>Mixed Strategies</vt:lpstr>
      <vt:lpstr>Mixed Strategies</vt:lpstr>
      <vt:lpstr>Mixed Strategies</vt:lpstr>
      <vt:lpstr>Mixed Strategies</vt:lpstr>
      <vt:lpstr>Mixed Strategies</vt:lpstr>
      <vt:lpstr>8.2   Expected Payoffs in the   Battle of the Sexes</vt:lpstr>
      <vt:lpstr>8.2    Expected Payoffs in the   Battle of the Sexes</vt:lpstr>
      <vt:lpstr>8.3   Mixed-Strategy Nash Equilibrium in the   Battle of the Sexes</vt:lpstr>
      <vt:lpstr>8.3   Mixed-Strategy Nash Equilibrium in the   Battle of the Sexes</vt:lpstr>
      <vt:lpstr>8.6 Nash Equilibria in Mixed Strategies in the   Battle of the Sexes</vt:lpstr>
      <vt:lpstr>Mixed Strategies</vt:lpstr>
      <vt:lpstr>Existence Of Equilibrium</vt:lpstr>
      <vt:lpstr>Continuum of Actions</vt:lpstr>
      <vt:lpstr>Tragedy of the Commons</vt:lpstr>
      <vt:lpstr>8.4  Tragedy of the Commons</vt:lpstr>
      <vt:lpstr>8.4  Tragedy of the Commons</vt:lpstr>
      <vt:lpstr>8.7 Best-Response Diagram for the   Tragedy of the Commons</vt:lpstr>
      <vt:lpstr>8.4  Tragedy of the Commons</vt:lpstr>
      <vt:lpstr>Sequential Games</vt:lpstr>
      <vt:lpstr>Sequential Battle of the Sexes</vt:lpstr>
      <vt:lpstr>8.1 Husband’s contingent strategies</vt:lpstr>
      <vt:lpstr>8.8 Normal Form for the Sequential   Battle of the Sexes</vt:lpstr>
      <vt:lpstr>8.9 Extensive Form for the Battle of the Sexes</vt:lpstr>
      <vt:lpstr>Sequential Battle of the Sexes</vt:lpstr>
      <vt:lpstr>Subgame-Perfect Equilibrium</vt:lpstr>
      <vt:lpstr>8.10 Equilibrium Path</vt:lpstr>
      <vt:lpstr>8.11 Proper Subgames in the Battle of the Sexes</vt:lpstr>
      <vt:lpstr>Subgame-Perfect Equilibrium</vt:lpstr>
      <vt:lpstr>Backward Induction</vt:lpstr>
      <vt:lpstr>8.12 Applying Backward Induction</vt:lpstr>
      <vt:lpstr>Repeated Games</vt:lpstr>
      <vt:lpstr>Finitely Repeated Games</vt:lpstr>
      <vt:lpstr>Finitely Repeated Games</vt:lpstr>
      <vt:lpstr>Infinitely Repeated Games</vt:lpstr>
      <vt:lpstr>Infinitely Repeated Games</vt:lpstr>
      <vt:lpstr>Infinitely Repeated Games</vt:lpstr>
      <vt:lpstr>Infinitely Repeated Games</vt:lpstr>
      <vt:lpstr>Incomplete Information</vt:lpstr>
      <vt:lpstr>Simultaneous Bayesian Games</vt:lpstr>
      <vt:lpstr>Player Types and Beliefs</vt:lpstr>
      <vt:lpstr>Player Types and Beliefs</vt:lpstr>
      <vt:lpstr>Player Types and Beliefs</vt:lpstr>
      <vt:lpstr>8.13  Simple Game of Incomplete Information</vt:lpstr>
      <vt:lpstr>8.14 Extensive Form for Simple Game of   Incomplete Information</vt:lpstr>
      <vt:lpstr>Bayesian-Nash Equilibrium</vt:lpstr>
      <vt:lpstr>Bayesian-Nash Equilibrium</vt:lpstr>
      <vt:lpstr>8.5  Bayesian–Nash Equilibrium of Game   in Figure 8.14</vt:lpstr>
      <vt:lpstr>8.6  Tragedy of the Commons as a   Bayesian Game</vt:lpstr>
      <vt:lpstr>8.6  Tragedy of the Commons as a   Bayesian Game</vt:lpstr>
      <vt:lpstr>8.15 Equilibrium of the Bayesian Tragedy of the   Commons</vt:lpstr>
      <vt:lpstr>Signaling Games</vt:lpstr>
      <vt:lpstr>Job-Market Signaling</vt:lpstr>
      <vt:lpstr>Job-Market Signaling</vt:lpstr>
      <vt:lpstr>8.16 Job-Market Signaling</vt:lpstr>
      <vt:lpstr>Job-Market Signaling</vt:lpstr>
      <vt:lpstr>Bayes’ Rule</vt:lpstr>
      <vt:lpstr>8.17 Bayes’ Rule as a Black Box </vt:lpstr>
      <vt:lpstr>Bayes’ Rule</vt:lpstr>
      <vt:lpstr>Bayes’ Rule</vt:lpstr>
      <vt:lpstr>Perfect Bayesian Equilibrium</vt:lpstr>
      <vt:lpstr>Perfect Bayesian Equilibrium</vt:lpstr>
      <vt:lpstr>Perfect Bayesian Equilibrium</vt:lpstr>
      <vt:lpstr>Perfect Bayesian Equilibrium</vt:lpstr>
      <vt:lpstr>8.7  Separating Equilibrium in the   Job-Market Signaling Game</vt:lpstr>
      <vt:lpstr>8.7  Separating Equilibrium in the   Job-Market Signaling Game</vt:lpstr>
      <vt:lpstr>8.8  Pooling Equilibria in the Job-Market  Signaling Game</vt:lpstr>
      <vt:lpstr>8.9  Hybrid Equilibria in the Job-Market  Signaling Game</vt:lpstr>
      <vt:lpstr>Experimental Games</vt:lpstr>
      <vt:lpstr>Evolutionary Games And Learning</vt:lpstr>
      <vt:lpstr>Evolutionary Games And Learning</vt:lpstr>
      <vt:lpstr>Existence of Nash equilibrium</vt:lpstr>
      <vt:lpstr>E 8.1 Comparison of Functions and  Correspondences</vt:lpstr>
      <vt:lpstr>Existence of Nash equilibrium</vt:lpstr>
      <vt:lpstr>E 8.2 Kakutani’s Conditions on Correspondences</vt:lpstr>
      <vt:lpstr>Existence of Nash equilibrium</vt:lpstr>
      <vt:lpstr>Existence of Nash equilibrium</vt:lpstr>
      <vt:lpstr>Existence of Nash equilibrium</vt:lpstr>
      <vt:lpstr>E 8.3 Set of Mixed Strategies for an Individual</vt:lpstr>
    </vt:vector>
  </TitlesOfParts>
  <Company>Eastern Illinois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Andreea Chiritescu</dc:creator>
  <cp:lastModifiedBy>Andreea Chiritescu</cp:lastModifiedBy>
  <cp:revision>339</cp:revision>
  <dcterms:created xsi:type="dcterms:W3CDTF">2016-06-05T19:40:39Z</dcterms:created>
  <dcterms:modified xsi:type="dcterms:W3CDTF">2016-06-15T19:29:05Z</dcterms:modified>
</cp:coreProperties>
</file>