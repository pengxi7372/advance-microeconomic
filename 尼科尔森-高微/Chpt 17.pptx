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4" r:id="rId3"/>
    <p:sldMasterId id="2147483677" r:id="rId4"/>
    <p:sldMasterId id="2147483669" r:id="rId5"/>
    <p:sldMasterId id="2147483672" r:id="rId6"/>
  </p:sldMasterIdLst>
  <p:notesMasterIdLst>
    <p:notesMasterId r:id="rId80"/>
  </p:notesMasterIdLst>
  <p:handoutMasterIdLst>
    <p:handoutMasterId r:id="rId81"/>
  </p:handoutMasterIdLst>
  <p:sldIdLst>
    <p:sldId id="258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345" r:id="rId21"/>
    <p:sldId id="346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47" r:id="rId34"/>
    <p:sldId id="348" r:id="rId35"/>
    <p:sldId id="349" r:id="rId36"/>
    <p:sldId id="350" r:id="rId37"/>
    <p:sldId id="351" r:id="rId38"/>
    <p:sldId id="352" r:id="rId39"/>
    <p:sldId id="35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2" r:id="rId48"/>
    <p:sldId id="313" r:id="rId49"/>
    <p:sldId id="314" r:id="rId50"/>
    <p:sldId id="315" r:id="rId51"/>
    <p:sldId id="316" r:id="rId52"/>
    <p:sldId id="317" r:id="rId53"/>
    <p:sldId id="318" r:id="rId54"/>
    <p:sldId id="319" r:id="rId55"/>
    <p:sldId id="320" r:id="rId56"/>
    <p:sldId id="321" r:id="rId57"/>
    <p:sldId id="322" r:id="rId58"/>
    <p:sldId id="323" r:id="rId59"/>
    <p:sldId id="324" r:id="rId60"/>
    <p:sldId id="325" r:id="rId61"/>
    <p:sldId id="326" r:id="rId62"/>
    <p:sldId id="327" r:id="rId63"/>
    <p:sldId id="328" r:id="rId64"/>
    <p:sldId id="329" r:id="rId65"/>
    <p:sldId id="330" r:id="rId66"/>
    <p:sldId id="331" r:id="rId67"/>
    <p:sldId id="332" r:id="rId68"/>
    <p:sldId id="334" r:id="rId69"/>
    <p:sldId id="335" r:id="rId70"/>
    <p:sldId id="336" r:id="rId71"/>
    <p:sldId id="337" r:id="rId72"/>
    <p:sldId id="338" r:id="rId73"/>
    <p:sldId id="339" r:id="rId74"/>
    <p:sldId id="340" r:id="rId75"/>
    <p:sldId id="341" r:id="rId76"/>
    <p:sldId id="342" r:id="rId77"/>
    <p:sldId id="343" r:id="rId78"/>
    <p:sldId id="344" r:id="rId7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D56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4" autoAdjust="0"/>
    <p:restoredTop sz="98883" autoAdjust="0"/>
  </p:normalViewPr>
  <p:slideViewPr>
    <p:cSldViewPr>
      <p:cViewPr>
        <p:scale>
          <a:sx n="60" d="100"/>
          <a:sy n="60" d="100"/>
        </p:scale>
        <p:origin x="-1098" y="-2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349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95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76" Type="http://schemas.openxmlformats.org/officeDocument/2006/relationships/slide" Target="slides/slide70.xml"/><Relationship Id="rId84" Type="http://schemas.openxmlformats.org/officeDocument/2006/relationships/theme" Target="theme/theme1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82" Type="http://schemas.openxmlformats.org/officeDocument/2006/relationships/presProps" Target="presProps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3143B-620F-4987-B4C6-8DA41D14F534}" type="datetimeFigureOut">
              <a:rPr lang="en-US" smtClean="0"/>
              <a:t>6/21/2016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9E537F-0D91-4DE0-B9F5-55E2B2118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922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7A522-1067-4090-8338-D2D3A24AAAF6}" type="datetimeFigureOut">
              <a:rPr lang="en-US" smtClean="0"/>
              <a:t>6/21/2016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9A4D4-42B8-482F-A3F9-BD6E0B3BC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13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9A4D4-42B8-482F-A3F9-BD6E0B3BC1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01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2971800"/>
            <a:ext cx="9144000" cy="1676400"/>
          </a:xfrm>
          <a:prstGeom prst="rect">
            <a:avLst/>
          </a:prstGeom>
          <a:noFill/>
        </p:spPr>
        <p:txBody>
          <a:bodyPr/>
          <a:lstStyle>
            <a:lvl1pPr marL="91440">
              <a:lnSpc>
                <a:spcPct val="100000"/>
              </a:lnSpc>
              <a:spcBef>
                <a:spcPts val="600"/>
              </a:spcBef>
              <a:defRPr sz="5400" b="0">
                <a:solidFill>
                  <a:srgbClr val="002D56"/>
                </a:solidFill>
              </a:defRPr>
            </a:lvl1pPr>
          </a:lstStyle>
          <a:p>
            <a:r>
              <a:rPr lang="en-US" dirty="0" smtClean="0"/>
              <a:t>CLICK TO EDIT				Master title style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-76200" y="0"/>
            <a:ext cx="9220200" cy="6096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vert="horz" lIns="0" tIns="182880" rIns="0" bIns="45720" rtlCol="0" anchor="ctr">
            <a:noAutofit/>
          </a:bodyPr>
          <a:lstStyle>
            <a:lvl1pPr algn="ctr" defTabSz="914400" rtl="0" eaLnBrk="1" latinLnBrk="0" hangingPunct="1">
              <a:lnSpc>
                <a:spcPct val="200000"/>
              </a:lnSpc>
              <a:spcBef>
                <a:spcPct val="0"/>
              </a:spcBef>
              <a:buNone/>
              <a:defRPr sz="4400" b="0" kern="1200" baseline="30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Walter Nicholson | Christopher Snyder	 12th edition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079196-2514-49FB-B48C-98AEBE754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18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/>
          <a:lstStyle>
            <a:lvl1pPr>
              <a:defRPr>
                <a:solidFill>
                  <a:srgbClr val="002D56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534400" cy="5181600"/>
          </a:xfrm>
        </p:spPr>
        <p:txBody>
          <a:bodyPr>
            <a:noAutofit/>
          </a:bodyPr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8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/>
          <a:lstStyle>
            <a:lvl1pPr>
              <a:defRPr>
                <a:solidFill>
                  <a:srgbClr val="002D56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534400" cy="2819400"/>
          </a:xfrm>
        </p:spPr>
        <p:txBody>
          <a:bodyPr>
            <a:noAutofit/>
          </a:bodyPr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81000" y="4114800"/>
            <a:ext cx="8534400" cy="21336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48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2971800" cy="4525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8203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2971800" cy="4525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1341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5867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69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2667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81000" y="3429000"/>
            <a:ext cx="8382000" cy="27432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19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5642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5867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79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2667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3352800"/>
            <a:ext cx="8305800" cy="2895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9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Andreea\Desktop\Cengage\Nicholson 12e\cover\ch bkg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90800"/>
            <a:ext cx="9144000" cy="3779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ndreea\Desktop\Cengage\Nicholson 12e\cover\MT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6184"/>
            <a:ext cx="9144000" cy="224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00800"/>
            <a:ext cx="8686800" cy="457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49287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79196-2514-49FB-B48C-98AEBE754E6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5105400" y="5562600"/>
            <a:ext cx="4038600" cy="9144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600" smtClean="0">
                <a:latin typeface="Arial" pitchFamily="34" charset="0"/>
              </a:rPr>
              <a:t>PowerPoint Slides prepared by: </a:t>
            </a:r>
          </a:p>
          <a:p>
            <a:pPr>
              <a:defRPr/>
            </a:pPr>
            <a:r>
              <a:rPr lang="en-US" sz="1600" smtClean="0">
                <a:latin typeface="Arial" pitchFamily="34" charset="0"/>
              </a:rPr>
              <a:t>V. Andreea CHIRITESCU</a:t>
            </a:r>
          </a:p>
          <a:p>
            <a:pPr>
              <a:defRPr/>
            </a:pPr>
            <a:r>
              <a:rPr lang="en-US" sz="1600" smtClean="0">
                <a:latin typeface="Arial" pitchFamily="34" charset="0"/>
              </a:rPr>
              <a:t>Eastern Illinois University</a:t>
            </a:r>
            <a:endParaRPr lang="en-US" sz="160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05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lnSpc>
          <a:spcPct val="200000"/>
        </a:lnSpc>
        <a:spcBef>
          <a:spcPct val="0"/>
        </a:spcBef>
        <a:buNone/>
        <a:defRPr sz="4400" b="0" kern="1200" baseline="300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8" y="1143000"/>
            <a:ext cx="8601072" cy="5335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00801"/>
            <a:ext cx="8686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49287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B335A-255B-4303-A333-FBB711D61B6F}" type="slidenum">
              <a:rPr lang="en-US" smtClean="0"/>
              <a:t>‹#›</a:t>
            </a:fld>
            <a:endParaRPr lang="en-US"/>
          </a:p>
        </p:txBody>
      </p:sp>
      <p:pic>
        <p:nvPicPr>
          <p:cNvPr id="3074" name="Picture 2" descr="C:\Users\Andreea\Desktop\Cengage\Nicholson 12e\cover\red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3043235" y="3043235"/>
            <a:ext cx="6400800" cy="314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:\Users\Andreea\Desktop\Cengage\Nicholson 12e\cover\red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14328" y="985836"/>
            <a:ext cx="8829672" cy="15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163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6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4287" y="471488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248650" y="457200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143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236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4287" y="471488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248650" y="457200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0150" y="0"/>
            <a:ext cx="794385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 rot="10800000">
            <a:off x="1" y="5505448"/>
            <a:ext cx="9144000" cy="895351"/>
            <a:chOff x="138110" y="3505200"/>
            <a:chExt cx="9144000" cy="895351"/>
          </a:xfrm>
        </p:grpSpPr>
        <p:pic>
          <p:nvPicPr>
            <p:cNvPr id="9" name="Picture 2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23823" y="3519488"/>
              <a:ext cx="895350" cy="866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8386760" y="3505200"/>
              <a:ext cx="895350" cy="866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84994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585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00712" y="3414712"/>
            <a:ext cx="64770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3033712" y="3414712"/>
            <a:ext cx="64770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64344" y="0"/>
            <a:ext cx="7379656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764345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09600"/>
            <a:ext cx="8229600" cy="586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88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4" r:id="rId2"/>
    <p:sldLayoutId id="2147483679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510213" y="3224211"/>
            <a:ext cx="6858001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2895600" y="3095624"/>
            <a:ext cx="620077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0200" y="0"/>
            <a:ext cx="7543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33400"/>
            <a:ext cx="8229600" cy="594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24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5283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9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4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7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1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4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5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0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9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31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33.e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36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37.emf"/><Relationship Id="rId4" Type="http://schemas.openxmlformats.org/officeDocument/2006/relationships/oleObject" Target="../embeddings/oleObject20.bin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1.e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40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43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44.e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45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46.w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48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49.w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50.w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3.vml"/><Relationship Id="rId4" Type="http://schemas.openxmlformats.org/officeDocument/2006/relationships/image" Target="../media/image51.w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52.w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54.w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55.w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7.vml"/><Relationship Id="rId4" Type="http://schemas.openxmlformats.org/officeDocument/2006/relationships/image" Target="../media/image56.w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5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2895600"/>
            <a:ext cx="8991600" cy="1676400"/>
          </a:xfrm>
        </p:spPr>
        <p:txBody>
          <a:bodyPr/>
          <a:lstStyle/>
          <a:p>
            <a:pPr algn="l"/>
            <a:r>
              <a:rPr lang="en-US" dirty="0" smtClean="0"/>
              <a:t>CHAPTER</a:t>
            </a:r>
            <a:r>
              <a:rPr lang="en-US" b="1" baseline="0" dirty="0"/>
              <a:t> </a:t>
            </a:r>
            <a:r>
              <a:rPr lang="en-US" b="1" baseline="0" dirty="0" smtClean="0"/>
              <a:t>	</a:t>
            </a:r>
            <a:r>
              <a:rPr lang="en-US" sz="4800" b="1" baseline="0" dirty="0" smtClean="0"/>
              <a:t>  	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aseline="0" dirty="0" smtClean="0"/>
              <a:t> </a:t>
            </a:r>
            <a:r>
              <a:rPr lang="en-US" baseline="0" dirty="0" smtClean="0"/>
              <a:t>17</a:t>
            </a:r>
            <a:r>
              <a:rPr lang="en-US" b="1" baseline="0" dirty="0" smtClean="0"/>
              <a:t>	 		</a:t>
            </a:r>
            <a:r>
              <a:rPr lang="en-US" sz="4800" b="1" baseline="0" dirty="0"/>
              <a:t>Capital and Time</a:t>
            </a:r>
            <a:endParaRPr lang="en-US" sz="44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079196-2514-49FB-B48C-98AEBE754E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9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Capital and the Rate of Return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capital stock of an economy</a:t>
            </a:r>
          </a:p>
          <a:p>
            <a:pPr lvl="1"/>
            <a:r>
              <a:rPr lang="en-US" altLang="en-US" smtClean="0"/>
              <a:t>The sum total of machines, buildings, and other reproducible resources in existence at a point in time</a:t>
            </a:r>
          </a:p>
          <a:p>
            <a:pPr lvl="1"/>
            <a:r>
              <a:rPr lang="en-US" altLang="en-US" smtClean="0"/>
              <a:t>Represent some part of the economy’s past output that was set aside for future production</a:t>
            </a:r>
          </a:p>
          <a:p>
            <a:endParaRPr lang="en-US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EBCE85-6DD6-4C08-883B-D1EB365F6BB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309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17.1	Two Views of Capital </a:t>
            </a:r>
            <a:r>
              <a:rPr lang="en-US" altLang="en-US" dirty="0" smtClean="0"/>
              <a:t>Accumulation</a:t>
            </a:r>
            <a:endParaRPr lang="en-US" altLang="en-US" dirty="0" smtClean="0"/>
          </a:p>
        </p:txBody>
      </p:sp>
      <p:sp>
        <p:nvSpPr>
          <p:cNvPr id="43011" name="Text Placeholder 2"/>
          <p:cNvSpPr>
            <a:spLocks noGrp="1"/>
          </p:cNvSpPr>
          <p:nvPr>
            <p:ph sz="half" idx="1"/>
          </p:nvPr>
        </p:nvSpPr>
        <p:spPr>
          <a:xfrm>
            <a:off x="45038" y="5059362"/>
            <a:ext cx="8946562" cy="1295401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In (a), society withdraws some current consumption (s) to gorge itself (with x extra consumption) in the next period. The one-period rate of return would be measured by x/s - 1. The society in (b) takes a more long-term view and uses s to increase its consumption perpetually by y. The perpetual rate of return would be given by y/s</a:t>
            </a:r>
            <a:r>
              <a:rPr lang="en-US" altLang="en-US" dirty="0" smtClean="0"/>
              <a:t>.</a:t>
            </a:r>
            <a:endParaRPr lang="en-US" altLang="en-US" dirty="0"/>
          </a:p>
        </p:txBody>
      </p:sp>
      <p:sp>
        <p:nvSpPr>
          <p:cNvPr id="43014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F08500-E0BD-451E-B215-346F83D918B0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1633538" y="2687637"/>
            <a:ext cx="381000" cy="457200"/>
            <a:chOff x="1420100" y="3303327"/>
            <a:chExt cx="381000" cy="457200"/>
          </a:xfrm>
        </p:grpSpPr>
        <p:sp>
          <p:nvSpPr>
            <p:cNvPr id="43081" name="Text Box 15"/>
            <p:cNvSpPr txBox="1">
              <a:spLocks noChangeArrowheads="1"/>
            </p:cNvSpPr>
            <p:nvPr/>
          </p:nvSpPr>
          <p:spPr bwMode="auto">
            <a:xfrm>
              <a:off x="1420100" y="3379527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5D0D8F"/>
                  </a:solidFill>
                </a:rPr>
                <a:t>s</a:t>
              </a:r>
              <a:endParaRPr lang="en-US" altLang="en-US" sz="1800">
                <a:solidFill>
                  <a:srgbClr val="5D0D8F"/>
                </a:solidFill>
              </a:endParaRPr>
            </a:p>
          </p:txBody>
        </p:sp>
        <p:sp>
          <p:nvSpPr>
            <p:cNvPr id="43082" name="Line 30"/>
            <p:cNvSpPr>
              <a:spLocks noChangeShapeType="1"/>
            </p:cNvSpPr>
            <p:nvPr/>
          </p:nvSpPr>
          <p:spPr bwMode="auto">
            <a:xfrm flipH="1">
              <a:off x="1648700" y="3760527"/>
              <a:ext cx="15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3083" name="Line 18"/>
            <p:cNvSpPr>
              <a:spLocks noChangeShapeType="1"/>
            </p:cNvSpPr>
            <p:nvPr/>
          </p:nvSpPr>
          <p:spPr bwMode="auto">
            <a:xfrm>
              <a:off x="1724900" y="3303327"/>
              <a:ext cx="0" cy="457200"/>
            </a:xfrm>
            <a:prstGeom prst="line">
              <a:avLst/>
            </a:prstGeom>
            <a:noFill/>
            <a:ln w="12700">
              <a:solidFill>
                <a:srgbClr val="5D0D8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1938338" y="1925637"/>
            <a:ext cx="381000" cy="762000"/>
            <a:chOff x="1724900" y="2541327"/>
            <a:chExt cx="381000" cy="762000"/>
          </a:xfrm>
        </p:grpSpPr>
        <p:sp>
          <p:nvSpPr>
            <p:cNvPr id="43077" name="Text Box 16"/>
            <p:cNvSpPr txBox="1">
              <a:spLocks noChangeArrowheads="1"/>
            </p:cNvSpPr>
            <p:nvPr/>
          </p:nvSpPr>
          <p:spPr bwMode="auto">
            <a:xfrm>
              <a:off x="1724900" y="2693727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5D0D8F"/>
                  </a:solidFill>
                </a:rPr>
                <a:t>x</a:t>
              </a:r>
              <a:endParaRPr lang="en-US" altLang="en-US" sz="1800">
                <a:solidFill>
                  <a:srgbClr val="5D0D8F"/>
                </a:solidFill>
              </a:endParaRPr>
            </a:p>
          </p:txBody>
        </p:sp>
        <p:sp>
          <p:nvSpPr>
            <p:cNvPr id="43078" name="Line 19"/>
            <p:cNvSpPr>
              <a:spLocks noChangeShapeType="1"/>
            </p:cNvSpPr>
            <p:nvPr/>
          </p:nvSpPr>
          <p:spPr bwMode="auto">
            <a:xfrm>
              <a:off x="2029700" y="2541327"/>
              <a:ext cx="0" cy="762000"/>
            </a:xfrm>
            <a:prstGeom prst="line">
              <a:avLst/>
            </a:prstGeom>
            <a:noFill/>
            <a:ln w="12700">
              <a:solidFill>
                <a:srgbClr val="5D0D8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3079" name="Line 28"/>
            <p:cNvSpPr>
              <a:spLocks noChangeShapeType="1"/>
            </p:cNvSpPr>
            <p:nvPr/>
          </p:nvSpPr>
          <p:spPr bwMode="auto">
            <a:xfrm flipH="1">
              <a:off x="1953500" y="3303327"/>
              <a:ext cx="152400" cy="0"/>
            </a:xfrm>
            <a:prstGeom prst="line">
              <a:avLst/>
            </a:prstGeom>
            <a:noFill/>
            <a:ln w="12700">
              <a:solidFill>
                <a:srgbClr val="5D0D8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3080" name="Line 29"/>
            <p:cNvSpPr>
              <a:spLocks noChangeShapeType="1"/>
            </p:cNvSpPr>
            <p:nvPr/>
          </p:nvSpPr>
          <p:spPr bwMode="auto">
            <a:xfrm flipH="1">
              <a:off x="1877300" y="2541327"/>
              <a:ext cx="228600" cy="0"/>
            </a:xfrm>
            <a:prstGeom prst="line">
              <a:avLst/>
            </a:prstGeom>
            <a:noFill/>
            <a:ln w="12700">
              <a:solidFill>
                <a:srgbClr val="5D0D8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  <p:grpSp>
        <p:nvGrpSpPr>
          <p:cNvPr id="6" name="Group 81"/>
          <p:cNvGrpSpPr>
            <a:grpSpLocks/>
          </p:cNvGrpSpPr>
          <p:nvPr/>
        </p:nvGrpSpPr>
        <p:grpSpPr bwMode="auto">
          <a:xfrm>
            <a:off x="414338" y="1925637"/>
            <a:ext cx="3444875" cy="1219200"/>
            <a:chOff x="200900" y="2113827"/>
            <a:chExt cx="3444825" cy="1219200"/>
          </a:xfrm>
        </p:grpSpPr>
        <p:sp>
          <p:nvSpPr>
            <p:cNvPr id="43068" name="Text Box 26"/>
            <p:cNvSpPr txBox="1">
              <a:spLocks noChangeArrowheads="1"/>
            </p:cNvSpPr>
            <p:nvPr/>
          </p:nvSpPr>
          <p:spPr bwMode="auto">
            <a:xfrm>
              <a:off x="200900" y="2663102"/>
              <a:ext cx="3460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c</a:t>
              </a:r>
              <a:r>
                <a:rPr lang="en-US" altLang="en-US" sz="1800" baseline="-25000"/>
                <a:t>0</a:t>
              </a:r>
              <a:endParaRPr lang="en-US" altLang="en-US" sz="1800"/>
            </a:p>
          </p:txBody>
        </p:sp>
        <p:grpSp>
          <p:nvGrpSpPr>
            <p:cNvPr id="43069" name="Group 39"/>
            <p:cNvGrpSpPr>
              <a:grpSpLocks/>
            </p:cNvGrpSpPr>
            <p:nvPr/>
          </p:nvGrpSpPr>
          <p:grpSpPr bwMode="auto">
            <a:xfrm>
              <a:off x="581900" y="2113827"/>
              <a:ext cx="3063825" cy="1219200"/>
              <a:chOff x="581900" y="2541327"/>
              <a:chExt cx="3063825" cy="1219200"/>
            </a:xfrm>
          </p:grpSpPr>
          <p:sp>
            <p:nvSpPr>
              <p:cNvPr id="43070" name="Line 6"/>
              <p:cNvSpPr>
                <a:spLocks noChangeShapeType="1"/>
              </p:cNvSpPr>
              <p:nvPr/>
            </p:nvSpPr>
            <p:spPr bwMode="auto">
              <a:xfrm>
                <a:off x="581900" y="3303327"/>
                <a:ext cx="1295400" cy="0"/>
              </a:xfrm>
              <a:prstGeom prst="line">
                <a:avLst/>
              </a:prstGeom>
              <a:noFill/>
              <a:ln w="28575">
                <a:solidFill>
                  <a:srgbClr val="177B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43071" name="Line 7"/>
              <p:cNvSpPr>
                <a:spLocks noChangeShapeType="1"/>
              </p:cNvSpPr>
              <p:nvPr/>
            </p:nvSpPr>
            <p:spPr bwMode="auto">
              <a:xfrm>
                <a:off x="1877300" y="3303327"/>
                <a:ext cx="0" cy="457200"/>
              </a:xfrm>
              <a:prstGeom prst="line">
                <a:avLst/>
              </a:prstGeom>
              <a:noFill/>
              <a:ln w="28575">
                <a:solidFill>
                  <a:srgbClr val="5D0D8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072" name="Line 8"/>
              <p:cNvSpPr>
                <a:spLocks noChangeShapeType="1"/>
              </p:cNvSpPr>
              <p:nvPr/>
            </p:nvSpPr>
            <p:spPr bwMode="auto">
              <a:xfrm>
                <a:off x="1877300" y="3760527"/>
                <a:ext cx="304800" cy="0"/>
              </a:xfrm>
              <a:prstGeom prst="line">
                <a:avLst/>
              </a:prstGeom>
              <a:noFill/>
              <a:ln w="28575">
                <a:solidFill>
                  <a:srgbClr val="5D0D8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073" name="Line 9"/>
              <p:cNvSpPr>
                <a:spLocks noChangeShapeType="1"/>
              </p:cNvSpPr>
              <p:nvPr/>
            </p:nvSpPr>
            <p:spPr bwMode="auto">
              <a:xfrm flipV="1">
                <a:off x="2182100" y="2541327"/>
                <a:ext cx="0" cy="1219200"/>
              </a:xfrm>
              <a:prstGeom prst="line">
                <a:avLst/>
              </a:prstGeom>
              <a:noFill/>
              <a:ln w="28575">
                <a:solidFill>
                  <a:srgbClr val="5D0D8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43074" name="Line 10"/>
              <p:cNvSpPr>
                <a:spLocks noChangeShapeType="1"/>
              </p:cNvSpPr>
              <p:nvPr/>
            </p:nvSpPr>
            <p:spPr bwMode="auto">
              <a:xfrm>
                <a:off x="2182100" y="2541327"/>
                <a:ext cx="304800" cy="0"/>
              </a:xfrm>
              <a:prstGeom prst="line">
                <a:avLst/>
              </a:prstGeom>
              <a:noFill/>
              <a:ln w="28575">
                <a:solidFill>
                  <a:srgbClr val="5D0D8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43075" name="Line 12"/>
              <p:cNvSpPr>
                <a:spLocks noChangeShapeType="1"/>
              </p:cNvSpPr>
              <p:nvPr/>
            </p:nvSpPr>
            <p:spPr bwMode="auto">
              <a:xfrm flipV="1">
                <a:off x="2486900" y="3301340"/>
                <a:ext cx="1158825" cy="1987"/>
              </a:xfrm>
              <a:prstGeom prst="line">
                <a:avLst/>
              </a:prstGeom>
              <a:noFill/>
              <a:ln w="28575">
                <a:solidFill>
                  <a:srgbClr val="177B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076" name="Line 11"/>
              <p:cNvSpPr>
                <a:spLocks noChangeShapeType="1"/>
              </p:cNvSpPr>
              <p:nvPr/>
            </p:nvSpPr>
            <p:spPr bwMode="auto">
              <a:xfrm>
                <a:off x="2486900" y="2541327"/>
                <a:ext cx="0" cy="762000"/>
              </a:xfrm>
              <a:prstGeom prst="line">
                <a:avLst/>
              </a:prstGeom>
              <a:noFill/>
              <a:ln w="28575">
                <a:solidFill>
                  <a:srgbClr val="5D0D8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</p:grpSp>
      </p:grpSp>
      <p:grpSp>
        <p:nvGrpSpPr>
          <p:cNvPr id="8" name="Group 73"/>
          <p:cNvGrpSpPr>
            <a:grpSpLocks/>
          </p:cNvGrpSpPr>
          <p:nvPr/>
        </p:nvGrpSpPr>
        <p:grpSpPr bwMode="auto">
          <a:xfrm>
            <a:off x="5613400" y="2687637"/>
            <a:ext cx="381000" cy="457200"/>
            <a:chOff x="5401264" y="2875808"/>
            <a:chExt cx="381000" cy="457200"/>
          </a:xfrm>
        </p:grpSpPr>
        <p:sp>
          <p:nvSpPr>
            <p:cNvPr id="43065" name="Text Box 14"/>
            <p:cNvSpPr txBox="1">
              <a:spLocks noChangeArrowheads="1"/>
            </p:cNvSpPr>
            <p:nvPr/>
          </p:nvSpPr>
          <p:spPr bwMode="auto">
            <a:xfrm>
              <a:off x="5401264" y="2952008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5D0D8F"/>
                  </a:solidFill>
                </a:rPr>
                <a:t>s</a:t>
              </a:r>
              <a:endParaRPr lang="en-US" altLang="en-US" sz="1800">
                <a:solidFill>
                  <a:srgbClr val="5D0D8F"/>
                </a:solidFill>
              </a:endParaRPr>
            </a:p>
          </p:txBody>
        </p:sp>
        <p:sp>
          <p:nvSpPr>
            <p:cNvPr id="43066" name="Line 16"/>
            <p:cNvSpPr>
              <a:spLocks noChangeShapeType="1"/>
            </p:cNvSpPr>
            <p:nvPr/>
          </p:nvSpPr>
          <p:spPr bwMode="auto">
            <a:xfrm>
              <a:off x="5706064" y="2875808"/>
              <a:ext cx="0" cy="457200"/>
            </a:xfrm>
            <a:prstGeom prst="line">
              <a:avLst/>
            </a:prstGeom>
            <a:noFill/>
            <a:ln w="12700">
              <a:solidFill>
                <a:srgbClr val="5D0D8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3067" name="Line 27"/>
            <p:cNvSpPr>
              <a:spLocks noChangeShapeType="1"/>
            </p:cNvSpPr>
            <p:nvPr/>
          </p:nvSpPr>
          <p:spPr bwMode="auto">
            <a:xfrm flipH="1">
              <a:off x="5629864" y="3333008"/>
              <a:ext cx="15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  <p:grpSp>
        <p:nvGrpSpPr>
          <p:cNvPr id="9" name="Group 72"/>
          <p:cNvGrpSpPr>
            <a:grpSpLocks/>
          </p:cNvGrpSpPr>
          <p:nvPr/>
        </p:nvGrpSpPr>
        <p:grpSpPr bwMode="auto">
          <a:xfrm>
            <a:off x="5765800" y="2230437"/>
            <a:ext cx="533400" cy="457200"/>
            <a:chOff x="5553664" y="2418608"/>
            <a:chExt cx="533400" cy="457200"/>
          </a:xfrm>
        </p:grpSpPr>
        <p:sp>
          <p:nvSpPr>
            <p:cNvPr id="43060" name="Text Box 15"/>
            <p:cNvSpPr txBox="1">
              <a:spLocks noChangeArrowheads="1"/>
            </p:cNvSpPr>
            <p:nvPr/>
          </p:nvSpPr>
          <p:spPr bwMode="auto">
            <a:xfrm>
              <a:off x="5553664" y="2418608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5D0D8F"/>
                  </a:solidFill>
                </a:rPr>
                <a:t>y</a:t>
              </a:r>
              <a:endParaRPr lang="en-US" altLang="en-US" sz="1800">
                <a:solidFill>
                  <a:srgbClr val="5D0D8F"/>
                </a:solidFill>
              </a:endParaRPr>
            </a:p>
          </p:txBody>
        </p:sp>
        <p:sp>
          <p:nvSpPr>
            <p:cNvPr id="43061" name="Line 17"/>
            <p:cNvSpPr>
              <a:spLocks noChangeShapeType="1"/>
            </p:cNvSpPr>
            <p:nvPr/>
          </p:nvSpPr>
          <p:spPr bwMode="auto">
            <a:xfrm>
              <a:off x="6010864" y="2647208"/>
              <a:ext cx="0" cy="228600"/>
            </a:xfrm>
            <a:prstGeom prst="line">
              <a:avLst/>
            </a:prstGeom>
            <a:noFill/>
            <a:ln w="3175">
              <a:solidFill>
                <a:srgbClr val="5D0D8F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3062" name="Line 25"/>
            <p:cNvSpPr>
              <a:spLocks noChangeShapeType="1"/>
            </p:cNvSpPr>
            <p:nvPr/>
          </p:nvSpPr>
          <p:spPr bwMode="auto">
            <a:xfrm flipH="1">
              <a:off x="5934664" y="2875808"/>
              <a:ext cx="152400" cy="0"/>
            </a:xfrm>
            <a:prstGeom prst="line">
              <a:avLst/>
            </a:prstGeom>
            <a:noFill/>
            <a:ln w="12700">
              <a:solidFill>
                <a:srgbClr val="5D0D8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3063" name="Line 26"/>
            <p:cNvSpPr>
              <a:spLocks noChangeShapeType="1"/>
            </p:cNvSpPr>
            <p:nvPr/>
          </p:nvSpPr>
          <p:spPr bwMode="auto">
            <a:xfrm flipH="1">
              <a:off x="5858464" y="2647208"/>
              <a:ext cx="228600" cy="0"/>
            </a:xfrm>
            <a:prstGeom prst="line">
              <a:avLst/>
            </a:prstGeom>
            <a:noFill/>
            <a:ln w="12700">
              <a:solidFill>
                <a:srgbClr val="5D0D8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3064" name="Line 32"/>
            <p:cNvSpPr>
              <a:spLocks noChangeShapeType="1"/>
            </p:cNvSpPr>
            <p:nvPr/>
          </p:nvSpPr>
          <p:spPr bwMode="auto">
            <a:xfrm>
              <a:off x="5782264" y="2647208"/>
              <a:ext cx="152400" cy="76200"/>
            </a:xfrm>
            <a:prstGeom prst="line">
              <a:avLst/>
            </a:prstGeom>
            <a:noFill/>
            <a:ln w="12700">
              <a:solidFill>
                <a:srgbClr val="5D0D8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  <p:grpSp>
        <p:nvGrpSpPr>
          <p:cNvPr id="10" name="Group 75"/>
          <p:cNvGrpSpPr>
            <a:grpSpLocks/>
          </p:cNvGrpSpPr>
          <p:nvPr/>
        </p:nvGrpSpPr>
        <p:grpSpPr bwMode="auto">
          <a:xfrm>
            <a:off x="4394200" y="2459037"/>
            <a:ext cx="3810000" cy="685800"/>
            <a:chOff x="4182064" y="2647208"/>
            <a:chExt cx="3810000" cy="685800"/>
          </a:xfrm>
        </p:grpSpPr>
        <p:sp>
          <p:nvSpPr>
            <p:cNvPr id="43054" name="Line 5"/>
            <p:cNvSpPr>
              <a:spLocks noChangeShapeType="1"/>
            </p:cNvSpPr>
            <p:nvPr/>
          </p:nvSpPr>
          <p:spPr bwMode="auto">
            <a:xfrm>
              <a:off x="4563064" y="2875808"/>
              <a:ext cx="1295400" cy="0"/>
            </a:xfrm>
            <a:prstGeom prst="line">
              <a:avLst/>
            </a:prstGeom>
            <a:noFill/>
            <a:ln w="28575">
              <a:solidFill>
                <a:srgbClr val="177B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3055" name="Text Box 24"/>
            <p:cNvSpPr txBox="1">
              <a:spLocks noChangeArrowheads="1"/>
            </p:cNvSpPr>
            <p:nvPr/>
          </p:nvSpPr>
          <p:spPr bwMode="auto">
            <a:xfrm>
              <a:off x="4182064" y="2663083"/>
              <a:ext cx="3460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c</a:t>
              </a:r>
              <a:r>
                <a:rPr lang="en-US" altLang="en-US" sz="1800" baseline="-25000"/>
                <a:t>0</a:t>
              </a:r>
              <a:endParaRPr lang="en-US" altLang="en-US" sz="1800"/>
            </a:p>
          </p:txBody>
        </p:sp>
        <p:sp>
          <p:nvSpPr>
            <p:cNvPr id="43056" name="Line 7"/>
            <p:cNvSpPr>
              <a:spLocks noChangeShapeType="1"/>
            </p:cNvSpPr>
            <p:nvPr/>
          </p:nvSpPr>
          <p:spPr bwMode="auto">
            <a:xfrm>
              <a:off x="5858464" y="3333008"/>
              <a:ext cx="304800" cy="0"/>
            </a:xfrm>
            <a:prstGeom prst="line">
              <a:avLst/>
            </a:prstGeom>
            <a:noFill/>
            <a:ln w="28575">
              <a:solidFill>
                <a:srgbClr val="5D0D8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57" name="Line 8"/>
            <p:cNvSpPr>
              <a:spLocks noChangeShapeType="1"/>
            </p:cNvSpPr>
            <p:nvPr/>
          </p:nvSpPr>
          <p:spPr bwMode="auto">
            <a:xfrm flipV="1">
              <a:off x="6163264" y="2647208"/>
              <a:ext cx="0" cy="685800"/>
            </a:xfrm>
            <a:prstGeom prst="line">
              <a:avLst/>
            </a:prstGeom>
            <a:noFill/>
            <a:ln w="28575">
              <a:solidFill>
                <a:srgbClr val="5D0D8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3058" name="Line 11"/>
            <p:cNvSpPr>
              <a:spLocks noChangeShapeType="1"/>
            </p:cNvSpPr>
            <p:nvPr/>
          </p:nvSpPr>
          <p:spPr bwMode="auto">
            <a:xfrm>
              <a:off x="6163264" y="2647208"/>
              <a:ext cx="1828800" cy="0"/>
            </a:xfrm>
            <a:prstGeom prst="line">
              <a:avLst/>
            </a:prstGeom>
            <a:noFill/>
            <a:ln w="28575">
              <a:solidFill>
                <a:srgbClr val="177B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59" name="Line 6"/>
            <p:cNvSpPr>
              <a:spLocks noChangeShapeType="1"/>
            </p:cNvSpPr>
            <p:nvPr/>
          </p:nvSpPr>
          <p:spPr bwMode="auto">
            <a:xfrm>
              <a:off x="5858464" y="2875808"/>
              <a:ext cx="0" cy="457200"/>
            </a:xfrm>
            <a:prstGeom prst="line">
              <a:avLst/>
            </a:prstGeom>
            <a:noFill/>
            <a:ln w="28575">
              <a:solidFill>
                <a:srgbClr val="5D0D8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" name="Group 79"/>
          <p:cNvGrpSpPr>
            <a:grpSpLocks/>
          </p:cNvGrpSpPr>
          <p:nvPr/>
        </p:nvGrpSpPr>
        <p:grpSpPr bwMode="auto">
          <a:xfrm>
            <a:off x="403225" y="609600"/>
            <a:ext cx="3760788" cy="4449762"/>
            <a:chOff x="190014" y="798634"/>
            <a:chExt cx="3761922" cy="4449845"/>
          </a:xfrm>
        </p:grpSpPr>
        <p:grpSp>
          <p:nvGrpSpPr>
            <p:cNvPr id="43038" name="Group 42"/>
            <p:cNvGrpSpPr>
              <a:grpSpLocks/>
            </p:cNvGrpSpPr>
            <p:nvPr/>
          </p:nvGrpSpPr>
          <p:grpSpPr bwMode="auto">
            <a:xfrm>
              <a:off x="190014" y="798634"/>
              <a:ext cx="3761922" cy="4176713"/>
              <a:chOff x="190014" y="798634"/>
              <a:chExt cx="3761922" cy="4176713"/>
            </a:xfrm>
          </p:grpSpPr>
          <p:grpSp>
            <p:nvGrpSpPr>
              <p:cNvPr id="43040" name="Group 36"/>
              <p:cNvGrpSpPr>
                <a:grpSpLocks/>
              </p:cNvGrpSpPr>
              <p:nvPr/>
            </p:nvGrpSpPr>
            <p:grpSpPr bwMode="auto">
              <a:xfrm>
                <a:off x="190014" y="798634"/>
                <a:ext cx="1530350" cy="3753592"/>
                <a:chOff x="522514" y="1226134"/>
                <a:chExt cx="1530350" cy="3753592"/>
              </a:xfrm>
            </p:grpSpPr>
            <p:sp>
              <p:nvSpPr>
                <p:cNvPr id="43052" name="Line 4"/>
                <p:cNvSpPr>
                  <a:spLocks noChangeShapeType="1"/>
                </p:cNvSpPr>
                <p:nvPr/>
              </p:nvSpPr>
              <p:spPr bwMode="auto">
                <a:xfrm>
                  <a:off x="914391" y="1615043"/>
                  <a:ext cx="9" cy="3364683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053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522514" y="1226134"/>
                  <a:ext cx="1530350" cy="366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altLang="en-US" sz="1800"/>
                    <a:t>Consumption</a:t>
                  </a:r>
                </a:p>
              </p:txBody>
            </p:sp>
          </p:grpSp>
          <p:grpSp>
            <p:nvGrpSpPr>
              <p:cNvPr id="43041" name="Group 41"/>
              <p:cNvGrpSpPr>
                <a:grpSpLocks/>
              </p:cNvGrpSpPr>
              <p:nvPr/>
            </p:nvGrpSpPr>
            <p:grpSpPr bwMode="auto">
              <a:xfrm>
                <a:off x="581900" y="4399827"/>
                <a:ext cx="3370036" cy="575520"/>
                <a:chOff x="581900" y="4827327"/>
                <a:chExt cx="3370036" cy="575520"/>
              </a:xfrm>
            </p:grpSpPr>
            <p:grpSp>
              <p:nvGrpSpPr>
                <p:cNvPr id="43042" name="Group 35"/>
                <p:cNvGrpSpPr>
                  <a:grpSpLocks/>
                </p:cNvGrpSpPr>
                <p:nvPr/>
              </p:nvGrpSpPr>
              <p:grpSpPr bwMode="auto">
                <a:xfrm>
                  <a:off x="581900" y="4975761"/>
                  <a:ext cx="3370036" cy="427086"/>
                  <a:chOff x="914400" y="4975761"/>
                  <a:chExt cx="3370036" cy="427086"/>
                </a:xfrm>
              </p:grpSpPr>
              <p:sp>
                <p:nvSpPr>
                  <p:cNvPr id="43050" name="Line 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14400" y="4975761"/>
                    <a:ext cx="3325091" cy="396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3051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92286" y="5036134"/>
                    <a:ext cx="692150" cy="3667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1pPr>
                    <a:lvl2pPr marL="742950" indent="-285750" eaLnBrk="0" hangingPunct="0"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2pPr>
                    <a:lvl3pPr marL="1143000" indent="-228600" eaLnBrk="0" hangingPunct="0"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3pPr>
                    <a:lvl4pPr marL="1600200" indent="-228600" eaLnBrk="0" hangingPunct="0"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4pPr>
                    <a:lvl5pPr marL="2057400" indent="-228600" eaLnBrk="0" hangingPunct="0"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800"/>
                      <a:t>Time</a:t>
                    </a:r>
                  </a:p>
                </p:txBody>
              </p:sp>
            </p:grpSp>
            <p:grpSp>
              <p:nvGrpSpPr>
                <p:cNvPr id="43043" name="Group 40"/>
                <p:cNvGrpSpPr>
                  <a:grpSpLocks/>
                </p:cNvGrpSpPr>
                <p:nvPr/>
              </p:nvGrpSpPr>
              <p:grpSpPr bwMode="auto">
                <a:xfrm>
                  <a:off x="1724900" y="4827327"/>
                  <a:ext cx="915988" cy="520575"/>
                  <a:chOff x="1724900" y="4827327"/>
                  <a:chExt cx="915988" cy="520575"/>
                </a:xfrm>
              </p:grpSpPr>
              <p:sp>
                <p:nvSpPr>
                  <p:cNvPr id="43044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1877300" y="4827327"/>
                    <a:ext cx="0" cy="22860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endParaRPr lang="en-US"/>
                  </a:p>
                </p:txBody>
              </p:sp>
              <p:sp>
                <p:nvSpPr>
                  <p:cNvPr id="43045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2182100" y="4827327"/>
                    <a:ext cx="0" cy="22860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endParaRPr lang="en-US"/>
                  </a:p>
                </p:txBody>
              </p:sp>
              <p:sp>
                <p:nvSpPr>
                  <p:cNvPr id="43046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2486900" y="4827327"/>
                    <a:ext cx="0" cy="22860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anchor="ctr"/>
                  <a:lstStyle/>
                  <a:p>
                    <a:endParaRPr lang="en-US"/>
                  </a:p>
                </p:txBody>
              </p:sp>
              <p:sp>
                <p:nvSpPr>
                  <p:cNvPr id="43047" name="Text Box 2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24900" y="5043102"/>
                    <a:ext cx="306388" cy="3048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1pPr>
                    <a:lvl2pPr marL="742950" indent="-285750" eaLnBrk="0" hangingPunct="0"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2pPr>
                    <a:lvl3pPr marL="1143000" indent="-228600" eaLnBrk="0" hangingPunct="0"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3pPr>
                    <a:lvl4pPr marL="1600200" indent="-228600" eaLnBrk="0" hangingPunct="0"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4pPr>
                    <a:lvl5pPr marL="2057400" indent="-228600" eaLnBrk="0" hangingPunct="0"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800" i="1"/>
                      <a:t>t</a:t>
                    </a:r>
                    <a:r>
                      <a:rPr lang="en-US" altLang="en-US" sz="1800" baseline="-25000"/>
                      <a:t>1</a:t>
                    </a:r>
                    <a:endParaRPr lang="en-US" altLang="en-US" sz="1800"/>
                  </a:p>
                </p:txBody>
              </p:sp>
              <p:sp>
                <p:nvSpPr>
                  <p:cNvPr id="43048" name="Text Box 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29700" y="5043102"/>
                    <a:ext cx="306388" cy="3048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1pPr>
                    <a:lvl2pPr marL="742950" indent="-285750" eaLnBrk="0" hangingPunct="0"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2pPr>
                    <a:lvl3pPr marL="1143000" indent="-228600" eaLnBrk="0" hangingPunct="0"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3pPr>
                    <a:lvl4pPr marL="1600200" indent="-228600" eaLnBrk="0" hangingPunct="0"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4pPr>
                    <a:lvl5pPr marL="2057400" indent="-228600" eaLnBrk="0" hangingPunct="0"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800" i="1"/>
                      <a:t>t</a:t>
                    </a:r>
                    <a:r>
                      <a:rPr lang="en-US" altLang="en-US" sz="1800" baseline="-25000"/>
                      <a:t>2</a:t>
                    </a:r>
                    <a:endParaRPr lang="en-US" altLang="en-US" sz="1800"/>
                  </a:p>
                </p:txBody>
              </p:sp>
              <p:sp>
                <p:nvSpPr>
                  <p:cNvPr id="43049" name="Text Box 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34500" y="5043102"/>
                    <a:ext cx="306388" cy="30480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1pPr>
                    <a:lvl2pPr marL="742950" indent="-285750" eaLnBrk="0" hangingPunct="0"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2pPr>
                    <a:lvl3pPr marL="1143000" indent="-228600" eaLnBrk="0" hangingPunct="0"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3pPr>
                    <a:lvl4pPr marL="1600200" indent="-228600" eaLnBrk="0" hangingPunct="0"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4pPr>
                    <a:lvl5pPr marL="2057400" indent="-228600" eaLnBrk="0" hangingPunct="0"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340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9pPr>
                  </a:lstStyle>
                  <a:p>
                    <a:pPr eaLnBrk="1" hangingPunct="1"/>
                    <a:r>
                      <a:rPr lang="en-US" altLang="en-US" sz="1800" i="1"/>
                      <a:t>t</a:t>
                    </a:r>
                    <a:r>
                      <a:rPr lang="en-US" altLang="en-US" sz="1800" baseline="-25000"/>
                      <a:t>3</a:t>
                    </a:r>
                    <a:endParaRPr lang="en-US" altLang="en-US" sz="1800"/>
                  </a:p>
                </p:txBody>
              </p:sp>
            </p:grpSp>
          </p:grpSp>
        </p:grpSp>
        <p:sp>
          <p:nvSpPr>
            <p:cNvPr id="43039" name="Text Box 14"/>
            <p:cNvSpPr txBox="1">
              <a:spLocks noChangeArrowheads="1"/>
            </p:cNvSpPr>
            <p:nvPr/>
          </p:nvSpPr>
          <p:spPr bwMode="auto">
            <a:xfrm>
              <a:off x="579923" y="4881766"/>
              <a:ext cx="250766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2D56"/>
                  </a:solidFill>
                </a:rPr>
                <a:t>(a) One-period return</a:t>
              </a:r>
            </a:p>
          </p:txBody>
        </p:sp>
      </p:grpSp>
      <p:grpSp>
        <p:nvGrpSpPr>
          <p:cNvPr id="17" name="Group 80"/>
          <p:cNvGrpSpPr>
            <a:grpSpLocks/>
          </p:cNvGrpSpPr>
          <p:nvPr/>
        </p:nvGrpSpPr>
        <p:grpSpPr bwMode="auto">
          <a:xfrm>
            <a:off x="3825875" y="715962"/>
            <a:ext cx="4937125" cy="4343400"/>
            <a:chOff x="3613038" y="905494"/>
            <a:chExt cx="4937578" cy="4342985"/>
          </a:xfrm>
        </p:grpSpPr>
        <p:grpSp>
          <p:nvGrpSpPr>
            <p:cNvPr id="43023" name="Group 76"/>
            <p:cNvGrpSpPr>
              <a:grpSpLocks/>
            </p:cNvGrpSpPr>
            <p:nvPr/>
          </p:nvGrpSpPr>
          <p:grpSpPr bwMode="auto">
            <a:xfrm>
              <a:off x="3613038" y="905494"/>
              <a:ext cx="4937578" cy="4069834"/>
              <a:chOff x="3613038" y="905494"/>
              <a:chExt cx="4937578" cy="4069834"/>
            </a:xfrm>
          </p:grpSpPr>
          <p:grpSp>
            <p:nvGrpSpPr>
              <p:cNvPr id="43025" name="Group 69"/>
              <p:cNvGrpSpPr>
                <a:grpSpLocks/>
              </p:cNvGrpSpPr>
              <p:nvPr/>
            </p:nvGrpSpPr>
            <p:grpSpPr bwMode="auto">
              <a:xfrm>
                <a:off x="4563064" y="4548249"/>
                <a:ext cx="3987552" cy="427079"/>
                <a:chOff x="4563064" y="4548249"/>
                <a:chExt cx="3987552" cy="427079"/>
              </a:xfrm>
            </p:grpSpPr>
            <p:sp>
              <p:nvSpPr>
                <p:cNvPr id="43036" name="Line 4"/>
                <p:cNvSpPr>
                  <a:spLocks noChangeShapeType="1"/>
                </p:cNvSpPr>
                <p:nvPr/>
              </p:nvSpPr>
              <p:spPr bwMode="auto">
                <a:xfrm flipV="1">
                  <a:off x="4563064" y="4548249"/>
                  <a:ext cx="3797165" cy="395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en-US"/>
                </a:p>
              </p:txBody>
            </p:sp>
            <p:sp>
              <p:nvSpPr>
                <p:cNvPr id="43037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7858466" y="4608615"/>
                  <a:ext cx="692150" cy="366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altLang="en-US" sz="1800"/>
                    <a:t>Time</a:t>
                  </a:r>
                </a:p>
              </p:txBody>
            </p:sp>
          </p:grpSp>
          <p:grpSp>
            <p:nvGrpSpPr>
              <p:cNvPr id="43026" name="Group 70"/>
              <p:cNvGrpSpPr>
                <a:grpSpLocks/>
              </p:cNvGrpSpPr>
              <p:nvPr/>
            </p:nvGrpSpPr>
            <p:grpSpPr bwMode="auto">
              <a:xfrm>
                <a:off x="3613038" y="905494"/>
                <a:ext cx="1530350" cy="3646714"/>
                <a:chOff x="3613038" y="905494"/>
                <a:chExt cx="1530350" cy="3646714"/>
              </a:xfrm>
            </p:grpSpPr>
            <p:sp>
              <p:nvSpPr>
                <p:cNvPr id="43034" name="Line 3"/>
                <p:cNvSpPr>
                  <a:spLocks noChangeShapeType="1"/>
                </p:cNvSpPr>
                <p:nvPr/>
              </p:nvSpPr>
              <p:spPr bwMode="auto">
                <a:xfrm>
                  <a:off x="4560125" y="1270660"/>
                  <a:ext cx="2939" cy="328154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en-US"/>
                </a:p>
              </p:txBody>
            </p:sp>
            <p:sp>
              <p:nvSpPr>
                <p:cNvPr id="43035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3613038" y="905494"/>
                  <a:ext cx="1530350" cy="3667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altLang="en-US" sz="1800"/>
                    <a:t>Consumption</a:t>
                  </a:r>
                </a:p>
              </p:txBody>
            </p:sp>
          </p:grpSp>
          <p:grpSp>
            <p:nvGrpSpPr>
              <p:cNvPr id="43027" name="Group 71"/>
              <p:cNvGrpSpPr>
                <a:grpSpLocks/>
              </p:cNvGrpSpPr>
              <p:nvPr/>
            </p:nvGrpSpPr>
            <p:grpSpPr bwMode="auto">
              <a:xfrm>
                <a:off x="5706064" y="4399808"/>
                <a:ext cx="915988" cy="520575"/>
                <a:chOff x="5706064" y="4399808"/>
                <a:chExt cx="915988" cy="520575"/>
              </a:xfrm>
            </p:grpSpPr>
            <p:sp>
              <p:nvSpPr>
                <p:cNvPr id="43028" name="Line 18"/>
                <p:cNvSpPr>
                  <a:spLocks noChangeShapeType="1"/>
                </p:cNvSpPr>
                <p:nvPr/>
              </p:nvSpPr>
              <p:spPr bwMode="auto">
                <a:xfrm>
                  <a:off x="5858464" y="4399808"/>
                  <a:ext cx="0" cy="2286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en-US"/>
                </a:p>
              </p:txBody>
            </p:sp>
            <p:sp>
              <p:nvSpPr>
                <p:cNvPr id="43029" name="Line 19"/>
                <p:cNvSpPr>
                  <a:spLocks noChangeShapeType="1"/>
                </p:cNvSpPr>
                <p:nvPr/>
              </p:nvSpPr>
              <p:spPr bwMode="auto">
                <a:xfrm>
                  <a:off x="6163264" y="4399808"/>
                  <a:ext cx="0" cy="2286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en-US"/>
                </a:p>
              </p:txBody>
            </p:sp>
            <p:sp>
              <p:nvSpPr>
                <p:cNvPr id="43030" name="Line 20"/>
                <p:cNvSpPr>
                  <a:spLocks noChangeShapeType="1"/>
                </p:cNvSpPr>
                <p:nvPr/>
              </p:nvSpPr>
              <p:spPr bwMode="auto">
                <a:xfrm>
                  <a:off x="6468064" y="4399808"/>
                  <a:ext cx="0" cy="2286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/>
                <a:lstStyle/>
                <a:p>
                  <a:endParaRPr lang="en-US"/>
                </a:p>
              </p:txBody>
            </p:sp>
            <p:sp>
              <p:nvSpPr>
                <p:cNvPr id="43031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5706064" y="4615583"/>
                  <a:ext cx="306388" cy="3048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altLang="en-US" sz="1800" i="1"/>
                    <a:t>t</a:t>
                  </a:r>
                  <a:r>
                    <a:rPr lang="en-US" altLang="en-US" sz="1800" baseline="-25000"/>
                    <a:t>1</a:t>
                  </a:r>
                  <a:endParaRPr lang="en-US" altLang="en-US" sz="1800"/>
                </a:p>
              </p:txBody>
            </p:sp>
            <p:sp>
              <p:nvSpPr>
                <p:cNvPr id="43032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6010864" y="4615583"/>
                  <a:ext cx="306388" cy="3048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altLang="en-US" sz="1800" i="1"/>
                    <a:t>t</a:t>
                  </a:r>
                  <a:r>
                    <a:rPr lang="en-US" altLang="en-US" sz="1800" baseline="-25000"/>
                    <a:t>2</a:t>
                  </a:r>
                  <a:endParaRPr lang="en-US" altLang="en-US" sz="1800"/>
                </a:p>
              </p:txBody>
            </p:sp>
            <p:sp>
              <p:nvSpPr>
                <p:cNvPr id="43033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6315664" y="4615583"/>
                  <a:ext cx="306388" cy="3048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3400"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eaLnBrk="1" hangingPunct="1"/>
                  <a:r>
                    <a:rPr lang="en-US" altLang="en-US" sz="1800" i="1"/>
                    <a:t>t</a:t>
                  </a:r>
                  <a:r>
                    <a:rPr lang="en-US" altLang="en-US" sz="1800" baseline="-25000"/>
                    <a:t>3</a:t>
                  </a:r>
                  <a:endParaRPr lang="en-US" altLang="en-US" sz="1800"/>
                </a:p>
              </p:txBody>
            </p:sp>
          </p:grpSp>
        </p:grpSp>
        <p:sp>
          <p:nvSpPr>
            <p:cNvPr id="43024" name="Text Box 14"/>
            <p:cNvSpPr txBox="1">
              <a:spLocks noChangeArrowheads="1"/>
            </p:cNvSpPr>
            <p:nvPr/>
          </p:nvSpPr>
          <p:spPr bwMode="auto">
            <a:xfrm>
              <a:off x="4568050" y="4881766"/>
              <a:ext cx="250766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dirty="0">
                  <a:solidFill>
                    <a:srgbClr val="002D56"/>
                  </a:solidFill>
                </a:rPr>
                <a:t>(b) Perpetual return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6694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Rate of Return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Single period rate of return (</a:t>
            </a:r>
            <a:r>
              <a:rPr lang="en-US" altLang="en-US" i="1" smtClean="0"/>
              <a:t>r</a:t>
            </a:r>
            <a:r>
              <a:rPr lang="en-US" altLang="en-US" baseline="-25000" smtClean="0"/>
              <a:t>1</a:t>
            </a:r>
            <a:r>
              <a:rPr lang="en-US" altLang="en-US" smtClean="0"/>
              <a:t>) </a:t>
            </a:r>
          </a:p>
          <a:p>
            <a:pPr lvl="1"/>
            <a:r>
              <a:rPr lang="en-US" altLang="en-US" smtClean="0"/>
              <a:t>On an investment </a:t>
            </a:r>
          </a:p>
          <a:p>
            <a:pPr lvl="1"/>
            <a:r>
              <a:rPr lang="en-US" altLang="en-US" smtClean="0"/>
              <a:t>Is the extra consumption provided in period 2 as a fraction of the consumption forgone in period 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F28E513-F55F-4BD7-BA2C-04EE7F2104F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aphicFrame>
        <p:nvGraphicFramePr>
          <p:cNvPr id="142848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555328"/>
              </p:ext>
            </p:extLst>
          </p:nvPr>
        </p:nvGraphicFramePr>
        <p:xfrm>
          <a:off x="2687191" y="3841750"/>
          <a:ext cx="3113534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6368" name="Equation" r:id="rId3" imgW="1028520" imgH="393480" progId="Equation.DSMT4">
                  <p:embed/>
                </p:oleObj>
              </mc:Choice>
              <mc:Fallback>
                <p:oleObj name="Equation" r:id="rId3" imgW="10285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191" y="3841750"/>
                        <a:ext cx="3113534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193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Rate of Return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Perpetual rate of return (</a:t>
            </a:r>
            <a:r>
              <a:rPr lang="en-US" altLang="en-US" i="1" smtClean="0"/>
              <a:t>r</a:t>
            </a:r>
            <a:r>
              <a:rPr lang="en-US" altLang="en-US" baseline="-25000" smtClean="0">
                <a:sym typeface="Symbol" pitchFamily="18" charset="2"/>
              </a:rPr>
              <a:t></a:t>
            </a:r>
            <a:r>
              <a:rPr lang="en-US" altLang="en-US" smtClean="0">
                <a:sym typeface="Symbol" pitchFamily="18" charset="2"/>
              </a:rPr>
              <a:t>) </a:t>
            </a:r>
          </a:p>
          <a:p>
            <a:pPr lvl="1"/>
            <a:r>
              <a:rPr lang="en-US" altLang="en-US" smtClean="0">
                <a:sym typeface="Symbol" pitchFamily="18" charset="2"/>
              </a:rPr>
              <a:t>Is the permanent increment to future consumption expressed as a fraction of the initial consumption foregone</a:t>
            </a:r>
            <a:endParaRPr lang="en-US" alt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5D6A1A7-7398-4345-BB7D-D01C05E57FA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graphicFrame>
        <p:nvGraphicFramePr>
          <p:cNvPr id="142950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336573"/>
              </p:ext>
            </p:extLst>
          </p:nvPr>
        </p:nvGraphicFramePr>
        <p:xfrm>
          <a:off x="3767302" y="3389313"/>
          <a:ext cx="1385723" cy="1258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7392" name="Equation" r:id="rId3" imgW="431640" imgH="393480" progId="Equation.DSMT4">
                  <p:embed/>
                </p:oleObj>
              </mc:Choice>
              <mc:Fallback>
                <p:oleObj name="Equation" r:id="rId3" imgW="4316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7302" y="3389313"/>
                        <a:ext cx="1385723" cy="1258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6900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Rate of Return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Rate of return to capital accumulation</a:t>
            </a:r>
          </a:p>
          <a:p>
            <a:pPr lvl="1"/>
            <a:r>
              <a:rPr lang="en-US" altLang="en-US" smtClean="0"/>
              <a:t>Something between these two extremes</a:t>
            </a:r>
          </a:p>
          <a:p>
            <a:pPr lvl="1"/>
            <a:r>
              <a:rPr lang="en-US" altLang="en-US" smtClean="0"/>
              <a:t>A measure of the terms at which consumption today may be turned into consumption tomorrow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9237089-FE20-4D4C-A1DB-B97815A012A2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166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3800" smtClean="0"/>
              <a:t>Rate of Return and Price of Future Goods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Assume that there are only two periods</a:t>
            </a:r>
          </a:p>
          <a:p>
            <a:pPr lvl="1"/>
            <a:r>
              <a:rPr lang="en-US" altLang="en-US" smtClean="0"/>
              <a:t>The rate of return between these two periods (</a:t>
            </a:r>
            <a:r>
              <a:rPr lang="en-US" altLang="en-US" i="1" smtClean="0"/>
              <a:t>r</a:t>
            </a:r>
            <a:r>
              <a:rPr lang="en-US" altLang="en-US" smtClean="0"/>
              <a:t>) is defined to be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CC0A1D5-0EE2-49C5-8401-EAB0E8994B61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1"/>
            <a:r>
              <a:rPr lang="en-US" kern="0" dirty="0"/>
              <a:t>Rewriting, we get</a:t>
            </a:r>
          </a:p>
          <a:p>
            <a:pPr lvl="1"/>
            <a:endParaRPr lang="en-US" dirty="0"/>
          </a:p>
        </p:txBody>
      </p:sp>
      <p:graphicFrame>
        <p:nvGraphicFramePr>
          <p:cNvPr id="143155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0746481"/>
              </p:ext>
            </p:extLst>
          </p:nvPr>
        </p:nvGraphicFramePr>
        <p:xfrm>
          <a:off x="3165475" y="2933700"/>
          <a:ext cx="166846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30" name="Equation" r:id="rId3" imgW="698400" imgH="431640" progId="Equation.DSMT4">
                  <p:embed/>
                </p:oleObj>
              </mc:Choice>
              <mc:Fallback>
                <p:oleObj name="Equation" r:id="rId3" imgW="6984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5475" y="2933700"/>
                        <a:ext cx="1668463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1558" name="Object 3"/>
          <p:cNvGraphicFramePr>
            <a:graphicFrameLocks noChangeAspect="1"/>
          </p:cNvGraphicFramePr>
          <p:nvPr/>
        </p:nvGraphicFramePr>
        <p:xfrm>
          <a:off x="3148013" y="4725988"/>
          <a:ext cx="1768475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31" name="Equation" r:id="rId5" imgW="723600" imgH="431640" progId="Equation.DSMT4">
                  <p:embed/>
                </p:oleObj>
              </mc:Choice>
              <mc:Fallback>
                <p:oleObj name="Equation" r:id="rId5" imgW="723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013" y="4725988"/>
                        <a:ext cx="1768475" cy="1049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838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3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3800" smtClean="0"/>
              <a:t>Rate of Return and Price of Future Goods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Relative price of future goods (</a:t>
            </a:r>
            <a:r>
              <a:rPr lang="en-US" altLang="en-US" i="1" smtClean="0"/>
              <a:t>p</a:t>
            </a:r>
            <a:r>
              <a:rPr lang="en-US" altLang="en-US" baseline="-25000" smtClean="0"/>
              <a:t>1</a:t>
            </a:r>
            <a:r>
              <a:rPr lang="en-US" altLang="en-US" smtClean="0"/>
              <a:t>)</a:t>
            </a:r>
          </a:p>
          <a:p>
            <a:pPr lvl="1"/>
            <a:r>
              <a:rPr lang="en-US" altLang="en-US" smtClean="0"/>
              <a:t>Is the quantity of present goods that must be foregone to increase future consumption by one unit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310D61-DCE4-4BBF-9973-F8A00CFE59A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aphicFrame>
        <p:nvGraphicFramePr>
          <p:cNvPr id="1432582" name="Object 2"/>
          <p:cNvGraphicFramePr>
            <a:graphicFrameLocks noChangeAspect="1"/>
          </p:cNvGraphicFramePr>
          <p:nvPr/>
        </p:nvGraphicFramePr>
        <p:xfrm>
          <a:off x="1908175" y="3394075"/>
          <a:ext cx="2462213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39" name="Equation" r:id="rId3" imgW="1015920" imgH="431640" progId="Equation.DSMT4">
                  <p:embed/>
                </p:oleObj>
              </mc:Choice>
              <mc:Fallback>
                <p:oleObj name="Equation" r:id="rId3" imgW="10159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394075"/>
                        <a:ext cx="2462213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615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Demand for Future Goods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An individual’s utility </a:t>
            </a:r>
          </a:p>
          <a:p>
            <a:pPr lvl="1"/>
            <a:r>
              <a:rPr lang="en-US" altLang="en-US" smtClean="0"/>
              <a:t>Depends on present and future consumption, </a:t>
            </a:r>
            <a:r>
              <a:rPr lang="en-US" altLang="en-US" sz="2800" i="1" smtClean="0">
                <a:solidFill>
                  <a:srgbClr val="FF0000"/>
                </a:solidFill>
              </a:rPr>
              <a:t>U = u</a:t>
            </a:r>
            <a:r>
              <a:rPr lang="en-US" altLang="en-US" sz="2800" smtClean="0">
                <a:solidFill>
                  <a:srgbClr val="FF0000"/>
                </a:solidFill>
              </a:rPr>
              <a:t>(</a:t>
            </a:r>
            <a:r>
              <a:rPr lang="en-US" altLang="en-US" sz="2800" i="1" smtClean="0">
                <a:solidFill>
                  <a:srgbClr val="FF0000"/>
                </a:solidFill>
              </a:rPr>
              <a:t>c</a:t>
            </a:r>
            <a:r>
              <a:rPr lang="en-US" altLang="en-US" sz="2800" baseline="-25000" smtClean="0">
                <a:solidFill>
                  <a:srgbClr val="FF0000"/>
                </a:solidFill>
              </a:rPr>
              <a:t>0</a:t>
            </a:r>
            <a:r>
              <a:rPr lang="en-US" altLang="en-US" sz="2800" smtClean="0">
                <a:solidFill>
                  <a:srgbClr val="FF0000"/>
                </a:solidFill>
              </a:rPr>
              <a:t>,</a:t>
            </a:r>
            <a:r>
              <a:rPr lang="en-US" altLang="en-US" sz="2800" i="1" smtClean="0">
                <a:solidFill>
                  <a:srgbClr val="FF0000"/>
                </a:solidFill>
              </a:rPr>
              <a:t>c</a:t>
            </a:r>
            <a:r>
              <a:rPr lang="en-US" altLang="en-US" sz="2800" baseline="-25000" smtClean="0">
                <a:solidFill>
                  <a:srgbClr val="FF0000"/>
                </a:solidFill>
              </a:rPr>
              <a:t>1</a:t>
            </a:r>
            <a:r>
              <a:rPr lang="en-US" altLang="en-US" sz="2800" smtClean="0">
                <a:solidFill>
                  <a:srgbClr val="FF0000"/>
                </a:solidFill>
              </a:rPr>
              <a:t>)</a:t>
            </a:r>
            <a:endParaRPr lang="en-US" altLang="en-US" smtClean="0">
              <a:solidFill>
                <a:srgbClr val="FF0000"/>
              </a:solidFill>
            </a:endParaRPr>
          </a:p>
          <a:p>
            <a:pPr lvl="1"/>
            <a:r>
              <a:rPr lang="en-US" altLang="en-US" smtClean="0"/>
              <a:t>And the individual must decide how much current wealth (</a:t>
            </a:r>
            <a:r>
              <a:rPr lang="en-US" altLang="en-US" i="1" smtClean="0"/>
              <a:t>W</a:t>
            </a:r>
            <a:r>
              <a:rPr lang="en-US" altLang="en-US" smtClean="0"/>
              <a:t>) to devote to these two goods</a:t>
            </a:r>
          </a:p>
          <a:p>
            <a:r>
              <a:rPr lang="en-US" altLang="en-US" smtClean="0"/>
              <a:t>The budget constraint: </a:t>
            </a:r>
            <a:r>
              <a:rPr lang="en-US" altLang="en-US" sz="2800" i="1" smtClean="0">
                <a:solidFill>
                  <a:srgbClr val="FF0000"/>
                </a:solidFill>
              </a:rPr>
              <a:t>W = c</a:t>
            </a:r>
            <a:r>
              <a:rPr lang="en-US" altLang="en-US" sz="2800" baseline="-25000" smtClean="0">
                <a:solidFill>
                  <a:srgbClr val="FF0000"/>
                </a:solidFill>
              </a:rPr>
              <a:t>0</a:t>
            </a:r>
            <a:r>
              <a:rPr lang="en-US" altLang="en-US" sz="2800" smtClean="0">
                <a:solidFill>
                  <a:srgbClr val="FF0000"/>
                </a:solidFill>
              </a:rPr>
              <a:t> + </a:t>
            </a:r>
            <a:r>
              <a:rPr lang="en-US" altLang="en-US" sz="2800" i="1" smtClean="0">
                <a:solidFill>
                  <a:srgbClr val="FF0000"/>
                </a:solidFill>
              </a:rPr>
              <a:t>p</a:t>
            </a:r>
            <a:r>
              <a:rPr lang="en-US" altLang="en-US" sz="2800" baseline="-25000" smtClean="0">
                <a:solidFill>
                  <a:srgbClr val="FF0000"/>
                </a:solidFill>
              </a:rPr>
              <a:t>1</a:t>
            </a:r>
            <a:r>
              <a:rPr lang="en-US" altLang="en-US" sz="2800" i="1" smtClean="0">
                <a:solidFill>
                  <a:srgbClr val="FF0000"/>
                </a:solidFill>
              </a:rPr>
              <a:t>c</a:t>
            </a:r>
            <a:r>
              <a:rPr lang="en-US" altLang="en-US" sz="2800" baseline="-25000" smtClean="0">
                <a:solidFill>
                  <a:srgbClr val="FF0000"/>
                </a:solidFill>
              </a:rPr>
              <a:t>1</a:t>
            </a:r>
            <a:endParaRPr lang="en-US" altLang="en-US" smtClean="0">
              <a:solidFill>
                <a:srgbClr val="FF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B71984-BF7D-417C-9DCA-85E8A1A7C66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40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17.2	Individual’s Intertemporal Utility 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Maximization</a:t>
            </a:r>
            <a:endParaRPr lang="en-US" altLang="en-US" dirty="0" smtClean="0">
              <a:solidFill>
                <a:srgbClr val="002D56"/>
              </a:solidFill>
            </a:endParaRPr>
          </a:p>
        </p:txBody>
      </p:sp>
      <p:sp>
        <p:nvSpPr>
          <p:cNvPr id="46083" name="Text Placeholder 2"/>
          <p:cNvSpPr>
            <a:spLocks noGrp="1"/>
          </p:cNvSpPr>
          <p:nvPr>
            <p:ph sz="half" idx="1"/>
          </p:nvPr>
        </p:nvSpPr>
        <p:spPr>
          <a:xfrm>
            <a:off x="5486400" y="1600200"/>
            <a:ext cx="3505200" cy="4525963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When faced with the intertemporal budget constraint W = c</a:t>
            </a:r>
            <a:r>
              <a:rPr lang="en-US" altLang="en-US" baseline="-25000" dirty="0"/>
              <a:t>0</a:t>
            </a:r>
            <a:r>
              <a:rPr lang="en-US" altLang="en-US" dirty="0"/>
              <a:t> + p</a:t>
            </a:r>
            <a:r>
              <a:rPr lang="en-US" altLang="en-US" baseline="-25000" dirty="0"/>
              <a:t>1</a:t>
            </a:r>
            <a:r>
              <a:rPr lang="en-US" altLang="en-US" dirty="0"/>
              <a:t>c</a:t>
            </a:r>
            <a:r>
              <a:rPr lang="en-US" altLang="en-US" baseline="-25000" dirty="0"/>
              <a:t>1</a:t>
            </a:r>
            <a:r>
              <a:rPr lang="en-US" altLang="en-US" dirty="0"/>
              <a:t>, the individual will maximize utility by choosing to consume c</a:t>
            </a:r>
            <a:r>
              <a:rPr lang="en-US" altLang="en-US" baseline="-25000" dirty="0"/>
              <a:t>0</a:t>
            </a:r>
            <a:r>
              <a:rPr lang="en-US" altLang="en-US" dirty="0"/>
              <a:t>* currently and c</a:t>
            </a:r>
            <a:r>
              <a:rPr lang="en-US" altLang="en-US" baseline="-25000" dirty="0"/>
              <a:t>1</a:t>
            </a:r>
            <a:r>
              <a:rPr lang="en-US" altLang="en-US" dirty="0"/>
              <a:t>* in the next period. A decrease in p</a:t>
            </a:r>
            <a:r>
              <a:rPr lang="en-US" altLang="en-US" baseline="-25000" dirty="0"/>
              <a:t>1</a:t>
            </a:r>
            <a:r>
              <a:rPr lang="en-US" altLang="en-US" dirty="0"/>
              <a:t> (an increase in the rate of return, r) will cause c</a:t>
            </a:r>
            <a:r>
              <a:rPr lang="en-US" altLang="en-US" baseline="-25000" dirty="0"/>
              <a:t>1</a:t>
            </a:r>
            <a:r>
              <a:rPr lang="en-US" altLang="en-US" dirty="0"/>
              <a:t> to increase, but the effect on c</a:t>
            </a:r>
            <a:r>
              <a:rPr lang="en-US" altLang="en-US" baseline="-25000" dirty="0"/>
              <a:t>0</a:t>
            </a:r>
            <a:r>
              <a:rPr lang="en-US" altLang="en-US" dirty="0"/>
              <a:t> is indeterminate because substitution and income effects operate in opposite directions (assuming that both c</a:t>
            </a:r>
            <a:r>
              <a:rPr lang="en-US" altLang="en-US" baseline="-25000" dirty="0"/>
              <a:t>0</a:t>
            </a:r>
            <a:r>
              <a:rPr lang="en-US" altLang="en-US" dirty="0"/>
              <a:t> and c</a:t>
            </a:r>
            <a:r>
              <a:rPr lang="en-US" altLang="en-US" baseline="-25000" dirty="0"/>
              <a:t>1</a:t>
            </a:r>
            <a:r>
              <a:rPr lang="en-US" altLang="en-US" dirty="0"/>
              <a:t> are normal goods).</a:t>
            </a:r>
          </a:p>
          <a:p>
            <a:pPr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46086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4C84C6-3531-4480-904E-99412806CCB9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184150" y="850900"/>
            <a:ext cx="4252061" cy="4849747"/>
            <a:chOff x="1590768" y="850136"/>
            <a:chExt cx="4252366" cy="4850621"/>
          </a:xfrm>
        </p:grpSpPr>
        <p:grpSp>
          <p:nvGrpSpPr>
            <p:cNvPr id="46111" name="Group 28"/>
            <p:cNvGrpSpPr>
              <a:grpSpLocks/>
            </p:cNvGrpSpPr>
            <p:nvPr/>
          </p:nvGrpSpPr>
          <p:grpSpPr bwMode="auto">
            <a:xfrm>
              <a:off x="2396837" y="4876800"/>
              <a:ext cx="3446297" cy="823957"/>
              <a:chOff x="2396837" y="4876800"/>
              <a:chExt cx="3446297" cy="823957"/>
            </a:xfrm>
          </p:grpSpPr>
          <p:sp>
            <p:nvSpPr>
              <p:cNvPr id="46115" name="Line 4"/>
              <p:cNvSpPr>
                <a:spLocks noChangeShapeType="1"/>
              </p:cNvSpPr>
              <p:nvPr/>
            </p:nvSpPr>
            <p:spPr bwMode="auto">
              <a:xfrm>
                <a:off x="2396837" y="4876800"/>
                <a:ext cx="34290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116" name="Text Box 5"/>
              <p:cNvSpPr txBox="1">
                <a:spLocks noChangeArrowheads="1"/>
              </p:cNvSpPr>
              <p:nvPr/>
            </p:nvSpPr>
            <p:spPr bwMode="auto">
              <a:xfrm>
                <a:off x="3059361" y="5334044"/>
                <a:ext cx="2783773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 dirty="0"/>
                  <a:t>Current consumption (c</a:t>
                </a:r>
                <a:r>
                  <a:rPr lang="en-US" altLang="en-US" sz="1800" baseline="-25000" dirty="0"/>
                  <a:t>0</a:t>
                </a:r>
                <a:r>
                  <a:rPr lang="en-US" altLang="en-US" sz="1800" dirty="0"/>
                  <a:t>)</a:t>
                </a:r>
              </a:p>
            </p:txBody>
          </p:sp>
        </p:grpSp>
        <p:grpSp>
          <p:nvGrpSpPr>
            <p:cNvPr id="46112" name="Group 27"/>
            <p:cNvGrpSpPr>
              <a:grpSpLocks/>
            </p:cNvGrpSpPr>
            <p:nvPr/>
          </p:nvGrpSpPr>
          <p:grpSpPr bwMode="auto">
            <a:xfrm>
              <a:off x="1590768" y="850136"/>
              <a:ext cx="2699657" cy="4026664"/>
              <a:chOff x="1590768" y="850136"/>
              <a:chExt cx="2699657" cy="4026664"/>
            </a:xfrm>
          </p:grpSpPr>
          <p:sp>
            <p:nvSpPr>
              <p:cNvPr id="46113" name="Line 3"/>
              <p:cNvSpPr>
                <a:spLocks noChangeShapeType="1"/>
              </p:cNvSpPr>
              <p:nvPr/>
            </p:nvSpPr>
            <p:spPr bwMode="auto">
              <a:xfrm>
                <a:off x="2396837" y="1219200"/>
                <a:ext cx="0" cy="36576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46114" name="Text Box 6"/>
              <p:cNvSpPr txBox="1">
                <a:spLocks noChangeArrowheads="1"/>
              </p:cNvSpPr>
              <p:nvPr/>
            </p:nvSpPr>
            <p:spPr bwMode="auto">
              <a:xfrm>
                <a:off x="1590768" y="850136"/>
                <a:ext cx="2699657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Future Consumption (c</a:t>
                </a:r>
                <a:r>
                  <a:rPr lang="en-US" altLang="en-US" sz="1800" baseline="-25000"/>
                  <a:t>1</a:t>
                </a:r>
                <a:r>
                  <a:rPr lang="en-US" altLang="en-US" sz="1800"/>
                  <a:t>)</a:t>
                </a:r>
              </a:p>
            </p:txBody>
          </p:sp>
        </p:grpSp>
      </p:grp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152400" y="1219200"/>
            <a:ext cx="3751263" cy="3978275"/>
            <a:chOff x="1558637" y="1219200"/>
            <a:chExt cx="3751263" cy="3978275"/>
          </a:xfrm>
        </p:grpSpPr>
        <p:sp>
          <p:nvSpPr>
            <p:cNvPr id="46106" name="Line 7"/>
            <p:cNvSpPr>
              <a:spLocks noChangeShapeType="1"/>
            </p:cNvSpPr>
            <p:nvPr/>
          </p:nvSpPr>
          <p:spPr bwMode="auto">
            <a:xfrm>
              <a:off x="2396837" y="2209800"/>
              <a:ext cx="2743200" cy="2667000"/>
            </a:xfrm>
            <a:prstGeom prst="line">
              <a:avLst/>
            </a:prstGeom>
            <a:noFill/>
            <a:ln w="28575">
              <a:solidFill>
                <a:srgbClr val="177B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07" name="Text Box 15"/>
            <p:cNvSpPr txBox="1">
              <a:spLocks noChangeArrowheads="1"/>
            </p:cNvSpPr>
            <p:nvPr/>
          </p:nvSpPr>
          <p:spPr bwMode="auto">
            <a:xfrm>
              <a:off x="4987637" y="4892675"/>
              <a:ext cx="32226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W</a:t>
              </a:r>
            </a:p>
          </p:txBody>
        </p:sp>
        <p:sp>
          <p:nvSpPr>
            <p:cNvPr id="46108" name="Text Box 16"/>
            <p:cNvSpPr txBox="1">
              <a:spLocks noChangeArrowheads="1"/>
            </p:cNvSpPr>
            <p:nvPr/>
          </p:nvSpPr>
          <p:spPr bwMode="auto">
            <a:xfrm>
              <a:off x="1558637" y="1997075"/>
              <a:ext cx="8382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r" eaLnBrk="1" hangingPunct="1"/>
              <a:r>
                <a:rPr lang="en-US" altLang="en-US" sz="1800" i="1"/>
                <a:t>W</a:t>
              </a:r>
              <a:r>
                <a:rPr lang="en-US" altLang="en-US" sz="1800"/>
                <a:t>/</a:t>
              </a:r>
              <a:r>
                <a:rPr lang="en-US" altLang="en-US" sz="1800" i="1"/>
                <a:t>p</a:t>
              </a:r>
              <a:r>
                <a:rPr lang="en-US" altLang="en-US" sz="1800" baseline="-25000"/>
                <a:t>1</a:t>
              </a:r>
              <a:endParaRPr lang="en-US" altLang="en-US" sz="1800" i="1"/>
            </a:p>
          </p:txBody>
        </p:sp>
        <p:sp>
          <p:nvSpPr>
            <p:cNvPr id="46109" name="Text Box 17"/>
            <p:cNvSpPr txBox="1">
              <a:spLocks noChangeArrowheads="1"/>
            </p:cNvSpPr>
            <p:nvPr/>
          </p:nvSpPr>
          <p:spPr bwMode="auto">
            <a:xfrm>
              <a:off x="2777837" y="1219200"/>
              <a:ext cx="14255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177B21"/>
                  </a:solidFill>
                </a:rPr>
                <a:t>W = c</a:t>
              </a:r>
              <a:r>
                <a:rPr lang="en-US" altLang="en-US" sz="1800" baseline="-25000">
                  <a:solidFill>
                    <a:srgbClr val="177B21"/>
                  </a:solidFill>
                </a:rPr>
                <a:t>0</a:t>
              </a:r>
              <a:r>
                <a:rPr lang="en-US" altLang="en-US" sz="1800">
                  <a:solidFill>
                    <a:srgbClr val="177B21"/>
                  </a:solidFill>
                </a:rPr>
                <a:t> + </a:t>
              </a:r>
              <a:r>
                <a:rPr lang="en-US" altLang="en-US" sz="1800" i="1">
                  <a:solidFill>
                    <a:srgbClr val="177B21"/>
                  </a:solidFill>
                </a:rPr>
                <a:t>p</a:t>
              </a:r>
              <a:r>
                <a:rPr lang="en-US" altLang="en-US" sz="1800" baseline="-25000">
                  <a:solidFill>
                    <a:srgbClr val="177B21"/>
                  </a:solidFill>
                </a:rPr>
                <a:t>1</a:t>
              </a:r>
              <a:r>
                <a:rPr lang="en-US" altLang="en-US" sz="1800" i="1">
                  <a:solidFill>
                    <a:srgbClr val="177B21"/>
                  </a:solidFill>
                </a:rPr>
                <a:t>c</a:t>
              </a:r>
              <a:r>
                <a:rPr lang="en-US" altLang="en-US" sz="1800" baseline="-25000">
                  <a:solidFill>
                    <a:srgbClr val="177B21"/>
                  </a:solidFill>
                </a:rPr>
                <a:t>1</a:t>
              </a:r>
              <a:endParaRPr lang="en-US" altLang="en-US" sz="1800" i="1">
                <a:solidFill>
                  <a:srgbClr val="177B21"/>
                </a:solidFill>
              </a:endParaRPr>
            </a:p>
          </p:txBody>
        </p:sp>
        <p:sp>
          <p:nvSpPr>
            <p:cNvPr id="46110" name="Line 18"/>
            <p:cNvSpPr>
              <a:spLocks noChangeShapeType="1"/>
            </p:cNvSpPr>
            <p:nvPr/>
          </p:nvSpPr>
          <p:spPr bwMode="auto">
            <a:xfrm flipH="1">
              <a:off x="2549237" y="1524000"/>
              <a:ext cx="457200" cy="762000"/>
            </a:xfrm>
            <a:prstGeom prst="line">
              <a:avLst/>
            </a:prstGeom>
            <a:noFill/>
            <a:ln w="19050">
              <a:solidFill>
                <a:srgbClr val="177B2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  <p:grpSp>
        <p:nvGrpSpPr>
          <p:cNvPr id="8" name="Group 34"/>
          <p:cNvGrpSpPr>
            <a:grpSpLocks/>
          </p:cNvGrpSpPr>
          <p:nvPr/>
        </p:nvGrpSpPr>
        <p:grpSpPr bwMode="auto">
          <a:xfrm>
            <a:off x="1439863" y="1600200"/>
            <a:ext cx="3463925" cy="2698750"/>
            <a:chOff x="2845609" y="1600200"/>
            <a:chExt cx="3464416" cy="2698750"/>
          </a:xfrm>
        </p:grpSpPr>
        <p:sp>
          <p:nvSpPr>
            <p:cNvPr id="46104" name="Text Box 13"/>
            <p:cNvSpPr txBox="1">
              <a:spLocks noChangeArrowheads="1"/>
            </p:cNvSpPr>
            <p:nvPr/>
          </p:nvSpPr>
          <p:spPr bwMode="auto">
            <a:xfrm>
              <a:off x="5902037" y="3962400"/>
              <a:ext cx="4079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5D0D8F"/>
                  </a:solidFill>
                </a:rPr>
                <a:t>U</a:t>
              </a:r>
              <a:r>
                <a:rPr lang="en-US" altLang="en-US" sz="1800" baseline="-25000">
                  <a:solidFill>
                    <a:srgbClr val="5D0D8F"/>
                  </a:solidFill>
                </a:rPr>
                <a:t>1</a:t>
              </a:r>
              <a:endParaRPr lang="en-US" altLang="en-US" sz="1800" i="1">
                <a:solidFill>
                  <a:srgbClr val="5D0D8F"/>
                </a:solidFill>
              </a:endParaRPr>
            </a:p>
          </p:txBody>
        </p:sp>
        <p:sp>
          <p:nvSpPr>
            <p:cNvPr id="46105" name="Freeform 22"/>
            <p:cNvSpPr>
              <a:spLocks/>
            </p:cNvSpPr>
            <p:nvPr/>
          </p:nvSpPr>
          <p:spPr bwMode="auto">
            <a:xfrm>
              <a:off x="2845609" y="1600200"/>
              <a:ext cx="3048000" cy="2590800"/>
            </a:xfrm>
            <a:custGeom>
              <a:avLst/>
              <a:gdLst>
                <a:gd name="T0" fmla="*/ 0 w 1920"/>
                <a:gd name="T1" fmla="*/ 0 h 1632"/>
                <a:gd name="T2" fmla="*/ 914400 w 1920"/>
                <a:gd name="T3" fmla="*/ 1905000 h 1632"/>
                <a:gd name="T4" fmla="*/ 3048000 w 1920"/>
                <a:gd name="T5" fmla="*/ 2590800 h 1632"/>
                <a:gd name="T6" fmla="*/ 0 60000 65536"/>
                <a:gd name="T7" fmla="*/ 0 60000 65536"/>
                <a:gd name="T8" fmla="*/ 0 60000 65536"/>
                <a:gd name="T9" fmla="*/ 0 w 1920"/>
                <a:gd name="T10" fmla="*/ 0 h 1632"/>
                <a:gd name="T11" fmla="*/ 1920 w 1920"/>
                <a:gd name="T12" fmla="*/ 1632 h 16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0" h="1632">
                  <a:moveTo>
                    <a:pt x="0" y="0"/>
                  </a:moveTo>
                  <a:cubicBezTo>
                    <a:pt x="128" y="464"/>
                    <a:pt x="256" y="928"/>
                    <a:pt x="576" y="1200"/>
                  </a:cubicBezTo>
                  <a:cubicBezTo>
                    <a:pt x="896" y="1472"/>
                    <a:pt x="1408" y="1552"/>
                    <a:pt x="1920" y="1632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" name="Group 33"/>
          <p:cNvGrpSpPr>
            <a:grpSpLocks/>
          </p:cNvGrpSpPr>
          <p:nvPr/>
        </p:nvGrpSpPr>
        <p:grpSpPr bwMode="auto">
          <a:xfrm>
            <a:off x="1143000" y="1905000"/>
            <a:ext cx="3455988" cy="2774950"/>
            <a:chOff x="2549237" y="1905000"/>
            <a:chExt cx="3455988" cy="2774950"/>
          </a:xfrm>
        </p:grpSpPr>
        <p:sp>
          <p:nvSpPr>
            <p:cNvPr id="46102" name="Text Box 12"/>
            <p:cNvSpPr txBox="1">
              <a:spLocks noChangeArrowheads="1"/>
            </p:cNvSpPr>
            <p:nvPr/>
          </p:nvSpPr>
          <p:spPr bwMode="auto">
            <a:xfrm>
              <a:off x="5597237" y="4343400"/>
              <a:ext cx="4079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5D0D8F"/>
                  </a:solidFill>
                </a:rPr>
                <a:t>U</a:t>
              </a:r>
              <a:r>
                <a:rPr lang="en-US" altLang="en-US" sz="1800" baseline="-25000">
                  <a:solidFill>
                    <a:srgbClr val="5D0D8F"/>
                  </a:solidFill>
                </a:rPr>
                <a:t>0</a:t>
              </a:r>
              <a:endParaRPr lang="en-US" altLang="en-US" sz="1800" i="1">
                <a:solidFill>
                  <a:srgbClr val="5D0D8F"/>
                </a:solidFill>
              </a:endParaRPr>
            </a:p>
          </p:txBody>
        </p:sp>
        <p:sp>
          <p:nvSpPr>
            <p:cNvPr id="46103" name="Freeform 23"/>
            <p:cNvSpPr>
              <a:spLocks/>
            </p:cNvSpPr>
            <p:nvPr/>
          </p:nvSpPr>
          <p:spPr bwMode="auto">
            <a:xfrm>
              <a:off x="2549237" y="1905000"/>
              <a:ext cx="3048000" cy="2590800"/>
            </a:xfrm>
            <a:custGeom>
              <a:avLst/>
              <a:gdLst>
                <a:gd name="T0" fmla="*/ 0 w 1920"/>
                <a:gd name="T1" fmla="*/ 0 h 1632"/>
                <a:gd name="T2" fmla="*/ 914400 w 1920"/>
                <a:gd name="T3" fmla="*/ 1905000 h 1632"/>
                <a:gd name="T4" fmla="*/ 3048000 w 1920"/>
                <a:gd name="T5" fmla="*/ 2590800 h 1632"/>
                <a:gd name="T6" fmla="*/ 0 60000 65536"/>
                <a:gd name="T7" fmla="*/ 0 60000 65536"/>
                <a:gd name="T8" fmla="*/ 0 60000 65536"/>
                <a:gd name="T9" fmla="*/ 0 w 1920"/>
                <a:gd name="T10" fmla="*/ 0 h 1632"/>
                <a:gd name="T11" fmla="*/ 1920 w 1920"/>
                <a:gd name="T12" fmla="*/ 1632 h 16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0" h="1632">
                  <a:moveTo>
                    <a:pt x="0" y="0"/>
                  </a:moveTo>
                  <a:cubicBezTo>
                    <a:pt x="128" y="464"/>
                    <a:pt x="256" y="928"/>
                    <a:pt x="576" y="1200"/>
                  </a:cubicBezTo>
                  <a:cubicBezTo>
                    <a:pt x="896" y="1472"/>
                    <a:pt x="1408" y="1552"/>
                    <a:pt x="1920" y="1632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" name="Group 30"/>
          <p:cNvGrpSpPr>
            <a:grpSpLocks/>
          </p:cNvGrpSpPr>
          <p:nvPr/>
        </p:nvGrpSpPr>
        <p:grpSpPr bwMode="auto">
          <a:xfrm>
            <a:off x="573088" y="3292475"/>
            <a:ext cx="1712912" cy="304800"/>
            <a:chOff x="1980212" y="3292475"/>
            <a:chExt cx="1712025" cy="304800"/>
          </a:xfrm>
        </p:grpSpPr>
        <p:sp>
          <p:nvSpPr>
            <p:cNvPr id="46100" name="Line 10"/>
            <p:cNvSpPr>
              <a:spLocks noChangeShapeType="1"/>
            </p:cNvSpPr>
            <p:nvPr/>
          </p:nvSpPr>
          <p:spPr bwMode="auto">
            <a:xfrm flipH="1">
              <a:off x="2473037" y="3429000"/>
              <a:ext cx="1219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01" name="Text Box 21"/>
            <p:cNvSpPr txBox="1">
              <a:spLocks noChangeArrowheads="1"/>
            </p:cNvSpPr>
            <p:nvPr/>
          </p:nvSpPr>
          <p:spPr bwMode="auto">
            <a:xfrm>
              <a:off x="1980212" y="3292475"/>
              <a:ext cx="4159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c</a:t>
              </a:r>
              <a:r>
                <a:rPr lang="en-US" altLang="en-US" sz="1800" baseline="-25000"/>
                <a:t>1</a:t>
              </a:r>
              <a:r>
                <a:rPr lang="en-US" altLang="en-US" sz="1800"/>
                <a:t>*</a:t>
              </a:r>
              <a:endParaRPr lang="en-US" altLang="en-US" sz="1800" i="1"/>
            </a:p>
          </p:txBody>
        </p:sp>
      </p:grpSp>
      <p:grpSp>
        <p:nvGrpSpPr>
          <p:cNvPr id="11" name="Group 32"/>
          <p:cNvGrpSpPr>
            <a:grpSpLocks/>
          </p:cNvGrpSpPr>
          <p:nvPr/>
        </p:nvGrpSpPr>
        <p:grpSpPr bwMode="auto">
          <a:xfrm>
            <a:off x="2057400" y="3238500"/>
            <a:ext cx="563563" cy="1958975"/>
            <a:chOff x="3463637" y="3238500"/>
            <a:chExt cx="563563" cy="1958975"/>
          </a:xfrm>
        </p:grpSpPr>
        <p:grpSp>
          <p:nvGrpSpPr>
            <p:cNvPr id="46096" name="Group 31"/>
            <p:cNvGrpSpPr>
              <a:grpSpLocks/>
            </p:cNvGrpSpPr>
            <p:nvPr/>
          </p:nvGrpSpPr>
          <p:grpSpPr bwMode="auto">
            <a:xfrm>
              <a:off x="3463637" y="3429000"/>
              <a:ext cx="563563" cy="1768475"/>
              <a:chOff x="3463637" y="3429000"/>
              <a:chExt cx="563563" cy="1768475"/>
            </a:xfrm>
          </p:grpSpPr>
          <p:sp>
            <p:nvSpPr>
              <p:cNvPr id="46098" name="Line 11"/>
              <p:cNvSpPr>
                <a:spLocks noChangeShapeType="1"/>
              </p:cNvSpPr>
              <p:nvPr/>
            </p:nvSpPr>
            <p:spPr bwMode="auto">
              <a:xfrm>
                <a:off x="3692237" y="3429000"/>
                <a:ext cx="0" cy="14478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46099" name="Text Box 20"/>
              <p:cNvSpPr txBox="1">
                <a:spLocks noChangeArrowheads="1"/>
              </p:cNvSpPr>
              <p:nvPr/>
            </p:nvSpPr>
            <p:spPr bwMode="auto">
              <a:xfrm>
                <a:off x="3463637" y="4892675"/>
                <a:ext cx="563563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 i="1"/>
                  <a:t>c</a:t>
                </a:r>
                <a:r>
                  <a:rPr lang="en-US" altLang="en-US" sz="1800" baseline="-25000"/>
                  <a:t>0</a:t>
                </a:r>
                <a:r>
                  <a:rPr lang="en-US" altLang="en-US" sz="1800"/>
                  <a:t>*</a:t>
                </a:r>
                <a:endParaRPr lang="en-US" altLang="en-US" sz="1800" i="1"/>
              </a:p>
            </p:txBody>
          </p:sp>
        </p:grpSp>
        <p:sp>
          <p:nvSpPr>
            <p:cNvPr id="46097" name="Text Box 14"/>
            <p:cNvSpPr txBox="1">
              <a:spLocks noChangeArrowheads="1"/>
            </p:cNvSpPr>
            <p:nvPr/>
          </p:nvSpPr>
          <p:spPr bwMode="auto">
            <a:xfrm>
              <a:off x="3539837" y="3238500"/>
              <a:ext cx="381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2400" dirty="0">
                  <a:sym typeface="Symbol" pitchFamily="18" charset="2"/>
                </a:rPr>
                <a:t></a:t>
              </a:r>
              <a:endParaRPr lang="en-US" altLang="en-US" sz="2400" dirty="0"/>
            </a:p>
          </p:txBody>
        </p:sp>
      </p:grpSp>
      <p:grpSp>
        <p:nvGrpSpPr>
          <p:cNvPr id="13" name="Group 35"/>
          <p:cNvGrpSpPr>
            <a:grpSpLocks/>
          </p:cNvGrpSpPr>
          <p:nvPr/>
        </p:nvGrpSpPr>
        <p:grpSpPr bwMode="auto">
          <a:xfrm>
            <a:off x="1965325" y="1651000"/>
            <a:ext cx="3340100" cy="2301875"/>
            <a:chOff x="2970809" y="1997034"/>
            <a:chExt cx="3339216" cy="2301916"/>
          </a:xfrm>
        </p:grpSpPr>
        <p:sp>
          <p:nvSpPr>
            <p:cNvPr id="46094" name="Text Box 13"/>
            <p:cNvSpPr txBox="1">
              <a:spLocks noChangeArrowheads="1"/>
            </p:cNvSpPr>
            <p:nvPr/>
          </p:nvSpPr>
          <p:spPr bwMode="auto">
            <a:xfrm>
              <a:off x="5902037" y="3962400"/>
              <a:ext cx="4079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5D0D8F"/>
                  </a:solidFill>
                </a:rPr>
                <a:t>U</a:t>
              </a:r>
              <a:r>
                <a:rPr lang="en-US" altLang="en-US" sz="1800" baseline="-25000">
                  <a:solidFill>
                    <a:srgbClr val="5D0D8F"/>
                  </a:solidFill>
                </a:rPr>
                <a:t>2</a:t>
              </a:r>
              <a:endParaRPr lang="en-US" altLang="en-US" sz="1800" i="1">
                <a:solidFill>
                  <a:srgbClr val="5D0D8F"/>
                </a:solidFill>
              </a:endParaRPr>
            </a:p>
          </p:txBody>
        </p:sp>
        <p:sp>
          <p:nvSpPr>
            <p:cNvPr id="46095" name="Freeform 22"/>
            <p:cNvSpPr>
              <a:spLocks/>
            </p:cNvSpPr>
            <p:nvPr/>
          </p:nvSpPr>
          <p:spPr bwMode="auto">
            <a:xfrm>
              <a:off x="2970809" y="1997034"/>
              <a:ext cx="2931227" cy="2193966"/>
            </a:xfrm>
            <a:custGeom>
              <a:avLst/>
              <a:gdLst>
                <a:gd name="T0" fmla="*/ 0 w 1920"/>
                <a:gd name="T1" fmla="*/ 0 h 1632"/>
                <a:gd name="T2" fmla="*/ 879368 w 1920"/>
                <a:gd name="T3" fmla="*/ 1613210 h 1632"/>
                <a:gd name="T4" fmla="*/ 2931227 w 1920"/>
                <a:gd name="T5" fmla="*/ 2193966 h 1632"/>
                <a:gd name="T6" fmla="*/ 0 60000 65536"/>
                <a:gd name="T7" fmla="*/ 0 60000 65536"/>
                <a:gd name="T8" fmla="*/ 0 60000 65536"/>
                <a:gd name="T9" fmla="*/ 0 w 1920"/>
                <a:gd name="T10" fmla="*/ 0 h 1632"/>
                <a:gd name="T11" fmla="*/ 1920 w 1920"/>
                <a:gd name="T12" fmla="*/ 1632 h 16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0" h="1632">
                  <a:moveTo>
                    <a:pt x="0" y="0"/>
                  </a:moveTo>
                  <a:cubicBezTo>
                    <a:pt x="128" y="464"/>
                    <a:pt x="256" y="928"/>
                    <a:pt x="576" y="1200"/>
                  </a:cubicBezTo>
                  <a:cubicBezTo>
                    <a:pt x="896" y="1472"/>
                    <a:pt x="1408" y="1552"/>
                    <a:pt x="1920" y="1632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49854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Utility Maximization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individual </a:t>
            </a:r>
          </a:p>
          <a:p>
            <a:pPr lvl="1"/>
            <a:r>
              <a:rPr lang="en-US" altLang="en-US" dirty="0" smtClean="0"/>
              <a:t>Consumes </a:t>
            </a:r>
            <a:r>
              <a:rPr lang="en-US" altLang="en-US" i="1" dirty="0" smtClean="0"/>
              <a:t>c</a:t>
            </a:r>
            <a:r>
              <a:rPr lang="en-US" altLang="en-US" baseline="-25000" dirty="0" smtClean="0"/>
              <a:t>0</a:t>
            </a:r>
            <a:r>
              <a:rPr lang="en-US" altLang="en-US" dirty="0" smtClean="0"/>
              <a:t>* in the present period </a:t>
            </a:r>
          </a:p>
          <a:p>
            <a:pPr lvl="1"/>
            <a:r>
              <a:rPr lang="en-US" altLang="en-US" dirty="0" smtClean="0"/>
              <a:t>Chooses to save </a:t>
            </a:r>
            <a:r>
              <a:rPr lang="en-US" altLang="en-US" i="1" dirty="0" smtClean="0"/>
              <a:t>W - c</a:t>
            </a:r>
            <a:r>
              <a:rPr lang="en-US" altLang="en-US" baseline="-25000" dirty="0" smtClean="0"/>
              <a:t>0</a:t>
            </a:r>
            <a:r>
              <a:rPr lang="en-US" altLang="en-US" dirty="0" smtClean="0"/>
              <a:t>* to consume next period</a:t>
            </a:r>
          </a:p>
          <a:p>
            <a:r>
              <a:rPr lang="en-US" altLang="en-US" dirty="0" smtClean="0"/>
              <a:t>This future consumption </a:t>
            </a:r>
          </a:p>
          <a:p>
            <a:pPr lvl="1"/>
            <a:r>
              <a:rPr lang="en-US" altLang="en-US" dirty="0" smtClean="0"/>
              <a:t>Can be found from the budget constraint</a:t>
            </a:r>
          </a:p>
          <a:p>
            <a:pPr algn="ctr">
              <a:buFontTx/>
              <a:buNone/>
            </a:pPr>
            <a:r>
              <a:rPr lang="en-US" alt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= 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- c</a:t>
            </a:r>
            <a:r>
              <a:rPr lang="en-US" altLang="en-US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  <a:p>
            <a:pPr algn="ctr">
              <a:buFontTx/>
              <a:buNone/>
            </a:pPr>
            <a:r>
              <a:rPr lang="en-US" alt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= (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*)/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en-US" sz="28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Tx/>
              <a:buNone/>
            </a:pPr>
            <a:r>
              <a:rPr lang="en-US" alt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= (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- c</a:t>
            </a:r>
            <a:r>
              <a:rPr lang="en-US" altLang="en-US" sz="2800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*)(1 +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4D5E7BD-1E2B-4CB8-91E3-B558F6417A9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73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17.1 	Intertemporal Impatience</a:t>
            </a:r>
          </a:p>
        </p:txBody>
      </p:sp>
      <p:sp>
        <p:nvSpPr>
          <p:cNvPr id="5126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029F4AF-FDCA-4F94-8207-55153C066D8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5124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smtClean="0"/>
              <a:t>Individuals’ utility-maximizing choices over time </a:t>
            </a:r>
          </a:p>
          <a:p>
            <a:pPr lvl="1"/>
            <a:r>
              <a:rPr lang="en-US" altLang="en-US" smtClean="0"/>
              <a:t>Depend on how they feel about waiting for future consumption</a:t>
            </a:r>
          </a:p>
          <a:p>
            <a:r>
              <a:rPr lang="en-US" altLang="en-US" smtClean="0"/>
              <a:t>Assume </a:t>
            </a:r>
          </a:p>
          <a:p>
            <a:pPr lvl="1"/>
            <a:r>
              <a:rPr lang="en-US" altLang="en-US" smtClean="0"/>
              <a:t>An individual’s utility function for consumption [</a:t>
            </a:r>
            <a:r>
              <a:rPr lang="en-US" altLang="en-US" i="1" smtClean="0"/>
              <a:t>U</a:t>
            </a:r>
            <a:r>
              <a:rPr lang="en-US" altLang="en-US" smtClean="0"/>
              <a:t>(</a:t>
            </a:r>
            <a:r>
              <a:rPr lang="en-US" altLang="en-US" i="1" smtClean="0"/>
              <a:t>c</a:t>
            </a:r>
            <a:r>
              <a:rPr lang="en-US" altLang="en-US" smtClean="0"/>
              <a:t>)] is the same for both periods</a:t>
            </a:r>
          </a:p>
          <a:p>
            <a:pPr lvl="1"/>
            <a:r>
              <a:rPr lang="en-US" altLang="en-US" smtClean="0"/>
              <a:t>But period 1’s utility is discounted by a “rate of time preference” of 1/(1+</a:t>
            </a:r>
            <a:r>
              <a:rPr lang="en-US" altLang="en-US" smtClean="0">
                <a:sym typeface="Symbol" pitchFamily="18" charset="2"/>
              </a:rPr>
              <a:t>) (where &gt;0)</a:t>
            </a:r>
            <a:endParaRPr lang="en-US" altLang="en-US" smtClean="0"/>
          </a:p>
          <a:p>
            <a:endParaRPr lang="en-US" altLang="en-US" smtClean="0"/>
          </a:p>
        </p:txBody>
      </p:sp>
      <p:graphicFrame>
        <p:nvGraphicFramePr>
          <p:cNvPr id="59394" name="Object 2"/>
          <p:cNvGraphicFramePr>
            <a:graphicFrameLocks noChangeAspect="1"/>
          </p:cNvGraphicFramePr>
          <p:nvPr/>
        </p:nvGraphicFramePr>
        <p:xfrm>
          <a:off x="2182813" y="5056188"/>
          <a:ext cx="4319587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464" name="Equation" r:id="rId3" imgW="1841400" imgH="393480" progId="Equation.DSMT4">
                  <p:embed/>
                </p:oleObj>
              </mc:Choice>
              <mc:Fallback>
                <p:oleObj name="Equation" r:id="rId3" imgW="18414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813" y="5056188"/>
                        <a:ext cx="4319587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264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17.1 	Intertemporal Impatience</a:t>
            </a:r>
          </a:p>
        </p:txBody>
      </p:sp>
      <p:sp>
        <p:nvSpPr>
          <p:cNvPr id="6151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CFE5400C-2F95-4C99-9693-CD39796E9848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6149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Maximization of this function </a:t>
            </a:r>
          </a:p>
          <a:p>
            <a:pPr lvl="1"/>
            <a:r>
              <a:rPr lang="en-US" altLang="en-US" dirty="0" smtClean="0"/>
              <a:t>Subject to the intertemporal budget constraint </a:t>
            </a:r>
          </a:p>
          <a:p>
            <a:pPr lvl="1"/>
            <a:r>
              <a:rPr lang="en-US" altLang="en-US" dirty="0" smtClean="0"/>
              <a:t>Yields the </a:t>
            </a:r>
            <a:r>
              <a:rPr lang="en-US" altLang="en-US" dirty="0" err="1" smtClean="0"/>
              <a:t>Lagrangian</a:t>
            </a:r>
            <a:r>
              <a:rPr lang="en-US" altLang="en-US" dirty="0" smtClean="0"/>
              <a:t> expression: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/>
            <a:r>
              <a:rPr lang="en-US" kern="0" dirty="0"/>
              <a:t>The first-order conditions:</a:t>
            </a:r>
          </a:p>
          <a:p>
            <a:pPr lvl="1"/>
            <a:endParaRPr lang="en-US" dirty="0"/>
          </a:p>
        </p:txBody>
      </p:sp>
      <p:graphicFrame>
        <p:nvGraphicFramePr>
          <p:cNvPr id="60419" name="Object 3"/>
          <p:cNvGraphicFramePr>
            <a:graphicFrameLocks noChangeAspect="1"/>
          </p:cNvGraphicFramePr>
          <p:nvPr/>
        </p:nvGraphicFramePr>
        <p:xfrm>
          <a:off x="2263775" y="2271713"/>
          <a:ext cx="4618038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502" name="Equation" r:id="rId3" imgW="1968480" imgH="431640" progId="Equation.DSMT4">
                  <p:embed/>
                </p:oleObj>
              </mc:Choice>
              <mc:Fallback>
                <p:oleObj name="Equation" r:id="rId3" imgW="1968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3775" y="2271713"/>
                        <a:ext cx="4618038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0" name="Object 4"/>
          <p:cNvGraphicFramePr>
            <a:graphicFrameLocks noChangeAspect="1"/>
          </p:cNvGraphicFramePr>
          <p:nvPr/>
        </p:nvGraphicFramePr>
        <p:xfrm>
          <a:off x="730250" y="4049713"/>
          <a:ext cx="7685088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503" name="Equation" r:id="rId5" imgW="3276360" imgH="838080" progId="Equation.DSMT4">
                  <p:embed/>
                </p:oleObj>
              </mc:Choice>
              <mc:Fallback>
                <p:oleObj name="Equation" r:id="rId5" imgW="327636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0" y="4049713"/>
                        <a:ext cx="7685088" cy="196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256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17.1 	Intertemporal Impatience</a:t>
            </a:r>
          </a:p>
        </p:txBody>
      </p:sp>
      <p:sp>
        <p:nvSpPr>
          <p:cNvPr id="7174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7BDEFCF9-086E-4086-AE2C-8CC93D9A42D0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7172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smtClean="0"/>
              <a:t>Dividing the first and second conditions and rearranging, we find: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81000" y="3124200"/>
            <a:ext cx="8382000" cy="3048000"/>
          </a:xfrm>
        </p:spPr>
        <p:txBody>
          <a:bodyPr/>
          <a:lstStyle/>
          <a:p>
            <a:pPr eaLnBrk="0" hangingPunct="0">
              <a:buFontTx/>
              <a:buChar char="•"/>
              <a:defRPr/>
            </a:pPr>
            <a:r>
              <a:rPr lang="en-US" kern="0" dirty="0"/>
              <a:t>Therefore,</a:t>
            </a:r>
          </a:p>
          <a:p>
            <a:pPr lvl="1" eaLnBrk="0" hangingPunct="0">
              <a:buFontTx/>
              <a:buChar char="–"/>
              <a:defRPr/>
            </a:pPr>
            <a:r>
              <a:rPr lang="en-US" sz="3200" kern="0" dirty="0"/>
              <a:t>If </a:t>
            </a:r>
            <a:r>
              <a:rPr lang="en-US" sz="3200" i="1" kern="0" dirty="0"/>
              <a:t>r</a:t>
            </a:r>
            <a:r>
              <a:rPr lang="en-US" sz="3200" kern="0" dirty="0"/>
              <a:t> = </a:t>
            </a:r>
            <a:r>
              <a:rPr lang="en-US" sz="3200" kern="0" dirty="0">
                <a:sym typeface="Symbol" pitchFamily="18" charset="2"/>
              </a:rPr>
              <a:t>, </a:t>
            </a:r>
            <a:r>
              <a:rPr lang="en-US" sz="3200" i="1" kern="0" dirty="0">
                <a:sym typeface="Symbol" pitchFamily="18" charset="2"/>
              </a:rPr>
              <a:t>c</a:t>
            </a:r>
            <a:r>
              <a:rPr lang="en-US" sz="3200" kern="0" baseline="-25000" dirty="0">
                <a:sym typeface="Symbol" pitchFamily="18" charset="2"/>
              </a:rPr>
              <a:t>0</a:t>
            </a:r>
            <a:r>
              <a:rPr lang="en-US" sz="3200" kern="0" dirty="0">
                <a:sym typeface="Symbol" pitchFamily="18" charset="2"/>
              </a:rPr>
              <a:t> = </a:t>
            </a:r>
            <a:r>
              <a:rPr lang="en-US" sz="3200" i="1" kern="0" dirty="0">
                <a:sym typeface="Symbol" pitchFamily="18" charset="2"/>
              </a:rPr>
              <a:t>c</a:t>
            </a:r>
            <a:r>
              <a:rPr lang="en-US" sz="3200" kern="0" baseline="-25000" dirty="0">
                <a:sym typeface="Symbol" pitchFamily="18" charset="2"/>
              </a:rPr>
              <a:t>1</a:t>
            </a:r>
            <a:endParaRPr lang="en-US" sz="3200" kern="0" dirty="0">
              <a:sym typeface="Symbol" pitchFamily="18" charset="2"/>
            </a:endParaRPr>
          </a:p>
          <a:p>
            <a:pPr lvl="1" eaLnBrk="0" hangingPunct="0">
              <a:buFontTx/>
              <a:buChar char="–"/>
              <a:defRPr/>
            </a:pPr>
            <a:r>
              <a:rPr lang="en-US" sz="3200" kern="0" dirty="0"/>
              <a:t>If </a:t>
            </a:r>
            <a:r>
              <a:rPr lang="en-US" sz="3200" i="1" kern="0" dirty="0"/>
              <a:t>r</a:t>
            </a:r>
            <a:r>
              <a:rPr lang="en-US" sz="3200" kern="0" dirty="0"/>
              <a:t> &lt; </a:t>
            </a:r>
            <a:r>
              <a:rPr lang="en-US" sz="3200" kern="0" dirty="0">
                <a:sym typeface="Symbol" pitchFamily="18" charset="2"/>
              </a:rPr>
              <a:t>, </a:t>
            </a:r>
            <a:r>
              <a:rPr lang="en-US" sz="3200" i="1" kern="0" dirty="0">
                <a:sym typeface="Symbol" pitchFamily="18" charset="2"/>
              </a:rPr>
              <a:t>c</a:t>
            </a:r>
            <a:r>
              <a:rPr lang="en-US" sz="3200" kern="0" baseline="-25000" dirty="0">
                <a:sym typeface="Symbol" pitchFamily="18" charset="2"/>
              </a:rPr>
              <a:t>0</a:t>
            </a:r>
            <a:r>
              <a:rPr lang="en-US" sz="3200" kern="0" dirty="0">
                <a:sym typeface="Symbol" pitchFamily="18" charset="2"/>
              </a:rPr>
              <a:t> &gt; </a:t>
            </a:r>
            <a:r>
              <a:rPr lang="en-US" sz="3200" i="1" kern="0" dirty="0">
                <a:sym typeface="Symbol" pitchFamily="18" charset="2"/>
              </a:rPr>
              <a:t>c</a:t>
            </a:r>
            <a:r>
              <a:rPr lang="en-US" sz="3200" kern="0" baseline="-25000" dirty="0">
                <a:sym typeface="Symbol" pitchFamily="18" charset="2"/>
              </a:rPr>
              <a:t>1</a:t>
            </a:r>
            <a:endParaRPr lang="en-US" sz="3200" kern="0" dirty="0">
              <a:sym typeface="Symbol" pitchFamily="18" charset="2"/>
            </a:endParaRPr>
          </a:p>
          <a:p>
            <a:pPr lvl="1" eaLnBrk="0" hangingPunct="0">
              <a:buFontTx/>
              <a:buChar char="–"/>
              <a:defRPr/>
            </a:pPr>
            <a:r>
              <a:rPr lang="en-US" sz="3200" kern="0" dirty="0"/>
              <a:t>If </a:t>
            </a:r>
            <a:r>
              <a:rPr lang="en-US" sz="3200" i="1" kern="0" dirty="0"/>
              <a:t>r</a:t>
            </a:r>
            <a:r>
              <a:rPr lang="en-US" sz="3200" kern="0" dirty="0"/>
              <a:t> &gt; </a:t>
            </a:r>
            <a:r>
              <a:rPr lang="en-US" sz="3200" kern="0" dirty="0">
                <a:sym typeface="Symbol" pitchFamily="18" charset="2"/>
              </a:rPr>
              <a:t>, </a:t>
            </a:r>
            <a:r>
              <a:rPr lang="en-US" sz="3200" i="1" kern="0" dirty="0">
                <a:sym typeface="Symbol" pitchFamily="18" charset="2"/>
              </a:rPr>
              <a:t>c</a:t>
            </a:r>
            <a:r>
              <a:rPr lang="en-US" sz="3200" kern="0" baseline="-25000" dirty="0">
                <a:sym typeface="Symbol" pitchFamily="18" charset="2"/>
              </a:rPr>
              <a:t>0</a:t>
            </a:r>
            <a:r>
              <a:rPr lang="en-US" sz="3200" kern="0" dirty="0">
                <a:sym typeface="Symbol" pitchFamily="18" charset="2"/>
              </a:rPr>
              <a:t> &lt; </a:t>
            </a:r>
            <a:r>
              <a:rPr lang="en-US" sz="3200" i="1" kern="0" dirty="0" smtClean="0">
                <a:sym typeface="Symbol" pitchFamily="18" charset="2"/>
              </a:rPr>
              <a:t>c</a:t>
            </a:r>
            <a:r>
              <a:rPr lang="en-US" sz="3200" kern="0" baseline="-25000" dirty="0" smtClean="0">
                <a:sym typeface="Symbol" pitchFamily="18" charset="2"/>
              </a:rPr>
              <a:t>1</a:t>
            </a:r>
            <a:endParaRPr lang="en-US" sz="3200" kern="0" baseline="-25000" dirty="0">
              <a:sym typeface="Symbol" pitchFamily="18" charset="2"/>
            </a:endParaRPr>
          </a:p>
        </p:txBody>
      </p:sp>
      <p:graphicFrame>
        <p:nvGraphicFramePr>
          <p:cNvPr id="614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8933545"/>
              </p:ext>
            </p:extLst>
          </p:nvPr>
        </p:nvGraphicFramePr>
        <p:xfrm>
          <a:off x="2726673" y="1752600"/>
          <a:ext cx="3690653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513" name="Equation" r:id="rId3" imgW="1269720" imgH="393480" progId="Equation.DSMT4">
                  <p:embed/>
                </p:oleObj>
              </mc:Choice>
              <mc:Fallback>
                <p:oleObj name="Equation" r:id="rId3" imgW="12697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6673" y="1752600"/>
                        <a:ext cx="3690653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2739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17.1 	Intertemporal Impatience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15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/>
              <p:cNvSpPr>
                <a:spLocks noGrp="1"/>
              </p:cNvSpPr>
              <p:nvPr>
                <p:ph type="body" sz="quarter" idx="12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 smtClean="0"/>
                  <a:t>Consumption smoothing</a:t>
                </a:r>
              </a:p>
              <a:p>
                <a:pPr lvl="1"/>
                <a:r>
                  <a:rPr lang="en-US" dirty="0" smtClean="0"/>
                  <a:t>Individuals seek </a:t>
                </a:r>
                <a:r>
                  <a:rPr lang="en-US" dirty="0"/>
                  <a:t>to equalize utility across </a:t>
                </a:r>
                <a:r>
                  <a:rPr lang="en-US" dirty="0" smtClean="0"/>
                  <a:t>periods</a:t>
                </a:r>
              </a:p>
              <a:p>
                <a:pPr lvl="2"/>
                <a:r>
                  <a:rPr lang="en-US" dirty="0" smtClean="0"/>
                  <a:t>Utility functions </a:t>
                </a:r>
                <a:r>
                  <a:rPr lang="en-US" dirty="0"/>
                  <a:t>generally exhibit a diminishing marginal utility from </a:t>
                </a:r>
                <a:r>
                  <a:rPr lang="en-US" dirty="0" smtClean="0"/>
                  <a:t>consumption</a:t>
                </a:r>
                <a:endParaRPr lang="en-US" dirty="0"/>
              </a:p>
              <a:p>
                <a:r>
                  <a:rPr lang="en-US" dirty="0" smtClean="0"/>
                  <a:t>CES utility function: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𝑈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1−</m:t>
                                      </m:r>
                                      <m:r>
                                        <a:rPr lang="en-US" b="0" i="1" smtClean="0">
                                          <a:latin typeface="Cambria Math"/>
                                          <a:ea typeface="Cambria Math"/>
                                        </a:rPr>
                                        <m:t>𝛾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/>
                                      <a:ea typeface="Cambria Math"/>
                                    </a:rPr>
                                    <m:t>𝛾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𝑓𝑜𝑟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𝛾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≥0, 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𝛾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≠1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𝑐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b="0" i="1" smtClean="0">
                                  <a:latin typeface="Cambria Math"/>
                                </a:rPr>
                                <m:t>𝑓𝑜𝑟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𝛾</m:t>
                              </m:r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=1      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lvl="1"/>
                <a:r>
                  <a:rPr lang="en-US" dirty="0" smtClean="0"/>
                  <a:t>Greater </a:t>
                </a:r>
                <a:r>
                  <a:rPr lang="en-US" dirty="0"/>
                  <a:t>values of </a:t>
                </a:r>
                <a:r>
                  <a:rPr lang="el-GR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</a:t>
                </a:r>
                <a:r>
                  <a:rPr lang="en-US" dirty="0" smtClean="0"/>
                  <a:t>  </a:t>
                </a:r>
                <a:r>
                  <a:rPr lang="en-US" dirty="0"/>
                  <a:t>will make the indifference map more sharply curves </a:t>
                </a:r>
                <a:endParaRPr lang="en-US" dirty="0" smtClean="0"/>
              </a:p>
              <a:p>
                <a:pPr lvl="2"/>
                <a:r>
                  <a:rPr lang="en-US" dirty="0" smtClean="0"/>
                  <a:t>This </a:t>
                </a:r>
                <a:r>
                  <a:rPr lang="en-US" dirty="0"/>
                  <a:t>person will be less willing to substitute one period’s consumption for another’s</a:t>
                </a:r>
              </a:p>
            </p:txBody>
          </p:sp>
        </mc:Choice>
        <mc:Fallback>
          <p:sp>
            <p:nvSpPr>
              <p:cNvPr id="5" name="Tex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blipFill rotWithShape="1">
                <a:blip r:embed="rId2"/>
                <a:stretch>
                  <a:fillRect l="-1673" t="-1351" r="-800" b="-3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3495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17.1 	Intertemporal Impatience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16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/>
              <p:cNvSpPr>
                <a:spLocks noGrp="1"/>
              </p:cNvSpPr>
              <p:nvPr>
                <p:ph type="body" sz="quarter" idx="12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 smtClean="0"/>
                  <a:t>CES utility function:</a:t>
                </a:r>
              </a:p>
              <a:p>
                <a:pPr lvl="1"/>
                <a:r>
                  <a:rPr lang="en-US" dirty="0" smtClean="0"/>
                  <a:t>For a rate of time preference </a:t>
                </a:r>
                <a:r>
                  <a:rPr lang="el-GR" dirty="0" smtClean="0"/>
                  <a:t>δ</a:t>
                </a:r>
                <a:r>
                  <a:rPr lang="en-US" dirty="0" smtClean="0"/>
                  <a:t>=0, then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𝑐</m:t>
                    </m:r>
                    <m:sPre>
                      <m:sPrePr>
                        <m:ctrlPr>
                          <a:rPr lang="en-US" b="0" i="1" smtClean="0">
                            <a:latin typeface="Cambria Math"/>
                          </a:rPr>
                        </m:ctrlPr>
                      </m:sPrePr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</a:rPr>
                          <m:t>−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𝛾</m:t>
                        </m:r>
                      </m:sup>
                      <m:e>
                        <m:r>
                          <a:rPr lang="en-US" b="0" i="1" smtClean="0">
                            <a:latin typeface="Cambria Math"/>
                          </a:rPr>
                          <m:t>=(1+</m:t>
                        </m:r>
                        <m:r>
                          <a:rPr lang="en-US" b="0" i="1" smtClean="0">
                            <a:latin typeface="Cambria Math"/>
                          </a:rPr>
                          <m:t>𝑟</m:t>
                        </m:r>
                        <m:r>
                          <a:rPr lang="en-US" b="0" i="1" smtClean="0">
                            <a:latin typeface="Cambria Math"/>
                          </a:rPr>
                          <m:t>)</m:t>
                        </m:r>
                      </m:e>
                    </m:sPre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sPre>
                      <m:sPrePr>
                        <m:ctrlPr>
                          <a:rPr lang="en-US" i="1">
                            <a:latin typeface="Cambria Math"/>
                          </a:rPr>
                        </m:ctrlPr>
                      </m:sPrePr>
                      <m:sub>
                        <m:r>
                          <a:rPr lang="en-US" i="1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𝛾</m:t>
                        </m:r>
                      </m:sup>
                      <m:e/>
                    </m:sPre>
                  </m:oMath>
                </a14:m>
                <a:r>
                  <a:rPr lang="en-US" dirty="0" smtClean="0"/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(1+</m:t>
                        </m:r>
                        <m:r>
                          <a:rPr lang="en-US" b="0" i="1" smtClean="0">
                            <a:latin typeface="Cambria Math"/>
                          </a:rPr>
                          <m:t>𝑟</m:t>
                        </m:r>
                        <m:r>
                          <a:rPr lang="en-US" b="0" i="1" smtClean="0">
                            <a:latin typeface="Cambria Math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1/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𝛾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If </a:t>
                </a:r>
                <a:r>
                  <a:rPr lang="en-US" i="1" dirty="0" smtClean="0"/>
                  <a:t>r</a:t>
                </a:r>
                <a:r>
                  <a:rPr lang="en-US" dirty="0" smtClean="0"/>
                  <a:t> = 0</a:t>
                </a:r>
                <a:r>
                  <a:rPr lang="en-US" dirty="0"/>
                  <a:t>, </a:t>
                </a:r>
                <a:r>
                  <a:rPr lang="en-US" i="1" dirty="0"/>
                  <a:t>c</a:t>
                </a:r>
                <a:r>
                  <a:rPr lang="en-US" i="1" baseline="-25000" dirty="0"/>
                  <a:t>1</a:t>
                </a:r>
                <a:r>
                  <a:rPr lang="en-US" i="1" dirty="0"/>
                  <a:t> </a:t>
                </a:r>
                <a:r>
                  <a:rPr lang="en-US" i="1" dirty="0" smtClean="0"/>
                  <a:t>= c</a:t>
                </a:r>
                <a:r>
                  <a:rPr lang="en-US" i="1" baseline="-25000" dirty="0" smtClean="0"/>
                  <a:t>0</a:t>
                </a:r>
              </a:p>
              <a:p>
                <a:pPr lvl="2"/>
                <a:r>
                  <a:rPr lang="en-US" dirty="0" smtClean="0"/>
                  <a:t>Equalize consumption across the two periods, regardless of </a:t>
                </a:r>
                <a:r>
                  <a:rPr lang="el-GR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</a:t>
                </a:r>
                <a:r>
                  <a:rPr lang="en-US" dirty="0" smtClean="0"/>
                  <a:t> </a:t>
                </a:r>
              </a:p>
              <a:p>
                <a:pPr lvl="1"/>
                <a:r>
                  <a:rPr lang="en-US" dirty="0" smtClean="0"/>
                  <a:t>If </a:t>
                </a:r>
                <a:r>
                  <a:rPr lang="en-US" i="1" dirty="0" smtClean="0"/>
                  <a:t>r</a:t>
                </a:r>
                <a:r>
                  <a:rPr lang="en-US" dirty="0" smtClean="0"/>
                  <a:t> &gt; 0, </a:t>
                </a:r>
                <a:r>
                  <a:rPr lang="en-US" i="1" dirty="0" smtClean="0"/>
                  <a:t>c</a:t>
                </a:r>
                <a:r>
                  <a:rPr lang="en-US" i="1" baseline="-25000" dirty="0" smtClean="0"/>
                  <a:t>1</a:t>
                </a:r>
                <a:r>
                  <a:rPr lang="en-US" i="1" dirty="0" smtClean="0"/>
                  <a:t> &gt; c</a:t>
                </a:r>
                <a:r>
                  <a:rPr lang="en-US" i="1" baseline="-25000" dirty="0" smtClean="0"/>
                  <a:t>0</a:t>
                </a:r>
              </a:p>
              <a:p>
                <a:pPr lvl="2"/>
                <a:r>
                  <a:rPr lang="en-US" dirty="0" smtClean="0"/>
                  <a:t>The extent of this preference depends on </a:t>
                </a:r>
                <a:r>
                  <a:rPr lang="el-GR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</a:t>
                </a:r>
                <a:endParaRPr lang="en-US" dirty="0"/>
              </a:p>
            </p:txBody>
          </p:sp>
        </mc:Choice>
        <mc:Fallback>
          <p:sp>
            <p:nvSpPr>
              <p:cNvPr id="5" name="Tex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blipFill rotWithShape="1">
                <a:blip r:embed="rId2"/>
                <a:stretch>
                  <a:fillRect l="-1673" t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2351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Effects of Changes in </a:t>
            </a:r>
            <a:r>
              <a:rPr lang="en-US" altLang="en-US" i="1" smtClean="0"/>
              <a:t>r</a:t>
            </a:r>
            <a:endParaRPr lang="en-US" altLang="en-US" smtClean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If </a:t>
            </a:r>
            <a:r>
              <a:rPr lang="en-US" altLang="en-US" i="1" smtClean="0"/>
              <a:t>r</a:t>
            </a:r>
            <a:r>
              <a:rPr lang="en-US" altLang="en-US" smtClean="0"/>
              <a:t> rises (and </a:t>
            </a:r>
            <a:r>
              <a:rPr lang="en-US" altLang="en-US" i="1" smtClean="0"/>
              <a:t>p</a:t>
            </a:r>
            <a:r>
              <a:rPr lang="en-US" altLang="en-US" baseline="-25000" smtClean="0"/>
              <a:t>1</a:t>
            </a:r>
            <a:r>
              <a:rPr lang="en-US" altLang="en-US" smtClean="0"/>
              <a:t> falls)</a:t>
            </a:r>
          </a:p>
          <a:p>
            <a:pPr lvl="1"/>
            <a:r>
              <a:rPr lang="en-US" altLang="en-US" smtClean="0"/>
              <a:t>Both income and substitution effects will cause more </a:t>
            </a:r>
            <a:r>
              <a:rPr lang="en-US" altLang="en-US" i="1" smtClean="0"/>
              <a:t>c</a:t>
            </a:r>
            <a:r>
              <a:rPr lang="en-US" altLang="en-US" baseline="-25000" smtClean="0"/>
              <a:t>1</a:t>
            </a:r>
            <a:r>
              <a:rPr lang="en-US" altLang="en-US" smtClean="0"/>
              <a:t> to be demanded</a:t>
            </a:r>
          </a:p>
          <a:p>
            <a:pPr lvl="1"/>
            <a:r>
              <a:rPr lang="en-US" altLang="en-US" smtClean="0"/>
              <a:t>Unless </a:t>
            </a:r>
            <a:r>
              <a:rPr lang="en-US" altLang="en-US" i="1" smtClean="0"/>
              <a:t>c</a:t>
            </a:r>
            <a:r>
              <a:rPr lang="en-US" altLang="en-US" baseline="-25000" smtClean="0"/>
              <a:t>1</a:t>
            </a:r>
            <a:r>
              <a:rPr lang="en-US" altLang="en-US" smtClean="0"/>
              <a:t> is inferior (unlikely)</a:t>
            </a:r>
          </a:p>
          <a:p>
            <a:pPr lvl="1"/>
            <a:r>
              <a:rPr lang="en-US" altLang="en-US" smtClean="0"/>
              <a:t>This implies that the demand curve for </a:t>
            </a:r>
            <a:r>
              <a:rPr lang="en-US" altLang="en-US" i="1" smtClean="0"/>
              <a:t>c</a:t>
            </a:r>
            <a:r>
              <a:rPr lang="en-US" altLang="en-US" baseline="-25000" smtClean="0"/>
              <a:t>1</a:t>
            </a:r>
            <a:r>
              <a:rPr lang="en-US" altLang="en-US" smtClean="0"/>
              <a:t> will be downward sloping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BD8A9CA-99E0-4232-B889-2B58056D511E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8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Effects of Changes in </a:t>
            </a:r>
            <a:r>
              <a:rPr lang="en-US" altLang="en-US" i="1" smtClean="0"/>
              <a:t>r</a:t>
            </a:r>
            <a:endParaRPr lang="en-US" altLang="en-US" smtClean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sign of </a:t>
            </a:r>
            <a:r>
              <a:rPr lang="en-US" altLang="en-US" smtClean="0">
                <a:sym typeface="Symbol" pitchFamily="18" charset="2"/>
              </a:rPr>
              <a:t></a:t>
            </a:r>
            <a:r>
              <a:rPr lang="en-US" altLang="en-US" i="1" smtClean="0">
                <a:sym typeface="Symbol" pitchFamily="18" charset="2"/>
              </a:rPr>
              <a:t>c</a:t>
            </a:r>
            <a:r>
              <a:rPr lang="en-US" altLang="en-US" baseline="-25000" smtClean="0">
                <a:sym typeface="Symbol" pitchFamily="18" charset="2"/>
              </a:rPr>
              <a:t>0</a:t>
            </a:r>
            <a:r>
              <a:rPr lang="en-US" altLang="en-US" smtClean="0">
                <a:sym typeface="Symbol" pitchFamily="18" charset="2"/>
              </a:rPr>
              <a:t>/</a:t>
            </a:r>
            <a:r>
              <a:rPr lang="en-US" altLang="en-US" i="1" smtClean="0">
                <a:sym typeface="Symbol" pitchFamily="18" charset="2"/>
              </a:rPr>
              <a:t>p</a:t>
            </a:r>
            <a:r>
              <a:rPr lang="en-US" altLang="en-US" baseline="-25000" smtClean="0">
                <a:sym typeface="Symbol" pitchFamily="18" charset="2"/>
              </a:rPr>
              <a:t>1</a:t>
            </a:r>
            <a:r>
              <a:rPr lang="en-US" altLang="en-US" smtClean="0">
                <a:sym typeface="Symbol" pitchFamily="18" charset="2"/>
              </a:rPr>
              <a:t> is ambiguous</a:t>
            </a:r>
          </a:p>
          <a:p>
            <a:pPr lvl="1"/>
            <a:r>
              <a:rPr lang="en-US" altLang="en-US" smtClean="0"/>
              <a:t>The substitution and income effects work in opposite directions</a:t>
            </a:r>
          </a:p>
          <a:p>
            <a:pPr lvl="1"/>
            <a:r>
              <a:rPr lang="en-US" altLang="en-US" smtClean="0"/>
              <a:t>We cannot make an accurate prediction about how a change in the rate of return affects current consumption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57B2E71-7051-43F9-9675-9FBF5F8FBC21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013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17.3	Determination of the Equilibrium Price of 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Future Goods</a:t>
            </a:r>
            <a:endParaRPr lang="en-US" altLang="en-US" dirty="0" smtClean="0">
              <a:solidFill>
                <a:srgbClr val="002D56"/>
              </a:solidFill>
            </a:endParaRPr>
          </a:p>
        </p:txBody>
      </p:sp>
      <p:sp>
        <p:nvSpPr>
          <p:cNvPr id="50179" name="Text Placeholder 2"/>
          <p:cNvSpPr>
            <a:spLocks noGrp="1"/>
          </p:cNvSpPr>
          <p:nvPr>
            <p:ph sz="half" idx="1"/>
          </p:nvPr>
        </p:nvSpPr>
        <p:spPr>
          <a:xfrm>
            <a:off x="4953000" y="1676400"/>
            <a:ext cx="2971800" cy="4525963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The point p</a:t>
            </a:r>
            <a:r>
              <a:rPr lang="en-US" altLang="en-US" baseline="-25000" dirty="0"/>
              <a:t>1</a:t>
            </a:r>
            <a:r>
              <a:rPr lang="en-US" altLang="en-US" dirty="0"/>
              <a:t>*,c</a:t>
            </a:r>
            <a:r>
              <a:rPr lang="en-US" altLang="en-US" baseline="-25000" dirty="0"/>
              <a:t>1</a:t>
            </a:r>
            <a:r>
              <a:rPr lang="en-US" altLang="en-US" dirty="0"/>
              <a:t>* represents an equilibrium in the market for future goods. The equilibrium price of future goods determines the rate of return.</a:t>
            </a:r>
          </a:p>
          <a:p>
            <a:pPr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50182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135719-EE39-47F8-8DB5-AFF17EEE2BAB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393700" y="1011238"/>
            <a:ext cx="4178501" cy="4541727"/>
            <a:chOff x="2090056" y="694708"/>
            <a:chExt cx="4179126" cy="4542176"/>
          </a:xfrm>
        </p:grpSpPr>
        <p:grpSp>
          <p:nvGrpSpPr>
            <p:cNvPr id="50196" name="Group 20"/>
            <p:cNvGrpSpPr>
              <a:grpSpLocks/>
            </p:cNvGrpSpPr>
            <p:nvPr/>
          </p:nvGrpSpPr>
          <p:grpSpPr bwMode="auto">
            <a:xfrm>
              <a:off x="2535382" y="4454237"/>
              <a:ext cx="3733800" cy="782647"/>
              <a:chOff x="2535382" y="4454237"/>
              <a:chExt cx="3733800" cy="782647"/>
            </a:xfrm>
          </p:grpSpPr>
          <p:sp>
            <p:nvSpPr>
              <p:cNvPr id="50200" name="Line 4"/>
              <p:cNvSpPr>
                <a:spLocks noChangeShapeType="1"/>
              </p:cNvSpPr>
              <p:nvPr/>
            </p:nvSpPr>
            <p:spPr bwMode="auto">
              <a:xfrm>
                <a:off x="2535382" y="4454237"/>
                <a:ext cx="37338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201" name="Text Box 5"/>
              <p:cNvSpPr txBox="1">
                <a:spLocks noChangeArrowheads="1"/>
              </p:cNvSpPr>
              <p:nvPr/>
            </p:nvSpPr>
            <p:spPr bwMode="auto">
              <a:xfrm>
                <a:off x="3303772" y="4870171"/>
                <a:ext cx="2613561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 dirty="0"/>
                  <a:t>Future consumption  (</a:t>
                </a:r>
                <a:r>
                  <a:rPr lang="en-US" altLang="en-US" sz="1800" i="1" dirty="0"/>
                  <a:t>c</a:t>
                </a:r>
                <a:r>
                  <a:rPr lang="en-US" altLang="en-US" sz="1800" baseline="-25000" dirty="0"/>
                  <a:t>1</a:t>
                </a:r>
                <a:r>
                  <a:rPr lang="en-US" altLang="en-US" sz="1800" dirty="0"/>
                  <a:t>)</a:t>
                </a:r>
                <a:endParaRPr lang="en-US" altLang="en-US" sz="1800" i="1" dirty="0"/>
              </a:p>
            </p:txBody>
          </p:sp>
        </p:grpSp>
        <p:grpSp>
          <p:nvGrpSpPr>
            <p:cNvPr id="50197" name="Group 19"/>
            <p:cNvGrpSpPr>
              <a:grpSpLocks/>
            </p:cNvGrpSpPr>
            <p:nvPr/>
          </p:nvGrpSpPr>
          <p:grpSpPr bwMode="auto">
            <a:xfrm>
              <a:off x="2090056" y="694708"/>
              <a:ext cx="1246909" cy="3759529"/>
              <a:chOff x="2090056" y="694708"/>
              <a:chExt cx="1246909" cy="3759529"/>
            </a:xfrm>
          </p:grpSpPr>
          <p:sp>
            <p:nvSpPr>
              <p:cNvPr id="50198" name="Line 3"/>
              <p:cNvSpPr>
                <a:spLocks noChangeShapeType="1"/>
              </p:cNvSpPr>
              <p:nvPr/>
            </p:nvSpPr>
            <p:spPr bwMode="auto">
              <a:xfrm>
                <a:off x="2535382" y="1025237"/>
                <a:ext cx="0" cy="34290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199" name="Text Box 6"/>
              <p:cNvSpPr txBox="1">
                <a:spLocks noChangeArrowheads="1"/>
              </p:cNvSpPr>
              <p:nvPr/>
            </p:nvSpPr>
            <p:spPr bwMode="auto">
              <a:xfrm>
                <a:off x="2090056" y="694708"/>
                <a:ext cx="1246909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Price (</a:t>
                </a:r>
                <a:r>
                  <a:rPr lang="en-US" altLang="en-US" sz="1800" i="1"/>
                  <a:t>p</a:t>
                </a:r>
                <a:r>
                  <a:rPr lang="en-US" altLang="en-US" sz="1800" baseline="-25000"/>
                  <a:t>1</a:t>
                </a:r>
                <a:r>
                  <a:rPr lang="en-US" altLang="en-US" sz="1800"/>
                  <a:t>)</a:t>
                </a:r>
                <a:endParaRPr lang="en-US" altLang="en-US" sz="1800" i="1"/>
              </a:p>
            </p:txBody>
          </p:sp>
        </p:grpSp>
      </p:grpSp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1600200" y="1508125"/>
            <a:ext cx="2528887" cy="2652713"/>
            <a:chOff x="3297382" y="1429425"/>
            <a:chExt cx="2528888" cy="2652712"/>
          </a:xfrm>
        </p:grpSpPr>
        <p:sp>
          <p:nvSpPr>
            <p:cNvPr id="50194" name="Freeform 9"/>
            <p:cNvSpPr>
              <a:spLocks/>
            </p:cNvSpPr>
            <p:nvPr/>
          </p:nvSpPr>
          <p:spPr bwMode="auto">
            <a:xfrm>
              <a:off x="3297382" y="1796137"/>
              <a:ext cx="2286000" cy="2286000"/>
            </a:xfrm>
            <a:custGeom>
              <a:avLst/>
              <a:gdLst>
                <a:gd name="T0" fmla="*/ 0 w 1440"/>
                <a:gd name="T1" fmla="*/ 2286000 h 1440"/>
                <a:gd name="T2" fmla="*/ 1524000 w 1440"/>
                <a:gd name="T3" fmla="*/ 1219200 h 1440"/>
                <a:gd name="T4" fmla="*/ 2286000 w 1440"/>
                <a:gd name="T5" fmla="*/ 0 h 1440"/>
                <a:gd name="T6" fmla="*/ 0 60000 65536"/>
                <a:gd name="T7" fmla="*/ 0 60000 65536"/>
                <a:gd name="T8" fmla="*/ 0 60000 65536"/>
                <a:gd name="T9" fmla="*/ 0 w 1440"/>
                <a:gd name="T10" fmla="*/ 0 h 1440"/>
                <a:gd name="T11" fmla="*/ 1440 w 1440"/>
                <a:gd name="T12" fmla="*/ 1440 h 14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0" h="1440">
                  <a:moveTo>
                    <a:pt x="0" y="1440"/>
                  </a:moveTo>
                  <a:cubicBezTo>
                    <a:pt x="360" y="1224"/>
                    <a:pt x="720" y="1008"/>
                    <a:pt x="960" y="768"/>
                  </a:cubicBezTo>
                  <a:cubicBezTo>
                    <a:pt x="1200" y="528"/>
                    <a:pt x="1320" y="264"/>
                    <a:pt x="1440" y="0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5" name="Text Box 12"/>
            <p:cNvSpPr txBox="1">
              <a:spLocks noChangeArrowheads="1"/>
            </p:cNvSpPr>
            <p:nvPr/>
          </p:nvSpPr>
          <p:spPr bwMode="auto">
            <a:xfrm>
              <a:off x="5507182" y="1429425"/>
              <a:ext cx="3190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5D0D8F"/>
                  </a:solidFill>
                </a:rPr>
                <a:t>S</a:t>
              </a:r>
            </a:p>
          </p:txBody>
        </p:sp>
      </p:grp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1371600" y="1951038"/>
            <a:ext cx="2921000" cy="2698750"/>
            <a:chOff x="3068782" y="1872337"/>
            <a:chExt cx="2921000" cy="2698750"/>
          </a:xfrm>
        </p:grpSpPr>
        <p:sp>
          <p:nvSpPr>
            <p:cNvPr id="50192" name="Freeform 8"/>
            <p:cNvSpPr>
              <a:spLocks/>
            </p:cNvSpPr>
            <p:nvPr/>
          </p:nvSpPr>
          <p:spPr bwMode="auto">
            <a:xfrm>
              <a:off x="3068782" y="1872337"/>
              <a:ext cx="2590800" cy="2590800"/>
            </a:xfrm>
            <a:custGeom>
              <a:avLst/>
              <a:gdLst>
                <a:gd name="T0" fmla="*/ 0 w 1632"/>
                <a:gd name="T1" fmla="*/ 0 h 1632"/>
                <a:gd name="T2" fmla="*/ 914400 w 1632"/>
                <a:gd name="T3" fmla="*/ 1371600 h 1632"/>
                <a:gd name="T4" fmla="*/ 2590800 w 1632"/>
                <a:gd name="T5" fmla="*/ 2590800 h 1632"/>
                <a:gd name="T6" fmla="*/ 0 60000 65536"/>
                <a:gd name="T7" fmla="*/ 0 60000 65536"/>
                <a:gd name="T8" fmla="*/ 0 60000 65536"/>
                <a:gd name="T9" fmla="*/ 0 w 1632"/>
                <a:gd name="T10" fmla="*/ 0 h 1632"/>
                <a:gd name="T11" fmla="*/ 1632 w 1632"/>
                <a:gd name="T12" fmla="*/ 1632 h 16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32" h="1632">
                  <a:moveTo>
                    <a:pt x="0" y="0"/>
                  </a:moveTo>
                  <a:cubicBezTo>
                    <a:pt x="152" y="296"/>
                    <a:pt x="304" y="592"/>
                    <a:pt x="576" y="864"/>
                  </a:cubicBezTo>
                  <a:cubicBezTo>
                    <a:pt x="848" y="1136"/>
                    <a:pt x="1456" y="1504"/>
                    <a:pt x="1632" y="1632"/>
                  </a:cubicBezTo>
                </a:path>
              </a:pathLst>
            </a:custGeom>
            <a:noFill/>
            <a:ln w="28575" cap="flat" cmpd="sng">
              <a:solidFill>
                <a:srgbClr val="177B2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3" name="Text Box 13"/>
            <p:cNvSpPr txBox="1">
              <a:spLocks noChangeArrowheads="1"/>
            </p:cNvSpPr>
            <p:nvPr/>
          </p:nvSpPr>
          <p:spPr bwMode="auto">
            <a:xfrm>
              <a:off x="5659582" y="4234537"/>
              <a:ext cx="330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177B21"/>
                  </a:solidFill>
                </a:rPr>
                <a:t>D</a:t>
              </a:r>
            </a:p>
          </p:txBody>
        </p:sp>
      </p:grpSp>
      <p:grpSp>
        <p:nvGrpSpPr>
          <p:cNvPr id="10" name="Group 24"/>
          <p:cNvGrpSpPr>
            <a:grpSpLocks/>
          </p:cNvGrpSpPr>
          <p:nvPr/>
        </p:nvGrpSpPr>
        <p:grpSpPr bwMode="auto">
          <a:xfrm>
            <a:off x="381000" y="3414713"/>
            <a:ext cx="2133600" cy="304800"/>
            <a:chOff x="2078182" y="3336012"/>
            <a:chExt cx="2133600" cy="304800"/>
          </a:xfrm>
        </p:grpSpPr>
        <p:sp>
          <p:nvSpPr>
            <p:cNvPr id="50188" name="Line 10"/>
            <p:cNvSpPr>
              <a:spLocks noChangeShapeType="1"/>
            </p:cNvSpPr>
            <p:nvPr/>
          </p:nvSpPr>
          <p:spPr bwMode="auto">
            <a:xfrm flipH="1">
              <a:off x="2535382" y="3472537"/>
              <a:ext cx="1676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50189" name="Text Box 15"/>
            <p:cNvSpPr txBox="1">
              <a:spLocks noChangeArrowheads="1"/>
            </p:cNvSpPr>
            <p:nvPr/>
          </p:nvSpPr>
          <p:spPr bwMode="auto">
            <a:xfrm>
              <a:off x="2078182" y="3336012"/>
              <a:ext cx="62865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p</a:t>
              </a:r>
              <a:r>
                <a:rPr lang="en-US" altLang="en-US" sz="1800" baseline="-25000"/>
                <a:t>1</a:t>
              </a:r>
              <a:r>
                <a:rPr lang="en-US" altLang="en-US" sz="1800"/>
                <a:t>*</a:t>
              </a:r>
              <a:endParaRPr lang="en-US" altLang="en-US" sz="1800" i="1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322512" y="3357232"/>
            <a:ext cx="563563" cy="1733881"/>
            <a:chOff x="2322512" y="3357232"/>
            <a:chExt cx="563563" cy="1733881"/>
          </a:xfrm>
        </p:grpSpPr>
        <p:grpSp>
          <p:nvGrpSpPr>
            <p:cNvPr id="9" name="Group 25"/>
            <p:cNvGrpSpPr>
              <a:grpSpLocks/>
            </p:cNvGrpSpPr>
            <p:nvPr/>
          </p:nvGrpSpPr>
          <p:grpSpPr bwMode="auto">
            <a:xfrm>
              <a:off x="2322512" y="3551238"/>
              <a:ext cx="563563" cy="1539875"/>
              <a:chOff x="3983182" y="3472537"/>
              <a:chExt cx="563563" cy="1539875"/>
            </a:xfrm>
          </p:grpSpPr>
          <p:sp>
            <p:nvSpPr>
              <p:cNvPr id="50190" name="Line 11"/>
              <p:cNvSpPr>
                <a:spLocks noChangeShapeType="1"/>
              </p:cNvSpPr>
              <p:nvPr/>
            </p:nvSpPr>
            <p:spPr bwMode="auto">
              <a:xfrm>
                <a:off x="4211782" y="3472537"/>
                <a:ext cx="0" cy="12192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191" name="Text Box 14"/>
              <p:cNvSpPr txBox="1">
                <a:spLocks noChangeArrowheads="1"/>
              </p:cNvSpPr>
              <p:nvPr/>
            </p:nvSpPr>
            <p:spPr bwMode="auto">
              <a:xfrm>
                <a:off x="3983182" y="4707612"/>
                <a:ext cx="563563" cy="3048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 i="1"/>
                  <a:t>c</a:t>
                </a:r>
                <a:r>
                  <a:rPr lang="en-US" altLang="en-US" sz="1800" baseline="-25000"/>
                  <a:t>1</a:t>
                </a:r>
                <a:r>
                  <a:rPr lang="en-US" altLang="en-US" sz="1800"/>
                  <a:t>*</a:t>
                </a:r>
                <a:endParaRPr lang="en-US" altLang="en-US" sz="1800" i="1"/>
              </a:p>
            </p:txBody>
          </p:sp>
        </p:grpSp>
        <p:sp>
          <p:nvSpPr>
            <p:cNvPr id="26" name="Text Box 14"/>
            <p:cNvSpPr txBox="1">
              <a:spLocks noChangeArrowheads="1"/>
            </p:cNvSpPr>
            <p:nvPr/>
          </p:nvSpPr>
          <p:spPr bwMode="auto">
            <a:xfrm>
              <a:off x="2396165" y="3357232"/>
              <a:ext cx="457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2400" dirty="0" smtClean="0">
                  <a:sym typeface="Symbol" pitchFamily="18" charset="2"/>
                </a:rPr>
                <a:t>  </a:t>
              </a:r>
              <a:endParaRPr lang="en-US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3850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Supply of Future Goods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An increase in the relative price of future goods (</a:t>
            </a:r>
            <a:r>
              <a:rPr lang="en-US" altLang="en-US" i="1" smtClean="0"/>
              <a:t>p</a:t>
            </a:r>
            <a:r>
              <a:rPr lang="en-US" altLang="en-US" baseline="-25000" smtClean="0"/>
              <a:t>1</a:t>
            </a:r>
            <a:r>
              <a:rPr lang="en-US" altLang="en-US" smtClean="0"/>
              <a:t>) </a:t>
            </a:r>
          </a:p>
          <a:p>
            <a:pPr lvl="1"/>
            <a:r>
              <a:rPr lang="en-US" altLang="en-US" smtClean="0"/>
              <a:t>Will likely induce firms to produce more of them because the yield from doing so is now greater</a:t>
            </a:r>
          </a:p>
          <a:p>
            <a:pPr lvl="1"/>
            <a:r>
              <a:rPr lang="en-US" altLang="en-US" smtClean="0"/>
              <a:t>The supply curve will be upward sloping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3A317E2-ED06-4E0F-BA35-D77832BCF6AD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54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4300" smtClean="0"/>
              <a:t>Equilibrium Price of Future Goods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We expect that </a:t>
            </a:r>
            <a:r>
              <a:rPr lang="en-US" altLang="en-US" i="1" smtClean="0"/>
              <a:t>p</a:t>
            </a:r>
            <a:r>
              <a:rPr lang="en-US" altLang="en-US" baseline="-25000" smtClean="0"/>
              <a:t>1</a:t>
            </a:r>
            <a:r>
              <a:rPr lang="en-US" altLang="en-US" smtClean="0"/>
              <a:t> &lt; 1</a:t>
            </a:r>
          </a:p>
          <a:p>
            <a:pPr lvl="1"/>
            <a:r>
              <a:rPr lang="en-US" altLang="en-US" smtClean="0"/>
              <a:t>Individuals require some reward for waiting</a:t>
            </a:r>
          </a:p>
          <a:p>
            <a:pPr lvl="1"/>
            <a:r>
              <a:rPr lang="en-US" altLang="en-US" smtClean="0"/>
              <a:t>Capital accumulation is “productive”</a:t>
            </a:r>
          </a:p>
          <a:p>
            <a:pPr lvl="2"/>
            <a:r>
              <a:rPr lang="en-US" altLang="en-US" smtClean="0"/>
              <a:t>Sacrificing one good today will yield more than one good in the future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BA085D-1B26-4D4C-9D4B-6217B8D9F84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466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Equilibrium Rate of Return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price of future goods: </a:t>
            </a:r>
            <a:r>
              <a:rPr lang="en-US" altLang="en-US" sz="2800" i="1" dirty="0" smtClean="0">
                <a:solidFill>
                  <a:srgbClr val="FF0000"/>
                </a:solidFill>
              </a:rPr>
              <a:t>p</a:t>
            </a:r>
            <a:r>
              <a:rPr lang="en-US" altLang="en-US" sz="2800" baseline="-25000" dirty="0" smtClean="0">
                <a:solidFill>
                  <a:srgbClr val="FF0000"/>
                </a:solidFill>
              </a:rPr>
              <a:t>1</a:t>
            </a:r>
            <a:r>
              <a:rPr lang="en-US" altLang="en-US" sz="2800" dirty="0" smtClean="0">
                <a:solidFill>
                  <a:srgbClr val="FF0000"/>
                </a:solidFill>
              </a:rPr>
              <a:t>* = 1/(</a:t>
            </a:r>
            <a:r>
              <a:rPr lang="en-US" altLang="en-US" sz="2800" dirty="0" smtClean="0">
                <a:solidFill>
                  <a:srgbClr val="FF0000"/>
                </a:solidFill>
              </a:rPr>
              <a:t>1+</a:t>
            </a:r>
            <a:r>
              <a:rPr lang="en-US" altLang="en-US" sz="2800" i="1" dirty="0" smtClean="0">
                <a:solidFill>
                  <a:srgbClr val="FF0000"/>
                </a:solidFill>
              </a:rPr>
              <a:t>r*</a:t>
            </a:r>
            <a:r>
              <a:rPr lang="en-US" altLang="en-US" sz="2800" dirty="0" smtClean="0">
                <a:solidFill>
                  <a:srgbClr val="FF0000"/>
                </a:solidFill>
              </a:rPr>
              <a:t>)</a:t>
            </a:r>
            <a:endParaRPr lang="en-US" altLang="en-US" sz="2800" dirty="0" smtClean="0">
              <a:solidFill>
                <a:srgbClr val="FF0000"/>
              </a:solidFill>
            </a:endParaRPr>
          </a:p>
          <a:p>
            <a:pPr lvl="1"/>
            <a:r>
              <a:rPr lang="en-US" altLang="en-US" dirty="0" smtClean="0"/>
              <a:t>Determined in the market for those goods </a:t>
            </a:r>
          </a:p>
          <a:p>
            <a:pPr lvl="1"/>
            <a:r>
              <a:rPr lang="en-US" altLang="en-US" dirty="0" smtClean="0"/>
              <a:t>Because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* is assumed to be &lt; 1</a:t>
            </a:r>
          </a:p>
          <a:p>
            <a:pPr lvl="2"/>
            <a:r>
              <a:rPr lang="en-US" altLang="en-US" dirty="0" smtClean="0"/>
              <a:t>The rate of </a:t>
            </a:r>
            <a:r>
              <a:rPr lang="en-US" altLang="en-US" dirty="0" smtClean="0"/>
              <a:t>return, </a:t>
            </a:r>
            <a:r>
              <a:rPr lang="en-US" altLang="en-US" i="1" dirty="0" smtClean="0">
                <a:solidFill>
                  <a:srgbClr val="C00000"/>
                </a:solidFill>
              </a:rPr>
              <a:t>r*= (1-</a:t>
            </a:r>
            <a:r>
              <a:rPr lang="en-US" altLang="en-US" i="1" dirty="0">
                <a:solidFill>
                  <a:srgbClr val="C00000"/>
                </a:solidFill>
              </a:rPr>
              <a:t> p</a:t>
            </a:r>
            <a:r>
              <a:rPr lang="en-US" altLang="en-US" baseline="-25000" dirty="0">
                <a:solidFill>
                  <a:srgbClr val="C00000"/>
                </a:solidFill>
              </a:rPr>
              <a:t>1</a:t>
            </a:r>
            <a:r>
              <a:rPr lang="en-US" altLang="en-US" dirty="0" smtClean="0">
                <a:solidFill>
                  <a:srgbClr val="C00000"/>
                </a:solidFill>
              </a:rPr>
              <a:t>*)/</a:t>
            </a:r>
            <a:r>
              <a:rPr lang="en-US" altLang="en-US" i="1" dirty="0">
                <a:solidFill>
                  <a:srgbClr val="C00000"/>
                </a:solidFill>
              </a:rPr>
              <a:t> p</a:t>
            </a:r>
            <a:r>
              <a:rPr lang="en-US" altLang="en-US" baseline="-25000" dirty="0">
                <a:solidFill>
                  <a:srgbClr val="C00000"/>
                </a:solidFill>
              </a:rPr>
              <a:t>1</a:t>
            </a:r>
            <a:r>
              <a:rPr lang="en-US" altLang="en-US" dirty="0" smtClean="0">
                <a:solidFill>
                  <a:srgbClr val="C00000"/>
                </a:solidFill>
              </a:rPr>
              <a:t>*</a:t>
            </a:r>
            <a:r>
              <a:rPr lang="en-US" altLang="en-US" dirty="0" smtClean="0"/>
              <a:t>, </a:t>
            </a:r>
            <a:r>
              <a:rPr lang="en-US" altLang="en-US" dirty="0" smtClean="0"/>
              <a:t>will be positive</a:t>
            </a:r>
          </a:p>
          <a:p>
            <a:r>
              <a:rPr lang="en-US" altLang="en-US" i="1" dirty="0" smtClean="0"/>
              <a:t>p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* and </a:t>
            </a:r>
            <a:r>
              <a:rPr lang="en-US" altLang="en-US" i="1" dirty="0" smtClean="0"/>
              <a:t>r*</a:t>
            </a:r>
            <a:r>
              <a:rPr lang="en-US" altLang="en-US" dirty="0" smtClean="0"/>
              <a:t> 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Are equivalent ways of measuring the terms on which present goods can be turned into future goods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370FB78-9D7A-4740-ADDC-239BC89C53DE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141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839200" cy="990600"/>
          </a:xfrm>
        </p:spPr>
        <p:txBody>
          <a:bodyPr>
            <a:noAutofit/>
          </a:bodyPr>
          <a:lstStyle/>
          <a:p>
            <a:r>
              <a:rPr lang="en-US" altLang="en-US" sz="3500" dirty="0" smtClean="0"/>
              <a:t>Rate of return, real interest rates, </a:t>
            </a:r>
            <a:br>
              <a:rPr lang="en-US" altLang="en-US" sz="3500" dirty="0" smtClean="0"/>
            </a:br>
            <a:r>
              <a:rPr lang="en-US" altLang="en-US" sz="3500" dirty="0" smtClean="0"/>
              <a:t>and nominal interest rates</a:t>
            </a:r>
          </a:p>
        </p:txBody>
      </p:sp>
      <p:sp>
        <p:nvSpPr>
          <p:cNvPr id="819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Rate of return and the real interest rate </a:t>
            </a:r>
          </a:p>
          <a:p>
            <a:pPr lvl="1"/>
            <a:r>
              <a:rPr lang="en-US" altLang="en-US" dirty="0" smtClean="0"/>
              <a:t>Refer to the real return that is available from capital accumulation</a:t>
            </a:r>
          </a:p>
          <a:p>
            <a:r>
              <a:rPr lang="en-US" altLang="en-US" dirty="0" smtClean="0"/>
              <a:t>Nominal interest rate (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dirty="0" smtClean="0"/>
              <a:t>) is given by</a:t>
            </a:r>
          </a:p>
          <a:p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736AE8-E31E-47AC-9E9B-DE382019580E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graphicFrame>
        <p:nvGraphicFramePr>
          <p:cNvPr id="634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3036872"/>
              </p:ext>
            </p:extLst>
          </p:nvPr>
        </p:nvGraphicFramePr>
        <p:xfrm>
          <a:off x="996950" y="3584575"/>
          <a:ext cx="6365875" cy="190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3536" name="Equation" r:id="rId3" imgW="2463480" imgH="736560" progId="Equation.DSMT4">
                  <p:embed/>
                </p:oleObj>
              </mc:Choice>
              <mc:Fallback>
                <p:oleObj name="Equation" r:id="rId3" imgW="246348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3584575"/>
                        <a:ext cx="6365875" cy="190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202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17.2 	Determination of the Real Interest Rate</a:t>
            </a:r>
          </a:p>
        </p:txBody>
      </p:sp>
      <p:sp>
        <p:nvSpPr>
          <p:cNvPr id="54277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D7E0ACF3-5FDA-4B88-AF00-C7127D81D0C0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54275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smtClean="0"/>
              <a:t>Simple model of real interest rate determination </a:t>
            </a:r>
          </a:p>
          <a:p>
            <a:pPr lvl="1"/>
            <a:r>
              <a:rPr lang="en-US" altLang="en-US" smtClean="0"/>
              <a:t>Can be developed by assuming that consumption grows at some exogenous rate, </a:t>
            </a:r>
            <a:r>
              <a:rPr lang="en-US" altLang="en-US" i="1" smtClean="0"/>
              <a:t>g</a:t>
            </a:r>
          </a:p>
          <a:p>
            <a:pPr lvl="1"/>
            <a:r>
              <a:rPr lang="en-US" altLang="en-US" smtClean="0"/>
              <a:t>The real interest rate must adjust so that consumers are willing to accept this rate of growth in consumption</a:t>
            </a:r>
          </a:p>
        </p:txBody>
      </p:sp>
    </p:spTree>
    <p:extLst>
      <p:ext uri="{BB962C8B-B14F-4D97-AF65-F5344CB8AC3E}">
        <p14:creationId xmlns:p14="http://schemas.microsoft.com/office/powerpoint/2010/main" val="1448759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17.2 	Determination of the Real Interest Rate</a:t>
            </a:r>
          </a:p>
        </p:txBody>
      </p:sp>
      <p:sp>
        <p:nvSpPr>
          <p:cNvPr id="9222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94166A0F-E5BE-49AD-B8AF-4A2540D9AB52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9220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smtClean="0"/>
              <a:t>Optimal consumption </a:t>
            </a:r>
          </a:p>
          <a:p>
            <a:pPr lvl="1"/>
            <a:r>
              <a:rPr lang="en-US" altLang="en-US" smtClean="0"/>
              <a:t>Maximize the utility received from this consumption over time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81000" y="2590800"/>
            <a:ext cx="8382000" cy="3810000"/>
          </a:xfrm>
        </p:spPr>
        <p:txBody>
          <a:bodyPr>
            <a:noAutofit/>
          </a:bodyPr>
          <a:lstStyle/>
          <a:p>
            <a:pPr lvl="2" eaLnBrk="0" hangingPunct="0">
              <a:buFont typeface="Arial" charset="0"/>
              <a:buChar char="•"/>
              <a:defRPr/>
            </a:pPr>
            <a:r>
              <a:rPr lang="en-US" sz="2800" kern="0" dirty="0"/>
              <a:t>Where </a:t>
            </a:r>
            <a:r>
              <a:rPr lang="el-GR" sz="2800" kern="0" dirty="0"/>
              <a:t>δ</a:t>
            </a:r>
            <a:r>
              <a:rPr lang="en-US" sz="2800" kern="0" dirty="0"/>
              <a:t> is the rate of pure time preference</a:t>
            </a:r>
          </a:p>
          <a:p>
            <a:pPr eaLnBrk="0" hangingPunct="0">
              <a:buFont typeface="Arial" charset="0"/>
              <a:buChar char="•"/>
              <a:defRPr/>
            </a:pPr>
            <a:r>
              <a:rPr lang="en-US" kern="0" dirty="0">
                <a:solidFill>
                  <a:srgbClr val="002D56"/>
                </a:solidFill>
              </a:rPr>
              <a:t>At each instant of time, this person </a:t>
            </a:r>
          </a:p>
          <a:p>
            <a:pPr lvl="1" eaLnBrk="0" hangingPunct="0">
              <a:buFont typeface="Arial" charset="0"/>
              <a:buChar char="•"/>
              <a:defRPr/>
            </a:pPr>
            <a:r>
              <a:rPr lang="en-US" kern="0" dirty="0"/>
              <a:t>Earns a wage </a:t>
            </a:r>
            <a:r>
              <a:rPr lang="en-US" i="1" kern="0" dirty="0"/>
              <a:t>w</a:t>
            </a:r>
          </a:p>
          <a:p>
            <a:pPr lvl="1" eaLnBrk="0" hangingPunct="0">
              <a:buFont typeface="Arial" charset="0"/>
              <a:buChar char="•"/>
              <a:defRPr/>
            </a:pPr>
            <a:r>
              <a:rPr lang="en-US" kern="0" dirty="0"/>
              <a:t>Earns interest </a:t>
            </a:r>
            <a:r>
              <a:rPr lang="en-US" i="1" kern="0" dirty="0"/>
              <a:t>r</a:t>
            </a:r>
            <a:r>
              <a:rPr lang="en-US" kern="0" dirty="0"/>
              <a:t> on his or her capital stock </a:t>
            </a:r>
            <a:r>
              <a:rPr lang="en-US" i="1" kern="0" dirty="0"/>
              <a:t>k</a:t>
            </a:r>
          </a:p>
          <a:p>
            <a:pPr>
              <a:defRPr/>
            </a:pPr>
            <a:r>
              <a:rPr lang="en-US" dirty="0">
                <a:solidFill>
                  <a:srgbClr val="000099"/>
                </a:solidFill>
              </a:rPr>
              <a:t>  </a:t>
            </a:r>
            <a:r>
              <a:rPr lang="en-US" dirty="0">
                <a:solidFill>
                  <a:srgbClr val="002D56"/>
                </a:solidFill>
              </a:rPr>
              <a:t>Capital: </a:t>
            </a:r>
            <a:r>
              <a:rPr lang="en-US" sz="2800" i="1" dirty="0" err="1">
                <a:solidFill>
                  <a:srgbClr val="FF0000"/>
                </a:solidFill>
              </a:rPr>
              <a:t>dk</a:t>
            </a:r>
            <a:r>
              <a:rPr lang="en-US" sz="2800" i="1" dirty="0">
                <a:solidFill>
                  <a:srgbClr val="FF0000"/>
                </a:solidFill>
              </a:rPr>
              <a:t>/</a:t>
            </a:r>
            <a:r>
              <a:rPr lang="en-US" sz="2800" i="1" dirty="0" err="1">
                <a:solidFill>
                  <a:srgbClr val="FF0000"/>
                </a:solidFill>
              </a:rPr>
              <a:t>dt</a:t>
            </a:r>
            <a:r>
              <a:rPr lang="en-US" sz="2800" i="1" dirty="0">
                <a:solidFill>
                  <a:srgbClr val="FF0000"/>
                </a:solidFill>
              </a:rPr>
              <a:t> = w + </a:t>
            </a:r>
            <a:r>
              <a:rPr lang="en-US" sz="2800" i="1" dirty="0" err="1">
                <a:solidFill>
                  <a:srgbClr val="FF0000"/>
                </a:solidFill>
              </a:rPr>
              <a:t>rk</a:t>
            </a:r>
            <a:r>
              <a:rPr lang="en-US" sz="2800" i="1" dirty="0">
                <a:solidFill>
                  <a:srgbClr val="FF0000"/>
                </a:solidFill>
              </a:rPr>
              <a:t> – c</a:t>
            </a:r>
          </a:p>
          <a:p>
            <a:pPr lvl="1">
              <a:defRPr/>
            </a:pPr>
            <a:r>
              <a:rPr lang="en-US" dirty="0"/>
              <a:t>And is bound by the endpoint constraints: </a:t>
            </a:r>
            <a:endParaRPr lang="en-US" dirty="0" smtClean="0"/>
          </a:p>
          <a:p>
            <a:pPr marL="457200" lvl="1" indent="0">
              <a:buNone/>
              <a:defRPr/>
            </a:pPr>
            <a:r>
              <a:rPr lang="en-US" sz="2800" dirty="0">
                <a:solidFill>
                  <a:srgbClr val="FF0000"/>
                </a:solidFill>
              </a:rPr>
              <a:t>	</a:t>
            </a:r>
            <a:r>
              <a:rPr lang="en-US" sz="2800" dirty="0" smtClean="0">
                <a:solidFill>
                  <a:srgbClr val="FF0000"/>
                </a:solidFill>
              </a:rPr>
              <a:t>k(0</a:t>
            </a:r>
            <a:r>
              <a:rPr lang="en-US" sz="2800" dirty="0">
                <a:solidFill>
                  <a:srgbClr val="FF0000"/>
                </a:solidFill>
              </a:rPr>
              <a:t>) = 0 and k(</a:t>
            </a:r>
            <a:r>
              <a:rPr lang="en-US" sz="2800" dirty="0">
                <a:solidFill>
                  <a:srgbClr val="FF0000"/>
                </a:solidFill>
                <a:latin typeface="Arial"/>
                <a:cs typeface="Arial"/>
              </a:rPr>
              <a:t>∞</a:t>
            </a:r>
            <a:r>
              <a:rPr lang="en-US" sz="2800" dirty="0">
                <a:solidFill>
                  <a:srgbClr val="FF0000"/>
                </a:solidFill>
              </a:rPr>
              <a:t>) = 0</a:t>
            </a:r>
          </a:p>
          <a:p>
            <a:endParaRPr lang="en-US" dirty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4059487"/>
              </p:ext>
            </p:extLst>
          </p:nvPr>
        </p:nvGraphicFramePr>
        <p:xfrm>
          <a:off x="4800600" y="1524000"/>
          <a:ext cx="317182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562" name="Equation" r:id="rId3" imgW="1447560" imgH="469800" progId="Equation.DSMT4">
                  <p:embed/>
                </p:oleObj>
              </mc:Choice>
              <mc:Fallback>
                <p:oleObj name="Equation" r:id="rId3" imgW="14475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524000"/>
                        <a:ext cx="3171825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209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17.2 	Determination of the Real Interest Rate</a:t>
            </a:r>
          </a:p>
        </p:txBody>
      </p:sp>
      <p:sp>
        <p:nvSpPr>
          <p:cNvPr id="55301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C83EC37E-49FE-429A-B774-24ED3E8F06F1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55299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r>
              <a:rPr lang="en-US" altLang="en-US" dirty="0" smtClean="0"/>
              <a:t>Setting up the augmented Hamiltonian for this dynamic optimization problem yields:</a:t>
            </a:r>
          </a:p>
          <a:p>
            <a:pPr algn="ctr">
              <a:buFont typeface="Arial" charset="0"/>
              <a:buNone/>
            </a:pPr>
            <a:r>
              <a:rPr lang="en-US" altLang="en-US" sz="2800" i="1" dirty="0" smtClean="0">
                <a:solidFill>
                  <a:srgbClr val="FF0000"/>
                </a:solidFill>
              </a:rPr>
              <a:t>H = e</a:t>
            </a:r>
            <a:r>
              <a:rPr lang="en-US" altLang="en-US" sz="2800" i="1" baseline="30000" dirty="0" smtClean="0">
                <a:solidFill>
                  <a:srgbClr val="FF0000"/>
                </a:solidFill>
              </a:rPr>
              <a:t>-</a:t>
            </a:r>
            <a:r>
              <a:rPr lang="el-GR" altLang="en-US" sz="2800" i="1" baseline="30000" dirty="0" smtClean="0">
                <a:solidFill>
                  <a:srgbClr val="FF0000"/>
                </a:solidFill>
              </a:rPr>
              <a:t>δ</a:t>
            </a:r>
            <a:r>
              <a:rPr lang="en-US" altLang="en-US" sz="2800" i="1" baseline="30000" dirty="0" err="1" smtClean="0">
                <a:solidFill>
                  <a:srgbClr val="FF0000"/>
                </a:solidFill>
              </a:rPr>
              <a:t>t</a:t>
            </a:r>
            <a:r>
              <a:rPr lang="en-US" altLang="en-US" sz="2800" i="1" dirty="0" err="1" smtClean="0">
                <a:solidFill>
                  <a:srgbClr val="FF0000"/>
                </a:solidFill>
              </a:rPr>
              <a:t>U</a:t>
            </a:r>
            <a:r>
              <a:rPr lang="en-US" altLang="en-US" sz="2800" i="1" dirty="0" smtClean="0">
                <a:solidFill>
                  <a:srgbClr val="FF0000"/>
                </a:solidFill>
              </a:rPr>
              <a:t>(c) + </a:t>
            </a:r>
            <a:r>
              <a:rPr lang="el-GR" altLang="en-US" sz="2800" i="1" dirty="0" smtClean="0">
                <a:solidFill>
                  <a:srgbClr val="FF0000"/>
                </a:solidFill>
                <a:cs typeface="Arial" charset="0"/>
              </a:rPr>
              <a:t>λ</a:t>
            </a:r>
            <a:r>
              <a:rPr lang="en-US" altLang="en-US" sz="2800" i="1" dirty="0" smtClean="0">
                <a:solidFill>
                  <a:srgbClr val="FF0000"/>
                </a:solidFill>
                <a:cs typeface="Arial" charset="0"/>
              </a:rPr>
              <a:t>(w + </a:t>
            </a:r>
            <a:r>
              <a:rPr lang="en-US" altLang="en-US" sz="2800" i="1" dirty="0" err="1" smtClean="0">
                <a:solidFill>
                  <a:srgbClr val="FF0000"/>
                </a:solidFill>
                <a:cs typeface="Arial" charset="0"/>
              </a:rPr>
              <a:t>rk</a:t>
            </a:r>
            <a:r>
              <a:rPr lang="en-US" altLang="en-US" sz="2800" i="1" dirty="0" smtClean="0">
                <a:solidFill>
                  <a:srgbClr val="FF0000"/>
                </a:solidFill>
                <a:cs typeface="Arial" charset="0"/>
              </a:rPr>
              <a:t> –c) + k d</a:t>
            </a:r>
            <a:r>
              <a:rPr lang="el-GR" altLang="en-US" sz="2800" i="1" dirty="0" smtClean="0">
                <a:solidFill>
                  <a:srgbClr val="FF0000"/>
                </a:solidFill>
                <a:cs typeface="Arial" charset="0"/>
              </a:rPr>
              <a:t>λ</a:t>
            </a:r>
            <a:r>
              <a:rPr lang="en-US" altLang="en-US" sz="2800" i="1" dirty="0" smtClean="0">
                <a:solidFill>
                  <a:srgbClr val="FF0000"/>
                </a:solidFill>
                <a:cs typeface="Arial" charset="0"/>
              </a:rPr>
              <a:t>/</a:t>
            </a:r>
            <a:r>
              <a:rPr lang="en-US" altLang="en-US" sz="2800" i="1" dirty="0" err="1" smtClean="0">
                <a:solidFill>
                  <a:srgbClr val="FF0000"/>
                </a:solidFill>
                <a:cs typeface="Arial" charset="0"/>
              </a:rPr>
              <a:t>dt</a:t>
            </a:r>
            <a:endParaRPr lang="en-US" altLang="en-US" sz="2800" i="1" dirty="0" smtClean="0">
              <a:solidFill>
                <a:srgbClr val="FF0000"/>
              </a:solidFill>
              <a:cs typeface="Arial" charset="0"/>
            </a:endParaRPr>
          </a:p>
          <a:p>
            <a:pPr lvl="1"/>
            <a:r>
              <a:rPr lang="en-US" altLang="en-US" dirty="0" smtClean="0">
                <a:cs typeface="Arial" charset="0"/>
              </a:rPr>
              <a:t>The “maximum principle” requires:</a:t>
            </a:r>
          </a:p>
          <a:p>
            <a:pPr algn="ctr">
              <a:buFont typeface="Arial" charset="0"/>
              <a:buNone/>
            </a:pPr>
            <a:r>
              <a:rPr lang="en-US" altLang="en-US" sz="2800" i="1" dirty="0" err="1" smtClean="0">
                <a:solidFill>
                  <a:srgbClr val="FF0000"/>
                </a:solidFill>
                <a:cs typeface="Arial" charset="0"/>
              </a:rPr>
              <a:t>H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cs typeface="Arial" charset="0"/>
              </a:rPr>
              <a:t>c</a:t>
            </a:r>
            <a:r>
              <a:rPr lang="en-US" altLang="en-US" sz="2800" i="1" dirty="0" smtClean="0">
                <a:solidFill>
                  <a:srgbClr val="FF0000"/>
                </a:solidFill>
                <a:cs typeface="Arial" charset="0"/>
              </a:rPr>
              <a:t> = </a:t>
            </a:r>
            <a:r>
              <a:rPr lang="en-US" altLang="en-US" sz="2800" i="1" dirty="0" smtClean="0">
                <a:solidFill>
                  <a:srgbClr val="FF0000"/>
                </a:solidFill>
              </a:rPr>
              <a:t>e</a:t>
            </a:r>
            <a:r>
              <a:rPr lang="en-US" altLang="en-US" sz="2800" i="1" baseline="30000" dirty="0" smtClean="0">
                <a:solidFill>
                  <a:srgbClr val="FF0000"/>
                </a:solidFill>
              </a:rPr>
              <a:t>-</a:t>
            </a:r>
            <a:r>
              <a:rPr lang="el-GR" altLang="en-US" sz="2800" i="1" baseline="30000" dirty="0" smtClean="0">
                <a:solidFill>
                  <a:srgbClr val="FF0000"/>
                </a:solidFill>
              </a:rPr>
              <a:t>δ</a:t>
            </a:r>
            <a:r>
              <a:rPr lang="en-US" altLang="en-US" sz="2800" i="1" baseline="30000" dirty="0" err="1" smtClean="0">
                <a:solidFill>
                  <a:srgbClr val="FF0000"/>
                </a:solidFill>
              </a:rPr>
              <a:t>t</a:t>
            </a:r>
            <a:r>
              <a:rPr lang="en-US" altLang="en-US" sz="2800" i="1" dirty="0" err="1" smtClean="0">
                <a:solidFill>
                  <a:srgbClr val="FF0000"/>
                </a:solidFill>
              </a:rPr>
              <a:t>U</a:t>
            </a:r>
            <a:r>
              <a:rPr lang="en-US" altLang="en-US" sz="2800" i="1" dirty="0" smtClean="0">
                <a:solidFill>
                  <a:srgbClr val="FF0000"/>
                </a:solidFill>
              </a:rPr>
              <a:t>’(c) – </a:t>
            </a:r>
            <a:r>
              <a:rPr lang="el-GR" altLang="en-US" sz="2800" i="1" dirty="0" smtClean="0">
                <a:solidFill>
                  <a:srgbClr val="FF0000"/>
                </a:solidFill>
                <a:cs typeface="Arial" charset="0"/>
              </a:rPr>
              <a:t>λ</a:t>
            </a:r>
            <a:r>
              <a:rPr lang="en-US" altLang="en-US" sz="2800" i="1" dirty="0" smtClean="0">
                <a:solidFill>
                  <a:srgbClr val="FF0000"/>
                </a:solidFill>
                <a:cs typeface="Arial" charset="0"/>
              </a:rPr>
              <a:t> = 0</a:t>
            </a:r>
          </a:p>
          <a:p>
            <a:pPr algn="ctr">
              <a:buFont typeface="Arial" charset="0"/>
              <a:buNone/>
            </a:pPr>
            <a:r>
              <a:rPr lang="en-US" altLang="en-US" sz="2800" i="1" dirty="0" err="1" smtClean="0">
                <a:solidFill>
                  <a:srgbClr val="FF0000"/>
                </a:solidFill>
                <a:cs typeface="Arial" charset="0"/>
              </a:rPr>
              <a:t>H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cs typeface="Arial" charset="0"/>
              </a:rPr>
              <a:t>k</a:t>
            </a:r>
            <a:r>
              <a:rPr lang="en-US" altLang="en-US" sz="2800" i="1" dirty="0" smtClean="0">
                <a:solidFill>
                  <a:srgbClr val="FF0000"/>
                </a:solidFill>
                <a:cs typeface="Arial" charset="0"/>
              </a:rPr>
              <a:t> = r</a:t>
            </a:r>
            <a:r>
              <a:rPr lang="el-GR" altLang="en-US" sz="2800" i="1" dirty="0" smtClean="0">
                <a:solidFill>
                  <a:srgbClr val="FF0000"/>
                </a:solidFill>
                <a:cs typeface="Arial" charset="0"/>
              </a:rPr>
              <a:t>λ</a:t>
            </a:r>
            <a:r>
              <a:rPr lang="en-US" altLang="en-US" sz="2800" i="1" dirty="0" smtClean="0">
                <a:solidFill>
                  <a:srgbClr val="FF0000"/>
                </a:solidFill>
                <a:cs typeface="Arial" charset="0"/>
              </a:rPr>
              <a:t> + d</a:t>
            </a:r>
            <a:r>
              <a:rPr lang="el-GR" altLang="en-US" sz="2800" i="1" dirty="0" smtClean="0">
                <a:solidFill>
                  <a:srgbClr val="FF0000"/>
                </a:solidFill>
                <a:cs typeface="Arial" charset="0"/>
              </a:rPr>
              <a:t>λ</a:t>
            </a:r>
            <a:r>
              <a:rPr lang="en-US" altLang="en-US" sz="2800" i="1" dirty="0" smtClean="0">
                <a:solidFill>
                  <a:srgbClr val="FF0000"/>
                </a:solidFill>
                <a:cs typeface="Arial" charset="0"/>
              </a:rPr>
              <a:t>/</a:t>
            </a:r>
            <a:r>
              <a:rPr lang="en-US" altLang="en-US" sz="2800" i="1" dirty="0" err="1" smtClean="0">
                <a:solidFill>
                  <a:srgbClr val="FF0000"/>
                </a:solidFill>
                <a:cs typeface="Arial" charset="0"/>
              </a:rPr>
              <a:t>dt</a:t>
            </a:r>
            <a:r>
              <a:rPr lang="en-US" altLang="en-US" sz="2800" i="1" dirty="0" smtClean="0">
                <a:solidFill>
                  <a:srgbClr val="FF0000"/>
                </a:solidFill>
                <a:cs typeface="Arial" charset="0"/>
              </a:rPr>
              <a:t> = 0   </a:t>
            </a:r>
            <a:r>
              <a:rPr lang="en-US" altLang="en-US" sz="2800" dirty="0" smtClean="0">
                <a:cs typeface="Arial" charset="0"/>
              </a:rPr>
              <a:t>or  </a:t>
            </a:r>
            <a:r>
              <a:rPr lang="en-US" altLang="en-US" sz="2800" i="1" dirty="0" smtClean="0">
                <a:solidFill>
                  <a:srgbClr val="FF0000"/>
                </a:solidFill>
                <a:cs typeface="Arial" charset="0"/>
              </a:rPr>
              <a:t> r</a:t>
            </a:r>
            <a:r>
              <a:rPr lang="el-GR" altLang="en-US" sz="2800" i="1" dirty="0" smtClean="0">
                <a:solidFill>
                  <a:srgbClr val="FF0000"/>
                </a:solidFill>
                <a:cs typeface="Arial" charset="0"/>
              </a:rPr>
              <a:t>λ</a:t>
            </a:r>
            <a:r>
              <a:rPr lang="en-US" altLang="en-US" sz="2800" i="1" dirty="0" smtClean="0">
                <a:solidFill>
                  <a:srgbClr val="FF0000"/>
                </a:solidFill>
                <a:cs typeface="Arial" charset="0"/>
              </a:rPr>
              <a:t> = - d</a:t>
            </a:r>
            <a:r>
              <a:rPr lang="el-GR" altLang="en-US" sz="2800" i="1" dirty="0" smtClean="0">
                <a:solidFill>
                  <a:srgbClr val="FF0000"/>
                </a:solidFill>
                <a:cs typeface="Arial" charset="0"/>
              </a:rPr>
              <a:t>λ</a:t>
            </a:r>
            <a:r>
              <a:rPr lang="en-US" altLang="en-US" sz="2800" i="1" dirty="0" smtClean="0">
                <a:solidFill>
                  <a:srgbClr val="FF0000"/>
                </a:solidFill>
                <a:cs typeface="Arial" charset="0"/>
              </a:rPr>
              <a:t>/</a:t>
            </a:r>
            <a:r>
              <a:rPr lang="en-US" altLang="en-US" sz="2800" i="1" dirty="0" err="1" smtClean="0">
                <a:solidFill>
                  <a:srgbClr val="FF0000"/>
                </a:solidFill>
                <a:cs typeface="Arial" charset="0"/>
              </a:rPr>
              <a:t>dt</a:t>
            </a:r>
            <a:r>
              <a:rPr lang="en-US" altLang="en-US" sz="2800" i="1" dirty="0" smtClean="0">
                <a:solidFill>
                  <a:srgbClr val="FF0000"/>
                </a:solidFill>
                <a:cs typeface="Arial" charset="0"/>
              </a:rPr>
              <a:t> </a:t>
            </a:r>
          </a:p>
          <a:p>
            <a:pPr lvl="1"/>
            <a:r>
              <a:rPr lang="en-US" altLang="en-US" dirty="0" smtClean="0"/>
              <a:t>Solving, we get:  </a:t>
            </a:r>
            <a:r>
              <a:rPr lang="el-GR" altLang="en-US" i="1" dirty="0" smtClean="0">
                <a:solidFill>
                  <a:srgbClr val="FF0000"/>
                </a:solidFill>
                <a:cs typeface="Arial" charset="0"/>
              </a:rPr>
              <a:t>λ</a:t>
            </a:r>
            <a:r>
              <a:rPr lang="en-US" altLang="en-US" i="1" dirty="0" smtClean="0">
                <a:solidFill>
                  <a:srgbClr val="FF0000"/>
                </a:solidFill>
                <a:cs typeface="Arial" charset="0"/>
              </a:rPr>
              <a:t> = e</a:t>
            </a:r>
            <a:r>
              <a:rPr lang="en-US" altLang="en-US" i="1" baseline="30000" dirty="0" smtClean="0">
                <a:solidFill>
                  <a:srgbClr val="FF0000"/>
                </a:solidFill>
                <a:cs typeface="Arial" charset="0"/>
              </a:rPr>
              <a:t>–</a:t>
            </a:r>
            <a:r>
              <a:rPr lang="en-US" altLang="en-US" i="1" baseline="30000" dirty="0" err="1" smtClean="0">
                <a:solidFill>
                  <a:srgbClr val="FF0000"/>
                </a:solidFill>
                <a:cs typeface="Arial" charset="0"/>
              </a:rPr>
              <a:t>rt</a:t>
            </a:r>
            <a:r>
              <a:rPr lang="en-US" altLang="en-US" i="1" baseline="30000" dirty="0" smtClean="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altLang="en-US" i="1" dirty="0" smtClean="0">
                <a:solidFill>
                  <a:srgbClr val="FF0000"/>
                </a:solidFill>
                <a:cs typeface="Arial" charset="0"/>
              </a:rPr>
              <a:t>; </a:t>
            </a:r>
            <a:r>
              <a:rPr lang="en-US" altLang="en-US" dirty="0" smtClean="0">
                <a:cs typeface="Arial" charset="0"/>
              </a:rPr>
              <a:t>so: </a:t>
            </a:r>
            <a:r>
              <a:rPr lang="en-US" altLang="en-US" i="1" dirty="0" smtClean="0">
                <a:solidFill>
                  <a:srgbClr val="FF0000"/>
                </a:solidFill>
                <a:cs typeface="Arial" charset="0"/>
              </a:rPr>
              <a:t>U’(c) = e</a:t>
            </a:r>
            <a:r>
              <a:rPr lang="en-US" altLang="en-US" i="1" baseline="30000" dirty="0" smtClean="0">
                <a:solidFill>
                  <a:srgbClr val="FF0000"/>
                </a:solidFill>
                <a:cs typeface="Arial" charset="0"/>
              </a:rPr>
              <a:t>(</a:t>
            </a:r>
            <a:r>
              <a:rPr lang="el-GR" altLang="en-US" i="1" baseline="30000" dirty="0" smtClean="0">
                <a:solidFill>
                  <a:srgbClr val="FF0000"/>
                </a:solidFill>
                <a:cs typeface="Arial" charset="0"/>
              </a:rPr>
              <a:t>δ</a:t>
            </a:r>
            <a:r>
              <a:rPr lang="en-US" altLang="en-US" i="1" baseline="30000" dirty="0" smtClean="0">
                <a:solidFill>
                  <a:srgbClr val="FF0000"/>
                </a:solidFill>
                <a:cs typeface="Arial" charset="0"/>
              </a:rPr>
              <a:t>-r)t</a:t>
            </a:r>
          </a:p>
          <a:p>
            <a:pPr lvl="2"/>
            <a:r>
              <a:rPr lang="en-US" altLang="en-US" dirty="0" smtClean="0"/>
              <a:t>Marginal utility should increase or decrease over time </a:t>
            </a:r>
          </a:p>
          <a:p>
            <a:pPr lvl="2"/>
            <a:r>
              <a:rPr lang="en-US" altLang="en-US" dirty="0" smtClean="0"/>
              <a:t>Depending on the relationship between the rate of time preference and the real rate of interest</a:t>
            </a:r>
            <a:endParaRPr lang="en-US" altLang="en-US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1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en-US" smtClean="0"/>
              <a:t>17.2 	Determination of the Real Interest Rate</a:t>
            </a:r>
          </a:p>
        </p:txBody>
      </p:sp>
      <p:sp>
        <p:nvSpPr>
          <p:cNvPr id="56325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090525CA-B565-45E6-A7FC-B8CCB0B39AAB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323" name="Content Placeholder 2"/>
              <p:cNvSpPr>
                <a:spLocks noGrp="1"/>
              </p:cNvSpPr>
              <p:nvPr>
                <p:ph type="body" sz="quarter" idx="12"/>
              </p:nvPr>
            </p:nvSpPr>
            <p:spPr>
              <a:prstGeom prst="rect">
                <a:avLst/>
              </a:prstGeom>
            </p:spPr>
            <p:txBody>
              <a:bodyPr/>
              <a:lstStyle/>
              <a:p>
                <a:r>
                  <a:rPr lang="en-US" altLang="en-US" dirty="0" smtClean="0"/>
                  <a:t>CES utility function, U(c )= c</a:t>
                </a:r>
                <a:r>
                  <a:rPr lang="en-US" altLang="en-US" baseline="30000" dirty="0" smtClean="0"/>
                  <a:t>1-</a:t>
                </a:r>
                <a:r>
                  <a:rPr lang="el-GR" altLang="en-US" baseline="30000" dirty="0" smtClean="0"/>
                  <a:t>γ</a:t>
                </a:r>
                <a:r>
                  <a:rPr lang="en-US" altLang="en-US" dirty="0" smtClean="0"/>
                  <a:t>/(1-</a:t>
                </a:r>
                <a:r>
                  <a:rPr lang="el-GR" altLang="en-US" dirty="0" smtClean="0"/>
                  <a:t>γ</a:t>
                </a:r>
                <a:r>
                  <a:rPr lang="en-US" altLang="en-US" dirty="0" smtClean="0"/>
                  <a:t>), U’(c ) = c</a:t>
                </a:r>
                <a:r>
                  <a:rPr lang="en-US" altLang="en-US" baseline="30000" dirty="0" smtClean="0"/>
                  <a:t>-</a:t>
                </a:r>
                <a:r>
                  <a:rPr lang="el-GR" altLang="en-US" baseline="30000" dirty="0" smtClean="0"/>
                  <a:t>γ</a:t>
                </a:r>
                <a:endParaRPr lang="en-US" altLang="en-US" dirty="0" smtClean="0"/>
              </a:p>
              <a:p>
                <a:pPr lvl="1"/>
                <a:r>
                  <a:rPr lang="en-US" altLang="en-US" dirty="0" smtClean="0"/>
                  <a:t>Explicit solution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/>
                      </a:rPr>
                      <m:t>𝑐</m:t>
                    </m:r>
                    <m:d>
                      <m:dPr>
                        <m:ctrlPr>
                          <a:rPr lang="en-US" alt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altLang="en-US" b="0" i="1" smtClean="0">
                        <a:latin typeface="Cambria Math"/>
                      </a:rPr>
                      <m:t>=</m:t>
                    </m:r>
                    <m:r>
                      <a:rPr lang="en-US" altLang="en-US" b="0" i="1" smtClean="0">
                        <a:latin typeface="Cambria Math"/>
                      </a:rPr>
                      <m:t>𝑒𝑥𝑝</m:t>
                    </m:r>
                    <m:d>
                      <m:dPr>
                        <m:begChr m:val="{"/>
                        <m:endChr m:val="}"/>
                        <m:ctrlPr>
                          <a:rPr lang="en-US" altLang="en-US" b="0" i="1" smtClean="0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en-US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altLang="en-US" b="0" i="1" smtClean="0">
                                <a:latin typeface="Cambria Math"/>
                              </a:rPr>
                              <m:t>𝑟</m:t>
                            </m:r>
                            <m:r>
                              <a:rPr lang="en-US" altLang="en-US" b="0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altLang="en-US" b="0" i="1" smtClean="0">
                                <a:latin typeface="Cambria Math"/>
                                <a:ea typeface="Cambria Math"/>
                              </a:rPr>
                              <m:t>𝛿</m:t>
                            </m:r>
                            <m:r>
                              <a:rPr lang="en-US" altLang="en-US" b="0" i="1" smtClean="0">
                                <a:latin typeface="Cambria Math"/>
                                <a:ea typeface="Cambria Math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en-US" b="0" i="1" smtClean="0">
                                <a:latin typeface="Cambria Math"/>
                                <a:ea typeface="Cambria Math"/>
                              </a:rPr>
                              <m:t>𝛾</m:t>
                            </m:r>
                          </m:den>
                        </m:f>
                        <m:r>
                          <a:rPr lang="en-US" altLang="en-US" b="0" i="1" smtClean="0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en-US" dirty="0" smtClean="0"/>
                  <a:t>  </a:t>
                </a:r>
              </a:p>
              <a:p>
                <a:pPr lvl="1"/>
                <a:r>
                  <a:rPr lang="en-US" altLang="en-US" dirty="0" smtClean="0"/>
                  <a:t>When r &gt; </a:t>
                </a:r>
                <a:r>
                  <a:rPr lang="el-GR" altLang="en-US" dirty="0" smtClean="0"/>
                  <a:t>δ</a:t>
                </a:r>
                <a:r>
                  <a:rPr lang="en-US" altLang="en-US" dirty="0" smtClean="0"/>
                  <a:t>, consumption will increase over time</a:t>
                </a:r>
              </a:p>
              <a:p>
                <a:pPr lvl="2"/>
                <a:r>
                  <a:rPr lang="en-US" altLang="en-US" dirty="0" smtClean="0"/>
                  <a:t>Depends on </a:t>
                </a:r>
                <a:r>
                  <a:rPr lang="el-GR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γ</a:t>
                </a:r>
                <a:endParaRPr lang="en-US" altLang="en-US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en-US" dirty="0"/>
                  <a:t> Real interest rate </a:t>
                </a:r>
                <a:r>
                  <a:rPr lang="en-US" altLang="en-US" dirty="0" smtClean="0"/>
                  <a:t>determination, r</a:t>
                </a:r>
              </a:p>
              <a:p>
                <a:pPr lvl="1"/>
                <a:r>
                  <a:rPr lang="en-US" altLang="en-US" dirty="0"/>
                  <a:t>For </a:t>
                </a:r>
                <a:r>
                  <a:rPr lang="en-US" altLang="en-US" dirty="0" smtClean="0"/>
                  <a:t>g:  the </a:t>
                </a:r>
                <a:r>
                  <a:rPr lang="en-US" altLang="en-US" dirty="0"/>
                  <a:t>rate of increase in consumption </a:t>
                </a:r>
                <a:endParaRPr lang="en-US" altLang="en-US" dirty="0" smtClean="0"/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rgbClr val="C00000"/>
                        </a:solidFill>
                        <a:latin typeface="Cambria Math"/>
                      </a:rPr>
                      <m:t>𝑔</m:t>
                    </m:r>
                    <m:r>
                      <a:rPr lang="en-US" altLang="en-US" b="0" i="1" smtClean="0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en-US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en-US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altLang="en-US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𝑟</m:t>
                        </m:r>
                        <m:r>
                          <a:rPr lang="en-US" altLang="en-US" b="0" i="1" smtClean="0">
                            <a:solidFill>
                              <a:srgbClr val="C0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altLang="en-US" b="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𝛿</m:t>
                        </m:r>
                        <m:r>
                          <a:rPr lang="en-US" altLang="en-US" b="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)</m:t>
                        </m:r>
                      </m:num>
                      <m:den>
                        <m:r>
                          <a:rPr lang="en-US" altLang="en-US" b="0" i="1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𝛾</m:t>
                        </m:r>
                      </m:den>
                    </m:f>
                  </m:oMath>
                </a14:m>
                <a:r>
                  <a:rPr lang="en-US" altLang="en-US" dirty="0" smtClean="0"/>
                  <a:t> or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rgbClr val="C00000"/>
                        </a:solidFill>
                        <a:latin typeface="Cambria Math"/>
                      </a:rPr>
                      <m:t>𝑟</m:t>
                    </m:r>
                    <m:r>
                      <a:rPr lang="en-US" altLang="en-US" b="0" i="1" smtClean="0">
                        <a:solidFill>
                          <a:srgbClr val="C00000"/>
                        </a:solidFill>
                        <a:latin typeface="Cambria Math"/>
                      </a:rPr>
                      <m:t>=</m:t>
                    </m:r>
                    <m:r>
                      <a:rPr lang="en-US" altLang="en-US" b="0" i="1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𝛿</m:t>
                    </m:r>
                    <m:r>
                      <a:rPr lang="en-US" altLang="en-US" b="0" i="1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+</m:t>
                    </m:r>
                    <m:r>
                      <a:rPr lang="en-US" altLang="en-US" b="0" i="1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𝛾</m:t>
                    </m:r>
                    <m:r>
                      <a:rPr lang="en-US" altLang="en-US" b="0" i="1" smtClean="0">
                        <a:solidFill>
                          <a:srgbClr val="C00000"/>
                        </a:solidFill>
                        <a:latin typeface="Cambria Math"/>
                        <a:ea typeface="Cambria Math"/>
                      </a:rPr>
                      <m:t>𝑔</m:t>
                    </m:r>
                  </m:oMath>
                </a14:m>
                <a:endParaRPr lang="en-US" altLang="en-US" dirty="0" smtClean="0">
                  <a:solidFill>
                    <a:srgbClr val="C00000"/>
                  </a:solidFill>
                </a:endParaRPr>
              </a:p>
              <a:p>
                <a:r>
                  <a:rPr lang="en-US" altLang="en-US" dirty="0"/>
                  <a:t>Real </a:t>
                </a:r>
                <a:r>
                  <a:rPr lang="en-US" altLang="en-US" dirty="0" smtClean="0"/>
                  <a:t>interest </a:t>
                </a:r>
                <a:r>
                  <a:rPr lang="en-US" altLang="en-US" dirty="0"/>
                  <a:t>rate </a:t>
                </a:r>
                <a:r>
                  <a:rPr lang="en-US" altLang="en-US" dirty="0" smtClean="0"/>
                  <a:t>paradox </a:t>
                </a:r>
              </a:p>
              <a:p>
                <a:pPr lvl="1"/>
                <a:r>
                  <a:rPr lang="en-US" altLang="en-US" sz="2600" dirty="0" smtClean="0"/>
                  <a:t>Model: real interest </a:t>
                </a:r>
                <a:r>
                  <a:rPr lang="en-US" altLang="en-US" sz="2600" dirty="0"/>
                  <a:t>rate </a:t>
                </a:r>
                <a:r>
                  <a:rPr lang="en-US" altLang="en-US" sz="2600" dirty="0" smtClean="0"/>
                  <a:t>= 5%</a:t>
                </a:r>
              </a:p>
              <a:p>
                <a:pPr lvl="1"/>
                <a:r>
                  <a:rPr lang="en-US" altLang="en-US" sz="2600" dirty="0" smtClean="0"/>
                  <a:t>Actual </a:t>
                </a:r>
                <a:r>
                  <a:rPr lang="en-US" altLang="en-US" sz="2600" dirty="0"/>
                  <a:t>risk-free real interest </a:t>
                </a:r>
                <a:r>
                  <a:rPr lang="en-US" altLang="en-US" sz="2600" dirty="0" smtClean="0"/>
                  <a:t>rate = 2%</a:t>
                </a:r>
                <a:endParaRPr lang="en-US" altLang="en-US" sz="2600" dirty="0" smtClean="0"/>
              </a:p>
            </p:txBody>
          </p:sp>
        </mc:Choice>
        <mc:Fallback>
          <p:sp>
            <p:nvSpPr>
              <p:cNvPr id="5632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prstGeom prst="rect">
                <a:avLst/>
              </a:prstGeom>
              <a:blipFill rotWithShape="1">
                <a:blip r:embed="rId2"/>
                <a:stretch>
                  <a:fillRect l="-1673" t="-1351" b="-24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753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Pricing of Risky Assets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Risky asset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one period investment made at period </a:t>
            </a:r>
            <a:r>
              <a:rPr lang="en-US" dirty="0" smtClean="0"/>
              <a:t>0</a:t>
            </a:r>
          </a:p>
          <a:p>
            <a:pPr lvl="1"/>
            <a:r>
              <a:rPr lang="en-US" dirty="0" smtClean="0"/>
              <a:t>That </a:t>
            </a:r>
            <a:r>
              <a:rPr lang="en-US" dirty="0"/>
              <a:t>will yield an uncertain return of </a:t>
            </a:r>
            <a:r>
              <a:rPr 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/>
              <a:t> </a:t>
            </a:r>
            <a:r>
              <a:rPr lang="en-US" dirty="0"/>
              <a:t>in period </a:t>
            </a:r>
            <a:r>
              <a:rPr lang="en-US" dirty="0" smtClean="0"/>
              <a:t>1</a:t>
            </a:r>
          </a:p>
          <a:p>
            <a:pPr lvl="1"/>
            <a:r>
              <a:rPr lang="en-US" dirty="0" smtClean="0"/>
              <a:t>Price in </a:t>
            </a:r>
            <a:r>
              <a:rPr lang="en-US" dirty="0"/>
              <a:t>period </a:t>
            </a:r>
            <a:r>
              <a:rPr lang="en-US" dirty="0" smtClean="0"/>
              <a:t>0: </a:t>
            </a:r>
            <a:r>
              <a:rPr 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We </a:t>
            </a:r>
            <a:r>
              <a:rPr lang="en-US" dirty="0"/>
              <a:t>wish to discover the determinants of this </a:t>
            </a:r>
            <a:r>
              <a:rPr lang="en-US" dirty="0" smtClean="0"/>
              <a:t>price</a:t>
            </a:r>
          </a:p>
          <a:p>
            <a:pPr lvl="1"/>
            <a:r>
              <a:rPr lang="en-US" dirty="0" smtClean="0"/>
              <a:t>Gross </a:t>
            </a:r>
            <a:r>
              <a:rPr lang="en-US" dirty="0"/>
              <a:t>rate of </a:t>
            </a:r>
            <a:r>
              <a:rPr lang="en-US" dirty="0" smtClean="0"/>
              <a:t>return: </a:t>
            </a:r>
            <a:r>
              <a:rPr 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=x</a:t>
            </a:r>
            <a:r>
              <a:rPr lang="en-US" i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/p</a:t>
            </a:r>
            <a:r>
              <a:rPr lang="en-US" i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/>
              <a:t>, also uncertain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76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Pricing of Risky Assets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Maximize a </a:t>
                </a:r>
                <a:r>
                  <a:rPr lang="en-US" dirty="0"/>
                  <a:t>two period utility </a:t>
                </a:r>
                <a:r>
                  <a:rPr lang="en-US" dirty="0" smtClean="0"/>
                  <a:t>function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/>
                      </a:rPr>
                      <m:t>𝑈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/>
                      </a:rPr>
                      <m:t>)=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/>
                      </a:rPr>
                      <m:t>𝑈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1+</m:t>
                        </m:r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𝛿</m:t>
                        </m:r>
                      </m:den>
                    </m:f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/>
                      </a:rPr>
                      <m:t>𝐸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/>
                      </a:rPr>
                      <m:t>[</m:t>
                    </m:r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/>
                      </a:rPr>
                      <m:t>𝑈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3200" b="0" i="1" smtClean="0">
                        <a:solidFill>
                          <a:schemeClr val="tx1"/>
                        </a:solidFill>
                        <a:latin typeface="Cambria Math"/>
                      </a:rPr>
                      <m:t>]</m:t>
                    </m:r>
                  </m:oMath>
                </a14:m>
                <a:endParaRPr lang="en-US" sz="3200" dirty="0"/>
              </a:p>
              <a:p>
                <a:pPr lvl="1"/>
                <a:r>
                  <a:rPr lang="en-US" dirty="0" smtClean="0"/>
                  <a:t>Subject to </a:t>
                </a:r>
                <a:r>
                  <a:rPr lang="en-US" sz="3000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3000" i="1" baseline="-2500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3000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y</a:t>
                </a:r>
                <a:r>
                  <a:rPr lang="en-US" sz="3000" i="1" baseline="-2500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3000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-np</a:t>
                </a:r>
                <a:r>
                  <a:rPr lang="en-US" sz="3000" i="1" baseline="-2500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3000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000" dirty="0" smtClean="0">
                    <a:solidFill>
                      <a:schemeClr val="tx1"/>
                    </a:solidFill>
                  </a:rPr>
                  <a:t>and </a:t>
                </a:r>
                <a:r>
                  <a:rPr 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i="1" baseline="-2500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i="1" baseline="-2500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+nx</a:t>
                </a:r>
                <a:r>
                  <a:rPr lang="en-US" i="1" baseline="-2500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2"/>
                <a:r>
                  <a:rPr lang="en-US" dirty="0" smtClean="0"/>
                  <a:t>Where </a:t>
                </a:r>
                <a:r>
                  <a:rPr 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dirty="0" smtClean="0"/>
                  <a:t> and </a:t>
                </a:r>
                <a:r>
                  <a:rPr 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dirty="0" smtClean="0"/>
                  <a:t> are exogenous earnings</a:t>
                </a:r>
              </a:p>
              <a:p>
                <a:pPr lvl="2"/>
                <a:r>
                  <a:rPr lang="en-US" dirty="0" smtClean="0"/>
                  <a:t>And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 is the number of units of the risky asset purchased</a:t>
                </a:r>
              </a:p>
              <a:p>
                <a:r>
                  <a:rPr lang="en-US" dirty="0"/>
                  <a:t>Substituting the budget constraints </a:t>
                </a:r>
                <a:r>
                  <a:rPr lang="en-US" dirty="0" smtClean="0"/>
                  <a:t>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3200" i="1">
                        <a:solidFill>
                          <a:schemeClr val="tx1"/>
                        </a:solidFill>
                        <a:latin typeface="Cambria Math"/>
                      </a:rPr>
                      <m:t>𝑈</m:t>
                    </m:r>
                    <m:r>
                      <a:rPr lang="en-US" sz="320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32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3200" i="1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32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3200" i="1">
                        <a:solidFill>
                          <a:schemeClr val="tx1"/>
                        </a:solidFill>
                        <a:latin typeface="Cambria Math"/>
                      </a:rPr>
                      <m:t>)=</m:t>
                    </m:r>
                    <m:r>
                      <a:rPr lang="en-US" sz="3200" i="1">
                        <a:solidFill>
                          <a:schemeClr val="tx1"/>
                        </a:solidFill>
                        <a:latin typeface="Cambria Math"/>
                      </a:rPr>
                      <m:t>𝑈</m:t>
                    </m:r>
                    <m:d>
                      <m:dPr>
                        <m:ctrlPr>
                          <a:rPr lang="en-US" sz="32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320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𝑛𝑝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3200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sz="3200" i="1">
                        <a:solidFill>
                          <a:schemeClr val="tx1"/>
                        </a:solidFill>
                        <a:latin typeface="Cambria Math"/>
                      </a:rPr>
                      <m:t>𝐸</m:t>
                    </m:r>
                    <m:r>
                      <a:rPr lang="en-US" sz="3200" i="1">
                        <a:solidFill>
                          <a:schemeClr val="tx1"/>
                        </a:solidFill>
                        <a:latin typeface="Cambria Math"/>
                      </a:rPr>
                      <m:t>[</m:t>
                    </m:r>
                    <m:r>
                      <a:rPr lang="en-US" sz="3200" i="1">
                        <a:solidFill>
                          <a:schemeClr val="tx1"/>
                        </a:solidFill>
                        <a:latin typeface="Cambria Math"/>
                      </a:rPr>
                      <m:t>𝑈</m:t>
                    </m:r>
                    <m:d>
                      <m:dPr>
                        <m:ctrlPr>
                          <a:rPr lang="en-US" sz="32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32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3200" i="1">
                        <a:solidFill>
                          <a:schemeClr val="tx1"/>
                        </a:solidFill>
                        <a:latin typeface="Cambria Math"/>
                      </a:rPr>
                      <m:t>]</m:t>
                    </m:r>
                  </m:oMath>
                </a14:m>
                <a:endParaRPr lang="en-US" sz="32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68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Pricing of Risky Assets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3200" dirty="0" smtClean="0"/>
                  <a:t>First order condition: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𝜕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𝑈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𝜕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=−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𝑈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1+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𝛿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  <a:p>
                <a:r>
                  <a:rPr lang="en-US" sz="3200" dirty="0" smtClean="0"/>
                  <a:t>Or: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1+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𝛿</m:t>
                        </m:r>
                      </m:den>
                    </m:f>
                    <m:r>
                      <a:rPr lang="en-US" sz="2800" i="1">
                        <a:solidFill>
                          <a:schemeClr val="tx1"/>
                        </a:solidFill>
                        <a:latin typeface="Cambria Math"/>
                      </a:rPr>
                      <m:t>𝐸</m:t>
                    </m:r>
                    <m:f>
                      <m:f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∙</m:t>
                            </m:r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sz="2800" dirty="0" smtClean="0"/>
              </a:p>
              <a:p>
                <a:r>
                  <a:rPr lang="en-US" dirty="0" smtClean="0"/>
                  <a:t>Stochastic discount factor </a:t>
                </a:r>
              </a:p>
              <a:p>
                <a:pPr lvl="1"/>
                <a:r>
                  <a:rPr lang="en-US" sz="30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= U’(c)/(1+</a:t>
                </a:r>
                <a:r>
                  <a:rPr lang="el-GR" sz="30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sz="30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)U’(c</a:t>
                </a:r>
                <a:r>
                  <a:rPr lang="en-US" sz="3000" i="1" baseline="-25000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3000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dirty="0" smtClean="0"/>
                  <a:t>, then </a:t>
                </a:r>
                <a:r>
                  <a:rPr lang="en-US" sz="3000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3000" i="1" baseline="-25000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3000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E(</a:t>
                </a:r>
                <a:r>
                  <a:rPr lang="en-US" sz="3000" i="1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m·x</a:t>
                </a:r>
                <a:r>
                  <a:rPr lang="en-US" sz="3000" i="1" baseline="-25000" dirty="0" err="1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3000" i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lvl="2"/>
                <a:r>
                  <a:rPr lang="en-US" dirty="0" smtClean="0"/>
                  <a:t>The price </a:t>
                </a:r>
                <a:r>
                  <a:rPr lang="en-US" dirty="0"/>
                  <a:t>of the risky asset is given by the expected value of the product of two random variables</a:t>
                </a:r>
                <a:endParaRPr lang="en-US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7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Pricing of Risky Assets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Risk-free rate of return</a:t>
            </a:r>
          </a:p>
          <a:p>
            <a:pPr lvl="1"/>
            <a:r>
              <a:rPr lang="en-US" dirty="0" smtClean="0"/>
              <a:t>The return </a:t>
            </a:r>
            <a:r>
              <a:rPr lang="en-US" dirty="0"/>
              <a:t>on an asset is </a:t>
            </a:r>
            <a:r>
              <a:rPr lang="en-US" dirty="0" smtClean="0"/>
              <a:t>certain</a:t>
            </a:r>
          </a:p>
          <a:p>
            <a:pPr lvl="1"/>
            <a:r>
              <a:rPr lang="en-US" dirty="0" smtClean="0"/>
              <a:t>Denote the </a:t>
            </a:r>
            <a:r>
              <a:rPr lang="en-US" dirty="0"/>
              <a:t>period 1 value of this risk free asset as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Then </a:t>
            </a:r>
            <a:r>
              <a:rPr 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E(m)</a:t>
            </a:r>
            <a:r>
              <a:rPr 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US" i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/>
              <a:t>Or </a:t>
            </a:r>
            <a:r>
              <a:rPr 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1/E(m) </a:t>
            </a:r>
            <a:r>
              <a:rPr lang="en-US" dirty="0" smtClean="0"/>
              <a:t>the gross return on the risk-free asset</a:t>
            </a:r>
          </a:p>
          <a:p>
            <a:pPr lvl="1"/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942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Pricing of Risky Assets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Systematic and idiosyncratic risk </a:t>
            </a:r>
            <a:endParaRPr lang="en-US" dirty="0" smtClean="0"/>
          </a:p>
          <a:p>
            <a:pPr lvl="1"/>
            <a:r>
              <a:rPr lang="en-US" dirty="0" smtClean="0"/>
              <a:t>Because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E(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x·y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= E(x)·E(y) +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Cov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Then </a:t>
            </a:r>
            <a:r>
              <a:rPr 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E(</a:t>
            </a:r>
            <a:r>
              <a:rPr 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m·x</a:t>
            </a:r>
            <a:r>
              <a:rPr 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E(m)·E(x</a:t>
            </a:r>
            <a:r>
              <a:rPr lang="en-US" i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</a:t>
            </a:r>
            <a:r>
              <a:rPr 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m,x</a:t>
            </a:r>
            <a:r>
              <a:rPr 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</a:p>
          <a:p>
            <a:pPr marL="457200" lvl="1" indent="0">
              <a:buNone/>
            </a:pPr>
            <a:r>
              <a:rPr 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</a:t>
            </a:r>
            <a:r>
              <a:rPr lang="en-US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E(x</a:t>
            </a:r>
            <a:r>
              <a:rPr lang="en-US" i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</a:t>
            </a:r>
            <a:r>
              <a:rPr 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</a:t>
            </a:r>
            <a:r>
              <a:rPr lang="en-US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m,x</a:t>
            </a:r>
            <a:r>
              <a:rPr lang="en-US" i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i="1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If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Cov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m,x</a:t>
            </a:r>
            <a:r>
              <a:rPr 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 smtClean="0"/>
              <a:t> = 0: </a:t>
            </a:r>
            <a:r>
              <a:rPr lang="en-US" dirty="0"/>
              <a:t>idiosyncratic risk does not affect the pricing of risky assets</a:t>
            </a:r>
          </a:p>
          <a:p>
            <a:pPr lvl="2"/>
            <a:r>
              <a:rPr lang="en-US" dirty="0" smtClean="0"/>
              <a:t>The </a:t>
            </a:r>
            <a:r>
              <a:rPr lang="en-US" dirty="0"/>
              <a:t>period 0 price of the risky asset </a:t>
            </a:r>
            <a:r>
              <a:rPr lang="en-US" dirty="0" smtClean="0"/>
              <a:t>= </a:t>
            </a:r>
            <a:r>
              <a:rPr lang="en-US" dirty="0"/>
              <a:t>the expected value of the period 1 uncertain return discounted (using the risk-free rate) to period </a:t>
            </a:r>
            <a:r>
              <a:rPr lang="en-US" dirty="0" smtClean="0"/>
              <a:t>0</a:t>
            </a:r>
          </a:p>
          <a:p>
            <a:pPr lvl="2"/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562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Pricing of Risky Assets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Systematic risk</a:t>
            </a:r>
          </a:p>
          <a:p>
            <a:pPr lvl="1"/>
            <a:r>
              <a:rPr lang="en-US" dirty="0" smtClean="0"/>
              <a:t>Possible correlations between </a:t>
            </a:r>
            <a:r>
              <a:rPr lang="en-US" i="1" dirty="0" smtClean="0"/>
              <a:t>m</a:t>
            </a:r>
            <a:r>
              <a:rPr lang="en-US" dirty="0" smtClean="0"/>
              <a:t> and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/>
              <a:t>For a </a:t>
            </a:r>
            <a:r>
              <a:rPr lang="en-US" dirty="0"/>
              <a:t>risky </a:t>
            </a:r>
            <a:r>
              <a:rPr lang="en-US" dirty="0" smtClean="0"/>
              <a:t>asset </a:t>
            </a:r>
            <a:r>
              <a:rPr lang="en-US" dirty="0"/>
              <a:t>whose payoff is positively correlated with “good times” </a:t>
            </a:r>
            <a:r>
              <a:rPr lang="en-US" dirty="0" smtClean="0"/>
              <a:t> </a:t>
            </a:r>
            <a:endParaRPr lang="en-US" dirty="0"/>
          </a:p>
          <a:p>
            <a:pPr lvl="1"/>
            <a:r>
              <a:rPr lang="en-US" dirty="0" smtClean="0"/>
              <a:t>When good </a:t>
            </a:r>
            <a:r>
              <a:rPr lang="en-US" dirty="0"/>
              <a:t>times </a:t>
            </a:r>
            <a:r>
              <a:rPr lang="en-US" dirty="0" smtClean="0"/>
              <a:t>occur</a:t>
            </a:r>
          </a:p>
          <a:p>
            <a:pPr lvl="2"/>
            <a:r>
              <a:rPr lang="en-US" dirty="0" smtClean="0"/>
              <a:t>The </a:t>
            </a:r>
            <a:r>
              <a:rPr lang="en-US" dirty="0"/>
              <a:t>asset will have a favorable payoff and consumption will also be </a:t>
            </a:r>
            <a:r>
              <a:rPr lang="en-US" dirty="0" smtClean="0"/>
              <a:t>high</a:t>
            </a:r>
          </a:p>
          <a:p>
            <a:pPr lvl="2"/>
            <a:r>
              <a:rPr lang="en-US" dirty="0" smtClean="0"/>
              <a:t> </a:t>
            </a:r>
            <a:r>
              <a:rPr lang="en-US" i="1" dirty="0" smtClean="0"/>
              <a:t>m</a:t>
            </a:r>
            <a:r>
              <a:rPr lang="en-US" dirty="0" smtClean="0"/>
              <a:t> and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/>
              <a:t> will be negatively correlated</a:t>
            </a:r>
          </a:p>
          <a:p>
            <a:pPr lvl="2"/>
            <a:r>
              <a:rPr lang="en-US" dirty="0" smtClean="0"/>
              <a:t>Low asset price </a:t>
            </a:r>
          </a:p>
          <a:p>
            <a:pPr lvl="2"/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1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Pricing of Risky Assets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a </a:t>
            </a:r>
            <a:r>
              <a:rPr lang="en-US" dirty="0"/>
              <a:t>risky </a:t>
            </a:r>
            <a:r>
              <a:rPr lang="en-US" dirty="0" smtClean="0"/>
              <a:t>asset </a:t>
            </a:r>
            <a:r>
              <a:rPr lang="en-US" dirty="0"/>
              <a:t>whose payoff is positively correlated with </a:t>
            </a:r>
            <a:r>
              <a:rPr lang="en-US" dirty="0" smtClean="0"/>
              <a:t>“bad times</a:t>
            </a:r>
            <a:r>
              <a:rPr lang="en-US" dirty="0"/>
              <a:t>” </a:t>
            </a:r>
            <a:r>
              <a:rPr lang="en-US" dirty="0" smtClean="0"/>
              <a:t> </a:t>
            </a:r>
            <a:endParaRPr lang="en-US" dirty="0"/>
          </a:p>
          <a:p>
            <a:pPr lvl="1"/>
            <a:r>
              <a:rPr lang="en-US" dirty="0" smtClean="0"/>
              <a:t>When bad times occur</a:t>
            </a:r>
          </a:p>
          <a:p>
            <a:pPr lvl="2"/>
            <a:r>
              <a:rPr lang="en-US" i="1" dirty="0" smtClean="0"/>
              <a:t>m</a:t>
            </a:r>
            <a:r>
              <a:rPr lang="en-US" dirty="0" smtClean="0"/>
              <a:t> and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/>
              <a:t> will be positively correlated</a:t>
            </a:r>
          </a:p>
          <a:p>
            <a:pPr lvl="2"/>
            <a:r>
              <a:rPr lang="en-US" dirty="0" smtClean="0"/>
              <a:t>High asset price </a:t>
            </a:r>
          </a:p>
          <a:p>
            <a:r>
              <a:rPr lang="en-US" dirty="0" smtClean="0"/>
              <a:t>Pricing of risky assets</a:t>
            </a:r>
          </a:p>
          <a:p>
            <a:pPr lvl="1"/>
            <a:r>
              <a:rPr lang="en-US" dirty="0"/>
              <a:t>Reflect individuals’ desire to mitigate fluctuations in consumption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771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Determinants of Market Rental Rates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066800"/>
            <a:ext cx="8534400" cy="5334000"/>
          </a:xfrm>
        </p:spPr>
        <p:txBody>
          <a:bodyPr>
            <a:noAutofit/>
          </a:bodyPr>
          <a:lstStyle/>
          <a:p>
            <a:r>
              <a:rPr lang="en-US" altLang="en-US" dirty="0" smtClean="0"/>
              <a:t>Perfectly competitive market</a:t>
            </a:r>
          </a:p>
          <a:p>
            <a:pPr lvl="1"/>
            <a:r>
              <a:rPr lang="en-US" altLang="en-US" dirty="0" smtClean="0"/>
              <a:t>A firm will choose to hire that number of machines: </a:t>
            </a:r>
            <a:r>
              <a:rPr lang="en-US" altLang="en-US" i="1" dirty="0" smtClean="0"/>
              <a:t>MRP</a:t>
            </a:r>
            <a:r>
              <a:rPr lang="en-US" altLang="en-US" dirty="0" smtClean="0"/>
              <a:t> = market rental rate</a:t>
            </a:r>
          </a:p>
          <a:p>
            <a:r>
              <a:rPr lang="en-US" altLang="en-US" dirty="0" smtClean="0"/>
              <a:t>A firm that rents machines to other firms</a:t>
            </a:r>
          </a:p>
          <a:p>
            <a:pPr lvl="1"/>
            <a:r>
              <a:rPr lang="en-US" altLang="en-US" dirty="0" smtClean="0"/>
              <a:t>Two types of costs:</a:t>
            </a:r>
          </a:p>
          <a:p>
            <a:pPr lvl="2"/>
            <a:r>
              <a:rPr lang="en-US" altLang="en-US" dirty="0" smtClean="0"/>
              <a:t>Depreciation on the machine</a:t>
            </a:r>
          </a:p>
          <a:p>
            <a:pPr lvl="3"/>
            <a:r>
              <a:rPr lang="en-US" altLang="en-US" dirty="0" smtClean="0"/>
              <a:t>Assumed to be a constant</a:t>
            </a:r>
            <a:r>
              <a:rPr lang="en-US" altLang="en-US" i="1" baseline="30000" dirty="0" smtClean="0"/>
              <a:t> </a:t>
            </a:r>
            <a:r>
              <a:rPr lang="en-US" altLang="en-US" dirty="0" smtClean="0"/>
              <a:t>% (</a:t>
            </a:r>
            <a:r>
              <a:rPr lang="en-US" altLang="en-US" i="1" dirty="0" smtClean="0"/>
              <a:t>d</a:t>
            </a:r>
            <a:r>
              <a:rPr lang="en-US" altLang="en-US" dirty="0" smtClean="0"/>
              <a:t>) of the machine’s market price (</a:t>
            </a:r>
            <a:r>
              <a:rPr lang="en-US" altLang="en-US" i="1" dirty="0" smtClean="0"/>
              <a:t>p</a:t>
            </a:r>
            <a:r>
              <a:rPr lang="en-US" altLang="en-US" dirty="0" smtClean="0"/>
              <a:t>)</a:t>
            </a:r>
          </a:p>
          <a:p>
            <a:pPr lvl="2"/>
            <a:r>
              <a:rPr lang="en-US" altLang="en-US" dirty="0" smtClean="0"/>
              <a:t>Opportunity cost of the funds tied up in the machine - assumed to be real interest rate (</a:t>
            </a:r>
            <a:r>
              <a:rPr lang="en-US" altLang="en-US" i="1" dirty="0" smtClean="0"/>
              <a:t>r</a:t>
            </a:r>
            <a:r>
              <a:rPr lang="en-US" altLang="en-US" dirty="0" smtClean="0"/>
              <a:t>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8FB3B8-EF04-43FD-9111-A0E202CBB1A4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642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Determinants of Market Rental Rates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total costs to the machine owner</a:t>
            </a:r>
          </a:p>
          <a:p>
            <a:pPr lvl="1"/>
            <a:r>
              <a:rPr lang="en-US" altLang="en-US" smtClean="0"/>
              <a:t>For one period: </a:t>
            </a:r>
            <a:r>
              <a:rPr lang="en-US" altLang="en-US" sz="2800" i="1" smtClean="0">
                <a:solidFill>
                  <a:srgbClr val="FF0000"/>
                </a:solidFill>
              </a:rPr>
              <a:t>pd + pr = p</a:t>
            </a:r>
            <a:r>
              <a:rPr lang="en-US" altLang="en-US" sz="2800" smtClean="0">
                <a:solidFill>
                  <a:srgbClr val="FF0000"/>
                </a:solidFill>
              </a:rPr>
              <a:t>(</a:t>
            </a:r>
            <a:r>
              <a:rPr lang="en-US" altLang="en-US" sz="2800" i="1" smtClean="0">
                <a:solidFill>
                  <a:srgbClr val="FF0000"/>
                </a:solidFill>
              </a:rPr>
              <a:t>r + d</a:t>
            </a:r>
            <a:r>
              <a:rPr lang="en-US" altLang="en-US" sz="2800" smtClean="0">
                <a:solidFill>
                  <a:srgbClr val="FF0000"/>
                </a:solidFill>
              </a:rPr>
              <a:t>)</a:t>
            </a:r>
            <a:endParaRPr lang="en-US" altLang="en-US" smtClean="0">
              <a:solidFill>
                <a:srgbClr val="FF0000"/>
              </a:solidFill>
            </a:endParaRPr>
          </a:p>
          <a:p>
            <a:r>
              <a:rPr lang="en-US" altLang="en-US" smtClean="0"/>
              <a:t>Assume</a:t>
            </a:r>
          </a:p>
          <a:p>
            <a:pPr lvl="1"/>
            <a:r>
              <a:rPr lang="en-US" altLang="en-US" smtClean="0"/>
              <a:t>The machine rental market is perfectly competitive</a:t>
            </a:r>
          </a:p>
          <a:p>
            <a:pPr lvl="2"/>
            <a:r>
              <a:rPr lang="en-US" altLang="en-US" smtClean="0"/>
              <a:t>No long-run profits can be earned renting machines</a:t>
            </a:r>
          </a:p>
          <a:p>
            <a:pPr lvl="2"/>
            <a:r>
              <a:rPr lang="en-US" altLang="en-US" smtClean="0"/>
              <a:t>The rental rate per period (</a:t>
            </a:r>
            <a:r>
              <a:rPr lang="en-US" altLang="en-US" i="1" smtClean="0"/>
              <a:t>v</a:t>
            </a:r>
            <a:r>
              <a:rPr lang="en-US" altLang="en-US" smtClean="0"/>
              <a:t>) will be equal to the costs: </a:t>
            </a:r>
            <a:r>
              <a:rPr lang="en-US" altLang="en-US" i="1" smtClean="0">
                <a:solidFill>
                  <a:srgbClr val="FF0000"/>
                </a:solidFill>
              </a:rPr>
              <a:t>v = p</a:t>
            </a:r>
            <a:r>
              <a:rPr lang="en-US" altLang="en-US" smtClean="0">
                <a:solidFill>
                  <a:srgbClr val="FF0000"/>
                </a:solidFill>
              </a:rPr>
              <a:t>(</a:t>
            </a:r>
            <a:r>
              <a:rPr lang="en-US" altLang="en-US" i="1" smtClean="0">
                <a:solidFill>
                  <a:srgbClr val="FF0000"/>
                </a:solidFill>
              </a:rPr>
              <a:t>r + d</a:t>
            </a:r>
            <a:r>
              <a:rPr lang="en-US" altLang="en-US" smtClean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A5A6867-4A93-4833-AED4-C8C0E0CFAF36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349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Nondepreciating Machines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If a machine does not depreciate</a:t>
            </a:r>
          </a:p>
          <a:p>
            <a:pPr lvl="1"/>
            <a:r>
              <a:rPr lang="en-US" altLang="en-US" i="1" smtClean="0"/>
              <a:t>d</a:t>
            </a:r>
            <a:r>
              <a:rPr lang="en-US" altLang="en-US" smtClean="0"/>
              <a:t> = 0 and </a:t>
            </a:r>
            <a:r>
              <a:rPr lang="en-US" altLang="en-US" i="1" smtClean="0">
                <a:solidFill>
                  <a:srgbClr val="FF0000"/>
                </a:solidFill>
              </a:rPr>
              <a:t>v</a:t>
            </a:r>
            <a:r>
              <a:rPr lang="en-US" altLang="en-US" smtClean="0">
                <a:solidFill>
                  <a:srgbClr val="FF0000"/>
                </a:solidFill>
              </a:rPr>
              <a:t>/</a:t>
            </a:r>
            <a:r>
              <a:rPr lang="en-US" altLang="en-US" i="1" smtClean="0">
                <a:solidFill>
                  <a:srgbClr val="FF0000"/>
                </a:solidFill>
              </a:rPr>
              <a:t>p</a:t>
            </a:r>
            <a:r>
              <a:rPr lang="en-US" altLang="en-US" smtClean="0">
                <a:solidFill>
                  <a:srgbClr val="FF0000"/>
                </a:solidFill>
              </a:rPr>
              <a:t> = </a:t>
            </a:r>
            <a:r>
              <a:rPr lang="en-US" altLang="en-US" i="1" smtClean="0">
                <a:solidFill>
                  <a:srgbClr val="FF0000"/>
                </a:solidFill>
              </a:rPr>
              <a:t>r</a:t>
            </a:r>
            <a:endParaRPr lang="en-US" altLang="en-US" smtClean="0">
              <a:solidFill>
                <a:srgbClr val="FF0000"/>
              </a:solidFill>
            </a:endParaRPr>
          </a:p>
          <a:p>
            <a:r>
              <a:rPr lang="en-US" altLang="en-US" smtClean="0"/>
              <a:t>An infinitely long-lived machine </a:t>
            </a:r>
          </a:p>
          <a:p>
            <a:pPr lvl="1"/>
            <a:r>
              <a:rPr lang="en-US" altLang="en-US" smtClean="0"/>
              <a:t>Is equivalent to a perpetual bond </a:t>
            </a:r>
          </a:p>
          <a:p>
            <a:pPr lvl="1"/>
            <a:r>
              <a:rPr lang="en-US" altLang="en-US" smtClean="0"/>
              <a:t>And must yield the market rate of return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627A21-C055-431E-A901-724BC30F8D30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505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Ownership of Machines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Firms </a:t>
            </a:r>
          </a:p>
          <a:p>
            <a:pPr lvl="1"/>
            <a:r>
              <a:rPr lang="en-US" altLang="en-US" smtClean="0"/>
              <a:t>Commonly own the machines they use</a:t>
            </a:r>
          </a:p>
          <a:p>
            <a:r>
              <a:rPr lang="en-US" altLang="en-US" smtClean="0"/>
              <a:t>A firm </a:t>
            </a:r>
          </a:p>
          <a:p>
            <a:pPr lvl="1"/>
            <a:r>
              <a:rPr lang="en-US" altLang="en-US" smtClean="0"/>
              <a:t>Uses capital services to produce output</a:t>
            </a:r>
          </a:p>
          <a:p>
            <a:pPr lvl="2"/>
            <a:r>
              <a:rPr lang="en-US" altLang="en-US" smtClean="0"/>
              <a:t>These services are a flow magnitude</a:t>
            </a:r>
          </a:p>
          <a:p>
            <a:r>
              <a:rPr lang="en-US" altLang="en-US" smtClean="0"/>
              <a:t>Assumed </a:t>
            </a:r>
          </a:p>
          <a:p>
            <a:pPr lvl="1"/>
            <a:r>
              <a:rPr lang="en-US" altLang="en-US" smtClean="0"/>
              <a:t>The flow of capital services is proportional to the stock of machines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F7371CD-41F7-4638-962A-F78A3F6365B4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80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Demand for Capital</a:t>
            </a:r>
            <a:endParaRPr lang="en-US" altLang="en-US" dirty="0" smtClean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 profit-maximizing firm </a:t>
            </a:r>
          </a:p>
          <a:p>
            <a:pPr lvl="1"/>
            <a:r>
              <a:rPr lang="en-US" altLang="en-US" dirty="0" smtClean="0"/>
              <a:t>In perfect competition </a:t>
            </a:r>
          </a:p>
          <a:p>
            <a:pPr lvl="1"/>
            <a:r>
              <a:rPr lang="en-US" altLang="en-US" dirty="0" smtClean="0"/>
              <a:t>Will hire additional capital up to the point at which the </a:t>
            </a:r>
            <a:r>
              <a:rPr lang="en-US" altLang="en-US" i="1" dirty="0" err="1" smtClean="0"/>
              <a:t>MRP</a:t>
            </a:r>
            <a:r>
              <a:rPr lang="en-US" altLang="en-US" i="1" baseline="-25000" dirty="0" err="1" smtClean="0"/>
              <a:t>k</a:t>
            </a:r>
            <a:r>
              <a:rPr lang="en-US" altLang="en-US" dirty="0" smtClean="0"/>
              <a:t> = </a:t>
            </a:r>
            <a:r>
              <a:rPr lang="en-US" altLang="en-US" i="1" dirty="0" smtClean="0"/>
              <a:t>v</a:t>
            </a:r>
            <a:endParaRPr lang="en-US" altLang="en-US" dirty="0" smtClean="0"/>
          </a:p>
          <a:p>
            <a:pPr lvl="2"/>
            <a:r>
              <a:rPr lang="en-US" altLang="en-US" dirty="0" smtClean="0"/>
              <a:t> </a:t>
            </a:r>
            <a:r>
              <a:rPr lang="en-US" altLang="en-US" i="1" dirty="0" smtClean="0"/>
              <a:t>v</a:t>
            </a:r>
            <a:r>
              <a:rPr lang="en-US" altLang="en-US" dirty="0" smtClean="0"/>
              <a:t> - reflects both depreciation costs and the opportunity costs of alternative investments</a:t>
            </a:r>
          </a:p>
          <a:p>
            <a:pPr algn="ctr">
              <a:lnSpc>
                <a:spcPct val="120000"/>
              </a:lnSpc>
              <a:buFontTx/>
              <a:buNone/>
            </a:pPr>
            <a:r>
              <a:rPr lang="en-US" altLang="en-US" sz="2800" i="1" dirty="0" err="1" smtClean="0">
                <a:solidFill>
                  <a:srgbClr val="FF0000"/>
                </a:solidFill>
              </a:rPr>
              <a:t>MRP</a:t>
            </a:r>
            <a:r>
              <a:rPr lang="en-US" altLang="en-US" sz="2800" i="1" baseline="-25000" dirty="0" err="1" smtClean="0">
                <a:solidFill>
                  <a:srgbClr val="FF0000"/>
                </a:solidFill>
              </a:rPr>
              <a:t>k</a:t>
            </a:r>
            <a:r>
              <a:rPr lang="en-US" altLang="en-US" sz="2800" dirty="0" smtClean="0">
                <a:solidFill>
                  <a:srgbClr val="FF0000"/>
                </a:solidFill>
              </a:rPr>
              <a:t> = </a:t>
            </a:r>
            <a:r>
              <a:rPr lang="en-US" altLang="en-US" sz="2800" i="1" dirty="0" smtClean="0">
                <a:solidFill>
                  <a:srgbClr val="FF0000"/>
                </a:solidFill>
              </a:rPr>
              <a:t>v</a:t>
            </a:r>
            <a:r>
              <a:rPr lang="en-US" altLang="en-US" sz="2800" dirty="0" smtClean="0">
                <a:solidFill>
                  <a:srgbClr val="FF0000"/>
                </a:solidFill>
              </a:rPr>
              <a:t> = </a:t>
            </a:r>
            <a:r>
              <a:rPr lang="en-US" altLang="en-US" sz="2800" i="1" dirty="0" smtClean="0">
                <a:solidFill>
                  <a:srgbClr val="FF0000"/>
                </a:solidFill>
              </a:rPr>
              <a:t>p</a:t>
            </a:r>
            <a:r>
              <a:rPr lang="en-US" altLang="en-US" sz="2800" dirty="0" smtClean="0">
                <a:solidFill>
                  <a:srgbClr val="FF0000"/>
                </a:solidFill>
              </a:rPr>
              <a:t>(</a:t>
            </a:r>
            <a:r>
              <a:rPr lang="en-US" altLang="en-US" sz="2800" i="1" dirty="0" err="1" smtClean="0">
                <a:solidFill>
                  <a:srgbClr val="FF0000"/>
                </a:solidFill>
              </a:rPr>
              <a:t>r+d</a:t>
            </a:r>
            <a:r>
              <a:rPr lang="en-US" altLang="en-US" sz="2800" dirty="0" smtClean="0">
                <a:solidFill>
                  <a:srgbClr val="FF0000"/>
                </a:solidFill>
              </a:rPr>
              <a:t>)</a:t>
            </a:r>
            <a:endParaRPr lang="en-US" altLang="en-US" dirty="0" smtClean="0">
              <a:solidFill>
                <a:srgbClr val="FF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B88628A-6D0E-4DEF-AED3-34CE9732EBEA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322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Theory of Investment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If a firm decides it needs more capital services that it currently has</a:t>
            </a:r>
          </a:p>
          <a:p>
            <a:pPr lvl="1"/>
            <a:r>
              <a:rPr lang="en-US" altLang="en-US" smtClean="0"/>
              <a:t>Has two options:</a:t>
            </a:r>
          </a:p>
          <a:p>
            <a:pPr lvl="2"/>
            <a:r>
              <a:rPr lang="en-US" altLang="en-US" smtClean="0"/>
              <a:t>Hire more machines in the rental market</a:t>
            </a:r>
          </a:p>
          <a:p>
            <a:pPr lvl="2"/>
            <a:r>
              <a:rPr lang="en-US" altLang="en-US" smtClean="0"/>
              <a:t>Purchase new machinery (investment)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A388DF3-CE64-49E6-9D54-F91F1655F120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90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Present </a:t>
            </a:r>
            <a:r>
              <a:rPr lang="en-US" altLang="en-US" dirty="0" smtClean="0"/>
              <a:t>Discounted </a:t>
            </a:r>
            <a:r>
              <a:rPr lang="en-US" altLang="en-US" dirty="0" smtClean="0"/>
              <a:t>Value Criterion</a:t>
            </a:r>
            <a:endParaRPr lang="en-US" altLang="en-US" dirty="0" smtClean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When a firm buys a machine</a:t>
            </a:r>
          </a:p>
          <a:p>
            <a:pPr lvl="1"/>
            <a:r>
              <a:rPr lang="en-US" altLang="en-US" dirty="0" smtClean="0"/>
              <a:t>It is </a:t>
            </a:r>
            <a:r>
              <a:rPr lang="en-US" altLang="en-US" dirty="0" smtClean="0"/>
              <a:t>saving a </a:t>
            </a:r>
            <a:r>
              <a:rPr lang="en-US" altLang="en-US" dirty="0" smtClean="0"/>
              <a:t>stream of net </a:t>
            </a:r>
            <a:r>
              <a:rPr lang="en-US" altLang="en-US" dirty="0" smtClean="0"/>
              <a:t>rentals that last as long as the machine is being used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It must compute the present discounted value </a:t>
            </a:r>
            <a:r>
              <a:rPr lang="en-US" altLang="en-US" dirty="0" smtClean="0"/>
              <a:t>(PDV) of </a:t>
            </a:r>
            <a:r>
              <a:rPr lang="en-US" altLang="en-US" dirty="0" smtClean="0"/>
              <a:t>this </a:t>
            </a:r>
            <a:r>
              <a:rPr lang="en-US" altLang="en-US" dirty="0" smtClean="0"/>
              <a:t>stream AND compare with the price of the machine</a:t>
            </a:r>
            <a:endParaRPr lang="en-US" altLang="en-US" dirty="0" smtClean="0"/>
          </a:p>
          <a:p>
            <a:pPr marL="0" indent="0">
              <a:buNone/>
            </a:pPr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4B8895C-F831-4892-895C-E6F1D8124750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94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A Simple </a:t>
            </a:r>
            <a:r>
              <a:rPr lang="en-US" altLang="en-US" dirty="0" smtClean="0"/>
              <a:t>Case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Assume</a:t>
            </a:r>
          </a:p>
          <a:p>
            <a:pPr lvl="1"/>
            <a:r>
              <a:rPr lang="en-US" altLang="en-US" dirty="0" smtClean="0"/>
              <a:t>A </a:t>
            </a:r>
            <a:r>
              <a:rPr lang="en-US" altLang="en-US" dirty="0"/>
              <a:t>machine’s rental rate is a constant (v) in every period 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The </a:t>
            </a:r>
            <a:r>
              <a:rPr lang="en-US" altLang="en-US" dirty="0"/>
              <a:t>machine will last “forever</a:t>
            </a:r>
            <a:r>
              <a:rPr lang="en-US" altLang="en-US" dirty="0" smtClean="0"/>
              <a:t>” </a:t>
            </a:r>
          </a:p>
          <a:p>
            <a:r>
              <a:rPr lang="en-US" altLang="en-US" dirty="0" smtClean="0"/>
              <a:t>The </a:t>
            </a:r>
            <a:r>
              <a:rPr lang="en-US" altLang="en-US" i="1" dirty="0" smtClean="0"/>
              <a:t>PDV</a:t>
            </a:r>
            <a:r>
              <a:rPr lang="en-US" altLang="en-US" dirty="0" smtClean="0"/>
              <a:t> from machine ownership: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C41D445-E0E0-42C7-8679-B31C7D2119C2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4953000"/>
            <a:ext cx="8534400" cy="1295400"/>
          </a:xfrm>
        </p:spPr>
        <p:txBody>
          <a:bodyPr/>
          <a:lstStyle/>
          <a:p>
            <a:r>
              <a:rPr lang="en-US" dirty="0"/>
              <a:t>In equilibrium: </a:t>
            </a:r>
          </a:p>
        </p:txBody>
      </p:sp>
      <p:graphicFrame>
        <p:nvGraphicFramePr>
          <p:cNvPr id="1459204" name="Object 2"/>
          <p:cNvGraphicFramePr>
            <a:graphicFrameLocks noChangeAspect="1"/>
          </p:cNvGraphicFramePr>
          <p:nvPr/>
        </p:nvGraphicFramePr>
        <p:xfrm>
          <a:off x="1382713" y="4057650"/>
          <a:ext cx="625951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626" name="Equation" r:id="rId3" imgW="2819160" imgH="419040" progId="Equation.DSMT4">
                  <p:embed/>
                </p:oleObj>
              </mc:Choice>
              <mc:Fallback>
                <p:oleObj name="Equation" r:id="rId3" imgW="28191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2713" y="4057650"/>
                        <a:ext cx="6259512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3036888" y="5421313"/>
          <a:ext cx="318611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6627" name="Equation" r:id="rId5" imgW="1434960" imgH="419040" progId="Equation.DSMT4">
                  <p:embed/>
                </p:oleObj>
              </mc:Choice>
              <mc:Fallback>
                <p:oleObj name="Equation" r:id="rId5" imgW="1434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888" y="5421313"/>
                        <a:ext cx="3186112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0310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5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General Case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066800"/>
            <a:ext cx="8534400" cy="5334000"/>
          </a:xfrm>
        </p:spPr>
        <p:txBody>
          <a:bodyPr/>
          <a:lstStyle/>
          <a:p>
            <a:r>
              <a:rPr lang="en-US" altLang="en-US" dirty="0" smtClean="0"/>
              <a:t>Assume</a:t>
            </a:r>
          </a:p>
          <a:p>
            <a:pPr lvl="1"/>
            <a:r>
              <a:rPr lang="en-US" altLang="en-US" dirty="0" smtClean="0"/>
              <a:t>The rental rate for a new machine at any time </a:t>
            </a:r>
            <a:r>
              <a:rPr lang="en-US" altLang="en-US" i="1" dirty="0" smtClean="0"/>
              <a:t>s</a:t>
            </a:r>
            <a:r>
              <a:rPr lang="en-US" altLang="en-US" dirty="0" smtClean="0"/>
              <a:t> is given by </a:t>
            </a:r>
            <a:r>
              <a:rPr lang="en-US" altLang="en-US" i="1" dirty="0" smtClean="0"/>
              <a:t>v</a:t>
            </a:r>
            <a:r>
              <a:rPr lang="en-US" altLang="en-US" dirty="0" smtClean="0"/>
              <a:t>(</a:t>
            </a:r>
            <a:r>
              <a:rPr lang="en-US" altLang="en-US" i="1" dirty="0" smtClean="0"/>
              <a:t>s</a:t>
            </a:r>
            <a:r>
              <a:rPr lang="en-US" altLang="en-US" dirty="0" smtClean="0"/>
              <a:t>)</a:t>
            </a:r>
          </a:p>
          <a:p>
            <a:pPr lvl="1"/>
            <a:r>
              <a:rPr lang="en-US" altLang="en-US" dirty="0" smtClean="0"/>
              <a:t>The machine depreciates at a rate of </a:t>
            </a:r>
            <a:r>
              <a:rPr lang="en-US" altLang="en-US" i="1" dirty="0" smtClean="0"/>
              <a:t>d</a:t>
            </a:r>
          </a:p>
          <a:p>
            <a:pPr lvl="2"/>
            <a:r>
              <a:rPr lang="en-US" altLang="en-US" dirty="0" smtClean="0"/>
              <a:t>The net rental rate of the machine will decline over time</a:t>
            </a:r>
          </a:p>
          <a:p>
            <a:r>
              <a:rPr lang="en-US" altLang="en-US" dirty="0" smtClean="0"/>
              <a:t>In year </a:t>
            </a:r>
            <a:r>
              <a:rPr lang="en-US" altLang="en-US" i="1" dirty="0" smtClean="0"/>
              <a:t>s</a:t>
            </a:r>
            <a:r>
              <a:rPr lang="en-US" altLang="en-US" dirty="0" smtClean="0"/>
              <a:t> </a:t>
            </a:r>
          </a:p>
          <a:p>
            <a:pPr lvl="1"/>
            <a:r>
              <a:rPr lang="en-US" altLang="en-US" dirty="0" smtClean="0"/>
              <a:t>The net rental rate of an old machine bought in a previous year (</a:t>
            </a:r>
            <a:r>
              <a:rPr lang="en-US" altLang="en-US" i="1" dirty="0" smtClean="0"/>
              <a:t>t</a:t>
            </a:r>
            <a:r>
              <a:rPr lang="en-US" altLang="en-US" dirty="0" smtClean="0"/>
              <a:t>): </a:t>
            </a:r>
            <a:r>
              <a:rPr lang="en-US" altLang="en-US" i="1" dirty="0" smtClean="0">
                <a:solidFill>
                  <a:srgbClr val="FF0000"/>
                </a:solidFill>
              </a:rPr>
              <a:t>v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i="1" dirty="0" smtClean="0">
                <a:solidFill>
                  <a:srgbClr val="FF0000"/>
                </a:solidFill>
              </a:rPr>
              <a:t>s</a:t>
            </a:r>
            <a:r>
              <a:rPr lang="en-US" altLang="en-US" dirty="0" smtClean="0">
                <a:solidFill>
                  <a:srgbClr val="FF0000"/>
                </a:solidFill>
              </a:rPr>
              <a:t>)</a:t>
            </a:r>
            <a:r>
              <a:rPr lang="en-US" altLang="en-US" i="1" dirty="0" smtClean="0">
                <a:solidFill>
                  <a:srgbClr val="FF0000"/>
                </a:solidFill>
              </a:rPr>
              <a:t>e</a:t>
            </a:r>
            <a:r>
              <a:rPr lang="en-US" altLang="en-US" i="1" baseline="30000" dirty="0" smtClean="0">
                <a:solidFill>
                  <a:srgbClr val="FF0000"/>
                </a:solidFill>
              </a:rPr>
              <a:t> -d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(</a:t>
            </a:r>
            <a:r>
              <a:rPr lang="en-US" altLang="en-US" i="1" baseline="30000" dirty="0" smtClean="0">
                <a:solidFill>
                  <a:srgbClr val="FF0000"/>
                </a:solidFill>
              </a:rPr>
              <a:t>s-t</a:t>
            </a:r>
            <a:r>
              <a:rPr lang="en-US" altLang="en-US" baseline="30000" dirty="0" smtClean="0">
                <a:solidFill>
                  <a:srgbClr val="FF0000"/>
                </a:solidFill>
              </a:rPr>
              <a:t>)</a:t>
            </a:r>
            <a:endParaRPr lang="en-US" altLang="en-US" dirty="0" smtClean="0">
              <a:solidFill>
                <a:srgbClr val="FF0000"/>
              </a:solidFill>
            </a:endParaRPr>
          </a:p>
          <a:p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AC7D83C-8782-4630-970D-658A2E894C39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4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General Case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Firm</a:t>
            </a:r>
          </a:p>
          <a:p>
            <a:pPr lvl="1"/>
            <a:r>
              <a:rPr lang="en-US" altLang="en-US" dirty="0" smtClean="0"/>
              <a:t>Considering the purchase of the machine when it is new in year </a:t>
            </a:r>
            <a:r>
              <a:rPr lang="en-US" altLang="en-US" i="1" dirty="0" smtClean="0"/>
              <a:t>t</a:t>
            </a:r>
          </a:p>
          <a:p>
            <a:pPr lvl="1"/>
            <a:r>
              <a:rPr lang="en-US" altLang="en-US" dirty="0" smtClean="0"/>
              <a:t>It should discount all of these net rental amounts back to that date</a:t>
            </a:r>
          </a:p>
          <a:p>
            <a:pPr lvl="1"/>
            <a:r>
              <a:rPr lang="en-US" altLang="en-US" dirty="0" smtClean="0"/>
              <a:t>The present value of the net rental in year </a:t>
            </a:r>
            <a:r>
              <a:rPr lang="en-US" altLang="en-US" i="1" dirty="0" smtClean="0"/>
              <a:t>s</a:t>
            </a:r>
            <a:r>
              <a:rPr lang="en-US" altLang="en-US" dirty="0" smtClean="0"/>
              <a:t> discounted back to year </a:t>
            </a:r>
            <a:r>
              <a:rPr lang="en-US" altLang="en-US" i="1" dirty="0" smtClean="0"/>
              <a:t>t</a:t>
            </a:r>
            <a:r>
              <a:rPr lang="en-US" altLang="en-US" dirty="0" smtClean="0"/>
              <a:t> is </a:t>
            </a:r>
          </a:p>
          <a:p>
            <a:pPr algn="ctr">
              <a:lnSpc>
                <a:spcPct val="120000"/>
              </a:lnSpc>
              <a:buFontTx/>
              <a:buNone/>
            </a:pPr>
            <a:r>
              <a:rPr lang="en-US" alt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3200" i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-r(s-t)</a:t>
            </a:r>
            <a:r>
              <a:rPr lang="en-US" alt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v(s)e</a:t>
            </a:r>
            <a:r>
              <a:rPr lang="en-US" altLang="en-US" sz="3200" i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-d(s-t)</a:t>
            </a:r>
            <a:r>
              <a:rPr lang="en-US" alt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e</a:t>
            </a:r>
            <a:r>
              <a:rPr lang="en-US" altLang="en-US" sz="3200" i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3200" i="1" baseline="30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r+d</a:t>
            </a:r>
            <a:r>
              <a:rPr lang="en-US" altLang="en-US" sz="3200" i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3200" i="1" baseline="30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32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32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(s)e</a:t>
            </a:r>
            <a:r>
              <a:rPr lang="en-US" altLang="en-US" sz="3200" i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-(</a:t>
            </a:r>
            <a:r>
              <a:rPr lang="en-US" altLang="en-US" sz="3200" i="1" baseline="30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r+d</a:t>
            </a:r>
            <a:r>
              <a:rPr lang="en-US" altLang="en-US" sz="3200" i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)s</a:t>
            </a:r>
            <a:endParaRPr lang="en-US" altLang="en-US" sz="3200" i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D9550B-B920-4843-A0C3-B0EEF22A492D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5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General Case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present discounted value </a:t>
            </a:r>
          </a:p>
          <a:p>
            <a:pPr lvl="1"/>
            <a:r>
              <a:rPr lang="en-US" altLang="en-US" smtClean="0"/>
              <a:t>Of a machine bought in year </a:t>
            </a:r>
            <a:r>
              <a:rPr lang="en-US" altLang="en-US" i="1" smtClean="0"/>
              <a:t>t</a:t>
            </a:r>
            <a:r>
              <a:rPr lang="en-US" altLang="en-US" smtClean="0"/>
              <a:t> </a:t>
            </a:r>
          </a:p>
          <a:p>
            <a:pPr lvl="1"/>
            <a:r>
              <a:rPr lang="en-US" altLang="en-US" smtClean="0"/>
              <a:t>Is the sum (integral) of these present values</a:t>
            </a:r>
            <a:endParaRPr lang="en-US" altLang="en-US" sz="2600" smtClean="0">
              <a:solidFill>
                <a:srgbClr val="5858D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575F42-7089-41B4-A96F-78F2336ED1AF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3886200"/>
            <a:ext cx="8534400" cy="2362200"/>
          </a:xfrm>
        </p:spPr>
        <p:txBody>
          <a:bodyPr/>
          <a:lstStyle/>
          <a:p>
            <a:pPr eaLnBrk="0" hangingPunct="0">
              <a:buFontTx/>
              <a:buChar char="•"/>
              <a:defRPr/>
            </a:pPr>
            <a:r>
              <a:rPr lang="en-US" kern="0" dirty="0"/>
              <a:t>In equilibrium</a:t>
            </a:r>
          </a:p>
          <a:p>
            <a:pPr lvl="1" eaLnBrk="0" hangingPunct="0">
              <a:buFont typeface="Arial" charset="0"/>
              <a:buChar char="–"/>
              <a:defRPr/>
            </a:pPr>
            <a:r>
              <a:rPr lang="en-US" kern="0" dirty="0"/>
              <a:t>The price of the machine at time </a:t>
            </a:r>
            <a:r>
              <a:rPr lang="en-US" i="1" kern="0" dirty="0"/>
              <a:t>t</a:t>
            </a:r>
            <a:r>
              <a:rPr lang="en-US" kern="0" dirty="0"/>
              <a:t> [</a:t>
            </a:r>
            <a:r>
              <a:rPr lang="en-US" i="1" kern="0" dirty="0"/>
              <a:t>p</a:t>
            </a:r>
            <a:r>
              <a:rPr lang="en-US" kern="0" dirty="0"/>
              <a:t>(</a:t>
            </a:r>
            <a:r>
              <a:rPr lang="en-US" i="1" kern="0" dirty="0"/>
              <a:t>t</a:t>
            </a:r>
            <a:r>
              <a:rPr lang="en-US" kern="0" dirty="0"/>
              <a:t>)] will be equal to this present </a:t>
            </a:r>
            <a:r>
              <a:rPr lang="en-US" kern="0" dirty="0" smtClean="0"/>
              <a:t>value</a:t>
            </a:r>
            <a:endParaRPr lang="en-US" sz="2400" kern="0" dirty="0"/>
          </a:p>
        </p:txBody>
      </p:sp>
      <p:graphicFrame>
        <p:nvGraphicFramePr>
          <p:cNvPr id="146534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7366500"/>
              </p:ext>
            </p:extLst>
          </p:nvPr>
        </p:nvGraphicFramePr>
        <p:xfrm>
          <a:off x="2263775" y="2971800"/>
          <a:ext cx="43116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648" name="Equation" r:id="rId3" imgW="1892160" imgH="469800" progId="Equation.DSMT4">
                  <p:embed/>
                </p:oleObj>
              </mc:Choice>
              <mc:Fallback>
                <p:oleObj name="Equation" r:id="rId3" imgW="18921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3775" y="2971800"/>
                        <a:ext cx="431165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535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4341463"/>
              </p:ext>
            </p:extLst>
          </p:nvPr>
        </p:nvGraphicFramePr>
        <p:xfrm>
          <a:off x="2678113" y="5410200"/>
          <a:ext cx="378777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7649" name="Equation" r:id="rId5" imgW="1663560" imgH="469800" progId="Equation.DSMT4">
                  <p:embed/>
                </p:oleObj>
              </mc:Choice>
              <mc:Fallback>
                <p:oleObj name="Equation" r:id="rId5" imgW="16635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113" y="5410200"/>
                        <a:ext cx="378777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810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5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65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General Case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smtClean="0"/>
              <a:t>Rewriting:</a:t>
            </a:r>
            <a:endParaRPr lang="en-US" altLang="en-US" sz="2600" smtClean="0">
              <a:solidFill>
                <a:srgbClr val="5858D4"/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7BBAA6-0B63-4079-82A9-9D50A9B15D8B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1981200"/>
            <a:ext cx="8534400" cy="4267200"/>
          </a:xfrm>
        </p:spPr>
        <p:txBody>
          <a:bodyPr/>
          <a:lstStyle/>
          <a:p>
            <a:r>
              <a:rPr lang="en-US" dirty="0"/>
              <a:t>Differentiating with respect to t yields: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This means:</a:t>
            </a:r>
            <a:endParaRPr lang="en-US" dirty="0"/>
          </a:p>
          <a:p>
            <a:endParaRPr lang="en-US" dirty="0" smtClean="0"/>
          </a:p>
          <a:p>
            <a:pPr lvl="1"/>
            <a:r>
              <a:rPr lang="en-US" dirty="0" err="1" smtClean="0"/>
              <a:t>dp</a:t>
            </a:r>
            <a:r>
              <a:rPr lang="en-US" dirty="0" smtClean="0"/>
              <a:t>(t</a:t>
            </a:r>
            <a:r>
              <a:rPr lang="en-US" dirty="0"/>
              <a:t>)/</a:t>
            </a:r>
            <a:r>
              <a:rPr lang="en-US" dirty="0" err="1"/>
              <a:t>dt</a:t>
            </a:r>
            <a:r>
              <a:rPr lang="en-US" dirty="0"/>
              <a:t> represents the capital gains that accrue to the owner of the machine</a:t>
            </a:r>
          </a:p>
          <a:p>
            <a:endParaRPr lang="en-US" dirty="0"/>
          </a:p>
        </p:txBody>
      </p:sp>
      <p:sp>
        <p:nvSpPr>
          <p:cNvPr id="13321" name="Rectangle 5"/>
          <p:cNvSpPr>
            <a:spLocks noChangeArrowheads="1"/>
          </p:cNvSpPr>
          <p:nvPr/>
        </p:nvSpPr>
        <p:spPr bwMode="auto">
          <a:xfrm>
            <a:off x="609600" y="3505200"/>
            <a:ext cx="8001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en-US" sz="2800">
              <a:solidFill>
                <a:srgbClr val="5858D4"/>
              </a:solidFill>
            </a:endParaRPr>
          </a:p>
        </p:txBody>
      </p:sp>
      <p:graphicFrame>
        <p:nvGraphicFramePr>
          <p:cNvPr id="1466374" name="Object 2"/>
          <p:cNvGraphicFramePr>
            <a:graphicFrameLocks noChangeAspect="1"/>
          </p:cNvGraphicFramePr>
          <p:nvPr/>
        </p:nvGraphicFramePr>
        <p:xfrm>
          <a:off x="2614613" y="1117600"/>
          <a:ext cx="3821112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84" name="Equation" r:id="rId3" imgW="1676160" imgH="469800" progId="Equation.DSMT4">
                  <p:embed/>
                </p:oleObj>
              </mc:Choice>
              <mc:Fallback>
                <p:oleObj name="Equation" r:id="rId3" imgW="16761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4613" y="1117600"/>
                        <a:ext cx="3821112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63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5258763"/>
              </p:ext>
            </p:extLst>
          </p:nvPr>
        </p:nvGraphicFramePr>
        <p:xfrm>
          <a:off x="960438" y="2514600"/>
          <a:ext cx="7031037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85" name="Equation" r:id="rId5" imgW="3263760" imgH="685800" progId="Equation.DSMT4">
                  <p:embed/>
                </p:oleObj>
              </mc:Choice>
              <mc:Fallback>
                <p:oleObj name="Equation" r:id="rId5" imgW="326376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438" y="2514600"/>
                        <a:ext cx="7031037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739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3860172"/>
              </p:ext>
            </p:extLst>
          </p:nvPr>
        </p:nvGraphicFramePr>
        <p:xfrm>
          <a:off x="2743200" y="4267200"/>
          <a:ext cx="353060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86" name="Equation" r:id="rId7" imgW="1549080" imgH="393480" progId="Equation.DSMT4">
                  <p:embed/>
                </p:oleObj>
              </mc:Choice>
              <mc:Fallback>
                <p:oleObj name="Equation" r:id="rId7" imgW="15490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267200"/>
                        <a:ext cx="3530600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9679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66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6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17.3 	Cutting Down a Tree</a:t>
            </a:r>
          </a:p>
        </p:txBody>
      </p:sp>
      <p:sp>
        <p:nvSpPr>
          <p:cNvPr id="66565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ED470624-4F48-487D-9FC2-C2E83EDD7CC7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  <p:sp>
        <p:nvSpPr>
          <p:cNvPr id="66563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smtClean="0"/>
              <a:t>A forester </a:t>
            </a:r>
          </a:p>
          <a:p>
            <a:pPr lvl="1"/>
            <a:r>
              <a:rPr lang="en-US" altLang="en-US" smtClean="0"/>
              <a:t>Must decide when to cut down a tree</a:t>
            </a:r>
          </a:p>
          <a:p>
            <a:r>
              <a:rPr lang="en-US" altLang="en-US" smtClean="0"/>
              <a:t>The value of the tree at any time </a:t>
            </a:r>
            <a:r>
              <a:rPr lang="en-US" altLang="en-US" i="1" smtClean="0"/>
              <a:t>t</a:t>
            </a:r>
            <a:r>
              <a:rPr lang="en-US" altLang="en-US" smtClean="0"/>
              <a:t> </a:t>
            </a:r>
          </a:p>
          <a:p>
            <a:pPr lvl="1"/>
            <a:r>
              <a:rPr lang="en-US" altLang="en-US" smtClean="0"/>
              <a:t>Given by </a:t>
            </a:r>
            <a:r>
              <a:rPr lang="en-US" altLang="en-US" i="1" smtClean="0"/>
              <a:t>f</a:t>
            </a:r>
            <a:r>
              <a:rPr lang="en-US" altLang="en-US" smtClean="0"/>
              <a:t>(</a:t>
            </a:r>
            <a:r>
              <a:rPr lang="en-US" altLang="en-US" i="1" smtClean="0"/>
              <a:t>t</a:t>
            </a:r>
            <a:r>
              <a:rPr lang="en-US" altLang="en-US" smtClean="0"/>
              <a:t>)</a:t>
            </a:r>
          </a:p>
          <a:p>
            <a:pPr lvl="2"/>
            <a:r>
              <a:rPr lang="en-US" altLang="en-US" smtClean="0"/>
              <a:t>Where </a:t>
            </a:r>
            <a:r>
              <a:rPr lang="en-US" altLang="en-US" i="1" smtClean="0"/>
              <a:t>f’</a:t>
            </a:r>
            <a:r>
              <a:rPr lang="en-US" altLang="en-US" smtClean="0"/>
              <a:t>(</a:t>
            </a:r>
            <a:r>
              <a:rPr lang="en-US" altLang="en-US" i="1" smtClean="0"/>
              <a:t>t</a:t>
            </a:r>
            <a:r>
              <a:rPr lang="en-US" altLang="en-US" smtClean="0"/>
              <a:t>)&gt;0 and </a:t>
            </a:r>
            <a:r>
              <a:rPr lang="en-US" altLang="en-US" i="1" smtClean="0"/>
              <a:t>f’’</a:t>
            </a:r>
            <a:r>
              <a:rPr lang="en-US" altLang="en-US" smtClean="0"/>
              <a:t>(</a:t>
            </a:r>
            <a:r>
              <a:rPr lang="en-US" altLang="en-US" i="1" smtClean="0"/>
              <a:t>t</a:t>
            </a:r>
            <a:r>
              <a:rPr lang="en-US" altLang="en-US" smtClean="0"/>
              <a:t>)&lt;0</a:t>
            </a:r>
          </a:p>
          <a:p>
            <a:r>
              <a:rPr lang="en-US" altLang="en-US" smtClean="0"/>
              <a:t>Initial investment</a:t>
            </a:r>
          </a:p>
          <a:p>
            <a:pPr lvl="1"/>
            <a:r>
              <a:rPr lang="en-US" altLang="en-US" smtClean="0"/>
              <a:t> </a:t>
            </a:r>
            <a:r>
              <a:rPr lang="en-US" altLang="en-US" i="1" smtClean="0">
                <a:latin typeface="Times New Roman" pitchFamily="18" charset="0"/>
              </a:rPr>
              <a:t>l</a:t>
            </a:r>
            <a:r>
              <a:rPr lang="en-US" altLang="en-US" smtClean="0"/>
              <a:t> dollars (payments to workers who planted the tree)</a:t>
            </a:r>
          </a:p>
        </p:txBody>
      </p:sp>
    </p:spTree>
    <p:extLst>
      <p:ext uri="{BB962C8B-B14F-4D97-AF65-F5344CB8AC3E}">
        <p14:creationId xmlns:p14="http://schemas.microsoft.com/office/powerpoint/2010/main" val="3231213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17.3 	Cutting Down a Tree</a:t>
            </a:r>
          </a:p>
        </p:txBody>
      </p:sp>
      <p:sp>
        <p:nvSpPr>
          <p:cNvPr id="14342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C97C4D9F-A56C-4380-9E3F-A290F2B4675E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  <p:sp>
        <p:nvSpPr>
          <p:cNvPr id="14340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smtClean="0"/>
              <a:t>When the tree is planted</a:t>
            </a:r>
          </a:p>
          <a:p>
            <a:pPr lvl="1"/>
            <a:r>
              <a:rPr lang="en-US" altLang="en-US" smtClean="0"/>
              <a:t>The present discounted value of the owner’s profits: </a:t>
            </a:r>
            <a:r>
              <a:rPr lang="en-US" altLang="en-US" i="1" smtClean="0">
                <a:solidFill>
                  <a:srgbClr val="FF0000"/>
                </a:solidFill>
              </a:rPr>
              <a:t>PDV</a:t>
            </a:r>
            <a:r>
              <a:rPr lang="en-US" altLang="en-US" smtClean="0">
                <a:solidFill>
                  <a:srgbClr val="FF0000"/>
                </a:solidFill>
              </a:rPr>
              <a:t>(</a:t>
            </a:r>
            <a:r>
              <a:rPr lang="en-US" altLang="en-US" i="1" smtClean="0">
                <a:solidFill>
                  <a:srgbClr val="FF0000"/>
                </a:solidFill>
              </a:rPr>
              <a:t>t</a:t>
            </a:r>
            <a:r>
              <a:rPr lang="en-US" altLang="en-US" smtClean="0">
                <a:solidFill>
                  <a:srgbClr val="FF0000"/>
                </a:solidFill>
              </a:rPr>
              <a:t>) = </a:t>
            </a:r>
            <a:r>
              <a:rPr lang="en-US" altLang="en-US" i="1" smtClean="0">
                <a:solidFill>
                  <a:srgbClr val="FF0000"/>
                </a:solidFill>
              </a:rPr>
              <a:t>e</a:t>
            </a:r>
            <a:r>
              <a:rPr lang="en-US" altLang="en-US" i="1" baseline="30000" smtClean="0">
                <a:solidFill>
                  <a:srgbClr val="FF0000"/>
                </a:solidFill>
              </a:rPr>
              <a:t>-rt</a:t>
            </a:r>
            <a:r>
              <a:rPr lang="en-US" altLang="en-US" i="1" smtClean="0">
                <a:solidFill>
                  <a:srgbClr val="FF0000"/>
                </a:solidFill>
              </a:rPr>
              <a:t>f</a:t>
            </a:r>
            <a:r>
              <a:rPr lang="en-US" altLang="en-US" smtClean="0">
                <a:solidFill>
                  <a:srgbClr val="FF0000"/>
                </a:solidFill>
              </a:rPr>
              <a:t>(</a:t>
            </a:r>
            <a:r>
              <a:rPr lang="en-US" altLang="en-US" i="1" smtClean="0">
                <a:solidFill>
                  <a:srgbClr val="FF0000"/>
                </a:solidFill>
              </a:rPr>
              <a:t>t</a:t>
            </a:r>
            <a:r>
              <a:rPr lang="en-US" altLang="en-US" smtClean="0">
                <a:solidFill>
                  <a:srgbClr val="FF0000"/>
                </a:solidFill>
              </a:rPr>
              <a:t>) - 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</a:rPr>
              <a:t>l</a:t>
            </a:r>
            <a:endParaRPr lang="en-US" altLang="en-US" smtClean="0">
              <a:solidFill>
                <a:srgbClr val="FF0000"/>
              </a:solidFill>
              <a:latin typeface="Times New Roman" pitchFamily="18" charset="0"/>
            </a:endParaRPr>
          </a:p>
          <a:p>
            <a:r>
              <a:rPr lang="en-US" altLang="en-US" smtClean="0"/>
              <a:t>The forester’s decision </a:t>
            </a:r>
          </a:p>
          <a:p>
            <a:pPr lvl="1"/>
            <a:r>
              <a:rPr lang="en-US" altLang="en-US" smtClean="0"/>
              <a:t>Chose the harvest date, </a:t>
            </a:r>
            <a:r>
              <a:rPr lang="en-US" altLang="en-US" i="1" smtClean="0"/>
              <a:t>t</a:t>
            </a:r>
            <a:r>
              <a:rPr lang="en-US" altLang="en-US" smtClean="0"/>
              <a:t>, to maximize </a:t>
            </a:r>
            <a:r>
              <a:rPr lang="en-US" altLang="en-US" i="1" smtClean="0">
                <a:solidFill>
                  <a:srgbClr val="FF0000"/>
                </a:solidFill>
              </a:rPr>
              <a:t>PDV</a:t>
            </a:r>
            <a:r>
              <a:rPr lang="en-US" altLang="en-US" smtClean="0">
                <a:solidFill>
                  <a:srgbClr val="FF0000"/>
                </a:solidFill>
              </a:rPr>
              <a:t>(</a:t>
            </a:r>
            <a:r>
              <a:rPr lang="en-US" altLang="en-US" i="1" smtClean="0">
                <a:solidFill>
                  <a:srgbClr val="FF0000"/>
                </a:solidFill>
              </a:rPr>
              <a:t>t</a:t>
            </a:r>
            <a:r>
              <a:rPr lang="en-US" altLang="en-US" smtClean="0">
                <a:solidFill>
                  <a:srgbClr val="FF0000"/>
                </a:solidFill>
              </a:rPr>
              <a:t>)</a:t>
            </a:r>
            <a:endParaRPr lang="en-US" altLang="en-US" smtClean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81000" y="4876800"/>
            <a:ext cx="8382000" cy="1600200"/>
          </a:xfrm>
        </p:spPr>
        <p:txBody>
          <a:bodyPr>
            <a:normAutofit/>
          </a:bodyPr>
          <a:lstStyle/>
          <a:p>
            <a:pPr lvl="1" eaLnBrk="0" hangingPunct="0">
              <a:defRPr/>
            </a:pPr>
            <a:r>
              <a:rPr lang="en-US" kern="0" dirty="0"/>
              <a:t>Note that </a:t>
            </a:r>
            <a:r>
              <a:rPr lang="en-US" i="1" kern="0" dirty="0">
                <a:latin typeface="Times New Roman" pitchFamily="18" charset="0"/>
              </a:rPr>
              <a:t>l</a:t>
            </a:r>
            <a:r>
              <a:rPr lang="en-US" kern="0" dirty="0"/>
              <a:t> drops out (sunk cost)</a:t>
            </a:r>
          </a:p>
          <a:p>
            <a:pPr lvl="1" eaLnBrk="0" hangingPunct="0">
              <a:defRPr/>
            </a:pPr>
            <a:r>
              <a:rPr lang="en-US" kern="0" dirty="0"/>
              <a:t>The tree should be harvested when </a:t>
            </a:r>
            <a:r>
              <a:rPr lang="en-US" i="1" kern="0" dirty="0"/>
              <a:t>r</a:t>
            </a:r>
            <a:r>
              <a:rPr lang="en-US" kern="0" dirty="0"/>
              <a:t> is equal to the proportional growth rate of the tree</a:t>
            </a:r>
            <a:endParaRPr lang="en-US" kern="0" dirty="0">
              <a:solidFill>
                <a:srgbClr val="FF0000"/>
              </a:solidFill>
            </a:endParaRPr>
          </a:p>
          <a:p>
            <a:pPr lvl="1"/>
            <a:endParaRPr lang="en-US" dirty="0"/>
          </a:p>
        </p:txBody>
      </p:sp>
      <p:graphicFrame>
        <p:nvGraphicFramePr>
          <p:cNvPr id="146944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485163"/>
              </p:ext>
            </p:extLst>
          </p:nvPr>
        </p:nvGraphicFramePr>
        <p:xfrm>
          <a:off x="1803401" y="3094039"/>
          <a:ext cx="4749800" cy="1837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81" name="Equation" r:id="rId3" imgW="2158920" imgH="838080" progId="Equation.DSMT4">
                  <p:embed/>
                </p:oleObj>
              </mc:Choice>
              <mc:Fallback>
                <p:oleObj name="Equation" r:id="rId3" imgW="215892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1" y="3094039"/>
                        <a:ext cx="4749800" cy="1837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055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9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17.3 	Cutting Down a Tree</a:t>
            </a:r>
          </a:p>
        </p:txBody>
      </p:sp>
      <p:sp>
        <p:nvSpPr>
          <p:cNvPr id="15366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7EB3EFD6-9CA2-4BC3-83F7-992D3228810C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  <p:sp>
        <p:nvSpPr>
          <p:cNvPr id="15364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smtClean="0"/>
              <a:t>Suppose that trees grow according to the equation: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/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lvl="1" eaLnBrk="0" hangingPunct="0">
                  <a:defRPr/>
                </a:pPr>
                <a:r>
                  <a:rPr lang="en-US" kern="0" dirty="0" smtClean="0"/>
                  <a:t>If </a:t>
                </a:r>
                <a:r>
                  <a:rPr lang="en-US" i="1" kern="0" dirty="0"/>
                  <a:t>r</a:t>
                </a:r>
                <a:r>
                  <a:rPr lang="en-US" kern="0" dirty="0"/>
                  <a:t> = 0.04, then </a:t>
                </a:r>
                <a:r>
                  <a:rPr lang="en-US" i="1" kern="0" dirty="0"/>
                  <a:t>t</a:t>
                </a:r>
                <a:r>
                  <a:rPr lang="en-US" kern="0" dirty="0"/>
                  <a:t>* = 25</a:t>
                </a:r>
              </a:p>
              <a:p>
                <a:pPr lvl="1" eaLnBrk="0" hangingPunct="0">
                  <a:defRPr/>
                </a:pPr>
                <a:r>
                  <a:rPr lang="en-US" kern="0" dirty="0"/>
                  <a:t>If </a:t>
                </a:r>
                <a:r>
                  <a:rPr lang="en-US" i="1" kern="0" dirty="0"/>
                  <a:t>r</a:t>
                </a:r>
                <a:r>
                  <a:rPr lang="en-US" kern="0" dirty="0"/>
                  <a:t> rises to 0.05, then </a:t>
                </a:r>
                <a:r>
                  <a:rPr lang="en-US" i="1" kern="0" dirty="0"/>
                  <a:t>t</a:t>
                </a:r>
                <a:r>
                  <a:rPr lang="en-US" kern="0" dirty="0"/>
                  <a:t>* falls to 16</a:t>
                </a:r>
              </a:p>
              <a:p>
                <a:r>
                  <a:rPr lang="en-US" dirty="0"/>
                  <a:t>Comparative statics </a:t>
                </a:r>
                <a:r>
                  <a:rPr lang="en-US" dirty="0" smtClean="0"/>
                  <a:t>analysis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𝑟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𝑟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′′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𝑟𝑓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′(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≤0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 rotWithShape="1">
                <a:blip r:embed="rId3"/>
                <a:stretch>
                  <a:fillRect l="-1673" t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71492" name="Object 2"/>
          <p:cNvGraphicFramePr>
            <a:graphicFrameLocks noChangeAspect="1"/>
          </p:cNvGraphicFramePr>
          <p:nvPr/>
        </p:nvGraphicFramePr>
        <p:xfrm>
          <a:off x="2444750" y="1617663"/>
          <a:ext cx="2185988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705" name="Equation" r:id="rId4" imgW="799920" imgH="685800" progId="Equation.DSMT4">
                  <p:embed/>
                </p:oleObj>
              </mc:Choice>
              <mc:Fallback>
                <p:oleObj name="Equation" r:id="rId4" imgW="79992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0" y="1617663"/>
                        <a:ext cx="2185988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185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7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mtClean="0"/>
              <a:t>Natural Resource Pricing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389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 smtClean="0"/>
                  <a:t>Suppose a firm owns a finite stock of some resource [</a:t>
                </a:r>
                <a:r>
                  <a:rPr lang="en-US" altLang="en-US" i="1" dirty="0" smtClean="0"/>
                  <a:t>x</a:t>
                </a:r>
                <a:r>
                  <a:rPr lang="en-US" altLang="en-US" dirty="0" smtClean="0"/>
                  <a:t>(</a:t>
                </a:r>
                <a:r>
                  <a:rPr lang="en-US" altLang="en-US" i="1" dirty="0" smtClean="0"/>
                  <a:t>t</a:t>
                </a:r>
                <a:r>
                  <a:rPr lang="en-US" altLang="en-US" dirty="0" smtClean="0"/>
                  <a:t>)]</a:t>
                </a:r>
              </a:p>
              <a:p>
                <a:pPr lvl="1"/>
                <a:r>
                  <a:rPr lang="en-US" altLang="en-US" dirty="0" smtClean="0"/>
                  <a:t>Let </a:t>
                </a:r>
                <a:r>
                  <a:rPr lang="en-US" altLang="en-US" i="1" dirty="0" smtClean="0"/>
                  <a:t>q</a:t>
                </a:r>
                <a:r>
                  <a:rPr lang="en-US" altLang="en-US" dirty="0" smtClean="0"/>
                  <a:t>(</a:t>
                </a:r>
                <a:r>
                  <a:rPr lang="en-US" altLang="en-US" i="1" dirty="0" smtClean="0"/>
                  <a:t>t</a:t>
                </a:r>
                <a:r>
                  <a:rPr lang="en-US" altLang="en-US" dirty="0" smtClean="0"/>
                  <a:t>) be the level of current production from this stock</a:t>
                </a:r>
              </a:p>
              <a:p>
                <a:pPr lvl="1"/>
                <a:r>
                  <a:rPr lang="en-US" altLang="en-US" dirty="0" smtClean="0"/>
                  <a:t>The stock of this resource evolves according </a:t>
                </a:r>
                <a:r>
                  <a:rPr lang="en-US" altLang="en-US" dirty="0" smtClean="0"/>
                  <a:t>to: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en-US" i="1" kern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en-US" i="1" kern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𝑑</m:t>
                          </m:r>
                          <m:r>
                            <a:rPr lang="en-US" altLang="en-US" b="0" i="1" kern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altLang="en-US" b="0" i="1" kern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altLang="en-US" b="0" i="1" kern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altLang="en-US" b="0" i="1" kern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altLang="en-US" i="1" kern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𝑑</m:t>
                          </m:r>
                          <m:r>
                            <a:rPr lang="en-US" altLang="en-US" b="0" i="1" kern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𝑡</m:t>
                          </m:r>
                        </m:den>
                      </m:f>
                      <m:r>
                        <a:rPr lang="en-US" altLang="en-US" b="0" i="1" kern="0" smtClean="0">
                          <a:solidFill>
                            <a:srgbClr val="C00000"/>
                          </a:solidFill>
                          <a:latin typeface="Cambria Math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altLang="en-US" b="0" i="1" kern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altLang="en-US" b="0" i="1" kern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altLang="en-US" b="0" i="1" kern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en-US" b="0" i="1" kern="0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altLang="en-US" b="0" i="1" kern="0" smtClean="0">
                          <a:solidFill>
                            <a:srgbClr val="C00000"/>
                          </a:solidFill>
                          <a:latin typeface="Cambria Math"/>
                        </a:rPr>
                        <m:t>=−</m:t>
                      </m:r>
                      <m:r>
                        <a:rPr lang="en-US" altLang="en-US" b="0" i="1" kern="0" smtClean="0">
                          <a:solidFill>
                            <a:srgbClr val="C00000"/>
                          </a:solidFill>
                          <a:latin typeface="Cambria Math"/>
                        </a:rPr>
                        <m:t>𝑞</m:t>
                      </m:r>
                      <m:r>
                        <a:rPr lang="en-US" altLang="en-US" b="0" i="1" kern="0" smtClean="0">
                          <a:solidFill>
                            <a:srgbClr val="C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altLang="en-US" b="0" i="1" kern="0" smtClean="0">
                          <a:solidFill>
                            <a:srgbClr val="C00000"/>
                          </a:solidFill>
                          <a:latin typeface="Cambria Math"/>
                        </a:rPr>
                        <m:t>𝑡</m:t>
                      </m:r>
                      <m:r>
                        <a:rPr lang="en-US" altLang="en-US" b="0" i="1" kern="0" smtClean="0">
                          <a:solidFill>
                            <a:srgbClr val="C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en-US" kern="0" dirty="0" smtClean="0">
                  <a:solidFill>
                    <a:srgbClr val="C00000"/>
                  </a:solidFill>
                </a:endParaRPr>
              </a:p>
              <a:p>
                <a:pPr lvl="2"/>
                <a:r>
                  <a:rPr lang="en-US" altLang="en-US" dirty="0"/>
                  <a:t>Is constrained by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alt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/>
                          </a:rPr>
                          <m:t>0</m:t>
                        </m:r>
                      </m:e>
                    </m:d>
                    <m:r>
                      <a:rPr lang="en-US" altLang="en-US" b="0" i="1" smtClean="0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en-US" b="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en-US" b="0" i="1" smtClean="0">
                            <a:latin typeface="Cambria Math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alt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/>
                            <a:ea typeface="Cambria Math"/>
                          </a:rPr>
                          <m:t>∞</m:t>
                        </m:r>
                      </m:e>
                    </m:d>
                    <m:r>
                      <a:rPr lang="en-US" altLang="en-US" b="0" i="1" smtClean="0">
                        <a:latin typeface="Cambria Math"/>
                        <a:ea typeface="Cambria Math"/>
                      </a:rPr>
                      <m:t>=0</m:t>
                    </m:r>
                  </m:oMath>
                </a14:m>
                <a:endParaRPr lang="en-US" altLang="en-US" dirty="0"/>
              </a:p>
            </p:txBody>
          </p:sp>
        </mc:Choice>
        <mc:Fallback>
          <p:sp>
            <p:nvSpPr>
              <p:cNvPr id="1638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86" t="-1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7DE372C-C7B7-4777-BF7B-86D57AC87D7C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804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mtClean="0"/>
              <a:t>Natural Resource Pricing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Extraction of the resource </a:t>
            </a:r>
          </a:p>
          <a:p>
            <a:pPr lvl="1"/>
            <a:r>
              <a:rPr lang="en-US" altLang="en-US" smtClean="0"/>
              <a:t>Exhibits constant </a:t>
            </a:r>
            <a:r>
              <a:rPr lang="en-US" altLang="en-US" i="1" smtClean="0"/>
              <a:t>AC</a:t>
            </a:r>
            <a:r>
              <a:rPr lang="en-US" altLang="en-US" smtClean="0"/>
              <a:t> and </a:t>
            </a:r>
            <a:r>
              <a:rPr lang="en-US" altLang="en-US" i="1" smtClean="0"/>
              <a:t>MC</a:t>
            </a:r>
          </a:p>
          <a:p>
            <a:r>
              <a:rPr lang="en-US" altLang="en-US" smtClean="0"/>
              <a:t>The firm’s total costs: </a:t>
            </a:r>
            <a:r>
              <a:rPr lang="en-US" altLang="en-US" sz="3200" i="1" smtClean="0">
                <a:solidFill>
                  <a:srgbClr val="FF0000"/>
                </a:solidFill>
              </a:rPr>
              <a:t>C</a:t>
            </a:r>
            <a:r>
              <a:rPr lang="en-US" altLang="en-US" sz="3200" smtClean="0">
                <a:solidFill>
                  <a:srgbClr val="FF0000"/>
                </a:solidFill>
              </a:rPr>
              <a:t>(</a:t>
            </a:r>
            <a:r>
              <a:rPr lang="en-US" altLang="en-US" sz="3200" i="1" smtClean="0">
                <a:solidFill>
                  <a:srgbClr val="FF0000"/>
                </a:solidFill>
              </a:rPr>
              <a:t>t</a:t>
            </a:r>
            <a:r>
              <a:rPr lang="en-US" altLang="en-US" sz="3200" smtClean="0">
                <a:solidFill>
                  <a:srgbClr val="FF0000"/>
                </a:solidFill>
              </a:rPr>
              <a:t>) = </a:t>
            </a:r>
            <a:r>
              <a:rPr lang="en-US" altLang="en-US" sz="3200" i="1" smtClean="0">
                <a:solidFill>
                  <a:srgbClr val="FF0000"/>
                </a:solidFill>
              </a:rPr>
              <a:t>c</a:t>
            </a:r>
            <a:r>
              <a:rPr lang="en-US" altLang="en-US" sz="3200" smtClean="0">
                <a:solidFill>
                  <a:srgbClr val="FF0000"/>
                </a:solidFill>
              </a:rPr>
              <a:t>(</a:t>
            </a:r>
            <a:r>
              <a:rPr lang="en-US" altLang="en-US" sz="3200" i="1" smtClean="0">
                <a:solidFill>
                  <a:srgbClr val="FF0000"/>
                </a:solidFill>
              </a:rPr>
              <a:t>t</a:t>
            </a:r>
            <a:r>
              <a:rPr lang="en-US" altLang="en-US" sz="3200" smtClean="0">
                <a:solidFill>
                  <a:srgbClr val="FF0000"/>
                </a:solidFill>
              </a:rPr>
              <a:t>)</a:t>
            </a:r>
            <a:r>
              <a:rPr lang="en-US" altLang="en-US" sz="3200" i="1" smtClean="0">
                <a:solidFill>
                  <a:srgbClr val="FF0000"/>
                </a:solidFill>
              </a:rPr>
              <a:t>q</a:t>
            </a:r>
            <a:r>
              <a:rPr lang="en-US" altLang="en-US" sz="3200" smtClean="0">
                <a:solidFill>
                  <a:srgbClr val="FF0000"/>
                </a:solidFill>
              </a:rPr>
              <a:t>(</a:t>
            </a:r>
            <a:r>
              <a:rPr lang="en-US" altLang="en-US" sz="3200" i="1" smtClean="0">
                <a:solidFill>
                  <a:srgbClr val="FF0000"/>
                </a:solidFill>
              </a:rPr>
              <a:t>t</a:t>
            </a:r>
            <a:r>
              <a:rPr lang="en-US" altLang="en-US" sz="3200" smtClean="0">
                <a:solidFill>
                  <a:srgbClr val="FF0000"/>
                </a:solidFill>
              </a:rPr>
              <a:t>)</a:t>
            </a:r>
          </a:p>
          <a:p>
            <a:r>
              <a:rPr lang="en-US" altLang="en-US" sz="3200" smtClean="0"/>
              <a:t>The firm’s goal </a:t>
            </a:r>
          </a:p>
          <a:p>
            <a:pPr lvl="1"/>
            <a:r>
              <a:rPr lang="en-US" altLang="en-US" sz="3000" smtClean="0"/>
              <a:t>Maximize the present discounted value of profits </a:t>
            </a:r>
          </a:p>
          <a:p>
            <a:pPr lvl="1"/>
            <a:r>
              <a:rPr lang="en-US" altLang="en-US" sz="3000" smtClean="0"/>
              <a:t>Subject to the constraint imposed by the stock of the resource available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B63B24C-E600-4A4F-80F9-27065E9A0F5C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870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mtClean="0"/>
              <a:t>Natural Resource Pricing</a:t>
            </a:r>
          </a:p>
        </p:txBody>
      </p:sp>
      <p:sp>
        <p:nvSpPr>
          <p:cNvPr id="174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smtClean="0"/>
              <a:t>Firm’s profits</a:t>
            </a:r>
          </a:p>
          <a:p>
            <a:pPr lvl="1"/>
            <a:r>
              <a:rPr lang="en-US" altLang="en-US" sz="3000" smtClean="0"/>
              <a:t>If </a:t>
            </a:r>
            <a:r>
              <a:rPr lang="en-US" altLang="en-US" sz="3000" i="1" smtClean="0"/>
              <a:t>p</a:t>
            </a:r>
            <a:r>
              <a:rPr lang="en-US" altLang="en-US" sz="3000" smtClean="0"/>
              <a:t>(</a:t>
            </a:r>
            <a:r>
              <a:rPr lang="en-US" altLang="en-US" sz="3000" i="1" smtClean="0"/>
              <a:t>t</a:t>
            </a:r>
            <a:r>
              <a:rPr lang="en-US" altLang="en-US" sz="3000" smtClean="0"/>
              <a:t>) = price of the resource at time </a:t>
            </a:r>
            <a:r>
              <a:rPr lang="en-US" altLang="en-US" sz="3000" i="1" smtClean="0"/>
              <a:t>t</a:t>
            </a:r>
            <a:endParaRPr lang="en-US" alt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A0BAFCC-4A5F-4159-8129-BF9C803A38FF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3124200"/>
            <a:ext cx="8534400" cy="3124200"/>
          </a:xfrm>
        </p:spPr>
        <p:txBody>
          <a:bodyPr/>
          <a:lstStyle/>
          <a:p>
            <a:pPr lvl="1"/>
            <a:r>
              <a:rPr lang="en-US" dirty="0"/>
              <a:t>Augmented </a:t>
            </a:r>
            <a:r>
              <a:rPr lang="en-US" dirty="0" smtClean="0"/>
              <a:t>Hamiltonian: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first-order conditions for a maximum</a:t>
            </a:r>
            <a:r>
              <a:rPr lang="en-US" dirty="0" smtClean="0"/>
              <a:t>:</a:t>
            </a:r>
            <a:endParaRPr lang="en-US" dirty="0"/>
          </a:p>
        </p:txBody>
      </p:sp>
      <p:graphicFrame>
        <p:nvGraphicFramePr>
          <p:cNvPr id="149606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6962754"/>
              </p:ext>
            </p:extLst>
          </p:nvPr>
        </p:nvGraphicFramePr>
        <p:xfrm>
          <a:off x="1649413" y="2109788"/>
          <a:ext cx="4468812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783" name="Equation" r:id="rId3" imgW="1917360" imgH="469800" progId="Equation.DSMT4">
                  <p:embed/>
                </p:oleObj>
              </mc:Choice>
              <mc:Fallback>
                <p:oleObj name="Equation" r:id="rId3" imgW="19173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413" y="2109788"/>
                        <a:ext cx="4468812" cy="109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7092" name="Object 2"/>
          <p:cNvGraphicFramePr>
            <a:graphicFrameLocks noChangeAspect="1"/>
          </p:cNvGraphicFramePr>
          <p:nvPr/>
        </p:nvGraphicFramePr>
        <p:xfrm>
          <a:off x="1020763" y="3567113"/>
          <a:ext cx="7013575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784" name="Equation" r:id="rId5" imgW="3009600" imgH="393480" progId="Equation.DSMT4">
                  <p:embed/>
                </p:oleObj>
              </mc:Choice>
              <mc:Fallback>
                <p:oleObj name="Equation" r:id="rId5" imgW="3009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763" y="3567113"/>
                        <a:ext cx="7013575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8116" name="Object 2"/>
          <p:cNvGraphicFramePr>
            <a:graphicFrameLocks noChangeAspect="1"/>
          </p:cNvGraphicFramePr>
          <p:nvPr/>
        </p:nvGraphicFramePr>
        <p:xfrm>
          <a:off x="2873375" y="4948238"/>
          <a:ext cx="4141788" cy="153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785" name="Equation" r:id="rId7" imgW="1777680" imgH="660240" progId="Equation.DSMT4">
                  <p:embed/>
                </p:oleObj>
              </mc:Choice>
              <mc:Fallback>
                <p:oleObj name="Equation" r:id="rId7" imgW="177768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75" y="4948238"/>
                        <a:ext cx="4141788" cy="1531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3868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6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9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98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mtClean="0"/>
              <a:t>Natural Resource Pricing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Therefore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2B0875-C18A-4631-8160-F72E4A565564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3657600"/>
            <a:ext cx="8534400" cy="2590800"/>
          </a:xfrm>
        </p:spPr>
        <p:txBody>
          <a:bodyPr/>
          <a:lstStyle/>
          <a:p>
            <a:pPr lvl="1" eaLnBrk="0" hangingPunct="0">
              <a:buFont typeface="Arial" charset="0"/>
              <a:buChar char="–"/>
              <a:defRPr/>
            </a:pPr>
            <a:r>
              <a:rPr lang="en-US" kern="0" dirty="0"/>
              <a:t>The change in price has two components</a:t>
            </a:r>
          </a:p>
          <a:p>
            <a:pPr lvl="2" eaLnBrk="0" hangingPunct="0">
              <a:buSzPct val="90000"/>
              <a:buFontTx/>
              <a:buChar char="–"/>
              <a:defRPr/>
            </a:pPr>
            <a:r>
              <a:rPr lang="en-US" kern="0" dirty="0"/>
              <a:t>Upward trend reflecting the scarcity value of the resource</a:t>
            </a:r>
          </a:p>
          <a:p>
            <a:pPr lvl="2" eaLnBrk="0" hangingPunct="0">
              <a:buSzPct val="90000"/>
              <a:buFontTx/>
              <a:buChar char="–"/>
              <a:defRPr/>
            </a:pPr>
            <a:r>
              <a:rPr lang="en-US" kern="0" dirty="0"/>
              <a:t>Changes in marginal extraction </a:t>
            </a:r>
            <a:r>
              <a:rPr lang="en-US" kern="0" dirty="0" smtClean="0"/>
              <a:t>costs</a:t>
            </a:r>
            <a:endParaRPr lang="en-US" kern="0" dirty="0"/>
          </a:p>
        </p:txBody>
      </p:sp>
      <p:graphicFrame>
        <p:nvGraphicFramePr>
          <p:cNvPr id="149914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724008"/>
              </p:ext>
            </p:extLst>
          </p:nvPr>
        </p:nvGraphicFramePr>
        <p:xfrm>
          <a:off x="1760538" y="1828800"/>
          <a:ext cx="6070600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3777" name="Equation" r:id="rId3" imgW="2603160" imgH="761760" progId="Equation.DSMT4">
                  <p:embed/>
                </p:oleObj>
              </mc:Choice>
              <mc:Fallback>
                <p:oleObj name="Equation" r:id="rId3" imgW="260316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0538" y="1828800"/>
                        <a:ext cx="6070600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823913" y="4238625"/>
            <a:ext cx="794385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en-US" altLang="en-US" sz="2800">
              <a:solidFill>
                <a:srgbClr val="394DA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4142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9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mtClean="0"/>
              <a:t>Natural Resource Pricing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Assume </a:t>
            </a:r>
          </a:p>
          <a:p>
            <a:pPr lvl="1"/>
            <a:r>
              <a:rPr lang="en-US" altLang="en-US" smtClean="0"/>
              <a:t>Marginal extraction costs are always zero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A3B5E2-1C9C-442C-B0C8-A070C3917225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3200400"/>
            <a:ext cx="8534400" cy="3048000"/>
          </a:xfrm>
        </p:spPr>
        <p:txBody>
          <a:bodyPr/>
          <a:lstStyle/>
          <a:p>
            <a:pPr eaLnBrk="0" hangingPunct="0">
              <a:buFontTx/>
              <a:buChar char="•"/>
              <a:defRPr/>
            </a:pPr>
            <a:r>
              <a:rPr lang="en-US" sz="3200" kern="0" dirty="0">
                <a:solidFill>
                  <a:srgbClr val="002D56"/>
                </a:solidFill>
              </a:rPr>
              <a:t>Whose solution is: </a:t>
            </a:r>
            <a:r>
              <a:rPr lang="en-US" sz="3200" i="1" kern="0" dirty="0">
                <a:solidFill>
                  <a:srgbClr val="FF0000"/>
                </a:solidFill>
              </a:rPr>
              <a:t>p = p</a:t>
            </a:r>
            <a:r>
              <a:rPr lang="en-US" sz="3200" kern="0" baseline="-25000" dirty="0">
                <a:solidFill>
                  <a:srgbClr val="FF0000"/>
                </a:solidFill>
              </a:rPr>
              <a:t>0</a:t>
            </a:r>
            <a:r>
              <a:rPr lang="en-US" sz="3200" i="1" kern="0" dirty="0">
                <a:solidFill>
                  <a:srgbClr val="FF0000"/>
                </a:solidFill>
              </a:rPr>
              <a:t>e</a:t>
            </a:r>
            <a:r>
              <a:rPr lang="en-US" sz="3200" i="1" kern="0" baseline="30000" dirty="0">
                <a:solidFill>
                  <a:srgbClr val="FF0000"/>
                </a:solidFill>
              </a:rPr>
              <a:t>rt</a:t>
            </a:r>
            <a:endParaRPr lang="en-US" sz="3200" kern="0" dirty="0">
              <a:solidFill>
                <a:srgbClr val="FF0000"/>
              </a:solidFill>
            </a:endParaRPr>
          </a:p>
          <a:p>
            <a:pPr lvl="1" eaLnBrk="0" hangingPunct="0">
              <a:buFontTx/>
              <a:buChar char="–"/>
              <a:defRPr/>
            </a:pPr>
            <a:r>
              <a:rPr lang="en-US" sz="3000" kern="0" dirty="0"/>
              <a:t>Prices increase exponentially at the real rate of </a:t>
            </a:r>
            <a:r>
              <a:rPr lang="en-US" sz="3000" kern="0" dirty="0" smtClean="0"/>
              <a:t>interest</a:t>
            </a:r>
            <a:endParaRPr lang="en-US" kern="0" dirty="0"/>
          </a:p>
        </p:txBody>
      </p:sp>
      <p:graphicFrame>
        <p:nvGraphicFramePr>
          <p:cNvPr id="1500165" name="Object 2"/>
          <p:cNvGraphicFramePr>
            <a:graphicFrameLocks noChangeAspect="1"/>
          </p:cNvGraphicFramePr>
          <p:nvPr/>
        </p:nvGraphicFramePr>
        <p:xfrm>
          <a:off x="2511425" y="2316163"/>
          <a:ext cx="1036638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4801" name="Equation" r:id="rId3" imgW="444240" imgH="304560" progId="Equation.DSMT4">
                  <p:embed/>
                </p:oleObj>
              </mc:Choice>
              <mc:Fallback>
                <p:oleObj name="Equation" r:id="rId3" imgW="44424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5" y="2316163"/>
                        <a:ext cx="1036638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3097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00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mtClean="0"/>
              <a:t>Natural Resource Pricing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Assume</a:t>
            </a:r>
          </a:p>
          <a:p>
            <a:pPr lvl="1"/>
            <a:r>
              <a:rPr lang="en-US" altLang="en-US" dirty="0" smtClean="0"/>
              <a:t>Marginal extraction costs follow an exponential trend: </a:t>
            </a:r>
            <a:r>
              <a:rPr lang="en-US" altLang="en-US" i="1" dirty="0" smtClean="0">
                <a:solidFill>
                  <a:srgbClr val="FF0000"/>
                </a:solidFill>
              </a:rPr>
              <a:t>c</a:t>
            </a:r>
            <a:r>
              <a:rPr lang="en-US" altLang="en-US" dirty="0" smtClean="0">
                <a:solidFill>
                  <a:srgbClr val="FF0000"/>
                </a:solidFill>
              </a:rPr>
              <a:t>(</a:t>
            </a:r>
            <a:r>
              <a:rPr lang="en-US" altLang="en-US" i="1" dirty="0" smtClean="0">
                <a:solidFill>
                  <a:srgbClr val="FF0000"/>
                </a:solidFill>
              </a:rPr>
              <a:t>t</a:t>
            </a:r>
            <a:r>
              <a:rPr lang="en-US" altLang="en-US" dirty="0" smtClean="0">
                <a:solidFill>
                  <a:srgbClr val="FF0000"/>
                </a:solidFill>
              </a:rPr>
              <a:t>)</a:t>
            </a:r>
            <a:r>
              <a:rPr lang="en-US" altLang="en-US" i="1" dirty="0" smtClean="0">
                <a:solidFill>
                  <a:srgbClr val="FF0000"/>
                </a:solidFill>
              </a:rPr>
              <a:t> = c</a:t>
            </a:r>
            <a:r>
              <a:rPr lang="en-US" altLang="en-US" baseline="-25000" dirty="0" smtClean="0">
                <a:solidFill>
                  <a:srgbClr val="FF0000"/>
                </a:solidFill>
              </a:rPr>
              <a:t>0</a:t>
            </a:r>
            <a:r>
              <a:rPr lang="en-US" altLang="en-US" i="1" dirty="0" smtClean="0">
                <a:solidFill>
                  <a:srgbClr val="FF0000"/>
                </a:solidFill>
              </a:rPr>
              <a:t>e</a:t>
            </a:r>
            <a:r>
              <a:rPr lang="en-US" altLang="en-US" baseline="30000" dirty="0" smtClean="0">
                <a:solidFill>
                  <a:srgbClr val="FF0000"/>
                </a:solidFill>
                <a:sym typeface="Symbol" pitchFamily="18" charset="2"/>
              </a:rPr>
              <a:t></a:t>
            </a:r>
            <a:r>
              <a:rPr lang="en-US" altLang="en-US" i="1" baseline="30000" dirty="0" smtClean="0">
                <a:solidFill>
                  <a:srgbClr val="FF0000"/>
                </a:solidFill>
              </a:rPr>
              <a:t>t</a:t>
            </a:r>
            <a:endParaRPr lang="en-US" altLang="en-US" baseline="30000" dirty="0" smtClean="0">
              <a:solidFill>
                <a:srgbClr val="FF0000"/>
              </a:solidFill>
            </a:endParaRPr>
          </a:p>
          <a:p>
            <a:pPr lvl="2"/>
            <a:r>
              <a:rPr lang="en-US" altLang="en-US" dirty="0" smtClean="0"/>
              <a:t>Where </a:t>
            </a:r>
            <a:r>
              <a:rPr lang="en-US" altLang="en-US" dirty="0" smtClean="0">
                <a:sym typeface="Symbol" pitchFamily="18" charset="2"/>
              </a:rPr>
              <a:t> can be positive or negative</a:t>
            </a:r>
          </a:p>
          <a:p>
            <a:r>
              <a:rPr lang="en-US" altLang="en-US" dirty="0" smtClean="0"/>
              <a:t>Then: 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p</a:t>
            </a:r>
            <a:r>
              <a:rPr lang="en-US" altLang="en-US" sz="3200" dirty="0" smtClean="0">
                <a:solidFill>
                  <a:srgbClr val="FF0000"/>
                </a:solidFill>
              </a:rPr>
              <a:t>(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t</a:t>
            </a:r>
            <a:r>
              <a:rPr lang="en-US" altLang="en-US" sz="3200" dirty="0" smtClean="0">
                <a:solidFill>
                  <a:srgbClr val="FF0000"/>
                </a:solidFill>
              </a:rPr>
              <a:t>)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 = </a:t>
            </a:r>
            <a:r>
              <a:rPr lang="en-US" altLang="en-US" sz="3200" dirty="0" smtClean="0">
                <a:solidFill>
                  <a:srgbClr val="FF0000"/>
                </a:solidFill>
              </a:rPr>
              <a:t>(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p</a:t>
            </a:r>
            <a:r>
              <a:rPr lang="en-US" altLang="en-US" sz="3200" baseline="-25000" dirty="0" smtClean="0">
                <a:solidFill>
                  <a:srgbClr val="FF0000"/>
                </a:solidFill>
              </a:rPr>
              <a:t>0</a:t>
            </a:r>
            <a:r>
              <a:rPr lang="en-US" altLang="en-US" sz="3200" dirty="0" smtClean="0">
                <a:solidFill>
                  <a:srgbClr val="FF0000"/>
                </a:solidFill>
              </a:rPr>
              <a:t> – 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c</a:t>
            </a:r>
            <a:r>
              <a:rPr lang="en-US" altLang="en-US" sz="3200" baseline="-25000" dirty="0" smtClean="0">
                <a:solidFill>
                  <a:srgbClr val="FF0000"/>
                </a:solidFill>
              </a:rPr>
              <a:t>0</a:t>
            </a:r>
            <a:r>
              <a:rPr lang="en-US" altLang="en-US" sz="3200" dirty="0" smtClean="0">
                <a:solidFill>
                  <a:srgbClr val="FF0000"/>
                </a:solidFill>
              </a:rPr>
              <a:t>)</a:t>
            </a:r>
            <a:r>
              <a:rPr lang="en-US" altLang="en-US" sz="3200" i="1" dirty="0" err="1" smtClean="0">
                <a:solidFill>
                  <a:srgbClr val="FF0000"/>
                </a:solidFill>
              </a:rPr>
              <a:t>e</a:t>
            </a:r>
            <a:r>
              <a:rPr lang="en-US" altLang="en-US" sz="3200" i="1" baseline="30000" dirty="0" err="1" smtClean="0">
                <a:solidFill>
                  <a:srgbClr val="FF0000"/>
                </a:solidFill>
              </a:rPr>
              <a:t>rt</a:t>
            </a:r>
            <a:r>
              <a:rPr lang="en-US" altLang="en-US" sz="3200" dirty="0" smtClean="0">
                <a:solidFill>
                  <a:srgbClr val="FF0000"/>
                </a:solidFill>
              </a:rPr>
              <a:t> + 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c</a:t>
            </a:r>
            <a:r>
              <a:rPr lang="en-US" altLang="en-US" sz="3200" baseline="-25000" dirty="0" smtClean="0">
                <a:solidFill>
                  <a:srgbClr val="FF0000"/>
                </a:solidFill>
              </a:rPr>
              <a:t>0</a:t>
            </a:r>
            <a:r>
              <a:rPr lang="en-US" altLang="en-US" sz="3200" i="1" dirty="0" smtClean="0">
                <a:solidFill>
                  <a:srgbClr val="FF0000"/>
                </a:solidFill>
              </a:rPr>
              <a:t>e</a:t>
            </a:r>
            <a:r>
              <a:rPr lang="en-US" altLang="en-US" sz="3200" baseline="30000" dirty="0" smtClean="0">
                <a:solidFill>
                  <a:srgbClr val="FF0000"/>
                </a:solidFill>
                <a:sym typeface="Symbol" pitchFamily="18" charset="2"/>
              </a:rPr>
              <a:t>t</a:t>
            </a:r>
          </a:p>
          <a:p>
            <a:r>
              <a:rPr lang="en-US" altLang="en-US" sz="3200" dirty="0" smtClean="0"/>
              <a:t>Resource price is influenced by two trends</a:t>
            </a:r>
          </a:p>
          <a:p>
            <a:pPr lvl="1"/>
            <a:r>
              <a:rPr lang="en-US" altLang="en-US" sz="3000" dirty="0" smtClean="0"/>
              <a:t>An increasing </a:t>
            </a:r>
            <a:r>
              <a:rPr lang="en-US" altLang="en-US" dirty="0" smtClean="0"/>
              <a:t>scarcity rent that reflects the asset value of the resource</a:t>
            </a:r>
          </a:p>
          <a:p>
            <a:pPr lvl="1"/>
            <a:r>
              <a:rPr lang="en-US" altLang="en-US" dirty="0" smtClean="0"/>
              <a:t>The trend in marginal extraction costs</a:t>
            </a:r>
            <a:endParaRPr lang="en-US" altLang="en-US" dirty="0" smtClean="0">
              <a:solidFill>
                <a:srgbClr val="FF0000"/>
              </a:solidFill>
              <a:sym typeface="Symbol" pitchFamily="18" charset="2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B1F225F-67C6-45D8-B5A5-F691478E090E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5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17.4	 Can Resource Prices Decrease?</a:t>
            </a:r>
          </a:p>
        </p:txBody>
      </p:sp>
      <p:sp>
        <p:nvSpPr>
          <p:cNvPr id="20486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7090185-015B-4AF8-AFF9-87C710CF5891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  <p:sp>
        <p:nvSpPr>
          <p:cNvPr id="20484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If marginal extraction costs decrease because of technical advances</a:t>
            </a:r>
          </a:p>
          <a:p>
            <a:pPr lvl="1"/>
            <a:r>
              <a:rPr lang="en-US" altLang="en-US" dirty="0" smtClean="0"/>
              <a:t>Then it is possible that the resource price will decrease</a:t>
            </a:r>
          </a:p>
          <a:p>
            <a:pPr algn="ctr">
              <a:buFont typeface="Arial" charset="0"/>
              <a:buNone/>
            </a:pP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i="1" baseline="30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t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 smtClean="0"/>
              <a:t>Calculating the first and second time derivatives of price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1612900" y="4213225"/>
          <a:ext cx="4610100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5825" name="Equation" r:id="rId3" imgW="2057400" imgH="838080" progId="Equation.DSMT4">
                  <p:embed/>
                </p:oleObj>
              </mc:Choice>
              <mc:Fallback>
                <p:oleObj name="Equation" r:id="rId3" imgW="205740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900" y="4213225"/>
                        <a:ext cx="4610100" cy="187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3798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17.4	 Can Resource Prices Decrease?</a:t>
            </a:r>
          </a:p>
        </p:txBody>
      </p:sp>
      <p:sp>
        <p:nvSpPr>
          <p:cNvPr id="21511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0507631C-ED29-41C8-B952-8CEFEE710176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  <p:sp>
        <p:nvSpPr>
          <p:cNvPr id="21509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smtClean="0"/>
              <a:t>At t=0</a:t>
            </a:r>
          </a:p>
          <a:p>
            <a:pPr lvl="1"/>
            <a:r>
              <a:rPr lang="en-US" altLang="en-US" smtClean="0"/>
              <a:t>Second derivative &gt; 0</a:t>
            </a:r>
          </a:p>
          <a:p>
            <a:pPr lvl="1"/>
            <a:r>
              <a:rPr lang="en-US" altLang="en-US" smtClean="0"/>
              <a:t>First derivative: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Prices will decrease (at least initially), providing</a:t>
            </a:r>
          </a:p>
          <a:p>
            <a:endParaRPr lang="en-US" dirty="0"/>
          </a:p>
        </p:txBody>
      </p:sp>
      <p:graphicFrame>
        <p:nvGraphicFramePr>
          <p:cNvPr id="82947" name="Object 3"/>
          <p:cNvGraphicFramePr>
            <a:graphicFrameLocks noChangeAspect="1"/>
          </p:cNvGraphicFramePr>
          <p:nvPr/>
        </p:nvGraphicFramePr>
        <p:xfrm>
          <a:off x="1504950" y="2217738"/>
          <a:ext cx="290195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6862" name="Equation" r:id="rId3" imgW="1295280" imgH="393480" progId="Equation.DSMT4">
                  <p:embed/>
                </p:oleObj>
              </mc:Choice>
              <mc:Fallback>
                <p:oleObj name="Equation" r:id="rId3" imgW="12952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2217738"/>
                        <a:ext cx="2901950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8" name="Object 4"/>
          <p:cNvGraphicFramePr>
            <a:graphicFrameLocks noChangeAspect="1"/>
          </p:cNvGraphicFramePr>
          <p:nvPr/>
        </p:nvGraphicFramePr>
        <p:xfrm>
          <a:off x="2170113" y="4418013"/>
          <a:ext cx="1849437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6863" name="Equation" r:id="rId5" imgW="825480" imgH="431640" progId="Equation.DSMT4">
                  <p:embed/>
                </p:oleObj>
              </mc:Choice>
              <mc:Fallback>
                <p:oleObj name="Equation" r:id="rId5" imgW="8254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0113" y="4418013"/>
                        <a:ext cx="1849437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8265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Generalizing the Model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Do these price trends maximize consumer surplus while maximizing the firm’s profits?</a:t>
            </a:r>
          </a:p>
          <a:p>
            <a:pPr lvl="1"/>
            <a:r>
              <a:rPr lang="en-US" altLang="en-US" smtClean="0"/>
              <a:t>Because individuals will consume any resource until its price is proportional to marginal utility, it seems plausible</a:t>
            </a:r>
          </a:p>
          <a:p>
            <a:pPr lvl="1"/>
            <a:r>
              <a:rPr lang="en-US" altLang="en-US" smtClean="0"/>
              <a:t>A more complete analysis would include the individual’s rate of time preference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3EB40E-4CC9-4893-A09B-EECA31DD9C77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30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Generalizing the Model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How should substitute resources be integrated into this analysis?</a:t>
            </a:r>
          </a:p>
          <a:p>
            <a:pPr lvl="1"/>
            <a:r>
              <a:rPr lang="en-US" altLang="en-US" smtClean="0"/>
              <a:t>If </a:t>
            </a:r>
            <a:r>
              <a:rPr lang="en-US" altLang="en-US" i="1" smtClean="0"/>
              <a:t>p</a:t>
            </a:r>
            <a:r>
              <a:rPr lang="en-US" altLang="en-US" baseline="-25000" smtClean="0"/>
              <a:t>0</a:t>
            </a:r>
            <a:r>
              <a:rPr lang="en-US" altLang="en-US" smtClean="0"/>
              <a:t> is determined by equilibrium and the prices of other resources follow a similar time trend, relative resource prices will not change</a:t>
            </a:r>
          </a:p>
          <a:p>
            <a:pPr lvl="1"/>
            <a:r>
              <a:rPr lang="en-US" altLang="en-US" smtClean="0"/>
              <a:t>If the new resource is a perfect substitute, its availability would put a cap on </a:t>
            </a:r>
            <a:r>
              <a:rPr lang="en-US" altLang="en-US" i="1" smtClean="0"/>
              <a:t>p</a:t>
            </a:r>
            <a:r>
              <a:rPr lang="en-US" altLang="en-US" baseline="-25000" smtClean="0"/>
              <a:t>0</a:t>
            </a:r>
            <a:endParaRPr lang="en-US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1913473-4238-4541-BDA3-EB1AB26F5318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273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Generalizing the Model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possibility that the resource in question is not finite:</a:t>
            </a:r>
          </a:p>
          <a:p>
            <a:pPr lvl="1"/>
            <a:r>
              <a:rPr lang="en-US" altLang="en-US" smtClean="0"/>
              <a:t>It can be renewed through natural or economic actions</a:t>
            </a:r>
          </a:p>
          <a:p>
            <a:pPr lvl="1"/>
            <a:r>
              <a:rPr lang="en-US" altLang="en-US" smtClean="0"/>
              <a:t>Requires a modification of the differential equation defining changes in the resource stock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2E739FB-523F-449C-BE9E-51C28CA1D7FB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87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smtClean="0"/>
              <a:t>The Mathematics of Compound Interest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E67014C-E373-4FA0-A78E-E3D19D571F66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  <p:sp>
        <p:nvSpPr>
          <p:cNvPr id="72707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dirty="0" smtClean="0"/>
              <a:t>Assume</a:t>
            </a:r>
          </a:p>
          <a:p>
            <a:pPr lvl="1"/>
            <a:r>
              <a:rPr lang="en-US" altLang="en-US" dirty="0" smtClean="0"/>
              <a:t>A current prevailing market interest rate of </a:t>
            </a:r>
            <a:r>
              <a:rPr lang="en-US" altLang="en-US" i="1" dirty="0" err="1" smtClean="0"/>
              <a:t>i</a:t>
            </a:r>
            <a:r>
              <a:rPr lang="en-US" altLang="en-US" dirty="0" smtClean="0"/>
              <a:t> per year</a:t>
            </a:r>
          </a:p>
          <a:p>
            <a:pPr lvl="2"/>
            <a:r>
              <a:rPr lang="en-US" altLang="en-US" dirty="0" smtClean="0"/>
              <a:t>Certain and constant over all future periods</a:t>
            </a:r>
          </a:p>
          <a:p>
            <a:r>
              <a:rPr lang="en-US" altLang="en-US" dirty="0" smtClean="0"/>
              <a:t>$1 is invested at this rate </a:t>
            </a:r>
            <a:r>
              <a:rPr lang="en-US" altLang="en-US" i="1" dirty="0" err="1" smtClean="0"/>
              <a:t>i</a:t>
            </a:r>
            <a:r>
              <a:rPr lang="en-US" altLang="en-US" dirty="0" smtClean="0"/>
              <a:t> </a:t>
            </a:r>
          </a:p>
          <a:p>
            <a:pPr lvl="1"/>
            <a:r>
              <a:rPr lang="en-US" altLang="en-US" dirty="0" smtClean="0"/>
              <a:t>And if the interest is then compounded  </a:t>
            </a:r>
          </a:p>
          <a:p>
            <a:pPr lvl="1"/>
            <a:r>
              <a:rPr lang="en-US" altLang="en-US" sz="2800" dirty="0" smtClean="0"/>
              <a:t>At the end of one period, $1 will be: </a:t>
            </a:r>
            <a:r>
              <a:rPr lang="en-US" altLang="en-US" sz="2800" dirty="0" smtClean="0">
                <a:solidFill>
                  <a:srgbClr val="FF0000"/>
                </a:solidFill>
              </a:rPr>
              <a:t>$1 </a:t>
            </a:r>
            <a:r>
              <a:rPr lang="az-Cyrl-AZ" altLang="en-US" sz="2800" dirty="0" smtClean="0">
                <a:solidFill>
                  <a:srgbClr val="FF0000"/>
                </a:solidFill>
                <a:cs typeface="Arial" charset="0"/>
              </a:rPr>
              <a:t>х</a:t>
            </a:r>
            <a:r>
              <a:rPr lang="en-US" altLang="en-US" sz="2800" dirty="0" smtClean="0">
                <a:solidFill>
                  <a:srgbClr val="FF0000"/>
                </a:solidFill>
                <a:cs typeface="Arial" charset="0"/>
              </a:rPr>
              <a:t> (1 + </a:t>
            </a:r>
            <a:r>
              <a:rPr lang="en-US" altLang="en-US" sz="2800" i="1" dirty="0" err="1" smtClean="0">
                <a:solidFill>
                  <a:srgbClr val="FF0000"/>
                </a:solidFill>
                <a:cs typeface="Arial" charset="0"/>
              </a:rPr>
              <a:t>i</a:t>
            </a:r>
            <a:r>
              <a:rPr lang="en-US" altLang="en-US" sz="2800" dirty="0" smtClean="0">
                <a:solidFill>
                  <a:srgbClr val="FF0000"/>
                </a:solidFill>
                <a:cs typeface="Arial" charset="0"/>
              </a:rPr>
              <a:t>)</a:t>
            </a:r>
          </a:p>
          <a:p>
            <a:pPr lvl="1"/>
            <a:r>
              <a:rPr lang="en-US" altLang="en-US" sz="2800" dirty="0" smtClean="0">
                <a:cs typeface="Arial" charset="0"/>
              </a:rPr>
              <a:t>At the end of two periods, $1 will be: </a:t>
            </a:r>
            <a:r>
              <a:rPr lang="en-US" altLang="en-US" sz="2800" dirty="0" smtClean="0">
                <a:solidFill>
                  <a:srgbClr val="FF0000"/>
                </a:solidFill>
              </a:rPr>
              <a:t>$1 </a:t>
            </a:r>
            <a:r>
              <a:rPr lang="az-Cyrl-AZ" altLang="en-US" sz="2800" dirty="0" smtClean="0">
                <a:solidFill>
                  <a:srgbClr val="FF0000"/>
                </a:solidFill>
                <a:cs typeface="Arial" charset="0"/>
              </a:rPr>
              <a:t>х</a:t>
            </a:r>
            <a:r>
              <a:rPr lang="en-US" altLang="en-US" sz="2800" dirty="0" smtClean="0">
                <a:solidFill>
                  <a:srgbClr val="FF0000"/>
                </a:solidFill>
                <a:cs typeface="Arial" charset="0"/>
              </a:rPr>
              <a:t> (1 + </a:t>
            </a:r>
            <a:r>
              <a:rPr lang="en-US" altLang="en-US" sz="2800" i="1" dirty="0" err="1" smtClean="0">
                <a:solidFill>
                  <a:srgbClr val="FF0000"/>
                </a:solidFill>
                <a:cs typeface="Arial" charset="0"/>
              </a:rPr>
              <a:t>i</a:t>
            </a:r>
            <a:r>
              <a:rPr lang="en-US" altLang="en-US" sz="2800" dirty="0" smtClean="0">
                <a:solidFill>
                  <a:srgbClr val="FF0000"/>
                </a:solidFill>
                <a:cs typeface="Arial" charset="0"/>
              </a:rPr>
              <a:t>)</a:t>
            </a:r>
            <a:r>
              <a:rPr lang="en-US" altLang="en-US" sz="2800" baseline="30000" dirty="0" smtClean="0">
                <a:solidFill>
                  <a:srgbClr val="FF0000"/>
                </a:solidFill>
                <a:cs typeface="Arial" charset="0"/>
              </a:rPr>
              <a:t>2</a:t>
            </a:r>
            <a:r>
              <a:rPr lang="en-US" altLang="en-US" sz="2800" dirty="0" smtClean="0">
                <a:cs typeface="Arial" charset="0"/>
              </a:rPr>
              <a:t>  </a:t>
            </a:r>
          </a:p>
          <a:p>
            <a:pPr lvl="1"/>
            <a:r>
              <a:rPr lang="en-US" altLang="en-US" sz="2800" dirty="0" smtClean="0">
                <a:cs typeface="Arial" charset="0"/>
              </a:rPr>
              <a:t>At the end of </a:t>
            </a:r>
            <a:r>
              <a:rPr lang="en-US" altLang="en-US" sz="2800" i="1" dirty="0" smtClean="0">
                <a:cs typeface="Arial" charset="0"/>
              </a:rPr>
              <a:t>n</a:t>
            </a:r>
            <a:r>
              <a:rPr lang="en-US" altLang="en-US" sz="2800" dirty="0" smtClean="0">
                <a:cs typeface="Arial" charset="0"/>
              </a:rPr>
              <a:t> periods, $1 will be: </a:t>
            </a:r>
            <a:r>
              <a:rPr lang="en-US" altLang="en-US" sz="2800" dirty="0" smtClean="0">
                <a:solidFill>
                  <a:srgbClr val="FF0000"/>
                </a:solidFill>
              </a:rPr>
              <a:t>$1 </a:t>
            </a:r>
            <a:r>
              <a:rPr lang="az-Cyrl-AZ" altLang="en-US" sz="2800" dirty="0" smtClean="0">
                <a:solidFill>
                  <a:srgbClr val="FF0000"/>
                </a:solidFill>
                <a:cs typeface="Arial" charset="0"/>
              </a:rPr>
              <a:t>х</a:t>
            </a:r>
            <a:r>
              <a:rPr lang="en-US" altLang="en-US" sz="2800" dirty="0" smtClean="0">
                <a:solidFill>
                  <a:srgbClr val="FF0000"/>
                </a:solidFill>
                <a:cs typeface="Arial" charset="0"/>
              </a:rPr>
              <a:t> (1 + </a:t>
            </a:r>
            <a:r>
              <a:rPr lang="en-US" altLang="en-US" sz="2800" i="1" dirty="0" err="1" smtClean="0">
                <a:solidFill>
                  <a:srgbClr val="FF0000"/>
                </a:solidFill>
                <a:cs typeface="Arial" charset="0"/>
              </a:rPr>
              <a:t>i</a:t>
            </a:r>
            <a:r>
              <a:rPr lang="en-US" altLang="en-US" sz="2800" dirty="0" smtClean="0">
                <a:solidFill>
                  <a:srgbClr val="FF0000"/>
                </a:solidFill>
                <a:cs typeface="Arial" charset="0"/>
              </a:rPr>
              <a:t>)</a:t>
            </a:r>
            <a:r>
              <a:rPr lang="en-US" altLang="en-US" sz="2800" i="1" baseline="30000" dirty="0" smtClean="0">
                <a:solidFill>
                  <a:srgbClr val="FF0000"/>
                </a:solidFill>
                <a:cs typeface="Arial" charset="0"/>
              </a:rPr>
              <a:t>n</a:t>
            </a:r>
            <a:r>
              <a:rPr lang="en-US" altLang="en-US" sz="2800" dirty="0" smtClean="0">
                <a:solidFill>
                  <a:srgbClr val="FF0000"/>
                </a:solidFill>
                <a:cs typeface="Arial" charset="0"/>
              </a:rPr>
              <a:t> </a:t>
            </a:r>
          </a:p>
          <a:p>
            <a:r>
              <a:rPr lang="en-US" altLang="en-US" sz="3000" dirty="0" smtClean="0">
                <a:cs typeface="Arial" charset="0"/>
              </a:rPr>
              <a:t>So, $N grows like: </a:t>
            </a:r>
            <a:r>
              <a:rPr lang="en-US" altLang="en-US" sz="2800" dirty="0" smtClean="0">
                <a:solidFill>
                  <a:srgbClr val="FF0000"/>
                </a:solidFill>
              </a:rPr>
              <a:t>$N </a:t>
            </a:r>
            <a:r>
              <a:rPr lang="az-Cyrl-AZ" altLang="en-US" sz="2800" dirty="0" smtClean="0">
                <a:solidFill>
                  <a:srgbClr val="FF0000"/>
                </a:solidFill>
                <a:cs typeface="Arial" charset="0"/>
              </a:rPr>
              <a:t>х</a:t>
            </a:r>
            <a:r>
              <a:rPr lang="en-US" altLang="en-US" sz="2800" dirty="0" smtClean="0">
                <a:solidFill>
                  <a:srgbClr val="FF0000"/>
                </a:solidFill>
                <a:cs typeface="Arial" charset="0"/>
              </a:rPr>
              <a:t> (1 + </a:t>
            </a:r>
            <a:r>
              <a:rPr lang="en-US" altLang="en-US" sz="2800" i="1" dirty="0" err="1" smtClean="0">
                <a:solidFill>
                  <a:srgbClr val="FF0000"/>
                </a:solidFill>
                <a:cs typeface="Arial" charset="0"/>
              </a:rPr>
              <a:t>i</a:t>
            </a:r>
            <a:r>
              <a:rPr lang="en-US" altLang="en-US" sz="2800" dirty="0" smtClean="0">
                <a:solidFill>
                  <a:srgbClr val="FF0000"/>
                </a:solidFill>
                <a:cs typeface="Arial" charset="0"/>
              </a:rPr>
              <a:t>)</a:t>
            </a:r>
            <a:r>
              <a:rPr lang="en-US" altLang="en-US" sz="2800" i="1" baseline="30000" dirty="0" smtClean="0">
                <a:solidFill>
                  <a:srgbClr val="FF0000"/>
                </a:solidFill>
                <a:cs typeface="Arial" charset="0"/>
              </a:rPr>
              <a:t>n</a:t>
            </a:r>
            <a:r>
              <a:rPr lang="en-US" altLang="en-US" sz="2800" dirty="0" smtClean="0">
                <a:solidFill>
                  <a:srgbClr val="FF0000"/>
                </a:solidFill>
                <a:cs typeface="Arial" charset="0"/>
              </a:rPr>
              <a:t> </a:t>
            </a:r>
            <a:endParaRPr lang="en-US" altLang="en-US" sz="28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8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dirty="0" smtClean="0"/>
              <a:t>Present Discounted Value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14510E8-9CDB-45F8-9C6C-85948CC82D9A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  <p:sp>
        <p:nvSpPr>
          <p:cNvPr id="73731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dirty="0" smtClean="0"/>
              <a:t>The present value </a:t>
            </a:r>
          </a:p>
          <a:p>
            <a:pPr lvl="1"/>
            <a:r>
              <a:rPr lang="en-US" altLang="en-US" dirty="0" smtClean="0"/>
              <a:t>Of $1 payable one period from now = </a:t>
            </a:r>
            <a:r>
              <a:rPr lang="en-US" altLang="en-US" dirty="0" smtClean="0">
                <a:solidFill>
                  <a:srgbClr val="FF0000"/>
                </a:solidFill>
              </a:rPr>
              <a:t>$1/(1+</a:t>
            </a:r>
            <a:r>
              <a:rPr lang="en-US" altLang="en-US" i="1" dirty="0" smtClean="0">
                <a:solidFill>
                  <a:srgbClr val="FF0000"/>
                </a:solidFill>
              </a:rPr>
              <a:t>i</a:t>
            </a:r>
            <a:r>
              <a:rPr lang="en-US" altLang="en-US" dirty="0" smtClean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en-US" altLang="en-US" dirty="0" smtClean="0"/>
              <a:t>Of $1 payable 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 periods from now = </a:t>
            </a:r>
            <a:r>
              <a:rPr lang="en-US" altLang="en-US" dirty="0" smtClean="0">
                <a:solidFill>
                  <a:srgbClr val="FF0000"/>
                </a:solidFill>
              </a:rPr>
              <a:t>$1/(1+</a:t>
            </a:r>
            <a:r>
              <a:rPr lang="en-US" altLang="en-US" i="1" dirty="0" smtClean="0">
                <a:solidFill>
                  <a:srgbClr val="FF0000"/>
                </a:solidFill>
              </a:rPr>
              <a:t>i</a:t>
            </a:r>
            <a:r>
              <a:rPr lang="en-US" altLang="en-US" dirty="0" smtClean="0">
                <a:solidFill>
                  <a:srgbClr val="FF0000"/>
                </a:solidFill>
              </a:rPr>
              <a:t>)</a:t>
            </a:r>
            <a:r>
              <a:rPr lang="en-US" altLang="en-US" i="1" baseline="30000" dirty="0" smtClean="0">
                <a:solidFill>
                  <a:srgbClr val="FF0000"/>
                </a:solidFill>
              </a:rPr>
              <a:t>n</a:t>
            </a:r>
          </a:p>
          <a:p>
            <a:pPr lvl="1"/>
            <a:r>
              <a:rPr lang="en-US" altLang="en-US" dirty="0" smtClean="0"/>
              <a:t>Of $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 payable 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 periods from now = </a:t>
            </a:r>
            <a:r>
              <a:rPr lang="en-US" altLang="en-US" dirty="0" smtClean="0">
                <a:solidFill>
                  <a:srgbClr val="FF0000"/>
                </a:solidFill>
              </a:rPr>
              <a:t>$</a:t>
            </a:r>
            <a:r>
              <a:rPr lang="en-US" altLang="en-US" i="1" dirty="0" smtClean="0">
                <a:solidFill>
                  <a:srgbClr val="FF0000"/>
                </a:solidFill>
              </a:rPr>
              <a:t>N</a:t>
            </a:r>
            <a:r>
              <a:rPr lang="en-US" altLang="en-US" dirty="0" smtClean="0">
                <a:solidFill>
                  <a:srgbClr val="FF0000"/>
                </a:solidFill>
              </a:rPr>
              <a:t>/(</a:t>
            </a:r>
            <a:r>
              <a:rPr lang="en-US" altLang="en-US" dirty="0" smtClean="0">
                <a:solidFill>
                  <a:srgbClr val="FF0000"/>
                </a:solidFill>
              </a:rPr>
              <a:t>1+</a:t>
            </a:r>
            <a:r>
              <a:rPr lang="en-US" altLang="en-US" i="1" dirty="0" smtClean="0">
                <a:solidFill>
                  <a:srgbClr val="FF0000"/>
                </a:solidFill>
              </a:rPr>
              <a:t>i</a:t>
            </a:r>
            <a:r>
              <a:rPr lang="en-US" altLang="en-US" dirty="0" smtClean="0">
                <a:solidFill>
                  <a:srgbClr val="FF0000"/>
                </a:solidFill>
              </a:rPr>
              <a:t>)</a:t>
            </a:r>
            <a:r>
              <a:rPr lang="en-US" altLang="en-US" i="1" baseline="30000" dirty="0" smtClean="0">
                <a:solidFill>
                  <a:srgbClr val="FF0000"/>
                </a:solidFill>
              </a:rPr>
              <a:t>n</a:t>
            </a:r>
            <a:endParaRPr lang="en-US" altLang="en-US" i="1" dirty="0" smtClean="0"/>
          </a:p>
          <a:p>
            <a:r>
              <a:rPr lang="en-US" altLang="en-US" dirty="0"/>
              <a:t>The present discounted value </a:t>
            </a:r>
          </a:p>
          <a:p>
            <a:pPr lvl="1"/>
            <a:r>
              <a:rPr lang="en-US" altLang="en-US" dirty="0"/>
              <a:t>Of a stream of payments </a:t>
            </a:r>
            <a:r>
              <a:rPr lang="en-US" altLang="en-US" i="1" dirty="0"/>
              <a:t>N</a:t>
            </a:r>
            <a:r>
              <a:rPr lang="en-US" altLang="en-US" i="1" baseline="-25000" dirty="0"/>
              <a:t>0</a:t>
            </a:r>
            <a:r>
              <a:rPr lang="en-US" altLang="en-US" i="1" dirty="0"/>
              <a:t>, N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N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,…, </a:t>
            </a:r>
            <a:r>
              <a:rPr lang="en-US" altLang="en-US" i="1" dirty="0" err="1"/>
              <a:t>N</a:t>
            </a:r>
            <a:r>
              <a:rPr lang="en-US" altLang="en-US" i="1" baseline="-25000" dirty="0" err="1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is:</a:t>
            </a:r>
            <a:endParaRPr lang="en-US" altLang="en-US" i="1" dirty="0"/>
          </a:p>
          <a:p>
            <a:endParaRPr lang="en-US" altLang="en-US" dirty="0" smtClean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4178"/>
              </p:ext>
            </p:extLst>
          </p:nvPr>
        </p:nvGraphicFramePr>
        <p:xfrm>
          <a:off x="1181100" y="4154488"/>
          <a:ext cx="6227763" cy="102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100" name="Equation" r:id="rId3" imgW="2540000" imgH="419100" progId="Equation.DSMT4">
                  <p:embed/>
                </p:oleObj>
              </mc:Choice>
              <mc:Fallback>
                <p:oleObj name="Equation" r:id="rId3" imgW="2540000" imgH="419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100" y="4154488"/>
                        <a:ext cx="6227763" cy="1027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0344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Annuities and perpetuities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84B89D1-F070-40D8-AFD4-6693EA802438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  <p:sp>
        <p:nvSpPr>
          <p:cNvPr id="23556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An annuity </a:t>
            </a:r>
          </a:p>
          <a:p>
            <a:pPr lvl="1"/>
            <a:r>
              <a:rPr lang="en-US" altLang="en-US" smtClean="0"/>
              <a:t>Is a promise to pay $</a:t>
            </a:r>
            <a:r>
              <a:rPr lang="en-US" altLang="en-US" i="1" smtClean="0"/>
              <a:t>N</a:t>
            </a:r>
            <a:r>
              <a:rPr lang="en-US" altLang="en-US" smtClean="0"/>
              <a:t> in each period for </a:t>
            </a:r>
            <a:r>
              <a:rPr lang="en-US" altLang="en-US" i="1" smtClean="0"/>
              <a:t>n</a:t>
            </a:r>
            <a:r>
              <a:rPr lang="en-US" altLang="en-US" smtClean="0"/>
              <a:t> periods, starting next period</a:t>
            </a:r>
          </a:p>
          <a:p>
            <a:pPr lvl="1"/>
            <a:r>
              <a:rPr lang="en-US" altLang="en-US" smtClean="0"/>
              <a:t>The PDV of such a contract is:</a:t>
            </a:r>
          </a:p>
        </p:txBody>
      </p:sp>
      <p:graphicFrame>
        <p:nvGraphicFramePr>
          <p:cNvPr id="84994" name="Object 2"/>
          <p:cNvGraphicFramePr>
            <a:graphicFrameLocks noChangeAspect="1"/>
          </p:cNvGraphicFramePr>
          <p:nvPr/>
        </p:nvGraphicFramePr>
        <p:xfrm>
          <a:off x="1047750" y="3205163"/>
          <a:ext cx="5448300" cy="280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895" name="Equation" r:id="rId3" imgW="2222280" imgH="1143000" progId="Equation.DSMT4">
                  <p:embed/>
                </p:oleObj>
              </mc:Choice>
              <mc:Fallback>
                <p:oleObj name="Equation" r:id="rId3" imgW="2222280" imgH="1143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0" y="3205163"/>
                        <a:ext cx="5448300" cy="280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7621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Annuities and perpetuities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ACBEE32-C9AC-4212-8B12-F991FAEDFED3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  <p:sp>
        <p:nvSpPr>
          <p:cNvPr id="24580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A perpetuity</a:t>
            </a:r>
          </a:p>
          <a:p>
            <a:pPr lvl="1"/>
            <a:r>
              <a:rPr lang="en-US" altLang="en-US" smtClean="0"/>
              <a:t>An infinite-period annuity</a:t>
            </a:r>
          </a:p>
          <a:p>
            <a:pPr lvl="1"/>
            <a:r>
              <a:rPr lang="en-US" altLang="en-US" smtClean="0"/>
              <a:t>PDV of infinite annuity is: </a:t>
            </a: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1303338" y="2649538"/>
          <a:ext cx="4591050" cy="195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919" name="Equation" r:id="rId3" imgW="1726920" imgH="736560" progId="Equation.DSMT4">
                  <p:embed/>
                </p:oleObj>
              </mc:Choice>
              <mc:Fallback>
                <p:oleObj name="Equation" r:id="rId3" imgW="172692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338" y="2649538"/>
                        <a:ext cx="4591050" cy="195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3429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dirty="0" smtClean="0"/>
              <a:t>The special case of a bond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239B16-7724-4325-9A96-7C4EC5A37CD0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  <p:sp>
        <p:nvSpPr>
          <p:cNvPr id="25604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An </a:t>
            </a:r>
            <a:r>
              <a:rPr lang="en-US" altLang="en-US" i="1" smtClean="0"/>
              <a:t>n</a:t>
            </a:r>
            <a:r>
              <a:rPr lang="en-US" altLang="en-US" smtClean="0"/>
              <a:t>-period bond </a:t>
            </a:r>
          </a:p>
          <a:p>
            <a:pPr lvl="1"/>
            <a:r>
              <a:rPr lang="en-US" altLang="en-US" smtClean="0"/>
              <a:t>Is a promise to pay $</a:t>
            </a:r>
            <a:r>
              <a:rPr lang="en-US" altLang="en-US" i="1" smtClean="0"/>
              <a:t>N</a:t>
            </a:r>
            <a:r>
              <a:rPr lang="en-US" altLang="en-US" smtClean="0"/>
              <a:t> each period</a:t>
            </a:r>
          </a:p>
          <a:p>
            <a:pPr lvl="2"/>
            <a:r>
              <a:rPr lang="en-US" altLang="en-US" smtClean="0"/>
              <a:t>Starting next period, for </a:t>
            </a:r>
            <a:r>
              <a:rPr lang="en-US" altLang="en-US" i="1" smtClean="0"/>
              <a:t>n</a:t>
            </a:r>
            <a:r>
              <a:rPr lang="en-US" altLang="en-US" smtClean="0"/>
              <a:t> periods</a:t>
            </a:r>
          </a:p>
          <a:p>
            <a:pPr lvl="1"/>
            <a:r>
              <a:rPr lang="en-US" altLang="en-US" smtClean="0"/>
              <a:t>Promises to return the principal (face value), $</a:t>
            </a:r>
            <a:r>
              <a:rPr lang="en-US" altLang="en-US" i="1" smtClean="0"/>
              <a:t>P</a:t>
            </a:r>
            <a:r>
              <a:rPr lang="en-US" altLang="en-US" smtClean="0"/>
              <a:t>, of the bond at the end of </a:t>
            </a:r>
            <a:r>
              <a:rPr lang="en-US" altLang="en-US" i="1" smtClean="0"/>
              <a:t>n</a:t>
            </a:r>
            <a:r>
              <a:rPr lang="en-US" altLang="en-US" smtClean="0"/>
              <a:t> periods</a:t>
            </a:r>
          </a:p>
          <a:p>
            <a:pPr lvl="1"/>
            <a:r>
              <a:rPr lang="en-US" altLang="en-US" smtClean="0"/>
              <a:t>Present discounted value: 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16057"/>
              </p:ext>
            </p:extLst>
          </p:nvPr>
        </p:nvGraphicFramePr>
        <p:xfrm>
          <a:off x="649288" y="4114800"/>
          <a:ext cx="7908925" cy="160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44" name="Equation" r:id="rId3" imgW="3314520" imgH="672840" progId="Equation.DSMT4">
                  <p:embed/>
                </p:oleObj>
              </mc:Choice>
              <mc:Fallback>
                <p:oleObj name="Equation" r:id="rId3" imgW="3314520" imgH="672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88" y="4114800"/>
                        <a:ext cx="7908925" cy="160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74191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special case of a bond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3C5E089-BC44-418C-A121-5E332844FF2F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  <p:sp>
        <p:nvSpPr>
          <p:cNvPr id="26628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If we knew the price (B) at which the bond is currently trading</a:t>
            </a:r>
          </a:p>
          <a:p>
            <a:pPr lvl="1"/>
            <a:r>
              <a:rPr lang="en-US" altLang="en-US" smtClean="0"/>
              <a:t>Calculate yield on the bond, </a:t>
            </a:r>
            <a:r>
              <a:rPr lang="en-US" altLang="en-US" i="1" smtClean="0"/>
              <a:t>i</a:t>
            </a:r>
            <a:r>
              <a:rPr lang="en-US" altLang="en-US" smtClean="0"/>
              <a:t>:</a:t>
            </a:r>
          </a:p>
          <a:p>
            <a:pPr lvl="2"/>
            <a:r>
              <a:rPr lang="en-US" altLang="en-US" smtClean="0"/>
              <a:t>Best measure of the return actually available from the bond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1631950" y="4030663"/>
          <a:ext cx="58483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967" name="Equation" r:id="rId3" imgW="2450880" imgH="228600" progId="Equation.DSMT4">
                  <p:embed/>
                </p:oleObj>
              </mc:Choice>
              <mc:Fallback>
                <p:oleObj name="Equation" r:id="rId3" imgW="24508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0" y="4030663"/>
                        <a:ext cx="584835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5268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Continuous Time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1F512D7-CF48-4071-94D2-DF3A1C5A4F62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  <p:sp>
        <p:nvSpPr>
          <p:cNvPr id="74755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With continuous time</a:t>
            </a:r>
          </a:p>
          <a:p>
            <a:pPr lvl="1"/>
            <a:r>
              <a:rPr lang="en-US" altLang="en-US" smtClean="0"/>
              <a:t>Interest on an investment is compounded ‘‘instantaneously’’ </a:t>
            </a:r>
          </a:p>
          <a:p>
            <a:pPr lvl="1"/>
            <a:r>
              <a:rPr lang="en-US" altLang="en-US" smtClean="0"/>
              <a:t>Growth over time is ‘‘smooth’’</a:t>
            </a:r>
          </a:p>
          <a:p>
            <a:r>
              <a:rPr lang="en-US" altLang="en-US" smtClean="0"/>
              <a:t>For a nominal interest rate per year, </a:t>
            </a:r>
            <a:r>
              <a:rPr lang="en-US" altLang="en-US" i="1" smtClean="0"/>
              <a:t>i</a:t>
            </a:r>
          </a:p>
          <a:p>
            <a:pPr lvl="1"/>
            <a:r>
              <a:rPr lang="en-US" altLang="en-US" smtClean="0"/>
              <a:t>But half this nominal rate is compounded every six months</a:t>
            </a:r>
          </a:p>
          <a:p>
            <a:pPr lvl="1"/>
            <a:r>
              <a:rPr lang="en-US" altLang="en-US" smtClean="0"/>
              <a:t>At the end of one year, the investment of $1 would have grown to </a:t>
            </a:r>
            <a:r>
              <a:rPr lang="en-US" altLang="en-US" smtClean="0">
                <a:solidFill>
                  <a:srgbClr val="FF0000"/>
                </a:solidFill>
              </a:rPr>
              <a:t>$1/(1+</a:t>
            </a:r>
            <a:r>
              <a:rPr lang="en-US" altLang="en-US" i="1" smtClean="0">
                <a:solidFill>
                  <a:srgbClr val="FF0000"/>
                </a:solidFill>
              </a:rPr>
              <a:t> 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smtClean="0">
                <a:solidFill>
                  <a:srgbClr val="FF0000"/>
                </a:solidFill>
              </a:rPr>
              <a:t>/2)</a:t>
            </a:r>
            <a:r>
              <a:rPr lang="en-US" altLang="en-US" baseline="30000" smtClean="0">
                <a:solidFill>
                  <a:srgbClr val="FF0000"/>
                </a:solidFill>
              </a:rPr>
              <a:t>2</a:t>
            </a: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32954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Continuous Time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0B4E40E-6CFB-48E5-A526-C98C2DA40524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  <p:sp>
        <p:nvSpPr>
          <p:cNvPr id="75779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Continuous interest rate, </a:t>
            </a:r>
            <a:r>
              <a:rPr lang="en-US" altLang="en-US" i="1" smtClean="0">
                <a:solidFill>
                  <a:srgbClr val="FF0000"/>
                </a:solidFill>
              </a:rPr>
              <a:t>r </a:t>
            </a:r>
            <a:r>
              <a:rPr lang="en-US" altLang="en-US" smtClean="0">
                <a:solidFill>
                  <a:srgbClr val="FF0000"/>
                </a:solidFill>
              </a:rPr>
              <a:t>= ln (1 + </a:t>
            </a:r>
            <a:r>
              <a:rPr lang="en-US" altLang="en-US" i="1" smtClean="0">
                <a:solidFill>
                  <a:srgbClr val="FF0000"/>
                </a:solidFill>
              </a:rPr>
              <a:t>i</a:t>
            </a:r>
            <a:r>
              <a:rPr lang="en-US" altLang="en-US" smtClean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en-US" altLang="en-US" smtClean="0"/>
              <a:t>$1 invested at a continuous interest rate of </a:t>
            </a:r>
            <a:r>
              <a:rPr lang="en-US" altLang="en-US" i="1" smtClean="0"/>
              <a:t>r</a:t>
            </a:r>
            <a:r>
              <a:rPr lang="en-US" altLang="en-US" smtClean="0"/>
              <a:t>, after </a:t>
            </a:r>
            <a:r>
              <a:rPr lang="en-US" altLang="en-US" i="1" smtClean="0"/>
              <a:t>T</a:t>
            </a:r>
            <a:r>
              <a:rPr lang="en-US" altLang="en-US" smtClean="0"/>
              <a:t> years will become </a:t>
            </a:r>
            <a:r>
              <a:rPr lang="en-US" altLang="en-US" sz="2800" i="1" smtClean="0">
                <a:solidFill>
                  <a:srgbClr val="FF0000"/>
                </a:solidFill>
              </a:rPr>
              <a:t>V = $1·e</a:t>
            </a:r>
            <a:r>
              <a:rPr lang="en-US" altLang="en-US" sz="2800" i="1" baseline="30000" smtClean="0">
                <a:solidFill>
                  <a:srgbClr val="FF0000"/>
                </a:solidFill>
              </a:rPr>
              <a:t>rT</a:t>
            </a:r>
            <a:r>
              <a:rPr lang="en-US" altLang="en-US" sz="2800" i="1" smtClean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en-US" altLang="en-US" smtClean="0"/>
              <a:t>Present discounted value of $1 to be paid </a:t>
            </a:r>
            <a:r>
              <a:rPr lang="en-US" altLang="en-US" i="1" smtClean="0"/>
              <a:t>T</a:t>
            </a:r>
            <a:r>
              <a:rPr lang="en-US" altLang="en-US" smtClean="0"/>
              <a:t> years from now: </a:t>
            </a:r>
          </a:p>
          <a:p>
            <a:pPr algn="ctr">
              <a:buFontTx/>
              <a:buNone/>
            </a:pPr>
            <a:r>
              <a:rPr lang="en-US" altLang="en-US" sz="3000" i="1" smtClean="0">
                <a:solidFill>
                  <a:srgbClr val="FF0000"/>
                </a:solidFill>
              </a:rPr>
              <a:t>PDV = $1 / e</a:t>
            </a:r>
            <a:r>
              <a:rPr lang="en-US" altLang="en-US" sz="3000" i="1" baseline="30000" smtClean="0">
                <a:solidFill>
                  <a:srgbClr val="FF0000"/>
                </a:solidFill>
              </a:rPr>
              <a:t>rT</a:t>
            </a:r>
            <a:r>
              <a:rPr lang="en-US" altLang="en-US" sz="3000" i="1" smtClean="0">
                <a:solidFill>
                  <a:srgbClr val="FF0000"/>
                </a:solidFill>
              </a:rPr>
              <a:t> = $1 </a:t>
            </a:r>
            <a:r>
              <a:rPr lang="az-Cyrl-AZ" altLang="en-US" sz="3000" i="1" smtClean="0">
                <a:solidFill>
                  <a:srgbClr val="FF0000"/>
                </a:solidFill>
                <a:cs typeface="Arial" charset="0"/>
              </a:rPr>
              <a:t>х</a:t>
            </a:r>
            <a:r>
              <a:rPr lang="en-US" altLang="en-US" sz="3000" i="1" smtClean="0">
                <a:solidFill>
                  <a:srgbClr val="FF0000"/>
                </a:solidFill>
                <a:cs typeface="Arial" charset="0"/>
              </a:rPr>
              <a:t> </a:t>
            </a:r>
            <a:r>
              <a:rPr lang="en-US" altLang="en-US" sz="3000" i="1" smtClean="0">
                <a:solidFill>
                  <a:srgbClr val="FF0000"/>
                </a:solidFill>
              </a:rPr>
              <a:t>e</a:t>
            </a:r>
            <a:r>
              <a:rPr lang="en-US" altLang="en-US" sz="3000" i="1" baseline="30000" smtClean="0">
                <a:solidFill>
                  <a:srgbClr val="FF0000"/>
                </a:solidFill>
              </a:rPr>
              <a:t>-rT</a:t>
            </a:r>
            <a:endParaRPr lang="en-US" altLang="en-US" sz="3000" i="1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516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 bwMode="auto">
          <a:xfrm>
            <a:off x="1200150" y="0"/>
            <a:ext cx="7943850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17 A. </a:t>
            </a:r>
            <a:r>
              <a:rPr lang="en-US" altLang="en-US" dirty="0"/>
              <a:t>1	</a:t>
            </a:r>
            <a:r>
              <a:rPr lang="en-US" altLang="en-US" dirty="0" smtClean="0"/>
              <a:t>Effective Annual Interest Rates for </a:t>
            </a:r>
            <a:r>
              <a:rPr lang="en-US" altLang="en-US" dirty="0" smtClean="0">
                <a:solidFill>
                  <a:srgbClr val="002D56"/>
                </a:solidFill>
              </a:rPr>
              <a:t>Selected Continuously Compounded Rates</a:t>
            </a:r>
            <a:endParaRPr lang="en-US" altLang="en-US" dirty="0" smtClean="0">
              <a:solidFill>
                <a:srgbClr val="002D56"/>
              </a:solidFill>
            </a:endParaRPr>
          </a:p>
        </p:txBody>
      </p:sp>
      <p:sp>
        <p:nvSpPr>
          <p:cNvPr id="76805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DD94E07-4EB1-48D5-B42F-093AC851ECB4}" type="slidenum">
              <a:rPr lang="en-US" smtClean="0"/>
              <a:pPr>
                <a:defRPr/>
              </a:pPr>
              <a:t>69</a:t>
            </a:fld>
            <a:endParaRPr lang="en-US" dirty="0"/>
          </a:p>
        </p:txBody>
      </p:sp>
      <p:pic>
        <p:nvPicPr>
          <p:cNvPr id="387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538" y="1076325"/>
            <a:ext cx="6638925" cy="494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3122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7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Continuous Time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C127C98-620F-4B47-AFFC-A26B3C47F6CE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  <p:sp>
        <p:nvSpPr>
          <p:cNvPr id="27652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Payment streams </a:t>
            </a:r>
          </a:p>
          <a:p>
            <a:pPr lvl="1"/>
            <a:r>
              <a:rPr lang="en-US" altLang="en-US" smtClean="0"/>
              <a:t>Calculate the PDV of $1 per period paid in small installments at each instant of time from today (time 0) until time </a:t>
            </a:r>
            <a:r>
              <a:rPr lang="en-US" altLang="en-US" i="1" smtClean="0"/>
              <a:t>T</a:t>
            </a:r>
          </a:p>
          <a:p>
            <a:pPr lvl="1"/>
            <a:endParaRPr lang="en-US" altLang="en-US" smtClean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1116013" y="3013075"/>
          <a:ext cx="4999037" cy="202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991" name="Equation" r:id="rId3" imgW="2197080" imgH="888840" progId="Equation.DSMT4">
                  <p:embed/>
                </p:oleObj>
              </mc:Choice>
              <mc:Fallback>
                <p:oleObj name="Equation" r:id="rId3" imgW="219708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013075"/>
                        <a:ext cx="4999037" cy="202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8524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Continuous Time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6E515A5-0D2B-43D7-87B9-8DD2F6261112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  <p:sp>
        <p:nvSpPr>
          <p:cNvPr id="28676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The </a:t>
            </a:r>
            <a:r>
              <a:rPr lang="en-US" altLang="en-US" i="1" smtClean="0"/>
              <a:t>PDV</a:t>
            </a:r>
            <a:r>
              <a:rPr lang="en-US" altLang="en-US" smtClean="0"/>
              <a:t> of an arbitrary stream of payments over time</a:t>
            </a:r>
          </a:p>
          <a:p>
            <a:pPr lvl="1"/>
            <a:r>
              <a:rPr lang="en-US" altLang="en-US" smtClean="0"/>
              <a:t>If </a:t>
            </a:r>
            <a:r>
              <a:rPr lang="en-US" altLang="en-US" i="1" smtClean="0"/>
              <a:t>f(t)</a:t>
            </a:r>
            <a:r>
              <a:rPr lang="en-US" altLang="en-US" smtClean="0"/>
              <a:t> records the number of dollars to be paid during period </a:t>
            </a:r>
            <a:r>
              <a:rPr lang="en-US" altLang="en-US" i="1" smtClean="0"/>
              <a:t>t</a:t>
            </a:r>
          </a:p>
          <a:p>
            <a:pPr lvl="2"/>
            <a:r>
              <a:rPr lang="en-US" altLang="en-US" smtClean="0"/>
              <a:t>The </a:t>
            </a:r>
            <a:r>
              <a:rPr lang="en-US" altLang="en-US" i="1" smtClean="0"/>
              <a:t>PDV</a:t>
            </a:r>
            <a:r>
              <a:rPr lang="en-US" altLang="en-US" smtClean="0"/>
              <a:t> of the payment at time </a:t>
            </a:r>
            <a:r>
              <a:rPr lang="en-US" altLang="en-US" i="1" smtClean="0"/>
              <a:t>t</a:t>
            </a:r>
            <a:r>
              <a:rPr lang="en-US" altLang="en-US" smtClean="0"/>
              <a:t> is 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en-US" i="1" baseline="30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–rt </a:t>
            </a:r>
            <a:r>
              <a:rPr lang="en-US" altLang="en-US" i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f(t) </a:t>
            </a:r>
          </a:p>
          <a:p>
            <a:pPr lvl="1"/>
            <a:r>
              <a:rPr lang="en-US" altLang="en-US" smtClean="0"/>
              <a:t>The </a:t>
            </a:r>
            <a:r>
              <a:rPr lang="en-US" altLang="en-US" i="1" smtClean="0"/>
              <a:t>PDV</a:t>
            </a:r>
            <a:r>
              <a:rPr lang="en-US" altLang="en-US" smtClean="0"/>
              <a:t> of the entire stream from the present time (year 0) until year </a:t>
            </a:r>
            <a:r>
              <a:rPr lang="en-US" altLang="en-US" i="1" smtClean="0"/>
              <a:t>T</a:t>
            </a:r>
            <a:r>
              <a:rPr lang="en-US" altLang="en-US" smtClean="0"/>
              <a:t> is: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2362200" y="4618038"/>
          <a:ext cx="3052763" cy="118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015" name="Equation" r:id="rId3" imgW="1206360" imgH="469800" progId="Equation.DSMT4">
                  <p:embed/>
                </p:oleObj>
              </mc:Choice>
              <mc:Fallback>
                <p:oleObj name="Equation" r:id="rId3" imgW="12063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618038"/>
                        <a:ext cx="3052763" cy="118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2481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Continuous Time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7E99A59-A646-4F6B-BF02-741DB5F480E7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  <p:sp>
        <p:nvSpPr>
          <p:cNvPr id="29700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Duration </a:t>
            </a:r>
          </a:p>
          <a:p>
            <a:pPr lvl="1"/>
            <a:r>
              <a:rPr lang="en-US" altLang="en-US" smtClean="0"/>
              <a:t>How long, on average, it takes for an individual to receive a payment from a given payment stream, </a:t>
            </a:r>
            <a:r>
              <a:rPr lang="en-US" altLang="en-US" i="1" smtClean="0"/>
              <a:t>f(t)</a:t>
            </a:r>
          </a:p>
          <a:p>
            <a:r>
              <a:rPr lang="en-US" altLang="en-US" smtClean="0"/>
              <a:t>The present value of the stream</a:t>
            </a:r>
          </a:p>
          <a:p>
            <a:endParaRPr lang="en-US" altLang="en-US" smtClean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2982913" y="3584575"/>
          <a:ext cx="2476500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039" name="Equation" r:id="rId3" imgW="977760" imgH="469800" progId="Equation.DSMT4">
                  <p:embed/>
                </p:oleObj>
              </mc:Choice>
              <mc:Fallback>
                <p:oleObj name="Equation" r:id="rId3" imgW="9777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2913" y="3584575"/>
                        <a:ext cx="2476500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4772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Continuous Time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8842F5B-5B73-46CC-9F31-B56BB6B98DEF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  <p:sp>
        <p:nvSpPr>
          <p:cNvPr id="30725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1"/>
            <a:r>
              <a:rPr lang="en-US" altLang="en-US" smtClean="0"/>
              <a:t>Differentiate by the discount factor, </a:t>
            </a:r>
            <a:r>
              <a:rPr lang="en-US" altLang="en-US" i="1" smtClean="0"/>
              <a:t>e</a:t>
            </a:r>
            <a:r>
              <a:rPr lang="en-US" altLang="en-US" i="1" baseline="30000" smtClean="0"/>
              <a:t>–r</a:t>
            </a:r>
            <a:endParaRPr lang="en-US" altLang="en-US" i="1" smtClean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457200" y="2514600"/>
            <a:ext cx="8305800" cy="3733800"/>
          </a:xfrm>
        </p:spPr>
        <p:txBody>
          <a:bodyPr/>
          <a:lstStyle/>
          <a:p>
            <a:pPr lvl="1" eaLnBrk="0" hangingPunct="0">
              <a:buFont typeface="Arial" charset="0"/>
              <a:buChar char="–"/>
              <a:defRPr/>
            </a:pPr>
            <a:r>
              <a:rPr lang="en-US" sz="3200" kern="0" dirty="0"/>
              <a:t>The elasticity of this change</a:t>
            </a:r>
            <a:r>
              <a:rPr lang="en-US" sz="3200" kern="0" dirty="0" smtClean="0"/>
              <a:t>:</a:t>
            </a:r>
          </a:p>
          <a:p>
            <a:pPr lvl="1" eaLnBrk="0" hangingPunct="0">
              <a:buFont typeface="Arial" charset="0"/>
              <a:buChar char="–"/>
              <a:defRPr/>
            </a:pPr>
            <a:endParaRPr lang="en-US" sz="3200" kern="0" dirty="0"/>
          </a:p>
          <a:p>
            <a:pPr lvl="1" eaLnBrk="0" hangingPunct="0">
              <a:buFont typeface="Arial" charset="0"/>
              <a:buChar char="–"/>
              <a:defRPr/>
            </a:pPr>
            <a:endParaRPr lang="en-US" sz="3200" kern="0" dirty="0"/>
          </a:p>
          <a:p>
            <a:pPr marL="1200150" lvl="2" indent="-285750" eaLnBrk="0" hangingPunct="0">
              <a:buFont typeface="Arial" charset="0"/>
              <a:buChar char="–"/>
              <a:defRPr/>
            </a:pPr>
            <a:endParaRPr lang="en-US" kern="0" dirty="0" smtClean="0"/>
          </a:p>
          <a:p>
            <a:pPr marL="1200150" lvl="2" indent="-285750" eaLnBrk="0" hangingPunct="0">
              <a:buFont typeface="Arial" charset="0"/>
              <a:buChar char="–"/>
              <a:defRPr/>
            </a:pPr>
            <a:r>
              <a:rPr lang="en-US" kern="0" dirty="0" smtClean="0"/>
              <a:t>The </a:t>
            </a:r>
            <a:r>
              <a:rPr lang="en-US" kern="0" dirty="0"/>
              <a:t>average time an individual must wait to receive the typical payment</a:t>
            </a:r>
          </a:p>
          <a:p>
            <a:pPr marL="1200150" lvl="2" indent="-285750" eaLnBrk="0" hangingPunct="0">
              <a:buFont typeface="Arial" charset="0"/>
              <a:buChar char="–"/>
              <a:defRPr/>
            </a:pPr>
            <a:r>
              <a:rPr lang="en-US" kern="0" dirty="0"/>
              <a:t>The duration of the payment stream</a:t>
            </a:r>
          </a:p>
          <a:p>
            <a:pPr lvl="1"/>
            <a:endParaRPr lang="en-US" dirty="0"/>
          </a:p>
        </p:txBody>
      </p:sp>
      <p:graphicFrame>
        <p:nvGraphicFramePr>
          <p:cNvPr id="921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7644679"/>
              </p:ext>
            </p:extLst>
          </p:nvPr>
        </p:nvGraphicFramePr>
        <p:xfrm>
          <a:off x="2884488" y="1143000"/>
          <a:ext cx="3375025" cy="119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078" name="Equation" r:id="rId3" imgW="1333440" imgH="469800" progId="Equation.DSMT4">
                  <p:embed/>
                </p:oleObj>
              </mc:Choice>
              <mc:Fallback>
                <p:oleObj name="Equation" r:id="rId3" imgW="13334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4488" y="1143000"/>
                        <a:ext cx="3375025" cy="1190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8" name="Object 4"/>
          <p:cNvGraphicFramePr>
            <a:graphicFrameLocks noChangeAspect="1"/>
          </p:cNvGraphicFramePr>
          <p:nvPr/>
        </p:nvGraphicFramePr>
        <p:xfrm>
          <a:off x="1866900" y="2941638"/>
          <a:ext cx="4276725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079" name="Equation" r:id="rId5" imgW="1688760" imgH="647640" progId="Equation.DSMT4">
                  <p:embed/>
                </p:oleObj>
              </mc:Choice>
              <mc:Fallback>
                <p:oleObj name="Equation" r:id="rId5" imgW="168876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2941638"/>
                        <a:ext cx="4276725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4088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chap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ig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ab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examp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extension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11229</TotalTime>
  <Words>7958</Words>
  <Application>Microsoft Office PowerPoint</Application>
  <PresentationFormat>On-screen Show (4:3)</PresentationFormat>
  <Paragraphs>597</Paragraphs>
  <Slides>73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6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0" baseType="lpstr">
      <vt:lpstr>chapter</vt:lpstr>
      <vt:lpstr>main</vt:lpstr>
      <vt:lpstr>figure</vt:lpstr>
      <vt:lpstr>table</vt:lpstr>
      <vt:lpstr>example</vt:lpstr>
      <vt:lpstr>extensions</vt:lpstr>
      <vt:lpstr>MathType 6.0 Equation</vt:lpstr>
      <vt:lpstr>CHAPTER       17    Capital and Time</vt:lpstr>
      <vt:lpstr>Capital and the Rate of Return</vt:lpstr>
      <vt:lpstr>17.1 Two Views of Capital Accumulation</vt:lpstr>
      <vt:lpstr>Rate of Return</vt:lpstr>
      <vt:lpstr>Rate of Return</vt:lpstr>
      <vt:lpstr>Rate of Return</vt:lpstr>
      <vt:lpstr>Rate of Return and Price of Future Goods</vt:lpstr>
      <vt:lpstr>Rate of Return and Price of Future Goods</vt:lpstr>
      <vt:lpstr>Demand for Future Goods</vt:lpstr>
      <vt:lpstr>17.2 Individual’s Intertemporal Utility   Maximization</vt:lpstr>
      <vt:lpstr>Utility Maximization</vt:lpstr>
      <vt:lpstr>17.1  Intertemporal Impatience</vt:lpstr>
      <vt:lpstr>17.1  Intertemporal Impatience</vt:lpstr>
      <vt:lpstr>17.1  Intertemporal Impatience</vt:lpstr>
      <vt:lpstr>17.1  Intertemporal Impatience</vt:lpstr>
      <vt:lpstr>17.1  Intertemporal Impatience</vt:lpstr>
      <vt:lpstr>Effects of Changes in r</vt:lpstr>
      <vt:lpstr>Effects of Changes in r</vt:lpstr>
      <vt:lpstr>17.3 Determination of the Equilibrium Price of   Future Goods</vt:lpstr>
      <vt:lpstr>Supply of Future Goods</vt:lpstr>
      <vt:lpstr>Equilibrium Price of Future Goods</vt:lpstr>
      <vt:lpstr>The Equilibrium Rate of Return</vt:lpstr>
      <vt:lpstr>Rate of return, real interest rates,  and nominal interest rates</vt:lpstr>
      <vt:lpstr>17.2  Determination of the Real Interest Rate</vt:lpstr>
      <vt:lpstr>17.2  Determination of the Real Interest Rate</vt:lpstr>
      <vt:lpstr>17.2  Determination of the Real Interest Rate</vt:lpstr>
      <vt:lpstr>17.2  Determination of the Real Interest Rate</vt:lpstr>
      <vt:lpstr>Pricing of Risky Assets </vt:lpstr>
      <vt:lpstr>Pricing of Risky Assets </vt:lpstr>
      <vt:lpstr>Pricing of Risky Assets </vt:lpstr>
      <vt:lpstr>Pricing of Risky Assets </vt:lpstr>
      <vt:lpstr>Pricing of Risky Assets </vt:lpstr>
      <vt:lpstr>Pricing of Risky Assets </vt:lpstr>
      <vt:lpstr>Pricing of Risky Assets </vt:lpstr>
      <vt:lpstr>Determinants of Market Rental Rates</vt:lpstr>
      <vt:lpstr>Determinants of Market Rental Rates</vt:lpstr>
      <vt:lpstr>Nondepreciating Machines</vt:lpstr>
      <vt:lpstr>Ownership of Machines</vt:lpstr>
      <vt:lpstr>Demand for Capital</vt:lpstr>
      <vt:lpstr>Theory of Investment</vt:lpstr>
      <vt:lpstr>Present Discounted Value Criterion</vt:lpstr>
      <vt:lpstr>A Simple Case</vt:lpstr>
      <vt:lpstr>General Case</vt:lpstr>
      <vt:lpstr>General Case</vt:lpstr>
      <vt:lpstr>General Case</vt:lpstr>
      <vt:lpstr>General Case</vt:lpstr>
      <vt:lpstr>17.3  Cutting Down a Tree</vt:lpstr>
      <vt:lpstr>17.3  Cutting Down a Tree</vt:lpstr>
      <vt:lpstr>17.3  Cutting Down a Tree</vt:lpstr>
      <vt:lpstr>Natural Resource Pricing</vt:lpstr>
      <vt:lpstr>Natural Resource Pricing</vt:lpstr>
      <vt:lpstr>Natural Resource Pricing</vt:lpstr>
      <vt:lpstr>Natural Resource Pricing</vt:lpstr>
      <vt:lpstr>Natural Resource Pricing</vt:lpstr>
      <vt:lpstr>Natural Resource Pricing</vt:lpstr>
      <vt:lpstr>17.4  Can Resource Prices Decrease?</vt:lpstr>
      <vt:lpstr>17.4  Can Resource Prices Decrease?</vt:lpstr>
      <vt:lpstr>Generalizing the Model</vt:lpstr>
      <vt:lpstr>Generalizing the Model</vt:lpstr>
      <vt:lpstr>Generalizing the Model</vt:lpstr>
      <vt:lpstr>The Mathematics of Compound Interest</vt:lpstr>
      <vt:lpstr>Present Discounted Value</vt:lpstr>
      <vt:lpstr>Annuities and perpetuities</vt:lpstr>
      <vt:lpstr>Annuities and perpetuities</vt:lpstr>
      <vt:lpstr>The special case of a bond</vt:lpstr>
      <vt:lpstr>The special case of a bond</vt:lpstr>
      <vt:lpstr>Continuous Time</vt:lpstr>
      <vt:lpstr>Continuous Time</vt:lpstr>
      <vt:lpstr>17 A. 1 Effective Annual Interest Rates for Selected Continuously Compounded Rates</vt:lpstr>
      <vt:lpstr>Continuous Time</vt:lpstr>
      <vt:lpstr>Continuous Time</vt:lpstr>
      <vt:lpstr>Continuous Time</vt:lpstr>
      <vt:lpstr>Continuous Time</vt:lpstr>
    </vt:vector>
  </TitlesOfParts>
  <Company>Eastern Illinois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Andreea Chiritescu</dc:creator>
  <cp:lastModifiedBy>Andreea Chiritescu</cp:lastModifiedBy>
  <cp:revision>723</cp:revision>
  <dcterms:created xsi:type="dcterms:W3CDTF">2016-06-05T19:40:39Z</dcterms:created>
  <dcterms:modified xsi:type="dcterms:W3CDTF">2016-06-22T20:07:01Z</dcterms:modified>
</cp:coreProperties>
</file>