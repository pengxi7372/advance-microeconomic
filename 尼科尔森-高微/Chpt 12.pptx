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5.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4" r:id="rId3"/>
    <p:sldMasterId id="2147483677" r:id="rId4"/>
    <p:sldMasterId id="2147483669" r:id="rId5"/>
    <p:sldMasterId id="2147483672" r:id="rId6"/>
  </p:sldMasterIdLst>
  <p:notesMasterIdLst>
    <p:notesMasterId r:id="rId89"/>
  </p:notesMasterIdLst>
  <p:handoutMasterIdLst>
    <p:handoutMasterId r:id="rId90"/>
  </p:handoutMasterIdLst>
  <p:sldIdLst>
    <p:sldId id="258" r:id="rId7"/>
    <p:sldId id="275" r:id="rId8"/>
    <p:sldId id="276" r:id="rId9"/>
    <p:sldId id="277" r:id="rId10"/>
    <p:sldId id="278" r:id="rId11"/>
    <p:sldId id="279" r:id="rId12"/>
    <p:sldId id="355" r:id="rId13"/>
    <p:sldId id="281" r:id="rId14"/>
    <p:sldId id="282" r:id="rId15"/>
    <p:sldId id="283" r:id="rId16"/>
    <p:sldId id="285" r:id="rId17"/>
    <p:sldId id="286" r:id="rId18"/>
    <p:sldId id="287" r:id="rId19"/>
    <p:sldId id="288" r:id="rId20"/>
    <p:sldId id="289" r:id="rId21"/>
    <p:sldId id="290" r:id="rId22"/>
    <p:sldId id="291" r:id="rId23"/>
    <p:sldId id="292" r:id="rId24"/>
    <p:sldId id="293" r:id="rId25"/>
    <p:sldId id="294" r:id="rId26"/>
    <p:sldId id="295" r:id="rId27"/>
    <p:sldId id="356" r:id="rId28"/>
    <p:sldId id="296" r:id="rId29"/>
    <p:sldId id="297" r:id="rId30"/>
    <p:sldId id="298" r:id="rId31"/>
    <p:sldId id="299" r:id="rId32"/>
    <p:sldId id="300" r:id="rId33"/>
    <p:sldId id="301" r:id="rId34"/>
    <p:sldId id="302" r:id="rId35"/>
    <p:sldId id="357" r:id="rId36"/>
    <p:sldId id="303" r:id="rId37"/>
    <p:sldId id="358" r:id="rId38"/>
    <p:sldId id="359" r:id="rId39"/>
    <p:sldId id="305" r:id="rId40"/>
    <p:sldId id="360" r:id="rId41"/>
    <p:sldId id="307" r:id="rId42"/>
    <p:sldId id="308" r:id="rId43"/>
    <p:sldId id="309" r:id="rId44"/>
    <p:sldId id="310" r:id="rId45"/>
    <p:sldId id="311" r:id="rId46"/>
    <p:sldId id="312" r:id="rId47"/>
    <p:sldId id="313" r:id="rId48"/>
    <p:sldId id="314" r:id="rId49"/>
    <p:sldId id="315" r:id="rId50"/>
    <p:sldId id="316" r:id="rId51"/>
    <p:sldId id="317" r:id="rId52"/>
    <p:sldId id="318" r:id="rId53"/>
    <p:sldId id="319" r:id="rId54"/>
    <p:sldId id="320" r:id="rId55"/>
    <p:sldId id="321" r:id="rId56"/>
    <p:sldId id="322" r:id="rId57"/>
    <p:sldId id="323" r:id="rId58"/>
    <p:sldId id="324" r:id="rId59"/>
    <p:sldId id="325" r:id="rId60"/>
    <p:sldId id="326" r:id="rId61"/>
    <p:sldId id="327" r:id="rId62"/>
    <p:sldId id="328" r:id="rId63"/>
    <p:sldId id="329" r:id="rId64"/>
    <p:sldId id="330" r:id="rId65"/>
    <p:sldId id="331" r:id="rId66"/>
    <p:sldId id="332" r:id="rId67"/>
    <p:sldId id="333" r:id="rId68"/>
    <p:sldId id="334" r:id="rId69"/>
    <p:sldId id="335" r:id="rId70"/>
    <p:sldId id="336" r:id="rId71"/>
    <p:sldId id="337" r:id="rId72"/>
    <p:sldId id="338" r:id="rId73"/>
    <p:sldId id="339" r:id="rId74"/>
    <p:sldId id="340" r:id="rId75"/>
    <p:sldId id="341" r:id="rId76"/>
    <p:sldId id="342" r:id="rId77"/>
    <p:sldId id="343" r:id="rId78"/>
    <p:sldId id="344" r:id="rId79"/>
    <p:sldId id="361" r:id="rId80"/>
    <p:sldId id="362" r:id="rId81"/>
    <p:sldId id="363" r:id="rId82"/>
    <p:sldId id="348" r:id="rId83"/>
    <p:sldId id="349" r:id="rId84"/>
    <p:sldId id="351" r:id="rId85"/>
    <p:sldId id="352" r:id="rId86"/>
    <p:sldId id="353" r:id="rId87"/>
    <p:sldId id="354" r:id="rId8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D56"/>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4" autoAdjust="0"/>
    <p:restoredTop sz="98883" autoAdjust="0"/>
  </p:normalViewPr>
  <p:slideViewPr>
    <p:cSldViewPr>
      <p:cViewPr>
        <p:scale>
          <a:sx n="66" d="100"/>
          <a:sy n="66" d="100"/>
        </p:scale>
        <p:origin x="-948" y="-174"/>
      </p:cViewPr>
      <p:guideLst>
        <p:guide orient="horz" pos="2160"/>
        <p:guide pos="2880"/>
      </p:guideLst>
    </p:cSldViewPr>
  </p:slideViewPr>
  <p:outlineViewPr>
    <p:cViewPr>
      <p:scale>
        <a:sx n="33" d="100"/>
        <a:sy n="33" d="100"/>
      </p:scale>
      <p:origin x="0" y="4230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3" d="100"/>
          <a:sy n="53" d="100"/>
        </p:scale>
        <p:origin x="-295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slide" Target="slides/slide57.xml"/><Relationship Id="rId68" Type="http://schemas.openxmlformats.org/officeDocument/2006/relationships/slide" Target="slides/slide62.xml"/><Relationship Id="rId76" Type="http://schemas.openxmlformats.org/officeDocument/2006/relationships/slide" Target="slides/slide70.xml"/><Relationship Id="rId84" Type="http://schemas.openxmlformats.org/officeDocument/2006/relationships/slide" Target="slides/slide78.xml"/><Relationship Id="rId89" Type="http://schemas.openxmlformats.org/officeDocument/2006/relationships/notesMaster" Target="notesMasters/notesMaster1.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74" Type="http://schemas.openxmlformats.org/officeDocument/2006/relationships/slide" Target="slides/slide68.xml"/><Relationship Id="rId79" Type="http://schemas.openxmlformats.org/officeDocument/2006/relationships/slide" Target="slides/slide73.xml"/><Relationship Id="rId87" Type="http://schemas.openxmlformats.org/officeDocument/2006/relationships/slide" Target="slides/slide81.xml"/><Relationship Id="rId5" Type="http://schemas.openxmlformats.org/officeDocument/2006/relationships/slideMaster" Target="slideMasters/slideMaster5.xml"/><Relationship Id="rId61" Type="http://schemas.openxmlformats.org/officeDocument/2006/relationships/slide" Target="slides/slide55.xml"/><Relationship Id="rId82" Type="http://schemas.openxmlformats.org/officeDocument/2006/relationships/slide" Target="slides/slide76.xml"/><Relationship Id="rId90" Type="http://schemas.openxmlformats.org/officeDocument/2006/relationships/handoutMaster" Target="handoutMasters/handoutMaster1.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slide" Target="slides/slide79.xml"/><Relationship Id="rId93"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slide" Target="slides/slide82.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C3143B-620F-4987-B4C6-8DA41D14F534}" type="datetimeFigureOut">
              <a:rPr lang="en-US" smtClean="0"/>
              <a:t>6/17/2016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C9E537F-0D91-4DE0-B9F5-55E2B2118790}" type="slidenum">
              <a:rPr lang="en-US" smtClean="0"/>
              <a:t>‹#›</a:t>
            </a:fld>
            <a:endParaRPr lang="en-US"/>
          </a:p>
        </p:txBody>
      </p:sp>
    </p:spTree>
    <p:extLst>
      <p:ext uri="{BB962C8B-B14F-4D97-AF65-F5344CB8AC3E}">
        <p14:creationId xmlns:p14="http://schemas.microsoft.com/office/powerpoint/2010/main" val="6755922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B7A522-1067-4090-8338-D2D3A24AAAF6}" type="datetimeFigureOut">
              <a:rPr lang="en-US" smtClean="0"/>
              <a:t>6/17/2016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19A4D4-42B8-482F-A3F9-BD6E0B3BC1CB}" type="slidenum">
              <a:rPr lang="en-US" smtClean="0"/>
              <a:t>‹#›</a:t>
            </a:fld>
            <a:endParaRPr lang="en-US"/>
          </a:p>
        </p:txBody>
      </p:sp>
    </p:spTree>
    <p:extLst>
      <p:ext uri="{BB962C8B-B14F-4D97-AF65-F5344CB8AC3E}">
        <p14:creationId xmlns:p14="http://schemas.microsoft.com/office/powerpoint/2010/main" val="1981813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19A4D4-42B8-482F-A3F9-BD6E0B3BC1CB}" type="slidenum">
              <a:rPr lang="en-US" smtClean="0"/>
              <a:t>1</a:t>
            </a:fld>
            <a:endParaRPr lang="en-US"/>
          </a:p>
        </p:txBody>
      </p:sp>
    </p:spTree>
    <p:extLst>
      <p:ext uri="{BB962C8B-B14F-4D97-AF65-F5344CB8AC3E}">
        <p14:creationId xmlns:p14="http://schemas.microsoft.com/office/powerpoint/2010/main" val="30850018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2971800"/>
            <a:ext cx="9144000" cy="1676400"/>
          </a:xfrm>
          <a:prstGeom prst="rect">
            <a:avLst/>
          </a:prstGeom>
          <a:noFill/>
        </p:spPr>
        <p:txBody>
          <a:bodyPr/>
          <a:lstStyle>
            <a:lvl1pPr marL="91440">
              <a:lnSpc>
                <a:spcPct val="100000"/>
              </a:lnSpc>
              <a:spcBef>
                <a:spcPts val="600"/>
              </a:spcBef>
              <a:defRPr sz="5400" b="0">
                <a:solidFill>
                  <a:srgbClr val="002D56"/>
                </a:solidFill>
              </a:defRPr>
            </a:lvl1pPr>
          </a:lstStyle>
          <a:p>
            <a:r>
              <a:rPr lang="en-US" dirty="0" smtClean="0"/>
              <a:t>CLICK TO EDIT				Master title style</a:t>
            </a:r>
            <a:endParaRPr lang="en-US" dirty="0"/>
          </a:p>
        </p:txBody>
      </p:sp>
      <p:sp>
        <p:nvSpPr>
          <p:cNvPr id="8" name="Title Placeholder 1"/>
          <p:cNvSpPr txBox="1">
            <a:spLocks/>
          </p:cNvSpPr>
          <p:nvPr userDrawn="1"/>
        </p:nvSpPr>
        <p:spPr>
          <a:xfrm>
            <a:off x="-76200" y="0"/>
            <a:ext cx="9220200" cy="609600"/>
          </a:xfrm>
          <a:prstGeom prst="rect">
            <a:avLst/>
          </a:prstGeom>
          <a:blipFill>
            <a:blip r:embed="rId2"/>
            <a:stretch>
              <a:fillRect/>
            </a:stretch>
          </a:blipFill>
        </p:spPr>
        <p:txBody>
          <a:bodyPr vert="horz" lIns="0" tIns="182880" rIns="0" bIns="45720" rtlCol="0" anchor="ctr">
            <a:noAutofit/>
          </a:bodyPr>
          <a:lst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a:lstStyle>
          <a:p>
            <a:r>
              <a:rPr lang="en-US" dirty="0" smtClean="0"/>
              <a:t>Walter Nicholson | Christopher Snyder	 12th edition</a:t>
            </a:r>
            <a:endParaRPr lang="en-US" dirty="0"/>
          </a:p>
        </p:txBody>
      </p:sp>
      <p:sp>
        <p:nvSpPr>
          <p:cNvPr id="9" name="Footer Placeholder 8"/>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10" name="Slide Number Placeholder 9"/>
          <p:cNvSpPr>
            <a:spLocks noGrp="1"/>
          </p:cNvSpPr>
          <p:nvPr>
            <p:ph type="sldNum" sz="quarter" idx="11"/>
          </p:nvPr>
        </p:nvSpPr>
        <p:spPr/>
        <p:txBody>
          <a:bodyPr/>
          <a:lstStyle/>
          <a:p>
            <a:fld id="{DF079196-2514-49FB-B48C-98AEBE754E63}" type="slidenum">
              <a:rPr lang="en-US" smtClean="0"/>
              <a:t>‹#›</a:t>
            </a:fld>
            <a:endParaRPr lang="en-US"/>
          </a:p>
        </p:txBody>
      </p:sp>
    </p:spTree>
    <p:extLst>
      <p:ext uri="{BB962C8B-B14F-4D97-AF65-F5344CB8AC3E}">
        <p14:creationId xmlns:p14="http://schemas.microsoft.com/office/powerpoint/2010/main" val="3842187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51816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Tree>
    <p:extLst>
      <p:ext uri="{BB962C8B-B14F-4D97-AF65-F5344CB8AC3E}">
        <p14:creationId xmlns:p14="http://schemas.microsoft.com/office/powerpoint/2010/main" val="33384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28194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
        <p:nvSpPr>
          <p:cNvPr id="5" name="Text Placeholder 4"/>
          <p:cNvSpPr>
            <a:spLocks noGrp="1"/>
          </p:cNvSpPr>
          <p:nvPr>
            <p:ph type="body" sz="quarter" idx="12"/>
          </p:nvPr>
        </p:nvSpPr>
        <p:spPr>
          <a:xfrm>
            <a:off x="381000" y="4114800"/>
            <a:ext cx="8534400" cy="21336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90485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34382034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61513413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9569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381000" y="3429000"/>
            <a:ext cx="8382000" cy="2743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91919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35955642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40793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457200" y="3352800"/>
            <a:ext cx="8305800" cy="2895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87490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3.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6.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8" name="Picture 4" descr="C:\Users\Andreea\Desktop\Cengage\Nicholson 12e\cover\ch bkg.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2590800"/>
            <a:ext cx="9144000" cy="377995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Andreea\Desktop\Cengage\Nicholson 12e\cover\MT.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516184"/>
            <a:ext cx="9144000" cy="2243731"/>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a:spLocks noGrp="1"/>
          </p:cNvSpPr>
          <p:nvPr>
            <p:ph type="ftr" sz="quarter" idx="3"/>
          </p:nvPr>
        </p:nvSpPr>
        <p:spPr>
          <a:xfrm>
            <a:off x="0" y="6400800"/>
            <a:ext cx="8686800" cy="457201"/>
          </a:xfrm>
          <a:prstGeom prst="rect">
            <a:avLst/>
          </a:prstGeom>
        </p:spPr>
        <p:txBody>
          <a:bodyPr vert="horz" lIns="91440" tIns="45720" rIns="91440" bIns="45720" rtlCol="0" anchor="ctr"/>
          <a:lstStyle>
            <a:lvl1pPr algn="l">
              <a:defRPr sz="1100">
                <a:solidFill>
                  <a:schemeClr val="tx1"/>
                </a:solidFill>
              </a:defRPr>
            </a:lvl1p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079196-2514-49FB-B48C-98AEBE754E63}" type="slidenum">
              <a:rPr lang="en-US" smtClean="0"/>
              <a:t>‹#›</a:t>
            </a:fld>
            <a:endParaRPr lang="en-US"/>
          </a:p>
        </p:txBody>
      </p:sp>
      <p:sp>
        <p:nvSpPr>
          <p:cNvPr id="7" name="Subtitle 2"/>
          <p:cNvSpPr txBox="1">
            <a:spLocks/>
          </p:cNvSpPr>
          <p:nvPr userDrawn="1"/>
        </p:nvSpPr>
        <p:spPr>
          <a:xfrm>
            <a:off x="5105400" y="5562600"/>
            <a:ext cx="4038600" cy="914400"/>
          </a:xfrm>
          <a:prstGeom prst="rect">
            <a:avLst/>
          </a:prstGeom>
        </p:spPr>
        <p:txBody>
          <a:bodyPr/>
          <a:lstStyle>
            <a:lvl1pPr marL="0" indent="0" algn="ctr" defTabSz="914400" rtl="0" eaLnBrk="1" latinLnBrk="0" hangingPunct="1">
              <a:lnSpc>
                <a:spcPct val="80000"/>
              </a:lnSpc>
              <a:spcBef>
                <a:spcPct val="20000"/>
              </a:spcBef>
              <a:buFont typeface="Arial" panose="020B0604020202020204" pitchFamily="34" charset="0"/>
              <a:buNone/>
              <a:defRPr sz="3200" kern="1200">
                <a:solidFill>
                  <a:schemeClr val="tx1"/>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defRPr/>
            </a:pPr>
            <a:r>
              <a:rPr lang="en-US" sz="1600" smtClean="0">
                <a:latin typeface="Arial" pitchFamily="34" charset="0"/>
              </a:rPr>
              <a:t>PowerPoint Slides prepared by: </a:t>
            </a:r>
          </a:p>
          <a:p>
            <a:pPr>
              <a:defRPr/>
            </a:pPr>
            <a:r>
              <a:rPr lang="en-US" sz="1600" smtClean="0">
                <a:latin typeface="Arial" pitchFamily="34" charset="0"/>
              </a:rPr>
              <a:t>V. Andreea CHIRITESCU</a:t>
            </a:r>
          </a:p>
          <a:p>
            <a:pPr>
              <a:defRPr/>
            </a:pPr>
            <a:r>
              <a:rPr lang="en-US" sz="1600" smtClean="0">
                <a:latin typeface="Arial" pitchFamily="34" charset="0"/>
              </a:rPr>
              <a:t>Eastern Illinois University</a:t>
            </a:r>
            <a:endParaRPr lang="en-US" sz="1600" dirty="0">
              <a:latin typeface="Arial" pitchFamily="34" charset="0"/>
            </a:endParaRPr>
          </a:p>
        </p:txBody>
      </p:sp>
    </p:spTree>
    <p:extLst>
      <p:ext uri="{BB962C8B-B14F-4D97-AF65-F5344CB8AC3E}">
        <p14:creationId xmlns:p14="http://schemas.microsoft.com/office/powerpoint/2010/main" val="2146056027"/>
      </p:ext>
    </p:extLst>
  </p:cSld>
  <p:clrMap bg1="lt1" tx1="dk1" bg2="lt2" tx2="dk2" accent1="accent1" accent2="accent2" accent3="accent3" accent4="accent4" accent5="accent5" accent6="accent6" hlink="hlink" folHlink="folHlink"/>
  <p:sldLayoutIdLst>
    <p:sldLayoutId id="2147483649" r:id="rId1"/>
  </p:sldLayoutIdLst>
  <p:timing>
    <p:tnLst>
      <p:par>
        <p:cTn id="1" dur="indefinite" restart="never" nodeType="tmRoot"/>
      </p:par>
    </p:tnLst>
  </p:timing>
  <p:hf hdr="0" dt="0"/>
  <p:txStyles>
    <p:title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0668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314328" y="1143000"/>
            <a:ext cx="8601072" cy="533558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0" y="6400801"/>
            <a:ext cx="8686800"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0B335A-255B-4303-A333-FBB711D61B6F}" type="slidenum">
              <a:rPr lang="en-US" smtClean="0"/>
              <a:t>‹#›</a:t>
            </a:fld>
            <a:endParaRPr lang="en-US"/>
          </a:p>
        </p:txBody>
      </p:sp>
      <p:pic>
        <p:nvPicPr>
          <p:cNvPr id="3074"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3043235" y="3043235"/>
            <a:ext cx="6400800" cy="31432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314328" y="985836"/>
            <a:ext cx="8829672" cy="157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163784"/>
      </p:ext>
    </p:extLst>
  </p:cSld>
  <p:clrMap bg1="lt1" tx1="dk1" bg2="lt2" tx2="dk2" accent1="accent1" accent2="accent2" accent3="accent3" accent4="accent4" accent5="accent5" accent6="accent6" hlink="hlink" folHlink="folHlink"/>
  <p:sldLayoutIdLst>
    <p:sldLayoutId id="2147483662" r:id="rId1"/>
    <p:sldLayoutId id="2147483676" r:id="rId2"/>
  </p:sldLayoutIdLst>
  <p:timing>
    <p:tnLst>
      <p:par>
        <p:cTn id="1" dur="indefinite" restart="never" nodeType="tmRoot"/>
      </p:par>
    </p:tnLst>
  </p:timing>
  <p:hf hdr="0" dt="0"/>
  <p:txStyles>
    <p:titleStyle>
      <a:lvl1pPr algn="ctr"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4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143000" y="0"/>
            <a:ext cx="80010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4100" name="Picture 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 y="0"/>
            <a:ext cx="1143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2366463"/>
      </p:ext>
    </p:extLst>
  </p:cSld>
  <p:clrMap bg1="lt1" tx1="dk1" bg2="lt2" tx2="dk2" accent1="accent1" accent2="accent2" accent3="accent3" accent4="accent4" accent5="accent5" accent6="accent6" hlink="hlink" folHlink="folHlink"/>
  <p:sldLayoutIdLst>
    <p:sldLayoutId id="214748366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200150" y="0"/>
            <a:ext cx="794385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grpSp>
        <p:nvGrpSpPr>
          <p:cNvPr id="3" name="Group 2"/>
          <p:cNvGrpSpPr/>
          <p:nvPr userDrawn="1"/>
        </p:nvGrpSpPr>
        <p:grpSpPr>
          <a:xfrm rot="10800000">
            <a:off x="1" y="5505448"/>
            <a:ext cx="9144000" cy="895351"/>
            <a:chOff x="138110" y="3505200"/>
            <a:chExt cx="9144000" cy="895351"/>
          </a:xfrm>
        </p:grpSpPr>
        <p:pic>
          <p:nvPicPr>
            <p:cNvPr id="9"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23823" y="3519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386760" y="3505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84994"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12001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75858699"/>
      </p:ext>
    </p:extLst>
  </p:cSld>
  <p:clrMap bg1="lt1" tx1="dk1" bg2="lt2" tx2="dk2" accent1="accent1" accent2="accent2" accent3="accent3" accent4="accent4" accent5="accent5" accent6="accent6" hlink="hlink" folHlink="folHlink"/>
  <p:sldLayoutIdLst>
    <p:sldLayoutId id="214748367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2"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5700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3033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764344" y="0"/>
            <a:ext cx="7379656"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5122" name="Picture 2"/>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 y="0"/>
            <a:ext cx="1764345"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idx="1"/>
          </p:nvPr>
        </p:nvSpPr>
        <p:spPr>
          <a:xfrm>
            <a:off x="457200" y="609600"/>
            <a:ext cx="8229600" cy="58674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453884566"/>
      </p:ext>
    </p:extLst>
  </p:cSld>
  <p:clrMap bg1="lt1" tx1="dk1" bg2="lt2" tx2="dk2" accent1="accent1" accent2="accent2" accent3="accent3" accent4="accent4" accent5="accent5" accent6="accent6" hlink="hlink" folHlink="folHlink"/>
  <p:sldLayoutIdLst>
    <p:sldLayoutId id="2147483671" r:id="rId1"/>
    <p:sldLayoutId id="2147483674" r:id="rId2"/>
    <p:sldLayoutId id="2147483679" r:id="rId3"/>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5510213" y="3224211"/>
            <a:ext cx="6858001"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2895600" y="3095624"/>
            <a:ext cx="6200777"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9144000" cy="461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600200" y="0"/>
            <a:ext cx="75438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sp>
        <p:nvSpPr>
          <p:cNvPr id="3" name="Text Placeholder 2"/>
          <p:cNvSpPr>
            <a:spLocks noGrp="1"/>
          </p:cNvSpPr>
          <p:nvPr>
            <p:ph type="body" idx="1"/>
          </p:nvPr>
        </p:nvSpPr>
        <p:spPr>
          <a:xfrm>
            <a:off x="457200" y="533400"/>
            <a:ext cx="8229600" cy="59436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6146"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0"/>
            <a:ext cx="1724025"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5283110"/>
      </p:ext>
    </p:extLst>
  </p:cSld>
  <p:clrMap bg1="lt1" tx1="dk1" bg2="lt2" tx2="dk2" accent1="accent1" accent2="accent2" accent3="accent3" accent4="accent4" accent5="accent5" accent6="accent6" hlink="hlink" folHlink="folHlink"/>
  <p:sldLayoutIdLst>
    <p:sldLayoutId id="2147483673" r:id="rId1"/>
    <p:sldLayoutId id="2147483689" r:id="rId2"/>
  </p:sldLayoutIdLst>
  <p:timing>
    <p:tnLst>
      <p:par>
        <p:cTn id="1" dur="indefinite" restart="never" nodeType="tmRoot"/>
      </p:par>
    </p:tnLst>
  </p:timing>
  <p:hf hdr="0" dt="0"/>
  <p:txStyles>
    <p:titleStyle>
      <a:lvl1pPr algn="ctr"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3.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4.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3.vml"/><Relationship Id="rId4" Type="http://schemas.openxmlformats.org/officeDocument/2006/relationships/image" Target="../media/image15.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3.xml"/><Relationship Id="rId1" Type="http://schemas.openxmlformats.org/officeDocument/2006/relationships/vmlDrawing" Target="../drawings/vmlDrawing4.vml"/><Relationship Id="rId4" Type="http://schemas.openxmlformats.org/officeDocument/2006/relationships/image" Target="../media/image16.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xml"/><Relationship Id="rId1" Type="http://schemas.openxmlformats.org/officeDocument/2006/relationships/vmlDrawing" Target="../drawings/vmlDrawing5.vml"/><Relationship Id="rId4" Type="http://schemas.openxmlformats.org/officeDocument/2006/relationships/image" Target="../media/image17.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6.xml"/><Relationship Id="rId1" Type="http://schemas.openxmlformats.org/officeDocument/2006/relationships/vmlDrawing" Target="../drawings/vmlDrawing6.vml"/><Relationship Id="rId4" Type="http://schemas.openxmlformats.org/officeDocument/2006/relationships/image" Target="../media/image18.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0.wmf"/><Relationship Id="rId5" Type="http://schemas.openxmlformats.org/officeDocument/2006/relationships/oleObject" Target="../embeddings/oleObject8.bin"/><Relationship Id="rId4" Type="http://schemas.openxmlformats.org/officeDocument/2006/relationships/image" Target="../media/image19.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22.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3.xml"/><Relationship Id="rId1" Type="http://schemas.openxmlformats.org/officeDocument/2006/relationships/vmlDrawing" Target="../drawings/vmlDrawing9.vml"/><Relationship Id="rId4" Type="http://schemas.openxmlformats.org/officeDocument/2006/relationships/image" Target="../media/image23.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3.xml"/><Relationship Id="rId1" Type="http://schemas.openxmlformats.org/officeDocument/2006/relationships/vmlDrawing" Target="../drawings/vmlDrawing10.vml"/><Relationship Id="rId4" Type="http://schemas.openxmlformats.org/officeDocument/2006/relationships/image" Target="../media/image24.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25.emf"/></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27.e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28.e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3.xml"/><Relationship Id="rId1" Type="http://schemas.openxmlformats.org/officeDocument/2006/relationships/vmlDrawing" Target="../drawings/vmlDrawing14.vml"/><Relationship Id="rId4" Type="http://schemas.openxmlformats.org/officeDocument/2006/relationships/image" Target="../media/image31.e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32.wmf"/></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33.wmf"/></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3.xml"/><Relationship Id="rId1" Type="http://schemas.openxmlformats.org/officeDocument/2006/relationships/vmlDrawing" Target="../drawings/vmlDrawing17.vml"/><Relationship Id="rId4" Type="http://schemas.openxmlformats.org/officeDocument/2006/relationships/image" Target="../media/image34.wmf"/></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35.wmf"/></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3.xml"/><Relationship Id="rId1" Type="http://schemas.openxmlformats.org/officeDocument/2006/relationships/vmlDrawing" Target="../drawings/vmlDrawing19.vml"/><Relationship Id="rId4" Type="http://schemas.openxmlformats.org/officeDocument/2006/relationships/image" Target="../media/image36.wm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2895600"/>
            <a:ext cx="8991600" cy="1676400"/>
          </a:xfrm>
        </p:spPr>
        <p:txBody>
          <a:bodyPr/>
          <a:lstStyle/>
          <a:p>
            <a:pPr algn="l"/>
            <a:r>
              <a:rPr lang="en-US" dirty="0" smtClean="0"/>
              <a:t>CHAPTER</a:t>
            </a:r>
            <a:r>
              <a:rPr lang="en-US" b="1" baseline="0" dirty="0"/>
              <a:t> </a:t>
            </a:r>
            <a:r>
              <a:rPr lang="en-US" b="1" baseline="0" dirty="0" smtClean="0"/>
              <a:t>	</a:t>
            </a:r>
            <a:r>
              <a:rPr lang="en-US" sz="4800" b="1" baseline="0" dirty="0" smtClean="0"/>
              <a:t> </a:t>
            </a:r>
            <a:r>
              <a:rPr lang="en-US" sz="4800" b="1" baseline="0" dirty="0" smtClean="0"/>
              <a:t>The Partial Equilibrium</a:t>
            </a:r>
            <a:r>
              <a:rPr lang="en-US" dirty="0" smtClean="0"/>
              <a:t/>
            </a:r>
            <a:br>
              <a:rPr lang="en-US" dirty="0" smtClean="0"/>
            </a:br>
            <a:r>
              <a:rPr lang="en-US" baseline="0" dirty="0" smtClean="0"/>
              <a:t> </a:t>
            </a:r>
            <a:r>
              <a:rPr lang="en-US" baseline="0" dirty="0" smtClean="0"/>
              <a:t>12</a:t>
            </a:r>
            <a:r>
              <a:rPr lang="en-US" b="1" baseline="0" dirty="0" smtClean="0"/>
              <a:t>	 	</a:t>
            </a:r>
            <a:r>
              <a:rPr lang="en-US" b="1" baseline="0" dirty="0" smtClean="0"/>
              <a:t>	</a:t>
            </a:r>
            <a:r>
              <a:rPr lang="en-US" sz="4800" b="1" baseline="0" dirty="0" smtClean="0"/>
              <a:t>Competitive Model</a:t>
            </a:r>
            <a:endParaRPr lang="en-US" sz="4400" b="1" dirty="0"/>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DF079196-2514-49FB-B48C-98AEBE754E63}" type="slidenum">
              <a:rPr lang="en-US" smtClean="0"/>
              <a:t>1</a:t>
            </a:fld>
            <a:endParaRPr lang="en-US"/>
          </a:p>
        </p:txBody>
      </p:sp>
    </p:spTree>
    <p:extLst>
      <p:ext uri="{BB962C8B-B14F-4D97-AF65-F5344CB8AC3E}">
        <p14:creationId xmlns:p14="http://schemas.microsoft.com/office/powerpoint/2010/main" val="36601923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le 1"/>
          <p:cNvSpPr>
            <a:spLocks noGrp="1"/>
          </p:cNvSpPr>
          <p:nvPr>
            <p:ph type="title"/>
          </p:nvPr>
        </p:nvSpPr>
        <p:spPr/>
        <p:txBody>
          <a:bodyPr/>
          <a:lstStyle/>
          <a:p>
            <a:r>
              <a:rPr lang="en-US" altLang="en-US" dirty="0" smtClean="0"/>
              <a:t>Market </a:t>
            </a:r>
            <a:r>
              <a:rPr lang="en-US" altLang="en-US" dirty="0" smtClean="0"/>
              <a:t>Demand</a:t>
            </a:r>
            <a:endParaRPr lang="en-US" altLang="en-US" dirty="0" smtClean="0"/>
          </a:p>
        </p:txBody>
      </p:sp>
      <p:sp>
        <p:nvSpPr>
          <p:cNvPr id="1028" name="Content Placeholder 2"/>
          <p:cNvSpPr>
            <a:spLocks noGrp="1"/>
          </p:cNvSpPr>
          <p:nvPr>
            <p:ph idx="1"/>
          </p:nvPr>
        </p:nvSpPr>
        <p:spPr/>
        <p:txBody>
          <a:bodyPr/>
          <a:lstStyle/>
          <a:p>
            <a:r>
              <a:rPr lang="en-US" altLang="en-US" dirty="0" smtClean="0"/>
              <a:t>Only two goods (</a:t>
            </a:r>
            <a:r>
              <a:rPr lang="en-US" altLang="en-US" i="1" dirty="0" smtClean="0"/>
              <a:t>x</a:t>
            </a:r>
            <a:r>
              <a:rPr lang="en-US" altLang="en-US" dirty="0" smtClean="0"/>
              <a:t> and </a:t>
            </a:r>
            <a:r>
              <a:rPr lang="en-US" altLang="en-US" i="1" dirty="0" smtClean="0"/>
              <a:t>y</a:t>
            </a:r>
            <a:r>
              <a:rPr lang="en-US" altLang="en-US" dirty="0" smtClean="0"/>
              <a:t>)</a:t>
            </a:r>
          </a:p>
          <a:p>
            <a:pPr lvl="1">
              <a:lnSpc>
                <a:spcPct val="140000"/>
              </a:lnSpc>
            </a:pPr>
            <a:r>
              <a:rPr lang="en-US" altLang="en-US" dirty="0" smtClean="0"/>
              <a:t>An individual’s demand for </a:t>
            </a:r>
            <a:r>
              <a:rPr lang="en-US" altLang="en-US" i="1" dirty="0" smtClean="0"/>
              <a:t>x</a:t>
            </a:r>
            <a:r>
              <a:rPr lang="en-US" altLang="en-US" dirty="0" smtClean="0"/>
              <a:t> is </a:t>
            </a:r>
          </a:p>
          <a:p>
            <a:pPr algn="ctr">
              <a:lnSpc>
                <a:spcPct val="140000"/>
              </a:lnSpc>
              <a:buFontTx/>
              <a:buNone/>
            </a:pPr>
            <a:r>
              <a:rPr lang="en-US" altLang="en-US" sz="3200" dirty="0" smtClean="0">
                <a:solidFill>
                  <a:srgbClr val="FF0000"/>
                </a:solidFill>
              </a:rPr>
              <a:t>Quantity of </a:t>
            </a:r>
            <a:r>
              <a:rPr lang="en-US" altLang="en-US" sz="3200" i="1" dirty="0" smtClean="0">
                <a:solidFill>
                  <a:srgbClr val="FF0000"/>
                </a:solidFill>
              </a:rPr>
              <a:t>x</a:t>
            </a:r>
            <a:r>
              <a:rPr lang="en-US" altLang="en-US" sz="3200" dirty="0" smtClean="0">
                <a:solidFill>
                  <a:srgbClr val="FF0000"/>
                </a:solidFill>
              </a:rPr>
              <a:t> demanded = </a:t>
            </a:r>
            <a:r>
              <a:rPr lang="en-US" altLang="en-US" sz="3200" i="1" dirty="0" smtClean="0">
                <a:solidFill>
                  <a:srgbClr val="FF0000"/>
                </a:solidFill>
              </a:rPr>
              <a:t>x</a:t>
            </a:r>
            <a:r>
              <a:rPr lang="en-US" altLang="en-US" sz="3200" dirty="0" smtClean="0">
                <a:solidFill>
                  <a:srgbClr val="FF0000"/>
                </a:solidFill>
              </a:rPr>
              <a:t>(</a:t>
            </a:r>
            <a:r>
              <a:rPr lang="en-US" altLang="en-US" sz="3200" i="1" dirty="0" err="1" smtClean="0">
                <a:solidFill>
                  <a:srgbClr val="FF0000"/>
                </a:solidFill>
              </a:rPr>
              <a:t>p</a:t>
            </a:r>
            <a:r>
              <a:rPr lang="en-US" altLang="en-US" sz="3200" i="1" baseline="-25000" dirty="0" err="1" smtClean="0">
                <a:solidFill>
                  <a:srgbClr val="FF0000"/>
                </a:solidFill>
              </a:rPr>
              <a:t>x</a:t>
            </a:r>
            <a:r>
              <a:rPr lang="en-US" altLang="en-US" sz="3200" dirty="0" err="1" smtClean="0">
                <a:solidFill>
                  <a:srgbClr val="FF0000"/>
                </a:solidFill>
              </a:rPr>
              <a:t>,</a:t>
            </a:r>
            <a:r>
              <a:rPr lang="en-US" altLang="en-US" sz="3200" i="1" dirty="0" err="1" smtClean="0">
                <a:solidFill>
                  <a:srgbClr val="FF0000"/>
                </a:solidFill>
              </a:rPr>
              <a:t>p</a:t>
            </a:r>
            <a:r>
              <a:rPr lang="en-US" altLang="en-US" sz="3200" i="1" baseline="-25000" dirty="0" err="1" smtClean="0">
                <a:solidFill>
                  <a:srgbClr val="FF0000"/>
                </a:solidFill>
              </a:rPr>
              <a:t>y</a:t>
            </a:r>
            <a:r>
              <a:rPr lang="en-US" altLang="en-US" sz="3200" dirty="0" err="1" smtClean="0">
                <a:solidFill>
                  <a:srgbClr val="FF0000"/>
                </a:solidFill>
              </a:rPr>
              <a:t>,</a:t>
            </a:r>
            <a:r>
              <a:rPr lang="en-US" altLang="en-US" sz="3200" i="1" dirty="0" err="1" smtClean="0">
                <a:solidFill>
                  <a:srgbClr val="FF0000"/>
                </a:solidFill>
                <a:latin typeface="Verdana" pitchFamily="34" charset="0"/>
              </a:rPr>
              <a:t>I</a:t>
            </a:r>
            <a:r>
              <a:rPr lang="en-US" altLang="en-US" sz="3200" dirty="0" smtClean="0">
                <a:solidFill>
                  <a:srgbClr val="FF0000"/>
                </a:solidFill>
              </a:rPr>
              <a:t>)</a:t>
            </a:r>
          </a:p>
          <a:p>
            <a:pPr lvl="1">
              <a:lnSpc>
                <a:spcPct val="110000"/>
              </a:lnSpc>
            </a:pPr>
            <a:r>
              <a:rPr lang="en-US" altLang="en-US" dirty="0" smtClean="0"/>
              <a:t>If we use </a:t>
            </a:r>
            <a:r>
              <a:rPr lang="en-US" altLang="en-US" i="1" dirty="0" err="1" smtClean="0"/>
              <a:t>i</a:t>
            </a:r>
            <a:r>
              <a:rPr lang="en-US" altLang="en-US" dirty="0" smtClean="0"/>
              <a:t> to reflect each individual in the market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D04D712-939C-4DB7-A122-D71D33DD90F9}" type="slidenum">
              <a:rPr lang="en-US" smtClean="0"/>
              <a:pPr>
                <a:defRPr/>
              </a:pPr>
              <a:t>2</a:t>
            </a:fld>
            <a:endParaRPr lang="en-US"/>
          </a:p>
        </p:txBody>
      </p:sp>
      <p:graphicFrame>
        <p:nvGraphicFramePr>
          <p:cNvPr id="14342" name="Object 6"/>
          <p:cNvGraphicFramePr>
            <a:graphicFrameLocks noChangeAspect="1"/>
          </p:cNvGraphicFramePr>
          <p:nvPr/>
        </p:nvGraphicFramePr>
        <p:xfrm>
          <a:off x="1179513" y="4535488"/>
          <a:ext cx="5849937" cy="984250"/>
        </p:xfrm>
        <a:graphic>
          <a:graphicData uri="http://schemas.openxmlformats.org/presentationml/2006/ole">
            <mc:AlternateContent xmlns:mc="http://schemas.openxmlformats.org/markup-compatibility/2006">
              <mc:Choice xmlns:v="urn:schemas-microsoft-com:vml" Requires="v">
                <p:oleObj spid="_x0000_s245775" name="Equation" r:id="rId3" imgW="2565360" imgH="431640" progId="Equation.DSMT4">
                  <p:embed/>
                </p:oleObj>
              </mc:Choice>
              <mc:Fallback>
                <p:oleObj name="Equation" r:id="rId3" imgW="256536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513" y="4535488"/>
                        <a:ext cx="5849937" cy="984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4418484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4342"/>
                                        </p:tgtEl>
                                        <p:attrNameLst>
                                          <p:attrName>style.visibility</p:attrName>
                                        </p:attrNameLst>
                                      </p:cBhvr>
                                      <p:to>
                                        <p:strVal val="visible"/>
                                      </p:to>
                                    </p:set>
                                    <p:animEffect transition="in" filter="wipe(left)">
                                      <p:cBhvr>
                                        <p:cTn id="7" dur="500"/>
                                        <p:tgtEl>
                                          <p:spTgt spid="14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en-US" smtClean="0"/>
              <a:t>Market Demand Curve</a:t>
            </a:r>
          </a:p>
        </p:txBody>
      </p:sp>
      <p:sp>
        <p:nvSpPr>
          <p:cNvPr id="29699" name="Rectangle 3"/>
          <p:cNvSpPr>
            <a:spLocks noGrp="1" noChangeArrowheads="1"/>
          </p:cNvSpPr>
          <p:nvPr>
            <p:ph idx="1"/>
          </p:nvPr>
        </p:nvSpPr>
        <p:spPr/>
        <p:txBody>
          <a:bodyPr/>
          <a:lstStyle/>
          <a:p>
            <a:r>
              <a:rPr lang="en-US" altLang="en-US" smtClean="0"/>
              <a:t>Market demand curve for good X</a:t>
            </a:r>
          </a:p>
          <a:p>
            <a:pPr lvl="1"/>
            <a:r>
              <a:rPr lang="en-US" altLang="en-US" smtClean="0"/>
              <a:t> </a:t>
            </a:r>
            <a:r>
              <a:rPr lang="en-US" altLang="en-US" i="1" smtClean="0"/>
              <a:t>p</a:t>
            </a:r>
            <a:r>
              <a:rPr lang="en-US" altLang="en-US" i="1" baseline="-25000" smtClean="0"/>
              <a:t>X</a:t>
            </a:r>
            <a:r>
              <a:rPr lang="en-US" altLang="en-US" smtClean="0"/>
              <a:t> is allowed to vary</a:t>
            </a:r>
          </a:p>
          <a:p>
            <a:pPr lvl="1"/>
            <a:r>
              <a:rPr lang="en-US" altLang="en-US" smtClean="0"/>
              <a:t> </a:t>
            </a:r>
            <a:r>
              <a:rPr lang="en-US" altLang="en-US" i="1" smtClean="0"/>
              <a:t>p</a:t>
            </a:r>
            <a:r>
              <a:rPr lang="en-US" altLang="en-US" i="1" baseline="-25000" smtClean="0"/>
              <a:t>y</a:t>
            </a:r>
            <a:r>
              <a:rPr lang="en-US" altLang="en-US" smtClean="0"/>
              <a:t> and the income of each individual are held constant</a:t>
            </a:r>
          </a:p>
          <a:p>
            <a:pPr lvl="1"/>
            <a:r>
              <a:rPr lang="en-US" altLang="en-US" smtClean="0"/>
              <a:t>If each individual’s demand for </a:t>
            </a:r>
            <a:r>
              <a:rPr lang="en-US" altLang="en-US" i="1" smtClean="0"/>
              <a:t>x</a:t>
            </a:r>
            <a:r>
              <a:rPr lang="en-US" altLang="en-US" smtClean="0"/>
              <a:t> is downward sloping, the market demand curve will also be downward sloping</a:t>
            </a:r>
            <a:endParaRPr lang="en-US" altLang="en-US" smtClean="0">
              <a:solidFill>
                <a:srgbClr val="5858D4"/>
              </a:solidFill>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2D29A9E-CF5B-4F94-8E9F-2C2904278FA3}" type="slidenum">
              <a:rPr lang="en-US" smtClean="0"/>
              <a:pPr>
                <a:defRPr/>
              </a:pPr>
              <a:t>3</a:t>
            </a:fld>
            <a:endParaRPr lang="en-US"/>
          </a:p>
        </p:txBody>
      </p:sp>
    </p:spTree>
    <p:extLst>
      <p:ext uri="{BB962C8B-B14F-4D97-AF65-F5344CB8AC3E}">
        <p14:creationId xmlns:p14="http://schemas.microsoft.com/office/powerpoint/2010/main" val="40969583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bwMode="auto">
          <a:xfrm>
            <a:off x="1143000" y="0"/>
            <a:ext cx="80010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12.1	Construction of a Market Demand Curve </a:t>
            </a:r>
            <a:r>
              <a:rPr lang="en-US" altLang="en-US" dirty="0" smtClean="0"/>
              <a:t/>
            </a:r>
            <a:br>
              <a:rPr lang="en-US" altLang="en-US" dirty="0" smtClean="0"/>
            </a:br>
            <a:r>
              <a:rPr lang="en-US" altLang="en-US" dirty="0"/>
              <a:t>	</a:t>
            </a:r>
            <a:r>
              <a:rPr lang="en-US" altLang="en-US" dirty="0" smtClean="0">
                <a:solidFill>
                  <a:srgbClr val="002D56"/>
                </a:solidFill>
              </a:rPr>
              <a:t>from </a:t>
            </a:r>
            <a:r>
              <a:rPr lang="en-US" altLang="en-US" dirty="0">
                <a:solidFill>
                  <a:srgbClr val="002D56"/>
                </a:solidFill>
              </a:rPr>
              <a:t>Individual Demand </a:t>
            </a:r>
            <a:r>
              <a:rPr lang="en-US" altLang="en-US" dirty="0" smtClean="0">
                <a:solidFill>
                  <a:srgbClr val="002D56"/>
                </a:solidFill>
              </a:rPr>
              <a:t>Curves</a:t>
            </a:r>
            <a:endParaRPr lang="en-US" altLang="en-US" dirty="0" smtClean="0">
              <a:solidFill>
                <a:srgbClr val="002D56"/>
              </a:solidFill>
            </a:endParaRPr>
          </a:p>
        </p:txBody>
      </p:sp>
      <p:sp>
        <p:nvSpPr>
          <p:cNvPr id="30723" name="Text Placeholder 2"/>
          <p:cNvSpPr>
            <a:spLocks noGrp="1"/>
          </p:cNvSpPr>
          <p:nvPr>
            <p:ph sz="half" idx="1"/>
          </p:nvPr>
        </p:nvSpPr>
        <p:spPr>
          <a:xfrm>
            <a:off x="38100" y="4800600"/>
            <a:ext cx="8953500" cy="1507728"/>
          </a:xfrm>
        </p:spPr>
        <p:txBody>
          <a:bodyPr>
            <a:normAutofit/>
          </a:bodyPr>
          <a:lstStyle/>
          <a:p>
            <a:pPr>
              <a:spcBef>
                <a:spcPct val="0"/>
              </a:spcBef>
            </a:pPr>
            <a:r>
              <a:rPr lang="en-US" altLang="en-US" dirty="0"/>
              <a:t>A market demand curve is the ‘‘horizontal sum’’ of each individual’s demand curve. At each price the quantity demanded in the market is the sum of the amounts each individual demands. For example, at p*</a:t>
            </a:r>
            <a:r>
              <a:rPr lang="en-US" altLang="en-US" baseline="-25000" dirty="0"/>
              <a:t>x</a:t>
            </a:r>
            <a:r>
              <a:rPr lang="en-US" altLang="en-US" dirty="0"/>
              <a:t> the demand in the market is x*</a:t>
            </a:r>
            <a:r>
              <a:rPr lang="en-US" altLang="en-US" baseline="-25000" dirty="0"/>
              <a:t>1</a:t>
            </a:r>
            <a:r>
              <a:rPr lang="en-US" altLang="en-US" dirty="0"/>
              <a:t>+x*</a:t>
            </a:r>
            <a:r>
              <a:rPr lang="en-US" altLang="en-US" baseline="-25000" dirty="0"/>
              <a:t>2</a:t>
            </a:r>
            <a:r>
              <a:rPr lang="en-US" altLang="en-US" dirty="0"/>
              <a:t> = </a:t>
            </a:r>
            <a:r>
              <a:rPr lang="en-US" altLang="en-US" dirty="0" smtClean="0"/>
              <a:t>X*</a:t>
            </a:r>
            <a:endParaRPr lang="en-US" altLang="en-US" dirty="0"/>
          </a:p>
          <a:p>
            <a:pPr>
              <a:spcBef>
                <a:spcPct val="0"/>
              </a:spcBef>
            </a:pPr>
            <a:endParaRPr lang="en-US" altLang="en-US" dirty="0" smtClean="0"/>
          </a:p>
        </p:txBody>
      </p:sp>
      <p:sp>
        <p:nvSpPr>
          <p:cNvPr id="30726"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5AD0FFA3-1F3F-4E91-855F-DA6FB48CCC1E}" type="slidenum">
              <a:rPr lang="en-US" smtClean="0"/>
              <a:pPr>
                <a:defRPr/>
              </a:pPr>
              <a:t>4</a:t>
            </a:fld>
            <a:endParaRPr lang="en-US" dirty="0"/>
          </a:p>
        </p:txBody>
      </p:sp>
      <p:grpSp>
        <p:nvGrpSpPr>
          <p:cNvPr id="19" name="Group 51"/>
          <p:cNvGrpSpPr>
            <a:grpSpLocks/>
          </p:cNvGrpSpPr>
          <p:nvPr/>
        </p:nvGrpSpPr>
        <p:grpSpPr bwMode="auto">
          <a:xfrm>
            <a:off x="1112838" y="3141663"/>
            <a:ext cx="415925" cy="1322387"/>
            <a:chOff x="1113209" y="3141024"/>
            <a:chExt cx="415925" cy="1322388"/>
          </a:xfrm>
        </p:grpSpPr>
        <p:sp>
          <p:nvSpPr>
            <p:cNvPr id="30770" name="Line 21"/>
            <p:cNvSpPr>
              <a:spLocks noChangeShapeType="1"/>
            </p:cNvSpPr>
            <p:nvPr/>
          </p:nvSpPr>
          <p:spPr bwMode="auto">
            <a:xfrm>
              <a:off x="1311646" y="3141024"/>
              <a:ext cx="0" cy="9906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71" name="Text Box 23"/>
            <p:cNvSpPr txBox="1">
              <a:spLocks noChangeArrowheads="1"/>
            </p:cNvSpPr>
            <p:nvPr/>
          </p:nvSpPr>
          <p:spPr bwMode="auto">
            <a:xfrm>
              <a:off x="1113209" y="4158612"/>
              <a:ext cx="415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x</a:t>
              </a:r>
              <a:r>
                <a:rPr lang="en-US" altLang="en-US" sz="1800" baseline="-25000"/>
                <a:t>1</a:t>
              </a:r>
              <a:r>
                <a:rPr lang="en-US" altLang="en-US" sz="1800"/>
                <a:t>*</a:t>
              </a:r>
            </a:p>
          </p:txBody>
        </p:sp>
      </p:grpSp>
      <p:grpSp>
        <p:nvGrpSpPr>
          <p:cNvPr id="26" name="Group 52"/>
          <p:cNvGrpSpPr>
            <a:grpSpLocks/>
          </p:cNvGrpSpPr>
          <p:nvPr/>
        </p:nvGrpSpPr>
        <p:grpSpPr bwMode="auto">
          <a:xfrm>
            <a:off x="3835400" y="3141663"/>
            <a:ext cx="415925" cy="1295400"/>
            <a:chOff x="3835771" y="3141024"/>
            <a:chExt cx="415925" cy="1295400"/>
          </a:xfrm>
        </p:grpSpPr>
        <p:sp>
          <p:nvSpPr>
            <p:cNvPr id="30768" name="Line 22"/>
            <p:cNvSpPr>
              <a:spLocks noChangeShapeType="1"/>
            </p:cNvSpPr>
            <p:nvPr/>
          </p:nvSpPr>
          <p:spPr bwMode="auto">
            <a:xfrm>
              <a:off x="4054846" y="3141024"/>
              <a:ext cx="0" cy="9906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69" name="Text Box 24"/>
            <p:cNvSpPr txBox="1">
              <a:spLocks noChangeArrowheads="1"/>
            </p:cNvSpPr>
            <p:nvPr/>
          </p:nvSpPr>
          <p:spPr bwMode="auto">
            <a:xfrm>
              <a:off x="3835771" y="4131624"/>
              <a:ext cx="415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x</a:t>
              </a:r>
              <a:r>
                <a:rPr lang="en-US" altLang="en-US" sz="1800" baseline="-25000"/>
                <a:t>2</a:t>
              </a:r>
              <a:r>
                <a:rPr lang="en-US" altLang="en-US" sz="1800"/>
                <a:t>*</a:t>
              </a:r>
            </a:p>
          </p:txBody>
        </p:sp>
      </p:grpSp>
      <p:grpSp>
        <p:nvGrpSpPr>
          <p:cNvPr id="30" name="Group 57"/>
          <p:cNvGrpSpPr>
            <a:grpSpLocks/>
          </p:cNvGrpSpPr>
          <p:nvPr/>
        </p:nvGrpSpPr>
        <p:grpSpPr bwMode="auto">
          <a:xfrm>
            <a:off x="249238" y="2989263"/>
            <a:ext cx="7310437" cy="304800"/>
            <a:chOff x="249609" y="2988624"/>
            <a:chExt cx="7310437" cy="304800"/>
          </a:xfrm>
        </p:grpSpPr>
        <p:sp>
          <p:nvSpPr>
            <p:cNvPr id="30766" name="Line 20"/>
            <p:cNvSpPr>
              <a:spLocks noChangeShapeType="1"/>
            </p:cNvSpPr>
            <p:nvPr/>
          </p:nvSpPr>
          <p:spPr bwMode="auto">
            <a:xfrm>
              <a:off x="702046" y="3141024"/>
              <a:ext cx="68580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0767" name="Text Box 25"/>
            <p:cNvSpPr txBox="1">
              <a:spLocks noChangeArrowheads="1"/>
            </p:cNvSpPr>
            <p:nvPr/>
          </p:nvSpPr>
          <p:spPr bwMode="auto">
            <a:xfrm>
              <a:off x="249609" y="2988624"/>
              <a:ext cx="4254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r>
                <a:rPr lang="en-US" altLang="en-US" sz="1800" baseline="-25000"/>
                <a:t>x</a:t>
              </a:r>
              <a:r>
                <a:rPr lang="en-US" altLang="en-US" sz="1800"/>
                <a:t>*</a:t>
              </a:r>
            </a:p>
          </p:txBody>
        </p:sp>
      </p:grpSp>
      <p:grpSp>
        <p:nvGrpSpPr>
          <p:cNvPr id="34" name="Group 50"/>
          <p:cNvGrpSpPr>
            <a:grpSpLocks/>
          </p:cNvGrpSpPr>
          <p:nvPr/>
        </p:nvGrpSpPr>
        <p:grpSpPr bwMode="auto">
          <a:xfrm>
            <a:off x="960438" y="2787650"/>
            <a:ext cx="1385887" cy="1174750"/>
            <a:chOff x="924296" y="2787012"/>
            <a:chExt cx="1385888" cy="1174750"/>
          </a:xfrm>
        </p:grpSpPr>
        <p:sp>
          <p:nvSpPr>
            <p:cNvPr id="30764" name="Line 15"/>
            <p:cNvSpPr>
              <a:spLocks noChangeShapeType="1"/>
            </p:cNvSpPr>
            <p:nvPr/>
          </p:nvSpPr>
          <p:spPr bwMode="auto">
            <a:xfrm>
              <a:off x="924296" y="2787012"/>
              <a:ext cx="990600" cy="990600"/>
            </a:xfrm>
            <a:prstGeom prst="line">
              <a:avLst/>
            </a:prstGeom>
            <a:noFill/>
            <a:ln w="28575">
              <a:solidFill>
                <a:srgbClr val="5D0D8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65" name="Text Box 16"/>
            <p:cNvSpPr txBox="1">
              <a:spLocks noChangeArrowheads="1"/>
            </p:cNvSpPr>
            <p:nvPr/>
          </p:nvSpPr>
          <p:spPr bwMode="auto">
            <a:xfrm>
              <a:off x="1935534" y="3625212"/>
              <a:ext cx="3746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solidFill>
                    <a:srgbClr val="5D0D8F"/>
                  </a:solidFill>
                </a:rPr>
                <a:t>x</a:t>
              </a:r>
              <a:r>
                <a:rPr lang="en-US" altLang="en-US" sz="1800" baseline="-25000">
                  <a:solidFill>
                    <a:srgbClr val="5D0D8F"/>
                  </a:solidFill>
                </a:rPr>
                <a:t>1</a:t>
              </a:r>
              <a:endParaRPr lang="en-US" altLang="en-US" sz="1800">
                <a:solidFill>
                  <a:srgbClr val="5D0D8F"/>
                </a:solidFill>
              </a:endParaRPr>
            </a:p>
          </p:txBody>
        </p:sp>
      </p:grpSp>
      <p:grpSp>
        <p:nvGrpSpPr>
          <p:cNvPr id="36" name="Group 56"/>
          <p:cNvGrpSpPr>
            <a:grpSpLocks/>
          </p:cNvGrpSpPr>
          <p:nvPr/>
        </p:nvGrpSpPr>
        <p:grpSpPr bwMode="auto">
          <a:xfrm>
            <a:off x="266700" y="1390650"/>
            <a:ext cx="2566988" cy="3078163"/>
            <a:chOff x="267071" y="1390397"/>
            <a:chExt cx="2566988" cy="3077777"/>
          </a:xfrm>
        </p:grpSpPr>
        <p:grpSp>
          <p:nvGrpSpPr>
            <p:cNvPr id="30757" name="Group 43"/>
            <p:cNvGrpSpPr>
              <a:grpSpLocks/>
            </p:cNvGrpSpPr>
            <p:nvPr/>
          </p:nvGrpSpPr>
          <p:grpSpPr bwMode="auto">
            <a:xfrm>
              <a:off x="702046" y="4131624"/>
              <a:ext cx="2132013" cy="336550"/>
              <a:chOff x="702046" y="4131624"/>
              <a:chExt cx="2132013" cy="336550"/>
            </a:xfrm>
          </p:grpSpPr>
          <p:sp>
            <p:nvSpPr>
              <p:cNvPr id="30762" name="Line 5"/>
              <p:cNvSpPr>
                <a:spLocks noChangeShapeType="1"/>
              </p:cNvSpPr>
              <p:nvPr/>
            </p:nvSpPr>
            <p:spPr bwMode="auto">
              <a:xfrm>
                <a:off x="702046" y="4131624"/>
                <a:ext cx="1981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63" name="Text Box 9"/>
              <p:cNvSpPr txBox="1">
                <a:spLocks noChangeArrowheads="1"/>
              </p:cNvSpPr>
              <p:nvPr/>
            </p:nvSpPr>
            <p:spPr bwMode="auto">
              <a:xfrm>
                <a:off x="2548309" y="4131624"/>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x</a:t>
                </a:r>
                <a:r>
                  <a:rPr lang="en-US" altLang="en-US" sz="1800" baseline="-25000"/>
                  <a:t>1</a:t>
                </a:r>
              </a:p>
            </p:txBody>
          </p:sp>
        </p:grpSp>
        <p:grpSp>
          <p:nvGrpSpPr>
            <p:cNvPr id="30758" name="Group 42"/>
            <p:cNvGrpSpPr>
              <a:grpSpLocks/>
            </p:cNvGrpSpPr>
            <p:nvPr/>
          </p:nvGrpSpPr>
          <p:grpSpPr bwMode="auto">
            <a:xfrm>
              <a:off x="267071" y="1998024"/>
              <a:ext cx="434975" cy="2133600"/>
              <a:chOff x="267071" y="1998024"/>
              <a:chExt cx="434975" cy="2133600"/>
            </a:xfrm>
          </p:grpSpPr>
          <p:sp>
            <p:nvSpPr>
              <p:cNvPr id="30760" name="Line 4"/>
              <p:cNvSpPr>
                <a:spLocks noChangeShapeType="1"/>
              </p:cNvSpPr>
              <p:nvPr/>
            </p:nvSpPr>
            <p:spPr bwMode="auto">
              <a:xfrm>
                <a:off x="702046" y="2150424"/>
                <a:ext cx="0" cy="198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61" name="Text Box 14"/>
              <p:cNvSpPr txBox="1">
                <a:spLocks noChangeArrowheads="1"/>
              </p:cNvSpPr>
              <p:nvPr/>
            </p:nvSpPr>
            <p:spPr bwMode="auto">
              <a:xfrm>
                <a:off x="267071" y="1998024"/>
                <a:ext cx="366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r>
                  <a:rPr lang="en-US" altLang="en-US" sz="1800" baseline="-25000"/>
                  <a:t>x</a:t>
                </a:r>
                <a:endParaRPr lang="en-US" altLang="en-US" sz="1800"/>
              </a:p>
            </p:txBody>
          </p:sp>
        </p:grpSp>
        <p:sp>
          <p:nvSpPr>
            <p:cNvPr id="30759" name="Text Box 27"/>
            <p:cNvSpPr txBox="1">
              <a:spLocks noChangeArrowheads="1"/>
            </p:cNvSpPr>
            <p:nvPr/>
          </p:nvSpPr>
          <p:spPr bwMode="auto">
            <a:xfrm>
              <a:off x="571593" y="1390397"/>
              <a:ext cx="170848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002D56"/>
                  </a:solidFill>
                </a:rPr>
                <a:t>(a) Individual 1</a:t>
              </a:r>
            </a:p>
          </p:txBody>
        </p:sp>
      </p:grpSp>
      <p:grpSp>
        <p:nvGrpSpPr>
          <p:cNvPr id="43" name="Group 49"/>
          <p:cNvGrpSpPr>
            <a:grpSpLocks/>
          </p:cNvGrpSpPr>
          <p:nvPr/>
        </p:nvGrpSpPr>
        <p:grpSpPr bwMode="auto">
          <a:xfrm>
            <a:off x="3779838" y="2559050"/>
            <a:ext cx="958850" cy="1452563"/>
            <a:chOff x="3743696" y="2558412"/>
            <a:chExt cx="958850" cy="1452562"/>
          </a:xfrm>
        </p:grpSpPr>
        <p:sp>
          <p:nvSpPr>
            <p:cNvPr id="30755" name="Line 17"/>
            <p:cNvSpPr>
              <a:spLocks noChangeShapeType="1"/>
            </p:cNvSpPr>
            <p:nvPr/>
          </p:nvSpPr>
          <p:spPr bwMode="auto">
            <a:xfrm>
              <a:off x="3743696" y="2558412"/>
              <a:ext cx="609600" cy="1295400"/>
            </a:xfrm>
            <a:prstGeom prst="line">
              <a:avLst/>
            </a:prstGeom>
            <a:noFill/>
            <a:ln w="28575">
              <a:solidFill>
                <a:srgbClr val="5D0D8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6" name="Text Box 18"/>
            <p:cNvSpPr txBox="1">
              <a:spLocks noChangeArrowheads="1"/>
            </p:cNvSpPr>
            <p:nvPr/>
          </p:nvSpPr>
          <p:spPr bwMode="auto">
            <a:xfrm>
              <a:off x="4327896" y="3674424"/>
              <a:ext cx="3746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solidFill>
                    <a:srgbClr val="5D0D8F"/>
                  </a:solidFill>
                </a:rPr>
                <a:t>x</a:t>
              </a:r>
              <a:r>
                <a:rPr lang="en-US" altLang="en-US" sz="1800" baseline="-25000">
                  <a:solidFill>
                    <a:srgbClr val="5D0D8F"/>
                  </a:solidFill>
                </a:rPr>
                <a:t>2</a:t>
              </a:r>
              <a:endParaRPr lang="en-US" altLang="en-US" sz="1800">
                <a:solidFill>
                  <a:srgbClr val="5D0D8F"/>
                </a:solidFill>
              </a:endParaRPr>
            </a:p>
          </p:txBody>
        </p:sp>
      </p:grpSp>
      <p:grpSp>
        <p:nvGrpSpPr>
          <p:cNvPr id="44" name="Group 55"/>
          <p:cNvGrpSpPr>
            <a:grpSpLocks/>
          </p:cNvGrpSpPr>
          <p:nvPr/>
        </p:nvGrpSpPr>
        <p:grpSpPr bwMode="auto">
          <a:xfrm>
            <a:off x="3009900" y="1390650"/>
            <a:ext cx="2490788" cy="3078163"/>
            <a:chOff x="3010271" y="1390397"/>
            <a:chExt cx="2490788" cy="3077777"/>
          </a:xfrm>
        </p:grpSpPr>
        <p:grpSp>
          <p:nvGrpSpPr>
            <p:cNvPr id="30748" name="Group 45"/>
            <p:cNvGrpSpPr>
              <a:grpSpLocks/>
            </p:cNvGrpSpPr>
            <p:nvPr/>
          </p:nvGrpSpPr>
          <p:grpSpPr bwMode="auto">
            <a:xfrm>
              <a:off x="3445246" y="4131624"/>
              <a:ext cx="2055813" cy="336550"/>
              <a:chOff x="3445246" y="4131624"/>
              <a:chExt cx="2055813" cy="336550"/>
            </a:xfrm>
          </p:grpSpPr>
          <p:sp>
            <p:nvSpPr>
              <p:cNvPr id="30753" name="Line 8"/>
              <p:cNvSpPr>
                <a:spLocks noChangeShapeType="1"/>
              </p:cNvSpPr>
              <p:nvPr/>
            </p:nvSpPr>
            <p:spPr bwMode="auto">
              <a:xfrm>
                <a:off x="3445246" y="4131624"/>
                <a:ext cx="1981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4" name="Text Box 11"/>
              <p:cNvSpPr txBox="1">
                <a:spLocks noChangeArrowheads="1"/>
              </p:cNvSpPr>
              <p:nvPr/>
            </p:nvSpPr>
            <p:spPr bwMode="auto">
              <a:xfrm>
                <a:off x="5215309" y="4131624"/>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x</a:t>
                </a:r>
                <a:r>
                  <a:rPr lang="en-US" altLang="en-US" sz="1800" baseline="-25000"/>
                  <a:t>2</a:t>
                </a:r>
              </a:p>
            </p:txBody>
          </p:sp>
        </p:grpSp>
        <p:grpSp>
          <p:nvGrpSpPr>
            <p:cNvPr id="30749" name="Group 44"/>
            <p:cNvGrpSpPr>
              <a:grpSpLocks/>
            </p:cNvGrpSpPr>
            <p:nvPr/>
          </p:nvGrpSpPr>
          <p:grpSpPr bwMode="auto">
            <a:xfrm>
              <a:off x="3010271" y="1998024"/>
              <a:ext cx="434975" cy="2133600"/>
              <a:chOff x="3010271" y="1998024"/>
              <a:chExt cx="434975" cy="2133600"/>
            </a:xfrm>
          </p:grpSpPr>
          <p:sp>
            <p:nvSpPr>
              <p:cNvPr id="30751" name="Line 7"/>
              <p:cNvSpPr>
                <a:spLocks noChangeShapeType="1"/>
              </p:cNvSpPr>
              <p:nvPr/>
            </p:nvSpPr>
            <p:spPr bwMode="auto">
              <a:xfrm>
                <a:off x="3445246" y="2150424"/>
                <a:ext cx="0" cy="198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2" name="Text Box 13"/>
              <p:cNvSpPr txBox="1">
                <a:spLocks noChangeArrowheads="1"/>
              </p:cNvSpPr>
              <p:nvPr/>
            </p:nvSpPr>
            <p:spPr bwMode="auto">
              <a:xfrm>
                <a:off x="3010271" y="1998024"/>
                <a:ext cx="366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r>
                  <a:rPr lang="en-US" altLang="en-US" sz="1800" baseline="-25000"/>
                  <a:t>x</a:t>
                </a:r>
                <a:endParaRPr lang="en-US" altLang="en-US" sz="1800"/>
              </a:p>
            </p:txBody>
          </p:sp>
        </p:grpSp>
        <p:sp>
          <p:nvSpPr>
            <p:cNvPr id="30750" name="Text Box 28"/>
            <p:cNvSpPr txBox="1">
              <a:spLocks noChangeArrowheads="1"/>
            </p:cNvSpPr>
            <p:nvPr/>
          </p:nvSpPr>
          <p:spPr bwMode="auto">
            <a:xfrm>
              <a:off x="3370214" y="1390397"/>
              <a:ext cx="187869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002D56"/>
                  </a:solidFill>
                </a:rPr>
                <a:t>(b) Individual 2</a:t>
              </a:r>
            </a:p>
          </p:txBody>
        </p:sp>
      </p:grpSp>
      <p:grpSp>
        <p:nvGrpSpPr>
          <p:cNvPr id="47" name="Group 54"/>
          <p:cNvGrpSpPr>
            <a:grpSpLocks/>
          </p:cNvGrpSpPr>
          <p:nvPr/>
        </p:nvGrpSpPr>
        <p:grpSpPr bwMode="auto">
          <a:xfrm>
            <a:off x="5981700" y="1390650"/>
            <a:ext cx="2490788" cy="3078163"/>
            <a:chOff x="5982071" y="1390397"/>
            <a:chExt cx="2490788" cy="3077777"/>
          </a:xfrm>
        </p:grpSpPr>
        <p:grpSp>
          <p:nvGrpSpPr>
            <p:cNvPr id="30741" name="Group 47"/>
            <p:cNvGrpSpPr>
              <a:grpSpLocks/>
            </p:cNvGrpSpPr>
            <p:nvPr/>
          </p:nvGrpSpPr>
          <p:grpSpPr bwMode="auto">
            <a:xfrm>
              <a:off x="6340846" y="4131624"/>
              <a:ext cx="2132013" cy="336550"/>
              <a:chOff x="6340846" y="4131624"/>
              <a:chExt cx="2132013" cy="336550"/>
            </a:xfrm>
          </p:grpSpPr>
          <p:sp>
            <p:nvSpPr>
              <p:cNvPr id="30746" name="Line 3"/>
              <p:cNvSpPr>
                <a:spLocks noChangeShapeType="1"/>
              </p:cNvSpPr>
              <p:nvPr/>
            </p:nvSpPr>
            <p:spPr bwMode="auto">
              <a:xfrm>
                <a:off x="6340846" y="4131624"/>
                <a:ext cx="1981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7" name="Text Box 10"/>
              <p:cNvSpPr txBox="1">
                <a:spLocks noChangeArrowheads="1"/>
              </p:cNvSpPr>
              <p:nvPr/>
            </p:nvSpPr>
            <p:spPr bwMode="auto">
              <a:xfrm>
                <a:off x="8187109" y="4131624"/>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X</a:t>
                </a:r>
              </a:p>
            </p:txBody>
          </p:sp>
        </p:grpSp>
        <p:grpSp>
          <p:nvGrpSpPr>
            <p:cNvPr id="30742" name="Group 46"/>
            <p:cNvGrpSpPr>
              <a:grpSpLocks/>
            </p:cNvGrpSpPr>
            <p:nvPr/>
          </p:nvGrpSpPr>
          <p:grpSpPr bwMode="auto">
            <a:xfrm>
              <a:off x="5982071" y="2074224"/>
              <a:ext cx="366713" cy="2057400"/>
              <a:chOff x="5982071" y="2074224"/>
              <a:chExt cx="366713" cy="2057400"/>
            </a:xfrm>
          </p:grpSpPr>
          <p:sp>
            <p:nvSpPr>
              <p:cNvPr id="30744" name="Line 6"/>
              <p:cNvSpPr>
                <a:spLocks noChangeShapeType="1"/>
              </p:cNvSpPr>
              <p:nvPr/>
            </p:nvSpPr>
            <p:spPr bwMode="auto">
              <a:xfrm>
                <a:off x="6340846" y="2150424"/>
                <a:ext cx="0" cy="198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5" name="Text Box 12"/>
              <p:cNvSpPr txBox="1">
                <a:spLocks noChangeArrowheads="1"/>
              </p:cNvSpPr>
              <p:nvPr/>
            </p:nvSpPr>
            <p:spPr bwMode="auto">
              <a:xfrm>
                <a:off x="5982071" y="2074224"/>
                <a:ext cx="366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r>
                  <a:rPr lang="en-US" altLang="en-US" sz="1800" baseline="-25000"/>
                  <a:t>x</a:t>
                </a:r>
                <a:endParaRPr lang="en-US" altLang="en-US" sz="1800"/>
              </a:p>
            </p:txBody>
          </p:sp>
        </p:grpSp>
        <p:sp>
          <p:nvSpPr>
            <p:cNvPr id="30743" name="Text Box 29"/>
            <p:cNvSpPr txBox="1">
              <a:spLocks noChangeArrowheads="1"/>
            </p:cNvSpPr>
            <p:nvPr/>
          </p:nvSpPr>
          <p:spPr bwMode="auto">
            <a:xfrm>
              <a:off x="6334065" y="1390397"/>
              <a:ext cx="1966789"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dirty="0">
                  <a:solidFill>
                    <a:srgbClr val="002D56"/>
                  </a:solidFill>
                </a:rPr>
                <a:t>(c) Market demand</a:t>
              </a:r>
            </a:p>
          </p:txBody>
        </p:sp>
      </p:grpSp>
      <p:grpSp>
        <p:nvGrpSpPr>
          <p:cNvPr id="50" name="Group 53"/>
          <p:cNvGrpSpPr>
            <a:grpSpLocks/>
          </p:cNvGrpSpPr>
          <p:nvPr/>
        </p:nvGrpSpPr>
        <p:grpSpPr bwMode="auto">
          <a:xfrm>
            <a:off x="7362825" y="3168650"/>
            <a:ext cx="373063" cy="1295400"/>
            <a:chOff x="7363196" y="3168012"/>
            <a:chExt cx="373063" cy="1295400"/>
          </a:xfrm>
        </p:grpSpPr>
        <p:sp>
          <p:nvSpPr>
            <p:cNvPr id="30739" name="Text Box 31"/>
            <p:cNvSpPr txBox="1">
              <a:spLocks noChangeArrowheads="1"/>
            </p:cNvSpPr>
            <p:nvPr/>
          </p:nvSpPr>
          <p:spPr bwMode="auto">
            <a:xfrm>
              <a:off x="7363196" y="4158612"/>
              <a:ext cx="3730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x*</a:t>
              </a:r>
            </a:p>
          </p:txBody>
        </p:sp>
        <p:sp>
          <p:nvSpPr>
            <p:cNvPr id="30740" name="Line 33"/>
            <p:cNvSpPr>
              <a:spLocks noChangeShapeType="1"/>
            </p:cNvSpPr>
            <p:nvPr/>
          </p:nvSpPr>
          <p:spPr bwMode="auto">
            <a:xfrm>
              <a:off x="7560046" y="3168012"/>
              <a:ext cx="0" cy="9906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1" name="Group 48"/>
          <p:cNvGrpSpPr>
            <a:grpSpLocks/>
          </p:cNvGrpSpPr>
          <p:nvPr/>
        </p:nvGrpSpPr>
        <p:grpSpPr bwMode="auto">
          <a:xfrm>
            <a:off x="6629400" y="2209800"/>
            <a:ext cx="1636714" cy="1725613"/>
            <a:chOff x="6605957" y="2209162"/>
            <a:chExt cx="1636715" cy="1725613"/>
          </a:xfrm>
        </p:grpSpPr>
        <p:sp>
          <p:nvSpPr>
            <p:cNvPr id="30737" name="Line 32"/>
            <p:cNvSpPr>
              <a:spLocks noChangeShapeType="1"/>
            </p:cNvSpPr>
            <p:nvPr/>
          </p:nvSpPr>
          <p:spPr bwMode="auto">
            <a:xfrm flipH="1" flipV="1">
              <a:off x="6605957" y="2209162"/>
              <a:ext cx="1341438" cy="1290895"/>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0738" name="Text Box 34"/>
            <p:cNvSpPr txBox="1">
              <a:spLocks noChangeArrowheads="1"/>
            </p:cNvSpPr>
            <p:nvPr/>
          </p:nvSpPr>
          <p:spPr bwMode="auto">
            <a:xfrm>
              <a:off x="7923584" y="3598225"/>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solidFill>
                    <a:srgbClr val="177B21"/>
                  </a:solidFill>
                </a:rPr>
                <a:t>X</a:t>
              </a:r>
            </a:p>
          </p:txBody>
        </p:sp>
      </p:grpSp>
    </p:spTree>
    <p:extLst>
      <p:ext uri="{BB962C8B-B14F-4D97-AF65-F5344CB8AC3E}">
        <p14:creationId xmlns:p14="http://schemas.microsoft.com/office/powerpoint/2010/main" val="3969654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left)">
                                      <p:cBhvr>
                                        <p:cTn id="11" dur="500"/>
                                        <p:tgtEl>
                                          <p:spTgt spid="34"/>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ipe(left)">
                                      <p:cBhvr>
                                        <p:cTn id="15" dur="500"/>
                                        <p:tgtEl>
                                          <p:spTgt spid="30"/>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up)">
                                      <p:cBhvr>
                                        <p:cTn id="19" dur="500"/>
                                        <p:tgtEl>
                                          <p:spTgt spid="1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44"/>
                                        </p:tgtEl>
                                        <p:attrNameLst>
                                          <p:attrName>style.visibility</p:attrName>
                                        </p:attrNameLst>
                                      </p:cBhvr>
                                      <p:to>
                                        <p:strVal val="visible"/>
                                      </p:to>
                                    </p:set>
                                    <p:animEffect transition="in" filter="wipe(left)">
                                      <p:cBhvr>
                                        <p:cTn id="24" dur="500"/>
                                        <p:tgtEl>
                                          <p:spTgt spid="44"/>
                                        </p:tgtEl>
                                      </p:cBhvr>
                                    </p:animEffect>
                                  </p:childTnLst>
                                </p:cTn>
                              </p:par>
                            </p:childTnLst>
                          </p:cTn>
                        </p:par>
                        <p:par>
                          <p:cTn id="25" fill="hold" nodeType="afterGroup">
                            <p:stCondLst>
                              <p:cond delay="500"/>
                            </p:stCondLst>
                            <p:childTnLst>
                              <p:par>
                                <p:cTn id="26" presetID="22" presetClass="entr" presetSubtype="8" fill="hold" nodeType="after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wipe(left)">
                                      <p:cBhvr>
                                        <p:cTn id="28" dur="500"/>
                                        <p:tgtEl>
                                          <p:spTgt spid="43"/>
                                        </p:tgtEl>
                                      </p:cBhvr>
                                    </p:animEffect>
                                  </p:childTnLst>
                                </p:cTn>
                              </p:par>
                            </p:childTnLst>
                          </p:cTn>
                        </p:par>
                        <p:par>
                          <p:cTn id="29" fill="hold" nodeType="afterGroup">
                            <p:stCondLst>
                              <p:cond delay="1000"/>
                            </p:stCondLst>
                            <p:childTnLst>
                              <p:par>
                                <p:cTn id="30" presetID="22" presetClass="entr" presetSubtype="1" fill="hold" nodeType="after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wipe(up)">
                                      <p:cBhvr>
                                        <p:cTn id="32" dur="500"/>
                                        <p:tgtEl>
                                          <p:spTgt spid="2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wipe(left)">
                                      <p:cBhvr>
                                        <p:cTn id="37" dur="500"/>
                                        <p:tgtEl>
                                          <p:spTgt spid="47"/>
                                        </p:tgtEl>
                                      </p:cBhvr>
                                    </p:animEffect>
                                  </p:childTnLst>
                                </p:cTn>
                              </p:par>
                            </p:childTnLst>
                          </p:cTn>
                        </p:par>
                        <p:par>
                          <p:cTn id="38" fill="hold" nodeType="afterGroup">
                            <p:stCondLst>
                              <p:cond delay="500"/>
                            </p:stCondLst>
                            <p:childTnLst>
                              <p:par>
                                <p:cTn id="39" presetID="22" presetClass="entr" presetSubtype="1" fill="hold" nodeType="after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wipe(up)">
                                      <p:cBhvr>
                                        <p:cTn id="41" dur="500"/>
                                        <p:tgtEl>
                                          <p:spTgt spid="50"/>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51"/>
                                        </p:tgtEl>
                                        <p:attrNameLst>
                                          <p:attrName>style.visibility</p:attrName>
                                        </p:attrNameLst>
                                      </p:cBhvr>
                                      <p:to>
                                        <p:strVal val="visible"/>
                                      </p:to>
                                    </p:set>
                                    <p:animEffect transition="in" filter="wipe(left)">
                                      <p:cBhvr>
                                        <p:cTn id="45" dur="500"/>
                                        <p:tgtEl>
                                          <p:spTgt spid="51"/>
                                        </p:tgtEl>
                                      </p:cBhvr>
                                    </p:animEffect>
                                  </p:childTnLst>
                                </p:cTn>
                              </p:par>
                            </p:childTnLst>
                          </p:cTn>
                        </p:par>
                        <p:par>
                          <p:cTn id="46" fill="hold">
                            <p:stCondLst>
                              <p:cond delay="1500"/>
                            </p:stCondLst>
                            <p:childTnLst>
                              <p:par>
                                <p:cTn id="47" presetID="22" presetClass="entr" presetSubtype="8" fill="hold" grpId="0" nodeType="afterEffect">
                                  <p:stCondLst>
                                    <p:cond delay="0"/>
                                  </p:stCondLst>
                                  <p:childTnLst>
                                    <p:set>
                                      <p:cBhvr>
                                        <p:cTn id="48" dur="1" fill="hold">
                                          <p:stCondLst>
                                            <p:cond delay="0"/>
                                          </p:stCondLst>
                                        </p:cTn>
                                        <p:tgtEl>
                                          <p:spTgt spid="30723">
                                            <p:txEl>
                                              <p:pRg st="0" end="0"/>
                                            </p:txEl>
                                          </p:spTgt>
                                        </p:tgtEl>
                                        <p:attrNameLst>
                                          <p:attrName>style.visibility</p:attrName>
                                        </p:attrNameLst>
                                      </p:cBhvr>
                                      <p:to>
                                        <p:strVal val="visible"/>
                                      </p:to>
                                    </p:set>
                                    <p:animEffect transition="in" filter="wipe(left)">
                                      <p:cBhvr>
                                        <p:cTn id="49" dur="500"/>
                                        <p:tgtEl>
                                          <p:spTgt spid="307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a:lnSpc>
                <a:spcPct val="80000"/>
              </a:lnSpc>
            </a:pPr>
            <a:r>
              <a:rPr lang="en-US" altLang="en-US" sz="4200" smtClean="0"/>
              <a:t>Shifts in the Market Demand Curve</a:t>
            </a:r>
          </a:p>
        </p:txBody>
      </p:sp>
      <p:sp>
        <p:nvSpPr>
          <p:cNvPr id="31747" name="Rectangle 3"/>
          <p:cNvSpPr>
            <a:spLocks noGrp="1" noChangeArrowheads="1"/>
          </p:cNvSpPr>
          <p:nvPr>
            <p:ph idx="1"/>
          </p:nvPr>
        </p:nvSpPr>
        <p:spPr/>
        <p:txBody>
          <a:bodyPr/>
          <a:lstStyle/>
          <a:p>
            <a:r>
              <a:rPr lang="en-US" altLang="en-US" smtClean="0"/>
              <a:t>The market demand </a:t>
            </a:r>
          </a:p>
          <a:p>
            <a:pPr lvl="1"/>
            <a:r>
              <a:rPr lang="en-US" altLang="en-US" smtClean="0"/>
              <a:t>Summarizes the </a:t>
            </a:r>
            <a:r>
              <a:rPr lang="en-US" altLang="en-US" i="1" smtClean="0"/>
              <a:t>ceteris paribus</a:t>
            </a:r>
            <a:r>
              <a:rPr lang="en-US" altLang="en-US" smtClean="0"/>
              <a:t> relationship between </a:t>
            </a:r>
            <a:r>
              <a:rPr lang="en-US" altLang="en-US" i="1" smtClean="0"/>
              <a:t>X</a:t>
            </a:r>
            <a:r>
              <a:rPr lang="en-US" altLang="en-US" smtClean="0"/>
              <a:t> and </a:t>
            </a:r>
            <a:r>
              <a:rPr lang="en-US" altLang="en-US" i="1" smtClean="0"/>
              <a:t>p</a:t>
            </a:r>
            <a:r>
              <a:rPr lang="en-US" altLang="en-US" i="1" baseline="-25000" smtClean="0"/>
              <a:t>x</a:t>
            </a:r>
            <a:endParaRPr lang="en-US" altLang="en-US" smtClean="0"/>
          </a:p>
          <a:p>
            <a:pPr lvl="1">
              <a:lnSpc>
                <a:spcPct val="120000"/>
              </a:lnSpc>
            </a:pPr>
            <a:r>
              <a:rPr lang="en-US" altLang="en-US" smtClean="0"/>
              <a:t>Changes in </a:t>
            </a:r>
            <a:r>
              <a:rPr lang="en-US" altLang="en-US" i="1" smtClean="0"/>
              <a:t>p</a:t>
            </a:r>
            <a:r>
              <a:rPr lang="en-US" altLang="en-US" i="1" baseline="-25000" smtClean="0"/>
              <a:t>x</a:t>
            </a:r>
            <a:r>
              <a:rPr lang="en-US" altLang="en-US" smtClean="0"/>
              <a:t> result in movements along the curve (change in </a:t>
            </a:r>
            <a:r>
              <a:rPr lang="en-US" altLang="en-US" u="sng" smtClean="0"/>
              <a:t>quantity demanded</a:t>
            </a:r>
            <a:r>
              <a:rPr lang="en-US" altLang="en-US" smtClean="0"/>
              <a:t>)</a:t>
            </a:r>
          </a:p>
          <a:p>
            <a:pPr lvl="1">
              <a:lnSpc>
                <a:spcPct val="120000"/>
              </a:lnSpc>
            </a:pPr>
            <a:r>
              <a:rPr lang="en-US" altLang="en-US" smtClean="0"/>
              <a:t>Changes in other determinants of the demand for </a:t>
            </a:r>
            <a:r>
              <a:rPr lang="en-US" altLang="en-US" i="1" smtClean="0"/>
              <a:t>X</a:t>
            </a:r>
            <a:r>
              <a:rPr lang="en-US" altLang="en-US" smtClean="0"/>
              <a:t> cause the demand curve to shift to a new position (change in </a:t>
            </a:r>
            <a:r>
              <a:rPr lang="en-US" altLang="en-US" u="sng" smtClean="0"/>
              <a:t>demand</a:t>
            </a:r>
            <a:r>
              <a:rPr lang="en-US" altLang="en-US" smtClean="0"/>
              <a: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889B927-A1D4-420E-A467-00A105D75F28}" type="slidenum">
              <a:rPr lang="en-US" smtClean="0"/>
              <a:pPr>
                <a:defRPr/>
              </a:pPr>
              <a:t>5</a:t>
            </a:fld>
            <a:endParaRPr lang="en-US"/>
          </a:p>
        </p:txBody>
      </p:sp>
    </p:spTree>
    <p:extLst>
      <p:ext uri="{BB962C8B-B14F-4D97-AF65-F5344CB8AC3E}">
        <p14:creationId xmlns:p14="http://schemas.microsoft.com/office/powerpoint/2010/main" val="34378055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12.1 	Shifts in Market Demand</a:t>
            </a:r>
          </a:p>
        </p:txBody>
      </p:sp>
      <p:sp>
        <p:nvSpPr>
          <p:cNvPr id="3277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2B8460FF-EEFB-4704-8FA3-1D4362890176}" type="slidenum">
              <a:rPr lang="en-US" smtClean="0"/>
              <a:pPr>
                <a:defRPr/>
              </a:pPr>
              <a:t>6</a:t>
            </a:fld>
            <a:endParaRPr lang="en-US" dirty="0"/>
          </a:p>
        </p:txBody>
      </p:sp>
      <p:sp>
        <p:nvSpPr>
          <p:cNvPr id="32771" name="Content Placeholder 2"/>
          <p:cNvSpPr>
            <a:spLocks noGrp="1"/>
          </p:cNvSpPr>
          <p:nvPr>
            <p:ph type="body" sz="quarter" idx="12"/>
          </p:nvPr>
        </p:nvSpPr>
        <p:spPr>
          <a:prstGeom prst="rect">
            <a:avLst/>
          </a:prstGeom>
        </p:spPr>
        <p:txBody>
          <a:bodyPr/>
          <a:lstStyle/>
          <a:p>
            <a:r>
              <a:rPr lang="en-US" altLang="en-US" dirty="0" smtClean="0"/>
              <a:t>Suppose that individual 1’s demand for oranges is given </a:t>
            </a:r>
            <a:r>
              <a:rPr lang="en-US" altLang="en-US" dirty="0" smtClean="0"/>
              <a:t>by: </a:t>
            </a:r>
            <a:r>
              <a:rPr lang="en-US" altLang="en-US" sz="2800" i="1" dirty="0" smtClean="0">
                <a:solidFill>
                  <a:srgbClr val="FF0000"/>
                </a:solidFill>
              </a:rPr>
              <a:t>x</a:t>
            </a:r>
            <a:r>
              <a:rPr lang="en-US" altLang="en-US" sz="2800" baseline="-25000" dirty="0" smtClean="0">
                <a:solidFill>
                  <a:srgbClr val="FF0000"/>
                </a:solidFill>
              </a:rPr>
              <a:t>1</a:t>
            </a:r>
            <a:r>
              <a:rPr lang="en-US" altLang="en-US" sz="2800" dirty="0" smtClean="0">
                <a:solidFill>
                  <a:srgbClr val="FF0000"/>
                </a:solidFill>
              </a:rPr>
              <a:t> </a:t>
            </a:r>
            <a:r>
              <a:rPr lang="en-US" altLang="en-US" sz="2800" dirty="0" smtClean="0">
                <a:solidFill>
                  <a:srgbClr val="FF0000"/>
                </a:solidFill>
              </a:rPr>
              <a:t>= 10 – 2</a:t>
            </a:r>
            <a:r>
              <a:rPr lang="en-US" altLang="en-US" sz="2800" i="1" dirty="0" smtClean="0">
                <a:solidFill>
                  <a:srgbClr val="FF0000"/>
                </a:solidFill>
              </a:rPr>
              <a:t>p</a:t>
            </a:r>
            <a:r>
              <a:rPr lang="en-US" altLang="en-US" sz="2800" i="1" baseline="-25000" dirty="0" smtClean="0">
                <a:solidFill>
                  <a:srgbClr val="FF0000"/>
                </a:solidFill>
              </a:rPr>
              <a:t>x</a:t>
            </a:r>
            <a:r>
              <a:rPr lang="en-US" altLang="en-US" sz="2800" dirty="0" smtClean="0">
                <a:solidFill>
                  <a:srgbClr val="FF0000"/>
                </a:solidFill>
              </a:rPr>
              <a:t> + 0.1</a:t>
            </a:r>
            <a:r>
              <a:rPr lang="en-US" altLang="en-US" sz="2800" i="1" dirty="0" smtClean="0">
                <a:solidFill>
                  <a:srgbClr val="FF0000"/>
                </a:solidFill>
                <a:latin typeface="Verdana" pitchFamily="34" charset="0"/>
              </a:rPr>
              <a:t>I</a:t>
            </a:r>
            <a:r>
              <a:rPr lang="en-US" altLang="en-US" sz="2800" baseline="-25000" dirty="0" smtClean="0">
                <a:solidFill>
                  <a:srgbClr val="FF0000"/>
                </a:solidFill>
              </a:rPr>
              <a:t>1</a:t>
            </a:r>
            <a:r>
              <a:rPr lang="en-US" altLang="en-US" sz="2800" dirty="0" smtClean="0">
                <a:solidFill>
                  <a:srgbClr val="FF0000"/>
                </a:solidFill>
              </a:rPr>
              <a:t> + 0.5</a:t>
            </a:r>
            <a:r>
              <a:rPr lang="en-US" altLang="en-US" sz="2800" i="1" dirty="0" smtClean="0">
                <a:solidFill>
                  <a:srgbClr val="FF0000"/>
                </a:solidFill>
              </a:rPr>
              <a:t>p</a:t>
            </a:r>
            <a:r>
              <a:rPr lang="en-US" altLang="en-US" sz="2800" i="1" baseline="-25000" dirty="0" smtClean="0">
                <a:solidFill>
                  <a:srgbClr val="FF0000"/>
                </a:solidFill>
              </a:rPr>
              <a:t>y</a:t>
            </a:r>
            <a:endParaRPr lang="en-US" altLang="en-US" sz="2800" dirty="0" smtClean="0">
              <a:solidFill>
                <a:srgbClr val="FF0000"/>
              </a:solidFill>
            </a:endParaRPr>
          </a:p>
          <a:p>
            <a:pPr lvl="1"/>
            <a:r>
              <a:rPr lang="en-US" altLang="en-US" dirty="0" smtClean="0"/>
              <a:t> </a:t>
            </a:r>
            <a:r>
              <a:rPr lang="en-US" altLang="en-US" i="1" dirty="0" err="1" smtClean="0"/>
              <a:t>p</a:t>
            </a:r>
            <a:r>
              <a:rPr lang="en-US" altLang="en-US" i="1" baseline="-25000" dirty="0" err="1" smtClean="0"/>
              <a:t>x</a:t>
            </a:r>
            <a:r>
              <a:rPr lang="en-US" altLang="en-US" dirty="0" smtClean="0"/>
              <a:t> = price of oranges</a:t>
            </a:r>
          </a:p>
          <a:p>
            <a:pPr lvl="1"/>
            <a:r>
              <a:rPr lang="en-US" altLang="en-US" i="1" dirty="0" smtClean="0"/>
              <a:t>I</a:t>
            </a:r>
            <a:r>
              <a:rPr lang="en-US" altLang="en-US" baseline="-25000" dirty="0" smtClean="0"/>
              <a:t>1</a:t>
            </a:r>
            <a:r>
              <a:rPr lang="en-US" altLang="en-US" dirty="0" smtClean="0"/>
              <a:t> = individual’s 1 income</a:t>
            </a:r>
          </a:p>
          <a:p>
            <a:pPr lvl="1"/>
            <a:r>
              <a:rPr lang="en-US" altLang="en-US" dirty="0"/>
              <a:t> </a:t>
            </a:r>
            <a:r>
              <a:rPr lang="en-US" altLang="en-US" i="1" dirty="0" err="1" smtClean="0"/>
              <a:t>p</a:t>
            </a:r>
            <a:r>
              <a:rPr lang="en-US" altLang="en-US" i="1" baseline="-25000" dirty="0" err="1" smtClean="0"/>
              <a:t>y</a:t>
            </a:r>
            <a:r>
              <a:rPr lang="en-US" altLang="en-US" dirty="0" smtClean="0"/>
              <a:t> = price of grapefruit    </a:t>
            </a:r>
          </a:p>
          <a:p>
            <a:r>
              <a:rPr lang="en-US" altLang="en-US" dirty="0" smtClean="0"/>
              <a:t>and </a:t>
            </a:r>
            <a:r>
              <a:rPr lang="en-US" altLang="en-US" dirty="0" smtClean="0"/>
              <a:t>individual 2’s demand </a:t>
            </a:r>
            <a:r>
              <a:rPr lang="en-US" altLang="en-US" dirty="0" smtClean="0"/>
              <a:t>for oranges is</a:t>
            </a:r>
            <a:endParaRPr lang="en-US" altLang="en-US" dirty="0" smtClean="0"/>
          </a:p>
          <a:p>
            <a:pPr algn="ctr">
              <a:lnSpc>
                <a:spcPct val="110000"/>
              </a:lnSpc>
              <a:buFontTx/>
              <a:buNone/>
            </a:pPr>
            <a:r>
              <a:rPr lang="en-US" altLang="en-US" sz="2800" i="1" dirty="0" smtClean="0">
                <a:solidFill>
                  <a:srgbClr val="FF0000"/>
                </a:solidFill>
              </a:rPr>
              <a:t>x</a:t>
            </a:r>
            <a:r>
              <a:rPr lang="en-US" altLang="en-US" sz="2800" baseline="-25000" dirty="0" smtClean="0">
                <a:solidFill>
                  <a:srgbClr val="FF0000"/>
                </a:solidFill>
              </a:rPr>
              <a:t>2</a:t>
            </a:r>
            <a:r>
              <a:rPr lang="en-US" altLang="en-US" sz="2800" dirty="0" smtClean="0">
                <a:solidFill>
                  <a:srgbClr val="FF0000"/>
                </a:solidFill>
              </a:rPr>
              <a:t> = 17 – </a:t>
            </a:r>
            <a:r>
              <a:rPr lang="en-US" altLang="en-US" sz="2800" i="1" dirty="0" err="1" smtClean="0">
                <a:solidFill>
                  <a:srgbClr val="FF0000"/>
                </a:solidFill>
              </a:rPr>
              <a:t>p</a:t>
            </a:r>
            <a:r>
              <a:rPr lang="en-US" altLang="en-US" sz="2800" i="1" baseline="-25000" dirty="0" err="1" smtClean="0">
                <a:solidFill>
                  <a:srgbClr val="FF0000"/>
                </a:solidFill>
              </a:rPr>
              <a:t>x</a:t>
            </a:r>
            <a:r>
              <a:rPr lang="en-US" altLang="en-US" sz="2800" dirty="0" smtClean="0">
                <a:solidFill>
                  <a:srgbClr val="FF0000"/>
                </a:solidFill>
              </a:rPr>
              <a:t> + 0.05</a:t>
            </a:r>
            <a:r>
              <a:rPr lang="en-US" altLang="en-US" sz="2800" i="1" dirty="0" smtClean="0">
                <a:solidFill>
                  <a:srgbClr val="FF0000"/>
                </a:solidFill>
                <a:latin typeface="Verdana" pitchFamily="34" charset="0"/>
              </a:rPr>
              <a:t>I</a:t>
            </a:r>
            <a:r>
              <a:rPr lang="en-US" altLang="en-US" sz="2800" baseline="-25000" dirty="0" smtClean="0">
                <a:solidFill>
                  <a:srgbClr val="FF0000"/>
                </a:solidFill>
              </a:rPr>
              <a:t>2</a:t>
            </a:r>
            <a:r>
              <a:rPr lang="en-US" altLang="en-US" sz="2800" dirty="0" smtClean="0">
                <a:solidFill>
                  <a:srgbClr val="FF0000"/>
                </a:solidFill>
              </a:rPr>
              <a:t> + 0.5</a:t>
            </a:r>
            <a:r>
              <a:rPr lang="en-US" altLang="en-US" sz="2800" i="1" dirty="0" smtClean="0">
                <a:solidFill>
                  <a:srgbClr val="FF0000"/>
                </a:solidFill>
              </a:rPr>
              <a:t>p</a:t>
            </a:r>
            <a:r>
              <a:rPr lang="en-US" altLang="en-US" sz="2800" i="1" baseline="-25000" dirty="0" smtClean="0">
                <a:solidFill>
                  <a:srgbClr val="FF0000"/>
                </a:solidFill>
              </a:rPr>
              <a:t>y</a:t>
            </a:r>
            <a:endParaRPr lang="en-US" altLang="en-US" sz="2800" dirty="0" smtClean="0">
              <a:solidFill>
                <a:srgbClr val="FF0000"/>
              </a:solidFill>
            </a:endParaRPr>
          </a:p>
          <a:p>
            <a:r>
              <a:rPr lang="en-US" altLang="en-US" dirty="0" smtClean="0"/>
              <a:t>The market demand curve is</a:t>
            </a:r>
          </a:p>
          <a:p>
            <a:pPr algn="ctr">
              <a:lnSpc>
                <a:spcPct val="110000"/>
              </a:lnSpc>
              <a:buFontTx/>
              <a:buNone/>
            </a:pPr>
            <a:r>
              <a:rPr lang="en-US" altLang="en-US" sz="2800" i="1" dirty="0" smtClean="0">
                <a:solidFill>
                  <a:srgbClr val="FF0000"/>
                </a:solidFill>
              </a:rPr>
              <a:t>X (</a:t>
            </a:r>
            <a:r>
              <a:rPr lang="en-US" altLang="en-US" sz="2800" i="1" dirty="0" err="1" smtClean="0">
                <a:solidFill>
                  <a:srgbClr val="FF0000"/>
                </a:solidFill>
              </a:rPr>
              <a:t>p</a:t>
            </a:r>
            <a:r>
              <a:rPr lang="en-US" altLang="en-US" sz="2800" i="1" baseline="-25000" dirty="0" err="1" smtClean="0">
                <a:solidFill>
                  <a:srgbClr val="FF0000"/>
                </a:solidFill>
              </a:rPr>
              <a:t>x</a:t>
            </a:r>
            <a:r>
              <a:rPr lang="en-US" altLang="en-US" sz="2800" dirty="0" smtClean="0">
                <a:solidFill>
                  <a:srgbClr val="FF0000"/>
                </a:solidFill>
              </a:rPr>
              <a:t>, </a:t>
            </a:r>
            <a:r>
              <a:rPr lang="en-US" altLang="en-US" sz="2800" i="1" dirty="0" err="1" smtClean="0">
                <a:solidFill>
                  <a:srgbClr val="FF0000"/>
                </a:solidFill>
              </a:rPr>
              <a:t>p</a:t>
            </a:r>
            <a:r>
              <a:rPr lang="en-US" altLang="en-US" sz="2800" i="1" baseline="-25000" dirty="0" err="1" smtClean="0">
                <a:solidFill>
                  <a:srgbClr val="FF0000"/>
                </a:solidFill>
              </a:rPr>
              <a:t>y</a:t>
            </a:r>
            <a:r>
              <a:rPr lang="en-US" altLang="en-US" sz="2800" dirty="0" smtClean="0">
                <a:solidFill>
                  <a:srgbClr val="FF0000"/>
                </a:solidFill>
              </a:rPr>
              <a:t>,</a:t>
            </a:r>
            <a:r>
              <a:rPr lang="en-US" altLang="en-US" sz="2800" i="1" dirty="0" smtClean="0">
                <a:solidFill>
                  <a:srgbClr val="FF0000"/>
                </a:solidFill>
              </a:rPr>
              <a:t> I</a:t>
            </a:r>
            <a:r>
              <a:rPr lang="en-US" altLang="en-US" sz="2800" i="1" baseline="-25000" dirty="0" smtClean="0">
                <a:solidFill>
                  <a:srgbClr val="FF0000"/>
                </a:solidFill>
              </a:rPr>
              <a:t>1</a:t>
            </a:r>
            <a:r>
              <a:rPr lang="en-US" altLang="en-US" sz="2800" dirty="0" smtClean="0">
                <a:solidFill>
                  <a:srgbClr val="FF0000"/>
                </a:solidFill>
              </a:rPr>
              <a:t>,</a:t>
            </a:r>
            <a:r>
              <a:rPr lang="en-US" altLang="en-US" sz="2800" i="1" dirty="0" smtClean="0">
                <a:solidFill>
                  <a:srgbClr val="FF0000"/>
                </a:solidFill>
              </a:rPr>
              <a:t> I</a:t>
            </a:r>
            <a:r>
              <a:rPr lang="en-US" altLang="en-US" sz="2800" i="1" baseline="-25000" dirty="0" smtClean="0">
                <a:solidFill>
                  <a:srgbClr val="FF0000"/>
                </a:solidFill>
              </a:rPr>
              <a:t>2</a:t>
            </a:r>
            <a:r>
              <a:rPr lang="en-US" altLang="en-US" sz="2800" i="1" dirty="0" smtClean="0">
                <a:solidFill>
                  <a:srgbClr val="FF0000"/>
                </a:solidFill>
              </a:rPr>
              <a:t>)</a:t>
            </a:r>
            <a:r>
              <a:rPr lang="en-US" altLang="en-US" sz="2800" dirty="0" smtClean="0">
                <a:solidFill>
                  <a:srgbClr val="FF0000"/>
                </a:solidFill>
              </a:rPr>
              <a:t> </a:t>
            </a:r>
            <a:r>
              <a:rPr lang="en-US" altLang="en-US" sz="2800" dirty="0" smtClean="0">
                <a:solidFill>
                  <a:srgbClr val="FF0000"/>
                </a:solidFill>
              </a:rPr>
              <a:t>= </a:t>
            </a:r>
            <a:r>
              <a:rPr lang="en-US" altLang="en-US" sz="2800" i="1" dirty="0" smtClean="0">
                <a:solidFill>
                  <a:srgbClr val="FF0000"/>
                </a:solidFill>
              </a:rPr>
              <a:t>x</a:t>
            </a:r>
            <a:r>
              <a:rPr lang="en-US" altLang="en-US" sz="2800" baseline="-25000" dirty="0" smtClean="0">
                <a:solidFill>
                  <a:srgbClr val="FF0000"/>
                </a:solidFill>
              </a:rPr>
              <a:t>1</a:t>
            </a:r>
            <a:r>
              <a:rPr lang="en-US" altLang="en-US" sz="2800" dirty="0" smtClean="0">
                <a:solidFill>
                  <a:srgbClr val="FF0000"/>
                </a:solidFill>
              </a:rPr>
              <a:t> + </a:t>
            </a:r>
            <a:r>
              <a:rPr lang="en-US" altLang="en-US" sz="2800" i="1" dirty="0" smtClean="0">
                <a:solidFill>
                  <a:srgbClr val="FF0000"/>
                </a:solidFill>
              </a:rPr>
              <a:t>x</a:t>
            </a:r>
            <a:r>
              <a:rPr lang="en-US" altLang="en-US" sz="2800" baseline="-25000" dirty="0" smtClean="0">
                <a:solidFill>
                  <a:srgbClr val="FF0000"/>
                </a:solidFill>
              </a:rPr>
              <a:t>2</a:t>
            </a:r>
            <a:r>
              <a:rPr lang="en-US" altLang="en-US" sz="2800" dirty="0" smtClean="0">
                <a:solidFill>
                  <a:srgbClr val="FF0000"/>
                </a:solidFill>
              </a:rPr>
              <a:t> = 27 – 3</a:t>
            </a:r>
            <a:r>
              <a:rPr lang="en-US" altLang="en-US" sz="2800" i="1" dirty="0" smtClean="0">
                <a:solidFill>
                  <a:srgbClr val="FF0000"/>
                </a:solidFill>
              </a:rPr>
              <a:t>p</a:t>
            </a:r>
            <a:r>
              <a:rPr lang="en-US" altLang="en-US" sz="2800" i="1" baseline="-25000" dirty="0" smtClean="0">
                <a:solidFill>
                  <a:srgbClr val="FF0000"/>
                </a:solidFill>
              </a:rPr>
              <a:t>x</a:t>
            </a:r>
            <a:r>
              <a:rPr lang="en-US" altLang="en-US" sz="2800" dirty="0" smtClean="0">
                <a:solidFill>
                  <a:srgbClr val="FF0000"/>
                </a:solidFill>
              </a:rPr>
              <a:t> + 0.1</a:t>
            </a:r>
            <a:r>
              <a:rPr lang="en-US" altLang="en-US" sz="2800" i="1" dirty="0" smtClean="0">
                <a:solidFill>
                  <a:srgbClr val="FF0000"/>
                </a:solidFill>
                <a:latin typeface="Verdana" pitchFamily="34" charset="0"/>
              </a:rPr>
              <a:t>I</a:t>
            </a:r>
            <a:r>
              <a:rPr lang="en-US" altLang="en-US" sz="2800" baseline="-25000" dirty="0" smtClean="0">
                <a:solidFill>
                  <a:srgbClr val="FF0000"/>
                </a:solidFill>
              </a:rPr>
              <a:t>1</a:t>
            </a:r>
            <a:r>
              <a:rPr lang="en-US" altLang="en-US" sz="2800" dirty="0" smtClean="0">
                <a:solidFill>
                  <a:srgbClr val="FF0000"/>
                </a:solidFill>
              </a:rPr>
              <a:t> + 0.05</a:t>
            </a:r>
            <a:r>
              <a:rPr lang="en-US" altLang="en-US" sz="2800" i="1" dirty="0" smtClean="0">
                <a:solidFill>
                  <a:srgbClr val="FF0000"/>
                </a:solidFill>
                <a:latin typeface="Verdana" pitchFamily="34" charset="0"/>
              </a:rPr>
              <a:t>I</a:t>
            </a:r>
            <a:r>
              <a:rPr lang="en-US" altLang="en-US" sz="2800" baseline="-25000" dirty="0" smtClean="0">
                <a:solidFill>
                  <a:srgbClr val="FF0000"/>
                </a:solidFill>
              </a:rPr>
              <a:t>2</a:t>
            </a:r>
            <a:r>
              <a:rPr lang="en-US" altLang="en-US" sz="2800" dirty="0" smtClean="0">
                <a:solidFill>
                  <a:srgbClr val="FF0000"/>
                </a:solidFill>
              </a:rPr>
              <a:t> + </a:t>
            </a:r>
            <a:r>
              <a:rPr lang="en-US" altLang="en-US" sz="2800" i="1" dirty="0" err="1" smtClean="0">
                <a:solidFill>
                  <a:srgbClr val="FF0000"/>
                </a:solidFill>
              </a:rPr>
              <a:t>p</a:t>
            </a:r>
            <a:r>
              <a:rPr lang="en-US" altLang="en-US" sz="2800" i="1" baseline="-25000" dirty="0" err="1" smtClean="0">
                <a:solidFill>
                  <a:srgbClr val="FF0000"/>
                </a:solidFill>
              </a:rPr>
              <a:t>y</a:t>
            </a:r>
            <a:endParaRPr lang="en-US" altLang="en-US" sz="2800" dirty="0" smtClean="0">
              <a:solidFill>
                <a:srgbClr val="FF0000"/>
              </a:solidFill>
            </a:endParaRPr>
          </a:p>
        </p:txBody>
      </p:sp>
    </p:spTree>
    <p:extLst>
      <p:ext uri="{BB962C8B-B14F-4D97-AF65-F5344CB8AC3E}">
        <p14:creationId xmlns:p14="http://schemas.microsoft.com/office/powerpoint/2010/main" val="31817535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12.1 	Shifts in Market Demand</a:t>
            </a:r>
          </a:p>
        </p:txBody>
      </p:sp>
      <p:sp>
        <p:nvSpPr>
          <p:cNvPr id="3277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2B8460FF-EEFB-4704-8FA3-1D4362890176}" type="slidenum">
              <a:rPr lang="en-US" smtClean="0"/>
              <a:pPr>
                <a:defRPr/>
              </a:pPr>
              <a:t>7</a:t>
            </a:fld>
            <a:endParaRPr lang="en-US" dirty="0"/>
          </a:p>
        </p:txBody>
      </p:sp>
      <p:sp>
        <p:nvSpPr>
          <p:cNvPr id="32771" name="Content Placeholder 2"/>
          <p:cNvSpPr>
            <a:spLocks noGrp="1"/>
          </p:cNvSpPr>
          <p:nvPr>
            <p:ph type="body" sz="quarter" idx="12"/>
          </p:nvPr>
        </p:nvSpPr>
        <p:spPr>
          <a:prstGeom prst="rect">
            <a:avLst/>
          </a:prstGeom>
        </p:spPr>
        <p:txBody>
          <a:bodyPr/>
          <a:lstStyle/>
          <a:p>
            <a:r>
              <a:rPr lang="en-US" altLang="en-US" dirty="0" smtClean="0"/>
              <a:t>If </a:t>
            </a:r>
            <a:r>
              <a:rPr lang="en-US" altLang="en-US" i="1" dirty="0" err="1" smtClean="0"/>
              <a:t>p</a:t>
            </a:r>
            <a:r>
              <a:rPr lang="en-US" altLang="en-US" i="1" baseline="-25000" dirty="0" err="1" smtClean="0"/>
              <a:t>y</a:t>
            </a:r>
            <a:r>
              <a:rPr lang="en-US" altLang="en-US" dirty="0" smtClean="0"/>
              <a:t> = 4, </a:t>
            </a:r>
            <a:r>
              <a:rPr lang="en-US" altLang="en-US" i="1" dirty="0" smtClean="0">
                <a:latin typeface="Verdana" pitchFamily="34" charset="0"/>
              </a:rPr>
              <a:t>I</a:t>
            </a:r>
            <a:r>
              <a:rPr lang="en-US" altLang="en-US" baseline="-25000" dirty="0" smtClean="0"/>
              <a:t>1</a:t>
            </a:r>
            <a:r>
              <a:rPr lang="en-US" altLang="en-US" dirty="0" smtClean="0"/>
              <a:t> = 40, and </a:t>
            </a:r>
            <a:r>
              <a:rPr lang="en-US" altLang="en-US" i="1" dirty="0" smtClean="0">
                <a:latin typeface="Verdana" pitchFamily="34" charset="0"/>
              </a:rPr>
              <a:t>I</a:t>
            </a:r>
            <a:r>
              <a:rPr lang="en-US" altLang="en-US" baseline="-25000" dirty="0" smtClean="0"/>
              <a:t>2</a:t>
            </a:r>
            <a:r>
              <a:rPr lang="en-US" altLang="en-US" dirty="0" smtClean="0"/>
              <a:t> = 20, the market demand curve </a:t>
            </a:r>
            <a:r>
              <a:rPr lang="en-US" altLang="en-US" dirty="0" smtClean="0"/>
              <a:t>becomes: </a:t>
            </a:r>
          </a:p>
          <a:p>
            <a:pPr marL="0" indent="0">
              <a:buNone/>
            </a:pPr>
            <a:r>
              <a:rPr lang="en-US" altLang="en-US" i="1" dirty="0">
                <a:solidFill>
                  <a:srgbClr val="FF0000"/>
                </a:solidFill>
              </a:rPr>
              <a:t>	</a:t>
            </a:r>
            <a:r>
              <a:rPr lang="en-US" altLang="en-US" i="1" dirty="0" smtClean="0">
                <a:solidFill>
                  <a:srgbClr val="FF0000"/>
                </a:solidFill>
              </a:rPr>
              <a:t>X</a:t>
            </a:r>
            <a:r>
              <a:rPr lang="en-US" altLang="en-US" dirty="0" smtClean="0">
                <a:solidFill>
                  <a:srgbClr val="FF0000"/>
                </a:solidFill>
              </a:rPr>
              <a:t> </a:t>
            </a:r>
            <a:r>
              <a:rPr lang="en-US" altLang="en-US" dirty="0" smtClean="0">
                <a:solidFill>
                  <a:srgbClr val="FF0000"/>
                </a:solidFill>
              </a:rPr>
              <a:t>= 27 – 3</a:t>
            </a:r>
            <a:r>
              <a:rPr lang="en-US" altLang="en-US" i="1" dirty="0" smtClean="0">
                <a:solidFill>
                  <a:srgbClr val="FF0000"/>
                </a:solidFill>
              </a:rPr>
              <a:t>p</a:t>
            </a:r>
            <a:r>
              <a:rPr lang="en-US" altLang="en-US" i="1" baseline="-25000" dirty="0" smtClean="0">
                <a:solidFill>
                  <a:srgbClr val="FF0000"/>
                </a:solidFill>
              </a:rPr>
              <a:t>x</a:t>
            </a:r>
            <a:r>
              <a:rPr lang="en-US" altLang="en-US" dirty="0" smtClean="0">
                <a:solidFill>
                  <a:srgbClr val="FF0000"/>
                </a:solidFill>
              </a:rPr>
              <a:t> + 4 + 1 + 4 = 36 – 3</a:t>
            </a:r>
            <a:r>
              <a:rPr lang="en-US" altLang="en-US" i="1" dirty="0" smtClean="0">
                <a:solidFill>
                  <a:srgbClr val="FF0000"/>
                </a:solidFill>
              </a:rPr>
              <a:t>p</a:t>
            </a:r>
            <a:r>
              <a:rPr lang="en-US" altLang="en-US" i="1" baseline="-25000" dirty="0" smtClean="0">
                <a:solidFill>
                  <a:srgbClr val="FF0000"/>
                </a:solidFill>
              </a:rPr>
              <a:t>x</a:t>
            </a:r>
            <a:endParaRPr lang="en-US" altLang="en-US" dirty="0" smtClean="0">
              <a:solidFill>
                <a:srgbClr val="FF0000"/>
              </a:solidFill>
            </a:endParaRPr>
          </a:p>
          <a:p>
            <a:r>
              <a:rPr lang="en-US" altLang="en-US" dirty="0"/>
              <a:t>If </a:t>
            </a:r>
            <a:r>
              <a:rPr lang="en-US" altLang="en-US" i="1" dirty="0" err="1"/>
              <a:t>p</a:t>
            </a:r>
            <a:r>
              <a:rPr lang="en-US" altLang="en-US" i="1" baseline="-25000" dirty="0" err="1"/>
              <a:t>y</a:t>
            </a:r>
            <a:r>
              <a:rPr lang="en-US" altLang="en-US" dirty="0"/>
              <a:t> rises to 6, the market demand curve shifts outward </a:t>
            </a:r>
            <a:r>
              <a:rPr lang="en-US" altLang="en-US" dirty="0" smtClean="0"/>
              <a:t>to: </a:t>
            </a:r>
            <a:r>
              <a:rPr lang="en-US" altLang="en-US" i="1" dirty="0" smtClean="0">
                <a:solidFill>
                  <a:srgbClr val="FF0000"/>
                </a:solidFill>
              </a:rPr>
              <a:t>X</a:t>
            </a:r>
            <a:r>
              <a:rPr lang="en-US" altLang="en-US" dirty="0" smtClean="0">
                <a:solidFill>
                  <a:srgbClr val="FF0000"/>
                </a:solidFill>
              </a:rPr>
              <a:t> </a:t>
            </a:r>
            <a:r>
              <a:rPr lang="en-US" altLang="en-US" dirty="0">
                <a:solidFill>
                  <a:srgbClr val="FF0000"/>
                </a:solidFill>
              </a:rPr>
              <a:t>= 27 – 3</a:t>
            </a:r>
            <a:r>
              <a:rPr lang="en-US" altLang="en-US" i="1" dirty="0">
                <a:solidFill>
                  <a:srgbClr val="FF0000"/>
                </a:solidFill>
              </a:rPr>
              <a:t>p</a:t>
            </a:r>
            <a:r>
              <a:rPr lang="en-US" altLang="en-US" i="1" baseline="-25000" dirty="0">
                <a:solidFill>
                  <a:srgbClr val="FF0000"/>
                </a:solidFill>
              </a:rPr>
              <a:t>x</a:t>
            </a:r>
            <a:r>
              <a:rPr lang="en-US" altLang="en-US" dirty="0">
                <a:solidFill>
                  <a:srgbClr val="FF0000"/>
                </a:solidFill>
              </a:rPr>
              <a:t> + 4 + 1 + 6 = 38 – 3</a:t>
            </a:r>
            <a:r>
              <a:rPr lang="en-US" altLang="en-US" i="1" dirty="0">
                <a:solidFill>
                  <a:srgbClr val="FF0000"/>
                </a:solidFill>
              </a:rPr>
              <a:t>p</a:t>
            </a:r>
            <a:r>
              <a:rPr lang="en-US" altLang="en-US" i="1" baseline="-25000" dirty="0">
                <a:solidFill>
                  <a:srgbClr val="FF0000"/>
                </a:solidFill>
              </a:rPr>
              <a:t>x</a:t>
            </a:r>
            <a:endParaRPr lang="en-US" altLang="en-US" dirty="0">
              <a:solidFill>
                <a:srgbClr val="FF0000"/>
              </a:solidFill>
            </a:endParaRPr>
          </a:p>
          <a:p>
            <a:pPr lvl="1"/>
            <a:r>
              <a:rPr lang="en-US" altLang="en-US" dirty="0"/>
              <a:t>Note that </a:t>
            </a:r>
            <a:r>
              <a:rPr lang="en-US" altLang="en-US" i="1" dirty="0"/>
              <a:t>X</a:t>
            </a:r>
            <a:r>
              <a:rPr lang="en-US" altLang="en-US" dirty="0"/>
              <a:t> and </a:t>
            </a:r>
            <a:r>
              <a:rPr lang="en-US" altLang="en-US" i="1" dirty="0"/>
              <a:t>Y</a:t>
            </a:r>
            <a:r>
              <a:rPr lang="en-US" altLang="en-US" dirty="0"/>
              <a:t> are substitutes</a:t>
            </a:r>
          </a:p>
          <a:p>
            <a:pPr>
              <a:lnSpc>
                <a:spcPct val="110000"/>
              </a:lnSpc>
            </a:pPr>
            <a:r>
              <a:rPr lang="en-US" altLang="en-US" sz="3000" dirty="0"/>
              <a:t>If </a:t>
            </a:r>
            <a:r>
              <a:rPr lang="en-US" altLang="en-US" sz="3000" i="1" dirty="0">
                <a:latin typeface="Verdana" pitchFamily="34" charset="0"/>
              </a:rPr>
              <a:t>I</a:t>
            </a:r>
            <a:r>
              <a:rPr lang="en-US" altLang="en-US" sz="3000" baseline="-25000" dirty="0"/>
              <a:t>1</a:t>
            </a:r>
            <a:r>
              <a:rPr lang="en-US" altLang="en-US" sz="3000" dirty="0"/>
              <a:t> fell to 30 while </a:t>
            </a:r>
            <a:r>
              <a:rPr lang="en-US" altLang="en-US" sz="3000" i="1" dirty="0">
                <a:latin typeface="Verdana" pitchFamily="34" charset="0"/>
              </a:rPr>
              <a:t>I</a:t>
            </a:r>
            <a:r>
              <a:rPr lang="en-US" altLang="en-US" sz="3000" baseline="-25000" dirty="0"/>
              <a:t>2</a:t>
            </a:r>
            <a:r>
              <a:rPr lang="en-US" altLang="en-US" sz="3000" dirty="0"/>
              <a:t> rose to 30, the market demand would shift inward to</a:t>
            </a:r>
          </a:p>
          <a:p>
            <a:pPr algn="ctr">
              <a:lnSpc>
                <a:spcPct val="110000"/>
              </a:lnSpc>
              <a:buFontTx/>
              <a:buNone/>
            </a:pPr>
            <a:r>
              <a:rPr lang="en-US" altLang="en-US" sz="2800" i="1" dirty="0">
                <a:solidFill>
                  <a:srgbClr val="FF0000"/>
                </a:solidFill>
              </a:rPr>
              <a:t>X</a:t>
            </a:r>
            <a:r>
              <a:rPr lang="en-US" altLang="en-US" sz="2800" dirty="0">
                <a:solidFill>
                  <a:srgbClr val="FF0000"/>
                </a:solidFill>
              </a:rPr>
              <a:t> = 27 – 3</a:t>
            </a:r>
            <a:r>
              <a:rPr lang="en-US" altLang="en-US" sz="2800" i="1" dirty="0">
                <a:solidFill>
                  <a:srgbClr val="FF0000"/>
                </a:solidFill>
              </a:rPr>
              <a:t>p</a:t>
            </a:r>
            <a:r>
              <a:rPr lang="en-US" altLang="en-US" sz="2800" i="1" baseline="-25000" dirty="0">
                <a:solidFill>
                  <a:srgbClr val="FF0000"/>
                </a:solidFill>
              </a:rPr>
              <a:t>x</a:t>
            </a:r>
            <a:r>
              <a:rPr lang="en-US" altLang="en-US" sz="2800" dirty="0">
                <a:solidFill>
                  <a:srgbClr val="FF0000"/>
                </a:solidFill>
              </a:rPr>
              <a:t> + 3 + 1.5 + 4 = 35.5 – 3</a:t>
            </a:r>
            <a:r>
              <a:rPr lang="en-US" altLang="en-US" sz="2800" i="1" dirty="0">
                <a:solidFill>
                  <a:srgbClr val="FF0000"/>
                </a:solidFill>
              </a:rPr>
              <a:t>p</a:t>
            </a:r>
            <a:r>
              <a:rPr lang="en-US" altLang="en-US" sz="2800" i="1" baseline="-25000" dirty="0">
                <a:solidFill>
                  <a:srgbClr val="FF0000"/>
                </a:solidFill>
              </a:rPr>
              <a:t>x</a:t>
            </a:r>
            <a:endParaRPr lang="en-US" altLang="en-US" sz="2800" dirty="0">
              <a:solidFill>
                <a:srgbClr val="FF0000"/>
              </a:solidFill>
            </a:endParaRPr>
          </a:p>
          <a:p>
            <a:pPr lvl="1">
              <a:lnSpc>
                <a:spcPct val="120000"/>
              </a:lnSpc>
            </a:pPr>
            <a:r>
              <a:rPr lang="en-US" altLang="en-US" dirty="0"/>
              <a:t>Note that </a:t>
            </a:r>
            <a:r>
              <a:rPr lang="en-US" altLang="en-US" i="1" dirty="0"/>
              <a:t>X</a:t>
            </a:r>
            <a:r>
              <a:rPr lang="en-US" altLang="en-US" dirty="0"/>
              <a:t> is a normal good for both </a:t>
            </a:r>
            <a:r>
              <a:rPr lang="en-US" altLang="en-US" dirty="0" smtClean="0"/>
              <a:t>buyers</a:t>
            </a:r>
            <a:endParaRPr lang="en-US" altLang="en-US" dirty="0">
              <a:solidFill>
                <a:srgbClr val="5858D4"/>
              </a:solidFill>
            </a:endParaRPr>
          </a:p>
        </p:txBody>
      </p:sp>
    </p:spTree>
    <p:extLst>
      <p:ext uri="{BB962C8B-B14F-4D97-AF65-F5344CB8AC3E}">
        <p14:creationId xmlns:p14="http://schemas.microsoft.com/office/powerpoint/2010/main" val="15994143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en-US" smtClean="0"/>
              <a:t>Generalizations</a:t>
            </a:r>
          </a:p>
        </p:txBody>
      </p:sp>
      <p:sp>
        <p:nvSpPr>
          <p:cNvPr id="34819" name="Rectangle 3"/>
          <p:cNvSpPr>
            <a:spLocks noGrp="1" noChangeArrowheads="1"/>
          </p:cNvSpPr>
          <p:nvPr>
            <p:ph idx="1"/>
          </p:nvPr>
        </p:nvSpPr>
        <p:spPr/>
        <p:txBody>
          <a:bodyPr/>
          <a:lstStyle/>
          <a:p>
            <a:r>
              <a:rPr lang="en-US" altLang="en-US" dirty="0" smtClean="0"/>
              <a:t>Suppose that there are </a:t>
            </a:r>
            <a:r>
              <a:rPr lang="en-US" altLang="en-US" i="1" dirty="0" smtClean="0"/>
              <a:t>n</a:t>
            </a:r>
            <a:r>
              <a:rPr lang="en-US" altLang="en-US" dirty="0" smtClean="0"/>
              <a:t> goods </a:t>
            </a:r>
          </a:p>
          <a:p>
            <a:pPr lvl="1"/>
            <a:r>
              <a:rPr lang="en-US" altLang="en-US" i="1" dirty="0" smtClean="0"/>
              <a:t>x</a:t>
            </a:r>
            <a:r>
              <a:rPr lang="en-US" altLang="en-US" i="1" baseline="-25000" dirty="0" smtClean="0"/>
              <a:t>i</a:t>
            </a:r>
            <a:r>
              <a:rPr lang="en-US" altLang="en-US" dirty="0" smtClean="0"/>
              <a:t>, </a:t>
            </a:r>
            <a:r>
              <a:rPr lang="en-US" altLang="en-US" i="1" dirty="0" err="1" smtClean="0"/>
              <a:t>i</a:t>
            </a:r>
            <a:r>
              <a:rPr lang="en-US" altLang="en-US" i="1" dirty="0" smtClean="0"/>
              <a:t> </a:t>
            </a:r>
            <a:r>
              <a:rPr lang="en-US" altLang="en-US" dirty="0" smtClean="0"/>
              <a:t>= 1,</a:t>
            </a:r>
            <a:r>
              <a:rPr lang="en-US" altLang="en-US" i="1" dirty="0" smtClean="0"/>
              <a:t>n</a:t>
            </a:r>
          </a:p>
          <a:p>
            <a:pPr lvl="1"/>
            <a:r>
              <a:rPr lang="en-US" altLang="en-US" dirty="0" smtClean="0"/>
              <a:t>With prices </a:t>
            </a:r>
            <a:r>
              <a:rPr lang="en-US" altLang="en-US" i="1" dirty="0" smtClean="0"/>
              <a:t>p</a:t>
            </a:r>
            <a:r>
              <a:rPr lang="en-US" altLang="en-US" i="1" baseline="-25000" dirty="0" smtClean="0"/>
              <a:t>i</a:t>
            </a:r>
            <a:r>
              <a:rPr lang="en-US" altLang="en-US" dirty="0" smtClean="0"/>
              <a:t>,</a:t>
            </a:r>
            <a:r>
              <a:rPr lang="en-US" altLang="en-US" i="1" dirty="0" smtClean="0"/>
              <a:t> </a:t>
            </a:r>
            <a:r>
              <a:rPr lang="en-US" altLang="en-US" i="1" dirty="0" err="1" smtClean="0"/>
              <a:t>i</a:t>
            </a:r>
            <a:r>
              <a:rPr lang="en-US" altLang="en-US" dirty="0" smtClean="0"/>
              <a:t> = 1,</a:t>
            </a:r>
            <a:r>
              <a:rPr lang="en-US" altLang="en-US" i="1" dirty="0" smtClean="0"/>
              <a:t>n</a:t>
            </a:r>
            <a:endParaRPr lang="en-US" altLang="en-US" dirty="0" smtClean="0"/>
          </a:p>
          <a:p>
            <a:pPr>
              <a:lnSpc>
                <a:spcPct val="110000"/>
              </a:lnSpc>
            </a:pPr>
            <a:r>
              <a:rPr lang="en-US" altLang="en-US" dirty="0" smtClean="0"/>
              <a:t>Assume that there are </a:t>
            </a:r>
            <a:r>
              <a:rPr lang="en-US" altLang="en-US" i="1" dirty="0" smtClean="0"/>
              <a:t>m</a:t>
            </a:r>
            <a:r>
              <a:rPr lang="en-US" altLang="en-US" dirty="0" smtClean="0"/>
              <a:t> individuals in the economy</a:t>
            </a:r>
          </a:p>
          <a:p>
            <a:pPr lvl="1">
              <a:lnSpc>
                <a:spcPct val="110000"/>
              </a:lnSpc>
            </a:pPr>
            <a:r>
              <a:rPr lang="en-US" altLang="en-US" dirty="0" smtClean="0"/>
              <a:t>The </a:t>
            </a:r>
            <a:r>
              <a:rPr lang="en-US" altLang="en-US" i="1" dirty="0" smtClean="0"/>
              <a:t>j </a:t>
            </a:r>
            <a:r>
              <a:rPr lang="en-US" altLang="en-US" dirty="0" err="1" smtClean="0"/>
              <a:t>th’s</a:t>
            </a:r>
            <a:r>
              <a:rPr lang="en-US" altLang="en-US" dirty="0" smtClean="0"/>
              <a:t> demand for the </a:t>
            </a:r>
            <a:r>
              <a:rPr lang="en-US" altLang="en-US" i="1" dirty="0" err="1" smtClean="0"/>
              <a:t>i</a:t>
            </a:r>
            <a:r>
              <a:rPr lang="en-US" altLang="en-US" i="1" dirty="0" smtClean="0"/>
              <a:t> </a:t>
            </a:r>
            <a:r>
              <a:rPr lang="en-US" altLang="en-US" dirty="0" err="1" smtClean="0"/>
              <a:t>th</a:t>
            </a:r>
            <a:r>
              <a:rPr lang="en-US" altLang="en-US" dirty="0" smtClean="0"/>
              <a:t> good will depend on all prices and on </a:t>
            </a:r>
            <a:r>
              <a:rPr lang="en-US" altLang="en-US" i="1" dirty="0" err="1" smtClean="0">
                <a:latin typeface="Verdana" pitchFamily="34" charset="0"/>
              </a:rPr>
              <a:t>I</a:t>
            </a:r>
            <a:r>
              <a:rPr lang="en-US" altLang="en-US" i="1" baseline="-25000" dirty="0" err="1" smtClean="0"/>
              <a:t>j</a:t>
            </a:r>
            <a:endParaRPr lang="en-US" altLang="en-US" dirty="0" smtClean="0"/>
          </a:p>
          <a:p>
            <a:pPr algn="ctr">
              <a:lnSpc>
                <a:spcPct val="110000"/>
              </a:lnSpc>
              <a:buFontTx/>
              <a:buNone/>
            </a:pPr>
            <a:r>
              <a:rPr lang="en-US" altLang="en-US" sz="3200" i="1" dirty="0" smtClean="0">
                <a:solidFill>
                  <a:srgbClr val="FF0000"/>
                </a:solidFill>
              </a:rPr>
              <a:t> </a:t>
            </a:r>
            <a:r>
              <a:rPr lang="en-US" altLang="en-US" sz="3200" i="1" dirty="0" err="1" smtClean="0">
                <a:solidFill>
                  <a:srgbClr val="FF0000"/>
                </a:solidFill>
              </a:rPr>
              <a:t>x</a:t>
            </a:r>
            <a:r>
              <a:rPr lang="en-US" altLang="en-US" sz="3200" i="1" baseline="-25000" dirty="0" err="1" smtClean="0">
                <a:solidFill>
                  <a:srgbClr val="FF0000"/>
                </a:solidFill>
              </a:rPr>
              <a:t>i,j</a:t>
            </a:r>
            <a:r>
              <a:rPr lang="en-US" altLang="en-US" sz="3200" dirty="0" smtClean="0">
                <a:solidFill>
                  <a:srgbClr val="FF0000"/>
                </a:solidFill>
              </a:rPr>
              <a:t> </a:t>
            </a:r>
            <a:r>
              <a:rPr lang="en-US" altLang="en-US" sz="3200" dirty="0" smtClean="0">
                <a:solidFill>
                  <a:srgbClr val="FF0000"/>
                </a:solidFill>
              </a:rPr>
              <a:t>= </a:t>
            </a:r>
            <a:r>
              <a:rPr lang="en-US" altLang="en-US" sz="3200" i="1" dirty="0" err="1" smtClean="0">
                <a:solidFill>
                  <a:srgbClr val="FF0000"/>
                </a:solidFill>
              </a:rPr>
              <a:t>x</a:t>
            </a:r>
            <a:r>
              <a:rPr lang="en-US" altLang="en-US" sz="3200" i="1" baseline="-25000" dirty="0" err="1" smtClean="0">
                <a:solidFill>
                  <a:srgbClr val="FF0000"/>
                </a:solidFill>
              </a:rPr>
              <a:t>i,j</a:t>
            </a:r>
            <a:r>
              <a:rPr lang="en-US" altLang="en-US" sz="3200" dirty="0" smtClean="0">
                <a:solidFill>
                  <a:srgbClr val="FF0000"/>
                </a:solidFill>
              </a:rPr>
              <a:t>(</a:t>
            </a:r>
            <a:r>
              <a:rPr lang="en-US" altLang="en-US" sz="3200" i="1" dirty="0" smtClean="0">
                <a:solidFill>
                  <a:srgbClr val="FF0000"/>
                </a:solidFill>
              </a:rPr>
              <a:t>p</a:t>
            </a:r>
            <a:r>
              <a:rPr lang="en-US" altLang="en-US" sz="3200" baseline="-25000" dirty="0" smtClean="0">
                <a:solidFill>
                  <a:srgbClr val="FF0000"/>
                </a:solidFill>
              </a:rPr>
              <a:t>1</a:t>
            </a:r>
            <a:r>
              <a:rPr lang="en-US" altLang="en-US" sz="3200" dirty="0" smtClean="0">
                <a:solidFill>
                  <a:srgbClr val="FF0000"/>
                </a:solidFill>
              </a:rPr>
              <a:t>,…,</a:t>
            </a:r>
            <a:r>
              <a:rPr lang="en-US" altLang="en-US" sz="3200" i="1" dirty="0" err="1" smtClean="0">
                <a:solidFill>
                  <a:srgbClr val="FF0000"/>
                </a:solidFill>
              </a:rPr>
              <a:t>p</a:t>
            </a:r>
            <a:r>
              <a:rPr lang="en-US" altLang="en-US" sz="3200" i="1" baseline="-25000" dirty="0" err="1" smtClean="0">
                <a:solidFill>
                  <a:srgbClr val="FF0000"/>
                </a:solidFill>
              </a:rPr>
              <a:t>n</a:t>
            </a:r>
            <a:r>
              <a:rPr lang="en-US" altLang="en-US" sz="3200" dirty="0" smtClean="0">
                <a:solidFill>
                  <a:srgbClr val="FF0000"/>
                </a:solidFill>
              </a:rPr>
              <a:t>, </a:t>
            </a:r>
            <a:r>
              <a:rPr lang="en-US" altLang="en-US" sz="3200" i="1" dirty="0" err="1" smtClean="0">
                <a:solidFill>
                  <a:srgbClr val="FF0000"/>
                </a:solidFill>
                <a:latin typeface="Verdana" pitchFamily="34" charset="0"/>
              </a:rPr>
              <a:t>I</a:t>
            </a:r>
            <a:r>
              <a:rPr lang="en-US" altLang="en-US" sz="3200" i="1" baseline="-25000" dirty="0" err="1" smtClean="0">
                <a:solidFill>
                  <a:srgbClr val="FF0000"/>
                </a:solidFill>
              </a:rPr>
              <a:t>j</a:t>
            </a:r>
            <a:r>
              <a:rPr lang="en-US" altLang="en-US" sz="3200" dirty="0" smtClean="0">
                <a:solidFill>
                  <a:srgbClr val="FF0000"/>
                </a:solidFill>
              </a:rPr>
              <a:t>) </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CD39C55-E073-4409-974C-1ABA33A71771}" type="slidenum">
              <a:rPr lang="en-US" smtClean="0"/>
              <a:pPr>
                <a:defRPr/>
              </a:pPr>
              <a:t>8</a:t>
            </a:fld>
            <a:endParaRPr lang="en-US"/>
          </a:p>
        </p:txBody>
      </p:sp>
    </p:spTree>
    <p:extLst>
      <p:ext uri="{BB962C8B-B14F-4D97-AF65-F5344CB8AC3E}">
        <p14:creationId xmlns:p14="http://schemas.microsoft.com/office/powerpoint/2010/main" val="28333341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r>
              <a:rPr lang="en-US" altLang="en-US" smtClean="0"/>
              <a:t>Generalizations</a:t>
            </a:r>
          </a:p>
        </p:txBody>
      </p:sp>
      <p:sp>
        <p:nvSpPr>
          <p:cNvPr id="2052" name="Rectangle 3"/>
          <p:cNvSpPr>
            <a:spLocks noGrp="1" noChangeArrowheads="1"/>
          </p:cNvSpPr>
          <p:nvPr>
            <p:ph idx="1"/>
          </p:nvPr>
        </p:nvSpPr>
        <p:spPr/>
        <p:txBody>
          <a:bodyPr/>
          <a:lstStyle/>
          <a:p>
            <a:r>
              <a:rPr lang="en-US" altLang="en-US" smtClean="0"/>
              <a:t>The market demand function for </a:t>
            </a:r>
            <a:r>
              <a:rPr lang="en-US" altLang="en-US" i="1" smtClean="0"/>
              <a:t>x</a:t>
            </a:r>
            <a:r>
              <a:rPr lang="en-US" altLang="en-US" i="1" baseline="-25000" smtClean="0"/>
              <a:t>i</a:t>
            </a:r>
            <a:r>
              <a:rPr lang="en-US" altLang="en-US" smtClean="0"/>
              <a:t> </a:t>
            </a:r>
          </a:p>
          <a:p>
            <a:pPr lvl="1"/>
            <a:r>
              <a:rPr lang="en-US" altLang="en-US" smtClean="0"/>
              <a:t>Sum of each individual’s demand for that good</a:t>
            </a:r>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638F169E-44D3-47BA-891A-790E27F78465}" type="slidenum">
              <a:rPr lang="en-US" smtClean="0"/>
              <a:pPr>
                <a:defRPr/>
              </a:pPr>
              <a:t>9</a:t>
            </a:fld>
            <a:endParaRPr lang="en-US"/>
          </a:p>
        </p:txBody>
      </p:sp>
      <p:graphicFrame>
        <p:nvGraphicFramePr>
          <p:cNvPr id="825348" name="Object 2"/>
          <p:cNvGraphicFramePr>
            <a:graphicFrameLocks noChangeAspect="1"/>
          </p:cNvGraphicFramePr>
          <p:nvPr>
            <p:extLst>
              <p:ext uri="{D42A27DB-BD31-4B8C-83A1-F6EECF244321}">
                <p14:modId xmlns:p14="http://schemas.microsoft.com/office/powerpoint/2010/main" val="2708679650"/>
              </p:ext>
            </p:extLst>
          </p:nvPr>
        </p:nvGraphicFramePr>
        <p:xfrm>
          <a:off x="850900" y="2878138"/>
          <a:ext cx="7545388" cy="1241425"/>
        </p:xfrm>
        <a:graphic>
          <a:graphicData uri="http://schemas.openxmlformats.org/presentationml/2006/ole">
            <mc:AlternateContent xmlns:mc="http://schemas.openxmlformats.org/markup-compatibility/2006">
              <mc:Choice xmlns:v="urn:schemas-microsoft-com:vml" Requires="v">
                <p:oleObj spid="_x0000_s246798" name="Equation" r:id="rId3" imgW="2692080" imgH="444240" progId="Equation.DSMT4">
                  <p:embed/>
                </p:oleObj>
              </mc:Choice>
              <mc:Fallback>
                <p:oleObj name="Equation" r:id="rId3" imgW="2692080" imgH="444240" progId="Equation.DSMT4">
                  <p:embed/>
                  <p:pic>
                    <p:nvPicPr>
                      <p:cNvPr id="0" name=""/>
                      <p:cNvPicPr>
                        <a:picLocks noChangeAspect="1" noChangeArrowheads="1"/>
                      </p:cNvPicPr>
                      <p:nvPr/>
                    </p:nvPicPr>
                    <p:blipFill>
                      <a:blip r:embed="rId4"/>
                      <a:srcRect/>
                      <a:stretch>
                        <a:fillRect/>
                      </a:stretch>
                    </p:blipFill>
                    <p:spPr bwMode="auto">
                      <a:xfrm>
                        <a:off x="850900" y="2878138"/>
                        <a:ext cx="7545388" cy="1241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5349" name="Rectangle 5"/>
          <p:cNvSpPr>
            <a:spLocks noChangeArrowheads="1"/>
          </p:cNvSpPr>
          <p:nvPr/>
        </p:nvSpPr>
        <p:spPr bwMode="auto">
          <a:xfrm>
            <a:off x="925513" y="4495800"/>
            <a:ext cx="7761287"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spcBef>
                <a:spcPct val="20000"/>
              </a:spcBef>
              <a:buFontTx/>
              <a:buChar char="•"/>
            </a:pPr>
            <a:r>
              <a:rPr lang="en-US" altLang="en-US" sz="3200"/>
              <a:t>The market demand function depends on the prices of all goods and the incomes and preferences of all buyers</a:t>
            </a:r>
          </a:p>
        </p:txBody>
      </p:sp>
    </p:spTree>
    <p:extLst>
      <p:ext uri="{BB962C8B-B14F-4D97-AF65-F5344CB8AC3E}">
        <p14:creationId xmlns:p14="http://schemas.microsoft.com/office/powerpoint/2010/main" val="10436536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825348"/>
                                        </p:tgtEl>
                                        <p:attrNameLst>
                                          <p:attrName>style.visibility</p:attrName>
                                        </p:attrNameLst>
                                      </p:cBhvr>
                                      <p:to>
                                        <p:strVal val="visible"/>
                                      </p:to>
                                    </p:set>
                                    <p:animEffect transition="in" filter="wipe(left)">
                                      <p:cBhvr>
                                        <p:cTn id="7" dur="500"/>
                                        <p:tgtEl>
                                          <p:spTgt spid="825348"/>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25349"/>
                                        </p:tgtEl>
                                        <p:attrNameLst>
                                          <p:attrName>style.visibility</p:attrName>
                                        </p:attrNameLst>
                                      </p:cBhvr>
                                      <p:to>
                                        <p:strVal val="visible"/>
                                      </p:to>
                                    </p:set>
                                    <p:animEffect transition="in" filter="wipe(left)">
                                      <p:cBhvr>
                                        <p:cTn id="11" dur="500"/>
                                        <p:tgtEl>
                                          <p:spTgt spid="825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5349"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en-US" altLang="en-US" smtClean="0"/>
              <a:t>Elasticity of Market Demand</a:t>
            </a:r>
          </a:p>
        </p:txBody>
      </p:sp>
      <p:sp>
        <p:nvSpPr>
          <p:cNvPr id="3076" name="Rectangle 3"/>
          <p:cNvSpPr>
            <a:spLocks noGrp="1" noChangeArrowheads="1"/>
          </p:cNvSpPr>
          <p:nvPr>
            <p:ph idx="1"/>
          </p:nvPr>
        </p:nvSpPr>
        <p:spPr/>
        <p:txBody>
          <a:bodyPr/>
          <a:lstStyle/>
          <a:p>
            <a:r>
              <a:rPr lang="en-US" altLang="en-US" dirty="0" smtClean="0"/>
              <a:t>The </a:t>
            </a:r>
            <a:r>
              <a:rPr lang="en-US" altLang="en-US" dirty="0" smtClean="0"/>
              <a:t>market demand function: </a:t>
            </a:r>
            <a:r>
              <a:rPr lang="en-US" altLang="en-US" i="1" dirty="0" smtClean="0"/>
              <a:t>Q</a:t>
            </a:r>
            <a:r>
              <a:rPr lang="en-US" altLang="en-US" i="1" baseline="-25000" dirty="0" smtClean="0"/>
              <a:t>D</a:t>
            </a:r>
            <a:r>
              <a:rPr lang="en-US" altLang="en-US" i="1" dirty="0" smtClean="0"/>
              <a:t> = D(P,P’,I)</a:t>
            </a:r>
          </a:p>
          <a:p>
            <a:r>
              <a:rPr lang="en-US" altLang="en-US" dirty="0" smtClean="0"/>
              <a:t>Define elasticities:</a:t>
            </a:r>
            <a:endParaRPr lang="en-US" altLang="en-US" dirty="0" smtClean="0"/>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9301318E-8BE0-4B13-91CF-4F784F62DC03}" type="slidenum">
              <a:rPr lang="en-US" smtClean="0"/>
              <a:pPr>
                <a:defRPr/>
              </a:pPr>
              <a:t>10</a:t>
            </a:fld>
            <a:endParaRPr lang="en-US"/>
          </a:p>
        </p:txBody>
      </p:sp>
      <p:sp>
        <p:nvSpPr>
          <p:cNvPr id="2" name="Text Placeholder 1"/>
          <p:cNvSpPr>
            <a:spLocks noGrp="1"/>
          </p:cNvSpPr>
          <p:nvPr>
            <p:ph type="body" sz="quarter" idx="12"/>
          </p:nvPr>
        </p:nvSpPr>
        <p:spPr>
          <a:xfrm>
            <a:off x="381000" y="4724400"/>
            <a:ext cx="8534400" cy="1524000"/>
          </a:xfrm>
        </p:spPr>
        <p:txBody>
          <a:bodyPr>
            <a:normAutofit/>
          </a:bodyPr>
          <a:lstStyle/>
          <a:p>
            <a:pPr lvl="1" eaLnBrk="0" hangingPunct="0">
              <a:lnSpc>
                <a:spcPct val="150000"/>
              </a:lnSpc>
              <a:buFont typeface="Arial" charset="0"/>
              <a:buChar char="–"/>
              <a:defRPr/>
            </a:pPr>
            <a:r>
              <a:rPr lang="en-US" sz="2800" kern="0" dirty="0"/>
              <a:t>Elastic demand: </a:t>
            </a:r>
            <a:r>
              <a:rPr lang="en-US" sz="2800" i="1" kern="0" dirty="0" err="1" smtClean="0"/>
              <a:t>e</a:t>
            </a:r>
            <a:r>
              <a:rPr lang="en-US" sz="2800" i="1" kern="0" baseline="-25000" dirty="0" err="1" smtClean="0"/>
              <a:t>D,P</a:t>
            </a:r>
            <a:r>
              <a:rPr lang="en-US" sz="2800" kern="0" baseline="-25000" dirty="0" smtClean="0"/>
              <a:t>  </a:t>
            </a:r>
            <a:r>
              <a:rPr lang="en-US" sz="2800" kern="0" dirty="0"/>
              <a:t>&lt; -</a:t>
            </a:r>
            <a:r>
              <a:rPr lang="en-US" sz="2800" kern="0" dirty="0" smtClean="0"/>
              <a:t>1; Unit elastic: </a:t>
            </a:r>
            <a:r>
              <a:rPr lang="en-US" sz="2800" i="1" kern="0" dirty="0" err="1" smtClean="0"/>
              <a:t>e</a:t>
            </a:r>
            <a:r>
              <a:rPr lang="en-US" sz="2800" i="1" kern="0" baseline="-25000" dirty="0" err="1" smtClean="0"/>
              <a:t>D,P</a:t>
            </a:r>
            <a:r>
              <a:rPr lang="en-US" sz="2800" kern="0" baseline="-25000" dirty="0" smtClean="0"/>
              <a:t> </a:t>
            </a:r>
            <a:r>
              <a:rPr lang="en-US" sz="2800" kern="0" dirty="0" smtClean="0"/>
              <a:t>= -1 </a:t>
            </a:r>
            <a:endParaRPr lang="en-US" sz="2800" kern="0" dirty="0"/>
          </a:p>
          <a:p>
            <a:pPr lvl="1" eaLnBrk="0" hangingPunct="0">
              <a:lnSpc>
                <a:spcPct val="150000"/>
              </a:lnSpc>
              <a:buFont typeface="Arial" charset="0"/>
              <a:buChar char="–"/>
              <a:defRPr/>
            </a:pPr>
            <a:r>
              <a:rPr lang="en-US" sz="2800" kern="0" dirty="0"/>
              <a:t>Inelastic demand </a:t>
            </a:r>
            <a:r>
              <a:rPr lang="en-US" sz="2800" kern="0" dirty="0" smtClean="0"/>
              <a:t>0 ≥ </a:t>
            </a:r>
            <a:r>
              <a:rPr lang="en-US" sz="2800" i="1" kern="0" dirty="0" err="1" smtClean="0"/>
              <a:t>e</a:t>
            </a:r>
            <a:r>
              <a:rPr lang="en-US" sz="2800" i="1" kern="0" baseline="-25000" dirty="0" err="1" smtClean="0"/>
              <a:t>D,P</a:t>
            </a:r>
            <a:r>
              <a:rPr lang="en-US" sz="2800" kern="0" dirty="0" smtClean="0"/>
              <a:t> </a:t>
            </a:r>
            <a:r>
              <a:rPr lang="en-US" sz="2800" kern="0" dirty="0"/>
              <a:t>&gt; -</a:t>
            </a:r>
            <a:r>
              <a:rPr lang="en-US" sz="2800" kern="0" dirty="0" smtClean="0"/>
              <a:t>1</a:t>
            </a:r>
            <a:endParaRPr lang="en-US" sz="2800" kern="0" dirty="0"/>
          </a:p>
        </p:txBody>
      </p:sp>
      <p:graphicFrame>
        <p:nvGraphicFramePr>
          <p:cNvPr id="827396" name="Object 2"/>
          <p:cNvGraphicFramePr>
            <a:graphicFrameLocks noChangeAspect="1"/>
          </p:cNvGraphicFramePr>
          <p:nvPr>
            <p:extLst>
              <p:ext uri="{D42A27DB-BD31-4B8C-83A1-F6EECF244321}">
                <p14:modId xmlns:p14="http://schemas.microsoft.com/office/powerpoint/2010/main" val="4090225428"/>
              </p:ext>
            </p:extLst>
          </p:nvPr>
        </p:nvGraphicFramePr>
        <p:xfrm>
          <a:off x="609599" y="2335476"/>
          <a:ext cx="7772401" cy="2458773"/>
        </p:xfrm>
        <a:graphic>
          <a:graphicData uri="http://schemas.openxmlformats.org/presentationml/2006/ole">
            <mc:AlternateContent xmlns:mc="http://schemas.openxmlformats.org/markup-compatibility/2006">
              <mc:Choice xmlns:v="urn:schemas-microsoft-com:vml" Requires="v">
                <p:oleObj spid="_x0000_s247826" name="Equation" r:id="rId3" imgW="4178160" imgH="1320480" progId="Equation.DSMT4">
                  <p:embed/>
                </p:oleObj>
              </mc:Choice>
              <mc:Fallback>
                <p:oleObj name="Equation" r:id="rId3" imgW="4178160" imgH="1320480" progId="Equation.DSMT4">
                  <p:embed/>
                  <p:pic>
                    <p:nvPicPr>
                      <p:cNvPr id="0" name=""/>
                      <p:cNvPicPr>
                        <a:picLocks noChangeAspect="1" noChangeArrowheads="1"/>
                      </p:cNvPicPr>
                      <p:nvPr/>
                    </p:nvPicPr>
                    <p:blipFill>
                      <a:blip r:embed="rId4"/>
                      <a:srcRect/>
                      <a:stretch>
                        <a:fillRect/>
                      </a:stretch>
                    </p:blipFill>
                    <p:spPr bwMode="auto">
                      <a:xfrm>
                        <a:off x="609599" y="2335476"/>
                        <a:ext cx="7772401" cy="245877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9939634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827396"/>
                                        </p:tgtEl>
                                        <p:attrNameLst>
                                          <p:attrName>style.visibility</p:attrName>
                                        </p:attrNameLst>
                                      </p:cBhvr>
                                      <p:to>
                                        <p:strVal val="visible"/>
                                      </p:to>
                                    </p:set>
                                    <p:animEffect transition="in" filter="wipe(left)">
                                      <p:cBhvr>
                                        <p:cTn id="7" dur="500"/>
                                        <p:tgtEl>
                                          <p:spTgt spid="82739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en-US" smtClean="0"/>
              <a:t>Timing of the Supply Response</a:t>
            </a:r>
          </a:p>
        </p:txBody>
      </p:sp>
      <p:sp>
        <p:nvSpPr>
          <p:cNvPr id="35843" name="Rectangle 3"/>
          <p:cNvSpPr>
            <a:spLocks noGrp="1" noChangeArrowheads="1"/>
          </p:cNvSpPr>
          <p:nvPr>
            <p:ph idx="1"/>
          </p:nvPr>
        </p:nvSpPr>
        <p:spPr/>
        <p:txBody>
          <a:bodyPr/>
          <a:lstStyle/>
          <a:p>
            <a:r>
              <a:rPr lang="en-US" altLang="en-US" smtClean="0"/>
              <a:t>Time period</a:t>
            </a:r>
          </a:p>
          <a:p>
            <a:pPr lvl="1"/>
            <a:r>
              <a:rPr lang="en-US" altLang="en-US" smtClean="0"/>
              <a:t>Very short run</a:t>
            </a:r>
          </a:p>
          <a:p>
            <a:pPr lvl="2"/>
            <a:r>
              <a:rPr lang="en-US" altLang="en-US" smtClean="0"/>
              <a:t>No supply response (quantity supplied is fixed)</a:t>
            </a:r>
          </a:p>
          <a:p>
            <a:pPr lvl="1"/>
            <a:r>
              <a:rPr lang="en-US" altLang="en-US" smtClean="0"/>
              <a:t>Short run</a:t>
            </a:r>
          </a:p>
          <a:p>
            <a:pPr lvl="2"/>
            <a:r>
              <a:rPr lang="en-US" altLang="en-US" smtClean="0"/>
              <a:t>Existing firms can alter their quantity supplied, but no new firms can enter the industry</a:t>
            </a:r>
          </a:p>
          <a:p>
            <a:pPr lvl="1"/>
            <a:r>
              <a:rPr lang="en-US" altLang="en-US" smtClean="0"/>
              <a:t>Long run</a:t>
            </a:r>
          </a:p>
          <a:p>
            <a:pPr lvl="2"/>
            <a:r>
              <a:rPr lang="en-US" altLang="en-US" smtClean="0"/>
              <a:t>New firms may enter an industry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A20AB75-B563-444E-B3E8-E49F8038A778}" type="slidenum">
              <a:rPr lang="en-US" smtClean="0"/>
              <a:pPr>
                <a:defRPr/>
              </a:pPr>
              <a:t>11</a:t>
            </a:fld>
            <a:endParaRPr lang="en-US"/>
          </a:p>
        </p:txBody>
      </p:sp>
    </p:spTree>
    <p:extLst>
      <p:ext uri="{BB962C8B-B14F-4D97-AF65-F5344CB8AC3E}">
        <p14:creationId xmlns:p14="http://schemas.microsoft.com/office/powerpoint/2010/main" val="36152263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ltLang="en-US" smtClean="0"/>
              <a:t>Pricing in the Very Short Run</a:t>
            </a:r>
          </a:p>
        </p:txBody>
      </p:sp>
      <p:sp>
        <p:nvSpPr>
          <p:cNvPr id="36867" name="Rectangle 3"/>
          <p:cNvSpPr>
            <a:spLocks noGrp="1" noChangeArrowheads="1"/>
          </p:cNvSpPr>
          <p:nvPr>
            <p:ph idx="1"/>
          </p:nvPr>
        </p:nvSpPr>
        <p:spPr/>
        <p:txBody>
          <a:bodyPr/>
          <a:lstStyle/>
          <a:p>
            <a:r>
              <a:rPr lang="en-US" altLang="en-US" smtClean="0"/>
              <a:t>Very short run / the market period</a:t>
            </a:r>
          </a:p>
          <a:p>
            <a:pPr lvl="1"/>
            <a:r>
              <a:rPr lang="en-US" altLang="en-US" smtClean="0"/>
              <a:t>There is no supply response to changing market conditions</a:t>
            </a:r>
          </a:p>
          <a:p>
            <a:pPr lvl="1"/>
            <a:r>
              <a:rPr lang="en-US" altLang="en-US" smtClean="0"/>
              <a:t>Price acts only as a device to ration demand</a:t>
            </a:r>
          </a:p>
          <a:p>
            <a:pPr lvl="2"/>
            <a:r>
              <a:rPr lang="en-US" altLang="en-US" smtClean="0"/>
              <a:t>Price will adjust to clear the market</a:t>
            </a:r>
          </a:p>
          <a:p>
            <a:pPr lvl="1"/>
            <a:r>
              <a:rPr lang="en-US" altLang="en-US" smtClean="0"/>
              <a:t>The supply curve is a vertical line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284FC28-AAD7-4487-A5FA-B36D986C49B5}" type="slidenum">
              <a:rPr lang="en-US" smtClean="0"/>
              <a:pPr>
                <a:defRPr/>
              </a:pPr>
              <a:t>12</a:t>
            </a:fld>
            <a:endParaRPr lang="en-US"/>
          </a:p>
        </p:txBody>
      </p:sp>
    </p:spTree>
    <p:extLst>
      <p:ext uri="{BB962C8B-B14F-4D97-AF65-F5344CB8AC3E}">
        <p14:creationId xmlns:p14="http://schemas.microsoft.com/office/powerpoint/2010/main" val="7398197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12.2	Pricing in the Very Short </a:t>
            </a:r>
            <a:r>
              <a:rPr lang="en-US" altLang="en-US" dirty="0" smtClean="0"/>
              <a:t>Run</a:t>
            </a:r>
            <a:endParaRPr lang="en-US" altLang="en-US" dirty="0" smtClean="0"/>
          </a:p>
        </p:txBody>
      </p:sp>
      <p:sp>
        <p:nvSpPr>
          <p:cNvPr id="37891" name="Text Placeholder 2"/>
          <p:cNvSpPr>
            <a:spLocks noGrp="1"/>
          </p:cNvSpPr>
          <p:nvPr>
            <p:ph sz="half" idx="1"/>
          </p:nvPr>
        </p:nvSpPr>
        <p:spPr>
          <a:xfrm>
            <a:off x="80962" y="5218113"/>
            <a:ext cx="8682037" cy="1069975"/>
          </a:xfrm>
        </p:spPr>
        <p:txBody>
          <a:bodyPr>
            <a:normAutofit fontScale="92500" lnSpcReduction="10000"/>
          </a:bodyPr>
          <a:lstStyle/>
          <a:p>
            <a:pPr>
              <a:spcBef>
                <a:spcPct val="0"/>
              </a:spcBef>
            </a:pPr>
            <a:r>
              <a:rPr lang="en-US" altLang="en-US" dirty="0"/>
              <a:t>When quantity is fixed in the very short run, price acts only as a device to ration demand. With quantity fixed at Q*, price P</a:t>
            </a:r>
            <a:r>
              <a:rPr lang="en-US" altLang="en-US" baseline="-25000" dirty="0"/>
              <a:t>1</a:t>
            </a:r>
            <a:r>
              <a:rPr lang="en-US" altLang="en-US" dirty="0"/>
              <a:t> will prevail in the marketplace if D is the market demand curve; at this price, individuals are willing to consume exactly that quantity available. If demand should shift upward to D’, the equilibrium market price would increase to P</a:t>
            </a:r>
            <a:r>
              <a:rPr lang="en-US" altLang="en-US" baseline="-25000" dirty="0"/>
              <a:t>2</a:t>
            </a:r>
            <a:r>
              <a:rPr lang="en-US" altLang="en-US" dirty="0" smtClean="0"/>
              <a:t>.</a:t>
            </a:r>
            <a:endParaRPr lang="en-US" altLang="en-US" dirty="0"/>
          </a:p>
        </p:txBody>
      </p:sp>
      <p:sp>
        <p:nvSpPr>
          <p:cNvPr id="37894"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12CFD4CE-BFD1-4E54-A61A-4F5C6119BA6A}" type="slidenum">
              <a:rPr lang="en-US" smtClean="0"/>
              <a:pPr>
                <a:defRPr/>
              </a:pPr>
              <a:t>13</a:t>
            </a:fld>
            <a:endParaRPr lang="en-US" dirty="0"/>
          </a:p>
        </p:txBody>
      </p:sp>
      <p:grpSp>
        <p:nvGrpSpPr>
          <p:cNvPr id="18" name="Group 31"/>
          <p:cNvGrpSpPr>
            <a:grpSpLocks/>
          </p:cNvGrpSpPr>
          <p:nvPr/>
        </p:nvGrpSpPr>
        <p:grpSpPr bwMode="auto">
          <a:xfrm>
            <a:off x="1382713" y="685800"/>
            <a:ext cx="7232650" cy="4100513"/>
            <a:chOff x="1382486" y="1000496"/>
            <a:chExt cx="7232650" cy="4100513"/>
          </a:xfrm>
        </p:grpSpPr>
        <p:grpSp>
          <p:nvGrpSpPr>
            <p:cNvPr id="37917" name="Group 24"/>
            <p:cNvGrpSpPr>
              <a:grpSpLocks/>
            </p:cNvGrpSpPr>
            <p:nvPr/>
          </p:nvGrpSpPr>
          <p:grpSpPr bwMode="auto">
            <a:xfrm>
              <a:off x="2144486" y="4734296"/>
              <a:ext cx="6470650" cy="366713"/>
              <a:chOff x="2144486" y="4734296"/>
              <a:chExt cx="6470650" cy="366713"/>
            </a:xfrm>
          </p:grpSpPr>
          <p:sp>
            <p:nvSpPr>
              <p:cNvPr id="37921" name="Line 6"/>
              <p:cNvSpPr>
                <a:spLocks noChangeShapeType="1"/>
              </p:cNvSpPr>
              <p:nvPr/>
            </p:nvSpPr>
            <p:spPr bwMode="auto">
              <a:xfrm>
                <a:off x="2144486" y="4886696"/>
                <a:ext cx="4267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22" name="Text Box 7"/>
              <p:cNvSpPr txBox="1">
                <a:spLocks noChangeArrowheads="1"/>
              </p:cNvSpPr>
              <p:nvPr/>
            </p:nvSpPr>
            <p:spPr bwMode="auto">
              <a:xfrm>
                <a:off x="6487886" y="4734296"/>
                <a:ext cx="2127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Quantity per period</a:t>
                </a:r>
              </a:p>
            </p:txBody>
          </p:sp>
        </p:grpSp>
        <p:grpSp>
          <p:nvGrpSpPr>
            <p:cNvPr id="37918" name="Group 23"/>
            <p:cNvGrpSpPr>
              <a:grpSpLocks/>
            </p:cNvGrpSpPr>
            <p:nvPr/>
          </p:nvGrpSpPr>
          <p:grpSpPr bwMode="auto">
            <a:xfrm>
              <a:off x="1382486" y="1000496"/>
              <a:ext cx="762000" cy="3886200"/>
              <a:chOff x="1382486" y="1000496"/>
              <a:chExt cx="762000" cy="3886200"/>
            </a:xfrm>
          </p:grpSpPr>
          <p:sp>
            <p:nvSpPr>
              <p:cNvPr id="37919" name="Line 5"/>
              <p:cNvSpPr>
                <a:spLocks noChangeShapeType="1"/>
              </p:cNvSpPr>
              <p:nvPr/>
            </p:nvSpPr>
            <p:spPr bwMode="auto">
              <a:xfrm>
                <a:off x="2144486" y="1229096"/>
                <a:ext cx="0" cy="3657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20" name="Text Box 8"/>
              <p:cNvSpPr txBox="1">
                <a:spLocks noChangeArrowheads="1"/>
              </p:cNvSpPr>
              <p:nvPr/>
            </p:nvSpPr>
            <p:spPr bwMode="auto">
              <a:xfrm>
                <a:off x="1382486" y="1000496"/>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Price</a:t>
                </a:r>
              </a:p>
            </p:txBody>
          </p:sp>
        </p:grpSp>
      </p:grpSp>
      <p:grpSp>
        <p:nvGrpSpPr>
          <p:cNvPr id="2" name="Group 1"/>
          <p:cNvGrpSpPr/>
          <p:nvPr/>
        </p:nvGrpSpPr>
        <p:grpSpPr>
          <a:xfrm>
            <a:off x="4125913" y="1066800"/>
            <a:ext cx="515143" cy="3836988"/>
            <a:chOff x="4125913" y="1066800"/>
            <a:chExt cx="515143" cy="3836988"/>
          </a:xfrm>
        </p:grpSpPr>
        <p:grpSp>
          <p:nvGrpSpPr>
            <p:cNvPr id="26" name="Group 28"/>
            <p:cNvGrpSpPr>
              <a:grpSpLocks/>
            </p:cNvGrpSpPr>
            <p:nvPr/>
          </p:nvGrpSpPr>
          <p:grpSpPr bwMode="auto">
            <a:xfrm>
              <a:off x="4125913" y="1066800"/>
              <a:ext cx="392112" cy="3836988"/>
              <a:chOff x="4125686" y="1381496"/>
              <a:chExt cx="392113" cy="3836988"/>
            </a:xfrm>
          </p:grpSpPr>
          <p:grpSp>
            <p:nvGrpSpPr>
              <p:cNvPr id="37911" name="Group 27"/>
              <p:cNvGrpSpPr>
                <a:grpSpLocks/>
              </p:cNvGrpSpPr>
              <p:nvPr/>
            </p:nvGrpSpPr>
            <p:grpSpPr bwMode="auto">
              <a:xfrm>
                <a:off x="4125686" y="1381496"/>
                <a:ext cx="319088" cy="3505200"/>
                <a:chOff x="4125686" y="1381496"/>
                <a:chExt cx="319088" cy="3505200"/>
              </a:xfrm>
            </p:grpSpPr>
            <p:sp>
              <p:nvSpPr>
                <p:cNvPr id="37913" name="Line 9"/>
                <p:cNvSpPr>
                  <a:spLocks noChangeShapeType="1"/>
                </p:cNvSpPr>
                <p:nvPr/>
              </p:nvSpPr>
              <p:spPr bwMode="auto">
                <a:xfrm flipV="1">
                  <a:off x="4278086" y="1762496"/>
                  <a:ext cx="0" cy="3124200"/>
                </a:xfrm>
                <a:prstGeom prst="line">
                  <a:avLst/>
                </a:prstGeom>
                <a:noFill/>
                <a:ln w="28575">
                  <a:solidFill>
                    <a:srgbClr val="5D0D8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14" name="Text Box 10"/>
                <p:cNvSpPr txBox="1">
                  <a:spLocks noChangeArrowheads="1"/>
                </p:cNvSpPr>
                <p:nvPr/>
              </p:nvSpPr>
              <p:spPr bwMode="auto">
                <a:xfrm>
                  <a:off x="4125686" y="1381496"/>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5D0D8F"/>
                      </a:solidFill>
                    </a:rPr>
                    <a:t>S</a:t>
                  </a:r>
                </a:p>
              </p:txBody>
            </p:sp>
          </p:grpSp>
          <p:sp>
            <p:nvSpPr>
              <p:cNvPr id="37912" name="Text Box 17"/>
              <p:cNvSpPr txBox="1">
                <a:spLocks noChangeArrowheads="1"/>
              </p:cNvSpPr>
              <p:nvPr/>
            </p:nvSpPr>
            <p:spPr bwMode="auto">
              <a:xfrm>
                <a:off x="4125686" y="4913684"/>
                <a:ext cx="3921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p>
            </p:txBody>
          </p:sp>
        </p:grpSp>
        <p:sp>
          <p:nvSpPr>
            <p:cNvPr id="35" name="Text Box 10"/>
            <p:cNvSpPr txBox="1">
              <a:spLocks noChangeArrowheads="1"/>
            </p:cNvSpPr>
            <p:nvPr/>
          </p:nvSpPr>
          <p:spPr bwMode="auto">
            <a:xfrm>
              <a:off x="4321969" y="4083050"/>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S</a:t>
              </a:r>
            </a:p>
          </p:txBody>
        </p:sp>
      </p:grpSp>
      <p:grpSp>
        <p:nvGrpSpPr>
          <p:cNvPr id="10" name="Group 9"/>
          <p:cNvGrpSpPr/>
          <p:nvPr/>
        </p:nvGrpSpPr>
        <p:grpSpPr>
          <a:xfrm>
            <a:off x="2713038" y="1004327"/>
            <a:ext cx="3398154" cy="2645336"/>
            <a:chOff x="2713038" y="1004327"/>
            <a:chExt cx="3398154" cy="2645336"/>
          </a:xfrm>
        </p:grpSpPr>
        <p:grpSp>
          <p:nvGrpSpPr>
            <p:cNvPr id="3" name="Group 2"/>
            <p:cNvGrpSpPr/>
            <p:nvPr/>
          </p:nvGrpSpPr>
          <p:grpSpPr>
            <a:xfrm>
              <a:off x="2713038" y="1004327"/>
              <a:ext cx="3398154" cy="2645336"/>
              <a:chOff x="2713038" y="1004327"/>
              <a:chExt cx="3398154" cy="2645336"/>
            </a:xfrm>
          </p:grpSpPr>
          <p:sp>
            <p:nvSpPr>
              <p:cNvPr id="37910" name="Text Box 14"/>
              <p:cNvSpPr txBox="1">
                <a:spLocks noChangeArrowheads="1"/>
              </p:cNvSpPr>
              <p:nvPr/>
            </p:nvSpPr>
            <p:spPr bwMode="auto">
              <a:xfrm>
                <a:off x="5723842" y="3313113"/>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177B21"/>
                    </a:solidFill>
                  </a:rPr>
                  <a:t>D’</a:t>
                </a:r>
              </a:p>
            </p:txBody>
          </p:sp>
          <p:sp>
            <p:nvSpPr>
              <p:cNvPr id="37" name="Text Box 14"/>
              <p:cNvSpPr txBox="1">
                <a:spLocks noChangeArrowheads="1"/>
              </p:cNvSpPr>
              <p:nvPr/>
            </p:nvSpPr>
            <p:spPr bwMode="auto">
              <a:xfrm>
                <a:off x="2713038" y="1004327"/>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177B21"/>
                    </a:solidFill>
                  </a:rPr>
                  <a:t>D’</a:t>
                </a:r>
              </a:p>
            </p:txBody>
          </p:sp>
        </p:grpSp>
        <p:sp>
          <p:nvSpPr>
            <p:cNvPr id="8" name="Freeform 7"/>
            <p:cNvSpPr/>
            <p:nvPr/>
          </p:nvSpPr>
          <p:spPr>
            <a:xfrm>
              <a:off x="3168675" y="1235075"/>
              <a:ext cx="2552650" cy="2124221"/>
            </a:xfrm>
            <a:custGeom>
              <a:avLst/>
              <a:gdLst>
                <a:gd name="connsiteX0" fmla="*/ 0 w 2321169"/>
                <a:gd name="connsiteY0" fmla="*/ 0 h 2124221"/>
                <a:gd name="connsiteX1" fmla="*/ 1012873 w 2321169"/>
                <a:gd name="connsiteY1" fmla="*/ 1336430 h 2124221"/>
                <a:gd name="connsiteX2" fmla="*/ 2321169 w 2321169"/>
                <a:gd name="connsiteY2" fmla="*/ 2124221 h 2124221"/>
              </a:gdLst>
              <a:ahLst/>
              <a:cxnLst>
                <a:cxn ang="0">
                  <a:pos x="connsiteX0" y="connsiteY0"/>
                </a:cxn>
                <a:cxn ang="0">
                  <a:pos x="connsiteX1" y="connsiteY1"/>
                </a:cxn>
                <a:cxn ang="0">
                  <a:pos x="connsiteX2" y="connsiteY2"/>
                </a:cxn>
              </a:cxnLst>
              <a:rect l="l" t="t" r="r" b="b"/>
              <a:pathLst>
                <a:path w="2321169" h="2124221">
                  <a:moveTo>
                    <a:pt x="0" y="0"/>
                  </a:moveTo>
                  <a:cubicBezTo>
                    <a:pt x="313006" y="491196"/>
                    <a:pt x="626012" y="982393"/>
                    <a:pt x="1012873" y="1336430"/>
                  </a:cubicBezTo>
                  <a:cubicBezTo>
                    <a:pt x="1399735" y="1690467"/>
                    <a:pt x="1860452" y="1907344"/>
                    <a:pt x="2321169" y="2124221"/>
                  </a:cubicBezTo>
                </a:path>
              </a:pathLst>
            </a:custGeom>
            <a:no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p:cNvGrpSpPr/>
          <p:nvPr/>
        </p:nvGrpSpPr>
        <p:grpSpPr>
          <a:xfrm>
            <a:off x="2573096" y="1583787"/>
            <a:ext cx="3344421" cy="2667538"/>
            <a:chOff x="2604796" y="1593704"/>
            <a:chExt cx="3344421" cy="2667538"/>
          </a:xfrm>
        </p:grpSpPr>
        <p:grpSp>
          <p:nvGrpSpPr>
            <p:cNvPr id="6" name="Group 5"/>
            <p:cNvGrpSpPr/>
            <p:nvPr/>
          </p:nvGrpSpPr>
          <p:grpSpPr>
            <a:xfrm>
              <a:off x="2604796" y="1593704"/>
              <a:ext cx="3344421" cy="2667538"/>
              <a:chOff x="2604796" y="1593704"/>
              <a:chExt cx="3344421" cy="2667538"/>
            </a:xfrm>
          </p:grpSpPr>
          <p:sp>
            <p:nvSpPr>
              <p:cNvPr id="37915" name="Text Box 11"/>
              <p:cNvSpPr txBox="1">
                <a:spLocks noChangeArrowheads="1"/>
              </p:cNvSpPr>
              <p:nvPr/>
            </p:nvSpPr>
            <p:spPr bwMode="auto">
              <a:xfrm>
                <a:off x="5497513" y="3886200"/>
                <a:ext cx="451704" cy="375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177B21"/>
                    </a:solidFill>
                  </a:rPr>
                  <a:t>D</a:t>
                </a:r>
              </a:p>
            </p:txBody>
          </p:sp>
          <p:sp>
            <p:nvSpPr>
              <p:cNvPr id="39" name="Text Box 11"/>
              <p:cNvSpPr txBox="1">
                <a:spLocks noChangeArrowheads="1"/>
              </p:cNvSpPr>
              <p:nvPr/>
            </p:nvSpPr>
            <p:spPr bwMode="auto">
              <a:xfrm>
                <a:off x="2604796" y="1593704"/>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177B21"/>
                    </a:solidFill>
                  </a:rPr>
                  <a:t>D</a:t>
                </a:r>
              </a:p>
            </p:txBody>
          </p:sp>
        </p:grpSp>
        <p:sp>
          <p:nvSpPr>
            <p:cNvPr id="43" name="Freeform 42"/>
            <p:cNvSpPr/>
            <p:nvPr/>
          </p:nvSpPr>
          <p:spPr>
            <a:xfrm>
              <a:off x="3030563" y="1761979"/>
              <a:ext cx="2552650" cy="2124221"/>
            </a:xfrm>
            <a:custGeom>
              <a:avLst/>
              <a:gdLst>
                <a:gd name="connsiteX0" fmla="*/ 0 w 2321169"/>
                <a:gd name="connsiteY0" fmla="*/ 0 h 2124221"/>
                <a:gd name="connsiteX1" fmla="*/ 1012873 w 2321169"/>
                <a:gd name="connsiteY1" fmla="*/ 1336430 h 2124221"/>
                <a:gd name="connsiteX2" fmla="*/ 2321169 w 2321169"/>
                <a:gd name="connsiteY2" fmla="*/ 2124221 h 2124221"/>
              </a:gdLst>
              <a:ahLst/>
              <a:cxnLst>
                <a:cxn ang="0">
                  <a:pos x="connsiteX0" y="connsiteY0"/>
                </a:cxn>
                <a:cxn ang="0">
                  <a:pos x="connsiteX1" y="connsiteY1"/>
                </a:cxn>
                <a:cxn ang="0">
                  <a:pos x="connsiteX2" y="connsiteY2"/>
                </a:cxn>
              </a:cxnLst>
              <a:rect l="l" t="t" r="r" b="b"/>
              <a:pathLst>
                <a:path w="2321169" h="2124221">
                  <a:moveTo>
                    <a:pt x="0" y="0"/>
                  </a:moveTo>
                  <a:cubicBezTo>
                    <a:pt x="313006" y="491196"/>
                    <a:pt x="626012" y="982393"/>
                    <a:pt x="1012873" y="1336430"/>
                  </a:cubicBezTo>
                  <a:cubicBezTo>
                    <a:pt x="1399735" y="1690467"/>
                    <a:pt x="1860452" y="1907344"/>
                    <a:pt x="2321169" y="2124221"/>
                  </a:cubicBezTo>
                </a:path>
              </a:pathLst>
            </a:custGeom>
            <a:no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5"/>
          <p:cNvGrpSpPr>
            <a:grpSpLocks/>
          </p:cNvGrpSpPr>
          <p:nvPr/>
        </p:nvGrpSpPr>
        <p:grpSpPr bwMode="auto">
          <a:xfrm>
            <a:off x="1687513" y="2438400"/>
            <a:ext cx="2628900" cy="304800"/>
            <a:chOff x="1687286" y="2753096"/>
            <a:chExt cx="2629445" cy="304800"/>
          </a:xfrm>
        </p:grpSpPr>
        <p:grpSp>
          <p:nvGrpSpPr>
            <p:cNvPr id="37901" name="Group 29"/>
            <p:cNvGrpSpPr>
              <a:grpSpLocks/>
            </p:cNvGrpSpPr>
            <p:nvPr/>
          </p:nvGrpSpPr>
          <p:grpSpPr bwMode="auto">
            <a:xfrm>
              <a:off x="1687286" y="2753096"/>
              <a:ext cx="2584450" cy="304800"/>
              <a:chOff x="1687286" y="2753096"/>
              <a:chExt cx="2584450" cy="304800"/>
            </a:xfrm>
          </p:grpSpPr>
          <p:sp>
            <p:nvSpPr>
              <p:cNvPr id="37903" name="Line 16"/>
              <p:cNvSpPr>
                <a:spLocks noChangeShapeType="1"/>
              </p:cNvSpPr>
              <p:nvPr/>
            </p:nvSpPr>
            <p:spPr bwMode="auto">
              <a:xfrm flipH="1">
                <a:off x="2138136" y="2865808"/>
                <a:ext cx="21336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04" name="Text Box 19"/>
              <p:cNvSpPr txBox="1">
                <a:spLocks noChangeArrowheads="1"/>
              </p:cNvSpPr>
              <p:nvPr/>
            </p:nvSpPr>
            <p:spPr bwMode="auto">
              <a:xfrm>
                <a:off x="1687286" y="2753096"/>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a:t>
                </a:r>
                <a:r>
                  <a:rPr lang="en-US" altLang="en-US" sz="1800" baseline="-25000"/>
                  <a:t>2</a:t>
                </a:r>
                <a:endParaRPr lang="en-US" altLang="en-US" sz="1800"/>
              </a:p>
            </p:txBody>
          </p:sp>
        </p:grpSp>
        <p:sp>
          <p:nvSpPr>
            <p:cNvPr id="37902" name="Oval 9"/>
            <p:cNvSpPr>
              <a:spLocks noChangeArrowheads="1"/>
            </p:cNvSpPr>
            <p:nvPr/>
          </p:nvSpPr>
          <p:spPr bwMode="auto">
            <a:xfrm>
              <a:off x="4240349" y="2820715"/>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29" name="Group 34"/>
          <p:cNvGrpSpPr>
            <a:grpSpLocks/>
          </p:cNvGrpSpPr>
          <p:nvPr/>
        </p:nvGrpSpPr>
        <p:grpSpPr bwMode="auto">
          <a:xfrm>
            <a:off x="1687513" y="3048000"/>
            <a:ext cx="2619375" cy="304800"/>
            <a:chOff x="1687286" y="3362696"/>
            <a:chExt cx="2619285" cy="304800"/>
          </a:xfrm>
        </p:grpSpPr>
        <p:grpSp>
          <p:nvGrpSpPr>
            <p:cNvPr id="37905" name="Group 30"/>
            <p:cNvGrpSpPr>
              <a:grpSpLocks/>
            </p:cNvGrpSpPr>
            <p:nvPr/>
          </p:nvGrpSpPr>
          <p:grpSpPr bwMode="auto">
            <a:xfrm>
              <a:off x="1687286" y="3362696"/>
              <a:ext cx="2590800" cy="304800"/>
              <a:chOff x="1687286" y="3362696"/>
              <a:chExt cx="2590800" cy="304800"/>
            </a:xfrm>
          </p:grpSpPr>
          <p:sp>
            <p:nvSpPr>
              <p:cNvPr id="37907" name="Line 15"/>
              <p:cNvSpPr>
                <a:spLocks noChangeShapeType="1"/>
              </p:cNvSpPr>
              <p:nvPr/>
            </p:nvSpPr>
            <p:spPr bwMode="auto">
              <a:xfrm flipH="1">
                <a:off x="2144486" y="3515096"/>
                <a:ext cx="21336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08" name="Text Box 18"/>
              <p:cNvSpPr txBox="1">
                <a:spLocks noChangeArrowheads="1"/>
              </p:cNvSpPr>
              <p:nvPr/>
            </p:nvSpPr>
            <p:spPr bwMode="auto">
              <a:xfrm>
                <a:off x="1687286" y="3362696"/>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a:t>
                </a:r>
                <a:r>
                  <a:rPr lang="en-US" altLang="en-US" sz="1800" baseline="-25000"/>
                  <a:t>1</a:t>
                </a:r>
                <a:endParaRPr lang="en-US" altLang="en-US" sz="1800"/>
              </a:p>
            </p:txBody>
          </p:sp>
        </p:grpSp>
        <p:sp>
          <p:nvSpPr>
            <p:cNvPr id="37906" name="Oval 9"/>
            <p:cNvSpPr>
              <a:spLocks noChangeArrowheads="1"/>
            </p:cNvSpPr>
            <p:nvPr/>
          </p:nvSpPr>
          <p:spPr bwMode="auto">
            <a:xfrm>
              <a:off x="4230189" y="3475310"/>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spTree>
    <p:extLst>
      <p:ext uri="{BB962C8B-B14F-4D97-AF65-F5344CB8AC3E}">
        <p14:creationId xmlns:p14="http://schemas.microsoft.com/office/powerpoint/2010/main" val="2048648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wipe(left)">
                                      <p:cBhvr>
                                        <p:cTn id="19" dur="500"/>
                                        <p:tgtEl>
                                          <p:spTgt spid="29"/>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left)">
                                      <p:cBhvr>
                                        <p:cTn id="27" dur="500"/>
                                        <p:tgtEl>
                                          <p:spTgt spid="31"/>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7891">
                                            <p:txEl>
                                              <p:pRg st="0" end="0"/>
                                            </p:txEl>
                                          </p:spTgt>
                                        </p:tgtEl>
                                        <p:attrNameLst>
                                          <p:attrName>style.visibility</p:attrName>
                                        </p:attrNameLst>
                                      </p:cBhvr>
                                      <p:to>
                                        <p:strVal val="visible"/>
                                      </p:to>
                                    </p:set>
                                    <p:animEffect transition="in" filter="wipe(left)">
                                      <p:cBhvr>
                                        <p:cTn id="31" dur="500"/>
                                        <p:tgtEl>
                                          <p:spTgt spid="378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en-US" smtClean="0"/>
              <a:t>Short-Run Price Determination</a:t>
            </a:r>
          </a:p>
        </p:txBody>
      </p:sp>
      <p:sp>
        <p:nvSpPr>
          <p:cNvPr id="38915" name="Rectangle 3"/>
          <p:cNvSpPr>
            <a:spLocks noGrp="1" noChangeArrowheads="1"/>
          </p:cNvSpPr>
          <p:nvPr>
            <p:ph idx="1"/>
          </p:nvPr>
        </p:nvSpPr>
        <p:spPr/>
        <p:txBody>
          <a:bodyPr/>
          <a:lstStyle/>
          <a:p>
            <a:r>
              <a:rPr lang="en-US" altLang="en-US" smtClean="0"/>
              <a:t>In the short-run</a:t>
            </a:r>
          </a:p>
          <a:p>
            <a:pPr lvl="1"/>
            <a:r>
              <a:rPr lang="en-US" altLang="en-US" smtClean="0"/>
              <a:t>The number of firms in an industry is fixed</a:t>
            </a:r>
          </a:p>
          <a:p>
            <a:pPr lvl="1"/>
            <a:r>
              <a:rPr lang="en-US" altLang="en-US" smtClean="0"/>
              <a:t>These firms are able to adjust the quantity they are producing</a:t>
            </a:r>
          </a:p>
          <a:p>
            <a:pPr lvl="2"/>
            <a:r>
              <a:rPr lang="en-US" altLang="en-US" smtClean="0"/>
              <a:t>They can do this by altering the levels of the variable inputs they employ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03ED568-7FB7-499B-9B5B-7887422F5613}" type="slidenum">
              <a:rPr lang="en-US" smtClean="0"/>
              <a:pPr>
                <a:defRPr/>
              </a:pPr>
              <a:t>14</a:t>
            </a:fld>
            <a:endParaRPr lang="en-US"/>
          </a:p>
        </p:txBody>
      </p:sp>
    </p:spTree>
    <p:extLst>
      <p:ext uri="{BB962C8B-B14F-4D97-AF65-F5344CB8AC3E}">
        <p14:creationId xmlns:p14="http://schemas.microsoft.com/office/powerpoint/2010/main" val="1137192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en-US" smtClean="0"/>
              <a:t>Perfect Competition</a:t>
            </a:r>
          </a:p>
        </p:txBody>
      </p:sp>
      <p:sp>
        <p:nvSpPr>
          <p:cNvPr id="39939" name="Rectangle 3"/>
          <p:cNvSpPr>
            <a:spLocks noGrp="1" noChangeArrowheads="1"/>
          </p:cNvSpPr>
          <p:nvPr>
            <p:ph idx="1"/>
          </p:nvPr>
        </p:nvSpPr>
        <p:spPr>
          <a:xfrm>
            <a:off x="381000" y="1066800"/>
            <a:ext cx="8534400" cy="5334000"/>
          </a:xfrm>
        </p:spPr>
        <p:txBody>
          <a:bodyPr/>
          <a:lstStyle/>
          <a:p>
            <a:r>
              <a:rPr lang="en-US" altLang="en-US" sz="3200" dirty="0" smtClean="0"/>
              <a:t>A perfectly competitive industry:</a:t>
            </a:r>
          </a:p>
          <a:p>
            <a:pPr lvl="1"/>
            <a:r>
              <a:rPr lang="en-US" altLang="en-US" sz="3000" dirty="0" smtClean="0"/>
              <a:t>There are a large number of firms, each producing the same homogeneous product</a:t>
            </a:r>
          </a:p>
          <a:p>
            <a:pPr lvl="1"/>
            <a:r>
              <a:rPr lang="en-US" altLang="en-US" sz="3000" dirty="0" smtClean="0"/>
              <a:t>Each firm attempts to maximize profits</a:t>
            </a:r>
          </a:p>
          <a:p>
            <a:pPr lvl="1"/>
            <a:r>
              <a:rPr lang="en-US" altLang="en-US" sz="3000" dirty="0" smtClean="0"/>
              <a:t>Each firm is a price </a:t>
            </a:r>
            <a:r>
              <a:rPr lang="en-US" altLang="en-US" sz="3000" dirty="0" smtClean="0"/>
              <a:t>taker: its </a:t>
            </a:r>
            <a:r>
              <a:rPr lang="en-US" altLang="en-US" sz="3000" dirty="0" smtClean="0"/>
              <a:t>actions have no effect on the market price</a:t>
            </a:r>
          </a:p>
          <a:p>
            <a:pPr lvl="1"/>
            <a:r>
              <a:rPr lang="en-US" altLang="en-US" sz="3000" dirty="0" smtClean="0"/>
              <a:t>Information is </a:t>
            </a:r>
            <a:r>
              <a:rPr lang="en-US" altLang="en-US" sz="3000" dirty="0" smtClean="0"/>
              <a:t>perfect: prices </a:t>
            </a:r>
            <a:r>
              <a:rPr lang="en-US" altLang="en-US" sz="3000" dirty="0"/>
              <a:t>are assumed to be known by all market participants</a:t>
            </a:r>
            <a:endParaRPr lang="en-US" altLang="en-US" sz="3000" dirty="0" smtClean="0"/>
          </a:p>
          <a:p>
            <a:pPr lvl="1"/>
            <a:r>
              <a:rPr lang="en-US" altLang="en-US" sz="3000" dirty="0" smtClean="0"/>
              <a:t>Transactions are </a:t>
            </a:r>
            <a:r>
              <a:rPr lang="en-US" altLang="en-US" sz="3000" dirty="0"/>
              <a:t>costless: Buyers and sellers incur no costs in making exchanges</a:t>
            </a:r>
            <a:endParaRPr lang="en-US" altLang="en-US" sz="3000"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5EBCA7F-C004-4D95-96C2-F5B5EA99AEFB}" type="slidenum">
              <a:rPr lang="en-US" smtClean="0"/>
              <a:pPr>
                <a:defRPr/>
              </a:pPr>
              <a:t>15</a:t>
            </a:fld>
            <a:endParaRPr lang="en-US"/>
          </a:p>
        </p:txBody>
      </p:sp>
    </p:spTree>
    <p:extLst>
      <p:ext uri="{BB962C8B-B14F-4D97-AF65-F5344CB8AC3E}">
        <p14:creationId xmlns:p14="http://schemas.microsoft.com/office/powerpoint/2010/main" val="18657093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ltLang="en-US" smtClean="0"/>
              <a:t>Short-Run Market Supply</a:t>
            </a:r>
          </a:p>
        </p:txBody>
      </p:sp>
      <p:sp>
        <p:nvSpPr>
          <p:cNvPr id="40963" name="Rectangle 3"/>
          <p:cNvSpPr>
            <a:spLocks noGrp="1" noChangeArrowheads="1"/>
          </p:cNvSpPr>
          <p:nvPr>
            <p:ph idx="1"/>
          </p:nvPr>
        </p:nvSpPr>
        <p:spPr/>
        <p:txBody>
          <a:bodyPr/>
          <a:lstStyle/>
          <a:p>
            <a:r>
              <a:rPr lang="en-US" altLang="en-US" dirty="0" smtClean="0"/>
              <a:t>Quantity of output supplied</a:t>
            </a:r>
          </a:p>
          <a:p>
            <a:pPr lvl="1"/>
            <a:r>
              <a:rPr lang="en-US" altLang="en-US" dirty="0" smtClean="0"/>
              <a:t>To the entire market in the short run </a:t>
            </a:r>
          </a:p>
          <a:p>
            <a:pPr lvl="1"/>
            <a:r>
              <a:rPr lang="en-US" altLang="en-US" dirty="0" smtClean="0"/>
              <a:t>Is the sum of the quantities supplied by each firm</a:t>
            </a:r>
          </a:p>
          <a:p>
            <a:pPr lvl="2"/>
            <a:r>
              <a:rPr lang="en-US" altLang="en-US" dirty="0" smtClean="0"/>
              <a:t>The amount supplied by each firm depends on price</a:t>
            </a:r>
          </a:p>
          <a:p>
            <a:r>
              <a:rPr lang="en-US" altLang="en-US" dirty="0" smtClean="0"/>
              <a:t>Short-run market supply curve</a:t>
            </a:r>
          </a:p>
          <a:p>
            <a:pPr lvl="1"/>
            <a:r>
              <a:rPr lang="en-US" altLang="en-US" dirty="0" smtClean="0"/>
              <a:t>Upward-sloping: each </a:t>
            </a:r>
            <a:r>
              <a:rPr lang="en-US" altLang="en-US" dirty="0" smtClean="0"/>
              <a:t>firm’s short-run supply curve has a positive slope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DD1AA11-0238-4747-BD1E-F9981D8A0F15}" type="slidenum">
              <a:rPr lang="en-US" smtClean="0"/>
              <a:pPr>
                <a:defRPr/>
              </a:pPr>
              <a:t>16</a:t>
            </a:fld>
            <a:endParaRPr lang="en-US"/>
          </a:p>
        </p:txBody>
      </p:sp>
    </p:spTree>
    <p:extLst>
      <p:ext uri="{BB962C8B-B14F-4D97-AF65-F5344CB8AC3E}">
        <p14:creationId xmlns:p14="http://schemas.microsoft.com/office/powerpoint/2010/main" val="38598216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12.3	Short-Run Market Supply </a:t>
            </a:r>
            <a:r>
              <a:rPr lang="en-US" altLang="en-US" dirty="0" smtClean="0"/>
              <a:t>Curve</a:t>
            </a:r>
            <a:endParaRPr lang="en-US" altLang="en-US" dirty="0" smtClean="0"/>
          </a:p>
        </p:txBody>
      </p:sp>
      <p:sp>
        <p:nvSpPr>
          <p:cNvPr id="41987" name="Text Placeholder 2"/>
          <p:cNvSpPr>
            <a:spLocks noGrp="1"/>
          </p:cNvSpPr>
          <p:nvPr>
            <p:ph sz="half" idx="1"/>
          </p:nvPr>
        </p:nvSpPr>
        <p:spPr>
          <a:xfrm>
            <a:off x="457199" y="4748213"/>
            <a:ext cx="8107479" cy="1377950"/>
          </a:xfrm>
        </p:spPr>
        <p:txBody>
          <a:bodyPr>
            <a:normAutofit/>
          </a:bodyPr>
          <a:lstStyle/>
          <a:p>
            <a:pPr>
              <a:spcBef>
                <a:spcPct val="0"/>
              </a:spcBef>
            </a:pPr>
            <a:r>
              <a:rPr lang="en-US" altLang="en-US" dirty="0"/>
              <a:t>The supply (marginal cost) curves of two firms are shown in (a) and (b). The market supply curve (c) is the horizontal sum of these curves. For example, at P</a:t>
            </a:r>
            <a:r>
              <a:rPr lang="en-US" altLang="en-US" baseline="-25000" dirty="0"/>
              <a:t>1</a:t>
            </a:r>
            <a:r>
              <a:rPr lang="en-US" altLang="en-US" dirty="0"/>
              <a:t> firm A supplies q</a:t>
            </a:r>
            <a:r>
              <a:rPr lang="en-US" altLang="en-US" baseline="30000" dirty="0"/>
              <a:t>A</a:t>
            </a:r>
            <a:r>
              <a:rPr lang="en-US" altLang="en-US" baseline="-25000" dirty="0"/>
              <a:t>1</a:t>
            </a:r>
            <a:r>
              <a:rPr lang="en-US" altLang="en-US" dirty="0"/>
              <a:t>, firm B supplies q</a:t>
            </a:r>
            <a:r>
              <a:rPr lang="en-US" altLang="en-US" baseline="30000" dirty="0"/>
              <a:t>B</a:t>
            </a:r>
            <a:r>
              <a:rPr lang="en-US" altLang="en-US" baseline="-25000" dirty="0"/>
              <a:t>1</a:t>
            </a:r>
            <a:r>
              <a:rPr lang="en-US" altLang="en-US" dirty="0"/>
              <a:t>, and total market supply is given by Q</a:t>
            </a:r>
            <a:r>
              <a:rPr lang="en-US" altLang="en-US" baseline="-25000" dirty="0"/>
              <a:t>1</a:t>
            </a:r>
            <a:r>
              <a:rPr lang="en-US" altLang="en-US" dirty="0"/>
              <a:t> = q</a:t>
            </a:r>
            <a:r>
              <a:rPr lang="en-US" altLang="en-US" baseline="30000" dirty="0"/>
              <a:t>A</a:t>
            </a:r>
            <a:r>
              <a:rPr lang="en-US" altLang="en-US" baseline="-25000" dirty="0"/>
              <a:t>1 </a:t>
            </a:r>
            <a:r>
              <a:rPr lang="en-US" altLang="en-US" dirty="0"/>
              <a:t>+ q</a:t>
            </a:r>
            <a:r>
              <a:rPr lang="en-US" altLang="en-US" baseline="30000" dirty="0"/>
              <a:t>B</a:t>
            </a:r>
            <a:r>
              <a:rPr lang="en-US" altLang="en-US" baseline="-25000" dirty="0"/>
              <a:t>1</a:t>
            </a:r>
            <a:r>
              <a:rPr lang="en-US" altLang="en-US" dirty="0" smtClean="0"/>
              <a:t>.</a:t>
            </a:r>
            <a:endParaRPr lang="en-US" altLang="en-US" dirty="0"/>
          </a:p>
        </p:txBody>
      </p:sp>
      <p:sp>
        <p:nvSpPr>
          <p:cNvPr id="41990"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E8A1F52D-E56C-43D3-9E5C-5AD9FF9B6F24}" type="slidenum">
              <a:rPr lang="en-US" smtClean="0"/>
              <a:pPr>
                <a:defRPr/>
              </a:pPr>
              <a:t>17</a:t>
            </a:fld>
            <a:endParaRPr lang="en-US" dirty="0"/>
          </a:p>
        </p:txBody>
      </p:sp>
      <p:grpSp>
        <p:nvGrpSpPr>
          <p:cNvPr id="19" name="Group 53"/>
          <p:cNvGrpSpPr>
            <a:grpSpLocks/>
          </p:cNvGrpSpPr>
          <p:nvPr/>
        </p:nvGrpSpPr>
        <p:grpSpPr bwMode="auto">
          <a:xfrm>
            <a:off x="1447800" y="2711450"/>
            <a:ext cx="438150" cy="1322388"/>
            <a:chOff x="1244600" y="3057925"/>
            <a:chExt cx="438150" cy="1322388"/>
          </a:xfrm>
        </p:grpSpPr>
        <p:sp>
          <p:nvSpPr>
            <p:cNvPr id="42034" name="Line 21"/>
            <p:cNvSpPr>
              <a:spLocks noChangeShapeType="1"/>
            </p:cNvSpPr>
            <p:nvPr/>
          </p:nvSpPr>
          <p:spPr bwMode="auto">
            <a:xfrm>
              <a:off x="1454150" y="3057925"/>
              <a:ext cx="0" cy="9906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35" name="Text Box 23"/>
            <p:cNvSpPr txBox="1">
              <a:spLocks noChangeArrowheads="1"/>
            </p:cNvSpPr>
            <p:nvPr/>
          </p:nvSpPr>
          <p:spPr bwMode="auto">
            <a:xfrm>
              <a:off x="1244600" y="4075513"/>
              <a:ext cx="438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25000"/>
                <a:t>1</a:t>
              </a:r>
              <a:r>
                <a:rPr lang="en-US" altLang="en-US" sz="1800" baseline="30000"/>
                <a:t>A</a:t>
              </a:r>
            </a:p>
          </p:txBody>
        </p:sp>
      </p:grpSp>
      <p:grpSp>
        <p:nvGrpSpPr>
          <p:cNvPr id="26" name="Group 52"/>
          <p:cNvGrpSpPr>
            <a:grpSpLocks/>
          </p:cNvGrpSpPr>
          <p:nvPr/>
        </p:nvGrpSpPr>
        <p:grpSpPr bwMode="auto">
          <a:xfrm>
            <a:off x="3967163" y="2711450"/>
            <a:ext cx="438150" cy="1295400"/>
            <a:chOff x="3967163" y="3057925"/>
            <a:chExt cx="438150" cy="1295400"/>
          </a:xfrm>
        </p:grpSpPr>
        <p:sp>
          <p:nvSpPr>
            <p:cNvPr id="42032" name="Line 22"/>
            <p:cNvSpPr>
              <a:spLocks noChangeShapeType="1"/>
            </p:cNvSpPr>
            <p:nvPr/>
          </p:nvSpPr>
          <p:spPr bwMode="auto">
            <a:xfrm>
              <a:off x="4197350" y="3057925"/>
              <a:ext cx="0" cy="9906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33" name="Text Box 24"/>
            <p:cNvSpPr txBox="1">
              <a:spLocks noChangeArrowheads="1"/>
            </p:cNvSpPr>
            <p:nvPr/>
          </p:nvSpPr>
          <p:spPr bwMode="auto">
            <a:xfrm>
              <a:off x="3967163" y="4048525"/>
              <a:ext cx="438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25000"/>
                <a:t>1</a:t>
              </a:r>
              <a:r>
                <a:rPr lang="en-US" altLang="en-US" sz="1800" baseline="30000"/>
                <a:t>B</a:t>
              </a:r>
            </a:p>
          </p:txBody>
        </p:sp>
      </p:grpSp>
      <p:grpSp>
        <p:nvGrpSpPr>
          <p:cNvPr id="30" name="Group 54"/>
          <p:cNvGrpSpPr>
            <a:grpSpLocks/>
          </p:cNvGrpSpPr>
          <p:nvPr/>
        </p:nvGrpSpPr>
        <p:grpSpPr bwMode="auto">
          <a:xfrm>
            <a:off x="422275" y="2559050"/>
            <a:ext cx="7280275" cy="304800"/>
            <a:chOff x="422275" y="2905525"/>
            <a:chExt cx="7280275" cy="304800"/>
          </a:xfrm>
        </p:grpSpPr>
        <p:sp>
          <p:nvSpPr>
            <p:cNvPr id="42030" name="Line 20"/>
            <p:cNvSpPr>
              <a:spLocks noChangeShapeType="1"/>
            </p:cNvSpPr>
            <p:nvPr/>
          </p:nvSpPr>
          <p:spPr bwMode="auto">
            <a:xfrm>
              <a:off x="844550" y="3057925"/>
              <a:ext cx="68580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42031" name="Text Box 25"/>
            <p:cNvSpPr txBox="1">
              <a:spLocks noChangeArrowheads="1"/>
            </p:cNvSpPr>
            <p:nvPr/>
          </p:nvSpPr>
          <p:spPr bwMode="auto">
            <a:xfrm>
              <a:off x="422275" y="2905525"/>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r>
                <a:rPr lang="en-US" altLang="en-US" sz="1800" baseline="-25000"/>
                <a:t>1</a:t>
              </a:r>
              <a:endParaRPr lang="en-US" altLang="en-US" sz="1800"/>
            </a:p>
          </p:txBody>
        </p:sp>
      </p:grpSp>
      <p:grpSp>
        <p:nvGrpSpPr>
          <p:cNvPr id="34" name="Group 48"/>
          <p:cNvGrpSpPr>
            <a:grpSpLocks/>
          </p:cNvGrpSpPr>
          <p:nvPr/>
        </p:nvGrpSpPr>
        <p:grpSpPr bwMode="auto">
          <a:xfrm>
            <a:off x="433388" y="762000"/>
            <a:ext cx="2847975" cy="3276600"/>
            <a:chOff x="433388" y="1108393"/>
            <a:chExt cx="2847975" cy="3276682"/>
          </a:xfrm>
        </p:grpSpPr>
        <p:grpSp>
          <p:nvGrpSpPr>
            <p:cNvPr id="42023" name="Group 45"/>
            <p:cNvGrpSpPr>
              <a:grpSpLocks/>
            </p:cNvGrpSpPr>
            <p:nvPr/>
          </p:nvGrpSpPr>
          <p:grpSpPr bwMode="auto">
            <a:xfrm>
              <a:off x="844550" y="4048525"/>
              <a:ext cx="2436813" cy="336550"/>
              <a:chOff x="844550" y="4048525"/>
              <a:chExt cx="2436813" cy="336550"/>
            </a:xfrm>
          </p:grpSpPr>
          <p:sp>
            <p:nvSpPr>
              <p:cNvPr id="42028" name="Line 5"/>
              <p:cNvSpPr>
                <a:spLocks noChangeShapeType="1"/>
              </p:cNvSpPr>
              <p:nvPr/>
            </p:nvSpPr>
            <p:spPr bwMode="auto">
              <a:xfrm>
                <a:off x="844550" y="4048525"/>
                <a:ext cx="1981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29" name="Text Box 9"/>
              <p:cNvSpPr txBox="1">
                <a:spLocks noChangeArrowheads="1"/>
              </p:cNvSpPr>
              <p:nvPr/>
            </p:nvSpPr>
            <p:spPr bwMode="auto">
              <a:xfrm>
                <a:off x="2386013" y="4048525"/>
                <a:ext cx="895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dirty="0" err="1"/>
                  <a:t>q</a:t>
                </a:r>
                <a:r>
                  <a:rPr lang="en-US" altLang="en-US" sz="1800" baseline="30000" dirty="0" err="1"/>
                  <a:t>A</a:t>
                </a:r>
                <a:endParaRPr lang="en-US" altLang="en-US" sz="1800" baseline="30000" dirty="0"/>
              </a:p>
            </p:txBody>
          </p:sp>
        </p:grpSp>
        <p:grpSp>
          <p:nvGrpSpPr>
            <p:cNvPr id="42024" name="Group 44"/>
            <p:cNvGrpSpPr>
              <a:grpSpLocks/>
            </p:cNvGrpSpPr>
            <p:nvPr/>
          </p:nvGrpSpPr>
          <p:grpSpPr bwMode="auto">
            <a:xfrm>
              <a:off x="433388" y="1914925"/>
              <a:ext cx="411162" cy="2133600"/>
              <a:chOff x="433388" y="1914925"/>
              <a:chExt cx="411162" cy="2133600"/>
            </a:xfrm>
          </p:grpSpPr>
          <p:sp>
            <p:nvSpPr>
              <p:cNvPr id="42026" name="Line 4"/>
              <p:cNvSpPr>
                <a:spLocks noChangeShapeType="1"/>
              </p:cNvSpPr>
              <p:nvPr/>
            </p:nvSpPr>
            <p:spPr bwMode="auto">
              <a:xfrm>
                <a:off x="844550" y="2067325"/>
                <a:ext cx="0" cy="198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27" name="Text Box 14"/>
              <p:cNvSpPr txBox="1">
                <a:spLocks noChangeArrowheads="1"/>
              </p:cNvSpPr>
              <p:nvPr/>
            </p:nvSpPr>
            <p:spPr bwMode="auto">
              <a:xfrm>
                <a:off x="433388" y="1914925"/>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dirty="0"/>
                  <a:t>P</a:t>
                </a:r>
              </a:p>
            </p:txBody>
          </p:sp>
        </p:grpSp>
        <p:sp>
          <p:nvSpPr>
            <p:cNvPr id="42025" name="Text Box 27"/>
            <p:cNvSpPr txBox="1">
              <a:spLocks noChangeArrowheads="1"/>
            </p:cNvSpPr>
            <p:nvPr/>
          </p:nvSpPr>
          <p:spPr bwMode="auto">
            <a:xfrm>
              <a:off x="883724" y="1108393"/>
              <a:ext cx="13239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002D56"/>
                  </a:solidFill>
                </a:rPr>
                <a:t>(a) Firm A</a:t>
              </a:r>
            </a:p>
          </p:txBody>
        </p:sp>
      </p:grpSp>
      <p:grpSp>
        <p:nvGrpSpPr>
          <p:cNvPr id="43" name="Group 49"/>
          <p:cNvGrpSpPr>
            <a:grpSpLocks/>
          </p:cNvGrpSpPr>
          <p:nvPr/>
        </p:nvGrpSpPr>
        <p:grpSpPr bwMode="auto">
          <a:xfrm>
            <a:off x="3176588" y="762000"/>
            <a:ext cx="2771775" cy="3276600"/>
            <a:chOff x="3176588" y="1108393"/>
            <a:chExt cx="2771775" cy="3276682"/>
          </a:xfrm>
        </p:grpSpPr>
        <p:grpSp>
          <p:nvGrpSpPr>
            <p:cNvPr id="42014" name="Group 46"/>
            <p:cNvGrpSpPr>
              <a:grpSpLocks/>
            </p:cNvGrpSpPr>
            <p:nvPr/>
          </p:nvGrpSpPr>
          <p:grpSpPr bwMode="auto">
            <a:xfrm>
              <a:off x="3587750" y="4048525"/>
              <a:ext cx="2360613" cy="336550"/>
              <a:chOff x="3587750" y="4048525"/>
              <a:chExt cx="2360613" cy="336550"/>
            </a:xfrm>
          </p:grpSpPr>
          <p:sp>
            <p:nvSpPr>
              <p:cNvPr id="42019" name="Line 8"/>
              <p:cNvSpPr>
                <a:spLocks noChangeShapeType="1"/>
              </p:cNvSpPr>
              <p:nvPr/>
            </p:nvSpPr>
            <p:spPr bwMode="auto">
              <a:xfrm>
                <a:off x="3587750" y="4048525"/>
                <a:ext cx="1981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20" name="Text Box 11"/>
              <p:cNvSpPr txBox="1">
                <a:spLocks noChangeArrowheads="1"/>
              </p:cNvSpPr>
              <p:nvPr/>
            </p:nvSpPr>
            <p:spPr bwMode="auto">
              <a:xfrm>
                <a:off x="5053013" y="4048525"/>
                <a:ext cx="895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30000"/>
                  <a:t>B</a:t>
                </a:r>
              </a:p>
            </p:txBody>
          </p:sp>
        </p:grpSp>
        <p:grpSp>
          <p:nvGrpSpPr>
            <p:cNvPr id="42015" name="Group 43"/>
            <p:cNvGrpSpPr>
              <a:grpSpLocks/>
            </p:cNvGrpSpPr>
            <p:nvPr/>
          </p:nvGrpSpPr>
          <p:grpSpPr bwMode="auto">
            <a:xfrm>
              <a:off x="3176588" y="1914925"/>
              <a:ext cx="411162" cy="2133600"/>
              <a:chOff x="3176588" y="1914925"/>
              <a:chExt cx="411162" cy="2133600"/>
            </a:xfrm>
          </p:grpSpPr>
          <p:sp>
            <p:nvSpPr>
              <p:cNvPr id="42017" name="Line 7"/>
              <p:cNvSpPr>
                <a:spLocks noChangeShapeType="1"/>
              </p:cNvSpPr>
              <p:nvPr/>
            </p:nvSpPr>
            <p:spPr bwMode="auto">
              <a:xfrm>
                <a:off x="3587750" y="2067325"/>
                <a:ext cx="0" cy="198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18" name="Text Box 13"/>
              <p:cNvSpPr txBox="1">
                <a:spLocks noChangeArrowheads="1"/>
              </p:cNvSpPr>
              <p:nvPr/>
            </p:nvSpPr>
            <p:spPr bwMode="auto">
              <a:xfrm>
                <a:off x="3176588" y="1914925"/>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p>
            </p:txBody>
          </p:sp>
        </p:grpSp>
        <p:sp>
          <p:nvSpPr>
            <p:cNvPr id="42016" name="Text Box 28"/>
            <p:cNvSpPr txBox="1">
              <a:spLocks noChangeArrowheads="1"/>
            </p:cNvSpPr>
            <p:nvPr/>
          </p:nvSpPr>
          <p:spPr bwMode="auto">
            <a:xfrm>
              <a:off x="3731831" y="1108393"/>
              <a:ext cx="13239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002D56"/>
                  </a:solidFill>
                </a:rPr>
                <a:t>(b) Firm B</a:t>
              </a:r>
            </a:p>
          </p:txBody>
        </p:sp>
      </p:grpSp>
      <p:grpSp>
        <p:nvGrpSpPr>
          <p:cNvPr id="47" name="Group 50"/>
          <p:cNvGrpSpPr>
            <a:grpSpLocks/>
          </p:cNvGrpSpPr>
          <p:nvPr/>
        </p:nvGrpSpPr>
        <p:grpSpPr bwMode="auto">
          <a:xfrm>
            <a:off x="6148388" y="762000"/>
            <a:ext cx="2805112" cy="3986213"/>
            <a:chOff x="6148388" y="1108393"/>
            <a:chExt cx="2805606" cy="3986122"/>
          </a:xfrm>
        </p:grpSpPr>
        <p:grpSp>
          <p:nvGrpSpPr>
            <p:cNvPr id="42005" name="Group 47"/>
            <p:cNvGrpSpPr>
              <a:grpSpLocks/>
            </p:cNvGrpSpPr>
            <p:nvPr/>
          </p:nvGrpSpPr>
          <p:grpSpPr bwMode="auto">
            <a:xfrm>
              <a:off x="6483350" y="4048525"/>
              <a:ext cx="2470644" cy="1045990"/>
              <a:chOff x="6483350" y="4048525"/>
              <a:chExt cx="2470644" cy="1045990"/>
            </a:xfrm>
          </p:grpSpPr>
          <p:sp>
            <p:nvSpPr>
              <p:cNvPr id="42010" name="Line 3"/>
              <p:cNvSpPr>
                <a:spLocks noChangeShapeType="1"/>
              </p:cNvSpPr>
              <p:nvPr/>
            </p:nvSpPr>
            <p:spPr bwMode="auto">
              <a:xfrm>
                <a:off x="6483350" y="4048525"/>
                <a:ext cx="1981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11" name="Text Box 10"/>
              <p:cNvSpPr txBox="1">
                <a:spLocks noChangeArrowheads="1"/>
              </p:cNvSpPr>
              <p:nvPr/>
            </p:nvSpPr>
            <p:spPr bwMode="auto">
              <a:xfrm>
                <a:off x="7861465" y="4048525"/>
                <a:ext cx="1092529" cy="1045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a:t>Total </a:t>
                </a:r>
              </a:p>
              <a:p>
                <a:pPr algn="r" eaLnBrk="1" hangingPunct="1"/>
                <a:r>
                  <a:rPr lang="en-US" altLang="en-US" sz="1800"/>
                  <a:t>output</a:t>
                </a:r>
              </a:p>
              <a:p>
                <a:pPr algn="r" eaLnBrk="1" hangingPunct="1"/>
                <a:r>
                  <a:rPr lang="en-US" altLang="en-US" sz="1800"/>
                  <a:t>per period</a:t>
                </a:r>
              </a:p>
            </p:txBody>
          </p:sp>
        </p:grpSp>
        <p:grpSp>
          <p:nvGrpSpPr>
            <p:cNvPr id="42006" name="Group 42"/>
            <p:cNvGrpSpPr>
              <a:grpSpLocks/>
            </p:cNvGrpSpPr>
            <p:nvPr/>
          </p:nvGrpSpPr>
          <p:grpSpPr bwMode="auto">
            <a:xfrm>
              <a:off x="6148388" y="1991125"/>
              <a:ext cx="334962" cy="2057400"/>
              <a:chOff x="6148388" y="1991125"/>
              <a:chExt cx="334962" cy="2057400"/>
            </a:xfrm>
          </p:grpSpPr>
          <p:sp>
            <p:nvSpPr>
              <p:cNvPr id="42008" name="Line 6"/>
              <p:cNvSpPr>
                <a:spLocks noChangeShapeType="1"/>
              </p:cNvSpPr>
              <p:nvPr/>
            </p:nvSpPr>
            <p:spPr bwMode="auto">
              <a:xfrm>
                <a:off x="6483350" y="2067325"/>
                <a:ext cx="0" cy="198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09" name="Text Box 12"/>
              <p:cNvSpPr txBox="1">
                <a:spLocks noChangeArrowheads="1"/>
              </p:cNvSpPr>
              <p:nvPr/>
            </p:nvSpPr>
            <p:spPr bwMode="auto">
              <a:xfrm>
                <a:off x="6148388" y="1991125"/>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p>
            </p:txBody>
          </p:sp>
        </p:grpSp>
        <p:sp>
          <p:nvSpPr>
            <p:cNvPr id="42007" name="Text Box 29"/>
            <p:cNvSpPr txBox="1">
              <a:spLocks noChangeArrowheads="1"/>
            </p:cNvSpPr>
            <p:nvPr/>
          </p:nvSpPr>
          <p:spPr bwMode="auto">
            <a:xfrm>
              <a:off x="6546275" y="1108393"/>
              <a:ext cx="16120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dirty="0">
                  <a:solidFill>
                    <a:srgbClr val="002D56"/>
                  </a:solidFill>
                </a:rPr>
                <a:t>(c) The market</a:t>
              </a:r>
            </a:p>
          </p:txBody>
        </p:sp>
      </p:grpSp>
      <p:grpSp>
        <p:nvGrpSpPr>
          <p:cNvPr id="50" name="Group 51"/>
          <p:cNvGrpSpPr>
            <a:grpSpLocks/>
          </p:cNvGrpSpPr>
          <p:nvPr/>
        </p:nvGrpSpPr>
        <p:grpSpPr bwMode="auto">
          <a:xfrm>
            <a:off x="7499350" y="2711450"/>
            <a:ext cx="385763" cy="1295400"/>
            <a:chOff x="7499350" y="3057925"/>
            <a:chExt cx="385763" cy="1295400"/>
          </a:xfrm>
        </p:grpSpPr>
        <p:sp>
          <p:nvSpPr>
            <p:cNvPr id="42003" name="Text Box 31"/>
            <p:cNvSpPr txBox="1">
              <a:spLocks noChangeArrowheads="1"/>
            </p:cNvSpPr>
            <p:nvPr/>
          </p:nvSpPr>
          <p:spPr bwMode="auto">
            <a:xfrm>
              <a:off x="7499350" y="4048525"/>
              <a:ext cx="385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dirty="0"/>
                <a:t>Q</a:t>
              </a:r>
              <a:r>
                <a:rPr lang="en-US" altLang="en-US" sz="1800" baseline="-25000" dirty="0"/>
                <a:t>1</a:t>
              </a:r>
              <a:endParaRPr lang="en-US" altLang="en-US" sz="1800" dirty="0"/>
            </a:p>
          </p:txBody>
        </p:sp>
        <p:sp>
          <p:nvSpPr>
            <p:cNvPr id="42004" name="Line 33"/>
            <p:cNvSpPr>
              <a:spLocks noChangeShapeType="1"/>
            </p:cNvSpPr>
            <p:nvPr/>
          </p:nvSpPr>
          <p:spPr bwMode="auto">
            <a:xfrm>
              <a:off x="7702550" y="3057925"/>
              <a:ext cx="0" cy="9906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 name="Group 7"/>
          <p:cNvGrpSpPr/>
          <p:nvPr/>
        </p:nvGrpSpPr>
        <p:grpSpPr>
          <a:xfrm>
            <a:off x="838200" y="1450975"/>
            <a:ext cx="1747044" cy="2251224"/>
            <a:chOff x="838200" y="1797050"/>
            <a:chExt cx="1747044" cy="2251224"/>
          </a:xfrm>
        </p:grpSpPr>
        <p:grpSp>
          <p:nvGrpSpPr>
            <p:cNvPr id="3" name="Group 2"/>
            <p:cNvGrpSpPr/>
            <p:nvPr/>
          </p:nvGrpSpPr>
          <p:grpSpPr>
            <a:xfrm>
              <a:off x="1125172" y="1797050"/>
              <a:ext cx="1460072" cy="1815221"/>
              <a:chOff x="1125172" y="1797050"/>
              <a:chExt cx="1460072" cy="1815221"/>
            </a:xfrm>
          </p:grpSpPr>
          <p:sp>
            <p:nvSpPr>
              <p:cNvPr id="42021" name="Text Box 16"/>
              <p:cNvSpPr txBox="1">
                <a:spLocks noChangeArrowheads="1"/>
              </p:cNvSpPr>
              <p:nvPr/>
            </p:nvSpPr>
            <p:spPr bwMode="auto">
              <a:xfrm>
                <a:off x="2186781" y="1797050"/>
                <a:ext cx="3984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dirty="0">
                    <a:solidFill>
                      <a:srgbClr val="177B21"/>
                    </a:solidFill>
                  </a:rPr>
                  <a:t>S</a:t>
                </a:r>
                <a:r>
                  <a:rPr lang="en-US" altLang="en-US" sz="1800" baseline="-25000" dirty="0">
                    <a:solidFill>
                      <a:srgbClr val="177B21"/>
                    </a:solidFill>
                  </a:rPr>
                  <a:t>A</a:t>
                </a:r>
                <a:endParaRPr lang="en-US" altLang="en-US" sz="1800" dirty="0">
                  <a:solidFill>
                    <a:srgbClr val="177B21"/>
                  </a:solidFill>
                </a:endParaRPr>
              </a:p>
            </p:txBody>
          </p:sp>
          <p:sp>
            <p:nvSpPr>
              <p:cNvPr id="2" name="Freeform 1"/>
              <p:cNvSpPr/>
              <p:nvPr/>
            </p:nvSpPr>
            <p:spPr>
              <a:xfrm>
                <a:off x="1125172" y="2133600"/>
                <a:ext cx="1237028" cy="1478671"/>
              </a:xfrm>
              <a:custGeom>
                <a:avLst/>
                <a:gdLst>
                  <a:gd name="connsiteX0" fmla="*/ 0 w 942535"/>
                  <a:gd name="connsiteY0" fmla="*/ 1491176 h 1491176"/>
                  <a:gd name="connsiteX1" fmla="*/ 562707 w 942535"/>
                  <a:gd name="connsiteY1" fmla="*/ 745588 h 1491176"/>
                  <a:gd name="connsiteX2" fmla="*/ 942535 w 942535"/>
                  <a:gd name="connsiteY2" fmla="*/ 0 h 1491176"/>
                </a:gdLst>
                <a:ahLst/>
                <a:cxnLst>
                  <a:cxn ang="0">
                    <a:pos x="connsiteX0" y="connsiteY0"/>
                  </a:cxn>
                  <a:cxn ang="0">
                    <a:pos x="connsiteX1" y="connsiteY1"/>
                  </a:cxn>
                  <a:cxn ang="0">
                    <a:pos x="connsiteX2" y="connsiteY2"/>
                  </a:cxn>
                </a:cxnLst>
                <a:rect l="l" t="t" r="r" b="b"/>
                <a:pathLst>
                  <a:path w="942535" h="1491176">
                    <a:moveTo>
                      <a:pt x="0" y="1491176"/>
                    </a:moveTo>
                    <a:cubicBezTo>
                      <a:pt x="202809" y="1242646"/>
                      <a:pt x="405618" y="994117"/>
                      <a:pt x="562707" y="745588"/>
                    </a:cubicBezTo>
                    <a:cubicBezTo>
                      <a:pt x="719796" y="497059"/>
                      <a:pt x="831165" y="248529"/>
                      <a:pt x="942535" y="0"/>
                    </a:cubicBezTo>
                  </a:path>
                </a:pathLst>
              </a:custGeom>
              <a:no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7" name="Straight Connector 6"/>
            <p:cNvCxnSpPr/>
            <p:nvPr/>
          </p:nvCxnSpPr>
          <p:spPr>
            <a:xfrm>
              <a:off x="838200" y="3612271"/>
              <a:ext cx="0" cy="436003"/>
            </a:xfrm>
            <a:prstGeom prst="line">
              <a:avLst/>
            </a:prstGeom>
            <a:ln w="57150">
              <a:solidFill>
                <a:srgbClr val="006600"/>
              </a:solidFill>
            </a:ln>
          </p:spPr>
          <p:style>
            <a:lnRef idx="1">
              <a:schemeClr val="accent1"/>
            </a:lnRef>
            <a:fillRef idx="0">
              <a:schemeClr val="accent1"/>
            </a:fillRef>
            <a:effectRef idx="0">
              <a:schemeClr val="accent1"/>
            </a:effectRef>
            <a:fontRef idx="minor">
              <a:schemeClr val="tx1"/>
            </a:fontRef>
          </p:style>
        </p:cxnSp>
      </p:grpSp>
      <p:grpSp>
        <p:nvGrpSpPr>
          <p:cNvPr id="9" name="Group 8"/>
          <p:cNvGrpSpPr/>
          <p:nvPr/>
        </p:nvGrpSpPr>
        <p:grpSpPr>
          <a:xfrm>
            <a:off x="3581400" y="1581009"/>
            <a:ext cx="1519844" cy="2111516"/>
            <a:chOff x="3581400" y="1927084"/>
            <a:chExt cx="1519844" cy="2111516"/>
          </a:xfrm>
        </p:grpSpPr>
        <p:sp>
          <p:nvSpPr>
            <p:cNvPr id="42012" name="Text Box 18"/>
            <p:cNvSpPr txBox="1">
              <a:spLocks noChangeArrowheads="1"/>
            </p:cNvSpPr>
            <p:nvPr/>
          </p:nvSpPr>
          <p:spPr bwMode="auto">
            <a:xfrm>
              <a:off x="4702781" y="1927084"/>
              <a:ext cx="3984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dirty="0">
                  <a:solidFill>
                    <a:srgbClr val="006600"/>
                  </a:solidFill>
                </a:rPr>
                <a:t>S</a:t>
              </a:r>
              <a:r>
                <a:rPr lang="en-US" altLang="en-US" sz="1800" baseline="-25000" dirty="0">
                  <a:solidFill>
                    <a:srgbClr val="006600"/>
                  </a:solidFill>
                </a:rPr>
                <a:t>B</a:t>
              </a:r>
              <a:endParaRPr lang="en-US" altLang="en-US" sz="1800" dirty="0">
                <a:solidFill>
                  <a:srgbClr val="006600"/>
                </a:solidFill>
              </a:endParaRPr>
            </a:p>
          </p:txBody>
        </p:sp>
        <p:sp>
          <p:nvSpPr>
            <p:cNvPr id="54" name="Freeform 53"/>
            <p:cNvSpPr/>
            <p:nvPr/>
          </p:nvSpPr>
          <p:spPr>
            <a:xfrm>
              <a:off x="3967163" y="2151046"/>
              <a:ext cx="707203" cy="1201754"/>
            </a:xfrm>
            <a:custGeom>
              <a:avLst/>
              <a:gdLst>
                <a:gd name="connsiteX0" fmla="*/ 0 w 942535"/>
                <a:gd name="connsiteY0" fmla="*/ 1491176 h 1491176"/>
                <a:gd name="connsiteX1" fmla="*/ 562707 w 942535"/>
                <a:gd name="connsiteY1" fmla="*/ 745588 h 1491176"/>
                <a:gd name="connsiteX2" fmla="*/ 942535 w 942535"/>
                <a:gd name="connsiteY2" fmla="*/ 0 h 1491176"/>
              </a:gdLst>
              <a:ahLst/>
              <a:cxnLst>
                <a:cxn ang="0">
                  <a:pos x="connsiteX0" y="connsiteY0"/>
                </a:cxn>
                <a:cxn ang="0">
                  <a:pos x="connsiteX1" y="connsiteY1"/>
                </a:cxn>
                <a:cxn ang="0">
                  <a:pos x="connsiteX2" y="connsiteY2"/>
                </a:cxn>
              </a:cxnLst>
              <a:rect l="l" t="t" r="r" b="b"/>
              <a:pathLst>
                <a:path w="942535" h="1491176">
                  <a:moveTo>
                    <a:pt x="0" y="1491176"/>
                  </a:moveTo>
                  <a:cubicBezTo>
                    <a:pt x="202809" y="1242646"/>
                    <a:pt x="405618" y="994117"/>
                    <a:pt x="562707" y="745588"/>
                  </a:cubicBezTo>
                  <a:cubicBezTo>
                    <a:pt x="719796" y="497059"/>
                    <a:pt x="831165" y="248529"/>
                    <a:pt x="942535" y="0"/>
                  </a:cubicBezTo>
                </a:path>
              </a:pathLst>
            </a:custGeom>
            <a:no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p:cNvCxnSpPr/>
            <p:nvPr/>
          </p:nvCxnSpPr>
          <p:spPr>
            <a:xfrm>
              <a:off x="3581400" y="3297797"/>
              <a:ext cx="0" cy="740803"/>
            </a:xfrm>
            <a:prstGeom prst="line">
              <a:avLst/>
            </a:prstGeom>
            <a:ln w="57150">
              <a:solidFill>
                <a:srgbClr val="006600"/>
              </a:solidFill>
            </a:ln>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a:xfrm>
            <a:off x="6477000" y="1450975"/>
            <a:ext cx="2306231" cy="2278063"/>
            <a:chOff x="6477000" y="1797050"/>
            <a:chExt cx="2306231" cy="2278063"/>
          </a:xfrm>
        </p:grpSpPr>
        <p:grpSp>
          <p:nvGrpSpPr>
            <p:cNvPr id="51" name="Group 41"/>
            <p:cNvGrpSpPr>
              <a:grpSpLocks/>
            </p:cNvGrpSpPr>
            <p:nvPr/>
          </p:nvGrpSpPr>
          <p:grpSpPr bwMode="auto">
            <a:xfrm>
              <a:off x="7499034" y="1797050"/>
              <a:ext cx="1284197" cy="1505055"/>
              <a:chOff x="7551305" y="2368950"/>
              <a:chExt cx="1284198" cy="1505055"/>
            </a:xfrm>
          </p:grpSpPr>
          <p:sp>
            <p:nvSpPr>
              <p:cNvPr id="42001" name="Text Box 34"/>
              <p:cNvSpPr txBox="1">
                <a:spLocks noChangeArrowheads="1"/>
              </p:cNvSpPr>
              <p:nvPr/>
            </p:nvSpPr>
            <p:spPr bwMode="auto">
              <a:xfrm>
                <a:off x="8459603" y="2368950"/>
                <a:ext cx="375900" cy="378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dirty="0">
                    <a:solidFill>
                      <a:srgbClr val="006600"/>
                    </a:solidFill>
                  </a:rPr>
                  <a:t>S</a:t>
                </a:r>
              </a:p>
            </p:txBody>
          </p:sp>
          <p:sp>
            <p:nvSpPr>
              <p:cNvPr id="42002" name="Line 40"/>
              <p:cNvSpPr>
                <a:spLocks noChangeShapeType="1"/>
              </p:cNvSpPr>
              <p:nvPr/>
            </p:nvSpPr>
            <p:spPr bwMode="auto">
              <a:xfrm flipV="1">
                <a:off x="7551305" y="2823028"/>
                <a:ext cx="1065646" cy="1050977"/>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anchor="ctr"/>
              <a:lstStyle/>
              <a:p>
                <a:endParaRPr lang="en-US"/>
              </a:p>
            </p:txBody>
          </p:sp>
        </p:grpSp>
        <p:grpSp>
          <p:nvGrpSpPr>
            <p:cNvPr id="16" name="Group 15"/>
            <p:cNvGrpSpPr/>
            <p:nvPr/>
          </p:nvGrpSpPr>
          <p:grpSpPr>
            <a:xfrm>
              <a:off x="6477000" y="3297797"/>
              <a:ext cx="1022350" cy="777316"/>
              <a:chOff x="6477000" y="3297797"/>
              <a:chExt cx="1022350" cy="777316"/>
            </a:xfrm>
          </p:grpSpPr>
          <p:cxnSp>
            <p:nvCxnSpPr>
              <p:cNvPr id="62" name="Straight Connector 61"/>
              <p:cNvCxnSpPr/>
              <p:nvPr/>
            </p:nvCxnSpPr>
            <p:spPr>
              <a:xfrm>
                <a:off x="6490218" y="3639110"/>
                <a:ext cx="0" cy="436003"/>
              </a:xfrm>
              <a:prstGeom prst="line">
                <a:avLst/>
              </a:prstGeom>
              <a:ln w="57150">
                <a:solidFill>
                  <a:srgbClr val="00660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6477000" y="3657600"/>
                <a:ext cx="486182" cy="0"/>
              </a:xfrm>
              <a:prstGeom prst="line">
                <a:avLst/>
              </a:prstGeom>
              <a:ln w="57150">
                <a:solidFill>
                  <a:srgbClr val="006600"/>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flipH="1">
                <a:off x="6983328" y="3297797"/>
                <a:ext cx="272931" cy="389804"/>
              </a:xfrm>
              <a:prstGeom prst="line">
                <a:avLst/>
              </a:prstGeom>
              <a:ln w="57150">
                <a:solidFill>
                  <a:srgbClr val="00660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7256259" y="3297797"/>
                <a:ext cx="243091" cy="0"/>
              </a:xfrm>
              <a:prstGeom prst="line">
                <a:avLst/>
              </a:prstGeom>
              <a:ln w="57150">
                <a:solidFill>
                  <a:srgbClr val="006600"/>
                </a:solidFill>
                <a:prstDash val="sysDot"/>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584489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left)">
                                      <p:cBhvr>
                                        <p:cTn id="7" dur="500"/>
                                        <p:tgtEl>
                                          <p:spTgt spid="3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ipe(left)">
                                      <p:cBhvr>
                                        <p:cTn id="15" dur="500"/>
                                        <p:tgtEl>
                                          <p:spTgt spid="30"/>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up)">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wipe(left)">
                                      <p:cBhvr>
                                        <p:cTn id="24" dur="500"/>
                                        <p:tgtEl>
                                          <p:spTgt spid="43"/>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childTnLst>
                          </p:cTn>
                        </p:par>
                        <p:par>
                          <p:cTn id="29" fill="hold">
                            <p:stCondLst>
                              <p:cond delay="1000"/>
                            </p:stCondLst>
                            <p:childTnLst>
                              <p:par>
                                <p:cTn id="30" presetID="22" presetClass="entr" presetSubtype="1" fill="hold" nodeType="after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wipe(up)">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wipe(left)">
                                      <p:cBhvr>
                                        <p:cTn id="37" dur="500"/>
                                        <p:tgtEl>
                                          <p:spTgt spid="47"/>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left)">
                                      <p:cBhvr>
                                        <p:cTn id="41" dur="500"/>
                                        <p:tgtEl>
                                          <p:spTgt spid="17"/>
                                        </p:tgtEl>
                                      </p:cBhvr>
                                    </p:animEffect>
                                  </p:childTnLst>
                                </p:cTn>
                              </p:par>
                            </p:childTnLst>
                          </p:cTn>
                        </p:par>
                        <p:par>
                          <p:cTn id="42" fill="hold">
                            <p:stCondLst>
                              <p:cond delay="1000"/>
                            </p:stCondLst>
                            <p:childTnLst>
                              <p:par>
                                <p:cTn id="43" presetID="22" presetClass="entr" presetSubtype="1" fill="hold" nodeType="afterEffect">
                                  <p:stCondLst>
                                    <p:cond delay="0"/>
                                  </p:stCondLst>
                                  <p:childTnLst>
                                    <p:set>
                                      <p:cBhvr>
                                        <p:cTn id="44" dur="1" fill="hold">
                                          <p:stCondLst>
                                            <p:cond delay="0"/>
                                          </p:stCondLst>
                                        </p:cTn>
                                        <p:tgtEl>
                                          <p:spTgt spid="50"/>
                                        </p:tgtEl>
                                        <p:attrNameLst>
                                          <p:attrName>style.visibility</p:attrName>
                                        </p:attrNameLst>
                                      </p:cBhvr>
                                      <p:to>
                                        <p:strVal val="visible"/>
                                      </p:to>
                                    </p:set>
                                    <p:animEffect transition="in" filter="wipe(up)">
                                      <p:cBhvr>
                                        <p:cTn id="45" dur="500"/>
                                        <p:tgtEl>
                                          <p:spTgt spid="50"/>
                                        </p:tgtEl>
                                      </p:cBhvr>
                                    </p:animEffect>
                                  </p:childTnLst>
                                </p:cTn>
                              </p:par>
                            </p:childTnLst>
                          </p:cTn>
                        </p:par>
                        <p:par>
                          <p:cTn id="46" fill="hold">
                            <p:stCondLst>
                              <p:cond delay="1500"/>
                            </p:stCondLst>
                            <p:childTnLst>
                              <p:par>
                                <p:cTn id="47" presetID="22" presetClass="entr" presetSubtype="8" fill="hold" grpId="0" nodeType="afterEffect">
                                  <p:stCondLst>
                                    <p:cond delay="0"/>
                                  </p:stCondLst>
                                  <p:childTnLst>
                                    <p:set>
                                      <p:cBhvr>
                                        <p:cTn id="48" dur="1" fill="hold">
                                          <p:stCondLst>
                                            <p:cond delay="0"/>
                                          </p:stCondLst>
                                        </p:cTn>
                                        <p:tgtEl>
                                          <p:spTgt spid="41987">
                                            <p:txEl>
                                              <p:pRg st="0" end="0"/>
                                            </p:txEl>
                                          </p:spTgt>
                                        </p:tgtEl>
                                        <p:attrNameLst>
                                          <p:attrName>style.visibility</p:attrName>
                                        </p:attrNameLst>
                                      </p:cBhvr>
                                      <p:to>
                                        <p:strVal val="visible"/>
                                      </p:to>
                                    </p:set>
                                    <p:animEffect transition="in" filter="wipe(left)">
                                      <p:cBhvr>
                                        <p:cTn id="49" dur="500"/>
                                        <p:tgtEl>
                                          <p:spTgt spid="4198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pPr>
              <a:lnSpc>
                <a:spcPct val="90000"/>
              </a:lnSpc>
            </a:pPr>
            <a:r>
              <a:rPr lang="en-US" altLang="en-US" sz="4200" smtClean="0"/>
              <a:t>Short-Run Market Supply Function</a:t>
            </a:r>
          </a:p>
        </p:txBody>
      </p:sp>
      <p:sp>
        <p:nvSpPr>
          <p:cNvPr id="5124" name="Rectangle 3"/>
          <p:cNvSpPr>
            <a:spLocks noGrp="1" noChangeArrowheads="1"/>
          </p:cNvSpPr>
          <p:nvPr>
            <p:ph idx="1"/>
          </p:nvPr>
        </p:nvSpPr>
        <p:spPr/>
        <p:txBody>
          <a:bodyPr/>
          <a:lstStyle/>
          <a:p>
            <a:r>
              <a:rPr lang="en-US" altLang="en-US" smtClean="0"/>
              <a:t>Short-run market supply function</a:t>
            </a:r>
          </a:p>
          <a:p>
            <a:pPr lvl="1"/>
            <a:r>
              <a:rPr lang="en-US" altLang="en-US" smtClean="0"/>
              <a:t>Shows total quantity supplied by each firm to a market</a:t>
            </a:r>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1538BD14-EF81-4E47-9EE0-5F3A883895A0}" type="slidenum">
              <a:rPr lang="en-US" smtClean="0"/>
              <a:pPr>
                <a:defRPr/>
              </a:pPr>
              <a:t>18</a:t>
            </a:fld>
            <a:endParaRPr lang="en-US"/>
          </a:p>
        </p:txBody>
      </p:sp>
      <p:sp>
        <p:nvSpPr>
          <p:cNvPr id="2" name="Text Placeholder 1"/>
          <p:cNvSpPr>
            <a:spLocks noGrp="1"/>
          </p:cNvSpPr>
          <p:nvPr>
            <p:ph type="body" sz="quarter" idx="12"/>
          </p:nvPr>
        </p:nvSpPr>
        <p:spPr/>
        <p:txBody>
          <a:bodyPr/>
          <a:lstStyle/>
          <a:p>
            <a:pPr lvl="1"/>
            <a:r>
              <a:rPr lang="en-US" kern="0" dirty="0"/>
              <a:t>Firms are assumed to face the same market price and the same prices for inputs</a:t>
            </a:r>
          </a:p>
          <a:p>
            <a:pPr lvl="1"/>
            <a:endParaRPr lang="en-US" dirty="0"/>
          </a:p>
        </p:txBody>
      </p:sp>
      <p:graphicFrame>
        <p:nvGraphicFramePr>
          <p:cNvPr id="736260" name="Object 2"/>
          <p:cNvGraphicFramePr>
            <a:graphicFrameLocks noChangeAspect="1"/>
          </p:cNvGraphicFramePr>
          <p:nvPr/>
        </p:nvGraphicFramePr>
        <p:xfrm>
          <a:off x="2038350" y="2797175"/>
          <a:ext cx="3792538" cy="1001713"/>
        </p:xfrm>
        <a:graphic>
          <a:graphicData uri="http://schemas.openxmlformats.org/presentationml/2006/ole">
            <mc:AlternateContent xmlns:mc="http://schemas.openxmlformats.org/markup-compatibility/2006">
              <mc:Choice xmlns:v="urn:schemas-microsoft-com:vml" Requires="v">
                <p:oleObj spid="_x0000_s249870" name="Equation" r:id="rId3" imgW="1638000" imgH="431640" progId="Equation.DSMT4">
                  <p:embed/>
                </p:oleObj>
              </mc:Choice>
              <mc:Fallback>
                <p:oleObj name="Equation" r:id="rId3" imgW="163800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8350" y="2797175"/>
                        <a:ext cx="3792538" cy="1001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6279021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36260"/>
                                        </p:tgtEl>
                                        <p:attrNameLst>
                                          <p:attrName>style.visibility</p:attrName>
                                        </p:attrNameLst>
                                      </p:cBhvr>
                                      <p:to>
                                        <p:strVal val="visible"/>
                                      </p:to>
                                    </p:set>
                                    <p:animEffect transition="in" filter="wipe(left)">
                                      <p:cBhvr>
                                        <p:cTn id="7" dur="500"/>
                                        <p:tgtEl>
                                          <p:spTgt spid="73626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a:lnSpc>
                <a:spcPct val="90000"/>
              </a:lnSpc>
            </a:pPr>
            <a:r>
              <a:rPr lang="en-US" altLang="en-US" sz="4200" smtClean="0"/>
              <a:t>Short-Run Market Supply Function</a:t>
            </a:r>
          </a:p>
        </p:txBody>
      </p:sp>
      <p:sp>
        <p:nvSpPr>
          <p:cNvPr id="43011" name="Rectangle 3"/>
          <p:cNvSpPr>
            <a:spLocks noGrp="1" noChangeArrowheads="1"/>
          </p:cNvSpPr>
          <p:nvPr>
            <p:ph idx="1"/>
          </p:nvPr>
        </p:nvSpPr>
        <p:spPr/>
        <p:txBody>
          <a:bodyPr/>
          <a:lstStyle/>
          <a:p>
            <a:r>
              <a:rPr lang="en-US" altLang="en-US" smtClean="0"/>
              <a:t>Short-run market supply curve </a:t>
            </a:r>
          </a:p>
          <a:p>
            <a:pPr lvl="1"/>
            <a:r>
              <a:rPr lang="en-US" altLang="en-US" smtClean="0"/>
              <a:t>Shows the two-dimensional relationship between </a:t>
            </a:r>
            <a:r>
              <a:rPr lang="en-US" altLang="en-US" i="1" smtClean="0"/>
              <a:t>Q</a:t>
            </a:r>
            <a:r>
              <a:rPr lang="en-US" altLang="en-US" smtClean="0"/>
              <a:t> and </a:t>
            </a:r>
            <a:r>
              <a:rPr lang="en-US" altLang="en-US" i="1" smtClean="0"/>
              <a:t>P</a:t>
            </a:r>
          </a:p>
          <a:p>
            <a:pPr lvl="1"/>
            <a:r>
              <a:rPr lang="en-US" altLang="en-US" smtClean="0"/>
              <a:t>Holding </a:t>
            </a:r>
            <a:r>
              <a:rPr lang="en-US" altLang="en-US" i="1" smtClean="0"/>
              <a:t>v</a:t>
            </a:r>
            <a:r>
              <a:rPr lang="en-US" altLang="en-US" smtClean="0"/>
              <a:t> and </a:t>
            </a:r>
            <a:r>
              <a:rPr lang="en-US" altLang="en-US" i="1" smtClean="0"/>
              <a:t>w</a:t>
            </a:r>
            <a:r>
              <a:rPr lang="en-US" altLang="en-US" smtClean="0"/>
              <a:t> (and each firm’s underlying technology) constant</a:t>
            </a:r>
          </a:p>
          <a:p>
            <a:pPr lvl="1"/>
            <a:r>
              <a:rPr lang="en-US" altLang="en-US" smtClean="0"/>
              <a:t>If </a:t>
            </a:r>
            <a:r>
              <a:rPr lang="en-US" altLang="en-US" i="1" smtClean="0"/>
              <a:t>v, w</a:t>
            </a:r>
            <a:r>
              <a:rPr lang="en-US" altLang="en-US" smtClean="0"/>
              <a:t>, or technology were to change, the supply curve would shift </a:t>
            </a:r>
          </a:p>
          <a:p>
            <a:pPr lvl="1"/>
            <a:endParaRPr lang="en-US" altLang="en-US" smtClean="0"/>
          </a:p>
          <a:p>
            <a:endParaRPr lang="en-US" altLang="en-US" smtClean="0"/>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BD941C84-7867-41B1-8619-99AF7ADB2612}" type="slidenum">
              <a:rPr lang="en-US" smtClean="0"/>
              <a:pPr>
                <a:defRPr/>
              </a:pPr>
              <a:t>19</a:t>
            </a:fld>
            <a:endParaRPr lang="en-US"/>
          </a:p>
        </p:txBody>
      </p:sp>
    </p:spTree>
    <p:extLst>
      <p:ext uri="{BB962C8B-B14F-4D97-AF65-F5344CB8AC3E}">
        <p14:creationId xmlns:p14="http://schemas.microsoft.com/office/powerpoint/2010/main" val="207107487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en-US" altLang="en-US" smtClean="0"/>
              <a:t>Short-Run Supply Elasticity</a:t>
            </a:r>
          </a:p>
        </p:txBody>
      </p:sp>
      <p:sp>
        <p:nvSpPr>
          <p:cNvPr id="6148" name="Rectangle 3"/>
          <p:cNvSpPr>
            <a:spLocks noGrp="1" noChangeArrowheads="1"/>
          </p:cNvSpPr>
          <p:nvPr>
            <p:ph idx="1"/>
          </p:nvPr>
        </p:nvSpPr>
        <p:spPr/>
        <p:txBody>
          <a:bodyPr/>
          <a:lstStyle/>
          <a:p>
            <a:r>
              <a:rPr lang="en-US" altLang="en-US" smtClean="0"/>
              <a:t>Short-run supply elasticity</a:t>
            </a:r>
          </a:p>
          <a:p>
            <a:pPr lvl="1"/>
            <a:r>
              <a:rPr lang="en-US" altLang="en-US" smtClean="0"/>
              <a:t>Describes the responsiveness of quantity supplied to changes in market price</a:t>
            </a:r>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63909C35-8186-4DA3-BE7A-FC7579FE16F8}" type="slidenum">
              <a:rPr lang="en-US" smtClean="0"/>
              <a:pPr>
                <a:defRPr/>
              </a:pPr>
              <a:t>20</a:t>
            </a:fld>
            <a:endParaRPr lang="en-US"/>
          </a:p>
        </p:txBody>
      </p:sp>
      <p:sp>
        <p:nvSpPr>
          <p:cNvPr id="2" name="Text Placeholder 1"/>
          <p:cNvSpPr>
            <a:spLocks noGrp="1"/>
          </p:cNvSpPr>
          <p:nvPr>
            <p:ph type="body" sz="quarter" idx="12"/>
          </p:nvPr>
        </p:nvSpPr>
        <p:spPr/>
        <p:txBody>
          <a:bodyPr/>
          <a:lstStyle/>
          <a:p>
            <a:pPr lvl="1"/>
            <a:r>
              <a:rPr lang="en-US" altLang="en-US" dirty="0"/>
              <a:t>Because price and quantity supplied are positively related, </a:t>
            </a:r>
            <a:r>
              <a:rPr lang="en-US" altLang="en-US" i="1" dirty="0" err="1"/>
              <a:t>e</a:t>
            </a:r>
            <a:r>
              <a:rPr lang="en-US" altLang="en-US" i="1" baseline="-25000" dirty="0" err="1"/>
              <a:t>S,P</a:t>
            </a:r>
            <a:r>
              <a:rPr lang="en-US" altLang="en-US" dirty="0"/>
              <a:t> &gt; 0</a:t>
            </a:r>
          </a:p>
          <a:p>
            <a:pPr lvl="1"/>
            <a:endParaRPr lang="en-US" dirty="0"/>
          </a:p>
        </p:txBody>
      </p:sp>
      <p:graphicFrame>
        <p:nvGraphicFramePr>
          <p:cNvPr id="737284" name="Object 2"/>
          <p:cNvGraphicFramePr>
            <a:graphicFrameLocks noChangeAspect="1"/>
          </p:cNvGraphicFramePr>
          <p:nvPr>
            <p:extLst>
              <p:ext uri="{D42A27DB-BD31-4B8C-83A1-F6EECF244321}">
                <p14:modId xmlns:p14="http://schemas.microsoft.com/office/powerpoint/2010/main" val="2845503923"/>
              </p:ext>
            </p:extLst>
          </p:nvPr>
        </p:nvGraphicFramePr>
        <p:xfrm>
          <a:off x="1495425" y="2905125"/>
          <a:ext cx="5915025" cy="981075"/>
        </p:xfrm>
        <a:graphic>
          <a:graphicData uri="http://schemas.openxmlformats.org/presentationml/2006/ole">
            <mc:AlternateContent xmlns:mc="http://schemas.openxmlformats.org/markup-compatibility/2006">
              <mc:Choice xmlns:v="urn:schemas-microsoft-com:vml" Requires="v">
                <p:oleObj spid="_x0000_s250895" name="Equation" r:id="rId3" imgW="2603160" imgH="431640" progId="Equation.DSMT4">
                  <p:embed/>
                </p:oleObj>
              </mc:Choice>
              <mc:Fallback>
                <p:oleObj name="Equation" r:id="rId3" imgW="260316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5425" y="2905125"/>
                        <a:ext cx="5915025" cy="981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1609162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37284"/>
                                        </p:tgtEl>
                                        <p:attrNameLst>
                                          <p:attrName>style.visibility</p:attrName>
                                        </p:attrNameLst>
                                      </p:cBhvr>
                                      <p:to>
                                        <p:strVal val="visible"/>
                                      </p:to>
                                    </p:set>
                                    <p:animEffect transition="in" filter="wipe(left)">
                                      <p:cBhvr>
                                        <p:cTn id="7" dur="500"/>
                                        <p:tgtEl>
                                          <p:spTgt spid="73728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smtClean="0"/>
              <a:t>12.2	A Short-Run Supply Function</a:t>
            </a:r>
          </a:p>
        </p:txBody>
      </p:sp>
      <p:sp>
        <p:nvSpPr>
          <p:cNvPr id="6" name="Footer Placeholder 5"/>
          <p:cNvSpPr>
            <a:spLocks noGrp="1"/>
          </p:cNvSpPr>
          <p:nvPr>
            <p:ph type="ftr" sz="quarter" idx="10"/>
          </p:nvPr>
        </p:nvSpPr>
        <p:spPr>
          <a:prstGeom prst="rect">
            <a:avLst/>
          </a:prstGeom>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5" name="Slide Number Placeholder 4"/>
          <p:cNvSpPr>
            <a:spLocks noGrp="1"/>
          </p:cNvSpPr>
          <p:nvPr>
            <p:ph type="sldNum" sz="quarter" idx="11"/>
          </p:nvPr>
        </p:nvSpPr>
        <p:spPr>
          <a:prstGeom prst="rect">
            <a:avLst/>
          </a:prstGeom>
        </p:spPr>
        <p:txBody>
          <a:bodyPr/>
          <a:lstStyle/>
          <a:p>
            <a:pPr>
              <a:defRPr/>
            </a:pPr>
            <a:fld id="{E3EE5CA7-F8A1-4F93-A6F7-46065DDF30E1}" type="slidenum">
              <a:rPr lang="en-US" smtClean="0"/>
              <a:pPr>
                <a:defRPr/>
              </a:pPr>
              <a:t>21</a:t>
            </a:fld>
            <a:endParaRPr lang="en-US"/>
          </a:p>
        </p:txBody>
      </p:sp>
      <p:sp>
        <p:nvSpPr>
          <p:cNvPr id="7173" name="Rectangle 3"/>
          <p:cNvSpPr>
            <a:spLocks noGrp="1" noChangeArrowheads="1"/>
          </p:cNvSpPr>
          <p:nvPr>
            <p:ph type="body" sz="quarter" idx="12"/>
          </p:nvPr>
        </p:nvSpPr>
        <p:spPr>
          <a:prstGeom prst="rect">
            <a:avLst/>
          </a:prstGeom>
        </p:spPr>
        <p:txBody>
          <a:bodyPr/>
          <a:lstStyle/>
          <a:p>
            <a:r>
              <a:rPr lang="en-US" altLang="en-US" dirty="0" smtClean="0"/>
              <a:t>Cobb-Douglas production function:</a:t>
            </a:r>
          </a:p>
          <a:p>
            <a:endParaRPr lang="en-US" altLang="en-US" dirty="0" smtClean="0"/>
          </a:p>
        </p:txBody>
      </p:sp>
      <p:graphicFrame>
        <p:nvGraphicFramePr>
          <p:cNvPr id="2" name="Object 1"/>
          <p:cNvGraphicFramePr>
            <a:graphicFrameLocks noChangeAspect="1"/>
          </p:cNvGraphicFramePr>
          <p:nvPr>
            <p:extLst>
              <p:ext uri="{D42A27DB-BD31-4B8C-83A1-F6EECF244321}">
                <p14:modId xmlns:p14="http://schemas.microsoft.com/office/powerpoint/2010/main" val="4007884915"/>
              </p:ext>
            </p:extLst>
          </p:nvPr>
        </p:nvGraphicFramePr>
        <p:xfrm>
          <a:off x="460129" y="1196975"/>
          <a:ext cx="8223741" cy="4441825"/>
        </p:xfrm>
        <a:graphic>
          <a:graphicData uri="http://schemas.openxmlformats.org/presentationml/2006/ole">
            <mc:AlternateContent xmlns:mc="http://schemas.openxmlformats.org/markup-compatibility/2006">
              <mc:Choice xmlns:v="urn:schemas-microsoft-com:vml" Requires="v">
                <p:oleObj spid="_x0000_s251930" name="Equation" r:id="rId3" imgW="2539800" imgH="1371600" progId="Equation.DSMT4">
                  <p:embed/>
                </p:oleObj>
              </mc:Choice>
              <mc:Fallback>
                <p:oleObj name="Equation" r:id="rId3" imgW="2539800" imgH="1371600" progId="Equation.DSMT4">
                  <p:embed/>
                  <p:pic>
                    <p:nvPicPr>
                      <p:cNvPr id="0" name=""/>
                      <p:cNvPicPr/>
                      <p:nvPr/>
                    </p:nvPicPr>
                    <p:blipFill>
                      <a:blip r:embed="rId4"/>
                      <a:stretch>
                        <a:fillRect/>
                      </a:stretch>
                    </p:blipFill>
                    <p:spPr>
                      <a:xfrm>
                        <a:off x="460129" y="1196975"/>
                        <a:ext cx="8223741" cy="4441825"/>
                      </a:xfrm>
                      <a:prstGeom prst="rect">
                        <a:avLst/>
                      </a:prstGeom>
                    </p:spPr>
                  </p:pic>
                </p:oleObj>
              </mc:Fallback>
            </mc:AlternateContent>
          </a:graphicData>
        </a:graphic>
      </p:graphicFrame>
    </p:spTree>
    <p:extLst>
      <p:ext uri="{BB962C8B-B14F-4D97-AF65-F5344CB8AC3E}">
        <p14:creationId xmlns:p14="http://schemas.microsoft.com/office/powerpoint/2010/main" val="2840321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smtClean="0"/>
              <a:t>12.2	A Short-Run Supply Function</a:t>
            </a:r>
          </a:p>
        </p:txBody>
      </p:sp>
      <p:sp>
        <p:nvSpPr>
          <p:cNvPr id="6" name="Footer Placeholder 5"/>
          <p:cNvSpPr>
            <a:spLocks noGrp="1"/>
          </p:cNvSpPr>
          <p:nvPr>
            <p:ph type="ftr" sz="quarter" idx="10"/>
          </p:nvPr>
        </p:nvSpPr>
        <p:spPr>
          <a:prstGeom prst="rect">
            <a:avLst/>
          </a:prstGeom>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5" name="Slide Number Placeholder 4"/>
          <p:cNvSpPr>
            <a:spLocks noGrp="1"/>
          </p:cNvSpPr>
          <p:nvPr>
            <p:ph type="sldNum" sz="quarter" idx="11"/>
          </p:nvPr>
        </p:nvSpPr>
        <p:spPr>
          <a:prstGeom prst="rect">
            <a:avLst/>
          </a:prstGeom>
        </p:spPr>
        <p:txBody>
          <a:bodyPr/>
          <a:lstStyle/>
          <a:p>
            <a:pPr>
              <a:defRPr/>
            </a:pPr>
            <a:fld id="{E3EE5CA7-F8A1-4F93-A6F7-46065DDF30E1}" type="slidenum">
              <a:rPr lang="en-US" smtClean="0"/>
              <a:pPr>
                <a:defRPr/>
              </a:pPr>
              <a:t>22</a:t>
            </a:fld>
            <a:endParaRPr lang="en-US"/>
          </a:p>
        </p:txBody>
      </p:sp>
      <p:sp>
        <p:nvSpPr>
          <p:cNvPr id="7173" name="Rectangle 3"/>
          <p:cNvSpPr>
            <a:spLocks noGrp="1" noChangeArrowheads="1"/>
          </p:cNvSpPr>
          <p:nvPr>
            <p:ph type="body" sz="quarter" idx="12"/>
          </p:nvPr>
        </p:nvSpPr>
        <p:spPr>
          <a:prstGeom prst="rect">
            <a:avLst/>
          </a:prstGeom>
        </p:spPr>
        <p:txBody>
          <a:bodyPr/>
          <a:lstStyle/>
          <a:p>
            <a:r>
              <a:rPr lang="en-US" altLang="en-US" dirty="0" smtClean="0"/>
              <a:t>100 </a:t>
            </a:r>
            <a:r>
              <a:rPr lang="en-US" altLang="en-US" dirty="0" smtClean="0"/>
              <a:t>identical firms </a:t>
            </a:r>
          </a:p>
          <a:p>
            <a:pPr lvl="1"/>
            <a:r>
              <a:rPr lang="en-US" altLang="en-US" dirty="0" smtClean="0"/>
              <a:t>Each with the </a:t>
            </a:r>
            <a:r>
              <a:rPr lang="en-US" altLang="en-US" dirty="0" smtClean="0"/>
              <a:t>same short-run </a:t>
            </a:r>
            <a:r>
              <a:rPr lang="en-US" altLang="en-US" dirty="0" smtClean="0"/>
              <a:t>supply </a:t>
            </a:r>
            <a:r>
              <a:rPr lang="en-US" altLang="en-US" dirty="0" smtClean="0"/>
              <a:t>function</a:t>
            </a:r>
            <a:endParaRPr lang="en-US" altLang="en-US" dirty="0" smtClean="0"/>
          </a:p>
          <a:p>
            <a:r>
              <a:rPr lang="en-US" altLang="en-US" dirty="0" smtClean="0"/>
              <a:t>Short-run </a:t>
            </a:r>
            <a:r>
              <a:rPr lang="en-US" altLang="en-US" dirty="0" smtClean="0"/>
              <a:t>market supply function:</a:t>
            </a:r>
            <a:endParaRPr lang="en-US" altLang="en-US" i="1" dirty="0" smtClean="0"/>
          </a:p>
        </p:txBody>
      </p:sp>
      <p:sp>
        <p:nvSpPr>
          <p:cNvPr id="3" name="Text Placeholder 2"/>
          <p:cNvSpPr>
            <a:spLocks noGrp="1"/>
          </p:cNvSpPr>
          <p:nvPr>
            <p:ph type="body" sz="quarter" idx="13"/>
          </p:nvPr>
        </p:nvSpPr>
        <p:spPr/>
        <p:txBody>
          <a:bodyPr/>
          <a:lstStyle/>
          <a:p>
            <a:r>
              <a:rPr lang="en-US" kern="0" dirty="0">
                <a:solidFill>
                  <a:srgbClr val="002D56"/>
                </a:solidFill>
              </a:rPr>
              <a:t>Short-run elasticity of supply:</a:t>
            </a:r>
            <a:endParaRPr lang="en-US" sz="2000" kern="0" dirty="0">
              <a:solidFill>
                <a:srgbClr val="002D56"/>
              </a:solidFill>
            </a:endParaRPr>
          </a:p>
          <a:p>
            <a:endParaRPr lang="en-US" dirty="0"/>
          </a:p>
        </p:txBody>
      </p:sp>
      <p:graphicFrame>
        <p:nvGraphicFramePr>
          <p:cNvPr id="738308" name="Object 2"/>
          <p:cNvGraphicFramePr>
            <a:graphicFrameLocks noChangeAspect="1"/>
          </p:cNvGraphicFramePr>
          <p:nvPr>
            <p:extLst>
              <p:ext uri="{D42A27DB-BD31-4B8C-83A1-F6EECF244321}">
                <p14:modId xmlns:p14="http://schemas.microsoft.com/office/powerpoint/2010/main" val="2641304863"/>
              </p:ext>
            </p:extLst>
          </p:nvPr>
        </p:nvGraphicFramePr>
        <p:xfrm>
          <a:off x="609600" y="2362200"/>
          <a:ext cx="7131050" cy="996950"/>
        </p:xfrm>
        <a:graphic>
          <a:graphicData uri="http://schemas.openxmlformats.org/presentationml/2006/ole">
            <mc:AlternateContent xmlns:mc="http://schemas.openxmlformats.org/markup-compatibility/2006">
              <mc:Choice xmlns:v="urn:schemas-microsoft-com:vml" Requires="v">
                <p:oleObj spid="_x0000_s264212" name="Equation" r:id="rId3" imgW="3098520" imgH="431640" progId="Equation.DSMT4">
                  <p:embed/>
                </p:oleObj>
              </mc:Choice>
              <mc:Fallback>
                <p:oleObj name="Equation" r:id="rId3" imgW="3098520" imgH="431640" progId="Equation.DSMT4">
                  <p:embed/>
                  <p:pic>
                    <p:nvPicPr>
                      <p:cNvPr id="0" name=""/>
                      <p:cNvPicPr>
                        <a:picLocks noChangeAspect="1" noChangeArrowheads="1"/>
                      </p:cNvPicPr>
                      <p:nvPr/>
                    </p:nvPicPr>
                    <p:blipFill>
                      <a:blip r:embed="rId4"/>
                      <a:srcRect/>
                      <a:stretch>
                        <a:fillRect/>
                      </a:stretch>
                    </p:blipFill>
                    <p:spPr bwMode="auto">
                      <a:xfrm>
                        <a:off x="609600" y="2362200"/>
                        <a:ext cx="7131050" cy="996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1" name="Object 3"/>
          <p:cNvGraphicFramePr>
            <a:graphicFrameLocks noChangeAspect="1"/>
          </p:cNvGraphicFramePr>
          <p:nvPr>
            <p:extLst>
              <p:ext uri="{D42A27DB-BD31-4B8C-83A1-F6EECF244321}">
                <p14:modId xmlns:p14="http://schemas.microsoft.com/office/powerpoint/2010/main" val="3954964402"/>
              </p:ext>
            </p:extLst>
          </p:nvPr>
        </p:nvGraphicFramePr>
        <p:xfrm>
          <a:off x="537369" y="4419600"/>
          <a:ext cx="8069262" cy="1014412"/>
        </p:xfrm>
        <a:graphic>
          <a:graphicData uri="http://schemas.openxmlformats.org/presentationml/2006/ole">
            <mc:AlternateContent xmlns:mc="http://schemas.openxmlformats.org/markup-compatibility/2006">
              <mc:Choice xmlns:v="urn:schemas-microsoft-com:vml" Requires="v">
                <p:oleObj spid="_x0000_s264213" name="Equation" r:id="rId5" imgW="3530520" imgH="444240" progId="Equation.DSMT4">
                  <p:embed/>
                </p:oleObj>
              </mc:Choice>
              <mc:Fallback>
                <p:oleObj name="Equation" r:id="rId5" imgW="3530520" imgH="444240" progId="Equation.DSMT4">
                  <p:embed/>
                  <p:pic>
                    <p:nvPicPr>
                      <p:cNvPr id="0" name=""/>
                      <p:cNvPicPr>
                        <a:picLocks noChangeAspect="1" noChangeArrowheads="1"/>
                      </p:cNvPicPr>
                      <p:nvPr/>
                    </p:nvPicPr>
                    <p:blipFill>
                      <a:blip r:embed="rId6"/>
                      <a:srcRect/>
                      <a:stretch>
                        <a:fillRect/>
                      </a:stretch>
                    </p:blipFill>
                    <p:spPr bwMode="auto">
                      <a:xfrm>
                        <a:off x="537369" y="4419600"/>
                        <a:ext cx="8069262" cy="101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485168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38308"/>
                                        </p:tgtEl>
                                        <p:attrNameLst>
                                          <p:attrName>style.visibility</p:attrName>
                                        </p:attrNameLst>
                                      </p:cBhvr>
                                      <p:to>
                                        <p:strVal val="visible"/>
                                      </p:to>
                                    </p:set>
                                    <p:animEffect transition="in" filter="wipe(left)">
                                      <p:cBhvr>
                                        <p:cTn id="7" dur="500"/>
                                        <p:tgtEl>
                                          <p:spTgt spid="73830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7891"/>
                                        </p:tgtEl>
                                        <p:attrNameLst>
                                          <p:attrName>style.visibility</p:attrName>
                                        </p:attrNameLst>
                                      </p:cBhvr>
                                      <p:to>
                                        <p:strVal val="visible"/>
                                      </p:to>
                                    </p:set>
                                    <p:animEffect transition="in" filter="wipe(left)">
                                      <p:cBhvr>
                                        <p:cTn id="15" dur="500"/>
                                        <p:tgtEl>
                                          <p:spTgt spid="37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pPr>
              <a:lnSpc>
                <a:spcPct val="90000"/>
              </a:lnSpc>
            </a:pPr>
            <a:r>
              <a:rPr lang="en-US" altLang="en-US" smtClean="0"/>
              <a:t>Equilibrium Price Determination</a:t>
            </a:r>
          </a:p>
        </p:txBody>
      </p:sp>
      <p:sp>
        <p:nvSpPr>
          <p:cNvPr id="8196" name="Rectangle 3"/>
          <p:cNvSpPr>
            <a:spLocks noGrp="1" noChangeArrowheads="1"/>
          </p:cNvSpPr>
          <p:nvPr>
            <p:ph idx="1"/>
          </p:nvPr>
        </p:nvSpPr>
        <p:spPr/>
        <p:txBody>
          <a:bodyPr/>
          <a:lstStyle/>
          <a:p>
            <a:r>
              <a:rPr lang="en-US" altLang="en-US" dirty="0" smtClean="0"/>
              <a:t>Equilibrium price </a:t>
            </a:r>
          </a:p>
          <a:p>
            <a:pPr lvl="1"/>
            <a:r>
              <a:rPr lang="en-US" altLang="en-US" dirty="0" smtClean="0"/>
              <a:t>Is one at which quantity demanded is equal to quantity supplied</a:t>
            </a:r>
          </a:p>
          <a:p>
            <a:pPr lvl="1"/>
            <a:r>
              <a:rPr lang="en-US" altLang="en-US" dirty="0" smtClean="0"/>
              <a:t>Neither suppliers nor demanders have an incentive to alter their economic decisions</a:t>
            </a:r>
          </a:p>
          <a:p>
            <a:pPr lvl="1"/>
            <a:r>
              <a:rPr lang="en-US" altLang="en-US" dirty="0" smtClean="0"/>
              <a:t>An equilibrium price (</a:t>
            </a:r>
            <a:r>
              <a:rPr lang="en-US" altLang="en-US" i="1" dirty="0" smtClean="0"/>
              <a:t>P</a:t>
            </a:r>
            <a:r>
              <a:rPr lang="en-US" altLang="en-US" dirty="0" smtClean="0"/>
              <a:t>*) solves the </a:t>
            </a:r>
            <a:r>
              <a:rPr lang="en-US" altLang="en-US" dirty="0" smtClean="0"/>
              <a:t>equation:</a:t>
            </a:r>
          </a:p>
          <a:p>
            <a:pPr marL="0" indent="0" algn="ctr">
              <a:buNone/>
            </a:pPr>
            <a:r>
              <a:rPr lang="en-US" altLang="en-US" i="1" dirty="0" smtClean="0"/>
              <a:t>D(P</a:t>
            </a:r>
            <a:r>
              <a:rPr lang="en-US" altLang="en-US" i="1" baseline="30000" dirty="0" smtClean="0"/>
              <a:t>*</a:t>
            </a:r>
            <a:r>
              <a:rPr lang="en-US" altLang="en-US" i="1" dirty="0" smtClean="0"/>
              <a:t>,P’,I) = S (P</a:t>
            </a:r>
            <a:r>
              <a:rPr lang="en-US" altLang="en-US" i="1" baseline="30000" dirty="0" smtClean="0"/>
              <a:t>*</a:t>
            </a:r>
            <a:r>
              <a:rPr lang="en-US" altLang="en-US" i="1" dirty="0" smtClean="0"/>
              <a:t>,</a:t>
            </a:r>
            <a:r>
              <a:rPr lang="en-US" altLang="en-US" i="1" dirty="0" err="1" smtClean="0"/>
              <a:t>w,v</a:t>
            </a:r>
            <a:r>
              <a:rPr lang="en-US" altLang="en-US" i="1" dirty="0" smtClean="0"/>
              <a:t>)</a:t>
            </a:r>
          </a:p>
          <a:p>
            <a:pPr marL="0" indent="0" algn="ctr">
              <a:buNone/>
            </a:pPr>
            <a:r>
              <a:rPr lang="en-US" altLang="en-US" dirty="0" smtClean="0"/>
              <a:t>or: </a:t>
            </a:r>
            <a:r>
              <a:rPr lang="en-US" altLang="en-US" i="1" dirty="0" smtClean="0"/>
              <a:t>D(P</a:t>
            </a:r>
            <a:r>
              <a:rPr lang="en-US" altLang="en-US" i="1" baseline="30000" dirty="0" smtClean="0"/>
              <a:t>*</a:t>
            </a:r>
            <a:r>
              <a:rPr lang="en-US" altLang="en-US" i="1" dirty="0" smtClean="0"/>
              <a:t>) </a:t>
            </a:r>
            <a:r>
              <a:rPr lang="en-US" altLang="en-US" i="1" dirty="0"/>
              <a:t>= S (</a:t>
            </a:r>
            <a:r>
              <a:rPr lang="en-US" altLang="en-US" i="1" dirty="0" smtClean="0"/>
              <a:t>P</a:t>
            </a:r>
            <a:r>
              <a:rPr lang="en-US" altLang="en-US" i="1" baseline="30000" dirty="0" smtClean="0"/>
              <a:t>*</a:t>
            </a:r>
            <a:r>
              <a:rPr lang="en-US" altLang="en-US" i="1" dirty="0" smtClean="0"/>
              <a:t>)</a:t>
            </a:r>
            <a:endParaRPr lang="en-US" altLang="en-US" i="1" dirty="0"/>
          </a:p>
          <a:p>
            <a:endParaRPr lang="en-US" altLang="en-US" dirty="0" smtClean="0"/>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5" name="Slide Number Placeholder 4"/>
          <p:cNvSpPr>
            <a:spLocks noGrp="1"/>
          </p:cNvSpPr>
          <p:nvPr>
            <p:ph type="sldNum" sz="quarter" idx="11"/>
          </p:nvPr>
        </p:nvSpPr>
        <p:spPr/>
        <p:txBody>
          <a:bodyPr/>
          <a:lstStyle/>
          <a:p>
            <a:pPr>
              <a:defRPr/>
            </a:pPr>
            <a:fld id="{3FB352F6-3F62-43DE-B298-CB919C0B997E}" type="slidenum">
              <a:rPr lang="en-US" smtClean="0"/>
              <a:pPr>
                <a:defRPr/>
              </a:pPr>
              <a:t>23</a:t>
            </a:fld>
            <a:endParaRPr lang="en-US"/>
          </a:p>
        </p:txBody>
      </p:sp>
    </p:spTree>
    <p:extLst>
      <p:ext uri="{BB962C8B-B14F-4D97-AF65-F5344CB8AC3E}">
        <p14:creationId xmlns:p14="http://schemas.microsoft.com/office/powerpoint/2010/main" val="245135164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12.4	Interactions of Many Individuals and </a:t>
            </a:r>
            <a:r>
              <a:rPr lang="en-US" altLang="en-US" dirty="0" smtClean="0"/>
              <a:t>Firms</a:t>
            </a:r>
            <a:br>
              <a:rPr lang="en-US" altLang="en-US" dirty="0" smtClean="0"/>
            </a:br>
            <a:r>
              <a:rPr lang="en-US" altLang="en-US" dirty="0" smtClean="0"/>
              <a:t>	</a:t>
            </a:r>
            <a:r>
              <a:rPr lang="en-US" altLang="en-US" dirty="0" smtClean="0">
                <a:solidFill>
                  <a:srgbClr val="002D56"/>
                </a:solidFill>
              </a:rPr>
              <a:t> </a:t>
            </a:r>
            <a:r>
              <a:rPr lang="en-US" altLang="en-US" dirty="0">
                <a:solidFill>
                  <a:srgbClr val="002D56"/>
                </a:solidFill>
              </a:rPr>
              <a:t>Determine Market Price in the Short </a:t>
            </a:r>
            <a:r>
              <a:rPr lang="en-US" altLang="en-US" dirty="0" smtClean="0">
                <a:solidFill>
                  <a:srgbClr val="002D56"/>
                </a:solidFill>
              </a:rPr>
              <a:t>Run</a:t>
            </a:r>
            <a:endParaRPr lang="en-US" altLang="en-US" dirty="0" smtClean="0">
              <a:solidFill>
                <a:srgbClr val="002D56"/>
              </a:solidFill>
            </a:endParaRPr>
          </a:p>
        </p:txBody>
      </p:sp>
      <p:sp>
        <p:nvSpPr>
          <p:cNvPr id="44035" name="Text Placeholder 2"/>
          <p:cNvSpPr>
            <a:spLocks noGrp="1"/>
          </p:cNvSpPr>
          <p:nvPr>
            <p:ph sz="half" idx="1"/>
          </p:nvPr>
        </p:nvSpPr>
        <p:spPr>
          <a:xfrm>
            <a:off x="136524" y="4243386"/>
            <a:ext cx="9007476" cy="2157413"/>
          </a:xfrm>
        </p:spPr>
        <p:txBody>
          <a:bodyPr>
            <a:normAutofit lnSpcReduction="10000"/>
          </a:bodyPr>
          <a:lstStyle/>
          <a:p>
            <a:pPr>
              <a:spcBef>
                <a:spcPct val="0"/>
              </a:spcBef>
            </a:pPr>
            <a:r>
              <a:rPr lang="en-US" dirty="0"/>
              <a:t>Market demand curves and market supply curves are each the horizontal sum of numerous components. These market curves are shown in (b). Once price is determined in the market, each firm and each individual treat this price as a fixed parameter in their decisions. Although individual firms and persons are important in determining price, their interaction as a whole is the sole determinant of price. This is illustrated by a shift in an individual’s demand curve to d’. If only one individual reacts in this way, market price will not be affected. However, if everyone exhibits an increased demand, market demand will shift to D’; in the short run, price will increase to P</a:t>
            </a:r>
            <a:r>
              <a:rPr lang="en-US" baseline="-25000" dirty="0"/>
              <a:t>2</a:t>
            </a:r>
            <a:r>
              <a:rPr lang="en-US" dirty="0" smtClean="0"/>
              <a:t>.</a:t>
            </a:r>
            <a:endParaRPr lang="en-US" dirty="0"/>
          </a:p>
        </p:txBody>
      </p:sp>
      <p:sp>
        <p:nvSpPr>
          <p:cNvPr id="44038"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B82B7A18-EC55-48A7-8843-1B2B63002340}" type="slidenum">
              <a:rPr lang="en-US" smtClean="0"/>
              <a:pPr>
                <a:defRPr/>
              </a:pPr>
              <a:t>24</a:t>
            </a:fld>
            <a:endParaRPr lang="en-US" dirty="0"/>
          </a:p>
        </p:txBody>
      </p:sp>
      <p:grpSp>
        <p:nvGrpSpPr>
          <p:cNvPr id="7" name="Group 12"/>
          <p:cNvGrpSpPr>
            <a:grpSpLocks/>
          </p:cNvGrpSpPr>
          <p:nvPr/>
        </p:nvGrpSpPr>
        <p:grpSpPr bwMode="auto">
          <a:xfrm>
            <a:off x="312738" y="2416175"/>
            <a:ext cx="7466012" cy="304800"/>
            <a:chOff x="386650" y="2905525"/>
            <a:chExt cx="7759924" cy="304800"/>
          </a:xfrm>
        </p:grpSpPr>
        <p:sp>
          <p:nvSpPr>
            <p:cNvPr id="44129" name="Line 20"/>
            <p:cNvSpPr>
              <a:spLocks noChangeShapeType="1"/>
            </p:cNvSpPr>
            <p:nvPr/>
          </p:nvSpPr>
          <p:spPr bwMode="auto">
            <a:xfrm>
              <a:off x="844548" y="3057923"/>
              <a:ext cx="7302026" cy="5904"/>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44130" name="Text Box 25"/>
            <p:cNvSpPr txBox="1">
              <a:spLocks noChangeArrowheads="1"/>
            </p:cNvSpPr>
            <p:nvPr/>
          </p:nvSpPr>
          <p:spPr bwMode="auto">
            <a:xfrm>
              <a:off x="386650" y="2905525"/>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r>
                <a:rPr lang="en-US" altLang="en-US" sz="1800" baseline="-25000"/>
                <a:t>1</a:t>
              </a:r>
              <a:endParaRPr lang="en-US" altLang="en-US" sz="1800"/>
            </a:p>
          </p:txBody>
        </p:sp>
      </p:grpSp>
      <p:grpSp>
        <p:nvGrpSpPr>
          <p:cNvPr id="10" name="Group 15"/>
          <p:cNvGrpSpPr>
            <a:grpSpLocks/>
          </p:cNvGrpSpPr>
          <p:nvPr/>
        </p:nvGrpSpPr>
        <p:grpSpPr bwMode="auto">
          <a:xfrm>
            <a:off x="314325" y="1071373"/>
            <a:ext cx="2847975" cy="2824352"/>
            <a:chOff x="433388" y="1561643"/>
            <a:chExt cx="2847975" cy="2823432"/>
          </a:xfrm>
        </p:grpSpPr>
        <p:grpSp>
          <p:nvGrpSpPr>
            <p:cNvPr id="44122" name="Group 45"/>
            <p:cNvGrpSpPr>
              <a:grpSpLocks/>
            </p:cNvGrpSpPr>
            <p:nvPr/>
          </p:nvGrpSpPr>
          <p:grpSpPr bwMode="auto">
            <a:xfrm>
              <a:off x="844550" y="4048525"/>
              <a:ext cx="2436813" cy="336550"/>
              <a:chOff x="844550" y="4048525"/>
              <a:chExt cx="2436813" cy="336550"/>
            </a:xfrm>
          </p:grpSpPr>
          <p:sp>
            <p:nvSpPr>
              <p:cNvPr id="44127" name="Line 5"/>
              <p:cNvSpPr>
                <a:spLocks noChangeShapeType="1"/>
              </p:cNvSpPr>
              <p:nvPr/>
            </p:nvSpPr>
            <p:spPr bwMode="auto">
              <a:xfrm>
                <a:off x="844550" y="4048525"/>
                <a:ext cx="1981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128" name="Text Box 9"/>
              <p:cNvSpPr txBox="1">
                <a:spLocks noChangeArrowheads="1"/>
              </p:cNvSpPr>
              <p:nvPr/>
            </p:nvSpPr>
            <p:spPr bwMode="auto">
              <a:xfrm>
                <a:off x="2386013" y="4048525"/>
                <a:ext cx="895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Output </a:t>
                </a:r>
              </a:p>
              <a:p>
                <a:pPr algn="ctr" eaLnBrk="1" hangingPunct="1"/>
                <a:r>
                  <a:rPr lang="en-US" altLang="en-US" sz="1800"/>
                  <a:t>per period</a:t>
                </a:r>
                <a:endParaRPr lang="en-US" altLang="en-US" sz="1800" baseline="30000"/>
              </a:p>
            </p:txBody>
          </p:sp>
        </p:grpSp>
        <p:grpSp>
          <p:nvGrpSpPr>
            <p:cNvPr id="44123" name="Group 44"/>
            <p:cNvGrpSpPr>
              <a:grpSpLocks/>
            </p:cNvGrpSpPr>
            <p:nvPr/>
          </p:nvGrpSpPr>
          <p:grpSpPr bwMode="auto">
            <a:xfrm>
              <a:off x="433388" y="1914925"/>
              <a:ext cx="411162" cy="2133600"/>
              <a:chOff x="433388" y="1914925"/>
              <a:chExt cx="411162" cy="2133600"/>
            </a:xfrm>
          </p:grpSpPr>
          <p:sp>
            <p:nvSpPr>
              <p:cNvPr id="44125" name="Line 4"/>
              <p:cNvSpPr>
                <a:spLocks noChangeShapeType="1"/>
              </p:cNvSpPr>
              <p:nvPr/>
            </p:nvSpPr>
            <p:spPr bwMode="auto">
              <a:xfrm>
                <a:off x="844550" y="2067325"/>
                <a:ext cx="0" cy="198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126" name="Text Box 14"/>
              <p:cNvSpPr txBox="1">
                <a:spLocks noChangeArrowheads="1"/>
              </p:cNvSpPr>
              <p:nvPr/>
            </p:nvSpPr>
            <p:spPr bwMode="auto">
              <a:xfrm>
                <a:off x="433388" y="1914925"/>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p>
            </p:txBody>
          </p:sp>
        </p:grpSp>
        <p:sp>
          <p:nvSpPr>
            <p:cNvPr id="44124" name="Text Box 27"/>
            <p:cNvSpPr txBox="1">
              <a:spLocks noChangeArrowheads="1"/>
            </p:cNvSpPr>
            <p:nvPr/>
          </p:nvSpPr>
          <p:spPr bwMode="auto">
            <a:xfrm>
              <a:off x="836224" y="1561643"/>
              <a:ext cx="18357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002D56"/>
                  </a:solidFill>
                </a:rPr>
                <a:t>(a) A typical firm </a:t>
              </a:r>
            </a:p>
          </p:txBody>
        </p:sp>
      </p:grpSp>
      <p:grpSp>
        <p:nvGrpSpPr>
          <p:cNvPr id="17" name="Group 26"/>
          <p:cNvGrpSpPr>
            <a:grpSpLocks/>
          </p:cNvGrpSpPr>
          <p:nvPr/>
        </p:nvGrpSpPr>
        <p:grpSpPr bwMode="auto">
          <a:xfrm>
            <a:off x="3176588" y="1071373"/>
            <a:ext cx="3071812" cy="3172013"/>
            <a:chOff x="3176588" y="1561643"/>
            <a:chExt cx="3071812" cy="3170980"/>
          </a:xfrm>
        </p:grpSpPr>
        <p:grpSp>
          <p:nvGrpSpPr>
            <p:cNvPr id="44115" name="Group 46"/>
            <p:cNvGrpSpPr>
              <a:grpSpLocks/>
            </p:cNvGrpSpPr>
            <p:nvPr/>
          </p:nvGrpSpPr>
          <p:grpSpPr bwMode="auto">
            <a:xfrm>
              <a:off x="3587750" y="4048525"/>
              <a:ext cx="2660650" cy="684098"/>
              <a:chOff x="3587750" y="4048525"/>
              <a:chExt cx="2660650" cy="684098"/>
            </a:xfrm>
          </p:grpSpPr>
          <p:sp>
            <p:nvSpPr>
              <p:cNvPr id="44120" name="Line 8"/>
              <p:cNvSpPr>
                <a:spLocks noChangeShapeType="1"/>
              </p:cNvSpPr>
              <p:nvPr/>
            </p:nvSpPr>
            <p:spPr bwMode="auto">
              <a:xfrm>
                <a:off x="3587750" y="4048525"/>
                <a:ext cx="1981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121" name="Text Box 11"/>
              <p:cNvSpPr txBox="1">
                <a:spLocks noChangeArrowheads="1"/>
              </p:cNvSpPr>
              <p:nvPr/>
            </p:nvSpPr>
            <p:spPr bwMode="auto">
              <a:xfrm>
                <a:off x="5009963" y="4075608"/>
                <a:ext cx="1238437" cy="657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dirty="0" smtClean="0"/>
                  <a:t>Total output</a:t>
                </a:r>
                <a:endParaRPr lang="en-US" altLang="en-US" sz="1800" dirty="0"/>
              </a:p>
              <a:p>
                <a:pPr algn="r" eaLnBrk="1" hangingPunct="1"/>
                <a:r>
                  <a:rPr lang="en-US" altLang="en-US" sz="1800" dirty="0"/>
                  <a:t>per period</a:t>
                </a:r>
              </a:p>
            </p:txBody>
          </p:sp>
        </p:grpSp>
        <p:grpSp>
          <p:nvGrpSpPr>
            <p:cNvPr id="44116" name="Group 43"/>
            <p:cNvGrpSpPr>
              <a:grpSpLocks/>
            </p:cNvGrpSpPr>
            <p:nvPr/>
          </p:nvGrpSpPr>
          <p:grpSpPr bwMode="auto">
            <a:xfrm>
              <a:off x="3176588" y="1914925"/>
              <a:ext cx="411162" cy="2133600"/>
              <a:chOff x="3176588" y="1914925"/>
              <a:chExt cx="411162" cy="2133600"/>
            </a:xfrm>
          </p:grpSpPr>
          <p:sp>
            <p:nvSpPr>
              <p:cNvPr id="44118" name="Line 7"/>
              <p:cNvSpPr>
                <a:spLocks noChangeShapeType="1"/>
              </p:cNvSpPr>
              <p:nvPr/>
            </p:nvSpPr>
            <p:spPr bwMode="auto">
              <a:xfrm>
                <a:off x="3587750" y="2067325"/>
                <a:ext cx="0" cy="198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119" name="Text Box 13"/>
              <p:cNvSpPr txBox="1">
                <a:spLocks noChangeArrowheads="1"/>
              </p:cNvSpPr>
              <p:nvPr/>
            </p:nvSpPr>
            <p:spPr bwMode="auto">
              <a:xfrm>
                <a:off x="3176588" y="1914925"/>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p>
            </p:txBody>
          </p:sp>
        </p:grpSp>
        <p:sp>
          <p:nvSpPr>
            <p:cNvPr id="44117" name="Text Box 28"/>
            <p:cNvSpPr txBox="1">
              <a:spLocks noChangeArrowheads="1"/>
            </p:cNvSpPr>
            <p:nvPr/>
          </p:nvSpPr>
          <p:spPr bwMode="auto">
            <a:xfrm>
              <a:off x="3577456" y="1561643"/>
              <a:ext cx="1885194"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002D56"/>
                  </a:solidFill>
                </a:rPr>
                <a:t>(b) The market</a:t>
              </a:r>
            </a:p>
          </p:txBody>
        </p:sp>
      </p:grpSp>
      <p:grpSp>
        <p:nvGrpSpPr>
          <p:cNvPr id="25" name="Group 37"/>
          <p:cNvGrpSpPr>
            <a:grpSpLocks/>
          </p:cNvGrpSpPr>
          <p:nvPr/>
        </p:nvGrpSpPr>
        <p:grpSpPr bwMode="auto">
          <a:xfrm>
            <a:off x="6148389" y="1071381"/>
            <a:ext cx="2995612" cy="3303918"/>
            <a:chOff x="6148388" y="1561657"/>
            <a:chExt cx="2996139" cy="3302895"/>
          </a:xfrm>
        </p:grpSpPr>
        <p:grpSp>
          <p:nvGrpSpPr>
            <p:cNvPr id="44108" name="Group 47"/>
            <p:cNvGrpSpPr>
              <a:grpSpLocks/>
            </p:cNvGrpSpPr>
            <p:nvPr/>
          </p:nvGrpSpPr>
          <p:grpSpPr bwMode="auto">
            <a:xfrm>
              <a:off x="6483350" y="3818562"/>
              <a:ext cx="2661177" cy="1045990"/>
              <a:chOff x="6483350" y="3818562"/>
              <a:chExt cx="2661177" cy="1045990"/>
            </a:xfrm>
          </p:grpSpPr>
          <p:sp>
            <p:nvSpPr>
              <p:cNvPr id="44113" name="Line 3"/>
              <p:cNvSpPr>
                <a:spLocks noChangeShapeType="1"/>
              </p:cNvSpPr>
              <p:nvPr/>
            </p:nvSpPr>
            <p:spPr bwMode="auto">
              <a:xfrm>
                <a:off x="6483350" y="4048525"/>
                <a:ext cx="1981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114" name="Text Box 10"/>
              <p:cNvSpPr txBox="1">
                <a:spLocks noChangeArrowheads="1"/>
              </p:cNvSpPr>
              <p:nvPr/>
            </p:nvSpPr>
            <p:spPr bwMode="auto">
              <a:xfrm>
                <a:off x="8051998" y="3818562"/>
                <a:ext cx="1092529" cy="1045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700" dirty="0" smtClean="0"/>
                  <a:t>Q </a:t>
                </a:r>
              </a:p>
              <a:p>
                <a:pPr algn="r" eaLnBrk="1" hangingPunct="1"/>
                <a:r>
                  <a:rPr lang="en-US" altLang="en-US" sz="1700" dirty="0" smtClean="0"/>
                  <a:t> demanded</a:t>
                </a:r>
              </a:p>
              <a:p>
                <a:pPr algn="r" eaLnBrk="1" hangingPunct="1"/>
                <a:r>
                  <a:rPr lang="en-US" altLang="en-US" sz="1700" dirty="0" smtClean="0"/>
                  <a:t>per </a:t>
                </a:r>
                <a:r>
                  <a:rPr lang="en-US" altLang="en-US" sz="1700" dirty="0"/>
                  <a:t>period</a:t>
                </a:r>
              </a:p>
            </p:txBody>
          </p:sp>
        </p:grpSp>
        <p:grpSp>
          <p:nvGrpSpPr>
            <p:cNvPr id="44109" name="Group 42"/>
            <p:cNvGrpSpPr>
              <a:grpSpLocks/>
            </p:cNvGrpSpPr>
            <p:nvPr/>
          </p:nvGrpSpPr>
          <p:grpSpPr bwMode="auto">
            <a:xfrm>
              <a:off x="6148388" y="1991125"/>
              <a:ext cx="334962" cy="2057400"/>
              <a:chOff x="6148388" y="1991125"/>
              <a:chExt cx="334962" cy="2057400"/>
            </a:xfrm>
          </p:grpSpPr>
          <p:sp>
            <p:nvSpPr>
              <p:cNvPr id="44111" name="Line 6"/>
              <p:cNvSpPr>
                <a:spLocks noChangeShapeType="1"/>
              </p:cNvSpPr>
              <p:nvPr/>
            </p:nvSpPr>
            <p:spPr bwMode="auto">
              <a:xfrm>
                <a:off x="6483350" y="2067325"/>
                <a:ext cx="0" cy="198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112" name="Text Box 12"/>
              <p:cNvSpPr txBox="1">
                <a:spLocks noChangeArrowheads="1"/>
              </p:cNvSpPr>
              <p:nvPr/>
            </p:nvSpPr>
            <p:spPr bwMode="auto">
              <a:xfrm>
                <a:off x="6148388" y="1991125"/>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p>
            </p:txBody>
          </p:sp>
        </p:grpSp>
        <p:sp>
          <p:nvSpPr>
            <p:cNvPr id="44110" name="Text Box 29"/>
            <p:cNvSpPr txBox="1">
              <a:spLocks noChangeArrowheads="1"/>
            </p:cNvSpPr>
            <p:nvPr/>
          </p:nvSpPr>
          <p:spPr bwMode="auto">
            <a:xfrm>
              <a:off x="6475025" y="1561657"/>
              <a:ext cx="231271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dirty="0">
                  <a:solidFill>
                    <a:srgbClr val="002D56"/>
                  </a:solidFill>
                </a:rPr>
                <a:t>(c) A typical individual</a:t>
              </a:r>
            </a:p>
          </p:txBody>
        </p:sp>
      </p:grpSp>
      <p:grpSp>
        <p:nvGrpSpPr>
          <p:cNvPr id="28" name="Group 56"/>
          <p:cNvGrpSpPr>
            <a:grpSpLocks/>
          </p:cNvGrpSpPr>
          <p:nvPr/>
        </p:nvGrpSpPr>
        <p:grpSpPr bwMode="auto">
          <a:xfrm>
            <a:off x="736600" y="1154112"/>
            <a:ext cx="2438400" cy="1919288"/>
            <a:chOff x="736271" y="1405967"/>
            <a:chExt cx="2438070" cy="1919125"/>
          </a:xfrm>
        </p:grpSpPr>
        <p:sp>
          <p:nvSpPr>
            <p:cNvPr id="44106" name="Freeform 7"/>
            <p:cNvSpPr>
              <a:spLocks/>
            </p:cNvSpPr>
            <p:nvPr/>
          </p:nvSpPr>
          <p:spPr bwMode="auto">
            <a:xfrm rot="-419914">
              <a:off x="736271" y="1832758"/>
              <a:ext cx="1872343" cy="1492334"/>
            </a:xfrm>
            <a:custGeom>
              <a:avLst/>
              <a:gdLst>
                <a:gd name="T0" fmla="*/ 0 w 1392"/>
                <a:gd name="T1" fmla="*/ 1296 h 1296"/>
                <a:gd name="T2" fmla="*/ 864 w 1392"/>
                <a:gd name="T3" fmla="*/ 768 h 1296"/>
                <a:gd name="T4" fmla="*/ 1392 w 1392"/>
                <a:gd name="T5" fmla="*/ 0 h 1296"/>
                <a:gd name="T6" fmla="*/ 0 60000 65536"/>
                <a:gd name="T7" fmla="*/ 0 60000 65536"/>
                <a:gd name="T8" fmla="*/ 0 60000 65536"/>
                <a:gd name="T9" fmla="*/ 0 w 1392"/>
                <a:gd name="T10" fmla="*/ 0 h 1296"/>
                <a:gd name="T11" fmla="*/ 1392 w 1392"/>
                <a:gd name="T12" fmla="*/ 1296 h 1296"/>
              </a:gdLst>
              <a:ahLst/>
              <a:cxnLst>
                <a:cxn ang="T6">
                  <a:pos x="T0" y="T1"/>
                </a:cxn>
                <a:cxn ang="T7">
                  <a:pos x="T2" y="T3"/>
                </a:cxn>
                <a:cxn ang="T8">
                  <a:pos x="T4" y="T5"/>
                </a:cxn>
              </a:cxnLst>
              <a:rect l="T9" t="T10" r="T11" b="T12"/>
              <a:pathLst>
                <a:path w="1392" h="1296">
                  <a:moveTo>
                    <a:pt x="0" y="1296"/>
                  </a:moveTo>
                  <a:cubicBezTo>
                    <a:pt x="316" y="1140"/>
                    <a:pt x="632" y="984"/>
                    <a:pt x="864" y="768"/>
                  </a:cubicBezTo>
                  <a:cubicBezTo>
                    <a:pt x="1096" y="552"/>
                    <a:pt x="1304" y="128"/>
                    <a:pt x="1392" y="0"/>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44107" name="Text Box 11"/>
            <p:cNvSpPr txBox="1">
              <a:spLocks noChangeArrowheads="1"/>
            </p:cNvSpPr>
            <p:nvPr/>
          </p:nvSpPr>
          <p:spPr bwMode="auto">
            <a:xfrm>
              <a:off x="2539341" y="1405967"/>
              <a:ext cx="635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SMC</a:t>
              </a:r>
            </a:p>
          </p:txBody>
        </p:sp>
      </p:grpSp>
      <p:grpSp>
        <p:nvGrpSpPr>
          <p:cNvPr id="29" name="Group 55"/>
          <p:cNvGrpSpPr>
            <a:grpSpLocks/>
          </p:cNvGrpSpPr>
          <p:nvPr/>
        </p:nvGrpSpPr>
        <p:grpSpPr bwMode="auto">
          <a:xfrm>
            <a:off x="712788" y="1695450"/>
            <a:ext cx="2395537" cy="1058862"/>
            <a:chOff x="712520" y="1947284"/>
            <a:chExt cx="2396445" cy="1058986"/>
          </a:xfrm>
        </p:grpSpPr>
        <p:sp>
          <p:nvSpPr>
            <p:cNvPr id="44104" name="Freeform 28"/>
            <p:cNvSpPr>
              <a:spLocks/>
            </p:cNvSpPr>
            <p:nvPr/>
          </p:nvSpPr>
          <p:spPr bwMode="auto">
            <a:xfrm>
              <a:off x="712520" y="2244436"/>
              <a:ext cx="1888176" cy="761834"/>
            </a:xfrm>
            <a:custGeom>
              <a:avLst/>
              <a:gdLst>
                <a:gd name="T0" fmla="*/ 0 w 1680"/>
                <a:gd name="T1" fmla="*/ 48 h 536"/>
                <a:gd name="T2" fmla="*/ 768 w 1680"/>
                <a:gd name="T3" fmla="*/ 528 h 536"/>
                <a:gd name="T4" fmla="*/ 1680 w 1680"/>
                <a:gd name="T5" fmla="*/ 0 h 536"/>
                <a:gd name="T6" fmla="*/ 0 60000 65536"/>
                <a:gd name="T7" fmla="*/ 0 60000 65536"/>
                <a:gd name="T8" fmla="*/ 0 60000 65536"/>
                <a:gd name="T9" fmla="*/ 0 w 1680"/>
                <a:gd name="T10" fmla="*/ 0 h 536"/>
                <a:gd name="T11" fmla="*/ 1680 w 1680"/>
                <a:gd name="T12" fmla="*/ 536 h 536"/>
              </a:gdLst>
              <a:ahLst/>
              <a:cxnLst>
                <a:cxn ang="T6">
                  <a:pos x="T0" y="T1"/>
                </a:cxn>
                <a:cxn ang="T7">
                  <a:pos x="T2" y="T3"/>
                </a:cxn>
                <a:cxn ang="T8">
                  <a:pos x="T4" y="T5"/>
                </a:cxn>
              </a:cxnLst>
              <a:rect l="T9" t="T10" r="T11" b="T12"/>
              <a:pathLst>
                <a:path w="1680" h="536">
                  <a:moveTo>
                    <a:pt x="0" y="48"/>
                  </a:moveTo>
                  <a:cubicBezTo>
                    <a:pt x="244" y="292"/>
                    <a:pt x="488" y="536"/>
                    <a:pt x="768" y="528"/>
                  </a:cubicBezTo>
                  <a:cubicBezTo>
                    <a:pt x="1048" y="520"/>
                    <a:pt x="1528" y="88"/>
                    <a:pt x="1680" y="0"/>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4105" name="Text Box 29"/>
            <p:cNvSpPr txBox="1">
              <a:spLocks noChangeArrowheads="1"/>
            </p:cNvSpPr>
            <p:nvPr/>
          </p:nvSpPr>
          <p:spPr bwMode="auto">
            <a:xfrm>
              <a:off x="2497777" y="1947284"/>
              <a:ext cx="6111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SAC</a:t>
              </a:r>
            </a:p>
          </p:txBody>
        </p:sp>
      </p:grpSp>
      <p:grpSp>
        <p:nvGrpSpPr>
          <p:cNvPr id="35" name="Group 57"/>
          <p:cNvGrpSpPr>
            <a:grpSpLocks/>
          </p:cNvGrpSpPr>
          <p:nvPr/>
        </p:nvGrpSpPr>
        <p:grpSpPr bwMode="auto">
          <a:xfrm>
            <a:off x="312738" y="1951037"/>
            <a:ext cx="6872287" cy="304800"/>
            <a:chOff x="386650" y="2905525"/>
            <a:chExt cx="6871153" cy="304800"/>
          </a:xfrm>
        </p:grpSpPr>
        <p:sp>
          <p:nvSpPr>
            <p:cNvPr id="44102" name="Line 20"/>
            <p:cNvSpPr>
              <a:spLocks noChangeShapeType="1"/>
            </p:cNvSpPr>
            <p:nvPr/>
          </p:nvSpPr>
          <p:spPr bwMode="auto">
            <a:xfrm flipV="1">
              <a:off x="844551" y="3053929"/>
              <a:ext cx="6413252" cy="3996"/>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44103" name="Text Box 25"/>
            <p:cNvSpPr txBox="1">
              <a:spLocks noChangeArrowheads="1"/>
            </p:cNvSpPr>
            <p:nvPr/>
          </p:nvSpPr>
          <p:spPr bwMode="auto">
            <a:xfrm>
              <a:off x="386650" y="2905525"/>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r>
                <a:rPr lang="en-US" altLang="en-US" sz="1800" baseline="-25000"/>
                <a:t>2</a:t>
              </a:r>
              <a:endParaRPr lang="en-US" altLang="en-US" sz="1800"/>
            </a:p>
          </p:txBody>
        </p:sp>
      </p:grpSp>
      <p:grpSp>
        <p:nvGrpSpPr>
          <p:cNvPr id="36" name="Group 72"/>
          <p:cNvGrpSpPr>
            <a:grpSpLocks/>
          </p:cNvGrpSpPr>
          <p:nvPr/>
        </p:nvGrpSpPr>
        <p:grpSpPr bwMode="auto">
          <a:xfrm>
            <a:off x="3752850" y="1066800"/>
            <a:ext cx="1858963" cy="1851025"/>
            <a:chOff x="3978234" y="1319150"/>
            <a:chExt cx="1858920" cy="1851562"/>
          </a:xfrm>
        </p:grpSpPr>
        <p:sp>
          <p:nvSpPr>
            <p:cNvPr id="44100" name="Freeform 9"/>
            <p:cNvSpPr>
              <a:spLocks/>
            </p:cNvSpPr>
            <p:nvPr/>
          </p:nvSpPr>
          <p:spPr bwMode="auto">
            <a:xfrm>
              <a:off x="3978234" y="1686296"/>
              <a:ext cx="1496291" cy="1484416"/>
            </a:xfrm>
            <a:custGeom>
              <a:avLst/>
              <a:gdLst>
                <a:gd name="T0" fmla="*/ 0 w 1392"/>
                <a:gd name="T1" fmla="*/ 1296 h 1296"/>
                <a:gd name="T2" fmla="*/ 864 w 1392"/>
                <a:gd name="T3" fmla="*/ 768 h 1296"/>
                <a:gd name="T4" fmla="*/ 1392 w 1392"/>
                <a:gd name="T5" fmla="*/ 0 h 1296"/>
                <a:gd name="T6" fmla="*/ 0 60000 65536"/>
                <a:gd name="T7" fmla="*/ 0 60000 65536"/>
                <a:gd name="T8" fmla="*/ 0 60000 65536"/>
                <a:gd name="T9" fmla="*/ 0 w 1392"/>
                <a:gd name="T10" fmla="*/ 0 h 1296"/>
                <a:gd name="T11" fmla="*/ 1392 w 1392"/>
                <a:gd name="T12" fmla="*/ 1296 h 1296"/>
              </a:gdLst>
              <a:ahLst/>
              <a:cxnLst>
                <a:cxn ang="T6">
                  <a:pos x="T0" y="T1"/>
                </a:cxn>
                <a:cxn ang="T7">
                  <a:pos x="T2" y="T3"/>
                </a:cxn>
                <a:cxn ang="T8">
                  <a:pos x="T4" y="T5"/>
                </a:cxn>
              </a:cxnLst>
              <a:rect l="T9" t="T10" r="T11" b="T12"/>
              <a:pathLst>
                <a:path w="1392" h="1296">
                  <a:moveTo>
                    <a:pt x="0" y="1296"/>
                  </a:moveTo>
                  <a:cubicBezTo>
                    <a:pt x="316" y="1140"/>
                    <a:pt x="632" y="984"/>
                    <a:pt x="864" y="768"/>
                  </a:cubicBezTo>
                  <a:cubicBezTo>
                    <a:pt x="1096" y="552"/>
                    <a:pt x="1304" y="128"/>
                    <a:pt x="1392" y="0"/>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4101" name="Text Box 16"/>
            <p:cNvSpPr txBox="1">
              <a:spLocks noChangeArrowheads="1"/>
            </p:cNvSpPr>
            <p:nvPr/>
          </p:nvSpPr>
          <p:spPr bwMode="auto">
            <a:xfrm>
              <a:off x="5518066" y="1319150"/>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S</a:t>
              </a:r>
            </a:p>
          </p:txBody>
        </p:sp>
      </p:grpSp>
      <p:grpSp>
        <p:nvGrpSpPr>
          <p:cNvPr id="37" name="Group 74"/>
          <p:cNvGrpSpPr>
            <a:grpSpLocks/>
          </p:cNvGrpSpPr>
          <p:nvPr/>
        </p:nvGrpSpPr>
        <p:grpSpPr bwMode="auto">
          <a:xfrm>
            <a:off x="3952875" y="2036762"/>
            <a:ext cx="1374775" cy="1350963"/>
            <a:chOff x="4169227" y="2289958"/>
            <a:chExt cx="1373250" cy="1349911"/>
          </a:xfrm>
        </p:grpSpPr>
        <p:sp>
          <p:nvSpPr>
            <p:cNvPr id="44098" name="Freeform 11"/>
            <p:cNvSpPr>
              <a:spLocks/>
            </p:cNvSpPr>
            <p:nvPr/>
          </p:nvSpPr>
          <p:spPr bwMode="auto">
            <a:xfrm>
              <a:off x="4169227" y="2289958"/>
              <a:ext cx="1055915" cy="1047008"/>
            </a:xfrm>
            <a:custGeom>
              <a:avLst/>
              <a:gdLst>
                <a:gd name="T0" fmla="*/ 0 w 1248"/>
                <a:gd name="T1" fmla="*/ 0 h 1056"/>
                <a:gd name="T2" fmla="*/ 480 w 1248"/>
                <a:gd name="T3" fmla="*/ 576 h 1056"/>
                <a:gd name="T4" fmla="*/ 1248 w 1248"/>
                <a:gd name="T5" fmla="*/ 1056 h 1056"/>
                <a:gd name="T6" fmla="*/ 0 60000 65536"/>
                <a:gd name="T7" fmla="*/ 0 60000 65536"/>
                <a:gd name="T8" fmla="*/ 0 60000 65536"/>
                <a:gd name="T9" fmla="*/ 0 w 1248"/>
                <a:gd name="T10" fmla="*/ 0 h 1056"/>
                <a:gd name="T11" fmla="*/ 1248 w 1248"/>
                <a:gd name="T12" fmla="*/ 1056 h 1056"/>
              </a:gdLst>
              <a:ahLst/>
              <a:cxnLst>
                <a:cxn ang="T6">
                  <a:pos x="T0" y="T1"/>
                </a:cxn>
                <a:cxn ang="T7">
                  <a:pos x="T2" y="T3"/>
                </a:cxn>
                <a:cxn ang="T8">
                  <a:pos x="T4" y="T5"/>
                </a:cxn>
              </a:cxnLst>
              <a:rect l="T9" t="T10" r="T11" b="T12"/>
              <a:pathLst>
                <a:path w="1248" h="1056">
                  <a:moveTo>
                    <a:pt x="0" y="0"/>
                  </a:moveTo>
                  <a:cubicBezTo>
                    <a:pt x="136" y="200"/>
                    <a:pt x="272" y="400"/>
                    <a:pt x="480" y="576"/>
                  </a:cubicBezTo>
                  <a:cubicBezTo>
                    <a:pt x="688" y="752"/>
                    <a:pt x="1120" y="976"/>
                    <a:pt x="1248" y="1056"/>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4099" name="Text Box 17"/>
            <p:cNvSpPr txBox="1">
              <a:spLocks noChangeArrowheads="1"/>
            </p:cNvSpPr>
            <p:nvPr/>
          </p:nvSpPr>
          <p:spPr bwMode="auto">
            <a:xfrm>
              <a:off x="5212277" y="3303319"/>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D</a:t>
              </a:r>
            </a:p>
          </p:txBody>
        </p:sp>
      </p:grpSp>
      <p:grpSp>
        <p:nvGrpSpPr>
          <p:cNvPr id="38" name="Group 73"/>
          <p:cNvGrpSpPr>
            <a:grpSpLocks/>
          </p:cNvGrpSpPr>
          <p:nvPr/>
        </p:nvGrpSpPr>
        <p:grpSpPr bwMode="auto">
          <a:xfrm>
            <a:off x="4346575" y="1401762"/>
            <a:ext cx="1549400" cy="1611313"/>
            <a:chOff x="4571814" y="1654629"/>
            <a:chExt cx="1549153" cy="1611168"/>
          </a:xfrm>
        </p:grpSpPr>
        <p:sp>
          <p:nvSpPr>
            <p:cNvPr id="44096" name="Freeform 10"/>
            <p:cNvSpPr>
              <a:spLocks/>
            </p:cNvSpPr>
            <p:nvPr/>
          </p:nvSpPr>
          <p:spPr bwMode="auto">
            <a:xfrm>
              <a:off x="4571814" y="1654629"/>
              <a:ext cx="1258970" cy="1242951"/>
            </a:xfrm>
            <a:custGeom>
              <a:avLst/>
              <a:gdLst>
                <a:gd name="T0" fmla="*/ 0 w 1248"/>
                <a:gd name="T1" fmla="*/ 0 h 1056"/>
                <a:gd name="T2" fmla="*/ 480 w 1248"/>
                <a:gd name="T3" fmla="*/ 576 h 1056"/>
                <a:gd name="T4" fmla="*/ 1248 w 1248"/>
                <a:gd name="T5" fmla="*/ 1056 h 1056"/>
                <a:gd name="T6" fmla="*/ 0 60000 65536"/>
                <a:gd name="T7" fmla="*/ 0 60000 65536"/>
                <a:gd name="T8" fmla="*/ 0 60000 65536"/>
                <a:gd name="T9" fmla="*/ 0 w 1248"/>
                <a:gd name="T10" fmla="*/ 0 h 1056"/>
                <a:gd name="T11" fmla="*/ 1248 w 1248"/>
                <a:gd name="T12" fmla="*/ 1056 h 1056"/>
              </a:gdLst>
              <a:ahLst/>
              <a:cxnLst>
                <a:cxn ang="T6">
                  <a:pos x="T0" y="T1"/>
                </a:cxn>
                <a:cxn ang="T7">
                  <a:pos x="T2" y="T3"/>
                </a:cxn>
                <a:cxn ang="T8">
                  <a:pos x="T4" y="T5"/>
                </a:cxn>
              </a:cxnLst>
              <a:rect l="T9" t="T10" r="T11" b="T12"/>
              <a:pathLst>
                <a:path w="1248" h="1056">
                  <a:moveTo>
                    <a:pt x="0" y="0"/>
                  </a:moveTo>
                  <a:cubicBezTo>
                    <a:pt x="136" y="200"/>
                    <a:pt x="272" y="400"/>
                    <a:pt x="480" y="576"/>
                  </a:cubicBezTo>
                  <a:cubicBezTo>
                    <a:pt x="688" y="752"/>
                    <a:pt x="1120" y="976"/>
                    <a:pt x="1248" y="1056"/>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4097" name="Text Box 18"/>
            <p:cNvSpPr txBox="1">
              <a:spLocks noChangeArrowheads="1"/>
            </p:cNvSpPr>
            <p:nvPr/>
          </p:nvSpPr>
          <p:spPr bwMode="auto">
            <a:xfrm>
              <a:off x="5733617" y="2929247"/>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D’</a:t>
              </a:r>
            </a:p>
          </p:txBody>
        </p:sp>
      </p:grpSp>
      <p:grpSp>
        <p:nvGrpSpPr>
          <p:cNvPr id="39" name="Group 78"/>
          <p:cNvGrpSpPr>
            <a:grpSpLocks/>
          </p:cNvGrpSpPr>
          <p:nvPr/>
        </p:nvGrpSpPr>
        <p:grpSpPr bwMode="auto">
          <a:xfrm>
            <a:off x="6696075" y="2106612"/>
            <a:ext cx="1373188" cy="1349375"/>
            <a:chOff x="4169227" y="2289958"/>
            <a:chExt cx="1373250" cy="1349911"/>
          </a:xfrm>
        </p:grpSpPr>
        <p:sp>
          <p:nvSpPr>
            <p:cNvPr id="44094" name="Freeform 11"/>
            <p:cNvSpPr>
              <a:spLocks/>
            </p:cNvSpPr>
            <p:nvPr/>
          </p:nvSpPr>
          <p:spPr bwMode="auto">
            <a:xfrm>
              <a:off x="4169227" y="2289958"/>
              <a:ext cx="1055915" cy="1047008"/>
            </a:xfrm>
            <a:custGeom>
              <a:avLst/>
              <a:gdLst>
                <a:gd name="T0" fmla="*/ 0 w 1248"/>
                <a:gd name="T1" fmla="*/ 0 h 1056"/>
                <a:gd name="T2" fmla="*/ 480 w 1248"/>
                <a:gd name="T3" fmla="*/ 576 h 1056"/>
                <a:gd name="T4" fmla="*/ 1248 w 1248"/>
                <a:gd name="T5" fmla="*/ 1056 h 1056"/>
                <a:gd name="T6" fmla="*/ 0 60000 65536"/>
                <a:gd name="T7" fmla="*/ 0 60000 65536"/>
                <a:gd name="T8" fmla="*/ 0 60000 65536"/>
                <a:gd name="T9" fmla="*/ 0 w 1248"/>
                <a:gd name="T10" fmla="*/ 0 h 1056"/>
                <a:gd name="T11" fmla="*/ 1248 w 1248"/>
                <a:gd name="T12" fmla="*/ 1056 h 1056"/>
              </a:gdLst>
              <a:ahLst/>
              <a:cxnLst>
                <a:cxn ang="T6">
                  <a:pos x="T0" y="T1"/>
                </a:cxn>
                <a:cxn ang="T7">
                  <a:pos x="T2" y="T3"/>
                </a:cxn>
                <a:cxn ang="T8">
                  <a:pos x="T4" y="T5"/>
                </a:cxn>
              </a:cxnLst>
              <a:rect l="T9" t="T10" r="T11" b="T12"/>
              <a:pathLst>
                <a:path w="1248" h="1056">
                  <a:moveTo>
                    <a:pt x="0" y="0"/>
                  </a:moveTo>
                  <a:cubicBezTo>
                    <a:pt x="136" y="200"/>
                    <a:pt x="272" y="400"/>
                    <a:pt x="480" y="576"/>
                  </a:cubicBezTo>
                  <a:cubicBezTo>
                    <a:pt x="688" y="752"/>
                    <a:pt x="1120" y="976"/>
                    <a:pt x="1248" y="1056"/>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4095" name="Text Box 17"/>
            <p:cNvSpPr txBox="1">
              <a:spLocks noChangeArrowheads="1"/>
            </p:cNvSpPr>
            <p:nvPr/>
          </p:nvSpPr>
          <p:spPr bwMode="auto">
            <a:xfrm>
              <a:off x="5212277" y="3303319"/>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d</a:t>
              </a:r>
            </a:p>
          </p:txBody>
        </p:sp>
      </p:grpSp>
      <p:grpSp>
        <p:nvGrpSpPr>
          <p:cNvPr id="40" name="Group 81"/>
          <p:cNvGrpSpPr>
            <a:grpSpLocks/>
          </p:cNvGrpSpPr>
          <p:nvPr/>
        </p:nvGrpSpPr>
        <p:grpSpPr bwMode="auto">
          <a:xfrm>
            <a:off x="6884988" y="1590675"/>
            <a:ext cx="1692275" cy="1574800"/>
            <a:chOff x="4571814" y="1654629"/>
            <a:chExt cx="1691657" cy="1575542"/>
          </a:xfrm>
        </p:grpSpPr>
        <p:sp>
          <p:nvSpPr>
            <p:cNvPr id="44092" name="Freeform 10"/>
            <p:cNvSpPr>
              <a:spLocks/>
            </p:cNvSpPr>
            <p:nvPr/>
          </p:nvSpPr>
          <p:spPr bwMode="auto">
            <a:xfrm>
              <a:off x="4571814" y="1654629"/>
              <a:ext cx="1258970" cy="1242951"/>
            </a:xfrm>
            <a:custGeom>
              <a:avLst/>
              <a:gdLst>
                <a:gd name="T0" fmla="*/ 0 w 1248"/>
                <a:gd name="T1" fmla="*/ 0 h 1056"/>
                <a:gd name="T2" fmla="*/ 480 w 1248"/>
                <a:gd name="T3" fmla="*/ 576 h 1056"/>
                <a:gd name="T4" fmla="*/ 1248 w 1248"/>
                <a:gd name="T5" fmla="*/ 1056 h 1056"/>
                <a:gd name="T6" fmla="*/ 0 60000 65536"/>
                <a:gd name="T7" fmla="*/ 0 60000 65536"/>
                <a:gd name="T8" fmla="*/ 0 60000 65536"/>
                <a:gd name="T9" fmla="*/ 0 w 1248"/>
                <a:gd name="T10" fmla="*/ 0 h 1056"/>
                <a:gd name="T11" fmla="*/ 1248 w 1248"/>
                <a:gd name="T12" fmla="*/ 1056 h 1056"/>
              </a:gdLst>
              <a:ahLst/>
              <a:cxnLst>
                <a:cxn ang="T6">
                  <a:pos x="T0" y="T1"/>
                </a:cxn>
                <a:cxn ang="T7">
                  <a:pos x="T2" y="T3"/>
                </a:cxn>
                <a:cxn ang="T8">
                  <a:pos x="T4" y="T5"/>
                </a:cxn>
              </a:cxnLst>
              <a:rect l="T9" t="T10" r="T11" b="T12"/>
              <a:pathLst>
                <a:path w="1248" h="1056">
                  <a:moveTo>
                    <a:pt x="0" y="0"/>
                  </a:moveTo>
                  <a:cubicBezTo>
                    <a:pt x="136" y="200"/>
                    <a:pt x="272" y="400"/>
                    <a:pt x="480" y="576"/>
                  </a:cubicBezTo>
                  <a:cubicBezTo>
                    <a:pt x="688" y="752"/>
                    <a:pt x="1120" y="976"/>
                    <a:pt x="1248" y="1056"/>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4093" name="Text Box 18"/>
            <p:cNvSpPr txBox="1">
              <a:spLocks noChangeArrowheads="1"/>
            </p:cNvSpPr>
            <p:nvPr/>
          </p:nvSpPr>
          <p:spPr bwMode="auto">
            <a:xfrm>
              <a:off x="5876121" y="2893621"/>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d’</a:t>
              </a:r>
            </a:p>
          </p:txBody>
        </p:sp>
      </p:grpSp>
      <p:grpSp>
        <p:nvGrpSpPr>
          <p:cNvPr id="46" name="Group 108"/>
          <p:cNvGrpSpPr>
            <a:grpSpLocks/>
          </p:cNvGrpSpPr>
          <p:nvPr/>
        </p:nvGrpSpPr>
        <p:grpSpPr bwMode="auto">
          <a:xfrm>
            <a:off x="4630738" y="2063750"/>
            <a:ext cx="438150" cy="1800225"/>
            <a:chOff x="4630200" y="2316512"/>
            <a:chExt cx="438150" cy="1799313"/>
          </a:xfrm>
        </p:grpSpPr>
        <p:grpSp>
          <p:nvGrpSpPr>
            <p:cNvPr id="44088" name="Group 75"/>
            <p:cNvGrpSpPr>
              <a:grpSpLocks/>
            </p:cNvGrpSpPr>
            <p:nvPr/>
          </p:nvGrpSpPr>
          <p:grpSpPr bwMode="auto">
            <a:xfrm>
              <a:off x="4630200" y="2363190"/>
              <a:ext cx="438150" cy="1752635"/>
              <a:chOff x="3967163" y="2600690"/>
              <a:chExt cx="438150" cy="1752635"/>
            </a:xfrm>
          </p:grpSpPr>
          <p:sp>
            <p:nvSpPr>
              <p:cNvPr id="44090" name="Line 22"/>
              <p:cNvSpPr>
                <a:spLocks noChangeShapeType="1"/>
              </p:cNvSpPr>
              <p:nvPr/>
            </p:nvSpPr>
            <p:spPr bwMode="auto">
              <a:xfrm>
                <a:off x="4193969" y="2600690"/>
                <a:ext cx="3381" cy="1447835"/>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91" name="Text Box 24"/>
              <p:cNvSpPr txBox="1">
                <a:spLocks noChangeArrowheads="1"/>
              </p:cNvSpPr>
              <p:nvPr/>
            </p:nvSpPr>
            <p:spPr bwMode="auto">
              <a:xfrm>
                <a:off x="3967163" y="4048525"/>
                <a:ext cx="438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25000"/>
                  <a:t>2</a:t>
                </a:r>
                <a:endParaRPr lang="en-US" altLang="en-US" sz="1800" baseline="30000"/>
              </a:p>
            </p:txBody>
          </p:sp>
        </p:grpSp>
        <p:sp>
          <p:nvSpPr>
            <p:cNvPr id="44089" name="Oval 9"/>
            <p:cNvSpPr>
              <a:spLocks noChangeArrowheads="1"/>
            </p:cNvSpPr>
            <p:nvPr/>
          </p:nvSpPr>
          <p:spPr bwMode="auto">
            <a:xfrm>
              <a:off x="4816789" y="2316512"/>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50" name="Group 107"/>
          <p:cNvGrpSpPr>
            <a:grpSpLocks/>
          </p:cNvGrpSpPr>
          <p:nvPr/>
        </p:nvGrpSpPr>
        <p:grpSpPr bwMode="auto">
          <a:xfrm>
            <a:off x="4097338" y="2543175"/>
            <a:ext cx="438150" cy="1320800"/>
            <a:chOff x="4097788" y="2795484"/>
            <a:chExt cx="438150" cy="1320341"/>
          </a:xfrm>
        </p:grpSpPr>
        <p:grpSp>
          <p:nvGrpSpPr>
            <p:cNvPr id="44084" name="Group 9"/>
            <p:cNvGrpSpPr>
              <a:grpSpLocks/>
            </p:cNvGrpSpPr>
            <p:nvPr/>
          </p:nvGrpSpPr>
          <p:grpSpPr bwMode="auto">
            <a:xfrm>
              <a:off x="4097788" y="2820425"/>
              <a:ext cx="438150" cy="1295400"/>
              <a:chOff x="3967163" y="3057925"/>
              <a:chExt cx="438150" cy="1295400"/>
            </a:xfrm>
          </p:grpSpPr>
          <p:sp>
            <p:nvSpPr>
              <p:cNvPr id="44086" name="Line 22"/>
              <p:cNvSpPr>
                <a:spLocks noChangeShapeType="1"/>
              </p:cNvSpPr>
              <p:nvPr/>
            </p:nvSpPr>
            <p:spPr bwMode="auto">
              <a:xfrm>
                <a:off x="4197350" y="3057925"/>
                <a:ext cx="0" cy="9906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87" name="Text Box 24"/>
              <p:cNvSpPr txBox="1">
                <a:spLocks noChangeArrowheads="1"/>
              </p:cNvSpPr>
              <p:nvPr/>
            </p:nvSpPr>
            <p:spPr bwMode="auto">
              <a:xfrm>
                <a:off x="3967163" y="4048525"/>
                <a:ext cx="438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25000"/>
                  <a:t>1</a:t>
                </a:r>
                <a:endParaRPr lang="en-US" altLang="en-US" sz="1800" baseline="30000"/>
              </a:p>
            </p:txBody>
          </p:sp>
        </p:grpSp>
        <p:sp>
          <p:nvSpPr>
            <p:cNvPr id="44085" name="Oval 9"/>
            <p:cNvSpPr>
              <a:spLocks noChangeArrowheads="1"/>
            </p:cNvSpPr>
            <p:nvPr/>
          </p:nvSpPr>
          <p:spPr bwMode="auto">
            <a:xfrm>
              <a:off x="4290926" y="2795484"/>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56" name="Group 110"/>
          <p:cNvGrpSpPr>
            <a:grpSpLocks/>
          </p:cNvGrpSpPr>
          <p:nvPr/>
        </p:nvGrpSpPr>
        <p:grpSpPr bwMode="auto">
          <a:xfrm>
            <a:off x="1541463" y="2535237"/>
            <a:ext cx="438150" cy="1355725"/>
            <a:chOff x="1541487" y="2787110"/>
            <a:chExt cx="438150" cy="1355703"/>
          </a:xfrm>
        </p:grpSpPr>
        <p:grpSp>
          <p:nvGrpSpPr>
            <p:cNvPr id="44080" name="Group 6"/>
            <p:cNvGrpSpPr>
              <a:grpSpLocks/>
            </p:cNvGrpSpPr>
            <p:nvPr/>
          </p:nvGrpSpPr>
          <p:grpSpPr bwMode="auto">
            <a:xfrm>
              <a:off x="1541487" y="2820425"/>
              <a:ext cx="438150" cy="1322388"/>
              <a:chOff x="1244600" y="3057925"/>
              <a:chExt cx="438150" cy="1322388"/>
            </a:xfrm>
          </p:grpSpPr>
          <p:sp>
            <p:nvSpPr>
              <p:cNvPr id="44082" name="Line 21"/>
              <p:cNvSpPr>
                <a:spLocks noChangeShapeType="1"/>
              </p:cNvSpPr>
              <p:nvPr/>
            </p:nvSpPr>
            <p:spPr bwMode="auto">
              <a:xfrm>
                <a:off x="1454150" y="3057925"/>
                <a:ext cx="0" cy="9906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83" name="Text Box 23"/>
              <p:cNvSpPr txBox="1">
                <a:spLocks noChangeArrowheads="1"/>
              </p:cNvSpPr>
              <p:nvPr/>
            </p:nvSpPr>
            <p:spPr bwMode="auto">
              <a:xfrm>
                <a:off x="1244600" y="4075513"/>
                <a:ext cx="438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25000"/>
                  <a:t>1</a:t>
                </a:r>
                <a:endParaRPr lang="en-US" altLang="en-US" sz="1800" baseline="30000"/>
              </a:p>
            </p:txBody>
          </p:sp>
        </p:grpSp>
        <p:sp>
          <p:nvSpPr>
            <p:cNvPr id="44081" name="Oval 9"/>
            <p:cNvSpPr>
              <a:spLocks noChangeArrowheads="1"/>
            </p:cNvSpPr>
            <p:nvPr/>
          </p:nvSpPr>
          <p:spPr bwMode="auto">
            <a:xfrm>
              <a:off x="1710174" y="2787110"/>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58" name="Group 109"/>
          <p:cNvGrpSpPr>
            <a:grpSpLocks/>
          </p:cNvGrpSpPr>
          <p:nvPr/>
        </p:nvGrpSpPr>
        <p:grpSpPr bwMode="auto">
          <a:xfrm>
            <a:off x="1955800" y="2068512"/>
            <a:ext cx="438150" cy="1822450"/>
            <a:chOff x="1955146" y="2321535"/>
            <a:chExt cx="438150" cy="1821278"/>
          </a:xfrm>
        </p:grpSpPr>
        <p:grpSp>
          <p:nvGrpSpPr>
            <p:cNvPr id="44076" name="Group 60"/>
            <p:cNvGrpSpPr>
              <a:grpSpLocks/>
            </p:cNvGrpSpPr>
            <p:nvPr/>
          </p:nvGrpSpPr>
          <p:grpSpPr bwMode="auto">
            <a:xfrm>
              <a:off x="1955146" y="2375065"/>
              <a:ext cx="438150" cy="1767748"/>
              <a:chOff x="1244600" y="2612565"/>
              <a:chExt cx="438150" cy="1767748"/>
            </a:xfrm>
          </p:grpSpPr>
          <p:sp>
            <p:nvSpPr>
              <p:cNvPr id="44078" name="Line 21"/>
              <p:cNvSpPr>
                <a:spLocks noChangeShapeType="1"/>
              </p:cNvSpPr>
              <p:nvPr/>
            </p:nvSpPr>
            <p:spPr bwMode="auto">
              <a:xfrm>
                <a:off x="1450764" y="2612565"/>
                <a:ext cx="3386" cy="143596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79" name="Text Box 23"/>
              <p:cNvSpPr txBox="1">
                <a:spLocks noChangeArrowheads="1"/>
              </p:cNvSpPr>
              <p:nvPr/>
            </p:nvSpPr>
            <p:spPr bwMode="auto">
              <a:xfrm>
                <a:off x="1244600" y="4075513"/>
                <a:ext cx="438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25000"/>
                  <a:t>2</a:t>
                </a:r>
                <a:endParaRPr lang="en-US" altLang="en-US" sz="1800" baseline="30000"/>
              </a:p>
            </p:txBody>
          </p:sp>
        </p:grpSp>
        <p:sp>
          <p:nvSpPr>
            <p:cNvPr id="44077" name="Oval 9"/>
            <p:cNvSpPr>
              <a:spLocks noChangeArrowheads="1"/>
            </p:cNvSpPr>
            <p:nvPr/>
          </p:nvSpPr>
          <p:spPr bwMode="auto">
            <a:xfrm>
              <a:off x="2118807" y="2321535"/>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68" name="Group 106"/>
          <p:cNvGrpSpPr>
            <a:grpSpLocks/>
          </p:cNvGrpSpPr>
          <p:nvPr/>
        </p:nvGrpSpPr>
        <p:grpSpPr bwMode="auto">
          <a:xfrm>
            <a:off x="7578725" y="2543175"/>
            <a:ext cx="385763" cy="1320800"/>
            <a:chOff x="7578539" y="2795483"/>
            <a:chExt cx="385763" cy="1320342"/>
          </a:xfrm>
        </p:grpSpPr>
        <p:grpSp>
          <p:nvGrpSpPr>
            <p:cNvPr id="44070" name="Group 96"/>
            <p:cNvGrpSpPr>
              <a:grpSpLocks/>
            </p:cNvGrpSpPr>
            <p:nvPr/>
          </p:nvGrpSpPr>
          <p:grpSpPr bwMode="auto">
            <a:xfrm>
              <a:off x="7578539" y="2820425"/>
              <a:ext cx="385763" cy="1295400"/>
              <a:chOff x="7578539" y="2820425"/>
              <a:chExt cx="385763" cy="1295400"/>
            </a:xfrm>
          </p:grpSpPr>
          <p:grpSp>
            <p:nvGrpSpPr>
              <p:cNvPr id="44072" name="Group 87"/>
              <p:cNvGrpSpPr>
                <a:grpSpLocks/>
              </p:cNvGrpSpPr>
              <p:nvPr/>
            </p:nvGrpSpPr>
            <p:grpSpPr bwMode="auto">
              <a:xfrm>
                <a:off x="7578539" y="2820425"/>
                <a:ext cx="385763" cy="1295400"/>
                <a:chOff x="7499350" y="3057925"/>
                <a:chExt cx="385763" cy="1295400"/>
              </a:xfrm>
            </p:grpSpPr>
            <p:sp>
              <p:nvSpPr>
                <p:cNvPr id="44074" name="Text Box 31"/>
                <p:cNvSpPr txBox="1">
                  <a:spLocks noChangeArrowheads="1"/>
                </p:cNvSpPr>
                <p:nvPr/>
              </p:nvSpPr>
              <p:spPr bwMode="auto">
                <a:xfrm>
                  <a:off x="7499350" y="4048525"/>
                  <a:ext cx="385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25000"/>
                    <a:t>1</a:t>
                  </a:r>
                  <a:endParaRPr lang="en-US" altLang="en-US" sz="1800"/>
                </a:p>
              </p:txBody>
            </p:sp>
            <p:sp>
              <p:nvSpPr>
                <p:cNvPr id="44075" name="Line 33"/>
                <p:cNvSpPr>
                  <a:spLocks noChangeShapeType="1"/>
                </p:cNvSpPr>
                <p:nvPr/>
              </p:nvSpPr>
              <p:spPr bwMode="auto">
                <a:xfrm>
                  <a:off x="7702550" y="3057925"/>
                  <a:ext cx="0" cy="9906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cxnSp>
            <p:nvCxnSpPr>
              <p:cNvPr id="44073" name="Straight Connector 93"/>
              <p:cNvCxnSpPr>
                <a:cxnSpLocks noChangeShapeType="1"/>
              </p:cNvCxnSpPr>
              <p:nvPr/>
            </p:nvCxnSpPr>
            <p:spPr bwMode="auto">
              <a:xfrm>
                <a:off x="7671497" y="3887424"/>
                <a:ext cx="118753"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grpSp>
        <p:sp>
          <p:nvSpPr>
            <p:cNvPr id="44071" name="Oval 9"/>
            <p:cNvSpPr>
              <a:spLocks noChangeArrowheads="1"/>
            </p:cNvSpPr>
            <p:nvPr/>
          </p:nvSpPr>
          <p:spPr bwMode="auto">
            <a:xfrm>
              <a:off x="7742534" y="2795483"/>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73" name="Group 105"/>
          <p:cNvGrpSpPr>
            <a:grpSpLocks/>
          </p:cNvGrpSpPr>
          <p:nvPr/>
        </p:nvGrpSpPr>
        <p:grpSpPr bwMode="auto">
          <a:xfrm>
            <a:off x="7092950" y="2047875"/>
            <a:ext cx="385763" cy="1816100"/>
            <a:chOff x="7093625" y="2299764"/>
            <a:chExt cx="385763" cy="1816061"/>
          </a:xfrm>
        </p:grpSpPr>
        <p:grpSp>
          <p:nvGrpSpPr>
            <p:cNvPr id="44064" name="Group 95"/>
            <p:cNvGrpSpPr>
              <a:grpSpLocks/>
            </p:cNvGrpSpPr>
            <p:nvPr/>
          </p:nvGrpSpPr>
          <p:grpSpPr bwMode="auto">
            <a:xfrm>
              <a:off x="7093625" y="2363190"/>
              <a:ext cx="385763" cy="1752635"/>
              <a:chOff x="7093625" y="2363190"/>
              <a:chExt cx="385763" cy="1752635"/>
            </a:xfrm>
          </p:grpSpPr>
          <p:grpSp>
            <p:nvGrpSpPr>
              <p:cNvPr id="44066" name="Group 84"/>
              <p:cNvGrpSpPr>
                <a:grpSpLocks/>
              </p:cNvGrpSpPr>
              <p:nvPr/>
            </p:nvGrpSpPr>
            <p:grpSpPr bwMode="auto">
              <a:xfrm>
                <a:off x="7093625" y="2363190"/>
                <a:ext cx="385763" cy="1752635"/>
                <a:chOff x="7582475" y="2600690"/>
                <a:chExt cx="385763" cy="1752635"/>
              </a:xfrm>
            </p:grpSpPr>
            <p:sp>
              <p:nvSpPr>
                <p:cNvPr id="44068" name="Text Box 31"/>
                <p:cNvSpPr txBox="1">
                  <a:spLocks noChangeArrowheads="1"/>
                </p:cNvSpPr>
                <p:nvPr/>
              </p:nvSpPr>
              <p:spPr bwMode="auto">
                <a:xfrm>
                  <a:off x="7582475" y="4048525"/>
                  <a:ext cx="385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25000"/>
                    <a:t>2</a:t>
                  </a:r>
                  <a:endParaRPr lang="en-US" altLang="en-US" sz="1800"/>
                </a:p>
              </p:txBody>
            </p:sp>
            <p:sp>
              <p:nvSpPr>
                <p:cNvPr id="44069" name="Line 33"/>
                <p:cNvSpPr>
                  <a:spLocks noChangeShapeType="1"/>
                </p:cNvSpPr>
                <p:nvPr/>
              </p:nvSpPr>
              <p:spPr bwMode="auto">
                <a:xfrm>
                  <a:off x="7697174" y="2600690"/>
                  <a:ext cx="5375" cy="1447835"/>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cxnSp>
            <p:nvCxnSpPr>
              <p:cNvPr id="44067" name="Straight Connector 92"/>
              <p:cNvCxnSpPr>
                <a:cxnSpLocks noChangeShapeType="1"/>
              </p:cNvCxnSpPr>
              <p:nvPr/>
            </p:nvCxnSpPr>
            <p:spPr bwMode="auto">
              <a:xfrm>
                <a:off x="7190154" y="3887424"/>
                <a:ext cx="118753"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grpSp>
        <p:sp>
          <p:nvSpPr>
            <p:cNvPr id="44065" name="Oval 9"/>
            <p:cNvSpPr>
              <a:spLocks noChangeArrowheads="1"/>
            </p:cNvSpPr>
            <p:nvPr/>
          </p:nvSpPr>
          <p:spPr bwMode="auto">
            <a:xfrm>
              <a:off x="7166428" y="2299764"/>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76" name="Group 104"/>
          <p:cNvGrpSpPr>
            <a:grpSpLocks/>
          </p:cNvGrpSpPr>
          <p:nvPr/>
        </p:nvGrpSpPr>
        <p:grpSpPr bwMode="auto">
          <a:xfrm>
            <a:off x="6786563" y="2536825"/>
            <a:ext cx="385762" cy="1327150"/>
            <a:chOff x="6786850" y="2788785"/>
            <a:chExt cx="385763" cy="1327040"/>
          </a:xfrm>
        </p:grpSpPr>
        <p:grpSp>
          <p:nvGrpSpPr>
            <p:cNvPr id="44058" name="Group 94"/>
            <p:cNvGrpSpPr>
              <a:grpSpLocks/>
            </p:cNvGrpSpPr>
            <p:nvPr/>
          </p:nvGrpSpPr>
          <p:grpSpPr bwMode="auto">
            <a:xfrm>
              <a:off x="6786850" y="2820425"/>
              <a:ext cx="385763" cy="1295400"/>
              <a:chOff x="6786850" y="2820425"/>
              <a:chExt cx="385763" cy="1295400"/>
            </a:xfrm>
          </p:grpSpPr>
          <p:grpSp>
            <p:nvGrpSpPr>
              <p:cNvPr id="44060" name="Group 45"/>
              <p:cNvGrpSpPr>
                <a:grpSpLocks/>
              </p:cNvGrpSpPr>
              <p:nvPr/>
            </p:nvGrpSpPr>
            <p:grpSpPr bwMode="auto">
              <a:xfrm>
                <a:off x="6786850" y="2820425"/>
                <a:ext cx="385763" cy="1295400"/>
                <a:chOff x="7499350" y="3057925"/>
                <a:chExt cx="385763" cy="1295400"/>
              </a:xfrm>
            </p:grpSpPr>
            <p:sp>
              <p:nvSpPr>
                <p:cNvPr id="44062" name="Text Box 31"/>
                <p:cNvSpPr txBox="1">
                  <a:spLocks noChangeArrowheads="1"/>
                </p:cNvSpPr>
                <p:nvPr/>
              </p:nvSpPr>
              <p:spPr bwMode="auto">
                <a:xfrm>
                  <a:off x="7499350" y="4048525"/>
                  <a:ext cx="385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25000"/>
                    <a:t>1</a:t>
                  </a:r>
                  <a:endParaRPr lang="en-US" altLang="en-US" sz="1800"/>
                </a:p>
              </p:txBody>
            </p:sp>
            <p:sp>
              <p:nvSpPr>
                <p:cNvPr id="44063" name="Line 33"/>
                <p:cNvSpPr>
                  <a:spLocks noChangeShapeType="1"/>
                </p:cNvSpPr>
                <p:nvPr/>
              </p:nvSpPr>
              <p:spPr bwMode="auto">
                <a:xfrm>
                  <a:off x="7712598" y="3057925"/>
                  <a:ext cx="0" cy="9906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cxnSp>
            <p:nvCxnSpPr>
              <p:cNvPr id="44061" name="Straight Connector 91"/>
              <p:cNvCxnSpPr>
                <a:cxnSpLocks noChangeShapeType="1"/>
              </p:cNvCxnSpPr>
              <p:nvPr/>
            </p:nvCxnSpPr>
            <p:spPr bwMode="auto">
              <a:xfrm>
                <a:off x="6883846" y="3887424"/>
                <a:ext cx="118753"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grpSp>
        <p:sp>
          <p:nvSpPr>
            <p:cNvPr id="44059" name="Oval 9"/>
            <p:cNvSpPr>
              <a:spLocks noChangeArrowheads="1"/>
            </p:cNvSpPr>
            <p:nvPr/>
          </p:nvSpPr>
          <p:spPr bwMode="auto">
            <a:xfrm>
              <a:off x="6957088" y="2788785"/>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spTree>
    <p:extLst>
      <p:ext uri="{BB962C8B-B14F-4D97-AF65-F5344CB8AC3E}">
        <p14:creationId xmlns:p14="http://schemas.microsoft.com/office/powerpoint/2010/main" val="28530556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left)">
                                      <p:cBhvr>
                                        <p:cTn id="11" dur="500"/>
                                        <p:tgtEl>
                                          <p:spTgt spid="17"/>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500"/>
                                        <p:tgtEl>
                                          <p:spTgt spid="25"/>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wipe(left)">
                                      <p:cBhvr>
                                        <p:cTn id="19" dur="500"/>
                                        <p:tgtEl>
                                          <p:spTgt spid="28"/>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wipe(left)">
                                      <p:cBhvr>
                                        <p:cTn id="23" dur="500"/>
                                        <p:tgtEl>
                                          <p:spTgt spid="29"/>
                                        </p:tgtEl>
                                      </p:cBhvr>
                                    </p:animEffect>
                                  </p:childTnLst>
                                </p:cTn>
                              </p:par>
                            </p:childTnLst>
                          </p:cTn>
                        </p:par>
                        <p:par>
                          <p:cTn id="24" fill="hold" nodeType="afterGroup">
                            <p:stCondLst>
                              <p:cond delay="2500"/>
                            </p:stCondLst>
                            <p:childTnLst>
                              <p:par>
                                <p:cTn id="25" presetID="22" presetClass="entr" presetSubtype="8" fill="hold"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par>
                          <p:cTn id="28" fill="hold" nodeType="afterGroup">
                            <p:stCondLst>
                              <p:cond delay="3000"/>
                            </p:stCondLst>
                            <p:childTnLst>
                              <p:par>
                                <p:cTn id="29" presetID="22" presetClass="entr" presetSubtype="8" fill="hold" nodeType="after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wipe(left)">
                                      <p:cBhvr>
                                        <p:cTn id="31" dur="500"/>
                                        <p:tgtEl>
                                          <p:spTgt spid="36"/>
                                        </p:tgtEl>
                                      </p:cBhvr>
                                    </p:animEffect>
                                  </p:childTnLst>
                                </p:cTn>
                              </p:par>
                            </p:childTnLst>
                          </p:cTn>
                        </p:par>
                        <p:par>
                          <p:cTn id="32" fill="hold" nodeType="afterGroup">
                            <p:stCondLst>
                              <p:cond delay="3500"/>
                            </p:stCondLst>
                            <p:childTnLst>
                              <p:par>
                                <p:cTn id="33" presetID="22" presetClass="entr" presetSubtype="8"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wipe(left)">
                                      <p:cBhvr>
                                        <p:cTn id="35" dur="500"/>
                                        <p:tgtEl>
                                          <p:spTgt spid="3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50"/>
                                        </p:tgtEl>
                                        <p:attrNameLst>
                                          <p:attrName>style.visibility</p:attrName>
                                        </p:attrNameLst>
                                      </p:cBhvr>
                                      <p:to>
                                        <p:strVal val="visible"/>
                                      </p:to>
                                    </p:set>
                                    <p:animEffect transition="in" filter="wipe(up)">
                                      <p:cBhvr>
                                        <p:cTn id="40" dur="500"/>
                                        <p:tgtEl>
                                          <p:spTgt spid="50"/>
                                        </p:tgtEl>
                                      </p:cBhvr>
                                    </p:animEffect>
                                  </p:childTnLst>
                                </p:cTn>
                              </p:par>
                            </p:childTnLst>
                          </p:cTn>
                        </p:par>
                        <p:par>
                          <p:cTn id="41" fill="hold" nodeType="afterGroup">
                            <p:stCondLst>
                              <p:cond delay="500"/>
                            </p:stCondLst>
                            <p:childTnLst>
                              <p:par>
                                <p:cTn id="42" presetID="22" presetClass="entr" presetSubtype="8" fill="hold"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wipe(left)">
                                      <p:cBhvr>
                                        <p:cTn id="44" dur="500"/>
                                        <p:tgtEl>
                                          <p:spTgt spid="7"/>
                                        </p:tgtEl>
                                      </p:cBhvr>
                                    </p:animEffect>
                                  </p:childTnLst>
                                </p:cTn>
                              </p:par>
                            </p:childTnLst>
                          </p:cTn>
                        </p:par>
                        <p:par>
                          <p:cTn id="45" fill="hold" nodeType="afterGroup">
                            <p:stCondLst>
                              <p:cond delay="1000"/>
                            </p:stCondLst>
                            <p:childTnLst>
                              <p:par>
                                <p:cTn id="46" presetID="22" presetClass="entr" presetSubtype="1" fill="hold" nodeType="afterEffect">
                                  <p:stCondLst>
                                    <p:cond delay="0"/>
                                  </p:stCondLst>
                                  <p:childTnLst>
                                    <p:set>
                                      <p:cBhvr>
                                        <p:cTn id="47" dur="1" fill="hold">
                                          <p:stCondLst>
                                            <p:cond delay="0"/>
                                          </p:stCondLst>
                                        </p:cTn>
                                        <p:tgtEl>
                                          <p:spTgt spid="56"/>
                                        </p:tgtEl>
                                        <p:attrNameLst>
                                          <p:attrName>style.visibility</p:attrName>
                                        </p:attrNameLst>
                                      </p:cBhvr>
                                      <p:to>
                                        <p:strVal val="visible"/>
                                      </p:to>
                                    </p:set>
                                    <p:animEffect transition="in" filter="wipe(up)">
                                      <p:cBhvr>
                                        <p:cTn id="48" dur="500"/>
                                        <p:tgtEl>
                                          <p:spTgt spid="56"/>
                                        </p:tgtEl>
                                      </p:cBhvr>
                                    </p:animEffect>
                                  </p:childTnLst>
                                </p:cTn>
                              </p:par>
                            </p:childTnLst>
                          </p:cTn>
                        </p:par>
                        <p:par>
                          <p:cTn id="49" fill="hold" nodeType="afterGroup">
                            <p:stCondLst>
                              <p:cond delay="1500"/>
                            </p:stCondLst>
                            <p:childTnLst>
                              <p:par>
                                <p:cTn id="50" presetID="22" presetClass="entr" presetSubtype="1" fill="hold" nodeType="afterEffect">
                                  <p:stCondLst>
                                    <p:cond delay="0"/>
                                  </p:stCondLst>
                                  <p:childTnLst>
                                    <p:set>
                                      <p:cBhvr>
                                        <p:cTn id="51" dur="1" fill="hold">
                                          <p:stCondLst>
                                            <p:cond delay="0"/>
                                          </p:stCondLst>
                                        </p:cTn>
                                        <p:tgtEl>
                                          <p:spTgt spid="76"/>
                                        </p:tgtEl>
                                        <p:attrNameLst>
                                          <p:attrName>style.visibility</p:attrName>
                                        </p:attrNameLst>
                                      </p:cBhvr>
                                      <p:to>
                                        <p:strVal val="visible"/>
                                      </p:to>
                                    </p:set>
                                    <p:animEffect transition="in" filter="wipe(up)">
                                      <p:cBhvr>
                                        <p:cTn id="52" dur="500"/>
                                        <p:tgtEl>
                                          <p:spTgt spid="7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wipe(left)">
                                      <p:cBhvr>
                                        <p:cTn id="57" dur="500"/>
                                        <p:tgtEl>
                                          <p:spTgt spid="40"/>
                                        </p:tgtEl>
                                      </p:cBhvr>
                                    </p:animEffect>
                                  </p:childTnLst>
                                </p:cTn>
                              </p:par>
                            </p:childTnLst>
                          </p:cTn>
                        </p:par>
                        <p:par>
                          <p:cTn id="58" fill="hold" nodeType="afterGroup">
                            <p:stCondLst>
                              <p:cond delay="500"/>
                            </p:stCondLst>
                            <p:childTnLst>
                              <p:par>
                                <p:cTn id="59" presetID="22" presetClass="entr" presetSubtype="1" fill="hold" nodeType="afterEffect">
                                  <p:stCondLst>
                                    <p:cond delay="0"/>
                                  </p:stCondLst>
                                  <p:childTnLst>
                                    <p:set>
                                      <p:cBhvr>
                                        <p:cTn id="60" dur="1" fill="hold">
                                          <p:stCondLst>
                                            <p:cond delay="0"/>
                                          </p:stCondLst>
                                        </p:cTn>
                                        <p:tgtEl>
                                          <p:spTgt spid="68"/>
                                        </p:tgtEl>
                                        <p:attrNameLst>
                                          <p:attrName>style.visibility</p:attrName>
                                        </p:attrNameLst>
                                      </p:cBhvr>
                                      <p:to>
                                        <p:strVal val="visible"/>
                                      </p:to>
                                    </p:set>
                                    <p:animEffect transition="in" filter="wipe(up)">
                                      <p:cBhvr>
                                        <p:cTn id="61" dur="500"/>
                                        <p:tgtEl>
                                          <p:spTgt spid="68"/>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wipe(left)">
                                      <p:cBhvr>
                                        <p:cTn id="66" dur="500"/>
                                        <p:tgtEl>
                                          <p:spTgt spid="38"/>
                                        </p:tgtEl>
                                      </p:cBhvr>
                                    </p:animEffect>
                                  </p:childTnLst>
                                </p:cTn>
                              </p:par>
                            </p:childTnLst>
                          </p:cTn>
                        </p:par>
                        <p:par>
                          <p:cTn id="67" fill="hold" nodeType="afterGroup">
                            <p:stCondLst>
                              <p:cond delay="500"/>
                            </p:stCondLst>
                            <p:childTnLst>
                              <p:par>
                                <p:cTn id="68" presetID="22" presetClass="entr" presetSubtype="1" fill="hold" nodeType="afterEffect">
                                  <p:stCondLst>
                                    <p:cond delay="0"/>
                                  </p:stCondLst>
                                  <p:childTnLst>
                                    <p:set>
                                      <p:cBhvr>
                                        <p:cTn id="69" dur="1" fill="hold">
                                          <p:stCondLst>
                                            <p:cond delay="0"/>
                                          </p:stCondLst>
                                        </p:cTn>
                                        <p:tgtEl>
                                          <p:spTgt spid="46"/>
                                        </p:tgtEl>
                                        <p:attrNameLst>
                                          <p:attrName>style.visibility</p:attrName>
                                        </p:attrNameLst>
                                      </p:cBhvr>
                                      <p:to>
                                        <p:strVal val="visible"/>
                                      </p:to>
                                    </p:set>
                                    <p:animEffect transition="in" filter="wipe(up)">
                                      <p:cBhvr>
                                        <p:cTn id="70" dur="500"/>
                                        <p:tgtEl>
                                          <p:spTgt spid="46"/>
                                        </p:tgtEl>
                                      </p:cBhvr>
                                    </p:animEffect>
                                  </p:childTnLst>
                                </p:cTn>
                              </p:par>
                            </p:childTnLst>
                          </p:cTn>
                        </p:par>
                        <p:par>
                          <p:cTn id="71" fill="hold" nodeType="afterGroup">
                            <p:stCondLst>
                              <p:cond delay="1000"/>
                            </p:stCondLst>
                            <p:childTnLst>
                              <p:par>
                                <p:cTn id="72" presetID="22" presetClass="entr" presetSubtype="8" fill="hold" nodeType="afterEffect">
                                  <p:stCondLst>
                                    <p:cond delay="0"/>
                                  </p:stCondLst>
                                  <p:childTnLst>
                                    <p:set>
                                      <p:cBhvr>
                                        <p:cTn id="73" dur="1" fill="hold">
                                          <p:stCondLst>
                                            <p:cond delay="0"/>
                                          </p:stCondLst>
                                        </p:cTn>
                                        <p:tgtEl>
                                          <p:spTgt spid="35"/>
                                        </p:tgtEl>
                                        <p:attrNameLst>
                                          <p:attrName>style.visibility</p:attrName>
                                        </p:attrNameLst>
                                      </p:cBhvr>
                                      <p:to>
                                        <p:strVal val="visible"/>
                                      </p:to>
                                    </p:set>
                                    <p:animEffect transition="in" filter="wipe(left)">
                                      <p:cBhvr>
                                        <p:cTn id="74" dur="500"/>
                                        <p:tgtEl>
                                          <p:spTgt spid="35"/>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1" fill="hold" nodeType="clickEffect">
                                  <p:stCondLst>
                                    <p:cond delay="0"/>
                                  </p:stCondLst>
                                  <p:childTnLst>
                                    <p:set>
                                      <p:cBhvr>
                                        <p:cTn id="78" dur="1" fill="hold">
                                          <p:stCondLst>
                                            <p:cond delay="0"/>
                                          </p:stCondLst>
                                        </p:cTn>
                                        <p:tgtEl>
                                          <p:spTgt spid="58"/>
                                        </p:tgtEl>
                                        <p:attrNameLst>
                                          <p:attrName>style.visibility</p:attrName>
                                        </p:attrNameLst>
                                      </p:cBhvr>
                                      <p:to>
                                        <p:strVal val="visible"/>
                                      </p:to>
                                    </p:set>
                                    <p:animEffect transition="in" filter="wipe(up)">
                                      <p:cBhvr>
                                        <p:cTn id="79" dur="500"/>
                                        <p:tgtEl>
                                          <p:spTgt spid="58"/>
                                        </p:tgtEl>
                                      </p:cBhvr>
                                    </p:animEffect>
                                  </p:childTnLst>
                                </p:cTn>
                              </p:par>
                            </p:childTnLst>
                          </p:cTn>
                        </p:par>
                        <p:par>
                          <p:cTn id="80" fill="hold" nodeType="afterGroup">
                            <p:stCondLst>
                              <p:cond delay="500"/>
                            </p:stCondLst>
                            <p:childTnLst>
                              <p:par>
                                <p:cTn id="81" presetID="22" presetClass="entr" presetSubtype="1" fill="hold" nodeType="afterEffect">
                                  <p:stCondLst>
                                    <p:cond delay="0"/>
                                  </p:stCondLst>
                                  <p:childTnLst>
                                    <p:set>
                                      <p:cBhvr>
                                        <p:cTn id="82" dur="1" fill="hold">
                                          <p:stCondLst>
                                            <p:cond delay="0"/>
                                          </p:stCondLst>
                                        </p:cTn>
                                        <p:tgtEl>
                                          <p:spTgt spid="73"/>
                                        </p:tgtEl>
                                        <p:attrNameLst>
                                          <p:attrName>style.visibility</p:attrName>
                                        </p:attrNameLst>
                                      </p:cBhvr>
                                      <p:to>
                                        <p:strVal val="visible"/>
                                      </p:to>
                                    </p:set>
                                    <p:animEffect transition="in" filter="wipe(up)">
                                      <p:cBhvr>
                                        <p:cTn id="83" dur="500"/>
                                        <p:tgtEl>
                                          <p:spTgt spid="73"/>
                                        </p:tgtEl>
                                      </p:cBhvr>
                                    </p:animEffect>
                                  </p:childTnLst>
                                </p:cTn>
                              </p:par>
                            </p:childTnLst>
                          </p:cTn>
                        </p:par>
                        <p:par>
                          <p:cTn id="84" fill="hold">
                            <p:stCondLst>
                              <p:cond delay="1000"/>
                            </p:stCondLst>
                            <p:childTnLst>
                              <p:par>
                                <p:cTn id="85" presetID="22" presetClass="entr" presetSubtype="8" fill="hold" grpId="0" nodeType="afterEffect">
                                  <p:stCondLst>
                                    <p:cond delay="0"/>
                                  </p:stCondLst>
                                  <p:childTnLst>
                                    <p:set>
                                      <p:cBhvr>
                                        <p:cTn id="86" dur="1" fill="hold">
                                          <p:stCondLst>
                                            <p:cond delay="0"/>
                                          </p:stCondLst>
                                        </p:cTn>
                                        <p:tgtEl>
                                          <p:spTgt spid="44035">
                                            <p:txEl>
                                              <p:pRg st="0" end="0"/>
                                            </p:txEl>
                                          </p:spTgt>
                                        </p:tgtEl>
                                        <p:attrNameLst>
                                          <p:attrName>style.visibility</p:attrName>
                                        </p:attrNameLst>
                                      </p:cBhvr>
                                      <p:to>
                                        <p:strVal val="visible"/>
                                      </p:to>
                                    </p:set>
                                    <p:animEffect transition="in" filter="wipe(left)">
                                      <p:cBhvr>
                                        <p:cTn id="87" dur="500"/>
                                        <p:tgtEl>
                                          <p:spTgt spid="440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a:lnSpc>
                <a:spcPct val="90000"/>
              </a:lnSpc>
            </a:pPr>
            <a:r>
              <a:rPr lang="en-US" altLang="en-US" smtClean="0"/>
              <a:t>Shifts in Supply and Demand Curves</a:t>
            </a:r>
          </a:p>
        </p:txBody>
      </p:sp>
      <p:sp>
        <p:nvSpPr>
          <p:cNvPr id="45059" name="Rectangle 3"/>
          <p:cNvSpPr>
            <a:spLocks noGrp="1" noChangeArrowheads="1"/>
          </p:cNvSpPr>
          <p:nvPr>
            <p:ph idx="1"/>
          </p:nvPr>
        </p:nvSpPr>
        <p:spPr/>
        <p:txBody>
          <a:bodyPr/>
          <a:lstStyle/>
          <a:p>
            <a:r>
              <a:rPr lang="en-US" altLang="en-US" dirty="0" smtClean="0"/>
              <a:t>Demand curves shift because</a:t>
            </a:r>
          </a:p>
          <a:p>
            <a:pPr lvl="1"/>
            <a:r>
              <a:rPr lang="en-US" altLang="en-US" dirty="0" smtClean="0"/>
              <a:t>Incomes change</a:t>
            </a:r>
          </a:p>
          <a:p>
            <a:pPr lvl="1"/>
            <a:r>
              <a:rPr lang="en-US" altLang="en-US" dirty="0" smtClean="0"/>
              <a:t>Prices of substitutes or complements change</a:t>
            </a:r>
          </a:p>
          <a:p>
            <a:pPr lvl="1"/>
            <a:r>
              <a:rPr lang="en-US" altLang="en-US" dirty="0" smtClean="0"/>
              <a:t>Preferences change</a:t>
            </a:r>
          </a:p>
          <a:p>
            <a:r>
              <a:rPr lang="en-US" altLang="en-US" dirty="0" smtClean="0"/>
              <a:t>Supply curves shift because</a:t>
            </a:r>
          </a:p>
          <a:p>
            <a:pPr lvl="1"/>
            <a:r>
              <a:rPr lang="en-US" altLang="en-US" dirty="0" smtClean="0"/>
              <a:t>Input prices change</a:t>
            </a:r>
          </a:p>
          <a:p>
            <a:pPr lvl="1"/>
            <a:r>
              <a:rPr lang="en-US" altLang="en-US" dirty="0" smtClean="0"/>
              <a:t>Technology changes</a:t>
            </a:r>
          </a:p>
          <a:p>
            <a:pPr lvl="1"/>
            <a:r>
              <a:rPr lang="en-US" altLang="en-US" dirty="0" smtClean="0"/>
              <a:t>Number of producers change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6FB6320-630F-4F7B-A1FA-5391F3D794BC}" type="slidenum">
              <a:rPr lang="en-US" smtClean="0"/>
              <a:pPr>
                <a:defRPr/>
              </a:pPr>
              <a:t>25</a:t>
            </a:fld>
            <a:endParaRPr lang="en-US"/>
          </a:p>
        </p:txBody>
      </p:sp>
    </p:spTree>
    <p:extLst>
      <p:ext uri="{BB962C8B-B14F-4D97-AF65-F5344CB8AC3E}">
        <p14:creationId xmlns:p14="http://schemas.microsoft.com/office/powerpoint/2010/main" val="358644431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bwMode="auto">
          <a:xfrm>
            <a:off x="1200150" y="0"/>
            <a:ext cx="794385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12.1	Reasons for Shifts in Demand or Supply </a:t>
            </a:r>
            <a:r>
              <a:rPr lang="en-US" altLang="en-US" dirty="0" smtClean="0"/>
              <a:t/>
            </a:r>
            <a:br>
              <a:rPr lang="en-US" altLang="en-US" dirty="0" smtClean="0"/>
            </a:br>
            <a:r>
              <a:rPr lang="en-US" altLang="en-US" dirty="0"/>
              <a:t>	</a:t>
            </a:r>
            <a:r>
              <a:rPr lang="en-US" altLang="en-US" dirty="0" smtClean="0">
                <a:solidFill>
                  <a:srgbClr val="002D56"/>
                </a:solidFill>
              </a:rPr>
              <a:t>Curves</a:t>
            </a:r>
            <a:endParaRPr lang="en-US" altLang="en-US" dirty="0" smtClean="0">
              <a:solidFill>
                <a:srgbClr val="002D56"/>
              </a:solidFill>
            </a:endParaRPr>
          </a:p>
        </p:txBody>
      </p:sp>
      <p:sp>
        <p:nvSpPr>
          <p:cNvPr id="46085"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2FF38A2F-8053-4C84-ACA9-64892C6861F1}" type="slidenum">
              <a:rPr lang="en-US" smtClean="0"/>
              <a:pPr>
                <a:defRPr/>
              </a:pPr>
              <a:t>26</a:t>
            </a:fld>
            <a:endParaRPr lang="en-US" dirty="0"/>
          </a:p>
        </p:txBody>
      </p:sp>
      <p:pic>
        <p:nvPicPr>
          <p:cNvPr id="583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488" y="1747837"/>
            <a:ext cx="8709025" cy="183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37928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8370"/>
                                        </p:tgtEl>
                                        <p:attrNameLst>
                                          <p:attrName>style.visibility</p:attrName>
                                        </p:attrNameLst>
                                      </p:cBhvr>
                                      <p:to>
                                        <p:strVal val="visible"/>
                                      </p:to>
                                    </p:set>
                                    <p:animEffect transition="in" filter="wipe(left)">
                                      <p:cBhvr>
                                        <p:cTn id="7" dur="500"/>
                                        <p:tgtEl>
                                          <p:spTgt spid="58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a:lnSpc>
                <a:spcPct val="90000"/>
              </a:lnSpc>
            </a:pPr>
            <a:r>
              <a:rPr lang="en-US" altLang="en-US" smtClean="0"/>
              <a:t>Shifts in Supply and Demand Curves</a:t>
            </a:r>
          </a:p>
        </p:txBody>
      </p:sp>
      <p:sp>
        <p:nvSpPr>
          <p:cNvPr id="47107" name="Rectangle 3"/>
          <p:cNvSpPr>
            <a:spLocks noGrp="1" noChangeArrowheads="1"/>
          </p:cNvSpPr>
          <p:nvPr>
            <p:ph idx="1"/>
          </p:nvPr>
        </p:nvSpPr>
        <p:spPr/>
        <p:txBody>
          <a:bodyPr/>
          <a:lstStyle/>
          <a:p>
            <a:r>
              <a:rPr lang="en-US" altLang="en-US" smtClean="0"/>
              <a:t>When either a supply curve or a demand curve shift</a:t>
            </a:r>
          </a:p>
          <a:p>
            <a:pPr lvl="1"/>
            <a:r>
              <a:rPr lang="en-US" altLang="en-US" smtClean="0"/>
              <a:t>Equilibrium price and quantity will change</a:t>
            </a:r>
          </a:p>
          <a:p>
            <a:pPr lvl="1"/>
            <a:r>
              <a:rPr lang="en-US" altLang="en-US" smtClean="0"/>
              <a:t>The relative magnitudes of these changes depends on the shapes of the supply and demand curves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3157A3E-86B8-460F-B1BD-B85F5D7068BC}" type="slidenum">
              <a:rPr lang="en-US" smtClean="0"/>
              <a:pPr>
                <a:defRPr/>
              </a:pPr>
              <a:t>27</a:t>
            </a:fld>
            <a:endParaRPr lang="en-US"/>
          </a:p>
        </p:txBody>
      </p:sp>
    </p:spTree>
    <p:extLst>
      <p:ext uri="{BB962C8B-B14F-4D97-AF65-F5344CB8AC3E}">
        <p14:creationId xmlns:p14="http://schemas.microsoft.com/office/powerpoint/2010/main" val="340167275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p:cNvSpPr>
            <a:spLocks noGrp="1" noChangeArrowheads="1"/>
          </p:cNvSpPr>
          <p:nvPr>
            <p:ph type="title"/>
          </p:nvPr>
        </p:nvSpPr>
        <p:spPr bwMode="auto">
          <a:xfrm>
            <a:off x="1143000" y="0"/>
            <a:ext cx="80010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12.5	Effect of a Shift in the Short-Run </a:t>
            </a:r>
            <a:r>
              <a:rPr lang="en-US" altLang="en-US" dirty="0" smtClean="0"/>
              <a:t> S </a:t>
            </a:r>
            <a:r>
              <a:rPr lang="en-US" altLang="en-US" dirty="0" smtClean="0">
                <a:solidFill>
                  <a:srgbClr val="002D56"/>
                </a:solidFill>
              </a:rPr>
              <a:t> </a:t>
            </a:r>
            <a:r>
              <a:rPr lang="en-US" altLang="en-US" dirty="0"/>
              <a:t>Curve</a:t>
            </a:r>
            <a:r>
              <a:rPr lang="en-US" altLang="en-US" dirty="0">
                <a:solidFill>
                  <a:srgbClr val="002D56"/>
                </a:solidFill>
              </a:rPr>
              <a:t> </a:t>
            </a:r>
            <a:r>
              <a:rPr lang="en-US" altLang="en-US" dirty="0" smtClean="0">
                <a:solidFill>
                  <a:srgbClr val="002D56"/>
                </a:solidFill>
              </a:rPr>
              <a:t/>
            </a:r>
            <a:br>
              <a:rPr lang="en-US" altLang="en-US" dirty="0" smtClean="0">
                <a:solidFill>
                  <a:srgbClr val="002D56"/>
                </a:solidFill>
              </a:rPr>
            </a:br>
            <a:r>
              <a:rPr lang="en-US" altLang="en-US" dirty="0">
                <a:solidFill>
                  <a:srgbClr val="002D56"/>
                </a:solidFill>
              </a:rPr>
              <a:t>	</a:t>
            </a:r>
            <a:r>
              <a:rPr lang="en-US" altLang="en-US" dirty="0" smtClean="0">
                <a:solidFill>
                  <a:srgbClr val="002D56"/>
                </a:solidFill>
              </a:rPr>
              <a:t>Depends </a:t>
            </a:r>
            <a:r>
              <a:rPr lang="en-US" altLang="en-US" dirty="0">
                <a:solidFill>
                  <a:srgbClr val="002D56"/>
                </a:solidFill>
              </a:rPr>
              <a:t>on the Shape of the </a:t>
            </a:r>
            <a:r>
              <a:rPr lang="en-US" altLang="en-US" dirty="0" smtClean="0">
                <a:solidFill>
                  <a:srgbClr val="002D56"/>
                </a:solidFill>
              </a:rPr>
              <a:t>D Curve</a:t>
            </a:r>
            <a:endParaRPr lang="en-US" altLang="en-US" dirty="0" smtClean="0">
              <a:solidFill>
                <a:srgbClr val="002D56"/>
              </a:solidFill>
            </a:endParaRPr>
          </a:p>
        </p:txBody>
      </p:sp>
      <p:sp>
        <p:nvSpPr>
          <p:cNvPr id="48131" name="Text Placeholder 46"/>
          <p:cNvSpPr>
            <a:spLocks noGrp="1"/>
          </p:cNvSpPr>
          <p:nvPr>
            <p:ph sz="half" idx="1"/>
          </p:nvPr>
        </p:nvSpPr>
        <p:spPr>
          <a:xfrm>
            <a:off x="187325" y="5011738"/>
            <a:ext cx="8804274" cy="1266032"/>
          </a:xfrm>
        </p:spPr>
        <p:txBody>
          <a:bodyPr>
            <a:normAutofit/>
          </a:bodyPr>
          <a:lstStyle/>
          <a:p>
            <a:pPr>
              <a:spcBef>
                <a:spcPct val="0"/>
              </a:spcBef>
            </a:pPr>
            <a:r>
              <a:rPr lang="en-US" altLang="en-US" dirty="0"/>
              <a:t>In (a) the shift upward in the supply curve causes price to increase only slightly while quantity decreases sharply. This results from the elastic shape of the demand curve. </a:t>
            </a:r>
            <a:endParaRPr lang="en-US" altLang="en-US" dirty="0" smtClean="0"/>
          </a:p>
          <a:p>
            <a:pPr>
              <a:spcBef>
                <a:spcPct val="0"/>
              </a:spcBef>
            </a:pPr>
            <a:r>
              <a:rPr lang="en-US" altLang="en-US" dirty="0" smtClean="0"/>
              <a:t>In </a:t>
            </a:r>
            <a:r>
              <a:rPr lang="en-US" altLang="en-US" dirty="0"/>
              <a:t>(b) the demand curve is inelastic; price increases substantially, with only a slight decrease in quantity. </a:t>
            </a:r>
          </a:p>
        </p:txBody>
      </p:sp>
      <p:sp>
        <p:nvSpPr>
          <p:cNvPr id="48134" name="Footer Placeholder 4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5" name="Slide Number Placeholder 44"/>
          <p:cNvSpPr>
            <a:spLocks noGrp="1"/>
          </p:cNvSpPr>
          <p:nvPr>
            <p:ph type="sldNum" sz="quarter" idx="11"/>
          </p:nvPr>
        </p:nvSpPr>
        <p:spPr/>
        <p:txBody>
          <a:bodyPr/>
          <a:lstStyle/>
          <a:p>
            <a:pPr>
              <a:defRPr/>
            </a:pPr>
            <a:fld id="{40902281-4188-4D63-BF33-B1948284FD1E}" type="slidenum">
              <a:rPr lang="en-US" smtClean="0"/>
              <a:pPr>
                <a:defRPr/>
              </a:pPr>
              <a:t>28</a:t>
            </a:fld>
            <a:endParaRPr lang="en-US"/>
          </a:p>
        </p:txBody>
      </p:sp>
      <p:grpSp>
        <p:nvGrpSpPr>
          <p:cNvPr id="2" name="Group 57"/>
          <p:cNvGrpSpPr>
            <a:grpSpLocks/>
          </p:cNvGrpSpPr>
          <p:nvPr/>
        </p:nvGrpSpPr>
        <p:grpSpPr bwMode="auto">
          <a:xfrm>
            <a:off x="1635125" y="1066800"/>
            <a:ext cx="2300288" cy="2998787"/>
            <a:chOff x="1635825" y="1423813"/>
            <a:chExt cx="2300288" cy="2998787"/>
          </a:xfrm>
        </p:grpSpPr>
        <p:sp>
          <p:nvSpPr>
            <p:cNvPr id="48199" name="Freeform 14"/>
            <p:cNvSpPr>
              <a:spLocks/>
            </p:cNvSpPr>
            <p:nvPr/>
          </p:nvSpPr>
          <p:spPr bwMode="auto">
            <a:xfrm>
              <a:off x="1635825" y="1755600"/>
              <a:ext cx="2133600" cy="2667000"/>
            </a:xfrm>
            <a:custGeom>
              <a:avLst/>
              <a:gdLst>
                <a:gd name="T0" fmla="*/ 0 w 1344"/>
                <a:gd name="T1" fmla="*/ 1680 h 1680"/>
                <a:gd name="T2" fmla="*/ 864 w 1344"/>
                <a:gd name="T3" fmla="*/ 768 h 1680"/>
                <a:gd name="T4" fmla="*/ 1344 w 1344"/>
                <a:gd name="T5" fmla="*/ 0 h 1680"/>
                <a:gd name="T6" fmla="*/ 0 60000 65536"/>
                <a:gd name="T7" fmla="*/ 0 60000 65536"/>
                <a:gd name="T8" fmla="*/ 0 60000 65536"/>
                <a:gd name="T9" fmla="*/ 0 w 1344"/>
                <a:gd name="T10" fmla="*/ 0 h 1680"/>
                <a:gd name="T11" fmla="*/ 1344 w 1344"/>
                <a:gd name="T12" fmla="*/ 1680 h 1680"/>
              </a:gdLst>
              <a:ahLst/>
              <a:cxnLst>
                <a:cxn ang="T6">
                  <a:pos x="T0" y="T1"/>
                </a:cxn>
                <a:cxn ang="T7">
                  <a:pos x="T2" y="T3"/>
                </a:cxn>
                <a:cxn ang="T8">
                  <a:pos x="T4" y="T5"/>
                </a:cxn>
              </a:cxnLst>
              <a:rect l="T9" t="T10" r="T11" b="T12"/>
              <a:pathLst>
                <a:path w="1344" h="1680">
                  <a:moveTo>
                    <a:pt x="0" y="1680"/>
                  </a:moveTo>
                  <a:cubicBezTo>
                    <a:pt x="320" y="1364"/>
                    <a:pt x="640" y="1048"/>
                    <a:pt x="864" y="768"/>
                  </a:cubicBezTo>
                  <a:cubicBezTo>
                    <a:pt x="1088" y="488"/>
                    <a:pt x="1264" y="128"/>
                    <a:pt x="1344" y="0"/>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200" name="Text Box 25"/>
            <p:cNvSpPr txBox="1">
              <a:spLocks noChangeArrowheads="1"/>
            </p:cNvSpPr>
            <p:nvPr/>
          </p:nvSpPr>
          <p:spPr bwMode="auto">
            <a:xfrm>
              <a:off x="3617025" y="1423813"/>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S</a:t>
              </a:r>
            </a:p>
          </p:txBody>
        </p:sp>
      </p:grpSp>
      <p:grpSp>
        <p:nvGrpSpPr>
          <p:cNvPr id="3" name="Group 56"/>
          <p:cNvGrpSpPr>
            <a:grpSpLocks/>
          </p:cNvGrpSpPr>
          <p:nvPr/>
        </p:nvGrpSpPr>
        <p:grpSpPr bwMode="auto">
          <a:xfrm>
            <a:off x="1254125" y="838200"/>
            <a:ext cx="2281238" cy="2998787"/>
            <a:chOff x="1254825" y="1195213"/>
            <a:chExt cx="2281238" cy="2998787"/>
          </a:xfrm>
        </p:grpSpPr>
        <p:sp>
          <p:nvSpPr>
            <p:cNvPr id="48197" name="Freeform 13"/>
            <p:cNvSpPr>
              <a:spLocks/>
            </p:cNvSpPr>
            <p:nvPr/>
          </p:nvSpPr>
          <p:spPr bwMode="auto">
            <a:xfrm>
              <a:off x="1254825" y="1527000"/>
              <a:ext cx="2133600" cy="2667000"/>
            </a:xfrm>
            <a:custGeom>
              <a:avLst/>
              <a:gdLst>
                <a:gd name="T0" fmla="*/ 0 w 1344"/>
                <a:gd name="T1" fmla="*/ 1680 h 1680"/>
                <a:gd name="T2" fmla="*/ 864 w 1344"/>
                <a:gd name="T3" fmla="*/ 768 h 1680"/>
                <a:gd name="T4" fmla="*/ 1344 w 1344"/>
                <a:gd name="T5" fmla="*/ 0 h 1680"/>
                <a:gd name="T6" fmla="*/ 0 60000 65536"/>
                <a:gd name="T7" fmla="*/ 0 60000 65536"/>
                <a:gd name="T8" fmla="*/ 0 60000 65536"/>
                <a:gd name="T9" fmla="*/ 0 w 1344"/>
                <a:gd name="T10" fmla="*/ 0 h 1680"/>
                <a:gd name="T11" fmla="*/ 1344 w 1344"/>
                <a:gd name="T12" fmla="*/ 1680 h 1680"/>
              </a:gdLst>
              <a:ahLst/>
              <a:cxnLst>
                <a:cxn ang="T6">
                  <a:pos x="T0" y="T1"/>
                </a:cxn>
                <a:cxn ang="T7">
                  <a:pos x="T2" y="T3"/>
                </a:cxn>
                <a:cxn ang="T8">
                  <a:pos x="T4" y="T5"/>
                </a:cxn>
              </a:cxnLst>
              <a:rect l="T9" t="T10" r="T11" b="T12"/>
              <a:pathLst>
                <a:path w="1344" h="1680">
                  <a:moveTo>
                    <a:pt x="0" y="1680"/>
                  </a:moveTo>
                  <a:cubicBezTo>
                    <a:pt x="320" y="1364"/>
                    <a:pt x="640" y="1048"/>
                    <a:pt x="864" y="768"/>
                  </a:cubicBezTo>
                  <a:cubicBezTo>
                    <a:pt x="1088" y="488"/>
                    <a:pt x="1264" y="128"/>
                    <a:pt x="1344" y="0"/>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198" name="Text Box 26"/>
            <p:cNvSpPr txBox="1">
              <a:spLocks noChangeArrowheads="1"/>
            </p:cNvSpPr>
            <p:nvPr/>
          </p:nvSpPr>
          <p:spPr bwMode="auto">
            <a:xfrm>
              <a:off x="3159825" y="1195213"/>
              <a:ext cx="3762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S’</a:t>
              </a:r>
            </a:p>
          </p:txBody>
        </p:sp>
      </p:grpSp>
      <p:grpSp>
        <p:nvGrpSpPr>
          <p:cNvPr id="4" name="Group 65"/>
          <p:cNvGrpSpPr>
            <a:grpSpLocks/>
          </p:cNvGrpSpPr>
          <p:nvPr/>
        </p:nvGrpSpPr>
        <p:grpSpPr bwMode="auto">
          <a:xfrm>
            <a:off x="5826125" y="1066800"/>
            <a:ext cx="2376488" cy="2998787"/>
            <a:chOff x="5826825" y="1423813"/>
            <a:chExt cx="2376488" cy="2998787"/>
          </a:xfrm>
        </p:grpSpPr>
        <p:sp>
          <p:nvSpPr>
            <p:cNvPr id="48195" name="Freeform 20"/>
            <p:cNvSpPr>
              <a:spLocks/>
            </p:cNvSpPr>
            <p:nvPr/>
          </p:nvSpPr>
          <p:spPr bwMode="auto">
            <a:xfrm>
              <a:off x="5826825" y="1755600"/>
              <a:ext cx="2133600" cy="2667000"/>
            </a:xfrm>
            <a:custGeom>
              <a:avLst/>
              <a:gdLst>
                <a:gd name="T0" fmla="*/ 0 w 1344"/>
                <a:gd name="T1" fmla="*/ 1680 h 1680"/>
                <a:gd name="T2" fmla="*/ 864 w 1344"/>
                <a:gd name="T3" fmla="*/ 768 h 1680"/>
                <a:gd name="T4" fmla="*/ 1344 w 1344"/>
                <a:gd name="T5" fmla="*/ 0 h 1680"/>
                <a:gd name="T6" fmla="*/ 0 60000 65536"/>
                <a:gd name="T7" fmla="*/ 0 60000 65536"/>
                <a:gd name="T8" fmla="*/ 0 60000 65536"/>
                <a:gd name="T9" fmla="*/ 0 w 1344"/>
                <a:gd name="T10" fmla="*/ 0 h 1680"/>
                <a:gd name="T11" fmla="*/ 1344 w 1344"/>
                <a:gd name="T12" fmla="*/ 1680 h 1680"/>
              </a:gdLst>
              <a:ahLst/>
              <a:cxnLst>
                <a:cxn ang="T6">
                  <a:pos x="T0" y="T1"/>
                </a:cxn>
                <a:cxn ang="T7">
                  <a:pos x="T2" y="T3"/>
                </a:cxn>
                <a:cxn ang="T8">
                  <a:pos x="T4" y="T5"/>
                </a:cxn>
              </a:cxnLst>
              <a:rect l="T9" t="T10" r="T11" b="T12"/>
              <a:pathLst>
                <a:path w="1344" h="1680">
                  <a:moveTo>
                    <a:pt x="0" y="1680"/>
                  </a:moveTo>
                  <a:cubicBezTo>
                    <a:pt x="320" y="1364"/>
                    <a:pt x="640" y="1048"/>
                    <a:pt x="864" y="768"/>
                  </a:cubicBezTo>
                  <a:cubicBezTo>
                    <a:pt x="1088" y="488"/>
                    <a:pt x="1264" y="128"/>
                    <a:pt x="1344" y="0"/>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196" name="Text Box 27"/>
            <p:cNvSpPr txBox="1">
              <a:spLocks noChangeArrowheads="1"/>
            </p:cNvSpPr>
            <p:nvPr/>
          </p:nvSpPr>
          <p:spPr bwMode="auto">
            <a:xfrm>
              <a:off x="7884225" y="1423813"/>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S</a:t>
              </a:r>
            </a:p>
          </p:txBody>
        </p:sp>
      </p:grpSp>
      <p:grpSp>
        <p:nvGrpSpPr>
          <p:cNvPr id="5" name="Group 64"/>
          <p:cNvGrpSpPr>
            <a:grpSpLocks/>
          </p:cNvGrpSpPr>
          <p:nvPr/>
        </p:nvGrpSpPr>
        <p:grpSpPr bwMode="auto">
          <a:xfrm>
            <a:off x="5445125" y="838200"/>
            <a:ext cx="2357438" cy="2998787"/>
            <a:chOff x="5445825" y="1195213"/>
            <a:chExt cx="2357438" cy="2998787"/>
          </a:xfrm>
        </p:grpSpPr>
        <p:sp>
          <p:nvSpPr>
            <p:cNvPr id="48193" name="Freeform 19"/>
            <p:cNvSpPr>
              <a:spLocks/>
            </p:cNvSpPr>
            <p:nvPr/>
          </p:nvSpPr>
          <p:spPr bwMode="auto">
            <a:xfrm>
              <a:off x="5445825" y="1527000"/>
              <a:ext cx="2133600" cy="2667000"/>
            </a:xfrm>
            <a:custGeom>
              <a:avLst/>
              <a:gdLst>
                <a:gd name="T0" fmla="*/ 0 w 1344"/>
                <a:gd name="T1" fmla="*/ 1680 h 1680"/>
                <a:gd name="T2" fmla="*/ 864 w 1344"/>
                <a:gd name="T3" fmla="*/ 768 h 1680"/>
                <a:gd name="T4" fmla="*/ 1344 w 1344"/>
                <a:gd name="T5" fmla="*/ 0 h 1680"/>
                <a:gd name="T6" fmla="*/ 0 60000 65536"/>
                <a:gd name="T7" fmla="*/ 0 60000 65536"/>
                <a:gd name="T8" fmla="*/ 0 60000 65536"/>
                <a:gd name="T9" fmla="*/ 0 w 1344"/>
                <a:gd name="T10" fmla="*/ 0 h 1680"/>
                <a:gd name="T11" fmla="*/ 1344 w 1344"/>
                <a:gd name="T12" fmla="*/ 1680 h 1680"/>
              </a:gdLst>
              <a:ahLst/>
              <a:cxnLst>
                <a:cxn ang="T6">
                  <a:pos x="T0" y="T1"/>
                </a:cxn>
                <a:cxn ang="T7">
                  <a:pos x="T2" y="T3"/>
                </a:cxn>
                <a:cxn ang="T8">
                  <a:pos x="T4" y="T5"/>
                </a:cxn>
              </a:cxnLst>
              <a:rect l="T9" t="T10" r="T11" b="T12"/>
              <a:pathLst>
                <a:path w="1344" h="1680">
                  <a:moveTo>
                    <a:pt x="0" y="1680"/>
                  </a:moveTo>
                  <a:cubicBezTo>
                    <a:pt x="320" y="1364"/>
                    <a:pt x="640" y="1048"/>
                    <a:pt x="864" y="768"/>
                  </a:cubicBezTo>
                  <a:cubicBezTo>
                    <a:pt x="1088" y="488"/>
                    <a:pt x="1264" y="128"/>
                    <a:pt x="1344" y="0"/>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194" name="Text Box 28"/>
            <p:cNvSpPr txBox="1">
              <a:spLocks noChangeArrowheads="1"/>
            </p:cNvSpPr>
            <p:nvPr/>
          </p:nvSpPr>
          <p:spPr bwMode="auto">
            <a:xfrm>
              <a:off x="7427025" y="1195213"/>
              <a:ext cx="3762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S’</a:t>
              </a:r>
            </a:p>
          </p:txBody>
        </p:sp>
      </p:grpSp>
      <p:grpSp>
        <p:nvGrpSpPr>
          <p:cNvPr id="6" name="Group 58"/>
          <p:cNvGrpSpPr>
            <a:grpSpLocks/>
          </p:cNvGrpSpPr>
          <p:nvPr/>
        </p:nvGrpSpPr>
        <p:grpSpPr bwMode="auto">
          <a:xfrm>
            <a:off x="1101725" y="2084387"/>
            <a:ext cx="3302000" cy="1909763"/>
            <a:chOff x="1102425" y="2441400"/>
            <a:chExt cx="3302000" cy="1909763"/>
          </a:xfrm>
        </p:grpSpPr>
        <p:sp>
          <p:nvSpPr>
            <p:cNvPr id="48191" name="Freeform 21"/>
            <p:cNvSpPr>
              <a:spLocks/>
            </p:cNvSpPr>
            <p:nvPr/>
          </p:nvSpPr>
          <p:spPr bwMode="auto">
            <a:xfrm>
              <a:off x="1102425" y="2441400"/>
              <a:ext cx="2971800" cy="1752600"/>
            </a:xfrm>
            <a:custGeom>
              <a:avLst/>
              <a:gdLst>
                <a:gd name="T0" fmla="*/ 0 w 1872"/>
                <a:gd name="T1" fmla="*/ 0 h 1104"/>
                <a:gd name="T2" fmla="*/ 1056 w 1872"/>
                <a:gd name="T3" fmla="*/ 768 h 1104"/>
                <a:gd name="T4" fmla="*/ 1872 w 1872"/>
                <a:gd name="T5" fmla="*/ 1104 h 1104"/>
                <a:gd name="T6" fmla="*/ 0 60000 65536"/>
                <a:gd name="T7" fmla="*/ 0 60000 65536"/>
                <a:gd name="T8" fmla="*/ 0 60000 65536"/>
                <a:gd name="T9" fmla="*/ 0 w 1872"/>
                <a:gd name="T10" fmla="*/ 0 h 1104"/>
                <a:gd name="T11" fmla="*/ 1872 w 1872"/>
                <a:gd name="T12" fmla="*/ 1104 h 1104"/>
              </a:gdLst>
              <a:ahLst/>
              <a:cxnLst>
                <a:cxn ang="T6">
                  <a:pos x="T0" y="T1"/>
                </a:cxn>
                <a:cxn ang="T7">
                  <a:pos x="T2" y="T3"/>
                </a:cxn>
                <a:cxn ang="T8">
                  <a:pos x="T4" y="T5"/>
                </a:cxn>
              </a:cxnLst>
              <a:rect l="T9" t="T10" r="T11" b="T12"/>
              <a:pathLst>
                <a:path w="1872" h="1104">
                  <a:moveTo>
                    <a:pt x="0" y="0"/>
                  </a:moveTo>
                  <a:cubicBezTo>
                    <a:pt x="372" y="292"/>
                    <a:pt x="744" y="584"/>
                    <a:pt x="1056" y="768"/>
                  </a:cubicBezTo>
                  <a:cubicBezTo>
                    <a:pt x="1368" y="952"/>
                    <a:pt x="1736" y="1048"/>
                    <a:pt x="1872" y="1104"/>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192" name="Text Box 29"/>
            <p:cNvSpPr txBox="1">
              <a:spLocks noChangeArrowheads="1"/>
            </p:cNvSpPr>
            <p:nvPr/>
          </p:nvSpPr>
          <p:spPr bwMode="auto">
            <a:xfrm>
              <a:off x="4074225" y="4014613"/>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D</a:t>
              </a:r>
            </a:p>
          </p:txBody>
        </p:sp>
      </p:grpSp>
      <p:grpSp>
        <p:nvGrpSpPr>
          <p:cNvPr id="7" name="Group 63"/>
          <p:cNvGrpSpPr>
            <a:grpSpLocks/>
          </p:cNvGrpSpPr>
          <p:nvPr/>
        </p:nvGrpSpPr>
        <p:grpSpPr bwMode="auto">
          <a:xfrm>
            <a:off x="5978525" y="1169987"/>
            <a:ext cx="1227138" cy="3048000"/>
            <a:chOff x="5979225" y="1527000"/>
            <a:chExt cx="1227138" cy="3048000"/>
          </a:xfrm>
        </p:grpSpPr>
        <p:sp>
          <p:nvSpPr>
            <p:cNvPr id="48189" name="Freeform 24"/>
            <p:cNvSpPr>
              <a:spLocks/>
            </p:cNvSpPr>
            <p:nvPr/>
          </p:nvSpPr>
          <p:spPr bwMode="auto">
            <a:xfrm>
              <a:off x="5979225" y="1527000"/>
              <a:ext cx="914400" cy="2895600"/>
            </a:xfrm>
            <a:custGeom>
              <a:avLst/>
              <a:gdLst>
                <a:gd name="T0" fmla="*/ 0 w 576"/>
                <a:gd name="T1" fmla="*/ 0 h 1824"/>
                <a:gd name="T2" fmla="*/ 192 w 576"/>
                <a:gd name="T3" fmla="*/ 1008 h 1824"/>
                <a:gd name="T4" fmla="*/ 576 w 576"/>
                <a:gd name="T5" fmla="*/ 1824 h 1824"/>
                <a:gd name="T6" fmla="*/ 0 60000 65536"/>
                <a:gd name="T7" fmla="*/ 0 60000 65536"/>
                <a:gd name="T8" fmla="*/ 0 60000 65536"/>
                <a:gd name="T9" fmla="*/ 0 w 576"/>
                <a:gd name="T10" fmla="*/ 0 h 1824"/>
                <a:gd name="T11" fmla="*/ 576 w 576"/>
                <a:gd name="T12" fmla="*/ 1824 h 1824"/>
              </a:gdLst>
              <a:ahLst/>
              <a:cxnLst>
                <a:cxn ang="T6">
                  <a:pos x="T0" y="T1"/>
                </a:cxn>
                <a:cxn ang="T7">
                  <a:pos x="T2" y="T3"/>
                </a:cxn>
                <a:cxn ang="T8">
                  <a:pos x="T4" y="T5"/>
                </a:cxn>
              </a:cxnLst>
              <a:rect l="T9" t="T10" r="T11" b="T12"/>
              <a:pathLst>
                <a:path w="576" h="1824">
                  <a:moveTo>
                    <a:pt x="0" y="0"/>
                  </a:moveTo>
                  <a:cubicBezTo>
                    <a:pt x="48" y="352"/>
                    <a:pt x="96" y="704"/>
                    <a:pt x="192" y="1008"/>
                  </a:cubicBezTo>
                  <a:cubicBezTo>
                    <a:pt x="288" y="1312"/>
                    <a:pt x="512" y="1688"/>
                    <a:pt x="576" y="1824"/>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190" name="Text Box 30"/>
            <p:cNvSpPr txBox="1">
              <a:spLocks noChangeArrowheads="1"/>
            </p:cNvSpPr>
            <p:nvPr/>
          </p:nvSpPr>
          <p:spPr bwMode="auto">
            <a:xfrm>
              <a:off x="6893625" y="4270200"/>
              <a:ext cx="3127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3B4F89"/>
                  </a:solidFill>
                </a:rPr>
                <a:t>D</a:t>
              </a:r>
            </a:p>
          </p:txBody>
        </p:sp>
      </p:grpSp>
      <p:grpSp>
        <p:nvGrpSpPr>
          <p:cNvPr id="8" name="Group 55"/>
          <p:cNvGrpSpPr>
            <a:grpSpLocks/>
          </p:cNvGrpSpPr>
          <p:nvPr/>
        </p:nvGrpSpPr>
        <p:grpSpPr bwMode="auto">
          <a:xfrm>
            <a:off x="547688" y="3025775"/>
            <a:ext cx="2001837" cy="304800"/>
            <a:chOff x="546987" y="3382788"/>
            <a:chExt cx="2003238" cy="304800"/>
          </a:xfrm>
        </p:grpSpPr>
        <p:sp>
          <p:nvSpPr>
            <p:cNvPr id="48187" name="Text Box 32"/>
            <p:cNvSpPr txBox="1">
              <a:spLocks noChangeArrowheads="1"/>
            </p:cNvSpPr>
            <p:nvPr/>
          </p:nvSpPr>
          <p:spPr bwMode="auto">
            <a:xfrm>
              <a:off x="546987" y="3382788"/>
              <a:ext cx="3032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a:t>P</a:t>
              </a:r>
            </a:p>
          </p:txBody>
        </p:sp>
        <p:sp>
          <p:nvSpPr>
            <p:cNvPr id="48188" name="Line 36"/>
            <p:cNvSpPr>
              <a:spLocks noChangeShapeType="1"/>
            </p:cNvSpPr>
            <p:nvPr/>
          </p:nvSpPr>
          <p:spPr bwMode="auto">
            <a:xfrm flipH="1">
              <a:off x="873825" y="3508200"/>
              <a:ext cx="16764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9" name="Group 54"/>
          <p:cNvGrpSpPr>
            <a:grpSpLocks/>
          </p:cNvGrpSpPr>
          <p:nvPr/>
        </p:nvGrpSpPr>
        <p:grpSpPr bwMode="auto">
          <a:xfrm>
            <a:off x="498475" y="2725737"/>
            <a:ext cx="1670050" cy="304800"/>
            <a:chOff x="497775" y="3106688"/>
            <a:chExt cx="1671450" cy="304800"/>
          </a:xfrm>
        </p:grpSpPr>
        <p:sp>
          <p:nvSpPr>
            <p:cNvPr id="48185" name="Line 23"/>
            <p:cNvSpPr>
              <a:spLocks noChangeShapeType="1"/>
            </p:cNvSpPr>
            <p:nvPr/>
          </p:nvSpPr>
          <p:spPr bwMode="auto">
            <a:xfrm flipH="1">
              <a:off x="873825" y="3279600"/>
              <a:ext cx="12954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48186" name="Text Box 38"/>
            <p:cNvSpPr txBox="1">
              <a:spLocks noChangeArrowheads="1"/>
            </p:cNvSpPr>
            <p:nvPr/>
          </p:nvSpPr>
          <p:spPr bwMode="auto">
            <a:xfrm>
              <a:off x="497775" y="3106688"/>
              <a:ext cx="352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a:t>
              </a:r>
            </a:p>
          </p:txBody>
        </p:sp>
      </p:grpSp>
      <p:grpSp>
        <p:nvGrpSpPr>
          <p:cNvPr id="10" name="Group 60"/>
          <p:cNvGrpSpPr>
            <a:grpSpLocks/>
          </p:cNvGrpSpPr>
          <p:nvPr/>
        </p:nvGrpSpPr>
        <p:grpSpPr bwMode="auto">
          <a:xfrm>
            <a:off x="4700588" y="3254375"/>
            <a:ext cx="1811337" cy="304800"/>
            <a:chOff x="4700650" y="3611388"/>
            <a:chExt cx="1811975" cy="304800"/>
          </a:xfrm>
        </p:grpSpPr>
        <p:sp>
          <p:nvSpPr>
            <p:cNvPr id="48183" name="Text Box 33"/>
            <p:cNvSpPr txBox="1">
              <a:spLocks noChangeArrowheads="1"/>
            </p:cNvSpPr>
            <p:nvPr/>
          </p:nvSpPr>
          <p:spPr bwMode="auto">
            <a:xfrm>
              <a:off x="4700650" y="3611388"/>
              <a:ext cx="3032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a:t>
              </a:r>
            </a:p>
          </p:txBody>
        </p:sp>
        <p:sp>
          <p:nvSpPr>
            <p:cNvPr id="48184" name="Line 40"/>
            <p:cNvSpPr>
              <a:spLocks noChangeShapeType="1"/>
            </p:cNvSpPr>
            <p:nvPr/>
          </p:nvSpPr>
          <p:spPr bwMode="auto">
            <a:xfrm flipH="1">
              <a:off x="5064825" y="3736800"/>
              <a:ext cx="14478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 name="Group 59"/>
          <p:cNvGrpSpPr>
            <a:grpSpLocks/>
          </p:cNvGrpSpPr>
          <p:nvPr/>
        </p:nvGrpSpPr>
        <p:grpSpPr bwMode="auto">
          <a:xfrm>
            <a:off x="4700588" y="2797175"/>
            <a:ext cx="1658937" cy="304800"/>
            <a:chOff x="4700650" y="3154188"/>
            <a:chExt cx="1659575" cy="304800"/>
          </a:xfrm>
        </p:grpSpPr>
        <p:sp>
          <p:nvSpPr>
            <p:cNvPr id="48181" name="Line 31"/>
            <p:cNvSpPr>
              <a:spLocks noChangeShapeType="1"/>
            </p:cNvSpPr>
            <p:nvPr/>
          </p:nvSpPr>
          <p:spPr bwMode="auto">
            <a:xfrm>
              <a:off x="5064825" y="3279600"/>
              <a:ext cx="12954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82" name="Text Box 43"/>
            <p:cNvSpPr txBox="1">
              <a:spLocks noChangeArrowheads="1"/>
            </p:cNvSpPr>
            <p:nvPr/>
          </p:nvSpPr>
          <p:spPr bwMode="auto">
            <a:xfrm>
              <a:off x="4700650" y="3154188"/>
              <a:ext cx="352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a:t>
              </a:r>
            </a:p>
          </p:txBody>
        </p:sp>
      </p:grpSp>
      <p:grpSp>
        <p:nvGrpSpPr>
          <p:cNvPr id="12" name="Group 74"/>
          <p:cNvGrpSpPr>
            <a:grpSpLocks/>
          </p:cNvGrpSpPr>
          <p:nvPr/>
        </p:nvGrpSpPr>
        <p:grpSpPr bwMode="auto">
          <a:xfrm>
            <a:off x="187325" y="952499"/>
            <a:ext cx="4324350" cy="4195763"/>
            <a:chOff x="188025" y="1309512"/>
            <a:chExt cx="4324350" cy="4195763"/>
          </a:xfrm>
        </p:grpSpPr>
        <p:grpSp>
          <p:nvGrpSpPr>
            <p:cNvPr id="48174" name="Group 50"/>
            <p:cNvGrpSpPr>
              <a:grpSpLocks/>
            </p:cNvGrpSpPr>
            <p:nvPr/>
          </p:nvGrpSpPr>
          <p:grpSpPr bwMode="auto">
            <a:xfrm>
              <a:off x="873825" y="4727400"/>
              <a:ext cx="3638550" cy="641350"/>
              <a:chOff x="873825" y="4727400"/>
              <a:chExt cx="3638550" cy="641350"/>
            </a:xfrm>
          </p:grpSpPr>
          <p:sp>
            <p:nvSpPr>
              <p:cNvPr id="48179" name="Line 6"/>
              <p:cNvSpPr>
                <a:spLocks noChangeShapeType="1"/>
              </p:cNvSpPr>
              <p:nvPr/>
            </p:nvSpPr>
            <p:spPr bwMode="auto">
              <a:xfrm>
                <a:off x="873825" y="4727400"/>
                <a:ext cx="3276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80" name="Text Box 9"/>
              <p:cNvSpPr txBox="1">
                <a:spLocks noChangeArrowheads="1"/>
              </p:cNvSpPr>
              <p:nvPr/>
            </p:nvSpPr>
            <p:spPr bwMode="auto">
              <a:xfrm>
                <a:off x="3693225" y="4727400"/>
                <a:ext cx="819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 per</a:t>
                </a:r>
              </a:p>
              <a:p>
                <a:pPr eaLnBrk="1" hangingPunct="1"/>
                <a:r>
                  <a:rPr lang="en-US" altLang="en-US" sz="1800"/>
                  <a:t>period</a:t>
                </a:r>
              </a:p>
            </p:txBody>
          </p:sp>
        </p:grpSp>
        <p:grpSp>
          <p:nvGrpSpPr>
            <p:cNvPr id="48175" name="Group 48"/>
            <p:cNvGrpSpPr>
              <a:grpSpLocks/>
            </p:cNvGrpSpPr>
            <p:nvPr/>
          </p:nvGrpSpPr>
          <p:grpSpPr bwMode="auto">
            <a:xfrm>
              <a:off x="188025" y="1309512"/>
              <a:ext cx="704850" cy="3417888"/>
              <a:chOff x="188025" y="1309512"/>
              <a:chExt cx="704850" cy="3417888"/>
            </a:xfrm>
          </p:grpSpPr>
          <p:sp>
            <p:nvSpPr>
              <p:cNvPr id="48177" name="Line 5"/>
              <p:cNvSpPr>
                <a:spLocks noChangeShapeType="1"/>
              </p:cNvSpPr>
              <p:nvPr/>
            </p:nvSpPr>
            <p:spPr bwMode="auto">
              <a:xfrm>
                <a:off x="873825" y="1527000"/>
                <a:ext cx="0" cy="3200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78" name="Text Box 12"/>
              <p:cNvSpPr txBox="1">
                <a:spLocks noChangeArrowheads="1"/>
              </p:cNvSpPr>
              <p:nvPr/>
            </p:nvSpPr>
            <p:spPr bwMode="auto">
              <a:xfrm>
                <a:off x="188025" y="1309512"/>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Price</a:t>
                </a:r>
              </a:p>
            </p:txBody>
          </p:sp>
        </p:grpSp>
        <p:sp>
          <p:nvSpPr>
            <p:cNvPr id="48176" name="Text Box 46"/>
            <p:cNvSpPr txBox="1">
              <a:spLocks noChangeArrowheads="1"/>
            </p:cNvSpPr>
            <p:nvPr/>
          </p:nvSpPr>
          <p:spPr bwMode="auto">
            <a:xfrm>
              <a:off x="822009" y="5108400"/>
              <a:ext cx="2074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002D56"/>
                  </a:solidFill>
                </a:rPr>
                <a:t>(a) Elastic Demand</a:t>
              </a:r>
            </a:p>
          </p:txBody>
        </p:sp>
      </p:grpSp>
      <p:grpSp>
        <p:nvGrpSpPr>
          <p:cNvPr id="15" name="Group 75"/>
          <p:cNvGrpSpPr>
            <a:grpSpLocks/>
          </p:cNvGrpSpPr>
          <p:nvPr/>
        </p:nvGrpSpPr>
        <p:grpSpPr bwMode="auto">
          <a:xfrm>
            <a:off x="4378325" y="1014412"/>
            <a:ext cx="4324350" cy="4133850"/>
            <a:chOff x="4379025" y="1371425"/>
            <a:chExt cx="4324350" cy="4133850"/>
          </a:xfrm>
        </p:grpSpPr>
        <p:grpSp>
          <p:nvGrpSpPr>
            <p:cNvPr id="48167" name="Group 51"/>
            <p:cNvGrpSpPr>
              <a:grpSpLocks/>
            </p:cNvGrpSpPr>
            <p:nvPr/>
          </p:nvGrpSpPr>
          <p:grpSpPr bwMode="auto">
            <a:xfrm>
              <a:off x="5064825" y="4727400"/>
              <a:ext cx="3638550" cy="641350"/>
              <a:chOff x="5064825" y="4727400"/>
              <a:chExt cx="3638550" cy="641350"/>
            </a:xfrm>
          </p:grpSpPr>
          <p:sp>
            <p:nvSpPr>
              <p:cNvPr id="48172" name="Line 7"/>
              <p:cNvSpPr>
                <a:spLocks noChangeShapeType="1"/>
              </p:cNvSpPr>
              <p:nvPr/>
            </p:nvSpPr>
            <p:spPr bwMode="auto">
              <a:xfrm>
                <a:off x="5064825" y="4727400"/>
                <a:ext cx="3276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73" name="Text Box 10"/>
              <p:cNvSpPr txBox="1">
                <a:spLocks noChangeArrowheads="1"/>
              </p:cNvSpPr>
              <p:nvPr/>
            </p:nvSpPr>
            <p:spPr bwMode="auto">
              <a:xfrm>
                <a:off x="7884225" y="4727400"/>
                <a:ext cx="819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 per</a:t>
                </a:r>
              </a:p>
              <a:p>
                <a:pPr eaLnBrk="1" hangingPunct="1"/>
                <a:r>
                  <a:rPr lang="en-US" altLang="en-US" sz="1800"/>
                  <a:t>period</a:t>
                </a:r>
              </a:p>
            </p:txBody>
          </p:sp>
        </p:grpSp>
        <p:grpSp>
          <p:nvGrpSpPr>
            <p:cNvPr id="48168" name="Group 49"/>
            <p:cNvGrpSpPr>
              <a:grpSpLocks/>
            </p:cNvGrpSpPr>
            <p:nvPr/>
          </p:nvGrpSpPr>
          <p:grpSpPr bwMode="auto">
            <a:xfrm>
              <a:off x="4379025" y="1371425"/>
              <a:ext cx="704850" cy="3355975"/>
              <a:chOff x="4379025" y="1371425"/>
              <a:chExt cx="704850" cy="3355975"/>
            </a:xfrm>
          </p:grpSpPr>
          <p:sp>
            <p:nvSpPr>
              <p:cNvPr id="48170" name="Line 8"/>
              <p:cNvSpPr>
                <a:spLocks noChangeShapeType="1"/>
              </p:cNvSpPr>
              <p:nvPr/>
            </p:nvSpPr>
            <p:spPr bwMode="auto">
              <a:xfrm>
                <a:off x="5064825" y="1527000"/>
                <a:ext cx="0" cy="3200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71" name="Text Box 11"/>
              <p:cNvSpPr txBox="1">
                <a:spLocks noChangeArrowheads="1"/>
              </p:cNvSpPr>
              <p:nvPr/>
            </p:nvSpPr>
            <p:spPr bwMode="auto">
              <a:xfrm>
                <a:off x="4379025" y="1371425"/>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Price</a:t>
                </a:r>
              </a:p>
            </p:txBody>
          </p:sp>
        </p:grpSp>
        <p:sp>
          <p:nvSpPr>
            <p:cNvPr id="48169" name="Text Box 47"/>
            <p:cNvSpPr txBox="1">
              <a:spLocks noChangeArrowheads="1"/>
            </p:cNvSpPr>
            <p:nvPr/>
          </p:nvSpPr>
          <p:spPr bwMode="auto">
            <a:xfrm>
              <a:off x="5089209" y="5108400"/>
              <a:ext cx="22717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002D56"/>
                  </a:solidFill>
                </a:rPr>
                <a:t>(b) Inelastic Demand</a:t>
              </a:r>
            </a:p>
          </p:txBody>
        </p:sp>
      </p:grpSp>
      <p:grpSp>
        <p:nvGrpSpPr>
          <p:cNvPr id="18" name="Group 73"/>
          <p:cNvGrpSpPr>
            <a:grpSpLocks/>
          </p:cNvGrpSpPr>
          <p:nvPr/>
        </p:nvGrpSpPr>
        <p:grpSpPr bwMode="auto">
          <a:xfrm>
            <a:off x="5984875" y="2878137"/>
            <a:ext cx="457200" cy="1797050"/>
            <a:chOff x="5985623" y="3234600"/>
            <a:chExt cx="457200" cy="1797600"/>
          </a:xfrm>
        </p:grpSpPr>
        <p:grpSp>
          <p:nvGrpSpPr>
            <p:cNvPr id="48163" name="Group 62"/>
            <p:cNvGrpSpPr>
              <a:grpSpLocks/>
            </p:cNvGrpSpPr>
            <p:nvPr/>
          </p:nvGrpSpPr>
          <p:grpSpPr bwMode="auto">
            <a:xfrm>
              <a:off x="5985623" y="3279600"/>
              <a:ext cx="457200" cy="1752600"/>
              <a:chOff x="6007925" y="3279600"/>
              <a:chExt cx="457200" cy="1752600"/>
            </a:xfrm>
          </p:grpSpPr>
          <p:sp>
            <p:nvSpPr>
              <p:cNvPr id="48165" name="Line 42"/>
              <p:cNvSpPr>
                <a:spLocks noChangeShapeType="1"/>
              </p:cNvSpPr>
              <p:nvPr/>
            </p:nvSpPr>
            <p:spPr bwMode="auto">
              <a:xfrm>
                <a:off x="6360225" y="3279600"/>
                <a:ext cx="0" cy="1447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66" name="Text Box 45"/>
              <p:cNvSpPr txBox="1">
                <a:spLocks noChangeArrowheads="1"/>
              </p:cNvSpPr>
              <p:nvPr/>
            </p:nvSpPr>
            <p:spPr bwMode="auto">
              <a:xfrm>
                <a:off x="6007925" y="4727400"/>
                <a:ext cx="457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a:t>Q’</a:t>
                </a:r>
              </a:p>
            </p:txBody>
          </p:sp>
        </p:grpSp>
        <p:sp>
          <p:nvSpPr>
            <p:cNvPr id="48164" name="Oval 9"/>
            <p:cNvSpPr>
              <a:spLocks noChangeArrowheads="1"/>
            </p:cNvSpPr>
            <p:nvPr/>
          </p:nvSpPr>
          <p:spPr bwMode="auto">
            <a:xfrm>
              <a:off x="6302480" y="3234600"/>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20" name="Group 72"/>
          <p:cNvGrpSpPr>
            <a:grpSpLocks/>
          </p:cNvGrpSpPr>
          <p:nvPr/>
        </p:nvGrpSpPr>
        <p:grpSpPr bwMode="auto">
          <a:xfrm>
            <a:off x="6370638" y="3324225"/>
            <a:ext cx="457200" cy="1350962"/>
            <a:chOff x="6370143" y="3680649"/>
            <a:chExt cx="457200" cy="1351551"/>
          </a:xfrm>
        </p:grpSpPr>
        <p:grpSp>
          <p:nvGrpSpPr>
            <p:cNvPr id="48159" name="Group 61"/>
            <p:cNvGrpSpPr>
              <a:grpSpLocks/>
            </p:cNvGrpSpPr>
            <p:nvPr/>
          </p:nvGrpSpPr>
          <p:grpSpPr bwMode="auto">
            <a:xfrm>
              <a:off x="6370143" y="3736800"/>
              <a:ext cx="457200" cy="1295400"/>
              <a:chOff x="6355275" y="3736800"/>
              <a:chExt cx="457200" cy="1295400"/>
            </a:xfrm>
          </p:grpSpPr>
          <p:sp>
            <p:nvSpPr>
              <p:cNvPr id="48161" name="Line 41"/>
              <p:cNvSpPr>
                <a:spLocks noChangeShapeType="1"/>
              </p:cNvSpPr>
              <p:nvPr/>
            </p:nvSpPr>
            <p:spPr bwMode="auto">
              <a:xfrm>
                <a:off x="6512625" y="3736800"/>
                <a:ext cx="0" cy="9906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62" name="Text Box 44"/>
              <p:cNvSpPr txBox="1">
                <a:spLocks noChangeArrowheads="1"/>
              </p:cNvSpPr>
              <p:nvPr/>
            </p:nvSpPr>
            <p:spPr bwMode="auto">
              <a:xfrm>
                <a:off x="6355275" y="4727400"/>
                <a:ext cx="457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p>
            </p:txBody>
          </p:sp>
        </p:grpSp>
        <p:sp>
          <p:nvSpPr>
            <p:cNvPr id="48160" name="Oval 9"/>
            <p:cNvSpPr>
              <a:spLocks noChangeArrowheads="1"/>
            </p:cNvSpPr>
            <p:nvPr/>
          </p:nvSpPr>
          <p:spPr bwMode="auto">
            <a:xfrm>
              <a:off x="6499485" y="3680649"/>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22" name="Group 71"/>
          <p:cNvGrpSpPr>
            <a:grpSpLocks/>
          </p:cNvGrpSpPr>
          <p:nvPr/>
        </p:nvGrpSpPr>
        <p:grpSpPr bwMode="auto">
          <a:xfrm>
            <a:off x="1947863" y="2860675"/>
            <a:ext cx="371475" cy="1841500"/>
            <a:chOff x="1940625" y="3217075"/>
            <a:chExt cx="371475" cy="1842113"/>
          </a:xfrm>
        </p:grpSpPr>
        <p:grpSp>
          <p:nvGrpSpPr>
            <p:cNvPr id="48155" name="Group 52"/>
            <p:cNvGrpSpPr>
              <a:grpSpLocks/>
            </p:cNvGrpSpPr>
            <p:nvPr/>
          </p:nvGrpSpPr>
          <p:grpSpPr bwMode="auto">
            <a:xfrm>
              <a:off x="1940625" y="3279600"/>
              <a:ext cx="371475" cy="1779588"/>
              <a:chOff x="1940625" y="3279600"/>
              <a:chExt cx="371475" cy="1779588"/>
            </a:xfrm>
          </p:grpSpPr>
          <p:sp>
            <p:nvSpPr>
              <p:cNvPr id="48157" name="Line 35"/>
              <p:cNvSpPr>
                <a:spLocks noChangeShapeType="1"/>
              </p:cNvSpPr>
              <p:nvPr/>
            </p:nvSpPr>
            <p:spPr bwMode="auto">
              <a:xfrm>
                <a:off x="2169225" y="3279600"/>
                <a:ext cx="0" cy="1447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58" name="Text Box 39"/>
              <p:cNvSpPr txBox="1">
                <a:spLocks noChangeArrowheads="1"/>
              </p:cNvSpPr>
              <p:nvPr/>
            </p:nvSpPr>
            <p:spPr bwMode="auto">
              <a:xfrm>
                <a:off x="1940625" y="4754388"/>
                <a:ext cx="371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p>
            </p:txBody>
          </p:sp>
        </p:grpSp>
        <p:sp>
          <p:nvSpPr>
            <p:cNvPr id="48156" name="Oval 9"/>
            <p:cNvSpPr>
              <a:spLocks noChangeArrowheads="1"/>
            </p:cNvSpPr>
            <p:nvPr/>
          </p:nvSpPr>
          <p:spPr bwMode="auto">
            <a:xfrm>
              <a:off x="2136662" y="3217075"/>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24" name="Group 70"/>
          <p:cNvGrpSpPr>
            <a:grpSpLocks/>
          </p:cNvGrpSpPr>
          <p:nvPr/>
        </p:nvGrpSpPr>
        <p:grpSpPr bwMode="auto">
          <a:xfrm>
            <a:off x="2397125" y="3113087"/>
            <a:ext cx="322263" cy="1589088"/>
            <a:chOff x="2397825" y="3470303"/>
            <a:chExt cx="322263" cy="1588885"/>
          </a:xfrm>
        </p:grpSpPr>
        <p:grpSp>
          <p:nvGrpSpPr>
            <p:cNvPr id="48151" name="Group 53"/>
            <p:cNvGrpSpPr>
              <a:grpSpLocks/>
            </p:cNvGrpSpPr>
            <p:nvPr/>
          </p:nvGrpSpPr>
          <p:grpSpPr bwMode="auto">
            <a:xfrm>
              <a:off x="2397825" y="3508200"/>
              <a:ext cx="322263" cy="1550988"/>
              <a:chOff x="2397825" y="3508200"/>
              <a:chExt cx="322263" cy="1550988"/>
            </a:xfrm>
          </p:grpSpPr>
          <p:sp>
            <p:nvSpPr>
              <p:cNvPr id="48153" name="Text Box 34"/>
              <p:cNvSpPr txBox="1">
                <a:spLocks noChangeArrowheads="1"/>
              </p:cNvSpPr>
              <p:nvPr/>
            </p:nvSpPr>
            <p:spPr bwMode="auto">
              <a:xfrm>
                <a:off x="2397825" y="4754388"/>
                <a:ext cx="3222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p>
            </p:txBody>
          </p:sp>
          <p:sp>
            <p:nvSpPr>
              <p:cNvPr id="48154" name="Line 37"/>
              <p:cNvSpPr>
                <a:spLocks noChangeShapeType="1"/>
              </p:cNvSpPr>
              <p:nvPr/>
            </p:nvSpPr>
            <p:spPr bwMode="auto">
              <a:xfrm>
                <a:off x="2550225" y="3508200"/>
                <a:ext cx="0" cy="12192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8152" name="Oval 9"/>
            <p:cNvSpPr>
              <a:spLocks noChangeArrowheads="1"/>
            </p:cNvSpPr>
            <p:nvPr/>
          </p:nvSpPr>
          <p:spPr bwMode="auto">
            <a:xfrm>
              <a:off x="2501148" y="3470303"/>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spTree>
    <p:extLst>
      <p:ext uri="{BB962C8B-B14F-4D97-AF65-F5344CB8AC3E}">
        <p14:creationId xmlns:p14="http://schemas.microsoft.com/office/powerpoint/2010/main" val="9985367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wipe(up)">
                                      <p:cBhvr>
                                        <p:cTn id="23" dur="500"/>
                                        <p:tgtEl>
                                          <p:spTgt spid="2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500"/>
                                        <p:tgtEl>
                                          <p:spTgt spid="3"/>
                                        </p:tgtEl>
                                      </p:cBhvr>
                                    </p:animEffect>
                                  </p:childTnLst>
                                </p:cTn>
                              </p:par>
                            </p:childTnLst>
                          </p:cTn>
                        </p:par>
                        <p:par>
                          <p:cTn id="29" fill="hold" nodeType="afterGroup">
                            <p:stCondLst>
                              <p:cond delay="500"/>
                            </p:stCondLst>
                            <p:childTnLst>
                              <p:par>
                                <p:cTn id="30" presetID="22" presetClass="entr" presetSubtype="8" fill="hold"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par>
                          <p:cTn id="33" fill="hold" nodeType="afterGroup">
                            <p:stCondLst>
                              <p:cond delay="1000"/>
                            </p:stCondLst>
                            <p:childTnLst>
                              <p:par>
                                <p:cTn id="34" presetID="22" presetClass="entr" presetSubtype="1" fill="hold" nodeType="after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up)">
                                      <p:cBhvr>
                                        <p:cTn id="36" dur="500"/>
                                        <p:tgtEl>
                                          <p:spTgt spid="22"/>
                                        </p:tgtEl>
                                      </p:cBhvr>
                                    </p:animEffect>
                                  </p:childTnLst>
                                </p:cTn>
                              </p:par>
                            </p:childTnLst>
                          </p:cTn>
                        </p:par>
                        <p:par>
                          <p:cTn id="37" fill="hold" nodeType="withGroup">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48131">
                                            <p:txEl>
                                              <p:pRg st="0" end="0"/>
                                            </p:txEl>
                                          </p:spTgt>
                                        </p:tgtEl>
                                        <p:attrNameLst>
                                          <p:attrName>style.visibility</p:attrName>
                                        </p:attrNameLst>
                                      </p:cBhvr>
                                      <p:to>
                                        <p:strVal val="visible"/>
                                      </p:to>
                                    </p:set>
                                    <p:animEffect transition="in" filter="wipe(left)">
                                      <p:cBhvr>
                                        <p:cTn id="40" dur="500"/>
                                        <p:tgtEl>
                                          <p:spTgt spid="48131">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wipe(left)">
                                      <p:cBhvr>
                                        <p:cTn id="45" dur="500"/>
                                        <p:tgtEl>
                                          <p:spTgt spid="15"/>
                                        </p:tgtEl>
                                      </p:cBhvr>
                                    </p:animEffect>
                                  </p:childTnLst>
                                </p:cTn>
                              </p:par>
                            </p:childTnLst>
                          </p:cTn>
                        </p:par>
                        <p:par>
                          <p:cTn id="46" fill="hold" nodeType="afterGroup">
                            <p:stCondLst>
                              <p:cond delay="500"/>
                            </p:stCondLst>
                            <p:childTnLst>
                              <p:par>
                                <p:cTn id="47" presetID="22" presetClass="entr" presetSubtype="8" fill="hold" nodeType="after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wipe(left)">
                                      <p:cBhvr>
                                        <p:cTn id="49" dur="500"/>
                                        <p:tgtEl>
                                          <p:spTgt spid="7"/>
                                        </p:tgtEl>
                                      </p:cBhvr>
                                    </p:animEffect>
                                  </p:childTnLst>
                                </p:cTn>
                              </p:par>
                            </p:childTnLst>
                          </p:cTn>
                        </p:par>
                        <p:par>
                          <p:cTn id="50" fill="hold" nodeType="afterGroup">
                            <p:stCondLst>
                              <p:cond delay="1000"/>
                            </p:stCondLst>
                            <p:childTnLst>
                              <p:par>
                                <p:cTn id="51" presetID="22" presetClass="entr" presetSubtype="8" fill="hold" nodeType="afterEffect">
                                  <p:stCondLst>
                                    <p:cond delay="0"/>
                                  </p:stCondLst>
                                  <p:childTnLst>
                                    <p:set>
                                      <p:cBhvr>
                                        <p:cTn id="52" dur="1" fill="hold">
                                          <p:stCondLst>
                                            <p:cond delay="0"/>
                                          </p:stCondLst>
                                        </p:cTn>
                                        <p:tgtEl>
                                          <p:spTgt spid="4"/>
                                        </p:tgtEl>
                                        <p:attrNameLst>
                                          <p:attrName>style.visibility</p:attrName>
                                        </p:attrNameLst>
                                      </p:cBhvr>
                                      <p:to>
                                        <p:strVal val="visible"/>
                                      </p:to>
                                    </p:set>
                                    <p:animEffect transition="in" filter="wipe(left)">
                                      <p:cBhvr>
                                        <p:cTn id="53" dur="500"/>
                                        <p:tgtEl>
                                          <p:spTgt spid="4"/>
                                        </p:tgtEl>
                                      </p:cBhvr>
                                    </p:animEffect>
                                  </p:childTnLst>
                                </p:cTn>
                              </p:par>
                            </p:childTnLst>
                          </p:cTn>
                        </p:par>
                        <p:par>
                          <p:cTn id="54" fill="hold" nodeType="afterGroup">
                            <p:stCondLst>
                              <p:cond delay="1500"/>
                            </p:stCondLst>
                            <p:childTnLst>
                              <p:par>
                                <p:cTn id="55" presetID="22" presetClass="entr" presetSubtype="8" fill="hold" nodeType="after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left)">
                                      <p:cBhvr>
                                        <p:cTn id="57" dur="500"/>
                                        <p:tgtEl>
                                          <p:spTgt spid="10"/>
                                        </p:tgtEl>
                                      </p:cBhvr>
                                    </p:animEffect>
                                  </p:childTnLst>
                                </p:cTn>
                              </p:par>
                            </p:childTnLst>
                          </p:cTn>
                        </p:par>
                        <p:par>
                          <p:cTn id="58" fill="hold" nodeType="afterGroup">
                            <p:stCondLst>
                              <p:cond delay="2000"/>
                            </p:stCondLst>
                            <p:childTnLst>
                              <p:par>
                                <p:cTn id="59" presetID="22" presetClass="entr" presetSubtype="1" fill="hold" nodeType="after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ipe(up)">
                                      <p:cBhvr>
                                        <p:cTn id="61" dur="500"/>
                                        <p:tgtEl>
                                          <p:spTgt spid="20"/>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5"/>
                                        </p:tgtEl>
                                        <p:attrNameLst>
                                          <p:attrName>style.visibility</p:attrName>
                                        </p:attrNameLst>
                                      </p:cBhvr>
                                      <p:to>
                                        <p:strVal val="visible"/>
                                      </p:to>
                                    </p:set>
                                    <p:animEffect transition="in" filter="wipe(left)">
                                      <p:cBhvr>
                                        <p:cTn id="66" dur="500"/>
                                        <p:tgtEl>
                                          <p:spTgt spid="5"/>
                                        </p:tgtEl>
                                      </p:cBhvr>
                                    </p:animEffect>
                                  </p:childTnLst>
                                </p:cTn>
                              </p:par>
                            </p:childTnLst>
                          </p:cTn>
                        </p:par>
                        <p:par>
                          <p:cTn id="67" fill="hold" nodeType="afterGroup">
                            <p:stCondLst>
                              <p:cond delay="500"/>
                            </p:stCondLst>
                            <p:childTnLst>
                              <p:par>
                                <p:cTn id="68" presetID="22" presetClass="entr" presetSubtype="8" fill="hold" nodeType="afterEffect">
                                  <p:stCondLst>
                                    <p:cond delay="0"/>
                                  </p:stCondLst>
                                  <p:childTnLst>
                                    <p:set>
                                      <p:cBhvr>
                                        <p:cTn id="69" dur="1" fill="hold">
                                          <p:stCondLst>
                                            <p:cond delay="0"/>
                                          </p:stCondLst>
                                        </p:cTn>
                                        <p:tgtEl>
                                          <p:spTgt spid="11"/>
                                        </p:tgtEl>
                                        <p:attrNameLst>
                                          <p:attrName>style.visibility</p:attrName>
                                        </p:attrNameLst>
                                      </p:cBhvr>
                                      <p:to>
                                        <p:strVal val="visible"/>
                                      </p:to>
                                    </p:set>
                                    <p:animEffect transition="in" filter="wipe(left)">
                                      <p:cBhvr>
                                        <p:cTn id="70" dur="500"/>
                                        <p:tgtEl>
                                          <p:spTgt spid="11"/>
                                        </p:tgtEl>
                                      </p:cBhvr>
                                    </p:animEffect>
                                  </p:childTnLst>
                                </p:cTn>
                              </p:par>
                            </p:childTnLst>
                          </p:cTn>
                        </p:par>
                        <p:par>
                          <p:cTn id="71" fill="hold" nodeType="afterGroup">
                            <p:stCondLst>
                              <p:cond delay="1000"/>
                            </p:stCondLst>
                            <p:childTnLst>
                              <p:par>
                                <p:cTn id="72" presetID="22" presetClass="entr" presetSubtype="1" fill="hold" nodeType="after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wipe(up)">
                                      <p:cBhvr>
                                        <p:cTn id="74" dur="500"/>
                                        <p:tgtEl>
                                          <p:spTgt spid="18"/>
                                        </p:tgtEl>
                                      </p:cBhvr>
                                    </p:animEffect>
                                  </p:childTnLst>
                                </p:cTn>
                              </p:par>
                            </p:childTnLst>
                          </p:cTn>
                        </p:par>
                        <p:par>
                          <p:cTn id="75" fill="hold">
                            <p:stCondLst>
                              <p:cond delay="2000"/>
                            </p:stCondLst>
                            <p:childTnLst>
                              <p:par>
                                <p:cTn id="76" presetID="22" presetClass="entr" presetSubtype="8" fill="hold" grpId="0" nodeType="afterEffect">
                                  <p:stCondLst>
                                    <p:cond delay="0"/>
                                  </p:stCondLst>
                                  <p:childTnLst>
                                    <p:set>
                                      <p:cBhvr>
                                        <p:cTn id="77" dur="1" fill="hold">
                                          <p:stCondLst>
                                            <p:cond delay="0"/>
                                          </p:stCondLst>
                                        </p:cTn>
                                        <p:tgtEl>
                                          <p:spTgt spid="48131">
                                            <p:txEl>
                                              <p:pRg st="1" end="1"/>
                                            </p:txEl>
                                          </p:spTgt>
                                        </p:tgtEl>
                                        <p:attrNameLst>
                                          <p:attrName>style.visibility</p:attrName>
                                        </p:attrNameLst>
                                      </p:cBhvr>
                                      <p:to>
                                        <p:strVal val="visible"/>
                                      </p:to>
                                    </p:set>
                                    <p:animEffect transition="in" filter="wipe(left)">
                                      <p:cBhvr>
                                        <p:cTn id="78" dur="500"/>
                                        <p:tgtEl>
                                          <p:spTgt spid="481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bwMode="auto">
          <a:xfrm>
            <a:off x="1143000" y="0"/>
            <a:ext cx="80010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12.6	Effect of a Shift in the </a:t>
            </a:r>
            <a:r>
              <a:rPr lang="en-US" altLang="en-US" dirty="0" smtClean="0"/>
              <a:t>D </a:t>
            </a:r>
            <a:r>
              <a:rPr lang="en-US" altLang="en-US" dirty="0"/>
              <a:t>Curve Depends on </a:t>
            </a:r>
            <a:r>
              <a:rPr lang="en-US" altLang="en-US" dirty="0" smtClean="0"/>
              <a:t/>
            </a:r>
            <a:br>
              <a:rPr lang="en-US" altLang="en-US" dirty="0" smtClean="0"/>
            </a:br>
            <a:r>
              <a:rPr lang="en-US" altLang="en-US" dirty="0" smtClean="0"/>
              <a:t>	</a:t>
            </a:r>
            <a:r>
              <a:rPr lang="en-US" altLang="en-US" dirty="0" smtClean="0">
                <a:solidFill>
                  <a:srgbClr val="002D56"/>
                </a:solidFill>
              </a:rPr>
              <a:t>the </a:t>
            </a:r>
            <a:r>
              <a:rPr lang="en-US" altLang="en-US" dirty="0">
                <a:solidFill>
                  <a:srgbClr val="002D56"/>
                </a:solidFill>
              </a:rPr>
              <a:t>Shape of the Short-Run Supply </a:t>
            </a:r>
            <a:r>
              <a:rPr lang="en-US" altLang="en-US" dirty="0" smtClean="0">
                <a:solidFill>
                  <a:srgbClr val="002D56"/>
                </a:solidFill>
              </a:rPr>
              <a:t>Curve</a:t>
            </a:r>
            <a:endParaRPr lang="en-US" altLang="en-US" dirty="0" smtClean="0">
              <a:solidFill>
                <a:srgbClr val="002D56"/>
              </a:solidFill>
            </a:endParaRPr>
          </a:p>
        </p:txBody>
      </p:sp>
      <p:sp>
        <p:nvSpPr>
          <p:cNvPr id="49155" name="Text Placeholder 2"/>
          <p:cNvSpPr>
            <a:spLocks noGrp="1"/>
          </p:cNvSpPr>
          <p:nvPr>
            <p:ph sz="half" idx="1"/>
          </p:nvPr>
        </p:nvSpPr>
        <p:spPr>
          <a:xfrm>
            <a:off x="149224" y="5256213"/>
            <a:ext cx="8994776" cy="1144587"/>
          </a:xfrm>
        </p:spPr>
        <p:txBody>
          <a:bodyPr>
            <a:normAutofit lnSpcReduction="10000"/>
          </a:bodyPr>
          <a:lstStyle/>
          <a:p>
            <a:pPr>
              <a:spcBef>
                <a:spcPct val="0"/>
              </a:spcBef>
            </a:pPr>
            <a:r>
              <a:rPr lang="en-US" altLang="en-US" dirty="0"/>
              <a:t>In (a), supply is inelastic; a shift in demand causes price to increase greatly, with only a small concomitant increase in quantity. </a:t>
            </a:r>
            <a:endParaRPr lang="en-US" altLang="en-US" dirty="0" smtClean="0"/>
          </a:p>
          <a:p>
            <a:pPr>
              <a:spcBef>
                <a:spcPct val="0"/>
              </a:spcBef>
            </a:pPr>
            <a:r>
              <a:rPr lang="en-US" altLang="en-US" dirty="0" smtClean="0"/>
              <a:t>In </a:t>
            </a:r>
            <a:r>
              <a:rPr lang="en-US" altLang="en-US" dirty="0"/>
              <a:t>(b), on the other hand, supply is elastic; price increases only slightly in response to a demand shift</a:t>
            </a:r>
            <a:r>
              <a:rPr lang="en-US" altLang="en-US" dirty="0" smtClean="0"/>
              <a:t>.</a:t>
            </a:r>
            <a:endParaRPr lang="en-US" altLang="en-US" dirty="0"/>
          </a:p>
        </p:txBody>
      </p:sp>
      <p:sp>
        <p:nvSpPr>
          <p:cNvPr id="49158"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00969694-B372-4C1A-97EE-2A9C65EAD019}" type="slidenum">
              <a:rPr lang="en-US" smtClean="0"/>
              <a:pPr>
                <a:defRPr/>
              </a:pPr>
              <a:t>29</a:t>
            </a:fld>
            <a:endParaRPr lang="en-US" dirty="0"/>
          </a:p>
        </p:txBody>
      </p:sp>
      <p:grpSp>
        <p:nvGrpSpPr>
          <p:cNvPr id="45" name="Group 54"/>
          <p:cNvGrpSpPr>
            <a:grpSpLocks/>
          </p:cNvGrpSpPr>
          <p:nvPr/>
        </p:nvGrpSpPr>
        <p:grpSpPr bwMode="auto">
          <a:xfrm>
            <a:off x="1203325" y="1354138"/>
            <a:ext cx="2082800" cy="2922587"/>
            <a:chOff x="1203960" y="1645920"/>
            <a:chExt cx="2082800" cy="2922588"/>
          </a:xfrm>
        </p:grpSpPr>
        <p:sp>
          <p:nvSpPr>
            <p:cNvPr id="49223" name="Text Box 24"/>
            <p:cNvSpPr txBox="1">
              <a:spLocks noChangeArrowheads="1"/>
            </p:cNvSpPr>
            <p:nvPr/>
          </p:nvSpPr>
          <p:spPr bwMode="auto">
            <a:xfrm>
              <a:off x="2956560" y="4231958"/>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D</a:t>
              </a:r>
            </a:p>
          </p:txBody>
        </p:sp>
        <p:sp>
          <p:nvSpPr>
            <p:cNvPr id="49224" name="Freeform 45"/>
            <p:cNvSpPr>
              <a:spLocks/>
            </p:cNvSpPr>
            <p:nvPr/>
          </p:nvSpPr>
          <p:spPr bwMode="auto">
            <a:xfrm>
              <a:off x="1203960" y="1645920"/>
              <a:ext cx="1752600" cy="2819400"/>
            </a:xfrm>
            <a:custGeom>
              <a:avLst/>
              <a:gdLst>
                <a:gd name="T0" fmla="*/ 0 w 1104"/>
                <a:gd name="T1" fmla="*/ 0 h 1776"/>
                <a:gd name="T2" fmla="*/ 528 w 1104"/>
                <a:gd name="T3" fmla="*/ 1152 h 1776"/>
                <a:gd name="T4" fmla="*/ 1104 w 1104"/>
                <a:gd name="T5" fmla="*/ 1776 h 1776"/>
                <a:gd name="T6" fmla="*/ 0 60000 65536"/>
                <a:gd name="T7" fmla="*/ 0 60000 65536"/>
                <a:gd name="T8" fmla="*/ 0 60000 65536"/>
                <a:gd name="T9" fmla="*/ 0 w 1104"/>
                <a:gd name="T10" fmla="*/ 0 h 1776"/>
                <a:gd name="T11" fmla="*/ 1104 w 1104"/>
                <a:gd name="T12" fmla="*/ 1776 h 1776"/>
              </a:gdLst>
              <a:ahLst/>
              <a:cxnLst>
                <a:cxn ang="T6">
                  <a:pos x="T0" y="T1"/>
                </a:cxn>
                <a:cxn ang="T7">
                  <a:pos x="T2" y="T3"/>
                </a:cxn>
                <a:cxn ang="T8">
                  <a:pos x="T4" y="T5"/>
                </a:cxn>
              </a:cxnLst>
              <a:rect l="T9" t="T10" r="T11" b="T12"/>
              <a:pathLst>
                <a:path w="1104" h="1776">
                  <a:moveTo>
                    <a:pt x="0" y="0"/>
                  </a:moveTo>
                  <a:cubicBezTo>
                    <a:pt x="172" y="428"/>
                    <a:pt x="344" y="856"/>
                    <a:pt x="528" y="1152"/>
                  </a:cubicBezTo>
                  <a:cubicBezTo>
                    <a:pt x="712" y="1448"/>
                    <a:pt x="1008" y="1672"/>
                    <a:pt x="1104" y="1776"/>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50" name="Group 62"/>
          <p:cNvGrpSpPr>
            <a:grpSpLocks/>
          </p:cNvGrpSpPr>
          <p:nvPr/>
        </p:nvGrpSpPr>
        <p:grpSpPr bwMode="auto">
          <a:xfrm>
            <a:off x="5394325" y="1354138"/>
            <a:ext cx="2082800" cy="2949575"/>
            <a:chOff x="5394960" y="1645920"/>
            <a:chExt cx="2082800" cy="2949575"/>
          </a:xfrm>
        </p:grpSpPr>
        <p:sp>
          <p:nvSpPr>
            <p:cNvPr id="49221" name="Text Box 25"/>
            <p:cNvSpPr txBox="1">
              <a:spLocks noChangeArrowheads="1"/>
            </p:cNvSpPr>
            <p:nvPr/>
          </p:nvSpPr>
          <p:spPr bwMode="auto">
            <a:xfrm>
              <a:off x="7147560" y="4258945"/>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D</a:t>
              </a:r>
            </a:p>
          </p:txBody>
        </p:sp>
        <p:sp>
          <p:nvSpPr>
            <p:cNvPr id="49222" name="Freeform 47"/>
            <p:cNvSpPr>
              <a:spLocks/>
            </p:cNvSpPr>
            <p:nvPr/>
          </p:nvSpPr>
          <p:spPr bwMode="auto">
            <a:xfrm>
              <a:off x="5394960" y="1645920"/>
              <a:ext cx="1752600" cy="2819400"/>
            </a:xfrm>
            <a:custGeom>
              <a:avLst/>
              <a:gdLst>
                <a:gd name="T0" fmla="*/ 0 w 1104"/>
                <a:gd name="T1" fmla="*/ 0 h 1776"/>
                <a:gd name="T2" fmla="*/ 528 w 1104"/>
                <a:gd name="T3" fmla="*/ 1152 h 1776"/>
                <a:gd name="T4" fmla="*/ 1104 w 1104"/>
                <a:gd name="T5" fmla="*/ 1776 h 1776"/>
                <a:gd name="T6" fmla="*/ 0 60000 65536"/>
                <a:gd name="T7" fmla="*/ 0 60000 65536"/>
                <a:gd name="T8" fmla="*/ 0 60000 65536"/>
                <a:gd name="T9" fmla="*/ 0 w 1104"/>
                <a:gd name="T10" fmla="*/ 0 h 1776"/>
                <a:gd name="T11" fmla="*/ 1104 w 1104"/>
                <a:gd name="T12" fmla="*/ 1776 h 1776"/>
              </a:gdLst>
              <a:ahLst/>
              <a:cxnLst>
                <a:cxn ang="T6">
                  <a:pos x="T0" y="T1"/>
                </a:cxn>
                <a:cxn ang="T7">
                  <a:pos x="T2" y="T3"/>
                </a:cxn>
                <a:cxn ang="T8">
                  <a:pos x="T4" y="T5"/>
                </a:cxn>
              </a:cxnLst>
              <a:rect l="T9" t="T10" r="T11" b="T12"/>
              <a:pathLst>
                <a:path w="1104" h="1776">
                  <a:moveTo>
                    <a:pt x="0" y="0"/>
                  </a:moveTo>
                  <a:cubicBezTo>
                    <a:pt x="172" y="428"/>
                    <a:pt x="344" y="856"/>
                    <a:pt x="528" y="1152"/>
                  </a:cubicBezTo>
                  <a:cubicBezTo>
                    <a:pt x="712" y="1448"/>
                    <a:pt x="1008" y="1672"/>
                    <a:pt x="1104" y="1776"/>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51" name="Group 52"/>
          <p:cNvGrpSpPr>
            <a:grpSpLocks/>
          </p:cNvGrpSpPr>
          <p:nvPr/>
        </p:nvGrpSpPr>
        <p:grpSpPr bwMode="auto">
          <a:xfrm>
            <a:off x="1127125" y="1828800"/>
            <a:ext cx="3138488" cy="1811338"/>
            <a:chOff x="1127760" y="2120583"/>
            <a:chExt cx="3138488" cy="1811337"/>
          </a:xfrm>
        </p:grpSpPr>
        <p:sp>
          <p:nvSpPr>
            <p:cNvPr id="49219" name="Text Box 20"/>
            <p:cNvSpPr txBox="1">
              <a:spLocks noChangeArrowheads="1"/>
            </p:cNvSpPr>
            <p:nvPr/>
          </p:nvSpPr>
          <p:spPr bwMode="auto">
            <a:xfrm>
              <a:off x="3947160" y="2120583"/>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S</a:t>
              </a:r>
            </a:p>
          </p:txBody>
        </p:sp>
        <p:sp>
          <p:nvSpPr>
            <p:cNvPr id="49220" name="Freeform 49"/>
            <p:cNvSpPr>
              <a:spLocks/>
            </p:cNvSpPr>
            <p:nvPr/>
          </p:nvSpPr>
          <p:spPr bwMode="auto">
            <a:xfrm>
              <a:off x="1127760" y="2560320"/>
              <a:ext cx="3048000" cy="1371600"/>
            </a:xfrm>
            <a:custGeom>
              <a:avLst/>
              <a:gdLst>
                <a:gd name="T0" fmla="*/ 0 w 1968"/>
                <a:gd name="T1" fmla="*/ 528 h 528"/>
                <a:gd name="T2" fmla="*/ 960 w 1968"/>
                <a:gd name="T3" fmla="*/ 384 h 528"/>
                <a:gd name="T4" fmla="*/ 1968 w 1968"/>
                <a:gd name="T5" fmla="*/ 0 h 528"/>
                <a:gd name="T6" fmla="*/ 0 60000 65536"/>
                <a:gd name="T7" fmla="*/ 0 60000 65536"/>
                <a:gd name="T8" fmla="*/ 0 60000 65536"/>
                <a:gd name="T9" fmla="*/ 0 w 1968"/>
                <a:gd name="T10" fmla="*/ 0 h 528"/>
                <a:gd name="T11" fmla="*/ 1968 w 1968"/>
                <a:gd name="T12" fmla="*/ 528 h 528"/>
              </a:gdLst>
              <a:ahLst/>
              <a:cxnLst>
                <a:cxn ang="T6">
                  <a:pos x="T0" y="T1"/>
                </a:cxn>
                <a:cxn ang="T7">
                  <a:pos x="T2" y="T3"/>
                </a:cxn>
                <a:cxn ang="T8">
                  <a:pos x="T4" y="T5"/>
                </a:cxn>
              </a:cxnLst>
              <a:rect l="T9" t="T10" r="T11" b="T12"/>
              <a:pathLst>
                <a:path w="1968" h="528">
                  <a:moveTo>
                    <a:pt x="0" y="528"/>
                  </a:moveTo>
                  <a:cubicBezTo>
                    <a:pt x="316" y="500"/>
                    <a:pt x="632" y="472"/>
                    <a:pt x="960" y="384"/>
                  </a:cubicBezTo>
                  <a:cubicBezTo>
                    <a:pt x="1288" y="296"/>
                    <a:pt x="1800" y="64"/>
                    <a:pt x="1968" y="0"/>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grpSp>
      <p:grpSp>
        <p:nvGrpSpPr>
          <p:cNvPr id="52" name="Group 56"/>
          <p:cNvGrpSpPr>
            <a:grpSpLocks/>
          </p:cNvGrpSpPr>
          <p:nvPr/>
        </p:nvGrpSpPr>
        <p:grpSpPr bwMode="auto">
          <a:xfrm>
            <a:off x="549275" y="3286125"/>
            <a:ext cx="1644650" cy="304800"/>
            <a:chOff x="549275" y="3577908"/>
            <a:chExt cx="1645285" cy="304800"/>
          </a:xfrm>
        </p:grpSpPr>
        <p:sp>
          <p:nvSpPr>
            <p:cNvPr id="49217" name="Text Box 27"/>
            <p:cNvSpPr txBox="1">
              <a:spLocks noChangeArrowheads="1"/>
            </p:cNvSpPr>
            <p:nvPr/>
          </p:nvSpPr>
          <p:spPr bwMode="auto">
            <a:xfrm>
              <a:off x="549275" y="3577908"/>
              <a:ext cx="3032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a:t>P</a:t>
              </a:r>
            </a:p>
          </p:txBody>
        </p:sp>
        <p:sp>
          <p:nvSpPr>
            <p:cNvPr id="49218" name="Line 50"/>
            <p:cNvSpPr>
              <a:spLocks noChangeShapeType="1"/>
            </p:cNvSpPr>
            <p:nvPr/>
          </p:nvSpPr>
          <p:spPr bwMode="auto">
            <a:xfrm flipH="1">
              <a:off x="899160" y="3703320"/>
              <a:ext cx="12954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grpSp>
      <p:grpSp>
        <p:nvGrpSpPr>
          <p:cNvPr id="53" name="Group 60"/>
          <p:cNvGrpSpPr>
            <a:grpSpLocks/>
          </p:cNvGrpSpPr>
          <p:nvPr/>
        </p:nvGrpSpPr>
        <p:grpSpPr bwMode="auto">
          <a:xfrm>
            <a:off x="5775325" y="838200"/>
            <a:ext cx="1538288" cy="3487738"/>
            <a:chOff x="5775960" y="1129983"/>
            <a:chExt cx="1538288" cy="3487737"/>
          </a:xfrm>
        </p:grpSpPr>
        <p:sp>
          <p:nvSpPr>
            <p:cNvPr id="49215" name="Text Box 22"/>
            <p:cNvSpPr txBox="1">
              <a:spLocks noChangeArrowheads="1"/>
            </p:cNvSpPr>
            <p:nvPr/>
          </p:nvSpPr>
          <p:spPr bwMode="auto">
            <a:xfrm>
              <a:off x="6995160" y="1129983"/>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S</a:t>
              </a:r>
            </a:p>
          </p:txBody>
        </p:sp>
        <p:sp>
          <p:nvSpPr>
            <p:cNvPr id="49216" name="Freeform 52"/>
            <p:cNvSpPr>
              <a:spLocks/>
            </p:cNvSpPr>
            <p:nvPr/>
          </p:nvSpPr>
          <p:spPr bwMode="auto">
            <a:xfrm>
              <a:off x="5775960" y="1569720"/>
              <a:ext cx="1219200" cy="3048000"/>
            </a:xfrm>
            <a:custGeom>
              <a:avLst/>
              <a:gdLst>
                <a:gd name="T0" fmla="*/ 0 w 720"/>
                <a:gd name="T1" fmla="*/ 1680 h 1680"/>
                <a:gd name="T2" fmla="*/ 528 w 720"/>
                <a:gd name="T3" fmla="*/ 864 h 1680"/>
                <a:gd name="T4" fmla="*/ 720 w 720"/>
                <a:gd name="T5" fmla="*/ 0 h 1680"/>
                <a:gd name="T6" fmla="*/ 0 60000 65536"/>
                <a:gd name="T7" fmla="*/ 0 60000 65536"/>
                <a:gd name="T8" fmla="*/ 0 60000 65536"/>
                <a:gd name="T9" fmla="*/ 0 w 720"/>
                <a:gd name="T10" fmla="*/ 0 h 1680"/>
                <a:gd name="T11" fmla="*/ 720 w 720"/>
                <a:gd name="T12" fmla="*/ 1680 h 1680"/>
              </a:gdLst>
              <a:ahLst/>
              <a:cxnLst>
                <a:cxn ang="T6">
                  <a:pos x="T0" y="T1"/>
                </a:cxn>
                <a:cxn ang="T7">
                  <a:pos x="T2" y="T3"/>
                </a:cxn>
                <a:cxn ang="T8">
                  <a:pos x="T4" y="T5"/>
                </a:cxn>
              </a:cxnLst>
              <a:rect l="T9" t="T10" r="T11" b="T12"/>
              <a:pathLst>
                <a:path w="720" h="1680">
                  <a:moveTo>
                    <a:pt x="0" y="1680"/>
                  </a:moveTo>
                  <a:cubicBezTo>
                    <a:pt x="204" y="1412"/>
                    <a:pt x="408" y="1144"/>
                    <a:pt x="528" y="864"/>
                  </a:cubicBezTo>
                  <a:cubicBezTo>
                    <a:pt x="648" y="584"/>
                    <a:pt x="688" y="144"/>
                    <a:pt x="720" y="0"/>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grpSp>
      <p:grpSp>
        <p:nvGrpSpPr>
          <p:cNvPr id="54" name="Group 55"/>
          <p:cNvGrpSpPr>
            <a:grpSpLocks/>
          </p:cNvGrpSpPr>
          <p:nvPr/>
        </p:nvGrpSpPr>
        <p:grpSpPr bwMode="auto">
          <a:xfrm>
            <a:off x="533400" y="2981325"/>
            <a:ext cx="2270125" cy="304800"/>
            <a:chOff x="533400" y="3273108"/>
            <a:chExt cx="2270760" cy="304800"/>
          </a:xfrm>
        </p:grpSpPr>
        <p:sp>
          <p:nvSpPr>
            <p:cNvPr id="49213" name="Text Box 33"/>
            <p:cNvSpPr txBox="1">
              <a:spLocks noChangeArrowheads="1"/>
            </p:cNvSpPr>
            <p:nvPr/>
          </p:nvSpPr>
          <p:spPr bwMode="auto">
            <a:xfrm>
              <a:off x="533400" y="3273108"/>
              <a:ext cx="352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a:t>
              </a:r>
            </a:p>
          </p:txBody>
        </p:sp>
        <p:sp>
          <p:nvSpPr>
            <p:cNvPr id="49214" name="Line 54"/>
            <p:cNvSpPr>
              <a:spLocks noChangeShapeType="1"/>
            </p:cNvSpPr>
            <p:nvPr/>
          </p:nvSpPr>
          <p:spPr bwMode="auto">
            <a:xfrm flipH="1">
              <a:off x="899160" y="3474720"/>
              <a:ext cx="19050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5" name="Group 63"/>
          <p:cNvGrpSpPr>
            <a:grpSpLocks/>
          </p:cNvGrpSpPr>
          <p:nvPr/>
        </p:nvGrpSpPr>
        <p:grpSpPr bwMode="auto">
          <a:xfrm>
            <a:off x="4711700" y="3259138"/>
            <a:ext cx="1673225" cy="304800"/>
            <a:chOff x="4712208" y="3550920"/>
            <a:chExt cx="1673352" cy="304800"/>
          </a:xfrm>
        </p:grpSpPr>
        <p:sp>
          <p:nvSpPr>
            <p:cNvPr id="49211" name="Text Box 28"/>
            <p:cNvSpPr txBox="1">
              <a:spLocks noChangeArrowheads="1"/>
            </p:cNvSpPr>
            <p:nvPr/>
          </p:nvSpPr>
          <p:spPr bwMode="auto">
            <a:xfrm>
              <a:off x="4712208" y="3550920"/>
              <a:ext cx="3032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a:t>
              </a:r>
            </a:p>
          </p:txBody>
        </p:sp>
        <p:sp>
          <p:nvSpPr>
            <p:cNvPr id="49212" name="Line 56"/>
            <p:cNvSpPr>
              <a:spLocks noChangeShapeType="1"/>
            </p:cNvSpPr>
            <p:nvPr/>
          </p:nvSpPr>
          <p:spPr bwMode="auto">
            <a:xfrm flipH="1">
              <a:off x="5090160" y="3703320"/>
              <a:ext cx="12954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6" name="Group 59"/>
          <p:cNvGrpSpPr>
            <a:grpSpLocks/>
          </p:cNvGrpSpPr>
          <p:nvPr/>
        </p:nvGrpSpPr>
        <p:grpSpPr bwMode="auto">
          <a:xfrm>
            <a:off x="4711700" y="2676525"/>
            <a:ext cx="1978025" cy="304800"/>
            <a:chOff x="4712208" y="2968308"/>
            <a:chExt cx="1978152" cy="304800"/>
          </a:xfrm>
        </p:grpSpPr>
        <p:sp>
          <p:nvSpPr>
            <p:cNvPr id="49209" name="Text Box 38"/>
            <p:cNvSpPr txBox="1">
              <a:spLocks noChangeArrowheads="1"/>
            </p:cNvSpPr>
            <p:nvPr/>
          </p:nvSpPr>
          <p:spPr bwMode="auto">
            <a:xfrm>
              <a:off x="4712208" y="2968308"/>
              <a:ext cx="352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a:t>
              </a:r>
            </a:p>
          </p:txBody>
        </p:sp>
        <p:sp>
          <p:nvSpPr>
            <p:cNvPr id="49210" name="Line 58"/>
            <p:cNvSpPr>
              <a:spLocks noChangeShapeType="1"/>
            </p:cNvSpPr>
            <p:nvPr/>
          </p:nvSpPr>
          <p:spPr bwMode="auto">
            <a:xfrm flipH="1">
              <a:off x="5090160" y="3093720"/>
              <a:ext cx="16002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7" name="Group 53"/>
          <p:cNvGrpSpPr>
            <a:grpSpLocks/>
          </p:cNvGrpSpPr>
          <p:nvPr/>
        </p:nvGrpSpPr>
        <p:grpSpPr bwMode="auto">
          <a:xfrm>
            <a:off x="1736725" y="1201738"/>
            <a:ext cx="2216150" cy="2743200"/>
            <a:chOff x="1737360" y="1493520"/>
            <a:chExt cx="2216150" cy="2743200"/>
          </a:xfrm>
        </p:grpSpPr>
        <p:sp>
          <p:nvSpPr>
            <p:cNvPr id="49207" name="Freeform 46"/>
            <p:cNvSpPr>
              <a:spLocks/>
            </p:cNvSpPr>
            <p:nvPr/>
          </p:nvSpPr>
          <p:spPr bwMode="auto">
            <a:xfrm>
              <a:off x="1737360" y="1493520"/>
              <a:ext cx="1828800" cy="2667000"/>
            </a:xfrm>
            <a:custGeom>
              <a:avLst/>
              <a:gdLst>
                <a:gd name="T0" fmla="*/ 0 w 1104"/>
                <a:gd name="T1" fmla="*/ 0 h 1776"/>
                <a:gd name="T2" fmla="*/ 528 w 1104"/>
                <a:gd name="T3" fmla="*/ 1152 h 1776"/>
                <a:gd name="T4" fmla="*/ 1104 w 1104"/>
                <a:gd name="T5" fmla="*/ 1776 h 1776"/>
                <a:gd name="T6" fmla="*/ 0 60000 65536"/>
                <a:gd name="T7" fmla="*/ 0 60000 65536"/>
                <a:gd name="T8" fmla="*/ 0 60000 65536"/>
                <a:gd name="T9" fmla="*/ 0 w 1104"/>
                <a:gd name="T10" fmla="*/ 0 h 1776"/>
                <a:gd name="T11" fmla="*/ 1104 w 1104"/>
                <a:gd name="T12" fmla="*/ 1776 h 1776"/>
              </a:gdLst>
              <a:ahLst/>
              <a:cxnLst>
                <a:cxn ang="T6">
                  <a:pos x="T0" y="T1"/>
                </a:cxn>
                <a:cxn ang="T7">
                  <a:pos x="T2" y="T3"/>
                </a:cxn>
                <a:cxn ang="T8">
                  <a:pos x="T4" y="T5"/>
                </a:cxn>
              </a:cxnLst>
              <a:rect l="T9" t="T10" r="T11" b="T12"/>
              <a:pathLst>
                <a:path w="1104" h="1776">
                  <a:moveTo>
                    <a:pt x="0" y="0"/>
                  </a:moveTo>
                  <a:cubicBezTo>
                    <a:pt x="172" y="428"/>
                    <a:pt x="344" y="856"/>
                    <a:pt x="528" y="1152"/>
                  </a:cubicBezTo>
                  <a:cubicBezTo>
                    <a:pt x="712" y="1448"/>
                    <a:pt x="1008" y="1672"/>
                    <a:pt x="1104" y="1776"/>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49208" name="Text Box 60"/>
            <p:cNvSpPr txBox="1">
              <a:spLocks noChangeArrowheads="1"/>
            </p:cNvSpPr>
            <p:nvPr/>
          </p:nvSpPr>
          <p:spPr bwMode="auto">
            <a:xfrm>
              <a:off x="3566160" y="3900170"/>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D’</a:t>
              </a:r>
            </a:p>
          </p:txBody>
        </p:sp>
      </p:grpSp>
      <p:grpSp>
        <p:nvGrpSpPr>
          <p:cNvPr id="58" name="Group 61"/>
          <p:cNvGrpSpPr>
            <a:grpSpLocks/>
          </p:cNvGrpSpPr>
          <p:nvPr/>
        </p:nvGrpSpPr>
        <p:grpSpPr bwMode="auto">
          <a:xfrm>
            <a:off x="5927725" y="1125538"/>
            <a:ext cx="2139950" cy="2976562"/>
            <a:chOff x="5928360" y="1417320"/>
            <a:chExt cx="2139950" cy="2976563"/>
          </a:xfrm>
        </p:grpSpPr>
        <p:sp>
          <p:nvSpPr>
            <p:cNvPr id="49205" name="Freeform 48"/>
            <p:cNvSpPr>
              <a:spLocks/>
            </p:cNvSpPr>
            <p:nvPr/>
          </p:nvSpPr>
          <p:spPr bwMode="auto">
            <a:xfrm>
              <a:off x="5928360" y="1417320"/>
              <a:ext cx="1752600" cy="2819400"/>
            </a:xfrm>
            <a:custGeom>
              <a:avLst/>
              <a:gdLst>
                <a:gd name="T0" fmla="*/ 0 w 1104"/>
                <a:gd name="T1" fmla="*/ 0 h 1776"/>
                <a:gd name="T2" fmla="*/ 528 w 1104"/>
                <a:gd name="T3" fmla="*/ 1152 h 1776"/>
                <a:gd name="T4" fmla="*/ 1104 w 1104"/>
                <a:gd name="T5" fmla="*/ 1776 h 1776"/>
                <a:gd name="T6" fmla="*/ 0 60000 65536"/>
                <a:gd name="T7" fmla="*/ 0 60000 65536"/>
                <a:gd name="T8" fmla="*/ 0 60000 65536"/>
                <a:gd name="T9" fmla="*/ 0 w 1104"/>
                <a:gd name="T10" fmla="*/ 0 h 1776"/>
                <a:gd name="T11" fmla="*/ 1104 w 1104"/>
                <a:gd name="T12" fmla="*/ 1776 h 1776"/>
              </a:gdLst>
              <a:ahLst/>
              <a:cxnLst>
                <a:cxn ang="T6">
                  <a:pos x="T0" y="T1"/>
                </a:cxn>
                <a:cxn ang="T7">
                  <a:pos x="T2" y="T3"/>
                </a:cxn>
                <a:cxn ang="T8">
                  <a:pos x="T4" y="T5"/>
                </a:cxn>
              </a:cxnLst>
              <a:rect l="T9" t="T10" r="T11" b="T12"/>
              <a:pathLst>
                <a:path w="1104" h="1776">
                  <a:moveTo>
                    <a:pt x="0" y="0"/>
                  </a:moveTo>
                  <a:cubicBezTo>
                    <a:pt x="172" y="428"/>
                    <a:pt x="344" y="856"/>
                    <a:pt x="528" y="1152"/>
                  </a:cubicBezTo>
                  <a:cubicBezTo>
                    <a:pt x="712" y="1448"/>
                    <a:pt x="1008" y="1672"/>
                    <a:pt x="1104" y="1776"/>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206" name="Text Box 61"/>
            <p:cNvSpPr txBox="1">
              <a:spLocks noChangeArrowheads="1"/>
            </p:cNvSpPr>
            <p:nvPr/>
          </p:nvSpPr>
          <p:spPr bwMode="auto">
            <a:xfrm>
              <a:off x="7680960" y="4057333"/>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D’</a:t>
              </a:r>
            </a:p>
          </p:txBody>
        </p:sp>
      </p:grpSp>
      <p:grpSp>
        <p:nvGrpSpPr>
          <p:cNvPr id="59" name="Group 71"/>
          <p:cNvGrpSpPr>
            <a:grpSpLocks/>
          </p:cNvGrpSpPr>
          <p:nvPr/>
        </p:nvGrpSpPr>
        <p:grpSpPr bwMode="auto">
          <a:xfrm>
            <a:off x="4403725" y="1093787"/>
            <a:ext cx="4324350" cy="4162426"/>
            <a:chOff x="4404360" y="1385569"/>
            <a:chExt cx="4324350" cy="4162426"/>
          </a:xfrm>
        </p:grpSpPr>
        <p:grpSp>
          <p:nvGrpSpPr>
            <p:cNvPr id="49198" name="Group 50"/>
            <p:cNvGrpSpPr>
              <a:grpSpLocks/>
            </p:cNvGrpSpPr>
            <p:nvPr/>
          </p:nvGrpSpPr>
          <p:grpSpPr bwMode="auto">
            <a:xfrm>
              <a:off x="4404360" y="1385569"/>
              <a:ext cx="704850" cy="3384551"/>
              <a:chOff x="4404360" y="1385569"/>
              <a:chExt cx="704850" cy="3384551"/>
            </a:xfrm>
          </p:grpSpPr>
          <p:sp>
            <p:nvSpPr>
              <p:cNvPr id="49203" name="Line 6"/>
              <p:cNvSpPr>
                <a:spLocks noChangeShapeType="1"/>
              </p:cNvSpPr>
              <p:nvPr/>
            </p:nvSpPr>
            <p:spPr bwMode="auto">
              <a:xfrm>
                <a:off x="5090160" y="1569720"/>
                <a:ext cx="0" cy="3200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04" name="Text Box 9"/>
              <p:cNvSpPr txBox="1">
                <a:spLocks noChangeArrowheads="1"/>
              </p:cNvSpPr>
              <p:nvPr/>
            </p:nvSpPr>
            <p:spPr bwMode="auto">
              <a:xfrm>
                <a:off x="4404360" y="1385569"/>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Price</a:t>
                </a:r>
              </a:p>
            </p:txBody>
          </p:sp>
        </p:grpSp>
        <p:sp>
          <p:nvSpPr>
            <p:cNvPr id="49199" name="Text Box 42"/>
            <p:cNvSpPr txBox="1">
              <a:spLocks noChangeArrowheads="1"/>
            </p:cNvSpPr>
            <p:nvPr/>
          </p:nvSpPr>
          <p:spPr bwMode="auto">
            <a:xfrm>
              <a:off x="5126736" y="5151120"/>
              <a:ext cx="2116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002D56"/>
                  </a:solidFill>
                </a:rPr>
                <a:t>(b) Inelastic Supply</a:t>
              </a:r>
            </a:p>
          </p:txBody>
        </p:sp>
        <p:grpSp>
          <p:nvGrpSpPr>
            <p:cNvPr id="49200" name="Group 51"/>
            <p:cNvGrpSpPr>
              <a:grpSpLocks/>
            </p:cNvGrpSpPr>
            <p:nvPr/>
          </p:nvGrpSpPr>
          <p:grpSpPr bwMode="auto">
            <a:xfrm>
              <a:off x="5090160" y="4770120"/>
              <a:ext cx="3638550" cy="641350"/>
              <a:chOff x="5090160" y="4770120"/>
              <a:chExt cx="3638550" cy="641350"/>
            </a:xfrm>
          </p:grpSpPr>
          <p:sp>
            <p:nvSpPr>
              <p:cNvPr id="49201" name="Line 5"/>
              <p:cNvSpPr>
                <a:spLocks noChangeShapeType="1"/>
              </p:cNvSpPr>
              <p:nvPr/>
            </p:nvSpPr>
            <p:spPr bwMode="auto">
              <a:xfrm>
                <a:off x="5090160" y="4770120"/>
                <a:ext cx="3276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202" name="Text Box 62"/>
              <p:cNvSpPr txBox="1">
                <a:spLocks noChangeArrowheads="1"/>
              </p:cNvSpPr>
              <p:nvPr/>
            </p:nvSpPr>
            <p:spPr bwMode="auto">
              <a:xfrm>
                <a:off x="7909560" y="4770120"/>
                <a:ext cx="819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 per</a:t>
                </a:r>
              </a:p>
              <a:p>
                <a:pPr eaLnBrk="1" hangingPunct="1"/>
                <a:r>
                  <a:rPr lang="en-US" altLang="en-US" sz="1800"/>
                  <a:t>period</a:t>
                </a:r>
              </a:p>
            </p:txBody>
          </p:sp>
        </p:grpSp>
      </p:grpSp>
      <p:grpSp>
        <p:nvGrpSpPr>
          <p:cNvPr id="62" name="Group 70"/>
          <p:cNvGrpSpPr>
            <a:grpSpLocks/>
          </p:cNvGrpSpPr>
          <p:nvPr/>
        </p:nvGrpSpPr>
        <p:grpSpPr bwMode="auto">
          <a:xfrm>
            <a:off x="212725" y="1093787"/>
            <a:ext cx="4324350" cy="4162426"/>
            <a:chOff x="213360" y="1385569"/>
            <a:chExt cx="4324350" cy="4162426"/>
          </a:xfrm>
        </p:grpSpPr>
        <p:grpSp>
          <p:nvGrpSpPr>
            <p:cNvPr id="49191" name="Group 44"/>
            <p:cNvGrpSpPr>
              <a:grpSpLocks/>
            </p:cNvGrpSpPr>
            <p:nvPr/>
          </p:nvGrpSpPr>
          <p:grpSpPr bwMode="auto">
            <a:xfrm>
              <a:off x="213360" y="1385569"/>
              <a:ext cx="704850" cy="3384551"/>
              <a:chOff x="213360" y="1385569"/>
              <a:chExt cx="704850" cy="3384551"/>
            </a:xfrm>
          </p:grpSpPr>
          <p:sp>
            <p:nvSpPr>
              <p:cNvPr id="49196" name="Line 3"/>
              <p:cNvSpPr>
                <a:spLocks noChangeShapeType="1"/>
              </p:cNvSpPr>
              <p:nvPr/>
            </p:nvSpPr>
            <p:spPr bwMode="auto">
              <a:xfrm>
                <a:off x="899160" y="1569720"/>
                <a:ext cx="0" cy="3200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97" name="Text Box 10"/>
              <p:cNvSpPr txBox="1">
                <a:spLocks noChangeArrowheads="1"/>
              </p:cNvSpPr>
              <p:nvPr/>
            </p:nvSpPr>
            <p:spPr bwMode="auto">
              <a:xfrm>
                <a:off x="213360" y="1385569"/>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Price</a:t>
                </a:r>
              </a:p>
            </p:txBody>
          </p:sp>
        </p:grpSp>
        <p:sp>
          <p:nvSpPr>
            <p:cNvPr id="49192" name="Text Box 41"/>
            <p:cNvSpPr txBox="1">
              <a:spLocks noChangeArrowheads="1"/>
            </p:cNvSpPr>
            <p:nvPr/>
          </p:nvSpPr>
          <p:spPr bwMode="auto">
            <a:xfrm>
              <a:off x="859536" y="5151120"/>
              <a:ext cx="1919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002D56"/>
                  </a:solidFill>
                </a:rPr>
                <a:t>(a) Elastic Supply</a:t>
              </a:r>
            </a:p>
          </p:txBody>
        </p:sp>
        <p:grpSp>
          <p:nvGrpSpPr>
            <p:cNvPr id="49193" name="Group 49"/>
            <p:cNvGrpSpPr>
              <a:grpSpLocks/>
            </p:cNvGrpSpPr>
            <p:nvPr/>
          </p:nvGrpSpPr>
          <p:grpSpPr bwMode="auto">
            <a:xfrm>
              <a:off x="899160" y="4770120"/>
              <a:ext cx="3638550" cy="641350"/>
              <a:chOff x="899160" y="4770120"/>
              <a:chExt cx="3638550" cy="641350"/>
            </a:xfrm>
          </p:grpSpPr>
          <p:sp>
            <p:nvSpPr>
              <p:cNvPr id="49194" name="Line 4"/>
              <p:cNvSpPr>
                <a:spLocks noChangeShapeType="1"/>
              </p:cNvSpPr>
              <p:nvPr/>
            </p:nvSpPr>
            <p:spPr bwMode="auto">
              <a:xfrm>
                <a:off x="899160" y="4770120"/>
                <a:ext cx="3276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95" name="Text Box 63"/>
              <p:cNvSpPr txBox="1">
                <a:spLocks noChangeArrowheads="1"/>
              </p:cNvSpPr>
              <p:nvPr/>
            </p:nvSpPr>
            <p:spPr bwMode="auto">
              <a:xfrm>
                <a:off x="3718560" y="4770120"/>
                <a:ext cx="819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 per</a:t>
                </a:r>
              </a:p>
              <a:p>
                <a:pPr eaLnBrk="1" hangingPunct="1"/>
                <a:r>
                  <a:rPr lang="en-US" altLang="en-US" sz="1800"/>
                  <a:t>period</a:t>
                </a:r>
              </a:p>
            </p:txBody>
          </p:sp>
        </p:grpSp>
      </p:grpSp>
      <p:grpSp>
        <p:nvGrpSpPr>
          <p:cNvPr id="65" name="Group 69"/>
          <p:cNvGrpSpPr>
            <a:grpSpLocks/>
          </p:cNvGrpSpPr>
          <p:nvPr/>
        </p:nvGrpSpPr>
        <p:grpSpPr bwMode="auto">
          <a:xfrm>
            <a:off x="6165850" y="3365500"/>
            <a:ext cx="457200" cy="1428750"/>
            <a:chOff x="6166551" y="3657425"/>
            <a:chExt cx="457200" cy="1429687"/>
          </a:xfrm>
        </p:grpSpPr>
        <p:grpSp>
          <p:nvGrpSpPr>
            <p:cNvPr id="49187" name="Group 64"/>
            <p:cNvGrpSpPr>
              <a:grpSpLocks/>
            </p:cNvGrpSpPr>
            <p:nvPr/>
          </p:nvGrpSpPr>
          <p:grpSpPr bwMode="auto">
            <a:xfrm>
              <a:off x="6166551" y="3703320"/>
              <a:ext cx="457200" cy="1383792"/>
              <a:chOff x="6156960" y="3703320"/>
              <a:chExt cx="457200" cy="1383792"/>
            </a:xfrm>
          </p:grpSpPr>
          <p:sp>
            <p:nvSpPr>
              <p:cNvPr id="49189" name="Text Box 39"/>
              <p:cNvSpPr txBox="1">
                <a:spLocks noChangeArrowheads="1"/>
              </p:cNvSpPr>
              <p:nvPr/>
            </p:nvSpPr>
            <p:spPr bwMode="auto">
              <a:xfrm>
                <a:off x="6156960" y="4782312"/>
                <a:ext cx="457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p>
            </p:txBody>
          </p:sp>
          <p:sp>
            <p:nvSpPr>
              <p:cNvPr id="49190" name="Line 57"/>
              <p:cNvSpPr>
                <a:spLocks noChangeShapeType="1"/>
              </p:cNvSpPr>
              <p:nvPr/>
            </p:nvSpPr>
            <p:spPr bwMode="auto">
              <a:xfrm>
                <a:off x="6385560" y="3703320"/>
                <a:ext cx="0" cy="1066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grpSp>
        <p:sp>
          <p:nvSpPr>
            <p:cNvPr id="49188" name="Oval 9"/>
            <p:cNvSpPr>
              <a:spLocks noChangeArrowheads="1"/>
            </p:cNvSpPr>
            <p:nvPr/>
          </p:nvSpPr>
          <p:spPr bwMode="auto">
            <a:xfrm>
              <a:off x="6353277" y="3657425"/>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67" name="Group 68"/>
          <p:cNvGrpSpPr>
            <a:grpSpLocks/>
          </p:cNvGrpSpPr>
          <p:nvPr/>
        </p:nvGrpSpPr>
        <p:grpSpPr bwMode="auto">
          <a:xfrm>
            <a:off x="6461125" y="2767013"/>
            <a:ext cx="457200" cy="2027237"/>
            <a:chOff x="6461760" y="3058483"/>
            <a:chExt cx="457200" cy="2028629"/>
          </a:xfrm>
        </p:grpSpPr>
        <p:grpSp>
          <p:nvGrpSpPr>
            <p:cNvPr id="49183" name="Group 65"/>
            <p:cNvGrpSpPr>
              <a:grpSpLocks/>
            </p:cNvGrpSpPr>
            <p:nvPr/>
          </p:nvGrpSpPr>
          <p:grpSpPr bwMode="auto">
            <a:xfrm>
              <a:off x="6461760" y="3093720"/>
              <a:ext cx="457200" cy="1993392"/>
              <a:chOff x="6461760" y="3093720"/>
              <a:chExt cx="457200" cy="1993392"/>
            </a:xfrm>
          </p:grpSpPr>
          <p:sp>
            <p:nvSpPr>
              <p:cNvPr id="49185" name="Text Box 40"/>
              <p:cNvSpPr txBox="1">
                <a:spLocks noChangeArrowheads="1"/>
              </p:cNvSpPr>
              <p:nvPr/>
            </p:nvSpPr>
            <p:spPr bwMode="auto">
              <a:xfrm>
                <a:off x="6461760" y="4782312"/>
                <a:ext cx="457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a:t>Q’</a:t>
                </a:r>
              </a:p>
            </p:txBody>
          </p:sp>
          <p:sp>
            <p:nvSpPr>
              <p:cNvPr id="49186" name="Line 59"/>
              <p:cNvSpPr>
                <a:spLocks noChangeShapeType="1"/>
              </p:cNvSpPr>
              <p:nvPr/>
            </p:nvSpPr>
            <p:spPr bwMode="auto">
              <a:xfrm>
                <a:off x="6690360" y="3093720"/>
                <a:ext cx="0" cy="16764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grpSp>
        <p:sp>
          <p:nvSpPr>
            <p:cNvPr id="49184" name="Oval 9"/>
            <p:cNvSpPr>
              <a:spLocks noChangeArrowheads="1"/>
            </p:cNvSpPr>
            <p:nvPr/>
          </p:nvSpPr>
          <p:spPr bwMode="auto">
            <a:xfrm>
              <a:off x="6643157" y="3058483"/>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69" name="Group 67"/>
          <p:cNvGrpSpPr>
            <a:grpSpLocks/>
          </p:cNvGrpSpPr>
          <p:nvPr/>
        </p:nvGrpSpPr>
        <p:grpSpPr bwMode="auto">
          <a:xfrm>
            <a:off x="1987550" y="3367088"/>
            <a:ext cx="322263" cy="1443037"/>
            <a:chOff x="1986895" y="3659354"/>
            <a:chExt cx="322263" cy="1442554"/>
          </a:xfrm>
        </p:grpSpPr>
        <p:grpSp>
          <p:nvGrpSpPr>
            <p:cNvPr id="49179" name="Group 57"/>
            <p:cNvGrpSpPr>
              <a:grpSpLocks/>
            </p:cNvGrpSpPr>
            <p:nvPr/>
          </p:nvGrpSpPr>
          <p:grpSpPr bwMode="auto">
            <a:xfrm>
              <a:off x="1986895" y="3703320"/>
              <a:ext cx="322263" cy="1398588"/>
              <a:chOff x="1970910" y="3703320"/>
              <a:chExt cx="322263" cy="1398588"/>
            </a:xfrm>
          </p:grpSpPr>
          <p:sp>
            <p:nvSpPr>
              <p:cNvPr id="49181" name="Text Box 29"/>
              <p:cNvSpPr txBox="1">
                <a:spLocks noChangeArrowheads="1"/>
              </p:cNvSpPr>
              <p:nvPr/>
            </p:nvSpPr>
            <p:spPr bwMode="auto">
              <a:xfrm>
                <a:off x="1970910" y="4797108"/>
                <a:ext cx="3222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p>
            </p:txBody>
          </p:sp>
          <p:sp>
            <p:nvSpPr>
              <p:cNvPr id="49182" name="Line 53"/>
              <p:cNvSpPr>
                <a:spLocks noChangeShapeType="1"/>
              </p:cNvSpPr>
              <p:nvPr/>
            </p:nvSpPr>
            <p:spPr bwMode="auto">
              <a:xfrm>
                <a:off x="2194560" y="3703320"/>
                <a:ext cx="0" cy="1066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9180" name="Oval 9"/>
            <p:cNvSpPr>
              <a:spLocks noChangeArrowheads="1"/>
            </p:cNvSpPr>
            <p:nvPr/>
          </p:nvSpPr>
          <p:spPr bwMode="auto">
            <a:xfrm>
              <a:off x="2173457" y="3659354"/>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71" name="Group 66"/>
          <p:cNvGrpSpPr>
            <a:grpSpLocks/>
          </p:cNvGrpSpPr>
          <p:nvPr/>
        </p:nvGrpSpPr>
        <p:grpSpPr bwMode="auto">
          <a:xfrm>
            <a:off x="2574925" y="3135313"/>
            <a:ext cx="371475" cy="1674812"/>
            <a:chOff x="2575560" y="3428090"/>
            <a:chExt cx="371475" cy="1673818"/>
          </a:xfrm>
        </p:grpSpPr>
        <p:grpSp>
          <p:nvGrpSpPr>
            <p:cNvPr id="49175" name="Group 58"/>
            <p:cNvGrpSpPr>
              <a:grpSpLocks/>
            </p:cNvGrpSpPr>
            <p:nvPr/>
          </p:nvGrpSpPr>
          <p:grpSpPr bwMode="auto">
            <a:xfrm>
              <a:off x="2575560" y="3474720"/>
              <a:ext cx="371475" cy="1627188"/>
              <a:chOff x="2575560" y="3474720"/>
              <a:chExt cx="371475" cy="1627188"/>
            </a:xfrm>
          </p:grpSpPr>
          <p:sp>
            <p:nvSpPr>
              <p:cNvPr id="49177" name="Text Box 34"/>
              <p:cNvSpPr txBox="1">
                <a:spLocks noChangeArrowheads="1"/>
              </p:cNvSpPr>
              <p:nvPr/>
            </p:nvSpPr>
            <p:spPr bwMode="auto">
              <a:xfrm>
                <a:off x="2575560" y="4797108"/>
                <a:ext cx="371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p>
            </p:txBody>
          </p:sp>
          <p:sp>
            <p:nvSpPr>
              <p:cNvPr id="49178" name="Line 55"/>
              <p:cNvSpPr>
                <a:spLocks noChangeShapeType="1"/>
              </p:cNvSpPr>
              <p:nvPr/>
            </p:nvSpPr>
            <p:spPr bwMode="auto">
              <a:xfrm>
                <a:off x="2804160" y="3474720"/>
                <a:ext cx="0" cy="12954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9176" name="Oval 9"/>
            <p:cNvSpPr>
              <a:spLocks noChangeArrowheads="1"/>
            </p:cNvSpPr>
            <p:nvPr/>
          </p:nvSpPr>
          <p:spPr bwMode="auto">
            <a:xfrm>
              <a:off x="2763874" y="3428090"/>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spTree>
    <p:extLst>
      <p:ext uri="{BB962C8B-B14F-4D97-AF65-F5344CB8AC3E}">
        <p14:creationId xmlns:p14="http://schemas.microsoft.com/office/powerpoint/2010/main" val="5225050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left)">
                                      <p:cBhvr>
                                        <p:cTn id="7" dur="500"/>
                                        <p:tgtEl>
                                          <p:spTgt spid="6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wipe(left)">
                                      <p:cBhvr>
                                        <p:cTn id="11" dur="500"/>
                                        <p:tgtEl>
                                          <p:spTgt spid="45"/>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wipe(left)">
                                      <p:cBhvr>
                                        <p:cTn id="15" dur="500"/>
                                        <p:tgtEl>
                                          <p:spTgt spid="51"/>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wipe(left)">
                                      <p:cBhvr>
                                        <p:cTn id="19" dur="500"/>
                                        <p:tgtEl>
                                          <p:spTgt spid="52"/>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69"/>
                                        </p:tgtEl>
                                        <p:attrNameLst>
                                          <p:attrName>style.visibility</p:attrName>
                                        </p:attrNameLst>
                                      </p:cBhvr>
                                      <p:to>
                                        <p:strVal val="visible"/>
                                      </p:to>
                                    </p:set>
                                    <p:animEffect transition="in" filter="wipe(up)">
                                      <p:cBhvr>
                                        <p:cTn id="23" dur="500"/>
                                        <p:tgtEl>
                                          <p:spTgt spid="6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57"/>
                                        </p:tgtEl>
                                        <p:attrNameLst>
                                          <p:attrName>style.visibility</p:attrName>
                                        </p:attrNameLst>
                                      </p:cBhvr>
                                      <p:to>
                                        <p:strVal val="visible"/>
                                      </p:to>
                                    </p:set>
                                    <p:animEffect transition="in" filter="wipe(left)">
                                      <p:cBhvr>
                                        <p:cTn id="28" dur="500"/>
                                        <p:tgtEl>
                                          <p:spTgt spid="57"/>
                                        </p:tgtEl>
                                      </p:cBhvr>
                                    </p:animEffect>
                                  </p:childTnLst>
                                </p:cTn>
                              </p:par>
                            </p:childTnLst>
                          </p:cTn>
                        </p:par>
                        <p:par>
                          <p:cTn id="29" fill="hold" nodeType="afterGroup">
                            <p:stCondLst>
                              <p:cond delay="500"/>
                            </p:stCondLst>
                            <p:childTnLst>
                              <p:par>
                                <p:cTn id="30" presetID="22" presetClass="entr" presetSubtype="8" fill="hold" nodeType="afterEffect">
                                  <p:stCondLst>
                                    <p:cond delay="0"/>
                                  </p:stCondLst>
                                  <p:childTnLst>
                                    <p:set>
                                      <p:cBhvr>
                                        <p:cTn id="31" dur="1" fill="hold">
                                          <p:stCondLst>
                                            <p:cond delay="0"/>
                                          </p:stCondLst>
                                        </p:cTn>
                                        <p:tgtEl>
                                          <p:spTgt spid="54"/>
                                        </p:tgtEl>
                                        <p:attrNameLst>
                                          <p:attrName>style.visibility</p:attrName>
                                        </p:attrNameLst>
                                      </p:cBhvr>
                                      <p:to>
                                        <p:strVal val="visible"/>
                                      </p:to>
                                    </p:set>
                                    <p:animEffect transition="in" filter="wipe(left)">
                                      <p:cBhvr>
                                        <p:cTn id="32" dur="500"/>
                                        <p:tgtEl>
                                          <p:spTgt spid="54"/>
                                        </p:tgtEl>
                                      </p:cBhvr>
                                    </p:animEffect>
                                  </p:childTnLst>
                                </p:cTn>
                              </p:par>
                            </p:childTnLst>
                          </p:cTn>
                        </p:par>
                        <p:par>
                          <p:cTn id="33" fill="hold" nodeType="afterGroup">
                            <p:stCondLst>
                              <p:cond delay="1000"/>
                            </p:stCondLst>
                            <p:childTnLst>
                              <p:par>
                                <p:cTn id="34" presetID="22" presetClass="entr" presetSubtype="1" fill="hold" nodeType="afterEffect">
                                  <p:stCondLst>
                                    <p:cond delay="0"/>
                                  </p:stCondLst>
                                  <p:childTnLst>
                                    <p:set>
                                      <p:cBhvr>
                                        <p:cTn id="35" dur="1" fill="hold">
                                          <p:stCondLst>
                                            <p:cond delay="0"/>
                                          </p:stCondLst>
                                        </p:cTn>
                                        <p:tgtEl>
                                          <p:spTgt spid="71"/>
                                        </p:tgtEl>
                                        <p:attrNameLst>
                                          <p:attrName>style.visibility</p:attrName>
                                        </p:attrNameLst>
                                      </p:cBhvr>
                                      <p:to>
                                        <p:strVal val="visible"/>
                                      </p:to>
                                    </p:set>
                                    <p:animEffect transition="in" filter="wipe(up)">
                                      <p:cBhvr>
                                        <p:cTn id="36" dur="500"/>
                                        <p:tgtEl>
                                          <p:spTgt spid="71"/>
                                        </p:tgtEl>
                                      </p:cBhvr>
                                    </p:animEffect>
                                  </p:childTnLst>
                                </p:cTn>
                              </p:par>
                            </p:childTnLst>
                          </p:cTn>
                        </p:par>
                        <p:par>
                          <p:cTn id="37" fill="hold" nodeType="withGroup">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49155">
                                            <p:txEl>
                                              <p:pRg st="0" end="0"/>
                                            </p:txEl>
                                          </p:spTgt>
                                        </p:tgtEl>
                                        <p:attrNameLst>
                                          <p:attrName>style.visibility</p:attrName>
                                        </p:attrNameLst>
                                      </p:cBhvr>
                                      <p:to>
                                        <p:strVal val="visible"/>
                                      </p:to>
                                    </p:set>
                                    <p:animEffect transition="in" filter="wipe(left)">
                                      <p:cBhvr>
                                        <p:cTn id="40" dur="500"/>
                                        <p:tgtEl>
                                          <p:spTgt spid="49155">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59"/>
                                        </p:tgtEl>
                                        <p:attrNameLst>
                                          <p:attrName>style.visibility</p:attrName>
                                        </p:attrNameLst>
                                      </p:cBhvr>
                                      <p:to>
                                        <p:strVal val="visible"/>
                                      </p:to>
                                    </p:set>
                                    <p:animEffect transition="in" filter="wipe(left)">
                                      <p:cBhvr>
                                        <p:cTn id="45" dur="500"/>
                                        <p:tgtEl>
                                          <p:spTgt spid="59"/>
                                        </p:tgtEl>
                                      </p:cBhvr>
                                    </p:animEffect>
                                  </p:childTnLst>
                                </p:cTn>
                              </p:par>
                            </p:childTnLst>
                          </p:cTn>
                        </p:par>
                        <p:par>
                          <p:cTn id="46" fill="hold" nodeType="afterGroup">
                            <p:stCondLst>
                              <p:cond delay="500"/>
                            </p:stCondLst>
                            <p:childTnLst>
                              <p:par>
                                <p:cTn id="47" presetID="22" presetClass="entr" presetSubtype="8" fill="hold" nodeType="after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wipe(left)">
                                      <p:cBhvr>
                                        <p:cTn id="49" dur="500"/>
                                        <p:tgtEl>
                                          <p:spTgt spid="50"/>
                                        </p:tgtEl>
                                      </p:cBhvr>
                                    </p:animEffect>
                                  </p:childTnLst>
                                </p:cTn>
                              </p:par>
                            </p:childTnLst>
                          </p:cTn>
                        </p:par>
                        <p:par>
                          <p:cTn id="50" fill="hold" nodeType="afterGroup">
                            <p:stCondLst>
                              <p:cond delay="1000"/>
                            </p:stCondLst>
                            <p:childTnLst>
                              <p:par>
                                <p:cTn id="51" presetID="22" presetClass="entr" presetSubtype="8" fill="hold" nodeType="afterEffect">
                                  <p:stCondLst>
                                    <p:cond delay="0"/>
                                  </p:stCondLst>
                                  <p:childTnLst>
                                    <p:set>
                                      <p:cBhvr>
                                        <p:cTn id="52" dur="1" fill="hold">
                                          <p:stCondLst>
                                            <p:cond delay="0"/>
                                          </p:stCondLst>
                                        </p:cTn>
                                        <p:tgtEl>
                                          <p:spTgt spid="53"/>
                                        </p:tgtEl>
                                        <p:attrNameLst>
                                          <p:attrName>style.visibility</p:attrName>
                                        </p:attrNameLst>
                                      </p:cBhvr>
                                      <p:to>
                                        <p:strVal val="visible"/>
                                      </p:to>
                                    </p:set>
                                    <p:animEffect transition="in" filter="wipe(left)">
                                      <p:cBhvr>
                                        <p:cTn id="53" dur="500"/>
                                        <p:tgtEl>
                                          <p:spTgt spid="53"/>
                                        </p:tgtEl>
                                      </p:cBhvr>
                                    </p:animEffect>
                                  </p:childTnLst>
                                </p:cTn>
                              </p:par>
                            </p:childTnLst>
                          </p:cTn>
                        </p:par>
                        <p:par>
                          <p:cTn id="54" fill="hold" nodeType="afterGroup">
                            <p:stCondLst>
                              <p:cond delay="1500"/>
                            </p:stCondLst>
                            <p:childTnLst>
                              <p:par>
                                <p:cTn id="55" presetID="22" presetClass="entr" presetSubtype="8" fill="hold" nodeType="afterEffect">
                                  <p:stCondLst>
                                    <p:cond delay="0"/>
                                  </p:stCondLst>
                                  <p:childTnLst>
                                    <p:set>
                                      <p:cBhvr>
                                        <p:cTn id="56" dur="1" fill="hold">
                                          <p:stCondLst>
                                            <p:cond delay="0"/>
                                          </p:stCondLst>
                                        </p:cTn>
                                        <p:tgtEl>
                                          <p:spTgt spid="55"/>
                                        </p:tgtEl>
                                        <p:attrNameLst>
                                          <p:attrName>style.visibility</p:attrName>
                                        </p:attrNameLst>
                                      </p:cBhvr>
                                      <p:to>
                                        <p:strVal val="visible"/>
                                      </p:to>
                                    </p:set>
                                    <p:animEffect transition="in" filter="wipe(left)">
                                      <p:cBhvr>
                                        <p:cTn id="57" dur="500"/>
                                        <p:tgtEl>
                                          <p:spTgt spid="55"/>
                                        </p:tgtEl>
                                      </p:cBhvr>
                                    </p:animEffect>
                                  </p:childTnLst>
                                </p:cTn>
                              </p:par>
                            </p:childTnLst>
                          </p:cTn>
                        </p:par>
                        <p:par>
                          <p:cTn id="58" fill="hold" nodeType="afterGroup">
                            <p:stCondLst>
                              <p:cond delay="2000"/>
                            </p:stCondLst>
                            <p:childTnLst>
                              <p:par>
                                <p:cTn id="59" presetID="22" presetClass="entr" presetSubtype="1" fill="hold" nodeType="afterEffect">
                                  <p:stCondLst>
                                    <p:cond delay="0"/>
                                  </p:stCondLst>
                                  <p:childTnLst>
                                    <p:set>
                                      <p:cBhvr>
                                        <p:cTn id="60" dur="1" fill="hold">
                                          <p:stCondLst>
                                            <p:cond delay="0"/>
                                          </p:stCondLst>
                                        </p:cTn>
                                        <p:tgtEl>
                                          <p:spTgt spid="65"/>
                                        </p:tgtEl>
                                        <p:attrNameLst>
                                          <p:attrName>style.visibility</p:attrName>
                                        </p:attrNameLst>
                                      </p:cBhvr>
                                      <p:to>
                                        <p:strVal val="visible"/>
                                      </p:to>
                                    </p:set>
                                    <p:animEffect transition="in" filter="wipe(up)">
                                      <p:cBhvr>
                                        <p:cTn id="61" dur="500"/>
                                        <p:tgtEl>
                                          <p:spTgt spid="65"/>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58"/>
                                        </p:tgtEl>
                                        <p:attrNameLst>
                                          <p:attrName>style.visibility</p:attrName>
                                        </p:attrNameLst>
                                      </p:cBhvr>
                                      <p:to>
                                        <p:strVal val="visible"/>
                                      </p:to>
                                    </p:set>
                                    <p:animEffect transition="in" filter="wipe(left)">
                                      <p:cBhvr>
                                        <p:cTn id="66" dur="500"/>
                                        <p:tgtEl>
                                          <p:spTgt spid="58"/>
                                        </p:tgtEl>
                                      </p:cBhvr>
                                    </p:animEffect>
                                  </p:childTnLst>
                                </p:cTn>
                              </p:par>
                            </p:childTnLst>
                          </p:cTn>
                        </p:par>
                        <p:par>
                          <p:cTn id="67" fill="hold" nodeType="afterGroup">
                            <p:stCondLst>
                              <p:cond delay="500"/>
                            </p:stCondLst>
                            <p:childTnLst>
                              <p:par>
                                <p:cTn id="68" presetID="22" presetClass="entr" presetSubtype="8" fill="hold" nodeType="afterEffect">
                                  <p:stCondLst>
                                    <p:cond delay="0"/>
                                  </p:stCondLst>
                                  <p:childTnLst>
                                    <p:set>
                                      <p:cBhvr>
                                        <p:cTn id="69" dur="1" fill="hold">
                                          <p:stCondLst>
                                            <p:cond delay="0"/>
                                          </p:stCondLst>
                                        </p:cTn>
                                        <p:tgtEl>
                                          <p:spTgt spid="56"/>
                                        </p:tgtEl>
                                        <p:attrNameLst>
                                          <p:attrName>style.visibility</p:attrName>
                                        </p:attrNameLst>
                                      </p:cBhvr>
                                      <p:to>
                                        <p:strVal val="visible"/>
                                      </p:to>
                                    </p:set>
                                    <p:animEffect transition="in" filter="wipe(left)">
                                      <p:cBhvr>
                                        <p:cTn id="70" dur="500"/>
                                        <p:tgtEl>
                                          <p:spTgt spid="56"/>
                                        </p:tgtEl>
                                      </p:cBhvr>
                                    </p:animEffect>
                                  </p:childTnLst>
                                </p:cTn>
                              </p:par>
                            </p:childTnLst>
                          </p:cTn>
                        </p:par>
                        <p:par>
                          <p:cTn id="71" fill="hold" nodeType="afterGroup">
                            <p:stCondLst>
                              <p:cond delay="1000"/>
                            </p:stCondLst>
                            <p:childTnLst>
                              <p:par>
                                <p:cTn id="72" presetID="22" presetClass="entr" presetSubtype="1" fill="hold" nodeType="afterEffect">
                                  <p:stCondLst>
                                    <p:cond delay="0"/>
                                  </p:stCondLst>
                                  <p:childTnLst>
                                    <p:set>
                                      <p:cBhvr>
                                        <p:cTn id="73" dur="1" fill="hold">
                                          <p:stCondLst>
                                            <p:cond delay="0"/>
                                          </p:stCondLst>
                                        </p:cTn>
                                        <p:tgtEl>
                                          <p:spTgt spid="67"/>
                                        </p:tgtEl>
                                        <p:attrNameLst>
                                          <p:attrName>style.visibility</p:attrName>
                                        </p:attrNameLst>
                                      </p:cBhvr>
                                      <p:to>
                                        <p:strVal val="visible"/>
                                      </p:to>
                                    </p:set>
                                    <p:animEffect transition="in" filter="wipe(up)">
                                      <p:cBhvr>
                                        <p:cTn id="74" dur="500"/>
                                        <p:tgtEl>
                                          <p:spTgt spid="67"/>
                                        </p:tgtEl>
                                      </p:cBhvr>
                                    </p:animEffect>
                                  </p:childTnLst>
                                </p:cTn>
                              </p:par>
                            </p:childTnLst>
                          </p:cTn>
                        </p:par>
                        <p:par>
                          <p:cTn id="75" fill="hold">
                            <p:stCondLst>
                              <p:cond delay="2000"/>
                            </p:stCondLst>
                            <p:childTnLst>
                              <p:par>
                                <p:cTn id="76" presetID="22" presetClass="entr" presetSubtype="8" fill="hold" grpId="0" nodeType="afterEffect">
                                  <p:stCondLst>
                                    <p:cond delay="0"/>
                                  </p:stCondLst>
                                  <p:childTnLst>
                                    <p:set>
                                      <p:cBhvr>
                                        <p:cTn id="77" dur="1" fill="hold">
                                          <p:stCondLst>
                                            <p:cond delay="0"/>
                                          </p:stCondLst>
                                        </p:cTn>
                                        <p:tgtEl>
                                          <p:spTgt spid="49155">
                                            <p:txEl>
                                              <p:pRg st="1" end="1"/>
                                            </p:txEl>
                                          </p:spTgt>
                                        </p:tgtEl>
                                        <p:attrNameLst>
                                          <p:attrName>style.visibility</p:attrName>
                                        </p:attrNameLst>
                                      </p:cBhvr>
                                      <p:to>
                                        <p:strVal val="visible"/>
                                      </p:to>
                                    </p:set>
                                    <p:animEffect transition="in" filter="wipe(left)">
                                      <p:cBhvr>
                                        <p:cTn id="78" dur="500"/>
                                        <p:tgtEl>
                                          <p:spTgt spid="4915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304800" y="0"/>
            <a:ext cx="8610600" cy="1066800"/>
          </a:xfrm>
        </p:spPr>
        <p:txBody>
          <a:bodyPr>
            <a:noAutofit/>
          </a:bodyPr>
          <a:lstStyle/>
          <a:p>
            <a:r>
              <a:rPr lang="en-US" altLang="en-US" sz="3600" dirty="0" smtClean="0"/>
              <a:t>A Comparative Statics Model of Market Equilibrium</a:t>
            </a:r>
            <a:endParaRPr lang="en-US" altLang="en-US" sz="3600" dirty="0" smtClean="0"/>
          </a:p>
        </p:txBody>
      </p:sp>
      <p:sp>
        <p:nvSpPr>
          <p:cNvPr id="50179" name="Content Placeholder 2"/>
          <p:cNvSpPr>
            <a:spLocks noGrp="1"/>
          </p:cNvSpPr>
          <p:nvPr>
            <p:ph idx="1"/>
          </p:nvPr>
        </p:nvSpPr>
        <p:spPr/>
        <p:txBody>
          <a:bodyPr/>
          <a:lstStyle/>
          <a:p>
            <a:r>
              <a:rPr lang="en-US" altLang="en-US" dirty="0" smtClean="0"/>
              <a:t>Demand function, </a:t>
            </a:r>
            <a:r>
              <a:rPr lang="en-US" altLang="en-US" i="1" dirty="0" smtClean="0">
                <a:solidFill>
                  <a:srgbClr val="FF0000"/>
                </a:solidFill>
              </a:rPr>
              <a:t>Q</a:t>
            </a:r>
            <a:r>
              <a:rPr lang="en-US" altLang="en-US" i="1" baseline="-25000" dirty="0" smtClean="0">
                <a:solidFill>
                  <a:srgbClr val="FF0000"/>
                </a:solidFill>
              </a:rPr>
              <a:t>D</a:t>
            </a:r>
            <a:r>
              <a:rPr lang="en-US" altLang="en-US" dirty="0" smtClean="0">
                <a:solidFill>
                  <a:srgbClr val="FF0000"/>
                </a:solidFill>
              </a:rPr>
              <a:t> = </a:t>
            </a:r>
            <a:r>
              <a:rPr lang="en-US" altLang="en-US" i="1" dirty="0" smtClean="0">
                <a:solidFill>
                  <a:srgbClr val="FF0000"/>
                </a:solidFill>
              </a:rPr>
              <a:t>D</a:t>
            </a:r>
            <a:r>
              <a:rPr lang="en-US" altLang="en-US" dirty="0" smtClean="0">
                <a:solidFill>
                  <a:srgbClr val="FF0000"/>
                </a:solidFill>
              </a:rPr>
              <a:t>(</a:t>
            </a:r>
            <a:r>
              <a:rPr lang="en-US" altLang="en-US" i="1" dirty="0" smtClean="0">
                <a:solidFill>
                  <a:srgbClr val="FF0000"/>
                </a:solidFill>
              </a:rPr>
              <a:t>P</a:t>
            </a:r>
            <a:r>
              <a:rPr lang="en-US" altLang="en-US" dirty="0" smtClean="0">
                <a:solidFill>
                  <a:srgbClr val="FF0000"/>
                </a:solidFill>
              </a:rPr>
              <a:t>,</a:t>
            </a:r>
            <a:r>
              <a:rPr lang="en-US" altLang="en-US" dirty="0" smtClean="0">
                <a:solidFill>
                  <a:srgbClr val="FF0000"/>
                </a:solidFill>
                <a:sym typeface="Symbol" pitchFamily="18" charset="2"/>
              </a:rPr>
              <a:t>)</a:t>
            </a:r>
          </a:p>
          <a:p>
            <a:pPr lvl="1"/>
            <a:r>
              <a:rPr lang="en-US" altLang="en-US" dirty="0" smtClean="0">
                <a:sym typeface="Symbol" pitchFamily="18" charset="2"/>
              </a:rPr>
              <a:t> - </a:t>
            </a:r>
            <a:r>
              <a:rPr lang="en-US" altLang="en-US" dirty="0" smtClean="0">
                <a:sym typeface="Symbol" pitchFamily="18" charset="2"/>
              </a:rPr>
              <a:t>exogenous variable that </a:t>
            </a:r>
            <a:r>
              <a:rPr lang="en-US" altLang="en-US" dirty="0" smtClean="0">
                <a:sym typeface="Symbol" pitchFamily="18" charset="2"/>
              </a:rPr>
              <a:t>shifts the demand </a:t>
            </a:r>
            <a:r>
              <a:rPr lang="en-US" altLang="en-US" dirty="0" smtClean="0">
                <a:sym typeface="Symbol" pitchFamily="18" charset="2"/>
              </a:rPr>
              <a:t>function</a:t>
            </a:r>
            <a:endParaRPr lang="en-US" altLang="en-US" dirty="0" smtClean="0">
              <a:sym typeface="Symbol" pitchFamily="18" charset="2"/>
            </a:endParaRPr>
          </a:p>
          <a:p>
            <a:r>
              <a:rPr lang="en-US" altLang="en-US" dirty="0" smtClean="0">
                <a:sym typeface="Symbol" pitchFamily="18" charset="2"/>
              </a:rPr>
              <a:t>Supply </a:t>
            </a:r>
            <a:r>
              <a:rPr lang="en-US" altLang="en-US" dirty="0" smtClean="0">
                <a:sym typeface="Symbol" pitchFamily="18" charset="2"/>
              </a:rPr>
              <a:t>function, </a:t>
            </a:r>
            <a:r>
              <a:rPr lang="en-US" altLang="en-US" i="1" dirty="0" smtClean="0">
                <a:solidFill>
                  <a:srgbClr val="FF0000"/>
                </a:solidFill>
                <a:sym typeface="Symbol" pitchFamily="18" charset="2"/>
              </a:rPr>
              <a:t>Q</a:t>
            </a:r>
            <a:r>
              <a:rPr lang="en-US" altLang="en-US" i="1" baseline="-25000" dirty="0" smtClean="0">
                <a:solidFill>
                  <a:srgbClr val="FF0000"/>
                </a:solidFill>
                <a:sym typeface="Symbol" pitchFamily="18" charset="2"/>
              </a:rPr>
              <a:t>S</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S</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P</a:t>
            </a:r>
            <a:r>
              <a:rPr lang="en-US" altLang="en-US" dirty="0" smtClean="0">
                <a:solidFill>
                  <a:srgbClr val="FF0000"/>
                </a:solidFill>
                <a:sym typeface="Symbol" pitchFamily="18" charset="2"/>
              </a:rPr>
              <a:t>,)</a:t>
            </a:r>
          </a:p>
          <a:p>
            <a:pPr lvl="1"/>
            <a:r>
              <a:rPr lang="en-US" altLang="en-US" dirty="0" smtClean="0">
                <a:sym typeface="Symbol" pitchFamily="18" charset="2"/>
              </a:rPr>
              <a:t> - </a:t>
            </a:r>
            <a:r>
              <a:rPr lang="en-US" altLang="en-US" dirty="0">
                <a:sym typeface="Symbol" pitchFamily="18" charset="2"/>
              </a:rPr>
              <a:t>exogenous variable that </a:t>
            </a:r>
            <a:r>
              <a:rPr lang="en-US" altLang="en-US" dirty="0" smtClean="0">
                <a:sym typeface="Symbol" pitchFamily="18" charset="2"/>
              </a:rPr>
              <a:t>shifts the supply </a:t>
            </a:r>
            <a:r>
              <a:rPr lang="en-US" altLang="en-US" dirty="0" smtClean="0">
                <a:sym typeface="Symbol" pitchFamily="18" charset="2"/>
              </a:rPr>
              <a:t>function</a:t>
            </a:r>
            <a:endParaRPr lang="en-US" altLang="en-US" dirty="0" smtClean="0">
              <a:sym typeface="Symbol" pitchFamily="18" charset="2"/>
            </a:endParaRPr>
          </a:p>
          <a:p>
            <a:r>
              <a:rPr lang="en-US" altLang="en-US" dirty="0" smtClean="0">
                <a:sym typeface="Symbol" pitchFamily="18" charset="2"/>
              </a:rPr>
              <a:t>Market equilibrium (P* and Q*) are determined: </a:t>
            </a:r>
            <a:r>
              <a:rPr lang="en-US" altLang="en-US" i="1" dirty="0" smtClean="0">
                <a:solidFill>
                  <a:srgbClr val="002D56"/>
                </a:solidFill>
                <a:sym typeface="Symbol" pitchFamily="18" charset="2"/>
              </a:rPr>
              <a:t>Q</a:t>
            </a:r>
            <a:r>
              <a:rPr lang="en-US" altLang="en-US" i="1" baseline="-25000" dirty="0" smtClean="0">
                <a:solidFill>
                  <a:srgbClr val="002D56"/>
                </a:solidFill>
                <a:sym typeface="Symbol" pitchFamily="18" charset="2"/>
              </a:rPr>
              <a:t>D</a:t>
            </a:r>
            <a:r>
              <a:rPr lang="en-US" altLang="en-US" dirty="0" smtClean="0">
                <a:solidFill>
                  <a:srgbClr val="002D56"/>
                </a:solidFill>
                <a:sym typeface="Symbol" pitchFamily="18" charset="2"/>
              </a:rPr>
              <a:t> = </a:t>
            </a:r>
            <a:r>
              <a:rPr lang="en-US" altLang="en-US" i="1" dirty="0" smtClean="0">
                <a:solidFill>
                  <a:srgbClr val="002D56"/>
                </a:solidFill>
                <a:sym typeface="Symbol" pitchFamily="18" charset="2"/>
              </a:rPr>
              <a:t>Q</a:t>
            </a:r>
            <a:r>
              <a:rPr lang="en-US" altLang="en-US" i="1" baseline="-25000" dirty="0" smtClean="0">
                <a:solidFill>
                  <a:srgbClr val="002D56"/>
                </a:solidFill>
                <a:sym typeface="Symbol" pitchFamily="18" charset="2"/>
              </a:rPr>
              <a:t>S</a:t>
            </a:r>
            <a:r>
              <a:rPr lang="en-US" altLang="en-US" i="1" dirty="0" smtClean="0">
                <a:solidFill>
                  <a:srgbClr val="002D56"/>
                </a:solidFill>
                <a:sym typeface="Symbol" pitchFamily="18" charset="2"/>
              </a:rPr>
              <a:t> = Q* = </a:t>
            </a:r>
            <a:r>
              <a:rPr lang="en-US" altLang="en-US" i="1" dirty="0" smtClean="0">
                <a:solidFill>
                  <a:srgbClr val="002D56"/>
                </a:solidFill>
              </a:rPr>
              <a:t>D</a:t>
            </a:r>
            <a:r>
              <a:rPr lang="en-US" altLang="en-US" dirty="0" smtClean="0">
                <a:solidFill>
                  <a:srgbClr val="002D56"/>
                </a:solidFill>
              </a:rPr>
              <a:t>(</a:t>
            </a:r>
            <a:r>
              <a:rPr lang="en-US" altLang="en-US" i="1" dirty="0" smtClean="0">
                <a:solidFill>
                  <a:srgbClr val="002D56"/>
                </a:solidFill>
              </a:rPr>
              <a:t>P*</a:t>
            </a:r>
            <a:r>
              <a:rPr lang="en-US" altLang="en-US" dirty="0" smtClean="0">
                <a:solidFill>
                  <a:srgbClr val="002D56"/>
                </a:solidFill>
              </a:rPr>
              <a:t>,</a:t>
            </a:r>
            <a:r>
              <a:rPr lang="en-US" altLang="en-US" dirty="0">
                <a:solidFill>
                  <a:srgbClr val="002D56"/>
                </a:solidFill>
                <a:sym typeface="Symbol" pitchFamily="18" charset="2"/>
              </a:rPr>
              <a:t></a:t>
            </a:r>
            <a:r>
              <a:rPr lang="en-US" altLang="en-US" dirty="0" smtClean="0">
                <a:solidFill>
                  <a:srgbClr val="002D56"/>
                </a:solidFill>
                <a:sym typeface="Symbol" pitchFamily="18" charset="2"/>
              </a:rPr>
              <a:t>) = </a:t>
            </a:r>
            <a:r>
              <a:rPr lang="en-US" altLang="en-US" i="1" dirty="0" smtClean="0">
                <a:solidFill>
                  <a:srgbClr val="002D56"/>
                </a:solidFill>
                <a:sym typeface="Symbol" pitchFamily="18" charset="2"/>
              </a:rPr>
              <a:t>S</a:t>
            </a:r>
            <a:r>
              <a:rPr lang="en-US" altLang="en-US" dirty="0" smtClean="0">
                <a:solidFill>
                  <a:srgbClr val="002D56"/>
                </a:solidFill>
                <a:sym typeface="Symbol" pitchFamily="18" charset="2"/>
              </a:rPr>
              <a:t>(</a:t>
            </a:r>
            <a:r>
              <a:rPr lang="en-US" altLang="en-US" i="1" dirty="0" smtClean="0">
                <a:solidFill>
                  <a:srgbClr val="002D56"/>
                </a:solidFill>
                <a:sym typeface="Symbol" pitchFamily="18" charset="2"/>
              </a:rPr>
              <a:t>P*</a:t>
            </a:r>
            <a:r>
              <a:rPr lang="en-US" altLang="en-US" dirty="0" smtClean="0">
                <a:solidFill>
                  <a:srgbClr val="002D56"/>
                </a:solidFill>
                <a:sym typeface="Symbol" pitchFamily="18" charset="2"/>
              </a:rPr>
              <a:t>,</a:t>
            </a:r>
            <a:r>
              <a:rPr lang="en-US" altLang="en-US" dirty="0">
                <a:solidFill>
                  <a:srgbClr val="002D56"/>
                </a:solidFill>
                <a:sym typeface="Symbol" pitchFamily="18" charset="2"/>
              </a:rPr>
              <a:t>)</a:t>
            </a:r>
            <a:endParaRPr lang="en-US" altLang="en-US" dirty="0" smtClean="0">
              <a:solidFill>
                <a:srgbClr val="002D56"/>
              </a:solidFill>
              <a:sym typeface="Symbol" pitchFamily="18" charset="2"/>
            </a:endParaRPr>
          </a:p>
          <a:p>
            <a:endParaRPr lang="en-US" altLang="en-US" i="1" dirty="0" smtClean="0">
              <a:sym typeface="Symbol" pitchFamily="18" charset="2"/>
            </a:endParaRPr>
          </a:p>
          <a:p>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2F7FEBC-9143-427C-925B-0BDAAA44C114}" type="slidenum">
              <a:rPr lang="en-US" smtClean="0"/>
              <a:pPr>
                <a:defRPr/>
              </a:pPr>
              <a:t>30</a:t>
            </a:fld>
            <a:endParaRPr lang="en-US"/>
          </a:p>
        </p:txBody>
      </p:sp>
    </p:spTree>
    <p:extLst>
      <p:ext uri="{BB962C8B-B14F-4D97-AF65-F5344CB8AC3E}">
        <p14:creationId xmlns:p14="http://schemas.microsoft.com/office/powerpoint/2010/main" val="23939423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304800" y="0"/>
            <a:ext cx="8610600" cy="1066800"/>
          </a:xfrm>
        </p:spPr>
        <p:txBody>
          <a:bodyPr>
            <a:noAutofit/>
          </a:bodyPr>
          <a:lstStyle/>
          <a:p>
            <a:r>
              <a:rPr lang="en-US" altLang="en-US" sz="3600" dirty="0" smtClean="0"/>
              <a:t>A Comparative Statics Model of Market Equilibrium</a:t>
            </a:r>
            <a:endParaRPr lang="en-US" altLang="en-US" sz="3600" dirty="0" smtClean="0"/>
          </a:p>
        </p:txBody>
      </p:sp>
      <p:sp>
        <p:nvSpPr>
          <p:cNvPr id="50179" name="Content Placeholder 2"/>
          <p:cNvSpPr>
            <a:spLocks noGrp="1"/>
          </p:cNvSpPr>
          <p:nvPr>
            <p:ph idx="1"/>
          </p:nvPr>
        </p:nvSpPr>
        <p:spPr/>
        <p:txBody>
          <a:bodyPr/>
          <a:lstStyle/>
          <a:p>
            <a:r>
              <a:rPr lang="en-US" altLang="en-US" dirty="0" smtClean="0"/>
              <a:t>Eq</a:t>
            </a:r>
            <a:r>
              <a:rPr lang="en-US" altLang="en-US" dirty="0" smtClean="0">
                <a:sym typeface="Symbol" pitchFamily="18" charset="2"/>
              </a:rPr>
              <a:t>uilibrium conditions:</a:t>
            </a:r>
          </a:p>
          <a:p>
            <a:pPr marL="0" indent="0" algn="ctr">
              <a:buNone/>
            </a:pPr>
            <a:r>
              <a:rPr lang="en-US" altLang="en-US" dirty="0" smtClean="0">
                <a:sym typeface="Symbol" pitchFamily="18" charset="2"/>
              </a:rPr>
              <a:t> </a:t>
            </a:r>
            <a:r>
              <a:rPr lang="en-US" altLang="en-US" i="1" dirty="0" smtClean="0">
                <a:solidFill>
                  <a:srgbClr val="002D56"/>
                </a:solidFill>
              </a:rPr>
              <a:t>D</a:t>
            </a:r>
            <a:r>
              <a:rPr lang="en-US" altLang="en-US" dirty="0" smtClean="0">
                <a:solidFill>
                  <a:srgbClr val="002D56"/>
                </a:solidFill>
              </a:rPr>
              <a:t>(</a:t>
            </a:r>
            <a:r>
              <a:rPr lang="en-US" altLang="en-US" i="1" dirty="0" smtClean="0">
                <a:solidFill>
                  <a:srgbClr val="002D56"/>
                </a:solidFill>
              </a:rPr>
              <a:t>P*</a:t>
            </a:r>
            <a:r>
              <a:rPr lang="en-US" altLang="en-US" dirty="0" smtClean="0">
                <a:solidFill>
                  <a:srgbClr val="002D56"/>
                </a:solidFill>
              </a:rPr>
              <a:t>,</a:t>
            </a:r>
            <a:r>
              <a:rPr lang="en-US" altLang="en-US" dirty="0">
                <a:solidFill>
                  <a:srgbClr val="002D56"/>
                </a:solidFill>
                <a:sym typeface="Symbol" pitchFamily="18" charset="2"/>
              </a:rPr>
              <a:t></a:t>
            </a:r>
            <a:r>
              <a:rPr lang="en-US" altLang="en-US" dirty="0" smtClean="0">
                <a:solidFill>
                  <a:srgbClr val="002D56"/>
                </a:solidFill>
                <a:sym typeface="Symbol" pitchFamily="18" charset="2"/>
              </a:rPr>
              <a:t>) – Q* = 0</a:t>
            </a:r>
          </a:p>
          <a:p>
            <a:pPr marL="0" indent="0" algn="ctr">
              <a:buNone/>
            </a:pPr>
            <a:r>
              <a:rPr lang="en-US" altLang="en-US" dirty="0" smtClean="0">
                <a:solidFill>
                  <a:srgbClr val="002D56"/>
                </a:solidFill>
                <a:sym typeface="Symbol" pitchFamily="18" charset="2"/>
              </a:rPr>
              <a:t> </a:t>
            </a:r>
            <a:r>
              <a:rPr lang="en-US" altLang="en-US" i="1" dirty="0" smtClean="0">
                <a:solidFill>
                  <a:srgbClr val="002D56"/>
                </a:solidFill>
                <a:sym typeface="Symbol" pitchFamily="18" charset="2"/>
              </a:rPr>
              <a:t>S</a:t>
            </a:r>
            <a:r>
              <a:rPr lang="en-US" altLang="en-US" dirty="0" smtClean="0">
                <a:solidFill>
                  <a:srgbClr val="002D56"/>
                </a:solidFill>
                <a:sym typeface="Symbol" pitchFamily="18" charset="2"/>
              </a:rPr>
              <a:t>(</a:t>
            </a:r>
            <a:r>
              <a:rPr lang="en-US" altLang="en-US" i="1" dirty="0" smtClean="0">
                <a:solidFill>
                  <a:srgbClr val="002D56"/>
                </a:solidFill>
                <a:sym typeface="Symbol" pitchFamily="18" charset="2"/>
              </a:rPr>
              <a:t>P*</a:t>
            </a:r>
            <a:r>
              <a:rPr lang="en-US" altLang="en-US" dirty="0" smtClean="0">
                <a:solidFill>
                  <a:srgbClr val="002D56"/>
                </a:solidFill>
                <a:sym typeface="Symbol" pitchFamily="18" charset="2"/>
              </a:rPr>
              <a:t>,</a:t>
            </a:r>
            <a:r>
              <a:rPr lang="en-US" altLang="en-US" dirty="0">
                <a:solidFill>
                  <a:srgbClr val="002D56"/>
                </a:solidFill>
                <a:sym typeface="Symbol" pitchFamily="18" charset="2"/>
              </a:rPr>
              <a:t></a:t>
            </a:r>
            <a:r>
              <a:rPr lang="en-US" altLang="en-US" dirty="0" smtClean="0">
                <a:solidFill>
                  <a:srgbClr val="002D56"/>
                </a:solidFill>
                <a:sym typeface="Symbol" pitchFamily="18" charset="2"/>
              </a:rPr>
              <a:t>) – Q* = 0</a:t>
            </a:r>
          </a:p>
          <a:p>
            <a:r>
              <a:rPr lang="en-US" altLang="en-US" dirty="0" smtClean="0">
                <a:sym typeface="Symbol" pitchFamily="18" charset="2"/>
              </a:rPr>
              <a:t>Differentiate with respect to </a:t>
            </a:r>
            <a:r>
              <a:rPr lang="el-GR" altLang="en-US" dirty="0" smtClean="0">
                <a:sym typeface="Symbol" pitchFamily="18" charset="2"/>
              </a:rPr>
              <a:t>α</a:t>
            </a:r>
            <a:r>
              <a:rPr lang="en-US" altLang="en-US" dirty="0" smtClean="0">
                <a:sym typeface="Symbol" pitchFamily="18" charset="2"/>
              </a:rPr>
              <a:t>:</a:t>
            </a:r>
          </a:p>
          <a:p>
            <a:endParaRPr lang="en-US" altLang="en-US" dirty="0" smtClean="0">
              <a:sym typeface="Symbol" pitchFamily="18" charset="2"/>
            </a:endParaRPr>
          </a:p>
          <a:p>
            <a:endParaRPr lang="en-US" altLang="en-US" i="1" dirty="0" smtClean="0">
              <a:sym typeface="Symbol" pitchFamily="18" charset="2"/>
            </a:endParaRPr>
          </a:p>
          <a:p>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2F7FEBC-9143-427C-925B-0BDAAA44C114}" type="slidenum">
              <a:rPr lang="en-US" smtClean="0"/>
              <a:pPr>
                <a:defRPr/>
              </a:pPr>
              <a:t>31</a:t>
            </a:fld>
            <a:endParaRPr lang="en-US"/>
          </a:p>
        </p:txBody>
      </p:sp>
      <p:graphicFrame>
        <p:nvGraphicFramePr>
          <p:cNvPr id="2" name="Object 1"/>
          <p:cNvGraphicFramePr>
            <a:graphicFrameLocks noChangeAspect="1"/>
          </p:cNvGraphicFramePr>
          <p:nvPr>
            <p:extLst>
              <p:ext uri="{D42A27DB-BD31-4B8C-83A1-F6EECF244321}">
                <p14:modId xmlns:p14="http://schemas.microsoft.com/office/powerpoint/2010/main" val="91164782"/>
              </p:ext>
            </p:extLst>
          </p:nvPr>
        </p:nvGraphicFramePr>
        <p:xfrm>
          <a:off x="685800" y="4114800"/>
          <a:ext cx="7512050" cy="1914525"/>
        </p:xfrm>
        <a:graphic>
          <a:graphicData uri="http://schemas.openxmlformats.org/presentationml/2006/ole">
            <mc:AlternateContent xmlns:mc="http://schemas.openxmlformats.org/markup-compatibility/2006">
              <mc:Choice xmlns:v="urn:schemas-microsoft-com:vml" Requires="v">
                <p:oleObj spid="_x0000_s265227" name="Equation" r:id="rId3" imgW="3288960" imgH="838080" progId="Equation.DSMT4">
                  <p:embed/>
                </p:oleObj>
              </mc:Choice>
              <mc:Fallback>
                <p:oleObj name="Equation" r:id="rId3" imgW="3288960" imgH="838080" progId="Equation.DSMT4">
                  <p:embed/>
                  <p:pic>
                    <p:nvPicPr>
                      <p:cNvPr id="0" name="Object 3"/>
                      <p:cNvPicPr>
                        <a:picLocks noChangeAspect="1" noChangeArrowheads="1"/>
                      </p:cNvPicPr>
                      <p:nvPr/>
                    </p:nvPicPr>
                    <p:blipFill>
                      <a:blip r:embed="rId4"/>
                      <a:srcRect/>
                      <a:stretch>
                        <a:fillRect/>
                      </a:stretch>
                    </p:blipFill>
                    <p:spPr bwMode="auto">
                      <a:xfrm>
                        <a:off x="685800" y="4114800"/>
                        <a:ext cx="7512050" cy="191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5238020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noAutofit/>
          </a:bodyPr>
          <a:lstStyle/>
          <a:p>
            <a:r>
              <a:rPr lang="en-US" altLang="en-US" sz="3600" dirty="0" smtClean="0"/>
              <a:t>A Comparative Statics Model of Market Equilibrium</a:t>
            </a:r>
            <a:endParaRPr lang="en-US" altLang="en-US" sz="3600" dirty="0" smtClean="0"/>
          </a:p>
        </p:txBody>
      </p:sp>
      <p:sp>
        <p:nvSpPr>
          <p:cNvPr id="50179" name="Content Placeholder 2"/>
          <p:cNvSpPr>
            <a:spLocks noGrp="1"/>
          </p:cNvSpPr>
          <p:nvPr>
            <p:ph idx="1"/>
          </p:nvPr>
        </p:nvSpPr>
        <p:spPr/>
        <p:txBody>
          <a:bodyPr/>
          <a:lstStyle/>
          <a:p>
            <a:r>
              <a:rPr lang="en-US" altLang="en-US" dirty="0" smtClean="0"/>
              <a:t>In matrix notation:</a:t>
            </a:r>
            <a:endParaRPr lang="en-US" altLang="en-US" dirty="0" smtClean="0">
              <a:sym typeface="Symbol" pitchFamily="18" charset="2"/>
            </a:endParaRPr>
          </a:p>
          <a:p>
            <a:endParaRPr lang="en-US" altLang="en-US" dirty="0" smtClean="0">
              <a:sym typeface="Symbol" pitchFamily="18" charset="2"/>
            </a:endParaRPr>
          </a:p>
          <a:p>
            <a:endParaRPr lang="en-US" altLang="en-US" i="1" dirty="0" smtClean="0">
              <a:sym typeface="Symbol" pitchFamily="18" charset="2"/>
            </a:endParaRPr>
          </a:p>
          <a:p>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2F7FEBC-9143-427C-925B-0BDAAA44C114}" type="slidenum">
              <a:rPr lang="en-US" smtClean="0"/>
              <a:pPr>
                <a:defRPr/>
              </a:pPr>
              <a:t>32</a:t>
            </a:fld>
            <a:endParaRPr lang="en-US"/>
          </a:p>
        </p:txBody>
      </p:sp>
      <p:sp>
        <p:nvSpPr>
          <p:cNvPr id="3" name="Text Placeholder 2"/>
          <p:cNvSpPr>
            <a:spLocks noGrp="1"/>
          </p:cNvSpPr>
          <p:nvPr>
            <p:ph type="body" sz="quarter" idx="12"/>
          </p:nvPr>
        </p:nvSpPr>
        <p:spPr>
          <a:xfrm>
            <a:off x="381000" y="4724400"/>
            <a:ext cx="8534400" cy="1676400"/>
          </a:xfrm>
        </p:spPr>
        <p:txBody>
          <a:bodyPr>
            <a:noAutofit/>
          </a:bodyPr>
          <a:lstStyle/>
          <a:p>
            <a:pPr lvl="1"/>
            <a:r>
              <a:rPr lang="en-US" sz="2400" dirty="0" smtClean="0"/>
              <a:t>Because </a:t>
            </a:r>
            <a:r>
              <a:rPr lang="en-US" sz="2400" i="1" dirty="0" smtClean="0"/>
              <a:t>S</a:t>
            </a:r>
            <a:r>
              <a:rPr lang="en-US" sz="2400" i="1" baseline="-25000" dirty="0" smtClean="0"/>
              <a:t>P</a:t>
            </a:r>
            <a:r>
              <a:rPr lang="en-US" sz="2400" dirty="0" smtClean="0"/>
              <a:t>&gt;0, </a:t>
            </a:r>
            <a:r>
              <a:rPr lang="en-US" sz="2400" i="1" dirty="0" smtClean="0"/>
              <a:t>D</a:t>
            </a:r>
            <a:r>
              <a:rPr lang="en-US" sz="2400" i="1" baseline="-25000" dirty="0" smtClean="0"/>
              <a:t>P</a:t>
            </a:r>
            <a:r>
              <a:rPr lang="en-US" sz="2400" dirty="0" smtClean="0"/>
              <a:t>&lt;0  </a:t>
            </a:r>
            <a:r>
              <a:rPr lang="en-US" sz="2400" dirty="0"/>
              <a:t>, the denominators of these expressions will be positive.  </a:t>
            </a:r>
            <a:endParaRPr lang="en-US" sz="2400" dirty="0" smtClean="0"/>
          </a:p>
          <a:p>
            <a:pPr lvl="1"/>
            <a:r>
              <a:rPr lang="en-US" sz="2400" dirty="0" smtClean="0"/>
              <a:t>Hence </a:t>
            </a:r>
            <a:r>
              <a:rPr lang="en-US" sz="2400" dirty="0"/>
              <a:t>the overall sign of  </a:t>
            </a:r>
            <a:r>
              <a:rPr lang="en-US" sz="2400" i="1" dirty="0" err="1" smtClean="0"/>
              <a:t>dP</a:t>
            </a:r>
            <a:r>
              <a:rPr lang="en-US" sz="2400" i="1" dirty="0" smtClean="0"/>
              <a:t>*/d</a:t>
            </a:r>
            <a:r>
              <a:rPr lang="el-GR" sz="2400" dirty="0" smtClean="0"/>
              <a:t>α</a:t>
            </a:r>
            <a:r>
              <a:rPr lang="en-US" sz="2400" dirty="0" smtClean="0"/>
              <a:t> </a:t>
            </a:r>
            <a:r>
              <a:rPr lang="en-US" sz="2400" dirty="0"/>
              <a:t>and </a:t>
            </a:r>
            <a:r>
              <a:rPr lang="en-US" sz="2400" i="1" dirty="0" err="1" smtClean="0"/>
              <a:t>dQ</a:t>
            </a:r>
            <a:r>
              <a:rPr lang="en-US" sz="2400" i="1" dirty="0" smtClean="0"/>
              <a:t>*/</a:t>
            </a:r>
            <a:r>
              <a:rPr lang="en-US" sz="2400" i="1" dirty="0"/>
              <a:t>d</a:t>
            </a:r>
            <a:r>
              <a:rPr lang="el-GR" sz="2400" dirty="0"/>
              <a:t>α</a:t>
            </a:r>
            <a:r>
              <a:rPr lang="en-US" sz="2400" dirty="0" smtClean="0"/>
              <a:t> </a:t>
            </a:r>
            <a:r>
              <a:rPr lang="en-US" sz="2400" dirty="0"/>
              <a:t>will both have the same sign as that of </a:t>
            </a:r>
            <a:r>
              <a:rPr lang="en-US" sz="2400" i="1" dirty="0" smtClean="0"/>
              <a:t>D</a:t>
            </a:r>
            <a:r>
              <a:rPr lang="el-GR" sz="2400" baseline="-25000" dirty="0" smtClean="0"/>
              <a:t>α</a:t>
            </a:r>
            <a:endParaRPr lang="en-US" sz="2400" dirty="0"/>
          </a:p>
        </p:txBody>
      </p:sp>
      <p:graphicFrame>
        <p:nvGraphicFramePr>
          <p:cNvPr id="2" name="Object 1"/>
          <p:cNvGraphicFramePr>
            <a:graphicFrameLocks noChangeAspect="1"/>
          </p:cNvGraphicFramePr>
          <p:nvPr>
            <p:extLst>
              <p:ext uri="{D42A27DB-BD31-4B8C-83A1-F6EECF244321}">
                <p14:modId xmlns:p14="http://schemas.microsoft.com/office/powerpoint/2010/main" val="673084872"/>
              </p:ext>
            </p:extLst>
          </p:nvPr>
        </p:nvGraphicFramePr>
        <p:xfrm>
          <a:off x="1524000" y="1752600"/>
          <a:ext cx="5638800" cy="2910508"/>
        </p:xfrm>
        <a:graphic>
          <a:graphicData uri="http://schemas.openxmlformats.org/presentationml/2006/ole">
            <mc:AlternateContent xmlns:mc="http://schemas.openxmlformats.org/markup-compatibility/2006">
              <mc:Choice xmlns:v="urn:schemas-microsoft-com:vml" Requires="v">
                <p:oleObj spid="_x0000_s266252" name="Equation" r:id="rId3" imgW="3936960" imgH="2031840" progId="Equation.DSMT4">
                  <p:embed/>
                </p:oleObj>
              </mc:Choice>
              <mc:Fallback>
                <p:oleObj name="Equation" r:id="rId3" imgW="3936960" imgH="2031840" progId="Equation.DSMT4">
                  <p:embed/>
                  <p:pic>
                    <p:nvPicPr>
                      <p:cNvPr id="0" name=""/>
                      <p:cNvPicPr>
                        <a:picLocks noChangeAspect="1" noChangeArrowheads="1"/>
                      </p:cNvPicPr>
                      <p:nvPr/>
                    </p:nvPicPr>
                    <p:blipFill>
                      <a:blip r:embed="rId4"/>
                      <a:srcRect/>
                      <a:stretch>
                        <a:fillRect/>
                      </a:stretch>
                    </p:blipFill>
                    <p:spPr bwMode="auto">
                      <a:xfrm>
                        <a:off x="1524000" y="1752600"/>
                        <a:ext cx="5638800" cy="291050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9270050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left)">
                                      <p:cBhvr>
                                        <p:cTn id="15"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noAutofit/>
          </a:bodyPr>
          <a:lstStyle/>
          <a:p>
            <a:r>
              <a:rPr lang="en-US" altLang="en-US" sz="3600" dirty="0" smtClean="0"/>
              <a:t>A Comparative Statics Model of Market Equilibrium</a:t>
            </a:r>
            <a:endParaRPr lang="en-US" altLang="en-US" sz="3600" dirty="0" smtClean="0"/>
          </a:p>
        </p:txBody>
      </p:sp>
      <p:sp>
        <p:nvSpPr>
          <p:cNvPr id="50179" name="Content Placeholder 2"/>
          <p:cNvSpPr>
            <a:spLocks noGrp="1"/>
          </p:cNvSpPr>
          <p:nvPr>
            <p:ph idx="1"/>
          </p:nvPr>
        </p:nvSpPr>
        <p:spPr/>
        <p:txBody>
          <a:bodyPr/>
          <a:lstStyle/>
          <a:p>
            <a:r>
              <a:rPr lang="en-US" altLang="en-US" dirty="0" smtClean="0"/>
              <a:t>An elasticity interpretation:</a:t>
            </a:r>
            <a:endParaRPr lang="en-US" altLang="en-US" dirty="0" smtClean="0">
              <a:sym typeface="Symbol" pitchFamily="18" charset="2"/>
            </a:endParaRPr>
          </a:p>
          <a:p>
            <a:endParaRPr lang="en-US" altLang="en-US" dirty="0" smtClean="0">
              <a:sym typeface="Symbol" pitchFamily="18" charset="2"/>
            </a:endParaRPr>
          </a:p>
          <a:p>
            <a:endParaRPr lang="en-US" altLang="en-US" i="1" dirty="0" smtClean="0">
              <a:sym typeface="Symbol" pitchFamily="18" charset="2"/>
            </a:endParaRPr>
          </a:p>
          <a:p>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2F7FEBC-9143-427C-925B-0BDAAA44C114}" type="slidenum">
              <a:rPr lang="en-US" smtClean="0"/>
              <a:pPr>
                <a:defRPr/>
              </a:pPr>
              <a:t>33</a:t>
            </a:fld>
            <a:endParaRPr lang="en-US"/>
          </a:p>
        </p:txBody>
      </p:sp>
      <p:sp>
        <p:nvSpPr>
          <p:cNvPr id="7" name="Text Placeholder 6"/>
          <p:cNvSpPr>
            <a:spLocks noGrp="1"/>
          </p:cNvSpPr>
          <p:nvPr>
            <p:ph type="body" sz="quarter" idx="12"/>
          </p:nvPr>
        </p:nvSpPr>
        <p:spPr>
          <a:xfrm>
            <a:off x="381000" y="3810000"/>
            <a:ext cx="8534400" cy="2438400"/>
          </a:xfrm>
        </p:spPr>
        <p:txBody>
          <a:bodyPr>
            <a:normAutofit/>
          </a:bodyPr>
          <a:lstStyle/>
          <a:p>
            <a:pPr lvl="1"/>
            <a:r>
              <a:rPr lang="en-US" sz="2800" dirty="0" smtClean="0"/>
              <a:t>Elastic supply (</a:t>
            </a:r>
            <a:r>
              <a:rPr lang="en-US" sz="2800" i="1" dirty="0" err="1" smtClean="0"/>
              <a:t>e</a:t>
            </a:r>
            <a:r>
              <a:rPr lang="en-US" sz="2800" i="1" baseline="-25000" dirty="0" err="1" smtClean="0"/>
              <a:t>S,P</a:t>
            </a:r>
            <a:r>
              <a:rPr lang="en-US" sz="2800" dirty="0"/>
              <a:t>&gt;1</a:t>
            </a:r>
            <a:r>
              <a:rPr lang="en-US" sz="2800" dirty="0" smtClean="0"/>
              <a:t>): proportional </a:t>
            </a:r>
            <a:r>
              <a:rPr lang="en-US" sz="2800" dirty="0"/>
              <a:t>increase in equilibrium quantity </a:t>
            </a:r>
            <a:r>
              <a:rPr lang="en-US" sz="2800" dirty="0" smtClean="0"/>
              <a:t>&gt; proportional </a:t>
            </a:r>
            <a:r>
              <a:rPr lang="en-US" sz="2800" dirty="0"/>
              <a:t>increase in </a:t>
            </a:r>
            <a:r>
              <a:rPr lang="en-US" sz="2800" dirty="0" smtClean="0"/>
              <a:t>price</a:t>
            </a:r>
          </a:p>
          <a:p>
            <a:pPr lvl="1"/>
            <a:r>
              <a:rPr lang="en-US" sz="2800" dirty="0" smtClean="0"/>
              <a:t>Inelastic supply (</a:t>
            </a:r>
            <a:r>
              <a:rPr lang="en-US" sz="2800" i="1" dirty="0" err="1" smtClean="0"/>
              <a:t>e</a:t>
            </a:r>
            <a:r>
              <a:rPr lang="en-US" sz="2800" i="1" baseline="-25000" dirty="0" err="1" smtClean="0"/>
              <a:t>S,P</a:t>
            </a:r>
            <a:r>
              <a:rPr lang="en-US" sz="2800" dirty="0"/>
              <a:t>&lt;</a:t>
            </a:r>
            <a:r>
              <a:rPr lang="en-US" sz="2800" dirty="0" smtClean="0"/>
              <a:t>1): </a:t>
            </a:r>
            <a:r>
              <a:rPr lang="en-US" sz="2800" dirty="0"/>
              <a:t>proportional increase in equilibrium quantity </a:t>
            </a:r>
            <a:r>
              <a:rPr lang="en-US" sz="2800" dirty="0" smtClean="0"/>
              <a:t>&lt; </a:t>
            </a:r>
            <a:r>
              <a:rPr lang="en-US" sz="2800" dirty="0"/>
              <a:t>proportional increase in </a:t>
            </a:r>
            <a:r>
              <a:rPr lang="en-US" sz="2800" dirty="0" smtClean="0"/>
              <a:t>price</a:t>
            </a:r>
            <a:endParaRPr lang="en-US" sz="2800" dirty="0"/>
          </a:p>
        </p:txBody>
      </p:sp>
      <p:graphicFrame>
        <p:nvGraphicFramePr>
          <p:cNvPr id="2" name="Object 1"/>
          <p:cNvGraphicFramePr>
            <a:graphicFrameLocks noChangeAspect="1"/>
          </p:cNvGraphicFramePr>
          <p:nvPr>
            <p:extLst>
              <p:ext uri="{D42A27DB-BD31-4B8C-83A1-F6EECF244321}">
                <p14:modId xmlns:p14="http://schemas.microsoft.com/office/powerpoint/2010/main" val="3766381272"/>
              </p:ext>
            </p:extLst>
          </p:nvPr>
        </p:nvGraphicFramePr>
        <p:xfrm>
          <a:off x="571028" y="1828800"/>
          <a:ext cx="8001944" cy="1885950"/>
        </p:xfrm>
        <a:graphic>
          <a:graphicData uri="http://schemas.openxmlformats.org/presentationml/2006/ole">
            <mc:AlternateContent xmlns:mc="http://schemas.openxmlformats.org/markup-compatibility/2006">
              <mc:Choice xmlns:v="urn:schemas-microsoft-com:vml" Requires="v">
                <p:oleObj spid="_x0000_s267276" name="Equation" r:id="rId3" imgW="3987720" imgH="939600" progId="Equation.DSMT4">
                  <p:embed/>
                </p:oleObj>
              </mc:Choice>
              <mc:Fallback>
                <p:oleObj name="Equation" r:id="rId3" imgW="3987720" imgH="939600" progId="Equation.DSMT4">
                  <p:embed/>
                  <p:pic>
                    <p:nvPicPr>
                      <p:cNvPr id="0" name=""/>
                      <p:cNvPicPr>
                        <a:picLocks noChangeAspect="1" noChangeArrowheads="1"/>
                      </p:cNvPicPr>
                      <p:nvPr/>
                    </p:nvPicPr>
                    <p:blipFill>
                      <a:blip r:embed="rId4"/>
                      <a:srcRect/>
                      <a:stretch>
                        <a:fillRect/>
                      </a:stretch>
                    </p:blipFill>
                    <p:spPr bwMode="auto">
                      <a:xfrm>
                        <a:off x="571028" y="1828800"/>
                        <a:ext cx="8001944" cy="188595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5821405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wipe(left)">
                                      <p:cBhvr>
                                        <p:cTn id="15"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12.3 	Equilibria with Constant Elasticity 	</a:t>
            </a:r>
            <a:r>
              <a:rPr lang="en-US" altLang="en-US" dirty="0" smtClean="0">
                <a:solidFill>
                  <a:srgbClr val="002D56"/>
                </a:solidFill>
              </a:rPr>
              <a:t>Functions</a:t>
            </a:r>
          </a:p>
        </p:txBody>
      </p:sp>
      <p:sp>
        <p:nvSpPr>
          <p:cNvPr id="10247"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7E1985F0-6676-4F3C-955F-C902E5C5F7B0}" type="slidenum">
              <a:rPr lang="en-US" smtClean="0"/>
              <a:pPr>
                <a:defRPr/>
              </a:pPr>
              <a:t>34</a:t>
            </a:fld>
            <a:endParaRPr lang="en-US" dirty="0"/>
          </a:p>
        </p:txBody>
      </p:sp>
      <p:sp>
        <p:nvSpPr>
          <p:cNvPr id="10245" name="Content Placeholder 2"/>
          <p:cNvSpPr>
            <a:spLocks noGrp="1"/>
          </p:cNvSpPr>
          <p:nvPr>
            <p:ph type="body" sz="quarter" idx="12"/>
          </p:nvPr>
        </p:nvSpPr>
        <p:spPr>
          <a:xfrm>
            <a:off x="381000" y="1143000"/>
            <a:ext cx="8382000" cy="5257800"/>
          </a:xfrm>
          <a:prstGeom prst="rect">
            <a:avLst/>
          </a:prstGeom>
        </p:spPr>
        <p:txBody>
          <a:bodyPr/>
          <a:lstStyle/>
          <a:p>
            <a:r>
              <a:rPr lang="en-US" altLang="en-US" dirty="0" smtClean="0"/>
              <a:t>Demand and supply for automobiles</a:t>
            </a:r>
            <a:r>
              <a:rPr lang="en-US" altLang="en-US" dirty="0" smtClean="0"/>
              <a:t>:</a:t>
            </a:r>
          </a:p>
          <a:p>
            <a:pPr marL="0" indent="0" algn="ctr">
              <a:buNone/>
            </a:pPr>
            <a:r>
              <a:rPr lang="en-US" altLang="en-US" i="1" dirty="0" smtClean="0">
                <a:solidFill>
                  <a:srgbClr val="C00000"/>
                </a:solidFill>
              </a:rPr>
              <a:t>Q</a:t>
            </a:r>
            <a:r>
              <a:rPr lang="en-US" altLang="en-US" i="1" baseline="-25000" dirty="0" smtClean="0">
                <a:solidFill>
                  <a:srgbClr val="C00000"/>
                </a:solidFill>
              </a:rPr>
              <a:t>D</a:t>
            </a:r>
            <a:r>
              <a:rPr lang="en-US" altLang="en-US" i="1" dirty="0" smtClean="0">
                <a:solidFill>
                  <a:srgbClr val="C00000"/>
                </a:solidFill>
              </a:rPr>
              <a:t>(P,I) = 0.1P</a:t>
            </a:r>
            <a:r>
              <a:rPr lang="en-US" altLang="en-US" i="1" baseline="30000" dirty="0" smtClean="0">
                <a:solidFill>
                  <a:srgbClr val="C00000"/>
                </a:solidFill>
              </a:rPr>
              <a:t>-1.2</a:t>
            </a:r>
            <a:r>
              <a:rPr lang="en-US" altLang="en-US" i="1" dirty="0" smtClean="0">
                <a:solidFill>
                  <a:srgbClr val="C00000"/>
                </a:solidFill>
              </a:rPr>
              <a:t>I</a:t>
            </a:r>
            <a:r>
              <a:rPr lang="en-US" altLang="en-US" i="1" baseline="30000" dirty="0" smtClean="0">
                <a:solidFill>
                  <a:srgbClr val="C00000"/>
                </a:solidFill>
              </a:rPr>
              <a:t>3</a:t>
            </a:r>
            <a:r>
              <a:rPr lang="en-US" altLang="en-US" i="1" dirty="0" smtClean="0">
                <a:solidFill>
                  <a:srgbClr val="C00000"/>
                </a:solidFill>
              </a:rPr>
              <a:t> </a:t>
            </a:r>
            <a:r>
              <a:rPr lang="en-US" altLang="en-US" dirty="0" smtClean="0">
                <a:solidFill>
                  <a:srgbClr val="C00000"/>
                </a:solidFill>
              </a:rPr>
              <a:t>and </a:t>
            </a:r>
            <a:r>
              <a:rPr lang="en-US" altLang="en-US" i="1" dirty="0" smtClean="0">
                <a:solidFill>
                  <a:srgbClr val="C00000"/>
                </a:solidFill>
              </a:rPr>
              <a:t>Q</a:t>
            </a:r>
            <a:r>
              <a:rPr lang="en-US" altLang="en-US" i="1" baseline="-25000" dirty="0" smtClean="0">
                <a:solidFill>
                  <a:srgbClr val="C00000"/>
                </a:solidFill>
              </a:rPr>
              <a:t>S</a:t>
            </a:r>
            <a:r>
              <a:rPr lang="en-US" altLang="en-US" i="1" dirty="0" smtClean="0">
                <a:solidFill>
                  <a:srgbClr val="C00000"/>
                </a:solidFill>
              </a:rPr>
              <a:t>(</a:t>
            </a:r>
            <a:r>
              <a:rPr lang="en-US" altLang="en-US" i="1" dirty="0" err="1" smtClean="0">
                <a:solidFill>
                  <a:srgbClr val="C00000"/>
                </a:solidFill>
              </a:rPr>
              <a:t>P,w</a:t>
            </a:r>
            <a:r>
              <a:rPr lang="en-US" altLang="en-US" i="1" dirty="0" smtClean="0">
                <a:solidFill>
                  <a:srgbClr val="C00000"/>
                </a:solidFill>
              </a:rPr>
              <a:t>) </a:t>
            </a:r>
            <a:r>
              <a:rPr lang="en-US" altLang="en-US" i="1" dirty="0">
                <a:solidFill>
                  <a:srgbClr val="C00000"/>
                </a:solidFill>
              </a:rPr>
              <a:t>= </a:t>
            </a:r>
            <a:r>
              <a:rPr lang="en-US" altLang="en-US" i="1" dirty="0" smtClean="0">
                <a:solidFill>
                  <a:srgbClr val="C00000"/>
                </a:solidFill>
              </a:rPr>
              <a:t>6,400Pw</a:t>
            </a:r>
            <a:r>
              <a:rPr lang="en-US" altLang="en-US" i="1" baseline="30000" dirty="0" smtClean="0">
                <a:solidFill>
                  <a:srgbClr val="C00000"/>
                </a:solidFill>
              </a:rPr>
              <a:t>-0.5</a:t>
            </a:r>
            <a:r>
              <a:rPr lang="en-US" altLang="en-US" i="1" dirty="0" smtClean="0">
                <a:solidFill>
                  <a:srgbClr val="C00000"/>
                </a:solidFill>
              </a:rPr>
              <a:t> </a:t>
            </a:r>
          </a:p>
          <a:p>
            <a:r>
              <a:rPr lang="en-US" kern="0" dirty="0">
                <a:solidFill>
                  <a:srgbClr val="002D56"/>
                </a:solidFill>
              </a:rPr>
              <a:t>If </a:t>
            </a:r>
            <a:r>
              <a:rPr lang="en-US" i="1" kern="0" dirty="0">
                <a:solidFill>
                  <a:srgbClr val="002D56"/>
                </a:solidFill>
                <a:latin typeface="Verdana" pitchFamily="34" charset="0"/>
              </a:rPr>
              <a:t>I</a:t>
            </a:r>
            <a:r>
              <a:rPr lang="en-US" i="1" kern="0" dirty="0">
                <a:solidFill>
                  <a:srgbClr val="002D56"/>
                </a:solidFill>
              </a:rPr>
              <a:t> = </a:t>
            </a:r>
            <a:r>
              <a:rPr lang="en-US" kern="0" dirty="0">
                <a:solidFill>
                  <a:srgbClr val="002D56"/>
                </a:solidFill>
              </a:rPr>
              <a:t>$20,000 and </a:t>
            </a:r>
            <a:r>
              <a:rPr lang="en-US" i="1" kern="0" dirty="0">
                <a:solidFill>
                  <a:srgbClr val="002D56"/>
                </a:solidFill>
              </a:rPr>
              <a:t>w</a:t>
            </a:r>
            <a:r>
              <a:rPr lang="en-US" kern="0" dirty="0">
                <a:solidFill>
                  <a:srgbClr val="002D56"/>
                </a:solidFill>
              </a:rPr>
              <a:t> = $</a:t>
            </a:r>
            <a:r>
              <a:rPr lang="en-US" kern="0" dirty="0" smtClean="0">
                <a:solidFill>
                  <a:srgbClr val="002D56"/>
                </a:solidFill>
              </a:rPr>
              <a:t>25, demand-supply equilibrium:</a:t>
            </a:r>
          </a:p>
          <a:p>
            <a:pPr marL="0" indent="0">
              <a:buNone/>
            </a:pPr>
            <a:r>
              <a:rPr lang="en-US" altLang="en-US" sz="2800" i="1" dirty="0" smtClean="0">
                <a:solidFill>
                  <a:srgbClr val="C00000"/>
                </a:solidFill>
              </a:rPr>
              <a:t>Q</a:t>
            </a:r>
            <a:r>
              <a:rPr lang="en-US" altLang="en-US" sz="2800" i="1" baseline="-25000" dirty="0" smtClean="0">
                <a:solidFill>
                  <a:srgbClr val="C00000"/>
                </a:solidFill>
              </a:rPr>
              <a:t>D</a:t>
            </a:r>
            <a:r>
              <a:rPr lang="en-US" altLang="en-US" sz="2800" i="1" dirty="0" smtClean="0">
                <a:solidFill>
                  <a:srgbClr val="C00000"/>
                </a:solidFill>
              </a:rPr>
              <a:t> </a:t>
            </a:r>
            <a:r>
              <a:rPr lang="en-US" altLang="en-US" sz="2800" i="1" dirty="0">
                <a:solidFill>
                  <a:srgbClr val="C00000"/>
                </a:solidFill>
              </a:rPr>
              <a:t>= </a:t>
            </a:r>
            <a:r>
              <a:rPr lang="en-US" altLang="en-US" sz="2800" i="1" dirty="0" smtClean="0">
                <a:solidFill>
                  <a:srgbClr val="C00000"/>
                </a:solidFill>
              </a:rPr>
              <a:t>0.1P</a:t>
            </a:r>
            <a:r>
              <a:rPr lang="en-US" altLang="en-US" sz="2800" i="1" baseline="30000" dirty="0" smtClean="0">
                <a:solidFill>
                  <a:srgbClr val="C00000"/>
                </a:solidFill>
              </a:rPr>
              <a:t>-1.2</a:t>
            </a:r>
            <a:r>
              <a:rPr lang="en-US" altLang="en-US" sz="2800" i="1" dirty="0" smtClean="0">
                <a:solidFill>
                  <a:srgbClr val="C00000"/>
                </a:solidFill>
              </a:rPr>
              <a:t>I</a:t>
            </a:r>
            <a:r>
              <a:rPr lang="en-US" altLang="en-US" sz="2800" i="1" baseline="30000" dirty="0" smtClean="0">
                <a:solidFill>
                  <a:srgbClr val="C00000"/>
                </a:solidFill>
              </a:rPr>
              <a:t>3</a:t>
            </a:r>
            <a:r>
              <a:rPr lang="en-US" altLang="en-US" sz="2800" i="1" dirty="0" smtClean="0">
                <a:solidFill>
                  <a:srgbClr val="C00000"/>
                </a:solidFill>
              </a:rPr>
              <a:t> = (8×10</a:t>
            </a:r>
            <a:r>
              <a:rPr lang="en-US" altLang="en-US" sz="2800" i="1" baseline="30000" dirty="0" smtClean="0">
                <a:solidFill>
                  <a:srgbClr val="C00000"/>
                </a:solidFill>
              </a:rPr>
              <a:t>11</a:t>
            </a:r>
            <a:r>
              <a:rPr lang="en-US" altLang="en-US" sz="2800" i="1" dirty="0" smtClean="0">
                <a:solidFill>
                  <a:srgbClr val="C00000"/>
                </a:solidFill>
              </a:rPr>
              <a:t>)</a:t>
            </a:r>
            <a:r>
              <a:rPr lang="en-US" altLang="en-US" sz="2800" i="1" dirty="0">
                <a:solidFill>
                  <a:srgbClr val="C00000"/>
                </a:solidFill>
              </a:rPr>
              <a:t> P</a:t>
            </a:r>
            <a:r>
              <a:rPr lang="en-US" altLang="en-US" sz="2800" i="1" baseline="30000" dirty="0">
                <a:solidFill>
                  <a:srgbClr val="C00000"/>
                </a:solidFill>
              </a:rPr>
              <a:t>-1.2</a:t>
            </a:r>
            <a:r>
              <a:rPr lang="en-US" altLang="en-US" sz="2800" i="1" dirty="0" smtClean="0">
                <a:solidFill>
                  <a:srgbClr val="C00000"/>
                </a:solidFill>
              </a:rPr>
              <a:t> = Q</a:t>
            </a:r>
            <a:r>
              <a:rPr lang="en-US" altLang="en-US" sz="2800" i="1" baseline="-25000" dirty="0" smtClean="0">
                <a:solidFill>
                  <a:srgbClr val="C00000"/>
                </a:solidFill>
              </a:rPr>
              <a:t>S</a:t>
            </a:r>
            <a:r>
              <a:rPr lang="en-US" altLang="en-US" sz="2800" i="1" dirty="0" smtClean="0">
                <a:solidFill>
                  <a:srgbClr val="C00000"/>
                </a:solidFill>
              </a:rPr>
              <a:t> </a:t>
            </a:r>
            <a:r>
              <a:rPr lang="en-US" altLang="en-US" sz="2800" i="1" dirty="0">
                <a:solidFill>
                  <a:srgbClr val="C00000"/>
                </a:solidFill>
              </a:rPr>
              <a:t>= </a:t>
            </a:r>
            <a:r>
              <a:rPr lang="en-US" altLang="en-US" sz="2800" i="1" dirty="0" smtClean="0">
                <a:solidFill>
                  <a:srgbClr val="C00000"/>
                </a:solidFill>
              </a:rPr>
              <a:t>6,400Pw</a:t>
            </a:r>
            <a:r>
              <a:rPr lang="en-US" altLang="en-US" sz="2800" i="1" baseline="30000" dirty="0" smtClean="0">
                <a:solidFill>
                  <a:srgbClr val="C00000"/>
                </a:solidFill>
              </a:rPr>
              <a:t>-0.5</a:t>
            </a:r>
            <a:r>
              <a:rPr lang="en-US" altLang="en-US" sz="2800" i="1" dirty="0" smtClean="0">
                <a:solidFill>
                  <a:srgbClr val="C00000"/>
                </a:solidFill>
              </a:rPr>
              <a:t> = 1,280P </a:t>
            </a:r>
          </a:p>
          <a:p>
            <a:pPr lvl="1"/>
            <a:r>
              <a:rPr lang="en-US" altLang="en-US" sz="3200" i="1" dirty="0"/>
              <a:t>Equilibrium: P* = 9,957 and Q* = 12,745,000</a:t>
            </a:r>
          </a:p>
          <a:p>
            <a:endParaRPr lang="en-US" altLang="en-US" i="1" dirty="0">
              <a:solidFill>
                <a:srgbClr val="C00000"/>
              </a:solidFill>
            </a:endParaRPr>
          </a:p>
          <a:p>
            <a:endParaRPr lang="en-US" kern="0" dirty="0" smtClean="0">
              <a:solidFill>
                <a:srgbClr val="C00000"/>
              </a:solidFill>
            </a:endParaRPr>
          </a:p>
          <a:p>
            <a:endParaRPr lang="en-US" kern="0" dirty="0">
              <a:solidFill>
                <a:srgbClr val="002D56"/>
              </a:solidFill>
            </a:endParaRPr>
          </a:p>
          <a:p>
            <a:endParaRPr lang="en-US" altLang="en-US" i="1" dirty="0" smtClean="0">
              <a:solidFill>
                <a:srgbClr val="C00000"/>
              </a:solidFill>
            </a:endParaRPr>
          </a:p>
        </p:txBody>
      </p:sp>
    </p:spTree>
    <p:extLst>
      <p:ext uri="{BB962C8B-B14F-4D97-AF65-F5344CB8AC3E}">
        <p14:creationId xmlns:p14="http://schemas.microsoft.com/office/powerpoint/2010/main" val="5436690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12.3 	Equilibria with Constant Elasticity 	</a:t>
            </a:r>
            <a:r>
              <a:rPr lang="en-US" altLang="en-US" dirty="0" smtClean="0">
                <a:solidFill>
                  <a:srgbClr val="002D56"/>
                </a:solidFill>
              </a:rPr>
              <a:t>Functions</a:t>
            </a:r>
          </a:p>
        </p:txBody>
      </p:sp>
      <p:sp>
        <p:nvSpPr>
          <p:cNvPr id="10247"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7E1985F0-6676-4F3C-955F-C902E5C5F7B0}" type="slidenum">
              <a:rPr lang="en-US" smtClean="0"/>
              <a:pPr>
                <a:defRPr/>
              </a:pPr>
              <a:t>35</a:t>
            </a:fld>
            <a:endParaRPr lang="en-US" dirty="0"/>
          </a:p>
        </p:txBody>
      </p:sp>
      <p:sp>
        <p:nvSpPr>
          <p:cNvPr id="10245" name="Content Placeholder 2"/>
          <p:cNvSpPr>
            <a:spLocks noGrp="1"/>
          </p:cNvSpPr>
          <p:nvPr>
            <p:ph type="body" sz="quarter" idx="12"/>
          </p:nvPr>
        </p:nvSpPr>
        <p:spPr>
          <a:xfrm>
            <a:off x="381000" y="990600"/>
            <a:ext cx="8382000" cy="5410200"/>
          </a:xfrm>
          <a:prstGeom prst="rect">
            <a:avLst/>
          </a:prstGeom>
        </p:spPr>
        <p:txBody>
          <a:bodyPr/>
          <a:lstStyle/>
          <a:p>
            <a:r>
              <a:rPr lang="en-US" altLang="en-US" dirty="0" smtClean="0"/>
              <a:t>A 10 percent increase in real family income would </a:t>
            </a:r>
            <a:r>
              <a:rPr lang="en-US" altLang="en-US" u="sng" dirty="0" smtClean="0"/>
              <a:t>shift the demand curve</a:t>
            </a:r>
            <a:r>
              <a:rPr lang="en-US" altLang="en-US" dirty="0" smtClean="0"/>
              <a:t>:</a:t>
            </a:r>
          </a:p>
          <a:p>
            <a:pPr marL="0" indent="0" algn="ctr">
              <a:buNone/>
            </a:pPr>
            <a:r>
              <a:rPr lang="en-US" altLang="en-US" i="1" dirty="0" smtClean="0">
                <a:solidFill>
                  <a:srgbClr val="C00000"/>
                </a:solidFill>
              </a:rPr>
              <a:t>Q</a:t>
            </a:r>
            <a:r>
              <a:rPr lang="en-US" altLang="en-US" i="1" baseline="-25000" dirty="0" smtClean="0">
                <a:solidFill>
                  <a:srgbClr val="C00000"/>
                </a:solidFill>
              </a:rPr>
              <a:t>D</a:t>
            </a:r>
            <a:r>
              <a:rPr lang="en-US" altLang="en-US" i="1" dirty="0" smtClean="0">
                <a:solidFill>
                  <a:srgbClr val="C00000"/>
                </a:solidFill>
              </a:rPr>
              <a:t> </a:t>
            </a:r>
            <a:r>
              <a:rPr lang="en-US" altLang="en-US" i="1" dirty="0">
                <a:solidFill>
                  <a:srgbClr val="C00000"/>
                </a:solidFill>
              </a:rPr>
              <a:t>= </a:t>
            </a:r>
            <a:r>
              <a:rPr lang="en-US" altLang="en-US" i="1" dirty="0" smtClean="0">
                <a:solidFill>
                  <a:srgbClr val="C00000"/>
                </a:solidFill>
              </a:rPr>
              <a:t>(1.06×10</a:t>
            </a:r>
            <a:r>
              <a:rPr lang="en-US" altLang="en-US" i="1" baseline="30000" dirty="0" smtClean="0">
                <a:solidFill>
                  <a:srgbClr val="C00000"/>
                </a:solidFill>
              </a:rPr>
              <a:t>12</a:t>
            </a:r>
            <a:r>
              <a:rPr lang="en-US" altLang="en-US" i="1" dirty="0" smtClean="0">
                <a:solidFill>
                  <a:srgbClr val="C00000"/>
                </a:solidFill>
              </a:rPr>
              <a:t>) P</a:t>
            </a:r>
            <a:r>
              <a:rPr lang="en-US" altLang="en-US" i="1" baseline="30000" dirty="0" smtClean="0">
                <a:solidFill>
                  <a:srgbClr val="C00000"/>
                </a:solidFill>
              </a:rPr>
              <a:t>-1.2</a:t>
            </a:r>
            <a:endParaRPr lang="en-US" altLang="en-US" i="1" dirty="0" smtClean="0">
              <a:solidFill>
                <a:srgbClr val="C00000"/>
              </a:solidFill>
            </a:endParaRPr>
          </a:p>
          <a:p>
            <a:pPr lvl="1"/>
            <a:r>
              <a:rPr lang="en-US" altLang="en-US" i="1" dirty="0"/>
              <a:t>Equilibrium: P* = 11,339 </a:t>
            </a:r>
            <a:r>
              <a:rPr lang="en-US" altLang="en-US" i="1" dirty="0" smtClean="0"/>
              <a:t>and </a:t>
            </a:r>
            <a:r>
              <a:rPr lang="en-US" altLang="en-US" i="1" dirty="0"/>
              <a:t>Q* = 14,514,000</a:t>
            </a:r>
            <a:endParaRPr lang="en-US" altLang="en-US" i="1" dirty="0">
              <a:solidFill>
                <a:srgbClr val="C00000"/>
              </a:solidFill>
            </a:endParaRPr>
          </a:p>
          <a:p>
            <a:r>
              <a:rPr lang="en-US" kern="0" dirty="0">
                <a:solidFill>
                  <a:srgbClr val="C00000"/>
                </a:solidFill>
              </a:rPr>
              <a:t>If wages were to increase from $25 to $</a:t>
            </a:r>
            <a:r>
              <a:rPr lang="en-US" kern="0" dirty="0" smtClean="0">
                <a:solidFill>
                  <a:srgbClr val="C00000"/>
                </a:solidFill>
              </a:rPr>
              <a:t>30 per </a:t>
            </a:r>
            <a:r>
              <a:rPr lang="en-US" kern="0" dirty="0">
                <a:solidFill>
                  <a:srgbClr val="C00000"/>
                </a:solidFill>
              </a:rPr>
              <a:t>hour, the </a:t>
            </a:r>
            <a:r>
              <a:rPr lang="en-US" u="sng" kern="0" dirty="0">
                <a:solidFill>
                  <a:srgbClr val="C00000"/>
                </a:solidFill>
              </a:rPr>
              <a:t>supply function would </a:t>
            </a:r>
            <a:r>
              <a:rPr lang="en-US" u="sng" kern="0" dirty="0" smtClean="0">
                <a:solidFill>
                  <a:srgbClr val="C00000"/>
                </a:solidFill>
              </a:rPr>
              <a:t>shift:</a:t>
            </a:r>
          </a:p>
          <a:p>
            <a:pPr marL="0" indent="0" algn="ctr">
              <a:buNone/>
            </a:pPr>
            <a:r>
              <a:rPr lang="en-US" altLang="en-US" i="1" dirty="0">
                <a:solidFill>
                  <a:srgbClr val="002D56"/>
                </a:solidFill>
              </a:rPr>
              <a:t>Q</a:t>
            </a:r>
            <a:r>
              <a:rPr lang="en-US" altLang="en-US" i="1" baseline="-25000" dirty="0">
                <a:solidFill>
                  <a:srgbClr val="002D56"/>
                </a:solidFill>
              </a:rPr>
              <a:t>S</a:t>
            </a:r>
            <a:r>
              <a:rPr lang="en-US" altLang="en-US" i="1" dirty="0">
                <a:solidFill>
                  <a:srgbClr val="002D56"/>
                </a:solidFill>
              </a:rPr>
              <a:t> = </a:t>
            </a:r>
            <a:r>
              <a:rPr lang="en-US" altLang="en-US" i="1" dirty="0" smtClean="0">
                <a:solidFill>
                  <a:srgbClr val="002D56"/>
                </a:solidFill>
              </a:rPr>
              <a:t>6,400P(30)</a:t>
            </a:r>
            <a:r>
              <a:rPr lang="en-US" altLang="en-US" i="1" baseline="30000" dirty="0" smtClean="0">
                <a:solidFill>
                  <a:srgbClr val="002D56"/>
                </a:solidFill>
              </a:rPr>
              <a:t>-0.5</a:t>
            </a:r>
            <a:r>
              <a:rPr lang="en-US" altLang="en-US" i="1" dirty="0" smtClean="0">
                <a:solidFill>
                  <a:srgbClr val="002D56"/>
                </a:solidFill>
              </a:rPr>
              <a:t> = 1,168P</a:t>
            </a:r>
          </a:p>
          <a:p>
            <a:pPr lvl="1"/>
            <a:r>
              <a:rPr lang="en-US" altLang="en-US" i="1" dirty="0"/>
              <a:t>Equilibrium: P* </a:t>
            </a:r>
            <a:r>
              <a:rPr lang="en-US" altLang="en-US" i="1" dirty="0" smtClean="0"/>
              <a:t>=</a:t>
            </a:r>
            <a:r>
              <a:rPr lang="en-US" dirty="0" smtClean="0"/>
              <a:t> 10,381 and </a:t>
            </a:r>
            <a:r>
              <a:rPr lang="en-US" altLang="en-US" i="1" dirty="0" smtClean="0"/>
              <a:t>Q</a:t>
            </a:r>
            <a:r>
              <a:rPr lang="en-US" altLang="en-US" i="1" dirty="0"/>
              <a:t>* = </a:t>
            </a:r>
            <a:r>
              <a:rPr lang="en-US" dirty="0" smtClean="0"/>
              <a:t>12,125,000</a:t>
            </a:r>
            <a:endParaRPr lang="en-US" kern="0" dirty="0">
              <a:solidFill>
                <a:srgbClr val="002D56"/>
              </a:solidFill>
            </a:endParaRPr>
          </a:p>
          <a:p>
            <a:endParaRPr lang="en-US" altLang="en-US" i="1" dirty="0" smtClean="0">
              <a:solidFill>
                <a:srgbClr val="C00000"/>
              </a:solidFill>
            </a:endParaRPr>
          </a:p>
        </p:txBody>
      </p:sp>
    </p:spTree>
    <p:extLst>
      <p:ext uri="{BB962C8B-B14F-4D97-AF65-F5344CB8AC3E}">
        <p14:creationId xmlns:p14="http://schemas.microsoft.com/office/powerpoint/2010/main" val="71403730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en-US" smtClean="0"/>
              <a:t>Long-Run Analysis</a:t>
            </a:r>
          </a:p>
        </p:txBody>
      </p:sp>
      <p:sp>
        <p:nvSpPr>
          <p:cNvPr id="51203" name="Rectangle 3"/>
          <p:cNvSpPr>
            <a:spLocks noGrp="1" noChangeArrowheads="1"/>
          </p:cNvSpPr>
          <p:nvPr>
            <p:ph idx="1"/>
          </p:nvPr>
        </p:nvSpPr>
        <p:spPr/>
        <p:txBody>
          <a:bodyPr/>
          <a:lstStyle/>
          <a:p>
            <a:r>
              <a:rPr lang="en-US" altLang="en-US" smtClean="0"/>
              <a:t>Long run</a:t>
            </a:r>
          </a:p>
          <a:p>
            <a:pPr lvl="1"/>
            <a:r>
              <a:rPr lang="en-US" altLang="en-US" smtClean="0"/>
              <a:t>A firm may adapt all of its inputs to fit market conditions</a:t>
            </a:r>
          </a:p>
          <a:p>
            <a:pPr lvl="1"/>
            <a:r>
              <a:rPr lang="en-US" altLang="en-US" smtClean="0"/>
              <a:t>Profit-maximization for a price-taking firm:</a:t>
            </a:r>
          </a:p>
          <a:p>
            <a:pPr lvl="2"/>
            <a:r>
              <a:rPr lang="en-US" altLang="en-US" smtClean="0"/>
              <a:t>Price is equal to long-run </a:t>
            </a:r>
            <a:r>
              <a:rPr lang="en-US" altLang="en-US" i="1" smtClean="0"/>
              <a:t>MC</a:t>
            </a:r>
            <a:endParaRPr lang="en-US" altLang="en-US" smtClean="0"/>
          </a:p>
          <a:p>
            <a:pPr lvl="1"/>
            <a:r>
              <a:rPr lang="en-US" altLang="en-US" smtClean="0"/>
              <a:t>Firms can also enter and exit an industry</a:t>
            </a:r>
          </a:p>
          <a:p>
            <a:pPr lvl="1"/>
            <a:r>
              <a:rPr lang="en-US" altLang="en-US" smtClean="0"/>
              <a:t>Perfect competition: there are no special costs of entering or exiting an industry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7323570-1CFE-4BE5-A6E5-9AC8B2682BE2}" type="slidenum">
              <a:rPr lang="en-US" smtClean="0"/>
              <a:pPr>
                <a:defRPr/>
              </a:pPr>
              <a:t>36</a:t>
            </a:fld>
            <a:endParaRPr lang="en-US"/>
          </a:p>
        </p:txBody>
      </p:sp>
    </p:spTree>
    <p:extLst>
      <p:ext uri="{BB962C8B-B14F-4D97-AF65-F5344CB8AC3E}">
        <p14:creationId xmlns:p14="http://schemas.microsoft.com/office/powerpoint/2010/main" val="114556197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ltLang="en-US" smtClean="0"/>
              <a:t>Long-Run Analysis</a:t>
            </a:r>
          </a:p>
        </p:txBody>
      </p:sp>
      <p:sp>
        <p:nvSpPr>
          <p:cNvPr id="52227" name="Rectangle 3"/>
          <p:cNvSpPr>
            <a:spLocks noGrp="1" noChangeArrowheads="1"/>
          </p:cNvSpPr>
          <p:nvPr>
            <p:ph idx="1"/>
          </p:nvPr>
        </p:nvSpPr>
        <p:spPr/>
        <p:txBody>
          <a:bodyPr/>
          <a:lstStyle/>
          <a:p>
            <a:r>
              <a:rPr lang="en-US" altLang="en-US" smtClean="0"/>
              <a:t>New firms will be lured into any market </a:t>
            </a:r>
          </a:p>
          <a:p>
            <a:pPr lvl="1"/>
            <a:r>
              <a:rPr lang="en-US" altLang="en-US" smtClean="0"/>
              <a:t>Where economic profits are &gt; 0</a:t>
            </a:r>
          </a:p>
          <a:p>
            <a:pPr lvl="2"/>
            <a:r>
              <a:rPr lang="en-US" altLang="en-US" smtClean="0"/>
              <a:t>The short-run industry supply curve will shift outward</a:t>
            </a:r>
          </a:p>
          <a:p>
            <a:pPr lvl="2"/>
            <a:r>
              <a:rPr lang="en-US" altLang="en-US" smtClean="0"/>
              <a:t>Market price and profits will fall</a:t>
            </a:r>
          </a:p>
          <a:p>
            <a:pPr lvl="2"/>
            <a:r>
              <a:rPr lang="en-US" altLang="en-US" smtClean="0"/>
              <a:t>The process will continue until economic profits are zero</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10DE2F9-C294-4296-B282-026C7D294C71}" type="slidenum">
              <a:rPr lang="en-US" smtClean="0"/>
              <a:pPr>
                <a:defRPr/>
              </a:pPr>
              <a:t>37</a:t>
            </a:fld>
            <a:endParaRPr lang="en-US"/>
          </a:p>
        </p:txBody>
      </p:sp>
    </p:spTree>
    <p:extLst>
      <p:ext uri="{BB962C8B-B14F-4D97-AF65-F5344CB8AC3E}">
        <p14:creationId xmlns:p14="http://schemas.microsoft.com/office/powerpoint/2010/main" val="250971077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ltLang="en-US" smtClean="0"/>
              <a:t>Long-Run Analysis</a:t>
            </a:r>
          </a:p>
        </p:txBody>
      </p:sp>
      <p:sp>
        <p:nvSpPr>
          <p:cNvPr id="53251" name="Rectangle 3"/>
          <p:cNvSpPr>
            <a:spLocks noGrp="1" noChangeArrowheads="1"/>
          </p:cNvSpPr>
          <p:nvPr>
            <p:ph idx="1"/>
          </p:nvPr>
        </p:nvSpPr>
        <p:spPr/>
        <p:txBody>
          <a:bodyPr/>
          <a:lstStyle/>
          <a:p>
            <a:r>
              <a:rPr lang="en-US" altLang="en-US" smtClean="0"/>
              <a:t>Existing firms will leave any industry</a:t>
            </a:r>
          </a:p>
          <a:p>
            <a:pPr lvl="1"/>
            <a:r>
              <a:rPr lang="en-US" altLang="en-US" smtClean="0"/>
              <a:t>Where economic profits are negative</a:t>
            </a:r>
          </a:p>
          <a:p>
            <a:pPr lvl="2"/>
            <a:r>
              <a:rPr lang="en-US" altLang="en-US" smtClean="0"/>
              <a:t>The short-run industry supply curve will shift inward</a:t>
            </a:r>
          </a:p>
          <a:p>
            <a:pPr lvl="2"/>
            <a:r>
              <a:rPr lang="en-US" altLang="en-US" smtClean="0"/>
              <a:t>Market price will rise and losses will fall</a:t>
            </a:r>
          </a:p>
          <a:p>
            <a:pPr lvl="2"/>
            <a:r>
              <a:rPr lang="en-US" altLang="en-US" smtClean="0"/>
              <a:t>The process will continue until economic profits are zero</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D3936A5-C28B-4B6F-B24A-FEC1B14168F1}" type="slidenum">
              <a:rPr lang="en-US" smtClean="0"/>
              <a:pPr>
                <a:defRPr/>
              </a:pPr>
              <a:t>38</a:t>
            </a:fld>
            <a:endParaRPr lang="en-US"/>
          </a:p>
        </p:txBody>
      </p:sp>
    </p:spTree>
    <p:extLst>
      <p:ext uri="{BB962C8B-B14F-4D97-AF65-F5344CB8AC3E}">
        <p14:creationId xmlns:p14="http://schemas.microsoft.com/office/powerpoint/2010/main" val="199167761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a:lnSpc>
                <a:spcPct val="90000"/>
              </a:lnSpc>
            </a:pPr>
            <a:r>
              <a:rPr lang="en-US" altLang="en-US" smtClean="0"/>
              <a:t>Long-Run Competitive Equilibrium</a:t>
            </a:r>
          </a:p>
        </p:txBody>
      </p:sp>
      <p:sp>
        <p:nvSpPr>
          <p:cNvPr id="54275" name="Rectangle 3"/>
          <p:cNvSpPr>
            <a:spLocks noGrp="1" noChangeArrowheads="1"/>
          </p:cNvSpPr>
          <p:nvPr>
            <p:ph idx="1"/>
          </p:nvPr>
        </p:nvSpPr>
        <p:spPr/>
        <p:txBody>
          <a:bodyPr/>
          <a:lstStyle/>
          <a:p>
            <a:r>
              <a:rPr lang="en-US" altLang="en-US" smtClean="0"/>
              <a:t>Assumptions</a:t>
            </a:r>
          </a:p>
          <a:p>
            <a:pPr lvl="1"/>
            <a:r>
              <a:rPr lang="en-US" altLang="en-US" smtClean="0"/>
              <a:t>All firms in an industry have identical cost curves</a:t>
            </a:r>
          </a:p>
          <a:p>
            <a:pPr lvl="2"/>
            <a:r>
              <a:rPr lang="en-US" altLang="en-US" smtClean="0"/>
              <a:t>No firm controls any special resources or technology</a:t>
            </a:r>
          </a:p>
          <a:p>
            <a:pPr lvl="1"/>
            <a:r>
              <a:rPr lang="en-US" altLang="en-US" smtClean="0"/>
              <a:t>The equilibrium long-run position requires that each firm earn zero economic profit</a:t>
            </a:r>
          </a:p>
          <a:p>
            <a:pPr lvl="2"/>
            <a:r>
              <a:rPr lang="en-US" altLang="en-US" i="1" smtClean="0"/>
              <a:t>P = MC </a:t>
            </a:r>
            <a:r>
              <a:rPr lang="en-US" altLang="en-US" smtClean="0"/>
              <a:t>(profit maximization)</a:t>
            </a:r>
          </a:p>
          <a:p>
            <a:pPr lvl="2"/>
            <a:r>
              <a:rPr lang="en-US" altLang="en-US" i="1" smtClean="0"/>
              <a:t>P = AC </a:t>
            </a:r>
            <a:r>
              <a:rPr lang="en-US" altLang="en-US" smtClean="0"/>
              <a:t>(zero profit)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4F03B34-CC5E-4A27-9561-C7D0A6811002}" type="slidenum">
              <a:rPr lang="en-US" smtClean="0"/>
              <a:pPr>
                <a:defRPr/>
              </a:pPr>
              <a:t>39</a:t>
            </a:fld>
            <a:endParaRPr lang="en-US"/>
          </a:p>
        </p:txBody>
      </p:sp>
    </p:spTree>
    <p:extLst>
      <p:ext uri="{BB962C8B-B14F-4D97-AF65-F5344CB8AC3E}">
        <p14:creationId xmlns:p14="http://schemas.microsoft.com/office/powerpoint/2010/main" val="330928541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a:lnSpc>
                <a:spcPct val="90000"/>
              </a:lnSpc>
            </a:pPr>
            <a:r>
              <a:rPr lang="en-US" altLang="en-US" smtClean="0"/>
              <a:t>Long-Run Competitive Equilibrium</a:t>
            </a:r>
          </a:p>
        </p:txBody>
      </p:sp>
      <p:sp>
        <p:nvSpPr>
          <p:cNvPr id="55299" name="Rectangle 3"/>
          <p:cNvSpPr>
            <a:spLocks noGrp="1" noChangeArrowheads="1"/>
          </p:cNvSpPr>
          <p:nvPr>
            <p:ph idx="1"/>
          </p:nvPr>
        </p:nvSpPr>
        <p:spPr/>
        <p:txBody>
          <a:bodyPr/>
          <a:lstStyle/>
          <a:p>
            <a:r>
              <a:rPr lang="en-US" altLang="en-US" smtClean="0"/>
              <a:t>A perfectly competitive industry is in long-run equilibrium </a:t>
            </a:r>
          </a:p>
          <a:p>
            <a:pPr lvl="1"/>
            <a:r>
              <a:rPr lang="en-US" altLang="en-US" smtClean="0"/>
              <a:t>If there are no incentives for profit-maximizing firms to enter or to leave the industry</a:t>
            </a:r>
          </a:p>
          <a:p>
            <a:pPr lvl="1"/>
            <a:r>
              <a:rPr lang="en-US" altLang="en-US" smtClean="0"/>
              <a:t>When the number of firms is such that </a:t>
            </a:r>
          </a:p>
          <a:p>
            <a:pPr lvl="2"/>
            <a:r>
              <a:rPr lang="en-US" altLang="en-US" i="1" smtClean="0"/>
              <a:t>P = MC = AC</a:t>
            </a:r>
            <a:r>
              <a:rPr lang="en-US" altLang="en-US" smtClean="0"/>
              <a:t> </a:t>
            </a:r>
          </a:p>
          <a:p>
            <a:pPr lvl="2"/>
            <a:r>
              <a:rPr lang="en-US" altLang="en-US" smtClean="0"/>
              <a:t>And each firm operates at minimum </a:t>
            </a:r>
            <a:r>
              <a:rPr lang="en-US" altLang="en-US" i="1" smtClean="0"/>
              <a:t>AC</a:t>
            </a:r>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E03BFE8-1710-4FC3-AC21-3D17FFB33B59}" type="slidenum">
              <a:rPr lang="en-US" smtClean="0"/>
              <a:pPr>
                <a:defRPr/>
              </a:pPr>
              <a:t>40</a:t>
            </a:fld>
            <a:endParaRPr lang="en-US"/>
          </a:p>
        </p:txBody>
      </p:sp>
    </p:spTree>
    <p:extLst>
      <p:ext uri="{BB962C8B-B14F-4D97-AF65-F5344CB8AC3E}">
        <p14:creationId xmlns:p14="http://schemas.microsoft.com/office/powerpoint/2010/main" val="154173800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a:lnSpc>
                <a:spcPct val="90000"/>
              </a:lnSpc>
            </a:pPr>
            <a:r>
              <a:rPr lang="en-US" altLang="en-US" sz="3600" dirty="0" smtClean="0"/>
              <a:t>Long-Run Equilibrium: Constant-Cost Case</a:t>
            </a:r>
          </a:p>
        </p:txBody>
      </p:sp>
      <p:sp>
        <p:nvSpPr>
          <p:cNvPr id="56323" name="Rectangle 3"/>
          <p:cNvSpPr>
            <a:spLocks noGrp="1" noChangeArrowheads="1"/>
          </p:cNvSpPr>
          <p:nvPr>
            <p:ph idx="1"/>
          </p:nvPr>
        </p:nvSpPr>
        <p:spPr/>
        <p:txBody>
          <a:bodyPr/>
          <a:lstStyle/>
          <a:p>
            <a:r>
              <a:rPr lang="en-US" altLang="en-US" smtClean="0"/>
              <a:t>Constant-cost industry</a:t>
            </a:r>
          </a:p>
          <a:p>
            <a:pPr lvl="1"/>
            <a:r>
              <a:rPr lang="en-US" altLang="en-US" smtClean="0"/>
              <a:t>The entry of new firms in an industry has no effect on the cost of inputs</a:t>
            </a:r>
          </a:p>
          <a:p>
            <a:pPr lvl="2"/>
            <a:r>
              <a:rPr lang="en-US" altLang="en-US" smtClean="0"/>
              <a:t>No matter how many firms enter or leave an industry, a firm’s cost curves will remain unchanged</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BF3D7C0-5420-4D04-AA32-C2753692CE69}" type="slidenum">
              <a:rPr lang="en-US" smtClean="0"/>
              <a:pPr>
                <a:defRPr/>
              </a:pPr>
              <a:t>41</a:t>
            </a:fld>
            <a:endParaRPr lang="en-US"/>
          </a:p>
        </p:txBody>
      </p:sp>
    </p:spTree>
    <p:extLst>
      <p:ext uri="{BB962C8B-B14F-4D97-AF65-F5344CB8AC3E}">
        <p14:creationId xmlns:p14="http://schemas.microsoft.com/office/powerpoint/2010/main" val="308984733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bwMode="auto">
          <a:xfrm>
            <a:off x="1143000" y="0"/>
            <a:ext cx="8001000" cy="10096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12.7	Long-Run Equilibrium for a Perfectly </a:t>
            </a:r>
            <a:r>
              <a:rPr lang="en-US" altLang="en-US" dirty="0" smtClean="0"/>
              <a:t/>
            </a:r>
            <a:br>
              <a:rPr lang="en-US" altLang="en-US" dirty="0" smtClean="0"/>
            </a:br>
            <a:r>
              <a:rPr lang="en-US" altLang="en-US" dirty="0"/>
              <a:t>	</a:t>
            </a:r>
            <a:r>
              <a:rPr lang="en-US" altLang="en-US" dirty="0" smtClean="0">
                <a:solidFill>
                  <a:srgbClr val="002D56"/>
                </a:solidFill>
              </a:rPr>
              <a:t>Competitive </a:t>
            </a:r>
            <a:r>
              <a:rPr lang="en-US" altLang="en-US" dirty="0">
                <a:solidFill>
                  <a:srgbClr val="002D56"/>
                </a:solidFill>
              </a:rPr>
              <a:t>Industry: Constant Cost </a:t>
            </a:r>
            <a:r>
              <a:rPr lang="en-US" altLang="en-US" dirty="0" smtClean="0">
                <a:solidFill>
                  <a:srgbClr val="002D56"/>
                </a:solidFill>
              </a:rPr>
              <a:t>Case</a:t>
            </a:r>
            <a:endParaRPr lang="en-US" altLang="en-US" dirty="0" smtClean="0">
              <a:solidFill>
                <a:srgbClr val="002D56"/>
              </a:solidFill>
            </a:endParaRPr>
          </a:p>
        </p:txBody>
      </p:sp>
      <p:sp>
        <p:nvSpPr>
          <p:cNvPr id="57347" name="Text Placeholder 2"/>
          <p:cNvSpPr>
            <a:spLocks noGrp="1"/>
          </p:cNvSpPr>
          <p:nvPr>
            <p:ph sz="half" idx="1"/>
          </p:nvPr>
        </p:nvSpPr>
        <p:spPr>
          <a:xfrm>
            <a:off x="0" y="4729520"/>
            <a:ext cx="9144000" cy="1976080"/>
          </a:xfrm>
        </p:spPr>
        <p:txBody>
          <a:bodyPr>
            <a:noAutofit/>
          </a:bodyPr>
          <a:lstStyle/>
          <a:p>
            <a:pPr>
              <a:spcBef>
                <a:spcPct val="0"/>
              </a:spcBef>
            </a:pPr>
            <a:r>
              <a:rPr lang="en-US" altLang="en-US" sz="1700" dirty="0"/>
              <a:t>An increase in demand from D to D’ will cause price to increase from P</a:t>
            </a:r>
            <a:r>
              <a:rPr lang="en-US" altLang="en-US" sz="1700" baseline="-25000" dirty="0"/>
              <a:t>1</a:t>
            </a:r>
            <a:r>
              <a:rPr lang="en-US" altLang="en-US" sz="1700" dirty="0"/>
              <a:t> to P</a:t>
            </a:r>
            <a:r>
              <a:rPr lang="en-US" altLang="en-US" sz="1700" baseline="-25000" dirty="0"/>
              <a:t>2</a:t>
            </a:r>
            <a:r>
              <a:rPr lang="en-US" altLang="en-US" sz="1700" dirty="0"/>
              <a:t> in the short run. </a:t>
            </a:r>
            <a:endParaRPr lang="en-US" altLang="en-US" sz="1700" dirty="0" smtClean="0"/>
          </a:p>
          <a:p>
            <a:pPr>
              <a:spcBef>
                <a:spcPct val="0"/>
              </a:spcBef>
            </a:pPr>
            <a:r>
              <a:rPr lang="en-US" altLang="en-US" sz="1700" dirty="0" smtClean="0"/>
              <a:t>This </a:t>
            </a:r>
            <a:r>
              <a:rPr lang="en-US" altLang="en-US" sz="1700" dirty="0"/>
              <a:t>higher price will create profits in the industry, and new firms will be drawn into the market. If it is assumed that the entry of these new firms has no effect on the cost curves of the firms in the industry, then new firms will continue to enter until price is pushed back down to P</a:t>
            </a:r>
            <a:r>
              <a:rPr lang="en-US" altLang="en-US" sz="1700" baseline="-25000" dirty="0"/>
              <a:t>1</a:t>
            </a:r>
            <a:r>
              <a:rPr lang="en-US" altLang="en-US" sz="1700" dirty="0"/>
              <a:t>. </a:t>
            </a:r>
            <a:endParaRPr lang="en-US" altLang="en-US" sz="1700" dirty="0" smtClean="0"/>
          </a:p>
          <a:p>
            <a:pPr>
              <a:spcBef>
                <a:spcPct val="0"/>
              </a:spcBef>
            </a:pPr>
            <a:r>
              <a:rPr lang="en-US" altLang="en-US" sz="1700" dirty="0" smtClean="0"/>
              <a:t>At </a:t>
            </a:r>
            <a:r>
              <a:rPr lang="en-US" altLang="en-US" sz="1700" dirty="0"/>
              <a:t>this price, economic profits are zero. Therefore, the long-run supply curve (LS) will be a horizontal line at P</a:t>
            </a:r>
            <a:r>
              <a:rPr lang="en-US" altLang="en-US" sz="1700" baseline="-25000" dirty="0"/>
              <a:t>1</a:t>
            </a:r>
            <a:r>
              <a:rPr lang="en-US" altLang="en-US" sz="1700" dirty="0"/>
              <a:t>. Along LS, output is increased by increasing the number of firms, each producing q</a:t>
            </a:r>
            <a:r>
              <a:rPr lang="en-US" altLang="en-US" sz="1700" baseline="-25000" dirty="0"/>
              <a:t>1</a:t>
            </a:r>
            <a:r>
              <a:rPr lang="en-US" altLang="en-US" sz="1700" dirty="0" smtClean="0"/>
              <a:t>.</a:t>
            </a:r>
            <a:endParaRPr lang="en-US" altLang="en-US" sz="1700" dirty="0"/>
          </a:p>
        </p:txBody>
      </p:sp>
      <p:sp>
        <p:nvSpPr>
          <p:cNvPr id="57350"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0F857007-4C75-4196-B6D9-2C50B4D69EDF}" type="slidenum">
              <a:rPr lang="en-US" smtClean="0"/>
              <a:pPr>
                <a:defRPr/>
              </a:pPr>
              <a:t>42</a:t>
            </a:fld>
            <a:endParaRPr lang="en-US" dirty="0"/>
          </a:p>
        </p:txBody>
      </p:sp>
      <p:grpSp>
        <p:nvGrpSpPr>
          <p:cNvPr id="35" name="Group 45"/>
          <p:cNvGrpSpPr>
            <a:grpSpLocks/>
          </p:cNvGrpSpPr>
          <p:nvPr/>
        </p:nvGrpSpPr>
        <p:grpSpPr bwMode="auto">
          <a:xfrm>
            <a:off x="914400" y="1112867"/>
            <a:ext cx="1905000" cy="2778125"/>
            <a:chOff x="914400" y="1508379"/>
            <a:chExt cx="1905000" cy="2778125"/>
          </a:xfrm>
        </p:grpSpPr>
        <p:sp>
          <p:nvSpPr>
            <p:cNvPr id="57420" name="Freeform 14"/>
            <p:cNvSpPr>
              <a:spLocks/>
            </p:cNvSpPr>
            <p:nvPr/>
          </p:nvSpPr>
          <p:spPr bwMode="auto">
            <a:xfrm>
              <a:off x="914400" y="1619504"/>
              <a:ext cx="1905000" cy="2667000"/>
            </a:xfrm>
            <a:custGeom>
              <a:avLst/>
              <a:gdLst>
                <a:gd name="T0" fmla="*/ 0 w 1200"/>
                <a:gd name="T1" fmla="*/ 1680 h 1680"/>
                <a:gd name="T2" fmla="*/ 768 w 1200"/>
                <a:gd name="T3" fmla="*/ 1104 h 1680"/>
                <a:gd name="T4" fmla="*/ 1200 w 1200"/>
                <a:gd name="T5" fmla="*/ 0 h 1680"/>
                <a:gd name="T6" fmla="*/ 0 60000 65536"/>
                <a:gd name="T7" fmla="*/ 0 60000 65536"/>
                <a:gd name="T8" fmla="*/ 0 60000 65536"/>
                <a:gd name="T9" fmla="*/ 0 w 1200"/>
                <a:gd name="T10" fmla="*/ 0 h 1680"/>
                <a:gd name="T11" fmla="*/ 1200 w 1200"/>
                <a:gd name="T12" fmla="*/ 1680 h 1680"/>
              </a:gdLst>
              <a:ahLst/>
              <a:cxnLst>
                <a:cxn ang="T6">
                  <a:pos x="T0" y="T1"/>
                </a:cxn>
                <a:cxn ang="T7">
                  <a:pos x="T2" y="T3"/>
                </a:cxn>
                <a:cxn ang="T8">
                  <a:pos x="T4" y="T5"/>
                </a:cxn>
              </a:cxnLst>
              <a:rect l="T9" t="T10" r="T11" b="T12"/>
              <a:pathLst>
                <a:path w="1200" h="1680">
                  <a:moveTo>
                    <a:pt x="0" y="1680"/>
                  </a:moveTo>
                  <a:cubicBezTo>
                    <a:pt x="284" y="1532"/>
                    <a:pt x="568" y="1384"/>
                    <a:pt x="768" y="1104"/>
                  </a:cubicBezTo>
                  <a:cubicBezTo>
                    <a:pt x="968" y="824"/>
                    <a:pt x="1084" y="412"/>
                    <a:pt x="1200" y="0"/>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7421" name="Text Box 15"/>
            <p:cNvSpPr txBox="1">
              <a:spLocks noChangeArrowheads="1"/>
            </p:cNvSpPr>
            <p:nvPr/>
          </p:nvSpPr>
          <p:spPr bwMode="auto">
            <a:xfrm>
              <a:off x="2114550" y="1508379"/>
              <a:ext cx="635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dirty="0">
                  <a:solidFill>
                    <a:srgbClr val="5D0D8F"/>
                  </a:solidFill>
                </a:rPr>
                <a:t>SMC</a:t>
              </a:r>
            </a:p>
          </p:txBody>
        </p:sp>
      </p:grpSp>
      <p:grpSp>
        <p:nvGrpSpPr>
          <p:cNvPr id="42" name="Group 46"/>
          <p:cNvGrpSpPr>
            <a:grpSpLocks/>
          </p:cNvGrpSpPr>
          <p:nvPr/>
        </p:nvGrpSpPr>
        <p:grpSpPr bwMode="auto">
          <a:xfrm>
            <a:off x="854075" y="969818"/>
            <a:ext cx="3227386" cy="2673524"/>
            <a:chOff x="854064" y="1365268"/>
            <a:chExt cx="3227398" cy="2672804"/>
          </a:xfrm>
        </p:grpSpPr>
        <p:sp>
          <p:nvSpPr>
            <p:cNvPr id="57418" name="Freeform 12"/>
            <p:cNvSpPr>
              <a:spLocks/>
            </p:cNvSpPr>
            <p:nvPr/>
          </p:nvSpPr>
          <p:spPr bwMode="auto">
            <a:xfrm>
              <a:off x="854064" y="1467104"/>
              <a:ext cx="2727335" cy="2570968"/>
            </a:xfrm>
            <a:custGeom>
              <a:avLst/>
              <a:gdLst>
                <a:gd name="T0" fmla="*/ 0 w 10000"/>
                <a:gd name="T1" fmla="*/ 2399858 h 10713"/>
                <a:gd name="T2" fmla="*/ 1813132 w 10000"/>
                <a:gd name="T3" fmla="*/ 1599985 h 10713"/>
                <a:gd name="T4" fmla="*/ 2727335 w 10000"/>
                <a:gd name="T5" fmla="*/ 0 h 10713"/>
                <a:gd name="T6" fmla="*/ 0 60000 65536"/>
                <a:gd name="T7" fmla="*/ 0 60000 65536"/>
                <a:gd name="T8" fmla="*/ 0 60000 65536"/>
              </a:gdLst>
              <a:ahLst/>
              <a:cxnLst>
                <a:cxn ang="T6">
                  <a:pos x="T0" y="T1"/>
                </a:cxn>
                <a:cxn ang="T7">
                  <a:pos x="T2" y="T3"/>
                </a:cxn>
                <a:cxn ang="T8">
                  <a:pos x="T4" y="T5"/>
                </a:cxn>
              </a:cxnLst>
              <a:rect l="0" t="0" r="r" b="b"/>
              <a:pathLst>
                <a:path w="10000" h="10713">
                  <a:moveTo>
                    <a:pt x="0" y="10000"/>
                  </a:moveTo>
                  <a:cubicBezTo>
                    <a:pt x="2032" y="10713"/>
                    <a:pt x="4981" y="8334"/>
                    <a:pt x="6648" y="6667"/>
                  </a:cubicBezTo>
                  <a:cubicBezTo>
                    <a:pt x="8314" y="5001"/>
                    <a:pt x="9116" y="2434"/>
                    <a:pt x="10000" y="0"/>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7419" name="Text Box 16"/>
            <p:cNvSpPr txBox="1">
              <a:spLocks noChangeArrowheads="1"/>
            </p:cNvSpPr>
            <p:nvPr/>
          </p:nvSpPr>
          <p:spPr bwMode="auto">
            <a:xfrm>
              <a:off x="3581399" y="1365268"/>
              <a:ext cx="5000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dirty="0">
                  <a:solidFill>
                    <a:srgbClr val="177B21"/>
                  </a:solidFill>
                </a:rPr>
                <a:t>MC</a:t>
              </a:r>
            </a:p>
          </p:txBody>
        </p:sp>
      </p:grpSp>
      <p:grpSp>
        <p:nvGrpSpPr>
          <p:cNvPr id="43" name="Group 47"/>
          <p:cNvGrpSpPr>
            <a:grpSpLocks/>
          </p:cNvGrpSpPr>
          <p:nvPr/>
        </p:nvGrpSpPr>
        <p:grpSpPr bwMode="auto">
          <a:xfrm>
            <a:off x="838200" y="1730405"/>
            <a:ext cx="3448050" cy="1525587"/>
            <a:chOff x="838200" y="2125917"/>
            <a:chExt cx="3448050" cy="1525587"/>
          </a:xfrm>
        </p:grpSpPr>
        <p:sp>
          <p:nvSpPr>
            <p:cNvPr id="57416" name="Freeform 13"/>
            <p:cNvSpPr>
              <a:spLocks/>
            </p:cNvSpPr>
            <p:nvPr/>
          </p:nvSpPr>
          <p:spPr bwMode="auto">
            <a:xfrm>
              <a:off x="838200" y="2457704"/>
              <a:ext cx="3048000" cy="1193800"/>
            </a:xfrm>
            <a:custGeom>
              <a:avLst/>
              <a:gdLst>
                <a:gd name="T0" fmla="*/ 0 w 1920"/>
                <a:gd name="T1" fmla="*/ 192 h 752"/>
                <a:gd name="T2" fmla="*/ 720 w 1920"/>
                <a:gd name="T3" fmla="*/ 720 h 752"/>
                <a:gd name="T4" fmla="*/ 1920 w 1920"/>
                <a:gd name="T5" fmla="*/ 0 h 752"/>
                <a:gd name="T6" fmla="*/ 0 60000 65536"/>
                <a:gd name="T7" fmla="*/ 0 60000 65536"/>
                <a:gd name="T8" fmla="*/ 0 60000 65536"/>
                <a:gd name="T9" fmla="*/ 0 w 1920"/>
                <a:gd name="T10" fmla="*/ 0 h 752"/>
                <a:gd name="T11" fmla="*/ 1920 w 1920"/>
                <a:gd name="T12" fmla="*/ 752 h 752"/>
              </a:gdLst>
              <a:ahLst/>
              <a:cxnLst>
                <a:cxn ang="T6">
                  <a:pos x="T0" y="T1"/>
                </a:cxn>
                <a:cxn ang="T7">
                  <a:pos x="T2" y="T3"/>
                </a:cxn>
                <a:cxn ang="T8">
                  <a:pos x="T4" y="T5"/>
                </a:cxn>
              </a:cxnLst>
              <a:rect l="T9" t="T10" r="T11" b="T12"/>
              <a:pathLst>
                <a:path w="1920" h="752">
                  <a:moveTo>
                    <a:pt x="0" y="192"/>
                  </a:moveTo>
                  <a:cubicBezTo>
                    <a:pt x="200" y="472"/>
                    <a:pt x="400" y="752"/>
                    <a:pt x="720" y="720"/>
                  </a:cubicBezTo>
                  <a:cubicBezTo>
                    <a:pt x="1040" y="688"/>
                    <a:pt x="1720" y="120"/>
                    <a:pt x="1920" y="0"/>
                  </a:cubicBezTo>
                </a:path>
              </a:pathLst>
            </a:custGeom>
            <a:noFill/>
            <a:ln w="28575" cap="flat" cmpd="sng">
              <a:solidFill>
                <a:srgbClr val="0D7D65"/>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7417" name="Text Box 17"/>
            <p:cNvSpPr txBox="1">
              <a:spLocks noChangeArrowheads="1"/>
            </p:cNvSpPr>
            <p:nvPr/>
          </p:nvSpPr>
          <p:spPr bwMode="auto">
            <a:xfrm>
              <a:off x="3810000" y="2125917"/>
              <a:ext cx="4762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0D7D65"/>
                  </a:solidFill>
                </a:rPr>
                <a:t>AC</a:t>
              </a:r>
            </a:p>
          </p:txBody>
        </p:sp>
      </p:grpSp>
      <p:grpSp>
        <p:nvGrpSpPr>
          <p:cNvPr id="44" name="Group 48"/>
          <p:cNvGrpSpPr>
            <a:grpSpLocks/>
          </p:cNvGrpSpPr>
          <p:nvPr/>
        </p:nvGrpSpPr>
        <p:grpSpPr bwMode="auto">
          <a:xfrm>
            <a:off x="5562600" y="1044605"/>
            <a:ext cx="1919288" cy="2770187"/>
            <a:chOff x="5562600" y="1440117"/>
            <a:chExt cx="1919288" cy="2770187"/>
          </a:xfrm>
        </p:grpSpPr>
        <p:sp>
          <p:nvSpPr>
            <p:cNvPr id="57414" name="Freeform 20"/>
            <p:cNvSpPr>
              <a:spLocks/>
            </p:cNvSpPr>
            <p:nvPr/>
          </p:nvSpPr>
          <p:spPr bwMode="auto">
            <a:xfrm>
              <a:off x="5562600" y="1771904"/>
              <a:ext cx="1828800" cy="2438400"/>
            </a:xfrm>
            <a:custGeom>
              <a:avLst/>
              <a:gdLst>
                <a:gd name="T0" fmla="*/ 0 w 1152"/>
                <a:gd name="T1" fmla="*/ 1536 h 1536"/>
                <a:gd name="T2" fmla="*/ 624 w 1152"/>
                <a:gd name="T3" fmla="*/ 1104 h 1536"/>
                <a:gd name="T4" fmla="*/ 1152 w 1152"/>
                <a:gd name="T5" fmla="*/ 0 h 1536"/>
                <a:gd name="T6" fmla="*/ 0 60000 65536"/>
                <a:gd name="T7" fmla="*/ 0 60000 65536"/>
                <a:gd name="T8" fmla="*/ 0 60000 65536"/>
                <a:gd name="T9" fmla="*/ 0 w 1152"/>
                <a:gd name="T10" fmla="*/ 0 h 1536"/>
                <a:gd name="T11" fmla="*/ 1152 w 1152"/>
                <a:gd name="T12" fmla="*/ 1536 h 1536"/>
              </a:gdLst>
              <a:ahLst/>
              <a:cxnLst>
                <a:cxn ang="T6">
                  <a:pos x="T0" y="T1"/>
                </a:cxn>
                <a:cxn ang="T7">
                  <a:pos x="T2" y="T3"/>
                </a:cxn>
                <a:cxn ang="T8">
                  <a:pos x="T4" y="T5"/>
                </a:cxn>
              </a:cxnLst>
              <a:rect l="T9" t="T10" r="T11" b="T12"/>
              <a:pathLst>
                <a:path w="1152" h="1536">
                  <a:moveTo>
                    <a:pt x="0" y="1536"/>
                  </a:moveTo>
                  <a:cubicBezTo>
                    <a:pt x="216" y="1448"/>
                    <a:pt x="432" y="1360"/>
                    <a:pt x="624" y="1104"/>
                  </a:cubicBezTo>
                  <a:cubicBezTo>
                    <a:pt x="816" y="848"/>
                    <a:pt x="1064" y="184"/>
                    <a:pt x="1152" y="0"/>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7415" name="Text Box 21"/>
            <p:cNvSpPr txBox="1">
              <a:spLocks noChangeArrowheads="1"/>
            </p:cNvSpPr>
            <p:nvPr/>
          </p:nvSpPr>
          <p:spPr bwMode="auto">
            <a:xfrm>
              <a:off x="7162800" y="1440117"/>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5D0D8F"/>
                  </a:solidFill>
                </a:rPr>
                <a:t>S</a:t>
              </a:r>
            </a:p>
          </p:txBody>
        </p:sp>
      </p:grpSp>
      <p:grpSp>
        <p:nvGrpSpPr>
          <p:cNvPr id="45" name="Group 51"/>
          <p:cNvGrpSpPr>
            <a:grpSpLocks/>
          </p:cNvGrpSpPr>
          <p:nvPr/>
        </p:nvGrpSpPr>
        <p:grpSpPr bwMode="auto">
          <a:xfrm>
            <a:off x="5486400" y="1528792"/>
            <a:ext cx="2109788" cy="2566988"/>
            <a:chOff x="5486400" y="1924304"/>
            <a:chExt cx="2110232" cy="2566607"/>
          </a:xfrm>
        </p:grpSpPr>
        <p:sp>
          <p:nvSpPr>
            <p:cNvPr id="57412" name="Freeform 19"/>
            <p:cNvSpPr>
              <a:spLocks/>
            </p:cNvSpPr>
            <p:nvPr/>
          </p:nvSpPr>
          <p:spPr bwMode="auto">
            <a:xfrm>
              <a:off x="5486400" y="1924304"/>
              <a:ext cx="1752600" cy="2286000"/>
            </a:xfrm>
            <a:custGeom>
              <a:avLst/>
              <a:gdLst>
                <a:gd name="T0" fmla="*/ 0 w 1104"/>
                <a:gd name="T1" fmla="*/ 0 h 1440"/>
                <a:gd name="T2" fmla="*/ 384 w 1104"/>
                <a:gd name="T3" fmla="*/ 816 h 1440"/>
                <a:gd name="T4" fmla="*/ 1104 w 1104"/>
                <a:gd name="T5" fmla="*/ 1440 h 1440"/>
                <a:gd name="T6" fmla="*/ 0 60000 65536"/>
                <a:gd name="T7" fmla="*/ 0 60000 65536"/>
                <a:gd name="T8" fmla="*/ 0 60000 65536"/>
                <a:gd name="T9" fmla="*/ 0 w 1104"/>
                <a:gd name="T10" fmla="*/ 0 h 1440"/>
                <a:gd name="T11" fmla="*/ 1104 w 1104"/>
                <a:gd name="T12" fmla="*/ 1440 h 1440"/>
              </a:gdLst>
              <a:ahLst/>
              <a:cxnLst>
                <a:cxn ang="T6">
                  <a:pos x="T0" y="T1"/>
                </a:cxn>
                <a:cxn ang="T7">
                  <a:pos x="T2" y="T3"/>
                </a:cxn>
                <a:cxn ang="T8">
                  <a:pos x="T4" y="T5"/>
                </a:cxn>
              </a:cxnLst>
              <a:rect l="T9" t="T10" r="T11" b="T12"/>
              <a:pathLst>
                <a:path w="1104" h="1440">
                  <a:moveTo>
                    <a:pt x="0" y="0"/>
                  </a:moveTo>
                  <a:cubicBezTo>
                    <a:pt x="100" y="288"/>
                    <a:pt x="200" y="576"/>
                    <a:pt x="384" y="816"/>
                  </a:cubicBezTo>
                  <a:cubicBezTo>
                    <a:pt x="568" y="1056"/>
                    <a:pt x="984" y="1336"/>
                    <a:pt x="1104" y="1440"/>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7413" name="Text Box 22"/>
            <p:cNvSpPr txBox="1">
              <a:spLocks noChangeArrowheads="1"/>
            </p:cNvSpPr>
            <p:nvPr/>
          </p:nvSpPr>
          <p:spPr bwMode="auto">
            <a:xfrm>
              <a:off x="7266432" y="4154361"/>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177B21"/>
                  </a:solidFill>
                </a:rPr>
                <a:t>D</a:t>
              </a:r>
            </a:p>
          </p:txBody>
        </p:sp>
      </p:grpSp>
      <p:grpSp>
        <p:nvGrpSpPr>
          <p:cNvPr id="46" name="Group 58"/>
          <p:cNvGrpSpPr>
            <a:grpSpLocks/>
          </p:cNvGrpSpPr>
          <p:nvPr/>
        </p:nvGrpSpPr>
        <p:grpSpPr bwMode="auto">
          <a:xfrm>
            <a:off x="228600" y="3079780"/>
            <a:ext cx="7086600" cy="304800"/>
            <a:chOff x="228600" y="3475292"/>
            <a:chExt cx="7086600" cy="304800"/>
          </a:xfrm>
        </p:grpSpPr>
        <p:sp>
          <p:nvSpPr>
            <p:cNvPr id="57410" name="Line 18"/>
            <p:cNvSpPr>
              <a:spLocks noChangeShapeType="1"/>
            </p:cNvSpPr>
            <p:nvPr/>
          </p:nvSpPr>
          <p:spPr bwMode="auto">
            <a:xfrm flipH="1">
              <a:off x="609600" y="3600704"/>
              <a:ext cx="67056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57411" name="Text Box 24"/>
            <p:cNvSpPr txBox="1">
              <a:spLocks noChangeArrowheads="1"/>
            </p:cNvSpPr>
            <p:nvPr/>
          </p:nvSpPr>
          <p:spPr bwMode="auto">
            <a:xfrm>
              <a:off x="228600" y="3475292"/>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t>P</a:t>
              </a:r>
              <a:r>
                <a:rPr lang="en-US" altLang="en-US" sz="1600" baseline="-25000"/>
                <a:t>1</a:t>
              </a:r>
              <a:endParaRPr lang="en-US" altLang="en-US" sz="1600"/>
            </a:p>
          </p:txBody>
        </p:sp>
      </p:grpSp>
      <p:grpSp>
        <p:nvGrpSpPr>
          <p:cNvPr id="47" name="Group 50"/>
          <p:cNvGrpSpPr>
            <a:grpSpLocks/>
          </p:cNvGrpSpPr>
          <p:nvPr/>
        </p:nvGrpSpPr>
        <p:grpSpPr bwMode="auto">
          <a:xfrm>
            <a:off x="5943600" y="1223992"/>
            <a:ext cx="2139950" cy="2519363"/>
            <a:chOff x="5943600" y="1619504"/>
            <a:chExt cx="2139950" cy="2519363"/>
          </a:xfrm>
        </p:grpSpPr>
        <p:sp>
          <p:nvSpPr>
            <p:cNvPr id="57408" name="Freeform 28"/>
            <p:cNvSpPr>
              <a:spLocks/>
            </p:cNvSpPr>
            <p:nvPr/>
          </p:nvSpPr>
          <p:spPr bwMode="auto">
            <a:xfrm>
              <a:off x="5943600" y="1619504"/>
              <a:ext cx="1752600" cy="2286000"/>
            </a:xfrm>
            <a:custGeom>
              <a:avLst/>
              <a:gdLst>
                <a:gd name="T0" fmla="*/ 0 w 1104"/>
                <a:gd name="T1" fmla="*/ 0 h 1440"/>
                <a:gd name="T2" fmla="*/ 384 w 1104"/>
                <a:gd name="T3" fmla="*/ 816 h 1440"/>
                <a:gd name="T4" fmla="*/ 1104 w 1104"/>
                <a:gd name="T5" fmla="*/ 1440 h 1440"/>
                <a:gd name="T6" fmla="*/ 0 60000 65536"/>
                <a:gd name="T7" fmla="*/ 0 60000 65536"/>
                <a:gd name="T8" fmla="*/ 0 60000 65536"/>
                <a:gd name="T9" fmla="*/ 0 w 1104"/>
                <a:gd name="T10" fmla="*/ 0 h 1440"/>
                <a:gd name="T11" fmla="*/ 1104 w 1104"/>
                <a:gd name="T12" fmla="*/ 1440 h 1440"/>
              </a:gdLst>
              <a:ahLst/>
              <a:cxnLst>
                <a:cxn ang="T6">
                  <a:pos x="T0" y="T1"/>
                </a:cxn>
                <a:cxn ang="T7">
                  <a:pos x="T2" y="T3"/>
                </a:cxn>
                <a:cxn ang="T8">
                  <a:pos x="T4" y="T5"/>
                </a:cxn>
              </a:cxnLst>
              <a:rect l="T9" t="T10" r="T11" b="T12"/>
              <a:pathLst>
                <a:path w="1104" h="1440">
                  <a:moveTo>
                    <a:pt x="0" y="0"/>
                  </a:moveTo>
                  <a:cubicBezTo>
                    <a:pt x="100" y="288"/>
                    <a:pt x="200" y="576"/>
                    <a:pt x="384" y="816"/>
                  </a:cubicBezTo>
                  <a:cubicBezTo>
                    <a:pt x="568" y="1056"/>
                    <a:pt x="984" y="1336"/>
                    <a:pt x="1104" y="1440"/>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7409" name="Text Box 29"/>
            <p:cNvSpPr txBox="1">
              <a:spLocks noChangeArrowheads="1"/>
            </p:cNvSpPr>
            <p:nvPr/>
          </p:nvSpPr>
          <p:spPr bwMode="auto">
            <a:xfrm>
              <a:off x="7696200" y="3802317"/>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dirty="0">
                  <a:solidFill>
                    <a:srgbClr val="177B21"/>
                  </a:solidFill>
                </a:rPr>
                <a:t>D’</a:t>
              </a:r>
            </a:p>
          </p:txBody>
        </p:sp>
      </p:grpSp>
      <p:grpSp>
        <p:nvGrpSpPr>
          <p:cNvPr id="48" name="Group 49"/>
          <p:cNvGrpSpPr>
            <a:grpSpLocks/>
          </p:cNvGrpSpPr>
          <p:nvPr/>
        </p:nvGrpSpPr>
        <p:grpSpPr bwMode="auto">
          <a:xfrm>
            <a:off x="6248400" y="1197005"/>
            <a:ext cx="2128838" cy="2770187"/>
            <a:chOff x="6248400" y="1592517"/>
            <a:chExt cx="2128838" cy="2770187"/>
          </a:xfrm>
        </p:grpSpPr>
        <p:sp>
          <p:nvSpPr>
            <p:cNvPr id="57406" name="Freeform 32"/>
            <p:cNvSpPr>
              <a:spLocks/>
            </p:cNvSpPr>
            <p:nvPr/>
          </p:nvSpPr>
          <p:spPr bwMode="auto">
            <a:xfrm>
              <a:off x="6248400" y="1924304"/>
              <a:ext cx="1828800" cy="2438400"/>
            </a:xfrm>
            <a:custGeom>
              <a:avLst/>
              <a:gdLst>
                <a:gd name="T0" fmla="*/ 0 w 1152"/>
                <a:gd name="T1" fmla="*/ 1536 h 1536"/>
                <a:gd name="T2" fmla="*/ 624 w 1152"/>
                <a:gd name="T3" fmla="*/ 1104 h 1536"/>
                <a:gd name="T4" fmla="*/ 1152 w 1152"/>
                <a:gd name="T5" fmla="*/ 0 h 1536"/>
                <a:gd name="T6" fmla="*/ 0 60000 65536"/>
                <a:gd name="T7" fmla="*/ 0 60000 65536"/>
                <a:gd name="T8" fmla="*/ 0 60000 65536"/>
                <a:gd name="T9" fmla="*/ 0 w 1152"/>
                <a:gd name="T10" fmla="*/ 0 h 1536"/>
                <a:gd name="T11" fmla="*/ 1152 w 1152"/>
                <a:gd name="T12" fmla="*/ 1536 h 1536"/>
              </a:gdLst>
              <a:ahLst/>
              <a:cxnLst>
                <a:cxn ang="T6">
                  <a:pos x="T0" y="T1"/>
                </a:cxn>
                <a:cxn ang="T7">
                  <a:pos x="T2" y="T3"/>
                </a:cxn>
                <a:cxn ang="T8">
                  <a:pos x="T4" y="T5"/>
                </a:cxn>
              </a:cxnLst>
              <a:rect l="T9" t="T10" r="T11" b="T12"/>
              <a:pathLst>
                <a:path w="1152" h="1536">
                  <a:moveTo>
                    <a:pt x="0" y="1536"/>
                  </a:moveTo>
                  <a:cubicBezTo>
                    <a:pt x="216" y="1448"/>
                    <a:pt x="432" y="1360"/>
                    <a:pt x="624" y="1104"/>
                  </a:cubicBezTo>
                  <a:cubicBezTo>
                    <a:pt x="816" y="848"/>
                    <a:pt x="1064" y="184"/>
                    <a:pt x="1152" y="0"/>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7407" name="Text Box 34"/>
            <p:cNvSpPr txBox="1">
              <a:spLocks noChangeArrowheads="1"/>
            </p:cNvSpPr>
            <p:nvPr/>
          </p:nvSpPr>
          <p:spPr bwMode="auto">
            <a:xfrm>
              <a:off x="8001000" y="1592517"/>
              <a:ext cx="3762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5D0D8F"/>
                  </a:solidFill>
                </a:rPr>
                <a:t>S’</a:t>
              </a:r>
            </a:p>
          </p:txBody>
        </p:sp>
      </p:grpSp>
      <p:grpSp>
        <p:nvGrpSpPr>
          <p:cNvPr id="49" name="Group 52"/>
          <p:cNvGrpSpPr>
            <a:grpSpLocks/>
          </p:cNvGrpSpPr>
          <p:nvPr/>
        </p:nvGrpSpPr>
        <p:grpSpPr bwMode="auto">
          <a:xfrm>
            <a:off x="5105400" y="3052792"/>
            <a:ext cx="3186113" cy="336550"/>
            <a:chOff x="5105401" y="3448304"/>
            <a:chExt cx="3186113" cy="336550"/>
          </a:xfrm>
        </p:grpSpPr>
        <p:sp>
          <p:nvSpPr>
            <p:cNvPr id="57404" name="Line 36"/>
            <p:cNvSpPr>
              <a:spLocks noChangeShapeType="1"/>
            </p:cNvSpPr>
            <p:nvPr/>
          </p:nvSpPr>
          <p:spPr bwMode="auto">
            <a:xfrm>
              <a:off x="5105401" y="3600704"/>
              <a:ext cx="2743200" cy="0"/>
            </a:xfrm>
            <a:prstGeom prst="line">
              <a:avLst/>
            </a:prstGeom>
            <a:noFill/>
            <a:ln w="28575">
              <a:solidFill>
                <a:srgbClr val="DC00DC"/>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405" name="Text Box 37"/>
            <p:cNvSpPr txBox="1">
              <a:spLocks noChangeArrowheads="1"/>
            </p:cNvSpPr>
            <p:nvPr/>
          </p:nvSpPr>
          <p:spPr bwMode="auto">
            <a:xfrm>
              <a:off x="7848601" y="3448304"/>
              <a:ext cx="4429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DC00DC"/>
                  </a:solidFill>
                </a:rPr>
                <a:t>LS</a:t>
              </a:r>
            </a:p>
          </p:txBody>
        </p:sp>
      </p:grpSp>
      <p:grpSp>
        <p:nvGrpSpPr>
          <p:cNvPr id="50" name="Group 77"/>
          <p:cNvGrpSpPr>
            <a:grpSpLocks/>
          </p:cNvGrpSpPr>
          <p:nvPr/>
        </p:nvGrpSpPr>
        <p:grpSpPr bwMode="auto">
          <a:xfrm>
            <a:off x="4419600" y="919211"/>
            <a:ext cx="4794250" cy="3851257"/>
            <a:chOff x="4419600" y="1314704"/>
            <a:chExt cx="4794250" cy="3850944"/>
          </a:xfrm>
        </p:grpSpPr>
        <p:sp>
          <p:nvSpPr>
            <p:cNvPr id="57397" name="Text Box 8"/>
            <p:cNvSpPr txBox="1">
              <a:spLocks noChangeArrowheads="1"/>
            </p:cNvSpPr>
            <p:nvPr/>
          </p:nvSpPr>
          <p:spPr bwMode="auto">
            <a:xfrm>
              <a:off x="5156560" y="4798936"/>
              <a:ext cx="1530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dirty="0">
                  <a:solidFill>
                    <a:srgbClr val="002D56"/>
                  </a:solidFill>
                </a:rPr>
                <a:t>(b) Total Market</a:t>
              </a:r>
            </a:p>
          </p:txBody>
        </p:sp>
        <p:grpSp>
          <p:nvGrpSpPr>
            <p:cNvPr id="57398" name="Group 42"/>
            <p:cNvGrpSpPr>
              <a:grpSpLocks/>
            </p:cNvGrpSpPr>
            <p:nvPr/>
          </p:nvGrpSpPr>
          <p:grpSpPr bwMode="auto">
            <a:xfrm>
              <a:off x="4419600" y="1314704"/>
              <a:ext cx="704850" cy="3200400"/>
              <a:chOff x="4419600" y="1314704"/>
              <a:chExt cx="704850" cy="3200400"/>
            </a:xfrm>
          </p:grpSpPr>
          <p:sp>
            <p:nvSpPr>
              <p:cNvPr id="57402" name="Line 6"/>
              <p:cNvSpPr>
                <a:spLocks noChangeShapeType="1"/>
              </p:cNvSpPr>
              <p:nvPr/>
            </p:nvSpPr>
            <p:spPr bwMode="auto">
              <a:xfrm>
                <a:off x="5105400" y="1314704"/>
                <a:ext cx="0" cy="3200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403" name="Text Box 39"/>
              <p:cNvSpPr txBox="1">
                <a:spLocks noChangeArrowheads="1"/>
              </p:cNvSpPr>
              <p:nvPr/>
            </p:nvSpPr>
            <p:spPr bwMode="auto">
              <a:xfrm>
                <a:off x="4419600" y="1386087"/>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dirty="0"/>
                  <a:t>Price</a:t>
                </a:r>
              </a:p>
            </p:txBody>
          </p:sp>
        </p:grpSp>
        <p:grpSp>
          <p:nvGrpSpPr>
            <p:cNvPr id="57399" name="Group 44"/>
            <p:cNvGrpSpPr>
              <a:grpSpLocks/>
            </p:cNvGrpSpPr>
            <p:nvPr/>
          </p:nvGrpSpPr>
          <p:grpSpPr bwMode="auto">
            <a:xfrm>
              <a:off x="5105400" y="4491292"/>
              <a:ext cx="4108450" cy="641350"/>
              <a:chOff x="5105400" y="4491292"/>
              <a:chExt cx="4108450" cy="641350"/>
            </a:xfrm>
          </p:grpSpPr>
          <p:sp>
            <p:nvSpPr>
              <p:cNvPr id="57400" name="Line 5"/>
              <p:cNvSpPr>
                <a:spLocks noChangeShapeType="1"/>
              </p:cNvSpPr>
              <p:nvPr/>
            </p:nvSpPr>
            <p:spPr bwMode="auto">
              <a:xfrm>
                <a:off x="5105400" y="4515104"/>
                <a:ext cx="3581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401" name="Text Box 42"/>
              <p:cNvSpPr txBox="1">
                <a:spLocks noChangeArrowheads="1"/>
              </p:cNvSpPr>
              <p:nvPr/>
            </p:nvSpPr>
            <p:spPr bwMode="auto">
              <a:xfrm>
                <a:off x="7924800" y="4491292"/>
                <a:ext cx="12890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t>Quantity</a:t>
                </a:r>
              </a:p>
              <a:p>
                <a:pPr eaLnBrk="1" hangingPunct="1"/>
                <a:r>
                  <a:rPr lang="en-US" altLang="en-US" sz="1600"/>
                  <a:t>per period</a:t>
                </a:r>
              </a:p>
            </p:txBody>
          </p:sp>
        </p:grpSp>
      </p:grpSp>
      <p:grpSp>
        <p:nvGrpSpPr>
          <p:cNvPr id="53" name="Group 76"/>
          <p:cNvGrpSpPr>
            <a:grpSpLocks/>
          </p:cNvGrpSpPr>
          <p:nvPr/>
        </p:nvGrpSpPr>
        <p:grpSpPr bwMode="auto">
          <a:xfrm>
            <a:off x="0" y="914400"/>
            <a:ext cx="5099050" cy="3856067"/>
            <a:chOff x="0" y="1309888"/>
            <a:chExt cx="5099050" cy="3855760"/>
          </a:xfrm>
        </p:grpSpPr>
        <p:sp>
          <p:nvSpPr>
            <p:cNvPr id="57390" name="Text Box 7"/>
            <p:cNvSpPr txBox="1">
              <a:spLocks noChangeArrowheads="1"/>
            </p:cNvSpPr>
            <p:nvPr/>
          </p:nvSpPr>
          <p:spPr bwMode="auto">
            <a:xfrm>
              <a:off x="554992" y="4798936"/>
              <a:ext cx="1758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dirty="0">
                  <a:solidFill>
                    <a:srgbClr val="002D56"/>
                  </a:solidFill>
                </a:rPr>
                <a:t>(a) A Typical Firm</a:t>
              </a:r>
            </a:p>
          </p:txBody>
        </p:sp>
        <p:grpSp>
          <p:nvGrpSpPr>
            <p:cNvPr id="57391" name="Group 41"/>
            <p:cNvGrpSpPr>
              <a:grpSpLocks/>
            </p:cNvGrpSpPr>
            <p:nvPr/>
          </p:nvGrpSpPr>
          <p:grpSpPr bwMode="auto">
            <a:xfrm>
              <a:off x="0" y="1309888"/>
              <a:ext cx="704850" cy="3205216"/>
              <a:chOff x="0" y="1309888"/>
              <a:chExt cx="704850" cy="3205216"/>
            </a:xfrm>
          </p:grpSpPr>
          <p:sp>
            <p:nvSpPr>
              <p:cNvPr id="57395" name="Line 3"/>
              <p:cNvSpPr>
                <a:spLocks noChangeShapeType="1"/>
              </p:cNvSpPr>
              <p:nvPr/>
            </p:nvSpPr>
            <p:spPr bwMode="auto">
              <a:xfrm>
                <a:off x="609600" y="1314704"/>
                <a:ext cx="0" cy="3200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396" name="Text Box 38"/>
              <p:cNvSpPr txBox="1">
                <a:spLocks noChangeArrowheads="1"/>
              </p:cNvSpPr>
              <p:nvPr/>
            </p:nvSpPr>
            <p:spPr bwMode="auto">
              <a:xfrm>
                <a:off x="0" y="1309888"/>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dirty="0"/>
                  <a:t>Price</a:t>
                </a:r>
              </a:p>
            </p:txBody>
          </p:sp>
        </p:grpSp>
        <p:grpSp>
          <p:nvGrpSpPr>
            <p:cNvPr id="57392" name="Group 43"/>
            <p:cNvGrpSpPr>
              <a:grpSpLocks/>
            </p:cNvGrpSpPr>
            <p:nvPr/>
          </p:nvGrpSpPr>
          <p:grpSpPr bwMode="auto">
            <a:xfrm>
              <a:off x="609600" y="4483354"/>
              <a:ext cx="4489450" cy="641350"/>
              <a:chOff x="609600" y="4483354"/>
              <a:chExt cx="4489450" cy="641350"/>
            </a:xfrm>
          </p:grpSpPr>
          <p:sp>
            <p:nvSpPr>
              <p:cNvPr id="57393" name="Line 4"/>
              <p:cNvSpPr>
                <a:spLocks noChangeShapeType="1"/>
              </p:cNvSpPr>
              <p:nvPr/>
            </p:nvSpPr>
            <p:spPr bwMode="auto">
              <a:xfrm>
                <a:off x="609600" y="4515104"/>
                <a:ext cx="3581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394" name="Text Box 43"/>
              <p:cNvSpPr txBox="1">
                <a:spLocks noChangeArrowheads="1"/>
              </p:cNvSpPr>
              <p:nvPr/>
            </p:nvSpPr>
            <p:spPr bwMode="auto">
              <a:xfrm>
                <a:off x="3886200" y="4483354"/>
                <a:ext cx="12128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t>Quantity</a:t>
                </a:r>
              </a:p>
              <a:p>
                <a:pPr eaLnBrk="1" hangingPunct="1"/>
                <a:r>
                  <a:rPr lang="en-US" altLang="en-US" sz="1600"/>
                  <a:t>per period</a:t>
                </a:r>
              </a:p>
            </p:txBody>
          </p:sp>
        </p:grpSp>
      </p:grpSp>
      <p:grpSp>
        <p:nvGrpSpPr>
          <p:cNvPr id="56" name="Group 60"/>
          <p:cNvGrpSpPr>
            <a:grpSpLocks/>
          </p:cNvGrpSpPr>
          <p:nvPr/>
        </p:nvGrpSpPr>
        <p:grpSpPr bwMode="auto">
          <a:xfrm>
            <a:off x="228600" y="2635280"/>
            <a:ext cx="6553200" cy="338137"/>
            <a:chOff x="228600" y="4751388"/>
            <a:chExt cx="6553200" cy="338554"/>
          </a:xfrm>
        </p:grpSpPr>
        <p:sp>
          <p:nvSpPr>
            <p:cNvPr id="57388" name="Line 31"/>
            <p:cNvSpPr>
              <a:spLocks noChangeShapeType="1"/>
            </p:cNvSpPr>
            <p:nvPr/>
          </p:nvSpPr>
          <p:spPr bwMode="auto">
            <a:xfrm flipH="1">
              <a:off x="609600" y="4876800"/>
              <a:ext cx="61722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57389" name="Text Box 32"/>
            <p:cNvSpPr txBox="1">
              <a:spLocks noChangeArrowheads="1"/>
            </p:cNvSpPr>
            <p:nvPr/>
          </p:nvSpPr>
          <p:spPr bwMode="auto">
            <a:xfrm>
              <a:off x="228600" y="4751388"/>
              <a:ext cx="3962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dirty="0"/>
                <a:t>P</a:t>
              </a:r>
              <a:r>
                <a:rPr lang="en-US" altLang="en-US" sz="1600" baseline="-25000" dirty="0"/>
                <a:t>2</a:t>
              </a:r>
              <a:endParaRPr lang="en-US" altLang="en-US" sz="1600" dirty="0"/>
            </a:p>
          </p:txBody>
        </p:sp>
      </p:grpSp>
      <p:grpSp>
        <p:nvGrpSpPr>
          <p:cNvPr id="59" name="Group 75"/>
          <p:cNvGrpSpPr>
            <a:grpSpLocks/>
          </p:cNvGrpSpPr>
          <p:nvPr/>
        </p:nvGrpSpPr>
        <p:grpSpPr bwMode="auto">
          <a:xfrm>
            <a:off x="6638925" y="2725767"/>
            <a:ext cx="385763" cy="1725613"/>
            <a:chOff x="6638440" y="3121766"/>
            <a:chExt cx="385763" cy="1725126"/>
          </a:xfrm>
        </p:grpSpPr>
        <p:grpSp>
          <p:nvGrpSpPr>
            <p:cNvPr id="57384" name="Group 55"/>
            <p:cNvGrpSpPr>
              <a:grpSpLocks/>
            </p:cNvGrpSpPr>
            <p:nvPr/>
          </p:nvGrpSpPr>
          <p:grpSpPr bwMode="auto">
            <a:xfrm>
              <a:off x="6638440" y="3138135"/>
              <a:ext cx="385763" cy="1708757"/>
              <a:chOff x="6338832" y="3138135"/>
              <a:chExt cx="385763" cy="1708757"/>
            </a:xfrm>
          </p:grpSpPr>
          <p:sp>
            <p:nvSpPr>
              <p:cNvPr id="57386" name="Line 25"/>
              <p:cNvSpPr>
                <a:spLocks noChangeShapeType="1"/>
              </p:cNvSpPr>
              <p:nvPr/>
            </p:nvSpPr>
            <p:spPr bwMode="auto">
              <a:xfrm flipH="1">
                <a:off x="6476999" y="3138135"/>
                <a:ext cx="1337" cy="1376969"/>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387" name="Text Box 26"/>
              <p:cNvSpPr txBox="1">
                <a:spLocks noChangeArrowheads="1"/>
              </p:cNvSpPr>
              <p:nvPr/>
            </p:nvSpPr>
            <p:spPr bwMode="auto">
              <a:xfrm>
                <a:off x="6338832" y="4542092"/>
                <a:ext cx="385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t>Q</a:t>
                </a:r>
                <a:r>
                  <a:rPr lang="en-US" altLang="en-US" sz="1600" baseline="-25000"/>
                  <a:t>2</a:t>
                </a:r>
                <a:endParaRPr lang="en-US" altLang="en-US" sz="1600"/>
              </a:p>
            </p:txBody>
          </p:sp>
        </p:grpSp>
        <p:sp>
          <p:nvSpPr>
            <p:cNvPr id="57385" name="Oval 9"/>
            <p:cNvSpPr>
              <a:spLocks noChangeArrowheads="1"/>
            </p:cNvSpPr>
            <p:nvPr/>
          </p:nvSpPr>
          <p:spPr bwMode="auto">
            <a:xfrm>
              <a:off x="6732370" y="3121766"/>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61" name="Group 74"/>
          <p:cNvGrpSpPr>
            <a:grpSpLocks/>
          </p:cNvGrpSpPr>
          <p:nvPr/>
        </p:nvGrpSpPr>
        <p:grpSpPr bwMode="auto">
          <a:xfrm>
            <a:off x="6246813" y="3162330"/>
            <a:ext cx="385762" cy="1289050"/>
            <a:chOff x="6246324" y="3557630"/>
            <a:chExt cx="385763" cy="1289262"/>
          </a:xfrm>
        </p:grpSpPr>
        <p:grpSp>
          <p:nvGrpSpPr>
            <p:cNvPr id="57380" name="Group 53"/>
            <p:cNvGrpSpPr>
              <a:grpSpLocks/>
            </p:cNvGrpSpPr>
            <p:nvPr/>
          </p:nvGrpSpPr>
          <p:grpSpPr bwMode="auto">
            <a:xfrm>
              <a:off x="6246324" y="3600704"/>
              <a:ext cx="385763" cy="1246188"/>
              <a:chOff x="6246324" y="3600704"/>
              <a:chExt cx="385763" cy="1246188"/>
            </a:xfrm>
          </p:grpSpPr>
          <p:sp>
            <p:nvSpPr>
              <p:cNvPr id="57382" name="Line 25"/>
              <p:cNvSpPr>
                <a:spLocks noChangeShapeType="1"/>
              </p:cNvSpPr>
              <p:nvPr/>
            </p:nvSpPr>
            <p:spPr bwMode="auto">
              <a:xfrm>
                <a:off x="6477000" y="3600704"/>
                <a:ext cx="0" cy="9144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383" name="Text Box 26"/>
              <p:cNvSpPr txBox="1">
                <a:spLocks noChangeArrowheads="1"/>
              </p:cNvSpPr>
              <p:nvPr/>
            </p:nvSpPr>
            <p:spPr bwMode="auto">
              <a:xfrm>
                <a:off x="6246324" y="4542092"/>
                <a:ext cx="385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t>Q</a:t>
                </a:r>
                <a:r>
                  <a:rPr lang="en-US" altLang="en-US" sz="1600" baseline="-25000"/>
                  <a:t>1</a:t>
                </a:r>
                <a:endParaRPr lang="en-US" altLang="en-US" sz="1600"/>
              </a:p>
            </p:txBody>
          </p:sp>
        </p:grpSp>
        <p:sp>
          <p:nvSpPr>
            <p:cNvPr id="57381" name="Oval 9"/>
            <p:cNvSpPr>
              <a:spLocks noChangeArrowheads="1"/>
            </p:cNvSpPr>
            <p:nvPr/>
          </p:nvSpPr>
          <p:spPr bwMode="auto">
            <a:xfrm>
              <a:off x="6441286" y="3557630"/>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72" name="Group 73"/>
          <p:cNvGrpSpPr>
            <a:grpSpLocks/>
          </p:cNvGrpSpPr>
          <p:nvPr/>
        </p:nvGrpSpPr>
        <p:grpSpPr bwMode="auto">
          <a:xfrm>
            <a:off x="7162800" y="3154392"/>
            <a:ext cx="385763" cy="1296988"/>
            <a:chOff x="7162540" y="3550010"/>
            <a:chExt cx="385763" cy="1296882"/>
          </a:xfrm>
        </p:grpSpPr>
        <p:grpSp>
          <p:nvGrpSpPr>
            <p:cNvPr id="57376" name="Group 54"/>
            <p:cNvGrpSpPr>
              <a:grpSpLocks/>
            </p:cNvGrpSpPr>
            <p:nvPr/>
          </p:nvGrpSpPr>
          <p:grpSpPr bwMode="auto">
            <a:xfrm>
              <a:off x="7162540" y="3600704"/>
              <a:ext cx="385763" cy="1246188"/>
              <a:chOff x="7162540" y="3600704"/>
              <a:chExt cx="385763" cy="1246188"/>
            </a:xfrm>
          </p:grpSpPr>
          <p:sp>
            <p:nvSpPr>
              <p:cNvPr id="57378" name="Text Box 31"/>
              <p:cNvSpPr txBox="1">
                <a:spLocks noChangeArrowheads="1"/>
              </p:cNvSpPr>
              <p:nvPr/>
            </p:nvSpPr>
            <p:spPr bwMode="auto">
              <a:xfrm>
                <a:off x="7162540" y="4542092"/>
                <a:ext cx="385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t>Q</a:t>
                </a:r>
                <a:r>
                  <a:rPr lang="en-US" altLang="en-US" sz="1600" baseline="-25000"/>
                  <a:t>3</a:t>
                </a:r>
                <a:endParaRPr lang="en-US" altLang="en-US" sz="1600"/>
              </a:p>
            </p:txBody>
          </p:sp>
          <p:sp>
            <p:nvSpPr>
              <p:cNvPr id="57379" name="Line 33"/>
              <p:cNvSpPr>
                <a:spLocks noChangeShapeType="1"/>
              </p:cNvSpPr>
              <p:nvPr/>
            </p:nvSpPr>
            <p:spPr bwMode="auto">
              <a:xfrm>
                <a:off x="7310628" y="3600704"/>
                <a:ext cx="0" cy="9144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7377" name="Oval 9"/>
            <p:cNvSpPr>
              <a:spLocks noChangeArrowheads="1"/>
            </p:cNvSpPr>
            <p:nvPr/>
          </p:nvSpPr>
          <p:spPr bwMode="auto">
            <a:xfrm>
              <a:off x="7265770" y="3550010"/>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74" name="Group 72"/>
          <p:cNvGrpSpPr>
            <a:grpSpLocks/>
          </p:cNvGrpSpPr>
          <p:nvPr/>
        </p:nvGrpSpPr>
        <p:grpSpPr bwMode="auto">
          <a:xfrm>
            <a:off x="2076450" y="2722592"/>
            <a:ext cx="355600" cy="1652588"/>
            <a:chOff x="2075763" y="3117194"/>
            <a:chExt cx="355600" cy="1653498"/>
          </a:xfrm>
        </p:grpSpPr>
        <p:grpSp>
          <p:nvGrpSpPr>
            <p:cNvPr id="57372" name="Group 63"/>
            <p:cNvGrpSpPr>
              <a:grpSpLocks/>
            </p:cNvGrpSpPr>
            <p:nvPr/>
          </p:nvGrpSpPr>
          <p:grpSpPr bwMode="auto">
            <a:xfrm>
              <a:off x="2075763" y="3150108"/>
              <a:ext cx="355600" cy="1620584"/>
              <a:chOff x="1704975" y="3150108"/>
              <a:chExt cx="355600" cy="1620584"/>
            </a:xfrm>
          </p:grpSpPr>
          <p:sp>
            <p:nvSpPr>
              <p:cNvPr id="57374" name="Text Box 9"/>
              <p:cNvSpPr txBox="1">
                <a:spLocks noChangeArrowheads="1"/>
              </p:cNvSpPr>
              <p:nvPr/>
            </p:nvSpPr>
            <p:spPr bwMode="auto">
              <a:xfrm>
                <a:off x="1704975" y="4465892"/>
                <a:ext cx="35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600" dirty="0"/>
                  <a:t>q</a:t>
                </a:r>
                <a:r>
                  <a:rPr lang="en-US" altLang="en-US" sz="1600" baseline="-25000" dirty="0"/>
                  <a:t>2</a:t>
                </a:r>
                <a:endParaRPr lang="en-US" altLang="en-US" sz="1600" dirty="0"/>
              </a:p>
            </p:txBody>
          </p:sp>
          <p:sp>
            <p:nvSpPr>
              <p:cNvPr id="57375" name="Line 23"/>
              <p:cNvSpPr>
                <a:spLocks noChangeShapeType="1"/>
              </p:cNvSpPr>
              <p:nvPr/>
            </p:nvSpPr>
            <p:spPr bwMode="auto">
              <a:xfrm flipH="1">
                <a:off x="1905000" y="3150108"/>
                <a:ext cx="1068" cy="1364996"/>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7373" name="Oval 9"/>
            <p:cNvSpPr>
              <a:spLocks noChangeArrowheads="1"/>
            </p:cNvSpPr>
            <p:nvPr/>
          </p:nvSpPr>
          <p:spPr bwMode="auto">
            <a:xfrm>
              <a:off x="2233522" y="3117194"/>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76" name="Group 71"/>
          <p:cNvGrpSpPr>
            <a:grpSpLocks/>
          </p:cNvGrpSpPr>
          <p:nvPr/>
        </p:nvGrpSpPr>
        <p:grpSpPr bwMode="auto">
          <a:xfrm>
            <a:off x="1704975" y="3167092"/>
            <a:ext cx="355600" cy="1208088"/>
            <a:chOff x="1704975" y="3562202"/>
            <a:chExt cx="355600" cy="1208490"/>
          </a:xfrm>
        </p:grpSpPr>
        <p:grpSp>
          <p:nvGrpSpPr>
            <p:cNvPr id="57368" name="Group 59"/>
            <p:cNvGrpSpPr>
              <a:grpSpLocks/>
            </p:cNvGrpSpPr>
            <p:nvPr/>
          </p:nvGrpSpPr>
          <p:grpSpPr bwMode="auto">
            <a:xfrm>
              <a:off x="1704975" y="3600704"/>
              <a:ext cx="355600" cy="1169988"/>
              <a:chOff x="1704975" y="3600704"/>
              <a:chExt cx="355600" cy="1169988"/>
            </a:xfrm>
          </p:grpSpPr>
          <p:sp>
            <p:nvSpPr>
              <p:cNvPr id="57370" name="Text Box 9"/>
              <p:cNvSpPr txBox="1">
                <a:spLocks noChangeArrowheads="1"/>
              </p:cNvSpPr>
              <p:nvPr/>
            </p:nvSpPr>
            <p:spPr bwMode="auto">
              <a:xfrm>
                <a:off x="1704975" y="4465892"/>
                <a:ext cx="35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600"/>
                  <a:t>q</a:t>
                </a:r>
                <a:r>
                  <a:rPr lang="en-US" altLang="en-US" sz="1600" baseline="-25000"/>
                  <a:t>1</a:t>
                </a:r>
                <a:endParaRPr lang="en-US" altLang="en-US" sz="1600"/>
              </a:p>
            </p:txBody>
          </p:sp>
          <p:sp>
            <p:nvSpPr>
              <p:cNvPr id="57371" name="Line 23"/>
              <p:cNvSpPr>
                <a:spLocks noChangeShapeType="1"/>
              </p:cNvSpPr>
              <p:nvPr/>
            </p:nvSpPr>
            <p:spPr bwMode="auto">
              <a:xfrm>
                <a:off x="1905000" y="3600704"/>
                <a:ext cx="0" cy="9144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7369" name="Oval 9"/>
            <p:cNvSpPr>
              <a:spLocks noChangeArrowheads="1"/>
            </p:cNvSpPr>
            <p:nvPr/>
          </p:nvSpPr>
          <p:spPr bwMode="auto">
            <a:xfrm>
              <a:off x="1869286" y="3562202"/>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spTree>
    <p:extLst>
      <p:ext uri="{BB962C8B-B14F-4D97-AF65-F5344CB8AC3E}">
        <p14:creationId xmlns:p14="http://schemas.microsoft.com/office/powerpoint/2010/main" val="37300347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left)">
                                      <p:cBhvr>
                                        <p:cTn id="7" dur="500"/>
                                        <p:tgtEl>
                                          <p:spTgt spid="5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wipe(left)">
                                      <p:cBhvr>
                                        <p:cTn id="11" dur="500"/>
                                        <p:tgtEl>
                                          <p:spTgt spid="43"/>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left)">
                                      <p:cBhvr>
                                        <p:cTn id="15" dur="500"/>
                                        <p:tgtEl>
                                          <p:spTgt spid="35"/>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wipe(left)">
                                      <p:cBhvr>
                                        <p:cTn id="19" dur="500"/>
                                        <p:tgtEl>
                                          <p:spTgt spid="42"/>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50"/>
                                        </p:tgtEl>
                                        <p:attrNameLst>
                                          <p:attrName>style.visibility</p:attrName>
                                        </p:attrNameLst>
                                      </p:cBhvr>
                                      <p:to>
                                        <p:strVal val="visible"/>
                                      </p:to>
                                    </p:set>
                                    <p:animEffect transition="in" filter="wipe(left)">
                                      <p:cBhvr>
                                        <p:cTn id="23" dur="500"/>
                                        <p:tgtEl>
                                          <p:spTgt spid="50"/>
                                        </p:tgtEl>
                                      </p:cBhvr>
                                    </p:animEffect>
                                  </p:childTnLst>
                                </p:cTn>
                              </p:par>
                            </p:childTnLst>
                          </p:cTn>
                        </p:par>
                        <p:par>
                          <p:cTn id="24" fill="hold" nodeType="afterGroup">
                            <p:stCondLst>
                              <p:cond delay="2500"/>
                            </p:stCondLst>
                            <p:childTnLst>
                              <p:par>
                                <p:cTn id="25" presetID="22" presetClass="entr" presetSubtype="8" fill="hold" nodeType="after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wipe(left)">
                                      <p:cBhvr>
                                        <p:cTn id="27" dur="500"/>
                                        <p:tgtEl>
                                          <p:spTgt spid="45"/>
                                        </p:tgtEl>
                                      </p:cBhvr>
                                    </p:animEffect>
                                  </p:childTnLst>
                                </p:cTn>
                              </p:par>
                            </p:childTnLst>
                          </p:cTn>
                        </p:par>
                        <p:par>
                          <p:cTn id="28" fill="hold" nodeType="afterGroup">
                            <p:stCondLst>
                              <p:cond delay="3000"/>
                            </p:stCondLst>
                            <p:childTnLst>
                              <p:par>
                                <p:cTn id="29" presetID="22" presetClass="entr" presetSubtype="8" fill="hold" nodeType="after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wipe(left)">
                                      <p:cBhvr>
                                        <p:cTn id="31" dur="500"/>
                                        <p:tgtEl>
                                          <p:spTgt spid="44"/>
                                        </p:tgtEl>
                                      </p:cBhvr>
                                    </p:animEffect>
                                  </p:childTnLst>
                                </p:cTn>
                              </p:par>
                            </p:childTnLst>
                          </p:cTn>
                        </p:par>
                        <p:par>
                          <p:cTn id="32" fill="hold" nodeType="afterGroup">
                            <p:stCondLst>
                              <p:cond delay="3500"/>
                            </p:stCondLst>
                            <p:childTnLst>
                              <p:par>
                                <p:cTn id="33" presetID="22" presetClass="entr" presetSubtype="8" fill="hold" nodeType="after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wipe(left)">
                                      <p:cBhvr>
                                        <p:cTn id="35" dur="500"/>
                                        <p:tgtEl>
                                          <p:spTgt spid="46"/>
                                        </p:tgtEl>
                                      </p:cBhvr>
                                    </p:animEffect>
                                  </p:childTnLst>
                                </p:cTn>
                              </p:par>
                            </p:childTnLst>
                          </p:cTn>
                        </p:par>
                        <p:par>
                          <p:cTn id="36" fill="hold" nodeType="afterGroup">
                            <p:stCondLst>
                              <p:cond delay="4000"/>
                            </p:stCondLst>
                            <p:childTnLst>
                              <p:par>
                                <p:cTn id="37" presetID="22" presetClass="entr" presetSubtype="1" fill="hold" nodeType="afterEffect">
                                  <p:stCondLst>
                                    <p:cond delay="0"/>
                                  </p:stCondLst>
                                  <p:childTnLst>
                                    <p:set>
                                      <p:cBhvr>
                                        <p:cTn id="38" dur="1" fill="hold">
                                          <p:stCondLst>
                                            <p:cond delay="0"/>
                                          </p:stCondLst>
                                        </p:cTn>
                                        <p:tgtEl>
                                          <p:spTgt spid="76"/>
                                        </p:tgtEl>
                                        <p:attrNameLst>
                                          <p:attrName>style.visibility</p:attrName>
                                        </p:attrNameLst>
                                      </p:cBhvr>
                                      <p:to>
                                        <p:strVal val="visible"/>
                                      </p:to>
                                    </p:set>
                                    <p:animEffect transition="in" filter="wipe(up)">
                                      <p:cBhvr>
                                        <p:cTn id="39" dur="500"/>
                                        <p:tgtEl>
                                          <p:spTgt spid="76"/>
                                        </p:tgtEl>
                                      </p:cBhvr>
                                    </p:animEffect>
                                  </p:childTnLst>
                                </p:cTn>
                              </p:par>
                            </p:childTnLst>
                          </p:cTn>
                        </p:par>
                        <p:par>
                          <p:cTn id="40" fill="hold" nodeType="afterGroup">
                            <p:stCondLst>
                              <p:cond delay="4500"/>
                            </p:stCondLst>
                            <p:childTnLst>
                              <p:par>
                                <p:cTn id="41" presetID="22" presetClass="entr" presetSubtype="1" fill="hold" nodeType="afterEffect">
                                  <p:stCondLst>
                                    <p:cond delay="0"/>
                                  </p:stCondLst>
                                  <p:childTnLst>
                                    <p:set>
                                      <p:cBhvr>
                                        <p:cTn id="42" dur="1" fill="hold">
                                          <p:stCondLst>
                                            <p:cond delay="0"/>
                                          </p:stCondLst>
                                        </p:cTn>
                                        <p:tgtEl>
                                          <p:spTgt spid="61"/>
                                        </p:tgtEl>
                                        <p:attrNameLst>
                                          <p:attrName>style.visibility</p:attrName>
                                        </p:attrNameLst>
                                      </p:cBhvr>
                                      <p:to>
                                        <p:strVal val="visible"/>
                                      </p:to>
                                    </p:set>
                                    <p:animEffect transition="in" filter="wipe(up)">
                                      <p:cBhvr>
                                        <p:cTn id="43" dur="500"/>
                                        <p:tgtEl>
                                          <p:spTgt spid="6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wipe(left)">
                                      <p:cBhvr>
                                        <p:cTn id="48" dur="500"/>
                                        <p:tgtEl>
                                          <p:spTgt spid="47"/>
                                        </p:tgtEl>
                                      </p:cBhvr>
                                    </p:animEffect>
                                  </p:childTnLst>
                                </p:cTn>
                              </p:par>
                            </p:childTnLst>
                          </p:cTn>
                        </p:par>
                        <p:par>
                          <p:cTn id="49" fill="hold" nodeType="afterGroup">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57347">
                                            <p:txEl>
                                              <p:pRg st="0" end="0"/>
                                            </p:txEl>
                                          </p:spTgt>
                                        </p:tgtEl>
                                        <p:attrNameLst>
                                          <p:attrName>style.visibility</p:attrName>
                                        </p:attrNameLst>
                                      </p:cBhvr>
                                      <p:to>
                                        <p:strVal val="visible"/>
                                      </p:to>
                                    </p:set>
                                    <p:animEffect transition="in" filter="wipe(left)">
                                      <p:cBhvr>
                                        <p:cTn id="52" dur="500"/>
                                        <p:tgtEl>
                                          <p:spTgt spid="57347">
                                            <p:txEl>
                                              <p:pRg st="0" end="0"/>
                                            </p:txEl>
                                          </p:spTgt>
                                        </p:tgtEl>
                                      </p:cBhvr>
                                    </p:animEffect>
                                  </p:childTnLst>
                                </p:cTn>
                              </p:par>
                            </p:childTnLst>
                          </p:cTn>
                        </p:par>
                        <p:par>
                          <p:cTn id="53" fill="hold">
                            <p:stCondLst>
                              <p:cond delay="1000"/>
                            </p:stCondLst>
                            <p:childTnLst>
                              <p:par>
                                <p:cTn id="54" presetID="22" presetClass="entr" presetSubtype="1" fill="hold" nodeType="afterEffect">
                                  <p:stCondLst>
                                    <p:cond delay="0"/>
                                  </p:stCondLst>
                                  <p:childTnLst>
                                    <p:set>
                                      <p:cBhvr>
                                        <p:cTn id="55" dur="1" fill="hold">
                                          <p:stCondLst>
                                            <p:cond delay="0"/>
                                          </p:stCondLst>
                                        </p:cTn>
                                        <p:tgtEl>
                                          <p:spTgt spid="59"/>
                                        </p:tgtEl>
                                        <p:attrNameLst>
                                          <p:attrName>style.visibility</p:attrName>
                                        </p:attrNameLst>
                                      </p:cBhvr>
                                      <p:to>
                                        <p:strVal val="visible"/>
                                      </p:to>
                                    </p:set>
                                    <p:animEffect transition="in" filter="wipe(up)">
                                      <p:cBhvr>
                                        <p:cTn id="56" dur="500"/>
                                        <p:tgtEl>
                                          <p:spTgt spid="59"/>
                                        </p:tgtEl>
                                      </p:cBhvr>
                                    </p:animEffect>
                                  </p:childTnLst>
                                </p:cTn>
                              </p:par>
                            </p:childTnLst>
                          </p:cTn>
                        </p:par>
                        <p:par>
                          <p:cTn id="57" fill="hold" nodeType="afterGroup">
                            <p:stCondLst>
                              <p:cond delay="1500"/>
                            </p:stCondLst>
                            <p:childTnLst>
                              <p:par>
                                <p:cTn id="58" presetID="22" presetClass="entr" presetSubtype="8" fill="hold" nodeType="afterEffect">
                                  <p:stCondLst>
                                    <p:cond delay="0"/>
                                  </p:stCondLst>
                                  <p:childTnLst>
                                    <p:set>
                                      <p:cBhvr>
                                        <p:cTn id="59" dur="1" fill="hold">
                                          <p:stCondLst>
                                            <p:cond delay="0"/>
                                          </p:stCondLst>
                                        </p:cTn>
                                        <p:tgtEl>
                                          <p:spTgt spid="56"/>
                                        </p:tgtEl>
                                        <p:attrNameLst>
                                          <p:attrName>style.visibility</p:attrName>
                                        </p:attrNameLst>
                                      </p:cBhvr>
                                      <p:to>
                                        <p:strVal val="visible"/>
                                      </p:to>
                                    </p:set>
                                    <p:animEffect transition="in" filter="wipe(left)">
                                      <p:cBhvr>
                                        <p:cTn id="60" dur="500"/>
                                        <p:tgtEl>
                                          <p:spTgt spid="56"/>
                                        </p:tgtEl>
                                      </p:cBhvr>
                                    </p:animEffect>
                                  </p:childTnLst>
                                </p:cTn>
                              </p:par>
                            </p:childTnLst>
                          </p:cTn>
                        </p:par>
                        <p:par>
                          <p:cTn id="61" fill="hold" nodeType="afterGroup">
                            <p:stCondLst>
                              <p:cond delay="2000"/>
                            </p:stCondLst>
                            <p:childTnLst>
                              <p:par>
                                <p:cTn id="62" presetID="22" presetClass="entr" presetSubtype="1" fill="hold" nodeType="afterEffect">
                                  <p:stCondLst>
                                    <p:cond delay="0"/>
                                  </p:stCondLst>
                                  <p:childTnLst>
                                    <p:set>
                                      <p:cBhvr>
                                        <p:cTn id="63" dur="1" fill="hold">
                                          <p:stCondLst>
                                            <p:cond delay="0"/>
                                          </p:stCondLst>
                                        </p:cTn>
                                        <p:tgtEl>
                                          <p:spTgt spid="74"/>
                                        </p:tgtEl>
                                        <p:attrNameLst>
                                          <p:attrName>style.visibility</p:attrName>
                                        </p:attrNameLst>
                                      </p:cBhvr>
                                      <p:to>
                                        <p:strVal val="visible"/>
                                      </p:to>
                                    </p:set>
                                    <p:animEffect transition="in" filter="wipe(up)">
                                      <p:cBhvr>
                                        <p:cTn id="64" dur="500"/>
                                        <p:tgtEl>
                                          <p:spTgt spid="74"/>
                                        </p:tgtEl>
                                      </p:cBhvr>
                                    </p:animEffect>
                                  </p:childTnLst>
                                </p:cTn>
                              </p:par>
                            </p:childTnLst>
                          </p:cTn>
                        </p:par>
                        <p:par>
                          <p:cTn id="65" fill="hold" nodeType="withGroup">
                            <p:stCondLst>
                              <p:cond delay="2500"/>
                            </p:stCondLst>
                            <p:childTnLst>
                              <p:par>
                                <p:cTn id="66" presetID="22" presetClass="entr" presetSubtype="8" fill="hold" grpId="0" nodeType="afterEffect">
                                  <p:stCondLst>
                                    <p:cond delay="0"/>
                                  </p:stCondLst>
                                  <p:childTnLst>
                                    <p:set>
                                      <p:cBhvr>
                                        <p:cTn id="67" dur="1" fill="hold">
                                          <p:stCondLst>
                                            <p:cond delay="0"/>
                                          </p:stCondLst>
                                        </p:cTn>
                                        <p:tgtEl>
                                          <p:spTgt spid="57347">
                                            <p:txEl>
                                              <p:pRg st="1" end="1"/>
                                            </p:txEl>
                                          </p:spTgt>
                                        </p:tgtEl>
                                        <p:attrNameLst>
                                          <p:attrName>style.visibility</p:attrName>
                                        </p:attrNameLst>
                                      </p:cBhvr>
                                      <p:to>
                                        <p:strVal val="visible"/>
                                      </p:to>
                                    </p:set>
                                    <p:animEffect transition="in" filter="wipe(left)">
                                      <p:cBhvr>
                                        <p:cTn id="68" dur="500"/>
                                        <p:tgtEl>
                                          <p:spTgt spid="57347">
                                            <p:txEl>
                                              <p:pRg st="1" end="1"/>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48"/>
                                        </p:tgtEl>
                                        <p:attrNameLst>
                                          <p:attrName>style.visibility</p:attrName>
                                        </p:attrNameLst>
                                      </p:cBhvr>
                                      <p:to>
                                        <p:strVal val="visible"/>
                                      </p:to>
                                    </p:set>
                                    <p:animEffect transition="in" filter="wipe(left)">
                                      <p:cBhvr>
                                        <p:cTn id="73" dur="500"/>
                                        <p:tgtEl>
                                          <p:spTgt spid="48"/>
                                        </p:tgtEl>
                                      </p:cBhvr>
                                    </p:animEffect>
                                  </p:childTnLst>
                                </p:cTn>
                              </p:par>
                            </p:childTnLst>
                          </p:cTn>
                        </p:par>
                        <p:par>
                          <p:cTn id="74" fill="hold" nodeType="afterGroup">
                            <p:stCondLst>
                              <p:cond delay="500"/>
                            </p:stCondLst>
                            <p:childTnLst>
                              <p:par>
                                <p:cTn id="75" presetID="22" presetClass="entr" presetSubtype="1" fill="hold" nodeType="afterEffect">
                                  <p:stCondLst>
                                    <p:cond delay="0"/>
                                  </p:stCondLst>
                                  <p:childTnLst>
                                    <p:set>
                                      <p:cBhvr>
                                        <p:cTn id="76" dur="1" fill="hold">
                                          <p:stCondLst>
                                            <p:cond delay="0"/>
                                          </p:stCondLst>
                                        </p:cTn>
                                        <p:tgtEl>
                                          <p:spTgt spid="72"/>
                                        </p:tgtEl>
                                        <p:attrNameLst>
                                          <p:attrName>style.visibility</p:attrName>
                                        </p:attrNameLst>
                                      </p:cBhvr>
                                      <p:to>
                                        <p:strVal val="visible"/>
                                      </p:to>
                                    </p:set>
                                    <p:animEffect transition="in" filter="wipe(up)">
                                      <p:cBhvr>
                                        <p:cTn id="77" dur="500"/>
                                        <p:tgtEl>
                                          <p:spTgt spid="72"/>
                                        </p:tgtEl>
                                      </p:cBhvr>
                                    </p:animEffect>
                                  </p:childTnLst>
                                </p:cTn>
                              </p:par>
                            </p:childTnLst>
                          </p:cTn>
                        </p:par>
                        <p:par>
                          <p:cTn id="78" fill="hold" nodeType="afterGroup">
                            <p:stCondLst>
                              <p:cond delay="1000"/>
                            </p:stCondLst>
                            <p:childTnLst>
                              <p:par>
                                <p:cTn id="79" presetID="22" presetClass="entr" presetSubtype="8" fill="hold" nodeType="afterEffect">
                                  <p:stCondLst>
                                    <p:cond delay="0"/>
                                  </p:stCondLst>
                                  <p:childTnLst>
                                    <p:set>
                                      <p:cBhvr>
                                        <p:cTn id="80" dur="1" fill="hold">
                                          <p:stCondLst>
                                            <p:cond delay="0"/>
                                          </p:stCondLst>
                                        </p:cTn>
                                        <p:tgtEl>
                                          <p:spTgt spid="49"/>
                                        </p:tgtEl>
                                        <p:attrNameLst>
                                          <p:attrName>style.visibility</p:attrName>
                                        </p:attrNameLst>
                                      </p:cBhvr>
                                      <p:to>
                                        <p:strVal val="visible"/>
                                      </p:to>
                                    </p:set>
                                    <p:animEffect transition="in" filter="wipe(left)">
                                      <p:cBhvr>
                                        <p:cTn id="81" dur="500"/>
                                        <p:tgtEl>
                                          <p:spTgt spid="49"/>
                                        </p:tgtEl>
                                      </p:cBhvr>
                                    </p:animEffect>
                                  </p:childTnLst>
                                </p:cTn>
                              </p:par>
                            </p:childTnLst>
                          </p:cTn>
                        </p:par>
                        <p:par>
                          <p:cTn id="82" fill="hold">
                            <p:stCondLst>
                              <p:cond delay="1500"/>
                            </p:stCondLst>
                            <p:childTnLst>
                              <p:par>
                                <p:cTn id="83" presetID="22" presetClass="entr" presetSubtype="8" fill="hold" grpId="0" nodeType="afterEffect">
                                  <p:stCondLst>
                                    <p:cond delay="0"/>
                                  </p:stCondLst>
                                  <p:childTnLst>
                                    <p:set>
                                      <p:cBhvr>
                                        <p:cTn id="84" dur="1" fill="hold">
                                          <p:stCondLst>
                                            <p:cond delay="0"/>
                                          </p:stCondLst>
                                        </p:cTn>
                                        <p:tgtEl>
                                          <p:spTgt spid="57347">
                                            <p:txEl>
                                              <p:pRg st="2" end="2"/>
                                            </p:txEl>
                                          </p:spTgt>
                                        </p:tgtEl>
                                        <p:attrNameLst>
                                          <p:attrName>style.visibility</p:attrName>
                                        </p:attrNameLst>
                                      </p:cBhvr>
                                      <p:to>
                                        <p:strVal val="visible"/>
                                      </p:to>
                                    </p:set>
                                    <p:animEffect transition="in" filter="wipe(left)">
                                      <p:cBhvr>
                                        <p:cTn id="85" dur="500"/>
                                        <p:tgtEl>
                                          <p:spTgt spid="573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12.4	 Infinitely Elastic Long-Run Supply</a:t>
            </a:r>
          </a:p>
        </p:txBody>
      </p:sp>
      <p:sp>
        <p:nvSpPr>
          <p:cNvPr id="5837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F84CE00B-1A73-426F-98B5-74970DE64CE7}" type="slidenum">
              <a:rPr lang="en-US" smtClean="0"/>
              <a:pPr>
                <a:defRPr/>
              </a:pPr>
              <a:t>43</a:t>
            </a:fld>
            <a:endParaRPr lang="en-US" dirty="0"/>
          </a:p>
        </p:txBody>
      </p:sp>
      <p:sp>
        <p:nvSpPr>
          <p:cNvPr id="58371" name="Content Placeholder 2"/>
          <p:cNvSpPr>
            <a:spLocks noGrp="1"/>
          </p:cNvSpPr>
          <p:nvPr>
            <p:ph type="body" sz="quarter" idx="12"/>
          </p:nvPr>
        </p:nvSpPr>
        <p:spPr>
          <a:prstGeom prst="rect">
            <a:avLst/>
          </a:prstGeom>
        </p:spPr>
        <p:txBody>
          <a:bodyPr/>
          <a:lstStyle/>
          <a:p>
            <a:r>
              <a:rPr lang="en-US" altLang="en-US" dirty="0" smtClean="0"/>
              <a:t>Total cost curve for a typical firm in the bicycle industry: </a:t>
            </a:r>
            <a:r>
              <a:rPr lang="en-US" altLang="en-US" sz="2800" i="1" dirty="0" smtClean="0">
                <a:solidFill>
                  <a:srgbClr val="FF0000"/>
                </a:solidFill>
              </a:rPr>
              <a:t>C</a:t>
            </a:r>
            <a:r>
              <a:rPr lang="en-US" altLang="en-US" sz="2800" dirty="0" smtClean="0">
                <a:solidFill>
                  <a:srgbClr val="FF0000"/>
                </a:solidFill>
              </a:rPr>
              <a:t>(</a:t>
            </a:r>
            <a:r>
              <a:rPr lang="en-US" altLang="en-US" sz="2800" i="1" dirty="0" smtClean="0">
                <a:solidFill>
                  <a:srgbClr val="FF0000"/>
                </a:solidFill>
              </a:rPr>
              <a:t>q</a:t>
            </a:r>
            <a:r>
              <a:rPr lang="en-US" altLang="en-US" sz="2800" dirty="0" smtClean="0">
                <a:solidFill>
                  <a:srgbClr val="FF0000"/>
                </a:solidFill>
              </a:rPr>
              <a:t>) = </a:t>
            </a:r>
            <a:r>
              <a:rPr lang="en-US" altLang="en-US" sz="2800" i="1" dirty="0" smtClean="0">
                <a:solidFill>
                  <a:srgbClr val="FF0000"/>
                </a:solidFill>
              </a:rPr>
              <a:t>q</a:t>
            </a:r>
            <a:r>
              <a:rPr lang="en-US" altLang="en-US" sz="2800" baseline="30000" dirty="0" smtClean="0">
                <a:solidFill>
                  <a:srgbClr val="FF0000"/>
                </a:solidFill>
              </a:rPr>
              <a:t>3</a:t>
            </a:r>
            <a:r>
              <a:rPr lang="en-US" altLang="en-US" sz="2800" dirty="0" smtClean="0">
                <a:solidFill>
                  <a:srgbClr val="FF0000"/>
                </a:solidFill>
              </a:rPr>
              <a:t> – 20</a:t>
            </a:r>
            <a:r>
              <a:rPr lang="en-US" altLang="en-US" sz="2800" i="1" dirty="0" smtClean="0">
                <a:solidFill>
                  <a:srgbClr val="FF0000"/>
                </a:solidFill>
              </a:rPr>
              <a:t>q</a:t>
            </a:r>
            <a:r>
              <a:rPr lang="en-US" altLang="en-US" sz="2800" baseline="30000" dirty="0" smtClean="0">
                <a:solidFill>
                  <a:srgbClr val="FF0000"/>
                </a:solidFill>
              </a:rPr>
              <a:t>2</a:t>
            </a:r>
            <a:r>
              <a:rPr lang="en-US" altLang="en-US" sz="2800" dirty="0" smtClean="0">
                <a:solidFill>
                  <a:srgbClr val="FF0000"/>
                </a:solidFill>
              </a:rPr>
              <a:t> + 100</a:t>
            </a:r>
            <a:r>
              <a:rPr lang="en-US" altLang="en-US" sz="2800" i="1" dirty="0" smtClean="0">
                <a:solidFill>
                  <a:srgbClr val="FF0000"/>
                </a:solidFill>
              </a:rPr>
              <a:t>q</a:t>
            </a:r>
            <a:r>
              <a:rPr lang="en-US" altLang="en-US" sz="2800" dirty="0" smtClean="0">
                <a:solidFill>
                  <a:srgbClr val="FF0000"/>
                </a:solidFill>
              </a:rPr>
              <a:t> + 8,000</a:t>
            </a:r>
          </a:p>
          <a:p>
            <a:r>
              <a:rPr lang="en-US" altLang="en-US" dirty="0" smtClean="0"/>
              <a:t>Demand for bicycles: </a:t>
            </a:r>
            <a:r>
              <a:rPr lang="en-US" altLang="en-US" sz="2800" i="1" dirty="0" smtClean="0">
                <a:solidFill>
                  <a:srgbClr val="FF0000"/>
                </a:solidFill>
              </a:rPr>
              <a:t>Q</a:t>
            </a:r>
            <a:r>
              <a:rPr lang="en-US" altLang="en-US" sz="2800" i="1" baseline="-25000" dirty="0" smtClean="0">
                <a:solidFill>
                  <a:srgbClr val="FF0000"/>
                </a:solidFill>
              </a:rPr>
              <a:t>D</a:t>
            </a:r>
            <a:r>
              <a:rPr lang="en-US" altLang="en-US" sz="2800" dirty="0" smtClean="0">
                <a:solidFill>
                  <a:srgbClr val="FF0000"/>
                </a:solidFill>
              </a:rPr>
              <a:t> = 2,500 – 3</a:t>
            </a:r>
            <a:r>
              <a:rPr lang="en-US" altLang="en-US" sz="2800" i="1" dirty="0" smtClean="0">
                <a:solidFill>
                  <a:srgbClr val="FF0000"/>
                </a:solidFill>
              </a:rPr>
              <a:t>P</a:t>
            </a:r>
          </a:p>
          <a:p>
            <a:r>
              <a:rPr lang="en-US" altLang="en-US" dirty="0" smtClean="0"/>
              <a:t>Long-run equilibrium</a:t>
            </a:r>
          </a:p>
          <a:p>
            <a:pPr lvl="1"/>
            <a:r>
              <a:rPr lang="en-US" altLang="en-US" dirty="0" smtClean="0"/>
              <a:t>Minimum point on the typical firm’s average cost curve: </a:t>
            </a:r>
            <a:r>
              <a:rPr lang="en-US" altLang="en-US" i="1" dirty="0" smtClean="0"/>
              <a:t>AC = MC</a:t>
            </a:r>
            <a:endParaRPr lang="en-US" altLang="en-US" dirty="0" smtClean="0"/>
          </a:p>
          <a:p>
            <a:pPr algn="ctr">
              <a:buFontTx/>
              <a:buNone/>
            </a:pPr>
            <a:r>
              <a:rPr lang="en-US" altLang="en-US" sz="2800" i="1" dirty="0" smtClean="0">
                <a:solidFill>
                  <a:srgbClr val="FF0000"/>
                </a:solidFill>
              </a:rPr>
              <a:t>AC = q</a:t>
            </a:r>
            <a:r>
              <a:rPr lang="en-US" altLang="en-US" sz="2800" baseline="30000" dirty="0" smtClean="0">
                <a:solidFill>
                  <a:srgbClr val="FF0000"/>
                </a:solidFill>
              </a:rPr>
              <a:t>2</a:t>
            </a:r>
            <a:r>
              <a:rPr lang="en-US" altLang="en-US" sz="2800" dirty="0" smtClean="0">
                <a:solidFill>
                  <a:srgbClr val="FF0000"/>
                </a:solidFill>
              </a:rPr>
              <a:t> – 20</a:t>
            </a:r>
            <a:r>
              <a:rPr lang="en-US" altLang="en-US" sz="2800" i="1" dirty="0" smtClean="0">
                <a:solidFill>
                  <a:srgbClr val="FF0000"/>
                </a:solidFill>
              </a:rPr>
              <a:t>q</a:t>
            </a:r>
            <a:r>
              <a:rPr lang="en-US" altLang="en-US" sz="2800" dirty="0" smtClean="0">
                <a:solidFill>
                  <a:srgbClr val="FF0000"/>
                </a:solidFill>
              </a:rPr>
              <a:t> + 100 + 8,000/</a:t>
            </a:r>
            <a:r>
              <a:rPr lang="en-US" altLang="en-US" sz="2800" i="1" dirty="0" smtClean="0">
                <a:solidFill>
                  <a:srgbClr val="FF0000"/>
                </a:solidFill>
              </a:rPr>
              <a:t>q</a:t>
            </a:r>
            <a:endParaRPr lang="en-US" altLang="en-US" sz="2800" dirty="0" smtClean="0">
              <a:solidFill>
                <a:srgbClr val="FF0000"/>
              </a:solidFill>
            </a:endParaRPr>
          </a:p>
          <a:p>
            <a:pPr algn="ctr">
              <a:buFontTx/>
              <a:buNone/>
            </a:pPr>
            <a:r>
              <a:rPr lang="en-US" altLang="en-US" sz="2800" i="1" dirty="0" smtClean="0">
                <a:solidFill>
                  <a:srgbClr val="FF0000"/>
                </a:solidFill>
              </a:rPr>
              <a:t>MC = </a:t>
            </a:r>
            <a:r>
              <a:rPr lang="en-US" altLang="en-US" sz="2800" dirty="0" smtClean="0">
                <a:solidFill>
                  <a:srgbClr val="FF0000"/>
                </a:solidFill>
              </a:rPr>
              <a:t>3</a:t>
            </a:r>
            <a:r>
              <a:rPr lang="en-US" altLang="en-US" sz="2800" i="1" dirty="0" smtClean="0">
                <a:solidFill>
                  <a:srgbClr val="FF0000"/>
                </a:solidFill>
              </a:rPr>
              <a:t>q</a:t>
            </a:r>
            <a:r>
              <a:rPr lang="en-US" altLang="en-US" sz="2800" baseline="30000" dirty="0" smtClean="0">
                <a:solidFill>
                  <a:srgbClr val="FF0000"/>
                </a:solidFill>
              </a:rPr>
              <a:t>2</a:t>
            </a:r>
            <a:r>
              <a:rPr lang="en-US" altLang="en-US" sz="2800" dirty="0" smtClean="0">
                <a:solidFill>
                  <a:srgbClr val="FF0000"/>
                </a:solidFill>
              </a:rPr>
              <a:t> – 40</a:t>
            </a:r>
            <a:r>
              <a:rPr lang="en-US" altLang="en-US" sz="2800" i="1" dirty="0" smtClean="0">
                <a:solidFill>
                  <a:srgbClr val="FF0000"/>
                </a:solidFill>
              </a:rPr>
              <a:t>q</a:t>
            </a:r>
            <a:r>
              <a:rPr lang="en-US" altLang="en-US" sz="2800" dirty="0" smtClean="0">
                <a:solidFill>
                  <a:srgbClr val="FF0000"/>
                </a:solidFill>
              </a:rPr>
              <a:t> + 100</a:t>
            </a:r>
          </a:p>
          <a:p>
            <a:pPr lvl="1"/>
            <a:r>
              <a:rPr lang="en-US" altLang="en-US" dirty="0" smtClean="0"/>
              <a:t>So, </a:t>
            </a:r>
            <a:r>
              <a:rPr lang="en-US" altLang="en-US" i="1" dirty="0" smtClean="0"/>
              <a:t>q</a:t>
            </a:r>
            <a:r>
              <a:rPr lang="en-US" altLang="en-US" dirty="0" smtClean="0"/>
              <a:t> = 20</a:t>
            </a:r>
          </a:p>
          <a:p>
            <a:r>
              <a:rPr lang="en-US" altLang="en-US" dirty="0" smtClean="0"/>
              <a:t>If </a:t>
            </a:r>
            <a:r>
              <a:rPr lang="en-US" altLang="en-US" i="1" dirty="0" smtClean="0"/>
              <a:t>q</a:t>
            </a:r>
            <a:r>
              <a:rPr lang="en-US" altLang="en-US" dirty="0" smtClean="0"/>
              <a:t> = 20, </a:t>
            </a:r>
            <a:r>
              <a:rPr lang="en-US" altLang="en-US" i="1" dirty="0" smtClean="0"/>
              <a:t>AC = MC = </a:t>
            </a:r>
            <a:r>
              <a:rPr lang="en-US" altLang="en-US" dirty="0" smtClean="0"/>
              <a:t>$500</a:t>
            </a:r>
          </a:p>
          <a:p>
            <a:pPr lvl="1"/>
            <a:r>
              <a:rPr lang="en-US" altLang="en-US" dirty="0" smtClean="0"/>
              <a:t>Long-run equilibrium price</a:t>
            </a:r>
          </a:p>
        </p:txBody>
      </p:sp>
    </p:spTree>
    <p:extLst>
      <p:ext uri="{BB962C8B-B14F-4D97-AF65-F5344CB8AC3E}">
        <p14:creationId xmlns:p14="http://schemas.microsoft.com/office/powerpoint/2010/main" val="188694964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a:lnSpc>
                <a:spcPct val="90000"/>
              </a:lnSpc>
            </a:pPr>
            <a:r>
              <a:rPr lang="en-US" altLang="en-US" smtClean="0"/>
              <a:t>Shape of the Long-Run Supply Curve</a:t>
            </a:r>
          </a:p>
        </p:txBody>
      </p:sp>
      <p:sp>
        <p:nvSpPr>
          <p:cNvPr id="59395" name="Rectangle 3"/>
          <p:cNvSpPr>
            <a:spLocks noGrp="1" noChangeArrowheads="1"/>
          </p:cNvSpPr>
          <p:nvPr>
            <p:ph idx="1"/>
          </p:nvPr>
        </p:nvSpPr>
        <p:spPr/>
        <p:txBody>
          <a:bodyPr/>
          <a:lstStyle/>
          <a:p>
            <a:r>
              <a:rPr lang="en-US" altLang="en-US" smtClean="0"/>
              <a:t>Shape of the long-run cost curve </a:t>
            </a:r>
          </a:p>
          <a:p>
            <a:pPr lvl="1"/>
            <a:r>
              <a:rPr lang="en-US" altLang="en-US" smtClean="0"/>
              <a:t>Determined by the zero-profit condition  </a:t>
            </a:r>
          </a:p>
          <a:p>
            <a:pPr lvl="1"/>
            <a:r>
              <a:rPr lang="en-US" altLang="en-US" smtClean="0"/>
              <a:t>Horizontal - if average costs are constant as firms enter </a:t>
            </a:r>
          </a:p>
          <a:p>
            <a:pPr lvl="1"/>
            <a:r>
              <a:rPr lang="en-US" altLang="en-US" smtClean="0"/>
              <a:t>Upward sloped - if average costs rise as firms enter </a:t>
            </a:r>
          </a:p>
          <a:p>
            <a:pPr lvl="1"/>
            <a:r>
              <a:rPr lang="en-US" altLang="en-US" smtClean="0"/>
              <a:t>Negatively sloped - if average costs fall as firms enter </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B735CC4-0A8A-404E-8DCA-626388C674BD}" type="slidenum">
              <a:rPr lang="en-US" smtClean="0"/>
              <a:pPr>
                <a:defRPr/>
              </a:pPr>
              <a:t>44</a:t>
            </a:fld>
            <a:endParaRPr lang="en-US"/>
          </a:p>
        </p:txBody>
      </p:sp>
    </p:spTree>
    <p:extLst>
      <p:ext uri="{BB962C8B-B14F-4D97-AF65-F5344CB8AC3E}">
        <p14:creationId xmlns:p14="http://schemas.microsoft.com/office/powerpoint/2010/main" val="7865251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normAutofit/>
          </a:bodyPr>
          <a:lstStyle/>
          <a:p>
            <a:pPr>
              <a:lnSpc>
                <a:spcPct val="90000"/>
              </a:lnSpc>
            </a:pPr>
            <a:r>
              <a:rPr lang="en-US" altLang="en-US" sz="3600" dirty="0" smtClean="0"/>
              <a:t>Long-Run Equilibrium: </a:t>
            </a:r>
            <a:br>
              <a:rPr lang="en-US" altLang="en-US" sz="3600" dirty="0" smtClean="0"/>
            </a:br>
            <a:r>
              <a:rPr lang="en-US" altLang="en-US" sz="3600" dirty="0" smtClean="0"/>
              <a:t>Increasing-Cost Industry</a:t>
            </a:r>
          </a:p>
        </p:txBody>
      </p:sp>
      <p:sp>
        <p:nvSpPr>
          <p:cNvPr id="60419" name="Rectangle 3"/>
          <p:cNvSpPr>
            <a:spLocks noGrp="1" noChangeArrowheads="1"/>
          </p:cNvSpPr>
          <p:nvPr>
            <p:ph idx="1"/>
          </p:nvPr>
        </p:nvSpPr>
        <p:spPr/>
        <p:txBody>
          <a:bodyPr/>
          <a:lstStyle/>
          <a:p>
            <a:r>
              <a:rPr lang="en-US" altLang="en-US" dirty="0" smtClean="0"/>
              <a:t>The entry of new firms </a:t>
            </a:r>
          </a:p>
          <a:p>
            <a:pPr lvl="1"/>
            <a:r>
              <a:rPr lang="en-US" altLang="en-US" dirty="0" smtClean="0"/>
              <a:t>May cause the average costs of all firms to rise</a:t>
            </a:r>
          </a:p>
          <a:p>
            <a:pPr lvl="1"/>
            <a:r>
              <a:rPr lang="en-US" altLang="en-US" dirty="0" smtClean="0"/>
              <a:t>Prices of scarce inputs may rise</a:t>
            </a:r>
          </a:p>
          <a:p>
            <a:pPr lvl="1"/>
            <a:r>
              <a:rPr lang="en-US" altLang="en-US" dirty="0" smtClean="0"/>
              <a:t>New firms may impose “external” costs on existing firms</a:t>
            </a:r>
          </a:p>
          <a:p>
            <a:pPr lvl="1"/>
            <a:r>
              <a:rPr lang="en-US" altLang="en-US" dirty="0" smtClean="0"/>
              <a:t>New firms may increase the demand for tax-financed services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EDFBD89-C5EC-42DF-A90E-BBEDF0F5DCFC}" type="slidenum">
              <a:rPr lang="en-US" smtClean="0"/>
              <a:pPr>
                <a:defRPr/>
              </a:pPr>
              <a:t>45</a:t>
            </a:fld>
            <a:endParaRPr lang="en-US"/>
          </a:p>
        </p:txBody>
      </p:sp>
    </p:spTree>
    <p:extLst>
      <p:ext uri="{BB962C8B-B14F-4D97-AF65-F5344CB8AC3E}">
        <p14:creationId xmlns:p14="http://schemas.microsoft.com/office/powerpoint/2010/main" val="169028145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bwMode="auto">
          <a:xfrm>
            <a:off x="1143000" y="0"/>
            <a:ext cx="80010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12.8	An Increasing Cost Industry Has a Positively </a:t>
            </a:r>
            <a:r>
              <a:rPr lang="en-US" altLang="en-US" dirty="0" smtClean="0"/>
              <a:t/>
            </a:r>
            <a:br>
              <a:rPr lang="en-US" altLang="en-US" dirty="0" smtClean="0"/>
            </a:br>
            <a:r>
              <a:rPr lang="en-US" altLang="en-US" dirty="0" smtClean="0"/>
              <a:t>	</a:t>
            </a:r>
            <a:r>
              <a:rPr lang="en-US" altLang="en-US" dirty="0" smtClean="0">
                <a:solidFill>
                  <a:srgbClr val="002D56"/>
                </a:solidFill>
              </a:rPr>
              <a:t>Sloped </a:t>
            </a:r>
            <a:r>
              <a:rPr lang="en-US" altLang="en-US" dirty="0">
                <a:solidFill>
                  <a:srgbClr val="002D56"/>
                </a:solidFill>
              </a:rPr>
              <a:t>Long-Run Supply </a:t>
            </a:r>
            <a:r>
              <a:rPr lang="en-US" altLang="en-US" dirty="0" smtClean="0">
                <a:solidFill>
                  <a:srgbClr val="002D56"/>
                </a:solidFill>
              </a:rPr>
              <a:t>Curve</a:t>
            </a:r>
            <a:endParaRPr lang="en-US" altLang="en-US" dirty="0" smtClean="0">
              <a:solidFill>
                <a:srgbClr val="002D56"/>
              </a:solidFill>
            </a:endParaRPr>
          </a:p>
        </p:txBody>
      </p:sp>
      <p:sp>
        <p:nvSpPr>
          <p:cNvPr id="61443" name="Text Placeholder 2"/>
          <p:cNvSpPr>
            <a:spLocks noGrp="1"/>
          </p:cNvSpPr>
          <p:nvPr>
            <p:ph sz="half" idx="1"/>
          </p:nvPr>
        </p:nvSpPr>
        <p:spPr>
          <a:xfrm>
            <a:off x="42068" y="4267200"/>
            <a:ext cx="9101931" cy="2123868"/>
          </a:xfrm>
        </p:spPr>
        <p:txBody>
          <a:bodyPr>
            <a:normAutofit/>
          </a:bodyPr>
          <a:lstStyle/>
          <a:p>
            <a:pPr>
              <a:spcBef>
                <a:spcPct val="0"/>
              </a:spcBef>
            </a:pPr>
            <a:r>
              <a:rPr lang="en-US" altLang="en-US" dirty="0"/>
              <a:t>Initially the market is in equilibrium at P</a:t>
            </a:r>
            <a:r>
              <a:rPr lang="en-US" altLang="en-US" baseline="-25000" dirty="0"/>
              <a:t>1</a:t>
            </a:r>
            <a:r>
              <a:rPr lang="en-US" altLang="en-US" dirty="0"/>
              <a:t>, Q</a:t>
            </a:r>
            <a:r>
              <a:rPr lang="en-US" altLang="en-US" baseline="-25000" dirty="0"/>
              <a:t>1</a:t>
            </a:r>
            <a:r>
              <a:rPr lang="en-US" altLang="en-US" dirty="0"/>
              <a:t>. </a:t>
            </a:r>
            <a:endParaRPr lang="en-US" altLang="en-US" dirty="0" smtClean="0"/>
          </a:p>
          <a:p>
            <a:pPr>
              <a:spcBef>
                <a:spcPct val="0"/>
              </a:spcBef>
            </a:pPr>
            <a:r>
              <a:rPr lang="en-US" altLang="en-US" dirty="0" smtClean="0"/>
              <a:t>An </a:t>
            </a:r>
            <a:r>
              <a:rPr lang="en-US" altLang="en-US" dirty="0"/>
              <a:t>increase in demand (to D’) causes price to increase to P</a:t>
            </a:r>
            <a:r>
              <a:rPr lang="en-US" altLang="en-US" baseline="-25000" dirty="0"/>
              <a:t>2 </a:t>
            </a:r>
            <a:r>
              <a:rPr lang="en-US" altLang="en-US" dirty="0"/>
              <a:t>in the short run, and the typical firm produces q</a:t>
            </a:r>
            <a:r>
              <a:rPr lang="en-US" altLang="en-US" baseline="-25000" dirty="0"/>
              <a:t>2</a:t>
            </a:r>
            <a:r>
              <a:rPr lang="en-US" altLang="en-US" dirty="0"/>
              <a:t> at a profit. This profit attracts new firms into the industry. </a:t>
            </a:r>
            <a:endParaRPr lang="en-US" altLang="en-US" dirty="0" smtClean="0"/>
          </a:p>
          <a:p>
            <a:pPr>
              <a:spcBef>
                <a:spcPct val="0"/>
              </a:spcBef>
            </a:pPr>
            <a:r>
              <a:rPr lang="en-US" altLang="en-US" dirty="0" smtClean="0"/>
              <a:t>The </a:t>
            </a:r>
            <a:r>
              <a:rPr lang="en-US" altLang="en-US" dirty="0"/>
              <a:t>entry of these new firms causes costs for a typical firm to increase to </a:t>
            </a:r>
            <a:r>
              <a:rPr lang="en-US" altLang="en-US" dirty="0" smtClean="0"/>
              <a:t>levels </a:t>
            </a:r>
            <a:r>
              <a:rPr lang="en-US" altLang="en-US" dirty="0"/>
              <a:t>shown in (b). </a:t>
            </a:r>
            <a:endParaRPr lang="en-US" altLang="en-US" dirty="0" smtClean="0"/>
          </a:p>
          <a:p>
            <a:pPr>
              <a:spcBef>
                <a:spcPct val="0"/>
              </a:spcBef>
            </a:pPr>
            <a:r>
              <a:rPr lang="en-US" altLang="en-US" dirty="0" smtClean="0"/>
              <a:t>With </a:t>
            </a:r>
            <a:r>
              <a:rPr lang="en-US" altLang="en-US" dirty="0"/>
              <a:t>this new set of curves, equilibrium is re-established in the market at P</a:t>
            </a:r>
            <a:r>
              <a:rPr lang="en-US" altLang="en-US" baseline="-25000" dirty="0"/>
              <a:t>3</a:t>
            </a:r>
            <a:r>
              <a:rPr lang="en-US" altLang="en-US" dirty="0"/>
              <a:t>, Q</a:t>
            </a:r>
            <a:r>
              <a:rPr lang="en-US" altLang="en-US" baseline="-25000" dirty="0"/>
              <a:t>3</a:t>
            </a:r>
            <a:r>
              <a:rPr lang="en-US" altLang="en-US" dirty="0"/>
              <a:t>. By considering many possible demand shifts and connecting all the resulting equilibrium points, the long-run supply curve (LS) is traced out</a:t>
            </a:r>
            <a:r>
              <a:rPr lang="en-US" altLang="en-US" dirty="0" smtClean="0"/>
              <a:t>.</a:t>
            </a:r>
            <a:endParaRPr lang="en-US" altLang="en-US" dirty="0"/>
          </a:p>
        </p:txBody>
      </p:sp>
      <p:sp>
        <p:nvSpPr>
          <p:cNvPr id="61446"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77C231AF-4A8D-407B-B4BB-9EB2C8F41794}" type="slidenum">
              <a:rPr lang="en-US" smtClean="0"/>
              <a:pPr>
                <a:defRPr/>
              </a:pPr>
              <a:t>46</a:t>
            </a:fld>
            <a:endParaRPr lang="en-US" dirty="0"/>
          </a:p>
        </p:txBody>
      </p:sp>
      <p:grpSp>
        <p:nvGrpSpPr>
          <p:cNvPr id="7" name="Group 9"/>
          <p:cNvGrpSpPr>
            <a:grpSpLocks/>
          </p:cNvGrpSpPr>
          <p:nvPr/>
        </p:nvGrpSpPr>
        <p:grpSpPr bwMode="auto">
          <a:xfrm>
            <a:off x="266700" y="838200"/>
            <a:ext cx="2927350" cy="3086100"/>
            <a:chOff x="384974" y="1298393"/>
            <a:chExt cx="2928238" cy="3086682"/>
          </a:xfrm>
        </p:grpSpPr>
        <p:grpSp>
          <p:nvGrpSpPr>
            <p:cNvPr id="61542" name="Group 45"/>
            <p:cNvGrpSpPr>
              <a:grpSpLocks/>
            </p:cNvGrpSpPr>
            <p:nvPr/>
          </p:nvGrpSpPr>
          <p:grpSpPr bwMode="auto">
            <a:xfrm>
              <a:off x="844550" y="4048525"/>
              <a:ext cx="2436813" cy="336550"/>
              <a:chOff x="844550" y="4048525"/>
              <a:chExt cx="2436813" cy="336550"/>
            </a:xfrm>
          </p:grpSpPr>
          <p:sp>
            <p:nvSpPr>
              <p:cNvPr id="61547" name="Line 5"/>
              <p:cNvSpPr>
                <a:spLocks noChangeShapeType="1"/>
              </p:cNvSpPr>
              <p:nvPr/>
            </p:nvSpPr>
            <p:spPr bwMode="auto">
              <a:xfrm>
                <a:off x="844550" y="4048525"/>
                <a:ext cx="1981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548" name="Text Box 9"/>
              <p:cNvSpPr txBox="1">
                <a:spLocks noChangeArrowheads="1"/>
              </p:cNvSpPr>
              <p:nvPr/>
            </p:nvSpPr>
            <p:spPr bwMode="auto">
              <a:xfrm>
                <a:off x="2386013" y="4048525"/>
                <a:ext cx="895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Output </a:t>
                </a:r>
              </a:p>
              <a:p>
                <a:pPr algn="ctr" eaLnBrk="1" hangingPunct="1"/>
                <a:r>
                  <a:rPr lang="en-US" altLang="en-US" sz="1800"/>
                  <a:t>per period</a:t>
                </a:r>
                <a:endParaRPr lang="en-US" altLang="en-US" sz="1800" baseline="30000"/>
              </a:p>
            </p:txBody>
          </p:sp>
        </p:grpSp>
        <p:grpSp>
          <p:nvGrpSpPr>
            <p:cNvPr id="61543" name="Group 44"/>
            <p:cNvGrpSpPr>
              <a:grpSpLocks/>
            </p:cNvGrpSpPr>
            <p:nvPr/>
          </p:nvGrpSpPr>
          <p:grpSpPr bwMode="auto">
            <a:xfrm>
              <a:off x="433388" y="1914925"/>
              <a:ext cx="411162" cy="2133600"/>
              <a:chOff x="433388" y="1914925"/>
              <a:chExt cx="411162" cy="2133600"/>
            </a:xfrm>
          </p:grpSpPr>
          <p:sp>
            <p:nvSpPr>
              <p:cNvPr id="61545" name="Line 4"/>
              <p:cNvSpPr>
                <a:spLocks noChangeShapeType="1"/>
              </p:cNvSpPr>
              <p:nvPr/>
            </p:nvSpPr>
            <p:spPr bwMode="auto">
              <a:xfrm>
                <a:off x="844550" y="2067325"/>
                <a:ext cx="0" cy="198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546" name="Text Box 14"/>
              <p:cNvSpPr txBox="1">
                <a:spLocks noChangeArrowheads="1"/>
              </p:cNvSpPr>
              <p:nvPr/>
            </p:nvSpPr>
            <p:spPr bwMode="auto">
              <a:xfrm>
                <a:off x="433388" y="1914925"/>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p>
            </p:txBody>
          </p:sp>
        </p:grpSp>
        <p:sp>
          <p:nvSpPr>
            <p:cNvPr id="61544" name="Text Box 27"/>
            <p:cNvSpPr txBox="1">
              <a:spLocks noChangeArrowheads="1"/>
            </p:cNvSpPr>
            <p:nvPr/>
          </p:nvSpPr>
          <p:spPr bwMode="auto">
            <a:xfrm>
              <a:off x="384974" y="1298393"/>
              <a:ext cx="29282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002D56"/>
                  </a:solidFill>
                </a:rPr>
                <a:t>(a) Typical firm before entry</a:t>
              </a:r>
            </a:p>
          </p:txBody>
        </p:sp>
      </p:grpSp>
      <p:grpSp>
        <p:nvGrpSpPr>
          <p:cNvPr id="12" name="Group 17"/>
          <p:cNvGrpSpPr>
            <a:grpSpLocks/>
          </p:cNvGrpSpPr>
          <p:nvPr/>
        </p:nvGrpSpPr>
        <p:grpSpPr bwMode="auto">
          <a:xfrm>
            <a:off x="3176588" y="838200"/>
            <a:ext cx="3046412" cy="3086100"/>
            <a:chOff x="3176588" y="1298393"/>
            <a:chExt cx="3046081" cy="3086682"/>
          </a:xfrm>
        </p:grpSpPr>
        <p:grpSp>
          <p:nvGrpSpPr>
            <p:cNvPr id="61535" name="Group 46"/>
            <p:cNvGrpSpPr>
              <a:grpSpLocks/>
            </p:cNvGrpSpPr>
            <p:nvPr/>
          </p:nvGrpSpPr>
          <p:grpSpPr bwMode="auto">
            <a:xfrm>
              <a:off x="3587750" y="4048525"/>
              <a:ext cx="2360613" cy="336550"/>
              <a:chOff x="3587750" y="4048525"/>
              <a:chExt cx="2360613" cy="336550"/>
            </a:xfrm>
          </p:grpSpPr>
          <p:sp>
            <p:nvSpPr>
              <p:cNvPr id="61540" name="Line 8"/>
              <p:cNvSpPr>
                <a:spLocks noChangeShapeType="1"/>
              </p:cNvSpPr>
              <p:nvPr/>
            </p:nvSpPr>
            <p:spPr bwMode="auto">
              <a:xfrm>
                <a:off x="3587750" y="4048525"/>
                <a:ext cx="1981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541" name="Text Box 11"/>
              <p:cNvSpPr txBox="1">
                <a:spLocks noChangeArrowheads="1"/>
              </p:cNvSpPr>
              <p:nvPr/>
            </p:nvSpPr>
            <p:spPr bwMode="auto">
              <a:xfrm>
                <a:off x="5053013" y="4048525"/>
                <a:ext cx="895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a:t>Output</a:t>
                </a:r>
              </a:p>
              <a:p>
                <a:pPr algn="r" eaLnBrk="1" hangingPunct="1"/>
                <a:r>
                  <a:rPr lang="en-US" altLang="en-US" sz="1800"/>
                  <a:t>per period</a:t>
                </a:r>
              </a:p>
            </p:txBody>
          </p:sp>
        </p:grpSp>
        <p:grpSp>
          <p:nvGrpSpPr>
            <p:cNvPr id="61536" name="Group 43"/>
            <p:cNvGrpSpPr>
              <a:grpSpLocks/>
            </p:cNvGrpSpPr>
            <p:nvPr/>
          </p:nvGrpSpPr>
          <p:grpSpPr bwMode="auto">
            <a:xfrm>
              <a:off x="3176588" y="1914925"/>
              <a:ext cx="411162" cy="2133600"/>
              <a:chOff x="3176588" y="1914925"/>
              <a:chExt cx="411162" cy="2133600"/>
            </a:xfrm>
          </p:grpSpPr>
          <p:sp>
            <p:nvSpPr>
              <p:cNvPr id="61538" name="Line 7"/>
              <p:cNvSpPr>
                <a:spLocks noChangeShapeType="1"/>
              </p:cNvSpPr>
              <p:nvPr/>
            </p:nvSpPr>
            <p:spPr bwMode="auto">
              <a:xfrm>
                <a:off x="3587750" y="2067325"/>
                <a:ext cx="0" cy="198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539" name="Text Box 13"/>
              <p:cNvSpPr txBox="1">
                <a:spLocks noChangeArrowheads="1"/>
              </p:cNvSpPr>
              <p:nvPr/>
            </p:nvSpPr>
            <p:spPr bwMode="auto">
              <a:xfrm>
                <a:off x="3176588" y="1914925"/>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p>
            </p:txBody>
          </p:sp>
        </p:grpSp>
        <p:sp>
          <p:nvSpPr>
            <p:cNvPr id="61537" name="Text Box 28"/>
            <p:cNvSpPr txBox="1">
              <a:spLocks noChangeArrowheads="1"/>
            </p:cNvSpPr>
            <p:nvPr/>
          </p:nvSpPr>
          <p:spPr bwMode="auto">
            <a:xfrm>
              <a:off x="3351830" y="1298393"/>
              <a:ext cx="2870839"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002D56"/>
                  </a:solidFill>
                </a:rPr>
                <a:t>(b) Typical firm after entry</a:t>
              </a:r>
            </a:p>
          </p:txBody>
        </p:sp>
      </p:grpSp>
      <p:grpSp>
        <p:nvGrpSpPr>
          <p:cNvPr id="20" name="Group 25"/>
          <p:cNvGrpSpPr>
            <a:grpSpLocks/>
          </p:cNvGrpSpPr>
          <p:nvPr/>
        </p:nvGrpSpPr>
        <p:grpSpPr bwMode="auto">
          <a:xfrm>
            <a:off x="6148388" y="838200"/>
            <a:ext cx="2916237" cy="3795713"/>
            <a:chOff x="6148388" y="1298393"/>
            <a:chExt cx="2916446" cy="3796122"/>
          </a:xfrm>
        </p:grpSpPr>
        <p:grpSp>
          <p:nvGrpSpPr>
            <p:cNvPr id="61528" name="Group 47"/>
            <p:cNvGrpSpPr>
              <a:grpSpLocks/>
            </p:cNvGrpSpPr>
            <p:nvPr/>
          </p:nvGrpSpPr>
          <p:grpSpPr bwMode="auto">
            <a:xfrm>
              <a:off x="6483350" y="4048525"/>
              <a:ext cx="2581484" cy="1045990"/>
              <a:chOff x="6483350" y="4048525"/>
              <a:chExt cx="2581484" cy="1045990"/>
            </a:xfrm>
          </p:grpSpPr>
          <p:sp>
            <p:nvSpPr>
              <p:cNvPr id="61533" name="Line 3"/>
              <p:cNvSpPr>
                <a:spLocks noChangeShapeType="1"/>
              </p:cNvSpPr>
              <p:nvPr/>
            </p:nvSpPr>
            <p:spPr bwMode="auto">
              <a:xfrm>
                <a:off x="6483350" y="4048525"/>
                <a:ext cx="1981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534" name="Text Box 10"/>
              <p:cNvSpPr txBox="1">
                <a:spLocks noChangeArrowheads="1"/>
              </p:cNvSpPr>
              <p:nvPr/>
            </p:nvSpPr>
            <p:spPr bwMode="auto">
              <a:xfrm>
                <a:off x="7972305" y="4048525"/>
                <a:ext cx="1092529" cy="1045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a:t>Output </a:t>
                </a:r>
              </a:p>
              <a:p>
                <a:pPr algn="r" eaLnBrk="1" hangingPunct="1"/>
                <a:r>
                  <a:rPr lang="en-US" altLang="en-US" sz="1800"/>
                  <a:t>per period</a:t>
                </a:r>
              </a:p>
            </p:txBody>
          </p:sp>
        </p:grpSp>
        <p:grpSp>
          <p:nvGrpSpPr>
            <p:cNvPr id="61529" name="Group 42"/>
            <p:cNvGrpSpPr>
              <a:grpSpLocks/>
            </p:cNvGrpSpPr>
            <p:nvPr/>
          </p:nvGrpSpPr>
          <p:grpSpPr bwMode="auto">
            <a:xfrm>
              <a:off x="6148388" y="1991125"/>
              <a:ext cx="334962" cy="2057400"/>
              <a:chOff x="6148388" y="1991125"/>
              <a:chExt cx="334962" cy="2057400"/>
            </a:xfrm>
          </p:grpSpPr>
          <p:sp>
            <p:nvSpPr>
              <p:cNvPr id="61531" name="Line 6"/>
              <p:cNvSpPr>
                <a:spLocks noChangeShapeType="1"/>
              </p:cNvSpPr>
              <p:nvPr/>
            </p:nvSpPr>
            <p:spPr bwMode="auto">
              <a:xfrm>
                <a:off x="6483350" y="2067325"/>
                <a:ext cx="0" cy="198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532" name="Text Box 12"/>
              <p:cNvSpPr txBox="1">
                <a:spLocks noChangeArrowheads="1"/>
              </p:cNvSpPr>
              <p:nvPr/>
            </p:nvSpPr>
            <p:spPr bwMode="auto">
              <a:xfrm>
                <a:off x="6148388" y="1991125"/>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p>
            </p:txBody>
          </p:sp>
        </p:grpSp>
        <p:sp>
          <p:nvSpPr>
            <p:cNvPr id="61530" name="Text Box 29"/>
            <p:cNvSpPr txBox="1">
              <a:spLocks noChangeArrowheads="1"/>
            </p:cNvSpPr>
            <p:nvPr/>
          </p:nvSpPr>
          <p:spPr bwMode="auto">
            <a:xfrm>
              <a:off x="6475025" y="1298393"/>
              <a:ext cx="231271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dirty="0">
                  <a:solidFill>
                    <a:srgbClr val="002D56"/>
                  </a:solidFill>
                </a:rPr>
                <a:t>(c) The market</a:t>
              </a:r>
            </a:p>
          </p:txBody>
        </p:sp>
      </p:grpSp>
      <p:grpSp>
        <p:nvGrpSpPr>
          <p:cNvPr id="28" name="Group 36"/>
          <p:cNvGrpSpPr>
            <a:grpSpLocks/>
          </p:cNvGrpSpPr>
          <p:nvPr/>
        </p:nvGrpSpPr>
        <p:grpSpPr bwMode="auto">
          <a:xfrm>
            <a:off x="819150" y="1724025"/>
            <a:ext cx="2289175" cy="1058863"/>
            <a:chOff x="819396" y="1947284"/>
            <a:chExt cx="2289569" cy="1058986"/>
          </a:xfrm>
        </p:grpSpPr>
        <p:sp>
          <p:nvSpPr>
            <p:cNvPr id="61526" name="Freeform 28"/>
            <p:cNvSpPr>
              <a:spLocks/>
            </p:cNvSpPr>
            <p:nvPr/>
          </p:nvSpPr>
          <p:spPr bwMode="auto">
            <a:xfrm>
              <a:off x="819396" y="2220687"/>
              <a:ext cx="1781299" cy="785583"/>
            </a:xfrm>
            <a:custGeom>
              <a:avLst/>
              <a:gdLst>
                <a:gd name="T0" fmla="*/ 0 w 1680"/>
                <a:gd name="T1" fmla="*/ 48 h 536"/>
                <a:gd name="T2" fmla="*/ 768 w 1680"/>
                <a:gd name="T3" fmla="*/ 528 h 536"/>
                <a:gd name="T4" fmla="*/ 1680 w 1680"/>
                <a:gd name="T5" fmla="*/ 0 h 536"/>
                <a:gd name="T6" fmla="*/ 0 60000 65536"/>
                <a:gd name="T7" fmla="*/ 0 60000 65536"/>
                <a:gd name="T8" fmla="*/ 0 60000 65536"/>
                <a:gd name="T9" fmla="*/ 0 w 1680"/>
                <a:gd name="T10" fmla="*/ 0 h 536"/>
                <a:gd name="T11" fmla="*/ 1680 w 1680"/>
                <a:gd name="T12" fmla="*/ 536 h 536"/>
              </a:gdLst>
              <a:ahLst/>
              <a:cxnLst>
                <a:cxn ang="T6">
                  <a:pos x="T0" y="T1"/>
                </a:cxn>
                <a:cxn ang="T7">
                  <a:pos x="T2" y="T3"/>
                </a:cxn>
                <a:cxn ang="T8">
                  <a:pos x="T4" y="T5"/>
                </a:cxn>
              </a:cxnLst>
              <a:rect l="T9" t="T10" r="T11" b="T12"/>
              <a:pathLst>
                <a:path w="1680" h="536">
                  <a:moveTo>
                    <a:pt x="0" y="48"/>
                  </a:moveTo>
                  <a:cubicBezTo>
                    <a:pt x="244" y="292"/>
                    <a:pt x="488" y="536"/>
                    <a:pt x="768" y="528"/>
                  </a:cubicBezTo>
                  <a:cubicBezTo>
                    <a:pt x="1048" y="520"/>
                    <a:pt x="1528" y="88"/>
                    <a:pt x="1680" y="0"/>
                  </a:cubicBezTo>
                </a:path>
              </a:pathLst>
            </a:custGeom>
            <a:noFill/>
            <a:ln w="28575" cap="flat" cmpd="sng">
              <a:solidFill>
                <a:srgbClr val="0D7D65"/>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27" name="Text Box 29"/>
            <p:cNvSpPr txBox="1">
              <a:spLocks noChangeArrowheads="1"/>
            </p:cNvSpPr>
            <p:nvPr/>
          </p:nvSpPr>
          <p:spPr bwMode="auto">
            <a:xfrm>
              <a:off x="2497777" y="1947284"/>
              <a:ext cx="6111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0D7D65"/>
                  </a:solidFill>
                </a:rPr>
                <a:t>AC</a:t>
              </a:r>
            </a:p>
          </p:txBody>
        </p:sp>
      </p:grpSp>
      <p:grpSp>
        <p:nvGrpSpPr>
          <p:cNvPr id="34" name="Group 98"/>
          <p:cNvGrpSpPr>
            <a:grpSpLocks/>
          </p:cNvGrpSpPr>
          <p:nvPr/>
        </p:nvGrpSpPr>
        <p:grpSpPr bwMode="auto">
          <a:xfrm>
            <a:off x="1017588" y="1517650"/>
            <a:ext cx="1612900" cy="1708150"/>
            <a:chOff x="2562082" y="1277821"/>
            <a:chExt cx="1611415" cy="1707869"/>
          </a:xfrm>
        </p:grpSpPr>
        <p:sp>
          <p:nvSpPr>
            <p:cNvPr id="61524" name="Freeform 12"/>
            <p:cNvSpPr>
              <a:spLocks/>
            </p:cNvSpPr>
            <p:nvPr/>
          </p:nvSpPr>
          <p:spPr bwMode="auto">
            <a:xfrm rot="941367">
              <a:off x="2562082" y="1510480"/>
              <a:ext cx="1040013" cy="1475210"/>
            </a:xfrm>
            <a:custGeom>
              <a:avLst/>
              <a:gdLst>
                <a:gd name="T0" fmla="*/ 0 w 10000"/>
                <a:gd name="T1" fmla="*/ 1377028 h 10713"/>
                <a:gd name="T2" fmla="*/ 691401 w 10000"/>
                <a:gd name="T3" fmla="*/ 918064 h 10713"/>
                <a:gd name="T4" fmla="*/ 1040013 w 10000"/>
                <a:gd name="T5" fmla="*/ 0 h 10713"/>
                <a:gd name="T6" fmla="*/ 0 60000 65536"/>
                <a:gd name="T7" fmla="*/ 0 60000 65536"/>
                <a:gd name="T8" fmla="*/ 0 60000 65536"/>
              </a:gdLst>
              <a:ahLst/>
              <a:cxnLst>
                <a:cxn ang="T6">
                  <a:pos x="T0" y="T1"/>
                </a:cxn>
                <a:cxn ang="T7">
                  <a:pos x="T2" y="T3"/>
                </a:cxn>
                <a:cxn ang="T8">
                  <a:pos x="T4" y="T5"/>
                </a:cxn>
              </a:cxnLst>
              <a:rect l="0" t="0" r="r" b="b"/>
              <a:pathLst>
                <a:path w="10000" h="10713">
                  <a:moveTo>
                    <a:pt x="0" y="10000"/>
                  </a:moveTo>
                  <a:cubicBezTo>
                    <a:pt x="2032" y="10713"/>
                    <a:pt x="4981" y="8334"/>
                    <a:pt x="6648" y="6667"/>
                  </a:cubicBezTo>
                  <a:cubicBezTo>
                    <a:pt x="8314" y="5001"/>
                    <a:pt x="9116" y="2434"/>
                    <a:pt x="10000" y="0"/>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25" name="Text Box 16"/>
            <p:cNvSpPr txBox="1">
              <a:spLocks noChangeArrowheads="1"/>
            </p:cNvSpPr>
            <p:nvPr/>
          </p:nvSpPr>
          <p:spPr bwMode="auto">
            <a:xfrm>
              <a:off x="3673434" y="1277821"/>
              <a:ext cx="5000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177B21"/>
                  </a:solidFill>
                </a:rPr>
                <a:t>MC</a:t>
              </a:r>
            </a:p>
          </p:txBody>
        </p:sp>
      </p:grpSp>
      <p:grpSp>
        <p:nvGrpSpPr>
          <p:cNvPr id="35" name="Group 102"/>
          <p:cNvGrpSpPr>
            <a:grpSpLocks/>
          </p:cNvGrpSpPr>
          <p:nvPr/>
        </p:nvGrpSpPr>
        <p:grpSpPr bwMode="auto">
          <a:xfrm>
            <a:off x="1106488" y="1230313"/>
            <a:ext cx="1290637" cy="2247900"/>
            <a:chOff x="1220386" y="1450140"/>
            <a:chExt cx="1291063" cy="2246598"/>
          </a:xfrm>
        </p:grpSpPr>
        <p:sp>
          <p:nvSpPr>
            <p:cNvPr id="61522" name="Text Box 11"/>
            <p:cNvSpPr txBox="1">
              <a:spLocks noChangeArrowheads="1"/>
            </p:cNvSpPr>
            <p:nvPr/>
          </p:nvSpPr>
          <p:spPr bwMode="auto">
            <a:xfrm>
              <a:off x="1876449" y="1450140"/>
              <a:ext cx="635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SMC</a:t>
              </a:r>
            </a:p>
          </p:txBody>
        </p:sp>
        <p:sp>
          <p:nvSpPr>
            <p:cNvPr id="61523" name="Freeform 101"/>
            <p:cNvSpPr>
              <a:spLocks/>
            </p:cNvSpPr>
            <p:nvPr/>
          </p:nvSpPr>
          <p:spPr bwMode="auto">
            <a:xfrm>
              <a:off x="1220386" y="1796778"/>
              <a:ext cx="843240" cy="1899960"/>
            </a:xfrm>
            <a:custGeom>
              <a:avLst/>
              <a:gdLst>
                <a:gd name="T0" fmla="*/ 843240 w 843240"/>
                <a:gd name="T1" fmla="*/ 0 h 1899960"/>
                <a:gd name="T2" fmla="*/ 0 w 843240"/>
                <a:gd name="T3" fmla="*/ 1899960 h 1899960"/>
                <a:gd name="T4" fmla="*/ 0 60000 65536"/>
                <a:gd name="T5" fmla="*/ 0 60000 65536"/>
              </a:gdLst>
              <a:ahLst/>
              <a:cxnLst>
                <a:cxn ang="T4">
                  <a:pos x="T0" y="T1"/>
                </a:cxn>
                <a:cxn ang="T5">
                  <a:pos x="T2" y="T3"/>
                </a:cxn>
              </a:cxnLst>
              <a:rect l="0" t="0" r="r" b="b"/>
              <a:pathLst>
                <a:path w="843240" h="1899960">
                  <a:moveTo>
                    <a:pt x="843240" y="0"/>
                  </a:moveTo>
                  <a:cubicBezTo>
                    <a:pt x="761407" y="633320"/>
                    <a:pt x="430515" y="1465887"/>
                    <a:pt x="0" y="1899960"/>
                  </a:cubicBezTo>
                </a:path>
              </a:pathLst>
            </a:custGeom>
            <a:noFill/>
            <a:ln w="28575" cap="flat" cmpd="sng" algn="ctr">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37" name="Group 67"/>
          <p:cNvGrpSpPr>
            <a:grpSpLocks/>
          </p:cNvGrpSpPr>
          <p:nvPr/>
        </p:nvGrpSpPr>
        <p:grpSpPr bwMode="auto">
          <a:xfrm>
            <a:off x="1363663" y="2733675"/>
            <a:ext cx="438150" cy="1185863"/>
            <a:chOff x="1541487" y="2956590"/>
            <a:chExt cx="438150" cy="1186223"/>
          </a:xfrm>
        </p:grpSpPr>
        <p:grpSp>
          <p:nvGrpSpPr>
            <p:cNvPr id="61518" name="Group 6"/>
            <p:cNvGrpSpPr>
              <a:grpSpLocks/>
            </p:cNvGrpSpPr>
            <p:nvPr/>
          </p:nvGrpSpPr>
          <p:grpSpPr bwMode="auto">
            <a:xfrm>
              <a:off x="1541487" y="2987137"/>
              <a:ext cx="438150" cy="1155676"/>
              <a:chOff x="1244600" y="3224637"/>
              <a:chExt cx="438150" cy="1155676"/>
            </a:xfrm>
          </p:grpSpPr>
          <p:sp>
            <p:nvSpPr>
              <p:cNvPr id="61520" name="Line 21"/>
              <p:cNvSpPr>
                <a:spLocks noChangeShapeType="1"/>
              </p:cNvSpPr>
              <p:nvPr/>
            </p:nvSpPr>
            <p:spPr bwMode="auto">
              <a:xfrm flipH="1">
                <a:off x="1454149" y="3224637"/>
                <a:ext cx="1935" cy="82388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521" name="Text Box 23"/>
              <p:cNvSpPr txBox="1">
                <a:spLocks noChangeArrowheads="1"/>
              </p:cNvSpPr>
              <p:nvPr/>
            </p:nvSpPr>
            <p:spPr bwMode="auto">
              <a:xfrm>
                <a:off x="1244600" y="4075513"/>
                <a:ext cx="438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25000"/>
                  <a:t>1</a:t>
                </a:r>
                <a:endParaRPr lang="en-US" altLang="en-US" sz="1800" baseline="30000"/>
              </a:p>
            </p:txBody>
          </p:sp>
        </p:grpSp>
        <p:sp>
          <p:nvSpPr>
            <p:cNvPr id="61519" name="Oval 9"/>
            <p:cNvSpPr>
              <a:spLocks noChangeArrowheads="1"/>
            </p:cNvSpPr>
            <p:nvPr/>
          </p:nvSpPr>
          <p:spPr bwMode="auto">
            <a:xfrm>
              <a:off x="1714634" y="2956590"/>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43" name="Group 103"/>
          <p:cNvGrpSpPr>
            <a:grpSpLocks/>
          </p:cNvGrpSpPr>
          <p:nvPr/>
        </p:nvGrpSpPr>
        <p:grpSpPr bwMode="auto">
          <a:xfrm>
            <a:off x="3746500" y="1392238"/>
            <a:ext cx="2397125" cy="1058862"/>
            <a:chOff x="712520" y="1947284"/>
            <a:chExt cx="2396445" cy="1058986"/>
          </a:xfrm>
        </p:grpSpPr>
        <p:sp>
          <p:nvSpPr>
            <p:cNvPr id="61516" name="Freeform 28"/>
            <p:cNvSpPr>
              <a:spLocks/>
            </p:cNvSpPr>
            <p:nvPr/>
          </p:nvSpPr>
          <p:spPr bwMode="auto">
            <a:xfrm>
              <a:off x="712520" y="2244436"/>
              <a:ext cx="1888176" cy="761834"/>
            </a:xfrm>
            <a:custGeom>
              <a:avLst/>
              <a:gdLst>
                <a:gd name="T0" fmla="*/ 0 w 1680"/>
                <a:gd name="T1" fmla="*/ 48 h 536"/>
                <a:gd name="T2" fmla="*/ 768 w 1680"/>
                <a:gd name="T3" fmla="*/ 528 h 536"/>
                <a:gd name="T4" fmla="*/ 1680 w 1680"/>
                <a:gd name="T5" fmla="*/ 0 h 536"/>
                <a:gd name="T6" fmla="*/ 0 60000 65536"/>
                <a:gd name="T7" fmla="*/ 0 60000 65536"/>
                <a:gd name="T8" fmla="*/ 0 60000 65536"/>
                <a:gd name="T9" fmla="*/ 0 w 1680"/>
                <a:gd name="T10" fmla="*/ 0 h 536"/>
                <a:gd name="T11" fmla="*/ 1680 w 1680"/>
                <a:gd name="T12" fmla="*/ 536 h 536"/>
              </a:gdLst>
              <a:ahLst/>
              <a:cxnLst>
                <a:cxn ang="T6">
                  <a:pos x="T0" y="T1"/>
                </a:cxn>
                <a:cxn ang="T7">
                  <a:pos x="T2" y="T3"/>
                </a:cxn>
                <a:cxn ang="T8">
                  <a:pos x="T4" y="T5"/>
                </a:cxn>
              </a:cxnLst>
              <a:rect l="T9" t="T10" r="T11" b="T12"/>
              <a:pathLst>
                <a:path w="1680" h="536">
                  <a:moveTo>
                    <a:pt x="0" y="48"/>
                  </a:moveTo>
                  <a:cubicBezTo>
                    <a:pt x="244" y="292"/>
                    <a:pt x="488" y="536"/>
                    <a:pt x="768" y="528"/>
                  </a:cubicBezTo>
                  <a:cubicBezTo>
                    <a:pt x="1048" y="520"/>
                    <a:pt x="1528" y="88"/>
                    <a:pt x="1680" y="0"/>
                  </a:cubicBezTo>
                </a:path>
              </a:pathLst>
            </a:custGeom>
            <a:noFill/>
            <a:ln w="28575" cap="flat" cmpd="sng">
              <a:solidFill>
                <a:srgbClr val="0D7D65"/>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17" name="Text Box 29"/>
            <p:cNvSpPr txBox="1">
              <a:spLocks noChangeArrowheads="1"/>
            </p:cNvSpPr>
            <p:nvPr/>
          </p:nvSpPr>
          <p:spPr bwMode="auto">
            <a:xfrm>
              <a:off x="2497777" y="1947284"/>
              <a:ext cx="6111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0D7D65"/>
                  </a:solidFill>
                </a:rPr>
                <a:t>AC</a:t>
              </a:r>
            </a:p>
          </p:txBody>
        </p:sp>
      </p:grpSp>
      <p:grpSp>
        <p:nvGrpSpPr>
          <p:cNvPr id="44" name="Group 106"/>
          <p:cNvGrpSpPr>
            <a:grpSpLocks/>
          </p:cNvGrpSpPr>
          <p:nvPr/>
        </p:nvGrpSpPr>
        <p:grpSpPr bwMode="auto">
          <a:xfrm>
            <a:off x="4052888" y="1185863"/>
            <a:ext cx="1611312" cy="1706562"/>
            <a:chOff x="2562082" y="1277821"/>
            <a:chExt cx="1611415" cy="1707869"/>
          </a:xfrm>
        </p:grpSpPr>
        <p:sp>
          <p:nvSpPr>
            <p:cNvPr id="61514" name="Freeform 12"/>
            <p:cNvSpPr>
              <a:spLocks/>
            </p:cNvSpPr>
            <p:nvPr/>
          </p:nvSpPr>
          <p:spPr bwMode="auto">
            <a:xfrm rot="941367">
              <a:off x="2562082" y="1510480"/>
              <a:ext cx="1040013" cy="1475210"/>
            </a:xfrm>
            <a:custGeom>
              <a:avLst/>
              <a:gdLst>
                <a:gd name="T0" fmla="*/ 0 w 10000"/>
                <a:gd name="T1" fmla="*/ 1377028 h 10713"/>
                <a:gd name="T2" fmla="*/ 691401 w 10000"/>
                <a:gd name="T3" fmla="*/ 918064 h 10713"/>
                <a:gd name="T4" fmla="*/ 1040013 w 10000"/>
                <a:gd name="T5" fmla="*/ 0 h 10713"/>
                <a:gd name="T6" fmla="*/ 0 60000 65536"/>
                <a:gd name="T7" fmla="*/ 0 60000 65536"/>
                <a:gd name="T8" fmla="*/ 0 60000 65536"/>
              </a:gdLst>
              <a:ahLst/>
              <a:cxnLst>
                <a:cxn ang="T6">
                  <a:pos x="T0" y="T1"/>
                </a:cxn>
                <a:cxn ang="T7">
                  <a:pos x="T2" y="T3"/>
                </a:cxn>
                <a:cxn ang="T8">
                  <a:pos x="T4" y="T5"/>
                </a:cxn>
              </a:cxnLst>
              <a:rect l="0" t="0" r="r" b="b"/>
              <a:pathLst>
                <a:path w="10000" h="10713">
                  <a:moveTo>
                    <a:pt x="0" y="10000"/>
                  </a:moveTo>
                  <a:cubicBezTo>
                    <a:pt x="2032" y="10713"/>
                    <a:pt x="4981" y="8334"/>
                    <a:pt x="6648" y="6667"/>
                  </a:cubicBezTo>
                  <a:cubicBezTo>
                    <a:pt x="8314" y="5001"/>
                    <a:pt x="9116" y="2434"/>
                    <a:pt x="10000" y="0"/>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15" name="Text Box 16"/>
            <p:cNvSpPr txBox="1">
              <a:spLocks noChangeArrowheads="1"/>
            </p:cNvSpPr>
            <p:nvPr/>
          </p:nvSpPr>
          <p:spPr bwMode="auto">
            <a:xfrm>
              <a:off x="3673434" y="1277821"/>
              <a:ext cx="5000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177B21"/>
                  </a:solidFill>
                </a:rPr>
                <a:t>MC</a:t>
              </a:r>
            </a:p>
          </p:txBody>
        </p:sp>
      </p:grpSp>
      <p:grpSp>
        <p:nvGrpSpPr>
          <p:cNvPr id="45" name="Group 109"/>
          <p:cNvGrpSpPr>
            <a:grpSpLocks/>
          </p:cNvGrpSpPr>
          <p:nvPr/>
        </p:nvGrpSpPr>
        <p:grpSpPr bwMode="auto">
          <a:xfrm>
            <a:off x="4140200" y="1147763"/>
            <a:ext cx="842963" cy="1997075"/>
            <a:chOff x="1220386" y="1699521"/>
            <a:chExt cx="843240" cy="1997217"/>
          </a:xfrm>
        </p:grpSpPr>
        <p:sp>
          <p:nvSpPr>
            <p:cNvPr id="61512" name="Text Box 11"/>
            <p:cNvSpPr txBox="1">
              <a:spLocks noChangeArrowheads="1"/>
            </p:cNvSpPr>
            <p:nvPr/>
          </p:nvSpPr>
          <p:spPr bwMode="auto">
            <a:xfrm>
              <a:off x="1391540" y="1699521"/>
              <a:ext cx="635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SMC</a:t>
              </a:r>
            </a:p>
          </p:txBody>
        </p:sp>
        <p:sp>
          <p:nvSpPr>
            <p:cNvPr id="61513" name="Freeform 111"/>
            <p:cNvSpPr>
              <a:spLocks/>
            </p:cNvSpPr>
            <p:nvPr/>
          </p:nvSpPr>
          <p:spPr bwMode="auto">
            <a:xfrm>
              <a:off x="1220386" y="1796778"/>
              <a:ext cx="843240" cy="1899960"/>
            </a:xfrm>
            <a:custGeom>
              <a:avLst/>
              <a:gdLst>
                <a:gd name="T0" fmla="*/ 843240 w 843240"/>
                <a:gd name="T1" fmla="*/ 0 h 1899960"/>
                <a:gd name="T2" fmla="*/ 0 w 843240"/>
                <a:gd name="T3" fmla="*/ 1899960 h 1899960"/>
                <a:gd name="T4" fmla="*/ 0 60000 65536"/>
                <a:gd name="T5" fmla="*/ 0 60000 65536"/>
              </a:gdLst>
              <a:ahLst/>
              <a:cxnLst>
                <a:cxn ang="T4">
                  <a:pos x="T0" y="T1"/>
                </a:cxn>
                <a:cxn ang="T5">
                  <a:pos x="T2" y="T3"/>
                </a:cxn>
              </a:cxnLst>
              <a:rect l="0" t="0" r="r" b="b"/>
              <a:pathLst>
                <a:path w="843240" h="1899960">
                  <a:moveTo>
                    <a:pt x="843240" y="0"/>
                  </a:moveTo>
                  <a:cubicBezTo>
                    <a:pt x="761407" y="633320"/>
                    <a:pt x="430515" y="1465887"/>
                    <a:pt x="0" y="1899960"/>
                  </a:cubicBezTo>
                </a:path>
              </a:pathLst>
            </a:custGeom>
            <a:noFill/>
            <a:ln w="28575" cap="flat" cmpd="sng" algn="ctr">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46" name="Group 84"/>
          <p:cNvGrpSpPr>
            <a:grpSpLocks/>
          </p:cNvGrpSpPr>
          <p:nvPr/>
        </p:nvGrpSpPr>
        <p:grpSpPr bwMode="auto">
          <a:xfrm>
            <a:off x="4460875" y="2409825"/>
            <a:ext cx="385763" cy="1482725"/>
            <a:chOff x="7093625" y="2632284"/>
            <a:chExt cx="385763" cy="1483541"/>
          </a:xfrm>
        </p:grpSpPr>
        <p:grpSp>
          <p:nvGrpSpPr>
            <p:cNvPr id="61508" name="Group 84"/>
            <p:cNvGrpSpPr>
              <a:grpSpLocks/>
            </p:cNvGrpSpPr>
            <p:nvPr/>
          </p:nvGrpSpPr>
          <p:grpSpPr bwMode="auto">
            <a:xfrm>
              <a:off x="7093625" y="2697679"/>
              <a:ext cx="385763" cy="1418146"/>
              <a:chOff x="7582475" y="2935179"/>
              <a:chExt cx="385763" cy="1418146"/>
            </a:xfrm>
          </p:grpSpPr>
          <p:sp>
            <p:nvSpPr>
              <p:cNvPr id="61510" name="Text Box 31"/>
              <p:cNvSpPr txBox="1">
                <a:spLocks noChangeArrowheads="1"/>
              </p:cNvSpPr>
              <p:nvPr/>
            </p:nvSpPr>
            <p:spPr bwMode="auto">
              <a:xfrm>
                <a:off x="7582475" y="4048525"/>
                <a:ext cx="385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25000"/>
                  <a:t>3</a:t>
                </a:r>
                <a:endParaRPr lang="en-US" altLang="en-US" sz="1800"/>
              </a:p>
            </p:txBody>
          </p:sp>
          <p:sp>
            <p:nvSpPr>
              <p:cNvPr id="61511" name="Line 33"/>
              <p:cNvSpPr>
                <a:spLocks noChangeShapeType="1"/>
              </p:cNvSpPr>
              <p:nvPr/>
            </p:nvSpPr>
            <p:spPr bwMode="auto">
              <a:xfrm flipH="1">
                <a:off x="7702549" y="2935179"/>
                <a:ext cx="4604" cy="1113345"/>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61509" name="Oval 9"/>
            <p:cNvSpPr>
              <a:spLocks noChangeArrowheads="1"/>
            </p:cNvSpPr>
            <p:nvPr/>
          </p:nvSpPr>
          <p:spPr bwMode="auto">
            <a:xfrm>
              <a:off x="7180283" y="2632284"/>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48" name="Group 115"/>
          <p:cNvGrpSpPr>
            <a:grpSpLocks/>
          </p:cNvGrpSpPr>
          <p:nvPr/>
        </p:nvGrpSpPr>
        <p:grpSpPr bwMode="auto">
          <a:xfrm>
            <a:off x="6719888" y="1227138"/>
            <a:ext cx="1265237" cy="1828800"/>
            <a:chOff x="6008102" y="2368372"/>
            <a:chExt cx="1265967" cy="1829561"/>
          </a:xfrm>
        </p:grpSpPr>
        <p:sp>
          <p:nvSpPr>
            <p:cNvPr id="61506" name="Freeform 20"/>
            <p:cNvSpPr>
              <a:spLocks/>
            </p:cNvSpPr>
            <p:nvPr/>
          </p:nvSpPr>
          <p:spPr bwMode="auto">
            <a:xfrm>
              <a:off x="6008102" y="2701636"/>
              <a:ext cx="983684" cy="1496297"/>
            </a:xfrm>
            <a:custGeom>
              <a:avLst/>
              <a:gdLst>
                <a:gd name="T0" fmla="*/ 0 w 1152"/>
                <a:gd name="T1" fmla="*/ 1536 h 1536"/>
                <a:gd name="T2" fmla="*/ 624 w 1152"/>
                <a:gd name="T3" fmla="*/ 1104 h 1536"/>
                <a:gd name="T4" fmla="*/ 1152 w 1152"/>
                <a:gd name="T5" fmla="*/ 0 h 1536"/>
                <a:gd name="T6" fmla="*/ 0 60000 65536"/>
                <a:gd name="T7" fmla="*/ 0 60000 65536"/>
                <a:gd name="T8" fmla="*/ 0 60000 65536"/>
                <a:gd name="T9" fmla="*/ 0 w 1152"/>
                <a:gd name="T10" fmla="*/ 0 h 1536"/>
                <a:gd name="T11" fmla="*/ 1152 w 1152"/>
                <a:gd name="T12" fmla="*/ 1536 h 1536"/>
              </a:gdLst>
              <a:ahLst/>
              <a:cxnLst>
                <a:cxn ang="T6">
                  <a:pos x="T0" y="T1"/>
                </a:cxn>
                <a:cxn ang="T7">
                  <a:pos x="T2" y="T3"/>
                </a:cxn>
                <a:cxn ang="T8">
                  <a:pos x="T4" y="T5"/>
                </a:cxn>
              </a:cxnLst>
              <a:rect l="T9" t="T10" r="T11" b="T12"/>
              <a:pathLst>
                <a:path w="1152" h="1536">
                  <a:moveTo>
                    <a:pt x="0" y="1536"/>
                  </a:moveTo>
                  <a:cubicBezTo>
                    <a:pt x="216" y="1448"/>
                    <a:pt x="432" y="1360"/>
                    <a:pt x="624" y="1104"/>
                  </a:cubicBezTo>
                  <a:cubicBezTo>
                    <a:pt x="816" y="848"/>
                    <a:pt x="1064" y="184"/>
                    <a:pt x="1152" y="0"/>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07" name="Text Box 21"/>
            <p:cNvSpPr txBox="1">
              <a:spLocks noChangeArrowheads="1"/>
            </p:cNvSpPr>
            <p:nvPr/>
          </p:nvSpPr>
          <p:spPr bwMode="auto">
            <a:xfrm>
              <a:off x="6954981" y="2368372"/>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5D0D8F"/>
                  </a:solidFill>
                </a:rPr>
                <a:t>S</a:t>
              </a:r>
            </a:p>
          </p:txBody>
        </p:sp>
      </p:grpSp>
      <p:grpSp>
        <p:nvGrpSpPr>
          <p:cNvPr id="49" name="Group 118"/>
          <p:cNvGrpSpPr>
            <a:grpSpLocks/>
          </p:cNvGrpSpPr>
          <p:nvPr/>
        </p:nvGrpSpPr>
        <p:grpSpPr bwMode="auto">
          <a:xfrm>
            <a:off x="6610792" y="1906588"/>
            <a:ext cx="1599756" cy="1651000"/>
            <a:chOff x="5996865" y="2840182"/>
            <a:chExt cx="1599767" cy="1650729"/>
          </a:xfrm>
        </p:grpSpPr>
        <p:sp>
          <p:nvSpPr>
            <p:cNvPr id="61504" name="Freeform 19"/>
            <p:cNvSpPr>
              <a:spLocks/>
            </p:cNvSpPr>
            <p:nvPr/>
          </p:nvSpPr>
          <p:spPr bwMode="auto">
            <a:xfrm>
              <a:off x="5996865" y="2840182"/>
              <a:ext cx="1314015" cy="1370121"/>
            </a:xfrm>
            <a:custGeom>
              <a:avLst/>
              <a:gdLst>
                <a:gd name="T0" fmla="*/ 0 w 1104"/>
                <a:gd name="T1" fmla="*/ 0 h 1440"/>
                <a:gd name="T2" fmla="*/ 384 w 1104"/>
                <a:gd name="T3" fmla="*/ 816 h 1440"/>
                <a:gd name="T4" fmla="*/ 1104 w 1104"/>
                <a:gd name="T5" fmla="*/ 1440 h 1440"/>
                <a:gd name="T6" fmla="*/ 0 60000 65536"/>
                <a:gd name="T7" fmla="*/ 0 60000 65536"/>
                <a:gd name="T8" fmla="*/ 0 60000 65536"/>
                <a:gd name="T9" fmla="*/ 0 w 1104"/>
                <a:gd name="T10" fmla="*/ 0 h 1440"/>
                <a:gd name="T11" fmla="*/ 1104 w 1104"/>
                <a:gd name="T12" fmla="*/ 1440 h 1440"/>
              </a:gdLst>
              <a:ahLst/>
              <a:cxnLst>
                <a:cxn ang="T6">
                  <a:pos x="T0" y="T1"/>
                </a:cxn>
                <a:cxn ang="T7">
                  <a:pos x="T2" y="T3"/>
                </a:cxn>
                <a:cxn ang="T8">
                  <a:pos x="T4" y="T5"/>
                </a:cxn>
              </a:cxnLst>
              <a:rect l="T9" t="T10" r="T11" b="T12"/>
              <a:pathLst>
                <a:path w="1104" h="1440">
                  <a:moveTo>
                    <a:pt x="0" y="0"/>
                  </a:moveTo>
                  <a:cubicBezTo>
                    <a:pt x="100" y="288"/>
                    <a:pt x="200" y="576"/>
                    <a:pt x="384" y="816"/>
                  </a:cubicBezTo>
                  <a:cubicBezTo>
                    <a:pt x="568" y="1056"/>
                    <a:pt x="984" y="1336"/>
                    <a:pt x="1104" y="1440"/>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05" name="Text Box 22"/>
            <p:cNvSpPr txBox="1">
              <a:spLocks noChangeArrowheads="1"/>
            </p:cNvSpPr>
            <p:nvPr/>
          </p:nvSpPr>
          <p:spPr bwMode="auto">
            <a:xfrm>
              <a:off x="7266432" y="4154361"/>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177B21"/>
                  </a:solidFill>
                </a:rPr>
                <a:t>D</a:t>
              </a:r>
            </a:p>
          </p:txBody>
        </p:sp>
      </p:grpSp>
      <p:grpSp>
        <p:nvGrpSpPr>
          <p:cNvPr id="50" name="Group 121"/>
          <p:cNvGrpSpPr>
            <a:grpSpLocks/>
          </p:cNvGrpSpPr>
          <p:nvPr/>
        </p:nvGrpSpPr>
        <p:grpSpPr bwMode="auto">
          <a:xfrm>
            <a:off x="7103526" y="1354010"/>
            <a:ext cx="1705513" cy="1809878"/>
            <a:chOff x="6378179" y="2329755"/>
            <a:chExt cx="1705371" cy="1809112"/>
          </a:xfrm>
        </p:grpSpPr>
        <p:sp>
          <p:nvSpPr>
            <p:cNvPr id="61502" name="Freeform 122"/>
            <p:cNvSpPr>
              <a:spLocks/>
            </p:cNvSpPr>
            <p:nvPr/>
          </p:nvSpPr>
          <p:spPr bwMode="auto">
            <a:xfrm>
              <a:off x="6378179" y="2329755"/>
              <a:ext cx="1318019" cy="1575749"/>
            </a:xfrm>
            <a:custGeom>
              <a:avLst/>
              <a:gdLst>
                <a:gd name="T0" fmla="*/ 0 w 1104"/>
                <a:gd name="T1" fmla="*/ 0 h 1440"/>
                <a:gd name="T2" fmla="*/ 384 w 1104"/>
                <a:gd name="T3" fmla="*/ 816 h 1440"/>
                <a:gd name="T4" fmla="*/ 1104 w 1104"/>
                <a:gd name="T5" fmla="*/ 1440 h 1440"/>
                <a:gd name="T6" fmla="*/ 0 60000 65536"/>
                <a:gd name="T7" fmla="*/ 0 60000 65536"/>
                <a:gd name="T8" fmla="*/ 0 60000 65536"/>
                <a:gd name="T9" fmla="*/ 0 w 1104"/>
                <a:gd name="T10" fmla="*/ 0 h 1440"/>
                <a:gd name="T11" fmla="*/ 1104 w 1104"/>
                <a:gd name="T12" fmla="*/ 1440 h 1440"/>
              </a:gdLst>
              <a:ahLst/>
              <a:cxnLst>
                <a:cxn ang="T6">
                  <a:pos x="T0" y="T1"/>
                </a:cxn>
                <a:cxn ang="T7">
                  <a:pos x="T2" y="T3"/>
                </a:cxn>
                <a:cxn ang="T8">
                  <a:pos x="T4" y="T5"/>
                </a:cxn>
              </a:cxnLst>
              <a:rect l="T9" t="T10" r="T11" b="T12"/>
              <a:pathLst>
                <a:path w="1104" h="1440">
                  <a:moveTo>
                    <a:pt x="0" y="0"/>
                  </a:moveTo>
                  <a:cubicBezTo>
                    <a:pt x="100" y="288"/>
                    <a:pt x="200" y="576"/>
                    <a:pt x="384" y="816"/>
                  </a:cubicBezTo>
                  <a:cubicBezTo>
                    <a:pt x="568" y="1056"/>
                    <a:pt x="984" y="1336"/>
                    <a:pt x="1104" y="1440"/>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03" name="Text Box 29"/>
            <p:cNvSpPr txBox="1">
              <a:spLocks noChangeArrowheads="1"/>
            </p:cNvSpPr>
            <p:nvPr/>
          </p:nvSpPr>
          <p:spPr bwMode="auto">
            <a:xfrm>
              <a:off x="7696200" y="3802317"/>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dirty="0">
                  <a:solidFill>
                    <a:srgbClr val="177B21"/>
                  </a:solidFill>
                </a:rPr>
                <a:t>D’</a:t>
              </a:r>
            </a:p>
          </p:txBody>
        </p:sp>
      </p:grpSp>
      <p:grpSp>
        <p:nvGrpSpPr>
          <p:cNvPr id="51" name="Group 124"/>
          <p:cNvGrpSpPr>
            <a:grpSpLocks/>
          </p:cNvGrpSpPr>
          <p:nvPr/>
        </p:nvGrpSpPr>
        <p:grpSpPr bwMode="auto">
          <a:xfrm>
            <a:off x="6927850" y="1254125"/>
            <a:ext cx="1579563" cy="2038350"/>
            <a:chOff x="6548428" y="2423790"/>
            <a:chExt cx="1579429" cy="2037380"/>
          </a:xfrm>
        </p:grpSpPr>
        <p:sp>
          <p:nvSpPr>
            <p:cNvPr id="61500" name="Freeform 32"/>
            <p:cNvSpPr>
              <a:spLocks/>
            </p:cNvSpPr>
            <p:nvPr/>
          </p:nvSpPr>
          <p:spPr bwMode="auto">
            <a:xfrm>
              <a:off x="6548428" y="2687782"/>
              <a:ext cx="1177648" cy="1773388"/>
            </a:xfrm>
            <a:custGeom>
              <a:avLst/>
              <a:gdLst>
                <a:gd name="T0" fmla="*/ 0 w 1152"/>
                <a:gd name="T1" fmla="*/ 1536 h 1536"/>
                <a:gd name="T2" fmla="*/ 624 w 1152"/>
                <a:gd name="T3" fmla="*/ 1104 h 1536"/>
                <a:gd name="T4" fmla="*/ 1152 w 1152"/>
                <a:gd name="T5" fmla="*/ 0 h 1536"/>
                <a:gd name="T6" fmla="*/ 0 60000 65536"/>
                <a:gd name="T7" fmla="*/ 0 60000 65536"/>
                <a:gd name="T8" fmla="*/ 0 60000 65536"/>
                <a:gd name="T9" fmla="*/ 0 w 1152"/>
                <a:gd name="T10" fmla="*/ 0 h 1536"/>
                <a:gd name="T11" fmla="*/ 1152 w 1152"/>
                <a:gd name="T12" fmla="*/ 1536 h 1536"/>
              </a:gdLst>
              <a:ahLst/>
              <a:cxnLst>
                <a:cxn ang="T6">
                  <a:pos x="T0" y="T1"/>
                </a:cxn>
                <a:cxn ang="T7">
                  <a:pos x="T2" y="T3"/>
                </a:cxn>
                <a:cxn ang="T8">
                  <a:pos x="T4" y="T5"/>
                </a:cxn>
              </a:cxnLst>
              <a:rect l="T9" t="T10" r="T11" b="T12"/>
              <a:pathLst>
                <a:path w="1152" h="1536">
                  <a:moveTo>
                    <a:pt x="0" y="1536"/>
                  </a:moveTo>
                  <a:cubicBezTo>
                    <a:pt x="216" y="1448"/>
                    <a:pt x="432" y="1360"/>
                    <a:pt x="624" y="1104"/>
                  </a:cubicBezTo>
                  <a:cubicBezTo>
                    <a:pt x="816" y="848"/>
                    <a:pt x="1064" y="184"/>
                    <a:pt x="1152" y="0"/>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01" name="Text Box 34"/>
            <p:cNvSpPr txBox="1">
              <a:spLocks noChangeArrowheads="1"/>
            </p:cNvSpPr>
            <p:nvPr/>
          </p:nvSpPr>
          <p:spPr bwMode="auto">
            <a:xfrm>
              <a:off x="7751619" y="2423790"/>
              <a:ext cx="3762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5D0D8F"/>
                  </a:solidFill>
                </a:rPr>
                <a:t>S’</a:t>
              </a:r>
            </a:p>
          </p:txBody>
        </p:sp>
      </p:grpSp>
      <p:grpSp>
        <p:nvGrpSpPr>
          <p:cNvPr id="52" name="Group 127"/>
          <p:cNvGrpSpPr>
            <a:grpSpLocks/>
          </p:cNvGrpSpPr>
          <p:nvPr/>
        </p:nvGrpSpPr>
        <p:grpSpPr bwMode="auto">
          <a:xfrm>
            <a:off x="6840538" y="1835150"/>
            <a:ext cx="1982787" cy="1089025"/>
            <a:chOff x="6114990" y="2810994"/>
            <a:chExt cx="1982561" cy="1088072"/>
          </a:xfrm>
        </p:grpSpPr>
        <p:sp>
          <p:nvSpPr>
            <p:cNvPr id="61498" name="Line 36"/>
            <p:cNvSpPr>
              <a:spLocks noChangeShapeType="1"/>
            </p:cNvSpPr>
            <p:nvPr/>
          </p:nvSpPr>
          <p:spPr bwMode="auto">
            <a:xfrm flipV="1">
              <a:off x="6114990" y="3103418"/>
              <a:ext cx="1508166" cy="795648"/>
            </a:xfrm>
            <a:prstGeom prst="line">
              <a:avLst/>
            </a:prstGeom>
            <a:noFill/>
            <a:ln w="28575">
              <a:solidFill>
                <a:srgbClr val="DC00DC"/>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499" name="Text Box 37"/>
            <p:cNvSpPr txBox="1">
              <a:spLocks noChangeArrowheads="1"/>
            </p:cNvSpPr>
            <p:nvPr/>
          </p:nvSpPr>
          <p:spPr bwMode="auto">
            <a:xfrm>
              <a:off x="7654638" y="2810994"/>
              <a:ext cx="4429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dirty="0">
                  <a:solidFill>
                    <a:srgbClr val="DC00DC"/>
                  </a:solidFill>
                </a:rPr>
                <a:t>LS</a:t>
              </a:r>
            </a:p>
          </p:txBody>
        </p:sp>
      </p:grpSp>
      <p:grpSp>
        <p:nvGrpSpPr>
          <p:cNvPr id="53" name="Group 130"/>
          <p:cNvGrpSpPr>
            <a:grpSpLocks/>
          </p:cNvGrpSpPr>
          <p:nvPr/>
        </p:nvGrpSpPr>
        <p:grpSpPr bwMode="auto">
          <a:xfrm>
            <a:off x="7594600" y="2411413"/>
            <a:ext cx="438150" cy="1495425"/>
            <a:chOff x="4713330" y="2635177"/>
            <a:chExt cx="438150" cy="1494503"/>
          </a:xfrm>
        </p:grpSpPr>
        <p:grpSp>
          <p:nvGrpSpPr>
            <p:cNvPr id="61494" name="Group 75"/>
            <p:cNvGrpSpPr>
              <a:grpSpLocks/>
            </p:cNvGrpSpPr>
            <p:nvPr/>
          </p:nvGrpSpPr>
          <p:grpSpPr bwMode="auto">
            <a:xfrm>
              <a:off x="4713330" y="2697680"/>
              <a:ext cx="438150" cy="1432000"/>
              <a:chOff x="4050293" y="2935180"/>
              <a:chExt cx="438150" cy="1432000"/>
            </a:xfrm>
          </p:grpSpPr>
          <p:sp>
            <p:nvSpPr>
              <p:cNvPr id="61496" name="Line 22"/>
              <p:cNvSpPr>
                <a:spLocks noChangeShapeType="1"/>
              </p:cNvSpPr>
              <p:nvPr/>
            </p:nvSpPr>
            <p:spPr bwMode="auto">
              <a:xfrm flipH="1">
                <a:off x="4197350" y="2935180"/>
                <a:ext cx="16323" cy="1113345"/>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497" name="Text Box 24"/>
              <p:cNvSpPr txBox="1">
                <a:spLocks noChangeArrowheads="1"/>
              </p:cNvSpPr>
              <p:nvPr/>
            </p:nvSpPr>
            <p:spPr bwMode="auto">
              <a:xfrm>
                <a:off x="4050293" y="4062380"/>
                <a:ext cx="438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25000"/>
                  <a:t>3</a:t>
                </a:r>
                <a:endParaRPr lang="en-US" altLang="en-US" sz="1800" baseline="30000"/>
              </a:p>
            </p:txBody>
          </p:sp>
        </p:grpSp>
        <p:sp>
          <p:nvSpPr>
            <p:cNvPr id="61495" name="Oval 9"/>
            <p:cNvSpPr>
              <a:spLocks noChangeArrowheads="1"/>
            </p:cNvSpPr>
            <p:nvPr/>
          </p:nvSpPr>
          <p:spPr bwMode="auto">
            <a:xfrm>
              <a:off x="4830644" y="2635177"/>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55" name="Group 62"/>
          <p:cNvGrpSpPr>
            <a:grpSpLocks/>
          </p:cNvGrpSpPr>
          <p:nvPr/>
        </p:nvGrpSpPr>
        <p:grpSpPr bwMode="auto">
          <a:xfrm>
            <a:off x="6910388" y="2724150"/>
            <a:ext cx="438150" cy="1168400"/>
            <a:chOff x="4097788" y="2947889"/>
            <a:chExt cx="438150" cy="1167936"/>
          </a:xfrm>
        </p:grpSpPr>
        <p:grpSp>
          <p:nvGrpSpPr>
            <p:cNvPr id="61490" name="Group 9"/>
            <p:cNvGrpSpPr>
              <a:grpSpLocks/>
            </p:cNvGrpSpPr>
            <p:nvPr/>
          </p:nvGrpSpPr>
          <p:grpSpPr bwMode="auto">
            <a:xfrm>
              <a:off x="4097788" y="3016333"/>
              <a:ext cx="438150" cy="1099492"/>
              <a:chOff x="3967163" y="3253833"/>
              <a:chExt cx="438150" cy="1099492"/>
            </a:xfrm>
          </p:grpSpPr>
          <p:sp>
            <p:nvSpPr>
              <p:cNvPr id="61492" name="Line 22"/>
              <p:cNvSpPr>
                <a:spLocks noChangeShapeType="1"/>
              </p:cNvSpPr>
              <p:nvPr/>
            </p:nvSpPr>
            <p:spPr bwMode="auto">
              <a:xfrm>
                <a:off x="4191901" y="3253833"/>
                <a:ext cx="5449" cy="794691"/>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493" name="Text Box 24"/>
              <p:cNvSpPr txBox="1">
                <a:spLocks noChangeArrowheads="1"/>
              </p:cNvSpPr>
              <p:nvPr/>
            </p:nvSpPr>
            <p:spPr bwMode="auto">
              <a:xfrm>
                <a:off x="3967163" y="4048525"/>
                <a:ext cx="438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25000"/>
                  <a:t>1</a:t>
                </a:r>
                <a:endParaRPr lang="en-US" altLang="en-US" sz="1800" baseline="30000"/>
              </a:p>
            </p:txBody>
          </p:sp>
        </p:grpSp>
        <p:sp>
          <p:nvSpPr>
            <p:cNvPr id="61491" name="Oval 9"/>
            <p:cNvSpPr>
              <a:spLocks noChangeArrowheads="1"/>
            </p:cNvSpPr>
            <p:nvPr/>
          </p:nvSpPr>
          <p:spPr bwMode="auto">
            <a:xfrm>
              <a:off x="4290926" y="2947889"/>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57" name="Group 138"/>
          <p:cNvGrpSpPr>
            <a:grpSpLocks/>
          </p:cNvGrpSpPr>
          <p:nvPr/>
        </p:nvGrpSpPr>
        <p:grpSpPr bwMode="auto">
          <a:xfrm>
            <a:off x="312738" y="2595563"/>
            <a:ext cx="6823075" cy="319087"/>
            <a:chOff x="313419" y="2878645"/>
            <a:chExt cx="6821673" cy="318655"/>
          </a:xfrm>
        </p:grpSpPr>
        <p:grpSp>
          <p:nvGrpSpPr>
            <p:cNvPr id="61486" name="Group 6"/>
            <p:cNvGrpSpPr>
              <a:grpSpLocks/>
            </p:cNvGrpSpPr>
            <p:nvPr/>
          </p:nvGrpSpPr>
          <p:grpSpPr bwMode="auto">
            <a:xfrm>
              <a:off x="313419" y="2892500"/>
              <a:ext cx="6821673" cy="304800"/>
              <a:chOff x="386650" y="2905525"/>
              <a:chExt cx="7091258" cy="304800"/>
            </a:xfrm>
          </p:grpSpPr>
          <p:sp>
            <p:nvSpPr>
              <p:cNvPr id="61488" name="Line 20"/>
              <p:cNvSpPr>
                <a:spLocks noChangeShapeType="1"/>
              </p:cNvSpPr>
              <p:nvPr/>
            </p:nvSpPr>
            <p:spPr bwMode="auto">
              <a:xfrm>
                <a:off x="844549" y="3057923"/>
                <a:ext cx="6633359" cy="310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61489" name="Text Box 25"/>
              <p:cNvSpPr txBox="1">
                <a:spLocks noChangeArrowheads="1"/>
              </p:cNvSpPr>
              <p:nvPr/>
            </p:nvSpPr>
            <p:spPr bwMode="auto">
              <a:xfrm>
                <a:off x="386650" y="2905525"/>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r>
                  <a:rPr lang="en-US" altLang="en-US" sz="1800" baseline="-25000"/>
                  <a:t>1</a:t>
                </a:r>
                <a:endParaRPr lang="en-US" altLang="en-US" sz="1800"/>
              </a:p>
            </p:txBody>
          </p:sp>
        </p:grpSp>
        <p:sp>
          <p:nvSpPr>
            <p:cNvPr id="61487" name="Text Box 25"/>
            <p:cNvSpPr txBox="1">
              <a:spLocks noChangeArrowheads="1"/>
            </p:cNvSpPr>
            <p:nvPr/>
          </p:nvSpPr>
          <p:spPr bwMode="auto">
            <a:xfrm>
              <a:off x="6076912" y="2878645"/>
              <a:ext cx="352772" cy="304800"/>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r>
                <a:rPr lang="en-US" altLang="en-US" sz="1800" baseline="-25000"/>
                <a:t>1</a:t>
              </a:r>
              <a:endParaRPr lang="en-US" altLang="en-US" sz="1800"/>
            </a:p>
          </p:txBody>
        </p:sp>
      </p:grpSp>
      <p:grpSp>
        <p:nvGrpSpPr>
          <p:cNvPr id="59" name="Group 140"/>
          <p:cNvGrpSpPr>
            <a:grpSpLocks/>
          </p:cNvGrpSpPr>
          <p:nvPr/>
        </p:nvGrpSpPr>
        <p:grpSpPr bwMode="auto">
          <a:xfrm>
            <a:off x="312738" y="1958975"/>
            <a:ext cx="7169150" cy="325438"/>
            <a:chOff x="313419" y="2241332"/>
            <a:chExt cx="7169006" cy="325753"/>
          </a:xfrm>
        </p:grpSpPr>
        <p:grpSp>
          <p:nvGrpSpPr>
            <p:cNvPr id="61482" name="Group 39"/>
            <p:cNvGrpSpPr>
              <a:grpSpLocks/>
            </p:cNvGrpSpPr>
            <p:nvPr/>
          </p:nvGrpSpPr>
          <p:grpSpPr bwMode="auto">
            <a:xfrm>
              <a:off x="313419" y="2262285"/>
              <a:ext cx="7169006" cy="304800"/>
              <a:chOff x="386650" y="2905525"/>
              <a:chExt cx="7169006" cy="304800"/>
            </a:xfrm>
          </p:grpSpPr>
          <p:sp>
            <p:nvSpPr>
              <p:cNvPr id="61484" name="Line 20"/>
              <p:cNvSpPr>
                <a:spLocks noChangeShapeType="1"/>
              </p:cNvSpPr>
              <p:nvPr/>
            </p:nvSpPr>
            <p:spPr bwMode="auto">
              <a:xfrm flipV="1">
                <a:off x="844550" y="3048431"/>
                <a:ext cx="6711106" cy="949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61485" name="Text Box 25"/>
              <p:cNvSpPr txBox="1">
                <a:spLocks noChangeArrowheads="1"/>
              </p:cNvSpPr>
              <p:nvPr/>
            </p:nvSpPr>
            <p:spPr bwMode="auto">
              <a:xfrm>
                <a:off x="386650" y="2905525"/>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dirty="0"/>
                  <a:t>P</a:t>
                </a:r>
                <a:r>
                  <a:rPr lang="en-US" altLang="en-US" sz="1800" baseline="-25000" dirty="0"/>
                  <a:t>2</a:t>
                </a:r>
                <a:endParaRPr lang="en-US" altLang="en-US" sz="1800" dirty="0"/>
              </a:p>
            </p:txBody>
          </p:sp>
        </p:grpSp>
        <p:sp>
          <p:nvSpPr>
            <p:cNvPr id="61483" name="Text Box 25"/>
            <p:cNvSpPr txBox="1">
              <a:spLocks noChangeArrowheads="1"/>
            </p:cNvSpPr>
            <p:nvPr/>
          </p:nvSpPr>
          <p:spPr bwMode="auto">
            <a:xfrm>
              <a:off x="6076912" y="2241332"/>
              <a:ext cx="352772" cy="304800"/>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r>
                <a:rPr lang="en-US" altLang="en-US" sz="1800" baseline="-25000"/>
                <a:t>2</a:t>
              </a:r>
              <a:endParaRPr lang="en-US" altLang="en-US" sz="1800"/>
            </a:p>
          </p:txBody>
        </p:sp>
      </p:grpSp>
      <p:grpSp>
        <p:nvGrpSpPr>
          <p:cNvPr id="64" name="Group 139"/>
          <p:cNvGrpSpPr>
            <a:grpSpLocks/>
          </p:cNvGrpSpPr>
          <p:nvPr/>
        </p:nvGrpSpPr>
        <p:grpSpPr bwMode="auto">
          <a:xfrm>
            <a:off x="3203575" y="2289175"/>
            <a:ext cx="4535488" cy="319088"/>
            <a:chOff x="3195254" y="2559990"/>
            <a:chExt cx="4535582" cy="318640"/>
          </a:xfrm>
        </p:grpSpPr>
        <p:grpSp>
          <p:nvGrpSpPr>
            <p:cNvPr id="61478" name="Group 112"/>
            <p:cNvGrpSpPr>
              <a:grpSpLocks/>
            </p:cNvGrpSpPr>
            <p:nvPr/>
          </p:nvGrpSpPr>
          <p:grpSpPr bwMode="auto">
            <a:xfrm>
              <a:off x="3195254" y="2573830"/>
              <a:ext cx="4535582" cy="304800"/>
              <a:chOff x="386650" y="2905525"/>
              <a:chExt cx="4714823" cy="304800"/>
            </a:xfrm>
          </p:grpSpPr>
          <p:sp>
            <p:nvSpPr>
              <p:cNvPr id="61480" name="Line 20"/>
              <p:cNvSpPr>
                <a:spLocks noChangeShapeType="1"/>
              </p:cNvSpPr>
              <p:nvPr/>
            </p:nvSpPr>
            <p:spPr bwMode="auto">
              <a:xfrm>
                <a:off x="844548" y="3057923"/>
                <a:ext cx="4256925" cy="311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61481" name="Text Box 25"/>
              <p:cNvSpPr txBox="1">
                <a:spLocks noChangeArrowheads="1"/>
              </p:cNvSpPr>
              <p:nvPr/>
            </p:nvSpPr>
            <p:spPr bwMode="auto">
              <a:xfrm>
                <a:off x="386650" y="2905525"/>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r>
                  <a:rPr lang="en-US" altLang="en-US" sz="1800" baseline="-25000"/>
                  <a:t>3</a:t>
                </a:r>
                <a:endParaRPr lang="en-US" altLang="en-US" sz="1800"/>
              </a:p>
            </p:txBody>
          </p:sp>
        </p:grpSp>
        <p:sp>
          <p:nvSpPr>
            <p:cNvPr id="61479" name="Text Box 25"/>
            <p:cNvSpPr txBox="1">
              <a:spLocks noChangeArrowheads="1"/>
            </p:cNvSpPr>
            <p:nvPr/>
          </p:nvSpPr>
          <p:spPr bwMode="auto">
            <a:xfrm>
              <a:off x="6076912" y="2559990"/>
              <a:ext cx="352772" cy="304800"/>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r>
                <a:rPr lang="en-US" altLang="en-US" sz="1800" baseline="-25000"/>
                <a:t>3</a:t>
              </a:r>
              <a:endParaRPr lang="en-US" altLang="en-US" sz="1800"/>
            </a:p>
          </p:txBody>
        </p:sp>
      </p:grpSp>
      <p:grpSp>
        <p:nvGrpSpPr>
          <p:cNvPr id="69" name="Group 57"/>
          <p:cNvGrpSpPr>
            <a:grpSpLocks/>
          </p:cNvGrpSpPr>
          <p:nvPr/>
        </p:nvGrpSpPr>
        <p:grpSpPr bwMode="auto">
          <a:xfrm>
            <a:off x="7248525" y="2093913"/>
            <a:ext cx="438150" cy="1798637"/>
            <a:chOff x="4630200" y="2316512"/>
            <a:chExt cx="438150" cy="1799313"/>
          </a:xfrm>
        </p:grpSpPr>
        <p:grpSp>
          <p:nvGrpSpPr>
            <p:cNvPr id="61474" name="Group 75"/>
            <p:cNvGrpSpPr>
              <a:grpSpLocks/>
            </p:cNvGrpSpPr>
            <p:nvPr/>
          </p:nvGrpSpPr>
          <p:grpSpPr bwMode="auto">
            <a:xfrm>
              <a:off x="4630200" y="2363190"/>
              <a:ext cx="438150" cy="1752635"/>
              <a:chOff x="3967163" y="2600690"/>
              <a:chExt cx="438150" cy="1752635"/>
            </a:xfrm>
          </p:grpSpPr>
          <p:sp>
            <p:nvSpPr>
              <p:cNvPr id="61476" name="Line 22"/>
              <p:cNvSpPr>
                <a:spLocks noChangeShapeType="1"/>
              </p:cNvSpPr>
              <p:nvPr/>
            </p:nvSpPr>
            <p:spPr bwMode="auto">
              <a:xfrm>
                <a:off x="4193969" y="2600690"/>
                <a:ext cx="3381" cy="1447835"/>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477" name="Text Box 24"/>
              <p:cNvSpPr txBox="1">
                <a:spLocks noChangeArrowheads="1"/>
              </p:cNvSpPr>
              <p:nvPr/>
            </p:nvSpPr>
            <p:spPr bwMode="auto">
              <a:xfrm>
                <a:off x="3967163" y="4048525"/>
                <a:ext cx="438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25000"/>
                  <a:t>2</a:t>
                </a:r>
                <a:endParaRPr lang="en-US" altLang="en-US" sz="1800" baseline="30000"/>
              </a:p>
            </p:txBody>
          </p:sp>
        </p:grpSp>
        <p:sp>
          <p:nvSpPr>
            <p:cNvPr id="61475" name="Oval 9"/>
            <p:cNvSpPr>
              <a:spLocks noChangeArrowheads="1"/>
            </p:cNvSpPr>
            <p:nvPr/>
          </p:nvSpPr>
          <p:spPr bwMode="auto">
            <a:xfrm>
              <a:off x="4816789" y="2316512"/>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74" name="Group 72"/>
          <p:cNvGrpSpPr>
            <a:grpSpLocks/>
          </p:cNvGrpSpPr>
          <p:nvPr/>
        </p:nvGrpSpPr>
        <p:grpSpPr bwMode="auto">
          <a:xfrm>
            <a:off x="1627188" y="2093913"/>
            <a:ext cx="438150" cy="1820862"/>
            <a:chOff x="1955146" y="2321535"/>
            <a:chExt cx="438150" cy="1821278"/>
          </a:xfrm>
        </p:grpSpPr>
        <p:grpSp>
          <p:nvGrpSpPr>
            <p:cNvPr id="61470" name="Group 60"/>
            <p:cNvGrpSpPr>
              <a:grpSpLocks/>
            </p:cNvGrpSpPr>
            <p:nvPr/>
          </p:nvGrpSpPr>
          <p:grpSpPr bwMode="auto">
            <a:xfrm>
              <a:off x="1955146" y="2375065"/>
              <a:ext cx="438150" cy="1767748"/>
              <a:chOff x="1244600" y="2612565"/>
              <a:chExt cx="438150" cy="1767748"/>
            </a:xfrm>
          </p:grpSpPr>
          <p:sp>
            <p:nvSpPr>
              <p:cNvPr id="61472" name="Line 21"/>
              <p:cNvSpPr>
                <a:spLocks noChangeShapeType="1"/>
              </p:cNvSpPr>
              <p:nvPr/>
            </p:nvSpPr>
            <p:spPr bwMode="auto">
              <a:xfrm>
                <a:off x="1450764" y="2612565"/>
                <a:ext cx="3386" cy="143596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473" name="Text Box 23"/>
              <p:cNvSpPr txBox="1">
                <a:spLocks noChangeArrowheads="1"/>
              </p:cNvSpPr>
              <p:nvPr/>
            </p:nvSpPr>
            <p:spPr bwMode="auto">
              <a:xfrm>
                <a:off x="1244600" y="4075513"/>
                <a:ext cx="438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25000"/>
                  <a:t>2</a:t>
                </a:r>
                <a:endParaRPr lang="en-US" altLang="en-US" sz="1800" baseline="30000"/>
              </a:p>
            </p:txBody>
          </p:sp>
        </p:grpSp>
        <p:sp>
          <p:nvSpPr>
            <p:cNvPr id="61471" name="Oval 9"/>
            <p:cNvSpPr>
              <a:spLocks noChangeArrowheads="1"/>
            </p:cNvSpPr>
            <p:nvPr/>
          </p:nvSpPr>
          <p:spPr bwMode="auto">
            <a:xfrm>
              <a:off x="2118807" y="2321535"/>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spTree>
    <p:extLst>
      <p:ext uri="{BB962C8B-B14F-4D97-AF65-F5344CB8AC3E}">
        <p14:creationId xmlns:p14="http://schemas.microsoft.com/office/powerpoint/2010/main" val="3284159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left)">
                                      <p:cBhvr>
                                        <p:cTn id="11" dur="500"/>
                                        <p:tgtEl>
                                          <p:spTgt spid="28"/>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left)">
                                      <p:cBhvr>
                                        <p:cTn id="15" dur="500"/>
                                        <p:tgtEl>
                                          <p:spTgt spid="35"/>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left)">
                                      <p:cBhvr>
                                        <p:cTn id="19" dur="500"/>
                                        <p:tgtEl>
                                          <p:spTgt spid="34"/>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wipe(left)">
                                      <p:cBhvr>
                                        <p:cTn id="23" dur="500"/>
                                        <p:tgtEl>
                                          <p:spTgt spid="20"/>
                                        </p:tgtEl>
                                      </p:cBhvr>
                                    </p:animEffect>
                                  </p:childTnLst>
                                </p:cTn>
                              </p:par>
                            </p:childTnLst>
                          </p:cTn>
                        </p:par>
                        <p:par>
                          <p:cTn id="24" fill="hold" nodeType="afterGroup">
                            <p:stCondLst>
                              <p:cond delay="2500"/>
                            </p:stCondLst>
                            <p:childTnLst>
                              <p:par>
                                <p:cTn id="25" presetID="22" presetClass="entr" presetSubtype="8" fill="hold" nodeType="after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ipe(left)">
                                      <p:cBhvr>
                                        <p:cTn id="27" dur="500"/>
                                        <p:tgtEl>
                                          <p:spTgt spid="49"/>
                                        </p:tgtEl>
                                      </p:cBhvr>
                                    </p:animEffect>
                                  </p:childTnLst>
                                </p:cTn>
                              </p:par>
                            </p:childTnLst>
                          </p:cTn>
                        </p:par>
                        <p:par>
                          <p:cTn id="28" fill="hold" nodeType="afterGroup">
                            <p:stCondLst>
                              <p:cond delay="3000"/>
                            </p:stCondLst>
                            <p:childTnLst>
                              <p:par>
                                <p:cTn id="29" presetID="22" presetClass="entr" presetSubtype="8" fill="hold" nodeType="after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wipe(left)">
                                      <p:cBhvr>
                                        <p:cTn id="31" dur="500"/>
                                        <p:tgtEl>
                                          <p:spTgt spid="48"/>
                                        </p:tgtEl>
                                      </p:cBhvr>
                                    </p:animEffect>
                                  </p:childTnLst>
                                </p:cTn>
                              </p:par>
                            </p:childTnLst>
                          </p:cTn>
                        </p:par>
                        <p:par>
                          <p:cTn id="32" fill="hold" nodeType="afterGroup">
                            <p:stCondLst>
                              <p:cond delay="3500"/>
                            </p:stCondLst>
                            <p:childTnLst>
                              <p:par>
                                <p:cTn id="33" presetID="22" presetClass="entr" presetSubtype="8" fill="hold" nodeType="afterEffect">
                                  <p:stCondLst>
                                    <p:cond delay="0"/>
                                  </p:stCondLst>
                                  <p:childTnLst>
                                    <p:set>
                                      <p:cBhvr>
                                        <p:cTn id="34" dur="1" fill="hold">
                                          <p:stCondLst>
                                            <p:cond delay="0"/>
                                          </p:stCondLst>
                                        </p:cTn>
                                        <p:tgtEl>
                                          <p:spTgt spid="57"/>
                                        </p:tgtEl>
                                        <p:attrNameLst>
                                          <p:attrName>style.visibility</p:attrName>
                                        </p:attrNameLst>
                                      </p:cBhvr>
                                      <p:to>
                                        <p:strVal val="visible"/>
                                      </p:to>
                                    </p:set>
                                    <p:animEffect transition="in" filter="wipe(left)">
                                      <p:cBhvr>
                                        <p:cTn id="35" dur="500"/>
                                        <p:tgtEl>
                                          <p:spTgt spid="57"/>
                                        </p:tgtEl>
                                      </p:cBhvr>
                                    </p:animEffect>
                                  </p:childTnLst>
                                </p:cTn>
                              </p:par>
                            </p:childTnLst>
                          </p:cTn>
                        </p:par>
                        <p:par>
                          <p:cTn id="36" fill="hold" nodeType="afterGroup">
                            <p:stCondLst>
                              <p:cond delay="4000"/>
                            </p:stCondLst>
                            <p:childTnLst>
                              <p:par>
                                <p:cTn id="37" presetID="22" presetClass="entr" presetSubtype="1" fill="hold" nodeType="afterEffect">
                                  <p:stCondLst>
                                    <p:cond delay="0"/>
                                  </p:stCondLst>
                                  <p:childTnLst>
                                    <p:set>
                                      <p:cBhvr>
                                        <p:cTn id="38" dur="1" fill="hold">
                                          <p:stCondLst>
                                            <p:cond delay="0"/>
                                          </p:stCondLst>
                                        </p:cTn>
                                        <p:tgtEl>
                                          <p:spTgt spid="55"/>
                                        </p:tgtEl>
                                        <p:attrNameLst>
                                          <p:attrName>style.visibility</p:attrName>
                                        </p:attrNameLst>
                                      </p:cBhvr>
                                      <p:to>
                                        <p:strVal val="visible"/>
                                      </p:to>
                                    </p:set>
                                    <p:animEffect transition="in" filter="wipe(up)">
                                      <p:cBhvr>
                                        <p:cTn id="39" dur="500"/>
                                        <p:tgtEl>
                                          <p:spTgt spid="55"/>
                                        </p:tgtEl>
                                      </p:cBhvr>
                                    </p:animEffect>
                                  </p:childTnLst>
                                </p:cTn>
                              </p:par>
                            </p:childTnLst>
                          </p:cTn>
                        </p:par>
                        <p:par>
                          <p:cTn id="40" fill="hold" nodeType="afterGroup">
                            <p:stCondLst>
                              <p:cond delay="4500"/>
                            </p:stCondLst>
                            <p:childTnLst>
                              <p:par>
                                <p:cTn id="41" presetID="22" presetClass="entr" presetSubtype="1" fill="hold" nodeType="after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wipe(up)">
                                      <p:cBhvr>
                                        <p:cTn id="43" dur="500"/>
                                        <p:tgtEl>
                                          <p:spTgt spid="37"/>
                                        </p:tgtEl>
                                      </p:cBhvr>
                                    </p:animEffect>
                                  </p:childTnLst>
                                </p:cTn>
                              </p:par>
                            </p:childTnLst>
                          </p:cTn>
                        </p:par>
                        <p:par>
                          <p:cTn id="44" fill="hold">
                            <p:stCondLst>
                              <p:cond delay="5000"/>
                            </p:stCondLst>
                            <p:childTnLst>
                              <p:par>
                                <p:cTn id="45" presetID="22" presetClass="entr" presetSubtype="8" fill="hold" grpId="0" nodeType="afterEffect">
                                  <p:stCondLst>
                                    <p:cond delay="0"/>
                                  </p:stCondLst>
                                  <p:childTnLst>
                                    <p:set>
                                      <p:cBhvr>
                                        <p:cTn id="46" dur="1" fill="hold">
                                          <p:stCondLst>
                                            <p:cond delay="0"/>
                                          </p:stCondLst>
                                        </p:cTn>
                                        <p:tgtEl>
                                          <p:spTgt spid="61443">
                                            <p:txEl>
                                              <p:pRg st="0" end="0"/>
                                            </p:txEl>
                                          </p:spTgt>
                                        </p:tgtEl>
                                        <p:attrNameLst>
                                          <p:attrName>style.visibility</p:attrName>
                                        </p:attrNameLst>
                                      </p:cBhvr>
                                      <p:to>
                                        <p:strVal val="visible"/>
                                      </p:to>
                                    </p:set>
                                    <p:animEffect transition="in" filter="wipe(left)">
                                      <p:cBhvr>
                                        <p:cTn id="47" dur="500"/>
                                        <p:tgtEl>
                                          <p:spTgt spid="61443">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wipe(left)">
                                      <p:cBhvr>
                                        <p:cTn id="52" dur="500"/>
                                        <p:tgtEl>
                                          <p:spTgt spid="50"/>
                                        </p:tgtEl>
                                      </p:cBhvr>
                                    </p:animEffect>
                                  </p:childTnLst>
                                </p:cTn>
                              </p:par>
                            </p:childTnLst>
                          </p:cTn>
                        </p:par>
                        <p:par>
                          <p:cTn id="53" fill="hold" nodeType="afterGroup">
                            <p:stCondLst>
                              <p:cond delay="500"/>
                            </p:stCondLst>
                            <p:childTnLst>
                              <p:par>
                                <p:cTn id="54" presetID="22" presetClass="entr" presetSubtype="8" fill="hold" nodeType="afterEffect">
                                  <p:stCondLst>
                                    <p:cond delay="0"/>
                                  </p:stCondLst>
                                  <p:childTnLst>
                                    <p:set>
                                      <p:cBhvr>
                                        <p:cTn id="55" dur="1" fill="hold">
                                          <p:stCondLst>
                                            <p:cond delay="0"/>
                                          </p:stCondLst>
                                        </p:cTn>
                                        <p:tgtEl>
                                          <p:spTgt spid="59"/>
                                        </p:tgtEl>
                                        <p:attrNameLst>
                                          <p:attrName>style.visibility</p:attrName>
                                        </p:attrNameLst>
                                      </p:cBhvr>
                                      <p:to>
                                        <p:strVal val="visible"/>
                                      </p:to>
                                    </p:set>
                                    <p:animEffect transition="in" filter="wipe(left)">
                                      <p:cBhvr>
                                        <p:cTn id="56" dur="500"/>
                                        <p:tgtEl>
                                          <p:spTgt spid="59"/>
                                        </p:tgtEl>
                                      </p:cBhvr>
                                    </p:animEffect>
                                  </p:childTnLst>
                                </p:cTn>
                              </p:par>
                            </p:childTnLst>
                          </p:cTn>
                        </p:par>
                        <p:par>
                          <p:cTn id="57" fill="hold" nodeType="afterGroup">
                            <p:stCondLst>
                              <p:cond delay="1000"/>
                            </p:stCondLst>
                            <p:childTnLst>
                              <p:par>
                                <p:cTn id="58" presetID="22" presetClass="entr" presetSubtype="8" fill="hold" grpId="0" nodeType="afterEffect">
                                  <p:stCondLst>
                                    <p:cond delay="0"/>
                                  </p:stCondLst>
                                  <p:childTnLst>
                                    <p:set>
                                      <p:cBhvr>
                                        <p:cTn id="59" dur="1" fill="hold">
                                          <p:stCondLst>
                                            <p:cond delay="0"/>
                                          </p:stCondLst>
                                        </p:cTn>
                                        <p:tgtEl>
                                          <p:spTgt spid="61443">
                                            <p:txEl>
                                              <p:pRg st="1" end="1"/>
                                            </p:txEl>
                                          </p:spTgt>
                                        </p:tgtEl>
                                        <p:attrNameLst>
                                          <p:attrName>style.visibility</p:attrName>
                                        </p:attrNameLst>
                                      </p:cBhvr>
                                      <p:to>
                                        <p:strVal val="visible"/>
                                      </p:to>
                                    </p:set>
                                    <p:animEffect transition="in" filter="wipe(left)">
                                      <p:cBhvr>
                                        <p:cTn id="60" dur="500"/>
                                        <p:tgtEl>
                                          <p:spTgt spid="61443">
                                            <p:txEl>
                                              <p:pRg st="1" end="1"/>
                                            </p:txEl>
                                          </p:spTgt>
                                        </p:tgtEl>
                                      </p:cBhvr>
                                    </p:animEffect>
                                  </p:childTnLst>
                                </p:cTn>
                              </p:par>
                            </p:childTnLst>
                          </p:cTn>
                        </p:par>
                        <p:par>
                          <p:cTn id="61" fill="hold">
                            <p:stCondLst>
                              <p:cond delay="2000"/>
                            </p:stCondLst>
                            <p:childTnLst>
                              <p:par>
                                <p:cTn id="62" presetID="22" presetClass="entr" presetSubtype="1" fill="hold" nodeType="afterEffect">
                                  <p:stCondLst>
                                    <p:cond delay="0"/>
                                  </p:stCondLst>
                                  <p:childTnLst>
                                    <p:set>
                                      <p:cBhvr>
                                        <p:cTn id="63" dur="1" fill="hold">
                                          <p:stCondLst>
                                            <p:cond delay="0"/>
                                          </p:stCondLst>
                                        </p:cTn>
                                        <p:tgtEl>
                                          <p:spTgt spid="74"/>
                                        </p:tgtEl>
                                        <p:attrNameLst>
                                          <p:attrName>style.visibility</p:attrName>
                                        </p:attrNameLst>
                                      </p:cBhvr>
                                      <p:to>
                                        <p:strVal val="visible"/>
                                      </p:to>
                                    </p:set>
                                    <p:animEffect transition="in" filter="wipe(up)">
                                      <p:cBhvr>
                                        <p:cTn id="64" dur="500"/>
                                        <p:tgtEl>
                                          <p:spTgt spid="74"/>
                                        </p:tgtEl>
                                      </p:cBhvr>
                                    </p:animEffect>
                                  </p:childTnLst>
                                </p:cTn>
                              </p:par>
                            </p:childTnLst>
                          </p:cTn>
                        </p:par>
                        <p:par>
                          <p:cTn id="65" fill="hold" nodeType="afterGroup">
                            <p:stCondLst>
                              <p:cond delay="2500"/>
                            </p:stCondLst>
                            <p:childTnLst>
                              <p:par>
                                <p:cTn id="66" presetID="22" presetClass="entr" presetSubtype="1" fill="hold" nodeType="afterEffect">
                                  <p:stCondLst>
                                    <p:cond delay="0"/>
                                  </p:stCondLst>
                                  <p:childTnLst>
                                    <p:set>
                                      <p:cBhvr>
                                        <p:cTn id="67" dur="1" fill="hold">
                                          <p:stCondLst>
                                            <p:cond delay="0"/>
                                          </p:stCondLst>
                                        </p:cTn>
                                        <p:tgtEl>
                                          <p:spTgt spid="69"/>
                                        </p:tgtEl>
                                        <p:attrNameLst>
                                          <p:attrName>style.visibility</p:attrName>
                                        </p:attrNameLst>
                                      </p:cBhvr>
                                      <p:to>
                                        <p:strVal val="visible"/>
                                      </p:to>
                                    </p:set>
                                    <p:animEffect transition="in" filter="wipe(up)">
                                      <p:cBhvr>
                                        <p:cTn id="68" dur="500"/>
                                        <p:tgtEl>
                                          <p:spTgt spid="69"/>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12"/>
                                        </p:tgtEl>
                                        <p:attrNameLst>
                                          <p:attrName>style.visibility</p:attrName>
                                        </p:attrNameLst>
                                      </p:cBhvr>
                                      <p:to>
                                        <p:strVal val="visible"/>
                                      </p:to>
                                    </p:set>
                                    <p:animEffect transition="in" filter="wipe(left)">
                                      <p:cBhvr>
                                        <p:cTn id="73" dur="500"/>
                                        <p:tgtEl>
                                          <p:spTgt spid="12"/>
                                        </p:tgtEl>
                                      </p:cBhvr>
                                    </p:animEffect>
                                  </p:childTnLst>
                                </p:cTn>
                              </p:par>
                            </p:childTnLst>
                          </p:cTn>
                        </p:par>
                        <p:par>
                          <p:cTn id="74" fill="hold" nodeType="afterGroup">
                            <p:stCondLst>
                              <p:cond delay="500"/>
                            </p:stCondLst>
                            <p:childTnLst>
                              <p:par>
                                <p:cTn id="75" presetID="22" presetClass="entr" presetSubtype="8" fill="hold" nodeType="afterEffect">
                                  <p:stCondLst>
                                    <p:cond delay="0"/>
                                  </p:stCondLst>
                                  <p:childTnLst>
                                    <p:set>
                                      <p:cBhvr>
                                        <p:cTn id="76" dur="1" fill="hold">
                                          <p:stCondLst>
                                            <p:cond delay="0"/>
                                          </p:stCondLst>
                                        </p:cTn>
                                        <p:tgtEl>
                                          <p:spTgt spid="45"/>
                                        </p:tgtEl>
                                        <p:attrNameLst>
                                          <p:attrName>style.visibility</p:attrName>
                                        </p:attrNameLst>
                                      </p:cBhvr>
                                      <p:to>
                                        <p:strVal val="visible"/>
                                      </p:to>
                                    </p:set>
                                    <p:animEffect transition="in" filter="wipe(left)">
                                      <p:cBhvr>
                                        <p:cTn id="77" dur="500"/>
                                        <p:tgtEl>
                                          <p:spTgt spid="45"/>
                                        </p:tgtEl>
                                      </p:cBhvr>
                                    </p:animEffect>
                                  </p:childTnLst>
                                </p:cTn>
                              </p:par>
                            </p:childTnLst>
                          </p:cTn>
                        </p:par>
                        <p:par>
                          <p:cTn id="78" fill="hold" nodeType="afterGroup">
                            <p:stCondLst>
                              <p:cond delay="1000"/>
                            </p:stCondLst>
                            <p:childTnLst>
                              <p:par>
                                <p:cTn id="79" presetID="22" presetClass="entr" presetSubtype="8" fill="hold" nodeType="afterEffect">
                                  <p:stCondLst>
                                    <p:cond delay="0"/>
                                  </p:stCondLst>
                                  <p:childTnLst>
                                    <p:set>
                                      <p:cBhvr>
                                        <p:cTn id="80" dur="1" fill="hold">
                                          <p:stCondLst>
                                            <p:cond delay="0"/>
                                          </p:stCondLst>
                                        </p:cTn>
                                        <p:tgtEl>
                                          <p:spTgt spid="44"/>
                                        </p:tgtEl>
                                        <p:attrNameLst>
                                          <p:attrName>style.visibility</p:attrName>
                                        </p:attrNameLst>
                                      </p:cBhvr>
                                      <p:to>
                                        <p:strVal val="visible"/>
                                      </p:to>
                                    </p:set>
                                    <p:animEffect transition="in" filter="wipe(left)">
                                      <p:cBhvr>
                                        <p:cTn id="81" dur="500"/>
                                        <p:tgtEl>
                                          <p:spTgt spid="44"/>
                                        </p:tgtEl>
                                      </p:cBhvr>
                                    </p:animEffect>
                                  </p:childTnLst>
                                </p:cTn>
                              </p:par>
                            </p:childTnLst>
                          </p:cTn>
                        </p:par>
                        <p:par>
                          <p:cTn id="82" fill="hold" nodeType="afterGroup">
                            <p:stCondLst>
                              <p:cond delay="1500"/>
                            </p:stCondLst>
                            <p:childTnLst>
                              <p:par>
                                <p:cTn id="83" presetID="22" presetClass="entr" presetSubtype="8" fill="hold" nodeType="after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wipe(left)">
                                      <p:cBhvr>
                                        <p:cTn id="85" dur="500"/>
                                        <p:tgtEl>
                                          <p:spTgt spid="43"/>
                                        </p:tgtEl>
                                      </p:cBhvr>
                                    </p:animEffect>
                                  </p:childTnLst>
                                </p:cTn>
                              </p:par>
                            </p:childTnLst>
                          </p:cTn>
                        </p:par>
                        <p:par>
                          <p:cTn id="86" fill="hold" nodeType="afterGroup">
                            <p:stCondLst>
                              <p:cond delay="2000"/>
                            </p:stCondLst>
                            <p:childTnLst>
                              <p:par>
                                <p:cTn id="87" presetID="22" presetClass="entr" presetSubtype="8" fill="hold" nodeType="afterEffect">
                                  <p:stCondLst>
                                    <p:cond delay="0"/>
                                  </p:stCondLst>
                                  <p:childTnLst>
                                    <p:set>
                                      <p:cBhvr>
                                        <p:cTn id="88" dur="1" fill="hold">
                                          <p:stCondLst>
                                            <p:cond delay="0"/>
                                          </p:stCondLst>
                                        </p:cTn>
                                        <p:tgtEl>
                                          <p:spTgt spid="51"/>
                                        </p:tgtEl>
                                        <p:attrNameLst>
                                          <p:attrName>style.visibility</p:attrName>
                                        </p:attrNameLst>
                                      </p:cBhvr>
                                      <p:to>
                                        <p:strVal val="visible"/>
                                      </p:to>
                                    </p:set>
                                    <p:animEffect transition="in" filter="wipe(left)">
                                      <p:cBhvr>
                                        <p:cTn id="89" dur="500"/>
                                        <p:tgtEl>
                                          <p:spTgt spid="51"/>
                                        </p:tgtEl>
                                      </p:cBhvr>
                                    </p:animEffect>
                                  </p:childTnLst>
                                </p:cTn>
                              </p:par>
                            </p:childTnLst>
                          </p:cTn>
                        </p:par>
                        <p:par>
                          <p:cTn id="90" fill="hold" nodeType="afterGroup">
                            <p:stCondLst>
                              <p:cond delay="2500"/>
                            </p:stCondLst>
                            <p:childTnLst>
                              <p:par>
                                <p:cTn id="91" presetID="22" presetClass="entr" presetSubtype="1" fill="hold" nodeType="afterEffect">
                                  <p:stCondLst>
                                    <p:cond delay="0"/>
                                  </p:stCondLst>
                                  <p:childTnLst>
                                    <p:set>
                                      <p:cBhvr>
                                        <p:cTn id="92" dur="1" fill="hold">
                                          <p:stCondLst>
                                            <p:cond delay="0"/>
                                          </p:stCondLst>
                                        </p:cTn>
                                        <p:tgtEl>
                                          <p:spTgt spid="53"/>
                                        </p:tgtEl>
                                        <p:attrNameLst>
                                          <p:attrName>style.visibility</p:attrName>
                                        </p:attrNameLst>
                                      </p:cBhvr>
                                      <p:to>
                                        <p:strVal val="visible"/>
                                      </p:to>
                                    </p:set>
                                    <p:animEffect transition="in" filter="wipe(up)">
                                      <p:cBhvr>
                                        <p:cTn id="93" dur="500"/>
                                        <p:tgtEl>
                                          <p:spTgt spid="53"/>
                                        </p:tgtEl>
                                      </p:cBhvr>
                                    </p:animEffect>
                                  </p:childTnLst>
                                </p:cTn>
                              </p:par>
                            </p:childTnLst>
                          </p:cTn>
                        </p:par>
                        <p:par>
                          <p:cTn id="94" fill="hold" nodeType="afterGroup">
                            <p:stCondLst>
                              <p:cond delay="3000"/>
                            </p:stCondLst>
                            <p:childTnLst>
                              <p:par>
                                <p:cTn id="95" presetID="22" presetClass="entr" presetSubtype="8" fill="hold" nodeType="afterEffect">
                                  <p:stCondLst>
                                    <p:cond delay="0"/>
                                  </p:stCondLst>
                                  <p:childTnLst>
                                    <p:set>
                                      <p:cBhvr>
                                        <p:cTn id="96" dur="1" fill="hold">
                                          <p:stCondLst>
                                            <p:cond delay="0"/>
                                          </p:stCondLst>
                                        </p:cTn>
                                        <p:tgtEl>
                                          <p:spTgt spid="64"/>
                                        </p:tgtEl>
                                        <p:attrNameLst>
                                          <p:attrName>style.visibility</p:attrName>
                                        </p:attrNameLst>
                                      </p:cBhvr>
                                      <p:to>
                                        <p:strVal val="visible"/>
                                      </p:to>
                                    </p:set>
                                    <p:animEffect transition="in" filter="wipe(left)">
                                      <p:cBhvr>
                                        <p:cTn id="97" dur="500"/>
                                        <p:tgtEl>
                                          <p:spTgt spid="64"/>
                                        </p:tgtEl>
                                      </p:cBhvr>
                                    </p:animEffect>
                                  </p:childTnLst>
                                </p:cTn>
                              </p:par>
                            </p:childTnLst>
                          </p:cTn>
                        </p:par>
                        <p:par>
                          <p:cTn id="98" fill="hold">
                            <p:stCondLst>
                              <p:cond delay="3500"/>
                            </p:stCondLst>
                            <p:childTnLst>
                              <p:par>
                                <p:cTn id="99" presetID="22" presetClass="entr" presetSubtype="8" fill="hold" grpId="0" nodeType="afterEffect">
                                  <p:stCondLst>
                                    <p:cond delay="0"/>
                                  </p:stCondLst>
                                  <p:childTnLst>
                                    <p:set>
                                      <p:cBhvr>
                                        <p:cTn id="100" dur="1" fill="hold">
                                          <p:stCondLst>
                                            <p:cond delay="0"/>
                                          </p:stCondLst>
                                        </p:cTn>
                                        <p:tgtEl>
                                          <p:spTgt spid="61443">
                                            <p:txEl>
                                              <p:pRg st="2" end="2"/>
                                            </p:txEl>
                                          </p:spTgt>
                                        </p:tgtEl>
                                        <p:attrNameLst>
                                          <p:attrName>style.visibility</p:attrName>
                                        </p:attrNameLst>
                                      </p:cBhvr>
                                      <p:to>
                                        <p:strVal val="visible"/>
                                      </p:to>
                                    </p:set>
                                    <p:animEffect transition="in" filter="wipe(left)">
                                      <p:cBhvr>
                                        <p:cTn id="101" dur="500"/>
                                        <p:tgtEl>
                                          <p:spTgt spid="61443">
                                            <p:txEl>
                                              <p:pRg st="2" end="2"/>
                                            </p:txEl>
                                          </p:spTgt>
                                        </p:tgtEl>
                                      </p:cBhvr>
                                    </p:animEffect>
                                  </p:childTnLst>
                                </p:cTn>
                              </p:par>
                            </p:childTnLst>
                          </p:cTn>
                        </p:par>
                        <p:par>
                          <p:cTn id="102" fill="hold" nodeType="afterGroup">
                            <p:stCondLst>
                              <p:cond delay="4000"/>
                            </p:stCondLst>
                            <p:childTnLst>
                              <p:par>
                                <p:cTn id="103" presetID="22" presetClass="entr" presetSubtype="1" fill="hold" nodeType="afterEffect">
                                  <p:stCondLst>
                                    <p:cond delay="0"/>
                                  </p:stCondLst>
                                  <p:childTnLst>
                                    <p:set>
                                      <p:cBhvr>
                                        <p:cTn id="104" dur="1" fill="hold">
                                          <p:stCondLst>
                                            <p:cond delay="0"/>
                                          </p:stCondLst>
                                        </p:cTn>
                                        <p:tgtEl>
                                          <p:spTgt spid="46"/>
                                        </p:tgtEl>
                                        <p:attrNameLst>
                                          <p:attrName>style.visibility</p:attrName>
                                        </p:attrNameLst>
                                      </p:cBhvr>
                                      <p:to>
                                        <p:strVal val="visible"/>
                                      </p:to>
                                    </p:set>
                                    <p:animEffect transition="in" filter="wipe(up)">
                                      <p:cBhvr>
                                        <p:cTn id="105" dur="500"/>
                                        <p:tgtEl>
                                          <p:spTgt spid="46"/>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52"/>
                                        </p:tgtEl>
                                        <p:attrNameLst>
                                          <p:attrName>style.visibility</p:attrName>
                                        </p:attrNameLst>
                                      </p:cBhvr>
                                      <p:to>
                                        <p:strVal val="visible"/>
                                      </p:to>
                                    </p:set>
                                    <p:animEffect transition="in" filter="wipe(left)">
                                      <p:cBhvr>
                                        <p:cTn id="110" dur="500"/>
                                        <p:tgtEl>
                                          <p:spTgt spid="52"/>
                                        </p:tgtEl>
                                      </p:cBhvr>
                                    </p:animEffect>
                                  </p:childTnLst>
                                </p:cTn>
                              </p:par>
                            </p:childTnLst>
                          </p:cTn>
                        </p:par>
                        <p:par>
                          <p:cTn id="111" fill="hold">
                            <p:stCondLst>
                              <p:cond delay="500"/>
                            </p:stCondLst>
                            <p:childTnLst>
                              <p:par>
                                <p:cTn id="112" presetID="22" presetClass="entr" presetSubtype="8" fill="hold" grpId="0" nodeType="afterEffect">
                                  <p:stCondLst>
                                    <p:cond delay="0"/>
                                  </p:stCondLst>
                                  <p:childTnLst>
                                    <p:set>
                                      <p:cBhvr>
                                        <p:cTn id="113" dur="1" fill="hold">
                                          <p:stCondLst>
                                            <p:cond delay="0"/>
                                          </p:stCondLst>
                                        </p:cTn>
                                        <p:tgtEl>
                                          <p:spTgt spid="61443">
                                            <p:txEl>
                                              <p:pRg st="3" end="3"/>
                                            </p:txEl>
                                          </p:spTgt>
                                        </p:tgtEl>
                                        <p:attrNameLst>
                                          <p:attrName>style.visibility</p:attrName>
                                        </p:attrNameLst>
                                      </p:cBhvr>
                                      <p:to>
                                        <p:strVal val="visible"/>
                                      </p:to>
                                    </p:set>
                                    <p:animEffect transition="in" filter="wipe(left)">
                                      <p:cBhvr>
                                        <p:cTn id="114" dur="500"/>
                                        <p:tgtEl>
                                          <p:spTgt spid="614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304800" y="0"/>
            <a:ext cx="8610600" cy="1143000"/>
          </a:xfrm>
        </p:spPr>
        <p:txBody>
          <a:bodyPr>
            <a:normAutofit/>
          </a:bodyPr>
          <a:lstStyle/>
          <a:p>
            <a:pPr>
              <a:lnSpc>
                <a:spcPct val="90000"/>
              </a:lnSpc>
            </a:pPr>
            <a:r>
              <a:rPr lang="en-US" altLang="en-US" sz="3600" dirty="0" smtClean="0"/>
              <a:t>Long-Run Equilibrium: </a:t>
            </a:r>
            <a:br>
              <a:rPr lang="en-US" altLang="en-US" sz="3600" dirty="0" smtClean="0"/>
            </a:br>
            <a:r>
              <a:rPr lang="en-US" altLang="en-US" sz="3600" dirty="0" smtClean="0"/>
              <a:t>Decreasing-Cost Industry</a:t>
            </a:r>
          </a:p>
        </p:txBody>
      </p:sp>
      <p:sp>
        <p:nvSpPr>
          <p:cNvPr id="62467" name="Rectangle 3"/>
          <p:cNvSpPr>
            <a:spLocks noGrp="1" noChangeArrowheads="1"/>
          </p:cNvSpPr>
          <p:nvPr>
            <p:ph idx="1"/>
          </p:nvPr>
        </p:nvSpPr>
        <p:spPr/>
        <p:txBody>
          <a:bodyPr/>
          <a:lstStyle/>
          <a:p>
            <a:r>
              <a:rPr lang="en-US" altLang="en-US" smtClean="0"/>
              <a:t>The entry of new firms </a:t>
            </a:r>
          </a:p>
          <a:p>
            <a:pPr lvl="1"/>
            <a:r>
              <a:rPr lang="en-US" altLang="en-US" smtClean="0"/>
              <a:t>May cause the average costs of all firms to fall</a:t>
            </a:r>
          </a:p>
          <a:p>
            <a:pPr lvl="1"/>
            <a:r>
              <a:rPr lang="en-US" altLang="en-US" smtClean="0"/>
              <a:t>New firms may attract a larger pool of trained labor</a:t>
            </a:r>
          </a:p>
          <a:p>
            <a:pPr lvl="1"/>
            <a:r>
              <a:rPr lang="en-US" altLang="en-US" smtClean="0"/>
              <a:t>Entry of new firms may provide a “critical mass” of industrialization</a:t>
            </a:r>
          </a:p>
          <a:p>
            <a:pPr lvl="2"/>
            <a:r>
              <a:rPr lang="en-US" altLang="en-US" smtClean="0"/>
              <a:t>Permits the development of more efficient transportation and communications networks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A67BB87-2843-4D01-9BFD-5C16F17FBE74}" type="slidenum">
              <a:rPr lang="en-US" smtClean="0"/>
              <a:pPr>
                <a:defRPr/>
              </a:pPr>
              <a:t>47</a:t>
            </a:fld>
            <a:endParaRPr lang="en-US"/>
          </a:p>
        </p:txBody>
      </p:sp>
    </p:spTree>
    <p:extLst>
      <p:ext uri="{BB962C8B-B14F-4D97-AF65-F5344CB8AC3E}">
        <p14:creationId xmlns:p14="http://schemas.microsoft.com/office/powerpoint/2010/main" val="27856101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12.9	A Decreasing Cost Industry Has a </a:t>
            </a:r>
            <a:r>
              <a:rPr lang="en-US" altLang="en-US" dirty="0" smtClean="0"/>
              <a:t>Negatively</a:t>
            </a:r>
            <a:br>
              <a:rPr lang="en-US" altLang="en-US" dirty="0" smtClean="0"/>
            </a:br>
            <a:r>
              <a:rPr lang="en-US" altLang="en-US" dirty="0" smtClean="0"/>
              <a:t>	</a:t>
            </a:r>
            <a:r>
              <a:rPr lang="en-US" altLang="en-US" dirty="0" smtClean="0">
                <a:solidFill>
                  <a:srgbClr val="002D56"/>
                </a:solidFill>
              </a:rPr>
              <a:t> </a:t>
            </a:r>
            <a:r>
              <a:rPr lang="en-US" altLang="en-US" dirty="0">
                <a:solidFill>
                  <a:srgbClr val="002D56"/>
                </a:solidFill>
              </a:rPr>
              <a:t>Sloped Long-Run Supply </a:t>
            </a:r>
            <a:r>
              <a:rPr lang="en-US" altLang="en-US" dirty="0" smtClean="0">
                <a:solidFill>
                  <a:srgbClr val="002D56"/>
                </a:solidFill>
              </a:rPr>
              <a:t>Curve</a:t>
            </a:r>
            <a:endParaRPr lang="en-US" altLang="en-US" dirty="0" smtClean="0">
              <a:solidFill>
                <a:srgbClr val="002D56"/>
              </a:solidFill>
            </a:endParaRPr>
          </a:p>
        </p:txBody>
      </p:sp>
      <p:sp>
        <p:nvSpPr>
          <p:cNvPr id="63491" name="Text Placeholder 2"/>
          <p:cNvSpPr>
            <a:spLocks noGrp="1"/>
          </p:cNvSpPr>
          <p:nvPr>
            <p:ph sz="half" idx="1"/>
          </p:nvPr>
        </p:nvSpPr>
        <p:spPr>
          <a:xfrm>
            <a:off x="76200" y="4572000"/>
            <a:ext cx="8896349" cy="1752600"/>
          </a:xfrm>
        </p:spPr>
        <p:txBody>
          <a:bodyPr>
            <a:normAutofit/>
          </a:bodyPr>
          <a:lstStyle/>
          <a:p>
            <a:pPr>
              <a:spcBef>
                <a:spcPct val="0"/>
              </a:spcBef>
            </a:pPr>
            <a:r>
              <a:rPr lang="en-US" altLang="en-US" dirty="0"/>
              <a:t>Initially the market is in equilibrium at P</a:t>
            </a:r>
            <a:r>
              <a:rPr lang="en-US" altLang="en-US" baseline="-25000" dirty="0"/>
              <a:t>1</a:t>
            </a:r>
            <a:r>
              <a:rPr lang="en-US" altLang="en-US" dirty="0"/>
              <a:t>, Q</a:t>
            </a:r>
            <a:r>
              <a:rPr lang="en-US" altLang="en-US" baseline="-25000" dirty="0"/>
              <a:t>1</a:t>
            </a:r>
            <a:r>
              <a:rPr lang="en-US" altLang="en-US" dirty="0"/>
              <a:t>. An increase in demand (to D’) causes price to increase to P</a:t>
            </a:r>
            <a:r>
              <a:rPr lang="en-US" altLang="en-US" baseline="-25000" dirty="0"/>
              <a:t>2 </a:t>
            </a:r>
            <a:r>
              <a:rPr lang="en-US" altLang="en-US" dirty="0"/>
              <a:t>in the short run, and the typical firm produces q</a:t>
            </a:r>
            <a:r>
              <a:rPr lang="en-US" altLang="en-US" baseline="-25000" dirty="0"/>
              <a:t>2</a:t>
            </a:r>
            <a:r>
              <a:rPr lang="en-US" altLang="en-US" dirty="0"/>
              <a:t> at a profit. This profit attracts new firms into the industry. If the entry of these new firms causes costs for the typical firm to decrease, a set of new cost curves might look like those in (b). With this new set of curves, market equilibrium is re-established at P3, Q</a:t>
            </a:r>
            <a:r>
              <a:rPr lang="en-US" altLang="en-US" baseline="-25000" dirty="0"/>
              <a:t>3</a:t>
            </a:r>
            <a:r>
              <a:rPr lang="en-US" altLang="en-US" dirty="0"/>
              <a:t>. By connecting such points of equilibrium, a negatively sloped long-run supply curve (LS) is traced out</a:t>
            </a:r>
            <a:r>
              <a:rPr lang="en-US" altLang="en-US" dirty="0" smtClean="0"/>
              <a:t>.</a:t>
            </a:r>
            <a:endParaRPr lang="en-US" altLang="en-US" dirty="0"/>
          </a:p>
        </p:txBody>
      </p:sp>
      <p:sp>
        <p:nvSpPr>
          <p:cNvPr id="63494"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CE262F37-6C5A-4281-B378-5E7DDF2AA12F}" type="slidenum">
              <a:rPr lang="en-US" smtClean="0"/>
              <a:pPr>
                <a:defRPr/>
              </a:pPr>
              <a:t>48</a:t>
            </a:fld>
            <a:endParaRPr lang="en-US" dirty="0"/>
          </a:p>
        </p:txBody>
      </p:sp>
      <p:grpSp>
        <p:nvGrpSpPr>
          <p:cNvPr id="7" name="Group 9"/>
          <p:cNvGrpSpPr>
            <a:grpSpLocks/>
          </p:cNvGrpSpPr>
          <p:nvPr/>
        </p:nvGrpSpPr>
        <p:grpSpPr bwMode="auto">
          <a:xfrm>
            <a:off x="266700" y="990600"/>
            <a:ext cx="2927350" cy="3086100"/>
            <a:chOff x="384974" y="1298393"/>
            <a:chExt cx="2928238" cy="3086682"/>
          </a:xfrm>
        </p:grpSpPr>
        <p:grpSp>
          <p:nvGrpSpPr>
            <p:cNvPr id="63590" name="Group 45"/>
            <p:cNvGrpSpPr>
              <a:grpSpLocks/>
            </p:cNvGrpSpPr>
            <p:nvPr/>
          </p:nvGrpSpPr>
          <p:grpSpPr bwMode="auto">
            <a:xfrm>
              <a:off x="844550" y="4048525"/>
              <a:ext cx="2436813" cy="336550"/>
              <a:chOff x="844550" y="4048525"/>
              <a:chExt cx="2436813" cy="336550"/>
            </a:xfrm>
          </p:grpSpPr>
          <p:sp>
            <p:nvSpPr>
              <p:cNvPr id="63595" name="Line 5"/>
              <p:cNvSpPr>
                <a:spLocks noChangeShapeType="1"/>
              </p:cNvSpPr>
              <p:nvPr/>
            </p:nvSpPr>
            <p:spPr bwMode="auto">
              <a:xfrm>
                <a:off x="844550" y="4048525"/>
                <a:ext cx="1981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3596" name="Text Box 9"/>
              <p:cNvSpPr txBox="1">
                <a:spLocks noChangeArrowheads="1"/>
              </p:cNvSpPr>
              <p:nvPr/>
            </p:nvSpPr>
            <p:spPr bwMode="auto">
              <a:xfrm>
                <a:off x="2386013" y="4048525"/>
                <a:ext cx="895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Output </a:t>
                </a:r>
              </a:p>
              <a:p>
                <a:pPr algn="ctr" eaLnBrk="1" hangingPunct="1"/>
                <a:r>
                  <a:rPr lang="en-US" altLang="en-US" sz="1800"/>
                  <a:t>per period</a:t>
                </a:r>
                <a:endParaRPr lang="en-US" altLang="en-US" sz="1800" baseline="30000"/>
              </a:p>
            </p:txBody>
          </p:sp>
        </p:grpSp>
        <p:grpSp>
          <p:nvGrpSpPr>
            <p:cNvPr id="63591" name="Group 44"/>
            <p:cNvGrpSpPr>
              <a:grpSpLocks/>
            </p:cNvGrpSpPr>
            <p:nvPr/>
          </p:nvGrpSpPr>
          <p:grpSpPr bwMode="auto">
            <a:xfrm>
              <a:off x="433388" y="1914925"/>
              <a:ext cx="411162" cy="2133600"/>
              <a:chOff x="433388" y="1914925"/>
              <a:chExt cx="411162" cy="2133600"/>
            </a:xfrm>
          </p:grpSpPr>
          <p:sp>
            <p:nvSpPr>
              <p:cNvPr id="63593" name="Line 4"/>
              <p:cNvSpPr>
                <a:spLocks noChangeShapeType="1"/>
              </p:cNvSpPr>
              <p:nvPr/>
            </p:nvSpPr>
            <p:spPr bwMode="auto">
              <a:xfrm>
                <a:off x="844550" y="2067325"/>
                <a:ext cx="0" cy="198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3594" name="Text Box 14"/>
              <p:cNvSpPr txBox="1">
                <a:spLocks noChangeArrowheads="1"/>
              </p:cNvSpPr>
              <p:nvPr/>
            </p:nvSpPr>
            <p:spPr bwMode="auto">
              <a:xfrm>
                <a:off x="433388" y="1914925"/>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p>
            </p:txBody>
          </p:sp>
        </p:grpSp>
        <p:sp>
          <p:nvSpPr>
            <p:cNvPr id="63592" name="Text Box 27"/>
            <p:cNvSpPr txBox="1">
              <a:spLocks noChangeArrowheads="1"/>
            </p:cNvSpPr>
            <p:nvPr/>
          </p:nvSpPr>
          <p:spPr bwMode="auto">
            <a:xfrm>
              <a:off x="384974" y="1298393"/>
              <a:ext cx="29282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002D56"/>
                  </a:solidFill>
                </a:rPr>
                <a:t>(a) Typical firm before entry</a:t>
              </a:r>
            </a:p>
          </p:txBody>
        </p:sp>
      </p:grpSp>
      <p:grpSp>
        <p:nvGrpSpPr>
          <p:cNvPr id="12" name="Group 17"/>
          <p:cNvGrpSpPr>
            <a:grpSpLocks/>
          </p:cNvGrpSpPr>
          <p:nvPr/>
        </p:nvGrpSpPr>
        <p:grpSpPr bwMode="auto">
          <a:xfrm>
            <a:off x="3176588" y="990600"/>
            <a:ext cx="3046412" cy="3086100"/>
            <a:chOff x="3176588" y="1298393"/>
            <a:chExt cx="3046081" cy="3086682"/>
          </a:xfrm>
        </p:grpSpPr>
        <p:grpSp>
          <p:nvGrpSpPr>
            <p:cNvPr id="63583" name="Group 46"/>
            <p:cNvGrpSpPr>
              <a:grpSpLocks/>
            </p:cNvGrpSpPr>
            <p:nvPr/>
          </p:nvGrpSpPr>
          <p:grpSpPr bwMode="auto">
            <a:xfrm>
              <a:off x="3587750" y="4048525"/>
              <a:ext cx="2360613" cy="336550"/>
              <a:chOff x="3587750" y="4048525"/>
              <a:chExt cx="2360613" cy="336550"/>
            </a:xfrm>
          </p:grpSpPr>
          <p:sp>
            <p:nvSpPr>
              <p:cNvPr id="63588" name="Line 8"/>
              <p:cNvSpPr>
                <a:spLocks noChangeShapeType="1"/>
              </p:cNvSpPr>
              <p:nvPr/>
            </p:nvSpPr>
            <p:spPr bwMode="auto">
              <a:xfrm>
                <a:off x="3587750" y="4048525"/>
                <a:ext cx="1981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3589" name="Text Box 11"/>
              <p:cNvSpPr txBox="1">
                <a:spLocks noChangeArrowheads="1"/>
              </p:cNvSpPr>
              <p:nvPr/>
            </p:nvSpPr>
            <p:spPr bwMode="auto">
              <a:xfrm>
                <a:off x="5053013" y="4048525"/>
                <a:ext cx="895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a:t>Output</a:t>
                </a:r>
              </a:p>
              <a:p>
                <a:pPr algn="r" eaLnBrk="1" hangingPunct="1"/>
                <a:r>
                  <a:rPr lang="en-US" altLang="en-US" sz="1800"/>
                  <a:t>per period</a:t>
                </a:r>
              </a:p>
            </p:txBody>
          </p:sp>
        </p:grpSp>
        <p:grpSp>
          <p:nvGrpSpPr>
            <p:cNvPr id="63584" name="Group 43"/>
            <p:cNvGrpSpPr>
              <a:grpSpLocks/>
            </p:cNvGrpSpPr>
            <p:nvPr/>
          </p:nvGrpSpPr>
          <p:grpSpPr bwMode="auto">
            <a:xfrm>
              <a:off x="3176588" y="1914925"/>
              <a:ext cx="411162" cy="2133600"/>
              <a:chOff x="3176588" y="1914925"/>
              <a:chExt cx="411162" cy="2133600"/>
            </a:xfrm>
          </p:grpSpPr>
          <p:sp>
            <p:nvSpPr>
              <p:cNvPr id="63586" name="Line 7"/>
              <p:cNvSpPr>
                <a:spLocks noChangeShapeType="1"/>
              </p:cNvSpPr>
              <p:nvPr/>
            </p:nvSpPr>
            <p:spPr bwMode="auto">
              <a:xfrm>
                <a:off x="3587750" y="2067325"/>
                <a:ext cx="0" cy="198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3587" name="Text Box 13"/>
              <p:cNvSpPr txBox="1">
                <a:spLocks noChangeArrowheads="1"/>
              </p:cNvSpPr>
              <p:nvPr/>
            </p:nvSpPr>
            <p:spPr bwMode="auto">
              <a:xfrm>
                <a:off x="3176588" y="1914925"/>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p>
            </p:txBody>
          </p:sp>
        </p:grpSp>
        <p:sp>
          <p:nvSpPr>
            <p:cNvPr id="63585" name="Text Box 28"/>
            <p:cNvSpPr txBox="1">
              <a:spLocks noChangeArrowheads="1"/>
            </p:cNvSpPr>
            <p:nvPr/>
          </p:nvSpPr>
          <p:spPr bwMode="auto">
            <a:xfrm>
              <a:off x="3351830" y="1298393"/>
              <a:ext cx="2870839"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002D56"/>
                  </a:solidFill>
                </a:rPr>
                <a:t>(b) Typical firm after entry</a:t>
              </a:r>
            </a:p>
          </p:txBody>
        </p:sp>
      </p:grpSp>
      <p:grpSp>
        <p:nvGrpSpPr>
          <p:cNvPr id="20" name="Group 25"/>
          <p:cNvGrpSpPr>
            <a:grpSpLocks/>
          </p:cNvGrpSpPr>
          <p:nvPr/>
        </p:nvGrpSpPr>
        <p:grpSpPr bwMode="auto">
          <a:xfrm>
            <a:off x="6148388" y="990600"/>
            <a:ext cx="2916237" cy="3795713"/>
            <a:chOff x="6148388" y="1298393"/>
            <a:chExt cx="2916446" cy="3796122"/>
          </a:xfrm>
        </p:grpSpPr>
        <p:grpSp>
          <p:nvGrpSpPr>
            <p:cNvPr id="63576" name="Group 47"/>
            <p:cNvGrpSpPr>
              <a:grpSpLocks/>
            </p:cNvGrpSpPr>
            <p:nvPr/>
          </p:nvGrpSpPr>
          <p:grpSpPr bwMode="auto">
            <a:xfrm>
              <a:off x="6483350" y="4048525"/>
              <a:ext cx="2581484" cy="1045990"/>
              <a:chOff x="6483350" y="4048525"/>
              <a:chExt cx="2581484" cy="1045990"/>
            </a:xfrm>
          </p:grpSpPr>
          <p:sp>
            <p:nvSpPr>
              <p:cNvPr id="63581" name="Line 3"/>
              <p:cNvSpPr>
                <a:spLocks noChangeShapeType="1"/>
              </p:cNvSpPr>
              <p:nvPr/>
            </p:nvSpPr>
            <p:spPr bwMode="auto">
              <a:xfrm>
                <a:off x="6483350" y="4048525"/>
                <a:ext cx="1981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3582" name="Text Box 10"/>
              <p:cNvSpPr txBox="1">
                <a:spLocks noChangeArrowheads="1"/>
              </p:cNvSpPr>
              <p:nvPr/>
            </p:nvSpPr>
            <p:spPr bwMode="auto">
              <a:xfrm>
                <a:off x="6675681" y="4391097"/>
                <a:ext cx="2389153" cy="703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a:t>Output  per period</a:t>
                </a:r>
              </a:p>
            </p:txBody>
          </p:sp>
        </p:grpSp>
        <p:grpSp>
          <p:nvGrpSpPr>
            <p:cNvPr id="63577" name="Group 42"/>
            <p:cNvGrpSpPr>
              <a:grpSpLocks/>
            </p:cNvGrpSpPr>
            <p:nvPr/>
          </p:nvGrpSpPr>
          <p:grpSpPr bwMode="auto">
            <a:xfrm>
              <a:off x="6148388" y="1991125"/>
              <a:ext cx="334962" cy="2057400"/>
              <a:chOff x="6148388" y="1991125"/>
              <a:chExt cx="334962" cy="2057400"/>
            </a:xfrm>
          </p:grpSpPr>
          <p:sp>
            <p:nvSpPr>
              <p:cNvPr id="63579" name="Line 6"/>
              <p:cNvSpPr>
                <a:spLocks noChangeShapeType="1"/>
              </p:cNvSpPr>
              <p:nvPr/>
            </p:nvSpPr>
            <p:spPr bwMode="auto">
              <a:xfrm>
                <a:off x="6483350" y="2067325"/>
                <a:ext cx="0" cy="198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3580" name="Text Box 12"/>
              <p:cNvSpPr txBox="1">
                <a:spLocks noChangeArrowheads="1"/>
              </p:cNvSpPr>
              <p:nvPr/>
            </p:nvSpPr>
            <p:spPr bwMode="auto">
              <a:xfrm>
                <a:off x="6148388" y="1991125"/>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p>
            </p:txBody>
          </p:sp>
        </p:grpSp>
        <p:sp>
          <p:nvSpPr>
            <p:cNvPr id="63578" name="Text Box 29"/>
            <p:cNvSpPr txBox="1">
              <a:spLocks noChangeArrowheads="1"/>
            </p:cNvSpPr>
            <p:nvPr/>
          </p:nvSpPr>
          <p:spPr bwMode="auto">
            <a:xfrm>
              <a:off x="6475025" y="1298393"/>
              <a:ext cx="231271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dirty="0">
                  <a:solidFill>
                    <a:srgbClr val="002D56"/>
                  </a:solidFill>
                </a:rPr>
                <a:t>(c) The market</a:t>
              </a:r>
            </a:p>
          </p:txBody>
        </p:sp>
      </p:grpSp>
      <p:grpSp>
        <p:nvGrpSpPr>
          <p:cNvPr id="28" name="Group 36"/>
          <p:cNvGrpSpPr>
            <a:grpSpLocks/>
          </p:cNvGrpSpPr>
          <p:nvPr/>
        </p:nvGrpSpPr>
        <p:grpSpPr bwMode="auto">
          <a:xfrm>
            <a:off x="712788" y="1876425"/>
            <a:ext cx="2395537" cy="1058863"/>
            <a:chOff x="712520" y="1947284"/>
            <a:chExt cx="2396445" cy="1058986"/>
          </a:xfrm>
        </p:grpSpPr>
        <p:sp>
          <p:nvSpPr>
            <p:cNvPr id="63574" name="Freeform 28"/>
            <p:cNvSpPr>
              <a:spLocks/>
            </p:cNvSpPr>
            <p:nvPr/>
          </p:nvSpPr>
          <p:spPr bwMode="auto">
            <a:xfrm>
              <a:off x="712520" y="2244436"/>
              <a:ext cx="1888176" cy="761834"/>
            </a:xfrm>
            <a:custGeom>
              <a:avLst/>
              <a:gdLst>
                <a:gd name="T0" fmla="*/ 0 w 1680"/>
                <a:gd name="T1" fmla="*/ 48 h 536"/>
                <a:gd name="T2" fmla="*/ 768 w 1680"/>
                <a:gd name="T3" fmla="*/ 528 h 536"/>
                <a:gd name="T4" fmla="*/ 1680 w 1680"/>
                <a:gd name="T5" fmla="*/ 0 h 536"/>
                <a:gd name="T6" fmla="*/ 0 60000 65536"/>
                <a:gd name="T7" fmla="*/ 0 60000 65536"/>
                <a:gd name="T8" fmla="*/ 0 60000 65536"/>
                <a:gd name="T9" fmla="*/ 0 w 1680"/>
                <a:gd name="T10" fmla="*/ 0 h 536"/>
                <a:gd name="T11" fmla="*/ 1680 w 1680"/>
                <a:gd name="T12" fmla="*/ 536 h 536"/>
              </a:gdLst>
              <a:ahLst/>
              <a:cxnLst>
                <a:cxn ang="T6">
                  <a:pos x="T0" y="T1"/>
                </a:cxn>
                <a:cxn ang="T7">
                  <a:pos x="T2" y="T3"/>
                </a:cxn>
                <a:cxn ang="T8">
                  <a:pos x="T4" y="T5"/>
                </a:cxn>
              </a:cxnLst>
              <a:rect l="T9" t="T10" r="T11" b="T12"/>
              <a:pathLst>
                <a:path w="1680" h="536">
                  <a:moveTo>
                    <a:pt x="0" y="48"/>
                  </a:moveTo>
                  <a:cubicBezTo>
                    <a:pt x="244" y="292"/>
                    <a:pt x="488" y="536"/>
                    <a:pt x="768" y="528"/>
                  </a:cubicBezTo>
                  <a:cubicBezTo>
                    <a:pt x="1048" y="520"/>
                    <a:pt x="1528" y="88"/>
                    <a:pt x="1680" y="0"/>
                  </a:cubicBezTo>
                </a:path>
              </a:pathLst>
            </a:custGeom>
            <a:noFill/>
            <a:ln w="28575" cap="flat" cmpd="sng">
              <a:solidFill>
                <a:srgbClr val="0D7D65"/>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3575" name="Text Box 29"/>
            <p:cNvSpPr txBox="1">
              <a:spLocks noChangeArrowheads="1"/>
            </p:cNvSpPr>
            <p:nvPr/>
          </p:nvSpPr>
          <p:spPr bwMode="auto">
            <a:xfrm>
              <a:off x="2497777" y="1947284"/>
              <a:ext cx="6111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0D7D65"/>
                  </a:solidFill>
                </a:rPr>
                <a:t>AC</a:t>
              </a:r>
            </a:p>
          </p:txBody>
        </p:sp>
      </p:grpSp>
      <p:grpSp>
        <p:nvGrpSpPr>
          <p:cNvPr id="34" name="Group 72"/>
          <p:cNvGrpSpPr>
            <a:grpSpLocks/>
          </p:cNvGrpSpPr>
          <p:nvPr/>
        </p:nvGrpSpPr>
        <p:grpSpPr bwMode="auto">
          <a:xfrm>
            <a:off x="1638300" y="2246313"/>
            <a:ext cx="438150" cy="1820862"/>
            <a:chOff x="1955146" y="2321535"/>
            <a:chExt cx="438150" cy="1821278"/>
          </a:xfrm>
        </p:grpSpPr>
        <p:grpSp>
          <p:nvGrpSpPr>
            <p:cNvPr id="63570" name="Group 60"/>
            <p:cNvGrpSpPr>
              <a:grpSpLocks/>
            </p:cNvGrpSpPr>
            <p:nvPr/>
          </p:nvGrpSpPr>
          <p:grpSpPr bwMode="auto">
            <a:xfrm>
              <a:off x="1955146" y="2375065"/>
              <a:ext cx="438150" cy="1767748"/>
              <a:chOff x="1244600" y="2612565"/>
              <a:chExt cx="438150" cy="1767748"/>
            </a:xfrm>
          </p:grpSpPr>
          <p:sp>
            <p:nvSpPr>
              <p:cNvPr id="63572" name="Line 21"/>
              <p:cNvSpPr>
                <a:spLocks noChangeShapeType="1"/>
              </p:cNvSpPr>
              <p:nvPr/>
            </p:nvSpPr>
            <p:spPr bwMode="auto">
              <a:xfrm>
                <a:off x="1450764" y="2612565"/>
                <a:ext cx="3386" cy="143596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3573" name="Text Box 23"/>
              <p:cNvSpPr txBox="1">
                <a:spLocks noChangeArrowheads="1"/>
              </p:cNvSpPr>
              <p:nvPr/>
            </p:nvSpPr>
            <p:spPr bwMode="auto">
              <a:xfrm>
                <a:off x="1244600" y="4075513"/>
                <a:ext cx="438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25000"/>
                  <a:t>2</a:t>
                </a:r>
                <a:endParaRPr lang="en-US" altLang="en-US" sz="1800" baseline="30000"/>
              </a:p>
            </p:txBody>
          </p:sp>
        </p:grpSp>
        <p:sp>
          <p:nvSpPr>
            <p:cNvPr id="63571" name="Oval 9"/>
            <p:cNvSpPr>
              <a:spLocks noChangeArrowheads="1"/>
            </p:cNvSpPr>
            <p:nvPr/>
          </p:nvSpPr>
          <p:spPr bwMode="auto">
            <a:xfrm>
              <a:off x="2118807" y="2321535"/>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37" name="Group 98"/>
          <p:cNvGrpSpPr>
            <a:grpSpLocks/>
          </p:cNvGrpSpPr>
          <p:nvPr/>
        </p:nvGrpSpPr>
        <p:grpSpPr bwMode="auto">
          <a:xfrm>
            <a:off x="1017588" y="1670050"/>
            <a:ext cx="1612900" cy="1708150"/>
            <a:chOff x="2562082" y="1277821"/>
            <a:chExt cx="1611415" cy="1707869"/>
          </a:xfrm>
        </p:grpSpPr>
        <p:sp>
          <p:nvSpPr>
            <p:cNvPr id="63568" name="Freeform 12"/>
            <p:cNvSpPr>
              <a:spLocks/>
            </p:cNvSpPr>
            <p:nvPr/>
          </p:nvSpPr>
          <p:spPr bwMode="auto">
            <a:xfrm rot="941367">
              <a:off x="2562082" y="1510480"/>
              <a:ext cx="1040013" cy="1475210"/>
            </a:xfrm>
            <a:custGeom>
              <a:avLst/>
              <a:gdLst>
                <a:gd name="T0" fmla="*/ 0 w 10000"/>
                <a:gd name="T1" fmla="*/ 1377028 h 10713"/>
                <a:gd name="T2" fmla="*/ 691401 w 10000"/>
                <a:gd name="T3" fmla="*/ 918064 h 10713"/>
                <a:gd name="T4" fmla="*/ 1040013 w 10000"/>
                <a:gd name="T5" fmla="*/ 0 h 10713"/>
                <a:gd name="T6" fmla="*/ 0 60000 65536"/>
                <a:gd name="T7" fmla="*/ 0 60000 65536"/>
                <a:gd name="T8" fmla="*/ 0 60000 65536"/>
              </a:gdLst>
              <a:ahLst/>
              <a:cxnLst>
                <a:cxn ang="T6">
                  <a:pos x="T0" y="T1"/>
                </a:cxn>
                <a:cxn ang="T7">
                  <a:pos x="T2" y="T3"/>
                </a:cxn>
                <a:cxn ang="T8">
                  <a:pos x="T4" y="T5"/>
                </a:cxn>
              </a:cxnLst>
              <a:rect l="0" t="0" r="r" b="b"/>
              <a:pathLst>
                <a:path w="10000" h="10713">
                  <a:moveTo>
                    <a:pt x="0" y="10000"/>
                  </a:moveTo>
                  <a:cubicBezTo>
                    <a:pt x="2032" y="10713"/>
                    <a:pt x="4981" y="8334"/>
                    <a:pt x="6648" y="6667"/>
                  </a:cubicBezTo>
                  <a:cubicBezTo>
                    <a:pt x="8314" y="5001"/>
                    <a:pt x="9116" y="2434"/>
                    <a:pt x="10000" y="0"/>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3569" name="Text Box 16"/>
            <p:cNvSpPr txBox="1">
              <a:spLocks noChangeArrowheads="1"/>
            </p:cNvSpPr>
            <p:nvPr/>
          </p:nvSpPr>
          <p:spPr bwMode="auto">
            <a:xfrm>
              <a:off x="3673434" y="1277821"/>
              <a:ext cx="5000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177B21"/>
                  </a:solidFill>
                </a:rPr>
                <a:t>MC</a:t>
              </a:r>
            </a:p>
          </p:txBody>
        </p:sp>
      </p:grpSp>
      <p:grpSp>
        <p:nvGrpSpPr>
          <p:cNvPr id="40" name="Group 102"/>
          <p:cNvGrpSpPr>
            <a:grpSpLocks/>
          </p:cNvGrpSpPr>
          <p:nvPr/>
        </p:nvGrpSpPr>
        <p:grpSpPr bwMode="auto">
          <a:xfrm>
            <a:off x="1106488" y="1382713"/>
            <a:ext cx="1290637" cy="2247900"/>
            <a:chOff x="1220386" y="1450140"/>
            <a:chExt cx="1291063" cy="2246598"/>
          </a:xfrm>
        </p:grpSpPr>
        <p:sp>
          <p:nvSpPr>
            <p:cNvPr id="63566" name="Text Box 11"/>
            <p:cNvSpPr txBox="1">
              <a:spLocks noChangeArrowheads="1"/>
            </p:cNvSpPr>
            <p:nvPr/>
          </p:nvSpPr>
          <p:spPr bwMode="auto">
            <a:xfrm>
              <a:off x="1876449" y="1450140"/>
              <a:ext cx="635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SMC</a:t>
              </a:r>
            </a:p>
          </p:txBody>
        </p:sp>
        <p:sp>
          <p:nvSpPr>
            <p:cNvPr id="63567" name="Freeform 101"/>
            <p:cNvSpPr>
              <a:spLocks/>
            </p:cNvSpPr>
            <p:nvPr/>
          </p:nvSpPr>
          <p:spPr bwMode="auto">
            <a:xfrm>
              <a:off x="1220386" y="1796778"/>
              <a:ext cx="843240" cy="1899960"/>
            </a:xfrm>
            <a:custGeom>
              <a:avLst/>
              <a:gdLst>
                <a:gd name="T0" fmla="*/ 843240 w 843240"/>
                <a:gd name="T1" fmla="*/ 0 h 1899960"/>
                <a:gd name="T2" fmla="*/ 0 w 843240"/>
                <a:gd name="T3" fmla="*/ 1899960 h 1899960"/>
                <a:gd name="T4" fmla="*/ 0 60000 65536"/>
                <a:gd name="T5" fmla="*/ 0 60000 65536"/>
              </a:gdLst>
              <a:ahLst/>
              <a:cxnLst>
                <a:cxn ang="T4">
                  <a:pos x="T0" y="T1"/>
                </a:cxn>
                <a:cxn ang="T5">
                  <a:pos x="T2" y="T3"/>
                </a:cxn>
              </a:cxnLst>
              <a:rect l="0" t="0" r="r" b="b"/>
              <a:pathLst>
                <a:path w="843240" h="1899960">
                  <a:moveTo>
                    <a:pt x="843240" y="0"/>
                  </a:moveTo>
                  <a:cubicBezTo>
                    <a:pt x="761407" y="633320"/>
                    <a:pt x="430515" y="1465887"/>
                    <a:pt x="0" y="1899960"/>
                  </a:cubicBezTo>
                </a:path>
              </a:pathLst>
            </a:custGeom>
            <a:noFill/>
            <a:ln w="28575" cap="flat" cmpd="sng" algn="ctr">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43" name="Group 67"/>
          <p:cNvGrpSpPr>
            <a:grpSpLocks/>
          </p:cNvGrpSpPr>
          <p:nvPr/>
        </p:nvGrpSpPr>
        <p:grpSpPr bwMode="auto">
          <a:xfrm>
            <a:off x="1363663" y="2886075"/>
            <a:ext cx="438150" cy="1185863"/>
            <a:chOff x="1541487" y="2956590"/>
            <a:chExt cx="438150" cy="1186223"/>
          </a:xfrm>
        </p:grpSpPr>
        <p:grpSp>
          <p:nvGrpSpPr>
            <p:cNvPr id="63562" name="Group 6"/>
            <p:cNvGrpSpPr>
              <a:grpSpLocks/>
            </p:cNvGrpSpPr>
            <p:nvPr/>
          </p:nvGrpSpPr>
          <p:grpSpPr bwMode="auto">
            <a:xfrm>
              <a:off x="1541487" y="2987137"/>
              <a:ext cx="438150" cy="1155676"/>
              <a:chOff x="1244600" y="3224637"/>
              <a:chExt cx="438150" cy="1155676"/>
            </a:xfrm>
          </p:grpSpPr>
          <p:sp>
            <p:nvSpPr>
              <p:cNvPr id="63564" name="Line 21"/>
              <p:cNvSpPr>
                <a:spLocks noChangeShapeType="1"/>
              </p:cNvSpPr>
              <p:nvPr/>
            </p:nvSpPr>
            <p:spPr bwMode="auto">
              <a:xfrm flipH="1">
                <a:off x="1454149" y="3224637"/>
                <a:ext cx="1935" cy="82388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3565" name="Text Box 23"/>
              <p:cNvSpPr txBox="1">
                <a:spLocks noChangeArrowheads="1"/>
              </p:cNvSpPr>
              <p:nvPr/>
            </p:nvSpPr>
            <p:spPr bwMode="auto">
              <a:xfrm>
                <a:off x="1244600" y="4075513"/>
                <a:ext cx="438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25000"/>
                  <a:t>1</a:t>
                </a:r>
                <a:endParaRPr lang="en-US" altLang="en-US" sz="1800" baseline="30000"/>
              </a:p>
            </p:txBody>
          </p:sp>
        </p:grpSp>
        <p:sp>
          <p:nvSpPr>
            <p:cNvPr id="63563" name="Oval 9"/>
            <p:cNvSpPr>
              <a:spLocks noChangeArrowheads="1"/>
            </p:cNvSpPr>
            <p:nvPr/>
          </p:nvSpPr>
          <p:spPr bwMode="auto">
            <a:xfrm>
              <a:off x="1714634" y="2956590"/>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45" name="Group 103"/>
          <p:cNvGrpSpPr>
            <a:grpSpLocks/>
          </p:cNvGrpSpPr>
          <p:nvPr/>
        </p:nvGrpSpPr>
        <p:grpSpPr bwMode="auto">
          <a:xfrm>
            <a:off x="3746500" y="2220913"/>
            <a:ext cx="2397125" cy="1058862"/>
            <a:chOff x="712520" y="1947284"/>
            <a:chExt cx="2396445" cy="1058986"/>
          </a:xfrm>
        </p:grpSpPr>
        <p:sp>
          <p:nvSpPr>
            <p:cNvPr id="63560" name="Freeform 28"/>
            <p:cNvSpPr>
              <a:spLocks/>
            </p:cNvSpPr>
            <p:nvPr/>
          </p:nvSpPr>
          <p:spPr bwMode="auto">
            <a:xfrm>
              <a:off x="712520" y="2244436"/>
              <a:ext cx="1888176" cy="761834"/>
            </a:xfrm>
            <a:custGeom>
              <a:avLst/>
              <a:gdLst>
                <a:gd name="T0" fmla="*/ 0 w 1680"/>
                <a:gd name="T1" fmla="*/ 48 h 536"/>
                <a:gd name="T2" fmla="*/ 768 w 1680"/>
                <a:gd name="T3" fmla="*/ 528 h 536"/>
                <a:gd name="T4" fmla="*/ 1680 w 1680"/>
                <a:gd name="T5" fmla="*/ 0 h 536"/>
                <a:gd name="T6" fmla="*/ 0 60000 65536"/>
                <a:gd name="T7" fmla="*/ 0 60000 65536"/>
                <a:gd name="T8" fmla="*/ 0 60000 65536"/>
                <a:gd name="T9" fmla="*/ 0 w 1680"/>
                <a:gd name="T10" fmla="*/ 0 h 536"/>
                <a:gd name="T11" fmla="*/ 1680 w 1680"/>
                <a:gd name="T12" fmla="*/ 536 h 536"/>
              </a:gdLst>
              <a:ahLst/>
              <a:cxnLst>
                <a:cxn ang="T6">
                  <a:pos x="T0" y="T1"/>
                </a:cxn>
                <a:cxn ang="T7">
                  <a:pos x="T2" y="T3"/>
                </a:cxn>
                <a:cxn ang="T8">
                  <a:pos x="T4" y="T5"/>
                </a:cxn>
              </a:cxnLst>
              <a:rect l="T9" t="T10" r="T11" b="T12"/>
              <a:pathLst>
                <a:path w="1680" h="536">
                  <a:moveTo>
                    <a:pt x="0" y="48"/>
                  </a:moveTo>
                  <a:cubicBezTo>
                    <a:pt x="244" y="292"/>
                    <a:pt x="488" y="536"/>
                    <a:pt x="768" y="528"/>
                  </a:cubicBezTo>
                  <a:cubicBezTo>
                    <a:pt x="1048" y="520"/>
                    <a:pt x="1528" y="88"/>
                    <a:pt x="1680" y="0"/>
                  </a:cubicBezTo>
                </a:path>
              </a:pathLst>
            </a:custGeom>
            <a:noFill/>
            <a:ln w="28575" cap="flat" cmpd="sng">
              <a:solidFill>
                <a:srgbClr val="0D7D65"/>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3561" name="Text Box 29"/>
            <p:cNvSpPr txBox="1">
              <a:spLocks noChangeArrowheads="1"/>
            </p:cNvSpPr>
            <p:nvPr/>
          </p:nvSpPr>
          <p:spPr bwMode="auto">
            <a:xfrm>
              <a:off x="2497777" y="1947284"/>
              <a:ext cx="6111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0D7D65"/>
                  </a:solidFill>
                </a:rPr>
                <a:t>AC</a:t>
              </a:r>
            </a:p>
          </p:txBody>
        </p:sp>
      </p:grpSp>
      <p:grpSp>
        <p:nvGrpSpPr>
          <p:cNvPr id="46" name="Group 106"/>
          <p:cNvGrpSpPr>
            <a:grpSpLocks/>
          </p:cNvGrpSpPr>
          <p:nvPr/>
        </p:nvGrpSpPr>
        <p:grpSpPr bwMode="auto">
          <a:xfrm>
            <a:off x="4052888" y="2014538"/>
            <a:ext cx="1611312" cy="1708150"/>
            <a:chOff x="2562082" y="1277821"/>
            <a:chExt cx="1611415" cy="1707869"/>
          </a:xfrm>
        </p:grpSpPr>
        <p:sp>
          <p:nvSpPr>
            <p:cNvPr id="63558" name="Freeform 12"/>
            <p:cNvSpPr>
              <a:spLocks/>
            </p:cNvSpPr>
            <p:nvPr/>
          </p:nvSpPr>
          <p:spPr bwMode="auto">
            <a:xfrm rot="941367">
              <a:off x="2562082" y="1510480"/>
              <a:ext cx="1040013" cy="1475210"/>
            </a:xfrm>
            <a:custGeom>
              <a:avLst/>
              <a:gdLst>
                <a:gd name="T0" fmla="*/ 0 w 10000"/>
                <a:gd name="T1" fmla="*/ 1377028 h 10713"/>
                <a:gd name="T2" fmla="*/ 691401 w 10000"/>
                <a:gd name="T3" fmla="*/ 918064 h 10713"/>
                <a:gd name="T4" fmla="*/ 1040013 w 10000"/>
                <a:gd name="T5" fmla="*/ 0 h 10713"/>
                <a:gd name="T6" fmla="*/ 0 60000 65536"/>
                <a:gd name="T7" fmla="*/ 0 60000 65536"/>
                <a:gd name="T8" fmla="*/ 0 60000 65536"/>
              </a:gdLst>
              <a:ahLst/>
              <a:cxnLst>
                <a:cxn ang="T6">
                  <a:pos x="T0" y="T1"/>
                </a:cxn>
                <a:cxn ang="T7">
                  <a:pos x="T2" y="T3"/>
                </a:cxn>
                <a:cxn ang="T8">
                  <a:pos x="T4" y="T5"/>
                </a:cxn>
              </a:cxnLst>
              <a:rect l="0" t="0" r="r" b="b"/>
              <a:pathLst>
                <a:path w="10000" h="10713">
                  <a:moveTo>
                    <a:pt x="0" y="10000"/>
                  </a:moveTo>
                  <a:cubicBezTo>
                    <a:pt x="2032" y="10713"/>
                    <a:pt x="4981" y="8334"/>
                    <a:pt x="6648" y="6667"/>
                  </a:cubicBezTo>
                  <a:cubicBezTo>
                    <a:pt x="8314" y="5001"/>
                    <a:pt x="9116" y="2434"/>
                    <a:pt x="10000" y="0"/>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3559" name="Text Box 16"/>
            <p:cNvSpPr txBox="1">
              <a:spLocks noChangeArrowheads="1"/>
            </p:cNvSpPr>
            <p:nvPr/>
          </p:nvSpPr>
          <p:spPr bwMode="auto">
            <a:xfrm>
              <a:off x="3673434" y="1277821"/>
              <a:ext cx="5000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177B21"/>
                  </a:solidFill>
                </a:rPr>
                <a:t>MC</a:t>
              </a:r>
            </a:p>
          </p:txBody>
        </p:sp>
      </p:grpSp>
      <p:grpSp>
        <p:nvGrpSpPr>
          <p:cNvPr id="47" name="Group 109"/>
          <p:cNvGrpSpPr>
            <a:grpSpLocks/>
          </p:cNvGrpSpPr>
          <p:nvPr/>
        </p:nvGrpSpPr>
        <p:grpSpPr bwMode="auto">
          <a:xfrm>
            <a:off x="4348163" y="1752600"/>
            <a:ext cx="850900" cy="1841500"/>
            <a:chOff x="1427762" y="1475128"/>
            <a:chExt cx="851220" cy="1841927"/>
          </a:xfrm>
        </p:grpSpPr>
        <p:sp>
          <p:nvSpPr>
            <p:cNvPr id="63556" name="Text Box 11"/>
            <p:cNvSpPr txBox="1">
              <a:spLocks noChangeArrowheads="1"/>
            </p:cNvSpPr>
            <p:nvPr/>
          </p:nvSpPr>
          <p:spPr bwMode="auto">
            <a:xfrm>
              <a:off x="1643982" y="1475128"/>
              <a:ext cx="635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SMC</a:t>
              </a:r>
            </a:p>
          </p:txBody>
        </p:sp>
        <p:sp>
          <p:nvSpPr>
            <p:cNvPr id="63557" name="Freeform 111"/>
            <p:cNvSpPr>
              <a:spLocks/>
            </p:cNvSpPr>
            <p:nvPr/>
          </p:nvSpPr>
          <p:spPr bwMode="auto">
            <a:xfrm>
              <a:off x="1427762" y="1796778"/>
              <a:ext cx="635864" cy="1520277"/>
            </a:xfrm>
            <a:custGeom>
              <a:avLst/>
              <a:gdLst>
                <a:gd name="T0" fmla="*/ 635864 w 843240"/>
                <a:gd name="T1" fmla="*/ 0 h 1899960"/>
                <a:gd name="T2" fmla="*/ 0 w 843240"/>
                <a:gd name="T3" fmla="*/ 1520277 h 1899960"/>
                <a:gd name="T4" fmla="*/ 0 60000 65536"/>
                <a:gd name="T5" fmla="*/ 0 60000 65536"/>
              </a:gdLst>
              <a:ahLst/>
              <a:cxnLst>
                <a:cxn ang="T4">
                  <a:pos x="T0" y="T1"/>
                </a:cxn>
                <a:cxn ang="T5">
                  <a:pos x="T2" y="T3"/>
                </a:cxn>
              </a:cxnLst>
              <a:rect l="0" t="0" r="r" b="b"/>
              <a:pathLst>
                <a:path w="843240" h="1899960">
                  <a:moveTo>
                    <a:pt x="843240" y="0"/>
                  </a:moveTo>
                  <a:cubicBezTo>
                    <a:pt x="761407" y="633320"/>
                    <a:pt x="430515" y="1465887"/>
                    <a:pt x="0" y="1899960"/>
                  </a:cubicBezTo>
                </a:path>
              </a:pathLst>
            </a:custGeom>
            <a:noFill/>
            <a:ln w="28575" cap="flat" cmpd="sng" algn="ctr">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48" name="Group 84"/>
          <p:cNvGrpSpPr>
            <a:grpSpLocks/>
          </p:cNvGrpSpPr>
          <p:nvPr/>
        </p:nvGrpSpPr>
        <p:grpSpPr bwMode="auto">
          <a:xfrm>
            <a:off x="4460875" y="3235325"/>
            <a:ext cx="385763" cy="809625"/>
            <a:chOff x="7093625" y="3305461"/>
            <a:chExt cx="385763" cy="810364"/>
          </a:xfrm>
        </p:grpSpPr>
        <p:grpSp>
          <p:nvGrpSpPr>
            <p:cNvPr id="63552" name="Group 84"/>
            <p:cNvGrpSpPr>
              <a:grpSpLocks/>
            </p:cNvGrpSpPr>
            <p:nvPr/>
          </p:nvGrpSpPr>
          <p:grpSpPr bwMode="auto">
            <a:xfrm>
              <a:off x="7093625" y="3334564"/>
              <a:ext cx="385763" cy="781261"/>
              <a:chOff x="7582475" y="3572064"/>
              <a:chExt cx="385763" cy="781261"/>
            </a:xfrm>
          </p:grpSpPr>
          <p:sp>
            <p:nvSpPr>
              <p:cNvPr id="63554" name="Text Box 31"/>
              <p:cNvSpPr txBox="1">
                <a:spLocks noChangeArrowheads="1"/>
              </p:cNvSpPr>
              <p:nvPr/>
            </p:nvSpPr>
            <p:spPr bwMode="auto">
              <a:xfrm>
                <a:off x="7582475" y="4048525"/>
                <a:ext cx="385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25000"/>
                  <a:t>3</a:t>
                </a:r>
                <a:endParaRPr lang="en-US" altLang="en-US" sz="1800"/>
              </a:p>
            </p:txBody>
          </p:sp>
          <p:sp>
            <p:nvSpPr>
              <p:cNvPr id="63555" name="Line 33"/>
              <p:cNvSpPr>
                <a:spLocks noChangeShapeType="1"/>
              </p:cNvSpPr>
              <p:nvPr/>
            </p:nvSpPr>
            <p:spPr bwMode="auto">
              <a:xfrm flipH="1">
                <a:off x="7702549" y="3572064"/>
                <a:ext cx="1971" cy="47646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63553" name="Oval 9"/>
            <p:cNvSpPr>
              <a:spLocks noChangeArrowheads="1"/>
            </p:cNvSpPr>
            <p:nvPr/>
          </p:nvSpPr>
          <p:spPr bwMode="auto">
            <a:xfrm>
              <a:off x="7169064" y="3305461"/>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50" name="Group 115"/>
          <p:cNvGrpSpPr>
            <a:grpSpLocks/>
          </p:cNvGrpSpPr>
          <p:nvPr/>
        </p:nvGrpSpPr>
        <p:grpSpPr bwMode="auto">
          <a:xfrm>
            <a:off x="6719888" y="1379538"/>
            <a:ext cx="1265237" cy="1828800"/>
            <a:chOff x="6008102" y="2368372"/>
            <a:chExt cx="1265967" cy="1829561"/>
          </a:xfrm>
        </p:grpSpPr>
        <p:sp>
          <p:nvSpPr>
            <p:cNvPr id="63550" name="Freeform 20"/>
            <p:cNvSpPr>
              <a:spLocks/>
            </p:cNvSpPr>
            <p:nvPr/>
          </p:nvSpPr>
          <p:spPr bwMode="auto">
            <a:xfrm>
              <a:off x="6008102" y="2701636"/>
              <a:ext cx="983684" cy="1496297"/>
            </a:xfrm>
            <a:custGeom>
              <a:avLst/>
              <a:gdLst>
                <a:gd name="T0" fmla="*/ 0 w 1152"/>
                <a:gd name="T1" fmla="*/ 1536 h 1536"/>
                <a:gd name="T2" fmla="*/ 624 w 1152"/>
                <a:gd name="T3" fmla="*/ 1104 h 1536"/>
                <a:gd name="T4" fmla="*/ 1152 w 1152"/>
                <a:gd name="T5" fmla="*/ 0 h 1536"/>
                <a:gd name="T6" fmla="*/ 0 60000 65536"/>
                <a:gd name="T7" fmla="*/ 0 60000 65536"/>
                <a:gd name="T8" fmla="*/ 0 60000 65536"/>
                <a:gd name="T9" fmla="*/ 0 w 1152"/>
                <a:gd name="T10" fmla="*/ 0 h 1536"/>
                <a:gd name="T11" fmla="*/ 1152 w 1152"/>
                <a:gd name="T12" fmla="*/ 1536 h 1536"/>
              </a:gdLst>
              <a:ahLst/>
              <a:cxnLst>
                <a:cxn ang="T6">
                  <a:pos x="T0" y="T1"/>
                </a:cxn>
                <a:cxn ang="T7">
                  <a:pos x="T2" y="T3"/>
                </a:cxn>
                <a:cxn ang="T8">
                  <a:pos x="T4" y="T5"/>
                </a:cxn>
              </a:cxnLst>
              <a:rect l="T9" t="T10" r="T11" b="T12"/>
              <a:pathLst>
                <a:path w="1152" h="1536">
                  <a:moveTo>
                    <a:pt x="0" y="1536"/>
                  </a:moveTo>
                  <a:cubicBezTo>
                    <a:pt x="216" y="1448"/>
                    <a:pt x="432" y="1360"/>
                    <a:pt x="624" y="1104"/>
                  </a:cubicBezTo>
                  <a:cubicBezTo>
                    <a:pt x="816" y="848"/>
                    <a:pt x="1064" y="184"/>
                    <a:pt x="1152" y="0"/>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3551" name="Text Box 21"/>
            <p:cNvSpPr txBox="1">
              <a:spLocks noChangeArrowheads="1"/>
            </p:cNvSpPr>
            <p:nvPr/>
          </p:nvSpPr>
          <p:spPr bwMode="auto">
            <a:xfrm>
              <a:off x="6954981" y="2368372"/>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5D0D8F"/>
                  </a:solidFill>
                </a:rPr>
                <a:t>S</a:t>
              </a:r>
            </a:p>
          </p:txBody>
        </p:sp>
      </p:grpSp>
      <p:grpSp>
        <p:nvGrpSpPr>
          <p:cNvPr id="51" name="Group 118"/>
          <p:cNvGrpSpPr>
            <a:grpSpLocks/>
          </p:cNvGrpSpPr>
          <p:nvPr/>
        </p:nvGrpSpPr>
        <p:grpSpPr bwMode="auto">
          <a:xfrm>
            <a:off x="6646863" y="1874838"/>
            <a:ext cx="1033462" cy="1562100"/>
            <a:chOff x="6077151" y="2645320"/>
            <a:chExt cx="1033210" cy="1562466"/>
          </a:xfrm>
        </p:grpSpPr>
        <p:sp>
          <p:nvSpPr>
            <p:cNvPr id="63548" name="Freeform 19"/>
            <p:cNvSpPr>
              <a:spLocks/>
            </p:cNvSpPr>
            <p:nvPr/>
          </p:nvSpPr>
          <p:spPr bwMode="auto">
            <a:xfrm>
              <a:off x="6257669" y="2968017"/>
              <a:ext cx="852692" cy="1239769"/>
            </a:xfrm>
            <a:custGeom>
              <a:avLst/>
              <a:gdLst>
                <a:gd name="T0" fmla="*/ 0 w 1104"/>
                <a:gd name="T1" fmla="*/ 0 h 1440"/>
                <a:gd name="T2" fmla="*/ 384 w 1104"/>
                <a:gd name="T3" fmla="*/ 816 h 1440"/>
                <a:gd name="T4" fmla="*/ 1104 w 1104"/>
                <a:gd name="T5" fmla="*/ 1440 h 1440"/>
                <a:gd name="T6" fmla="*/ 0 60000 65536"/>
                <a:gd name="T7" fmla="*/ 0 60000 65536"/>
                <a:gd name="T8" fmla="*/ 0 60000 65536"/>
                <a:gd name="T9" fmla="*/ 0 w 1104"/>
                <a:gd name="T10" fmla="*/ 0 h 1440"/>
                <a:gd name="T11" fmla="*/ 1104 w 1104"/>
                <a:gd name="T12" fmla="*/ 1440 h 1440"/>
              </a:gdLst>
              <a:ahLst/>
              <a:cxnLst>
                <a:cxn ang="T6">
                  <a:pos x="T0" y="T1"/>
                </a:cxn>
                <a:cxn ang="T7">
                  <a:pos x="T2" y="T3"/>
                </a:cxn>
                <a:cxn ang="T8">
                  <a:pos x="T4" y="T5"/>
                </a:cxn>
              </a:cxnLst>
              <a:rect l="T9" t="T10" r="T11" b="T12"/>
              <a:pathLst>
                <a:path w="1104" h="1440">
                  <a:moveTo>
                    <a:pt x="0" y="0"/>
                  </a:moveTo>
                  <a:cubicBezTo>
                    <a:pt x="100" y="288"/>
                    <a:pt x="200" y="576"/>
                    <a:pt x="384" y="816"/>
                  </a:cubicBezTo>
                  <a:cubicBezTo>
                    <a:pt x="568" y="1056"/>
                    <a:pt x="984" y="1336"/>
                    <a:pt x="1104" y="1440"/>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3549" name="Text Box 22"/>
            <p:cNvSpPr txBox="1">
              <a:spLocks noChangeArrowheads="1"/>
            </p:cNvSpPr>
            <p:nvPr/>
          </p:nvSpPr>
          <p:spPr bwMode="auto">
            <a:xfrm>
              <a:off x="6077151" y="2645320"/>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177B21"/>
                  </a:solidFill>
                </a:rPr>
                <a:t>D</a:t>
              </a:r>
            </a:p>
          </p:txBody>
        </p:sp>
      </p:grpSp>
      <p:grpSp>
        <p:nvGrpSpPr>
          <p:cNvPr id="52" name="Group 121"/>
          <p:cNvGrpSpPr>
            <a:grpSpLocks/>
          </p:cNvGrpSpPr>
          <p:nvPr/>
        </p:nvGrpSpPr>
        <p:grpSpPr bwMode="auto">
          <a:xfrm>
            <a:off x="7170738" y="1587500"/>
            <a:ext cx="1311275" cy="1873250"/>
            <a:chOff x="6433990" y="2096933"/>
            <a:chExt cx="1311633" cy="1871928"/>
          </a:xfrm>
        </p:grpSpPr>
        <p:sp>
          <p:nvSpPr>
            <p:cNvPr id="63546" name="Freeform 122"/>
            <p:cNvSpPr>
              <a:spLocks/>
            </p:cNvSpPr>
            <p:nvPr/>
          </p:nvSpPr>
          <p:spPr bwMode="auto">
            <a:xfrm>
              <a:off x="6601220" y="2426162"/>
              <a:ext cx="1144403" cy="1542699"/>
            </a:xfrm>
            <a:custGeom>
              <a:avLst/>
              <a:gdLst>
                <a:gd name="T0" fmla="*/ 0 w 1104"/>
                <a:gd name="T1" fmla="*/ 0 h 1440"/>
                <a:gd name="T2" fmla="*/ 384 w 1104"/>
                <a:gd name="T3" fmla="*/ 816 h 1440"/>
                <a:gd name="T4" fmla="*/ 1104 w 1104"/>
                <a:gd name="T5" fmla="*/ 1440 h 1440"/>
                <a:gd name="T6" fmla="*/ 0 60000 65536"/>
                <a:gd name="T7" fmla="*/ 0 60000 65536"/>
                <a:gd name="T8" fmla="*/ 0 60000 65536"/>
                <a:gd name="T9" fmla="*/ 0 w 1104"/>
                <a:gd name="T10" fmla="*/ 0 h 1440"/>
                <a:gd name="T11" fmla="*/ 1104 w 1104"/>
                <a:gd name="T12" fmla="*/ 1440 h 1440"/>
              </a:gdLst>
              <a:ahLst/>
              <a:cxnLst>
                <a:cxn ang="T6">
                  <a:pos x="T0" y="T1"/>
                </a:cxn>
                <a:cxn ang="T7">
                  <a:pos x="T2" y="T3"/>
                </a:cxn>
                <a:cxn ang="T8">
                  <a:pos x="T4" y="T5"/>
                </a:cxn>
              </a:cxnLst>
              <a:rect l="T9" t="T10" r="T11" b="T12"/>
              <a:pathLst>
                <a:path w="1104" h="1440">
                  <a:moveTo>
                    <a:pt x="0" y="0"/>
                  </a:moveTo>
                  <a:cubicBezTo>
                    <a:pt x="100" y="288"/>
                    <a:pt x="200" y="576"/>
                    <a:pt x="384" y="816"/>
                  </a:cubicBezTo>
                  <a:cubicBezTo>
                    <a:pt x="568" y="1056"/>
                    <a:pt x="984" y="1336"/>
                    <a:pt x="1104" y="1440"/>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3547" name="Text Box 29"/>
            <p:cNvSpPr txBox="1">
              <a:spLocks noChangeArrowheads="1"/>
            </p:cNvSpPr>
            <p:nvPr/>
          </p:nvSpPr>
          <p:spPr bwMode="auto">
            <a:xfrm>
              <a:off x="6433990" y="2096933"/>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dirty="0">
                  <a:solidFill>
                    <a:srgbClr val="177B21"/>
                  </a:solidFill>
                </a:rPr>
                <a:t>D’</a:t>
              </a:r>
            </a:p>
          </p:txBody>
        </p:sp>
      </p:grpSp>
      <p:grpSp>
        <p:nvGrpSpPr>
          <p:cNvPr id="53" name="Group 124"/>
          <p:cNvGrpSpPr>
            <a:grpSpLocks/>
          </p:cNvGrpSpPr>
          <p:nvPr/>
        </p:nvGrpSpPr>
        <p:grpSpPr bwMode="auto">
          <a:xfrm>
            <a:off x="7758113" y="2247900"/>
            <a:ext cx="1214437" cy="1308100"/>
            <a:chOff x="6548428" y="3153066"/>
            <a:chExt cx="1214791" cy="1308104"/>
          </a:xfrm>
        </p:grpSpPr>
        <p:sp>
          <p:nvSpPr>
            <p:cNvPr id="63544" name="Freeform 32"/>
            <p:cNvSpPr>
              <a:spLocks/>
            </p:cNvSpPr>
            <p:nvPr/>
          </p:nvSpPr>
          <p:spPr bwMode="auto">
            <a:xfrm>
              <a:off x="6548428" y="3484042"/>
              <a:ext cx="887213" cy="977128"/>
            </a:xfrm>
            <a:custGeom>
              <a:avLst/>
              <a:gdLst>
                <a:gd name="T0" fmla="*/ 0 w 1152"/>
                <a:gd name="T1" fmla="*/ 1536 h 1536"/>
                <a:gd name="T2" fmla="*/ 624 w 1152"/>
                <a:gd name="T3" fmla="*/ 1104 h 1536"/>
                <a:gd name="T4" fmla="*/ 1152 w 1152"/>
                <a:gd name="T5" fmla="*/ 0 h 1536"/>
                <a:gd name="T6" fmla="*/ 0 60000 65536"/>
                <a:gd name="T7" fmla="*/ 0 60000 65536"/>
                <a:gd name="T8" fmla="*/ 0 60000 65536"/>
                <a:gd name="T9" fmla="*/ 0 w 1152"/>
                <a:gd name="T10" fmla="*/ 0 h 1536"/>
                <a:gd name="T11" fmla="*/ 1152 w 1152"/>
                <a:gd name="T12" fmla="*/ 1536 h 1536"/>
              </a:gdLst>
              <a:ahLst/>
              <a:cxnLst>
                <a:cxn ang="T6">
                  <a:pos x="T0" y="T1"/>
                </a:cxn>
                <a:cxn ang="T7">
                  <a:pos x="T2" y="T3"/>
                </a:cxn>
                <a:cxn ang="T8">
                  <a:pos x="T4" y="T5"/>
                </a:cxn>
              </a:cxnLst>
              <a:rect l="T9" t="T10" r="T11" b="T12"/>
              <a:pathLst>
                <a:path w="1152" h="1536">
                  <a:moveTo>
                    <a:pt x="0" y="1536"/>
                  </a:moveTo>
                  <a:cubicBezTo>
                    <a:pt x="216" y="1448"/>
                    <a:pt x="432" y="1360"/>
                    <a:pt x="624" y="1104"/>
                  </a:cubicBezTo>
                  <a:cubicBezTo>
                    <a:pt x="816" y="848"/>
                    <a:pt x="1064" y="184"/>
                    <a:pt x="1152" y="0"/>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3545" name="Text Box 34"/>
            <p:cNvSpPr txBox="1">
              <a:spLocks noChangeArrowheads="1"/>
            </p:cNvSpPr>
            <p:nvPr/>
          </p:nvSpPr>
          <p:spPr bwMode="auto">
            <a:xfrm>
              <a:off x="7386981" y="3153066"/>
              <a:ext cx="3762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5D0D8F"/>
                  </a:solidFill>
                </a:rPr>
                <a:t>S’</a:t>
              </a:r>
            </a:p>
          </p:txBody>
        </p:sp>
      </p:grpSp>
      <p:grpSp>
        <p:nvGrpSpPr>
          <p:cNvPr id="54" name="Group 127"/>
          <p:cNvGrpSpPr>
            <a:grpSpLocks/>
          </p:cNvGrpSpPr>
          <p:nvPr/>
        </p:nvGrpSpPr>
        <p:grpSpPr bwMode="auto">
          <a:xfrm>
            <a:off x="6861175" y="2843213"/>
            <a:ext cx="2179638" cy="588962"/>
            <a:chOff x="6135607" y="3665931"/>
            <a:chExt cx="2180726" cy="589030"/>
          </a:xfrm>
        </p:grpSpPr>
        <p:sp>
          <p:nvSpPr>
            <p:cNvPr id="63542" name="Line 36"/>
            <p:cNvSpPr>
              <a:spLocks noChangeShapeType="1"/>
            </p:cNvSpPr>
            <p:nvPr/>
          </p:nvSpPr>
          <p:spPr bwMode="auto">
            <a:xfrm>
              <a:off x="6135607" y="3665931"/>
              <a:ext cx="1912947" cy="589030"/>
            </a:xfrm>
            <a:prstGeom prst="line">
              <a:avLst/>
            </a:prstGeom>
            <a:noFill/>
            <a:ln w="28575">
              <a:solidFill>
                <a:srgbClr val="DC00DC"/>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3543" name="Text Box 37"/>
            <p:cNvSpPr txBox="1">
              <a:spLocks noChangeArrowheads="1"/>
            </p:cNvSpPr>
            <p:nvPr/>
          </p:nvSpPr>
          <p:spPr bwMode="auto">
            <a:xfrm>
              <a:off x="7873420" y="3910518"/>
              <a:ext cx="4429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DC00DC"/>
                  </a:solidFill>
                </a:rPr>
                <a:t>LS</a:t>
              </a:r>
            </a:p>
          </p:txBody>
        </p:sp>
      </p:grpSp>
      <p:grpSp>
        <p:nvGrpSpPr>
          <p:cNvPr id="55" name="Group 130"/>
          <p:cNvGrpSpPr>
            <a:grpSpLocks/>
          </p:cNvGrpSpPr>
          <p:nvPr/>
        </p:nvGrpSpPr>
        <p:grpSpPr bwMode="auto">
          <a:xfrm>
            <a:off x="8088313" y="3232150"/>
            <a:ext cx="438150" cy="827088"/>
            <a:chOff x="4713330" y="3302745"/>
            <a:chExt cx="438150" cy="826935"/>
          </a:xfrm>
        </p:grpSpPr>
        <p:grpSp>
          <p:nvGrpSpPr>
            <p:cNvPr id="63538" name="Group 75"/>
            <p:cNvGrpSpPr>
              <a:grpSpLocks/>
            </p:cNvGrpSpPr>
            <p:nvPr/>
          </p:nvGrpSpPr>
          <p:grpSpPr bwMode="auto">
            <a:xfrm>
              <a:off x="4713330" y="3334564"/>
              <a:ext cx="438150" cy="795116"/>
              <a:chOff x="4050293" y="3572064"/>
              <a:chExt cx="438150" cy="795116"/>
            </a:xfrm>
          </p:grpSpPr>
          <p:sp>
            <p:nvSpPr>
              <p:cNvPr id="63540" name="Line 22"/>
              <p:cNvSpPr>
                <a:spLocks noChangeShapeType="1"/>
              </p:cNvSpPr>
              <p:nvPr/>
            </p:nvSpPr>
            <p:spPr bwMode="auto">
              <a:xfrm flipH="1">
                <a:off x="4208570" y="3572064"/>
                <a:ext cx="4918" cy="476461"/>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3541" name="Text Box 24"/>
              <p:cNvSpPr txBox="1">
                <a:spLocks noChangeArrowheads="1"/>
              </p:cNvSpPr>
              <p:nvPr/>
            </p:nvSpPr>
            <p:spPr bwMode="auto">
              <a:xfrm>
                <a:off x="4050293" y="4062380"/>
                <a:ext cx="438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25000"/>
                  <a:t>3</a:t>
                </a:r>
                <a:endParaRPr lang="en-US" altLang="en-US" sz="1800" baseline="30000"/>
              </a:p>
            </p:txBody>
          </p:sp>
        </p:grpSp>
        <p:sp>
          <p:nvSpPr>
            <p:cNvPr id="63539" name="Oval 9"/>
            <p:cNvSpPr>
              <a:spLocks noChangeArrowheads="1"/>
            </p:cNvSpPr>
            <p:nvPr/>
          </p:nvSpPr>
          <p:spPr bwMode="auto">
            <a:xfrm>
              <a:off x="4836254" y="3302745"/>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57" name="Group 62"/>
          <p:cNvGrpSpPr>
            <a:grpSpLocks/>
          </p:cNvGrpSpPr>
          <p:nvPr/>
        </p:nvGrpSpPr>
        <p:grpSpPr bwMode="auto">
          <a:xfrm>
            <a:off x="6910388" y="2876550"/>
            <a:ext cx="438150" cy="1168400"/>
            <a:chOff x="4097788" y="2947889"/>
            <a:chExt cx="438150" cy="1167936"/>
          </a:xfrm>
        </p:grpSpPr>
        <p:grpSp>
          <p:nvGrpSpPr>
            <p:cNvPr id="63534" name="Group 9"/>
            <p:cNvGrpSpPr>
              <a:grpSpLocks/>
            </p:cNvGrpSpPr>
            <p:nvPr/>
          </p:nvGrpSpPr>
          <p:grpSpPr bwMode="auto">
            <a:xfrm>
              <a:off x="4097788" y="3016333"/>
              <a:ext cx="438150" cy="1099492"/>
              <a:chOff x="3967163" y="3253833"/>
              <a:chExt cx="438150" cy="1099492"/>
            </a:xfrm>
          </p:grpSpPr>
          <p:sp>
            <p:nvSpPr>
              <p:cNvPr id="63536" name="Line 22"/>
              <p:cNvSpPr>
                <a:spLocks noChangeShapeType="1"/>
              </p:cNvSpPr>
              <p:nvPr/>
            </p:nvSpPr>
            <p:spPr bwMode="auto">
              <a:xfrm>
                <a:off x="4191901" y="3253833"/>
                <a:ext cx="5449" cy="794691"/>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3537" name="Text Box 24"/>
              <p:cNvSpPr txBox="1">
                <a:spLocks noChangeArrowheads="1"/>
              </p:cNvSpPr>
              <p:nvPr/>
            </p:nvSpPr>
            <p:spPr bwMode="auto">
              <a:xfrm>
                <a:off x="3967163" y="4048525"/>
                <a:ext cx="438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25000"/>
                  <a:t>1</a:t>
                </a:r>
                <a:endParaRPr lang="en-US" altLang="en-US" sz="1800" baseline="30000"/>
              </a:p>
            </p:txBody>
          </p:sp>
        </p:grpSp>
        <p:sp>
          <p:nvSpPr>
            <p:cNvPr id="63535" name="Oval 9"/>
            <p:cNvSpPr>
              <a:spLocks noChangeArrowheads="1"/>
            </p:cNvSpPr>
            <p:nvPr/>
          </p:nvSpPr>
          <p:spPr bwMode="auto">
            <a:xfrm>
              <a:off x="4290926" y="2947889"/>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59" name="Group 138"/>
          <p:cNvGrpSpPr>
            <a:grpSpLocks/>
          </p:cNvGrpSpPr>
          <p:nvPr/>
        </p:nvGrpSpPr>
        <p:grpSpPr bwMode="auto">
          <a:xfrm>
            <a:off x="312738" y="2747963"/>
            <a:ext cx="6823075" cy="319087"/>
            <a:chOff x="313419" y="2878645"/>
            <a:chExt cx="6821673" cy="318655"/>
          </a:xfrm>
        </p:grpSpPr>
        <p:grpSp>
          <p:nvGrpSpPr>
            <p:cNvPr id="63530" name="Group 6"/>
            <p:cNvGrpSpPr>
              <a:grpSpLocks/>
            </p:cNvGrpSpPr>
            <p:nvPr/>
          </p:nvGrpSpPr>
          <p:grpSpPr bwMode="auto">
            <a:xfrm>
              <a:off x="313419" y="2892500"/>
              <a:ext cx="6821673" cy="304800"/>
              <a:chOff x="386650" y="2905525"/>
              <a:chExt cx="7091258" cy="304800"/>
            </a:xfrm>
          </p:grpSpPr>
          <p:sp>
            <p:nvSpPr>
              <p:cNvPr id="63532" name="Line 20"/>
              <p:cNvSpPr>
                <a:spLocks noChangeShapeType="1"/>
              </p:cNvSpPr>
              <p:nvPr/>
            </p:nvSpPr>
            <p:spPr bwMode="auto">
              <a:xfrm>
                <a:off x="844549" y="3057923"/>
                <a:ext cx="6633359" cy="310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63533" name="Text Box 25"/>
              <p:cNvSpPr txBox="1">
                <a:spLocks noChangeArrowheads="1"/>
              </p:cNvSpPr>
              <p:nvPr/>
            </p:nvSpPr>
            <p:spPr bwMode="auto">
              <a:xfrm>
                <a:off x="386650" y="2905525"/>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r>
                  <a:rPr lang="en-US" altLang="en-US" sz="1800" baseline="-25000"/>
                  <a:t>1</a:t>
                </a:r>
                <a:endParaRPr lang="en-US" altLang="en-US" sz="1800"/>
              </a:p>
            </p:txBody>
          </p:sp>
        </p:grpSp>
        <p:sp>
          <p:nvSpPr>
            <p:cNvPr id="63531" name="Text Box 25"/>
            <p:cNvSpPr txBox="1">
              <a:spLocks noChangeArrowheads="1"/>
            </p:cNvSpPr>
            <p:nvPr/>
          </p:nvSpPr>
          <p:spPr bwMode="auto">
            <a:xfrm>
              <a:off x="6076912" y="2878645"/>
              <a:ext cx="352772" cy="304800"/>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r>
                <a:rPr lang="en-US" altLang="en-US" sz="1800" baseline="-25000"/>
                <a:t>1</a:t>
              </a:r>
              <a:endParaRPr lang="en-US" altLang="en-US" sz="1800"/>
            </a:p>
          </p:txBody>
        </p:sp>
      </p:grpSp>
      <p:grpSp>
        <p:nvGrpSpPr>
          <p:cNvPr id="64" name="Group 140"/>
          <p:cNvGrpSpPr>
            <a:grpSpLocks/>
          </p:cNvGrpSpPr>
          <p:nvPr/>
        </p:nvGrpSpPr>
        <p:grpSpPr bwMode="auto">
          <a:xfrm>
            <a:off x="312738" y="2111375"/>
            <a:ext cx="7169150" cy="325438"/>
            <a:chOff x="313419" y="2241332"/>
            <a:chExt cx="7169006" cy="325753"/>
          </a:xfrm>
        </p:grpSpPr>
        <p:grpSp>
          <p:nvGrpSpPr>
            <p:cNvPr id="63526" name="Group 39"/>
            <p:cNvGrpSpPr>
              <a:grpSpLocks/>
            </p:cNvGrpSpPr>
            <p:nvPr/>
          </p:nvGrpSpPr>
          <p:grpSpPr bwMode="auto">
            <a:xfrm>
              <a:off x="313419" y="2262285"/>
              <a:ext cx="7169006" cy="304800"/>
              <a:chOff x="386650" y="2905525"/>
              <a:chExt cx="7169006" cy="304800"/>
            </a:xfrm>
          </p:grpSpPr>
          <p:sp>
            <p:nvSpPr>
              <p:cNvPr id="63528" name="Line 20"/>
              <p:cNvSpPr>
                <a:spLocks noChangeShapeType="1"/>
              </p:cNvSpPr>
              <p:nvPr/>
            </p:nvSpPr>
            <p:spPr bwMode="auto">
              <a:xfrm flipV="1">
                <a:off x="844550" y="3048431"/>
                <a:ext cx="6711106" cy="949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63529" name="Text Box 25"/>
              <p:cNvSpPr txBox="1">
                <a:spLocks noChangeArrowheads="1"/>
              </p:cNvSpPr>
              <p:nvPr/>
            </p:nvSpPr>
            <p:spPr bwMode="auto">
              <a:xfrm>
                <a:off x="386650" y="2905525"/>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r>
                  <a:rPr lang="en-US" altLang="en-US" sz="1800" baseline="-25000"/>
                  <a:t>2</a:t>
                </a:r>
                <a:endParaRPr lang="en-US" altLang="en-US" sz="1800"/>
              </a:p>
            </p:txBody>
          </p:sp>
        </p:grpSp>
        <p:sp>
          <p:nvSpPr>
            <p:cNvPr id="63527" name="Text Box 25"/>
            <p:cNvSpPr txBox="1">
              <a:spLocks noChangeArrowheads="1"/>
            </p:cNvSpPr>
            <p:nvPr/>
          </p:nvSpPr>
          <p:spPr bwMode="auto">
            <a:xfrm>
              <a:off x="6076912" y="2241332"/>
              <a:ext cx="352772" cy="304800"/>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r>
                <a:rPr lang="en-US" altLang="en-US" sz="1800" baseline="-25000"/>
                <a:t>2</a:t>
              </a:r>
              <a:endParaRPr lang="en-US" altLang="en-US" sz="1800"/>
            </a:p>
          </p:txBody>
        </p:sp>
      </p:grpSp>
      <p:grpSp>
        <p:nvGrpSpPr>
          <p:cNvPr id="69" name="Group 139"/>
          <p:cNvGrpSpPr>
            <a:grpSpLocks/>
          </p:cNvGrpSpPr>
          <p:nvPr/>
        </p:nvGrpSpPr>
        <p:grpSpPr bwMode="auto">
          <a:xfrm>
            <a:off x="3195638" y="3094038"/>
            <a:ext cx="5056187" cy="319087"/>
            <a:chOff x="3195254" y="2559990"/>
            <a:chExt cx="5056785" cy="318640"/>
          </a:xfrm>
        </p:grpSpPr>
        <p:grpSp>
          <p:nvGrpSpPr>
            <p:cNvPr id="63522" name="Group 112"/>
            <p:cNvGrpSpPr>
              <a:grpSpLocks/>
            </p:cNvGrpSpPr>
            <p:nvPr/>
          </p:nvGrpSpPr>
          <p:grpSpPr bwMode="auto">
            <a:xfrm>
              <a:off x="3195254" y="2573830"/>
              <a:ext cx="5056785" cy="304800"/>
              <a:chOff x="386650" y="2905525"/>
              <a:chExt cx="5256623" cy="304800"/>
            </a:xfrm>
          </p:grpSpPr>
          <p:sp>
            <p:nvSpPr>
              <p:cNvPr id="63524" name="Line 20"/>
              <p:cNvSpPr>
                <a:spLocks noChangeShapeType="1"/>
              </p:cNvSpPr>
              <p:nvPr/>
            </p:nvSpPr>
            <p:spPr bwMode="auto">
              <a:xfrm>
                <a:off x="844547" y="3057923"/>
                <a:ext cx="4798726" cy="832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63525" name="Text Box 25"/>
              <p:cNvSpPr txBox="1">
                <a:spLocks noChangeArrowheads="1"/>
              </p:cNvSpPr>
              <p:nvPr/>
            </p:nvSpPr>
            <p:spPr bwMode="auto">
              <a:xfrm>
                <a:off x="386650" y="2905525"/>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r>
                  <a:rPr lang="en-US" altLang="en-US" sz="1800" baseline="-25000"/>
                  <a:t>3</a:t>
                </a:r>
                <a:endParaRPr lang="en-US" altLang="en-US" sz="1800"/>
              </a:p>
            </p:txBody>
          </p:sp>
        </p:grpSp>
        <p:sp>
          <p:nvSpPr>
            <p:cNvPr id="63523" name="Text Box 25"/>
            <p:cNvSpPr txBox="1">
              <a:spLocks noChangeArrowheads="1"/>
            </p:cNvSpPr>
            <p:nvPr/>
          </p:nvSpPr>
          <p:spPr bwMode="auto">
            <a:xfrm>
              <a:off x="6076912" y="2559990"/>
              <a:ext cx="352772" cy="304800"/>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P</a:t>
              </a:r>
              <a:r>
                <a:rPr lang="en-US" altLang="en-US" sz="1800" baseline="-25000"/>
                <a:t>3</a:t>
              </a:r>
              <a:endParaRPr lang="en-US" altLang="en-US" sz="1800"/>
            </a:p>
          </p:txBody>
        </p:sp>
      </p:grpSp>
      <p:grpSp>
        <p:nvGrpSpPr>
          <p:cNvPr id="74" name="Group 57"/>
          <p:cNvGrpSpPr>
            <a:grpSpLocks/>
          </p:cNvGrpSpPr>
          <p:nvPr/>
        </p:nvGrpSpPr>
        <p:grpSpPr bwMode="auto">
          <a:xfrm>
            <a:off x="7248525" y="2246313"/>
            <a:ext cx="438150" cy="1798637"/>
            <a:chOff x="4630200" y="2316512"/>
            <a:chExt cx="438150" cy="1799313"/>
          </a:xfrm>
        </p:grpSpPr>
        <p:grpSp>
          <p:nvGrpSpPr>
            <p:cNvPr id="63518" name="Group 75"/>
            <p:cNvGrpSpPr>
              <a:grpSpLocks/>
            </p:cNvGrpSpPr>
            <p:nvPr/>
          </p:nvGrpSpPr>
          <p:grpSpPr bwMode="auto">
            <a:xfrm>
              <a:off x="4630200" y="2363190"/>
              <a:ext cx="438150" cy="1752635"/>
              <a:chOff x="3967163" y="2600690"/>
              <a:chExt cx="438150" cy="1752635"/>
            </a:xfrm>
          </p:grpSpPr>
          <p:sp>
            <p:nvSpPr>
              <p:cNvPr id="63520" name="Line 22"/>
              <p:cNvSpPr>
                <a:spLocks noChangeShapeType="1"/>
              </p:cNvSpPr>
              <p:nvPr/>
            </p:nvSpPr>
            <p:spPr bwMode="auto">
              <a:xfrm>
                <a:off x="4193969" y="2600690"/>
                <a:ext cx="3381" cy="1447835"/>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3521" name="Text Box 24"/>
              <p:cNvSpPr txBox="1">
                <a:spLocks noChangeArrowheads="1"/>
              </p:cNvSpPr>
              <p:nvPr/>
            </p:nvSpPr>
            <p:spPr bwMode="auto">
              <a:xfrm>
                <a:off x="3967163" y="4048525"/>
                <a:ext cx="438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a:t>Q</a:t>
                </a:r>
                <a:r>
                  <a:rPr lang="en-US" altLang="en-US" sz="1800" baseline="-25000"/>
                  <a:t>2</a:t>
                </a:r>
                <a:endParaRPr lang="en-US" altLang="en-US" sz="1800" baseline="30000"/>
              </a:p>
            </p:txBody>
          </p:sp>
        </p:grpSp>
        <p:sp>
          <p:nvSpPr>
            <p:cNvPr id="63519" name="Oval 9"/>
            <p:cNvSpPr>
              <a:spLocks noChangeArrowheads="1"/>
            </p:cNvSpPr>
            <p:nvPr/>
          </p:nvSpPr>
          <p:spPr bwMode="auto">
            <a:xfrm>
              <a:off x="4816789" y="2316512"/>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spTree>
    <p:extLst>
      <p:ext uri="{BB962C8B-B14F-4D97-AF65-F5344CB8AC3E}">
        <p14:creationId xmlns:p14="http://schemas.microsoft.com/office/powerpoint/2010/main" val="15454558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left)">
                                      <p:cBhvr>
                                        <p:cTn id="11" dur="500"/>
                                        <p:tgtEl>
                                          <p:spTgt spid="28"/>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wipe(left)">
                                      <p:cBhvr>
                                        <p:cTn id="15" dur="500"/>
                                        <p:tgtEl>
                                          <p:spTgt spid="40"/>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wipe(left)">
                                      <p:cBhvr>
                                        <p:cTn id="19" dur="500"/>
                                        <p:tgtEl>
                                          <p:spTgt spid="37"/>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wipe(left)">
                                      <p:cBhvr>
                                        <p:cTn id="23" dur="500"/>
                                        <p:tgtEl>
                                          <p:spTgt spid="20"/>
                                        </p:tgtEl>
                                      </p:cBhvr>
                                    </p:animEffect>
                                  </p:childTnLst>
                                </p:cTn>
                              </p:par>
                            </p:childTnLst>
                          </p:cTn>
                        </p:par>
                        <p:par>
                          <p:cTn id="24" fill="hold" nodeType="afterGroup">
                            <p:stCondLst>
                              <p:cond delay="2500"/>
                            </p:stCondLst>
                            <p:childTnLst>
                              <p:par>
                                <p:cTn id="25" presetID="22" presetClass="entr" presetSubtype="8" fill="hold" nodeType="after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wipe(left)">
                                      <p:cBhvr>
                                        <p:cTn id="27" dur="500"/>
                                        <p:tgtEl>
                                          <p:spTgt spid="51"/>
                                        </p:tgtEl>
                                      </p:cBhvr>
                                    </p:animEffect>
                                  </p:childTnLst>
                                </p:cTn>
                              </p:par>
                            </p:childTnLst>
                          </p:cTn>
                        </p:par>
                        <p:par>
                          <p:cTn id="28" fill="hold" nodeType="afterGroup">
                            <p:stCondLst>
                              <p:cond delay="3000"/>
                            </p:stCondLst>
                            <p:childTnLst>
                              <p:par>
                                <p:cTn id="29" presetID="22" presetClass="entr" presetSubtype="8" fill="hold" nodeType="after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wipe(left)">
                                      <p:cBhvr>
                                        <p:cTn id="31" dur="500"/>
                                        <p:tgtEl>
                                          <p:spTgt spid="50"/>
                                        </p:tgtEl>
                                      </p:cBhvr>
                                    </p:animEffect>
                                  </p:childTnLst>
                                </p:cTn>
                              </p:par>
                            </p:childTnLst>
                          </p:cTn>
                        </p:par>
                        <p:par>
                          <p:cTn id="32" fill="hold" nodeType="afterGroup">
                            <p:stCondLst>
                              <p:cond delay="3500"/>
                            </p:stCondLst>
                            <p:childTnLst>
                              <p:par>
                                <p:cTn id="33" presetID="22" presetClass="entr" presetSubtype="8" fill="hold" nodeType="afterEffect">
                                  <p:stCondLst>
                                    <p:cond delay="0"/>
                                  </p:stCondLst>
                                  <p:childTnLst>
                                    <p:set>
                                      <p:cBhvr>
                                        <p:cTn id="34" dur="1" fill="hold">
                                          <p:stCondLst>
                                            <p:cond delay="0"/>
                                          </p:stCondLst>
                                        </p:cTn>
                                        <p:tgtEl>
                                          <p:spTgt spid="59"/>
                                        </p:tgtEl>
                                        <p:attrNameLst>
                                          <p:attrName>style.visibility</p:attrName>
                                        </p:attrNameLst>
                                      </p:cBhvr>
                                      <p:to>
                                        <p:strVal val="visible"/>
                                      </p:to>
                                    </p:set>
                                    <p:animEffect transition="in" filter="wipe(left)">
                                      <p:cBhvr>
                                        <p:cTn id="35" dur="500"/>
                                        <p:tgtEl>
                                          <p:spTgt spid="59"/>
                                        </p:tgtEl>
                                      </p:cBhvr>
                                    </p:animEffect>
                                  </p:childTnLst>
                                </p:cTn>
                              </p:par>
                            </p:childTnLst>
                          </p:cTn>
                        </p:par>
                        <p:par>
                          <p:cTn id="36" fill="hold" nodeType="afterGroup">
                            <p:stCondLst>
                              <p:cond delay="4000"/>
                            </p:stCondLst>
                            <p:childTnLst>
                              <p:par>
                                <p:cTn id="37" presetID="22" presetClass="entr" presetSubtype="1" fill="hold" nodeType="afterEffect">
                                  <p:stCondLst>
                                    <p:cond delay="0"/>
                                  </p:stCondLst>
                                  <p:childTnLst>
                                    <p:set>
                                      <p:cBhvr>
                                        <p:cTn id="38" dur="1" fill="hold">
                                          <p:stCondLst>
                                            <p:cond delay="0"/>
                                          </p:stCondLst>
                                        </p:cTn>
                                        <p:tgtEl>
                                          <p:spTgt spid="57"/>
                                        </p:tgtEl>
                                        <p:attrNameLst>
                                          <p:attrName>style.visibility</p:attrName>
                                        </p:attrNameLst>
                                      </p:cBhvr>
                                      <p:to>
                                        <p:strVal val="visible"/>
                                      </p:to>
                                    </p:set>
                                    <p:animEffect transition="in" filter="wipe(up)">
                                      <p:cBhvr>
                                        <p:cTn id="39" dur="500"/>
                                        <p:tgtEl>
                                          <p:spTgt spid="57"/>
                                        </p:tgtEl>
                                      </p:cBhvr>
                                    </p:animEffect>
                                  </p:childTnLst>
                                </p:cTn>
                              </p:par>
                            </p:childTnLst>
                          </p:cTn>
                        </p:par>
                        <p:par>
                          <p:cTn id="40" fill="hold" nodeType="afterGroup">
                            <p:stCondLst>
                              <p:cond delay="4500"/>
                            </p:stCondLst>
                            <p:childTnLst>
                              <p:par>
                                <p:cTn id="41" presetID="22" presetClass="entr" presetSubtype="1" fill="hold" nodeType="after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wipe(up)">
                                      <p:cBhvr>
                                        <p:cTn id="43" dur="500"/>
                                        <p:tgtEl>
                                          <p:spTgt spid="4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52"/>
                                        </p:tgtEl>
                                        <p:attrNameLst>
                                          <p:attrName>style.visibility</p:attrName>
                                        </p:attrNameLst>
                                      </p:cBhvr>
                                      <p:to>
                                        <p:strVal val="visible"/>
                                      </p:to>
                                    </p:set>
                                    <p:animEffect transition="in" filter="wipe(left)">
                                      <p:cBhvr>
                                        <p:cTn id="48" dur="500"/>
                                        <p:tgtEl>
                                          <p:spTgt spid="52"/>
                                        </p:tgtEl>
                                      </p:cBhvr>
                                    </p:animEffect>
                                  </p:childTnLst>
                                </p:cTn>
                              </p:par>
                            </p:childTnLst>
                          </p:cTn>
                        </p:par>
                        <p:par>
                          <p:cTn id="49" fill="hold" nodeType="afterGroup">
                            <p:stCondLst>
                              <p:cond delay="500"/>
                            </p:stCondLst>
                            <p:childTnLst>
                              <p:par>
                                <p:cTn id="50" presetID="22" presetClass="entr" presetSubtype="8" fill="hold" nodeType="afterEffect">
                                  <p:stCondLst>
                                    <p:cond delay="0"/>
                                  </p:stCondLst>
                                  <p:childTnLst>
                                    <p:set>
                                      <p:cBhvr>
                                        <p:cTn id="51" dur="1" fill="hold">
                                          <p:stCondLst>
                                            <p:cond delay="0"/>
                                          </p:stCondLst>
                                        </p:cTn>
                                        <p:tgtEl>
                                          <p:spTgt spid="64"/>
                                        </p:tgtEl>
                                        <p:attrNameLst>
                                          <p:attrName>style.visibility</p:attrName>
                                        </p:attrNameLst>
                                      </p:cBhvr>
                                      <p:to>
                                        <p:strVal val="visible"/>
                                      </p:to>
                                    </p:set>
                                    <p:animEffect transition="in" filter="wipe(left)">
                                      <p:cBhvr>
                                        <p:cTn id="52" dur="500"/>
                                        <p:tgtEl>
                                          <p:spTgt spid="64"/>
                                        </p:tgtEl>
                                      </p:cBhvr>
                                    </p:animEffect>
                                  </p:childTnLst>
                                </p:cTn>
                              </p:par>
                            </p:childTnLst>
                          </p:cTn>
                        </p:par>
                        <p:par>
                          <p:cTn id="53" fill="hold" nodeType="afterGroup">
                            <p:stCondLst>
                              <p:cond delay="1000"/>
                            </p:stCondLst>
                            <p:childTnLst>
                              <p:par>
                                <p:cTn id="54" presetID="22" presetClass="entr" presetSubtype="1" fill="hold" nodeType="after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wipe(up)">
                                      <p:cBhvr>
                                        <p:cTn id="56" dur="500"/>
                                        <p:tgtEl>
                                          <p:spTgt spid="34"/>
                                        </p:tgtEl>
                                      </p:cBhvr>
                                    </p:animEffect>
                                  </p:childTnLst>
                                </p:cTn>
                              </p:par>
                            </p:childTnLst>
                          </p:cTn>
                        </p:par>
                        <p:par>
                          <p:cTn id="57" fill="hold" nodeType="afterGroup">
                            <p:stCondLst>
                              <p:cond delay="1500"/>
                            </p:stCondLst>
                            <p:childTnLst>
                              <p:par>
                                <p:cTn id="58" presetID="22" presetClass="entr" presetSubtype="1" fill="hold" nodeType="afterEffect">
                                  <p:stCondLst>
                                    <p:cond delay="0"/>
                                  </p:stCondLst>
                                  <p:childTnLst>
                                    <p:set>
                                      <p:cBhvr>
                                        <p:cTn id="59" dur="1" fill="hold">
                                          <p:stCondLst>
                                            <p:cond delay="0"/>
                                          </p:stCondLst>
                                        </p:cTn>
                                        <p:tgtEl>
                                          <p:spTgt spid="74"/>
                                        </p:tgtEl>
                                        <p:attrNameLst>
                                          <p:attrName>style.visibility</p:attrName>
                                        </p:attrNameLst>
                                      </p:cBhvr>
                                      <p:to>
                                        <p:strVal val="visible"/>
                                      </p:to>
                                    </p:set>
                                    <p:animEffect transition="in" filter="wipe(up)">
                                      <p:cBhvr>
                                        <p:cTn id="60" dur="500"/>
                                        <p:tgtEl>
                                          <p:spTgt spid="7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12"/>
                                        </p:tgtEl>
                                        <p:attrNameLst>
                                          <p:attrName>style.visibility</p:attrName>
                                        </p:attrNameLst>
                                      </p:cBhvr>
                                      <p:to>
                                        <p:strVal val="visible"/>
                                      </p:to>
                                    </p:set>
                                    <p:animEffect transition="in" filter="wipe(left)">
                                      <p:cBhvr>
                                        <p:cTn id="65" dur="500"/>
                                        <p:tgtEl>
                                          <p:spTgt spid="12"/>
                                        </p:tgtEl>
                                      </p:cBhvr>
                                    </p:animEffect>
                                  </p:childTnLst>
                                </p:cTn>
                              </p:par>
                            </p:childTnLst>
                          </p:cTn>
                        </p:par>
                        <p:par>
                          <p:cTn id="66" fill="hold" nodeType="afterGroup">
                            <p:stCondLst>
                              <p:cond delay="500"/>
                            </p:stCondLst>
                            <p:childTnLst>
                              <p:par>
                                <p:cTn id="67" presetID="22" presetClass="entr" presetSubtype="8" fill="hold" nodeType="afterEffect">
                                  <p:stCondLst>
                                    <p:cond delay="0"/>
                                  </p:stCondLst>
                                  <p:childTnLst>
                                    <p:set>
                                      <p:cBhvr>
                                        <p:cTn id="68" dur="1" fill="hold">
                                          <p:stCondLst>
                                            <p:cond delay="0"/>
                                          </p:stCondLst>
                                        </p:cTn>
                                        <p:tgtEl>
                                          <p:spTgt spid="47"/>
                                        </p:tgtEl>
                                        <p:attrNameLst>
                                          <p:attrName>style.visibility</p:attrName>
                                        </p:attrNameLst>
                                      </p:cBhvr>
                                      <p:to>
                                        <p:strVal val="visible"/>
                                      </p:to>
                                    </p:set>
                                    <p:animEffect transition="in" filter="wipe(left)">
                                      <p:cBhvr>
                                        <p:cTn id="69" dur="500"/>
                                        <p:tgtEl>
                                          <p:spTgt spid="47"/>
                                        </p:tgtEl>
                                      </p:cBhvr>
                                    </p:animEffect>
                                  </p:childTnLst>
                                </p:cTn>
                              </p:par>
                            </p:childTnLst>
                          </p:cTn>
                        </p:par>
                        <p:par>
                          <p:cTn id="70" fill="hold" nodeType="afterGroup">
                            <p:stCondLst>
                              <p:cond delay="1000"/>
                            </p:stCondLst>
                            <p:childTnLst>
                              <p:par>
                                <p:cTn id="71" presetID="22" presetClass="entr" presetSubtype="8" fill="hold" nodeType="afterEffect">
                                  <p:stCondLst>
                                    <p:cond delay="0"/>
                                  </p:stCondLst>
                                  <p:childTnLst>
                                    <p:set>
                                      <p:cBhvr>
                                        <p:cTn id="72" dur="1" fill="hold">
                                          <p:stCondLst>
                                            <p:cond delay="0"/>
                                          </p:stCondLst>
                                        </p:cTn>
                                        <p:tgtEl>
                                          <p:spTgt spid="46"/>
                                        </p:tgtEl>
                                        <p:attrNameLst>
                                          <p:attrName>style.visibility</p:attrName>
                                        </p:attrNameLst>
                                      </p:cBhvr>
                                      <p:to>
                                        <p:strVal val="visible"/>
                                      </p:to>
                                    </p:set>
                                    <p:animEffect transition="in" filter="wipe(left)">
                                      <p:cBhvr>
                                        <p:cTn id="73" dur="500"/>
                                        <p:tgtEl>
                                          <p:spTgt spid="46"/>
                                        </p:tgtEl>
                                      </p:cBhvr>
                                    </p:animEffect>
                                  </p:childTnLst>
                                </p:cTn>
                              </p:par>
                            </p:childTnLst>
                          </p:cTn>
                        </p:par>
                        <p:par>
                          <p:cTn id="74" fill="hold" nodeType="afterGroup">
                            <p:stCondLst>
                              <p:cond delay="1500"/>
                            </p:stCondLst>
                            <p:childTnLst>
                              <p:par>
                                <p:cTn id="75" presetID="22" presetClass="entr" presetSubtype="8" fill="hold" nodeType="afterEffect">
                                  <p:stCondLst>
                                    <p:cond delay="0"/>
                                  </p:stCondLst>
                                  <p:childTnLst>
                                    <p:set>
                                      <p:cBhvr>
                                        <p:cTn id="76" dur="1" fill="hold">
                                          <p:stCondLst>
                                            <p:cond delay="0"/>
                                          </p:stCondLst>
                                        </p:cTn>
                                        <p:tgtEl>
                                          <p:spTgt spid="45"/>
                                        </p:tgtEl>
                                        <p:attrNameLst>
                                          <p:attrName>style.visibility</p:attrName>
                                        </p:attrNameLst>
                                      </p:cBhvr>
                                      <p:to>
                                        <p:strVal val="visible"/>
                                      </p:to>
                                    </p:set>
                                    <p:animEffect transition="in" filter="wipe(left)">
                                      <p:cBhvr>
                                        <p:cTn id="77" dur="500"/>
                                        <p:tgtEl>
                                          <p:spTgt spid="45"/>
                                        </p:tgtEl>
                                      </p:cBhvr>
                                    </p:animEffect>
                                  </p:childTnLst>
                                </p:cTn>
                              </p:par>
                            </p:childTnLst>
                          </p:cTn>
                        </p:par>
                        <p:par>
                          <p:cTn id="78" fill="hold" nodeType="afterGroup">
                            <p:stCondLst>
                              <p:cond delay="2000"/>
                            </p:stCondLst>
                            <p:childTnLst>
                              <p:par>
                                <p:cTn id="79" presetID="22" presetClass="entr" presetSubtype="8" fill="hold" nodeType="after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wipe(left)">
                                      <p:cBhvr>
                                        <p:cTn id="81" dur="500"/>
                                        <p:tgtEl>
                                          <p:spTgt spid="53"/>
                                        </p:tgtEl>
                                      </p:cBhvr>
                                    </p:animEffect>
                                  </p:childTnLst>
                                </p:cTn>
                              </p:par>
                            </p:childTnLst>
                          </p:cTn>
                        </p:par>
                        <p:par>
                          <p:cTn id="82" fill="hold" nodeType="afterGroup">
                            <p:stCondLst>
                              <p:cond delay="2500"/>
                            </p:stCondLst>
                            <p:childTnLst>
                              <p:par>
                                <p:cTn id="83" presetID="22" presetClass="entr" presetSubtype="1" fill="hold" nodeType="afterEffect">
                                  <p:stCondLst>
                                    <p:cond delay="0"/>
                                  </p:stCondLst>
                                  <p:childTnLst>
                                    <p:set>
                                      <p:cBhvr>
                                        <p:cTn id="84" dur="1" fill="hold">
                                          <p:stCondLst>
                                            <p:cond delay="0"/>
                                          </p:stCondLst>
                                        </p:cTn>
                                        <p:tgtEl>
                                          <p:spTgt spid="55"/>
                                        </p:tgtEl>
                                        <p:attrNameLst>
                                          <p:attrName>style.visibility</p:attrName>
                                        </p:attrNameLst>
                                      </p:cBhvr>
                                      <p:to>
                                        <p:strVal val="visible"/>
                                      </p:to>
                                    </p:set>
                                    <p:animEffect transition="in" filter="wipe(up)">
                                      <p:cBhvr>
                                        <p:cTn id="85" dur="500"/>
                                        <p:tgtEl>
                                          <p:spTgt spid="55"/>
                                        </p:tgtEl>
                                      </p:cBhvr>
                                    </p:animEffect>
                                  </p:childTnLst>
                                </p:cTn>
                              </p:par>
                            </p:childTnLst>
                          </p:cTn>
                        </p:par>
                        <p:par>
                          <p:cTn id="86" fill="hold" nodeType="afterGroup">
                            <p:stCondLst>
                              <p:cond delay="3000"/>
                            </p:stCondLst>
                            <p:childTnLst>
                              <p:par>
                                <p:cTn id="87" presetID="22" presetClass="entr" presetSubtype="8" fill="hold" nodeType="afterEffect">
                                  <p:stCondLst>
                                    <p:cond delay="0"/>
                                  </p:stCondLst>
                                  <p:childTnLst>
                                    <p:set>
                                      <p:cBhvr>
                                        <p:cTn id="88" dur="1" fill="hold">
                                          <p:stCondLst>
                                            <p:cond delay="0"/>
                                          </p:stCondLst>
                                        </p:cTn>
                                        <p:tgtEl>
                                          <p:spTgt spid="69"/>
                                        </p:tgtEl>
                                        <p:attrNameLst>
                                          <p:attrName>style.visibility</p:attrName>
                                        </p:attrNameLst>
                                      </p:cBhvr>
                                      <p:to>
                                        <p:strVal val="visible"/>
                                      </p:to>
                                    </p:set>
                                    <p:animEffect transition="in" filter="wipe(left)">
                                      <p:cBhvr>
                                        <p:cTn id="89" dur="500"/>
                                        <p:tgtEl>
                                          <p:spTgt spid="69"/>
                                        </p:tgtEl>
                                      </p:cBhvr>
                                    </p:animEffect>
                                  </p:childTnLst>
                                </p:cTn>
                              </p:par>
                            </p:childTnLst>
                          </p:cTn>
                        </p:par>
                        <p:par>
                          <p:cTn id="90" fill="hold" nodeType="afterGroup">
                            <p:stCondLst>
                              <p:cond delay="3500"/>
                            </p:stCondLst>
                            <p:childTnLst>
                              <p:par>
                                <p:cTn id="91" presetID="22" presetClass="entr" presetSubtype="1" fill="hold" nodeType="afterEffect">
                                  <p:stCondLst>
                                    <p:cond delay="0"/>
                                  </p:stCondLst>
                                  <p:childTnLst>
                                    <p:set>
                                      <p:cBhvr>
                                        <p:cTn id="92" dur="1" fill="hold">
                                          <p:stCondLst>
                                            <p:cond delay="0"/>
                                          </p:stCondLst>
                                        </p:cTn>
                                        <p:tgtEl>
                                          <p:spTgt spid="48"/>
                                        </p:tgtEl>
                                        <p:attrNameLst>
                                          <p:attrName>style.visibility</p:attrName>
                                        </p:attrNameLst>
                                      </p:cBhvr>
                                      <p:to>
                                        <p:strVal val="visible"/>
                                      </p:to>
                                    </p:set>
                                    <p:animEffect transition="in" filter="wipe(up)">
                                      <p:cBhvr>
                                        <p:cTn id="93" dur="500"/>
                                        <p:tgtEl>
                                          <p:spTgt spid="48"/>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54"/>
                                        </p:tgtEl>
                                        <p:attrNameLst>
                                          <p:attrName>style.visibility</p:attrName>
                                        </p:attrNameLst>
                                      </p:cBhvr>
                                      <p:to>
                                        <p:strVal val="visible"/>
                                      </p:to>
                                    </p:set>
                                    <p:animEffect transition="in" filter="wipe(left)">
                                      <p:cBhvr>
                                        <p:cTn id="98" dur="500"/>
                                        <p:tgtEl>
                                          <p:spTgt spid="54"/>
                                        </p:tgtEl>
                                      </p:cBhvr>
                                    </p:animEffect>
                                  </p:childTnLst>
                                </p:cTn>
                              </p:par>
                            </p:childTnLst>
                          </p:cTn>
                        </p:par>
                        <p:par>
                          <p:cTn id="99" fill="hold">
                            <p:stCondLst>
                              <p:cond delay="500"/>
                            </p:stCondLst>
                            <p:childTnLst>
                              <p:par>
                                <p:cTn id="100" presetID="22" presetClass="entr" presetSubtype="8" fill="hold" grpId="0" nodeType="afterEffect">
                                  <p:stCondLst>
                                    <p:cond delay="0"/>
                                  </p:stCondLst>
                                  <p:childTnLst>
                                    <p:set>
                                      <p:cBhvr>
                                        <p:cTn id="101" dur="1" fill="hold">
                                          <p:stCondLst>
                                            <p:cond delay="0"/>
                                          </p:stCondLst>
                                        </p:cTn>
                                        <p:tgtEl>
                                          <p:spTgt spid="63491">
                                            <p:txEl>
                                              <p:pRg st="0" end="0"/>
                                            </p:txEl>
                                          </p:spTgt>
                                        </p:tgtEl>
                                        <p:attrNameLst>
                                          <p:attrName>style.visibility</p:attrName>
                                        </p:attrNameLst>
                                      </p:cBhvr>
                                      <p:to>
                                        <p:strVal val="visible"/>
                                      </p:to>
                                    </p:set>
                                    <p:animEffect transition="in" filter="wipe(left)">
                                      <p:cBhvr>
                                        <p:cTn id="102" dur="500"/>
                                        <p:tgtEl>
                                          <p:spTgt spid="634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a:lnSpc>
                <a:spcPct val="90000"/>
              </a:lnSpc>
            </a:pPr>
            <a:r>
              <a:rPr lang="en-US" altLang="en-US" sz="3800" smtClean="0"/>
              <a:t>Classification of Long-Run Supply Curves</a:t>
            </a:r>
          </a:p>
        </p:txBody>
      </p:sp>
      <p:sp>
        <p:nvSpPr>
          <p:cNvPr id="64515" name="Rectangle 3"/>
          <p:cNvSpPr>
            <a:spLocks noGrp="1" noChangeArrowheads="1"/>
          </p:cNvSpPr>
          <p:nvPr>
            <p:ph idx="1"/>
          </p:nvPr>
        </p:nvSpPr>
        <p:spPr>
          <a:xfrm>
            <a:off x="381000" y="1066800"/>
            <a:ext cx="8534400" cy="5334000"/>
          </a:xfrm>
        </p:spPr>
        <p:txBody>
          <a:bodyPr/>
          <a:lstStyle/>
          <a:p>
            <a:r>
              <a:rPr lang="en-US" altLang="en-US" sz="3200" dirty="0" smtClean="0"/>
              <a:t>Constant Cost</a:t>
            </a:r>
          </a:p>
          <a:p>
            <a:pPr lvl="1"/>
            <a:r>
              <a:rPr lang="en-US" altLang="en-US" sz="2800" dirty="0" smtClean="0"/>
              <a:t>Entry does not affect input costs</a:t>
            </a:r>
          </a:p>
          <a:p>
            <a:pPr lvl="1"/>
            <a:r>
              <a:rPr lang="en-US" altLang="en-US" sz="2800" dirty="0" smtClean="0"/>
              <a:t>Horizontal long-run supply curve at the long-run equilibrium price</a:t>
            </a:r>
          </a:p>
          <a:p>
            <a:r>
              <a:rPr lang="en-US" altLang="en-US" sz="3200" dirty="0" smtClean="0"/>
              <a:t>Increasing Cost</a:t>
            </a:r>
          </a:p>
          <a:p>
            <a:pPr lvl="1"/>
            <a:r>
              <a:rPr lang="en-US" altLang="en-US" sz="2800" dirty="0" smtClean="0"/>
              <a:t>Entry increases inputs costs</a:t>
            </a:r>
          </a:p>
          <a:p>
            <a:pPr lvl="1"/>
            <a:r>
              <a:rPr lang="en-US" altLang="en-US" sz="2800" dirty="0" smtClean="0"/>
              <a:t>Positively sloped long-run supply curve</a:t>
            </a:r>
          </a:p>
          <a:p>
            <a:r>
              <a:rPr lang="en-US" altLang="en-US" sz="3200" dirty="0" smtClean="0"/>
              <a:t>Decreasing Cost</a:t>
            </a:r>
          </a:p>
          <a:p>
            <a:pPr lvl="1"/>
            <a:r>
              <a:rPr lang="en-US" altLang="en-US" sz="2800" dirty="0" smtClean="0"/>
              <a:t>Entry reduces input costs</a:t>
            </a:r>
          </a:p>
          <a:p>
            <a:pPr lvl="1"/>
            <a:r>
              <a:rPr lang="en-US" altLang="en-US" sz="2800" dirty="0" smtClean="0"/>
              <a:t>Negatively sloped long-run supply curve</a:t>
            </a:r>
          </a:p>
          <a:p>
            <a:endParaRPr lang="en-US" altLang="en-US" sz="3200"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cs typeface="+mn-cs"/>
            </a:endParaRPr>
          </a:p>
        </p:txBody>
      </p:sp>
      <p:sp>
        <p:nvSpPr>
          <p:cNvPr id="4" name="Slide Number Placeholder 3"/>
          <p:cNvSpPr>
            <a:spLocks noGrp="1"/>
          </p:cNvSpPr>
          <p:nvPr>
            <p:ph type="sldNum" sz="quarter" idx="11"/>
          </p:nvPr>
        </p:nvSpPr>
        <p:spPr/>
        <p:txBody>
          <a:bodyPr/>
          <a:lstStyle/>
          <a:p>
            <a:pPr>
              <a:defRPr/>
            </a:pPr>
            <a:fld id="{E5DF1644-6106-4607-B806-B56098F4A2B6}" type="slidenum">
              <a:rPr lang="en-US" smtClean="0"/>
              <a:pPr>
                <a:defRPr/>
              </a:pPr>
              <a:t>49</a:t>
            </a:fld>
            <a:endParaRPr lang="en-US"/>
          </a:p>
        </p:txBody>
      </p:sp>
    </p:spTree>
    <p:extLst>
      <p:ext uri="{BB962C8B-B14F-4D97-AF65-F5344CB8AC3E}">
        <p14:creationId xmlns:p14="http://schemas.microsoft.com/office/powerpoint/2010/main" val="6281896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r>
              <a:rPr lang="en-US" altLang="en-US" smtClean="0"/>
              <a:t>Long-Run Elasticity of Supply</a:t>
            </a:r>
          </a:p>
        </p:txBody>
      </p:sp>
      <p:sp>
        <p:nvSpPr>
          <p:cNvPr id="12292" name="Rectangle 3"/>
          <p:cNvSpPr>
            <a:spLocks noGrp="1" noChangeArrowheads="1"/>
          </p:cNvSpPr>
          <p:nvPr>
            <p:ph idx="1"/>
          </p:nvPr>
        </p:nvSpPr>
        <p:spPr/>
        <p:txBody>
          <a:bodyPr/>
          <a:lstStyle/>
          <a:p>
            <a:r>
              <a:rPr lang="en-US" altLang="en-US" smtClean="0"/>
              <a:t>Long-run elasticity of supply (</a:t>
            </a:r>
            <a:r>
              <a:rPr lang="en-US" altLang="en-US" i="1" smtClean="0"/>
              <a:t>e</a:t>
            </a:r>
            <a:r>
              <a:rPr lang="en-US" altLang="en-US" i="1" baseline="-25000" smtClean="0"/>
              <a:t>LS</a:t>
            </a:r>
            <a:r>
              <a:rPr lang="en-US" altLang="en-US" baseline="-25000" smtClean="0"/>
              <a:t>,</a:t>
            </a:r>
            <a:r>
              <a:rPr lang="en-US" altLang="en-US" i="1" baseline="-25000" smtClean="0"/>
              <a:t>P</a:t>
            </a:r>
            <a:r>
              <a:rPr lang="en-US" altLang="en-US" smtClean="0"/>
              <a:t>) </a:t>
            </a:r>
          </a:p>
          <a:p>
            <a:pPr lvl="1"/>
            <a:r>
              <a:rPr lang="en-US" altLang="en-US" smtClean="0"/>
              <a:t>Records the proportionate change in long-run industry output to a proportionate change in price</a:t>
            </a:r>
          </a:p>
          <a:p>
            <a:pPr lvl="1"/>
            <a:r>
              <a:rPr lang="en-US" altLang="en-US" smtClean="0"/>
              <a:t>Can be positive or negative</a:t>
            </a:r>
          </a:p>
          <a:p>
            <a:pPr lvl="2"/>
            <a:r>
              <a:rPr lang="en-US" altLang="en-US" smtClean="0">
                <a:sym typeface="Symbol" pitchFamily="18" charset="2"/>
              </a:rPr>
              <a:t>The sign depends on whether the industry exhibits increasing or decreasing costs</a:t>
            </a:r>
          </a:p>
          <a:p>
            <a:endParaRPr lang="en-US" altLang="en-US" smtClean="0"/>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20C6698E-EA29-4515-A3D9-C415467D06C0}" type="slidenum">
              <a:rPr lang="en-US" smtClean="0"/>
              <a:pPr>
                <a:defRPr/>
              </a:pPr>
              <a:t>50</a:t>
            </a:fld>
            <a:endParaRPr lang="en-US"/>
          </a:p>
        </p:txBody>
      </p:sp>
      <p:graphicFrame>
        <p:nvGraphicFramePr>
          <p:cNvPr id="787460" name="Object 2"/>
          <p:cNvGraphicFramePr>
            <a:graphicFrameLocks noChangeAspect="1"/>
          </p:cNvGraphicFramePr>
          <p:nvPr/>
        </p:nvGraphicFramePr>
        <p:xfrm>
          <a:off x="1493838" y="4819650"/>
          <a:ext cx="6156325" cy="1211263"/>
        </p:xfrm>
        <a:graphic>
          <a:graphicData uri="http://schemas.openxmlformats.org/presentationml/2006/ole">
            <mc:AlternateContent xmlns:mc="http://schemas.openxmlformats.org/markup-compatibility/2006">
              <mc:Choice xmlns:v="urn:schemas-microsoft-com:vml" Requires="v">
                <p:oleObj spid="_x0000_s257037" name="Equation" r:id="rId3" imgW="2197080" imgH="431640" progId="Equation.DSMT4">
                  <p:embed/>
                </p:oleObj>
              </mc:Choice>
              <mc:Fallback>
                <p:oleObj name="Equation" r:id="rId3" imgW="219708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3838" y="4819650"/>
                        <a:ext cx="6156325" cy="1211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3820067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87460"/>
                                        </p:tgtEl>
                                        <p:attrNameLst>
                                          <p:attrName>style.visibility</p:attrName>
                                        </p:attrNameLst>
                                      </p:cBhvr>
                                      <p:to>
                                        <p:strVal val="visible"/>
                                      </p:to>
                                    </p:set>
                                    <p:animEffect transition="in" filter="wipe(left)">
                                      <p:cBhvr>
                                        <p:cTn id="7" dur="500"/>
                                        <p:tgtEl>
                                          <p:spTgt spid="787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bwMode="auto">
          <a:xfrm>
            <a:off x="1200150" y="0"/>
            <a:ext cx="794385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12.2	Selected estimates of long-run supply </a:t>
            </a:r>
            <a:r>
              <a:rPr lang="en-US" altLang="en-US" dirty="0" smtClean="0"/>
              <a:t>	</a:t>
            </a:r>
            <a:r>
              <a:rPr lang="en-US" altLang="en-US" dirty="0" smtClean="0">
                <a:solidFill>
                  <a:srgbClr val="002D56"/>
                </a:solidFill>
              </a:rPr>
              <a:t>elasticities</a:t>
            </a:r>
            <a:endParaRPr lang="en-US" altLang="en-US" dirty="0" smtClean="0">
              <a:solidFill>
                <a:srgbClr val="002D56"/>
              </a:solidFill>
            </a:endParaRPr>
          </a:p>
        </p:txBody>
      </p:sp>
      <p:sp>
        <p:nvSpPr>
          <p:cNvPr id="65541"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FD1B67AA-EDEC-4728-9E82-1EB1431FB74E}" type="slidenum">
              <a:rPr lang="en-US" smtClean="0"/>
              <a:pPr>
                <a:defRPr/>
              </a:pPr>
              <a:t>51</a:t>
            </a:fld>
            <a:endParaRPr lang="en-US" dirty="0"/>
          </a:p>
        </p:txBody>
      </p:sp>
      <p:pic>
        <p:nvPicPr>
          <p:cNvPr id="268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165" y="1066800"/>
            <a:ext cx="8171670" cy="4038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5881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68290"/>
                                        </p:tgtEl>
                                        <p:attrNameLst>
                                          <p:attrName>style.visibility</p:attrName>
                                        </p:attrNameLst>
                                      </p:cBhvr>
                                      <p:to>
                                        <p:strVal val="visible"/>
                                      </p:to>
                                    </p:set>
                                    <p:animEffect transition="in" filter="wipe(left)">
                                      <p:cBhvr>
                                        <p:cTn id="7" dur="500"/>
                                        <p:tgtEl>
                                          <p:spTgt spid="268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normAutofit/>
          </a:bodyPr>
          <a:lstStyle/>
          <a:p>
            <a:pPr>
              <a:lnSpc>
                <a:spcPct val="90000"/>
              </a:lnSpc>
            </a:pPr>
            <a:r>
              <a:rPr lang="en-US" altLang="en-US" sz="3600" dirty="0" smtClean="0"/>
              <a:t>Comparative Statics </a:t>
            </a:r>
            <a:r>
              <a:rPr lang="en-US" altLang="en-US" sz="3600" dirty="0" smtClean="0"/>
              <a:t>Analysis of Long Run Equilibrium</a:t>
            </a:r>
            <a:endParaRPr lang="en-US" altLang="en-US" sz="3600" dirty="0" smtClean="0"/>
          </a:p>
        </p:txBody>
      </p:sp>
      <p:sp>
        <p:nvSpPr>
          <p:cNvPr id="66563" name="Rectangle 3"/>
          <p:cNvSpPr>
            <a:spLocks noGrp="1" noChangeArrowheads="1"/>
          </p:cNvSpPr>
          <p:nvPr>
            <p:ph idx="1"/>
          </p:nvPr>
        </p:nvSpPr>
        <p:spPr/>
        <p:txBody>
          <a:bodyPr/>
          <a:lstStyle/>
          <a:p>
            <a:r>
              <a:rPr lang="en-US" altLang="en-US" smtClean="0"/>
              <a:t>Assume: a constant-cost industry</a:t>
            </a:r>
          </a:p>
          <a:p>
            <a:pPr lvl="1"/>
            <a:r>
              <a:rPr lang="en-US" altLang="en-US" smtClean="0"/>
              <a:t>Initial long-run equilibrium </a:t>
            </a:r>
          </a:p>
          <a:p>
            <a:pPr lvl="2"/>
            <a:r>
              <a:rPr lang="en-US" altLang="en-US" smtClean="0"/>
              <a:t>Industry output is </a:t>
            </a:r>
            <a:r>
              <a:rPr lang="en-US" altLang="en-US" i="1" smtClean="0"/>
              <a:t>Q</a:t>
            </a:r>
            <a:r>
              <a:rPr lang="en-US" altLang="en-US" baseline="-25000" smtClean="0"/>
              <a:t>0</a:t>
            </a:r>
            <a:r>
              <a:rPr lang="en-US" altLang="en-US" smtClean="0"/>
              <a:t> </a:t>
            </a:r>
          </a:p>
          <a:p>
            <a:pPr lvl="2"/>
            <a:r>
              <a:rPr lang="en-US" altLang="en-US" smtClean="0"/>
              <a:t>Typical firm’s output is </a:t>
            </a:r>
            <a:r>
              <a:rPr lang="en-US" altLang="en-US" i="1" smtClean="0"/>
              <a:t>q</a:t>
            </a:r>
            <a:r>
              <a:rPr lang="en-US" altLang="en-US" smtClean="0"/>
              <a:t>* (where </a:t>
            </a:r>
            <a:r>
              <a:rPr lang="en-US" altLang="en-US" i="1" smtClean="0"/>
              <a:t>AC</a:t>
            </a:r>
            <a:r>
              <a:rPr lang="en-US" altLang="en-US" smtClean="0"/>
              <a:t> is minimized)</a:t>
            </a:r>
          </a:p>
          <a:p>
            <a:pPr lvl="2"/>
            <a:r>
              <a:rPr lang="en-US" altLang="en-US" smtClean="0"/>
              <a:t>Equilibrium number of firms in the industry (</a:t>
            </a:r>
            <a:r>
              <a:rPr lang="en-US" altLang="en-US" i="1" smtClean="0"/>
              <a:t>n</a:t>
            </a:r>
            <a:r>
              <a:rPr lang="en-US" altLang="en-US" baseline="-25000" smtClean="0"/>
              <a:t>0</a:t>
            </a:r>
            <a:r>
              <a:rPr lang="en-US" altLang="en-US" smtClean="0"/>
              <a:t>) is </a:t>
            </a:r>
            <a:r>
              <a:rPr lang="en-US" altLang="en-US" i="1" smtClean="0"/>
              <a:t>Q</a:t>
            </a:r>
            <a:r>
              <a:rPr lang="en-US" altLang="en-US" baseline="-25000" smtClean="0"/>
              <a:t>0</a:t>
            </a:r>
            <a:r>
              <a:rPr lang="en-US" altLang="en-US" smtClean="0"/>
              <a:t>/</a:t>
            </a:r>
            <a:r>
              <a:rPr lang="en-US" altLang="en-US" i="1" smtClean="0"/>
              <a:t>q</a:t>
            </a:r>
            <a:r>
              <a:rPr lang="en-US" altLang="en-US" smtClean="0"/>
              <a:t>*</a:t>
            </a:r>
          </a:p>
          <a:p>
            <a:pPr>
              <a:buFontTx/>
              <a:buNone/>
            </a:pPr>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09C4C22-5D3E-451B-AB48-3E251FD351C1}" type="slidenum">
              <a:rPr lang="en-US" smtClean="0"/>
              <a:pPr>
                <a:defRPr/>
              </a:pPr>
              <a:t>52</a:t>
            </a:fld>
            <a:endParaRPr lang="en-US"/>
          </a:p>
        </p:txBody>
      </p:sp>
    </p:spTree>
    <p:extLst>
      <p:ext uri="{BB962C8B-B14F-4D97-AF65-F5344CB8AC3E}">
        <p14:creationId xmlns:p14="http://schemas.microsoft.com/office/powerpoint/2010/main" val="190622475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noAutofit/>
          </a:bodyPr>
          <a:lstStyle/>
          <a:p>
            <a:pPr>
              <a:lnSpc>
                <a:spcPct val="90000"/>
              </a:lnSpc>
            </a:pPr>
            <a:r>
              <a:rPr lang="en-US" altLang="en-US" sz="3600" dirty="0"/>
              <a:t>Comparative Statics Analysis of Long Run Equilibrium</a:t>
            </a:r>
            <a:endParaRPr lang="en-US" altLang="en-US" sz="3600" dirty="0" smtClean="0"/>
          </a:p>
        </p:txBody>
      </p:sp>
      <p:sp>
        <p:nvSpPr>
          <p:cNvPr id="13316" name="Rectangle 3"/>
          <p:cNvSpPr>
            <a:spLocks noGrp="1" noChangeArrowheads="1"/>
          </p:cNvSpPr>
          <p:nvPr>
            <p:ph idx="1"/>
          </p:nvPr>
        </p:nvSpPr>
        <p:spPr/>
        <p:txBody>
          <a:bodyPr/>
          <a:lstStyle/>
          <a:p>
            <a:r>
              <a:rPr lang="en-US" altLang="en-US" smtClean="0"/>
              <a:t>A shift in demand </a:t>
            </a:r>
          </a:p>
          <a:p>
            <a:pPr lvl="1"/>
            <a:r>
              <a:rPr lang="en-US" altLang="en-US" smtClean="0"/>
              <a:t>That changes the equilibrium industry output to </a:t>
            </a:r>
            <a:r>
              <a:rPr lang="en-US" altLang="en-US" i="1" smtClean="0"/>
              <a:t>Q</a:t>
            </a:r>
            <a:r>
              <a:rPr lang="en-US" altLang="en-US" baseline="-25000" smtClean="0"/>
              <a:t>1</a:t>
            </a:r>
            <a:r>
              <a:rPr lang="en-US" altLang="en-US" smtClean="0"/>
              <a:t> </a:t>
            </a:r>
          </a:p>
          <a:p>
            <a:pPr lvl="1"/>
            <a:r>
              <a:rPr lang="en-US" altLang="en-US" smtClean="0"/>
              <a:t>Changes the equilibrium number of firms to </a:t>
            </a:r>
            <a:r>
              <a:rPr lang="en-US" altLang="en-US" sz="2800" i="1" smtClean="0"/>
              <a:t>n</a:t>
            </a:r>
            <a:r>
              <a:rPr lang="en-US" altLang="en-US" sz="2800" baseline="-25000" smtClean="0"/>
              <a:t>1</a:t>
            </a:r>
            <a:r>
              <a:rPr lang="en-US" altLang="en-US" sz="2800" smtClean="0"/>
              <a:t> = </a:t>
            </a:r>
            <a:r>
              <a:rPr lang="en-US" altLang="en-US" sz="2800" i="1" smtClean="0"/>
              <a:t>Q</a:t>
            </a:r>
            <a:r>
              <a:rPr lang="en-US" altLang="en-US" sz="2800" baseline="-25000" smtClean="0"/>
              <a:t>1</a:t>
            </a:r>
            <a:r>
              <a:rPr lang="en-US" altLang="en-US" sz="2800" smtClean="0"/>
              <a:t>/</a:t>
            </a:r>
            <a:r>
              <a:rPr lang="en-US" altLang="en-US" sz="2800" i="1" smtClean="0"/>
              <a:t>q</a:t>
            </a:r>
            <a:r>
              <a:rPr lang="en-US" altLang="en-US" sz="2800" smtClean="0"/>
              <a:t>*</a:t>
            </a:r>
            <a:endParaRPr lang="en-US" altLang="en-US" smtClean="0"/>
          </a:p>
          <a:p>
            <a:pPr lvl="1"/>
            <a:r>
              <a:rPr lang="en-US" altLang="en-US" smtClean="0"/>
              <a:t>Change in the number of firms is</a:t>
            </a:r>
          </a:p>
          <a:p>
            <a:pPr>
              <a:buFontTx/>
              <a:buNone/>
            </a:pPr>
            <a:endParaRPr lang="en-US" altLang="en-US" smtClean="0"/>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A9E43C99-1AD4-40BE-B299-BEF4A74677E3}" type="slidenum">
              <a:rPr lang="en-US" smtClean="0"/>
              <a:pPr>
                <a:defRPr/>
              </a:pPr>
              <a:t>53</a:t>
            </a:fld>
            <a:endParaRPr lang="en-US"/>
          </a:p>
        </p:txBody>
      </p:sp>
      <p:graphicFrame>
        <p:nvGraphicFramePr>
          <p:cNvPr id="790532" name="Object 2"/>
          <p:cNvGraphicFramePr>
            <a:graphicFrameLocks noChangeAspect="1"/>
          </p:cNvGraphicFramePr>
          <p:nvPr/>
        </p:nvGraphicFramePr>
        <p:xfrm>
          <a:off x="3197225" y="4402138"/>
          <a:ext cx="2749550" cy="1106487"/>
        </p:xfrm>
        <a:graphic>
          <a:graphicData uri="http://schemas.openxmlformats.org/presentationml/2006/ole">
            <mc:AlternateContent xmlns:mc="http://schemas.openxmlformats.org/markup-compatibility/2006">
              <mc:Choice xmlns:v="urn:schemas-microsoft-com:vml" Requires="v">
                <p:oleObj spid="_x0000_s258062" name="Equation" r:id="rId3" imgW="1041120" imgH="419040" progId="Equation.DSMT4">
                  <p:embed/>
                </p:oleObj>
              </mc:Choice>
              <mc:Fallback>
                <p:oleObj name="Equation" r:id="rId3" imgW="104112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7225" y="4402138"/>
                        <a:ext cx="2749550" cy="1106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6957753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90532"/>
                                        </p:tgtEl>
                                        <p:attrNameLst>
                                          <p:attrName>style.visibility</p:attrName>
                                        </p:attrNameLst>
                                      </p:cBhvr>
                                      <p:to>
                                        <p:strVal val="visible"/>
                                      </p:to>
                                    </p:set>
                                    <p:animEffect transition="in" filter="wipe(left)">
                                      <p:cBhvr>
                                        <p:cTn id="7" dur="500"/>
                                        <p:tgtEl>
                                          <p:spTgt spid="790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noAutofit/>
          </a:bodyPr>
          <a:lstStyle/>
          <a:p>
            <a:pPr>
              <a:lnSpc>
                <a:spcPct val="90000"/>
              </a:lnSpc>
            </a:pPr>
            <a:r>
              <a:rPr lang="en-US" altLang="en-US" sz="3600" dirty="0"/>
              <a:t>Comparative Statics Analysis of Long Run Equilibrium</a:t>
            </a:r>
            <a:endParaRPr lang="en-US" altLang="en-US" sz="3600" dirty="0" smtClean="0"/>
          </a:p>
        </p:txBody>
      </p:sp>
      <p:sp>
        <p:nvSpPr>
          <p:cNvPr id="14340" name="Rectangle 3"/>
          <p:cNvSpPr>
            <a:spLocks noGrp="1" noChangeArrowheads="1"/>
          </p:cNvSpPr>
          <p:nvPr>
            <p:ph idx="1"/>
          </p:nvPr>
        </p:nvSpPr>
        <p:spPr/>
        <p:txBody>
          <a:bodyPr/>
          <a:lstStyle/>
          <a:p>
            <a:r>
              <a:rPr lang="en-US" altLang="en-US" smtClean="0"/>
              <a:t>The effect of a change in input costs</a:t>
            </a:r>
          </a:p>
          <a:p>
            <a:pPr lvl="1"/>
            <a:r>
              <a:rPr lang="en-US" altLang="en-US" smtClean="0"/>
              <a:t>More complicated</a:t>
            </a:r>
          </a:p>
          <a:p>
            <a:pPr lvl="1"/>
            <a:r>
              <a:rPr lang="en-US" altLang="en-US" smtClean="0"/>
              <a:t>Affects minimum average cost</a:t>
            </a:r>
          </a:p>
          <a:p>
            <a:pPr lvl="1"/>
            <a:r>
              <a:rPr lang="en-US" altLang="en-US" smtClean="0"/>
              <a:t>Affects the quantity demanded</a:t>
            </a:r>
          </a:p>
          <a:p>
            <a:pPr lvl="1"/>
            <a:r>
              <a:rPr lang="en-US" altLang="en-US" smtClean="0"/>
              <a:t>Affects the optimal level of output for each firm</a:t>
            </a:r>
          </a:p>
          <a:p>
            <a:pPr lvl="1"/>
            <a:r>
              <a:rPr lang="en-US" altLang="en-US" smtClean="0"/>
              <a:t>Change in the number of firms:</a:t>
            </a:r>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DB5FBDE-089A-4341-B277-970CE8CDA85D}" type="slidenum">
              <a:rPr lang="en-US" smtClean="0"/>
              <a:pPr>
                <a:defRPr/>
              </a:pPr>
              <a:t>54</a:t>
            </a:fld>
            <a:endParaRPr lang="en-US"/>
          </a:p>
        </p:txBody>
      </p:sp>
      <p:graphicFrame>
        <p:nvGraphicFramePr>
          <p:cNvPr id="64514" name="Object 2"/>
          <p:cNvGraphicFramePr>
            <a:graphicFrameLocks noChangeAspect="1"/>
          </p:cNvGraphicFramePr>
          <p:nvPr/>
        </p:nvGraphicFramePr>
        <p:xfrm>
          <a:off x="3048000" y="5081588"/>
          <a:ext cx="3048000" cy="1155700"/>
        </p:xfrm>
        <a:graphic>
          <a:graphicData uri="http://schemas.openxmlformats.org/presentationml/2006/ole">
            <mc:AlternateContent xmlns:mc="http://schemas.openxmlformats.org/markup-compatibility/2006">
              <mc:Choice xmlns:v="urn:schemas-microsoft-com:vml" Requires="v">
                <p:oleObj spid="_x0000_s259086" name="Equation" r:id="rId3" imgW="1206360" imgH="457200" progId="Equation.DSMT4">
                  <p:embed/>
                </p:oleObj>
              </mc:Choice>
              <mc:Fallback>
                <p:oleObj name="Equation" r:id="rId3" imgW="1206360" imgH="457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5081588"/>
                        <a:ext cx="3048000" cy="1155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689990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4514"/>
                                        </p:tgtEl>
                                        <p:attrNameLst>
                                          <p:attrName>style.visibility</p:attrName>
                                        </p:attrNameLst>
                                      </p:cBhvr>
                                      <p:to>
                                        <p:strVal val="visible"/>
                                      </p:to>
                                    </p:set>
                                    <p:animEffect transition="in" filter="wipe(left)">
                                      <p:cBhvr>
                                        <p:cTn id="7" dur="500"/>
                                        <p:tgtEl>
                                          <p:spTgt spid="645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bwMode="auto">
          <a:xfrm>
            <a:off x="1143000" y="-1"/>
            <a:ext cx="8001000" cy="950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12.10	An Increase in an Input Price May </a:t>
            </a:r>
            <a:r>
              <a:rPr lang="en-US" altLang="en-US" dirty="0" smtClean="0"/>
              <a:t>Change</a:t>
            </a:r>
            <a:br>
              <a:rPr lang="en-US" altLang="en-US" dirty="0" smtClean="0"/>
            </a:br>
            <a:r>
              <a:rPr lang="en-US" altLang="en-US" dirty="0" smtClean="0">
                <a:solidFill>
                  <a:srgbClr val="002D56"/>
                </a:solidFill>
              </a:rPr>
              <a:t> </a:t>
            </a:r>
            <a:r>
              <a:rPr lang="en-US" altLang="en-US" dirty="0">
                <a:solidFill>
                  <a:srgbClr val="002D56"/>
                </a:solidFill>
              </a:rPr>
              <a:t>Long-Run Equilibrium Output for </a:t>
            </a:r>
            <a:r>
              <a:rPr lang="en-US" altLang="en-US" dirty="0" smtClean="0">
                <a:solidFill>
                  <a:srgbClr val="002D56"/>
                </a:solidFill>
              </a:rPr>
              <a:t>Typical </a:t>
            </a:r>
            <a:r>
              <a:rPr lang="en-US" altLang="en-US" dirty="0">
                <a:solidFill>
                  <a:srgbClr val="002D56"/>
                </a:solidFill>
              </a:rPr>
              <a:t>Firm</a:t>
            </a:r>
            <a:br>
              <a:rPr lang="en-US" altLang="en-US" dirty="0">
                <a:solidFill>
                  <a:srgbClr val="002D56"/>
                </a:solidFill>
              </a:rPr>
            </a:br>
            <a:endParaRPr lang="en-US" altLang="en-US" dirty="0" smtClean="0">
              <a:solidFill>
                <a:srgbClr val="002D56"/>
              </a:solidFill>
            </a:endParaRPr>
          </a:p>
        </p:txBody>
      </p:sp>
      <p:sp>
        <p:nvSpPr>
          <p:cNvPr id="67587" name="Text Placeholder 2"/>
          <p:cNvSpPr>
            <a:spLocks noGrp="1"/>
          </p:cNvSpPr>
          <p:nvPr>
            <p:ph sz="half" idx="1"/>
          </p:nvPr>
        </p:nvSpPr>
        <p:spPr>
          <a:xfrm>
            <a:off x="342900" y="5038714"/>
            <a:ext cx="8458200" cy="1087449"/>
          </a:xfrm>
        </p:spPr>
        <p:txBody>
          <a:bodyPr>
            <a:normAutofit/>
          </a:bodyPr>
          <a:lstStyle/>
          <a:p>
            <a:pPr>
              <a:spcBef>
                <a:spcPct val="0"/>
              </a:spcBef>
            </a:pPr>
            <a:r>
              <a:rPr lang="en-US" altLang="en-US" dirty="0"/>
              <a:t>An increase in the price of an input will shift average and marginal cost curves upward. The precise effect of these shifts on the typical firm’s optimal output level (q*) will depend on the relative magnitudes of the shifts.</a:t>
            </a:r>
          </a:p>
          <a:p>
            <a:pPr>
              <a:spcBef>
                <a:spcPct val="0"/>
              </a:spcBef>
            </a:pPr>
            <a:endParaRPr lang="en-US" altLang="en-US" dirty="0" smtClean="0"/>
          </a:p>
        </p:txBody>
      </p:sp>
      <p:sp>
        <p:nvSpPr>
          <p:cNvPr id="67590"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633ADFC8-E9F4-4401-8ED2-7B48C3BDCE78}" type="slidenum">
              <a:rPr lang="en-US" smtClean="0"/>
              <a:pPr>
                <a:defRPr/>
              </a:pPr>
              <a:t>55</a:t>
            </a:fld>
            <a:endParaRPr lang="en-US" dirty="0"/>
          </a:p>
        </p:txBody>
      </p:sp>
      <p:grpSp>
        <p:nvGrpSpPr>
          <p:cNvPr id="7" name="Group 15"/>
          <p:cNvGrpSpPr>
            <a:grpSpLocks/>
          </p:cNvGrpSpPr>
          <p:nvPr/>
        </p:nvGrpSpPr>
        <p:grpSpPr bwMode="auto">
          <a:xfrm>
            <a:off x="1881188" y="1192213"/>
            <a:ext cx="6100762" cy="4167187"/>
            <a:chOff x="0" y="1009904"/>
            <a:chExt cx="6100354" cy="4167050"/>
          </a:xfrm>
        </p:grpSpPr>
        <p:grpSp>
          <p:nvGrpSpPr>
            <p:cNvPr id="67614" name="Group 41"/>
            <p:cNvGrpSpPr>
              <a:grpSpLocks/>
            </p:cNvGrpSpPr>
            <p:nvPr/>
          </p:nvGrpSpPr>
          <p:grpSpPr bwMode="auto">
            <a:xfrm>
              <a:off x="0" y="1009904"/>
              <a:ext cx="704850" cy="3505200"/>
              <a:chOff x="0" y="1009904"/>
              <a:chExt cx="704850" cy="3505200"/>
            </a:xfrm>
          </p:grpSpPr>
          <p:sp>
            <p:nvSpPr>
              <p:cNvPr id="67618" name="Line 3"/>
              <p:cNvSpPr>
                <a:spLocks noChangeShapeType="1"/>
              </p:cNvSpPr>
              <p:nvPr/>
            </p:nvSpPr>
            <p:spPr bwMode="auto">
              <a:xfrm>
                <a:off x="609600" y="1314704"/>
                <a:ext cx="0" cy="3200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619" name="Text Box 38"/>
              <p:cNvSpPr txBox="1">
                <a:spLocks noChangeArrowheads="1"/>
              </p:cNvSpPr>
              <p:nvPr/>
            </p:nvSpPr>
            <p:spPr bwMode="auto">
              <a:xfrm>
                <a:off x="0" y="1009904"/>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t>Price</a:t>
                </a:r>
              </a:p>
            </p:txBody>
          </p:sp>
        </p:grpSp>
        <p:grpSp>
          <p:nvGrpSpPr>
            <p:cNvPr id="67615" name="Group 43"/>
            <p:cNvGrpSpPr>
              <a:grpSpLocks/>
            </p:cNvGrpSpPr>
            <p:nvPr/>
          </p:nvGrpSpPr>
          <p:grpSpPr bwMode="auto">
            <a:xfrm>
              <a:off x="609600" y="4515103"/>
              <a:ext cx="5490754" cy="661851"/>
              <a:chOff x="609600" y="4515103"/>
              <a:chExt cx="5490754" cy="661851"/>
            </a:xfrm>
          </p:grpSpPr>
          <p:sp>
            <p:nvSpPr>
              <p:cNvPr id="67616" name="Line 4"/>
              <p:cNvSpPr>
                <a:spLocks noChangeShapeType="1"/>
              </p:cNvSpPr>
              <p:nvPr/>
            </p:nvSpPr>
            <p:spPr bwMode="auto">
              <a:xfrm>
                <a:off x="609600" y="4515103"/>
                <a:ext cx="4563292" cy="464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617" name="Text Box 43"/>
              <p:cNvSpPr txBox="1">
                <a:spLocks noChangeArrowheads="1"/>
              </p:cNvSpPr>
              <p:nvPr/>
            </p:nvSpPr>
            <p:spPr bwMode="auto">
              <a:xfrm>
                <a:off x="3951513" y="4535604"/>
                <a:ext cx="2148841"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t>Quantity per period</a:t>
                </a:r>
              </a:p>
            </p:txBody>
          </p:sp>
        </p:grpSp>
      </p:grpSp>
      <p:grpSp>
        <p:nvGrpSpPr>
          <p:cNvPr id="10" name="Group 34"/>
          <p:cNvGrpSpPr>
            <a:grpSpLocks/>
          </p:cNvGrpSpPr>
          <p:nvPr/>
        </p:nvGrpSpPr>
        <p:grpSpPr bwMode="auto">
          <a:xfrm>
            <a:off x="3330575" y="1409700"/>
            <a:ext cx="2568575" cy="2640013"/>
            <a:chOff x="3322320" y="1409636"/>
            <a:chExt cx="2568348" cy="2639851"/>
          </a:xfrm>
        </p:grpSpPr>
        <p:sp>
          <p:nvSpPr>
            <p:cNvPr id="67612" name="Text Box 16"/>
            <p:cNvSpPr txBox="1">
              <a:spLocks noChangeArrowheads="1"/>
            </p:cNvSpPr>
            <p:nvPr/>
          </p:nvSpPr>
          <p:spPr bwMode="auto">
            <a:xfrm>
              <a:off x="5390605" y="1409636"/>
              <a:ext cx="5000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177B21"/>
                  </a:solidFill>
                </a:rPr>
                <a:t>MC</a:t>
              </a:r>
              <a:r>
                <a:rPr lang="en-US" altLang="en-US" sz="1600" baseline="-25000">
                  <a:solidFill>
                    <a:srgbClr val="177B21"/>
                  </a:solidFill>
                </a:rPr>
                <a:t>1</a:t>
              </a:r>
            </a:p>
          </p:txBody>
        </p:sp>
        <p:sp>
          <p:nvSpPr>
            <p:cNvPr id="67613" name="Freeform 33"/>
            <p:cNvSpPr>
              <a:spLocks/>
            </p:cNvSpPr>
            <p:nvPr/>
          </p:nvSpPr>
          <p:spPr bwMode="auto">
            <a:xfrm>
              <a:off x="3322320" y="1854927"/>
              <a:ext cx="2364377" cy="2194560"/>
            </a:xfrm>
            <a:custGeom>
              <a:avLst/>
              <a:gdLst>
                <a:gd name="T0" fmla="*/ 2364377 w 2051147"/>
                <a:gd name="T1" fmla="*/ 0 h 2183855"/>
                <a:gd name="T2" fmla="*/ 0 w 2051147"/>
                <a:gd name="T3" fmla="*/ 1679410 h 2183855"/>
                <a:gd name="T4" fmla="*/ 0 60000 65536"/>
                <a:gd name="T5" fmla="*/ 0 60000 65536"/>
              </a:gdLst>
              <a:ahLst/>
              <a:cxnLst>
                <a:cxn ang="T4">
                  <a:pos x="T0" y="T1"/>
                </a:cxn>
                <a:cxn ang="T5">
                  <a:pos x="T2" y="T3"/>
                </a:cxn>
              </a:cxnLst>
              <a:rect l="0" t="0" r="r" b="b"/>
              <a:pathLst>
                <a:path w="2051147" h="2183855">
                  <a:moveTo>
                    <a:pt x="2051147" y="0"/>
                  </a:moveTo>
                  <a:cubicBezTo>
                    <a:pt x="1541696" y="1084217"/>
                    <a:pt x="599105" y="2183855"/>
                    <a:pt x="0" y="1671217"/>
                  </a:cubicBezTo>
                </a:path>
              </a:pathLst>
            </a:custGeom>
            <a:noFill/>
            <a:ln w="28575" cap="flat" cmpd="sng" algn="ctr">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1" name="Group 36"/>
          <p:cNvGrpSpPr>
            <a:grpSpLocks/>
          </p:cNvGrpSpPr>
          <p:nvPr/>
        </p:nvGrpSpPr>
        <p:grpSpPr bwMode="auto">
          <a:xfrm>
            <a:off x="3500438" y="950913"/>
            <a:ext cx="3697287" cy="2359025"/>
            <a:chOff x="3435532" y="1956100"/>
            <a:chExt cx="3696788" cy="2359000"/>
          </a:xfrm>
        </p:grpSpPr>
        <p:sp>
          <p:nvSpPr>
            <p:cNvPr id="67610" name="Text Box 17"/>
            <p:cNvSpPr txBox="1">
              <a:spLocks noChangeArrowheads="1"/>
            </p:cNvSpPr>
            <p:nvPr/>
          </p:nvSpPr>
          <p:spPr bwMode="auto">
            <a:xfrm>
              <a:off x="6461760" y="1956100"/>
              <a:ext cx="670560" cy="473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0D7D65"/>
                  </a:solidFill>
                </a:rPr>
                <a:t>AC</a:t>
              </a:r>
              <a:r>
                <a:rPr lang="en-US" altLang="en-US" sz="1600" baseline="-25000">
                  <a:solidFill>
                    <a:srgbClr val="0D7D65"/>
                  </a:solidFill>
                </a:rPr>
                <a:t>1</a:t>
              </a:r>
            </a:p>
          </p:txBody>
        </p:sp>
        <p:sp>
          <p:nvSpPr>
            <p:cNvPr id="67611" name="Freeform 35"/>
            <p:cNvSpPr>
              <a:spLocks/>
            </p:cNvSpPr>
            <p:nvPr/>
          </p:nvSpPr>
          <p:spPr bwMode="auto">
            <a:xfrm>
              <a:off x="3435532" y="2325190"/>
              <a:ext cx="3069772" cy="1989910"/>
            </a:xfrm>
            <a:custGeom>
              <a:avLst/>
              <a:gdLst>
                <a:gd name="T0" fmla="*/ 3069772 w 3069772"/>
                <a:gd name="T1" fmla="*/ 0 h 1989910"/>
                <a:gd name="T2" fmla="*/ 0 w 3069772"/>
                <a:gd name="T3" fmla="*/ 313509 h 1989910"/>
                <a:gd name="T4" fmla="*/ 0 60000 65536"/>
                <a:gd name="T5" fmla="*/ 0 60000 65536"/>
              </a:gdLst>
              <a:ahLst/>
              <a:cxnLst>
                <a:cxn ang="T4">
                  <a:pos x="T0" y="T1"/>
                </a:cxn>
                <a:cxn ang="T5">
                  <a:pos x="T2" y="T3"/>
                </a:cxn>
              </a:cxnLst>
              <a:rect l="0" t="0" r="r" b="b"/>
              <a:pathLst>
                <a:path w="3069772" h="1989910">
                  <a:moveTo>
                    <a:pt x="3069772" y="0"/>
                  </a:moveTo>
                  <a:cubicBezTo>
                    <a:pt x="2377440" y="1667692"/>
                    <a:pt x="1123405" y="1989910"/>
                    <a:pt x="0" y="313509"/>
                  </a:cubicBezTo>
                </a:path>
              </a:pathLst>
            </a:custGeom>
            <a:noFill/>
            <a:ln w="28575" cap="flat" cmpd="sng" algn="ctr">
              <a:solidFill>
                <a:srgbClr val="0D7D65"/>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3" name="Group 46"/>
          <p:cNvGrpSpPr>
            <a:grpSpLocks/>
          </p:cNvGrpSpPr>
          <p:nvPr/>
        </p:nvGrpSpPr>
        <p:grpSpPr bwMode="auto">
          <a:xfrm>
            <a:off x="3005138" y="2500313"/>
            <a:ext cx="3940175" cy="1484312"/>
            <a:chOff x="3779520" y="2530866"/>
            <a:chExt cx="3940627" cy="1483789"/>
          </a:xfrm>
        </p:grpSpPr>
        <p:sp>
          <p:nvSpPr>
            <p:cNvPr id="67608" name="Text Box 17"/>
            <p:cNvSpPr txBox="1">
              <a:spLocks noChangeArrowheads="1"/>
            </p:cNvSpPr>
            <p:nvPr/>
          </p:nvSpPr>
          <p:spPr bwMode="auto">
            <a:xfrm>
              <a:off x="7049587" y="2530866"/>
              <a:ext cx="670560" cy="473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5D0D8F"/>
                  </a:solidFill>
                </a:rPr>
                <a:t>AC</a:t>
              </a:r>
              <a:r>
                <a:rPr lang="en-US" altLang="en-US" sz="1600" baseline="-25000">
                  <a:solidFill>
                    <a:srgbClr val="5D0D8F"/>
                  </a:solidFill>
                </a:rPr>
                <a:t>0</a:t>
              </a:r>
            </a:p>
          </p:txBody>
        </p:sp>
        <p:sp>
          <p:nvSpPr>
            <p:cNvPr id="67609" name="Freeform 48"/>
            <p:cNvSpPr>
              <a:spLocks/>
            </p:cNvSpPr>
            <p:nvPr/>
          </p:nvSpPr>
          <p:spPr bwMode="auto">
            <a:xfrm>
              <a:off x="3779520" y="2865118"/>
              <a:ext cx="3161209" cy="1149537"/>
            </a:xfrm>
            <a:custGeom>
              <a:avLst/>
              <a:gdLst>
                <a:gd name="T0" fmla="*/ 3161209 w 2813957"/>
                <a:gd name="T1" fmla="*/ 0 h 1326610"/>
                <a:gd name="T2" fmla="*/ 0 w 2813957"/>
                <a:gd name="T3" fmla="*/ 350041 h 1326610"/>
                <a:gd name="T4" fmla="*/ 0 60000 65536"/>
                <a:gd name="T5" fmla="*/ 0 60000 65536"/>
              </a:gdLst>
              <a:ahLst/>
              <a:cxnLst>
                <a:cxn ang="T4">
                  <a:pos x="T0" y="T1"/>
                </a:cxn>
                <a:cxn ang="T5">
                  <a:pos x="T2" y="T3"/>
                </a:cxn>
              </a:cxnLst>
              <a:rect l="0" t="0" r="r" b="b"/>
              <a:pathLst>
                <a:path w="2813957" h="1326610">
                  <a:moveTo>
                    <a:pt x="2813957" y="0"/>
                  </a:moveTo>
                  <a:cubicBezTo>
                    <a:pt x="1865811" y="1200365"/>
                    <a:pt x="925731" y="1326610"/>
                    <a:pt x="0" y="403961"/>
                  </a:cubicBezTo>
                </a:path>
              </a:pathLst>
            </a:custGeom>
            <a:noFill/>
            <a:ln w="28575" cap="flat" cmpd="sng" algn="ctr">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4" name="Group 49"/>
          <p:cNvGrpSpPr>
            <a:grpSpLocks/>
          </p:cNvGrpSpPr>
          <p:nvPr/>
        </p:nvGrpSpPr>
        <p:grpSpPr bwMode="auto">
          <a:xfrm>
            <a:off x="3340100" y="1966913"/>
            <a:ext cx="2659063" cy="2495550"/>
            <a:chOff x="3322320" y="1553327"/>
            <a:chExt cx="2659787" cy="2496160"/>
          </a:xfrm>
        </p:grpSpPr>
        <p:sp>
          <p:nvSpPr>
            <p:cNvPr id="67606" name="Text Box 16"/>
            <p:cNvSpPr txBox="1">
              <a:spLocks noChangeArrowheads="1"/>
            </p:cNvSpPr>
            <p:nvPr/>
          </p:nvSpPr>
          <p:spPr bwMode="auto">
            <a:xfrm>
              <a:off x="5482044" y="1553327"/>
              <a:ext cx="5000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5D0D8F"/>
                  </a:solidFill>
                </a:rPr>
                <a:t>MC</a:t>
              </a:r>
              <a:r>
                <a:rPr lang="en-US" altLang="en-US" sz="1600" baseline="-25000">
                  <a:solidFill>
                    <a:srgbClr val="5D0D8F"/>
                  </a:solidFill>
                </a:rPr>
                <a:t>0</a:t>
              </a:r>
            </a:p>
          </p:txBody>
        </p:sp>
        <p:sp>
          <p:nvSpPr>
            <p:cNvPr id="67607" name="Freeform 51"/>
            <p:cNvSpPr>
              <a:spLocks/>
            </p:cNvSpPr>
            <p:nvPr/>
          </p:nvSpPr>
          <p:spPr bwMode="auto">
            <a:xfrm>
              <a:off x="3322320" y="1854927"/>
              <a:ext cx="2364377" cy="2194560"/>
            </a:xfrm>
            <a:custGeom>
              <a:avLst/>
              <a:gdLst>
                <a:gd name="T0" fmla="*/ 2364377 w 2051147"/>
                <a:gd name="T1" fmla="*/ 0 h 2183855"/>
                <a:gd name="T2" fmla="*/ 0 w 2051147"/>
                <a:gd name="T3" fmla="*/ 1679410 h 2183855"/>
                <a:gd name="T4" fmla="*/ 0 60000 65536"/>
                <a:gd name="T5" fmla="*/ 0 60000 65536"/>
              </a:gdLst>
              <a:ahLst/>
              <a:cxnLst>
                <a:cxn ang="T4">
                  <a:pos x="T0" y="T1"/>
                </a:cxn>
                <a:cxn ang="T5">
                  <a:pos x="T2" y="T3"/>
                </a:cxn>
              </a:cxnLst>
              <a:rect l="0" t="0" r="r" b="b"/>
              <a:pathLst>
                <a:path w="2051147" h="2183855">
                  <a:moveTo>
                    <a:pt x="2051147" y="0"/>
                  </a:moveTo>
                  <a:cubicBezTo>
                    <a:pt x="1541696" y="1084217"/>
                    <a:pt x="599105" y="2183855"/>
                    <a:pt x="0" y="1671217"/>
                  </a:cubicBezTo>
                </a:path>
              </a:pathLst>
            </a:custGeom>
            <a:noFill/>
            <a:ln w="28575" cap="flat" cmpd="sng" algn="ctr">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6" name="Group 28"/>
          <p:cNvGrpSpPr>
            <a:grpSpLocks/>
          </p:cNvGrpSpPr>
          <p:nvPr/>
        </p:nvGrpSpPr>
        <p:grpSpPr bwMode="auto">
          <a:xfrm>
            <a:off x="4899025" y="2693988"/>
            <a:ext cx="355600" cy="2298700"/>
            <a:chOff x="1704975" y="2471902"/>
            <a:chExt cx="355600" cy="2298790"/>
          </a:xfrm>
        </p:grpSpPr>
        <p:grpSp>
          <p:nvGrpSpPr>
            <p:cNvPr id="67602" name="Group 59"/>
            <p:cNvGrpSpPr>
              <a:grpSpLocks/>
            </p:cNvGrpSpPr>
            <p:nvPr/>
          </p:nvGrpSpPr>
          <p:grpSpPr bwMode="auto">
            <a:xfrm>
              <a:off x="1704975" y="2521131"/>
              <a:ext cx="355600" cy="2249561"/>
              <a:chOff x="1704975" y="2521131"/>
              <a:chExt cx="355600" cy="2249561"/>
            </a:xfrm>
          </p:grpSpPr>
          <p:sp>
            <p:nvSpPr>
              <p:cNvPr id="67604" name="Text Box 9"/>
              <p:cNvSpPr txBox="1">
                <a:spLocks noChangeArrowheads="1"/>
              </p:cNvSpPr>
              <p:nvPr/>
            </p:nvSpPr>
            <p:spPr bwMode="auto">
              <a:xfrm>
                <a:off x="1704975" y="4465892"/>
                <a:ext cx="35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600"/>
                  <a:t>q*</a:t>
                </a:r>
                <a:r>
                  <a:rPr lang="en-US" altLang="en-US" sz="1600" baseline="-25000"/>
                  <a:t>1</a:t>
                </a:r>
                <a:endParaRPr lang="en-US" altLang="en-US" sz="1600"/>
              </a:p>
            </p:txBody>
          </p:sp>
          <p:sp>
            <p:nvSpPr>
              <p:cNvPr id="67605" name="Line 23"/>
              <p:cNvSpPr>
                <a:spLocks noChangeShapeType="1"/>
              </p:cNvSpPr>
              <p:nvPr/>
            </p:nvSpPr>
            <p:spPr bwMode="auto">
              <a:xfrm flipH="1">
                <a:off x="1904999" y="2521131"/>
                <a:ext cx="2163" cy="199397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67603" name="Oval 9"/>
            <p:cNvSpPr>
              <a:spLocks noChangeArrowheads="1"/>
            </p:cNvSpPr>
            <p:nvPr/>
          </p:nvSpPr>
          <p:spPr bwMode="auto">
            <a:xfrm>
              <a:off x="1869286" y="2471902"/>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18" name="Group 23"/>
          <p:cNvGrpSpPr>
            <a:grpSpLocks/>
          </p:cNvGrpSpPr>
          <p:nvPr/>
        </p:nvGrpSpPr>
        <p:grpSpPr bwMode="auto">
          <a:xfrm>
            <a:off x="4375150" y="3652838"/>
            <a:ext cx="355600" cy="1339850"/>
            <a:chOff x="2075763" y="3430706"/>
            <a:chExt cx="355600" cy="1339986"/>
          </a:xfrm>
        </p:grpSpPr>
        <p:grpSp>
          <p:nvGrpSpPr>
            <p:cNvPr id="67598" name="Group 63"/>
            <p:cNvGrpSpPr>
              <a:grpSpLocks/>
            </p:cNvGrpSpPr>
            <p:nvPr/>
          </p:nvGrpSpPr>
          <p:grpSpPr bwMode="auto">
            <a:xfrm>
              <a:off x="2075763" y="3474720"/>
              <a:ext cx="355600" cy="1295972"/>
              <a:chOff x="1704975" y="3474720"/>
              <a:chExt cx="355600" cy="1295972"/>
            </a:xfrm>
          </p:grpSpPr>
          <p:sp>
            <p:nvSpPr>
              <p:cNvPr id="67600" name="Text Box 9"/>
              <p:cNvSpPr txBox="1">
                <a:spLocks noChangeArrowheads="1"/>
              </p:cNvSpPr>
              <p:nvPr/>
            </p:nvSpPr>
            <p:spPr bwMode="auto">
              <a:xfrm>
                <a:off x="1704975" y="4465892"/>
                <a:ext cx="35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600"/>
                  <a:t>q*</a:t>
                </a:r>
                <a:r>
                  <a:rPr lang="en-US" altLang="en-US" sz="1600" baseline="-25000"/>
                  <a:t>0</a:t>
                </a:r>
                <a:endParaRPr lang="en-US" altLang="en-US" sz="1600"/>
              </a:p>
            </p:txBody>
          </p:sp>
          <p:sp>
            <p:nvSpPr>
              <p:cNvPr id="67601" name="Line 23"/>
              <p:cNvSpPr>
                <a:spLocks noChangeShapeType="1"/>
              </p:cNvSpPr>
              <p:nvPr/>
            </p:nvSpPr>
            <p:spPr bwMode="auto">
              <a:xfrm>
                <a:off x="1902145" y="3474720"/>
                <a:ext cx="2855" cy="1040384"/>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67599" name="Oval 9"/>
            <p:cNvSpPr>
              <a:spLocks noChangeArrowheads="1"/>
            </p:cNvSpPr>
            <p:nvPr/>
          </p:nvSpPr>
          <p:spPr bwMode="auto">
            <a:xfrm>
              <a:off x="2233522" y="3430706"/>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spTree>
    <p:extLst>
      <p:ext uri="{BB962C8B-B14F-4D97-AF65-F5344CB8AC3E}">
        <p14:creationId xmlns:p14="http://schemas.microsoft.com/office/powerpoint/2010/main" val="16160280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up)">
                                      <p:cBhvr>
                                        <p:cTn id="19" dur="500"/>
                                        <p:tgtEl>
                                          <p:spTgt spid="18"/>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childTnLst>
                          </p:cTn>
                        </p:par>
                        <p:par>
                          <p:cTn id="25" fill="hold" nodeType="afterGroup">
                            <p:stCondLst>
                              <p:cond delay="500"/>
                            </p:stCondLst>
                            <p:childTnLst>
                              <p:par>
                                <p:cTn id="26" presetID="22" presetClass="entr" presetSubtype="8" fill="hold"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childTnLst>
                          </p:cTn>
                        </p:par>
                        <p:par>
                          <p:cTn id="29" fill="hold" nodeType="afterGroup">
                            <p:stCondLst>
                              <p:cond delay="1000"/>
                            </p:stCondLst>
                            <p:childTnLst>
                              <p:par>
                                <p:cTn id="30" presetID="22" presetClass="entr" presetSubtype="1" fill="hold" nodeType="after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up)">
                                      <p:cBhvr>
                                        <p:cTn id="32" dur="500"/>
                                        <p:tgtEl>
                                          <p:spTgt spid="16"/>
                                        </p:tgtEl>
                                      </p:cBhvr>
                                    </p:animEffect>
                                  </p:childTnLst>
                                </p:cTn>
                              </p:par>
                            </p:childTnLst>
                          </p:cTn>
                        </p:par>
                        <p:par>
                          <p:cTn id="33" fill="hold">
                            <p:stCondLst>
                              <p:cond delay="1500"/>
                            </p:stCondLst>
                            <p:childTnLst>
                              <p:par>
                                <p:cTn id="34" presetID="22" presetClass="entr" presetSubtype="8" fill="hold" grpId="0" nodeType="afterEffect">
                                  <p:stCondLst>
                                    <p:cond delay="0"/>
                                  </p:stCondLst>
                                  <p:childTnLst>
                                    <p:set>
                                      <p:cBhvr>
                                        <p:cTn id="35" dur="1" fill="hold">
                                          <p:stCondLst>
                                            <p:cond delay="0"/>
                                          </p:stCondLst>
                                        </p:cTn>
                                        <p:tgtEl>
                                          <p:spTgt spid="67587">
                                            <p:txEl>
                                              <p:pRg st="0" end="0"/>
                                            </p:txEl>
                                          </p:spTgt>
                                        </p:tgtEl>
                                        <p:attrNameLst>
                                          <p:attrName>style.visibility</p:attrName>
                                        </p:attrNameLst>
                                      </p:cBhvr>
                                      <p:to>
                                        <p:strVal val="visible"/>
                                      </p:to>
                                    </p:set>
                                    <p:animEffect transition="in" filter="wipe(left)">
                                      <p:cBhvr>
                                        <p:cTn id="36" dur="500"/>
                                        <p:tgtEl>
                                          <p:spTgt spid="6758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bwMode="auto">
          <a:xfrm>
            <a:off x="1764344" y="0"/>
            <a:ext cx="7379656" cy="106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12.5 	Increasing Input Costs and Industry 	</a:t>
            </a:r>
            <a:r>
              <a:rPr lang="en-US" altLang="en-US" dirty="0" smtClean="0">
                <a:solidFill>
                  <a:srgbClr val="002D56"/>
                </a:solidFill>
              </a:rPr>
              <a:t>Structure</a:t>
            </a:r>
          </a:p>
        </p:txBody>
      </p:sp>
      <p:sp>
        <p:nvSpPr>
          <p:cNvPr id="6861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46EEF6E2-0480-4EFA-8B63-D935276B5267}" type="slidenum">
              <a:rPr lang="en-US" smtClean="0"/>
              <a:pPr>
                <a:defRPr/>
              </a:pPr>
              <a:t>56</a:t>
            </a:fld>
            <a:endParaRPr lang="en-US" dirty="0"/>
          </a:p>
        </p:txBody>
      </p:sp>
      <p:sp>
        <p:nvSpPr>
          <p:cNvPr id="68611" name="Content Placeholder 2"/>
          <p:cNvSpPr>
            <a:spLocks noGrp="1"/>
          </p:cNvSpPr>
          <p:nvPr>
            <p:ph type="body" sz="quarter" idx="12"/>
          </p:nvPr>
        </p:nvSpPr>
        <p:spPr>
          <a:xfrm>
            <a:off x="381000" y="838200"/>
            <a:ext cx="8382000" cy="5562600"/>
          </a:xfrm>
          <a:prstGeom prst="rect">
            <a:avLst/>
          </a:prstGeom>
        </p:spPr>
        <p:txBody>
          <a:bodyPr/>
          <a:lstStyle/>
          <a:p>
            <a:r>
              <a:rPr lang="en-US" altLang="en-US" sz="3000" dirty="0" smtClean="0"/>
              <a:t>Total cost curve for a typical firm in the bicycle industry: </a:t>
            </a:r>
            <a:r>
              <a:rPr lang="en-US" altLang="en-US" sz="3000" i="1" dirty="0" smtClean="0">
                <a:solidFill>
                  <a:srgbClr val="FF0000"/>
                </a:solidFill>
              </a:rPr>
              <a:t>C</a:t>
            </a:r>
            <a:r>
              <a:rPr lang="en-US" altLang="en-US" sz="3000" dirty="0" smtClean="0">
                <a:solidFill>
                  <a:srgbClr val="FF0000"/>
                </a:solidFill>
              </a:rPr>
              <a:t>(</a:t>
            </a:r>
            <a:r>
              <a:rPr lang="en-US" altLang="en-US" sz="3000" i="1" dirty="0" smtClean="0">
                <a:solidFill>
                  <a:srgbClr val="FF0000"/>
                </a:solidFill>
              </a:rPr>
              <a:t>q</a:t>
            </a:r>
            <a:r>
              <a:rPr lang="en-US" altLang="en-US" sz="3000" dirty="0" smtClean="0">
                <a:solidFill>
                  <a:srgbClr val="FF0000"/>
                </a:solidFill>
              </a:rPr>
              <a:t>) = </a:t>
            </a:r>
            <a:r>
              <a:rPr lang="en-US" altLang="en-US" sz="3000" i="1" dirty="0" smtClean="0">
                <a:solidFill>
                  <a:srgbClr val="FF0000"/>
                </a:solidFill>
              </a:rPr>
              <a:t>q</a:t>
            </a:r>
            <a:r>
              <a:rPr lang="en-US" altLang="en-US" sz="3000" baseline="30000" dirty="0" smtClean="0">
                <a:solidFill>
                  <a:srgbClr val="FF0000"/>
                </a:solidFill>
              </a:rPr>
              <a:t>3</a:t>
            </a:r>
            <a:r>
              <a:rPr lang="en-US" altLang="en-US" sz="3000" dirty="0" smtClean="0">
                <a:solidFill>
                  <a:srgbClr val="FF0000"/>
                </a:solidFill>
              </a:rPr>
              <a:t> – 20</a:t>
            </a:r>
            <a:r>
              <a:rPr lang="en-US" altLang="en-US" sz="3000" i="1" dirty="0" smtClean="0">
                <a:solidFill>
                  <a:srgbClr val="FF0000"/>
                </a:solidFill>
              </a:rPr>
              <a:t>q</a:t>
            </a:r>
            <a:r>
              <a:rPr lang="en-US" altLang="en-US" sz="3000" baseline="30000" dirty="0" smtClean="0">
                <a:solidFill>
                  <a:srgbClr val="FF0000"/>
                </a:solidFill>
              </a:rPr>
              <a:t>2</a:t>
            </a:r>
            <a:r>
              <a:rPr lang="en-US" altLang="en-US" sz="3000" dirty="0" smtClean="0">
                <a:solidFill>
                  <a:srgbClr val="FF0000"/>
                </a:solidFill>
              </a:rPr>
              <a:t> + 100</a:t>
            </a:r>
            <a:r>
              <a:rPr lang="en-US" altLang="en-US" sz="3000" i="1" dirty="0" smtClean="0">
                <a:solidFill>
                  <a:srgbClr val="FF0000"/>
                </a:solidFill>
              </a:rPr>
              <a:t>q</a:t>
            </a:r>
            <a:r>
              <a:rPr lang="en-US" altLang="en-US" sz="3000" dirty="0" smtClean="0">
                <a:solidFill>
                  <a:srgbClr val="FF0000"/>
                </a:solidFill>
              </a:rPr>
              <a:t> + 8,000</a:t>
            </a:r>
          </a:p>
          <a:p>
            <a:pPr lvl="1">
              <a:lnSpc>
                <a:spcPct val="140000"/>
              </a:lnSpc>
            </a:pPr>
            <a:r>
              <a:rPr lang="en-US" altLang="en-US" dirty="0" smtClean="0"/>
              <a:t>Then rises to: </a:t>
            </a:r>
            <a:r>
              <a:rPr lang="en-US" altLang="en-US" i="1" dirty="0" smtClean="0">
                <a:solidFill>
                  <a:srgbClr val="FF0000"/>
                </a:solidFill>
              </a:rPr>
              <a:t>C</a:t>
            </a:r>
            <a:r>
              <a:rPr lang="en-US" altLang="en-US" dirty="0" smtClean="0">
                <a:solidFill>
                  <a:srgbClr val="FF0000"/>
                </a:solidFill>
              </a:rPr>
              <a:t>(</a:t>
            </a:r>
            <a:r>
              <a:rPr lang="en-US" altLang="en-US" i="1" dirty="0" smtClean="0">
                <a:solidFill>
                  <a:srgbClr val="FF0000"/>
                </a:solidFill>
              </a:rPr>
              <a:t>q</a:t>
            </a:r>
            <a:r>
              <a:rPr lang="en-US" altLang="en-US" dirty="0" smtClean="0">
                <a:solidFill>
                  <a:srgbClr val="FF0000"/>
                </a:solidFill>
              </a:rPr>
              <a:t>) = </a:t>
            </a:r>
            <a:r>
              <a:rPr lang="en-US" altLang="en-US" i="1" dirty="0" smtClean="0">
                <a:solidFill>
                  <a:srgbClr val="FF0000"/>
                </a:solidFill>
              </a:rPr>
              <a:t>q</a:t>
            </a:r>
            <a:r>
              <a:rPr lang="en-US" altLang="en-US" baseline="30000" dirty="0" smtClean="0">
                <a:solidFill>
                  <a:srgbClr val="FF0000"/>
                </a:solidFill>
              </a:rPr>
              <a:t>3</a:t>
            </a:r>
            <a:r>
              <a:rPr lang="en-US" altLang="en-US" dirty="0" smtClean="0">
                <a:solidFill>
                  <a:srgbClr val="FF0000"/>
                </a:solidFill>
              </a:rPr>
              <a:t> – 20</a:t>
            </a:r>
            <a:r>
              <a:rPr lang="en-US" altLang="en-US" i="1" dirty="0" smtClean="0">
                <a:solidFill>
                  <a:srgbClr val="FF0000"/>
                </a:solidFill>
              </a:rPr>
              <a:t>q</a:t>
            </a:r>
            <a:r>
              <a:rPr lang="en-US" altLang="en-US" baseline="30000" dirty="0" smtClean="0">
                <a:solidFill>
                  <a:srgbClr val="FF0000"/>
                </a:solidFill>
              </a:rPr>
              <a:t>2</a:t>
            </a:r>
            <a:r>
              <a:rPr lang="en-US" altLang="en-US" dirty="0" smtClean="0">
                <a:solidFill>
                  <a:srgbClr val="FF0000"/>
                </a:solidFill>
              </a:rPr>
              <a:t> + 100</a:t>
            </a:r>
            <a:r>
              <a:rPr lang="en-US" altLang="en-US" i="1" dirty="0" smtClean="0">
                <a:solidFill>
                  <a:srgbClr val="FF0000"/>
                </a:solidFill>
              </a:rPr>
              <a:t>q</a:t>
            </a:r>
            <a:r>
              <a:rPr lang="en-US" altLang="en-US" dirty="0" smtClean="0">
                <a:solidFill>
                  <a:srgbClr val="FF0000"/>
                </a:solidFill>
              </a:rPr>
              <a:t> + 11,616</a:t>
            </a:r>
          </a:p>
          <a:p>
            <a:r>
              <a:rPr lang="en-US" altLang="en-US" sz="3000" dirty="0" smtClean="0"/>
              <a:t>The optimal scale of each firm</a:t>
            </a:r>
          </a:p>
          <a:p>
            <a:pPr lvl="1"/>
            <a:r>
              <a:rPr lang="en-US" altLang="en-US" dirty="0" smtClean="0"/>
              <a:t>Rises from 20 to 22 (where </a:t>
            </a:r>
            <a:r>
              <a:rPr lang="en-US" altLang="en-US" i="1" dirty="0" smtClean="0"/>
              <a:t>MC = AC</a:t>
            </a:r>
            <a:r>
              <a:rPr lang="en-US" altLang="en-US" dirty="0" smtClean="0"/>
              <a:t>)</a:t>
            </a:r>
          </a:p>
          <a:p>
            <a:r>
              <a:rPr lang="en-US" altLang="en-US" sz="3000" dirty="0" smtClean="0"/>
              <a:t>At </a:t>
            </a:r>
            <a:r>
              <a:rPr lang="en-US" altLang="en-US" sz="3000" i="1" dirty="0" smtClean="0"/>
              <a:t>q</a:t>
            </a:r>
            <a:r>
              <a:rPr lang="en-US" altLang="en-US" sz="3000" dirty="0" smtClean="0"/>
              <a:t> = 22</a:t>
            </a:r>
          </a:p>
          <a:p>
            <a:pPr lvl="1"/>
            <a:r>
              <a:rPr lang="en-US" altLang="en-US" i="1" dirty="0" smtClean="0"/>
              <a:t>MC = AC = </a:t>
            </a:r>
            <a:r>
              <a:rPr lang="en-US" altLang="en-US" dirty="0" smtClean="0"/>
              <a:t>$672 = Long-run equilibrium price</a:t>
            </a:r>
          </a:p>
          <a:p>
            <a:r>
              <a:rPr lang="en-US" altLang="en-US" sz="3000" dirty="0" smtClean="0"/>
              <a:t>For demand: </a:t>
            </a:r>
            <a:r>
              <a:rPr lang="en-US" altLang="en-US" sz="3000" i="1" dirty="0" smtClean="0">
                <a:solidFill>
                  <a:srgbClr val="FF0000"/>
                </a:solidFill>
              </a:rPr>
              <a:t>Q</a:t>
            </a:r>
            <a:r>
              <a:rPr lang="en-US" altLang="en-US" sz="3000" i="1" baseline="-25000" dirty="0" smtClean="0">
                <a:solidFill>
                  <a:srgbClr val="FF0000"/>
                </a:solidFill>
              </a:rPr>
              <a:t>D</a:t>
            </a:r>
            <a:r>
              <a:rPr lang="en-US" altLang="en-US" sz="3000" dirty="0" smtClean="0">
                <a:solidFill>
                  <a:srgbClr val="FF0000"/>
                </a:solidFill>
              </a:rPr>
              <a:t> = 2,500 – 3</a:t>
            </a:r>
            <a:r>
              <a:rPr lang="en-US" altLang="en-US" sz="3000" i="1" dirty="0" smtClean="0">
                <a:solidFill>
                  <a:srgbClr val="FF0000"/>
                </a:solidFill>
              </a:rPr>
              <a:t>P</a:t>
            </a:r>
            <a:endParaRPr lang="en-US" altLang="en-US" sz="3000" dirty="0" smtClean="0">
              <a:solidFill>
                <a:srgbClr val="FF0000"/>
              </a:solidFill>
            </a:endParaRPr>
          </a:p>
          <a:p>
            <a:pPr lvl="1"/>
            <a:r>
              <a:rPr lang="en-US" altLang="en-US" i="1" dirty="0" smtClean="0"/>
              <a:t>Q</a:t>
            </a:r>
            <a:r>
              <a:rPr lang="en-US" altLang="en-US" i="1" baseline="-25000" dirty="0" smtClean="0"/>
              <a:t>D</a:t>
            </a:r>
            <a:r>
              <a:rPr lang="en-US" altLang="en-US" dirty="0" smtClean="0"/>
              <a:t> = 484</a:t>
            </a:r>
          </a:p>
          <a:p>
            <a:pPr lvl="1"/>
            <a:r>
              <a:rPr lang="en-US" altLang="en-US" dirty="0" smtClean="0"/>
              <a:t>Number of firms in the industry = 484 </a:t>
            </a:r>
            <a:r>
              <a:rPr lang="en-US" altLang="en-US" dirty="0" smtClean="0">
                <a:sym typeface="Symbol" pitchFamily="18" charset="2"/>
              </a:rPr>
              <a:t> 22 = </a:t>
            </a:r>
            <a:r>
              <a:rPr lang="en-US" altLang="en-US" dirty="0" smtClean="0">
                <a:sym typeface="Symbol" pitchFamily="18" charset="2"/>
              </a:rPr>
              <a:t>22</a:t>
            </a:r>
            <a:endParaRPr lang="en-US" altLang="en-US" dirty="0" smtClean="0"/>
          </a:p>
        </p:txBody>
      </p:sp>
    </p:spTree>
    <p:extLst>
      <p:ext uri="{BB962C8B-B14F-4D97-AF65-F5344CB8AC3E}">
        <p14:creationId xmlns:p14="http://schemas.microsoft.com/office/powerpoint/2010/main" val="22630153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a:lnSpc>
                <a:spcPct val="90000"/>
              </a:lnSpc>
            </a:pPr>
            <a:r>
              <a:rPr lang="en-US" altLang="en-US" smtClean="0"/>
              <a:t>Producer Surplus in the Long Run</a:t>
            </a:r>
          </a:p>
        </p:txBody>
      </p:sp>
      <p:sp>
        <p:nvSpPr>
          <p:cNvPr id="69635" name="Rectangle 3"/>
          <p:cNvSpPr>
            <a:spLocks noGrp="1" noChangeArrowheads="1"/>
          </p:cNvSpPr>
          <p:nvPr>
            <p:ph idx="1"/>
          </p:nvPr>
        </p:nvSpPr>
        <p:spPr/>
        <p:txBody>
          <a:bodyPr/>
          <a:lstStyle/>
          <a:p>
            <a:r>
              <a:rPr lang="en-US" altLang="en-US" dirty="0" smtClean="0"/>
              <a:t>Short-run producer surplus </a:t>
            </a:r>
          </a:p>
          <a:p>
            <a:pPr lvl="1"/>
            <a:r>
              <a:rPr lang="en-US" altLang="en-US" dirty="0" smtClean="0"/>
              <a:t>The return to a firm’s owners in excess of what would be earned if output was zero</a:t>
            </a:r>
          </a:p>
          <a:p>
            <a:pPr lvl="1"/>
            <a:r>
              <a:rPr lang="en-US" altLang="en-US" dirty="0" smtClean="0"/>
              <a:t>Sum of short-run profits and fixed costs</a:t>
            </a:r>
          </a:p>
          <a:p>
            <a:r>
              <a:rPr lang="en-US" altLang="en-US" dirty="0" smtClean="0"/>
              <a:t>In the long-run</a:t>
            </a:r>
          </a:p>
          <a:p>
            <a:pPr lvl="1"/>
            <a:r>
              <a:rPr lang="en-US" altLang="en-US" dirty="0" smtClean="0"/>
              <a:t>All profits are zero and there are no fixed costs</a:t>
            </a:r>
          </a:p>
          <a:p>
            <a:pPr lvl="1"/>
            <a:r>
              <a:rPr lang="en-US" altLang="en-US" dirty="0" smtClean="0"/>
              <a:t>Owners are indifferent about whether they are in a particular market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DF93195-42D8-4C43-8AF5-08C6274CBA0E}" type="slidenum">
              <a:rPr lang="en-US" smtClean="0"/>
              <a:pPr>
                <a:defRPr/>
              </a:pPr>
              <a:t>57</a:t>
            </a:fld>
            <a:endParaRPr lang="en-US"/>
          </a:p>
        </p:txBody>
      </p:sp>
    </p:spTree>
    <p:extLst>
      <p:ext uri="{BB962C8B-B14F-4D97-AF65-F5344CB8AC3E}">
        <p14:creationId xmlns:p14="http://schemas.microsoft.com/office/powerpoint/2010/main" val="421800953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a:lnSpc>
                <a:spcPct val="90000"/>
              </a:lnSpc>
            </a:pPr>
            <a:r>
              <a:rPr lang="en-US" altLang="en-US" smtClean="0"/>
              <a:t>Producer Surplus in the Long Run</a:t>
            </a:r>
          </a:p>
        </p:txBody>
      </p:sp>
      <p:sp>
        <p:nvSpPr>
          <p:cNvPr id="70659" name="Rectangle 3"/>
          <p:cNvSpPr>
            <a:spLocks noGrp="1" noChangeArrowheads="1"/>
          </p:cNvSpPr>
          <p:nvPr>
            <p:ph idx="1"/>
          </p:nvPr>
        </p:nvSpPr>
        <p:spPr/>
        <p:txBody>
          <a:bodyPr/>
          <a:lstStyle/>
          <a:p>
            <a:r>
              <a:rPr lang="en-US" altLang="en-US" dirty="0" smtClean="0"/>
              <a:t>Constant-cost industry</a:t>
            </a:r>
          </a:p>
          <a:p>
            <a:pPr lvl="1"/>
            <a:r>
              <a:rPr lang="en-US" altLang="en-US" dirty="0" smtClean="0"/>
              <a:t>Input prices are assumed to be independent of the level of production</a:t>
            </a:r>
          </a:p>
          <a:p>
            <a:pPr lvl="1"/>
            <a:r>
              <a:rPr lang="en-US" altLang="en-US" dirty="0" smtClean="0"/>
              <a:t>Inputs can earn the same amount in alternative occupations</a:t>
            </a:r>
          </a:p>
          <a:p>
            <a:r>
              <a:rPr lang="en-US" altLang="en-US" dirty="0" smtClean="0"/>
              <a:t>Increasing-cost industry </a:t>
            </a:r>
          </a:p>
          <a:p>
            <a:pPr lvl="1"/>
            <a:r>
              <a:rPr lang="en-US" altLang="en-US" dirty="0" smtClean="0"/>
              <a:t>Entry will bid up some input prices</a:t>
            </a:r>
          </a:p>
          <a:p>
            <a:pPr lvl="1"/>
            <a:r>
              <a:rPr lang="en-US" altLang="en-US" dirty="0" smtClean="0"/>
              <a:t>Suppliers of these inputs will be made better off</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E06CD3A-6467-494F-8CB5-B9720E5ABAF3}" type="slidenum">
              <a:rPr lang="en-US" smtClean="0"/>
              <a:pPr>
                <a:defRPr/>
              </a:pPr>
              <a:t>58</a:t>
            </a:fld>
            <a:endParaRPr lang="en-US"/>
          </a:p>
        </p:txBody>
      </p:sp>
    </p:spTree>
    <p:extLst>
      <p:ext uri="{BB962C8B-B14F-4D97-AF65-F5344CB8AC3E}">
        <p14:creationId xmlns:p14="http://schemas.microsoft.com/office/powerpoint/2010/main" val="7680052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lnSpc>
                <a:spcPct val="90000"/>
              </a:lnSpc>
            </a:pPr>
            <a:r>
              <a:rPr lang="en-US" altLang="en-US" smtClean="0"/>
              <a:t>Producer Surplus in the Long Run</a:t>
            </a:r>
          </a:p>
        </p:txBody>
      </p:sp>
      <p:sp>
        <p:nvSpPr>
          <p:cNvPr id="71683" name="Rectangle 3"/>
          <p:cNvSpPr>
            <a:spLocks noGrp="1" noChangeArrowheads="1"/>
          </p:cNvSpPr>
          <p:nvPr>
            <p:ph idx="1"/>
          </p:nvPr>
        </p:nvSpPr>
        <p:spPr/>
        <p:txBody>
          <a:bodyPr/>
          <a:lstStyle/>
          <a:p>
            <a:r>
              <a:rPr lang="en-US" altLang="en-US" smtClean="0"/>
              <a:t>Long-run producer surplus </a:t>
            </a:r>
          </a:p>
          <a:p>
            <a:pPr lvl="1"/>
            <a:r>
              <a:rPr lang="en-US" altLang="en-US" smtClean="0"/>
              <a:t>Extra return producers make by making transactions at the market price </a:t>
            </a:r>
          </a:p>
          <a:p>
            <a:pPr lvl="2"/>
            <a:r>
              <a:rPr lang="en-US" altLang="en-US" smtClean="0"/>
              <a:t>Over and above what they would earn if nothing were produced</a:t>
            </a:r>
          </a:p>
          <a:p>
            <a:pPr lvl="1"/>
            <a:r>
              <a:rPr lang="en-US" altLang="en-US" smtClean="0"/>
              <a:t>Area above the long-run supply curve and below the market price</a:t>
            </a:r>
          </a:p>
          <a:p>
            <a:endParaRPr lang="en-US" altLang="en-US" smtClean="0"/>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BACC9F2-6B70-4F43-A26D-434B18A0175C}" type="slidenum">
              <a:rPr lang="en-US" smtClean="0"/>
              <a:pPr>
                <a:defRPr/>
              </a:pPr>
              <a:t>59</a:t>
            </a:fld>
            <a:endParaRPr lang="en-US"/>
          </a:p>
        </p:txBody>
      </p:sp>
    </p:spTree>
    <p:extLst>
      <p:ext uri="{BB962C8B-B14F-4D97-AF65-F5344CB8AC3E}">
        <p14:creationId xmlns:p14="http://schemas.microsoft.com/office/powerpoint/2010/main" val="427849442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US" altLang="en-US" smtClean="0"/>
              <a:t>Ricardian Rent</a:t>
            </a:r>
          </a:p>
        </p:txBody>
      </p:sp>
      <p:sp>
        <p:nvSpPr>
          <p:cNvPr id="72707" name="Rectangle 3"/>
          <p:cNvSpPr>
            <a:spLocks noGrp="1" noChangeArrowheads="1"/>
          </p:cNvSpPr>
          <p:nvPr>
            <p:ph idx="1"/>
          </p:nvPr>
        </p:nvSpPr>
        <p:spPr/>
        <p:txBody>
          <a:bodyPr/>
          <a:lstStyle/>
          <a:p>
            <a:r>
              <a:rPr lang="en-US" altLang="en-US" dirty="0" smtClean="0"/>
              <a:t>Many parcels of land</a:t>
            </a:r>
          </a:p>
          <a:p>
            <a:pPr lvl="1"/>
            <a:r>
              <a:rPr lang="en-US" altLang="en-US" dirty="0" smtClean="0"/>
              <a:t>Ranges from very fertile land (low costs of production) to very poor land (high costs)</a:t>
            </a:r>
          </a:p>
          <a:p>
            <a:r>
              <a:rPr lang="en-US" altLang="en-US" dirty="0" smtClean="0"/>
              <a:t>Long-run supply curve for the crop </a:t>
            </a:r>
          </a:p>
          <a:p>
            <a:pPr lvl="1"/>
            <a:r>
              <a:rPr lang="en-US" altLang="en-US" dirty="0" smtClean="0"/>
              <a:t>At low prices only the best land is used</a:t>
            </a:r>
          </a:p>
          <a:p>
            <a:pPr lvl="1"/>
            <a:r>
              <a:rPr lang="en-US" altLang="en-US" dirty="0" smtClean="0"/>
              <a:t>As output increases, higher-cost plots of land are brought into production </a:t>
            </a:r>
          </a:p>
          <a:p>
            <a:pPr lvl="1"/>
            <a:r>
              <a:rPr lang="en-US" altLang="en-US" dirty="0" smtClean="0"/>
              <a:t>Positively sloped - increasing costs associated with using less fertile land</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E05E9FC-F2CE-4C05-8A2B-D7ED4B4C92CA}" type="slidenum">
              <a:rPr lang="en-US" smtClean="0"/>
              <a:pPr>
                <a:defRPr/>
              </a:pPr>
              <a:t>60</a:t>
            </a:fld>
            <a:endParaRPr lang="en-US"/>
          </a:p>
        </p:txBody>
      </p:sp>
    </p:spTree>
    <p:extLst>
      <p:ext uri="{BB962C8B-B14F-4D97-AF65-F5344CB8AC3E}">
        <p14:creationId xmlns:p14="http://schemas.microsoft.com/office/powerpoint/2010/main" val="410956102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dirty="0" smtClean="0"/>
              <a:t>12.11 (a), (b</a:t>
            </a:r>
            <a:r>
              <a:rPr lang="en-US" altLang="en-US" dirty="0"/>
              <a:t>)	</a:t>
            </a:r>
            <a:r>
              <a:rPr lang="en-US" altLang="en-US" dirty="0" smtClean="0"/>
              <a:t>	Ricardian Rent</a:t>
            </a:r>
            <a:endParaRPr lang="en-US" altLang="en-US" dirty="0" smtClean="0"/>
          </a:p>
        </p:txBody>
      </p:sp>
      <p:sp>
        <p:nvSpPr>
          <p:cNvPr id="73731" name="Text Placeholder 2"/>
          <p:cNvSpPr>
            <a:spLocks noGrp="1"/>
          </p:cNvSpPr>
          <p:nvPr>
            <p:ph sz="half" idx="1"/>
          </p:nvPr>
        </p:nvSpPr>
        <p:spPr>
          <a:xfrm>
            <a:off x="275430" y="4876800"/>
            <a:ext cx="8792369" cy="1219200"/>
          </a:xfrm>
        </p:spPr>
        <p:txBody>
          <a:bodyPr>
            <a:normAutofit/>
          </a:bodyPr>
          <a:lstStyle/>
          <a:p>
            <a:pPr>
              <a:spcBef>
                <a:spcPct val="0"/>
              </a:spcBef>
            </a:pPr>
            <a:r>
              <a:rPr lang="en-US" altLang="en-US" dirty="0"/>
              <a:t>Owners of low-cost and medium-cost land can earn long-run profits. Long-run producers’ surplus represents the sum of all these rents—area PEB in (d). Usually Ricardian rents will be capitalized into input prices.</a:t>
            </a:r>
          </a:p>
          <a:p>
            <a:pPr>
              <a:spcBef>
                <a:spcPct val="0"/>
              </a:spcBef>
            </a:pPr>
            <a:endParaRPr lang="en-US" altLang="en-US" dirty="0" smtClean="0"/>
          </a:p>
        </p:txBody>
      </p:sp>
      <p:sp>
        <p:nvSpPr>
          <p:cNvPr id="73734"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F33DF6F8-0E06-44CD-AFEA-8D534360A19A}" type="slidenum">
              <a:rPr lang="en-US" smtClean="0"/>
              <a:pPr>
                <a:defRPr/>
              </a:pPr>
              <a:t>61</a:t>
            </a:fld>
            <a:endParaRPr lang="en-US" dirty="0"/>
          </a:p>
        </p:txBody>
      </p:sp>
      <p:pic>
        <p:nvPicPr>
          <p:cNvPr id="655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431" y="914400"/>
            <a:ext cx="8593138" cy="3548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074289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5538"/>
                                        </p:tgtEl>
                                        <p:attrNameLst>
                                          <p:attrName>style.visibility</p:attrName>
                                        </p:attrNameLst>
                                      </p:cBhvr>
                                      <p:to>
                                        <p:strVal val="visible"/>
                                      </p:to>
                                    </p:set>
                                    <p:animEffect transition="in" filter="wipe(left)">
                                      <p:cBhvr>
                                        <p:cTn id="7" dur="500"/>
                                        <p:tgtEl>
                                          <p:spTgt spid="6553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3731">
                                            <p:txEl>
                                              <p:pRg st="0" end="0"/>
                                            </p:txEl>
                                          </p:spTgt>
                                        </p:tgtEl>
                                        <p:attrNameLst>
                                          <p:attrName>style.visibility</p:attrName>
                                        </p:attrNameLst>
                                      </p:cBhvr>
                                      <p:to>
                                        <p:strVal val="visible"/>
                                      </p:to>
                                    </p:set>
                                    <p:animEffect transition="in" filter="wipe(left)">
                                      <p:cBhvr>
                                        <p:cTn id="11" dur="500"/>
                                        <p:tgtEl>
                                          <p:spTgt spid="737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dirty="0" smtClean="0"/>
              <a:t>12.11 (c), (d</a:t>
            </a:r>
            <a:r>
              <a:rPr lang="en-US" altLang="en-US" dirty="0" smtClean="0"/>
              <a:t>)		</a:t>
            </a:r>
            <a:r>
              <a:rPr lang="en-US" altLang="en-US" dirty="0"/>
              <a:t>Ricardian Rent</a:t>
            </a:r>
            <a:endParaRPr lang="en-US" altLang="en-US" dirty="0" smtClean="0"/>
          </a:p>
        </p:txBody>
      </p:sp>
      <p:sp>
        <p:nvSpPr>
          <p:cNvPr id="74755" name="Text Placeholder 2"/>
          <p:cNvSpPr>
            <a:spLocks noGrp="1"/>
          </p:cNvSpPr>
          <p:nvPr>
            <p:ph sz="half" idx="1"/>
          </p:nvPr>
        </p:nvSpPr>
        <p:spPr>
          <a:xfrm>
            <a:off x="304800" y="5105400"/>
            <a:ext cx="8458200" cy="1020763"/>
          </a:xfrm>
        </p:spPr>
        <p:txBody>
          <a:bodyPr>
            <a:normAutofit/>
          </a:bodyPr>
          <a:lstStyle/>
          <a:p>
            <a:pPr>
              <a:spcBef>
                <a:spcPct val="0"/>
              </a:spcBef>
            </a:pPr>
            <a:r>
              <a:rPr lang="en-US" altLang="en-US" dirty="0"/>
              <a:t>Owners of low-cost and medium-cost land can earn long-run profits. Long-run producers’ surplus represents the sum of all these rents—area PEB in (d). Usually Ricardian rents will be capitalized into input prices.</a:t>
            </a:r>
          </a:p>
        </p:txBody>
      </p:sp>
      <p:sp>
        <p:nvSpPr>
          <p:cNvPr id="74758"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363850E2-5077-43C3-BA50-209E8F3698DE}" type="slidenum">
              <a:rPr lang="en-US" smtClean="0"/>
              <a:pPr>
                <a:defRPr/>
              </a:pPr>
              <a:t>62</a:t>
            </a:fld>
            <a:endParaRPr lang="en-US" dirty="0"/>
          </a:p>
        </p:txBody>
      </p:sp>
      <p:pic>
        <p:nvPicPr>
          <p:cNvPr id="665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263" y="1412875"/>
            <a:ext cx="8753475" cy="353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741578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6562"/>
                                        </p:tgtEl>
                                        <p:attrNameLst>
                                          <p:attrName>style.visibility</p:attrName>
                                        </p:attrNameLst>
                                      </p:cBhvr>
                                      <p:to>
                                        <p:strVal val="visible"/>
                                      </p:to>
                                    </p:set>
                                    <p:animEffect transition="in" filter="wipe(left)">
                                      <p:cBhvr>
                                        <p:cTn id="7" dur="500"/>
                                        <p:tgtEl>
                                          <p:spTgt spid="6656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4755">
                                            <p:txEl>
                                              <p:pRg st="0" end="0"/>
                                            </p:txEl>
                                          </p:spTgt>
                                        </p:tgtEl>
                                        <p:attrNameLst>
                                          <p:attrName>style.visibility</p:attrName>
                                        </p:attrNameLst>
                                      </p:cBhvr>
                                      <p:to>
                                        <p:strVal val="visible"/>
                                      </p:to>
                                    </p:set>
                                    <p:animEffect transition="in" filter="wipe(left)">
                                      <p:cBhvr>
                                        <p:cTn id="11" dur="500"/>
                                        <p:tgtEl>
                                          <p:spTgt spid="747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US" altLang="en-US" smtClean="0"/>
              <a:t>Ricardian Rent</a:t>
            </a:r>
          </a:p>
        </p:txBody>
      </p:sp>
      <p:sp>
        <p:nvSpPr>
          <p:cNvPr id="75779" name="Rectangle 3"/>
          <p:cNvSpPr>
            <a:spLocks noGrp="1" noChangeArrowheads="1"/>
          </p:cNvSpPr>
          <p:nvPr>
            <p:ph idx="1"/>
          </p:nvPr>
        </p:nvSpPr>
        <p:spPr/>
        <p:txBody>
          <a:bodyPr/>
          <a:lstStyle/>
          <a:p>
            <a:r>
              <a:rPr lang="en-US" altLang="en-US" smtClean="0"/>
              <a:t>Firms with higher costs  </a:t>
            </a:r>
          </a:p>
          <a:p>
            <a:pPr lvl="1"/>
            <a:r>
              <a:rPr lang="en-US" altLang="en-US" smtClean="0"/>
              <a:t>Will stay out of the market</a:t>
            </a:r>
          </a:p>
          <a:p>
            <a:pPr lvl="1"/>
            <a:r>
              <a:rPr lang="en-US" altLang="en-US" smtClean="0"/>
              <a:t>Would incur losses at a price of </a:t>
            </a:r>
            <a:r>
              <a:rPr lang="en-US" altLang="en-US" i="1" smtClean="0"/>
              <a:t>P</a:t>
            </a:r>
            <a:r>
              <a:rPr lang="en-US" altLang="en-US" smtClean="0"/>
              <a:t>*</a:t>
            </a:r>
          </a:p>
          <a:p>
            <a:r>
              <a:rPr lang="en-US" altLang="en-US" smtClean="0"/>
              <a:t>Profits earned by intramarginal firms </a:t>
            </a:r>
          </a:p>
          <a:p>
            <a:pPr lvl="1"/>
            <a:r>
              <a:rPr lang="en-US" altLang="en-US" smtClean="0"/>
              <a:t>Can persist in the long run</a:t>
            </a:r>
          </a:p>
          <a:p>
            <a:pPr lvl="1"/>
            <a:r>
              <a:rPr lang="en-US" altLang="en-US" smtClean="0"/>
              <a:t>Reflect a return to a unique resource</a:t>
            </a:r>
          </a:p>
          <a:p>
            <a:r>
              <a:rPr lang="en-US" altLang="en-US" smtClean="0"/>
              <a:t>Long-run producer surplus</a:t>
            </a:r>
          </a:p>
          <a:p>
            <a:pPr lvl="1"/>
            <a:r>
              <a:rPr lang="en-US" altLang="en-US" smtClean="0"/>
              <a:t>The sum of these long-run profits</a:t>
            </a:r>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597A2E0-3972-497F-8C87-F02FD421C523}" type="slidenum">
              <a:rPr lang="en-US" smtClean="0"/>
              <a:pPr>
                <a:defRPr/>
              </a:pPr>
              <a:t>63</a:t>
            </a:fld>
            <a:endParaRPr lang="en-US"/>
          </a:p>
        </p:txBody>
      </p:sp>
    </p:spTree>
    <p:extLst>
      <p:ext uri="{BB962C8B-B14F-4D97-AF65-F5344CB8AC3E}">
        <p14:creationId xmlns:p14="http://schemas.microsoft.com/office/powerpoint/2010/main" val="54475596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altLang="en-US" smtClean="0"/>
              <a:t>Ricardian Rent</a:t>
            </a:r>
          </a:p>
        </p:txBody>
      </p:sp>
      <p:sp>
        <p:nvSpPr>
          <p:cNvPr id="76803" name="Rectangle 3"/>
          <p:cNvSpPr>
            <a:spLocks noGrp="1" noChangeArrowheads="1"/>
          </p:cNvSpPr>
          <p:nvPr>
            <p:ph idx="1"/>
          </p:nvPr>
        </p:nvSpPr>
        <p:spPr/>
        <p:txBody>
          <a:bodyPr/>
          <a:lstStyle/>
          <a:p>
            <a:r>
              <a:rPr lang="en-US" altLang="en-US" smtClean="0"/>
              <a:t>Long-run profits for the low-cost firms</a:t>
            </a:r>
          </a:p>
          <a:p>
            <a:pPr lvl="1"/>
            <a:r>
              <a:rPr lang="en-US" altLang="en-US" smtClean="0"/>
              <a:t>May be reflected in the prices of the unique resources owned by those firms</a:t>
            </a:r>
          </a:p>
          <a:p>
            <a:pPr lvl="2"/>
            <a:r>
              <a:rPr lang="en-US" altLang="en-US" smtClean="0"/>
              <a:t>The more fertile the land is, the higher its price</a:t>
            </a:r>
          </a:p>
          <a:p>
            <a:r>
              <a:rPr lang="en-US" altLang="en-US" smtClean="0"/>
              <a:t>Profits are capitalized into inputs’ prices</a:t>
            </a:r>
          </a:p>
          <a:p>
            <a:pPr lvl="1"/>
            <a:r>
              <a:rPr lang="en-US" altLang="en-US" smtClean="0"/>
              <a:t>Reflect the present value of all future profits</a:t>
            </a:r>
          </a:p>
          <a:p>
            <a:pPr lvl="1"/>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9F136C9-9489-4B60-ADFE-BA330DF74E0B}" type="slidenum">
              <a:rPr lang="en-US" smtClean="0"/>
              <a:pPr>
                <a:defRPr/>
              </a:pPr>
              <a:t>64</a:t>
            </a:fld>
            <a:endParaRPr lang="en-US"/>
          </a:p>
        </p:txBody>
      </p:sp>
    </p:spTree>
    <p:extLst>
      <p:ext uri="{BB962C8B-B14F-4D97-AF65-F5344CB8AC3E}">
        <p14:creationId xmlns:p14="http://schemas.microsoft.com/office/powerpoint/2010/main" val="399943764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altLang="en-US" smtClean="0"/>
              <a:t>Ricardian Rent</a:t>
            </a:r>
          </a:p>
        </p:txBody>
      </p:sp>
      <p:sp>
        <p:nvSpPr>
          <p:cNvPr id="77827" name="Rectangle 3"/>
          <p:cNvSpPr>
            <a:spLocks noGrp="1" noChangeArrowheads="1"/>
          </p:cNvSpPr>
          <p:nvPr>
            <p:ph idx="1"/>
          </p:nvPr>
        </p:nvSpPr>
        <p:spPr/>
        <p:txBody>
          <a:bodyPr/>
          <a:lstStyle/>
          <a:p>
            <a:r>
              <a:rPr lang="en-US" altLang="en-US" smtClean="0"/>
              <a:t>Scarcity of low-cost inputs</a:t>
            </a:r>
          </a:p>
          <a:p>
            <a:pPr lvl="1"/>
            <a:r>
              <a:rPr lang="en-US" altLang="en-US" smtClean="0"/>
              <a:t>Creates the possibility of Ricardian rent</a:t>
            </a:r>
          </a:p>
          <a:p>
            <a:r>
              <a:rPr lang="en-US" altLang="en-US" smtClean="0"/>
              <a:t>Industries with upward-sloping long-run supply curves</a:t>
            </a:r>
          </a:p>
          <a:p>
            <a:pPr lvl="1"/>
            <a:r>
              <a:rPr lang="en-US" altLang="en-US" smtClean="0"/>
              <a:t>Increases in output </a:t>
            </a:r>
          </a:p>
          <a:p>
            <a:pPr lvl="2"/>
            <a:r>
              <a:rPr lang="en-US" altLang="en-US" smtClean="0"/>
              <a:t>Raise firms’ costs</a:t>
            </a:r>
          </a:p>
          <a:p>
            <a:pPr lvl="2"/>
            <a:r>
              <a:rPr lang="en-US" altLang="en-US" smtClean="0"/>
              <a:t>Generate factor rents for inputs</a:t>
            </a:r>
          </a:p>
          <a:p>
            <a:pPr lvl="1"/>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6A5FDEE-4EB5-40B6-9B4D-1044A367F02D}" type="slidenum">
              <a:rPr lang="en-US" smtClean="0"/>
              <a:pPr>
                <a:defRPr/>
              </a:pPr>
              <a:t>65</a:t>
            </a:fld>
            <a:endParaRPr lang="en-US"/>
          </a:p>
        </p:txBody>
      </p:sp>
    </p:spTree>
    <p:extLst>
      <p:ext uri="{BB962C8B-B14F-4D97-AF65-F5344CB8AC3E}">
        <p14:creationId xmlns:p14="http://schemas.microsoft.com/office/powerpoint/2010/main" val="57047725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normAutofit/>
          </a:bodyPr>
          <a:lstStyle/>
          <a:p>
            <a:pPr>
              <a:lnSpc>
                <a:spcPct val="80000"/>
              </a:lnSpc>
            </a:pPr>
            <a:r>
              <a:rPr lang="en-US" altLang="en-US" sz="3600" dirty="0" smtClean="0"/>
              <a:t>Economic Efficiency and </a:t>
            </a:r>
            <a:r>
              <a:rPr lang="en-US" altLang="en-US" sz="3600" dirty="0" smtClean="0"/>
              <a:t>Applied Welfare </a:t>
            </a:r>
            <a:r>
              <a:rPr lang="en-US" altLang="en-US" sz="3600" dirty="0" smtClean="0"/>
              <a:t>Analysis</a:t>
            </a:r>
          </a:p>
        </p:txBody>
      </p:sp>
      <p:sp>
        <p:nvSpPr>
          <p:cNvPr id="78851" name="Rectangle 3"/>
          <p:cNvSpPr>
            <a:spLocks noGrp="1" noChangeArrowheads="1"/>
          </p:cNvSpPr>
          <p:nvPr>
            <p:ph idx="1"/>
          </p:nvPr>
        </p:nvSpPr>
        <p:spPr/>
        <p:txBody>
          <a:bodyPr/>
          <a:lstStyle/>
          <a:p>
            <a:r>
              <a:rPr lang="en-US" altLang="en-US" smtClean="0"/>
              <a:t>Sum of consumer and producer surplus </a:t>
            </a:r>
          </a:p>
          <a:p>
            <a:pPr lvl="1"/>
            <a:r>
              <a:rPr lang="en-US" altLang="en-US" smtClean="0"/>
              <a:t>The area between the demand and the supply curve  </a:t>
            </a:r>
          </a:p>
          <a:p>
            <a:pPr lvl="1"/>
            <a:r>
              <a:rPr lang="en-US" altLang="en-US" smtClean="0"/>
              <a:t>Measures the total additional value obtained by market participants by being able to make market transactions</a:t>
            </a:r>
          </a:p>
          <a:p>
            <a:pPr lvl="1"/>
            <a:r>
              <a:rPr lang="en-US" altLang="en-US" smtClean="0"/>
              <a:t>Maximized at the competitive market equilibrium</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89F43A6-190F-49ED-BF6F-CD1AC3ECE3ED}" type="slidenum">
              <a:rPr lang="en-US" smtClean="0"/>
              <a:pPr>
                <a:defRPr/>
              </a:pPr>
              <a:t>66</a:t>
            </a:fld>
            <a:endParaRPr lang="en-US"/>
          </a:p>
        </p:txBody>
      </p:sp>
    </p:spTree>
    <p:extLst>
      <p:ext uri="{BB962C8B-B14F-4D97-AF65-F5344CB8AC3E}">
        <p14:creationId xmlns:p14="http://schemas.microsoft.com/office/powerpoint/2010/main" val="80110461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Isosceles Triangle 21"/>
          <p:cNvSpPr/>
          <p:nvPr/>
        </p:nvSpPr>
        <p:spPr bwMode="auto">
          <a:xfrm>
            <a:off x="2298700" y="1404937"/>
            <a:ext cx="1450975" cy="1409700"/>
          </a:xfrm>
          <a:prstGeom prst="triangle">
            <a:avLst>
              <a:gd name="adj" fmla="val 0"/>
            </a:avLst>
          </a:pr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wrap="none" anchor="ctr"/>
          <a:lstStyle/>
          <a:p>
            <a:pPr marL="342900" indent="-342900" algn="ctr">
              <a:spcBef>
                <a:spcPct val="20000"/>
              </a:spcBef>
              <a:buFontTx/>
              <a:buChar char="•"/>
              <a:defRPr/>
            </a:pPr>
            <a:endParaRPr lang="en-US">
              <a:latin typeface="Arial" pitchFamily="34" charset="0"/>
            </a:endParaRPr>
          </a:p>
        </p:txBody>
      </p:sp>
      <p:sp>
        <p:nvSpPr>
          <p:cNvPr id="23" name="Isosceles Triangle 22"/>
          <p:cNvSpPr/>
          <p:nvPr/>
        </p:nvSpPr>
        <p:spPr bwMode="auto">
          <a:xfrm rot="10800000">
            <a:off x="2298700" y="2828925"/>
            <a:ext cx="1441450" cy="1409700"/>
          </a:xfrm>
          <a:prstGeom prst="triangle">
            <a:avLst>
              <a:gd name="adj" fmla="val 100000"/>
            </a:avLst>
          </a:prstGeom>
          <a:solidFill>
            <a:schemeClr val="accent2">
              <a:lumMod val="40000"/>
              <a:lumOff val="60000"/>
            </a:schemeClr>
          </a:solidFill>
          <a:ln w="9525" cap="flat" cmpd="sng" algn="ctr">
            <a:solidFill>
              <a:schemeClr val="accent2">
                <a:lumMod val="40000"/>
                <a:lumOff val="60000"/>
              </a:schemeClr>
            </a:solidFill>
            <a:prstDash val="solid"/>
            <a:round/>
            <a:headEnd type="none" w="med" len="med"/>
            <a:tailEnd type="none" w="med" len="med"/>
          </a:ln>
          <a:effectLst/>
        </p:spPr>
        <p:txBody>
          <a:bodyPr wrap="none" anchor="ctr"/>
          <a:lstStyle/>
          <a:p>
            <a:pPr marL="342900" indent="-342900" algn="ctr">
              <a:spcBef>
                <a:spcPct val="20000"/>
              </a:spcBef>
              <a:buFontTx/>
              <a:buChar char="•"/>
              <a:defRPr/>
            </a:pPr>
            <a:endParaRPr lang="en-US">
              <a:latin typeface="Arial" pitchFamily="34" charset="0"/>
            </a:endParaRPr>
          </a:p>
        </p:txBody>
      </p:sp>
      <p:sp>
        <p:nvSpPr>
          <p:cNvPr id="79876" name="Title 1"/>
          <p:cNvSpPr>
            <a:spLocks noGrp="1"/>
          </p:cNvSpPr>
          <p:nvPr>
            <p:ph type="title"/>
          </p:nvPr>
        </p:nvSpPr>
        <p:spPr bwMode="auto">
          <a:xfrm>
            <a:off x="1143000" y="-1"/>
            <a:ext cx="8001000" cy="938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dirty="0"/>
              <a:t>12.12	Competitive Equilibrium and Consumer/Producer </a:t>
            </a:r>
            <a:r>
              <a:rPr lang="en-US" altLang="en-US" dirty="0" smtClean="0"/>
              <a:t/>
            </a:r>
            <a:br>
              <a:rPr lang="en-US" altLang="en-US" dirty="0" smtClean="0"/>
            </a:br>
            <a:r>
              <a:rPr lang="en-US" altLang="en-US" dirty="0"/>
              <a:t>	</a:t>
            </a:r>
            <a:r>
              <a:rPr lang="en-US" altLang="en-US" dirty="0" smtClean="0">
                <a:solidFill>
                  <a:srgbClr val="002D56"/>
                </a:solidFill>
              </a:rPr>
              <a:t>Surplus</a:t>
            </a:r>
            <a:endParaRPr lang="en-US" altLang="en-US" dirty="0" smtClean="0">
              <a:solidFill>
                <a:srgbClr val="002D56"/>
              </a:solidFill>
            </a:endParaRPr>
          </a:p>
        </p:txBody>
      </p:sp>
      <p:sp>
        <p:nvSpPr>
          <p:cNvPr id="79877" name="Text Placeholder 2"/>
          <p:cNvSpPr>
            <a:spLocks noGrp="1"/>
          </p:cNvSpPr>
          <p:nvPr>
            <p:ph sz="half" idx="1"/>
          </p:nvPr>
        </p:nvSpPr>
        <p:spPr>
          <a:xfrm>
            <a:off x="228600" y="5145088"/>
            <a:ext cx="8534400" cy="1179512"/>
          </a:xfrm>
        </p:spPr>
        <p:txBody>
          <a:bodyPr>
            <a:normAutofit/>
          </a:bodyPr>
          <a:lstStyle/>
          <a:p>
            <a:pPr>
              <a:spcBef>
                <a:spcPct val="0"/>
              </a:spcBef>
            </a:pPr>
            <a:r>
              <a:rPr lang="en-US" altLang="en-US" dirty="0"/>
              <a:t>At the competitive equilibrium (Q*), the sum of consumer surplus (shaded lighter) and producer surplus (shaded darker) is maximized. For an output level Q</a:t>
            </a:r>
            <a:r>
              <a:rPr lang="en-US" altLang="en-US" baseline="-25000" dirty="0"/>
              <a:t>1</a:t>
            </a:r>
            <a:r>
              <a:rPr lang="en-US" altLang="en-US" dirty="0"/>
              <a:t> &lt; Q*, there is a deadweight loss of consumer and producer surplus that is given by area FEG.</a:t>
            </a:r>
          </a:p>
          <a:p>
            <a:pPr>
              <a:spcBef>
                <a:spcPct val="0"/>
              </a:spcBef>
            </a:pPr>
            <a:endParaRPr lang="en-US" altLang="en-US" dirty="0" smtClean="0"/>
          </a:p>
        </p:txBody>
      </p:sp>
      <p:sp>
        <p:nvSpPr>
          <p:cNvPr id="79880"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CCA7FC54-F0D6-4709-8BE8-24481E06A16B}" type="slidenum">
              <a:rPr lang="en-US" smtClean="0"/>
              <a:pPr>
                <a:defRPr/>
              </a:pPr>
              <a:t>67</a:t>
            </a:fld>
            <a:endParaRPr lang="en-US" dirty="0"/>
          </a:p>
        </p:txBody>
      </p:sp>
      <p:grpSp>
        <p:nvGrpSpPr>
          <p:cNvPr id="21" name="Group 29"/>
          <p:cNvGrpSpPr>
            <a:grpSpLocks/>
          </p:cNvGrpSpPr>
          <p:nvPr/>
        </p:nvGrpSpPr>
        <p:grpSpPr bwMode="auto">
          <a:xfrm>
            <a:off x="3579813" y="2819400"/>
            <a:ext cx="423862" cy="2149475"/>
            <a:chOff x="3579223" y="2995748"/>
            <a:chExt cx="423863" cy="2149475"/>
          </a:xfrm>
        </p:grpSpPr>
        <p:sp>
          <p:nvSpPr>
            <p:cNvPr id="79918" name="Line 6"/>
            <p:cNvSpPr>
              <a:spLocks noChangeShapeType="1"/>
            </p:cNvSpPr>
            <p:nvPr/>
          </p:nvSpPr>
          <p:spPr bwMode="auto">
            <a:xfrm>
              <a:off x="3731623" y="2995748"/>
              <a:ext cx="0" cy="1828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919" name="Text Box 8"/>
            <p:cNvSpPr txBox="1">
              <a:spLocks noChangeArrowheads="1"/>
            </p:cNvSpPr>
            <p:nvPr/>
          </p:nvSpPr>
          <p:spPr bwMode="auto">
            <a:xfrm>
              <a:off x="3579223" y="4840423"/>
              <a:ext cx="423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r>
                <a:rPr lang="en-US" altLang="en-US" sz="1800" baseline="30000"/>
                <a:t> </a:t>
              </a:r>
              <a:r>
                <a:rPr lang="en-US" altLang="en-US" sz="1800"/>
                <a:t>*</a:t>
              </a:r>
            </a:p>
          </p:txBody>
        </p:sp>
      </p:grpSp>
      <p:grpSp>
        <p:nvGrpSpPr>
          <p:cNvPr id="25" name="Group 30"/>
          <p:cNvGrpSpPr>
            <a:grpSpLocks/>
          </p:cNvGrpSpPr>
          <p:nvPr/>
        </p:nvGrpSpPr>
        <p:grpSpPr bwMode="auto">
          <a:xfrm>
            <a:off x="1827213" y="2682875"/>
            <a:ext cx="1905000" cy="304800"/>
            <a:chOff x="1826623" y="2859223"/>
            <a:chExt cx="1905000" cy="304800"/>
          </a:xfrm>
        </p:grpSpPr>
        <p:sp>
          <p:nvSpPr>
            <p:cNvPr id="79916" name="Text Box 7"/>
            <p:cNvSpPr txBox="1">
              <a:spLocks noChangeArrowheads="1"/>
            </p:cNvSpPr>
            <p:nvPr/>
          </p:nvSpPr>
          <p:spPr bwMode="auto">
            <a:xfrm>
              <a:off x="1826623" y="2859223"/>
              <a:ext cx="4048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a:t>
              </a:r>
              <a:r>
                <a:rPr lang="en-US" altLang="en-US" sz="1800" baseline="30000"/>
                <a:t> </a:t>
              </a:r>
              <a:r>
                <a:rPr lang="en-US" altLang="en-US" sz="1800"/>
                <a:t>*</a:t>
              </a:r>
            </a:p>
          </p:txBody>
        </p:sp>
        <p:sp>
          <p:nvSpPr>
            <p:cNvPr id="79917" name="Line 19"/>
            <p:cNvSpPr>
              <a:spLocks noChangeShapeType="1"/>
            </p:cNvSpPr>
            <p:nvPr/>
          </p:nvSpPr>
          <p:spPr bwMode="auto">
            <a:xfrm flipH="1">
              <a:off x="2283823" y="2995748"/>
              <a:ext cx="14478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grpSp>
      <p:grpSp>
        <p:nvGrpSpPr>
          <p:cNvPr id="27" name="Group 46"/>
          <p:cNvGrpSpPr>
            <a:grpSpLocks/>
          </p:cNvGrpSpPr>
          <p:nvPr/>
        </p:nvGrpSpPr>
        <p:grpSpPr bwMode="auto">
          <a:xfrm>
            <a:off x="1446213" y="762000"/>
            <a:ext cx="7232650" cy="4024312"/>
            <a:chOff x="1445623" y="938348"/>
            <a:chExt cx="7232650" cy="4024313"/>
          </a:xfrm>
        </p:grpSpPr>
        <p:grpSp>
          <p:nvGrpSpPr>
            <p:cNvPr id="79910" name="Group 28"/>
            <p:cNvGrpSpPr>
              <a:grpSpLocks/>
            </p:cNvGrpSpPr>
            <p:nvPr/>
          </p:nvGrpSpPr>
          <p:grpSpPr bwMode="auto">
            <a:xfrm>
              <a:off x="2283823" y="4595948"/>
              <a:ext cx="6394450" cy="366713"/>
              <a:chOff x="2283823" y="4595948"/>
              <a:chExt cx="6394450" cy="366713"/>
            </a:xfrm>
          </p:grpSpPr>
          <p:sp>
            <p:nvSpPr>
              <p:cNvPr id="79914" name="Line 3"/>
              <p:cNvSpPr>
                <a:spLocks noChangeShapeType="1"/>
              </p:cNvSpPr>
              <p:nvPr/>
            </p:nvSpPr>
            <p:spPr bwMode="auto">
              <a:xfrm>
                <a:off x="2283823" y="4824548"/>
                <a:ext cx="4114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79915" name="Text Box 4"/>
              <p:cNvSpPr txBox="1">
                <a:spLocks noChangeArrowheads="1"/>
              </p:cNvSpPr>
              <p:nvPr/>
            </p:nvSpPr>
            <p:spPr bwMode="auto">
              <a:xfrm>
                <a:off x="6551023" y="4595948"/>
                <a:ext cx="2127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 per period</a:t>
                </a:r>
              </a:p>
            </p:txBody>
          </p:sp>
        </p:grpSp>
        <p:grpSp>
          <p:nvGrpSpPr>
            <p:cNvPr id="79911" name="Group 27"/>
            <p:cNvGrpSpPr>
              <a:grpSpLocks/>
            </p:cNvGrpSpPr>
            <p:nvPr/>
          </p:nvGrpSpPr>
          <p:grpSpPr bwMode="auto">
            <a:xfrm>
              <a:off x="1445623" y="938348"/>
              <a:ext cx="838200" cy="3886200"/>
              <a:chOff x="1445623" y="938348"/>
              <a:chExt cx="838200" cy="3886200"/>
            </a:xfrm>
          </p:grpSpPr>
          <p:sp>
            <p:nvSpPr>
              <p:cNvPr id="79912" name="Text Box 5"/>
              <p:cNvSpPr txBox="1">
                <a:spLocks noChangeArrowheads="1"/>
              </p:cNvSpPr>
              <p:nvPr/>
            </p:nvSpPr>
            <p:spPr bwMode="auto">
              <a:xfrm>
                <a:off x="1445623" y="938348"/>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Price</a:t>
                </a:r>
              </a:p>
            </p:txBody>
          </p:sp>
          <p:sp>
            <p:nvSpPr>
              <p:cNvPr id="79913" name="Line 20"/>
              <p:cNvSpPr>
                <a:spLocks noChangeShapeType="1"/>
              </p:cNvSpPr>
              <p:nvPr/>
            </p:nvSpPr>
            <p:spPr bwMode="auto">
              <a:xfrm>
                <a:off x="2283823" y="1243148"/>
                <a:ext cx="0" cy="3581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grpSp>
      </p:grpSp>
      <p:grpSp>
        <p:nvGrpSpPr>
          <p:cNvPr id="30" name="Group 24"/>
          <p:cNvGrpSpPr>
            <a:grpSpLocks/>
          </p:cNvGrpSpPr>
          <p:nvPr/>
        </p:nvGrpSpPr>
        <p:grpSpPr bwMode="auto">
          <a:xfrm>
            <a:off x="1858963" y="1181100"/>
            <a:ext cx="3778250" cy="3270250"/>
            <a:chOff x="1859281" y="1356995"/>
            <a:chExt cx="3777342" cy="3270703"/>
          </a:xfrm>
        </p:grpSpPr>
        <p:sp>
          <p:nvSpPr>
            <p:cNvPr id="79907" name="Text Box 10"/>
            <p:cNvSpPr txBox="1">
              <a:spLocks noChangeArrowheads="1"/>
            </p:cNvSpPr>
            <p:nvPr/>
          </p:nvSpPr>
          <p:spPr bwMode="auto">
            <a:xfrm>
              <a:off x="5179423" y="4291148"/>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D</a:t>
              </a:r>
            </a:p>
          </p:txBody>
        </p:sp>
        <p:sp>
          <p:nvSpPr>
            <p:cNvPr id="79908" name="Line 18"/>
            <p:cNvSpPr>
              <a:spLocks noChangeShapeType="1"/>
            </p:cNvSpPr>
            <p:nvPr/>
          </p:nvSpPr>
          <p:spPr bwMode="auto">
            <a:xfrm>
              <a:off x="2283823" y="1547948"/>
              <a:ext cx="2895600" cy="2895600"/>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909" name="Text Box 8"/>
            <p:cNvSpPr txBox="1">
              <a:spLocks noChangeArrowheads="1"/>
            </p:cNvSpPr>
            <p:nvPr/>
          </p:nvSpPr>
          <p:spPr bwMode="auto">
            <a:xfrm>
              <a:off x="1859281" y="1356995"/>
              <a:ext cx="423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A</a:t>
              </a:r>
            </a:p>
          </p:txBody>
        </p:sp>
      </p:grpSp>
      <p:grpSp>
        <p:nvGrpSpPr>
          <p:cNvPr id="31" name="Group 26"/>
          <p:cNvGrpSpPr>
            <a:grpSpLocks/>
          </p:cNvGrpSpPr>
          <p:nvPr/>
        </p:nvGrpSpPr>
        <p:grpSpPr bwMode="auto">
          <a:xfrm>
            <a:off x="1871663" y="990600"/>
            <a:ext cx="3703637" cy="3381375"/>
            <a:chOff x="1872344" y="1166948"/>
            <a:chExt cx="3702367" cy="3381739"/>
          </a:xfrm>
        </p:grpSpPr>
        <p:sp>
          <p:nvSpPr>
            <p:cNvPr id="79904" name="Text Box 9"/>
            <p:cNvSpPr txBox="1">
              <a:spLocks noChangeArrowheads="1"/>
            </p:cNvSpPr>
            <p:nvPr/>
          </p:nvSpPr>
          <p:spPr bwMode="auto">
            <a:xfrm>
              <a:off x="5255623" y="1166948"/>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S</a:t>
              </a:r>
            </a:p>
          </p:txBody>
        </p:sp>
        <p:sp>
          <p:nvSpPr>
            <p:cNvPr id="79905" name="Line 17"/>
            <p:cNvSpPr>
              <a:spLocks noChangeShapeType="1"/>
            </p:cNvSpPr>
            <p:nvPr/>
          </p:nvSpPr>
          <p:spPr bwMode="auto">
            <a:xfrm flipV="1">
              <a:off x="2283823" y="1471748"/>
              <a:ext cx="2971800" cy="2971800"/>
            </a:xfrm>
            <a:prstGeom prst="line">
              <a:avLst/>
            </a:prstGeom>
            <a:noFill/>
            <a:ln w="28575">
              <a:solidFill>
                <a:srgbClr val="5D0D8F"/>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79906" name="Text Box 8"/>
            <p:cNvSpPr txBox="1">
              <a:spLocks noChangeArrowheads="1"/>
            </p:cNvSpPr>
            <p:nvPr/>
          </p:nvSpPr>
          <p:spPr bwMode="auto">
            <a:xfrm>
              <a:off x="1872344" y="4243887"/>
              <a:ext cx="423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B</a:t>
              </a:r>
            </a:p>
          </p:txBody>
        </p:sp>
      </p:grpSp>
      <p:grpSp>
        <p:nvGrpSpPr>
          <p:cNvPr id="32" name="Group 31"/>
          <p:cNvGrpSpPr>
            <a:grpSpLocks/>
          </p:cNvGrpSpPr>
          <p:nvPr/>
        </p:nvGrpSpPr>
        <p:grpSpPr bwMode="auto">
          <a:xfrm>
            <a:off x="2987675" y="2239962"/>
            <a:ext cx="423863" cy="2728913"/>
            <a:chOff x="3579223" y="2416629"/>
            <a:chExt cx="423863" cy="2728594"/>
          </a:xfrm>
        </p:grpSpPr>
        <p:sp>
          <p:nvSpPr>
            <p:cNvPr id="79902" name="Line 6"/>
            <p:cNvSpPr>
              <a:spLocks noChangeShapeType="1"/>
            </p:cNvSpPr>
            <p:nvPr/>
          </p:nvSpPr>
          <p:spPr bwMode="auto">
            <a:xfrm>
              <a:off x="3727269" y="2416629"/>
              <a:ext cx="4354" cy="2407919"/>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903" name="Text Box 8"/>
            <p:cNvSpPr txBox="1">
              <a:spLocks noChangeArrowheads="1"/>
            </p:cNvSpPr>
            <p:nvPr/>
          </p:nvSpPr>
          <p:spPr bwMode="auto">
            <a:xfrm>
              <a:off x="3579223" y="4840423"/>
              <a:ext cx="423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r>
                <a:rPr lang="en-US" altLang="en-US" sz="1800" baseline="30000"/>
                <a:t> </a:t>
              </a:r>
              <a:r>
                <a:rPr lang="en-US" altLang="en-US" sz="1800" baseline="-25000"/>
                <a:t>1</a:t>
              </a:r>
            </a:p>
          </p:txBody>
        </p:sp>
      </p:grpSp>
      <p:grpSp>
        <p:nvGrpSpPr>
          <p:cNvPr id="35" name="Group 34"/>
          <p:cNvGrpSpPr>
            <a:grpSpLocks/>
          </p:cNvGrpSpPr>
          <p:nvPr/>
        </p:nvGrpSpPr>
        <p:grpSpPr bwMode="auto">
          <a:xfrm>
            <a:off x="1827213" y="2103437"/>
            <a:ext cx="1308100" cy="304800"/>
            <a:chOff x="1826623" y="2859223"/>
            <a:chExt cx="1308463" cy="304800"/>
          </a:xfrm>
        </p:grpSpPr>
        <p:sp>
          <p:nvSpPr>
            <p:cNvPr id="79900" name="Text Box 7"/>
            <p:cNvSpPr txBox="1">
              <a:spLocks noChangeArrowheads="1"/>
            </p:cNvSpPr>
            <p:nvPr/>
          </p:nvSpPr>
          <p:spPr bwMode="auto">
            <a:xfrm>
              <a:off x="1826623" y="2859223"/>
              <a:ext cx="4048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a:t>
              </a:r>
              <a:r>
                <a:rPr lang="en-US" altLang="en-US" sz="1800" baseline="-25000"/>
                <a:t>1</a:t>
              </a:r>
            </a:p>
          </p:txBody>
        </p:sp>
        <p:sp>
          <p:nvSpPr>
            <p:cNvPr id="79901" name="Line 19"/>
            <p:cNvSpPr>
              <a:spLocks noChangeShapeType="1"/>
            </p:cNvSpPr>
            <p:nvPr/>
          </p:nvSpPr>
          <p:spPr bwMode="auto">
            <a:xfrm flipH="1" flipV="1">
              <a:off x="2283823" y="2995747"/>
              <a:ext cx="851263" cy="1"/>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grpSp>
      <p:grpSp>
        <p:nvGrpSpPr>
          <p:cNvPr id="38" name="Group 37"/>
          <p:cNvGrpSpPr>
            <a:grpSpLocks/>
          </p:cNvGrpSpPr>
          <p:nvPr/>
        </p:nvGrpSpPr>
        <p:grpSpPr bwMode="auto">
          <a:xfrm>
            <a:off x="1827213" y="3275012"/>
            <a:ext cx="1308100" cy="304800"/>
            <a:chOff x="1826623" y="2859223"/>
            <a:chExt cx="1308463" cy="304800"/>
          </a:xfrm>
        </p:grpSpPr>
        <p:sp>
          <p:nvSpPr>
            <p:cNvPr id="79898" name="Text Box 7"/>
            <p:cNvSpPr txBox="1">
              <a:spLocks noChangeArrowheads="1"/>
            </p:cNvSpPr>
            <p:nvPr/>
          </p:nvSpPr>
          <p:spPr bwMode="auto">
            <a:xfrm>
              <a:off x="1826623" y="2859223"/>
              <a:ext cx="4048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a:t>
              </a:r>
              <a:r>
                <a:rPr lang="en-US" altLang="en-US" sz="1800" baseline="-25000"/>
                <a:t>2</a:t>
              </a:r>
            </a:p>
          </p:txBody>
        </p:sp>
        <p:sp>
          <p:nvSpPr>
            <p:cNvPr id="79899" name="Line 19"/>
            <p:cNvSpPr>
              <a:spLocks noChangeShapeType="1"/>
            </p:cNvSpPr>
            <p:nvPr/>
          </p:nvSpPr>
          <p:spPr bwMode="auto">
            <a:xfrm flipH="1" flipV="1">
              <a:off x="2283823" y="2995747"/>
              <a:ext cx="851263" cy="1"/>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grpSp>
      <p:grpSp>
        <p:nvGrpSpPr>
          <p:cNvPr id="41" name="Group 40"/>
          <p:cNvGrpSpPr>
            <a:grpSpLocks/>
          </p:cNvGrpSpPr>
          <p:nvPr/>
        </p:nvGrpSpPr>
        <p:grpSpPr bwMode="auto">
          <a:xfrm>
            <a:off x="3098800" y="3244850"/>
            <a:ext cx="542925" cy="304800"/>
            <a:chOff x="5062599" y="2563132"/>
            <a:chExt cx="542865" cy="304800"/>
          </a:xfrm>
        </p:grpSpPr>
        <p:sp>
          <p:nvSpPr>
            <p:cNvPr id="79896" name="Oval 9"/>
            <p:cNvSpPr>
              <a:spLocks noChangeArrowheads="1"/>
            </p:cNvSpPr>
            <p:nvPr/>
          </p:nvSpPr>
          <p:spPr bwMode="auto">
            <a:xfrm>
              <a:off x="5062599" y="2693971"/>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79897" name="Text Box 8"/>
            <p:cNvSpPr txBox="1">
              <a:spLocks noChangeArrowheads="1"/>
            </p:cNvSpPr>
            <p:nvPr/>
          </p:nvSpPr>
          <p:spPr bwMode="auto">
            <a:xfrm>
              <a:off x="5181601" y="2563132"/>
              <a:ext cx="423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G</a:t>
              </a:r>
            </a:p>
          </p:txBody>
        </p:sp>
      </p:grpSp>
      <p:grpSp>
        <p:nvGrpSpPr>
          <p:cNvPr id="44" name="Group 43"/>
          <p:cNvGrpSpPr>
            <a:grpSpLocks/>
          </p:cNvGrpSpPr>
          <p:nvPr/>
        </p:nvGrpSpPr>
        <p:grpSpPr bwMode="auto">
          <a:xfrm>
            <a:off x="3094038" y="2065337"/>
            <a:ext cx="542925" cy="304800"/>
            <a:chOff x="5062599" y="2563132"/>
            <a:chExt cx="542865" cy="304800"/>
          </a:xfrm>
        </p:grpSpPr>
        <p:sp>
          <p:nvSpPr>
            <p:cNvPr id="79894" name="Oval 9"/>
            <p:cNvSpPr>
              <a:spLocks noChangeArrowheads="1"/>
            </p:cNvSpPr>
            <p:nvPr/>
          </p:nvSpPr>
          <p:spPr bwMode="auto">
            <a:xfrm>
              <a:off x="5062599" y="2693971"/>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79895" name="Text Box 8"/>
            <p:cNvSpPr txBox="1">
              <a:spLocks noChangeArrowheads="1"/>
            </p:cNvSpPr>
            <p:nvPr/>
          </p:nvSpPr>
          <p:spPr bwMode="auto">
            <a:xfrm>
              <a:off x="5181601" y="2563132"/>
              <a:ext cx="423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F</a:t>
              </a:r>
            </a:p>
          </p:txBody>
        </p:sp>
      </p:grpSp>
      <p:grpSp>
        <p:nvGrpSpPr>
          <p:cNvPr id="47" name="Group 20"/>
          <p:cNvGrpSpPr>
            <a:grpSpLocks/>
          </p:cNvGrpSpPr>
          <p:nvPr/>
        </p:nvGrpSpPr>
        <p:grpSpPr bwMode="auto">
          <a:xfrm>
            <a:off x="3690938" y="2647950"/>
            <a:ext cx="542925" cy="304800"/>
            <a:chOff x="5062599" y="2563132"/>
            <a:chExt cx="542865" cy="304800"/>
          </a:xfrm>
        </p:grpSpPr>
        <p:sp>
          <p:nvSpPr>
            <p:cNvPr id="79892" name="Oval 9"/>
            <p:cNvSpPr>
              <a:spLocks noChangeArrowheads="1"/>
            </p:cNvSpPr>
            <p:nvPr/>
          </p:nvSpPr>
          <p:spPr bwMode="auto">
            <a:xfrm>
              <a:off x="5062599" y="2693971"/>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79893" name="Text Box 8"/>
            <p:cNvSpPr txBox="1">
              <a:spLocks noChangeArrowheads="1"/>
            </p:cNvSpPr>
            <p:nvPr/>
          </p:nvSpPr>
          <p:spPr bwMode="auto">
            <a:xfrm>
              <a:off x="5181601" y="2563132"/>
              <a:ext cx="423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E</a:t>
              </a:r>
            </a:p>
          </p:txBody>
        </p:sp>
      </p:grpSp>
    </p:spTree>
    <p:extLst>
      <p:ext uri="{BB962C8B-B14F-4D97-AF65-F5344CB8AC3E}">
        <p14:creationId xmlns:p14="http://schemas.microsoft.com/office/powerpoint/2010/main" val="18152310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left)">
                                      <p:cBhvr>
                                        <p:cTn id="11" dur="500"/>
                                        <p:tgtEl>
                                          <p:spTgt spid="30"/>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wipe(left)">
                                      <p:cBhvr>
                                        <p:cTn id="15" dur="500"/>
                                        <p:tgtEl>
                                          <p:spTgt spid="31"/>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wipe(left)">
                                      <p:cBhvr>
                                        <p:cTn id="19" dur="500"/>
                                        <p:tgtEl>
                                          <p:spTgt spid="47"/>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left)">
                                      <p:cBhvr>
                                        <p:cTn id="23" dur="500"/>
                                        <p:tgtEl>
                                          <p:spTgt spid="25"/>
                                        </p:tgtEl>
                                      </p:cBhvr>
                                    </p:animEffect>
                                  </p:childTnLst>
                                </p:cTn>
                              </p:par>
                            </p:childTnLst>
                          </p:cTn>
                        </p:par>
                        <p:par>
                          <p:cTn id="24" fill="hold" nodeType="afterGroup">
                            <p:stCondLst>
                              <p:cond delay="2500"/>
                            </p:stCondLst>
                            <p:childTnLst>
                              <p:par>
                                <p:cTn id="25" presetID="22" presetClass="entr" presetSubtype="1" fill="hold"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up)">
                                      <p:cBhvr>
                                        <p:cTn id="27" dur="500"/>
                                        <p:tgtEl>
                                          <p:spTgt spid="21"/>
                                        </p:tgtEl>
                                      </p:cBhvr>
                                    </p:animEffect>
                                  </p:childTnLst>
                                </p:cTn>
                              </p:par>
                            </p:childTnLst>
                          </p:cTn>
                        </p:par>
                        <p:par>
                          <p:cTn id="28" fill="hold" nodeType="afterGroup">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left)">
                                      <p:cBhvr>
                                        <p:cTn id="31" dur="500"/>
                                        <p:tgtEl>
                                          <p:spTgt spid="22"/>
                                        </p:tgtEl>
                                      </p:cBhvr>
                                    </p:animEffect>
                                  </p:childTnLst>
                                </p:cTn>
                              </p:par>
                            </p:childTnLst>
                          </p:cTn>
                        </p:par>
                        <p:par>
                          <p:cTn id="32" fill="hold" nodeType="afterGroup">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left)">
                                      <p:cBhvr>
                                        <p:cTn id="35" dur="500"/>
                                        <p:tgtEl>
                                          <p:spTgt spid="2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wipe(up)">
                                      <p:cBhvr>
                                        <p:cTn id="40" dur="500"/>
                                        <p:tgtEl>
                                          <p:spTgt spid="32"/>
                                        </p:tgtEl>
                                      </p:cBhvr>
                                    </p:animEffect>
                                  </p:childTnLst>
                                </p:cTn>
                              </p:par>
                            </p:childTnLst>
                          </p:cTn>
                        </p:par>
                        <p:par>
                          <p:cTn id="41" fill="hold" nodeType="afterGroup">
                            <p:stCondLst>
                              <p:cond delay="500"/>
                            </p:stCondLst>
                            <p:childTnLst>
                              <p:par>
                                <p:cTn id="42" presetID="22" presetClass="entr" presetSubtype="8" fill="hold" nodeType="afterEffect">
                                  <p:stCondLst>
                                    <p:cond delay="0"/>
                                  </p:stCondLst>
                                  <p:childTnLst>
                                    <p:set>
                                      <p:cBhvr>
                                        <p:cTn id="43" dur="1" fill="hold">
                                          <p:stCondLst>
                                            <p:cond delay="0"/>
                                          </p:stCondLst>
                                        </p:cTn>
                                        <p:tgtEl>
                                          <p:spTgt spid="35"/>
                                        </p:tgtEl>
                                        <p:attrNameLst>
                                          <p:attrName>style.visibility</p:attrName>
                                        </p:attrNameLst>
                                      </p:cBhvr>
                                      <p:to>
                                        <p:strVal val="visible"/>
                                      </p:to>
                                    </p:set>
                                    <p:animEffect transition="in" filter="wipe(left)">
                                      <p:cBhvr>
                                        <p:cTn id="44" dur="500"/>
                                        <p:tgtEl>
                                          <p:spTgt spid="35"/>
                                        </p:tgtEl>
                                      </p:cBhvr>
                                    </p:animEffect>
                                  </p:childTnLst>
                                </p:cTn>
                              </p:par>
                            </p:childTnLst>
                          </p:cTn>
                        </p:par>
                        <p:par>
                          <p:cTn id="45" fill="hold" nodeType="afterGroup">
                            <p:stCondLst>
                              <p:cond delay="1000"/>
                            </p:stCondLst>
                            <p:childTnLst>
                              <p:par>
                                <p:cTn id="46" presetID="22" presetClass="entr" presetSubtype="8" fill="hold" nodeType="afterEffect">
                                  <p:stCondLst>
                                    <p:cond delay="0"/>
                                  </p:stCondLst>
                                  <p:childTnLst>
                                    <p:set>
                                      <p:cBhvr>
                                        <p:cTn id="47" dur="1" fill="hold">
                                          <p:stCondLst>
                                            <p:cond delay="0"/>
                                          </p:stCondLst>
                                        </p:cTn>
                                        <p:tgtEl>
                                          <p:spTgt spid="44"/>
                                        </p:tgtEl>
                                        <p:attrNameLst>
                                          <p:attrName>style.visibility</p:attrName>
                                        </p:attrNameLst>
                                      </p:cBhvr>
                                      <p:to>
                                        <p:strVal val="visible"/>
                                      </p:to>
                                    </p:set>
                                    <p:animEffect transition="in" filter="wipe(left)">
                                      <p:cBhvr>
                                        <p:cTn id="48" dur="500"/>
                                        <p:tgtEl>
                                          <p:spTgt spid="44"/>
                                        </p:tgtEl>
                                      </p:cBhvr>
                                    </p:animEffect>
                                  </p:childTnLst>
                                </p:cTn>
                              </p:par>
                            </p:childTnLst>
                          </p:cTn>
                        </p:par>
                        <p:par>
                          <p:cTn id="49" fill="hold" nodeType="afterGroup">
                            <p:stCondLst>
                              <p:cond delay="1500"/>
                            </p:stCondLst>
                            <p:childTnLst>
                              <p:par>
                                <p:cTn id="50" presetID="22" presetClass="entr" presetSubtype="8" fill="hold" nodeType="after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wipe(left)">
                                      <p:cBhvr>
                                        <p:cTn id="52" dur="500"/>
                                        <p:tgtEl>
                                          <p:spTgt spid="38"/>
                                        </p:tgtEl>
                                      </p:cBhvr>
                                    </p:animEffect>
                                  </p:childTnLst>
                                </p:cTn>
                              </p:par>
                            </p:childTnLst>
                          </p:cTn>
                        </p:par>
                        <p:par>
                          <p:cTn id="53" fill="hold" nodeType="afterGroup">
                            <p:stCondLst>
                              <p:cond delay="2000"/>
                            </p:stCondLst>
                            <p:childTnLst>
                              <p:par>
                                <p:cTn id="54" presetID="22" presetClass="entr" presetSubtype="8" fill="hold" nodeType="after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wipe(left)">
                                      <p:cBhvr>
                                        <p:cTn id="56" dur="500"/>
                                        <p:tgtEl>
                                          <p:spTgt spid="41"/>
                                        </p:tgtEl>
                                      </p:cBhvr>
                                    </p:animEffect>
                                  </p:childTnLst>
                                </p:cTn>
                              </p:par>
                            </p:childTnLst>
                          </p:cTn>
                        </p:par>
                        <p:par>
                          <p:cTn id="57" fill="hold">
                            <p:stCondLst>
                              <p:cond delay="2500"/>
                            </p:stCondLst>
                            <p:childTnLst>
                              <p:par>
                                <p:cTn id="58" presetID="22" presetClass="entr" presetSubtype="8" fill="hold" grpId="0" nodeType="afterEffect">
                                  <p:stCondLst>
                                    <p:cond delay="0"/>
                                  </p:stCondLst>
                                  <p:childTnLst>
                                    <p:set>
                                      <p:cBhvr>
                                        <p:cTn id="59" dur="1" fill="hold">
                                          <p:stCondLst>
                                            <p:cond delay="0"/>
                                          </p:stCondLst>
                                        </p:cTn>
                                        <p:tgtEl>
                                          <p:spTgt spid="79877">
                                            <p:txEl>
                                              <p:pRg st="0" end="0"/>
                                            </p:txEl>
                                          </p:spTgt>
                                        </p:tgtEl>
                                        <p:attrNameLst>
                                          <p:attrName>style.visibility</p:attrName>
                                        </p:attrNameLst>
                                      </p:cBhvr>
                                      <p:to>
                                        <p:strVal val="visible"/>
                                      </p:to>
                                    </p:set>
                                    <p:animEffect transition="in" filter="wipe(left)">
                                      <p:cBhvr>
                                        <p:cTn id="60" dur="500"/>
                                        <p:tgtEl>
                                          <p:spTgt spid="7987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79877"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normAutofit/>
          </a:bodyPr>
          <a:lstStyle/>
          <a:p>
            <a:pPr>
              <a:lnSpc>
                <a:spcPct val="80000"/>
              </a:lnSpc>
            </a:pPr>
            <a:r>
              <a:rPr lang="en-US" altLang="en-US" sz="3600" dirty="0"/>
              <a:t>Economic Efficiency and Applied Welfare Analysis</a:t>
            </a:r>
            <a:endParaRPr lang="en-US" altLang="en-US" sz="3600" dirty="0" smtClean="0"/>
          </a:p>
        </p:txBody>
      </p:sp>
      <p:sp>
        <p:nvSpPr>
          <p:cNvPr id="15364" name="Rectangle 3"/>
          <p:cNvSpPr>
            <a:spLocks noGrp="1" noChangeArrowheads="1"/>
          </p:cNvSpPr>
          <p:nvPr>
            <p:ph idx="1"/>
          </p:nvPr>
        </p:nvSpPr>
        <p:spPr/>
        <p:txBody>
          <a:bodyPr/>
          <a:lstStyle/>
          <a:p>
            <a:r>
              <a:rPr lang="en-US" altLang="en-US" dirty="0" smtClean="0"/>
              <a:t>Maximize total surplus: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8CA336A-A3CB-4316-A8AD-5C75CA0796EA}" type="slidenum">
              <a:rPr lang="en-US" smtClean="0"/>
              <a:pPr>
                <a:defRPr/>
              </a:pPr>
              <a:t>68</a:t>
            </a:fld>
            <a:endParaRPr lang="en-US"/>
          </a:p>
        </p:txBody>
      </p:sp>
      <p:sp>
        <p:nvSpPr>
          <p:cNvPr id="2" name="Text Placeholder 1"/>
          <p:cNvSpPr>
            <a:spLocks noGrp="1"/>
          </p:cNvSpPr>
          <p:nvPr>
            <p:ph type="body" sz="quarter" idx="12"/>
          </p:nvPr>
        </p:nvSpPr>
        <p:spPr>
          <a:xfrm>
            <a:off x="381000" y="3429000"/>
            <a:ext cx="8534400" cy="2971800"/>
          </a:xfrm>
        </p:spPr>
        <p:txBody>
          <a:bodyPr>
            <a:normAutofit/>
          </a:bodyPr>
          <a:lstStyle/>
          <a:p>
            <a:pPr lvl="1" eaLnBrk="0" hangingPunct="0">
              <a:buFont typeface="Arial" charset="0"/>
              <a:buChar char="–"/>
              <a:defRPr/>
            </a:pPr>
            <a:r>
              <a:rPr lang="en-US" kern="0" dirty="0"/>
              <a:t>Long-run equilibria along the long-run supply curve: P(Q) = AC = MC</a:t>
            </a:r>
          </a:p>
          <a:p>
            <a:pPr lvl="1" eaLnBrk="0" hangingPunct="0">
              <a:buFont typeface="Arial" charset="0"/>
              <a:buChar char="–"/>
              <a:defRPr/>
            </a:pPr>
            <a:r>
              <a:rPr lang="en-US" kern="0" dirty="0"/>
              <a:t>Maximizing total surplus with respect to </a:t>
            </a:r>
            <a:r>
              <a:rPr lang="en-US" i="1" kern="0" dirty="0"/>
              <a:t>Q</a:t>
            </a:r>
            <a:r>
              <a:rPr lang="en-US" kern="0" dirty="0"/>
              <a:t> yields: </a:t>
            </a:r>
            <a:r>
              <a:rPr lang="en-US" i="1" kern="0" dirty="0">
                <a:solidFill>
                  <a:srgbClr val="FF0000"/>
                </a:solidFill>
              </a:rPr>
              <a:t>U</a:t>
            </a:r>
            <a:r>
              <a:rPr lang="en-US" kern="0" dirty="0">
                <a:solidFill>
                  <a:srgbClr val="FF0000"/>
                </a:solidFill>
              </a:rPr>
              <a:t>’(</a:t>
            </a:r>
            <a:r>
              <a:rPr lang="en-US" i="1" kern="0" dirty="0">
                <a:solidFill>
                  <a:srgbClr val="FF0000"/>
                </a:solidFill>
              </a:rPr>
              <a:t>Q</a:t>
            </a:r>
            <a:r>
              <a:rPr lang="en-US" kern="0" dirty="0">
                <a:solidFill>
                  <a:srgbClr val="FF0000"/>
                </a:solidFill>
              </a:rPr>
              <a:t>) = </a:t>
            </a:r>
            <a:r>
              <a:rPr lang="en-US" i="1" kern="0" dirty="0">
                <a:solidFill>
                  <a:srgbClr val="FF0000"/>
                </a:solidFill>
              </a:rPr>
              <a:t>P</a:t>
            </a:r>
            <a:r>
              <a:rPr lang="en-US" kern="0" dirty="0">
                <a:solidFill>
                  <a:srgbClr val="FF0000"/>
                </a:solidFill>
              </a:rPr>
              <a:t>(</a:t>
            </a:r>
            <a:r>
              <a:rPr lang="en-US" i="1" kern="0" dirty="0">
                <a:solidFill>
                  <a:srgbClr val="FF0000"/>
                </a:solidFill>
              </a:rPr>
              <a:t>Q</a:t>
            </a:r>
            <a:r>
              <a:rPr lang="en-US" kern="0" dirty="0">
                <a:solidFill>
                  <a:srgbClr val="FF0000"/>
                </a:solidFill>
              </a:rPr>
              <a:t>) = </a:t>
            </a:r>
            <a:r>
              <a:rPr lang="en-US" i="1" kern="0" dirty="0">
                <a:solidFill>
                  <a:srgbClr val="FF0000"/>
                </a:solidFill>
              </a:rPr>
              <a:t>AC </a:t>
            </a:r>
            <a:r>
              <a:rPr lang="en-US" kern="0" dirty="0">
                <a:solidFill>
                  <a:srgbClr val="FF0000"/>
                </a:solidFill>
              </a:rPr>
              <a:t>= </a:t>
            </a:r>
            <a:r>
              <a:rPr lang="en-US" i="1" kern="0" dirty="0">
                <a:solidFill>
                  <a:srgbClr val="FF0000"/>
                </a:solidFill>
              </a:rPr>
              <a:t>MC</a:t>
            </a:r>
          </a:p>
          <a:p>
            <a:pPr algn="ctr" eaLnBrk="0" hangingPunct="0">
              <a:lnSpc>
                <a:spcPct val="120000"/>
              </a:lnSpc>
              <a:defRPr/>
            </a:pPr>
            <a:endParaRPr lang="en-US" sz="700" i="1" kern="0" dirty="0">
              <a:solidFill>
                <a:srgbClr val="7B332D"/>
              </a:solidFill>
            </a:endParaRPr>
          </a:p>
          <a:p>
            <a:pPr lvl="2" eaLnBrk="0" hangingPunct="0">
              <a:lnSpc>
                <a:spcPct val="120000"/>
              </a:lnSpc>
              <a:buSzPct val="90000"/>
              <a:buFontTx/>
              <a:buChar char="•"/>
              <a:defRPr/>
            </a:pPr>
            <a:r>
              <a:rPr lang="en-US" kern="0" dirty="0"/>
              <a:t>Market equilibrium</a:t>
            </a:r>
          </a:p>
          <a:p>
            <a:pPr lvl="1"/>
            <a:endParaRPr lang="en-US" dirty="0"/>
          </a:p>
        </p:txBody>
      </p:sp>
      <p:graphicFrame>
        <p:nvGraphicFramePr>
          <p:cNvPr id="67586" name="Object 2"/>
          <p:cNvGraphicFramePr>
            <a:graphicFrameLocks noChangeAspect="1"/>
          </p:cNvGraphicFramePr>
          <p:nvPr>
            <p:extLst>
              <p:ext uri="{D42A27DB-BD31-4B8C-83A1-F6EECF244321}">
                <p14:modId xmlns:p14="http://schemas.microsoft.com/office/powerpoint/2010/main" val="1987225371"/>
              </p:ext>
            </p:extLst>
          </p:nvPr>
        </p:nvGraphicFramePr>
        <p:xfrm>
          <a:off x="642938" y="1814513"/>
          <a:ext cx="7858125" cy="1614487"/>
        </p:xfrm>
        <a:graphic>
          <a:graphicData uri="http://schemas.openxmlformats.org/presentationml/2006/ole">
            <mc:AlternateContent xmlns:mc="http://schemas.openxmlformats.org/markup-compatibility/2006">
              <mc:Choice xmlns:v="urn:schemas-microsoft-com:vml" Requires="v">
                <p:oleObj spid="_x0000_s260110" name="Equation" r:id="rId3" imgW="3327120" imgH="685800" progId="Equation.DSMT4">
                  <p:embed/>
                </p:oleObj>
              </mc:Choice>
              <mc:Fallback>
                <p:oleObj name="Equation" r:id="rId3" imgW="3327120" imgH="685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938" y="1814513"/>
                        <a:ext cx="7858125" cy="1614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94299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7586"/>
                                        </p:tgtEl>
                                        <p:attrNameLst>
                                          <p:attrName>style.visibility</p:attrName>
                                        </p:attrNameLst>
                                      </p:cBhvr>
                                      <p:to>
                                        <p:strVal val="visible"/>
                                      </p:to>
                                    </p:set>
                                    <p:animEffect transition="in" filter="wipe(left)">
                                      <p:cBhvr>
                                        <p:cTn id="7" dur="500"/>
                                        <p:tgtEl>
                                          <p:spTgt spid="6758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12.6 	Welfare Loss Computations</a:t>
            </a:r>
          </a:p>
        </p:txBody>
      </p:sp>
      <p:sp>
        <p:nvSpPr>
          <p:cNvPr id="80901"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7E1B1A79-6BE5-4CA4-BEA7-AD8841BC20BC}" type="slidenum">
              <a:rPr lang="en-US" smtClean="0"/>
              <a:pPr>
                <a:defRPr/>
              </a:pPr>
              <a:t>69</a:t>
            </a:fld>
            <a:endParaRPr lang="en-US" dirty="0"/>
          </a:p>
        </p:txBody>
      </p:sp>
      <p:sp>
        <p:nvSpPr>
          <p:cNvPr id="80899" name="Content Placeholder 2"/>
          <p:cNvSpPr>
            <a:spLocks noGrp="1"/>
          </p:cNvSpPr>
          <p:nvPr>
            <p:ph type="body" sz="quarter" idx="12"/>
          </p:nvPr>
        </p:nvSpPr>
        <p:spPr>
          <a:prstGeom prst="rect">
            <a:avLst/>
          </a:prstGeom>
        </p:spPr>
        <p:txBody>
          <a:bodyPr/>
          <a:lstStyle/>
          <a:p>
            <a:r>
              <a:rPr lang="en-US" altLang="en-US" dirty="0" smtClean="0"/>
              <a:t>Demand and supply: </a:t>
            </a:r>
            <a:r>
              <a:rPr lang="en-US" altLang="en-US" sz="2800" i="1" dirty="0" smtClean="0">
                <a:solidFill>
                  <a:srgbClr val="FF0000"/>
                </a:solidFill>
              </a:rPr>
              <a:t>Q</a:t>
            </a:r>
            <a:r>
              <a:rPr lang="en-US" altLang="en-US" sz="2800" i="1" baseline="-25000" dirty="0" smtClean="0">
                <a:solidFill>
                  <a:srgbClr val="FF0000"/>
                </a:solidFill>
              </a:rPr>
              <a:t>D</a:t>
            </a:r>
            <a:r>
              <a:rPr lang="en-US" altLang="en-US" sz="2800" dirty="0" smtClean="0">
                <a:solidFill>
                  <a:srgbClr val="FF0000"/>
                </a:solidFill>
              </a:rPr>
              <a:t> = 10 – </a:t>
            </a:r>
            <a:r>
              <a:rPr lang="en-US" altLang="en-US" sz="2800" i="1" dirty="0" smtClean="0">
                <a:solidFill>
                  <a:srgbClr val="FF0000"/>
                </a:solidFill>
              </a:rPr>
              <a:t>P; </a:t>
            </a:r>
            <a:r>
              <a:rPr lang="en-US" altLang="en-US" sz="2800" dirty="0" smtClean="0"/>
              <a:t> </a:t>
            </a:r>
            <a:r>
              <a:rPr lang="en-US" altLang="en-US" sz="2800" i="1" dirty="0" smtClean="0">
                <a:solidFill>
                  <a:srgbClr val="FF0000"/>
                </a:solidFill>
              </a:rPr>
              <a:t>Q</a:t>
            </a:r>
            <a:r>
              <a:rPr lang="en-US" altLang="en-US" sz="2800" i="1" baseline="-25000" dirty="0" smtClean="0">
                <a:solidFill>
                  <a:srgbClr val="FF0000"/>
                </a:solidFill>
              </a:rPr>
              <a:t>S</a:t>
            </a:r>
            <a:r>
              <a:rPr lang="en-US" altLang="en-US" sz="2800" dirty="0" smtClean="0">
                <a:solidFill>
                  <a:srgbClr val="FF0000"/>
                </a:solidFill>
              </a:rPr>
              <a:t> = </a:t>
            </a:r>
            <a:r>
              <a:rPr lang="en-US" altLang="en-US" sz="2800" i="1" dirty="0" smtClean="0">
                <a:solidFill>
                  <a:srgbClr val="FF0000"/>
                </a:solidFill>
              </a:rPr>
              <a:t>P</a:t>
            </a:r>
            <a:r>
              <a:rPr lang="en-US" altLang="en-US" sz="2800" dirty="0" smtClean="0">
                <a:solidFill>
                  <a:srgbClr val="FF0000"/>
                </a:solidFill>
              </a:rPr>
              <a:t> - 2</a:t>
            </a:r>
          </a:p>
          <a:p>
            <a:pPr lvl="1"/>
            <a:r>
              <a:rPr lang="en-US" altLang="en-US" dirty="0" smtClean="0"/>
              <a:t>Market equilibrium: </a:t>
            </a:r>
            <a:r>
              <a:rPr lang="en-US" altLang="en-US" i="1" dirty="0" smtClean="0"/>
              <a:t>P</a:t>
            </a:r>
            <a:r>
              <a:rPr lang="en-US" altLang="en-US" dirty="0" smtClean="0"/>
              <a:t>* = 6 and </a:t>
            </a:r>
            <a:r>
              <a:rPr lang="en-US" altLang="en-US" i="1" dirty="0" smtClean="0"/>
              <a:t>Q</a:t>
            </a:r>
            <a:r>
              <a:rPr lang="en-US" altLang="en-US" dirty="0" smtClean="0"/>
              <a:t>* = 4</a:t>
            </a:r>
          </a:p>
          <a:p>
            <a:pPr lvl="1"/>
            <a:r>
              <a:rPr lang="en-US" altLang="en-US" dirty="0" smtClean="0"/>
              <a:t>Restriction of output to </a:t>
            </a:r>
            <a:r>
              <a:rPr lang="en-US" altLang="en-US" i="1" dirty="0" smtClean="0"/>
              <a:t>Q</a:t>
            </a:r>
            <a:r>
              <a:rPr lang="en-US" altLang="en-US" dirty="0" smtClean="0"/>
              <a:t>=3</a:t>
            </a:r>
          </a:p>
          <a:p>
            <a:pPr lvl="2"/>
            <a:r>
              <a:rPr lang="en-US" altLang="en-US" dirty="0" smtClean="0"/>
              <a:t>Gap: </a:t>
            </a:r>
            <a:r>
              <a:rPr lang="en-US" altLang="en-US" i="1" dirty="0" smtClean="0"/>
              <a:t>P</a:t>
            </a:r>
            <a:r>
              <a:rPr lang="en-US" altLang="en-US" i="1" baseline="-25000" dirty="0" smtClean="0"/>
              <a:t>D</a:t>
            </a:r>
            <a:r>
              <a:rPr lang="en-US" altLang="en-US" dirty="0" smtClean="0"/>
              <a:t> = 7, </a:t>
            </a:r>
            <a:r>
              <a:rPr lang="en-US" altLang="en-US" i="1" dirty="0" smtClean="0"/>
              <a:t>P</a:t>
            </a:r>
            <a:r>
              <a:rPr lang="en-US" altLang="en-US" i="1" baseline="-25000" dirty="0" smtClean="0"/>
              <a:t>S</a:t>
            </a:r>
            <a:r>
              <a:rPr lang="en-US" altLang="en-US" dirty="0" smtClean="0"/>
              <a:t> = 5</a:t>
            </a:r>
          </a:p>
          <a:p>
            <a:pPr lvl="2"/>
            <a:r>
              <a:rPr lang="en-US" altLang="en-US" dirty="0" smtClean="0"/>
              <a:t>Welfare loss from restricting transactions = $1</a:t>
            </a:r>
          </a:p>
          <a:p>
            <a:r>
              <a:rPr lang="en-US" altLang="en-US" dirty="0" smtClean="0"/>
              <a:t>Demand and supply: </a:t>
            </a:r>
            <a:r>
              <a:rPr lang="en-US" altLang="en-US" sz="2800" i="1" dirty="0" smtClean="0">
                <a:solidFill>
                  <a:srgbClr val="FF0000"/>
                </a:solidFill>
              </a:rPr>
              <a:t>Q</a:t>
            </a:r>
            <a:r>
              <a:rPr lang="en-US" altLang="en-US" sz="2800" i="1" baseline="-25000" dirty="0" smtClean="0">
                <a:solidFill>
                  <a:srgbClr val="FF0000"/>
                </a:solidFill>
              </a:rPr>
              <a:t>D</a:t>
            </a:r>
            <a:r>
              <a:rPr lang="en-US" altLang="en-US" sz="2800" dirty="0" smtClean="0">
                <a:solidFill>
                  <a:srgbClr val="FF0000"/>
                </a:solidFill>
              </a:rPr>
              <a:t> = 200</a:t>
            </a:r>
            <a:r>
              <a:rPr lang="en-US" altLang="en-US" sz="2800" i="1" dirty="0" smtClean="0">
                <a:solidFill>
                  <a:srgbClr val="FF0000"/>
                </a:solidFill>
              </a:rPr>
              <a:t>P </a:t>
            </a:r>
            <a:r>
              <a:rPr lang="en-US" altLang="en-US" sz="2800" i="1" baseline="30000" dirty="0" smtClean="0">
                <a:solidFill>
                  <a:srgbClr val="FF0000"/>
                </a:solidFill>
              </a:rPr>
              <a:t>-1.2</a:t>
            </a:r>
            <a:r>
              <a:rPr lang="en-US" altLang="en-US" sz="2800" dirty="0" smtClean="0">
                <a:solidFill>
                  <a:srgbClr val="FF0000"/>
                </a:solidFill>
              </a:rPr>
              <a:t>; </a:t>
            </a:r>
            <a:r>
              <a:rPr lang="en-US" altLang="en-US" sz="2800" i="1" dirty="0" smtClean="0">
                <a:solidFill>
                  <a:srgbClr val="FF0000"/>
                </a:solidFill>
              </a:rPr>
              <a:t>Q</a:t>
            </a:r>
            <a:r>
              <a:rPr lang="en-US" altLang="en-US" sz="2800" i="1" baseline="-25000" dirty="0" smtClean="0">
                <a:solidFill>
                  <a:srgbClr val="FF0000"/>
                </a:solidFill>
              </a:rPr>
              <a:t>S</a:t>
            </a:r>
            <a:r>
              <a:rPr lang="en-US" altLang="en-US" sz="2800" dirty="0" smtClean="0">
                <a:solidFill>
                  <a:srgbClr val="FF0000"/>
                </a:solidFill>
              </a:rPr>
              <a:t> = 1.3</a:t>
            </a:r>
            <a:r>
              <a:rPr lang="en-US" altLang="en-US" sz="2800" i="1" dirty="0" smtClean="0">
                <a:solidFill>
                  <a:srgbClr val="FF0000"/>
                </a:solidFill>
              </a:rPr>
              <a:t>P</a:t>
            </a:r>
            <a:endParaRPr lang="en-US" altLang="en-US" sz="2800" dirty="0" smtClean="0">
              <a:solidFill>
                <a:srgbClr val="FF0000"/>
              </a:solidFill>
            </a:endParaRPr>
          </a:p>
          <a:p>
            <a:pPr lvl="1"/>
            <a:r>
              <a:rPr lang="en-US" altLang="en-US" dirty="0" smtClean="0"/>
              <a:t>Market equilibrium: </a:t>
            </a:r>
            <a:r>
              <a:rPr lang="en-US" altLang="en-US" i="1" dirty="0" smtClean="0"/>
              <a:t>P</a:t>
            </a:r>
            <a:r>
              <a:rPr lang="en-US" altLang="en-US" dirty="0" smtClean="0"/>
              <a:t>* = 9.87 and </a:t>
            </a:r>
            <a:r>
              <a:rPr lang="en-US" altLang="en-US" i="1" dirty="0" smtClean="0"/>
              <a:t>Q</a:t>
            </a:r>
            <a:r>
              <a:rPr lang="en-US" altLang="en-US" dirty="0" smtClean="0"/>
              <a:t>* = 12.8</a:t>
            </a:r>
          </a:p>
          <a:p>
            <a:pPr lvl="1"/>
            <a:r>
              <a:rPr lang="en-US" altLang="en-US" dirty="0" smtClean="0"/>
              <a:t>Restriction of output to </a:t>
            </a:r>
            <a:r>
              <a:rPr lang="en-US" altLang="en-US" i="1" dirty="0" smtClean="0"/>
              <a:t>Q</a:t>
            </a:r>
            <a:r>
              <a:rPr lang="en-US" altLang="en-US" dirty="0" smtClean="0"/>
              <a:t>=11</a:t>
            </a:r>
          </a:p>
          <a:p>
            <a:pPr lvl="2"/>
            <a:r>
              <a:rPr lang="en-US" altLang="en-US" dirty="0" smtClean="0"/>
              <a:t>Gap: </a:t>
            </a:r>
            <a:r>
              <a:rPr lang="en-US" altLang="en-US" i="1" dirty="0" smtClean="0"/>
              <a:t>P</a:t>
            </a:r>
            <a:r>
              <a:rPr lang="en-US" altLang="en-US" i="1" baseline="-25000" dirty="0" smtClean="0"/>
              <a:t>D</a:t>
            </a:r>
            <a:r>
              <a:rPr lang="en-US" altLang="en-US" dirty="0" smtClean="0"/>
              <a:t> = 11.1, </a:t>
            </a:r>
            <a:r>
              <a:rPr lang="en-US" altLang="en-US" i="1" dirty="0" smtClean="0"/>
              <a:t>P</a:t>
            </a:r>
            <a:r>
              <a:rPr lang="en-US" altLang="en-US" i="1" baseline="-25000" dirty="0" smtClean="0"/>
              <a:t>S</a:t>
            </a:r>
            <a:r>
              <a:rPr lang="en-US" altLang="en-US" dirty="0" smtClean="0"/>
              <a:t> = 8.46</a:t>
            </a:r>
          </a:p>
          <a:p>
            <a:pPr lvl="2"/>
            <a:r>
              <a:rPr lang="en-US" altLang="en-US" dirty="0" smtClean="0"/>
              <a:t>Welfare loss from restricting transactions = 2.4 (billion </a:t>
            </a:r>
            <a:r>
              <a:rPr lang="en-US" altLang="en-US" dirty="0" smtClean="0"/>
              <a:t>dollars</a:t>
            </a:r>
            <a:r>
              <a:rPr lang="en-US" altLang="en-US" dirty="0"/>
              <a:t>)</a:t>
            </a:r>
            <a:endParaRPr lang="en-US" altLang="en-US" dirty="0" smtClean="0"/>
          </a:p>
        </p:txBody>
      </p:sp>
    </p:spTree>
    <p:extLst>
      <p:ext uri="{BB962C8B-B14F-4D97-AF65-F5344CB8AC3E}">
        <p14:creationId xmlns:p14="http://schemas.microsoft.com/office/powerpoint/2010/main" val="42705917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en-US" smtClean="0"/>
              <a:t>Price Controls and Shortages</a:t>
            </a:r>
          </a:p>
        </p:txBody>
      </p:sp>
      <p:sp>
        <p:nvSpPr>
          <p:cNvPr id="81923" name="Rectangle 3"/>
          <p:cNvSpPr>
            <a:spLocks noGrp="1" noChangeArrowheads="1"/>
          </p:cNvSpPr>
          <p:nvPr>
            <p:ph idx="1"/>
          </p:nvPr>
        </p:nvSpPr>
        <p:spPr/>
        <p:txBody>
          <a:bodyPr/>
          <a:lstStyle/>
          <a:p>
            <a:r>
              <a:rPr lang="en-US" altLang="en-US" smtClean="0"/>
              <a:t>Governments - to control prices at below equilibrium levels</a:t>
            </a:r>
          </a:p>
          <a:p>
            <a:pPr lvl="1"/>
            <a:r>
              <a:rPr lang="en-US" altLang="en-US" smtClean="0"/>
              <a:t>Leads to a shortage</a:t>
            </a:r>
          </a:p>
          <a:p>
            <a:pPr lvl="1"/>
            <a:r>
              <a:rPr lang="en-US" altLang="en-US" smtClean="0"/>
              <a:t>Changes in producer and consumer surplus</a:t>
            </a:r>
          </a:p>
          <a:p>
            <a:pPr lvl="2"/>
            <a:r>
              <a:rPr lang="en-US" altLang="en-US" smtClean="0"/>
              <a:t>Impact on welfare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30E76F8-0F89-4C99-86BB-AACF61B661E8}" type="slidenum">
              <a:rPr lang="en-US" smtClean="0"/>
              <a:pPr>
                <a:defRPr/>
              </a:pPr>
              <a:t>70</a:t>
            </a:fld>
            <a:endParaRPr lang="en-US"/>
          </a:p>
        </p:txBody>
      </p:sp>
    </p:spTree>
    <p:extLst>
      <p:ext uri="{BB962C8B-B14F-4D97-AF65-F5344CB8AC3E}">
        <p14:creationId xmlns:p14="http://schemas.microsoft.com/office/powerpoint/2010/main" val="394253220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Isosceles Triangle 61"/>
          <p:cNvSpPr/>
          <p:nvPr/>
        </p:nvSpPr>
        <p:spPr bwMode="auto">
          <a:xfrm rot="5400000">
            <a:off x="3405981" y="1300957"/>
            <a:ext cx="1627187" cy="781050"/>
          </a:xfrm>
          <a:prstGeom prst="triangle">
            <a:avLst>
              <a:gd name="adj" fmla="val 49861"/>
            </a:avLst>
          </a:pr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wrap="none" anchor="ctr"/>
          <a:lstStyle/>
          <a:p>
            <a:pPr marL="342900" indent="-342900" algn="ctr">
              <a:spcBef>
                <a:spcPct val="20000"/>
              </a:spcBef>
              <a:buFontTx/>
              <a:buChar char="•"/>
              <a:defRPr/>
            </a:pPr>
            <a:endParaRPr lang="en-US">
              <a:latin typeface="Arial" pitchFamily="34" charset="0"/>
            </a:endParaRPr>
          </a:p>
        </p:txBody>
      </p:sp>
      <p:sp>
        <p:nvSpPr>
          <p:cNvPr id="63" name="Rectangle 62"/>
          <p:cNvSpPr/>
          <p:nvPr/>
        </p:nvSpPr>
        <p:spPr bwMode="auto">
          <a:xfrm>
            <a:off x="1995487" y="2155825"/>
            <a:ext cx="1828800" cy="357188"/>
          </a:xfrm>
          <a:prstGeom prst="rect">
            <a:avLst/>
          </a:prstGeom>
          <a:solidFill>
            <a:schemeClr val="accent2">
              <a:lumMod val="40000"/>
              <a:lumOff val="60000"/>
            </a:schemeClr>
          </a:solidFill>
          <a:ln w="9525" cap="flat" cmpd="sng" algn="ctr">
            <a:solidFill>
              <a:schemeClr val="accent2">
                <a:lumMod val="40000"/>
                <a:lumOff val="60000"/>
              </a:schemeClr>
            </a:solidFill>
            <a:prstDash val="solid"/>
            <a:round/>
            <a:headEnd type="none" w="med" len="med"/>
            <a:tailEnd type="none" w="med" len="med"/>
          </a:ln>
          <a:effectLst/>
        </p:spPr>
        <p:txBody>
          <a:bodyPr wrap="none" anchor="ctr"/>
          <a:lstStyle/>
          <a:p>
            <a:pPr marL="342900" indent="-342900" algn="ctr">
              <a:spcBef>
                <a:spcPct val="20000"/>
              </a:spcBef>
              <a:buFontTx/>
              <a:buChar char="•"/>
              <a:defRPr/>
            </a:pPr>
            <a:endParaRPr lang="en-US">
              <a:latin typeface="Arial" pitchFamily="34" charset="0"/>
            </a:endParaRPr>
          </a:p>
        </p:txBody>
      </p:sp>
      <p:sp>
        <p:nvSpPr>
          <p:cNvPr id="8294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12.13	Price Controls and </a:t>
            </a:r>
            <a:r>
              <a:rPr lang="en-US" altLang="en-US" dirty="0" smtClean="0"/>
              <a:t>Shortages</a:t>
            </a:r>
            <a:endParaRPr lang="en-US" altLang="en-US" dirty="0" smtClean="0"/>
          </a:p>
        </p:txBody>
      </p:sp>
      <p:sp>
        <p:nvSpPr>
          <p:cNvPr id="82949" name="Text Placeholder 2"/>
          <p:cNvSpPr>
            <a:spLocks noGrp="1"/>
          </p:cNvSpPr>
          <p:nvPr>
            <p:ph sz="half" idx="1"/>
          </p:nvPr>
        </p:nvSpPr>
        <p:spPr>
          <a:xfrm>
            <a:off x="0" y="4862512"/>
            <a:ext cx="9144000" cy="1538287"/>
          </a:xfrm>
        </p:spPr>
        <p:txBody>
          <a:bodyPr>
            <a:noAutofit/>
          </a:bodyPr>
          <a:lstStyle/>
          <a:p>
            <a:pPr>
              <a:spcBef>
                <a:spcPct val="0"/>
              </a:spcBef>
            </a:pPr>
            <a:r>
              <a:rPr lang="en-US" altLang="en-US" dirty="0"/>
              <a:t>A shift in demand from D to D’ would increase price to P</a:t>
            </a:r>
            <a:r>
              <a:rPr lang="en-US" altLang="en-US" baseline="-25000" dirty="0"/>
              <a:t>2</a:t>
            </a:r>
            <a:r>
              <a:rPr lang="en-US" altLang="en-US" dirty="0"/>
              <a:t> in the short run. Entry over the long run would yield a final equilibrium of P</a:t>
            </a:r>
            <a:r>
              <a:rPr lang="en-US" altLang="en-US" baseline="-25000" dirty="0"/>
              <a:t>3</a:t>
            </a:r>
            <a:r>
              <a:rPr lang="en-US" altLang="en-US" dirty="0"/>
              <a:t>, Q</a:t>
            </a:r>
            <a:r>
              <a:rPr lang="en-US" altLang="en-US" baseline="-25000" dirty="0"/>
              <a:t>3</a:t>
            </a:r>
            <a:r>
              <a:rPr lang="en-US" altLang="en-US" dirty="0"/>
              <a:t>. Controlling the price at P</a:t>
            </a:r>
            <a:r>
              <a:rPr lang="en-US" altLang="en-US" baseline="-25000" dirty="0"/>
              <a:t>1</a:t>
            </a:r>
            <a:r>
              <a:rPr lang="en-US" altLang="en-US" dirty="0"/>
              <a:t> would prevent these actions and yield a shortage of Q</a:t>
            </a:r>
            <a:r>
              <a:rPr lang="en-US" altLang="en-US" baseline="-25000" dirty="0"/>
              <a:t>4</a:t>
            </a:r>
            <a:r>
              <a:rPr lang="en-US" altLang="en-US" dirty="0"/>
              <a:t> - Q</a:t>
            </a:r>
            <a:r>
              <a:rPr lang="en-US" altLang="en-US" baseline="-25000" dirty="0"/>
              <a:t>1</a:t>
            </a:r>
            <a:r>
              <a:rPr lang="en-US" altLang="en-US" dirty="0"/>
              <a:t>. Relative to the uncontrolled situation, the price control yields a transfer from producers to consumers (area P</a:t>
            </a:r>
            <a:r>
              <a:rPr lang="en-US" altLang="en-US" baseline="-25000" dirty="0"/>
              <a:t>3</a:t>
            </a:r>
            <a:r>
              <a:rPr lang="en-US" altLang="en-US" dirty="0"/>
              <a:t>CEP</a:t>
            </a:r>
            <a:r>
              <a:rPr lang="en-US" altLang="en-US" baseline="-25000" dirty="0"/>
              <a:t>1</a:t>
            </a:r>
            <a:r>
              <a:rPr lang="en-US" altLang="en-US" dirty="0"/>
              <a:t>) and a deadweight loss of forgone transactions given by the two areas AE’C and CE’E.</a:t>
            </a:r>
          </a:p>
          <a:p>
            <a:pPr>
              <a:spcBef>
                <a:spcPct val="0"/>
              </a:spcBef>
            </a:pPr>
            <a:endParaRPr lang="en-US" altLang="en-US" dirty="0" smtClean="0"/>
          </a:p>
        </p:txBody>
      </p:sp>
      <p:sp>
        <p:nvSpPr>
          <p:cNvPr id="82952"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D98B2FAB-C4C8-4C6D-96F4-AEC20DC2C4DD}" type="slidenum">
              <a:rPr lang="en-US" smtClean="0"/>
              <a:pPr>
                <a:defRPr/>
              </a:pPr>
              <a:t>71</a:t>
            </a:fld>
            <a:endParaRPr lang="en-US" dirty="0"/>
          </a:p>
        </p:txBody>
      </p:sp>
      <p:grpSp>
        <p:nvGrpSpPr>
          <p:cNvPr id="21" name="Group 35"/>
          <p:cNvGrpSpPr>
            <a:grpSpLocks/>
          </p:cNvGrpSpPr>
          <p:nvPr/>
        </p:nvGrpSpPr>
        <p:grpSpPr bwMode="auto">
          <a:xfrm>
            <a:off x="1225550" y="776287"/>
            <a:ext cx="7004050" cy="3933826"/>
            <a:chOff x="981892" y="1281384"/>
            <a:chExt cx="7004050" cy="3933826"/>
          </a:xfrm>
        </p:grpSpPr>
        <p:grpSp>
          <p:nvGrpSpPr>
            <p:cNvPr id="82999" name="Group 34"/>
            <p:cNvGrpSpPr>
              <a:grpSpLocks/>
            </p:cNvGrpSpPr>
            <p:nvPr/>
          </p:nvGrpSpPr>
          <p:grpSpPr bwMode="auto">
            <a:xfrm>
              <a:off x="1743892" y="4848497"/>
              <a:ext cx="6242050" cy="366713"/>
              <a:chOff x="1743892" y="4848497"/>
              <a:chExt cx="6242050" cy="366713"/>
            </a:xfrm>
          </p:grpSpPr>
          <p:sp>
            <p:nvSpPr>
              <p:cNvPr id="83003" name="Line 4"/>
              <p:cNvSpPr>
                <a:spLocks noChangeShapeType="1"/>
              </p:cNvSpPr>
              <p:nvPr/>
            </p:nvSpPr>
            <p:spPr bwMode="auto">
              <a:xfrm>
                <a:off x="1743892" y="5000897"/>
                <a:ext cx="4114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04" name="Text Box 5"/>
              <p:cNvSpPr txBox="1">
                <a:spLocks noChangeArrowheads="1"/>
              </p:cNvSpPr>
              <p:nvPr/>
            </p:nvSpPr>
            <p:spPr bwMode="auto">
              <a:xfrm>
                <a:off x="5858692" y="4848497"/>
                <a:ext cx="2127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 per period</a:t>
                </a:r>
              </a:p>
            </p:txBody>
          </p:sp>
        </p:grpSp>
        <p:grpSp>
          <p:nvGrpSpPr>
            <p:cNvPr id="83000" name="Group 30"/>
            <p:cNvGrpSpPr>
              <a:grpSpLocks/>
            </p:cNvGrpSpPr>
            <p:nvPr/>
          </p:nvGrpSpPr>
          <p:grpSpPr bwMode="auto">
            <a:xfrm>
              <a:off x="981892" y="1281384"/>
              <a:ext cx="762000" cy="3719513"/>
              <a:chOff x="981892" y="1281384"/>
              <a:chExt cx="762000" cy="3719513"/>
            </a:xfrm>
          </p:grpSpPr>
          <p:sp>
            <p:nvSpPr>
              <p:cNvPr id="83001" name="Line 3"/>
              <p:cNvSpPr>
                <a:spLocks noChangeShapeType="1"/>
              </p:cNvSpPr>
              <p:nvPr/>
            </p:nvSpPr>
            <p:spPr bwMode="auto">
              <a:xfrm>
                <a:off x="1743892" y="1343297"/>
                <a:ext cx="0" cy="3657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002" name="Text Box 6"/>
              <p:cNvSpPr txBox="1">
                <a:spLocks noChangeArrowheads="1"/>
              </p:cNvSpPr>
              <p:nvPr/>
            </p:nvSpPr>
            <p:spPr bwMode="auto">
              <a:xfrm>
                <a:off x="981892" y="1281384"/>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Price</a:t>
                </a:r>
              </a:p>
            </p:txBody>
          </p:sp>
        </p:grpSp>
      </p:grpSp>
      <p:grpSp>
        <p:nvGrpSpPr>
          <p:cNvPr id="28" name="Group 57"/>
          <p:cNvGrpSpPr>
            <a:grpSpLocks/>
          </p:cNvGrpSpPr>
          <p:nvPr/>
        </p:nvGrpSpPr>
        <p:grpSpPr bwMode="auto">
          <a:xfrm>
            <a:off x="2520950" y="533400"/>
            <a:ext cx="2971800" cy="3351213"/>
            <a:chOff x="2277292" y="1038497"/>
            <a:chExt cx="2971800" cy="3351213"/>
          </a:xfrm>
        </p:grpSpPr>
        <p:sp>
          <p:nvSpPr>
            <p:cNvPr id="82997" name="Line 7"/>
            <p:cNvSpPr>
              <a:spLocks noChangeShapeType="1"/>
            </p:cNvSpPr>
            <p:nvPr/>
          </p:nvSpPr>
          <p:spPr bwMode="auto">
            <a:xfrm flipV="1">
              <a:off x="2277292" y="1267097"/>
              <a:ext cx="2971800" cy="3122613"/>
            </a:xfrm>
            <a:prstGeom prst="line">
              <a:avLst/>
            </a:prstGeom>
            <a:noFill/>
            <a:ln w="28575">
              <a:solidFill>
                <a:srgbClr val="5D0D8F"/>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82998" name="Text Box 8"/>
            <p:cNvSpPr txBox="1">
              <a:spLocks noChangeArrowheads="1"/>
            </p:cNvSpPr>
            <p:nvPr/>
          </p:nvSpPr>
          <p:spPr bwMode="auto">
            <a:xfrm>
              <a:off x="4715692" y="1038497"/>
              <a:ext cx="454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SS</a:t>
              </a:r>
            </a:p>
          </p:txBody>
        </p:sp>
      </p:grpSp>
      <p:grpSp>
        <p:nvGrpSpPr>
          <p:cNvPr id="31" name="Group 59"/>
          <p:cNvGrpSpPr>
            <a:grpSpLocks/>
          </p:cNvGrpSpPr>
          <p:nvPr/>
        </p:nvGrpSpPr>
        <p:grpSpPr bwMode="auto">
          <a:xfrm>
            <a:off x="2520950" y="1219200"/>
            <a:ext cx="3073400" cy="3003550"/>
            <a:chOff x="2277292" y="1724297"/>
            <a:chExt cx="3073400" cy="3003550"/>
          </a:xfrm>
        </p:grpSpPr>
        <p:sp>
          <p:nvSpPr>
            <p:cNvPr id="82995" name="Line 9"/>
            <p:cNvSpPr>
              <a:spLocks noChangeShapeType="1"/>
            </p:cNvSpPr>
            <p:nvPr/>
          </p:nvSpPr>
          <p:spPr bwMode="auto">
            <a:xfrm>
              <a:off x="2277292" y="1724297"/>
              <a:ext cx="2743200" cy="2743200"/>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96" name="Text Box 10"/>
            <p:cNvSpPr txBox="1">
              <a:spLocks noChangeArrowheads="1"/>
            </p:cNvSpPr>
            <p:nvPr/>
          </p:nvSpPr>
          <p:spPr bwMode="auto">
            <a:xfrm>
              <a:off x="5020492" y="4391297"/>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D</a:t>
              </a:r>
            </a:p>
          </p:txBody>
        </p:sp>
      </p:grpSp>
      <p:grpSp>
        <p:nvGrpSpPr>
          <p:cNvPr id="32" name="Group 60"/>
          <p:cNvGrpSpPr>
            <a:grpSpLocks/>
          </p:cNvGrpSpPr>
          <p:nvPr/>
        </p:nvGrpSpPr>
        <p:grpSpPr bwMode="auto">
          <a:xfrm>
            <a:off x="2368550" y="1752600"/>
            <a:ext cx="4024312" cy="1219200"/>
            <a:chOff x="2124892" y="2257697"/>
            <a:chExt cx="4024313" cy="1219200"/>
          </a:xfrm>
        </p:grpSpPr>
        <p:sp>
          <p:nvSpPr>
            <p:cNvPr id="82993" name="Line 11"/>
            <p:cNvSpPr>
              <a:spLocks noChangeShapeType="1"/>
            </p:cNvSpPr>
            <p:nvPr/>
          </p:nvSpPr>
          <p:spPr bwMode="auto">
            <a:xfrm flipV="1">
              <a:off x="2124892" y="2410097"/>
              <a:ext cx="3581400" cy="1066800"/>
            </a:xfrm>
            <a:prstGeom prst="line">
              <a:avLst/>
            </a:prstGeom>
            <a:noFill/>
            <a:ln w="28575">
              <a:solidFill>
                <a:srgbClr val="DC00DC"/>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82994" name="Text Box 12"/>
            <p:cNvSpPr txBox="1">
              <a:spLocks noChangeArrowheads="1"/>
            </p:cNvSpPr>
            <p:nvPr/>
          </p:nvSpPr>
          <p:spPr bwMode="auto">
            <a:xfrm>
              <a:off x="5706292" y="2257697"/>
              <a:ext cx="4429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DC00DC"/>
                  </a:solidFill>
                </a:rPr>
                <a:t>LS</a:t>
              </a:r>
            </a:p>
          </p:txBody>
        </p:sp>
      </p:grpSp>
      <p:grpSp>
        <p:nvGrpSpPr>
          <p:cNvPr id="35" name="Group 38"/>
          <p:cNvGrpSpPr>
            <a:grpSpLocks/>
          </p:cNvGrpSpPr>
          <p:nvPr/>
        </p:nvGrpSpPr>
        <p:grpSpPr bwMode="auto">
          <a:xfrm>
            <a:off x="1530350" y="2378075"/>
            <a:ext cx="2286000" cy="304800"/>
            <a:chOff x="1286692" y="2883172"/>
            <a:chExt cx="2286000" cy="304800"/>
          </a:xfrm>
        </p:grpSpPr>
        <p:sp>
          <p:nvSpPr>
            <p:cNvPr id="82991" name="Line 13"/>
            <p:cNvSpPr>
              <a:spLocks noChangeShapeType="1"/>
            </p:cNvSpPr>
            <p:nvPr/>
          </p:nvSpPr>
          <p:spPr bwMode="auto">
            <a:xfrm flipH="1">
              <a:off x="1743892" y="3019697"/>
              <a:ext cx="18288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92" name="Text Box 15"/>
            <p:cNvSpPr txBox="1">
              <a:spLocks noChangeArrowheads="1"/>
            </p:cNvSpPr>
            <p:nvPr/>
          </p:nvSpPr>
          <p:spPr bwMode="auto">
            <a:xfrm>
              <a:off x="1286692" y="2883172"/>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a:t>
              </a:r>
              <a:r>
                <a:rPr lang="en-US" altLang="en-US" sz="1800" baseline="-25000"/>
                <a:t>1</a:t>
              </a:r>
              <a:endParaRPr lang="en-US" altLang="en-US" sz="1800"/>
            </a:p>
          </p:txBody>
        </p:sp>
      </p:grpSp>
      <p:grpSp>
        <p:nvGrpSpPr>
          <p:cNvPr id="36" name="Group 39"/>
          <p:cNvGrpSpPr>
            <a:grpSpLocks/>
          </p:cNvGrpSpPr>
          <p:nvPr/>
        </p:nvGrpSpPr>
        <p:grpSpPr bwMode="auto">
          <a:xfrm>
            <a:off x="3663950" y="2514600"/>
            <a:ext cx="385762" cy="2301875"/>
            <a:chOff x="3420292" y="3019697"/>
            <a:chExt cx="385763" cy="2301875"/>
          </a:xfrm>
        </p:grpSpPr>
        <p:sp>
          <p:nvSpPr>
            <p:cNvPr id="82989" name="Line 14"/>
            <p:cNvSpPr>
              <a:spLocks noChangeShapeType="1"/>
            </p:cNvSpPr>
            <p:nvPr/>
          </p:nvSpPr>
          <p:spPr bwMode="auto">
            <a:xfrm>
              <a:off x="3572692" y="3019697"/>
              <a:ext cx="0" cy="19812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82990" name="Text Box 16"/>
            <p:cNvSpPr txBox="1">
              <a:spLocks noChangeArrowheads="1"/>
            </p:cNvSpPr>
            <p:nvPr/>
          </p:nvSpPr>
          <p:spPr bwMode="auto">
            <a:xfrm>
              <a:off x="3420292" y="5016772"/>
              <a:ext cx="385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r>
                <a:rPr lang="en-US" altLang="en-US" sz="1800" baseline="-25000"/>
                <a:t>1</a:t>
              </a:r>
              <a:endParaRPr lang="en-US" altLang="en-US" sz="1800"/>
            </a:p>
          </p:txBody>
        </p:sp>
      </p:grpSp>
      <p:grpSp>
        <p:nvGrpSpPr>
          <p:cNvPr id="37" name="Group 58"/>
          <p:cNvGrpSpPr>
            <a:grpSpLocks/>
          </p:cNvGrpSpPr>
          <p:nvPr/>
        </p:nvGrpSpPr>
        <p:grpSpPr bwMode="auto">
          <a:xfrm>
            <a:off x="3652837" y="685800"/>
            <a:ext cx="2901950" cy="2851150"/>
            <a:chOff x="3409180" y="1190897"/>
            <a:chExt cx="2901950" cy="2851150"/>
          </a:xfrm>
        </p:grpSpPr>
        <p:sp>
          <p:nvSpPr>
            <p:cNvPr id="82987" name="Line 20"/>
            <p:cNvSpPr>
              <a:spLocks noChangeShapeType="1"/>
            </p:cNvSpPr>
            <p:nvPr/>
          </p:nvSpPr>
          <p:spPr bwMode="auto">
            <a:xfrm>
              <a:off x="3409180" y="1190897"/>
              <a:ext cx="2514600" cy="2667000"/>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88" name="Text Box 21"/>
            <p:cNvSpPr txBox="1">
              <a:spLocks noChangeArrowheads="1"/>
            </p:cNvSpPr>
            <p:nvPr/>
          </p:nvSpPr>
          <p:spPr bwMode="auto">
            <a:xfrm>
              <a:off x="5923780" y="3705497"/>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D’</a:t>
              </a:r>
            </a:p>
          </p:txBody>
        </p:sp>
      </p:grpSp>
      <p:grpSp>
        <p:nvGrpSpPr>
          <p:cNvPr id="38" name="Group 36"/>
          <p:cNvGrpSpPr>
            <a:grpSpLocks/>
          </p:cNvGrpSpPr>
          <p:nvPr/>
        </p:nvGrpSpPr>
        <p:grpSpPr bwMode="auto">
          <a:xfrm>
            <a:off x="1530350" y="1565275"/>
            <a:ext cx="3033712" cy="304800"/>
            <a:chOff x="1286692" y="2081972"/>
            <a:chExt cx="3034943" cy="304800"/>
          </a:xfrm>
        </p:grpSpPr>
        <p:sp>
          <p:nvSpPr>
            <p:cNvPr id="82985" name="Line 24"/>
            <p:cNvSpPr>
              <a:spLocks noChangeShapeType="1"/>
            </p:cNvSpPr>
            <p:nvPr/>
          </p:nvSpPr>
          <p:spPr bwMode="auto">
            <a:xfrm flipH="1">
              <a:off x="1730835" y="2218497"/>
              <a:ext cx="25908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86" name="Text Box 25"/>
            <p:cNvSpPr txBox="1">
              <a:spLocks noChangeArrowheads="1"/>
            </p:cNvSpPr>
            <p:nvPr/>
          </p:nvSpPr>
          <p:spPr bwMode="auto">
            <a:xfrm>
              <a:off x="1286692" y="2081972"/>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a:t>
              </a:r>
              <a:r>
                <a:rPr lang="en-US" altLang="en-US" sz="1800" baseline="-25000"/>
                <a:t>2</a:t>
              </a:r>
              <a:endParaRPr lang="en-US" altLang="en-US" sz="1800"/>
            </a:p>
          </p:txBody>
        </p:sp>
      </p:grpSp>
      <p:grpSp>
        <p:nvGrpSpPr>
          <p:cNvPr id="39" name="Group 37"/>
          <p:cNvGrpSpPr>
            <a:grpSpLocks/>
          </p:cNvGrpSpPr>
          <p:nvPr/>
        </p:nvGrpSpPr>
        <p:grpSpPr bwMode="auto">
          <a:xfrm>
            <a:off x="1530350" y="1941513"/>
            <a:ext cx="3414712" cy="304800"/>
            <a:chOff x="1286692" y="2447097"/>
            <a:chExt cx="3415943" cy="304800"/>
          </a:xfrm>
        </p:grpSpPr>
        <p:sp>
          <p:nvSpPr>
            <p:cNvPr id="82983" name="Line 28"/>
            <p:cNvSpPr>
              <a:spLocks noChangeShapeType="1"/>
            </p:cNvSpPr>
            <p:nvPr/>
          </p:nvSpPr>
          <p:spPr bwMode="auto">
            <a:xfrm flipH="1">
              <a:off x="1730835" y="2659822"/>
              <a:ext cx="29718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82984" name="Text Box 29"/>
            <p:cNvSpPr txBox="1">
              <a:spLocks noChangeArrowheads="1"/>
            </p:cNvSpPr>
            <p:nvPr/>
          </p:nvSpPr>
          <p:spPr bwMode="auto">
            <a:xfrm>
              <a:off x="1286692" y="2447097"/>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a:t>
              </a:r>
              <a:r>
                <a:rPr lang="en-US" altLang="en-US" sz="1800" baseline="-25000"/>
                <a:t>3</a:t>
              </a:r>
              <a:endParaRPr lang="en-US" altLang="en-US" sz="1800"/>
            </a:p>
          </p:txBody>
        </p:sp>
      </p:grpSp>
      <p:grpSp>
        <p:nvGrpSpPr>
          <p:cNvPr id="40" name="Group 31"/>
          <p:cNvGrpSpPr>
            <a:grpSpLocks/>
          </p:cNvGrpSpPr>
          <p:nvPr/>
        </p:nvGrpSpPr>
        <p:grpSpPr bwMode="auto">
          <a:xfrm>
            <a:off x="5014912" y="1812925"/>
            <a:ext cx="434975" cy="404813"/>
            <a:chOff x="5062599" y="2365908"/>
            <a:chExt cx="435289" cy="404320"/>
          </a:xfrm>
        </p:grpSpPr>
        <p:sp>
          <p:nvSpPr>
            <p:cNvPr id="82981" name="Oval 9"/>
            <p:cNvSpPr>
              <a:spLocks noChangeArrowheads="1"/>
            </p:cNvSpPr>
            <p:nvPr/>
          </p:nvSpPr>
          <p:spPr bwMode="auto">
            <a:xfrm>
              <a:off x="5062599" y="2693971"/>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82982" name="Text Box 8"/>
            <p:cNvSpPr txBox="1">
              <a:spLocks noChangeArrowheads="1"/>
            </p:cNvSpPr>
            <p:nvPr/>
          </p:nvSpPr>
          <p:spPr bwMode="auto">
            <a:xfrm>
              <a:off x="5074025" y="2365908"/>
              <a:ext cx="423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E’</a:t>
              </a:r>
            </a:p>
          </p:txBody>
        </p:sp>
      </p:grpSp>
      <p:grpSp>
        <p:nvGrpSpPr>
          <p:cNvPr id="41" name="Group 40"/>
          <p:cNvGrpSpPr>
            <a:grpSpLocks/>
          </p:cNvGrpSpPr>
          <p:nvPr/>
        </p:nvGrpSpPr>
        <p:grpSpPr bwMode="auto">
          <a:xfrm>
            <a:off x="3565525" y="2486025"/>
            <a:ext cx="423862" cy="447675"/>
            <a:chOff x="4841966" y="2693971"/>
            <a:chExt cx="423863" cy="448282"/>
          </a:xfrm>
        </p:grpSpPr>
        <p:sp>
          <p:nvSpPr>
            <p:cNvPr id="82979" name="Oval 9"/>
            <p:cNvSpPr>
              <a:spLocks noChangeArrowheads="1"/>
            </p:cNvSpPr>
            <p:nvPr/>
          </p:nvSpPr>
          <p:spPr bwMode="auto">
            <a:xfrm>
              <a:off x="5062599" y="2693971"/>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82980" name="Text Box 8"/>
            <p:cNvSpPr txBox="1">
              <a:spLocks noChangeArrowheads="1"/>
            </p:cNvSpPr>
            <p:nvPr/>
          </p:nvSpPr>
          <p:spPr bwMode="auto">
            <a:xfrm>
              <a:off x="4841966" y="2837453"/>
              <a:ext cx="423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E</a:t>
              </a:r>
            </a:p>
          </p:txBody>
        </p:sp>
      </p:grpSp>
      <p:grpSp>
        <p:nvGrpSpPr>
          <p:cNvPr id="44" name="Group 43"/>
          <p:cNvGrpSpPr>
            <a:grpSpLocks/>
          </p:cNvGrpSpPr>
          <p:nvPr/>
        </p:nvGrpSpPr>
        <p:grpSpPr bwMode="auto">
          <a:xfrm>
            <a:off x="5226050" y="2514600"/>
            <a:ext cx="385762" cy="2301875"/>
            <a:chOff x="3420292" y="3019697"/>
            <a:chExt cx="385763" cy="2301875"/>
          </a:xfrm>
        </p:grpSpPr>
        <p:sp>
          <p:nvSpPr>
            <p:cNvPr id="82977" name="Line 14"/>
            <p:cNvSpPr>
              <a:spLocks noChangeShapeType="1"/>
            </p:cNvSpPr>
            <p:nvPr/>
          </p:nvSpPr>
          <p:spPr bwMode="auto">
            <a:xfrm>
              <a:off x="3572692" y="3019697"/>
              <a:ext cx="0" cy="19812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82978" name="Text Box 16"/>
            <p:cNvSpPr txBox="1">
              <a:spLocks noChangeArrowheads="1"/>
            </p:cNvSpPr>
            <p:nvPr/>
          </p:nvSpPr>
          <p:spPr bwMode="auto">
            <a:xfrm>
              <a:off x="3420292" y="5016772"/>
              <a:ext cx="385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r>
                <a:rPr lang="en-US" altLang="en-US" sz="1800" baseline="-25000"/>
                <a:t>4</a:t>
              </a:r>
              <a:endParaRPr lang="en-US" altLang="en-US" sz="1800"/>
            </a:p>
          </p:txBody>
        </p:sp>
      </p:grpSp>
      <p:grpSp>
        <p:nvGrpSpPr>
          <p:cNvPr id="47" name="Group 46"/>
          <p:cNvGrpSpPr>
            <a:grpSpLocks/>
          </p:cNvGrpSpPr>
          <p:nvPr/>
        </p:nvGrpSpPr>
        <p:grpSpPr bwMode="auto">
          <a:xfrm>
            <a:off x="4895850" y="2160588"/>
            <a:ext cx="385762" cy="2655887"/>
            <a:chOff x="3420292" y="2664823"/>
            <a:chExt cx="385763" cy="2656749"/>
          </a:xfrm>
        </p:grpSpPr>
        <p:sp>
          <p:nvSpPr>
            <p:cNvPr id="82975" name="Line 14"/>
            <p:cNvSpPr>
              <a:spLocks noChangeShapeType="1"/>
            </p:cNvSpPr>
            <p:nvPr/>
          </p:nvSpPr>
          <p:spPr bwMode="auto">
            <a:xfrm flipH="1">
              <a:off x="3572691" y="2664823"/>
              <a:ext cx="2177" cy="2336074"/>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82976" name="Text Box 16"/>
            <p:cNvSpPr txBox="1">
              <a:spLocks noChangeArrowheads="1"/>
            </p:cNvSpPr>
            <p:nvPr/>
          </p:nvSpPr>
          <p:spPr bwMode="auto">
            <a:xfrm>
              <a:off x="3420292" y="5016772"/>
              <a:ext cx="385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r>
                <a:rPr lang="en-US" altLang="en-US" sz="1800" baseline="-25000"/>
                <a:t>3</a:t>
              </a:r>
              <a:endParaRPr lang="en-US" altLang="en-US" sz="1800"/>
            </a:p>
          </p:txBody>
        </p:sp>
      </p:grpSp>
      <p:grpSp>
        <p:nvGrpSpPr>
          <p:cNvPr id="50" name="Group 56"/>
          <p:cNvGrpSpPr>
            <a:grpSpLocks/>
          </p:cNvGrpSpPr>
          <p:nvPr/>
        </p:nvGrpSpPr>
        <p:grpSpPr bwMode="auto">
          <a:xfrm>
            <a:off x="3475037" y="509588"/>
            <a:ext cx="766763" cy="2035175"/>
            <a:chOff x="3231908" y="1014893"/>
            <a:chExt cx="767449" cy="2035284"/>
          </a:xfrm>
        </p:grpSpPr>
        <p:grpSp>
          <p:nvGrpSpPr>
            <p:cNvPr id="82968" name="Group 49"/>
            <p:cNvGrpSpPr>
              <a:grpSpLocks/>
            </p:cNvGrpSpPr>
            <p:nvPr/>
          </p:nvGrpSpPr>
          <p:grpSpPr bwMode="auto">
            <a:xfrm>
              <a:off x="3546139" y="1014893"/>
              <a:ext cx="453218" cy="386390"/>
              <a:chOff x="5062599" y="2383838"/>
              <a:chExt cx="453218" cy="386390"/>
            </a:xfrm>
          </p:grpSpPr>
          <p:sp>
            <p:nvSpPr>
              <p:cNvPr id="82973" name="Oval 9"/>
              <p:cNvSpPr>
                <a:spLocks noChangeArrowheads="1"/>
              </p:cNvSpPr>
              <p:nvPr/>
            </p:nvSpPr>
            <p:spPr bwMode="auto">
              <a:xfrm>
                <a:off x="5062599" y="2693971"/>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82974" name="Text Box 8"/>
              <p:cNvSpPr txBox="1">
                <a:spLocks noChangeArrowheads="1"/>
              </p:cNvSpPr>
              <p:nvPr/>
            </p:nvSpPr>
            <p:spPr bwMode="auto">
              <a:xfrm>
                <a:off x="5091954" y="2383838"/>
                <a:ext cx="423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A</a:t>
                </a:r>
              </a:p>
            </p:txBody>
          </p:sp>
        </p:grpSp>
        <p:sp>
          <p:nvSpPr>
            <p:cNvPr id="82969" name="Line 14"/>
            <p:cNvSpPr>
              <a:spLocks noChangeShapeType="1"/>
            </p:cNvSpPr>
            <p:nvPr/>
          </p:nvSpPr>
          <p:spPr bwMode="auto">
            <a:xfrm flipH="1">
              <a:off x="3581399" y="1373830"/>
              <a:ext cx="377" cy="167634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grpSp>
          <p:nvGrpSpPr>
            <p:cNvPr id="82970" name="Group 53"/>
            <p:cNvGrpSpPr>
              <a:grpSpLocks/>
            </p:cNvGrpSpPr>
            <p:nvPr/>
          </p:nvGrpSpPr>
          <p:grpSpPr bwMode="auto">
            <a:xfrm>
              <a:off x="3231908" y="2372314"/>
              <a:ext cx="423863" cy="332601"/>
              <a:chOff x="4742333" y="2437627"/>
              <a:chExt cx="423863" cy="332601"/>
            </a:xfrm>
          </p:grpSpPr>
          <p:sp>
            <p:nvSpPr>
              <p:cNvPr id="82971" name="Oval 9"/>
              <p:cNvSpPr>
                <a:spLocks noChangeArrowheads="1"/>
              </p:cNvSpPr>
              <p:nvPr/>
            </p:nvSpPr>
            <p:spPr bwMode="auto">
              <a:xfrm>
                <a:off x="5062599" y="2693971"/>
                <a:ext cx="76382" cy="76257"/>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82972" name="Text Box 8"/>
              <p:cNvSpPr txBox="1">
                <a:spLocks noChangeArrowheads="1"/>
              </p:cNvSpPr>
              <p:nvPr/>
            </p:nvSpPr>
            <p:spPr bwMode="auto">
              <a:xfrm>
                <a:off x="4742333" y="2437627"/>
                <a:ext cx="423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C</a:t>
                </a:r>
              </a:p>
            </p:txBody>
          </p:sp>
        </p:grpSp>
      </p:grpSp>
      <p:sp>
        <p:nvSpPr>
          <p:cNvPr id="64" name="Line 13"/>
          <p:cNvSpPr>
            <a:spLocks noChangeShapeType="1"/>
          </p:cNvSpPr>
          <p:nvPr/>
        </p:nvSpPr>
        <p:spPr bwMode="auto">
          <a:xfrm flipH="1">
            <a:off x="3778250" y="2524125"/>
            <a:ext cx="161925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29477927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left)">
                                      <p:cBhvr>
                                        <p:cTn id="11" dur="500"/>
                                        <p:tgtEl>
                                          <p:spTgt spid="31"/>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wipe(left)">
                                      <p:cBhvr>
                                        <p:cTn id="15" dur="500"/>
                                        <p:tgtEl>
                                          <p:spTgt spid="28"/>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wipe(left)">
                                      <p:cBhvr>
                                        <p:cTn id="19" dur="500"/>
                                        <p:tgtEl>
                                          <p:spTgt spid="41"/>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wipe(left)">
                                      <p:cBhvr>
                                        <p:cTn id="23" dur="500"/>
                                        <p:tgtEl>
                                          <p:spTgt spid="35"/>
                                        </p:tgtEl>
                                      </p:cBhvr>
                                    </p:animEffect>
                                  </p:childTnLst>
                                </p:cTn>
                              </p:par>
                            </p:childTnLst>
                          </p:cTn>
                        </p:par>
                        <p:par>
                          <p:cTn id="24" fill="hold" nodeType="afterGroup">
                            <p:stCondLst>
                              <p:cond delay="2500"/>
                            </p:stCondLst>
                            <p:childTnLst>
                              <p:par>
                                <p:cTn id="25" presetID="22" presetClass="entr" presetSubtype="1" fill="hold" nodeType="after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up)">
                                      <p:cBhvr>
                                        <p:cTn id="27" dur="500"/>
                                        <p:tgtEl>
                                          <p:spTgt spid="3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wipe(left)">
                                      <p:cBhvr>
                                        <p:cTn id="32" dur="500"/>
                                        <p:tgtEl>
                                          <p:spTgt spid="37"/>
                                        </p:tgtEl>
                                      </p:cBhvr>
                                    </p:animEffect>
                                  </p:childTnLst>
                                </p:cTn>
                              </p:par>
                            </p:childTnLst>
                          </p:cTn>
                        </p:par>
                        <p:par>
                          <p:cTn id="33" fill="hold" nodeType="afterGroup">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64"/>
                                        </p:tgtEl>
                                        <p:attrNameLst>
                                          <p:attrName>style.visibility</p:attrName>
                                        </p:attrNameLst>
                                      </p:cBhvr>
                                      <p:to>
                                        <p:strVal val="visible"/>
                                      </p:to>
                                    </p:set>
                                    <p:animEffect transition="in" filter="wipe(left)">
                                      <p:cBhvr>
                                        <p:cTn id="36" dur="500"/>
                                        <p:tgtEl>
                                          <p:spTgt spid="64"/>
                                        </p:tgtEl>
                                      </p:cBhvr>
                                    </p:animEffect>
                                  </p:childTnLst>
                                </p:cTn>
                              </p:par>
                            </p:childTnLst>
                          </p:cTn>
                        </p:par>
                        <p:par>
                          <p:cTn id="37" fill="hold" nodeType="afterGroup">
                            <p:stCondLst>
                              <p:cond delay="1000"/>
                            </p:stCondLst>
                            <p:childTnLst>
                              <p:par>
                                <p:cTn id="38" presetID="22" presetClass="entr" presetSubtype="1" fill="hold" nodeType="after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wipe(up)">
                                      <p:cBhvr>
                                        <p:cTn id="40" dur="500"/>
                                        <p:tgtEl>
                                          <p:spTgt spid="44"/>
                                        </p:tgtEl>
                                      </p:cBhvr>
                                    </p:animEffect>
                                  </p:childTnLst>
                                </p:cTn>
                              </p:par>
                            </p:childTnLst>
                          </p:cTn>
                        </p:par>
                        <p:par>
                          <p:cTn id="41" fill="hold" nodeType="afterGroup">
                            <p:stCondLst>
                              <p:cond delay="1500"/>
                            </p:stCondLst>
                            <p:childTnLst>
                              <p:par>
                                <p:cTn id="42" presetID="22" presetClass="entr" presetSubtype="8" fill="hold" nodeType="after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wipe(left)">
                                      <p:cBhvr>
                                        <p:cTn id="44" dur="500"/>
                                        <p:tgtEl>
                                          <p:spTgt spid="3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wipe(left)">
                                      <p:cBhvr>
                                        <p:cTn id="49" dur="500"/>
                                        <p:tgtEl>
                                          <p:spTgt spid="32"/>
                                        </p:tgtEl>
                                      </p:cBhvr>
                                    </p:animEffect>
                                  </p:childTnLst>
                                </p:cTn>
                              </p:par>
                            </p:childTnLst>
                          </p:cTn>
                        </p:par>
                        <p:par>
                          <p:cTn id="50" fill="hold" nodeType="afterGroup">
                            <p:stCondLst>
                              <p:cond delay="500"/>
                            </p:stCondLst>
                            <p:childTnLst>
                              <p:par>
                                <p:cTn id="51" presetID="22" presetClass="entr" presetSubtype="8" fill="hold" nodeType="after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wipe(left)">
                                      <p:cBhvr>
                                        <p:cTn id="53" dur="500"/>
                                        <p:tgtEl>
                                          <p:spTgt spid="40"/>
                                        </p:tgtEl>
                                      </p:cBhvr>
                                    </p:animEffect>
                                  </p:childTnLst>
                                </p:cTn>
                              </p:par>
                            </p:childTnLst>
                          </p:cTn>
                        </p:par>
                        <p:par>
                          <p:cTn id="54" fill="hold" nodeType="afterGroup">
                            <p:stCondLst>
                              <p:cond delay="1000"/>
                            </p:stCondLst>
                            <p:childTnLst>
                              <p:par>
                                <p:cTn id="55" presetID="22" presetClass="entr" presetSubtype="8" fill="hold" nodeType="after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wipe(left)">
                                      <p:cBhvr>
                                        <p:cTn id="57" dur="500"/>
                                        <p:tgtEl>
                                          <p:spTgt spid="39"/>
                                        </p:tgtEl>
                                      </p:cBhvr>
                                    </p:animEffect>
                                  </p:childTnLst>
                                </p:cTn>
                              </p:par>
                            </p:childTnLst>
                          </p:cTn>
                        </p:par>
                        <p:par>
                          <p:cTn id="58" fill="hold" nodeType="afterGroup">
                            <p:stCondLst>
                              <p:cond delay="1500"/>
                            </p:stCondLst>
                            <p:childTnLst>
                              <p:par>
                                <p:cTn id="59" presetID="22" presetClass="entr" presetSubtype="1" fill="hold" nodeType="after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wipe(up)">
                                      <p:cBhvr>
                                        <p:cTn id="61" dur="500"/>
                                        <p:tgtEl>
                                          <p:spTgt spid="47"/>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4" fill="hold" nodeType="clickEffect">
                                  <p:stCondLst>
                                    <p:cond delay="0"/>
                                  </p:stCondLst>
                                  <p:childTnLst>
                                    <p:set>
                                      <p:cBhvr>
                                        <p:cTn id="65" dur="1" fill="hold">
                                          <p:stCondLst>
                                            <p:cond delay="0"/>
                                          </p:stCondLst>
                                        </p:cTn>
                                        <p:tgtEl>
                                          <p:spTgt spid="50"/>
                                        </p:tgtEl>
                                        <p:attrNameLst>
                                          <p:attrName>style.visibility</p:attrName>
                                        </p:attrNameLst>
                                      </p:cBhvr>
                                      <p:to>
                                        <p:strVal val="visible"/>
                                      </p:to>
                                    </p:set>
                                    <p:animEffect transition="in" filter="wipe(down)">
                                      <p:cBhvr>
                                        <p:cTn id="66" dur="500"/>
                                        <p:tgtEl>
                                          <p:spTgt spid="50"/>
                                        </p:tgtEl>
                                      </p:cBhvr>
                                    </p:animEffect>
                                  </p:childTnLst>
                                </p:cTn>
                              </p:par>
                            </p:childTnLst>
                          </p:cTn>
                        </p:par>
                        <p:par>
                          <p:cTn id="67" fill="hold" nodeType="afterGroup">
                            <p:stCondLst>
                              <p:cond delay="500"/>
                            </p:stCondLst>
                            <p:childTnLst>
                              <p:par>
                                <p:cTn id="68" presetID="22" presetClass="entr" presetSubtype="8" fill="hold" grpId="0" nodeType="afterEffect">
                                  <p:stCondLst>
                                    <p:cond delay="0"/>
                                  </p:stCondLst>
                                  <p:childTnLst>
                                    <p:set>
                                      <p:cBhvr>
                                        <p:cTn id="69" dur="1" fill="hold">
                                          <p:stCondLst>
                                            <p:cond delay="0"/>
                                          </p:stCondLst>
                                        </p:cTn>
                                        <p:tgtEl>
                                          <p:spTgt spid="63"/>
                                        </p:tgtEl>
                                        <p:attrNameLst>
                                          <p:attrName>style.visibility</p:attrName>
                                        </p:attrNameLst>
                                      </p:cBhvr>
                                      <p:to>
                                        <p:strVal val="visible"/>
                                      </p:to>
                                    </p:set>
                                    <p:animEffect transition="in" filter="wipe(left)">
                                      <p:cBhvr>
                                        <p:cTn id="70" dur="500"/>
                                        <p:tgtEl>
                                          <p:spTgt spid="63"/>
                                        </p:tgtEl>
                                      </p:cBhvr>
                                    </p:animEffect>
                                  </p:childTnLst>
                                </p:cTn>
                              </p:par>
                            </p:childTnLst>
                          </p:cTn>
                        </p:par>
                        <p:par>
                          <p:cTn id="71" fill="hold" nodeType="afterGroup">
                            <p:stCondLst>
                              <p:cond delay="1000"/>
                            </p:stCondLst>
                            <p:childTnLst>
                              <p:par>
                                <p:cTn id="72" presetID="22" presetClass="entr" presetSubtype="8" fill="hold" grpId="0" nodeType="afterEffect">
                                  <p:stCondLst>
                                    <p:cond delay="0"/>
                                  </p:stCondLst>
                                  <p:childTnLst>
                                    <p:set>
                                      <p:cBhvr>
                                        <p:cTn id="73" dur="1" fill="hold">
                                          <p:stCondLst>
                                            <p:cond delay="0"/>
                                          </p:stCondLst>
                                        </p:cTn>
                                        <p:tgtEl>
                                          <p:spTgt spid="62"/>
                                        </p:tgtEl>
                                        <p:attrNameLst>
                                          <p:attrName>style.visibility</p:attrName>
                                        </p:attrNameLst>
                                      </p:cBhvr>
                                      <p:to>
                                        <p:strVal val="visible"/>
                                      </p:to>
                                    </p:set>
                                    <p:animEffect transition="in" filter="wipe(left)">
                                      <p:cBhvr>
                                        <p:cTn id="74" dur="500"/>
                                        <p:tgtEl>
                                          <p:spTgt spid="62"/>
                                        </p:tgtEl>
                                      </p:cBhvr>
                                    </p:animEffect>
                                  </p:childTnLst>
                                </p:cTn>
                              </p:par>
                            </p:childTnLst>
                          </p:cTn>
                        </p:par>
                        <p:par>
                          <p:cTn id="75" fill="hold">
                            <p:stCondLst>
                              <p:cond delay="1500"/>
                            </p:stCondLst>
                            <p:childTnLst>
                              <p:par>
                                <p:cTn id="76" presetID="22" presetClass="entr" presetSubtype="8" fill="hold" grpId="0" nodeType="afterEffect">
                                  <p:stCondLst>
                                    <p:cond delay="0"/>
                                  </p:stCondLst>
                                  <p:childTnLst>
                                    <p:set>
                                      <p:cBhvr>
                                        <p:cTn id="77" dur="1" fill="hold">
                                          <p:stCondLst>
                                            <p:cond delay="0"/>
                                          </p:stCondLst>
                                        </p:cTn>
                                        <p:tgtEl>
                                          <p:spTgt spid="82949">
                                            <p:txEl>
                                              <p:pRg st="0" end="0"/>
                                            </p:txEl>
                                          </p:spTgt>
                                        </p:tgtEl>
                                        <p:attrNameLst>
                                          <p:attrName>style.visibility</p:attrName>
                                        </p:attrNameLst>
                                      </p:cBhvr>
                                      <p:to>
                                        <p:strVal val="visible"/>
                                      </p:to>
                                    </p:set>
                                    <p:animEffect transition="in" filter="wipe(left)">
                                      <p:cBhvr>
                                        <p:cTn id="78" dur="500"/>
                                        <p:tgtEl>
                                          <p:spTgt spid="8294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3" grpId="0" animBg="1"/>
      <p:bldP spid="82949" grpId="0" build="p"/>
      <p:bldP spid="64"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en-US" altLang="en-US" smtClean="0"/>
              <a:t>Disequilibrium Behavior</a:t>
            </a:r>
          </a:p>
        </p:txBody>
      </p:sp>
      <p:sp>
        <p:nvSpPr>
          <p:cNvPr id="83971" name="Rectangle 3"/>
          <p:cNvSpPr>
            <a:spLocks noGrp="1" noChangeArrowheads="1"/>
          </p:cNvSpPr>
          <p:nvPr>
            <p:ph idx="1"/>
          </p:nvPr>
        </p:nvSpPr>
        <p:spPr/>
        <p:txBody>
          <a:bodyPr/>
          <a:lstStyle/>
          <a:p>
            <a:r>
              <a:rPr lang="en-US" altLang="en-US" dirty="0" smtClean="0"/>
              <a:t>Observed market outcomes are generated by</a:t>
            </a:r>
          </a:p>
          <a:p>
            <a:pPr algn="ctr">
              <a:lnSpc>
                <a:spcPct val="150000"/>
              </a:lnSpc>
              <a:buFontTx/>
              <a:buNone/>
            </a:pPr>
            <a:r>
              <a:rPr lang="en-US" altLang="en-US" sz="2800" i="1" dirty="0" smtClean="0">
                <a:solidFill>
                  <a:srgbClr val="FF0000"/>
                </a:solidFill>
              </a:rPr>
              <a:t>Q</a:t>
            </a:r>
            <a:r>
              <a:rPr lang="en-US" altLang="en-US" sz="2800" dirty="0" smtClean="0">
                <a:solidFill>
                  <a:srgbClr val="FF0000"/>
                </a:solidFill>
              </a:rPr>
              <a:t>(</a:t>
            </a:r>
            <a:r>
              <a:rPr lang="en-US" altLang="en-US" sz="2800" i="1" dirty="0" smtClean="0">
                <a:solidFill>
                  <a:srgbClr val="FF0000"/>
                </a:solidFill>
              </a:rPr>
              <a:t>P</a:t>
            </a:r>
            <a:r>
              <a:rPr lang="en-US" altLang="en-US" sz="2800" baseline="-25000" dirty="0" smtClean="0">
                <a:solidFill>
                  <a:srgbClr val="FF0000"/>
                </a:solidFill>
              </a:rPr>
              <a:t>1</a:t>
            </a:r>
            <a:r>
              <a:rPr lang="en-US" altLang="en-US" sz="2800" dirty="0" smtClean="0">
                <a:solidFill>
                  <a:srgbClr val="FF0000"/>
                </a:solidFill>
              </a:rPr>
              <a:t>) = min [</a:t>
            </a:r>
            <a:r>
              <a:rPr lang="en-US" altLang="en-US" sz="2800" i="1" dirty="0" smtClean="0">
                <a:solidFill>
                  <a:srgbClr val="FF0000"/>
                </a:solidFill>
              </a:rPr>
              <a:t>Q</a:t>
            </a:r>
            <a:r>
              <a:rPr lang="en-US" altLang="en-US" sz="2800" i="1" baseline="-25000" dirty="0" smtClean="0">
                <a:solidFill>
                  <a:srgbClr val="FF0000"/>
                </a:solidFill>
              </a:rPr>
              <a:t>D</a:t>
            </a:r>
            <a:r>
              <a:rPr lang="en-US" altLang="en-US" sz="2800" dirty="0" smtClean="0">
                <a:solidFill>
                  <a:srgbClr val="FF0000"/>
                </a:solidFill>
              </a:rPr>
              <a:t>(</a:t>
            </a:r>
            <a:r>
              <a:rPr lang="en-US" altLang="en-US" sz="2800" i="1" dirty="0" smtClean="0">
                <a:solidFill>
                  <a:srgbClr val="FF0000"/>
                </a:solidFill>
              </a:rPr>
              <a:t>P</a:t>
            </a:r>
            <a:r>
              <a:rPr lang="en-US" altLang="en-US" sz="2800" baseline="-25000" dirty="0" smtClean="0">
                <a:solidFill>
                  <a:srgbClr val="FF0000"/>
                </a:solidFill>
              </a:rPr>
              <a:t>1</a:t>
            </a:r>
            <a:r>
              <a:rPr lang="en-US" altLang="en-US" sz="2800" dirty="0" smtClean="0">
                <a:solidFill>
                  <a:srgbClr val="FF0000"/>
                </a:solidFill>
              </a:rPr>
              <a:t>),</a:t>
            </a:r>
            <a:r>
              <a:rPr lang="en-US" altLang="en-US" sz="2800" i="1" dirty="0" smtClean="0">
                <a:solidFill>
                  <a:srgbClr val="FF0000"/>
                </a:solidFill>
              </a:rPr>
              <a:t>Q</a:t>
            </a:r>
            <a:r>
              <a:rPr lang="en-US" altLang="en-US" sz="2800" i="1" baseline="-25000" dirty="0" smtClean="0">
                <a:solidFill>
                  <a:srgbClr val="FF0000"/>
                </a:solidFill>
              </a:rPr>
              <a:t>S</a:t>
            </a:r>
            <a:r>
              <a:rPr lang="en-US" altLang="en-US" sz="2800" dirty="0" smtClean="0">
                <a:solidFill>
                  <a:srgbClr val="FF0000"/>
                </a:solidFill>
              </a:rPr>
              <a:t>(</a:t>
            </a:r>
            <a:r>
              <a:rPr lang="en-US" altLang="en-US" sz="2800" i="1" dirty="0" smtClean="0">
                <a:solidFill>
                  <a:srgbClr val="FF0000"/>
                </a:solidFill>
              </a:rPr>
              <a:t>P</a:t>
            </a:r>
            <a:r>
              <a:rPr lang="en-US" altLang="en-US" sz="2800" baseline="-25000" dirty="0" smtClean="0">
                <a:solidFill>
                  <a:srgbClr val="FF0000"/>
                </a:solidFill>
              </a:rPr>
              <a:t>1</a:t>
            </a:r>
            <a:r>
              <a:rPr lang="en-US" altLang="en-US" sz="2800" dirty="0" smtClean="0">
                <a:solidFill>
                  <a:srgbClr val="FF0000"/>
                </a:solidFill>
              </a:rPr>
              <a:t>)],</a:t>
            </a:r>
          </a:p>
          <a:p>
            <a:pPr lvl="1"/>
            <a:r>
              <a:rPr lang="en-US" altLang="en-US" dirty="0" smtClean="0"/>
              <a:t>Suppliers will be content with the outcome but demanders will not</a:t>
            </a:r>
          </a:p>
          <a:p>
            <a:pPr lvl="1"/>
            <a:r>
              <a:rPr lang="en-US" altLang="en-US" dirty="0" smtClean="0"/>
              <a:t>This could lead to a black market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C669826-DE0C-45C3-BF69-FE358392D93E}" type="slidenum">
              <a:rPr lang="en-US" smtClean="0"/>
              <a:pPr>
                <a:defRPr/>
              </a:pPr>
              <a:t>72</a:t>
            </a:fld>
            <a:endParaRPr lang="en-US"/>
          </a:p>
        </p:txBody>
      </p:sp>
    </p:spTree>
    <p:extLst>
      <p:ext uri="{BB962C8B-B14F-4D97-AF65-F5344CB8AC3E}">
        <p14:creationId xmlns:p14="http://schemas.microsoft.com/office/powerpoint/2010/main" val="144309399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en-US" smtClean="0"/>
              <a:t>Tax Incidence Analysis</a:t>
            </a:r>
          </a:p>
        </p:txBody>
      </p:sp>
      <p:sp>
        <p:nvSpPr>
          <p:cNvPr id="84995" name="Rectangle 3"/>
          <p:cNvSpPr>
            <a:spLocks noGrp="1" noChangeArrowheads="1"/>
          </p:cNvSpPr>
          <p:nvPr>
            <p:ph idx="1"/>
          </p:nvPr>
        </p:nvSpPr>
        <p:spPr/>
        <p:txBody>
          <a:bodyPr/>
          <a:lstStyle/>
          <a:p>
            <a:r>
              <a:rPr lang="en-US" altLang="en-US" dirty="0" smtClean="0"/>
              <a:t>Per-unit tax (</a:t>
            </a:r>
            <a:r>
              <a:rPr lang="en-US" altLang="en-US" i="1" dirty="0" smtClean="0"/>
              <a:t>t</a:t>
            </a:r>
            <a:r>
              <a:rPr lang="en-US" altLang="en-US" dirty="0" smtClean="0"/>
              <a:t>)</a:t>
            </a:r>
          </a:p>
          <a:p>
            <a:pPr lvl="1"/>
            <a:r>
              <a:rPr lang="en-US" altLang="en-US" dirty="0" smtClean="0"/>
              <a:t>Creates a </a:t>
            </a:r>
            <a:r>
              <a:rPr lang="en-US" altLang="en-US" dirty="0" smtClean="0"/>
              <a:t>wedge between</a:t>
            </a:r>
          </a:p>
          <a:p>
            <a:pPr lvl="2"/>
            <a:r>
              <a:rPr lang="en-US" altLang="en-US" dirty="0" smtClean="0"/>
              <a:t>What demanders pay (</a:t>
            </a:r>
            <a:r>
              <a:rPr lang="en-US" altLang="en-US" i="1" dirty="0" smtClean="0"/>
              <a:t>P*</a:t>
            </a:r>
            <a:r>
              <a:rPr lang="en-US" altLang="en-US" dirty="0" smtClean="0"/>
              <a:t>) </a:t>
            </a:r>
            <a:endParaRPr lang="en-US" altLang="en-US" dirty="0" smtClean="0"/>
          </a:p>
          <a:p>
            <a:pPr lvl="2"/>
            <a:r>
              <a:rPr lang="en-US" altLang="en-US" dirty="0" smtClean="0"/>
              <a:t>And </a:t>
            </a:r>
            <a:r>
              <a:rPr lang="en-US" altLang="en-US" dirty="0" smtClean="0"/>
              <a:t>what suppliers receive (</a:t>
            </a:r>
            <a:r>
              <a:rPr lang="en-US" altLang="en-US" i="1" dirty="0" smtClean="0"/>
              <a:t>P*-t</a:t>
            </a:r>
            <a:r>
              <a:rPr lang="en-US" altLang="en-US" dirty="0" smtClean="0"/>
              <a:t>)</a:t>
            </a:r>
            <a:endParaRPr lang="en-US" altLang="en-US" dirty="0" smtClean="0"/>
          </a:p>
          <a:p>
            <a:pPr lvl="1"/>
            <a:r>
              <a:rPr lang="en-US" altLang="en-US" dirty="0" smtClean="0"/>
              <a:t>Equilibrium</a:t>
            </a:r>
            <a:r>
              <a:rPr lang="en-US" altLang="en-US" dirty="0" smtClean="0"/>
              <a:t>: </a:t>
            </a:r>
            <a:r>
              <a:rPr lang="en-US" altLang="en-US" sz="3000" i="1" dirty="0" smtClean="0">
                <a:solidFill>
                  <a:srgbClr val="FF0000"/>
                </a:solidFill>
              </a:rPr>
              <a:t>D</a:t>
            </a:r>
            <a:r>
              <a:rPr lang="en-US" altLang="en-US" sz="3000" dirty="0" smtClean="0">
                <a:solidFill>
                  <a:srgbClr val="FF0000"/>
                </a:solidFill>
              </a:rPr>
              <a:t>(</a:t>
            </a:r>
            <a:r>
              <a:rPr lang="en-US" altLang="en-US" sz="3000" i="1" dirty="0" smtClean="0">
                <a:solidFill>
                  <a:srgbClr val="FF0000"/>
                </a:solidFill>
              </a:rPr>
              <a:t>P</a:t>
            </a:r>
            <a:r>
              <a:rPr lang="en-US" altLang="en-US" sz="3000" dirty="0" smtClean="0">
                <a:solidFill>
                  <a:srgbClr val="FF0000"/>
                </a:solidFill>
              </a:rPr>
              <a:t>*) – </a:t>
            </a:r>
            <a:r>
              <a:rPr lang="en-US" altLang="en-US" sz="3000" i="1" dirty="0" smtClean="0">
                <a:solidFill>
                  <a:srgbClr val="FF0000"/>
                </a:solidFill>
              </a:rPr>
              <a:t>Q</a:t>
            </a:r>
            <a:r>
              <a:rPr lang="en-US" altLang="en-US" sz="3000" dirty="0" smtClean="0">
                <a:solidFill>
                  <a:srgbClr val="FF0000"/>
                </a:solidFill>
              </a:rPr>
              <a:t>*=0 and </a:t>
            </a:r>
            <a:r>
              <a:rPr lang="en-US" altLang="en-US" sz="3000" i="1" dirty="0" smtClean="0">
                <a:solidFill>
                  <a:srgbClr val="FF0000"/>
                </a:solidFill>
              </a:rPr>
              <a:t>S</a:t>
            </a:r>
            <a:r>
              <a:rPr lang="en-US" altLang="en-US" sz="3000" dirty="0" smtClean="0">
                <a:solidFill>
                  <a:srgbClr val="FF0000"/>
                </a:solidFill>
              </a:rPr>
              <a:t>(</a:t>
            </a:r>
            <a:r>
              <a:rPr lang="en-US" altLang="en-US" sz="3000" i="1" dirty="0" smtClean="0">
                <a:solidFill>
                  <a:srgbClr val="FF0000"/>
                </a:solidFill>
              </a:rPr>
              <a:t>P</a:t>
            </a:r>
            <a:r>
              <a:rPr lang="en-US" altLang="en-US" sz="3000" dirty="0" smtClean="0">
                <a:solidFill>
                  <a:srgbClr val="FF0000"/>
                </a:solidFill>
              </a:rPr>
              <a:t>*-</a:t>
            </a:r>
            <a:r>
              <a:rPr lang="en-US" altLang="en-US" sz="3000" i="1" dirty="0" smtClean="0">
                <a:solidFill>
                  <a:srgbClr val="FF0000"/>
                </a:solidFill>
              </a:rPr>
              <a:t>t</a:t>
            </a:r>
            <a:r>
              <a:rPr lang="en-US" altLang="en-US" sz="3000" dirty="0" smtClean="0">
                <a:solidFill>
                  <a:srgbClr val="FF0000"/>
                </a:solidFill>
              </a:rPr>
              <a:t>) </a:t>
            </a:r>
            <a:r>
              <a:rPr lang="en-US" altLang="en-US" sz="3000" dirty="0">
                <a:solidFill>
                  <a:srgbClr val="FF0000"/>
                </a:solidFill>
              </a:rPr>
              <a:t>– </a:t>
            </a:r>
            <a:r>
              <a:rPr lang="en-US" altLang="en-US" sz="3000" i="1" dirty="0">
                <a:solidFill>
                  <a:srgbClr val="FF0000"/>
                </a:solidFill>
              </a:rPr>
              <a:t>Q</a:t>
            </a:r>
            <a:r>
              <a:rPr lang="en-US" altLang="en-US" sz="3000" dirty="0">
                <a:solidFill>
                  <a:srgbClr val="FF0000"/>
                </a:solidFill>
              </a:rPr>
              <a:t>*=0 </a:t>
            </a:r>
            <a:endParaRPr lang="en-US" altLang="en-US" sz="3000" dirty="0" smtClean="0">
              <a:solidFill>
                <a:srgbClr val="FF0000"/>
              </a:solidFill>
            </a:endParaRPr>
          </a:p>
          <a:p>
            <a:pPr lvl="1"/>
            <a:r>
              <a:rPr lang="en-US" altLang="en-US" dirty="0" smtClean="0"/>
              <a:t>Differentiate </a:t>
            </a:r>
            <a:r>
              <a:rPr lang="en-US" altLang="en-US" dirty="0" smtClean="0"/>
              <a:t>with respect to </a:t>
            </a:r>
            <a:r>
              <a:rPr lang="en-US" altLang="en-US" i="1" dirty="0" smtClean="0"/>
              <a:t>t</a:t>
            </a:r>
            <a:r>
              <a:rPr lang="en-US" altLang="en-US" dirty="0" smtClean="0"/>
              <a:t> </a:t>
            </a:r>
          </a:p>
          <a:p>
            <a:endParaRPr lang="en-US" altLang="en-US" sz="3200" dirty="0" smtClean="0"/>
          </a:p>
          <a:p>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1D4C9A0-C9AB-47D4-9DBD-9813F405574B}" type="slidenum">
              <a:rPr lang="en-US" smtClean="0"/>
              <a:pPr>
                <a:defRPr/>
              </a:pPr>
              <a:t>73</a:t>
            </a:fld>
            <a:endParaRPr lang="en-US"/>
          </a:p>
        </p:txBody>
      </p:sp>
      <p:graphicFrame>
        <p:nvGraphicFramePr>
          <p:cNvPr id="2" name="Object 1"/>
          <p:cNvGraphicFramePr>
            <a:graphicFrameLocks noChangeAspect="1"/>
          </p:cNvGraphicFramePr>
          <p:nvPr>
            <p:extLst>
              <p:ext uri="{D42A27DB-BD31-4B8C-83A1-F6EECF244321}">
                <p14:modId xmlns:p14="http://schemas.microsoft.com/office/powerpoint/2010/main" val="2595784876"/>
              </p:ext>
            </p:extLst>
          </p:nvPr>
        </p:nvGraphicFramePr>
        <p:xfrm>
          <a:off x="1447799" y="4572001"/>
          <a:ext cx="5389415" cy="1602258"/>
        </p:xfrm>
        <a:graphic>
          <a:graphicData uri="http://schemas.openxmlformats.org/presentationml/2006/ole">
            <mc:AlternateContent xmlns:mc="http://schemas.openxmlformats.org/markup-compatibility/2006">
              <mc:Choice xmlns:v="urn:schemas-microsoft-com:vml" Requires="v">
                <p:oleObj spid="_x0000_s269319" name="Equation" r:id="rId3" imgW="2819160" imgH="838080" progId="Equation.DSMT4">
                  <p:embed/>
                </p:oleObj>
              </mc:Choice>
              <mc:Fallback>
                <p:oleObj name="Equation" r:id="rId3" imgW="2819160" imgH="838080" progId="Equation.DSMT4">
                  <p:embed/>
                  <p:pic>
                    <p:nvPicPr>
                      <p:cNvPr id="0" name=""/>
                      <p:cNvPicPr/>
                      <p:nvPr/>
                    </p:nvPicPr>
                    <p:blipFill>
                      <a:blip r:embed="rId4"/>
                      <a:stretch>
                        <a:fillRect/>
                      </a:stretch>
                    </p:blipFill>
                    <p:spPr>
                      <a:xfrm>
                        <a:off x="1447799" y="4572001"/>
                        <a:ext cx="5389415" cy="1602258"/>
                      </a:xfrm>
                      <a:prstGeom prst="rect">
                        <a:avLst/>
                      </a:prstGeom>
                    </p:spPr>
                  </p:pic>
                </p:oleObj>
              </mc:Fallback>
            </mc:AlternateContent>
          </a:graphicData>
        </a:graphic>
      </p:graphicFrame>
    </p:spTree>
    <p:extLst>
      <p:ext uri="{BB962C8B-B14F-4D97-AF65-F5344CB8AC3E}">
        <p14:creationId xmlns:p14="http://schemas.microsoft.com/office/powerpoint/2010/main" val="2357601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en-US" smtClean="0"/>
              <a:t>Tax Incidence Analysis</a:t>
            </a:r>
          </a:p>
        </p:txBody>
      </p:sp>
      <p:sp>
        <p:nvSpPr>
          <p:cNvPr id="84995" name="Rectangle 3"/>
          <p:cNvSpPr>
            <a:spLocks noGrp="1" noChangeArrowheads="1"/>
          </p:cNvSpPr>
          <p:nvPr>
            <p:ph idx="1"/>
          </p:nvPr>
        </p:nvSpPr>
        <p:spPr/>
        <p:txBody>
          <a:bodyPr/>
          <a:lstStyle/>
          <a:p>
            <a:pPr lvl="1"/>
            <a:r>
              <a:rPr lang="en-US" altLang="en-US" dirty="0" smtClean="0"/>
              <a:t>In matrix notation: </a:t>
            </a:r>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1D4C9A0-C9AB-47D4-9DBD-9813F405574B}" type="slidenum">
              <a:rPr lang="en-US" smtClean="0"/>
              <a:pPr>
                <a:defRPr/>
              </a:pPr>
              <a:t>74</a:t>
            </a:fld>
            <a:endParaRPr lang="en-US"/>
          </a:p>
        </p:txBody>
      </p:sp>
      <p:graphicFrame>
        <p:nvGraphicFramePr>
          <p:cNvPr id="2" name="Object 1"/>
          <p:cNvGraphicFramePr>
            <a:graphicFrameLocks noChangeAspect="1"/>
          </p:cNvGraphicFramePr>
          <p:nvPr>
            <p:extLst>
              <p:ext uri="{D42A27DB-BD31-4B8C-83A1-F6EECF244321}">
                <p14:modId xmlns:p14="http://schemas.microsoft.com/office/powerpoint/2010/main" val="2641243239"/>
              </p:ext>
            </p:extLst>
          </p:nvPr>
        </p:nvGraphicFramePr>
        <p:xfrm>
          <a:off x="1243012" y="1905000"/>
          <a:ext cx="6657976" cy="3513137"/>
        </p:xfrm>
        <a:graphic>
          <a:graphicData uri="http://schemas.openxmlformats.org/presentationml/2006/ole">
            <mc:AlternateContent xmlns:mc="http://schemas.openxmlformats.org/markup-compatibility/2006">
              <mc:Choice xmlns:v="urn:schemas-microsoft-com:vml" Requires="v">
                <p:oleObj spid="_x0000_s270345" name="Equation" r:id="rId3" imgW="3848040" imgH="2031840" progId="Equation.DSMT4">
                  <p:embed/>
                </p:oleObj>
              </mc:Choice>
              <mc:Fallback>
                <p:oleObj name="Equation" r:id="rId3" imgW="3848040" imgH="2031840" progId="Equation.DSMT4">
                  <p:embed/>
                  <p:pic>
                    <p:nvPicPr>
                      <p:cNvPr id="0" name=""/>
                      <p:cNvPicPr/>
                      <p:nvPr/>
                    </p:nvPicPr>
                    <p:blipFill>
                      <a:blip r:embed="rId4"/>
                      <a:stretch>
                        <a:fillRect/>
                      </a:stretch>
                    </p:blipFill>
                    <p:spPr>
                      <a:xfrm>
                        <a:off x="1243012" y="1905000"/>
                        <a:ext cx="6657976" cy="3513137"/>
                      </a:xfrm>
                      <a:prstGeom prst="rect">
                        <a:avLst/>
                      </a:prstGeom>
                    </p:spPr>
                  </p:pic>
                </p:oleObj>
              </mc:Fallback>
            </mc:AlternateContent>
          </a:graphicData>
        </a:graphic>
      </p:graphicFrame>
    </p:spTree>
    <p:extLst>
      <p:ext uri="{BB962C8B-B14F-4D97-AF65-F5344CB8AC3E}">
        <p14:creationId xmlns:p14="http://schemas.microsoft.com/office/powerpoint/2010/main" val="2986911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en-US" smtClean="0"/>
              <a:t>Tax Incidence Analysis</a:t>
            </a:r>
          </a:p>
        </p:txBody>
      </p:sp>
      <p:sp>
        <p:nvSpPr>
          <p:cNvPr id="84995" name="Rectangle 3"/>
          <p:cNvSpPr>
            <a:spLocks noGrp="1" noChangeArrowheads="1"/>
          </p:cNvSpPr>
          <p:nvPr>
            <p:ph idx="1"/>
          </p:nvPr>
        </p:nvSpPr>
        <p:spPr/>
        <p:txBody>
          <a:bodyPr/>
          <a:lstStyle/>
          <a:p>
            <a:pPr lvl="1"/>
            <a:r>
              <a:rPr lang="en-US" altLang="en-US" dirty="0" smtClean="0"/>
              <a:t>In elasticity terms: </a:t>
            </a:r>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1D4C9A0-C9AB-47D4-9DBD-9813F405574B}" type="slidenum">
              <a:rPr lang="en-US" smtClean="0"/>
              <a:pPr>
                <a:defRPr/>
              </a:pPr>
              <a:t>75</a:t>
            </a:fld>
            <a:endParaRPr lang="en-US"/>
          </a:p>
        </p:txBody>
      </p:sp>
      <p:sp>
        <p:nvSpPr>
          <p:cNvPr id="3" name="Text Placeholder 2"/>
          <p:cNvSpPr>
            <a:spLocks noGrp="1"/>
          </p:cNvSpPr>
          <p:nvPr>
            <p:ph type="body" sz="quarter" idx="12"/>
          </p:nvPr>
        </p:nvSpPr>
        <p:spPr>
          <a:xfrm>
            <a:off x="381000" y="3962400"/>
            <a:ext cx="8534400" cy="2286000"/>
          </a:xfrm>
        </p:spPr>
        <p:txBody>
          <a:bodyPr/>
          <a:lstStyle/>
          <a:p>
            <a:r>
              <a:rPr lang="en-US" dirty="0" smtClean="0"/>
              <a:t>Imposition of the tax increases the price paid by demanders</a:t>
            </a:r>
          </a:p>
          <a:p>
            <a:pPr lvl="2"/>
            <a:r>
              <a:rPr lang="en-US" dirty="0" smtClean="0"/>
              <a:t>Except when </a:t>
            </a:r>
            <a:r>
              <a:rPr lang="en-US" i="1" dirty="0" err="1" smtClean="0"/>
              <a:t>e</a:t>
            </a:r>
            <a:r>
              <a:rPr lang="en-US" i="1" baseline="-25000" dirty="0" err="1" smtClean="0"/>
              <a:t>S,</a:t>
            </a:r>
            <a:r>
              <a:rPr lang="en-US" baseline="-25000" dirty="0" err="1" smtClean="0"/>
              <a:t>P</a:t>
            </a:r>
            <a:r>
              <a:rPr lang="en-US" baseline="-25000" dirty="0" smtClean="0"/>
              <a:t> </a:t>
            </a:r>
            <a:r>
              <a:rPr lang="en-US" dirty="0" smtClean="0"/>
              <a:t>= 0</a:t>
            </a:r>
          </a:p>
          <a:p>
            <a:pPr lvl="2"/>
            <a:r>
              <a:rPr lang="en-US" dirty="0" smtClean="0"/>
              <a:t>Demanders pay all the tax when </a:t>
            </a:r>
            <a:r>
              <a:rPr lang="en-US" i="1" dirty="0" err="1" smtClean="0"/>
              <a:t>e</a:t>
            </a:r>
            <a:r>
              <a:rPr lang="en-US" i="1" baseline="-25000" dirty="0" err="1" smtClean="0"/>
              <a:t>D,P</a:t>
            </a:r>
            <a:r>
              <a:rPr lang="en-US" i="1" baseline="-25000" dirty="0" smtClean="0"/>
              <a:t> </a:t>
            </a:r>
            <a:r>
              <a:rPr lang="en-US" dirty="0" smtClean="0"/>
              <a:t>= 0</a:t>
            </a:r>
            <a:endParaRPr lang="en-US" dirty="0"/>
          </a:p>
        </p:txBody>
      </p:sp>
      <p:graphicFrame>
        <p:nvGraphicFramePr>
          <p:cNvPr id="2" name="Object 1"/>
          <p:cNvGraphicFramePr>
            <a:graphicFrameLocks noChangeAspect="1"/>
          </p:cNvGraphicFramePr>
          <p:nvPr>
            <p:extLst>
              <p:ext uri="{D42A27DB-BD31-4B8C-83A1-F6EECF244321}">
                <p14:modId xmlns:p14="http://schemas.microsoft.com/office/powerpoint/2010/main" val="3453028094"/>
              </p:ext>
            </p:extLst>
          </p:nvPr>
        </p:nvGraphicFramePr>
        <p:xfrm>
          <a:off x="1524000" y="1905000"/>
          <a:ext cx="5507308" cy="2111375"/>
        </p:xfrm>
        <a:graphic>
          <a:graphicData uri="http://schemas.openxmlformats.org/presentationml/2006/ole">
            <mc:AlternateContent xmlns:mc="http://schemas.openxmlformats.org/markup-compatibility/2006">
              <mc:Choice xmlns:v="urn:schemas-microsoft-com:vml" Requires="v">
                <p:oleObj spid="_x0000_s271369" name="Equation" r:id="rId3" imgW="2450880" imgH="939600" progId="Equation.DSMT4">
                  <p:embed/>
                </p:oleObj>
              </mc:Choice>
              <mc:Fallback>
                <p:oleObj name="Equation" r:id="rId3" imgW="2450880" imgH="939600" progId="Equation.DSMT4">
                  <p:embed/>
                  <p:pic>
                    <p:nvPicPr>
                      <p:cNvPr id="0" name=""/>
                      <p:cNvPicPr/>
                      <p:nvPr/>
                    </p:nvPicPr>
                    <p:blipFill>
                      <a:blip r:embed="rId4"/>
                      <a:stretch>
                        <a:fillRect/>
                      </a:stretch>
                    </p:blipFill>
                    <p:spPr>
                      <a:xfrm>
                        <a:off x="1524000" y="1905000"/>
                        <a:ext cx="5507308" cy="2111375"/>
                      </a:xfrm>
                      <a:prstGeom prst="rect">
                        <a:avLst/>
                      </a:prstGeom>
                    </p:spPr>
                  </p:pic>
                </p:oleObj>
              </mc:Fallback>
            </mc:AlternateContent>
          </a:graphicData>
        </a:graphic>
      </p:graphicFrame>
    </p:spTree>
    <p:extLst>
      <p:ext uri="{BB962C8B-B14F-4D97-AF65-F5344CB8AC3E}">
        <p14:creationId xmlns:p14="http://schemas.microsoft.com/office/powerpoint/2010/main" val="1600589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left)">
                                      <p:cBhvr>
                                        <p:cTn id="15" dur="500"/>
                                        <p:tgtEl>
                                          <p:spTgt spid="3">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left)">
                                      <p:cBhvr>
                                        <p:cTn id="19"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en-US" smtClean="0"/>
              <a:t>Tax Incidence Analysis</a:t>
            </a:r>
          </a:p>
        </p:txBody>
      </p:sp>
      <p:sp>
        <p:nvSpPr>
          <p:cNvPr id="84995" name="Rectangle 3"/>
          <p:cNvSpPr>
            <a:spLocks noGrp="1" noChangeArrowheads="1"/>
          </p:cNvSpPr>
          <p:nvPr>
            <p:ph idx="1"/>
          </p:nvPr>
        </p:nvSpPr>
        <p:spPr/>
        <p:txBody>
          <a:bodyPr/>
          <a:lstStyle/>
          <a:p>
            <a:pPr lvl="1"/>
            <a:r>
              <a:rPr lang="en-US" altLang="en-US" dirty="0" smtClean="0"/>
              <a:t>How much of the burden of tax is imposed on demanders and on sellers:</a:t>
            </a:r>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1D4C9A0-C9AB-47D4-9DBD-9813F405574B}" type="slidenum">
              <a:rPr lang="en-US" smtClean="0"/>
              <a:pPr>
                <a:defRPr/>
              </a:pPr>
              <a:t>76</a:t>
            </a:fld>
            <a:endParaRPr lang="en-US"/>
          </a:p>
        </p:txBody>
      </p:sp>
      <p:graphicFrame>
        <p:nvGraphicFramePr>
          <p:cNvPr id="2" name="Object 1"/>
          <p:cNvGraphicFramePr>
            <a:graphicFrameLocks noChangeAspect="1"/>
          </p:cNvGraphicFramePr>
          <p:nvPr>
            <p:extLst>
              <p:ext uri="{D42A27DB-BD31-4B8C-83A1-F6EECF244321}">
                <p14:modId xmlns:p14="http://schemas.microsoft.com/office/powerpoint/2010/main" val="163633604"/>
              </p:ext>
            </p:extLst>
          </p:nvPr>
        </p:nvGraphicFramePr>
        <p:xfrm>
          <a:off x="609600" y="2514600"/>
          <a:ext cx="8018463" cy="924299"/>
        </p:xfrm>
        <a:graphic>
          <a:graphicData uri="http://schemas.openxmlformats.org/presentationml/2006/ole">
            <mc:AlternateContent xmlns:mc="http://schemas.openxmlformats.org/markup-compatibility/2006">
              <mc:Choice xmlns:v="urn:schemas-microsoft-com:vml" Requires="v">
                <p:oleObj spid="_x0000_s272392" name="Equation" r:id="rId3" imgW="4076640" imgH="469800" progId="Equation.DSMT4">
                  <p:embed/>
                </p:oleObj>
              </mc:Choice>
              <mc:Fallback>
                <p:oleObj name="Equation" r:id="rId3" imgW="4076640" imgH="469800" progId="Equation.DSMT4">
                  <p:embed/>
                  <p:pic>
                    <p:nvPicPr>
                      <p:cNvPr id="0" name=""/>
                      <p:cNvPicPr/>
                      <p:nvPr/>
                    </p:nvPicPr>
                    <p:blipFill>
                      <a:blip r:embed="rId4"/>
                      <a:stretch>
                        <a:fillRect/>
                      </a:stretch>
                    </p:blipFill>
                    <p:spPr>
                      <a:xfrm>
                        <a:off x="609600" y="2514600"/>
                        <a:ext cx="8018463" cy="924299"/>
                      </a:xfrm>
                      <a:prstGeom prst="rect">
                        <a:avLst/>
                      </a:prstGeom>
                    </p:spPr>
                  </p:pic>
                </p:oleObj>
              </mc:Fallback>
            </mc:AlternateContent>
          </a:graphicData>
        </a:graphic>
      </p:graphicFrame>
    </p:spTree>
    <p:extLst>
      <p:ext uri="{BB962C8B-B14F-4D97-AF65-F5344CB8AC3E}">
        <p14:creationId xmlns:p14="http://schemas.microsoft.com/office/powerpoint/2010/main" val="2157820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a:lnSpc>
                <a:spcPct val="90000"/>
              </a:lnSpc>
            </a:pPr>
            <a:r>
              <a:rPr lang="en-US" altLang="en-US" smtClean="0"/>
              <a:t>Deadweight Loss and Elasticity</a:t>
            </a:r>
          </a:p>
        </p:txBody>
      </p:sp>
      <p:sp>
        <p:nvSpPr>
          <p:cNvPr id="87043" name="Rectangle 3"/>
          <p:cNvSpPr>
            <a:spLocks noGrp="1" noChangeArrowheads="1"/>
          </p:cNvSpPr>
          <p:nvPr>
            <p:ph idx="1"/>
          </p:nvPr>
        </p:nvSpPr>
        <p:spPr/>
        <p:txBody>
          <a:bodyPr/>
          <a:lstStyle/>
          <a:p>
            <a:r>
              <a:rPr lang="en-US" altLang="en-US" dirty="0" smtClean="0"/>
              <a:t>All non-lump-sum taxes</a:t>
            </a:r>
          </a:p>
          <a:p>
            <a:pPr lvl="1"/>
            <a:r>
              <a:rPr lang="en-US" altLang="en-US" dirty="0" smtClean="0"/>
              <a:t>Involve deadweight losses</a:t>
            </a:r>
          </a:p>
          <a:p>
            <a:pPr lvl="1"/>
            <a:r>
              <a:rPr lang="en-US" altLang="en-US" dirty="0" smtClean="0"/>
              <a:t>The size of the losses will depend on the elasticities of supply and demand</a:t>
            </a:r>
          </a:p>
          <a:p>
            <a:r>
              <a:rPr lang="en-US" altLang="en-US" dirty="0" smtClean="0"/>
              <a:t>A linear approximation to the size of this deadweight loss for a small tax, </a:t>
            </a:r>
            <a:r>
              <a:rPr lang="en-US" altLang="en-US" i="1" dirty="0" smtClean="0"/>
              <a:t>t</a:t>
            </a:r>
            <a:r>
              <a:rPr lang="en-US" altLang="en-US" dirty="0" smtClean="0"/>
              <a:t> </a:t>
            </a:r>
          </a:p>
          <a:p>
            <a:pPr algn="ctr">
              <a:lnSpc>
                <a:spcPct val="110000"/>
              </a:lnSpc>
              <a:buFontTx/>
              <a:buNone/>
            </a:pPr>
            <a:r>
              <a:rPr lang="en-US" altLang="en-US" sz="3200" i="1" dirty="0" smtClean="0">
                <a:solidFill>
                  <a:srgbClr val="FF0000"/>
                </a:solidFill>
              </a:rPr>
              <a:t>DW = -0.5t</a:t>
            </a:r>
            <a:r>
              <a:rPr lang="en-US" altLang="en-US" sz="3200" i="1" baseline="30000" dirty="0" smtClean="0">
                <a:solidFill>
                  <a:srgbClr val="FF0000"/>
                </a:solidFill>
              </a:rPr>
              <a:t>2</a:t>
            </a:r>
            <a:r>
              <a:rPr lang="en-US" altLang="en-US" sz="3200" i="1" dirty="0" smtClean="0">
                <a:solidFill>
                  <a:srgbClr val="FF0000"/>
                </a:solidFill>
              </a:rPr>
              <a:t> </a:t>
            </a:r>
            <a:r>
              <a:rPr lang="en-US" altLang="en-US" sz="3200" i="1" dirty="0" err="1" smtClean="0">
                <a:solidFill>
                  <a:srgbClr val="FF0000"/>
                </a:solidFill>
              </a:rPr>
              <a:t>dQ</a:t>
            </a:r>
            <a:r>
              <a:rPr lang="en-US" altLang="en-US" sz="3200" i="1" dirty="0" smtClean="0">
                <a:solidFill>
                  <a:srgbClr val="FF0000"/>
                </a:solidFill>
              </a:rPr>
              <a:t>/</a:t>
            </a:r>
            <a:r>
              <a:rPr lang="en-US" altLang="en-US" sz="3200" i="1" dirty="0" err="1" smtClean="0">
                <a:solidFill>
                  <a:srgbClr val="FF0000"/>
                </a:solidFill>
              </a:rPr>
              <a:t>dt</a:t>
            </a:r>
            <a:endParaRPr lang="en-US" altLang="en-US" sz="3200" i="1" dirty="0" smtClean="0">
              <a:solidFill>
                <a:srgbClr val="FF0000"/>
              </a:solidFill>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7BB4100-692C-4D52-A866-C5E61E7783A8}" type="slidenum">
              <a:rPr lang="en-US" smtClean="0"/>
              <a:pPr>
                <a:defRPr/>
              </a:pPr>
              <a:t>77</a:t>
            </a:fld>
            <a:endParaRPr lang="en-US"/>
          </a:p>
        </p:txBody>
      </p:sp>
    </p:spTree>
    <p:extLst>
      <p:ext uri="{BB962C8B-B14F-4D97-AF65-F5344CB8AC3E}">
        <p14:creationId xmlns:p14="http://schemas.microsoft.com/office/powerpoint/2010/main" val="324824024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a:lnSpc>
                <a:spcPct val="90000"/>
              </a:lnSpc>
            </a:pPr>
            <a:r>
              <a:rPr lang="en-US" altLang="en-US" smtClean="0"/>
              <a:t>Deadweight Loss and Elasticity</a:t>
            </a:r>
          </a:p>
        </p:txBody>
      </p:sp>
      <p:sp>
        <p:nvSpPr>
          <p:cNvPr id="18436" name="Rectangle 3"/>
          <p:cNvSpPr>
            <a:spLocks noGrp="1" noChangeArrowheads="1"/>
          </p:cNvSpPr>
          <p:nvPr>
            <p:ph idx="1"/>
          </p:nvPr>
        </p:nvSpPr>
        <p:spPr/>
        <p:txBody>
          <a:bodyPr/>
          <a:lstStyle/>
          <a:p>
            <a:r>
              <a:rPr lang="en-US" altLang="en-US" dirty="0" smtClean="0"/>
              <a:t>Deadweight loss in elasticity terms:</a:t>
            </a:r>
            <a:endParaRPr lang="en-US" altLang="en-US" dirty="0" smtClean="0"/>
          </a:p>
          <a:p>
            <a:endParaRPr lang="en-US" altLang="en-US" sz="3200" i="1" dirty="0" smtClean="0">
              <a:solidFill>
                <a:srgbClr val="FF0000"/>
              </a:solidFill>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3C575D6-38A3-4B52-A0D9-49B9F18D5472}" type="slidenum">
              <a:rPr lang="en-US" smtClean="0"/>
              <a:pPr>
                <a:defRPr/>
              </a:pPr>
              <a:t>78</a:t>
            </a:fld>
            <a:endParaRPr lang="en-US"/>
          </a:p>
        </p:txBody>
      </p:sp>
      <p:sp>
        <p:nvSpPr>
          <p:cNvPr id="2" name="Text Placeholder 1"/>
          <p:cNvSpPr>
            <a:spLocks noGrp="1"/>
          </p:cNvSpPr>
          <p:nvPr>
            <p:ph type="body" sz="quarter" idx="12"/>
          </p:nvPr>
        </p:nvSpPr>
        <p:spPr>
          <a:xfrm>
            <a:off x="381000" y="2667000"/>
            <a:ext cx="8534400" cy="3581400"/>
          </a:xfrm>
        </p:spPr>
        <p:txBody>
          <a:bodyPr>
            <a:normAutofit/>
          </a:bodyPr>
          <a:lstStyle/>
          <a:p>
            <a:pPr lvl="1"/>
            <a:r>
              <a:rPr lang="en-US" dirty="0" smtClean="0"/>
              <a:t>Is </a:t>
            </a:r>
            <a:r>
              <a:rPr lang="en-US" dirty="0"/>
              <a:t>proportional to total spending on the </a:t>
            </a:r>
            <a:r>
              <a:rPr lang="en-US" dirty="0" smtClean="0"/>
              <a:t>good</a:t>
            </a:r>
          </a:p>
          <a:p>
            <a:pPr lvl="2"/>
            <a:r>
              <a:rPr lang="en-US" dirty="0" smtClean="0"/>
              <a:t>This </a:t>
            </a:r>
            <a:r>
              <a:rPr lang="en-US" dirty="0"/>
              <a:t>proportion rises with the square of the tax as a proportion of the product’s </a:t>
            </a:r>
            <a:r>
              <a:rPr lang="en-US" dirty="0" smtClean="0"/>
              <a:t>price.</a:t>
            </a:r>
          </a:p>
          <a:p>
            <a:pPr lvl="2"/>
            <a:r>
              <a:rPr lang="en-US" dirty="0" smtClean="0"/>
              <a:t>At </a:t>
            </a:r>
            <a:r>
              <a:rPr lang="en-US" dirty="0"/>
              <a:t>the marginal excess burden of a tax increases as the tax rate </a:t>
            </a:r>
            <a:r>
              <a:rPr lang="en-US" dirty="0" smtClean="0"/>
              <a:t>increases</a:t>
            </a:r>
          </a:p>
          <a:p>
            <a:pPr lvl="2"/>
            <a:r>
              <a:rPr lang="en-US" dirty="0" smtClean="0"/>
              <a:t>The </a:t>
            </a:r>
            <a:r>
              <a:rPr lang="en-US" dirty="0"/>
              <a:t>lower </a:t>
            </a:r>
            <a:r>
              <a:rPr lang="en-US" dirty="0" smtClean="0"/>
              <a:t>the elasticities of supply and demand, </a:t>
            </a:r>
            <a:r>
              <a:rPr lang="en-US" dirty="0"/>
              <a:t>the smaller is the excess burden</a:t>
            </a:r>
          </a:p>
        </p:txBody>
      </p:sp>
      <p:graphicFrame>
        <p:nvGraphicFramePr>
          <p:cNvPr id="6" name="Object 2"/>
          <p:cNvGraphicFramePr>
            <a:graphicFrameLocks noChangeAspect="1"/>
          </p:cNvGraphicFramePr>
          <p:nvPr>
            <p:extLst>
              <p:ext uri="{D42A27DB-BD31-4B8C-83A1-F6EECF244321}">
                <p14:modId xmlns:p14="http://schemas.microsoft.com/office/powerpoint/2010/main" val="938847267"/>
              </p:ext>
            </p:extLst>
          </p:nvPr>
        </p:nvGraphicFramePr>
        <p:xfrm>
          <a:off x="609600" y="1752600"/>
          <a:ext cx="7924801" cy="877267"/>
        </p:xfrm>
        <a:graphic>
          <a:graphicData uri="http://schemas.openxmlformats.org/presentationml/2006/ole">
            <mc:AlternateContent xmlns:mc="http://schemas.openxmlformats.org/markup-compatibility/2006">
              <mc:Choice xmlns:v="urn:schemas-microsoft-com:vml" Requires="v">
                <p:oleObj spid="_x0000_s263183" name="Equation" r:id="rId3" imgW="4470120" imgH="495000" progId="Equation.DSMT4">
                  <p:embed/>
                </p:oleObj>
              </mc:Choice>
              <mc:Fallback>
                <p:oleObj name="Equation" r:id="rId3" imgW="4470120" imgH="495000" progId="Equation.DSMT4">
                  <p:embed/>
                  <p:pic>
                    <p:nvPicPr>
                      <p:cNvPr id="0" name=""/>
                      <p:cNvPicPr>
                        <a:picLocks noChangeAspect="1" noChangeArrowheads="1"/>
                      </p:cNvPicPr>
                      <p:nvPr/>
                    </p:nvPicPr>
                    <p:blipFill>
                      <a:blip r:embed="rId4"/>
                      <a:srcRect/>
                      <a:stretch>
                        <a:fillRect/>
                      </a:stretch>
                    </p:blipFill>
                    <p:spPr bwMode="auto">
                      <a:xfrm>
                        <a:off x="609600" y="1752600"/>
                        <a:ext cx="7924801" cy="87726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9830507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wipe(left)">
                                      <p:cBhvr>
                                        <p:cTn id="23"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altLang="en-US" smtClean="0"/>
              <a:t>Transactions Costs</a:t>
            </a:r>
          </a:p>
        </p:txBody>
      </p:sp>
      <p:sp>
        <p:nvSpPr>
          <p:cNvPr id="89091" name="Rectangle 3"/>
          <p:cNvSpPr>
            <a:spLocks noGrp="1" noChangeArrowheads="1"/>
          </p:cNvSpPr>
          <p:nvPr>
            <p:ph idx="1"/>
          </p:nvPr>
        </p:nvSpPr>
        <p:spPr/>
        <p:txBody>
          <a:bodyPr/>
          <a:lstStyle/>
          <a:p>
            <a:r>
              <a:rPr lang="en-US" altLang="en-US" smtClean="0"/>
              <a:t>Transactions costs </a:t>
            </a:r>
          </a:p>
          <a:p>
            <a:pPr lvl="1"/>
            <a:r>
              <a:rPr lang="en-US" altLang="en-US" smtClean="0"/>
              <a:t>Can create a wedge between the price the buyer pays and the price the seller receives</a:t>
            </a:r>
          </a:p>
          <a:p>
            <a:r>
              <a:rPr lang="en-US" altLang="en-US" smtClean="0"/>
              <a:t>If the transactions costs are on a per-unit basis</a:t>
            </a:r>
          </a:p>
          <a:p>
            <a:pPr lvl="1"/>
            <a:r>
              <a:rPr lang="en-US" altLang="en-US" smtClean="0"/>
              <a:t>They will be shared by the buyer and seller</a:t>
            </a:r>
          </a:p>
          <a:p>
            <a:pPr lvl="2"/>
            <a:r>
              <a:rPr lang="en-US" altLang="en-US" smtClean="0"/>
              <a:t>Depends on the specific elasticities involved</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CDDFFB3-9843-4526-A53E-74B5ED9CBFA2}" type="slidenum">
              <a:rPr lang="en-US" smtClean="0"/>
              <a:pPr>
                <a:defRPr/>
              </a:pPr>
              <a:t>79</a:t>
            </a:fld>
            <a:endParaRPr lang="en-US"/>
          </a:p>
        </p:txBody>
      </p:sp>
    </p:spTree>
    <p:extLst>
      <p:ext uri="{BB962C8B-B14F-4D97-AF65-F5344CB8AC3E}">
        <p14:creationId xmlns:p14="http://schemas.microsoft.com/office/powerpoint/2010/main" val="946160531"/>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12.7 	The Excess Burden of a Tax</a:t>
            </a:r>
          </a:p>
        </p:txBody>
      </p:sp>
      <p:sp>
        <p:nvSpPr>
          <p:cNvPr id="90117"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DD2D7C7A-FE40-4BAB-9D7A-1C7E8391846E}" type="slidenum">
              <a:rPr lang="en-US" smtClean="0"/>
              <a:pPr>
                <a:defRPr/>
              </a:pPr>
              <a:t>80</a:t>
            </a:fld>
            <a:endParaRPr lang="en-US" dirty="0"/>
          </a:p>
        </p:txBody>
      </p:sp>
      <p:sp>
        <p:nvSpPr>
          <p:cNvPr id="90115" name="Content Placeholder 2"/>
          <p:cNvSpPr>
            <a:spLocks noGrp="1"/>
          </p:cNvSpPr>
          <p:nvPr>
            <p:ph type="body" sz="quarter" idx="12"/>
          </p:nvPr>
        </p:nvSpPr>
        <p:spPr>
          <a:prstGeom prst="rect">
            <a:avLst/>
          </a:prstGeom>
        </p:spPr>
        <p:txBody>
          <a:bodyPr/>
          <a:lstStyle/>
          <a:p>
            <a:r>
              <a:rPr lang="en-US" altLang="en-US" dirty="0" smtClean="0"/>
              <a:t>From Example 12.6 </a:t>
            </a:r>
          </a:p>
          <a:p>
            <a:pPr lvl="1"/>
            <a:r>
              <a:rPr lang="en-US" altLang="en-US" dirty="0" smtClean="0"/>
              <a:t>Equilibrium level of output = 12.8 </a:t>
            </a:r>
          </a:p>
          <a:p>
            <a:r>
              <a:rPr lang="en-US" altLang="en-US" dirty="0" smtClean="0"/>
              <a:t>A tax of $2,640</a:t>
            </a:r>
          </a:p>
          <a:p>
            <a:pPr lvl="1"/>
            <a:r>
              <a:rPr lang="en-US" altLang="en-US" dirty="0" smtClean="0"/>
              <a:t>New level of output = 11 </a:t>
            </a:r>
          </a:p>
          <a:p>
            <a:r>
              <a:rPr lang="en-US" altLang="en-US" dirty="0" smtClean="0"/>
              <a:t>With </a:t>
            </a:r>
          </a:p>
          <a:p>
            <a:pPr lvl="1"/>
            <a:r>
              <a:rPr lang="en-US" altLang="en-US" i="1" dirty="0" err="1" smtClean="0"/>
              <a:t>e</a:t>
            </a:r>
            <a:r>
              <a:rPr lang="en-US" altLang="en-US" i="1" baseline="-25000" dirty="0" err="1" smtClean="0"/>
              <a:t>D</a:t>
            </a:r>
            <a:r>
              <a:rPr lang="en-US" altLang="en-US" dirty="0" smtClean="0"/>
              <a:t>= 1.2, </a:t>
            </a:r>
            <a:r>
              <a:rPr lang="en-US" altLang="en-US" i="1" dirty="0" err="1" smtClean="0"/>
              <a:t>e</a:t>
            </a:r>
            <a:r>
              <a:rPr lang="en-US" altLang="en-US" i="1" baseline="-25000" dirty="0" err="1" smtClean="0"/>
              <a:t>S</a:t>
            </a:r>
            <a:r>
              <a:rPr lang="en-US" altLang="en-US" baseline="-25000" dirty="0" smtClean="0"/>
              <a:t> </a:t>
            </a:r>
            <a:r>
              <a:rPr lang="en-US" altLang="en-US" dirty="0" smtClean="0"/>
              <a:t>= 1.0, and initial spending = $126 </a:t>
            </a:r>
          </a:p>
          <a:p>
            <a:pPr lvl="1"/>
            <a:r>
              <a:rPr lang="en-US" altLang="en-US" i="1" dirty="0" smtClean="0"/>
              <a:t>DW</a:t>
            </a:r>
            <a:r>
              <a:rPr lang="en-US" altLang="en-US" dirty="0" smtClean="0"/>
              <a:t> = 0.5(2.64/9.87)</a:t>
            </a:r>
            <a:r>
              <a:rPr lang="en-US" altLang="en-US" baseline="30000" dirty="0" smtClean="0"/>
              <a:t>2</a:t>
            </a:r>
            <a:r>
              <a:rPr lang="en-US" altLang="en-US" dirty="0" smtClean="0"/>
              <a:t>(1.2/2.2)126 = 2.46</a:t>
            </a:r>
          </a:p>
        </p:txBody>
      </p:sp>
    </p:spTree>
    <p:extLst>
      <p:ext uri="{BB962C8B-B14F-4D97-AF65-F5344CB8AC3E}">
        <p14:creationId xmlns:p14="http://schemas.microsoft.com/office/powerpoint/2010/main" val="71267386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p:cNvSpPr>
          <p:nvPr>
            <p:ph type="title"/>
          </p:nvPr>
        </p:nvSpPr>
        <p:spPr/>
        <p:txBody>
          <a:bodyPr/>
          <a:lstStyle/>
          <a:p>
            <a:r>
              <a:rPr lang="en-US" altLang="en-US" sz="3300" smtClean="0"/>
              <a:t>Demand aggregation and estimation</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04C5E01-9873-4690-88F0-768C47027E68}" type="slidenum">
              <a:rPr lang="en-US" smtClean="0"/>
              <a:pPr>
                <a:defRPr/>
              </a:pPr>
              <a:t>81</a:t>
            </a:fld>
            <a:endParaRPr lang="en-US"/>
          </a:p>
        </p:txBody>
      </p:sp>
      <p:sp>
        <p:nvSpPr>
          <p:cNvPr id="91139" name="Content Placeholder 2"/>
          <p:cNvSpPr>
            <a:spLocks noGrp="1"/>
          </p:cNvSpPr>
          <p:nvPr>
            <p:ph type="body" sz="quarter" idx="12"/>
          </p:nvPr>
        </p:nvSpPr>
        <p:spPr/>
        <p:txBody>
          <a:bodyPr/>
          <a:lstStyle/>
          <a:p>
            <a:r>
              <a:rPr lang="en-US" altLang="en-US" dirty="0" smtClean="0"/>
              <a:t>Market demand functions are </a:t>
            </a:r>
            <a:r>
              <a:rPr lang="en-US" altLang="en-US" u="sng" dirty="0" smtClean="0"/>
              <a:t>continuous </a:t>
            </a:r>
          </a:p>
          <a:p>
            <a:pPr lvl="1"/>
            <a:r>
              <a:rPr lang="en-US" altLang="en-US" dirty="0" smtClean="0"/>
              <a:t>If individual demand functions are continuous or discontinuous </a:t>
            </a:r>
          </a:p>
          <a:p>
            <a:r>
              <a:rPr lang="en-US" altLang="en-US" dirty="0" smtClean="0"/>
              <a:t>Market demand functions</a:t>
            </a:r>
          </a:p>
          <a:p>
            <a:pPr lvl="1"/>
            <a:r>
              <a:rPr lang="en-US" altLang="en-US" dirty="0" smtClean="0"/>
              <a:t>Are </a:t>
            </a:r>
            <a:r>
              <a:rPr lang="en-US" altLang="en-US" u="sng" dirty="0" smtClean="0"/>
              <a:t>homogeneous</a:t>
            </a:r>
            <a:r>
              <a:rPr lang="en-US" altLang="en-US" dirty="0" smtClean="0"/>
              <a:t> of degree 0 in all prices and individual income </a:t>
            </a:r>
          </a:p>
          <a:p>
            <a:pPr lvl="3"/>
            <a:r>
              <a:rPr lang="en-US" altLang="en-US" dirty="0" smtClean="0"/>
              <a:t>Because each individual’s demand function is homogeneous of degree 0 in all prices and income</a:t>
            </a:r>
          </a:p>
          <a:p>
            <a:pPr lvl="1"/>
            <a:r>
              <a:rPr lang="en-US" altLang="en-US" dirty="0" smtClean="0"/>
              <a:t>Are not necessarily homogeneous of degree 0 in all prices and total income</a:t>
            </a:r>
          </a:p>
        </p:txBody>
      </p:sp>
    </p:spTree>
    <p:extLst>
      <p:ext uri="{BB962C8B-B14F-4D97-AF65-F5344CB8AC3E}">
        <p14:creationId xmlns:p14="http://schemas.microsoft.com/office/powerpoint/2010/main" val="14147971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p:cNvSpPr>
          <p:nvPr>
            <p:ph type="title"/>
          </p:nvPr>
        </p:nvSpPr>
        <p:spPr bwMode="auto">
          <a:xfrm>
            <a:off x="1200150" y="0"/>
            <a:ext cx="794385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12.3	Representative Price and Income Elasticities </a:t>
            </a:r>
            <a:r>
              <a:rPr lang="en-US" altLang="en-US" dirty="0" smtClean="0"/>
              <a:t/>
            </a:r>
            <a:br>
              <a:rPr lang="en-US" altLang="en-US" dirty="0" smtClean="0"/>
            </a:br>
            <a:r>
              <a:rPr lang="en-US" altLang="en-US" dirty="0"/>
              <a:t>	</a:t>
            </a:r>
            <a:r>
              <a:rPr lang="en-US" altLang="en-US" dirty="0" smtClean="0">
                <a:solidFill>
                  <a:srgbClr val="002D56"/>
                </a:solidFill>
              </a:rPr>
              <a:t>of Demand</a:t>
            </a:r>
            <a:endParaRPr lang="en-US" altLang="en-US" dirty="0" smtClean="0">
              <a:solidFill>
                <a:srgbClr val="002D56"/>
              </a:solidFill>
            </a:endParaRPr>
          </a:p>
        </p:txBody>
      </p:sp>
      <p:sp>
        <p:nvSpPr>
          <p:cNvPr id="92165"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62DB10A2-CD15-4853-84CF-68B16F0D05C6}" type="slidenum">
              <a:rPr lang="en-US" smtClean="0"/>
              <a:pPr>
                <a:defRPr/>
              </a:pPr>
              <a:t>82</a:t>
            </a:fld>
            <a:endParaRPr lang="en-US" dirty="0"/>
          </a:p>
        </p:txBody>
      </p:sp>
      <p:pic>
        <p:nvPicPr>
          <p:cNvPr id="273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 y="1052513"/>
            <a:ext cx="8648700" cy="4752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70516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73410"/>
                                        </p:tgtEl>
                                        <p:attrNameLst>
                                          <p:attrName>style.visibility</p:attrName>
                                        </p:attrNameLst>
                                      </p:cBhvr>
                                      <p:to>
                                        <p:strVal val="visible"/>
                                      </p:to>
                                    </p:set>
                                    <p:animEffect transition="in" filter="wipe(up)">
                                      <p:cBhvr>
                                        <p:cTn id="7" dur="500"/>
                                        <p:tgtEl>
                                          <p:spTgt spid="273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p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fig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ab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xa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extension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6011</TotalTime>
  <Words>9232</Words>
  <Application>Microsoft Office PowerPoint</Application>
  <PresentationFormat>On-screen Show (4:3)</PresentationFormat>
  <Paragraphs>846</Paragraphs>
  <Slides>82</Slides>
  <Notes>1</Notes>
  <HiddenSlides>0</HiddenSlides>
  <MMClips>0</MMClips>
  <ScaleCrop>false</ScaleCrop>
  <HeadingPairs>
    <vt:vector size="6" baseType="variant">
      <vt:variant>
        <vt:lpstr>Theme</vt:lpstr>
      </vt:variant>
      <vt:variant>
        <vt:i4>6</vt:i4>
      </vt:variant>
      <vt:variant>
        <vt:lpstr>Embedded OLE Servers</vt:lpstr>
      </vt:variant>
      <vt:variant>
        <vt:i4>1</vt:i4>
      </vt:variant>
      <vt:variant>
        <vt:lpstr>Slide Titles</vt:lpstr>
      </vt:variant>
      <vt:variant>
        <vt:i4>82</vt:i4>
      </vt:variant>
    </vt:vector>
  </HeadingPairs>
  <TitlesOfParts>
    <vt:vector size="89" baseType="lpstr">
      <vt:lpstr>chapter</vt:lpstr>
      <vt:lpstr>main</vt:lpstr>
      <vt:lpstr>figure</vt:lpstr>
      <vt:lpstr>table</vt:lpstr>
      <vt:lpstr>example</vt:lpstr>
      <vt:lpstr>extensions</vt:lpstr>
      <vt:lpstr>MathType 6.0 Equation</vt:lpstr>
      <vt:lpstr>CHAPTER   The Partial Equilibrium  12    Competitive Model</vt:lpstr>
      <vt:lpstr>Market Demand</vt:lpstr>
      <vt:lpstr>Market Demand Curve</vt:lpstr>
      <vt:lpstr>12.1 Construction of a Market Demand Curve   from Individual Demand Curves</vt:lpstr>
      <vt:lpstr>Shifts in the Market Demand Curve</vt:lpstr>
      <vt:lpstr>12.1  Shifts in Market Demand</vt:lpstr>
      <vt:lpstr>12.1  Shifts in Market Demand</vt:lpstr>
      <vt:lpstr>Generalizations</vt:lpstr>
      <vt:lpstr>Generalizations</vt:lpstr>
      <vt:lpstr>Elasticity of Market Demand</vt:lpstr>
      <vt:lpstr>Timing of the Supply Response</vt:lpstr>
      <vt:lpstr>Pricing in the Very Short Run</vt:lpstr>
      <vt:lpstr>12.2 Pricing in the Very Short Run</vt:lpstr>
      <vt:lpstr>Short-Run Price Determination</vt:lpstr>
      <vt:lpstr>Perfect Competition</vt:lpstr>
      <vt:lpstr>Short-Run Market Supply</vt:lpstr>
      <vt:lpstr>12.3 Short-Run Market Supply Curve</vt:lpstr>
      <vt:lpstr>Short-Run Market Supply Function</vt:lpstr>
      <vt:lpstr>Short-Run Market Supply Function</vt:lpstr>
      <vt:lpstr>Short-Run Supply Elasticity</vt:lpstr>
      <vt:lpstr>12.2 A Short-Run Supply Function</vt:lpstr>
      <vt:lpstr>12.2 A Short-Run Supply Function</vt:lpstr>
      <vt:lpstr>Equilibrium Price Determination</vt:lpstr>
      <vt:lpstr>12.4 Interactions of Many Individuals and Firms   Determine Market Price in the Short Run</vt:lpstr>
      <vt:lpstr>Shifts in Supply and Demand Curves</vt:lpstr>
      <vt:lpstr>12.1 Reasons for Shifts in Demand or Supply   Curves</vt:lpstr>
      <vt:lpstr>Shifts in Supply and Demand Curves</vt:lpstr>
      <vt:lpstr>12.5 Effect of a Shift in the Short-Run  S  Curve   Depends on the Shape of the D Curve</vt:lpstr>
      <vt:lpstr>12.6 Effect of a Shift in the D Curve Depends on   the Shape of the Short-Run Supply Curve</vt:lpstr>
      <vt:lpstr>A Comparative Statics Model of Market Equilibrium</vt:lpstr>
      <vt:lpstr>A Comparative Statics Model of Market Equilibrium</vt:lpstr>
      <vt:lpstr>A Comparative Statics Model of Market Equilibrium</vt:lpstr>
      <vt:lpstr>A Comparative Statics Model of Market Equilibrium</vt:lpstr>
      <vt:lpstr>12.3  Equilibria with Constant Elasticity  Functions</vt:lpstr>
      <vt:lpstr>12.3  Equilibria with Constant Elasticity  Functions</vt:lpstr>
      <vt:lpstr>Long-Run Analysis</vt:lpstr>
      <vt:lpstr>Long-Run Analysis</vt:lpstr>
      <vt:lpstr>Long-Run Analysis</vt:lpstr>
      <vt:lpstr>Long-Run Competitive Equilibrium</vt:lpstr>
      <vt:lpstr>Long-Run Competitive Equilibrium</vt:lpstr>
      <vt:lpstr>Long-Run Equilibrium: Constant-Cost Case</vt:lpstr>
      <vt:lpstr>12.7 Long-Run Equilibrium for a Perfectly   Competitive Industry: Constant Cost Case</vt:lpstr>
      <vt:lpstr>12.4  Infinitely Elastic Long-Run Supply</vt:lpstr>
      <vt:lpstr>Shape of the Long-Run Supply Curve</vt:lpstr>
      <vt:lpstr>Long-Run Equilibrium:  Increasing-Cost Industry</vt:lpstr>
      <vt:lpstr>12.8 An Increasing Cost Industry Has a Positively   Sloped Long-Run Supply Curve</vt:lpstr>
      <vt:lpstr>Long-Run Equilibrium:  Decreasing-Cost Industry</vt:lpstr>
      <vt:lpstr>12.9 A Decreasing Cost Industry Has a Negatively   Sloped Long-Run Supply Curve</vt:lpstr>
      <vt:lpstr>Classification of Long-Run Supply Curves</vt:lpstr>
      <vt:lpstr>Long-Run Elasticity of Supply</vt:lpstr>
      <vt:lpstr>12.2 Selected estimates of long-run supply  elasticities</vt:lpstr>
      <vt:lpstr>Comparative Statics Analysis of Long Run Equilibrium</vt:lpstr>
      <vt:lpstr>Comparative Statics Analysis of Long Run Equilibrium</vt:lpstr>
      <vt:lpstr>Comparative Statics Analysis of Long Run Equilibrium</vt:lpstr>
      <vt:lpstr>12.10 An Increase in an Input Price May Change  Long-Run Equilibrium Output for Typical Firm </vt:lpstr>
      <vt:lpstr>12.5  Increasing Input Costs and Industry  Structure</vt:lpstr>
      <vt:lpstr>Producer Surplus in the Long Run</vt:lpstr>
      <vt:lpstr>Producer Surplus in the Long Run</vt:lpstr>
      <vt:lpstr>Producer Surplus in the Long Run</vt:lpstr>
      <vt:lpstr>Ricardian Rent</vt:lpstr>
      <vt:lpstr>12.11 (a), (b)  Ricardian Rent</vt:lpstr>
      <vt:lpstr>12.11 (c), (d)  Ricardian Rent</vt:lpstr>
      <vt:lpstr>Ricardian Rent</vt:lpstr>
      <vt:lpstr>Ricardian Rent</vt:lpstr>
      <vt:lpstr>Ricardian Rent</vt:lpstr>
      <vt:lpstr>Economic Efficiency and Applied Welfare Analysis</vt:lpstr>
      <vt:lpstr>12.12 Competitive Equilibrium and Consumer/Producer   Surplus</vt:lpstr>
      <vt:lpstr>Economic Efficiency and Applied Welfare Analysis</vt:lpstr>
      <vt:lpstr>12.6  Welfare Loss Computations</vt:lpstr>
      <vt:lpstr>Price Controls and Shortages</vt:lpstr>
      <vt:lpstr>12.13 Price Controls and Shortages</vt:lpstr>
      <vt:lpstr>Disequilibrium Behavior</vt:lpstr>
      <vt:lpstr>Tax Incidence Analysis</vt:lpstr>
      <vt:lpstr>Tax Incidence Analysis</vt:lpstr>
      <vt:lpstr>Tax Incidence Analysis</vt:lpstr>
      <vt:lpstr>Tax Incidence Analysis</vt:lpstr>
      <vt:lpstr>Deadweight Loss and Elasticity</vt:lpstr>
      <vt:lpstr>Deadweight Loss and Elasticity</vt:lpstr>
      <vt:lpstr>Transactions Costs</vt:lpstr>
      <vt:lpstr>12.7  The Excess Burden of a Tax</vt:lpstr>
      <vt:lpstr>Demand aggregation and estimation</vt:lpstr>
      <vt:lpstr>12.3 Representative Price and Income Elasticities   of Demand</vt:lpstr>
    </vt:vector>
  </TitlesOfParts>
  <Company>Eastern Illinois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Andreea Chiritescu</cp:lastModifiedBy>
  <cp:revision>503</cp:revision>
  <dcterms:created xsi:type="dcterms:W3CDTF">2016-06-05T19:40:39Z</dcterms:created>
  <dcterms:modified xsi:type="dcterms:W3CDTF">2016-06-18T01:38:51Z</dcterms:modified>
</cp:coreProperties>
</file>