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102"/>
  </p:notesMasterIdLst>
  <p:handoutMasterIdLst>
    <p:handoutMasterId r:id="rId103"/>
  </p:handoutMasterIdLst>
  <p:sldIdLst>
    <p:sldId id="258"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8" r:id="rId25"/>
    <p:sldId id="287" r:id="rId26"/>
    <p:sldId id="363" r:id="rId27"/>
    <p:sldId id="364"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8" r:id="rId97"/>
    <p:sldId id="359" r:id="rId98"/>
    <p:sldId id="360" r:id="rId99"/>
    <p:sldId id="361" r:id="rId100"/>
    <p:sldId id="362"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83799" autoAdjust="0"/>
  </p:normalViewPr>
  <p:slideViewPr>
    <p:cSldViewPr>
      <p:cViewPr>
        <p:scale>
          <a:sx n="68" d="100"/>
          <a:sy n="68" d="100"/>
        </p:scale>
        <p:origin x="-1446" y="-144"/>
      </p:cViewPr>
      <p:guideLst>
        <p:guide orient="horz" pos="2160"/>
        <p:guide pos="2880"/>
      </p:guideLst>
    </p:cSldViewPr>
  </p:slideViewPr>
  <p:outlineViewPr>
    <p:cViewPr>
      <p:scale>
        <a:sx n="33" d="100"/>
        <a:sy n="33" d="100"/>
      </p:scale>
      <p:origin x="0" y="2394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07" Type="http://schemas.openxmlformats.org/officeDocument/2006/relationships/tableStyles" Target="tableStyles.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102"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slide" Target="slides/slide89.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emf"/><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6/16/2016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4.emf"/><Relationship Id="rId5" Type="http://schemas.openxmlformats.org/officeDocument/2006/relationships/oleObject" Target="../embeddings/oleObject2.bin"/><Relationship Id="rId4" Type="http://schemas.openxmlformats.org/officeDocument/2006/relationships/image" Target="../media/image1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16.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8.vml"/><Relationship Id="rId4" Type="http://schemas.openxmlformats.org/officeDocument/2006/relationships/image" Target="../media/image23.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4.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25.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26.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27.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emf"/></Relationships>
</file>

<file path=ppt/slides/_rels/slide37.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image" Target="../media/image30.emf"/><Relationship Id="rId5" Type="http://schemas.openxmlformats.org/officeDocument/2006/relationships/oleObject" Target="../embeddings/oleObject16.bin"/><Relationship Id="rId4" Type="http://schemas.openxmlformats.org/officeDocument/2006/relationships/image" Target="../media/image29.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34.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6.vml"/><Relationship Id="rId4" Type="http://schemas.openxmlformats.org/officeDocument/2006/relationships/image" Target="../media/image35.wmf"/></Relationships>
</file>

<file path=ppt/slides/_rels/slide5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37.wmf"/><Relationship Id="rId5" Type="http://schemas.openxmlformats.org/officeDocument/2006/relationships/oleObject" Target="../embeddings/oleObject21.bin"/><Relationship Id="rId4" Type="http://schemas.openxmlformats.org/officeDocument/2006/relationships/image" Target="../media/image36.wmf"/></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40.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41.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3.xml"/><Relationship Id="rId1" Type="http://schemas.openxmlformats.org/officeDocument/2006/relationships/vmlDrawing" Target="../drawings/vmlDrawing20.vml"/><Relationship Id="rId4" Type="http://schemas.openxmlformats.org/officeDocument/2006/relationships/image" Target="../media/image42.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3.xml"/><Relationship Id="rId1" Type="http://schemas.openxmlformats.org/officeDocument/2006/relationships/vmlDrawing" Target="../drawings/vmlDrawing21.vml"/><Relationship Id="rId4" Type="http://schemas.openxmlformats.org/officeDocument/2006/relationships/image" Target="../media/image43.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9.xml"/><Relationship Id="rId1" Type="http://schemas.openxmlformats.org/officeDocument/2006/relationships/vmlDrawing" Target="../drawings/vmlDrawing22.vml"/><Relationship Id="rId4" Type="http://schemas.openxmlformats.org/officeDocument/2006/relationships/image" Target="../media/image44.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9.xml"/><Relationship Id="rId1" Type="http://schemas.openxmlformats.org/officeDocument/2006/relationships/vmlDrawing" Target="../drawings/vmlDrawing23.vml"/><Relationship Id="rId4" Type="http://schemas.openxmlformats.org/officeDocument/2006/relationships/image" Target="../media/image45.w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0.xml"/><Relationship Id="rId1" Type="http://schemas.openxmlformats.org/officeDocument/2006/relationships/vmlDrawing" Target="../drawings/vmlDrawing24.vml"/><Relationship Id="rId6" Type="http://schemas.openxmlformats.org/officeDocument/2006/relationships/image" Target="../media/image47.wmf"/><Relationship Id="rId5" Type="http://schemas.openxmlformats.org/officeDocument/2006/relationships/oleObject" Target="../embeddings/oleObject30.bin"/><Relationship Id="rId4" Type="http://schemas.openxmlformats.org/officeDocument/2006/relationships/image" Target="../media/image46.w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0.xml"/><Relationship Id="rId1" Type="http://schemas.openxmlformats.org/officeDocument/2006/relationships/vmlDrawing" Target="../drawings/vmlDrawing25.vml"/><Relationship Id="rId4" Type="http://schemas.openxmlformats.org/officeDocument/2006/relationships/image" Target="../media/image48.wmf"/></Relationships>
</file>

<file path=ppt/slides/_rels/slide9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9.xml"/><Relationship Id="rId1" Type="http://schemas.openxmlformats.org/officeDocument/2006/relationships/vmlDrawing" Target="../drawings/vmlDrawing26.vml"/><Relationship Id="rId4" Type="http://schemas.openxmlformats.org/officeDocument/2006/relationships/image" Target="../media/image5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dirty="0" smtClean="0"/>
              <a:t/>
            </a:r>
            <a:br>
              <a:rPr lang="en-US" dirty="0" smtClean="0"/>
            </a:br>
            <a:r>
              <a:rPr lang="en-US" baseline="0" dirty="0" smtClean="0"/>
              <a:t> 7</a:t>
            </a:r>
            <a:r>
              <a:rPr lang="en-US" b="1" baseline="0" dirty="0" smtClean="0"/>
              <a:t>	 		 	Uncertainty</a:t>
            </a:r>
            <a:endParaRPr lang="en-US" sz="48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Mathematical Statistics</a:t>
            </a:r>
          </a:p>
        </p:txBody>
      </p:sp>
      <p:sp>
        <p:nvSpPr>
          <p:cNvPr id="36867" name="Content Placeholder 2"/>
          <p:cNvSpPr>
            <a:spLocks noGrp="1"/>
          </p:cNvSpPr>
          <p:nvPr>
            <p:ph idx="1"/>
          </p:nvPr>
        </p:nvSpPr>
        <p:spPr/>
        <p:txBody>
          <a:bodyPr/>
          <a:lstStyle/>
          <a:p>
            <a:r>
              <a:rPr lang="en-US" altLang="en-US" smtClean="0"/>
              <a:t>Random variable</a:t>
            </a:r>
          </a:p>
          <a:p>
            <a:pPr lvl="1"/>
            <a:r>
              <a:rPr lang="en-US" altLang="en-US" smtClean="0"/>
              <a:t>A variable that records, in numerical form, the possible outcomes from some random event</a:t>
            </a:r>
          </a:p>
          <a:p>
            <a:r>
              <a:rPr lang="en-US" altLang="en-US" smtClean="0"/>
              <a:t>Probability density function (PDF)</a:t>
            </a:r>
          </a:p>
          <a:p>
            <a:pPr lvl="1"/>
            <a:r>
              <a:rPr lang="en-US" altLang="en-US" smtClean="0"/>
              <a:t>A function </a:t>
            </a:r>
            <a:r>
              <a:rPr lang="en-US" altLang="en-US" i="1" smtClean="0"/>
              <a:t>f(x)</a:t>
            </a:r>
            <a:r>
              <a:rPr lang="en-US" altLang="en-US" smtClean="0"/>
              <a:t> that shows the probabilities associated with the possible outcomes from a random variable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09832FC-4F01-4279-A4D1-C31DEB13959F}" type="slidenum">
              <a:rPr lang="en-US" smtClean="0"/>
              <a:pPr>
                <a:defRPr/>
              </a:pPr>
              <a:t>2</a:t>
            </a:fld>
            <a:endParaRPr lang="en-US"/>
          </a:p>
        </p:txBody>
      </p:sp>
    </p:spTree>
    <p:extLst>
      <p:ext uri="{BB962C8B-B14F-4D97-AF65-F5344CB8AC3E}">
        <p14:creationId xmlns:p14="http://schemas.microsoft.com/office/powerpoint/2010/main" val="413654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p:nvPr>
        </p:nvSpPr>
        <p:spPr/>
        <p:txBody>
          <a:bodyPr/>
          <a:lstStyle/>
          <a:p>
            <a:r>
              <a:rPr lang="en-US" altLang="en-US" smtClean="0"/>
              <a:t>Mathematical Statistics</a:t>
            </a:r>
          </a:p>
        </p:txBody>
      </p:sp>
      <p:sp>
        <p:nvSpPr>
          <p:cNvPr id="1029" name="Content Placeholder 2"/>
          <p:cNvSpPr>
            <a:spLocks noGrp="1"/>
          </p:cNvSpPr>
          <p:nvPr>
            <p:ph idx="1"/>
          </p:nvPr>
        </p:nvSpPr>
        <p:spPr/>
        <p:txBody>
          <a:bodyPr/>
          <a:lstStyle/>
          <a:p>
            <a:r>
              <a:rPr lang="en-US" altLang="en-US" dirty="0" smtClean="0"/>
              <a:t>Expected value of a random variable</a:t>
            </a:r>
          </a:p>
          <a:p>
            <a:pPr lvl="1"/>
            <a:r>
              <a:rPr lang="en-US" altLang="en-US" dirty="0" smtClean="0"/>
              <a:t>The outcome of a random variable that will occur ‘‘on average’’</a:t>
            </a:r>
          </a:p>
          <a:p>
            <a:pPr lvl="1"/>
            <a:r>
              <a:rPr lang="en-US" altLang="en-US" dirty="0" smtClean="0"/>
              <a:t>The expected value is denoted by </a:t>
            </a:r>
            <a:r>
              <a:rPr lang="en-US" altLang="en-US" i="1" dirty="0" smtClean="0"/>
              <a:t>E(x)</a:t>
            </a:r>
          </a:p>
          <a:p>
            <a:pPr lvl="1"/>
            <a:r>
              <a:rPr lang="en-US" altLang="en-US" dirty="0" smtClean="0"/>
              <a:t>If </a:t>
            </a:r>
            <a:r>
              <a:rPr lang="en-US" altLang="en-US" i="1" dirty="0" smtClean="0"/>
              <a:t>x</a:t>
            </a:r>
            <a:r>
              <a:rPr lang="en-US" altLang="en-US" dirty="0" smtClean="0"/>
              <a:t> is a discrete random variable with n outcomes, then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069AB2D-EFAC-4994-A881-86DEDA179CD5}" type="slidenum">
              <a:rPr lang="en-US" smtClean="0"/>
              <a:pPr>
                <a:defRPr/>
              </a:pPr>
              <a:t>3</a:t>
            </a:fld>
            <a:endParaRPr lang="en-US"/>
          </a:p>
        </p:txBody>
      </p:sp>
      <p:sp>
        <p:nvSpPr>
          <p:cNvPr id="2" name="Text Placeholder 1"/>
          <p:cNvSpPr>
            <a:spLocks noGrp="1"/>
          </p:cNvSpPr>
          <p:nvPr>
            <p:ph type="body" sz="quarter" idx="12"/>
          </p:nvPr>
        </p:nvSpPr>
        <p:spPr>
          <a:xfrm>
            <a:off x="381000" y="4876800"/>
            <a:ext cx="8534400" cy="1371600"/>
          </a:xfrm>
        </p:spPr>
        <p:txBody>
          <a:bodyPr/>
          <a:lstStyle/>
          <a:p>
            <a:pPr lvl="1"/>
            <a:r>
              <a:rPr lang="en-US" kern="0" dirty="0"/>
              <a:t>If </a:t>
            </a:r>
            <a:r>
              <a:rPr lang="en-US" i="1" kern="0" dirty="0"/>
              <a:t>x</a:t>
            </a:r>
            <a:r>
              <a:rPr lang="en-US" kern="0" dirty="0"/>
              <a:t> is a continuous random variable, then </a:t>
            </a:r>
          </a:p>
        </p:txBody>
      </p:sp>
      <p:graphicFrame>
        <p:nvGraphicFramePr>
          <p:cNvPr id="51202" name="Object 2"/>
          <p:cNvGraphicFramePr>
            <a:graphicFrameLocks noChangeAspect="1"/>
          </p:cNvGraphicFramePr>
          <p:nvPr/>
        </p:nvGraphicFramePr>
        <p:xfrm>
          <a:off x="4103688" y="3910013"/>
          <a:ext cx="2709862" cy="1025525"/>
        </p:xfrm>
        <a:graphic>
          <a:graphicData uri="http://schemas.openxmlformats.org/presentationml/2006/ole">
            <mc:AlternateContent xmlns:mc="http://schemas.openxmlformats.org/markup-compatibility/2006">
              <mc:Choice xmlns:v="urn:schemas-microsoft-com:vml" Requires="v">
                <p:oleObj spid="_x0000_s140308" name="Equation" r:id="rId3" imgW="1143000" imgH="431640" progId="Equation.DSMT4">
                  <p:embed/>
                </p:oleObj>
              </mc:Choice>
              <mc:Fallback>
                <p:oleObj name="Equation" r:id="rId3" imgW="114300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688" y="3910013"/>
                        <a:ext cx="2709862"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3" name="Object 3"/>
          <p:cNvGraphicFramePr>
            <a:graphicFrameLocks noChangeAspect="1"/>
          </p:cNvGraphicFramePr>
          <p:nvPr/>
        </p:nvGraphicFramePr>
        <p:xfrm>
          <a:off x="4178300" y="5386388"/>
          <a:ext cx="2798763" cy="1085850"/>
        </p:xfrm>
        <a:graphic>
          <a:graphicData uri="http://schemas.openxmlformats.org/presentationml/2006/ole">
            <mc:AlternateContent xmlns:mc="http://schemas.openxmlformats.org/markup-compatibility/2006">
              <mc:Choice xmlns:v="urn:schemas-microsoft-com:vml" Requires="v">
                <p:oleObj spid="_x0000_s140309" name="Equation" r:id="rId5" imgW="1180800" imgH="457200" progId="Equation.DSMT4">
                  <p:embed/>
                </p:oleObj>
              </mc:Choice>
              <mc:Fallback>
                <p:oleObj name="Equation" r:id="rId5" imgW="118080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8300" y="5386388"/>
                        <a:ext cx="2798763"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50973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203"/>
                                        </p:tgtEl>
                                        <p:attrNameLst>
                                          <p:attrName>style.visibility</p:attrName>
                                        </p:attrNameLst>
                                      </p:cBhvr>
                                      <p:to>
                                        <p:strVal val="visible"/>
                                      </p:to>
                                    </p:set>
                                    <p:animEffect transition="in" filter="wipe(left)">
                                      <p:cBhvr>
                                        <p:cTn id="15"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p:txBody>
          <a:bodyPr/>
          <a:lstStyle/>
          <a:p>
            <a:r>
              <a:rPr lang="en-US" altLang="en-US" smtClean="0"/>
              <a:t>Mathematical Statistics</a:t>
            </a:r>
          </a:p>
        </p:txBody>
      </p:sp>
      <p:sp>
        <p:nvSpPr>
          <p:cNvPr id="2052" name="Content Placeholder 2"/>
          <p:cNvSpPr>
            <a:spLocks noGrp="1"/>
          </p:cNvSpPr>
          <p:nvPr>
            <p:ph idx="1"/>
          </p:nvPr>
        </p:nvSpPr>
        <p:spPr/>
        <p:txBody>
          <a:bodyPr/>
          <a:lstStyle/>
          <a:p>
            <a:r>
              <a:rPr lang="en-US" altLang="en-US" smtClean="0"/>
              <a:t>Variance and standard deviation of a random variable</a:t>
            </a:r>
          </a:p>
          <a:p>
            <a:pPr lvl="1"/>
            <a:r>
              <a:rPr lang="en-US" altLang="en-US" smtClean="0"/>
              <a:t>Measure the dispersion of a random variable about its expected value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905F956-B989-404D-BB37-EE0C4C26BC40}" type="slidenum">
              <a:rPr lang="en-US" smtClean="0"/>
              <a:pPr>
                <a:defRPr/>
              </a:pPr>
              <a:t>4</a:t>
            </a:fld>
            <a:endParaRPr lang="en-US"/>
          </a:p>
        </p:txBody>
      </p:sp>
      <p:graphicFrame>
        <p:nvGraphicFramePr>
          <p:cNvPr id="52226" name="Object 2"/>
          <p:cNvGraphicFramePr>
            <a:graphicFrameLocks noChangeAspect="1"/>
          </p:cNvGraphicFramePr>
          <p:nvPr/>
        </p:nvGraphicFramePr>
        <p:xfrm>
          <a:off x="893763" y="3314700"/>
          <a:ext cx="7466012" cy="2955925"/>
        </p:xfrm>
        <a:graphic>
          <a:graphicData uri="http://schemas.openxmlformats.org/presentationml/2006/ole">
            <mc:AlternateContent xmlns:mc="http://schemas.openxmlformats.org/markup-compatibility/2006">
              <mc:Choice xmlns:v="urn:schemas-microsoft-com:vml" Requires="v">
                <p:oleObj spid="_x0000_s141323" name="Equation" r:id="rId3" imgW="3149280" imgH="1244520" progId="Equation.DSMT4">
                  <p:embed/>
                </p:oleObj>
              </mc:Choice>
              <mc:Fallback>
                <p:oleObj name="Equation" r:id="rId3" imgW="3149280" imgH="12445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763" y="3314700"/>
                        <a:ext cx="7466012" cy="295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44416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04800" y="0"/>
            <a:ext cx="8610600" cy="990600"/>
          </a:xfrm>
        </p:spPr>
        <p:txBody>
          <a:bodyPr>
            <a:noAutofit/>
          </a:bodyPr>
          <a:lstStyle/>
          <a:p>
            <a:r>
              <a:rPr lang="en-US" altLang="en-US" sz="3600" dirty="0" smtClean="0"/>
              <a:t>Fair Gambles and The Expected</a:t>
            </a:r>
            <a:br>
              <a:rPr lang="en-US" altLang="en-US" sz="3600" dirty="0" smtClean="0"/>
            </a:br>
            <a:r>
              <a:rPr lang="en-US" altLang="en-US" sz="3600" dirty="0" smtClean="0"/>
              <a:t>Utility Hypothesis</a:t>
            </a:r>
          </a:p>
        </p:txBody>
      </p:sp>
      <p:sp>
        <p:nvSpPr>
          <p:cNvPr id="37891" name="Content Placeholder 2"/>
          <p:cNvSpPr>
            <a:spLocks noGrp="1"/>
          </p:cNvSpPr>
          <p:nvPr>
            <p:ph idx="1"/>
          </p:nvPr>
        </p:nvSpPr>
        <p:spPr/>
        <p:txBody>
          <a:bodyPr/>
          <a:lstStyle/>
          <a:p>
            <a:r>
              <a:rPr lang="en-US" altLang="en-US" smtClean="0"/>
              <a:t>A ‘‘fair’’ gamble </a:t>
            </a:r>
          </a:p>
          <a:p>
            <a:pPr lvl="1"/>
            <a:r>
              <a:rPr lang="en-US" altLang="en-US" smtClean="0"/>
              <a:t>Specified set of prizes and associated probabilities that has an expected value of zero</a:t>
            </a:r>
          </a:p>
          <a:p>
            <a:pPr lvl="1"/>
            <a:r>
              <a:rPr lang="en-US" altLang="en-US" smtClean="0">
                <a:sym typeface="Symbol" pitchFamily="18" charset="2"/>
              </a:rPr>
              <a:t>Common observation: people would prefer not to play fair games</a:t>
            </a:r>
          </a:p>
          <a:p>
            <a:pPr lvl="1"/>
            <a:endParaRPr lang="en-US" altLang="en-US" smtClean="0"/>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E860F78-568B-4390-9E5F-08F85141741A}" type="slidenum">
              <a:rPr lang="en-US" smtClean="0"/>
              <a:pPr>
                <a:defRPr/>
              </a:pPr>
              <a:t>5</a:t>
            </a:fld>
            <a:endParaRPr lang="en-US"/>
          </a:p>
        </p:txBody>
      </p:sp>
    </p:spTree>
    <p:extLst>
      <p:ext uri="{BB962C8B-B14F-4D97-AF65-F5344CB8AC3E}">
        <p14:creationId xmlns:p14="http://schemas.microsoft.com/office/powerpoint/2010/main" val="3949078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St. Petersburg Paradox</a:t>
            </a:r>
          </a:p>
        </p:txBody>
      </p:sp>
      <p:sp>
        <p:nvSpPr>
          <p:cNvPr id="38915" name="Rectangle 3"/>
          <p:cNvSpPr>
            <a:spLocks noGrp="1" noChangeArrowheads="1"/>
          </p:cNvSpPr>
          <p:nvPr>
            <p:ph idx="1"/>
          </p:nvPr>
        </p:nvSpPr>
        <p:spPr/>
        <p:txBody>
          <a:bodyPr/>
          <a:lstStyle/>
          <a:p>
            <a:r>
              <a:rPr lang="en-US" altLang="en-US" smtClean="0"/>
              <a:t>A coin is flipped until a head appears</a:t>
            </a:r>
          </a:p>
          <a:p>
            <a:pPr lvl="1"/>
            <a:r>
              <a:rPr lang="en-US" altLang="en-US" smtClean="0"/>
              <a:t>If a head appears on the </a:t>
            </a:r>
            <a:r>
              <a:rPr lang="en-US" altLang="en-US" i="1" smtClean="0"/>
              <a:t>n</a:t>
            </a:r>
            <a:r>
              <a:rPr lang="en-US" altLang="en-US" smtClean="0"/>
              <a:t>th flip, the player is paid $2</a:t>
            </a:r>
            <a:r>
              <a:rPr lang="en-US" altLang="en-US" i="1" baseline="30000" smtClean="0"/>
              <a:t>n</a:t>
            </a:r>
            <a:endParaRPr lang="en-US" altLang="en-US" smtClean="0"/>
          </a:p>
          <a:p>
            <a:pPr lvl="2">
              <a:buFontTx/>
              <a:buNone/>
            </a:pPr>
            <a:r>
              <a:rPr lang="en-US" altLang="en-US" sz="3200" i="1" smtClean="0">
                <a:solidFill>
                  <a:srgbClr val="FF0000"/>
                </a:solidFill>
              </a:rPr>
              <a:t>x</a:t>
            </a:r>
            <a:r>
              <a:rPr lang="en-US" altLang="en-US" sz="3200" baseline="-25000" smtClean="0">
                <a:solidFill>
                  <a:srgbClr val="FF0000"/>
                </a:solidFill>
              </a:rPr>
              <a:t>1</a:t>
            </a:r>
            <a:r>
              <a:rPr lang="en-US" altLang="en-US" sz="3200" smtClean="0">
                <a:solidFill>
                  <a:srgbClr val="FF0000"/>
                </a:solidFill>
              </a:rPr>
              <a:t> = $2, </a:t>
            </a:r>
            <a:r>
              <a:rPr lang="en-US" altLang="en-US" sz="3200" i="1" smtClean="0">
                <a:solidFill>
                  <a:srgbClr val="FF0000"/>
                </a:solidFill>
              </a:rPr>
              <a:t>x</a:t>
            </a:r>
            <a:r>
              <a:rPr lang="en-US" altLang="en-US" sz="3200" baseline="-25000" smtClean="0">
                <a:solidFill>
                  <a:srgbClr val="FF0000"/>
                </a:solidFill>
              </a:rPr>
              <a:t>2</a:t>
            </a:r>
            <a:r>
              <a:rPr lang="en-US" altLang="en-US" sz="3200" smtClean="0">
                <a:solidFill>
                  <a:srgbClr val="FF0000"/>
                </a:solidFill>
              </a:rPr>
              <a:t> = $4, </a:t>
            </a:r>
            <a:r>
              <a:rPr lang="en-US" altLang="en-US" sz="3200" i="1" smtClean="0">
                <a:solidFill>
                  <a:srgbClr val="FF0000"/>
                </a:solidFill>
              </a:rPr>
              <a:t>x</a:t>
            </a:r>
            <a:r>
              <a:rPr lang="en-US" altLang="en-US" sz="3200" baseline="-25000" smtClean="0">
                <a:solidFill>
                  <a:srgbClr val="FF0000"/>
                </a:solidFill>
              </a:rPr>
              <a:t>3</a:t>
            </a:r>
            <a:r>
              <a:rPr lang="en-US" altLang="en-US" sz="3200" smtClean="0">
                <a:solidFill>
                  <a:srgbClr val="FF0000"/>
                </a:solidFill>
              </a:rPr>
              <a:t> = $8,…,</a:t>
            </a:r>
            <a:r>
              <a:rPr lang="en-US" altLang="en-US" sz="3200" i="1" smtClean="0">
                <a:solidFill>
                  <a:srgbClr val="FF0000"/>
                </a:solidFill>
              </a:rPr>
              <a:t>x</a:t>
            </a:r>
            <a:r>
              <a:rPr lang="en-US" altLang="en-US" sz="3200" i="1" baseline="-25000" smtClean="0">
                <a:solidFill>
                  <a:srgbClr val="FF0000"/>
                </a:solidFill>
              </a:rPr>
              <a:t>n</a:t>
            </a:r>
            <a:r>
              <a:rPr lang="en-US" altLang="en-US" sz="3200" smtClean="0">
                <a:solidFill>
                  <a:srgbClr val="FF0000"/>
                </a:solidFill>
              </a:rPr>
              <a:t> = $2</a:t>
            </a:r>
            <a:r>
              <a:rPr lang="en-US" altLang="en-US" sz="3200" i="1" baseline="30000" smtClean="0">
                <a:solidFill>
                  <a:srgbClr val="FF0000"/>
                </a:solidFill>
              </a:rPr>
              <a:t>n</a:t>
            </a:r>
            <a:endParaRPr lang="en-US" altLang="en-US" sz="3200" smtClean="0">
              <a:solidFill>
                <a:srgbClr val="FF0000"/>
              </a:solidFill>
            </a:endParaRPr>
          </a:p>
          <a:p>
            <a:pPr lvl="1"/>
            <a:r>
              <a:rPr lang="en-US" altLang="en-US" smtClean="0"/>
              <a:t>The probability of getting of getting a head on the </a:t>
            </a:r>
            <a:r>
              <a:rPr lang="en-US" altLang="en-US" i="1" smtClean="0"/>
              <a:t>i</a:t>
            </a:r>
            <a:r>
              <a:rPr lang="en-US" altLang="en-US" smtClean="0"/>
              <a:t>th trial is (½)</a:t>
            </a:r>
            <a:r>
              <a:rPr lang="en-US" altLang="en-US" i="1" baseline="30000" smtClean="0"/>
              <a:t>i</a:t>
            </a:r>
            <a:endParaRPr lang="en-US" altLang="en-US" smtClean="0"/>
          </a:p>
          <a:p>
            <a:pPr>
              <a:buFontTx/>
              <a:buNone/>
            </a:pPr>
            <a:r>
              <a:rPr lang="en-US" altLang="en-US" sz="3200" smtClean="0">
                <a:solidFill>
                  <a:srgbClr val="FF0000"/>
                </a:solidFill>
                <a:sym typeface="Symbol" pitchFamily="18" charset="2"/>
              </a:rPr>
              <a:t>		</a:t>
            </a:r>
            <a:r>
              <a:rPr lang="en-US" altLang="en-US" sz="3200" baseline="-25000" smtClean="0">
                <a:solidFill>
                  <a:srgbClr val="FF0000"/>
                </a:solidFill>
                <a:sym typeface="Symbol" pitchFamily="18" charset="2"/>
              </a:rPr>
              <a:t>1</a:t>
            </a:r>
            <a:r>
              <a:rPr lang="en-US" altLang="en-US" sz="3200" smtClean="0">
                <a:solidFill>
                  <a:srgbClr val="FF0000"/>
                </a:solidFill>
                <a:sym typeface="Symbol" pitchFamily="18" charset="2"/>
              </a:rPr>
              <a:t>=</a:t>
            </a:r>
            <a:r>
              <a:rPr lang="en-US" altLang="en-US" sz="3200" smtClean="0">
                <a:solidFill>
                  <a:srgbClr val="FF0000"/>
                </a:solidFill>
              </a:rPr>
              <a:t>½, </a:t>
            </a:r>
            <a:r>
              <a:rPr lang="en-US" altLang="en-US" sz="3200" smtClean="0">
                <a:solidFill>
                  <a:srgbClr val="FF0000"/>
                </a:solidFill>
                <a:sym typeface="Symbol" pitchFamily="18" charset="2"/>
              </a:rPr>
              <a:t></a:t>
            </a:r>
            <a:r>
              <a:rPr lang="en-US" altLang="en-US" sz="3200" baseline="-25000" smtClean="0">
                <a:solidFill>
                  <a:srgbClr val="FF0000"/>
                </a:solidFill>
                <a:sym typeface="Symbol" pitchFamily="18" charset="2"/>
              </a:rPr>
              <a:t>2</a:t>
            </a:r>
            <a:r>
              <a:rPr lang="en-US" altLang="en-US" sz="3200" smtClean="0">
                <a:solidFill>
                  <a:srgbClr val="FF0000"/>
                </a:solidFill>
                <a:sym typeface="Symbol" pitchFamily="18" charset="2"/>
              </a:rPr>
              <a:t>= </a:t>
            </a:r>
            <a:r>
              <a:rPr lang="en-US" altLang="en-US" sz="3200" smtClean="0">
                <a:solidFill>
                  <a:srgbClr val="FF0000"/>
                </a:solidFill>
              </a:rPr>
              <a:t>¼,…, </a:t>
            </a:r>
            <a:r>
              <a:rPr lang="en-US" altLang="en-US" sz="3200" smtClean="0">
                <a:solidFill>
                  <a:srgbClr val="FF0000"/>
                </a:solidFill>
                <a:sym typeface="Symbol" pitchFamily="18" charset="2"/>
              </a:rPr>
              <a:t></a:t>
            </a:r>
            <a:r>
              <a:rPr lang="en-US" altLang="en-US" sz="3200" i="1" baseline="-25000" smtClean="0">
                <a:solidFill>
                  <a:srgbClr val="FF0000"/>
                </a:solidFill>
                <a:sym typeface="Symbol" pitchFamily="18" charset="2"/>
              </a:rPr>
              <a:t>n</a:t>
            </a:r>
            <a:r>
              <a:rPr lang="en-US" altLang="en-US" sz="3200" smtClean="0">
                <a:solidFill>
                  <a:srgbClr val="FF0000"/>
                </a:solidFill>
                <a:sym typeface="Symbol" pitchFamily="18" charset="2"/>
              </a:rPr>
              <a:t>= 1/2</a:t>
            </a:r>
            <a:r>
              <a:rPr lang="en-US" altLang="en-US" sz="3200" i="1" baseline="30000" smtClean="0">
                <a:solidFill>
                  <a:srgbClr val="FF0000"/>
                </a:solidFill>
              </a:rPr>
              <a:t>n</a:t>
            </a:r>
            <a:endParaRPr lang="en-US" altLang="en-US" sz="320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F882A66-4865-432D-8B93-507DC4D22ED5}" type="slidenum">
              <a:rPr lang="en-US" smtClean="0"/>
              <a:pPr>
                <a:defRPr/>
              </a:pPr>
              <a:t>6</a:t>
            </a:fld>
            <a:endParaRPr lang="en-US"/>
          </a:p>
        </p:txBody>
      </p:sp>
    </p:spTree>
    <p:extLst>
      <p:ext uri="{BB962C8B-B14F-4D97-AF65-F5344CB8AC3E}">
        <p14:creationId xmlns:p14="http://schemas.microsoft.com/office/powerpoint/2010/main" val="2646663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en-US" smtClean="0"/>
              <a:t>St. Petersburg Paradox</a:t>
            </a:r>
          </a:p>
        </p:txBody>
      </p:sp>
      <p:sp>
        <p:nvSpPr>
          <p:cNvPr id="3076" name="Rectangle 3"/>
          <p:cNvSpPr>
            <a:spLocks noGrp="1" noChangeArrowheads="1"/>
          </p:cNvSpPr>
          <p:nvPr>
            <p:ph idx="1"/>
          </p:nvPr>
        </p:nvSpPr>
        <p:spPr/>
        <p:txBody>
          <a:bodyPr/>
          <a:lstStyle/>
          <a:p>
            <a:r>
              <a:rPr lang="en-US" altLang="en-US" smtClean="0"/>
              <a:t>The expected value of the St. Petersburg paradox game is infinite</a:t>
            </a:r>
          </a:p>
        </p:txBody>
      </p:sp>
      <p:sp>
        <p:nvSpPr>
          <p:cNvPr id="8" name="Footer Placeholder 7"/>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7" name="Slide Number Placeholder 6"/>
          <p:cNvSpPr>
            <a:spLocks noGrp="1"/>
          </p:cNvSpPr>
          <p:nvPr>
            <p:ph type="sldNum" sz="quarter" idx="11"/>
          </p:nvPr>
        </p:nvSpPr>
        <p:spPr/>
        <p:txBody>
          <a:bodyPr/>
          <a:lstStyle/>
          <a:p>
            <a:pPr>
              <a:defRPr/>
            </a:pPr>
            <a:fld id="{3A00C01A-3C71-44A6-ADD2-9F696AE6DA6F}" type="slidenum">
              <a:rPr lang="en-US" smtClean="0"/>
              <a:pPr>
                <a:defRPr/>
              </a:pPr>
              <a:t>7</a:t>
            </a:fld>
            <a:endParaRPr lang="en-US"/>
          </a:p>
        </p:txBody>
      </p:sp>
      <p:sp>
        <p:nvSpPr>
          <p:cNvPr id="2" name="Text Placeholder 1"/>
          <p:cNvSpPr>
            <a:spLocks noGrp="1"/>
          </p:cNvSpPr>
          <p:nvPr>
            <p:ph type="body" sz="quarter" idx="12"/>
          </p:nvPr>
        </p:nvSpPr>
        <p:spPr/>
        <p:txBody>
          <a:bodyPr/>
          <a:lstStyle/>
          <a:p>
            <a:pPr lvl="1"/>
            <a:r>
              <a:rPr lang="en-US" altLang="en-US" dirty="0"/>
              <a:t>Because no player would pay a lot to play this game, it is not worth its infinite expected </a:t>
            </a:r>
            <a:r>
              <a:rPr lang="en-US" altLang="en-US" dirty="0" smtClean="0"/>
              <a:t>value</a:t>
            </a:r>
            <a:endParaRPr lang="en-US" altLang="en-US" dirty="0"/>
          </a:p>
        </p:txBody>
      </p:sp>
      <p:graphicFrame>
        <p:nvGraphicFramePr>
          <p:cNvPr id="394244" name="Object 2"/>
          <p:cNvGraphicFramePr>
            <a:graphicFrameLocks noChangeAspect="1"/>
          </p:cNvGraphicFramePr>
          <p:nvPr>
            <p:extLst>
              <p:ext uri="{D42A27DB-BD31-4B8C-83A1-F6EECF244321}">
                <p14:modId xmlns:p14="http://schemas.microsoft.com/office/powerpoint/2010/main" val="3448845419"/>
              </p:ext>
            </p:extLst>
          </p:nvPr>
        </p:nvGraphicFramePr>
        <p:xfrm>
          <a:off x="582612" y="2335213"/>
          <a:ext cx="7978775" cy="1150937"/>
        </p:xfrm>
        <a:graphic>
          <a:graphicData uri="http://schemas.openxmlformats.org/presentationml/2006/ole">
            <mc:AlternateContent xmlns:mc="http://schemas.openxmlformats.org/markup-compatibility/2006">
              <mc:Choice xmlns:v="urn:schemas-microsoft-com:vml" Requires="v">
                <p:oleObj spid="_x0000_s142347" name="Equation" r:id="rId3" imgW="3251160" imgH="469800" progId="Equation.DSMT4">
                  <p:embed/>
                </p:oleObj>
              </mc:Choice>
              <mc:Fallback>
                <p:oleObj name="Equation" r:id="rId3" imgW="3251160" imgH="469800" progId="Equation.DSMT4">
                  <p:embed/>
                  <p:pic>
                    <p:nvPicPr>
                      <p:cNvPr id="0" name=""/>
                      <p:cNvPicPr>
                        <a:picLocks noChangeAspect="1" noChangeArrowheads="1"/>
                      </p:cNvPicPr>
                      <p:nvPr/>
                    </p:nvPicPr>
                    <p:blipFill>
                      <a:blip r:embed="rId4"/>
                      <a:srcRect/>
                      <a:stretch>
                        <a:fillRect/>
                      </a:stretch>
                    </p:blipFill>
                    <p:spPr bwMode="auto">
                      <a:xfrm>
                        <a:off x="582612" y="2335213"/>
                        <a:ext cx="7978775" cy="115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72542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wipe(left)">
                                      <p:cBhvr>
                                        <p:cTn id="7" dur="500"/>
                                        <p:tgtEl>
                                          <p:spTgt spid="39424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mtClean="0"/>
              <a:t>Expected Utility</a:t>
            </a:r>
          </a:p>
        </p:txBody>
      </p:sp>
      <p:sp>
        <p:nvSpPr>
          <p:cNvPr id="39939" name="Rectangle 3"/>
          <p:cNvSpPr>
            <a:spLocks noGrp="1" noChangeArrowheads="1"/>
          </p:cNvSpPr>
          <p:nvPr>
            <p:ph idx="1"/>
          </p:nvPr>
        </p:nvSpPr>
        <p:spPr>
          <a:xfrm>
            <a:off x="381000" y="1066800"/>
            <a:ext cx="8763000" cy="5334000"/>
          </a:xfrm>
        </p:spPr>
        <p:txBody>
          <a:bodyPr/>
          <a:lstStyle/>
          <a:p>
            <a:r>
              <a:rPr lang="en-US" altLang="en-US" dirty="0" smtClean="0"/>
              <a:t>Individuals do not care directly about the dollar values of the prizes</a:t>
            </a:r>
          </a:p>
          <a:p>
            <a:pPr lvl="1"/>
            <a:r>
              <a:rPr lang="en-US" altLang="en-US" dirty="0" smtClean="0"/>
              <a:t>They care about the utility that the dollars provide</a:t>
            </a:r>
          </a:p>
          <a:p>
            <a:r>
              <a:rPr lang="en-US" altLang="en-US" dirty="0" smtClean="0"/>
              <a:t>If we assume diminishing marginal utility of wealth</a:t>
            </a:r>
          </a:p>
          <a:p>
            <a:pPr lvl="1"/>
            <a:r>
              <a:rPr lang="en-US" altLang="en-US" dirty="0" smtClean="0"/>
              <a:t>The St. Petersburg game may converge to a finite expected utility value</a:t>
            </a:r>
          </a:p>
          <a:p>
            <a:pPr lvl="2"/>
            <a:r>
              <a:rPr lang="en-US" altLang="en-US" dirty="0" smtClean="0"/>
              <a:t>This would measure how much the game is worth to the individual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9DC33EB-E3F9-4823-A000-20FF1AD4F2A1}" type="slidenum">
              <a:rPr lang="en-US" smtClean="0"/>
              <a:pPr>
                <a:defRPr/>
              </a:pPr>
              <a:t>8</a:t>
            </a:fld>
            <a:endParaRPr lang="en-US"/>
          </a:p>
        </p:txBody>
      </p:sp>
    </p:spTree>
    <p:extLst>
      <p:ext uri="{BB962C8B-B14F-4D97-AF65-F5344CB8AC3E}">
        <p14:creationId xmlns:p14="http://schemas.microsoft.com/office/powerpoint/2010/main" val="36342377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smtClean="0"/>
              <a:t>Expected Utility</a:t>
            </a:r>
          </a:p>
        </p:txBody>
      </p:sp>
      <p:sp>
        <p:nvSpPr>
          <p:cNvPr id="4100" name="Rectangle 3"/>
          <p:cNvSpPr>
            <a:spLocks noGrp="1" noChangeArrowheads="1"/>
          </p:cNvSpPr>
          <p:nvPr>
            <p:ph idx="1"/>
          </p:nvPr>
        </p:nvSpPr>
        <p:spPr/>
        <p:txBody>
          <a:bodyPr/>
          <a:lstStyle/>
          <a:p>
            <a:r>
              <a:rPr lang="en-US" altLang="en-US" smtClean="0"/>
              <a:t>Expected utility </a:t>
            </a:r>
          </a:p>
          <a:p>
            <a:pPr lvl="1"/>
            <a:r>
              <a:rPr lang="en-US" altLang="en-US" smtClean="0"/>
              <a:t>Can be calculated in the same manner as expected value</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B8E1E3C8-753A-41E5-AB2D-9065FD4DE4DA}" type="slidenum">
              <a:rPr lang="en-US" smtClean="0"/>
              <a:pPr>
                <a:defRPr/>
              </a:pPr>
              <a:t>9</a:t>
            </a:fld>
            <a:endParaRPr lang="en-US"/>
          </a:p>
        </p:txBody>
      </p:sp>
      <p:sp>
        <p:nvSpPr>
          <p:cNvPr id="2" name="Text Placeholder 1"/>
          <p:cNvSpPr>
            <a:spLocks noGrp="1"/>
          </p:cNvSpPr>
          <p:nvPr>
            <p:ph type="body" sz="quarter" idx="12"/>
          </p:nvPr>
        </p:nvSpPr>
        <p:spPr/>
        <p:txBody>
          <a:bodyPr>
            <a:normAutofit/>
          </a:bodyPr>
          <a:lstStyle/>
          <a:p>
            <a:pPr lvl="1"/>
            <a:r>
              <a:rPr lang="en-US" dirty="0"/>
              <a:t>Because utility may rise less rapidly than the dollar value of the prizes</a:t>
            </a:r>
          </a:p>
          <a:p>
            <a:pPr lvl="2"/>
            <a:r>
              <a:rPr lang="en-US" dirty="0"/>
              <a:t>It is possible that expected utility will be less than the monetary expected </a:t>
            </a:r>
            <a:r>
              <a:rPr lang="en-US" dirty="0" smtClean="0"/>
              <a:t>value</a:t>
            </a:r>
            <a:endParaRPr lang="en-US" dirty="0"/>
          </a:p>
        </p:txBody>
      </p:sp>
      <p:graphicFrame>
        <p:nvGraphicFramePr>
          <p:cNvPr id="396292" name="Object 2"/>
          <p:cNvGraphicFramePr>
            <a:graphicFrameLocks noChangeAspect="1"/>
          </p:cNvGraphicFramePr>
          <p:nvPr/>
        </p:nvGraphicFramePr>
        <p:xfrm>
          <a:off x="2519363" y="2798763"/>
          <a:ext cx="2776537" cy="1062037"/>
        </p:xfrm>
        <a:graphic>
          <a:graphicData uri="http://schemas.openxmlformats.org/presentationml/2006/ole">
            <mc:AlternateContent xmlns:mc="http://schemas.openxmlformats.org/markup-compatibility/2006">
              <mc:Choice xmlns:v="urn:schemas-microsoft-com:vml" Requires="v">
                <p:oleObj spid="_x0000_s143372" name="Equation" r:id="rId3" imgW="1130040" imgH="431640" progId="Equation.DSMT4">
                  <p:embed/>
                </p:oleObj>
              </mc:Choice>
              <mc:Fallback>
                <p:oleObj name="Equation" r:id="rId3" imgW="11300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2798763"/>
                        <a:ext cx="2776537" cy="1062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49718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6292"/>
                                        </p:tgtEl>
                                        <p:attrNameLst>
                                          <p:attrName>style.visibility</p:attrName>
                                        </p:attrNameLst>
                                      </p:cBhvr>
                                      <p:to>
                                        <p:strVal val="visible"/>
                                      </p:to>
                                    </p:set>
                                    <p:animEffect transition="in" filter="wipe(left)">
                                      <p:cBhvr>
                                        <p:cTn id="7" dur="500"/>
                                        <p:tgtEl>
                                          <p:spTgt spid="39629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7.1 	Bernoulli’s Solution to the Paradox and</a:t>
            </a:r>
            <a:br>
              <a:rPr lang="en-US" altLang="en-US" dirty="0" smtClean="0"/>
            </a:br>
            <a:r>
              <a:rPr lang="en-US" altLang="en-US" dirty="0" smtClean="0"/>
              <a:t>	</a:t>
            </a:r>
            <a:r>
              <a:rPr lang="en-US" altLang="en-US" dirty="0" smtClean="0">
                <a:solidFill>
                  <a:srgbClr val="002D56"/>
                </a:solidFill>
              </a:rPr>
              <a:t> Its Shortcomings</a:t>
            </a:r>
          </a:p>
        </p:txBody>
      </p:sp>
      <p:sp>
        <p:nvSpPr>
          <p:cNvPr id="512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CE0D90EB-B3B3-4A04-AF6D-467AFE130780}" type="slidenum">
              <a:rPr lang="en-US" smtClean="0"/>
              <a:pPr>
                <a:defRPr/>
              </a:pPr>
              <a:t>10</a:t>
            </a:fld>
            <a:endParaRPr lang="en-US" dirty="0"/>
          </a:p>
        </p:txBody>
      </p:sp>
      <p:sp>
        <p:nvSpPr>
          <p:cNvPr id="5124" name="Content Placeholder 2"/>
          <p:cNvSpPr>
            <a:spLocks noGrp="1"/>
          </p:cNvSpPr>
          <p:nvPr>
            <p:ph type="body" sz="quarter" idx="12"/>
          </p:nvPr>
        </p:nvSpPr>
        <p:spPr>
          <a:xfrm>
            <a:off x="381000" y="1219200"/>
            <a:ext cx="8382000" cy="5181600"/>
          </a:xfrm>
          <a:prstGeom prst="rect">
            <a:avLst/>
          </a:prstGeom>
        </p:spPr>
        <p:txBody>
          <a:bodyPr/>
          <a:lstStyle/>
          <a:p>
            <a:r>
              <a:rPr lang="en-US" altLang="en-US" dirty="0" smtClean="0"/>
              <a:t>Utility of each prize in the St. Petersburg paradox is </a:t>
            </a:r>
            <a:r>
              <a:rPr lang="en-US" altLang="en-US" i="1" dirty="0" smtClean="0"/>
              <a:t>U(x</a:t>
            </a:r>
            <a:r>
              <a:rPr lang="en-US" altLang="en-US" i="1" baseline="-25000" dirty="0" smtClean="0"/>
              <a:t>i</a:t>
            </a:r>
            <a:r>
              <a:rPr lang="en-US" altLang="en-US" i="1" dirty="0" smtClean="0"/>
              <a:t>)=ln x</a:t>
            </a:r>
            <a:r>
              <a:rPr lang="en-US" altLang="en-US" i="1" baseline="-25000" dirty="0" smtClean="0"/>
              <a:t>i</a:t>
            </a:r>
          </a:p>
          <a:p>
            <a:pPr lvl="1"/>
            <a:r>
              <a:rPr lang="en-US" altLang="en-US" dirty="0" smtClean="0"/>
              <a:t>Diminishing marginal utility (U’ &gt; 0 but U’’ &lt; 0),</a:t>
            </a:r>
          </a:p>
          <a:p>
            <a:pPr lvl="1"/>
            <a:r>
              <a:rPr lang="en-US" altLang="en-US" dirty="0" smtClean="0"/>
              <a:t>The expected utility value of this game converges to a finite number:</a:t>
            </a:r>
          </a:p>
        </p:txBody>
      </p:sp>
      <p:graphicFrame>
        <p:nvGraphicFramePr>
          <p:cNvPr id="6" name="Object 2"/>
          <p:cNvGraphicFramePr>
            <a:graphicFrameLocks noChangeAspect="1"/>
          </p:cNvGraphicFramePr>
          <p:nvPr>
            <p:extLst>
              <p:ext uri="{D42A27DB-BD31-4B8C-83A1-F6EECF244321}">
                <p14:modId xmlns:p14="http://schemas.microsoft.com/office/powerpoint/2010/main" val="537950557"/>
              </p:ext>
            </p:extLst>
          </p:nvPr>
        </p:nvGraphicFramePr>
        <p:xfrm>
          <a:off x="681038" y="3835400"/>
          <a:ext cx="7853362" cy="1117600"/>
        </p:xfrm>
        <a:graphic>
          <a:graphicData uri="http://schemas.openxmlformats.org/presentationml/2006/ole">
            <mc:AlternateContent xmlns:mc="http://schemas.openxmlformats.org/markup-compatibility/2006">
              <mc:Choice xmlns:v="urn:schemas-microsoft-com:vml" Requires="v">
                <p:oleObj spid="_x0000_s144397" name="Equation" r:id="rId3" imgW="3035160" imgH="431640" progId="Equation.DSMT4">
                  <p:embed/>
                </p:oleObj>
              </mc:Choice>
              <mc:Fallback>
                <p:oleObj name="Equation" r:id="rId3" imgW="303516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8" y="3835400"/>
                        <a:ext cx="7853362"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03645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7.1 	Bernoulli’s Solution to the Paradox and</a:t>
            </a:r>
            <a:br>
              <a:rPr lang="en-US" altLang="en-US" dirty="0" smtClean="0"/>
            </a:br>
            <a:r>
              <a:rPr lang="en-US" altLang="en-US" dirty="0" smtClean="0"/>
              <a:t>	</a:t>
            </a:r>
            <a:r>
              <a:rPr lang="en-US" altLang="en-US" dirty="0" smtClean="0">
                <a:solidFill>
                  <a:srgbClr val="002D56"/>
                </a:solidFill>
              </a:rPr>
              <a:t> Its Shortcomings</a:t>
            </a:r>
          </a:p>
        </p:txBody>
      </p:sp>
      <p:sp>
        <p:nvSpPr>
          <p:cNvPr id="409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6BDDA803-DD7C-4284-B7F5-067601255F4A}" type="slidenum">
              <a:rPr lang="en-US" smtClean="0"/>
              <a:pPr>
                <a:defRPr/>
              </a:pPr>
              <a:t>11</a:t>
            </a:fld>
            <a:endParaRPr lang="en-US" dirty="0"/>
          </a:p>
        </p:txBody>
      </p:sp>
      <p:sp>
        <p:nvSpPr>
          <p:cNvPr id="40963" name="Content Placeholder 2"/>
          <p:cNvSpPr>
            <a:spLocks noGrp="1"/>
          </p:cNvSpPr>
          <p:nvPr>
            <p:ph type="body" sz="quarter" idx="12"/>
          </p:nvPr>
        </p:nvSpPr>
        <p:spPr>
          <a:xfrm>
            <a:off x="381000" y="1295400"/>
            <a:ext cx="8382000" cy="5105400"/>
          </a:xfrm>
          <a:prstGeom prst="rect">
            <a:avLst/>
          </a:prstGeom>
        </p:spPr>
        <p:txBody>
          <a:bodyPr/>
          <a:lstStyle/>
          <a:p>
            <a:r>
              <a:rPr lang="en-US" altLang="en-US" dirty="0" smtClean="0"/>
              <a:t>Bernoulli’s solution to the St. Petersburg paradox </a:t>
            </a:r>
          </a:p>
          <a:p>
            <a:pPr lvl="1"/>
            <a:r>
              <a:rPr lang="en-US" altLang="en-US" dirty="0" smtClean="0"/>
              <a:t>Does not completely solve the problem</a:t>
            </a:r>
          </a:p>
          <a:p>
            <a:pPr lvl="1"/>
            <a:r>
              <a:rPr lang="en-US" altLang="en-US" dirty="0" smtClean="0"/>
              <a:t>As long as there is no upper bound to the utility function</a:t>
            </a:r>
          </a:p>
          <a:p>
            <a:pPr lvl="2"/>
            <a:r>
              <a:rPr lang="en-US" altLang="en-US" dirty="0" smtClean="0"/>
              <a:t>The paradox can be regenerated by redefining the gamble’s prizes</a:t>
            </a:r>
          </a:p>
        </p:txBody>
      </p:sp>
    </p:spTree>
    <p:extLst>
      <p:ext uri="{BB962C8B-B14F-4D97-AF65-F5344CB8AC3E}">
        <p14:creationId xmlns:p14="http://schemas.microsoft.com/office/powerpoint/2010/main" val="829278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nSpc>
                <a:spcPct val="90000"/>
              </a:lnSpc>
            </a:pPr>
            <a:r>
              <a:rPr lang="en-US" altLang="en-US" sz="3600" dirty="0" smtClean="0"/>
              <a:t>The von Neumann-Morgenstern Theorem</a:t>
            </a:r>
          </a:p>
        </p:txBody>
      </p:sp>
      <p:sp>
        <p:nvSpPr>
          <p:cNvPr id="41987" name="Rectangle 3"/>
          <p:cNvSpPr>
            <a:spLocks noGrp="1" noChangeArrowheads="1"/>
          </p:cNvSpPr>
          <p:nvPr>
            <p:ph idx="1"/>
          </p:nvPr>
        </p:nvSpPr>
        <p:spPr/>
        <p:txBody>
          <a:bodyPr/>
          <a:lstStyle/>
          <a:p>
            <a:r>
              <a:rPr lang="en-US" altLang="en-US" dirty="0" smtClean="0"/>
              <a:t>Suppose that there are </a:t>
            </a:r>
            <a:r>
              <a:rPr lang="en-US" altLang="en-US" i="1" dirty="0" smtClean="0"/>
              <a:t>n</a:t>
            </a:r>
            <a:r>
              <a:rPr lang="en-US" altLang="en-US" dirty="0" smtClean="0"/>
              <a:t> possible prizes that an individual might win (</a:t>
            </a:r>
            <a:r>
              <a:rPr lang="en-US" altLang="en-US" i="1" dirty="0" smtClean="0"/>
              <a:t>x</a:t>
            </a:r>
            <a:r>
              <a:rPr lang="en-US" altLang="en-US" baseline="-25000" dirty="0" smtClean="0"/>
              <a:t>1</a:t>
            </a:r>
            <a:r>
              <a:rPr lang="en-US" altLang="en-US" dirty="0" smtClean="0"/>
              <a:t>,…</a:t>
            </a:r>
            <a:r>
              <a:rPr lang="en-US" altLang="en-US" i="1" dirty="0" err="1" smtClean="0"/>
              <a:t>x</a:t>
            </a:r>
            <a:r>
              <a:rPr lang="en-US" altLang="en-US" i="1" baseline="-25000" dirty="0" err="1" smtClean="0"/>
              <a:t>n</a:t>
            </a:r>
            <a:r>
              <a:rPr lang="en-US" altLang="en-US" dirty="0" smtClean="0"/>
              <a:t>) </a:t>
            </a:r>
          </a:p>
          <a:p>
            <a:pPr lvl="1"/>
            <a:r>
              <a:rPr lang="en-US" altLang="en-US" dirty="0" smtClean="0"/>
              <a:t>Arranged in ascending order of desirability</a:t>
            </a:r>
          </a:p>
          <a:p>
            <a:pPr lvl="1"/>
            <a:r>
              <a:rPr lang="en-US" altLang="en-US" i="1" dirty="0" smtClean="0"/>
              <a:t>x</a:t>
            </a:r>
            <a:r>
              <a:rPr lang="en-US" altLang="en-US" baseline="-25000" dirty="0" smtClean="0"/>
              <a:t>1</a:t>
            </a:r>
            <a:r>
              <a:rPr lang="en-US" altLang="en-US" dirty="0" smtClean="0"/>
              <a:t> = least preferred prize </a:t>
            </a:r>
            <a:r>
              <a:rPr lang="en-US" altLang="en-US" dirty="0" smtClean="0">
                <a:sym typeface="Symbol" pitchFamily="18" charset="2"/>
              </a:rPr>
              <a:t> </a:t>
            </a:r>
            <a:r>
              <a:rPr lang="en-US" altLang="en-US" i="1" dirty="0" smtClean="0">
                <a:sym typeface="Symbol" pitchFamily="18" charset="2"/>
              </a:rPr>
              <a:t>U</a:t>
            </a:r>
            <a:r>
              <a:rPr lang="en-US" altLang="en-US" dirty="0" smtClean="0">
                <a:sym typeface="Symbol" pitchFamily="18" charset="2"/>
              </a:rPr>
              <a:t>(</a:t>
            </a:r>
            <a:r>
              <a:rPr lang="en-US" altLang="en-US" i="1" dirty="0" smtClean="0">
                <a:sym typeface="Symbol" pitchFamily="18" charset="2"/>
              </a:rPr>
              <a:t>x</a:t>
            </a:r>
            <a:r>
              <a:rPr lang="en-US" altLang="en-US" baseline="-25000" dirty="0" smtClean="0">
                <a:sym typeface="Symbol" pitchFamily="18" charset="2"/>
              </a:rPr>
              <a:t>1</a:t>
            </a:r>
            <a:r>
              <a:rPr lang="en-US" altLang="en-US" dirty="0" smtClean="0">
                <a:sym typeface="Symbol" pitchFamily="18" charset="2"/>
              </a:rPr>
              <a:t>) =</a:t>
            </a:r>
            <a:r>
              <a:rPr lang="en-US" altLang="en-US" dirty="0" smtClean="0"/>
              <a:t> 0</a:t>
            </a:r>
          </a:p>
          <a:p>
            <a:pPr lvl="1"/>
            <a:r>
              <a:rPr lang="en-US" altLang="en-US" i="1" dirty="0" err="1" smtClean="0"/>
              <a:t>x</a:t>
            </a:r>
            <a:r>
              <a:rPr lang="en-US" altLang="en-US" i="1" baseline="-25000" dirty="0" err="1" smtClean="0"/>
              <a:t>n</a:t>
            </a:r>
            <a:r>
              <a:rPr lang="en-US" altLang="en-US" dirty="0" smtClean="0"/>
              <a:t> = most preferred prize </a:t>
            </a:r>
            <a:r>
              <a:rPr lang="en-US" altLang="en-US" dirty="0" smtClean="0">
                <a:sym typeface="Symbol" pitchFamily="18" charset="2"/>
              </a:rPr>
              <a:t> </a:t>
            </a:r>
            <a:r>
              <a:rPr lang="en-US" altLang="en-US" i="1" dirty="0" smtClean="0">
                <a:sym typeface="Symbol" pitchFamily="18" charset="2"/>
              </a:rPr>
              <a:t>U</a:t>
            </a:r>
            <a:r>
              <a:rPr lang="en-US" altLang="en-US" dirty="0" smtClean="0">
                <a:sym typeface="Symbol" pitchFamily="18" charset="2"/>
              </a:rPr>
              <a:t>(</a:t>
            </a:r>
            <a:r>
              <a:rPr lang="en-US" altLang="en-US" i="1" dirty="0" err="1" smtClean="0">
                <a:sym typeface="Symbol" pitchFamily="18" charset="2"/>
              </a:rPr>
              <a:t>x</a:t>
            </a:r>
            <a:r>
              <a:rPr lang="en-US" altLang="en-US" i="1" baseline="-25000" dirty="0" err="1" smtClean="0">
                <a:sym typeface="Symbol" pitchFamily="18" charset="2"/>
              </a:rPr>
              <a:t>n</a:t>
            </a:r>
            <a:r>
              <a:rPr lang="en-US" altLang="en-US" dirty="0" smtClean="0">
                <a:sym typeface="Symbol" pitchFamily="18" charset="2"/>
              </a:rPr>
              <a:t>) </a:t>
            </a:r>
            <a:r>
              <a:rPr lang="en-US" altLang="en-US" dirty="0" smtClean="0"/>
              <a:t>= 1</a:t>
            </a:r>
          </a:p>
          <a:p>
            <a:pPr lvl="1"/>
            <a:r>
              <a:rPr lang="en-US" altLang="en-US" dirty="0" smtClean="0"/>
              <a:t>Show that there is a reasonable way to assign specific utility numbers to the other prizes available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0A7FF34-E3EA-40C9-8F13-A47207AAC09C}" type="slidenum">
              <a:rPr lang="en-US" smtClean="0"/>
              <a:pPr>
                <a:defRPr/>
              </a:pPr>
              <a:t>12</a:t>
            </a:fld>
            <a:endParaRPr lang="en-US"/>
          </a:p>
        </p:txBody>
      </p:sp>
    </p:spTree>
    <p:extLst>
      <p:ext uri="{BB962C8B-B14F-4D97-AF65-F5344CB8AC3E}">
        <p14:creationId xmlns:p14="http://schemas.microsoft.com/office/powerpoint/2010/main" val="9025934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nSpc>
                <a:spcPct val="90000"/>
              </a:lnSpc>
            </a:pPr>
            <a:r>
              <a:rPr lang="en-US" altLang="en-US" sz="3600" smtClean="0"/>
              <a:t>The von Neumann-Morgenstern Theorem</a:t>
            </a:r>
          </a:p>
        </p:txBody>
      </p:sp>
      <p:sp>
        <p:nvSpPr>
          <p:cNvPr id="43011" name="Rectangle 3"/>
          <p:cNvSpPr>
            <a:spLocks noGrp="1" noChangeArrowheads="1"/>
          </p:cNvSpPr>
          <p:nvPr>
            <p:ph idx="1"/>
          </p:nvPr>
        </p:nvSpPr>
        <p:spPr>
          <a:xfrm>
            <a:off x="381000" y="1066800"/>
            <a:ext cx="8534400" cy="5334000"/>
          </a:xfrm>
        </p:spPr>
        <p:txBody>
          <a:bodyPr/>
          <a:lstStyle/>
          <a:p>
            <a:r>
              <a:rPr lang="en-US" altLang="en-US" dirty="0" smtClean="0"/>
              <a:t>The von Neumann-Morgenstern method</a:t>
            </a:r>
          </a:p>
          <a:p>
            <a:pPr lvl="1"/>
            <a:r>
              <a:rPr lang="en-US" altLang="en-US" dirty="0" smtClean="0"/>
              <a:t>The utility of </a:t>
            </a:r>
            <a:r>
              <a:rPr lang="en-US" altLang="en-US" i="1" dirty="0" smtClean="0"/>
              <a:t>x</a:t>
            </a:r>
            <a:r>
              <a:rPr lang="en-US" altLang="en-US" i="1" baseline="-25000" dirty="0" smtClean="0"/>
              <a:t>i</a:t>
            </a:r>
            <a:r>
              <a:rPr lang="en-US" altLang="en-US" dirty="0" smtClean="0"/>
              <a:t> - the expected utility of the gamble that the individual considers equally desirable to </a:t>
            </a:r>
            <a:r>
              <a:rPr lang="en-US" altLang="en-US" i="1" dirty="0" smtClean="0"/>
              <a:t>x</a:t>
            </a:r>
            <a:r>
              <a:rPr lang="en-US" altLang="en-US" i="1" baseline="-25000" dirty="0" smtClean="0"/>
              <a:t>i</a:t>
            </a:r>
            <a:endParaRPr lang="en-US" altLang="en-US" dirty="0" smtClean="0"/>
          </a:p>
          <a:p>
            <a:pPr algn="ctr">
              <a:buFontTx/>
              <a:buNone/>
            </a:pPr>
            <a:r>
              <a:rPr lang="en-US" altLang="en-US" sz="3200" i="1" dirty="0" smtClean="0">
                <a:solidFill>
                  <a:srgbClr val="FF0000"/>
                </a:solidFill>
              </a:rPr>
              <a:t>U</a:t>
            </a:r>
            <a:r>
              <a:rPr lang="en-US" altLang="en-US" sz="3200" dirty="0" smtClean="0">
                <a:solidFill>
                  <a:srgbClr val="FF0000"/>
                </a:solidFill>
              </a:rPr>
              <a:t>(</a:t>
            </a:r>
            <a:r>
              <a:rPr lang="en-US" altLang="en-US" sz="3200" i="1" dirty="0" smtClean="0">
                <a:solidFill>
                  <a:srgbClr val="FF0000"/>
                </a:solidFill>
              </a:rPr>
              <a:t>x</a:t>
            </a:r>
            <a:r>
              <a:rPr lang="en-US" altLang="en-US" sz="3200" i="1" baseline="-25000" dirty="0" smtClean="0">
                <a:solidFill>
                  <a:srgbClr val="FF0000"/>
                </a:solidFill>
              </a:rPr>
              <a:t>i</a:t>
            </a:r>
            <a:r>
              <a:rPr lang="en-US" altLang="en-US" sz="3200" dirty="0" smtClean="0">
                <a:solidFill>
                  <a:srgbClr val="FF0000"/>
                </a:solidFill>
              </a:rPr>
              <a:t>) = </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i="1" baseline="-25000" dirty="0" smtClean="0">
                <a:solidFill>
                  <a:srgbClr val="FF0000"/>
                </a:solidFill>
                <a:sym typeface="Symbol" pitchFamily="18" charset="2"/>
              </a:rPr>
              <a:t> </a:t>
            </a:r>
            <a:r>
              <a:rPr lang="en-US" altLang="en-US" sz="3200" dirty="0" smtClean="0">
                <a:solidFill>
                  <a:srgbClr val="FF0000"/>
                </a:solidFill>
                <a:cs typeface="Arial" charset="0"/>
                <a:sym typeface="Symbol" pitchFamily="18" charset="2"/>
              </a:rPr>
              <a:t>· </a:t>
            </a:r>
            <a:r>
              <a:rPr lang="en-US" altLang="en-US" sz="3200" i="1" dirty="0" smtClean="0">
                <a:solidFill>
                  <a:srgbClr val="FF0000"/>
                </a:solidFill>
                <a:cs typeface="Arial" charset="0"/>
                <a:sym typeface="Symbol" pitchFamily="18" charset="2"/>
              </a:rPr>
              <a:t>U</a:t>
            </a:r>
            <a:r>
              <a:rPr lang="en-US" altLang="en-US" sz="3200" dirty="0" smtClean="0">
                <a:solidFill>
                  <a:srgbClr val="FF0000"/>
                </a:solidFill>
                <a:cs typeface="Arial" charset="0"/>
                <a:sym typeface="Symbol" pitchFamily="18" charset="2"/>
              </a:rPr>
              <a:t>(</a:t>
            </a:r>
            <a:r>
              <a:rPr lang="en-US" altLang="en-US" sz="3200" i="1" dirty="0" err="1" smtClean="0">
                <a:solidFill>
                  <a:srgbClr val="FF0000"/>
                </a:solidFill>
                <a:cs typeface="Arial" charset="0"/>
                <a:sym typeface="Symbol" pitchFamily="18" charset="2"/>
              </a:rPr>
              <a:t>x</a:t>
            </a:r>
            <a:r>
              <a:rPr lang="en-US" altLang="en-US" sz="3200" i="1" baseline="-25000" dirty="0" err="1" smtClean="0">
                <a:solidFill>
                  <a:srgbClr val="FF0000"/>
                </a:solidFill>
                <a:cs typeface="Arial" charset="0"/>
                <a:sym typeface="Symbol" pitchFamily="18" charset="2"/>
              </a:rPr>
              <a:t>n</a:t>
            </a:r>
            <a:r>
              <a:rPr lang="en-US" altLang="en-US" sz="3200" dirty="0" smtClean="0">
                <a:solidFill>
                  <a:srgbClr val="FF0000"/>
                </a:solidFill>
                <a:cs typeface="Arial" charset="0"/>
                <a:sym typeface="Symbol" pitchFamily="18" charset="2"/>
              </a:rPr>
              <a:t>) + (1 - </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 </a:t>
            </a:r>
            <a:r>
              <a:rPr lang="en-US" altLang="en-US" sz="3200" dirty="0" smtClean="0">
                <a:solidFill>
                  <a:srgbClr val="FF0000"/>
                </a:solidFill>
              </a:rPr>
              <a:t>· </a:t>
            </a:r>
            <a:r>
              <a:rPr lang="en-US" altLang="en-US" sz="3200" i="1" dirty="0" smtClean="0">
                <a:solidFill>
                  <a:srgbClr val="FF0000"/>
                </a:solidFill>
              </a:rPr>
              <a:t>U</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a:t>
            </a:r>
          </a:p>
          <a:p>
            <a:pPr lvl="2"/>
            <a:r>
              <a:rPr lang="en-US" altLang="en-US" sz="2600" dirty="0" smtClean="0"/>
              <a:t>Since </a:t>
            </a:r>
            <a:r>
              <a:rPr lang="en-US" altLang="en-US" sz="2600" i="1" dirty="0" smtClean="0"/>
              <a:t>U</a:t>
            </a:r>
            <a:r>
              <a:rPr lang="en-US" altLang="en-US" sz="2600" dirty="0" smtClean="0"/>
              <a:t>(</a:t>
            </a:r>
            <a:r>
              <a:rPr lang="en-US" altLang="en-US" sz="2600" i="1" dirty="0" err="1" smtClean="0"/>
              <a:t>x</a:t>
            </a:r>
            <a:r>
              <a:rPr lang="en-US" altLang="en-US" sz="2600" i="1" baseline="-25000" dirty="0" err="1" smtClean="0"/>
              <a:t>n</a:t>
            </a:r>
            <a:r>
              <a:rPr lang="en-US" altLang="en-US" sz="2600" dirty="0" smtClean="0"/>
              <a:t>) = 1 and </a:t>
            </a:r>
            <a:r>
              <a:rPr lang="en-US" altLang="en-US" sz="2600" i="1" dirty="0" smtClean="0"/>
              <a:t>U</a:t>
            </a:r>
            <a:r>
              <a:rPr lang="en-US" altLang="en-US" sz="2600" dirty="0" smtClean="0"/>
              <a:t>(</a:t>
            </a:r>
            <a:r>
              <a:rPr lang="en-US" altLang="en-US" sz="2600" i="1" dirty="0" smtClean="0"/>
              <a:t>x</a:t>
            </a:r>
            <a:r>
              <a:rPr lang="en-US" altLang="en-US" sz="2600" baseline="-25000" dirty="0" smtClean="0"/>
              <a:t>1</a:t>
            </a:r>
            <a:r>
              <a:rPr lang="en-US" altLang="en-US" sz="2600" dirty="0" smtClean="0"/>
              <a:t>) = 0</a:t>
            </a:r>
          </a:p>
          <a:p>
            <a:pPr algn="ctr">
              <a:buFontTx/>
              <a:buNone/>
            </a:pPr>
            <a:r>
              <a:rPr lang="en-US" altLang="en-US" sz="3200" i="1" dirty="0" smtClean="0">
                <a:solidFill>
                  <a:srgbClr val="FF0000"/>
                </a:solidFill>
              </a:rPr>
              <a:t>U</a:t>
            </a:r>
            <a:r>
              <a:rPr lang="en-US" altLang="en-US" sz="3200" dirty="0" smtClean="0">
                <a:solidFill>
                  <a:srgbClr val="FF0000"/>
                </a:solidFill>
              </a:rPr>
              <a:t>(</a:t>
            </a:r>
            <a:r>
              <a:rPr lang="en-US" altLang="en-US" sz="3200" i="1" dirty="0" smtClean="0">
                <a:solidFill>
                  <a:srgbClr val="FF0000"/>
                </a:solidFill>
              </a:rPr>
              <a:t>x</a:t>
            </a:r>
            <a:r>
              <a:rPr lang="en-US" altLang="en-US" sz="3200" i="1" baseline="-25000" dirty="0" smtClean="0">
                <a:solidFill>
                  <a:srgbClr val="FF0000"/>
                </a:solidFill>
              </a:rPr>
              <a:t>i</a:t>
            </a:r>
            <a:r>
              <a:rPr lang="en-US" altLang="en-US" sz="3200" dirty="0" smtClean="0">
                <a:solidFill>
                  <a:srgbClr val="FF0000"/>
                </a:solidFill>
              </a:rPr>
              <a:t>) = </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i="1" baseline="-25000" dirty="0" smtClean="0">
                <a:solidFill>
                  <a:srgbClr val="FF0000"/>
                </a:solidFill>
                <a:sym typeface="Symbol" pitchFamily="18" charset="2"/>
              </a:rPr>
              <a:t> </a:t>
            </a:r>
            <a:r>
              <a:rPr lang="en-US" altLang="en-US" sz="3200" dirty="0" smtClean="0">
                <a:solidFill>
                  <a:srgbClr val="FF0000"/>
                </a:solidFill>
                <a:cs typeface="Arial" charset="0"/>
                <a:sym typeface="Symbol" pitchFamily="18" charset="2"/>
              </a:rPr>
              <a:t>· 1 + (1 - </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r>
              <a:rPr lang="en-US" altLang="en-US" sz="3200" dirty="0" smtClean="0">
                <a:solidFill>
                  <a:srgbClr val="FF0000"/>
                </a:solidFill>
                <a:sym typeface="Symbol" pitchFamily="18" charset="2"/>
              </a:rPr>
              <a:t>) </a:t>
            </a:r>
            <a:r>
              <a:rPr lang="en-US" altLang="en-US" sz="3200" dirty="0" smtClean="0">
                <a:solidFill>
                  <a:srgbClr val="FF0000"/>
                </a:solidFill>
              </a:rPr>
              <a:t>· 0 = </a:t>
            </a:r>
            <a:r>
              <a:rPr lang="en-US" altLang="en-US" sz="3200" dirty="0" smtClean="0">
                <a:solidFill>
                  <a:srgbClr val="FF0000"/>
                </a:solidFill>
                <a:sym typeface="Symbol" pitchFamily="18" charset="2"/>
              </a:rPr>
              <a:t></a:t>
            </a:r>
            <a:r>
              <a:rPr lang="en-US" altLang="en-US" sz="3200" i="1" baseline="-25000" dirty="0" err="1" smtClean="0">
                <a:solidFill>
                  <a:srgbClr val="FF0000"/>
                </a:solidFill>
                <a:sym typeface="Symbol" pitchFamily="18" charset="2"/>
              </a:rPr>
              <a:t>i</a:t>
            </a:r>
            <a:endParaRPr lang="en-US" altLang="en-US" sz="3200" dirty="0" smtClean="0">
              <a:solidFill>
                <a:srgbClr val="FF0000"/>
              </a:solidFill>
              <a:sym typeface="Symbol" pitchFamily="18" charset="2"/>
            </a:endParaRPr>
          </a:p>
          <a:p>
            <a:pPr lvl="2"/>
            <a:r>
              <a:rPr lang="en-US" altLang="en-US" sz="2600" dirty="0" smtClean="0">
                <a:sym typeface="Symbol" pitchFamily="18" charset="2"/>
              </a:rPr>
              <a:t>The utility number attached to any other prize is simply the probability of winning it</a:t>
            </a:r>
          </a:p>
          <a:p>
            <a:pPr lvl="2"/>
            <a:r>
              <a:rPr lang="en-US" altLang="en-US" sz="2600" dirty="0" smtClean="0">
                <a:sym typeface="Symbol" pitchFamily="18" charset="2"/>
              </a:rPr>
              <a:t>This choice of utility numbers is arbitrary</a:t>
            </a:r>
          </a:p>
          <a:p>
            <a:endParaRPr lang="en-US" altLang="en-US" sz="3200" dirty="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2FC7AEA-B474-494A-B39A-737F5AA4FFFF}" type="slidenum">
              <a:rPr lang="en-US" smtClean="0"/>
              <a:pPr>
                <a:defRPr/>
              </a:pPr>
              <a:t>13</a:t>
            </a:fld>
            <a:endParaRPr lang="en-US"/>
          </a:p>
        </p:txBody>
      </p:sp>
    </p:spTree>
    <p:extLst>
      <p:ext uri="{BB962C8B-B14F-4D97-AF65-F5344CB8AC3E}">
        <p14:creationId xmlns:p14="http://schemas.microsoft.com/office/powerpoint/2010/main" val="30170642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Expected Utility Maximization</a:t>
            </a:r>
          </a:p>
        </p:txBody>
      </p:sp>
      <p:sp>
        <p:nvSpPr>
          <p:cNvPr id="44035" name="Rectangle 3"/>
          <p:cNvSpPr>
            <a:spLocks noGrp="1" noChangeArrowheads="1"/>
          </p:cNvSpPr>
          <p:nvPr>
            <p:ph idx="1"/>
          </p:nvPr>
        </p:nvSpPr>
        <p:spPr/>
        <p:txBody>
          <a:bodyPr/>
          <a:lstStyle/>
          <a:p>
            <a:r>
              <a:rPr lang="en-US" altLang="en-US" dirty="0" smtClean="0"/>
              <a:t>Consider two gambles:</a:t>
            </a:r>
          </a:p>
          <a:p>
            <a:pPr lvl="1">
              <a:lnSpc>
                <a:spcPct val="110000"/>
              </a:lnSpc>
            </a:pPr>
            <a:r>
              <a:rPr lang="en-US" altLang="en-US" dirty="0" smtClean="0"/>
              <a:t>Gamble A offers </a:t>
            </a:r>
            <a:r>
              <a:rPr lang="en-US" altLang="en-US" i="1" dirty="0" smtClean="0"/>
              <a:t>x</a:t>
            </a:r>
            <a:r>
              <a:rPr lang="en-US" altLang="en-US" baseline="-25000" dirty="0" smtClean="0"/>
              <a:t>2</a:t>
            </a:r>
            <a:r>
              <a:rPr lang="en-US" altLang="en-US" dirty="0" smtClean="0"/>
              <a:t> with probability </a:t>
            </a:r>
            <a:r>
              <a:rPr lang="en-US" altLang="en-US" i="1" dirty="0" smtClean="0"/>
              <a:t>a</a:t>
            </a:r>
            <a:r>
              <a:rPr lang="en-US" altLang="en-US" dirty="0" smtClean="0"/>
              <a:t> and </a:t>
            </a:r>
            <a:r>
              <a:rPr lang="en-US" altLang="en-US" i="1" dirty="0" smtClean="0"/>
              <a:t>x</a:t>
            </a:r>
            <a:r>
              <a:rPr lang="en-US" altLang="en-US" baseline="-25000" dirty="0" smtClean="0"/>
              <a:t>3</a:t>
            </a:r>
            <a:r>
              <a:rPr lang="en-US" altLang="en-US" dirty="0" smtClean="0"/>
              <a:t> with probability (</a:t>
            </a:r>
            <a:r>
              <a:rPr lang="en-US" altLang="en-US" i="1" dirty="0" smtClean="0"/>
              <a:t>1-a</a:t>
            </a:r>
            <a:r>
              <a:rPr lang="en-US" altLang="en-US" dirty="0" smtClean="0"/>
              <a:t>)</a:t>
            </a:r>
          </a:p>
          <a:p>
            <a:pPr lvl="1" algn="ctr">
              <a:lnSpc>
                <a:spcPct val="130000"/>
              </a:lnSpc>
              <a:buFontTx/>
              <a:buNone/>
            </a:pPr>
            <a:r>
              <a:rPr lang="en-US" altLang="en-US" sz="2800" dirty="0" smtClean="0">
                <a:solidFill>
                  <a:srgbClr val="FF0000"/>
                </a:solidFill>
              </a:rPr>
              <a:t>expected utility of A= E</a:t>
            </a:r>
            <a:r>
              <a:rPr lang="en-US" altLang="en-US" sz="2800" baseline="-25000" dirty="0" smtClean="0">
                <a:solidFill>
                  <a:srgbClr val="FF0000"/>
                </a:solidFill>
              </a:rPr>
              <a:t>A</a:t>
            </a:r>
            <a:r>
              <a:rPr lang="en-US" altLang="en-US" sz="2800" dirty="0" smtClean="0">
                <a:solidFill>
                  <a:srgbClr val="FF0000"/>
                </a:solidFill>
              </a:rPr>
              <a:t>[U(x)] </a:t>
            </a:r>
            <a:r>
              <a:rPr lang="en-US" altLang="en-US" sz="2800" i="1" dirty="0" smtClean="0">
                <a:solidFill>
                  <a:srgbClr val="FF0000"/>
                </a:solidFill>
              </a:rPr>
              <a:t>= a · U(x</a:t>
            </a:r>
            <a:r>
              <a:rPr lang="en-US" altLang="en-US" sz="2800" i="1" baseline="-25000" dirty="0" smtClean="0">
                <a:solidFill>
                  <a:srgbClr val="FF0000"/>
                </a:solidFill>
              </a:rPr>
              <a:t>2</a:t>
            </a:r>
            <a:r>
              <a:rPr lang="en-US" altLang="en-US" sz="2800" i="1" dirty="0" smtClean="0">
                <a:solidFill>
                  <a:srgbClr val="FF0000"/>
                </a:solidFill>
              </a:rPr>
              <a:t>) + (1-a) · U(x</a:t>
            </a:r>
            <a:r>
              <a:rPr lang="en-US" altLang="en-US" sz="2800" i="1" baseline="-25000" dirty="0" smtClean="0">
                <a:solidFill>
                  <a:srgbClr val="FF0000"/>
                </a:solidFill>
              </a:rPr>
              <a:t>3</a:t>
            </a:r>
            <a:r>
              <a:rPr lang="en-US" altLang="en-US" sz="2800" i="1" dirty="0" smtClean="0">
                <a:solidFill>
                  <a:srgbClr val="FF0000"/>
                </a:solidFill>
              </a:rPr>
              <a:t>)</a:t>
            </a:r>
          </a:p>
          <a:p>
            <a:pPr lvl="1">
              <a:lnSpc>
                <a:spcPct val="110000"/>
              </a:lnSpc>
            </a:pPr>
            <a:r>
              <a:rPr lang="en-US" altLang="en-US" dirty="0" smtClean="0"/>
              <a:t>Gamble B offers </a:t>
            </a:r>
            <a:r>
              <a:rPr lang="en-US" altLang="en-US" i="1" dirty="0" smtClean="0"/>
              <a:t>x</a:t>
            </a:r>
            <a:r>
              <a:rPr lang="en-US" altLang="en-US" baseline="-25000" dirty="0" smtClean="0"/>
              <a:t>4</a:t>
            </a:r>
            <a:r>
              <a:rPr lang="en-US" altLang="en-US" dirty="0" smtClean="0"/>
              <a:t> with probability </a:t>
            </a:r>
            <a:r>
              <a:rPr lang="en-US" altLang="en-US" i="1" dirty="0" smtClean="0"/>
              <a:t>b</a:t>
            </a:r>
            <a:r>
              <a:rPr lang="en-US" altLang="en-US" dirty="0" smtClean="0"/>
              <a:t> and </a:t>
            </a:r>
            <a:r>
              <a:rPr lang="en-US" altLang="en-US" i="1" dirty="0" smtClean="0"/>
              <a:t>x</a:t>
            </a:r>
            <a:r>
              <a:rPr lang="en-US" altLang="en-US" baseline="-25000" dirty="0" smtClean="0"/>
              <a:t>5</a:t>
            </a:r>
            <a:r>
              <a:rPr lang="en-US" altLang="en-US" dirty="0" smtClean="0"/>
              <a:t> with probability (</a:t>
            </a:r>
            <a:r>
              <a:rPr lang="en-US" altLang="en-US" i="1" dirty="0" smtClean="0"/>
              <a:t>1-b</a:t>
            </a:r>
            <a:r>
              <a:rPr lang="en-US" altLang="en-US" dirty="0" smtClean="0"/>
              <a:t>)</a:t>
            </a:r>
          </a:p>
          <a:p>
            <a:pPr lvl="1" algn="ctr">
              <a:lnSpc>
                <a:spcPct val="130000"/>
              </a:lnSpc>
              <a:buFontTx/>
              <a:buNone/>
            </a:pPr>
            <a:r>
              <a:rPr lang="en-US" altLang="en-US" sz="2800" dirty="0" smtClean="0">
                <a:solidFill>
                  <a:srgbClr val="FF0000"/>
                </a:solidFill>
              </a:rPr>
              <a:t>expected utility </a:t>
            </a:r>
            <a:r>
              <a:rPr lang="en-US" altLang="en-US" sz="2800" dirty="0">
                <a:solidFill>
                  <a:srgbClr val="FF0000"/>
                </a:solidFill>
              </a:rPr>
              <a:t>of </a:t>
            </a:r>
            <a:r>
              <a:rPr lang="en-US" altLang="en-US" sz="2800" dirty="0" smtClean="0">
                <a:solidFill>
                  <a:srgbClr val="FF0000"/>
                </a:solidFill>
              </a:rPr>
              <a:t>B= E</a:t>
            </a:r>
            <a:r>
              <a:rPr lang="en-US" altLang="en-US" sz="2800" baseline="-25000" dirty="0" smtClean="0">
                <a:solidFill>
                  <a:srgbClr val="FF0000"/>
                </a:solidFill>
              </a:rPr>
              <a:t>B</a:t>
            </a:r>
            <a:r>
              <a:rPr lang="en-US" altLang="en-US" sz="2800" dirty="0" smtClean="0">
                <a:solidFill>
                  <a:srgbClr val="FF0000"/>
                </a:solidFill>
              </a:rPr>
              <a:t>[U(x</a:t>
            </a:r>
            <a:r>
              <a:rPr lang="en-US" altLang="en-US" sz="2800" dirty="0">
                <a:solidFill>
                  <a:srgbClr val="FF0000"/>
                </a:solidFill>
              </a:rPr>
              <a:t>)]</a:t>
            </a:r>
            <a:r>
              <a:rPr lang="en-US" altLang="en-US" sz="2800" dirty="0" smtClean="0">
                <a:solidFill>
                  <a:srgbClr val="FF0000"/>
                </a:solidFill>
              </a:rPr>
              <a:t> </a:t>
            </a:r>
            <a:r>
              <a:rPr lang="en-US" altLang="en-US" sz="2800" i="1" dirty="0" smtClean="0">
                <a:solidFill>
                  <a:srgbClr val="FF0000"/>
                </a:solidFill>
              </a:rPr>
              <a:t>= b · U(x</a:t>
            </a:r>
            <a:r>
              <a:rPr lang="en-US" altLang="en-US" sz="2800" i="1" baseline="-25000" dirty="0" smtClean="0">
                <a:solidFill>
                  <a:srgbClr val="FF0000"/>
                </a:solidFill>
              </a:rPr>
              <a:t>4</a:t>
            </a:r>
            <a:r>
              <a:rPr lang="en-US" altLang="en-US" sz="2800" i="1" dirty="0" smtClean="0">
                <a:solidFill>
                  <a:srgbClr val="FF0000"/>
                </a:solidFill>
              </a:rPr>
              <a:t>) + (1-b) · U(x</a:t>
            </a:r>
            <a:r>
              <a:rPr lang="en-US" altLang="en-US" sz="2800" i="1" baseline="-25000" dirty="0" smtClean="0">
                <a:solidFill>
                  <a:srgbClr val="FF0000"/>
                </a:solidFill>
              </a:rPr>
              <a:t>5</a:t>
            </a:r>
            <a:r>
              <a:rPr lang="en-US" altLang="en-US" sz="2800" i="1" dirty="0" smtClean="0">
                <a:solidFill>
                  <a:srgbClr val="FF0000"/>
                </a:solidFill>
              </a:rPr>
              <a:t>)</a:t>
            </a:r>
            <a:endParaRPr lang="en-US" altLang="en-US" sz="2800" i="1" dirty="0" smtClean="0">
              <a:solidFill>
                <a:srgbClr val="7B332D"/>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2A240ED-3050-4B6F-892E-80A2B052A77E}" type="slidenum">
              <a:rPr lang="en-US" smtClean="0"/>
              <a:pPr>
                <a:defRPr/>
              </a:pPr>
              <a:t>14</a:t>
            </a:fld>
            <a:endParaRPr lang="en-US"/>
          </a:p>
        </p:txBody>
      </p:sp>
    </p:spTree>
    <p:extLst>
      <p:ext uri="{BB962C8B-B14F-4D97-AF65-F5344CB8AC3E}">
        <p14:creationId xmlns:p14="http://schemas.microsoft.com/office/powerpoint/2010/main" val="16236365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Expected Utility Maximization</a:t>
            </a:r>
          </a:p>
        </p:txBody>
      </p:sp>
      <p:sp>
        <p:nvSpPr>
          <p:cNvPr id="45059" name="Rectangle 3"/>
          <p:cNvSpPr>
            <a:spLocks noGrp="1" noChangeArrowheads="1"/>
          </p:cNvSpPr>
          <p:nvPr>
            <p:ph idx="1"/>
          </p:nvPr>
        </p:nvSpPr>
        <p:spPr/>
        <p:txBody>
          <a:bodyPr/>
          <a:lstStyle/>
          <a:p>
            <a:pPr lvl="1"/>
            <a:r>
              <a:rPr lang="en-US" altLang="en-US" dirty="0" smtClean="0"/>
              <a:t>Substituting the utility index numbers gives</a:t>
            </a:r>
          </a:p>
          <a:p>
            <a:pPr algn="ctr">
              <a:buFontTx/>
              <a:buNone/>
            </a:pPr>
            <a:r>
              <a:rPr lang="en-US" altLang="en-US" sz="3200" dirty="0">
                <a:solidFill>
                  <a:srgbClr val="FF0000"/>
                </a:solidFill>
              </a:rPr>
              <a:t>E</a:t>
            </a:r>
            <a:r>
              <a:rPr lang="en-US" altLang="en-US" sz="3200" baseline="-25000" dirty="0">
                <a:solidFill>
                  <a:srgbClr val="FF0000"/>
                </a:solidFill>
              </a:rPr>
              <a:t>A</a:t>
            </a:r>
            <a:r>
              <a:rPr lang="en-US" altLang="en-US" sz="3200" dirty="0">
                <a:solidFill>
                  <a:srgbClr val="FF0000"/>
                </a:solidFill>
              </a:rPr>
              <a:t>[U(x)] </a:t>
            </a:r>
            <a:r>
              <a:rPr lang="en-US" altLang="en-US" sz="3200" i="1" dirty="0" smtClean="0">
                <a:solidFill>
                  <a:srgbClr val="FF0000"/>
                </a:solidFill>
              </a:rPr>
              <a:t>= a · </a:t>
            </a:r>
            <a:r>
              <a:rPr lang="en-US" altLang="en-US" sz="3200" i="1" dirty="0" smtClean="0">
                <a:solidFill>
                  <a:srgbClr val="FF0000"/>
                </a:solidFill>
                <a:sym typeface="Symbol" pitchFamily="18" charset="2"/>
              </a:rPr>
              <a:t></a:t>
            </a:r>
            <a:r>
              <a:rPr lang="en-US" altLang="en-US" sz="3200" i="1" baseline="-25000" dirty="0" smtClean="0">
                <a:solidFill>
                  <a:srgbClr val="FF0000"/>
                </a:solidFill>
                <a:sym typeface="Symbol" pitchFamily="18" charset="2"/>
              </a:rPr>
              <a:t>2</a:t>
            </a:r>
            <a:r>
              <a:rPr lang="en-US" altLang="en-US" sz="3200" i="1" dirty="0" smtClean="0">
                <a:solidFill>
                  <a:srgbClr val="FF0000"/>
                </a:solidFill>
                <a:sym typeface="Symbol" pitchFamily="18" charset="2"/>
              </a:rPr>
              <a:t> </a:t>
            </a:r>
            <a:r>
              <a:rPr lang="en-US" altLang="en-US" sz="3200" i="1" dirty="0" smtClean="0">
                <a:solidFill>
                  <a:srgbClr val="FF0000"/>
                </a:solidFill>
              </a:rPr>
              <a:t>+ (1-a) · </a:t>
            </a:r>
            <a:r>
              <a:rPr lang="en-US" altLang="en-US" sz="3200" i="1" dirty="0" smtClean="0">
                <a:solidFill>
                  <a:srgbClr val="FF0000"/>
                </a:solidFill>
                <a:sym typeface="Symbol" pitchFamily="18" charset="2"/>
              </a:rPr>
              <a:t></a:t>
            </a:r>
            <a:r>
              <a:rPr lang="en-US" altLang="en-US" sz="3200" i="1" baseline="-25000" dirty="0" smtClean="0">
                <a:solidFill>
                  <a:srgbClr val="FF0000"/>
                </a:solidFill>
                <a:sym typeface="Symbol" pitchFamily="18" charset="2"/>
              </a:rPr>
              <a:t>3 </a:t>
            </a:r>
            <a:endParaRPr lang="en-US" altLang="en-US" sz="3200" i="1" dirty="0" smtClean="0">
              <a:solidFill>
                <a:srgbClr val="FF0000"/>
              </a:solidFill>
            </a:endParaRPr>
          </a:p>
          <a:p>
            <a:pPr algn="ctr">
              <a:buFontTx/>
              <a:buNone/>
            </a:pPr>
            <a:r>
              <a:rPr lang="en-US" altLang="en-US" sz="3200" dirty="0" smtClean="0">
                <a:solidFill>
                  <a:srgbClr val="FF0000"/>
                </a:solidFill>
              </a:rPr>
              <a:t>E</a:t>
            </a:r>
            <a:r>
              <a:rPr lang="en-US" altLang="en-US" sz="3200" baseline="-25000" dirty="0" smtClean="0">
                <a:solidFill>
                  <a:srgbClr val="FF0000"/>
                </a:solidFill>
              </a:rPr>
              <a:t>B</a:t>
            </a:r>
            <a:r>
              <a:rPr lang="en-US" altLang="en-US" sz="3200" dirty="0" smtClean="0">
                <a:solidFill>
                  <a:srgbClr val="FF0000"/>
                </a:solidFill>
              </a:rPr>
              <a:t>[U(x</a:t>
            </a:r>
            <a:r>
              <a:rPr lang="en-US" altLang="en-US" sz="3200" dirty="0">
                <a:solidFill>
                  <a:srgbClr val="FF0000"/>
                </a:solidFill>
              </a:rPr>
              <a:t>)] </a:t>
            </a:r>
            <a:r>
              <a:rPr lang="en-US" altLang="en-US" sz="3200" i="1" dirty="0" smtClean="0">
                <a:solidFill>
                  <a:srgbClr val="FF0000"/>
                </a:solidFill>
              </a:rPr>
              <a:t>= b · </a:t>
            </a:r>
            <a:r>
              <a:rPr lang="en-US" altLang="en-US" sz="3200" i="1" dirty="0" smtClean="0">
                <a:solidFill>
                  <a:srgbClr val="FF0000"/>
                </a:solidFill>
                <a:sym typeface="Symbol" pitchFamily="18" charset="2"/>
              </a:rPr>
              <a:t></a:t>
            </a:r>
            <a:r>
              <a:rPr lang="en-US" altLang="en-US" sz="3200" i="1" baseline="-25000" dirty="0" smtClean="0">
                <a:solidFill>
                  <a:srgbClr val="FF0000"/>
                </a:solidFill>
                <a:sym typeface="Symbol" pitchFamily="18" charset="2"/>
              </a:rPr>
              <a:t>4</a:t>
            </a:r>
            <a:r>
              <a:rPr lang="en-US" altLang="en-US" sz="3200" i="1" dirty="0" smtClean="0">
                <a:solidFill>
                  <a:srgbClr val="FF0000"/>
                </a:solidFill>
                <a:sym typeface="Symbol" pitchFamily="18" charset="2"/>
              </a:rPr>
              <a:t> </a:t>
            </a:r>
            <a:r>
              <a:rPr lang="en-US" altLang="en-US" sz="3200" i="1" dirty="0" smtClean="0">
                <a:solidFill>
                  <a:srgbClr val="FF0000"/>
                </a:solidFill>
              </a:rPr>
              <a:t>+ (1-b) · </a:t>
            </a:r>
            <a:r>
              <a:rPr lang="en-US" altLang="en-US" sz="3200" i="1" dirty="0" smtClean="0">
                <a:solidFill>
                  <a:srgbClr val="FF0000"/>
                </a:solidFill>
                <a:sym typeface="Symbol" pitchFamily="18" charset="2"/>
              </a:rPr>
              <a:t></a:t>
            </a:r>
            <a:r>
              <a:rPr lang="en-US" altLang="en-US" sz="3200" i="1" baseline="-25000" dirty="0" smtClean="0">
                <a:solidFill>
                  <a:srgbClr val="FF0000"/>
                </a:solidFill>
                <a:sym typeface="Symbol" pitchFamily="18" charset="2"/>
              </a:rPr>
              <a:t>5  </a:t>
            </a:r>
            <a:endParaRPr lang="en-US" altLang="en-US" sz="3200" i="1" dirty="0" smtClean="0">
              <a:solidFill>
                <a:srgbClr val="FF0000"/>
              </a:solidFill>
            </a:endParaRPr>
          </a:p>
          <a:p>
            <a:r>
              <a:rPr lang="en-US" altLang="en-US" dirty="0" smtClean="0"/>
              <a:t>The individual will prefer gamble 1 to gamble 2 if and only if</a:t>
            </a:r>
          </a:p>
          <a:p>
            <a:pPr algn="ctr">
              <a:buFontTx/>
              <a:buNone/>
            </a:pPr>
            <a:r>
              <a:rPr lang="en-US" altLang="en-US" sz="3200" dirty="0">
                <a:solidFill>
                  <a:srgbClr val="002D56"/>
                </a:solidFill>
              </a:rPr>
              <a:t>E</a:t>
            </a:r>
            <a:r>
              <a:rPr lang="en-US" altLang="en-US" sz="3200" baseline="-25000" dirty="0">
                <a:solidFill>
                  <a:srgbClr val="002D56"/>
                </a:solidFill>
              </a:rPr>
              <a:t>A</a:t>
            </a:r>
            <a:r>
              <a:rPr lang="en-US" altLang="en-US" sz="3200" dirty="0">
                <a:solidFill>
                  <a:srgbClr val="002D56"/>
                </a:solidFill>
              </a:rPr>
              <a:t>[U(x</a:t>
            </a:r>
            <a:r>
              <a:rPr lang="en-US" altLang="en-US" sz="3200" dirty="0" smtClean="0">
                <a:solidFill>
                  <a:srgbClr val="002D56"/>
                </a:solidFill>
              </a:rPr>
              <a:t>)] &gt; E</a:t>
            </a:r>
            <a:r>
              <a:rPr lang="en-US" altLang="en-US" sz="3200" baseline="-25000" dirty="0" smtClean="0">
                <a:solidFill>
                  <a:srgbClr val="002D56"/>
                </a:solidFill>
              </a:rPr>
              <a:t>B</a:t>
            </a:r>
            <a:r>
              <a:rPr lang="en-US" altLang="en-US" sz="3200" dirty="0" smtClean="0">
                <a:solidFill>
                  <a:srgbClr val="002D56"/>
                </a:solidFill>
              </a:rPr>
              <a:t>[U(x</a:t>
            </a:r>
            <a:r>
              <a:rPr lang="en-US" altLang="en-US" sz="3200" dirty="0">
                <a:solidFill>
                  <a:srgbClr val="002D56"/>
                </a:solidFill>
              </a:rPr>
              <a:t>)] </a:t>
            </a:r>
            <a:endParaRPr lang="en-US" altLang="en-US" sz="3200" i="1" dirty="0" smtClean="0">
              <a:solidFill>
                <a:srgbClr val="002D56"/>
              </a:solidFill>
            </a:endParaRPr>
          </a:p>
          <a:p>
            <a:pPr algn="ctr">
              <a:buFontTx/>
              <a:buNone/>
            </a:pPr>
            <a:r>
              <a:rPr lang="en-US" altLang="en-US" sz="3200" i="1" dirty="0" smtClean="0">
                <a:solidFill>
                  <a:srgbClr val="002D56"/>
                </a:solidFill>
              </a:rPr>
              <a:t>a · </a:t>
            </a:r>
            <a:r>
              <a:rPr lang="en-US" altLang="en-US" sz="3200" i="1" dirty="0" smtClean="0">
                <a:solidFill>
                  <a:srgbClr val="002D56"/>
                </a:solidFill>
                <a:sym typeface="Symbol" pitchFamily="18" charset="2"/>
              </a:rPr>
              <a:t></a:t>
            </a:r>
            <a:r>
              <a:rPr lang="en-US" altLang="en-US" sz="3200" i="1" baseline="-25000" dirty="0" smtClean="0">
                <a:solidFill>
                  <a:srgbClr val="002D56"/>
                </a:solidFill>
                <a:sym typeface="Symbol" pitchFamily="18" charset="2"/>
              </a:rPr>
              <a:t>2</a:t>
            </a:r>
            <a:r>
              <a:rPr lang="en-US" altLang="en-US" sz="3200" i="1" dirty="0" smtClean="0">
                <a:solidFill>
                  <a:srgbClr val="002D56"/>
                </a:solidFill>
                <a:sym typeface="Symbol" pitchFamily="18" charset="2"/>
              </a:rPr>
              <a:t> </a:t>
            </a:r>
            <a:r>
              <a:rPr lang="en-US" altLang="en-US" sz="3200" i="1" dirty="0" smtClean="0">
                <a:solidFill>
                  <a:srgbClr val="002D56"/>
                </a:solidFill>
              </a:rPr>
              <a:t>+ (1-a) · </a:t>
            </a:r>
            <a:r>
              <a:rPr lang="en-US" altLang="en-US" sz="3200" i="1" dirty="0" smtClean="0">
                <a:solidFill>
                  <a:srgbClr val="002D56"/>
                </a:solidFill>
                <a:sym typeface="Symbol" pitchFamily="18" charset="2"/>
              </a:rPr>
              <a:t></a:t>
            </a:r>
            <a:r>
              <a:rPr lang="en-US" altLang="en-US" sz="3200" i="1" baseline="-25000" dirty="0" smtClean="0">
                <a:solidFill>
                  <a:srgbClr val="002D56"/>
                </a:solidFill>
                <a:sym typeface="Symbol" pitchFamily="18" charset="2"/>
              </a:rPr>
              <a:t>3</a:t>
            </a:r>
            <a:r>
              <a:rPr lang="en-US" altLang="en-US" sz="3200" i="1" dirty="0" smtClean="0">
                <a:solidFill>
                  <a:srgbClr val="002D56"/>
                </a:solidFill>
                <a:sym typeface="Symbol" pitchFamily="18" charset="2"/>
              </a:rPr>
              <a:t> &gt; </a:t>
            </a:r>
            <a:r>
              <a:rPr lang="en-US" altLang="en-US" sz="3200" i="1" dirty="0" smtClean="0">
                <a:solidFill>
                  <a:srgbClr val="002D56"/>
                </a:solidFill>
              </a:rPr>
              <a:t>b · </a:t>
            </a:r>
            <a:r>
              <a:rPr lang="en-US" altLang="en-US" sz="3200" i="1" dirty="0" smtClean="0">
                <a:solidFill>
                  <a:srgbClr val="002D56"/>
                </a:solidFill>
                <a:sym typeface="Symbol" pitchFamily="18" charset="2"/>
              </a:rPr>
              <a:t></a:t>
            </a:r>
            <a:r>
              <a:rPr lang="en-US" altLang="en-US" sz="3200" i="1" baseline="-25000" dirty="0" smtClean="0">
                <a:solidFill>
                  <a:srgbClr val="002D56"/>
                </a:solidFill>
                <a:sym typeface="Symbol" pitchFamily="18" charset="2"/>
              </a:rPr>
              <a:t>4</a:t>
            </a:r>
            <a:r>
              <a:rPr lang="en-US" altLang="en-US" sz="3200" i="1" dirty="0" smtClean="0">
                <a:solidFill>
                  <a:srgbClr val="002D56"/>
                </a:solidFill>
                <a:sym typeface="Symbol" pitchFamily="18" charset="2"/>
              </a:rPr>
              <a:t> </a:t>
            </a:r>
            <a:r>
              <a:rPr lang="en-US" altLang="en-US" sz="3200" i="1" dirty="0" smtClean="0">
                <a:solidFill>
                  <a:srgbClr val="002D56"/>
                </a:solidFill>
              </a:rPr>
              <a:t>+ (1-b) · </a:t>
            </a:r>
            <a:r>
              <a:rPr lang="en-US" altLang="en-US" sz="3200" i="1" dirty="0" smtClean="0">
                <a:solidFill>
                  <a:srgbClr val="002D56"/>
                </a:solidFill>
                <a:sym typeface="Symbol" pitchFamily="18" charset="2"/>
              </a:rPr>
              <a:t></a:t>
            </a:r>
            <a:r>
              <a:rPr lang="en-US" altLang="en-US" sz="3200" i="1" baseline="-25000" dirty="0" smtClean="0">
                <a:solidFill>
                  <a:srgbClr val="002D56"/>
                </a:solidFill>
                <a:sym typeface="Symbol" pitchFamily="18" charset="2"/>
              </a:rPr>
              <a:t>5 </a:t>
            </a:r>
            <a:endParaRPr lang="en-US" altLang="en-US" sz="3200" i="1" dirty="0" smtClean="0">
              <a:solidFill>
                <a:srgbClr val="002D56"/>
              </a:solidFill>
            </a:endParaRPr>
          </a:p>
          <a:p>
            <a:pPr algn="ctr">
              <a:buFontTx/>
              <a:buNone/>
            </a:pPr>
            <a:endParaRPr lang="en-US" altLang="en-US" sz="2800" dirty="0" smtClean="0">
              <a:solidFill>
                <a:srgbClr val="7B332D"/>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B6E9FEF-FA83-49C5-9829-B62F82B8D73A}" type="slidenum">
              <a:rPr lang="en-US" smtClean="0"/>
              <a:pPr>
                <a:defRPr/>
              </a:pPr>
              <a:t>15</a:t>
            </a:fld>
            <a:endParaRPr lang="en-US"/>
          </a:p>
        </p:txBody>
      </p:sp>
    </p:spTree>
    <p:extLst>
      <p:ext uri="{BB962C8B-B14F-4D97-AF65-F5344CB8AC3E}">
        <p14:creationId xmlns:p14="http://schemas.microsoft.com/office/powerpoint/2010/main" val="15074938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smtClean="0"/>
              <a:t>Expected Utility Maximization</a:t>
            </a:r>
          </a:p>
        </p:txBody>
      </p:sp>
      <p:sp>
        <p:nvSpPr>
          <p:cNvPr id="46083" name="Rectangle 3"/>
          <p:cNvSpPr>
            <a:spLocks noGrp="1" noChangeArrowheads="1"/>
          </p:cNvSpPr>
          <p:nvPr>
            <p:ph idx="1"/>
          </p:nvPr>
        </p:nvSpPr>
        <p:spPr/>
        <p:txBody>
          <a:bodyPr/>
          <a:lstStyle/>
          <a:p>
            <a:r>
              <a:rPr lang="en-US" altLang="en-US" smtClean="0"/>
              <a:t>Expected utility maximization</a:t>
            </a:r>
          </a:p>
          <a:p>
            <a:pPr lvl="1"/>
            <a:r>
              <a:rPr lang="en-US" altLang="en-US" smtClean="0"/>
              <a:t>If individuals obey the von Neumann-Morgenstern axioms of behavior in uncertain situations</a:t>
            </a:r>
          </a:p>
          <a:p>
            <a:pPr lvl="1"/>
            <a:r>
              <a:rPr lang="en-US" altLang="en-US" smtClean="0"/>
              <a:t>They will act as if they choose the option that maximizes the expected value of their von Neumann-Morgenstern utility index</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41C137E-99DD-4775-AEE7-750038A2554E}" type="slidenum">
              <a:rPr lang="en-US" smtClean="0"/>
              <a:pPr>
                <a:defRPr/>
              </a:pPr>
              <a:t>16</a:t>
            </a:fld>
            <a:endParaRPr lang="en-US"/>
          </a:p>
        </p:txBody>
      </p:sp>
    </p:spTree>
    <p:extLst>
      <p:ext uri="{BB962C8B-B14F-4D97-AF65-F5344CB8AC3E}">
        <p14:creationId xmlns:p14="http://schemas.microsoft.com/office/powerpoint/2010/main" val="28759514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mtClean="0"/>
              <a:t>Risk Aversion</a:t>
            </a:r>
          </a:p>
        </p:txBody>
      </p:sp>
      <p:sp>
        <p:nvSpPr>
          <p:cNvPr id="47107" name="Rectangle 3"/>
          <p:cNvSpPr>
            <a:spLocks noGrp="1" noChangeArrowheads="1"/>
          </p:cNvSpPr>
          <p:nvPr>
            <p:ph idx="1"/>
          </p:nvPr>
        </p:nvSpPr>
        <p:spPr/>
        <p:txBody>
          <a:bodyPr/>
          <a:lstStyle/>
          <a:p>
            <a:r>
              <a:rPr lang="en-US" altLang="en-US" smtClean="0"/>
              <a:t>Two lotteries </a:t>
            </a:r>
          </a:p>
          <a:p>
            <a:pPr lvl="1"/>
            <a:r>
              <a:rPr lang="en-US" altLang="en-US" smtClean="0"/>
              <a:t>May have the same expected value but differ in their riskiness</a:t>
            </a:r>
          </a:p>
          <a:p>
            <a:r>
              <a:rPr lang="en-US" altLang="en-US" smtClean="0"/>
              <a:t>Risk </a:t>
            </a:r>
          </a:p>
          <a:p>
            <a:pPr lvl="1"/>
            <a:r>
              <a:rPr lang="en-US" altLang="en-US" smtClean="0"/>
              <a:t>The variability of the outcomes of some uncertain activity</a:t>
            </a:r>
          </a:p>
          <a:p>
            <a:r>
              <a:rPr lang="en-US" altLang="en-US" smtClean="0"/>
              <a:t>When faced with two gambles </a:t>
            </a:r>
          </a:p>
          <a:p>
            <a:pPr lvl="1"/>
            <a:r>
              <a:rPr lang="en-US" altLang="en-US" smtClean="0"/>
              <a:t>With the same expected value, individuals will usually choose the one with lower risk</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8FE1FA1-2B13-44D3-B487-6AF75C10B5E0}" type="slidenum">
              <a:rPr lang="en-US" smtClean="0"/>
              <a:pPr>
                <a:defRPr/>
              </a:pPr>
              <a:t>17</a:t>
            </a:fld>
            <a:endParaRPr lang="en-US"/>
          </a:p>
        </p:txBody>
      </p:sp>
    </p:spTree>
    <p:extLst>
      <p:ext uri="{BB962C8B-B14F-4D97-AF65-F5344CB8AC3E}">
        <p14:creationId xmlns:p14="http://schemas.microsoft.com/office/powerpoint/2010/main" val="39100261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smtClean="0"/>
              <a:t>Risk Aversion</a:t>
            </a:r>
          </a:p>
        </p:txBody>
      </p:sp>
      <p:sp>
        <p:nvSpPr>
          <p:cNvPr id="48131" name="Rectangle 3"/>
          <p:cNvSpPr>
            <a:spLocks noGrp="1" noChangeArrowheads="1"/>
          </p:cNvSpPr>
          <p:nvPr>
            <p:ph idx="1"/>
          </p:nvPr>
        </p:nvSpPr>
        <p:spPr/>
        <p:txBody>
          <a:bodyPr/>
          <a:lstStyle/>
          <a:p>
            <a:r>
              <a:rPr lang="en-US" altLang="en-US" smtClean="0"/>
              <a:t>Assumption: marginal utility of wealth falls as wealth gets larger</a:t>
            </a:r>
          </a:p>
          <a:p>
            <a:pPr lvl="1"/>
            <a:r>
              <a:rPr lang="en-US" altLang="en-US" smtClean="0"/>
              <a:t>A flip of a coin for $1,000 </a:t>
            </a:r>
          </a:p>
          <a:p>
            <a:pPr lvl="2"/>
            <a:r>
              <a:rPr lang="en-US" altLang="en-US" smtClean="0"/>
              <a:t>Small gain in utility if you win</a:t>
            </a:r>
          </a:p>
          <a:p>
            <a:pPr lvl="2"/>
            <a:r>
              <a:rPr lang="en-US" altLang="en-US" smtClean="0"/>
              <a:t>Large loss in utility if you lose</a:t>
            </a:r>
          </a:p>
          <a:p>
            <a:pPr lvl="1"/>
            <a:r>
              <a:rPr lang="en-US" altLang="en-US" smtClean="0"/>
              <a:t>A flip of a coin for $1 </a:t>
            </a:r>
          </a:p>
          <a:p>
            <a:pPr lvl="2"/>
            <a:r>
              <a:rPr lang="en-US" altLang="en-US" smtClean="0"/>
              <a:t>Inconsequential: gain in utility from a win is not much different as the drop in utility from a loss</a:t>
            </a:r>
          </a:p>
          <a:p>
            <a:pPr>
              <a:lnSpc>
                <a:spcPct val="11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2C15CE1-E225-439E-937D-60DEEB8C3577}" type="slidenum">
              <a:rPr lang="en-US" smtClean="0"/>
              <a:pPr>
                <a:defRPr/>
              </a:pPr>
              <a:t>18</a:t>
            </a:fld>
            <a:endParaRPr lang="en-US"/>
          </a:p>
        </p:txBody>
      </p:sp>
    </p:spTree>
    <p:extLst>
      <p:ext uri="{BB962C8B-B14F-4D97-AF65-F5344CB8AC3E}">
        <p14:creationId xmlns:p14="http://schemas.microsoft.com/office/powerpoint/2010/main" val="11053916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mtClean="0"/>
              <a:t>Risk Aversion</a:t>
            </a:r>
          </a:p>
        </p:txBody>
      </p:sp>
      <p:sp>
        <p:nvSpPr>
          <p:cNvPr id="50179" name="Rectangle 3"/>
          <p:cNvSpPr>
            <a:spLocks noGrp="1" noChangeArrowheads="1"/>
          </p:cNvSpPr>
          <p:nvPr>
            <p:ph idx="1"/>
          </p:nvPr>
        </p:nvSpPr>
        <p:spPr>
          <a:xfrm>
            <a:off x="381000" y="1219200"/>
            <a:ext cx="8763000" cy="5181600"/>
          </a:xfrm>
        </p:spPr>
        <p:txBody>
          <a:bodyPr/>
          <a:lstStyle/>
          <a:p>
            <a:r>
              <a:rPr lang="en-US" altLang="en-US" dirty="0" smtClean="0"/>
              <a:t>Risk aversion and fair gambles</a:t>
            </a:r>
          </a:p>
          <a:p>
            <a:pPr lvl="2"/>
            <a:r>
              <a:rPr lang="en-US" altLang="en-US" dirty="0" smtClean="0"/>
              <a:t>W</a:t>
            </a:r>
            <a:r>
              <a:rPr lang="en-US" altLang="en-US" baseline="-25000" dirty="0" smtClean="0"/>
              <a:t>0</a:t>
            </a:r>
            <a:r>
              <a:rPr lang="en-US" altLang="en-US" dirty="0" smtClean="0"/>
              <a:t> </a:t>
            </a:r>
            <a:r>
              <a:rPr lang="en-US" altLang="en-US" dirty="0"/>
              <a:t>represents an individual’s current wealth </a:t>
            </a:r>
            <a:endParaRPr lang="en-US" altLang="en-US" dirty="0" smtClean="0"/>
          </a:p>
          <a:p>
            <a:pPr lvl="2"/>
            <a:r>
              <a:rPr lang="en-US" altLang="en-US" dirty="0" smtClean="0"/>
              <a:t>U(W</a:t>
            </a:r>
            <a:r>
              <a:rPr lang="en-US" altLang="en-US" dirty="0"/>
              <a:t>) is a von Neumann-Morgenstern utility function </a:t>
            </a:r>
          </a:p>
          <a:p>
            <a:r>
              <a:rPr lang="en-US" altLang="en-US" dirty="0" smtClean="0"/>
              <a:t>Gamble A: </a:t>
            </a:r>
            <a:r>
              <a:rPr lang="en-US" altLang="en-US" sz="3200" dirty="0" smtClean="0"/>
              <a:t>a 50-50 chance of winning/losing $</a:t>
            </a:r>
            <a:r>
              <a:rPr lang="en-US" altLang="en-US" sz="3200" i="1" dirty="0" smtClean="0"/>
              <a:t>h</a:t>
            </a:r>
          </a:p>
          <a:p>
            <a:pPr lvl="1"/>
            <a:r>
              <a:rPr lang="en-US" altLang="en-US" sz="2800" dirty="0" smtClean="0"/>
              <a:t>U(</a:t>
            </a:r>
            <a:r>
              <a:rPr lang="en-US" altLang="en-US" sz="2800" dirty="0"/>
              <a:t>W</a:t>
            </a:r>
            <a:r>
              <a:rPr lang="en-US" altLang="en-US" sz="2800" baseline="-25000" dirty="0"/>
              <a:t>0</a:t>
            </a:r>
            <a:r>
              <a:rPr lang="en-US" altLang="en-US" sz="2800" dirty="0" smtClean="0"/>
              <a:t>) = utility of initial wealth, </a:t>
            </a:r>
            <a:r>
              <a:rPr lang="en-US" altLang="en-US" sz="2800" dirty="0"/>
              <a:t>W</a:t>
            </a:r>
            <a:r>
              <a:rPr lang="en-US" altLang="en-US" sz="2800" baseline="-25000" dirty="0"/>
              <a:t>0</a:t>
            </a:r>
            <a:endParaRPr lang="en-US" altLang="en-US" sz="2800" dirty="0"/>
          </a:p>
          <a:p>
            <a:pPr lvl="1"/>
            <a:r>
              <a:rPr lang="en-US" altLang="en-US" sz="2800" dirty="0" smtClean="0"/>
              <a:t>Expected utility</a:t>
            </a:r>
            <a:r>
              <a:rPr lang="en-US" altLang="en-US" sz="2800" i="1" dirty="0" smtClean="0"/>
              <a:t>: </a:t>
            </a:r>
            <a:r>
              <a:rPr lang="en-US" altLang="en-US" sz="2800" i="1" dirty="0" smtClean="0">
                <a:solidFill>
                  <a:srgbClr val="000099"/>
                </a:solidFill>
              </a:rPr>
              <a:t>E</a:t>
            </a:r>
            <a:r>
              <a:rPr lang="en-US" altLang="en-US" sz="2800" i="1" baseline="-25000" dirty="0" smtClean="0">
                <a:solidFill>
                  <a:srgbClr val="000099"/>
                </a:solidFill>
              </a:rPr>
              <a:t>A</a:t>
            </a:r>
            <a:r>
              <a:rPr lang="en-US" altLang="en-US" sz="2800" i="1" dirty="0" smtClean="0">
                <a:solidFill>
                  <a:srgbClr val="000099"/>
                </a:solidFill>
              </a:rPr>
              <a:t>[U(W)]</a:t>
            </a:r>
            <a:r>
              <a:rPr lang="en-US" altLang="en-US" sz="2800" dirty="0" smtClean="0">
                <a:solidFill>
                  <a:srgbClr val="000099"/>
                </a:solidFill>
              </a:rPr>
              <a:t> = ½ </a:t>
            </a:r>
            <a:r>
              <a:rPr lang="en-US" altLang="en-US" sz="2800" i="1" dirty="0" smtClean="0">
                <a:solidFill>
                  <a:srgbClr val="000099"/>
                </a:solidFill>
              </a:rPr>
              <a:t>U</a:t>
            </a:r>
            <a:r>
              <a:rPr lang="en-US" altLang="en-US" sz="2800" dirty="0" smtClean="0">
                <a:solidFill>
                  <a:srgbClr val="000099"/>
                </a:solidFill>
              </a:rPr>
              <a:t>(</a:t>
            </a:r>
            <a:r>
              <a:rPr lang="en-US" altLang="en-US" sz="2800" i="1" dirty="0" smtClean="0">
                <a:solidFill>
                  <a:srgbClr val="000099"/>
                </a:solidFill>
              </a:rPr>
              <a:t>W</a:t>
            </a:r>
            <a:r>
              <a:rPr lang="en-US" altLang="en-US" sz="2800" i="1" baseline="-25000" dirty="0" smtClean="0">
                <a:solidFill>
                  <a:srgbClr val="000099"/>
                </a:solidFill>
              </a:rPr>
              <a:t>0</a:t>
            </a:r>
            <a:r>
              <a:rPr lang="en-US" altLang="en-US" sz="2800" dirty="0" smtClean="0">
                <a:solidFill>
                  <a:srgbClr val="000099"/>
                </a:solidFill>
              </a:rPr>
              <a:t>+</a:t>
            </a:r>
            <a:r>
              <a:rPr lang="en-US" altLang="en-US" sz="2800" i="1" dirty="0" smtClean="0">
                <a:solidFill>
                  <a:srgbClr val="000099"/>
                </a:solidFill>
              </a:rPr>
              <a:t>h</a:t>
            </a:r>
            <a:r>
              <a:rPr lang="en-US" altLang="en-US" sz="2800" dirty="0" smtClean="0">
                <a:solidFill>
                  <a:srgbClr val="000099"/>
                </a:solidFill>
              </a:rPr>
              <a:t>) + ½ </a:t>
            </a:r>
            <a:r>
              <a:rPr lang="en-US" altLang="en-US" sz="2800" i="1" dirty="0" smtClean="0">
                <a:solidFill>
                  <a:srgbClr val="000099"/>
                </a:solidFill>
              </a:rPr>
              <a:t>U</a:t>
            </a:r>
            <a:r>
              <a:rPr lang="en-US" altLang="en-US" sz="2800" dirty="0" smtClean="0">
                <a:solidFill>
                  <a:srgbClr val="000099"/>
                </a:solidFill>
              </a:rPr>
              <a:t>(</a:t>
            </a:r>
            <a:r>
              <a:rPr lang="en-US" altLang="en-US" sz="2800" i="1" dirty="0" smtClean="0">
                <a:solidFill>
                  <a:srgbClr val="000099"/>
                </a:solidFill>
              </a:rPr>
              <a:t>W</a:t>
            </a:r>
            <a:r>
              <a:rPr lang="en-US" altLang="en-US" sz="2800" i="1" baseline="-25000" dirty="0" smtClean="0">
                <a:solidFill>
                  <a:srgbClr val="000099"/>
                </a:solidFill>
              </a:rPr>
              <a:t>0</a:t>
            </a:r>
            <a:r>
              <a:rPr lang="en-US" altLang="en-US" sz="2800" dirty="0" smtClean="0">
                <a:solidFill>
                  <a:srgbClr val="000099"/>
                </a:solidFill>
              </a:rPr>
              <a:t>-</a:t>
            </a:r>
            <a:r>
              <a:rPr lang="en-US" altLang="en-US" sz="2800" i="1" dirty="0" smtClean="0">
                <a:solidFill>
                  <a:srgbClr val="000099"/>
                </a:solidFill>
              </a:rPr>
              <a:t>h</a:t>
            </a:r>
            <a:r>
              <a:rPr lang="en-US" altLang="en-US" sz="2800" dirty="0" smtClean="0">
                <a:solidFill>
                  <a:srgbClr val="000099"/>
                </a:solidFill>
              </a:rPr>
              <a:t>)</a:t>
            </a:r>
          </a:p>
          <a:p>
            <a:pPr lvl="1"/>
            <a:r>
              <a:rPr lang="en-US" altLang="en-US" sz="2800" dirty="0" smtClean="0"/>
              <a:t>Winning a </a:t>
            </a:r>
            <a:r>
              <a:rPr lang="en-US" altLang="en-US" sz="2800" dirty="0"/>
              <a:t>fair bet adds to enjoyment less than losing </a:t>
            </a:r>
            <a:r>
              <a:rPr lang="en-US" altLang="en-US" sz="2800" dirty="0" smtClean="0"/>
              <a:t>hurts: </a:t>
            </a:r>
            <a:r>
              <a:rPr lang="en-US" altLang="en-US" sz="2800" dirty="0" smtClean="0">
                <a:solidFill>
                  <a:srgbClr val="C00000"/>
                </a:solidFill>
              </a:rPr>
              <a:t>U(W</a:t>
            </a:r>
            <a:r>
              <a:rPr lang="en-US" altLang="en-US" sz="2800" baseline="-25000" dirty="0" smtClean="0">
                <a:solidFill>
                  <a:srgbClr val="C00000"/>
                </a:solidFill>
              </a:rPr>
              <a:t>0</a:t>
            </a:r>
            <a:r>
              <a:rPr lang="en-US" altLang="en-US" sz="2800" dirty="0" smtClean="0">
                <a:solidFill>
                  <a:srgbClr val="C00000"/>
                </a:solidFill>
              </a:rPr>
              <a:t>) &gt; </a:t>
            </a:r>
            <a:r>
              <a:rPr lang="en-US" altLang="en-US" sz="2800" i="1" dirty="0">
                <a:solidFill>
                  <a:srgbClr val="C00000"/>
                </a:solidFill>
              </a:rPr>
              <a:t>E</a:t>
            </a:r>
            <a:r>
              <a:rPr lang="en-US" altLang="en-US" sz="2800" i="1" baseline="-25000" dirty="0">
                <a:solidFill>
                  <a:srgbClr val="C00000"/>
                </a:solidFill>
              </a:rPr>
              <a:t>A</a:t>
            </a:r>
            <a:r>
              <a:rPr lang="en-US" altLang="en-US" sz="2800" i="1" dirty="0">
                <a:solidFill>
                  <a:srgbClr val="C00000"/>
                </a:solidFill>
              </a:rPr>
              <a:t>[U(W)]</a:t>
            </a:r>
            <a:r>
              <a:rPr lang="en-US" altLang="en-US" sz="2800" dirty="0">
                <a:solidFill>
                  <a:srgbClr val="C00000"/>
                </a:solidFill>
              </a:rPr>
              <a:t> </a:t>
            </a:r>
            <a:endParaRPr lang="en-US" altLang="en-US" sz="2800" dirty="0" smtClean="0">
              <a:solidFill>
                <a:srgbClr val="C0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4743946-AE1C-4505-9F42-CD225000D510}" type="slidenum">
              <a:rPr lang="en-US" smtClean="0"/>
              <a:pPr>
                <a:defRPr/>
              </a:pPr>
              <a:t>19</a:t>
            </a:fld>
            <a:endParaRPr lang="en-US"/>
          </a:p>
        </p:txBody>
      </p:sp>
    </p:spTree>
    <p:extLst>
      <p:ext uri="{BB962C8B-B14F-4D97-AF65-F5344CB8AC3E}">
        <p14:creationId xmlns:p14="http://schemas.microsoft.com/office/powerpoint/2010/main" val="40249087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7.1	</a:t>
            </a:r>
            <a:r>
              <a:rPr lang="en-US" altLang="en-US" dirty="0"/>
              <a:t>Utility of Wealth Facing a Fair Bet</a:t>
            </a:r>
            <a:endParaRPr lang="en-US" altLang="en-US" dirty="0"/>
          </a:p>
        </p:txBody>
      </p:sp>
      <mc:AlternateContent xmlns:mc="http://schemas.openxmlformats.org/markup-compatibility/2006">
        <mc:Choice xmlns:a14="http://schemas.microsoft.com/office/drawing/2010/main" Requires="a14">
          <p:sp>
            <p:nvSpPr>
              <p:cNvPr id="49155" name="Text Placeholder 2"/>
              <p:cNvSpPr>
                <a:spLocks noGrp="1"/>
              </p:cNvSpPr>
              <p:nvPr>
                <p:ph sz="half" idx="1"/>
              </p:nvPr>
            </p:nvSpPr>
            <p:spPr>
              <a:xfrm>
                <a:off x="76201" y="4679203"/>
                <a:ext cx="8991599" cy="1771663"/>
              </a:xfrm>
            </p:spPr>
            <p:txBody>
              <a:bodyPr>
                <a:noAutofit/>
              </a:bodyPr>
              <a:lstStyle/>
              <a:p>
                <a:pPr>
                  <a:spcBef>
                    <a:spcPts val="0"/>
                  </a:spcBef>
                  <a:spcAft>
                    <a:spcPts val="1000"/>
                  </a:spcAft>
                </a:pPr>
                <a:r>
                  <a:rPr lang="en-US" dirty="0">
                    <a:ea typeface="Calibri"/>
                    <a:cs typeface="Times New Roman"/>
                  </a:rPr>
                  <a:t>If the utility function is concave in wealth (i.e., exhibits diminishing marginal utility of wealth), then this person will refuse fair bets such as gamble </a:t>
                </a:r>
                <a14:m>
                  <m:oMath xmlns:m="http://schemas.openxmlformats.org/officeDocument/2006/math">
                    <m:r>
                      <a:rPr lang="en-US" i="1">
                        <a:ea typeface="Calibri"/>
                        <a:cs typeface="Times New Roman"/>
                      </a:rPr>
                      <m:t>𝐴</m:t>
                    </m:r>
                  </m:oMath>
                </a14:m>
                <a:r>
                  <a:rPr lang="en-US" dirty="0">
                    <a:ea typeface="Times New Roman"/>
                    <a:cs typeface="Times New Roman"/>
                  </a:rPr>
                  <a:t>, which involves a 50-50 chance of winning or losing </a:t>
                </a:r>
                <a14:m>
                  <m:oMath xmlns:m="http://schemas.openxmlformats.org/officeDocument/2006/math">
                    <m:r>
                      <a:rPr lang="en-US" i="1">
                        <a:ea typeface="Times New Roman"/>
                        <a:cs typeface="Times New Roman"/>
                      </a:rPr>
                      <m:t>h</m:t>
                    </m:r>
                  </m:oMath>
                </a14:m>
                <a:r>
                  <a:rPr lang="en-US" dirty="0">
                    <a:ea typeface="Times New Roman"/>
                    <a:cs typeface="Times New Roman"/>
                  </a:rPr>
                  <a:t> </a:t>
                </a:r>
                <a:r>
                  <a:rPr lang="en-US" dirty="0">
                    <a:ea typeface="Times New Roman"/>
                    <a:cs typeface="Times New Roman"/>
                  </a:rPr>
                  <a:t>dollars.  The expected utility, </a:t>
                </a:r>
                <a14:m>
                  <m:oMath xmlns:m="http://schemas.openxmlformats.org/officeDocument/2006/math">
                    <m:sSub>
                      <m:sSubPr>
                        <m:ctrlPr>
                          <a:rPr lang="en-US" i="1">
                            <a:cs typeface="Times New Roman"/>
                          </a:rPr>
                        </m:ctrlPr>
                      </m:sSubPr>
                      <m:e>
                        <m:r>
                          <a:rPr lang="en-US" i="1">
                            <a:cs typeface="Times New Roman"/>
                          </a:rPr>
                          <m:t>𝐸</m:t>
                        </m:r>
                      </m:e>
                      <m:sub>
                        <m:r>
                          <a:rPr lang="en-US" i="1">
                            <a:cs typeface="Times New Roman"/>
                          </a:rPr>
                          <m:t>𝐴</m:t>
                        </m:r>
                      </m:sub>
                    </m:sSub>
                    <m:d>
                      <m:dPr>
                        <m:begChr m:val="["/>
                        <m:endChr m:val="]"/>
                        <m:ctrlPr>
                          <a:rPr lang="en-US" i="1">
                            <a:cs typeface="Times New Roman"/>
                          </a:rPr>
                        </m:ctrlPr>
                      </m:dPr>
                      <m:e>
                        <m:r>
                          <a:rPr lang="en-US" i="1">
                            <a:ea typeface="Times New Roman"/>
                            <a:cs typeface="Times New Roman"/>
                          </a:rPr>
                          <m:t>𝑈</m:t>
                        </m:r>
                        <m:r>
                          <a:rPr lang="en-US" i="1">
                            <a:ea typeface="Times New Roman"/>
                            <a:cs typeface="Times New Roman"/>
                          </a:rPr>
                          <m:t>(</m:t>
                        </m:r>
                        <m:r>
                          <a:rPr lang="en-US" i="1">
                            <a:ea typeface="Times New Roman"/>
                            <a:cs typeface="Times New Roman"/>
                          </a:rPr>
                          <m:t>𝑊</m:t>
                        </m:r>
                        <m:r>
                          <a:rPr lang="en-US" i="1">
                            <a:ea typeface="Times New Roman"/>
                            <a:cs typeface="Times New Roman"/>
                          </a:rPr>
                          <m:t>)</m:t>
                        </m:r>
                      </m:e>
                    </m:d>
                  </m:oMath>
                </a14:m>
                <a:r>
                  <a:rPr lang="en-US" dirty="0">
                    <a:ea typeface="Times New Roman"/>
                    <a:cs typeface="Times New Roman"/>
                  </a:rPr>
                  <a:t>,</a:t>
                </a:r>
                <a:r>
                  <a:rPr lang="en-US" dirty="0">
                    <a:ea typeface="Times New Roman"/>
                    <a:cs typeface="Times New Roman"/>
                  </a:rPr>
                  <a:t> from gamble </a:t>
                </a:r>
                <a14:m>
                  <m:oMath xmlns:m="http://schemas.openxmlformats.org/officeDocument/2006/math">
                    <m:r>
                      <a:rPr lang="en-US" i="1">
                        <a:ea typeface="Times New Roman"/>
                        <a:cs typeface="Times New Roman"/>
                      </a:rPr>
                      <m:t>𝐴</m:t>
                    </m:r>
                  </m:oMath>
                </a14:m>
                <a:r>
                  <a:rPr lang="en-US" dirty="0">
                    <a:ea typeface="Times New Roman"/>
                    <a:cs typeface="Times New Roman"/>
                  </a:rPr>
                  <a:t> is less than the expected utility, </a:t>
                </a:r>
                <a14:m>
                  <m:oMath xmlns:m="http://schemas.openxmlformats.org/officeDocument/2006/math">
                    <m:r>
                      <a:rPr lang="en-US" i="1">
                        <a:ea typeface="Times New Roman"/>
                        <a:cs typeface="Times New Roman"/>
                      </a:rPr>
                      <m:t>𝑈</m:t>
                    </m:r>
                    <m:r>
                      <a:rPr lang="en-US" i="1">
                        <a:ea typeface="Times New Roman"/>
                        <a:cs typeface="Times New Roman"/>
                      </a:rPr>
                      <m:t>(</m:t>
                    </m:r>
                    <m:sSub>
                      <m:sSubPr>
                        <m:ctrlPr>
                          <a:rPr lang="en-US" i="1">
                            <a:cs typeface="Times New Roman"/>
                          </a:rPr>
                        </m:ctrlPr>
                      </m:sSubPr>
                      <m:e>
                        <m:r>
                          <a:rPr lang="en-US" i="1">
                            <a:cs typeface="Times New Roman"/>
                          </a:rPr>
                          <m:t>𝑊</m:t>
                        </m:r>
                      </m:e>
                      <m:sub>
                        <m:r>
                          <a:rPr lang="en-US" i="1">
                            <a:cs typeface="Times New Roman"/>
                          </a:rPr>
                          <m:t>0</m:t>
                        </m:r>
                      </m:sub>
                    </m:sSub>
                    <m:r>
                      <a:rPr lang="en-US" i="1">
                        <a:ea typeface="Times New Roman"/>
                        <a:cs typeface="Times New Roman"/>
                      </a:rPr>
                      <m:t>)</m:t>
                    </m:r>
                  </m:oMath>
                </a14:m>
                <a:r>
                  <a:rPr lang="en-US" dirty="0">
                    <a:ea typeface="Times New Roman"/>
                    <a:cs typeface="Times New Roman"/>
                  </a:rPr>
                  <a:t>, from refusing </a:t>
                </a:r>
                <a:r>
                  <a:rPr lang="en-US" dirty="0">
                    <a:ea typeface="Times New Roman"/>
                    <a:cs typeface="Times New Roman"/>
                  </a:rPr>
                  <a:t>the bet and keeping the original wealth </a:t>
                </a:r>
                <a14:m>
                  <m:oMath xmlns:m="http://schemas.openxmlformats.org/officeDocument/2006/math">
                    <m:sSub>
                      <m:sSubPr>
                        <m:ctrlPr>
                          <a:rPr lang="en-US" i="1">
                            <a:ea typeface="Times New Roman"/>
                            <a:cs typeface="Times New Roman"/>
                          </a:rPr>
                        </m:ctrlPr>
                      </m:sSubPr>
                      <m:e>
                        <m:r>
                          <a:rPr lang="en-US" i="1">
                            <a:ea typeface="Times New Roman"/>
                            <a:cs typeface="Times New Roman"/>
                          </a:rPr>
                          <m:t>𝑊</m:t>
                        </m:r>
                      </m:e>
                      <m:sub>
                        <m:r>
                          <a:rPr lang="en-US" i="1">
                            <a:ea typeface="Times New Roman"/>
                            <a:cs typeface="Times New Roman"/>
                          </a:rPr>
                          <m:t>0</m:t>
                        </m:r>
                      </m:sub>
                    </m:sSub>
                  </m:oMath>
                </a14:m>
                <a:r>
                  <a:rPr lang="en-US" dirty="0">
                    <a:ea typeface="Times New Roman"/>
                    <a:cs typeface="Times New Roman"/>
                  </a:rPr>
                  <a:t>.  The person would be willing to trade gamble </a:t>
                </a:r>
                <a14:m>
                  <m:oMath xmlns:m="http://schemas.openxmlformats.org/officeDocument/2006/math">
                    <m:r>
                      <a:rPr lang="en-US" i="1">
                        <a:ea typeface="Times New Roman"/>
                        <a:cs typeface="Times New Roman"/>
                      </a:rPr>
                      <m:t>𝐴</m:t>
                    </m:r>
                  </m:oMath>
                </a14:m>
                <a:r>
                  <a:rPr lang="en-US" dirty="0">
                    <a:ea typeface="Times New Roman"/>
                    <a:cs typeface="Times New Roman"/>
                  </a:rPr>
                  <a:t> for </a:t>
                </a:r>
                <a:r>
                  <a:rPr lang="en-US" dirty="0">
                    <a:ea typeface="Times New Roman"/>
                    <a:cs typeface="Times New Roman"/>
                  </a:rPr>
                  <a:t>the certainty equivalent </a:t>
                </a:r>
                <a14:m>
                  <m:oMath xmlns:m="http://schemas.openxmlformats.org/officeDocument/2006/math">
                    <m:sSub>
                      <m:sSubPr>
                        <m:ctrlPr>
                          <a:rPr lang="en-US" i="1">
                            <a:ea typeface="Times New Roman"/>
                            <a:cs typeface="Times New Roman"/>
                          </a:rPr>
                        </m:ctrlPr>
                      </m:sSubPr>
                      <m:e>
                        <m:r>
                          <a:rPr lang="en-US" i="1">
                            <a:ea typeface="Times New Roman"/>
                            <a:cs typeface="Times New Roman"/>
                          </a:rPr>
                          <m:t>𝐶𝐸</m:t>
                        </m:r>
                      </m:e>
                      <m:sub>
                        <m:r>
                          <a:rPr lang="en-US" i="1">
                            <a:ea typeface="Times New Roman"/>
                            <a:cs typeface="Times New Roman"/>
                          </a:rPr>
                          <m:t>𝐴</m:t>
                        </m:r>
                      </m:sub>
                    </m:sSub>
                  </m:oMath>
                </a14:m>
                <a:r>
                  <a:rPr lang="en-US" dirty="0">
                    <a:ea typeface="Times New Roman"/>
                    <a:cs typeface="Times New Roman"/>
                  </a:rPr>
                  <a:t>, which </a:t>
                </a:r>
                <a:r>
                  <a:rPr lang="en-US" dirty="0">
                    <a:ea typeface="Times New Roman"/>
                    <a:cs typeface="Times New Roman"/>
                  </a:rPr>
                  <a:t>is considerably </a:t>
                </a:r>
                <a:r>
                  <a:rPr lang="en-US" dirty="0">
                    <a:ea typeface="Times New Roman"/>
                    <a:cs typeface="Times New Roman"/>
                  </a:rPr>
                  <a:t>less </a:t>
                </a:r>
                <a:r>
                  <a:rPr lang="en-US" dirty="0">
                    <a:ea typeface="Times New Roman"/>
                    <a:cs typeface="Times New Roman"/>
                  </a:rPr>
                  <a:t>wealth than </a:t>
                </a:r>
                <a14:m>
                  <m:oMath xmlns:m="http://schemas.openxmlformats.org/officeDocument/2006/math">
                    <m:sSub>
                      <m:sSubPr>
                        <m:ctrlPr>
                          <a:rPr lang="en-US" i="1">
                            <a:ea typeface="Times New Roman"/>
                            <a:cs typeface="Times New Roman"/>
                          </a:rPr>
                        </m:ctrlPr>
                      </m:sSubPr>
                      <m:e>
                        <m:r>
                          <a:rPr lang="en-US" i="1">
                            <a:ea typeface="Times New Roman"/>
                            <a:cs typeface="Times New Roman"/>
                          </a:rPr>
                          <m:t>𝑊</m:t>
                        </m:r>
                      </m:e>
                      <m:sub>
                        <m:r>
                          <a:rPr lang="en-US" i="1">
                            <a:ea typeface="Times New Roman"/>
                            <a:cs typeface="Times New Roman"/>
                          </a:rPr>
                          <m:t>0</m:t>
                        </m:r>
                      </m:sub>
                    </m:sSub>
                  </m:oMath>
                </a14:m>
                <a:r>
                  <a:rPr lang="en-US" dirty="0">
                    <a:ea typeface="Times New Roman"/>
                    <a:cs typeface="Times New Roman"/>
                  </a:rPr>
                  <a:t>.  </a:t>
                </a:r>
                <a:endParaRPr lang="en-US" dirty="0">
                  <a:ea typeface="Calibri"/>
                  <a:cs typeface="Times New Roman"/>
                </a:endParaRPr>
              </a:p>
            </p:txBody>
          </p:sp>
        </mc:Choice>
        <mc:Fallback>
          <p:sp>
            <p:nvSpPr>
              <p:cNvPr id="49155" name="Text Placeholder 2"/>
              <p:cNvSpPr>
                <a:spLocks noGrp="1" noRot="1" noChangeAspect="1" noMove="1" noResize="1" noEditPoints="1" noAdjustHandles="1" noChangeArrowheads="1" noChangeShapeType="1" noTextEdit="1"/>
              </p:cNvSpPr>
              <p:nvPr>
                <p:ph sz="half" idx="1"/>
              </p:nvPr>
            </p:nvSpPr>
            <p:spPr>
              <a:xfrm>
                <a:off x="76201" y="4679203"/>
                <a:ext cx="8991599" cy="1771663"/>
              </a:xfrm>
              <a:blipFill rotWithShape="1">
                <a:blip r:embed="rId2"/>
                <a:stretch>
                  <a:fillRect l="-610" t="-1724" b="-3793"/>
                </a:stretch>
              </a:blipFill>
            </p:spPr>
            <p:txBody>
              <a:bodyPr/>
              <a:lstStyle/>
              <a:p>
                <a:r>
                  <a:rPr lang="en-US">
                    <a:noFill/>
                  </a:rPr>
                  <a:t> </a:t>
                </a:r>
              </a:p>
            </p:txBody>
          </p:sp>
        </mc:Fallback>
      </mc:AlternateContent>
      <p:sp>
        <p:nvSpPr>
          <p:cNvPr id="491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F286AA6-74EA-400A-AB33-B2A60155F397}" type="slidenum">
              <a:rPr lang="en-US" smtClean="0"/>
              <a:pPr>
                <a:defRPr/>
              </a:pPr>
              <a:t>20</a:t>
            </a:fld>
            <a:endParaRPr lang="en-US" dirty="0"/>
          </a:p>
        </p:txBody>
      </p:sp>
      <p:grpSp>
        <p:nvGrpSpPr>
          <p:cNvPr id="31" name="Group 63"/>
          <p:cNvGrpSpPr>
            <a:grpSpLocks/>
          </p:cNvGrpSpPr>
          <p:nvPr/>
        </p:nvGrpSpPr>
        <p:grpSpPr bwMode="auto">
          <a:xfrm>
            <a:off x="1066800" y="685800"/>
            <a:ext cx="7696200" cy="3810839"/>
            <a:chOff x="572986" y="1218917"/>
            <a:chExt cx="7696200" cy="3810840"/>
          </a:xfrm>
        </p:grpSpPr>
        <p:grpSp>
          <p:nvGrpSpPr>
            <p:cNvPr id="49207" name="Group 33"/>
            <p:cNvGrpSpPr>
              <a:grpSpLocks/>
            </p:cNvGrpSpPr>
            <p:nvPr/>
          </p:nvGrpSpPr>
          <p:grpSpPr bwMode="auto">
            <a:xfrm>
              <a:off x="572986" y="1218917"/>
              <a:ext cx="1371600" cy="3596527"/>
              <a:chOff x="572986" y="1218917"/>
              <a:chExt cx="1371600" cy="3596527"/>
            </a:xfrm>
          </p:grpSpPr>
          <p:sp>
            <p:nvSpPr>
              <p:cNvPr id="49211" name="Line 3"/>
              <p:cNvSpPr>
                <a:spLocks noChangeShapeType="1"/>
              </p:cNvSpPr>
              <p:nvPr/>
            </p:nvSpPr>
            <p:spPr bwMode="auto">
              <a:xfrm>
                <a:off x="1944586" y="1234044"/>
                <a:ext cx="0" cy="3581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212" name="Text Box 5"/>
              <p:cNvSpPr txBox="1">
                <a:spLocks noChangeArrowheads="1"/>
              </p:cNvSpPr>
              <p:nvPr/>
            </p:nvSpPr>
            <p:spPr bwMode="auto">
              <a:xfrm>
                <a:off x="572986" y="1218917"/>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Utility (</a:t>
                </a:r>
                <a:r>
                  <a:rPr lang="en-US" altLang="en-US" sz="1800" i="1" dirty="0"/>
                  <a:t>U</a:t>
                </a:r>
                <a:r>
                  <a:rPr lang="en-US" altLang="en-US" sz="1800" dirty="0"/>
                  <a:t>)</a:t>
                </a:r>
              </a:p>
            </p:txBody>
          </p:sp>
        </p:grpSp>
        <p:grpSp>
          <p:nvGrpSpPr>
            <p:cNvPr id="49208" name="Group 32"/>
            <p:cNvGrpSpPr>
              <a:grpSpLocks/>
            </p:cNvGrpSpPr>
            <p:nvPr/>
          </p:nvGrpSpPr>
          <p:grpSpPr bwMode="auto">
            <a:xfrm>
              <a:off x="1944586" y="4663044"/>
              <a:ext cx="6324600" cy="366713"/>
              <a:chOff x="1944586" y="4663044"/>
              <a:chExt cx="6324600" cy="366713"/>
            </a:xfrm>
          </p:grpSpPr>
          <p:sp>
            <p:nvSpPr>
              <p:cNvPr id="49209" name="Line 4"/>
              <p:cNvSpPr>
                <a:spLocks noChangeShapeType="1"/>
              </p:cNvSpPr>
              <p:nvPr/>
            </p:nvSpPr>
            <p:spPr bwMode="auto">
              <a:xfrm>
                <a:off x="1944586" y="4815444"/>
                <a:ext cx="472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210" name="Text Box 6"/>
              <p:cNvSpPr txBox="1">
                <a:spLocks noChangeArrowheads="1"/>
              </p:cNvSpPr>
              <p:nvPr/>
            </p:nvSpPr>
            <p:spPr bwMode="auto">
              <a:xfrm>
                <a:off x="6745186" y="4663044"/>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Wealth (</a:t>
                </a:r>
                <a:r>
                  <a:rPr lang="en-US" altLang="en-US" sz="1800" i="1"/>
                  <a:t>W</a:t>
                </a:r>
                <a:r>
                  <a:rPr lang="en-US" altLang="en-US" sz="1800"/>
                  <a:t>)</a:t>
                </a:r>
              </a:p>
            </p:txBody>
          </p:sp>
        </p:grpSp>
      </p:grpSp>
      <p:grpSp>
        <p:nvGrpSpPr>
          <p:cNvPr id="35" name="Group 30"/>
          <p:cNvGrpSpPr>
            <a:grpSpLocks/>
          </p:cNvGrpSpPr>
          <p:nvPr/>
        </p:nvGrpSpPr>
        <p:grpSpPr bwMode="auto">
          <a:xfrm>
            <a:off x="2438400" y="1410539"/>
            <a:ext cx="5400675" cy="2871788"/>
            <a:chOff x="1944586" y="1943657"/>
            <a:chExt cx="5400050" cy="2871787"/>
          </a:xfrm>
        </p:grpSpPr>
        <p:sp>
          <p:nvSpPr>
            <p:cNvPr id="49205" name="Freeform 7"/>
            <p:cNvSpPr>
              <a:spLocks/>
            </p:cNvSpPr>
            <p:nvPr/>
          </p:nvSpPr>
          <p:spPr bwMode="auto">
            <a:xfrm>
              <a:off x="1944586" y="2072244"/>
              <a:ext cx="4648200" cy="2743200"/>
            </a:xfrm>
            <a:custGeom>
              <a:avLst/>
              <a:gdLst>
                <a:gd name="T0" fmla="*/ 0 w 2928"/>
                <a:gd name="T1" fmla="*/ 2743200 h 1728"/>
                <a:gd name="T2" fmla="*/ 2209800 w 2928"/>
                <a:gd name="T3" fmla="*/ 533400 h 1728"/>
                <a:gd name="T4" fmla="*/ 4648200 w 2928"/>
                <a:gd name="T5" fmla="*/ 0 h 1728"/>
                <a:gd name="T6" fmla="*/ 0 60000 65536"/>
                <a:gd name="T7" fmla="*/ 0 60000 65536"/>
                <a:gd name="T8" fmla="*/ 0 60000 65536"/>
                <a:gd name="T9" fmla="*/ 0 w 2928"/>
                <a:gd name="T10" fmla="*/ 0 h 1728"/>
                <a:gd name="T11" fmla="*/ 2928 w 2928"/>
                <a:gd name="T12" fmla="*/ 1728 h 1728"/>
              </a:gdLst>
              <a:ahLst/>
              <a:cxnLst>
                <a:cxn ang="T6">
                  <a:pos x="T0" y="T1"/>
                </a:cxn>
                <a:cxn ang="T7">
                  <a:pos x="T2" y="T3"/>
                </a:cxn>
                <a:cxn ang="T8">
                  <a:pos x="T4" y="T5"/>
                </a:cxn>
              </a:cxnLst>
              <a:rect l="T9" t="T10" r="T11" b="T12"/>
              <a:pathLst>
                <a:path w="2928" h="1728">
                  <a:moveTo>
                    <a:pt x="0" y="1728"/>
                  </a:moveTo>
                  <a:cubicBezTo>
                    <a:pt x="452" y="1176"/>
                    <a:pt x="904" y="624"/>
                    <a:pt x="1392" y="336"/>
                  </a:cubicBezTo>
                  <a:cubicBezTo>
                    <a:pt x="1880" y="48"/>
                    <a:pt x="2404" y="24"/>
                    <a:pt x="2928" y="0"/>
                  </a:cubicBezTo>
                </a:path>
              </a:pathLst>
            </a:custGeom>
            <a:noFill/>
            <a:ln w="28575" cap="flat" cmpd="sng">
              <a:solidFill>
                <a:srgbClr val="0000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9206" name="Text Box 8"/>
            <p:cNvSpPr txBox="1">
              <a:spLocks noChangeArrowheads="1"/>
            </p:cNvSpPr>
            <p:nvPr/>
          </p:nvSpPr>
          <p:spPr bwMode="auto">
            <a:xfrm>
              <a:off x="6621361" y="1943657"/>
              <a:ext cx="723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000099"/>
                  </a:solidFill>
                </a:rPr>
                <a:t>U</a:t>
              </a:r>
              <a:r>
                <a:rPr lang="en-US" altLang="en-US" sz="1800">
                  <a:solidFill>
                    <a:srgbClr val="000099"/>
                  </a:solidFill>
                </a:rPr>
                <a:t>(</a:t>
              </a:r>
              <a:r>
                <a:rPr lang="en-US" altLang="en-US" sz="1800" i="1">
                  <a:solidFill>
                    <a:srgbClr val="000099"/>
                  </a:solidFill>
                </a:rPr>
                <a:t>W</a:t>
              </a:r>
              <a:r>
                <a:rPr lang="en-US" altLang="en-US" sz="1800">
                  <a:solidFill>
                    <a:srgbClr val="000099"/>
                  </a:solidFill>
                </a:rPr>
                <a:t>)</a:t>
              </a:r>
              <a:endParaRPr lang="en-US" altLang="en-US" sz="1800" i="1">
                <a:solidFill>
                  <a:srgbClr val="000099"/>
                </a:solidFill>
              </a:endParaRPr>
            </a:p>
          </p:txBody>
        </p:sp>
      </p:grpSp>
      <p:grpSp>
        <p:nvGrpSpPr>
          <p:cNvPr id="36" name="Group 34"/>
          <p:cNvGrpSpPr>
            <a:grpSpLocks/>
          </p:cNvGrpSpPr>
          <p:nvPr/>
        </p:nvGrpSpPr>
        <p:grpSpPr bwMode="auto">
          <a:xfrm>
            <a:off x="1524000" y="1566114"/>
            <a:ext cx="3733800" cy="369888"/>
            <a:chOff x="1030564" y="2099232"/>
            <a:chExt cx="3733422" cy="369332"/>
          </a:xfrm>
        </p:grpSpPr>
        <p:sp>
          <p:nvSpPr>
            <p:cNvPr id="49203" name="Line 12"/>
            <p:cNvSpPr>
              <a:spLocks noChangeShapeType="1"/>
            </p:cNvSpPr>
            <p:nvPr/>
          </p:nvSpPr>
          <p:spPr bwMode="auto">
            <a:xfrm flipH="1">
              <a:off x="1944586" y="2300844"/>
              <a:ext cx="2819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204" name="Text Box 13"/>
            <p:cNvSpPr txBox="1">
              <a:spLocks noChangeArrowheads="1"/>
            </p:cNvSpPr>
            <p:nvPr/>
          </p:nvSpPr>
          <p:spPr bwMode="auto">
            <a:xfrm>
              <a:off x="1030564" y="2099232"/>
              <a:ext cx="83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U</a:t>
              </a:r>
              <a:r>
                <a:rPr lang="en-US" altLang="en-US" sz="1800" dirty="0"/>
                <a:t>(W</a:t>
              </a:r>
              <a:r>
                <a:rPr lang="en-US" altLang="en-US" sz="1800" baseline="-25000" dirty="0"/>
                <a:t>0</a:t>
              </a:r>
              <a:r>
                <a:rPr lang="en-US" altLang="en-US" sz="1800" dirty="0"/>
                <a:t>)</a:t>
              </a:r>
              <a:endParaRPr lang="en-US" altLang="en-US" sz="1800" i="1" dirty="0"/>
            </a:p>
          </p:txBody>
        </p:sp>
      </p:grpSp>
      <p:sp>
        <p:nvSpPr>
          <p:cNvPr id="26" name="Line 30"/>
          <p:cNvSpPr>
            <a:spLocks noChangeShapeType="1"/>
          </p:cNvSpPr>
          <p:nvPr/>
        </p:nvSpPr>
        <p:spPr bwMode="auto">
          <a:xfrm flipV="1">
            <a:off x="4003675" y="1595205"/>
            <a:ext cx="2395552" cy="958342"/>
          </a:xfrm>
          <a:prstGeom prst="line">
            <a:avLst/>
          </a:prstGeom>
          <a:noFill/>
          <a:ln w="19050">
            <a:solidFill>
              <a:srgbClr val="BB6033"/>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grpSp>
        <p:nvGrpSpPr>
          <p:cNvPr id="38" name="Group 35"/>
          <p:cNvGrpSpPr>
            <a:grpSpLocks/>
          </p:cNvGrpSpPr>
          <p:nvPr/>
        </p:nvGrpSpPr>
        <p:grpSpPr bwMode="auto">
          <a:xfrm>
            <a:off x="304800" y="1917507"/>
            <a:ext cx="4953000" cy="369332"/>
            <a:chOff x="-188678" y="2300844"/>
            <a:chExt cx="4952664" cy="368778"/>
          </a:xfrm>
        </p:grpSpPr>
        <p:sp>
          <p:nvSpPr>
            <p:cNvPr id="49199" name="Line 31"/>
            <p:cNvSpPr>
              <a:spLocks noChangeShapeType="1"/>
            </p:cNvSpPr>
            <p:nvPr/>
          </p:nvSpPr>
          <p:spPr bwMode="auto">
            <a:xfrm flipH="1">
              <a:off x="1944586" y="2453244"/>
              <a:ext cx="2819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9200" name="Text Box 32"/>
            <p:cNvSpPr txBox="1">
              <a:spLocks noChangeArrowheads="1"/>
            </p:cNvSpPr>
            <p:nvPr/>
          </p:nvSpPr>
          <p:spPr bwMode="auto">
            <a:xfrm>
              <a:off x="-188678" y="2300844"/>
              <a:ext cx="2136230"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E</a:t>
              </a:r>
              <a:r>
                <a:rPr lang="en-US" altLang="en-US" sz="1800" i="1" baseline="-25000" dirty="0" smtClean="0"/>
                <a:t>A</a:t>
              </a:r>
              <a:r>
                <a:rPr lang="en-US" altLang="en-US" sz="1800" i="1" dirty="0" smtClean="0"/>
                <a:t>[U(W)]=</a:t>
              </a:r>
              <a:r>
                <a:rPr lang="en-US" altLang="en-US" sz="1800" i="1" dirty="0"/>
                <a:t>U(CE</a:t>
              </a:r>
              <a:r>
                <a:rPr lang="en-US" altLang="en-US" sz="1800" i="1" baseline="-25000" dirty="0"/>
                <a:t>A</a:t>
              </a:r>
              <a:r>
                <a:rPr lang="en-US" altLang="en-US" sz="1800" i="1" dirty="0"/>
                <a:t>)</a:t>
              </a:r>
              <a:endParaRPr lang="en-US" altLang="en-US" sz="1800" dirty="0"/>
            </a:p>
          </p:txBody>
        </p:sp>
      </p:grpSp>
      <p:grpSp>
        <p:nvGrpSpPr>
          <p:cNvPr id="39" name="Group 48"/>
          <p:cNvGrpSpPr>
            <a:grpSpLocks/>
          </p:cNvGrpSpPr>
          <p:nvPr/>
        </p:nvGrpSpPr>
        <p:grpSpPr bwMode="auto">
          <a:xfrm>
            <a:off x="5954712" y="1524840"/>
            <a:ext cx="750888" cy="3154363"/>
            <a:chOff x="5083074" y="2058165"/>
            <a:chExt cx="750526" cy="3153599"/>
          </a:xfrm>
        </p:grpSpPr>
        <p:grpSp>
          <p:nvGrpSpPr>
            <p:cNvPr id="49195" name="Group 40"/>
            <p:cNvGrpSpPr>
              <a:grpSpLocks/>
            </p:cNvGrpSpPr>
            <p:nvPr/>
          </p:nvGrpSpPr>
          <p:grpSpPr bwMode="auto">
            <a:xfrm>
              <a:off x="5083074" y="2148444"/>
              <a:ext cx="750526" cy="3063320"/>
              <a:chOff x="5083074" y="2148444"/>
              <a:chExt cx="750526" cy="3063320"/>
            </a:xfrm>
          </p:grpSpPr>
          <p:sp>
            <p:nvSpPr>
              <p:cNvPr id="49197" name="Line 29"/>
              <p:cNvSpPr>
                <a:spLocks noChangeShapeType="1"/>
              </p:cNvSpPr>
              <p:nvPr/>
            </p:nvSpPr>
            <p:spPr bwMode="auto">
              <a:xfrm flipV="1">
                <a:off x="5525986" y="2148444"/>
                <a:ext cx="0" cy="2667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9198" name="Text Box 37"/>
              <p:cNvSpPr txBox="1">
                <a:spLocks noChangeArrowheads="1"/>
              </p:cNvSpPr>
              <p:nvPr/>
            </p:nvSpPr>
            <p:spPr bwMode="auto">
              <a:xfrm>
                <a:off x="5083074" y="4842432"/>
                <a:ext cx="7505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r>
                  <a:rPr lang="en-US" altLang="en-US" sz="1800"/>
                  <a:t>+</a:t>
                </a:r>
                <a:r>
                  <a:rPr lang="en-US" altLang="en-US" sz="1800" i="1"/>
                  <a:t>h</a:t>
                </a:r>
                <a:endParaRPr lang="en-US" altLang="en-US" sz="1800"/>
              </a:p>
            </p:txBody>
          </p:sp>
        </p:grpSp>
        <p:sp>
          <p:nvSpPr>
            <p:cNvPr id="49196" name="Oval 24"/>
            <p:cNvSpPr>
              <a:spLocks noChangeArrowheads="1"/>
            </p:cNvSpPr>
            <p:nvPr/>
          </p:nvSpPr>
          <p:spPr bwMode="auto">
            <a:xfrm>
              <a:off x="5489275" y="2058165"/>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44" name="Group 53"/>
          <p:cNvGrpSpPr>
            <a:grpSpLocks/>
          </p:cNvGrpSpPr>
          <p:nvPr/>
        </p:nvGrpSpPr>
        <p:grpSpPr bwMode="auto">
          <a:xfrm>
            <a:off x="3657600" y="2515439"/>
            <a:ext cx="692150" cy="2163764"/>
            <a:chOff x="3657499" y="3048508"/>
            <a:chExt cx="692818" cy="2163256"/>
          </a:xfrm>
        </p:grpSpPr>
        <p:grpSp>
          <p:nvGrpSpPr>
            <p:cNvPr id="49187" name="Group 38"/>
            <p:cNvGrpSpPr>
              <a:grpSpLocks/>
            </p:cNvGrpSpPr>
            <p:nvPr/>
          </p:nvGrpSpPr>
          <p:grpSpPr bwMode="auto">
            <a:xfrm>
              <a:off x="3657499" y="3124691"/>
              <a:ext cx="692818" cy="2087073"/>
              <a:chOff x="3657499" y="3124691"/>
              <a:chExt cx="692818" cy="2087073"/>
            </a:xfrm>
          </p:grpSpPr>
          <p:sp>
            <p:nvSpPr>
              <p:cNvPr id="49189" name="Line 28"/>
              <p:cNvSpPr>
                <a:spLocks noChangeShapeType="1"/>
              </p:cNvSpPr>
              <p:nvPr/>
            </p:nvSpPr>
            <p:spPr bwMode="auto">
              <a:xfrm flipV="1">
                <a:off x="4003908" y="3124691"/>
                <a:ext cx="0" cy="175218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49190" name="Text Box 36"/>
              <p:cNvSpPr txBox="1">
                <a:spLocks noChangeArrowheads="1"/>
              </p:cNvSpPr>
              <p:nvPr/>
            </p:nvSpPr>
            <p:spPr bwMode="auto">
              <a:xfrm>
                <a:off x="3657499" y="4842432"/>
                <a:ext cx="692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r>
                  <a:rPr lang="en-US" altLang="en-US" sz="1800"/>
                  <a:t>-</a:t>
                </a:r>
                <a:r>
                  <a:rPr lang="en-US" altLang="en-US" sz="1800" i="1"/>
                  <a:t>h</a:t>
                </a:r>
                <a:endParaRPr lang="en-US" altLang="en-US" sz="1800"/>
              </a:p>
            </p:txBody>
          </p:sp>
        </p:grpSp>
        <p:sp>
          <p:nvSpPr>
            <p:cNvPr id="49188" name="Oval 24"/>
            <p:cNvSpPr>
              <a:spLocks noChangeArrowheads="1"/>
            </p:cNvSpPr>
            <p:nvPr/>
          </p:nvSpPr>
          <p:spPr bwMode="auto">
            <a:xfrm>
              <a:off x="3962400" y="3048508"/>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0" name="Group 50"/>
          <p:cNvGrpSpPr>
            <a:grpSpLocks/>
          </p:cNvGrpSpPr>
          <p:nvPr/>
        </p:nvGrpSpPr>
        <p:grpSpPr bwMode="auto">
          <a:xfrm>
            <a:off x="5121275" y="1743914"/>
            <a:ext cx="487362" cy="2935288"/>
            <a:chOff x="4627461" y="2275936"/>
            <a:chExt cx="487634" cy="2935828"/>
          </a:xfrm>
        </p:grpSpPr>
        <p:grpSp>
          <p:nvGrpSpPr>
            <p:cNvPr id="49180" name="Group 43"/>
            <p:cNvGrpSpPr>
              <a:grpSpLocks/>
            </p:cNvGrpSpPr>
            <p:nvPr/>
          </p:nvGrpSpPr>
          <p:grpSpPr bwMode="auto">
            <a:xfrm>
              <a:off x="4627461" y="2275936"/>
              <a:ext cx="487634" cy="2935828"/>
              <a:chOff x="4627461" y="2275936"/>
              <a:chExt cx="487634" cy="2935828"/>
            </a:xfrm>
          </p:grpSpPr>
          <p:grpSp>
            <p:nvGrpSpPr>
              <p:cNvPr id="49183" name="Group 39"/>
              <p:cNvGrpSpPr>
                <a:grpSpLocks/>
              </p:cNvGrpSpPr>
              <p:nvPr/>
            </p:nvGrpSpPr>
            <p:grpSpPr bwMode="auto">
              <a:xfrm>
                <a:off x="4627461" y="2300844"/>
                <a:ext cx="487634" cy="2910920"/>
                <a:chOff x="4627461" y="2300844"/>
                <a:chExt cx="487634" cy="2910920"/>
              </a:xfrm>
            </p:grpSpPr>
            <p:sp>
              <p:nvSpPr>
                <p:cNvPr id="49185" name="Line 9"/>
                <p:cNvSpPr>
                  <a:spLocks noChangeShapeType="1"/>
                </p:cNvSpPr>
                <p:nvPr/>
              </p:nvSpPr>
              <p:spPr bwMode="auto">
                <a:xfrm flipV="1">
                  <a:off x="4763986" y="2300844"/>
                  <a:ext cx="0" cy="2514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186" name="Text Box 11"/>
                <p:cNvSpPr txBox="1">
                  <a:spLocks noChangeArrowheads="1"/>
                </p:cNvSpPr>
                <p:nvPr/>
              </p:nvSpPr>
              <p:spPr bwMode="auto">
                <a:xfrm>
                  <a:off x="4627461" y="4842432"/>
                  <a:ext cx="4876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p>
              </p:txBody>
            </p:sp>
          </p:grpSp>
          <p:sp>
            <p:nvSpPr>
              <p:cNvPr id="49184" name="Oval 24"/>
              <p:cNvSpPr>
                <a:spLocks noChangeArrowheads="1"/>
              </p:cNvSpPr>
              <p:nvPr/>
            </p:nvSpPr>
            <p:spPr bwMode="auto">
              <a:xfrm>
                <a:off x="4727276" y="2275936"/>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
          <p:nvSpPr>
            <p:cNvPr id="49181" name="Oval 24"/>
            <p:cNvSpPr>
              <a:spLocks noChangeArrowheads="1"/>
            </p:cNvSpPr>
            <p:nvPr/>
          </p:nvSpPr>
          <p:spPr bwMode="auto">
            <a:xfrm>
              <a:off x="4727276" y="2552192"/>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6" name="Group 43"/>
          <p:cNvGrpSpPr>
            <a:grpSpLocks/>
          </p:cNvGrpSpPr>
          <p:nvPr/>
        </p:nvGrpSpPr>
        <p:grpSpPr bwMode="auto">
          <a:xfrm>
            <a:off x="4349750" y="2044961"/>
            <a:ext cx="606425" cy="2632102"/>
            <a:chOff x="4480812" y="2580601"/>
            <a:chExt cx="607859" cy="2631163"/>
          </a:xfrm>
        </p:grpSpPr>
        <p:grpSp>
          <p:nvGrpSpPr>
            <p:cNvPr id="49172" name="Group 39"/>
            <p:cNvGrpSpPr>
              <a:grpSpLocks/>
            </p:cNvGrpSpPr>
            <p:nvPr/>
          </p:nvGrpSpPr>
          <p:grpSpPr bwMode="auto">
            <a:xfrm>
              <a:off x="4480812" y="2580626"/>
              <a:ext cx="607859" cy="2631138"/>
              <a:chOff x="4480812" y="2580626"/>
              <a:chExt cx="607859" cy="2631138"/>
            </a:xfrm>
          </p:grpSpPr>
          <p:sp>
            <p:nvSpPr>
              <p:cNvPr id="49174" name="Line 9"/>
              <p:cNvSpPr>
                <a:spLocks noChangeShapeType="1"/>
              </p:cNvSpPr>
              <p:nvPr/>
            </p:nvSpPr>
            <p:spPr bwMode="auto">
              <a:xfrm flipV="1">
                <a:off x="4763985" y="2580626"/>
                <a:ext cx="1390" cy="223481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49175" name="Text Box 11"/>
              <p:cNvSpPr txBox="1">
                <a:spLocks noChangeArrowheads="1"/>
              </p:cNvSpPr>
              <p:nvPr/>
            </p:nvSpPr>
            <p:spPr bwMode="auto">
              <a:xfrm>
                <a:off x="4480812" y="4842432"/>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CE</a:t>
                </a:r>
                <a:r>
                  <a:rPr lang="en-US" altLang="en-US" sz="1800" i="1" baseline="-25000"/>
                  <a:t>A</a:t>
                </a:r>
              </a:p>
            </p:txBody>
          </p:sp>
        </p:grpSp>
        <p:sp>
          <p:nvSpPr>
            <p:cNvPr id="49173" name="Oval 24"/>
            <p:cNvSpPr>
              <a:spLocks noChangeArrowheads="1"/>
            </p:cNvSpPr>
            <p:nvPr/>
          </p:nvSpPr>
          <p:spPr bwMode="auto">
            <a:xfrm>
              <a:off x="4727276" y="2580601"/>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3808635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
                                        <p:tgtEl>
                                          <p:spTgt spid="3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ipe(up)">
                                      <p:cBhvr>
                                        <p:cTn id="19" dur="500"/>
                                        <p:tgtEl>
                                          <p:spTgt spid="50"/>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left)">
                                      <p:cBhvr>
                                        <p:cTn id="23" dur="500"/>
                                        <p:tgtEl>
                                          <p:spTgt spid="26"/>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up)">
                                      <p:cBhvr>
                                        <p:cTn id="27" dur="500"/>
                                        <p:tgtEl>
                                          <p:spTgt spid="44"/>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left)">
                                      <p:cBhvr>
                                        <p:cTn id="35" dur="500"/>
                                        <p:tgtEl>
                                          <p:spTgt spid="38"/>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up)">
                                      <p:cBhvr>
                                        <p:cTn id="39" dur="500"/>
                                        <p:tgtEl>
                                          <p:spTgt spid="56"/>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49155">
                                            <p:txEl>
                                              <p:pRg st="0" end="0"/>
                                            </p:txEl>
                                          </p:spTgt>
                                        </p:tgtEl>
                                        <p:attrNameLst>
                                          <p:attrName>style.visibility</p:attrName>
                                        </p:attrNameLst>
                                      </p:cBhvr>
                                      <p:to>
                                        <p:strVal val="visible"/>
                                      </p:to>
                                    </p:set>
                                    <p:animEffect transition="in" filter="wipe(left)">
                                      <p:cBhvr>
                                        <p:cTn id="43" dur="500"/>
                                        <p:tgtEl>
                                          <p:spTgt spid="491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mtClean="0"/>
              <a:t>Risk Aversion</a:t>
            </a:r>
          </a:p>
        </p:txBody>
      </p:sp>
      <p:sp>
        <p:nvSpPr>
          <p:cNvPr id="50179" name="Rectangle 3"/>
          <p:cNvSpPr>
            <a:spLocks noGrp="1" noChangeArrowheads="1"/>
          </p:cNvSpPr>
          <p:nvPr>
            <p:ph idx="1"/>
          </p:nvPr>
        </p:nvSpPr>
        <p:spPr>
          <a:xfrm>
            <a:off x="381000" y="1219200"/>
            <a:ext cx="8763000" cy="5181600"/>
          </a:xfrm>
        </p:spPr>
        <p:txBody>
          <a:bodyPr/>
          <a:lstStyle/>
          <a:p>
            <a:r>
              <a:rPr lang="en-US" altLang="en-US" dirty="0" smtClean="0"/>
              <a:t>Gamble B: </a:t>
            </a:r>
            <a:r>
              <a:rPr lang="en-US" altLang="en-US" sz="3200" dirty="0" smtClean="0"/>
              <a:t>a 50-50 chance of winning/losing $2</a:t>
            </a:r>
            <a:r>
              <a:rPr lang="en-US" altLang="en-US" sz="3200" i="1" dirty="0" smtClean="0"/>
              <a:t>h</a:t>
            </a:r>
          </a:p>
          <a:p>
            <a:pPr lvl="1"/>
            <a:r>
              <a:rPr lang="en-US" altLang="en-US" dirty="0" smtClean="0"/>
              <a:t>Expected utility: </a:t>
            </a:r>
            <a:r>
              <a:rPr lang="en-US" altLang="en-US" i="1" dirty="0" smtClean="0">
                <a:solidFill>
                  <a:srgbClr val="000099"/>
                </a:solidFill>
              </a:rPr>
              <a:t>E</a:t>
            </a:r>
            <a:r>
              <a:rPr lang="en-US" altLang="en-US" i="1" baseline="-25000" dirty="0" smtClean="0">
                <a:solidFill>
                  <a:srgbClr val="000099"/>
                </a:solidFill>
              </a:rPr>
              <a:t>B</a:t>
            </a:r>
            <a:r>
              <a:rPr lang="en-US" altLang="en-US" i="1" dirty="0" smtClean="0">
                <a:solidFill>
                  <a:srgbClr val="000099"/>
                </a:solidFill>
              </a:rPr>
              <a:t>[U(W</a:t>
            </a:r>
            <a:r>
              <a:rPr lang="en-US" altLang="en-US" i="1" dirty="0">
                <a:solidFill>
                  <a:srgbClr val="000099"/>
                </a:solidFill>
              </a:rPr>
              <a:t>)]</a:t>
            </a:r>
            <a:r>
              <a:rPr lang="en-US" altLang="en-US" dirty="0" smtClean="0">
                <a:solidFill>
                  <a:srgbClr val="000099"/>
                </a:solidFill>
              </a:rPr>
              <a:t> = ½ </a:t>
            </a:r>
            <a:r>
              <a:rPr lang="en-US" altLang="en-US" i="1" dirty="0" smtClean="0">
                <a:solidFill>
                  <a:srgbClr val="000099"/>
                </a:solidFill>
              </a:rPr>
              <a:t>U</a:t>
            </a:r>
            <a:r>
              <a:rPr lang="en-US" altLang="en-US" dirty="0" smtClean="0">
                <a:solidFill>
                  <a:srgbClr val="000099"/>
                </a:solidFill>
              </a:rPr>
              <a:t>(</a:t>
            </a:r>
            <a:r>
              <a:rPr lang="en-US" altLang="en-US" i="1" dirty="0" smtClean="0">
                <a:solidFill>
                  <a:srgbClr val="000099"/>
                </a:solidFill>
              </a:rPr>
              <a:t>W</a:t>
            </a:r>
            <a:r>
              <a:rPr lang="en-US" altLang="en-US" i="1" baseline="-25000" dirty="0" smtClean="0">
                <a:solidFill>
                  <a:srgbClr val="000099"/>
                </a:solidFill>
              </a:rPr>
              <a:t>0</a:t>
            </a:r>
            <a:r>
              <a:rPr lang="en-US" altLang="en-US" dirty="0" smtClean="0">
                <a:solidFill>
                  <a:srgbClr val="000099"/>
                </a:solidFill>
              </a:rPr>
              <a:t>+2</a:t>
            </a:r>
            <a:r>
              <a:rPr lang="en-US" altLang="en-US" i="1" dirty="0" smtClean="0">
                <a:solidFill>
                  <a:srgbClr val="000099"/>
                </a:solidFill>
              </a:rPr>
              <a:t>h</a:t>
            </a:r>
            <a:r>
              <a:rPr lang="en-US" altLang="en-US" dirty="0" smtClean="0">
                <a:solidFill>
                  <a:srgbClr val="000099"/>
                </a:solidFill>
              </a:rPr>
              <a:t>) + ½ </a:t>
            </a:r>
            <a:r>
              <a:rPr lang="en-US" altLang="en-US" i="1" dirty="0" smtClean="0">
                <a:solidFill>
                  <a:srgbClr val="000099"/>
                </a:solidFill>
              </a:rPr>
              <a:t>U</a:t>
            </a:r>
            <a:r>
              <a:rPr lang="en-US" altLang="en-US" dirty="0" smtClean="0">
                <a:solidFill>
                  <a:srgbClr val="000099"/>
                </a:solidFill>
              </a:rPr>
              <a:t>(</a:t>
            </a:r>
            <a:r>
              <a:rPr lang="en-US" altLang="en-US" i="1" dirty="0" smtClean="0">
                <a:solidFill>
                  <a:srgbClr val="000099"/>
                </a:solidFill>
              </a:rPr>
              <a:t>W</a:t>
            </a:r>
            <a:r>
              <a:rPr lang="en-US" altLang="en-US" i="1" baseline="-25000" dirty="0" smtClean="0">
                <a:solidFill>
                  <a:srgbClr val="000099"/>
                </a:solidFill>
              </a:rPr>
              <a:t>0</a:t>
            </a:r>
            <a:r>
              <a:rPr lang="en-US" altLang="en-US" dirty="0" smtClean="0">
                <a:solidFill>
                  <a:srgbClr val="000099"/>
                </a:solidFill>
              </a:rPr>
              <a:t>-2</a:t>
            </a:r>
            <a:r>
              <a:rPr lang="en-US" altLang="en-US" i="1" dirty="0" smtClean="0">
                <a:solidFill>
                  <a:srgbClr val="000099"/>
                </a:solidFill>
              </a:rPr>
              <a:t>h</a:t>
            </a:r>
            <a:r>
              <a:rPr lang="en-US" altLang="en-US" dirty="0" smtClean="0">
                <a:solidFill>
                  <a:srgbClr val="000099"/>
                </a:solidFill>
              </a:rPr>
              <a:t>)</a:t>
            </a:r>
          </a:p>
          <a:p>
            <a:r>
              <a:rPr lang="en-US" altLang="en-US" dirty="0" smtClean="0"/>
              <a:t>Because </a:t>
            </a:r>
            <a:r>
              <a:rPr lang="en-US" altLang="en-US" dirty="0"/>
              <a:t>the outcomes are more variable in gamble B than </a:t>
            </a:r>
            <a:r>
              <a:rPr lang="en-US" altLang="en-US" dirty="0" smtClean="0"/>
              <a:t>A</a:t>
            </a:r>
          </a:p>
          <a:p>
            <a:pPr lvl="1"/>
            <a:r>
              <a:rPr lang="en-US" altLang="en-US" dirty="0" smtClean="0"/>
              <a:t>The </a:t>
            </a:r>
            <a:r>
              <a:rPr lang="en-US" altLang="en-US" dirty="0"/>
              <a:t>expected utility of B is lower, and so the person prefers A to B </a:t>
            </a:r>
            <a:endParaRPr lang="en-US" altLang="en-US" dirty="0" smtClean="0"/>
          </a:p>
          <a:p>
            <a:pPr marL="457200" lvl="1" indent="0">
              <a:buNone/>
            </a:pPr>
            <a:r>
              <a:rPr lang="en-US" altLang="en-US" dirty="0">
                <a:solidFill>
                  <a:srgbClr val="C00000"/>
                </a:solidFill>
              </a:rPr>
              <a:t>U(W</a:t>
            </a:r>
            <a:r>
              <a:rPr lang="en-US" altLang="en-US" baseline="-25000" dirty="0">
                <a:solidFill>
                  <a:srgbClr val="C00000"/>
                </a:solidFill>
              </a:rPr>
              <a:t>0</a:t>
            </a:r>
            <a:r>
              <a:rPr lang="en-US" altLang="en-US" dirty="0">
                <a:solidFill>
                  <a:srgbClr val="C00000"/>
                </a:solidFill>
              </a:rPr>
              <a:t>) &gt; </a:t>
            </a:r>
            <a:r>
              <a:rPr lang="en-US" altLang="en-US" i="1" dirty="0">
                <a:solidFill>
                  <a:srgbClr val="C00000"/>
                </a:solidFill>
              </a:rPr>
              <a:t>E</a:t>
            </a:r>
            <a:r>
              <a:rPr lang="en-US" altLang="en-US" i="1" baseline="-25000" dirty="0">
                <a:solidFill>
                  <a:srgbClr val="C00000"/>
                </a:solidFill>
              </a:rPr>
              <a:t>A</a:t>
            </a:r>
            <a:r>
              <a:rPr lang="en-US" altLang="en-US" i="1" dirty="0">
                <a:solidFill>
                  <a:srgbClr val="C00000"/>
                </a:solidFill>
              </a:rPr>
              <a:t>[U(W</a:t>
            </a:r>
            <a:r>
              <a:rPr lang="en-US" altLang="en-US" i="1" dirty="0" smtClean="0">
                <a:solidFill>
                  <a:srgbClr val="C00000"/>
                </a:solidFill>
              </a:rPr>
              <a:t>)] &gt; E</a:t>
            </a:r>
            <a:r>
              <a:rPr lang="en-US" altLang="en-US" i="1" baseline="-25000" dirty="0" smtClean="0">
                <a:solidFill>
                  <a:srgbClr val="C00000"/>
                </a:solidFill>
              </a:rPr>
              <a:t>B</a:t>
            </a:r>
            <a:r>
              <a:rPr lang="en-US" altLang="en-US" i="1" dirty="0" smtClean="0">
                <a:solidFill>
                  <a:srgbClr val="C00000"/>
                </a:solidFill>
              </a:rPr>
              <a:t>[U(W</a:t>
            </a:r>
            <a:r>
              <a:rPr lang="en-US" altLang="en-US" i="1" dirty="0">
                <a:solidFill>
                  <a:srgbClr val="C00000"/>
                </a:solidFill>
              </a:rPr>
              <a:t>)]</a:t>
            </a:r>
            <a:endParaRPr lang="en-US" altLang="en-US" dirty="0"/>
          </a:p>
          <a:p>
            <a:pPr lvl="1"/>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4743946-AE1C-4505-9F42-CD225000D510}" type="slidenum">
              <a:rPr lang="en-US" smtClean="0"/>
              <a:pPr>
                <a:defRPr/>
              </a:pPr>
              <a:t>21</a:t>
            </a:fld>
            <a:endParaRPr lang="en-US"/>
          </a:p>
        </p:txBody>
      </p:sp>
    </p:spTree>
    <p:extLst>
      <p:ext uri="{BB962C8B-B14F-4D97-AF65-F5344CB8AC3E}">
        <p14:creationId xmlns:p14="http://schemas.microsoft.com/office/powerpoint/2010/main" val="14079608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8001000" cy="914400"/>
          </a:xfrm>
        </p:spPr>
        <p:txBody>
          <a:bodyPr/>
          <a:lstStyle/>
          <a:p>
            <a:r>
              <a:rPr lang="en-US" dirty="0" smtClean="0"/>
              <a:t>7.2 	</a:t>
            </a:r>
            <a:r>
              <a:rPr lang="en-US" dirty="0"/>
              <a:t>Comparing Two Fair Bets of Differing </a:t>
            </a:r>
            <a:r>
              <a:rPr lang="en-US" dirty="0" smtClean="0"/>
              <a:t/>
            </a:r>
            <a:br>
              <a:rPr lang="en-US" dirty="0" smtClean="0"/>
            </a:br>
            <a:r>
              <a:rPr lang="en-US" dirty="0"/>
              <a:t>	</a:t>
            </a:r>
            <a:r>
              <a:rPr lang="en-US" dirty="0" smtClean="0">
                <a:solidFill>
                  <a:srgbClr val="002D56"/>
                </a:solidFill>
              </a:rPr>
              <a:t>Variability</a:t>
            </a:r>
            <a:endParaRPr lang="en-US" dirty="0">
              <a:solidFill>
                <a:srgbClr val="002D56"/>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sz="half" idx="1"/>
              </p:nvPr>
            </p:nvSpPr>
            <p:spPr>
              <a:xfrm>
                <a:off x="76200" y="5098919"/>
                <a:ext cx="8915400" cy="1606681"/>
              </a:xfrm>
            </p:spPr>
            <p:txBody>
              <a:bodyPr/>
              <a:lstStyle/>
              <a:p>
                <a:r>
                  <a:rPr lang="en-US" dirty="0">
                    <a:ea typeface="Calibri"/>
                    <a:cs typeface="Times New Roman"/>
                  </a:rPr>
                  <a:t>Compare gamble </a:t>
                </a:r>
                <a14:m>
                  <m:oMath xmlns:m="http://schemas.openxmlformats.org/officeDocument/2006/math">
                    <m:r>
                      <a:rPr lang="en-US" i="1">
                        <a:ea typeface="Calibri"/>
                        <a:cs typeface="Times New Roman"/>
                      </a:rPr>
                      <m:t>𝐴</m:t>
                    </m:r>
                  </m:oMath>
                </a14:m>
                <a:r>
                  <a:rPr lang="en-US" dirty="0">
                    <a:ea typeface="Calibri"/>
                    <a:cs typeface="Times New Roman"/>
                  </a:rPr>
                  <a:t> from Figure 7.1 to gamble </a:t>
                </a:r>
                <a14:m>
                  <m:oMath xmlns:m="http://schemas.openxmlformats.org/officeDocument/2006/math">
                    <m:r>
                      <a:rPr lang="en-US" i="1">
                        <a:ea typeface="Calibri"/>
                        <a:cs typeface="Times New Roman"/>
                      </a:rPr>
                      <m:t>𝐵</m:t>
                    </m:r>
                  </m:oMath>
                </a14:m>
                <a:r>
                  <a:rPr lang="en-US" dirty="0">
                    <a:ea typeface="Calibri"/>
                    <a:cs typeface="Times New Roman"/>
                  </a:rPr>
                  <a:t>, which involves a 50-50 chance of winning and losing twice as much. Both are fair gambles but </a:t>
                </a:r>
                <a14:m>
                  <m:oMath xmlns:m="http://schemas.openxmlformats.org/officeDocument/2006/math">
                    <m:r>
                      <a:rPr lang="en-US" i="1">
                        <a:ea typeface="Calibri"/>
                        <a:cs typeface="Times New Roman"/>
                      </a:rPr>
                      <m:t>𝐵</m:t>
                    </m:r>
                  </m:oMath>
                </a14:m>
                <a:r>
                  <a:rPr lang="en-US" dirty="0">
                    <a:ea typeface="Times New Roman"/>
                  </a:rPr>
                  <a:t> involves more variability and so is </a:t>
                </a:r>
                <a:r>
                  <a:rPr lang="en-US" dirty="0">
                    <a:ea typeface="Times New Roman"/>
                  </a:rPr>
                  <a:t>worse for the </a:t>
                </a:r>
                <a:r>
                  <a:rPr lang="en-US" dirty="0">
                    <a:ea typeface="Times New Roman"/>
                  </a:rPr>
                  <a:t>person.  Gamble </a:t>
                </a:r>
                <a14:m>
                  <m:oMath xmlns:m="http://schemas.openxmlformats.org/officeDocument/2006/math">
                    <m:r>
                      <a:rPr lang="en-US" i="1">
                        <a:ea typeface="Times New Roman"/>
                      </a:rPr>
                      <m:t>𝐵</m:t>
                    </m:r>
                  </m:oMath>
                </a14:m>
                <a:r>
                  <a:rPr lang="en-US" dirty="0">
                    <a:ea typeface="Times New Roman"/>
                  </a:rPr>
                  <a:t> has lower expected utility than </a:t>
                </a:r>
                <a14:m>
                  <m:oMath xmlns:m="http://schemas.openxmlformats.org/officeDocument/2006/math">
                    <m:r>
                      <a:rPr lang="en-US" i="1">
                        <a:ea typeface="Times New Roman"/>
                      </a:rPr>
                      <m:t>𝐴</m:t>
                    </m:r>
                  </m:oMath>
                </a14:m>
                <a:r>
                  <a:rPr lang="en-US" dirty="0">
                    <a:ea typeface="Times New Roman"/>
                  </a:rPr>
                  <a:t>, i.e., </a:t>
                </a:r>
                <a14:m>
                  <m:oMath xmlns:m="http://schemas.openxmlformats.org/officeDocument/2006/math">
                    <m:sSub>
                      <m:sSubPr>
                        <m:ctrlPr>
                          <a:rPr lang="en-US" i="1"/>
                        </m:ctrlPr>
                      </m:sSubPr>
                      <m:e>
                        <m:r>
                          <a:rPr lang="en-US" i="1"/>
                          <m:t>𝐸</m:t>
                        </m:r>
                      </m:e>
                      <m:sub>
                        <m:r>
                          <a:rPr lang="en-US" i="1"/>
                          <m:t>𝐵</m:t>
                        </m:r>
                      </m:sub>
                    </m:sSub>
                    <m:d>
                      <m:dPr>
                        <m:begChr m:val="["/>
                        <m:endChr m:val="]"/>
                        <m:ctrlPr>
                          <a:rPr lang="en-US" i="1"/>
                        </m:ctrlPr>
                      </m:dPr>
                      <m:e>
                        <m:r>
                          <a:rPr lang="en-US" i="1"/>
                          <m:t>𝑈</m:t>
                        </m:r>
                        <m:r>
                          <a:rPr lang="en-US" i="1"/>
                          <m:t>(</m:t>
                        </m:r>
                        <m:r>
                          <a:rPr lang="en-US" i="1"/>
                          <m:t>𝑊</m:t>
                        </m:r>
                        <m:r>
                          <a:rPr lang="en-US" i="1"/>
                          <m:t>)</m:t>
                        </m:r>
                      </m:e>
                    </m:d>
                    <m:r>
                      <a:rPr lang="en-US" i="1"/>
                      <m:t>&lt;</m:t>
                    </m:r>
                    <m:sSub>
                      <m:sSubPr>
                        <m:ctrlPr>
                          <a:rPr lang="en-US" i="1"/>
                        </m:ctrlPr>
                      </m:sSubPr>
                      <m:e>
                        <m:r>
                          <a:rPr lang="en-US" i="1"/>
                          <m:t>𝐸</m:t>
                        </m:r>
                      </m:e>
                      <m:sub>
                        <m:r>
                          <a:rPr lang="en-US" i="1"/>
                          <m:t>𝐴</m:t>
                        </m:r>
                      </m:sub>
                    </m:sSub>
                    <m:d>
                      <m:dPr>
                        <m:begChr m:val="["/>
                        <m:endChr m:val="]"/>
                        <m:ctrlPr>
                          <a:rPr lang="en-US" i="1"/>
                        </m:ctrlPr>
                      </m:dPr>
                      <m:e>
                        <m:r>
                          <a:rPr lang="en-US" i="1"/>
                          <m:t>𝑈</m:t>
                        </m:r>
                        <m:r>
                          <a:rPr lang="en-US" i="1"/>
                          <m:t>(</m:t>
                        </m:r>
                        <m:r>
                          <a:rPr lang="en-US" i="1"/>
                          <m:t>𝑊</m:t>
                        </m:r>
                        <m:r>
                          <a:rPr lang="en-US" i="1"/>
                          <m:t>)</m:t>
                        </m:r>
                      </m:e>
                    </m:d>
                  </m:oMath>
                </a14:m>
                <a:r>
                  <a:rPr lang="en-US" dirty="0">
                    <a:ea typeface="Times New Roman"/>
                  </a:rPr>
                  <a:t>, and a lower certainty equivalent, </a:t>
                </a:r>
                <a:r>
                  <a:rPr lang="en-US" dirty="0" err="1">
                    <a:ea typeface="Times New Roman"/>
                  </a:rPr>
                  <a:t>i.e</a:t>
                </a:r>
                <a:r>
                  <a:rPr lang="en-US" dirty="0">
                    <a:ea typeface="Times New Roman"/>
                  </a:rPr>
                  <a:t>, </a:t>
                </a:r>
                <a14:m>
                  <m:oMath xmlns:m="http://schemas.openxmlformats.org/officeDocument/2006/math">
                    <m:sSub>
                      <m:sSubPr>
                        <m:ctrlPr>
                          <a:rPr lang="en-US" i="1">
                            <a:ea typeface="Times New Roman"/>
                            <a:cs typeface="Times New Roman"/>
                          </a:rPr>
                        </m:ctrlPr>
                      </m:sSubPr>
                      <m:e>
                        <m:r>
                          <a:rPr lang="en-US" i="1">
                            <a:ea typeface="Times New Roman"/>
                            <a:cs typeface="Times New Roman"/>
                          </a:rPr>
                          <m:t>𝐶𝐸</m:t>
                        </m:r>
                      </m:e>
                      <m:sub>
                        <m:r>
                          <a:rPr lang="en-US" i="1">
                            <a:ea typeface="Times New Roman"/>
                            <a:cs typeface="Times New Roman"/>
                          </a:rPr>
                          <m:t>𝐵</m:t>
                        </m:r>
                      </m:sub>
                    </m:sSub>
                    <m:r>
                      <a:rPr lang="en-US" i="1">
                        <a:ea typeface="Times New Roman"/>
                        <a:cs typeface="Times New Roman"/>
                      </a:rPr>
                      <m:t>&lt;</m:t>
                    </m:r>
                    <m:sSub>
                      <m:sSubPr>
                        <m:ctrlPr>
                          <a:rPr lang="en-US" i="1">
                            <a:ea typeface="Times New Roman"/>
                            <a:cs typeface="Times New Roman"/>
                          </a:rPr>
                        </m:ctrlPr>
                      </m:sSubPr>
                      <m:e>
                        <m:r>
                          <a:rPr lang="en-US" i="1">
                            <a:ea typeface="Times New Roman"/>
                            <a:cs typeface="Times New Roman"/>
                          </a:rPr>
                          <m:t>𝐶𝐸</m:t>
                        </m:r>
                      </m:e>
                      <m:sub>
                        <m:r>
                          <a:rPr lang="en-US" i="1">
                            <a:ea typeface="Times New Roman"/>
                            <a:cs typeface="Times New Roman"/>
                          </a:rPr>
                          <m:t>𝐴</m:t>
                        </m:r>
                      </m:sub>
                    </m:sSub>
                  </m:oMath>
                </a14:m>
                <a:r>
                  <a:rPr lang="en-US" dirty="0">
                    <a:ea typeface="Times New Roman"/>
                  </a:rPr>
                  <a:t>. </a:t>
                </a:r>
                <a:endParaRPr lang="en-US" dirty="0">
                  <a:ea typeface="Calibri"/>
                  <a:cs typeface="Times New Roman"/>
                </a:endParaRP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sz="half" idx="1"/>
              </p:nvPr>
            </p:nvSpPr>
            <p:spPr>
              <a:xfrm>
                <a:off x="76200" y="5098919"/>
                <a:ext cx="8915400" cy="1606681"/>
              </a:xfrm>
              <a:blipFill rotWithShape="1">
                <a:blip r:embed="rId2"/>
                <a:stretch>
                  <a:fillRect l="-616" t="-1894"/>
                </a:stretch>
              </a:blipFill>
            </p:spPr>
            <p:txBody>
              <a:bodyPr/>
              <a:lstStyle/>
              <a:p>
                <a:r>
                  <a:rPr lang="en-US">
                    <a:noFill/>
                  </a:rPr>
                  <a:t> </a:t>
                </a:r>
              </a:p>
            </p:txBody>
          </p:sp>
        </mc:Fallback>
      </mc:AlternateContent>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22</a:t>
            </a:fld>
            <a:endParaRPr lang="en-US" dirty="0"/>
          </a:p>
        </p:txBody>
      </p:sp>
      <p:grpSp>
        <p:nvGrpSpPr>
          <p:cNvPr id="6" name="Group 63"/>
          <p:cNvGrpSpPr>
            <a:grpSpLocks/>
          </p:cNvGrpSpPr>
          <p:nvPr/>
        </p:nvGrpSpPr>
        <p:grpSpPr bwMode="auto">
          <a:xfrm>
            <a:off x="1484312" y="762000"/>
            <a:ext cx="7431088" cy="3871913"/>
            <a:chOff x="838098" y="1157843"/>
            <a:chExt cx="7431088" cy="3871914"/>
          </a:xfrm>
        </p:grpSpPr>
        <p:grpSp>
          <p:nvGrpSpPr>
            <p:cNvPr id="7" name="Group 33"/>
            <p:cNvGrpSpPr>
              <a:grpSpLocks/>
            </p:cNvGrpSpPr>
            <p:nvPr/>
          </p:nvGrpSpPr>
          <p:grpSpPr bwMode="auto">
            <a:xfrm>
              <a:off x="838098" y="1157843"/>
              <a:ext cx="1123950" cy="3657601"/>
              <a:chOff x="838098" y="1157843"/>
              <a:chExt cx="1123950" cy="3657601"/>
            </a:xfrm>
          </p:grpSpPr>
          <p:sp>
            <p:nvSpPr>
              <p:cNvPr id="11" name="Line 3"/>
              <p:cNvSpPr>
                <a:spLocks noChangeShapeType="1"/>
              </p:cNvSpPr>
              <p:nvPr/>
            </p:nvSpPr>
            <p:spPr bwMode="auto">
              <a:xfrm>
                <a:off x="1944586" y="1234044"/>
                <a:ext cx="0" cy="3581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2" name="Text Box 5"/>
              <p:cNvSpPr txBox="1">
                <a:spLocks noChangeArrowheads="1"/>
              </p:cNvSpPr>
              <p:nvPr/>
            </p:nvSpPr>
            <p:spPr bwMode="auto">
              <a:xfrm>
                <a:off x="838098" y="1157843"/>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Utility (</a:t>
                </a:r>
                <a:r>
                  <a:rPr lang="en-US" altLang="en-US" sz="1800" i="1" dirty="0"/>
                  <a:t>U</a:t>
                </a:r>
                <a:r>
                  <a:rPr lang="en-US" altLang="en-US" sz="1800" dirty="0"/>
                  <a:t>)</a:t>
                </a:r>
              </a:p>
            </p:txBody>
          </p:sp>
        </p:grpSp>
        <p:grpSp>
          <p:nvGrpSpPr>
            <p:cNvPr id="8" name="Group 32"/>
            <p:cNvGrpSpPr>
              <a:grpSpLocks/>
            </p:cNvGrpSpPr>
            <p:nvPr/>
          </p:nvGrpSpPr>
          <p:grpSpPr bwMode="auto">
            <a:xfrm>
              <a:off x="1944586" y="4663044"/>
              <a:ext cx="6324600" cy="366713"/>
              <a:chOff x="1944586" y="4663044"/>
              <a:chExt cx="6324600" cy="366713"/>
            </a:xfrm>
          </p:grpSpPr>
          <p:sp>
            <p:nvSpPr>
              <p:cNvPr id="9" name="Line 4"/>
              <p:cNvSpPr>
                <a:spLocks noChangeShapeType="1"/>
              </p:cNvSpPr>
              <p:nvPr/>
            </p:nvSpPr>
            <p:spPr bwMode="auto">
              <a:xfrm>
                <a:off x="1944586" y="4815444"/>
                <a:ext cx="472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 name="Text Box 6"/>
              <p:cNvSpPr txBox="1">
                <a:spLocks noChangeArrowheads="1"/>
              </p:cNvSpPr>
              <p:nvPr/>
            </p:nvSpPr>
            <p:spPr bwMode="auto">
              <a:xfrm>
                <a:off x="6745186" y="4663044"/>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Wealth (</a:t>
                </a:r>
                <a:r>
                  <a:rPr lang="en-US" altLang="en-US" sz="1800" i="1"/>
                  <a:t>W</a:t>
                </a:r>
                <a:r>
                  <a:rPr lang="en-US" altLang="en-US" sz="1800"/>
                  <a:t>)</a:t>
                </a:r>
              </a:p>
            </p:txBody>
          </p:sp>
        </p:grpSp>
      </p:grpSp>
      <p:grpSp>
        <p:nvGrpSpPr>
          <p:cNvPr id="13" name="Group 30"/>
          <p:cNvGrpSpPr>
            <a:grpSpLocks/>
          </p:cNvGrpSpPr>
          <p:nvPr/>
        </p:nvGrpSpPr>
        <p:grpSpPr bwMode="auto">
          <a:xfrm>
            <a:off x="2590800" y="1547813"/>
            <a:ext cx="5400675" cy="2871788"/>
            <a:chOff x="1944586" y="1943657"/>
            <a:chExt cx="5400050" cy="2871787"/>
          </a:xfrm>
        </p:grpSpPr>
        <p:sp>
          <p:nvSpPr>
            <p:cNvPr id="14" name="Freeform 7"/>
            <p:cNvSpPr>
              <a:spLocks/>
            </p:cNvSpPr>
            <p:nvPr/>
          </p:nvSpPr>
          <p:spPr bwMode="auto">
            <a:xfrm>
              <a:off x="1944586" y="2072244"/>
              <a:ext cx="4648200" cy="2743200"/>
            </a:xfrm>
            <a:custGeom>
              <a:avLst/>
              <a:gdLst>
                <a:gd name="T0" fmla="*/ 0 w 2928"/>
                <a:gd name="T1" fmla="*/ 2743200 h 1728"/>
                <a:gd name="T2" fmla="*/ 2209800 w 2928"/>
                <a:gd name="T3" fmla="*/ 533400 h 1728"/>
                <a:gd name="T4" fmla="*/ 4648200 w 2928"/>
                <a:gd name="T5" fmla="*/ 0 h 1728"/>
                <a:gd name="T6" fmla="*/ 0 60000 65536"/>
                <a:gd name="T7" fmla="*/ 0 60000 65536"/>
                <a:gd name="T8" fmla="*/ 0 60000 65536"/>
                <a:gd name="T9" fmla="*/ 0 w 2928"/>
                <a:gd name="T10" fmla="*/ 0 h 1728"/>
                <a:gd name="T11" fmla="*/ 2928 w 2928"/>
                <a:gd name="T12" fmla="*/ 1728 h 1728"/>
              </a:gdLst>
              <a:ahLst/>
              <a:cxnLst>
                <a:cxn ang="T6">
                  <a:pos x="T0" y="T1"/>
                </a:cxn>
                <a:cxn ang="T7">
                  <a:pos x="T2" y="T3"/>
                </a:cxn>
                <a:cxn ang="T8">
                  <a:pos x="T4" y="T5"/>
                </a:cxn>
              </a:cxnLst>
              <a:rect l="T9" t="T10" r="T11" b="T12"/>
              <a:pathLst>
                <a:path w="2928" h="1728">
                  <a:moveTo>
                    <a:pt x="0" y="1728"/>
                  </a:moveTo>
                  <a:cubicBezTo>
                    <a:pt x="452" y="1176"/>
                    <a:pt x="904" y="624"/>
                    <a:pt x="1392" y="336"/>
                  </a:cubicBezTo>
                  <a:cubicBezTo>
                    <a:pt x="1880" y="48"/>
                    <a:pt x="2404" y="24"/>
                    <a:pt x="2928" y="0"/>
                  </a:cubicBezTo>
                </a:path>
              </a:pathLst>
            </a:custGeom>
            <a:noFill/>
            <a:ln w="28575" cap="flat" cmpd="sng">
              <a:solidFill>
                <a:srgbClr val="0000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15" name="Text Box 8"/>
            <p:cNvSpPr txBox="1">
              <a:spLocks noChangeArrowheads="1"/>
            </p:cNvSpPr>
            <p:nvPr/>
          </p:nvSpPr>
          <p:spPr bwMode="auto">
            <a:xfrm>
              <a:off x="6621361" y="1943657"/>
              <a:ext cx="723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000099"/>
                  </a:solidFill>
                </a:rPr>
                <a:t>U</a:t>
              </a:r>
              <a:r>
                <a:rPr lang="en-US" altLang="en-US" sz="1800">
                  <a:solidFill>
                    <a:srgbClr val="000099"/>
                  </a:solidFill>
                </a:rPr>
                <a:t>(</a:t>
              </a:r>
              <a:r>
                <a:rPr lang="en-US" altLang="en-US" sz="1800" i="1">
                  <a:solidFill>
                    <a:srgbClr val="000099"/>
                  </a:solidFill>
                </a:rPr>
                <a:t>W</a:t>
              </a:r>
              <a:r>
                <a:rPr lang="en-US" altLang="en-US" sz="1800">
                  <a:solidFill>
                    <a:srgbClr val="000099"/>
                  </a:solidFill>
                </a:rPr>
                <a:t>)</a:t>
              </a:r>
              <a:endParaRPr lang="en-US" altLang="en-US" sz="1800" i="1">
                <a:solidFill>
                  <a:srgbClr val="000099"/>
                </a:solidFill>
              </a:endParaRPr>
            </a:p>
          </p:txBody>
        </p:sp>
      </p:grpSp>
      <p:grpSp>
        <p:nvGrpSpPr>
          <p:cNvPr id="16" name="Group 34"/>
          <p:cNvGrpSpPr>
            <a:grpSpLocks/>
          </p:cNvGrpSpPr>
          <p:nvPr/>
        </p:nvGrpSpPr>
        <p:grpSpPr bwMode="auto">
          <a:xfrm>
            <a:off x="1762125" y="1676400"/>
            <a:ext cx="3648075" cy="369888"/>
            <a:chOff x="1116280" y="2072285"/>
            <a:chExt cx="3647706" cy="369332"/>
          </a:xfrm>
        </p:grpSpPr>
        <p:sp>
          <p:nvSpPr>
            <p:cNvPr id="17" name="Line 12"/>
            <p:cNvSpPr>
              <a:spLocks noChangeShapeType="1"/>
            </p:cNvSpPr>
            <p:nvPr/>
          </p:nvSpPr>
          <p:spPr bwMode="auto">
            <a:xfrm flipH="1">
              <a:off x="1944586" y="2300844"/>
              <a:ext cx="2819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8" name="Text Box 13"/>
            <p:cNvSpPr txBox="1">
              <a:spLocks noChangeArrowheads="1"/>
            </p:cNvSpPr>
            <p:nvPr/>
          </p:nvSpPr>
          <p:spPr bwMode="auto">
            <a:xfrm>
              <a:off x="1116280" y="2072285"/>
              <a:ext cx="83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U</a:t>
              </a:r>
              <a:r>
                <a:rPr lang="en-US" altLang="en-US" sz="1800" dirty="0"/>
                <a:t>(W</a:t>
              </a:r>
              <a:r>
                <a:rPr lang="en-US" altLang="en-US" sz="1800" baseline="-25000" dirty="0"/>
                <a:t>0</a:t>
              </a:r>
              <a:r>
                <a:rPr lang="en-US" altLang="en-US" sz="1800" dirty="0"/>
                <a:t>)</a:t>
              </a:r>
              <a:endParaRPr lang="en-US" altLang="en-US" sz="1800" i="1" dirty="0"/>
            </a:p>
          </p:txBody>
        </p:sp>
      </p:grpSp>
      <p:grpSp>
        <p:nvGrpSpPr>
          <p:cNvPr id="19" name="Group 18"/>
          <p:cNvGrpSpPr>
            <a:grpSpLocks/>
          </p:cNvGrpSpPr>
          <p:nvPr/>
        </p:nvGrpSpPr>
        <p:grpSpPr bwMode="auto">
          <a:xfrm>
            <a:off x="609600" y="2362200"/>
            <a:ext cx="4800600" cy="369332"/>
            <a:chOff x="-37131" y="2550960"/>
            <a:chExt cx="4801117" cy="368778"/>
          </a:xfrm>
        </p:grpSpPr>
        <p:sp>
          <p:nvSpPr>
            <p:cNvPr id="20" name="Line 20"/>
            <p:cNvSpPr>
              <a:spLocks noChangeShapeType="1"/>
            </p:cNvSpPr>
            <p:nvPr/>
          </p:nvSpPr>
          <p:spPr bwMode="auto">
            <a:xfrm flipH="1">
              <a:off x="1944586" y="2681844"/>
              <a:ext cx="2819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1" name="Text Box 21"/>
            <p:cNvSpPr txBox="1">
              <a:spLocks noChangeArrowheads="1"/>
            </p:cNvSpPr>
            <p:nvPr/>
          </p:nvSpPr>
          <p:spPr bwMode="auto">
            <a:xfrm>
              <a:off x="-37131" y="2550960"/>
              <a:ext cx="1984684"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E</a:t>
              </a:r>
              <a:r>
                <a:rPr lang="en-US" altLang="en-US" sz="1800" i="1" baseline="-25000" dirty="0" smtClean="0"/>
                <a:t>B</a:t>
              </a:r>
              <a:r>
                <a:rPr lang="en-US" altLang="en-US" sz="1800" i="1" dirty="0" smtClean="0"/>
                <a:t>[U(W</a:t>
              </a:r>
              <a:r>
                <a:rPr lang="en-US" altLang="en-US" sz="1800" i="1" dirty="0"/>
                <a:t>)]=</a:t>
              </a:r>
              <a:r>
                <a:rPr lang="en-US" altLang="en-US" sz="1800" i="1" dirty="0" smtClean="0"/>
                <a:t>U(CE</a:t>
              </a:r>
              <a:r>
                <a:rPr lang="en-US" altLang="en-US" sz="1800" i="1" baseline="-25000" dirty="0" smtClean="0"/>
                <a:t>B</a:t>
              </a:r>
              <a:r>
                <a:rPr lang="en-US" altLang="en-US" sz="1800" i="1" dirty="0" smtClean="0"/>
                <a:t>)</a:t>
              </a:r>
              <a:endParaRPr lang="en-US" altLang="en-US" sz="1800" dirty="0"/>
            </a:p>
          </p:txBody>
        </p:sp>
      </p:grpSp>
      <p:sp>
        <p:nvSpPr>
          <p:cNvPr id="22" name="Line 23"/>
          <p:cNvSpPr>
            <a:spLocks noChangeShapeType="1"/>
          </p:cNvSpPr>
          <p:nvPr/>
        </p:nvSpPr>
        <p:spPr bwMode="auto">
          <a:xfrm flipV="1">
            <a:off x="3350738" y="1698625"/>
            <a:ext cx="3610449" cy="1806573"/>
          </a:xfrm>
          <a:prstGeom prst="line">
            <a:avLst/>
          </a:prstGeom>
          <a:noFill/>
          <a:ln w="19050">
            <a:solidFill>
              <a:srgbClr val="BB6033"/>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23" name="Line 30"/>
          <p:cNvSpPr>
            <a:spLocks noChangeShapeType="1"/>
          </p:cNvSpPr>
          <p:nvPr/>
        </p:nvSpPr>
        <p:spPr bwMode="auto">
          <a:xfrm flipV="1">
            <a:off x="4657725" y="1784351"/>
            <a:ext cx="1527175" cy="520700"/>
          </a:xfrm>
          <a:prstGeom prst="line">
            <a:avLst/>
          </a:prstGeom>
          <a:noFill/>
          <a:ln w="19050">
            <a:solidFill>
              <a:srgbClr val="BB6033"/>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24" name="Group 35"/>
          <p:cNvGrpSpPr>
            <a:grpSpLocks/>
          </p:cNvGrpSpPr>
          <p:nvPr/>
        </p:nvGrpSpPr>
        <p:grpSpPr bwMode="auto">
          <a:xfrm>
            <a:off x="609599" y="1905000"/>
            <a:ext cx="4800601" cy="369332"/>
            <a:chOff x="-36289" y="2300844"/>
            <a:chExt cx="4800275" cy="368778"/>
          </a:xfrm>
        </p:grpSpPr>
        <p:sp>
          <p:nvSpPr>
            <p:cNvPr id="25" name="Line 31"/>
            <p:cNvSpPr>
              <a:spLocks noChangeShapeType="1"/>
            </p:cNvSpPr>
            <p:nvPr/>
          </p:nvSpPr>
          <p:spPr bwMode="auto">
            <a:xfrm flipH="1">
              <a:off x="1944586" y="2453244"/>
              <a:ext cx="2819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6" name="Text Box 32"/>
            <p:cNvSpPr txBox="1">
              <a:spLocks noChangeArrowheads="1"/>
            </p:cNvSpPr>
            <p:nvPr/>
          </p:nvSpPr>
          <p:spPr bwMode="auto">
            <a:xfrm>
              <a:off x="-36289" y="2300844"/>
              <a:ext cx="1983840"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E</a:t>
              </a:r>
              <a:r>
                <a:rPr lang="en-US" altLang="en-US" sz="1800" i="1" baseline="-25000" dirty="0"/>
                <a:t>A</a:t>
              </a:r>
              <a:r>
                <a:rPr lang="en-US" altLang="en-US" sz="1800" i="1" dirty="0"/>
                <a:t>[U(W)]=U(CE</a:t>
              </a:r>
              <a:r>
                <a:rPr lang="en-US" altLang="en-US" sz="1800" i="1" baseline="-25000" dirty="0"/>
                <a:t>A</a:t>
              </a:r>
              <a:r>
                <a:rPr lang="en-US" altLang="en-US" sz="1800" i="1" dirty="0"/>
                <a:t>)</a:t>
              </a:r>
              <a:endParaRPr lang="en-US" altLang="en-US" sz="1800" dirty="0"/>
            </a:p>
          </p:txBody>
        </p:sp>
      </p:grpSp>
      <p:grpSp>
        <p:nvGrpSpPr>
          <p:cNvPr id="27" name="Group 48"/>
          <p:cNvGrpSpPr>
            <a:grpSpLocks/>
          </p:cNvGrpSpPr>
          <p:nvPr/>
        </p:nvGrpSpPr>
        <p:grpSpPr bwMode="auto">
          <a:xfrm>
            <a:off x="5729287" y="1730376"/>
            <a:ext cx="750888" cy="3086100"/>
            <a:chOff x="5083074" y="2126411"/>
            <a:chExt cx="750526" cy="3085353"/>
          </a:xfrm>
        </p:grpSpPr>
        <p:grpSp>
          <p:nvGrpSpPr>
            <p:cNvPr id="28" name="Group 40"/>
            <p:cNvGrpSpPr>
              <a:grpSpLocks/>
            </p:cNvGrpSpPr>
            <p:nvPr/>
          </p:nvGrpSpPr>
          <p:grpSpPr bwMode="auto">
            <a:xfrm>
              <a:off x="5083074" y="2148444"/>
              <a:ext cx="750526" cy="3063320"/>
              <a:chOff x="5083074" y="2148444"/>
              <a:chExt cx="750526" cy="3063320"/>
            </a:xfrm>
          </p:grpSpPr>
          <p:sp>
            <p:nvSpPr>
              <p:cNvPr id="30" name="Line 29"/>
              <p:cNvSpPr>
                <a:spLocks noChangeShapeType="1"/>
              </p:cNvSpPr>
              <p:nvPr/>
            </p:nvSpPr>
            <p:spPr bwMode="auto">
              <a:xfrm flipV="1">
                <a:off x="5525986" y="2148444"/>
                <a:ext cx="0" cy="2667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1" name="Text Box 37"/>
              <p:cNvSpPr txBox="1">
                <a:spLocks noChangeArrowheads="1"/>
              </p:cNvSpPr>
              <p:nvPr/>
            </p:nvSpPr>
            <p:spPr bwMode="auto">
              <a:xfrm>
                <a:off x="5083074" y="4842432"/>
                <a:ext cx="7505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r>
                  <a:rPr lang="en-US" altLang="en-US" sz="1800"/>
                  <a:t>+</a:t>
                </a:r>
                <a:r>
                  <a:rPr lang="en-US" altLang="en-US" sz="1800" i="1"/>
                  <a:t>h</a:t>
                </a:r>
                <a:endParaRPr lang="en-US" altLang="en-US" sz="1800"/>
              </a:p>
            </p:txBody>
          </p:sp>
        </p:grpSp>
        <p:sp>
          <p:nvSpPr>
            <p:cNvPr id="29" name="Oval 24"/>
            <p:cNvSpPr>
              <a:spLocks noChangeArrowheads="1"/>
            </p:cNvSpPr>
            <p:nvPr/>
          </p:nvSpPr>
          <p:spPr bwMode="auto">
            <a:xfrm>
              <a:off x="5489275" y="2126411"/>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32" name="Group 49"/>
          <p:cNvGrpSpPr>
            <a:grpSpLocks/>
          </p:cNvGrpSpPr>
          <p:nvPr/>
        </p:nvGrpSpPr>
        <p:grpSpPr bwMode="auto">
          <a:xfrm>
            <a:off x="6545262" y="1676401"/>
            <a:ext cx="877888" cy="3140075"/>
            <a:chOff x="5899049" y="2071777"/>
            <a:chExt cx="878767" cy="3139987"/>
          </a:xfrm>
        </p:grpSpPr>
        <p:grpSp>
          <p:nvGrpSpPr>
            <p:cNvPr id="33" name="Group 41"/>
            <p:cNvGrpSpPr>
              <a:grpSpLocks/>
            </p:cNvGrpSpPr>
            <p:nvPr/>
          </p:nvGrpSpPr>
          <p:grpSpPr bwMode="auto">
            <a:xfrm>
              <a:off x="5899049" y="2072244"/>
              <a:ext cx="878767" cy="3139520"/>
              <a:chOff x="5899049" y="2072244"/>
              <a:chExt cx="878767" cy="3139520"/>
            </a:xfrm>
          </p:grpSpPr>
          <p:sp>
            <p:nvSpPr>
              <p:cNvPr id="35" name="Text Box 14"/>
              <p:cNvSpPr txBox="1">
                <a:spLocks noChangeArrowheads="1"/>
              </p:cNvSpPr>
              <p:nvPr/>
            </p:nvSpPr>
            <p:spPr bwMode="auto">
              <a:xfrm>
                <a:off x="5899049" y="4842432"/>
                <a:ext cx="8787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r>
                  <a:rPr lang="en-US" altLang="en-US" sz="1800"/>
                  <a:t>+2</a:t>
                </a:r>
                <a:r>
                  <a:rPr lang="en-US" altLang="en-US" sz="1800" i="1"/>
                  <a:t>h</a:t>
                </a:r>
                <a:endParaRPr lang="en-US" altLang="en-US" sz="1800"/>
              </a:p>
            </p:txBody>
          </p:sp>
          <p:sp>
            <p:nvSpPr>
              <p:cNvPr id="36" name="Line 19"/>
              <p:cNvSpPr>
                <a:spLocks noChangeShapeType="1"/>
              </p:cNvSpPr>
              <p:nvPr/>
            </p:nvSpPr>
            <p:spPr bwMode="auto">
              <a:xfrm flipV="1">
                <a:off x="6287986" y="2072244"/>
                <a:ext cx="0" cy="2743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34" name="Oval 24"/>
            <p:cNvSpPr>
              <a:spLocks noChangeArrowheads="1"/>
            </p:cNvSpPr>
            <p:nvPr/>
          </p:nvSpPr>
          <p:spPr bwMode="auto">
            <a:xfrm>
              <a:off x="6245525" y="2071777"/>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37" name="Group 53"/>
          <p:cNvGrpSpPr>
            <a:grpSpLocks/>
          </p:cNvGrpSpPr>
          <p:nvPr/>
        </p:nvGrpSpPr>
        <p:grpSpPr bwMode="auto">
          <a:xfrm>
            <a:off x="4337050" y="2265363"/>
            <a:ext cx="692150" cy="2551113"/>
            <a:chOff x="3690869" y="2661250"/>
            <a:chExt cx="692818" cy="2550514"/>
          </a:xfrm>
        </p:grpSpPr>
        <p:grpSp>
          <p:nvGrpSpPr>
            <p:cNvPr id="38" name="Group 38"/>
            <p:cNvGrpSpPr>
              <a:grpSpLocks/>
            </p:cNvGrpSpPr>
            <p:nvPr/>
          </p:nvGrpSpPr>
          <p:grpSpPr bwMode="auto">
            <a:xfrm>
              <a:off x="3690869" y="2681844"/>
              <a:ext cx="692818" cy="2529920"/>
              <a:chOff x="3690869" y="2681844"/>
              <a:chExt cx="692818" cy="2529920"/>
            </a:xfrm>
          </p:grpSpPr>
          <p:sp>
            <p:nvSpPr>
              <p:cNvPr id="40" name="Line 28"/>
              <p:cNvSpPr>
                <a:spLocks noChangeShapeType="1"/>
              </p:cNvSpPr>
              <p:nvPr/>
            </p:nvSpPr>
            <p:spPr bwMode="auto">
              <a:xfrm flipV="1">
                <a:off x="4001986" y="2681844"/>
                <a:ext cx="0" cy="2133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41" name="Text Box 36"/>
              <p:cNvSpPr txBox="1">
                <a:spLocks noChangeArrowheads="1"/>
              </p:cNvSpPr>
              <p:nvPr/>
            </p:nvSpPr>
            <p:spPr bwMode="auto">
              <a:xfrm>
                <a:off x="3690869" y="4842432"/>
                <a:ext cx="692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W</a:t>
                </a:r>
                <a:r>
                  <a:rPr lang="en-US" altLang="en-US" sz="1800" i="1" baseline="-25000" dirty="0"/>
                  <a:t>0</a:t>
                </a:r>
                <a:r>
                  <a:rPr lang="en-US" altLang="en-US" sz="1800" dirty="0"/>
                  <a:t>-</a:t>
                </a:r>
                <a:r>
                  <a:rPr lang="en-US" altLang="en-US" sz="1800" i="1" dirty="0"/>
                  <a:t>h</a:t>
                </a:r>
                <a:endParaRPr lang="en-US" altLang="en-US" sz="1800" dirty="0"/>
              </a:p>
            </p:txBody>
          </p:sp>
        </p:grpSp>
        <p:sp>
          <p:nvSpPr>
            <p:cNvPr id="39" name="Oval 24"/>
            <p:cNvSpPr>
              <a:spLocks noChangeArrowheads="1"/>
            </p:cNvSpPr>
            <p:nvPr/>
          </p:nvSpPr>
          <p:spPr bwMode="auto">
            <a:xfrm>
              <a:off x="3962400" y="2661250"/>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42" name="Group 50"/>
          <p:cNvGrpSpPr>
            <a:grpSpLocks/>
          </p:cNvGrpSpPr>
          <p:nvPr/>
        </p:nvGrpSpPr>
        <p:grpSpPr bwMode="auto">
          <a:xfrm>
            <a:off x="5273675" y="1881188"/>
            <a:ext cx="487362" cy="2935288"/>
            <a:chOff x="4627461" y="2275936"/>
            <a:chExt cx="487634" cy="2935828"/>
          </a:xfrm>
        </p:grpSpPr>
        <p:grpSp>
          <p:nvGrpSpPr>
            <p:cNvPr id="43" name="Group 43"/>
            <p:cNvGrpSpPr>
              <a:grpSpLocks/>
            </p:cNvGrpSpPr>
            <p:nvPr/>
          </p:nvGrpSpPr>
          <p:grpSpPr bwMode="auto">
            <a:xfrm>
              <a:off x="4627461" y="2275936"/>
              <a:ext cx="487634" cy="2935828"/>
              <a:chOff x="4627461" y="2275936"/>
              <a:chExt cx="487634" cy="2935828"/>
            </a:xfrm>
          </p:grpSpPr>
          <p:grpSp>
            <p:nvGrpSpPr>
              <p:cNvPr id="46" name="Group 39"/>
              <p:cNvGrpSpPr>
                <a:grpSpLocks/>
              </p:cNvGrpSpPr>
              <p:nvPr/>
            </p:nvGrpSpPr>
            <p:grpSpPr bwMode="auto">
              <a:xfrm>
                <a:off x="4627461" y="2300844"/>
                <a:ext cx="487634" cy="2910920"/>
                <a:chOff x="4627461" y="2300844"/>
                <a:chExt cx="487634" cy="2910920"/>
              </a:xfrm>
            </p:grpSpPr>
            <p:sp>
              <p:nvSpPr>
                <p:cNvPr id="48" name="Line 9"/>
                <p:cNvSpPr>
                  <a:spLocks noChangeShapeType="1"/>
                </p:cNvSpPr>
                <p:nvPr/>
              </p:nvSpPr>
              <p:spPr bwMode="auto">
                <a:xfrm flipV="1">
                  <a:off x="4763986" y="2300844"/>
                  <a:ext cx="0" cy="2514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 name="Text Box 11"/>
                <p:cNvSpPr txBox="1">
                  <a:spLocks noChangeArrowheads="1"/>
                </p:cNvSpPr>
                <p:nvPr/>
              </p:nvSpPr>
              <p:spPr bwMode="auto">
                <a:xfrm>
                  <a:off x="4627461" y="4842432"/>
                  <a:ext cx="4876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p>
              </p:txBody>
            </p:sp>
          </p:grpSp>
          <p:sp>
            <p:nvSpPr>
              <p:cNvPr id="47" name="Oval 24"/>
              <p:cNvSpPr>
                <a:spLocks noChangeArrowheads="1"/>
              </p:cNvSpPr>
              <p:nvPr/>
            </p:nvSpPr>
            <p:spPr bwMode="auto">
              <a:xfrm>
                <a:off x="4727276" y="2275936"/>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
          <p:nvSpPr>
            <p:cNvPr id="44" name="Oval 24"/>
            <p:cNvSpPr>
              <a:spLocks noChangeArrowheads="1"/>
            </p:cNvSpPr>
            <p:nvPr/>
          </p:nvSpPr>
          <p:spPr bwMode="auto">
            <a:xfrm>
              <a:off x="4727276" y="2413959"/>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5" name="Oval 24"/>
            <p:cNvSpPr>
              <a:spLocks noChangeArrowheads="1"/>
            </p:cNvSpPr>
            <p:nvPr/>
          </p:nvSpPr>
          <p:spPr bwMode="auto">
            <a:xfrm>
              <a:off x="4727276" y="2833265"/>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0" name="Group 54"/>
          <p:cNvGrpSpPr>
            <a:grpSpLocks/>
          </p:cNvGrpSpPr>
          <p:nvPr/>
        </p:nvGrpSpPr>
        <p:grpSpPr bwMode="auto">
          <a:xfrm>
            <a:off x="2949574" y="3467105"/>
            <a:ext cx="820738" cy="1409695"/>
            <a:chOff x="2847874" y="3801850"/>
            <a:chExt cx="821059" cy="1409914"/>
          </a:xfrm>
        </p:grpSpPr>
        <p:grpSp>
          <p:nvGrpSpPr>
            <p:cNvPr id="51" name="Group 37"/>
            <p:cNvGrpSpPr>
              <a:grpSpLocks/>
            </p:cNvGrpSpPr>
            <p:nvPr/>
          </p:nvGrpSpPr>
          <p:grpSpPr bwMode="auto">
            <a:xfrm>
              <a:off x="2847874" y="3839950"/>
              <a:ext cx="821059" cy="1371814"/>
              <a:chOff x="2847874" y="3839950"/>
              <a:chExt cx="821059" cy="1371814"/>
            </a:xfrm>
          </p:grpSpPr>
          <p:sp>
            <p:nvSpPr>
              <p:cNvPr id="53" name="Text Box 15"/>
              <p:cNvSpPr txBox="1">
                <a:spLocks noChangeArrowheads="1"/>
              </p:cNvSpPr>
              <p:nvPr/>
            </p:nvSpPr>
            <p:spPr bwMode="auto">
              <a:xfrm>
                <a:off x="2847874" y="4842432"/>
                <a:ext cx="8210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0</a:t>
                </a:r>
                <a:r>
                  <a:rPr lang="en-US" altLang="en-US" sz="1800"/>
                  <a:t>-2</a:t>
                </a:r>
                <a:r>
                  <a:rPr lang="en-US" altLang="en-US" sz="1800" i="1"/>
                  <a:t>h</a:t>
                </a:r>
                <a:endParaRPr lang="en-US" altLang="en-US" sz="1800"/>
              </a:p>
            </p:txBody>
          </p:sp>
          <p:sp>
            <p:nvSpPr>
              <p:cNvPr id="54" name="Line 18"/>
              <p:cNvSpPr>
                <a:spLocks noChangeShapeType="1"/>
              </p:cNvSpPr>
              <p:nvPr/>
            </p:nvSpPr>
            <p:spPr bwMode="auto">
              <a:xfrm flipV="1">
                <a:off x="3239986" y="3839950"/>
                <a:ext cx="9209" cy="89929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grpSp>
        <p:sp>
          <p:nvSpPr>
            <p:cNvPr id="52" name="Oval 24"/>
            <p:cNvSpPr>
              <a:spLocks noChangeArrowheads="1"/>
            </p:cNvSpPr>
            <p:nvPr/>
          </p:nvSpPr>
          <p:spPr bwMode="auto">
            <a:xfrm>
              <a:off x="3206490" y="3801850"/>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5" name="Group 43"/>
          <p:cNvGrpSpPr>
            <a:grpSpLocks/>
          </p:cNvGrpSpPr>
          <p:nvPr/>
        </p:nvGrpSpPr>
        <p:grpSpPr bwMode="auto">
          <a:xfrm>
            <a:off x="4822825" y="2009776"/>
            <a:ext cx="606425" cy="3095623"/>
            <a:chOff x="4480812" y="2275936"/>
            <a:chExt cx="607859" cy="3094520"/>
          </a:xfrm>
        </p:grpSpPr>
        <p:grpSp>
          <p:nvGrpSpPr>
            <p:cNvPr id="56" name="Group 39"/>
            <p:cNvGrpSpPr>
              <a:grpSpLocks/>
            </p:cNvGrpSpPr>
            <p:nvPr/>
          </p:nvGrpSpPr>
          <p:grpSpPr bwMode="auto">
            <a:xfrm>
              <a:off x="4480812" y="2300844"/>
              <a:ext cx="607859" cy="3069612"/>
              <a:chOff x="4480812" y="2300844"/>
              <a:chExt cx="607859" cy="3069612"/>
            </a:xfrm>
          </p:grpSpPr>
          <p:sp>
            <p:nvSpPr>
              <p:cNvPr id="58" name="Line 9"/>
              <p:cNvSpPr>
                <a:spLocks noChangeShapeType="1"/>
              </p:cNvSpPr>
              <p:nvPr/>
            </p:nvSpPr>
            <p:spPr bwMode="auto">
              <a:xfrm flipV="1">
                <a:off x="4763986" y="2300844"/>
                <a:ext cx="0" cy="2514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9" name="Text Box 11"/>
              <p:cNvSpPr txBox="1">
                <a:spLocks noChangeArrowheads="1"/>
              </p:cNvSpPr>
              <p:nvPr/>
            </p:nvSpPr>
            <p:spPr bwMode="auto">
              <a:xfrm>
                <a:off x="4480812" y="5001124"/>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CE</a:t>
                </a:r>
                <a:r>
                  <a:rPr lang="en-US" altLang="en-US" sz="1800" i="1" baseline="-25000" dirty="0"/>
                  <a:t>A</a:t>
                </a:r>
              </a:p>
            </p:txBody>
          </p:sp>
        </p:grpSp>
        <p:sp>
          <p:nvSpPr>
            <p:cNvPr id="57" name="Oval 24"/>
            <p:cNvSpPr>
              <a:spLocks noChangeArrowheads="1"/>
            </p:cNvSpPr>
            <p:nvPr/>
          </p:nvSpPr>
          <p:spPr bwMode="auto">
            <a:xfrm>
              <a:off x="4727276" y="2275936"/>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0" name="Group 43"/>
          <p:cNvGrpSpPr>
            <a:grpSpLocks/>
          </p:cNvGrpSpPr>
          <p:nvPr/>
        </p:nvGrpSpPr>
        <p:grpSpPr bwMode="auto">
          <a:xfrm>
            <a:off x="4117978" y="2438401"/>
            <a:ext cx="607859" cy="2660518"/>
            <a:chOff x="4480812" y="2552063"/>
            <a:chExt cx="609296" cy="2659569"/>
          </a:xfrm>
        </p:grpSpPr>
        <p:grpSp>
          <p:nvGrpSpPr>
            <p:cNvPr id="61" name="Group 39"/>
            <p:cNvGrpSpPr>
              <a:grpSpLocks/>
            </p:cNvGrpSpPr>
            <p:nvPr/>
          </p:nvGrpSpPr>
          <p:grpSpPr bwMode="auto">
            <a:xfrm>
              <a:off x="4480812" y="2606922"/>
              <a:ext cx="609296" cy="2604710"/>
              <a:chOff x="4480812" y="2606922"/>
              <a:chExt cx="609296" cy="2604710"/>
            </a:xfrm>
          </p:grpSpPr>
          <p:sp>
            <p:nvSpPr>
              <p:cNvPr id="63" name="Line 9"/>
              <p:cNvSpPr>
                <a:spLocks noChangeShapeType="1"/>
              </p:cNvSpPr>
              <p:nvPr/>
            </p:nvSpPr>
            <p:spPr bwMode="auto">
              <a:xfrm flipV="1">
                <a:off x="4763985" y="2606922"/>
                <a:ext cx="1390" cy="220852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a:p>
            </p:txBody>
          </p:sp>
          <p:sp>
            <p:nvSpPr>
              <p:cNvPr id="64" name="Text Box 11"/>
              <p:cNvSpPr txBox="1">
                <a:spLocks noChangeArrowheads="1"/>
              </p:cNvSpPr>
              <p:nvPr/>
            </p:nvSpPr>
            <p:spPr bwMode="auto">
              <a:xfrm>
                <a:off x="4480812" y="4842432"/>
                <a:ext cx="609296" cy="36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CE</a:t>
                </a:r>
                <a:r>
                  <a:rPr lang="en-US" altLang="en-US" sz="1800" i="1" baseline="-25000" dirty="0" smtClean="0"/>
                  <a:t>B</a:t>
                </a:r>
                <a:endParaRPr lang="en-US" altLang="en-US" sz="1800" i="1" baseline="-25000" dirty="0"/>
              </a:p>
            </p:txBody>
          </p:sp>
        </p:grpSp>
        <p:sp>
          <p:nvSpPr>
            <p:cNvPr id="62" name="Oval 24"/>
            <p:cNvSpPr>
              <a:spLocks noChangeArrowheads="1"/>
            </p:cNvSpPr>
            <p:nvPr/>
          </p:nvSpPr>
          <p:spPr bwMode="auto">
            <a:xfrm>
              <a:off x="4727276" y="255206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317960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up)">
                                      <p:cBhvr>
                                        <p:cTn id="19" dur="500"/>
                                        <p:tgtEl>
                                          <p:spTgt spid="42"/>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up)">
                                      <p:cBhvr>
                                        <p:cTn id="31" dur="500"/>
                                        <p:tgtEl>
                                          <p:spTgt spid="27"/>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wipe(up)">
                                      <p:cBhvr>
                                        <p:cTn id="39" dur="500"/>
                                        <p:tgtEl>
                                          <p:spTgt spid="50"/>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up)">
                                      <p:cBhvr>
                                        <p:cTn id="43" dur="500"/>
                                        <p:tgtEl>
                                          <p:spTgt spid="32"/>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par>
                          <p:cTn id="48" fill="hold">
                            <p:stCondLst>
                              <p:cond delay="5500"/>
                            </p:stCondLst>
                            <p:childTnLst>
                              <p:par>
                                <p:cTn id="49" presetID="22" presetClass="entr" presetSubtype="1" fill="hold" nodeType="after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wipe(up)">
                                      <p:cBhvr>
                                        <p:cTn id="51" dur="500"/>
                                        <p:tgtEl>
                                          <p:spTgt spid="55"/>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childTnLst>
                          </p:cTn>
                        </p:par>
                        <p:par>
                          <p:cTn id="56" fill="hold">
                            <p:stCondLst>
                              <p:cond delay="6500"/>
                            </p:stCondLst>
                            <p:childTnLst>
                              <p:par>
                                <p:cTn id="57" presetID="22" presetClass="entr" presetSubtype="1" fill="hold" nodeType="after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wipe(up)">
                                      <p:cBhvr>
                                        <p:cTn id="59" dur="500"/>
                                        <p:tgtEl>
                                          <p:spTgt spid="60"/>
                                        </p:tgtEl>
                                      </p:cBhvr>
                                    </p:animEffect>
                                  </p:childTnLst>
                                </p:cTn>
                              </p:par>
                            </p:childTnLst>
                          </p:cTn>
                        </p:par>
                        <p:par>
                          <p:cTn id="60" fill="hold">
                            <p:stCondLst>
                              <p:cond delay="7000"/>
                            </p:stCondLst>
                            <p:childTnLst>
                              <p:par>
                                <p:cTn id="61" presetID="22" presetClass="entr" presetSubtype="8" fill="hold" grpId="0" nodeType="afterEffect">
                                  <p:stCondLst>
                                    <p:cond delay="0"/>
                                  </p:stCondLst>
                                  <p:childTnLst>
                                    <p:set>
                                      <p:cBhvr>
                                        <p:cTn id="62" dur="1" fill="hold">
                                          <p:stCondLst>
                                            <p:cond delay="0"/>
                                          </p:stCondLst>
                                        </p:cTn>
                                        <p:tgtEl>
                                          <p:spTgt spid="3">
                                            <p:txEl>
                                              <p:pRg st="0" end="0"/>
                                            </p:txEl>
                                          </p:spTgt>
                                        </p:tgtEl>
                                        <p:attrNameLst>
                                          <p:attrName>style.visibility</p:attrName>
                                        </p:attrNameLst>
                                      </p:cBhvr>
                                      <p:to>
                                        <p:strVal val="visible"/>
                                      </p:to>
                                    </p:set>
                                    <p:animEffect transition="in" filter="wipe(left)">
                                      <p:cBhvr>
                                        <p:cTn id="6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mtClean="0"/>
              <a:t>Risk Aversion and Insurance</a:t>
            </a:r>
          </a:p>
        </p:txBody>
      </p:sp>
      <p:sp>
        <p:nvSpPr>
          <p:cNvPr id="52227" name="Rectangle 3"/>
          <p:cNvSpPr>
            <a:spLocks noGrp="1" noChangeArrowheads="1"/>
          </p:cNvSpPr>
          <p:nvPr>
            <p:ph idx="1"/>
          </p:nvPr>
        </p:nvSpPr>
        <p:spPr/>
        <p:txBody>
          <a:bodyPr/>
          <a:lstStyle/>
          <a:p>
            <a:r>
              <a:rPr lang="en-US" altLang="en-US" smtClean="0"/>
              <a:t>Risk aversion</a:t>
            </a:r>
          </a:p>
          <a:p>
            <a:pPr lvl="1"/>
            <a:r>
              <a:rPr lang="en-US" altLang="en-US" smtClean="0"/>
              <a:t>An individual who always refuses fair bets is said to be risk averse</a:t>
            </a:r>
          </a:p>
          <a:p>
            <a:pPr lvl="1"/>
            <a:r>
              <a:rPr lang="en-US" altLang="en-US" smtClean="0"/>
              <a:t>If individuals exhibit a diminishing marginal utility of wealth, they will be risk averse</a:t>
            </a:r>
          </a:p>
          <a:p>
            <a:pPr lvl="1"/>
            <a:r>
              <a:rPr lang="en-US" altLang="en-US" smtClean="0"/>
              <a:t>As a consequence, they will be willing to pay something to avoid taking fair bets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B68AB62-3B7C-4B1A-AFB7-C18F872A7E96}" type="slidenum">
              <a:rPr lang="en-US" smtClean="0"/>
              <a:pPr>
                <a:defRPr/>
              </a:pPr>
              <a:t>23</a:t>
            </a:fld>
            <a:endParaRPr lang="en-US"/>
          </a:p>
        </p:txBody>
      </p:sp>
    </p:spTree>
    <p:extLst>
      <p:ext uri="{BB962C8B-B14F-4D97-AF65-F5344CB8AC3E}">
        <p14:creationId xmlns:p14="http://schemas.microsoft.com/office/powerpoint/2010/main" val="17292228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7.2	Willingness to Pay for Insurance</a:t>
            </a:r>
          </a:p>
        </p:txBody>
      </p:sp>
      <p:sp>
        <p:nvSpPr>
          <p:cNvPr id="5325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93BFCDE-C62E-4AF2-99D6-C5690A32B976}" type="slidenum">
              <a:rPr lang="en-US" smtClean="0"/>
              <a:pPr>
                <a:defRPr/>
              </a:pPr>
              <a:t>24</a:t>
            </a:fld>
            <a:endParaRPr lang="en-US" dirty="0"/>
          </a:p>
        </p:txBody>
      </p:sp>
      <p:sp>
        <p:nvSpPr>
          <p:cNvPr id="53251" name="Content Placeholder 2"/>
          <p:cNvSpPr>
            <a:spLocks noGrp="1"/>
          </p:cNvSpPr>
          <p:nvPr>
            <p:ph type="body" sz="quarter" idx="12"/>
          </p:nvPr>
        </p:nvSpPr>
        <p:spPr>
          <a:prstGeom prst="rect">
            <a:avLst/>
          </a:prstGeom>
        </p:spPr>
        <p:txBody>
          <a:bodyPr/>
          <a:lstStyle/>
          <a:p>
            <a:r>
              <a:rPr lang="en-US" altLang="en-US" dirty="0" smtClean="0"/>
              <a:t>A person with a current wealth of $100,000</a:t>
            </a:r>
          </a:p>
          <a:p>
            <a:pPr lvl="1"/>
            <a:r>
              <a:rPr lang="en-US" altLang="en-US" dirty="0" smtClean="0"/>
              <a:t>Faces a 25% chance of losing his automobile worth $20,000</a:t>
            </a:r>
            <a:endParaRPr lang="en-US" altLang="en-US" sz="900" dirty="0" smtClean="0"/>
          </a:p>
          <a:p>
            <a:pPr lvl="1"/>
            <a:r>
              <a:rPr lang="en-US" altLang="en-US" dirty="0" smtClean="0"/>
              <a:t>Von Neumann-Morgenstern utility index is: </a:t>
            </a:r>
          </a:p>
          <a:p>
            <a:pPr lvl="1">
              <a:buFont typeface="Arial" charset="0"/>
              <a:buNone/>
            </a:pPr>
            <a:r>
              <a:rPr lang="en-US" altLang="en-US" i="1" dirty="0" smtClean="0">
                <a:solidFill>
                  <a:srgbClr val="FF0000"/>
                </a:solidFill>
              </a:rPr>
              <a:t>		U</a:t>
            </a:r>
            <a:r>
              <a:rPr lang="en-US" altLang="en-US" dirty="0" smtClean="0">
                <a:solidFill>
                  <a:srgbClr val="FF0000"/>
                </a:solidFill>
              </a:rPr>
              <a:t>(</a:t>
            </a:r>
            <a:r>
              <a:rPr lang="en-US" altLang="en-US" i="1" dirty="0" smtClean="0">
                <a:solidFill>
                  <a:srgbClr val="FF0000"/>
                </a:solidFill>
              </a:rPr>
              <a:t>W</a:t>
            </a:r>
            <a:r>
              <a:rPr lang="en-US" altLang="en-US" dirty="0" smtClean="0">
                <a:solidFill>
                  <a:srgbClr val="FF0000"/>
                </a:solidFill>
              </a:rPr>
              <a:t>) = </a:t>
            </a:r>
            <a:r>
              <a:rPr lang="en-US" altLang="en-US" i="1" dirty="0" smtClean="0">
                <a:solidFill>
                  <a:srgbClr val="FF0000"/>
                </a:solidFill>
              </a:rPr>
              <a:t>ln</a:t>
            </a:r>
            <a:r>
              <a:rPr lang="en-US" altLang="en-US" dirty="0" smtClean="0">
                <a:solidFill>
                  <a:srgbClr val="FF0000"/>
                </a:solidFill>
              </a:rPr>
              <a:t> (</a:t>
            </a:r>
            <a:r>
              <a:rPr lang="en-US" altLang="en-US" i="1" dirty="0" smtClean="0">
                <a:solidFill>
                  <a:srgbClr val="FF0000"/>
                </a:solidFill>
              </a:rPr>
              <a:t>W</a:t>
            </a:r>
            <a:r>
              <a:rPr lang="en-US" altLang="en-US" dirty="0" smtClean="0">
                <a:solidFill>
                  <a:srgbClr val="FF0000"/>
                </a:solidFill>
              </a:rPr>
              <a:t>)</a:t>
            </a:r>
          </a:p>
          <a:p>
            <a:pPr lvl="1"/>
            <a:r>
              <a:rPr lang="en-US" altLang="en-US" dirty="0" smtClean="0"/>
              <a:t>Expected utility without insurance</a:t>
            </a:r>
          </a:p>
          <a:p>
            <a:pPr lvl="2"/>
            <a:r>
              <a:rPr lang="en-US" altLang="en-US" dirty="0" err="1" smtClean="0"/>
              <a:t>E</a:t>
            </a:r>
            <a:r>
              <a:rPr lang="en-US" altLang="en-US" baseline="-25000" dirty="0" err="1" smtClean="0"/>
              <a:t>no</a:t>
            </a:r>
            <a:r>
              <a:rPr lang="en-US" altLang="en-US" dirty="0" smtClean="0"/>
              <a:t>[U(W)] = 0.75U(100,000) + 0.25U(80,000) = 0.75 ln100,000+0.25 ln80,000 = 11.45714</a:t>
            </a:r>
          </a:p>
          <a:p>
            <a:pPr lvl="1"/>
            <a:r>
              <a:rPr lang="en-US" altLang="en-US" dirty="0" smtClean="0"/>
              <a:t>Expected utility of fair insurance</a:t>
            </a:r>
          </a:p>
          <a:p>
            <a:pPr lvl="2"/>
            <a:r>
              <a:rPr lang="en-US" altLang="en-US" dirty="0" err="1" smtClean="0"/>
              <a:t>E</a:t>
            </a:r>
            <a:r>
              <a:rPr lang="en-US" altLang="en-US" baseline="-25000" dirty="0" err="1" smtClean="0"/>
              <a:t>fair</a:t>
            </a:r>
            <a:r>
              <a:rPr lang="en-US" altLang="en-US" dirty="0" smtClean="0"/>
              <a:t>[U(W)]=U(95,000)=ln 95,000 = 11.46163</a:t>
            </a:r>
          </a:p>
          <a:p>
            <a:endParaRPr lang="en-US" altLang="en-US" dirty="0" smtClean="0"/>
          </a:p>
          <a:p>
            <a:endParaRPr lang="en-US" altLang="en-US" dirty="0" smtClean="0"/>
          </a:p>
        </p:txBody>
      </p:sp>
    </p:spTree>
    <p:extLst>
      <p:ext uri="{BB962C8B-B14F-4D97-AF65-F5344CB8AC3E}">
        <p14:creationId xmlns:p14="http://schemas.microsoft.com/office/powerpoint/2010/main" val="27787056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7.2	Willingness to Pay for Insurance</a:t>
            </a:r>
          </a:p>
        </p:txBody>
      </p:sp>
      <p:sp>
        <p:nvSpPr>
          <p:cNvPr id="5427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D705D010-48B6-4A09-85CA-D40D2E471057}" type="slidenum">
              <a:rPr lang="en-US" smtClean="0"/>
              <a:pPr>
                <a:defRPr/>
              </a:pPr>
              <a:t>25</a:t>
            </a:fld>
            <a:endParaRPr lang="en-US" dirty="0"/>
          </a:p>
        </p:txBody>
      </p:sp>
      <p:sp>
        <p:nvSpPr>
          <p:cNvPr id="54275" name="Content Placeholder 2"/>
          <p:cNvSpPr>
            <a:spLocks noGrp="1"/>
          </p:cNvSpPr>
          <p:nvPr>
            <p:ph type="body" sz="quarter" idx="12"/>
          </p:nvPr>
        </p:nvSpPr>
        <p:spPr>
          <a:prstGeom prst="rect">
            <a:avLst/>
          </a:prstGeom>
        </p:spPr>
        <p:txBody>
          <a:bodyPr/>
          <a:lstStyle/>
          <a:p>
            <a:pPr lvl="1"/>
            <a:r>
              <a:rPr lang="en-US" altLang="en-US" dirty="0"/>
              <a:t>Expected utility </a:t>
            </a:r>
            <a:r>
              <a:rPr lang="en-US" altLang="en-US" dirty="0" smtClean="0"/>
              <a:t>from a policy charging maximum insurance premium:</a:t>
            </a:r>
            <a:endParaRPr lang="en-US" altLang="en-US" dirty="0"/>
          </a:p>
          <a:p>
            <a:pPr lvl="2"/>
            <a:r>
              <a:rPr lang="en-US" altLang="en-US" dirty="0" err="1" smtClean="0"/>
              <a:t>E</a:t>
            </a:r>
            <a:r>
              <a:rPr lang="en-US" altLang="en-US" baseline="-25000" dirty="0" err="1" smtClean="0"/>
              <a:t>wtp</a:t>
            </a:r>
            <a:r>
              <a:rPr lang="en-US" altLang="en-US" dirty="0" smtClean="0"/>
              <a:t>[U(W)]= U(100,000 – x) = ln (100,000 – x) =11.45714</a:t>
            </a:r>
          </a:p>
          <a:p>
            <a:pPr lvl="1"/>
            <a:r>
              <a:rPr lang="en-US" altLang="en-US" dirty="0" smtClean="0"/>
              <a:t>So x=5,426</a:t>
            </a:r>
          </a:p>
          <a:p>
            <a:r>
              <a:rPr lang="en-US" altLang="en-US" dirty="0" smtClean="0"/>
              <a:t>This person </a:t>
            </a:r>
          </a:p>
          <a:p>
            <a:pPr lvl="1"/>
            <a:r>
              <a:rPr lang="en-US" altLang="en-US" dirty="0" smtClean="0"/>
              <a:t>Would be willing to pay up to $426 in administrative costs to an insurance company</a:t>
            </a:r>
          </a:p>
          <a:p>
            <a:pPr lvl="1"/>
            <a:r>
              <a:rPr lang="en-US" altLang="en-US" dirty="0" smtClean="0"/>
              <a:t>In addition to the $5,000 premium to cover the expected value of the loss</a:t>
            </a:r>
          </a:p>
          <a:p>
            <a:pPr lvl="1"/>
            <a:r>
              <a:rPr lang="en-US" altLang="en-US" dirty="0" smtClean="0"/>
              <a:t>Is as well off as he or she would be when facing the world uninsured</a:t>
            </a:r>
          </a:p>
        </p:txBody>
      </p:sp>
    </p:spTree>
    <p:extLst>
      <p:ext uri="{BB962C8B-B14F-4D97-AF65-F5344CB8AC3E}">
        <p14:creationId xmlns:p14="http://schemas.microsoft.com/office/powerpoint/2010/main" val="2472310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smtClean="0"/>
              <a:t>Measuring Risk Aversion</a:t>
            </a:r>
          </a:p>
        </p:txBody>
      </p:sp>
      <p:sp>
        <p:nvSpPr>
          <p:cNvPr id="6148" name="Rectangle 3"/>
          <p:cNvSpPr>
            <a:spLocks noGrp="1" noChangeArrowheads="1"/>
          </p:cNvSpPr>
          <p:nvPr>
            <p:ph idx="1"/>
          </p:nvPr>
        </p:nvSpPr>
        <p:spPr/>
        <p:txBody>
          <a:bodyPr/>
          <a:lstStyle/>
          <a:p>
            <a:r>
              <a:rPr lang="en-US" altLang="en-US" smtClean="0"/>
              <a:t>The most commonly used risk aversion measure was developed by Pratt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CCB69CE-8951-4DC0-9180-12BD445D64E7}" type="slidenum">
              <a:rPr lang="en-US" smtClean="0"/>
              <a:pPr>
                <a:defRPr/>
              </a:pPr>
              <a:t>26</a:t>
            </a:fld>
            <a:endParaRPr lang="en-US"/>
          </a:p>
        </p:txBody>
      </p:sp>
      <p:sp>
        <p:nvSpPr>
          <p:cNvPr id="2" name="Text Placeholder 1"/>
          <p:cNvSpPr>
            <a:spLocks noGrp="1"/>
          </p:cNvSpPr>
          <p:nvPr>
            <p:ph type="body" sz="quarter" idx="12"/>
          </p:nvPr>
        </p:nvSpPr>
        <p:spPr>
          <a:xfrm>
            <a:off x="304800" y="3657600"/>
            <a:ext cx="8534400" cy="2514600"/>
          </a:xfrm>
        </p:spPr>
        <p:txBody>
          <a:bodyPr/>
          <a:lstStyle/>
          <a:p>
            <a:pPr>
              <a:buFontTx/>
              <a:buChar char="•"/>
            </a:pPr>
            <a:r>
              <a:rPr lang="en-US" altLang="en-US" sz="3200" dirty="0"/>
              <a:t>For risk averse individuals, </a:t>
            </a:r>
            <a:r>
              <a:rPr lang="en-US" altLang="en-US" sz="3200" i="1" dirty="0"/>
              <a:t>U”</a:t>
            </a:r>
            <a:r>
              <a:rPr lang="en-US" altLang="en-US" sz="3200" dirty="0"/>
              <a:t>(</a:t>
            </a:r>
            <a:r>
              <a:rPr lang="en-US" altLang="en-US" sz="3200" i="1" dirty="0"/>
              <a:t>W</a:t>
            </a:r>
            <a:r>
              <a:rPr lang="en-US" altLang="en-US" sz="3200" dirty="0"/>
              <a:t>) &lt; 0</a:t>
            </a:r>
          </a:p>
          <a:p>
            <a:pPr lvl="1">
              <a:buFontTx/>
              <a:buChar char="–"/>
            </a:pPr>
            <a:r>
              <a:rPr lang="en-US" altLang="en-US" sz="2800" i="1" dirty="0"/>
              <a:t>r</a:t>
            </a:r>
            <a:r>
              <a:rPr lang="en-US" altLang="en-US" sz="2800" dirty="0"/>
              <a:t>(</a:t>
            </a:r>
            <a:r>
              <a:rPr lang="en-US" altLang="en-US" sz="2800" i="1" dirty="0"/>
              <a:t>W</a:t>
            </a:r>
            <a:r>
              <a:rPr lang="en-US" altLang="en-US" sz="2800" dirty="0"/>
              <a:t>) will be positive for risk averse individuals</a:t>
            </a:r>
            <a:endParaRPr lang="en-US" altLang="en-US" sz="2800" i="1" dirty="0"/>
          </a:p>
          <a:p>
            <a:pPr lvl="1">
              <a:buFontTx/>
              <a:buChar char="–"/>
            </a:pPr>
            <a:r>
              <a:rPr lang="en-US" altLang="en-US" sz="2800" i="1" dirty="0"/>
              <a:t>r</a:t>
            </a:r>
            <a:r>
              <a:rPr lang="en-US" altLang="en-US" sz="2800" dirty="0"/>
              <a:t>(</a:t>
            </a:r>
            <a:r>
              <a:rPr lang="en-US" altLang="en-US" sz="2800" i="1" dirty="0"/>
              <a:t>W</a:t>
            </a:r>
            <a:r>
              <a:rPr lang="en-US" altLang="en-US" sz="2800" dirty="0"/>
              <a:t>) is not affected by which von Neumann-</a:t>
            </a:r>
            <a:r>
              <a:rPr lang="en-US" altLang="en-US" sz="2800" dirty="0" err="1"/>
              <a:t>Morganstern</a:t>
            </a:r>
            <a:r>
              <a:rPr lang="en-US" altLang="en-US" sz="2800" dirty="0"/>
              <a:t> ordering is </a:t>
            </a:r>
            <a:r>
              <a:rPr lang="en-US" altLang="en-US" sz="2800" dirty="0" smtClean="0"/>
              <a:t>used</a:t>
            </a:r>
            <a:endParaRPr lang="en-US" altLang="en-US" sz="2800" i="1" dirty="0"/>
          </a:p>
        </p:txBody>
      </p:sp>
      <p:graphicFrame>
        <p:nvGraphicFramePr>
          <p:cNvPr id="421892" name="Object 2"/>
          <p:cNvGraphicFramePr>
            <a:graphicFrameLocks noChangeAspect="1"/>
          </p:cNvGraphicFramePr>
          <p:nvPr>
            <p:extLst>
              <p:ext uri="{D42A27DB-BD31-4B8C-83A1-F6EECF244321}">
                <p14:modId xmlns:p14="http://schemas.microsoft.com/office/powerpoint/2010/main" val="807949757"/>
              </p:ext>
            </p:extLst>
          </p:nvPr>
        </p:nvGraphicFramePr>
        <p:xfrm>
          <a:off x="2209800" y="2438400"/>
          <a:ext cx="2727325" cy="1000125"/>
        </p:xfrm>
        <a:graphic>
          <a:graphicData uri="http://schemas.openxmlformats.org/presentationml/2006/ole">
            <mc:AlternateContent xmlns:mc="http://schemas.openxmlformats.org/markup-compatibility/2006">
              <mc:Choice xmlns:v="urn:schemas-microsoft-com:vml" Requires="v">
                <p:oleObj spid="_x0000_s145420" name="Equation" r:id="rId3" imgW="1143000" imgH="419040" progId="Equation.DSMT4">
                  <p:embed/>
                </p:oleObj>
              </mc:Choice>
              <mc:Fallback>
                <p:oleObj name="Equation" r:id="rId3" imgW="11430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438400"/>
                        <a:ext cx="2727325"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89475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21892"/>
                                        </p:tgtEl>
                                        <p:attrNameLst>
                                          <p:attrName>style.visibility</p:attrName>
                                        </p:attrNameLst>
                                      </p:cBhvr>
                                      <p:to>
                                        <p:strVal val="visible"/>
                                      </p:to>
                                    </p:set>
                                    <p:animEffect transition="in" filter="wipe(left)">
                                      <p:cBhvr>
                                        <p:cTn id="7" dur="500"/>
                                        <p:tgtEl>
                                          <p:spTgt spid="42189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smtClean="0"/>
              <a:t>Measuring Risk Aversion</a:t>
            </a:r>
          </a:p>
        </p:txBody>
      </p:sp>
      <p:sp>
        <p:nvSpPr>
          <p:cNvPr id="55299" name="Rectangle 3"/>
          <p:cNvSpPr>
            <a:spLocks noGrp="1" noChangeArrowheads="1"/>
          </p:cNvSpPr>
          <p:nvPr>
            <p:ph idx="1"/>
          </p:nvPr>
        </p:nvSpPr>
        <p:spPr/>
        <p:txBody>
          <a:bodyPr/>
          <a:lstStyle/>
          <a:p>
            <a:r>
              <a:rPr lang="en-US" altLang="en-US" smtClean="0"/>
              <a:t>The Pratt measure of risk aversion </a:t>
            </a:r>
          </a:p>
          <a:p>
            <a:pPr lvl="1"/>
            <a:r>
              <a:rPr lang="en-US" altLang="en-US" smtClean="0"/>
              <a:t>Is proportional to the amount an individual will pay to avoid a fair gamble</a:t>
            </a:r>
          </a:p>
          <a:p>
            <a:pPr lvl="1"/>
            <a:r>
              <a:rPr lang="en-US" altLang="en-US" smtClean="0"/>
              <a:t> </a:t>
            </a:r>
            <a:r>
              <a:rPr lang="en-US" altLang="en-US" i="1" smtClean="0"/>
              <a:t>h</a:t>
            </a:r>
            <a:r>
              <a:rPr lang="en-US" altLang="en-US" smtClean="0"/>
              <a:t> - winnings from a fair bet, </a:t>
            </a:r>
            <a:r>
              <a:rPr lang="en-US" altLang="en-US" i="1" smtClean="0">
                <a:solidFill>
                  <a:srgbClr val="FF0000"/>
                </a:solidFill>
              </a:rPr>
              <a:t>E(h) = 0</a:t>
            </a:r>
          </a:p>
          <a:p>
            <a:pPr lvl="1"/>
            <a:r>
              <a:rPr lang="en-US" altLang="en-US" smtClean="0"/>
              <a:t> </a:t>
            </a:r>
            <a:r>
              <a:rPr lang="en-US" altLang="en-US" i="1" smtClean="0"/>
              <a:t>p</a:t>
            </a:r>
            <a:r>
              <a:rPr lang="en-US" altLang="en-US" smtClean="0"/>
              <a:t> - size of the insurance premium </a:t>
            </a:r>
          </a:p>
          <a:p>
            <a:pPr lvl="2"/>
            <a:r>
              <a:rPr lang="en-US" altLang="en-US" smtClean="0"/>
              <a:t>That would make the individual exactly indifferent between taking the fair bet </a:t>
            </a:r>
            <a:r>
              <a:rPr lang="en-US" altLang="en-US" i="1" smtClean="0"/>
              <a:t>h</a:t>
            </a:r>
            <a:r>
              <a:rPr lang="en-US" altLang="en-US" smtClean="0"/>
              <a:t> and paying </a:t>
            </a:r>
            <a:r>
              <a:rPr lang="en-US" altLang="en-US" i="1" smtClean="0"/>
              <a:t>p</a:t>
            </a:r>
            <a:r>
              <a:rPr lang="en-US" altLang="en-US" smtClean="0"/>
              <a:t> with certainty to avoid the gamble</a:t>
            </a:r>
            <a:endParaRPr lang="en-US" altLang="en-US" smtClean="0">
              <a:solidFill>
                <a:srgbClr val="FF0000"/>
              </a:solidFill>
            </a:endParaRPr>
          </a:p>
          <a:p>
            <a:pPr algn="ctr">
              <a:buFontTx/>
              <a:buNone/>
            </a:pPr>
            <a:r>
              <a:rPr lang="en-US" altLang="en-US" sz="3200" i="1" smtClean="0">
                <a:solidFill>
                  <a:srgbClr val="FF0000"/>
                </a:solidFill>
              </a:rPr>
              <a:t>E[U(W + h)] = U(W - p)</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B272145-1FBD-4303-8161-3494D6744B78}" type="slidenum">
              <a:rPr lang="en-US" smtClean="0"/>
              <a:pPr>
                <a:defRPr/>
              </a:pPr>
              <a:t>27</a:t>
            </a:fld>
            <a:endParaRPr lang="en-US"/>
          </a:p>
        </p:txBody>
      </p:sp>
    </p:spTree>
    <p:extLst>
      <p:ext uri="{BB962C8B-B14F-4D97-AF65-F5344CB8AC3E}">
        <p14:creationId xmlns:p14="http://schemas.microsoft.com/office/powerpoint/2010/main" val="14397731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smtClean="0"/>
              <a:t>Measuring Risk Aversion</a:t>
            </a:r>
          </a:p>
        </p:txBody>
      </p:sp>
      <p:sp>
        <p:nvSpPr>
          <p:cNvPr id="56323" name="Rectangle 3"/>
          <p:cNvSpPr>
            <a:spLocks noGrp="1" noChangeArrowheads="1"/>
          </p:cNvSpPr>
          <p:nvPr>
            <p:ph idx="1"/>
          </p:nvPr>
        </p:nvSpPr>
        <p:spPr/>
        <p:txBody>
          <a:bodyPr/>
          <a:lstStyle/>
          <a:p>
            <a:r>
              <a:rPr lang="en-US" altLang="en-US" smtClean="0"/>
              <a:t>Expand both sides of the equation using Taylor’s series</a:t>
            </a:r>
          </a:p>
          <a:p>
            <a:pPr lvl="1"/>
            <a:r>
              <a:rPr lang="en-US" altLang="en-US" smtClean="0"/>
              <a:t>Because </a:t>
            </a:r>
            <a:r>
              <a:rPr lang="en-US" altLang="en-US" i="1" smtClean="0"/>
              <a:t>p</a:t>
            </a:r>
            <a:r>
              <a:rPr lang="en-US" altLang="en-US" smtClean="0"/>
              <a:t> is a fixed amount, we can use a simple linear approximation to the right-hand side</a:t>
            </a:r>
          </a:p>
          <a:p>
            <a:r>
              <a:rPr lang="en-US" altLang="en-US" sz="2800" i="1" smtClean="0">
                <a:solidFill>
                  <a:srgbClr val="FF0000"/>
                </a:solidFill>
              </a:rPr>
              <a:t>U(W - p) = U(W) - pU’(W) + higher order terms</a:t>
            </a:r>
          </a:p>
          <a:p>
            <a:r>
              <a:rPr lang="en-US" altLang="en-US" sz="2800" i="1" smtClean="0">
                <a:solidFill>
                  <a:srgbClr val="FF0000"/>
                </a:solidFill>
              </a:rPr>
              <a:t>E[U(W + h)] = E[U(W) - hU’(W) + h</a:t>
            </a:r>
            <a:r>
              <a:rPr lang="en-US" altLang="en-US" sz="2800" i="1" baseline="30000" smtClean="0">
                <a:solidFill>
                  <a:srgbClr val="FF0000"/>
                </a:solidFill>
              </a:rPr>
              <a:t>2</a:t>
            </a:r>
            <a:r>
              <a:rPr lang="en-US" altLang="en-US" sz="2800" i="1" smtClean="0">
                <a:solidFill>
                  <a:srgbClr val="FF0000"/>
                </a:solidFill>
              </a:rPr>
              <a:t>/2 U” (W) + higher order terms</a:t>
            </a:r>
          </a:p>
          <a:p>
            <a:r>
              <a:rPr lang="en-US" altLang="en-US" sz="2800" i="1" smtClean="0">
                <a:solidFill>
                  <a:srgbClr val="FF0000"/>
                </a:solidFill>
              </a:rPr>
              <a:t>E[U(W + h)] = U(W) - E(h)U’(W) + E(h</a:t>
            </a:r>
            <a:r>
              <a:rPr lang="en-US" altLang="en-US" sz="2800" i="1" baseline="30000" smtClean="0">
                <a:solidFill>
                  <a:srgbClr val="FF0000"/>
                </a:solidFill>
              </a:rPr>
              <a:t>2</a:t>
            </a:r>
            <a:r>
              <a:rPr lang="en-US" altLang="en-US" sz="2800" i="1" smtClean="0">
                <a:solidFill>
                  <a:srgbClr val="FF0000"/>
                </a:solidFill>
              </a:rPr>
              <a:t>)/2 U” (W) + higher order terms</a:t>
            </a:r>
          </a:p>
          <a:p>
            <a:pPr algn="ctr">
              <a:buFontTx/>
              <a:buNone/>
            </a:pPr>
            <a:endParaRPr lang="en-US" altLang="en-US" sz="320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301FA21-4018-453B-B8A4-E2E3DF3AEB45}" type="slidenum">
              <a:rPr lang="en-US" smtClean="0"/>
              <a:pPr>
                <a:defRPr/>
              </a:pPr>
              <a:t>28</a:t>
            </a:fld>
            <a:endParaRPr lang="en-US"/>
          </a:p>
        </p:txBody>
      </p:sp>
    </p:spTree>
    <p:extLst>
      <p:ext uri="{BB962C8B-B14F-4D97-AF65-F5344CB8AC3E}">
        <p14:creationId xmlns:p14="http://schemas.microsoft.com/office/powerpoint/2010/main" val="24217596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7012" name="Object 2"/>
          <p:cNvGraphicFramePr>
            <a:graphicFrameLocks noChangeAspect="1"/>
          </p:cNvGraphicFramePr>
          <p:nvPr>
            <p:extLst>
              <p:ext uri="{D42A27DB-BD31-4B8C-83A1-F6EECF244321}">
                <p14:modId xmlns:p14="http://schemas.microsoft.com/office/powerpoint/2010/main" val="3197803931"/>
              </p:ext>
            </p:extLst>
          </p:nvPr>
        </p:nvGraphicFramePr>
        <p:xfrm>
          <a:off x="1412875" y="3276600"/>
          <a:ext cx="6276975" cy="1779588"/>
        </p:xfrm>
        <a:graphic>
          <a:graphicData uri="http://schemas.openxmlformats.org/presentationml/2006/ole">
            <mc:AlternateContent xmlns:mc="http://schemas.openxmlformats.org/markup-compatibility/2006">
              <mc:Choice xmlns:v="urn:schemas-microsoft-com:vml" Requires="v">
                <p:oleObj spid="_x0000_s146445" name="Equation" r:id="rId3" imgW="2234880" imgH="634680" progId="Equation.DSMT4">
                  <p:embed/>
                </p:oleObj>
              </mc:Choice>
              <mc:Fallback>
                <p:oleObj name="Equation" r:id="rId3" imgW="2234880" imgH="634680" progId="Equation.DSMT4">
                  <p:embed/>
                  <p:pic>
                    <p:nvPicPr>
                      <p:cNvPr id="0" name=""/>
                      <p:cNvPicPr>
                        <a:picLocks noChangeAspect="1" noChangeArrowheads="1"/>
                      </p:cNvPicPr>
                      <p:nvPr/>
                    </p:nvPicPr>
                    <p:blipFill>
                      <a:blip r:embed="rId4"/>
                      <a:srcRect/>
                      <a:stretch>
                        <a:fillRect/>
                      </a:stretch>
                    </p:blipFill>
                    <p:spPr bwMode="auto">
                      <a:xfrm>
                        <a:off x="1412875" y="3276600"/>
                        <a:ext cx="6276975" cy="177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 name="Rectangle 8"/>
          <p:cNvSpPr>
            <a:spLocks noGrp="1" noChangeArrowheads="1"/>
          </p:cNvSpPr>
          <p:nvPr>
            <p:ph type="title"/>
          </p:nvPr>
        </p:nvSpPr>
        <p:spPr/>
        <p:txBody>
          <a:bodyPr/>
          <a:lstStyle/>
          <a:p>
            <a:r>
              <a:rPr lang="en-US" altLang="en-US" smtClean="0"/>
              <a:t>Measuring Risk Aversion</a:t>
            </a:r>
          </a:p>
        </p:txBody>
      </p:sp>
      <p:sp>
        <p:nvSpPr>
          <p:cNvPr id="7172" name="Rectangle 9"/>
          <p:cNvSpPr>
            <a:spLocks noGrp="1" noChangeArrowheads="1"/>
          </p:cNvSpPr>
          <p:nvPr>
            <p:ph idx="1"/>
          </p:nvPr>
        </p:nvSpPr>
        <p:spPr/>
        <p:txBody>
          <a:bodyPr/>
          <a:lstStyle/>
          <a:p>
            <a:pPr lvl="1"/>
            <a:r>
              <a:rPr lang="en-US" altLang="en-US" i="1" smtClean="0"/>
              <a:t>E</a:t>
            </a:r>
            <a:r>
              <a:rPr lang="en-US" altLang="en-US" smtClean="0"/>
              <a:t>(</a:t>
            </a:r>
            <a:r>
              <a:rPr lang="en-US" altLang="en-US" i="1" smtClean="0"/>
              <a:t>h</a:t>
            </a:r>
            <a:r>
              <a:rPr lang="en-US" altLang="en-US" smtClean="0"/>
              <a:t>)=0</a:t>
            </a:r>
          </a:p>
          <a:p>
            <a:pPr lvl="1"/>
            <a:r>
              <a:rPr lang="en-US" altLang="en-US" smtClean="0"/>
              <a:t>Drop the higher order terms</a:t>
            </a:r>
          </a:p>
          <a:p>
            <a:pPr lvl="1"/>
            <a:r>
              <a:rPr lang="en-US" altLang="en-US" smtClean="0"/>
              <a:t>Substituting </a:t>
            </a:r>
            <a:r>
              <a:rPr lang="en-US" altLang="en-US" i="1" smtClean="0"/>
              <a:t>k</a:t>
            </a:r>
            <a:r>
              <a:rPr lang="en-US" altLang="en-US" smtClean="0"/>
              <a:t> for </a:t>
            </a:r>
            <a:r>
              <a:rPr lang="en-US" altLang="en-US" i="1" smtClean="0"/>
              <a:t>E</a:t>
            </a:r>
            <a:r>
              <a:rPr lang="en-US" altLang="en-US" smtClean="0"/>
              <a:t>(</a:t>
            </a:r>
            <a:r>
              <a:rPr lang="en-US" altLang="en-US" i="1" smtClean="0"/>
              <a:t>h</a:t>
            </a:r>
            <a:r>
              <a:rPr lang="en-US" altLang="en-US" baseline="30000" smtClean="0"/>
              <a:t>2</a:t>
            </a:r>
            <a:r>
              <a:rPr lang="en-US" altLang="en-US" smtClean="0"/>
              <a:t>)/2, we get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B45CB78F-715E-4EA8-982B-FFBD0F67784E}" type="slidenum">
              <a:rPr lang="en-US" smtClean="0"/>
              <a:pPr>
                <a:defRPr/>
              </a:pPr>
              <a:t>29</a:t>
            </a:fld>
            <a:endParaRPr lang="en-US"/>
          </a:p>
        </p:txBody>
      </p:sp>
    </p:spTree>
    <p:extLst>
      <p:ext uri="{BB962C8B-B14F-4D97-AF65-F5344CB8AC3E}">
        <p14:creationId xmlns:p14="http://schemas.microsoft.com/office/powerpoint/2010/main" val="1651751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27012"/>
                                        </p:tgtEl>
                                        <p:attrNameLst>
                                          <p:attrName>style.visibility</p:attrName>
                                        </p:attrNameLst>
                                      </p:cBhvr>
                                      <p:to>
                                        <p:strVal val="visible"/>
                                      </p:to>
                                    </p:set>
                                    <p:animEffect transition="in" filter="wipe(left)">
                                      <p:cBhvr>
                                        <p:cTn id="7" dur="500"/>
                                        <p:tgtEl>
                                          <p:spTgt spid="427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smtClean="0"/>
              <a:t>Risk Aversion and Wealth</a:t>
            </a:r>
          </a:p>
        </p:txBody>
      </p:sp>
      <p:sp>
        <p:nvSpPr>
          <p:cNvPr id="57347" name="Rectangle 3"/>
          <p:cNvSpPr>
            <a:spLocks noGrp="1" noChangeArrowheads="1"/>
          </p:cNvSpPr>
          <p:nvPr>
            <p:ph idx="1"/>
          </p:nvPr>
        </p:nvSpPr>
        <p:spPr/>
        <p:txBody>
          <a:bodyPr/>
          <a:lstStyle/>
          <a:p>
            <a:r>
              <a:rPr lang="en-US" altLang="en-US" smtClean="0"/>
              <a:t>It is not necessarily true that risk aversion declines as wealth increases</a:t>
            </a:r>
          </a:p>
          <a:p>
            <a:pPr lvl="1"/>
            <a:r>
              <a:rPr lang="en-US" altLang="en-US" smtClean="0"/>
              <a:t>Diminishing marginal utility </a:t>
            </a:r>
          </a:p>
          <a:p>
            <a:pPr lvl="2"/>
            <a:r>
              <a:rPr lang="en-US" altLang="en-US" smtClean="0"/>
              <a:t>Would make potential losses less serious for high-wealth individuals</a:t>
            </a:r>
          </a:p>
          <a:p>
            <a:pPr lvl="2"/>
            <a:r>
              <a:rPr lang="en-US" altLang="en-US" smtClean="0"/>
              <a:t>Makes the gains from winning gambles less attractive</a:t>
            </a:r>
          </a:p>
          <a:p>
            <a:pPr lvl="1"/>
            <a:r>
              <a:rPr lang="en-US" altLang="en-US" smtClean="0"/>
              <a:t>The net result depends on the shape of the utility function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0C6145-EABF-480C-9E94-578D5560DF95}" type="slidenum">
              <a:rPr lang="en-US" smtClean="0"/>
              <a:pPr>
                <a:defRPr/>
              </a:pPr>
              <a:t>30</a:t>
            </a:fld>
            <a:endParaRPr lang="en-US"/>
          </a:p>
        </p:txBody>
      </p:sp>
    </p:spTree>
    <p:extLst>
      <p:ext uri="{BB962C8B-B14F-4D97-AF65-F5344CB8AC3E}">
        <p14:creationId xmlns:p14="http://schemas.microsoft.com/office/powerpoint/2010/main" val="21397929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smtClean="0"/>
              <a:t>Risk Aversion and Wealth</a:t>
            </a:r>
          </a:p>
        </p:txBody>
      </p:sp>
      <p:sp>
        <p:nvSpPr>
          <p:cNvPr id="8196" name="Rectangle 3"/>
          <p:cNvSpPr>
            <a:spLocks noGrp="1" noChangeArrowheads="1"/>
          </p:cNvSpPr>
          <p:nvPr>
            <p:ph idx="1"/>
          </p:nvPr>
        </p:nvSpPr>
        <p:spPr/>
        <p:txBody>
          <a:bodyPr/>
          <a:lstStyle/>
          <a:p>
            <a:r>
              <a:rPr lang="en-US" altLang="en-US" dirty="0" smtClean="0"/>
              <a:t>If utility is quadratic in wealth, </a:t>
            </a:r>
          </a:p>
          <a:p>
            <a:pPr>
              <a:buFontTx/>
              <a:buNone/>
            </a:pPr>
            <a:r>
              <a:rPr lang="en-US" altLang="en-US" sz="3200" i="1" dirty="0" smtClean="0">
                <a:solidFill>
                  <a:srgbClr val="FF0000"/>
                </a:solidFill>
              </a:rPr>
              <a:t>	U</a:t>
            </a:r>
            <a:r>
              <a:rPr lang="en-US" altLang="en-US" sz="3200" dirty="0" smtClean="0">
                <a:solidFill>
                  <a:srgbClr val="FF0000"/>
                </a:solidFill>
              </a:rPr>
              <a:t>(</a:t>
            </a:r>
            <a:r>
              <a:rPr lang="en-US" altLang="en-US" sz="3200" i="1" dirty="0" smtClean="0">
                <a:solidFill>
                  <a:srgbClr val="FF0000"/>
                </a:solidFill>
              </a:rPr>
              <a:t>W</a:t>
            </a:r>
            <a:r>
              <a:rPr lang="en-US" altLang="en-US" sz="3200" dirty="0" smtClean="0">
                <a:solidFill>
                  <a:srgbClr val="FF0000"/>
                </a:solidFill>
              </a:rPr>
              <a:t>) = </a:t>
            </a:r>
            <a:r>
              <a:rPr lang="en-US" altLang="en-US" sz="3200" i="1" dirty="0" smtClean="0">
                <a:solidFill>
                  <a:srgbClr val="FF0000"/>
                </a:solidFill>
              </a:rPr>
              <a:t>a</a:t>
            </a:r>
            <a:r>
              <a:rPr lang="en-US" altLang="en-US" sz="3200" dirty="0" smtClean="0">
                <a:solidFill>
                  <a:srgbClr val="FF0000"/>
                </a:solidFill>
              </a:rPr>
              <a:t> + </a:t>
            </a:r>
            <a:r>
              <a:rPr lang="en-US" altLang="en-US" sz="3200" i="1" dirty="0" err="1" smtClean="0">
                <a:solidFill>
                  <a:srgbClr val="FF0000"/>
                </a:solidFill>
              </a:rPr>
              <a:t>bW</a:t>
            </a:r>
            <a:r>
              <a:rPr lang="en-US" altLang="en-US" sz="3200" dirty="0" smtClean="0">
                <a:solidFill>
                  <a:srgbClr val="FF0000"/>
                </a:solidFill>
              </a:rPr>
              <a:t> + </a:t>
            </a:r>
            <a:r>
              <a:rPr lang="en-US" altLang="en-US" sz="3200" i="1" dirty="0" err="1" smtClean="0">
                <a:solidFill>
                  <a:srgbClr val="FF0000"/>
                </a:solidFill>
              </a:rPr>
              <a:t>cW</a:t>
            </a:r>
            <a:r>
              <a:rPr lang="en-US" altLang="en-US" sz="3200" baseline="30000" dirty="0" smtClean="0">
                <a:solidFill>
                  <a:srgbClr val="FF0000"/>
                </a:solidFill>
              </a:rPr>
              <a:t> 2</a:t>
            </a:r>
            <a:endParaRPr lang="en-US" altLang="en-US" sz="3200" dirty="0" smtClean="0">
              <a:solidFill>
                <a:srgbClr val="FF0000"/>
              </a:solidFill>
            </a:endParaRPr>
          </a:p>
          <a:p>
            <a:pPr lvl="1"/>
            <a:r>
              <a:rPr lang="en-US" altLang="en-US" dirty="0" smtClean="0"/>
              <a:t>Where </a:t>
            </a:r>
            <a:r>
              <a:rPr lang="en-US" altLang="en-US" i="1" dirty="0" smtClean="0"/>
              <a:t>b</a:t>
            </a:r>
            <a:r>
              <a:rPr lang="en-US" altLang="en-US" dirty="0" smtClean="0"/>
              <a:t> &gt; 0 and </a:t>
            </a:r>
            <a:r>
              <a:rPr lang="en-US" altLang="en-US" i="1" dirty="0" smtClean="0"/>
              <a:t>c</a:t>
            </a:r>
            <a:r>
              <a:rPr lang="en-US" altLang="en-US" dirty="0" smtClean="0"/>
              <a:t> &lt; 0</a:t>
            </a:r>
          </a:p>
          <a:p>
            <a:pPr lvl="1"/>
            <a:r>
              <a:rPr lang="en-US" altLang="en-US" dirty="0" smtClean="0"/>
              <a:t>Pratt’s risk aversion measure is</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331A1045-4018-4754-A810-AFE79BB201A0}" type="slidenum">
              <a:rPr lang="en-US" smtClean="0"/>
              <a:pPr>
                <a:defRPr/>
              </a:pPr>
              <a:t>31</a:t>
            </a:fld>
            <a:endParaRPr lang="en-US"/>
          </a:p>
        </p:txBody>
      </p:sp>
      <p:sp>
        <p:nvSpPr>
          <p:cNvPr id="2" name="Text Placeholder 1"/>
          <p:cNvSpPr>
            <a:spLocks noGrp="1"/>
          </p:cNvSpPr>
          <p:nvPr>
            <p:ph type="body" sz="quarter" idx="12"/>
          </p:nvPr>
        </p:nvSpPr>
        <p:spPr>
          <a:xfrm>
            <a:off x="381000" y="4724400"/>
            <a:ext cx="8534400" cy="1524000"/>
          </a:xfrm>
        </p:spPr>
        <p:txBody>
          <a:bodyPr/>
          <a:lstStyle/>
          <a:p>
            <a:pPr lvl="1"/>
            <a:r>
              <a:rPr lang="en-US" altLang="en-US" dirty="0"/>
              <a:t>Risk aversion increases as wealth </a:t>
            </a:r>
            <a:r>
              <a:rPr lang="en-US" altLang="en-US" dirty="0" smtClean="0"/>
              <a:t>increases</a:t>
            </a:r>
            <a:endParaRPr lang="en-US" altLang="en-US" dirty="0"/>
          </a:p>
        </p:txBody>
      </p:sp>
      <p:graphicFrame>
        <p:nvGraphicFramePr>
          <p:cNvPr id="429060" name="Object 2"/>
          <p:cNvGraphicFramePr>
            <a:graphicFrameLocks noChangeAspect="1"/>
          </p:cNvGraphicFramePr>
          <p:nvPr>
            <p:extLst>
              <p:ext uri="{D42A27DB-BD31-4B8C-83A1-F6EECF244321}">
                <p14:modId xmlns:p14="http://schemas.microsoft.com/office/powerpoint/2010/main" val="575020205"/>
              </p:ext>
            </p:extLst>
          </p:nvPr>
        </p:nvGraphicFramePr>
        <p:xfrm>
          <a:off x="1303338" y="3665538"/>
          <a:ext cx="4621212" cy="1058862"/>
        </p:xfrm>
        <a:graphic>
          <a:graphicData uri="http://schemas.openxmlformats.org/presentationml/2006/ole">
            <mc:AlternateContent xmlns:mc="http://schemas.openxmlformats.org/markup-compatibility/2006">
              <mc:Choice xmlns:v="urn:schemas-microsoft-com:vml" Requires="v">
                <p:oleObj spid="_x0000_s147468" name="Equation" r:id="rId3" imgW="1828800" imgH="419040" progId="Equation.DSMT4">
                  <p:embed/>
                </p:oleObj>
              </mc:Choice>
              <mc:Fallback>
                <p:oleObj name="Equation" r:id="rId3" imgW="18288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338" y="3665538"/>
                        <a:ext cx="4621212" cy="1058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06208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29060"/>
                                        </p:tgtEl>
                                        <p:attrNameLst>
                                          <p:attrName>style.visibility</p:attrName>
                                        </p:attrNameLst>
                                      </p:cBhvr>
                                      <p:to>
                                        <p:strVal val="visible"/>
                                      </p:to>
                                    </p:set>
                                    <p:animEffect transition="in" filter="wipe(left)">
                                      <p:cBhvr>
                                        <p:cTn id="7" dur="500"/>
                                        <p:tgtEl>
                                          <p:spTgt spid="42906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smtClean="0"/>
              <a:t>Risk Aversion and Wealth</a:t>
            </a:r>
          </a:p>
        </p:txBody>
      </p:sp>
      <p:sp>
        <p:nvSpPr>
          <p:cNvPr id="9220" name="Rectangle 3"/>
          <p:cNvSpPr>
            <a:spLocks noGrp="1" noChangeArrowheads="1"/>
          </p:cNvSpPr>
          <p:nvPr>
            <p:ph idx="1"/>
          </p:nvPr>
        </p:nvSpPr>
        <p:spPr/>
        <p:txBody>
          <a:bodyPr/>
          <a:lstStyle/>
          <a:p>
            <a:r>
              <a:rPr lang="en-US" altLang="en-US" smtClean="0"/>
              <a:t>If utility is logarithmic in wealth, </a:t>
            </a:r>
          </a:p>
          <a:p>
            <a:pPr>
              <a:buFontTx/>
              <a:buNone/>
            </a:pPr>
            <a:r>
              <a:rPr lang="en-US" altLang="en-US" sz="3200" i="1" smtClean="0">
                <a:solidFill>
                  <a:srgbClr val="FF0000"/>
                </a:solidFill>
              </a:rPr>
              <a:t>	U</a:t>
            </a:r>
            <a:r>
              <a:rPr lang="en-US" altLang="en-US" sz="3200" smtClean="0">
                <a:solidFill>
                  <a:srgbClr val="FF0000"/>
                </a:solidFill>
              </a:rPr>
              <a:t>(</a:t>
            </a:r>
            <a:r>
              <a:rPr lang="en-US" altLang="en-US" sz="3200" i="1" smtClean="0">
                <a:solidFill>
                  <a:srgbClr val="FF0000"/>
                </a:solidFill>
              </a:rPr>
              <a:t>W</a:t>
            </a:r>
            <a:r>
              <a:rPr lang="en-US" altLang="en-US" sz="3200" smtClean="0">
                <a:solidFill>
                  <a:srgbClr val="FF0000"/>
                </a:solidFill>
              </a:rPr>
              <a:t>) = </a:t>
            </a:r>
            <a:r>
              <a:rPr lang="en-US" altLang="en-US" sz="3200" i="1" smtClean="0">
                <a:solidFill>
                  <a:srgbClr val="FF0000"/>
                </a:solidFill>
              </a:rPr>
              <a:t>ln</a:t>
            </a:r>
            <a:r>
              <a:rPr lang="en-US" altLang="en-US" sz="3200" smtClean="0">
                <a:solidFill>
                  <a:srgbClr val="FF0000"/>
                </a:solidFill>
              </a:rPr>
              <a:t> (</a:t>
            </a:r>
            <a:r>
              <a:rPr lang="en-US" altLang="en-US" sz="3200" i="1" smtClean="0">
                <a:solidFill>
                  <a:srgbClr val="FF0000"/>
                </a:solidFill>
              </a:rPr>
              <a:t>W</a:t>
            </a:r>
            <a:r>
              <a:rPr lang="en-US" altLang="en-US" sz="3200" smtClean="0">
                <a:solidFill>
                  <a:srgbClr val="FF0000"/>
                </a:solidFill>
              </a:rPr>
              <a:t> )</a:t>
            </a:r>
          </a:p>
          <a:p>
            <a:pPr lvl="1"/>
            <a:r>
              <a:rPr lang="en-US" altLang="en-US" smtClean="0"/>
              <a:t>Where </a:t>
            </a:r>
            <a:r>
              <a:rPr lang="en-US" altLang="en-US" i="1" smtClean="0"/>
              <a:t>W</a:t>
            </a:r>
            <a:r>
              <a:rPr lang="en-US" altLang="en-US" smtClean="0"/>
              <a:t> &gt; 0</a:t>
            </a:r>
          </a:p>
          <a:p>
            <a:pPr lvl="1"/>
            <a:r>
              <a:rPr lang="en-US" altLang="en-US" smtClean="0"/>
              <a:t>Pratt’s risk aversion measure is</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7D0D866-E8C7-4D1C-877B-EDAF0379F5FB}" type="slidenum">
              <a:rPr lang="en-US" smtClean="0"/>
              <a:pPr>
                <a:defRPr/>
              </a:pPr>
              <a:t>32</a:t>
            </a:fld>
            <a:endParaRPr lang="en-US"/>
          </a:p>
        </p:txBody>
      </p:sp>
      <p:sp>
        <p:nvSpPr>
          <p:cNvPr id="2" name="Text Placeholder 1"/>
          <p:cNvSpPr>
            <a:spLocks noGrp="1"/>
          </p:cNvSpPr>
          <p:nvPr>
            <p:ph type="body" sz="quarter" idx="12"/>
          </p:nvPr>
        </p:nvSpPr>
        <p:spPr>
          <a:xfrm>
            <a:off x="381000" y="4800600"/>
            <a:ext cx="8534400" cy="1447800"/>
          </a:xfrm>
        </p:spPr>
        <p:txBody>
          <a:bodyPr/>
          <a:lstStyle/>
          <a:p>
            <a:pPr lvl="1"/>
            <a:r>
              <a:rPr lang="en-US" altLang="en-US" dirty="0"/>
              <a:t>Risk aversion decreases as wealth </a:t>
            </a:r>
            <a:r>
              <a:rPr lang="en-US" altLang="en-US" dirty="0" smtClean="0"/>
              <a:t>increases</a:t>
            </a:r>
            <a:endParaRPr lang="en-US" altLang="en-US" dirty="0"/>
          </a:p>
        </p:txBody>
      </p:sp>
      <p:graphicFrame>
        <p:nvGraphicFramePr>
          <p:cNvPr id="430084" name="Object 2"/>
          <p:cNvGraphicFramePr>
            <a:graphicFrameLocks noChangeAspect="1"/>
          </p:cNvGraphicFramePr>
          <p:nvPr/>
        </p:nvGraphicFramePr>
        <p:xfrm>
          <a:off x="2201863" y="3587750"/>
          <a:ext cx="3802062" cy="1090613"/>
        </p:xfrm>
        <a:graphic>
          <a:graphicData uri="http://schemas.openxmlformats.org/presentationml/2006/ole">
            <mc:AlternateContent xmlns:mc="http://schemas.openxmlformats.org/markup-compatibility/2006">
              <mc:Choice xmlns:v="urn:schemas-microsoft-com:vml" Requires="v">
                <p:oleObj spid="_x0000_s148492" name="Equation" r:id="rId3" imgW="1460160" imgH="419040" progId="Equation.DSMT4">
                  <p:embed/>
                </p:oleObj>
              </mc:Choice>
              <mc:Fallback>
                <p:oleObj name="Equation" r:id="rId3" imgW="146016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1863" y="3587750"/>
                        <a:ext cx="3802062" cy="1090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0238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0084"/>
                                        </p:tgtEl>
                                        <p:attrNameLst>
                                          <p:attrName>style.visibility</p:attrName>
                                        </p:attrNameLst>
                                      </p:cBhvr>
                                      <p:to>
                                        <p:strVal val="visible"/>
                                      </p:to>
                                    </p:set>
                                    <p:animEffect transition="in" filter="wipe(left)">
                                      <p:cBhvr>
                                        <p:cTn id="7" dur="500"/>
                                        <p:tgtEl>
                                          <p:spTgt spid="43008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smtClean="0"/>
              <a:t>Risk Aversion and Wealth</a:t>
            </a:r>
          </a:p>
        </p:txBody>
      </p:sp>
      <p:sp>
        <p:nvSpPr>
          <p:cNvPr id="10244" name="Rectangle 3"/>
          <p:cNvSpPr>
            <a:spLocks noGrp="1" noChangeArrowheads="1"/>
          </p:cNvSpPr>
          <p:nvPr>
            <p:ph idx="1"/>
          </p:nvPr>
        </p:nvSpPr>
        <p:spPr/>
        <p:txBody>
          <a:bodyPr/>
          <a:lstStyle/>
          <a:p>
            <a:r>
              <a:rPr lang="en-US" altLang="en-US" dirty="0" smtClean="0"/>
              <a:t>If utility is exponential, </a:t>
            </a:r>
          </a:p>
          <a:p>
            <a:pPr>
              <a:buFontTx/>
              <a:buNone/>
            </a:pPr>
            <a:r>
              <a:rPr lang="en-US" altLang="en-US" sz="3200" i="1" dirty="0" smtClean="0">
                <a:solidFill>
                  <a:srgbClr val="FF0000"/>
                </a:solidFill>
              </a:rPr>
              <a:t>	U</a:t>
            </a:r>
            <a:r>
              <a:rPr lang="en-US" altLang="en-US" sz="3200" dirty="0" smtClean="0">
                <a:solidFill>
                  <a:srgbClr val="FF0000"/>
                </a:solidFill>
              </a:rPr>
              <a:t>(</a:t>
            </a:r>
            <a:r>
              <a:rPr lang="en-US" altLang="en-US" sz="3200" i="1" dirty="0" smtClean="0">
                <a:solidFill>
                  <a:srgbClr val="FF0000"/>
                </a:solidFill>
              </a:rPr>
              <a:t>W</a:t>
            </a:r>
            <a:r>
              <a:rPr lang="en-US" altLang="en-US" sz="3200" dirty="0" smtClean="0">
                <a:solidFill>
                  <a:srgbClr val="FF0000"/>
                </a:solidFill>
              </a:rPr>
              <a:t>) = –</a:t>
            </a:r>
            <a:r>
              <a:rPr lang="en-US" altLang="en-US" sz="3200" i="1" dirty="0" smtClean="0">
                <a:solidFill>
                  <a:srgbClr val="FF0000"/>
                </a:solidFill>
              </a:rPr>
              <a:t>e</a:t>
            </a:r>
            <a:r>
              <a:rPr lang="en-US" altLang="en-US" sz="3200" baseline="30000" dirty="0" smtClean="0">
                <a:solidFill>
                  <a:srgbClr val="FF0000"/>
                </a:solidFill>
              </a:rPr>
              <a:t>–</a:t>
            </a:r>
            <a:r>
              <a:rPr lang="en-US" altLang="en-US" sz="3200" i="1" baseline="30000" dirty="0" smtClean="0">
                <a:solidFill>
                  <a:srgbClr val="FF0000"/>
                </a:solidFill>
              </a:rPr>
              <a:t>AW</a:t>
            </a:r>
            <a:r>
              <a:rPr lang="en-US" altLang="en-US" sz="3200" dirty="0" smtClean="0">
                <a:solidFill>
                  <a:srgbClr val="FF0000"/>
                </a:solidFill>
              </a:rPr>
              <a:t> </a:t>
            </a:r>
            <a:endParaRPr lang="en-US" altLang="en-US" sz="3200" i="1" dirty="0" smtClean="0">
              <a:solidFill>
                <a:srgbClr val="FF0000"/>
              </a:solidFill>
            </a:endParaRPr>
          </a:p>
          <a:p>
            <a:pPr lvl="1"/>
            <a:r>
              <a:rPr lang="en-US" altLang="en-US" dirty="0" smtClean="0"/>
              <a:t>Where </a:t>
            </a:r>
            <a:r>
              <a:rPr lang="en-US" altLang="en-US" i="1" dirty="0" smtClean="0"/>
              <a:t>A</a:t>
            </a:r>
            <a:r>
              <a:rPr lang="en-US" altLang="en-US" dirty="0" smtClean="0"/>
              <a:t> is a positive constant</a:t>
            </a:r>
          </a:p>
          <a:p>
            <a:pPr lvl="1"/>
            <a:r>
              <a:rPr lang="en-US" altLang="en-US" dirty="0" smtClean="0"/>
              <a:t>Pratt’s risk aversion measure is</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15BBCD3-FFC0-447B-9766-2C5F2CBAC326}" type="slidenum">
              <a:rPr lang="en-US" smtClean="0"/>
              <a:pPr>
                <a:defRPr/>
              </a:pPr>
              <a:t>33</a:t>
            </a:fld>
            <a:endParaRPr lang="en-US"/>
          </a:p>
        </p:txBody>
      </p:sp>
      <p:sp>
        <p:nvSpPr>
          <p:cNvPr id="2" name="Text Placeholder 1"/>
          <p:cNvSpPr>
            <a:spLocks noGrp="1"/>
          </p:cNvSpPr>
          <p:nvPr>
            <p:ph type="body" sz="quarter" idx="12"/>
          </p:nvPr>
        </p:nvSpPr>
        <p:spPr>
          <a:xfrm>
            <a:off x="381000" y="4648200"/>
            <a:ext cx="8534400" cy="1600200"/>
          </a:xfrm>
        </p:spPr>
        <p:txBody>
          <a:bodyPr/>
          <a:lstStyle/>
          <a:p>
            <a:pPr lvl="1"/>
            <a:r>
              <a:rPr lang="en-US" altLang="en-US" dirty="0"/>
              <a:t>Risk aversion is constant as wealth </a:t>
            </a:r>
            <a:r>
              <a:rPr lang="en-US" altLang="en-US" dirty="0" smtClean="0"/>
              <a:t>increases</a:t>
            </a:r>
            <a:endParaRPr lang="en-US" altLang="en-US" dirty="0"/>
          </a:p>
        </p:txBody>
      </p:sp>
      <p:graphicFrame>
        <p:nvGraphicFramePr>
          <p:cNvPr id="431108" name="Object 2"/>
          <p:cNvGraphicFramePr>
            <a:graphicFrameLocks noChangeAspect="1"/>
          </p:cNvGraphicFramePr>
          <p:nvPr/>
        </p:nvGraphicFramePr>
        <p:xfrm>
          <a:off x="1358900" y="3452813"/>
          <a:ext cx="5375275" cy="1177925"/>
        </p:xfrm>
        <a:graphic>
          <a:graphicData uri="http://schemas.openxmlformats.org/presentationml/2006/ole">
            <mc:AlternateContent xmlns:mc="http://schemas.openxmlformats.org/markup-compatibility/2006">
              <mc:Choice xmlns:v="urn:schemas-microsoft-com:vml" Requires="v">
                <p:oleObj spid="_x0000_s149516" name="Equation" r:id="rId3" imgW="2019240" imgH="444240" progId="Equation.DSMT4">
                  <p:embed/>
                </p:oleObj>
              </mc:Choice>
              <mc:Fallback>
                <p:oleObj name="Equation" r:id="rId3" imgW="201924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00" y="3452813"/>
                        <a:ext cx="5375275" cy="117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70056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1108"/>
                                        </p:tgtEl>
                                        <p:attrNameLst>
                                          <p:attrName>style.visibility</p:attrName>
                                        </p:attrNameLst>
                                      </p:cBhvr>
                                      <p:to>
                                        <p:strVal val="visible"/>
                                      </p:to>
                                    </p:set>
                                    <p:animEffect transition="in" filter="wipe(left)">
                                      <p:cBhvr>
                                        <p:cTn id="7" dur="500"/>
                                        <p:tgtEl>
                                          <p:spTgt spid="43110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7.3 	Constant Risk Aversion</a:t>
            </a:r>
          </a:p>
        </p:txBody>
      </p:sp>
      <p:sp>
        <p:nvSpPr>
          <p:cNvPr id="583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52090486-1519-4702-AE25-DFA26A4074F1}" type="slidenum">
              <a:rPr lang="en-US" smtClean="0"/>
              <a:pPr>
                <a:defRPr/>
              </a:pPr>
              <a:t>34</a:t>
            </a:fld>
            <a:endParaRPr lang="en-US" dirty="0"/>
          </a:p>
        </p:txBody>
      </p:sp>
      <p:sp>
        <p:nvSpPr>
          <p:cNvPr id="58371" name="Content Placeholder 2"/>
          <p:cNvSpPr>
            <a:spLocks noGrp="1"/>
          </p:cNvSpPr>
          <p:nvPr>
            <p:ph type="body" sz="quarter" idx="12"/>
          </p:nvPr>
        </p:nvSpPr>
        <p:spPr>
          <a:prstGeom prst="rect">
            <a:avLst/>
          </a:prstGeom>
        </p:spPr>
        <p:txBody>
          <a:bodyPr/>
          <a:lstStyle/>
          <a:p>
            <a:r>
              <a:rPr lang="en-US" altLang="en-US" dirty="0" smtClean="0"/>
              <a:t>How much ( </a:t>
            </a:r>
            <a:r>
              <a:rPr lang="en-US" altLang="en-US" i="1" dirty="0" smtClean="0"/>
              <a:t>f</a:t>
            </a:r>
            <a:r>
              <a:rPr lang="en-US" altLang="en-US" dirty="0" smtClean="0"/>
              <a:t> ) would an individual pay to avoid the risk?</a:t>
            </a:r>
          </a:p>
          <a:p>
            <a:pPr lvl="1"/>
            <a:r>
              <a:rPr lang="en-US" altLang="en-US" dirty="0" smtClean="0"/>
              <a:t>Initial wealth is </a:t>
            </a:r>
            <a:r>
              <a:rPr lang="en-US" altLang="en-US" i="1" dirty="0" smtClean="0"/>
              <a:t>W</a:t>
            </a:r>
            <a:r>
              <a:rPr lang="en-US" altLang="en-US" i="1" baseline="-25000" dirty="0" smtClean="0"/>
              <a:t>0</a:t>
            </a:r>
            <a:r>
              <a:rPr lang="en-US" altLang="en-US" dirty="0" smtClean="0"/>
              <a:t> </a:t>
            </a:r>
          </a:p>
          <a:p>
            <a:pPr lvl="1"/>
            <a:r>
              <a:rPr lang="en-US" altLang="en-US" dirty="0" smtClean="0"/>
              <a:t>Utility function exhibits constant absolute risk aversion </a:t>
            </a:r>
          </a:p>
          <a:p>
            <a:pPr lvl="1"/>
            <a:r>
              <a:rPr lang="en-US" altLang="en-US" dirty="0" smtClean="0"/>
              <a:t>A 50–50 chance of winning or losing $1,000</a:t>
            </a:r>
          </a:p>
          <a:p>
            <a:pPr lvl="1"/>
            <a:r>
              <a:rPr lang="en-US" altLang="en-US" dirty="0" smtClean="0"/>
              <a:t>To find </a:t>
            </a:r>
            <a:r>
              <a:rPr lang="en-US" altLang="en-US" i="1" dirty="0" smtClean="0"/>
              <a:t>f</a:t>
            </a:r>
            <a:r>
              <a:rPr lang="en-US" altLang="en-US" dirty="0" smtClean="0"/>
              <a:t>, we set the utility of </a:t>
            </a:r>
            <a:r>
              <a:rPr lang="en-US" altLang="en-US" i="1" dirty="0" smtClean="0"/>
              <a:t>W</a:t>
            </a:r>
            <a:r>
              <a:rPr lang="en-US" altLang="en-US" i="1" baseline="-25000" dirty="0" smtClean="0"/>
              <a:t>0</a:t>
            </a:r>
            <a:r>
              <a:rPr lang="en-US" altLang="en-US" i="1" dirty="0" smtClean="0"/>
              <a:t>-f</a:t>
            </a:r>
            <a:r>
              <a:rPr lang="en-US" altLang="en-US" dirty="0" smtClean="0"/>
              <a:t> equal to the expected utility from the gamble</a:t>
            </a:r>
            <a:endParaRPr lang="en-US" altLang="en-US" i="1" dirty="0">
              <a:solidFill>
                <a:srgbClr val="FF0000"/>
              </a:solidFill>
            </a:endParaRPr>
          </a:p>
          <a:p>
            <a:pPr lvl="1"/>
            <a:endParaRPr lang="en-US" altLang="en-US" dirty="0" smtClean="0"/>
          </a:p>
        </p:txBody>
      </p:sp>
      <p:graphicFrame>
        <p:nvGraphicFramePr>
          <p:cNvPr id="2" name="Object 1"/>
          <p:cNvGraphicFramePr>
            <a:graphicFrameLocks noChangeAspect="1"/>
          </p:cNvGraphicFramePr>
          <p:nvPr>
            <p:extLst>
              <p:ext uri="{D42A27DB-BD31-4B8C-83A1-F6EECF244321}">
                <p14:modId xmlns:p14="http://schemas.microsoft.com/office/powerpoint/2010/main" val="1105628104"/>
              </p:ext>
            </p:extLst>
          </p:nvPr>
        </p:nvGraphicFramePr>
        <p:xfrm>
          <a:off x="1219199" y="4376028"/>
          <a:ext cx="6096001" cy="2024772"/>
        </p:xfrm>
        <a:graphic>
          <a:graphicData uri="http://schemas.openxmlformats.org/presentationml/2006/ole">
            <mc:AlternateContent xmlns:mc="http://schemas.openxmlformats.org/markup-compatibility/2006">
              <mc:Choice xmlns:v="urn:schemas-microsoft-com:vml" Requires="v">
                <p:oleObj spid="_x0000_s165897" name="Equation" r:id="rId3" imgW="2450880" imgH="812520" progId="Equation.DSMT4">
                  <p:embed/>
                </p:oleObj>
              </mc:Choice>
              <mc:Fallback>
                <p:oleObj name="Equation" r:id="rId3" imgW="2450880" imgH="812520" progId="Equation.DSMT4">
                  <p:embed/>
                  <p:pic>
                    <p:nvPicPr>
                      <p:cNvPr id="0" name=""/>
                      <p:cNvPicPr/>
                      <p:nvPr/>
                    </p:nvPicPr>
                    <p:blipFill>
                      <a:blip r:embed="rId4"/>
                      <a:stretch>
                        <a:fillRect/>
                      </a:stretch>
                    </p:blipFill>
                    <p:spPr>
                      <a:xfrm>
                        <a:off x="1219199" y="4376028"/>
                        <a:ext cx="6096001" cy="2024772"/>
                      </a:xfrm>
                      <a:prstGeom prst="rect">
                        <a:avLst/>
                      </a:prstGeom>
                    </p:spPr>
                  </p:pic>
                </p:oleObj>
              </mc:Fallback>
            </mc:AlternateContent>
          </a:graphicData>
        </a:graphic>
      </p:graphicFrame>
    </p:spTree>
    <p:extLst>
      <p:ext uri="{BB962C8B-B14F-4D97-AF65-F5344CB8AC3E}">
        <p14:creationId xmlns:p14="http://schemas.microsoft.com/office/powerpoint/2010/main" val="22829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7.3 	Constant Risk Aversion</a:t>
            </a:r>
          </a:p>
        </p:txBody>
      </p:sp>
      <p:sp>
        <p:nvSpPr>
          <p:cNvPr id="11270"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5DAD7BCE-4786-402D-8A5D-4FB19EFBDE8F}" type="slidenum">
              <a:rPr lang="en-US" smtClean="0"/>
              <a:pPr>
                <a:defRPr/>
              </a:pPr>
              <a:t>35</a:t>
            </a:fld>
            <a:endParaRPr lang="en-US" dirty="0"/>
          </a:p>
        </p:txBody>
      </p:sp>
      <p:sp>
        <p:nvSpPr>
          <p:cNvPr id="11268" name="Content Placeholder 2"/>
          <p:cNvSpPr>
            <a:spLocks noGrp="1"/>
          </p:cNvSpPr>
          <p:nvPr>
            <p:ph type="body" sz="quarter" idx="12"/>
          </p:nvPr>
        </p:nvSpPr>
        <p:spPr>
          <a:prstGeom prst="rect">
            <a:avLst/>
          </a:prstGeom>
        </p:spPr>
        <p:txBody>
          <a:bodyPr/>
          <a:lstStyle/>
          <a:p>
            <a:r>
              <a:rPr lang="en-US" altLang="en-US" dirty="0" smtClean="0"/>
              <a:t>If wealth W is a </a:t>
            </a:r>
            <a:r>
              <a:rPr lang="en-US" altLang="en-US" u="sng" dirty="0" smtClean="0"/>
              <a:t>Normal random variable </a:t>
            </a:r>
            <a:r>
              <a:rPr lang="en-US" altLang="en-US" dirty="0" smtClean="0"/>
              <a:t>with mean </a:t>
            </a:r>
            <a:r>
              <a:rPr lang="el-GR" altLang="en-US" i="1" dirty="0" smtClean="0">
                <a:cs typeface="Arial" charset="0"/>
              </a:rPr>
              <a:t>μ</a:t>
            </a:r>
            <a:r>
              <a:rPr lang="en-US" altLang="en-US" dirty="0" smtClean="0">
                <a:cs typeface="Arial" charset="0"/>
              </a:rPr>
              <a:t> and variance </a:t>
            </a:r>
            <a:r>
              <a:rPr lang="el-GR" altLang="en-US" i="1" dirty="0" smtClean="0">
                <a:cs typeface="Arial" charset="0"/>
              </a:rPr>
              <a:t>σ</a:t>
            </a:r>
            <a:r>
              <a:rPr lang="en-US" altLang="en-US" i="1" baseline="30000" dirty="0" smtClean="0">
                <a:cs typeface="Arial" charset="0"/>
              </a:rPr>
              <a:t>2</a:t>
            </a:r>
            <a:r>
              <a:rPr lang="en-US" altLang="en-US" dirty="0" smtClean="0">
                <a:cs typeface="Arial" charset="0"/>
              </a:rPr>
              <a:t> </a:t>
            </a:r>
          </a:p>
          <a:p>
            <a:pPr lvl="1"/>
            <a:r>
              <a:rPr lang="en-US" altLang="en-US" dirty="0" smtClean="0"/>
              <a:t>The probability density function for wealth:</a:t>
            </a:r>
          </a:p>
          <a:p>
            <a:pPr lvl="1"/>
            <a:endParaRPr lang="en-US" altLang="en-US" dirty="0" smtClean="0"/>
          </a:p>
        </p:txBody>
      </p:sp>
      <p:graphicFrame>
        <p:nvGraphicFramePr>
          <p:cNvPr id="6" name="Object 2"/>
          <p:cNvGraphicFramePr>
            <a:graphicFrameLocks noChangeAspect="1"/>
          </p:cNvGraphicFramePr>
          <p:nvPr>
            <p:extLst>
              <p:ext uri="{D42A27DB-BD31-4B8C-83A1-F6EECF244321}">
                <p14:modId xmlns:p14="http://schemas.microsoft.com/office/powerpoint/2010/main" val="1549882878"/>
              </p:ext>
            </p:extLst>
          </p:nvPr>
        </p:nvGraphicFramePr>
        <p:xfrm>
          <a:off x="914400" y="2133600"/>
          <a:ext cx="6629400" cy="4012973"/>
        </p:xfrm>
        <a:graphic>
          <a:graphicData uri="http://schemas.openxmlformats.org/presentationml/2006/ole">
            <mc:AlternateContent xmlns:mc="http://schemas.openxmlformats.org/markup-compatibility/2006">
              <mc:Choice xmlns:v="urn:schemas-microsoft-com:vml" Requires="v">
                <p:oleObj spid="_x0000_s150542" name="Equation" r:id="rId3" imgW="3606480" imgH="2184120" progId="Equation.DSMT4">
                  <p:embed/>
                </p:oleObj>
              </mc:Choice>
              <mc:Fallback>
                <p:oleObj name="Equation" r:id="rId3" imgW="3606480" imgH="2184120" progId="Equation.DSMT4">
                  <p:embed/>
                  <p:pic>
                    <p:nvPicPr>
                      <p:cNvPr id="0" name=""/>
                      <p:cNvPicPr>
                        <a:picLocks noChangeAspect="1" noChangeArrowheads="1"/>
                      </p:cNvPicPr>
                      <p:nvPr/>
                    </p:nvPicPr>
                    <p:blipFill>
                      <a:blip r:embed="rId4"/>
                      <a:srcRect/>
                      <a:stretch>
                        <a:fillRect/>
                      </a:stretch>
                    </p:blipFill>
                    <p:spPr bwMode="auto">
                      <a:xfrm>
                        <a:off x="914400" y="2133600"/>
                        <a:ext cx="6629400" cy="401297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46984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smtClean="0"/>
              <a:t>Relative Risk Aversion</a:t>
            </a:r>
          </a:p>
        </p:txBody>
      </p:sp>
      <p:sp>
        <p:nvSpPr>
          <p:cNvPr id="12292" name="Rectangle 3"/>
          <p:cNvSpPr>
            <a:spLocks noGrp="1" noChangeArrowheads="1"/>
          </p:cNvSpPr>
          <p:nvPr>
            <p:ph idx="1"/>
          </p:nvPr>
        </p:nvSpPr>
        <p:spPr/>
        <p:txBody>
          <a:bodyPr/>
          <a:lstStyle/>
          <a:p>
            <a:r>
              <a:rPr lang="en-US" altLang="en-US" smtClean="0"/>
              <a:t>Unlikely</a:t>
            </a:r>
          </a:p>
          <a:p>
            <a:pPr lvl="1"/>
            <a:r>
              <a:rPr lang="en-US" altLang="en-US" smtClean="0"/>
              <a:t>Willingness to pay to avoid a gamble is independent of wealth</a:t>
            </a:r>
          </a:p>
          <a:p>
            <a:r>
              <a:rPr lang="en-US" altLang="en-US" smtClean="0"/>
              <a:t>More appealing assumption</a:t>
            </a:r>
          </a:p>
          <a:p>
            <a:pPr lvl="1"/>
            <a:r>
              <a:rPr lang="en-US" altLang="en-US" smtClean="0"/>
              <a:t>Willingness to pay is inversely proportional to wealth</a:t>
            </a:r>
          </a:p>
          <a:p>
            <a:r>
              <a:rPr lang="en-US" altLang="en-US" smtClean="0"/>
              <a:t>Relative risk aversion:</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5BC3B20-8965-447E-8FE0-2803CD345D5C}" type="slidenum">
              <a:rPr lang="en-US" smtClean="0"/>
              <a:pPr>
                <a:defRPr/>
              </a:pPr>
              <a:t>36</a:t>
            </a:fld>
            <a:endParaRPr lang="en-US"/>
          </a:p>
        </p:txBody>
      </p:sp>
      <p:graphicFrame>
        <p:nvGraphicFramePr>
          <p:cNvPr id="433156" name="Object 2"/>
          <p:cNvGraphicFramePr>
            <a:graphicFrameLocks noChangeAspect="1"/>
          </p:cNvGraphicFramePr>
          <p:nvPr/>
        </p:nvGraphicFramePr>
        <p:xfrm>
          <a:off x="1490663" y="5167313"/>
          <a:ext cx="4633912" cy="1006475"/>
        </p:xfrm>
        <a:graphic>
          <a:graphicData uri="http://schemas.openxmlformats.org/presentationml/2006/ole">
            <mc:AlternateContent xmlns:mc="http://schemas.openxmlformats.org/markup-compatibility/2006">
              <mc:Choice xmlns:v="urn:schemas-microsoft-com:vml" Requires="v">
                <p:oleObj spid="_x0000_s151563" name="Equation" r:id="rId3" imgW="1930320" imgH="419040" progId="Equation.DSMT4">
                  <p:embed/>
                </p:oleObj>
              </mc:Choice>
              <mc:Fallback>
                <p:oleObj name="Equation" r:id="rId3" imgW="19303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663" y="5167313"/>
                        <a:ext cx="4633912"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0124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3156"/>
                                        </p:tgtEl>
                                        <p:attrNameLst>
                                          <p:attrName>style.visibility</p:attrName>
                                        </p:attrNameLst>
                                      </p:cBhvr>
                                      <p:to>
                                        <p:strVal val="visible"/>
                                      </p:to>
                                    </p:set>
                                    <p:animEffect transition="in" filter="wipe(left)">
                                      <p:cBhvr>
                                        <p:cTn id="7" dur="500"/>
                                        <p:tgtEl>
                                          <p:spTgt spid="433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r>
              <a:rPr lang="en-US" altLang="en-US" smtClean="0"/>
              <a:t>Relative Risk Aversion</a:t>
            </a:r>
          </a:p>
        </p:txBody>
      </p:sp>
      <p:sp>
        <p:nvSpPr>
          <p:cNvPr id="13318" name="Rectangle 3"/>
          <p:cNvSpPr>
            <a:spLocks noGrp="1" noChangeArrowheads="1"/>
          </p:cNvSpPr>
          <p:nvPr>
            <p:ph idx="1"/>
          </p:nvPr>
        </p:nvSpPr>
        <p:spPr>
          <a:xfrm>
            <a:off x="381000" y="1219200"/>
            <a:ext cx="8534400" cy="1752600"/>
          </a:xfrm>
        </p:spPr>
        <p:txBody>
          <a:bodyPr/>
          <a:lstStyle/>
          <a:p>
            <a:r>
              <a:rPr lang="en-US" altLang="en-US" dirty="0" smtClean="0"/>
              <a:t>The power utility function</a:t>
            </a:r>
            <a:endParaRPr lang="en-US" altLang="en-US" sz="3000" i="1" dirty="0" smtClean="0">
              <a:sym typeface="Symbol" pitchFamily="18" charset="2"/>
            </a:endParaRPr>
          </a:p>
        </p:txBody>
      </p:sp>
      <p:sp>
        <p:nvSpPr>
          <p:cNvPr id="8" name="Footer Placeholder 7"/>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7" name="Slide Number Placeholder 6"/>
          <p:cNvSpPr>
            <a:spLocks noGrp="1"/>
          </p:cNvSpPr>
          <p:nvPr>
            <p:ph type="sldNum" sz="quarter" idx="11"/>
          </p:nvPr>
        </p:nvSpPr>
        <p:spPr/>
        <p:txBody>
          <a:bodyPr/>
          <a:lstStyle/>
          <a:p>
            <a:pPr>
              <a:defRPr/>
            </a:pPr>
            <a:fld id="{6C4A3B88-2103-44EA-87B0-EEE882F261A2}" type="slidenum">
              <a:rPr lang="en-US" smtClean="0"/>
              <a:pPr>
                <a:defRPr/>
              </a:pPr>
              <a:t>37</a:t>
            </a:fld>
            <a:endParaRPr lang="en-US"/>
          </a:p>
        </p:txBody>
      </p:sp>
      <p:sp>
        <p:nvSpPr>
          <p:cNvPr id="2" name="Text Placeholder 1"/>
          <p:cNvSpPr>
            <a:spLocks noGrp="1"/>
          </p:cNvSpPr>
          <p:nvPr>
            <p:ph type="body" sz="quarter" idx="12"/>
          </p:nvPr>
        </p:nvSpPr>
        <p:spPr>
          <a:xfrm>
            <a:off x="381000" y="2895600"/>
            <a:ext cx="8534400" cy="3352800"/>
          </a:xfrm>
        </p:spPr>
        <p:txBody>
          <a:bodyPr/>
          <a:lstStyle/>
          <a:p>
            <a:pPr lvl="1" eaLnBrk="0" hangingPunct="0">
              <a:buFont typeface="Arial" charset="0"/>
              <a:buChar char="–"/>
              <a:defRPr/>
            </a:pPr>
            <a:r>
              <a:rPr lang="en-US" kern="0" dirty="0">
                <a:sym typeface="Symbol" pitchFamily="18" charset="2"/>
              </a:rPr>
              <a:t>Diminishing absolute relative risk </a:t>
            </a:r>
            <a:r>
              <a:rPr lang="en-US" kern="0" dirty="0" smtClean="0">
                <a:sym typeface="Symbol" pitchFamily="18" charset="2"/>
              </a:rPr>
              <a:t>aversion</a:t>
            </a:r>
          </a:p>
          <a:p>
            <a:pPr lvl="1" eaLnBrk="0" hangingPunct="0">
              <a:buFont typeface="Arial" charset="0"/>
              <a:buChar char="–"/>
              <a:defRPr/>
            </a:pPr>
            <a:endParaRPr lang="en-US" kern="0" dirty="0">
              <a:sym typeface="Symbol" pitchFamily="18" charset="2"/>
            </a:endParaRPr>
          </a:p>
          <a:p>
            <a:pPr lvl="1" eaLnBrk="0" hangingPunct="0">
              <a:buFont typeface="Arial" charset="0"/>
              <a:buChar char="–"/>
              <a:defRPr/>
            </a:pPr>
            <a:endParaRPr lang="en-US" kern="0" dirty="0">
              <a:sym typeface="Symbol" pitchFamily="18" charset="2"/>
            </a:endParaRPr>
          </a:p>
          <a:p>
            <a:pPr lvl="1" eaLnBrk="0" hangingPunct="0">
              <a:buFont typeface="Arial" charset="0"/>
              <a:buChar char="–"/>
              <a:defRPr/>
            </a:pPr>
            <a:r>
              <a:rPr lang="en-US" kern="0" dirty="0"/>
              <a:t>But constant relative risk aversion</a:t>
            </a:r>
            <a:endParaRPr lang="en-US" i="1" kern="0" dirty="0">
              <a:sym typeface="Symbol" pitchFamily="18" charset="2"/>
            </a:endParaRPr>
          </a:p>
          <a:p>
            <a:pPr lvl="1"/>
            <a:endParaRPr lang="en-US" dirty="0"/>
          </a:p>
        </p:txBody>
      </p:sp>
      <p:graphicFrame>
        <p:nvGraphicFramePr>
          <p:cNvPr id="457732" name="Object 2"/>
          <p:cNvGraphicFramePr>
            <a:graphicFrameLocks noChangeAspect="1"/>
          </p:cNvGraphicFramePr>
          <p:nvPr>
            <p:extLst>
              <p:ext uri="{D42A27DB-BD31-4B8C-83A1-F6EECF244321}">
                <p14:modId xmlns:p14="http://schemas.microsoft.com/office/powerpoint/2010/main" val="283952251"/>
              </p:ext>
            </p:extLst>
          </p:nvPr>
        </p:nvGraphicFramePr>
        <p:xfrm>
          <a:off x="1262063" y="3598863"/>
          <a:ext cx="6907212" cy="1198562"/>
        </p:xfrm>
        <a:graphic>
          <a:graphicData uri="http://schemas.openxmlformats.org/presentationml/2006/ole">
            <mc:AlternateContent xmlns:mc="http://schemas.openxmlformats.org/markup-compatibility/2006">
              <mc:Choice xmlns:v="urn:schemas-microsoft-com:vml" Requires="v">
                <p:oleObj spid="_x0000_s152611" name="Equation" r:id="rId3" imgW="2565360" imgH="444240" progId="Equation.DSMT4">
                  <p:embed/>
                </p:oleObj>
              </mc:Choice>
              <mc:Fallback>
                <p:oleObj name="Equation" r:id="rId3" imgW="2565360" imgH="444240" progId="Equation.DSMT4">
                  <p:embed/>
                  <p:pic>
                    <p:nvPicPr>
                      <p:cNvPr id="0" name=""/>
                      <p:cNvPicPr>
                        <a:picLocks noChangeAspect="1" noChangeArrowheads="1"/>
                      </p:cNvPicPr>
                      <p:nvPr/>
                    </p:nvPicPr>
                    <p:blipFill>
                      <a:blip r:embed="rId4"/>
                      <a:srcRect/>
                      <a:stretch>
                        <a:fillRect/>
                      </a:stretch>
                    </p:blipFill>
                    <p:spPr bwMode="auto">
                      <a:xfrm>
                        <a:off x="1262063" y="3598863"/>
                        <a:ext cx="6907212" cy="1198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1" name="Rectangle 5"/>
          <p:cNvSpPr>
            <a:spLocks noChangeArrowheads="1"/>
          </p:cNvSpPr>
          <p:nvPr/>
        </p:nvSpPr>
        <p:spPr bwMode="auto">
          <a:xfrm>
            <a:off x="685800" y="49530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spcBef>
                <a:spcPct val="20000"/>
              </a:spcBef>
            </a:pPr>
            <a:r>
              <a:rPr lang="en-US" altLang="en-US" sz="3200">
                <a:solidFill>
                  <a:srgbClr val="394DA3"/>
                </a:solidFill>
              </a:rPr>
              <a:t>   </a:t>
            </a:r>
          </a:p>
        </p:txBody>
      </p:sp>
      <p:graphicFrame>
        <p:nvGraphicFramePr>
          <p:cNvPr id="457734" name="Object 3"/>
          <p:cNvGraphicFramePr>
            <a:graphicFrameLocks noChangeAspect="1"/>
          </p:cNvGraphicFramePr>
          <p:nvPr>
            <p:extLst>
              <p:ext uri="{D42A27DB-BD31-4B8C-83A1-F6EECF244321}">
                <p14:modId xmlns:p14="http://schemas.microsoft.com/office/powerpoint/2010/main" val="3155020435"/>
              </p:ext>
            </p:extLst>
          </p:nvPr>
        </p:nvGraphicFramePr>
        <p:xfrm>
          <a:off x="1039813" y="5410200"/>
          <a:ext cx="5651500" cy="558800"/>
        </p:xfrm>
        <a:graphic>
          <a:graphicData uri="http://schemas.openxmlformats.org/presentationml/2006/ole">
            <mc:AlternateContent xmlns:mc="http://schemas.openxmlformats.org/markup-compatibility/2006">
              <mc:Choice xmlns:v="urn:schemas-microsoft-com:vml" Requires="v">
                <p:oleObj spid="_x0000_s152612" name="Equation" r:id="rId5" imgW="2057400" imgH="203040" progId="Equation.DSMT4">
                  <p:embed/>
                </p:oleObj>
              </mc:Choice>
              <mc:Fallback>
                <p:oleObj name="Equation" r:id="rId5" imgW="205740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813" y="5410200"/>
                        <a:ext cx="56515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9"/>
          <p:cNvGraphicFramePr>
            <a:graphicFrameLocks noChangeAspect="1"/>
          </p:cNvGraphicFramePr>
          <p:nvPr/>
        </p:nvGraphicFramePr>
        <p:xfrm>
          <a:off x="1401763" y="1733550"/>
          <a:ext cx="5911850" cy="1152525"/>
        </p:xfrm>
        <a:graphic>
          <a:graphicData uri="http://schemas.openxmlformats.org/presentationml/2006/ole">
            <mc:AlternateContent xmlns:mc="http://schemas.openxmlformats.org/markup-compatibility/2006">
              <mc:Choice xmlns:v="urn:schemas-microsoft-com:vml" Requires="v">
                <p:oleObj spid="_x0000_s152613" name="Equation" r:id="rId7" imgW="2476440" imgH="482400" progId="Equation.DSMT4">
                  <p:embed/>
                </p:oleObj>
              </mc:Choice>
              <mc:Fallback>
                <p:oleObj name="Equation" r:id="rId7" imgW="2476440" imgH="482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1763" y="1733550"/>
                        <a:ext cx="591185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687075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57732"/>
                                        </p:tgtEl>
                                        <p:attrNameLst>
                                          <p:attrName>style.visibility</p:attrName>
                                        </p:attrNameLst>
                                      </p:cBhvr>
                                      <p:to>
                                        <p:strVal val="visible"/>
                                      </p:to>
                                    </p:set>
                                    <p:animEffect transition="in" filter="wipe(left)">
                                      <p:cBhvr>
                                        <p:cTn id="15" dur="500"/>
                                        <p:tgtEl>
                                          <p:spTgt spid="457732"/>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457734"/>
                                        </p:tgtEl>
                                        <p:attrNameLst>
                                          <p:attrName>style.visibility</p:attrName>
                                        </p:attrNameLst>
                                      </p:cBhvr>
                                      <p:to>
                                        <p:strVal val="visible"/>
                                      </p:to>
                                    </p:set>
                                    <p:animEffect transition="in" filter="wipe(left)">
                                      <p:cBhvr>
                                        <p:cTn id="23" dur="500"/>
                                        <p:tgtEl>
                                          <p:spTgt spid="457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7.4 	Constant Relative Risk Aversion</a:t>
            </a:r>
          </a:p>
        </p:txBody>
      </p:sp>
      <p:sp>
        <p:nvSpPr>
          <p:cNvPr id="5939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DD03B81D-B59A-42DC-8B1C-CB884053BDF0}" type="slidenum">
              <a:rPr lang="en-US" smtClean="0"/>
              <a:pPr>
                <a:defRPr/>
              </a:pPr>
              <a:t>38</a:t>
            </a:fld>
            <a:endParaRPr lang="en-US" dirty="0"/>
          </a:p>
        </p:txBody>
      </p:sp>
      <p:sp>
        <p:nvSpPr>
          <p:cNvPr id="59395" name="Content Placeholder 2"/>
          <p:cNvSpPr>
            <a:spLocks noGrp="1"/>
          </p:cNvSpPr>
          <p:nvPr>
            <p:ph type="body" sz="quarter" idx="12"/>
          </p:nvPr>
        </p:nvSpPr>
        <p:spPr>
          <a:prstGeom prst="rect">
            <a:avLst/>
          </a:prstGeom>
        </p:spPr>
        <p:txBody>
          <a:bodyPr/>
          <a:lstStyle/>
          <a:p>
            <a:r>
              <a:rPr lang="en-US" altLang="en-US" smtClean="0"/>
              <a:t>Constant relative risk aversion utility function</a:t>
            </a:r>
          </a:p>
          <a:p>
            <a:pPr lvl="1"/>
            <a:r>
              <a:rPr lang="en-US" altLang="en-US" smtClean="0"/>
              <a:t>What fraction of initial wealth ( f ) </a:t>
            </a:r>
          </a:p>
          <a:p>
            <a:pPr lvl="2"/>
            <a:r>
              <a:rPr lang="en-US" altLang="en-US" smtClean="0"/>
              <a:t>Willing to give up to avoid a fair gamble of, 10%  of initial wealth</a:t>
            </a:r>
          </a:p>
          <a:p>
            <a:pPr lvl="1"/>
            <a:r>
              <a:rPr lang="en-US" altLang="en-US" smtClean="0"/>
              <a:t>Assume R = 0</a:t>
            </a:r>
          </a:p>
          <a:p>
            <a:pPr lvl="1"/>
            <a:r>
              <a:rPr lang="en-US" altLang="en-US" smtClean="0"/>
              <a:t>Logarithmic utility function</a:t>
            </a:r>
          </a:p>
          <a:p>
            <a:pPr lvl="2">
              <a:buFont typeface="Arial" charset="0"/>
              <a:buNone/>
            </a:pPr>
            <a:r>
              <a:rPr lang="en-US" altLang="en-US" smtClean="0"/>
              <a:t> </a:t>
            </a:r>
            <a:r>
              <a:rPr lang="en-US" altLang="en-US" i="1" smtClean="0"/>
              <a:t>ln[(1-f)W</a:t>
            </a:r>
            <a:r>
              <a:rPr lang="en-US" altLang="en-US" i="1" baseline="-25000" smtClean="0"/>
              <a:t>0</a:t>
            </a:r>
            <a:r>
              <a:rPr lang="en-US" altLang="en-US" i="1" smtClean="0"/>
              <a:t>] = 0.5 ln(1.1W</a:t>
            </a:r>
            <a:r>
              <a:rPr lang="en-US" altLang="en-US" i="1" baseline="-25000" smtClean="0"/>
              <a:t>0</a:t>
            </a:r>
            <a:r>
              <a:rPr lang="en-US" altLang="en-US" i="1" smtClean="0"/>
              <a:t>) + 0.5 ln(0.9W</a:t>
            </a:r>
            <a:r>
              <a:rPr lang="en-US" altLang="en-US" i="1" baseline="-25000" smtClean="0"/>
              <a:t>0</a:t>
            </a:r>
            <a:r>
              <a:rPr lang="en-US" altLang="en-US" i="1" smtClean="0"/>
              <a:t>)</a:t>
            </a:r>
          </a:p>
          <a:p>
            <a:pPr lvl="2">
              <a:buFont typeface="Arial" charset="0"/>
              <a:buNone/>
            </a:pPr>
            <a:r>
              <a:rPr lang="en-US" altLang="en-US" i="1" smtClean="0"/>
              <a:t> ln(1-f) = 0.5 ln(1.1) + 0.5 ln(0.9) = ln(0.99)</a:t>
            </a:r>
            <a:r>
              <a:rPr lang="en-US" altLang="en-US" i="1" baseline="30000" smtClean="0"/>
              <a:t>0.5</a:t>
            </a:r>
            <a:r>
              <a:rPr lang="en-US" altLang="en-US" i="1" smtClean="0"/>
              <a:t> </a:t>
            </a:r>
          </a:p>
          <a:p>
            <a:pPr lvl="2">
              <a:buFont typeface="Arial" charset="0"/>
              <a:buNone/>
            </a:pPr>
            <a:r>
              <a:rPr lang="en-US" altLang="en-US" i="1" smtClean="0"/>
              <a:t> </a:t>
            </a:r>
            <a:r>
              <a:rPr lang="en-US" altLang="en-US" i="1" smtClean="0">
                <a:solidFill>
                  <a:srgbClr val="FF0000"/>
                </a:solidFill>
              </a:rPr>
              <a:t>f=0.005</a:t>
            </a:r>
          </a:p>
          <a:p>
            <a:pPr lvl="1"/>
            <a:r>
              <a:rPr lang="en-US" altLang="en-US" smtClean="0"/>
              <a:t>Sacrifice up to 0.5 percent of wealth to avoid the 10 percent gamble</a:t>
            </a:r>
          </a:p>
          <a:p>
            <a:endParaRPr lang="en-US" altLang="en-US" smtClean="0"/>
          </a:p>
        </p:txBody>
      </p:sp>
    </p:spTree>
    <p:extLst>
      <p:ext uri="{BB962C8B-B14F-4D97-AF65-F5344CB8AC3E}">
        <p14:creationId xmlns:p14="http://schemas.microsoft.com/office/powerpoint/2010/main" val="15786544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304800" y="0"/>
            <a:ext cx="8610600" cy="1066800"/>
          </a:xfrm>
        </p:spPr>
        <p:txBody>
          <a:bodyPr/>
          <a:lstStyle/>
          <a:p>
            <a:r>
              <a:rPr lang="en-US" altLang="en-US" sz="3600" dirty="0" smtClean="0"/>
              <a:t>Methods for Reducing Uncertainty and Risk</a:t>
            </a:r>
          </a:p>
        </p:txBody>
      </p:sp>
      <p:sp>
        <p:nvSpPr>
          <p:cNvPr id="60419" name="Content Placeholder 2"/>
          <p:cNvSpPr>
            <a:spLocks noGrp="1"/>
          </p:cNvSpPr>
          <p:nvPr>
            <p:ph idx="1"/>
          </p:nvPr>
        </p:nvSpPr>
        <p:spPr/>
        <p:txBody>
          <a:bodyPr/>
          <a:lstStyle/>
          <a:p>
            <a:r>
              <a:rPr lang="en-US" altLang="en-US" dirty="0" smtClean="0"/>
              <a:t>Four different methods that individuals can take to mitigate the problem of risk and uncertainty:</a:t>
            </a:r>
          </a:p>
          <a:p>
            <a:pPr lvl="1"/>
            <a:r>
              <a:rPr lang="en-US" altLang="en-US" dirty="0" smtClean="0"/>
              <a:t>Insurance</a:t>
            </a:r>
          </a:p>
          <a:p>
            <a:pPr lvl="1"/>
            <a:r>
              <a:rPr lang="en-US" altLang="en-US" dirty="0" smtClean="0"/>
              <a:t>Diversification</a:t>
            </a:r>
          </a:p>
          <a:p>
            <a:pPr lvl="1"/>
            <a:r>
              <a:rPr lang="en-US" altLang="en-US" dirty="0" smtClean="0"/>
              <a:t>Flexibility</a:t>
            </a:r>
          </a:p>
          <a:p>
            <a:pPr lvl="1"/>
            <a:r>
              <a:rPr lang="en-US" altLang="en-US" dirty="0" smtClean="0"/>
              <a:t>Information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BEFCC3F-5D1A-40AB-9D46-8C1349CACCF2}" type="slidenum">
              <a:rPr lang="en-US" smtClean="0"/>
              <a:pPr>
                <a:defRPr/>
              </a:pPr>
              <a:t>39</a:t>
            </a:fld>
            <a:endParaRPr lang="en-US"/>
          </a:p>
        </p:txBody>
      </p:sp>
    </p:spTree>
    <p:extLst>
      <p:ext uri="{BB962C8B-B14F-4D97-AF65-F5344CB8AC3E}">
        <p14:creationId xmlns:p14="http://schemas.microsoft.com/office/powerpoint/2010/main" val="28608951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p:cNvSpPr>
            <a:spLocks noGrp="1"/>
          </p:cNvSpPr>
          <p:nvPr>
            <p:ph type="title"/>
          </p:nvPr>
        </p:nvSpPr>
        <p:spPr/>
        <p:txBody>
          <a:bodyPr/>
          <a:lstStyle/>
          <a:p>
            <a:r>
              <a:rPr lang="en-US" altLang="en-US" smtClean="0"/>
              <a:t>Insurance</a:t>
            </a:r>
          </a:p>
        </p:txBody>
      </p:sp>
      <p:sp>
        <p:nvSpPr>
          <p:cNvPr id="61443" name="Content Placeholder 5"/>
          <p:cNvSpPr>
            <a:spLocks noGrp="1"/>
          </p:cNvSpPr>
          <p:nvPr>
            <p:ph idx="1"/>
          </p:nvPr>
        </p:nvSpPr>
        <p:spPr>
          <a:xfrm>
            <a:off x="381000" y="1143000"/>
            <a:ext cx="8534400" cy="5257800"/>
          </a:xfrm>
        </p:spPr>
        <p:txBody>
          <a:bodyPr/>
          <a:lstStyle/>
          <a:p>
            <a:r>
              <a:rPr lang="en-US" altLang="en-US" dirty="0" smtClean="0"/>
              <a:t>Risk-averse people </a:t>
            </a:r>
          </a:p>
          <a:p>
            <a:pPr lvl="1"/>
            <a:r>
              <a:rPr lang="en-US" altLang="en-US" dirty="0" smtClean="0"/>
              <a:t>Pay a premium to have the insurance company cover the risk of loss</a:t>
            </a:r>
          </a:p>
          <a:p>
            <a:pPr lvl="1"/>
            <a:r>
              <a:rPr lang="en-US" altLang="en-US" dirty="0" smtClean="0"/>
              <a:t>Would always want to buy fair insurance to cover any risk he or she faces</a:t>
            </a:r>
          </a:p>
          <a:p>
            <a:r>
              <a:rPr lang="en-US" altLang="en-US" dirty="0" smtClean="0"/>
              <a:t>Insurance company </a:t>
            </a:r>
          </a:p>
          <a:p>
            <a:pPr lvl="1"/>
            <a:r>
              <a:rPr lang="en-US" altLang="en-US" dirty="0" smtClean="0"/>
              <a:t>Cannot stay in business if it offered fair insurance</a:t>
            </a:r>
          </a:p>
          <a:p>
            <a:pPr lvl="2"/>
            <a:r>
              <a:rPr lang="en-US" altLang="en-US" dirty="0" smtClean="0"/>
              <a:t>Premium = the expected payout for claims</a:t>
            </a:r>
          </a:p>
        </p:txBody>
      </p:sp>
      <p:sp>
        <p:nvSpPr>
          <p:cNvPr id="61445"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6108237C-84A0-493A-B3C1-D772BDCE61E5}" type="slidenum">
              <a:rPr lang="en-US" smtClean="0"/>
              <a:pPr>
                <a:defRPr/>
              </a:pPr>
              <a:t>40</a:t>
            </a:fld>
            <a:endParaRPr lang="en-US"/>
          </a:p>
        </p:txBody>
      </p:sp>
    </p:spTree>
    <p:extLst>
      <p:ext uri="{BB962C8B-B14F-4D97-AF65-F5344CB8AC3E}">
        <p14:creationId xmlns:p14="http://schemas.microsoft.com/office/powerpoint/2010/main" val="167820610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4"/>
          <p:cNvSpPr>
            <a:spLocks noGrp="1"/>
          </p:cNvSpPr>
          <p:nvPr>
            <p:ph type="title"/>
          </p:nvPr>
        </p:nvSpPr>
        <p:spPr/>
        <p:txBody>
          <a:bodyPr/>
          <a:lstStyle/>
          <a:p>
            <a:r>
              <a:rPr lang="en-US" altLang="en-US" smtClean="0"/>
              <a:t>Insurance</a:t>
            </a:r>
          </a:p>
        </p:txBody>
      </p:sp>
      <p:sp>
        <p:nvSpPr>
          <p:cNvPr id="62467" name="Content Placeholder 5"/>
          <p:cNvSpPr>
            <a:spLocks noGrp="1"/>
          </p:cNvSpPr>
          <p:nvPr>
            <p:ph idx="1"/>
          </p:nvPr>
        </p:nvSpPr>
        <p:spPr/>
        <p:txBody>
          <a:bodyPr/>
          <a:lstStyle/>
          <a:p>
            <a:r>
              <a:rPr lang="en-US" altLang="en-US" smtClean="0"/>
              <a:t>An insurance customer </a:t>
            </a:r>
          </a:p>
          <a:p>
            <a:pPr lvl="1"/>
            <a:r>
              <a:rPr lang="en-US" altLang="en-US" smtClean="0"/>
              <a:t>Can always expect to pay more than an actuarially fair premium</a:t>
            </a:r>
          </a:p>
          <a:p>
            <a:r>
              <a:rPr lang="en-US" altLang="en-US" smtClean="0"/>
              <a:t>If people are sufficiently risk averse</a:t>
            </a:r>
          </a:p>
          <a:p>
            <a:pPr lvl="1"/>
            <a:r>
              <a:rPr lang="en-US" altLang="en-US" smtClean="0"/>
              <a:t>They will even buy unfair insurance</a:t>
            </a:r>
          </a:p>
          <a:p>
            <a:pPr lvl="1"/>
            <a:r>
              <a:rPr lang="en-US" altLang="en-US" smtClean="0"/>
              <a:t>The more risk averse they are, the higher the premium they would be willing to pay</a:t>
            </a:r>
          </a:p>
        </p:txBody>
      </p:sp>
      <p:sp>
        <p:nvSpPr>
          <p:cNvPr id="62469"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7CEBE65B-1325-40F6-8EE8-360AACEA7306}" type="slidenum">
              <a:rPr lang="en-US" smtClean="0"/>
              <a:pPr>
                <a:defRPr/>
              </a:pPr>
              <a:t>41</a:t>
            </a:fld>
            <a:endParaRPr lang="en-US"/>
          </a:p>
        </p:txBody>
      </p:sp>
    </p:spTree>
    <p:extLst>
      <p:ext uri="{BB962C8B-B14F-4D97-AF65-F5344CB8AC3E}">
        <p14:creationId xmlns:p14="http://schemas.microsoft.com/office/powerpoint/2010/main" val="31166861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4"/>
          <p:cNvSpPr>
            <a:spLocks noGrp="1"/>
          </p:cNvSpPr>
          <p:nvPr>
            <p:ph type="title"/>
          </p:nvPr>
        </p:nvSpPr>
        <p:spPr/>
        <p:txBody>
          <a:bodyPr/>
          <a:lstStyle/>
          <a:p>
            <a:r>
              <a:rPr lang="en-US" altLang="en-US" smtClean="0"/>
              <a:t>Insurance</a:t>
            </a:r>
          </a:p>
        </p:txBody>
      </p:sp>
      <p:sp>
        <p:nvSpPr>
          <p:cNvPr id="63491" name="Content Placeholder 5"/>
          <p:cNvSpPr>
            <a:spLocks noGrp="1"/>
          </p:cNvSpPr>
          <p:nvPr>
            <p:ph idx="1"/>
          </p:nvPr>
        </p:nvSpPr>
        <p:spPr/>
        <p:txBody>
          <a:bodyPr/>
          <a:lstStyle/>
          <a:p>
            <a:r>
              <a:rPr lang="en-US" altLang="en-US" smtClean="0"/>
              <a:t>Factors that make insurance difficult or impossible to provide</a:t>
            </a:r>
          </a:p>
          <a:p>
            <a:pPr lvl="1"/>
            <a:r>
              <a:rPr lang="en-US" altLang="en-US" smtClean="0"/>
              <a:t>Large-scale disasters</a:t>
            </a:r>
          </a:p>
          <a:p>
            <a:pPr lvl="1"/>
            <a:r>
              <a:rPr lang="en-US" altLang="en-US" smtClean="0"/>
              <a:t>Rare and unpredictable events</a:t>
            </a:r>
          </a:p>
          <a:p>
            <a:pPr lvl="1"/>
            <a:r>
              <a:rPr lang="en-US" altLang="en-US" smtClean="0"/>
              <a:t>Informational disadvantage the company may have relative to the customer</a:t>
            </a:r>
          </a:p>
          <a:p>
            <a:pPr lvl="2"/>
            <a:r>
              <a:rPr lang="en-US" altLang="en-US" smtClean="0"/>
              <a:t>Adverse selection problem </a:t>
            </a:r>
          </a:p>
          <a:p>
            <a:pPr lvl="1"/>
            <a:r>
              <a:rPr lang="en-US" altLang="en-US" smtClean="0"/>
              <a:t>Moral hazard problem</a:t>
            </a:r>
          </a:p>
        </p:txBody>
      </p:sp>
      <p:sp>
        <p:nvSpPr>
          <p:cNvPr id="63493"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1F354B9E-DE53-4E1C-9F67-361410142F4C}" type="slidenum">
              <a:rPr lang="en-US" smtClean="0"/>
              <a:pPr>
                <a:defRPr/>
              </a:pPr>
              <a:t>42</a:t>
            </a:fld>
            <a:endParaRPr lang="en-US"/>
          </a:p>
        </p:txBody>
      </p:sp>
    </p:spTree>
    <p:extLst>
      <p:ext uri="{BB962C8B-B14F-4D97-AF65-F5344CB8AC3E}">
        <p14:creationId xmlns:p14="http://schemas.microsoft.com/office/powerpoint/2010/main" val="26069655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4"/>
          <p:cNvSpPr>
            <a:spLocks noGrp="1"/>
          </p:cNvSpPr>
          <p:nvPr>
            <p:ph type="title"/>
          </p:nvPr>
        </p:nvSpPr>
        <p:spPr/>
        <p:txBody>
          <a:bodyPr/>
          <a:lstStyle/>
          <a:p>
            <a:r>
              <a:rPr lang="en-US" altLang="en-US" smtClean="0"/>
              <a:t>Diversification</a:t>
            </a:r>
          </a:p>
        </p:txBody>
      </p:sp>
      <p:sp>
        <p:nvSpPr>
          <p:cNvPr id="64515" name="Content Placeholder 5"/>
          <p:cNvSpPr>
            <a:spLocks noGrp="1"/>
          </p:cNvSpPr>
          <p:nvPr>
            <p:ph idx="1"/>
          </p:nvPr>
        </p:nvSpPr>
        <p:spPr>
          <a:xfrm>
            <a:off x="381000" y="1143000"/>
            <a:ext cx="8534400" cy="5257800"/>
          </a:xfrm>
        </p:spPr>
        <p:txBody>
          <a:bodyPr/>
          <a:lstStyle/>
          <a:p>
            <a:r>
              <a:rPr lang="en-US" altLang="en-US" dirty="0" smtClean="0"/>
              <a:t>Diversification</a:t>
            </a:r>
          </a:p>
          <a:p>
            <a:pPr lvl="1"/>
            <a:r>
              <a:rPr lang="en-US" altLang="en-US" dirty="0" smtClean="0"/>
              <a:t>Suitably spreading risk around - to reduce the variability of an outcome without lowering the expected payoff</a:t>
            </a:r>
          </a:p>
          <a:p>
            <a:r>
              <a:rPr lang="en-US" altLang="en-US" dirty="0" smtClean="0"/>
              <a:t>A person has wealth W to invest</a:t>
            </a:r>
          </a:p>
          <a:p>
            <a:pPr lvl="1"/>
            <a:r>
              <a:rPr lang="en-US" altLang="en-US" dirty="0" smtClean="0"/>
              <a:t>Can be invested in two independent risky assets, 1 and 2</a:t>
            </a:r>
          </a:p>
          <a:p>
            <a:pPr lvl="2"/>
            <a:r>
              <a:rPr lang="en-US" altLang="en-US" dirty="0" smtClean="0"/>
              <a:t>Equal expected values (</a:t>
            </a:r>
            <a:r>
              <a:rPr lang="el-GR" altLang="en-US" i="1" dirty="0" smtClean="0"/>
              <a:t>μ</a:t>
            </a:r>
            <a:r>
              <a:rPr lang="en-US" altLang="en-US" i="1" baseline="-25000" dirty="0" smtClean="0"/>
              <a:t>1</a:t>
            </a:r>
            <a:r>
              <a:rPr lang="en-US" altLang="en-US" i="1" dirty="0" smtClean="0"/>
              <a:t>=</a:t>
            </a:r>
            <a:r>
              <a:rPr lang="el-GR" altLang="en-US" i="1" dirty="0" smtClean="0"/>
              <a:t>μ</a:t>
            </a:r>
            <a:r>
              <a:rPr lang="en-US" altLang="en-US" i="1" baseline="-25000" dirty="0" smtClean="0"/>
              <a:t>2</a:t>
            </a:r>
            <a:r>
              <a:rPr lang="en-US" altLang="en-US" dirty="0" smtClean="0"/>
              <a:t>) </a:t>
            </a:r>
          </a:p>
          <a:p>
            <a:pPr lvl="2"/>
            <a:r>
              <a:rPr lang="en-US" altLang="en-US" dirty="0" smtClean="0"/>
              <a:t>Equal variances (</a:t>
            </a:r>
            <a:r>
              <a:rPr lang="el-GR" altLang="en-US" i="1" dirty="0" smtClean="0">
                <a:cs typeface="Arial" charset="0"/>
              </a:rPr>
              <a:t>σ</a:t>
            </a:r>
            <a:r>
              <a:rPr lang="en-US" altLang="en-US" i="1" baseline="30000" dirty="0" smtClean="0"/>
              <a:t>2</a:t>
            </a:r>
            <a:r>
              <a:rPr lang="en-US" altLang="en-US" i="1" baseline="-25000" dirty="0" smtClean="0"/>
              <a:t>1</a:t>
            </a:r>
            <a:r>
              <a:rPr lang="en-US" altLang="en-US" i="1" dirty="0" smtClean="0"/>
              <a:t>=</a:t>
            </a:r>
            <a:r>
              <a:rPr lang="el-GR" altLang="en-US" i="1" dirty="0" smtClean="0">
                <a:cs typeface="Arial" charset="0"/>
              </a:rPr>
              <a:t>σ</a:t>
            </a:r>
            <a:r>
              <a:rPr lang="en-US" altLang="en-US" i="1" baseline="30000" dirty="0" smtClean="0"/>
              <a:t>2</a:t>
            </a:r>
            <a:r>
              <a:rPr lang="en-US" altLang="en-US" i="1" baseline="-25000" dirty="0" smtClean="0"/>
              <a:t>2</a:t>
            </a:r>
            <a:r>
              <a:rPr lang="en-US" altLang="en-US" dirty="0" smtClean="0"/>
              <a:t>)</a:t>
            </a:r>
          </a:p>
        </p:txBody>
      </p:sp>
      <p:sp>
        <p:nvSpPr>
          <p:cNvPr id="64517"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681CF38F-E5CD-496F-BAF8-1F31FD917387}" type="slidenum">
              <a:rPr lang="en-US" smtClean="0"/>
              <a:pPr>
                <a:defRPr/>
              </a:pPr>
              <a:t>43</a:t>
            </a:fld>
            <a:endParaRPr lang="en-US"/>
          </a:p>
        </p:txBody>
      </p:sp>
    </p:spTree>
    <p:extLst>
      <p:ext uri="{BB962C8B-B14F-4D97-AF65-F5344CB8AC3E}">
        <p14:creationId xmlns:p14="http://schemas.microsoft.com/office/powerpoint/2010/main" val="302894737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4"/>
          <p:cNvSpPr>
            <a:spLocks noGrp="1"/>
          </p:cNvSpPr>
          <p:nvPr>
            <p:ph type="title"/>
          </p:nvPr>
        </p:nvSpPr>
        <p:spPr/>
        <p:txBody>
          <a:bodyPr/>
          <a:lstStyle/>
          <a:p>
            <a:r>
              <a:rPr lang="en-US" altLang="en-US" smtClean="0"/>
              <a:t>Diversification</a:t>
            </a:r>
          </a:p>
        </p:txBody>
      </p:sp>
      <p:sp>
        <p:nvSpPr>
          <p:cNvPr id="65539" name="Content Placeholder 5"/>
          <p:cNvSpPr>
            <a:spLocks noGrp="1"/>
          </p:cNvSpPr>
          <p:nvPr>
            <p:ph idx="1"/>
          </p:nvPr>
        </p:nvSpPr>
        <p:spPr/>
        <p:txBody>
          <a:bodyPr/>
          <a:lstStyle/>
          <a:p>
            <a:r>
              <a:rPr lang="en-US" altLang="en-US" smtClean="0"/>
              <a:t>Undiversified portfolio, UP</a:t>
            </a:r>
          </a:p>
          <a:p>
            <a:pPr lvl="1"/>
            <a:r>
              <a:rPr lang="en-US" altLang="en-US" smtClean="0"/>
              <a:t>Includes just one of the assets</a:t>
            </a:r>
          </a:p>
          <a:p>
            <a:pPr lvl="1"/>
            <a:r>
              <a:rPr lang="en-US" altLang="en-US" smtClean="0"/>
              <a:t>Expected return: </a:t>
            </a:r>
            <a:r>
              <a:rPr lang="el-GR" altLang="en-US" i="1" smtClean="0">
                <a:solidFill>
                  <a:srgbClr val="FF0000"/>
                </a:solidFill>
              </a:rPr>
              <a:t>μ</a:t>
            </a:r>
            <a:r>
              <a:rPr lang="en-US" altLang="en-US" i="1" baseline="-25000" smtClean="0">
                <a:solidFill>
                  <a:srgbClr val="FF0000"/>
                </a:solidFill>
              </a:rPr>
              <a:t>UP</a:t>
            </a:r>
            <a:r>
              <a:rPr lang="en-US" altLang="en-US" i="1" smtClean="0">
                <a:solidFill>
                  <a:srgbClr val="FF0000"/>
                </a:solidFill>
              </a:rPr>
              <a:t> =</a:t>
            </a:r>
            <a:r>
              <a:rPr lang="el-GR" altLang="en-US" i="1" smtClean="0">
                <a:solidFill>
                  <a:srgbClr val="FF0000"/>
                </a:solidFill>
              </a:rPr>
              <a:t> μ</a:t>
            </a:r>
            <a:r>
              <a:rPr lang="en-US" altLang="en-US" i="1" baseline="-25000" smtClean="0">
                <a:solidFill>
                  <a:srgbClr val="FF0000"/>
                </a:solidFill>
              </a:rPr>
              <a:t>1</a:t>
            </a:r>
            <a:r>
              <a:rPr lang="en-US" altLang="en-US" i="1" smtClean="0">
                <a:solidFill>
                  <a:srgbClr val="FF0000"/>
                </a:solidFill>
              </a:rPr>
              <a:t>=</a:t>
            </a:r>
            <a:r>
              <a:rPr lang="el-GR" altLang="en-US" i="1" smtClean="0">
                <a:solidFill>
                  <a:srgbClr val="FF0000"/>
                </a:solidFill>
              </a:rPr>
              <a:t>μ</a:t>
            </a:r>
            <a:r>
              <a:rPr lang="en-US" altLang="en-US" i="1" baseline="-25000" smtClean="0">
                <a:solidFill>
                  <a:srgbClr val="FF0000"/>
                </a:solidFill>
              </a:rPr>
              <a:t>2</a:t>
            </a:r>
          </a:p>
          <a:p>
            <a:pPr lvl="1"/>
            <a:r>
              <a:rPr lang="en-US" altLang="en-US" smtClean="0"/>
              <a:t>Variance: </a:t>
            </a:r>
            <a:r>
              <a:rPr lang="el-GR" altLang="en-US" i="1" smtClean="0">
                <a:solidFill>
                  <a:srgbClr val="FF0000"/>
                </a:solidFill>
                <a:cs typeface="Arial" charset="0"/>
              </a:rPr>
              <a:t>σ</a:t>
            </a:r>
            <a:r>
              <a:rPr lang="en-US" altLang="en-US" i="1" baseline="30000" smtClean="0">
                <a:solidFill>
                  <a:srgbClr val="FF0000"/>
                </a:solidFill>
              </a:rPr>
              <a:t>2</a:t>
            </a:r>
            <a:r>
              <a:rPr lang="en-US" altLang="en-US" i="1" baseline="-25000" smtClean="0">
                <a:solidFill>
                  <a:srgbClr val="FF0000"/>
                </a:solidFill>
              </a:rPr>
              <a:t>UP</a:t>
            </a:r>
            <a:r>
              <a:rPr lang="en-US" altLang="en-US" i="1" smtClean="0">
                <a:solidFill>
                  <a:srgbClr val="FF0000"/>
                </a:solidFill>
              </a:rPr>
              <a:t> = </a:t>
            </a:r>
            <a:r>
              <a:rPr lang="el-GR" altLang="en-US" i="1" smtClean="0">
                <a:solidFill>
                  <a:srgbClr val="FF0000"/>
                </a:solidFill>
                <a:cs typeface="Arial" charset="0"/>
              </a:rPr>
              <a:t>σ</a:t>
            </a:r>
            <a:r>
              <a:rPr lang="en-US" altLang="en-US" i="1" baseline="30000" smtClean="0">
                <a:solidFill>
                  <a:srgbClr val="FF0000"/>
                </a:solidFill>
              </a:rPr>
              <a:t>2</a:t>
            </a:r>
            <a:r>
              <a:rPr lang="en-US" altLang="en-US" i="1" baseline="-25000" smtClean="0">
                <a:solidFill>
                  <a:srgbClr val="FF0000"/>
                </a:solidFill>
              </a:rPr>
              <a:t>1</a:t>
            </a:r>
            <a:r>
              <a:rPr lang="en-US" altLang="en-US" i="1" smtClean="0">
                <a:solidFill>
                  <a:srgbClr val="FF0000"/>
                </a:solidFill>
              </a:rPr>
              <a:t>=</a:t>
            </a:r>
            <a:r>
              <a:rPr lang="el-GR" altLang="en-US" i="1" smtClean="0">
                <a:solidFill>
                  <a:srgbClr val="FF0000"/>
                </a:solidFill>
                <a:cs typeface="Arial" charset="0"/>
              </a:rPr>
              <a:t>σ</a:t>
            </a:r>
            <a:r>
              <a:rPr lang="en-US" altLang="en-US" i="1" baseline="30000" smtClean="0">
                <a:solidFill>
                  <a:srgbClr val="FF0000"/>
                </a:solidFill>
              </a:rPr>
              <a:t>2</a:t>
            </a:r>
            <a:r>
              <a:rPr lang="en-US" altLang="en-US" i="1" baseline="-25000" smtClean="0">
                <a:solidFill>
                  <a:srgbClr val="FF0000"/>
                </a:solidFill>
              </a:rPr>
              <a:t>2 </a:t>
            </a:r>
            <a:r>
              <a:rPr lang="en-US" altLang="en-US" i="1" smtClean="0">
                <a:solidFill>
                  <a:srgbClr val="FF0000"/>
                </a:solidFill>
              </a:rPr>
              <a:t> </a:t>
            </a:r>
          </a:p>
        </p:txBody>
      </p:sp>
      <p:sp>
        <p:nvSpPr>
          <p:cNvPr id="65541"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29D715C2-EF77-44F0-98A7-37B763BCA85E}" type="slidenum">
              <a:rPr lang="en-US" smtClean="0"/>
              <a:pPr>
                <a:defRPr/>
              </a:pPr>
              <a:t>44</a:t>
            </a:fld>
            <a:endParaRPr lang="en-US"/>
          </a:p>
        </p:txBody>
      </p:sp>
    </p:spTree>
    <p:extLst>
      <p:ext uri="{BB962C8B-B14F-4D97-AF65-F5344CB8AC3E}">
        <p14:creationId xmlns:p14="http://schemas.microsoft.com/office/powerpoint/2010/main" val="6572656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4"/>
          <p:cNvSpPr>
            <a:spLocks noGrp="1"/>
          </p:cNvSpPr>
          <p:nvPr>
            <p:ph type="title"/>
          </p:nvPr>
        </p:nvSpPr>
        <p:spPr/>
        <p:txBody>
          <a:bodyPr/>
          <a:lstStyle/>
          <a:p>
            <a:r>
              <a:rPr lang="en-US" altLang="en-US" smtClean="0"/>
              <a:t>Diversification</a:t>
            </a:r>
          </a:p>
        </p:txBody>
      </p:sp>
      <p:sp>
        <p:nvSpPr>
          <p:cNvPr id="66563" name="Content Placeholder 5"/>
          <p:cNvSpPr>
            <a:spLocks noGrp="1"/>
          </p:cNvSpPr>
          <p:nvPr>
            <p:ph idx="1"/>
          </p:nvPr>
        </p:nvSpPr>
        <p:spPr/>
        <p:txBody>
          <a:bodyPr/>
          <a:lstStyle/>
          <a:p>
            <a:r>
              <a:rPr lang="en-US" altLang="en-US" smtClean="0"/>
              <a:t>Diversified portfolio, DP</a:t>
            </a:r>
          </a:p>
          <a:p>
            <a:pPr lvl="2"/>
            <a:r>
              <a:rPr lang="en-US" altLang="en-US" i="1" smtClean="0">
                <a:sym typeface="Symbol" pitchFamily="18" charset="2"/>
              </a:rPr>
              <a:t></a:t>
            </a:r>
            <a:r>
              <a:rPr lang="en-US" altLang="en-US" i="1" baseline="-25000" smtClean="0">
                <a:sym typeface="Symbol" pitchFamily="18" charset="2"/>
              </a:rPr>
              <a:t>1</a:t>
            </a:r>
            <a:r>
              <a:rPr lang="en-US" altLang="en-US" smtClean="0">
                <a:sym typeface="Symbol" pitchFamily="18" charset="2"/>
              </a:rPr>
              <a:t> – </a:t>
            </a:r>
            <a:r>
              <a:rPr lang="en-US" altLang="en-US" smtClean="0"/>
              <a:t>the fraction invested in the first asset</a:t>
            </a:r>
          </a:p>
          <a:p>
            <a:pPr lvl="2"/>
            <a:r>
              <a:rPr lang="en-US" altLang="en-US" i="1" smtClean="0"/>
              <a:t>(1-</a:t>
            </a:r>
            <a:r>
              <a:rPr lang="en-US" altLang="en-US" i="1" smtClean="0">
                <a:sym typeface="Symbol" pitchFamily="18" charset="2"/>
              </a:rPr>
              <a:t> </a:t>
            </a:r>
            <a:r>
              <a:rPr lang="en-US" altLang="en-US" i="1" baseline="-25000" smtClean="0">
                <a:sym typeface="Symbol" pitchFamily="18" charset="2"/>
              </a:rPr>
              <a:t>1</a:t>
            </a:r>
            <a:r>
              <a:rPr lang="en-US" altLang="en-US" i="1" smtClean="0">
                <a:sym typeface="Symbol" pitchFamily="18" charset="2"/>
              </a:rPr>
              <a:t>)</a:t>
            </a:r>
            <a:r>
              <a:rPr lang="en-US" altLang="en-US" smtClean="0">
                <a:sym typeface="Symbol" pitchFamily="18" charset="2"/>
              </a:rPr>
              <a:t> – the fraction invested in the </a:t>
            </a:r>
            <a:r>
              <a:rPr lang="en-US" altLang="en-US" smtClean="0"/>
              <a:t>second</a:t>
            </a:r>
          </a:p>
          <a:p>
            <a:pPr lvl="1"/>
            <a:r>
              <a:rPr lang="en-US" altLang="en-US" smtClean="0"/>
              <a:t>Expected return: </a:t>
            </a:r>
          </a:p>
          <a:p>
            <a:pPr lvl="1">
              <a:buFont typeface="Arial" charset="0"/>
              <a:buNone/>
            </a:pPr>
            <a:r>
              <a:rPr lang="el-GR" altLang="en-US" sz="3000" i="1" smtClean="0">
                <a:solidFill>
                  <a:srgbClr val="FF0000"/>
                </a:solidFill>
              </a:rPr>
              <a:t>μ</a:t>
            </a:r>
            <a:r>
              <a:rPr lang="en-US" altLang="en-US" sz="3000" i="1" baseline="-25000" smtClean="0">
                <a:solidFill>
                  <a:srgbClr val="FF0000"/>
                </a:solidFill>
              </a:rPr>
              <a:t>DP</a:t>
            </a:r>
            <a:r>
              <a:rPr lang="en-US" altLang="en-US" sz="3000" i="1" smtClean="0">
                <a:solidFill>
                  <a:srgbClr val="FF0000"/>
                </a:solidFill>
              </a:rPr>
              <a:t> =</a:t>
            </a:r>
            <a:r>
              <a:rPr lang="el-GR" altLang="en-US" sz="3000" i="1" smtClean="0">
                <a:solidFill>
                  <a:srgbClr val="FF0000"/>
                </a:solidFill>
              </a:rPr>
              <a:t> </a:t>
            </a:r>
            <a:r>
              <a:rPr lang="en-US" altLang="en-US" sz="3000" i="1" smtClean="0">
                <a:solidFill>
                  <a:srgbClr val="FF0000"/>
                </a:solidFill>
                <a:sym typeface="Symbol" pitchFamily="18" charset="2"/>
              </a:rPr>
              <a:t></a:t>
            </a:r>
            <a:r>
              <a:rPr lang="en-US" altLang="en-US" sz="3000" i="1" baseline="-25000" smtClean="0">
                <a:solidFill>
                  <a:srgbClr val="FF0000"/>
                </a:solidFill>
                <a:sym typeface="Symbol" pitchFamily="18" charset="2"/>
              </a:rPr>
              <a:t>1 </a:t>
            </a:r>
            <a:r>
              <a:rPr lang="el-GR" altLang="en-US" sz="3000" i="1" smtClean="0">
                <a:solidFill>
                  <a:srgbClr val="FF0000"/>
                </a:solidFill>
              </a:rPr>
              <a:t>μ</a:t>
            </a:r>
            <a:r>
              <a:rPr lang="en-US" altLang="en-US" sz="3000" i="1" baseline="-25000" smtClean="0">
                <a:solidFill>
                  <a:srgbClr val="FF0000"/>
                </a:solidFill>
              </a:rPr>
              <a:t>1</a:t>
            </a:r>
            <a:r>
              <a:rPr lang="en-US" altLang="en-US" sz="3000" i="1" smtClean="0">
                <a:solidFill>
                  <a:srgbClr val="FF0000"/>
                </a:solidFill>
              </a:rPr>
              <a:t>+(1-</a:t>
            </a:r>
            <a:r>
              <a:rPr lang="en-US" altLang="en-US" sz="3000" i="1" smtClean="0">
                <a:solidFill>
                  <a:srgbClr val="FF0000"/>
                </a:solidFill>
                <a:sym typeface="Symbol" pitchFamily="18" charset="2"/>
              </a:rPr>
              <a:t> </a:t>
            </a:r>
            <a:r>
              <a:rPr lang="en-US" altLang="en-US" sz="3000" i="1" baseline="-25000" smtClean="0">
                <a:solidFill>
                  <a:srgbClr val="FF0000"/>
                </a:solidFill>
                <a:sym typeface="Symbol" pitchFamily="18" charset="2"/>
              </a:rPr>
              <a:t>1</a:t>
            </a:r>
            <a:r>
              <a:rPr lang="en-US" altLang="en-US" sz="3000" i="1" smtClean="0">
                <a:solidFill>
                  <a:srgbClr val="FF0000"/>
                </a:solidFill>
              </a:rPr>
              <a:t>)</a:t>
            </a:r>
            <a:r>
              <a:rPr lang="el-GR" altLang="en-US" sz="3000" i="1" smtClean="0">
                <a:solidFill>
                  <a:srgbClr val="FF0000"/>
                </a:solidFill>
              </a:rPr>
              <a:t>μ</a:t>
            </a:r>
            <a:r>
              <a:rPr lang="en-US" altLang="en-US" sz="3000" i="1" baseline="-25000" smtClean="0">
                <a:solidFill>
                  <a:srgbClr val="FF0000"/>
                </a:solidFill>
              </a:rPr>
              <a:t>2</a:t>
            </a:r>
            <a:r>
              <a:rPr lang="en-US" altLang="en-US" sz="3000" i="1" smtClean="0">
                <a:solidFill>
                  <a:srgbClr val="FF0000"/>
                </a:solidFill>
              </a:rPr>
              <a:t>=</a:t>
            </a:r>
            <a:r>
              <a:rPr lang="el-GR" altLang="en-US" sz="3000" i="1" smtClean="0">
                <a:solidFill>
                  <a:srgbClr val="FF0000"/>
                </a:solidFill>
              </a:rPr>
              <a:t> μ</a:t>
            </a:r>
            <a:r>
              <a:rPr lang="en-US" altLang="en-US" sz="3000" i="1" baseline="-25000" smtClean="0">
                <a:solidFill>
                  <a:srgbClr val="FF0000"/>
                </a:solidFill>
              </a:rPr>
              <a:t>1</a:t>
            </a:r>
            <a:r>
              <a:rPr lang="en-US" altLang="en-US" sz="3000" i="1" smtClean="0">
                <a:solidFill>
                  <a:srgbClr val="FF0000"/>
                </a:solidFill>
              </a:rPr>
              <a:t>=</a:t>
            </a:r>
            <a:r>
              <a:rPr lang="el-GR" altLang="en-US" sz="3000" i="1" smtClean="0">
                <a:solidFill>
                  <a:srgbClr val="FF0000"/>
                </a:solidFill>
              </a:rPr>
              <a:t>μ</a:t>
            </a:r>
            <a:r>
              <a:rPr lang="en-US" altLang="en-US" sz="3000" i="1" baseline="-25000" smtClean="0">
                <a:solidFill>
                  <a:srgbClr val="FF0000"/>
                </a:solidFill>
              </a:rPr>
              <a:t>2</a:t>
            </a:r>
          </a:p>
          <a:p>
            <a:pPr lvl="1"/>
            <a:r>
              <a:rPr lang="en-US" altLang="en-US" smtClean="0"/>
              <a:t>Variance; </a:t>
            </a:r>
          </a:p>
          <a:p>
            <a:pPr lvl="1">
              <a:buFont typeface="Arial" charset="0"/>
              <a:buNone/>
            </a:pPr>
            <a:r>
              <a:rPr lang="el-GR" altLang="en-US" sz="3000" i="1" smtClean="0">
                <a:solidFill>
                  <a:srgbClr val="FF0000"/>
                </a:solidFill>
                <a:cs typeface="Arial" charset="0"/>
              </a:rPr>
              <a:t>σ</a:t>
            </a:r>
            <a:r>
              <a:rPr lang="en-US" altLang="en-US" sz="3000" i="1" baseline="30000" smtClean="0">
                <a:solidFill>
                  <a:srgbClr val="FF0000"/>
                </a:solidFill>
              </a:rPr>
              <a:t>2</a:t>
            </a:r>
            <a:r>
              <a:rPr lang="en-US" altLang="en-US" sz="3000" i="1" baseline="-25000" smtClean="0">
                <a:solidFill>
                  <a:srgbClr val="FF0000"/>
                </a:solidFill>
              </a:rPr>
              <a:t>DP</a:t>
            </a:r>
            <a:r>
              <a:rPr lang="en-US" altLang="en-US" sz="3000" i="1" smtClean="0">
                <a:solidFill>
                  <a:srgbClr val="FF0000"/>
                </a:solidFill>
              </a:rPr>
              <a:t> = </a:t>
            </a:r>
            <a:r>
              <a:rPr lang="en-US" altLang="en-US" sz="3000" i="1" smtClean="0">
                <a:solidFill>
                  <a:srgbClr val="FF0000"/>
                </a:solidFill>
                <a:sym typeface="Symbol" pitchFamily="18" charset="2"/>
              </a:rPr>
              <a:t></a:t>
            </a:r>
            <a:r>
              <a:rPr lang="en-US" altLang="en-US" sz="3000" i="1" baseline="30000" smtClean="0">
                <a:solidFill>
                  <a:srgbClr val="FF0000"/>
                </a:solidFill>
                <a:sym typeface="Symbol" pitchFamily="18" charset="2"/>
              </a:rPr>
              <a:t>2</a:t>
            </a:r>
            <a:r>
              <a:rPr lang="en-US" altLang="en-US" sz="3000" i="1" baseline="-25000" smtClean="0">
                <a:solidFill>
                  <a:srgbClr val="FF0000"/>
                </a:solidFill>
                <a:sym typeface="Symbol" pitchFamily="18" charset="2"/>
              </a:rPr>
              <a:t>1 </a:t>
            </a:r>
            <a:r>
              <a:rPr lang="el-GR" altLang="en-US" sz="3000" i="1" smtClean="0">
                <a:solidFill>
                  <a:srgbClr val="FF0000"/>
                </a:solidFill>
                <a:cs typeface="Arial" charset="0"/>
              </a:rPr>
              <a:t>σ</a:t>
            </a:r>
            <a:r>
              <a:rPr lang="en-US" altLang="en-US" sz="3000" i="1" baseline="30000" smtClean="0">
                <a:solidFill>
                  <a:srgbClr val="FF0000"/>
                </a:solidFill>
              </a:rPr>
              <a:t>2</a:t>
            </a:r>
            <a:r>
              <a:rPr lang="en-US" altLang="en-US" sz="3000" i="1" baseline="-25000" smtClean="0">
                <a:solidFill>
                  <a:srgbClr val="FF0000"/>
                </a:solidFill>
              </a:rPr>
              <a:t>1</a:t>
            </a:r>
            <a:r>
              <a:rPr lang="en-US" altLang="en-US" sz="3000" i="1" smtClean="0">
                <a:solidFill>
                  <a:srgbClr val="FF0000"/>
                </a:solidFill>
              </a:rPr>
              <a:t>+(1-</a:t>
            </a:r>
            <a:r>
              <a:rPr lang="en-US" altLang="en-US" sz="3000" i="1" smtClean="0">
                <a:solidFill>
                  <a:srgbClr val="FF0000"/>
                </a:solidFill>
                <a:sym typeface="Symbol" pitchFamily="18" charset="2"/>
              </a:rPr>
              <a:t> </a:t>
            </a:r>
            <a:r>
              <a:rPr lang="en-US" altLang="en-US" sz="3000" i="1" baseline="-25000" smtClean="0">
                <a:solidFill>
                  <a:srgbClr val="FF0000"/>
                </a:solidFill>
                <a:sym typeface="Symbol" pitchFamily="18" charset="2"/>
              </a:rPr>
              <a:t>1</a:t>
            </a:r>
            <a:r>
              <a:rPr lang="en-US" altLang="en-US" sz="3000" i="1" smtClean="0">
                <a:solidFill>
                  <a:srgbClr val="FF0000"/>
                </a:solidFill>
              </a:rPr>
              <a:t>)</a:t>
            </a:r>
            <a:r>
              <a:rPr lang="en-US" altLang="en-US" sz="3000" i="1" baseline="30000" smtClean="0">
                <a:solidFill>
                  <a:srgbClr val="FF0000"/>
                </a:solidFill>
              </a:rPr>
              <a:t>2</a:t>
            </a:r>
            <a:r>
              <a:rPr lang="en-US" altLang="en-US" sz="3000" i="1" smtClean="0">
                <a:solidFill>
                  <a:srgbClr val="FF0000"/>
                </a:solidFill>
              </a:rPr>
              <a:t> </a:t>
            </a:r>
            <a:r>
              <a:rPr lang="el-GR" altLang="en-US" sz="3000" i="1" smtClean="0">
                <a:solidFill>
                  <a:srgbClr val="FF0000"/>
                </a:solidFill>
                <a:cs typeface="Arial" charset="0"/>
              </a:rPr>
              <a:t>σ</a:t>
            </a:r>
            <a:r>
              <a:rPr lang="en-US" altLang="en-US" sz="3000" i="1" baseline="30000" smtClean="0">
                <a:solidFill>
                  <a:srgbClr val="FF0000"/>
                </a:solidFill>
              </a:rPr>
              <a:t>2</a:t>
            </a:r>
            <a:r>
              <a:rPr lang="en-US" altLang="en-US" sz="3000" i="1" baseline="-25000" smtClean="0">
                <a:solidFill>
                  <a:srgbClr val="FF0000"/>
                </a:solidFill>
              </a:rPr>
              <a:t>2 </a:t>
            </a:r>
            <a:r>
              <a:rPr lang="en-US" altLang="en-US" sz="3000" i="1" smtClean="0">
                <a:solidFill>
                  <a:srgbClr val="FF0000"/>
                </a:solidFill>
              </a:rPr>
              <a:t> = (1-2</a:t>
            </a:r>
            <a:r>
              <a:rPr lang="en-US" altLang="en-US" sz="3000" i="1" smtClean="0">
                <a:solidFill>
                  <a:srgbClr val="FF0000"/>
                </a:solidFill>
                <a:sym typeface="Symbol" pitchFamily="18" charset="2"/>
              </a:rPr>
              <a:t></a:t>
            </a:r>
            <a:r>
              <a:rPr lang="en-US" altLang="en-US" sz="3000" i="1" baseline="-25000" smtClean="0">
                <a:solidFill>
                  <a:srgbClr val="FF0000"/>
                </a:solidFill>
                <a:sym typeface="Symbol" pitchFamily="18" charset="2"/>
              </a:rPr>
              <a:t>1</a:t>
            </a:r>
            <a:r>
              <a:rPr lang="en-US" altLang="en-US" sz="3000" i="1" smtClean="0">
                <a:solidFill>
                  <a:srgbClr val="FF0000"/>
                </a:solidFill>
                <a:sym typeface="Symbol" pitchFamily="18" charset="2"/>
              </a:rPr>
              <a:t>+ 2</a:t>
            </a:r>
            <a:r>
              <a:rPr lang="en-US" altLang="en-US" sz="3000" i="1" baseline="30000" smtClean="0">
                <a:solidFill>
                  <a:srgbClr val="FF0000"/>
                </a:solidFill>
              </a:rPr>
              <a:t>2</a:t>
            </a:r>
            <a:r>
              <a:rPr lang="en-US" altLang="en-US" sz="3000" i="1" baseline="-25000" smtClean="0">
                <a:solidFill>
                  <a:srgbClr val="FF0000"/>
                </a:solidFill>
                <a:sym typeface="Symbol" pitchFamily="18" charset="2"/>
              </a:rPr>
              <a:t>1</a:t>
            </a:r>
            <a:r>
              <a:rPr lang="en-US" altLang="en-US" sz="3000" i="1" smtClean="0">
                <a:solidFill>
                  <a:srgbClr val="FF0000"/>
                </a:solidFill>
              </a:rPr>
              <a:t> )</a:t>
            </a:r>
            <a:r>
              <a:rPr lang="el-GR" altLang="en-US" sz="3000" i="1" smtClean="0">
                <a:solidFill>
                  <a:srgbClr val="FF0000"/>
                </a:solidFill>
                <a:cs typeface="Arial" charset="0"/>
              </a:rPr>
              <a:t> σ</a:t>
            </a:r>
            <a:r>
              <a:rPr lang="en-US" altLang="en-US" sz="3000" i="1" baseline="30000" smtClean="0">
                <a:solidFill>
                  <a:srgbClr val="FF0000"/>
                </a:solidFill>
              </a:rPr>
              <a:t>2</a:t>
            </a:r>
            <a:r>
              <a:rPr lang="en-US" altLang="en-US" sz="3000" i="1" baseline="-25000" smtClean="0">
                <a:solidFill>
                  <a:srgbClr val="FF0000"/>
                </a:solidFill>
              </a:rPr>
              <a:t>1 </a:t>
            </a:r>
            <a:endParaRPr lang="en-US" altLang="en-US" sz="3000" i="1" smtClean="0">
              <a:solidFill>
                <a:srgbClr val="FF0000"/>
              </a:solidFill>
            </a:endParaRPr>
          </a:p>
          <a:p>
            <a:pPr lvl="1"/>
            <a:r>
              <a:rPr lang="en-US" altLang="en-US" smtClean="0"/>
              <a:t>Minimize </a:t>
            </a:r>
            <a:r>
              <a:rPr lang="el-GR" altLang="en-US" i="1" smtClean="0">
                <a:cs typeface="Arial" charset="0"/>
              </a:rPr>
              <a:t>σ</a:t>
            </a:r>
            <a:r>
              <a:rPr lang="en-US" altLang="en-US" i="1" baseline="30000" smtClean="0"/>
              <a:t>2</a:t>
            </a:r>
            <a:r>
              <a:rPr lang="en-US" altLang="en-US" i="1" baseline="-25000" smtClean="0"/>
              <a:t>DP</a:t>
            </a:r>
            <a:r>
              <a:rPr lang="en-US" altLang="en-US" i="1" smtClean="0"/>
              <a:t> </a:t>
            </a:r>
          </a:p>
          <a:p>
            <a:pPr lvl="1">
              <a:buFont typeface="Arial" charset="0"/>
              <a:buNone/>
            </a:pPr>
            <a:r>
              <a:rPr lang="en-US" altLang="en-US" sz="3000" i="1" smtClean="0">
                <a:solidFill>
                  <a:srgbClr val="FF0000"/>
                </a:solidFill>
                <a:sym typeface="Symbol" pitchFamily="18" charset="2"/>
              </a:rPr>
              <a:t></a:t>
            </a:r>
            <a:r>
              <a:rPr lang="en-US" altLang="en-US" sz="3000" i="1" baseline="-25000" smtClean="0">
                <a:solidFill>
                  <a:srgbClr val="FF0000"/>
                </a:solidFill>
                <a:sym typeface="Symbol" pitchFamily="18" charset="2"/>
              </a:rPr>
              <a:t>1 </a:t>
            </a:r>
            <a:r>
              <a:rPr lang="en-US" altLang="en-US" sz="3000" i="1" smtClean="0">
                <a:solidFill>
                  <a:srgbClr val="FF0000"/>
                </a:solidFill>
                <a:sym typeface="Symbol" pitchFamily="18" charset="2"/>
              </a:rPr>
              <a:t>= ½ ;  </a:t>
            </a:r>
            <a:r>
              <a:rPr lang="el-GR" altLang="en-US" sz="3000" i="1" smtClean="0">
                <a:solidFill>
                  <a:srgbClr val="FF0000"/>
                </a:solidFill>
                <a:cs typeface="Arial" charset="0"/>
              </a:rPr>
              <a:t>σ</a:t>
            </a:r>
            <a:r>
              <a:rPr lang="en-US" altLang="en-US" sz="3000" i="1" baseline="30000" smtClean="0">
                <a:solidFill>
                  <a:srgbClr val="FF0000"/>
                </a:solidFill>
              </a:rPr>
              <a:t>2</a:t>
            </a:r>
            <a:r>
              <a:rPr lang="en-US" altLang="en-US" sz="3000" i="1" baseline="-25000" smtClean="0">
                <a:solidFill>
                  <a:srgbClr val="FF0000"/>
                </a:solidFill>
              </a:rPr>
              <a:t>DP</a:t>
            </a:r>
            <a:r>
              <a:rPr lang="en-US" altLang="en-US" sz="3000" i="1" smtClean="0">
                <a:solidFill>
                  <a:srgbClr val="FF0000"/>
                </a:solidFill>
              </a:rPr>
              <a:t>= </a:t>
            </a:r>
            <a:r>
              <a:rPr lang="el-GR" altLang="en-US" sz="3000" i="1" smtClean="0">
                <a:solidFill>
                  <a:srgbClr val="FF0000"/>
                </a:solidFill>
                <a:cs typeface="Arial" charset="0"/>
              </a:rPr>
              <a:t>σ</a:t>
            </a:r>
            <a:r>
              <a:rPr lang="en-US" altLang="en-US" sz="3000" i="1" baseline="30000" smtClean="0">
                <a:solidFill>
                  <a:srgbClr val="FF0000"/>
                </a:solidFill>
              </a:rPr>
              <a:t>2</a:t>
            </a:r>
            <a:r>
              <a:rPr lang="en-US" altLang="en-US" sz="3000" i="1" baseline="-25000" smtClean="0">
                <a:solidFill>
                  <a:srgbClr val="FF0000"/>
                </a:solidFill>
              </a:rPr>
              <a:t>1</a:t>
            </a:r>
            <a:r>
              <a:rPr lang="en-US" altLang="en-US" sz="3000" i="1" smtClean="0">
                <a:solidFill>
                  <a:srgbClr val="FF0000"/>
                </a:solidFill>
              </a:rPr>
              <a:t>/2 </a:t>
            </a:r>
          </a:p>
          <a:p>
            <a:pPr lvl="1"/>
            <a:endParaRPr lang="en-US" altLang="en-US" smtClean="0"/>
          </a:p>
        </p:txBody>
      </p:sp>
      <p:sp>
        <p:nvSpPr>
          <p:cNvPr id="66565"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p:txBody>
          <a:bodyPr/>
          <a:lstStyle/>
          <a:p>
            <a:pPr>
              <a:defRPr/>
            </a:pPr>
            <a:fld id="{5071623E-8514-4A48-961E-B9DD7592537C}" type="slidenum">
              <a:rPr lang="en-US" smtClean="0"/>
              <a:pPr>
                <a:defRPr/>
              </a:pPr>
              <a:t>45</a:t>
            </a:fld>
            <a:endParaRPr lang="en-US"/>
          </a:p>
        </p:txBody>
      </p:sp>
    </p:spTree>
    <p:extLst>
      <p:ext uri="{BB962C8B-B14F-4D97-AF65-F5344CB8AC3E}">
        <p14:creationId xmlns:p14="http://schemas.microsoft.com/office/powerpoint/2010/main" val="10216616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mtClean="0"/>
              <a:t>Flexibility</a:t>
            </a:r>
          </a:p>
        </p:txBody>
      </p:sp>
      <p:sp>
        <p:nvSpPr>
          <p:cNvPr id="67587" name="Content Placeholder 2"/>
          <p:cNvSpPr>
            <a:spLocks noGrp="1"/>
          </p:cNvSpPr>
          <p:nvPr>
            <p:ph idx="1"/>
          </p:nvPr>
        </p:nvSpPr>
        <p:spPr/>
        <p:txBody>
          <a:bodyPr/>
          <a:lstStyle/>
          <a:p>
            <a:r>
              <a:rPr lang="en-US" altLang="en-US" smtClean="0"/>
              <a:t>Flexibility</a:t>
            </a:r>
          </a:p>
          <a:p>
            <a:pPr lvl="1"/>
            <a:r>
              <a:rPr lang="en-US" altLang="en-US" smtClean="0"/>
              <a:t>Allows the person to adjust the initial decision depending on how the future unfolds</a:t>
            </a:r>
          </a:p>
          <a:p>
            <a:pPr lvl="1"/>
            <a:r>
              <a:rPr lang="en-US" altLang="en-US" smtClean="0"/>
              <a:t>The more uncertain the future, the more valuable this flexibility</a:t>
            </a:r>
          </a:p>
          <a:p>
            <a:pPr lvl="1"/>
            <a:r>
              <a:rPr lang="en-US" altLang="en-US" smtClean="0"/>
              <a:t>Keeps the decision-maker from being tied to one course of action </a:t>
            </a:r>
          </a:p>
          <a:p>
            <a:pPr lvl="2"/>
            <a:r>
              <a:rPr lang="en-US" altLang="en-US" smtClean="0"/>
              <a:t>And instead provides a number of options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C446C5E-B7DE-4382-8799-C14963F63534}" type="slidenum">
              <a:rPr lang="en-US" smtClean="0"/>
              <a:pPr>
                <a:defRPr/>
              </a:pPr>
              <a:t>46</a:t>
            </a:fld>
            <a:endParaRPr lang="en-US"/>
          </a:p>
        </p:txBody>
      </p:sp>
    </p:spTree>
    <p:extLst>
      <p:ext uri="{BB962C8B-B14F-4D97-AF65-F5344CB8AC3E}">
        <p14:creationId xmlns:p14="http://schemas.microsoft.com/office/powerpoint/2010/main" val="1762571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smtClean="0"/>
              <a:t>Flexibility</a:t>
            </a:r>
          </a:p>
        </p:txBody>
      </p:sp>
      <p:sp>
        <p:nvSpPr>
          <p:cNvPr id="68611" name="Content Placeholder 2"/>
          <p:cNvSpPr>
            <a:spLocks noGrp="1"/>
          </p:cNvSpPr>
          <p:nvPr>
            <p:ph idx="1"/>
          </p:nvPr>
        </p:nvSpPr>
        <p:spPr/>
        <p:txBody>
          <a:bodyPr/>
          <a:lstStyle/>
          <a:p>
            <a:r>
              <a:rPr lang="en-US" altLang="en-US" smtClean="0"/>
              <a:t>Financial option contract</a:t>
            </a:r>
          </a:p>
          <a:p>
            <a:pPr lvl="1"/>
            <a:r>
              <a:rPr lang="en-US" altLang="en-US" smtClean="0"/>
              <a:t>Offers the right, but not the obligation, to buy or sell an asset </a:t>
            </a:r>
          </a:p>
          <a:p>
            <a:pPr lvl="2"/>
            <a:r>
              <a:rPr lang="en-US" altLang="en-US" smtClean="0"/>
              <a:t>During some future period</a:t>
            </a:r>
          </a:p>
          <a:p>
            <a:pPr lvl="2"/>
            <a:r>
              <a:rPr lang="en-US" altLang="en-US" smtClean="0"/>
              <a:t>At a certain price</a:t>
            </a:r>
          </a:p>
          <a:p>
            <a:r>
              <a:rPr lang="en-US" altLang="en-US" smtClean="0"/>
              <a:t>Real option</a:t>
            </a:r>
          </a:p>
          <a:p>
            <a:pPr lvl="1"/>
            <a:r>
              <a:rPr lang="en-US" altLang="en-US" smtClean="0"/>
              <a:t>An option arising in a setting outside of financial markets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20EA98B-EF51-4BA3-A16F-A1C16C3C4DFD}" type="slidenum">
              <a:rPr lang="en-US" smtClean="0"/>
              <a:pPr>
                <a:defRPr/>
              </a:pPr>
              <a:t>47</a:t>
            </a:fld>
            <a:endParaRPr lang="en-US"/>
          </a:p>
        </p:txBody>
      </p:sp>
    </p:spTree>
    <p:extLst>
      <p:ext uri="{BB962C8B-B14F-4D97-AF65-F5344CB8AC3E}">
        <p14:creationId xmlns:p14="http://schemas.microsoft.com/office/powerpoint/2010/main" val="2754897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en-US" smtClean="0"/>
              <a:t>Flexibility</a:t>
            </a:r>
          </a:p>
        </p:txBody>
      </p:sp>
      <p:sp>
        <p:nvSpPr>
          <p:cNvPr id="69635" name="Content Placeholder 2"/>
          <p:cNvSpPr>
            <a:spLocks noGrp="1"/>
          </p:cNvSpPr>
          <p:nvPr>
            <p:ph idx="1"/>
          </p:nvPr>
        </p:nvSpPr>
        <p:spPr/>
        <p:txBody>
          <a:bodyPr/>
          <a:lstStyle/>
          <a:p>
            <a:r>
              <a:rPr lang="en-US" altLang="en-US" smtClean="0"/>
              <a:t>All options share three fundamental attributes</a:t>
            </a:r>
          </a:p>
          <a:p>
            <a:pPr lvl="1"/>
            <a:r>
              <a:rPr lang="en-US" altLang="en-US" smtClean="0"/>
              <a:t>Specify the underlying transaction</a:t>
            </a:r>
          </a:p>
          <a:p>
            <a:pPr lvl="1"/>
            <a:r>
              <a:rPr lang="en-US" altLang="en-US" smtClean="0"/>
              <a:t>Specify a period over which the option may be exercised</a:t>
            </a:r>
          </a:p>
          <a:p>
            <a:pPr lvl="1"/>
            <a:r>
              <a:rPr lang="en-US" altLang="en-US" smtClean="0"/>
              <a:t>Specifies a price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29FE9E8-B509-4D0A-BA9B-6A7C3A4A4442}" type="slidenum">
              <a:rPr lang="en-US" smtClean="0"/>
              <a:pPr>
                <a:defRPr/>
              </a:pPr>
              <a:t>48</a:t>
            </a:fld>
            <a:endParaRPr lang="en-US"/>
          </a:p>
        </p:txBody>
      </p:sp>
    </p:spTree>
    <p:extLst>
      <p:ext uri="{BB962C8B-B14F-4D97-AF65-F5344CB8AC3E}">
        <p14:creationId xmlns:p14="http://schemas.microsoft.com/office/powerpoint/2010/main" val="3682940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smtClean="0"/>
              <a:t>Flexibility</a:t>
            </a:r>
          </a:p>
        </p:txBody>
      </p:sp>
      <p:sp>
        <p:nvSpPr>
          <p:cNvPr id="70659" name="Content Placeholder 2"/>
          <p:cNvSpPr>
            <a:spLocks noGrp="1"/>
          </p:cNvSpPr>
          <p:nvPr>
            <p:ph idx="1"/>
          </p:nvPr>
        </p:nvSpPr>
        <p:spPr/>
        <p:txBody>
          <a:bodyPr/>
          <a:lstStyle/>
          <a:p>
            <a:r>
              <a:rPr lang="en-US" altLang="en-US" dirty="0" smtClean="0"/>
              <a:t>Model of real options</a:t>
            </a:r>
          </a:p>
          <a:p>
            <a:pPr lvl="1"/>
            <a:r>
              <a:rPr lang="en-US" altLang="en-US" dirty="0" smtClean="0"/>
              <a:t>Let x embody all the uncertainty in the economic environment</a:t>
            </a:r>
          </a:p>
          <a:p>
            <a:pPr lvl="1"/>
            <a:r>
              <a:rPr lang="en-US" altLang="en-US" dirty="0" smtClean="0"/>
              <a:t>The individual has some number, </a:t>
            </a:r>
            <a:r>
              <a:rPr lang="en-US" altLang="en-US" i="1" dirty="0" err="1" smtClean="0"/>
              <a:t>i</a:t>
            </a:r>
            <a:r>
              <a:rPr lang="en-US" altLang="en-US" i="1" dirty="0" smtClean="0"/>
              <a:t> = 1,…,n</a:t>
            </a:r>
            <a:r>
              <a:rPr lang="en-US" altLang="en-US" dirty="0" smtClean="0"/>
              <a:t>, of choices currently available</a:t>
            </a:r>
          </a:p>
          <a:p>
            <a:pPr lvl="1"/>
            <a:r>
              <a:rPr lang="en-US" altLang="en-US" i="1" dirty="0" smtClean="0"/>
              <a:t>O</a:t>
            </a:r>
            <a:r>
              <a:rPr lang="en-US" altLang="en-US" i="1" baseline="-25000" dirty="0" smtClean="0"/>
              <a:t>i</a:t>
            </a:r>
            <a:r>
              <a:rPr lang="en-US" altLang="en-US" i="1" dirty="0" smtClean="0"/>
              <a:t>(x)</a:t>
            </a:r>
            <a:r>
              <a:rPr lang="en-US" altLang="en-US" dirty="0" smtClean="0"/>
              <a:t> - payoffs provided by choice </a:t>
            </a:r>
            <a:r>
              <a:rPr lang="en-US" altLang="en-US" i="1" dirty="0" err="1" smtClean="0"/>
              <a:t>i</a:t>
            </a:r>
            <a:endParaRPr lang="en-US" altLang="en-US" i="1" dirty="0" smtClean="0"/>
          </a:p>
          <a:p>
            <a:pPr lvl="2"/>
            <a:r>
              <a:rPr lang="en-US" altLang="en-US" dirty="0" smtClean="0"/>
              <a:t>(</a:t>
            </a:r>
            <a:r>
              <a:rPr lang="en-US" altLang="en-US" i="1" dirty="0" smtClean="0"/>
              <a:t>x</a:t>
            </a:r>
            <a:r>
              <a:rPr lang="en-US" altLang="en-US" dirty="0" smtClean="0"/>
              <a:t>) allows each choice to provide a different pattern of returns depending on how the future turns out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5176B40-6E71-43B1-82A6-324092333D75}" type="slidenum">
              <a:rPr lang="en-US" smtClean="0"/>
              <a:pPr>
                <a:defRPr/>
              </a:pPr>
              <a:t>49</a:t>
            </a:fld>
            <a:endParaRPr lang="en-US"/>
          </a:p>
        </p:txBody>
      </p:sp>
    </p:spTree>
    <p:extLst>
      <p:ext uri="{BB962C8B-B14F-4D97-AF65-F5344CB8AC3E}">
        <p14:creationId xmlns:p14="http://schemas.microsoft.com/office/powerpoint/2010/main" val="504920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smtClean="0"/>
              <a:t>Flexibility</a:t>
            </a:r>
          </a:p>
        </p:txBody>
      </p:sp>
      <p:sp>
        <p:nvSpPr>
          <p:cNvPr id="71683" name="Content Placeholder 2"/>
          <p:cNvSpPr>
            <a:spLocks noGrp="1"/>
          </p:cNvSpPr>
          <p:nvPr>
            <p:ph idx="1"/>
          </p:nvPr>
        </p:nvSpPr>
        <p:spPr/>
        <p:txBody>
          <a:bodyPr/>
          <a:lstStyle/>
          <a:p>
            <a:r>
              <a:rPr lang="en-US" altLang="en-US" dirty="0" smtClean="0"/>
              <a:t>Model of real options</a:t>
            </a:r>
          </a:p>
          <a:p>
            <a:pPr lvl="1"/>
            <a:r>
              <a:rPr lang="en-US" altLang="en-US" dirty="0" smtClean="0"/>
              <a:t>No flexibility</a:t>
            </a:r>
          </a:p>
          <a:p>
            <a:pPr lvl="2"/>
            <a:r>
              <a:rPr lang="en-US" altLang="en-US" dirty="0" smtClean="0"/>
              <a:t>Choose the single alternative that is best on average</a:t>
            </a:r>
          </a:p>
          <a:p>
            <a:pPr lvl="2"/>
            <a:r>
              <a:rPr lang="en-US" altLang="en-US" dirty="0" smtClean="0"/>
              <a:t>Expected utility from this choice: </a:t>
            </a:r>
            <a:r>
              <a:rPr lang="en-US" altLang="en-US" i="1" dirty="0" smtClean="0">
                <a:solidFill>
                  <a:srgbClr val="FF0000"/>
                </a:solidFill>
              </a:rPr>
              <a:t>max{E[U(O</a:t>
            </a:r>
            <a:r>
              <a:rPr lang="en-US" altLang="en-US" i="1" baseline="-25000" dirty="0" smtClean="0">
                <a:solidFill>
                  <a:srgbClr val="FF0000"/>
                </a:solidFill>
              </a:rPr>
              <a:t>1</a:t>
            </a:r>
            <a:r>
              <a:rPr lang="en-US" altLang="en-US" i="1" dirty="0" smtClean="0">
                <a:solidFill>
                  <a:srgbClr val="FF0000"/>
                </a:solidFill>
              </a:rPr>
              <a:t>)] ,…, E[U(O</a:t>
            </a:r>
            <a:r>
              <a:rPr lang="en-US" altLang="en-US" i="1" baseline="-25000" dirty="0" smtClean="0">
                <a:solidFill>
                  <a:srgbClr val="FF0000"/>
                </a:solidFill>
              </a:rPr>
              <a:t>n</a:t>
            </a:r>
            <a:r>
              <a:rPr lang="en-US" altLang="en-US" i="1" dirty="0" smtClean="0">
                <a:solidFill>
                  <a:srgbClr val="FF0000"/>
                </a:solidFill>
              </a:rPr>
              <a:t>)]}</a:t>
            </a:r>
          </a:p>
          <a:p>
            <a:pPr lvl="1"/>
            <a:r>
              <a:rPr lang="en-US" altLang="en-US" dirty="0" smtClean="0"/>
              <a:t>Flexibility</a:t>
            </a:r>
          </a:p>
          <a:p>
            <a:pPr lvl="2"/>
            <a:r>
              <a:rPr lang="en-US" altLang="en-US" dirty="0" smtClean="0"/>
              <a:t>Choose the best alternative</a:t>
            </a:r>
          </a:p>
          <a:p>
            <a:pPr lvl="2"/>
            <a:r>
              <a:rPr lang="en-US" altLang="en-US" dirty="0" smtClean="0"/>
              <a:t>Expected utility:  </a:t>
            </a:r>
            <a:r>
              <a:rPr lang="en-US" altLang="en-US" i="1" dirty="0" smtClean="0">
                <a:solidFill>
                  <a:srgbClr val="FF0000"/>
                </a:solidFill>
              </a:rPr>
              <a:t>E{max[U(O</a:t>
            </a:r>
            <a:r>
              <a:rPr lang="en-US" altLang="en-US" i="1" baseline="-25000" dirty="0" smtClean="0">
                <a:solidFill>
                  <a:srgbClr val="FF0000"/>
                </a:solidFill>
              </a:rPr>
              <a:t>1</a:t>
            </a:r>
            <a:r>
              <a:rPr lang="en-US" altLang="en-US" i="1" dirty="0" smtClean="0">
                <a:solidFill>
                  <a:srgbClr val="FF0000"/>
                </a:solidFill>
              </a:rPr>
              <a:t>),…,U(O</a:t>
            </a:r>
            <a:r>
              <a:rPr lang="en-US" altLang="en-US" i="1" baseline="-25000" dirty="0" smtClean="0">
                <a:solidFill>
                  <a:srgbClr val="FF0000"/>
                </a:solidFill>
              </a:rPr>
              <a:t>n</a:t>
            </a:r>
            <a:r>
              <a:rPr lang="en-US" altLang="en-US" i="1" dirty="0" smtClean="0">
                <a:solidFill>
                  <a:srgbClr val="FF0000"/>
                </a:solidFill>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E73E1C4-DF6A-4875-BFF7-90F7A33E6C82}" type="slidenum">
              <a:rPr lang="en-US" smtClean="0"/>
              <a:pPr>
                <a:defRPr/>
              </a:pPr>
              <a:t>50</a:t>
            </a:fld>
            <a:endParaRPr lang="en-US"/>
          </a:p>
        </p:txBody>
      </p:sp>
    </p:spTree>
    <p:extLst>
      <p:ext uri="{BB962C8B-B14F-4D97-AF65-F5344CB8AC3E}">
        <p14:creationId xmlns:p14="http://schemas.microsoft.com/office/powerpoint/2010/main" val="3642335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7.3	The Nature of a Real </a:t>
            </a:r>
            <a:r>
              <a:rPr lang="en-US" altLang="en-US" dirty="0" smtClean="0"/>
              <a:t>Option</a:t>
            </a:r>
          </a:p>
        </p:txBody>
      </p:sp>
      <p:sp>
        <p:nvSpPr>
          <p:cNvPr id="72707" name="Text Placeholder 2"/>
          <p:cNvSpPr>
            <a:spLocks noGrp="1"/>
          </p:cNvSpPr>
          <p:nvPr>
            <p:ph sz="half" idx="1"/>
          </p:nvPr>
        </p:nvSpPr>
        <p:spPr>
          <a:xfrm>
            <a:off x="0" y="4927686"/>
            <a:ext cx="9144000" cy="1481051"/>
          </a:xfrm>
        </p:spPr>
        <p:txBody>
          <a:bodyPr>
            <a:noAutofit/>
          </a:bodyPr>
          <a:lstStyle/>
          <a:p>
            <a:pPr>
              <a:spcBef>
                <a:spcPct val="0"/>
              </a:spcBef>
            </a:pPr>
            <a:r>
              <a:rPr lang="en-US" altLang="en-US" dirty="0"/>
              <a:t>Panel (a) shows the payoffs and panel (b) shows the utilities provided by two alternatives across states of the world (x). If the decision has to be made upfront, the individual chooses the single curve having the highest expected utility. If the real option to make either decision can be preserved until later, the individual can obtain the expected utility of the upper envelope of the curves, shown in </a:t>
            </a:r>
            <a:r>
              <a:rPr lang="en-US" altLang="en-US" dirty="0" smtClean="0"/>
              <a:t>bold.</a:t>
            </a:r>
            <a:endParaRPr lang="en-US" altLang="en-US" dirty="0"/>
          </a:p>
        </p:txBody>
      </p:sp>
      <p:sp>
        <p:nvSpPr>
          <p:cNvPr id="7271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0701A021-2C75-4F81-B553-9E665C44B9FE}" type="slidenum">
              <a:rPr lang="en-US" smtClean="0"/>
              <a:pPr>
                <a:defRPr/>
              </a:pPr>
              <a:t>51</a:t>
            </a:fld>
            <a:endParaRPr lang="en-US" dirty="0"/>
          </a:p>
        </p:txBody>
      </p:sp>
      <p:grpSp>
        <p:nvGrpSpPr>
          <p:cNvPr id="3" name="Group 2"/>
          <p:cNvGrpSpPr/>
          <p:nvPr/>
        </p:nvGrpSpPr>
        <p:grpSpPr>
          <a:xfrm>
            <a:off x="450850" y="762000"/>
            <a:ext cx="7931150" cy="4165686"/>
            <a:chOff x="450850" y="762000"/>
            <a:chExt cx="7931150" cy="4165686"/>
          </a:xfrm>
        </p:grpSpPr>
        <p:pic>
          <p:nvPicPr>
            <p:cNvPr id="114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762000"/>
              <a:ext cx="7931150" cy="4165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657600" y="3657600"/>
              <a:ext cx="413896" cy="369332"/>
            </a:xfrm>
            <a:prstGeom prst="rect">
              <a:avLst/>
            </a:prstGeom>
            <a:solidFill>
              <a:schemeClr val="bg1"/>
            </a:solidFill>
          </p:spPr>
          <p:txBody>
            <a:bodyPr wrap="none" rtlCol="0">
              <a:spAutoFit/>
            </a:bodyPr>
            <a:lstStyle/>
            <a:p>
              <a:r>
                <a:rPr lang="en-US" i="1" dirty="0" smtClean="0">
                  <a:solidFill>
                    <a:srgbClr val="002D56"/>
                  </a:solidFill>
                </a:rPr>
                <a:t>O</a:t>
              </a:r>
              <a:r>
                <a:rPr lang="en-US" baseline="-25000" dirty="0" smtClean="0">
                  <a:solidFill>
                    <a:srgbClr val="002D56"/>
                  </a:solidFill>
                </a:rPr>
                <a:t>1</a:t>
              </a:r>
              <a:endParaRPr lang="en-US" dirty="0">
                <a:solidFill>
                  <a:srgbClr val="002D56"/>
                </a:solidFill>
              </a:endParaRPr>
            </a:p>
          </p:txBody>
        </p:sp>
        <p:sp>
          <p:nvSpPr>
            <p:cNvPr id="9" name="TextBox 8"/>
            <p:cNvSpPr txBox="1"/>
            <p:nvPr/>
          </p:nvSpPr>
          <p:spPr>
            <a:xfrm>
              <a:off x="3810000" y="1230868"/>
              <a:ext cx="413896" cy="369332"/>
            </a:xfrm>
            <a:prstGeom prst="rect">
              <a:avLst/>
            </a:prstGeom>
            <a:solidFill>
              <a:schemeClr val="bg1"/>
            </a:solidFill>
          </p:spPr>
          <p:txBody>
            <a:bodyPr wrap="none" rtlCol="0">
              <a:spAutoFit/>
            </a:bodyPr>
            <a:lstStyle/>
            <a:p>
              <a:r>
                <a:rPr lang="en-US" i="1" dirty="0" smtClean="0">
                  <a:solidFill>
                    <a:srgbClr val="002D56"/>
                  </a:solidFill>
                </a:rPr>
                <a:t>O</a:t>
              </a:r>
              <a:r>
                <a:rPr lang="en-US" baseline="-25000" dirty="0" smtClean="0">
                  <a:solidFill>
                    <a:srgbClr val="002D56"/>
                  </a:solidFill>
                </a:rPr>
                <a:t>2</a:t>
              </a:r>
              <a:endParaRPr lang="en-US" dirty="0">
                <a:solidFill>
                  <a:srgbClr val="002D56"/>
                </a:solidFill>
              </a:endParaRPr>
            </a:p>
          </p:txBody>
        </p:sp>
        <p:sp>
          <p:nvSpPr>
            <p:cNvPr id="10" name="TextBox 9"/>
            <p:cNvSpPr txBox="1"/>
            <p:nvPr/>
          </p:nvSpPr>
          <p:spPr>
            <a:xfrm>
              <a:off x="7239000" y="3493532"/>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1</a:t>
              </a:r>
              <a:r>
                <a:rPr lang="en-US" dirty="0" smtClean="0">
                  <a:solidFill>
                    <a:srgbClr val="002D56"/>
                  </a:solidFill>
                </a:rPr>
                <a:t>)</a:t>
              </a:r>
              <a:endParaRPr lang="en-US" dirty="0">
                <a:solidFill>
                  <a:srgbClr val="002D56"/>
                </a:solidFill>
              </a:endParaRPr>
            </a:p>
          </p:txBody>
        </p:sp>
        <p:sp>
          <p:nvSpPr>
            <p:cNvPr id="11" name="TextBox 10"/>
            <p:cNvSpPr txBox="1"/>
            <p:nvPr/>
          </p:nvSpPr>
          <p:spPr>
            <a:xfrm>
              <a:off x="7391400" y="1524000"/>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2</a:t>
              </a:r>
              <a:r>
                <a:rPr lang="en-US" dirty="0" smtClean="0">
                  <a:solidFill>
                    <a:srgbClr val="002D56"/>
                  </a:solidFill>
                </a:rPr>
                <a:t>)</a:t>
              </a:r>
              <a:endParaRPr lang="en-US" dirty="0">
                <a:solidFill>
                  <a:srgbClr val="002D56"/>
                </a:solidFill>
              </a:endParaRPr>
            </a:p>
          </p:txBody>
        </p:sp>
      </p:grpSp>
    </p:spTree>
    <p:extLst>
      <p:ext uri="{BB962C8B-B14F-4D97-AF65-F5344CB8AC3E}">
        <p14:creationId xmlns:p14="http://schemas.microsoft.com/office/powerpoint/2010/main" val="137039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2707">
                                            <p:txEl>
                                              <p:pRg st="0" end="0"/>
                                            </p:txEl>
                                          </p:spTgt>
                                        </p:tgtEl>
                                        <p:attrNameLst>
                                          <p:attrName>style.visibility</p:attrName>
                                        </p:attrNameLst>
                                      </p:cBhvr>
                                      <p:to>
                                        <p:strVal val="visible"/>
                                      </p:to>
                                    </p:set>
                                    <p:animEffect transition="in" filter="wipe(left)">
                                      <p:cBhvr>
                                        <p:cTn id="11" dur="500"/>
                                        <p:tgtEl>
                                          <p:spTgt spid="727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ltLang="en-US" smtClean="0"/>
              <a:t>Flexibility</a:t>
            </a:r>
          </a:p>
        </p:txBody>
      </p:sp>
      <p:sp>
        <p:nvSpPr>
          <p:cNvPr id="73731" name="Content Placeholder 2"/>
          <p:cNvSpPr>
            <a:spLocks noGrp="1"/>
          </p:cNvSpPr>
          <p:nvPr>
            <p:ph idx="1"/>
          </p:nvPr>
        </p:nvSpPr>
        <p:spPr/>
        <p:txBody>
          <a:bodyPr/>
          <a:lstStyle/>
          <a:p>
            <a:r>
              <a:rPr lang="en-US" altLang="en-US" smtClean="0"/>
              <a:t>More options are better (generally)</a:t>
            </a:r>
          </a:p>
          <a:p>
            <a:pPr lvl="1"/>
            <a:r>
              <a:rPr lang="en-US" altLang="en-US" smtClean="0"/>
              <a:t>Options give the holder the right—but not the obligation—to choose them</a:t>
            </a:r>
          </a:p>
          <a:p>
            <a:r>
              <a:rPr lang="en-US" altLang="en-US" smtClean="0"/>
              <a:t>In a strategic setting</a:t>
            </a:r>
          </a:p>
          <a:p>
            <a:pPr lvl="1"/>
            <a:r>
              <a:rPr lang="en-US" altLang="en-US" smtClean="0"/>
              <a:t>Economic actors may benefit from having some of their options cut off</a:t>
            </a:r>
          </a:p>
          <a:p>
            <a:pPr lvl="2"/>
            <a:r>
              <a:rPr lang="en-US" altLang="en-US" smtClean="0"/>
              <a:t>Allow a player to commit to a narrower course of action</a:t>
            </a:r>
          </a:p>
          <a:p>
            <a:pPr lvl="2"/>
            <a:r>
              <a:rPr lang="en-US" altLang="en-US" smtClean="0"/>
              <a:t>This commitment may affect the actions of other parties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8FFB805-F717-4BD8-9C52-A4EB6B58B539}" type="slidenum">
              <a:rPr lang="en-US" smtClean="0"/>
              <a:pPr>
                <a:defRPr/>
              </a:pPr>
              <a:t>52</a:t>
            </a:fld>
            <a:endParaRPr lang="en-US"/>
          </a:p>
        </p:txBody>
      </p:sp>
    </p:spTree>
    <p:extLst>
      <p:ext uri="{BB962C8B-B14F-4D97-AF65-F5344CB8AC3E}">
        <p14:creationId xmlns:p14="http://schemas.microsoft.com/office/powerpoint/2010/main" val="41083481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7.4	More Options Cannot Make the Individual </a:t>
            </a:r>
            <a:r>
              <a:rPr lang="en-US" altLang="en-US" dirty="0" smtClean="0"/>
              <a:t/>
            </a:r>
            <a:br>
              <a:rPr lang="en-US" altLang="en-US" dirty="0" smtClean="0"/>
            </a:br>
            <a:r>
              <a:rPr lang="en-US" altLang="en-US" dirty="0" smtClean="0"/>
              <a:t>	</a:t>
            </a:r>
            <a:r>
              <a:rPr lang="en-US" altLang="en-US" dirty="0" smtClean="0">
                <a:solidFill>
                  <a:srgbClr val="002D56"/>
                </a:solidFill>
              </a:rPr>
              <a:t>Decision-Maker  </a:t>
            </a:r>
            <a:r>
              <a:rPr lang="en-US" altLang="en-US" dirty="0">
                <a:solidFill>
                  <a:srgbClr val="002D56"/>
                </a:solidFill>
              </a:rPr>
              <a:t>Worse </a:t>
            </a:r>
            <a:r>
              <a:rPr lang="en-US" altLang="en-US" dirty="0" smtClean="0">
                <a:solidFill>
                  <a:srgbClr val="002D56"/>
                </a:solidFill>
              </a:rPr>
              <a:t>Off</a:t>
            </a:r>
          </a:p>
        </p:txBody>
      </p:sp>
      <p:sp>
        <p:nvSpPr>
          <p:cNvPr id="74755" name="Text Placeholder 2"/>
          <p:cNvSpPr>
            <a:spLocks noGrp="1"/>
          </p:cNvSpPr>
          <p:nvPr>
            <p:ph sz="half" idx="1"/>
          </p:nvPr>
        </p:nvSpPr>
        <p:spPr>
          <a:xfrm>
            <a:off x="152400" y="5227093"/>
            <a:ext cx="8991600" cy="1169738"/>
          </a:xfrm>
        </p:spPr>
        <p:txBody>
          <a:bodyPr>
            <a:normAutofit/>
          </a:bodyPr>
          <a:lstStyle/>
          <a:p>
            <a:pPr>
              <a:spcBef>
                <a:spcPct val="0"/>
              </a:spcBef>
            </a:pPr>
            <a:r>
              <a:rPr lang="en-US" altLang="en-US" dirty="0"/>
              <a:t>The addition of a third alternative to the two drawn in Figure 7.3 is valuable in (a) because it shifts the upper envelope (shown in bold) of utilities up. The new alternative is worthless in (b) because it does not shift the upper envelope, but the individual is not worse off for having it</a:t>
            </a:r>
            <a:r>
              <a:rPr lang="en-US" altLang="en-US" dirty="0" smtClean="0"/>
              <a:t>.</a:t>
            </a:r>
            <a:endParaRPr lang="en-US" altLang="en-US" dirty="0"/>
          </a:p>
        </p:txBody>
      </p:sp>
      <p:sp>
        <p:nvSpPr>
          <p:cNvPr id="747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6680F87-E9EE-4D04-9258-87F2B41961B2}" type="slidenum">
              <a:rPr lang="en-US" smtClean="0"/>
              <a:pPr>
                <a:defRPr/>
              </a:pPr>
              <a:t>53</a:t>
            </a:fld>
            <a:endParaRPr lang="en-US" dirty="0"/>
          </a:p>
        </p:txBody>
      </p:sp>
      <p:grpSp>
        <p:nvGrpSpPr>
          <p:cNvPr id="2" name="Group 1"/>
          <p:cNvGrpSpPr/>
          <p:nvPr/>
        </p:nvGrpSpPr>
        <p:grpSpPr>
          <a:xfrm>
            <a:off x="504470" y="990600"/>
            <a:ext cx="8334730" cy="4144442"/>
            <a:chOff x="504470" y="990600"/>
            <a:chExt cx="8334730" cy="4144442"/>
          </a:xfrm>
        </p:grpSpPr>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470" y="990600"/>
              <a:ext cx="8334730" cy="414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352800" y="1828800"/>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2</a:t>
              </a:r>
              <a:r>
                <a:rPr lang="en-US" dirty="0" smtClean="0">
                  <a:solidFill>
                    <a:srgbClr val="002D56"/>
                  </a:solidFill>
                </a:rPr>
                <a:t>)</a:t>
              </a:r>
              <a:endParaRPr lang="en-US" dirty="0">
                <a:solidFill>
                  <a:srgbClr val="002D56"/>
                </a:solidFill>
              </a:endParaRPr>
            </a:p>
          </p:txBody>
        </p:sp>
        <p:sp>
          <p:nvSpPr>
            <p:cNvPr id="10" name="TextBox 9"/>
            <p:cNvSpPr txBox="1"/>
            <p:nvPr/>
          </p:nvSpPr>
          <p:spPr>
            <a:xfrm>
              <a:off x="3352800" y="3821668"/>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1</a:t>
              </a:r>
              <a:r>
                <a:rPr lang="en-US" dirty="0" smtClean="0">
                  <a:solidFill>
                    <a:srgbClr val="002D56"/>
                  </a:solidFill>
                </a:rPr>
                <a:t>)</a:t>
              </a:r>
              <a:endParaRPr lang="en-US" dirty="0">
                <a:solidFill>
                  <a:srgbClr val="002D56"/>
                </a:solidFill>
              </a:endParaRPr>
            </a:p>
          </p:txBody>
        </p:sp>
        <p:sp>
          <p:nvSpPr>
            <p:cNvPr id="11" name="TextBox 10"/>
            <p:cNvSpPr txBox="1"/>
            <p:nvPr/>
          </p:nvSpPr>
          <p:spPr>
            <a:xfrm>
              <a:off x="7696200" y="3684896"/>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1</a:t>
              </a:r>
              <a:r>
                <a:rPr lang="en-US" dirty="0" smtClean="0">
                  <a:solidFill>
                    <a:srgbClr val="002D56"/>
                  </a:solidFill>
                </a:rPr>
                <a:t>)</a:t>
              </a:r>
              <a:endParaRPr lang="en-US" dirty="0">
                <a:solidFill>
                  <a:srgbClr val="002D56"/>
                </a:solidFill>
              </a:endParaRPr>
            </a:p>
          </p:txBody>
        </p:sp>
        <p:sp>
          <p:nvSpPr>
            <p:cNvPr id="12" name="TextBox 11"/>
            <p:cNvSpPr txBox="1"/>
            <p:nvPr/>
          </p:nvSpPr>
          <p:spPr>
            <a:xfrm>
              <a:off x="3429000" y="1295400"/>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3</a:t>
              </a:r>
              <a:r>
                <a:rPr lang="en-US" dirty="0" smtClean="0">
                  <a:solidFill>
                    <a:srgbClr val="002D56"/>
                  </a:solidFill>
                </a:rPr>
                <a:t>)</a:t>
              </a:r>
              <a:endParaRPr lang="en-US" dirty="0">
                <a:solidFill>
                  <a:srgbClr val="002D56"/>
                </a:solidFill>
              </a:endParaRPr>
            </a:p>
          </p:txBody>
        </p:sp>
        <p:sp>
          <p:nvSpPr>
            <p:cNvPr id="13" name="TextBox 12"/>
            <p:cNvSpPr txBox="1"/>
            <p:nvPr/>
          </p:nvSpPr>
          <p:spPr>
            <a:xfrm>
              <a:off x="7848600" y="2514600"/>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2</a:t>
              </a:r>
              <a:r>
                <a:rPr lang="en-US" dirty="0" smtClean="0">
                  <a:solidFill>
                    <a:srgbClr val="002D56"/>
                  </a:solidFill>
                </a:rPr>
                <a:t>)</a:t>
              </a:r>
              <a:endParaRPr lang="en-US" dirty="0">
                <a:solidFill>
                  <a:srgbClr val="002D56"/>
                </a:solidFill>
              </a:endParaRPr>
            </a:p>
          </p:txBody>
        </p:sp>
        <p:sp>
          <p:nvSpPr>
            <p:cNvPr id="14" name="TextBox 13"/>
            <p:cNvSpPr txBox="1"/>
            <p:nvPr/>
          </p:nvSpPr>
          <p:spPr>
            <a:xfrm>
              <a:off x="7696200" y="1752600"/>
              <a:ext cx="702436" cy="369332"/>
            </a:xfrm>
            <a:prstGeom prst="rect">
              <a:avLst/>
            </a:prstGeom>
            <a:solidFill>
              <a:schemeClr val="bg1"/>
            </a:solidFill>
          </p:spPr>
          <p:txBody>
            <a:bodyPr wrap="none" rtlCol="0">
              <a:spAutoFit/>
            </a:bodyPr>
            <a:lstStyle/>
            <a:p>
              <a:r>
                <a:rPr lang="en-US" i="1" dirty="0" smtClean="0">
                  <a:solidFill>
                    <a:srgbClr val="002D56"/>
                  </a:solidFill>
                </a:rPr>
                <a:t>U(O</a:t>
              </a:r>
              <a:r>
                <a:rPr lang="en-US" baseline="-25000" dirty="0" smtClean="0">
                  <a:solidFill>
                    <a:srgbClr val="002D56"/>
                  </a:solidFill>
                </a:rPr>
                <a:t>3</a:t>
              </a:r>
              <a:r>
                <a:rPr lang="en-US" dirty="0" smtClean="0">
                  <a:solidFill>
                    <a:srgbClr val="002D56"/>
                  </a:solidFill>
                </a:rPr>
                <a:t>)</a:t>
              </a:r>
              <a:endParaRPr lang="en-US" dirty="0">
                <a:solidFill>
                  <a:srgbClr val="002D56"/>
                </a:solidFill>
              </a:endParaRPr>
            </a:p>
          </p:txBody>
        </p:sp>
      </p:grpSp>
    </p:spTree>
    <p:extLst>
      <p:ext uri="{BB962C8B-B14F-4D97-AF65-F5344CB8AC3E}">
        <p14:creationId xmlns:p14="http://schemas.microsoft.com/office/powerpoint/2010/main" val="10533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55">
                                            <p:txEl>
                                              <p:pRg st="0" end="0"/>
                                            </p:txEl>
                                          </p:spTgt>
                                        </p:tgtEl>
                                        <p:attrNameLst>
                                          <p:attrName>style.visibility</p:attrName>
                                        </p:attrNameLst>
                                      </p:cBhvr>
                                      <p:to>
                                        <p:strVal val="visible"/>
                                      </p:to>
                                    </p:set>
                                    <p:animEffect transition="in" filter="wipe(left)">
                                      <p:cBhvr>
                                        <p:cTn id="11" dur="500"/>
                                        <p:tgtEl>
                                          <p:spTgt spid="747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altLang="en-US" smtClean="0"/>
              <a:t>Flexibility</a:t>
            </a:r>
          </a:p>
        </p:txBody>
      </p:sp>
      <p:sp>
        <p:nvSpPr>
          <p:cNvPr id="75779" name="Content Placeholder 2"/>
          <p:cNvSpPr>
            <a:spLocks noGrp="1"/>
          </p:cNvSpPr>
          <p:nvPr>
            <p:ph idx="1"/>
          </p:nvPr>
        </p:nvSpPr>
        <p:spPr/>
        <p:txBody>
          <a:bodyPr/>
          <a:lstStyle/>
          <a:p>
            <a:r>
              <a:rPr lang="en-US" altLang="en-US" dirty="0" smtClean="0"/>
              <a:t>Computing option value</a:t>
            </a:r>
          </a:p>
          <a:p>
            <a:pPr lvl="1"/>
            <a:r>
              <a:rPr lang="en-US" altLang="en-US" dirty="0" smtClean="0"/>
              <a:t>Let F be the fee that has to be paid </a:t>
            </a:r>
          </a:p>
          <a:p>
            <a:pPr lvl="2"/>
            <a:r>
              <a:rPr lang="en-US" altLang="en-US" dirty="0" smtClean="0"/>
              <a:t>For the ability to choose the best alternative after x has been realized instead of before</a:t>
            </a:r>
          </a:p>
          <a:p>
            <a:pPr lvl="1"/>
            <a:r>
              <a:rPr lang="en-US" altLang="en-US" dirty="0" smtClean="0"/>
              <a:t>The individual would be willing to pay the fee as long as:</a:t>
            </a:r>
          </a:p>
          <a:p>
            <a:pPr lvl="1">
              <a:buFont typeface="Arial" charset="0"/>
              <a:buNone/>
            </a:pPr>
            <a:r>
              <a:rPr lang="en-US" altLang="en-US" i="1" dirty="0" smtClean="0">
                <a:solidFill>
                  <a:srgbClr val="FF0000"/>
                </a:solidFill>
              </a:rPr>
              <a:t>E{max[U(O</a:t>
            </a:r>
            <a:r>
              <a:rPr lang="en-US" altLang="en-US" i="1" baseline="-25000" dirty="0" smtClean="0">
                <a:solidFill>
                  <a:srgbClr val="FF0000"/>
                </a:solidFill>
              </a:rPr>
              <a:t>1</a:t>
            </a:r>
            <a:r>
              <a:rPr lang="en-US" altLang="en-US" i="1" dirty="0" smtClean="0">
                <a:solidFill>
                  <a:srgbClr val="FF0000"/>
                </a:solidFill>
              </a:rPr>
              <a:t>(x)-F),…,U(O</a:t>
            </a:r>
            <a:r>
              <a:rPr lang="en-US" altLang="en-US" i="1" baseline="-25000" dirty="0" smtClean="0">
                <a:solidFill>
                  <a:srgbClr val="FF0000"/>
                </a:solidFill>
              </a:rPr>
              <a:t>n</a:t>
            </a:r>
            <a:r>
              <a:rPr lang="en-US" altLang="en-US" i="1" dirty="0" smtClean="0">
                <a:solidFill>
                  <a:srgbClr val="FF0000"/>
                </a:solidFill>
              </a:rPr>
              <a:t>(x)-F)]} ≥ max{E[U(O</a:t>
            </a:r>
            <a:r>
              <a:rPr lang="en-US" altLang="en-US" i="1" baseline="-25000" dirty="0" smtClean="0">
                <a:solidFill>
                  <a:srgbClr val="FF0000"/>
                </a:solidFill>
              </a:rPr>
              <a:t>1</a:t>
            </a:r>
            <a:r>
              <a:rPr lang="en-US" altLang="en-US" i="1" dirty="0" smtClean="0">
                <a:solidFill>
                  <a:srgbClr val="FF0000"/>
                </a:solidFill>
              </a:rPr>
              <a:t>(x)] ,…, E[U(O</a:t>
            </a:r>
            <a:r>
              <a:rPr lang="en-US" altLang="en-US" i="1" baseline="-25000" dirty="0" smtClean="0">
                <a:solidFill>
                  <a:srgbClr val="FF0000"/>
                </a:solidFill>
              </a:rPr>
              <a:t>n</a:t>
            </a:r>
            <a:r>
              <a:rPr lang="en-US" altLang="en-US" i="1" dirty="0" smtClean="0">
                <a:solidFill>
                  <a:srgbClr val="FF0000"/>
                </a:solidFill>
              </a:rPr>
              <a:t>(x)]}</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EE0A964-C4A2-4E0E-8017-C843D5C9CD32}" type="slidenum">
              <a:rPr lang="en-US" smtClean="0"/>
              <a:pPr>
                <a:defRPr/>
              </a:pPr>
              <a:t>54</a:t>
            </a:fld>
            <a:endParaRPr lang="en-US"/>
          </a:p>
        </p:txBody>
      </p:sp>
    </p:spTree>
    <p:extLst>
      <p:ext uri="{BB962C8B-B14F-4D97-AF65-F5344CB8AC3E}">
        <p14:creationId xmlns:p14="http://schemas.microsoft.com/office/powerpoint/2010/main" val="3108938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smtClean="0"/>
              <a:t>7.5	 Value of a Flexible-Fuel Car</a:t>
            </a:r>
          </a:p>
        </p:txBody>
      </p:sp>
      <p:sp>
        <p:nvSpPr>
          <p:cNvPr id="7680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1871E04-BA65-4433-A3A1-3F7B7907741E}" type="slidenum">
              <a:rPr lang="en-US" smtClean="0"/>
              <a:pPr>
                <a:defRPr/>
              </a:pPr>
              <a:t>55</a:t>
            </a:fld>
            <a:endParaRPr lang="en-US" dirty="0"/>
          </a:p>
        </p:txBody>
      </p:sp>
      <p:sp>
        <p:nvSpPr>
          <p:cNvPr id="76803" name="Content Placeholder 2"/>
          <p:cNvSpPr>
            <a:spLocks noGrp="1"/>
          </p:cNvSpPr>
          <p:nvPr>
            <p:ph type="body" sz="quarter" idx="12"/>
          </p:nvPr>
        </p:nvSpPr>
        <p:spPr>
          <a:prstGeom prst="rect">
            <a:avLst/>
          </a:prstGeom>
        </p:spPr>
        <p:txBody>
          <a:bodyPr/>
          <a:lstStyle/>
          <a:p>
            <a:r>
              <a:rPr lang="en-US" altLang="en-US" i="1" dirty="0" smtClean="0"/>
              <a:t>O</a:t>
            </a:r>
            <a:r>
              <a:rPr lang="en-US" altLang="en-US" i="1" baseline="-25000" dirty="0" smtClean="0"/>
              <a:t>1</a:t>
            </a:r>
            <a:r>
              <a:rPr lang="en-US" altLang="en-US" i="1" dirty="0" smtClean="0"/>
              <a:t>(x)= 1-x  </a:t>
            </a:r>
          </a:p>
          <a:p>
            <a:pPr lvl="1"/>
            <a:r>
              <a:rPr lang="en-US" altLang="en-US" dirty="0" smtClean="0"/>
              <a:t>The payoff from a fossil-fuel–only car</a:t>
            </a:r>
          </a:p>
          <a:p>
            <a:r>
              <a:rPr lang="en-US" altLang="en-US" i="1" dirty="0" smtClean="0"/>
              <a:t>O</a:t>
            </a:r>
            <a:r>
              <a:rPr lang="en-US" altLang="en-US" i="1" baseline="-25000" dirty="0" smtClean="0"/>
              <a:t>2</a:t>
            </a:r>
            <a:r>
              <a:rPr lang="en-US" altLang="en-US" i="1" dirty="0" smtClean="0"/>
              <a:t>(x) = x</a:t>
            </a:r>
          </a:p>
          <a:p>
            <a:pPr lvl="1"/>
            <a:r>
              <a:rPr lang="en-US" altLang="en-US" dirty="0" smtClean="0"/>
              <a:t>The payoff from a biofuel-only car</a:t>
            </a:r>
          </a:p>
          <a:p>
            <a:r>
              <a:rPr lang="en-US" altLang="en-US" dirty="0" smtClean="0"/>
              <a:t>State of the world, </a:t>
            </a:r>
            <a:r>
              <a:rPr lang="en-US" altLang="en-US" i="1" dirty="0" smtClean="0"/>
              <a:t>x</a:t>
            </a:r>
          </a:p>
          <a:p>
            <a:pPr lvl="1"/>
            <a:r>
              <a:rPr lang="en-US" altLang="en-US" dirty="0" smtClean="0"/>
              <a:t>Reflects the relative importance of biofuels compared with fossil fuels over the car’s lifespan</a:t>
            </a:r>
          </a:p>
          <a:p>
            <a:pPr lvl="1"/>
            <a:r>
              <a:rPr lang="en-US" altLang="en-US" dirty="0" smtClean="0"/>
              <a:t>Random variable, uniformly distributed between 0 and 1</a:t>
            </a:r>
          </a:p>
        </p:txBody>
      </p:sp>
    </p:spTree>
    <p:extLst>
      <p:ext uri="{BB962C8B-B14F-4D97-AF65-F5344CB8AC3E}">
        <p14:creationId xmlns:p14="http://schemas.microsoft.com/office/powerpoint/2010/main" val="14530235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7.5	 Value of a Flexible-Fuel Car</a:t>
            </a:r>
          </a:p>
        </p:txBody>
      </p:sp>
      <p:sp>
        <p:nvSpPr>
          <p:cNvPr id="1434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BC628E92-B36B-4081-9C0F-AFE41CE1D881}" type="slidenum">
              <a:rPr lang="en-US" smtClean="0"/>
              <a:pPr>
                <a:defRPr/>
              </a:pPr>
              <a:t>56</a:t>
            </a:fld>
            <a:endParaRPr lang="en-US" dirty="0"/>
          </a:p>
        </p:txBody>
      </p:sp>
      <p:sp>
        <p:nvSpPr>
          <p:cNvPr id="14340" name="Content Placeholder 2"/>
          <p:cNvSpPr>
            <a:spLocks noGrp="1"/>
          </p:cNvSpPr>
          <p:nvPr>
            <p:ph type="body" sz="quarter" idx="12"/>
          </p:nvPr>
        </p:nvSpPr>
        <p:spPr>
          <a:prstGeom prst="rect">
            <a:avLst/>
          </a:prstGeom>
        </p:spPr>
        <p:txBody>
          <a:bodyPr/>
          <a:lstStyle/>
          <a:p>
            <a:r>
              <a:rPr lang="en-US" altLang="en-US" smtClean="0"/>
              <a:t>Probability density function (PDF) is f (x) = 1 </a:t>
            </a:r>
          </a:p>
          <a:p>
            <a:pPr lvl="1"/>
            <a:r>
              <a:rPr lang="en-US" altLang="en-US" smtClean="0"/>
              <a:t>When the uniform random variable ranges between 0 and 1</a:t>
            </a:r>
          </a:p>
          <a:p>
            <a:r>
              <a:rPr lang="en-US" altLang="en-US" smtClean="0"/>
              <a:t>Suppose first that the car buyer is risk neutral</a:t>
            </a:r>
          </a:p>
          <a:p>
            <a:pPr lvl="1"/>
            <a:r>
              <a:rPr lang="en-US" altLang="en-US" smtClean="0"/>
              <a:t>Utility level = payoff level</a:t>
            </a:r>
          </a:p>
          <a:p>
            <a:pPr lvl="1"/>
            <a:r>
              <a:rPr lang="en-US" altLang="en-US" smtClean="0"/>
              <a:t>Forced to choose a biofuel car</a:t>
            </a:r>
          </a:p>
          <a:p>
            <a:pPr lvl="1"/>
            <a:r>
              <a:rPr lang="en-US" altLang="en-US" smtClean="0"/>
              <a:t>Expected utility:</a:t>
            </a:r>
          </a:p>
        </p:txBody>
      </p:sp>
      <p:graphicFrame>
        <p:nvGraphicFramePr>
          <p:cNvPr id="6" name="Object 2"/>
          <p:cNvGraphicFramePr>
            <a:graphicFrameLocks noChangeAspect="1"/>
          </p:cNvGraphicFramePr>
          <p:nvPr>
            <p:extLst>
              <p:ext uri="{D42A27DB-BD31-4B8C-83A1-F6EECF244321}">
                <p14:modId xmlns:p14="http://schemas.microsoft.com/office/powerpoint/2010/main" val="1067231884"/>
              </p:ext>
            </p:extLst>
          </p:nvPr>
        </p:nvGraphicFramePr>
        <p:xfrm>
          <a:off x="866775" y="4289425"/>
          <a:ext cx="4456113" cy="1770063"/>
        </p:xfrm>
        <a:graphic>
          <a:graphicData uri="http://schemas.openxmlformats.org/presentationml/2006/ole">
            <mc:AlternateContent xmlns:mc="http://schemas.openxmlformats.org/markup-compatibility/2006">
              <mc:Choice xmlns:v="urn:schemas-microsoft-com:vml" Requires="v">
                <p:oleObj spid="_x0000_s153613" name="Equation" r:id="rId3" imgW="1726920" imgH="685800" progId="Equation.DSMT4">
                  <p:embed/>
                </p:oleObj>
              </mc:Choice>
              <mc:Fallback>
                <p:oleObj name="Equation" r:id="rId3" imgW="1726920" imgH="685800" progId="Equation.DSMT4">
                  <p:embed/>
                  <p:pic>
                    <p:nvPicPr>
                      <p:cNvPr id="0" name=""/>
                      <p:cNvPicPr>
                        <a:picLocks noChangeAspect="1" noChangeArrowheads="1"/>
                      </p:cNvPicPr>
                      <p:nvPr/>
                    </p:nvPicPr>
                    <p:blipFill>
                      <a:blip r:embed="rId4"/>
                      <a:srcRect/>
                      <a:stretch>
                        <a:fillRect/>
                      </a:stretch>
                    </p:blipFill>
                    <p:spPr bwMode="auto">
                      <a:xfrm>
                        <a:off x="866775" y="4289425"/>
                        <a:ext cx="4456113" cy="177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74765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7.5	 Value of a Flexible-Fuel Car</a:t>
            </a:r>
          </a:p>
        </p:txBody>
      </p:sp>
      <p:sp>
        <p:nvSpPr>
          <p:cNvPr id="1536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762F452-51C8-4FDC-8B28-FF6A2D0B89FB}" type="slidenum">
              <a:rPr lang="en-US" smtClean="0"/>
              <a:pPr>
                <a:defRPr/>
              </a:pPr>
              <a:t>57</a:t>
            </a:fld>
            <a:endParaRPr lang="en-US" dirty="0"/>
          </a:p>
        </p:txBody>
      </p:sp>
      <p:sp>
        <p:nvSpPr>
          <p:cNvPr id="15364" name="Content Placeholder 2"/>
          <p:cNvSpPr>
            <a:spLocks noGrp="1"/>
          </p:cNvSpPr>
          <p:nvPr>
            <p:ph type="body" sz="quarter" idx="12"/>
          </p:nvPr>
        </p:nvSpPr>
        <p:spPr>
          <a:prstGeom prst="rect">
            <a:avLst/>
          </a:prstGeom>
        </p:spPr>
        <p:txBody>
          <a:bodyPr/>
          <a:lstStyle/>
          <a:p>
            <a:r>
              <a:rPr lang="en-US" altLang="en-US" dirty="0" smtClean="0"/>
              <a:t>Risk neutrality </a:t>
            </a:r>
          </a:p>
          <a:p>
            <a:pPr lvl="1"/>
            <a:r>
              <a:rPr lang="en-US" altLang="en-US" dirty="0" smtClean="0"/>
              <a:t>Flexible-fuel car is available</a:t>
            </a:r>
          </a:p>
          <a:p>
            <a:pPr lvl="1"/>
            <a:r>
              <a:rPr lang="en-US" altLang="en-US" dirty="0" smtClean="0"/>
              <a:t>Buyer: either O</a:t>
            </a:r>
            <a:r>
              <a:rPr lang="en-US" altLang="en-US" i="1" baseline="-25000" dirty="0" smtClean="0"/>
              <a:t>1</a:t>
            </a:r>
            <a:r>
              <a:rPr lang="en-US" altLang="en-US" i="1" dirty="0" smtClean="0"/>
              <a:t>(x)</a:t>
            </a:r>
            <a:r>
              <a:rPr lang="en-US" altLang="en-US" dirty="0" smtClean="0"/>
              <a:t> or O</a:t>
            </a:r>
            <a:r>
              <a:rPr lang="en-US" altLang="en-US" i="1" baseline="-25000" dirty="0" smtClean="0"/>
              <a:t>2</a:t>
            </a:r>
            <a:r>
              <a:rPr lang="en-US" altLang="en-US" i="1" dirty="0" smtClean="0"/>
              <a:t>(x)</a:t>
            </a:r>
            <a:r>
              <a:rPr lang="en-US" altLang="en-US" dirty="0" smtClean="0"/>
              <a:t>, whichever is higher under the latter circumstances</a:t>
            </a:r>
          </a:p>
          <a:p>
            <a:pPr lvl="1"/>
            <a:r>
              <a:rPr lang="en-US" altLang="en-US" dirty="0" smtClean="0"/>
              <a:t>Expected utility:</a:t>
            </a:r>
          </a:p>
        </p:txBody>
      </p:sp>
      <p:graphicFrame>
        <p:nvGraphicFramePr>
          <p:cNvPr id="7" name="Object 3"/>
          <p:cNvGraphicFramePr>
            <a:graphicFrameLocks noChangeAspect="1"/>
          </p:cNvGraphicFramePr>
          <p:nvPr>
            <p:extLst>
              <p:ext uri="{D42A27DB-BD31-4B8C-83A1-F6EECF244321}">
                <p14:modId xmlns:p14="http://schemas.microsoft.com/office/powerpoint/2010/main" val="1318825745"/>
              </p:ext>
            </p:extLst>
          </p:nvPr>
        </p:nvGraphicFramePr>
        <p:xfrm>
          <a:off x="1489075" y="3194050"/>
          <a:ext cx="6167438" cy="2319338"/>
        </p:xfrm>
        <a:graphic>
          <a:graphicData uri="http://schemas.openxmlformats.org/presentationml/2006/ole">
            <mc:AlternateContent xmlns:mc="http://schemas.openxmlformats.org/markup-compatibility/2006">
              <mc:Choice xmlns:v="urn:schemas-microsoft-com:vml" Requires="v">
                <p:oleObj spid="_x0000_s154637" name="Equation" r:id="rId3" imgW="2565360" imgH="965160" progId="Equation.DSMT4">
                  <p:embed/>
                </p:oleObj>
              </mc:Choice>
              <mc:Fallback>
                <p:oleObj name="Equation" r:id="rId3" imgW="2565360" imgH="965160" progId="Equation.DSMT4">
                  <p:embed/>
                  <p:pic>
                    <p:nvPicPr>
                      <p:cNvPr id="0" name=""/>
                      <p:cNvPicPr>
                        <a:picLocks noChangeAspect="1" noChangeArrowheads="1"/>
                      </p:cNvPicPr>
                      <p:nvPr/>
                    </p:nvPicPr>
                    <p:blipFill>
                      <a:blip r:embed="rId4"/>
                      <a:srcRect/>
                      <a:stretch>
                        <a:fillRect/>
                      </a:stretch>
                    </p:blipFill>
                    <p:spPr bwMode="auto">
                      <a:xfrm>
                        <a:off x="1489075" y="3194050"/>
                        <a:ext cx="6167438" cy="2319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683502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7.5	 Value of a Flexible-Fuel Car</a:t>
            </a:r>
          </a:p>
        </p:txBody>
      </p:sp>
      <p:sp>
        <p:nvSpPr>
          <p:cNvPr id="1639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40A3BCAF-62F0-45DB-994A-95B1FF3F983D}" type="slidenum">
              <a:rPr lang="en-US" smtClean="0"/>
              <a:pPr>
                <a:defRPr/>
              </a:pPr>
              <a:t>58</a:t>
            </a:fld>
            <a:endParaRPr lang="en-US" dirty="0"/>
          </a:p>
        </p:txBody>
      </p:sp>
      <p:sp>
        <p:nvSpPr>
          <p:cNvPr id="16390" name="Content Placeholder 2"/>
          <p:cNvSpPr>
            <a:spLocks noGrp="1"/>
          </p:cNvSpPr>
          <p:nvPr>
            <p:ph type="body" sz="quarter" idx="12"/>
          </p:nvPr>
        </p:nvSpPr>
        <p:spPr>
          <a:prstGeom prst="rect">
            <a:avLst/>
          </a:prstGeom>
        </p:spPr>
        <p:txBody>
          <a:bodyPr/>
          <a:lstStyle/>
          <a:p>
            <a:r>
              <a:rPr lang="en-US" altLang="en-US" dirty="0" smtClean="0"/>
              <a:t>Risk aversion,  </a:t>
            </a:r>
          </a:p>
          <a:p>
            <a:pPr lvl="1"/>
            <a:r>
              <a:rPr lang="en-US" altLang="en-US" dirty="0" smtClean="0"/>
              <a:t>Expected utility from a biofuel car:</a:t>
            </a:r>
          </a:p>
        </p:txBody>
      </p:sp>
      <p:sp>
        <p:nvSpPr>
          <p:cNvPr id="2" name="Text Placeholder 1"/>
          <p:cNvSpPr>
            <a:spLocks noGrp="1"/>
          </p:cNvSpPr>
          <p:nvPr>
            <p:ph type="body" sz="quarter" idx="13"/>
          </p:nvPr>
        </p:nvSpPr>
        <p:spPr>
          <a:xfrm>
            <a:off x="381000" y="2819400"/>
            <a:ext cx="8382000" cy="3352800"/>
          </a:xfrm>
        </p:spPr>
        <p:txBody>
          <a:bodyPr/>
          <a:lstStyle/>
          <a:p>
            <a:pPr lvl="1" eaLnBrk="0" hangingPunct="0">
              <a:buFont typeface="Arial" charset="0"/>
              <a:buChar char="•"/>
              <a:defRPr/>
            </a:pPr>
            <a:r>
              <a:rPr lang="en-US" kern="0" dirty="0"/>
              <a:t>Expected utility from a fossil-fuel car; </a:t>
            </a:r>
            <a:r>
              <a:rPr lang="en-US" i="1" kern="0" dirty="0" smtClean="0"/>
              <a:t>E[U(O</a:t>
            </a:r>
            <a:r>
              <a:rPr lang="en-US" i="1" kern="0" baseline="-25000" dirty="0" smtClean="0"/>
              <a:t>1</a:t>
            </a:r>
            <a:r>
              <a:rPr lang="en-US" i="1" kern="0" dirty="0"/>
              <a:t>)]=2/3</a:t>
            </a:r>
          </a:p>
          <a:p>
            <a:pPr lvl="1" eaLnBrk="0" hangingPunct="0">
              <a:buFont typeface="Arial" charset="0"/>
              <a:buChar char="•"/>
              <a:defRPr/>
            </a:pPr>
            <a:r>
              <a:rPr lang="en-US" kern="0" dirty="0"/>
              <a:t>Expected utility from a flexible-fuel car that costs F more than a single-fuel car</a:t>
            </a:r>
            <a:r>
              <a:rPr lang="en-US" kern="0" dirty="0" smtClean="0"/>
              <a:t>:</a:t>
            </a:r>
            <a:endParaRPr lang="en-US" kern="0" dirty="0"/>
          </a:p>
        </p:txBody>
      </p:sp>
      <p:graphicFrame>
        <p:nvGraphicFramePr>
          <p:cNvPr id="7" name="Object 2"/>
          <p:cNvGraphicFramePr>
            <a:graphicFrameLocks noChangeAspect="1"/>
          </p:cNvGraphicFramePr>
          <p:nvPr>
            <p:extLst>
              <p:ext uri="{D42A27DB-BD31-4B8C-83A1-F6EECF244321}">
                <p14:modId xmlns:p14="http://schemas.microsoft.com/office/powerpoint/2010/main" val="1026313154"/>
              </p:ext>
            </p:extLst>
          </p:nvPr>
        </p:nvGraphicFramePr>
        <p:xfrm>
          <a:off x="1068388" y="1701800"/>
          <a:ext cx="5581650" cy="933450"/>
        </p:xfrm>
        <a:graphic>
          <a:graphicData uri="http://schemas.openxmlformats.org/presentationml/2006/ole">
            <mc:AlternateContent xmlns:mc="http://schemas.openxmlformats.org/markup-compatibility/2006">
              <mc:Choice xmlns:v="urn:schemas-microsoft-com:vml" Requires="v">
                <p:oleObj spid="_x0000_s155683" name="Equation" r:id="rId3" imgW="2806560" imgH="469800" progId="Equation.DSMT4">
                  <p:embed/>
                </p:oleObj>
              </mc:Choice>
              <mc:Fallback>
                <p:oleObj name="Equation" r:id="rId3" imgW="2806560" imgH="469800" progId="Equation.DSMT4">
                  <p:embed/>
                  <p:pic>
                    <p:nvPicPr>
                      <p:cNvPr id="0" name=""/>
                      <p:cNvPicPr>
                        <a:picLocks noChangeAspect="1" noChangeArrowheads="1"/>
                      </p:cNvPicPr>
                      <p:nvPr/>
                    </p:nvPicPr>
                    <p:blipFill>
                      <a:blip r:embed="rId4"/>
                      <a:srcRect/>
                      <a:stretch>
                        <a:fillRect/>
                      </a:stretch>
                    </p:blipFill>
                    <p:spPr bwMode="auto">
                      <a:xfrm>
                        <a:off x="1068388" y="1701800"/>
                        <a:ext cx="5581650"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87" name="Object 3"/>
          <p:cNvGraphicFramePr>
            <a:graphicFrameLocks noChangeAspect="1"/>
          </p:cNvGraphicFramePr>
          <p:nvPr>
            <p:extLst>
              <p:ext uri="{D42A27DB-BD31-4B8C-83A1-F6EECF244321}">
                <p14:modId xmlns:p14="http://schemas.microsoft.com/office/powerpoint/2010/main" val="2519902151"/>
              </p:ext>
            </p:extLst>
          </p:nvPr>
        </p:nvGraphicFramePr>
        <p:xfrm>
          <a:off x="598488" y="4495800"/>
          <a:ext cx="8283575" cy="1412875"/>
        </p:xfrm>
        <a:graphic>
          <a:graphicData uri="http://schemas.openxmlformats.org/presentationml/2006/ole">
            <mc:AlternateContent xmlns:mc="http://schemas.openxmlformats.org/markup-compatibility/2006">
              <mc:Choice xmlns:v="urn:schemas-microsoft-com:vml" Requires="v">
                <p:oleObj spid="_x0000_s155684" name="Equation" r:id="rId5" imgW="4165560" imgH="711000" progId="Equation.DSMT4">
                  <p:embed/>
                </p:oleObj>
              </mc:Choice>
              <mc:Fallback>
                <p:oleObj name="Equation" r:id="rId5" imgW="4165560" imgH="711000" progId="Equation.DSMT4">
                  <p:embed/>
                  <p:pic>
                    <p:nvPicPr>
                      <p:cNvPr id="0" name=""/>
                      <p:cNvPicPr>
                        <a:picLocks noChangeAspect="1" noChangeArrowheads="1"/>
                      </p:cNvPicPr>
                      <p:nvPr/>
                    </p:nvPicPr>
                    <p:blipFill>
                      <a:blip r:embed="rId6"/>
                      <a:srcRect/>
                      <a:stretch>
                        <a:fillRect/>
                      </a:stretch>
                    </p:blipFill>
                    <p:spPr bwMode="auto">
                      <a:xfrm>
                        <a:off x="598488" y="4495800"/>
                        <a:ext cx="8283575"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3249613" y="569913"/>
          <a:ext cx="1666875" cy="574675"/>
        </p:xfrm>
        <a:graphic>
          <a:graphicData uri="http://schemas.openxmlformats.org/presentationml/2006/ole">
            <mc:AlternateContent xmlns:mc="http://schemas.openxmlformats.org/markup-compatibility/2006">
              <mc:Choice xmlns:v="urn:schemas-microsoft-com:vml" Requires="v">
                <p:oleObj spid="_x0000_s155685" name="Equation" r:id="rId7" imgW="698400" imgH="241200" progId="Equation.DSMT4">
                  <p:embed/>
                </p:oleObj>
              </mc:Choice>
              <mc:Fallback>
                <p:oleObj name="Equation" r:id="rId7" imgW="698400" imgH="241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49613" y="569913"/>
                        <a:ext cx="1666875"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179647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wipe(left)">
                                      <p:cBhvr>
                                        <p:cTn id="15" dur="500"/>
                                        <p:tgtEl>
                                          <p:spTgt spid="2">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wipe(left)">
                                      <p:cBhvr>
                                        <p:cTn id="19" dur="500"/>
                                        <p:tgtEl>
                                          <p:spTgt spid="2">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18787"/>
                                        </p:tgtEl>
                                        <p:attrNameLst>
                                          <p:attrName>style.visibility</p:attrName>
                                        </p:attrNameLst>
                                      </p:cBhvr>
                                      <p:to>
                                        <p:strVal val="visible"/>
                                      </p:to>
                                    </p:set>
                                    <p:animEffect transition="in" filter="wipe(left)">
                                      <p:cBhvr>
                                        <p:cTn id="23" dur="500"/>
                                        <p:tgtEl>
                                          <p:spTgt spid="11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 y="838200"/>
            <a:ext cx="5662613"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7.5	Graphical Method for Computing the </a:t>
            </a:r>
            <a:r>
              <a:rPr lang="en-US" altLang="en-US" dirty="0" smtClean="0"/>
              <a:t/>
            </a:r>
            <a:br>
              <a:rPr lang="en-US" altLang="en-US" dirty="0" smtClean="0"/>
            </a:br>
            <a:r>
              <a:rPr lang="en-US" altLang="en-US" dirty="0" smtClean="0"/>
              <a:t>	</a:t>
            </a:r>
            <a:r>
              <a:rPr lang="en-US" altLang="en-US" dirty="0" smtClean="0">
                <a:solidFill>
                  <a:srgbClr val="002D56"/>
                </a:solidFill>
              </a:rPr>
              <a:t>Premium </a:t>
            </a:r>
            <a:r>
              <a:rPr lang="en-US" altLang="en-US" dirty="0">
                <a:solidFill>
                  <a:srgbClr val="002D56"/>
                </a:solidFill>
              </a:rPr>
              <a:t>for a Flexible-Fuel </a:t>
            </a:r>
            <a:r>
              <a:rPr lang="en-US" altLang="en-US" dirty="0" smtClean="0">
                <a:solidFill>
                  <a:srgbClr val="002D56"/>
                </a:solidFill>
              </a:rPr>
              <a:t>Car</a:t>
            </a:r>
          </a:p>
        </p:txBody>
      </p:sp>
      <p:sp>
        <p:nvSpPr>
          <p:cNvPr id="77827" name="Text Placeholder 2"/>
          <p:cNvSpPr>
            <a:spLocks noGrp="1"/>
          </p:cNvSpPr>
          <p:nvPr>
            <p:ph sz="half" idx="1"/>
          </p:nvPr>
        </p:nvSpPr>
        <p:spPr>
          <a:xfrm>
            <a:off x="5867400" y="1524000"/>
            <a:ext cx="2971800" cy="4525963"/>
          </a:xfrm>
        </p:spPr>
        <p:txBody>
          <a:bodyPr>
            <a:normAutofit/>
          </a:bodyPr>
          <a:lstStyle/>
          <a:p>
            <a:pPr>
              <a:spcBef>
                <a:spcPct val="0"/>
              </a:spcBef>
            </a:pPr>
            <a:r>
              <a:rPr lang="en-US" altLang="en-US" dirty="0"/>
              <a:t>To find the maximum premium F that the risk-averse buyer would be willing to pay for the flexible-fuel car, we plot the expected utility from a single-fuel car from Equation 7.55 (</a:t>
            </a:r>
            <a:r>
              <a:rPr lang="en-US" altLang="en-US" dirty="0" smtClean="0"/>
              <a:t>E[U(O</a:t>
            </a:r>
            <a:r>
              <a:rPr lang="en-US" altLang="en-US" baseline="-25000" dirty="0" smtClean="0"/>
              <a:t>2</a:t>
            </a:r>
            <a:r>
              <a:rPr lang="en-US" altLang="en-US" dirty="0"/>
              <a:t>)]) and from the flexible-fuel car from Equation 7.56 (</a:t>
            </a:r>
            <a:r>
              <a:rPr lang="en-US" altLang="en-US" dirty="0" smtClean="0"/>
              <a:t>E{max[U(O</a:t>
            </a:r>
            <a:r>
              <a:rPr lang="en-US" altLang="en-US" baseline="-25000" dirty="0" smtClean="0"/>
              <a:t>1</a:t>
            </a:r>
            <a:r>
              <a:rPr lang="en-US" altLang="en-US" dirty="0" smtClean="0"/>
              <a:t>(x</a:t>
            </a:r>
            <a:r>
              <a:rPr lang="en-US" altLang="en-US" dirty="0"/>
              <a:t>)-F), </a:t>
            </a:r>
            <a:r>
              <a:rPr lang="en-US" altLang="en-US" dirty="0" smtClean="0"/>
              <a:t>U(O</a:t>
            </a:r>
            <a:r>
              <a:rPr lang="en-US" altLang="en-US" baseline="-25000" dirty="0" smtClean="0"/>
              <a:t>2</a:t>
            </a:r>
            <a:r>
              <a:rPr lang="en-US" altLang="en-US" dirty="0" smtClean="0"/>
              <a:t>(x</a:t>
            </a:r>
            <a:r>
              <a:rPr lang="en-US" altLang="en-US" dirty="0"/>
              <a:t>)-F)]})and see the value of F where the curves cross.</a:t>
            </a:r>
          </a:p>
          <a:p>
            <a:pPr>
              <a:spcBef>
                <a:spcPct val="0"/>
              </a:spcBef>
            </a:pPr>
            <a:endParaRPr lang="en-US" altLang="en-US" dirty="0" smtClean="0"/>
          </a:p>
        </p:txBody>
      </p:sp>
      <p:sp>
        <p:nvSpPr>
          <p:cNvPr id="7783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6731C910-D0C9-426C-A726-B58A35714F87}" type="slidenum">
              <a:rPr lang="en-US" smtClean="0"/>
              <a:pPr>
                <a:defRPr/>
              </a:pPr>
              <a:t>59</a:t>
            </a:fld>
            <a:endParaRPr lang="en-US" dirty="0"/>
          </a:p>
        </p:txBody>
      </p:sp>
    </p:spTree>
    <p:extLst>
      <p:ext uri="{BB962C8B-B14F-4D97-AF65-F5344CB8AC3E}">
        <p14:creationId xmlns:p14="http://schemas.microsoft.com/office/powerpoint/2010/main" val="31858513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9810"/>
                                        </p:tgtEl>
                                        <p:attrNameLst>
                                          <p:attrName>style.visibility</p:attrName>
                                        </p:attrNameLst>
                                      </p:cBhvr>
                                      <p:to>
                                        <p:strVal val="visible"/>
                                      </p:to>
                                    </p:set>
                                    <p:animEffect transition="in" filter="wipe(left)">
                                      <p:cBhvr>
                                        <p:cTn id="7" dur="500"/>
                                        <p:tgtEl>
                                          <p:spTgt spid="1198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7827">
                                            <p:txEl>
                                              <p:pRg st="0" end="0"/>
                                            </p:txEl>
                                          </p:spTgt>
                                        </p:tgtEl>
                                        <p:attrNameLst>
                                          <p:attrName>style.visibility</p:attrName>
                                        </p:attrNameLst>
                                      </p:cBhvr>
                                      <p:to>
                                        <p:strVal val="visible"/>
                                      </p:to>
                                    </p:set>
                                    <p:animEffect transition="in" filter="wipe(left)">
                                      <p:cBhvr>
                                        <p:cTn id="11" dur="500"/>
                                        <p:tgtEl>
                                          <p:spTgt spid="778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ltLang="en-US" smtClean="0"/>
              <a:t>Flexibility</a:t>
            </a:r>
          </a:p>
        </p:txBody>
      </p:sp>
      <p:sp>
        <p:nvSpPr>
          <p:cNvPr id="78851" name="Content Placeholder 2"/>
          <p:cNvSpPr>
            <a:spLocks noGrp="1"/>
          </p:cNvSpPr>
          <p:nvPr>
            <p:ph idx="1"/>
          </p:nvPr>
        </p:nvSpPr>
        <p:spPr/>
        <p:txBody>
          <a:bodyPr/>
          <a:lstStyle/>
          <a:p>
            <a:r>
              <a:rPr lang="en-US" altLang="en-US" smtClean="0"/>
              <a:t>Option value of delay</a:t>
            </a:r>
          </a:p>
          <a:p>
            <a:pPr lvl="1"/>
            <a:r>
              <a:rPr lang="en-US" altLang="en-US" smtClean="0"/>
              <a:t>Delay preserves options</a:t>
            </a:r>
          </a:p>
          <a:p>
            <a:pPr lvl="1"/>
            <a:r>
              <a:rPr lang="en-US" altLang="en-US" smtClean="0"/>
              <a:t>If circumstances continue to be favorable or become even more so, the action can still be taken later</a:t>
            </a:r>
          </a:p>
          <a:p>
            <a:pPr lvl="1"/>
            <a:r>
              <a:rPr lang="en-US" altLang="en-US" smtClean="0"/>
              <a:t>But if the future changes and the action is unsuitable, the decision-maker may have saved a lot of trouble by not making it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F008E7A-7A59-4F94-9A1B-47D4A7F88BAC}" type="slidenum">
              <a:rPr lang="en-US" smtClean="0"/>
              <a:pPr>
                <a:defRPr/>
              </a:pPr>
              <a:t>60</a:t>
            </a:fld>
            <a:endParaRPr lang="en-US"/>
          </a:p>
        </p:txBody>
      </p:sp>
    </p:spTree>
    <p:extLst>
      <p:ext uri="{BB962C8B-B14F-4D97-AF65-F5344CB8AC3E}">
        <p14:creationId xmlns:p14="http://schemas.microsoft.com/office/powerpoint/2010/main" val="957212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smtClean="0"/>
              <a:t>Flexibility</a:t>
            </a:r>
          </a:p>
        </p:txBody>
      </p:sp>
      <p:sp>
        <p:nvSpPr>
          <p:cNvPr id="79875" name="Content Placeholder 2"/>
          <p:cNvSpPr>
            <a:spLocks noGrp="1"/>
          </p:cNvSpPr>
          <p:nvPr>
            <p:ph idx="1"/>
          </p:nvPr>
        </p:nvSpPr>
        <p:spPr/>
        <p:txBody>
          <a:bodyPr/>
          <a:lstStyle/>
          <a:p>
            <a:r>
              <a:rPr lang="en-US" altLang="en-US" smtClean="0"/>
              <a:t>The cost–benefit rule</a:t>
            </a:r>
          </a:p>
          <a:p>
            <a:pPr lvl="1"/>
            <a:r>
              <a:rPr lang="en-US" altLang="en-US" smtClean="0"/>
              <a:t>An action should be taken if anticipated costs are less than benefits</a:t>
            </a:r>
          </a:p>
          <a:p>
            <a:pPr lvl="1"/>
            <a:r>
              <a:rPr lang="en-US" altLang="en-US" smtClean="0"/>
              <a:t>Correct course of action in simple settings without uncertainty</a:t>
            </a:r>
          </a:p>
          <a:p>
            <a:pPr lvl="1"/>
            <a:r>
              <a:rPr lang="en-US" altLang="en-US" smtClean="0"/>
              <a:t>In settings involving uncertainty</a:t>
            </a:r>
          </a:p>
          <a:p>
            <a:pPr lvl="2"/>
            <a:r>
              <a:rPr lang="en-US" altLang="en-US" smtClean="0"/>
              <a:t>Account for risk preferences</a:t>
            </a:r>
          </a:p>
          <a:p>
            <a:pPr lvl="2"/>
            <a:r>
              <a:rPr lang="en-US" altLang="en-US" smtClean="0"/>
              <a:t>Account for the option value of delay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A329136-6120-442C-BBF5-3AA9AE5E0C2E}" type="slidenum">
              <a:rPr lang="en-US" smtClean="0"/>
              <a:pPr>
                <a:defRPr/>
              </a:pPr>
              <a:t>61</a:t>
            </a:fld>
            <a:endParaRPr lang="en-US"/>
          </a:p>
        </p:txBody>
      </p:sp>
    </p:spTree>
    <p:extLst>
      <p:ext uri="{BB962C8B-B14F-4D97-AF65-F5344CB8AC3E}">
        <p14:creationId xmlns:p14="http://schemas.microsoft.com/office/powerpoint/2010/main" val="67564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ltLang="en-US" smtClean="0"/>
              <a:t>Information</a:t>
            </a:r>
          </a:p>
        </p:txBody>
      </p:sp>
      <p:sp>
        <p:nvSpPr>
          <p:cNvPr id="80899" name="Content Placeholder 2"/>
          <p:cNvSpPr>
            <a:spLocks noGrp="1"/>
          </p:cNvSpPr>
          <p:nvPr>
            <p:ph idx="1"/>
          </p:nvPr>
        </p:nvSpPr>
        <p:spPr/>
        <p:txBody>
          <a:bodyPr/>
          <a:lstStyle/>
          <a:p>
            <a:r>
              <a:rPr lang="en-US" altLang="en-US" smtClean="0"/>
              <a:t>Information</a:t>
            </a:r>
          </a:p>
          <a:p>
            <a:pPr lvl="1"/>
            <a:r>
              <a:rPr lang="en-US" altLang="en-US" smtClean="0"/>
              <a:t>Difficult to quantify</a:t>
            </a:r>
          </a:p>
          <a:p>
            <a:pPr lvl="1"/>
            <a:r>
              <a:rPr lang="en-US" altLang="en-US" smtClean="0"/>
              <a:t>Has some technical properties that make it an unusual sort of good</a:t>
            </a:r>
          </a:p>
          <a:p>
            <a:pPr lvl="2"/>
            <a:r>
              <a:rPr lang="en-US" altLang="en-US" smtClean="0"/>
              <a:t>Durable and retains value after it has been used</a:t>
            </a:r>
          </a:p>
          <a:p>
            <a:pPr lvl="3"/>
            <a:r>
              <a:rPr lang="en-US" altLang="en-US" smtClean="0"/>
              <a:t>Pure public good:  non-rival and non-exclusive</a:t>
            </a:r>
          </a:p>
          <a:p>
            <a:pPr lvl="3"/>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B1F16A1-9209-4ACE-9023-85DECDAB381B}" type="slidenum">
              <a:rPr lang="en-US" smtClean="0"/>
              <a:pPr>
                <a:defRPr/>
              </a:pPr>
              <a:t>62</a:t>
            </a:fld>
            <a:endParaRPr lang="en-US"/>
          </a:p>
        </p:txBody>
      </p:sp>
    </p:spTree>
    <p:extLst>
      <p:ext uri="{BB962C8B-B14F-4D97-AF65-F5344CB8AC3E}">
        <p14:creationId xmlns:p14="http://schemas.microsoft.com/office/powerpoint/2010/main" val="22270120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ltLang="en-US" smtClean="0"/>
              <a:t>Information</a:t>
            </a:r>
          </a:p>
        </p:txBody>
      </p:sp>
      <p:sp>
        <p:nvSpPr>
          <p:cNvPr id="81923" name="Content Placeholder 2"/>
          <p:cNvSpPr>
            <a:spLocks noGrp="1"/>
          </p:cNvSpPr>
          <p:nvPr>
            <p:ph idx="1"/>
          </p:nvPr>
        </p:nvSpPr>
        <p:spPr/>
        <p:txBody>
          <a:bodyPr/>
          <a:lstStyle/>
          <a:p>
            <a:r>
              <a:rPr lang="en-US" altLang="en-US" dirty="0" smtClean="0"/>
              <a:t>Quantifying the value of information</a:t>
            </a:r>
          </a:p>
          <a:p>
            <a:pPr lvl="1"/>
            <a:r>
              <a:rPr lang="en-US" altLang="en-US" dirty="0" smtClean="0"/>
              <a:t>Individual is uncertain about what the state of the world (</a:t>
            </a:r>
            <a:r>
              <a:rPr lang="en-US" altLang="en-US" i="1" dirty="0" smtClean="0"/>
              <a:t>x</a:t>
            </a:r>
            <a:r>
              <a:rPr lang="en-US" altLang="en-US" dirty="0" smtClean="0"/>
              <a:t>) will be in the future</a:t>
            </a:r>
          </a:p>
          <a:p>
            <a:pPr lvl="2"/>
            <a:r>
              <a:rPr lang="en-US" altLang="en-US" dirty="0" smtClean="0"/>
              <a:t>Needs to make one of </a:t>
            </a:r>
            <a:r>
              <a:rPr lang="en-US" altLang="en-US" i="1" dirty="0" smtClean="0"/>
              <a:t>n</a:t>
            </a:r>
            <a:r>
              <a:rPr lang="en-US" altLang="en-US" dirty="0" smtClean="0"/>
              <a:t> choices today</a:t>
            </a:r>
          </a:p>
          <a:p>
            <a:pPr lvl="2"/>
            <a:r>
              <a:rPr lang="en-US" altLang="en-US" i="1" dirty="0" smtClean="0"/>
              <a:t>O</a:t>
            </a:r>
            <a:r>
              <a:rPr lang="en-US" altLang="en-US" i="1" baseline="-25000" dirty="0" smtClean="0"/>
              <a:t>i</a:t>
            </a:r>
            <a:r>
              <a:rPr lang="en-US" altLang="en-US" i="1" dirty="0" smtClean="0"/>
              <a:t>(x)</a:t>
            </a:r>
            <a:r>
              <a:rPr lang="en-US" altLang="en-US" dirty="0" smtClean="0"/>
              <a:t> represents the payoffs provided by choice </a:t>
            </a:r>
            <a:r>
              <a:rPr lang="en-US" altLang="en-US" i="1" dirty="0" smtClean="0"/>
              <a:t>I</a:t>
            </a:r>
          </a:p>
          <a:p>
            <a:pPr lvl="2"/>
            <a:r>
              <a:rPr lang="en-US" altLang="en-US" i="1" dirty="0" smtClean="0"/>
              <a:t>F</a:t>
            </a:r>
            <a:r>
              <a:rPr lang="en-US" altLang="en-US" dirty="0" smtClean="0"/>
              <a:t> - the fee charged to be told the exact value that x will take on in the future; maximum </a:t>
            </a:r>
            <a:r>
              <a:rPr lang="en-US" altLang="en-US" i="1" dirty="0" smtClean="0"/>
              <a:t>F</a:t>
            </a:r>
            <a:r>
              <a:rPr lang="en-US" altLang="en-US" dirty="0" smtClean="0"/>
              <a:t>: </a:t>
            </a:r>
          </a:p>
          <a:p>
            <a:pPr lvl="1">
              <a:buFont typeface="Arial" charset="0"/>
              <a:buNone/>
            </a:pPr>
            <a:r>
              <a:rPr lang="en-US" altLang="en-US" i="1" dirty="0" smtClean="0">
                <a:solidFill>
                  <a:srgbClr val="FF0000"/>
                </a:solidFill>
              </a:rPr>
              <a:t>E{max[U(O</a:t>
            </a:r>
            <a:r>
              <a:rPr lang="en-US" altLang="en-US" i="1" baseline="-25000" dirty="0" smtClean="0">
                <a:solidFill>
                  <a:srgbClr val="FF0000"/>
                </a:solidFill>
              </a:rPr>
              <a:t>1</a:t>
            </a:r>
            <a:r>
              <a:rPr lang="en-US" altLang="en-US" i="1" dirty="0" smtClean="0">
                <a:solidFill>
                  <a:srgbClr val="FF0000"/>
                </a:solidFill>
              </a:rPr>
              <a:t>(x)-F),…,U(O</a:t>
            </a:r>
            <a:r>
              <a:rPr lang="en-US" altLang="en-US" i="1" baseline="-25000" dirty="0" smtClean="0">
                <a:solidFill>
                  <a:srgbClr val="FF0000"/>
                </a:solidFill>
              </a:rPr>
              <a:t>n</a:t>
            </a:r>
            <a:r>
              <a:rPr lang="en-US" altLang="en-US" i="1" dirty="0" smtClean="0">
                <a:solidFill>
                  <a:srgbClr val="FF0000"/>
                </a:solidFill>
              </a:rPr>
              <a:t>(x)-F)]}= max{E[U(O</a:t>
            </a:r>
            <a:r>
              <a:rPr lang="en-US" altLang="en-US" i="1" baseline="-25000" dirty="0" smtClean="0">
                <a:solidFill>
                  <a:srgbClr val="FF0000"/>
                </a:solidFill>
              </a:rPr>
              <a:t>1</a:t>
            </a:r>
            <a:r>
              <a:rPr lang="en-US" altLang="en-US" i="1" dirty="0" smtClean="0">
                <a:solidFill>
                  <a:srgbClr val="FF0000"/>
                </a:solidFill>
              </a:rPr>
              <a:t>(x)] ,…, E[U(O</a:t>
            </a:r>
            <a:r>
              <a:rPr lang="en-US" altLang="en-US" i="1" baseline="-25000" dirty="0" smtClean="0">
                <a:solidFill>
                  <a:srgbClr val="FF0000"/>
                </a:solidFill>
              </a:rPr>
              <a:t>n</a:t>
            </a:r>
            <a:r>
              <a:rPr lang="en-US" altLang="en-US" i="1" dirty="0" smtClean="0">
                <a:solidFill>
                  <a:srgbClr val="FF0000"/>
                </a:solidFill>
              </a:rPr>
              <a:t>(x)]}</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8F5B716-E2AD-42E8-9CBF-046EA7A91947}" type="slidenum">
              <a:rPr lang="en-US" smtClean="0"/>
              <a:pPr>
                <a:defRPr/>
              </a:pPr>
              <a:t>63</a:t>
            </a:fld>
            <a:endParaRPr lang="en-US"/>
          </a:p>
        </p:txBody>
      </p:sp>
    </p:spTree>
    <p:extLst>
      <p:ext uri="{BB962C8B-B14F-4D97-AF65-F5344CB8AC3E}">
        <p14:creationId xmlns:p14="http://schemas.microsoft.com/office/powerpoint/2010/main" val="3627754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304800" y="0"/>
            <a:ext cx="8610600" cy="990600"/>
          </a:xfrm>
        </p:spPr>
        <p:txBody>
          <a:bodyPr>
            <a:noAutofit/>
          </a:bodyPr>
          <a:lstStyle/>
          <a:p>
            <a:r>
              <a:rPr lang="en-US" altLang="en-US" sz="3600" dirty="0" smtClean="0"/>
              <a:t>The State-Preference Approach to</a:t>
            </a:r>
            <a:br>
              <a:rPr lang="en-US" altLang="en-US" sz="3600" dirty="0" smtClean="0"/>
            </a:br>
            <a:r>
              <a:rPr lang="en-US" altLang="en-US" sz="3600" dirty="0" smtClean="0"/>
              <a:t>Choice Under Uncertainty</a:t>
            </a:r>
          </a:p>
        </p:txBody>
      </p:sp>
      <p:sp>
        <p:nvSpPr>
          <p:cNvPr id="82947" name="Content Placeholder 2"/>
          <p:cNvSpPr>
            <a:spLocks noGrp="1"/>
          </p:cNvSpPr>
          <p:nvPr>
            <p:ph idx="1"/>
          </p:nvPr>
        </p:nvSpPr>
        <p:spPr/>
        <p:txBody>
          <a:bodyPr/>
          <a:lstStyle/>
          <a:p>
            <a:r>
              <a:rPr lang="en-US" altLang="en-US" smtClean="0"/>
              <a:t>Outcomes of any random event </a:t>
            </a:r>
          </a:p>
          <a:p>
            <a:pPr lvl="1"/>
            <a:r>
              <a:rPr lang="en-US" altLang="en-US" smtClean="0"/>
              <a:t>Can be categorized into a number of states of the world</a:t>
            </a:r>
          </a:p>
          <a:p>
            <a:pPr lvl="1"/>
            <a:r>
              <a:rPr lang="en-US" altLang="en-US" smtClean="0"/>
              <a:t>“Good times” or “bad times”</a:t>
            </a:r>
          </a:p>
          <a:p>
            <a:r>
              <a:rPr lang="en-US" altLang="en-US" smtClean="0"/>
              <a:t>Contingent commodities </a:t>
            </a:r>
          </a:p>
          <a:p>
            <a:pPr lvl="1"/>
            <a:r>
              <a:rPr lang="en-US" altLang="en-US" smtClean="0"/>
              <a:t>Goods delivered only if a particular state of the world occurs</a:t>
            </a:r>
          </a:p>
          <a:p>
            <a:pPr lvl="1"/>
            <a:r>
              <a:rPr lang="en-US" altLang="en-US" smtClean="0"/>
              <a:t>“$1 in good times” or “$1 in bad times”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3CD4346-98C5-48A2-AA76-97015086D5B8}" type="slidenum">
              <a:rPr lang="en-US" smtClean="0"/>
              <a:pPr>
                <a:defRPr/>
              </a:pPr>
              <a:t>64</a:t>
            </a:fld>
            <a:endParaRPr lang="en-US"/>
          </a:p>
        </p:txBody>
      </p:sp>
    </p:spTree>
    <p:extLst>
      <p:ext uri="{BB962C8B-B14F-4D97-AF65-F5344CB8AC3E}">
        <p14:creationId xmlns:p14="http://schemas.microsoft.com/office/powerpoint/2010/main" val="1221721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ltLang="en-US" smtClean="0"/>
              <a:t>States of the World</a:t>
            </a:r>
          </a:p>
        </p:txBody>
      </p:sp>
      <p:sp>
        <p:nvSpPr>
          <p:cNvPr id="83971" name="Rectangle 3"/>
          <p:cNvSpPr>
            <a:spLocks noGrp="1" noChangeArrowheads="1"/>
          </p:cNvSpPr>
          <p:nvPr>
            <p:ph idx="1"/>
          </p:nvPr>
        </p:nvSpPr>
        <p:spPr/>
        <p:txBody>
          <a:bodyPr/>
          <a:lstStyle/>
          <a:p>
            <a:r>
              <a:rPr lang="en-US" altLang="en-US" smtClean="0"/>
              <a:t>It is conceivable that an individual could purchase a contingent commodity</a:t>
            </a:r>
          </a:p>
          <a:p>
            <a:pPr lvl="1"/>
            <a:r>
              <a:rPr lang="en-US" altLang="en-US" smtClean="0"/>
              <a:t>Buy a promise that someone will pay you $1 if tomorrow turns out to be good times</a:t>
            </a:r>
          </a:p>
          <a:p>
            <a:pPr lvl="1"/>
            <a:r>
              <a:rPr lang="en-US" altLang="en-US" smtClean="0"/>
              <a:t>This good will probably sell for less than $1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FFD48EE-2C66-47D0-9BB7-5B8003326BAA}" type="slidenum">
              <a:rPr lang="en-US" smtClean="0"/>
              <a:pPr>
                <a:defRPr/>
              </a:pPr>
              <a:t>65</a:t>
            </a:fld>
            <a:endParaRPr lang="en-US"/>
          </a:p>
        </p:txBody>
      </p:sp>
    </p:spTree>
    <p:extLst>
      <p:ext uri="{BB962C8B-B14F-4D97-AF65-F5344CB8AC3E}">
        <p14:creationId xmlns:p14="http://schemas.microsoft.com/office/powerpoint/2010/main" val="136781513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Utility Analysis</a:t>
            </a:r>
          </a:p>
        </p:txBody>
      </p:sp>
      <p:sp>
        <p:nvSpPr>
          <p:cNvPr id="84995" name="Rectangle 3"/>
          <p:cNvSpPr>
            <a:spLocks noGrp="1" noChangeArrowheads="1"/>
          </p:cNvSpPr>
          <p:nvPr>
            <p:ph idx="1"/>
          </p:nvPr>
        </p:nvSpPr>
        <p:spPr/>
        <p:txBody>
          <a:bodyPr/>
          <a:lstStyle/>
          <a:p>
            <a:r>
              <a:rPr lang="en-US" altLang="en-US" dirty="0" smtClean="0"/>
              <a:t>Assume two contingent goods</a:t>
            </a:r>
          </a:p>
          <a:p>
            <a:pPr lvl="1"/>
            <a:r>
              <a:rPr lang="en-US" altLang="en-US" sz="3000" dirty="0" smtClean="0"/>
              <a:t>Wealth in good times (</a:t>
            </a:r>
            <a:r>
              <a:rPr lang="en-US" altLang="en-US" sz="3000" i="1" dirty="0" err="1" smtClean="0"/>
              <a:t>w</a:t>
            </a:r>
            <a:r>
              <a:rPr lang="en-US" altLang="en-US" sz="3000" i="1" baseline="-25000" dirty="0" err="1" smtClean="0"/>
              <a:t>g</a:t>
            </a:r>
            <a:r>
              <a:rPr lang="en-US" altLang="en-US" sz="3000" dirty="0" smtClean="0"/>
              <a:t>) and wealth in bad times (</a:t>
            </a:r>
            <a:r>
              <a:rPr lang="en-US" altLang="en-US" sz="3000" i="1" dirty="0" err="1" smtClean="0"/>
              <a:t>w</a:t>
            </a:r>
            <a:r>
              <a:rPr lang="en-US" altLang="en-US" sz="3000" i="1" baseline="-25000" dirty="0" err="1" smtClean="0"/>
              <a:t>b</a:t>
            </a:r>
            <a:r>
              <a:rPr lang="en-US" altLang="en-US" sz="3000" dirty="0" smtClean="0"/>
              <a:t>)</a:t>
            </a:r>
          </a:p>
          <a:p>
            <a:pPr lvl="1"/>
            <a:r>
              <a:rPr lang="en-US" altLang="en-US" sz="3000" dirty="0" smtClean="0"/>
              <a:t>Individual believes the probability that bad times will occur is </a:t>
            </a:r>
            <a:r>
              <a:rPr lang="en-US" altLang="en-US" sz="3000" dirty="0" smtClean="0">
                <a:sym typeface="Symbol" pitchFamily="18" charset="2"/>
              </a:rPr>
              <a:t></a:t>
            </a:r>
          </a:p>
          <a:p>
            <a:pPr lvl="1"/>
            <a:r>
              <a:rPr lang="en-US" altLang="en-US" sz="3000" dirty="0" smtClean="0"/>
              <a:t>Expected utility: </a:t>
            </a:r>
            <a:r>
              <a:rPr lang="en-US" altLang="en-US" sz="3000" i="1" dirty="0" smtClean="0">
                <a:solidFill>
                  <a:srgbClr val="FF0000"/>
                </a:solidFill>
              </a:rPr>
              <a:t>E[U(W)]= (1- </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err="1" smtClean="0">
                <a:solidFill>
                  <a:srgbClr val="FF0000"/>
                </a:solidFill>
                <a:sym typeface="Symbol" pitchFamily="18" charset="2"/>
              </a:rPr>
              <a:t>W</a:t>
            </a:r>
            <a:r>
              <a:rPr lang="en-US" altLang="en-US" sz="3000" i="1" baseline="-25000" dirty="0" err="1" smtClean="0">
                <a:solidFill>
                  <a:srgbClr val="FF0000"/>
                </a:solidFill>
                <a:sym typeface="Symbol" pitchFamily="18" charset="2"/>
              </a:rPr>
              <a:t>g</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err="1" smtClean="0">
                <a:solidFill>
                  <a:srgbClr val="FF0000"/>
                </a:solidFill>
                <a:sym typeface="Symbol" pitchFamily="18" charset="2"/>
              </a:rPr>
              <a:t>W</a:t>
            </a:r>
            <a:r>
              <a:rPr lang="en-US" altLang="en-US" sz="3000" i="1" baseline="-25000" dirty="0" err="1" smtClean="0">
                <a:solidFill>
                  <a:srgbClr val="FF0000"/>
                </a:solidFill>
                <a:sym typeface="Symbol" pitchFamily="18" charset="2"/>
              </a:rPr>
              <a:t>b</a:t>
            </a:r>
            <a:r>
              <a:rPr lang="en-US" altLang="en-US" sz="3000" dirty="0" smtClean="0">
                <a:solidFill>
                  <a:srgbClr val="FF0000"/>
                </a:solidFill>
                <a:sym typeface="Symbol" pitchFamily="18" charset="2"/>
              </a:rPr>
              <a:t>)</a:t>
            </a:r>
          </a:p>
          <a:p>
            <a:pPr lvl="2">
              <a:lnSpc>
                <a:spcPct val="110000"/>
              </a:lnSpc>
            </a:pPr>
            <a:r>
              <a:rPr lang="en-US" altLang="en-US" dirty="0" smtClean="0">
                <a:sym typeface="Symbol" pitchFamily="18" charset="2"/>
              </a:rPr>
              <a:t>This is the value that the individual wants to maximize given his initial wealth (</a:t>
            </a:r>
            <a:r>
              <a:rPr lang="en-US" altLang="en-US" i="1" dirty="0" smtClean="0">
                <a:sym typeface="Symbol" pitchFamily="18" charset="2"/>
              </a:rPr>
              <a:t>W</a:t>
            </a:r>
            <a:r>
              <a:rPr lang="en-US" altLang="en-US" dirty="0" smtClean="0">
                <a:sym typeface="Symbol" pitchFamily="18" charset="2"/>
              </a:rPr>
              <a:t>)</a:t>
            </a:r>
            <a:endParaRPr lang="en-US" altLang="en-US" dirty="0" smtClean="0">
              <a:solidFill>
                <a:srgbClr val="5858D4"/>
              </a:solidFill>
              <a:sym typeface="Symbol" pitchFamily="18" charset="2"/>
            </a:endParaRP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F270C8F-EEC3-4870-8866-282AD5CC3C7B}" type="slidenum">
              <a:rPr lang="en-US" smtClean="0"/>
              <a:pPr>
                <a:defRPr/>
              </a:pPr>
              <a:t>66</a:t>
            </a:fld>
            <a:endParaRPr lang="en-US"/>
          </a:p>
        </p:txBody>
      </p:sp>
    </p:spTree>
    <p:extLst>
      <p:ext uri="{BB962C8B-B14F-4D97-AF65-F5344CB8AC3E}">
        <p14:creationId xmlns:p14="http://schemas.microsoft.com/office/powerpoint/2010/main" val="298090901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a:lnSpc>
                <a:spcPct val="90000"/>
              </a:lnSpc>
            </a:pPr>
            <a:r>
              <a:rPr lang="en-US" altLang="en-US" smtClean="0"/>
              <a:t>Prices of Contingent Commodities</a:t>
            </a:r>
          </a:p>
        </p:txBody>
      </p:sp>
      <p:sp>
        <p:nvSpPr>
          <p:cNvPr id="86019" name="Rectangle 3"/>
          <p:cNvSpPr>
            <a:spLocks noGrp="1" noChangeArrowheads="1"/>
          </p:cNvSpPr>
          <p:nvPr>
            <p:ph idx="1"/>
          </p:nvPr>
        </p:nvSpPr>
        <p:spPr/>
        <p:txBody>
          <a:bodyPr/>
          <a:lstStyle/>
          <a:p>
            <a:r>
              <a:rPr lang="en-US" altLang="en-US" dirty="0" smtClean="0"/>
              <a:t>Assume</a:t>
            </a:r>
          </a:p>
          <a:p>
            <a:pPr lvl="1"/>
            <a:r>
              <a:rPr lang="en-US" altLang="en-US" dirty="0" smtClean="0"/>
              <a:t>The person can buy $1 of wealth in good times for </a:t>
            </a:r>
            <a:r>
              <a:rPr lang="en-US" altLang="en-US" i="1" dirty="0" err="1" smtClean="0"/>
              <a:t>p</a:t>
            </a:r>
            <a:r>
              <a:rPr lang="en-US" altLang="en-US" i="1" baseline="-25000" dirty="0" err="1" smtClean="0"/>
              <a:t>g</a:t>
            </a:r>
            <a:r>
              <a:rPr lang="en-US" altLang="en-US" dirty="0" smtClean="0"/>
              <a:t> and $1 of wealth in bad times for </a:t>
            </a:r>
            <a:r>
              <a:rPr lang="en-US" altLang="en-US" i="1" dirty="0" err="1" smtClean="0"/>
              <a:t>p</a:t>
            </a:r>
            <a:r>
              <a:rPr lang="en-US" altLang="en-US" i="1" baseline="-25000" dirty="0" err="1" smtClean="0"/>
              <a:t>b</a:t>
            </a:r>
            <a:endParaRPr lang="en-US" altLang="en-US" dirty="0" smtClean="0"/>
          </a:p>
          <a:p>
            <a:pPr lvl="1">
              <a:lnSpc>
                <a:spcPct val="150000"/>
              </a:lnSpc>
            </a:pPr>
            <a:r>
              <a:rPr lang="en-US" altLang="en-US" dirty="0" smtClean="0"/>
              <a:t>His budget constraint: </a:t>
            </a:r>
            <a:r>
              <a:rPr lang="en-US" altLang="en-US" sz="2800" i="1" dirty="0" smtClean="0">
                <a:solidFill>
                  <a:srgbClr val="FF0000"/>
                </a:solidFill>
              </a:rPr>
              <a:t>W</a:t>
            </a:r>
            <a:r>
              <a:rPr lang="en-US" altLang="en-US" sz="2800" i="1" baseline="-25000" dirty="0" smtClean="0">
                <a:solidFill>
                  <a:srgbClr val="FF0000"/>
                </a:solidFill>
              </a:rPr>
              <a:t>0</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g</a:t>
            </a:r>
            <a:r>
              <a:rPr lang="en-US" altLang="en-US" sz="2800" i="1" dirty="0" err="1" smtClean="0">
                <a:solidFill>
                  <a:srgbClr val="FF0000"/>
                </a:solidFill>
              </a:rPr>
              <a:t>W</a:t>
            </a:r>
            <a:r>
              <a:rPr lang="en-US" altLang="en-US" sz="2800" i="1" baseline="-25000" dirty="0" err="1" smtClean="0">
                <a:solidFill>
                  <a:srgbClr val="FF0000"/>
                </a:solidFill>
              </a:rPr>
              <a:t>g</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b</a:t>
            </a:r>
            <a:r>
              <a:rPr lang="en-US" altLang="en-US" sz="2800" i="1" dirty="0" err="1" smtClean="0">
                <a:solidFill>
                  <a:srgbClr val="FF0000"/>
                </a:solidFill>
              </a:rPr>
              <a:t>W</a:t>
            </a:r>
            <a:r>
              <a:rPr lang="en-US" altLang="en-US" sz="2800" i="1" baseline="-25000" dirty="0" err="1" smtClean="0">
                <a:solidFill>
                  <a:srgbClr val="FF0000"/>
                </a:solidFill>
              </a:rPr>
              <a:t>b</a:t>
            </a:r>
            <a:endParaRPr lang="en-US" altLang="en-US" dirty="0" smtClean="0">
              <a:solidFill>
                <a:srgbClr val="FF0000"/>
              </a:solidFill>
            </a:endParaRPr>
          </a:p>
          <a:p>
            <a:pPr>
              <a:lnSpc>
                <a:spcPct val="110000"/>
              </a:lnSpc>
            </a:pPr>
            <a:r>
              <a:rPr lang="en-US" altLang="en-US" dirty="0" smtClean="0"/>
              <a:t>The price ratio </a:t>
            </a:r>
            <a:r>
              <a:rPr lang="en-US" altLang="en-US" i="1" dirty="0" err="1" smtClean="0"/>
              <a:t>p</a:t>
            </a:r>
            <a:r>
              <a:rPr lang="en-US" altLang="en-US" i="1" baseline="-25000" dirty="0" err="1" smtClean="0"/>
              <a:t>g</a:t>
            </a:r>
            <a:r>
              <a:rPr lang="en-US" altLang="en-US" baseline="-25000" dirty="0" smtClean="0"/>
              <a:t> </a:t>
            </a:r>
            <a:r>
              <a:rPr lang="en-US" altLang="en-US" dirty="0" smtClean="0"/>
              <a:t>/</a:t>
            </a:r>
            <a:r>
              <a:rPr lang="en-US" altLang="en-US" i="1" dirty="0" err="1" smtClean="0"/>
              <a:t>p</a:t>
            </a:r>
            <a:r>
              <a:rPr lang="en-US" altLang="en-US" i="1" baseline="-25000" dirty="0" err="1" smtClean="0"/>
              <a:t>b</a:t>
            </a:r>
            <a:r>
              <a:rPr lang="en-US" altLang="en-US" i="1" dirty="0" smtClean="0"/>
              <a:t> </a:t>
            </a:r>
          </a:p>
          <a:p>
            <a:pPr lvl="1">
              <a:lnSpc>
                <a:spcPct val="110000"/>
              </a:lnSpc>
            </a:pPr>
            <a:r>
              <a:rPr lang="en-US" altLang="en-US" dirty="0" smtClean="0"/>
              <a:t>Shows how this person can trade dollars of wealth in good times for dollars in bad times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0B50D0B-F39A-4F2C-BDB2-BAD29A7354A1}" type="slidenum">
              <a:rPr lang="en-US" smtClean="0"/>
              <a:pPr>
                <a:defRPr/>
              </a:pPr>
              <a:t>67</a:t>
            </a:fld>
            <a:endParaRPr lang="en-US"/>
          </a:p>
        </p:txBody>
      </p:sp>
    </p:spTree>
    <p:extLst>
      <p:ext uri="{BB962C8B-B14F-4D97-AF65-F5344CB8AC3E}">
        <p14:creationId xmlns:p14="http://schemas.microsoft.com/office/powerpoint/2010/main" val="297522966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a:lnSpc>
                <a:spcPct val="90000"/>
              </a:lnSpc>
            </a:pPr>
            <a:r>
              <a:rPr lang="en-US" altLang="en-US" smtClean="0"/>
              <a:t>Fair Markets for Contingent Goods</a:t>
            </a:r>
          </a:p>
        </p:txBody>
      </p:sp>
      <p:sp>
        <p:nvSpPr>
          <p:cNvPr id="17412" name="Rectangle 3"/>
          <p:cNvSpPr>
            <a:spLocks noGrp="1" noChangeArrowheads="1"/>
          </p:cNvSpPr>
          <p:nvPr>
            <p:ph idx="1"/>
          </p:nvPr>
        </p:nvSpPr>
        <p:spPr/>
        <p:txBody>
          <a:bodyPr/>
          <a:lstStyle/>
          <a:p>
            <a:r>
              <a:rPr lang="en-US" altLang="en-US" dirty="0" smtClean="0"/>
              <a:t>If markets for contingent wealth claims </a:t>
            </a:r>
          </a:p>
          <a:p>
            <a:pPr lvl="1"/>
            <a:r>
              <a:rPr lang="en-US" altLang="en-US" dirty="0" smtClean="0"/>
              <a:t>Are well-developed </a:t>
            </a:r>
          </a:p>
          <a:p>
            <a:pPr lvl="1"/>
            <a:r>
              <a:rPr lang="en-US" altLang="en-US" dirty="0" smtClean="0"/>
              <a:t>And there is general agreement about </a:t>
            </a:r>
            <a:r>
              <a:rPr lang="en-US" altLang="en-US" dirty="0" smtClean="0">
                <a:sym typeface="Symbol" pitchFamily="18" charset="2"/>
              </a:rPr>
              <a:t></a:t>
            </a:r>
          </a:p>
          <a:p>
            <a:pPr lvl="1">
              <a:lnSpc>
                <a:spcPct val="150000"/>
              </a:lnSpc>
            </a:pPr>
            <a:r>
              <a:rPr lang="en-US" altLang="en-US" dirty="0" smtClean="0">
                <a:sym typeface="Symbol" pitchFamily="18" charset="2"/>
              </a:rPr>
              <a:t>Prices for these claims will be actuarially fair: </a:t>
            </a:r>
            <a:r>
              <a:rPr lang="en-US" altLang="en-US" sz="2800" i="1" dirty="0" err="1" smtClean="0">
                <a:solidFill>
                  <a:srgbClr val="FF0000"/>
                </a:solidFill>
                <a:sym typeface="Symbol" pitchFamily="18" charset="2"/>
              </a:rPr>
              <a:t>p</a:t>
            </a:r>
            <a:r>
              <a:rPr lang="en-US" altLang="en-US" sz="2800" i="1" baseline="-25000" dirty="0" err="1" smtClean="0">
                <a:solidFill>
                  <a:srgbClr val="FF0000"/>
                </a:solidFill>
                <a:sym typeface="Symbol" pitchFamily="18" charset="2"/>
              </a:rPr>
              <a:t>g</a:t>
            </a:r>
            <a:r>
              <a:rPr lang="en-US" altLang="en-US" sz="2800" dirty="0" smtClean="0">
                <a:solidFill>
                  <a:srgbClr val="FF0000"/>
                </a:solidFill>
                <a:sym typeface="Symbol" pitchFamily="18" charset="2"/>
              </a:rPr>
              <a:t> = 1-  </a:t>
            </a:r>
            <a:r>
              <a:rPr lang="en-US" altLang="en-US" sz="2800" dirty="0" smtClean="0">
                <a:sym typeface="Symbol" pitchFamily="18" charset="2"/>
              </a:rPr>
              <a:t>and</a:t>
            </a:r>
            <a:r>
              <a:rPr lang="en-US" altLang="en-US" sz="2800" dirty="0" smtClean="0">
                <a:solidFill>
                  <a:srgbClr val="FF0000"/>
                </a:solidFill>
                <a:sym typeface="Symbol" pitchFamily="18" charset="2"/>
              </a:rPr>
              <a:t>  </a:t>
            </a:r>
            <a:r>
              <a:rPr lang="en-US" altLang="en-US" sz="2800" i="1" dirty="0" err="1" smtClean="0">
                <a:solidFill>
                  <a:srgbClr val="FF0000"/>
                </a:solidFill>
                <a:sym typeface="Symbol" pitchFamily="18" charset="2"/>
              </a:rPr>
              <a:t>p</a:t>
            </a:r>
            <a:r>
              <a:rPr lang="en-US" altLang="en-US" sz="2800" i="1" baseline="-25000" dirty="0" err="1" smtClean="0">
                <a:solidFill>
                  <a:srgbClr val="FF0000"/>
                </a:solidFill>
                <a:sym typeface="Symbol" pitchFamily="18" charset="2"/>
              </a:rPr>
              <a:t>b</a:t>
            </a:r>
            <a:r>
              <a:rPr lang="en-US" altLang="en-US" sz="2800" dirty="0" smtClean="0">
                <a:solidFill>
                  <a:srgbClr val="FF0000"/>
                </a:solidFill>
                <a:sym typeface="Symbol" pitchFamily="18" charset="2"/>
              </a:rPr>
              <a:t> = </a:t>
            </a:r>
            <a:endParaRPr lang="en-US" altLang="en-US" dirty="0" smtClean="0">
              <a:solidFill>
                <a:srgbClr val="FF0000"/>
              </a:solidFill>
              <a:sym typeface="Symbol" pitchFamily="18" charset="2"/>
            </a:endParaRPr>
          </a:p>
          <a:p>
            <a:pPr lvl="1"/>
            <a:r>
              <a:rPr lang="en-US" altLang="en-US" dirty="0" smtClean="0">
                <a:sym typeface="Symbol" pitchFamily="18" charset="2"/>
              </a:rPr>
              <a:t>The price ratio will reflect the odds in favor of good times</a:t>
            </a:r>
            <a:endParaRPr lang="en-US" altLang="en-US" dirty="0" smtClean="0">
              <a:solidFill>
                <a:srgbClr val="5858D4"/>
              </a:solidFill>
              <a:sym typeface="Symbol" pitchFamily="18" charset="2"/>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43ED7F21-34F5-4AC4-BB61-020BC59E7AC0}" type="slidenum">
              <a:rPr lang="en-US" smtClean="0"/>
              <a:pPr>
                <a:defRPr/>
              </a:pPr>
              <a:t>68</a:t>
            </a:fld>
            <a:endParaRPr lang="en-US"/>
          </a:p>
        </p:txBody>
      </p:sp>
      <p:graphicFrame>
        <p:nvGraphicFramePr>
          <p:cNvPr id="440325" name="Object 2"/>
          <p:cNvGraphicFramePr>
            <a:graphicFrameLocks noChangeAspect="1"/>
          </p:cNvGraphicFramePr>
          <p:nvPr>
            <p:extLst>
              <p:ext uri="{D42A27DB-BD31-4B8C-83A1-F6EECF244321}">
                <p14:modId xmlns:p14="http://schemas.microsoft.com/office/powerpoint/2010/main" val="2730135952"/>
              </p:ext>
            </p:extLst>
          </p:nvPr>
        </p:nvGraphicFramePr>
        <p:xfrm>
          <a:off x="3922713" y="5311775"/>
          <a:ext cx="1644650" cy="1055688"/>
        </p:xfrm>
        <a:graphic>
          <a:graphicData uri="http://schemas.openxmlformats.org/presentationml/2006/ole">
            <mc:AlternateContent xmlns:mc="http://schemas.openxmlformats.org/markup-compatibility/2006">
              <mc:Choice xmlns:v="urn:schemas-microsoft-com:vml" Requires="v">
                <p:oleObj spid="_x0000_s156685" name="Equation" r:id="rId3" imgW="711000" imgH="457200" progId="Equation.DSMT4">
                  <p:embed/>
                </p:oleObj>
              </mc:Choice>
              <mc:Fallback>
                <p:oleObj name="Equation" r:id="rId3" imgW="711000" imgH="457200" progId="Equation.DSMT4">
                  <p:embed/>
                  <p:pic>
                    <p:nvPicPr>
                      <p:cNvPr id="0" name=""/>
                      <p:cNvPicPr>
                        <a:picLocks noChangeAspect="1" noChangeArrowheads="1"/>
                      </p:cNvPicPr>
                      <p:nvPr/>
                    </p:nvPicPr>
                    <p:blipFill>
                      <a:blip r:embed="rId4"/>
                      <a:srcRect/>
                      <a:stretch>
                        <a:fillRect/>
                      </a:stretch>
                    </p:blipFill>
                    <p:spPr bwMode="auto">
                      <a:xfrm>
                        <a:off x="3922713" y="5311775"/>
                        <a:ext cx="1644650" cy="1055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049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0325"/>
                                        </p:tgtEl>
                                        <p:attrNameLst>
                                          <p:attrName>style.visibility</p:attrName>
                                        </p:attrNameLst>
                                      </p:cBhvr>
                                      <p:to>
                                        <p:strVal val="visible"/>
                                      </p:to>
                                    </p:set>
                                    <p:animEffect transition="in" filter="wipe(left)">
                                      <p:cBhvr>
                                        <p:cTn id="7" dur="500"/>
                                        <p:tgtEl>
                                          <p:spTgt spid="440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US" altLang="en-US" smtClean="0"/>
              <a:t>Risk Aversion</a:t>
            </a:r>
          </a:p>
        </p:txBody>
      </p:sp>
      <p:sp>
        <p:nvSpPr>
          <p:cNvPr id="18436" name="Rectangle 3"/>
          <p:cNvSpPr>
            <a:spLocks noGrp="1" noChangeArrowheads="1"/>
          </p:cNvSpPr>
          <p:nvPr>
            <p:ph idx="1"/>
          </p:nvPr>
        </p:nvSpPr>
        <p:spPr/>
        <p:txBody>
          <a:bodyPr/>
          <a:lstStyle/>
          <a:p>
            <a:r>
              <a:rPr lang="en-US" altLang="en-US" dirty="0" smtClean="0"/>
              <a:t>If contingent claims markets are fair</a:t>
            </a:r>
          </a:p>
          <a:p>
            <a:pPr lvl="1">
              <a:lnSpc>
                <a:spcPct val="150000"/>
              </a:lnSpc>
            </a:pPr>
            <a:r>
              <a:rPr lang="en-US" altLang="en-US" dirty="0" smtClean="0"/>
              <a:t>A utility-maximizing individual will opt for a situation in which </a:t>
            </a:r>
            <a:r>
              <a:rPr lang="en-US" altLang="en-US" i="1" dirty="0" err="1" smtClean="0">
                <a:solidFill>
                  <a:srgbClr val="FF0000"/>
                </a:solidFill>
              </a:rPr>
              <a:t>W</a:t>
            </a:r>
            <a:r>
              <a:rPr lang="en-US" altLang="en-US" i="1" baseline="-25000" dirty="0" err="1" smtClean="0">
                <a:solidFill>
                  <a:srgbClr val="FF0000"/>
                </a:solidFill>
              </a:rPr>
              <a:t>g</a:t>
            </a:r>
            <a:r>
              <a:rPr lang="en-US" altLang="en-US" dirty="0" smtClean="0">
                <a:solidFill>
                  <a:srgbClr val="FF0000"/>
                </a:solidFill>
              </a:rPr>
              <a:t> = </a:t>
            </a:r>
            <a:r>
              <a:rPr lang="en-US" altLang="en-US" i="1" dirty="0" err="1" smtClean="0">
                <a:solidFill>
                  <a:srgbClr val="FF0000"/>
                </a:solidFill>
              </a:rPr>
              <a:t>W</a:t>
            </a:r>
            <a:r>
              <a:rPr lang="en-US" altLang="en-US" i="1" baseline="-25000" dirty="0" err="1" smtClean="0">
                <a:solidFill>
                  <a:srgbClr val="FF0000"/>
                </a:solidFill>
              </a:rPr>
              <a:t>b</a:t>
            </a:r>
            <a:endParaRPr lang="en-US" altLang="en-US" dirty="0" smtClean="0">
              <a:solidFill>
                <a:srgbClr val="FF0000"/>
              </a:solidFill>
            </a:endParaRPr>
          </a:p>
          <a:p>
            <a:pPr lvl="2"/>
            <a:r>
              <a:rPr lang="en-US" altLang="en-US" dirty="0" smtClean="0"/>
              <a:t>Arrange matters so that the wealth obtained is the same no matter what state occurs</a:t>
            </a:r>
          </a:p>
          <a:p>
            <a:pPr lvl="1"/>
            <a:r>
              <a:rPr lang="en-US" altLang="en-US" dirty="0" smtClean="0"/>
              <a:t>Maximization of utility subject to a budget constraint: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77BEB0B-7C1A-426A-80CD-B90FAD7F2D9A}" type="slidenum">
              <a:rPr lang="en-US" smtClean="0"/>
              <a:pPr>
                <a:defRPr/>
              </a:pPr>
              <a:t>69</a:t>
            </a:fld>
            <a:endParaRPr lang="en-US"/>
          </a:p>
        </p:txBody>
      </p:sp>
      <p:graphicFrame>
        <p:nvGraphicFramePr>
          <p:cNvPr id="442372" name="Object 2"/>
          <p:cNvGraphicFramePr>
            <a:graphicFrameLocks noChangeAspect="1"/>
          </p:cNvGraphicFramePr>
          <p:nvPr>
            <p:extLst>
              <p:ext uri="{D42A27DB-BD31-4B8C-83A1-F6EECF244321}">
                <p14:modId xmlns:p14="http://schemas.microsoft.com/office/powerpoint/2010/main" val="3023017611"/>
              </p:ext>
            </p:extLst>
          </p:nvPr>
        </p:nvGraphicFramePr>
        <p:xfrm>
          <a:off x="1252538" y="5376863"/>
          <a:ext cx="6638925" cy="1035050"/>
        </p:xfrm>
        <a:graphic>
          <a:graphicData uri="http://schemas.openxmlformats.org/presentationml/2006/ole">
            <mc:AlternateContent xmlns:mc="http://schemas.openxmlformats.org/markup-compatibility/2006">
              <mc:Choice xmlns:v="urn:schemas-microsoft-com:vml" Requires="v">
                <p:oleObj spid="_x0000_s157708" name="Equation" r:id="rId3" imgW="2933640" imgH="457200" progId="Equation.DSMT4">
                  <p:embed/>
                </p:oleObj>
              </mc:Choice>
              <mc:Fallback>
                <p:oleObj name="Equation" r:id="rId3" imgW="2933640" imgH="457200" progId="Equation.DSMT4">
                  <p:embed/>
                  <p:pic>
                    <p:nvPicPr>
                      <p:cNvPr id="0" name=""/>
                      <p:cNvPicPr>
                        <a:picLocks noChangeAspect="1" noChangeArrowheads="1"/>
                      </p:cNvPicPr>
                      <p:nvPr/>
                    </p:nvPicPr>
                    <p:blipFill>
                      <a:blip r:embed="rId4"/>
                      <a:srcRect/>
                      <a:stretch>
                        <a:fillRect/>
                      </a:stretch>
                    </p:blipFill>
                    <p:spPr bwMode="auto">
                      <a:xfrm>
                        <a:off x="1252538" y="5376863"/>
                        <a:ext cx="663892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156557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2372"/>
                                        </p:tgtEl>
                                        <p:attrNameLst>
                                          <p:attrName>style.visibility</p:attrName>
                                        </p:attrNameLst>
                                      </p:cBhvr>
                                      <p:to>
                                        <p:strVal val="visible"/>
                                      </p:to>
                                    </p:set>
                                    <p:animEffect transition="in" filter="wipe(left)">
                                      <p:cBhvr>
                                        <p:cTn id="7" dur="500"/>
                                        <p:tgtEl>
                                          <p:spTgt spid="442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en-US" smtClean="0"/>
              <a:t>Risk Aversion</a:t>
            </a:r>
          </a:p>
        </p:txBody>
      </p:sp>
      <p:sp>
        <p:nvSpPr>
          <p:cNvPr id="19460" name="Rectangle 3"/>
          <p:cNvSpPr>
            <a:spLocks noGrp="1" noChangeArrowheads="1"/>
          </p:cNvSpPr>
          <p:nvPr>
            <p:ph idx="1"/>
          </p:nvPr>
        </p:nvSpPr>
        <p:spPr/>
        <p:txBody>
          <a:bodyPr/>
          <a:lstStyle/>
          <a:p>
            <a:r>
              <a:rPr lang="en-US" altLang="en-US" smtClean="0"/>
              <a:t>If markets for contingent claims are fair</a:t>
            </a:r>
          </a:p>
        </p:txBody>
      </p:sp>
      <p:sp>
        <p:nvSpPr>
          <p:cNvPr id="9" name="Footer Placeholder 8"/>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8" name="Slide Number Placeholder 7"/>
          <p:cNvSpPr>
            <a:spLocks noGrp="1"/>
          </p:cNvSpPr>
          <p:nvPr>
            <p:ph type="sldNum" sz="quarter" idx="11"/>
          </p:nvPr>
        </p:nvSpPr>
        <p:spPr/>
        <p:txBody>
          <a:bodyPr/>
          <a:lstStyle/>
          <a:p>
            <a:pPr>
              <a:defRPr/>
            </a:pPr>
            <a:fld id="{6625E298-D621-4735-90BF-5A12C6175EFB}" type="slidenum">
              <a:rPr lang="en-US" smtClean="0"/>
              <a:pPr>
                <a:defRPr/>
              </a:pPr>
              <a:t>70</a:t>
            </a:fld>
            <a:endParaRPr lang="en-US"/>
          </a:p>
        </p:txBody>
      </p:sp>
      <p:sp>
        <p:nvSpPr>
          <p:cNvPr id="2" name="Text Placeholder 1"/>
          <p:cNvSpPr>
            <a:spLocks noGrp="1"/>
          </p:cNvSpPr>
          <p:nvPr>
            <p:ph type="body" sz="quarter" idx="12"/>
          </p:nvPr>
        </p:nvSpPr>
        <p:spPr>
          <a:xfrm>
            <a:off x="381000" y="2971800"/>
            <a:ext cx="8534400" cy="3276600"/>
          </a:xfrm>
        </p:spPr>
        <p:txBody>
          <a:bodyPr>
            <a:noAutofit/>
          </a:bodyPr>
          <a:lstStyle/>
          <a:p>
            <a:r>
              <a:rPr lang="en-US" dirty="0"/>
              <a:t>When faced with fair markets in contingent claims on wealth</a:t>
            </a:r>
          </a:p>
          <a:p>
            <a:pPr lvl="1"/>
            <a:r>
              <a:rPr lang="en-US" dirty="0"/>
              <a:t>Individual will be risk averse </a:t>
            </a:r>
          </a:p>
          <a:p>
            <a:pPr lvl="1"/>
            <a:r>
              <a:rPr lang="en-US" dirty="0"/>
              <a:t>And will choose to ensure that he or she has the same level of wealth regardless of which state </a:t>
            </a:r>
            <a:r>
              <a:rPr lang="en-US" dirty="0" smtClean="0"/>
              <a:t>occurs</a:t>
            </a:r>
            <a:endParaRPr lang="en-US" dirty="0"/>
          </a:p>
        </p:txBody>
      </p:sp>
      <p:sp>
        <p:nvSpPr>
          <p:cNvPr id="19463" name="Rectangle 5"/>
          <p:cNvSpPr>
            <a:spLocks noChangeArrowheads="1"/>
          </p:cNvSpPr>
          <p:nvPr/>
        </p:nvSpPr>
        <p:spPr bwMode="auto">
          <a:xfrm>
            <a:off x="609600" y="4038600"/>
            <a:ext cx="815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lnSpc>
                <a:spcPct val="80000"/>
              </a:lnSpc>
              <a:spcBef>
                <a:spcPct val="20000"/>
              </a:spcBef>
              <a:buFontTx/>
              <a:buChar char="•"/>
            </a:pPr>
            <a:endParaRPr lang="en-US" altLang="en-US" sz="3200">
              <a:solidFill>
                <a:srgbClr val="394DA3"/>
              </a:solidFill>
            </a:endParaRPr>
          </a:p>
        </p:txBody>
      </p:sp>
      <p:graphicFrame>
        <p:nvGraphicFramePr>
          <p:cNvPr id="442374" name="Object 3"/>
          <p:cNvGraphicFramePr>
            <a:graphicFrameLocks noChangeAspect="1"/>
          </p:cNvGraphicFramePr>
          <p:nvPr/>
        </p:nvGraphicFramePr>
        <p:xfrm>
          <a:off x="1117600" y="1730375"/>
          <a:ext cx="4489450" cy="1190625"/>
        </p:xfrm>
        <a:graphic>
          <a:graphicData uri="http://schemas.openxmlformats.org/presentationml/2006/ole">
            <mc:AlternateContent xmlns:mc="http://schemas.openxmlformats.org/markup-compatibility/2006">
              <mc:Choice xmlns:v="urn:schemas-microsoft-com:vml" Requires="v">
                <p:oleObj spid="_x0000_s158732" name="Equation" r:id="rId3" imgW="1726920" imgH="457200" progId="Equation.DSMT4">
                  <p:embed/>
                </p:oleObj>
              </mc:Choice>
              <mc:Fallback>
                <p:oleObj name="Equation" r:id="rId3" imgW="172692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600" y="1730375"/>
                        <a:ext cx="448945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50661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2374"/>
                                        </p:tgtEl>
                                        <p:attrNameLst>
                                          <p:attrName>style.visibility</p:attrName>
                                        </p:attrNameLst>
                                      </p:cBhvr>
                                      <p:to>
                                        <p:strVal val="visible"/>
                                      </p:to>
                                    </p:set>
                                    <p:animEffect transition="in" filter="wipe(left)">
                                      <p:cBhvr>
                                        <p:cTn id="7" dur="500"/>
                                        <p:tgtEl>
                                          <p:spTgt spid="44237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7.6	Risk Aversions in the State-Preference </a:t>
            </a:r>
            <a:r>
              <a:rPr lang="en-US" altLang="en-US" dirty="0" smtClean="0"/>
              <a:t>Model</a:t>
            </a:r>
          </a:p>
        </p:txBody>
      </p:sp>
      <p:sp>
        <p:nvSpPr>
          <p:cNvPr id="87043" name="Text Placeholder 2"/>
          <p:cNvSpPr>
            <a:spLocks noGrp="1"/>
          </p:cNvSpPr>
          <p:nvPr>
            <p:ph sz="half" idx="1"/>
          </p:nvPr>
        </p:nvSpPr>
        <p:spPr>
          <a:xfrm>
            <a:off x="23812" y="4864100"/>
            <a:ext cx="8967787" cy="1530828"/>
          </a:xfrm>
        </p:spPr>
        <p:txBody>
          <a:bodyPr>
            <a:normAutofit/>
          </a:bodyPr>
          <a:lstStyle/>
          <a:p>
            <a:pPr>
              <a:spcBef>
                <a:spcPct val="0"/>
              </a:spcBef>
            </a:pPr>
            <a:r>
              <a:rPr lang="en-US" altLang="en-US" dirty="0"/>
              <a:t>The line I represents the individual’s budget constraint for contingent wealth claims: </a:t>
            </a:r>
            <a:r>
              <a:rPr lang="en-US" altLang="en-US" dirty="0" smtClean="0"/>
              <a:t>W</a:t>
            </a:r>
            <a:r>
              <a:rPr lang="en-US" altLang="en-US" baseline="-25000" dirty="0" smtClean="0"/>
              <a:t>0</a:t>
            </a:r>
            <a:r>
              <a:rPr lang="en-US" altLang="en-US" dirty="0" smtClean="0"/>
              <a:t> </a:t>
            </a:r>
            <a:r>
              <a:rPr lang="en-US" altLang="en-US" dirty="0"/>
              <a:t>= </a:t>
            </a:r>
            <a:r>
              <a:rPr lang="en-US" altLang="en-US" dirty="0" err="1"/>
              <a:t>p</a:t>
            </a:r>
            <a:r>
              <a:rPr lang="en-US" altLang="en-US" baseline="-25000" dirty="0" err="1"/>
              <a:t>g</a:t>
            </a:r>
            <a:r>
              <a:rPr lang="en-US" altLang="en-US" dirty="0" err="1"/>
              <a:t>W</a:t>
            </a:r>
            <a:r>
              <a:rPr lang="en-US" altLang="en-US" baseline="-25000" dirty="0" err="1"/>
              <a:t>g</a:t>
            </a:r>
            <a:r>
              <a:rPr lang="en-US" altLang="en-US" dirty="0"/>
              <a:t> + </a:t>
            </a:r>
            <a:r>
              <a:rPr lang="en-US" altLang="en-US" dirty="0" err="1"/>
              <a:t>p</a:t>
            </a:r>
            <a:r>
              <a:rPr lang="en-US" altLang="en-US" baseline="-25000" dirty="0" err="1"/>
              <a:t>b</a:t>
            </a:r>
            <a:r>
              <a:rPr lang="en-US" altLang="en-US" dirty="0" err="1"/>
              <a:t>W</a:t>
            </a:r>
            <a:r>
              <a:rPr lang="en-US" altLang="en-US" baseline="-25000" dirty="0" err="1"/>
              <a:t>b</a:t>
            </a:r>
            <a:r>
              <a:rPr lang="en-US" altLang="en-US" dirty="0"/>
              <a:t>. If the market for contingent claims is actuarially fair [</a:t>
            </a:r>
            <a:r>
              <a:rPr lang="en-US" altLang="en-US" dirty="0" err="1"/>
              <a:t>p</a:t>
            </a:r>
            <a:r>
              <a:rPr lang="en-US" altLang="en-US" baseline="-25000" dirty="0" err="1"/>
              <a:t>g</a:t>
            </a:r>
            <a:r>
              <a:rPr lang="en-US" altLang="en-US" dirty="0"/>
              <a:t> /</a:t>
            </a:r>
            <a:r>
              <a:rPr lang="en-US" altLang="en-US" dirty="0" err="1"/>
              <a:t>p</a:t>
            </a:r>
            <a:r>
              <a:rPr lang="en-US" altLang="en-US" baseline="-25000" dirty="0" err="1"/>
              <a:t>b</a:t>
            </a:r>
            <a:r>
              <a:rPr lang="en-US" altLang="en-US" dirty="0"/>
              <a:t> = </a:t>
            </a:r>
            <a:r>
              <a:rPr lang="en-US" altLang="en-US" dirty="0" smtClean="0"/>
              <a:t>(1-</a:t>
            </a:r>
            <a:r>
              <a:rPr lang="el-GR" altLang="en-US" dirty="0" smtClean="0"/>
              <a:t>π</a:t>
            </a:r>
            <a:r>
              <a:rPr lang="en-US" altLang="en-US" dirty="0" smtClean="0"/>
              <a:t>)/</a:t>
            </a:r>
            <a:r>
              <a:rPr lang="el-GR" altLang="en-US" dirty="0" smtClean="0"/>
              <a:t> π</a:t>
            </a:r>
            <a:r>
              <a:rPr lang="en-US" altLang="en-US" dirty="0" smtClean="0"/>
              <a:t>], </a:t>
            </a:r>
            <a:r>
              <a:rPr lang="en-US" altLang="en-US" dirty="0"/>
              <a:t>then utility maximization will occur on the certainty line where </a:t>
            </a:r>
            <a:r>
              <a:rPr lang="en-US" altLang="en-US" dirty="0" err="1"/>
              <a:t>W</a:t>
            </a:r>
            <a:r>
              <a:rPr lang="en-US" altLang="en-US" baseline="-25000" dirty="0" err="1"/>
              <a:t>g</a:t>
            </a:r>
            <a:r>
              <a:rPr lang="en-US" altLang="en-US" dirty="0"/>
              <a:t> = </a:t>
            </a:r>
            <a:r>
              <a:rPr lang="en-US" altLang="en-US" dirty="0" err="1"/>
              <a:t>W</a:t>
            </a:r>
            <a:r>
              <a:rPr lang="en-US" altLang="en-US" baseline="-25000" dirty="0" err="1"/>
              <a:t>b</a:t>
            </a:r>
            <a:r>
              <a:rPr lang="en-US" altLang="en-US" dirty="0"/>
              <a:t> = </a:t>
            </a:r>
            <a:r>
              <a:rPr lang="en-US" altLang="en-US" dirty="0" smtClean="0"/>
              <a:t>W</a:t>
            </a:r>
            <a:r>
              <a:rPr lang="en-US" altLang="en-US" baseline="-25000" dirty="0" smtClean="0"/>
              <a:t>0</a:t>
            </a:r>
            <a:r>
              <a:rPr lang="en-US" altLang="en-US" dirty="0" smtClean="0"/>
              <a:t>. </a:t>
            </a:r>
            <a:r>
              <a:rPr lang="en-US" altLang="en-US" dirty="0"/>
              <a:t>If prices are not actuarially fair, the budget constraint may resemble I’, and utility maximization will occur at a point where </a:t>
            </a:r>
            <a:r>
              <a:rPr lang="en-US" altLang="en-US" dirty="0" err="1"/>
              <a:t>W</a:t>
            </a:r>
            <a:r>
              <a:rPr lang="en-US" altLang="en-US" baseline="-25000" dirty="0" err="1"/>
              <a:t>g</a:t>
            </a:r>
            <a:r>
              <a:rPr lang="en-US" altLang="en-US" dirty="0"/>
              <a:t> &gt; </a:t>
            </a:r>
            <a:r>
              <a:rPr lang="en-US" altLang="en-US" dirty="0" err="1"/>
              <a:t>W</a:t>
            </a:r>
            <a:r>
              <a:rPr lang="en-US" altLang="en-US" baseline="-25000" dirty="0" err="1"/>
              <a:t>b</a:t>
            </a:r>
            <a:r>
              <a:rPr lang="en-US" altLang="en-US" dirty="0"/>
              <a:t>.</a:t>
            </a:r>
          </a:p>
          <a:p>
            <a:pPr>
              <a:spcBef>
                <a:spcPct val="0"/>
              </a:spcBef>
            </a:pPr>
            <a:endParaRPr lang="en-US" altLang="en-US" dirty="0" smtClean="0"/>
          </a:p>
        </p:txBody>
      </p:sp>
      <p:sp>
        <p:nvSpPr>
          <p:cNvPr id="870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1E94290E-0F4D-44A3-8B0D-C9138C04DEEC}" type="slidenum">
              <a:rPr lang="en-US" smtClean="0"/>
              <a:pPr>
                <a:defRPr/>
              </a:pPr>
              <a:t>71</a:t>
            </a:fld>
            <a:endParaRPr lang="en-US" dirty="0"/>
          </a:p>
        </p:txBody>
      </p:sp>
      <p:grpSp>
        <p:nvGrpSpPr>
          <p:cNvPr id="7" name="Group 6"/>
          <p:cNvGrpSpPr>
            <a:grpSpLocks/>
          </p:cNvGrpSpPr>
          <p:nvPr/>
        </p:nvGrpSpPr>
        <p:grpSpPr bwMode="auto">
          <a:xfrm>
            <a:off x="2038350" y="1281113"/>
            <a:ext cx="4451350" cy="3216275"/>
            <a:chOff x="1219200" y="2879209"/>
            <a:chExt cx="4451692" cy="3216791"/>
          </a:xfrm>
        </p:grpSpPr>
        <p:sp>
          <p:nvSpPr>
            <p:cNvPr id="87072" name="Line 6"/>
            <p:cNvSpPr>
              <a:spLocks noChangeShapeType="1"/>
            </p:cNvSpPr>
            <p:nvPr/>
          </p:nvSpPr>
          <p:spPr bwMode="auto">
            <a:xfrm flipV="1">
              <a:off x="1219200" y="3124200"/>
              <a:ext cx="2971800" cy="2971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73" name="Text Box 7"/>
            <p:cNvSpPr txBox="1">
              <a:spLocks noChangeArrowheads="1"/>
            </p:cNvSpPr>
            <p:nvPr/>
          </p:nvSpPr>
          <p:spPr bwMode="auto">
            <a:xfrm>
              <a:off x="4191000" y="2879209"/>
              <a:ext cx="1479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certainty line</a:t>
              </a:r>
            </a:p>
          </p:txBody>
        </p:sp>
      </p:grpSp>
      <p:grpSp>
        <p:nvGrpSpPr>
          <p:cNvPr id="10" name="Group 31"/>
          <p:cNvGrpSpPr>
            <a:grpSpLocks/>
          </p:cNvGrpSpPr>
          <p:nvPr/>
        </p:nvGrpSpPr>
        <p:grpSpPr bwMode="auto">
          <a:xfrm>
            <a:off x="1509713" y="457200"/>
            <a:ext cx="5799137" cy="4224338"/>
            <a:chOff x="1509428" y="800497"/>
            <a:chExt cx="5799502" cy="4223782"/>
          </a:xfrm>
        </p:grpSpPr>
        <p:grpSp>
          <p:nvGrpSpPr>
            <p:cNvPr id="87066" name="Group 9"/>
            <p:cNvGrpSpPr>
              <a:grpSpLocks/>
            </p:cNvGrpSpPr>
            <p:nvPr/>
          </p:nvGrpSpPr>
          <p:grpSpPr bwMode="auto">
            <a:xfrm>
              <a:off x="2038065" y="4654947"/>
              <a:ext cx="5270865" cy="369332"/>
              <a:chOff x="1219200" y="5910541"/>
              <a:chExt cx="5270865" cy="369332"/>
            </a:xfrm>
          </p:grpSpPr>
          <p:sp>
            <p:nvSpPr>
              <p:cNvPr id="87070" name="Line 4"/>
              <p:cNvSpPr>
                <a:spLocks noChangeShapeType="1"/>
              </p:cNvSpPr>
              <p:nvPr/>
            </p:nvSpPr>
            <p:spPr bwMode="auto">
              <a:xfrm>
                <a:off x="1219200" y="6096000"/>
                <a:ext cx="472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71" name="Text Box 8"/>
              <p:cNvSpPr txBox="1">
                <a:spLocks noChangeArrowheads="1"/>
              </p:cNvSpPr>
              <p:nvPr/>
            </p:nvSpPr>
            <p:spPr bwMode="auto">
              <a:xfrm>
                <a:off x="5992813" y="5910541"/>
                <a:ext cx="497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g</a:t>
                </a:r>
                <a:endParaRPr lang="en-US" altLang="en-US" sz="1800" i="1"/>
              </a:p>
            </p:txBody>
          </p:sp>
        </p:grpSp>
        <p:grpSp>
          <p:nvGrpSpPr>
            <p:cNvPr id="87067" name="Group 12"/>
            <p:cNvGrpSpPr>
              <a:grpSpLocks/>
            </p:cNvGrpSpPr>
            <p:nvPr/>
          </p:nvGrpSpPr>
          <p:grpSpPr bwMode="auto">
            <a:xfrm>
              <a:off x="1509428" y="800497"/>
              <a:ext cx="528637" cy="4039909"/>
              <a:chOff x="690563" y="2056091"/>
              <a:chExt cx="528637" cy="4039909"/>
            </a:xfrm>
          </p:grpSpPr>
          <p:sp>
            <p:nvSpPr>
              <p:cNvPr id="87068" name="Line 3"/>
              <p:cNvSpPr>
                <a:spLocks noChangeShapeType="1"/>
              </p:cNvSpPr>
              <p:nvPr/>
            </p:nvSpPr>
            <p:spPr bwMode="auto">
              <a:xfrm>
                <a:off x="1219200" y="2286000"/>
                <a:ext cx="0" cy="3810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069" name="Text Box 9"/>
              <p:cNvSpPr txBox="1">
                <a:spLocks noChangeArrowheads="1"/>
              </p:cNvSpPr>
              <p:nvPr/>
            </p:nvSpPr>
            <p:spPr bwMode="auto">
              <a:xfrm>
                <a:off x="690563" y="2056091"/>
                <a:ext cx="497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b</a:t>
                </a:r>
                <a:endParaRPr lang="en-US" altLang="en-US" sz="1800" i="1"/>
              </a:p>
            </p:txBody>
          </p:sp>
        </p:grpSp>
      </p:grpSp>
      <p:grpSp>
        <p:nvGrpSpPr>
          <p:cNvPr id="21" name="Group 15"/>
          <p:cNvGrpSpPr>
            <a:grpSpLocks/>
          </p:cNvGrpSpPr>
          <p:nvPr/>
        </p:nvGrpSpPr>
        <p:grpSpPr bwMode="auto">
          <a:xfrm>
            <a:off x="3157538" y="3049588"/>
            <a:ext cx="487634" cy="1814565"/>
            <a:chOff x="2338388" y="4648200"/>
            <a:chExt cx="487949" cy="1815082"/>
          </a:xfrm>
        </p:grpSpPr>
        <p:sp>
          <p:nvSpPr>
            <p:cNvPr id="87064" name="Line 11"/>
            <p:cNvSpPr>
              <a:spLocks noChangeShapeType="1"/>
            </p:cNvSpPr>
            <p:nvPr/>
          </p:nvSpPr>
          <p:spPr bwMode="auto">
            <a:xfrm>
              <a:off x="2614488" y="4648200"/>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65" name="Text Box 14"/>
            <p:cNvSpPr txBox="1">
              <a:spLocks noChangeArrowheads="1"/>
            </p:cNvSpPr>
            <p:nvPr/>
          </p:nvSpPr>
          <p:spPr bwMode="auto">
            <a:xfrm>
              <a:off x="2338388" y="6093845"/>
              <a:ext cx="487949" cy="36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W</a:t>
              </a:r>
              <a:r>
                <a:rPr lang="en-US" altLang="en-US" sz="1800" i="1" baseline="-25000" dirty="0" smtClean="0"/>
                <a:t>0</a:t>
              </a:r>
              <a:endParaRPr lang="en-US" altLang="en-US" sz="1800" i="1" dirty="0"/>
            </a:p>
          </p:txBody>
        </p:sp>
      </p:grpSp>
      <p:grpSp>
        <p:nvGrpSpPr>
          <p:cNvPr id="24" name="Group 32"/>
          <p:cNvGrpSpPr>
            <a:grpSpLocks/>
          </p:cNvGrpSpPr>
          <p:nvPr/>
        </p:nvGrpSpPr>
        <p:grpSpPr bwMode="auto">
          <a:xfrm>
            <a:off x="2624138" y="836613"/>
            <a:ext cx="3794125" cy="3451225"/>
            <a:chOff x="2623914" y="1178847"/>
            <a:chExt cx="3795014" cy="3451411"/>
          </a:xfrm>
        </p:grpSpPr>
        <p:sp>
          <p:nvSpPr>
            <p:cNvPr id="87062" name="Text Box 18"/>
            <p:cNvSpPr txBox="1">
              <a:spLocks noChangeArrowheads="1"/>
            </p:cNvSpPr>
            <p:nvPr/>
          </p:nvSpPr>
          <p:spPr bwMode="auto">
            <a:xfrm>
              <a:off x="5982590" y="42609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U</a:t>
              </a:r>
              <a:r>
                <a:rPr lang="en-US" altLang="en-US" sz="1800" baseline="-25000" dirty="0">
                  <a:solidFill>
                    <a:srgbClr val="C00000"/>
                  </a:solidFill>
                </a:rPr>
                <a:t>1</a:t>
              </a:r>
              <a:endParaRPr lang="en-US" altLang="en-US" sz="1800" i="1" dirty="0">
                <a:solidFill>
                  <a:srgbClr val="C00000"/>
                </a:solidFill>
              </a:endParaRPr>
            </a:p>
          </p:txBody>
        </p:sp>
        <p:sp>
          <p:nvSpPr>
            <p:cNvPr id="87063" name="Freeform 19"/>
            <p:cNvSpPr>
              <a:spLocks/>
            </p:cNvSpPr>
            <p:nvPr/>
          </p:nvSpPr>
          <p:spPr bwMode="auto">
            <a:xfrm rot="-151361">
              <a:off x="2623914" y="1178847"/>
              <a:ext cx="3301340" cy="3348841"/>
            </a:xfrm>
            <a:custGeom>
              <a:avLst/>
              <a:gdLst>
                <a:gd name="T0" fmla="*/ 0 w 3301340"/>
                <a:gd name="T1" fmla="*/ 0 h 3348841"/>
                <a:gd name="T2" fmla="*/ 3301340 w 3301340"/>
                <a:gd name="T3" fmla="*/ 3348841 h 3348841"/>
                <a:gd name="T4" fmla="*/ 0 60000 65536"/>
                <a:gd name="T5" fmla="*/ 0 60000 65536"/>
              </a:gdLst>
              <a:ahLst/>
              <a:cxnLst>
                <a:cxn ang="T4">
                  <a:pos x="T0" y="T1"/>
                </a:cxn>
                <a:cxn ang="T5">
                  <a:pos x="T2" y="T3"/>
                </a:cxn>
              </a:cxnLst>
              <a:rect l="0" t="0" r="r" b="b"/>
              <a:pathLst>
                <a:path w="3301340" h="3348841">
                  <a:moveTo>
                    <a:pt x="0" y="0"/>
                  </a:moveTo>
                  <a:cubicBezTo>
                    <a:pt x="174172" y="2196934"/>
                    <a:pt x="1452748" y="3111335"/>
                    <a:pt x="3301340" y="3348841"/>
                  </a:cubicBezTo>
                </a:path>
              </a:pathLst>
            </a:custGeom>
            <a:noFill/>
            <a:ln w="38100"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8" name="Group 20"/>
          <p:cNvGrpSpPr>
            <a:grpSpLocks/>
          </p:cNvGrpSpPr>
          <p:nvPr/>
        </p:nvGrpSpPr>
        <p:grpSpPr bwMode="auto">
          <a:xfrm>
            <a:off x="2038350" y="1677988"/>
            <a:ext cx="2819400" cy="2819400"/>
            <a:chOff x="1219200" y="3276600"/>
            <a:chExt cx="2819400" cy="2819400"/>
          </a:xfrm>
        </p:grpSpPr>
        <p:sp>
          <p:nvSpPr>
            <p:cNvPr id="87060" name="Line 5"/>
            <p:cNvSpPr>
              <a:spLocks noChangeShapeType="1"/>
            </p:cNvSpPr>
            <p:nvPr/>
          </p:nvSpPr>
          <p:spPr bwMode="auto">
            <a:xfrm>
              <a:off x="1219200" y="3276600"/>
              <a:ext cx="2819400" cy="28194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61" name="Text Box 18"/>
            <p:cNvSpPr txBox="1">
              <a:spLocks noChangeArrowheads="1"/>
            </p:cNvSpPr>
            <p:nvPr/>
          </p:nvSpPr>
          <p:spPr bwMode="auto">
            <a:xfrm>
              <a:off x="3451698" y="5680796"/>
              <a:ext cx="2487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000099"/>
                  </a:solidFill>
                </a:rPr>
                <a:t>I</a:t>
              </a:r>
            </a:p>
          </p:txBody>
        </p:sp>
      </p:grpSp>
      <p:grpSp>
        <p:nvGrpSpPr>
          <p:cNvPr id="32" name="Group 23"/>
          <p:cNvGrpSpPr>
            <a:grpSpLocks/>
          </p:cNvGrpSpPr>
          <p:nvPr/>
        </p:nvGrpSpPr>
        <p:grpSpPr bwMode="auto">
          <a:xfrm>
            <a:off x="2041525" y="2332038"/>
            <a:ext cx="3725863" cy="2162175"/>
            <a:chOff x="1223157" y="3930729"/>
            <a:chExt cx="3726052" cy="2161312"/>
          </a:xfrm>
        </p:grpSpPr>
        <p:sp>
          <p:nvSpPr>
            <p:cNvPr id="87058" name="Line 2"/>
            <p:cNvSpPr>
              <a:spLocks noChangeShapeType="1"/>
            </p:cNvSpPr>
            <p:nvPr/>
          </p:nvSpPr>
          <p:spPr bwMode="auto">
            <a:xfrm flipH="1" flipV="1">
              <a:off x="1223157" y="3930729"/>
              <a:ext cx="3515098" cy="2161312"/>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7059" name="Text Box 18"/>
            <p:cNvSpPr txBox="1">
              <a:spLocks noChangeArrowheads="1"/>
            </p:cNvSpPr>
            <p:nvPr/>
          </p:nvSpPr>
          <p:spPr bwMode="auto">
            <a:xfrm>
              <a:off x="4649127" y="5690692"/>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000099"/>
                  </a:solidFill>
                </a:rPr>
                <a:t>I’</a:t>
              </a:r>
            </a:p>
          </p:txBody>
        </p:sp>
      </p:grpSp>
      <p:sp>
        <p:nvSpPr>
          <p:cNvPr id="27" name="Oval 13"/>
          <p:cNvSpPr>
            <a:spLocks noChangeArrowheads="1"/>
          </p:cNvSpPr>
          <p:nvPr/>
        </p:nvSpPr>
        <p:spPr bwMode="auto">
          <a:xfrm>
            <a:off x="4013200" y="3521075"/>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nvGrpSpPr>
          <p:cNvPr id="33" name="Group 27"/>
          <p:cNvGrpSpPr>
            <a:grpSpLocks/>
          </p:cNvGrpSpPr>
          <p:nvPr/>
        </p:nvGrpSpPr>
        <p:grpSpPr bwMode="auto">
          <a:xfrm>
            <a:off x="1504950" y="2880796"/>
            <a:ext cx="1968500" cy="369332"/>
            <a:chOff x="685800" y="4478892"/>
            <a:chExt cx="1969263" cy="370367"/>
          </a:xfrm>
        </p:grpSpPr>
        <p:sp>
          <p:nvSpPr>
            <p:cNvPr id="87055" name="Line 12"/>
            <p:cNvSpPr>
              <a:spLocks noChangeShapeType="1"/>
            </p:cNvSpPr>
            <p:nvPr/>
          </p:nvSpPr>
          <p:spPr bwMode="auto">
            <a:xfrm flipH="1">
              <a:off x="1195388" y="4648200"/>
              <a:ext cx="1371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7056" name="Text Box 15"/>
            <p:cNvSpPr txBox="1">
              <a:spLocks noChangeArrowheads="1"/>
            </p:cNvSpPr>
            <p:nvPr/>
          </p:nvSpPr>
          <p:spPr bwMode="auto">
            <a:xfrm>
              <a:off x="685800" y="4478892"/>
              <a:ext cx="487823" cy="370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W</a:t>
              </a:r>
              <a:r>
                <a:rPr lang="en-US" altLang="en-US" sz="1800" i="1" baseline="-25000" dirty="0" smtClean="0"/>
                <a:t>0</a:t>
              </a:r>
              <a:endParaRPr lang="en-US" altLang="en-US" sz="1800" i="1" dirty="0"/>
            </a:p>
          </p:txBody>
        </p:sp>
        <p:sp>
          <p:nvSpPr>
            <p:cNvPr id="87057" name="Oval 13"/>
            <p:cNvSpPr>
              <a:spLocks noChangeArrowheads="1"/>
            </p:cNvSpPr>
            <p:nvPr/>
          </p:nvSpPr>
          <p:spPr bwMode="auto">
            <a:xfrm>
              <a:off x="2578863" y="4624450"/>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4047774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500"/>
                                        <p:tgtEl>
                                          <p:spTgt spid="33"/>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left)">
                                      <p:cBhvr>
                                        <p:cTn id="31" dur="500"/>
                                        <p:tgtEl>
                                          <p:spTgt spid="32"/>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87043">
                                            <p:txEl>
                                              <p:pRg st="0" end="0"/>
                                            </p:txEl>
                                          </p:spTgt>
                                        </p:tgtEl>
                                        <p:attrNameLst>
                                          <p:attrName>style.visibility</p:attrName>
                                        </p:attrNameLst>
                                      </p:cBhvr>
                                      <p:to>
                                        <p:strVal val="visible"/>
                                      </p:to>
                                    </p:set>
                                    <p:animEffect transition="in" filter="wipe(left)">
                                      <p:cBhvr>
                                        <p:cTn id="39" dur="500"/>
                                        <p:tgtEl>
                                          <p:spTgt spid="870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P spid="2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a:lnSpc>
                <a:spcPct val="90000"/>
              </a:lnSpc>
            </a:pPr>
            <a:r>
              <a:rPr lang="en-US" altLang="en-US" smtClean="0"/>
              <a:t>7.6	Insurance in the State-Preference Model</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96CB1EB6-8C73-47F6-B593-03B55B6893BA}" type="slidenum">
              <a:rPr lang="en-US" smtClean="0"/>
              <a:pPr>
                <a:defRPr/>
              </a:pPr>
              <a:t>72</a:t>
            </a:fld>
            <a:endParaRPr lang="en-US"/>
          </a:p>
        </p:txBody>
      </p:sp>
      <p:sp>
        <p:nvSpPr>
          <p:cNvPr id="88067" name="Rectangle 3"/>
          <p:cNvSpPr>
            <a:spLocks noGrp="1" noChangeArrowheads="1"/>
          </p:cNvSpPr>
          <p:nvPr>
            <p:ph type="body" sz="quarter" idx="12"/>
          </p:nvPr>
        </p:nvSpPr>
        <p:spPr>
          <a:prstGeom prst="rect">
            <a:avLst/>
          </a:prstGeom>
        </p:spPr>
        <p:txBody>
          <a:bodyPr/>
          <a:lstStyle/>
          <a:p>
            <a:r>
              <a:rPr lang="en-US" altLang="en-US" dirty="0" smtClean="0"/>
              <a:t>A person with wealth of $100,000 </a:t>
            </a:r>
          </a:p>
          <a:p>
            <a:pPr lvl="1"/>
            <a:r>
              <a:rPr lang="en-US" altLang="en-US" dirty="0" smtClean="0"/>
              <a:t>Faces a 25% chance of losing his automobile worth $20,000</a:t>
            </a:r>
          </a:p>
          <a:p>
            <a:pPr lvl="1"/>
            <a:r>
              <a:rPr lang="en-US" altLang="en-US" dirty="0" smtClean="0"/>
              <a:t>Wealth with no theft (</a:t>
            </a:r>
            <a:r>
              <a:rPr lang="en-US" altLang="en-US" i="1" dirty="0" smtClean="0"/>
              <a:t>W</a:t>
            </a:r>
            <a:r>
              <a:rPr lang="en-US" altLang="en-US" i="1" baseline="-25000" dirty="0" smtClean="0"/>
              <a:t>0g</a:t>
            </a:r>
            <a:r>
              <a:rPr lang="en-US" altLang="en-US" dirty="0" smtClean="0"/>
              <a:t>) = $100,000 and probability of no theft = 0.75</a:t>
            </a:r>
          </a:p>
          <a:p>
            <a:pPr lvl="1"/>
            <a:r>
              <a:rPr lang="en-US" altLang="en-US" dirty="0" smtClean="0"/>
              <a:t>Wealth with a theft (</a:t>
            </a:r>
            <a:r>
              <a:rPr lang="en-US" altLang="en-US" i="1" dirty="0" smtClean="0"/>
              <a:t>W</a:t>
            </a:r>
            <a:r>
              <a:rPr lang="en-US" altLang="en-US" i="1" baseline="-25000" dirty="0" smtClean="0"/>
              <a:t>0b</a:t>
            </a:r>
            <a:r>
              <a:rPr lang="en-US" altLang="en-US" dirty="0" smtClean="0"/>
              <a:t>) = $80,000 and probability of a theft = 0.25</a:t>
            </a:r>
          </a:p>
          <a:p>
            <a:pPr lvl="1"/>
            <a:r>
              <a:rPr lang="en-US" altLang="en-US" dirty="0" smtClean="0"/>
              <a:t>Assume logarithmic utility, then expected utility:</a:t>
            </a:r>
          </a:p>
          <a:p>
            <a:pPr algn="ctr">
              <a:lnSpc>
                <a:spcPct val="130000"/>
              </a:lnSpc>
              <a:buFontTx/>
              <a:buNone/>
            </a:pPr>
            <a:r>
              <a:rPr lang="en-US" altLang="en-US" sz="2800" i="1" dirty="0" smtClean="0">
                <a:solidFill>
                  <a:srgbClr val="FF0000"/>
                </a:solidFill>
              </a:rPr>
              <a:t>E[U</a:t>
            </a:r>
            <a:r>
              <a:rPr lang="en-US" altLang="en-US" sz="2800" dirty="0" smtClean="0">
                <a:solidFill>
                  <a:srgbClr val="FF0000"/>
                </a:solidFill>
              </a:rPr>
              <a:t>(W)] = 0.75</a:t>
            </a:r>
            <a:r>
              <a:rPr lang="en-US" altLang="en-US" sz="2800" i="1" dirty="0" smtClean="0">
                <a:solidFill>
                  <a:srgbClr val="FF0000"/>
                </a:solidFill>
              </a:rPr>
              <a:t>U</a:t>
            </a:r>
            <a:r>
              <a:rPr lang="en-US" altLang="en-US" sz="2800" dirty="0" smtClean="0">
                <a:solidFill>
                  <a:srgbClr val="FF0000"/>
                </a:solidFill>
              </a:rPr>
              <a:t>(</a:t>
            </a:r>
            <a:r>
              <a:rPr lang="en-US" altLang="en-US" sz="2800" i="1" dirty="0" err="1" smtClean="0">
                <a:solidFill>
                  <a:srgbClr val="FF0000"/>
                </a:solidFill>
              </a:rPr>
              <a:t>W</a:t>
            </a:r>
            <a:r>
              <a:rPr lang="en-US" altLang="en-US" sz="2800" i="1" baseline="-25000" dirty="0" err="1" smtClean="0">
                <a:solidFill>
                  <a:srgbClr val="FF0000"/>
                </a:solidFill>
              </a:rPr>
              <a:t>g</a:t>
            </a:r>
            <a:r>
              <a:rPr lang="en-US" altLang="en-US" sz="2800" dirty="0" smtClean="0">
                <a:solidFill>
                  <a:srgbClr val="FF0000"/>
                </a:solidFill>
              </a:rPr>
              <a:t>)+0.25</a:t>
            </a:r>
            <a:r>
              <a:rPr lang="en-US" altLang="en-US" sz="2800" i="1" dirty="0" smtClean="0">
                <a:solidFill>
                  <a:srgbClr val="FF0000"/>
                </a:solidFill>
              </a:rPr>
              <a:t>U</a:t>
            </a:r>
            <a:r>
              <a:rPr lang="en-US" altLang="en-US" sz="2800" dirty="0" smtClean="0">
                <a:solidFill>
                  <a:srgbClr val="FF0000"/>
                </a:solidFill>
              </a:rPr>
              <a:t>(</a:t>
            </a:r>
            <a:r>
              <a:rPr lang="en-US" altLang="en-US" sz="2800" i="1" dirty="0" err="1" smtClean="0">
                <a:solidFill>
                  <a:srgbClr val="FF0000"/>
                </a:solidFill>
              </a:rPr>
              <a:t>W</a:t>
            </a:r>
            <a:r>
              <a:rPr lang="en-US" altLang="en-US" sz="2800" i="1" baseline="-25000" dirty="0" err="1" smtClean="0">
                <a:solidFill>
                  <a:srgbClr val="FF0000"/>
                </a:solidFill>
              </a:rPr>
              <a:t>b</a:t>
            </a:r>
            <a:r>
              <a:rPr lang="en-US" altLang="en-US" sz="2800" dirty="0" smtClean="0">
                <a:solidFill>
                  <a:srgbClr val="FF0000"/>
                </a:solidFill>
              </a:rPr>
              <a:t>)=0.75</a:t>
            </a:r>
            <a:r>
              <a:rPr lang="en-US" altLang="en-US" sz="2800" i="1" dirty="0" smtClean="0">
                <a:solidFill>
                  <a:srgbClr val="FF0000"/>
                </a:solidFill>
              </a:rPr>
              <a:t>ln </a:t>
            </a:r>
            <a:r>
              <a:rPr lang="en-US" altLang="en-US" sz="2800" i="1" dirty="0" err="1" smtClean="0">
                <a:solidFill>
                  <a:srgbClr val="FF0000"/>
                </a:solidFill>
              </a:rPr>
              <a:t>W</a:t>
            </a:r>
            <a:r>
              <a:rPr lang="en-US" altLang="en-US" sz="2800" i="1" baseline="-25000" dirty="0" err="1" smtClean="0">
                <a:solidFill>
                  <a:srgbClr val="FF0000"/>
                </a:solidFill>
              </a:rPr>
              <a:t>g</a:t>
            </a:r>
            <a:r>
              <a:rPr lang="en-US" altLang="en-US" sz="2800" dirty="0" smtClean="0">
                <a:solidFill>
                  <a:srgbClr val="FF0000"/>
                </a:solidFill>
              </a:rPr>
              <a:t> + 0.25</a:t>
            </a:r>
            <a:r>
              <a:rPr lang="en-US" altLang="en-US" sz="2800" i="1" dirty="0" smtClean="0">
                <a:solidFill>
                  <a:srgbClr val="FF0000"/>
                </a:solidFill>
              </a:rPr>
              <a:t>ln </a:t>
            </a:r>
            <a:r>
              <a:rPr lang="en-US" altLang="en-US" sz="2800" i="1" dirty="0" err="1" smtClean="0">
                <a:solidFill>
                  <a:srgbClr val="FF0000"/>
                </a:solidFill>
              </a:rPr>
              <a:t>W</a:t>
            </a:r>
            <a:r>
              <a:rPr lang="en-US" altLang="en-US" sz="2800" i="1" baseline="-25000" dirty="0" err="1" smtClean="0">
                <a:solidFill>
                  <a:srgbClr val="FF0000"/>
                </a:solidFill>
              </a:rPr>
              <a:t>b</a:t>
            </a:r>
            <a:endParaRPr lang="en-US" altLang="en-US" sz="2800" dirty="0" smtClean="0">
              <a:solidFill>
                <a:srgbClr val="FF0000"/>
              </a:solidFill>
            </a:endParaRPr>
          </a:p>
          <a:p>
            <a:pPr algn="ctr">
              <a:lnSpc>
                <a:spcPct val="130000"/>
              </a:lnSpc>
              <a:buFontTx/>
              <a:buNone/>
            </a:pPr>
            <a:r>
              <a:rPr lang="en-US" altLang="en-US" sz="2800" i="1" dirty="0" smtClean="0">
                <a:solidFill>
                  <a:srgbClr val="FF0000"/>
                </a:solidFill>
              </a:rPr>
              <a:t>E</a:t>
            </a:r>
            <a:r>
              <a:rPr lang="en-US" altLang="en-US" sz="2800" dirty="0" smtClean="0">
                <a:solidFill>
                  <a:srgbClr val="FF0000"/>
                </a:solidFill>
              </a:rPr>
              <a:t>(</a:t>
            </a:r>
            <a:r>
              <a:rPr lang="en-US" altLang="en-US" sz="2800" i="1" dirty="0" smtClean="0">
                <a:solidFill>
                  <a:srgbClr val="FF0000"/>
                </a:solidFill>
              </a:rPr>
              <a:t>U</a:t>
            </a:r>
            <a:r>
              <a:rPr lang="en-US" altLang="en-US" sz="2800" dirty="0" smtClean="0">
                <a:solidFill>
                  <a:srgbClr val="FF0000"/>
                </a:solidFill>
              </a:rPr>
              <a:t>) = 11.45714</a:t>
            </a:r>
          </a:p>
          <a:p>
            <a:endParaRPr lang="en-US" altLang="en-US" sz="2800" dirty="0" smtClean="0"/>
          </a:p>
        </p:txBody>
      </p:sp>
    </p:spTree>
    <p:extLst>
      <p:ext uri="{BB962C8B-B14F-4D97-AF65-F5344CB8AC3E}">
        <p14:creationId xmlns:p14="http://schemas.microsoft.com/office/powerpoint/2010/main" val="152401610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a:lnSpc>
                <a:spcPct val="90000"/>
              </a:lnSpc>
            </a:pPr>
            <a:r>
              <a:rPr lang="en-US" altLang="en-US" smtClean="0"/>
              <a:t>7.6	Insurance in the State-Preference Model</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235C7B2E-D382-4559-9A4C-970F27959F4C}" type="slidenum">
              <a:rPr lang="en-US" smtClean="0"/>
              <a:pPr>
                <a:defRPr/>
              </a:pPr>
              <a:t>73</a:t>
            </a:fld>
            <a:endParaRPr lang="en-US"/>
          </a:p>
        </p:txBody>
      </p:sp>
      <p:sp>
        <p:nvSpPr>
          <p:cNvPr id="89091" name="Rectangle 3"/>
          <p:cNvSpPr>
            <a:spLocks noGrp="1" noChangeArrowheads="1"/>
          </p:cNvSpPr>
          <p:nvPr>
            <p:ph type="body" sz="quarter" idx="12"/>
          </p:nvPr>
        </p:nvSpPr>
        <p:spPr>
          <a:prstGeom prst="rect">
            <a:avLst/>
          </a:prstGeom>
        </p:spPr>
        <p:txBody>
          <a:bodyPr/>
          <a:lstStyle/>
          <a:p>
            <a:r>
              <a:rPr lang="en-US" altLang="en-US" dirty="0" smtClean="0"/>
              <a:t>The budget constraint</a:t>
            </a:r>
          </a:p>
          <a:p>
            <a:pPr lvl="1"/>
            <a:r>
              <a:rPr lang="en-US" altLang="en-US" dirty="0" smtClean="0"/>
              <a:t>Written in terms of the prices of the contingent commodities</a:t>
            </a:r>
          </a:p>
          <a:p>
            <a:pPr algn="ctr">
              <a:lnSpc>
                <a:spcPct val="110000"/>
              </a:lnSpc>
              <a:buFontTx/>
              <a:buNone/>
            </a:pPr>
            <a:r>
              <a:rPr lang="en-US" altLang="en-US" sz="2800" i="1" dirty="0" smtClean="0">
                <a:solidFill>
                  <a:srgbClr val="FF0000"/>
                </a:solidFill>
              </a:rPr>
              <a:t>p</a:t>
            </a:r>
            <a:r>
              <a:rPr lang="en-US" altLang="en-US" sz="2800" i="1" baseline="-25000" dirty="0" smtClean="0">
                <a:solidFill>
                  <a:srgbClr val="FF0000"/>
                </a:solidFill>
              </a:rPr>
              <a:t>g</a:t>
            </a:r>
            <a:r>
              <a:rPr lang="en-US" altLang="en-US" sz="2800" i="1" dirty="0" smtClean="0">
                <a:solidFill>
                  <a:srgbClr val="FF0000"/>
                </a:solidFill>
              </a:rPr>
              <a:t>W</a:t>
            </a:r>
            <a:r>
              <a:rPr lang="en-US" altLang="en-US" sz="2800" i="1" baseline="-25000" dirty="0" smtClean="0">
                <a:solidFill>
                  <a:srgbClr val="FF0000"/>
                </a:solidFill>
              </a:rPr>
              <a:t>0g</a:t>
            </a:r>
            <a:r>
              <a:rPr lang="en-US" altLang="en-US" sz="2800" dirty="0" smtClean="0">
                <a:solidFill>
                  <a:srgbClr val="FF0000"/>
                </a:solidFill>
              </a:rPr>
              <a:t>* + </a:t>
            </a:r>
            <a:r>
              <a:rPr lang="en-US" altLang="en-US" sz="2800" i="1" dirty="0" smtClean="0">
                <a:solidFill>
                  <a:srgbClr val="FF0000"/>
                </a:solidFill>
              </a:rPr>
              <a:t>p</a:t>
            </a:r>
            <a:r>
              <a:rPr lang="en-US" altLang="en-US" sz="2800" i="1" baseline="-25000" dirty="0" smtClean="0">
                <a:solidFill>
                  <a:srgbClr val="FF0000"/>
                </a:solidFill>
              </a:rPr>
              <a:t>b</a:t>
            </a:r>
            <a:r>
              <a:rPr lang="en-US" altLang="en-US" sz="2800" i="1" dirty="0" smtClean="0">
                <a:solidFill>
                  <a:srgbClr val="FF0000"/>
                </a:solidFill>
              </a:rPr>
              <a:t>W</a:t>
            </a:r>
            <a:r>
              <a:rPr lang="en-US" altLang="en-US" sz="2800" i="1" baseline="-25000" dirty="0" smtClean="0">
                <a:solidFill>
                  <a:srgbClr val="FF0000"/>
                </a:solidFill>
              </a:rPr>
              <a:t>0b</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g</a:t>
            </a:r>
            <a:r>
              <a:rPr lang="en-US" altLang="en-US" sz="2800" i="1" dirty="0" err="1" smtClean="0">
                <a:solidFill>
                  <a:srgbClr val="FF0000"/>
                </a:solidFill>
              </a:rPr>
              <a:t>W</a:t>
            </a:r>
            <a:r>
              <a:rPr lang="en-US" altLang="en-US" sz="2800" i="1" baseline="-25000" dirty="0" err="1" smtClean="0">
                <a:solidFill>
                  <a:srgbClr val="FF0000"/>
                </a:solidFill>
              </a:rPr>
              <a:t>g</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b</a:t>
            </a:r>
            <a:r>
              <a:rPr lang="en-US" altLang="en-US" sz="2800" i="1" dirty="0" err="1" smtClean="0">
                <a:solidFill>
                  <a:srgbClr val="FF0000"/>
                </a:solidFill>
              </a:rPr>
              <a:t>W</a:t>
            </a:r>
            <a:r>
              <a:rPr lang="en-US" altLang="en-US" sz="2800" i="1" baseline="-25000" dirty="0" err="1" smtClean="0">
                <a:solidFill>
                  <a:srgbClr val="FF0000"/>
                </a:solidFill>
              </a:rPr>
              <a:t>b</a:t>
            </a:r>
            <a:endParaRPr lang="en-US" altLang="en-US" sz="2800" dirty="0" smtClean="0">
              <a:solidFill>
                <a:srgbClr val="FF0000"/>
              </a:solidFill>
            </a:endParaRPr>
          </a:p>
          <a:p>
            <a:pPr lvl="1"/>
            <a:r>
              <a:rPr lang="en-US" altLang="en-US" dirty="0" smtClean="0"/>
              <a:t>Assuming that these prices equal the probabilities of these two states</a:t>
            </a:r>
          </a:p>
          <a:p>
            <a:pPr algn="ctr">
              <a:lnSpc>
                <a:spcPct val="110000"/>
              </a:lnSpc>
              <a:buFontTx/>
              <a:buNone/>
            </a:pPr>
            <a:r>
              <a:rPr lang="en-US" altLang="en-US" sz="2800" dirty="0" smtClean="0">
                <a:solidFill>
                  <a:srgbClr val="FF0000"/>
                </a:solidFill>
              </a:rPr>
              <a:t>0.75(100,000) + 0.25(80,000) = 95,000</a:t>
            </a:r>
          </a:p>
          <a:p>
            <a:pPr lvl="1"/>
            <a:r>
              <a:rPr lang="en-US" altLang="en-US" dirty="0" smtClean="0"/>
              <a:t>The expected value of wealth = $95,000</a:t>
            </a:r>
          </a:p>
        </p:txBody>
      </p:sp>
    </p:spTree>
    <p:extLst>
      <p:ext uri="{BB962C8B-B14F-4D97-AF65-F5344CB8AC3E}">
        <p14:creationId xmlns:p14="http://schemas.microsoft.com/office/powerpoint/2010/main" val="26549044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a:lnSpc>
                <a:spcPct val="90000"/>
              </a:lnSpc>
            </a:pPr>
            <a:r>
              <a:rPr lang="en-US" altLang="en-US" smtClean="0"/>
              <a:t>7.6	Insurance in the State-Preference Model</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E99B667A-A8E6-4A3A-8038-6548ABF01E26}" type="slidenum">
              <a:rPr lang="en-US" smtClean="0"/>
              <a:pPr>
                <a:defRPr/>
              </a:pPr>
              <a:t>74</a:t>
            </a:fld>
            <a:endParaRPr lang="en-US"/>
          </a:p>
        </p:txBody>
      </p:sp>
      <p:sp>
        <p:nvSpPr>
          <p:cNvPr id="90115" name="Rectangle 3"/>
          <p:cNvSpPr>
            <a:spLocks noGrp="1" noChangeArrowheads="1"/>
          </p:cNvSpPr>
          <p:nvPr>
            <p:ph type="body" sz="quarter" idx="12"/>
          </p:nvPr>
        </p:nvSpPr>
        <p:spPr>
          <a:prstGeom prst="rect">
            <a:avLst/>
          </a:prstGeom>
        </p:spPr>
        <p:txBody>
          <a:bodyPr/>
          <a:lstStyle/>
          <a:p>
            <a:r>
              <a:rPr lang="en-US" altLang="en-US" dirty="0" smtClean="0"/>
              <a:t>The individual will move to the certainty line and receive an expected utility of </a:t>
            </a:r>
          </a:p>
          <a:p>
            <a:pPr algn="ctr">
              <a:buFontTx/>
              <a:buNone/>
            </a:pPr>
            <a:r>
              <a:rPr lang="en-US" altLang="en-US" sz="2800" i="1" dirty="0" smtClean="0">
                <a:solidFill>
                  <a:srgbClr val="FF0000"/>
                </a:solidFill>
              </a:rPr>
              <a:t>E</a:t>
            </a:r>
            <a:r>
              <a:rPr lang="en-US" altLang="en-US" sz="2800" i="1" baseline="-25000" dirty="0" smtClean="0">
                <a:solidFill>
                  <a:srgbClr val="FF0000"/>
                </a:solidFill>
              </a:rPr>
              <a:t>B</a:t>
            </a:r>
            <a:r>
              <a:rPr lang="en-US" altLang="en-US" sz="2800" i="1" dirty="0" smtClean="0">
                <a:solidFill>
                  <a:srgbClr val="FF0000"/>
                </a:solidFill>
              </a:rPr>
              <a:t>[U(W</a:t>
            </a:r>
            <a:r>
              <a:rPr lang="en-US" altLang="en-US" sz="2800" dirty="0" smtClean="0">
                <a:solidFill>
                  <a:srgbClr val="FF0000"/>
                </a:solidFill>
              </a:rPr>
              <a:t>)] = </a:t>
            </a:r>
            <a:r>
              <a:rPr lang="en-US" altLang="en-US" sz="2800" i="1" dirty="0" smtClean="0">
                <a:solidFill>
                  <a:srgbClr val="FF0000"/>
                </a:solidFill>
              </a:rPr>
              <a:t>ln</a:t>
            </a:r>
            <a:r>
              <a:rPr lang="en-US" altLang="en-US" sz="2800" dirty="0" smtClean="0">
                <a:solidFill>
                  <a:srgbClr val="FF0000"/>
                </a:solidFill>
              </a:rPr>
              <a:t> 95,000 = 11.46163</a:t>
            </a:r>
          </a:p>
          <a:p>
            <a:pPr lvl="1"/>
            <a:r>
              <a:rPr lang="en-US" altLang="en-US" dirty="0" smtClean="0"/>
              <a:t>To be able to do so, the individual must be able to transfer $5,000 in extra wealth in good times into $15,000 of extra wealth in bad times</a:t>
            </a:r>
          </a:p>
          <a:p>
            <a:pPr lvl="2"/>
            <a:r>
              <a:rPr lang="en-US" altLang="en-US" dirty="0" smtClean="0"/>
              <a:t>A fair insurance contract will allow this</a:t>
            </a:r>
          </a:p>
          <a:p>
            <a:pPr lvl="2">
              <a:lnSpc>
                <a:spcPct val="150000"/>
              </a:lnSpc>
            </a:pPr>
            <a:r>
              <a:rPr lang="en-US" altLang="en-US" dirty="0" smtClean="0"/>
              <a:t>The wealth changes promised by insurance (</a:t>
            </a:r>
            <a:r>
              <a:rPr lang="en-US" altLang="en-US" i="1" dirty="0" err="1" smtClean="0"/>
              <a:t>dW</a:t>
            </a:r>
            <a:r>
              <a:rPr lang="en-US" altLang="en-US" i="1" baseline="-25000" dirty="0" err="1" smtClean="0"/>
              <a:t>b</a:t>
            </a:r>
            <a:r>
              <a:rPr lang="en-US" altLang="en-US" dirty="0" smtClean="0"/>
              <a:t>/</a:t>
            </a:r>
            <a:r>
              <a:rPr lang="en-US" altLang="en-US" i="1" dirty="0" err="1" smtClean="0"/>
              <a:t>dW</a:t>
            </a:r>
            <a:r>
              <a:rPr lang="en-US" altLang="en-US" i="1" baseline="-25000" dirty="0" err="1" smtClean="0"/>
              <a:t>g</a:t>
            </a:r>
            <a:r>
              <a:rPr lang="en-US" altLang="en-US" dirty="0" smtClean="0"/>
              <a:t>) = 15,000/-5,000 = -3</a:t>
            </a:r>
          </a:p>
        </p:txBody>
      </p:sp>
    </p:spTree>
    <p:extLst>
      <p:ext uri="{BB962C8B-B14F-4D97-AF65-F5344CB8AC3E}">
        <p14:creationId xmlns:p14="http://schemas.microsoft.com/office/powerpoint/2010/main" val="79382347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a:lnSpc>
                <a:spcPct val="90000"/>
              </a:lnSpc>
            </a:pPr>
            <a:r>
              <a:rPr lang="en-US" altLang="en-US" smtClean="0"/>
              <a:t>7.6	Insurance in the State-Preference Model</a:t>
            </a:r>
          </a:p>
        </p:txBody>
      </p:sp>
      <p:sp>
        <p:nvSpPr>
          <p:cNvPr id="5" name="Footer Placeholder 4"/>
          <p:cNvSpPr>
            <a:spLocks noGrp="1"/>
          </p:cNvSpPr>
          <p:nvPr>
            <p:ph type="ftr" sz="quarter" idx="10"/>
          </p:nvPr>
        </p:nvSpPr>
        <p:spPr>
          <a:prstGeom prst="rect">
            <a:avLst/>
          </a:prstGeom>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a:prstGeom prst="rect">
            <a:avLst/>
          </a:prstGeom>
        </p:spPr>
        <p:txBody>
          <a:bodyPr/>
          <a:lstStyle/>
          <a:p>
            <a:pPr>
              <a:defRPr/>
            </a:pPr>
            <a:fld id="{DE11CEEA-5206-4A45-AB17-3076C8F9C5FE}" type="slidenum">
              <a:rPr lang="en-US" smtClean="0"/>
              <a:pPr>
                <a:defRPr/>
              </a:pPr>
              <a:t>75</a:t>
            </a:fld>
            <a:endParaRPr lang="en-US"/>
          </a:p>
        </p:txBody>
      </p:sp>
      <p:sp>
        <p:nvSpPr>
          <p:cNvPr id="91139" name="Rectangle 3"/>
          <p:cNvSpPr>
            <a:spLocks noGrp="1" noChangeArrowheads="1"/>
          </p:cNvSpPr>
          <p:nvPr>
            <p:ph type="body" sz="quarter" idx="12"/>
          </p:nvPr>
        </p:nvSpPr>
        <p:spPr>
          <a:prstGeom prst="rect">
            <a:avLst/>
          </a:prstGeom>
        </p:spPr>
        <p:txBody>
          <a:bodyPr/>
          <a:lstStyle/>
          <a:p>
            <a:r>
              <a:rPr lang="en-US" altLang="en-US" dirty="0" smtClean="0"/>
              <a:t>A policy with a deductible provision, C</a:t>
            </a:r>
          </a:p>
          <a:p>
            <a:pPr lvl="1"/>
            <a:r>
              <a:rPr lang="en-US" altLang="en-US" dirty="0" smtClean="0"/>
              <a:t>Insurance policy costs $4,900, but requires the person to incur the first $1,000 of the loss</a:t>
            </a:r>
          </a:p>
          <a:p>
            <a:pPr lvl="1" algn="ctr">
              <a:lnSpc>
                <a:spcPct val="150000"/>
              </a:lnSpc>
              <a:buFontTx/>
              <a:buNone/>
            </a:pPr>
            <a:r>
              <a:rPr lang="en-US" altLang="en-US" i="1" dirty="0" err="1" smtClean="0">
                <a:solidFill>
                  <a:srgbClr val="FF0000"/>
                </a:solidFill>
              </a:rPr>
              <a:t>W</a:t>
            </a:r>
            <a:r>
              <a:rPr lang="en-US" altLang="en-US" i="1" baseline="-25000" dirty="0" err="1" smtClean="0">
                <a:solidFill>
                  <a:srgbClr val="FF0000"/>
                </a:solidFill>
              </a:rPr>
              <a:t>g</a:t>
            </a:r>
            <a:r>
              <a:rPr lang="en-US" altLang="en-US" dirty="0" smtClean="0">
                <a:solidFill>
                  <a:srgbClr val="FF0000"/>
                </a:solidFill>
              </a:rPr>
              <a:t> = 100,000 - 4,900 = 95,100</a:t>
            </a:r>
          </a:p>
          <a:p>
            <a:pPr lvl="1" algn="ctr">
              <a:buFontTx/>
              <a:buNone/>
            </a:pPr>
            <a:r>
              <a:rPr lang="en-US" altLang="en-US" i="1" dirty="0" err="1" smtClean="0">
                <a:solidFill>
                  <a:srgbClr val="FF0000"/>
                </a:solidFill>
              </a:rPr>
              <a:t>W</a:t>
            </a:r>
            <a:r>
              <a:rPr lang="en-US" altLang="en-US" i="1" baseline="-25000" dirty="0" err="1" smtClean="0">
                <a:solidFill>
                  <a:srgbClr val="FF0000"/>
                </a:solidFill>
              </a:rPr>
              <a:t>b</a:t>
            </a:r>
            <a:r>
              <a:rPr lang="en-US" altLang="en-US" dirty="0" smtClean="0">
                <a:solidFill>
                  <a:srgbClr val="FF0000"/>
                </a:solidFill>
              </a:rPr>
              <a:t> = 80,000 - 4,900 + 19,000 = 94,100</a:t>
            </a:r>
          </a:p>
          <a:p>
            <a:pPr lvl="1" algn="ctr">
              <a:buFontTx/>
              <a:buNone/>
            </a:pPr>
            <a:r>
              <a:rPr lang="en-US" altLang="en-US" i="1" dirty="0" smtClean="0">
                <a:solidFill>
                  <a:srgbClr val="FF0000"/>
                </a:solidFill>
              </a:rPr>
              <a:t>E</a:t>
            </a:r>
            <a:r>
              <a:rPr lang="en-US" altLang="en-US" i="1" baseline="-25000" dirty="0" smtClean="0">
                <a:solidFill>
                  <a:srgbClr val="FF0000"/>
                </a:solidFill>
              </a:rPr>
              <a:t>C</a:t>
            </a:r>
            <a:r>
              <a:rPr lang="en-US" altLang="en-US" i="1" dirty="0" smtClean="0">
                <a:solidFill>
                  <a:srgbClr val="FF0000"/>
                </a:solidFill>
              </a:rPr>
              <a:t>[U</a:t>
            </a:r>
            <a:r>
              <a:rPr lang="en-US" altLang="en-US" dirty="0" smtClean="0">
                <a:solidFill>
                  <a:srgbClr val="FF0000"/>
                </a:solidFill>
              </a:rPr>
              <a:t>(W)] = 0.75 </a:t>
            </a:r>
            <a:r>
              <a:rPr lang="en-US" altLang="en-US" i="1" dirty="0" smtClean="0">
                <a:solidFill>
                  <a:srgbClr val="FF0000"/>
                </a:solidFill>
              </a:rPr>
              <a:t>ln</a:t>
            </a:r>
            <a:r>
              <a:rPr lang="en-US" altLang="en-US" dirty="0" smtClean="0">
                <a:solidFill>
                  <a:srgbClr val="FF0000"/>
                </a:solidFill>
              </a:rPr>
              <a:t> 95,100 + 0.25 </a:t>
            </a:r>
            <a:r>
              <a:rPr lang="en-US" altLang="en-US" i="1" dirty="0" smtClean="0">
                <a:solidFill>
                  <a:srgbClr val="FF0000"/>
                </a:solidFill>
              </a:rPr>
              <a:t>ln</a:t>
            </a:r>
            <a:r>
              <a:rPr lang="en-US" altLang="en-US" dirty="0" smtClean="0">
                <a:solidFill>
                  <a:srgbClr val="FF0000"/>
                </a:solidFill>
              </a:rPr>
              <a:t> 94,100</a:t>
            </a:r>
          </a:p>
          <a:p>
            <a:pPr lvl="1" algn="ctr">
              <a:buFontTx/>
              <a:buNone/>
            </a:pPr>
            <a:r>
              <a:rPr lang="en-US" altLang="en-US" i="1" dirty="0" smtClean="0">
                <a:solidFill>
                  <a:srgbClr val="FF0000"/>
                </a:solidFill>
              </a:rPr>
              <a:t>E</a:t>
            </a:r>
            <a:r>
              <a:rPr lang="en-US" altLang="en-US" dirty="0" smtClean="0">
                <a:solidFill>
                  <a:srgbClr val="FF0000"/>
                </a:solidFill>
              </a:rPr>
              <a:t>(</a:t>
            </a:r>
            <a:r>
              <a:rPr lang="en-US" altLang="en-US" i="1" dirty="0" smtClean="0">
                <a:solidFill>
                  <a:srgbClr val="FF0000"/>
                </a:solidFill>
              </a:rPr>
              <a:t>U</a:t>
            </a:r>
            <a:r>
              <a:rPr lang="en-US" altLang="en-US" dirty="0" smtClean="0">
                <a:solidFill>
                  <a:srgbClr val="FF0000"/>
                </a:solidFill>
              </a:rPr>
              <a:t>) = 11.46004</a:t>
            </a:r>
          </a:p>
          <a:p>
            <a:pPr lvl="1"/>
            <a:r>
              <a:rPr lang="en-US" altLang="en-US" dirty="0" smtClean="0"/>
              <a:t>The policy still provides higher utility than doing nothing</a:t>
            </a:r>
            <a:endParaRPr lang="en-US" altLang="en-US" sz="2000" dirty="0" smtClean="0">
              <a:solidFill>
                <a:srgbClr val="5858D4"/>
              </a:solidFill>
            </a:endParaRPr>
          </a:p>
          <a:p>
            <a:endParaRPr lang="en-US" altLang="en-US" dirty="0" smtClean="0"/>
          </a:p>
        </p:txBody>
      </p:sp>
    </p:spTree>
    <p:extLst>
      <p:ext uri="{BB962C8B-B14F-4D97-AF65-F5344CB8AC3E}">
        <p14:creationId xmlns:p14="http://schemas.microsoft.com/office/powerpoint/2010/main" val="372035225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a:lnSpc>
                <a:spcPct val="90000"/>
              </a:lnSpc>
            </a:pPr>
            <a:r>
              <a:rPr lang="en-US" altLang="en-US" smtClean="0"/>
              <a:t>Risk Aversion and Risk Premiums</a:t>
            </a:r>
          </a:p>
        </p:txBody>
      </p:sp>
      <p:sp>
        <p:nvSpPr>
          <p:cNvPr id="20484" name="Rectangle 3"/>
          <p:cNvSpPr>
            <a:spLocks noGrp="1" noChangeArrowheads="1"/>
          </p:cNvSpPr>
          <p:nvPr>
            <p:ph idx="1"/>
          </p:nvPr>
        </p:nvSpPr>
        <p:spPr/>
        <p:txBody>
          <a:bodyPr/>
          <a:lstStyle/>
          <a:p>
            <a:r>
              <a:rPr lang="en-US" altLang="en-US" dirty="0" smtClean="0"/>
              <a:t>Two people</a:t>
            </a:r>
          </a:p>
          <a:p>
            <a:pPr lvl="1"/>
            <a:r>
              <a:rPr lang="en-US" altLang="en-US" sz="2800" dirty="0" smtClean="0"/>
              <a:t>Each starts with an initial wealth of </a:t>
            </a:r>
            <a:r>
              <a:rPr lang="en-US" altLang="en-US" sz="2800" i="1" dirty="0" smtClean="0"/>
              <a:t>W</a:t>
            </a:r>
            <a:r>
              <a:rPr lang="en-US" altLang="en-US" sz="2800" i="1" baseline="-25000" dirty="0" smtClean="0"/>
              <a:t>0</a:t>
            </a:r>
            <a:endParaRPr lang="en-US" altLang="en-US" sz="2800" dirty="0" smtClean="0"/>
          </a:p>
          <a:p>
            <a:pPr lvl="1"/>
            <a:r>
              <a:rPr lang="en-US" altLang="en-US" sz="2800" dirty="0" smtClean="0"/>
              <a:t>Each seeks to maximize an expected utility function of the form</a:t>
            </a:r>
          </a:p>
          <a:p>
            <a:endParaRPr lang="en-US" altLang="en-US" dirty="0"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DE6F396B-858B-4C72-992B-55C1D82A7893}" type="slidenum">
              <a:rPr lang="en-US" smtClean="0"/>
              <a:pPr>
                <a:defRPr/>
              </a:pPr>
              <a:t>76</a:t>
            </a:fld>
            <a:endParaRPr lang="en-US"/>
          </a:p>
        </p:txBody>
      </p:sp>
      <p:sp>
        <p:nvSpPr>
          <p:cNvPr id="2" name="Text Placeholder 1"/>
          <p:cNvSpPr>
            <a:spLocks noGrp="1"/>
          </p:cNvSpPr>
          <p:nvPr>
            <p:ph type="body" sz="quarter" idx="12"/>
          </p:nvPr>
        </p:nvSpPr>
        <p:spPr>
          <a:xfrm>
            <a:off x="381000" y="3657600"/>
            <a:ext cx="8534400" cy="2590800"/>
          </a:xfrm>
        </p:spPr>
        <p:txBody>
          <a:bodyPr>
            <a:noAutofit/>
          </a:bodyPr>
          <a:lstStyle/>
          <a:p>
            <a:pPr marL="800100" lvl="1" indent="-342900">
              <a:buFontTx/>
              <a:buChar char="•"/>
              <a:defRPr/>
            </a:pPr>
            <a:r>
              <a:rPr lang="en-US" sz="2800" dirty="0"/>
              <a:t>Constant relative risk aversion</a:t>
            </a:r>
          </a:p>
          <a:p>
            <a:pPr lvl="1">
              <a:buFont typeface="Arial" pitchFamily="34" charset="0"/>
              <a:buChar char="•"/>
              <a:defRPr/>
            </a:pPr>
            <a:r>
              <a:rPr lang="en-US" sz="2800" dirty="0"/>
              <a:t>  </a:t>
            </a:r>
            <a:r>
              <a:rPr lang="en-US" sz="2800" i="1" dirty="0"/>
              <a:t>R </a:t>
            </a:r>
            <a:r>
              <a:rPr lang="en-US" sz="2800" dirty="0"/>
              <a:t>determines the degree of risk aversion </a:t>
            </a:r>
          </a:p>
          <a:p>
            <a:pPr lvl="1">
              <a:buFont typeface="Arial" pitchFamily="34" charset="0"/>
              <a:buChar char="•"/>
              <a:defRPr/>
            </a:pPr>
            <a:r>
              <a:rPr lang="en-US" sz="2800" dirty="0"/>
              <a:t>  </a:t>
            </a:r>
            <a:r>
              <a:rPr lang="en-US" sz="2800" i="1" dirty="0"/>
              <a:t>R</a:t>
            </a:r>
            <a:r>
              <a:rPr lang="en-US" sz="2800" dirty="0"/>
              <a:t> determines the degree of curvature of indifference curves implied by the function</a:t>
            </a:r>
          </a:p>
          <a:p>
            <a:pPr lvl="1">
              <a:buFont typeface="Arial" pitchFamily="34" charset="0"/>
              <a:buChar char="•"/>
              <a:defRPr/>
            </a:pPr>
            <a:r>
              <a:rPr lang="en-US" sz="2800" dirty="0"/>
              <a:t>A very risk averse individual- a large negative </a:t>
            </a:r>
            <a:r>
              <a:rPr lang="en-US" sz="2800" i="1" dirty="0" smtClean="0"/>
              <a:t>R</a:t>
            </a:r>
            <a:endParaRPr lang="en-US" sz="2800" i="1" dirty="0"/>
          </a:p>
        </p:txBody>
      </p:sp>
      <p:graphicFrame>
        <p:nvGraphicFramePr>
          <p:cNvPr id="450564" name="Object 2"/>
          <p:cNvGraphicFramePr>
            <a:graphicFrameLocks noChangeAspect="1"/>
          </p:cNvGraphicFramePr>
          <p:nvPr>
            <p:extLst>
              <p:ext uri="{D42A27DB-BD31-4B8C-83A1-F6EECF244321}">
                <p14:modId xmlns:p14="http://schemas.microsoft.com/office/powerpoint/2010/main" val="15615981"/>
              </p:ext>
            </p:extLst>
          </p:nvPr>
        </p:nvGraphicFramePr>
        <p:xfrm>
          <a:off x="2895600" y="2743200"/>
          <a:ext cx="4459287" cy="1023937"/>
        </p:xfrm>
        <a:graphic>
          <a:graphicData uri="http://schemas.openxmlformats.org/presentationml/2006/ole">
            <mc:AlternateContent xmlns:mc="http://schemas.openxmlformats.org/markup-compatibility/2006">
              <mc:Choice xmlns:v="urn:schemas-microsoft-com:vml" Requires="v">
                <p:oleObj spid="_x0000_s159757" name="Equation" r:id="rId3" imgW="1930320" imgH="444240" progId="Equation.DSMT4">
                  <p:embed/>
                </p:oleObj>
              </mc:Choice>
              <mc:Fallback>
                <p:oleObj name="Equation" r:id="rId3" imgW="1930320" imgH="444240" progId="Equation.DSMT4">
                  <p:embed/>
                  <p:pic>
                    <p:nvPicPr>
                      <p:cNvPr id="0" name=""/>
                      <p:cNvPicPr>
                        <a:picLocks noChangeAspect="1" noChangeArrowheads="1"/>
                      </p:cNvPicPr>
                      <p:nvPr/>
                    </p:nvPicPr>
                    <p:blipFill>
                      <a:blip r:embed="rId4"/>
                      <a:srcRect/>
                      <a:stretch>
                        <a:fillRect/>
                      </a:stretch>
                    </p:blipFill>
                    <p:spPr bwMode="auto">
                      <a:xfrm>
                        <a:off x="2895600" y="2743200"/>
                        <a:ext cx="4459287"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17545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0564"/>
                                        </p:tgtEl>
                                        <p:attrNameLst>
                                          <p:attrName>style.visibility</p:attrName>
                                        </p:attrNameLst>
                                      </p:cBhvr>
                                      <p:to>
                                        <p:strVal val="visible"/>
                                      </p:to>
                                    </p:set>
                                    <p:animEffect transition="in" filter="wipe(left)">
                                      <p:cBhvr>
                                        <p:cTn id="7" dur="500"/>
                                        <p:tgtEl>
                                          <p:spTgt spid="45056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7.7	Risk Aversion and Risk </a:t>
            </a:r>
            <a:r>
              <a:rPr lang="en-US" altLang="en-US" dirty="0" smtClean="0"/>
              <a:t>Premiums</a:t>
            </a:r>
          </a:p>
        </p:txBody>
      </p:sp>
      <p:sp>
        <p:nvSpPr>
          <p:cNvPr id="92163" name="Text Placeholder 2"/>
          <p:cNvSpPr>
            <a:spLocks noGrp="1"/>
          </p:cNvSpPr>
          <p:nvPr>
            <p:ph sz="half" idx="1"/>
          </p:nvPr>
        </p:nvSpPr>
        <p:spPr>
          <a:xfrm>
            <a:off x="104774" y="4926059"/>
            <a:ext cx="8886825" cy="1452867"/>
          </a:xfrm>
        </p:spPr>
        <p:txBody>
          <a:bodyPr>
            <a:normAutofit/>
          </a:bodyPr>
          <a:lstStyle/>
          <a:p>
            <a:pPr>
              <a:spcBef>
                <a:spcPct val="0"/>
              </a:spcBef>
            </a:pPr>
            <a:r>
              <a:rPr lang="en-US" altLang="en-US" dirty="0"/>
              <a:t>Indifference curve U</a:t>
            </a:r>
            <a:r>
              <a:rPr lang="en-US" altLang="en-US" baseline="-25000" dirty="0"/>
              <a:t>1 </a:t>
            </a:r>
            <a:r>
              <a:rPr lang="en-US" altLang="en-US" dirty="0"/>
              <a:t>represents the preferences of a risk-averse person, whereas the person with preferences represented by U</a:t>
            </a:r>
            <a:r>
              <a:rPr lang="en-US" altLang="en-US" baseline="-25000" dirty="0"/>
              <a:t>2</a:t>
            </a:r>
            <a:r>
              <a:rPr lang="en-US" altLang="en-US" dirty="0"/>
              <a:t> is willing to assume more risk. When faced with the risk of losing </a:t>
            </a:r>
            <a:r>
              <a:rPr lang="en-US" altLang="en-US" i="1" dirty="0"/>
              <a:t>h</a:t>
            </a:r>
            <a:r>
              <a:rPr lang="en-US" altLang="en-US" dirty="0"/>
              <a:t> in bad times, person 2 will require compensation of W</a:t>
            </a:r>
            <a:r>
              <a:rPr lang="en-US" altLang="en-US" baseline="-25000" dirty="0"/>
              <a:t>2</a:t>
            </a:r>
            <a:r>
              <a:rPr lang="en-US" altLang="en-US" dirty="0"/>
              <a:t> – </a:t>
            </a:r>
            <a:r>
              <a:rPr lang="en-US" altLang="en-US" dirty="0" smtClean="0"/>
              <a:t>W</a:t>
            </a:r>
            <a:r>
              <a:rPr lang="en-US" altLang="en-US" baseline="-25000" dirty="0" smtClean="0"/>
              <a:t>0</a:t>
            </a:r>
            <a:r>
              <a:rPr lang="en-US" altLang="en-US" dirty="0" smtClean="0"/>
              <a:t> </a:t>
            </a:r>
            <a:r>
              <a:rPr lang="en-US" altLang="en-US" dirty="0"/>
              <a:t>in good times, whereas person 1 will require a larger amount given by W</a:t>
            </a:r>
            <a:r>
              <a:rPr lang="en-US" altLang="en-US" baseline="-25000" dirty="0"/>
              <a:t>1 </a:t>
            </a:r>
            <a:r>
              <a:rPr lang="en-US" altLang="en-US" dirty="0" smtClean="0"/>
              <a:t>– W</a:t>
            </a:r>
            <a:r>
              <a:rPr lang="en-US" altLang="en-US" baseline="-25000" dirty="0" smtClean="0"/>
              <a:t>0</a:t>
            </a:r>
            <a:r>
              <a:rPr lang="en-US" altLang="en-US" dirty="0" smtClean="0"/>
              <a:t>.</a:t>
            </a:r>
            <a:endParaRPr lang="en-US" altLang="en-US" dirty="0"/>
          </a:p>
          <a:p>
            <a:pPr>
              <a:spcBef>
                <a:spcPct val="0"/>
              </a:spcBef>
            </a:pPr>
            <a:endParaRPr lang="en-US" altLang="en-US" dirty="0" smtClean="0"/>
          </a:p>
        </p:txBody>
      </p:sp>
      <p:sp>
        <p:nvSpPr>
          <p:cNvPr id="9216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FDEE47DE-D376-475C-B731-4D8082CF6956}" type="slidenum">
              <a:rPr lang="en-US" smtClean="0"/>
              <a:pPr>
                <a:defRPr/>
              </a:pPr>
              <a:t>77</a:t>
            </a:fld>
            <a:endParaRPr lang="en-US" dirty="0"/>
          </a:p>
        </p:txBody>
      </p:sp>
      <p:grpSp>
        <p:nvGrpSpPr>
          <p:cNvPr id="31" name="Group 34"/>
          <p:cNvGrpSpPr>
            <a:grpSpLocks/>
          </p:cNvGrpSpPr>
          <p:nvPr/>
        </p:nvGrpSpPr>
        <p:grpSpPr bwMode="auto">
          <a:xfrm>
            <a:off x="2576513" y="1982787"/>
            <a:ext cx="3484562" cy="2181225"/>
            <a:chOff x="2577152" y="2263253"/>
            <a:chExt cx="3484338" cy="2181741"/>
          </a:xfrm>
        </p:grpSpPr>
        <p:sp>
          <p:nvSpPr>
            <p:cNvPr id="92200" name="Freeform 20"/>
            <p:cNvSpPr>
              <a:spLocks/>
            </p:cNvSpPr>
            <p:nvPr/>
          </p:nvSpPr>
          <p:spPr bwMode="auto">
            <a:xfrm rot="918789">
              <a:off x="2577152" y="2263253"/>
              <a:ext cx="3276600" cy="1524000"/>
            </a:xfrm>
            <a:custGeom>
              <a:avLst/>
              <a:gdLst>
                <a:gd name="T0" fmla="*/ 0 w 2160"/>
                <a:gd name="T1" fmla="*/ 0 h 864"/>
                <a:gd name="T2" fmla="*/ 1674707 w 2160"/>
                <a:gd name="T3" fmla="*/ 1270000 h 864"/>
                <a:gd name="T4" fmla="*/ 3276600 w 2160"/>
                <a:gd name="T5" fmla="*/ 1524000 h 864"/>
                <a:gd name="T6" fmla="*/ 0 60000 65536"/>
                <a:gd name="T7" fmla="*/ 0 60000 65536"/>
                <a:gd name="T8" fmla="*/ 0 60000 65536"/>
                <a:gd name="T9" fmla="*/ 0 w 2160"/>
                <a:gd name="T10" fmla="*/ 0 h 864"/>
                <a:gd name="T11" fmla="*/ 2160 w 2160"/>
                <a:gd name="T12" fmla="*/ 864 h 864"/>
              </a:gdLst>
              <a:ahLst/>
              <a:cxnLst>
                <a:cxn ang="T6">
                  <a:pos x="T0" y="T1"/>
                </a:cxn>
                <a:cxn ang="T7">
                  <a:pos x="T2" y="T3"/>
                </a:cxn>
                <a:cxn ang="T8">
                  <a:pos x="T4" y="T5"/>
                </a:cxn>
              </a:cxnLst>
              <a:rect l="T9" t="T10" r="T11" b="T12"/>
              <a:pathLst>
                <a:path w="2160" h="864">
                  <a:moveTo>
                    <a:pt x="0" y="0"/>
                  </a:moveTo>
                  <a:cubicBezTo>
                    <a:pt x="372" y="288"/>
                    <a:pt x="744" y="576"/>
                    <a:pt x="1104" y="720"/>
                  </a:cubicBezTo>
                  <a:cubicBezTo>
                    <a:pt x="1464" y="864"/>
                    <a:pt x="1984" y="840"/>
                    <a:pt x="2160"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201" name="Text Box 21"/>
            <p:cNvSpPr txBox="1">
              <a:spLocks noChangeArrowheads="1"/>
            </p:cNvSpPr>
            <p:nvPr/>
          </p:nvSpPr>
          <p:spPr bwMode="auto">
            <a:xfrm>
              <a:off x="5625152" y="4075662"/>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U</a:t>
              </a:r>
              <a:r>
                <a:rPr lang="en-US" altLang="en-US" sz="1800" baseline="-25000" dirty="0">
                  <a:solidFill>
                    <a:srgbClr val="C00000"/>
                  </a:solidFill>
                </a:rPr>
                <a:t>2</a:t>
              </a:r>
              <a:endParaRPr lang="en-US" altLang="en-US" sz="1800" dirty="0">
                <a:solidFill>
                  <a:srgbClr val="C00000"/>
                </a:solidFill>
              </a:endParaRPr>
            </a:p>
          </p:txBody>
        </p:sp>
      </p:grpSp>
      <p:grpSp>
        <p:nvGrpSpPr>
          <p:cNvPr id="32" name="Group 33"/>
          <p:cNvGrpSpPr>
            <a:grpSpLocks/>
          </p:cNvGrpSpPr>
          <p:nvPr/>
        </p:nvGrpSpPr>
        <p:grpSpPr bwMode="auto">
          <a:xfrm>
            <a:off x="3490913" y="1449387"/>
            <a:ext cx="2519362" cy="2089150"/>
            <a:chOff x="3491552" y="1729853"/>
            <a:chExt cx="2519138" cy="2089666"/>
          </a:xfrm>
        </p:grpSpPr>
        <p:sp>
          <p:nvSpPr>
            <p:cNvPr id="92198" name="Freeform 16"/>
            <p:cNvSpPr>
              <a:spLocks/>
            </p:cNvSpPr>
            <p:nvPr/>
          </p:nvSpPr>
          <p:spPr bwMode="auto">
            <a:xfrm>
              <a:off x="3491552" y="1729853"/>
              <a:ext cx="1981200" cy="1828800"/>
            </a:xfrm>
            <a:custGeom>
              <a:avLst/>
              <a:gdLst>
                <a:gd name="T0" fmla="*/ 46074 w 1032"/>
                <a:gd name="T1" fmla="*/ 0 h 864"/>
                <a:gd name="T2" fmla="*/ 322521 w 1032"/>
                <a:gd name="T3" fmla="*/ 1524000 h 864"/>
                <a:gd name="T4" fmla="*/ 1981200 w 1032"/>
                <a:gd name="T5" fmla="*/ 1828800 h 864"/>
                <a:gd name="T6" fmla="*/ 0 60000 65536"/>
                <a:gd name="T7" fmla="*/ 0 60000 65536"/>
                <a:gd name="T8" fmla="*/ 0 60000 65536"/>
                <a:gd name="T9" fmla="*/ 0 w 1032"/>
                <a:gd name="T10" fmla="*/ 0 h 864"/>
                <a:gd name="T11" fmla="*/ 1032 w 1032"/>
                <a:gd name="T12" fmla="*/ 864 h 864"/>
              </a:gdLst>
              <a:ahLst/>
              <a:cxnLst>
                <a:cxn ang="T6">
                  <a:pos x="T0" y="T1"/>
                </a:cxn>
                <a:cxn ang="T7">
                  <a:pos x="T2" y="T3"/>
                </a:cxn>
                <a:cxn ang="T8">
                  <a:pos x="T4" y="T5"/>
                </a:cxn>
              </a:cxnLst>
              <a:rect l="T9" t="T10" r="T11" b="T12"/>
              <a:pathLst>
                <a:path w="1032" h="864">
                  <a:moveTo>
                    <a:pt x="24" y="0"/>
                  </a:moveTo>
                  <a:cubicBezTo>
                    <a:pt x="12" y="288"/>
                    <a:pt x="0" y="576"/>
                    <a:pt x="168" y="720"/>
                  </a:cubicBezTo>
                  <a:cubicBezTo>
                    <a:pt x="336" y="864"/>
                    <a:pt x="888" y="840"/>
                    <a:pt x="1032" y="864"/>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92199" name="Text Box 17"/>
            <p:cNvSpPr txBox="1">
              <a:spLocks noChangeArrowheads="1"/>
            </p:cNvSpPr>
            <p:nvPr/>
          </p:nvSpPr>
          <p:spPr bwMode="auto">
            <a:xfrm>
              <a:off x="5574352" y="3450187"/>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U</a:t>
              </a:r>
              <a:r>
                <a:rPr lang="en-US" altLang="en-US" sz="1800" baseline="-25000" dirty="0">
                  <a:solidFill>
                    <a:srgbClr val="C00000"/>
                  </a:solidFill>
                </a:rPr>
                <a:t>1</a:t>
              </a:r>
              <a:endParaRPr lang="en-US" altLang="en-US" sz="1800" dirty="0">
                <a:solidFill>
                  <a:srgbClr val="C00000"/>
                </a:solidFill>
              </a:endParaRPr>
            </a:p>
          </p:txBody>
        </p:sp>
      </p:grpSp>
      <p:sp>
        <p:nvSpPr>
          <p:cNvPr id="11" name="Line 2"/>
          <p:cNvSpPr>
            <a:spLocks noChangeShapeType="1"/>
          </p:cNvSpPr>
          <p:nvPr/>
        </p:nvSpPr>
        <p:spPr bwMode="auto">
          <a:xfrm>
            <a:off x="2119313" y="1296987"/>
            <a:ext cx="3276600" cy="3276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33" name="Group 30"/>
          <p:cNvGrpSpPr>
            <a:grpSpLocks/>
          </p:cNvGrpSpPr>
          <p:nvPr/>
        </p:nvGrpSpPr>
        <p:grpSpPr bwMode="auto">
          <a:xfrm>
            <a:off x="2119313" y="1355725"/>
            <a:ext cx="4452937" cy="3217862"/>
            <a:chOff x="2119952" y="1637262"/>
            <a:chExt cx="4451692" cy="3216791"/>
          </a:xfrm>
        </p:grpSpPr>
        <p:sp>
          <p:nvSpPr>
            <p:cNvPr id="92196" name="Line 6"/>
            <p:cNvSpPr>
              <a:spLocks noChangeShapeType="1"/>
            </p:cNvSpPr>
            <p:nvPr/>
          </p:nvSpPr>
          <p:spPr bwMode="auto">
            <a:xfrm flipV="1">
              <a:off x="2119952" y="1882253"/>
              <a:ext cx="2971800" cy="2971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97" name="Text Box 7"/>
            <p:cNvSpPr txBox="1">
              <a:spLocks noChangeArrowheads="1"/>
            </p:cNvSpPr>
            <p:nvPr/>
          </p:nvSpPr>
          <p:spPr bwMode="auto">
            <a:xfrm>
              <a:off x="5091752" y="1637262"/>
              <a:ext cx="1479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certainty line</a:t>
              </a:r>
            </a:p>
          </p:txBody>
        </p:sp>
      </p:grpSp>
      <p:grpSp>
        <p:nvGrpSpPr>
          <p:cNvPr id="34" name="Group 40"/>
          <p:cNvGrpSpPr>
            <a:grpSpLocks/>
          </p:cNvGrpSpPr>
          <p:nvPr/>
        </p:nvGrpSpPr>
        <p:grpSpPr bwMode="auto">
          <a:xfrm>
            <a:off x="1590675" y="533400"/>
            <a:ext cx="5800725" cy="4222750"/>
            <a:chOff x="1591315" y="814144"/>
            <a:chExt cx="5799502" cy="4223782"/>
          </a:xfrm>
        </p:grpSpPr>
        <p:grpSp>
          <p:nvGrpSpPr>
            <p:cNvPr id="92190" name="Group 31"/>
            <p:cNvGrpSpPr>
              <a:grpSpLocks/>
            </p:cNvGrpSpPr>
            <p:nvPr/>
          </p:nvGrpSpPr>
          <p:grpSpPr bwMode="auto">
            <a:xfrm>
              <a:off x="2119952" y="4668594"/>
              <a:ext cx="5270865" cy="369332"/>
              <a:chOff x="2119952" y="4668594"/>
              <a:chExt cx="5270865" cy="369332"/>
            </a:xfrm>
          </p:grpSpPr>
          <p:sp>
            <p:nvSpPr>
              <p:cNvPr id="92194" name="Line 5"/>
              <p:cNvSpPr>
                <a:spLocks noChangeShapeType="1"/>
              </p:cNvSpPr>
              <p:nvPr/>
            </p:nvSpPr>
            <p:spPr bwMode="auto">
              <a:xfrm>
                <a:off x="2119952" y="4854053"/>
                <a:ext cx="472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95" name="Text Box 8"/>
              <p:cNvSpPr txBox="1">
                <a:spLocks noChangeArrowheads="1"/>
              </p:cNvSpPr>
              <p:nvPr/>
            </p:nvSpPr>
            <p:spPr bwMode="auto">
              <a:xfrm>
                <a:off x="6893565" y="4668594"/>
                <a:ext cx="497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g</a:t>
                </a:r>
                <a:endParaRPr lang="en-US" altLang="en-US" sz="1800" i="1"/>
              </a:p>
            </p:txBody>
          </p:sp>
        </p:grpSp>
        <p:grpSp>
          <p:nvGrpSpPr>
            <p:cNvPr id="92191" name="Group 32"/>
            <p:cNvGrpSpPr>
              <a:grpSpLocks/>
            </p:cNvGrpSpPr>
            <p:nvPr/>
          </p:nvGrpSpPr>
          <p:grpSpPr bwMode="auto">
            <a:xfrm>
              <a:off x="1591315" y="814144"/>
              <a:ext cx="528637" cy="4039909"/>
              <a:chOff x="1591315" y="814144"/>
              <a:chExt cx="528637" cy="4039909"/>
            </a:xfrm>
          </p:grpSpPr>
          <p:sp>
            <p:nvSpPr>
              <p:cNvPr id="92192" name="Line 4"/>
              <p:cNvSpPr>
                <a:spLocks noChangeShapeType="1"/>
              </p:cNvSpPr>
              <p:nvPr/>
            </p:nvSpPr>
            <p:spPr bwMode="auto">
              <a:xfrm>
                <a:off x="2119952" y="1044053"/>
                <a:ext cx="0" cy="3810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2193" name="Text Box 9"/>
              <p:cNvSpPr txBox="1">
                <a:spLocks noChangeArrowheads="1"/>
              </p:cNvSpPr>
              <p:nvPr/>
            </p:nvSpPr>
            <p:spPr bwMode="auto">
              <a:xfrm>
                <a:off x="1591315" y="814144"/>
                <a:ext cx="4972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i="1" baseline="-25000"/>
                  <a:t>b</a:t>
                </a:r>
                <a:endParaRPr lang="en-US" altLang="en-US" sz="1800" i="1"/>
              </a:p>
            </p:txBody>
          </p:sp>
        </p:grpSp>
      </p:grpSp>
      <p:grpSp>
        <p:nvGrpSpPr>
          <p:cNvPr id="37" name="Group 36"/>
          <p:cNvGrpSpPr>
            <a:grpSpLocks/>
          </p:cNvGrpSpPr>
          <p:nvPr/>
        </p:nvGrpSpPr>
        <p:grpSpPr bwMode="auto">
          <a:xfrm>
            <a:off x="3482980" y="2897187"/>
            <a:ext cx="487634" cy="2028872"/>
            <a:chOff x="3483615" y="3177653"/>
            <a:chExt cx="486379" cy="2029388"/>
          </a:xfrm>
        </p:grpSpPr>
        <p:sp>
          <p:nvSpPr>
            <p:cNvPr id="92188" name="Line 11"/>
            <p:cNvSpPr>
              <a:spLocks noChangeShapeType="1"/>
            </p:cNvSpPr>
            <p:nvPr/>
          </p:nvSpPr>
          <p:spPr bwMode="auto">
            <a:xfrm>
              <a:off x="3761096" y="3177653"/>
              <a:ext cx="0" cy="1676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89" name="Text Box 13"/>
            <p:cNvSpPr txBox="1">
              <a:spLocks noChangeArrowheads="1"/>
            </p:cNvSpPr>
            <p:nvPr/>
          </p:nvSpPr>
          <p:spPr bwMode="auto">
            <a:xfrm>
              <a:off x="3483615" y="4837615"/>
              <a:ext cx="486379" cy="36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W</a:t>
              </a:r>
              <a:r>
                <a:rPr lang="en-US" altLang="en-US" sz="1800" i="1" baseline="-25000" dirty="0" smtClean="0"/>
                <a:t>0</a:t>
              </a:r>
              <a:endParaRPr lang="en-US" altLang="en-US" sz="1800" dirty="0"/>
            </a:p>
          </p:txBody>
        </p:sp>
      </p:grpSp>
      <p:grpSp>
        <p:nvGrpSpPr>
          <p:cNvPr id="38" name="Group 35"/>
          <p:cNvGrpSpPr>
            <a:grpSpLocks/>
          </p:cNvGrpSpPr>
          <p:nvPr/>
        </p:nvGrpSpPr>
        <p:grpSpPr bwMode="auto">
          <a:xfrm>
            <a:off x="1600200" y="2803801"/>
            <a:ext cx="2195513" cy="369332"/>
            <a:chOff x="1600839" y="3085339"/>
            <a:chExt cx="2195513" cy="368778"/>
          </a:xfrm>
        </p:grpSpPr>
        <p:sp>
          <p:nvSpPr>
            <p:cNvPr id="92185" name="Oval 10"/>
            <p:cNvSpPr>
              <a:spLocks noChangeArrowheads="1"/>
            </p:cNvSpPr>
            <p:nvPr/>
          </p:nvSpPr>
          <p:spPr bwMode="auto">
            <a:xfrm>
              <a:off x="3720152" y="317765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92186" name="Line 12"/>
            <p:cNvSpPr>
              <a:spLocks noChangeShapeType="1"/>
            </p:cNvSpPr>
            <p:nvPr/>
          </p:nvSpPr>
          <p:spPr bwMode="auto">
            <a:xfrm flipH="1">
              <a:off x="2119952" y="3226557"/>
              <a:ext cx="1600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87" name="Text Box 14"/>
            <p:cNvSpPr txBox="1">
              <a:spLocks noChangeArrowheads="1"/>
            </p:cNvSpPr>
            <p:nvPr/>
          </p:nvSpPr>
          <p:spPr bwMode="auto">
            <a:xfrm>
              <a:off x="1600839" y="3085339"/>
              <a:ext cx="487634"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W</a:t>
              </a:r>
              <a:r>
                <a:rPr lang="en-US" altLang="en-US" sz="1800" i="1" baseline="-25000" dirty="0" smtClean="0"/>
                <a:t>0</a:t>
              </a:r>
              <a:endParaRPr lang="en-US" altLang="en-US" sz="1800" dirty="0"/>
            </a:p>
          </p:txBody>
        </p:sp>
      </p:grpSp>
      <p:grpSp>
        <p:nvGrpSpPr>
          <p:cNvPr id="39" name="Group 39"/>
          <p:cNvGrpSpPr>
            <a:grpSpLocks/>
          </p:cNvGrpSpPr>
          <p:nvPr/>
        </p:nvGrpSpPr>
        <p:grpSpPr bwMode="auto">
          <a:xfrm>
            <a:off x="1281113" y="3108325"/>
            <a:ext cx="3733800" cy="369887"/>
            <a:chOff x="1281752" y="3389862"/>
            <a:chExt cx="3733800" cy="369332"/>
          </a:xfrm>
        </p:grpSpPr>
        <p:sp>
          <p:nvSpPr>
            <p:cNvPr id="92183" name="Line 23"/>
            <p:cNvSpPr>
              <a:spLocks noChangeShapeType="1"/>
            </p:cNvSpPr>
            <p:nvPr/>
          </p:nvSpPr>
          <p:spPr bwMode="auto">
            <a:xfrm>
              <a:off x="2119952" y="3517709"/>
              <a:ext cx="2895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84" name="Text Box 28"/>
            <p:cNvSpPr txBox="1">
              <a:spLocks noChangeArrowheads="1"/>
            </p:cNvSpPr>
            <p:nvPr/>
          </p:nvSpPr>
          <p:spPr bwMode="auto">
            <a:xfrm>
              <a:off x="1281752" y="3389862"/>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W</a:t>
              </a:r>
              <a:r>
                <a:rPr lang="en-US" altLang="en-US" sz="1800" i="1" baseline="-25000" dirty="0" smtClean="0"/>
                <a:t>0</a:t>
              </a:r>
              <a:r>
                <a:rPr lang="en-US" altLang="en-US" sz="1800" dirty="0" smtClean="0"/>
                <a:t> </a:t>
              </a:r>
              <a:r>
                <a:rPr lang="en-US" altLang="en-US" sz="1800" dirty="0"/>
                <a:t>- h</a:t>
              </a:r>
            </a:p>
          </p:txBody>
        </p:sp>
      </p:grpSp>
      <p:grpSp>
        <p:nvGrpSpPr>
          <p:cNvPr id="40" name="Group 37"/>
          <p:cNvGrpSpPr>
            <a:grpSpLocks/>
          </p:cNvGrpSpPr>
          <p:nvPr/>
        </p:nvGrpSpPr>
        <p:grpSpPr bwMode="auto">
          <a:xfrm>
            <a:off x="3968750" y="3201987"/>
            <a:ext cx="488950" cy="1724025"/>
            <a:chOff x="3969390" y="3482453"/>
            <a:chExt cx="487634" cy="1724541"/>
          </a:xfrm>
        </p:grpSpPr>
        <p:sp>
          <p:nvSpPr>
            <p:cNvPr id="92180" name="Oval 25"/>
            <p:cNvSpPr>
              <a:spLocks noChangeArrowheads="1"/>
            </p:cNvSpPr>
            <p:nvPr/>
          </p:nvSpPr>
          <p:spPr bwMode="auto">
            <a:xfrm>
              <a:off x="4101152" y="348245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92181" name="Line 26"/>
            <p:cNvSpPr>
              <a:spLocks noChangeShapeType="1"/>
            </p:cNvSpPr>
            <p:nvPr/>
          </p:nvSpPr>
          <p:spPr bwMode="auto">
            <a:xfrm>
              <a:off x="4128448" y="3558653"/>
              <a:ext cx="0" cy="12954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82" name="Text Box 29"/>
            <p:cNvSpPr txBox="1">
              <a:spLocks noChangeArrowheads="1"/>
            </p:cNvSpPr>
            <p:nvPr/>
          </p:nvSpPr>
          <p:spPr bwMode="auto">
            <a:xfrm>
              <a:off x="3969390" y="4837662"/>
              <a:ext cx="4876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baseline="-25000"/>
                <a:t>2</a:t>
              </a:r>
              <a:endParaRPr lang="en-US" altLang="en-US" sz="1800"/>
            </a:p>
          </p:txBody>
        </p:sp>
      </p:grpSp>
      <p:grpSp>
        <p:nvGrpSpPr>
          <p:cNvPr id="41" name="Group 38"/>
          <p:cNvGrpSpPr>
            <a:grpSpLocks/>
          </p:cNvGrpSpPr>
          <p:nvPr/>
        </p:nvGrpSpPr>
        <p:grpSpPr bwMode="auto">
          <a:xfrm>
            <a:off x="4730750" y="3201987"/>
            <a:ext cx="488950" cy="1724025"/>
            <a:chOff x="4731390" y="3482453"/>
            <a:chExt cx="487634" cy="1724541"/>
          </a:xfrm>
        </p:grpSpPr>
        <p:sp>
          <p:nvSpPr>
            <p:cNvPr id="92177" name="Oval 24"/>
            <p:cNvSpPr>
              <a:spLocks noChangeArrowheads="1"/>
            </p:cNvSpPr>
            <p:nvPr/>
          </p:nvSpPr>
          <p:spPr bwMode="auto">
            <a:xfrm>
              <a:off x="4939352" y="348245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92178" name="Line 27"/>
            <p:cNvSpPr>
              <a:spLocks noChangeShapeType="1"/>
            </p:cNvSpPr>
            <p:nvPr/>
          </p:nvSpPr>
          <p:spPr bwMode="auto">
            <a:xfrm>
              <a:off x="4993944" y="3558653"/>
              <a:ext cx="0" cy="12954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79" name="Text Box 30"/>
            <p:cNvSpPr txBox="1">
              <a:spLocks noChangeArrowheads="1"/>
            </p:cNvSpPr>
            <p:nvPr/>
          </p:nvSpPr>
          <p:spPr bwMode="auto">
            <a:xfrm>
              <a:off x="4731390" y="4837662"/>
              <a:ext cx="4876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W</a:t>
              </a:r>
              <a:r>
                <a:rPr lang="en-US" altLang="en-US" sz="1800" baseline="-25000"/>
                <a:t>1</a:t>
              </a:r>
              <a:endParaRPr lang="en-US" altLang="en-US" sz="1800"/>
            </a:p>
          </p:txBody>
        </p:sp>
      </p:grpSp>
    </p:spTree>
    <p:extLst>
      <p:ext uri="{BB962C8B-B14F-4D97-AF65-F5344CB8AC3E}">
        <p14:creationId xmlns:p14="http://schemas.microsoft.com/office/powerpoint/2010/main" val="24595882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left)">
                                      <p:cBhvr>
                                        <p:cTn id="23" dur="500"/>
                                        <p:tgtEl>
                                          <p:spTgt spid="38"/>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nodeType="afterGroup">
                            <p:stCondLst>
                              <p:cond delay="1000"/>
                            </p:stCondLst>
                            <p:childTnLst>
                              <p:par>
                                <p:cTn id="38" presetID="22" presetClass="entr" presetSubtype="1" fill="hold"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wipe(up)">
                                      <p:cBhvr>
                                        <p:cTn id="40" dur="500"/>
                                        <p:tgtEl>
                                          <p:spTgt spid="40"/>
                                        </p:tgtEl>
                                      </p:cBhvr>
                                    </p:animEffect>
                                  </p:childTnLst>
                                </p:cTn>
                              </p:par>
                            </p:childTnLst>
                          </p:cTn>
                        </p:par>
                        <p:par>
                          <p:cTn id="41" fill="hold" nodeType="afterGroup">
                            <p:stCondLst>
                              <p:cond delay="1500"/>
                            </p:stCondLst>
                            <p:childTnLst>
                              <p:par>
                                <p:cTn id="42" presetID="22" presetClass="entr" presetSubtype="1" fill="hold"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wipe(up)">
                                      <p:cBhvr>
                                        <p:cTn id="44" dur="500"/>
                                        <p:tgtEl>
                                          <p:spTgt spid="41"/>
                                        </p:tgtEl>
                                      </p:cBhvr>
                                    </p:animEffect>
                                  </p:childTnLst>
                                </p:cTn>
                              </p:par>
                            </p:childTnLst>
                          </p:cTn>
                        </p:par>
                        <p:par>
                          <p:cTn id="45" fill="hold">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92163">
                                            <p:txEl>
                                              <p:pRg st="0" end="0"/>
                                            </p:txEl>
                                          </p:spTgt>
                                        </p:tgtEl>
                                        <p:attrNameLst>
                                          <p:attrName>style.visibility</p:attrName>
                                        </p:attrNameLst>
                                      </p:cBhvr>
                                      <p:to>
                                        <p:strVal val="visible"/>
                                      </p:to>
                                    </p:set>
                                    <p:animEffect transition="in" filter="wipe(left)">
                                      <p:cBhvr>
                                        <p:cTn id="48" dur="500"/>
                                        <p:tgtEl>
                                          <p:spTgt spid="921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en-US" smtClean="0"/>
              <a:t>Asymmetry of Information</a:t>
            </a:r>
          </a:p>
        </p:txBody>
      </p:sp>
      <p:sp>
        <p:nvSpPr>
          <p:cNvPr id="93187" name="Rectangle 3"/>
          <p:cNvSpPr>
            <a:spLocks noGrp="1" noChangeArrowheads="1"/>
          </p:cNvSpPr>
          <p:nvPr>
            <p:ph idx="1"/>
          </p:nvPr>
        </p:nvSpPr>
        <p:spPr/>
        <p:txBody>
          <a:bodyPr/>
          <a:lstStyle/>
          <a:p>
            <a:r>
              <a:rPr lang="en-US" altLang="en-US" smtClean="0"/>
              <a:t>The level of information that a person buys </a:t>
            </a:r>
          </a:p>
          <a:p>
            <a:pPr lvl="1"/>
            <a:r>
              <a:rPr lang="en-US" altLang="en-US" smtClean="0"/>
              <a:t>Will depend on the price per unit</a:t>
            </a:r>
          </a:p>
          <a:p>
            <a:r>
              <a:rPr lang="en-US" altLang="en-US" smtClean="0"/>
              <a:t>Information costs may differ significantly across individuals</a:t>
            </a:r>
          </a:p>
          <a:p>
            <a:pPr lvl="1"/>
            <a:r>
              <a:rPr lang="en-US" altLang="en-US" smtClean="0"/>
              <a:t>Specific skills for acquiring information</a:t>
            </a:r>
          </a:p>
          <a:p>
            <a:pPr lvl="1"/>
            <a:r>
              <a:rPr lang="en-US" altLang="en-US" smtClean="0"/>
              <a:t>Experience that is relevant</a:t>
            </a:r>
          </a:p>
          <a:p>
            <a:pPr lvl="1"/>
            <a:r>
              <a:rPr lang="en-US" altLang="en-US" smtClean="0"/>
              <a:t>Different former investments in information services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0419F5B-E23E-4070-95A3-002BE1A2EAA4}" type="slidenum">
              <a:rPr lang="en-US" smtClean="0"/>
              <a:pPr>
                <a:defRPr/>
              </a:pPr>
              <a:t>78</a:t>
            </a:fld>
            <a:endParaRPr lang="en-US"/>
          </a:p>
        </p:txBody>
      </p:sp>
    </p:spTree>
    <p:extLst>
      <p:ext uri="{BB962C8B-B14F-4D97-AF65-F5344CB8AC3E}">
        <p14:creationId xmlns:p14="http://schemas.microsoft.com/office/powerpoint/2010/main" val="202694679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en-US" smtClean="0"/>
              <a:t>The Portfolio Problem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85A4A19-811C-4869-8E48-2852CCD02B90}" type="slidenum">
              <a:rPr lang="en-US" smtClean="0"/>
              <a:pPr>
                <a:defRPr/>
              </a:pPr>
              <a:t>79</a:t>
            </a:fld>
            <a:endParaRPr lang="en-US"/>
          </a:p>
        </p:txBody>
      </p:sp>
      <p:sp>
        <p:nvSpPr>
          <p:cNvPr id="94211" name="Rectangle 3"/>
          <p:cNvSpPr>
            <a:spLocks noGrp="1" noChangeArrowheads="1"/>
          </p:cNvSpPr>
          <p:nvPr>
            <p:ph type="body" sz="quarter" idx="12"/>
          </p:nvPr>
        </p:nvSpPr>
        <p:spPr/>
        <p:txBody>
          <a:bodyPr/>
          <a:lstStyle/>
          <a:p>
            <a:r>
              <a:rPr lang="en-US" altLang="en-US" smtClean="0"/>
              <a:t>Basic model with one risky asset</a:t>
            </a:r>
          </a:p>
          <a:p>
            <a:pPr lvl="1"/>
            <a:r>
              <a:rPr lang="en-US" altLang="en-US" smtClean="0"/>
              <a:t>Assume an individual has wealth (</a:t>
            </a:r>
            <a:r>
              <a:rPr lang="en-US" altLang="en-US" i="1" smtClean="0"/>
              <a:t>W</a:t>
            </a:r>
            <a:r>
              <a:rPr lang="en-US" altLang="en-US" baseline="-25000" smtClean="0"/>
              <a:t>0</a:t>
            </a:r>
            <a:r>
              <a:rPr lang="en-US" altLang="en-US" smtClean="0"/>
              <a:t>) to invest in one of two assets</a:t>
            </a:r>
          </a:p>
          <a:p>
            <a:pPr lvl="1"/>
            <a:r>
              <a:rPr lang="en-US" altLang="en-US" smtClean="0"/>
              <a:t>One asset yields a certain return of </a:t>
            </a:r>
            <a:r>
              <a:rPr lang="en-US" altLang="en-US" i="1" smtClean="0"/>
              <a:t>r</a:t>
            </a:r>
            <a:r>
              <a:rPr lang="en-US" altLang="en-US" i="1" baseline="-25000" smtClean="0"/>
              <a:t>f</a:t>
            </a:r>
            <a:endParaRPr lang="en-US" altLang="en-US" smtClean="0"/>
          </a:p>
          <a:p>
            <a:pPr lvl="1"/>
            <a:r>
              <a:rPr lang="en-US" altLang="en-US" smtClean="0"/>
              <a:t>One asset’s return is a random variable, </a:t>
            </a:r>
            <a:r>
              <a:rPr lang="en-US" altLang="en-US" i="1" smtClean="0"/>
              <a:t>r</a:t>
            </a:r>
            <a:endParaRPr lang="en-US" altLang="en-US" i="1" baseline="-25000" smtClean="0"/>
          </a:p>
          <a:p>
            <a:pPr lvl="1"/>
            <a:r>
              <a:rPr lang="en-US" altLang="en-US" i="1" smtClean="0"/>
              <a:t>k</a:t>
            </a:r>
            <a:r>
              <a:rPr lang="en-US" altLang="en-US" smtClean="0"/>
              <a:t> - the amount invested in the risky asset</a:t>
            </a:r>
          </a:p>
        </p:txBody>
      </p:sp>
    </p:spTree>
    <p:extLst>
      <p:ext uri="{BB962C8B-B14F-4D97-AF65-F5344CB8AC3E}">
        <p14:creationId xmlns:p14="http://schemas.microsoft.com/office/powerpoint/2010/main" val="126649621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en-US" smtClean="0"/>
              <a:t>The Portfolio Problem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B6F2A65-5AD1-4066-A89B-EB73CC7141A1}" type="slidenum">
              <a:rPr lang="en-US" smtClean="0"/>
              <a:pPr>
                <a:defRPr/>
              </a:pPr>
              <a:t>80</a:t>
            </a:fld>
            <a:endParaRPr lang="en-US"/>
          </a:p>
        </p:txBody>
      </p:sp>
      <p:sp>
        <p:nvSpPr>
          <p:cNvPr id="95235" name="Rectangle 3"/>
          <p:cNvSpPr>
            <a:spLocks noGrp="1" noChangeArrowheads="1"/>
          </p:cNvSpPr>
          <p:nvPr>
            <p:ph type="body" sz="quarter" idx="12"/>
          </p:nvPr>
        </p:nvSpPr>
        <p:spPr/>
        <p:txBody>
          <a:bodyPr/>
          <a:lstStyle/>
          <a:p>
            <a:pPr marL="609600" indent="-609600"/>
            <a:r>
              <a:rPr lang="en-US" altLang="en-US" smtClean="0"/>
              <a:t>The person’s wealth at the end of one period</a:t>
            </a:r>
          </a:p>
          <a:p>
            <a:pPr marL="609600" indent="-609600" algn="ctr">
              <a:lnSpc>
                <a:spcPct val="140000"/>
              </a:lnSpc>
              <a:buFontTx/>
              <a:buNone/>
            </a:pPr>
            <a:r>
              <a:rPr lang="en-US" altLang="en-US" sz="2800" i="1" smtClean="0">
                <a:solidFill>
                  <a:srgbClr val="FF0000"/>
                </a:solidFill>
              </a:rPr>
              <a:t>W = </a:t>
            </a:r>
            <a:r>
              <a:rPr lang="en-US" altLang="en-US" sz="2800" smtClean="0">
                <a:solidFill>
                  <a:srgbClr val="FF0000"/>
                </a:solidFill>
              </a:rPr>
              <a:t>(</a:t>
            </a:r>
            <a:r>
              <a:rPr lang="en-US" altLang="en-US" sz="2800" i="1" smtClean="0">
                <a:solidFill>
                  <a:srgbClr val="FF0000"/>
                </a:solidFill>
              </a:rPr>
              <a:t>W</a:t>
            </a:r>
            <a:r>
              <a:rPr lang="en-US" altLang="en-US" sz="2800" baseline="-25000" smtClean="0">
                <a:solidFill>
                  <a:srgbClr val="FF0000"/>
                </a:solidFill>
              </a:rPr>
              <a:t>0</a:t>
            </a:r>
            <a:r>
              <a:rPr lang="en-US" altLang="en-US" sz="2800" smtClean="0">
                <a:solidFill>
                  <a:srgbClr val="FF0000"/>
                </a:solidFill>
              </a:rPr>
              <a:t> – </a:t>
            </a:r>
            <a:r>
              <a:rPr lang="en-US" altLang="en-US" sz="2800" i="1" smtClean="0">
                <a:solidFill>
                  <a:srgbClr val="FF0000"/>
                </a:solidFill>
              </a:rPr>
              <a:t>k</a:t>
            </a:r>
            <a:r>
              <a:rPr lang="en-US" altLang="en-US" sz="2800" smtClean="0">
                <a:solidFill>
                  <a:srgbClr val="FF0000"/>
                </a:solidFill>
              </a:rPr>
              <a:t>)(1 + </a:t>
            </a:r>
            <a:r>
              <a:rPr lang="en-US" altLang="en-US" sz="2800" i="1" smtClean="0">
                <a:solidFill>
                  <a:srgbClr val="FF0000"/>
                </a:solidFill>
              </a:rPr>
              <a:t>r</a:t>
            </a:r>
            <a:r>
              <a:rPr lang="en-US" altLang="en-US" sz="2800" i="1" baseline="-25000" smtClean="0">
                <a:solidFill>
                  <a:srgbClr val="FF0000"/>
                </a:solidFill>
              </a:rPr>
              <a:t>f</a:t>
            </a:r>
            <a:r>
              <a:rPr lang="en-US" altLang="en-US" sz="2800" smtClean="0">
                <a:solidFill>
                  <a:srgbClr val="FF0000"/>
                </a:solidFill>
              </a:rPr>
              <a:t>) + </a:t>
            </a:r>
            <a:r>
              <a:rPr lang="en-US" altLang="en-US" sz="2800" i="1" smtClean="0">
                <a:solidFill>
                  <a:srgbClr val="FF0000"/>
                </a:solidFill>
              </a:rPr>
              <a:t>k</a:t>
            </a:r>
            <a:r>
              <a:rPr lang="en-US" altLang="en-US" sz="2800" smtClean="0">
                <a:solidFill>
                  <a:srgbClr val="FF0000"/>
                </a:solidFill>
              </a:rPr>
              <a:t>(1 + </a:t>
            </a:r>
            <a:r>
              <a:rPr lang="en-US" altLang="en-US" sz="2800" i="1" smtClean="0">
                <a:solidFill>
                  <a:srgbClr val="FF0000"/>
                </a:solidFill>
              </a:rPr>
              <a:t>r</a:t>
            </a:r>
            <a:r>
              <a:rPr lang="en-US" altLang="en-US" sz="2800" smtClean="0">
                <a:solidFill>
                  <a:srgbClr val="FF0000"/>
                </a:solidFill>
              </a:rPr>
              <a:t>)</a:t>
            </a:r>
          </a:p>
          <a:p>
            <a:pPr marL="609600" indent="-609600" algn="ctr">
              <a:lnSpc>
                <a:spcPct val="140000"/>
              </a:lnSpc>
              <a:buFontTx/>
              <a:buNone/>
            </a:pPr>
            <a:r>
              <a:rPr lang="en-US" altLang="en-US" sz="2800" i="1" smtClean="0">
                <a:solidFill>
                  <a:srgbClr val="FF0000"/>
                </a:solidFill>
              </a:rPr>
              <a:t>W = W</a:t>
            </a:r>
            <a:r>
              <a:rPr lang="en-US" altLang="en-US" sz="2800" baseline="-25000" smtClean="0">
                <a:solidFill>
                  <a:srgbClr val="FF0000"/>
                </a:solidFill>
              </a:rPr>
              <a:t>0</a:t>
            </a:r>
            <a:r>
              <a:rPr lang="en-US" altLang="en-US" sz="2800" smtClean="0">
                <a:solidFill>
                  <a:srgbClr val="FF0000"/>
                </a:solidFill>
              </a:rPr>
              <a:t>(1 + </a:t>
            </a:r>
            <a:r>
              <a:rPr lang="en-US" altLang="en-US" sz="2800" i="1" smtClean="0">
                <a:solidFill>
                  <a:srgbClr val="FF0000"/>
                </a:solidFill>
              </a:rPr>
              <a:t>r</a:t>
            </a:r>
            <a:r>
              <a:rPr lang="en-US" altLang="en-US" sz="2800" i="1" baseline="-25000" smtClean="0">
                <a:solidFill>
                  <a:srgbClr val="FF0000"/>
                </a:solidFill>
              </a:rPr>
              <a:t>f</a:t>
            </a:r>
            <a:r>
              <a:rPr lang="en-US" altLang="en-US" sz="2800" smtClean="0">
                <a:solidFill>
                  <a:srgbClr val="FF0000"/>
                </a:solidFill>
              </a:rPr>
              <a:t>) + </a:t>
            </a:r>
            <a:r>
              <a:rPr lang="en-US" altLang="en-US" sz="2800" i="1" smtClean="0">
                <a:solidFill>
                  <a:srgbClr val="FF0000"/>
                </a:solidFill>
              </a:rPr>
              <a:t>k</a:t>
            </a:r>
            <a:r>
              <a:rPr lang="en-US" altLang="en-US" sz="2800" smtClean="0">
                <a:solidFill>
                  <a:srgbClr val="FF0000"/>
                </a:solidFill>
              </a:rPr>
              <a:t>(</a:t>
            </a:r>
            <a:r>
              <a:rPr lang="en-US" altLang="en-US" sz="2800" i="1" smtClean="0">
                <a:solidFill>
                  <a:srgbClr val="FF0000"/>
                </a:solidFill>
              </a:rPr>
              <a:t>r – r</a:t>
            </a:r>
            <a:r>
              <a:rPr lang="en-US" altLang="en-US" sz="2800" i="1" baseline="-25000" smtClean="0">
                <a:solidFill>
                  <a:srgbClr val="FF0000"/>
                </a:solidFill>
              </a:rPr>
              <a:t>f</a:t>
            </a:r>
            <a:r>
              <a:rPr lang="en-US" altLang="en-US" sz="2800" smtClean="0">
                <a:solidFill>
                  <a:srgbClr val="FF0000"/>
                </a:solidFill>
              </a:rPr>
              <a:t>)</a:t>
            </a:r>
          </a:p>
          <a:p>
            <a:pPr marL="1009650" lvl="1" indent="-609600"/>
            <a:r>
              <a:rPr lang="en-US" altLang="en-US" sz="2800" i="1" smtClean="0"/>
              <a:t>W</a:t>
            </a:r>
            <a:r>
              <a:rPr lang="en-US" altLang="en-US" sz="2800" smtClean="0"/>
              <a:t> is now a random variable: it depends on </a:t>
            </a:r>
            <a:r>
              <a:rPr lang="en-US" altLang="en-US" sz="2800" i="1" smtClean="0"/>
              <a:t>r</a:t>
            </a:r>
            <a:endParaRPr lang="en-US" altLang="en-US" sz="2800" smtClean="0"/>
          </a:p>
          <a:p>
            <a:pPr marL="1009650" lvl="1" indent="-609600"/>
            <a:r>
              <a:rPr lang="en-US" altLang="en-US" sz="2800" i="1" smtClean="0"/>
              <a:t>k</a:t>
            </a:r>
            <a:r>
              <a:rPr lang="en-US" altLang="en-US" sz="2800" smtClean="0"/>
              <a:t> can be positive or negative: can buy or sell short</a:t>
            </a:r>
          </a:p>
          <a:p>
            <a:pPr marL="1009650" lvl="1" indent="-609600"/>
            <a:r>
              <a:rPr lang="en-US" altLang="en-US" sz="2800" i="1" smtClean="0"/>
              <a:t>k</a:t>
            </a:r>
            <a:r>
              <a:rPr lang="en-US" altLang="en-US" sz="2800" smtClean="0"/>
              <a:t> can be greater than </a:t>
            </a:r>
            <a:r>
              <a:rPr lang="en-US" altLang="en-US" sz="2800" i="1" smtClean="0"/>
              <a:t>W</a:t>
            </a:r>
            <a:r>
              <a:rPr lang="en-US" altLang="en-US" sz="2800" baseline="-25000" smtClean="0"/>
              <a:t>0</a:t>
            </a:r>
            <a:r>
              <a:rPr lang="en-US" altLang="en-US" sz="2800" smtClean="0"/>
              <a:t>: the investor could borrow at the risk-free rate</a:t>
            </a:r>
          </a:p>
        </p:txBody>
      </p:sp>
    </p:spTree>
    <p:extLst>
      <p:ext uri="{BB962C8B-B14F-4D97-AF65-F5344CB8AC3E}">
        <p14:creationId xmlns:p14="http://schemas.microsoft.com/office/powerpoint/2010/main" val="96805600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en-US" smtClean="0"/>
              <a:t>The Portfolio Problem</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A2315D84-340D-4504-836A-30FDF03366C4}" type="slidenum">
              <a:rPr lang="en-US" smtClean="0"/>
              <a:pPr>
                <a:defRPr/>
              </a:pPr>
              <a:t>81</a:t>
            </a:fld>
            <a:endParaRPr lang="en-US"/>
          </a:p>
        </p:txBody>
      </p:sp>
      <p:sp>
        <p:nvSpPr>
          <p:cNvPr id="21508" name="Rectangle 3"/>
          <p:cNvSpPr>
            <a:spLocks noGrp="1" noChangeArrowheads="1"/>
          </p:cNvSpPr>
          <p:nvPr>
            <p:ph type="body" sz="quarter" idx="12"/>
          </p:nvPr>
        </p:nvSpPr>
        <p:spPr/>
        <p:txBody>
          <a:bodyPr/>
          <a:lstStyle/>
          <a:p>
            <a:pPr marL="609600" indent="-609600"/>
            <a:r>
              <a:rPr lang="en-US" altLang="en-US" i="1" smtClean="0"/>
              <a:t>U</a:t>
            </a:r>
            <a:r>
              <a:rPr lang="en-US" altLang="en-US" smtClean="0"/>
              <a:t>(</a:t>
            </a:r>
            <a:r>
              <a:rPr lang="en-US" altLang="en-US" i="1" smtClean="0"/>
              <a:t>W</a:t>
            </a:r>
            <a:r>
              <a:rPr lang="en-US" altLang="en-US" smtClean="0"/>
              <a:t>) - the investor’s utility function</a:t>
            </a:r>
          </a:p>
          <a:p>
            <a:pPr marL="1009650" lvl="1" indent="-609600"/>
            <a:r>
              <a:rPr lang="en-US" altLang="en-US" smtClean="0"/>
              <a:t>The von Neumann-Morgenstern theorem: he will choose </a:t>
            </a:r>
            <a:r>
              <a:rPr lang="en-US" altLang="en-US" i="1" smtClean="0"/>
              <a:t>k</a:t>
            </a:r>
            <a:r>
              <a:rPr lang="en-US" altLang="en-US" smtClean="0"/>
              <a:t> to maximize </a:t>
            </a:r>
            <a:r>
              <a:rPr lang="en-US" altLang="en-US" i="1" smtClean="0"/>
              <a:t>E</a:t>
            </a:r>
            <a:r>
              <a:rPr lang="en-US" altLang="en-US" smtClean="0"/>
              <a:t>[</a:t>
            </a:r>
            <a:r>
              <a:rPr lang="en-US" altLang="en-US" i="1" smtClean="0"/>
              <a:t>U</a:t>
            </a:r>
            <a:r>
              <a:rPr lang="en-US" altLang="en-US" smtClean="0"/>
              <a:t>(</a:t>
            </a:r>
            <a:r>
              <a:rPr lang="en-US" altLang="en-US" i="1" smtClean="0"/>
              <a:t>W</a:t>
            </a:r>
            <a:r>
              <a:rPr lang="en-US" altLang="en-US" smtClean="0"/>
              <a:t>)]</a:t>
            </a:r>
          </a:p>
          <a:p>
            <a:pPr marL="609600" indent="-609600"/>
            <a:r>
              <a:rPr lang="en-US" altLang="en-US" smtClean="0"/>
              <a:t>The first-order condition:</a:t>
            </a:r>
          </a:p>
        </p:txBody>
      </p:sp>
      <p:graphicFrame>
        <p:nvGraphicFramePr>
          <p:cNvPr id="465924" name="Object 2"/>
          <p:cNvGraphicFramePr>
            <a:graphicFrameLocks noChangeAspect="1"/>
          </p:cNvGraphicFramePr>
          <p:nvPr/>
        </p:nvGraphicFramePr>
        <p:xfrm>
          <a:off x="649288" y="3643313"/>
          <a:ext cx="7651750" cy="2170112"/>
        </p:xfrm>
        <a:graphic>
          <a:graphicData uri="http://schemas.openxmlformats.org/presentationml/2006/ole">
            <mc:AlternateContent xmlns:mc="http://schemas.openxmlformats.org/markup-compatibility/2006">
              <mc:Choice xmlns:v="urn:schemas-microsoft-com:vml" Requires="v">
                <p:oleObj spid="_x0000_s160779" name="Equation" r:id="rId3" imgW="2958840" imgH="838080" progId="Equation.DSMT4">
                  <p:embed/>
                </p:oleObj>
              </mc:Choice>
              <mc:Fallback>
                <p:oleObj name="Equation" r:id="rId3" imgW="2958840" imgH="838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288" y="3643313"/>
                        <a:ext cx="7651750" cy="217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16754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5924"/>
                                        </p:tgtEl>
                                        <p:attrNameLst>
                                          <p:attrName>style.visibility</p:attrName>
                                        </p:attrNameLst>
                                      </p:cBhvr>
                                      <p:to>
                                        <p:strVal val="visible"/>
                                      </p:to>
                                    </p:set>
                                    <p:animEffect transition="in" filter="wipe(left)">
                                      <p:cBhvr>
                                        <p:cTn id="7" dur="500"/>
                                        <p:tgtEl>
                                          <p:spTgt spid="465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en-US" smtClean="0"/>
              <a:t>The Portfolio Problem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13986A2-255C-4198-8C06-8B7B23BEAD0A}" type="slidenum">
              <a:rPr lang="en-US" smtClean="0"/>
              <a:pPr>
                <a:defRPr/>
              </a:pPr>
              <a:t>82</a:t>
            </a:fld>
            <a:endParaRPr lang="en-US"/>
          </a:p>
        </p:txBody>
      </p:sp>
      <p:sp>
        <p:nvSpPr>
          <p:cNvPr id="73731" name="Rectangle 3"/>
          <p:cNvSpPr>
            <a:spLocks noGrp="1" noChangeArrowheads="1"/>
          </p:cNvSpPr>
          <p:nvPr>
            <p:ph type="body" sz="quarter" idx="12"/>
          </p:nvPr>
        </p:nvSpPr>
        <p:spPr/>
        <p:txBody>
          <a:bodyPr/>
          <a:lstStyle/>
          <a:p>
            <a:pPr marL="609600" indent="-609600">
              <a:defRPr/>
            </a:pPr>
            <a:r>
              <a:rPr lang="en-US" dirty="0" smtClean="0"/>
              <a:t>As long as </a:t>
            </a:r>
            <a:r>
              <a:rPr lang="en-US" i="1" dirty="0" smtClean="0"/>
              <a:t>E</a:t>
            </a:r>
            <a:r>
              <a:rPr lang="en-US" dirty="0" smtClean="0"/>
              <a:t>(</a:t>
            </a:r>
            <a:r>
              <a:rPr lang="en-US" i="1" dirty="0" smtClean="0"/>
              <a:t>r – </a:t>
            </a:r>
            <a:r>
              <a:rPr lang="en-US" i="1" dirty="0" err="1" smtClean="0"/>
              <a:t>r</a:t>
            </a:r>
            <a:r>
              <a:rPr lang="en-US" i="1" baseline="-25000" dirty="0" err="1" smtClean="0"/>
              <a:t>f</a:t>
            </a:r>
            <a:r>
              <a:rPr lang="en-US" dirty="0" smtClean="0"/>
              <a:t>) &gt; 0</a:t>
            </a:r>
          </a:p>
          <a:p>
            <a:pPr marL="1009650" lvl="1" indent="-609600">
              <a:defRPr/>
            </a:pPr>
            <a:r>
              <a:rPr lang="en-US" dirty="0" smtClean="0"/>
              <a:t>An investor will choose positive amounts of the risky asset</a:t>
            </a:r>
          </a:p>
          <a:p>
            <a:pPr marL="609600" indent="-609600">
              <a:defRPr/>
            </a:pPr>
            <a:r>
              <a:rPr lang="en-US" dirty="0" smtClean="0"/>
              <a:t>As risk aversion increases</a:t>
            </a:r>
          </a:p>
          <a:p>
            <a:pPr marL="1009650" lvl="1" indent="-609600">
              <a:defRPr/>
            </a:pPr>
            <a:r>
              <a:rPr lang="en-US" dirty="0" smtClean="0"/>
              <a:t>The amount of the risky asset held will fall</a:t>
            </a:r>
          </a:p>
          <a:p>
            <a:pPr marL="990600" lvl="1" indent="-533400">
              <a:defRPr/>
            </a:pPr>
            <a:r>
              <a:rPr lang="en-US" dirty="0" smtClean="0"/>
              <a:t>The shape of the </a:t>
            </a:r>
            <a:r>
              <a:rPr lang="en-US" i="1" dirty="0" smtClean="0"/>
              <a:t>U’</a:t>
            </a:r>
            <a:r>
              <a:rPr lang="en-US" dirty="0" smtClean="0"/>
              <a:t> function will change</a:t>
            </a:r>
          </a:p>
        </p:txBody>
      </p:sp>
    </p:spTree>
    <p:extLst>
      <p:ext uri="{BB962C8B-B14F-4D97-AF65-F5344CB8AC3E}">
        <p14:creationId xmlns:p14="http://schemas.microsoft.com/office/powerpoint/2010/main" val="358926685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smtClean="0"/>
              <a:t>CARA utility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A6BF9CA-EC81-4AB5-99C9-B3820265D435}" type="slidenum">
              <a:rPr lang="en-US" smtClean="0"/>
              <a:pPr>
                <a:defRPr/>
              </a:pPr>
              <a:t>83</a:t>
            </a:fld>
            <a:endParaRPr lang="en-US"/>
          </a:p>
        </p:txBody>
      </p:sp>
      <mc:AlternateContent xmlns:mc="http://schemas.openxmlformats.org/markup-compatibility/2006" xmlns:a14="http://schemas.microsoft.com/office/drawing/2010/main">
        <mc:Choice Requires="a14">
          <p:sp>
            <p:nvSpPr>
              <p:cNvPr id="97283" name="Content Placeholder 2"/>
              <p:cNvSpPr>
                <a:spLocks noGrp="1"/>
              </p:cNvSpPr>
              <p:nvPr>
                <p:ph type="body" sz="quarter" idx="12"/>
              </p:nvPr>
            </p:nvSpPr>
            <p:spPr/>
            <p:txBody>
              <a:bodyPr/>
              <a:lstStyle/>
              <a:p>
                <a:r>
                  <a:rPr lang="en-US" altLang="en-US" dirty="0" smtClean="0"/>
                  <a:t>The investor’s utility function - the CARA form: </a:t>
                </a:r>
                <a:r>
                  <a:rPr lang="en-US" altLang="en-US" sz="3200" i="1" dirty="0" smtClean="0">
                    <a:solidFill>
                      <a:srgbClr val="FF0000"/>
                    </a:solidFill>
                  </a:rPr>
                  <a:t>U(W) = – </a:t>
                </a:r>
                <a14:m>
                  <m:oMath xmlns:m="http://schemas.openxmlformats.org/officeDocument/2006/math">
                    <m:sSup>
                      <m:sSupPr>
                        <m:ctrlPr>
                          <a:rPr lang="en-US" altLang="en-US" sz="3200" i="1" smtClean="0">
                            <a:solidFill>
                              <a:srgbClr val="FF0000"/>
                            </a:solidFill>
                            <a:latin typeface="Cambria Math"/>
                          </a:rPr>
                        </m:ctrlPr>
                      </m:sSupPr>
                      <m:e>
                        <m:r>
                          <a:rPr lang="en-US" altLang="en-US" sz="3200" i="1" smtClean="0">
                            <a:solidFill>
                              <a:srgbClr val="FF0000"/>
                            </a:solidFill>
                            <a:latin typeface="Cambria Math"/>
                          </a:rPr>
                          <m:t>𝑒</m:t>
                        </m:r>
                      </m:e>
                      <m:sup>
                        <m:r>
                          <a:rPr lang="en-US" altLang="en-US" sz="3200" i="1" smtClean="0">
                            <a:solidFill>
                              <a:srgbClr val="FF0000"/>
                            </a:solidFill>
                            <a:latin typeface="Cambria Math"/>
                          </a:rPr>
                          <m:t>−</m:t>
                        </m:r>
                        <m:r>
                          <a:rPr lang="en-US" altLang="en-US" sz="3200" b="0" i="1" smtClean="0">
                            <a:solidFill>
                              <a:srgbClr val="FF0000"/>
                            </a:solidFill>
                            <a:latin typeface="Cambria Math"/>
                          </a:rPr>
                          <m:t>𝐴𝑊</m:t>
                        </m:r>
                      </m:sup>
                    </m:sSup>
                  </m:oMath>
                </a14:m>
                <a:endParaRPr lang="en-US" altLang="en-US" sz="3200" i="1" dirty="0" smtClean="0">
                  <a:solidFill>
                    <a:srgbClr val="FF0000"/>
                  </a:solidFill>
                </a:endParaRPr>
              </a:p>
              <a:p>
                <a:pPr lvl="1"/>
                <a:r>
                  <a:rPr lang="en-US" altLang="en-US" dirty="0" smtClean="0"/>
                  <a:t>Marginal utility function: </a:t>
                </a:r>
                <a:r>
                  <a:rPr lang="en-US" altLang="en-US" sz="2800" dirty="0" smtClean="0">
                    <a:solidFill>
                      <a:srgbClr val="FF0000"/>
                    </a:solidFill>
                  </a:rPr>
                  <a:t>U’(W) = A </a:t>
                </a:r>
                <a:r>
                  <a:rPr lang="en-US" altLang="en-US" sz="2800" dirty="0" err="1" smtClean="0">
                    <a:solidFill>
                      <a:srgbClr val="FF0000"/>
                    </a:solidFill>
                  </a:rPr>
                  <a:t>exp</a:t>
                </a:r>
                <a:r>
                  <a:rPr lang="en-US" altLang="en-US" sz="2800" dirty="0" smtClean="0">
                    <a:solidFill>
                      <a:srgbClr val="FF0000"/>
                    </a:solidFill>
                  </a:rPr>
                  <a:t>(</a:t>
                </a:r>
                <a:r>
                  <a:rPr lang="en-US" altLang="en-US" sz="2800" i="1" dirty="0" smtClean="0">
                    <a:solidFill>
                      <a:srgbClr val="FF0000"/>
                    </a:solidFill>
                  </a:rPr>
                  <a:t>–</a:t>
                </a:r>
                <a:r>
                  <a:rPr lang="en-US" altLang="en-US" sz="2800" dirty="0" smtClean="0">
                    <a:solidFill>
                      <a:srgbClr val="FF0000"/>
                    </a:solidFill>
                  </a:rPr>
                  <a:t>AW)</a:t>
                </a:r>
              </a:p>
              <a:p>
                <a:pPr lvl="1"/>
                <a:r>
                  <a:rPr lang="en-US" altLang="en-US" dirty="0" smtClean="0"/>
                  <a:t>End-of-period wealth:</a:t>
                </a:r>
              </a:p>
              <a:p>
                <a:pPr lvl="1" algn="ctr">
                  <a:buFont typeface="Arial" charset="0"/>
                  <a:buNone/>
                </a:pPr>
                <a:r>
                  <a:rPr lang="en-US" altLang="en-US" sz="2800" i="1" dirty="0" smtClean="0">
                    <a:solidFill>
                      <a:srgbClr val="FF0000"/>
                    </a:solidFill>
                  </a:rPr>
                  <a:t>U’(W) = A </a:t>
                </a:r>
                <a:r>
                  <a:rPr lang="en-US" altLang="en-US" sz="2800" i="1" dirty="0" err="1" smtClean="0">
                    <a:solidFill>
                      <a:srgbClr val="FF0000"/>
                    </a:solidFill>
                  </a:rPr>
                  <a:t>exp</a:t>
                </a:r>
                <a:r>
                  <a:rPr lang="en-US" altLang="en-US" sz="2800" i="1" dirty="0" smtClean="0">
                    <a:solidFill>
                      <a:srgbClr val="FF0000"/>
                    </a:solidFill>
                  </a:rPr>
                  <a:t>[– A(W</a:t>
                </a:r>
                <a:r>
                  <a:rPr lang="en-US" altLang="en-US" sz="2800" i="1" baseline="-25000" dirty="0" smtClean="0">
                    <a:solidFill>
                      <a:srgbClr val="FF0000"/>
                    </a:solidFill>
                  </a:rPr>
                  <a:t>0</a:t>
                </a:r>
                <a:r>
                  <a:rPr lang="en-US" altLang="en-US" sz="2800" i="1" dirty="0" smtClean="0">
                    <a:solidFill>
                      <a:srgbClr val="FF0000"/>
                    </a:solidFill>
                  </a:rPr>
                  <a:t>(1+r</a:t>
                </a:r>
                <a:r>
                  <a:rPr lang="en-US" altLang="en-US" sz="2800" i="1" baseline="-25000" dirty="0" smtClean="0">
                    <a:solidFill>
                      <a:srgbClr val="FF0000"/>
                    </a:solidFill>
                  </a:rPr>
                  <a:t>f</a:t>
                </a:r>
                <a:r>
                  <a:rPr lang="en-US" altLang="en-US" sz="2800" i="1" dirty="0" smtClean="0">
                    <a:solidFill>
                      <a:srgbClr val="FF0000"/>
                    </a:solidFill>
                  </a:rPr>
                  <a:t>) + k(r – </a:t>
                </a:r>
                <a:r>
                  <a:rPr lang="en-US" altLang="en-US" sz="2800" i="1" dirty="0" err="1" smtClean="0">
                    <a:solidFill>
                      <a:srgbClr val="FF0000"/>
                    </a:solidFill>
                  </a:rPr>
                  <a:t>r</a:t>
                </a:r>
                <a:r>
                  <a:rPr lang="en-US" altLang="en-US" sz="2800" i="1" baseline="-25000" dirty="0" err="1" smtClean="0">
                    <a:solidFill>
                      <a:srgbClr val="FF0000"/>
                    </a:solidFill>
                  </a:rPr>
                  <a:t>f</a:t>
                </a:r>
                <a:r>
                  <a:rPr lang="en-US" altLang="en-US" sz="2800" i="1" dirty="0" smtClean="0">
                    <a:solidFill>
                      <a:srgbClr val="FF0000"/>
                    </a:solidFill>
                  </a:rPr>
                  <a:t>))] =</a:t>
                </a:r>
              </a:p>
              <a:p>
                <a:pPr lvl="1" algn="ctr">
                  <a:buFont typeface="Arial" charset="0"/>
                  <a:buNone/>
                </a:pPr>
                <a:r>
                  <a:rPr lang="en-US" altLang="en-US" sz="2800" i="1" dirty="0" smtClean="0">
                    <a:solidFill>
                      <a:srgbClr val="FF0000"/>
                    </a:solidFill>
                  </a:rPr>
                  <a:t>= A </a:t>
                </a:r>
                <a:r>
                  <a:rPr lang="en-US" altLang="en-US" sz="2800" i="1" dirty="0" err="1" smtClean="0">
                    <a:solidFill>
                      <a:srgbClr val="FF0000"/>
                    </a:solidFill>
                  </a:rPr>
                  <a:t>exp</a:t>
                </a:r>
                <a:r>
                  <a:rPr lang="en-US" altLang="en-US" sz="2800" i="1" dirty="0" smtClean="0">
                    <a:solidFill>
                      <a:srgbClr val="FF0000"/>
                    </a:solidFill>
                  </a:rPr>
                  <a:t>[–A(W</a:t>
                </a:r>
                <a:r>
                  <a:rPr lang="en-US" altLang="en-US" sz="2800" i="1" baseline="-25000" dirty="0" smtClean="0">
                    <a:solidFill>
                      <a:srgbClr val="FF0000"/>
                    </a:solidFill>
                  </a:rPr>
                  <a:t>0</a:t>
                </a:r>
                <a:r>
                  <a:rPr lang="en-US" altLang="en-US" sz="2800" i="1" dirty="0" smtClean="0">
                    <a:solidFill>
                      <a:srgbClr val="FF0000"/>
                    </a:solidFill>
                  </a:rPr>
                  <a:t>(1+r</a:t>
                </a:r>
                <a:r>
                  <a:rPr lang="en-US" altLang="en-US" sz="2800" i="1" baseline="-25000" dirty="0" smtClean="0">
                    <a:solidFill>
                      <a:srgbClr val="FF0000"/>
                    </a:solidFill>
                  </a:rPr>
                  <a:t>f</a:t>
                </a:r>
                <a:r>
                  <a:rPr lang="en-US" altLang="en-US" sz="2800" i="1" dirty="0" smtClean="0">
                    <a:solidFill>
                      <a:srgbClr val="FF0000"/>
                    </a:solidFill>
                  </a:rPr>
                  <a:t>)] </a:t>
                </a:r>
                <a:r>
                  <a:rPr lang="en-US" altLang="en-US" sz="2800" i="1" dirty="0" err="1" smtClean="0">
                    <a:solidFill>
                      <a:srgbClr val="FF0000"/>
                    </a:solidFill>
                  </a:rPr>
                  <a:t>exp</a:t>
                </a:r>
                <a:r>
                  <a:rPr lang="en-US" altLang="en-US" sz="2800" i="1" dirty="0" smtClean="0">
                    <a:solidFill>
                      <a:srgbClr val="FF0000"/>
                    </a:solidFill>
                  </a:rPr>
                  <a:t>[–</a:t>
                </a:r>
                <a:r>
                  <a:rPr lang="en-US" altLang="en-US" sz="2800" i="1" dirty="0" err="1" smtClean="0">
                    <a:solidFill>
                      <a:srgbClr val="FF0000"/>
                    </a:solidFill>
                  </a:rPr>
                  <a:t>Ak</a:t>
                </a:r>
                <a:r>
                  <a:rPr lang="en-US" altLang="en-US" sz="2800" i="1" dirty="0" smtClean="0">
                    <a:solidFill>
                      <a:srgbClr val="FF0000"/>
                    </a:solidFill>
                  </a:rPr>
                  <a:t>(r – </a:t>
                </a:r>
                <a:r>
                  <a:rPr lang="en-US" altLang="en-US" sz="2800" i="1" dirty="0" err="1" smtClean="0">
                    <a:solidFill>
                      <a:srgbClr val="FF0000"/>
                    </a:solidFill>
                  </a:rPr>
                  <a:t>r</a:t>
                </a:r>
                <a:r>
                  <a:rPr lang="en-US" altLang="en-US" sz="2800" i="1" baseline="-25000" dirty="0" err="1" smtClean="0">
                    <a:solidFill>
                      <a:srgbClr val="FF0000"/>
                    </a:solidFill>
                  </a:rPr>
                  <a:t>f</a:t>
                </a:r>
                <a:r>
                  <a:rPr lang="en-US" altLang="en-US" sz="2800" i="1" dirty="0" smtClean="0">
                    <a:solidFill>
                      <a:srgbClr val="FF0000"/>
                    </a:solidFill>
                  </a:rPr>
                  <a:t>)] </a:t>
                </a:r>
              </a:p>
              <a:p>
                <a:pPr lvl="1"/>
                <a:r>
                  <a:rPr lang="en-US" altLang="en-US" dirty="0" smtClean="0"/>
                  <a:t>Optimality condition: </a:t>
                </a:r>
              </a:p>
              <a:p>
                <a:pPr lvl="1" algn="ctr">
                  <a:buFont typeface="Arial" charset="0"/>
                  <a:buNone/>
                </a:pPr>
                <a:r>
                  <a:rPr lang="en-US" altLang="en-US" sz="3000" i="1" dirty="0" smtClean="0">
                    <a:solidFill>
                      <a:srgbClr val="FF0000"/>
                    </a:solidFill>
                  </a:rPr>
                  <a:t>E[U’·(r</a:t>
                </a:r>
                <a:r>
                  <a:rPr lang="en-US" altLang="en-US" sz="2800" i="1" dirty="0" smtClean="0">
                    <a:solidFill>
                      <a:srgbClr val="FF0000"/>
                    </a:solidFill>
                  </a:rPr>
                  <a:t> – </a:t>
                </a:r>
                <a:r>
                  <a:rPr lang="en-US" altLang="en-US" sz="3000" i="1" dirty="0" err="1" smtClean="0">
                    <a:solidFill>
                      <a:srgbClr val="FF0000"/>
                    </a:solidFill>
                  </a:rPr>
                  <a:t>r</a:t>
                </a:r>
                <a:r>
                  <a:rPr lang="en-US" altLang="en-US" sz="3000" i="1" baseline="-25000" dirty="0" err="1" smtClean="0">
                    <a:solidFill>
                      <a:srgbClr val="FF0000"/>
                    </a:solidFill>
                  </a:rPr>
                  <a:t>f</a:t>
                </a:r>
                <a:r>
                  <a:rPr lang="en-US" altLang="en-US" sz="3000" i="1" dirty="0" smtClean="0">
                    <a:solidFill>
                      <a:srgbClr val="FF0000"/>
                    </a:solidFill>
                  </a:rPr>
                  <a:t>)] = A </a:t>
                </a:r>
                <a:r>
                  <a:rPr lang="en-US" altLang="en-US" sz="3000" i="1" dirty="0" err="1" smtClean="0">
                    <a:solidFill>
                      <a:srgbClr val="FF0000"/>
                    </a:solidFill>
                  </a:rPr>
                  <a:t>exp</a:t>
                </a:r>
                <a:r>
                  <a:rPr lang="en-US" altLang="en-US" sz="3000" i="1" dirty="0" smtClean="0">
                    <a:solidFill>
                      <a:srgbClr val="FF0000"/>
                    </a:solidFill>
                  </a:rPr>
                  <a:t>[</a:t>
                </a:r>
                <a:r>
                  <a:rPr lang="en-US" altLang="en-US" sz="2800" i="1" dirty="0" smtClean="0">
                    <a:solidFill>
                      <a:srgbClr val="FF0000"/>
                    </a:solidFill>
                  </a:rPr>
                  <a:t>– </a:t>
                </a:r>
                <a:r>
                  <a:rPr lang="en-US" altLang="en-US" sz="3000" i="1" dirty="0" smtClean="0">
                    <a:solidFill>
                      <a:srgbClr val="FF0000"/>
                    </a:solidFill>
                  </a:rPr>
                  <a:t>AW</a:t>
                </a:r>
                <a:r>
                  <a:rPr lang="en-US" altLang="en-US" sz="3000" i="1" baseline="-25000" dirty="0" smtClean="0">
                    <a:solidFill>
                      <a:srgbClr val="FF0000"/>
                    </a:solidFill>
                  </a:rPr>
                  <a:t>0</a:t>
                </a:r>
                <a:r>
                  <a:rPr lang="en-US" altLang="en-US" sz="3000" i="1" dirty="0" smtClean="0">
                    <a:solidFill>
                      <a:srgbClr val="FF0000"/>
                    </a:solidFill>
                  </a:rPr>
                  <a:t>(1+r</a:t>
                </a:r>
                <a:r>
                  <a:rPr lang="en-US" altLang="en-US" sz="3000" i="1" baseline="-25000" dirty="0" smtClean="0">
                    <a:solidFill>
                      <a:srgbClr val="FF0000"/>
                    </a:solidFill>
                  </a:rPr>
                  <a:t>f</a:t>
                </a:r>
                <a:r>
                  <a:rPr lang="en-US" altLang="en-US" sz="3000" i="1" dirty="0" smtClean="0">
                    <a:solidFill>
                      <a:srgbClr val="FF0000"/>
                    </a:solidFill>
                  </a:rPr>
                  <a:t>)] </a:t>
                </a:r>
              </a:p>
              <a:p>
                <a:pPr lvl="1" algn="ctr">
                  <a:buFont typeface="Arial" charset="0"/>
                  <a:buNone/>
                </a:pPr>
                <a:r>
                  <a:rPr lang="en-US" altLang="en-US" sz="3000" i="1" dirty="0" smtClean="0">
                    <a:solidFill>
                      <a:srgbClr val="FF0000"/>
                    </a:solidFill>
                  </a:rPr>
                  <a:t>E[</a:t>
                </a:r>
                <a:r>
                  <a:rPr lang="en-US" altLang="en-US" sz="3000" i="1" dirty="0" err="1" smtClean="0">
                    <a:solidFill>
                      <a:srgbClr val="FF0000"/>
                    </a:solidFill>
                  </a:rPr>
                  <a:t>exp</a:t>
                </a:r>
                <a:r>
                  <a:rPr lang="en-US" altLang="en-US" sz="3000" i="1" dirty="0" smtClean="0">
                    <a:solidFill>
                      <a:srgbClr val="FF0000"/>
                    </a:solidFill>
                  </a:rPr>
                  <a:t>(</a:t>
                </a:r>
                <a:r>
                  <a:rPr lang="en-US" altLang="en-US" sz="2800" i="1" dirty="0" smtClean="0">
                    <a:solidFill>
                      <a:srgbClr val="FF0000"/>
                    </a:solidFill>
                  </a:rPr>
                  <a:t>– </a:t>
                </a:r>
                <a:r>
                  <a:rPr lang="en-US" altLang="en-US" sz="3000" i="1" dirty="0" err="1" smtClean="0">
                    <a:solidFill>
                      <a:srgbClr val="FF0000"/>
                    </a:solidFill>
                  </a:rPr>
                  <a:t>Ak</a:t>
                </a:r>
                <a:r>
                  <a:rPr lang="en-US" altLang="en-US" sz="3000" i="1" dirty="0" smtClean="0">
                    <a:solidFill>
                      <a:srgbClr val="FF0000"/>
                    </a:solidFill>
                  </a:rPr>
                  <a:t>(r</a:t>
                </a:r>
                <a:r>
                  <a:rPr lang="en-US" altLang="en-US" sz="2800" i="1" dirty="0" smtClean="0">
                    <a:solidFill>
                      <a:srgbClr val="FF0000"/>
                    </a:solidFill>
                  </a:rPr>
                  <a:t> – </a:t>
                </a:r>
                <a:r>
                  <a:rPr lang="en-US" altLang="en-US" sz="3000" i="1" dirty="0" err="1" smtClean="0">
                    <a:solidFill>
                      <a:srgbClr val="FF0000"/>
                    </a:solidFill>
                  </a:rPr>
                  <a:t>r</a:t>
                </a:r>
                <a:r>
                  <a:rPr lang="en-US" altLang="en-US" sz="3000" i="1" baseline="-25000" dirty="0" err="1" smtClean="0">
                    <a:solidFill>
                      <a:srgbClr val="FF0000"/>
                    </a:solidFill>
                  </a:rPr>
                  <a:t>f</a:t>
                </a:r>
                <a:r>
                  <a:rPr lang="en-US" altLang="en-US" sz="3000" i="1" dirty="0" smtClean="0">
                    <a:solidFill>
                      <a:srgbClr val="FF0000"/>
                    </a:solidFill>
                  </a:rPr>
                  <a:t>))·(r</a:t>
                </a:r>
                <a:r>
                  <a:rPr lang="en-US" altLang="en-US" sz="2800" i="1" dirty="0" smtClean="0">
                    <a:solidFill>
                      <a:srgbClr val="FF0000"/>
                    </a:solidFill>
                  </a:rPr>
                  <a:t> – </a:t>
                </a:r>
                <a:r>
                  <a:rPr lang="en-US" altLang="en-US" sz="3000" i="1" dirty="0" err="1" smtClean="0">
                    <a:solidFill>
                      <a:srgbClr val="FF0000"/>
                    </a:solidFill>
                  </a:rPr>
                  <a:t>r</a:t>
                </a:r>
                <a:r>
                  <a:rPr lang="en-US" altLang="en-US" sz="3000" i="1" baseline="-25000" dirty="0" err="1" smtClean="0">
                    <a:solidFill>
                      <a:srgbClr val="FF0000"/>
                    </a:solidFill>
                  </a:rPr>
                  <a:t>f</a:t>
                </a:r>
                <a:r>
                  <a:rPr lang="en-US" altLang="en-US" sz="3000" i="1" dirty="0" smtClean="0">
                    <a:solidFill>
                      <a:srgbClr val="FF0000"/>
                    </a:solidFill>
                  </a:rPr>
                  <a:t>)]=0</a:t>
                </a:r>
              </a:p>
              <a:p>
                <a:pPr lvl="1"/>
                <a:endParaRPr lang="en-US" altLang="en-US" dirty="0" smtClean="0"/>
              </a:p>
            </p:txBody>
          </p:sp>
        </mc:Choice>
        <mc:Fallback xmlns="">
          <p:sp>
            <p:nvSpPr>
              <p:cNvPr id="97283" name="Content Placeholder 2"/>
              <p:cNvSpPr>
                <a:spLocks noGrp="1" noRot="1" noChangeAspect="1" noMove="1" noResize="1" noEditPoints="1" noAdjustHandles="1" noChangeArrowheads="1" noChangeShapeType="1" noTextEdit="1"/>
              </p:cNvSpPr>
              <p:nvPr>
                <p:ph type="body" sz="quarter" idx="12"/>
              </p:nvPr>
            </p:nvSpPr>
            <p:spPr>
              <a:blipFill rotWithShape="1">
                <a:blip r:embed="rId2"/>
                <a:stretch>
                  <a:fillRect l="-1673" t="-1351" r="-582"/>
                </a:stretch>
              </a:blipFill>
            </p:spPr>
            <p:txBody>
              <a:bodyPr/>
              <a:lstStyle/>
              <a:p>
                <a:r>
                  <a:rPr lang="en-US">
                    <a:noFill/>
                  </a:rPr>
                  <a:t> </a:t>
                </a:r>
              </a:p>
            </p:txBody>
          </p:sp>
        </mc:Fallback>
      </mc:AlternateContent>
    </p:spTree>
    <p:extLst>
      <p:ext uri="{BB962C8B-B14F-4D97-AF65-F5344CB8AC3E}">
        <p14:creationId xmlns:p14="http://schemas.microsoft.com/office/powerpoint/2010/main" val="1204629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lstStyle/>
          <a:p>
            <a:r>
              <a:rPr lang="en-US" altLang="en-US" smtClean="0"/>
              <a:t>CARA utility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82FABFF-C265-4649-9C16-15C87DE25806}" type="slidenum">
              <a:rPr lang="en-US" smtClean="0"/>
              <a:pPr>
                <a:defRPr/>
              </a:pPr>
              <a:t>84</a:t>
            </a:fld>
            <a:endParaRPr lang="en-US"/>
          </a:p>
        </p:txBody>
      </p:sp>
      <p:sp>
        <p:nvSpPr>
          <p:cNvPr id="98307" name="Content Placeholder 2"/>
          <p:cNvSpPr>
            <a:spLocks noGrp="1"/>
          </p:cNvSpPr>
          <p:nvPr>
            <p:ph type="body" sz="quarter" idx="12"/>
          </p:nvPr>
        </p:nvSpPr>
        <p:spPr/>
        <p:txBody>
          <a:bodyPr/>
          <a:lstStyle/>
          <a:p>
            <a:r>
              <a:rPr lang="en-US" altLang="en-US" smtClean="0"/>
              <a:t>CARA function</a:t>
            </a:r>
          </a:p>
          <a:p>
            <a:pPr lvl="1"/>
            <a:r>
              <a:rPr lang="en-US" altLang="en-US" smtClean="0"/>
              <a:t>Implies that the fraction of wealth that an investor holds in risky assets should decrease as wealth increases</a:t>
            </a:r>
          </a:p>
          <a:p>
            <a:r>
              <a:rPr lang="en-US" altLang="en-US" smtClean="0"/>
              <a:t>CRRA form</a:t>
            </a:r>
          </a:p>
          <a:p>
            <a:pPr lvl="1"/>
            <a:r>
              <a:rPr lang="en-US" altLang="en-US" smtClean="0"/>
              <a:t>All individuals with the same risk tolerance </a:t>
            </a:r>
          </a:p>
          <a:p>
            <a:pPr lvl="2"/>
            <a:r>
              <a:rPr lang="en-US" altLang="en-US" smtClean="0"/>
              <a:t>Will hold the same fraction of wealth in risky assets</a:t>
            </a:r>
          </a:p>
          <a:p>
            <a:pPr lvl="2"/>
            <a:r>
              <a:rPr lang="en-US" altLang="en-US" smtClean="0"/>
              <a:t>Regardless of their absolute levels of wealth</a:t>
            </a:r>
          </a:p>
          <a:p>
            <a:pPr lvl="1"/>
            <a:endParaRPr lang="en-US" altLang="en-US" smtClean="0"/>
          </a:p>
        </p:txBody>
      </p:sp>
    </p:spTree>
    <p:extLst>
      <p:ext uri="{BB962C8B-B14F-4D97-AF65-F5344CB8AC3E}">
        <p14:creationId xmlns:p14="http://schemas.microsoft.com/office/powerpoint/2010/main" val="21685614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a:spLocks noGrp="1"/>
          </p:cNvSpPr>
          <p:nvPr>
            <p:ph type="title"/>
          </p:nvPr>
        </p:nvSpPr>
        <p:spPr/>
        <p:txBody>
          <a:bodyPr/>
          <a:lstStyle/>
          <a:p>
            <a:r>
              <a:rPr lang="en-US" altLang="en-US" smtClean="0"/>
              <a:t>Portfolios of many risky assets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B728314-0077-4446-AEB7-27BF5C00B6C3}" type="slidenum">
              <a:rPr lang="en-US" smtClean="0"/>
              <a:pPr>
                <a:defRPr/>
              </a:pPr>
              <a:t>85</a:t>
            </a:fld>
            <a:endParaRPr lang="en-US"/>
          </a:p>
        </p:txBody>
      </p:sp>
      <p:sp>
        <p:nvSpPr>
          <p:cNvPr id="22532" name="Content Placeholder 2"/>
          <p:cNvSpPr>
            <a:spLocks noGrp="1"/>
          </p:cNvSpPr>
          <p:nvPr>
            <p:ph type="body" sz="quarter" idx="12"/>
          </p:nvPr>
        </p:nvSpPr>
        <p:spPr/>
        <p:txBody>
          <a:bodyPr/>
          <a:lstStyle/>
          <a:p>
            <a:r>
              <a:rPr lang="en-US" altLang="en-US" smtClean="0"/>
              <a:t>Return on each of </a:t>
            </a:r>
            <a:r>
              <a:rPr lang="en-US" altLang="en-US" i="1" smtClean="0"/>
              <a:t>n</a:t>
            </a:r>
            <a:r>
              <a:rPr lang="en-US" altLang="en-US" smtClean="0"/>
              <a:t> risky assets </a:t>
            </a:r>
          </a:p>
          <a:p>
            <a:pPr lvl="1"/>
            <a:r>
              <a:rPr lang="en-US" altLang="en-US" smtClean="0"/>
              <a:t>The random variable </a:t>
            </a:r>
            <a:r>
              <a:rPr lang="en-US" altLang="en-US" smtClean="0">
                <a:solidFill>
                  <a:srgbClr val="FF0000"/>
                </a:solidFill>
              </a:rPr>
              <a:t>r</a:t>
            </a:r>
            <a:r>
              <a:rPr lang="en-US" altLang="en-US" baseline="-25000" smtClean="0">
                <a:solidFill>
                  <a:srgbClr val="FF0000"/>
                </a:solidFill>
              </a:rPr>
              <a:t>i</a:t>
            </a:r>
            <a:r>
              <a:rPr lang="en-US" altLang="en-US" smtClean="0">
                <a:solidFill>
                  <a:srgbClr val="FF0000"/>
                </a:solidFill>
              </a:rPr>
              <a:t> (i = 1,…, n)</a:t>
            </a:r>
          </a:p>
          <a:p>
            <a:pPr lvl="1"/>
            <a:r>
              <a:rPr lang="en-US" altLang="en-US" smtClean="0"/>
              <a:t>Expected values: </a:t>
            </a:r>
            <a:r>
              <a:rPr lang="en-US" altLang="en-US" smtClean="0">
                <a:solidFill>
                  <a:srgbClr val="FF0000"/>
                </a:solidFill>
              </a:rPr>
              <a:t>E(r</a:t>
            </a:r>
            <a:r>
              <a:rPr lang="en-US" altLang="en-US" baseline="-25000" smtClean="0">
                <a:solidFill>
                  <a:srgbClr val="FF0000"/>
                </a:solidFill>
              </a:rPr>
              <a:t>i</a:t>
            </a:r>
            <a:r>
              <a:rPr lang="en-US" altLang="en-US" smtClean="0">
                <a:solidFill>
                  <a:srgbClr val="FF0000"/>
                </a:solidFill>
              </a:rPr>
              <a:t>)=</a:t>
            </a:r>
            <a:r>
              <a:rPr lang="el-GR" altLang="en-US" smtClean="0">
                <a:solidFill>
                  <a:srgbClr val="FF0000"/>
                </a:solidFill>
              </a:rPr>
              <a:t>μ</a:t>
            </a:r>
            <a:r>
              <a:rPr lang="en-US" altLang="en-US" baseline="-25000" smtClean="0">
                <a:solidFill>
                  <a:srgbClr val="FF0000"/>
                </a:solidFill>
              </a:rPr>
              <a:t>i</a:t>
            </a:r>
          </a:p>
          <a:p>
            <a:pPr lvl="1"/>
            <a:r>
              <a:rPr lang="en-US" altLang="en-US" smtClean="0"/>
              <a:t>Variances: </a:t>
            </a:r>
            <a:r>
              <a:rPr lang="en-US" altLang="en-US" smtClean="0">
                <a:solidFill>
                  <a:srgbClr val="FF0000"/>
                </a:solidFill>
              </a:rPr>
              <a:t>Var(r</a:t>
            </a:r>
            <a:r>
              <a:rPr lang="en-US" altLang="en-US" baseline="-25000" smtClean="0">
                <a:solidFill>
                  <a:srgbClr val="FF0000"/>
                </a:solidFill>
              </a:rPr>
              <a:t>i</a:t>
            </a:r>
            <a:r>
              <a:rPr lang="en-US" altLang="en-US" smtClean="0">
                <a:solidFill>
                  <a:srgbClr val="FF0000"/>
                </a:solidFill>
              </a:rPr>
              <a:t>) = </a:t>
            </a:r>
            <a:r>
              <a:rPr lang="el-GR" altLang="en-US" smtClean="0">
                <a:solidFill>
                  <a:srgbClr val="FF0000"/>
                </a:solidFill>
                <a:cs typeface="Arial" charset="0"/>
              </a:rPr>
              <a:t>σ</a:t>
            </a:r>
            <a:r>
              <a:rPr lang="en-US" altLang="en-US" baseline="30000" smtClean="0">
                <a:solidFill>
                  <a:srgbClr val="FF0000"/>
                </a:solidFill>
                <a:cs typeface="Arial" charset="0"/>
              </a:rPr>
              <a:t>2</a:t>
            </a:r>
            <a:r>
              <a:rPr lang="en-US" altLang="en-US" baseline="-25000" smtClean="0">
                <a:solidFill>
                  <a:srgbClr val="FF0000"/>
                </a:solidFill>
              </a:rPr>
              <a:t>i</a:t>
            </a:r>
            <a:r>
              <a:rPr lang="en-US" altLang="en-US" smtClean="0">
                <a:solidFill>
                  <a:srgbClr val="FF0000"/>
                </a:solidFill>
              </a:rPr>
              <a:t> </a:t>
            </a:r>
          </a:p>
          <a:p>
            <a:pPr lvl="1"/>
            <a:r>
              <a:rPr lang="en-US" altLang="en-US" smtClean="0"/>
              <a:t>An investor who invests a portion of his or her wealth in a portfolio of these assets will obtain a random return:</a:t>
            </a:r>
            <a:endParaRPr lang="en-US" altLang="en-US" smtClean="0">
              <a:solidFill>
                <a:srgbClr val="FF0000"/>
              </a:solidFill>
            </a:endParaRPr>
          </a:p>
          <a:p>
            <a:pPr lvl="1">
              <a:buFont typeface="Arial" charset="0"/>
              <a:buNone/>
            </a:pPr>
            <a:endParaRPr lang="en-US" altLang="en-US" smtClean="0"/>
          </a:p>
        </p:txBody>
      </p:sp>
      <p:graphicFrame>
        <p:nvGraphicFramePr>
          <p:cNvPr id="6" name="Object 2"/>
          <p:cNvGraphicFramePr>
            <a:graphicFrameLocks noChangeAspect="1"/>
          </p:cNvGraphicFramePr>
          <p:nvPr/>
        </p:nvGraphicFramePr>
        <p:xfrm>
          <a:off x="1035050" y="4762500"/>
          <a:ext cx="7073900" cy="1185863"/>
        </p:xfrm>
        <a:graphic>
          <a:graphicData uri="http://schemas.openxmlformats.org/presentationml/2006/ole">
            <mc:AlternateContent xmlns:mc="http://schemas.openxmlformats.org/markup-compatibility/2006">
              <mc:Choice xmlns:v="urn:schemas-microsoft-com:vml" Requires="v">
                <p:oleObj spid="_x0000_s161803" name="Equation" r:id="rId3" imgW="2577960" imgH="431640" progId="Equation.DSMT4">
                  <p:embed/>
                </p:oleObj>
              </mc:Choice>
              <mc:Fallback>
                <p:oleObj name="Equation" r:id="rId3" imgW="257796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5050" y="4762500"/>
                        <a:ext cx="70739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6533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itle 1"/>
          <p:cNvSpPr>
            <a:spLocks noGrp="1"/>
          </p:cNvSpPr>
          <p:nvPr>
            <p:ph type="title"/>
          </p:nvPr>
        </p:nvSpPr>
        <p:spPr/>
        <p:txBody>
          <a:bodyPr/>
          <a:lstStyle/>
          <a:p>
            <a:r>
              <a:rPr lang="en-US" altLang="en-US" smtClean="0"/>
              <a:t>Portfolios of many risky assets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AF6AF30-6202-4027-959B-9BE36A5BACEC}" type="slidenum">
              <a:rPr lang="en-US" smtClean="0"/>
              <a:pPr>
                <a:defRPr/>
              </a:pPr>
              <a:t>86</a:t>
            </a:fld>
            <a:endParaRPr lang="en-US"/>
          </a:p>
        </p:txBody>
      </p:sp>
      <p:sp>
        <p:nvSpPr>
          <p:cNvPr id="23557" name="Content Placeholder 2"/>
          <p:cNvSpPr>
            <a:spLocks noGrp="1"/>
          </p:cNvSpPr>
          <p:nvPr>
            <p:ph type="body" sz="quarter" idx="12"/>
          </p:nvPr>
        </p:nvSpPr>
        <p:spPr/>
        <p:txBody>
          <a:bodyPr/>
          <a:lstStyle/>
          <a:p>
            <a:r>
              <a:rPr lang="en-US" altLang="en-US" smtClean="0"/>
              <a:t>Expected return on this portfolio</a:t>
            </a:r>
          </a:p>
        </p:txBody>
      </p:sp>
      <p:sp>
        <p:nvSpPr>
          <p:cNvPr id="2" name="Text Placeholder 1"/>
          <p:cNvSpPr>
            <a:spLocks noGrp="1"/>
          </p:cNvSpPr>
          <p:nvPr>
            <p:ph type="body" sz="quarter" idx="13"/>
          </p:nvPr>
        </p:nvSpPr>
        <p:spPr/>
        <p:txBody>
          <a:bodyPr/>
          <a:lstStyle/>
          <a:p>
            <a:r>
              <a:rPr lang="en-US" dirty="0"/>
              <a:t>If the returns of each asset are independent</a:t>
            </a:r>
          </a:p>
          <a:p>
            <a:pPr lvl="1"/>
            <a:r>
              <a:rPr lang="en-US" dirty="0"/>
              <a:t>The variance of the portfolio’s return: </a:t>
            </a:r>
          </a:p>
          <a:p>
            <a:endParaRPr lang="en-US" dirty="0"/>
          </a:p>
        </p:txBody>
      </p:sp>
      <p:graphicFrame>
        <p:nvGraphicFramePr>
          <p:cNvPr id="6" name="Object 2"/>
          <p:cNvGraphicFramePr>
            <a:graphicFrameLocks noChangeAspect="1"/>
          </p:cNvGraphicFramePr>
          <p:nvPr/>
        </p:nvGraphicFramePr>
        <p:xfrm>
          <a:off x="2795588" y="1541463"/>
          <a:ext cx="3554412" cy="1185862"/>
        </p:xfrm>
        <a:graphic>
          <a:graphicData uri="http://schemas.openxmlformats.org/presentationml/2006/ole">
            <mc:AlternateContent xmlns:mc="http://schemas.openxmlformats.org/markup-compatibility/2006">
              <mc:Choice xmlns:v="urn:schemas-microsoft-com:vml" Requires="v">
                <p:oleObj spid="_x0000_s162838" name="Equation" r:id="rId3" imgW="1295280" imgH="431640" progId="Equation.DSMT4">
                  <p:embed/>
                </p:oleObj>
              </mc:Choice>
              <mc:Fallback>
                <p:oleObj name="Equation" r:id="rId3" imgW="129528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5588" y="1541463"/>
                        <a:ext cx="3554412" cy="1185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
          <p:cNvGraphicFramePr>
            <a:graphicFrameLocks noChangeAspect="1"/>
          </p:cNvGraphicFramePr>
          <p:nvPr/>
        </p:nvGraphicFramePr>
        <p:xfrm>
          <a:off x="2547938" y="4597400"/>
          <a:ext cx="4048125" cy="1176338"/>
        </p:xfrm>
        <a:graphic>
          <a:graphicData uri="http://schemas.openxmlformats.org/presentationml/2006/ole">
            <mc:AlternateContent xmlns:mc="http://schemas.openxmlformats.org/markup-compatibility/2006">
              <mc:Choice xmlns:v="urn:schemas-microsoft-com:vml" Requires="v">
                <p:oleObj spid="_x0000_s162839" name="Equation" r:id="rId5" imgW="1485720" imgH="431640" progId="Equation.DSMT4">
                  <p:embed/>
                </p:oleObj>
              </mc:Choice>
              <mc:Fallback>
                <p:oleObj name="Equation" r:id="rId5" imgW="1485720" imgH="431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7938" y="4597400"/>
                        <a:ext cx="4048125" cy="1176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12708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r>
              <a:rPr lang="en-US" altLang="en-US" smtClean="0"/>
              <a:t>Optimal portfolios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0C8F9EA-4599-4B41-B158-702A87EB1A6D}" type="slidenum">
              <a:rPr lang="en-US" smtClean="0"/>
              <a:pPr>
                <a:defRPr/>
              </a:pPr>
              <a:t>87</a:t>
            </a:fld>
            <a:endParaRPr lang="en-US"/>
          </a:p>
        </p:txBody>
      </p:sp>
      <p:sp>
        <p:nvSpPr>
          <p:cNvPr id="99331" name="Content Placeholder 2"/>
          <p:cNvSpPr>
            <a:spLocks noGrp="1"/>
          </p:cNvSpPr>
          <p:nvPr>
            <p:ph type="body" sz="quarter" idx="12"/>
          </p:nvPr>
        </p:nvSpPr>
        <p:spPr/>
        <p:txBody>
          <a:bodyPr/>
          <a:lstStyle/>
          <a:p>
            <a:r>
              <a:rPr lang="en-US" altLang="en-US" smtClean="0"/>
              <a:t>Solving the optimal portfolio problem </a:t>
            </a:r>
          </a:p>
          <a:p>
            <a:pPr lvl="1"/>
            <a:r>
              <a:rPr lang="en-US" altLang="en-US" smtClean="0"/>
              <a:t>The first step: consider portfolios of just the risky assets</a:t>
            </a:r>
          </a:p>
          <a:p>
            <a:pPr lvl="1"/>
            <a:r>
              <a:rPr lang="en-US" altLang="en-US" smtClean="0"/>
              <a:t>The second step: add in the riskless one</a:t>
            </a:r>
          </a:p>
          <a:p>
            <a:r>
              <a:rPr lang="en-US" altLang="en-US" smtClean="0"/>
              <a:t>Optimal portfolio of just the risky assets</a:t>
            </a:r>
          </a:p>
          <a:p>
            <a:pPr lvl="1"/>
            <a:r>
              <a:rPr lang="en-US" altLang="en-US" smtClean="0"/>
              <a:t>Choose a general set of asset weightings (the </a:t>
            </a:r>
            <a:r>
              <a:rPr lang="en-US" altLang="en-US" smtClean="0">
                <a:sym typeface="Symbol" pitchFamily="18" charset="2"/>
              </a:rPr>
              <a:t></a:t>
            </a:r>
            <a:r>
              <a:rPr lang="en-US" altLang="en-US" baseline="-25000" smtClean="0"/>
              <a:t>i</a:t>
            </a:r>
            <a:r>
              <a:rPr lang="en-US" altLang="en-US" smtClean="0"/>
              <a:t>) </a:t>
            </a:r>
          </a:p>
          <a:p>
            <a:pPr lvl="2"/>
            <a:r>
              <a:rPr lang="en-US" altLang="en-US" smtClean="0"/>
              <a:t>Minimize the variance (or standard deviation)</a:t>
            </a:r>
          </a:p>
          <a:p>
            <a:pPr lvl="1"/>
            <a:r>
              <a:rPr lang="en-US" altLang="en-US" smtClean="0"/>
              <a:t>“Efficiency frontier’’ for risky asset portfolios</a:t>
            </a:r>
          </a:p>
        </p:txBody>
      </p:sp>
    </p:spTree>
    <p:extLst>
      <p:ext uri="{BB962C8B-B14F-4D97-AF65-F5344CB8AC3E}">
        <p14:creationId xmlns:p14="http://schemas.microsoft.com/office/powerpoint/2010/main" val="3846877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US" altLang="en-US" smtClean="0"/>
              <a:t>Optimal portfolios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9C5C248-3262-4230-A151-C4DB70D87C87}" type="slidenum">
              <a:rPr lang="en-US" smtClean="0"/>
              <a:pPr>
                <a:defRPr/>
              </a:pPr>
              <a:t>88</a:t>
            </a:fld>
            <a:endParaRPr lang="en-US"/>
          </a:p>
        </p:txBody>
      </p:sp>
      <p:sp>
        <p:nvSpPr>
          <p:cNvPr id="100355" name="Content Placeholder 2"/>
          <p:cNvSpPr>
            <a:spLocks noGrp="1"/>
          </p:cNvSpPr>
          <p:nvPr>
            <p:ph type="body" sz="quarter" idx="12"/>
          </p:nvPr>
        </p:nvSpPr>
        <p:spPr/>
        <p:txBody>
          <a:bodyPr/>
          <a:lstStyle/>
          <a:p>
            <a:r>
              <a:rPr lang="en-US" altLang="en-US" smtClean="0"/>
              <a:t>Add a risk-free asset </a:t>
            </a:r>
          </a:p>
          <a:p>
            <a:pPr lvl="1"/>
            <a:r>
              <a:rPr lang="en-US" altLang="en-US" smtClean="0"/>
              <a:t>With expected return </a:t>
            </a:r>
            <a:r>
              <a:rPr lang="el-GR" altLang="en-US" smtClean="0"/>
              <a:t>μ</a:t>
            </a:r>
            <a:r>
              <a:rPr lang="en-US" altLang="en-US" baseline="-25000" smtClean="0"/>
              <a:t>f</a:t>
            </a:r>
            <a:r>
              <a:rPr lang="en-US" altLang="en-US" smtClean="0"/>
              <a:t> </a:t>
            </a:r>
          </a:p>
          <a:p>
            <a:pPr lvl="1"/>
            <a:r>
              <a:rPr lang="en-US" altLang="en-US" smtClean="0"/>
              <a:t>And standard deviation </a:t>
            </a:r>
            <a:r>
              <a:rPr lang="el-GR" altLang="en-US" smtClean="0">
                <a:cs typeface="Arial" charset="0"/>
              </a:rPr>
              <a:t>σ</a:t>
            </a:r>
            <a:r>
              <a:rPr lang="en-US" altLang="en-US" baseline="-25000" smtClean="0">
                <a:cs typeface="Arial" charset="0"/>
              </a:rPr>
              <a:t>f </a:t>
            </a:r>
            <a:r>
              <a:rPr lang="en-US" altLang="en-US" smtClean="0">
                <a:cs typeface="Arial" charset="0"/>
              </a:rPr>
              <a:t>= 0</a:t>
            </a:r>
          </a:p>
          <a:p>
            <a:r>
              <a:rPr lang="en-US" altLang="en-US" smtClean="0"/>
              <a:t>Optimal portfolios</a:t>
            </a:r>
          </a:p>
          <a:p>
            <a:pPr lvl="1"/>
            <a:r>
              <a:rPr lang="en-US" altLang="en-US" smtClean="0"/>
              <a:t>‘‘Market portfolio’’ consisting of all capital assets held in proportion to their market valuations</a:t>
            </a:r>
          </a:p>
          <a:p>
            <a:pPr lvl="2"/>
            <a:r>
              <a:rPr lang="en-US" altLang="en-US" smtClean="0"/>
              <a:t>Expected return </a:t>
            </a:r>
            <a:r>
              <a:rPr lang="el-GR" altLang="en-US" smtClean="0"/>
              <a:t>μ</a:t>
            </a:r>
            <a:r>
              <a:rPr lang="en-US" altLang="en-US" baseline="-25000" smtClean="0"/>
              <a:t>m</a:t>
            </a:r>
          </a:p>
          <a:p>
            <a:pPr lvl="2"/>
            <a:r>
              <a:rPr lang="en-US" altLang="en-US" smtClean="0"/>
              <a:t>Standard deviation </a:t>
            </a:r>
            <a:r>
              <a:rPr lang="el-GR" altLang="en-US" smtClean="0">
                <a:cs typeface="Arial" charset="0"/>
              </a:rPr>
              <a:t>σ</a:t>
            </a:r>
            <a:r>
              <a:rPr lang="en-US" altLang="en-US" baseline="-25000" smtClean="0">
                <a:cs typeface="Arial" charset="0"/>
              </a:rPr>
              <a:t>m</a:t>
            </a:r>
            <a:r>
              <a:rPr lang="en-US" altLang="en-US" smtClean="0">
                <a:cs typeface="Arial" charset="0"/>
              </a:rPr>
              <a:t> </a:t>
            </a:r>
            <a:endParaRPr lang="en-US" altLang="en-US" smtClean="0"/>
          </a:p>
        </p:txBody>
      </p:sp>
    </p:spTree>
    <p:extLst>
      <p:ext uri="{BB962C8B-B14F-4D97-AF65-F5344CB8AC3E}">
        <p14:creationId xmlns:p14="http://schemas.microsoft.com/office/powerpoint/2010/main" val="2449872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1"/>
          <p:cNvSpPr>
            <a:spLocks noGrp="1"/>
          </p:cNvSpPr>
          <p:nvPr>
            <p:ph type="title"/>
          </p:nvPr>
        </p:nvSpPr>
        <p:spPr/>
        <p:txBody>
          <a:bodyPr/>
          <a:lstStyle/>
          <a:p>
            <a:r>
              <a:rPr lang="en-US" altLang="en-US" smtClean="0"/>
              <a:t>Optimal portfolios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39A4BF6-616D-41A9-A582-CF9ED335AC9A}" type="slidenum">
              <a:rPr lang="en-US" smtClean="0"/>
              <a:pPr>
                <a:defRPr/>
              </a:pPr>
              <a:t>89</a:t>
            </a:fld>
            <a:endParaRPr lang="en-US"/>
          </a:p>
        </p:txBody>
      </p:sp>
      <p:sp>
        <p:nvSpPr>
          <p:cNvPr id="24580" name="Content Placeholder 2"/>
          <p:cNvSpPr>
            <a:spLocks noGrp="1"/>
          </p:cNvSpPr>
          <p:nvPr>
            <p:ph type="body" sz="quarter" idx="12"/>
          </p:nvPr>
        </p:nvSpPr>
        <p:spPr/>
        <p:txBody>
          <a:bodyPr/>
          <a:lstStyle/>
          <a:p>
            <a:r>
              <a:rPr lang="en-US" altLang="en-US" smtClean="0"/>
              <a:t>Mixed portfolio (line RP)</a:t>
            </a:r>
          </a:p>
        </p:txBody>
      </p:sp>
      <p:sp>
        <p:nvSpPr>
          <p:cNvPr id="2" name="Text Placeholder 1"/>
          <p:cNvSpPr>
            <a:spLocks noGrp="1"/>
          </p:cNvSpPr>
          <p:nvPr>
            <p:ph type="body" sz="quarter" idx="13"/>
          </p:nvPr>
        </p:nvSpPr>
        <p:spPr>
          <a:xfrm>
            <a:off x="457200" y="2667000"/>
            <a:ext cx="8305800" cy="3581400"/>
          </a:xfrm>
        </p:spPr>
        <p:txBody>
          <a:bodyPr/>
          <a:lstStyle/>
          <a:p>
            <a:pPr lvl="1" eaLnBrk="0" hangingPunct="0">
              <a:buSzPct val="90000"/>
              <a:buFontTx/>
              <a:buChar char="•"/>
              <a:defRPr/>
            </a:pPr>
            <a:r>
              <a:rPr lang="en-US" kern="0" dirty="0"/>
              <a:t>Permits individual investors to ‘‘purchase’’ returns in excess of the risk-free return (</a:t>
            </a:r>
            <a:r>
              <a:rPr lang="el-GR" kern="0" dirty="0"/>
              <a:t>μ</a:t>
            </a:r>
            <a:r>
              <a:rPr lang="en-US" kern="0" baseline="-25000" dirty="0"/>
              <a:t>M</a:t>
            </a:r>
            <a:r>
              <a:rPr lang="en-US" kern="0" dirty="0"/>
              <a:t>-</a:t>
            </a:r>
            <a:r>
              <a:rPr lang="el-GR" kern="0" dirty="0"/>
              <a:t>μ</a:t>
            </a:r>
            <a:r>
              <a:rPr lang="en-US" kern="0" baseline="-25000" dirty="0"/>
              <a:t>f</a:t>
            </a:r>
            <a:r>
              <a:rPr lang="en-US" kern="0" dirty="0"/>
              <a:t>) by taking on proportionally more risk (</a:t>
            </a:r>
            <a:r>
              <a:rPr lang="el-GR" kern="0" dirty="0">
                <a:latin typeface="Arial"/>
                <a:cs typeface="Arial"/>
              </a:rPr>
              <a:t>σ</a:t>
            </a:r>
            <a:r>
              <a:rPr lang="en-US" kern="0" baseline="-25000" dirty="0">
                <a:latin typeface="Arial"/>
                <a:cs typeface="Arial"/>
              </a:rPr>
              <a:t>p</a:t>
            </a:r>
            <a:r>
              <a:rPr lang="en-US" kern="0" dirty="0">
                <a:latin typeface="Arial"/>
                <a:cs typeface="Arial"/>
              </a:rPr>
              <a:t>/</a:t>
            </a:r>
            <a:r>
              <a:rPr lang="el-GR" kern="0" dirty="0">
                <a:latin typeface="Arial"/>
                <a:cs typeface="Arial"/>
              </a:rPr>
              <a:t>σ</a:t>
            </a:r>
            <a:r>
              <a:rPr lang="en-US" kern="0" baseline="-25000" dirty="0">
                <a:latin typeface="Arial"/>
                <a:cs typeface="Arial"/>
              </a:rPr>
              <a:t>M</a:t>
            </a:r>
            <a:r>
              <a:rPr lang="en-US" kern="0" dirty="0"/>
              <a:t>)</a:t>
            </a:r>
          </a:p>
          <a:p>
            <a:pPr lvl="1" eaLnBrk="0" hangingPunct="0">
              <a:buSzPct val="90000"/>
              <a:buFontTx/>
              <a:buChar char="•"/>
              <a:defRPr/>
            </a:pPr>
            <a:r>
              <a:rPr lang="en-US" kern="0" dirty="0"/>
              <a:t>Points to the left of the market point M: </a:t>
            </a:r>
            <a:r>
              <a:rPr lang="el-GR" kern="0" dirty="0">
                <a:cs typeface="Arial"/>
              </a:rPr>
              <a:t>σ</a:t>
            </a:r>
            <a:r>
              <a:rPr lang="en-US" kern="0" baseline="-25000" dirty="0">
                <a:cs typeface="Arial"/>
              </a:rPr>
              <a:t>p</a:t>
            </a:r>
            <a:r>
              <a:rPr lang="en-US" kern="0" dirty="0">
                <a:cs typeface="Arial"/>
              </a:rPr>
              <a:t>/</a:t>
            </a:r>
            <a:r>
              <a:rPr lang="el-GR" kern="0" dirty="0">
                <a:cs typeface="Arial"/>
              </a:rPr>
              <a:t>σ</a:t>
            </a:r>
            <a:r>
              <a:rPr lang="en-US" kern="0" baseline="-25000" dirty="0">
                <a:cs typeface="Arial"/>
              </a:rPr>
              <a:t>M</a:t>
            </a:r>
            <a:r>
              <a:rPr lang="en-US" kern="0" dirty="0">
                <a:cs typeface="Arial"/>
              </a:rPr>
              <a:t>&lt;1 and </a:t>
            </a:r>
            <a:r>
              <a:rPr lang="el-GR" kern="0" dirty="0"/>
              <a:t>μ</a:t>
            </a:r>
            <a:r>
              <a:rPr lang="en-US" kern="0" baseline="-25000" dirty="0"/>
              <a:t>f</a:t>
            </a:r>
            <a:r>
              <a:rPr lang="el-GR" kern="0" dirty="0"/>
              <a:t> </a:t>
            </a:r>
            <a:r>
              <a:rPr lang="en-US" kern="0" dirty="0"/>
              <a:t>&lt;</a:t>
            </a:r>
            <a:r>
              <a:rPr lang="el-GR" kern="0" dirty="0"/>
              <a:t> μ</a:t>
            </a:r>
            <a:r>
              <a:rPr lang="en-US" kern="0" baseline="-25000" dirty="0"/>
              <a:t>p</a:t>
            </a:r>
            <a:r>
              <a:rPr lang="en-US" kern="0" dirty="0"/>
              <a:t> &lt; </a:t>
            </a:r>
            <a:r>
              <a:rPr lang="el-GR" kern="0" dirty="0"/>
              <a:t>μ</a:t>
            </a:r>
            <a:r>
              <a:rPr lang="en-US" kern="0" baseline="-25000" dirty="0"/>
              <a:t>M</a:t>
            </a:r>
            <a:endParaRPr lang="en-US" kern="0" dirty="0"/>
          </a:p>
          <a:p>
            <a:pPr lvl="1" eaLnBrk="0" hangingPunct="0">
              <a:buSzPct val="90000"/>
              <a:buFontTx/>
              <a:buChar char="•"/>
              <a:defRPr/>
            </a:pPr>
            <a:r>
              <a:rPr lang="en-US" kern="0" dirty="0"/>
              <a:t>High-risk points to the right of M:</a:t>
            </a:r>
            <a:r>
              <a:rPr lang="el-GR" kern="0" dirty="0">
                <a:cs typeface="Arial"/>
              </a:rPr>
              <a:t> σ</a:t>
            </a:r>
            <a:r>
              <a:rPr lang="en-US" kern="0" baseline="-25000" dirty="0">
                <a:cs typeface="Arial"/>
              </a:rPr>
              <a:t>p</a:t>
            </a:r>
            <a:r>
              <a:rPr lang="en-US" kern="0" dirty="0">
                <a:cs typeface="Arial"/>
              </a:rPr>
              <a:t>/</a:t>
            </a:r>
            <a:r>
              <a:rPr lang="el-GR" kern="0" dirty="0">
                <a:cs typeface="Arial"/>
              </a:rPr>
              <a:t>σ</a:t>
            </a:r>
            <a:r>
              <a:rPr lang="en-US" kern="0" baseline="-25000" dirty="0">
                <a:cs typeface="Arial"/>
              </a:rPr>
              <a:t>M</a:t>
            </a:r>
            <a:r>
              <a:rPr lang="en-US" kern="0" dirty="0">
                <a:cs typeface="Arial"/>
              </a:rPr>
              <a:t>&gt;1 and </a:t>
            </a:r>
            <a:r>
              <a:rPr lang="el-GR" kern="0" dirty="0"/>
              <a:t>μ</a:t>
            </a:r>
            <a:r>
              <a:rPr lang="en-US" kern="0" baseline="-25000" dirty="0"/>
              <a:t>p</a:t>
            </a:r>
            <a:r>
              <a:rPr lang="en-US" kern="0" dirty="0"/>
              <a:t> &gt; </a:t>
            </a:r>
            <a:r>
              <a:rPr lang="el-GR" kern="0" dirty="0"/>
              <a:t>μ</a:t>
            </a:r>
            <a:r>
              <a:rPr lang="en-US" kern="0" baseline="-25000" dirty="0" smtClean="0"/>
              <a:t>M</a:t>
            </a:r>
            <a:endParaRPr lang="en-US" kern="0" dirty="0"/>
          </a:p>
        </p:txBody>
      </p:sp>
      <p:graphicFrame>
        <p:nvGraphicFramePr>
          <p:cNvPr id="6" name="Object 2"/>
          <p:cNvGraphicFramePr>
            <a:graphicFrameLocks noChangeAspect="1"/>
          </p:cNvGraphicFramePr>
          <p:nvPr/>
        </p:nvGraphicFramePr>
        <p:xfrm>
          <a:off x="1560513" y="1336675"/>
          <a:ext cx="4044950" cy="1311275"/>
        </p:xfrm>
        <a:graphic>
          <a:graphicData uri="http://schemas.openxmlformats.org/presentationml/2006/ole">
            <mc:AlternateContent xmlns:mc="http://schemas.openxmlformats.org/markup-compatibility/2006">
              <mc:Choice xmlns:v="urn:schemas-microsoft-com:vml" Requires="v">
                <p:oleObj spid="_x0000_s163853" name="Equation" r:id="rId3" imgW="1409400" imgH="457200" progId="Equation.DSMT4">
                  <p:embed/>
                </p:oleObj>
              </mc:Choice>
              <mc:Fallback>
                <p:oleObj name="Equation" r:id="rId3" imgW="140940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0513" y="1336675"/>
                        <a:ext cx="404495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601173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E </a:t>
            </a:r>
            <a:r>
              <a:rPr lang="en-US" altLang="en-US" dirty="0"/>
              <a:t>7.1	Efficient </a:t>
            </a:r>
            <a:r>
              <a:rPr lang="en-US" altLang="en-US" dirty="0" smtClean="0"/>
              <a:t>Portfolios</a:t>
            </a:r>
          </a:p>
        </p:txBody>
      </p:sp>
      <p:sp>
        <p:nvSpPr>
          <p:cNvPr id="101379" name="Text Placeholder 2"/>
          <p:cNvSpPr>
            <a:spLocks noGrp="1"/>
          </p:cNvSpPr>
          <p:nvPr>
            <p:ph sz="half" idx="1"/>
          </p:nvPr>
        </p:nvSpPr>
        <p:spPr>
          <a:xfrm>
            <a:off x="5943600" y="1600200"/>
            <a:ext cx="3200400" cy="4525963"/>
          </a:xfrm>
        </p:spPr>
        <p:txBody>
          <a:bodyPr/>
          <a:lstStyle/>
          <a:p>
            <a:pPr>
              <a:spcBef>
                <a:spcPct val="0"/>
              </a:spcBef>
            </a:pPr>
            <a:r>
              <a:rPr lang="en-US" altLang="en-US" dirty="0"/>
              <a:t>The frontier </a:t>
            </a:r>
            <a:r>
              <a:rPr lang="en-US" altLang="en-US" i="1" dirty="0"/>
              <a:t>EE</a:t>
            </a:r>
            <a:r>
              <a:rPr lang="en-US" altLang="en-US" dirty="0"/>
              <a:t> represents optimal mixtures of risky assets that minimize the standard deviation of the portfolio, </a:t>
            </a:r>
            <a:r>
              <a:rPr lang="el-GR" altLang="en-US" i="1" dirty="0">
                <a:cs typeface="Arial" charset="0"/>
              </a:rPr>
              <a:t>σ</a:t>
            </a:r>
            <a:r>
              <a:rPr lang="en-US" altLang="en-US" i="1" baseline="-25000" dirty="0"/>
              <a:t>P</a:t>
            </a:r>
            <a:r>
              <a:rPr lang="en-US" altLang="en-US" dirty="0"/>
              <a:t>, for each expected return, </a:t>
            </a:r>
            <a:r>
              <a:rPr lang="el-GR" altLang="en-US" i="1" dirty="0"/>
              <a:t>μ</a:t>
            </a:r>
            <a:r>
              <a:rPr lang="en-US" altLang="en-US" i="1" baseline="-25000" dirty="0"/>
              <a:t>P</a:t>
            </a:r>
            <a:r>
              <a:rPr lang="en-US" altLang="en-US" dirty="0"/>
              <a:t>. A risk-free asset with return </a:t>
            </a:r>
            <a:r>
              <a:rPr lang="el-GR" altLang="en-US" i="1" dirty="0"/>
              <a:t>μ</a:t>
            </a:r>
            <a:r>
              <a:rPr lang="en-US" altLang="en-US" i="1" baseline="-25000" dirty="0"/>
              <a:t>f</a:t>
            </a:r>
            <a:r>
              <a:rPr lang="en-US" altLang="en-US" dirty="0"/>
              <a:t> offers investors the opportunity to hold mixed portfolios along </a:t>
            </a:r>
            <a:r>
              <a:rPr lang="en-US" altLang="en-US" i="1" dirty="0"/>
              <a:t>RP</a:t>
            </a:r>
            <a:r>
              <a:rPr lang="en-US" altLang="en-US" dirty="0"/>
              <a:t> that mix this risk-free asset with the market portfolio, </a:t>
            </a:r>
            <a:r>
              <a:rPr lang="en-US" altLang="en-US" i="1" dirty="0"/>
              <a:t>M</a:t>
            </a:r>
            <a:r>
              <a:rPr lang="en-US" altLang="en-US" dirty="0"/>
              <a:t>.</a:t>
            </a:r>
          </a:p>
          <a:p>
            <a:pPr>
              <a:spcBef>
                <a:spcPct val="0"/>
              </a:spcBef>
            </a:pPr>
            <a:endParaRPr lang="en-US" altLang="en-US" dirty="0" smtClean="0"/>
          </a:p>
        </p:txBody>
      </p:sp>
      <p:sp>
        <p:nvSpPr>
          <p:cNvPr id="10138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63B76A1-7C32-4902-8F84-2059F6123E45}" type="slidenum">
              <a:rPr lang="en-US" smtClean="0"/>
              <a:pPr>
                <a:defRPr/>
              </a:pPr>
              <a:t>90</a:t>
            </a:fld>
            <a:endParaRPr lang="en-US" dirty="0"/>
          </a:p>
        </p:txBody>
      </p:sp>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5638800" cy="481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678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wipe(left)">
                                      <p:cBhvr>
                                        <p:cTn id="7" dur="500"/>
                                        <p:tgtEl>
                                          <p:spTgt spid="1239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1379">
                                            <p:txEl>
                                              <p:pRg st="0" end="0"/>
                                            </p:txEl>
                                          </p:spTgt>
                                        </p:tgtEl>
                                        <p:attrNameLst>
                                          <p:attrName>style.visibility</p:attrName>
                                        </p:attrNameLst>
                                      </p:cBhvr>
                                      <p:to>
                                        <p:strVal val="visible"/>
                                      </p:to>
                                    </p:set>
                                    <p:animEffect transition="in" filter="wipe(left)">
                                      <p:cBhvr>
                                        <p:cTn id="11" dur="500"/>
                                        <p:tgtEl>
                                          <p:spTgt spid="1013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p:txBody>
          <a:bodyPr/>
          <a:lstStyle/>
          <a:p>
            <a:r>
              <a:rPr lang="en-US" altLang="en-US" smtClean="0"/>
              <a:t>Individual choices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F962B3C-FE8A-4469-B8F9-7EF42431FAD4}" type="slidenum">
              <a:rPr lang="en-US" smtClean="0"/>
              <a:pPr>
                <a:defRPr/>
              </a:pPr>
              <a:t>91</a:t>
            </a:fld>
            <a:endParaRPr lang="en-US"/>
          </a:p>
        </p:txBody>
      </p:sp>
      <p:sp>
        <p:nvSpPr>
          <p:cNvPr id="102403" name="Content Placeholder 2"/>
          <p:cNvSpPr>
            <a:spLocks noGrp="1"/>
          </p:cNvSpPr>
          <p:nvPr>
            <p:ph type="body" sz="quarter" idx="12"/>
          </p:nvPr>
        </p:nvSpPr>
        <p:spPr/>
        <p:txBody>
          <a:bodyPr/>
          <a:lstStyle/>
          <a:p>
            <a:r>
              <a:rPr lang="en-US" altLang="en-US" dirty="0" smtClean="0"/>
              <a:t>Individuals with low tolerance for risk (I )</a:t>
            </a:r>
          </a:p>
          <a:p>
            <a:pPr lvl="1"/>
            <a:r>
              <a:rPr lang="en-US" altLang="en-US" dirty="0" smtClean="0"/>
              <a:t>Opt for portfolios that are heavily weighted toward the risk-free asset</a:t>
            </a:r>
          </a:p>
          <a:p>
            <a:r>
              <a:rPr lang="en-US" altLang="en-US" dirty="0" smtClean="0"/>
              <a:t>Investors willing to assume a modest degree of risk (II )</a:t>
            </a:r>
          </a:p>
          <a:p>
            <a:pPr lvl="1"/>
            <a:r>
              <a:rPr lang="en-US" altLang="en-US" dirty="0" smtClean="0"/>
              <a:t>Opt for portfolios close to the market portfolio</a:t>
            </a:r>
          </a:p>
          <a:p>
            <a:r>
              <a:rPr lang="en-US" altLang="en-US" dirty="0" smtClean="0"/>
              <a:t>High-risk investors (III )</a:t>
            </a:r>
          </a:p>
          <a:p>
            <a:pPr lvl="1"/>
            <a:r>
              <a:rPr lang="en-US" altLang="en-US" dirty="0" smtClean="0"/>
              <a:t>Opt for leveraged portfolios</a:t>
            </a:r>
          </a:p>
        </p:txBody>
      </p:sp>
    </p:spTree>
    <p:extLst>
      <p:ext uri="{BB962C8B-B14F-4D97-AF65-F5344CB8AC3E}">
        <p14:creationId xmlns:p14="http://schemas.microsoft.com/office/powerpoint/2010/main" val="3614053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E </a:t>
            </a:r>
            <a:r>
              <a:rPr lang="en-US" altLang="en-US" dirty="0"/>
              <a:t>7.2	Investor Behavior and Risk </a:t>
            </a:r>
            <a:r>
              <a:rPr lang="en-US" altLang="en-US" dirty="0" smtClean="0"/>
              <a:t>Aversion</a:t>
            </a:r>
          </a:p>
        </p:txBody>
      </p:sp>
      <p:sp>
        <p:nvSpPr>
          <p:cNvPr id="103427" name="Text Placeholder 2"/>
          <p:cNvSpPr>
            <a:spLocks noGrp="1"/>
          </p:cNvSpPr>
          <p:nvPr>
            <p:ph sz="half" idx="1"/>
          </p:nvPr>
        </p:nvSpPr>
        <p:spPr>
          <a:xfrm>
            <a:off x="6267450" y="1600200"/>
            <a:ext cx="2876550" cy="4525963"/>
          </a:xfrm>
        </p:spPr>
        <p:txBody>
          <a:bodyPr/>
          <a:lstStyle/>
          <a:p>
            <a:pPr>
              <a:spcBef>
                <a:spcPct val="0"/>
              </a:spcBef>
            </a:pPr>
            <a:r>
              <a:rPr lang="en-US" altLang="en-US" dirty="0"/>
              <a:t>Given the market options </a:t>
            </a:r>
            <a:r>
              <a:rPr lang="en-US" altLang="en-US" i="1" dirty="0"/>
              <a:t>RP</a:t>
            </a:r>
            <a:r>
              <a:rPr lang="en-US" altLang="en-US" dirty="0"/>
              <a:t>, investors can choose how much risk they wish to assume. Very risk-averse investors (</a:t>
            </a:r>
            <a:r>
              <a:rPr lang="en-US" altLang="en-US" i="1" dirty="0"/>
              <a:t>U</a:t>
            </a:r>
            <a:r>
              <a:rPr lang="en-US" altLang="en-US" i="1" baseline="-25000" dirty="0"/>
              <a:t>I</a:t>
            </a:r>
            <a:r>
              <a:rPr lang="en-US" altLang="en-US" dirty="0"/>
              <a:t>) will hold mainly risk-free assets, whereas risk takers (</a:t>
            </a:r>
            <a:r>
              <a:rPr lang="en-US" altLang="en-US" i="1" dirty="0"/>
              <a:t>U</a:t>
            </a:r>
            <a:r>
              <a:rPr lang="en-US" altLang="en-US" i="1" baseline="-25000" dirty="0"/>
              <a:t>III</a:t>
            </a:r>
            <a:r>
              <a:rPr lang="en-US" altLang="en-US" dirty="0"/>
              <a:t>) will opt for leveraged portfolios.</a:t>
            </a:r>
          </a:p>
          <a:p>
            <a:pPr>
              <a:spcBef>
                <a:spcPct val="0"/>
              </a:spcBef>
            </a:pPr>
            <a:endParaRPr lang="en-US" altLang="en-US" dirty="0" smtClean="0"/>
          </a:p>
        </p:txBody>
      </p:sp>
      <p:sp>
        <p:nvSpPr>
          <p:cNvPr id="103429"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0780BA5C-8017-4F53-9C63-C1548BB12597}" type="slidenum">
              <a:rPr lang="en-US" smtClean="0"/>
              <a:pPr>
                <a:defRPr/>
              </a:pPr>
              <a:t>92</a:t>
            </a:fld>
            <a:endParaRPr lang="en-US" dirty="0"/>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603885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02571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4930"/>
                                        </p:tgtEl>
                                        <p:attrNameLst>
                                          <p:attrName>style.visibility</p:attrName>
                                        </p:attrNameLst>
                                      </p:cBhvr>
                                      <p:to>
                                        <p:strVal val="visible"/>
                                      </p:to>
                                    </p:set>
                                    <p:animEffect transition="in" filter="wipe(left)">
                                      <p:cBhvr>
                                        <p:cTn id="7" dur="500"/>
                                        <p:tgtEl>
                                          <p:spTgt spid="1249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3427">
                                            <p:txEl>
                                              <p:pRg st="0" end="0"/>
                                            </p:txEl>
                                          </p:spTgt>
                                        </p:tgtEl>
                                        <p:attrNameLst>
                                          <p:attrName>style.visibility</p:attrName>
                                        </p:attrNameLst>
                                      </p:cBhvr>
                                      <p:to>
                                        <p:strVal val="visible"/>
                                      </p:to>
                                    </p:set>
                                    <p:animEffect transition="in" filter="wipe(left)">
                                      <p:cBhvr>
                                        <p:cTn id="11" dur="500"/>
                                        <p:tgtEl>
                                          <p:spTgt spid="1034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p:txBody>
          <a:bodyPr/>
          <a:lstStyle/>
          <a:p>
            <a:r>
              <a:rPr lang="en-US" altLang="en-US" smtClean="0"/>
              <a:t>Mutual funds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93BEB0-5389-4A66-A46E-C4E8417075BE}" type="slidenum">
              <a:rPr lang="en-US" smtClean="0"/>
              <a:pPr>
                <a:defRPr/>
              </a:pPr>
              <a:t>93</a:t>
            </a:fld>
            <a:endParaRPr lang="en-US"/>
          </a:p>
        </p:txBody>
      </p:sp>
      <p:sp>
        <p:nvSpPr>
          <p:cNvPr id="104451" name="Content Placeholder 2"/>
          <p:cNvSpPr>
            <a:spLocks noGrp="1"/>
          </p:cNvSpPr>
          <p:nvPr>
            <p:ph type="body" sz="quarter" idx="12"/>
          </p:nvPr>
        </p:nvSpPr>
        <p:spPr/>
        <p:txBody>
          <a:bodyPr/>
          <a:lstStyle/>
          <a:p>
            <a:r>
              <a:rPr lang="en-US" altLang="en-US" smtClean="0"/>
              <a:t>Mutual funds</a:t>
            </a:r>
          </a:p>
          <a:p>
            <a:pPr lvl="1"/>
            <a:r>
              <a:rPr lang="en-US" altLang="en-US" smtClean="0"/>
              <a:t>Pool the funds of many individuals</a:t>
            </a:r>
          </a:p>
          <a:p>
            <a:pPr lvl="1"/>
            <a:r>
              <a:rPr lang="en-US" altLang="en-US" smtClean="0"/>
              <a:t>Able to achieve economies of scale in transactions and management costs</a:t>
            </a:r>
          </a:p>
          <a:p>
            <a:pPr lvl="2"/>
            <a:r>
              <a:rPr lang="en-US" altLang="en-US" smtClean="0"/>
              <a:t>Fund owners to share in the fortunes of a much wider variety of equities</a:t>
            </a:r>
          </a:p>
          <a:p>
            <a:pPr lvl="1"/>
            <a:r>
              <a:rPr lang="en-US" altLang="en-US" smtClean="0"/>
              <a:t>Managers have incentives of their own</a:t>
            </a:r>
          </a:p>
          <a:p>
            <a:pPr lvl="1"/>
            <a:r>
              <a:rPr lang="en-US" altLang="en-US" smtClean="0"/>
              <a:t>Portfolios they hold may not always be perfect representations of the risk attitudes of their clients</a:t>
            </a:r>
          </a:p>
        </p:txBody>
      </p:sp>
    </p:spTree>
    <p:extLst>
      <p:ext uri="{BB962C8B-B14F-4D97-AF65-F5344CB8AC3E}">
        <p14:creationId xmlns:p14="http://schemas.microsoft.com/office/powerpoint/2010/main" val="1035336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r>
              <a:rPr lang="en-US" altLang="en-US" smtClean="0"/>
              <a:t>Capital asset pricing model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0F44A75-6691-4674-B586-CA3DD6921494}" type="slidenum">
              <a:rPr lang="en-US" smtClean="0"/>
              <a:pPr>
                <a:defRPr/>
              </a:pPr>
              <a:t>94</a:t>
            </a:fld>
            <a:endParaRPr lang="en-US"/>
          </a:p>
        </p:txBody>
      </p:sp>
      <p:sp>
        <p:nvSpPr>
          <p:cNvPr id="105475" name="Content Placeholder 2"/>
          <p:cNvSpPr>
            <a:spLocks noGrp="1"/>
          </p:cNvSpPr>
          <p:nvPr>
            <p:ph type="body" sz="quarter" idx="12"/>
          </p:nvPr>
        </p:nvSpPr>
        <p:spPr/>
        <p:txBody>
          <a:bodyPr/>
          <a:lstStyle/>
          <a:p>
            <a:r>
              <a:rPr lang="en-US" altLang="en-US" dirty="0" smtClean="0"/>
              <a:t>Portfolio</a:t>
            </a:r>
          </a:p>
          <a:p>
            <a:pPr lvl="1"/>
            <a:r>
              <a:rPr lang="en-US" altLang="en-US" dirty="0" smtClean="0"/>
              <a:t>Small amount (</a:t>
            </a:r>
            <a:r>
              <a:rPr lang="en-US" altLang="en-US" dirty="0" smtClean="0">
                <a:sym typeface="Symbol" pitchFamily="18" charset="2"/>
              </a:rPr>
              <a:t></a:t>
            </a:r>
            <a:r>
              <a:rPr lang="en-US" altLang="en-US" dirty="0" smtClean="0"/>
              <a:t>) of an asset with a random return x</a:t>
            </a:r>
          </a:p>
          <a:p>
            <a:pPr lvl="1"/>
            <a:r>
              <a:rPr lang="en-US" altLang="en-US" dirty="0" smtClean="0"/>
              <a:t>Market portfolio, random return M</a:t>
            </a:r>
          </a:p>
          <a:p>
            <a:pPr lvl="1"/>
            <a:r>
              <a:rPr lang="en-US" altLang="en-US" dirty="0" smtClean="0"/>
              <a:t>Return on the portfolio: </a:t>
            </a:r>
            <a:r>
              <a:rPr lang="en-US" altLang="en-US" i="1" dirty="0" smtClean="0">
                <a:solidFill>
                  <a:srgbClr val="FF0000"/>
                </a:solidFill>
              </a:rPr>
              <a:t>z = </a:t>
            </a:r>
            <a:r>
              <a:rPr lang="en-US" altLang="en-US" i="1" dirty="0" smtClean="0">
                <a:solidFill>
                  <a:srgbClr val="FF0000"/>
                </a:solidFill>
                <a:sym typeface="Symbol" pitchFamily="18" charset="2"/>
              </a:rPr>
              <a:t>x+(1- )M</a:t>
            </a:r>
          </a:p>
          <a:p>
            <a:pPr lvl="1"/>
            <a:r>
              <a:rPr lang="en-US" altLang="en-US" dirty="0" smtClean="0">
                <a:sym typeface="Symbol" pitchFamily="18" charset="2"/>
              </a:rPr>
              <a:t>Expected return: </a:t>
            </a:r>
          </a:p>
          <a:p>
            <a:pPr lvl="1">
              <a:buFont typeface="Arial" charset="0"/>
              <a:buNone/>
            </a:pPr>
            <a:r>
              <a:rPr lang="el-GR" altLang="en-US" i="1" dirty="0" smtClean="0">
                <a:solidFill>
                  <a:srgbClr val="FF0000"/>
                </a:solidFill>
                <a:sym typeface="Symbol" pitchFamily="18" charset="2"/>
              </a:rPr>
              <a:t>μ</a:t>
            </a:r>
            <a:r>
              <a:rPr lang="en-US" altLang="en-US" i="1" baseline="-25000" dirty="0" smtClean="0">
                <a:solidFill>
                  <a:srgbClr val="FF0000"/>
                </a:solidFill>
              </a:rPr>
              <a:t>z</a:t>
            </a:r>
            <a:r>
              <a:rPr lang="en-US" altLang="en-US" i="1" dirty="0" smtClean="0">
                <a:solidFill>
                  <a:srgbClr val="FF0000"/>
                </a:solidFill>
              </a:rPr>
              <a:t> = </a:t>
            </a:r>
            <a:r>
              <a:rPr lang="en-US" altLang="en-US" i="1" dirty="0" smtClean="0">
                <a:solidFill>
                  <a:srgbClr val="FF0000"/>
                </a:solidFill>
                <a:sym typeface="Symbol" pitchFamily="18" charset="2"/>
              </a:rPr>
              <a:t></a:t>
            </a:r>
            <a:r>
              <a:rPr lang="el-GR" altLang="en-US" i="1" dirty="0" smtClean="0">
                <a:solidFill>
                  <a:srgbClr val="FF0000"/>
                </a:solidFill>
                <a:sym typeface="Symbol" pitchFamily="18" charset="2"/>
              </a:rPr>
              <a:t>μ</a:t>
            </a:r>
            <a:r>
              <a:rPr lang="en-US" altLang="en-US" i="1" baseline="-25000" dirty="0" smtClean="0">
                <a:solidFill>
                  <a:srgbClr val="FF0000"/>
                </a:solidFill>
                <a:sym typeface="Symbol" pitchFamily="18" charset="2"/>
              </a:rPr>
              <a:t>x </a:t>
            </a:r>
            <a:r>
              <a:rPr lang="en-US" altLang="en-US" i="1" dirty="0" smtClean="0">
                <a:solidFill>
                  <a:srgbClr val="FF0000"/>
                </a:solidFill>
                <a:sym typeface="Symbol" pitchFamily="18" charset="2"/>
              </a:rPr>
              <a:t>+ (1- )</a:t>
            </a:r>
            <a:r>
              <a:rPr lang="el-GR" altLang="en-US" i="1" dirty="0" smtClean="0">
                <a:solidFill>
                  <a:srgbClr val="FF0000"/>
                </a:solidFill>
                <a:sym typeface="Symbol" pitchFamily="18" charset="2"/>
              </a:rPr>
              <a:t>μ</a:t>
            </a:r>
            <a:r>
              <a:rPr lang="en-US" altLang="en-US" i="1" baseline="-25000" dirty="0" smtClean="0">
                <a:solidFill>
                  <a:srgbClr val="FF0000"/>
                </a:solidFill>
                <a:sym typeface="Symbol" pitchFamily="18" charset="2"/>
              </a:rPr>
              <a:t>M</a:t>
            </a:r>
          </a:p>
          <a:p>
            <a:pPr lvl="1"/>
            <a:r>
              <a:rPr lang="en-US" altLang="en-US" dirty="0" smtClean="0"/>
              <a:t>Variance:</a:t>
            </a:r>
          </a:p>
          <a:p>
            <a:pPr lvl="1">
              <a:lnSpc>
                <a:spcPct val="150000"/>
              </a:lnSpc>
              <a:buFont typeface="Arial" charset="0"/>
              <a:buNone/>
            </a:pPr>
            <a:r>
              <a:rPr lang="en-US" altLang="en-US" dirty="0" smtClean="0"/>
              <a:t> </a:t>
            </a:r>
            <a:r>
              <a:rPr lang="el-GR" altLang="en-US" i="1" dirty="0" smtClean="0">
                <a:solidFill>
                  <a:srgbClr val="FF0000"/>
                </a:solidFill>
              </a:rPr>
              <a:t>σ</a:t>
            </a:r>
            <a:r>
              <a:rPr lang="en-US" altLang="en-US" i="1" baseline="30000" dirty="0" smtClean="0">
                <a:solidFill>
                  <a:srgbClr val="FF0000"/>
                </a:solidFill>
              </a:rPr>
              <a:t>2</a:t>
            </a:r>
            <a:r>
              <a:rPr lang="en-US" altLang="en-US" i="1" baseline="-25000" dirty="0" smtClean="0">
                <a:solidFill>
                  <a:srgbClr val="FF0000"/>
                </a:solidFill>
              </a:rPr>
              <a:t>z</a:t>
            </a:r>
            <a:r>
              <a:rPr lang="en-US" altLang="en-US" i="1" dirty="0" smtClean="0">
                <a:solidFill>
                  <a:srgbClr val="FF0000"/>
                </a:solidFill>
              </a:rPr>
              <a:t> = </a:t>
            </a:r>
            <a:r>
              <a:rPr lang="en-US" altLang="en-US" i="1" dirty="0" smtClean="0">
                <a:solidFill>
                  <a:srgbClr val="FF0000"/>
                </a:solidFill>
                <a:sym typeface="Symbol" pitchFamily="18" charset="2"/>
              </a:rPr>
              <a:t></a:t>
            </a:r>
            <a:r>
              <a:rPr lang="en-US" altLang="en-US" i="1" baseline="30000" dirty="0" smtClean="0">
                <a:solidFill>
                  <a:srgbClr val="FF0000"/>
                </a:solidFill>
                <a:sym typeface="Symbol" pitchFamily="18" charset="2"/>
              </a:rPr>
              <a:t>2</a:t>
            </a:r>
            <a:r>
              <a:rPr lang="el-GR" altLang="en-US" i="1" dirty="0" smtClean="0">
                <a:solidFill>
                  <a:srgbClr val="FF0000"/>
                </a:solidFill>
              </a:rPr>
              <a:t>σ</a:t>
            </a:r>
            <a:r>
              <a:rPr lang="en-US" altLang="en-US" i="1" baseline="30000" dirty="0" smtClean="0">
                <a:solidFill>
                  <a:srgbClr val="FF0000"/>
                </a:solidFill>
              </a:rPr>
              <a:t>2</a:t>
            </a:r>
            <a:r>
              <a:rPr lang="en-US" altLang="en-US" i="1" baseline="-25000" dirty="0" smtClean="0">
                <a:solidFill>
                  <a:srgbClr val="FF0000"/>
                </a:solidFill>
                <a:sym typeface="Symbol" pitchFamily="18" charset="2"/>
              </a:rPr>
              <a:t>x </a:t>
            </a:r>
            <a:r>
              <a:rPr lang="en-US" altLang="en-US" i="1" dirty="0" smtClean="0">
                <a:solidFill>
                  <a:srgbClr val="FF0000"/>
                </a:solidFill>
                <a:sym typeface="Symbol" pitchFamily="18" charset="2"/>
              </a:rPr>
              <a:t>+ (1- )</a:t>
            </a:r>
            <a:r>
              <a:rPr lang="en-US" altLang="en-US" i="1" baseline="30000" dirty="0" smtClean="0">
                <a:solidFill>
                  <a:srgbClr val="FF0000"/>
                </a:solidFill>
                <a:sym typeface="Symbol" pitchFamily="18" charset="2"/>
              </a:rPr>
              <a:t>2</a:t>
            </a:r>
            <a:r>
              <a:rPr lang="el-GR" altLang="en-US" i="1" dirty="0" smtClean="0">
                <a:solidFill>
                  <a:srgbClr val="FF0000"/>
                </a:solidFill>
              </a:rPr>
              <a:t>σ</a:t>
            </a:r>
            <a:r>
              <a:rPr lang="en-US" altLang="en-US" i="1" baseline="30000" dirty="0" smtClean="0">
                <a:solidFill>
                  <a:srgbClr val="FF0000"/>
                </a:solidFill>
              </a:rPr>
              <a:t>2</a:t>
            </a:r>
            <a:r>
              <a:rPr lang="en-US" altLang="en-US" i="1" baseline="-25000" dirty="0" smtClean="0">
                <a:solidFill>
                  <a:srgbClr val="FF0000"/>
                </a:solidFill>
                <a:sym typeface="Symbol" pitchFamily="18" charset="2"/>
              </a:rPr>
              <a:t>M</a:t>
            </a:r>
            <a:r>
              <a:rPr lang="en-US" altLang="en-US" i="1" dirty="0" smtClean="0">
                <a:solidFill>
                  <a:srgbClr val="FF0000"/>
                </a:solidFill>
                <a:sym typeface="Symbol" pitchFamily="18" charset="2"/>
              </a:rPr>
              <a:t> + 2(1- ) </a:t>
            </a:r>
            <a:r>
              <a:rPr lang="el-GR" altLang="en-US" i="1" dirty="0" smtClean="0">
                <a:solidFill>
                  <a:srgbClr val="FF0000"/>
                </a:solidFill>
              </a:rPr>
              <a:t>σ</a:t>
            </a:r>
            <a:r>
              <a:rPr lang="en-US" altLang="en-US" i="1" baseline="-25000" dirty="0" err="1" smtClean="0">
                <a:solidFill>
                  <a:srgbClr val="FF0000"/>
                </a:solidFill>
              </a:rPr>
              <a:t>x,</a:t>
            </a:r>
            <a:r>
              <a:rPr lang="en-US" altLang="en-US" i="1" baseline="-25000" dirty="0" err="1" smtClean="0">
                <a:solidFill>
                  <a:srgbClr val="FF0000"/>
                </a:solidFill>
                <a:sym typeface="Symbol" pitchFamily="18" charset="2"/>
              </a:rPr>
              <a:t>M</a:t>
            </a:r>
            <a:r>
              <a:rPr lang="en-US" altLang="en-US" i="1" dirty="0" smtClean="0">
                <a:solidFill>
                  <a:srgbClr val="FF0000"/>
                </a:solidFill>
                <a:sym typeface="Symbol" pitchFamily="18" charset="2"/>
              </a:rPr>
              <a:t> </a:t>
            </a:r>
            <a:endParaRPr lang="en-US" altLang="en-US" i="1" dirty="0" smtClean="0">
              <a:solidFill>
                <a:srgbClr val="FF0000"/>
              </a:solidFill>
            </a:endParaRPr>
          </a:p>
        </p:txBody>
      </p:sp>
    </p:spTree>
    <p:extLst>
      <p:ext uri="{BB962C8B-B14F-4D97-AF65-F5344CB8AC3E}">
        <p14:creationId xmlns:p14="http://schemas.microsoft.com/office/powerpoint/2010/main" val="23079613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1"/>
          <p:cNvSpPr>
            <a:spLocks noGrp="1"/>
          </p:cNvSpPr>
          <p:nvPr>
            <p:ph type="title"/>
          </p:nvPr>
        </p:nvSpPr>
        <p:spPr/>
        <p:txBody>
          <a:bodyPr/>
          <a:lstStyle/>
          <a:p>
            <a:r>
              <a:rPr lang="en-US" altLang="en-US" smtClean="0"/>
              <a:t>Capital asset pricing model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1805D1C-091F-41E0-9B9A-9EC0A6DBECE3}" type="slidenum">
              <a:rPr lang="en-US" smtClean="0"/>
              <a:pPr>
                <a:defRPr/>
              </a:pPr>
              <a:t>95</a:t>
            </a:fld>
            <a:endParaRPr lang="en-US"/>
          </a:p>
        </p:txBody>
      </p:sp>
      <p:graphicFrame>
        <p:nvGraphicFramePr>
          <p:cNvPr id="6" name="Object 2"/>
          <p:cNvGraphicFramePr>
            <a:graphicFrameLocks noChangeAspect="1"/>
          </p:cNvGraphicFramePr>
          <p:nvPr/>
        </p:nvGraphicFramePr>
        <p:xfrm>
          <a:off x="822325" y="939800"/>
          <a:ext cx="6172200" cy="4287838"/>
        </p:xfrm>
        <a:graphic>
          <a:graphicData uri="http://schemas.openxmlformats.org/presentationml/2006/ole">
            <mc:AlternateContent xmlns:mc="http://schemas.openxmlformats.org/markup-compatibility/2006">
              <mc:Choice xmlns:v="urn:schemas-microsoft-com:vml" Requires="v">
                <p:oleObj spid="_x0000_s164876" name="Equation" r:id="rId3" imgW="1955520" imgH="1358640" progId="Equation.DSMT4">
                  <p:embed/>
                </p:oleObj>
              </mc:Choice>
              <mc:Fallback>
                <p:oleObj name="Equation" r:id="rId3" imgW="1955520" imgH="1358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25" y="939800"/>
                        <a:ext cx="6172200" cy="428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751853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5130</TotalTime>
  <Words>10591</Words>
  <Application>Microsoft Office PowerPoint</Application>
  <PresentationFormat>On-screen Show (4:3)</PresentationFormat>
  <Paragraphs>786</Paragraphs>
  <Slides>95</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95</vt:i4>
      </vt:variant>
    </vt:vector>
  </HeadingPairs>
  <TitlesOfParts>
    <vt:vector size="102" baseType="lpstr">
      <vt:lpstr>chapter</vt:lpstr>
      <vt:lpstr>main</vt:lpstr>
      <vt:lpstr>figure</vt:lpstr>
      <vt:lpstr>table</vt:lpstr>
      <vt:lpstr>example</vt:lpstr>
      <vt:lpstr>extensions</vt:lpstr>
      <vt:lpstr>Equation</vt:lpstr>
      <vt:lpstr>CHAPTER     7      Uncertainty</vt:lpstr>
      <vt:lpstr>Mathematical Statistics</vt:lpstr>
      <vt:lpstr>Mathematical Statistics</vt:lpstr>
      <vt:lpstr>Mathematical Statistics</vt:lpstr>
      <vt:lpstr>Fair Gambles and The Expected Utility Hypothesis</vt:lpstr>
      <vt:lpstr>St. Petersburg Paradox</vt:lpstr>
      <vt:lpstr>St. Petersburg Paradox</vt:lpstr>
      <vt:lpstr>Expected Utility</vt:lpstr>
      <vt:lpstr>Expected Utility</vt:lpstr>
      <vt:lpstr>7.1  Bernoulli’s Solution to the Paradox and   Its Shortcomings</vt:lpstr>
      <vt:lpstr>7.1  Bernoulli’s Solution to the Paradox and   Its Shortcomings</vt:lpstr>
      <vt:lpstr>The von Neumann-Morgenstern Theorem</vt:lpstr>
      <vt:lpstr>The von Neumann-Morgenstern Theorem</vt:lpstr>
      <vt:lpstr>Expected Utility Maximization</vt:lpstr>
      <vt:lpstr>Expected Utility Maximization</vt:lpstr>
      <vt:lpstr>Expected Utility Maximization</vt:lpstr>
      <vt:lpstr>Risk Aversion</vt:lpstr>
      <vt:lpstr>Risk Aversion</vt:lpstr>
      <vt:lpstr>Risk Aversion</vt:lpstr>
      <vt:lpstr>7.1 Utility of Wealth Facing a Fair Bet</vt:lpstr>
      <vt:lpstr>Risk Aversion</vt:lpstr>
      <vt:lpstr>7.2  Comparing Two Fair Bets of Differing   Variability</vt:lpstr>
      <vt:lpstr>Risk Aversion and Insurance</vt:lpstr>
      <vt:lpstr>7.2 Willingness to Pay for Insurance</vt:lpstr>
      <vt:lpstr>7.2 Willingness to Pay for Insurance</vt:lpstr>
      <vt:lpstr>Measuring Risk Aversion</vt:lpstr>
      <vt:lpstr>Measuring Risk Aversion</vt:lpstr>
      <vt:lpstr>Measuring Risk Aversion</vt:lpstr>
      <vt:lpstr>Measuring Risk Aversion</vt:lpstr>
      <vt:lpstr>Risk Aversion and Wealth</vt:lpstr>
      <vt:lpstr>Risk Aversion and Wealth</vt:lpstr>
      <vt:lpstr>Risk Aversion and Wealth</vt:lpstr>
      <vt:lpstr>Risk Aversion and Wealth</vt:lpstr>
      <vt:lpstr>7.3  Constant Risk Aversion</vt:lpstr>
      <vt:lpstr>7.3  Constant Risk Aversion</vt:lpstr>
      <vt:lpstr>Relative Risk Aversion</vt:lpstr>
      <vt:lpstr>Relative Risk Aversion</vt:lpstr>
      <vt:lpstr>7.4  Constant Relative Risk Aversion</vt:lpstr>
      <vt:lpstr>Methods for Reducing Uncertainty and Risk</vt:lpstr>
      <vt:lpstr>Insurance</vt:lpstr>
      <vt:lpstr>Insurance</vt:lpstr>
      <vt:lpstr>Insurance</vt:lpstr>
      <vt:lpstr>Diversification</vt:lpstr>
      <vt:lpstr>Diversification</vt:lpstr>
      <vt:lpstr>Diversification</vt:lpstr>
      <vt:lpstr>Flexibility</vt:lpstr>
      <vt:lpstr>Flexibility</vt:lpstr>
      <vt:lpstr>Flexibility</vt:lpstr>
      <vt:lpstr>Flexibility</vt:lpstr>
      <vt:lpstr>Flexibility</vt:lpstr>
      <vt:lpstr>7.3 The Nature of a Real Option</vt:lpstr>
      <vt:lpstr>Flexibility</vt:lpstr>
      <vt:lpstr>7.4 More Options Cannot Make the Individual   Decision-Maker  Worse Off</vt:lpstr>
      <vt:lpstr>Flexibility</vt:lpstr>
      <vt:lpstr>7.5  Value of a Flexible-Fuel Car</vt:lpstr>
      <vt:lpstr>7.5  Value of a Flexible-Fuel Car</vt:lpstr>
      <vt:lpstr>7.5  Value of a Flexible-Fuel Car</vt:lpstr>
      <vt:lpstr>7.5  Value of a Flexible-Fuel Car</vt:lpstr>
      <vt:lpstr>7.5 Graphical Method for Computing the   Premium for a Flexible-Fuel Car</vt:lpstr>
      <vt:lpstr>Flexibility</vt:lpstr>
      <vt:lpstr>Flexibility</vt:lpstr>
      <vt:lpstr>Information</vt:lpstr>
      <vt:lpstr>Information</vt:lpstr>
      <vt:lpstr>The State-Preference Approach to Choice Under Uncertainty</vt:lpstr>
      <vt:lpstr>States of the World</vt:lpstr>
      <vt:lpstr>Utility Analysis</vt:lpstr>
      <vt:lpstr>Prices of Contingent Commodities</vt:lpstr>
      <vt:lpstr>Fair Markets for Contingent Goods</vt:lpstr>
      <vt:lpstr>Risk Aversion</vt:lpstr>
      <vt:lpstr>Risk Aversion</vt:lpstr>
      <vt:lpstr>7.6 Risk Aversions in the State-Preference Model</vt:lpstr>
      <vt:lpstr>7.6 Insurance in the State-Preference Model</vt:lpstr>
      <vt:lpstr>7.6 Insurance in the State-Preference Model</vt:lpstr>
      <vt:lpstr>7.6 Insurance in the State-Preference Model</vt:lpstr>
      <vt:lpstr>7.6 Insurance in the State-Preference Model</vt:lpstr>
      <vt:lpstr>Risk Aversion and Risk Premiums</vt:lpstr>
      <vt:lpstr>7.7 Risk Aversion and Risk Premiums</vt:lpstr>
      <vt:lpstr>Asymmetry of Information</vt:lpstr>
      <vt:lpstr>The Portfolio Problem</vt:lpstr>
      <vt:lpstr>The Portfolio Problem</vt:lpstr>
      <vt:lpstr>The Portfolio Problem</vt:lpstr>
      <vt:lpstr>The Portfolio Problem</vt:lpstr>
      <vt:lpstr>CARA utility</vt:lpstr>
      <vt:lpstr>CARA utility</vt:lpstr>
      <vt:lpstr>Portfolios of many risky assets</vt:lpstr>
      <vt:lpstr>Portfolios of many risky assets</vt:lpstr>
      <vt:lpstr>Optimal portfolios </vt:lpstr>
      <vt:lpstr>Optimal portfolios </vt:lpstr>
      <vt:lpstr>Optimal portfolios </vt:lpstr>
      <vt:lpstr>E 7.1 Efficient Portfolios</vt:lpstr>
      <vt:lpstr>Individual choices</vt:lpstr>
      <vt:lpstr>E 7.2 Investor Behavior and Risk Aversion</vt:lpstr>
      <vt:lpstr>Mutual funds</vt:lpstr>
      <vt:lpstr>Capital asset pricing model</vt:lpstr>
      <vt:lpstr>Capital asset pricing model</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311</cp:revision>
  <dcterms:created xsi:type="dcterms:W3CDTF">2016-06-05T19:40:39Z</dcterms:created>
  <dcterms:modified xsi:type="dcterms:W3CDTF">2016-06-16T14:24:53Z</dcterms:modified>
</cp:coreProperties>
</file>