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4" r:id="rId3"/>
    <p:sldMasterId id="2147483669" r:id="rId4"/>
    <p:sldMasterId id="2147483672" r:id="rId5"/>
  </p:sldMasterIdLst>
  <p:notesMasterIdLst>
    <p:notesMasterId r:id="rId40"/>
  </p:notesMasterIdLst>
  <p:handoutMasterIdLst>
    <p:handoutMasterId r:id="rId41"/>
  </p:handoutMasterIdLst>
  <p:sldIdLst>
    <p:sldId id="258" r:id="rId6"/>
    <p:sldId id="265" r:id="rId7"/>
    <p:sldId id="266" r:id="rId8"/>
    <p:sldId id="267" r:id="rId9"/>
    <p:sldId id="268" r:id="rId10"/>
    <p:sldId id="296" r:id="rId11"/>
    <p:sldId id="273" r:id="rId12"/>
    <p:sldId id="269" r:id="rId13"/>
    <p:sldId id="270" r:id="rId14"/>
    <p:sldId id="271" r:id="rId15"/>
    <p:sldId id="272"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7"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D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3799" autoAdjust="0"/>
  </p:normalViewPr>
  <p:slideViewPr>
    <p:cSldViewPr>
      <p:cViewPr>
        <p:scale>
          <a:sx n="80" d="100"/>
          <a:sy n="80" d="100"/>
        </p:scale>
        <p:origin x="-1086" y="-9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295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3143B-620F-4987-B4C6-8DA41D14F534}" type="datetimeFigureOut">
              <a:rPr lang="en-US" smtClean="0"/>
              <a:t>6/13/2016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C9E537F-0D91-4DE0-B9F5-55E2B2118790}" type="slidenum">
              <a:rPr lang="en-US" smtClean="0"/>
              <a:t>‹#›</a:t>
            </a:fld>
            <a:endParaRPr lang="en-US"/>
          </a:p>
        </p:txBody>
      </p:sp>
    </p:spTree>
    <p:extLst>
      <p:ext uri="{BB962C8B-B14F-4D97-AF65-F5344CB8AC3E}">
        <p14:creationId xmlns:p14="http://schemas.microsoft.com/office/powerpoint/2010/main" val="6755922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B7A522-1067-4090-8338-D2D3A24AAAF6}" type="datetimeFigureOut">
              <a:rPr lang="en-US" smtClean="0"/>
              <a:t>6/13/2016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19A4D4-42B8-482F-A3F9-BD6E0B3BC1CB}" type="slidenum">
              <a:rPr lang="en-US" smtClean="0"/>
              <a:t>‹#›</a:t>
            </a:fld>
            <a:endParaRPr lang="en-US"/>
          </a:p>
        </p:txBody>
      </p:sp>
    </p:spTree>
    <p:extLst>
      <p:ext uri="{BB962C8B-B14F-4D97-AF65-F5344CB8AC3E}">
        <p14:creationId xmlns:p14="http://schemas.microsoft.com/office/powerpoint/2010/main" val="1981813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19A4D4-42B8-482F-A3F9-BD6E0B3BC1CB}" type="slidenum">
              <a:rPr lang="en-US" smtClean="0"/>
              <a:t>1</a:t>
            </a:fld>
            <a:endParaRPr lang="en-US"/>
          </a:p>
        </p:txBody>
      </p:sp>
    </p:spTree>
    <p:extLst>
      <p:ext uri="{BB962C8B-B14F-4D97-AF65-F5344CB8AC3E}">
        <p14:creationId xmlns:p14="http://schemas.microsoft.com/office/powerpoint/2010/main" val="30850018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charset="0"/>
            </a:endParaRPr>
          </a:p>
        </p:txBody>
      </p:sp>
      <p:sp>
        <p:nvSpPr>
          <p:cNvPr id="4" name="Slide Number Placeholder 3"/>
          <p:cNvSpPr>
            <a:spLocks noGrp="1"/>
          </p:cNvSpPr>
          <p:nvPr>
            <p:ph type="sldNum" sz="quarter" idx="5"/>
          </p:nvPr>
        </p:nvSpPr>
        <p:spPr/>
        <p:txBody>
          <a:bodyPr/>
          <a:lstStyle/>
          <a:p>
            <a:pPr>
              <a:defRPr/>
            </a:pPr>
            <a:fld id="{D798EC09-E4FC-4722-BDE8-B43A58CA7E21}" type="slidenum">
              <a:rPr lang="en-US" smtClean="0"/>
              <a:pPr>
                <a:defRPr/>
              </a:pPr>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2971800"/>
            <a:ext cx="9144000" cy="1676400"/>
          </a:xfrm>
          <a:prstGeom prst="rect">
            <a:avLst/>
          </a:prstGeom>
          <a:noFill/>
        </p:spPr>
        <p:txBody>
          <a:bodyPr/>
          <a:lstStyle>
            <a:lvl1pPr marL="91440">
              <a:lnSpc>
                <a:spcPct val="100000"/>
              </a:lnSpc>
              <a:spcBef>
                <a:spcPts val="600"/>
              </a:spcBef>
              <a:defRPr sz="5400" b="0">
                <a:solidFill>
                  <a:srgbClr val="002D56"/>
                </a:solidFill>
              </a:defRPr>
            </a:lvl1pPr>
          </a:lstStyle>
          <a:p>
            <a:r>
              <a:rPr lang="en-US" dirty="0" smtClean="0"/>
              <a:t>CLICK TO EDIT				Master title style</a:t>
            </a:r>
            <a:endParaRPr lang="en-US" dirty="0"/>
          </a:p>
        </p:txBody>
      </p:sp>
      <p:sp>
        <p:nvSpPr>
          <p:cNvPr id="8" name="Title Placeholder 1"/>
          <p:cNvSpPr txBox="1">
            <a:spLocks/>
          </p:cNvSpPr>
          <p:nvPr userDrawn="1"/>
        </p:nvSpPr>
        <p:spPr>
          <a:xfrm>
            <a:off x="-76200" y="0"/>
            <a:ext cx="9220200" cy="609600"/>
          </a:xfrm>
          <a:prstGeom prst="rect">
            <a:avLst/>
          </a:prstGeom>
          <a:blipFill>
            <a:blip r:embed="rId2"/>
            <a:stretch>
              <a:fillRect/>
            </a:stretch>
          </a:blipFill>
        </p:spPr>
        <p:txBody>
          <a:bodyPr vert="horz" lIns="0" tIns="182880" rIns="0" bIns="45720" rtlCol="0" anchor="ctr">
            <a:noAutofit/>
          </a:bodyPr>
          <a:lst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a:lstStyle>
          <a:p>
            <a:r>
              <a:rPr lang="en-US" dirty="0" smtClean="0"/>
              <a:t>Walter Nicholson | Christopher Snyder	12th edition</a:t>
            </a:r>
            <a:endParaRPr lang="en-US" dirty="0"/>
          </a:p>
        </p:txBody>
      </p:sp>
      <p:sp>
        <p:nvSpPr>
          <p:cNvPr id="9" name="Footer Placeholder 8"/>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10" name="Slide Number Placeholder 9"/>
          <p:cNvSpPr>
            <a:spLocks noGrp="1"/>
          </p:cNvSpPr>
          <p:nvPr>
            <p:ph type="sldNum" sz="quarter" idx="11"/>
          </p:nvPr>
        </p:nvSpPr>
        <p:spPr/>
        <p:txBody>
          <a:bodyPr/>
          <a:lstStyle/>
          <a:p>
            <a:fld id="{DF079196-2514-49FB-B48C-98AEBE754E63}" type="slidenum">
              <a:rPr lang="en-US" smtClean="0"/>
              <a:t>‹#›</a:t>
            </a:fld>
            <a:endParaRPr lang="en-US"/>
          </a:p>
        </p:txBody>
      </p:sp>
    </p:spTree>
    <p:extLst>
      <p:ext uri="{BB962C8B-B14F-4D97-AF65-F5344CB8AC3E}">
        <p14:creationId xmlns:p14="http://schemas.microsoft.com/office/powerpoint/2010/main" val="3842187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5181600"/>
          </a:xfrm>
        </p:spPr>
        <p:txBody>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Tree>
    <p:extLst>
      <p:ext uri="{BB962C8B-B14F-4D97-AF65-F5344CB8AC3E}">
        <p14:creationId xmlns:p14="http://schemas.microsoft.com/office/powerpoint/2010/main" val="333848028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95400"/>
            <a:ext cx="8534400" cy="3200400"/>
          </a:xfrm>
        </p:spPr>
        <p:txBody>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Tree>
    <p:extLst>
      <p:ext uri="{BB962C8B-B14F-4D97-AF65-F5344CB8AC3E}">
        <p14:creationId xmlns:p14="http://schemas.microsoft.com/office/powerpoint/2010/main" val="413313168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34382034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9569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381000" y="3429000"/>
            <a:ext cx="8382000" cy="2743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91919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4079393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3.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8.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5.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8" name="Picture 4" descr="C:\Users\Andreea\Desktop\Cengage\Nicholson 12e\cover\ch bkg.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2590800"/>
            <a:ext cx="9144000" cy="377995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Andreea\Desktop\Cengage\Nicholson 12e\cover\MT.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516184"/>
            <a:ext cx="9144000" cy="2243731"/>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a:spLocks noGrp="1"/>
          </p:cNvSpPr>
          <p:nvPr>
            <p:ph type="ftr" sz="quarter" idx="3"/>
          </p:nvPr>
        </p:nvSpPr>
        <p:spPr>
          <a:xfrm>
            <a:off x="0" y="6400800"/>
            <a:ext cx="8686800" cy="457201"/>
          </a:xfrm>
          <a:prstGeom prst="rect">
            <a:avLst/>
          </a:prstGeom>
        </p:spPr>
        <p:txBody>
          <a:bodyPr vert="horz" lIns="91440" tIns="45720" rIns="91440" bIns="45720" rtlCol="0" anchor="ctr"/>
          <a:lstStyle>
            <a:lvl1pPr algn="l">
              <a:defRPr sz="1100">
                <a:solidFill>
                  <a:schemeClr val="tx1"/>
                </a:solidFill>
              </a:defRPr>
            </a:lvl1p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079196-2514-49FB-B48C-98AEBE754E63}" type="slidenum">
              <a:rPr lang="en-US" smtClean="0"/>
              <a:t>‹#›</a:t>
            </a:fld>
            <a:endParaRPr lang="en-US"/>
          </a:p>
        </p:txBody>
      </p:sp>
      <p:sp>
        <p:nvSpPr>
          <p:cNvPr id="7" name="Subtitle 2"/>
          <p:cNvSpPr txBox="1">
            <a:spLocks/>
          </p:cNvSpPr>
          <p:nvPr userDrawn="1"/>
        </p:nvSpPr>
        <p:spPr>
          <a:xfrm>
            <a:off x="5105400" y="5562600"/>
            <a:ext cx="4038600" cy="914400"/>
          </a:xfrm>
          <a:prstGeom prst="rect">
            <a:avLst/>
          </a:prstGeom>
        </p:spPr>
        <p:txBody>
          <a:bodyPr/>
          <a:lstStyle>
            <a:lvl1pPr marL="0" indent="0" algn="ctr" defTabSz="914400" rtl="0" eaLnBrk="1" latinLnBrk="0" hangingPunct="1">
              <a:lnSpc>
                <a:spcPct val="80000"/>
              </a:lnSpc>
              <a:spcBef>
                <a:spcPct val="20000"/>
              </a:spcBef>
              <a:buFont typeface="Arial" panose="020B0604020202020204" pitchFamily="34" charset="0"/>
              <a:buNone/>
              <a:defRPr sz="3200" kern="1200">
                <a:solidFill>
                  <a:schemeClr val="tx1"/>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r>
              <a:rPr lang="en-US" sz="1600" smtClean="0">
                <a:latin typeface="Arial" pitchFamily="34" charset="0"/>
              </a:rPr>
              <a:t>PowerPoint Slides prepared by: </a:t>
            </a:r>
          </a:p>
          <a:p>
            <a:pPr>
              <a:defRPr/>
            </a:pPr>
            <a:r>
              <a:rPr lang="en-US" sz="1600" smtClean="0">
                <a:latin typeface="Arial" pitchFamily="34" charset="0"/>
              </a:rPr>
              <a:t>V. Andreea CHIRITESCU</a:t>
            </a:r>
          </a:p>
          <a:p>
            <a:pPr>
              <a:defRPr/>
            </a:pPr>
            <a:r>
              <a:rPr lang="en-US" sz="1600" smtClean="0">
                <a:latin typeface="Arial" pitchFamily="34" charset="0"/>
              </a:rPr>
              <a:t>Eastern Illinois University</a:t>
            </a:r>
            <a:endParaRPr lang="en-US" sz="1600" dirty="0">
              <a:latin typeface="Arial" pitchFamily="34" charset="0"/>
            </a:endParaRPr>
          </a:p>
        </p:txBody>
      </p:sp>
    </p:spTree>
    <p:extLst>
      <p:ext uri="{BB962C8B-B14F-4D97-AF65-F5344CB8AC3E}">
        <p14:creationId xmlns:p14="http://schemas.microsoft.com/office/powerpoint/2010/main" val="2146056027"/>
      </p:ext>
    </p:extLst>
  </p:cSld>
  <p:clrMap bg1="lt1" tx1="dk1" bg2="lt2" tx2="dk2" accent1="accent1" accent2="accent2" accent3="accent3" accent4="accent4" accent5="accent5" accent6="accent6" hlink="hlink" folHlink="folHlink"/>
  <p:sldLayoutIdLst>
    <p:sldLayoutId id="2147483649" r:id="rId1"/>
  </p:sldLayoutIdLst>
  <p:timing>
    <p:tnLst>
      <p:par>
        <p:cTn id="1" dur="indefinite" restart="never" nodeType="tmRoot"/>
      </p:par>
    </p:tnLst>
  </p:timing>
  <p:hf hdr="0" dt="0"/>
  <p:txStyles>
    <p:title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0668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314328" y="1143000"/>
            <a:ext cx="8601072" cy="533558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0" y="6400801"/>
            <a:ext cx="8686800"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0B335A-255B-4303-A333-FBB711D61B6F}" type="slidenum">
              <a:rPr lang="en-US" smtClean="0"/>
              <a:t>‹#›</a:t>
            </a:fld>
            <a:endParaRPr lang="en-US"/>
          </a:p>
        </p:txBody>
      </p:sp>
      <p:pic>
        <p:nvPicPr>
          <p:cNvPr id="3074"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3043235" y="3043235"/>
            <a:ext cx="6400800" cy="31432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314328" y="985836"/>
            <a:ext cx="8829672" cy="157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163784"/>
      </p:ext>
    </p:extLst>
  </p:cSld>
  <p:clrMap bg1="lt1" tx1="dk1" bg2="lt2" tx2="dk2" accent1="accent1" accent2="accent2" accent3="accent3" accent4="accent4" accent5="accent5" accent6="accent6" hlink="hlink" folHlink="folHlink"/>
  <p:sldLayoutIdLst>
    <p:sldLayoutId id="2147483662" r:id="rId1"/>
    <p:sldLayoutId id="2147483663" r:id="rId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hf hdr="0" dt="0"/>
  <p:txStyles>
    <p:titleStyle>
      <a:lvl1pPr algn="ctr"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4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101" name="Picture 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143000" y="0"/>
            <a:ext cx="80010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4098"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 y="0"/>
            <a:ext cx="1143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2366463"/>
      </p:ext>
    </p:extLst>
  </p:cSld>
  <p:clrMap bg1="lt1" tx1="dk1" bg2="lt2" tx2="dk2" accent1="accent1" accent2="accent2" accent3="accent3" accent4="accent4" accent5="accent5" accent6="accent6" hlink="hlink" folHlink="folHlink"/>
  <p:sldLayoutIdLst>
    <p:sldLayoutId id="214748366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2"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5400000">
            <a:off x="5700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5400000">
            <a:off x="-3033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764344" y="0"/>
            <a:ext cx="7379656"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5122"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 y="0"/>
            <a:ext cx="1764345"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idx="1"/>
          </p:nvPr>
        </p:nvSpPr>
        <p:spPr>
          <a:xfrm>
            <a:off x="457200" y="609600"/>
            <a:ext cx="8229600" cy="58674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453884566"/>
      </p:ext>
    </p:extLst>
  </p:cSld>
  <p:clrMap bg1="lt1" tx1="dk1" bg2="lt2" tx2="dk2" accent1="accent1" accent2="accent2" accent3="accent3" accent4="accent4" accent5="accent5" accent6="accent6" hlink="hlink" folHlink="folHlink"/>
  <p:sldLayoutIdLst>
    <p:sldLayoutId id="2147483671" r:id="rId1"/>
    <p:sldLayoutId id="2147483674" r:id="rId2"/>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123"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3033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5700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9144000" cy="461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600200" y="0"/>
            <a:ext cx="75438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sp>
        <p:nvSpPr>
          <p:cNvPr id="3" name="Text Placeholder 2"/>
          <p:cNvSpPr>
            <a:spLocks noGrp="1"/>
          </p:cNvSpPr>
          <p:nvPr>
            <p:ph type="body" idx="1"/>
          </p:nvPr>
        </p:nvSpPr>
        <p:spPr>
          <a:xfrm>
            <a:off x="457200" y="533400"/>
            <a:ext cx="8229600" cy="59436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6146"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1724025"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5283110"/>
      </p:ext>
    </p:extLst>
  </p:cSld>
  <p:clrMap bg1="lt1" tx1="dk1" bg2="lt2" tx2="dk2" accent1="accent1" accent2="accent2" accent3="accent3" accent4="accent4" accent5="accent5" accent6="accent6" hlink="hlink" folHlink="folHlink"/>
  <p:sldLayoutIdLst>
    <p:sldLayoutId id="2147483673" r:id="rId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hf hdr="0" dt="0"/>
  <p:txStyles>
    <p:titleStyle>
      <a:lvl1pPr algn="ctr"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4" Type="http://schemas.openxmlformats.org/officeDocument/2006/relationships/image" Target="../media/image13.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4" Type="http://schemas.openxmlformats.org/officeDocument/2006/relationships/image" Target="../media/image14.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vmlDrawing" Target="../drawings/vmlDrawing3.vml"/><Relationship Id="rId6" Type="http://schemas.openxmlformats.org/officeDocument/2006/relationships/image" Target="../media/image16.emf"/><Relationship Id="rId5" Type="http://schemas.openxmlformats.org/officeDocument/2006/relationships/oleObject" Target="../embeddings/oleObject4.bin"/><Relationship Id="rId4" Type="http://schemas.openxmlformats.org/officeDocument/2006/relationships/image" Target="../media/image15.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image" Target="../media/image18.wmf"/><Relationship Id="rId5" Type="http://schemas.openxmlformats.org/officeDocument/2006/relationships/oleObject" Target="../embeddings/oleObject6.bin"/><Relationship Id="rId4" Type="http://schemas.openxmlformats.org/officeDocument/2006/relationships/image" Target="../media/image17.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l"/>
            <a:r>
              <a:rPr lang="en-US" dirty="0" smtClean="0"/>
              <a:t>CHAPTER</a:t>
            </a:r>
            <a:br>
              <a:rPr lang="en-US" dirty="0" smtClean="0"/>
            </a:br>
            <a:r>
              <a:rPr lang="en-US" baseline="0" dirty="0" smtClean="0"/>
              <a:t> </a:t>
            </a:r>
            <a:r>
              <a:rPr lang="en-US" b="1" baseline="0" dirty="0" smtClean="0"/>
              <a:t>1 				Economic Models</a:t>
            </a:r>
            <a:endParaRPr lang="en-US" b="1" dirty="0"/>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DF079196-2514-49FB-B48C-98AEBE754E63}" type="slidenum">
              <a:rPr lang="en-US" smtClean="0"/>
              <a:t>1</a:t>
            </a:fld>
            <a:endParaRPr lang="en-US"/>
          </a:p>
        </p:txBody>
      </p:sp>
    </p:spTree>
    <p:extLst>
      <p:ext uri="{BB962C8B-B14F-4D97-AF65-F5344CB8AC3E}">
        <p14:creationId xmlns:p14="http://schemas.microsoft.com/office/powerpoint/2010/main" val="36601923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dirty="0" smtClean="0"/>
              <a:t>Theoretical Models</a:t>
            </a:r>
          </a:p>
        </p:txBody>
      </p:sp>
      <p:sp>
        <p:nvSpPr>
          <p:cNvPr id="18435" name="Content Placeholder 2"/>
          <p:cNvSpPr>
            <a:spLocks noGrp="1"/>
          </p:cNvSpPr>
          <p:nvPr>
            <p:ph idx="1"/>
          </p:nvPr>
        </p:nvSpPr>
        <p:spPr/>
        <p:txBody>
          <a:bodyPr/>
          <a:lstStyle/>
          <a:p>
            <a:r>
              <a:rPr lang="en-US" altLang="en-US" dirty="0" smtClean="0"/>
              <a:t>Economic models</a:t>
            </a:r>
          </a:p>
          <a:p>
            <a:pPr lvl="1"/>
            <a:r>
              <a:rPr lang="en-US" altLang="en-US" dirty="0" smtClean="0"/>
              <a:t>Used by economists to describe economic activities</a:t>
            </a:r>
          </a:p>
          <a:p>
            <a:pPr lvl="1"/>
            <a:r>
              <a:rPr lang="en-US" altLang="en-US" dirty="0" smtClean="0"/>
              <a:t>Most are abstractions from reality</a:t>
            </a:r>
          </a:p>
          <a:p>
            <a:pPr lvl="1"/>
            <a:r>
              <a:rPr lang="en-US" altLang="en-US" dirty="0" smtClean="0"/>
              <a:t>Provide  aid in understanding economic behavior</a:t>
            </a:r>
          </a:p>
          <a:p>
            <a:endParaRPr lang="en-US" altLang="en-US" dirty="0" smtClean="0"/>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720B335A-255B-4303-A333-FBB711D61B6F}" type="slidenum">
              <a:rPr lang="en-US" smtClean="0"/>
              <a:t>2</a:t>
            </a:fld>
            <a:endParaRPr lang="en-US"/>
          </a:p>
        </p:txBody>
      </p:sp>
    </p:spTree>
    <p:extLst>
      <p:ext uri="{BB962C8B-B14F-4D97-AF65-F5344CB8AC3E}">
        <p14:creationId xmlns:p14="http://schemas.microsoft.com/office/powerpoint/2010/main" val="30791671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smtClean="0"/>
              <a:t>Verification of Economic Models</a:t>
            </a:r>
          </a:p>
        </p:txBody>
      </p:sp>
      <p:sp>
        <p:nvSpPr>
          <p:cNvPr id="19459" name="Rectangle 3"/>
          <p:cNvSpPr>
            <a:spLocks noGrp="1" noChangeArrowheads="1"/>
          </p:cNvSpPr>
          <p:nvPr>
            <p:ph idx="1"/>
          </p:nvPr>
        </p:nvSpPr>
        <p:spPr/>
        <p:txBody>
          <a:bodyPr/>
          <a:lstStyle/>
          <a:p>
            <a:pPr>
              <a:lnSpc>
                <a:spcPct val="110000"/>
              </a:lnSpc>
            </a:pPr>
            <a:r>
              <a:rPr lang="en-US" altLang="en-US" dirty="0" smtClean="0"/>
              <a:t>Two general methods used to verify economic models:</a:t>
            </a:r>
          </a:p>
          <a:p>
            <a:pPr lvl="1">
              <a:lnSpc>
                <a:spcPct val="110000"/>
              </a:lnSpc>
            </a:pPr>
            <a:r>
              <a:rPr lang="en-US" altLang="en-US" dirty="0" smtClean="0"/>
              <a:t>Direct approach</a:t>
            </a:r>
          </a:p>
          <a:p>
            <a:pPr lvl="2"/>
            <a:r>
              <a:rPr lang="en-US" altLang="en-US" dirty="0" smtClean="0"/>
              <a:t>Establishes the validity of the model’s assumptions</a:t>
            </a:r>
          </a:p>
          <a:p>
            <a:pPr lvl="1">
              <a:lnSpc>
                <a:spcPct val="110000"/>
              </a:lnSpc>
            </a:pPr>
            <a:r>
              <a:rPr lang="en-US" altLang="en-US" dirty="0" smtClean="0"/>
              <a:t>Indirect approach</a:t>
            </a:r>
          </a:p>
          <a:p>
            <a:pPr lvl="2"/>
            <a:r>
              <a:rPr lang="en-US" altLang="en-US" dirty="0" smtClean="0"/>
              <a:t>Shows that the model correctly predicts real-world events</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720B335A-255B-4303-A333-FBB711D61B6F}" type="slidenum">
              <a:rPr lang="en-US" smtClean="0"/>
              <a:t>3</a:t>
            </a:fld>
            <a:endParaRPr lang="en-US"/>
          </a:p>
        </p:txBody>
      </p:sp>
    </p:spTree>
    <p:extLst>
      <p:ext uri="{BB962C8B-B14F-4D97-AF65-F5344CB8AC3E}">
        <p14:creationId xmlns:p14="http://schemas.microsoft.com/office/powerpoint/2010/main" val="38526978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en-US" smtClean="0"/>
              <a:t>Verification of Economic Models</a:t>
            </a:r>
          </a:p>
        </p:txBody>
      </p:sp>
      <p:sp>
        <p:nvSpPr>
          <p:cNvPr id="20483" name="Rectangle 3"/>
          <p:cNvSpPr>
            <a:spLocks noGrp="1" noChangeArrowheads="1"/>
          </p:cNvSpPr>
          <p:nvPr>
            <p:ph idx="1"/>
          </p:nvPr>
        </p:nvSpPr>
        <p:spPr/>
        <p:txBody>
          <a:bodyPr>
            <a:normAutofit/>
          </a:bodyPr>
          <a:lstStyle/>
          <a:p>
            <a:pPr>
              <a:lnSpc>
                <a:spcPct val="110000"/>
              </a:lnSpc>
            </a:pPr>
            <a:r>
              <a:rPr lang="en-US" altLang="en-US" sz="3200" dirty="0" smtClean="0"/>
              <a:t>Using the profit-maximization model to examine these approaches</a:t>
            </a:r>
          </a:p>
          <a:p>
            <a:pPr lvl="1">
              <a:lnSpc>
                <a:spcPct val="110000"/>
              </a:lnSpc>
            </a:pPr>
            <a:r>
              <a:rPr lang="en-US" altLang="en-US" sz="2800" dirty="0" smtClean="0"/>
              <a:t>A firm seeks to maximize profit under certain assumption</a:t>
            </a:r>
          </a:p>
          <a:p>
            <a:pPr lvl="1">
              <a:lnSpc>
                <a:spcPct val="110000"/>
              </a:lnSpc>
            </a:pPr>
            <a:r>
              <a:rPr lang="en-US" altLang="en-US" sz="2800" dirty="0" smtClean="0"/>
              <a:t>Testing assumptions</a:t>
            </a:r>
          </a:p>
          <a:p>
            <a:pPr lvl="2">
              <a:lnSpc>
                <a:spcPct val="110000"/>
              </a:lnSpc>
            </a:pPr>
            <a:r>
              <a:rPr lang="en-US" altLang="en-US" dirty="0" smtClean="0"/>
              <a:t>Do firms really seek maximum profits?</a:t>
            </a:r>
          </a:p>
          <a:p>
            <a:pPr lvl="1">
              <a:lnSpc>
                <a:spcPct val="110000"/>
              </a:lnSpc>
            </a:pPr>
            <a:r>
              <a:rPr lang="en-US" altLang="en-US" sz="2800" dirty="0" smtClean="0"/>
              <a:t>Testing predictions (compare against data)</a:t>
            </a:r>
          </a:p>
          <a:p>
            <a:pPr lvl="1">
              <a:lnSpc>
                <a:spcPct val="110000"/>
              </a:lnSpc>
            </a:pPr>
            <a:r>
              <a:rPr lang="en-US" altLang="en-US" sz="2800" dirty="0" smtClean="0"/>
              <a:t>Importance of empirical analysis</a:t>
            </a:r>
          </a:p>
          <a:p>
            <a:pPr lvl="2">
              <a:lnSpc>
                <a:spcPct val="110000"/>
              </a:lnSpc>
            </a:pPr>
            <a:r>
              <a:rPr lang="en-US" altLang="en-US" dirty="0" smtClean="0"/>
              <a:t>To learn something about the real world</a:t>
            </a:r>
          </a:p>
          <a:p>
            <a:pPr lvl="2">
              <a:lnSpc>
                <a:spcPct val="110000"/>
              </a:lnSpc>
            </a:pPr>
            <a:endParaRPr lang="en-US" altLang="en-US" dirty="0" smtClean="0"/>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720B335A-255B-4303-A333-FBB711D61B6F}" type="slidenum">
              <a:rPr lang="en-US" smtClean="0"/>
              <a:t>4</a:t>
            </a:fld>
            <a:endParaRPr lang="en-US"/>
          </a:p>
        </p:txBody>
      </p:sp>
    </p:spTree>
    <p:extLst>
      <p:ext uri="{BB962C8B-B14F-4D97-AF65-F5344CB8AC3E}">
        <p14:creationId xmlns:p14="http://schemas.microsoft.com/office/powerpoint/2010/main" val="5906141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ltLang="en-US" smtClean="0"/>
              <a:t>General Features of Economic Models</a:t>
            </a:r>
          </a:p>
        </p:txBody>
      </p:sp>
      <p:sp>
        <p:nvSpPr>
          <p:cNvPr id="22531" name="Content Placeholder 4"/>
          <p:cNvSpPr>
            <a:spLocks noGrp="1"/>
          </p:cNvSpPr>
          <p:nvPr>
            <p:ph idx="1"/>
          </p:nvPr>
        </p:nvSpPr>
        <p:spPr/>
        <p:txBody>
          <a:bodyPr/>
          <a:lstStyle/>
          <a:p>
            <a:pPr marL="514350" indent="-514350">
              <a:lnSpc>
                <a:spcPct val="130000"/>
              </a:lnSpc>
              <a:buFontTx/>
              <a:buAutoNum type="arabicPeriod"/>
              <a:defRPr/>
            </a:pPr>
            <a:r>
              <a:rPr lang="en-US" dirty="0" smtClean="0"/>
              <a:t>Ceteris Paribus assumption</a:t>
            </a:r>
          </a:p>
          <a:p>
            <a:pPr marL="971550" lvl="1" indent="-514350">
              <a:defRPr/>
            </a:pPr>
            <a:r>
              <a:rPr lang="en-US" dirty="0" smtClean="0"/>
              <a:t>“Other things the same”</a:t>
            </a:r>
          </a:p>
          <a:p>
            <a:pPr lvl="1">
              <a:defRPr/>
            </a:pPr>
            <a:r>
              <a:rPr lang="en-US" dirty="0" smtClean="0"/>
              <a:t>Economic models explain </a:t>
            </a:r>
            <a:r>
              <a:rPr lang="en-US" u="sng" dirty="0" smtClean="0"/>
              <a:t>simple</a:t>
            </a:r>
            <a:r>
              <a:rPr lang="en-US" dirty="0" smtClean="0"/>
              <a:t> relationships</a:t>
            </a:r>
          </a:p>
          <a:p>
            <a:pPr lvl="2">
              <a:defRPr/>
            </a:pPr>
            <a:r>
              <a:rPr lang="en-US" dirty="0" smtClean="0"/>
              <a:t>Focus on only a few forces at a time</a:t>
            </a:r>
          </a:p>
          <a:p>
            <a:pPr lvl="2">
              <a:defRPr/>
            </a:pPr>
            <a:r>
              <a:rPr lang="en-US" dirty="0" smtClean="0"/>
              <a:t>Other variables are assumed to be unchanged</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720B335A-255B-4303-A333-FBB711D61B6F}" type="slidenum">
              <a:rPr lang="en-US" smtClean="0"/>
              <a:t>5</a:t>
            </a:fld>
            <a:endParaRPr lang="en-US"/>
          </a:p>
        </p:txBody>
      </p:sp>
    </p:spTree>
    <p:extLst>
      <p:ext uri="{BB962C8B-B14F-4D97-AF65-F5344CB8AC3E}">
        <p14:creationId xmlns:p14="http://schemas.microsoft.com/office/powerpoint/2010/main" val="27549247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ltLang="en-US" smtClean="0"/>
              <a:t>General Features of Economic Models</a:t>
            </a:r>
          </a:p>
        </p:txBody>
      </p:sp>
      <p:sp>
        <p:nvSpPr>
          <p:cNvPr id="22531" name="Content Placeholder 4"/>
          <p:cNvSpPr>
            <a:spLocks noGrp="1"/>
          </p:cNvSpPr>
          <p:nvPr>
            <p:ph idx="1"/>
          </p:nvPr>
        </p:nvSpPr>
        <p:spPr>
          <a:xfrm>
            <a:off x="381000" y="1143000"/>
            <a:ext cx="8534400" cy="5257800"/>
          </a:xfrm>
        </p:spPr>
        <p:txBody>
          <a:bodyPr>
            <a:normAutofit/>
          </a:bodyPr>
          <a:lstStyle/>
          <a:p>
            <a:pPr>
              <a:lnSpc>
                <a:spcPct val="130000"/>
              </a:lnSpc>
              <a:defRPr/>
            </a:pPr>
            <a:r>
              <a:rPr lang="en-US" dirty="0"/>
              <a:t>Structure of Economic </a:t>
            </a:r>
            <a:r>
              <a:rPr lang="en-US" dirty="0" smtClean="0"/>
              <a:t>Models</a:t>
            </a:r>
          </a:p>
          <a:p>
            <a:pPr lvl="1">
              <a:defRPr/>
            </a:pPr>
            <a:r>
              <a:rPr lang="en-US" dirty="0" smtClean="0"/>
              <a:t>Highlight </a:t>
            </a:r>
            <a:r>
              <a:rPr lang="en-US" dirty="0"/>
              <a:t>the relationships between factors that affect the decisions </a:t>
            </a:r>
            <a:r>
              <a:rPr lang="en-US" dirty="0" smtClean="0"/>
              <a:t>of households </a:t>
            </a:r>
            <a:r>
              <a:rPr lang="en-US" dirty="0"/>
              <a:t>and firms and the results of those </a:t>
            </a:r>
            <a:r>
              <a:rPr lang="en-US" dirty="0" smtClean="0"/>
              <a:t>decisions</a:t>
            </a:r>
          </a:p>
          <a:p>
            <a:pPr>
              <a:defRPr/>
            </a:pPr>
            <a:r>
              <a:rPr lang="en-US" dirty="0" smtClean="0"/>
              <a:t>Exogenous </a:t>
            </a:r>
            <a:r>
              <a:rPr lang="en-US" dirty="0"/>
              <a:t>variables </a:t>
            </a:r>
            <a:endParaRPr lang="en-US" dirty="0" smtClean="0"/>
          </a:p>
          <a:p>
            <a:pPr lvl="1">
              <a:defRPr/>
            </a:pPr>
            <a:r>
              <a:rPr lang="en-US" dirty="0" smtClean="0"/>
              <a:t>Are </a:t>
            </a:r>
            <a:r>
              <a:rPr lang="en-US" dirty="0"/>
              <a:t>outside of a decision-maker’s control </a:t>
            </a:r>
            <a:r>
              <a:rPr lang="en-US" dirty="0" smtClean="0"/>
              <a:t> </a:t>
            </a:r>
          </a:p>
          <a:p>
            <a:pPr>
              <a:defRPr/>
            </a:pPr>
            <a:r>
              <a:rPr lang="en-US" dirty="0" smtClean="0"/>
              <a:t>Endogenous variables</a:t>
            </a:r>
          </a:p>
          <a:p>
            <a:pPr lvl="1">
              <a:defRPr/>
            </a:pPr>
            <a:r>
              <a:rPr lang="en-US" dirty="0" smtClean="0"/>
              <a:t>Determined </a:t>
            </a:r>
            <a:r>
              <a:rPr lang="en-US" dirty="0"/>
              <a:t>within our models</a:t>
            </a:r>
            <a:endParaRPr lang="en-US" dirty="0" smtClean="0"/>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720B335A-255B-4303-A333-FBB711D61B6F}" type="slidenum">
              <a:rPr lang="en-US" smtClean="0"/>
              <a:t>6</a:t>
            </a:fld>
            <a:endParaRPr lang="en-US"/>
          </a:p>
        </p:txBody>
      </p:sp>
    </p:spTree>
    <p:extLst>
      <p:ext uri="{BB962C8B-B14F-4D97-AF65-F5344CB8AC3E}">
        <p14:creationId xmlns:p14="http://schemas.microsoft.com/office/powerpoint/2010/main" val="39188876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1.1</a:t>
            </a:r>
            <a:r>
              <a:rPr lang="en-US" altLang="en-US" dirty="0"/>
              <a:t>	</a:t>
            </a:r>
            <a:r>
              <a:rPr lang="en-US" altLang="en-US" dirty="0" smtClean="0"/>
              <a:t>Structure of a Typical Microeconomic Model</a:t>
            </a:r>
          </a:p>
        </p:txBody>
      </p:sp>
      <p:sp>
        <p:nvSpPr>
          <p:cNvPr id="25603" name="Text Placeholder 2"/>
          <p:cNvSpPr>
            <a:spLocks noGrp="1"/>
          </p:cNvSpPr>
          <p:nvPr>
            <p:ph sz="half" idx="1"/>
          </p:nvPr>
        </p:nvSpPr>
        <p:spPr>
          <a:xfrm>
            <a:off x="5334000" y="1219200"/>
            <a:ext cx="3200400" cy="4525963"/>
          </a:xfrm>
        </p:spPr>
        <p:txBody>
          <a:bodyPr>
            <a:normAutofit/>
          </a:bodyPr>
          <a:lstStyle/>
          <a:p>
            <a:pPr>
              <a:spcBef>
                <a:spcPct val="0"/>
              </a:spcBef>
            </a:pPr>
            <a:r>
              <a:rPr lang="en-US" altLang="en-US" sz="2800" dirty="0" smtClean="0"/>
              <a:t>Values for exogenous variables are inputs into most economic models. </a:t>
            </a:r>
          </a:p>
          <a:p>
            <a:pPr>
              <a:spcBef>
                <a:spcPct val="0"/>
              </a:spcBef>
            </a:pPr>
            <a:endParaRPr lang="en-US" altLang="en-US" sz="2800" dirty="0"/>
          </a:p>
          <a:p>
            <a:pPr>
              <a:spcBef>
                <a:spcPct val="0"/>
              </a:spcBef>
            </a:pPr>
            <a:r>
              <a:rPr lang="en-US" altLang="en-US" sz="2800" dirty="0" smtClean="0"/>
              <a:t>Model outputs (results) are values for the endogenous variables.</a:t>
            </a:r>
          </a:p>
        </p:txBody>
      </p:sp>
      <p:sp>
        <p:nvSpPr>
          <p:cNvPr id="25607" name="Footer Placeholder 7"/>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pic>
        <p:nvPicPr>
          <p:cNvPr id="25610"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8088" y="730250"/>
            <a:ext cx="3751262" cy="571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1"/>
          </p:nvPr>
        </p:nvSpPr>
        <p:spPr/>
        <p:txBody>
          <a:bodyPr/>
          <a:lstStyle/>
          <a:p>
            <a:fld id="{F2BCF9F2-1022-4C47-AC3A-FA21E418CE18}" type="slidenum">
              <a:rPr lang="en-US" smtClean="0"/>
              <a:t>7</a:t>
            </a:fld>
            <a:endParaRPr lang="en-US" dirty="0"/>
          </a:p>
        </p:txBody>
      </p:sp>
    </p:spTree>
    <p:extLst>
      <p:ext uri="{BB962C8B-B14F-4D97-AF65-F5344CB8AC3E}">
        <p14:creationId xmlns:p14="http://schemas.microsoft.com/office/powerpoint/2010/main" val="28607385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5610"/>
                                        </p:tgtEl>
                                        <p:attrNameLst>
                                          <p:attrName>style.visibility</p:attrName>
                                        </p:attrNameLst>
                                      </p:cBhvr>
                                      <p:to>
                                        <p:strVal val="visible"/>
                                      </p:to>
                                    </p:set>
                                    <p:animEffect transition="in" filter="wipe(left)">
                                      <p:cBhvr>
                                        <p:cTn id="7" dur="500"/>
                                        <p:tgtEl>
                                          <p:spTgt spid="2561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603">
                                            <p:txEl>
                                              <p:pRg st="0" end="0"/>
                                            </p:txEl>
                                          </p:spTgt>
                                        </p:tgtEl>
                                        <p:attrNameLst>
                                          <p:attrName>style.visibility</p:attrName>
                                        </p:attrNameLst>
                                      </p:cBhvr>
                                      <p:to>
                                        <p:strVal val="visible"/>
                                      </p:to>
                                    </p:set>
                                    <p:animEffect transition="in" filter="wipe(left)">
                                      <p:cBhvr>
                                        <p:cTn id="11" dur="500"/>
                                        <p:tgtEl>
                                          <p:spTgt spid="2560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5603">
                                            <p:txEl>
                                              <p:pRg st="2" end="2"/>
                                            </p:txEl>
                                          </p:spTgt>
                                        </p:tgtEl>
                                        <p:attrNameLst>
                                          <p:attrName>style.visibility</p:attrName>
                                        </p:attrNameLst>
                                      </p:cBhvr>
                                      <p:to>
                                        <p:strVal val="visible"/>
                                      </p:to>
                                    </p:set>
                                    <p:animEffect transition="in" filter="wipe(left)">
                                      <p:cBhvr>
                                        <p:cTn id="15" dur="500"/>
                                        <p:tgtEl>
                                          <p:spTgt spid="256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ltLang="en-US" smtClean="0"/>
              <a:t>General Features of Economic Models</a:t>
            </a:r>
          </a:p>
        </p:txBody>
      </p:sp>
      <p:sp>
        <p:nvSpPr>
          <p:cNvPr id="22531" name="Content Placeholder 4"/>
          <p:cNvSpPr>
            <a:spLocks noGrp="1"/>
          </p:cNvSpPr>
          <p:nvPr>
            <p:ph idx="1"/>
          </p:nvPr>
        </p:nvSpPr>
        <p:spPr/>
        <p:txBody>
          <a:bodyPr/>
          <a:lstStyle/>
          <a:p>
            <a:pPr>
              <a:buFontTx/>
              <a:buNone/>
            </a:pPr>
            <a:r>
              <a:rPr lang="en-US" altLang="en-US" dirty="0" smtClean="0"/>
              <a:t>2. Optimization assumption </a:t>
            </a:r>
          </a:p>
          <a:p>
            <a:pPr lvl="1"/>
            <a:r>
              <a:rPr lang="en-US" altLang="en-US" dirty="0" smtClean="0"/>
              <a:t>Economic actors are rationally pursuing a goal</a:t>
            </a:r>
          </a:p>
          <a:p>
            <a:pPr lvl="2"/>
            <a:r>
              <a:rPr lang="en-US" altLang="en-US" dirty="0" smtClean="0"/>
              <a:t>Consumers: maximize utility</a:t>
            </a:r>
          </a:p>
          <a:p>
            <a:pPr lvl="2"/>
            <a:r>
              <a:rPr lang="en-US" altLang="en-US" dirty="0" smtClean="0"/>
              <a:t>Firms: maximize profits (or minimize costs)</a:t>
            </a:r>
          </a:p>
          <a:p>
            <a:pPr lvl="2"/>
            <a:r>
              <a:rPr lang="en-US" altLang="en-US" dirty="0" smtClean="0"/>
              <a:t>Government regulators: maximize public welfare</a:t>
            </a:r>
          </a:p>
          <a:p>
            <a:pPr lvl="1"/>
            <a:r>
              <a:rPr lang="en-US" altLang="en-US" dirty="0" smtClean="0"/>
              <a:t>Generate precise, solvable models</a:t>
            </a:r>
          </a:p>
          <a:p>
            <a:pPr lvl="1"/>
            <a:r>
              <a:rPr lang="en-US" altLang="en-US" dirty="0" smtClean="0"/>
              <a:t>Optimization models appear to perform fairly well in explaining reality</a:t>
            </a:r>
          </a:p>
          <a:p>
            <a:pPr lvl="1"/>
            <a:endParaRPr lang="en-US" altLang="en-US" dirty="0" smtClean="0"/>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720B335A-255B-4303-A333-FBB711D61B6F}" type="slidenum">
              <a:rPr lang="en-US" smtClean="0"/>
              <a:t>8</a:t>
            </a:fld>
            <a:endParaRPr lang="en-US"/>
          </a:p>
        </p:txBody>
      </p:sp>
    </p:spTree>
    <p:extLst>
      <p:ext uri="{BB962C8B-B14F-4D97-AF65-F5344CB8AC3E}">
        <p14:creationId xmlns:p14="http://schemas.microsoft.com/office/powerpoint/2010/main" val="29887808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1.1	Profit Maximization</a:t>
            </a:r>
          </a:p>
        </p:txBody>
      </p:sp>
      <p:sp>
        <p:nvSpPr>
          <p:cNvPr id="23557" name="Footer Placeholder 5"/>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23555" name="Content Placeholder 2"/>
          <p:cNvSpPr>
            <a:spLocks noGrp="1"/>
          </p:cNvSpPr>
          <p:nvPr>
            <p:ph type="body" sz="quarter" idx="12"/>
          </p:nvPr>
        </p:nvSpPr>
        <p:spPr>
          <a:prstGeom prst="rect">
            <a:avLst/>
          </a:prstGeom>
        </p:spPr>
        <p:txBody>
          <a:bodyPr/>
          <a:lstStyle/>
          <a:p>
            <a:r>
              <a:rPr lang="en-US" altLang="en-US" dirty="0" smtClean="0"/>
              <a:t>A firm can sell all the output that it wishes at an exogenously determined price of </a:t>
            </a:r>
            <a:r>
              <a:rPr lang="en-US" altLang="en-US" i="1" dirty="0" smtClean="0"/>
              <a:t>p</a:t>
            </a:r>
            <a:r>
              <a:rPr lang="en-US" altLang="en-US" dirty="0" smtClean="0"/>
              <a:t> per unit</a:t>
            </a:r>
          </a:p>
          <a:p>
            <a:pPr lvl="1"/>
            <a:r>
              <a:rPr lang="en-US" altLang="en-US" dirty="0" smtClean="0"/>
              <a:t>Total costs of production, </a:t>
            </a:r>
            <a:r>
              <a:rPr lang="en-US" altLang="en-US" i="1" dirty="0" smtClean="0"/>
              <a:t>C</a:t>
            </a:r>
            <a:r>
              <a:rPr lang="en-US" altLang="en-US" dirty="0" smtClean="0"/>
              <a:t>, depend on the amount produced, </a:t>
            </a:r>
            <a:r>
              <a:rPr lang="en-US" altLang="en-US" i="1" dirty="0" smtClean="0"/>
              <a:t>q</a:t>
            </a:r>
          </a:p>
          <a:p>
            <a:r>
              <a:rPr lang="en-US" altLang="en-US" dirty="0" smtClean="0"/>
              <a:t>Profits = </a:t>
            </a:r>
            <a:r>
              <a:rPr lang="el-GR" altLang="en-US" dirty="0" smtClean="0"/>
              <a:t>π</a:t>
            </a:r>
            <a:r>
              <a:rPr lang="en-US" altLang="en-US" dirty="0" smtClean="0"/>
              <a:t> = </a:t>
            </a:r>
            <a:r>
              <a:rPr lang="en-US" altLang="en-US" i="1" dirty="0" err="1" smtClean="0"/>
              <a:t>pq</a:t>
            </a:r>
            <a:r>
              <a:rPr lang="en-US" altLang="en-US" dirty="0" smtClean="0"/>
              <a:t> – </a:t>
            </a:r>
            <a:r>
              <a:rPr lang="en-US" altLang="en-US" i="1" dirty="0" smtClean="0"/>
              <a:t>C(q)</a:t>
            </a:r>
          </a:p>
          <a:p>
            <a:r>
              <a:rPr lang="en-US" altLang="en-US" dirty="0" smtClean="0"/>
              <a:t>The profit-maximization output level, </a:t>
            </a:r>
            <a:r>
              <a:rPr lang="en-US" altLang="en-US" i="1" dirty="0" smtClean="0"/>
              <a:t>q*</a:t>
            </a:r>
          </a:p>
          <a:p>
            <a:pPr lvl="1"/>
            <a:r>
              <a:rPr lang="en-US" altLang="en-US" dirty="0" smtClean="0"/>
              <a:t>First-order condition</a:t>
            </a:r>
          </a:p>
          <a:p>
            <a:pPr lvl="2"/>
            <a:r>
              <a:rPr lang="en-US" altLang="en-US" dirty="0" smtClean="0"/>
              <a:t>Output level for which price is equal to marginal cost, </a:t>
            </a:r>
            <a:r>
              <a:rPr lang="en-US" altLang="en-US" i="1" dirty="0" smtClean="0"/>
              <a:t>C’(q)</a:t>
            </a:r>
          </a:p>
          <a:p>
            <a:pPr lvl="1"/>
            <a:r>
              <a:rPr lang="en-US" altLang="en-US" dirty="0" smtClean="0"/>
              <a:t>Second-order condition</a:t>
            </a:r>
          </a:p>
          <a:p>
            <a:pPr lvl="2"/>
            <a:r>
              <a:rPr lang="en-US" altLang="en-US" dirty="0" smtClean="0"/>
              <a:t>Marginal cost must be increasing at </a:t>
            </a:r>
            <a:r>
              <a:rPr lang="en-US" altLang="en-US" i="1" dirty="0" smtClean="0"/>
              <a:t>q*</a:t>
            </a:r>
          </a:p>
        </p:txBody>
      </p:sp>
      <p:sp>
        <p:nvSpPr>
          <p:cNvPr id="2" name="Slide Number Placeholder 1"/>
          <p:cNvSpPr>
            <a:spLocks noGrp="1"/>
          </p:cNvSpPr>
          <p:nvPr>
            <p:ph type="sldNum" sz="quarter" idx="11"/>
          </p:nvPr>
        </p:nvSpPr>
        <p:spPr/>
        <p:txBody>
          <a:bodyPr/>
          <a:lstStyle/>
          <a:p>
            <a:fld id="{F2BCF9F2-1022-4C47-AC3A-FA21E418CE18}" type="slidenum">
              <a:rPr lang="en-US" smtClean="0"/>
              <a:t>9</a:t>
            </a:fld>
            <a:endParaRPr lang="en-US" dirty="0"/>
          </a:p>
        </p:txBody>
      </p:sp>
    </p:spTree>
    <p:extLst>
      <p:ext uri="{BB962C8B-B14F-4D97-AF65-F5344CB8AC3E}">
        <p14:creationId xmlns:p14="http://schemas.microsoft.com/office/powerpoint/2010/main" val="20862683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1.1	 Profit Maximization</a:t>
            </a:r>
          </a:p>
        </p:txBody>
      </p:sp>
      <p:sp>
        <p:nvSpPr>
          <p:cNvPr id="1030" name="Footer Placeholder 6"/>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1028" name="Content Placeholder 2"/>
          <p:cNvSpPr>
            <a:spLocks noGrp="1"/>
          </p:cNvSpPr>
          <p:nvPr>
            <p:ph type="body" sz="quarter" idx="12"/>
          </p:nvPr>
        </p:nvSpPr>
        <p:spPr>
          <a:prstGeom prst="rect">
            <a:avLst/>
          </a:prstGeom>
        </p:spPr>
        <p:txBody>
          <a:bodyPr/>
          <a:lstStyle/>
          <a:p>
            <a:endParaRPr lang="en-US" altLang="en-US" smtClean="0"/>
          </a:p>
          <a:p>
            <a:endParaRPr lang="en-US" altLang="en-US" smtClean="0"/>
          </a:p>
        </p:txBody>
      </p:sp>
      <p:graphicFrame>
        <p:nvGraphicFramePr>
          <p:cNvPr id="6" name="Object 2"/>
          <p:cNvGraphicFramePr>
            <a:graphicFrameLocks noChangeAspect="1"/>
          </p:cNvGraphicFramePr>
          <p:nvPr/>
        </p:nvGraphicFramePr>
        <p:xfrm>
          <a:off x="584200" y="554038"/>
          <a:ext cx="6411913" cy="5905500"/>
        </p:xfrm>
        <a:graphic>
          <a:graphicData uri="http://schemas.openxmlformats.org/presentationml/2006/ole">
            <mc:AlternateContent xmlns:mc="http://schemas.openxmlformats.org/markup-compatibility/2006">
              <mc:Choice xmlns:v="urn:schemas-microsoft-com:vml" Requires="v">
                <p:oleObj spid="_x0000_s7186" name="Equation" r:id="rId3" imgW="2438280" imgH="2247840" progId="Equation.DSMT4">
                  <p:embed/>
                </p:oleObj>
              </mc:Choice>
              <mc:Fallback>
                <p:oleObj name="Equation" r:id="rId3" imgW="2438280" imgH="22478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200" y="554038"/>
                        <a:ext cx="6411913" cy="590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Slide Number Placeholder 1"/>
          <p:cNvSpPr>
            <a:spLocks noGrp="1"/>
          </p:cNvSpPr>
          <p:nvPr>
            <p:ph type="sldNum" sz="quarter" idx="11"/>
          </p:nvPr>
        </p:nvSpPr>
        <p:spPr/>
        <p:txBody>
          <a:bodyPr/>
          <a:lstStyle/>
          <a:p>
            <a:fld id="{F2BCF9F2-1022-4C47-AC3A-FA21E418CE18}" type="slidenum">
              <a:rPr lang="en-US" smtClean="0"/>
              <a:t>10</a:t>
            </a:fld>
            <a:endParaRPr lang="en-US" dirty="0"/>
          </a:p>
        </p:txBody>
      </p:sp>
    </p:spTree>
    <p:extLst>
      <p:ext uri="{BB962C8B-B14F-4D97-AF65-F5344CB8AC3E}">
        <p14:creationId xmlns:p14="http://schemas.microsoft.com/office/powerpoint/2010/main" val="24986952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ltLang="en-US" smtClean="0"/>
              <a:t>General Features of Economic Models</a:t>
            </a:r>
          </a:p>
        </p:txBody>
      </p:sp>
      <p:sp>
        <p:nvSpPr>
          <p:cNvPr id="24579" name="Content Placeholder 4"/>
          <p:cNvSpPr>
            <a:spLocks noGrp="1"/>
          </p:cNvSpPr>
          <p:nvPr>
            <p:ph idx="1"/>
          </p:nvPr>
        </p:nvSpPr>
        <p:spPr/>
        <p:txBody>
          <a:bodyPr/>
          <a:lstStyle/>
          <a:p>
            <a:pPr>
              <a:buFontTx/>
              <a:buNone/>
            </a:pPr>
            <a:r>
              <a:rPr lang="en-US" altLang="en-US" smtClean="0"/>
              <a:t>3. Positive-normative distinction </a:t>
            </a:r>
          </a:p>
          <a:p>
            <a:r>
              <a:rPr lang="en-US" altLang="en-US" smtClean="0"/>
              <a:t>Positive economic theories</a:t>
            </a:r>
          </a:p>
          <a:p>
            <a:pPr lvl="1"/>
            <a:r>
              <a:rPr lang="en-US" altLang="en-US" smtClean="0"/>
              <a:t>Seek to explain the economic phenomena that are observed</a:t>
            </a:r>
          </a:p>
          <a:p>
            <a:r>
              <a:rPr lang="en-US" altLang="en-US" smtClean="0"/>
              <a:t>Normative economic theories </a:t>
            </a:r>
          </a:p>
          <a:p>
            <a:pPr lvl="1"/>
            <a:r>
              <a:rPr lang="en-US" altLang="en-US" smtClean="0"/>
              <a:t>Focus on what “should” be done</a:t>
            </a:r>
          </a:p>
          <a:p>
            <a:endParaRPr lang="en-US" altLang="en-US" smtClean="0"/>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720B335A-255B-4303-A333-FBB711D61B6F}" type="slidenum">
              <a:rPr lang="en-US" smtClean="0"/>
              <a:t>11</a:t>
            </a:fld>
            <a:endParaRPr lang="en-US"/>
          </a:p>
        </p:txBody>
      </p:sp>
    </p:spTree>
    <p:extLst>
      <p:ext uri="{BB962C8B-B14F-4D97-AF65-F5344CB8AC3E}">
        <p14:creationId xmlns:p14="http://schemas.microsoft.com/office/powerpoint/2010/main" val="36804049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smtClean="0"/>
              <a:t>The Economic Theory of Value</a:t>
            </a:r>
          </a:p>
        </p:txBody>
      </p:sp>
      <p:sp>
        <p:nvSpPr>
          <p:cNvPr id="26627" name="Content Placeholder 2"/>
          <p:cNvSpPr>
            <a:spLocks noGrp="1"/>
          </p:cNvSpPr>
          <p:nvPr>
            <p:ph idx="1"/>
          </p:nvPr>
        </p:nvSpPr>
        <p:spPr/>
        <p:txBody>
          <a:bodyPr>
            <a:normAutofit/>
          </a:bodyPr>
          <a:lstStyle/>
          <a:p>
            <a:r>
              <a:rPr lang="en-US" altLang="en-US" dirty="0" smtClean="0"/>
              <a:t>Early economic thoughts on “value”</a:t>
            </a:r>
          </a:p>
          <a:p>
            <a:pPr lvl="1"/>
            <a:r>
              <a:rPr lang="en-US" altLang="en-US" dirty="0" smtClean="0"/>
              <a:t>“Value” was considered to be synonymous with “importance”</a:t>
            </a:r>
          </a:p>
          <a:p>
            <a:pPr lvl="1"/>
            <a:r>
              <a:rPr lang="en-US" altLang="en-US" dirty="0" smtClean="0"/>
              <a:t>The price of an item may differ from its value</a:t>
            </a:r>
          </a:p>
          <a:p>
            <a:pPr lvl="1"/>
            <a:r>
              <a:rPr lang="en-US" altLang="en-US" dirty="0" smtClean="0"/>
              <a:t>Establish the idea of a “just price” for some items and examine how actual market prices conformed to this ideal</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720B335A-255B-4303-A333-FBB711D61B6F}" type="slidenum">
              <a:rPr lang="en-US" smtClean="0"/>
              <a:t>12</a:t>
            </a:fld>
            <a:endParaRPr lang="en-US"/>
          </a:p>
        </p:txBody>
      </p:sp>
    </p:spTree>
    <p:extLst>
      <p:ext uri="{BB962C8B-B14F-4D97-AF65-F5344CB8AC3E}">
        <p14:creationId xmlns:p14="http://schemas.microsoft.com/office/powerpoint/2010/main" val="12978171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ltLang="en-US" smtClean="0"/>
              <a:t>The Economic Theory of Value</a:t>
            </a:r>
          </a:p>
        </p:txBody>
      </p:sp>
      <p:sp>
        <p:nvSpPr>
          <p:cNvPr id="27651" name="Content Placeholder 2"/>
          <p:cNvSpPr>
            <a:spLocks noGrp="1"/>
          </p:cNvSpPr>
          <p:nvPr>
            <p:ph idx="1"/>
          </p:nvPr>
        </p:nvSpPr>
        <p:spPr/>
        <p:txBody>
          <a:bodyPr/>
          <a:lstStyle/>
          <a:p>
            <a:r>
              <a:rPr lang="en-US" altLang="en-US" dirty="0" smtClean="0"/>
              <a:t>The founding of modern economics</a:t>
            </a:r>
          </a:p>
          <a:p>
            <a:pPr lvl="1"/>
            <a:r>
              <a:rPr lang="en-US" altLang="en-US" i="1" dirty="0" smtClean="0"/>
              <a:t>The wealth of nations</a:t>
            </a:r>
            <a:r>
              <a:rPr lang="en-US" altLang="en-US" dirty="0" smtClean="0"/>
              <a:t> by Adam Smith is considered the beginning of modern economics</a:t>
            </a:r>
          </a:p>
          <a:p>
            <a:pPr lvl="1"/>
            <a:r>
              <a:rPr lang="en-US" altLang="en-US" dirty="0" smtClean="0"/>
              <a:t>Finding a way to describe the relationship between value and price</a:t>
            </a:r>
          </a:p>
          <a:p>
            <a:pPr lvl="2"/>
            <a:r>
              <a:rPr lang="en-US" altLang="en-US" u="sng" dirty="0" smtClean="0"/>
              <a:t>Value</a:t>
            </a:r>
            <a:r>
              <a:rPr lang="en-US" altLang="en-US" dirty="0" smtClean="0"/>
              <a:t> meant “value in use”</a:t>
            </a:r>
          </a:p>
          <a:p>
            <a:pPr lvl="2">
              <a:lnSpc>
                <a:spcPct val="110000"/>
              </a:lnSpc>
            </a:pPr>
            <a:r>
              <a:rPr lang="en-US" altLang="en-US" u="sng" dirty="0" smtClean="0"/>
              <a:t>Price</a:t>
            </a:r>
            <a:r>
              <a:rPr lang="en-US" altLang="en-US" dirty="0" smtClean="0"/>
              <a:t> meant “value in exchange” </a:t>
            </a:r>
          </a:p>
          <a:p>
            <a:pPr lvl="2">
              <a:lnSpc>
                <a:spcPct val="110000"/>
              </a:lnSpc>
            </a:pPr>
            <a:r>
              <a:rPr lang="en-US" altLang="en-US" dirty="0" smtClean="0"/>
              <a:t>Water-diamond paradox </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720B335A-255B-4303-A333-FBB711D61B6F}" type="slidenum">
              <a:rPr lang="en-US" smtClean="0"/>
              <a:t>13</a:t>
            </a:fld>
            <a:endParaRPr lang="en-US"/>
          </a:p>
        </p:txBody>
      </p:sp>
    </p:spTree>
    <p:extLst>
      <p:ext uri="{BB962C8B-B14F-4D97-AF65-F5344CB8AC3E}">
        <p14:creationId xmlns:p14="http://schemas.microsoft.com/office/powerpoint/2010/main" val="31713829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smtClean="0"/>
              <a:t>The Economic Theory of Value</a:t>
            </a:r>
          </a:p>
        </p:txBody>
      </p:sp>
      <p:sp>
        <p:nvSpPr>
          <p:cNvPr id="28675" name="Content Placeholder 2"/>
          <p:cNvSpPr>
            <a:spLocks noGrp="1"/>
          </p:cNvSpPr>
          <p:nvPr>
            <p:ph idx="1"/>
          </p:nvPr>
        </p:nvSpPr>
        <p:spPr/>
        <p:txBody>
          <a:bodyPr/>
          <a:lstStyle/>
          <a:p>
            <a:r>
              <a:rPr lang="en-US" altLang="en-US" dirty="0" smtClean="0"/>
              <a:t>Labor theory of exchange value</a:t>
            </a:r>
          </a:p>
          <a:p>
            <a:pPr lvl="1"/>
            <a:r>
              <a:rPr lang="en-US" altLang="en-US" dirty="0" smtClean="0"/>
              <a:t>The exchange values of goods are determined by the costs of producing them</a:t>
            </a:r>
          </a:p>
          <a:p>
            <a:pPr lvl="2"/>
            <a:r>
              <a:rPr lang="en-US" altLang="en-US" dirty="0" smtClean="0"/>
              <a:t>Primarily affected by labor costs</a:t>
            </a:r>
          </a:p>
          <a:p>
            <a:pPr lvl="1"/>
            <a:r>
              <a:rPr lang="en-US" altLang="en-US" dirty="0" smtClean="0"/>
              <a:t>Diamond-water paradox</a:t>
            </a:r>
          </a:p>
          <a:p>
            <a:pPr lvl="2"/>
            <a:r>
              <a:rPr lang="en-US" altLang="en-US" dirty="0" smtClean="0"/>
              <a:t>Producing diamonds requires more labor than producing water</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720B335A-255B-4303-A333-FBB711D61B6F}" type="slidenum">
              <a:rPr lang="en-US" smtClean="0"/>
              <a:t>14</a:t>
            </a:fld>
            <a:endParaRPr lang="en-US"/>
          </a:p>
        </p:txBody>
      </p:sp>
    </p:spTree>
    <p:extLst>
      <p:ext uri="{BB962C8B-B14F-4D97-AF65-F5344CB8AC3E}">
        <p14:creationId xmlns:p14="http://schemas.microsoft.com/office/powerpoint/2010/main" val="20933134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altLang="en-US" smtClean="0"/>
              <a:t>The Economic Theory of Value</a:t>
            </a:r>
          </a:p>
        </p:txBody>
      </p:sp>
      <p:sp>
        <p:nvSpPr>
          <p:cNvPr id="29699" name="Content Placeholder 2"/>
          <p:cNvSpPr>
            <a:spLocks noGrp="1"/>
          </p:cNvSpPr>
          <p:nvPr>
            <p:ph idx="1"/>
          </p:nvPr>
        </p:nvSpPr>
        <p:spPr/>
        <p:txBody>
          <a:bodyPr/>
          <a:lstStyle/>
          <a:p>
            <a:r>
              <a:rPr lang="en-US" altLang="en-US" smtClean="0"/>
              <a:t>The marginalist revolution</a:t>
            </a:r>
          </a:p>
          <a:p>
            <a:pPr lvl="1"/>
            <a:r>
              <a:rPr lang="en-US" altLang="en-US" smtClean="0"/>
              <a:t>The exchange value of an item is determined by the usefulness of the </a:t>
            </a:r>
            <a:r>
              <a:rPr lang="en-US" altLang="en-US" i="1" smtClean="0"/>
              <a:t>last unit consumed</a:t>
            </a:r>
          </a:p>
          <a:p>
            <a:pPr lvl="2"/>
            <a:r>
              <a:rPr lang="en-US" altLang="en-US" smtClean="0"/>
              <a:t>Since water is plentiful, consuming an additional unit has a relatively low value</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720B335A-255B-4303-A333-FBB711D61B6F}" type="slidenum">
              <a:rPr lang="en-US" smtClean="0"/>
              <a:t>15</a:t>
            </a:fld>
            <a:endParaRPr lang="en-US"/>
          </a:p>
        </p:txBody>
      </p:sp>
    </p:spTree>
    <p:extLst>
      <p:ext uri="{BB962C8B-B14F-4D97-AF65-F5344CB8AC3E}">
        <p14:creationId xmlns:p14="http://schemas.microsoft.com/office/powerpoint/2010/main" val="6106684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ltLang="en-US" smtClean="0"/>
              <a:t>The Economic Theory of Value</a:t>
            </a:r>
          </a:p>
        </p:txBody>
      </p:sp>
      <p:sp>
        <p:nvSpPr>
          <p:cNvPr id="30723" name="Content Placeholder 2"/>
          <p:cNvSpPr>
            <a:spLocks noGrp="1"/>
          </p:cNvSpPr>
          <p:nvPr>
            <p:ph idx="1"/>
          </p:nvPr>
        </p:nvSpPr>
        <p:spPr/>
        <p:txBody>
          <a:bodyPr/>
          <a:lstStyle/>
          <a:p>
            <a:r>
              <a:rPr lang="en-US" altLang="en-US" smtClean="0"/>
              <a:t>Marshallian supply-demand synthesis</a:t>
            </a:r>
          </a:p>
          <a:p>
            <a:pPr lvl="1"/>
            <a:r>
              <a:rPr lang="en-US" altLang="en-US" smtClean="0"/>
              <a:t>Supply and demand </a:t>
            </a:r>
            <a:r>
              <a:rPr lang="en-US" altLang="en-US" u="sng" smtClean="0"/>
              <a:t>simultaneously</a:t>
            </a:r>
            <a:r>
              <a:rPr lang="en-US" altLang="en-US" smtClean="0"/>
              <a:t> operate to determine price</a:t>
            </a:r>
          </a:p>
          <a:p>
            <a:pPr lvl="1"/>
            <a:r>
              <a:rPr lang="en-US" altLang="en-US" smtClean="0"/>
              <a:t>Prices reflect both the marginal valuation that consumers place on goods and the marginal costs of producing the goods</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720B335A-255B-4303-A333-FBB711D61B6F}" type="slidenum">
              <a:rPr lang="en-US" smtClean="0"/>
              <a:t>16</a:t>
            </a:fld>
            <a:endParaRPr lang="en-US"/>
          </a:p>
        </p:txBody>
      </p:sp>
    </p:spTree>
    <p:extLst>
      <p:ext uri="{BB962C8B-B14F-4D97-AF65-F5344CB8AC3E}">
        <p14:creationId xmlns:p14="http://schemas.microsoft.com/office/powerpoint/2010/main" val="41762106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1.2	The Marshallian Supply–Demand Cross</a:t>
            </a:r>
          </a:p>
        </p:txBody>
      </p:sp>
      <p:sp>
        <p:nvSpPr>
          <p:cNvPr id="31747" name="Text Placeholder 28"/>
          <p:cNvSpPr>
            <a:spLocks noGrp="1"/>
          </p:cNvSpPr>
          <p:nvPr>
            <p:ph sz="half" idx="1"/>
          </p:nvPr>
        </p:nvSpPr>
        <p:spPr>
          <a:xfrm>
            <a:off x="76200" y="5080000"/>
            <a:ext cx="8763000" cy="1168400"/>
          </a:xfrm>
        </p:spPr>
        <p:txBody>
          <a:bodyPr>
            <a:noAutofit/>
          </a:bodyPr>
          <a:lstStyle/>
          <a:p>
            <a:pPr>
              <a:spcBef>
                <a:spcPct val="0"/>
              </a:spcBef>
            </a:pPr>
            <a:r>
              <a:rPr lang="en-US" altLang="en-US" dirty="0" smtClean="0"/>
              <a:t>Marshall theorized that demand and supply interact to determine the equilibrium price (</a:t>
            </a:r>
            <a:r>
              <a:rPr lang="en-US" altLang="en-US" i="1" dirty="0" smtClean="0"/>
              <a:t>p</a:t>
            </a:r>
            <a:r>
              <a:rPr lang="en-US" altLang="en-US" i="1" baseline="30000" dirty="0" smtClean="0"/>
              <a:t>*</a:t>
            </a:r>
            <a:r>
              <a:rPr lang="en-US" altLang="en-US" dirty="0" smtClean="0"/>
              <a:t>) and the quantity (</a:t>
            </a:r>
            <a:r>
              <a:rPr lang="en-US" altLang="en-US" i="1" dirty="0" smtClean="0"/>
              <a:t>q</a:t>
            </a:r>
            <a:r>
              <a:rPr lang="en-US" altLang="en-US" i="1" baseline="30000" dirty="0" smtClean="0"/>
              <a:t>*</a:t>
            </a:r>
            <a:r>
              <a:rPr lang="en-US" altLang="en-US" dirty="0" smtClean="0"/>
              <a:t>) that will be traded in the market. He concluded that it is not possible to say that either demand or supply alone determines price or therefore that either costs or usefulness to buyers alone determines exchange value.</a:t>
            </a:r>
          </a:p>
        </p:txBody>
      </p:sp>
      <p:sp>
        <p:nvSpPr>
          <p:cNvPr id="31750" name="Footer Placeholder 28"/>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31751" name="Line 4"/>
          <p:cNvSpPr>
            <a:spLocks noChangeShapeType="1"/>
          </p:cNvSpPr>
          <p:nvPr/>
        </p:nvSpPr>
        <p:spPr bwMode="auto">
          <a:xfrm>
            <a:off x="1752600" y="1128713"/>
            <a:ext cx="0" cy="3657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52" name="Line 5"/>
          <p:cNvSpPr>
            <a:spLocks noChangeShapeType="1"/>
          </p:cNvSpPr>
          <p:nvPr/>
        </p:nvSpPr>
        <p:spPr bwMode="auto">
          <a:xfrm>
            <a:off x="1752600" y="4786313"/>
            <a:ext cx="4343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53" name="Text Box 11"/>
          <p:cNvSpPr txBox="1">
            <a:spLocks noChangeArrowheads="1"/>
          </p:cNvSpPr>
          <p:nvPr/>
        </p:nvSpPr>
        <p:spPr bwMode="auto">
          <a:xfrm>
            <a:off x="6096000" y="4710113"/>
            <a:ext cx="2209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 per period</a:t>
            </a:r>
          </a:p>
        </p:txBody>
      </p:sp>
      <p:sp>
        <p:nvSpPr>
          <p:cNvPr id="31754" name="Text Box 13"/>
          <p:cNvSpPr txBox="1">
            <a:spLocks noChangeArrowheads="1"/>
          </p:cNvSpPr>
          <p:nvPr/>
        </p:nvSpPr>
        <p:spPr bwMode="auto">
          <a:xfrm>
            <a:off x="838200" y="976313"/>
            <a:ext cx="844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a:t>Price</a:t>
            </a:r>
          </a:p>
        </p:txBody>
      </p:sp>
      <p:grpSp>
        <p:nvGrpSpPr>
          <p:cNvPr id="2" name="Group 30"/>
          <p:cNvGrpSpPr>
            <a:grpSpLocks/>
          </p:cNvGrpSpPr>
          <p:nvPr/>
        </p:nvGrpSpPr>
        <p:grpSpPr bwMode="auto">
          <a:xfrm>
            <a:off x="1371600" y="2701925"/>
            <a:ext cx="2384425" cy="2503488"/>
            <a:chOff x="864" y="2383"/>
            <a:chExt cx="1502" cy="1577"/>
          </a:xfrm>
        </p:grpSpPr>
        <p:grpSp>
          <p:nvGrpSpPr>
            <p:cNvPr id="31769" name="Group 27"/>
            <p:cNvGrpSpPr>
              <a:grpSpLocks/>
            </p:cNvGrpSpPr>
            <p:nvPr/>
          </p:nvGrpSpPr>
          <p:grpSpPr bwMode="auto">
            <a:xfrm>
              <a:off x="864" y="2383"/>
              <a:ext cx="1392" cy="233"/>
              <a:chOff x="864" y="2383"/>
              <a:chExt cx="1392" cy="233"/>
            </a:xfrm>
          </p:grpSpPr>
          <p:sp>
            <p:nvSpPr>
              <p:cNvPr id="31773" name="Line 8"/>
              <p:cNvSpPr>
                <a:spLocks noChangeShapeType="1"/>
              </p:cNvSpPr>
              <p:nvPr/>
            </p:nvSpPr>
            <p:spPr bwMode="auto">
              <a:xfrm flipH="1">
                <a:off x="1104" y="2448"/>
                <a:ext cx="115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74" name="Text Box 14"/>
              <p:cNvSpPr txBox="1">
                <a:spLocks noChangeArrowheads="1"/>
              </p:cNvSpPr>
              <p:nvPr/>
            </p:nvSpPr>
            <p:spPr bwMode="auto">
              <a:xfrm>
                <a:off x="864" y="2383"/>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smtClean="0"/>
                  <a:t>p*</a:t>
                </a:r>
                <a:endParaRPr lang="en-US" altLang="en-US" sz="1800" dirty="0"/>
              </a:p>
            </p:txBody>
          </p:sp>
        </p:grpSp>
        <p:grpSp>
          <p:nvGrpSpPr>
            <p:cNvPr id="31770" name="Group 28"/>
            <p:cNvGrpSpPr>
              <a:grpSpLocks/>
            </p:cNvGrpSpPr>
            <p:nvPr/>
          </p:nvGrpSpPr>
          <p:grpSpPr bwMode="auto">
            <a:xfrm>
              <a:off x="2112" y="2448"/>
              <a:ext cx="254" cy="1512"/>
              <a:chOff x="2112" y="2448"/>
              <a:chExt cx="254" cy="1512"/>
            </a:xfrm>
          </p:grpSpPr>
          <p:sp>
            <p:nvSpPr>
              <p:cNvPr id="31771" name="Line 9"/>
              <p:cNvSpPr>
                <a:spLocks noChangeShapeType="1"/>
              </p:cNvSpPr>
              <p:nvPr/>
            </p:nvSpPr>
            <p:spPr bwMode="auto">
              <a:xfrm flipH="1">
                <a:off x="2248" y="2448"/>
                <a:ext cx="8" cy="123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72" name="Text Box 15"/>
              <p:cNvSpPr txBox="1">
                <a:spLocks noChangeArrowheads="1"/>
              </p:cNvSpPr>
              <p:nvPr/>
            </p:nvSpPr>
            <p:spPr bwMode="auto">
              <a:xfrm>
                <a:off x="2112" y="3727"/>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smtClean="0"/>
                  <a:t>q*</a:t>
                </a:r>
                <a:endParaRPr lang="en-US" altLang="en-US" sz="1800" dirty="0"/>
              </a:p>
            </p:txBody>
          </p:sp>
        </p:grpSp>
      </p:grpSp>
      <p:grpSp>
        <p:nvGrpSpPr>
          <p:cNvPr id="5" name="Group 33"/>
          <p:cNvGrpSpPr>
            <a:grpSpLocks/>
          </p:cNvGrpSpPr>
          <p:nvPr/>
        </p:nvGrpSpPr>
        <p:grpSpPr bwMode="auto">
          <a:xfrm>
            <a:off x="2209800" y="1738313"/>
            <a:ext cx="6629400" cy="2571750"/>
            <a:chOff x="1392" y="1776"/>
            <a:chExt cx="4176" cy="1620"/>
          </a:xfrm>
        </p:grpSpPr>
        <p:grpSp>
          <p:nvGrpSpPr>
            <p:cNvPr id="31765" name="Group 23"/>
            <p:cNvGrpSpPr>
              <a:grpSpLocks/>
            </p:cNvGrpSpPr>
            <p:nvPr/>
          </p:nvGrpSpPr>
          <p:grpSpPr bwMode="auto">
            <a:xfrm>
              <a:off x="1392" y="1776"/>
              <a:ext cx="2093" cy="1608"/>
              <a:chOff x="1392" y="1776"/>
              <a:chExt cx="2093" cy="1608"/>
            </a:xfrm>
          </p:grpSpPr>
          <p:sp>
            <p:nvSpPr>
              <p:cNvPr id="31767" name="Line 7"/>
              <p:cNvSpPr>
                <a:spLocks noChangeShapeType="1"/>
              </p:cNvSpPr>
              <p:nvPr/>
            </p:nvSpPr>
            <p:spPr bwMode="auto">
              <a:xfrm>
                <a:off x="1392" y="1776"/>
                <a:ext cx="1872" cy="1488"/>
              </a:xfrm>
              <a:prstGeom prst="line">
                <a:avLst/>
              </a:prstGeom>
              <a:noFill/>
              <a:ln w="28575">
                <a:solidFill>
                  <a:srgbClr val="5D0D8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68" name="Text Box 12"/>
              <p:cNvSpPr txBox="1">
                <a:spLocks noChangeArrowheads="1"/>
              </p:cNvSpPr>
              <p:nvPr/>
            </p:nvSpPr>
            <p:spPr bwMode="auto">
              <a:xfrm>
                <a:off x="3264" y="3151"/>
                <a:ext cx="22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D</a:t>
                </a:r>
              </a:p>
            </p:txBody>
          </p:sp>
        </p:grpSp>
        <p:sp>
          <p:nvSpPr>
            <p:cNvPr id="31766" name="Text Box 16"/>
            <p:cNvSpPr txBox="1">
              <a:spLocks noChangeArrowheads="1"/>
            </p:cNvSpPr>
            <p:nvPr/>
          </p:nvSpPr>
          <p:spPr bwMode="auto">
            <a:xfrm>
              <a:off x="3600" y="2640"/>
              <a:ext cx="1968"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The demand curve has a negative slope because the marginal value falls as quantity increases</a:t>
              </a:r>
            </a:p>
          </p:txBody>
        </p:sp>
      </p:grpSp>
      <p:grpSp>
        <p:nvGrpSpPr>
          <p:cNvPr id="7" name="Group 32"/>
          <p:cNvGrpSpPr>
            <a:grpSpLocks/>
          </p:cNvGrpSpPr>
          <p:nvPr/>
        </p:nvGrpSpPr>
        <p:grpSpPr bwMode="auto">
          <a:xfrm>
            <a:off x="2438400" y="1484313"/>
            <a:ext cx="6311900" cy="2387600"/>
            <a:chOff x="1536" y="1616"/>
            <a:chExt cx="3976" cy="1504"/>
          </a:xfrm>
        </p:grpSpPr>
        <p:grpSp>
          <p:nvGrpSpPr>
            <p:cNvPr id="31761" name="Group 29"/>
            <p:cNvGrpSpPr>
              <a:grpSpLocks/>
            </p:cNvGrpSpPr>
            <p:nvPr/>
          </p:nvGrpSpPr>
          <p:grpSpPr bwMode="auto">
            <a:xfrm>
              <a:off x="1536" y="1616"/>
              <a:ext cx="1749" cy="1504"/>
              <a:chOff x="1536" y="1616"/>
              <a:chExt cx="1749" cy="1504"/>
            </a:xfrm>
          </p:grpSpPr>
          <p:sp>
            <p:nvSpPr>
              <p:cNvPr id="31763" name="Line 6"/>
              <p:cNvSpPr>
                <a:spLocks noChangeShapeType="1"/>
              </p:cNvSpPr>
              <p:nvPr/>
            </p:nvSpPr>
            <p:spPr bwMode="auto">
              <a:xfrm flipV="1">
                <a:off x="1536" y="1728"/>
                <a:ext cx="1536" cy="1392"/>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64" name="Text Box 10"/>
              <p:cNvSpPr txBox="1">
                <a:spLocks noChangeArrowheads="1"/>
              </p:cNvSpPr>
              <p:nvPr/>
            </p:nvSpPr>
            <p:spPr bwMode="auto">
              <a:xfrm>
                <a:off x="3072" y="1616"/>
                <a:ext cx="21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S</a:t>
                </a:r>
              </a:p>
            </p:txBody>
          </p:sp>
        </p:grpSp>
        <p:sp>
          <p:nvSpPr>
            <p:cNvPr id="31762" name="Text Box 18"/>
            <p:cNvSpPr txBox="1">
              <a:spLocks noChangeArrowheads="1"/>
            </p:cNvSpPr>
            <p:nvPr/>
          </p:nvSpPr>
          <p:spPr bwMode="auto">
            <a:xfrm>
              <a:off x="3360" y="1712"/>
              <a:ext cx="2152"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The supply curve has a positive</a:t>
              </a:r>
            </a:p>
            <a:p>
              <a:pPr eaLnBrk="1" hangingPunct="1"/>
              <a:r>
                <a:rPr lang="en-US" altLang="en-US" sz="1800">
                  <a:solidFill>
                    <a:srgbClr val="177B21"/>
                  </a:solidFill>
                </a:rPr>
                <a:t> slope because marginal cost</a:t>
              </a:r>
            </a:p>
            <a:p>
              <a:pPr eaLnBrk="1" hangingPunct="1"/>
              <a:r>
                <a:rPr lang="en-US" altLang="en-US" sz="1800">
                  <a:solidFill>
                    <a:srgbClr val="177B21"/>
                  </a:solidFill>
                </a:rPr>
                <a:t>rises as quantity increases</a:t>
              </a:r>
            </a:p>
          </p:txBody>
        </p:sp>
      </p:grpSp>
      <p:grpSp>
        <p:nvGrpSpPr>
          <p:cNvPr id="9" name="Group 31"/>
          <p:cNvGrpSpPr>
            <a:grpSpLocks/>
          </p:cNvGrpSpPr>
          <p:nvPr/>
        </p:nvGrpSpPr>
        <p:grpSpPr bwMode="auto">
          <a:xfrm>
            <a:off x="2819400" y="1357313"/>
            <a:ext cx="1600200" cy="1371600"/>
            <a:chOff x="1776" y="1536"/>
            <a:chExt cx="1008" cy="864"/>
          </a:xfrm>
        </p:grpSpPr>
        <p:sp>
          <p:nvSpPr>
            <p:cNvPr id="31759" name="Text Box 20"/>
            <p:cNvSpPr txBox="1">
              <a:spLocks noChangeArrowheads="1"/>
            </p:cNvSpPr>
            <p:nvPr/>
          </p:nvSpPr>
          <p:spPr bwMode="auto">
            <a:xfrm>
              <a:off x="1776" y="1536"/>
              <a:ext cx="1008" cy="407"/>
            </a:xfrm>
            <a:prstGeom prst="rect">
              <a:avLst/>
            </a:prstGeom>
            <a:noFill/>
            <a:ln w="15875">
              <a:solidFill>
                <a:srgbClr val="344E9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dirty="0">
                  <a:solidFill>
                    <a:srgbClr val="344E90"/>
                  </a:solidFill>
                </a:rPr>
                <a:t>Equilibrium</a:t>
              </a:r>
            </a:p>
            <a:p>
              <a:pPr algn="ctr" eaLnBrk="1" hangingPunct="1"/>
              <a:r>
                <a:rPr lang="en-US" altLang="en-US" sz="1800" i="1" dirty="0" err="1" smtClean="0">
                  <a:solidFill>
                    <a:srgbClr val="344E90"/>
                  </a:solidFill>
                </a:rPr>
                <a:t>q</a:t>
              </a:r>
              <a:r>
                <a:rPr lang="en-US" altLang="en-US" sz="1800" i="1" baseline="-25000" dirty="0" err="1" smtClean="0">
                  <a:solidFill>
                    <a:srgbClr val="344E90"/>
                  </a:solidFill>
                </a:rPr>
                <a:t>D</a:t>
              </a:r>
              <a:r>
                <a:rPr lang="en-US" altLang="en-US" sz="1800" i="1" dirty="0" smtClean="0">
                  <a:solidFill>
                    <a:srgbClr val="344E90"/>
                  </a:solidFill>
                </a:rPr>
                <a:t> </a:t>
              </a:r>
              <a:r>
                <a:rPr lang="en-US" altLang="en-US" sz="1800" dirty="0">
                  <a:solidFill>
                    <a:srgbClr val="344E90"/>
                  </a:solidFill>
                </a:rPr>
                <a:t>=</a:t>
              </a:r>
              <a:r>
                <a:rPr lang="en-US" altLang="en-US" sz="1800" i="1" dirty="0">
                  <a:solidFill>
                    <a:srgbClr val="344E90"/>
                  </a:solidFill>
                </a:rPr>
                <a:t> </a:t>
              </a:r>
              <a:r>
                <a:rPr lang="en-US" altLang="en-US" sz="1800" i="1" dirty="0" err="1" smtClean="0">
                  <a:solidFill>
                    <a:srgbClr val="344E90"/>
                  </a:solidFill>
                </a:rPr>
                <a:t>q</a:t>
              </a:r>
              <a:r>
                <a:rPr lang="en-US" altLang="en-US" sz="1800" i="1" baseline="-25000" dirty="0" err="1" smtClean="0">
                  <a:solidFill>
                    <a:srgbClr val="344E90"/>
                  </a:solidFill>
                </a:rPr>
                <a:t>s</a:t>
              </a:r>
              <a:endParaRPr lang="en-US" altLang="en-US" sz="1800" i="1" dirty="0">
                <a:solidFill>
                  <a:srgbClr val="344E90"/>
                </a:solidFill>
              </a:endParaRPr>
            </a:p>
          </p:txBody>
        </p:sp>
        <p:sp>
          <p:nvSpPr>
            <p:cNvPr id="31760" name="Line 21"/>
            <p:cNvSpPr>
              <a:spLocks noChangeShapeType="1"/>
            </p:cNvSpPr>
            <p:nvPr/>
          </p:nvSpPr>
          <p:spPr bwMode="auto">
            <a:xfrm>
              <a:off x="2256" y="1968"/>
              <a:ext cx="0" cy="432"/>
            </a:xfrm>
            <a:prstGeom prst="line">
              <a:avLst/>
            </a:prstGeom>
            <a:noFill/>
            <a:ln w="28575">
              <a:solidFill>
                <a:srgbClr val="344E9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3" name="Slide Number Placeholder 2"/>
          <p:cNvSpPr>
            <a:spLocks noGrp="1"/>
          </p:cNvSpPr>
          <p:nvPr>
            <p:ph type="sldNum" sz="quarter" idx="11"/>
          </p:nvPr>
        </p:nvSpPr>
        <p:spPr/>
        <p:txBody>
          <a:bodyPr/>
          <a:lstStyle/>
          <a:p>
            <a:fld id="{F2BCF9F2-1022-4C47-AC3A-FA21E418CE18}" type="slidenum">
              <a:rPr lang="en-US" smtClean="0"/>
              <a:t>17</a:t>
            </a:fld>
            <a:endParaRPr lang="en-US" dirty="0"/>
          </a:p>
        </p:txBody>
      </p:sp>
    </p:spTree>
    <p:extLst>
      <p:ext uri="{BB962C8B-B14F-4D97-AF65-F5344CB8AC3E}">
        <p14:creationId xmlns:p14="http://schemas.microsoft.com/office/powerpoint/2010/main" val="9318569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upRight)">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downRight)">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31747">
                                            <p:txEl>
                                              <p:pRg st="0" end="0"/>
                                            </p:txEl>
                                          </p:spTgt>
                                        </p:tgtEl>
                                        <p:attrNameLst>
                                          <p:attrName>style.visibility</p:attrName>
                                        </p:attrNameLst>
                                      </p:cBhvr>
                                      <p:to>
                                        <p:strVal val="visible"/>
                                      </p:to>
                                    </p:set>
                                    <p:animEffect transition="in" filter="wipe(left)">
                                      <p:cBhvr>
                                        <p:cTn id="26" dur="500"/>
                                        <p:tgtEl>
                                          <p:spTgt spid="3174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1.2</a:t>
            </a:r>
            <a:r>
              <a:rPr lang="en-US" altLang="en-US" dirty="0"/>
              <a:t>	</a:t>
            </a:r>
            <a:r>
              <a:rPr lang="en-US" altLang="en-US" dirty="0" smtClean="0"/>
              <a:t>Supply-Demand Equilibrium</a:t>
            </a:r>
          </a:p>
        </p:txBody>
      </p:sp>
      <p:sp>
        <p:nvSpPr>
          <p:cNvPr id="6" name="Footer Placeholder 5"/>
          <p:cNvSpPr>
            <a:spLocks noGrp="1"/>
          </p:cNvSpPr>
          <p:nvPr>
            <p:ph type="ftr" sz="quarter" idx="10"/>
          </p:nvPr>
        </p:nvSpPr>
        <p:spPr>
          <a:prstGeom prst="rect">
            <a:avLst/>
          </a:prstGeom>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32771" name="Rectangle 3"/>
          <p:cNvSpPr>
            <a:spLocks noGrp="1" noChangeArrowheads="1"/>
          </p:cNvSpPr>
          <p:nvPr>
            <p:ph type="body" sz="quarter" idx="12"/>
          </p:nvPr>
        </p:nvSpPr>
        <p:spPr>
          <a:prstGeom prst="rect">
            <a:avLst/>
          </a:prstGeom>
        </p:spPr>
        <p:txBody>
          <a:bodyPr/>
          <a:lstStyle/>
          <a:p>
            <a:r>
              <a:rPr lang="en-US" altLang="en-US" sz="2800" dirty="0" smtClean="0">
                <a:solidFill>
                  <a:srgbClr val="002060"/>
                </a:solidFill>
              </a:rPr>
              <a:t>Quantity demanded = </a:t>
            </a:r>
            <a:r>
              <a:rPr lang="en-US" altLang="en-US" sz="2800" i="1" dirty="0" err="1" smtClean="0">
                <a:solidFill>
                  <a:srgbClr val="002060"/>
                </a:solidFill>
              </a:rPr>
              <a:t>q</a:t>
            </a:r>
            <a:r>
              <a:rPr lang="en-US" altLang="en-US" sz="2800" i="1" baseline="-25000" dirty="0" err="1" smtClean="0">
                <a:solidFill>
                  <a:srgbClr val="002060"/>
                </a:solidFill>
              </a:rPr>
              <a:t>D</a:t>
            </a:r>
            <a:r>
              <a:rPr lang="en-US" altLang="en-US" sz="2800" dirty="0" smtClean="0">
                <a:solidFill>
                  <a:srgbClr val="002060"/>
                </a:solidFill>
              </a:rPr>
              <a:t> = 1000 - 100</a:t>
            </a:r>
            <a:r>
              <a:rPr lang="en-US" altLang="en-US" sz="2800" i="1" dirty="0" smtClean="0">
                <a:solidFill>
                  <a:srgbClr val="002060"/>
                </a:solidFill>
              </a:rPr>
              <a:t>p</a:t>
            </a:r>
            <a:endParaRPr lang="en-US" altLang="en-US" sz="2800" dirty="0" smtClean="0">
              <a:solidFill>
                <a:srgbClr val="002060"/>
              </a:solidFill>
            </a:endParaRPr>
          </a:p>
          <a:p>
            <a:r>
              <a:rPr lang="en-US" altLang="en-US" sz="2800" dirty="0" smtClean="0">
                <a:solidFill>
                  <a:srgbClr val="002060"/>
                </a:solidFill>
              </a:rPr>
              <a:t>Quantity supplied = </a:t>
            </a:r>
            <a:r>
              <a:rPr lang="en-US" altLang="en-US" sz="2800" i="1" dirty="0" err="1" smtClean="0">
                <a:solidFill>
                  <a:srgbClr val="002060"/>
                </a:solidFill>
              </a:rPr>
              <a:t>q</a:t>
            </a:r>
            <a:r>
              <a:rPr lang="en-US" altLang="en-US" sz="2800" i="1" baseline="-25000" dirty="0" err="1" smtClean="0">
                <a:solidFill>
                  <a:srgbClr val="002060"/>
                </a:solidFill>
              </a:rPr>
              <a:t>S</a:t>
            </a:r>
            <a:r>
              <a:rPr lang="en-US" altLang="en-US" sz="2800" dirty="0" smtClean="0">
                <a:solidFill>
                  <a:srgbClr val="002060"/>
                </a:solidFill>
              </a:rPr>
              <a:t> = -125 + 125</a:t>
            </a:r>
            <a:r>
              <a:rPr lang="en-US" altLang="en-US" sz="2800" i="1" dirty="0" smtClean="0">
                <a:solidFill>
                  <a:srgbClr val="002060"/>
                </a:solidFill>
              </a:rPr>
              <a:t>p</a:t>
            </a:r>
            <a:endParaRPr lang="en-US" altLang="en-US" dirty="0" smtClean="0">
              <a:solidFill>
                <a:srgbClr val="002060"/>
              </a:solidFill>
            </a:endParaRPr>
          </a:p>
          <a:p>
            <a:r>
              <a:rPr lang="en-US" altLang="en-US" dirty="0" smtClean="0">
                <a:solidFill>
                  <a:srgbClr val="FF0000"/>
                </a:solidFill>
              </a:rPr>
              <a:t>Equilibrium </a:t>
            </a:r>
            <a:r>
              <a:rPr lang="en-US" altLang="en-US" dirty="0" smtClean="0">
                <a:solidFill>
                  <a:srgbClr val="FF0000"/>
                </a:solidFill>
                <a:sym typeface="Symbol" pitchFamily="18" charset="2"/>
              </a:rPr>
              <a:t></a:t>
            </a:r>
            <a:r>
              <a:rPr lang="en-US" altLang="en-US" dirty="0" smtClean="0">
                <a:solidFill>
                  <a:srgbClr val="FF0000"/>
                </a:solidFill>
              </a:rPr>
              <a:t> </a:t>
            </a:r>
            <a:r>
              <a:rPr lang="en-US" altLang="en-US" i="1" dirty="0" err="1" smtClean="0">
                <a:solidFill>
                  <a:srgbClr val="FF0000"/>
                </a:solidFill>
              </a:rPr>
              <a:t>q</a:t>
            </a:r>
            <a:r>
              <a:rPr lang="en-US" altLang="en-US" baseline="-25000" dirty="0" err="1" smtClean="0">
                <a:solidFill>
                  <a:srgbClr val="FF0000"/>
                </a:solidFill>
              </a:rPr>
              <a:t>D</a:t>
            </a:r>
            <a:r>
              <a:rPr lang="en-US" altLang="en-US" dirty="0" smtClean="0">
                <a:solidFill>
                  <a:srgbClr val="FF0000"/>
                </a:solidFill>
              </a:rPr>
              <a:t> = </a:t>
            </a:r>
            <a:r>
              <a:rPr lang="en-US" altLang="en-US" i="1" dirty="0" err="1" smtClean="0">
                <a:solidFill>
                  <a:srgbClr val="FF0000"/>
                </a:solidFill>
              </a:rPr>
              <a:t>q</a:t>
            </a:r>
            <a:r>
              <a:rPr lang="en-US" altLang="en-US" baseline="-25000" dirty="0" err="1" smtClean="0">
                <a:solidFill>
                  <a:srgbClr val="FF0000"/>
                </a:solidFill>
              </a:rPr>
              <a:t>S</a:t>
            </a:r>
            <a:endParaRPr lang="en-US" altLang="en-US" dirty="0" smtClean="0">
              <a:solidFill>
                <a:srgbClr val="7B332D"/>
              </a:solidFill>
            </a:endParaRPr>
          </a:p>
          <a:p>
            <a:pPr>
              <a:lnSpc>
                <a:spcPct val="110000"/>
              </a:lnSpc>
              <a:buFont typeface="Arial" charset="0"/>
              <a:buNone/>
            </a:pPr>
            <a:r>
              <a:rPr lang="en-US" altLang="en-US" dirty="0" smtClean="0"/>
              <a:t>	 </a:t>
            </a:r>
            <a:r>
              <a:rPr lang="en-US" altLang="en-US" dirty="0" smtClean="0">
                <a:solidFill>
                  <a:srgbClr val="002060"/>
                </a:solidFill>
              </a:rPr>
              <a:t>1000 - 100</a:t>
            </a:r>
            <a:r>
              <a:rPr lang="en-US" altLang="en-US" i="1" dirty="0" smtClean="0">
                <a:solidFill>
                  <a:srgbClr val="002060"/>
                </a:solidFill>
              </a:rPr>
              <a:t>p</a:t>
            </a:r>
            <a:r>
              <a:rPr lang="en-US" altLang="en-US" dirty="0" smtClean="0">
                <a:solidFill>
                  <a:srgbClr val="002060"/>
                </a:solidFill>
              </a:rPr>
              <a:t> = -125 + 125</a:t>
            </a:r>
            <a:r>
              <a:rPr lang="en-US" altLang="en-US" i="1" dirty="0" smtClean="0">
                <a:solidFill>
                  <a:srgbClr val="002060"/>
                </a:solidFill>
              </a:rPr>
              <a:t>p</a:t>
            </a:r>
            <a:endParaRPr lang="en-US" altLang="en-US" dirty="0" smtClean="0">
              <a:solidFill>
                <a:srgbClr val="002060"/>
              </a:solidFill>
            </a:endParaRPr>
          </a:p>
          <a:p>
            <a:pPr>
              <a:lnSpc>
                <a:spcPct val="110000"/>
              </a:lnSpc>
              <a:buFont typeface="Arial" charset="0"/>
              <a:buNone/>
            </a:pPr>
            <a:r>
              <a:rPr lang="en-US" altLang="en-US" dirty="0" smtClean="0">
                <a:solidFill>
                  <a:srgbClr val="002060"/>
                </a:solidFill>
              </a:rPr>
              <a:t>	 225</a:t>
            </a:r>
            <a:r>
              <a:rPr lang="en-US" altLang="en-US" i="1" dirty="0" smtClean="0">
                <a:solidFill>
                  <a:srgbClr val="002060"/>
                </a:solidFill>
              </a:rPr>
              <a:t>p</a:t>
            </a:r>
            <a:r>
              <a:rPr lang="en-US" altLang="en-US" dirty="0" smtClean="0">
                <a:solidFill>
                  <a:srgbClr val="002060"/>
                </a:solidFill>
              </a:rPr>
              <a:t> = 1125</a:t>
            </a:r>
          </a:p>
          <a:p>
            <a:pPr>
              <a:lnSpc>
                <a:spcPct val="110000"/>
              </a:lnSpc>
              <a:buFont typeface="Arial" charset="0"/>
              <a:buNone/>
            </a:pPr>
            <a:r>
              <a:rPr lang="en-US" altLang="en-US" i="1" dirty="0" smtClean="0">
                <a:solidFill>
                  <a:srgbClr val="FF0000"/>
                </a:solidFill>
              </a:rPr>
              <a:t>	 p</a:t>
            </a:r>
            <a:r>
              <a:rPr lang="en-US" altLang="en-US" dirty="0" smtClean="0">
                <a:solidFill>
                  <a:srgbClr val="FF0000"/>
                </a:solidFill>
              </a:rPr>
              <a:t>* = 5</a:t>
            </a:r>
          </a:p>
          <a:p>
            <a:pPr>
              <a:lnSpc>
                <a:spcPct val="110000"/>
              </a:lnSpc>
              <a:buFont typeface="Arial" charset="0"/>
              <a:buNone/>
            </a:pPr>
            <a:r>
              <a:rPr lang="en-US" altLang="en-US" i="1" dirty="0" smtClean="0">
                <a:solidFill>
                  <a:srgbClr val="FF0000"/>
                </a:solidFill>
              </a:rPr>
              <a:t>	 q</a:t>
            </a:r>
            <a:r>
              <a:rPr lang="en-US" altLang="en-US" dirty="0" smtClean="0">
                <a:solidFill>
                  <a:srgbClr val="FF0000"/>
                </a:solidFill>
              </a:rPr>
              <a:t>* = 500</a:t>
            </a:r>
          </a:p>
        </p:txBody>
      </p:sp>
      <p:sp>
        <p:nvSpPr>
          <p:cNvPr id="2" name="Slide Number Placeholder 1"/>
          <p:cNvSpPr>
            <a:spLocks noGrp="1"/>
          </p:cNvSpPr>
          <p:nvPr>
            <p:ph type="sldNum" sz="quarter" idx="11"/>
          </p:nvPr>
        </p:nvSpPr>
        <p:spPr/>
        <p:txBody>
          <a:bodyPr/>
          <a:lstStyle/>
          <a:p>
            <a:fld id="{F2BCF9F2-1022-4C47-AC3A-FA21E418CE18}" type="slidenum">
              <a:rPr lang="en-US" smtClean="0"/>
              <a:t>18</a:t>
            </a:fld>
            <a:endParaRPr lang="en-US" dirty="0"/>
          </a:p>
        </p:txBody>
      </p:sp>
    </p:spTree>
    <p:extLst>
      <p:ext uri="{BB962C8B-B14F-4D97-AF65-F5344CB8AC3E}">
        <p14:creationId xmlns:p14="http://schemas.microsoft.com/office/powerpoint/2010/main" val="33786355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1.2</a:t>
            </a:r>
            <a:r>
              <a:rPr lang="en-US" altLang="en-US" dirty="0"/>
              <a:t>	</a:t>
            </a:r>
            <a:r>
              <a:rPr lang="en-US" altLang="en-US" dirty="0" smtClean="0"/>
              <a:t>Supply-Demand Equilibrium</a:t>
            </a:r>
          </a:p>
        </p:txBody>
      </p:sp>
      <p:sp>
        <p:nvSpPr>
          <p:cNvPr id="7" name="Footer Placeholder 6"/>
          <p:cNvSpPr>
            <a:spLocks noGrp="1"/>
          </p:cNvSpPr>
          <p:nvPr>
            <p:ph type="ftr" sz="quarter" idx="10"/>
          </p:nvPr>
        </p:nvSpPr>
        <p:spPr>
          <a:prstGeom prst="rect">
            <a:avLst/>
          </a:prstGeom>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052" name="Rectangle 3"/>
          <p:cNvSpPr>
            <a:spLocks noGrp="1" noChangeArrowheads="1"/>
          </p:cNvSpPr>
          <p:nvPr>
            <p:ph type="body" sz="quarter" idx="12"/>
          </p:nvPr>
        </p:nvSpPr>
        <p:spPr>
          <a:prstGeom prst="rect">
            <a:avLst/>
          </a:prstGeom>
        </p:spPr>
        <p:txBody>
          <a:bodyPr/>
          <a:lstStyle/>
          <a:p>
            <a:r>
              <a:rPr lang="en-US" altLang="en-US" dirty="0" smtClean="0">
                <a:solidFill>
                  <a:srgbClr val="002060"/>
                </a:solidFill>
              </a:rPr>
              <a:t>A more general model is</a:t>
            </a:r>
            <a:endParaRPr lang="en-US" altLang="en-US" i="1" dirty="0" smtClean="0">
              <a:solidFill>
                <a:srgbClr val="002060"/>
              </a:solidFill>
            </a:endParaRPr>
          </a:p>
          <a:p>
            <a:pPr>
              <a:lnSpc>
                <a:spcPct val="120000"/>
              </a:lnSpc>
              <a:buFont typeface="Arial" charset="0"/>
              <a:buNone/>
            </a:pPr>
            <a:r>
              <a:rPr lang="en-US" altLang="en-US" i="1" dirty="0" smtClean="0">
                <a:solidFill>
                  <a:srgbClr val="002060"/>
                </a:solidFill>
              </a:rPr>
              <a:t>		 </a:t>
            </a:r>
            <a:r>
              <a:rPr lang="en-US" altLang="en-US" i="1" dirty="0" err="1" smtClean="0">
                <a:solidFill>
                  <a:srgbClr val="002060"/>
                </a:solidFill>
              </a:rPr>
              <a:t>q</a:t>
            </a:r>
            <a:r>
              <a:rPr lang="en-US" altLang="en-US" i="1" baseline="-25000" dirty="0" err="1" smtClean="0">
                <a:solidFill>
                  <a:srgbClr val="002060"/>
                </a:solidFill>
              </a:rPr>
              <a:t>D</a:t>
            </a:r>
            <a:r>
              <a:rPr lang="en-US" altLang="en-US" dirty="0" smtClean="0">
                <a:solidFill>
                  <a:srgbClr val="002060"/>
                </a:solidFill>
              </a:rPr>
              <a:t> = </a:t>
            </a:r>
            <a:r>
              <a:rPr lang="en-US" altLang="en-US" i="1" dirty="0" smtClean="0">
                <a:solidFill>
                  <a:srgbClr val="002060"/>
                </a:solidFill>
              </a:rPr>
              <a:t>a</a:t>
            </a:r>
            <a:r>
              <a:rPr lang="en-US" altLang="en-US" dirty="0" smtClean="0">
                <a:solidFill>
                  <a:srgbClr val="002060"/>
                </a:solidFill>
              </a:rPr>
              <a:t> + </a:t>
            </a:r>
            <a:r>
              <a:rPr lang="en-US" altLang="en-US" i="1" dirty="0" err="1" smtClean="0">
                <a:solidFill>
                  <a:srgbClr val="002060"/>
                </a:solidFill>
              </a:rPr>
              <a:t>bp</a:t>
            </a:r>
            <a:endParaRPr lang="en-US" altLang="en-US" dirty="0" smtClean="0">
              <a:solidFill>
                <a:srgbClr val="002060"/>
              </a:solidFill>
            </a:endParaRPr>
          </a:p>
          <a:p>
            <a:pPr>
              <a:lnSpc>
                <a:spcPct val="120000"/>
              </a:lnSpc>
              <a:buFont typeface="Arial" charset="0"/>
              <a:buNone/>
            </a:pPr>
            <a:r>
              <a:rPr lang="en-US" altLang="en-US" i="1" dirty="0" smtClean="0">
                <a:solidFill>
                  <a:srgbClr val="002060"/>
                </a:solidFill>
              </a:rPr>
              <a:t>		 </a:t>
            </a:r>
            <a:r>
              <a:rPr lang="en-US" altLang="en-US" i="1" dirty="0" err="1" smtClean="0">
                <a:solidFill>
                  <a:srgbClr val="002060"/>
                </a:solidFill>
              </a:rPr>
              <a:t>q</a:t>
            </a:r>
            <a:r>
              <a:rPr lang="en-US" altLang="en-US" i="1" baseline="-25000" dirty="0" err="1" smtClean="0">
                <a:solidFill>
                  <a:srgbClr val="002060"/>
                </a:solidFill>
              </a:rPr>
              <a:t>S</a:t>
            </a:r>
            <a:r>
              <a:rPr lang="en-US" altLang="en-US" dirty="0" smtClean="0">
                <a:solidFill>
                  <a:srgbClr val="002060"/>
                </a:solidFill>
              </a:rPr>
              <a:t> = </a:t>
            </a:r>
            <a:r>
              <a:rPr lang="en-US" altLang="en-US" i="1" dirty="0" smtClean="0">
                <a:solidFill>
                  <a:srgbClr val="002060"/>
                </a:solidFill>
              </a:rPr>
              <a:t>c</a:t>
            </a:r>
            <a:r>
              <a:rPr lang="en-US" altLang="en-US" dirty="0" smtClean="0">
                <a:solidFill>
                  <a:srgbClr val="002060"/>
                </a:solidFill>
              </a:rPr>
              <a:t> + </a:t>
            </a:r>
            <a:r>
              <a:rPr lang="en-US" altLang="en-US" i="1" dirty="0" err="1" smtClean="0">
                <a:solidFill>
                  <a:srgbClr val="002060"/>
                </a:solidFill>
              </a:rPr>
              <a:t>dp</a:t>
            </a:r>
            <a:endParaRPr lang="en-US" altLang="en-US" dirty="0" smtClean="0">
              <a:solidFill>
                <a:srgbClr val="002060"/>
              </a:solidFill>
            </a:endParaRPr>
          </a:p>
          <a:p>
            <a:r>
              <a:rPr lang="en-US" altLang="en-US" dirty="0" smtClean="0">
                <a:solidFill>
                  <a:srgbClr val="FF0000"/>
                </a:solidFill>
              </a:rPr>
              <a:t>Equilibrium </a:t>
            </a:r>
            <a:r>
              <a:rPr lang="en-US" altLang="en-US" dirty="0" smtClean="0">
                <a:solidFill>
                  <a:srgbClr val="FF0000"/>
                </a:solidFill>
                <a:sym typeface="Symbol" pitchFamily="18" charset="2"/>
              </a:rPr>
              <a:t></a:t>
            </a:r>
            <a:r>
              <a:rPr lang="en-US" altLang="en-US" dirty="0" smtClean="0">
                <a:solidFill>
                  <a:srgbClr val="FF0000"/>
                </a:solidFill>
              </a:rPr>
              <a:t> </a:t>
            </a:r>
            <a:r>
              <a:rPr lang="en-US" altLang="en-US" i="1" dirty="0" err="1" smtClean="0">
                <a:solidFill>
                  <a:srgbClr val="FF0000"/>
                </a:solidFill>
              </a:rPr>
              <a:t>q</a:t>
            </a:r>
            <a:r>
              <a:rPr lang="en-US" altLang="en-US" baseline="-25000" dirty="0" err="1" smtClean="0">
                <a:solidFill>
                  <a:srgbClr val="FF0000"/>
                </a:solidFill>
              </a:rPr>
              <a:t>D</a:t>
            </a:r>
            <a:r>
              <a:rPr lang="en-US" altLang="en-US" dirty="0" smtClean="0">
                <a:solidFill>
                  <a:srgbClr val="FF0000"/>
                </a:solidFill>
              </a:rPr>
              <a:t> = </a:t>
            </a:r>
            <a:r>
              <a:rPr lang="en-US" altLang="en-US" i="1" dirty="0" err="1" smtClean="0">
                <a:solidFill>
                  <a:srgbClr val="FF0000"/>
                </a:solidFill>
              </a:rPr>
              <a:t>q</a:t>
            </a:r>
            <a:r>
              <a:rPr lang="en-US" altLang="en-US" baseline="-25000" dirty="0" err="1" smtClean="0">
                <a:solidFill>
                  <a:srgbClr val="FF0000"/>
                </a:solidFill>
              </a:rPr>
              <a:t>S</a:t>
            </a:r>
            <a:endParaRPr lang="en-US" altLang="en-US" dirty="0" smtClean="0">
              <a:solidFill>
                <a:srgbClr val="7B332D"/>
              </a:solidFill>
            </a:endParaRPr>
          </a:p>
          <a:p>
            <a:pPr>
              <a:lnSpc>
                <a:spcPct val="120000"/>
              </a:lnSpc>
              <a:buFont typeface="Arial" charset="0"/>
              <a:buNone/>
            </a:pPr>
            <a:r>
              <a:rPr lang="en-US" altLang="en-US" sz="2800" i="1" dirty="0" smtClean="0"/>
              <a:t>		 </a:t>
            </a:r>
            <a:r>
              <a:rPr lang="en-US" altLang="en-US" sz="2800" i="1" dirty="0" smtClean="0">
                <a:solidFill>
                  <a:srgbClr val="002060"/>
                </a:solidFill>
              </a:rPr>
              <a:t>a</a:t>
            </a:r>
            <a:r>
              <a:rPr lang="en-US" altLang="en-US" sz="2800" dirty="0" smtClean="0">
                <a:solidFill>
                  <a:srgbClr val="002060"/>
                </a:solidFill>
              </a:rPr>
              <a:t> + </a:t>
            </a:r>
            <a:r>
              <a:rPr lang="en-US" altLang="en-US" sz="2800" i="1" dirty="0" err="1" smtClean="0">
                <a:solidFill>
                  <a:srgbClr val="002060"/>
                </a:solidFill>
              </a:rPr>
              <a:t>bp</a:t>
            </a:r>
            <a:r>
              <a:rPr lang="en-US" altLang="en-US" sz="2800" dirty="0" smtClean="0">
                <a:solidFill>
                  <a:srgbClr val="002060"/>
                </a:solidFill>
              </a:rPr>
              <a:t> = </a:t>
            </a:r>
            <a:r>
              <a:rPr lang="en-US" altLang="en-US" sz="2800" i="1" dirty="0" smtClean="0">
                <a:solidFill>
                  <a:srgbClr val="002060"/>
                </a:solidFill>
              </a:rPr>
              <a:t>c</a:t>
            </a:r>
            <a:r>
              <a:rPr lang="en-US" altLang="en-US" sz="2800" dirty="0" smtClean="0">
                <a:solidFill>
                  <a:srgbClr val="002060"/>
                </a:solidFill>
              </a:rPr>
              <a:t> + </a:t>
            </a:r>
            <a:r>
              <a:rPr lang="en-US" altLang="en-US" sz="2800" i="1" dirty="0" err="1" smtClean="0">
                <a:solidFill>
                  <a:srgbClr val="002060"/>
                </a:solidFill>
              </a:rPr>
              <a:t>dp</a:t>
            </a:r>
            <a:endParaRPr lang="en-US" altLang="en-US" sz="2800" dirty="0" smtClean="0">
              <a:solidFill>
                <a:srgbClr val="002060"/>
              </a:solidFill>
            </a:endParaRPr>
          </a:p>
        </p:txBody>
      </p:sp>
      <p:graphicFrame>
        <p:nvGraphicFramePr>
          <p:cNvPr id="40964" name="Object 2"/>
          <p:cNvGraphicFramePr>
            <a:graphicFrameLocks noChangeAspect="1"/>
          </p:cNvGraphicFramePr>
          <p:nvPr/>
        </p:nvGraphicFramePr>
        <p:xfrm>
          <a:off x="1292225" y="3949700"/>
          <a:ext cx="1747838" cy="1000125"/>
        </p:xfrm>
        <a:graphic>
          <a:graphicData uri="http://schemas.openxmlformats.org/presentationml/2006/ole">
            <mc:AlternateContent xmlns:mc="http://schemas.openxmlformats.org/markup-compatibility/2006">
              <mc:Choice xmlns:v="urn:schemas-microsoft-com:vml" Requires="v">
                <p:oleObj spid="_x0000_s8211" name="Equation" r:id="rId3" imgW="685800" imgH="393480" progId="Equation.DSMT4">
                  <p:embed/>
                </p:oleObj>
              </mc:Choice>
              <mc:Fallback>
                <p:oleObj name="Equation" r:id="rId3" imgW="685800" imgH="3934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2225" y="3949700"/>
                        <a:ext cx="1747838" cy="1000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Slide Number Placeholder 1"/>
          <p:cNvSpPr>
            <a:spLocks noGrp="1"/>
          </p:cNvSpPr>
          <p:nvPr>
            <p:ph type="sldNum" sz="quarter" idx="11"/>
          </p:nvPr>
        </p:nvSpPr>
        <p:spPr/>
        <p:txBody>
          <a:bodyPr/>
          <a:lstStyle/>
          <a:p>
            <a:fld id="{F2BCF9F2-1022-4C47-AC3A-FA21E418CE18}" type="slidenum">
              <a:rPr lang="en-US" smtClean="0"/>
              <a:t>19</a:t>
            </a:fld>
            <a:endParaRPr lang="en-US" dirty="0"/>
          </a:p>
        </p:txBody>
      </p:sp>
    </p:spTree>
    <p:extLst>
      <p:ext uri="{BB962C8B-B14F-4D97-AF65-F5344CB8AC3E}">
        <p14:creationId xmlns:p14="http://schemas.microsoft.com/office/powerpoint/2010/main" val="15260704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0964"/>
                                        </p:tgtEl>
                                        <p:attrNameLst>
                                          <p:attrName>style.visibility</p:attrName>
                                        </p:attrNameLst>
                                      </p:cBhvr>
                                      <p:to>
                                        <p:strVal val="visible"/>
                                      </p:to>
                                    </p:set>
                                    <p:animEffect transition="in" filter="wipe(left)">
                                      <p:cBhvr>
                                        <p:cTn id="7" dur="500"/>
                                        <p:tgtEl>
                                          <p:spTgt spid="40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1.2</a:t>
            </a:r>
            <a:r>
              <a:rPr lang="en-US" altLang="en-US" dirty="0"/>
              <a:t>	</a:t>
            </a:r>
            <a:r>
              <a:rPr lang="en-US" altLang="en-US" dirty="0" smtClean="0"/>
              <a:t>Supply-Demand Equilibrium</a:t>
            </a:r>
          </a:p>
        </p:txBody>
      </p:sp>
      <p:sp>
        <p:nvSpPr>
          <p:cNvPr id="307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3077" name="Content Placeholder 2"/>
          <p:cNvSpPr>
            <a:spLocks noGrp="1"/>
          </p:cNvSpPr>
          <p:nvPr>
            <p:ph type="body" sz="quarter" idx="12"/>
          </p:nvPr>
        </p:nvSpPr>
        <p:spPr>
          <a:prstGeom prst="rect">
            <a:avLst/>
          </a:prstGeom>
        </p:spPr>
        <p:txBody>
          <a:bodyPr/>
          <a:lstStyle/>
          <a:p>
            <a:r>
              <a:rPr lang="en-US" altLang="en-US" dirty="0" smtClean="0"/>
              <a:t>What happens to the equilibrium price if either demand or supply shift?</a:t>
            </a:r>
          </a:p>
          <a:p>
            <a:pPr lvl="1"/>
            <a:r>
              <a:rPr lang="en-US" altLang="en-US" dirty="0" smtClean="0"/>
              <a:t>An increase in demand (an increase in </a:t>
            </a:r>
            <a:r>
              <a:rPr lang="en-US" altLang="en-US" i="1" dirty="0" smtClean="0"/>
              <a:t>a</a:t>
            </a:r>
            <a:r>
              <a:rPr lang="en-US" altLang="en-US" dirty="0" smtClean="0"/>
              <a:t>) increases equilibrium price</a:t>
            </a:r>
          </a:p>
          <a:p>
            <a:pPr lvl="1"/>
            <a:r>
              <a:rPr lang="en-US" altLang="en-US" dirty="0" smtClean="0"/>
              <a:t>An increase in supply (an increase in </a:t>
            </a:r>
            <a:r>
              <a:rPr lang="en-US" altLang="en-US" i="1" dirty="0" smtClean="0"/>
              <a:t>c</a:t>
            </a:r>
            <a:r>
              <a:rPr lang="en-US" altLang="en-US" dirty="0" smtClean="0"/>
              <a:t>) reduces price </a:t>
            </a:r>
          </a:p>
        </p:txBody>
      </p:sp>
      <p:graphicFrame>
        <p:nvGraphicFramePr>
          <p:cNvPr id="48132" name="Object 2"/>
          <p:cNvGraphicFramePr>
            <a:graphicFrameLocks noChangeAspect="1"/>
          </p:cNvGraphicFramePr>
          <p:nvPr/>
        </p:nvGraphicFramePr>
        <p:xfrm>
          <a:off x="1198563" y="3622675"/>
          <a:ext cx="2546350" cy="1073150"/>
        </p:xfrm>
        <a:graphic>
          <a:graphicData uri="http://schemas.openxmlformats.org/presentationml/2006/ole">
            <mc:AlternateContent xmlns:mc="http://schemas.openxmlformats.org/markup-compatibility/2006">
              <mc:Choice xmlns:v="urn:schemas-microsoft-com:vml" Requires="v">
                <p:oleObj spid="_x0000_s9254" name="Equation" r:id="rId3" imgW="990360" imgH="419040" progId="Equation.DSMT4">
                  <p:embed/>
                </p:oleObj>
              </mc:Choice>
              <mc:Fallback>
                <p:oleObj name="Equation" r:id="rId3" imgW="99036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8563" y="3622675"/>
                        <a:ext cx="2546350" cy="1073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3" name="Object 3"/>
          <p:cNvGraphicFramePr>
            <a:graphicFrameLocks noChangeAspect="1"/>
          </p:cNvGraphicFramePr>
          <p:nvPr/>
        </p:nvGraphicFramePr>
        <p:xfrm>
          <a:off x="1216025" y="4948238"/>
          <a:ext cx="2513013" cy="1073150"/>
        </p:xfrm>
        <a:graphic>
          <a:graphicData uri="http://schemas.openxmlformats.org/presentationml/2006/ole">
            <mc:AlternateContent xmlns:mc="http://schemas.openxmlformats.org/markup-compatibility/2006">
              <mc:Choice xmlns:v="urn:schemas-microsoft-com:vml" Requires="v">
                <p:oleObj spid="_x0000_s9255" name="Equation" r:id="rId5" imgW="977760" imgH="419040" progId="Equation.DSMT4">
                  <p:embed/>
                </p:oleObj>
              </mc:Choice>
              <mc:Fallback>
                <p:oleObj name="Equation" r:id="rId5" imgW="977760" imgH="4190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6025" y="4948238"/>
                        <a:ext cx="2513013" cy="1073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Slide Number Placeholder 1"/>
          <p:cNvSpPr>
            <a:spLocks noGrp="1"/>
          </p:cNvSpPr>
          <p:nvPr>
            <p:ph type="sldNum" sz="quarter" idx="11"/>
          </p:nvPr>
        </p:nvSpPr>
        <p:spPr/>
        <p:txBody>
          <a:bodyPr/>
          <a:lstStyle/>
          <a:p>
            <a:fld id="{F2BCF9F2-1022-4C47-AC3A-FA21E418CE18}" type="slidenum">
              <a:rPr lang="en-US" smtClean="0"/>
              <a:t>20</a:t>
            </a:fld>
            <a:endParaRPr lang="en-US" dirty="0"/>
          </a:p>
        </p:txBody>
      </p:sp>
    </p:spTree>
    <p:extLst>
      <p:ext uri="{BB962C8B-B14F-4D97-AF65-F5344CB8AC3E}">
        <p14:creationId xmlns:p14="http://schemas.microsoft.com/office/powerpoint/2010/main" val="381638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8132"/>
                                        </p:tgtEl>
                                        <p:attrNameLst>
                                          <p:attrName>style.visibility</p:attrName>
                                        </p:attrNameLst>
                                      </p:cBhvr>
                                      <p:to>
                                        <p:strVal val="visible"/>
                                      </p:to>
                                    </p:set>
                                    <p:animEffect transition="in" filter="wipe(left)">
                                      <p:cBhvr>
                                        <p:cTn id="7" dur="500"/>
                                        <p:tgtEl>
                                          <p:spTgt spid="4813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48133"/>
                                        </p:tgtEl>
                                        <p:attrNameLst>
                                          <p:attrName>style.visibility</p:attrName>
                                        </p:attrNameLst>
                                      </p:cBhvr>
                                      <p:to>
                                        <p:strVal val="visible"/>
                                      </p:to>
                                    </p:set>
                                    <p:animEffect transition="in" filter="wipe(left)">
                                      <p:cBhvr>
                                        <p:cTn id="11" dur="500"/>
                                        <p:tgtEl>
                                          <p:spTgt spid="48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1.2	Supply-Demand Equilibrium</a:t>
            </a:r>
          </a:p>
        </p:txBody>
      </p:sp>
      <p:sp>
        <p:nvSpPr>
          <p:cNvPr id="6" name="Footer Placeholder 5"/>
          <p:cNvSpPr>
            <a:spLocks noGrp="1"/>
          </p:cNvSpPr>
          <p:nvPr>
            <p:ph type="ftr" sz="quarter" idx="10"/>
          </p:nvPr>
        </p:nvSpPr>
        <p:spPr>
          <a:prstGeom prst="rect">
            <a:avLst/>
          </a:prstGeom>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33795" name="Rectangle 3"/>
          <p:cNvSpPr>
            <a:spLocks noGrp="1" noChangeArrowheads="1"/>
          </p:cNvSpPr>
          <p:nvPr>
            <p:ph type="body" sz="quarter" idx="12"/>
          </p:nvPr>
        </p:nvSpPr>
        <p:spPr>
          <a:prstGeom prst="rect">
            <a:avLst/>
          </a:prstGeom>
        </p:spPr>
        <p:txBody>
          <a:bodyPr/>
          <a:lstStyle/>
          <a:p>
            <a:r>
              <a:rPr lang="en-US" altLang="en-US" smtClean="0"/>
              <a:t>A shift in demand will lead to a new equilibrium:</a:t>
            </a:r>
          </a:p>
          <a:p>
            <a:pPr>
              <a:lnSpc>
                <a:spcPct val="40000"/>
              </a:lnSpc>
              <a:buFontTx/>
              <a:buNone/>
            </a:pPr>
            <a:endParaRPr lang="en-US" altLang="en-US" smtClean="0"/>
          </a:p>
          <a:p>
            <a:pPr>
              <a:lnSpc>
                <a:spcPct val="110000"/>
              </a:lnSpc>
              <a:buFont typeface="Arial" charset="0"/>
              <a:buNone/>
            </a:pPr>
            <a:r>
              <a:rPr lang="en-US" altLang="en-US" sz="2800" i="1" smtClean="0"/>
              <a:t>	 q</a:t>
            </a:r>
            <a:r>
              <a:rPr lang="en-US" altLang="en-US" sz="2800" smtClean="0"/>
              <a:t>’</a:t>
            </a:r>
            <a:r>
              <a:rPr lang="en-US" altLang="en-US" sz="2800" i="1" baseline="-25000" smtClean="0"/>
              <a:t>D</a:t>
            </a:r>
            <a:r>
              <a:rPr lang="en-US" altLang="en-US" sz="2800" smtClean="0"/>
              <a:t> = 1450 - 100</a:t>
            </a:r>
            <a:r>
              <a:rPr lang="en-US" altLang="en-US" sz="2800" i="1" smtClean="0"/>
              <a:t>p</a:t>
            </a:r>
          </a:p>
          <a:p>
            <a:pPr>
              <a:lnSpc>
                <a:spcPct val="110000"/>
              </a:lnSpc>
              <a:buFont typeface="Arial" charset="0"/>
              <a:buNone/>
            </a:pPr>
            <a:r>
              <a:rPr lang="en-US" altLang="en-US" sz="2800" i="1" smtClean="0"/>
              <a:t>	 q</a:t>
            </a:r>
            <a:r>
              <a:rPr lang="en-US" altLang="en-US" sz="2800" smtClean="0"/>
              <a:t>’</a:t>
            </a:r>
            <a:r>
              <a:rPr lang="en-US" altLang="en-US" sz="2800" i="1" baseline="-25000" smtClean="0"/>
              <a:t>D</a:t>
            </a:r>
            <a:r>
              <a:rPr lang="en-US" altLang="en-US" sz="2800" smtClean="0"/>
              <a:t> = 1450 - 100</a:t>
            </a:r>
            <a:r>
              <a:rPr lang="en-US" altLang="en-US" sz="2800" i="1" smtClean="0"/>
              <a:t>p</a:t>
            </a:r>
            <a:r>
              <a:rPr lang="en-US" altLang="en-US" sz="2800" smtClean="0"/>
              <a:t> = </a:t>
            </a:r>
            <a:r>
              <a:rPr lang="en-US" altLang="en-US" sz="2800" i="1" smtClean="0"/>
              <a:t>q</a:t>
            </a:r>
            <a:r>
              <a:rPr lang="en-US" altLang="en-US" sz="2800" i="1" baseline="-25000" smtClean="0"/>
              <a:t>S</a:t>
            </a:r>
            <a:r>
              <a:rPr lang="en-US" altLang="en-US" sz="2800" smtClean="0"/>
              <a:t> = -125 + 125</a:t>
            </a:r>
            <a:r>
              <a:rPr lang="en-US" altLang="en-US" sz="2800" i="1" smtClean="0"/>
              <a:t>p</a:t>
            </a:r>
          </a:p>
          <a:p>
            <a:pPr>
              <a:lnSpc>
                <a:spcPct val="110000"/>
              </a:lnSpc>
              <a:buFont typeface="Arial" charset="0"/>
              <a:buNone/>
            </a:pPr>
            <a:r>
              <a:rPr lang="en-US" altLang="en-US" sz="2800" smtClean="0"/>
              <a:t>	 225</a:t>
            </a:r>
            <a:r>
              <a:rPr lang="en-US" altLang="en-US" sz="2800" i="1" smtClean="0"/>
              <a:t>p</a:t>
            </a:r>
            <a:r>
              <a:rPr lang="en-US" altLang="en-US" sz="2800" smtClean="0"/>
              <a:t> = 1575</a:t>
            </a:r>
          </a:p>
          <a:p>
            <a:pPr>
              <a:lnSpc>
                <a:spcPct val="110000"/>
              </a:lnSpc>
              <a:buFont typeface="Arial" charset="0"/>
              <a:buNone/>
            </a:pPr>
            <a:r>
              <a:rPr lang="en-US" altLang="en-US" sz="2800" i="1" smtClean="0">
                <a:solidFill>
                  <a:srgbClr val="FF0000"/>
                </a:solidFill>
              </a:rPr>
              <a:t>	 p</a:t>
            </a:r>
            <a:r>
              <a:rPr lang="en-US" altLang="en-US" sz="2800" smtClean="0">
                <a:solidFill>
                  <a:srgbClr val="FF0000"/>
                </a:solidFill>
              </a:rPr>
              <a:t>* = 7</a:t>
            </a:r>
          </a:p>
          <a:p>
            <a:pPr>
              <a:lnSpc>
                <a:spcPct val="110000"/>
              </a:lnSpc>
              <a:buFont typeface="Arial" charset="0"/>
              <a:buNone/>
            </a:pPr>
            <a:r>
              <a:rPr lang="en-US" altLang="en-US" sz="2800" i="1" smtClean="0">
                <a:solidFill>
                  <a:srgbClr val="FF0000"/>
                </a:solidFill>
              </a:rPr>
              <a:t>	 q</a:t>
            </a:r>
            <a:r>
              <a:rPr lang="en-US" altLang="en-US" sz="2800" smtClean="0">
                <a:solidFill>
                  <a:srgbClr val="FF0000"/>
                </a:solidFill>
              </a:rPr>
              <a:t>* = 750</a:t>
            </a:r>
          </a:p>
        </p:txBody>
      </p:sp>
      <p:sp>
        <p:nvSpPr>
          <p:cNvPr id="2" name="Slide Number Placeholder 1"/>
          <p:cNvSpPr>
            <a:spLocks noGrp="1"/>
          </p:cNvSpPr>
          <p:nvPr>
            <p:ph type="sldNum" sz="quarter" idx="11"/>
          </p:nvPr>
        </p:nvSpPr>
        <p:spPr/>
        <p:txBody>
          <a:bodyPr/>
          <a:lstStyle/>
          <a:p>
            <a:fld id="{F2BCF9F2-1022-4C47-AC3A-FA21E418CE18}" type="slidenum">
              <a:rPr lang="en-US" smtClean="0"/>
              <a:t>21</a:t>
            </a:fld>
            <a:endParaRPr lang="en-US" dirty="0"/>
          </a:p>
        </p:txBody>
      </p:sp>
    </p:spTree>
    <p:extLst>
      <p:ext uri="{BB962C8B-B14F-4D97-AF65-F5344CB8AC3E}">
        <p14:creationId xmlns:p14="http://schemas.microsoft.com/office/powerpoint/2010/main" val="306850102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pPr algn="l"/>
            <a:r>
              <a:rPr lang="en-US" altLang="en-US" dirty="0" smtClean="0"/>
              <a:t>1.3	Changing Supply–Demand Equilibria</a:t>
            </a:r>
          </a:p>
        </p:txBody>
      </p:sp>
      <p:sp>
        <p:nvSpPr>
          <p:cNvPr id="34819" name="Text Placeholder 28"/>
          <p:cNvSpPr>
            <a:spLocks noGrp="1"/>
          </p:cNvSpPr>
          <p:nvPr>
            <p:ph sz="half" idx="1"/>
          </p:nvPr>
        </p:nvSpPr>
        <p:spPr>
          <a:xfrm>
            <a:off x="117474" y="5410200"/>
            <a:ext cx="8721725" cy="943769"/>
          </a:xfrm>
        </p:spPr>
        <p:txBody>
          <a:bodyPr>
            <a:normAutofit/>
          </a:bodyPr>
          <a:lstStyle/>
          <a:p>
            <a:pPr>
              <a:spcBef>
                <a:spcPct val="0"/>
              </a:spcBef>
            </a:pPr>
            <a:r>
              <a:rPr lang="en-US" altLang="en-US" dirty="0" smtClean="0"/>
              <a:t>The initial supply–demand equilibrium is illustrated by the intersection of D and S (</a:t>
            </a:r>
            <a:r>
              <a:rPr lang="en-US" altLang="en-US" i="1" dirty="0" smtClean="0"/>
              <a:t>p*</a:t>
            </a:r>
            <a:r>
              <a:rPr lang="en-US" altLang="en-US" dirty="0" smtClean="0"/>
              <a:t> = 5, </a:t>
            </a:r>
            <a:r>
              <a:rPr lang="en-US" altLang="en-US" i="1" dirty="0" smtClean="0"/>
              <a:t>q*</a:t>
            </a:r>
            <a:r>
              <a:rPr lang="en-US" altLang="en-US" dirty="0" smtClean="0"/>
              <a:t> = 500). When demand shifts to </a:t>
            </a:r>
            <a:r>
              <a:rPr lang="en-US" altLang="en-US" i="1" dirty="0" err="1" smtClean="0"/>
              <a:t>q</a:t>
            </a:r>
            <a:r>
              <a:rPr lang="en-US" altLang="en-US" i="1" baseline="-25000" dirty="0" err="1" smtClean="0"/>
              <a:t>D</a:t>
            </a:r>
            <a:r>
              <a:rPr lang="en-US" altLang="en-US" baseline="-25000" dirty="0" smtClean="0"/>
              <a:t>’ </a:t>
            </a:r>
            <a:r>
              <a:rPr lang="en-US" altLang="en-US" dirty="0" smtClean="0"/>
              <a:t>=1; 450 - 100</a:t>
            </a:r>
            <a:r>
              <a:rPr lang="en-US" altLang="en-US" i="1" dirty="0" smtClean="0"/>
              <a:t>p </a:t>
            </a:r>
            <a:r>
              <a:rPr lang="en-US" altLang="en-US" dirty="0" smtClean="0"/>
              <a:t>(denoted as D’), the equilibrium shifts to </a:t>
            </a:r>
            <a:r>
              <a:rPr lang="en-US" altLang="en-US" i="1" dirty="0" smtClean="0"/>
              <a:t>p*</a:t>
            </a:r>
            <a:r>
              <a:rPr lang="en-US" altLang="en-US" dirty="0" smtClean="0"/>
              <a:t>= 7, </a:t>
            </a:r>
            <a:r>
              <a:rPr lang="en-US" altLang="en-US" i="1" dirty="0" smtClean="0"/>
              <a:t>q*</a:t>
            </a:r>
            <a:r>
              <a:rPr lang="en-US" altLang="en-US" dirty="0" smtClean="0"/>
              <a:t>=750.</a:t>
            </a:r>
          </a:p>
        </p:txBody>
      </p:sp>
      <p:sp>
        <p:nvSpPr>
          <p:cNvPr id="34822" name="Footer Placeholder 27"/>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34823" name="Line 3"/>
          <p:cNvSpPr>
            <a:spLocks noChangeShapeType="1"/>
          </p:cNvSpPr>
          <p:nvPr/>
        </p:nvSpPr>
        <p:spPr bwMode="auto">
          <a:xfrm>
            <a:off x="1752600" y="1220788"/>
            <a:ext cx="0" cy="3657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4" name="Line 4"/>
          <p:cNvSpPr>
            <a:spLocks noChangeShapeType="1"/>
          </p:cNvSpPr>
          <p:nvPr/>
        </p:nvSpPr>
        <p:spPr bwMode="auto">
          <a:xfrm>
            <a:off x="1752600" y="4878388"/>
            <a:ext cx="4343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5" name="Line 5"/>
          <p:cNvSpPr>
            <a:spLocks noChangeShapeType="1"/>
          </p:cNvSpPr>
          <p:nvPr/>
        </p:nvSpPr>
        <p:spPr bwMode="auto">
          <a:xfrm flipV="1">
            <a:off x="1752600" y="1754188"/>
            <a:ext cx="3124200" cy="2832100"/>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6" name="Line 6"/>
          <p:cNvSpPr>
            <a:spLocks noChangeShapeType="1"/>
          </p:cNvSpPr>
          <p:nvPr/>
        </p:nvSpPr>
        <p:spPr bwMode="auto">
          <a:xfrm>
            <a:off x="1752600" y="1525588"/>
            <a:ext cx="3429000" cy="2725737"/>
          </a:xfrm>
          <a:prstGeom prst="line">
            <a:avLst/>
          </a:prstGeom>
          <a:noFill/>
          <a:ln w="28575">
            <a:solidFill>
              <a:srgbClr val="5D0D8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7" name="Text Box 9"/>
          <p:cNvSpPr txBox="1">
            <a:spLocks noChangeArrowheads="1"/>
          </p:cNvSpPr>
          <p:nvPr/>
        </p:nvSpPr>
        <p:spPr bwMode="auto">
          <a:xfrm>
            <a:off x="4876800" y="1576388"/>
            <a:ext cx="3381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S</a:t>
            </a:r>
          </a:p>
        </p:txBody>
      </p:sp>
      <p:sp>
        <p:nvSpPr>
          <p:cNvPr id="34828" name="Text Box 10"/>
          <p:cNvSpPr txBox="1">
            <a:spLocks noChangeArrowheads="1"/>
          </p:cNvSpPr>
          <p:nvPr/>
        </p:nvSpPr>
        <p:spPr bwMode="auto">
          <a:xfrm>
            <a:off x="6096000" y="4802188"/>
            <a:ext cx="2209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Quantity per </a:t>
            </a:r>
            <a:r>
              <a:rPr lang="en-US" altLang="en-US" sz="1800" dirty="0" smtClean="0"/>
              <a:t>period (bushels)</a:t>
            </a:r>
            <a:endParaRPr lang="en-US" altLang="en-US" sz="1800" dirty="0"/>
          </a:p>
        </p:txBody>
      </p:sp>
      <p:sp>
        <p:nvSpPr>
          <p:cNvPr id="34829" name="Text Box 11"/>
          <p:cNvSpPr txBox="1">
            <a:spLocks noChangeArrowheads="1"/>
          </p:cNvSpPr>
          <p:nvPr/>
        </p:nvSpPr>
        <p:spPr bwMode="auto">
          <a:xfrm>
            <a:off x="5181600" y="4167188"/>
            <a:ext cx="3508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D</a:t>
            </a:r>
          </a:p>
        </p:txBody>
      </p:sp>
      <p:sp>
        <p:nvSpPr>
          <p:cNvPr id="34830" name="Text Box 12"/>
          <p:cNvSpPr txBox="1">
            <a:spLocks noChangeArrowheads="1"/>
          </p:cNvSpPr>
          <p:nvPr/>
        </p:nvSpPr>
        <p:spPr bwMode="auto">
          <a:xfrm>
            <a:off x="838200" y="1068388"/>
            <a:ext cx="844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dirty="0" smtClean="0"/>
              <a:t>Price ($)</a:t>
            </a:r>
            <a:endParaRPr lang="en-US" altLang="en-US" sz="1800" dirty="0"/>
          </a:p>
        </p:txBody>
      </p:sp>
      <p:sp>
        <p:nvSpPr>
          <p:cNvPr id="34831" name="Text Box 13"/>
          <p:cNvSpPr txBox="1">
            <a:spLocks noChangeArrowheads="1"/>
          </p:cNvSpPr>
          <p:nvPr/>
        </p:nvSpPr>
        <p:spPr bwMode="auto">
          <a:xfrm>
            <a:off x="1447800" y="28209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a:t>5</a:t>
            </a:r>
          </a:p>
        </p:txBody>
      </p:sp>
      <p:sp>
        <p:nvSpPr>
          <p:cNvPr id="34832" name="Text Box 14"/>
          <p:cNvSpPr txBox="1">
            <a:spLocks noChangeArrowheads="1"/>
          </p:cNvSpPr>
          <p:nvPr/>
        </p:nvSpPr>
        <p:spPr bwMode="auto">
          <a:xfrm>
            <a:off x="3276600" y="4878388"/>
            <a:ext cx="565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500</a:t>
            </a:r>
          </a:p>
        </p:txBody>
      </p:sp>
      <p:sp>
        <p:nvSpPr>
          <p:cNvPr id="34833" name="Line 21"/>
          <p:cNvSpPr>
            <a:spLocks noChangeShapeType="1"/>
          </p:cNvSpPr>
          <p:nvPr/>
        </p:nvSpPr>
        <p:spPr bwMode="auto">
          <a:xfrm flipH="1">
            <a:off x="1752600" y="2973388"/>
            <a:ext cx="18288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4" name="Line 22"/>
          <p:cNvSpPr>
            <a:spLocks noChangeShapeType="1"/>
          </p:cNvSpPr>
          <p:nvPr/>
        </p:nvSpPr>
        <p:spPr bwMode="auto">
          <a:xfrm>
            <a:off x="3581400" y="2973388"/>
            <a:ext cx="0" cy="19050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 name="Group 35"/>
          <p:cNvGrpSpPr>
            <a:grpSpLocks/>
          </p:cNvGrpSpPr>
          <p:nvPr/>
        </p:nvGrpSpPr>
        <p:grpSpPr bwMode="auto">
          <a:xfrm>
            <a:off x="1447800" y="2363788"/>
            <a:ext cx="2927350" cy="2881312"/>
            <a:chOff x="912" y="2112"/>
            <a:chExt cx="1844" cy="1815"/>
          </a:xfrm>
        </p:grpSpPr>
        <p:sp>
          <p:nvSpPr>
            <p:cNvPr id="34842" name="Line 25"/>
            <p:cNvSpPr>
              <a:spLocks noChangeShapeType="1"/>
            </p:cNvSpPr>
            <p:nvPr/>
          </p:nvSpPr>
          <p:spPr bwMode="auto">
            <a:xfrm flipH="1">
              <a:off x="1104" y="2208"/>
              <a:ext cx="144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43" name="Line 27"/>
            <p:cNvSpPr>
              <a:spLocks noChangeShapeType="1"/>
            </p:cNvSpPr>
            <p:nvPr/>
          </p:nvSpPr>
          <p:spPr bwMode="auto">
            <a:xfrm>
              <a:off x="2544" y="2208"/>
              <a:ext cx="0" cy="14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44" name="Text Box 28"/>
            <p:cNvSpPr txBox="1">
              <a:spLocks noChangeArrowheads="1"/>
            </p:cNvSpPr>
            <p:nvPr/>
          </p:nvSpPr>
          <p:spPr bwMode="auto">
            <a:xfrm>
              <a:off x="912" y="211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a:t>7</a:t>
              </a:r>
            </a:p>
          </p:txBody>
        </p:sp>
        <p:sp>
          <p:nvSpPr>
            <p:cNvPr id="34845" name="Text Box 29"/>
            <p:cNvSpPr txBox="1">
              <a:spLocks noChangeArrowheads="1"/>
            </p:cNvSpPr>
            <p:nvPr/>
          </p:nvSpPr>
          <p:spPr bwMode="auto">
            <a:xfrm>
              <a:off x="2400" y="3696"/>
              <a:ext cx="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750</a:t>
              </a:r>
            </a:p>
          </p:txBody>
        </p:sp>
      </p:grpSp>
      <p:grpSp>
        <p:nvGrpSpPr>
          <p:cNvPr id="3" name="Group 33"/>
          <p:cNvGrpSpPr>
            <a:grpSpLocks/>
          </p:cNvGrpSpPr>
          <p:nvPr/>
        </p:nvGrpSpPr>
        <p:grpSpPr bwMode="auto">
          <a:xfrm>
            <a:off x="2514600" y="1296988"/>
            <a:ext cx="3832225" cy="2935287"/>
            <a:chOff x="1584" y="1440"/>
            <a:chExt cx="2414" cy="1849"/>
          </a:xfrm>
        </p:grpSpPr>
        <p:sp>
          <p:nvSpPr>
            <p:cNvPr id="34839" name="Line 23"/>
            <p:cNvSpPr>
              <a:spLocks noChangeShapeType="1"/>
            </p:cNvSpPr>
            <p:nvPr/>
          </p:nvSpPr>
          <p:spPr bwMode="auto">
            <a:xfrm>
              <a:off x="1584" y="1440"/>
              <a:ext cx="2112" cy="1680"/>
            </a:xfrm>
            <a:prstGeom prst="line">
              <a:avLst/>
            </a:prstGeom>
            <a:noFill/>
            <a:ln w="28575">
              <a:solidFill>
                <a:srgbClr val="5D0D8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40" name="Text Box 24"/>
            <p:cNvSpPr txBox="1">
              <a:spLocks noChangeArrowheads="1"/>
            </p:cNvSpPr>
            <p:nvPr/>
          </p:nvSpPr>
          <p:spPr bwMode="auto">
            <a:xfrm>
              <a:off x="3744" y="3056"/>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D’</a:t>
              </a:r>
            </a:p>
          </p:txBody>
        </p:sp>
        <p:sp>
          <p:nvSpPr>
            <p:cNvPr id="34841" name="AutoShape 30"/>
            <p:cNvSpPr>
              <a:spLocks noChangeArrowheads="1"/>
            </p:cNvSpPr>
            <p:nvPr/>
          </p:nvSpPr>
          <p:spPr bwMode="auto">
            <a:xfrm>
              <a:off x="1584" y="1728"/>
              <a:ext cx="384" cy="210"/>
            </a:xfrm>
            <a:prstGeom prst="rightArrow">
              <a:avLst>
                <a:gd name="adj1" fmla="val 50000"/>
                <a:gd name="adj2" fmla="val 45714"/>
              </a:avLst>
            </a:prstGeom>
            <a:solidFill>
              <a:srgbClr val="394DA3"/>
            </a:solidFill>
            <a:ln w="9525">
              <a:solidFill>
                <a:srgbClr val="394DA3"/>
              </a:solidFill>
              <a:miter lim="800000"/>
              <a:headEnd/>
              <a:tailEnd/>
            </a:ln>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sz="1800"/>
            </a:p>
          </p:txBody>
        </p:sp>
      </p:grpSp>
      <p:sp>
        <p:nvSpPr>
          <p:cNvPr id="24607" name="Text Box 31"/>
          <p:cNvSpPr txBox="1">
            <a:spLocks noChangeArrowheads="1"/>
          </p:cNvSpPr>
          <p:nvPr/>
        </p:nvSpPr>
        <p:spPr bwMode="auto">
          <a:xfrm>
            <a:off x="3124200" y="966788"/>
            <a:ext cx="2736850" cy="369887"/>
          </a:xfrm>
          <a:prstGeom prst="rect">
            <a:avLst/>
          </a:prstGeom>
          <a:noFill/>
          <a:ln w="15875">
            <a:solidFill>
              <a:srgbClr val="394DA3"/>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394DA3"/>
                </a:solidFill>
              </a:rPr>
              <a:t>An increase in demand...</a:t>
            </a:r>
          </a:p>
        </p:txBody>
      </p:sp>
      <p:sp>
        <p:nvSpPr>
          <p:cNvPr id="24608" name="Text Box 32"/>
          <p:cNvSpPr txBox="1">
            <a:spLocks noChangeArrowheads="1"/>
          </p:cNvSpPr>
          <p:nvPr/>
        </p:nvSpPr>
        <p:spPr bwMode="auto">
          <a:xfrm>
            <a:off x="6096000" y="1728788"/>
            <a:ext cx="2479675" cy="923925"/>
          </a:xfrm>
          <a:prstGeom prst="rect">
            <a:avLst/>
          </a:prstGeom>
          <a:noFill/>
          <a:ln w="15875">
            <a:solidFill>
              <a:srgbClr val="394DA3"/>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394DA3"/>
                </a:solidFill>
              </a:rPr>
              <a:t>…leads to a rise in the</a:t>
            </a:r>
          </a:p>
          <a:p>
            <a:pPr eaLnBrk="1" hangingPunct="1"/>
            <a:r>
              <a:rPr lang="en-US" altLang="en-US" sz="1800">
                <a:solidFill>
                  <a:srgbClr val="394DA3"/>
                </a:solidFill>
              </a:rPr>
              <a:t>equilibrium price and </a:t>
            </a:r>
          </a:p>
          <a:p>
            <a:pPr eaLnBrk="1" hangingPunct="1"/>
            <a:r>
              <a:rPr lang="en-US" altLang="en-US" sz="1800">
                <a:solidFill>
                  <a:srgbClr val="394DA3"/>
                </a:solidFill>
              </a:rPr>
              <a:t>quantity.</a:t>
            </a:r>
          </a:p>
        </p:txBody>
      </p:sp>
      <p:sp>
        <p:nvSpPr>
          <p:cNvPr id="4" name="Slide Number Placeholder 3"/>
          <p:cNvSpPr>
            <a:spLocks noGrp="1"/>
          </p:cNvSpPr>
          <p:nvPr>
            <p:ph type="sldNum" sz="quarter" idx="11"/>
          </p:nvPr>
        </p:nvSpPr>
        <p:spPr/>
        <p:txBody>
          <a:bodyPr/>
          <a:lstStyle/>
          <a:p>
            <a:fld id="{F2BCF9F2-1022-4C47-AC3A-FA21E418CE18}" type="slidenum">
              <a:rPr lang="en-US" smtClean="0"/>
              <a:t>22</a:t>
            </a:fld>
            <a:endParaRPr lang="en-US" dirty="0"/>
          </a:p>
        </p:txBody>
      </p:sp>
    </p:spTree>
    <p:extLst>
      <p:ext uri="{BB962C8B-B14F-4D97-AF65-F5344CB8AC3E}">
        <p14:creationId xmlns:p14="http://schemas.microsoft.com/office/powerpoint/2010/main" val="3194764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607"/>
                                        </p:tgtEl>
                                        <p:attrNameLst>
                                          <p:attrName>style.visibility</p:attrName>
                                        </p:attrNameLst>
                                      </p:cBhvr>
                                      <p:to>
                                        <p:strVal val="visible"/>
                                      </p:to>
                                    </p:set>
                                    <p:animEffect transition="in" filter="wipe(left)">
                                      <p:cBhvr>
                                        <p:cTn id="7" dur="500"/>
                                        <p:tgtEl>
                                          <p:spTgt spid="24607"/>
                                        </p:tgtEl>
                                      </p:cBhvr>
                                    </p:animEffect>
                                  </p:childTnLst>
                                </p:cTn>
                              </p:par>
                            </p:childTnLst>
                          </p:cTn>
                        </p:par>
                        <p:par>
                          <p:cTn id="8" fill="hold" nodeType="with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4608"/>
                                        </p:tgtEl>
                                        <p:attrNameLst>
                                          <p:attrName>style.visibility</p:attrName>
                                        </p:attrNameLst>
                                      </p:cBhvr>
                                      <p:to>
                                        <p:strVal val="visible"/>
                                      </p:to>
                                    </p:set>
                                    <p:animEffect transition="in" filter="wipe(left)">
                                      <p:cBhvr>
                                        <p:cTn id="16" dur="500"/>
                                        <p:tgtEl>
                                          <p:spTgt spid="24608"/>
                                        </p:tgtEl>
                                      </p:cBhvr>
                                    </p:animEffect>
                                  </p:childTnLst>
                                </p:cTn>
                              </p:par>
                            </p:childTnLst>
                          </p:cTn>
                        </p:par>
                        <p:par>
                          <p:cTn id="17" fill="hold" nodeType="with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34819">
                                            <p:txEl>
                                              <p:pRg st="0" end="0"/>
                                            </p:txEl>
                                          </p:spTgt>
                                        </p:tgtEl>
                                        <p:attrNameLst>
                                          <p:attrName>style.visibility</p:attrName>
                                        </p:attrNameLst>
                                      </p:cBhvr>
                                      <p:to>
                                        <p:strVal val="visible"/>
                                      </p:to>
                                    </p:set>
                                    <p:animEffect transition="in" filter="wipe(left)">
                                      <p:cBhvr>
                                        <p:cTn id="24" dur="500"/>
                                        <p:tgtEl>
                                          <p:spTgt spid="348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P spid="24607" grpId="0" animBg="1" autoUpdateAnimBg="0"/>
      <p:bldP spid="24608"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altLang="en-US" smtClean="0"/>
              <a:t>The Economic Theory of Value</a:t>
            </a:r>
          </a:p>
        </p:txBody>
      </p:sp>
      <p:sp>
        <p:nvSpPr>
          <p:cNvPr id="35843" name="Content Placeholder 2"/>
          <p:cNvSpPr>
            <a:spLocks noGrp="1"/>
          </p:cNvSpPr>
          <p:nvPr>
            <p:ph idx="1"/>
          </p:nvPr>
        </p:nvSpPr>
        <p:spPr/>
        <p:txBody>
          <a:bodyPr/>
          <a:lstStyle/>
          <a:p>
            <a:r>
              <a:rPr lang="en-US" altLang="en-US" smtClean="0"/>
              <a:t>Paradox resolved</a:t>
            </a:r>
          </a:p>
          <a:p>
            <a:pPr lvl="1"/>
            <a:r>
              <a:rPr lang="en-US" altLang="en-US" smtClean="0"/>
              <a:t>Water</a:t>
            </a:r>
          </a:p>
          <a:p>
            <a:pPr lvl="2"/>
            <a:r>
              <a:rPr lang="en-US" altLang="en-US" smtClean="0"/>
              <a:t>Low marginal value </a:t>
            </a:r>
          </a:p>
          <a:p>
            <a:pPr lvl="2"/>
            <a:r>
              <a:rPr lang="en-US" altLang="en-US" smtClean="0"/>
              <a:t>Low marginal cost of production </a:t>
            </a:r>
          </a:p>
          <a:p>
            <a:pPr lvl="2"/>
            <a:r>
              <a:rPr lang="en-US" altLang="en-US" smtClean="0">
                <a:solidFill>
                  <a:srgbClr val="FF0000"/>
                </a:solidFill>
                <a:sym typeface="Monotype Sorts" pitchFamily="2" charset="2"/>
              </a:rPr>
              <a:t>Low price</a:t>
            </a:r>
          </a:p>
          <a:p>
            <a:pPr lvl="1"/>
            <a:r>
              <a:rPr lang="en-US" altLang="en-US" smtClean="0"/>
              <a:t>Diamonds</a:t>
            </a:r>
          </a:p>
          <a:p>
            <a:pPr lvl="2"/>
            <a:r>
              <a:rPr lang="en-US" altLang="en-US" smtClean="0"/>
              <a:t>High marginal value</a:t>
            </a:r>
          </a:p>
          <a:p>
            <a:pPr lvl="2"/>
            <a:r>
              <a:rPr lang="en-US" altLang="en-US" smtClean="0"/>
              <a:t>A high marginal cost of production</a:t>
            </a:r>
          </a:p>
          <a:p>
            <a:pPr lvl="2"/>
            <a:r>
              <a:rPr lang="en-US" altLang="en-US" smtClean="0">
                <a:solidFill>
                  <a:srgbClr val="FF0000"/>
                </a:solidFill>
                <a:sym typeface="Monotype Sorts" pitchFamily="2" charset="2"/>
              </a:rPr>
              <a:t>High price</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720B335A-255B-4303-A333-FBB711D61B6F}" type="slidenum">
              <a:rPr lang="en-US" smtClean="0"/>
              <a:t>23</a:t>
            </a:fld>
            <a:endParaRPr lang="en-US"/>
          </a:p>
        </p:txBody>
      </p:sp>
    </p:spTree>
    <p:extLst>
      <p:ext uri="{BB962C8B-B14F-4D97-AF65-F5344CB8AC3E}">
        <p14:creationId xmlns:p14="http://schemas.microsoft.com/office/powerpoint/2010/main" val="42944878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ltLang="en-US" smtClean="0"/>
              <a:t>The Economic Theory of Value</a:t>
            </a:r>
          </a:p>
        </p:txBody>
      </p:sp>
      <p:sp>
        <p:nvSpPr>
          <p:cNvPr id="36867" name="Content Placeholder 2"/>
          <p:cNvSpPr>
            <a:spLocks noGrp="1"/>
          </p:cNvSpPr>
          <p:nvPr>
            <p:ph idx="1"/>
          </p:nvPr>
        </p:nvSpPr>
        <p:spPr/>
        <p:txBody>
          <a:bodyPr/>
          <a:lstStyle/>
          <a:p>
            <a:r>
              <a:rPr lang="en-US" altLang="en-US" dirty="0" smtClean="0"/>
              <a:t>General equilibrium models</a:t>
            </a:r>
          </a:p>
          <a:p>
            <a:pPr lvl="1">
              <a:lnSpc>
                <a:spcPct val="110000"/>
              </a:lnSpc>
            </a:pPr>
            <a:r>
              <a:rPr lang="en-US" altLang="en-US" dirty="0" smtClean="0"/>
              <a:t>The Marshallian model is a partial equilibrium model</a:t>
            </a:r>
          </a:p>
          <a:p>
            <a:pPr lvl="2">
              <a:lnSpc>
                <a:spcPct val="110000"/>
              </a:lnSpc>
            </a:pPr>
            <a:r>
              <a:rPr lang="en-US" altLang="en-US" dirty="0" smtClean="0"/>
              <a:t>Focuses only on one market at a time</a:t>
            </a:r>
          </a:p>
          <a:p>
            <a:pPr lvl="1">
              <a:lnSpc>
                <a:spcPct val="110000"/>
              </a:lnSpc>
            </a:pPr>
            <a:r>
              <a:rPr lang="en-US" altLang="en-US" dirty="0" smtClean="0"/>
              <a:t>For more general questions, we need a model of the entire economy</a:t>
            </a:r>
          </a:p>
          <a:p>
            <a:pPr lvl="2">
              <a:lnSpc>
                <a:spcPct val="110000"/>
              </a:lnSpc>
            </a:pPr>
            <a:r>
              <a:rPr lang="en-US" altLang="en-US" dirty="0" smtClean="0"/>
              <a:t>Must include the interrelationships between markets and economic agents</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720B335A-255B-4303-A333-FBB711D61B6F}" type="slidenum">
              <a:rPr lang="en-US" smtClean="0"/>
              <a:t>24</a:t>
            </a:fld>
            <a:endParaRPr lang="en-US"/>
          </a:p>
        </p:txBody>
      </p:sp>
    </p:spTree>
    <p:extLst>
      <p:ext uri="{BB962C8B-B14F-4D97-AF65-F5344CB8AC3E}">
        <p14:creationId xmlns:p14="http://schemas.microsoft.com/office/powerpoint/2010/main" val="29431579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ltLang="en-US" smtClean="0"/>
              <a:t>The Economic Theory of Value</a:t>
            </a:r>
          </a:p>
        </p:txBody>
      </p:sp>
      <p:sp>
        <p:nvSpPr>
          <p:cNvPr id="37891" name="Content Placeholder 2"/>
          <p:cNvSpPr>
            <a:spLocks noGrp="1"/>
          </p:cNvSpPr>
          <p:nvPr>
            <p:ph idx="1"/>
          </p:nvPr>
        </p:nvSpPr>
        <p:spPr/>
        <p:txBody>
          <a:bodyPr/>
          <a:lstStyle/>
          <a:p>
            <a:r>
              <a:rPr lang="en-US" altLang="en-US" smtClean="0"/>
              <a:t>Production possibilities frontier </a:t>
            </a:r>
          </a:p>
          <a:p>
            <a:pPr lvl="1"/>
            <a:r>
              <a:rPr lang="en-US" altLang="en-US" smtClean="0"/>
              <a:t>Can be used as a basic building block for general equilibrium models</a:t>
            </a:r>
          </a:p>
          <a:p>
            <a:pPr lvl="1"/>
            <a:r>
              <a:rPr lang="en-US" altLang="en-US" smtClean="0"/>
              <a:t>Shows the combinations of two outputs that can be produced with an economy’s resources</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720B335A-255B-4303-A333-FBB711D61B6F}" type="slidenum">
              <a:rPr lang="en-US" smtClean="0"/>
              <a:t>25</a:t>
            </a:fld>
            <a:endParaRPr lang="en-US"/>
          </a:p>
        </p:txBody>
      </p:sp>
    </p:spTree>
    <p:extLst>
      <p:ext uri="{BB962C8B-B14F-4D97-AF65-F5344CB8AC3E}">
        <p14:creationId xmlns:p14="http://schemas.microsoft.com/office/powerpoint/2010/main" val="34165874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Line 5"/>
          <p:cNvSpPr>
            <a:spLocks noChangeShapeType="1"/>
          </p:cNvSpPr>
          <p:nvPr/>
        </p:nvSpPr>
        <p:spPr bwMode="auto">
          <a:xfrm>
            <a:off x="1863725" y="1295400"/>
            <a:ext cx="0" cy="3200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8915" name="Line 6"/>
          <p:cNvSpPr>
            <a:spLocks noChangeShapeType="1"/>
          </p:cNvSpPr>
          <p:nvPr/>
        </p:nvSpPr>
        <p:spPr bwMode="auto">
          <a:xfrm>
            <a:off x="1863725" y="4460875"/>
            <a:ext cx="4114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38916" name="Text Box 14"/>
          <p:cNvSpPr txBox="1">
            <a:spLocks noChangeArrowheads="1"/>
          </p:cNvSpPr>
          <p:nvPr/>
        </p:nvSpPr>
        <p:spPr bwMode="auto">
          <a:xfrm>
            <a:off x="5962650" y="4379912"/>
            <a:ext cx="21605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Quantity of clothing</a:t>
            </a:r>
          </a:p>
          <a:p>
            <a:pPr eaLnBrk="1" hangingPunct="1"/>
            <a:r>
              <a:rPr lang="en-US" altLang="en-US" sz="1800" dirty="0" smtClean="0"/>
              <a:t>per week</a:t>
            </a:r>
            <a:endParaRPr lang="en-US" altLang="en-US" sz="1800" dirty="0"/>
          </a:p>
        </p:txBody>
      </p:sp>
      <p:sp>
        <p:nvSpPr>
          <p:cNvPr id="38917" name="Text Box 15"/>
          <p:cNvSpPr txBox="1">
            <a:spLocks noChangeArrowheads="1"/>
          </p:cNvSpPr>
          <p:nvPr/>
        </p:nvSpPr>
        <p:spPr bwMode="auto">
          <a:xfrm>
            <a:off x="415925" y="838200"/>
            <a:ext cx="18145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Quantity of food</a:t>
            </a:r>
          </a:p>
          <a:p>
            <a:pPr eaLnBrk="1" hangingPunct="1"/>
            <a:r>
              <a:rPr lang="en-US" altLang="en-US" sz="1800" dirty="0" smtClean="0"/>
              <a:t>per week</a:t>
            </a:r>
            <a:endParaRPr lang="en-US" altLang="en-US" sz="1800" dirty="0"/>
          </a:p>
        </p:txBody>
      </p:sp>
      <p:sp>
        <p:nvSpPr>
          <p:cNvPr id="38918" name="Line 16"/>
          <p:cNvSpPr>
            <a:spLocks noChangeShapeType="1"/>
          </p:cNvSpPr>
          <p:nvPr/>
        </p:nvSpPr>
        <p:spPr bwMode="auto">
          <a:xfrm flipH="1">
            <a:off x="1863725" y="2114550"/>
            <a:ext cx="1295400" cy="0"/>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8919" name="Line 17"/>
          <p:cNvSpPr>
            <a:spLocks noChangeShapeType="1"/>
          </p:cNvSpPr>
          <p:nvPr/>
        </p:nvSpPr>
        <p:spPr bwMode="auto">
          <a:xfrm>
            <a:off x="3159125" y="2103437"/>
            <a:ext cx="0" cy="2392363"/>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38920" name="Line 18"/>
          <p:cNvSpPr>
            <a:spLocks noChangeShapeType="1"/>
          </p:cNvSpPr>
          <p:nvPr/>
        </p:nvSpPr>
        <p:spPr bwMode="auto">
          <a:xfrm flipV="1">
            <a:off x="3408363" y="2209800"/>
            <a:ext cx="0" cy="2286000"/>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8921" name="Line 19"/>
          <p:cNvSpPr>
            <a:spLocks noChangeShapeType="1"/>
          </p:cNvSpPr>
          <p:nvPr/>
        </p:nvSpPr>
        <p:spPr bwMode="auto">
          <a:xfrm flipH="1">
            <a:off x="1854200" y="2209800"/>
            <a:ext cx="1554163" cy="0"/>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38922" name="Line 20"/>
          <p:cNvSpPr>
            <a:spLocks noChangeShapeType="1"/>
          </p:cNvSpPr>
          <p:nvPr/>
        </p:nvSpPr>
        <p:spPr bwMode="auto">
          <a:xfrm flipV="1">
            <a:off x="4683125" y="3114675"/>
            <a:ext cx="0" cy="1381125"/>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38923" name="Line 21"/>
          <p:cNvSpPr>
            <a:spLocks noChangeShapeType="1"/>
          </p:cNvSpPr>
          <p:nvPr/>
        </p:nvSpPr>
        <p:spPr bwMode="auto">
          <a:xfrm flipH="1">
            <a:off x="1863725" y="3114675"/>
            <a:ext cx="2819400" cy="0"/>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8924" name="Line 22"/>
          <p:cNvSpPr>
            <a:spLocks noChangeShapeType="1"/>
          </p:cNvSpPr>
          <p:nvPr/>
        </p:nvSpPr>
        <p:spPr bwMode="auto">
          <a:xfrm flipV="1">
            <a:off x="4911725" y="3429000"/>
            <a:ext cx="0" cy="1066800"/>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38925" name="Line 23"/>
          <p:cNvSpPr>
            <a:spLocks noChangeShapeType="1"/>
          </p:cNvSpPr>
          <p:nvPr/>
        </p:nvSpPr>
        <p:spPr bwMode="auto">
          <a:xfrm flipH="1">
            <a:off x="1863725" y="3429000"/>
            <a:ext cx="3048000" cy="0"/>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38926" name="Text Box 24"/>
          <p:cNvSpPr txBox="1">
            <a:spLocks noChangeArrowheads="1"/>
          </p:cNvSpPr>
          <p:nvPr/>
        </p:nvSpPr>
        <p:spPr bwMode="auto">
          <a:xfrm>
            <a:off x="1438275" y="1898650"/>
            <a:ext cx="4397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a:t>10</a:t>
            </a:r>
          </a:p>
        </p:txBody>
      </p:sp>
      <p:sp>
        <p:nvSpPr>
          <p:cNvPr id="38927" name="Text Box 25"/>
          <p:cNvSpPr txBox="1">
            <a:spLocks noChangeArrowheads="1"/>
          </p:cNvSpPr>
          <p:nvPr/>
        </p:nvSpPr>
        <p:spPr bwMode="auto">
          <a:xfrm>
            <a:off x="1373188" y="2146300"/>
            <a:ext cx="5048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a:t>9.5</a:t>
            </a:r>
          </a:p>
        </p:txBody>
      </p:sp>
      <p:sp>
        <p:nvSpPr>
          <p:cNvPr id="38928" name="Text Box 26"/>
          <p:cNvSpPr txBox="1">
            <a:spLocks noChangeArrowheads="1"/>
          </p:cNvSpPr>
          <p:nvPr/>
        </p:nvSpPr>
        <p:spPr bwMode="auto">
          <a:xfrm>
            <a:off x="1565275" y="2971800"/>
            <a:ext cx="312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dirty="0"/>
              <a:t>4</a:t>
            </a:r>
          </a:p>
        </p:txBody>
      </p:sp>
      <p:sp>
        <p:nvSpPr>
          <p:cNvPr id="38929" name="Text Box 27"/>
          <p:cNvSpPr txBox="1">
            <a:spLocks noChangeArrowheads="1"/>
          </p:cNvSpPr>
          <p:nvPr/>
        </p:nvSpPr>
        <p:spPr bwMode="auto">
          <a:xfrm>
            <a:off x="1609725" y="3276600"/>
            <a:ext cx="2682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2</a:t>
            </a:r>
          </a:p>
        </p:txBody>
      </p:sp>
      <p:grpSp>
        <p:nvGrpSpPr>
          <p:cNvPr id="2" name="Group 38"/>
          <p:cNvGrpSpPr>
            <a:grpSpLocks/>
          </p:cNvGrpSpPr>
          <p:nvPr/>
        </p:nvGrpSpPr>
        <p:grpSpPr bwMode="auto">
          <a:xfrm>
            <a:off x="3311525" y="925512"/>
            <a:ext cx="3556000" cy="1131888"/>
            <a:chOff x="2064" y="1303"/>
            <a:chExt cx="2240" cy="713"/>
          </a:xfrm>
        </p:grpSpPr>
        <p:sp>
          <p:nvSpPr>
            <p:cNvPr id="38952" name="Text Box 28"/>
            <p:cNvSpPr txBox="1">
              <a:spLocks noChangeArrowheads="1"/>
            </p:cNvSpPr>
            <p:nvPr/>
          </p:nvSpPr>
          <p:spPr bwMode="auto">
            <a:xfrm>
              <a:off x="2390" y="1303"/>
              <a:ext cx="1914" cy="407"/>
            </a:xfrm>
            <a:prstGeom prst="rect">
              <a:avLst/>
            </a:prstGeom>
            <a:noFill/>
            <a:ln w="15875">
              <a:solidFill>
                <a:srgbClr val="394DA3"/>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394DA3"/>
                  </a:solidFill>
                </a:rPr>
                <a:t>Opportunity cost of</a:t>
              </a:r>
            </a:p>
            <a:p>
              <a:pPr eaLnBrk="1" hangingPunct="1"/>
              <a:r>
                <a:rPr lang="en-US" altLang="en-US" sz="1800">
                  <a:solidFill>
                    <a:srgbClr val="394DA3"/>
                  </a:solidFill>
                </a:rPr>
                <a:t>clothing = 1/2 pound of food</a:t>
              </a:r>
            </a:p>
          </p:txBody>
        </p:sp>
        <p:sp>
          <p:nvSpPr>
            <p:cNvPr id="38953" name="Line 29"/>
            <p:cNvSpPr>
              <a:spLocks noChangeShapeType="1"/>
            </p:cNvSpPr>
            <p:nvPr/>
          </p:nvSpPr>
          <p:spPr bwMode="auto">
            <a:xfrm flipH="1">
              <a:off x="2064" y="1728"/>
              <a:ext cx="336" cy="288"/>
            </a:xfrm>
            <a:prstGeom prst="line">
              <a:avLst/>
            </a:prstGeom>
            <a:noFill/>
            <a:ln w="28575">
              <a:solidFill>
                <a:srgbClr val="394DA3"/>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3" name="Group 40"/>
          <p:cNvGrpSpPr>
            <a:grpSpLocks/>
          </p:cNvGrpSpPr>
          <p:nvPr/>
        </p:nvGrpSpPr>
        <p:grpSpPr bwMode="auto">
          <a:xfrm>
            <a:off x="4911725" y="2565400"/>
            <a:ext cx="3417888" cy="711200"/>
            <a:chOff x="3072" y="2336"/>
            <a:chExt cx="2153" cy="448"/>
          </a:xfrm>
        </p:grpSpPr>
        <p:sp>
          <p:nvSpPr>
            <p:cNvPr id="38950" name="Text Box 30"/>
            <p:cNvSpPr txBox="1">
              <a:spLocks noChangeArrowheads="1"/>
            </p:cNvSpPr>
            <p:nvPr/>
          </p:nvSpPr>
          <p:spPr bwMode="auto">
            <a:xfrm>
              <a:off x="3360" y="2336"/>
              <a:ext cx="1865" cy="407"/>
            </a:xfrm>
            <a:prstGeom prst="rect">
              <a:avLst/>
            </a:prstGeom>
            <a:noFill/>
            <a:ln w="15875">
              <a:solidFill>
                <a:srgbClr val="394DA3"/>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394DA3"/>
                  </a:solidFill>
                </a:rPr>
                <a:t>Opportunity cost of</a:t>
              </a:r>
            </a:p>
            <a:p>
              <a:pPr eaLnBrk="1" hangingPunct="1"/>
              <a:r>
                <a:rPr lang="en-US" altLang="en-US" sz="1800">
                  <a:solidFill>
                    <a:srgbClr val="394DA3"/>
                  </a:solidFill>
                </a:rPr>
                <a:t>clothing = 2 pounds of food</a:t>
              </a:r>
            </a:p>
          </p:txBody>
        </p:sp>
        <p:sp>
          <p:nvSpPr>
            <p:cNvPr id="38951" name="Line 31"/>
            <p:cNvSpPr>
              <a:spLocks noChangeShapeType="1"/>
            </p:cNvSpPr>
            <p:nvPr/>
          </p:nvSpPr>
          <p:spPr bwMode="auto">
            <a:xfrm flipH="1">
              <a:off x="3072" y="2640"/>
              <a:ext cx="288" cy="144"/>
            </a:xfrm>
            <a:prstGeom prst="line">
              <a:avLst/>
            </a:prstGeom>
            <a:noFill/>
            <a:ln w="28575">
              <a:solidFill>
                <a:srgbClr val="394DA3"/>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grpSp>
      <p:sp>
        <p:nvSpPr>
          <p:cNvPr id="38932" name="Text Box 32"/>
          <p:cNvSpPr txBox="1">
            <a:spLocks noChangeArrowheads="1"/>
          </p:cNvSpPr>
          <p:nvPr/>
        </p:nvSpPr>
        <p:spPr bwMode="auto">
          <a:xfrm>
            <a:off x="3006725" y="4495800"/>
            <a:ext cx="2682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3</a:t>
            </a:r>
          </a:p>
        </p:txBody>
      </p:sp>
      <p:sp>
        <p:nvSpPr>
          <p:cNvPr id="38933" name="Text Box 33"/>
          <p:cNvSpPr txBox="1">
            <a:spLocks noChangeArrowheads="1"/>
          </p:cNvSpPr>
          <p:nvPr/>
        </p:nvSpPr>
        <p:spPr bwMode="auto">
          <a:xfrm>
            <a:off x="3276600" y="4495800"/>
            <a:ext cx="2682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4</a:t>
            </a:r>
          </a:p>
        </p:txBody>
      </p:sp>
      <p:sp>
        <p:nvSpPr>
          <p:cNvPr id="38934" name="Text Box 34"/>
          <p:cNvSpPr txBox="1">
            <a:spLocks noChangeArrowheads="1"/>
          </p:cNvSpPr>
          <p:nvPr/>
        </p:nvSpPr>
        <p:spPr bwMode="auto">
          <a:xfrm>
            <a:off x="4378325" y="4495800"/>
            <a:ext cx="457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a:t>12</a:t>
            </a:r>
          </a:p>
        </p:txBody>
      </p:sp>
      <p:sp>
        <p:nvSpPr>
          <p:cNvPr id="38935" name="Text Box 35"/>
          <p:cNvSpPr txBox="1">
            <a:spLocks noChangeArrowheads="1"/>
          </p:cNvSpPr>
          <p:nvPr/>
        </p:nvSpPr>
        <p:spPr bwMode="auto">
          <a:xfrm>
            <a:off x="4759325" y="4495800"/>
            <a:ext cx="457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13</a:t>
            </a:r>
          </a:p>
        </p:txBody>
      </p:sp>
      <p:sp>
        <p:nvSpPr>
          <p:cNvPr id="38936" name="Rectangle 37"/>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1.4	Production </a:t>
            </a:r>
            <a:r>
              <a:rPr lang="en-US" altLang="en-US" dirty="0"/>
              <a:t>Possibility </a:t>
            </a:r>
            <a:r>
              <a:rPr lang="en-US" altLang="en-US" dirty="0" smtClean="0"/>
              <a:t>Frontier</a:t>
            </a:r>
          </a:p>
        </p:txBody>
      </p:sp>
      <p:sp>
        <p:nvSpPr>
          <p:cNvPr id="38937" name="Text Placeholder 31"/>
          <p:cNvSpPr>
            <a:spLocks noGrp="1"/>
          </p:cNvSpPr>
          <p:nvPr>
            <p:ph sz="half" idx="1"/>
          </p:nvPr>
        </p:nvSpPr>
        <p:spPr>
          <a:xfrm>
            <a:off x="152400" y="4941887"/>
            <a:ext cx="8839200" cy="1535113"/>
          </a:xfrm>
        </p:spPr>
        <p:txBody>
          <a:bodyPr>
            <a:normAutofit/>
          </a:bodyPr>
          <a:lstStyle/>
          <a:p>
            <a:pPr>
              <a:spcBef>
                <a:spcPct val="0"/>
              </a:spcBef>
            </a:pPr>
            <a:r>
              <a:rPr lang="en-US" altLang="en-US" dirty="0"/>
              <a:t>The production possibility frontier shows the different combinations of two goods that can be </a:t>
            </a:r>
            <a:r>
              <a:rPr lang="en-US" altLang="en-US" dirty="0" smtClean="0"/>
              <a:t>produced from </a:t>
            </a:r>
            <a:r>
              <a:rPr lang="en-US" altLang="en-US" dirty="0"/>
              <a:t>a certain amount of scarce resources. It also shows the opportunity cost of producing more of </a:t>
            </a:r>
            <a:r>
              <a:rPr lang="en-US" altLang="en-US" dirty="0" smtClean="0"/>
              <a:t>one good </a:t>
            </a:r>
            <a:r>
              <a:rPr lang="en-US" altLang="en-US" dirty="0"/>
              <a:t>as the amount of the other good that cannot then be produced. The opportunity cost at </a:t>
            </a:r>
            <a:r>
              <a:rPr lang="en-US" altLang="en-US" dirty="0" smtClean="0"/>
              <a:t>two different </a:t>
            </a:r>
            <a:r>
              <a:rPr lang="en-US" altLang="en-US" dirty="0"/>
              <a:t>levels of clothing production can be seen by comparing points A and B.</a:t>
            </a:r>
            <a:endParaRPr lang="en-US" altLang="en-US" dirty="0" smtClean="0"/>
          </a:p>
        </p:txBody>
      </p:sp>
      <p:sp>
        <p:nvSpPr>
          <p:cNvPr id="38940" name="Footer Placeholder 3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38941" name="Freeform 35"/>
          <p:cNvSpPr>
            <a:spLocks/>
          </p:cNvSpPr>
          <p:nvPr/>
        </p:nvSpPr>
        <p:spPr bwMode="auto">
          <a:xfrm>
            <a:off x="1887538" y="1814512"/>
            <a:ext cx="3397250" cy="2624138"/>
          </a:xfrm>
          <a:custGeom>
            <a:avLst/>
            <a:gdLst>
              <a:gd name="T0" fmla="*/ 0 w 3396342"/>
              <a:gd name="T1" fmla="*/ 0 h 2624447"/>
              <a:gd name="T2" fmla="*/ 3397250 w 3396342"/>
              <a:gd name="T3" fmla="*/ 2624138 h 2624447"/>
              <a:gd name="T4" fmla="*/ 0 60000 65536"/>
              <a:gd name="T5" fmla="*/ 0 60000 65536"/>
              <a:gd name="T6" fmla="*/ 0 w 3396342"/>
              <a:gd name="T7" fmla="*/ 0 h 2624447"/>
              <a:gd name="T8" fmla="*/ 3396342 w 3396342"/>
              <a:gd name="T9" fmla="*/ 2624447 h 2624447"/>
            </a:gdLst>
            <a:ahLst/>
            <a:cxnLst>
              <a:cxn ang="T4">
                <a:pos x="T0" y="T1"/>
              </a:cxn>
              <a:cxn ang="T5">
                <a:pos x="T2" y="T3"/>
              </a:cxn>
            </a:cxnLst>
            <a:rect l="T6" t="T7" r="T8" b="T9"/>
            <a:pathLst>
              <a:path w="3396342" h="2624447">
                <a:moveTo>
                  <a:pt x="0" y="0"/>
                </a:moveTo>
                <a:cubicBezTo>
                  <a:pt x="1860468" y="174170"/>
                  <a:pt x="3234046" y="1298370"/>
                  <a:pt x="3396342" y="2624447"/>
                </a:cubicBezTo>
              </a:path>
            </a:pathLst>
          </a:custGeom>
          <a:noFill/>
          <a:ln w="28575" cap="flat" cmpd="sng" algn="ctr">
            <a:solidFill>
              <a:srgbClr val="0D7D65"/>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38942" name="Group 38"/>
          <p:cNvGrpSpPr>
            <a:grpSpLocks/>
          </p:cNvGrpSpPr>
          <p:nvPr/>
        </p:nvGrpSpPr>
        <p:grpSpPr bwMode="auto">
          <a:xfrm>
            <a:off x="3089275" y="1709737"/>
            <a:ext cx="338138" cy="439738"/>
            <a:chOff x="8118565" y="1158556"/>
            <a:chExt cx="338554" cy="439905"/>
          </a:xfrm>
        </p:grpSpPr>
        <p:sp>
          <p:nvSpPr>
            <p:cNvPr id="38948" name="Oval 36"/>
            <p:cNvSpPr>
              <a:spLocks noChangeArrowheads="1"/>
            </p:cNvSpPr>
            <p:nvPr/>
          </p:nvSpPr>
          <p:spPr bwMode="auto">
            <a:xfrm>
              <a:off x="8140946" y="1512180"/>
              <a:ext cx="86745" cy="86281"/>
            </a:xfrm>
            <a:prstGeom prst="ellipse">
              <a:avLst/>
            </a:prstGeom>
            <a:solidFill>
              <a:srgbClr val="0D7D65"/>
            </a:solidFill>
            <a:ln w="9525" algn="ctr">
              <a:solidFill>
                <a:srgbClr val="0D7D65"/>
              </a:solidFill>
              <a:round/>
              <a:headEnd/>
              <a:tailEnd/>
            </a:ln>
          </p:spPr>
          <p:txBody>
            <a:bodyPr wrap="none" anchor="ctr"/>
            <a:lstStyle>
              <a:lvl1pPr marL="342900" indent="-342900"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spcBef>
                  <a:spcPct val="20000"/>
                </a:spcBef>
                <a:buFontTx/>
                <a:buChar char="•"/>
              </a:pPr>
              <a:endParaRPr lang="en-US" altLang="en-US"/>
            </a:p>
          </p:txBody>
        </p:sp>
        <p:sp>
          <p:nvSpPr>
            <p:cNvPr id="38949" name="TextBox 37"/>
            <p:cNvSpPr txBox="1">
              <a:spLocks noChangeArrowheads="1"/>
            </p:cNvSpPr>
            <p:nvPr/>
          </p:nvSpPr>
          <p:spPr bwMode="auto">
            <a:xfrm>
              <a:off x="8118565" y="1158556"/>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0D7D65"/>
                  </a:solidFill>
                </a:rPr>
                <a:t>A</a:t>
              </a:r>
            </a:p>
          </p:txBody>
        </p:sp>
      </p:grpSp>
      <p:grpSp>
        <p:nvGrpSpPr>
          <p:cNvPr id="38943" name="Group 42"/>
          <p:cNvGrpSpPr>
            <a:grpSpLocks/>
          </p:cNvGrpSpPr>
          <p:nvPr/>
        </p:nvGrpSpPr>
        <p:grpSpPr bwMode="auto">
          <a:xfrm>
            <a:off x="4613275" y="2720975"/>
            <a:ext cx="338138" cy="439737"/>
            <a:chOff x="8118565" y="1158556"/>
            <a:chExt cx="338554" cy="439905"/>
          </a:xfrm>
        </p:grpSpPr>
        <p:sp>
          <p:nvSpPr>
            <p:cNvPr id="38946" name="Oval 43"/>
            <p:cNvSpPr>
              <a:spLocks noChangeArrowheads="1"/>
            </p:cNvSpPr>
            <p:nvPr/>
          </p:nvSpPr>
          <p:spPr bwMode="auto">
            <a:xfrm>
              <a:off x="8140946" y="1512180"/>
              <a:ext cx="86745" cy="86281"/>
            </a:xfrm>
            <a:prstGeom prst="ellipse">
              <a:avLst/>
            </a:prstGeom>
            <a:solidFill>
              <a:srgbClr val="0D7D65"/>
            </a:solidFill>
            <a:ln w="9525" algn="ctr">
              <a:solidFill>
                <a:srgbClr val="0D7D65"/>
              </a:solidFill>
              <a:round/>
              <a:headEnd/>
              <a:tailEnd/>
            </a:ln>
          </p:spPr>
          <p:txBody>
            <a:bodyPr wrap="none" anchor="ctr"/>
            <a:lstStyle>
              <a:lvl1pPr marL="342900" indent="-342900"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spcBef>
                  <a:spcPct val="20000"/>
                </a:spcBef>
                <a:buFontTx/>
                <a:buChar char="•"/>
              </a:pPr>
              <a:endParaRPr lang="en-US" altLang="en-US"/>
            </a:p>
          </p:txBody>
        </p:sp>
        <p:sp>
          <p:nvSpPr>
            <p:cNvPr id="38947" name="TextBox 44"/>
            <p:cNvSpPr txBox="1">
              <a:spLocks noChangeArrowheads="1"/>
            </p:cNvSpPr>
            <p:nvPr/>
          </p:nvSpPr>
          <p:spPr bwMode="auto">
            <a:xfrm>
              <a:off x="8118565" y="1158556"/>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0D7D65"/>
                  </a:solidFill>
                </a:rPr>
                <a:t>B</a:t>
              </a:r>
            </a:p>
          </p:txBody>
        </p:sp>
      </p:grpSp>
      <p:sp>
        <p:nvSpPr>
          <p:cNvPr id="38944" name="Oval 45"/>
          <p:cNvSpPr>
            <a:spLocks noChangeArrowheads="1"/>
          </p:cNvSpPr>
          <p:nvPr/>
        </p:nvSpPr>
        <p:spPr bwMode="auto">
          <a:xfrm>
            <a:off x="4868863" y="3390900"/>
            <a:ext cx="85725" cy="85725"/>
          </a:xfrm>
          <a:prstGeom prst="ellipse">
            <a:avLst/>
          </a:prstGeom>
          <a:solidFill>
            <a:srgbClr val="0D7D65"/>
          </a:solidFill>
          <a:ln w="9525" algn="ctr">
            <a:solidFill>
              <a:srgbClr val="0D7D65"/>
            </a:solidFill>
            <a:round/>
            <a:headEnd/>
            <a:tailEnd/>
          </a:ln>
        </p:spPr>
        <p:txBody>
          <a:bodyPr wrap="none" anchor="ctr"/>
          <a:lstStyle>
            <a:lvl1pPr marL="342900" indent="-342900"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spcBef>
                <a:spcPct val="20000"/>
              </a:spcBef>
              <a:buFontTx/>
              <a:buChar char="•"/>
            </a:pPr>
            <a:endParaRPr lang="en-US" altLang="en-US"/>
          </a:p>
        </p:txBody>
      </p:sp>
      <p:sp>
        <p:nvSpPr>
          <p:cNvPr id="38945" name="Oval 46"/>
          <p:cNvSpPr>
            <a:spLocks noChangeArrowheads="1"/>
          </p:cNvSpPr>
          <p:nvPr/>
        </p:nvSpPr>
        <p:spPr bwMode="auto">
          <a:xfrm>
            <a:off x="3362325" y="2159000"/>
            <a:ext cx="87313" cy="87312"/>
          </a:xfrm>
          <a:prstGeom prst="ellipse">
            <a:avLst/>
          </a:prstGeom>
          <a:solidFill>
            <a:srgbClr val="0D7D65"/>
          </a:solidFill>
          <a:ln w="9525" algn="ctr">
            <a:solidFill>
              <a:srgbClr val="0D7D65"/>
            </a:solidFill>
            <a:round/>
            <a:headEnd/>
            <a:tailEnd/>
          </a:ln>
        </p:spPr>
        <p:txBody>
          <a:bodyPr wrap="none" anchor="ctr"/>
          <a:lstStyle>
            <a:lvl1pPr marL="342900" indent="-342900"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spcBef>
                <a:spcPct val="20000"/>
              </a:spcBef>
              <a:buFontTx/>
              <a:buChar char="•"/>
            </a:pPr>
            <a:endParaRPr lang="en-US" altLang="en-US"/>
          </a:p>
        </p:txBody>
      </p:sp>
      <p:sp>
        <p:nvSpPr>
          <p:cNvPr id="4" name="Slide Number Placeholder 3"/>
          <p:cNvSpPr>
            <a:spLocks noGrp="1"/>
          </p:cNvSpPr>
          <p:nvPr>
            <p:ph type="sldNum" sz="quarter" idx="11"/>
          </p:nvPr>
        </p:nvSpPr>
        <p:spPr/>
        <p:txBody>
          <a:bodyPr/>
          <a:lstStyle/>
          <a:p>
            <a:fld id="{F2BCF9F2-1022-4C47-AC3A-FA21E418CE18}" type="slidenum">
              <a:rPr lang="en-US" smtClean="0"/>
              <a:t>26</a:t>
            </a:fld>
            <a:endParaRPr lang="en-US" dirty="0"/>
          </a:p>
        </p:txBody>
      </p:sp>
    </p:spTree>
    <p:extLst>
      <p:ext uri="{BB962C8B-B14F-4D97-AF65-F5344CB8AC3E}">
        <p14:creationId xmlns:p14="http://schemas.microsoft.com/office/powerpoint/2010/main" val="19009962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8937">
                                            <p:txEl>
                                              <p:pRg st="0" end="0"/>
                                            </p:txEl>
                                          </p:spTgt>
                                        </p:tgtEl>
                                        <p:attrNameLst>
                                          <p:attrName>style.visibility</p:attrName>
                                        </p:attrNameLst>
                                      </p:cBhvr>
                                      <p:to>
                                        <p:strVal val="visible"/>
                                      </p:to>
                                    </p:set>
                                    <p:animEffect transition="in" filter="wipe(left)">
                                      <p:cBhvr>
                                        <p:cTn id="7" dur="500"/>
                                        <p:tgtEl>
                                          <p:spTgt spid="3893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3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altLang="en-US" smtClean="0"/>
              <a:t>The Economic Theory of Value</a:t>
            </a:r>
          </a:p>
        </p:txBody>
      </p:sp>
      <p:sp>
        <p:nvSpPr>
          <p:cNvPr id="39939" name="Content Placeholder 2"/>
          <p:cNvSpPr>
            <a:spLocks noGrp="1"/>
          </p:cNvSpPr>
          <p:nvPr>
            <p:ph idx="1"/>
          </p:nvPr>
        </p:nvSpPr>
        <p:spPr>
          <a:xfrm>
            <a:off x="381000" y="1143000"/>
            <a:ext cx="8534400" cy="5257800"/>
          </a:xfrm>
        </p:spPr>
        <p:txBody>
          <a:bodyPr>
            <a:normAutofit/>
          </a:bodyPr>
          <a:lstStyle/>
          <a:p>
            <a:r>
              <a:rPr lang="en-US" altLang="en-US" dirty="0" smtClean="0"/>
              <a:t>Resources are scarce</a:t>
            </a:r>
          </a:p>
          <a:p>
            <a:pPr lvl="1"/>
            <a:r>
              <a:rPr lang="en-US" altLang="en-US" dirty="0" smtClean="0"/>
              <a:t>There are </a:t>
            </a:r>
            <a:r>
              <a:rPr lang="en-US" altLang="en-US" dirty="0"/>
              <a:t>not </a:t>
            </a:r>
            <a:r>
              <a:rPr lang="en-US" altLang="en-US" dirty="0" smtClean="0"/>
              <a:t>enough resources </a:t>
            </a:r>
            <a:r>
              <a:rPr lang="en-US" altLang="en-US" dirty="0"/>
              <a:t>available to produce all we might want of every good</a:t>
            </a:r>
            <a:endParaRPr lang="en-US" altLang="en-US" dirty="0" smtClean="0"/>
          </a:p>
          <a:p>
            <a:r>
              <a:rPr lang="en-US" altLang="en-US" dirty="0" smtClean="0"/>
              <a:t>Scarcity </a:t>
            </a:r>
            <a:r>
              <a:rPr lang="en-US" altLang="en-US" dirty="0" smtClean="0">
                <a:sym typeface="Symbol" pitchFamily="18" charset="2"/>
              </a:rPr>
              <a:t> </a:t>
            </a:r>
            <a:r>
              <a:rPr lang="en-US" altLang="en-US" dirty="0" smtClean="0"/>
              <a:t>we must make choices</a:t>
            </a:r>
          </a:p>
          <a:p>
            <a:pPr lvl="1"/>
            <a:r>
              <a:rPr lang="en-US" altLang="en-US" dirty="0" smtClean="0"/>
              <a:t>Each choice has opportunity costs</a:t>
            </a:r>
          </a:p>
          <a:p>
            <a:pPr lvl="1"/>
            <a:r>
              <a:rPr lang="en-US" altLang="en-US" dirty="0" smtClean="0"/>
              <a:t>Opportunity costs depend on how much of each good is produced</a:t>
            </a:r>
          </a:p>
          <a:p>
            <a:r>
              <a:rPr lang="en-US" altLang="en-US" dirty="0" smtClean="0"/>
              <a:t>Welfare economics</a:t>
            </a:r>
          </a:p>
          <a:p>
            <a:pPr lvl="1"/>
            <a:r>
              <a:rPr lang="en-US" altLang="en-US" dirty="0" smtClean="0"/>
              <a:t>Desirability of various economic outcomes</a:t>
            </a:r>
          </a:p>
        </p:txBody>
      </p:sp>
      <p:sp>
        <p:nvSpPr>
          <p:cNvPr id="6" name="Footer Placeholder 5"/>
          <p:cNvSpPr>
            <a:spLocks noGrp="1"/>
          </p:cNvSpPr>
          <p:nvPr>
            <p:ph type="ftr" sz="quarter" idx="10"/>
          </p:nvPr>
        </p:nvSpPr>
        <p:spPr/>
        <p:txBody>
          <a:bodyPr/>
          <a:lstStyle/>
          <a:p>
            <a:pPr>
              <a:defRPr/>
            </a:pPr>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720B335A-255B-4303-A333-FBB711D61B6F}" type="slidenum">
              <a:rPr lang="en-US" smtClean="0"/>
              <a:t>27</a:t>
            </a:fld>
            <a:endParaRPr lang="en-US"/>
          </a:p>
        </p:txBody>
      </p:sp>
    </p:spTree>
    <p:extLst>
      <p:ext uri="{BB962C8B-B14F-4D97-AF65-F5344CB8AC3E}">
        <p14:creationId xmlns:p14="http://schemas.microsoft.com/office/powerpoint/2010/main" val="33079772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1.3	A Production Possibility Frontier</a:t>
            </a:r>
          </a:p>
        </p:txBody>
      </p:sp>
      <p:sp>
        <p:nvSpPr>
          <p:cNvPr id="13" name="Footer Placeholder 12"/>
          <p:cNvSpPr>
            <a:spLocks noGrp="1"/>
          </p:cNvSpPr>
          <p:nvPr>
            <p:ph type="ftr" sz="quarter" idx="10"/>
          </p:nvPr>
        </p:nvSpPr>
        <p:spPr>
          <a:prstGeom prst="rect">
            <a:avLst/>
          </a:prstGeom>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40963" name="Rectangle 3"/>
          <p:cNvSpPr>
            <a:spLocks noGrp="1" noChangeArrowheads="1"/>
          </p:cNvSpPr>
          <p:nvPr>
            <p:ph type="body" sz="quarter" idx="12"/>
          </p:nvPr>
        </p:nvSpPr>
        <p:spPr>
          <a:prstGeom prst="rect">
            <a:avLst/>
          </a:prstGeom>
        </p:spPr>
        <p:txBody>
          <a:bodyPr/>
          <a:lstStyle/>
          <a:p>
            <a:r>
              <a:rPr lang="en-US" altLang="en-US" dirty="0" smtClean="0"/>
              <a:t>An economy produces two goods, x and y</a:t>
            </a:r>
          </a:p>
          <a:p>
            <a:pPr lvl="1"/>
            <a:r>
              <a:rPr lang="en-US" altLang="en-US" dirty="0" smtClean="0"/>
              <a:t>Labor - the only input</a:t>
            </a:r>
          </a:p>
          <a:p>
            <a:pPr lvl="1"/>
            <a:r>
              <a:rPr lang="en-US" altLang="en-US" dirty="0" smtClean="0"/>
              <a:t>Production function for good x: </a:t>
            </a:r>
            <a:r>
              <a:rPr lang="en-US" altLang="en-US" i="1" dirty="0" smtClean="0"/>
              <a:t>x </a:t>
            </a:r>
            <a:r>
              <a:rPr lang="en-US" altLang="en-US" dirty="0" smtClean="0"/>
              <a:t>= </a:t>
            </a:r>
            <a:r>
              <a:rPr lang="en-US" altLang="en-US" i="1" dirty="0" smtClean="0"/>
              <a:t>l</a:t>
            </a:r>
            <a:r>
              <a:rPr lang="en-US" altLang="en-US" i="1" baseline="-25000" dirty="0" smtClean="0"/>
              <a:t>x</a:t>
            </a:r>
            <a:r>
              <a:rPr lang="en-US" altLang="en-US" baseline="30000" dirty="0" smtClean="0"/>
              <a:t>0.5</a:t>
            </a:r>
            <a:r>
              <a:rPr lang="en-US" altLang="en-US" dirty="0" smtClean="0"/>
              <a:t>  </a:t>
            </a:r>
          </a:p>
          <a:p>
            <a:pPr lvl="2"/>
            <a:r>
              <a:rPr lang="en-US" altLang="en-US" i="1" dirty="0" smtClean="0"/>
              <a:t>l</a:t>
            </a:r>
            <a:r>
              <a:rPr lang="en-US" altLang="en-US" i="1" baseline="-25000" dirty="0" smtClean="0"/>
              <a:t>x</a:t>
            </a:r>
            <a:r>
              <a:rPr lang="en-US" altLang="en-US" dirty="0" smtClean="0"/>
              <a:t> is the quantity of labor used in </a:t>
            </a:r>
            <a:r>
              <a:rPr lang="en-US" altLang="en-US" i="1" dirty="0" smtClean="0"/>
              <a:t>x</a:t>
            </a:r>
            <a:r>
              <a:rPr lang="en-US" altLang="en-US" dirty="0" smtClean="0"/>
              <a:t> production</a:t>
            </a:r>
          </a:p>
          <a:p>
            <a:pPr lvl="1"/>
            <a:r>
              <a:rPr lang="en-US" altLang="en-US" dirty="0" smtClean="0"/>
              <a:t>Production function for good y: </a:t>
            </a:r>
            <a:r>
              <a:rPr lang="en-US" altLang="en-US" i="1" dirty="0" smtClean="0"/>
              <a:t>y</a:t>
            </a:r>
            <a:r>
              <a:rPr lang="en-US" altLang="en-US" dirty="0" smtClean="0"/>
              <a:t> = 2</a:t>
            </a:r>
            <a:r>
              <a:rPr lang="en-US" altLang="en-US" i="1" dirty="0" smtClean="0"/>
              <a:t>l</a:t>
            </a:r>
            <a:r>
              <a:rPr lang="en-US" altLang="en-US" i="1" baseline="-25000" dirty="0" smtClean="0"/>
              <a:t>y</a:t>
            </a:r>
            <a:r>
              <a:rPr lang="en-US" altLang="en-US" baseline="30000" dirty="0" smtClean="0"/>
              <a:t>0.5</a:t>
            </a:r>
          </a:p>
          <a:p>
            <a:pPr lvl="2"/>
            <a:r>
              <a:rPr lang="en-US" altLang="en-US" i="1" dirty="0" err="1" smtClean="0"/>
              <a:t>l</a:t>
            </a:r>
            <a:r>
              <a:rPr lang="en-US" altLang="en-US" i="1" baseline="-25000" dirty="0" err="1" smtClean="0"/>
              <a:t>y</a:t>
            </a:r>
            <a:r>
              <a:rPr lang="en-US" altLang="en-US" dirty="0" smtClean="0"/>
              <a:t> is the quantity of labor used in </a:t>
            </a:r>
            <a:r>
              <a:rPr lang="en-US" altLang="en-US" i="1" dirty="0" smtClean="0"/>
              <a:t>y</a:t>
            </a:r>
            <a:r>
              <a:rPr lang="en-US" altLang="en-US" dirty="0" smtClean="0"/>
              <a:t> production</a:t>
            </a:r>
          </a:p>
          <a:p>
            <a:pPr lvl="1"/>
            <a:r>
              <a:rPr lang="en-US" altLang="en-US" dirty="0" smtClean="0"/>
              <a:t>Total labor available: </a:t>
            </a:r>
            <a:r>
              <a:rPr lang="en-US" altLang="en-US" i="1" dirty="0" smtClean="0"/>
              <a:t>l</a:t>
            </a:r>
            <a:r>
              <a:rPr lang="en-US" altLang="en-US" i="1" baseline="-25000" dirty="0" smtClean="0"/>
              <a:t>x</a:t>
            </a:r>
            <a:r>
              <a:rPr lang="en-US" altLang="en-US" dirty="0" smtClean="0"/>
              <a:t> + </a:t>
            </a:r>
            <a:r>
              <a:rPr lang="en-US" altLang="en-US" i="1" dirty="0" err="1" smtClean="0"/>
              <a:t>l</a:t>
            </a:r>
            <a:r>
              <a:rPr lang="en-US" altLang="en-US" i="1" baseline="-25000" dirty="0" err="1" smtClean="0"/>
              <a:t>y</a:t>
            </a:r>
            <a:r>
              <a:rPr lang="en-US" altLang="en-US" dirty="0" smtClean="0"/>
              <a:t> ≤ 200</a:t>
            </a:r>
          </a:p>
          <a:p>
            <a:r>
              <a:rPr lang="en-US" altLang="en-US" dirty="0" smtClean="0"/>
              <a:t>Production possibilities frontier: </a:t>
            </a:r>
          </a:p>
          <a:p>
            <a:pPr>
              <a:buFont typeface="Arial" charset="0"/>
              <a:buNone/>
            </a:pPr>
            <a:r>
              <a:rPr lang="en-US" altLang="en-US" dirty="0" smtClean="0"/>
              <a:t>	</a:t>
            </a:r>
            <a:r>
              <a:rPr lang="en-US" altLang="en-US" i="1" dirty="0" smtClean="0"/>
              <a:t>  l</a:t>
            </a:r>
            <a:r>
              <a:rPr lang="en-US" altLang="en-US" i="1" baseline="-25000" dirty="0" smtClean="0"/>
              <a:t>x</a:t>
            </a:r>
            <a:r>
              <a:rPr lang="en-US" altLang="en-US" i="1" dirty="0" smtClean="0"/>
              <a:t> </a:t>
            </a:r>
            <a:r>
              <a:rPr lang="en-US" altLang="en-US" dirty="0" smtClean="0"/>
              <a:t>+ </a:t>
            </a:r>
            <a:r>
              <a:rPr lang="en-US" altLang="en-US" i="1" dirty="0" err="1" smtClean="0"/>
              <a:t>l</a:t>
            </a:r>
            <a:r>
              <a:rPr lang="en-US" altLang="en-US" i="1" baseline="-25000" dirty="0" err="1" smtClean="0"/>
              <a:t>y</a:t>
            </a:r>
            <a:r>
              <a:rPr lang="en-US" altLang="en-US" dirty="0" smtClean="0"/>
              <a:t> = </a:t>
            </a:r>
            <a:r>
              <a:rPr lang="en-US" altLang="en-US" i="1" dirty="0" smtClean="0"/>
              <a:t>x</a:t>
            </a:r>
            <a:r>
              <a:rPr lang="en-US" altLang="en-US" baseline="30000" dirty="0" smtClean="0"/>
              <a:t>2</a:t>
            </a:r>
            <a:r>
              <a:rPr lang="en-US" altLang="en-US" dirty="0" smtClean="0"/>
              <a:t> + 0.25</a:t>
            </a:r>
            <a:r>
              <a:rPr lang="en-US" altLang="en-US" i="1" dirty="0" smtClean="0"/>
              <a:t>y</a:t>
            </a:r>
            <a:r>
              <a:rPr lang="en-US" altLang="en-US" baseline="30000" dirty="0" smtClean="0"/>
              <a:t>2</a:t>
            </a:r>
            <a:r>
              <a:rPr lang="en-US" altLang="en-US" dirty="0" smtClean="0"/>
              <a:t> ≤ 200</a:t>
            </a:r>
          </a:p>
        </p:txBody>
      </p:sp>
      <p:sp>
        <p:nvSpPr>
          <p:cNvPr id="40966" name="Text Box 14"/>
          <p:cNvSpPr txBox="1">
            <a:spLocks noChangeArrowheads="1"/>
          </p:cNvSpPr>
          <p:nvPr/>
        </p:nvSpPr>
        <p:spPr bwMode="auto">
          <a:xfrm>
            <a:off x="517525" y="43037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40967" name="Text Box 18"/>
          <p:cNvSpPr txBox="1">
            <a:spLocks noChangeArrowheads="1"/>
          </p:cNvSpPr>
          <p:nvPr/>
        </p:nvSpPr>
        <p:spPr bwMode="auto">
          <a:xfrm>
            <a:off x="1203325" y="30845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2" name="Slide Number Placeholder 1"/>
          <p:cNvSpPr>
            <a:spLocks noGrp="1"/>
          </p:cNvSpPr>
          <p:nvPr>
            <p:ph type="sldNum" sz="quarter" idx="11"/>
          </p:nvPr>
        </p:nvSpPr>
        <p:spPr/>
        <p:txBody>
          <a:bodyPr/>
          <a:lstStyle/>
          <a:p>
            <a:fld id="{F2BCF9F2-1022-4C47-AC3A-FA21E418CE18}" type="slidenum">
              <a:rPr lang="en-US" smtClean="0"/>
              <a:t>28</a:t>
            </a:fld>
            <a:endParaRPr lang="en-US" dirty="0"/>
          </a:p>
        </p:txBody>
      </p:sp>
    </p:spTree>
    <p:extLst>
      <p:ext uri="{BB962C8B-B14F-4D97-AF65-F5344CB8AC3E}">
        <p14:creationId xmlns:p14="http://schemas.microsoft.com/office/powerpoint/2010/main" val="134195715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1.3	A Production Possibility Frontier</a:t>
            </a:r>
          </a:p>
        </p:txBody>
      </p:sp>
      <p:sp>
        <p:nvSpPr>
          <p:cNvPr id="13" name="Footer Placeholder 12"/>
          <p:cNvSpPr>
            <a:spLocks noGrp="1"/>
          </p:cNvSpPr>
          <p:nvPr>
            <p:ph type="ftr" sz="quarter" idx="10"/>
          </p:nvPr>
        </p:nvSpPr>
        <p:spPr>
          <a:prstGeom prst="rect">
            <a:avLst/>
          </a:prstGeom>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F2BCF9F2-1022-4C47-AC3A-FA21E418CE18}" type="slidenum">
              <a:rPr lang="en-US" smtClean="0"/>
              <a:t>29</a:t>
            </a:fld>
            <a:endParaRPr lang="en-US" dirty="0"/>
          </a:p>
        </p:txBody>
      </p:sp>
      <p:sp>
        <p:nvSpPr>
          <p:cNvPr id="4101" name="Rectangle 3"/>
          <p:cNvSpPr>
            <a:spLocks noGrp="1" noChangeArrowheads="1"/>
          </p:cNvSpPr>
          <p:nvPr>
            <p:ph type="body" sz="quarter" idx="12"/>
          </p:nvPr>
        </p:nvSpPr>
        <p:spPr>
          <a:prstGeom prst="rect">
            <a:avLst/>
          </a:prstGeom>
        </p:spPr>
        <p:txBody>
          <a:bodyPr/>
          <a:lstStyle/>
          <a:p>
            <a:r>
              <a:rPr lang="en-US" altLang="en-US" dirty="0" smtClean="0"/>
              <a:t>Opportunity cost of good y in terms of good x</a:t>
            </a:r>
          </a:p>
          <a:p>
            <a:pPr marL="457200" lvl="1" indent="0">
              <a:buNone/>
            </a:pPr>
            <a:r>
              <a:rPr lang="en-US" altLang="en-US" i="1" dirty="0" smtClean="0"/>
              <a:t>y</a:t>
            </a:r>
            <a:r>
              <a:rPr lang="en-US" altLang="en-US" baseline="30000" dirty="0" smtClean="0"/>
              <a:t>2 </a:t>
            </a:r>
            <a:r>
              <a:rPr lang="en-US" altLang="en-US" dirty="0" smtClean="0"/>
              <a:t>= 800 - 4 </a:t>
            </a:r>
            <a:r>
              <a:rPr lang="en-US" altLang="en-US" i="1" dirty="0" smtClean="0"/>
              <a:t>x</a:t>
            </a:r>
            <a:r>
              <a:rPr lang="en-US" altLang="en-US" baseline="30000" dirty="0" smtClean="0"/>
              <a:t>2</a:t>
            </a:r>
            <a:r>
              <a:rPr lang="en-US" altLang="en-US" dirty="0" smtClean="0"/>
              <a:t>, or </a:t>
            </a:r>
          </a:p>
        </p:txBody>
      </p:sp>
      <p:sp>
        <p:nvSpPr>
          <p:cNvPr id="3" name="Text Placeholder 2"/>
          <p:cNvSpPr>
            <a:spLocks noGrp="1"/>
          </p:cNvSpPr>
          <p:nvPr>
            <p:ph type="body" sz="quarter" idx="13"/>
          </p:nvPr>
        </p:nvSpPr>
        <p:spPr>
          <a:xfrm>
            <a:off x="381000" y="2590800"/>
            <a:ext cx="8382000" cy="3581400"/>
          </a:xfrm>
        </p:spPr>
        <p:txBody>
          <a:bodyPr/>
          <a:lstStyle/>
          <a:p>
            <a:r>
              <a:rPr lang="en-US" dirty="0"/>
              <a:t>If we differentiate, we </a:t>
            </a:r>
            <a:r>
              <a:rPr lang="en-US" dirty="0" smtClean="0"/>
              <a:t>get</a:t>
            </a:r>
          </a:p>
          <a:p>
            <a:endParaRPr lang="en-US" dirty="0"/>
          </a:p>
          <a:p>
            <a:endParaRPr lang="en-US" dirty="0" smtClean="0"/>
          </a:p>
          <a:p>
            <a:pPr lvl="1"/>
            <a:r>
              <a:rPr lang="en-US" dirty="0"/>
              <a:t>When </a:t>
            </a:r>
            <a:r>
              <a:rPr lang="en-US" i="1" dirty="0"/>
              <a:t>x</a:t>
            </a:r>
            <a:r>
              <a:rPr lang="en-US" dirty="0"/>
              <a:t> = 10, </a:t>
            </a:r>
            <a:r>
              <a:rPr lang="en-US" i="1" dirty="0"/>
              <a:t>y</a:t>
            </a:r>
            <a:r>
              <a:rPr lang="en-US" dirty="0"/>
              <a:t> = 20, </a:t>
            </a:r>
            <a:r>
              <a:rPr lang="en-US" i="1" dirty="0" err="1"/>
              <a:t>dy</a:t>
            </a:r>
            <a:r>
              <a:rPr lang="en-US" dirty="0"/>
              <a:t>/</a:t>
            </a:r>
            <a:r>
              <a:rPr lang="en-US" i="1" dirty="0"/>
              <a:t>dx</a:t>
            </a:r>
            <a:r>
              <a:rPr lang="en-US" dirty="0"/>
              <a:t> = -4(10)/20 = -2 </a:t>
            </a:r>
          </a:p>
          <a:p>
            <a:endParaRPr lang="en-US" dirty="0"/>
          </a:p>
        </p:txBody>
      </p:sp>
      <p:graphicFrame>
        <p:nvGraphicFramePr>
          <p:cNvPr id="30726" name="Object 3"/>
          <p:cNvGraphicFramePr>
            <a:graphicFrameLocks noChangeAspect="1"/>
          </p:cNvGraphicFramePr>
          <p:nvPr>
            <p:extLst>
              <p:ext uri="{D42A27DB-BD31-4B8C-83A1-F6EECF244321}">
                <p14:modId xmlns:p14="http://schemas.microsoft.com/office/powerpoint/2010/main" val="3314164969"/>
              </p:ext>
            </p:extLst>
          </p:nvPr>
        </p:nvGraphicFramePr>
        <p:xfrm>
          <a:off x="955675" y="1698625"/>
          <a:ext cx="2709863" cy="720725"/>
        </p:xfrm>
        <a:graphic>
          <a:graphicData uri="http://schemas.openxmlformats.org/presentationml/2006/ole">
            <mc:AlternateContent xmlns:mc="http://schemas.openxmlformats.org/markup-compatibility/2006">
              <mc:Choice xmlns:v="urn:schemas-microsoft-com:vml" Requires="v">
                <p:oleObj spid="_x0000_s10278" name="Equation" r:id="rId3" imgW="1002960" imgH="266400" progId="Equation.DSMT4">
                  <p:embed/>
                </p:oleObj>
              </mc:Choice>
              <mc:Fallback>
                <p:oleObj name="Equation" r:id="rId3" imgW="1002960" imgH="266400" progId="Equation.DSMT4">
                  <p:embed/>
                  <p:pic>
                    <p:nvPicPr>
                      <p:cNvPr id="0" name=""/>
                      <p:cNvPicPr>
                        <a:picLocks noChangeAspect="1" noChangeArrowheads="1"/>
                      </p:cNvPicPr>
                      <p:nvPr/>
                    </p:nvPicPr>
                    <p:blipFill>
                      <a:blip r:embed="rId4"/>
                      <a:srcRect/>
                      <a:stretch>
                        <a:fillRect/>
                      </a:stretch>
                    </p:blipFill>
                    <p:spPr bwMode="auto">
                      <a:xfrm>
                        <a:off x="955675" y="1698625"/>
                        <a:ext cx="2709863"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8" name="Object 4"/>
          <p:cNvGraphicFramePr>
            <a:graphicFrameLocks noChangeAspect="1"/>
          </p:cNvGraphicFramePr>
          <p:nvPr>
            <p:extLst>
              <p:ext uri="{D42A27DB-BD31-4B8C-83A1-F6EECF244321}">
                <p14:modId xmlns:p14="http://schemas.microsoft.com/office/powerpoint/2010/main" val="534563586"/>
              </p:ext>
            </p:extLst>
          </p:nvPr>
        </p:nvGraphicFramePr>
        <p:xfrm>
          <a:off x="896938" y="3354388"/>
          <a:ext cx="5048250" cy="931862"/>
        </p:xfrm>
        <a:graphic>
          <a:graphicData uri="http://schemas.openxmlformats.org/presentationml/2006/ole">
            <mc:AlternateContent xmlns:mc="http://schemas.openxmlformats.org/markup-compatibility/2006">
              <mc:Choice xmlns:v="urn:schemas-microsoft-com:vml" Requires="v">
                <p:oleObj spid="_x0000_s10279" name="Equation" r:id="rId5" imgW="2273040" imgH="419040" progId="Equation.DSMT4">
                  <p:embed/>
                </p:oleObj>
              </mc:Choice>
              <mc:Fallback>
                <p:oleObj name="Equation" r:id="rId5" imgW="2273040" imgH="419040" progId="Equation.DSMT4">
                  <p:embed/>
                  <p:pic>
                    <p:nvPicPr>
                      <p:cNvPr id="0" name=""/>
                      <p:cNvPicPr>
                        <a:picLocks noChangeAspect="1" noChangeArrowheads="1"/>
                      </p:cNvPicPr>
                      <p:nvPr/>
                    </p:nvPicPr>
                    <p:blipFill>
                      <a:blip r:embed="rId6"/>
                      <a:srcRect/>
                      <a:stretch>
                        <a:fillRect/>
                      </a:stretch>
                    </p:blipFill>
                    <p:spPr bwMode="auto">
                      <a:xfrm>
                        <a:off x="896938" y="3354388"/>
                        <a:ext cx="5048250" cy="931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5" name="Text Box 14"/>
          <p:cNvSpPr txBox="1">
            <a:spLocks noChangeArrowheads="1"/>
          </p:cNvSpPr>
          <p:nvPr/>
        </p:nvSpPr>
        <p:spPr bwMode="auto">
          <a:xfrm>
            <a:off x="517525" y="43037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4106" name="Text Box 18"/>
          <p:cNvSpPr txBox="1">
            <a:spLocks noChangeArrowheads="1"/>
          </p:cNvSpPr>
          <p:nvPr/>
        </p:nvSpPr>
        <p:spPr bwMode="auto">
          <a:xfrm>
            <a:off x="1203325" y="30845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Tree>
    <p:extLst>
      <p:ext uri="{BB962C8B-B14F-4D97-AF65-F5344CB8AC3E}">
        <p14:creationId xmlns:p14="http://schemas.microsoft.com/office/powerpoint/2010/main" val="41804462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0726"/>
                                        </p:tgtEl>
                                        <p:attrNameLst>
                                          <p:attrName>style.visibility</p:attrName>
                                        </p:attrNameLst>
                                      </p:cBhvr>
                                      <p:to>
                                        <p:strVal val="visible"/>
                                      </p:to>
                                    </p:set>
                                    <p:animEffect transition="in" filter="wipe(left)">
                                      <p:cBhvr>
                                        <p:cTn id="7" dur="500"/>
                                        <p:tgtEl>
                                          <p:spTgt spid="3072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0728"/>
                                        </p:tgtEl>
                                        <p:attrNameLst>
                                          <p:attrName>style.visibility</p:attrName>
                                        </p:attrNameLst>
                                      </p:cBhvr>
                                      <p:to>
                                        <p:strVal val="visible"/>
                                      </p:to>
                                    </p:set>
                                    <p:animEffect transition="in" filter="wipe(left)">
                                      <p:cBhvr>
                                        <p:cTn id="15" dur="500"/>
                                        <p:tgtEl>
                                          <p:spTgt spid="30728"/>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1.3	A Production Possibility Frontier</a:t>
            </a:r>
          </a:p>
        </p:txBody>
      </p:sp>
      <p:sp>
        <p:nvSpPr>
          <p:cNvPr id="13" name="Footer Placeholder 12"/>
          <p:cNvSpPr>
            <a:spLocks noGrp="1"/>
          </p:cNvSpPr>
          <p:nvPr>
            <p:ph type="ftr" sz="quarter" idx="10"/>
          </p:nvPr>
        </p:nvSpPr>
        <p:spPr>
          <a:prstGeom prst="rect">
            <a:avLst/>
          </a:prstGeom>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4102" name="Rectangle 3"/>
          <p:cNvSpPr>
            <a:spLocks noGrp="1" noChangeArrowheads="1"/>
          </p:cNvSpPr>
          <p:nvPr>
            <p:ph type="body" sz="quarter" idx="12"/>
          </p:nvPr>
        </p:nvSpPr>
        <p:spPr>
          <a:prstGeom prst="rect">
            <a:avLst/>
          </a:prstGeom>
        </p:spPr>
        <p:txBody>
          <a:bodyPr/>
          <a:lstStyle/>
          <a:p>
            <a:pPr>
              <a:defRPr/>
            </a:pPr>
            <a:r>
              <a:rPr lang="en-US" dirty="0" smtClean="0"/>
              <a:t>Concavity </a:t>
            </a:r>
          </a:p>
          <a:p>
            <a:pPr lvl="1">
              <a:defRPr/>
            </a:pPr>
            <a:r>
              <a:rPr lang="en-US" dirty="0" smtClean="0"/>
              <a:t>The slope of the frontier becomes steeper (more negative) as x output increases and y output decreases</a:t>
            </a:r>
            <a:endParaRPr lang="en-US" dirty="0" smtClean="0">
              <a:solidFill>
                <a:srgbClr val="000099"/>
              </a:solidFill>
            </a:endParaRPr>
          </a:p>
          <a:p>
            <a:pPr marL="742950" lvl="2" indent="-342900">
              <a:defRPr/>
            </a:pPr>
            <a:r>
              <a:rPr lang="en-US" dirty="0" smtClean="0">
                <a:solidFill>
                  <a:srgbClr val="000099"/>
                </a:solidFill>
              </a:rPr>
              <a:t>When </a:t>
            </a:r>
            <a:r>
              <a:rPr lang="en-US" i="1" dirty="0" smtClean="0">
                <a:solidFill>
                  <a:srgbClr val="000099"/>
                </a:solidFill>
              </a:rPr>
              <a:t>x </a:t>
            </a:r>
            <a:r>
              <a:rPr lang="en-US" dirty="0" smtClean="0">
                <a:solidFill>
                  <a:srgbClr val="000099"/>
                </a:solidFill>
              </a:rPr>
              <a:t>= 12, </a:t>
            </a:r>
            <a:r>
              <a:rPr lang="en-US" i="1" dirty="0" smtClean="0">
                <a:solidFill>
                  <a:srgbClr val="000099"/>
                </a:solidFill>
              </a:rPr>
              <a:t>y </a:t>
            </a:r>
            <a:r>
              <a:rPr lang="en-US" dirty="0" smtClean="0">
                <a:solidFill>
                  <a:srgbClr val="000099"/>
                </a:solidFill>
                <a:sym typeface="Symbol" pitchFamily="18" charset="2"/>
              </a:rPr>
              <a:t></a:t>
            </a:r>
            <a:r>
              <a:rPr lang="en-US" dirty="0" smtClean="0">
                <a:solidFill>
                  <a:srgbClr val="000099"/>
                </a:solidFill>
              </a:rPr>
              <a:t> 15, </a:t>
            </a:r>
            <a:r>
              <a:rPr lang="en-US" i="1" dirty="0" err="1" smtClean="0">
                <a:solidFill>
                  <a:srgbClr val="000099"/>
                </a:solidFill>
              </a:rPr>
              <a:t>dy</a:t>
            </a:r>
            <a:r>
              <a:rPr lang="en-US" i="1" dirty="0" smtClean="0">
                <a:solidFill>
                  <a:srgbClr val="000099"/>
                </a:solidFill>
              </a:rPr>
              <a:t>/</a:t>
            </a:r>
            <a:r>
              <a:rPr lang="en-US" i="1" dirty="0" err="1" smtClean="0">
                <a:solidFill>
                  <a:srgbClr val="000099"/>
                </a:solidFill>
              </a:rPr>
              <a:t>dx</a:t>
            </a:r>
            <a:r>
              <a:rPr lang="en-US" dirty="0" smtClean="0">
                <a:solidFill>
                  <a:srgbClr val="000099"/>
                </a:solidFill>
              </a:rPr>
              <a:t> = -4(12)/15 = -3.2</a:t>
            </a:r>
          </a:p>
          <a:p>
            <a:pPr>
              <a:defRPr/>
            </a:pPr>
            <a:r>
              <a:rPr lang="en-US" sz="3600" dirty="0" smtClean="0"/>
              <a:t>Inefficiency</a:t>
            </a:r>
          </a:p>
          <a:p>
            <a:pPr lvl="1">
              <a:defRPr/>
            </a:pPr>
            <a:r>
              <a:rPr lang="en-US" dirty="0" smtClean="0"/>
              <a:t>Economy operating inside its production possibility frontier</a:t>
            </a:r>
          </a:p>
          <a:p>
            <a:pPr lvl="2">
              <a:defRPr/>
            </a:pPr>
            <a:r>
              <a:rPr lang="en-US" dirty="0" smtClean="0"/>
              <a:t>20 workers are permanently unemployed</a:t>
            </a:r>
          </a:p>
          <a:p>
            <a:pPr marL="457200" lvl="1" indent="0">
              <a:buNone/>
              <a:defRPr/>
            </a:pPr>
            <a:r>
              <a:rPr lang="en-US" dirty="0" smtClean="0"/>
              <a:t>		</a:t>
            </a:r>
            <a:r>
              <a:rPr lang="en-US" i="1" dirty="0" smtClean="0"/>
              <a:t>x</a:t>
            </a:r>
            <a:r>
              <a:rPr lang="en-US" baseline="30000" dirty="0" smtClean="0"/>
              <a:t>2</a:t>
            </a:r>
            <a:r>
              <a:rPr lang="en-US" dirty="0" smtClean="0"/>
              <a:t> + 0.25</a:t>
            </a:r>
            <a:r>
              <a:rPr lang="en-US" i="1" dirty="0" smtClean="0"/>
              <a:t>y</a:t>
            </a:r>
            <a:r>
              <a:rPr lang="en-US" baseline="30000" dirty="0" smtClean="0"/>
              <a:t>2</a:t>
            </a:r>
            <a:r>
              <a:rPr lang="en-US" dirty="0" smtClean="0"/>
              <a:t> = 180</a:t>
            </a:r>
          </a:p>
          <a:p>
            <a:pPr lvl="2">
              <a:defRPr/>
            </a:pPr>
            <a:r>
              <a:rPr lang="en-US" dirty="0" smtClean="0">
                <a:solidFill>
                  <a:srgbClr val="000099"/>
                </a:solidFill>
              </a:rPr>
              <a:t>When </a:t>
            </a:r>
            <a:r>
              <a:rPr lang="en-US" i="1" dirty="0" smtClean="0">
                <a:solidFill>
                  <a:srgbClr val="000099"/>
                </a:solidFill>
              </a:rPr>
              <a:t>x</a:t>
            </a:r>
            <a:r>
              <a:rPr lang="en-US" dirty="0" smtClean="0">
                <a:solidFill>
                  <a:srgbClr val="000099"/>
                </a:solidFill>
              </a:rPr>
              <a:t> = 10, then </a:t>
            </a:r>
            <a:r>
              <a:rPr lang="en-US" i="1" dirty="0" smtClean="0">
                <a:solidFill>
                  <a:srgbClr val="000099"/>
                </a:solidFill>
              </a:rPr>
              <a:t>y</a:t>
            </a:r>
            <a:r>
              <a:rPr lang="en-US" dirty="0" smtClean="0">
                <a:solidFill>
                  <a:srgbClr val="000099"/>
                </a:solidFill>
              </a:rPr>
              <a:t> </a:t>
            </a:r>
            <a:r>
              <a:rPr lang="en-US" dirty="0" smtClean="0">
                <a:solidFill>
                  <a:srgbClr val="000099"/>
                </a:solidFill>
                <a:sym typeface="Symbol" pitchFamily="18" charset="2"/>
              </a:rPr>
              <a:t> 17.9</a:t>
            </a:r>
            <a:endParaRPr lang="en-US" dirty="0" smtClean="0">
              <a:solidFill>
                <a:srgbClr val="000099"/>
              </a:solidFill>
            </a:endParaRPr>
          </a:p>
        </p:txBody>
      </p:sp>
      <p:sp>
        <p:nvSpPr>
          <p:cNvPr id="41990" name="Text Box 14"/>
          <p:cNvSpPr txBox="1">
            <a:spLocks noChangeArrowheads="1"/>
          </p:cNvSpPr>
          <p:nvPr/>
        </p:nvSpPr>
        <p:spPr bwMode="auto">
          <a:xfrm>
            <a:off x="517525" y="43037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41991" name="Text Box 18"/>
          <p:cNvSpPr txBox="1">
            <a:spLocks noChangeArrowheads="1"/>
          </p:cNvSpPr>
          <p:nvPr/>
        </p:nvSpPr>
        <p:spPr bwMode="auto">
          <a:xfrm>
            <a:off x="1203325" y="30845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2" name="Slide Number Placeholder 1"/>
          <p:cNvSpPr>
            <a:spLocks noGrp="1"/>
          </p:cNvSpPr>
          <p:nvPr>
            <p:ph type="sldNum" sz="quarter" idx="11"/>
          </p:nvPr>
        </p:nvSpPr>
        <p:spPr/>
        <p:txBody>
          <a:bodyPr/>
          <a:lstStyle/>
          <a:p>
            <a:fld id="{F2BCF9F2-1022-4C47-AC3A-FA21E418CE18}" type="slidenum">
              <a:rPr lang="en-US" smtClean="0"/>
              <a:t>30</a:t>
            </a:fld>
            <a:endParaRPr lang="en-US" dirty="0"/>
          </a:p>
        </p:txBody>
      </p:sp>
    </p:spTree>
    <p:extLst>
      <p:ext uri="{BB962C8B-B14F-4D97-AF65-F5344CB8AC3E}">
        <p14:creationId xmlns:p14="http://schemas.microsoft.com/office/powerpoint/2010/main" val="49558539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altLang="en-US" smtClean="0"/>
              <a:t>The Economic Theory of Value</a:t>
            </a:r>
          </a:p>
        </p:txBody>
      </p:sp>
      <p:sp>
        <p:nvSpPr>
          <p:cNvPr id="43011" name="Content Placeholder 2"/>
          <p:cNvSpPr>
            <a:spLocks noGrp="1"/>
          </p:cNvSpPr>
          <p:nvPr>
            <p:ph idx="1"/>
          </p:nvPr>
        </p:nvSpPr>
        <p:spPr/>
        <p:txBody>
          <a:bodyPr/>
          <a:lstStyle/>
          <a:p>
            <a:r>
              <a:rPr lang="en-US" altLang="en-US" dirty="0" smtClean="0"/>
              <a:t>Welfare economics</a:t>
            </a:r>
          </a:p>
          <a:p>
            <a:pPr lvl="1"/>
            <a:r>
              <a:rPr lang="en-US" altLang="en-US" dirty="0" smtClean="0"/>
              <a:t>‘‘Economic efficiency’’</a:t>
            </a:r>
          </a:p>
          <a:p>
            <a:pPr lvl="1"/>
            <a:r>
              <a:rPr lang="en-US" altLang="en-US" dirty="0" smtClean="0"/>
              <a:t>Conditions under which markets will be able to achieve it</a:t>
            </a:r>
          </a:p>
          <a:p>
            <a:pPr lvl="1"/>
            <a:r>
              <a:rPr lang="en-US" altLang="en-US" dirty="0" smtClean="0"/>
              <a:t>Clarifying the relationship between the allocation pricing of resources</a:t>
            </a:r>
          </a:p>
          <a:p>
            <a:pPr lvl="2"/>
            <a:r>
              <a:rPr lang="en-US" altLang="en-US" dirty="0" smtClean="0"/>
              <a:t>Properly functioning markets provide an ‘‘invisible hand’’ that helps allocate resources efficiently</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720B335A-255B-4303-A333-FBB711D61B6F}" type="slidenum">
              <a:rPr lang="en-US" smtClean="0"/>
              <a:t>31</a:t>
            </a:fld>
            <a:endParaRPr lang="en-US"/>
          </a:p>
        </p:txBody>
      </p:sp>
    </p:spTree>
    <p:extLst>
      <p:ext uri="{BB962C8B-B14F-4D97-AF65-F5344CB8AC3E}">
        <p14:creationId xmlns:p14="http://schemas.microsoft.com/office/powerpoint/2010/main" val="1115709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altLang="en-US" smtClean="0"/>
              <a:t>Modern Developments</a:t>
            </a:r>
          </a:p>
        </p:txBody>
      </p:sp>
      <p:sp>
        <p:nvSpPr>
          <p:cNvPr id="44035" name="Content Placeholder 2"/>
          <p:cNvSpPr>
            <a:spLocks noGrp="1"/>
          </p:cNvSpPr>
          <p:nvPr>
            <p:ph idx="1"/>
          </p:nvPr>
        </p:nvSpPr>
        <p:spPr>
          <a:xfrm>
            <a:off x="304800" y="1066800"/>
            <a:ext cx="8382000" cy="5334000"/>
          </a:xfrm>
        </p:spPr>
        <p:txBody>
          <a:bodyPr/>
          <a:lstStyle/>
          <a:p>
            <a:r>
              <a:rPr lang="en-US" altLang="en-US" dirty="0" smtClean="0"/>
              <a:t>The mathematical foundations of economic models</a:t>
            </a:r>
          </a:p>
          <a:p>
            <a:pPr lvl="1"/>
            <a:r>
              <a:rPr lang="en-US" altLang="en-US" dirty="0" smtClean="0"/>
              <a:t>Clarification and formalization of the basic assumptions that are made about individuals and firms</a:t>
            </a:r>
          </a:p>
          <a:p>
            <a:r>
              <a:rPr lang="en-US" altLang="en-US" dirty="0" smtClean="0"/>
              <a:t>New tools for studying markets</a:t>
            </a:r>
          </a:p>
          <a:p>
            <a:pPr lvl="1"/>
            <a:r>
              <a:rPr lang="en-US" altLang="en-US" dirty="0" smtClean="0"/>
              <a:t>Creation of new tools to study markets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720B335A-255B-4303-A333-FBB711D61B6F}" type="slidenum">
              <a:rPr lang="en-US" smtClean="0"/>
              <a:t>32</a:t>
            </a:fld>
            <a:endParaRPr lang="en-US"/>
          </a:p>
        </p:txBody>
      </p:sp>
    </p:spTree>
    <p:extLst>
      <p:ext uri="{BB962C8B-B14F-4D97-AF65-F5344CB8AC3E}">
        <p14:creationId xmlns:p14="http://schemas.microsoft.com/office/powerpoint/2010/main" val="33288972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ltLang="en-US" smtClean="0"/>
              <a:t>Modern Developments</a:t>
            </a:r>
          </a:p>
        </p:txBody>
      </p:sp>
      <p:sp>
        <p:nvSpPr>
          <p:cNvPr id="45059" name="Content Placeholder 2"/>
          <p:cNvSpPr>
            <a:spLocks noGrp="1"/>
          </p:cNvSpPr>
          <p:nvPr>
            <p:ph idx="1"/>
          </p:nvPr>
        </p:nvSpPr>
        <p:spPr/>
        <p:txBody>
          <a:bodyPr>
            <a:noAutofit/>
          </a:bodyPr>
          <a:lstStyle/>
          <a:p>
            <a:r>
              <a:rPr lang="en-US" altLang="en-US" dirty="0" smtClean="0"/>
              <a:t>Behavioral </a:t>
            </a:r>
            <a:r>
              <a:rPr lang="en-US" altLang="en-US" dirty="0"/>
              <a:t>e</a:t>
            </a:r>
            <a:r>
              <a:rPr lang="en-US" altLang="en-US" dirty="0" smtClean="0"/>
              <a:t>conomics</a:t>
            </a:r>
          </a:p>
          <a:p>
            <a:pPr lvl="1"/>
            <a:r>
              <a:rPr lang="en-US" altLang="en-US" dirty="0" smtClean="0"/>
              <a:t>Make </a:t>
            </a:r>
            <a:r>
              <a:rPr lang="en-US" altLang="en-US" dirty="0"/>
              <a:t>economic models more realistic </a:t>
            </a:r>
            <a:endParaRPr lang="en-US" altLang="en-US" dirty="0" smtClean="0"/>
          </a:p>
          <a:p>
            <a:pPr lvl="2"/>
            <a:r>
              <a:rPr lang="en-US" altLang="en-US" dirty="0" smtClean="0"/>
              <a:t>Insights </a:t>
            </a:r>
            <a:r>
              <a:rPr lang="en-US" altLang="en-US" dirty="0"/>
              <a:t>from psychology </a:t>
            </a:r>
            <a:r>
              <a:rPr lang="en-US" altLang="en-US" dirty="0" smtClean="0"/>
              <a:t>&amp; other </a:t>
            </a:r>
            <a:r>
              <a:rPr lang="en-US" altLang="en-US" dirty="0"/>
              <a:t>social </a:t>
            </a:r>
            <a:r>
              <a:rPr lang="en-US" altLang="en-US" dirty="0" smtClean="0"/>
              <a:t>sciences</a:t>
            </a:r>
          </a:p>
          <a:p>
            <a:pPr lvl="1"/>
            <a:r>
              <a:rPr lang="en-US" altLang="en-US" dirty="0" smtClean="0"/>
              <a:t>How </a:t>
            </a:r>
            <a:r>
              <a:rPr lang="en-US" altLang="en-US" dirty="0"/>
              <a:t>imperfect information or various systematic biases </a:t>
            </a:r>
            <a:endParaRPr lang="en-US" altLang="en-US" dirty="0" smtClean="0"/>
          </a:p>
          <a:p>
            <a:pPr lvl="2"/>
            <a:r>
              <a:rPr lang="en-US" altLang="en-US" dirty="0" smtClean="0"/>
              <a:t>Used </a:t>
            </a:r>
            <a:r>
              <a:rPr lang="en-US" altLang="en-US" dirty="0"/>
              <a:t>to explain why decisions may not always conform to the “rational” </a:t>
            </a:r>
            <a:r>
              <a:rPr lang="en-US" altLang="en-US" dirty="0" smtClean="0"/>
              <a:t>assumptions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720B335A-255B-4303-A333-FBB711D61B6F}" type="slidenum">
              <a:rPr lang="en-US" smtClean="0"/>
              <a:t>33</a:t>
            </a:fld>
            <a:endParaRPr lang="en-US"/>
          </a:p>
        </p:txBody>
      </p:sp>
    </p:spTree>
    <p:extLst>
      <p:ext uri="{BB962C8B-B14F-4D97-AF65-F5344CB8AC3E}">
        <p14:creationId xmlns:p14="http://schemas.microsoft.com/office/powerpoint/2010/main" val="16089866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ltLang="en-US" smtClean="0"/>
              <a:t>Modern Developments</a:t>
            </a:r>
          </a:p>
        </p:txBody>
      </p:sp>
      <p:sp>
        <p:nvSpPr>
          <p:cNvPr id="45059" name="Content Placeholder 2"/>
          <p:cNvSpPr>
            <a:spLocks noGrp="1"/>
          </p:cNvSpPr>
          <p:nvPr>
            <p:ph idx="1"/>
          </p:nvPr>
        </p:nvSpPr>
        <p:spPr/>
        <p:txBody>
          <a:bodyPr>
            <a:noAutofit/>
          </a:bodyPr>
          <a:lstStyle/>
          <a:p>
            <a:r>
              <a:rPr lang="en-US" altLang="en-US" dirty="0" smtClean="0"/>
              <a:t>The </a:t>
            </a:r>
            <a:r>
              <a:rPr lang="en-US" altLang="en-US" dirty="0"/>
              <a:t>economics of uncertainty and information</a:t>
            </a:r>
          </a:p>
          <a:p>
            <a:pPr lvl="1"/>
            <a:r>
              <a:rPr lang="en-US" altLang="en-US" dirty="0"/>
              <a:t>Incorporation of uncertainty and imperfect information into economic models</a:t>
            </a:r>
          </a:p>
          <a:p>
            <a:r>
              <a:rPr lang="en-US" altLang="en-US" dirty="0" smtClean="0"/>
              <a:t>Computers and empirical analysis </a:t>
            </a:r>
          </a:p>
          <a:p>
            <a:pPr lvl="1"/>
            <a:r>
              <a:rPr lang="en-US" altLang="en-US" dirty="0" smtClean="0"/>
              <a:t>Increasing use of computers to analyze economic data and build economic models</a:t>
            </a:r>
          </a:p>
          <a:p>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2" name="Slide Number Placeholder 1"/>
          <p:cNvSpPr>
            <a:spLocks noGrp="1"/>
          </p:cNvSpPr>
          <p:nvPr>
            <p:ph type="sldNum" sz="quarter" idx="11"/>
          </p:nvPr>
        </p:nvSpPr>
        <p:spPr/>
        <p:txBody>
          <a:bodyPr/>
          <a:lstStyle/>
          <a:p>
            <a:fld id="{720B335A-255B-4303-A333-FBB711D61B6F}" type="slidenum">
              <a:rPr lang="en-US" smtClean="0"/>
              <a:t>34</a:t>
            </a:fld>
            <a:endParaRPr lang="en-US"/>
          </a:p>
        </p:txBody>
      </p:sp>
    </p:spTree>
    <p:extLst>
      <p:ext uri="{BB962C8B-B14F-4D97-AF65-F5344CB8AC3E}">
        <p14:creationId xmlns:p14="http://schemas.microsoft.com/office/powerpoint/2010/main" val="40523712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chap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fig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exa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tension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174</TotalTime>
  <Words>3440</Words>
  <Application>Microsoft Office PowerPoint</Application>
  <PresentationFormat>On-screen Show (4:3)</PresentationFormat>
  <Paragraphs>308</Paragraphs>
  <Slides>34</Slides>
  <Notes>2</Notes>
  <HiddenSlides>0</HiddenSlides>
  <MMClips>0</MMClips>
  <ScaleCrop>false</ScaleCrop>
  <HeadingPairs>
    <vt:vector size="6" baseType="variant">
      <vt:variant>
        <vt:lpstr>Theme</vt:lpstr>
      </vt:variant>
      <vt:variant>
        <vt:i4>5</vt:i4>
      </vt:variant>
      <vt:variant>
        <vt:lpstr>Embedded OLE Servers</vt:lpstr>
      </vt:variant>
      <vt:variant>
        <vt:i4>1</vt:i4>
      </vt:variant>
      <vt:variant>
        <vt:lpstr>Slide Titles</vt:lpstr>
      </vt:variant>
      <vt:variant>
        <vt:i4>34</vt:i4>
      </vt:variant>
    </vt:vector>
  </HeadingPairs>
  <TitlesOfParts>
    <vt:vector size="40" baseType="lpstr">
      <vt:lpstr>chapter</vt:lpstr>
      <vt:lpstr>main</vt:lpstr>
      <vt:lpstr>figure</vt:lpstr>
      <vt:lpstr>example</vt:lpstr>
      <vt:lpstr>extensions</vt:lpstr>
      <vt:lpstr>Equation</vt:lpstr>
      <vt:lpstr>CHAPTER  1     Economic Models</vt:lpstr>
      <vt:lpstr>Theoretical Models</vt:lpstr>
      <vt:lpstr>Verification of Economic Models</vt:lpstr>
      <vt:lpstr>Verification of Economic Models</vt:lpstr>
      <vt:lpstr>General Features of Economic Models</vt:lpstr>
      <vt:lpstr>General Features of Economic Models</vt:lpstr>
      <vt:lpstr>1.1 Structure of a Typical Microeconomic Model</vt:lpstr>
      <vt:lpstr>General Features of Economic Models</vt:lpstr>
      <vt:lpstr>1.1 Profit Maximization</vt:lpstr>
      <vt:lpstr>1.1  Profit Maximization</vt:lpstr>
      <vt:lpstr>General Features of Economic Models</vt:lpstr>
      <vt:lpstr>The Economic Theory of Value</vt:lpstr>
      <vt:lpstr>The Economic Theory of Value</vt:lpstr>
      <vt:lpstr>The Economic Theory of Value</vt:lpstr>
      <vt:lpstr>The Economic Theory of Value</vt:lpstr>
      <vt:lpstr>The Economic Theory of Value</vt:lpstr>
      <vt:lpstr>1.2 The Marshallian Supply–Demand Cross</vt:lpstr>
      <vt:lpstr>1.2 Supply-Demand Equilibrium</vt:lpstr>
      <vt:lpstr>1.2 Supply-Demand Equilibrium</vt:lpstr>
      <vt:lpstr>1.2 Supply-Demand Equilibrium</vt:lpstr>
      <vt:lpstr>1.2 Supply-Demand Equilibrium</vt:lpstr>
      <vt:lpstr>1.3 Changing Supply–Demand Equilibria</vt:lpstr>
      <vt:lpstr>The Economic Theory of Value</vt:lpstr>
      <vt:lpstr>The Economic Theory of Value</vt:lpstr>
      <vt:lpstr>The Economic Theory of Value</vt:lpstr>
      <vt:lpstr>1.4 Production Possibility Frontier</vt:lpstr>
      <vt:lpstr>The Economic Theory of Value</vt:lpstr>
      <vt:lpstr>1.3 A Production Possibility Frontier</vt:lpstr>
      <vt:lpstr>1.3 A Production Possibility Frontier</vt:lpstr>
      <vt:lpstr>1.3 A Production Possibility Frontier</vt:lpstr>
      <vt:lpstr>The Economic Theory of Value</vt:lpstr>
      <vt:lpstr>Modern Developments</vt:lpstr>
      <vt:lpstr>Modern Developments</vt:lpstr>
      <vt:lpstr>Modern Developments</vt:lpstr>
    </vt:vector>
  </TitlesOfParts>
  <Company>Eastern Illinois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Andreea Chiritescu</cp:lastModifiedBy>
  <cp:revision>52</cp:revision>
  <dcterms:created xsi:type="dcterms:W3CDTF">2016-06-05T19:40:39Z</dcterms:created>
  <dcterms:modified xsi:type="dcterms:W3CDTF">2016-06-13T15:40:13Z</dcterms:modified>
</cp:coreProperties>
</file>