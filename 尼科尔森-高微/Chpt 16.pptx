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63"/>
  </p:notesMasterIdLst>
  <p:handoutMasterIdLst>
    <p:handoutMasterId r:id="rId64"/>
  </p:handoutMasterIdLst>
  <p:sldIdLst>
    <p:sldId id="258" r:id="rId7"/>
    <p:sldId id="279" r:id="rId8"/>
    <p:sldId id="280" r:id="rId9"/>
    <p:sldId id="281" r:id="rId10"/>
    <p:sldId id="282" r:id="rId11"/>
    <p:sldId id="283" r:id="rId12"/>
    <p:sldId id="284" r:id="rId13"/>
    <p:sldId id="285" r:id="rId14"/>
    <p:sldId id="286" r:id="rId15"/>
    <p:sldId id="287" r:id="rId16"/>
    <p:sldId id="288" r:id="rId17"/>
    <p:sldId id="331" r:id="rId18"/>
    <p:sldId id="332" r:id="rId19"/>
    <p:sldId id="333" r:id="rId20"/>
    <p:sldId id="292" r:id="rId21"/>
    <p:sldId id="293" r:id="rId22"/>
    <p:sldId id="294" r:id="rId23"/>
    <p:sldId id="33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 id="313" r:id="rId43"/>
    <p:sldId id="314" r:id="rId44"/>
    <p:sldId id="315" r:id="rId45"/>
    <p:sldId id="316" r:id="rId46"/>
    <p:sldId id="317" r:id="rId47"/>
    <p:sldId id="318" r:id="rId48"/>
    <p:sldId id="319" r:id="rId49"/>
    <p:sldId id="320" r:id="rId50"/>
    <p:sldId id="321" r:id="rId51"/>
    <p:sldId id="322" r:id="rId52"/>
    <p:sldId id="335" r:id="rId53"/>
    <p:sldId id="323" r:id="rId54"/>
    <p:sldId id="324" r:id="rId55"/>
    <p:sldId id="325" r:id="rId56"/>
    <p:sldId id="326" r:id="rId57"/>
    <p:sldId id="327" r:id="rId58"/>
    <p:sldId id="328" r:id="rId59"/>
    <p:sldId id="329" r:id="rId60"/>
    <p:sldId id="330" r:id="rId61"/>
    <p:sldId id="336"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8883" autoAdjust="0"/>
  </p:normalViewPr>
  <p:slideViewPr>
    <p:cSldViewPr>
      <p:cViewPr>
        <p:scale>
          <a:sx n="68" d="100"/>
          <a:sy n="68" d="100"/>
        </p:scale>
        <p:origin x="-888" y="-126"/>
      </p:cViewPr>
      <p:guideLst>
        <p:guide orient="horz" pos="2160"/>
        <p:guide pos="2880"/>
      </p:guideLst>
    </p:cSldViewPr>
  </p:slideViewPr>
  <p:outlineViewPr>
    <p:cViewPr>
      <p:scale>
        <a:sx n="33" d="100"/>
        <a:sy n="33" d="100"/>
      </p:scale>
      <p:origin x="0" y="23490"/>
    </p:cViewPr>
  </p:outlineViewPr>
  <p:notesTextViewPr>
    <p:cViewPr>
      <p:scale>
        <a:sx n="1" d="1"/>
        <a:sy n="1" d="1"/>
      </p:scale>
      <p:origin x="0" y="0"/>
    </p:cViewPr>
  </p:notesTextViewPr>
  <p:sorterViewPr>
    <p:cViewPr>
      <p:scale>
        <a:sx n="100" d="100"/>
        <a:sy n="100" d="100"/>
      </p:scale>
      <p:origin x="0" y="11106"/>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slide" Target="slides/slide5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6/21/2016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6/21/2016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18.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19.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1.emf"/><Relationship Id="rId5" Type="http://schemas.openxmlformats.org/officeDocument/2006/relationships/oleObject" Target="../embeddings/oleObject5.bin"/><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3.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5.wmf"/><Relationship Id="rId5" Type="http://schemas.openxmlformats.org/officeDocument/2006/relationships/oleObject" Target="../embeddings/oleObject9.bin"/><Relationship Id="rId4" Type="http://schemas.openxmlformats.org/officeDocument/2006/relationships/image" Target="../media/image24.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7.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28.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dirty="0" smtClean="0"/>
              <a:t/>
            </a:r>
            <a:br>
              <a:rPr lang="en-US" dirty="0" smtClean="0"/>
            </a:br>
            <a:r>
              <a:rPr lang="en-US" baseline="0" dirty="0" smtClean="0"/>
              <a:t> </a:t>
            </a:r>
            <a:r>
              <a:rPr lang="en-US" baseline="0" dirty="0" smtClean="0"/>
              <a:t>16</a:t>
            </a:r>
            <a:r>
              <a:rPr lang="en-US" b="1" baseline="0" dirty="0" smtClean="0"/>
              <a:t>	 		</a:t>
            </a:r>
            <a:r>
              <a:rPr lang="en-US" sz="4800" b="1" baseline="0" dirty="0"/>
              <a:t>Labor Markets</a:t>
            </a:r>
            <a:r>
              <a:rPr lang="en-US" sz="4800" b="1" baseline="0" dirty="0"/>
              <a:t/>
            </a:r>
            <a:br>
              <a:rPr lang="en-US" sz="4800" b="1" baseline="0" dirty="0"/>
            </a:br>
            <a:endParaRPr lang="en-US" sz="44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dirty="0" smtClean="0"/>
              <a:t>Allocation </a:t>
            </a:r>
            <a:r>
              <a:rPr lang="en-US" altLang="en-US" dirty="0" smtClean="0"/>
              <a:t>of Time</a:t>
            </a:r>
          </a:p>
        </p:txBody>
      </p:sp>
      <p:sp>
        <p:nvSpPr>
          <p:cNvPr id="22531" name="Rectangle 3"/>
          <p:cNvSpPr>
            <a:spLocks noGrp="1" noChangeArrowheads="1"/>
          </p:cNvSpPr>
          <p:nvPr>
            <p:ph idx="1"/>
          </p:nvPr>
        </p:nvSpPr>
        <p:spPr/>
        <p:txBody>
          <a:bodyPr/>
          <a:lstStyle/>
          <a:p>
            <a:r>
              <a:rPr lang="en-US" altLang="en-US" dirty="0" smtClean="0"/>
              <a:t>Individuals </a:t>
            </a:r>
          </a:p>
          <a:p>
            <a:pPr lvl="1"/>
            <a:r>
              <a:rPr lang="en-US" altLang="en-US" dirty="0" smtClean="0"/>
              <a:t>Must decide how to allocate the fixed amount of time they have</a:t>
            </a:r>
          </a:p>
          <a:p>
            <a:r>
              <a:rPr lang="en-US" altLang="en-US" dirty="0" smtClean="0"/>
              <a:t>Assume that there are only two uses of an individual’s time</a:t>
            </a:r>
          </a:p>
          <a:p>
            <a:pPr lvl="1"/>
            <a:r>
              <a:rPr lang="en-US" altLang="en-US" dirty="0" smtClean="0"/>
              <a:t>Engaging in market work at a real hourly wage rate of </a:t>
            </a:r>
            <a:r>
              <a:rPr lang="en-US" altLang="en-US" i="1" dirty="0" smtClean="0"/>
              <a:t>w</a:t>
            </a:r>
            <a:endParaRPr lang="en-US" altLang="en-US" dirty="0" smtClean="0"/>
          </a:p>
          <a:p>
            <a:pPr lvl="1"/>
            <a:r>
              <a:rPr lang="en-US" altLang="en-US" dirty="0" smtClean="0"/>
              <a:t>Leisure (</a:t>
            </a:r>
            <a:r>
              <a:rPr lang="en-US" altLang="en-US" dirty="0" err="1" smtClean="0"/>
              <a:t>nonwork</a:t>
            </a:r>
            <a:r>
              <a:rPr lang="en-US" altLang="en-US" dirty="0" smtClean="0"/>
              <a:t>)</a:t>
            </a:r>
          </a:p>
          <a:p>
            <a:pPr lvl="1"/>
            <a:r>
              <a:rPr lang="en-US" altLang="en-US" dirty="0" smtClean="0"/>
              <a:t>Simple two-good model</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F95C475-CF5A-492A-A8D5-CB19CF8E5666}" type="slidenum">
              <a:rPr lang="en-US" smtClean="0"/>
              <a:pPr>
                <a:defRPr/>
              </a:pPr>
              <a:t>2</a:t>
            </a:fld>
            <a:endParaRPr lang="en-US"/>
          </a:p>
        </p:txBody>
      </p:sp>
    </p:spTree>
    <p:extLst>
      <p:ext uri="{BB962C8B-B14F-4D97-AF65-F5344CB8AC3E}">
        <p14:creationId xmlns:p14="http://schemas.microsoft.com/office/powerpoint/2010/main" val="29177042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smtClean="0"/>
              <a:t>Simple Two-Good Model</a:t>
            </a:r>
            <a:endParaRPr lang="en-US" altLang="en-US" dirty="0" smtClean="0"/>
          </a:p>
        </p:txBody>
      </p:sp>
      <p:sp>
        <p:nvSpPr>
          <p:cNvPr id="23555" name="Rectangle 3"/>
          <p:cNvSpPr>
            <a:spLocks noGrp="1" noChangeArrowheads="1"/>
          </p:cNvSpPr>
          <p:nvPr>
            <p:ph idx="1"/>
          </p:nvPr>
        </p:nvSpPr>
        <p:spPr/>
        <p:txBody>
          <a:bodyPr/>
          <a:lstStyle/>
          <a:p>
            <a:r>
              <a:rPr lang="en-US" altLang="en-US" dirty="0" smtClean="0"/>
              <a:t>Assume that an individual’s utility</a:t>
            </a:r>
          </a:p>
          <a:p>
            <a:pPr lvl="1"/>
            <a:r>
              <a:rPr lang="en-US" altLang="en-US" dirty="0" smtClean="0"/>
              <a:t>Depends on consumption (</a:t>
            </a:r>
            <a:r>
              <a:rPr lang="en-US" altLang="en-US" i="1" dirty="0" smtClean="0"/>
              <a:t>c</a:t>
            </a:r>
            <a:r>
              <a:rPr lang="en-US" altLang="en-US" dirty="0" smtClean="0"/>
              <a:t>) and hours of leisure (</a:t>
            </a:r>
            <a:r>
              <a:rPr lang="en-US" altLang="en-US" i="1" dirty="0" smtClean="0"/>
              <a:t>h</a:t>
            </a:r>
            <a:r>
              <a:rPr lang="en-US" altLang="en-US" dirty="0" smtClean="0"/>
              <a:t>): </a:t>
            </a:r>
            <a:r>
              <a:rPr lang="en-US" altLang="en-US" sz="2800" dirty="0" smtClean="0">
                <a:solidFill>
                  <a:srgbClr val="FF0000"/>
                </a:solidFill>
              </a:rPr>
              <a:t>utility </a:t>
            </a:r>
            <a:r>
              <a:rPr lang="en-US" altLang="en-US" sz="2800" dirty="0" smtClean="0">
                <a:solidFill>
                  <a:srgbClr val="FF0000"/>
                </a:solidFill>
              </a:rPr>
              <a:t>= </a:t>
            </a:r>
            <a:r>
              <a:rPr lang="en-US" altLang="en-US" sz="2800" i="1" dirty="0" smtClean="0">
                <a:solidFill>
                  <a:srgbClr val="FF0000"/>
                </a:solidFill>
              </a:rPr>
              <a:t>U</a:t>
            </a:r>
            <a:r>
              <a:rPr lang="en-US" altLang="en-US" sz="2800" dirty="0" smtClean="0">
                <a:solidFill>
                  <a:srgbClr val="FF0000"/>
                </a:solidFill>
              </a:rPr>
              <a:t>(</a:t>
            </a:r>
            <a:r>
              <a:rPr lang="en-US" altLang="en-US" sz="2800" i="1" dirty="0" err="1" smtClean="0">
                <a:solidFill>
                  <a:srgbClr val="FF0000"/>
                </a:solidFill>
              </a:rPr>
              <a:t>c</a:t>
            </a:r>
            <a:r>
              <a:rPr lang="en-US" altLang="en-US" sz="2800" dirty="0" err="1" smtClean="0">
                <a:solidFill>
                  <a:srgbClr val="FF0000"/>
                </a:solidFill>
              </a:rPr>
              <a:t>,</a:t>
            </a:r>
            <a:r>
              <a:rPr lang="en-US" altLang="en-US" sz="2800" i="1" dirty="0" err="1" smtClean="0">
                <a:solidFill>
                  <a:srgbClr val="FF0000"/>
                </a:solidFill>
              </a:rPr>
              <a:t>h</a:t>
            </a:r>
            <a:r>
              <a:rPr lang="en-US" altLang="en-US" sz="2800" dirty="0" smtClean="0">
                <a:solidFill>
                  <a:srgbClr val="FF0000"/>
                </a:solidFill>
              </a:rPr>
              <a:t>)</a:t>
            </a:r>
          </a:p>
          <a:p>
            <a:r>
              <a:rPr lang="en-US" altLang="en-US" dirty="0" smtClean="0"/>
              <a:t>In seeking to maximize </a:t>
            </a:r>
            <a:r>
              <a:rPr lang="en-US" altLang="en-US" dirty="0" smtClean="0"/>
              <a:t>utility, the </a:t>
            </a:r>
            <a:r>
              <a:rPr lang="en-US" altLang="en-US" dirty="0" smtClean="0"/>
              <a:t>individual is bound by two </a:t>
            </a:r>
            <a:r>
              <a:rPr lang="en-US" altLang="en-US" dirty="0" smtClean="0"/>
              <a:t>constraints</a:t>
            </a:r>
            <a:endParaRPr lang="en-US" altLang="en-US" dirty="0" smtClean="0"/>
          </a:p>
          <a:p>
            <a:pPr lvl="1">
              <a:lnSpc>
                <a:spcPct val="110000"/>
              </a:lnSpc>
            </a:pPr>
            <a:r>
              <a:rPr lang="en-US" altLang="en-US" dirty="0" smtClean="0">
                <a:solidFill>
                  <a:schemeClr val="tx1"/>
                </a:solidFill>
              </a:rPr>
              <a:t>Available time: </a:t>
            </a:r>
            <a:r>
              <a:rPr lang="en-US" altLang="en-US" i="1" dirty="0" smtClean="0">
                <a:solidFill>
                  <a:srgbClr val="FF0000"/>
                </a:solidFill>
                <a:latin typeface="Times New Roman" pitchFamily="18" charset="0"/>
              </a:rPr>
              <a:t>l</a:t>
            </a:r>
            <a:r>
              <a:rPr lang="en-US" altLang="en-US" dirty="0" smtClean="0">
                <a:solidFill>
                  <a:srgbClr val="FF0000"/>
                </a:solidFill>
              </a:rPr>
              <a:t> </a:t>
            </a:r>
            <a:r>
              <a:rPr lang="en-US" altLang="en-US" dirty="0" smtClean="0">
                <a:solidFill>
                  <a:srgbClr val="FF0000"/>
                </a:solidFill>
              </a:rPr>
              <a:t>+ </a:t>
            </a:r>
            <a:r>
              <a:rPr lang="en-US" altLang="en-US" i="1" dirty="0" smtClean="0">
                <a:solidFill>
                  <a:srgbClr val="FF0000"/>
                </a:solidFill>
              </a:rPr>
              <a:t>h</a:t>
            </a:r>
            <a:r>
              <a:rPr lang="en-US" altLang="en-US" dirty="0" smtClean="0">
                <a:solidFill>
                  <a:srgbClr val="FF0000"/>
                </a:solidFill>
              </a:rPr>
              <a:t> = </a:t>
            </a:r>
            <a:r>
              <a:rPr lang="en-US" altLang="en-US" dirty="0" smtClean="0">
                <a:solidFill>
                  <a:srgbClr val="FF0000"/>
                </a:solidFill>
              </a:rPr>
              <a:t>24</a:t>
            </a:r>
            <a:r>
              <a:rPr lang="en-US" altLang="en-US" dirty="0" smtClean="0"/>
              <a:t>, where </a:t>
            </a:r>
            <a:r>
              <a:rPr lang="en-US" altLang="en-US" i="1" dirty="0" smtClean="0">
                <a:latin typeface="Times New Roman" panose="02020603050405020304" pitchFamily="18" charset="0"/>
                <a:cs typeface="Times New Roman" panose="02020603050405020304" pitchFamily="18" charset="0"/>
              </a:rPr>
              <a:t>l</a:t>
            </a:r>
            <a:r>
              <a:rPr lang="en-US" altLang="en-US" dirty="0" smtClean="0"/>
              <a:t> is hours of work</a:t>
            </a:r>
            <a:endParaRPr lang="en-US" altLang="en-US" dirty="0" smtClean="0">
              <a:solidFill>
                <a:srgbClr val="FF0000"/>
              </a:solidFill>
            </a:endParaRPr>
          </a:p>
          <a:p>
            <a:pPr lvl="1">
              <a:lnSpc>
                <a:spcPct val="110000"/>
              </a:lnSpc>
            </a:pPr>
            <a:r>
              <a:rPr lang="en-US" altLang="en-US" dirty="0" smtClean="0">
                <a:solidFill>
                  <a:schemeClr val="tx1"/>
                </a:solidFill>
              </a:rPr>
              <a:t>Income constraint: </a:t>
            </a:r>
            <a:r>
              <a:rPr lang="en-US" altLang="en-US" i="1" dirty="0" smtClean="0">
                <a:solidFill>
                  <a:srgbClr val="FF0000"/>
                </a:solidFill>
              </a:rPr>
              <a:t>c</a:t>
            </a:r>
            <a:r>
              <a:rPr lang="en-US" altLang="en-US" dirty="0" smtClean="0">
                <a:solidFill>
                  <a:srgbClr val="FF0000"/>
                </a:solidFill>
              </a:rPr>
              <a:t> </a:t>
            </a:r>
            <a:r>
              <a:rPr lang="en-US" altLang="en-US" dirty="0" smtClean="0">
                <a:solidFill>
                  <a:srgbClr val="FF0000"/>
                </a:solidFill>
              </a:rPr>
              <a:t>= </a:t>
            </a:r>
            <a:r>
              <a:rPr lang="en-US" altLang="en-US" i="1" dirty="0" err="1" smtClean="0">
                <a:solidFill>
                  <a:srgbClr val="FF0000"/>
                </a:solidFill>
              </a:rPr>
              <a:t>w</a:t>
            </a:r>
            <a:r>
              <a:rPr lang="en-US" altLang="en-US" i="1" dirty="0" err="1" smtClean="0">
                <a:solidFill>
                  <a:srgbClr val="FF0000"/>
                </a:solidFill>
                <a:latin typeface="Times New Roman" pitchFamily="18" charset="0"/>
              </a:rPr>
              <a:t>l</a:t>
            </a:r>
            <a:endParaRPr lang="en-US" altLang="en-US" dirty="0">
              <a:latin typeface="Times New Roman" pitchFamily="18" charset="0"/>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A00209C-9652-4506-8D03-861CD066512E}" type="slidenum">
              <a:rPr lang="en-US" smtClean="0"/>
              <a:pPr>
                <a:defRPr/>
              </a:pPr>
              <a:t>3</a:t>
            </a:fld>
            <a:endParaRPr lang="en-US"/>
          </a:p>
        </p:txBody>
      </p:sp>
    </p:spTree>
    <p:extLst>
      <p:ext uri="{BB962C8B-B14F-4D97-AF65-F5344CB8AC3E}">
        <p14:creationId xmlns:p14="http://schemas.microsoft.com/office/powerpoint/2010/main" val="19223773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dirty="0"/>
              <a:t>Simple Two-Good Model</a:t>
            </a:r>
            <a:endParaRPr lang="en-US" altLang="en-US" dirty="0" smtClean="0"/>
          </a:p>
        </p:txBody>
      </p:sp>
      <p:sp>
        <p:nvSpPr>
          <p:cNvPr id="24579" name="Rectangle 3"/>
          <p:cNvSpPr>
            <a:spLocks noGrp="1" noChangeArrowheads="1"/>
          </p:cNvSpPr>
          <p:nvPr>
            <p:ph idx="1"/>
          </p:nvPr>
        </p:nvSpPr>
        <p:spPr/>
        <p:txBody>
          <a:bodyPr/>
          <a:lstStyle/>
          <a:p>
            <a:r>
              <a:rPr lang="en-US" altLang="en-US" dirty="0" smtClean="0"/>
              <a:t>Combining the two constraints: </a:t>
            </a:r>
          </a:p>
          <a:p>
            <a:pPr algn="ctr">
              <a:buFontTx/>
              <a:buNone/>
            </a:pPr>
            <a:r>
              <a:rPr lang="en-US" altLang="en-US" sz="2800" i="1" dirty="0" smtClean="0">
                <a:solidFill>
                  <a:srgbClr val="FF0000"/>
                </a:solidFill>
              </a:rPr>
              <a:t>c = w</a:t>
            </a:r>
            <a:r>
              <a:rPr lang="en-US" altLang="en-US" sz="2800" dirty="0" smtClean="0">
                <a:solidFill>
                  <a:srgbClr val="FF0000"/>
                </a:solidFill>
              </a:rPr>
              <a:t>(24 – </a:t>
            </a:r>
            <a:r>
              <a:rPr lang="en-US" altLang="en-US" sz="2800" i="1" dirty="0" smtClean="0">
                <a:solidFill>
                  <a:srgbClr val="FF0000"/>
                </a:solidFill>
              </a:rPr>
              <a:t>h</a:t>
            </a:r>
            <a:r>
              <a:rPr lang="en-US" altLang="en-US" sz="2800" dirty="0" smtClean="0">
                <a:solidFill>
                  <a:srgbClr val="FF0000"/>
                </a:solidFill>
              </a:rPr>
              <a:t>)</a:t>
            </a:r>
          </a:p>
          <a:p>
            <a:pPr algn="ctr">
              <a:buFontTx/>
              <a:buNone/>
            </a:pPr>
            <a:r>
              <a:rPr lang="en-US" altLang="en-US" sz="2800" i="1" dirty="0" smtClean="0">
                <a:solidFill>
                  <a:srgbClr val="FF0000"/>
                </a:solidFill>
              </a:rPr>
              <a:t>c + </a:t>
            </a:r>
            <a:r>
              <a:rPr lang="en-US" altLang="en-US" sz="2800" i="1" dirty="0" err="1" smtClean="0">
                <a:solidFill>
                  <a:srgbClr val="FF0000"/>
                </a:solidFill>
              </a:rPr>
              <a:t>wh</a:t>
            </a:r>
            <a:r>
              <a:rPr lang="en-US" altLang="en-US" sz="2800" i="1" dirty="0" smtClean="0">
                <a:solidFill>
                  <a:srgbClr val="FF0000"/>
                </a:solidFill>
              </a:rPr>
              <a:t> = </a:t>
            </a:r>
            <a:r>
              <a:rPr lang="en-US" altLang="en-US" sz="2800" dirty="0" smtClean="0">
                <a:solidFill>
                  <a:srgbClr val="FF0000"/>
                </a:solidFill>
              </a:rPr>
              <a:t>24</a:t>
            </a:r>
            <a:r>
              <a:rPr lang="en-US" altLang="en-US" sz="2800" i="1" dirty="0" smtClean="0">
                <a:solidFill>
                  <a:srgbClr val="FF0000"/>
                </a:solidFill>
              </a:rPr>
              <a:t>w</a:t>
            </a:r>
          </a:p>
          <a:p>
            <a:r>
              <a:rPr lang="en-US" altLang="en-US" dirty="0" smtClean="0"/>
              <a:t>An individual has a “full income” of 24</a:t>
            </a:r>
            <a:r>
              <a:rPr lang="en-US" altLang="en-US" i="1" dirty="0" smtClean="0"/>
              <a:t>w</a:t>
            </a:r>
            <a:endParaRPr lang="en-US" altLang="en-US" dirty="0" smtClean="0"/>
          </a:p>
          <a:p>
            <a:pPr lvl="1"/>
            <a:r>
              <a:rPr lang="en-US" altLang="en-US" dirty="0" smtClean="0"/>
              <a:t>May spend the full income either by working (for real income and consumption) or by not working (enjoying leisure)</a:t>
            </a:r>
          </a:p>
          <a:p>
            <a:pPr lvl="1"/>
            <a:r>
              <a:rPr lang="en-US" altLang="en-US" dirty="0" smtClean="0"/>
              <a:t>The opportunity cost of leisure is </a:t>
            </a:r>
            <a:r>
              <a:rPr lang="en-US" altLang="en-US" i="1" dirty="0" smtClean="0"/>
              <a:t>w</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1104E59-C0AD-45F4-B77A-4A6D2768C8EB}" type="slidenum">
              <a:rPr lang="en-US" smtClean="0"/>
              <a:pPr>
                <a:defRPr/>
              </a:pPr>
              <a:t>4</a:t>
            </a:fld>
            <a:endParaRPr lang="en-US"/>
          </a:p>
        </p:txBody>
      </p:sp>
    </p:spTree>
    <p:extLst>
      <p:ext uri="{BB962C8B-B14F-4D97-AF65-F5344CB8AC3E}">
        <p14:creationId xmlns:p14="http://schemas.microsoft.com/office/powerpoint/2010/main" val="28560454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smtClean="0"/>
              <a:t>Utility Maximization</a:t>
            </a:r>
          </a:p>
        </p:txBody>
      </p:sp>
      <p:sp>
        <p:nvSpPr>
          <p:cNvPr id="25603" name="Rectangle 3"/>
          <p:cNvSpPr>
            <a:spLocks noGrp="1" noChangeArrowheads="1"/>
          </p:cNvSpPr>
          <p:nvPr>
            <p:ph idx="1"/>
          </p:nvPr>
        </p:nvSpPr>
        <p:spPr/>
        <p:txBody>
          <a:bodyPr/>
          <a:lstStyle/>
          <a:p>
            <a:r>
              <a:rPr lang="en-US" altLang="en-US" dirty="0" smtClean="0"/>
              <a:t>Maximize utility subject to the full income constraint</a:t>
            </a:r>
          </a:p>
          <a:p>
            <a:pPr lvl="1"/>
            <a:r>
              <a:rPr lang="en-US" altLang="en-US" dirty="0" smtClean="0"/>
              <a:t>Setting up the </a:t>
            </a:r>
            <a:r>
              <a:rPr lang="en-US" altLang="en-US" dirty="0" err="1" smtClean="0"/>
              <a:t>Lagrangian</a:t>
            </a:r>
            <a:endParaRPr lang="en-US" altLang="en-US" dirty="0" smtClean="0"/>
          </a:p>
          <a:p>
            <a:pPr algn="ctr">
              <a:lnSpc>
                <a:spcPct val="120000"/>
              </a:lnSpc>
              <a:buFontTx/>
              <a:buNone/>
            </a:pPr>
            <a:r>
              <a:rPr lang="en-US" altLang="en-US" sz="2800" b="1" dirty="0" smtClean="0">
                <a:solidFill>
                  <a:srgbClr val="FF0000"/>
                </a:solidFill>
                <a:latin typeface="Times New Roman" panose="02020603050405020304" pitchFamily="18" charset="0"/>
                <a:ea typeface="Arial Unicode MS" pitchFamily="34" charset="-128"/>
                <a:cs typeface="Times New Roman" panose="02020603050405020304" pitchFamily="18" charset="0"/>
              </a:rPr>
              <a:t>ℒ</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i="1" dirty="0" smtClean="0">
                <a:solidFill>
                  <a:srgbClr val="FF0000"/>
                </a:solidFill>
                <a:latin typeface="Times New Roman" panose="02020603050405020304" pitchFamily="18" charset="0"/>
                <a:cs typeface="Times New Roman" panose="02020603050405020304" pitchFamily="18" charset="0"/>
              </a:rPr>
              <a:t>U</a:t>
            </a:r>
            <a:r>
              <a:rPr lang="en-US" altLang="en-US" sz="2800" dirty="0" smtClean="0">
                <a:solidFill>
                  <a:srgbClr val="FF0000"/>
                </a:solidFill>
                <a:latin typeface="Times New Roman" panose="02020603050405020304" pitchFamily="18" charset="0"/>
                <a:cs typeface="Times New Roman" panose="02020603050405020304" pitchFamily="18" charset="0"/>
              </a:rPr>
              <a:t>(</a:t>
            </a:r>
            <a:r>
              <a:rPr lang="en-US" altLang="en-US" sz="2800" i="1" dirty="0" err="1" smtClean="0">
                <a:solidFill>
                  <a:srgbClr val="FF0000"/>
                </a:solidFill>
                <a:latin typeface="Times New Roman" panose="02020603050405020304" pitchFamily="18" charset="0"/>
                <a:cs typeface="Times New Roman" panose="02020603050405020304" pitchFamily="18" charset="0"/>
              </a:rPr>
              <a:t>c</a:t>
            </a:r>
            <a:r>
              <a:rPr lang="en-US" altLang="en-US" sz="2800" dirty="0" err="1" smtClean="0">
                <a:solidFill>
                  <a:srgbClr val="FF0000"/>
                </a:solidFill>
                <a:latin typeface="Times New Roman" panose="02020603050405020304" pitchFamily="18" charset="0"/>
                <a:cs typeface="Times New Roman" panose="02020603050405020304" pitchFamily="18" charset="0"/>
              </a:rPr>
              <a:t>,</a:t>
            </a:r>
            <a:r>
              <a:rPr lang="en-US" altLang="en-US" sz="2800" i="1" dirty="0" err="1" smtClean="0">
                <a:solidFill>
                  <a:srgbClr val="FF0000"/>
                </a:solidFill>
                <a:latin typeface="Times New Roman" panose="02020603050405020304" pitchFamily="18" charset="0"/>
                <a:cs typeface="Times New Roman" panose="02020603050405020304" pitchFamily="18" charset="0"/>
              </a:rPr>
              <a:t>h</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(24</a:t>
            </a:r>
            <a:r>
              <a:rPr lang="en-US" altLang="en-US" sz="2800" i="1" dirty="0" smtClean="0">
                <a:solidFill>
                  <a:srgbClr val="FF0000"/>
                </a:solidFill>
                <a:latin typeface="Times New Roman" panose="02020603050405020304" pitchFamily="18" charset="0"/>
                <a:cs typeface="Times New Roman" panose="02020603050405020304" pitchFamily="18" charset="0"/>
                <a:sym typeface="Symbol" pitchFamily="18" charset="2"/>
              </a:rPr>
              <a:t>w</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sz="2800" i="1" dirty="0" smtClean="0">
                <a:solidFill>
                  <a:srgbClr val="FF0000"/>
                </a:solidFill>
                <a:latin typeface="Times New Roman" panose="02020603050405020304" pitchFamily="18" charset="0"/>
                <a:cs typeface="Times New Roman" panose="02020603050405020304" pitchFamily="18" charset="0"/>
                <a:sym typeface="Symbol" pitchFamily="18" charset="2"/>
              </a:rPr>
              <a:t>c – </a:t>
            </a:r>
            <a:r>
              <a:rPr lang="en-US" altLang="en-US" sz="2800" i="1" dirty="0" err="1" smtClean="0">
                <a:solidFill>
                  <a:srgbClr val="FF0000"/>
                </a:solidFill>
                <a:latin typeface="Times New Roman" panose="02020603050405020304" pitchFamily="18" charset="0"/>
                <a:cs typeface="Times New Roman" panose="02020603050405020304" pitchFamily="18" charset="0"/>
                <a:sym typeface="Symbol" pitchFamily="18" charset="2"/>
              </a:rPr>
              <a:t>wh</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p>
          <a:p>
            <a:pPr lvl="1">
              <a:lnSpc>
                <a:spcPct val="120000"/>
              </a:lnSpc>
            </a:pPr>
            <a:r>
              <a:rPr lang="en-US" altLang="en-US" dirty="0" smtClean="0">
                <a:sym typeface="Symbol" pitchFamily="18" charset="2"/>
              </a:rPr>
              <a:t>The first-order conditions: </a:t>
            </a:r>
          </a:p>
          <a:p>
            <a:pPr algn="ctr">
              <a:lnSpc>
                <a:spcPct val="110000"/>
              </a:lnSpc>
              <a:buFontTx/>
              <a:buNone/>
            </a:pP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b="1" dirty="0" smtClean="0">
                <a:solidFill>
                  <a:srgbClr val="FF0000"/>
                </a:solidFill>
                <a:latin typeface="Times New Roman" panose="02020603050405020304" pitchFamily="18" charset="0"/>
                <a:ea typeface="Arial Unicode MS" pitchFamily="34" charset="-128"/>
                <a:cs typeface="Times New Roman" panose="02020603050405020304" pitchFamily="18" charset="0"/>
              </a:rPr>
              <a:t>ℒ</a:t>
            </a:r>
            <a:r>
              <a:rPr lang="en-US" altLang="en-US" sz="2800" b="1" dirty="0" smtClean="0">
                <a:solidFill>
                  <a:srgbClr val="FF0000"/>
                </a:solidFill>
                <a:latin typeface="Times New Roman" panose="02020603050405020304" pitchFamily="18" charset="0"/>
                <a:cs typeface="Times New Roman" panose="02020603050405020304" pitchFamily="18" charset="0"/>
                <a:sym typeface="Symbol" pitchFamily="18" charset="2"/>
              </a:rPr>
              <a:t> </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i="1"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sz="2800" i="1" dirty="0" smtClean="0">
                <a:solidFill>
                  <a:srgbClr val="FF0000"/>
                </a:solidFill>
                <a:latin typeface="Times New Roman" panose="02020603050405020304" pitchFamily="18" charset="0"/>
                <a:cs typeface="Times New Roman" panose="02020603050405020304" pitchFamily="18" charset="0"/>
                <a:sym typeface="Symbol" pitchFamily="18" charset="2"/>
              </a:rPr>
              <a:t>U</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i="1"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 -  = 0</a:t>
            </a:r>
          </a:p>
          <a:p>
            <a:pPr algn="ctr">
              <a:lnSpc>
                <a:spcPct val="120000"/>
              </a:lnSpc>
              <a:buFontTx/>
              <a:buNone/>
            </a:pP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b="1" dirty="0" smtClean="0">
                <a:solidFill>
                  <a:srgbClr val="FF0000"/>
                </a:solidFill>
                <a:latin typeface="Times New Roman" panose="02020603050405020304" pitchFamily="18" charset="0"/>
                <a:ea typeface="Arial Unicode MS" pitchFamily="34" charset="-128"/>
                <a:cs typeface="Times New Roman" panose="02020603050405020304" pitchFamily="18" charset="0"/>
              </a:rPr>
              <a:t>ℒ</a:t>
            </a:r>
            <a:r>
              <a:rPr lang="en-US" altLang="en-US" sz="2800" b="1" dirty="0" smtClean="0">
                <a:solidFill>
                  <a:srgbClr val="FF0000"/>
                </a:solidFill>
                <a:latin typeface="Times New Roman" panose="02020603050405020304" pitchFamily="18" charset="0"/>
                <a:cs typeface="Times New Roman" panose="02020603050405020304" pitchFamily="18" charset="0"/>
              </a:rPr>
              <a:t> </a:t>
            </a:r>
            <a:r>
              <a:rPr lang="en-US" altLang="en-US" sz="2800" dirty="0" smtClean="0">
                <a:solidFill>
                  <a:srgbClr val="FF0000"/>
                </a:solidFill>
                <a:latin typeface="Times New Roman" panose="02020603050405020304" pitchFamily="18" charset="0"/>
                <a:cs typeface="Times New Roman" panose="02020603050405020304" pitchFamily="18" charset="0"/>
              </a:rPr>
              <a:t>/</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i="1" dirty="0" smtClean="0">
                <a:solidFill>
                  <a:srgbClr val="FF0000"/>
                </a:solidFill>
                <a:latin typeface="Times New Roman" panose="02020603050405020304" pitchFamily="18" charset="0"/>
                <a:cs typeface="Times New Roman" panose="02020603050405020304" pitchFamily="18" charset="0"/>
              </a:rPr>
              <a:t>h</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i="1" dirty="0" smtClean="0">
                <a:solidFill>
                  <a:srgbClr val="FF0000"/>
                </a:solidFill>
                <a:latin typeface="Times New Roman" panose="02020603050405020304" pitchFamily="18" charset="0"/>
                <a:cs typeface="Times New Roman" panose="02020603050405020304" pitchFamily="18" charset="0"/>
              </a:rPr>
              <a:t>U</a:t>
            </a:r>
            <a:r>
              <a:rPr lang="en-US" altLang="en-US" sz="2800" dirty="0" smtClean="0">
                <a:solidFill>
                  <a:srgbClr val="FF0000"/>
                </a:solidFill>
                <a:latin typeface="Times New Roman" panose="02020603050405020304" pitchFamily="18" charset="0"/>
                <a:cs typeface="Times New Roman" panose="02020603050405020304" pitchFamily="18" charset="0"/>
              </a:rPr>
              <a:t>/</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i="1" dirty="0" smtClean="0">
                <a:solidFill>
                  <a:srgbClr val="FF0000"/>
                </a:solidFill>
                <a:latin typeface="Times New Roman" panose="02020603050405020304" pitchFamily="18" charset="0"/>
                <a:cs typeface="Times New Roman" panose="02020603050405020304" pitchFamily="18" charset="0"/>
              </a:rPr>
              <a:t>h</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dirty="0" smtClean="0">
                <a:solidFill>
                  <a:srgbClr val="FF0000"/>
                </a:solidFill>
                <a:latin typeface="Times New Roman" panose="02020603050405020304" pitchFamily="18" charset="0"/>
                <a:cs typeface="Times New Roman" panose="02020603050405020304" pitchFamily="18" charset="0"/>
              </a:rPr>
              <a:t> = 0</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595F56F-49DE-4472-8094-E15B4B7C1946}" type="slidenum">
              <a:rPr lang="en-US" smtClean="0"/>
              <a:pPr>
                <a:defRPr/>
              </a:pPr>
              <a:t>5</a:t>
            </a:fld>
            <a:endParaRPr lang="en-US"/>
          </a:p>
        </p:txBody>
      </p:sp>
    </p:spTree>
    <p:extLst>
      <p:ext uri="{BB962C8B-B14F-4D97-AF65-F5344CB8AC3E}">
        <p14:creationId xmlns:p14="http://schemas.microsoft.com/office/powerpoint/2010/main" val="9362632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smtClean="0"/>
              <a:t>Utility Maximization</a:t>
            </a:r>
          </a:p>
        </p:txBody>
      </p:sp>
      <p:sp>
        <p:nvSpPr>
          <p:cNvPr id="1028" name="Rectangle 3"/>
          <p:cNvSpPr>
            <a:spLocks noGrp="1" noChangeArrowheads="1"/>
          </p:cNvSpPr>
          <p:nvPr>
            <p:ph idx="1"/>
          </p:nvPr>
        </p:nvSpPr>
        <p:spPr/>
        <p:txBody>
          <a:bodyPr/>
          <a:lstStyle/>
          <a:p>
            <a:r>
              <a:rPr lang="en-US" altLang="en-US" dirty="0" smtClean="0"/>
              <a:t>Dividing </a:t>
            </a:r>
            <a:r>
              <a:rPr lang="en-US" altLang="en-US" dirty="0" smtClean="0"/>
              <a:t>the two, we get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02C9D521-95D7-4DE2-9F87-4FC09DCCEFC6}" type="slidenum">
              <a:rPr lang="en-US" smtClean="0"/>
              <a:pPr>
                <a:defRPr/>
              </a:pPr>
              <a:t>6</a:t>
            </a:fld>
            <a:endParaRPr lang="en-US"/>
          </a:p>
        </p:txBody>
      </p:sp>
      <p:sp>
        <p:nvSpPr>
          <p:cNvPr id="2" name="Text Placeholder 1"/>
          <p:cNvSpPr>
            <a:spLocks noGrp="1"/>
          </p:cNvSpPr>
          <p:nvPr>
            <p:ph type="body" sz="quarter" idx="12"/>
          </p:nvPr>
        </p:nvSpPr>
        <p:spPr>
          <a:xfrm>
            <a:off x="381000" y="2819400"/>
            <a:ext cx="8534400" cy="3429000"/>
          </a:xfrm>
        </p:spPr>
        <p:txBody>
          <a:bodyPr>
            <a:normAutofit/>
          </a:bodyPr>
          <a:lstStyle/>
          <a:p>
            <a:pPr eaLnBrk="0" hangingPunct="0">
              <a:defRPr/>
            </a:pPr>
            <a:r>
              <a:rPr lang="en-US" sz="3200" dirty="0"/>
              <a:t>Utility-maximizing labor supply decision</a:t>
            </a:r>
            <a:endParaRPr lang="en-US" sz="3200" kern="0" dirty="0"/>
          </a:p>
          <a:p>
            <a:pPr lvl="1" eaLnBrk="0" hangingPunct="0">
              <a:buFont typeface="Arial" charset="0"/>
              <a:buChar char="–"/>
              <a:defRPr/>
            </a:pPr>
            <a:r>
              <a:rPr lang="en-US" sz="3000" kern="0" dirty="0"/>
              <a:t>To maximize utility, the individual should choose to work that number of hours for which the </a:t>
            </a:r>
            <a:r>
              <a:rPr lang="en-US" sz="3000" i="1" kern="0" dirty="0"/>
              <a:t>MRS</a:t>
            </a:r>
            <a:r>
              <a:rPr lang="en-US" sz="3000" kern="0" dirty="0"/>
              <a:t> (of </a:t>
            </a:r>
            <a:r>
              <a:rPr lang="en-US" sz="3000" i="1" kern="0" dirty="0"/>
              <a:t>h</a:t>
            </a:r>
            <a:r>
              <a:rPr lang="en-US" sz="3000" kern="0" dirty="0"/>
              <a:t> for </a:t>
            </a:r>
            <a:r>
              <a:rPr lang="en-US" sz="3000" i="1" kern="0" dirty="0"/>
              <a:t>c</a:t>
            </a:r>
            <a:r>
              <a:rPr lang="en-US" sz="3000" kern="0" dirty="0"/>
              <a:t>) is equal to </a:t>
            </a:r>
            <a:r>
              <a:rPr lang="en-US" sz="3000" i="1" kern="0" dirty="0"/>
              <a:t>w</a:t>
            </a:r>
            <a:endParaRPr lang="en-US" sz="3000" kern="0" dirty="0"/>
          </a:p>
          <a:p>
            <a:pPr lvl="2" eaLnBrk="0" hangingPunct="0">
              <a:buSzPct val="90000"/>
              <a:buFontTx/>
              <a:buChar char="–"/>
              <a:defRPr/>
            </a:pPr>
            <a:r>
              <a:rPr lang="en-US" kern="0" dirty="0">
                <a:sym typeface="Symbol" pitchFamily="18" charset="2"/>
              </a:rPr>
              <a:t>To be a true maximum, the </a:t>
            </a:r>
            <a:r>
              <a:rPr lang="en-US" i="1" kern="0" dirty="0"/>
              <a:t>MRS</a:t>
            </a:r>
            <a:r>
              <a:rPr lang="en-US" kern="0" dirty="0"/>
              <a:t> (of </a:t>
            </a:r>
            <a:r>
              <a:rPr lang="en-US" i="1" kern="0" dirty="0"/>
              <a:t>h</a:t>
            </a:r>
            <a:r>
              <a:rPr lang="en-US" kern="0" dirty="0"/>
              <a:t> for </a:t>
            </a:r>
            <a:r>
              <a:rPr lang="en-US" i="1" kern="0" dirty="0"/>
              <a:t>c</a:t>
            </a:r>
            <a:r>
              <a:rPr lang="en-US" kern="0" dirty="0"/>
              <a:t>) must be </a:t>
            </a:r>
            <a:r>
              <a:rPr lang="en-US" kern="0" dirty="0" smtClean="0"/>
              <a:t>diminishing</a:t>
            </a:r>
            <a:endParaRPr lang="en-US" kern="0" dirty="0"/>
          </a:p>
        </p:txBody>
      </p:sp>
      <p:graphicFrame>
        <p:nvGraphicFramePr>
          <p:cNvPr id="1381380" name="Object 2"/>
          <p:cNvGraphicFramePr>
            <a:graphicFrameLocks noChangeAspect="1"/>
          </p:cNvGraphicFramePr>
          <p:nvPr>
            <p:extLst>
              <p:ext uri="{D42A27DB-BD31-4B8C-83A1-F6EECF244321}">
                <p14:modId xmlns:p14="http://schemas.microsoft.com/office/powerpoint/2010/main" val="1301458937"/>
              </p:ext>
            </p:extLst>
          </p:nvPr>
        </p:nvGraphicFramePr>
        <p:xfrm>
          <a:off x="2360613" y="1757362"/>
          <a:ext cx="4484687" cy="985838"/>
        </p:xfrm>
        <a:graphic>
          <a:graphicData uri="http://schemas.openxmlformats.org/presentationml/2006/ole">
            <mc:AlternateContent xmlns:mc="http://schemas.openxmlformats.org/markup-compatibility/2006">
              <mc:Choice xmlns:v="urn:schemas-microsoft-com:vml" Requires="v">
                <p:oleObj spid="_x0000_s343056" name="Equation" r:id="rId3" imgW="1790640" imgH="393480" progId="Equation.DSMT4">
                  <p:embed/>
                </p:oleObj>
              </mc:Choice>
              <mc:Fallback>
                <p:oleObj name="Equation" r:id="rId3" imgW="179064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0613" y="1757362"/>
                        <a:ext cx="4484687"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1" name="Rectangle 5"/>
          <p:cNvSpPr>
            <a:spLocks noChangeArrowheads="1"/>
          </p:cNvSpPr>
          <p:nvPr/>
        </p:nvSpPr>
        <p:spPr bwMode="auto">
          <a:xfrm>
            <a:off x="762000" y="3810000"/>
            <a:ext cx="8001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spcBef>
                <a:spcPct val="20000"/>
              </a:spcBef>
              <a:buFontTx/>
              <a:buChar char="•"/>
            </a:pPr>
            <a:endParaRPr lang="en-US" altLang="en-US" sz="2800">
              <a:solidFill>
                <a:srgbClr val="394DA3"/>
              </a:solidFill>
            </a:endParaRPr>
          </a:p>
        </p:txBody>
      </p:sp>
    </p:spTree>
    <p:extLst>
      <p:ext uri="{BB962C8B-B14F-4D97-AF65-F5344CB8AC3E}">
        <p14:creationId xmlns:p14="http://schemas.microsoft.com/office/powerpoint/2010/main" val="42689653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81380"/>
                                        </p:tgtEl>
                                        <p:attrNameLst>
                                          <p:attrName>style.visibility</p:attrName>
                                        </p:attrNameLst>
                                      </p:cBhvr>
                                      <p:to>
                                        <p:strVal val="visible"/>
                                      </p:to>
                                    </p:set>
                                    <p:animEffect transition="in" filter="wipe(left)">
                                      <p:cBhvr>
                                        <p:cTn id="7" dur="500"/>
                                        <p:tgtEl>
                                          <p:spTgt spid="138138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nSpc>
                <a:spcPct val="90000"/>
              </a:lnSpc>
            </a:pPr>
            <a:r>
              <a:rPr lang="en-US" altLang="en-US" smtClean="0"/>
              <a:t>Income and Substitution Effects</a:t>
            </a:r>
          </a:p>
        </p:txBody>
      </p:sp>
      <p:sp>
        <p:nvSpPr>
          <p:cNvPr id="26627" name="Rectangle 3"/>
          <p:cNvSpPr>
            <a:spLocks noGrp="1" noChangeArrowheads="1"/>
          </p:cNvSpPr>
          <p:nvPr>
            <p:ph idx="1"/>
          </p:nvPr>
        </p:nvSpPr>
        <p:spPr/>
        <p:txBody>
          <a:bodyPr/>
          <a:lstStyle/>
          <a:p>
            <a:r>
              <a:rPr lang="en-US" altLang="en-US" dirty="0" smtClean="0"/>
              <a:t>Both a substitution effect and an income effect occur when </a:t>
            </a:r>
            <a:r>
              <a:rPr lang="en-US" altLang="en-US" i="1" dirty="0" smtClean="0">
                <a:latin typeface="Times New Roman" panose="02020603050405020304" pitchFamily="18" charset="0"/>
                <a:cs typeface="Times New Roman" panose="02020603050405020304" pitchFamily="18" charset="0"/>
              </a:rPr>
              <a:t>w</a:t>
            </a:r>
            <a:r>
              <a:rPr lang="en-US" altLang="en-US" i="1" dirty="0" smtClean="0"/>
              <a:t> </a:t>
            </a:r>
            <a:r>
              <a:rPr lang="en-US" altLang="en-US" dirty="0" smtClean="0"/>
              <a:t>changes</a:t>
            </a:r>
          </a:p>
          <a:p>
            <a:pPr lvl="1"/>
            <a:r>
              <a:rPr lang="en-US" altLang="en-US" dirty="0" smtClean="0"/>
              <a:t>When </a:t>
            </a:r>
            <a:r>
              <a:rPr lang="en-US" altLang="en-US" i="1" dirty="0" smtClean="0">
                <a:latin typeface="Times New Roman" panose="02020603050405020304" pitchFamily="18" charset="0"/>
                <a:cs typeface="Times New Roman" panose="02020603050405020304" pitchFamily="18" charset="0"/>
              </a:rPr>
              <a:t>w</a:t>
            </a:r>
            <a:r>
              <a:rPr lang="en-US" altLang="en-US" dirty="0" smtClean="0"/>
              <a:t> rises, the price of leisure rises </a:t>
            </a:r>
          </a:p>
          <a:p>
            <a:pPr lvl="2"/>
            <a:r>
              <a:rPr lang="en-US" altLang="en-US" dirty="0" smtClean="0"/>
              <a:t>And the individual will choose less leisure</a:t>
            </a:r>
          </a:p>
          <a:p>
            <a:pPr lvl="1"/>
            <a:r>
              <a:rPr lang="en-US" altLang="en-US" dirty="0" smtClean="0"/>
              <a:t>Because leisure is a normal good</a:t>
            </a:r>
          </a:p>
          <a:p>
            <a:pPr lvl="2"/>
            <a:r>
              <a:rPr lang="en-US" altLang="en-US" dirty="0" smtClean="0"/>
              <a:t>An increase in </a:t>
            </a:r>
            <a:r>
              <a:rPr lang="en-US" altLang="en-US" i="1" dirty="0" smtClean="0">
                <a:latin typeface="Times New Roman" panose="02020603050405020304" pitchFamily="18" charset="0"/>
                <a:cs typeface="Times New Roman" panose="02020603050405020304" pitchFamily="18" charset="0"/>
              </a:rPr>
              <a:t>w</a:t>
            </a:r>
            <a:r>
              <a:rPr lang="en-US" altLang="en-US" dirty="0" smtClean="0"/>
              <a:t> leads to an increase in leisure</a:t>
            </a:r>
          </a:p>
          <a:p>
            <a:r>
              <a:rPr lang="en-US" altLang="en-US" dirty="0" smtClean="0"/>
              <a:t>The income and substitution effects </a:t>
            </a:r>
          </a:p>
          <a:p>
            <a:pPr lvl="1"/>
            <a:r>
              <a:rPr lang="en-US" altLang="en-US" dirty="0" smtClean="0"/>
              <a:t>Move in opposite directions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C129AD6-2F9C-4156-97B0-380C8C2B2183}" type="slidenum">
              <a:rPr lang="en-US" smtClean="0"/>
              <a:pPr>
                <a:defRPr/>
              </a:pPr>
              <a:t>7</a:t>
            </a:fld>
            <a:endParaRPr lang="en-US"/>
          </a:p>
        </p:txBody>
      </p:sp>
    </p:spTree>
    <p:extLst>
      <p:ext uri="{BB962C8B-B14F-4D97-AF65-F5344CB8AC3E}">
        <p14:creationId xmlns:p14="http://schemas.microsoft.com/office/powerpoint/2010/main" val="3566570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xfrm>
            <a:off x="1143000" y="-1"/>
            <a:ext cx="8001000" cy="1000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16.1	Income and Substitution Effects of a </a:t>
            </a:r>
            <a:r>
              <a:rPr lang="en-US" altLang="en-US" dirty="0" smtClean="0"/>
              <a:t>Change</a:t>
            </a:r>
            <a:br>
              <a:rPr lang="en-US" altLang="en-US" dirty="0" smtClean="0"/>
            </a:br>
            <a:r>
              <a:rPr lang="en-US" altLang="en-US" dirty="0" smtClean="0"/>
              <a:t>	</a:t>
            </a:r>
            <a:r>
              <a:rPr lang="en-US" altLang="en-US" dirty="0" smtClean="0">
                <a:solidFill>
                  <a:srgbClr val="002D56"/>
                </a:solidFill>
              </a:rPr>
              <a:t> </a:t>
            </a:r>
            <a:r>
              <a:rPr lang="en-US" altLang="en-US" dirty="0">
                <a:solidFill>
                  <a:srgbClr val="002D56"/>
                </a:solidFill>
              </a:rPr>
              <a:t>in the Real Wage Rate </a:t>
            </a:r>
            <a:r>
              <a:rPr lang="en-US" altLang="en-US" dirty="0" smtClean="0">
                <a:solidFill>
                  <a:srgbClr val="002D56"/>
                </a:solidFill>
              </a:rPr>
              <a:t>w</a:t>
            </a:r>
            <a:endParaRPr lang="en-US" altLang="en-US" dirty="0" smtClean="0">
              <a:solidFill>
                <a:srgbClr val="002D56"/>
              </a:solidFill>
            </a:endParaRPr>
          </a:p>
        </p:txBody>
      </p:sp>
      <p:sp>
        <p:nvSpPr>
          <p:cNvPr id="27651" name="Text Placeholder 2"/>
          <p:cNvSpPr>
            <a:spLocks noGrp="1"/>
          </p:cNvSpPr>
          <p:nvPr>
            <p:ph sz="half" idx="1"/>
          </p:nvPr>
        </p:nvSpPr>
        <p:spPr>
          <a:xfrm>
            <a:off x="10660" y="4733925"/>
            <a:ext cx="9012690" cy="1666875"/>
          </a:xfrm>
        </p:spPr>
        <p:txBody>
          <a:bodyPr>
            <a:normAutofit lnSpcReduction="10000"/>
          </a:bodyPr>
          <a:lstStyle/>
          <a:p>
            <a:pPr>
              <a:spcBef>
                <a:spcPct val="0"/>
              </a:spcBef>
            </a:pPr>
            <a:r>
              <a:rPr lang="en-US" altLang="en-US" dirty="0"/>
              <a:t>Because the individual is a supplier of labor, the income and substitution effects of an increase in the real wage rate (w) work in opposite directions in their effects on the hours of leisure demanded (or on hours of work). In (a) the substitution effect (movement to point S) outweighs the income effect, and a higher wage causes hours of leisure to decrease to h</a:t>
            </a:r>
            <a:r>
              <a:rPr lang="en-US" altLang="en-US" baseline="-25000" dirty="0"/>
              <a:t>1</a:t>
            </a:r>
            <a:r>
              <a:rPr lang="en-US" altLang="en-US" dirty="0"/>
              <a:t>. Therefore, hours of work increase. In (b) the income effect is stronger than the substitution effect, and h increases to h</a:t>
            </a:r>
            <a:r>
              <a:rPr lang="en-US" altLang="en-US" baseline="-25000" dirty="0"/>
              <a:t>1</a:t>
            </a:r>
            <a:r>
              <a:rPr lang="en-US" altLang="en-US" dirty="0"/>
              <a:t>. In this case, hours of work decrease</a:t>
            </a:r>
            <a:r>
              <a:rPr lang="en-US" altLang="en-US" dirty="0" smtClean="0"/>
              <a:t>.</a:t>
            </a:r>
            <a:endParaRPr lang="en-US" altLang="en-US" dirty="0"/>
          </a:p>
        </p:txBody>
      </p:sp>
      <p:sp>
        <p:nvSpPr>
          <p:cNvPr id="2765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D858C771-E3C6-4A49-A6E1-16A46B284EE3}" type="slidenum">
              <a:rPr lang="en-US" smtClean="0"/>
              <a:pPr>
                <a:defRPr/>
              </a:pPr>
              <a:t>8</a:t>
            </a:fld>
            <a:endParaRPr lang="en-US" dirty="0"/>
          </a:p>
        </p:txBody>
      </p:sp>
      <p:grpSp>
        <p:nvGrpSpPr>
          <p:cNvPr id="14" name="Group 27"/>
          <p:cNvGrpSpPr>
            <a:grpSpLocks/>
          </p:cNvGrpSpPr>
          <p:nvPr/>
        </p:nvGrpSpPr>
        <p:grpSpPr bwMode="auto">
          <a:xfrm>
            <a:off x="180975" y="852592"/>
            <a:ext cx="4613275" cy="3954359"/>
            <a:chOff x="180274" y="1163355"/>
            <a:chExt cx="4614636" cy="3955476"/>
          </a:xfrm>
        </p:grpSpPr>
        <p:grpSp>
          <p:nvGrpSpPr>
            <p:cNvPr id="27735" name="Group 26"/>
            <p:cNvGrpSpPr>
              <a:grpSpLocks/>
            </p:cNvGrpSpPr>
            <p:nvPr/>
          </p:nvGrpSpPr>
          <p:grpSpPr bwMode="auto">
            <a:xfrm>
              <a:off x="714499" y="4726388"/>
              <a:ext cx="4080411" cy="392443"/>
              <a:chOff x="726374" y="5035138"/>
              <a:chExt cx="4080411" cy="392443"/>
            </a:xfrm>
          </p:grpSpPr>
          <p:sp>
            <p:nvSpPr>
              <p:cNvPr id="27739" name="Line 6"/>
              <p:cNvSpPr>
                <a:spLocks noChangeShapeType="1"/>
              </p:cNvSpPr>
              <p:nvPr/>
            </p:nvSpPr>
            <p:spPr bwMode="auto">
              <a:xfrm>
                <a:off x="726374" y="5035138"/>
                <a:ext cx="364374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40" name="Text Box 7"/>
              <p:cNvSpPr txBox="1">
                <a:spLocks noChangeArrowheads="1"/>
              </p:cNvSpPr>
              <p:nvPr/>
            </p:nvSpPr>
            <p:spPr bwMode="auto">
              <a:xfrm>
                <a:off x="3873335" y="5060868"/>
                <a:ext cx="933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Leisure</a:t>
                </a:r>
              </a:p>
            </p:txBody>
          </p:sp>
        </p:grpSp>
        <p:grpSp>
          <p:nvGrpSpPr>
            <p:cNvPr id="27736" name="Group 25"/>
            <p:cNvGrpSpPr>
              <a:grpSpLocks/>
            </p:cNvGrpSpPr>
            <p:nvPr/>
          </p:nvGrpSpPr>
          <p:grpSpPr bwMode="auto">
            <a:xfrm>
              <a:off x="180274" y="1163355"/>
              <a:ext cx="1530350" cy="3563024"/>
              <a:chOff x="180274" y="1163355"/>
              <a:chExt cx="1530350" cy="3563024"/>
            </a:xfrm>
          </p:grpSpPr>
          <p:sp>
            <p:nvSpPr>
              <p:cNvPr id="27737" name="Line 5"/>
              <p:cNvSpPr>
                <a:spLocks noChangeShapeType="1"/>
              </p:cNvSpPr>
              <p:nvPr/>
            </p:nvSpPr>
            <p:spPr bwMode="auto">
              <a:xfrm flipH="1">
                <a:off x="724395" y="1529938"/>
                <a:ext cx="1979" cy="319644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38" name="Text Box 8"/>
              <p:cNvSpPr txBox="1">
                <a:spLocks noChangeArrowheads="1"/>
              </p:cNvSpPr>
              <p:nvPr/>
            </p:nvSpPr>
            <p:spPr bwMode="auto">
              <a:xfrm>
                <a:off x="180274" y="1163355"/>
                <a:ext cx="153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t>Consumption</a:t>
                </a:r>
              </a:p>
            </p:txBody>
          </p:sp>
        </p:grpSp>
      </p:grpSp>
      <p:grpSp>
        <p:nvGrpSpPr>
          <p:cNvPr id="27" name="Group 29"/>
          <p:cNvGrpSpPr>
            <a:grpSpLocks/>
          </p:cNvGrpSpPr>
          <p:nvPr/>
        </p:nvGrpSpPr>
        <p:grpSpPr bwMode="auto">
          <a:xfrm>
            <a:off x="1317625" y="1935163"/>
            <a:ext cx="2973388" cy="2443162"/>
            <a:chOff x="1162792" y="2151414"/>
            <a:chExt cx="2974452" cy="2442986"/>
          </a:xfrm>
        </p:grpSpPr>
        <p:sp>
          <p:nvSpPr>
            <p:cNvPr id="27733" name="Text Box 3"/>
            <p:cNvSpPr txBox="1">
              <a:spLocks noChangeArrowheads="1"/>
            </p:cNvSpPr>
            <p:nvPr/>
          </p:nvSpPr>
          <p:spPr bwMode="auto">
            <a:xfrm>
              <a:off x="3729256" y="4257850"/>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U</a:t>
              </a:r>
              <a:r>
                <a:rPr lang="en-US" altLang="en-US" sz="1600" baseline="-25000">
                  <a:solidFill>
                    <a:srgbClr val="5D0D8F"/>
                  </a:solidFill>
                </a:rPr>
                <a:t>0</a:t>
              </a:r>
              <a:endParaRPr lang="en-US" altLang="en-US" sz="1600">
                <a:solidFill>
                  <a:srgbClr val="5D0D8F"/>
                </a:solidFill>
              </a:endParaRPr>
            </a:p>
          </p:txBody>
        </p:sp>
        <p:sp>
          <p:nvSpPr>
            <p:cNvPr id="27734" name="Freeform 10"/>
            <p:cNvSpPr>
              <a:spLocks/>
            </p:cNvSpPr>
            <p:nvPr/>
          </p:nvSpPr>
          <p:spPr bwMode="auto">
            <a:xfrm>
              <a:off x="1162792" y="2151414"/>
              <a:ext cx="2588789" cy="2280430"/>
            </a:xfrm>
            <a:custGeom>
              <a:avLst/>
              <a:gdLst>
                <a:gd name="T0" fmla="*/ 0 w 1824"/>
                <a:gd name="T1" fmla="*/ 0 h 1488"/>
                <a:gd name="T2" fmla="*/ 432 w 1824"/>
                <a:gd name="T3" fmla="*/ 1008 h 1488"/>
                <a:gd name="T4" fmla="*/ 1824 w 1824"/>
                <a:gd name="T5" fmla="*/ 1488 h 1488"/>
                <a:gd name="T6" fmla="*/ 0 60000 65536"/>
                <a:gd name="T7" fmla="*/ 0 60000 65536"/>
                <a:gd name="T8" fmla="*/ 0 60000 65536"/>
                <a:gd name="T9" fmla="*/ 0 w 1824"/>
                <a:gd name="T10" fmla="*/ 0 h 1488"/>
                <a:gd name="T11" fmla="*/ 1824 w 1824"/>
                <a:gd name="T12" fmla="*/ 1488 h 1488"/>
              </a:gdLst>
              <a:ahLst/>
              <a:cxnLst>
                <a:cxn ang="T6">
                  <a:pos x="T0" y="T1"/>
                </a:cxn>
                <a:cxn ang="T7">
                  <a:pos x="T2" y="T3"/>
                </a:cxn>
                <a:cxn ang="T8">
                  <a:pos x="T4" y="T5"/>
                </a:cxn>
              </a:cxnLst>
              <a:rect l="T9" t="T10" r="T11" b="T12"/>
              <a:pathLst>
                <a:path w="1824" h="1488">
                  <a:moveTo>
                    <a:pt x="0" y="0"/>
                  </a:moveTo>
                  <a:cubicBezTo>
                    <a:pt x="64" y="380"/>
                    <a:pt x="128" y="760"/>
                    <a:pt x="432" y="1008"/>
                  </a:cubicBezTo>
                  <a:cubicBezTo>
                    <a:pt x="736" y="1256"/>
                    <a:pt x="1280" y="1372"/>
                    <a:pt x="1824" y="1488"/>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8" name="Group 28"/>
          <p:cNvGrpSpPr>
            <a:grpSpLocks/>
          </p:cNvGrpSpPr>
          <p:nvPr/>
        </p:nvGrpSpPr>
        <p:grpSpPr bwMode="auto">
          <a:xfrm>
            <a:off x="1454150" y="1295400"/>
            <a:ext cx="2873375" cy="2447925"/>
            <a:chOff x="1453749" y="1606138"/>
            <a:chExt cx="2874012" cy="2448264"/>
          </a:xfrm>
        </p:grpSpPr>
        <p:sp>
          <p:nvSpPr>
            <p:cNvPr id="27731" name="Text Box 4"/>
            <p:cNvSpPr txBox="1">
              <a:spLocks noChangeArrowheads="1"/>
            </p:cNvSpPr>
            <p:nvPr/>
          </p:nvSpPr>
          <p:spPr bwMode="auto">
            <a:xfrm>
              <a:off x="3919773" y="3717852"/>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U</a:t>
              </a:r>
              <a:r>
                <a:rPr lang="en-US" altLang="en-US" sz="1600" baseline="-25000">
                  <a:solidFill>
                    <a:srgbClr val="5D0D8F"/>
                  </a:solidFill>
                </a:rPr>
                <a:t>1</a:t>
              </a:r>
              <a:endParaRPr lang="en-US" altLang="en-US" sz="1600">
                <a:solidFill>
                  <a:srgbClr val="5D0D8F"/>
                </a:solidFill>
              </a:endParaRPr>
            </a:p>
          </p:txBody>
        </p:sp>
        <p:sp>
          <p:nvSpPr>
            <p:cNvPr id="27732" name="Freeform 14"/>
            <p:cNvSpPr>
              <a:spLocks/>
            </p:cNvSpPr>
            <p:nvPr/>
          </p:nvSpPr>
          <p:spPr bwMode="auto">
            <a:xfrm>
              <a:off x="1453749" y="1606138"/>
              <a:ext cx="2452207" cy="2243373"/>
            </a:xfrm>
            <a:custGeom>
              <a:avLst/>
              <a:gdLst>
                <a:gd name="T0" fmla="*/ 0 w 1824"/>
                <a:gd name="T1" fmla="*/ 0 h 1488"/>
                <a:gd name="T2" fmla="*/ 432 w 1824"/>
                <a:gd name="T3" fmla="*/ 1008 h 1488"/>
                <a:gd name="T4" fmla="*/ 1824 w 1824"/>
                <a:gd name="T5" fmla="*/ 1488 h 1488"/>
                <a:gd name="T6" fmla="*/ 0 60000 65536"/>
                <a:gd name="T7" fmla="*/ 0 60000 65536"/>
                <a:gd name="T8" fmla="*/ 0 60000 65536"/>
                <a:gd name="T9" fmla="*/ 0 w 1824"/>
                <a:gd name="T10" fmla="*/ 0 h 1488"/>
                <a:gd name="T11" fmla="*/ 1824 w 1824"/>
                <a:gd name="T12" fmla="*/ 1488 h 1488"/>
              </a:gdLst>
              <a:ahLst/>
              <a:cxnLst>
                <a:cxn ang="T6">
                  <a:pos x="T0" y="T1"/>
                </a:cxn>
                <a:cxn ang="T7">
                  <a:pos x="T2" y="T3"/>
                </a:cxn>
                <a:cxn ang="T8">
                  <a:pos x="T4" y="T5"/>
                </a:cxn>
              </a:cxnLst>
              <a:rect l="T9" t="T10" r="T11" b="T12"/>
              <a:pathLst>
                <a:path w="1824" h="1488">
                  <a:moveTo>
                    <a:pt x="0" y="0"/>
                  </a:moveTo>
                  <a:cubicBezTo>
                    <a:pt x="64" y="380"/>
                    <a:pt x="128" y="760"/>
                    <a:pt x="432" y="1008"/>
                  </a:cubicBezTo>
                  <a:cubicBezTo>
                    <a:pt x="736" y="1256"/>
                    <a:pt x="1280" y="1372"/>
                    <a:pt x="1824" y="1488"/>
                  </a:cubicBezTo>
                </a:path>
              </a:pathLst>
            </a:custGeom>
            <a:noFill/>
            <a:ln w="38100"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9" name="Line 19"/>
          <p:cNvSpPr>
            <a:spLocks noChangeShapeType="1"/>
          </p:cNvSpPr>
          <p:nvPr/>
        </p:nvSpPr>
        <p:spPr bwMode="auto">
          <a:xfrm flipH="1" flipV="1">
            <a:off x="838200" y="2341563"/>
            <a:ext cx="1687513" cy="1782762"/>
          </a:xfrm>
          <a:prstGeom prst="line">
            <a:avLst/>
          </a:prstGeom>
          <a:noFill/>
          <a:ln w="38100">
            <a:solidFill>
              <a:srgbClr val="C00000"/>
            </a:solidFill>
            <a:prstDash val="solid"/>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29" name="Group 32"/>
          <p:cNvGrpSpPr>
            <a:grpSpLocks/>
          </p:cNvGrpSpPr>
          <p:nvPr/>
        </p:nvGrpSpPr>
        <p:grpSpPr bwMode="auto">
          <a:xfrm>
            <a:off x="1633538" y="2974975"/>
            <a:ext cx="312737" cy="350838"/>
            <a:chOff x="2000688" y="3465101"/>
            <a:chExt cx="312737" cy="350837"/>
          </a:xfrm>
        </p:grpSpPr>
        <p:sp>
          <p:nvSpPr>
            <p:cNvPr id="27729" name="Oval 20"/>
            <p:cNvSpPr>
              <a:spLocks noChangeArrowheads="1"/>
            </p:cNvSpPr>
            <p:nvPr/>
          </p:nvSpPr>
          <p:spPr bwMode="auto">
            <a:xfrm>
              <a:off x="2097974" y="3739738"/>
              <a:ext cx="76200" cy="76200"/>
            </a:xfrm>
            <a:prstGeom prst="ellipse">
              <a:avLst/>
            </a:prstGeom>
            <a:solidFill>
              <a:schemeClr val="tx1"/>
            </a:solidFill>
            <a:ln w="15875">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600"/>
            </a:p>
          </p:txBody>
        </p:sp>
        <p:sp>
          <p:nvSpPr>
            <p:cNvPr id="27730" name="Text Box 21"/>
            <p:cNvSpPr txBox="1">
              <a:spLocks noChangeArrowheads="1"/>
            </p:cNvSpPr>
            <p:nvPr/>
          </p:nvSpPr>
          <p:spPr bwMode="auto">
            <a:xfrm>
              <a:off x="2000688" y="3465101"/>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S</a:t>
              </a:r>
            </a:p>
          </p:txBody>
        </p:sp>
      </p:grpSp>
      <p:grpSp>
        <p:nvGrpSpPr>
          <p:cNvPr id="30" name="Group 42"/>
          <p:cNvGrpSpPr>
            <a:grpSpLocks/>
          </p:cNvGrpSpPr>
          <p:nvPr/>
        </p:nvGrpSpPr>
        <p:grpSpPr bwMode="auto">
          <a:xfrm>
            <a:off x="403225" y="3567113"/>
            <a:ext cx="1855788" cy="304800"/>
            <a:chOff x="403812" y="4175778"/>
            <a:chExt cx="1855517" cy="304800"/>
          </a:xfrm>
        </p:grpSpPr>
        <p:sp>
          <p:nvSpPr>
            <p:cNvPr id="27727" name="Line 31"/>
            <p:cNvSpPr>
              <a:spLocks noChangeShapeType="1"/>
            </p:cNvSpPr>
            <p:nvPr/>
          </p:nvSpPr>
          <p:spPr bwMode="auto">
            <a:xfrm flipH="1">
              <a:off x="734646" y="4347210"/>
              <a:ext cx="1524683" cy="205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7728" name="Text Box 21"/>
            <p:cNvSpPr txBox="1">
              <a:spLocks noChangeArrowheads="1"/>
            </p:cNvSpPr>
            <p:nvPr/>
          </p:nvSpPr>
          <p:spPr bwMode="auto">
            <a:xfrm>
              <a:off x="403812" y="417577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c</a:t>
              </a:r>
              <a:r>
                <a:rPr lang="en-US" altLang="en-US" sz="1600" i="1" baseline="-25000"/>
                <a:t>0</a:t>
              </a:r>
            </a:p>
          </p:txBody>
        </p:sp>
      </p:grpSp>
      <p:grpSp>
        <p:nvGrpSpPr>
          <p:cNvPr id="31" name="Group 41"/>
          <p:cNvGrpSpPr>
            <a:grpSpLocks/>
          </p:cNvGrpSpPr>
          <p:nvPr/>
        </p:nvGrpSpPr>
        <p:grpSpPr bwMode="auto">
          <a:xfrm>
            <a:off x="403225" y="2571750"/>
            <a:ext cx="1543050" cy="304800"/>
            <a:chOff x="403812" y="2882332"/>
            <a:chExt cx="1542218" cy="304800"/>
          </a:xfrm>
        </p:grpSpPr>
        <p:sp>
          <p:nvSpPr>
            <p:cNvPr id="27725" name="Line 31"/>
            <p:cNvSpPr>
              <a:spLocks noChangeShapeType="1"/>
            </p:cNvSpPr>
            <p:nvPr/>
          </p:nvSpPr>
          <p:spPr bwMode="auto">
            <a:xfrm flipH="1" flipV="1">
              <a:off x="738555" y="3071445"/>
              <a:ext cx="1207475" cy="39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7726" name="Text Box 21"/>
            <p:cNvSpPr txBox="1">
              <a:spLocks noChangeArrowheads="1"/>
            </p:cNvSpPr>
            <p:nvPr/>
          </p:nvSpPr>
          <p:spPr bwMode="auto">
            <a:xfrm>
              <a:off x="403812" y="2882332"/>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c</a:t>
              </a:r>
              <a:r>
                <a:rPr lang="en-US" altLang="en-US" sz="1600" i="1" baseline="-25000"/>
                <a:t>1</a:t>
              </a:r>
            </a:p>
          </p:txBody>
        </p:sp>
      </p:grpSp>
      <p:grpSp>
        <p:nvGrpSpPr>
          <p:cNvPr id="32" name="Group 43"/>
          <p:cNvGrpSpPr>
            <a:grpSpLocks/>
          </p:cNvGrpSpPr>
          <p:nvPr/>
        </p:nvGrpSpPr>
        <p:grpSpPr bwMode="auto">
          <a:xfrm>
            <a:off x="4408488" y="928647"/>
            <a:ext cx="4614862" cy="3884654"/>
            <a:chOff x="180274" y="1234604"/>
            <a:chExt cx="4614636" cy="3884227"/>
          </a:xfrm>
        </p:grpSpPr>
        <p:grpSp>
          <p:nvGrpSpPr>
            <p:cNvPr id="27719" name="Group 26"/>
            <p:cNvGrpSpPr>
              <a:grpSpLocks/>
            </p:cNvGrpSpPr>
            <p:nvPr/>
          </p:nvGrpSpPr>
          <p:grpSpPr bwMode="auto">
            <a:xfrm>
              <a:off x="714499" y="4726388"/>
              <a:ext cx="4080411" cy="392443"/>
              <a:chOff x="726374" y="5035138"/>
              <a:chExt cx="4080411" cy="392443"/>
            </a:xfrm>
          </p:grpSpPr>
          <p:sp>
            <p:nvSpPr>
              <p:cNvPr id="27723" name="Line 6"/>
              <p:cNvSpPr>
                <a:spLocks noChangeShapeType="1"/>
              </p:cNvSpPr>
              <p:nvPr/>
            </p:nvSpPr>
            <p:spPr bwMode="auto">
              <a:xfrm>
                <a:off x="726374" y="5035138"/>
                <a:ext cx="364374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24" name="Text Box 7"/>
              <p:cNvSpPr txBox="1">
                <a:spLocks noChangeArrowheads="1"/>
              </p:cNvSpPr>
              <p:nvPr/>
            </p:nvSpPr>
            <p:spPr bwMode="auto">
              <a:xfrm>
                <a:off x="3873335" y="5060868"/>
                <a:ext cx="933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Leisure</a:t>
                </a:r>
              </a:p>
            </p:txBody>
          </p:sp>
        </p:grpSp>
        <p:grpSp>
          <p:nvGrpSpPr>
            <p:cNvPr id="27720" name="Group 25"/>
            <p:cNvGrpSpPr>
              <a:grpSpLocks/>
            </p:cNvGrpSpPr>
            <p:nvPr/>
          </p:nvGrpSpPr>
          <p:grpSpPr bwMode="auto">
            <a:xfrm>
              <a:off x="180274" y="1234604"/>
              <a:ext cx="1530350" cy="3491775"/>
              <a:chOff x="180274" y="1234604"/>
              <a:chExt cx="1530350" cy="3491775"/>
            </a:xfrm>
          </p:grpSpPr>
          <p:sp>
            <p:nvSpPr>
              <p:cNvPr id="27721" name="Line 5"/>
              <p:cNvSpPr>
                <a:spLocks noChangeShapeType="1"/>
              </p:cNvSpPr>
              <p:nvPr/>
            </p:nvSpPr>
            <p:spPr bwMode="auto">
              <a:xfrm flipH="1">
                <a:off x="724395" y="1529938"/>
                <a:ext cx="1979" cy="319644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22" name="Text Box 8"/>
              <p:cNvSpPr txBox="1">
                <a:spLocks noChangeArrowheads="1"/>
              </p:cNvSpPr>
              <p:nvPr/>
            </p:nvSpPr>
            <p:spPr bwMode="auto">
              <a:xfrm>
                <a:off x="180274" y="1234604"/>
                <a:ext cx="153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t>Consumption</a:t>
                </a:r>
              </a:p>
            </p:txBody>
          </p:sp>
        </p:grpSp>
      </p:grpSp>
      <p:grpSp>
        <p:nvGrpSpPr>
          <p:cNvPr id="37" name="Group 50"/>
          <p:cNvGrpSpPr>
            <a:grpSpLocks/>
          </p:cNvGrpSpPr>
          <p:nvPr/>
        </p:nvGrpSpPr>
        <p:grpSpPr bwMode="auto">
          <a:xfrm>
            <a:off x="5068888" y="1935163"/>
            <a:ext cx="3179762" cy="2166937"/>
            <a:chOff x="686640" y="2145845"/>
            <a:chExt cx="3179671" cy="2166333"/>
          </a:xfrm>
        </p:grpSpPr>
        <p:sp>
          <p:nvSpPr>
            <p:cNvPr id="27717" name="Text Box 3"/>
            <p:cNvSpPr txBox="1">
              <a:spLocks noChangeArrowheads="1"/>
            </p:cNvSpPr>
            <p:nvPr/>
          </p:nvSpPr>
          <p:spPr bwMode="auto">
            <a:xfrm>
              <a:off x="3458323" y="3975628"/>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U</a:t>
              </a:r>
              <a:r>
                <a:rPr lang="en-US" altLang="en-US" sz="1600" baseline="-25000">
                  <a:solidFill>
                    <a:srgbClr val="5D0D8F"/>
                  </a:solidFill>
                </a:rPr>
                <a:t>0</a:t>
              </a:r>
              <a:endParaRPr lang="en-US" altLang="en-US" sz="1600">
                <a:solidFill>
                  <a:srgbClr val="5D0D8F"/>
                </a:solidFill>
              </a:endParaRPr>
            </a:p>
          </p:txBody>
        </p:sp>
        <p:sp>
          <p:nvSpPr>
            <p:cNvPr id="27718" name="Freeform 10"/>
            <p:cNvSpPr>
              <a:spLocks/>
            </p:cNvSpPr>
            <p:nvPr/>
          </p:nvSpPr>
          <p:spPr bwMode="auto">
            <a:xfrm>
              <a:off x="686640" y="2145845"/>
              <a:ext cx="2777067" cy="1998133"/>
            </a:xfrm>
            <a:custGeom>
              <a:avLst/>
              <a:gdLst>
                <a:gd name="T0" fmla="*/ 0 w 1824"/>
                <a:gd name="T1" fmla="*/ 0 h 1488"/>
                <a:gd name="T2" fmla="*/ 432 w 1824"/>
                <a:gd name="T3" fmla="*/ 1008 h 1488"/>
                <a:gd name="T4" fmla="*/ 1824 w 1824"/>
                <a:gd name="T5" fmla="*/ 1488 h 1488"/>
                <a:gd name="T6" fmla="*/ 0 60000 65536"/>
                <a:gd name="T7" fmla="*/ 0 60000 65536"/>
                <a:gd name="T8" fmla="*/ 0 60000 65536"/>
                <a:gd name="T9" fmla="*/ 0 w 1824"/>
                <a:gd name="T10" fmla="*/ 0 h 1488"/>
                <a:gd name="T11" fmla="*/ 1824 w 1824"/>
                <a:gd name="T12" fmla="*/ 1488 h 1488"/>
              </a:gdLst>
              <a:ahLst/>
              <a:cxnLst>
                <a:cxn ang="T6">
                  <a:pos x="T0" y="T1"/>
                </a:cxn>
                <a:cxn ang="T7">
                  <a:pos x="T2" y="T3"/>
                </a:cxn>
                <a:cxn ang="T8">
                  <a:pos x="T4" y="T5"/>
                </a:cxn>
              </a:cxnLst>
              <a:rect l="T9" t="T10" r="T11" b="T12"/>
              <a:pathLst>
                <a:path w="1824" h="1488">
                  <a:moveTo>
                    <a:pt x="0" y="0"/>
                  </a:moveTo>
                  <a:cubicBezTo>
                    <a:pt x="64" y="380"/>
                    <a:pt x="128" y="760"/>
                    <a:pt x="432" y="1008"/>
                  </a:cubicBezTo>
                  <a:cubicBezTo>
                    <a:pt x="736" y="1256"/>
                    <a:pt x="1280" y="1372"/>
                    <a:pt x="1824" y="1488"/>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2" name="Group 54"/>
          <p:cNvGrpSpPr>
            <a:grpSpLocks/>
          </p:cNvGrpSpPr>
          <p:nvPr/>
        </p:nvGrpSpPr>
        <p:grpSpPr bwMode="auto">
          <a:xfrm>
            <a:off x="5681663" y="1300163"/>
            <a:ext cx="2873375" cy="2447925"/>
            <a:chOff x="1453749" y="1606138"/>
            <a:chExt cx="2874012" cy="2448264"/>
          </a:xfrm>
        </p:grpSpPr>
        <p:sp>
          <p:nvSpPr>
            <p:cNvPr id="27715" name="Text Box 4"/>
            <p:cNvSpPr txBox="1">
              <a:spLocks noChangeArrowheads="1"/>
            </p:cNvSpPr>
            <p:nvPr/>
          </p:nvSpPr>
          <p:spPr bwMode="auto">
            <a:xfrm>
              <a:off x="3919773" y="3717852"/>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U</a:t>
              </a:r>
              <a:r>
                <a:rPr lang="en-US" altLang="en-US" sz="1600" baseline="-25000">
                  <a:solidFill>
                    <a:srgbClr val="5D0D8F"/>
                  </a:solidFill>
                </a:rPr>
                <a:t>1</a:t>
              </a:r>
              <a:endParaRPr lang="en-US" altLang="en-US" sz="1600">
                <a:solidFill>
                  <a:srgbClr val="5D0D8F"/>
                </a:solidFill>
              </a:endParaRPr>
            </a:p>
          </p:txBody>
        </p:sp>
        <p:sp>
          <p:nvSpPr>
            <p:cNvPr id="27716" name="Freeform 14"/>
            <p:cNvSpPr>
              <a:spLocks/>
            </p:cNvSpPr>
            <p:nvPr/>
          </p:nvSpPr>
          <p:spPr bwMode="auto">
            <a:xfrm>
              <a:off x="1453749" y="1606138"/>
              <a:ext cx="2452207" cy="2243373"/>
            </a:xfrm>
            <a:custGeom>
              <a:avLst/>
              <a:gdLst>
                <a:gd name="T0" fmla="*/ 0 w 1824"/>
                <a:gd name="T1" fmla="*/ 0 h 1488"/>
                <a:gd name="T2" fmla="*/ 432 w 1824"/>
                <a:gd name="T3" fmla="*/ 1008 h 1488"/>
                <a:gd name="T4" fmla="*/ 1824 w 1824"/>
                <a:gd name="T5" fmla="*/ 1488 h 1488"/>
                <a:gd name="T6" fmla="*/ 0 60000 65536"/>
                <a:gd name="T7" fmla="*/ 0 60000 65536"/>
                <a:gd name="T8" fmla="*/ 0 60000 65536"/>
                <a:gd name="T9" fmla="*/ 0 w 1824"/>
                <a:gd name="T10" fmla="*/ 0 h 1488"/>
                <a:gd name="T11" fmla="*/ 1824 w 1824"/>
                <a:gd name="T12" fmla="*/ 1488 h 1488"/>
              </a:gdLst>
              <a:ahLst/>
              <a:cxnLst>
                <a:cxn ang="T6">
                  <a:pos x="T0" y="T1"/>
                </a:cxn>
                <a:cxn ang="T7">
                  <a:pos x="T2" y="T3"/>
                </a:cxn>
                <a:cxn ang="T8">
                  <a:pos x="T4" y="T5"/>
                </a:cxn>
              </a:cxnLst>
              <a:rect l="T9" t="T10" r="T11" b="T12"/>
              <a:pathLst>
                <a:path w="1824" h="1488">
                  <a:moveTo>
                    <a:pt x="0" y="0"/>
                  </a:moveTo>
                  <a:cubicBezTo>
                    <a:pt x="64" y="380"/>
                    <a:pt x="128" y="760"/>
                    <a:pt x="432" y="1008"/>
                  </a:cubicBezTo>
                  <a:cubicBezTo>
                    <a:pt x="736" y="1256"/>
                    <a:pt x="1280" y="1372"/>
                    <a:pt x="1824" y="1488"/>
                  </a:cubicBezTo>
                </a:path>
              </a:pathLst>
            </a:custGeom>
            <a:noFill/>
            <a:ln w="38100"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58" name="Line 19"/>
          <p:cNvSpPr>
            <a:spLocks noChangeShapeType="1"/>
          </p:cNvSpPr>
          <p:nvPr/>
        </p:nvSpPr>
        <p:spPr bwMode="auto">
          <a:xfrm flipH="1" flipV="1">
            <a:off x="5080000" y="2668588"/>
            <a:ext cx="1436688" cy="1517650"/>
          </a:xfrm>
          <a:prstGeom prst="line">
            <a:avLst/>
          </a:prstGeom>
          <a:noFill/>
          <a:ln w="38100">
            <a:solidFill>
              <a:srgbClr val="C00000"/>
            </a:solidFill>
            <a:prstDash val="solid"/>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43" name="Group 58"/>
          <p:cNvGrpSpPr>
            <a:grpSpLocks/>
          </p:cNvGrpSpPr>
          <p:nvPr/>
        </p:nvGrpSpPr>
        <p:grpSpPr bwMode="auto">
          <a:xfrm>
            <a:off x="5432425" y="2800350"/>
            <a:ext cx="312738" cy="315913"/>
            <a:chOff x="2068422" y="3498968"/>
            <a:chExt cx="312737" cy="316970"/>
          </a:xfrm>
        </p:grpSpPr>
        <p:sp>
          <p:nvSpPr>
            <p:cNvPr id="27713" name="Oval 20"/>
            <p:cNvSpPr>
              <a:spLocks noChangeArrowheads="1"/>
            </p:cNvSpPr>
            <p:nvPr/>
          </p:nvSpPr>
          <p:spPr bwMode="auto">
            <a:xfrm>
              <a:off x="2097974" y="3739738"/>
              <a:ext cx="76200" cy="76200"/>
            </a:xfrm>
            <a:prstGeom prst="ellipse">
              <a:avLst/>
            </a:prstGeom>
            <a:solidFill>
              <a:schemeClr val="tx1"/>
            </a:solidFill>
            <a:ln w="15875">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600"/>
            </a:p>
          </p:txBody>
        </p:sp>
        <p:sp>
          <p:nvSpPr>
            <p:cNvPr id="27714" name="Text Box 21"/>
            <p:cNvSpPr txBox="1">
              <a:spLocks noChangeArrowheads="1"/>
            </p:cNvSpPr>
            <p:nvPr/>
          </p:nvSpPr>
          <p:spPr bwMode="auto">
            <a:xfrm>
              <a:off x="2068422" y="349896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S</a:t>
              </a:r>
            </a:p>
          </p:txBody>
        </p:sp>
      </p:grpSp>
      <p:grpSp>
        <p:nvGrpSpPr>
          <p:cNvPr id="44" name="Group 72"/>
          <p:cNvGrpSpPr>
            <a:grpSpLocks/>
          </p:cNvGrpSpPr>
          <p:nvPr/>
        </p:nvGrpSpPr>
        <p:grpSpPr bwMode="auto">
          <a:xfrm>
            <a:off x="4630738" y="3192463"/>
            <a:ext cx="1204912" cy="304800"/>
            <a:chOff x="403812" y="4175778"/>
            <a:chExt cx="1204847" cy="304800"/>
          </a:xfrm>
        </p:grpSpPr>
        <p:sp>
          <p:nvSpPr>
            <p:cNvPr id="27711" name="Line 31"/>
            <p:cNvSpPr>
              <a:spLocks noChangeShapeType="1"/>
            </p:cNvSpPr>
            <p:nvPr/>
          </p:nvSpPr>
          <p:spPr bwMode="auto">
            <a:xfrm flipH="1" flipV="1">
              <a:off x="734647" y="4349261"/>
              <a:ext cx="874012" cy="26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7712" name="Text Box 21"/>
            <p:cNvSpPr txBox="1">
              <a:spLocks noChangeArrowheads="1"/>
            </p:cNvSpPr>
            <p:nvPr/>
          </p:nvSpPr>
          <p:spPr bwMode="auto">
            <a:xfrm>
              <a:off x="403812" y="417577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c</a:t>
              </a:r>
              <a:r>
                <a:rPr lang="en-US" altLang="en-US" sz="1600" i="1" baseline="-25000"/>
                <a:t>0</a:t>
              </a:r>
            </a:p>
          </p:txBody>
        </p:sp>
      </p:grpSp>
      <p:grpSp>
        <p:nvGrpSpPr>
          <p:cNvPr id="45" name="Group 75"/>
          <p:cNvGrpSpPr>
            <a:grpSpLocks/>
          </p:cNvGrpSpPr>
          <p:nvPr/>
        </p:nvGrpSpPr>
        <p:grpSpPr bwMode="auto">
          <a:xfrm>
            <a:off x="4630738" y="2576513"/>
            <a:ext cx="1549400" cy="304800"/>
            <a:chOff x="403812" y="2882332"/>
            <a:chExt cx="1548311" cy="304800"/>
          </a:xfrm>
        </p:grpSpPr>
        <p:sp>
          <p:nvSpPr>
            <p:cNvPr id="27709" name="Line 31"/>
            <p:cNvSpPr>
              <a:spLocks noChangeShapeType="1"/>
            </p:cNvSpPr>
            <p:nvPr/>
          </p:nvSpPr>
          <p:spPr bwMode="auto">
            <a:xfrm flipH="1">
              <a:off x="738555" y="3065978"/>
              <a:ext cx="1213568" cy="546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7710" name="Text Box 21"/>
            <p:cNvSpPr txBox="1">
              <a:spLocks noChangeArrowheads="1"/>
            </p:cNvSpPr>
            <p:nvPr/>
          </p:nvSpPr>
          <p:spPr bwMode="auto">
            <a:xfrm>
              <a:off x="403812" y="2882332"/>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c</a:t>
              </a:r>
              <a:r>
                <a:rPr lang="en-US" altLang="en-US" sz="1600" i="1" baseline="-25000"/>
                <a:t>1</a:t>
              </a:r>
            </a:p>
          </p:txBody>
        </p:sp>
      </p:grpSp>
      <p:grpSp>
        <p:nvGrpSpPr>
          <p:cNvPr id="46" name="Group 93"/>
          <p:cNvGrpSpPr>
            <a:grpSpLocks/>
          </p:cNvGrpSpPr>
          <p:nvPr/>
        </p:nvGrpSpPr>
        <p:grpSpPr bwMode="auto">
          <a:xfrm>
            <a:off x="727075" y="1084263"/>
            <a:ext cx="2835275" cy="3343275"/>
            <a:chOff x="726374" y="1322784"/>
            <a:chExt cx="2836223" cy="3342319"/>
          </a:xfrm>
        </p:grpSpPr>
        <p:sp>
          <p:nvSpPr>
            <p:cNvPr id="27705" name="Line 13"/>
            <p:cNvSpPr>
              <a:spLocks noChangeShapeType="1"/>
            </p:cNvSpPr>
            <p:nvPr/>
          </p:nvSpPr>
          <p:spPr bwMode="auto">
            <a:xfrm>
              <a:off x="726374" y="1685386"/>
              <a:ext cx="2836223" cy="2979717"/>
            </a:xfrm>
            <a:prstGeom prst="line">
              <a:avLst/>
            </a:prstGeom>
            <a:noFill/>
            <a:ln w="38100">
              <a:solidFill>
                <a:srgbClr val="177B2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27706" name="Group 82"/>
            <p:cNvGrpSpPr>
              <a:grpSpLocks/>
            </p:cNvGrpSpPr>
            <p:nvPr/>
          </p:nvGrpSpPr>
          <p:grpSpPr bwMode="auto">
            <a:xfrm>
              <a:off x="973777" y="1322784"/>
              <a:ext cx="2113815" cy="636645"/>
              <a:chOff x="973777" y="1322784"/>
              <a:chExt cx="2113815" cy="636645"/>
            </a:xfrm>
          </p:grpSpPr>
          <p:sp>
            <p:nvSpPr>
              <p:cNvPr id="27707" name="Text Box 21"/>
              <p:cNvSpPr txBox="1">
                <a:spLocks noChangeArrowheads="1"/>
              </p:cNvSpPr>
              <p:nvPr/>
            </p:nvSpPr>
            <p:spPr bwMode="auto">
              <a:xfrm>
                <a:off x="1470620" y="1322784"/>
                <a:ext cx="161697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dirty="0">
                    <a:solidFill>
                      <a:srgbClr val="006600"/>
                    </a:solidFill>
                  </a:rPr>
                  <a:t> c = w</a:t>
                </a:r>
                <a:r>
                  <a:rPr lang="en-US" altLang="en-US" sz="1600" i="1" baseline="-25000" dirty="0">
                    <a:solidFill>
                      <a:srgbClr val="006600"/>
                    </a:solidFill>
                  </a:rPr>
                  <a:t>1</a:t>
                </a:r>
                <a:r>
                  <a:rPr lang="en-US" altLang="en-US" sz="1600" i="1" dirty="0">
                    <a:solidFill>
                      <a:srgbClr val="006600"/>
                    </a:solidFill>
                  </a:rPr>
                  <a:t> (24-h)</a:t>
                </a:r>
                <a:endParaRPr lang="en-US" altLang="en-US" sz="1600" i="1" baseline="-25000" dirty="0">
                  <a:solidFill>
                    <a:srgbClr val="006600"/>
                  </a:solidFill>
                </a:endParaRPr>
              </a:p>
            </p:txBody>
          </p:sp>
          <p:cxnSp>
            <p:nvCxnSpPr>
              <p:cNvPr id="27708" name="Straight Arrow Connector 81"/>
              <p:cNvCxnSpPr>
                <a:cxnSpLocks noChangeShapeType="1"/>
              </p:cNvCxnSpPr>
              <p:nvPr/>
            </p:nvCxnSpPr>
            <p:spPr bwMode="auto">
              <a:xfrm flipV="1">
                <a:off x="973777" y="1591294"/>
                <a:ext cx="795646" cy="368135"/>
              </a:xfrm>
              <a:prstGeom prst="straightConnector1">
                <a:avLst/>
              </a:prstGeom>
              <a:noFill/>
              <a:ln w="9525" algn="ctr">
                <a:solidFill>
                  <a:srgbClr val="006600"/>
                </a:solidFill>
                <a:round/>
                <a:headEnd type="arrow" w="med" len="med"/>
                <a:tailEnd/>
              </a:ln>
              <a:extLst>
                <a:ext uri="{909E8E84-426E-40DD-AFC4-6F175D3DCCD1}">
                  <a14:hiddenFill xmlns:a14="http://schemas.microsoft.com/office/drawing/2010/main">
                    <a:noFill/>
                  </a14:hiddenFill>
                </a:ext>
              </a:extLst>
            </p:spPr>
          </p:cxnSp>
        </p:grpSp>
      </p:grpSp>
      <p:grpSp>
        <p:nvGrpSpPr>
          <p:cNvPr id="55" name="Group 94"/>
          <p:cNvGrpSpPr>
            <a:grpSpLocks/>
          </p:cNvGrpSpPr>
          <p:nvPr/>
        </p:nvGrpSpPr>
        <p:grpSpPr bwMode="auto">
          <a:xfrm>
            <a:off x="727075" y="1593850"/>
            <a:ext cx="2811463" cy="2820988"/>
            <a:chOff x="726374" y="1831444"/>
            <a:chExt cx="2812473" cy="2821783"/>
          </a:xfrm>
        </p:grpSpPr>
        <p:sp>
          <p:nvSpPr>
            <p:cNvPr id="27701" name="Line 29"/>
            <p:cNvSpPr>
              <a:spLocks noChangeShapeType="1"/>
            </p:cNvSpPr>
            <p:nvPr/>
          </p:nvSpPr>
          <p:spPr bwMode="auto">
            <a:xfrm flipH="1" flipV="1">
              <a:off x="726374" y="3133186"/>
              <a:ext cx="2812473" cy="1520041"/>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7702" name="Group 86"/>
            <p:cNvGrpSpPr>
              <a:grpSpLocks/>
            </p:cNvGrpSpPr>
            <p:nvPr/>
          </p:nvGrpSpPr>
          <p:grpSpPr bwMode="auto">
            <a:xfrm>
              <a:off x="890649" y="1831444"/>
              <a:ext cx="2479968" cy="1386769"/>
              <a:chOff x="890649" y="1831444"/>
              <a:chExt cx="2479968" cy="1386769"/>
            </a:xfrm>
          </p:grpSpPr>
          <p:sp>
            <p:nvSpPr>
              <p:cNvPr id="27703" name="Text Box 21"/>
              <p:cNvSpPr txBox="1">
                <a:spLocks noChangeArrowheads="1"/>
              </p:cNvSpPr>
              <p:nvPr/>
            </p:nvSpPr>
            <p:spPr bwMode="auto">
              <a:xfrm>
                <a:off x="1753645" y="1831444"/>
                <a:ext cx="161697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dirty="0">
                    <a:solidFill>
                      <a:srgbClr val="006600"/>
                    </a:solidFill>
                  </a:rPr>
                  <a:t> c = w</a:t>
                </a:r>
                <a:r>
                  <a:rPr lang="en-US" altLang="en-US" sz="1600" i="1" baseline="-25000" dirty="0">
                    <a:solidFill>
                      <a:srgbClr val="006600"/>
                    </a:solidFill>
                  </a:rPr>
                  <a:t>0</a:t>
                </a:r>
                <a:r>
                  <a:rPr lang="en-US" altLang="en-US" sz="1600" i="1" dirty="0">
                    <a:solidFill>
                      <a:srgbClr val="006600"/>
                    </a:solidFill>
                  </a:rPr>
                  <a:t> (24-h)</a:t>
                </a:r>
                <a:endParaRPr lang="en-US" altLang="en-US" sz="1600" i="1" baseline="-25000" dirty="0">
                  <a:solidFill>
                    <a:srgbClr val="006600"/>
                  </a:solidFill>
                </a:endParaRPr>
              </a:p>
            </p:txBody>
          </p:sp>
          <p:cxnSp>
            <p:nvCxnSpPr>
              <p:cNvPr id="27704" name="Straight Arrow Connector 83"/>
              <p:cNvCxnSpPr>
                <a:cxnSpLocks noChangeShapeType="1"/>
              </p:cNvCxnSpPr>
              <p:nvPr/>
            </p:nvCxnSpPr>
            <p:spPr bwMode="auto">
              <a:xfrm flipV="1">
                <a:off x="890649" y="2113808"/>
                <a:ext cx="1128156" cy="1104405"/>
              </a:xfrm>
              <a:prstGeom prst="straightConnector1">
                <a:avLst/>
              </a:prstGeom>
              <a:noFill/>
              <a:ln w="9525" algn="ctr">
                <a:solidFill>
                  <a:srgbClr val="006600"/>
                </a:solidFill>
                <a:round/>
                <a:headEnd type="arrow" w="med" len="med"/>
                <a:tailEnd/>
              </a:ln>
              <a:extLst>
                <a:ext uri="{909E8E84-426E-40DD-AFC4-6F175D3DCCD1}">
                  <a14:hiddenFill xmlns:a14="http://schemas.microsoft.com/office/drawing/2010/main">
                    <a:noFill/>
                  </a14:hiddenFill>
                </a:ext>
              </a:extLst>
            </p:spPr>
          </p:cxnSp>
        </p:grpSp>
      </p:grpSp>
      <p:grpSp>
        <p:nvGrpSpPr>
          <p:cNvPr id="63" name="Group 95"/>
          <p:cNvGrpSpPr>
            <a:grpSpLocks/>
          </p:cNvGrpSpPr>
          <p:nvPr/>
        </p:nvGrpSpPr>
        <p:grpSpPr bwMode="auto">
          <a:xfrm>
            <a:off x="4954588" y="1071563"/>
            <a:ext cx="2835275" cy="3360737"/>
            <a:chOff x="4954071" y="1308930"/>
            <a:chExt cx="2836223" cy="3361817"/>
          </a:xfrm>
        </p:grpSpPr>
        <p:sp>
          <p:nvSpPr>
            <p:cNvPr id="27697" name="Line 13"/>
            <p:cNvSpPr>
              <a:spLocks noChangeShapeType="1"/>
            </p:cNvSpPr>
            <p:nvPr/>
          </p:nvSpPr>
          <p:spPr bwMode="auto">
            <a:xfrm>
              <a:off x="4954071" y="1691030"/>
              <a:ext cx="2836223" cy="2979717"/>
            </a:xfrm>
            <a:prstGeom prst="line">
              <a:avLst/>
            </a:prstGeom>
            <a:noFill/>
            <a:ln w="38100">
              <a:solidFill>
                <a:srgbClr val="177B2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27698" name="Group 87"/>
            <p:cNvGrpSpPr>
              <a:grpSpLocks/>
            </p:cNvGrpSpPr>
            <p:nvPr/>
          </p:nvGrpSpPr>
          <p:grpSpPr bwMode="auto">
            <a:xfrm>
              <a:off x="5163787" y="1308930"/>
              <a:ext cx="2113815" cy="636645"/>
              <a:chOff x="973777" y="1322784"/>
              <a:chExt cx="2113815" cy="636645"/>
            </a:xfrm>
          </p:grpSpPr>
          <p:sp>
            <p:nvSpPr>
              <p:cNvPr id="27699" name="Text Box 21"/>
              <p:cNvSpPr txBox="1">
                <a:spLocks noChangeArrowheads="1"/>
              </p:cNvSpPr>
              <p:nvPr/>
            </p:nvSpPr>
            <p:spPr bwMode="auto">
              <a:xfrm>
                <a:off x="1470620" y="1322784"/>
                <a:ext cx="161697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dirty="0">
                    <a:solidFill>
                      <a:srgbClr val="006600"/>
                    </a:solidFill>
                  </a:rPr>
                  <a:t> c = w</a:t>
                </a:r>
                <a:r>
                  <a:rPr lang="en-US" altLang="en-US" sz="1600" i="1" baseline="-25000" dirty="0">
                    <a:solidFill>
                      <a:srgbClr val="006600"/>
                    </a:solidFill>
                  </a:rPr>
                  <a:t>1</a:t>
                </a:r>
                <a:r>
                  <a:rPr lang="en-US" altLang="en-US" sz="1600" i="1" dirty="0">
                    <a:solidFill>
                      <a:srgbClr val="006600"/>
                    </a:solidFill>
                  </a:rPr>
                  <a:t> (24-h)</a:t>
                </a:r>
                <a:endParaRPr lang="en-US" altLang="en-US" sz="1600" i="1" baseline="-25000" dirty="0">
                  <a:solidFill>
                    <a:srgbClr val="006600"/>
                  </a:solidFill>
                </a:endParaRPr>
              </a:p>
            </p:txBody>
          </p:sp>
          <p:cxnSp>
            <p:nvCxnSpPr>
              <p:cNvPr id="27700" name="Straight Arrow Connector 89"/>
              <p:cNvCxnSpPr>
                <a:cxnSpLocks noChangeShapeType="1"/>
              </p:cNvCxnSpPr>
              <p:nvPr/>
            </p:nvCxnSpPr>
            <p:spPr bwMode="auto">
              <a:xfrm flipV="1">
                <a:off x="973777" y="1591294"/>
                <a:ext cx="795646" cy="368135"/>
              </a:xfrm>
              <a:prstGeom prst="straightConnector1">
                <a:avLst/>
              </a:prstGeom>
              <a:noFill/>
              <a:ln w="9525" algn="ctr">
                <a:solidFill>
                  <a:srgbClr val="006600"/>
                </a:solidFill>
                <a:round/>
                <a:headEnd type="arrow" w="med" len="med"/>
                <a:tailEnd/>
              </a:ln>
              <a:extLst>
                <a:ext uri="{909E8E84-426E-40DD-AFC4-6F175D3DCCD1}">
                  <a14:hiddenFill xmlns:a14="http://schemas.microsoft.com/office/drawing/2010/main">
                    <a:noFill/>
                  </a14:hiddenFill>
                </a:ext>
              </a:extLst>
            </p:spPr>
          </p:cxnSp>
        </p:grpSp>
      </p:grpSp>
      <p:grpSp>
        <p:nvGrpSpPr>
          <p:cNvPr id="68" name="Group 96"/>
          <p:cNvGrpSpPr>
            <a:grpSpLocks/>
          </p:cNvGrpSpPr>
          <p:nvPr/>
        </p:nvGrpSpPr>
        <p:grpSpPr bwMode="auto">
          <a:xfrm>
            <a:off x="4954588" y="1579563"/>
            <a:ext cx="2811462" cy="2841625"/>
            <a:chOff x="4954071" y="1817590"/>
            <a:chExt cx="2812473" cy="2841281"/>
          </a:xfrm>
        </p:grpSpPr>
        <p:sp>
          <p:nvSpPr>
            <p:cNvPr id="27693" name="Line 29"/>
            <p:cNvSpPr>
              <a:spLocks noChangeShapeType="1"/>
            </p:cNvSpPr>
            <p:nvPr/>
          </p:nvSpPr>
          <p:spPr bwMode="auto">
            <a:xfrm flipH="1" flipV="1">
              <a:off x="4954071" y="3138830"/>
              <a:ext cx="2812473" cy="1520041"/>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7694" name="Group 90"/>
            <p:cNvGrpSpPr>
              <a:grpSpLocks/>
            </p:cNvGrpSpPr>
            <p:nvPr/>
          </p:nvGrpSpPr>
          <p:grpSpPr bwMode="auto">
            <a:xfrm>
              <a:off x="5080659" y="1817590"/>
              <a:ext cx="2479968" cy="1386769"/>
              <a:chOff x="890649" y="1831444"/>
              <a:chExt cx="2479968" cy="1386769"/>
            </a:xfrm>
          </p:grpSpPr>
          <p:sp>
            <p:nvSpPr>
              <p:cNvPr id="27695" name="Text Box 21"/>
              <p:cNvSpPr txBox="1">
                <a:spLocks noChangeArrowheads="1"/>
              </p:cNvSpPr>
              <p:nvPr/>
            </p:nvSpPr>
            <p:spPr bwMode="auto">
              <a:xfrm>
                <a:off x="1753645" y="1831444"/>
                <a:ext cx="161697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dirty="0">
                    <a:solidFill>
                      <a:srgbClr val="006600"/>
                    </a:solidFill>
                  </a:rPr>
                  <a:t> c = w</a:t>
                </a:r>
                <a:r>
                  <a:rPr lang="en-US" altLang="en-US" sz="1600" i="1" baseline="-25000" dirty="0">
                    <a:solidFill>
                      <a:srgbClr val="006600"/>
                    </a:solidFill>
                  </a:rPr>
                  <a:t>0</a:t>
                </a:r>
                <a:r>
                  <a:rPr lang="en-US" altLang="en-US" sz="1600" i="1" dirty="0">
                    <a:solidFill>
                      <a:srgbClr val="006600"/>
                    </a:solidFill>
                  </a:rPr>
                  <a:t> (24-h)</a:t>
                </a:r>
                <a:endParaRPr lang="en-US" altLang="en-US" sz="1600" i="1" baseline="-25000" dirty="0">
                  <a:solidFill>
                    <a:srgbClr val="006600"/>
                  </a:solidFill>
                </a:endParaRPr>
              </a:p>
            </p:txBody>
          </p:sp>
          <p:cxnSp>
            <p:nvCxnSpPr>
              <p:cNvPr id="27696" name="Straight Arrow Connector 92"/>
              <p:cNvCxnSpPr>
                <a:cxnSpLocks noChangeShapeType="1"/>
              </p:cNvCxnSpPr>
              <p:nvPr/>
            </p:nvCxnSpPr>
            <p:spPr bwMode="auto">
              <a:xfrm flipV="1">
                <a:off x="890649" y="2113808"/>
                <a:ext cx="1128156" cy="1104405"/>
              </a:xfrm>
              <a:prstGeom prst="straightConnector1">
                <a:avLst/>
              </a:prstGeom>
              <a:noFill/>
              <a:ln w="9525" algn="ctr">
                <a:solidFill>
                  <a:srgbClr val="006600"/>
                </a:solidFill>
                <a:round/>
                <a:headEnd type="arrow" w="med" len="med"/>
                <a:tailEnd/>
              </a:ln>
              <a:extLst>
                <a:ext uri="{909E8E84-426E-40DD-AFC4-6F175D3DCCD1}">
                  <a14:hiddenFill xmlns:a14="http://schemas.microsoft.com/office/drawing/2010/main">
                    <a:noFill/>
                  </a14:hiddenFill>
                </a:ext>
              </a:extLst>
            </p:spPr>
          </p:cxnSp>
        </p:grpSp>
      </p:grpSp>
      <p:grpSp>
        <p:nvGrpSpPr>
          <p:cNvPr id="73" name="Group 62"/>
          <p:cNvGrpSpPr>
            <a:grpSpLocks/>
          </p:cNvGrpSpPr>
          <p:nvPr/>
        </p:nvGrpSpPr>
        <p:grpSpPr bwMode="auto">
          <a:xfrm>
            <a:off x="5681663" y="3330575"/>
            <a:ext cx="312737" cy="1403350"/>
            <a:chOff x="2120094" y="3636007"/>
            <a:chExt cx="312737" cy="1403371"/>
          </a:xfrm>
        </p:grpSpPr>
        <p:grpSp>
          <p:nvGrpSpPr>
            <p:cNvPr id="27689" name="Group 31"/>
            <p:cNvGrpSpPr>
              <a:grpSpLocks/>
            </p:cNvGrpSpPr>
            <p:nvPr/>
          </p:nvGrpSpPr>
          <p:grpSpPr bwMode="auto">
            <a:xfrm>
              <a:off x="2242809" y="3636007"/>
              <a:ext cx="76200" cy="1090381"/>
              <a:chOff x="2242809" y="3636007"/>
              <a:chExt cx="76200" cy="1090381"/>
            </a:xfrm>
          </p:grpSpPr>
          <p:sp>
            <p:nvSpPr>
              <p:cNvPr id="27691" name="Oval 11"/>
              <p:cNvSpPr>
                <a:spLocks noChangeArrowheads="1"/>
              </p:cNvSpPr>
              <p:nvPr/>
            </p:nvSpPr>
            <p:spPr bwMode="auto">
              <a:xfrm>
                <a:off x="2242809" y="3636007"/>
                <a:ext cx="76200" cy="76200"/>
              </a:xfrm>
              <a:prstGeom prst="ellipse">
                <a:avLst/>
              </a:prstGeom>
              <a:solidFill>
                <a:schemeClr val="tx1"/>
              </a:solidFill>
              <a:ln w="15875">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600"/>
              </a:p>
            </p:txBody>
          </p:sp>
          <p:sp>
            <p:nvSpPr>
              <p:cNvPr id="27692" name="Line 30"/>
              <p:cNvSpPr>
                <a:spLocks noChangeShapeType="1"/>
              </p:cNvSpPr>
              <p:nvPr/>
            </p:nvSpPr>
            <p:spPr bwMode="auto">
              <a:xfrm flipH="1">
                <a:off x="2273978" y="3674534"/>
                <a:ext cx="725" cy="105185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7690" name="Text Box 21"/>
            <p:cNvSpPr txBox="1">
              <a:spLocks noChangeArrowheads="1"/>
            </p:cNvSpPr>
            <p:nvPr/>
          </p:nvSpPr>
          <p:spPr bwMode="auto">
            <a:xfrm>
              <a:off x="2120094" y="473457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h</a:t>
              </a:r>
              <a:r>
                <a:rPr lang="en-US" altLang="en-US" sz="1600" i="1" baseline="-25000"/>
                <a:t>0</a:t>
              </a:r>
            </a:p>
          </p:txBody>
        </p:sp>
      </p:grpSp>
      <p:grpSp>
        <p:nvGrpSpPr>
          <p:cNvPr id="81" name="Group 36"/>
          <p:cNvGrpSpPr>
            <a:grpSpLocks/>
          </p:cNvGrpSpPr>
          <p:nvPr/>
        </p:nvGrpSpPr>
        <p:grpSpPr bwMode="auto">
          <a:xfrm>
            <a:off x="2119313" y="3695700"/>
            <a:ext cx="312737" cy="1031875"/>
            <a:chOff x="2120094" y="4006831"/>
            <a:chExt cx="312737" cy="1032547"/>
          </a:xfrm>
        </p:grpSpPr>
        <p:grpSp>
          <p:nvGrpSpPr>
            <p:cNvPr id="27685" name="Group 31"/>
            <p:cNvGrpSpPr>
              <a:grpSpLocks/>
            </p:cNvGrpSpPr>
            <p:nvPr/>
          </p:nvGrpSpPr>
          <p:grpSpPr bwMode="auto">
            <a:xfrm>
              <a:off x="2231520" y="4006831"/>
              <a:ext cx="76200" cy="719557"/>
              <a:chOff x="2231520" y="4006831"/>
              <a:chExt cx="76200" cy="719557"/>
            </a:xfrm>
          </p:grpSpPr>
          <p:sp>
            <p:nvSpPr>
              <p:cNvPr id="27687" name="Oval 11"/>
              <p:cNvSpPr>
                <a:spLocks noChangeArrowheads="1"/>
              </p:cNvSpPr>
              <p:nvPr/>
            </p:nvSpPr>
            <p:spPr bwMode="auto">
              <a:xfrm>
                <a:off x="2231520" y="4006831"/>
                <a:ext cx="76200" cy="76200"/>
              </a:xfrm>
              <a:prstGeom prst="ellipse">
                <a:avLst/>
              </a:prstGeom>
              <a:solidFill>
                <a:schemeClr val="tx1"/>
              </a:solidFill>
              <a:ln w="15875">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600"/>
              </a:p>
            </p:txBody>
          </p:sp>
          <p:sp>
            <p:nvSpPr>
              <p:cNvPr id="27688" name="Line 30"/>
              <p:cNvSpPr>
                <a:spLocks noChangeShapeType="1"/>
              </p:cNvSpPr>
              <p:nvPr/>
            </p:nvSpPr>
            <p:spPr bwMode="auto">
              <a:xfrm>
                <a:off x="2271869" y="4048812"/>
                <a:ext cx="2109" cy="67757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7686" name="Text Box 21"/>
            <p:cNvSpPr txBox="1">
              <a:spLocks noChangeArrowheads="1"/>
            </p:cNvSpPr>
            <p:nvPr/>
          </p:nvSpPr>
          <p:spPr bwMode="auto">
            <a:xfrm>
              <a:off x="2120094" y="473457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h</a:t>
              </a:r>
              <a:r>
                <a:rPr lang="en-US" altLang="en-US" sz="1600" i="1" baseline="-25000"/>
                <a:t>0</a:t>
              </a:r>
            </a:p>
          </p:txBody>
        </p:sp>
      </p:grpSp>
      <p:grpSp>
        <p:nvGrpSpPr>
          <p:cNvPr id="85" name="Group 67"/>
          <p:cNvGrpSpPr>
            <a:grpSpLocks/>
          </p:cNvGrpSpPr>
          <p:nvPr/>
        </p:nvGrpSpPr>
        <p:grpSpPr bwMode="auto">
          <a:xfrm>
            <a:off x="6038850" y="2725738"/>
            <a:ext cx="312738" cy="2008187"/>
            <a:chOff x="1810582" y="3031942"/>
            <a:chExt cx="312737" cy="2007436"/>
          </a:xfrm>
        </p:grpSpPr>
        <p:grpSp>
          <p:nvGrpSpPr>
            <p:cNvPr id="27681" name="Group 30"/>
            <p:cNvGrpSpPr>
              <a:grpSpLocks/>
            </p:cNvGrpSpPr>
            <p:nvPr/>
          </p:nvGrpSpPr>
          <p:grpSpPr bwMode="auto">
            <a:xfrm>
              <a:off x="1933005" y="3031942"/>
              <a:ext cx="76200" cy="1694446"/>
              <a:chOff x="1933005" y="3031942"/>
              <a:chExt cx="76200" cy="1694446"/>
            </a:xfrm>
          </p:grpSpPr>
          <p:sp>
            <p:nvSpPr>
              <p:cNvPr id="27683" name="Oval 16"/>
              <p:cNvSpPr>
                <a:spLocks noChangeArrowheads="1"/>
              </p:cNvSpPr>
              <p:nvPr/>
            </p:nvSpPr>
            <p:spPr bwMode="auto">
              <a:xfrm>
                <a:off x="1933005" y="3031942"/>
                <a:ext cx="76200" cy="76200"/>
              </a:xfrm>
              <a:prstGeom prst="ellipse">
                <a:avLst/>
              </a:prstGeom>
              <a:solidFill>
                <a:schemeClr val="tx1"/>
              </a:solidFill>
              <a:ln w="15875">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600"/>
              </a:p>
            </p:txBody>
          </p:sp>
          <p:sp>
            <p:nvSpPr>
              <p:cNvPr id="27684" name="Line 31"/>
              <p:cNvSpPr>
                <a:spLocks noChangeShapeType="1"/>
              </p:cNvSpPr>
              <p:nvPr/>
            </p:nvSpPr>
            <p:spPr bwMode="auto">
              <a:xfrm>
                <a:off x="1965505" y="3091992"/>
                <a:ext cx="544" cy="163439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27682" name="Text Box 21"/>
            <p:cNvSpPr txBox="1">
              <a:spLocks noChangeArrowheads="1"/>
            </p:cNvSpPr>
            <p:nvPr/>
          </p:nvSpPr>
          <p:spPr bwMode="auto">
            <a:xfrm>
              <a:off x="1810582" y="473457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h</a:t>
              </a:r>
              <a:r>
                <a:rPr lang="en-US" altLang="en-US" sz="1600" i="1" baseline="-25000"/>
                <a:t>1</a:t>
              </a:r>
            </a:p>
          </p:txBody>
        </p:sp>
      </p:grpSp>
      <p:grpSp>
        <p:nvGrpSpPr>
          <p:cNvPr id="87" name="Group 35"/>
          <p:cNvGrpSpPr>
            <a:grpSpLocks/>
          </p:cNvGrpSpPr>
          <p:nvPr/>
        </p:nvGrpSpPr>
        <p:grpSpPr bwMode="auto">
          <a:xfrm>
            <a:off x="1811338" y="2720975"/>
            <a:ext cx="312737" cy="2006600"/>
            <a:chOff x="1810582" y="3031942"/>
            <a:chExt cx="312737" cy="2007436"/>
          </a:xfrm>
        </p:grpSpPr>
        <p:grpSp>
          <p:nvGrpSpPr>
            <p:cNvPr id="27677" name="Group 30"/>
            <p:cNvGrpSpPr>
              <a:grpSpLocks/>
            </p:cNvGrpSpPr>
            <p:nvPr/>
          </p:nvGrpSpPr>
          <p:grpSpPr bwMode="auto">
            <a:xfrm>
              <a:off x="1933005" y="3031942"/>
              <a:ext cx="76200" cy="1694446"/>
              <a:chOff x="1933005" y="3031942"/>
              <a:chExt cx="76200" cy="1694446"/>
            </a:xfrm>
          </p:grpSpPr>
          <p:sp>
            <p:nvSpPr>
              <p:cNvPr id="27679" name="Oval 16"/>
              <p:cNvSpPr>
                <a:spLocks noChangeArrowheads="1"/>
              </p:cNvSpPr>
              <p:nvPr/>
            </p:nvSpPr>
            <p:spPr bwMode="auto">
              <a:xfrm>
                <a:off x="1933005" y="3031942"/>
                <a:ext cx="76200" cy="76200"/>
              </a:xfrm>
              <a:prstGeom prst="ellipse">
                <a:avLst/>
              </a:prstGeom>
              <a:solidFill>
                <a:schemeClr val="tx1"/>
              </a:solidFill>
              <a:ln w="15875">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600"/>
              </a:p>
            </p:txBody>
          </p:sp>
          <p:sp>
            <p:nvSpPr>
              <p:cNvPr id="27680" name="Line 31"/>
              <p:cNvSpPr>
                <a:spLocks noChangeShapeType="1"/>
              </p:cNvSpPr>
              <p:nvPr/>
            </p:nvSpPr>
            <p:spPr bwMode="auto">
              <a:xfrm>
                <a:off x="1965505" y="3091992"/>
                <a:ext cx="544" cy="163439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27678" name="Text Box 21"/>
            <p:cNvSpPr txBox="1">
              <a:spLocks noChangeArrowheads="1"/>
            </p:cNvSpPr>
            <p:nvPr/>
          </p:nvSpPr>
          <p:spPr bwMode="auto">
            <a:xfrm>
              <a:off x="1810582" y="473457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i="1"/>
                <a:t>h</a:t>
              </a:r>
              <a:r>
                <a:rPr lang="en-US" altLang="en-US" sz="1600" i="1" baseline="-25000"/>
                <a:t>1</a:t>
              </a:r>
            </a:p>
          </p:txBody>
        </p:sp>
      </p:grpSp>
    </p:spTree>
    <p:extLst>
      <p:ext uri="{BB962C8B-B14F-4D97-AF65-F5344CB8AC3E}">
        <p14:creationId xmlns:p14="http://schemas.microsoft.com/office/powerpoint/2010/main" val="711352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500"/>
                                        <p:tgtEl>
                                          <p:spTgt spid="5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wipe(up)">
                                      <p:cBhvr>
                                        <p:cTn id="23" dur="500"/>
                                        <p:tgtEl>
                                          <p:spTgt spid="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left)">
                                      <p:cBhvr>
                                        <p:cTn id="28" dur="500"/>
                                        <p:tgtEl>
                                          <p:spTgt spid="46"/>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childTnLst>
                          </p:cTn>
                        </p:par>
                        <p:par>
                          <p:cTn id="37" fill="hold" nodeType="afterGroup">
                            <p:stCondLst>
                              <p:cond delay="1500"/>
                            </p:stCondLst>
                            <p:childTnLst>
                              <p:par>
                                <p:cTn id="38" presetID="22" presetClass="entr" presetSubtype="1" fill="hold" nodeType="afterEffect">
                                  <p:stCondLst>
                                    <p:cond delay="0"/>
                                  </p:stCondLst>
                                  <p:childTnLst>
                                    <p:set>
                                      <p:cBhvr>
                                        <p:cTn id="39" dur="1" fill="hold">
                                          <p:stCondLst>
                                            <p:cond delay="0"/>
                                          </p:stCondLst>
                                        </p:cTn>
                                        <p:tgtEl>
                                          <p:spTgt spid="87"/>
                                        </p:tgtEl>
                                        <p:attrNameLst>
                                          <p:attrName>style.visibility</p:attrName>
                                        </p:attrNameLst>
                                      </p:cBhvr>
                                      <p:to>
                                        <p:strVal val="visible"/>
                                      </p:to>
                                    </p:set>
                                    <p:animEffect transition="in" filter="wipe(up)">
                                      <p:cBhvr>
                                        <p:cTn id="40" dur="500"/>
                                        <p:tgtEl>
                                          <p:spTgt spid="8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wipe(left)">
                                      <p:cBhvr>
                                        <p:cTn id="54" dur="500"/>
                                        <p:tgtEl>
                                          <p:spTgt spid="32"/>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wipe(left)">
                                      <p:cBhvr>
                                        <p:cTn id="58" dur="500"/>
                                        <p:tgtEl>
                                          <p:spTgt spid="68"/>
                                        </p:tgtEl>
                                      </p:cBhvr>
                                    </p:animEffect>
                                  </p:childTnLst>
                                </p:cTn>
                              </p:par>
                            </p:childTnLst>
                          </p:cTn>
                        </p:par>
                        <p:par>
                          <p:cTn id="59" fill="hold" nodeType="afterGroup">
                            <p:stCondLst>
                              <p:cond delay="1000"/>
                            </p:stCondLst>
                            <p:childTnLst>
                              <p:par>
                                <p:cTn id="60" presetID="22" presetClass="entr" presetSubtype="8" fill="hold" nodeType="after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left)">
                                      <p:cBhvr>
                                        <p:cTn id="62" dur="500"/>
                                        <p:tgtEl>
                                          <p:spTgt spid="37"/>
                                        </p:tgtEl>
                                      </p:cBhvr>
                                    </p:animEffect>
                                  </p:childTnLst>
                                </p:cTn>
                              </p:par>
                            </p:childTnLst>
                          </p:cTn>
                        </p:par>
                        <p:par>
                          <p:cTn id="63" fill="hold" nodeType="afterGroup">
                            <p:stCondLst>
                              <p:cond delay="1500"/>
                            </p:stCondLst>
                            <p:childTnLst>
                              <p:par>
                                <p:cTn id="64" presetID="22" presetClass="entr" presetSubtype="8" fill="hold" nodeType="after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wipe(left)">
                                      <p:cBhvr>
                                        <p:cTn id="66" dur="500"/>
                                        <p:tgtEl>
                                          <p:spTgt spid="44"/>
                                        </p:tgtEl>
                                      </p:cBhvr>
                                    </p:animEffect>
                                  </p:childTnLst>
                                </p:cTn>
                              </p:par>
                            </p:childTnLst>
                          </p:cTn>
                        </p:par>
                        <p:par>
                          <p:cTn id="67" fill="hold" nodeType="afterGroup">
                            <p:stCondLst>
                              <p:cond delay="2000"/>
                            </p:stCondLst>
                            <p:childTnLst>
                              <p:par>
                                <p:cTn id="68" presetID="22" presetClass="entr" presetSubtype="1" fill="hold" nodeType="afterEffect">
                                  <p:stCondLst>
                                    <p:cond delay="0"/>
                                  </p:stCondLst>
                                  <p:childTnLst>
                                    <p:set>
                                      <p:cBhvr>
                                        <p:cTn id="69" dur="1" fill="hold">
                                          <p:stCondLst>
                                            <p:cond delay="0"/>
                                          </p:stCondLst>
                                        </p:cTn>
                                        <p:tgtEl>
                                          <p:spTgt spid="73"/>
                                        </p:tgtEl>
                                        <p:attrNameLst>
                                          <p:attrName>style.visibility</p:attrName>
                                        </p:attrNameLst>
                                      </p:cBhvr>
                                      <p:to>
                                        <p:strVal val="visible"/>
                                      </p:to>
                                    </p:set>
                                    <p:animEffect transition="in" filter="wipe(up)">
                                      <p:cBhvr>
                                        <p:cTn id="70" dur="500"/>
                                        <p:tgtEl>
                                          <p:spTgt spid="7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wipe(left)">
                                      <p:cBhvr>
                                        <p:cTn id="75" dur="500"/>
                                        <p:tgtEl>
                                          <p:spTgt spid="63"/>
                                        </p:tgtEl>
                                      </p:cBhvr>
                                    </p:animEffect>
                                  </p:childTnLst>
                                </p:cTn>
                              </p:par>
                            </p:childTnLst>
                          </p:cTn>
                        </p:par>
                        <p:par>
                          <p:cTn id="76" fill="hold" nodeType="afterGroup">
                            <p:stCondLst>
                              <p:cond delay="500"/>
                            </p:stCondLst>
                            <p:childTnLst>
                              <p:par>
                                <p:cTn id="77" presetID="22" presetClass="entr" presetSubtype="8" fill="hold" nodeType="after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wipe(left)">
                                      <p:cBhvr>
                                        <p:cTn id="79" dur="500"/>
                                        <p:tgtEl>
                                          <p:spTgt spid="42"/>
                                        </p:tgtEl>
                                      </p:cBhvr>
                                    </p:animEffect>
                                  </p:childTnLst>
                                </p:cTn>
                              </p:par>
                            </p:childTnLst>
                          </p:cTn>
                        </p:par>
                        <p:par>
                          <p:cTn id="80" fill="hold" nodeType="afterGroup">
                            <p:stCondLst>
                              <p:cond delay="1000"/>
                            </p:stCondLst>
                            <p:childTnLst>
                              <p:par>
                                <p:cTn id="81" presetID="22" presetClass="entr" presetSubtype="8" fill="hold" nodeType="after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wipe(left)">
                                      <p:cBhvr>
                                        <p:cTn id="83" dur="500"/>
                                        <p:tgtEl>
                                          <p:spTgt spid="45"/>
                                        </p:tgtEl>
                                      </p:cBhvr>
                                    </p:animEffect>
                                  </p:childTnLst>
                                </p:cTn>
                              </p:par>
                            </p:childTnLst>
                          </p:cTn>
                        </p:par>
                        <p:par>
                          <p:cTn id="84" fill="hold" nodeType="afterGroup">
                            <p:stCondLst>
                              <p:cond delay="1500"/>
                            </p:stCondLst>
                            <p:childTnLst>
                              <p:par>
                                <p:cTn id="85" presetID="22" presetClass="entr" presetSubtype="1" fill="hold" nodeType="after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wipe(up)">
                                      <p:cBhvr>
                                        <p:cTn id="87" dur="500"/>
                                        <p:tgtEl>
                                          <p:spTgt spid="8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wipe(left)">
                                      <p:cBhvr>
                                        <p:cTn id="92" dur="500"/>
                                        <p:tgtEl>
                                          <p:spTgt spid="58"/>
                                        </p:tgtEl>
                                      </p:cBhvr>
                                    </p:animEffect>
                                  </p:childTnLst>
                                </p:cTn>
                              </p:par>
                            </p:childTnLst>
                          </p:cTn>
                        </p:par>
                        <p:par>
                          <p:cTn id="93" fill="hold" nodeType="afterGroup">
                            <p:stCondLst>
                              <p:cond delay="500"/>
                            </p:stCondLst>
                            <p:childTnLst>
                              <p:par>
                                <p:cTn id="94" presetID="22" presetClass="entr" presetSubtype="8" fill="hold" nodeType="after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wipe(left)">
                                      <p:cBhvr>
                                        <p:cTn id="96" dur="500"/>
                                        <p:tgtEl>
                                          <p:spTgt spid="43"/>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27651">
                                            <p:txEl>
                                              <p:pRg st="0" end="0"/>
                                            </p:txEl>
                                          </p:spTgt>
                                        </p:tgtEl>
                                        <p:attrNameLst>
                                          <p:attrName>style.visibility</p:attrName>
                                        </p:attrNameLst>
                                      </p:cBhvr>
                                      <p:to>
                                        <p:strVal val="visible"/>
                                      </p:to>
                                    </p:set>
                                    <p:animEffect transition="in" filter="wipe(left)">
                                      <p:cBhvr>
                                        <p:cTn id="100" dur="500"/>
                                        <p:tgtEl>
                                          <p:spTgt spid="27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19" grpId="0" animBg="1"/>
      <p:bldP spid="5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nSpc>
                <a:spcPct val="90000"/>
              </a:lnSpc>
            </a:pPr>
            <a:r>
              <a:rPr lang="en-US" altLang="en-US" sz="3800" smtClean="0"/>
              <a:t>A Mathematical Analysis of Labor Supply</a:t>
            </a:r>
          </a:p>
        </p:txBody>
      </p:sp>
      <p:sp>
        <p:nvSpPr>
          <p:cNvPr id="28675" name="Rectangle 3"/>
          <p:cNvSpPr>
            <a:spLocks noGrp="1" noChangeArrowheads="1"/>
          </p:cNvSpPr>
          <p:nvPr>
            <p:ph idx="1"/>
          </p:nvPr>
        </p:nvSpPr>
        <p:spPr/>
        <p:txBody>
          <a:bodyPr/>
          <a:lstStyle/>
          <a:p>
            <a:r>
              <a:rPr lang="en-US" altLang="en-US" dirty="0" smtClean="0"/>
              <a:t>Budget constraint</a:t>
            </a:r>
          </a:p>
          <a:p>
            <a:pPr lvl="1"/>
            <a:r>
              <a:rPr lang="en-US" altLang="en-US" dirty="0" smtClean="0"/>
              <a:t>Allow for the possibility of nonlabor income: </a:t>
            </a:r>
            <a:endParaRPr lang="en-US" altLang="en-US" dirty="0" smtClean="0"/>
          </a:p>
          <a:p>
            <a:pPr marL="457200" lvl="1" indent="0">
              <a:buNone/>
            </a:pPr>
            <a:r>
              <a:rPr lang="en-US" altLang="en-US" sz="2800" i="1" dirty="0">
                <a:solidFill>
                  <a:srgbClr val="FF0000"/>
                </a:solidFill>
              </a:rPr>
              <a:t>	</a:t>
            </a:r>
            <a:r>
              <a:rPr lang="en-US" altLang="en-US" i="1" dirty="0" smtClean="0">
                <a:solidFill>
                  <a:srgbClr val="FF0000"/>
                </a:solidFill>
              </a:rPr>
              <a:t>c </a:t>
            </a:r>
            <a:r>
              <a:rPr lang="en-US" altLang="en-US" i="1" dirty="0" smtClean="0">
                <a:solidFill>
                  <a:srgbClr val="FF0000"/>
                </a:solidFill>
              </a:rPr>
              <a:t>= </a:t>
            </a:r>
            <a:r>
              <a:rPr lang="en-US" altLang="en-US" i="1" dirty="0" err="1" smtClean="0">
                <a:solidFill>
                  <a:srgbClr val="FF0000"/>
                </a:solidFill>
              </a:rPr>
              <a:t>w</a:t>
            </a:r>
            <a:r>
              <a:rPr lang="en-US" altLang="en-US" i="1" dirty="0" err="1" smtClean="0">
                <a:solidFill>
                  <a:srgbClr val="FF0000"/>
                </a:solidFill>
                <a:latin typeface="Times New Roman" pitchFamily="18" charset="0"/>
              </a:rPr>
              <a:t>l</a:t>
            </a:r>
            <a:r>
              <a:rPr lang="en-US" altLang="en-US" i="1" dirty="0" smtClean="0">
                <a:solidFill>
                  <a:srgbClr val="FF0000"/>
                </a:solidFill>
              </a:rPr>
              <a:t> + n</a:t>
            </a:r>
            <a:endParaRPr lang="en-US" altLang="en-US" dirty="0" smtClean="0">
              <a:solidFill>
                <a:srgbClr val="FF0000"/>
              </a:solidFill>
            </a:endParaRPr>
          </a:p>
          <a:p>
            <a:r>
              <a:rPr lang="en-US" altLang="en-US" dirty="0" smtClean="0"/>
              <a:t>Maximization of utility subject to this constraint </a:t>
            </a:r>
          </a:p>
          <a:p>
            <a:pPr lvl="1"/>
            <a:r>
              <a:rPr lang="en-US" altLang="en-US" dirty="0" smtClean="0"/>
              <a:t>Yields identical results</a:t>
            </a:r>
          </a:p>
          <a:p>
            <a:pPr lvl="1"/>
            <a:r>
              <a:rPr lang="en-US" altLang="en-US" dirty="0" smtClean="0"/>
              <a:t>As long as </a:t>
            </a:r>
            <a:r>
              <a:rPr lang="en-US" altLang="en-US" i="1" dirty="0" smtClean="0"/>
              <a:t>n</a:t>
            </a:r>
            <a:r>
              <a:rPr lang="en-US" altLang="en-US" dirty="0" smtClean="0"/>
              <a:t> is unaffected by the labor-leisure choice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85DE492-136E-449C-B4E5-7DEFDD047B23}" type="slidenum">
              <a:rPr lang="en-US" smtClean="0"/>
              <a:pPr>
                <a:defRPr/>
              </a:pPr>
              <a:t>9</a:t>
            </a:fld>
            <a:endParaRPr lang="en-US"/>
          </a:p>
        </p:txBody>
      </p:sp>
    </p:spTree>
    <p:extLst>
      <p:ext uri="{BB962C8B-B14F-4D97-AF65-F5344CB8AC3E}">
        <p14:creationId xmlns:p14="http://schemas.microsoft.com/office/powerpoint/2010/main" val="37496883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nSpc>
                <a:spcPct val="90000"/>
              </a:lnSpc>
            </a:pPr>
            <a:r>
              <a:rPr lang="en-US" altLang="en-US" sz="3800" smtClean="0"/>
              <a:t>A Mathematical Analysis of Labor Supply</a:t>
            </a:r>
          </a:p>
        </p:txBody>
      </p:sp>
      <p:sp>
        <p:nvSpPr>
          <p:cNvPr id="29699" name="Rectangle 3"/>
          <p:cNvSpPr>
            <a:spLocks noGrp="1" noChangeArrowheads="1"/>
          </p:cNvSpPr>
          <p:nvPr>
            <p:ph idx="1"/>
          </p:nvPr>
        </p:nvSpPr>
        <p:spPr/>
        <p:txBody>
          <a:bodyPr/>
          <a:lstStyle/>
          <a:p>
            <a:r>
              <a:rPr lang="en-US" altLang="en-US" smtClean="0"/>
              <a:t>Nonlabor income </a:t>
            </a:r>
          </a:p>
          <a:p>
            <a:pPr lvl="1"/>
            <a:r>
              <a:rPr lang="en-US" altLang="en-US" smtClean="0"/>
              <a:t>Shifts the budget constraint out (or in) in a parallel fashion</a:t>
            </a:r>
            <a:endParaRPr lang="en-US" altLang="en-US" sz="1200" smtClean="0"/>
          </a:p>
          <a:p>
            <a:r>
              <a:rPr lang="en-US" altLang="en-US" smtClean="0"/>
              <a:t>Individual’s labor supply function, </a:t>
            </a:r>
            <a:r>
              <a:rPr lang="en-US" altLang="en-US" i="1" smtClean="0">
                <a:latin typeface="Times New Roman" pitchFamily="18" charset="0"/>
              </a:rPr>
              <a:t>l</a:t>
            </a:r>
            <a:r>
              <a:rPr lang="en-US" altLang="en-US" smtClean="0"/>
              <a:t>(</a:t>
            </a:r>
            <a:r>
              <a:rPr lang="en-US" altLang="en-US" i="1" smtClean="0"/>
              <a:t>w</a:t>
            </a:r>
            <a:r>
              <a:rPr lang="en-US" altLang="en-US" smtClean="0"/>
              <a:t>,</a:t>
            </a:r>
            <a:r>
              <a:rPr lang="en-US" altLang="en-US" i="1" smtClean="0"/>
              <a:t>n</a:t>
            </a:r>
            <a:r>
              <a:rPr lang="en-US" altLang="en-US" smtClean="0"/>
              <a:t>)</a:t>
            </a:r>
          </a:p>
          <a:p>
            <a:pPr lvl="1"/>
            <a:r>
              <a:rPr lang="en-US" altLang="en-US" smtClean="0"/>
              <a:t>Hours worked depend on </a:t>
            </a:r>
          </a:p>
          <a:p>
            <a:pPr lvl="2"/>
            <a:r>
              <a:rPr lang="en-US" altLang="en-US" smtClean="0"/>
              <a:t>The wage </a:t>
            </a:r>
          </a:p>
          <a:p>
            <a:pPr lvl="2"/>
            <a:r>
              <a:rPr lang="en-US" altLang="en-US" smtClean="0"/>
              <a:t>The amount of nonlabor income</a:t>
            </a:r>
          </a:p>
          <a:p>
            <a:pPr lvl="1"/>
            <a:r>
              <a:rPr lang="en-US" altLang="en-US" smtClean="0"/>
              <a:t>Since leisure is a normal good, </a:t>
            </a:r>
            <a:r>
              <a:rPr lang="en-US" altLang="en-US" smtClean="0">
                <a:sym typeface="Symbol" pitchFamily="18" charset="2"/>
              </a:rPr>
              <a:t></a:t>
            </a:r>
            <a:r>
              <a:rPr lang="en-US" altLang="en-US" i="1" smtClean="0">
                <a:latin typeface="Times New Roman" pitchFamily="18" charset="0"/>
                <a:sym typeface="Symbol" pitchFamily="18" charset="2"/>
              </a:rPr>
              <a:t>l</a:t>
            </a:r>
            <a:r>
              <a:rPr lang="en-US" altLang="en-US" smtClean="0">
                <a:sym typeface="Symbol" pitchFamily="18" charset="2"/>
              </a:rPr>
              <a:t>/</a:t>
            </a:r>
            <a:r>
              <a:rPr lang="en-US" altLang="en-US" i="1" smtClean="0">
                <a:sym typeface="Symbol" pitchFamily="18" charset="2"/>
              </a:rPr>
              <a:t>n</a:t>
            </a:r>
            <a:r>
              <a:rPr lang="en-US" altLang="en-US" smtClean="0">
                <a:sym typeface="Symbol" pitchFamily="18" charset="2"/>
              </a:rPr>
              <a:t> &lt; 0</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D577D74-6D1E-4C2E-941D-59F5EE0D439B}" type="slidenum">
              <a:rPr lang="en-US" smtClean="0"/>
              <a:pPr>
                <a:defRPr/>
              </a:pPr>
              <a:t>10</a:t>
            </a:fld>
            <a:endParaRPr lang="en-US"/>
          </a:p>
        </p:txBody>
      </p:sp>
    </p:spTree>
    <p:extLst>
      <p:ext uri="{BB962C8B-B14F-4D97-AF65-F5344CB8AC3E}">
        <p14:creationId xmlns:p14="http://schemas.microsoft.com/office/powerpoint/2010/main" val="14331225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dirty="0" smtClean="0"/>
              <a:t>Dual to the Labor Supply Problem</a:t>
            </a:r>
            <a:endParaRPr lang="en-US" altLang="en-US" dirty="0" smtClean="0"/>
          </a:p>
        </p:txBody>
      </p:sp>
      <mc:AlternateContent xmlns:mc="http://schemas.openxmlformats.org/markup-compatibility/2006">
        <mc:Choice xmlns:a14="http://schemas.microsoft.com/office/drawing/2010/main" Requires="a14">
          <p:sp>
            <p:nvSpPr>
              <p:cNvPr id="30723" name="Rectangle 3"/>
              <p:cNvSpPr>
                <a:spLocks noGrp="1" noChangeArrowheads="1"/>
              </p:cNvSpPr>
              <p:nvPr>
                <p:ph idx="1"/>
              </p:nvPr>
            </p:nvSpPr>
            <p:spPr/>
            <p:txBody>
              <a:bodyPr/>
              <a:lstStyle/>
              <a:p>
                <a:r>
                  <a:rPr lang="en-US" altLang="en-US" dirty="0" smtClean="0"/>
                  <a:t>Minimize the </a:t>
                </a:r>
                <a:r>
                  <a:rPr lang="en-US" altLang="en-US" dirty="0"/>
                  <a:t>non-labor income necessary to attain a given utility “target</a:t>
                </a:r>
                <a:r>
                  <a:rPr lang="en-US" altLang="en-US" dirty="0" smtClean="0"/>
                  <a:t>”</a:t>
                </a:r>
              </a:p>
              <a:p>
                <a:pPr lvl="1"/>
                <a:r>
                  <a:rPr lang="en-US" altLang="en-US" dirty="0" smtClean="0"/>
                  <a:t>The individual’s </a:t>
                </a:r>
                <a:r>
                  <a:rPr lang="en-US" altLang="en-US" dirty="0"/>
                  <a:t>optimization problem is </a:t>
                </a:r>
              </a:p>
              <a:p>
                <a:pPr lvl="2"/>
                <a:r>
                  <a:rPr lang="en-US" altLang="en-US" sz="3200" dirty="0" smtClean="0"/>
                  <a:t>Minimize </a:t>
                </a:r>
                <a:r>
                  <a:rPr lang="en-US" altLang="en-US" sz="3200" i="1" dirty="0" smtClean="0">
                    <a:solidFill>
                      <a:srgbClr val="C00000"/>
                    </a:solidFill>
                    <a:latin typeface="Times New Roman" panose="02020603050405020304" pitchFamily="18" charset="0"/>
                    <a:cs typeface="Times New Roman" panose="02020603050405020304" pitchFamily="18" charset="0"/>
                  </a:rPr>
                  <a:t>n = c-</a:t>
                </a:r>
                <a:r>
                  <a:rPr lang="en-US" altLang="en-US" sz="3200" i="1" dirty="0" err="1" smtClean="0">
                    <a:solidFill>
                      <a:srgbClr val="C00000"/>
                    </a:solidFill>
                    <a:latin typeface="Times New Roman" panose="02020603050405020304" pitchFamily="18" charset="0"/>
                    <a:cs typeface="Times New Roman" panose="02020603050405020304" pitchFamily="18" charset="0"/>
                  </a:rPr>
                  <a:t>wl</a:t>
                </a:r>
                <a:r>
                  <a:rPr lang="en-US" altLang="en-US" sz="3200" i="1" dirty="0" smtClean="0">
                    <a:solidFill>
                      <a:srgbClr val="C00000"/>
                    </a:solidFill>
                    <a:latin typeface="Times New Roman" panose="02020603050405020304" pitchFamily="18" charset="0"/>
                    <a:cs typeface="Times New Roman" panose="02020603050405020304" pitchFamily="18" charset="0"/>
                  </a:rPr>
                  <a:t> = c-w(24-4)</a:t>
                </a:r>
                <a:r>
                  <a:rPr lang="en-US" altLang="en-US" sz="3200" dirty="0"/>
                  <a:t>	                                      </a:t>
                </a:r>
                <a:endParaRPr lang="en-US" altLang="en-US" sz="3200" dirty="0" smtClean="0"/>
              </a:p>
              <a:p>
                <a:pPr lvl="2"/>
                <a:r>
                  <a:rPr lang="en-US" altLang="en-US" sz="3200" dirty="0" smtClean="0"/>
                  <a:t>Subject to </a:t>
                </a:r>
                <a:r>
                  <a:rPr lang="en-US" altLang="en-US" sz="3200" i="1" dirty="0" smtClean="0">
                    <a:solidFill>
                      <a:srgbClr val="C00000"/>
                    </a:solidFill>
                    <a:latin typeface="Times New Roman" panose="02020603050405020304" pitchFamily="18" charset="0"/>
                    <a:cs typeface="Times New Roman" panose="02020603050405020304" pitchFamily="18" charset="0"/>
                  </a:rPr>
                  <a:t>U(</a:t>
                </a:r>
                <a:r>
                  <a:rPr lang="en-US" altLang="en-US" sz="3200" i="1" dirty="0" err="1" smtClean="0">
                    <a:solidFill>
                      <a:srgbClr val="C00000"/>
                    </a:solidFill>
                    <a:latin typeface="Times New Roman" panose="02020603050405020304" pitchFamily="18" charset="0"/>
                    <a:cs typeface="Times New Roman" panose="02020603050405020304" pitchFamily="18" charset="0"/>
                  </a:rPr>
                  <a:t>c,h</a:t>
                </a:r>
                <a:r>
                  <a:rPr lang="en-US" altLang="en-US" sz="3200" i="1" dirty="0" smtClean="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en-US" altLang="en-US" sz="3200" i="1" smtClean="0">
                            <a:solidFill>
                              <a:srgbClr val="C00000"/>
                            </a:solidFill>
                            <a:latin typeface="Cambria Math"/>
                          </a:rPr>
                        </m:ctrlPr>
                      </m:accPr>
                      <m:e>
                        <m:r>
                          <a:rPr lang="en-US" altLang="en-US" sz="3200" b="0" i="1" smtClean="0">
                            <a:solidFill>
                              <a:srgbClr val="C00000"/>
                            </a:solidFill>
                            <a:latin typeface="Cambria Math"/>
                          </a:rPr>
                          <m:t>𝑈</m:t>
                        </m:r>
                      </m:e>
                    </m:acc>
                  </m:oMath>
                </a14:m>
                <a:r>
                  <a:rPr lang="en-US" altLang="en-US" sz="3200" dirty="0" smtClean="0">
                    <a:solidFill>
                      <a:srgbClr val="C00000"/>
                    </a:solidFill>
                  </a:rPr>
                  <a:t> </a:t>
                </a:r>
              </a:p>
              <a:p>
                <a:pPr lvl="1"/>
                <a:r>
                  <a:rPr lang="en-US" altLang="en-US" dirty="0" smtClean="0"/>
                  <a:t>The </a:t>
                </a:r>
                <a:r>
                  <a:rPr lang="en-US" altLang="en-US" dirty="0" err="1" smtClean="0"/>
                  <a:t>Lagrangian</a:t>
                </a:r>
                <a:r>
                  <a:rPr lang="en-US" altLang="en-US" dirty="0" smtClean="0"/>
                  <a:t>: </a:t>
                </a:r>
              </a:p>
              <a:p>
                <a:pPr marL="457200" lvl="1" indent="0">
                  <a:buNone/>
                </a:pPr>
                <a:r>
                  <a:rPr lang="en-US" altLang="en-US" dirty="0">
                    <a:solidFill>
                      <a:srgbClr val="C00000"/>
                    </a:solidFill>
                  </a:rPr>
                  <a:t>	</a:t>
                </a:r>
                <a:r>
                  <a:rPr lang="en-US" altLang="en-US" i="1" dirty="0" smtClean="0">
                    <a:solidFill>
                      <a:srgbClr val="C00000"/>
                    </a:solidFill>
                    <a:latin typeface="Times New Roman" panose="02020603050405020304" pitchFamily="18" charset="0"/>
                    <a:cs typeface="Times New Roman" panose="02020603050405020304" pitchFamily="18" charset="0"/>
                  </a:rPr>
                  <a:t>L(</a:t>
                </a:r>
                <a:r>
                  <a:rPr lang="en-US" altLang="en-US" i="1" dirty="0" err="1" smtClean="0">
                    <a:solidFill>
                      <a:srgbClr val="C00000"/>
                    </a:solidFill>
                    <a:latin typeface="Times New Roman" panose="02020603050405020304" pitchFamily="18" charset="0"/>
                    <a:cs typeface="Times New Roman" panose="02020603050405020304" pitchFamily="18" charset="0"/>
                  </a:rPr>
                  <a:t>c,h</a:t>
                </a:r>
                <a:r>
                  <a:rPr lang="en-US" altLang="en-US" i="1" dirty="0" smtClean="0">
                    <a:solidFill>
                      <a:srgbClr val="C00000"/>
                    </a:solidFill>
                    <a:latin typeface="Times New Roman" panose="02020603050405020304" pitchFamily="18" charset="0"/>
                    <a:cs typeface="Times New Roman" panose="02020603050405020304" pitchFamily="18" charset="0"/>
                  </a:rPr>
                  <a:t>,</a:t>
                </a:r>
                <a:r>
                  <a:rPr lang="el-GR" altLang="en-US" i="1" dirty="0" smtClean="0">
                    <a:solidFill>
                      <a:srgbClr val="C00000"/>
                    </a:solidFill>
                    <a:latin typeface="Times New Roman" panose="02020603050405020304" pitchFamily="18" charset="0"/>
                    <a:cs typeface="Times New Roman" panose="02020603050405020304" pitchFamily="18" charset="0"/>
                  </a:rPr>
                  <a:t>λ</a:t>
                </a:r>
                <a:r>
                  <a:rPr lang="en-US" altLang="en-US" i="1" dirty="0" smtClean="0">
                    <a:solidFill>
                      <a:srgbClr val="C00000"/>
                    </a:solidFill>
                    <a:latin typeface="Times New Roman" panose="02020603050405020304" pitchFamily="18" charset="0"/>
                    <a:cs typeface="Times New Roman" panose="02020603050405020304" pitchFamily="18" charset="0"/>
                  </a:rPr>
                  <a:t>)= c-w(24-h)+</a:t>
                </a:r>
                <a:r>
                  <a:rPr lang="el-GR" altLang="en-US" i="1" dirty="0" smtClean="0">
                    <a:solidFill>
                      <a:srgbClr val="C00000"/>
                    </a:solidFill>
                    <a:latin typeface="Times New Roman" panose="02020603050405020304" pitchFamily="18" charset="0"/>
                    <a:cs typeface="Times New Roman" panose="02020603050405020304" pitchFamily="18" charset="0"/>
                  </a:rPr>
                  <a:t>λ</a:t>
                </a:r>
                <a:r>
                  <a:rPr lang="en-US" altLang="en-US" i="1" dirty="0" smtClean="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en-US" altLang="en-US" i="1">
                            <a:solidFill>
                              <a:srgbClr val="C00000"/>
                            </a:solidFill>
                            <a:latin typeface="Cambria Math"/>
                          </a:rPr>
                        </m:ctrlPr>
                      </m:accPr>
                      <m:e>
                        <m:r>
                          <a:rPr lang="en-US" altLang="en-US" i="1">
                            <a:solidFill>
                              <a:srgbClr val="C00000"/>
                            </a:solidFill>
                            <a:latin typeface="Cambria Math"/>
                          </a:rPr>
                          <m:t>𝑈</m:t>
                        </m:r>
                      </m:e>
                    </m:acc>
                  </m:oMath>
                </a14:m>
                <a:r>
                  <a:rPr lang="en-US" altLang="en-US" i="1" dirty="0">
                    <a:solidFill>
                      <a:srgbClr val="C00000"/>
                    </a:solidFill>
                    <a:latin typeface="Times New Roman" panose="02020603050405020304" pitchFamily="18" charset="0"/>
                    <a:cs typeface="Times New Roman" panose="02020603050405020304" pitchFamily="18" charset="0"/>
                  </a:rPr>
                  <a:t> </a:t>
                </a:r>
                <a:r>
                  <a:rPr lang="en-US" altLang="en-US" i="1" dirty="0" smtClean="0">
                    <a:solidFill>
                      <a:srgbClr val="C00000"/>
                    </a:solidFill>
                    <a:latin typeface="Times New Roman" panose="02020603050405020304" pitchFamily="18" charset="0"/>
                    <a:cs typeface="Times New Roman" panose="02020603050405020304" pitchFamily="18" charset="0"/>
                  </a:rPr>
                  <a:t>-U(</a:t>
                </a:r>
                <a:r>
                  <a:rPr lang="en-US" altLang="en-US" i="1" dirty="0" err="1" smtClean="0">
                    <a:solidFill>
                      <a:srgbClr val="C00000"/>
                    </a:solidFill>
                    <a:latin typeface="Times New Roman" panose="02020603050405020304" pitchFamily="18" charset="0"/>
                    <a:cs typeface="Times New Roman" panose="02020603050405020304" pitchFamily="18" charset="0"/>
                  </a:rPr>
                  <a:t>c,h</a:t>
                </a:r>
                <a:r>
                  <a:rPr lang="en-US" altLang="en-US" i="1" dirty="0" smtClean="0">
                    <a:solidFill>
                      <a:srgbClr val="C00000"/>
                    </a:solidFill>
                    <a:latin typeface="Times New Roman" panose="02020603050405020304" pitchFamily="18" charset="0"/>
                    <a:cs typeface="Times New Roman" panose="02020603050405020304" pitchFamily="18" charset="0"/>
                  </a:rPr>
                  <a:t>)]</a:t>
                </a:r>
                <a:endParaRPr lang="en-US" altLang="en-US" i="1" dirty="0">
                  <a:solidFill>
                    <a:srgbClr val="C00000"/>
                  </a:solidFill>
                  <a:latin typeface="Times New Roman" panose="02020603050405020304" pitchFamily="18" charset="0"/>
                  <a:cs typeface="Times New Roman" panose="02020603050405020304" pitchFamily="18" charset="0"/>
                </a:endParaRPr>
              </a:p>
              <a:p>
                <a:pPr marL="0" indent="0">
                  <a:buNone/>
                </a:pPr>
                <a:endParaRPr lang="en-US" altLang="en-US" dirty="0" smtClean="0"/>
              </a:p>
            </p:txBody>
          </p:sp>
        </mc:Choice>
        <mc:Fallback>
          <p:sp>
            <p:nvSpPr>
              <p:cNvPr id="30723"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r="-571"/>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6CA117C-3EF6-4577-92DD-5A81FAB336CF}" type="slidenum">
              <a:rPr lang="en-US" smtClean="0"/>
              <a:pPr>
                <a:defRPr/>
              </a:pPr>
              <a:t>11</a:t>
            </a:fld>
            <a:endParaRPr lang="en-US"/>
          </a:p>
        </p:txBody>
      </p:sp>
    </p:spTree>
    <p:extLst>
      <p:ext uri="{BB962C8B-B14F-4D97-AF65-F5344CB8AC3E}">
        <p14:creationId xmlns:p14="http://schemas.microsoft.com/office/powerpoint/2010/main" val="11519867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dirty="0" smtClean="0"/>
              <a:t>Dual to the Labor Supply Problem</a:t>
            </a:r>
            <a:endParaRPr lang="en-US" altLang="en-US" dirty="0" smtClean="0"/>
          </a:p>
        </p:txBody>
      </p:sp>
      <mc:AlternateContent xmlns:mc="http://schemas.openxmlformats.org/markup-compatibility/2006">
        <mc:Choice xmlns:a14="http://schemas.microsoft.com/office/drawing/2010/main" Requires="a14">
          <p:sp>
            <p:nvSpPr>
              <p:cNvPr id="30723" name="Rectangle 3"/>
              <p:cNvSpPr>
                <a:spLocks noGrp="1" noChangeArrowheads="1"/>
              </p:cNvSpPr>
              <p:nvPr>
                <p:ph idx="1"/>
              </p:nvPr>
            </p:nvSpPr>
            <p:spPr/>
            <p:txBody>
              <a:bodyPr/>
              <a:lstStyle/>
              <a:p>
                <a:r>
                  <a:rPr lang="en-US" altLang="en-US" dirty="0" smtClean="0"/>
                  <a:t>Minimal </a:t>
                </a:r>
                <a:r>
                  <a:rPr lang="en-US" altLang="en-US" dirty="0"/>
                  <a:t>non-labor income </a:t>
                </a:r>
                <a:endParaRPr lang="en-US" altLang="en-US" dirty="0" smtClean="0"/>
              </a:p>
              <a:p>
                <a:pPr lvl="2"/>
                <a:r>
                  <a:rPr lang="en-US" altLang="en-US" dirty="0" smtClean="0"/>
                  <a:t>Necessary </a:t>
                </a:r>
                <a:r>
                  <a:rPr lang="en-US" altLang="en-US" dirty="0"/>
                  <a:t>to achieve a given utility level </a:t>
                </a:r>
                <a:endParaRPr lang="en-US" altLang="en-US" dirty="0" smtClean="0"/>
              </a:p>
              <a:p>
                <a:pPr lvl="2"/>
                <a:r>
                  <a:rPr lang="en-US" altLang="en-US" dirty="0" smtClean="0"/>
                  <a:t>As </a:t>
                </a:r>
                <a:r>
                  <a:rPr lang="en-US" altLang="en-US" dirty="0"/>
                  <a:t>a function of the wage and that target utility </a:t>
                </a:r>
                <a:r>
                  <a:rPr lang="en-US" altLang="en-US" dirty="0" smtClean="0"/>
                  <a:t>level, </a:t>
                </a:r>
                <a:r>
                  <a:rPr lang="en-US" altLang="en-US" i="1" dirty="0" smtClean="0">
                    <a:latin typeface="Times New Roman" panose="02020603050405020304" pitchFamily="18" charset="0"/>
                    <a:cs typeface="Times New Roman" panose="02020603050405020304" pitchFamily="18" charset="0"/>
                  </a:rPr>
                  <a:t>n*(</a:t>
                </a:r>
                <a:r>
                  <a:rPr lang="en-US" altLang="en-US" i="1" dirty="0" err="1" smtClean="0">
                    <a:latin typeface="Times New Roman" panose="02020603050405020304" pitchFamily="18" charset="0"/>
                    <a:cs typeface="Times New Roman" panose="02020603050405020304" pitchFamily="18" charset="0"/>
                  </a:rPr>
                  <a:t>w,U</a:t>
                </a:r>
                <a:r>
                  <a:rPr lang="en-US" altLang="en-US" i="1" dirty="0" smtClean="0">
                    <a:latin typeface="Times New Roman" panose="02020603050405020304" pitchFamily="18" charset="0"/>
                    <a:cs typeface="Times New Roman" panose="02020603050405020304" pitchFamily="18" charset="0"/>
                  </a:rPr>
                  <a:t>)</a:t>
                </a:r>
              </a:p>
              <a:p>
                <a:r>
                  <a:rPr lang="en-US" altLang="en-US" dirty="0"/>
                  <a:t>Applying the envelope theorem </a:t>
                </a:r>
                <a:r>
                  <a:rPr lang="en-US" altLang="en-US" dirty="0" smtClean="0"/>
                  <a:t>:</a:t>
                </a:r>
              </a:p>
              <a:p>
                <a:pPr marL="457200" lvl="1" indent="0">
                  <a:buNone/>
                </a:pPr>
                <a14:m>
                  <m:oMathPara xmlns:m="http://schemas.openxmlformats.org/officeDocument/2006/math">
                    <m:oMathParaPr>
                      <m:jc m:val="centerGroup"/>
                    </m:oMathParaPr>
                    <m:oMath xmlns:m="http://schemas.openxmlformats.org/officeDocument/2006/math">
                      <m:f>
                        <m:fPr>
                          <m:ctrlPr>
                            <a:rPr lang="en-US" altLang="en-US" i="1" smtClean="0">
                              <a:latin typeface="Cambria Math"/>
                            </a:rPr>
                          </m:ctrlPr>
                        </m:fPr>
                        <m:num>
                          <m:r>
                            <a:rPr lang="en-US" altLang="en-US" i="1" smtClean="0">
                              <a:latin typeface="Cambria Math"/>
                            </a:rPr>
                            <m:t>𝑑</m:t>
                          </m:r>
                          <m:sSup>
                            <m:sSupPr>
                              <m:ctrlPr>
                                <a:rPr lang="en-US" altLang="en-US" i="1" smtClean="0">
                                  <a:latin typeface="Cambria Math"/>
                                </a:rPr>
                              </m:ctrlPr>
                            </m:sSupPr>
                            <m:e>
                              <m:r>
                                <a:rPr lang="en-US" altLang="en-US" b="0" i="1" smtClean="0">
                                  <a:latin typeface="Cambria Math"/>
                                </a:rPr>
                                <m:t>𝑛</m:t>
                              </m:r>
                            </m:e>
                            <m:sup>
                              <m:r>
                                <a:rPr lang="en-US" altLang="en-US" b="0" i="1" smtClean="0">
                                  <a:latin typeface="Cambria Math"/>
                                </a:rPr>
                                <m:t>∗</m:t>
                              </m:r>
                            </m:sup>
                          </m:sSup>
                          <m:r>
                            <a:rPr lang="en-US" altLang="en-US" b="0" i="1" smtClean="0">
                              <a:latin typeface="Cambria Math"/>
                            </a:rPr>
                            <m:t>(</m:t>
                          </m:r>
                          <m:r>
                            <a:rPr lang="en-US" altLang="en-US" b="0" i="1" smtClean="0">
                              <a:latin typeface="Cambria Math"/>
                            </a:rPr>
                            <m:t>𝑤</m:t>
                          </m:r>
                          <m:r>
                            <a:rPr lang="en-US" altLang="en-US" b="0" i="1" smtClean="0">
                              <a:latin typeface="Cambria Math"/>
                            </a:rPr>
                            <m:t>,</m:t>
                          </m:r>
                          <m:r>
                            <a:rPr lang="en-US" altLang="en-US" b="0" i="1" smtClean="0">
                              <a:latin typeface="Cambria Math"/>
                            </a:rPr>
                            <m:t>𝑈</m:t>
                          </m:r>
                          <m:r>
                            <a:rPr lang="en-US" altLang="en-US" b="0" i="1" smtClean="0">
                              <a:latin typeface="Cambria Math"/>
                            </a:rPr>
                            <m:t>)</m:t>
                          </m:r>
                        </m:num>
                        <m:den>
                          <m:r>
                            <a:rPr lang="en-US" altLang="en-US" i="1" smtClean="0">
                              <a:latin typeface="Cambria Math"/>
                            </a:rPr>
                            <m:t>𝑑</m:t>
                          </m:r>
                          <m:r>
                            <a:rPr lang="en-US" altLang="en-US" b="0" i="1" smtClean="0">
                              <a:latin typeface="Cambria Math"/>
                            </a:rPr>
                            <m:t>𝑤</m:t>
                          </m:r>
                        </m:den>
                      </m:f>
                      <m:r>
                        <a:rPr lang="en-US" altLang="en-US" b="0" i="1" smtClean="0">
                          <a:latin typeface="Cambria Math"/>
                        </a:rPr>
                        <m:t>=</m:t>
                      </m:r>
                      <m:f>
                        <m:fPr>
                          <m:ctrlPr>
                            <a:rPr lang="en-US" altLang="en-US" b="0" i="1" smtClean="0">
                              <a:latin typeface="Cambria Math"/>
                            </a:rPr>
                          </m:ctrlPr>
                        </m:fPr>
                        <m:num>
                          <m:r>
                            <a:rPr lang="en-US" altLang="en-US" b="0" i="1" smtClean="0">
                              <a:latin typeface="Cambria Math"/>
                            </a:rPr>
                            <m:t>𝜕</m:t>
                          </m:r>
                          <m:r>
                            <a:rPr lang="en-US" altLang="en-US" b="0" i="1" smtClean="0">
                              <a:latin typeface="Cambria Math"/>
                            </a:rPr>
                            <m:t>𝐿</m:t>
                          </m:r>
                        </m:num>
                        <m:den>
                          <m:r>
                            <a:rPr lang="en-US" altLang="en-US" b="0" i="1" smtClean="0">
                              <a:latin typeface="Cambria Math"/>
                            </a:rPr>
                            <m:t>𝜕</m:t>
                          </m:r>
                          <m:r>
                            <a:rPr lang="en-US" altLang="en-US" b="0" i="1" smtClean="0">
                              <a:latin typeface="Cambria Math"/>
                            </a:rPr>
                            <m:t>𝑤</m:t>
                          </m:r>
                        </m:den>
                      </m:f>
                      <m:r>
                        <a:rPr lang="en-US" altLang="en-US" b="0" i="1" smtClean="0">
                          <a:latin typeface="Cambria Math"/>
                        </a:rPr>
                        <m:t>=−</m:t>
                      </m:r>
                      <m:d>
                        <m:dPr>
                          <m:ctrlPr>
                            <a:rPr lang="en-US" altLang="en-US" b="0" i="1" smtClean="0">
                              <a:latin typeface="Cambria Math"/>
                            </a:rPr>
                          </m:ctrlPr>
                        </m:dPr>
                        <m:e>
                          <m:r>
                            <a:rPr lang="en-US" altLang="en-US" b="0" i="1" smtClean="0">
                              <a:latin typeface="Cambria Math"/>
                            </a:rPr>
                            <m:t>24−</m:t>
                          </m:r>
                          <m:r>
                            <a:rPr lang="en-US" altLang="en-US" b="0" i="1" smtClean="0">
                              <a:latin typeface="Cambria Math"/>
                            </a:rPr>
                            <m:t>h</m:t>
                          </m:r>
                        </m:e>
                      </m:d>
                      <m:r>
                        <a:rPr lang="en-US" altLang="en-US" b="0" i="1" smtClean="0">
                          <a:latin typeface="Cambria Math"/>
                        </a:rPr>
                        <m:t>=−</m:t>
                      </m:r>
                      <m:sSup>
                        <m:sSupPr>
                          <m:ctrlPr>
                            <a:rPr lang="en-US" altLang="en-US" b="0" i="1" smtClean="0">
                              <a:latin typeface="Cambria Math"/>
                            </a:rPr>
                          </m:ctrlPr>
                        </m:sSupPr>
                        <m:e>
                          <m:r>
                            <a:rPr lang="en-US" altLang="en-US" b="0" i="1" smtClean="0">
                              <a:latin typeface="Cambria Math"/>
                            </a:rPr>
                            <m:t>𝑙</m:t>
                          </m:r>
                        </m:e>
                        <m:sup>
                          <m:r>
                            <a:rPr lang="en-US" altLang="en-US" b="0" i="1" smtClean="0">
                              <a:latin typeface="Cambria Math"/>
                            </a:rPr>
                            <m:t>𝑐</m:t>
                          </m:r>
                        </m:sup>
                      </m:sSup>
                      <m:d>
                        <m:dPr>
                          <m:ctrlPr>
                            <a:rPr lang="en-US" altLang="en-US" b="0" i="1" smtClean="0">
                              <a:latin typeface="Cambria Math"/>
                            </a:rPr>
                          </m:ctrlPr>
                        </m:dPr>
                        <m:e>
                          <m:r>
                            <a:rPr lang="en-US" altLang="en-US" b="0" i="1" smtClean="0">
                              <a:latin typeface="Cambria Math"/>
                            </a:rPr>
                            <m:t>𝑤</m:t>
                          </m:r>
                          <m:r>
                            <a:rPr lang="en-US" altLang="en-US" b="0" i="1" smtClean="0">
                              <a:latin typeface="Cambria Math"/>
                            </a:rPr>
                            <m:t>,</m:t>
                          </m:r>
                          <m:r>
                            <a:rPr lang="en-US" altLang="en-US" b="0" i="1" smtClean="0">
                              <a:latin typeface="Cambria Math"/>
                            </a:rPr>
                            <m:t>𝑈</m:t>
                          </m:r>
                        </m:e>
                      </m:d>
                      <m:r>
                        <a:rPr lang="en-US" altLang="en-US" b="0" i="1" smtClean="0">
                          <a:latin typeface="Cambria Math"/>
                        </a:rPr>
                        <m:t> </m:t>
                      </m:r>
                    </m:oMath>
                  </m:oMathPara>
                </a14:m>
                <a:endParaRPr lang="en-US" altLang="en-US" dirty="0" smtClean="0"/>
              </a:p>
              <a:p>
                <a:pPr lvl="2"/>
                <a:r>
                  <a:rPr lang="en-US" altLang="en-US" dirty="0" smtClean="0"/>
                  <a:t>Where </a:t>
                </a:r>
                <a14:m>
                  <m:oMath xmlns:m="http://schemas.openxmlformats.org/officeDocument/2006/math">
                    <m:sSup>
                      <m:sSupPr>
                        <m:ctrlPr>
                          <a:rPr lang="en-US" altLang="en-US" i="1">
                            <a:latin typeface="Cambria Math"/>
                          </a:rPr>
                        </m:ctrlPr>
                      </m:sSupPr>
                      <m:e>
                        <m:r>
                          <a:rPr lang="en-US" altLang="en-US" i="1">
                            <a:latin typeface="Cambria Math"/>
                          </a:rPr>
                          <m:t>𝑙</m:t>
                        </m:r>
                      </m:e>
                      <m:sup>
                        <m:r>
                          <a:rPr lang="en-US" altLang="en-US" i="1">
                            <a:latin typeface="Cambria Math"/>
                          </a:rPr>
                          <m:t>𝑐</m:t>
                        </m:r>
                      </m:sup>
                    </m:sSup>
                    <m:d>
                      <m:dPr>
                        <m:ctrlPr>
                          <a:rPr lang="en-US" altLang="en-US" i="1">
                            <a:latin typeface="Cambria Math"/>
                          </a:rPr>
                        </m:ctrlPr>
                      </m:dPr>
                      <m:e>
                        <m:r>
                          <a:rPr lang="en-US" altLang="en-US" i="1">
                            <a:latin typeface="Cambria Math"/>
                          </a:rPr>
                          <m:t>𝑤</m:t>
                        </m:r>
                        <m:r>
                          <a:rPr lang="en-US" altLang="en-US" i="1">
                            <a:latin typeface="Cambria Math"/>
                          </a:rPr>
                          <m:t>,</m:t>
                        </m:r>
                        <m:r>
                          <a:rPr lang="en-US" altLang="en-US" i="1">
                            <a:latin typeface="Cambria Math"/>
                          </a:rPr>
                          <m:t>𝑈</m:t>
                        </m:r>
                      </m:e>
                    </m:d>
                  </m:oMath>
                </a14:m>
                <a:r>
                  <a:rPr lang="en-US" altLang="en-US" dirty="0"/>
                  <a:t> conveys the idea that this derivative yields a “compensated” labor supply </a:t>
                </a:r>
                <a:r>
                  <a:rPr lang="en-US" altLang="en-US" dirty="0" smtClean="0"/>
                  <a:t>function</a:t>
                </a:r>
                <a:endParaRPr lang="en-US" altLang="en-US" dirty="0" smtClean="0"/>
              </a:p>
            </p:txBody>
          </p:sp>
        </mc:Choice>
        <mc:Fallback>
          <p:sp>
            <p:nvSpPr>
              <p:cNvPr id="30723"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6CA117C-3EF6-4577-92DD-5A81FAB336CF}" type="slidenum">
              <a:rPr lang="en-US" smtClean="0"/>
              <a:pPr>
                <a:defRPr/>
              </a:pPr>
              <a:t>12</a:t>
            </a:fld>
            <a:endParaRPr lang="en-US"/>
          </a:p>
        </p:txBody>
      </p:sp>
    </p:spTree>
    <p:extLst>
      <p:ext uri="{BB962C8B-B14F-4D97-AF65-F5344CB8AC3E}">
        <p14:creationId xmlns:p14="http://schemas.microsoft.com/office/powerpoint/2010/main" val="3579033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dirty="0" err="1" smtClean="0"/>
              <a:t>Slutsky</a:t>
            </a:r>
            <a:r>
              <a:rPr lang="en-US" altLang="en-US" dirty="0" smtClean="0"/>
              <a:t> Equation for Labor Supply</a:t>
            </a:r>
            <a:endParaRPr lang="en-US" altLang="en-US" dirty="0" smtClean="0"/>
          </a:p>
        </p:txBody>
      </p:sp>
      <mc:AlternateContent xmlns:mc="http://schemas.openxmlformats.org/markup-compatibility/2006">
        <mc:Choice xmlns:a14="http://schemas.microsoft.com/office/drawing/2010/main" Requires="a14">
          <p:sp>
            <p:nvSpPr>
              <p:cNvPr id="30723" name="Rectangle 3"/>
              <p:cNvSpPr>
                <a:spLocks noGrp="1" noChangeArrowheads="1"/>
              </p:cNvSpPr>
              <p:nvPr>
                <p:ph idx="1"/>
              </p:nvPr>
            </p:nvSpPr>
            <p:spPr/>
            <p:txBody>
              <a:bodyPr/>
              <a:lstStyle/>
              <a:p>
                <a:r>
                  <a:rPr lang="en-US" altLang="en-US" dirty="0" smtClean="0"/>
                  <a:t>Uncompensated labor </a:t>
                </a:r>
                <a:r>
                  <a:rPr lang="en-US" altLang="en-US" dirty="0"/>
                  <a:t>supply </a:t>
                </a:r>
                <a:r>
                  <a:rPr lang="en-US" altLang="en-US" dirty="0" smtClean="0"/>
                  <a:t>function </a:t>
                </a:r>
                <a:r>
                  <a:rPr lang="en-US" altLang="en-US" i="1" dirty="0" smtClean="0">
                    <a:latin typeface="Times New Roman" panose="02020603050405020304" pitchFamily="18" charset="0"/>
                    <a:cs typeface="Times New Roman" panose="02020603050405020304" pitchFamily="18" charset="0"/>
                  </a:rPr>
                  <a:t>l(</a:t>
                </a:r>
                <a:r>
                  <a:rPr lang="en-US" altLang="en-US" i="1" dirty="0" err="1" smtClean="0">
                    <a:latin typeface="Times New Roman" panose="02020603050405020304" pitchFamily="18" charset="0"/>
                    <a:cs typeface="Times New Roman" panose="02020603050405020304" pitchFamily="18" charset="0"/>
                  </a:rPr>
                  <a:t>w,n</a:t>
                </a:r>
                <a:r>
                  <a:rPr lang="en-US" altLang="en-US" i="1" dirty="0" smtClean="0">
                    <a:latin typeface="Times New Roman" panose="02020603050405020304" pitchFamily="18" charset="0"/>
                    <a:cs typeface="Times New Roman" panose="02020603050405020304" pitchFamily="18" charset="0"/>
                  </a:rPr>
                  <a:t>)</a:t>
                </a:r>
              </a:p>
              <a:p>
                <a:r>
                  <a:rPr lang="en-US" altLang="en-US" dirty="0" smtClean="0"/>
                  <a:t>In equilibrium: </a:t>
                </a:r>
              </a:p>
              <a:p>
                <a:pPr marL="0" indent="0">
                  <a:buNone/>
                </a:pPr>
                <a:r>
                  <a:rPr lang="en-US" altLang="en-US" dirty="0"/>
                  <a:t>	</a:t>
                </a:r>
                <a:r>
                  <a:rPr lang="en-US" altLang="en-US" dirty="0" smtClean="0"/>
                  <a:t> </a:t>
                </a:r>
                <a:r>
                  <a:rPr lang="en-US" altLang="en-US" i="1" dirty="0" err="1" smtClean="0">
                    <a:latin typeface="Times New Roman" panose="02020603050405020304" pitchFamily="18" charset="0"/>
                    <a:cs typeface="Times New Roman" panose="02020603050405020304" pitchFamily="18" charset="0"/>
                  </a:rPr>
                  <a:t>l</a:t>
                </a:r>
                <a:r>
                  <a:rPr lang="en-US" altLang="en-US" i="1" baseline="30000" dirty="0" err="1" smtClean="0">
                    <a:latin typeface="Times New Roman" panose="02020603050405020304" pitchFamily="18" charset="0"/>
                    <a:cs typeface="Times New Roman" panose="02020603050405020304" pitchFamily="18" charset="0"/>
                  </a:rPr>
                  <a:t>c</a:t>
                </a:r>
                <a:r>
                  <a:rPr lang="en-US" altLang="en-US" i="1" dirty="0" smtClean="0">
                    <a:latin typeface="Times New Roman" panose="02020603050405020304" pitchFamily="18" charset="0"/>
                    <a:cs typeface="Times New Roman" panose="02020603050405020304" pitchFamily="18" charset="0"/>
                  </a:rPr>
                  <a:t>(</a:t>
                </a:r>
                <a:r>
                  <a:rPr lang="en-US" altLang="en-US" i="1" dirty="0" err="1" smtClean="0">
                    <a:latin typeface="Times New Roman" panose="02020603050405020304" pitchFamily="18" charset="0"/>
                    <a:cs typeface="Times New Roman" panose="02020603050405020304" pitchFamily="18" charset="0"/>
                  </a:rPr>
                  <a:t>w,n</a:t>
                </a:r>
                <a:r>
                  <a:rPr lang="en-US" altLang="en-US" i="1" dirty="0">
                    <a:latin typeface="Times New Roman" panose="02020603050405020304" pitchFamily="18" charset="0"/>
                    <a:cs typeface="Times New Roman" panose="02020603050405020304" pitchFamily="18" charset="0"/>
                  </a:rPr>
                  <a:t>) </a:t>
                </a:r>
                <a:r>
                  <a:rPr lang="en-US" altLang="en-US" i="1" dirty="0" smtClean="0">
                    <a:latin typeface="Times New Roman" panose="02020603050405020304" pitchFamily="18" charset="0"/>
                    <a:cs typeface="Times New Roman" panose="02020603050405020304" pitchFamily="18" charset="0"/>
                  </a:rPr>
                  <a:t>= l(</a:t>
                </a:r>
                <a:r>
                  <a:rPr lang="en-US" altLang="en-US" i="1" dirty="0" err="1" smtClean="0">
                    <a:latin typeface="Times New Roman" panose="02020603050405020304" pitchFamily="18" charset="0"/>
                    <a:cs typeface="Times New Roman" panose="02020603050405020304" pitchFamily="18" charset="0"/>
                  </a:rPr>
                  <a:t>w,n</a:t>
                </a:r>
                <a:r>
                  <a:rPr lang="en-US" altLang="en-US" i="1" dirty="0" smtClean="0">
                    <a:latin typeface="Times New Roman" panose="02020603050405020304" pitchFamily="18" charset="0"/>
                    <a:cs typeface="Times New Roman" panose="02020603050405020304" pitchFamily="18" charset="0"/>
                  </a:rPr>
                  <a:t>) = l[</a:t>
                </a:r>
                <a:r>
                  <a:rPr lang="en-US" altLang="en-US" i="1" dirty="0" err="1" smtClean="0">
                    <a:latin typeface="Times New Roman" panose="02020603050405020304" pitchFamily="18" charset="0"/>
                    <a:cs typeface="Times New Roman" panose="02020603050405020304" pitchFamily="18" charset="0"/>
                  </a:rPr>
                  <a:t>w,n</a:t>
                </a:r>
                <a:r>
                  <a:rPr lang="en-US" altLang="en-US" i="1" dirty="0" smtClean="0">
                    <a:latin typeface="Times New Roman" panose="02020603050405020304" pitchFamily="18" charset="0"/>
                    <a:cs typeface="Times New Roman" panose="02020603050405020304" pitchFamily="18" charset="0"/>
                  </a:rPr>
                  <a:t>(</a:t>
                </a:r>
                <a:r>
                  <a:rPr lang="en-US" altLang="en-US" i="1" dirty="0" err="1" smtClean="0">
                    <a:latin typeface="Times New Roman" panose="02020603050405020304" pitchFamily="18" charset="0"/>
                    <a:cs typeface="Times New Roman" panose="02020603050405020304" pitchFamily="18" charset="0"/>
                  </a:rPr>
                  <a:t>w,U</a:t>
                </a:r>
                <a:r>
                  <a:rPr lang="en-US" altLang="en-US" i="1" dirty="0" smtClean="0">
                    <a:latin typeface="Times New Roman" panose="02020603050405020304" pitchFamily="18" charset="0"/>
                    <a:cs typeface="Times New Roman" panose="02020603050405020304" pitchFamily="18" charset="0"/>
                  </a:rPr>
                  <a:t>)]</a:t>
                </a:r>
              </a:p>
              <a:p>
                <a:r>
                  <a:rPr lang="en-US" altLang="en-US" dirty="0"/>
                  <a:t>Partial differentiation </a:t>
                </a:r>
                <a:r>
                  <a:rPr lang="en-US" altLang="en-US" dirty="0" smtClean="0"/>
                  <a:t>:</a:t>
                </a:r>
              </a:p>
              <a:p>
                <a:pPr marL="457200" lvl="1" indent="0">
                  <a:buNone/>
                </a:pPr>
                <a14:m>
                  <m:oMathPara xmlns:m="http://schemas.openxmlformats.org/officeDocument/2006/math">
                    <m:oMathParaPr>
                      <m:jc m:val="centerGroup"/>
                    </m:oMathParaPr>
                    <m:oMath xmlns:m="http://schemas.openxmlformats.org/officeDocument/2006/math">
                      <m:f>
                        <m:fPr>
                          <m:ctrlPr>
                            <a:rPr lang="en-US" altLang="en-US" i="1" smtClean="0">
                              <a:latin typeface="Cambria Math"/>
                            </a:rPr>
                          </m:ctrlPr>
                        </m:fPr>
                        <m:num>
                          <m:r>
                            <a:rPr lang="en-US" altLang="en-US" i="1" smtClean="0">
                              <a:latin typeface="Cambria Math"/>
                            </a:rPr>
                            <m:t>𝜕</m:t>
                          </m:r>
                          <m:sSup>
                            <m:sSupPr>
                              <m:ctrlPr>
                                <a:rPr lang="en-US" altLang="en-US" i="1" smtClean="0">
                                  <a:latin typeface="Cambria Math"/>
                                </a:rPr>
                              </m:ctrlPr>
                            </m:sSupPr>
                            <m:e>
                              <m:r>
                                <a:rPr lang="en-US" altLang="en-US" b="0" i="1" smtClean="0">
                                  <a:latin typeface="Cambria Math"/>
                                </a:rPr>
                                <m:t>𝑙</m:t>
                              </m:r>
                            </m:e>
                            <m:sup>
                              <m:r>
                                <a:rPr lang="en-US" altLang="en-US" b="0" i="1" smtClean="0">
                                  <a:latin typeface="Cambria Math"/>
                                </a:rPr>
                                <m:t>𝑐</m:t>
                              </m:r>
                            </m:sup>
                          </m:sSup>
                          <m:r>
                            <a:rPr lang="en-US" altLang="en-US" b="0" i="1" smtClean="0">
                              <a:latin typeface="Cambria Math"/>
                            </a:rPr>
                            <m:t>(</m:t>
                          </m:r>
                          <m:r>
                            <a:rPr lang="en-US" altLang="en-US" b="0" i="1" smtClean="0">
                              <a:latin typeface="Cambria Math"/>
                            </a:rPr>
                            <m:t>𝑤</m:t>
                          </m:r>
                          <m:r>
                            <a:rPr lang="en-US" altLang="en-US" b="0" i="1" smtClean="0">
                              <a:latin typeface="Cambria Math"/>
                            </a:rPr>
                            <m:t>,</m:t>
                          </m:r>
                          <m:r>
                            <a:rPr lang="en-US" altLang="en-US" b="0" i="1" smtClean="0">
                              <a:latin typeface="Cambria Math"/>
                            </a:rPr>
                            <m:t>𝑈</m:t>
                          </m:r>
                          <m:r>
                            <a:rPr lang="en-US" altLang="en-US" b="0" i="1" smtClean="0">
                              <a:latin typeface="Cambria Math"/>
                            </a:rPr>
                            <m:t>)</m:t>
                          </m:r>
                        </m:num>
                        <m:den>
                          <m:r>
                            <a:rPr lang="en-US" altLang="en-US" i="1" smtClean="0">
                              <a:latin typeface="Cambria Math"/>
                            </a:rPr>
                            <m:t>𝜕</m:t>
                          </m:r>
                          <m:r>
                            <a:rPr lang="en-US" altLang="en-US" b="0" i="1" smtClean="0">
                              <a:latin typeface="Cambria Math"/>
                            </a:rPr>
                            <m:t>𝑤</m:t>
                          </m:r>
                        </m:den>
                      </m:f>
                      <m:r>
                        <a:rPr lang="en-US" altLang="en-US" b="0" i="1" smtClean="0">
                          <a:latin typeface="Cambria Math"/>
                        </a:rPr>
                        <m:t>=</m:t>
                      </m:r>
                      <m:f>
                        <m:fPr>
                          <m:ctrlPr>
                            <a:rPr lang="en-US" altLang="en-US" i="1">
                              <a:latin typeface="Cambria Math"/>
                            </a:rPr>
                          </m:ctrlPr>
                        </m:fPr>
                        <m:num>
                          <m:r>
                            <a:rPr lang="en-US" altLang="en-US" i="1">
                              <a:latin typeface="Cambria Math"/>
                            </a:rPr>
                            <m:t>𝜕</m:t>
                          </m:r>
                          <m:r>
                            <a:rPr lang="en-US" altLang="en-US" i="1">
                              <a:latin typeface="Cambria Math"/>
                            </a:rPr>
                            <m:t>𝑙</m:t>
                          </m:r>
                          <m:r>
                            <a:rPr lang="en-US" altLang="en-US" i="1">
                              <a:latin typeface="Cambria Math"/>
                            </a:rPr>
                            <m:t>(</m:t>
                          </m:r>
                          <m:r>
                            <a:rPr lang="en-US" altLang="en-US" i="1">
                              <a:latin typeface="Cambria Math"/>
                            </a:rPr>
                            <m:t>𝑤</m:t>
                          </m:r>
                          <m:r>
                            <a:rPr lang="en-US" altLang="en-US" i="1">
                              <a:latin typeface="Cambria Math"/>
                            </a:rPr>
                            <m:t>,</m:t>
                          </m:r>
                          <m:r>
                            <a:rPr lang="en-US" altLang="en-US" i="1">
                              <a:latin typeface="Cambria Math"/>
                            </a:rPr>
                            <m:t>𝑛</m:t>
                          </m:r>
                          <m:r>
                            <a:rPr lang="en-US" altLang="en-US" i="1">
                              <a:latin typeface="Cambria Math"/>
                            </a:rPr>
                            <m:t>)</m:t>
                          </m:r>
                        </m:num>
                        <m:den>
                          <m:r>
                            <a:rPr lang="en-US" altLang="en-US" i="1">
                              <a:latin typeface="Cambria Math"/>
                            </a:rPr>
                            <m:t>𝜕</m:t>
                          </m:r>
                          <m:r>
                            <a:rPr lang="en-US" altLang="en-US" i="1">
                              <a:latin typeface="Cambria Math"/>
                            </a:rPr>
                            <m:t>𝑤</m:t>
                          </m:r>
                        </m:den>
                      </m:f>
                      <m:r>
                        <a:rPr lang="en-US" altLang="en-US" b="0" i="1" smtClean="0">
                          <a:latin typeface="Cambria Math"/>
                        </a:rPr>
                        <m:t>+</m:t>
                      </m:r>
                      <m:f>
                        <m:fPr>
                          <m:ctrlPr>
                            <a:rPr lang="en-US" altLang="en-US" i="1">
                              <a:latin typeface="Cambria Math"/>
                            </a:rPr>
                          </m:ctrlPr>
                        </m:fPr>
                        <m:num>
                          <m:r>
                            <a:rPr lang="en-US" altLang="en-US" i="1">
                              <a:latin typeface="Cambria Math"/>
                            </a:rPr>
                            <m:t>𝜕</m:t>
                          </m:r>
                          <m:r>
                            <a:rPr lang="en-US" altLang="en-US" i="1">
                              <a:latin typeface="Cambria Math"/>
                            </a:rPr>
                            <m:t>𝑙</m:t>
                          </m:r>
                          <m:r>
                            <a:rPr lang="en-US" altLang="en-US" i="1">
                              <a:latin typeface="Cambria Math"/>
                            </a:rPr>
                            <m:t>(</m:t>
                          </m:r>
                          <m:r>
                            <a:rPr lang="en-US" altLang="en-US" i="1">
                              <a:latin typeface="Cambria Math"/>
                            </a:rPr>
                            <m:t>𝑤</m:t>
                          </m:r>
                          <m:r>
                            <a:rPr lang="en-US" altLang="en-US" i="1">
                              <a:latin typeface="Cambria Math"/>
                            </a:rPr>
                            <m:t>,</m:t>
                          </m:r>
                          <m:r>
                            <a:rPr lang="en-US" altLang="en-US" i="1">
                              <a:latin typeface="Cambria Math"/>
                            </a:rPr>
                            <m:t>𝑛</m:t>
                          </m:r>
                          <m:r>
                            <a:rPr lang="en-US" altLang="en-US" i="1">
                              <a:latin typeface="Cambria Math"/>
                            </a:rPr>
                            <m:t>)</m:t>
                          </m:r>
                        </m:num>
                        <m:den>
                          <m:r>
                            <a:rPr lang="en-US" altLang="en-US" i="1">
                              <a:latin typeface="Cambria Math"/>
                            </a:rPr>
                            <m:t>𝜕</m:t>
                          </m:r>
                          <m:r>
                            <a:rPr lang="en-US" altLang="en-US" b="0" i="1" smtClean="0">
                              <a:latin typeface="Cambria Math"/>
                            </a:rPr>
                            <m:t>𝑛</m:t>
                          </m:r>
                        </m:den>
                      </m:f>
                      <m:r>
                        <a:rPr lang="en-US" altLang="en-US" i="1" smtClean="0">
                          <a:latin typeface="Cambria Math"/>
                          <a:ea typeface="Cambria Math"/>
                        </a:rPr>
                        <m:t>∙</m:t>
                      </m:r>
                      <m:f>
                        <m:fPr>
                          <m:ctrlPr>
                            <a:rPr lang="en-US" altLang="en-US" i="1">
                              <a:latin typeface="Cambria Math"/>
                            </a:rPr>
                          </m:ctrlPr>
                        </m:fPr>
                        <m:num>
                          <m:r>
                            <a:rPr lang="en-US" altLang="en-US" i="1">
                              <a:latin typeface="Cambria Math"/>
                            </a:rPr>
                            <m:t>𝜕</m:t>
                          </m:r>
                          <m:r>
                            <a:rPr lang="en-US" altLang="en-US" b="0" i="1" smtClean="0">
                              <a:latin typeface="Cambria Math"/>
                            </a:rPr>
                            <m:t>𝑛</m:t>
                          </m:r>
                          <m:d>
                            <m:dPr>
                              <m:ctrlPr>
                                <a:rPr lang="en-US" altLang="en-US" b="0" i="1" smtClean="0">
                                  <a:latin typeface="Cambria Math"/>
                                </a:rPr>
                              </m:ctrlPr>
                            </m:dPr>
                            <m:e>
                              <m:r>
                                <a:rPr lang="en-US" altLang="en-US" i="1">
                                  <a:latin typeface="Cambria Math"/>
                                </a:rPr>
                                <m:t>𝑤</m:t>
                              </m:r>
                              <m:r>
                                <a:rPr lang="en-US" altLang="en-US" i="1">
                                  <a:latin typeface="Cambria Math"/>
                                </a:rPr>
                                <m:t>,</m:t>
                              </m:r>
                              <m:r>
                                <a:rPr lang="en-US" altLang="en-US" b="0" i="1" smtClean="0">
                                  <a:latin typeface="Cambria Math"/>
                                </a:rPr>
                                <m:t>𝑈</m:t>
                              </m:r>
                            </m:e>
                          </m:d>
                        </m:num>
                        <m:den>
                          <m:r>
                            <a:rPr lang="en-US" altLang="en-US" i="1">
                              <a:latin typeface="Cambria Math"/>
                            </a:rPr>
                            <m:t>𝜕</m:t>
                          </m:r>
                          <m:r>
                            <a:rPr lang="en-US" altLang="en-US" i="1">
                              <a:latin typeface="Cambria Math"/>
                            </a:rPr>
                            <m:t>𝑤</m:t>
                          </m:r>
                        </m:den>
                      </m:f>
                    </m:oMath>
                  </m:oMathPara>
                </a14:m>
                <a:endParaRPr lang="en-US" altLang="en-US" dirty="0" smtClean="0"/>
              </a:p>
              <a:p>
                <a:pPr marL="457200" lvl="1" indent="0">
                  <a:buNone/>
                </a:pPr>
                <a:r>
                  <a:rPr lang="en-US" altLang="en-US" dirty="0" smtClean="0"/>
                  <a:t>		    </a:t>
                </a:r>
                <a14:m>
                  <m:oMath xmlns:m="http://schemas.openxmlformats.org/officeDocument/2006/math">
                    <m:r>
                      <a:rPr lang="en-US" altLang="en-US" sz="3400" b="0" i="1" smtClean="0">
                        <a:latin typeface="Cambria Math"/>
                      </a:rPr>
                      <m:t>=</m:t>
                    </m:r>
                    <m:f>
                      <m:fPr>
                        <m:ctrlPr>
                          <a:rPr lang="en-US" altLang="en-US" sz="3400" i="1">
                            <a:latin typeface="Cambria Math"/>
                          </a:rPr>
                        </m:ctrlPr>
                      </m:fPr>
                      <m:num>
                        <m:r>
                          <a:rPr lang="en-US" altLang="en-US" sz="3400" i="1">
                            <a:latin typeface="Cambria Math"/>
                          </a:rPr>
                          <m:t>𝜕</m:t>
                        </m:r>
                        <m:r>
                          <a:rPr lang="en-US" altLang="en-US" sz="3400" i="1">
                            <a:latin typeface="Cambria Math"/>
                          </a:rPr>
                          <m:t>𝑙</m:t>
                        </m:r>
                        <m:r>
                          <a:rPr lang="en-US" altLang="en-US" sz="3400" i="1">
                            <a:latin typeface="Cambria Math"/>
                          </a:rPr>
                          <m:t>(</m:t>
                        </m:r>
                        <m:r>
                          <a:rPr lang="en-US" altLang="en-US" sz="3400" i="1">
                            <a:latin typeface="Cambria Math"/>
                          </a:rPr>
                          <m:t>𝑤</m:t>
                        </m:r>
                        <m:r>
                          <a:rPr lang="en-US" altLang="en-US" sz="3400" i="1">
                            <a:latin typeface="Cambria Math"/>
                          </a:rPr>
                          <m:t>,</m:t>
                        </m:r>
                        <m:r>
                          <a:rPr lang="en-US" altLang="en-US" sz="3400" i="1">
                            <a:latin typeface="Cambria Math"/>
                          </a:rPr>
                          <m:t>𝑛</m:t>
                        </m:r>
                        <m:r>
                          <a:rPr lang="en-US" altLang="en-US" sz="3400" i="1">
                            <a:latin typeface="Cambria Math"/>
                          </a:rPr>
                          <m:t>)</m:t>
                        </m:r>
                      </m:num>
                      <m:den>
                        <m:r>
                          <a:rPr lang="en-US" altLang="en-US" sz="3400" i="1">
                            <a:latin typeface="Cambria Math"/>
                          </a:rPr>
                          <m:t>𝜕</m:t>
                        </m:r>
                        <m:r>
                          <a:rPr lang="en-US" altLang="en-US" sz="3400" i="1">
                            <a:latin typeface="Cambria Math"/>
                          </a:rPr>
                          <m:t>𝑤</m:t>
                        </m:r>
                      </m:den>
                    </m:f>
                    <m:r>
                      <a:rPr lang="en-US" altLang="en-US" sz="3400" b="0" i="1" smtClean="0">
                        <a:latin typeface="Cambria Math"/>
                      </a:rPr>
                      <m:t>−</m:t>
                    </m:r>
                    <m:sSup>
                      <m:sSupPr>
                        <m:ctrlPr>
                          <a:rPr lang="en-US" altLang="en-US" sz="3400" b="0" i="1" smtClean="0">
                            <a:latin typeface="Cambria Math"/>
                          </a:rPr>
                        </m:ctrlPr>
                      </m:sSupPr>
                      <m:e>
                        <m:r>
                          <a:rPr lang="en-US" altLang="en-US" sz="3400" b="0" i="1" smtClean="0">
                            <a:latin typeface="Cambria Math"/>
                          </a:rPr>
                          <m:t>𝑙</m:t>
                        </m:r>
                      </m:e>
                      <m:sup>
                        <m:r>
                          <a:rPr lang="en-US" altLang="en-US" sz="3400" b="0" i="1" smtClean="0">
                            <a:latin typeface="Cambria Math"/>
                          </a:rPr>
                          <m:t>𝑐</m:t>
                        </m:r>
                      </m:sup>
                    </m:sSup>
                    <m:r>
                      <a:rPr lang="en-US" altLang="en-US" sz="3400" b="0" i="1" smtClean="0">
                        <a:latin typeface="Cambria Math"/>
                      </a:rPr>
                      <m:t>(</m:t>
                    </m:r>
                    <m:r>
                      <a:rPr lang="en-US" altLang="en-US" sz="3400" b="0" i="1" smtClean="0">
                        <a:latin typeface="Cambria Math"/>
                      </a:rPr>
                      <m:t>𝑤</m:t>
                    </m:r>
                    <m:r>
                      <a:rPr lang="en-US" altLang="en-US" sz="3400" b="0" i="1" smtClean="0">
                        <a:latin typeface="Cambria Math"/>
                      </a:rPr>
                      <m:t>,</m:t>
                    </m:r>
                    <m:r>
                      <a:rPr lang="en-US" altLang="en-US" sz="3400" b="0" i="1" smtClean="0">
                        <a:latin typeface="Cambria Math"/>
                      </a:rPr>
                      <m:t>𝑈</m:t>
                    </m:r>
                    <m:r>
                      <a:rPr lang="en-US" altLang="en-US" sz="3400" b="0" i="1" smtClean="0">
                        <a:latin typeface="Cambria Math"/>
                      </a:rPr>
                      <m:t>)∙</m:t>
                    </m:r>
                    <m:f>
                      <m:fPr>
                        <m:ctrlPr>
                          <a:rPr lang="en-US" altLang="en-US" sz="3400" i="1">
                            <a:latin typeface="Cambria Math"/>
                          </a:rPr>
                        </m:ctrlPr>
                      </m:fPr>
                      <m:num>
                        <m:r>
                          <a:rPr lang="en-US" altLang="en-US" sz="3400" i="1">
                            <a:latin typeface="Cambria Math"/>
                          </a:rPr>
                          <m:t>𝜕</m:t>
                        </m:r>
                        <m:r>
                          <a:rPr lang="en-US" altLang="en-US" sz="3400" i="1">
                            <a:latin typeface="Cambria Math"/>
                          </a:rPr>
                          <m:t>𝑙</m:t>
                        </m:r>
                        <m:r>
                          <a:rPr lang="en-US" altLang="en-US" sz="3400" i="1">
                            <a:latin typeface="Cambria Math"/>
                          </a:rPr>
                          <m:t>(</m:t>
                        </m:r>
                        <m:r>
                          <a:rPr lang="en-US" altLang="en-US" sz="3400" i="1">
                            <a:latin typeface="Cambria Math"/>
                          </a:rPr>
                          <m:t>𝑤</m:t>
                        </m:r>
                        <m:r>
                          <a:rPr lang="en-US" altLang="en-US" sz="3400" i="1">
                            <a:latin typeface="Cambria Math"/>
                          </a:rPr>
                          <m:t>,</m:t>
                        </m:r>
                        <m:r>
                          <a:rPr lang="en-US" altLang="en-US" sz="3400" i="1">
                            <a:latin typeface="Cambria Math"/>
                          </a:rPr>
                          <m:t>𝑛</m:t>
                        </m:r>
                        <m:r>
                          <a:rPr lang="en-US" altLang="en-US" sz="3400" i="1">
                            <a:latin typeface="Cambria Math"/>
                          </a:rPr>
                          <m:t>)</m:t>
                        </m:r>
                      </m:num>
                      <m:den>
                        <m:r>
                          <a:rPr lang="en-US" altLang="en-US" sz="3400" i="1">
                            <a:latin typeface="Cambria Math"/>
                          </a:rPr>
                          <m:t>𝜕</m:t>
                        </m:r>
                        <m:r>
                          <a:rPr lang="en-US" altLang="en-US" sz="3400" b="0" i="1" smtClean="0">
                            <a:latin typeface="Cambria Math"/>
                          </a:rPr>
                          <m:t>𝑛</m:t>
                        </m:r>
                      </m:den>
                    </m:f>
                  </m:oMath>
                </a14:m>
                <a:r>
                  <a:rPr lang="en-US" altLang="en-US" sz="3400" dirty="0" smtClean="0">
                    <a:solidFill>
                      <a:schemeClr val="tx1"/>
                    </a:solidFill>
                  </a:rPr>
                  <a:t>	</a:t>
                </a:r>
                <a:endParaRPr lang="en-US" altLang="en-US" sz="3400" dirty="0" smtClean="0"/>
              </a:p>
            </p:txBody>
          </p:sp>
        </mc:Choice>
        <mc:Fallback>
          <p:sp>
            <p:nvSpPr>
              <p:cNvPr id="30723" name="Rectangle 3"/>
              <p:cNvSpPr>
                <a:spLocks noGrp="1" noRot="1" noChangeAspect="1" noMove="1" noResize="1" noEditPoints="1" noAdjustHandles="1" noChangeArrowheads="1" noChangeShapeType="1" noTextEdit="1"/>
              </p:cNvSpPr>
              <p:nvPr>
                <p:ph idx="1"/>
              </p:nvPr>
            </p:nvSpPr>
            <p:spPr>
              <a:blipFill rotWithShape="1">
                <a:blip r:embed="rId2"/>
                <a:stretch>
                  <a:fillRect l="-1786" t="-1882"/>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6CA117C-3EF6-4577-92DD-5A81FAB336CF}" type="slidenum">
              <a:rPr lang="en-US" smtClean="0"/>
              <a:pPr>
                <a:defRPr/>
              </a:pPr>
              <a:t>13</a:t>
            </a:fld>
            <a:endParaRPr lang="en-US"/>
          </a:p>
        </p:txBody>
      </p:sp>
    </p:spTree>
    <p:extLst>
      <p:ext uri="{BB962C8B-B14F-4D97-AF65-F5344CB8AC3E}">
        <p14:creationId xmlns:p14="http://schemas.microsoft.com/office/powerpoint/2010/main" val="21502028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dirty="0" err="1" smtClean="0"/>
              <a:t>Slutsky</a:t>
            </a:r>
            <a:r>
              <a:rPr lang="en-US" altLang="en-US" dirty="0" smtClean="0"/>
              <a:t> Equation for Labor Supply</a:t>
            </a:r>
            <a:endParaRPr lang="en-US" altLang="en-US" dirty="0" smtClean="0"/>
          </a:p>
        </p:txBody>
      </p:sp>
      <mc:AlternateContent xmlns:mc="http://schemas.openxmlformats.org/markup-compatibility/2006">
        <mc:Choice xmlns:a14="http://schemas.microsoft.com/office/drawing/2010/main" Requires="a14">
          <p:sp>
            <p:nvSpPr>
              <p:cNvPr id="30723" name="Rectangle 3"/>
              <p:cNvSpPr>
                <a:spLocks noGrp="1" noChangeArrowheads="1"/>
              </p:cNvSpPr>
              <p:nvPr>
                <p:ph idx="1"/>
              </p:nvPr>
            </p:nvSpPr>
            <p:spPr>
              <a:xfrm>
                <a:off x="381000" y="1219200"/>
                <a:ext cx="8763000" cy="5181600"/>
              </a:xfrm>
            </p:spPr>
            <p:txBody>
              <a:bodyPr>
                <a:noAutofit/>
              </a:bodyPr>
              <a:lstStyle/>
              <a:p>
                <a:r>
                  <a:rPr lang="en-US" altLang="en-US" dirty="0" smtClean="0"/>
                  <a:t>Rearranging: </a:t>
                </a:r>
                <a:r>
                  <a:rPr lang="en-US" altLang="en-US" dirty="0" err="1" smtClean="0"/>
                  <a:t>Slutsky</a:t>
                </a:r>
                <a:r>
                  <a:rPr lang="en-US" altLang="en-US" dirty="0" smtClean="0"/>
                  <a:t> </a:t>
                </a:r>
                <a:r>
                  <a:rPr lang="en-US" altLang="en-US" dirty="0"/>
                  <a:t>decomposition of the effect of a wage change on labor </a:t>
                </a:r>
                <a:r>
                  <a:rPr lang="en-US" altLang="en-US" dirty="0" smtClean="0"/>
                  <a:t>supply:</a:t>
                </a:r>
              </a:p>
              <a:p>
                <a:pPr marL="0" indent="0" algn="ctr">
                  <a:buNone/>
                </a:pPr>
                <a14:m>
                  <m:oMath xmlns:m="http://schemas.openxmlformats.org/officeDocument/2006/math">
                    <m:f>
                      <m:fPr>
                        <m:ctrlPr>
                          <a:rPr lang="en-US" altLang="en-US" sz="2800" i="1" smtClean="0">
                            <a:solidFill>
                              <a:schemeClr val="tx1"/>
                            </a:solidFill>
                            <a:latin typeface="Cambria Math"/>
                          </a:rPr>
                        </m:ctrlPr>
                      </m:fPr>
                      <m:num>
                        <m:r>
                          <a:rPr lang="en-US" altLang="en-US" sz="2800" i="1">
                            <a:solidFill>
                              <a:schemeClr val="tx1"/>
                            </a:solidFill>
                            <a:latin typeface="Cambria Math"/>
                          </a:rPr>
                          <m:t>𝜕</m:t>
                        </m:r>
                        <m:r>
                          <a:rPr lang="en-US" altLang="en-US" sz="2800" i="1">
                            <a:solidFill>
                              <a:schemeClr val="tx1"/>
                            </a:solidFill>
                            <a:latin typeface="Cambria Math"/>
                          </a:rPr>
                          <m:t>𝑙</m:t>
                        </m:r>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𝑛</m:t>
                        </m:r>
                        <m:r>
                          <a:rPr lang="en-US" altLang="en-US" sz="2800" i="1">
                            <a:solidFill>
                              <a:schemeClr val="tx1"/>
                            </a:solidFill>
                            <a:latin typeface="Cambria Math"/>
                          </a:rPr>
                          <m:t>)</m:t>
                        </m:r>
                      </m:num>
                      <m:den>
                        <m:r>
                          <a:rPr lang="en-US" altLang="en-US" sz="2800" i="1">
                            <a:solidFill>
                              <a:schemeClr val="tx1"/>
                            </a:solidFill>
                            <a:latin typeface="Cambria Math"/>
                          </a:rPr>
                          <m:t>𝜕</m:t>
                        </m:r>
                        <m:r>
                          <a:rPr lang="en-US" altLang="en-US" sz="2800" i="1">
                            <a:solidFill>
                              <a:schemeClr val="tx1"/>
                            </a:solidFill>
                            <a:latin typeface="Cambria Math"/>
                          </a:rPr>
                          <m:t>𝑤</m:t>
                        </m:r>
                      </m:den>
                    </m:f>
                    <m:r>
                      <a:rPr lang="en-US" altLang="en-US" sz="2800" b="0" i="1" smtClean="0">
                        <a:solidFill>
                          <a:schemeClr val="tx1"/>
                        </a:solidFill>
                        <a:latin typeface="Cambria Math"/>
                      </a:rPr>
                      <m:t>=</m:t>
                    </m:r>
                    <m:f>
                      <m:fPr>
                        <m:ctrlPr>
                          <a:rPr lang="en-US" altLang="en-US" sz="2800" i="1">
                            <a:solidFill>
                              <a:schemeClr val="tx1"/>
                            </a:solidFill>
                            <a:latin typeface="Cambria Math"/>
                          </a:rPr>
                        </m:ctrlPr>
                      </m:fPr>
                      <m:num>
                        <m:r>
                          <a:rPr lang="en-US" altLang="en-US" sz="2800" i="1">
                            <a:solidFill>
                              <a:schemeClr val="tx1"/>
                            </a:solidFill>
                            <a:latin typeface="Cambria Math"/>
                          </a:rPr>
                          <m:t>𝜕</m:t>
                        </m:r>
                        <m:sSup>
                          <m:sSupPr>
                            <m:ctrlPr>
                              <a:rPr lang="en-US" altLang="en-US" sz="2800" i="1">
                                <a:solidFill>
                                  <a:schemeClr val="tx1"/>
                                </a:solidFill>
                                <a:latin typeface="Cambria Math"/>
                              </a:rPr>
                            </m:ctrlPr>
                          </m:sSupPr>
                          <m:e>
                            <m:r>
                              <a:rPr lang="en-US" altLang="en-US" sz="2800" i="1">
                                <a:solidFill>
                                  <a:schemeClr val="tx1"/>
                                </a:solidFill>
                                <a:latin typeface="Cambria Math"/>
                              </a:rPr>
                              <m:t>𝑙</m:t>
                            </m:r>
                          </m:e>
                          <m:sup>
                            <m:r>
                              <a:rPr lang="en-US" altLang="en-US" sz="2800" i="1">
                                <a:solidFill>
                                  <a:schemeClr val="tx1"/>
                                </a:solidFill>
                                <a:latin typeface="Cambria Math"/>
                              </a:rPr>
                              <m:t>𝑐</m:t>
                            </m:r>
                          </m:sup>
                        </m:sSup>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𝑈</m:t>
                        </m:r>
                        <m:r>
                          <a:rPr lang="en-US" altLang="en-US" sz="2800" i="1">
                            <a:solidFill>
                              <a:schemeClr val="tx1"/>
                            </a:solidFill>
                            <a:latin typeface="Cambria Math"/>
                          </a:rPr>
                          <m:t>)</m:t>
                        </m:r>
                      </m:num>
                      <m:den>
                        <m:r>
                          <a:rPr lang="en-US" altLang="en-US" sz="2800" i="1">
                            <a:solidFill>
                              <a:schemeClr val="tx1"/>
                            </a:solidFill>
                            <a:latin typeface="Cambria Math"/>
                          </a:rPr>
                          <m:t>𝜕</m:t>
                        </m:r>
                        <m:r>
                          <a:rPr lang="en-US" altLang="en-US" sz="2800" i="1">
                            <a:solidFill>
                              <a:schemeClr val="tx1"/>
                            </a:solidFill>
                            <a:latin typeface="Cambria Math"/>
                          </a:rPr>
                          <m:t>𝑤</m:t>
                        </m:r>
                      </m:den>
                    </m:f>
                    <m:r>
                      <a:rPr lang="en-US" altLang="en-US" sz="2800" b="0" i="1" smtClean="0">
                        <a:solidFill>
                          <a:schemeClr val="tx1"/>
                        </a:solidFill>
                        <a:latin typeface="Cambria Math"/>
                      </a:rPr>
                      <m:t>+</m:t>
                    </m:r>
                    <m:sSup>
                      <m:sSupPr>
                        <m:ctrlPr>
                          <a:rPr lang="en-US" altLang="en-US" sz="2800" i="1">
                            <a:solidFill>
                              <a:schemeClr val="tx1"/>
                            </a:solidFill>
                            <a:latin typeface="Cambria Math"/>
                          </a:rPr>
                        </m:ctrlPr>
                      </m:sSupPr>
                      <m:e>
                        <m:r>
                          <a:rPr lang="en-US" altLang="en-US" sz="2800" i="1">
                            <a:solidFill>
                              <a:schemeClr val="tx1"/>
                            </a:solidFill>
                            <a:latin typeface="Cambria Math"/>
                          </a:rPr>
                          <m:t>𝑙</m:t>
                        </m:r>
                      </m:e>
                      <m:sup>
                        <m:r>
                          <a:rPr lang="en-US" altLang="en-US" sz="2800" i="1">
                            <a:solidFill>
                              <a:schemeClr val="tx1"/>
                            </a:solidFill>
                            <a:latin typeface="Cambria Math"/>
                          </a:rPr>
                          <m:t>𝑐</m:t>
                        </m:r>
                      </m:sup>
                    </m:sSup>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𝑈</m:t>
                    </m:r>
                    <m:r>
                      <a:rPr lang="en-US" altLang="en-US" sz="2800" i="1">
                        <a:solidFill>
                          <a:schemeClr val="tx1"/>
                        </a:solidFill>
                        <a:latin typeface="Cambria Math"/>
                      </a:rPr>
                      <m:t>)∙</m:t>
                    </m:r>
                    <m:f>
                      <m:fPr>
                        <m:ctrlPr>
                          <a:rPr lang="en-US" altLang="en-US" sz="2800" i="1">
                            <a:solidFill>
                              <a:schemeClr val="tx1"/>
                            </a:solidFill>
                            <a:latin typeface="Cambria Math"/>
                          </a:rPr>
                        </m:ctrlPr>
                      </m:fPr>
                      <m:num>
                        <m:r>
                          <a:rPr lang="en-US" altLang="en-US" sz="2800" i="1">
                            <a:solidFill>
                              <a:schemeClr val="tx1"/>
                            </a:solidFill>
                            <a:latin typeface="Cambria Math"/>
                          </a:rPr>
                          <m:t>𝜕</m:t>
                        </m:r>
                        <m:r>
                          <a:rPr lang="en-US" altLang="en-US" sz="2800" i="1">
                            <a:solidFill>
                              <a:schemeClr val="tx1"/>
                            </a:solidFill>
                            <a:latin typeface="Cambria Math"/>
                          </a:rPr>
                          <m:t>𝑙</m:t>
                        </m:r>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𝑛</m:t>
                        </m:r>
                        <m:r>
                          <a:rPr lang="en-US" altLang="en-US" sz="2800" i="1">
                            <a:solidFill>
                              <a:schemeClr val="tx1"/>
                            </a:solidFill>
                            <a:latin typeface="Cambria Math"/>
                          </a:rPr>
                          <m:t>)</m:t>
                        </m:r>
                      </m:num>
                      <m:den>
                        <m:r>
                          <a:rPr lang="en-US" altLang="en-US" sz="2800" i="1">
                            <a:solidFill>
                              <a:schemeClr val="tx1"/>
                            </a:solidFill>
                            <a:latin typeface="Cambria Math"/>
                          </a:rPr>
                          <m:t>𝜕</m:t>
                        </m:r>
                        <m:r>
                          <a:rPr lang="en-US" altLang="en-US" sz="2800" i="1">
                            <a:solidFill>
                              <a:schemeClr val="tx1"/>
                            </a:solidFill>
                            <a:latin typeface="Cambria Math"/>
                          </a:rPr>
                          <m:t>𝑛</m:t>
                        </m:r>
                      </m:den>
                    </m:f>
                  </m:oMath>
                </a14:m>
                <a:r>
                  <a:rPr lang="en-US" altLang="en-US" sz="2800" dirty="0" smtClean="0">
                    <a:solidFill>
                      <a:schemeClr val="tx1"/>
                    </a:solidFill>
                  </a:rPr>
                  <a:t> </a:t>
                </a:r>
              </a:p>
              <a:p>
                <a:r>
                  <a:rPr lang="en-US" altLang="en-US" dirty="0" smtClean="0"/>
                  <a:t>Substitution effect, </a:t>
                </a:r>
                <a14:m>
                  <m:oMath xmlns:m="http://schemas.openxmlformats.org/officeDocument/2006/math">
                    <m:f>
                      <m:fPr>
                        <m:ctrlPr>
                          <a:rPr lang="en-US" altLang="en-US" sz="2800" i="1">
                            <a:solidFill>
                              <a:schemeClr val="tx1"/>
                            </a:solidFill>
                            <a:latin typeface="Cambria Math"/>
                          </a:rPr>
                        </m:ctrlPr>
                      </m:fPr>
                      <m:num>
                        <m:r>
                          <a:rPr lang="en-US" altLang="en-US" sz="2800" i="1">
                            <a:solidFill>
                              <a:schemeClr val="tx1"/>
                            </a:solidFill>
                            <a:latin typeface="Cambria Math"/>
                          </a:rPr>
                          <m:t>𝜕</m:t>
                        </m:r>
                        <m:sSup>
                          <m:sSupPr>
                            <m:ctrlPr>
                              <a:rPr lang="en-US" altLang="en-US" sz="2800" i="1">
                                <a:solidFill>
                                  <a:schemeClr val="tx1"/>
                                </a:solidFill>
                                <a:latin typeface="Cambria Math"/>
                              </a:rPr>
                            </m:ctrlPr>
                          </m:sSupPr>
                          <m:e>
                            <m:r>
                              <a:rPr lang="en-US" altLang="en-US" sz="2800" i="1">
                                <a:solidFill>
                                  <a:schemeClr val="tx1"/>
                                </a:solidFill>
                                <a:latin typeface="Cambria Math"/>
                              </a:rPr>
                              <m:t>𝑙</m:t>
                            </m:r>
                          </m:e>
                          <m:sup>
                            <m:r>
                              <a:rPr lang="en-US" altLang="en-US" sz="2800" i="1">
                                <a:solidFill>
                                  <a:schemeClr val="tx1"/>
                                </a:solidFill>
                                <a:latin typeface="Cambria Math"/>
                              </a:rPr>
                              <m:t>𝑐</m:t>
                            </m:r>
                          </m:sup>
                        </m:sSup>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𝑈</m:t>
                        </m:r>
                        <m:r>
                          <a:rPr lang="en-US" altLang="en-US" sz="2800" i="1">
                            <a:solidFill>
                              <a:schemeClr val="tx1"/>
                            </a:solidFill>
                            <a:latin typeface="Cambria Math"/>
                          </a:rPr>
                          <m:t>)</m:t>
                        </m:r>
                      </m:num>
                      <m:den>
                        <m:r>
                          <a:rPr lang="en-US" altLang="en-US" sz="2800" i="1">
                            <a:solidFill>
                              <a:schemeClr val="tx1"/>
                            </a:solidFill>
                            <a:latin typeface="Cambria Math"/>
                          </a:rPr>
                          <m:t>𝜕</m:t>
                        </m:r>
                        <m:r>
                          <a:rPr lang="en-US" altLang="en-US" sz="2800" i="1">
                            <a:solidFill>
                              <a:schemeClr val="tx1"/>
                            </a:solidFill>
                            <a:latin typeface="Cambria Math"/>
                          </a:rPr>
                          <m:t>𝑤</m:t>
                        </m:r>
                      </m:den>
                    </m:f>
                  </m:oMath>
                </a14:m>
                <a:endParaRPr lang="en-US" altLang="en-US" sz="2800" dirty="0" smtClean="0"/>
              </a:p>
              <a:p>
                <a:pPr lvl="2"/>
                <a:r>
                  <a:rPr lang="en-US" altLang="en-US" dirty="0" smtClean="0"/>
                  <a:t>An </a:t>
                </a:r>
                <a:r>
                  <a:rPr lang="en-US" altLang="en-US" dirty="0"/>
                  <a:t>increase in the </a:t>
                </a:r>
                <a:r>
                  <a:rPr lang="en-US" altLang="en-US" dirty="0" smtClean="0"/>
                  <a:t>wage: </a:t>
                </a:r>
                <a:r>
                  <a:rPr lang="en-US" altLang="en-US" dirty="0"/>
                  <a:t>increase labor supply </a:t>
                </a:r>
                <a:endParaRPr lang="en-US" altLang="en-US" dirty="0" smtClean="0"/>
              </a:p>
              <a:p>
                <a:r>
                  <a:rPr lang="en-US" altLang="en-US" dirty="0" smtClean="0"/>
                  <a:t>Income effect, </a:t>
                </a:r>
                <a14:m>
                  <m:oMath xmlns:m="http://schemas.openxmlformats.org/officeDocument/2006/math">
                    <m:sSup>
                      <m:sSupPr>
                        <m:ctrlPr>
                          <a:rPr lang="en-US" altLang="en-US" sz="2800" i="1">
                            <a:solidFill>
                              <a:schemeClr val="tx1"/>
                            </a:solidFill>
                            <a:latin typeface="Cambria Math"/>
                          </a:rPr>
                        </m:ctrlPr>
                      </m:sSupPr>
                      <m:e>
                        <m:r>
                          <a:rPr lang="en-US" altLang="en-US" sz="2800" i="1">
                            <a:solidFill>
                              <a:schemeClr val="tx1"/>
                            </a:solidFill>
                            <a:latin typeface="Cambria Math"/>
                          </a:rPr>
                          <m:t>𝑙</m:t>
                        </m:r>
                      </m:e>
                      <m:sup>
                        <m:r>
                          <a:rPr lang="en-US" altLang="en-US" sz="2800" i="1">
                            <a:solidFill>
                              <a:schemeClr val="tx1"/>
                            </a:solidFill>
                            <a:latin typeface="Cambria Math"/>
                          </a:rPr>
                          <m:t>𝑐</m:t>
                        </m:r>
                      </m:sup>
                    </m:sSup>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𝑈</m:t>
                    </m:r>
                    <m:r>
                      <a:rPr lang="en-US" altLang="en-US" sz="2800" i="1">
                        <a:solidFill>
                          <a:schemeClr val="tx1"/>
                        </a:solidFill>
                        <a:latin typeface="Cambria Math"/>
                      </a:rPr>
                      <m:t>)∙</m:t>
                    </m:r>
                    <m:f>
                      <m:fPr>
                        <m:ctrlPr>
                          <a:rPr lang="en-US" altLang="en-US" sz="2800" i="1">
                            <a:solidFill>
                              <a:schemeClr val="tx1"/>
                            </a:solidFill>
                            <a:latin typeface="Cambria Math"/>
                          </a:rPr>
                        </m:ctrlPr>
                      </m:fPr>
                      <m:num>
                        <m:r>
                          <a:rPr lang="en-US" altLang="en-US" sz="2800" i="1">
                            <a:solidFill>
                              <a:schemeClr val="tx1"/>
                            </a:solidFill>
                            <a:latin typeface="Cambria Math"/>
                          </a:rPr>
                          <m:t>𝜕</m:t>
                        </m:r>
                        <m:r>
                          <a:rPr lang="en-US" altLang="en-US" sz="2800" i="1">
                            <a:solidFill>
                              <a:schemeClr val="tx1"/>
                            </a:solidFill>
                            <a:latin typeface="Cambria Math"/>
                          </a:rPr>
                          <m:t>𝑙</m:t>
                        </m:r>
                        <m:r>
                          <a:rPr lang="en-US" altLang="en-US" sz="2800" i="1">
                            <a:solidFill>
                              <a:schemeClr val="tx1"/>
                            </a:solidFill>
                            <a:latin typeface="Cambria Math"/>
                          </a:rPr>
                          <m:t>(</m:t>
                        </m:r>
                        <m:r>
                          <a:rPr lang="en-US" altLang="en-US" sz="2800" i="1">
                            <a:solidFill>
                              <a:schemeClr val="tx1"/>
                            </a:solidFill>
                            <a:latin typeface="Cambria Math"/>
                          </a:rPr>
                          <m:t>𝑤</m:t>
                        </m:r>
                        <m:r>
                          <a:rPr lang="en-US" altLang="en-US" sz="2800" i="1">
                            <a:solidFill>
                              <a:schemeClr val="tx1"/>
                            </a:solidFill>
                            <a:latin typeface="Cambria Math"/>
                          </a:rPr>
                          <m:t>,</m:t>
                        </m:r>
                        <m:r>
                          <a:rPr lang="en-US" altLang="en-US" sz="2800" i="1">
                            <a:solidFill>
                              <a:schemeClr val="tx1"/>
                            </a:solidFill>
                            <a:latin typeface="Cambria Math"/>
                          </a:rPr>
                          <m:t>𝑛</m:t>
                        </m:r>
                        <m:r>
                          <a:rPr lang="en-US" altLang="en-US" sz="2800" i="1">
                            <a:solidFill>
                              <a:schemeClr val="tx1"/>
                            </a:solidFill>
                            <a:latin typeface="Cambria Math"/>
                          </a:rPr>
                          <m:t>)</m:t>
                        </m:r>
                      </m:num>
                      <m:den>
                        <m:r>
                          <a:rPr lang="en-US" altLang="en-US" sz="2800" i="1">
                            <a:solidFill>
                              <a:schemeClr val="tx1"/>
                            </a:solidFill>
                            <a:latin typeface="Cambria Math"/>
                          </a:rPr>
                          <m:t>𝜕</m:t>
                        </m:r>
                        <m:r>
                          <a:rPr lang="en-US" altLang="en-US" sz="2800" i="1">
                            <a:solidFill>
                              <a:schemeClr val="tx1"/>
                            </a:solidFill>
                            <a:latin typeface="Cambria Math"/>
                          </a:rPr>
                          <m:t>𝑛</m:t>
                        </m:r>
                      </m:den>
                    </m:f>
                  </m:oMath>
                </a14:m>
                <a:r>
                  <a:rPr lang="en-US" altLang="en-US" sz="2800" dirty="0">
                    <a:solidFill>
                      <a:schemeClr val="tx1"/>
                    </a:solidFill>
                  </a:rPr>
                  <a:t> </a:t>
                </a:r>
                <a:endParaRPr lang="en-US" altLang="en-US" sz="2800" dirty="0" smtClean="0"/>
              </a:p>
              <a:p>
                <a:pPr lvl="2"/>
                <a:r>
                  <a:rPr lang="en-US" altLang="en-US" dirty="0" smtClean="0"/>
                  <a:t>A </a:t>
                </a:r>
                <a:r>
                  <a:rPr lang="en-US" altLang="en-US" dirty="0"/>
                  <a:t>higher </a:t>
                </a:r>
                <a:r>
                  <a:rPr lang="en-US" altLang="en-US" dirty="0" smtClean="0"/>
                  <a:t>wage: </a:t>
                </a:r>
                <a:r>
                  <a:rPr lang="en-US" altLang="en-US" dirty="0"/>
                  <a:t>higher real </a:t>
                </a:r>
                <a:r>
                  <a:rPr lang="en-US" altLang="en-US" dirty="0" smtClean="0"/>
                  <a:t>income; some will </a:t>
                </a:r>
                <a:r>
                  <a:rPr lang="en-US" altLang="en-US" dirty="0"/>
                  <a:t>be “spent” on increased leisure (reduced labor </a:t>
                </a:r>
                <a:r>
                  <a:rPr lang="en-US" altLang="en-US" dirty="0" smtClean="0"/>
                  <a:t>supply)</a:t>
                </a:r>
              </a:p>
            </p:txBody>
          </p:sp>
        </mc:Choice>
        <mc:Fallback>
          <p:sp>
            <p:nvSpPr>
              <p:cNvPr id="30723" name="Rectangle 3"/>
              <p:cNvSpPr>
                <a:spLocks noGrp="1" noRot="1" noChangeAspect="1" noMove="1" noResize="1" noEditPoints="1" noAdjustHandles="1" noChangeArrowheads="1" noChangeShapeType="1" noTextEdit="1"/>
              </p:cNvSpPr>
              <p:nvPr>
                <p:ph idx="1"/>
              </p:nvPr>
            </p:nvSpPr>
            <p:spPr>
              <a:xfrm>
                <a:off x="381000" y="1219200"/>
                <a:ext cx="8763000" cy="5181600"/>
              </a:xfrm>
              <a:blipFill rotWithShape="1">
                <a:blip r:embed="rId2"/>
                <a:stretch>
                  <a:fillRect l="-1740" t="-1647" r="-974"/>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6CA117C-3EF6-4577-92DD-5A81FAB336CF}" type="slidenum">
              <a:rPr lang="en-US" smtClean="0"/>
              <a:pPr>
                <a:defRPr/>
              </a:pPr>
              <a:t>14</a:t>
            </a:fld>
            <a:endParaRPr lang="en-US"/>
          </a:p>
        </p:txBody>
      </p:sp>
    </p:spTree>
    <p:extLst>
      <p:ext uri="{BB962C8B-B14F-4D97-AF65-F5344CB8AC3E}">
        <p14:creationId xmlns:p14="http://schemas.microsoft.com/office/powerpoint/2010/main" val="26758911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16.1	 Labor Supply </a:t>
            </a:r>
            <a:r>
              <a:rPr lang="en-US" altLang="en-US" dirty="0" smtClean="0"/>
              <a:t>Functions</a:t>
            </a:r>
            <a:endParaRPr lang="en-US" altLang="en-US" dirty="0" smtClean="0"/>
          </a:p>
        </p:txBody>
      </p:sp>
      <p:sp>
        <p:nvSpPr>
          <p:cNvPr id="327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2230C3A1-F107-4780-A028-52BAEC6AF2AA}" type="slidenum">
              <a:rPr lang="en-US" smtClean="0"/>
              <a:pPr>
                <a:defRPr/>
              </a:pPr>
              <a:t>15</a:t>
            </a:fld>
            <a:endParaRPr lang="en-US" dirty="0"/>
          </a:p>
        </p:txBody>
      </p:sp>
      <p:sp>
        <p:nvSpPr>
          <p:cNvPr id="32771" name="Content Placeholder 2"/>
          <p:cNvSpPr>
            <a:spLocks noGrp="1"/>
          </p:cNvSpPr>
          <p:nvPr>
            <p:ph type="body" sz="quarter" idx="12"/>
          </p:nvPr>
        </p:nvSpPr>
        <p:spPr>
          <a:prstGeom prst="rect">
            <a:avLst/>
          </a:prstGeom>
        </p:spPr>
        <p:txBody>
          <a:bodyPr/>
          <a:lstStyle/>
          <a:p>
            <a:pPr>
              <a:buFont typeface="Arial" charset="0"/>
              <a:buNone/>
            </a:pPr>
            <a:r>
              <a:rPr lang="en-US" altLang="en-US" dirty="0" smtClean="0"/>
              <a:t>1. Cobb–Douglas utility</a:t>
            </a:r>
          </a:p>
          <a:p>
            <a:pPr lvl="1"/>
            <a:r>
              <a:rPr lang="en-US" altLang="en-US" dirty="0" smtClean="0"/>
              <a:t>An individual’s utility function for consumption (</a:t>
            </a:r>
            <a:r>
              <a:rPr lang="en-US" altLang="en-US" i="1" dirty="0" smtClean="0"/>
              <a:t>c)</a:t>
            </a:r>
            <a:r>
              <a:rPr lang="en-US" altLang="en-US" dirty="0" smtClean="0"/>
              <a:t>, and leisure (</a:t>
            </a:r>
            <a:r>
              <a:rPr lang="en-US" altLang="en-US" i="1" dirty="0" smtClean="0"/>
              <a:t>h)</a:t>
            </a:r>
            <a:r>
              <a:rPr lang="en-US" altLang="en-US" dirty="0" smtClean="0"/>
              <a:t>: </a:t>
            </a:r>
            <a:r>
              <a:rPr lang="en-US" altLang="en-US" i="1" dirty="0" smtClean="0">
                <a:latin typeface="Times New Roman" pitchFamily="18" charset="0"/>
                <a:cs typeface="Times New Roman" pitchFamily="18" charset="0"/>
              </a:rPr>
              <a:t>U(</a:t>
            </a:r>
            <a:r>
              <a:rPr lang="en-US" altLang="en-US" i="1" dirty="0" err="1" smtClean="0">
                <a:latin typeface="Times New Roman" pitchFamily="18" charset="0"/>
                <a:cs typeface="Times New Roman" pitchFamily="18" charset="0"/>
              </a:rPr>
              <a:t>c,h</a:t>
            </a:r>
            <a:r>
              <a:rPr lang="en-US" altLang="en-US" i="1" dirty="0" smtClean="0">
                <a:latin typeface="Times New Roman" pitchFamily="18" charset="0"/>
                <a:cs typeface="Times New Roman" pitchFamily="18" charset="0"/>
              </a:rPr>
              <a:t>) = </a:t>
            </a:r>
            <a:r>
              <a:rPr lang="en-US" altLang="en-US" i="1" dirty="0" err="1" smtClean="0">
                <a:latin typeface="Times New Roman" pitchFamily="18" charset="0"/>
                <a:cs typeface="Times New Roman" pitchFamily="18" charset="0"/>
              </a:rPr>
              <a:t>c</a:t>
            </a:r>
            <a:r>
              <a:rPr lang="en-US" altLang="en-US" i="1" baseline="30000" dirty="0" err="1" smtClean="0">
                <a:latin typeface="Times New Roman" pitchFamily="18" charset="0"/>
                <a:cs typeface="Times New Roman" pitchFamily="18" charset="0"/>
                <a:sym typeface="Symbol" pitchFamily="18" charset="2"/>
              </a:rPr>
              <a:t></a:t>
            </a:r>
            <a:r>
              <a:rPr lang="en-US" altLang="en-US" i="1" dirty="0" err="1" smtClean="0">
                <a:latin typeface="Times New Roman" pitchFamily="18" charset="0"/>
                <a:cs typeface="Times New Roman" pitchFamily="18" charset="0"/>
              </a:rPr>
              <a:t>h</a:t>
            </a:r>
            <a:r>
              <a:rPr lang="en-US" altLang="en-US" i="1" baseline="30000" dirty="0" smtClean="0">
                <a:latin typeface="Times New Roman" pitchFamily="18" charset="0"/>
                <a:cs typeface="Times New Roman" pitchFamily="18" charset="0"/>
                <a:sym typeface="Symbol" pitchFamily="18" charset="2"/>
              </a:rPr>
              <a:t></a:t>
            </a:r>
          </a:p>
          <a:p>
            <a:pPr lvl="2"/>
            <a:r>
              <a:rPr lang="en-US" altLang="en-US" dirty="0" smtClean="0">
                <a:sym typeface="Symbol" pitchFamily="18" charset="2"/>
              </a:rPr>
              <a:t>Assume </a:t>
            </a:r>
            <a:r>
              <a:rPr lang="en-US" altLang="en-US" i="1" dirty="0" smtClean="0">
                <a:latin typeface="Times New Roman" pitchFamily="18" charset="0"/>
                <a:cs typeface="Times New Roman" pitchFamily="18" charset="0"/>
                <a:sym typeface="Symbol" pitchFamily="18" charset="2"/>
              </a:rPr>
              <a:t> +  = </a:t>
            </a:r>
            <a:r>
              <a:rPr lang="en-US" altLang="en-US" dirty="0" smtClean="0">
                <a:latin typeface="Times New Roman" pitchFamily="18" charset="0"/>
                <a:cs typeface="Times New Roman" pitchFamily="18" charset="0"/>
                <a:sym typeface="Symbol" pitchFamily="18" charset="2"/>
              </a:rPr>
              <a:t>1</a:t>
            </a:r>
          </a:p>
          <a:p>
            <a:pPr lvl="1"/>
            <a:r>
              <a:rPr lang="en-US" altLang="en-US" dirty="0" smtClean="0">
                <a:sym typeface="Symbol" pitchFamily="18" charset="2"/>
              </a:rPr>
              <a:t>Constraints</a:t>
            </a:r>
          </a:p>
          <a:p>
            <a:pPr lvl="2"/>
            <a:r>
              <a:rPr lang="en-US" altLang="en-US" dirty="0" smtClean="0">
                <a:sym typeface="Symbol" pitchFamily="18" charset="2"/>
              </a:rPr>
              <a:t>Income constraint: </a:t>
            </a:r>
            <a:r>
              <a:rPr lang="en-US" altLang="en-US" i="1" dirty="0" smtClean="0">
                <a:latin typeface="Times New Roman" pitchFamily="18" charset="0"/>
                <a:cs typeface="Times New Roman" pitchFamily="18" charset="0"/>
                <a:sym typeface="Symbol" pitchFamily="18" charset="2"/>
              </a:rPr>
              <a:t>c = </a:t>
            </a:r>
            <a:r>
              <a:rPr lang="en-US" altLang="en-US" i="1" dirty="0" err="1" smtClean="0">
                <a:latin typeface="Times New Roman" pitchFamily="18" charset="0"/>
                <a:cs typeface="Times New Roman" pitchFamily="18" charset="0"/>
                <a:sym typeface="Symbol" pitchFamily="18" charset="2"/>
              </a:rPr>
              <a:t>wl</a:t>
            </a:r>
            <a:r>
              <a:rPr lang="en-US" altLang="en-US" i="1" dirty="0" smtClean="0">
                <a:latin typeface="Times New Roman" pitchFamily="18" charset="0"/>
                <a:cs typeface="Times New Roman" pitchFamily="18" charset="0"/>
                <a:sym typeface="Symbol" pitchFamily="18" charset="2"/>
              </a:rPr>
              <a:t> + n </a:t>
            </a:r>
            <a:endParaRPr lang="en-US" altLang="en-US" dirty="0" smtClean="0">
              <a:latin typeface="Times New Roman" pitchFamily="18" charset="0"/>
              <a:cs typeface="Times New Roman" pitchFamily="18" charset="0"/>
              <a:sym typeface="Symbol" pitchFamily="18" charset="2"/>
            </a:endParaRPr>
          </a:p>
          <a:p>
            <a:pPr lvl="2"/>
            <a:r>
              <a:rPr lang="en-US" altLang="en-US" dirty="0" smtClean="0">
                <a:sym typeface="Symbol" pitchFamily="18" charset="2"/>
              </a:rPr>
              <a:t>Total time constraint: </a:t>
            </a:r>
            <a:r>
              <a:rPr lang="en-US" altLang="en-US" i="1" dirty="0" smtClean="0">
                <a:latin typeface="Times New Roman" pitchFamily="18" charset="0"/>
                <a:cs typeface="Times New Roman" pitchFamily="18" charset="0"/>
                <a:sym typeface="Symbol" pitchFamily="18" charset="2"/>
              </a:rPr>
              <a:t>l + h = 1</a:t>
            </a:r>
          </a:p>
          <a:p>
            <a:pPr lvl="1"/>
            <a:r>
              <a:rPr lang="en-US" altLang="en-US" dirty="0" err="1" smtClean="0"/>
              <a:t>Lagrangian</a:t>
            </a:r>
            <a:r>
              <a:rPr lang="en-US" altLang="en-US" dirty="0" smtClean="0"/>
              <a:t> expression:</a:t>
            </a:r>
          </a:p>
          <a:p>
            <a:pPr algn="ctr">
              <a:buFont typeface="Arial" charset="0"/>
              <a:buNone/>
            </a:pPr>
            <a:r>
              <a:rPr lang="en-US" altLang="en-US" b="1" dirty="0" smtClean="0">
                <a:solidFill>
                  <a:srgbClr val="FF0000"/>
                </a:solidFill>
                <a:latin typeface="Arial Unicode MS" pitchFamily="34" charset="-128"/>
                <a:ea typeface="Arial Unicode MS" pitchFamily="34" charset="-128"/>
                <a:cs typeface="Arial Unicode MS" pitchFamily="34" charset="-128"/>
              </a:rPr>
              <a:t>ℒ</a:t>
            </a:r>
            <a:r>
              <a:rPr lang="en-US" altLang="en-US" dirty="0" smtClean="0">
                <a:solidFill>
                  <a:srgbClr val="FF0000"/>
                </a:solidFill>
              </a:rPr>
              <a:t> =</a:t>
            </a:r>
            <a:r>
              <a:rPr lang="en-US" altLang="en-US" i="1" dirty="0" smtClean="0">
                <a:solidFill>
                  <a:srgbClr val="FF0000"/>
                </a:solidFill>
                <a:latin typeface="Times New Roman" pitchFamily="18" charset="0"/>
                <a:cs typeface="Times New Roman" pitchFamily="18" charset="0"/>
              </a:rPr>
              <a:t>U(</a:t>
            </a:r>
            <a:r>
              <a:rPr lang="en-US" altLang="en-US" i="1" dirty="0" err="1" smtClean="0">
                <a:solidFill>
                  <a:srgbClr val="FF0000"/>
                </a:solidFill>
                <a:latin typeface="Times New Roman" pitchFamily="18" charset="0"/>
                <a:cs typeface="Times New Roman" pitchFamily="18" charset="0"/>
              </a:rPr>
              <a:t>c,h</a:t>
            </a:r>
            <a:r>
              <a:rPr lang="en-US" altLang="en-US" i="1" dirty="0" smtClean="0">
                <a:solidFill>
                  <a:srgbClr val="FF0000"/>
                </a:solidFill>
                <a:latin typeface="Times New Roman" pitchFamily="18" charset="0"/>
                <a:cs typeface="Times New Roman" pitchFamily="18" charset="0"/>
              </a:rPr>
              <a:t>)+</a:t>
            </a:r>
            <a:r>
              <a:rPr lang="el-GR" altLang="en-US" i="1" dirty="0" smtClean="0">
                <a:solidFill>
                  <a:srgbClr val="FF0000"/>
                </a:solidFill>
                <a:latin typeface="Times New Roman" pitchFamily="18" charset="0"/>
                <a:cs typeface="Times New Roman" pitchFamily="18" charset="0"/>
              </a:rPr>
              <a:t>λ</a:t>
            </a:r>
            <a:r>
              <a:rPr lang="en-US" altLang="en-US" i="1" dirty="0" smtClean="0">
                <a:solidFill>
                  <a:srgbClr val="FF0000"/>
                </a:solidFill>
                <a:latin typeface="Times New Roman" pitchFamily="18" charset="0"/>
                <a:cs typeface="Times New Roman" pitchFamily="18" charset="0"/>
              </a:rPr>
              <a:t>(</a:t>
            </a:r>
            <a:r>
              <a:rPr lang="en-US" altLang="en-US" i="1" dirty="0" err="1" smtClean="0">
                <a:solidFill>
                  <a:srgbClr val="FF0000"/>
                </a:solidFill>
                <a:latin typeface="Times New Roman" pitchFamily="18" charset="0"/>
                <a:cs typeface="Times New Roman" pitchFamily="18" charset="0"/>
              </a:rPr>
              <a:t>w+n</a:t>
            </a:r>
            <a:r>
              <a:rPr lang="en-US" altLang="en-US" i="1" dirty="0" smtClean="0">
                <a:solidFill>
                  <a:srgbClr val="FF0000"/>
                </a:solidFill>
                <a:latin typeface="Times New Roman" pitchFamily="18" charset="0"/>
                <a:cs typeface="Times New Roman" pitchFamily="18" charset="0"/>
              </a:rPr>
              <a:t>–</a:t>
            </a:r>
            <a:r>
              <a:rPr lang="en-US" altLang="en-US" i="1" dirty="0" err="1" smtClean="0">
                <a:solidFill>
                  <a:srgbClr val="FF0000"/>
                </a:solidFill>
                <a:latin typeface="Times New Roman" pitchFamily="18" charset="0"/>
                <a:cs typeface="Times New Roman" pitchFamily="18" charset="0"/>
              </a:rPr>
              <a:t>wh</a:t>
            </a:r>
            <a:r>
              <a:rPr lang="en-US" altLang="en-US" i="1" dirty="0" smtClean="0">
                <a:solidFill>
                  <a:srgbClr val="FF0000"/>
                </a:solidFill>
                <a:latin typeface="Times New Roman" pitchFamily="18" charset="0"/>
                <a:cs typeface="Times New Roman" pitchFamily="18" charset="0"/>
              </a:rPr>
              <a:t>–c)=</a:t>
            </a:r>
            <a:r>
              <a:rPr lang="en-US" altLang="en-US" i="1" dirty="0" err="1" smtClean="0">
                <a:solidFill>
                  <a:srgbClr val="FF0000"/>
                </a:solidFill>
                <a:latin typeface="Times New Roman" pitchFamily="18" charset="0"/>
                <a:cs typeface="Times New Roman" pitchFamily="18" charset="0"/>
              </a:rPr>
              <a:t>c</a:t>
            </a:r>
            <a:r>
              <a:rPr lang="en-US" altLang="en-US" i="1" baseline="30000" dirty="0" err="1" smtClean="0">
                <a:solidFill>
                  <a:srgbClr val="FF0000"/>
                </a:solidFill>
                <a:latin typeface="Times New Roman" pitchFamily="18" charset="0"/>
                <a:cs typeface="Times New Roman" pitchFamily="18" charset="0"/>
                <a:sym typeface="Symbol" pitchFamily="18" charset="2"/>
              </a:rPr>
              <a:t></a:t>
            </a:r>
            <a:r>
              <a:rPr lang="en-US" altLang="en-US" i="1" dirty="0" err="1" smtClean="0">
                <a:solidFill>
                  <a:srgbClr val="FF0000"/>
                </a:solidFill>
                <a:latin typeface="Times New Roman" pitchFamily="18" charset="0"/>
                <a:cs typeface="Times New Roman" pitchFamily="18" charset="0"/>
              </a:rPr>
              <a:t>h</a:t>
            </a:r>
            <a:r>
              <a:rPr lang="en-US" altLang="en-US" i="1" baseline="30000" dirty="0" smtClean="0">
                <a:solidFill>
                  <a:srgbClr val="FF0000"/>
                </a:solidFill>
                <a:latin typeface="Times New Roman" pitchFamily="18" charset="0"/>
                <a:cs typeface="Times New Roman" pitchFamily="18" charset="0"/>
                <a:sym typeface="Symbol" pitchFamily="18" charset="2"/>
              </a:rPr>
              <a:t></a:t>
            </a:r>
            <a:r>
              <a:rPr lang="en-US" altLang="en-US" i="1" dirty="0" smtClean="0">
                <a:solidFill>
                  <a:srgbClr val="FF0000"/>
                </a:solidFill>
                <a:latin typeface="Times New Roman" pitchFamily="18" charset="0"/>
                <a:cs typeface="Times New Roman" pitchFamily="18" charset="0"/>
              </a:rPr>
              <a:t>+</a:t>
            </a:r>
            <a:r>
              <a:rPr lang="el-GR" altLang="en-US" i="1" dirty="0" smtClean="0">
                <a:solidFill>
                  <a:srgbClr val="FF0000"/>
                </a:solidFill>
                <a:latin typeface="Times New Roman" pitchFamily="18" charset="0"/>
                <a:cs typeface="Times New Roman" pitchFamily="18" charset="0"/>
              </a:rPr>
              <a:t>λ</a:t>
            </a:r>
            <a:r>
              <a:rPr lang="en-US" altLang="en-US" i="1" dirty="0" smtClean="0">
                <a:solidFill>
                  <a:srgbClr val="FF0000"/>
                </a:solidFill>
                <a:latin typeface="Times New Roman" pitchFamily="18" charset="0"/>
                <a:cs typeface="Times New Roman" pitchFamily="18" charset="0"/>
              </a:rPr>
              <a:t>(</a:t>
            </a:r>
            <a:r>
              <a:rPr lang="en-US" altLang="en-US" i="1" dirty="0" err="1" smtClean="0">
                <a:solidFill>
                  <a:srgbClr val="FF0000"/>
                </a:solidFill>
                <a:latin typeface="Times New Roman" pitchFamily="18" charset="0"/>
                <a:cs typeface="Times New Roman" pitchFamily="18" charset="0"/>
              </a:rPr>
              <a:t>w+n</a:t>
            </a:r>
            <a:r>
              <a:rPr lang="en-US" altLang="en-US" i="1" dirty="0" smtClean="0">
                <a:solidFill>
                  <a:srgbClr val="FF0000"/>
                </a:solidFill>
                <a:latin typeface="Times New Roman" pitchFamily="18" charset="0"/>
                <a:cs typeface="Times New Roman" pitchFamily="18" charset="0"/>
              </a:rPr>
              <a:t>–</a:t>
            </a:r>
            <a:r>
              <a:rPr lang="en-US" altLang="en-US" i="1" dirty="0" err="1" smtClean="0">
                <a:solidFill>
                  <a:srgbClr val="FF0000"/>
                </a:solidFill>
                <a:latin typeface="Times New Roman" pitchFamily="18" charset="0"/>
                <a:cs typeface="Times New Roman" pitchFamily="18" charset="0"/>
              </a:rPr>
              <a:t>wh</a:t>
            </a:r>
            <a:r>
              <a:rPr lang="en-US" altLang="en-US" i="1" dirty="0" smtClean="0">
                <a:solidFill>
                  <a:srgbClr val="FF0000"/>
                </a:solidFill>
                <a:latin typeface="Times New Roman" pitchFamily="18" charset="0"/>
                <a:cs typeface="Times New Roman" pitchFamily="18" charset="0"/>
              </a:rPr>
              <a:t>–c) </a:t>
            </a:r>
          </a:p>
        </p:txBody>
      </p:sp>
    </p:spTree>
    <p:extLst>
      <p:ext uri="{BB962C8B-B14F-4D97-AF65-F5344CB8AC3E}">
        <p14:creationId xmlns:p14="http://schemas.microsoft.com/office/powerpoint/2010/main" val="31675925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16.1	 Labor Supply Functions</a:t>
            </a:r>
          </a:p>
        </p:txBody>
      </p:sp>
      <p:sp>
        <p:nvSpPr>
          <p:cNvPr id="410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20A79A3-A1C7-4A6C-AD8F-6EC290E4F923}" type="slidenum">
              <a:rPr lang="en-US" smtClean="0"/>
              <a:pPr>
                <a:defRPr/>
              </a:pPr>
              <a:t>16</a:t>
            </a:fld>
            <a:endParaRPr lang="en-US" dirty="0"/>
          </a:p>
        </p:txBody>
      </p:sp>
      <p:sp>
        <p:nvSpPr>
          <p:cNvPr id="4100" name="Content Placeholder 2"/>
          <p:cNvSpPr>
            <a:spLocks noGrp="1"/>
          </p:cNvSpPr>
          <p:nvPr>
            <p:ph type="body" sz="quarter" idx="12"/>
          </p:nvPr>
        </p:nvSpPr>
        <p:spPr>
          <a:prstGeom prst="rect">
            <a:avLst/>
          </a:prstGeom>
        </p:spPr>
        <p:txBody>
          <a:bodyPr/>
          <a:lstStyle/>
          <a:p>
            <a:pPr>
              <a:buFont typeface="Arial" charset="0"/>
              <a:buNone/>
            </a:pPr>
            <a:r>
              <a:rPr lang="en-US" altLang="en-US" dirty="0" smtClean="0"/>
              <a:t>1. Cobb–Douglas utility</a:t>
            </a:r>
          </a:p>
          <a:p>
            <a:pPr lvl="1"/>
            <a:r>
              <a:rPr lang="en-US" altLang="en-US" dirty="0" smtClean="0"/>
              <a:t>First-order conditions for a maximum</a:t>
            </a:r>
          </a:p>
          <a:p>
            <a:pPr algn="ctr">
              <a:buFontTx/>
              <a:buNone/>
            </a:pPr>
            <a:r>
              <a:rPr lang="en-US" altLang="en-US" dirty="0" smtClean="0">
                <a:solidFill>
                  <a:srgbClr val="FF0000"/>
                </a:solidFill>
                <a:sym typeface="Symbol" pitchFamily="18" charset="2"/>
              </a:rPr>
              <a:t></a:t>
            </a:r>
            <a:r>
              <a:rPr lang="en-US" altLang="en-US" sz="2800" b="1" dirty="0" smtClean="0">
                <a:solidFill>
                  <a:srgbClr val="FF0000"/>
                </a:solidFill>
                <a:latin typeface="Arial Unicode MS" pitchFamily="34" charset="-128"/>
                <a:ea typeface="Arial Unicode MS" pitchFamily="34" charset="-128"/>
                <a:cs typeface="Arial Unicode MS" pitchFamily="34" charset="-128"/>
              </a:rPr>
              <a:t>ℒ</a:t>
            </a:r>
            <a:r>
              <a:rPr lang="en-US" altLang="en-US" b="1" dirty="0" smtClean="0">
                <a:solidFill>
                  <a:srgbClr val="FF0000"/>
                </a:solidFill>
                <a:sym typeface="Symbol" pitchFamily="18" charset="2"/>
              </a:rPr>
              <a:t> </a:t>
            </a:r>
            <a:r>
              <a:rPr lang="en-US" altLang="en-US" dirty="0" smtClean="0">
                <a:solidFill>
                  <a:srgbClr val="FF0000"/>
                </a:solidFill>
                <a:latin typeface="Times New Roman" pitchFamily="18" charset="0"/>
                <a:cs typeface="Times New Roman" pitchFamily="18" charset="0"/>
                <a:sym typeface="Symbol" pitchFamily="18" charset="2"/>
              </a:rPr>
              <a:t>/</a:t>
            </a:r>
            <a:r>
              <a:rPr lang="en-US" altLang="en-US" i="1" dirty="0" smtClean="0">
                <a:solidFill>
                  <a:srgbClr val="FF0000"/>
                </a:solidFill>
                <a:latin typeface="Times New Roman" pitchFamily="18" charset="0"/>
                <a:cs typeface="Times New Roman" pitchFamily="18" charset="0"/>
                <a:sym typeface="Symbol" pitchFamily="18" charset="2"/>
              </a:rPr>
              <a:t>c</a:t>
            </a:r>
            <a:r>
              <a:rPr lang="en-US" altLang="en-US" dirty="0" smtClean="0">
                <a:solidFill>
                  <a:srgbClr val="FF0000"/>
                </a:solidFill>
                <a:latin typeface="Times New Roman" pitchFamily="18" charset="0"/>
                <a:cs typeface="Times New Roman" pitchFamily="18" charset="0"/>
                <a:sym typeface="Symbol" pitchFamily="18" charset="2"/>
              </a:rPr>
              <a:t> = </a:t>
            </a:r>
            <a:r>
              <a:rPr lang="en-US" altLang="en-US" i="1" dirty="0" smtClean="0">
                <a:solidFill>
                  <a:srgbClr val="FF0000"/>
                </a:solidFill>
                <a:latin typeface="Times New Roman" pitchFamily="18" charset="0"/>
                <a:cs typeface="Times New Roman" pitchFamily="18" charset="0"/>
                <a:sym typeface="Symbol" pitchFamily="18" charset="2"/>
              </a:rPr>
              <a:t>c</a:t>
            </a:r>
            <a:r>
              <a:rPr lang="en-US" altLang="en-US" i="1" baseline="30000" dirty="0" smtClean="0">
                <a:solidFill>
                  <a:srgbClr val="FF0000"/>
                </a:solidFill>
                <a:latin typeface="Times New Roman" pitchFamily="18" charset="0"/>
                <a:cs typeface="Times New Roman" pitchFamily="18" charset="0"/>
                <a:sym typeface="Symbol" pitchFamily="18" charset="2"/>
              </a:rPr>
              <a:t>-</a:t>
            </a:r>
            <a:r>
              <a:rPr lang="en-US" altLang="en-US" baseline="30000" dirty="0" smtClean="0">
                <a:solidFill>
                  <a:srgbClr val="FF0000"/>
                </a:solidFill>
                <a:latin typeface="Times New Roman" pitchFamily="18" charset="0"/>
                <a:cs typeface="Times New Roman" pitchFamily="18" charset="0"/>
                <a:sym typeface="Symbol" pitchFamily="18" charset="2"/>
              </a:rPr>
              <a:t></a:t>
            </a:r>
            <a:r>
              <a:rPr lang="en-US" altLang="en-US" i="1" dirty="0" smtClean="0">
                <a:solidFill>
                  <a:srgbClr val="FF0000"/>
                </a:solidFill>
                <a:latin typeface="Times New Roman" pitchFamily="18" charset="0"/>
                <a:cs typeface="Times New Roman" pitchFamily="18" charset="0"/>
                <a:sym typeface="Symbol" pitchFamily="18" charset="2"/>
              </a:rPr>
              <a:t>h</a:t>
            </a:r>
            <a:r>
              <a:rPr lang="en-US" altLang="en-US" baseline="30000" dirty="0" smtClean="0">
                <a:solidFill>
                  <a:srgbClr val="FF0000"/>
                </a:solidFill>
                <a:latin typeface="Times New Roman" pitchFamily="18" charset="0"/>
                <a:cs typeface="Times New Roman" pitchFamily="18" charset="0"/>
                <a:sym typeface="Symbol" pitchFamily="18" charset="2"/>
              </a:rPr>
              <a:t></a:t>
            </a:r>
            <a:r>
              <a:rPr lang="en-US" altLang="en-US" dirty="0" smtClean="0">
                <a:solidFill>
                  <a:srgbClr val="FF0000"/>
                </a:solidFill>
                <a:latin typeface="Times New Roman" pitchFamily="18" charset="0"/>
                <a:cs typeface="Times New Roman" pitchFamily="18" charset="0"/>
                <a:sym typeface="Symbol" pitchFamily="18" charset="2"/>
              </a:rPr>
              <a:t> -  = 0</a:t>
            </a:r>
          </a:p>
          <a:p>
            <a:pPr algn="ctr">
              <a:buFontTx/>
              <a:buNone/>
            </a:pPr>
            <a:r>
              <a:rPr lang="en-US" altLang="en-US" dirty="0" smtClean="0">
                <a:solidFill>
                  <a:srgbClr val="FF0000"/>
                </a:solidFill>
                <a:sym typeface="Symbol" pitchFamily="18" charset="2"/>
              </a:rPr>
              <a:t></a:t>
            </a:r>
            <a:r>
              <a:rPr lang="en-US" altLang="en-US" sz="2800" b="1" dirty="0" smtClean="0">
                <a:solidFill>
                  <a:srgbClr val="FF0000"/>
                </a:solidFill>
                <a:latin typeface="Arial Unicode MS" pitchFamily="34" charset="-128"/>
                <a:ea typeface="Arial Unicode MS" pitchFamily="34" charset="-128"/>
                <a:cs typeface="Arial Unicode MS" pitchFamily="34" charset="-128"/>
              </a:rPr>
              <a:t>ℒ</a:t>
            </a:r>
            <a:r>
              <a:rPr lang="en-US" altLang="en-US" b="1" dirty="0" smtClean="0">
                <a:solidFill>
                  <a:srgbClr val="FF0000"/>
                </a:solidFill>
                <a:sym typeface="Symbol" pitchFamily="18" charset="2"/>
              </a:rPr>
              <a:t> </a:t>
            </a:r>
            <a:r>
              <a:rPr lang="en-US" altLang="en-US" dirty="0" smtClean="0">
                <a:solidFill>
                  <a:srgbClr val="FF0000"/>
                </a:solidFill>
                <a:latin typeface="Times New Roman" pitchFamily="18" charset="0"/>
                <a:cs typeface="Times New Roman" pitchFamily="18" charset="0"/>
                <a:sym typeface="Symbol" pitchFamily="18" charset="2"/>
              </a:rPr>
              <a:t>/</a:t>
            </a:r>
            <a:r>
              <a:rPr lang="en-US" altLang="en-US" i="1" dirty="0" smtClean="0">
                <a:solidFill>
                  <a:srgbClr val="FF0000"/>
                </a:solidFill>
                <a:latin typeface="Times New Roman" pitchFamily="18" charset="0"/>
                <a:cs typeface="Times New Roman" pitchFamily="18" charset="0"/>
                <a:sym typeface="Symbol" pitchFamily="18" charset="2"/>
              </a:rPr>
              <a:t>h</a:t>
            </a:r>
            <a:r>
              <a:rPr lang="en-US" altLang="en-US" dirty="0" smtClean="0">
                <a:solidFill>
                  <a:srgbClr val="FF0000"/>
                </a:solidFill>
                <a:latin typeface="Times New Roman" pitchFamily="18" charset="0"/>
                <a:cs typeface="Times New Roman" pitchFamily="18" charset="0"/>
                <a:sym typeface="Symbol" pitchFamily="18" charset="2"/>
              </a:rPr>
              <a:t> = </a:t>
            </a:r>
            <a:r>
              <a:rPr lang="en-US" altLang="en-US" i="1" dirty="0" err="1" smtClean="0">
                <a:solidFill>
                  <a:srgbClr val="FF0000"/>
                </a:solidFill>
                <a:latin typeface="Times New Roman" pitchFamily="18" charset="0"/>
                <a:cs typeface="Times New Roman" pitchFamily="18" charset="0"/>
                <a:sym typeface="Symbol" pitchFamily="18" charset="2"/>
              </a:rPr>
              <a:t>c</a:t>
            </a:r>
            <a:r>
              <a:rPr lang="en-US" altLang="en-US" baseline="30000" dirty="0" err="1" smtClean="0">
                <a:solidFill>
                  <a:srgbClr val="FF0000"/>
                </a:solidFill>
                <a:latin typeface="Times New Roman" pitchFamily="18" charset="0"/>
                <a:cs typeface="Times New Roman" pitchFamily="18" charset="0"/>
                <a:sym typeface="Symbol" pitchFamily="18" charset="2"/>
              </a:rPr>
              <a:t></a:t>
            </a:r>
            <a:r>
              <a:rPr lang="en-US" altLang="en-US" i="1" dirty="0" err="1" smtClean="0">
                <a:solidFill>
                  <a:srgbClr val="FF0000"/>
                </a:solidFill>
                <a:latin typeface="Times New Roman" pitchFamily="18" charset="0"/>
                <a:cs typeface="Times New Roman" pitchFamily="18" charset="0"/>
                <a:sym typeface="Symbol" pitchFamily="18" charset="2"/>
              </a:rPr>
              <a:t>h</a:t>
            </a:r>
            <a:r>
              <a:rPr lang="en-US" altLang="en-US" i="1" baseline="30000" dirty="0" smtClean="0">
                <a:solidFill>
                  <a:srgbClr val="FF0000"/>
                </a:solidFill>
                <a:latin typeface="Times New Roman" pitchFamily="18" charset="0"/>
                <a:cs typeface="Times New Roman" pitchFamily="18" charset="0"/>
                <a:sym typeface="Symbol" pitchFamily="18" charset="2"/>
              </a:rPr>
              <a:t>-</a:t>
            </a:r>
            <a:r>
              <a:rPr lang="en-US" altLang="en-US" baseline="30000" dirty="0" smtClean="0">
                <a:solidFill>
                  <a:srgbClr val="FF0000"/>
                </a:solidFill>
                <a:latin typeface="Times New Roman" pitchFamily="18" charset="0"/>
                <a:cs typeface="Times New Roman" pitchFamily="18" charset="0"/>
                <a:sym typeface="Symbol" pitchFamily="18" charset="2"/>
              </a:rPr>
              <a:t></a:t>
            </a:r>
            <a:r>
              <a:rPr lang="en-US" altLang="en-US" dirty="0" smtClean="0">
                <a:solidFill>
                  <a:srgbClr val="FF0000"/>
                </a:solidFill>
                <a:latin typeface="Times New Roman" pitchFamily="18" charset="0"/>
                <a:cs typeface="Times New Roman" pitchFamily="18" charset="0"/>
                <a:sym typeface="Symbol" pitchFamily="18" charset="2"/>
              </a:rPr>
              <a:t> - </a:t>
            </a:r>
            <a:r>
              <a:rPr lang="en-US" altLang="en-US" i="1" dirty="0" smtClean="0">
                <a:solidFill>
                  <a:srgbClr val="FF0000"/>
                </a:solidFill>
                <a:latin typeface="Times New Roman" pitchFamily="18" charset="0"/>
                <a:cs typeface="Times New Roman" pitchFamily="18" charset="0"/>
                <a:sym typeface="Symbol" pitchFamily="18" charset="2"/>
              </a:rPr>
              <a:t>w</a:t>
            </a:r>
            <a:r>
              <a:rPr lang="en-US" altLang="en-US" dirty="0" smtClean="0">
                <a:solidFill>
                  <a:srgbClr val="FF0000"/>
                </a:solidFill>
                <a:latin typeface="Times New Roman" pitchFamily="18" charset="0"/>
                <a:cs typeface="Times New Roman" pitchFamily="18" charset="0"/>
                <a:sym typeface="Symbol" pitchFamily="18" charset="2"/>
              </a:rPr>
              <a:t> = 0</a:t>
            </a:r>
          </a:p>
          <a:p>
            <a:pPr algn="ctr">
              <a:buFontTx/>
              <a:buNone/>
            </a:pPr>
            <a:r>
              <a:rPr lang="en-US" altLang="en-US" dirty="0" smtClean="0">
                <a:solidFill>
                  <a:srgbClr val="FF0000"/>
                </a:solidFill>
                <a:sym typeface="Symbol" pitchFamily="18" charset="2"/>
              </a:rPr>
              <a:t></a:t>
            </a:r>
            <a:r>
              <a:rPr lang="en-US" altLang="en-US" sz="2800" b="1" dirty="0" smtClean="0">
                <a:solidFill>
                  <a:srgbClr val="FF0000"/>
                </a:solidFill>
                <a:latin typeface="Arial Unicode MS" pitchFamily="34" charset="-128"/>
                <a:ea typeface="Arial Unicode MS" pitchFamily="34" charset="-128"/>
                <a:cs typeface="Arial Unicode MS" pitchFamily="34" charset="-128"/>
              </a:rPr>
              <a:t>ℒ</a:t>
            </a:r>
            <a:r>
              <a:rPr lang="en-US" altLang="en-US" b="1" dirty="0" smtClean="0">
                <a:solidFill>
                  <a:srgbClr val="FF0000"/>
                </a:solidFill>
                <a:sym typeface="Symbol" pitchFamily="18" charset="2"/>
              </a:rPr>
              <a:t> </a:t>
            </a:r>
            <a:r>
              <a:rPr lang="en-US" altLang="en-US" dirty="0" smtClean="0">
                <a:solidFill>
                  <a:srgbClr val="FF0000"/>
                </a:solidFill>
                <a:latin typeface="Times New Roman" pitchFamily="18" charset="0"/>
                <a:cs typeface="Times New Roman" pitchFamily="18" charset="0"/>
                <a:sym typeface="Symbol" pitchFamily="18" charset="2"/>
              </a:rPr>
              <a:t>/ = </a:t>
            </a:r>
            <a:r>
              <a:rPr lang="en-US" altLang="en-US" i="1" dirty="0" smtClean="0">
                <a:solidFill>
                  <a:srgbClr val="FF0000"/>
                </a:solidFill>
                <a:latin typeface="Times New Roman" pitchFamily="18" charset="0"/>
                <a:cs typeface="Times New Roman" pitchFamily="18" charset="0"/>
                <a:sym typeface="Symbol" pitchFamily="18" charset="2"/>
              </a:rPr>
              <a:t>w + n - </a:t>
            </a:r>
            <a:r>
              <a:rPr lang="en-US" altLang="en-US" i="1" dirty="0" err="1" smtClean="0">
                <a:solidFill>
                  <a:srgbClr val="FF0000"/>
                </a:solidFill>
                <a:latin typeface="Times New Roman" pitchFamily="18" charset="0"/>
                <a:cs typeface="Times New Roman" pitchFamily="18" charset="0"/>
                <a:sym typeface="Symbol" pitchFamily="18" charset="2"/>
              </a:rPr>
              <a:t>wh</a:t>
            </a:r>
            <a:r>
              <a:rPr lang="en-US" altLang="en-US" i="1" dirty="0" smtClean="0">
                <a:solidFill>
                  <a:srgbClr val="FF0000"/>
                </a:solidFill>
                <a:latin typeface="Times New Roman" pitchFamily="18" charset="0"/>
                <a:cs typeface="Times New Roman" pitchFamily="18" charset="0"/>
                <a:sym typeface="Symbol" pitchFamily="18" charset="2"/>
              </a:rPr>
              <a:t> - c</a:t>
            </a:r>
            <a:r>
              <a:rPr lang="en-US" altLang="en-US" dirty="0" smtClean="0">
                <a:solidFill>
                  <a:srgbClr val="FF0000"/>
                </a:solidFill>
                <a:latin typeface="Times New Roman" pitchFamily="18" charset="0"/>
                <a:cs typeface="Times New Roman" pitchFamily="18" charset="0"/>
                <a:sym typeface="Symbol" pitchFamily="18" charset="2"/>
              </a:rPr>
              <a:t> = 0</a:t>
            </a:r>
          </a:p>
          <a:p>
            <a:pPr lvl="1"/>
            <a:r>
              <a:rPr lang="en-US" altLang="en-US" dirty="0" smtClean="0"/>
              <a:t>Dividing the first by the second yields</a:t>
            </a:r>
            <a:endParaRPr lang="en-US" altLang="en-US" sz="2000" dirty="0" smtClean="0">
              <a:solidFill>
                <a:srgbClr val="3B4F89"/>
              </a:solidFill>
              <a:sym typeface="Symbol" pitchFamily="18" charset="2"/>
            </a:endParaRPr>
          </a:p>
        </p:txBody>
      </p:sp>
      <p:graphicFrame>
        <p:nvGraphicFramePr>
          <p:cNvPr id="36866" name="Object 2"/>
          <p:cNvGraphicFramePr>
            <a:graphicFrameLocks noChangeAspect="1"/>
          </p:cNvGraphicFramePr>
          <p:nvPr>
            <p:extLst>
              <p:ext uri="{D42A27DB-BD31-4B8C-83A1-F6EECF244321}">
                <p14:modId xmlns:p14="http://schemas.microsoft.com/office/powerpoint/2010/main" val="252015119"/>
              </p:ext>
            </p:extLst>
          </p:nvPr>
        </p:nvGraphicFramePr>
        <p:xfrm>
          <a:off x="1722438" y="3932238"/>
          <a:ext cx="5700712" cy="995362"/>
        </p:xfrm>
        <a:graphic>
          <a:graphicData uri="http://schemas.openxmlformats.org/presentationml/2006/ole">
            <mc:AlternateContent xmlns:mc="http://schemas.openxmlformats.org/markup-compatibility/2006">
              <mc:Choice xmlns:v="urn:schemas-microsoft-com:vml" Requires="v">
                <p:oleObj spid="_x0000_s346128" name="Equation" r:id="rId3" imgW="2400120" imgH="419040" progId="Equation.DSMT4">
                  <p:embed/>
                </p:oleObj>
              </mc:Choice>
              <mc:Fallback>
                <p:oleObj name="Equation" r:id="rId3" imgW="2400120" imgH="419040" progId="Equation.DSMT4">
                  <p:embed/>
                  <p:pic>
                    <p:nvPicPr>
                      <p:cNvPr id="0" name=""/>
                      <p:cNvPicPr>
                        <a:picLocks noChangeAspect="1" noChangeArrowheads="1"/>
                      </p:cNvPicPr>
                      <p:nvPr/>
                    </p:nvPicPr>
                    <p:blipFill>
                      <a:blip r:embed="rId4"/>
                      <a:srcRect/>
                      <a:stretch>
                        <a:fillRect/>
                      </a:stretch>
                    </p:blipFill>
                    <p:spPr bwMode="auto">
                      <a:xfrm>
                        <a:off x="1722438" y="3932238"/>
                        <a:ext cx="5700712"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8285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16.1	 Labor Supply Functions</a:t>
            </a:r>
          </a:p>
        </p:txBody>
      </p:sp>
      <p:sp>
        <p:nvSpPr>
          <p:cNvPr id="512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4DC6D1F-4EC8-431C-B004-57A4BE3FF256}" type="slidenum">
              <a:rPr lang="en-US" smtClean="0"/>
              <a:pPr>
                <a:defRPr/>
              </a:pPr>
              <a:t>17</a:t>
            </a:fld>
            <a:endParaRPr lang="en-US" dirty="0"/>
          </a:p>
        </p:txBody>
      </p:sp>
      <p:sp>
        <p:nvSpPr>
          <p:cNvPr id="5124" name="Content Placeholder 2"/>
          <p:cNvSpPr>
            <a:spLocks noGrp="1"/>
          </p:cNvSpPr>
          <p:nvPr>
            <p:ph type="body" sz="quarter" idx="12"/>
          </p:nvPr>
        </p:nvSpPr>
        <p:spPr>
          <a:prstGeom prst="rect">
            <a:avLst/>
          </a:prstGeom>
        </p:spPr>
        <p:txBody>
          <a:bodyPr>
            <a:normAutofit/>
          </a:bodyPr>
          <a:lstStyle/>
          <a:p>
            <a:pPr>
              <a:buFont typeface="Arial" charset="0"/>
              <a:buNone/>
            </a:pPr>
            <a:r>
              <a:rPr lang="en-US" altLang="en-US" dirty="0" smtClean="0"/>
              <a:t>1. Cobb–Douglas utility</a:t>
            </a:r>
          </a:p>
          <a:p>
            <a:pPr lvl="1"/>
            <a:r>
              <a:rPr lang="en-US" altLang="en-US" dirty="0" smtClean="0"/>
              <a:t>Substitution into the full income constraint yields</a:t>
            </a:r>
          </a:p>
          <a:p>
            <a:pPr algn="ctr">
              <a:buFontTx/>
              <a:buNone/>
            </a:pPr>
            <a:r>
              <a:rPr lang="en-US" altLang="en-US" sz="2800" i="1" dirty="0" smtClean="0">
                <a:solidFill>
                  <a:srgbClr val="FF0000"/>
                </a:solidFill>
                <a:latin typeface="Times New Roman" pitchFamily="18" charset="0"/>
                <a:cs typeface="Times New Roman" pitchFamily="18" charset="0"/>
                <a:sym typeface="Symbol" pitchFamily="18" charset="2"/>
              </a:rPr>
              <a:t>c = </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w + n</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  </a:t>
            </a:r>
            <a:r>
              <a:rPr lang="en-US" altLang="en-US" sz="2800" dirty="0" smtClean="0">
                <a:solidFill>
                  <a:srgbClr val="FF0000"/>
                </a:solidFill>
                <a:latin typeface="Times New Roman" pitchFamily="18" charset="0"/>
                <a:cs typeface="Times New Roman" pitchFamily="18" charset="0"/>
                <a:sym typeface="Symbol" pitchFamily="18" charset="2"/>
              </a:rPr>
              <a:t> </a:t>
            </a:r>
            <a:r>
              <a:rPr lang="en-US" altLang="en-US" sz="2800" dirty="0" smtClean="0">
                <a:solidFill>
                  <a:schemeClr val="tx1"/>
                </a:solidFill>
                <a:cs typeface="Times New Roman" pitchFamily="18" charset="0"/>
                <a:sym typeface="Symbol" pitchFamily="18" charset="2"/>
              </a:rPr>
              <a:t>and</a:t>
            </a:r>
            <a:r>
              <a:rPr lang="en-US" altLang="en-US" sz="2800" dirty="0" smtClean="0">
                <a:solidFill>
                  <a:srgbClr val="FF0000"/>
                </a:solidFill>
                <a:latin typeface="Times New Roman" pitchFamily="18" charset="0"/>
                <a:cs typeface="Times New Roman" pitchFamily="18" charset="0"/>
                <a:sym typeface="Symbol" pitchFamily="18" charset="2"/>
              </a:rPr>
              <a:t>  </a:t>
            </a:r>
            <a:r>
              <a:rPr lang="en-US" altLang="en-US" sz="2800" i="1" dirty="0" smtClean="0">
                <a:solidFill>
                  <a:srgbClr val="FF0000"/>
                </a:solidFill>
                <a:latin typeface="Times New Roman" pitchFamily="18" charset="0"/>
                <a:cs typeface="Times New Roman" pitchFamily="18" charset="0"/>
                <a:sym typeface="Symbol" pitchFamily="18" charset="2"/>
              </a:rPr>
              <a:t>h = </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w + n</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w</a:t>
            </a:r>
          </a:p>
          <a:p>
            <a:pPr lvl="2"/>
            <a:r>
              <a:rPr lang="en-US" altLang="en-US" dirty="0" smtClean="0">
                <a:sym typeface="Symbol" pitchFamily="18" charset="2"/>
              </a:rPr>
              <a:t>The person spends  of his income on consumption and  = 1- on leisure</a:t>
            </a:r>
          </a:p>
          <a:p>
            <a:pPr lvl="2"/>
            <a:r>
              <a:rPr lang="en-US" altLang="en-US" dirty="0" smtClean="0">
                <a:sym typeface="Symbol" pitchFamily="18" charset="2"/>
              </a:rPr>
              <a:t>The labor supply function </a:t>
            </a:r>
            <a:r>
              <a:rPr lang="en-US" altLang="en-US" dirty="0" smtClean="0">
                <a:sym typeface="Symbol" pitchFamily="18" charset="2"/>
              </a:rPr>
              <a:t>is</a:t>
            </a:r>
            <a:r>
              <a:rPr lang="en-US" altLang="en-US" dirty="0">
                <a:sym typeface="Symbol" pitchFamily="18" charset="2"/>
              </a:rPr>
              <a:t>:</a:t>
            </a:r>
            <a:endParaRPr lang="en-US" altLang="en-US" dirty="0" smtClean="0">
              <a:sym typeface="Symbol" pitchFamily="18" charset="2"/>
            </a:endParaRPr>
          </a:p>
        </p:txBody>
      </p:sp>
      <p:graphicFrame>
        <p:nvGraphicFramePr>
          <p:cNvPr id="37891" name="Object 3"/>
          <p:cNvGraphicFramePr>
            <a:graphicFrameLocks noChangeAspect="1"/>
          </p:cNvGraphicFramePr>
          <p:nvPr>
            <p:extLst>
              <p:ext uri="{D42A27DB-BD31-4B8C-83A1-F6EECF244321}">
                <p14:modId xmlns:p14="http://schemas.microsoft.com/office/powerpoint/2010/main" val="1968505453"/>
              </p:ext>
            </p:extLst>
          </p:nvPr>
        </p:nvGraphicFramePr>
        <p:xfrm>
          <a:off x="2254250" y="3605212"/>
          <a:ext cx="3946525" cy="890588"/>
        </p:xfrm>
        <a:graphic>
          <a:graphicData uri="http://schemas.openxmlformats.org/presentationml/2006/ole">
            <mc:AlternateContent xmlns:mc="http://schemas.openxmlformats.org/markup-compatibility/2006">
              <mc:Choice xmlns:v="urn:schemas-microsoft-com:vml" Requires="v">
                <p:oleObj spid="_x0000_s347153" name="Equation" r:id="rId3" imgW="1739880" imgH="393480" progId="Equation.DSMT4">
                  <p:embed/>
                </p:oleObj>
              </mc:Choice>
              <mc:Fallback>
                <p:oleObj name="Equation" r:id="rId3" imgW="173988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250" y="3605212"/>
                        <a:ext cx="3946525"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688653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wipe(left)">
                                      <p:cBhvr>
                                        <p:cTn id="7"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16.1	 Labor Supply Functions</a:t>
            </a:r>
          </a:p>
        </p:txBody>
      </p:sp>
      <p:sp>
        <p:nvSpPr>
          <p:cNvPr id="512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4DC6D1F-4EC8-431C-B004-57A4BE3FF256}" type="slidenum">
              <a:rPr lang="en-US" smtClean="0"/>
              <a:pPr>
                <a:defRPr/>
              </a:pPr>
              <a:t>18</a:t>
            </a:fld>
            <a:endParaRPr lang="en-US" dirty="0"/>
          </a:p>
        </p:txBody>
      </p:sp>
      <p:sp>
        <p:nvSpPr>
          <p:cNvPr id="5124" name="Content Placeholder 2"/>
          <p:cNvSpPr>
            <a:spLocks noGrp="1"/>
          </p:cNvSpPr>
          <p:nvPr>
            <p:ph type="body" sz="quarter" idx="12"/>
          </p:nvPr>
        </p:nvSpPr>
        <p:spPr>
          <a:xfrm>
            <a:off x="381000" y="457200"/>
            <a:ext cx="8382000" cy="5943600"/>
          </a:xfrm>
          <a:prstGeom prst="rect">
            <a:avLst/>
          </a:prstGeom>
        </p:spPr>
        <p:txBody>
          <a:bodyPr>
            <a:noAutofit/>
          </a:bodyPr>
          <a:lstStyle/>
          <a:p>
            <a:pPr marL="0" indent="0">
              <a:buNone/>
            </a:pPr>
            <a:r>
              <a:rPr lang="en-US" altLang="en-US" dirty="0" smtClean="0">
                <a:sym typeface="Symbol" pitchFamily="18" charset="2"/>
              </a:rPr>
              <a:t>2</a:t>
            </a:r>
            <a:r>
              <a:rPr lang="en-US" altLang="en-US" dirty="0">
                <a:sym typeface="Symbol" pitchFamily="18" charset="2"/>
              </a:rPr>
              <a:t>. Properties of the Cobb–Douglas labor supply </a:t>
            </a:r>
            <a:r>
              <a:rPr lang="en-US" altLang="en-US" dirty="0" smtClean="0">
                <a:sym typeface="Symbol" pitchFamily="18" charset="2"/>
              </a:rPr>
              <a:t>function</a:t>
            </a:r>
          </a:p>
          <a:p>
            <a:pPr eaLnBrk="0" hangingPunct="0">
              <a:buFont typeface="Arial" charset="0"/>
              <a:buChar char="•"/>
              <a:defRPr/>
            </a:pPr>
            <a:r>
              <a:rPr lang="en-US" kern="0" dirty="0">
                <a:solidFill>
                  <a:srgbClr val="002D56"/>
                </a:solidFill>
              </a:rPr>
              <a:t>If </a:t>
            </a:r>
            <a:r>
              <a:rPr lang="en-US" i="1" kern="0" dirty="0">
                <a:solidFill>
                  <a:srgbClr val="002D56"/>
                </a:solidFill>
              </a:rPr>
              <a:t>n</a:t>
            </a:r>
            <a:r>
              <a:rPr lang="en-US" kern="0" dirty="0">
                <a:solidFill>
                  <a:srgbClr val="002D56"/>
                </a:solidFill>
              </a:rPr>
              <a:t> = 0</a:t>
            </a:r>
          </a:p>
          <a:p>
            <a:pPr lvl="1" eaLnBrk="0" hangingPunct="0">
              <a:buFont typeface="Arial" charset="0"/>
              <a:buChar char="•"/>
              <a:defRPr/>
            </a:pPr>
            <a:r>
              <a:rPr lang="en-US" kern="0" dirty="0"/>
              <a:t>The person will work (1-</a:t>
            </a:r>
            <a:r>
              <a:rPr lang="en-US" kern="0" dirty="0">
                <a:sym typeface="Symbol" pitchFamily="18" charset="2"/>
              </a:rPr>
              <a:t>)</a:t>
            </a:r>
            <a:r>
              <a:rPr lang="en-US" kern="0" dirty="0"/>
              <a:t> of each hour no matter what the wage is</a:t>
            </a:r>
          </a:p>
          <a:p>
            <a:pPr lvl="1" eaLnBrk="0" hangingPunct="0">
              <a:buFont typeface="Arial" charset="0"/>
              <a:buChar char="•"/>
              <a:defRPr/>
            </a:pPr>
            <a:r>
              <a:rPr lang="en-US" kern="0" dirty="0">
                <a:sym typeface="Symbol" pitchFamily="18" charset="2"/>
              </a:rPr>
              <a:t>The substitution and income effects of a change in </a:t>
            </a:r>
            <a:r>
              <a:rPr lang="en-US" i="1" kern="0" dirty="0">
                <a:sym typeface="Symbol" pitchFamily="18" charset="2"/>
              </a:rPr>
              <a:t>w</a:t>
            </a:r>
            <a:r>
              <a:rPr lang="en-US" kern="0" dirty="0">
                <a:sym typeface="Symbol" pitchFamily="18" charset="2"/>
              </a:rPr>
              <a:t> offset each other and leave </a:t>
            </a:r>
            <a:r>
              <a:rPr lang="en-US" i="1" kern="0" dirty="0">
                <a:latin typeface="Times New Roman" pitchFamily="18" charset="0"/>
                <a:sym typeface="Symbol" pitchFamily="18" charset="2"/>
              </a:rPr>
              <a:t>l</a:t>
            </a:r>
            <a:r>
              <a:rPr lang="en-US" kern="0" dirty="0">
                <a:sym typeface="Symbol" pitchFamily="18" charset="2"/>
              </a:rPr>
              <a:t> unaffected</a:t>
            </a:r>
          </a:p>
          <a:p>
            <a:r>
              <a:rPr lang="en-US" altLang="en-US" dirty="0"/>
              <a:t>If </a:t>
            </a:r>
            <a:r>
              <a:rPr lang="en-US" altLang="en-US" i="1" dirty="0"/>
              <a:t>n</a:t>
            </a:r>
            <a:r>
              <a:rPr lang="en-US" altLang="en-US" dirty="0"/>
              <a:t> </a:t>
            </a:r>
            <a:r>
              <a:rPr lang="en-US" altLang="en-US" dirty="0">
                <a:sym typeface="Symbol" pitchFamily="18" charset="2"/>
              </a:rPr>
              <a:t>&gt; 0, </a:t>
            </a:r>
            <a:r>
              <a:rPr lang="en-US" altLang="en-US" i="1" dirty="0">
                <a:latin typeface="Times New Roman" pitchFamily="18" charset="0"/>
                <a:sym typeface="Symbol" pitchFamily="18" charset="2"/>
              </a:rPr>
              <a:t>l</a:t>
            </a:r>
            <a:r>
              <a:rPr lang="en-US" altLang="en-US" dirty="0">
                <a:sym typeface="Symbol" pitchFamily="18" charset="2"/>
              </a:rPr>
              <a:t>/</a:t>
            </a:r>
            <a:r>
              <a:rPr lang="en-US" altLang="en-US" i="1" dirty="0">
                <a:sym typeface="Symbol" pitchFamily="18" charset="2"/>
              </a:rPr>
              <a:t>w</a:t>
            </a:r>
            <a:r>
              <a:rPr lang="en-US" altLang="en-US" dirty="0">
                <a:sym typeface="Symbol" pitchFamily="18" charset="2"/>
              </a:rPr>
              <a:t> &gt; 0</a:t>
            </a:r>
          </a:p>
          <a:p>
            <a:pPr lvl="1"/>
            <a:r>
              <a:rPr lang="en-US" altLang="en-US" dirty="0">
                <a:sym typeface="Symbol" pitchFamily="18" charset="2"/>
              </a:rPr>
              <a:t>The individual will always choose to spend  </a:t>
            </a:r>
            <a:r>
              <a:rPr lang="en-US" altLang="en-US" i="1" dirty="0">
                <a:sym typeface="Symbol" pitchFamily="18" charset="2"/>
              </a:rPr>
              <a:t>n</a:t>
            </a:r>
            <a:r>
              <a:rPr lang="en-US" altLang="en-US" dirty="0">
                <a:sym typeface="Symbol" pitchFamily="18" charset="2"/>
              </a:rPr>
              <a:t> on leisure</a:t>
            </a:r>
          </a:p>
          <a:p>
            <a:pPr lvl="1"/>
            <a:r>
              <a:rPr lang="en-US" altLang="en-US" dirty="0">
                <a:sym typeface="Symbol" pitchFamily="18" charset="2"/>
              </a:rPr>
              <a:t>Since leisure costs </a:t>
            </a:r>
            <a:r>
              <a:rPr lang="en-US" altLang="en-US" i="1" dirty="0">
                <a:sym typeface="Symbol" pitchFamily="18" charset="2"/>
              </a:rPr>
              <a:t>w</a:t>
            </a:r>
            <a:r>
              <a:rPr lang="en-US" altLang="en-US" dirty="0">
                <a:sym typeface="Symbol" pitchFamily="18" charset="2"/>
              </a:rPr>
              <a:t> per hour, an increase in </a:t>
            </a:r>
            <a:r>
              <a:rPr lang="en-US" altLang="en-US" i="1" dirty="0">
                <a:sym typeface="Symbol" pitchFamily="18" charset="2"/>
              </a:rPr>
              <a:t>w</a:t>
            </a:r>
            <a:r>
              <a:rPr lang="en-US" altLang="en-US" dirty="0">
                <a:sym typeface="Symbol" pitchFamily="18" charset="2"/>
              </a:rPr>
              <a:t> means that less leisure can be bought with </a:t>
            </a:r>
            <a:r>
              <a:rPr lang="en-US" altLang="en-US" i="1" dirty="0">
                <a:sym typeface="Symbol" pitchFamily="18" charset="2"/>
              </a:rPr>
              <a:t>n</a:t>
            </a:r>
          </a:p>
        </p:txBody>
      </p:sp>
    </p:spTree>
    <p:extLst>
      <p:ext uri="{BB962C8B-B14F-4D97-AF65-F5344CB8AC3E}">
        <p14:creationId xmlns:p14="http://schemas.microsoft.com/office/powerpoint/2010/main" val="10447749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16.1	 Labor Supply Functions</a:t>
            </a:r>
          </a:p>
        </p:txBody>
      </p:sp>
      <p:sp>
        <p:nvSpPr>
          <p:cNvPr id="3379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C24E1264-FD50-44F7-A09C-F999EC349EF5}" type="slidenum">
              <a:rPr lang="en-US" smtClean="0"/>
              <a:pPr>
                <a:defRPr/>
              </a:pPr>
              <a:t>19</a:t>
            </a:fld>
            <a:endParaRPr lang="en-US" dirty="0"/>
          </a:p>
        </p:txBody>
      </p:sp>
      <p:sp>
        <p:nvSpPr>
          <p:cNvPr id="33795" name="Content Placeholder 2"/>
          <p:cNvSpPr>
            <a:spLocks noGrp="1"/>
          </p:cNvSpPr>
          <p:nvPr>
            <p:ph type="body" sz="quarter" idx="12"/>
          </p:nvPr>
        </p:nvSpPr>
        <p:spPr>
          <a:prstGeom prst="rect">
            <a:avLst/>
          </a:prstGeom>
        </p:spPr>
        <p:txBody>
          <a:bodyPr/>
          <a:lstStyle/>
          <a:p>
            <a:pPr marL="0" indent="0">
              <a:buNone/>
            </a:pPr>
            <a:r>
              <a:rPr lang="en-US" altLang="en-US" dirty="0">
                <a:sym typeface="Symbol" pitchFamily="18" charset="2"/>
              </a:rPr>
              <a:t>2. Properties of the Cobb–Douglas labor supply function</a:t>
            </a:r>
          </a:p>
          <a:p>
            <a:r>
              <a:rPr lang="en-US" altLang="en-US" dirty="0" smtClean="0"/>
              <a:t>Note </a:t>
            </a:r>
            <a:r>
              <a:rPr lang="en-US" altLang="en-US" dirty="0" smtClean="0"/>
              <a:t>that</a:t>
            </a:r>
            <a:r>
              <a:rPr lang="en-US" altLang="en-US" dirty="0" smtClean="0">
                <a:sym typeface="Symbol" pitchFamily="18" charset="2"/>
              </a:rPr>
              <a:t> </a:t>
            </a:r>
            <a:r>
              <a:rPr lang="en-US" altLang="en-US" i="1" dirty="0" smtClean="0">
                <a:latin typeface="Times New Roman" pitchFamily="18" charset="0"/>
                <a:sym typeface="Symbol" pitchFamily="18" charset="2"/>
              </a:rPr>
              <a:t>l</a:t>
            </a:r>
            <a:r>
              <a:rPr lang="en-US" altLang="en-US" dirty="0" smtClean="0">
                <a:sym typeface="Symbol" pitchFamily="18" charset="2"/>
              </a:rPr>
              <a:t>/</a:t>
            </a:r>
            <a:r>
              <a:rPr lang="en-US" altLang="en-US" i="1" dirty="0" smtClean="0">
                <a:sym typeface="Symbol" pitchFamily="18" charset="2"/>
              </a:rPr>
              <a:t>n</a:t>
            </a:r>
            <a:r>
              <a:rPr lang="en-US" altLang="en-US" dirty="0" smtClean="0">
                <a:sym typeface="Symbol" pitchFamily="18" charset="2"/>
              </a:rPr>
              <a:t> &lt; 0</a:t>
            </a:r>
          </a:p>
          <a:p>
            <a:pPr lvl="1"/>
            <a:r>
              <a:rPr lang="en-US" altLang="en-US" dirty="0" smtClean="0">
                <a:sym typeface="Symbol" pitchFamily="18" charset="2"/>
              </a:rPr>
              <a:t>An increase in nonlabor income allows this person to buy more leisure</a:t>
            </a:r>
          </a:p>
          <a:p>
            <a:pPr lvl="2"/>
            <a:r>
              <a:rPr lang="en-US" altLang="en-US" sz="2700" dirty="0" smtClean="0">
                <a:sym typeface="Symbol" pitchFamily="18" charset="2"/>
              </a:rPr>
              <a:t>Income transfer programs are likely to reduce labor supply</a:t>
            </a:r>
          </a:p>
          <a:p>
            <a:pPr lvl="2"/>
            <a:r>
              <a:rPr lang="en-US" altLang="en-US" sz="2700" dirty="0" smtClean="0">
                <a:sym typeface="Symbol" pitchFamily="18" charset="2"/>
              </a:rPr>
              <a:t>Lump-sum taxes will increase labor supply</a:t>
            </a:r>
          </a:p>
        </p:txBody>
      </p:sp>
    </p:spTree>
    <p:extLst>
      <p:ext uri="{BB962C8B-B14F-4D97-AF65-F5344CB8AC3E}">
        <p14:creationId xmlns:p14="http://schemas.microsoft.com/office/powerpoint/2010/main" val="10353750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16.1	 Labor Supply Functions</a:t>
            </a:r>
          </a:p>
        </p:txBody>
      </p:sp>
      <p:sp>
        <p:nvSpPr>
          <p:cNvPr id="615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B2B631C-FF6F-4CF6-AF95-4314546ECC2B}" type="slidenum">
              <a:rPr lang="en-US" smtClean="0"/>
              <a:pPr>
                <a:defRPr/>
              </a:pPr>
              <a:t>20</a:t>
            </a:fld>
            <a:endParaRPr lang="en-US" dirty="0"/>
          </a:p>
        </p:txBody>
      </p:sp>
      <p:sp>
        <p:nvSpPr>
          <p:cNvPr id="6150" name="Content Placeholder 2"/>
          <p:cNvSpPr>
            <a:spLocks noGrp="1"/>
          </p:cNvSpPr>
          <p:nvPr>
            <p:ph type="body" sz="quarter" idx="12"/>
          </p:nvPr>
        </p:nvSpPr>
        <p:spPr>
          <a:prstGeom prst="rect">
            <a:avLst/>
          </a:prstGeom>
        </p:spPr>
        <p:txBody>
          <a:bodyPr/>
          <a:lstStyle/>
          <a:p>
            <a:pPr>
              <a:buFont typeface="Arial" charset="0"/>
              <a:buNone/>
            </a:pPr>
            <a:r>
              <a:rPr lang="en-US" altLang="en-US" dirty="0"/>
              <a:t>3</a:t>
            </a:r>
            <a:r>
              <a:rPr lang="en-US" altLang="en-US" dirty="0" smtClean="0"/>
              <a:t>. </a:t>
            </a:r>
            <a:r>
              <a:rPr lang="en-US" altLang="en-US" dirty="0" smtClean="0"/>
              <a:t>CES labor supply</a:t>
            </a:r>
          </a:p>
          <a:p>
            <a:pPr lvl="1"/>
            <a:r>
              <a:rPr lang="en-US" altLang="en-US" dirty="0" smtClean="0"/>
              <a:t>Utility function:</a:t>
            </a:r>
            <a:endParaRPr lang="en-US" altLang="en-US" dirty="0" smtClean="0">
              <a:sym typeface="Symbol" pitchFamily="18" charset="2"/>
            </a:endParaRPr>
          </a:p>
        </p:txBody>
      </p:sp>
      <p:sp>
        <p:nvSpPr>
          <p:cNvPr id="2" name="Text Placeholder 1"/>
          <p:cNvSpPr>
            <a:spLocks noGrp="1"/>
          </p:cNvSpPr>
          <p:nvPr>
            <p:ph type="body" sz="quarter" idx="13"/>
          </p:nvPr>
        </p:nvSpPr>
        <p:spPr>
          <a:xfrm>
            <a:off x="381000" y="2514600"/>
            <a:ext cx="8382000" cy="3657600"/>
          </a:xfrm>
        </p:spPr>
        <p:txBody>
          <a:bodyPr/>
          <a:lstStyle/>
          <a:p>
            <a:pPr lvl="1" eaLnBrk="0" hangingPunct="0">
              <a:buFont typeface="Arial" charset="0"/>
              <a:buChar char="•"/>
              <a:defRPr/>
            </a:pPr>
            <a:r>
              <a:rPr lang="en-US" kern="0" dirty="0"/>
              <a:t>Budget share equations are given </a:t>
            </a:r>
            <a:r>
              <a:rPr lang="en-US" kern="0" dirty="0" smtClean="0"/>
              <a:t>by</a:t>
            </a:r>
          </a:p>
          <a:p>
            <a:pPr lvl="1" eaLnBrk="0" hangingPunct="0">
              <a:buFont typeface="Arial" charset="0"/>
              <a:buChar char="•"/>
              <a:defRPr/>
            </a:pPr>
            <a:endParaRPr lang="en-US" kern="0" dirty="0" smtClean="0"/>
          </a:p>
          <a:p>
            <a:pPr lvl="1" eaLnBrk="0" hangingPunct="0">
              <a:buFont typeface="Arial" charset="0"/>
              <a:buChar char="•"/>
              <a:defRPr/>
            </a:pPr>
            <a:endParaRPr lang="en-US" kern="0" dirty="0"/>
          </a:p>
          <a:p>
            <a:pPr marL="1200150" lvl="3" indent="-342900" eaLnBrk="0" hangingPunct="0">
              <a:buFont typeface="Arial" charset="0"/>
              <a:buChar char="•"/>
              <a:defRPr/>
            </a:pPr>
            <a:r>
              <a:rPr lang="en-US" sz="2800" kern="0" dirty="0"/>
              <a:t>where </a:t>
            </a:r>
            <a:r>
              <a:rPr lang="en-US" sz="2800" kern="0" dirty="0">
                <a:sym typeface="Symbol" pitchFamily="18" charset="2"/>
              </a:rPr>
              <a:t> = /(-1)</a:t>
            </a:r>
          </a:p>
          <a:p>
            <a:pPr marL="742950" lvl="2" indent="-342900" eaLnBrk="0" hangingPunct="0">
              <a:buFont typeface="Arial" charset="0"/>
              <a:buChar char="•"/>
              <a:defRPr/>
            </a:pPr>
            <a:r>
              <a:rPr lang="en-US" sz="2800" kern="0" dirty="0"/>
              <a:t>Solving for leisure </a:t>
            </a:r>
            <a:r>
              <a:rPr lang="en-US" sz="2800" kern="0" dirty="0" smtClean="0"/>
              <a:t>gives</a:t>
            </a:r>
            <a:endParaRPr lang="en-US" sz="3200" kern="0" dirty="0">
              <a:solidFill>
                <a:srgbClr val="394DA3"/>
              </a:solidFill>
              <a:sym typeface="Symbol" pitchFamily="18" charset="2"/>
            </a:endParaRPr>
          </a:p>
        </p:txBody>
      </p:sp>
      <p:graphicFrame>
        <p:nvGraphicFramePr>
          <p:cNvPr id="39938" name="Object 2"/>
          <p:cNvGraphicFramePr>
            <a:graphicFrameLocks noChangeAspect="1"/>
          </p:cNvGraphicFramePr>
          <p:nvPr/>
        </p:nvGraphicFramePr>
        <p:xfrm>
          <a:off x="3117850" y="1484313"/>
          <a:ext cx="2908300" cy="1106487"/>
        </p:xfrm>
        <a:graphic>
          <a:graphicData uri="http://schemas.openxmlformats.org/presentationml/2006/ole">
            <mc:AlternateContent xmlns:mc="http://schemas.openxmlformats.org/markup-compatibility/2006">
              <mc:Choice xmlns:v="urn:schemas-microsoft-com:vml" Requires="v">
                <p:oleObj spid="_x0000_s348207" name="Equation" r:id="rId3" imgW="1104840" imgH="419040" progId="Equation.DSMT4">
                  <p:embed/>
                </p:oleObj>
              </mc:Choice>
              <mc:Fallback>
                <p:oleObj name="Equation" r:id="rId3" imgW="110484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7850" y="1484313"/>
                        <a:ext cx="2908300"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39" name="Object 3"/>
          <p:cNvGraphicFramePr>
            <a:graphicFrameLocks noChangeAspect="1"/>
          </p:cNvGraphicFramePr>
          <p:nvPr/>
        </p:nvGraphicFramePr>
        <p:xfrm>
          <a:off x="1219200" y="2970213"/>
          <a:ext cx="6705600" cy="912812"/>
        </p:xfrm>
        <a:graphic>
          <a:graphicData uri="http://schemas.openxmlformats.org/presentationml/2006/ole">
            <mc:AlternateContent xmlns:mc="http://schemas.openxmlformats.org/markup-compatibility/2006">
              <mc:Choice xmlns:v="urn:schemas-microsoft-com:vml" Requires="v">
                <p:oleObj spid="_x0000_s348208" name="Equation" r:id="rId5" imgW="3085920" imgH="419040" progId="Equation.DSMT4">
                  <p:embed/>
                </p:oleObj>
              </mc:Choice>
              <mc:Fallback>
                <p:oleObj name="Equation" r:id="rId5" imgW="308592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970213"/>
                        <a:ext cx="6705600"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1" name="Object 5"/>
          <p:cNvGraphicFramePr>
            <a:graphicFrameLocks noChangeAspect="1"/>
          </p:cNvGraphicFramePr>
          <p:nvPr/>
        </p:nvGraphicFramePr>
        <p:xfrm>
          <a:off x="1582738" y="5092700"/>
          <a:ext cx="5978525" cy="909638"/>
        </p:xfrm>
        <a:graphic>
          <a:graphicData uri="http://schemas.openxmlformats.org/presentationml/2006/ole">
            <mc:AlternateContent xmlns:mc="http://schemas.openxmlformats.org/markup-compatibility/2006">
              <mc:Choice xmlns:v="urn:schemas-microsoft-com:vml" Requires="v">
                <p:oleObj spid="_x0000_s348209" name="Equation" r:id="rId7" imgW="2755800" imgH="419040" progId="Equation.DSMT4">
                  <p:embed/>
                </p:oleObj>
              </mc:Choice>
              <mc:Fallback>
                <p:oleObj name="Equation" r:id="rId7" imgW="2755800" imgH="419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2738" y="5092700"/>
                        <a:ext cx="5978525"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26339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wipe(left)">
                                      <p:cBhvr>
                                        <p:cTn id="7" dur="500"/>
                                        <p:tgtEl>
                                          <p:spTgt spid="399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9939"/>
                                        </p:tgtEl>
                                        <p:attrNameLst>
                                          <p:attrName>style.visibility</p:attrName>
                                        </p:attrNameLst>
                                      </p:cBhvr>
                                      <p:to>
                                        <p:strVal val="visible"/>
                                      </p:to>
                                    </p:set>
                                    <p:animEffect transition="in" filter="wipe(left)">
                                      <p:cBhvr>
                                        <p:cTn id="15" dur="500"/>
                                        <p:tgtEl>
                                          <p:spTgt spid="3993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9941"/>
                                        </p:tgtEl>
                                        <p:attrNameLst>
                                          <p:attrName>style.visibility</p:attrName>
                                        </p:attrNameLst>
                                      </p:cBhvr>
                                      <p:to>
                                        <p:strVal val="visible"/>
                                      </p:to>
                                    </p:set>
                                    <p:animEffect transition="in" filter="wipe(left)">
                                      <p:cBhvr>
                                        <p:cTn id="27" dur="5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mtClean="0"/>
              <a:t>Market Supply Curve For Labor</a:t>
            </a:r>
          </a:p>
        </p:txBody>
      </p:sp>
      <p:sp>
        <p:nvSpPr>
          <p:cNvPr id="34819" name="Content Placeholder 2"/>
          <p:cNvSpPr>
            <a:spLocks noGrp="1"/>
          </p:cNvSpPr>
          <p:nvPr>
            <p:ph idx="1"/>
          </p:nvPr>
        </p:nvSpPr>
        <p:spPr/>
        <p:txBody>
          <a:bodyPr/>
          <a:lstStyle/>
          <a:p>
            <a:r>
              <a:rPr lang="en-US" altLang="en-US" smtClean="0"/>
              <a:t>Market supply of labor </a:t>
            </a:r>
          </a:p>
          <a:p>
            <a:pPr lvl="1"/>
            <a:r>
              <a:rPr lang="en-US" altLang="en-US" smtClean="0"/>
              <a:t>Derived from individual labor supply decisions</a:t>
            </a:r>
          </a:p>
          <a:p>
            <a:pPr lvl="1"/>
            <a:r>
              <a:rPr lang="en-US" altLang="en-US" smtClean="0"/>
              <a:t>At each possible wage rate</a:t>
            </a:r>
          </a:p>
          <a:p>
            <a:pPr lvl="2"/>
            <a:r>
              <a:rPr lang="en-US" altLang="en-US" smtClean="0"/>
              <a:t>Add together the quantity of labor offered by each individual to arrive at a market total</a:t>
            </a:r>
          </a:p>
          <a:p>
            <a:pPr lvl="1"/>
            <a:r>
              <a:rPr lang="en-US" altLang="en-US" smtClean="0"/>
              <a:t>As the wage rate increases</a:t>
            </a:r>
          </a:p>
          <a:p>
            <a:pPr lvl="2"/>
            <a:r>
              <a:rPr lang="en-US" altLang="en-US" smtClean="0"/>
              <a:t>More individuals may be induced to enter the labor force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4BF363D-7D97-4C91-B9B6-4C62D86A6A16}" type="slidenum">
              <a:rPr lang="en-US" smtClean="0"/>
              <a:pPr>
                <a:defRPr/>
              </a:pPr>
              <a:t>21</a:t>
            </a:fld>
            <a:endParaRPr lang="en-US"/>
          </a:p>
        </p:txBody>
      </p:sp>
    </p:spTree>
    <p:extLst>
      <p:ext uri="{BB962C8B-B14F-4D97-AF65-F5344CB8AC3E}">
        <p14:creationId xmlns:p14="http://schemas.microsoft.com/office/powerpoint/2010/main" val="37318496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16.2	Construction of the Market Supply Curve for </a:t>
            </a:r>
            <a:r>
              <a:rPr lang="en-US" altLang="en-US" dirty="0" smtClean="0"/>
              <a:t/>
            </a:r>
            <a:br>
              <a:rPr lang="en-US" altLang="en-US" dirty="0" smtClean="0"/>
            </a:br>
            <a:r>
              <a:rPr lang="en-US" altLang="en-US" dirty="0"/>
              <a:t>	</a:t>
            </a:r>
            <a:r>
              <a:rPr lang="en-US" altLang="en-US" dirty="0" smtClean="0">
                <a:solidFill>
                  <a:srgbClr val="002D56"/>
                </a:solidFill>
              </a:rPr>
              <a:t>Labor</a:t>
            </a:r>
            <a:endParaRPr lang="en-US" altLang="en-US" dirty="0" smtClean="0">
              <a:solidFill>
                <a:srgbClr val="002D56"/>
              </a:solidFill>
            </a:endParaRPr>
          </a:p>
        </p:txBody>
      </p:sp>
      <p:sp>
        <p:nvSpPr>
          <p:cNvPr id="35843" name="Text Placeholder 2"/>
          <p:cNvSpPr>
            <a:spLocks noGrp="1"/>
          </p:cNvSpPr>
          <p:nvPr>
            <p:ph sz="half" idx="1"/>
          </p:nvPr>
        </p:nvSpPr>
        <p:spPr>
          <a:xfrm>
            <a:off x="457200" y="4495800"/>
            <a:ext cx="8458200" cy="1630363"/>
          </a:xfrm>
        </p:spPr>
        <p:txBody>
          <a:bodyPr>
            <a:normAutofit/>
          </a:bodyPr>
          <a:lstStyle/>
          <a:p>
            <a:pPr>
              <a:spcBef>
                <a:spcPct val="0"/>
              </a:spcBef>
            </a:pPr>
            <a:r>
              <a:rPr lang="en-US" altLang="en-US" dirty="0"/>
              <a:t>As the real wage increases, there are two reasons why the supply of labor may increase. First, higher real wages may cause each person in the market to work more hours. Second, higher wages may induce more individuals (for example, individual 2) to enter the labor market</a:t>
            </a:r>
            <a:r>
              <a:rPr lang="en-US" altLang="en-US" dirty="0" smtClean="0"/>
              <a:t>.</a:t>
            </a:r>
            <a:endParaRPr lang="en-US" altLang="en-US" dirty="0"/>
          </a:p>
        </p:txBody>
      </p:sp>
      <p:sp>
        <p:nvSpPr>
          <p:cNvPr id="358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AC774872-8BBC-4CCD-B2A6-99E81E57D102}" type="slidenum">
              <a:rPr lang="en-US" smtClean="0"/>
              <a:pPr>
                <a:defRPr/>
              </a:pPr>
              <a:t>22</a:t>
            </a:fld>
            <a:endParaRPr lang="en-US" dirty="0"/>
          </a:p>
        </p:txBody>
      </p:sp>
      <p:grpSp>
        <p:nvGrpSpPr>
          <p:cNvPr id="16" name="Group 47"/>
          <p:cNvGrpSpPr>
            <a:grpSpLocks/>
          </p:cNvGrpSpPr>
          <p:nvPr/>
        </p:nvGrpSpPr>
        <p:grpSpPr bwMode="auto">
          <a:xfrm>
            <a:off x="252413" y="811213"/>
            <a:ext cx="2776537" cy="3579700"/>
            <a:chOff x="252845" y="810430"/>
            <a:chExt cx="2775363" cy="3580393"/>
          </a:xfrm>
        </p:grpSpPr>
        <p:grpSp>
          <p:nvGrpSpPr>
            <p:cNvPr id="35882" name="Group 46"/>
            <p:cNvGrpSpPr>
              <a:grpSpLocks/>
            </p:cNvGrpSpPr>
            <p:nvPr/>
          </p:nvGrpSpPr>
          <p:grpSpPr bwMode="auto">
            <a:xfrm>
              <a:off x="713921" y="3396879"/>
              <a:ext cx="2314287" cy="366713"/>
              <a:chOff x="713921" y="3396879"/>
              <a:chExt cx="2314287" cy="366713"/>
            </a:xfrm>
          </p:grpSpPr>
          <p:sp>
            <p:nvSpPr>
              <p:cNvPr id="35887" name="Line 5"/>
              <p:cNvSpPr>
                <a:spLocks noChangeShapeType="1"/>
              </p:cNvSpPr>
              <p:nvPr/>
            </p:nvSpPr>
            <p:spPr bwMode="auto">
              <a:xfrm>
                <a:off x="713921" y="3419104"/>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88" name="Text Box 9"/>
              <p:cNvSpPr txBox="1">
                <a:spLocks noChangeArrowheads="1"/>
              </p:cNvSpPr>
              <p:nvPr/>
            </p:nvSpPr>
            <p:spPr bwMode="auto">
              <a:xfrm>
                <a:off x="2244436" y="3396879"/>
                <a:ext cx="78377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Hours</a:t>
                </a:r>
                <a:endParaRPr lang="en-US" altLang="en-US" sz="1800" i="1"/>
              </a:p>
            </p:txBody>
          </p:sp>
        </p:grpSp>
        <p:grpSp>
          <p:nvGrpSpPr>
            <p:cNvPr id="35883" name="Group 41"/>
            <p:cNvGrpSpPr>
              <a:grpSpLocks/>
            </p:cNvGrpSpPr>
            <p:nvPr/>
          </p:nvGrpSpPr>
          <p:grpSpPr bwMode="auto">
            <a:xfrm>
              <a:off x="252845" y="810430"/>
              <a:ext cx="744682" cy="2608674"/>
              <a:chOff x="252845" y="810430"/>
              <a:chExt cx="744682" cy="2608674"/>
            </a:xfrm>
          </p:grpSpPr>
          <p:sp>
            <p:nvSpPr>
              <p:cNvPr id="35885" name="Line 4"/>
              <p:cNvSpPr>
                <a:spLocks noChangeShapeType="1"/>
              </p:cNvSpPr>
              <p:nvPr/>
            </p:nvSpPr>
            <p:spPr bwMode="auto">
              <a:xfrm>
                <a:off x="713921" y="1437904"/>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86" name="Text Box 14"/>
              <p:cNvSpPr txBox="1">
                <a:spLocks noChangeArrowheads="1"/>
              </p:cNvSpPr>
              <p:nvPr/>
            </p:nvSpPr>
            <p:spPr bwMode="auto">
              <a:xfrm>
                <a:off x="252845" y="810430"/>
                <a:ext cx="744682" cy="61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Real</a:t>
                </a:r>
              </a:p>
              <a:p>
                <a:pPr eaLnBrk="1" hangingPunct="1"/>
                <a:r>
                  <a:rPr lang="en-US" altLang="en-US" sz="1800" i="1"/>
                  <a:t>wage</a:t>
                </a:r>
              </a:p>
            </p:txBody>
          </p:sp>
        </p:grpSp>
        <p:sp>
          <p:nvSpPr>
            <p:cNvPr id="35884" name="Text Box 25"/>
            <p:cNvSpPr txBox="1">
              <a:spLocks noChangeArrowheads="1"/>
            </p:cNvSpPr>
            <p:nvPr/>
          </p:nvSpPr>
          <p:spPr bwMode="auto">
            <a:xfrm>
              <a:off x="527470" y="3809798"/>
              <a:ext cx="1716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Individual 1</a:t>
              </a:r>
            </a:p>
          </p:txBody>
        </p:sp>
      </p:grpSp>
      <p:grpSp>
        <p:nvGrpSpPr>
          <p:cNvPr id="26" name="Group 53"/>
          <p:cNvGrpSpPr>
            <a:grpSpLocks/>
          </p:cNvGrpSpPr>
          <p:nvPr/>
        </p:nvGrpSpPr>
        <p:grpSpPr bwMode="auto">
          <a:xfrm>
            <a:off x="274638" y="2560638"/>
            <a:ext cx="6838950" cy="304800"/>
            <a:chOff x="250371" y="2276104"/>
            <a:chExt cx="6839198" cy="304800"/>
          </a:xfrm>
        </p:grpSpPr>
        <p:sp>
          <p:nvSpPr>
            <p:cNvPr id="35880" name="Line 18"/>
            <p:cNvSpPr>
              <a:spLocks noChangeShapeType="1"/>
            </p:cNvSpPr>
            <p:nvPr/>
          </p:nvSpPr>
          <p:spPr bwMode="auto">
            <a:xfrm flipV="1">
              <a:off x="685346" y="2422574"/>
              <a:ext cx="6404223" cy="593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5881" name="Text Box 23"/>
            <p:cNvSpPr txBox="1">
              <a:spLocks noChangeArrowheads="1"/>
            </p:cNvSpPr>
            <p:nvPr/>
          </p:nvSpPr>
          <p:spPr bwMode="auto">
            <a:xfrm>
              <a:off x="250371" y="2276104"/>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2</a:t>
              </a:r>
            </a:p>
          </p:txBody>
        </p:sp>
      </p:grpSp>
      <p:grpSp>
        <p:nvGrpSpPr>
          <p:cNvPr id="27" name="Group 50"/>
          <p:cNvGrpSpPr>
            <a:grpSpLocks/>
          </p:cNvGrpSpPr>
          <p:nvPr/>
        </p:nvGrpSpPr>
        <p:grpSpPr bwMode="auto">
          <a:xfrm>
            <a:off x="909638" y="1563688"/>
            <a:ext cx="1577975" cy="1550987"/>
            <a:chOff x="707571" y="1563317"/>
            <a:chExt cx="1577975" cy="1550987"/>
          </a:xfrm>
        </p:grpSpPr>
        <p:sp>
          <p:nvSpPr>
            <p:cNvPr id="35878" name="Text Box 15"/>
            <p:cNvSpPr txBox="1">
              <a:spLocks noChangeArrowheads="1"/>
            </p:cNvSpPr>
            <p:nvPr/>
          </p:nvSpPr>
          <p:spPr bwMode="auto">
            <a:xfrm>
              <a:off x="1887084" y="1563317"/>
              <a:ext cx="3984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S</a:t>
              </a:r>
              <a:r>
                <a:rPr lang="en-US" altLang="en-US" sz="1800" i="1" baseline="-25000">
                  <a:solidFill>
                    <a:srgbClr val="177B21"/>
                  </a:solidFill>
                </a:rPr>
                <a:t>1</a:t>
              </a:r>
              <a:endParaRPr lang="en-US" altLang="en-US" sz="1800" i="1">
                <a:solidFill>
                  <a:srgbClr val="177B21"/>
                </a:solidFill>
              </a:endParaRPr>
            </a:p>
          </p:txBody>
        </p:sp>
        <p:sp>
          <p:nvSpPr>
            <p:cNvPr id="35879" name="Line 33"/>
            <p:cNvSpPr>
              <a:spLocks noChangeShapeType="1"/>
            </p:cNvSpPr>
            <p:nvPr/>
          </p:nvSpPr>
          <p:spPr bwMode="auto">
            <a:xfrm flipV="1">
              <a:off x="707571" y="1742704"/>
              <a:ext cx="1189038" cy="13716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28" name="Group 51"/>
          <p:cNvGrpSpPr>
            <a:grpSpLocks/>
          </p:cNvGrpSpPr>
          <p:nvPr/>
        </p:nvGrpSpPr>
        <p:grpSpPr bwMode="auto">
          <a:xfrm>
            <a:off x="3451225" y="1517650"/>
            <a:ext cx="1593850" cy="1209675"/>
            <a:chOff x="3450771" y="1742704"/>
            <a:chExt cx="1593850" cy="1209675"/>
          </a:xfrm>
        </p:grpSpPr>
        <p:sp>
          <p:nvSpPr>
            <p:cNvPr id="35876" name="Text Box 16"/>
            <p:cNvSpPr txBox="1">
              <a:spLocks noChangeArrowheads="1"/>
            </p:cNvSpPr>
            <p:nvPr/>
          </p:nvSpPr>
          <p:spPr bwMode="auto">
            <a:xfrm>
              <a:off x="4646159" y="1742704"/>
              <a:ext cx="3984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S</a:t>
              </a:r>
              <a:r>
                <a:rPr lang="en-US" altLang="en-US" sz="1800" i="1" baseline="-25000">
                  <a:solidFill>
                    <a:srgbClr val="177B21"/>
                  </a:solidFill>
                </a:rPr>
                <a:t>2</a:t>
              </a:r>
              <a:endParaRPr lang="en-US" altLang="en-US" sz="1800" i="1">
                <a:solidFill>
                  <a:srgbClr val="177B21"/>
                </a:solidFill>
              </a:endParaRPr>
            </a:p>
          </p:txBody>
        </p:sp>
        <p:sp>
          <p:nvSpPr>
            <p:cNvPr id="35877" name="Line 34"/>
            <p:cNvSpPr>
              <a:spLocks noChangeShapeType="1"/>
            </p:cNvSpPr>
            <p:nvPr/>
          </p:nvSpPr>
          <p:spPr bwMode="auto">
            <a:xfrm flipV="1">
              <a:off x="3450771" y="1895104"/>
              <a:ext cx="1219200" cy="1057275"/>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30" name="Group 48"/>
          <p:cNvGrpSpPr>
            <a:grpSpLocks/>
          </p:cNvGrpSpPr>
          <p:nvPr/>
        </p:nvGrpSpPr>
        <p:grpSpPr bwMode="auto">
          <a:xfrm>
            <a:off x="3017838" y="811213"/>
            <a:ext cx="2474912" cy="3579700"/>
            <a:chOff x="3017816" y="810430"/>
            <a:chExt cx="2474480" cy="3580393"/>
          </a:xfrm>
        </p:grpSpPr>
        <p:grpSp>
          <p:nvGrpSpPr>
            <p:cNvPr id="35867" name="Group 45"/>
            <p:cNvGrpSpPr>
              <a:grpSpLocks/>
            </p:cNvGrpSpPr>
            <p:nvPr/>
          </p:nvGrpSpPr>
          <p:grpSpPr bwMode="auto">
            <a:xfrm>
              <a:off x="3457121" y="3396879"/>
              <a:ext cx="2035175" cy="366713"/>
              <a:chOff x="3457121" y="3396879"/>
              <a:chExt cx="2035175" cy="366713"/>
            </a:xfrm>
          </p:grpSpPr>
          <p:sp>
            <p:nvSpPr>
              <p:cNvPr id="35872" name="Line 8"/>
              <p:cNvSpPr>
                <a:spLocks noChangeShapeType="1"/>
              </p:cNvSpPr>
              <p:nvPr/>
            </p:nvSpPr>
            <p:spPr bwMode="auto">
              <a:xfrm>
                <a:off x="3457121" y="3419104"/>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73" name="Text Box 11"/>
              <p:cNvSpPr txBox="1">
                <a:spLocks noChangeArrowheads="1"/>
              </p:cNvSpPr>
              <p:nvPr/>
            </p:nvSpPr>
            <p:spPr bwMode="auto">
              <a:xfrm>
                <a:off x="4726379" y="3396879"/>
                <a:ext cx="76591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Hours</a:t>
                </a:r>
                <a:endParaRPr lang="en-US" altLang="en-US" sz="1800" i="1"/>
              </a:p>
            </p:txBody>
          </p:sp>
        </p:grpSp>
        <p:sp>
          <p:nvSpPr>
            <p:cNvPr id="35868" name="Text Box 26"/>
            <p:cNvSpPr txBox="1">
              <a:spLocks noChangeArrowheads="1"/>
            </p:cNvSpPr>
            <p:nvPr/>
          </p:nvSpPr>
          <p:spPr bwMode="auto">
            <a:xfrm>
              <a:off x="3413171" y="3809798"/>
              <a:ext cx="190698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Individual </a:t>
              </a:r>
              <a:r>
                <a:rPr lang="en-US" altLang="en-US" sz="1800" i="1" dirty="0">
                  <a:solidFill>
                    <a:srgbClr val="002D56"/>
                  </a:solidFill>
                </a:rPr>
                <a:t>2</a:t>
              </a:r>
              <a:endParaRPr lang="en-US" altLang="en-US" sz="1800" dirty="0">
                <a:solidFill>
                  <a:srgbClr val="002D56"/>
                </a:solidFill>
              </a:endParaRPr>
            </a:p>
          </p:txBody>
        </p:sp>
        <p:grpSp>
          <p:nvGrpSpPr>
            <p:cNvPr id="35869" name="Group 42"/>
            <p:cNvGrpSpPr>
              <a:grpSpLocks/>
            </p:cNvGrpSpPr>
            <p:nvPr/>
          </p:nvGrpSpPr>
          <p:grpSpPr bwMode="auto">
            <a:xfrm>
              <a:off x="3017816" y="810430"/>
              <a:ext cx="744682" cy="2608674"/>
              <a:chOff x="3017816" y="810430"/>
              <a:chExt cx="744682" cy="2608674"/>
            </a:xfrm>
          </p:grpSpPr>
          <p:sp>
            <p:nvSpPr>
              <p:cNvPr id="35870" name="Line 7"/>
              <p:cNvSpPr>
                <a:spLocks noChangeShapeType="1"/>
              </p:cNvSpPr>
              <p:nvPr/>
            </p:nvSpPr>
            <p:spPr bwMode="auto">
              <a:xfrm>
                <a:off x="3457121" y="1437904"/>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71" name="Text Box 14"/>
              <p:cNvSpPr txBox="1">
                <a:spLocks noChangeArrowheads="1"/>
              </p:cNvSpPr>
              <p:nvPr/>
            </p:nvSpPr>
            <p:spPr bwMode="auto">
              <a:xfrm>
                <a:off x="3017816" y="810430"/>
                <a:ext cx="744682" cy="61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Real</a:t>
                </a:r>
              </a:p>
              <a:p>
                <a:pPr eaLnBrk="1" hangingPunct="1"/>
                <a:r>
                  <a:rPr lang="en-US" altLang="en-US" sz="1800" i="1"/>
                  <a:t>wage</a:t>
                </a:r>
              </a:p>
            </p:txBody>
          </p:sp>
        </p:grpSp>
      </p:grpSp>
      <p:grpSp>
        <p:nvGrpSpPr>
          <p:cNvPr id="34" name="Group 49"/>
          <p:cNvGrpSpPr>
            <a:grpSpLocks/>
          </p:cNvGrpSpPr>
          <p:nvPr/>
        </p:nvGrpSpPr>
        <p:grpSpPr bwMode="auto">
          <a:xfrm>
            <a:off x="6008688" y="811213"/>
            <a:ext cx="2455862" cy="3579700"/>
            <a:chOff x="6008419" y="810430"/>
            <a:chExt cx="2455677" cy="3580393"/>
          </a:xfrm>
        </p:grpSpPr>
        <p:grpSp>
          <p:nvGrpSpPr>
            <p:cNvPr id="35860" name="Group 44"/>
            <p:cNvGrpSpPr>
              <a:grpSpLocks/>
            </p:cNvGrpSpPr>
            <p:nvPr/>
          </p:nvGrpSpPr>
          <p:grpSpPr bwMode="auto">
            <a:xfrm>
              <a:off x="6352721" y="3396879"/>
              <a:ext cx="2111375" cy="366713"/>
              <a:chOff x="6352721" y="3396879"/>
              <a:chExt cx="2111375" cy="366713"/>
            </a:xfrm>
          </p:grpSpPr>
          <p:sp>
            <p:nvSpPr>
              <p:cNvPr id="35865" name="Line 3"/>
              <p:cNvSpPr>
                <a:spLocks noChangeShapeType="1"/>
              </p:cNvSpPr>
              <p:nvPr/>
            </p:nvSpPr>
            <p:spPr bwMode="auto">
              <a:xfrm>
                <a:off x="6352721" y="3419104"/>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6" name="Text Box 10"/>
              <p:cNvSpPr txBox="1">
                <a:spLocks noChangeArrowheads="1"/>
              </p:cNvSpPr>
              <p:nvPr/>
            </p:nvSpPr>
            <p:spPr bwMode="auto">
              <a:xfrm>
                <a:off x="6804561" y="3396879"/>
                <a:ext cx="165953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Total labor supply</a:t>
                </a:r>
                <a:endParaRPr lang="en-US" altLang="en-US" sz="1800" i="1"/>
              </a:p>
            </p:txBody>
          </p:sp>
        </p:grpSp>
        <p:sp>
          <p:nvSpPr>
            <p:cNvPr id="35861" name="Text Box 27"/>
            <p:cNvSpPr txBox="1">
              <a:spLocks noChangeArrowheads="1"/>
            </p:cNvSpPr>
            <p:nvPr/>
          </p:nvSpPr>
          <p:spPr bwMode="auto">
            <a:xfrm>
              <a:off x="6384971" y="3809798"/>
              <a:ext cx="185651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(c) The market</a:t>
              </a:r>
            </a:p>
          </p:txBody>
        </p:sp>
        <p:grpSp>
          <p:nvGrpSpPr>
            <p:cNvPr id="35862" name="Group 43"/>
            <p:cNvGrpSpPr>
              <a:grpSpLocks/>
            </p:cNvGrpSpPr>
            <p:nvPr/>
          </p:nvGrpSpPr>
          <p:grpSpPr bwMode="auto">
            <a:xfrm>
              <a:off x="6008419" y="810430"/>
              <a:ext cx="744682" cy="2608674"/>
              <a:chOff x="6008419" y="810430"/>
              <a:chExt cx="744682" cy="2608674"/>
            </a:xfrm>
          </p:grpSpPr>
          <p:sp>
            <p:nvSpPr>
              <p:cNvPr id="35863" name="Line 6"/>
              <p:cNvSpPr>
                <a:spLocks noChangeShapeType="1"/>
              </p:cNvSpPr>
              <p:nvPr/>
            </p:nvSpPr>
            <p:spPr bwMode="auto">
              <a:xfrm>
                <a:off x="6352721" y="1437904"/>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4" name="Text Box 14"/>
              <p:cNvSpPr txBox="1">
                <a:spLocks noChangeArrowheads="1"/>
              </p:cNvSpPr>
              <p:nvPr/>
            </p:nvSpPr>
            <p:spPr bwMode="auto">
              <a:xfrm>
                <a:off x="6008419" y="810430"/>
                <a:ext cx="744682" cy="61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Real</a:t>
                </a:r>
              </a:p>
              <a:p>
                <a:pPr eaLnBrk="1" hangingPunct="1"/>
                <a:r>
                  <a:rPr lang="en-US" altLang="en-US" sz="1800" i="1"/>
                  <a:t>wage</a:t>
                </a:r>
              </a:p>
            </p:txBody>
          </p:sp>
        </p:grpSp>
      </p:grpSp>
      <p:grpSp>
        <p:nvGrpSpPr>
          <p:cNvPr id="43" name="Group 54"/>
          <p:cNvGrpSpPr>
            <a:grpSpLocks/>
          </p:cNvGrpSpPr>
          <p:nvPr/>
        </p:nvGrpSpPr>
        <p:grpSpPr bwMode="auto">
          <a:xfrm>
            <a:off x="274638" y="2951163"/>
            <a:ext cx="6327775" cy="304800"/>
            <a:chOff x="250371" y="2276104"/>
            <a:chExt cx="6328560" cy="304800"/>
          </a:xfrm>
        </p:grpSpPr>
        <p:sp>
          <p:nvSpPr>
            <p:cNvPr id="35858" name="Line 18"/>
            <p:cNvSpPr>
              <a:spLocks noChangeShapeType="1"/>
            </p:cNvSpPr>
            <p:nvPr/>
          </p:nvSpPr>
          <p:spPr bwMode="auto">
            <a:xfrm flipV="1">
              <a:off x="685346" y="2424549"/>
              <a:ext cx="5893585" cy="395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5859" name="Text Box 23"/>
            <p:cNvSpPr txBox="1">
              <a:spLocks noChangeArrowheads="1"/>
            </p:cNvSpPr>
            <p:nvPr/>
          </p:nvSpPr>
          <p:spPr bwMode="auto">
            <a:xfrm>
              <a:off x="250371" y="2276104"/>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1</a:t>
              </a:r>
            </a:p>
          </p:txBody>
        </p:sp>
      </p:grpSp>
      <p:grpSp>
        <p:nvGrpSpPr>
          <p:cNvPr id="44" name="Group 57"/>
          <p:cNvGrpSpPr>
            <a:grpSpLocks/>
          </p:cNvGrpSpPr>
          <p:nvPr/>
        </p:nvGrpSpPr>
        <p:grpSpPr bwMode="auto">
          <a:xfrm>
            <a:off x="274638" y="1903413"/>
            <a:ext cx="8189912" cy="304800"/>
            <a:chOff x="250371" y="2276104"/>
            <a:chExt cx="8191256" cy="304800"/>
          </a:xfrm>
        </p:grpSpPr>
        <p:sp>
          <p:nvSpPr>
            <p:cNvPr id="35856" name="Line 18"/>
            <p:cNvSpPr>
              <a:spLocks noChangeShapeType="1"/>
            </p:cNvSpPr>
            <p:nvPr/>
          </p:nvSpPr>
          <p:spPr bwMode="auto">
            <a:xfrm flipV="1">
              <a:off x="685346" y="2426524"/>
              <a:ext cx="7756281" cy="197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5857" name="Text Box 23"/>
            <p:cNvSpPr txBox="1">
              <a:spLocks noChangeArrowheads="1"/>
            </p:cNvSpPr>
            <p:nvPr/>
          </p:nvSpPr>
          <p:spPr bwMode="auto">
            <a:xfrm>
              <a:off x="250371" y="2276104"/>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3</a:t>
              </a:r>
            </a:p>
          </p:txBody>
        </p:sp>
      </p:grpSp>
      <p:grpSp>
        <p:nvGrpSpPr>
          <p:cNvPr id="2" name="Group 1"/>
          <p:cNvGrpSpPr/>
          <p:nvPr/>
        </p:nvGrpSpPr>
        <p:grpSpPr>
          <a:xfrm>
            <a:off x="6572795" y="1686579"/>
            <a:ext cx="2128292" cy="1413028"/>
            <a:chOff x="6572795" y="1686579"/>
            <a:chExt cx="2128292" cy="1413028"/>
          </a:xfrm>
        </p:grpSpPr>
        <p:grpSp>
          <p:nvGrpSpPr>
            <p:cNvPr id="29" name="Group 52"/>
            <p:cNvGrpSpPr>
              <a:grpSpLocks/>
            </p:cNvGrpSpPr>
            <p:nvPr/>
          </p:nvGrpSpPr>
          <p:grpSpPr bwMode="auto">
            <a:xfrm>
              <a:off x="6572795" y="1686579"/>
              <a:ext cx="2128292" cy="1413028"/>
              <a:chOff x="6561228" y="1794158"/>
              <a:chExt cx="2128292" cy="1413028"/>
            </a:xfrm>
          </p:grpSpPr>
          <p:sp>
            <p:nvSpPr>
              <p:cNvPr id="35874" name="Text Box 30"/>
              <p:cNvSpPr txBox="1">
                <a:spLocks noChangeArrowheads="1"/>
              </p:cNvSpPr>
              <p:nvPr/>
            </p:nvSpPr>
            <p:spPr bwMode="auto">
              <a:xfrm>
                <a:off x="8370433" y="1794158"/>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5D0D8F"/>
                    </a:solidFill>
                  </a:rPr>
                  <a:t>S</a:t>
                </a:r>
              </a:p>
            </p:txBody>
          </p:sp>
          <p:sp>
            <p:nvSpPr>
              <p:cNvPr id="35875" name="Line 35"/>
              <p:cNvSpPr>
                <a:spLocks noChangeShapeType="1"/>
              </p:cNvSpPr>
              <p:nvPr/>
            </p:nvSpPr>
            <p:spPr bwMode="auto">
              <a:xfrm flipV="1">
                <a:off x="6561228" y="2820616"/>
                <a:ext cx="513805" cy="38657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49" name="Line 35"/>
            <p:cNvSpPr>
              <a:spLocks noChangeShapeType="1"/>
            </p:cNvSpPr>
            <p:nvPr/>
          </p:nvSpPr>
          <p:spPr bwMode="auto">
            <a:xfrm flipV="1">
              <a:off x="7086601" y="2055813"/>
              <a:ext cx="1377950" cy="651295"/>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Tree>
    <p:extLst>
      <p:ext uri="{BB962C8B-B14F-4D97-AF65-F5344CB8AC3E}">
        <p14:creationId xmlns:p14="http://schemas.microsoft.com/office/powerpoint/2010/main" val="1808008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500"/>
                                        <p:tgtEl>
                                          <p:spTgt spid="34"/>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left)">
                                      <p:cBhvr>
                                        <p:cTn id="31" dur="500"/>
                                        <p:tgtEl>
                                          <p:spTgt spid="26"/>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500"/>
                                        <p:tgtEl>
                                          <p:spTgt spid="2"/>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5843">
                                            <p:txEl>
                                              <p:pRg st="0" end="0"/>
                                            </p:txEl>
                                          </p:spTgt>
                                        </p:tgtEl>
                                        <p:attrNameLst>
                                          <p:attrName>style.visibility</p:attrName>
                                        </p:attrNameLst>
                                      </p:cBhvr>
                                      <p:to>
                                        <p:strVal val="visible"/>
                                      </p:to>
                                    </p:set>
                                    <p:animEffect transition="in" filter="wipe(left)">
                                      <p:cBhvr>
                                        <p:cTn id="43" dur="500"/>
                                        <p:tgtEl>
                                          <p:spTgt spid="358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smtClean="0"/>
              <a:t>Labor Market Equilibrium</a:t>
            </a:r>
          </a:p>
        </p:txBody>
      </p:sp>
      <p:sp>
        <p:nvSpPr>
          <p:cNvPr id="36867" name="Rectangle 3"/>
          <p:cNvSpPr>
            <a:spLocks noGrp="1" noChangeArrowheads="1"/>
          </p:cNvSpPr>
          <p:nvPr>
            <p:ph idx="1"/>
          </p:nvPr>
        </p:nvSpPr>
        <p:spPr/>
        <p:txBody>
          <a:bodyPr/>
          <a:lstStyle/>
          <a:p>
            <a:r>
              <a:rPr lang="en-US" altLang="en-US" dirty="0" smtClean="0"/>
              <a:t>Equilibrium in the labor market</a:t>
            </a:r>
          </a:p>
          <a:p>
            <a:pPr lvl="1"/>
            <a:r>
              <a:rPr lang="en-US" altLang="en-US" dirty="0" smtClean="0"/>
              <a:t>Established through the interactions of</a:t>
            </a:r>
          </a:p>
          <a:p>
            <a:pPr lvl="2"/>
            <a:r>
              <a:rPr lang="en-US" altLang="en-US" dirty="0" smtClean="0"/>
              <a:t>Individuals’ labor supply decisions</a:t>
            </a:r>
          </a:p>
          <a:p>
            <a:pPr lvl="2"/>
            <a:r>
              <a:rPr lang="en-US" altLang="en-US" dirty="0" smtClean="0"/>
              <a:t>Firms’ decisions about how much labor to hire</a:t>
            </a:r>
          </a:p>
          <a:p>
            <a:pPr lvl="1"/>
            <a:r>
              <a:rPr lang="en-US" altLang="en-US" dirty="0" smtClean="0"/>
              <a:t>At a real wage rate of </a:t>
            </a:r>
            <a:r>
              <a:rPr lang="en-US" altLang="en-US" i="1" dirty="0" smtClean="0"/>
              <a:t>w</a:t>
            </a:r>
            <a:r>
              <a:rPr lang="en-US" altLang="en-US" dirty="0" smtClean="0"/>
              <a:t>*</a:t>
            </a:r>
          </a:p>
          <a:p>
            <a:pPr lvl="2"/>
            <a:r>
              <a:rPr lang="en-US" altLang="en-US" dirty="0" smtClean="0"/>
              <a:t>Quantity of labor demanded by firms is precisely matched by the quantity supplied by individuals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CA078ED-FA60-4B43-B837-513C3CB10BCB}" type="slidenum">
              <a:rPr lang="en-US" smtClean="0"/>
              <a:pPr>
                <a:defRPr/>
              </a:pPr>
              <a:t>23</a:t>
            </a:fld>
            <a:endParaRPr lang="en-US"/>
          </a:p>
        </p:txBody>
      </p:sp>
    </p:spTree>
    <p:extLst>
      <p:ext uri="{BB962C8B-B14F-4D97-AF65-F5344CB8AC3E}">
        <p14:creationId xmlns:p14="http://schemas.microsoft.com/office/powerpoint/2010/main" val="23915191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16.3	Equilibrium in the Labor </a:t>
            </a:r>
            <a:r>
              <a:rPr lang="en-US" altLang="en-US" dirty="0" smtClean="0"/>
              <a:t>Market</a:t>
            </a:r>
            <a:endParaRPr lang="en-US" altLang="en-US" dirty="0" smtClean="0"/>
          </a:p>
        </p:txBody>
      </p:sp>
      <p:sp>
        <p:nvSpPr>
          <p:cNvPr id="37891" name="Text Placeholder 2"/>
          <p:cNvSpPr>
            <a:spLocks noGrp="1"/>
          </p:cNvSpPr>
          <p:nvPr>
            <p:ph sz="half" idx="1"/>
          </p:nvPr>
        </p:nvSpPr>
        <p:spPr>
          <a:xfrm>
            <a:off x="457200" y="5410200"/>
            <a:ext cx="8458200" cy="715963"/>
          </a:xfrm>
        </p:spPr>
        <p:txBody>
          <a:bodyPr>
            <a:normAutofit/>
          </a:bodyPr>
          <a:lstStyle/>
          <a:p>
            <a:pPr>
              <a:spcBef>
                <a:spcPct val="0"/>
              </a:spcBef>
            </a:pPr>
            <a:r>
              <a:rPr lang="en-US" altLang="en-US" dirty="0"/>
              <a:t>A real wage of </a:t>
            </a:r>
            <a:r>
              <a:rPr lang="en-US" altLang="en-US" i="1" dirty="0"/>
              <a:t>w*</a:t>
            </a:r>
            <a:r>
              <a:rPr lang="en-US" altLang="en-US" dirty="0"/>
              <a:t> creates an equilibrium in the labor market with an employment level of </a:t>
            </a:r>
            <a:r>
              <a:rPr lang="en-US" altLang="en-US" i="1" dirty="0">
                <a:latin typeface="Times New Roman" pitchFamily="18" charset="0"/>
                <a:cs typeface="Times New Roman" pitchFamily="18" charset="0"/>
              </a:rPr>
              <a:t>l*</a:t>
            </a:r>
            <a:r>
              <a:rPr lang="en-US" altLang="en-US" dirty="0"/>
              <a:t>.</a:t>
            </a:r>
          </a:p>
          <a:p>
            <a:pPr>
              <a:spcBef>
                <a:spcPct val="0"/>
              </a:spcBef>
            </a:pPr>
            <a:endParaRPr lang="en-US" altLang="en-US" dirty="0" smtClean="0"/>
          </a:p>
        </p:txBody>
      </p:sp>
      <p:sp>
        <p:nvSpPr>
          <p:cNvPr id="3789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B2391EA7-E72B-49B2-BFFF-85B3C1F15EE2}" type="slidenum">
              <a:rPr lang="en-US" smtClean="0"/>
              <a:pPr>
                <a:defRPr/>
              </a:pPr>
              <a:t>24</a:t>
            </a:fld>
            <a:endParaRPr lang="en-US" dirty="0"/>
          </a:p>
        </p:txBody>
      </p:sp>
      <p:grpSp>
        <p:nvGrpSpPr>
          <p:cNvPr id="15" name="Group 26"/>
          <p:cNvGrpSpPr>
            <a:grpSpLocks/>
          </p:cNvGrpSpPr>
          <p:nvPr/>
        </p:nvGrpSpPr>
        <p:grpSpPr bwMode="auto">
          <a:xfrm>
            <a:off x="1428750" y="1501775"/>
            <a:ext cx="6229350" cy="3719513"/>
            <a:chOff x="1428007" y="1502229"/>
            <a:chExt cx="6229350" cy="3719513"/>
          </a:xfrm>
        </p:grpSpPr>
        <p:grpSp>
          <p:nvGrpSpPr>
            <p:cNvPr id="37908" name="Group 21"/>
            <p:cNvGrpSpPr>
              <a:grpSpLocks/>
            </p:cNvGrpSpPr>
            <p:nvPr/>
          </p:nvGrpSpPr>
          <p:grpSpPr bwMode="auto">
            <a:xfrm>
              <a:off x="1428007" y="1502229"/>
              <a:ext cx="1174750" cy="3352800"/>
              <a:chOff x="1428007" y="1502229"/>
              <a:chExt cx="1174750" cy="3352800"/>
            </a:xfrm>
          </p:grpSpPr>
          <p:sp>
            <p:nvSpPr>
              <p:cNvPr id="37912" name="Line 5"/>
              <p:cNvSpPr>
                <a:spLocks noChangeShapeType="1"/>
              </p:cNvSpPr>
              <p:nvPr/>
            </p:nvSpPr>
            <p:spPr bwMode="auto">
              <a:xfrm>
                <a:off x="2418607" y="1959429"/>
                <a:ext cx="0" cy="2895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3" name="Text Box 11"/>
              <p:cNvSpPr txBox="1">
                <a:spLocks noChangeArrowheads="1"/>
              </p:cNvSpPr>
              <p:nvPr/>
            </p:nvSpPr>
            <p:spPr bwMode="auto">
              <a:xfrm>
                <a:off x="1428007" y="1502229"/>
                <a:ext cx="1174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Real wage</a:t>
                </a:r>
              </a:p>
            </p:txBody>
          </p:sp>
        </p:grpSp>
        <p:grpSp>
          <p:nvGrpSpPr>
            <p:cNvPr id="37909" name="Group 20"/>
            <p:cNvGrpSpPr>
              <a:grpSpLocks/>
            </p:cNvGrpSpPr>
            <p:nvPr/>
          </p:nvGrpSpPr>
          <p:grpSpPr bwMode="auto">
            <a:xfrm>
              <a:off x="2418607" y="4855029"/>
              <a:ext cx="5238750" cy="366713"/>
              <a:chOff x="2418607" y="4855029"/>
              <a:chExt cx="5238750" cy="366713"/>
            </a:xfrm>
          </p:grpSpPr>
          <p:sp>
            <p:nvSpPr>
              <p:cNvPr id="37910" name="Line 6"/>
              <p:cNvSpPr>
                <a:spLocks noChangeShapeType="1"/>
              </p:cNvSpPr>
              <p:nvPr/>
            </p:nvSpPr>
            <p:spPr bwMode="auto">
              <a:xfrm>
                <a:off x="2418607" y="4855029"/>
                <a:ext cx="3352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1" name="Text Box 12"/>
              <p:cNvSpPr txBox="1">
                <a:spLocks noChangeArrowheads="1"/>
              </p:cNvSpPr>
              <p:nvPr/>
            </p:nvSpPr>
            <p:spPr bwMode="auto">
              <a:xfrm>
                <a:off x="5847607" y="4855029"/>
                <a:ext cx="180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of labor</a:t>
                </a:r>
              </a:p>
            </p:txBody>
          </p:sp>
        </p:grpSp>
      </p:grpSp>
      <p:grpSp>
        <p:nvGrpSpPr>
          <p:cNvPr id="22" name="Group 22"/>
          <p:cNvGrpSpPr>
            <a:grpSpLocks/>
          </p:cNvGrpSpPr>
          <p:nvPr/>
        </p:nvGrpSpPr>
        <p:grpSpPr bwMode="auto">
          <a:xfrm>
            <a:off x="2876550" y="2236788"/>
            <a:ext cx="2063750" cy="2008187"/>
            <a:chOff x="2875807" y="2237242"/>
            <a:chExt cx="2063750" cy="2008187"/>
          </a:xfrm>
        </p:grpSpPr>
        <p:sp>
          <p:nvSpPr>
            <p:cNvPr id="37906" name="Freeform 8"/>
            <p:cNvSpPr>
              <a:spLocks/>
            </p:cNvSpPr>
            <p:nvPr/>
          </p:nvSpPr>
          <p:spPr bwMode="auto">
            <a:xfrm>
              <a:off x="2875807" y="2492829"/>
              <a:ext cx="1828800" cy="1752600"/>
            </a:xfrm>
            <a:custGeom>
              <a:avLst/>
              <a:gdLst>
                <a:gd name="T0" fmla="*/ 0 w 1152"/>
                <a:gd name="T1" fmla="*/ 1104 h 1104"/>
                <a:gd name="T2" fmla="*/ 672 w 1152"/>
                <a:gd name="T3" fmla="*/ 768 h 1104"/>
                <a:gd name="T4" fmla="*/ 1152 w 1152"/>
                <a:gd name="T5" fmla="*/ 0 h 1104"/>
                <a:gd name="T6" fmla="*/ 0 60000 65536"/>
                <a:gd name="T7" fmla="*/ 0 60000 65536"/>
                <a:gd name="T8" fmla="*/ 0 60000 65536"/>
                <a:gd name="T9" fmla="*/ 0 w 1152"/>
                <a:gd name="T10" fmla="*/ 0 h 1104"/>
                <a:gd name="T11" fmla="*/ 1152 w 1152"/>
                <a:gd name="T12" fmla="*/ 1104 h 1104"/>
              </a:gdLst>
              <a:ahLst/>
              <a:cxnLst>
                <a:cxn ang="T6">
                  <a:pos x="T0" y="T1"/>
                </a:cxn>
                <a:cxn ang="T7">
                  <a:pos x="T2" y="T3"/>
                </a:cxn>
                <a:cxn ang="T8">
                  <a:pos x="T4" y="T5"/>
                </a:cxn>
              </a:cxnLst>
              <a:rect l="T9" t="T10" r="T11" b="T12"/>
              <a:pathLst>
                <a:path w="1152" h="1104">
                  <a:moveTo>
                    <a:pt x="0" y="1104"/>
                  </a:moveTo>
                  <a:cubicBezTo>
                    <a:pt x="240" y="1028"/>
                    <a:pt x="480" y="952"/>
                    <a:pt x="672" y="768"/>
                  </a:cubicBezTo>
                  <a:cubicBezTo>
                    <a:pt x="864" y="584"/>
                    <a:pt x="1008" y="292"/>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907" name="Text Box 13"/>
            <p:cNvSpPr txBox="1">
              <a:spLocks noChangeArrowheads="1"/>
            </p:cNvSpPr>
            <p:nvPr/>
          </p:nvSpPr>
          <p:spPr bwMode="auto">
            <a:xfrm>
              <a:off x="4620470" y="2237242"/>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5D0D8F"/>
                  </a:solidFill>
                </a:rPr>
                <a:t>S</a:t>
              </a:r>
            </a:p>
          </p:txBody>
        </p:sp>
      </p:grpSp>
      <p:grpSp>
        <p:nvGrpSpPr>
          <p:cNvPr id="23" name="Group 23"/>
          <p:cNvGrpSpPr>
            <a:grpSpLocks/>
          </p:cNvGrpSpPr>
          <p:nvPr/>
        </p:nvGrpSpPr>
        <p:grpSpPr bwMode="auto">
          <a:xfrm>
            <a:off x="2800350" y="2492375"/>
            <a:ext cx="2603500" cy="2138363"/>
            <a:chOff x="2799607" y="2492829"/>
            <a:chExt cx="2603500" cy="2138363"/>
          </a:xfrm>
        </p:grpSpPr>
        <p:sp>
          <p:nvSpPr>
            <p:cNvPr id="37904" name="Freeform 7"/>
            <p:cNvSpPr>
              <a:spLocks/>
            </p:cNvSpPr>
            <p:nvPr/>
          </p:nvSpPr>
          <p:spPr bwMode="auto">
            <a:xfrm>
              <a:off x="2799607" y="2492829"/>
              <a:ext cx="2286000" cy="1981200"/>
            </a:xfrm>
            <a:custGeom>
              <a:avLst/>
              <a:gdLst>
                <a:gd name="T0" fmla="*/ 0 w 1440"/>
                <a:gd name="T1" fmla="*/ 0 h 1248"/>
                <a:gd name="T2" fmla="*/ 624 w 1440"/>
                <a:gd name="T3" fmla="*/ 864 h 1248"/>
                <a:gd name="T4" fmla="*/ 1440 w 1440"/>
                <a:gd name="T5" fmla="*/ 1248 h 1248"/>
                <a:gd name="T6" fmla="*/ 0 60000 65536"/>
                <a:gd name="T7" fmla="*/ 0 60000 65536"/>
                <a:gd name="T8" fmla="*/ 0 60000 65536"/>
                <a:gd name="T9" fmla="*/ 0 w 1440"/>
                <a:gd name="T10" fmla="*/ 0 h 1248"/>
                <a:gd name="T11" fmla="*/ 1440 w 1440"/>
                <a:gd name="T12" fmla="*/ 1248 h 1248"/>
              </a:gdLst>
              <a:ahLst/>
              <a:cxnLst>
                <a:cxn ang="T6">
                  <a:pos x="T0" y="T1"/>
                </a:cxn>
                <a:cxn ang="T7">
                  <a:pos x="T2" y="T3"/>
                </a:cxn>
                <a:cxn ang="T8">
                  <a:pos x="T4" y="T5"/>
                </a:cxn>
              </a:cxnLst>
              <a:rect l="T9" t="T10" r="T11" b="T12"/>
              <a:pathLst>
                <a:path w="1440" h="1248">
                  <a:moveTo>
                    <a:pt x="0" y="0"/>
                  </a:moveTo>
                  <a:cubicBezTo>
                    <a:pt x="192" y="328"/>
                    <a:pt x="384" y="656"/>
                    <a:pt x="624" y="864"/>
                  </a:cubicBezTo>
                  <a:cubicBezTo>
                    <a:pt x="864" y="1072"/>
                    <a:pt x="1152" y="1160"/>
                    <a:pt x="1440"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905" name="Text Box 14"/>
            <p:cNvSpPr txBox="1">
              <a:spLocks noChangeArrowheads="1"/>
            </p:cNvSpPr>
            <p:nvPr/>
          </p:nvSpPr>
          <p:spPr bwMode="auto">
            <a:xfrm>
              <a:off x="5072907" y="4294642"/>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D</a:t>
              </a:r>
            </a:p>
          </p:txBody>
        </p:sp>
      </p:grpSp>
      <p:grpSp>
        <p:nvGrpSpPr>
          <p:cNvPr id="24" name="Group 24"/>
          <p:cNvGrpSpPr>
            <a:grpSpLocks/>
          </p:cNvGrpSpPr>
          <p:nvPr/>
        </p:nvGrpSpPr>
        <p:grpSpPr bwMode="auto">
          <a:xfrm>
            <a:off x="1962150" y="3711575"/>
            <a:ext cx="1833563" cy="304800"/>
            <a:chOff x="1961407" y="3712029"/>
            <a:chExt cx="1833563" cy="304800"/>
          </a:xfrm>
        </p:grpSpPr>
        <p:sp>
          <p:nvSpPr>
            <p:cNvPr id="37902" name="Line 9"/>
            <p:cNvSpPr>
              <a:spLocks noChangeShapeType="1"/>
            </p:cNvSpPr>
            <p:nvPr/>
          </p:nvSpPr>
          <p:spPr bwMode="auto">
            <a:xfrm flipH="1">
              <a:off x="2423370" y="3864429"/>
              <a:ext cx="1371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3" name="Text Box 15"/>
            <p:cNvSpPr txBox="1">
              <a:spLocks noChangeArrowheads="1"/>
            </p:cNvSpPr>
            <p:nvPr/>
          </p:nvSpPr>
          <p:spPr bwMode="auto">
            <a:xfrm>
              <a:off x="1961407" y="3712029"/>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a:t>*</a:t>
              </a:r>
            </a:p>
          </p:txBody>
        </p:sp>
      </p:grpSp>
      <p:grpSp>
        <p:nvGrpSpPr>
          <p:cNvPr id="25" name="Group 25"/>
          <p:cNvGrpSpPr>
            <a:grpSpLocks/>
          </p:cNvGrpSpPr>
          <p:nvPr/>
        </p:nvGrpSpPr>
        <p:grpSpPr bwMode="auto">
          <a:xfrm>
            <a:off x="3643313" y="3863975"/>
            <a:ext cx="303212" cy="1295400"/>
            <a:chOff x="3642570" y="3864429"/>
            <a:chExt cx="303213" cy="1295400"/>
          </a:xfrm>
        </p:grpSpPr>
        <p:sp>
          <p:nvSpPr>
            <p:cNvPr id="37900" name="Line 10"/>
            <p:cNvSpPr>
              <a:spLocks noChangeShapeType="1"/>
            </p:cNvSpPr>
            <p:nvPr/>
          </p:nvSpPr>
          <p:spPr bwMode="auto">
            <a:xfrm>
              <a:off x="3794970" y="3864429"/>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1" name="Text Box 16"/>
            <p:cNvSpPr txBox="1">
              <a:spLocks noChangeArrowheads="1"/>
            </p:cNvSpPr>
            <p:nvPr/>
          </p:nvSpPr>
          <p:spPr bwMode="auto">
            <a:xfrm>
              <a:off x="3642570" y="4855029"/>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a:t>*</a:t>
              </a:r>
              <a:endParaRPr lang="en-US" altLang="en-US" sz="1800" i="1">
                <a:latin typeface="Times New Roman" pitchFamily="18" charset="0"/>
              </a:endParaRPr>
            </a:p>
          </p:txBody>
        </p:sp>
      </p:grpSp>
    </p:spTree>
    <p:extLst>
      <p:ext uri="{BB962C8B-B14F-4D97-AF65-F5344CB8AC3E}">
        <p14:creationId xmlns:p14="http://schemas.microsoft.com/office/powerpoint/2010/main" val="29226547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7891">
                                            <p:txEl>
                                              <p:pRg st="0" end="0"/>
                                            </p:txEl>
                                          </p:spTgt>
                                        </p:tgtEl>
                                        <p:attrNameLst>
                                          <p:attrName>style.visibility</p:attrName>
                                        </p:attrNameLst>
                                      </p:cBhvr>
                                      <p:to>
                                        <p:strVal val="visible"/>
                                      </p:to>
                                    </p:set>
                                    <p:animEffect transition="in" filter="wipe(left)">
                                      <p:cBhvr>
                                        <p:cTn id="27" dur="5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Labor Market Equilibrium</a:t>
            </a:r>
          </a:p>
        </p:txBody>
      </p:sp>
      <p:sp>
        <p:nvSpPr>
          <p:cNvPr id="38915" name="Rectangle 3"/>
          <p:cNvSpPr>
            <a:spLocks noGrp="1" noChangeArrowheads="1"/>
          </p:cNvSpPr>
          <p:nvPr>
            <p:ph idx="1"/>
          </p:nvPr>
        </p:nvSpPr>
        <p:spPr>
          <a:xfrm>
            <a:off x="381000" y="1143000"/>
            <a:ext cx="8763000" cy="5257800"/>
          </a:xfrm>
        </p:spPr>
        <p:txBody>
          <a:bodyPr>
            <a:noAutofit/>
          </a:bodyPr>
          <a:lstStyle/>
          <a:p>
            <a:r>
              <a:rPr lang="en-US" altLang="en-US" dirty="0" smtClean="0"/>
              <a:t>A real wage higher than </a:t>
            </a:r>
            <a:r>
              <a:rPr lang="en-US" altLang="en-US" i="1" dirty="0" smtClean="0"/>
              <a:t>w</a:t>
            </a:r>
            <a:r>
              <a:rPr lang="en-US" altLang="en-US" dirty="0" smtClean="0"/>
              <a:t>*</a:t>
            </a:r>
          </a:p>
          <a:p>
            <a:pPr lvl="1"/>
            <a:r>
              <a:rPr lang="en-US" altLang="en-US" dirty="0" smtClean="0"/>
              <a:t>Disequilibrium: quantity of labor supplied is greater than the quantity demanded</a:t>
            </a:r>
          </a:p>
          <a:p>
            <a:pPr lvl="2"/>
            <a:r>
              <a:rPr lang="en-US" altLang="en-US" dirty="0" smtClean="0"/>
              <a:t>Some involuntary unemployment </a:t>
            </a:r>
          </a:p>
          <a:p>
            <a:pPr lvl="2"/>
            <a:r>
              <a:rPr lang="en-US" altLang="en-US" dirty="0" smtClean="0"/>
              <a:t>May create pressure for the real wage to decrease</a:t>
            </a:r>
          </a:p>
          <a:p>
            <a:r>
              <a:rPr lang="en-US" altLang="en-US" dirty="0" smtClean="0"/>
              <a:t>A real wage lower than </a:t>
            </a:r>
            <a:r>
              <a:rPr lang="en-US" altLang="en-US" i="1" dirty="0" smtClean="0"/>
              <a:t>w</a:t>
            </a:r>
            <a:r>
              <a:rPr lang="en-US" altLang="en-US" dirty="0" smtClean="0"/>
              <a:t>*</a:t>
            </a:r>
          </a:p>
          <a:p>
            <a:pPr lvl="1"/>
            <a:r>
              <a:rPr lang="en-US" altLang="en-US" dirty="0" smtClean="0"/>
              <a:t>Disequilibrium: firms want to hire more workers than are available</a:t>
            </a:r>
          </a:p>
          <a:p>
            <a:pPr lvl="2"/>
            <a:r>
              <a:rPr lang="en-US" altLang="en-US" dirty="0" smtClean="0"/>
              <a:t>May bid up real wages to restore equilibrium</a:t>
            </a:r>
          </a:p>
          <a:p>
            <a:pPr>
              <a:buFontTx/>
              <a:buNone/>
            </a:pP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2D58DAE-831E-4C8C-AA96-E5CE2B57D2DA}" type="slidenum">
              <a:rPr lang="en-US" smtClean="0"/>
              <a:pPr>
                <a:defRPr/>
              </a:pPr>
              <a:t>25</a:t>
            </a:fld>
            <a:endParaRPr lang="en-US"/>
          </a:p>
        </p:txBody>
      </p:sp>
    </p:spTree>
    <p:extLst>
      <p:ext uri="{BB962C8B-B14F-4D97-AF65-F5344CB8AC3E}">
        <p14:creationId xmlns:p14="http://schemas.microsoft.com/office/powerpoint/2010/main" val="14761380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16.2 	Mandated Benefits</a:t>
            </a:r>
          </a:p>
        </p:txBody>
      </p:sp>
      <p:sp>
        <p:nvSpPr>
          <p:cNvPr id="3994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F9279D98-EDD1-4813-8510-B6885E0109B5}" type="slidenum">
              <a:rPr lang="en-US" smtClean="0"/>
              <a:pPr>
                <a:defRPr/>
              </a:pPr>
              <a:t>26</a:t>
            </a:fld>
            <a:endParaRPr lang="en-US" dirty="0"/>
          </a:p>
        </p:txBody>
      </p:sp>
      <p:sp>
        <p:nvSpPr>
          <p:cNvPr id="39939" name="Content Placeholder 2"/>
          <p:cNvSpPr>
            <a:spLocks noGrp="1"/>
          </p:cNvSpPr>
          <p:nvPr>
            <p:ph type="body" sz="quarter" idx="12"/>
          </p:nvPr>
        </p:nvSpPr>
        <p:spPr>
          <a:prstGeom prst="rect">
            <a:avLst/>
          </a:prstGeom>
        </p:spPr>
        <p:txBody>
          <a:bodyPr/>
          <a:lstStyle/>
          <a:p>
            <a:r>
              <a:rPr lang="en-US" altLang="en-US" smtClean="0"/>
              <a:t>Recent laws</a:t>
            </a:r>
          </a:p>
          <a:p>
            <a:pPr lvl="1"/>
            <a:r>
              <a:rPr lang="en-US" altLang="en-US" smtClean="0"/>
              <a:t>Have mandated that employers provide special benefits to workers</a:t>
            </a:r>
          </a:p>
          <a:p>
            <a:pPr lvl="2"/>
            <a:r>
              <a:rPr lang="en-US" altLang="en-US" smtClean="0"/>
              <a:t>Health insurance</a:t>
            </a:r>
          </a:p>
          <a:p>
            <a:pPr lvl="2"/>
            <a:r>
              <a:rPr lang="en-US" altLang="en-US" smtClean="0"/>
              <a:t>Paid time off</a:t>
            </a:r>
          </a:p>
          <a:p>
            <a:pPr lvl="2"/>
            <a:r>
              <a:rPr lang="en-US" altLang="en-US" smtClean="0"/>
              <a:t>Minimum severance packages</a:t>
            </a:r>
          </a:p>
          <a:p>
            <a:r>
              <a:rPr lang="en-US" altLang="en-US" smtClean="0"/>
              <a:t>Effects of these mandates </a:t>
            </a:r>
          </a:p>
          <a:p>
            <a:pPr lvl="1"/>
            <a:r>
              <a:rPr lang="en-US" altLang="en-US" smtClean="0"/>
              <a:t>Depend on how much the employee values the benefit</a:t>
            </a:r>
          </a:p>
          <a:p>
            <a:endParaRPr lang="en-US" altLang="en-US" smtClean="0"/>
          </a:p>
        </p:txBody>
      </p:sp>
    </p:spTree>
    <p:extLst>
      <p:ext uri="{BB962C8B-B14F-4D97-AF65-F5344CB8AC3E}">
        <p14:creationId xmlns:p14="http://schemas.microsoft.com/office/powerpoint/2010/main" val="12226187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16.2 	Mandated Benefits</a:t>
            </a:r>
          </a:p>
        </p:txBody>
      </p:sp>
      <p:sp>
        <p:nvSpPr>
          <p:cNvPr id="409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07731C3-D351-4084-BBB9-C6BA48CC2C00}" type="slidenum">
              <a:rPr lang="en-US" smtClean="0"/>
              <a:pPr>
                <a:defRPr/>
              </a:pPr>
              <a:t>27</a:t>
            </a:fld>
            <a:endParaRPr lang="en-US" dirty="0"/>
          </a:p>
        </p:txBody>
      </p:sp>
      <p:sp>
        <p:nvSpPr>
          <p:cNvPr id="40963" name="Content Placeholder 2"/>
          <p:cNvSpPr>
            <a:spLocks noGrp="1"/>
          </p:cNvSpPr>
          <p:nvPr>
            <p:ph type="body" sz="quarter" idx="12"/>
          </p:nvPr>
        </p:nvSpPr>
        <p:spPr>
          <a:prstGeom prst="rect">
            <a:avLst/>
          </a:prstGeom>
        </p:spPr>
        <p:txBody>
          <a:bodyPr/>
          <a:lstStyle/>
          <a:p>
            <a:r>
              <a:rPr lang="en-US" altLang="en-US" smtClean="0"/>
              <a:t>Prior to the mandate</a:t>
            </a:r>
          </a:p>
          <a:p>
            <a:pPr lvl="1"/>
            <a:r>
              <a:rPr lang="en-US" altLang="en-US" smtClean="0"/>
              <a:t>Supply and demand for labor are: </a:t>
            </a:r>
            <a:r>
              <a:rPr lang="en-US" altLang="en-US" i="1" smtClean="0">
                <a:solidFill>
                  <a:srgbClr val="FF0000"/>
                </a:solidFill>
                <a:latin typeface="Times New Roman" pitchFamily="18" charset="0"/>
              </a:rPr>
              <a:t>l</a:t>
            </a:r>
            <a:r>
              <a:rPr lang="en-US" altLang="en-US" i="1" baseline="-25000" smtClean="0">
                <a:solidFill>
                  <a:srgbClr val="FF0000"/>
                </a:solidFill>
              </a:rPr>
              <a:t>S</a:t>
            </a:r>
            <a:r>
              <a:rPr lang="en-US" altLang="en-US" smtClean="0">
                <a:solidFill>
                  <a:srgbClr val="FF0000"/>
                </a:solidFill>
              </a:rPr>
              <a:t> = </a:t>
            </a:r>
            <a:r>
              <a:rPr lang="en-US" altLang="en-US" i="1" smtClean="0">
                <a:solidFill>
                  <a:srgbClr val="FF0000"/>
                </a:solidFill>
              </a:rPr>
              <a:t>a + bw  </a:t>
            </a:r>
            <a:r>
              <a:rPr lang="en-US" altLang="en-US" smtClean="0"/>
              <a:t>and</a:t>
            </a:r>
            <a:r>
              <a:rPr lang="en-US" altLang="en-US" i="1" smtClean="0">
                <a:solidFill>
                  <a:srgbClr val="7B332D"/>
                </a:solidFill>
              </a:rPr>
              <a:t>    </a:t>
            </a:r>
            <a:r>
              <a:rPr lang="en-US" altLang="en-US" i="1" smtClean="0">
                <a:solidFill>
                  <a:srgbClr val="FF0000"/>
                </a:solidFill>
                <a:latin typeface="Times New Roman" pitchFamily="18" charset="0"/>
              </a:rPr>
              <a:t>l</a:t>
            </a:r>
            <a:r>
              <a:rPr lang="en-US" altLang="en-US" i="1" baseline="-25000" smtClean="0">
                <a:solidFill>
                  <a:srgbClr val="FF0000"/>
                </a:solidFill>
              </a:rPr>
              <a:t>D</a:t>
            </a:r>
            <a:r>
              <a:rPr lang="en-US" altLang="en-US" i="1" smtClean="0">
                <a:solidFill>
                  <a:srgbClr val="FF0000"/>
                </a:solidFill>
              </a:rPr>
              <a:t> = c – dw</a:t>
            </a:r>
          </a:p>
          <a:p>
            <a:pPr lvl="1"/>
            <a:r>
              <a:rPr lang="en-US" altLang="en-US" smtClean="0"/>
              <a:t>Equilibrium: </a:t>
            </a:r>
            <a:r>
              <a:rPr lang="en-US" altLang="en-US" i="1" smtClean="0">
                <a:solidFill>
                  <a:srgbClr val="FF0000"/>
                </a:solidFill>
                <a:latin typeface="Times New Roman" pitchFamily="18" charset="0"/>
              </a:rPr>
              <a:t>l</a:t>
            </a:r>
            <a:r>
              <a:rPr lang="en-US" altLang="en-US" i="1" baseline="-25000" smtClean="0">
                <a:solidFill>
                  <a:srgbClr val="FF0000"/>
                </a:solidFill>
              </a:rPr>
              <a:t>S</a:t>
            </a:r>
            <a:r>
              <a:rPr lang="en-US" altLang="en-US" i="1" smtClean="0">
                <a:solidFill>
                  <a:srgbClr val="FF0000"/>
                </a:solidFill>
              </a:rPr>
              <a:t> = </a:t>
            </a:r>
            <a:r>
              <a:rPr lang="en-US" altLang="en-US" i="1" smtClean="0">
                <a:solidFill>
                  <a:srgbClr val="FF0000"/>
                </a:solidFill>
                <a:latin typeface="Times New Roman" pitchFamily="18" charset="0"/>
              </a:rPr>
              <a:t>l</a:t>
            </a:r>
            <a:r>
              <a:rPr lang="en-US" altLang="en-US" i="1" baseline="-25000" smtClean="0">
                <a:solidFill>
                  <a:srgbClr val="FF0000"/>
                </a:solidFill>
              </a:rPr>
              <a:t>D</a:t>
            </a:r>
            <a:r>
              <a:rPr lang="en-US" altLang="en-US" smtClean="0">
                <a:solidFill>
                  <a:srgbClr val="FF0000"/>
                </a:solidFill>
              </a:rPr>
              <a:t> </a:t>
            </a:r>
          </a:p>
          <a:p>
            <a:pPr lvl="2"/>
            <a:r>
              <a:rPr lang="en-US" altLang="en-US" smtClean="0"/>
              <a:t>Equilibrium wage: </a:t>
            </a:r>
            <a:r>
              <a:rPr lang="en-US" altLang="en-US" i="1" smtClean="0">
                <a:solidFill>
                  <a:srgbClr val="FF0000"/>
                </a:solidFill>
              </a:rPr>
              <a:t>w* = </a:t>
            </a:r>
            <a:r>
              <a:rPr lang="en-US" altLang="en-US" smtClean="0">
                <a:solidFill>
                  <a:srgbClr val="FF0000"/>
                </a:solidFill>
              </a:rPr>
              <a:t>(</a:t>
            </a:r>
            <a:r>
              <a:rPr lang="en-US" altLang="en-US" i="1" smtClean="0">
                <a:solidFill>
                  <a:srgbClr val="FF0000"/>
                </a:solidFill>
              </a:rPr>
              <a:t>c – a</a:t>
            </a:r>
            <a:r>
              <a:rPr lang="en-US" altLang="en-US" smtClean="0">
                <a:solidFill>
                  <a:srgbClr val="FF0000"/>
                </a:solidFill>
              </a:rPr>
              <a:t>)/(</a:t>
            </a:r>
            <a:r>
              <a:rPr lang="en-US" altLang="en-US" i="1" smtClean="0">
                <a:solidFill>
                  <a:srgbClr val="FF0000"/>
                </a:solidFill>
              </a:rPr>
              <a:t>b + d</a:t>
            </a:r>
            <a:r>
              <a:rPr lang="en-US" altLang="en-US" smtClean="0">
                <a:solidFill>
                  <a:srgbClr val="FF0000"/>
                </a:solidFill>
              </a:rPr>
              <a:t>)</a:t>
            </a:r>
          </a:p>
          <a:p>
            <a:r>
              <a:rPr lang="en-US" altLang="en-US" smtClean="0"/>
              <a:t>The government mandates </a:t>
            </a:r>
          </a:p>
          <a:p>
            <a:pPr lvl="1"/>
            <a:r>
              <a:rPr lang="en-US" altLang="en-US" smtClean="0"/>
              <a:t>That all firms provide a benefit to their workers that costs </a:t>
            </a:r>
            <a:r>
              <a:rPr lang="en-US" altLang="en-US" i="1" smtClean="0"/>
              <a:t>t</a:t>
            </a:r>
            <a:r>
              <a:rPr lang="en-US" altLang="en-US" smtClean="0"/>
              <a:t> per unit of labor hired</a:t>
            </a:r>
          </a:p>
          <a:p>
            <a:pPr lvl="2"/>
            <a:r>
              <a:rPr lang="en-US" altLang="en-US" smtClean="0"/>
              <a:t>Unit labor costs become </a:t>
            </a:r>
            <a:r>
              <a:rPr lang="en-US" altLang="en-US" i="1" smtClean="0">
                <a:solidFill>
                  <a:srgbClr val="FF0000"/>
                </a:solidFill>
              </a:rPr>
              <a:t>w + t</a:t>
            </a:r>
            <a:endParaRPr lang="en-US" altLang="en-US" smtClean="0">
              <a:solidFill>
                <a:srgbClr val="FF0000"/>
              </a:solidFill>
            </a:endParaRPr>
          </a:p>
          <a:p>
            <a:pPr lvl="1"/>
            <a:r>
              <a:rPr lang="en-US" altLang="en-US" smtClean="0"/>
              <a:t>The benefit has a value of </a:t>
            </a:r>
            <a:r>
              <a:rPr lang="en-US" altLang="en-US" i="1" smtClean="0"/>
              <a:t>k</a:t>
            </a:r>
            <a:r>
              <a:rPr lang="en-US" altLang="en-US" smtClean="0"/>
              <a:t> per unit supplied</a:t>
            </a:r>
          </a:p>
          <a:p>
            <a:pPr lvl="2"/>
            <a:r>
              <a:rPr lang="en-US" altLang="en-US" smtClean="0"/>
              <a:t>Net return from employment:   </a:t>
            </a:r>
            <a:r>
              <a:rPr lang="en-US" altLang="en-US" i="1" smtClean="0">
                <a:solidFill>
                  <a:srgbClr val="FF0000"/>
                </a:solidFill>
              </a:rPr>
              <a:t>w + k</a:t>
            </a:r>
            <a:endParaRPr lang="en-US" altLang="en-US" smtClean="0">
              <a:solidFill>
                <a:srgbClr val="FF0000"/>
              </a:solidFill>
            </a:endParaRPr>
          </a:p>
          <a:p>
            <a:endParaRPr lang="en-US" altLang="en-US" smtClean="0">
              <a:solidFill>
                <a:srgbClr val="7B332D"/>
              </a:solidFill>
            </a:endParaRPr>
          </a:p>
          <a:p>
            <a:endParaRPr lang="en-US" altLang="en-US" smtClean="0"/>
          </a:p>
        </p:txBody>
      </p:sp>
    </p:spTree>
    <p:extLst>
      <p:ext uri="{BB962C8B-B14F-4D97-AF65-F5344CB8AC3E}">
        <p14:creationId xmlns:p14="http://schemas.microsoft.com/office/powerpoint/2010/main" val="18768693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16.2 	Mandated Benefits</a:t>
            </a:r>
          </a:p>
        </p:txBody>
      </p:sp>
      <p:sp>
        <p:nvSpPr>
          <p:cNvPr id="7174"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673923B7-2BF2-4095-8081-07480EE532A4}" type="slidenum">
              <a:rPr lang="en-US" smtClean="0"/>
              <a:pPr>
                <a:defRPr/>
              </a:pPr>
              <a:t>28</a:t>
            </a:fld>
            <a:endParaRPr lang="en-US" dirty="0"/>
          </a:p>
        </p:txBody>
      </p:sp>
      <p:sp>
        <p:nvSpPr>
          <p:cNvPr id="7172" name="Content Placeholder 2"/>
          <p:cNvSpPr>
            <a:spLocks noGrp="1"/>
          </p:cNvSpPr>
          <p:nvPr>
            <p:ph type="body" sz="quarter" idx="12"/>
          </p:nvPr>
        </p:nvSpPr>
        <p:spPr>
          <a:prstGeom prst="rect">
            <a:avLst/>
          </a:prstGeom>
        </p:spPr>
        <p:txBody>
          <a:bodyPr/>
          <a:lstStyle/>
          <a:p>
            <a:r>
              <a:rPr lang="en-US" altLang="en-US" smtClean="0"/>
              <a:t>With the mandate</a:t>
            </a:r>
          </a:p>
          <a:p>
            <a:pPr lvl="1"/>
            <a:r>
              <a:rPr lang="en-US" altLang="en-US" smtClean="0"/>
              <a:t>Equilibrium in the labor market: </a:t>
            </a:r>
          </a:p>
          <a:p>
            <a:pPr algn="ctr">
              <a:buFontTx/>
              <a:buNone/>
            </a:pPr>
            <a:r>
              <a:rPr lang="en-US" altLang="en-US" sz="2800" i="1" smtClean="0">
                <a:solidFill>
                  <a:srgbClr val="FF0000"/>
                </a:solidFill>
              </a:rPr>
              <a:t>a + b</a:t>
            </a:r>
            <a:r>
              <a:rPr lang="en-US" altLang="en-US" sz="2800" smtClean="0">
                <a:solidFill>
                  <a:srgbClr val="FF0000"/>
                </a:solidFill>
              </a:rPr>
              <a:t>(</a:t>
            </a:r>
            <a:r>
              <a:rPr lang="en-US" altLang="en-US" sz="2800" i="1" smtClean="0">
                <a:solidFill>
                  <a:srgbClr val="FF0000"/>
                </a:solidFill>
              </a:rPr>
              <a:t>w + k</a:t>
            </a:r>
            <a:r>
              <a:rPr lang="en-US" altLang="en-US" sz="2800" smtClean="0">
                <a:solidFill>
                  <a:srgbClr val="FF0000"/>
                </a:solidFill>
              </a:rPr>
              <a:t>) = </a:t>
            </a:r>
            <a:r>
              <a:rPr lang="en-US" altLang="en-US" sz="2800" i="1" smtClean="0">
                <a:solidFill>
                  <a:srgbClr val="FF0000"/>
                </a:solidFill>
              </a:rPr>
              <a:t>c – d</a:t>
            </a:r>
            <a:r>
              <a:rPr lang="en-US" altLang="en-US" sz="2800" smtClean="0">
                <a:solidFill>
                  <a:srgbClr val="FF0000"/>
                </a:solidFill>
              </a:rPr>
              <a:t>(</a:t>
            </a:r>
            <a:r>
              <a:rPr lang="en-US" altLang="en-US" sz="2800" i="1" smtClean="0">
                <a:solidFill>
                  <a:srgbClr val="FF0000"/>
                </a:solidFill>
              </a:rPr>
              <a:t>w + t</a:t>
            </a:r>
            <a:r>
              <a:rPr lang="en-US" altLang="en-US" sz="2800" smtClean="0">
                <a:solidFill>
                  <a:srgbClr val="FF0000"/>
                </a:solidFill>
              </a:rPr>
              <a:t>)</a:t>
            </a:r>
          </a:p>
          <a:p>
            <a:pPr lvl="1"/>
            <a:r>
              <a:rPr lang="en-US" altLang="en-US" smtClean="0"/>
              <a:t>Net wage:</a:t>
            </a:r>
            <a:endParaRPr lang="en-US" altLang="en-US" sz="1200" i="1" smtClean="0"/>
          </a:p>
        </p:txBody>
      </p:sp>
      <p:sp>
        <p:nvSpPr>
          <p:cNvPr id="2" name="Text Placeholder 1"/>
          <p:cNvSpPr>
            <a:spLocks noGrp="1"/>
          </p:cNvSpPr>
          <p:nvPr>
            <p:ph type="body" sz="quarter" idx="13"/>
          </p:nvPr>
        </p:nvSpPr>
        <p:spPr>
          <a:xfrm>
            <a:off x="381000" y="3733800"/>
            <a:ext cx="8382000" cy="2438400"/>
          </a:xfrm>
        </p:spPr>
        <p:txBody>
          <a:bodyPr/>
          <a:lstStyle/>
          <a:p>
            <a:pPr eaLnBrk="0" hangingPunct="0">
              <a:buFont typeface="Arial" charset="0"/>
              <a:buChar char="•"/>
              <a:defRPr/>
            </a:pPr>
            <a:r>
              <a:rPr lang="en-US" kern="0" dirty="0">
                <a:solidFill>
                  <a:srgbClr val="002D56"/>
                </a:solidFill>
              </a:rPr>
              <a:t>If </a:t>
            </a:r>
            <a:r>
              <a:rPr lang="en-US" i="1" kern="0" dirty="0">
                <a:solidFill>
                  <a:srgbClr val="002D56"/>
                </a:solidFill>
              </a:rPr>
              <a:t>k</a:t>
            </a:r>
            <a:r>
              <a:rPr lang="en-US" kern="0" dirty="0">
                <a:solidFill>
                  <a:srgbClr val="002D56"/>
                </a:solidFill>
              </a:rPr>
              <a:t> = 0</a:t>
            </a:r>
          </a:p>
          <a:p>
            <a:pPr lvl="1" eaLnBrk="0" hangingPunct="0">
              <a:buFont typeface="Arial" charset="0"/>
              <a:buChar char="•"/>
              <a:defRPr/>
            </a:pPr>
            <a:r>
              <a:rPr lang="en-US" kern="0" dirty="0"/>
              <a:t>The mandate is just like a tax on employment</a:t>
            </a:r>
          </a:p>
          <a:p>
            <a:pPr lvl="1" eaLnBrk="0" hangingPunct="0">
              <a:buFont typeface="Arial" charset="0"/>
              <a:buChar char="•"/>
              <a:defRPr/>
            </a:pPr>
            <a:r>
              <a:rPr lang="en-US" kern="0" dirty="0"/>
              <a:t>Similar results will occur as long as </a:t>
            </a:r>
            <a:r>
              <a:rPr lang="en-US" i="1" kern="0" dirty="0"/>
              <a:t>k</a:t>
            </a:r>
            <a:r>
              <a:rPr lang="en-US" kern="0" dirty="0"/>
              <a:t> &lt; </a:t>
            </a:r>
            <a:r>
              <a:rPr lang="en-US" i="1" kern="0" dirty="0"/>
              <a:t>t</a:t>
            </a:r>
            <a:endParaRPr lang="en-US" sz="1200" i="1" kern="0" dirty="0"/>
          </a:p>
          <a:p>
            <a:endParaRPr lang="en-US" dirty="0"/>
          </a:p>
        </p:txBody>
      </p:sp>
      <p:graphicFrame>
        <p:nvGraphicFramePr>
          <p:cNvPr id="40963" name="Object 3"/>
          <p:cNvGraphicFramePr>
            <a:graphicFrameLocks noChangeAspect="1"/>
          </p:cNvGraphicFramePr>
          <p:nvPr/>
        </p:nvGraphicFramePr>
        <p:xfrm>
          <a:off x="1868488" y="2717800"/>
          <a:ext cx="5062537" cy="876300"/>
        </p:xfrm>
        <a:graphic>
          <a:graphicData uri="http://schemas.openxmlformats.org/presentationml/2006/ole">
            <mc:AlternateContent xmlns:mc="http://schemas.openxmlformats.org/markup-compatibility/2006">
              <mc:Choice xmlns:v="urn:schemas-microsoft-com:vml" Requires="v">
                <p:oleObj spid="_x0000_s349200" name="Equation" r:id="rId3" imgW="2273040" imgH="393480" progId="Equation.DSMT4">
                  <p:embed/>
                </p:oleObj>
              </mc:Choice>
              <mc:Fallback>
                <p:oleObj name="Equation" r:id="rId3" imgW="227304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8488" y="2717800"/>
                        <a:ext cx="5062537"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37017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left)">
                                      <p:cBhvr>
                                        <p:cTn id="7" dur="500"/>
                                        <p:tgtEl>
                                          <p:spTgt spid="4096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16.2 	Mandated Benefits</a:t>
            </a:r>
          </a:p>
        </p:txBody>
      </p:sp>
      <p:sp>
        <p:nvSpPr>
          <p:cNvPr id="4198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369CA38-58DD-4CD3-ACF0-CF7E5053A827}" type="slidenum">
              <a:rPr lang="en-US" smtClean="0"/>
              <a:pPr>
                <a:defRPr/>
              </a:pPr>
              <a:t>29</a:t>
            </a:fld>
            <a:endParaRPr lang="en-US" dirty="0"/>
          </a:p>
        </p:txBody>
      </p:sp>
      <p:sp>
        <p:nvSpPr>
          <p:cNvPr id="41987" name="Content Placeholder 2"/>
          <p:cNvSpPr>
            <a:spLocks noGrp="1"/>
          </p:cNvSpPr>
          <p:nvPr>
            <p:ph type="body" sz="quarter" idx="12"/>
          </p:nvPr>
        </p:nvSpPr>
        <p:spPr>
          <a:prstGeom prst="rect">
            <a:avLst/>
          </a:prstGeom>
        </p:spPr>
        <p:txBody>
          <a:bodyPr/>
          <a:lstStyle/>
          <a:p>
            <a:r>
              <a:rPr lang="en-US" altLang="en-US" dirty="0" smtClean="0"/>
              <a:t>If </a:t>
            </a:r>
            <a:r>
              <a:rPr lang="en-US" altLang="en-US" i="1" dirty="0" smtClean="0"/>
              <a:t>k = t</a:t>
            </a:r>
          </a:p>
          <a:p>
            <a:pPr lvl="1"/>
            <a:r>
              <a:rPr lang="en-US" altLang="en-US" dirty="0" smtClean="0"/>
              <a:t>The new wage falls precisely by the amount of the cost </a:t>
            </a:r>
          </a:p>
          <a:p>
            <a:pPr lvl="1"/>
            <a:r>
              <a:rPr lang="en-US" altLang="en-US" dirty="0" smtClean="0"/>
              <a:t>And the equilibrium level of employment does not change</a:t>
            </a:r>
          </a:p>
          <a:p>
            <a:r>
              <a:rPr lang="en-US" altLang="en-US" dirty="0" smtClean="0"/>
              <a:t>If </a:t>
            </a:r>
            <a:r>
              <a:rPr lang="en-US" altLang="en-US" i="1" dirty="0" smtClean="0"/>
              <a:t>k &gt; t</a:t>
            </a:r>
          </a:p>
          <a:p>
            <a:pPr lvl="1"/>
            <a:r>
              <a:rPr lang="en-US" altLang="en-US" dirty="0" smtClean="0"/>
              <a:t>The new wage falls by more than the cost of the benefit </a:t>
            </a:r>
          </a:p>
          <a:p>
            <a:pPr lvl="1"/>
            <a:r>
              <a:rPr lang="en-US" altLang="en-US" dirty="0" smtClean="0"/>
              <a:t>And the equilibrium level of employment </a:t>
            </a:r>
            <a:r>
              <a:rPr lang="en-US" altLang="en-US" dirty="0" smtClean="0"/>
              <a:t>rises</a:t>
            </a:r>
            <a:endParaRPr lang="en-US" altLang="en-US" dirty="0" smtClean="0">
              <a:solidFill>
                <a:srgbClr val="FF0000"/>
              </a:solidFill>
            </a:endParaRPr>
          </a:p>
          <a:p>
            <a:endParaRPr lang="en-US" altLang="en-US" dirty="0" smtClean="0">
              <a:solidFill>
                <a:srgbClr val="FF0000"/>
              </a:solidFill>
            </a:endParaRPr>
          </a:p>
          <a:p>
            <a:endParaRPr lang="en-US" altLang="en-US" dirty="0" smtClean="0">
              <a:solidFill>
                <a:srgbClr val="7B332D"/>
              </a:solidFill>
            </a:endParaRPr>
          </a:p>
          <a:p>
            <a:endParaRPr lang="en-US" altLang="en-US" dirty="0" smtClean="0"/>
          </a:p>
        </p:txBody>
      </p:sp>
    </p:spTree>
    <p:extLst>
      <p:ext uri="{BB962C8B-B14F-4D97-AF65-F5344CB8AC3E}">
        <p14:creationId xmlns:p14="http://schemas.microsoft.com/office/powerpoint/2010/main" val="41142764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Wage Variation</a:t>
            </a:r>
          </a:p>
        </p:txBody>
      </p:sp>
      <p:sp>
        <p:nvSpPr>
          <p:cNvPr id="43011" name="Rectangle 3"/>
          <p:cNvSpPr>
            <a:spLocks noGrp="1" noChangeArrowheads="1"/>
          </p:cNvSpPr>
          <p:nvPr>
            <p:ph idx="1"/>
          </p:nvPr>
        </p:nvSpPr>
        <p:spPr/>
        <p:txBody>
          <a:bodyPr/>
          <a:lstStyle/>
          <a:p>
            <a:r>
              <a:rPr lang="en-US" altLang="en-US" smtClean="0"/>
              <a:t>Three major causes of wage differences: </a:t>
            </a:r>
          </a:p>
          <a:p>
            <a:pPr lvl="1"/>
            <a:r>
              <a:rPr lang="en-US" altLang="en-US" smtClean="0"/>
              <a:t>Human capital</a:t>
            </a:r>
          </a:p>
          <a:p>
            <a:pPr lvl="1"/>
            <a:r>
              <a:rPr lang="en-US" altLang="en-US" smtClean="0"/>
              <a:t>Compensating wage differentials</a:t>
            </a:r>
          </a:p>
          <a:p>
            <a:pPr lvl="1"/>
            <a:r>
              <a:rPr lang="en-US" altLang="en-US" smtClean="0"/>
              <a:t>Job search uncertainty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9E9BA61-C8D4-47BA-B83A-6A2292C3CCFE}" type="slidenum">
              <a:rPr lang="en-US" smtClean="0"/>
              <a:pPr>
                <a:defRPr/>
              </a:pPr>
              <a:t>30</a:t>
            </a:fld>
            <a:endParaRPr lang="en-US"/>
          </a:p>
        </p:txBody>
      </p:sp>
    </p:spTree>
    <p:extLst>
      <p:ext uri="{BB962C8B-B14F-4D97-AF65-F5344CB8AC3E}">
        <p14:creationId xmlns:p14="http://schemas.microsoft.com/office/powerpoint/2010/main" val="30472887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Human Capital</a:t>
            </a:r>
          </a:p>
        </p:txBody>
      </p:sp>
      <p:sp>
        <p:nvSpPr>
          <p:cNvPr id="44035" name="Rectangle 3"/>
          <p:cNvSpPr>
            <a:spLocks noGrp="1" noChangeArrowheads="1"/>
          </p:cNvSpPr>
          <p:nvPr>
            <p:ph idx="1"/>
          </p:nvPr>
        </p:nvSpPr>
        <p:spPr/>
        <p:txBody>
          <a:bodyPr/>
          <a:lstStyle/>
          <a:p>
            <a:r>
              <a:rPr lang="en-US" altLang="en-US" smtClean="0"/>
              <a:t>Human Capital</a:t>
            </a:r>
          </a:p>
          <a:p>
            <a:pPr lvl="1"/>
            <a:r>
              <a:rPr lang="en-US" altLang="en-US" smtClean="0"/>
              <a:t>Differences in human capital translate into differences in worker productivities</a:t>
            </a:r>
          </a:p>
          <a:p>
            <a:pPr lvl="2"/>
            <a:r>
              <a:rPr lang="en-US" altLang="en-US" smtClean="0"/>
              <a:t>Workers with greater productivities would be expected to earn higher wages</a:t>
            </a:r>
          </a:p>
          <a:p>
            <a:pPr lvl="1"/>
            <a:r>
              <a:rPr lang="en-US" altLang="en-US" smtClean="0"/>
              <a:t>General human capital</a:t>
            </a:r>
          </a:p>
          <a:p>
            <a:pPr lvl="1"/>
            <a:r>
              <a:rPr lang="en-US" altLang="en-US" smtClean="0"/>
              <a:t>Specific human capital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6973BA5-AF98-464A-AEEA-1A2A07843896}" type="slidenum">
              <a:rPr lang="en-US" smtClean="0"/>
              <a:pPr>
                <a:defRPr/>
              </a:pPr>
              <a:t>31</a:t>
            </a:fld>
            <a:endParaRPr lang="en-US"/>
          </a:p>
        </p:txBody>
      </p:sp>
    </p:spTree>
    <p:extLst>
      <p:ext uri="{BB962C8B-B14F-4D97-AF65-F5344CB8AC3E}">
        <p14:creationId xmlns:p14="http://schemas.microsoft.com/office/powerpoint/2010/main" val="24602535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16.3 	General and Specific Human Capital</a:t>
            </a:r>
          </a:p>
        </p:txBody>
      </p:sp>
      <p:sp>
        <p:nvSpPr>
          <p:cNvPr id="4506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59451E9-389F-45FB-A74F-B5D8E02396DD}" type="slidenum">
              <a:rPr lang="en-US" smtClean="0"/>
              <a:pPr>
                <a:defRPr/>
              </a:pPr>
              <a:t>32</a:t>
            </a:fld>
            <a:endParaRPr lang="en-US" dirty="0"/>
          </a:p>
        </p:txBody>
      </p:sp>
      <p:sp>
        <p:nvSpPr>
          <p:cNvPr id="45059" name="Content Placeholder 2"/>
          <p:cNvSpPr>
            <a:spLocks noGrp="1"/>
          </p:cNvSpPr>
          <p:nvPr>
            <p:ph type="body" sz="quarter" idx="12"/>
          </p:nvPr>
        </p:nvSpPr>
        <p:spPr>
          <a:prstGeom prst="rect">
            <a:avLst/>
          </a:prstGeom>
        </p:spPr>
        <p:txBody>
          <a:bodyPr/>
          <a:lstStyle/>
          <a:p>
            <a:r>
              <a:rPr lang="en-US" altLang="en-US" dirty="0" smtClean="0"/>
              <a:t>A firm and a worker are entering into a two-period employment relationship</a:t>
            </a:r>
          </a:p>
          <a:p>
            <a:pPr lvl="1"/>
            <a:r>
              <a:rPr lang="en-US" altLang="en-US" dirty="0" smtClean="0"/>
              <a:t>In the first period the firm must decide </a:t>
            </a:r>
          </a:p>
          <a:p>
            <a:pPr lvl="2"/>
            <a:r>
              <a:rPr lang="en-US" altLang="en-US" dirty="0" smtClean="0"/>
              <a:t>How much to pay the worker (</a:t>
            </a:r>
            <a:r>
              <a:rPr lang="en-US" altLang="en-US" i="1" dirty="0" smtClean="0"/>
              <a:t>w</a:t>
            </a:r>
            <a:r>
              <a:rPr lang="en-US" altLang="en-US" i="1" baseline="-25000" dirty="0" smtClean="0"/>
              <a:t>1</a:t>
            </a:r>
            <a:r>
              <a:rPr lang="en-US" altLang="en-US" dirty="0" smtClean="0"/>
              <a:t>) </a:t>
            </a:r>
          </a:p>
          <a:p>
            <a:pPr lvl="2"/>
            <a:r>
              <a:rPr lang="en-US" altLang="en-US" dirty="0" smtClean="0"/>
              <a:t>How much to invest in general (</a:t>
            </a:r>
            <a:r>
              <a:rPr lang="en-US" altLang="en-US" i="1" dirty="0" smtClean="0"/>
              <a:t>g</a:t>
            </a:r>
            <a:r>
              <a:rPr lang="en-US" altLang="en-US" dirty="0" smtClean="0"/>
              <a:t>) and specific (</a:t>
            </a:r>
            <a:r>
              <a:rPr lang="en-US" altLang="en-US" i="1" dirty="0" smtClean="0"/>
              <a:t>s</a:t>
            </a:r>
            <a:r>
              <a:rPr lang="en-US" altLang="en-US" dirty="0" smtClean="0"/>
              <a:t>) human capital for this worker</a:t>
            </a:r>
          </a:p>
          <a:p>
            <a:pPr lvl="1"/>
            <a:r>
              <a:rPr lang="en-US" altLang="en-US" dirty="0" smtClean="0"/>
              <a:t>The value of the worker’s marginal product</a:t>
            </a:r>
          </a:p>
          <a:p>
            <a:pPr lvl="2"/>
            <a:r>
              <a:rPr lang="en-US" altLang="en-US" dirty="0" smtClean="0"/>
              <a:t>In the first period: </a:t>
            </a:r>
            <a:r>
              <a:rPr lang="en-US" altLang="en-US" i="1" dirty="0" smtClean="0">
                <a:solidFill>
                  <a:srgbClr val="C00000"/>
                </a:solidFill>
              </a:rPr>
              <a:t>v</a:t>
            </a:r>
            <a:r>
              <a:rPr lang="en-US" altLang="en-US" i="1" baseline="-25000" dirty="0" smtClean="0">
                <a:solidFill>
                  <a:srgbClr val="C00000"/>
                </a:solidFill>
              </a:rPr>
              <a:t>1</a:t>
            </a:r>
          </a:p>
          <a:p>
            <a:pPr lvl="2"/>
            <a:r>
              <a:rPr lang="en-US" altLang="en-US" dirty="0" smtClean="0"/>
              <a:t>In the second period: </a:t>
            </a:r>
            <a:r>
              <a:rPr lang="en-US" altLang="en-US" i="1" dirty="0" smtClean="0">
                <a:solidFill>
                  <a:srgbClr val="C00000"/>
                </a:solidFill>
              </a:rPr>
              <a:t>v</a:t>
            </a:r>
            <a:r>
              <a:rPr lang="en-US" altLang="en-US" i="1" baseline="-25000" dirty="0" smtClean="0">
                <a:solidFill>
                  <a:srgbClr val="C00000"/>
                </a:solidFill>
              </a:rPr>
              <a:t>2</a:t>
            </a:r>
            <a:r>
              <a:rPr lang="en-US" altLang="en-US" i="1" dirty="0" smtClean="0">
                <a:solidFill>
                  <a:srgbClr val="C00000"/>
                </a:solidFill>
              </a:rPr>
              <a:t>(</a:t>
            </a:r>
            <a:r>
              <a:rPr lang="en-US" altLang="en-US" i="1" dirty="0" err="1" smtClean="0">
                <a:solidFill>
                  <a:srgbClr val="C00000"/>
                </a:solidFill>
              </a:rPr>
              <a:t>g,s</a:t>
            </a:r>
            <a:r>
              <a:rPr lang="en-US" altLang="en-US" i="1" dirty="0" smtClean="0">
                <a:solidFill>
                  <a:srgbClr val="C00000"/>
                </a:solidFill>
              </a:rPr>
              <a:t>) = v</a:t>
            </a:r>
            <a:r>
              <a:rPr lang="en-US" altLang="en-US" i="1" baseline="-25000" dirty="0" smtClean="0">
                <a:solidFill>
                  <a:srgbClr val="C00000"/>
                </a:solidFill>
              </a:rPr>
              <a:t>1</a:t>
            </a:r>
            <a:r>
              <a:rPr lang="en-US" altLang="en-US" i="1" dirty="0" smtClean="0">
                <a:solidFill>
                  <a:srgbClr val="C00000"/>
                </a:solidFill>
              </a:rPr>
              <a:t>+ v</a:t>
            </a:r>
            <a:r>
              <a:rPr lang="en-US" altLang="en-US" i="1" baseline="30000" dirty="0" smtClean="0">
                <a:solidFill>
                  <a:srgbClr val="C00000"/>
                </a:solidFill>
              </a:rPr>
              <a:t>g</a:t>
            </a:r>
            <a:r>
              <a:rPr lang="en-US" altLang="en-US" i="1" dirty="0" smtClean="0">
                <a:solidFill>
                  <a:srgbClr val="C00000"/>
                </a:solidFill>
              </a:rPr>
              <a:t>(g) + v</a:t>
            </a:r>
            <a:r>
              <a:rPr lang="en-US" altLang="en-US" i="1" baseline="30000" dirty="0" smtClean="0">
                <a:solidFill>
                  <a:srgbClr val="C00000"/>
                </a:solidFill>
              </a:rPr>
              <a:t>s</a:t>
            </a:r>
            <a:r>
              <a:rPr lang="en-US" altLang="en-US" i="1" dirty="0" smtClean="0">
                <a:solidFill>
                  <a:srgbClr val="C00000"/>
                </a:solidFill>
              </a:rPr>
              <a:t>(s) </a:t>
            </a:r>
            <a:endParaRPr lang="en-US" altLang="en-US" dirty="0" smtClean="0">
              <a:solidFill>
                <a:srgbClr val="C00000"/>
              </a:solidFill>
            </a:endParaRPr>
          </a:p>
          <a:p>
            <a:pPr lvl="3"/>
            <a:r>
              <a:rPr lang="en-US" altLang="en-US" sz="2600" dirty="0" smtClean="0"/>
              <a:t>Where</a:t>
            </a:r>
            <a:r>
              <a:rPr lang="en-US" altLang="en-US" sz="2600" i="1" dirty="0" smtClean="0"/>
              <a:t> v</a:t>
            </a:r>
            <a:r>
              <a:rPr lang="en-US" altLang="en-US" sz="2600" i="1" baseline="30000" dirty="0" smtClean="0"/>
              <a:t>g</a:t>
            </a:r>
            <a:r>
              <a:rPr lang="en-US" altLang="en-US" sz="2600" i="1" dirty="0" smtClean="0"/>
              <a:t> </a:t>
            </a:r>
            <a:r>
              <a:rPr lang="en-US" altLang="en-US" sz="2600" dirty="0" smtClean="0"/>
              <a:t>and</a:t>
            </a:r>
            <a:r>
              <a:rPr lang="en-US" altLang="en-US" sz="2600" i="1" dirty="0" smtClean="0"/>
              <a:t> v</a:t>
            </a:r>
            <a:r>
              <a:rPr lang="en-US" altLang="en-US" sz="2600" i="1" baseline="30000" dirty="0" smtClean="0"/>
              <a:t>s</a:t>
            </a:r>
            <a:r>
              <a:rPr lang="en-US" altLang="en-US" sz="2600" i="1" dirty="0" smtClean="0"/>
              <a:t> - </a:t>
            </a:r>
            <a:r>
              <a:rPr lang="en-US" altLang="en-US" sz="2600" dirty="0" smtClean="0"/>
              <a:t>increase in human capital as a result of the firm’s investments in period one  </a:t>
            </a:r>
          </a:p>
        </p:txBody>
      </p:sp>
    </p:spTree>
    <p:extLst>
      <p:ext uri="{BB962C8B-B14F-4D97-AF65-F5344CB8AC3E}">
        <p14:creationId xmlns:p14="http://schemas.microsoft.com/office/powerpoint/2010/main" val="22650645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16.3 	General and Specific Human Capital</a:t>
            </a:r>
          </a:p>
        </p:txBody>
      </p:sp>
      <p:sp>
        <p:nvSpPr>
          <p:cNvPr id="4608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922EDC0-B2FA-48D0-9E97-2D890E441BAB}" type="slidenum">
              <a:rPr lang="en-US" smtClean="0"/>
              <a:pPr>
                <a:defRPr/>
              </a:pPr>
              <a:t>33</a:t>
            </a:fld>
            <a:endParaRPr lang="en-US" dirty="0"/>
          </a:p>
        </p:txBody>
      </p:sp>
      <p:sp>
        <p:nvSpPr>
          <p:cNvPr id="46083" name="Content Placeholder 2"/>
          <p:cNvSpPr>
            <a:spLocks noGrp="1"/>
          </p:cNvSpPr>
          <p:nvPr>
            <p:ph type="body" sz="quarter" idx="12"/>
          </p:nvPr>
        </p:nvSpPr>
        <p:spPr>
          <a:prstGeom prst="rect">
            <a:avLst/>
          </a:prstGeom>
        </p:spPr>
        <p:txBody>
          <a:bodyPr/>
          <a:lstStyle/>
          <a:p>
            <a:r>
              <a:rPr lang="en-US" altLang="en-US" dirty="0" smtClean="0"/>
              <a:t>Both human capital investments are profitable</a:t>
            </a:r>
          </a:p>
          <a:p>
            <a:pPr algn="ctr">
              <a:lnSpc>
                <a:spcPct val="150000"/>
              </a:lnSpc>
              <a:buFont typeface="Arial" charset="0"/>
              <a:buNone/>
            </a:pPr>
            <a:r>
              <a:rPr lang="en-US" altLang="en-US" sz="2800" i="1" dirty="0" smtClean="0">
                <a:solidFill>
                  <a:srgbClr val="FF0000"/>
                </a:solidFill>
                <a:latin typeface="Times New Roman" panose="02020603050405020304" pitchFamily="18" charset="0"/>
                <a:cs typeface="Times New Roman" panose="02020603050405020304" pitchFamily="18" charset="0"/>
              </a:rPr>
              <a:t>v</a:t>
            </a:r>
            <a:r>
              <a:rPr lang="en-US" altLang="en-US" sz="2800" i="1" baseline="30000" dirty="0" smtClean="0">
                <a:solidFill>
                  <a:srgbClr val="FF0000"/>
                </a:solidFill>
                <a:latin typeface="Times New Roman" panose="02020603050405020304" pitchFamily="18" charset="0"/>
                <a:cs typeface="Times New Roman" panose="02020603050405020304" pitchFamily="18" charset="0"/>
              </a:rPr>
              <a:t>g</a:t>
            </a:r>
            <a:r>
              <a:rPr lang="en-US" altLang="en-US" sz="2800" i="1" dirty="0" smtClean="0">
                <a:solidFill>
                  <a:srgbClr val="FF0000"/>
                </a:solidFill>
                <a:latin typeface="Times New Roman" panose="02020603050405020304" pitchFamily="18" charset="0"/>
                <a:cs typeface="Times New Roman" panose="02020603050405020304" pitchFamily="18" charset="0"/>
              </a:rPr>
              <a:t>(g) &gt; </a:t>
            </a:r>
            <a:r>
              <a:rPr lang="en-US" altLang="en-US" sz="2800" i="1" dirty="0" err="1" smtClean="0">
                <a:solidFill>
                  <a:srgbClr val="FF0000"/>
                </a:solidFill>
                <a:latin typeface="Times New Roman" panose="02020603050405020304" pitchFamily="18" charset="0"/>
                <a:cs typeface="Times New Roman" panose="02020603050405020304" pitchFamily="18" charset="0"/>
              </a:rPr>
              <a:t>p</a:t>
            </a:r>
            <a:r>
              <a:rPr lang="en-US" altLang="en-US" sz="2800" i="1" baseline="-25000" dirty="0" err="1" smtClean="0">
                <a:solidFill>
                  <a:srgbClr val="FF0000"/>
                </a:solidFill>
                <a:latin typeface="Times New Roman" panose="02020603050405020304" pitchFamily="18" charset="0"/>
                <a:cs typeface="Times New Roman" panose="02020603050405020304" pitchFamily="18" charset="0"/>
              </a:rPr>
              <a:t>g</a:t>
            </a:r>
            <a:r>
              <a:rPr lang="en-US" altLang="en-US" sz="2800" i="1" dirty="0" err="1" smtClean="0">
                <a:solidFill>
                  <a:srgbClr val="FF0000"/>
                </a:solidFill>
                <a:latin typeface="Times New Roman" panose="02020603050405020304" pitchFamily="18" charset="0"/>
                <a:cs typeface="Times New Roman" panose="02020603050405020304" pitchFamily="18" charset="0"/>
              </a:rPr>
              <a:t>g</a:t>
            </a:r>
            <a:r>
              <a:rPr lang="en-US" altLang="en-US" sz="2800" i="1" dirty="0" smtClean="0">
                <a:solidFill>
                  <a:srgbClr val="FF0000"/>
                </a:solidFill>
                <a:latin typeface="Times New Roman" panose="02020603050405020304" pitchFamily="18" charset="0"/>
                <a:cs typeface="Times New Roman" panose="02020603050405020304" pitchFamily="18" charset="0"/>
              </a:rPr>
              <a:t> </a:t>
            </a:r>
            <a:r>
              <a:rPr lang="en-US" altLang="en-US" sz="2800" dirty="0" smtClean="0"/>
              <a:t>and</a:t>
            </a:r>
            <a:r>
              <a:rPr lang="en-US" altLang="en-US" sz="2800" i="1" dirty="0" smtClean="0"/>
              <a:t> </a:t>
            </a:r>
            <a:r>
              <a:rPr lang="en-US" altLang="en-US" sz="2800" i="1" dirty="0" smtClean="0">
                <a:solidFill>
                  <a:srgbClr val="FF0000"/>
                </a:solidFill>
                <a:latin typeface="Times New Roman" panose="02020603050405020304" pitchFamily="18" charset="0"/>
                <a:cs typeface="Times New Roman" panose="02020603050405020304" pitchFamily="18" charset="0"/>
              </a:rPr>
              <a:t>v</a:t>
            </a:r>
            <a:r>
              <a:rPr lang="en-US" altLang="en-US" sz="2800" i="1" baseline="30000" dirty="0" smtClean="0">
                <a:solidFill>
                  <a:srgbClr val="FF0000"/>
                </a:solidFill>
                <a:latin typeface="Times New Roman" panose="02020603050405020304" pitchFamily="18" charset="0"/>
                <a:cs typeface="Times New Roman" panose="02020603050405020304" pitchFamily="18" charset="0"/>
              </a:rPr>
              <a:t>s</a:t>
            </a:r>
            <a:r>
              <a:rPr lang="en-US" altLang="en-US" sz="2800" i="1" dirty="0" smtClean="0">
                <a:solidFill>
                  <a:srgbClr val="FF0000"/>
                </a:solidFill>
                <a:latin typeface="Times New Roman" panose="02020603050405020304" pitchFamily="18" charset="0"/>
                <a:cs typeface="Times New Roman" panose="02020603050405020304" pitchFamily="18" charset="0"/>
              </a:rPr>
              <a:t>(s) &gt; </a:t>
            </a:r>
            <a:r>
              <a:rPr lang="en-US" altLang="en-US" sz="2800" i="1" dirty="0" err="1" smtClean="0">
                <a:solidFill>
                  <a:srgbClr val="FF0000"/>
                </a:solidFill>
                <a:latin typeface="Times New Roman" panose="02020603050405020304" pitchFamily="18" charset="0"/>
                <a:cs typeface="Times New Roman" panose="02020603050405020304" pitchFamily="18" charset="0"/>
              </a:rPr>
              <a:t>p</a:t>
            </a:r>
            <a:r>
              <a:rPr lang="en-US" altLang="en-US" sz="2800" i="1" baseline="-25000" dirty="0" err="1" smtClean="0">
                <a:solidFill>
                  <a:srgbClr val="FF0000"/>
                </a:solidFill>
              </a:rPr>
              <a:t>s</a:t>
            </a:r>
            <a:r>
              <a:rPr lang="en-US" altLang="en-US" sz="2800" i="1" dirty="0" err="1" smtClean="0">
                <a:solidFill>
                  <a:srgbClr val="FF0000"/>
                </a:solidFill>
              </a:rPr>
              <a:t>s</a:t>
            </a:r>
            <a:r>
              <a:rPr lang="en-US" altLang="en-US" sz="2800" i="1" dirty="0" smtClean="0">
                <a:solidFill>
                  <a:srgbClr val="FF0000"/>
                </a:solidFill>
              </a:rPr>
              <a:t> </a:t>
            </a:r>
          </a:p>
          <a:p>
            <a:r>
              <a:rPr lang="en-US" altLang="en-US" dirty="0" smtClean="0"/>
              <a:t>Profits for the firm:</a:t>
            </a:r>
          </a:p>
          <a:p>
            <a:pPr algn="ctr">
              <a:lnSpc>
                <a:spcPct val="150000"/>
              </a:lnSpc>
              <a:buFont typeface="Arial" charset="0"/>
              <a:buNone/>
            </a:pPr>
            <a:r>
              <a:rPr lang="en-US" altLang="en-US" sz="2600" dirty="0" smtClean="0">
                <a:cs typeface="Arial" charset="0"/>
              </a:rPr>
              <a:t> </a:t>
            </a:r>
            <a:r>
              <a:rPr lang="el-GR" altLang="en-US" sz="2600" i="1" dirty="0" smtClean="0">
                <a:solidFill>
                  <a:srgbClr val="FF0000"/>
                </a:solidFill>
                <a:latin typeface="Times New Roman" panose="02020603050405020304" pitchFamily="18" charset="0"/>
                <a:cs typeface="Times New Roman" panose="02020603050405020304" pitchFamily="18" charset="0"/>
              </a:rPr>
              <a:t>π</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v</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w</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a:t>
            </a:r>
            <a:r>
              <a:rPr lang="en-US" altLang="en-US" sz="2600" i="1" dirty="0" err="1" smtClean="0">
                <a:solidFill>
                  <a:srgbClr val="FF0000"/>
                </a:solidFill>
                <a:latin typeface="Times New Roman" panose="02020603050405020304" pitchFamily="18" charset="0"/>
                <a:cs typeface="Times New Roman" panose="02020603050405020304" pitchFamily="18" charset="0"/>
              </a:rPr>
              <a:t>p</a:t>
            </a:r>
            <a:r>
              <a:rPr lang="en-US" altLang="en-US" sz="2600" i="1" baseline="-25000" dirty="0" err="1" smtClean="0">
                <a:solidFill>
                  <a:srgbClr val="FF0000"/>
                </a:solidFill>
                <a:latin typeface="Times New Roman" panose="02020603050405020304" pitchFamily="18" charset="0"/>
                <a:cs typeface="Times New Roman" panose="02020603050405020304" pitchFamily="18" charset="0"/>
              </a:rPr>
              <a:t>g</a:t>
            </a:r>
            <a:r>
              <a:rPr lang="en-US" altLang="en-US" sz="2600" i="1" dirty="0" err="1" smtClean="0">
                <a:solidFill>
                  <a:srgbClr val="FF0000"/>
                </a:solidFill>
                <a:latin typeface="Times New Roman" panose="02020603050405020304" pitchFamily="18" charset="0"/>
                <a:cs typeface="Times New Roman" panose="02020603050405020304" pitchFamily="18" charset="0"/>
              </a:rPr>
              <a:t>g</a:t>
            </a:r>
            <a:r>
              <a:rPr lang="en-US" altLang="en-US" sz="2600" i="1" dirty="0" smtClean="0">
                <a:solidFill>
                  <a:srgbClr val="FF0000"/>
                </a:solidFill>
                <a:latin typeface="Times New Roman" panose="02020603050405020304" pitchFamily="18" charset="0"/>
                <a:cs typeface="Times New Roman" panose="02020603050405020304" pitchFamily="18" charset="0"/>
              </a:rPr>
              <a:t> – </a:t>
            </a:r>
            <a:r>
              <a:rPr lang="en-US" altLang="en-US" sz="2600" i="1" dirty="0" err="1" smtClean="0">
                <a:solidFill>
                  <a:srgbClr val="FF0000"/>
                </a:solidFill>
                <a:latin typeface="Times New Roman" panose="02020603050405020304" pitchFamily="18" charset="0"/>
                <a:cs typeface="Times New Roman" panose="02020603050405020304" pitchFamily="18" charset="0"/>
              </a:rPr>
              <a:t>p</a:t>
            </a:r>
            <a:r>
              <a:rPr lang="en-US" altLang="en-US" sz="2600" i="1" baseline="-25000" dirty="0" err="1" smtClean="0">
                <a:solidFill>
                  <a:srgbClr val="FF0000"/>
                </a:solidFill>
                <a:latin typeface="Times New Roman" panose="02020603050405020304" pitchFamily="18" charset="0"/>
                <a:cs typeface="Times New Roman" panose="02020603050405020304" pitchFamily="18" charset="0"/>
              </a:rPr>
              <a:t>s</a:t>
            </a:r>
            <a:r>
              <a:rPr lang="en-US" altLang="en-US" sz="2600" i="1" dirty="0" err="1" smtClean="0">
                <a:solidFill>
                  <a:srgbClr val="FF0000"/>
                </a:solidFill>
                <a:latin typeface="Times New Roman" panose="02020603050405020304" pitchFamily="18" charset="0"/>
                <a:cs typeface="Times New Roman" panose="02020603050405020304" pitchFamily="18" charset="0"/>
              </a:rPr>
              <a:t>s</a:t>
            </a:r>
            <a:r>
              <a:rPr lang="en-US" altLang="en-US" sz="2600" i="1" dirty="0" smtClean="0">
                <a:solidFill>
                  <a:srgbClr val="FF0000"/>
                </a:solidFill>
                <a:latin typeface="Times New Roman" panose="02020603050405020304" pitchFamily="18" charset="0"/>
                <a:cs typeface="Times New Roman" panose="02020603050405020304" pitchFamily="18" charset="0"/>
              </a:rPr>
              <a:t>  </a:t>
            </a:r>
            <a:r>
              <a:rPr lang="en-US" altLang="en-US" sz="2600" dirty="0" smtClean="0">
                <a:solidFill>
                  <a:schemeClr val="tx1"/>
                </a:solidFill>
                <a:cs typeface="Arial" charset="0"/>
              </a:rPr>
              <a:t>and</a:t>
            </a:r>
            <a:r>
              <a:rPr lang="en-US" altLang="en-US" sz="2600" dirty="0" smtClean="0">
                <a:solidFill>
                  <a:srgbClr val="FF0000"/>
                </a:solidFill>
                <a:cs typeface="Arial" charset="0"/>
              </a:rPr>
              <a:t> </a:t>
            </a:r>
            <a:r>
              <a:rPr lang="el-GR" altLang="en-US" sz="2600" i="1" dirty="0" smtClean="0">
                <a:solidFill>
                  <a:srgbClr val="FF0000"/>
                </a:solidFill>
                <a:latin typeface="Times New Roman" panose="02020603050405020304" pitchFamily="18" charset="0"/>
                <a:cs typeface="Times New Roman" panose="02020603050405020304" pitchFamily="18" charset="0"/>
              </a:rPr>
              <a:t>π</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600" i="1" dirty="0" smtClean="0">
                <a:solidFill>
                  <a:srgbClr val="FF0000"/>
                </a:solidFill>
                <a:latin typeface="Times New Roman" panose="02020603050405020304" pitchFamily="18" charset="0"/>
                <a:cs typeface="Times New Roman" panose="02020603050405020304" pitchFamily="18" charset="0"/>
              </a:rPr>
              <a:t> = v</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v</a:t>
            </a:r>
            <a:r>
              <a:rPr lang="en-US" altLang="en-US" sz="2600" i="1" baseline="30000" dirty="0" smtClean="0">
                <a:solidFill>
                  <a:srgbClr val="FF0000"/>
                </a:solidFill>
                <a:latin typeface="Times New Roman" panose="02020603050405020304" pitchFamily="18" charset="0"/>
                <a:cs typeface="Times New Roman" panose="02020603050405020304" pitchFamily="18" charset="0"/>
              </a:rPr>
              <a:t>g</a:t>
            </a:r>
            <a:r>
              <a:rPr lang="en-US" altLang="en-US" sz="2600" i="1" dirty="0" smtClean="0">
                <a:solidFill>
                  <a:srgbClr val="FF0000"/>
                </a:solidFill>
                <a:latin typeface="Times New Roman" panose="02020603050405020304" pitchFamily="18" charset="0"/>
                <a:cs typeface="Times New Roman" panose="02020603050405020304" pitchFamily="18" charset="0"/>
              </a:rPr>
              <a:t>(g) + v</a:t>
            </a:r>
            <a:r>
              <a:rPr lang="en-US" altLang="en-US" sz="2600" i="1" baseline="30000" dirty="0" smtClean="0">
                <a:solidFill>
                  <a:srgbClr val="FF0000"/>
                </a:solidFill>
                <a:latin typeface="Times New Roman" panose="02020603050405020304" pitchFamily="18" charset="0"/>
                <a:cs typeface="Times New Roman" panose="02020603050405020304" pitchFamily="18" charset="0"/>
              </a:rPr>
              <a:t>s</a:t>
            </a:r>
            <a:r>
              <a:rPr lang="en-US" altLang="en-US" sz="2600" i="1" dirty="0" smtClean="0">
                <a:solidFill>
                  <a:srgbClr val="FF0000"/>
                </a:solidFill>
                <a:latin typeface="Times New Roman" panose="02020603050405020304" pitchFamily="18" charset="0"/>
                <a:cs typeface="Times New Roman" panose="02020603050405020304" pitchFamily="18" charset="0"/>
              </a:rPr>
              <a:t>(s) – w</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600" i="1" dirty="0" smtClean="0">
                <a:solidFill>
                  <a:srgbClr val="FF0000"/>
                </a:solidFill>
                <a:latin typeface="Times New Roman" panose="02020603050405020304" pitchFamily="18" charset="0"/>
                <a:cs typeface="Times New Roman" panose="02020603050405020304" pitchFamily="18" charset="0"/>
              </a:rPr>
              <a:t> </a:t>
            </a:r>
          </a:p>
          <a:p>
            <a:pPr algn="ctr">
              <a:lnSpc>
                <a:spcPct val="150000"/>
              </a:lnSpc>
              <a:buFont typeface="Arial" charset="0"/>
              <a:buNone/>
            </a:pPr>
            <a:r>
              <a:rPr lang="en-US" altLang="en-US" sz="2600" i="1" dirty="0" smtClean="0">
                <a:solidFill>
                  <a:srgbClr val="FF0000"/>
                </a:solidFill>
                <a:latin typeface="Times New Roman" panose="02020603050405020304" pitchFamily="18" charset="0"/>
                <a:cs typeface="Times New Roman" panose="02020603050405020304" pitchFamily="18" charset="0"/>
              </a:rPr>
              <a:t> π = </a:t>
            </a:r>
            <a:r>
              <a:rPr lang="el-GR" altLang="en-US" sz="2600" i="1" dirty="0" smtClean="0">
                <a:solidFill>
                  <a:srgbClr val="FF0000"/>
                </a:solidFill>
                <a:latin typeface="Times New Roman" panose="02020603050405020304" pitchFamily="18" charset="0"/>
                <a:cs typeface="Times New Roman" panose="02020603050405020304" pitchFamily="18" charset="0"/>
              </a:rPr>
              <a:t>π</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a:t>
            </a:r>
            <a:r>
              <a:rPr lang="el-GR" altLang="en-US" sz="2600" i="1" dirty="0" smtClean="0">
                <a:solidFill>
                  <a:srgbClr val="FF0000"/>
                </a:solidFill>
                <a:latin typeface="Times New Roman" panose="02020603050405020304" pitchFamily="18" charset="0"/>
                <a:cs typeface="Times New Roman" panose="02020603050405020304" pitchFamily="18" charset="0"/>
              </a:rPr>
              <a:t>π</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600" i="1" dirty="0" smtClean="0">
                <a:solidFill>
                  <a:srgbClr val="FF0000"/>
                </a:solidFill>
                <a:latin typeface="Times New Roman" panose="02020603050405020304" pitchFamily="18" charset="0"/>
                <a:cs typeface="Times New Roman" panose="02020603050405020304" pitchFamily="18" charset="0"/>
              </a:rPr>
              <a:t> = 2v</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v</a:t>
            </a:r>
            <a:r>
              <a:rPr lang="en-US" altLang="en-US" sz="2600" i="1" baseline="30000" dirty="0" smtClean="0">
                <a:solidFill>
                  <a:srgbClr val="FF0000"/>
                </a:solidFill>
                <a:latin typeface="Times New Roman" panose="02020603050405020304" pitchFamily="18" charset="0"/>
                <a:cs typeface="Times New Roman" panose="02020603050405020304" pitchFamily="18" charset="0"/>
              </a:rPr>
              <a:t>g</a:t>
            </a:r>
            <a:r>
              <a:rPr lang="en-US" altLang="en-US" sz="2600" i="1" dirty="0" smtClean="0">
                <a:solidFill>
                  <a:srgbClr val="FF0000"/>
                </a:solidFill>
                <a:latin typeface="Times New Roman" panose="02020603050405020304" pitchFamily="18" charset="0"/>
                <a:cs typeface="Times New Roman" panose="02020603050405020304" pitchFamily="18" charset="0"/>
              </a:rPr>
              <a:t>(g) – </a:t>
            </a:r>
            <a:r>
              <a:rPr lang="en-US" altLang="en-US" sz="2600" i="1" dirty="0" err="1" smtClean="0">
                <a:solidFill>
                  <a:srgbClr val="FF0000"/>
                </a:solidFill>
                <a:latin typeface="Times New Roman" panose="02020603050405020304" pitchFamily="18" charset="0"/>
                <a:cs typeface="Times New Roman" panose="02020603050405020304" pitchFamily="18" charset="0"/>
              </a:rPr>
              <a:t>p</a:t>
            </a:r>
            <a:r>
              <a:rPr lang="en-US" altLang="en-US" sz="2600" i="1" baseline="-25000" dirty="0" err="1" smtClean="0">
                <a:solidFill>
                  <a:srgbClr val="FF0000"/>
                </a:solidFill>
                <a:latin typeface="Times New Roman" panose="02020603050405020304" pitchFamily="18" charset="0"/>
                <a:cs typeface="Times New Roman" panose="02020603050405020304" pitchFamily="18" charset="0"/>
              </a:rPr>
              <a:t>g</a:t>
            </a:r>
            <a:r>
              <a:rPr lang="en-US" altLang="en-US" sz="2600" i="1" dirty="0" err="1" smtClean="0">
                <a:solidFill>
                  <a:srgbClr val="FF0000"/>
                </a:solidFill>
                <a:latin typeface="Times New Roman" panose="02020603050405020304" pitchFamily="18" charset="0"/>
                <a:cs typeface="Times New Roman" panose="02020603050405020304" pitchFamily="18" charset="0"/>
              </a:rPr>
              <a:t>g</a:t>
            </a:r>
            <a:r>
              <a:rPr lang="en-US" altLang="en-US" sz="2600" i="1" dirty="0" smtClean="0">
                <a:solidFill>
                  <a:srgbClr val="FF0000"/>
                </a:solidFill>
                <a:latin typeface="Times New Roman" panose="02020603050405020304" pitchFamily="18" charset="0"/>
                <a:cs typeface="Times New Roman" panose="02020603050405020304" pitchFamily="18" charset="0"/>
              </a:rPr>
              <a:t> + v</a:t>
            </a:r>
            <a:r>
              <a:rPr lang="en-US" altLang="en-US" sz="2600" i="1" baseline="30000" dirty="0" smtClean="0">
                <a:solidFill>
                  <a:srgbClr val="FF0000"/>
                </a:solidFill>
                <a:latin typeface="Times New Roman" panose="02020603050405020304" pitchFamily="18" charset="0"/>
                <a:cs typeface="Times New Roman" panose="02020603050405020304" pitchFamily="18" charset="0"/>
              </a:rPr>
              <a:t>s</a:t>
            </a:r>
            <a:r>
              <a:rPr lang="en-US" altLang="en-US" sz="2600" i="1" dirty="0" smtClean="0">
                <a:solidFill>
                  <a:srgbClr val="FF0000"/>
                </a:solidFill>
                <a:latin typeface="Times New Roman" panose="02020603050405020304" pitchFamily="18" charset="0"/>
                <a:cs typeface="Times New Roman" panose="02020603050405020304" pitchFamily="18" charset="0"/>
              </a:rPr>
              <a:t>(s) – </a:t>
            </a:r>
            <a:r>
              <a:rPr lang="en-US" altLang="en-US" sz="2600" i="1" dirty="0" err="1" smtClean="0">
                <a:solidFill>
                  <a:srgbClr val="FF0000"/>
                </a:solidFill>
                <a:latin typeface="Times New Roman" panose="02020603050405020304" pitchFamily="18" charset="0"/>
                <a:cs typeface="Times New Roman" panose="02020603050405020304" pitchFamily="18" charset="0"/>
              </a:rPr>
              <a:t>p</a:t>
            </a:r>
            <a:r>
              <a:rPr lang="en-US" altLang="en-US" sz="2600" i="1" baseline="-25000" dirty="0" err="1" smtClean="0">
                <a:solidFill>
                  <a:srgbClr val="FF0000"/>
                </a:solidFill>
                <a:latin typeface="Times New Roman" panose="02020603050405020304" pitchFamily="18" charset="0"/>
                <a:cs typeface="Times New Roman" panose="02020603050405020304" pitchFamily="18" charset="0"/>
              </a:rPr>
              <a:t>s</a:t>
            </a:r>
            <a:r>
              <a:rPr lang="en-US" altLang="en-US" sz="2600" i="1" dirty="0" err="1" smtClean="0">
                <a:solidFill>
                  <a:srgbClr val="FF0000"/>
                </a:solidFill>
                <a:latin typeface="Times New Roman" panose="02020603050405020304" pitchFamily="18" charset="0"/>
                <a:cs typeface="Times New Roman" panose="02020603050405020304" pitchFamily="18" charset="0"/>
              </a:rPr>
              <a:t>s</a:t>
            </a:r>
            <a:r>
              <a:rPr lang="en-US" altLang="en-US" sz="2600" i="1" dirty="0" smtClean="0">
                <a:solidFill>
                  <a:srgbClr val="FF0000"/>
                </a:solidFill>
                <a:latin typeface="Times New Roman" panose="02020603050405020304" pitchFamily="18" charset="0"/>
                <a:cs typeface="Times New Roman" panose="02020603050405020304" pitchFamily="18" charset="0"/>
              </a:rPr>
              <a:t> – w</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600" i="1" dirty="0" smtClean="0">
                <a:solidFill>
                  <a:srgbClr val="FF0000"/>
                </a:solidFill>
                <a:latin typeface="Times New Roman" panose="02020603050405020304" pitchFamily="18" charset="0"/>
                <a:cs typeface="Times New Roman" panose="02020603050405020304" pitchFamily="18" charset="0"/>
              </a:rPr>
              <a:t> – w</a:t>
            </a:r>
            <a:r>
              <a:rPr lang="en-US" altLang="en-US" sz="26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600" i="1" dirty="0" smtClean="0">
                <a:solidFill>
                  <a:srgbClr val="FF0000"/>
                </a:solidFill>
                <a:latin typeface="Times New Roman" panose="02020603050405020304" pitchFamily="18" charset="0"/>
                <a:cs typeface="Times New Roman" panose="02020603050405020304" pitchFamily="18" charset="0"/>
              </a:rPr>
              <a:t> </a:t>
            </a:r>
          </a:p>
          <a:p>
            <a:r>
              <a:rPr lang="en-US" altLang="en-US" dirty="0" smtClean="0"/>
              <a:t>The worker</a:t>
            </a:r>
          </a:p>
          <a:p>
            <a:pPr lvl="1"/>
            <a:r>
              <a:rPr lang="en-US" altLang="en-US" dirty="0" smtClean="0"/>
              <a:t>Wishes to maximize </a:t>
            </a:r>
            <a:r>
              <a:rPr lang="en-US" altLang="en-US" i="1" dirty="0" smtClean="0">
                <a:latin typeface="Times New Roman" panose="02020603050405020304" pitchFamily="18" charset="0"/>
                <a:cs typeface="Times New Roman" panose="02020603050405020304" pitchFamily="18" charset="0"/>
              </a:rPr>
              <a:t>w</a:t>
            </a:r>
            <a:r>
              <a:rPr lang="en-US" altLang="en-US" i="1" baseline="-25000" dirty="0" smtClean="0">
                <a:latin typeface="Times New Roman" panose="02020603050405020304" pitchFamily="18" charset="0"/>
                <a:cs typeface="Times New Roman" panose="02020603050405020304" pitchFamily="18" charset="0"/>
              </a:rPr>
              <a:t>1</a:t>
            </a:r>
            <a:r>
              <a:rPr lang="en-US" altLang="en-US" i="1" dirty="0" smtClean="0">
                <a:latin typeface="Times New Roman" panose="02020603050405020304" pitchFamily="18" charset="0"/>
                <a:cs typeface="Times New Roman" panose="02020603050405020304" pitchFamily="18" charset="0"/>
              </a:rPr>
              <a:t> + w</a:t>
            </a:r>
            <a:r>
              <a:rPr lang="en-US" altLang="en-US" i="1" baseline="-25000" dirty="0" smtClean="0">
                <a:latin typeface="Times New Roman" panose="02020603050405020304" pitchFamily="18" charset="0"/>
                <a:cs typeface="Times New Roman" panose="02020603050405020304" pitchFamily="18" charset="0"/>
              </a:rPr>
              <a:t>2</a:t>
            </a:r>
          </a:p>
          <a:p>
            <a:r>
              <a:rPr lang="en-US" altLang="en-US" dirty="0" smtClean="0"/>
              <a:t>The firm </a:t>
            </a:r>
          </a:p>
          <a:p>
            <a:pPr lvl="1"/>
            <a:r>
              <a:rPr lang="en-US" altLang="en-US" dirty="0" smtClean="0"/>
              <a:t>Wishes to maximize two-period profits</a:t>
            </a:r>
            <a:endParaRPr lang="en-US" altLang="en-US" sz="2600" dirty="0" smtClean="0"/>
          </a:p>
        </p:txBody>
      </p:sp>
    </p:spTree>
    <p:extLst>
      <p:ext uri="{BB962C8B-B14F-4D97-AF65-F5344CB8AC3E}">
        <p14:creationId xmlns:p14="http://schemas.microsoft.com/office/powerpoint/2010/main" val="795823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16.3 	General and Specific Human Capital</a:t>
            </a:r>
          </a:p>
        </p:txBody>
      </p:sp>
      <p:sp>
        <p:nvSpPr>
          <p:cNvPr id="819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7BA9B5B-F67E-40DA-853E-BF8B3FBC59C3}" type="slidenum">
              <a:rPr lang="en-US" smtClean="0"/>
              <a:pPr>
                <a:defRPr/>
              </a:pPr>
              <a:t>34</a:t>
            </a:fld>
            <a:endParaRPr lang="en-US" dirty="0"/>
          </a:p>
        </p:txBody>
      </p:sp>
      <p:sp>
        <p:nvSpPr>
          <p:cNvPr id="8197" name="Content Placeholder 2"/>
          <p:cNvSpPr>
            <a:spLocks noGrp="1"/>
          </p:cNvSpPr>
          <p:nvPr>
            <p:ph type="body" sz="quarter" idx="12"/>
          </p:nvPr>
        </p:nvSpPr>
        <p:spPr>
          <a:prstGeom prst="rect">
            <a:avLst/>
          </a:prstGeom>
        </p:spPr>
        <p:txBody>
          <a:bodyPr/>
          <a:lstStyle/>
          <a:p>
            <a:r>
              <a:rPr lang="en-US" altLang="en-US" smtClean="0"/>
              <a:t>Alternative wages:</a:t>
            </a:r>
          </a:p>
        </p:txBody>
      </p:sp>
      <p:sp>
        <p:nvSpPr>
          <p:cNvPr id="2" name="Text Placeholder 1"/>
          <p:cNvSpPr>
            <a:spLocks noGrp="1"/>
          </p:cNvSpPr>
          <p:nvPr>
            <p:ph type="body" sz="quarter" idx="13"/>
          </p:nvPr>
        </p:nvSpPr>
        <p:spPr>
          <a:xfrm>
            <a:off x="381000" y="1905000"/>
            <a:ext cx="8382000" cy="4267200"/>
          </a:xfrm>
        </p:spPr>
        <p:txBody>
          <a:bodyPr>
            <a:normAutofit/>
          </a:bodyPr>
          <a:lstStyle/>
          <a:p>
            <a:pPr eaLnBrk="0" hangingPunct="0">
              <a:buFont typeface="Arial" charset="0"/>
              <a:buChar char="•"/>
              <a:defRPr/>
            </a:pPr>
            <a:r>
              <a:rPr lang="en-US" kern="0" dirty="0" smtClean="0">
                <a:solidFill>
                  <a:srgbClr val="002D56"/>
                </a:solidFill>
              </a:rPr>
              <a:t>Profits: </a:t>
            </a:r>
          </a:p>
          <a:p>
            <a:pPr eaLnBrk="0" hangingPunct="0">
              <a:buFont typeface="Arial" charset="0"/>
              <a:buChar char="•"/>
              <a:defRPr/>
            </a:pPr>
            <a:endParaRPr lang="en-US" kern="0" dirty="0">
              <a:solidFill>
                <a:srgbClr val="002D56"/>
              </a:solidFill>
            </a:endParaRPr>
          </a:p>
          <a:p>
            <a:pPr lvl="1" eaLnBrk="0" hangingPunct="0">
              <a:buFont typeface="Arial" charset="0"/>
              <a:buChar char="•"/>
              <a:defRPr/>
            </a:pPr>
            <a:r>
              <a:rPr lang="en-US" kern="0" dirty="0" smtClean="0"/>
              <a:t>Firm’s </a:t>
            </a:r>
            <a:r>
              <a:rPr lang="en-US" kern="0" dirty="0"/>
              <a:t>optimal choice: g=0</a:t>
            </a:r>
          </a:p>
          <a:p>
            <a:pPr lvl="2" eaLnBrk="0" hangingPunct="0">
              <a:buFont typeface="Arial" charset="0"/>
              <a:buChar char="•"/>
              <a:defRPr/>
            </a:pPr>
            <a:r>
              <a:rPr lang="en-US" sz="2800" kern="0" dirty="0"/>
              <a:t>If the firm cannot earn any return on its investment in general human capital</a:t>
            </a:r>
          </a:p>
          <a:p>
            <a:pPr lvl="2" eaLnBrk="0" hangingPunct="0">
              <a:buFont typeface="Arial" charset="0"/>
              <a:buChar char="•"/>
              <a:defRPr/>
            </a:pPr>
            <a:r>
              <a:rPr lang="en-US" sz="2800" kern="0" dirty="0"/>
              <a:t>Its profit-maximizing decision is to refrain from such investing </a:t>
            </a:r>
          </a:p>
          <a:p>
            <a:endParaRPr lang="en-US" dirty="0"/>
          </a:p>
        </p:txBody>
      </p:sp>
      <p:graphicFrame>
        <p:nvGraphicFramePr>
          <p:cNvPr id="6" name="Object 2"/>
          <p:cNvGraphicFramePr>
            <a:graphicFrameLocks noChangeAspect="1"/>
          </p:cNvGraphicFramePr>
          <p:nvPr/>
        </p:nvGraphicFramePr>
        <p:xfrm>
          <a:off x="1330325" y="1150938"/>
          <a:ext cx="4203700" cy="558800"/>
        </p:xfrm>
        <a:graphic>
          <a:graphicData uri="http://schemas.openxmlformats.org/presentationml/2006/ole">
            <mc:AlternateContent xmlns:mc="http://schemas.openxmlformats.org/markup-compatibility/2006">
              <mc:Choice xmlns:v="urn:schemas-microsoft-com:vml" Requires="v">
                <p:oleObj spid="_x0000_s350238" name="Equation" r:id="rId3" imgW="1815840" imgH="241200" progId="Equation.DSMT4">
                  <p:embed/>
                </p:oleObj>
              </mc:Choice>
              <mc:Fallback>
                <p:oleObj name="Equation" r:id="rId3" imgW="181584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325" y="1150938"/>
                        <a:ext cx="42037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1" name="Object 3"/>
          <p:cNvGraphicFramePr>
            <a:graphicFrameLocks noChangeAspect="1"/>
          </p:cNvGraphicFramePr>
          <p:nvPr/>
        </p:nvGraphicFramePr>
        <p:xfrm>
          <a:off x="1973263" y="2357438"/>
          <a:ext cx="3057525" cy="587375"/>
        </p:xfrm>
        <a:graphic>
          <a:graphicData uri="http://schemas.openxmlformats.org/presentationml/2006/ole">
            <mc:AlternateContent xmlns:mc="http://schemas.openxmlformats.org/markup-compatibility/2006">
              <mc:Choice xmlns:v="urn:schemas-microsoft-com:vml" Requires="v">
                <p:oleObj spid="_x0000_s350239" name="Equation" r:id="rId5" imgW="1320480" imgH="253800" progId="Equation.DSMT4">
                  <p:embed/>
                </p:oleObj>
              </mc:Choice>
              <mc:Fallback>
                <p:oleObj name="Equation" r:id="rId5" imgW="1320480" imgH="253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3263" y="2357438"/>
                        <a:ext cx="305752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656910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3011"/>
                                        </p:tgtEl>
                                        <p:attrNameLst>
                                          <p:attrName>style.visibility</p:attrName>
                                        </p:attrNameLst>
                                      </p:cBhvr>
                                      <p:to>
                                        <p:strVal val="visible"/>
                                      </p:to>
                                    </p:set>
                                    <p:animEffect transition="in" filter="wipe(left)">
                                      <p:cBhvr>
                                        <p:cTn id="15" dur="500"/>
                                        <p:tgtEl>
                                          <p:spTgt spid="4301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16.3 	General and Specific Human Capital</a:t>
            </a:r>
          </a:p>
        </p:txBody>
      </p:sp>
      <p:sp>
        <p:nvSpPr>
          <p:cNvPr id="922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FFD4AFB1-7ED0-44BD-A981-B0338625893F}" type="slidenum">
              <a:rPr lang="en-US" smtClean="0"/>
              <a:pPr>
                <a:defRPr/>
              </a:pPr>
              <a:t>35</a:t>
            </a:fld>
            <a:endParaRPr lang="en-US" dirty="0"/>
          </a:p>
        </p:txBody>
      </p:sp>
      <p:sp>
        <p:nvSpPr>
          <p:cNvPr id="9220" name="Content Placeholder 2"/>
          <p:cNvSpPr>
            <a:spLocks noGrp="1"/>
          </p:cNvSpPr>
          <p:nvPr>
            <p:ph type="body" sz="quarter" idx="12"/>
          </p:nvPr>
        </p:nvSpPr>
        <p:spPr>
          <a:xfrm>
            <a:off x="381000" y="533400"/>
            <a:ext cx="8382000" cy="3200400"/>
          </a:xfrm>
          <a:prstGeom prst="rect">
            <a:avLst/>
          </a:prstGeom>
        </p:spPr>
        <p:txBody>
          <a:bodyPr>
            <a:normAutofit/>
          </a:bodyPr>
          <a:lstStyle/>
          <a:p>
            <a:r>
              <a:rPr lang="en-US" altLang="en-US" dirty="0" smtClean="0"/>
              <a:t>The worker</a:t>
            </a:r>
          </a:p>
          <a:p>
            <a:pPr lvl="1"/>
            <a:r>
              <a:rPr lang="en-US" altLang="en-US" dirty="0" smtClean="0"/>
              <a:t>Higher wage with such added human capital</a:t>
            </a:r>
          </a:p>
          <a:p>
            <a:pPr lvl="1"/>
            <a:r>
              <a:rPr lang="en-US" altLang="en-US" dirty="0" smtClean="0"/>
              <a:t>May opt to pay for his or her own general human capital accumulation </a:t>
            </a:r>
          </a:p>
          <a:p>
            <a:pPr lvl="2"/>
            <a:r>
              <a:rPr lang="en-US" altLang="en-US" dirty="0" smtClean="0"/>
              <a:t>By taking a reduction in first-period wages</a:t>
            </a:r>
          </a:p>
          <a:p>
            <a:pPr lvl="1"/>
            <a:r>
              <a:rPr lang="en-US" altLang="en-US" dirty="0" smtClean="0"/>
              <a:t>Total wages:</a:t>
            </a:r>
          </a:p>
        </p:txBody>
      </p:sp>
      <p:sp>
        <p:nvSpPr>
          <p:cNvPr id="2" name="Text Placeholder 1"/>
          <p:cNvSpPr>
            <a:spLocks noGrp="1"/>
          </p:cNvSpPr>
          <p:nvPr>
            <p:ph type="body" sz="quarter" idx="13"/>
          </p:nvPr>
        </p:nvSpPr>
        <p:spPr>
          <a:xfrm>
            <a:off x="381000" y="4038600"/>
            <a:ext cx="8382000" cy="2362200"/>
          </a:xfrm>
        </p:spPr>
        <p:txBody>
          <a:bodyPr>
            <a:normAutofit/>
          </a:bodyPr>
          <a:lstStyle/>
          <a:p>
            <a:pPr lvl="1" eaLnBrk="0" hangingPunct="0">
              <a:lnSpc>
                <a:spcPct val="150000"/>
              </a:lnSpc>
              <a:buFont typeface="Arial" charset="0"/>
              <a:buChar char="•"/>
              <a:defRPr/>
            </a:pPr>
            <a:r>
              <a:rPr lang="en-US" kern="0" dirty="0"/>
              <a:t>First-order condition: </a:t>
            </a:r>
            <a:r>
              <a:rPr lang="en-US" i="1" kern="0" dirty="0">
                <a:solidFill>
                  <a:srgbClr val="C00000"/>
                </a:solidFill>
                <a:latin typeface="Times New Roman" panose="02020603050405020304" pitchFamily="18" charset="0"/>
                <a:cs typeface="Times New Roman" panose="02020603050405020304" pitchFamily="18" charset="0"/>
              </a:rPr>
              <a:t>∂v</a:t>
            </a:r>
            <a:r>
              <a:rPr lang="en-US" i="1" kern="0" baseline="30000" dirty="0">
                <a:solidFill>
                  <a:srgbClr val="C00000"/>
                </a:solidFill>
                <a:latin typeface="Times New Roman" panose="02020603050405020304" pitchFamily="18" charset="0"/>
                <a:cs typeface="Times New Roman" panose="02020603050405020304" pitchFamily="18" charset="0"/>
              </a:rPr>
              <a:t>g</a:t>
            </a:r>
            <a:r>
              <a:rPr lang="en-US" i="1" kern="0" dirty="0">
                <a:solidFill>
                  <a:srgbClr val="C00000"/>
                </a:solidFill>
                <a:latin typeface="Times New Roman" panose="02020603050405020304" pitchFamily="18" charset="0"/>
                <a:cs typeface="Times New Roman" panose="02020603050405020304" pitchFamily="18" charset="0"/>
              </a:rPr>
              <a:t>(g)/∂g = </a:t>
            </a:r>
            <a:r>
              <a:rPr lang="en-US" i="1" kern="0" dirty="0" err="1">
                <a:solidFill>
                  <a:srgbClr val="C00000"/>
                </a:solidFill>
                <a:latin typeface="Times New Roman" panose="02020603050405020304" pitchFamily="18" charset="0"/>
                <a:cs typeface="Times New Roman" panose="02020603050405020304" pitchFamily="18" charset="0"/>
              </a:rPr>
              <a:t>p</a:t>
            </a:r>
            <a:r>
              <a:rPr lang="en-US" i="1" kern="0" baseline="-25000" dirty="0" err="1">
                <a:solidFill>
                  <a:srgbClr val="C00000"/>
                </a:solidFill>
                <a:latin typeface="Times New Roman" panose="02020603050405020304" pitchFamily="18" charset="0"/>
                <a:cs typeface="Times New Roman" panose="02020603050405020304" pitchFamily="18" charset="0"/>
              </a:rPr>
              <a:t>g</a:t>
            </a:r>
            <a:r>
              <a:rPr lang="en-US" i="1" kern="0" dirty="0">
                <a:solidFill>
                  <a:srgbClr val="C00000"/>
                </a:solidFill>
                <a:latin typeface="Times New Roman" panose="02020603050405020304" pitchFamily="18" charset="0"/>
                <a:cs typeface="Times New Roman" panose="02020603050405020304" pitchFamily="18" charset="0"/>
              </a:rPr>
              <a:t> </a:t>
            </a:r>
          </a:p>
          <a:p>
            <a:pPr eaLnBrk="0" hangingPunct="0">
              <a:buFont typeface="Arial" charset="0"/>
              <a:buChar char="•"/>
              <a:defRPr/>
            </a:pPr>
            <a:r>
              <a:rPr lang="en-US" kern="0" dirty="0">
                <a:solidFill>
                  <a:srgbClr val="000099"/>
                </a:solidFill>
              </a:rPr>
              <a:t>The firm</a:t>
            </a:r>
          </a:p>
          <a:p>
            <a:pPr lvl="1" eaLnBrk="0" hangingPunct="0">
              <a:buFont typeface="Arial" charset="0"/>
              <a:buChar char="•"/>
              <a:defRPr/>
            </a:pPr>
            <a:r>
              <a:rPr lang="en-US" kern="0" dirty="0"/>
              <a:t>First-order condition for a profit-maximizing choice of s: </a:t>
            </a:r>
            <a:r>
              <a:rPr lang="en-US" i="1" kern="0" dirty="0">
                <a:solidFill>
                  <a:srgbClr val="C00000"/>
                </a:solidFill>
                <a:latin typeface="Times New Roman" panose="02020603050405020304" pitchFamily="18" charset="0"/>
                <a:cs typeface="Times New Roman" panose="02020603050405020304" pitchFamily="18" charset="0"/>
              </a:rPr>
              <a:t>∂v</a:t>
            </a:r>
            <a:r>
              <a:rPr lang="en-US" i="1" kern="0" baseline="30000" dirty="0">
                <a:solidFill>
                  <a:srgbClr val="C00000"/>
                </a:solidFill>
                <a:latin typeface="Times New Roman" panose="02020603050405020304" pitchFamily="18" charset="0"/>
                <a:cs typeface="Times New Roman" panose="02020603050405020304" pitchFamily="18" charset="0"/>
              </a:rPr>
              <a:t>s</a:t>
            </a:r>
            <a:r>
              <a:rPr lang="en-US" i="1" kern="0" dirty="0">
                <a:solidFill>
                  <a:srgbClr val="C00000"/>
                </a:solidFill>
                <a:latin typeface="Times New Roman" panose="02020603050405020304" pitchFamily="18" charset="0"/>
                <a:cs typeface="Times New Roman" panose="02020603050405020304" pitchFamily="18" charset="0"/>
              </a:rPr>
              <a:t>(s)/∂s = </a:t>
            </a:r>
            <a:r>
              <a:rPr lang="en-US" i="1" kern="0" dirty="0" err="1" smtClean="0">
                <a:solidFill>
                  <a:srgbClr val="C00000"/>
                </a:solidFill>
                <a:latin typeface="Times New Roman" panose="02020603050405020304" pitchFamily="18" charset="0"/>
                <a:cs typeface="Times New Roman" panose="02020603050405020304" pitchFamily="18" charset="0"/>
              </a:rPr>
              <a:t>p</a:t>
            </a:r>
            <a:r>
              <a:rPr lang="en-US" i="1" kern="0" baseline="-25000" dirty="0" err="1" smtClean="0">
                <a:solidFill>
                  <a:srgbClr val="C00000"/>
                </a:solidFill>
                <a:latin typeface="Times New Roman" panose="02020603050405020304" pitchFamily="18" charset="0"/>
                <a:cs typeface="Times New Roman" panose="02020603050405020304" pitchFamily="18" charset="0"/>
              </a:rPr>
              <a:t>s</a:t>
            </a:r>
            <a:endParaRPr lang="en-US" sz="3200" kern="0" dirty="0">
              <a:solidFill>
                <a:srgbClr val="C00000"/>
              </a:solidFill>
              <a:latin typeface="Times New Roman" panose="02020603050405020304" pitchFamily="18" charset="0"/>
              <a:cs typeface="Times New Roman" panose="02020603050405020304" pitchFamily="18" charset="0"/>
            </a:endParaRPr>
          </a:p>
        </p:txBody>
      </p:sp>
      <p:graphicFrame>
        <p:nvGraphicFramePr>
          <p:cNvPr id="44036" name="Object 4"/>
          <p:cNvGraphicFramePr>
            <a:graphicFrameLocks noChangeAspect="1"/>
          </p:cNvGraphicFramePr>
          <p:nvPr/>
        </p:nvGraphicFramePr>
        <p:xfrm>
          <a:off x="1627188" y="3511550"/>
          <a:ext cx="4584700" cy="587375"/>
        </p:xfrm>
        <a:graphic>
          <a:graphicData uri="http://schemas.openxmlformats.org/presentationml/2006/ole">
            <mc:AlternateContent xmlns:mc="http://schemas.openxmlformats.org/markup-compatibility/2006">
              <mc:Choice xmlns:v="urn:schemas-microsoft-com:vml" Requires="v">
                <p:oleObj spid="_x0000_s351248" name="Equation" r:id="rId3" imgW="1981080" imgH="253800" progId="Equation.DSMT4">
                  <p:embed/>
                </p:oleObj>
              </mc:Choice>
              <mc:Fallback>
                <p:oleObj name="Equation" r:id="rId3" imgW="1981080" imgH="253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7188" y="3511550"/>
                        <a:ext cx="45847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06607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wipe(left)">
                                      <p:cBhvr>
                                        <p:cTn id="7" dur="500"/>
                                        <p:tgtEl>
                                          <p:spTgt spid="440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smtClean="0"/>
              <a:t>Compensating Differentials</a:t>
            </a:r>
          </a:p>
        </p:txBody>
      </p:sp>
      <p:sp>
        <p:nvSpPr>
          <p:cNvPr id="47107" name="Rectangle 3"/>
          <p:cNvSpPr>
            <a:spLocks noGrp="1" noChangeArrowheads="1"/>
          </p:cNvSpPr>
          <p:nvPr>
            <p:ph idx="1"/>
          </p:nvPr>
        </p:nvSpPr>
        <p:spPr/>
        <p:txBody>
          <a:bodyPr/>
          <a:lstStyle/>
          <a:p>
            <a:r>
              <a:rPr lang="en-US" altLang="en-US" dirty="0" smtClean="0"/>
              <a:t>Compensating Differentials</a:t>
            </a:r>
          </a:p>
          <a:p>
            <a:pPr lvl="1"/>
            <a:r>
              <a:rPr lang="en-US" altLang="en-US" dirty="0" smtClean="0"/>
              <a:t>Individuals prefer some jobs to others</a:t>
            </a:r>
          </a:p>
          <a:p>
            <a:pPr lvl="1"/>
            <a:r>
              <a:rPr lang="en-US" altLang="en-US" dirty="0" smtClean="0"/>
              <a:t>Desirable job characteristics may make a person willing to take a job that pays less than others</a:t>
            </a:r>
          </a:p>
          <a:p>
            <a:pPr lvl="1"/>
            <a:r>
              <a:rPr lang="en-US" altLang="en-US" dirty="0" smtClean="0"/>
              <a:t>Jobs that are unpleasant or dangerous will require higher wages to attract workers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EFAA48F-124F-4A48-9FC1-24C0EDDB2D16}" type="slidenum">
              <a:rPr lang="en-US" smtClean="0"/>
              <a:pPr>
                <a:defRPr/>
              </a:pPr>
              <a:t>36</a:t>
            </a:fld>
            <a:endParaRPr lang="en-US"/>
          </a:p>
        </p:txBody>
      </p:sp>
    </p:spTree>
    <p:extLst>
      <p:ext uri="{BB962C8B-B14F-4D97-AF65-F5344CB8AC3E}">
        <p14:creationId xmlns:p14="http://schemas.microsoft.com/office/powerpoint/2010/main" val="22066978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smtClean="0"/>
              <a:t>Compensating Differentials</a:t>
            </a:r>
          </a:p>
        </p:txBody>
      </p:sp>
      <p:sp>
        <p:nvSpPr>
          <p:cNvPr id="48131" name="Rectangle 3"/>
          <p:cNvSpPr>
            <a:spLocks noGrp="1" noChangeArrowheads="1"/>
          </p:cNvSpPr>
          <p:nvPr>
            <p:ph idx="1"/>
          </p:nvPr>
        </p:nvSpPr>
        <p:spPr/>
        <p:txBody>
          <a:bodyPr/>
          <a:lstStyle/>
          <a:p>
            <a:r>
              <a:rPr lang="en-US" altLang="en-US" dirty="0" smtClean="0"/>
              <a:t>Firm’s output, </a:t>
            </a:r>
            <a:r>
              <a:rPr lang="en-US" altLang="en-US" i="1" dirty="0" smtClean="0">
                <a:latin typeface="Times New Roman" pitchFamily="18" charset="0"/>
                <a:cs typeface="Times New Roman" pitchFamily="18" charset="0"/>
              </a:rPr>
              <a:t>q = f(l, A)</a:t>
            </a:r>
          </a:p>
          <a:p>
            <a:pPr lvl="1"/>
            <a:r>
              <a:rPr lang="en-US" altLang="en-US" dirty="0" smtClean="0"/>
              <a:t>Is a function of the labor it hires (</a:t>
            </a:r>
            <a:r>
              <a:rPr lang="en-US" altLang="en-US" i="1" dirty="0" smtClean="0">
                <a:latin typeface="Times New Roman" pitchFamily="18" charset="0"/>
                <a:cs typeface="Times New Roman" pitchFamily="18" charset="0"/>
              </a:rPr>
              <a:t>l</a:t>
            </a:r>
            <a:r>
              <a:rPr lang="en-US" altLang="en-US" dirty="0" smtClean="0"/>
              <a:t>) and the amenities it provides to its workers (</a:t>
            </a:r>
            <a:r>
              <a:rPr lang="en-US" altLang="en-US" i="1" dirty="0" smtClean="0"/>
              <a:t>A</a:t>
            </a:r>
            <a:r>
              <a:rPr lang="en-US" altLang="en-US" dirty="0" smtClean="0"/>
              <a:t>)</a:t>
            </a:r>
          </a:p>
          <a:p>
            <a:pPr lvl="2"/>
            <a:r>
              <a:rPr lang="en-US" altLang="en-US" dirty="0" smtClean="0"/>
              <a:t>Amenities are productive, </a:t>
            </a:r>
            <a:r>
              <a:rPr lang="en-US" altLang="en-US" i="1" dirty="0" err="1" smtClean="0"/>
              <a:t>f</a:t>
            </a:r>
            <a:r>
              <a:rPr lang="en-US" altLang="en-US" i="1" baseline="-25000" dirty="0" err="1" smtClean="0"/>
              <a:t>A</a:t>
            </a:r>
            <a:r>
              <a:rPr lang="en-US" altLang="en-US" dirty="0" smtClean="0"/>
              <a:t> &gt; 0 </a:t>
            </a:r>
          </a:p>
          <a:p>
            <a:pPr lvl="2"/>
            <a:r>
              <a:rPr lang="en-US" altLang="en-US" dirty="0" smtClean="0"/>
              <a:t>Exhibit </a:t>
            </a:r>
            <a:r>
              <a:rPr lang="en-US" altLang="en-US" dirty="0" smtClean="0"/>
              <a:t>diminishing marginal productivity, </a:t>
            </a:r>
            <a:r>
              <a:rPr lang="en-US" altLang="en-US" i="1" dirty="0" err="1" smtClean="0"/>
              <a:t>f</a:t>
            </a:r>
            <a:r>
              <a:rPr lang="en-US" altLang="en-US" i="1" baseline="-25000" dirty="0" err="1" smtClean="0"/>
              <a:t>AA</a:t>
            </a:r>
            <a:r>
              <a:rPr lang="en-US" altLang="en-US" dirty="0" smtClean="0"/>
              <a:t> &lt; 0</a:t>
            </a:r>
          </a:p>
          <a:p>
            <a:r>
              <a:rPr lang="en-US" altLang="en-US" dirty="0" smtClean="0"/>
              <a:t>Firm’s profits: </a:t>
            </a:r>
          </a:p>
          <a:p>
            <a:pPr algn="ctr">
              <a:buFontTx/>
              <a:buNone/>
            </a:pPr>
            <a:r>
              <a:rPr lang="en-US" altLang="en-US" sz="3200" dirty="0" smtClean="0">
                <a:cs typeface="Arial" charset="0"/>
              </a:rPr>
              <a:t> </a:t>
            </a:r>
            <a:r>
              <a:rPr lang="en-US" altLang="en-US" sz="3200" i="1" dirty="0" smtClean="0">
                <a:solidFill>
                  <a:srgbClr val="FF0000"/>
                </a:solidFill>
                <a:latin typeface="Times New Roman" pitchFamily="18" charset="0"/>
                <a:cs typeface="Times New Roman" pitchFamily="18" charset="0"/>
              </a:rPr>
              <a:t>π(</a:t>
            </a:r>
            <a:r>
              <a:rPr lang="en-US" altLang="en-US" sz="3200" i="1" dirty="0" err="1" smtClean="0">
                <a:solidFill>
                  <a:srgbClr val="FF0000"/>
                </a:solidFill>
                <a:latin typeface="Times New Roman" pitchFamily="18" charset="0"/>
                <a:cs typeface="Times New Roman" pitchFamily="18" charset="0"/>
              </a:rPr>
              <a:t>l,A</a:t>
            </a:r>
            <a:r>
              <a:rPr lang="en-US" altLang="en-US" sz="3200" i="1" dirty="0" smtClean="0">
                <a:solidFill>
                  <a:srgbClr val="FF0000"/>
                </a:solidFill>
                <a:latin typeface="Times New Roman" pitchFamily="18" charset="0"/>
                <a:cs typeface="Times New Roman" pitchFamily="18" charset="0"/>
              </a:rPr>
              <a:t>)=pf(</a:t>
            </a:r>
            <a:r>
              <a:rPr lang="en-US" altLang="en-US" sz="3200" i="1" dirty="0" err="1" smtClean="0">
                <a:solidFill>
                  <a:srgbClr val="FF0000"/>
                </a:solidFill>
                <a:latin typeface="Times New Roman" pitchFamily="18" charset="0"/>
                <a:cs typeface="Times New Roman" pitchFamily="18" charset="0"/>
              </a:rPr>
              <a:t>l,A</a:t>
            </a:r>
            <a:r>
              <a:rPr lang="en-US" altLang="en-US" sz="3200" i="1" dirty="0" smtClean="0">
                <a:solidFill>
                  <a:srgbClr val="FF0000"/>
                </a:solidFill>
                <a:latin typeface="Times New Roman" pitchFamily="18" charset="0"/>
                <a:cs typeface="Times New Roman" pitchFamily="18" charset="0"/>
              </a:rPr>
              <a:t>) – </a:t>
            </a:r>
            <a:r>
              <a:rPr lang="en-US" altLang="en-US" sz="3200" i="1" dirty="0" err="1" smtClean="0">
                <a:solidFill>
                  <a:srgbClr val="FF0000"/>
                </a:solidFill>
                <a:latin typeface="Times New Roman" pitchFamily="18" charset="0"/>
                <a:cs typeface="Times New Roman" pitchFamily="18" charset="0"/>
              </a:rPr>
              <a:t>wl</a:t>
            </a:r>
            <a:r>
              <a:rPr lang="en-US" altLang="en-US" sz="3200" i="1" dirty="0" smtClean="0">
                <a:solidFill>
                  <a:srgbClr val="FF0000"/>
                </a:solidFill>
                <a:latin typeface="Times New Roman" pitchFamily="18" charset="0"/>
                <a:cs typeface="Times New Roman" pitchFamily="18" charset="0"/>
              </a:rPr>
              <a:t> – </a:t>
            </a:r>
            <a:r>
              <a:rPr lang="en-US" altLang="en-US" sz="3200" i="1" dirty="0" err="1" smtClean="0">
                <a:solidFill>
                  <a:srgbClr val="FF0000"/>
                </a:solidFill>
                <a:latin typeface="Times New Roman" pitchFamily="18" charset="0"/>
                <a:cs typeface="Times New Roman" pitchFamily="18" charset="0"/>
              </a:rPr>
              <a:t>p</a:t>
            </a:r>
            <a:r>
              <a:rPr lang="en-US" altLang="en-US" sz="3200" i="1" baseline="-25000" dirty="0" err="1" smtClean="0">
                <a:solidFill>
                  <a:srgbClr val="FF0000"/>
                </a:solidFill>
                <a:latin typeface="Times New Roman" pitchFamily="18" charset="0"/>
                <a:cs typeface="Times New Roman" pitchFamily="18" charset="0"/>
              </a:rPr>
              <a:t>A</a:t>
            </a:r>
            <a:r>
              <a:rPr lang="en-US" altLang="en-US" sz="3200" i="1" dirty="0" err="1" smtClean="0">
                <a:solidFill>
                  <a:srgbClr val="FF0000"/>
                </a:solidFill>
                <a:latin typeface="Times New Roman" pitchFamily="18" charset="0"/>
                <a:cs typeface="Times New Roman" pitchFamily="18" charset="0"/>
              </a:rPr>
              <a:t>A</a:t>
            </a:r>
            <a:r>
              <a:rPr lang="en-US" altLang="en-US" sz="3200" i="1" dirty="0" smtClean="0">
                <a:solidFill>
                  <a:srgbClr val="FF0000"/>
                </a:solidFill>
                <a:latin typeface="Times New Roman" pitchFamily="18" charset="0"/>
                <a:cs typeface="Times New Roman" pitchFamily="18" charset="0"/>
              </a:rPr>
              <a:t>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B380DF5-3BF3-4602-939B-73633A55E712}" type="slidenum">
              <a:rPr lang="en-US" smtClean="0"/>
              <a:pPr>
                <a:defRPr/>
              </a:pPr>
              <a:t>37</a:t>
            </a:fld>
            <a:endParaRPr lang="en-US"/>
          </a:p>
        </p:txBody>
      </p:sp>
    </p:spTree>
    <p:extLst>
      <p:ext uri="{BB962C8B-B14F-4D97-AF65-F5344CB8AC3E}">
        <p14:creationId xmlns:p14="http://schemas.microsoft.com/office/powerpoint/2010/main" val="17378270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smtClean="0"/>
              <a:t>Compensating Differentials</a:t>
            </a:r>
          </a:p>
        </p:txBody>
      </p:sp>
      <p:sp>
        <p:nvSpPr>
          <p:cNvPr id="49155" name="Rectangle 3"/>
          <p:cNvSpPr>
            <a:spLocks noGrp="1" noChangeArrowheads="1"/>
          </p:cNvSpPr>
          <p:nvPr>
            <p:ph idx="1"/>
          </p:nvPr>
        </p:nvSpPr>
        <p:spPr/>
        <p:txBody>
          <a:bodyPr/>
          <a:lstStyle/>
          <a:p>
            <a:r>
              <a:rPr lang="en-US" altLang="en-US" dirty="0" smtClean="0"/>
              <a:t>Wage levels</a:t>
            </a:r>
          </a:p>
          <a:p>
            <a:pPr lvl="1"/>
            <a:r>
              <a:rPr lang="en-US" altLang="en-US" dirty="0" smtClean="0"/>
              <a:t>Can change in response to amenities provided on the job</a:t>
            </a:r>
          </a:p>
          <a:p>
            <a:pPr lvl="1" algn="ctr">
              <a:buFont typeface="Arial" charset="0"/>
              <a:buNone/>
            </a:pPr>
            <a:r>
              <a:rPr lang="en-US" altLang="en-US" i="1" dirty="0" smtClean="0">
                <a:solidFill>
                  <a:srgbClr val="FF0000"/>
                </a:solidFill>
                <a:latin typeface="Times New Roman" pitchFamily="18" charset="0"/>
                <a:cs typeface="Times New Roman" pitchFamily="18" charset="0"/>
              </a:rPr>
              <a:t> w = w</a:t>
            </a:r>
            <a:r>
              <a:rPr lang="en-US" altLang="en-US" i="1" baseline="-25000" dirty="0" smtClean="0">
                <a:solidFill>
                  <a:srgbClr val="FF0000"/>
                </a:solidFill>
                <a:latin typeface="Times New Roman" pitchFamily="18" charset="0"/>
                <a:cs typeface="Times New Roman" pitchFamily="18" charset="0"/>
              </a:rPr>
              <a:t>0</a:t>
            </a:r>
            <a:r>
              <a:rPr lang="en-US" altLang="en-US" i="1" dirty="0" smtClean="0">
                <a:solidFill>
                  <a:srgbClr val="FF0000"/>
                </a:solidFill>
                <a:latin typeface="Times New Roman" pitchFamily="18" charset="0"/>
                <a:cs typeface="Times New Roman" pitchFamily="18" charset="0"/>
              </a:rPr>
              <a:t> – k(A – A*)</a:t>
            </a:r>
          </a:p>
          <a:p>
            <a:r>
              <a:rPr lang="en-US" altLang="en-US" dirty="0" smtClean="0"/>
              <a:t>Firm’s profits: </a:t>
            </a:r>
          </a:p>
          <a:p>
            <a:pPr algn="ctr">
              <a:buFontTx/>
              <a:buNone/>
            </a:pPr>
            <a:r>
              <a:rPr lang="en-US" altLang="en-US" dirty="0" smtClean="0">
                <a:solidFill>
                  <a:srgbClr val="002D56"/>
                </a:solidFill>
                <a:cs typeface="Arial" charset="0"/>
              </a:rPr>
              <a:t> </a:t>
            </a:r>
            <a:r>
              <a:rPr lang="en-US" altLang="en-US" sz="3200" i="1" dirty="0" smtClean="0">
                <a:solidFill>
                  <a:srgbClr val="002D56"/>
                </a:solidFill>
                <a:latin typeface="Times New Roman" pitchFamily="18" charset="0"/>
                <a:cs typeface="Times New Roman" pitchFamily="18" charset="0"/>
              </a:rPr>
              <a:t>π(</a:t>
            </a:r>
            <a:r>
              <a:rPr lang="en-US" altLang="en-US" sz="3200" i="1" dirty="0" err="1" smtClean="0">
                <a:solidFill>
                  <a:srgbClr val="002D56"/>
                </a:solidFill>
                <a:latin typeface="Times New Roman" pitchFamily="18" charset="0"/>
                <a:cs typeface="Times New Roman" pitchFamily="18" charset="0"/>
              </a:rPr>
              <a:t>l,A</a:t>
            </a:r>
            <a:r>
              <a:rPr lang="en-US" altLang="en-US" sz="3200" i="1" dirty="0" smtClean="0">
                <a:solidFill>
                  <a:srgbClr val="002D56"/>
                </a:solidFill>
                <a:latin typeface="Times New Roman" pitchFamily="18" charset="0"/>
                <a:cs typeface="Times New Roman" pitchFamily="18" charset="0"/>
              </a:rPr>
              <a:t>)=pf(</a:t>
            </a:r>
            <a:r>
              <a:rPr lang="en-US" altLang="en-US" sz="3200" i="1" dirty="0" err="1" smtClean="0">
                <a:solidFill>
                  <a:srgbClr val="002D56"/>
                </a:solidFill>
                <a:latin typeface="Times New Roman" pitchFamily="18" charset="0"/>
                <a:cs typeface="Times New Roman" pitchFamily="18" charset="0"/>
              </a:rPr>
              <a:t>l,A</a:t>
            </a:r>
            <a:r>
              <a:rPr lang="en-US" altLang="en-US" sz="3200" i="1" dirty="0" smtClean="0">
                <a:solidFill>
                  <a:srgbClr val="002D56"/>
                </a:solidFill>
                <a:latin typeface="Times New Roman" pitchFamily="18" charset="0"/>
                <a:cs typeface="Times New Roman" pitchFamily="18" charset="0"/>
              </a:rPr>
              <a:t>) – [w</a:t>
            </a:r>
            <a:r>
              <a:rPr lang="en-US" altLang="en-US" sz="3200" i="1" baseline="-25000" dirty="0" smtClean="0">
                <a:solidFill>
                  <a:srgbClr val="002D56"/>
                </a:solidFill>
                <a:latin typeface="Times New Roman" pitchFamily="18" charset="0"/>
                <a:cs typeface="Times New Roman" pitchFamily="18" charset="0"/>
              </a:rPr>
              <a:t>0</a:t>
            </a:r>
            <a:r>
              <a:rPr lang="en-US" altLang="en-US" sz="3200" i="1" dirty="0" smtClean="0">
                <a:solidFill>
                  <a:srgbClr val="002D56"/>
                </a:solidFill>
                <a:latin typeface="Times New Roman" pitchFamily="18" charset="0"/>
                <a:cs typeface="Times New Roman" pitchFamily="18" charset="0"/>
              </a:rPr>
              <a:t> – k(A – A*)]l – </a:t>
            </a:r>
            <a:r>
              <a:rPr lang="en-US" altLang="en-US" sz="3200" i="1" dirty="0" err="1" smtClean="0">
                <a:solidFill>
                  <a:srgbClr val="002D56"/>
                </a:solidFill>
                <a:latin typeface="Times New Roman" pitchFamily="18" charset="0"/>
                <a:cs typeface="Times New Roman" pitchFamily="18" charset="0"/>
              </a:rPr>
              <a:t>p</a:t>
            </a:r>
            <a:r>
              <a:rPr lang="en-US" altLang="en-US" sz="3200" i="1" baseline="-25000" dirty="0" err="1" smtClean="0">
                <a:solidFill>
                  <a:srgbClr val="002D56"/>
                </a:solidFill>
                <a:latin typeface="Times New Roman" pitchFamily="18" charset="0"/>
                <a:cs typeface="Times New Roman" pitchFamily="18" charset="0"/>
              </a:rPr>
              <a:t>A</a:t>
            </a:r>
            <a:r>
              <a:rPr lang="en-US" altLang="en-US" sz="3200" i="1" dirty="0" err="1" smtClean="0">
                <a:solidFill>
                  <a:srgbClr val="002D56"/>
                </a:solidFill>
                <a:latin typeface="Times New Roman" pitchFamily="18" charset="0"/>
                <a:cs typeface="Times New Roman" pitchFamily="18" charset="0"/>
              </a:rPr>
              <a:t>A</a:t>
            </a:r>
            <a:r>
              <a:rPr lang="en-US" altLang="en-US" sz="3200" i="1" dirty="0" smtClean="0">
                <a:solidFill>
                  <a:srgbClr val="002D56"/>
                </a:solidFill>
                <a:latin typeface="Times New Roman" pitchFamily="18" charset="0"/>
                <a:cs typeface="Times New Roman" pitchFamily="18" charset="0"/>
              </a:rPr>
              <a:t> </a:t>
            </a:r>
          </a:p>
          <a:p>
            <a:r>
              <a:rPr lang="en-US" altLang="en-US" dirty="0" smtClean="0"/>
              <a:t>First-order condition:</a:t>
            </a:r>
          </a:p>
          <a:p>
            <a:pPr algn="ctr">
              <a:buFontTx/>
              <a:buNone/>
            </a:pPr>
            <a:r>
              <a:rPr lang="en-US" altLang="en-US" sz="3200" i="1" dirty="0" smtClean="0">
                <a:solidFill>
                  <a:srgbClr val="FF0000"/>
                </a:solidFill>
                <a:latin typeface="Times New Roman" pitchFamily="18" charset="0"/>
                <a:cs typeface="Times New Roman" pitchFamily="18" charset="0"/>
              </a:rPr>
              <a:t>∂</a:t>
            </a:r>
            <a:r>
              <a:rPr lang="el-GR" altLang="en-US" sz="3200" i="1" dirty="0" smtClean="0">
                <a:solidFill>
                  <a:srgbClr val="FF0000"/>
                </a:solidFill>
                <a:latin typeface="Times New Roman" pitchFamily="18" charset="0"/>
                <a:cs typeface="Times New Roman" pitchFamily="18" charset="0"/>
              </a:rPr>
              <a:t>π</a:t>
            </a:r>
            <a:r>
              <a:rPr lang="en-US" altLang="en-US" sz="3200" i="1" dirty="0" smtClean="0">
                <a:solidFill>
                  <a:srgbClr val="FF0000"/>
                </a:solidFill>
                <a:latin typeface="Times New Roman" pitchFamily="18" charset="0"/>
                <a:cs typeface="Times New Roman" pitchFamily="18" charset="0"/>
              </a:rPr>
              <a:t>/∂A = </a:t>
            </a:r>
            <a:r>
              <a:rPr lang="en-US" altLang="en-US" sz="3200" i="1" dirty="0" err="1" smtClean="0">
                <a:solidFill>
                  <a:srgbClr val="FF0000"/>
                </a:solidFill>
                <a:latin typeface="Times New Roman" pitchFamily="18" charset="0"/>
                <a:cs typeface="Times New Roman" pitchFamily="18" charset="0"/>
              </a:rPr>
              <a:t>pf</a:t>
            </a:r>
            <a:r>
              <a:rPr lang="en-US" altLang="en-US" sz="3200" i="1" baseline="-25000" dirty="0" err="1" smtClean="0">
                <a:solidFill>
                  <a:srgbClr val="FF0000"/>
                </a:solidFill>
                <a:latin typeface="Times New Roman" pitchFamily="18" charset="0"/>
                <a:cs typeface="Times New Roman" pitchFamily="18" charset="0"/>
              </a:rPr>
              <a:t>A</a:t>
            </a:r>
            <a:r>
              <a:rPr lang="en-US" altLang="en-US" sz="3200" i="1" dirty="0" smtClean="0">
                <a:solidFill>
                  <a:srgbClr val="FF0000"/>
                </a:solidFill>
                <a:latin typeface="Times New Roman" pitchFamily="18" charset="0"/>
                <a:cs typeface="Times New Roman" pitchFamily="18" charset="0"/>
              </a:rPr>
              <a:t> + kl – </a:t>
            </a:r>
            <a:r>
              <a:rPr lang="en-US" altLang="en-US" sz="3200" i="1" dirty="0" err="1" smtClean="0">
                <a:solidFill>
                  <a:srgbClr val="FF0000"/>
                </a:solidFill>
                <a:latin typeface="Times New Roman" pitchFamily="18" charset="0"/>
                <a:cs typeface="Times New Roman" pitchFamily="18" charset="0"/>
              </a:rPr>
              <a:t>p</a:t>
            </a:r>
            <a:r>
              <a:rPr lang="en-US" altLang="en-US" sz="3200" i="1" baseline="-25000" dirty="0" err="1" smtClean="0">
                <a:solidFill>
                  <a:srgbClr val="FF0000"/>
                </a:solidFill>
                <a:latin typeface="Times New Roman" pitchFamily="18" charset="0"/>
                <a:cs typeface="Times New Roman" pitchFamily="18" charset="0"/>
              </a:rPr>
              <a:t>A</a:t>
            </a:r>
            <a:r>
              <a:rPr lang="en-US" altLang="en-US" sz="3200" i="1" dirty="0" smtClean="0">
                <a:solidFill>
                  <a:srgbClr val="FF0000"/>
                </a:solidFill>
                <a:latin typeface="Times New Roman" pitchFamily="18" charset="0"/>
                <a:cs typeface="Times New Roman" pitchFamily="18" charset="0"/>
              </a:rPr>
              <a:t> = 0 </a:t>
            </a:r>
            <a:r>
              <a:rPr lang="en-US" altLang="en-US" sz="3200" dirty="0" smtClean="0">
                <a:solidFill>
                  <a:schemeClr val="tx1"/>
                </a:solidFill>
                <a:latin typeface="Times New Roman" pitchFamily="18" charset="0"/>
                <a:cs typeface="Times New Roman" pitchFamily="18" charset="0"/>
              </a:rPr>
              <a:t>or</a:t>
            </a:r>
            <a:r>
              <a:rPr lang="en-US" altLang="en-US" sz="3200" i="1" dirty="0" smtClean="0">
                <a:solidFill>
                  <a:srgbClr val="FF0000"/>
                </a:solidFill>
                <a:latin typeface="Times New Roman" pitchFamily="18" charset="0"/>
                <a:cs typeface="Times New Roman" pitchFamily="18" charset="0"/>
              </a:rPr>
              <a:t> </a:t>
            </a:r>
            <a:r>
              <a:rPr lang="en-US" altLang="en-US" sz="3200" i="1" dirty="0" err="1" smtClean="0">
                <a:solidFill>
                  <a:srgbClr val="FF0000"/>
                </a:solidFill>
                <a:latin typeface="Times New Roman" pitchFamily="18" charset="0"/>
                <a:cs typeface="Times New Roman" pitchFamily="18" charset="0"/>
              </a:rPr>
              <a:t>pf</a:t>
            </a:r>
            <a:r>
              <a:rPr lang="en-US" altLang="en-US" sz="3200" i="1" baseline="-25000" dirty="0" err="1" smtClean="0">
                <a:solidFill>
                  <a:srgbClr val="FF0000"/>
                </a:solidFill>
                <a:latin typeface="Times New Roman" pitchFamily="18" charset="0"/>
                <a:cs typeface="Times New Roman" pitchFamily="18" charset="0"/>
              </a:rPr>
              <a:t>A</a:t>
            </a:r>
            <a:r>
              <a:rPr lang="en-US" altLang="en-US" sz="3200" i="1" dirty="0" smtClean="0">
                <a:solidFill>
                  <a:srgbClr val="FF0000"/>
                </a:solidFill>
                <a:latin typeface="Times New Roman" pitchFamily="18" charset="0"/>
                <a:cs typeface="Times New Roman" pitchFamily="18" charset="0"/>
              </a:rPr>
              <a:t> = </a:t>
            </a:r>
            <a:r>
              <a:rPr lang="en-US" altLang="en-US" sz="3200" i="1" dirty="0" err="1" smtClean="0">
                <a:solidFill>
                  <a:srgbClr val="FF0000"/>
                </a:solidFill>
                <a:latin typeface="Times New Roman" pitchFamily="18" charset="0"/>
                <a:cs typeface="Times New Roman" pitchFamily="18" charset="0"/>
              </a:rPr>
              <a:t>p</a:t>
            </a:r>
            <a:r>
              <a:rPr lang="en-US" altLang="en-US" sz="3200" i="1" baseline="-25000" dirty="0" err="1" smtClean="0">
                <a:solidFill>
                  <a:srgbClr val="FF0000"/>
                </a:solidFill>
                <a:latin typeface="Times New Roman" pitchFamily="18" charset="0"/>
                <a:cs typeface="Times New Roman" pitchFamily="18" charset="0"/>
              </a:rPr>
              <a:t>A</a:t>
            </a:r>
            <a:r>
              <a:rPr lang="en-US" altLang="en-US" sz="3200" i="1" baseline="-25000" dirty="0" smtClean="0">
                <a:solidFill>
                  <a:srgbClr val="FF0000"/>
                </a:solidFill>
                <a:latin typeface="Times New Roman" pitchFamily="18" charset="0"/>
                <a:cs typeface="Times New Roman" pitchFamily="18" charset="0"/>
              </a:rPr>
              <a:t> </a:t>
            </a:r>
            <a:r>
              <a:rPr lang="en-US" altLang="en-US" sz="3200" i="1" dirty="0" smtClean="0">
                <a:solidFill>
                  <a:srgbClr val="FF0000"/>
                </a:solidFill>
                <a:latin typeface="Times New Roman" pitchFamily="18" charset="0"/>
                <a:cs typeface="Times New Roman" pitchFamily="18" charset="0"/>
              </a:rPr>
              <a:t>– kl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A446D76-9F80-4913-9629-59AACD98371B}" type="slidenum">
              <a:rPr lang="en-US" smtClean="0"/>
              <a:pPr>
                <a:defRPr/>
              </a:pPr>
              <a:t>38</a:t>
            </a:fld>
            <a:endParaRPr lang="en-US"/>
          </a:p>
        </p:txBody>
      </p:sp>
    </p:spTree>
    <p:extLst>
      <p:ext uri="{BB962C8B-B14F-4D97-AF65-F5344CB8AC3E}">
        <p14:creationId xmlns:p14="http://schemas.microsoft.com/office/powerpoint/2010/main" val="37064323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mtClean="0"/>
              <a:t>Compensating Differentials</a:t>
            </a:r>
          </a:p>
        </p:txBody>
      </p:sp>
      <p:sp>
        <p:nvSpPr>
          <p:cNvPr id="50179" name="Rectangle 3"/>
          <p:cNvSpPr>
            <a:spLocks noGrp="1" noChangeArrowheads="1"/>
          </p:cNvSpPr>
          <p:nvPr>
            <p:ph idx="1"/>
          </p:nvPr>
        </p:nvSpPr>
        <p:spPr>
          <a:xfrm>
            <a:off x="381000" y="1066800"/>
            <a:ext cx="8534400" cy="5334000"/>
          </a:xfrm>
        </p:spPr>
        <p:txBody>
          <a:bodyPr/>
          <a:lstStyle/>
          <a:p>
            <a:r>
              <a:rPr lang="en-US" altLang="en-US" dirty="0" smtClean="0"/>
              <a:t>The firm </a:t>
            </a:r>
          </a:p>
          <a:p>
            <a:pPr lvl="1"/>
            <a:r>
              <a:rPr lang="en-US" altLang="en-US" sz="3000" dirty="0" smtClean="0"/>
              <a:t>Upward sloping ‘‘supply curve’’ for amenities</a:t>
            </a:r>
          </a:p>
          <a:p>
            <a:pPr lvl="2"/>
            <a:r>
              <a:rPr lang="en-US" altLang="en-US" dirty="0" smtClean="0"/>
              <a:t>A higher level of k causes the firm to choose to provide more amenities to its workers </a:t>
            </a:r>
          </a:p>
          <a:p>
            <a:r>
              <a:rPr lang="en-US" altLang="en-US" dirty="0" smtClean="0"/>
              <a:t>The worker</a:t>
            </a:r>
          </a:p>
          <a:p>
            <a:pPr lvl="1"/>
            <a:r>
              <a:rPr lang="en-US" altLang="en-US" sz="3000" dirty="0" smtClean="0"/>
              <a:t>Valuation of amenities - derived from his utility function, </a:t>
            </a:r>
            <a:r>
              <a:rPr lang="en-US" altLang="en-US" sz="3000" i="1" dirty="0" smtClean="0"/>
              <a:t>U(w, A)</a:t>
            </a:r>
          </a:p>
          <a:p>
            <a:pPr lvl="1"/>
            <a:r>
              <a:rPr lang="en-US" altLang="en-US" sz="3000" dirty="0" smtClean="0"/>
              <a:t>Choose among employment opportunities:  maximizes utility subject to the budget constraint </a:t>
            </a:r>
            <a:r>
              <a:rPr lang="en-US" altLang="en-US" sz="3000" i="1" dirty="0" smtClean="0"/>
              <a:t>w = w</a:t>
            </a:r>
            <a:r>
              <a:rPr lang="en-US" altLang="en-US" sz="3000" i="1" baseline="-25000" dirty="0" smtClean="0"/>
              <a:t>0</a:t>
            </a:r>
            <a:r>
              <a:rPr lang="en-US" altLang="en-US" sz="3000" i="1" dirty="0" smtClean="0"/>
              <a:t> - k(A – A*)</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DF097D2-CA38-435C-BAF8-844E333CF284}" type="slidenum">
              <a:rPr lang="en-US" smtClean="0"/>
              <a:pPr>
                <a:defRPr/>
              </a:pPr>
              <a:t>39</a:t>
            </a:fld>
            <a:endParaRPr lang="en-US"/>
          </a:p>
        </p:txBody>
      </p:sp>
    </p:spTree>
    <p:extLst>
      <p:ext uri="{BB962C8B-B14F-4D97-AF65-F5344CB8AC3E}">
        <p14:creationId xmlns:p14="http://schemas.microsoft.com/office/powerpoint/2010/main" val="20257988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smtClean="0"/>
              <a:t>Compensating Differentials</a:t>
            </a:r>
          </a:p>
        </p:txBody>
      </p:sp>
      <p:sp>
        <p:nvSpPr>
          <p:cNvPr id="51203" name="Rectangle 3"/>
          <p:cNvSpPr>
            <a:spLocks noGrp="1" noChangeArrowheads="1"/>
          </p:cNvSpPr>
          <p:nvPr>
            <p:ph idx="1"/>
          </p:nvPr>
        </p:nvSpPr>
        <p:spPr/>
        <p:txBody>
          <a:bodyPr/>
          <a:lstStyle/>
          <a:p>
            <a:r>
              <a:rPr lang="en-US" altLang="en-US" dirty="0" smtClean="0"/>
              <a:t>The worker</a:t>
            </a:r>
          </a:p>
          <a:p>
            <a:pPr lvl="1"/>
            <a:r>
              <a:rPr lang="en-US" altLang="en-US" sz="3000" dirty="0" smtClean="0"/>
              <a:t>First-order conditions: </a:t>
            </a:r>
            <a:r>
              <a:rPr lang="en-US" altLang="en-US" sz="3000" i="1" dirty="0" smtClean="0"/>
              <a:t>MRS = U</a:t>
            </a:r>
            <a:r>
              <a:rPr lang="en-US" altLang="en-US" sz="3000" i="1" baseline="-25000" dirty="0" smtClean="0"/>
              <a:t>A</a:t>
            </a:r>
            <a:r>
              <a:rPr lang="en-US" altLang="en-US" sz="3000" i="1" dirty="0" smtClean="0"/>
              <a:t>/</a:t>
            </a:r>
            <a:r>
              <a:rPr lang="en-US" altLang="en-US" sz="3000" i="1" dirty="0" err="1" smtClean="0"/>
              <a:t>U</a:t>
            </a:r>
            <a:r>
              <a:rPr lang="en-US" altLang="en-US" sz="3000" i="1" baseline="-25000" dirty="0" err="1" smtClean="0"/>
              <a:t>w</a:t>
            </a:r>
            <a:r>
              <a:rPr lang="en-US" altLang="en-US" sz="3000" i="1" baseline="-25000" dirty="0" smtClean="0"/>
              <a:t> </a:t>
            </a:r>
            <a:r>
              <a:rPr lang="en-US" altLang="en-US" sz="3000" i="1" dirty="0" smtClean="0"/>
              <a:t>= k </a:t>
            </a:r>
          </a:p>
          <a:p>
            <a:pPr lvl="1"/>
            <a:r>
              <a:rPr lang="en-US" altLang="en-US" dirty="0" smtClean="0"/>
              <a:t>Will choose a job that offers a combination of wages and amenities</a:t>
            </a:r>
          </a:p>
          <a:p>
            <a:pPr lvl="2"/>
            <a:r>
              <a:rPr lang="en-US" altLang="en-US" dirty="0" smtClean="0"/>
              <a:t>For which his </a:t>
            </a:r>
            <a:r>
              <a:rPr lang="en-US" altLang="en-US" i="1" dirty="0" smtClean="0"/>
              <a:t>MRS</a:t>
            </a:r>
            <a:r>
              <a:rPr lang="en-US" altLang="en-US" dirty="0" smtClean="0"/>
              <a:t> is precisely equal to the (implicit) price of amenities</a:t>
            </a:r>
          </a:p>
          <a:p>
            <a:pPr lvl="2"/>
            <a:r>
              <a:rPr lang="en-US" altLang="en-US" dirty="0" smtClean="0"/>
              <a:t>Downward sloping ‘‘demand curve’’ for amenities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B5E9018-2A51-47F4-8440-2A16FE327F30}" type="slidenum">
              <a:rPr lang="en-US" smtClean="0"/>
              <a:pPr>
                <a:defRPr/>
              </a:pPr>
              <a:t>40</a:t>
            </a:fld>
            <a:endParaRPr lang="en-US"/>
          </a:p>
        </p:txBody>
      </p:sp>
    </p:spTree>
    <p:extLst>
      <p:ext uri="{BB962C8B-B14F-4D97-AF65-F5344CB8AC3E}">
        <p14:creationId xmlns:p14="http://schemas.microsoft.com/office/powerpoint/2010/main" val="29345648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4"/>
          <p:cNvSpPr>
            <a:spLocks noGrp="1"/>
          </p:cNvSpPr>
          <p:nvPr>
            <p:ph type="title"/>
          </p:nvPr>
        </p:nvSpPr>
        <p:spPr/>
        <p:txBody>
          <a:bodyPr/>
          <a:lstStyle/>
          <a:p>
            <a:r>
              <a:rPr lang="en-US" altLang="en-US" smtClean="0"/>
              <a:t>Job Search </a:t>
            </a:r>
          </a:p>
        </p:txBody>
      </p:sp>
      <p:sp>
        <p:nvSpPr>
          <p:cNvPr id="52227" name="Content Placeholder 5"/>
          <p:cNvSpPr>
            <a:spLocks noGrp="1"/>
          </p:cNvSpPr>
          <p:nvPr>
            <p:ph idx="1"/>
          </p:nvPr>
        </p:nvSpPr>
        <p:spPr>
          <a:xfrm>
            <a:off x="381000" y="1143000"/>
            <a:ext cx="8534400" cy="5257800"/>
          </a:xfrm>
        </p:spPr>
        <p:txBody>
          <a:bodyPr/>
          <a:lstStyle/>
          <a:p>
            <a:r>
              <a:rPr lang="en-US" altLang="en-US" dirty="0" smtClean="0"/>
              <a:t>Wage differences </a:t>
            </a:r>
          </a:p>
          <a:p>
            <a:pPr lvl="1"/>
            <a:r>
              <a:rPr lang="en-US" altLang="en-US" dirty="0" smtClean="0"/>
              <a:t>From differences in the success that workers have in finding good job matches</a:t>
            </a:r>
          </a:p>
          <a:p>
            <a:r>
              <a:rPr lang="en-US" altLang="en-US" dirty="0" smtClean="0"/>
              <a:t>Job search process</a:t>
            </a:r>
          </a:p>
          <a:p>
            <a:pPr lvl="1"/>
            <a:r>
              <a:rPr lang="en-US" altLang="en-US" dirty="0" smtClean="0"/>
              <a:t>Involves uncertainty</a:t>
            </a:r>
          </a:p>
          <a:p>
            <a:pPr lvl="1"/>
            <a:r>
              <a:rPr lang="en-US" altLang="en-US" dirty="0" smtClean="0"/>
              <a:t>Workers new to the labor force</a:t>
            </a:r>
          </a:p>
          <a:p>
            <a:pPr lvl="2"/>
            <a:r>
              <a:rPr lang="en-US" altLang="en-US" dirty="0" smtClean="0"/>
              <a:t>Little idea of how to find work</a:t>
            </a:r>
          </a:p>
          <a:p>
            <a:pPr lvl="1"/>
            <a:r>
              <a:rPr lang="en-US" altLang="en-US" dirty="0" smtClean="0"/>
              <a:t>Workers who have been laid off from jobs </a:t>
            </a:r>
          </a:p>
          <a:p>
            <a:pPr lvl="2"/>
            <a:r>
              <a:rPr lang="en-US" altLang="en-US" dirty="0" smtClean="0"/>
              <a:t>Lose the returns to the specific human capital </a:t>
            </a:r>
          </a:p>
        </p:txBody>
      </p:sp>
      <p:sp>
        <p:nvSpPr>
          <p:cNvPr id="52229"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p:txBody>
          <a:bodyPr/>
          <a:lstStyle/>
          <a:p>
            <a:pPr>
              <a:defRPr/>
            </a:pPr>
            <a:fld id="{40BADC9D-11F3-4FB1-B60C-2029BE22827B}" type="slidenum">
              <a:rPr lang="en-US" smtClean="0"/>
              <a:pPr>
                <a:defRPr/>
              </a:pPr>
              <a:t>41</a:t>
            </a:fld>
            <a:endParaRPr lang="en-US"/>
          </a:p>
        </p:txBody>
      </p:sp>
    </p:spTree>
    <p:extLst>
      <p:ext uri="{BB962C8B-B14F-4D97-AF65-F5344CB8AC3E}">
        <p14:creationId xmlns:p14="http://schemas.microsoft.com/office/powerpoint/2010/main" val="8942169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4"/>
          <p:cNvSpPr>
            <a:spLocks noGrp="1"/>
          </p:cNvSpPr>
          <p:nvPr>
            <p:ph type="title"/>
          </p:nvPr>
        </p:nvSpPr>
        <p:spPr/>
        <p:txBody>
          <a:bodyPr/>
          <a:lstStyle/>
          <a:p>
            <a:r>
              <a:rPr lang="en-US" altLang="en-US" smtClean="0"/>
              <a:t>Job Search </a:t>
            </a:r>
          </a:p>
        </p:txBody>
      </p:sp>
      <p:sp>
        <p:nvSpPr>
          <p:cNvPr id="53251" name="Content Placeholder 5"/>
          <p:cNvSpPr>
            <a:spLocks noGrp="1"/>
          </p:cNvSpPr>
          <p:nvPr>
            <p:ph idx="1"/>
          </p:nvPr>
        </p:nvSpPr>
        <p:spPr>
          <a:xfrm>
            <a:off x="381000" y="1066800"/>
            <a:ext cx="8534400" cy="5334000"/>
          </a:xfrm>
        </p:spPr>
        <p:txBody>
          <a:bodyPr/>
          <a:lstStyle/>
          <a:p>
            <a:r>
              <a:rPr lang="en-US" altLang="en-US" dirty="0" smtClean="0"/>
              <a:t>Job seeker strategy</a:t>
            </a:r>
          </a:p>
          <a:p>
            <a:pPr lvl="1"/>
            <a:r>
              <a:rPr lang="en-US" altLang="en-US" dirty="0" smtClean="0"/>
              <a:t>Choose the number of employer contacts (n) </a:t>
            </a:r>
          </a:p>
          <a:p>
            <a:pPr lvl="2"/>
            <a:r>
              <a:rPr lang="en-US" altLang="en-US" dirty="0" smtClean="0"/>
              <a:t>For which the marginal benefit of further searching = the marginal cost of the additional contact (c) </a:t>
            </a:r>
          </a:p>
          <a:p>
            <a:pPr lvl="1"/>
            <a:r>
              <a:rPr lang="en-US" altLang="en-US" dirty="0" smtClean="0"/>
              <a:t>Set a ‘‘reservation wage’’ and take the first job that offered this wage</a:t>
            </a:r>
          </a:p>
        </p:txBody>
      </p:sp>
      <p:sp>
        <p:nvSpPr>
          <p:cNvPr id="53253"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p:txBody>
          <a:bodyPr/>
          <a:lstStyle/>
          <a:p>
            <a:pPr>
              <a:defRPr/>
            </a:pPr>
            <a:fld id="{2D6ADCF5-BF18-46F0-8C66-5C6B165F456B}" type="slidenum">
              <a:rPr lang="en-US" smtClean="0"/>
              <a:pPr>
                <a:defRPr/>
              </a:pPr>
              <a:t>42</a:t>
            </a:fld>
            <a:endParaRPr lang="en-US"/>
          </a:p>
        </p:txBody>
      </p:sp>
    </p:spTree>
    <p:extLst>
      <p:ext uri="{BB962C8B-B14F-4D97-AF65-F5344CB8AC3E}">
        <p14:creationId xmlns:p14="http://schemas.microsoft.com/office/powerpoint/2010/main" val="265852575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4"/>
          <p:cNvSpPr>
            <a:spLocks noGrp="1"/>
          </p:cNvSpPr>
          <p:nvPr>
            <p:ph type="title"/>
          </p:nvPr>
        </p:nvSpPr>
        <p:spPr/>
        <p:txBody>
          <a:bodyPr/>
          <a:lstStyle/>
          <a:p>
            <a:r>
              <a:rPr lang="en-US" altLang="en-US" smtClean="0"/>
              <a:t>Job Search </a:t>
            </a:r>
          </a:p>
        </p:txBody>
      </p:sp>
      <p:sp>
        <p:nvSpPr>
          <p:cNvPr id="10244" name="Content Placeholder 5"/>
          <p:cNvSpPr>
            <a:spLocks noGrp="1"/>
          </p:cNvSpPr>
          <p:nvPr>
            <p:ph idx="1"/>
          </p:nvPr>
        </p:nvSpPr>
        <p:spPr/>
        <p:txBody>
          <a:bodyPr/>
          <a:lstStyle/>
          <a:p>
            <a:r>
              <a:rPr lang="en-US" altLang="en-US" smtClean="0"/>
              <a:t>Optimal reservation wage (w</a:t>
            </a:r>
            <a:r>
              <a:rPr lang="en-US" altLang="en-US" baseline="-25000" smtClean="0"/>
              <a:t>r</a:t>
            </a:r>
            <a:r>
              <a:rPr lang="en-US" altLang="en-US" smtClean="0"/>
              <a:t>) </a:t>
            </a:r>
          </a:p>
          <a:p>
            <a:pPr lvl="1"/>
            <a:r>
              <a:rPr lang="en-US" altLang="en-US" smtClean="0"/>
              <a:t>Expected gain from one more employer contact = the cost of that contact</a:t>
            </a:r>
          </a:p>
          <a:p>
            <a:pPr lvl="1"/>
            <a:endParaRPr lang="en-US" altLang="en-US" smtClean="0"/>
          </a:p>
        </p:txBody>
      </p:sp>
      <p:sp>
        <p:nvSpPr>
          <p:cNvPr id="10246"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p:txBody>
          <a:bodyPr/>
          <a:lstStyle/>
          <a:p>
            <a:pPr>
              <a:defRPr/>
            </a:pPr>
            <a:fld id="{191B4CB7-839F-4F5E-B5F0-B46D1BF8B069}" type="slidenum">
              <a:rPr lang="en-US" smtClean="0"/>
              <a:pPr>
                <a:defRPr/>
              </a:pPr>
              <a:t>43</a:t>
            </a:fld>
            <a:endParaRPr lang="en-US"/>
          </a:p>
        </p:txBody>
      </p:sp>
      <p:graphicFrame>
        <p:nvGraphicFramePr>
          <p:cNvPr id="7" name="Object 2"/>
          <p:cNvGraphicFramePr>
            <a:graphicFrameLocks noChangeAspect="1"/>
          </p:cNvGraphicFramePr>
          <p:nvPr>
            <p:extLst>
              <p:ext uri="{D42A27DB-BD31-4B8C-83A1-F6EECF244321}">
                <p14:modId xmlns:p14="http://schemas.microsoft.com/office/powerpoint/2010/main" val="2953994082"/>
              </p:ext>
            </p:extLst>
          </p:nvPr>
        </p:nvGraphicFramePr>
        <p:xfrm>
          <a:off x="1926574" y="2811462"/>
          <a:ext cx="4390090" cy="1531937"/>
        </p:xfrm>
        <a:graphic>
          <a:graphicData uri="http://schemas.openxmlformats.org/presentationml/2006/ole">
            <mc:AlternateContent xmlns:mc="http://schemas.openxmlformats.org/markup-compatibility/2006">
              <mc:Choice xmlns:v="urn:schemas-microsoft-com:vml" Requires="v">
                <p:oleObj spid="_x0000_s352272" name="Equation" r:id="rId3" imgW="1384200" imgH="482400" progId="Equation.DSMT4">
                  <p:embed/>
                </p:oleObj>
              </mc:Choice>
              <mc:Fallback>
                <p:oleObj name="Equation" r:id="rId3" imgW="138420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6574" y="2811462"/>
                        <a:ext cx="4390090" cy="15319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59728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nSpc>
                <a:spcPct val="90000"/>
              </a:lnSpc>
            </a:pPr>
            <a:r>
              <a:rPr lang="en-US" altLang="en-US" smtClean="0"/>
              <a:t>Monopsony in the Labor Market</a:t>
            </a:r>
          </a:p>
        </p:txBody>
      </p:sp>
      <p:sp>
        <p:nvSpPr>
          <p:cNvPr id="54275" name="Rectangle 3"/>
          <p:cNvSpPr>
            <a:spLocks noGrp="1" noChangeArrowheads="1"/>
          </p:cNvSpPr>
          <p:nvPr>
            <p:ph idx="1"/>
          </p:nvPr>
        </p:nvSpPr>
        <p:spPr/>
        <p:txBody>
          <a:bodyPr/>
          <a:lstStyle/>
          <a:p>
            <a:r>
              <a:rPr lang="en-US" altLang="en-US" smtClean="0"/>
              <a:t>Monopsony in the labor market</a:t>
            </a:r>
          </a:p>
          <a:p>
            <a:pPr lvl="1"/>
            <a:r>
              <a:rPr lang="en-US" altLang="en-US" smtClean="0"/>
              <a:t>Only one buyer of labor</a:t>
            </a:r>
          </a:p>
          <a:p>
            <a:pPr lvl="1"/>
            <a:r>
              <a:rPr lang="en-US" altLang="en-US" smtClean="0"/>
              <a:t>Firm faces the entire market supply curve</a:t>
            </a:r>
          </a:p>
          <a:p>
            <a:pPr lvl="1"/>
            <a:r>
              <a:rPr lang="en-US" altLang="en-US" smtClean="0"/>
              <a:t>To increase its hiring of labor, the firm must pay a higher wage</a:t>
            </a:r>
          </a:p>
          <a:p>
            <a:pPr lvl="2"/>
            <a:r>
              <a:rPr lang="en-US" altLang="en-US" smtClean="0"/>
              <a:t>Not only to the ‘‘marginal worker’’ </a:t>
            </a:r>
          </a:p>
          <a:p>
            <a:pPr lvl="2"/>
            <a:r>
              <a:rPr lang="en-US" altLang="en-US" smtClean="0"/>
              <a:t>But also additional wages to those workers already employed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4D6B19F-8A85-4579-8D21-EC0772C5F1DD}" type="slidenum">
              <a:rPr lang="en-US" smtClean="0"/>
              <a:pPr>
                <a:defRPr/>
              </a:pPr>
              <a:t>44</a:t>
            </a:fld>
            <a:endParaRPr lang="en-US"/>
          </a:p>
        </p:txBody>
      </p:sp>
    </p:spTree>
    <p:extLst>
      <p:ext uri="{BB962C8B-B14F-4D97-AF65-F5344CB8AC3E}">
        <p14:creationId xmlns:p14="http://schemas.microsoft.com/office/powerpoint/2010/main" val="21647867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a:lnSpc>
                <a:spcPct val="90000"/>
              </a:lnSpc>
            </a:pPr>
            <a:r>
              <a:rPr lang="en-US" altLang="en-US" smtClean="0"/>
              <a:t>Monopsony in the Labor Market</a:t>
            </a:r>
          </a:p>
        </p:txBody>
      </p:sp>
      <p:sp>
        <p:nvSpPr>
          <p:cNvPr id="11268" name="Rectangle 3"/>
          <p:cNvSpPr>
            <a:spLocks noGrp="1" noChangeArrowheads="1"/>
          </p:cNvSpPr>
          <p:nvPr>
            <p:ph idx="1"/>
          </p:nvPr>
        </p:nvSpPr>
        <p:spPr/>
        <p:txBody>
          <a:bodyPr/>
          <a:lstStyle/>
          <a:p>
            <a:pPr>
              <a:lnSpc>
                <a:spcPct val="90000"/>
              </a:lnSpc>
            </a:pPr>
            <a:r>
              <a:rPr lang="en-US" altLang="en-US" smtClean="0"/>
              <a:t>Monopsony in the labor market</a:t>
            </a:r>
          </a:p>
          <a:p>
            <a:pPr lvl="1">
              <a:lnSpc>
                <a:spcPct val="90000"/>
              </a:lnSpc>
            </a:pPr>
            <a:r>
              <a:rPr lang="en-US" altLang="en-US" smtClean="0"/>
              <a:t>The marginal expense (</a:t>
            </a:r>
            <a:r>
              <a:rPr lang="en-US" altLang="en-US" i="1" smtClean="0"/>
              <a:t>ME</a:t>
            </a:r>
            <a:r>
              <a:rPr lang="en-US" altLang="en-US" i="1" baseline="-25000" smtClean="0">
                <a:latin typeface="Times New Roman" pitchFamily="18" charset="0"/>
                <a:cs typeface="Times New Roman" pitchFamily="18" charset="0"/>
              </a:rPr>
              <a:t>l</a:t>
            </a:r>
            <a:r>
              <a:rPr lang="en-US" altLang="en-US" smtClean="0"/>
              <a:t>) of hiring an extra unit of labor exceeds its wage rate</a:t>
            </a:r>
          </a:p>
          <a:p>
            <a:pPr lvl="1">
              <a:lnSpc>
                <a:spcPct val="90000"/>
              </a:lnSpc>
            </a:pPr>
            <a:r>
              <a:rPr lang="en-US" altLang="en-US" smtClean="0"/>
              <a:t>If the total cost of labor is </a:t>
            </a:r>
            <a:r>
              <a:rPr lang="en-US" altLang="en-US" i="1" smtClean="0"/>
              <a:t>w</a:t>
            </a:r>
            <a:r>
              <a:rPr lang="en-US" altLang="en-US" i="1" smtClean="0">
                <a:latin typeface="Times New Roman" pitchFamily="18" charset="0"/>
              </a:rPr>
              <a:t>l</a:t>
            </a:r>
            <a:r>
              <a:rPr lang="en-US" altLang="en-US" smtClean="0"/>
              <a:t>, then</a:t>
            </a:r>
            <a:endParaRPr lang="en-US" altLang="en-US" i="1"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744BB6C-EEF7-45D5-AD22-12F4527992E7}" type="slidenum">
              <a:rPr lang="en-US" smtClean="0"/>
              <a:pPr>
                <a:defRPr/>
              </a:pPr>
              <a:t>45</a:t>
            </a:fld>
            <a:endParaRPr lang="en-US"/>
          </a:p>
        </p:txBody>
      </p:sp>
      <p:sp>
        <p:nvSpPr>
          <p:cNvPr id="2" name="Text Placeholder 1"/>
          <p:cNvSpPr>
            <a:spLocks noGrp="1"/>
          </p:cNvSpPr>
          <p:nvPr>
            <p:ph type="body" sz="quarter" idx="12"/>
          </p:nvPr>
        </p:nvSpPr>
        <p:spPr>
          <a:xfrm>
            <a:off x="381000" y="4267200"/>
            <a:ext cx="8763000" cy="2133600"/>
          </a:xfrm>
        </p:spPr>
        <p:txBody>
          <a:bodyPr>
            <a:normAutofit/>
          </a:bodyPr>
          <a:lstStyle/>
          <a:p>
            <a:pPr lvl="1" eaLnBrk="0" hangingPunct="0">
              <a:lnSpc>
                <a:spcPct val="90000"/>
              </a:lnSpc>
              <a:buSzPct val="90000"/>
              <a:defRPr/>
            </a:pPr>
            <a:r>
              <a:rPr lang="en-US" kern="0" dirty="0"/>
              <a:t>In the competitive </a:t>
            </a:r>
            <a:r>
              <a:rPr lang="en-US" kern="0" dirty="0" smtClean="0"/>
              <a:t>case: </a:t>
            </a:r>
            <a:r>
              <a:rPr lang="en-US" kern="0" dirty="0">
                <a:sym typeface="Symbol" pitchFamily="18" charset="2"/>
              </a:rPr>
              <a:t></a:t>
            </a:r>
            <a:r>
              <a:rPr lang="en-US" i="1" kern="0" dirty="0">
                <a:sym typeface="Symbol" pitchFamily="18" charset="2"/>
              </a:rPr>
              <a:t>w</a:t>
            </a:r>
            <a:r>
              <a:rPr lang="en-US" kern="0" dirty="0">
                <a:sym typeface="Symbol" pitchFamily="18" charset="2"/>
              </a:rPr>
              <a:t>/</a:t>
            </a:r>
            <a:r>
              <a:rPr lang="en-US" i="1" kern="0" dirty="0">
                <a:latin typeface="Times New Roman" pitchFamily="18" charset="0"/>
                <a:sym typeface="Symbol" pitchFamily="18" charset="2"/>
              </a:rPr>
              <a:t>l</a:t>
            </a:r>
            <a:r>
              <a:rPr lang="en-US" kern="0" dirty="0">
                <a:sym typeface="Symbol" pitchFamily="18" charset="2"/>
              </a:rPr>
              <a:t> = 0 and </a:t>
            </a:r>
            <a:r>
              <a:rPr lang="en-US" i="1" kern="0" dirty="0" err="1">
                <a:sym typeface="Symbol" pitchFamily="18" charset="2"/>
              </a:rPr>
              <a:t>ME</a:t>
            </a:r>
            <a:r>
              <a:rPr lang="en-US" i="1" kern="0" baseline="-25000" dirty="0" err="1">
                <a:latin typeface="Times New Roman" pitchFamily="18" charset="0"/>
                <a:sym typeface="Symbol" pitchFamily="18" charset="2"/>
              </a:rPr>
              <a:t>l</a:t>
            </a:r>
            <a:r>
              <a:rPr lang="en-US" kern="0" dirty="0">
                <a:sym typeface="Symbol" pitchFamily="18" charset="2"/>
              </a:rPr>
              <a:t> = </a:t>
            </a:r>
            <a:r>
              <a:rPr lang="en-US" i="1" kern="0" dirty="0">
                <a:sym typeface="Symbol" pitchFamily="18" charset="2"/>
              </a:rPr>
              <a:t>w </a:t>
            </a:r>
          </a:p>
          <a:p>
            <a:pPr lvl="1" eaLnBrk="0" hangingPunct="0">
              <a:lnSpc>
                <a:spcPct val="90000"/>
              </a:lnSpc>
              <a:buSzPct val="90000"/>
              <a:defRPr/>
            </a:pPr>
            <a:r>
              <a:rPr lang="en-US" kern="0" dirty="0">
                <a:sym typeface="Symbol" pitchFamily="18" charset="2"/>
              </a:rPr>
              <a:t>If </a:t>
            </a:r>
            <a:r>
              <a:rPr lang="en-US" i="1" kern="0" dirty="0">
                <a:sym typeface="Symbol" pitchFamily="18" charset="2"/>
              </a:rPr>
              <a:t>w</a:t>
            </a:r>
            <a:r>
              <a:rPr lang="en-US" kern="0" dirty="0">
                <a:sym typeface="Symbol" pitchFamily="18" charset="2"/>
              </a:rPr>
              <a:t>/</a:t>
            </a:r>
            <a:r>
              <a:rPr lang="en-US" i="1" kern="0" dirty="0">
                <a:latin typeface="Times New Roman" pitchFamily="18" charset="0"/>
                <a:sym typeface="Symbol" pitchFamily="18" charset="2"/>
              </a:rPr>
              <a:t>l</a:t>
            </a:r>
            <a:r>
              <a:rPr lang="en-US" kern="0" dirty="0">
                <a:sym typeface="Symbol" pitchFamily="18" charset="2"/>
              </a:rPr>
              <a:t> &gt; 0, </a:t>
            </a:r>
            <a:r>
              <a:rPr lang="en-US" i="1" kern="0" dirty="0" err="1">
                <a:sym typeface="Symbol" pitchFamily="18" charset="2"/>
              </a:rPr>
              <a:t>ME</a:t>
            </a:r>
            <a:r>
              <a:rPr lang="en-US" i="1" kern="0" baseline="-25000" dirty="0" err="1">
                <a:latin typeface="Times New Roman" pitchFamily="18" charset="0"/>
                <a:sym typeface="Symbol" pitchFamily="18" charset="2"/>
              </a:rPr>
              <a:t>l</a:t>
            </a:r>
            <a:r>
              <a:rPr lang="en-US" i="1" kern="0" baseline="-25000" dirty="0">
                <a:latin typeface="Times New Roman" pitchFamily="18" charset="0"/>
                <a:sym typeface="Symbol" pitchFamily="18" charset="2"/>
              </a:rPr>
              <a:t>  </a:t>
            </a:r>
            <a:r>
              <a:rPr lang="en-US" kern="0" dirty="0">
                <a:sym typeface="Symbol" pitchFamily="18" charset="2"/>
              </a:rPr>
              <a:t>&gt; </a:t>
            </a:r>
            <a:r>
              <a:rPr lang="en-US" i="1" kern="0" dirty="0" smtClean="0">
                <a:sym typeface="Symbol" pitchFamily="18" charset="2"/>
              </a:rPr>
              <a:t>w</a:t>
            </a:r>
            <a:endParaRPr lang="en-US" i="1" kern="0" dirty="0">
              <a:sym typeface="Symbol" pitchFamily="18" charset="2"/>
            </a:endParaRPr>
          </a:p>
        </p:txBody>
      </p:sp>
      <p:graphicFrame>
        <p:nvGraphicFramePr>
          <p:cNvPr id="46082" name="Object 2"/>
          <p:cNvGraphicFramePr>
            <a:graphicFrameLocks noChangeAspect="1"/>
          </p:cNvGraphicFramePr>
          <p:nvPr/>
        </p:nvGraphicFramePr>
        <p:xfrm>
          <a:off x="2755900" y="3149600"/>
          <a:ext cx="3632200" cy="1042988"/>
        </p:xfrm>
        <a:graphic>
          <a:graphicData uri="http://schemas.openxmlformats.org/presentationml/2006/ole">
            <mc:AlternateContent xmlns:mc="http://schemas.openxmlformats.org/markup-compatibility/2006">
              <mc:Choice xmlns:v="urn:schemas-microsoft-com:vml" Requires="v">
                <p:oleObj spid="_x0000_s353296" name="Equation" r:id="rId3" imgW="1371600" imgH="393480" progId="Equation.DSMT4">
                  <p:embed/>
                </p:oleObj>
              </mc:Choice>
              <mc:Fallback>
                <p:oleObj name="Equation" r:id="rId3" imgW="137160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5900" y="3149600"/>
                        <a:ext cx="3632200"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6059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500"/>
                                        <p:tgtEl>
                                          <p:spTgt spid="4608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nSpc>
                <a:spcPct val="90000"/>
              </a:lnSpc>
            </a:pPr>
            <a:r>
              <a:rPr lang="en-US" altLang="en-US" smtClean="0"/>
              <a:t>Monopsony in the Labor Market</a:t>
            </a:r>
          </a:p>
        </p:txBody>
      </p:sp>
      <p:sp>
        <p:nvSpPr>
          <p:cNvPr id="55299" name="Rectangle 3"/>
          <p:cNvSpPr>
            <a:spLocks noGrp="1" noChangeArrowheads="1"/>
          </p:cNvSpPr>
          <p:nvPr>
            <p:ph idx="1"/>
          </p:nvPr>
        </p:nvSpPr>
        <p:spPr/>
        <p:txBody>
          <a:bodyPr/>
          <a:lstStyle/>
          <a:p>
            <a:r>
              <a:rPr lang="en-US" altLang="en-US" dirty="0"/>
              <a:t>Marginal input </a:t>
            </a:r>
            <a:r>
              <a:rPr lang="en-US" altLang="en-US" dirty="0" smtClean="0"/>
              <a:t>expense</a:t>
            </a:r>
          </a:p>
          <a:p>
            <a:pPr lvl="1"/>
            <a:r>
              <a:rPr lang="en-US" altLang="en-US" dirty="0" smtClean="0"/>
              <a:t>The </a:t>
            </a:r>
            <a:r>
              <a:rPr lang="en-US" altLang="en-US" dirty="0"/>
              <a:t>marginal expense (ME) associated with any input </a:t>
            </a:r>
            <a:endParaRPr lang="en-US" altLang="en-US" dirty="0" smtClean="0"/>
          </a:p>
          <a:p>
            <a:pPr lvl="1"/>
            <a:r>
              <a:rPr lang="en-US" altLang="en-US" dirty="0" smtClean="0"/>
              <a:t>Is </a:t>
            </a:r>
            <a:r>
              <a:rPr lang="en-US" altLang="en-US" dirty="0"/>
              <a:t>the increase </a:t>
            </a:r>
            <a:r>
              <a:rPr lang="en-US" altLang="en-US" dirty="0" smtClean="0"/>
              <a:t>in total </a:t>
            </a:r>
            <a:r>
              <a:rPr lang="en-US" altLang="en-US" dirty="0"/>
              <a:t>costs of the input that results from hiring one more </a:t>
            </a:r>
            <a:r>
              <a:rPr lang="en-US" altLang="en-US" dirty="0" smtClean="0"/>
              <a:t>unit </a:t>
            </a:r>
          </a:p>
          <a:p>
            <a:pPr lvl="1"/>
            <a:r>
              <a:rPr lang="en-US" altLang="en-US" dirty="0" smtClean="0"/>
              <a:t>If </a:t>
            </a:r>
            <a:r>
              <a:rPr lang="en-US" altLang="en-US" dirty="0"/>
              <a:t>the firm faces an </a:t>
            </a:r>
            <a:r>
              <a:rPr lang="en-US" altLang="en-US" dirty="0" smtClean="0"/>
              <a:t>upward-sloping supply </a:t>
            </a:r>
            <a:r>
              <a:rPr lang="en-US" altLang="en-US" dirty="0"/>
              <a:t>curve for the </a:t>
            </a:r>
            <a:r>
              <a:rPr lang="en-US" altLang="en-US" dirty="0" smtClean="0"/>
              <a:t>input</a:t>
            </a:r>
          </a:p>
          <a:p>
            <a:pPr lvl="2"/>
            <a:r>
              <a:rPr lang="en-US" altLang="en-US" dirty="0" smtClean="0"/>
              <a:t>The </a:t>
            </a:r>
            <a:r>
              <a:rPr lang="en-US" altLang="en-US" dirty="0"/>
              <a:t>marginal expense will exceed the market price of the </a:t>
            </a:r>
            <a:r>
              <a:rPr lang="en-US" altLang="en-US" dirty="0" smtClean="0"/>
              <a:t>input</a:t>
            </a:r>
            <a:endParaRPr lang="en-US" altLang="en-US" dirty="0" smtClean="0"/>
          </a:p>
          <a:p>
            <a:pPr>
              <a:lnSpc>
                <a:spcPct val="90000"/>
              </a:lnSpc>
            </a:pP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8D19FB4-21E0-4831-88C5-5DC2D3A0860F}" type="slidenum">
              <a:rPr lang="en-US" smtClean="0"/>
              <a:pPr>
                <a:defRPr/>
              </a:pPr>
              <a:t>46</a:t>
            </a:fld>
            <a:endParaRPr lang="en-US"/>
          </a:p>
        </p:txBody>
      </p:sp>
    </p:spTree>
    <p:extLst>
      <p:ext uri="{BB962C8B-B14F-4D97-AF65-F5344CB8AC3E}">
        <p14:creationId xmlns:p14="http://schemas.microsoft.com/office/powerpoint/2010/main" val="353702792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nSpc>
                <a:spcPct val="90000"/>
              </a:lnSpc>
            </a:pPr>
            <a:r>
              <a:rPr lang="en-US" altLang="en-US" smtClean="0"/>
              <a:t>Monopsony in the Labor Market</a:t>
            </a:r>
          </a:p>
        </p:txBody>
      </p:sp>
      <p:sp>
        <p:nvSpPr>
          <p:cNvPr id="55299" name="Rectangle 3"/>
          <p:cNvSpPr>
            <a:spLocks noGrp="1" noChangeArrowheads="1"/>
          </p:cNvSpPr>
          <p:nvPr>
            <p:ph idx="1"/>
          </p:nvPr>
        </p:nvSpPr>
        <p:spPr/>
        <p:txBody>
          <a:bodyPr/>
          <a:lstStyle/>
          <a:p>
            <a:r>
              <a:rPr lang="en-US" altLang="en-US" smtClean="0"/>
              <a:t>A profit-maximizing firm </a:t>
            </a:r>
          </a:p>
          <a:p>
            <a:pPr lvl="1"/>
            <a:r>
              <a:rPr lang="en-US" altLang="en-US" smtClean="0"/>
              <a:t>Hire any input up to the point: </a:t>
            </a:r>
            <a:r>
              <a:rPr lang="en-US" altLang="en-US" i="1" smtClean="0"/>
              <a:t>MRP</a:t>
            </a:r>
            <a:r>
              <a:rPr lang="en-US" altLang="en-US" i="1" baseline="-25000" smtClean="0">
                <a:latin typeface="Times New Roman" pitchFamily="18" charset="0"/>
                <a:cs typeface="Times New Roman" pitchFamily="18" charset="0"/>
              </a:rPr>
              <a:t>l</a:t>
            </a:r>
            <a:r>
              <a:rPr lang="en-US" altLang="en-US" i="1" smtClean="0"/>
              <a:t> = ME</a:t>
            </a:r>
            <a:r>
              <a:rPr lang="en-US" altLang="en-US" i="1" baseline="-25000" smtClean="0">
                <a:latin typeface="Times New Roman" pitchFamily="18" charset="0"/>
                <a:cs typeface="Times New Roman" pitchFamily="18" charset="0"/>
              </a:rPr>
              <a:t>l</a:t>
            </a:r>
          </a:p>
          <a:p>
            <a:pPr lvl="1"/>
            <a:r>
              <a:rPr lang="en-US" altLang="en-US" smtClean="0"/>
              <a:t>If </a:t>
            </a:r>
            <a:r>
              <a:rPr lang="en-US" altLang="en-US" i="1" smtClean="0"/>
              <a:t>MRP</a:t>
            </a:r>
            <a:r>
              <a:rPr lang="en-US" altLang="en-US" i="1" baseline="-25000" smtClean="0">
                <a:latin typeface="Times New Roman" pitchFamily="18" charset="0"/>
                <a:cs typeface="Times New Roman" pitchFamily="18" charset="0"/>
              </a:rPr>
              <a:t>l</a:t>
            </a:r>
            <a:r>
              <a:rPr lang="en-US" altLang="en-US" i="1" smtClean="0"/>
              <a:t> &gt; ME</a:t>
            </a:r>
            <a:r>
              <a:rPr lang="en-US" altLang="en-US" i="1" baseline="-25000" smtClean="0">
                <a:latin typeface="Times New Roman" pitchFamily="18" charset="0"/>
                <a:cs typeface="Times New Roman" pitchFamily="18" charset="0"/>
              </a:rPr>
              <a:t>l  </a:t>
            </a:r>
          </a:p>
          <a:p>
            <a:pPr lvl="2"/>
            <a:r>
              <a:rPr lang="en-US" altLang="en-US" smtClean="0"/>
              <a:t>Hire more workers - increase revenues more than costs</a:t>
            </a:r>
          </a:p>
          <a:p>
            <a:pPr lvl="1"/>
            <a:r>
              <a:rPr lang="en-US" altLang="en-US" smtClean="0"/>
              <a:t>If </a:t>
            </a:r>
            <a:r>
              <a:rPr lang="en-US" altLang="en-US" i="1" smtClean="0"/>
              <a:t>MRP</a:t>
            </a:r>
            <a:r>
              <a:rPr lang="en-US" altLang="en-US" i="1" baseline="-25000" smtClean="0">
                <a:latin typeface="Times New Roman" pitchFamily="18" charset="0"/>
                <a:cs typeface="Times New Roman" pitchFamily="18" charset="0"/>
              </a:rPr>
              <a:t>l</a:t>
            </a:r>
            <a:r>
              <a:rPr lang="en-US" altLang="en-US" i="1" smtClean="0"/>
              <a:t> &lt; ME</a:t>
            </a:r>
            <a:r>
              <a:rPr lang="en-US" altLang="en-US" i="1" baseline="-25000" smtClean="0">
                <a:latin typeface="Times New Roman" pitchFamily="18" charset="0"/>
                <a:cs typeface="Times New Roman" pitchFamily="18" charset="0"/>
              </a:rPr>
              <a:t>l  </a:t>
            </a:r>
          </a:p>
          <a:p>
            <a:pPr lvl="2"/>
            <a:r>
              <a:rPr lang="en-US" altLang="en-US" smtClean="0"/>
              <a:t>Reduce employment – lower costs more rapidly than revenues</a:t>
            </a:r>
            <a:endParaRPr lang="en-US" altLang="en-US" smtClean="0">
              <a:sym typeface="Symbol" pitchFamily="18" charset="2"/>
            </a:endParaRPr>
          </a:p>
          <a:p>
            <a:pPr>
              <a:lnSpc>
                <a:spcPct val="90000"/>
              </a:lnSpc>
            </a:pPr>
            <a:endParaRPr lang="en-US" altLang="en-US" smtClean="0"/>
          </a:p>
          <a:p>
            <a:pPr>
              <a:lnSpc>
                <a:spcPct val="90000"/>
              </a:lnSpc>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8D19FB4-21E0-4831-88C5-5DC2D3A0860F}" type="slidenum">
              <a:rPr lang="en-US" smtClean="0"/>
              <a:pPr>
                <a:defRPr/>
              </a:pPr>
              <a:t>47</a:t>
            </a:fld>
            <a:endParaRPr lang="en-US"/>
          </a:p>
        </p:txBody>
      </p:sp>
    </p:spTree>
    <p:extLst>
      <p:ext uri="{BB962C8B-B14F-4D97-AF65-F5344CB8AC3E}">
        <p14:creationId xmlns:p14="http://schemas.microsoft.com/office/powerpoint/2010/main" val="8760091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16.4	Pricing in a </a:t>
            </a:r>
            <a:r>
              <a:rPr lang="en-US" altLang="en-US" dirty="0" err="1"/>
              <a:t>Monopsonistic</a:t>
            </a:r>
            <a:r>
              <a:rPr lang="en-US" altLang="en-US" dirty="0"/>
              <a:t> Labor </a:t>
            </a:r>
            <a:r>
              <a:rPr lang="en-US" altLang="en-US" dirty="0" smtClean="0"/>
              <a:t>Market</a:t>
            </a:r>
            <a:endParaRPr lang="en-US" altLang="en-US" dirty="0" smtClean="0"/>
          </a:p>
        </p:txBody>
      </p:sp>
      <p:sp>
        <p:nvSpPr>
          <p:cNvPr id="56323" name="Text Placeholder 2"/>
          <p:cNvSpPr>
            <a:spLocks noGrp="1"/>
          </p:cNvSpPr>
          <p:nvPr>
            <p:ph sz="half" idx="1"/>
          </p:nvPr>
        </p:nvSpPr>
        <p:spPr>
          <a:xfrm>
            <a:off x="5562599" y="1074738"/>
            <a:ext cx="3200401" cy="5051426"/>
          </a:xfrm>
        </p:spPr>
        <p:txBody>
          <a:bodyPr>
            <a:normAutofit/>
          </a:bodyPr>
          <a:lstStyle/>
          <a:p>
            <a:pPr>
              <a:spcBef>
                <a:spcPct val="0"/>
              </a:spcBef>
            </a:pPr>
            <a:r>
              <a:rPr lang="en-US" altLang="en-US" dirty="0"/>
              <a:t>If a firm faces a positively sloped supply curve for labor (</a:t>
            </a:r>
            <a:r>
              <a:rPr lang="en-US" altLang="en-US" i="1" dirty="0"/>
              <a:t>S</a:t>
            </a:r>
            <a:r>
              <a:rPr lang="en-US" altLang="en-US" dirty="0"/>
              <a:t>), it will base its decisions on the marginal expense of additional hiring (</a:t>
            </a:r>
            <a:r>
              <a:rPr lang="en-US" altLang="en-US" i="1" dirty="0" err="1"/>
              <a:t>ME</a:t>
            </a:r>
            <a:r>
              <a:rPr lang="en-US" altLang="en-US" i="1" baseline="-25000" dirty="0" err="1">
                <a:latin typeface="Times New Roman" pitchFamily="18" charset="0"/>
                <a:cs typeface="Times New Roman" pitchFamily="18" charset="0"/>
              </a:rPr>
              <a:t>l</a:t>
            </a:r>
            <a:r>
              <a:rPr lang="en-US" altLang="en-US" dirty="0"/>
              <a:t>). Because </a:t>
            </a:r>
            <a:r>
              <a:rPr lang="en-US" altLang="en-US" i="1" dirty="0"/>
              <a:t>S</a:t>
            </a:r>
            <a:r>
              <a:rPr lang="en-US" altLang="en-US" dirty="0"/>
              <a:t> is positively sloped, the </a:t>
            </a:r>
            <a:r>
              <a:rPr lang="en-US" altLang="en-US" i="1" dirty="0" err="1"/>
              <a:t>ME</a:t>
            </a:r>
            <a:r>
              <a:rPr lang="en-US" altLang="en-US" i="1" baseline="-25000" dirty="0" err="1">
                <a:latin typeface="Times New Roman" pitchFamily="18" charset="0"/>
                <a:cs typeface="Times New Roman" pitchFamily="18" charset="0"/>
              </a:rPr>
              <a:t>l</a:t>
            </a:r>
            <a:r>
              <a:rPr lang="en-US" altLang="en-US" dirty="0"/>
              <a:t> curve lies above </a:t>
            </a:r>
            <a:r>
              <a:rPr lang="en-US" altLang="en-US" i="1" dirty="0"/>
              <a:t>S</a:t>
            </a:r>
            <a:r>
              <a:rPr lang="en-US" altLang="en-US" dirty="0"/>
              <a:t>. The curve </a:t>
            </a:r>
            <a:r>
              <a:rPr lang="en-US" altLang="en-US" i="1" dirty="0"/>
              <a:t>S</a:t>
            </a:r>
            <a:r>
              <a:rPr lang="en-US" altLang="en-US" dirty="0"/>
              <a:t> can be thought of as an ‘‘average cost of labor curve,’’ and the </a:t>
            </a:r>
            <a:r>
              <a:rPr lang="en-US" altLang="en-US" i="1" dirty="0" err="1"/>
              <a:t>ME</a:t>
            </a:r>
            <a:r>
              <a:rPr lang="en-US" altLang="en-US" i="1" baseline="-25000" dirty="0" err="1">
                <a:latin typeface="Times New Roman" pitchFamily="18" charset="0"/>
                <a:cs typeface="Times New Roman" pitchFamily="18" charset="0"/>
              </a:rPr>
              <a:t>l</a:t>
            </a:r>
            <a:r>
              <a:rPr lang="en-US" altLang="en-US" dirty="0"/>
              <a:t> curve is marginal to </a:t>
            </a:r>
            <a:r>
              <a:rPr lang="en-US" altLang="en-US" i="1" dirty="0"/>
              <a:t>S</a:t>
            </a:r>
            <a:r>
              <a:rPr lang="en-US" altLang="en-US" dirty="0"/>
              <a:t>. At </a:t>
            </a:r>
            <a:r>
              <a:rPr lang="en-US" altLang="en-US" i="1" dirty="0">
                <a:latin typeface="Times New Roman" pitchFamily="18" charset="0"/>
                <a:cs typeface="Times New Roman" pitchFamily="18" charset="0"/>
              </a:rPr>
              <a:t>l</a:t>
            </a:r>
            <a:r>
              <a:rPr lang="en-US" altLang="en-US" i="1" baseline="-25000" dirty="0">
                <a:latin typeface="Times New Roman" pitchFamily="18" charset="0"/>
                <a:cs typeface="Times New Roman" pitchFamily="18" charset="0"/>
              </a:rPr>
              <a:t>1</a:t>
            </a:r>
            <a:r>
              <a:rPr lang="en-US" altLang="en-US" dirty="0"/>
              <a:t> the equilibrium condition </a:t>
            </a:r>
            <a:r>
              <a:rPr lang="en-US" altLang="en-US" i="1" dirty="0" err="1"/>
              <a:t>ME</a:t>
            </a:r>
            <a:r>
              <a:rPr lang="en-US" altLang="en-US" i="1" baseline="-25000" dirty="0" err="1">
                <a:latin typeface="Times New Roman" pitchFamily="18" charset="0"/>
                <a:cs typeface="Times New Roman" pitchFamily="18" charset="0"/>
              </a:rPr>
              <a:t>l</a:t>
            </a:r>
            <a:r>
              <a:rPr lang="en-US" altLang="en-US" i="1" dirty="0"/>
              <a:t> = </a:t>
            </a:r>
            <a:r>
              <a:rPr lang="en-US" altLang="en-US" i="1" dirty="0" err="1"/>
              <a:t>MRP</a:t>
            </a:r>
            <a:r>
              <a:rPr lang="en-US" altLang="en-US" i="1" baseline="-25000" dirty="0" err="1">
                <a:latin typeface="Times New Roman" pitchFamily="18" charset="0"/>
                <a:cs typeface="Times New Roman" pitchFamily="18" charset="0"/>
              </a:rPr>
              <a:t>l</a:t>
            </a:r>
            <a:r>
              <a:rPr lang="en-US" altLang="en-US" i="1" dirty="0"/>
              <a:t> </a:t>
            </a:r>
            <a:r>
              <a:rPr lang="en-US" altLang="en-US" dirty="0"/>
              <a:t>holds, and this quantity will be hired at a market wage rate </a:t>
            </a:r>
            <a:r>
              <a:rPr lang="en-US" altLang="en-US" i="1" dirty="0"/>
              <a:t>w</a:t>
            </a:r>
            <a:r>
              <a:rPr lang="en-US" altLang="en-US" i="1" baseline="-25000" dirty="0"/>
              <a:t>1</a:t>
            </a:r>
            <a:r>
              <a:rPr lang="en-US" altLang="en-US" dirty="0"/>
              <a:t>. Notice that the </a:t>
            </a:r>
            <a:r>
              <a:rPr lang="en-US" altLang="en-US" dirty="0" err="1"/>
              <a:t>monopsonist</a:t>
            </a:r>
            <a:r>
              <a:rPr lang="en-US" altLang="en-US" dirty="0"/>
              <a:t> buys less labor than would be bought if the labor market were perfectly competitive (</a:t>
            </a:r>
            <a:r>
              <a:rPr lang="en-US" altLang="en-US" i="1" dirty="0">
                <a:latin typeface="Times New Roman" pitchFamily="18" charset="0"/>
                <a:cs typeface="Times New Roman" pitchFamily="18" charset="0"/>
              </a:rPr>
              <a:t>l</a:t>
            </a:r>
            <a:r>
              <a:rPr lang="en-US" altLang="en-US" i="1" dirty="0" smtClean="0">
                <a:latin typeface="Times New Roman" pitchFamily="18" charset="0"/>
                <a:cs typeface="Times New Roman" pitchFamily="18" charset="0"/>
              </a:rPr>
              <a:t>*</a:t>
            </a:r>
            <a:r>
              <a:rPr lang="en-US" altLang="en-US" dirty="0" smtClean="0"/>
              <a:t>).</a:t>
            </a:r>
            <a:endParaRPr lang="en-US" altLang="en-US" dirty="0"/>
          </a:p>
        </p:txBody>
      </p:sp>
      <p:sp>
        <p:nvSpPr>
          <p:cNvPr id="5632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68D4ED0A-310C-4513-9F72-81D5BD78546B}" type="slidenum">
              <a:rPr lang="en-US" smtClean="0"/>
              <a:pPr>
                <a:defRPr/>
              </a:pPr>
              <a:t>48</a:t>
            </a:fld>
            <a:endParaRPr lang="en-US" dirty="0"/>
          </a:p>
        </p:txBody>
      </p:sp>
      <p:pic>
        <p:nvPicPr>
          <p:cNvPr id="354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65666"/>
            <a:ext cx="5104017" cy="4044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51839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4306"/>
                                        </p:tgtEl>
                                        <p:attrNameLst>
                                          <p:attrName>style.visibility</p:attrName>
                                        </p:attrNameLst>
                                      </p:cBhvr>
                                      <p:to>
                                        <p:strVal val="visible"/>
                                      </p:to>
                                    </p:set>
                                    <p:animEffect transition="in" filter="wipe(left)">
                                      <p:cBhvr>
                                        <p:cTn id="7" dur="500"/>
                                        <p:tgtEl>
                                          <p:spTgt spid="3543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6323">
                                            <p:txEl>
                                              <p:pRg st="0" end="0"/>
                                            </p:txEl>
                                          </p:spTgt>
                                        </p:tgtEl>
                                        <p:attrNameLst>
                                          <p:attrName>style.visibility</p:attrName>
                                        </p:attrNameLst>
                                      </p:cBhvr>
                                      <p:to>
                                        <p:strVal val="visible"/>
                                      </p:to>
                                    </p:set>
                                    <p:animEffect transition="in" filter="wipe(left)">
                                      <p:cBhvr>
                                        <p:cTn id="11" dur="500"/>
                                        <p:tgtEl>
                                          <p:spTgt spid="563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16.4 	</a:t>
            </a:r>
            <a:r>
              <a:rPr lang="en-US" altLang="en-US" dirty="0" err="1" smtClean="0"/>
              <a:t>Monopsonistic</a:t>
            </a:r>
            <a:r>
              <a:rPr lang="en-US" altLang="en-US" dirty="0" smtClean="0"/>
              <a:t> Hiring</a:t>
            </a:r>
          </a:p>
        </p:txBody>
      </p:sp>
      <p:sp>
        <p:nvSpPr>
          <p:cNvPr id="5734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EF92C25-C55D-43B4-9585-B0375F04CFEC}" type="slidenum">
              <a:rPr lang="en-US" smtClean="0"/>
              <a:pPr>
                <a:defRPr/>
              </a:pPr>
              <a:t>49</a:t>
            </a:fld>
            <a:endParaRPr lang="en-US" dirty="0"/>
          </a:p>
        </p:txBody>
      </p:sp>
      <p:sp>
        <p:nvSpPr>
          <p:cNvPr id="57347" name="Content Placeholder 2"/>
          <p:cNvSpPr>
            <a:spLocks noGrp="1"/>
          </p:cNvSpPr>
          <p:nvPr>
            <p:ph type="body" sz="quarter" idx="12"/>
          </p:nvPr>
        </p:nvSpPr>
        <p:spPr>
          <a:prstGeom prst="rect">
            <a:avLst/>
          </a:prstGeom>
        </p:spPr>
        <p:txBody>
          <a:bodyPr/>
          <a:lstStyle/>
          <a:p>
            <a:r>
              <a:rPr lang="en-US" altLang="en-US" dirty="0" smtClean="0"/>
              <a:t>Coal mine’s workers </a:t>
            </a:r>
          </a:p>
          <a:p>
            <a:pPr lvl="1"/>
            <a:r>
              <a:rPr lang="en-US" altLang="en-US" dirty="0" smtClean="0"/>
              <a:t>Can dig 2 tons per hour</a:t>
            </a:r>
          </a:p>
          <a:p>
            <a:pPr lvl="1"/>
            <a:r>
              <a:rPr lang="en-US" altLang="en-US" dirty="0" smtClean="0"/>
              <a:t>Coal sells for $10 per ton</a:t>
            </a:r>
          </a:p>
          <a:p>
            <a:pPr lvl="1"/>
            <a:r>
              <a:rPr lang="en-US" altLang="en-US" dirty="0" smtClean="0"/>
              <a:t>So, </a:t>
            </a:r>
            <a:r>
              <a:rPr lang="en-US" altLang="en-US" i="1" dirty="0" err="1" smtClean="0"/>
              <a:t>MRP</a:t>
            </a:r>
            <a:r>
              <a:rPr lang="en-US" altLang="en-US" i="1" baseline="-25000" dirty="0" err="1" smtClean="0">
                <a:latin typeface="Times New Roman" pitchFamily="18" charset="0"/>
              </a:rPr>
              <a:t>l</a:t>
            </a:r>
            <a:r>
              <a:rPr lang="en-US" altLang="en-US" dirty="0" smtClean="0"/>
              <a:t> = $20 per hour</a:t>
            </a:r>
          </a:p>
          <a:p>
            <a:r>
              <a:rPr lang="en-US" altLang="en-US" dirty="0" smtClean="0"/>
              <a:t>Coal mine – monopsony </a:t>
            </a:r>
          </a:p>
          <a:p>
            <a:pPr lvl="1"/>
            <a:r>
              <a:rPr lang="en-US" altLang="en-US" dirty="0" smtClean="0"/>
              <a:t>Faces a labor supply curve: </a:t>
            </a:r>
            <a:r>
              <a:rPr lang="en-US" altLang="en-US" i="1" dirty="0" smtClean="0">
                <a:solidFill>
                  <a:srgbClr val="FF0000"/>
                </a:solidFill>
                <a:latin typeface="Times New Roman" pitchFamily="18" charset="0"/>
              </a:rPr>
              <a:t>l</a:t>
            </a:r>
            <a:r>
              <a:rPr lang="en-US" altLang="en-US" i="1" dirty="0" smtClean="0">
                <a:solidFill>
                  <a:srgbClr val="FF0000"/>
                </a:solidFill>
              </a:rPr>
              <a:t> = </a:t>
            </a:r>
            <a:r>
              <a:rPr lang="en-US" altLang="en-US" dirty="0" smtClean="0">
                <a:solidFill>
                  <a:srgbClr val="FF0000"/>
                </a:solidFill>
              </a:rPr>
              <a:t>50</a:t>
            </a:r>
            <a:r>
              <a:rPr lang="en-US" altLang="en-US" i="1" dirty="0" smtClean="0">
                <a:solidFill>
                  <a:srgbClr val="FF0000"/>
                </a:solidFill>
              </a:rPr>
              <a:t>w</a:t>
            </a:r>
          </a:p>
          <a:p>
            <a:pPr lvl="1"/>
            <a:r>
              <a:rPr lang="en-US" altLang="en-US" dirty="0" smtClean="0"/>
              <a:t>The firm’s wage bill : </a:t>
            </a:r>
            <a:r>
              <a:rPr lang="en-US" altLang="en-US" i="1" dirty="0" err="1" smtClean="0">
                <a:solidFill>
                  <a:srgbClr val="FF0000"/>
                </a:solidFill>
              </a:rPr>
              <a:t>w</a:t>
            </a:r>
            <a:r>
              <a:rPr lang="en-US" altLang="en-US" i="1" dirty="0" err="1" smtClean="0">
                <a:solidFill>
                  <a:srgbClr val="FF0000"/>
                </a:solidFill>
                <a:latin typeface="Times New Roman" pitchFamily="18" charset="0"/>
              </a:rPr>
              <a:t>l</a:t>
            </a:r>
            <a:r>
              <a:rPr lang="en-US" altLang="en-US" i="1" dirty="0" smtClean="0">
                <a:solidFill>
                  <a:srgbClr val="FF0000"/>
                </a:solidFill>
              </a:rPr>
              <a:t> = </a:t>
            </a:r>
            <a:r>
              <a:rPr lang="en-US" altLang="en-US" i="1" dirty="0" smtClean="0">
                <a:solidFill>
                  <a:srgbClr val="FF0000"/>
                </a:solidFill>
                <a:latin typeface="Times New Roman" pitchFamily="18" charset="0"/>
              </a:rPr>
              <a:t>l</a:t>
            </a:r>
            <a:r>
              <a:rPr lang="en-US" altLang="en-US" baseline="30000" dirty="0" smtClean="0">
                <a:solidFill>
                  <a:srgbClr val="FF0000"/>
                </a:solidFill>
              </a:rPr>
              <a:t>2</a:t>
            </a:r>
            <a:r>
              <a:rPr lang="en-US" altLang="en-US" dirty="0" smtClean="0">
                <a:solidFill>
                  <a:srgbClr val="FF0000"/>
                </a:solidFill>
              </a:rPr>
              <a:t>/50</a:t>
            </a:r>
          </a:p>
          <a:p>
            <a:pPr lvl="1"/>
            <a:r>
              <a:rPr lang="en-US" altLang="en-US" dirty="0" smtClean="0"/>
              <a:t>The marginal expense: </a:t>
            </a:r>
            <a:r>
              <a:rPr lang="en-US" altLang="en-US" i="1" dirty="0" err="1" smtClean="0">
                <a:solidFill>
                  <a:srgbClr val="FF0000"/>
                </a:solidFill>
              </a:rPr>
              <a:t>ME</a:t>
            </a:r>
            <a:r>
              <a:rPr lang="en-US" altLang="en-US" i="1" baseline="-25000" dirty="0" err="1" smtClean="0">
                <a:solidFill>
                  <a:srgbClr val="FF0000"/>
                </a:solidFill>
                <a:latin typeface="Times New Roman" pitchFamily="18" charset="0"/>
              </a:rPr>
              <a:t>l</a:t>
            </a:r>
            <a:r>
              <a:rPr lang="en-US" altLang="en-US" dirty="0" smtClean="0">
                <a:solidFill>
                  <a:srgbClr val="FF0000"/>
                </a:solidFill>
              </a:rPr>
              <a:t> = </a:t>
            </a: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w</a:t>
            </a:r>
            <a:r>
              <a:rPr lang="en-US" altLang="en-US" i="1" dirty="0" err="1"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a:t>
            </a: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a:t>
            </a: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/25</a:t>
            </a:r>
          </a:p>
          <a:p>
            <a:r>
              <a:rPr lang="en-US" altLang="en-US" dirty="0" smtClean="0">
                <a:sym typeface="Symbol" pitchFamily="18" charset="2"/>
              </a:rPr>
              <a:t>Setting </a:t>
            </a:r>
            <a:r>
              <a:rPr lang="en-US" altLang="en-US" i="1" dirty="0" err="1" smtClean="0">
                <a:sym typeface="Symbol" pitchFamily="18" charset="2"/>
              </a:rPr>
              <a:t>ME</a:t>
            </a:r>
            <a:r>
              <a:rPr lang="en-US" altLang="en-US" i="1" baseline="-25000" dirty="0" err="1" smtClean="0">
                <a:latin typeface="Times New Roman" pitchFamily="18" charset="0"/>
                <a:sym typeface="Symbol" pitchFamily="18" charset="2"/>
              </a:rPr>
              <a:t>l</a:t>
            </a:r>
            <a:r>
              <a:rPr lang="en-US" altLang="en-US" i="1" dirty="0" smtClean="0">
                <a:sym typeface="Symbol" pitchFamily="18" charset="2"/>
              </a:rPr>
              <a:t> = </a:t>
            </a:r>
            <a:r>
              <a:rPr lang="en-US" altLang="en-US" i="1" dirty="0" err="1" smtClean="0">
                <a:sym typeface="Symbol" pitchFamily="18" charset="2"/>
              </a:rPr>
              <a:t>MRP</a:t>
            </a:r>
            <a:r>
              <a:rPr lang="en-US" altLang="en-US" i="1" baseline="-25000" dirty="0" err="1" smtClean="0">
                <a:latin typeface="Times New Roman" pitchFamily="18" charset="0"/>
                <a:sym typeface="Symbol" pitchFamily="18" charset="2"/>
              </a:rPr>
              <a:t>l</a:t>
            </a:r>
            <a:r>
              <a:rPr lang="en-US" altLang="en-US" dirty="0" smtClean="0">
                <a:sym typeface="Symbol" pitchFamily="18" charset="2"/>
              </a:rPr>
              <a:t>:</a:t>
            </a:r>
            <a:endParaRPr lang="en-US" altLang="en-US" dirty="0" smtClean="0">
              <a:sym typeface="Symbol" pitchFamily="18" charset="2"/>
            </a:endParaRPr>
          </a:p>
          <a:p>
            <a:pPr lvl="1"/>
            <a:r>
              <a:rPr lang="en-US" altLang="en-US" dirty="0" smtClean="0">
                <a:sym typeface="Symbol" pitchFamily="18" charset="2"/>
              </a:rPr>
              <a:t>Optimal quantity of labor is 500</a:t>
            </a:r>
          </a:p>
          <a:p>
            <a:pPr lvl="1"/>
            <a:r>
              <a:rPr lang="en-US" altLang="en-US" dirty="0" smtClean="0">
                <a:sym typeface="Symbol" pitchFamily="18" charset="2"/>
              </a:rPr>
              <a:t>Optimal wage is $</a:t>
            </a:r>
            <a:r>
              <a:rPr lang="en-US" altLang="en-US" dirty="0" smtClean="0">
                <a:sym typeface="Symbol" pitchFamily="18" charset="2"/>
              </a:rPr>
              <a:t>10</a:t>
            </a:r>
            <a:endParaRPr lang="en-US" altLang="en-US" dirty="0" smtClean="0"/>
          </a:p>
        </p:txBody>
      </p:sp>
    </p:spTree>
    <p:extLst>
      <p:ext uri="{BB962C8B-B14F-4D97-AF65-F5344CB8AC3E}">
        <p14:creationId xmlns:p14="http://schemas.microsoft.com/office/powerpoint/2010/main" val="367473680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en-US" smtClean="0"/>
              <a:t>Labor Unions</a:t>
            </a:r>
          </a:p>
        </p:txBody>
      </p:sp>
      <p:sp>
        <p:nvSpPr>
          <p:cNvPr id="58371" name="Rectangle 3"/>
          <p:cNvSpPr>
            <a:spLocks noGrp="1" noChangeArrowheads="1"/>
          </p:cNvSpPr>
          <p:nvPr>
            <p:ph idx="1"/>
          </p:nvPr>
        </p:nvSpPr>
        <p:spPr/>
        <p:txBody>
          <a:bodyPr/>
          <a:lstStyle/>
          <a:p>
            <a:r>
              <a:rPr lang="en-US" altLang="en-US" smtClean="0"/>
              <a:t>If association with a union was wholly voluntary</a:t>
            </a:r>
          </a:p>
          <a:p>
            <a:pPr lvl="1"/>
            <a:r>
              <a:rPr lang="en-US" altLang="en-US" smtClean="0"/>
              <a:t>We can assume that every member derives a positive benefit</a:t>
            </a:r>
          </a:p>
          <a:p>
            <a:r>
              <a:rPr lang="en-US" altLang="en-US" smtClean="0"/>
              <a:t>With compulsory membership</a:t>
            </a:r>
          </a:p>
          <a:p>
            <a:pPr lvl="1"/>
            <a:r>
              <a:rPr lang="en-US" altLang="en-US" smtClean="0"/>
              <a:t>We cannot make the same claim</a:t>
            </a:r>
          </a:p>
          <a:p>
            <a:pPr lvl="1"/>
            <a:r>
              <a:rPr lang="en-US" altLang="en-US" smtClean="0"/>
              <a:t>Even if workers would benefit from the union, they may choose to be “free riders”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7BF6FA7-E39E-413B-8D83-46E047DE87AD}" type="slidenum">
              <a:rPr lang="en-US" smtClean="0"/>
              <a:pPr>
                <a:defRPr/>
              </a:pPr>
              <a:t>50</a:t>
            </a:fld>
            <a:endParaRPr lang="en-US"/>
          </a:p>
        </p:txBody>
      </p:sp>
    </p:spTree>
    <p:extLst>
      <p:ext uri="{BB962C8B-B14F-4D97-AF65-F5344CB8AC3E}">
        <p14:creationId xmlns:p14="http://schemas.microsoft.com/office/powerpoint/2010/main" val="233110681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smtClean="0"/>
              <a:t>Labor Unions</a:t>
            </a:r>
          </a:p>
        </p:txBody>
      </p:sp>
      <p:sp>
        <p:nvSpPr>
          <p:cNvPr id="59395" name="Rectangle 3"/>
          <p:cNvSpPr>
            <a:spLocks noGrp="1" noChangeArrowheads="1"/>
          </p:cNvSpPr>
          <p:nvPr>
            <p:ph idx="1"/>
          </p:nvPr>
        </p:nvSpPr>
        <p:spPr/>
        <p:txBody>
          <a:bodyPr/>
          <a:lstStyle/>
          <a:p>
            <a:r>
              <a:rPr lang="en-US" altLang="en-US" dirty="0" smtClean="0"/>
              <a:t>Assume </a:t>
            </a:r>
          </a:p>
          <a:p>
            <a:pPr lvl="1"/>
            <a:r>
              <a:rPr lang="en-US" altLang="en-US" dirty="0" smtClean="0"/>
              <a:t>The goals of the union are representative of the goals of its members</a:t>
            </a:r>
          </a:p>
          <a:p>
            <a:r>
              <a:rPr lang="en-US" altLang="en-US" dirty="0" smtClean="0"/>
              <a:t>Use a monopoly model to examine unions</a:t>
            </a:r>
          </a:p>
          <a:p>
            <a:pPr lvl="1"/>
            <a:r>
              <a:rPr lang="en-US" altLang="en-US" dirty="0" smtClean="0"/>
              <a:t>The union faces a demand curve for labor</a:t>
            </a:r>
          </a:p>
          <a:p>
            <a:pPr lvl="1"/>
            <a:r>
              <a:rPr lang="en-US" altLang="en-US" dirty="0" smtClean="0"/>
              <a:t>As the sole supplier, it can choose at which point it will operate</a:t>
            </a:r>
          </a:p>
          <a:p>
            <a:pPr lvl="2"/>
            <a:r>
              <a:rPr lang="en-US" altLang="en-US" dirty="0" smtClean="0"/>
              <a:t>This point depends on the union’s goals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0EDF41C-0E53-4D7E-BE1C-F425694B2BF9}" type="slidenum">
              <a:rPr lang="en-US" smtClean="0"/>
              <a:pPr>
                <a:defRPr/>
              </a:pPr>
              <a:t>51</a:t>
            </a:fld>
            <a:endParaRPr lang="en-US"/>
          </a:p>
        </p:txBody>
      </p:sp>
    </p:spTree>
    <p:extLst>
      <p:ext uri="{BB962C8B-B14F-4D97-AF65-F5344CB8AC3E}">
        <p14:creationId xmlns:p14="http://schemas.microsoft.com/office/powerpoint/2010/main" val="203617007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xfrm>
            <a:off x="1143000" y="0"/>
            <a:ext cx="8001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16.5	Three Possible Points on the Labor Demand </a:t>
            </a:r>
            <a:r>
              <a:rPr lang="en-US" altLang="en-US" dirty="0">
                <a:solidFill>
                  <a:srgbClr val="002D56"/>
                </a:solidFill>
              </a:rPr>
              <a:t>Curve That a Monopolistic Union Might </a:t>
            </a:r>
            <a:r>
              <a:rPr lang="en-US" altLang="en-US" dirty="0" smtClean="0">
                <a:solidFill>
                  <a:srgbClr val="002D56"/>
                </a:solidFill>
              </a:rPr>
              <a:t>Choose</a:t>
            </a:r>
            <a:endParaRPr lang="en-US" altLang="en-US" dirty="0" smtClean="0">
              <a:solidFill>
                <a:srgbClr val="002D56"/>
              </a:solidFill>
            </a:endParaRPr>
          </a:p>
        </p:txBody>
      </p:sp>
      <p:sp>
        <p:nvSpPr>
          <p:cNvPr id="60419" name="Text Placeholder 2"/>
          <p:cNvSpPr>
            <a:spLocks noGrp="1"/>
          </p:cNvSpPr>
          <p:nvPr>
            <p:ph sz="half" idx="1"/>
          </p:nvPr>
        </p:nvSpPr>
        <p:spPr>
          <a:xfrm>
            <a:off x="266700" y="4876800"/>
            <a:ext cx="8610600" cy="1447800"/>
          </a:xfrm>
        </p:spPr>
        <p:txBody>
          <a:bodyPr>
            <a:normAutofit/>
          </a:bodyPr>
          <a:lstStyle/>
          <a:p>
            <a:pPr>
              <a:spcBef>
                <a:spcPct val="0"/>
              </a:spcBef>
            </a:pPr>
            <a:r>
              <a:rPr lang="en-US" altLang="en-US" dirty="0"/>
              <a:t>A union has a monopoly in the supply of labor, so it may choose its most preferred point on the demand curve for labor. Three such points are shown in the figure. At point E</a:t>
            </a:r>
            <a:r>
              <a:rPr lang="en-US" altLang="en-US" baseline="-25000" dirty="0"/>
              <a:t>1</a:t>
            </a:r>
            <a:r>
              <a:rPr lang="en-US" altLang="en-US" dirty="0"/>
              <a:t>, total labor payments (</a:t>
            </a:r>
            <a:r>
              <a:rPr lang="en-US" altLang="en-US" i="1" dirty="0"/>
              <a:t>w · </a:t>
            </a:r>
            <a:r>
              <a:rPr lang="en-US" altLang="en-US" i="1" dirty="0">
                <a:latin typeface="Times New Roman" pitchFamily="18" charset="0"/>
                <a:cs typeface="Times New Roman" pitchFamily="18" charset="0"/>
              </a:rPr>
              <a:t>l</a:t>
            </a:r>
            <a:r>
              <a:rPr lang="en-US" altLang="en-US" dirty="0"/>
              <a:t>) are maximized; at E</a:t>
            </a:r>
            <a:r>
              <a:rPr lang="en-US" altLang="en-US" baseline="-25000" dirty="0"/>
              <a:t>2</a:t>
            </a:r>
            <a:r>
              <a:rPr lang="en-US" altLang="en-US" dirty="0"/>
              <a:t>, the economic rent that workers receive is maximized; and at E</a:t>
            </a:r>
            <a:r>
              <a:rPr lang="en-US" altLang="en-US" baseline="-25000" dirty="0"/>
              <a:t>3</a:t>
            </a:r>
            <a:r>
              <a:rPr lang="en-US" altLang="en-US" dirty="0"/>
              <a:t>, the total amount of labor services supplied is maximized</a:t>
            </a:r>
            <a:r>
              <a:rPr lang="en-US" altLang="en-US" dirty="0" smtClean="0"/>
              <a:t>.</a:t>
            </a:r>
            <a:endParaRPr lang="en-US" altLang="en-US" dirty="0"/>
          </a:p>
        </p:txBody>
      </p:sp>
      <p:sp>
        <p:nvSpPr>
          <p:cNvPr id="6042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F597F857-B149-4616-8146-03E3F70B8D68}" type="slidenum">
              <a:rPr lang="en-US" smtClean="0"/>
              <a:pPr>
                <a:defRPr/>
              </a:pPr>
              <a:t>52</a:t>
            </a:fld>
            <a:endParaRPr lang="en-US" dirty="0"/>
          </a:p>
        </p:txBody>
      </p:sp>
      <p:pic>
        <p:nvPicPr>
          <p:cNvPr id="3553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143000"/>
            <a:ext cx="5619750" cy="364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03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5330"/>
                                        </p:tgtEl>
                                        <p:attrNameLst>
                                          <p:attrName>style.visibility</p:attrName>
                                        </p:attrNameLst>
                                      </p:cBhvr>
                                      <p:to>
                                        <p:strVal val="visible"/>
                                      </p:to>
                                    </p:set>
                                    <p:animEffect transition="in" filter="wipe(left)">
                                      <p:cBhvr>
                                        <p:cTn id="7" dur="500"/>
                                        <p:tgtEl>
                                          <p:spTgt spid="3553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0419">
                                            <p:txEl>
                                              <p:pRg st="0" end="0"/>
                                            </p:txEl>
                                          </p:spTgt>
                                        </p:tgtEl>
                                        <p:attrNameLst>
                                          <p:attrName>style.visibility</p:attrName>
                                        </p:attrNameLst>
                                      </p:cBhvr>
                                      <p:to>
                                        <p:strVal val="visible"/>
                                      </p:to>
                                    </p:set>
                                    <p:animEffect transition="in" filter="wipe(left)">
                                      <p:cBhvr>
                                        <p:cTn id="11" dur="500"/>
                                        <p:tgtEl>
                                          <p:spTgt spid="60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16.5 	Modeling a Union</a:t>
            </a:r>
          </a:p>
        </p:txBody>
      </p:sp>
      <p:sp>
        <p:nvSpPr>
          <p:cNvPr id="6144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08217C1F-3048-478B-A783-DB44D88FCBD0}" type="slidenum">
              <a:rPr lang="en-US" smtClean="0"/>
              <a:pPr>
                <a:defRPr/>
              </a:pPr>
              <a:t>53</a:t>
            </a:fld>
            <a:endParaRPr lang="en-US" dirty="0"/>
          </a:p>
        </p:txBody>
      </p:sp>
      <p:sp>
        <p:nvSpPr>
          <p:cNvPr id="61443" name="Content Placeholder 2"/>
          <p:cNvSpPr>
            <a:spLocks noGrp="1"/>
          </p:cNvSpPr>
          <p:nvPr>
            <p:ph type="body" sz="quarter" idx="12"/>
          </p:nvPr>
        </p:nvSpPr>
        <p:spPr>
          <a:prstGeom prst="rect">
            <a:avLst/>
          </a:prstGeom>
        </p:spPr>
        <p:txBody>
          <a:bodyPr/>
          <a:lstStyle/>
          <a:p>
            <a:r>
              <a:rPr lang="en-US" altLang="en-US" dirty="0" smtClean="0"/>
              <a:t>A </a:t>
            </a:r>
            <a:r>
              <a:rPr lang="en-US" altLang="en-US" dirty="0" err="1" smtClean="0"/>
              <a:t>monopsonistic</a:t>
            </a:r>
            <a:r>
              <a:rPr lang="en-US" altLang="en-US" dirty="0" smtClean="0"/>
              <a:t> hirer of coal miners</a:t>
            </a:r>
          </a:p>
          <a:p>
            <a:pPr lvl="1"/>
            <a:r>
              <a:rPr lang="en-US" altLang="en-US" dirty="0" smtClean="0"/>
              <a:t>Faces a supply curve: </a:t>
            </a:r>
            <a:r>
              <a:rPr lang="en-US" altLang="en-US" i="1" dirty="0" smtClean="0">
                <a:solidFill>
                  <a:srgbClr val="FF0000"/>
                </a:solidFill>
                <a:latin typeface="Times New Roman" pitchFamily="18" charset="0"/>
              </a:rPr>
              <a:t>l</a:t>
            </a:r>
            <a:r>
              <a:rPr lang="en-US" altLang="en-US" i="1" dirty="0" smtClean="0">
                <a:solidFill>
                  <a:srgbClr val="FF0000"/>
                </a:solidFill>
              </a:rPr>
              <a:t> = </a:t>
            </a:r>
            <a:r>
              <a:rPr lang="en-US" altLang="en-US" dirty="0" smtClean="0">
                <a:solidFill>
                  <a:srgbClr val="FF0000"/>
                </a:solidFill>
              </a:rPr>
              <a:t>50</a:t>
            </a:r>
            <a:r>
              <a:rPr lang="en-US" altLang="en-US" i="1" dirty="0" smtClean="0">
                <a:solidFill>
                  <a:srgbClr val="FF0000"/>
                </a:solidFill>
              </a:rPr>
              <a:t>w</a:t>
            </a:r>
            <a:endParaRPr lang="en-US" altLang="en-US" dirty="0" smtClean="0">
              <a:solidFill>
                <a:srgbClr val="FF0000"/>
              </a:solidFill>
            </a:endParaRPr>
          </a:p>
          <a:p>
            <a:pPr lvl="1"/>
            <a:r>
              <a:rPr lang="en-US" altLang="en-US" dirty="0" smtClean="0"/>
              <a:t>Assume a </a:t>
            </a:r>
            <a:r>
              <a:rPr lang="en-US" altLang="en-US" i="1" dirty="0" smtClean="0"/>
              <a:t>MRP</a:t>
            </a:r>
            <a:r>
              <a:rPr lang="en-US" altLang="en-US" dirty="0" smtClean="0"/>
              <a:t> of labor curve</a:t>
            </a:r>
            <a:r>
              <a:rPr lang="en-US" altLang="en-US" dirty="0" smtClean="0"/>
              <a:t>: </a:t>
            </a:r>
            <a:r>
              <a:rPr lang="en-US" altLang="en-US" i="1" dirty="0" smtClean="0">
                <a:solidFill>
                  <a:srgbClr val="FF0000"/>
                </a:solidFill>
              </a:rPr>
              <a:t>MRP</a:t>
            </a:r>
            <a:r>
              <a:rPr lang="en-US" altLang="en-US" dirty="0" smtClean="0">
                <a:solidFill>
                  <a:srgbClr val="FF0000"/>
                </a:solidFill>
              </a:rPr>
              <a:t> </a:t>
            </a:r>
            <a:r>
              <a:rPr lang="en-US" altLang="en-US" dirty="0" smtClean="0">
                <a:solidFill>
                  <a:srgbClr val="FF0000"/>
                </a:solidFill>
              </a:rPr>
              <a:t>= 70 – 0.1</a:t>
            </a:r>
            <a:r>
              <a:rPr lang="en-US" altLang="en-US" i="1" dirty="0" smtClean="0">
                <a:solidFill>
                  <a:srgbClr val="FF0000"/>
                </a:solidFill>
                <a:latin typeface="Times New Roman" pitchFamily="18" charset="0"/>
              </a:rPr>
              <a:t>l</a:t>
            </a:r>
          </a:p>
          <a:p>
            <a:r>
              <a:rPr lang="en-US" altLang="en-US" dirty="0" smtClean="0"/>
              <a:t>Set </a:t>
            </a:r>
            <a:r>
              <a:rPr lang="en-US" altLang="en-US" i="1" dirty="0" smtClean="0">
                <a:latin typeface="Times New Roman" panose="02020603050405020304" pitchFamily="18" charset="0"/>
                <a:cs typeface="Times New Roman" panose="02020603050405020304" pitchFamily="18" charset="0"/>
              </a:rPr>
              <a:t>MRP = </a:t>
            </a:r>
            <a:r>
              <a:rPr lang="en-US" altLang="en-US" i="1" dirty="0" err="1" smtClean="0">
                <a:latin typeface="Times New Roman" panose="02020603050405020304" pitchFamily="18" charset="0"/>
                <a:cs typeface="Times New Roman" panose="02020603050405020304" pitchFamily="18" charset="0"/>
              </a:rPr>
              <a:t>ME</a:t>
            </a:r>
            <a:r>
              <a:rPr lang="en-US" altLang="en-US" i="1" baseline="-25000" dirty="0" err="1" smtClean="0">
                <a:latin typeface="Times New Roman" panose="02020603050405020304" pitchFamily="18" charset="0"/>
                <a:cs typeface="Times New Roman" panose="02020603050405020304" pitchFamily="18" charset="0"/>
              </a:rPr>
              <a:t>l</a:t>
            </a:r>
            <a:r>
              <a:rPr lang="en-US" altLang="en-US" dirty="0" smtClean="0"/>
              <a:t>  </a:t>
            </a:r>
          </a:p>
          <a:p>
            <a:pPr lvl="1"/>
            <a:r>
              <a:rPr lang="en-US" altLang="en-US" dirty="0" smtClean="0"/>
              <a:t>No effective union: </a:t>
            </a:r>
            <a:r>
              <a:rPr lang="en-US" altLang="en-US" i="1" dirty="0" smtClean="0">
                <a:latin typeface="Times New Roman" panose="02020603050405020304" pitchFamily="18" charset="0"/>
                <a:cs typeface="Times New Roman" panose="02020603050405020304" pitchFamily="18" charset="0"/>
              </a:rPr>
              <a:t>l*</a:t>
            </a:r>
            <a:r>
              <a:rPr lang="en-US" altLang="en-US" dirty="0" smtClean="0"/>
              <a:t>=500 workers, </a:t>
            </a:r>
            <a:r>
              <a:rPr lang="en-US" altLang="en-US" i="1" dirty="0" smtClean="0">
                <a:latin typeface="Times New Roman" panose="02020603050405020304" pitchFamily="18" charset="0"/>
                <a:cs typeface="Times New Roman" panose="02020603050405020304" pitchFamily="18" charset="0"/>
              </a:rPr>
              <a:t>w*</a:t>
            </a:r>
            <a:r>
              <a:rPr lang="en-US" altLang="en-US" dirty="0" smtClean="0"/>
              <a:t>= $10</a:t>
            </a:r>
          </a:p>
          <a:p>
            <a:r>
              <a:rPr lang="en-US" altLang="en-US" dirty="0" smtClean="0"/>
              <a:t>Effective union control:</a:t>
            </a:r>
          </a:p>
          <a:p>
            <a:pPr lvl="1"/>
            <a:r>
              <a:rPr lang="en-US" altLang="en-US" dirty="0" smtClean="0"/>
              <a:t>Competitive solution (E</a:t>
            </a:r>
            <a:r>
              <a:rPr lang="en-US" altLang="en-US" baseline="-25000" dirty="0" smtClean="0"/>
              <a:t>3</a:t>
            </a:r>
            <a:r>
              <a:rPr lang="en-US" altLang="en-US" dirty="0" smtClean="0"/>
              <a:t>): </a:t>
            </a:r>
            <a:r>
              <a:rPr lang="en-US" altLang="en-US" i="1" dirty="0">
                <a:latin typeface="Times New Roman" panose="02020603050405020304" pitchFamily="18" charset="0"/>
                <a:cs typeface="Times New Roman" panose="02020603050405020304" pitchFamily="18" charset="0"/>
              </a:rPr>
              <a:t>l*</a:t>
            </a:r>
            <a:r>
              <a:rPr lang="en-US" altLang="en-US" dirty="0" smtClean="0"/>
              <a:t>=583, </a:t>
            </a:r>
            <a:r>
              <a:rPr lang="en-US" altLang="en-US" i="1" dirty="0">
                <a:latin typeface="Times New Roman" panose="02020603050405020304" pitchFamily="18" charset="0"/>
                <a:cs typeface="Times New Roman" panose="02020603050405020304" pitchFamily="18" charset="0"/>
              </a:rPr>
              <a:t>w*</a:t>
            </a:r>
            <a:r>
              <a:rPr lang="en-US" altLang="en-US" dirty="0" smtClean="0"/>
              <a:t>=11.7</a:t>
            </a:r>
          </a:p>
          <a:p>
            <a:pPr lvl="1"/>
            <a:r>
              <a:rPr lang="en-US" altLang="en-US" dirty="0" smtClean="0"/>
              <a:t>Maximize total wage bill (E</a:t>
            </a:r>
            <a:r>
              <a:rPr lang="en-US" altLang="en-US" baseline="-25000" dirty="0" smtClean="0"/>
              <a:t>1</a:t>
            </a:r>
            <a:r>
              <a:rPr lang="en-US" altLang="en-US" dirty="0" smtClean="0"/>
              <a:t>): </a:t>
            </a:r>
            <a:r>
              <a:rPr lang="en-US" altLang="en-US" i="1" dirty="0">
                <a:latin typeface="Times New Roman" panose="02020603050405020304" pitchFamily="18" charset="0"/>
                <a:cs typeface="Times New Roman" panose="02020603050405020304" pitchFamily="18" charset="0"/>
              </a:rPr>
              <a:t>l*</a:t>
            </a:r>
            <a:r>
              <a:rPr lang="en-US" altLang="en-US" dirty="0" smtClean="0"/>
              <a:t>=350, </a:t>
            </a:r>
            <a:r>
              <a:rPr lang="en-US" altLang="en-US" i="1" dirty="0">
                <a:latin typeface="Times New Roman" panose="02020603050405020304" pitchFamily="18" charset="0"/>
                <a:cs typeface="Times New Roman" panose="02020603050405020304" pitchFamily="18" charset="0"/>
              </a:rPr>
              <a:t>w*</a:t>
            </a:r>
            <a:r>
              <a:rPr lang="en-US" altLang="en-US" dirty="0" smtClean="0"/>
              <a:t>=35</a:t>
            </a:r>
          </a:p>
          <a:p>
            <a:pPr lvl="1"/>
            <a:r>
              <a:rPr lang="en-US" altLang="en-US" dirty="0" smtClean="0"/>
              <a:t>Maximize economic rent per worker (E</a:t>
            </a:r>
            <a:r>
              <a:rPr lang="en-US" altLang="en-US" baseline="-25000" dirty="0" smtClean="0"/>
              <a:t>2</a:t>
            </a:r>
            <a:r>
              <a:rPr lang="en-US" altLang="en-US" dirty="0" smtClean="0"/>
              <a:t>): </a:t>
            </a:r>
            <a:r>
              <a:rPr lang="en-US" altLang="en-US" i="1" dirty="0">
                <a:latin typeface="Times New Roman" panose="02020603050405020304" pitchFamily="18" charset="0"/>
                <a:cs typeface="Times New Roman" panose="02020603050405020304" pitchFamily="18" charset="0"/>
              </a:rPr>
              <a:t>l*</a:t>
            </a:r>
            <a:r>
              <a:rPr lang="en-US" altLang="en-US" dirty="0" smtClean="0"/>
              <a:t>=318, </a:t>
            </a:r>
            <a:r>
              <a:rPr lang="en-US" altLang="en-US" i="1" dirty="0">
                <a:latin typeface="Times New Roman" panose="02020603050405020304" pitchFamily="18" charset="0"/>
                <a:cs typeface="Times New Roman" panose="02020603050405020304" pitchFamily="18" charset="0"/>
              </a:rPr>
              <a:t>w*</a:t>
            </a:r>
            <a:r>
              <a:rPr lang="en-US" altLang="en-US" dirty="0" smtClean="0"/>
              <a:t>=38.2</a:t>
            </a:r>
            <a:endParaRPr lang="en-US" altLang="en-US" dirty="0" smtClean="0"/>
          </a:p>
          <a:p>
            <a:endParaRPr lang="en-US" altLang="en-US" dirty="0" smtClean="0"/>
          </a:p>
        </p:txBody>
      </p:sp>
    </p:spTree>
    <p:extLst>
      <p:ext uri="{BB962C8B-B14F-4D97-AF65-F5344CB8AC3E}">
        <p14:creationId xmlns:p14="http://schemas.microsoft.com/office/powerpoint/2010/main" val="30256396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16.6 	A Union Bargaining Model</a:t>
            </a:r>
          </a:p>
        </p:txBody>
      </p:sp>
      <p:sp>
        <p:nvSpPr>
          <p:cNvPr id="6246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4189E5DC-130C-4A35-AE73-F6112ED76320}" type="slidenum">
              <a:rPr lang="en-US" smtClean="0"/>
              <a:pPr>
                <a:defRPr/>
              </a:pPr>
              <a:t>54</a:t>
            </a:fld>
            <a:endParaRPr lang="en-US" dirty="0"/>
          </a:p>
        </p:txBody>
      </p:sp>
      <p:sp>
        <p:nvSpPr>
          <p:cNvPr id="62467" name="Content Placeholder 2"/>
          <p:cNvSpPr>
            <a:spLocks noGrp="1"/>
          </p:cNvSpPr>
          <p:nvPr>
            <p:ph type="body" sz="quarter" idx="12"/>
          </p:nvPr>
        </p:nvSpPr>
        <p:spPr>
          <a:prstGeom prst="rect">
            <a:avLst/>
          </a:prstGeom>
        </p:spPr>
        <p:txBody>
          <a:bodyPr/>
          <a:lstStyle/>
          <a:p>
            <a:r>
              <a:rPr lang="en-US" altLang="en-US" smtClean="0"/>
              <a:t>A firm and a union engage in a two-stage game</a:t>
            </a:r>
          </a:p>
          <a:p>
            <a:pPr lvl="1"/>
            <a:r>
              <a:rPr lang="en-US" altLang="en-US" smtClean="0"/>
              <a:t>First stage: union sets the wage rate its workers will accept</a:t>
            </a:r>
          </a:p>
          <a:p>
            <a:pPr lvl="1"/>
            <a:r>
              <a:rPr lang="en-US" altLang="en-US" smtClean="0"/>
              <a:t>Second stage: firm chooses its employment level</a:t>
            </a:r>
          </a:p>
          <a:p>
            <a:pPr lvl="1"/>
            <a:r>
              <a:rPr lang="en-US" altLang="en-US" smtClean="0"/>
              <a:t>The game can be solved by backward induction</a:t>
            </a:r>
          </a:p>
          <a:p>
            <a:pPr lvl="1"/>
            <a:r>
              <a:rPr lang="en-US" altLang="en-US" smtClean="0"/>
              <a:t>The firm’s second-stage problem is to maximize its profits: </a:t>
            </a:r>
            <a:r>
              <a:rPr lang="en-US" altLang="en-US" smtClean="0">
                <a:solidFill>
                  <a:srgbClr val="FF0000"/>
                </a:solidFill>
                <a:sym typeface="Symbol" pitchFamily="18" charset="2"/>
              </a:rPr>
              <a:t> = </a:t>
            </a:r>
            <a:r>
              <a:rPr lang="en-US" altLang="en-US" i="1" smtClean="0">
                <a:solidFill>
                  <a:srgbClr val="FF0000"/>
                </a:solidFill>
                <a:sym typeface="Symbol" pitchFamily="18" charset="2"/>
              </a:rPr>
              <a:t>R</a:t>
            </a:r>
            <a:r>
              <a:rPr lang="en-US" altLang="en-US" smtClean="0">
                <a:solidFill>
                  <a:srgbClr val="FF0000"/>
                </a:solidFill>
                <a:sym typeface="Symbol" pitchFamily="18" charset="2"/>
              </a:rPr>
              <a:t>(</a:t>
            </a: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a:t>
            </a:r>
            <a:r>
              <a:rPr lang="en-US" altLang="en-US" i="1" smtClean="0">
                <a:solidFill>
                  <a:srgbClr val="FF0000"/>
                </a:solidFill>
                <a:sym typeface="Symbol" pitchFamily="18" charset="2"/>
              </a:rPr>
              <a:t>w</a:t>
            </a:r>
            <a:r>
              <a:rPr lang="en-US" altLang="en-US" i="1" smtClean="0">
                <a:solidFill>
                  <a:srgbClr val="FF0000"/>
                </a:solidFill>
                <a:latin typeface="Times New Roman" pitchFamily="18" charset="0"/>
                <a:sym typeface="Symbol" pitchFamily="18" charset="2"/>
              </a:rPr>
              <a:t>l</a:t>
            </a:r>
            <a:endParaRPr lang="en-US" altLang="en-US" smtClean="0">
              <a:solidFill>
                <a:srgbClr val="FF0000"/>
              </a:solidFill>
              <a:latin typeface="Times New Roman" pitchFamily="18" charset="0"/>
              <a:sym typeface="Symbol" pitchFamily="18" charset="2"/>
            </a:endParaRPr>
          </a:p>
          <a:p>
            <a:pPr lvl="1"/>
            <a:r>
              <a:rPr lang="en-US" altLang="en-US" smtClean="0">
                <a:sym typeface="Symbol" pitchFamily="18" charset="2"/>
              </a:rPr>
              <a:t>The first-order condition for a maximum: </a:t>
            </a:r>
            <a:r>
              <a:rPr lang="en-US" altLang="en-US" i="1" smtClean="0">
                <a:solidFill>
                  <a:srgbClr val="FF0000"/>
                </a:solidFill>
                <a:sym typeface="Symbol" pitchFamily="18" charset="2"/>
              </a:rPr>
              <a:t>R’</a:t>
            </a:r>
            <a:r>
              <a:rPr lang="en-US" altLang="en-US" smtClean="0">
                <a:solidFill>
                  <a:srgbClr val="FF0000"/>
                </a:solidFill>
                <a:sym typeface="Symbol" pitchFamily="18" charset="2"/>
              </a:rPr>
              <a:t>(</a:t>
            </a: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a:t>
            </a:r>
            <a:r>
              <a:rPr lang="en-US" altLang="en-US" i="1" smtClean="0">
                <a:solidFill>
                  <a:srgbClr val="FF0000"/>
                </a:solidFill>
                <a:sym typeface="Symbol" pitchFamily="18" charset="2"/>
              </a:rPr>
              <a:t>w</a:t>
            </a:r>
          </a:p>
          <a:p>
            <a:endParaRPr lang="en-US" altLang="en-US" smtClean="0"/>
          </a:p>
        </p:txBody>
      </p:sp>
    </p:spTree>
    <p:extLst>
      <p:ext uri="{BB962C8B-B14F-4D97-AF65-F5344CB8AC3E}">
        <p14:creationId xmlns:p14="http://schemas.microsoft.com/office/powerpoint/2010/main" val="140026937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16.6 	A Union Bargaining Model</a:t>
            </a:r>
          </a:p>
        </p:txBody>
      </p:sp>
      <p:sp>
        <p:nvSpPr>
          <p:cNvPr id="6349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E76799B-530D-4130-AD69-A6F46CDAD9DA}" type="slidenum">
              <a:rPr lang="en-US" smtClean="0"/>
              <a:pPr>
                <a:defRPr/>
              </a:pPr>
              <a:t>55</a:t>
            </a:fld>
            <a:endParaRPr lang="en-US" dirty="0"/>
          </a:p>
        </p:txBody>
      </p:sp>
      <p:sp>
        <p:nvSpPr>
          <p:cNvPr id="63491" name="Content Placeholder 2"/>
          <p:cNvSpPr>
            <a:spLocks noGrp="1"/>
          </p:cNvSpPr>
          <p:nvPr>
            <p:ph type="body" sz="quarter" idx="12"/>
          </p:nvPr>
        </p:nvSpPr>
        <p:spPr>
          <a:prstGeom prst="rect">
            <a:avLst/>
          </a:prstGeom>
        </p:spPr>
        <p:txBody>
          <a:bodyPr/>
          <a:lstStyle/>
          <a:p>
            <a:r>
              <a:rPr lang="en-US" altLang="en-US" dirty="0" smtClean="0"/>
              <a:t>Assuming that </a:t>
            </a:r>
            <a:r>
              <a:rPr lang="en-US" altLang="en-US" i="1" dirty="0" smtClean="0">
                <a:latin typeface="Times New Roman" pitchFamily="18" charset="0"/>
              </a:rPr>
              <a:t>l</a:t>
            </a:r>
            <a:r>
              <a:rPr lang="en-US" altLang="en-US" dirty="0" smtClean="0"/>
              <a:t>* solves the firm’s problem</a:t>
            </a:r>
          </a:p>
          <a:p>
            <a:pPr lvl="1"/>
            <a:r>
              <a:rPr lang="en-US" altLang="en-US" dirty="0" smtClean="0"/>
              <a:t>The union’s goal is to choose </a:t>
            </a:r>
            <a:r>
              <a:rPr lang="en-US" altLang="en-US" i="1" dirty="0" smtClean="0"/>
              <a:t>w</a:t>
            </a:r>
            <a:r>
              <a:rPr lang="en-US" altLang="en-US" dirty="0" smtClean="0"/>
              <a:t> to maximize utility: </a:t>
            </a:r>
            <a:r>
              <a:rPr lang="en-US" altLang="en-US" i="1" dirty="0" smtClean="0">
                <a:solidFill>
                  <a:srgbClr val="FF0000"/>
                </a:solidFill>
                <a:sym typeface="Symbol" pitchFamily="18" charset="2"/>
              </a:rPr>
              <a:t>U</a:t>
            </a: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w</a:t>
            </a:r>
            <a:r>
              <a:rPr lang="en-US" altLang="en-US" dirty="0" err="1" smtClean="0">
                <a:solidFill>
                  <a:srgbClr val="FF0000"/>
                </a:solidFill>
                <a:sym typeface="Symbol" pitchFamily="18" charset="2"/>
              </a:rPr>
              <a:t>,</a:t>
            </a:r>
            <a:r>
              <a:rPr lang="en-US" altLang="en-US" i="1" dirty="0" err="1"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U</a:t>
            </a: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w</a:t>
            </a:r>
            <a:r>
              <a:rPr lang="en-US" altLang="en-US" dirty="0" err="1" smtClean="0">
                <a:solidFill>
                  <a:srgbClr val="FF0000"/>
                </a:solidFill>
                <a:sym typeface="Symbol" pitchFamily="18" charset="2"/>
              </a:rPr>
              <a:t>,</a:t>
            </a:r>
            <a:r>
              <a:rPr lang="en-US" altLang="en-US" i="1" dirty="0" err="1"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w</a:t>
            </a:r>
            <a:r>
              <a:rPr lang="en-US" altLang="en-US" dirty="0" smtClean="0">
                <a:solidFill>
                  <a:srgbClr val="FF0000"/>
                </a:solidFill>
                <a:sym typeface="Symbol" pitchFamily="18" charset="2"/>
              </a:rPr>
              <a:t>)]</a:t>
            </a:r>
          </a:p>
          <a:p>
            <a:pPr lvl="1"/>
            <a:r>
              <a:rPr lang="en-US" altLang="en-US" dirty="0" smtClean="0">
                <a:sym typeface="Symbol" pitchFamily="18" charset="2"/>
              </a:rPr>
              <a:t>The first-order condition for a maximum is</a:t>
            </a:r>
          </a:p>
          <a:p>
            <a:pPr algn="ctr">
              <a:buFontTx/>
              <a:buNone/>
            </a:pPr>
            <a:r>
              <a:rPr lang="en-US" altLang="en-US" sz="2800" i="1" dirty="0" smtClean="0">
                <a:solidFill>
                  <a:srgbClr val="FF0000"/>
                </a:solidFill>
                <a:sym typeface="Symbol" pitchFamily="18" charset="2"/>
              </a:rPr>
              <a:t>U</a:t>
            </a:r>
            <a:r>
              <a:rPr lang="en-US" altLang="en-US" sz="2800" baseline="-25000" dirty="0" smtClean="0">
                <a:solidFill>
                  <a:srgbClr val="FF0000"/>
                </a:solidFill>
                <a:sym typeface="Symbol" pitchFamily="18" charset="2"/>
              </a:rPr>
              <a:t>1</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U</a:t>
            </a:r>
            <a:r>
              <a:rPr lang="en-US" altLang="en-US" sz="2800" baseline="-25000" dirty="0" smtClean="0">
                <a:solidFill>
                  <a:srgbClr val="FF0000"/>
                </a:solidFill>
                <a:sym typeface="Symbol" pitchFamily="18" charset="2"/>
              </a:rPr>
              <a:t>2</a:t>
            </a:r>
            <a:r>
              <a:rPr lang="en-US" altLang="en-US" sz="2800" i="1" dirty="0" smtClean="0">
                <a:solidFill>
                  <a:srgbClr val="FF0000"/>
                </a:solidFill>
                <a:latin typeface="Times New Roman" pitchFamily="18" charset="0"/>
                <a:sym typeface="Symbol" pitchFamily="18" charset="2"/>
              </a:rPr>
              <a:t>l</a:t>
            </a:r>
            <a:r>
              <a:rPr lang="en-US" altLang="en-US" sz="2800" i="1" dirty="0" smtClean="0">
                <a:solidFill>
                  <a:srgbClr val="FF0000"/>
                </a:solidFill>
                <a:sym typeface="Symbol" pitchFamily="18" charset="2"/>
              </a:rPr>
              <a:t>’</a:t>
            </a:r>
            <a:r>
              <a:rPr lang="en-US" altLang="en-US" sz="2800" dirty="0" smtClean="0">
                <a:solidFill>
                  <a:srgbClr val="FF0000"/>
                </a:solidFill>
                <a:sym typeface="Symbol" pitchFamily="18" charset="2"/>
              </a:rPr>
              <a:t> = 0 </a:t>
            </a:r>
            <a:r>
              <a:rPr lang="en-US" altLang="en-US" sz="2800" dirty="0" smtClean="0">
                <a:solidFill>
                  <a:schemeClr val="tx1"/>
                </a:solidFill>
                <a:sym typeface="Symbol" pitchFamily="18" charset="2"/>
              </a:rPr>
              <a:t> or </a:t>
            </a:r>
            <a:r>
              <a:rPr lang="en-US" altLang="en-US" sz="2800" i="1" dirty="0" smtClean="0">
                <a:solidFill>
                  <a:srgbClr val="FF0000"/>
                </a:solidFill>
                <a:sym typeface="Symbol" pitchFamily="18" charset="2"/>
              </a:rPr>
              <a:t>U</a:t>
            </a:r>
            <a:r>
              <a:rPr lang="en-US" altLang="en-US" sz="2800" baseline="-25000" dirty="0" smtClean="0">
                <a:solidFill>
                  <a:srgbClr val="FF0000"/>
                </a:solidFill>
                <a:sym typeface="Symbol" pitchFamily="18" charset="2"/>
              </a:rPr>
              <a:t>1</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U</a:t>
            </a:r>
            <a:r>
              <a:rPr lang="en-US" altLang="en-US" sz="2800" baseline="-25000" dirty="0" smtClean="0">
                <a:solidFill>
                  <a:srgbClr val="FF0000"/>
                </a:solidFill>
                <a:sym typeface="Symbol" pitchFamily="18" charset="2"/>
              </a:rPr>
              <a:t>2 </a:t>
            </a:r>
            <a:r>
              <a:rPr lang="en-US" altLang="en-US" sz="2800" dirty="0" smtClean="0">
                <a:solidFill>
                  <a:srgbClr val="FF0000"/>
                </a:solidFill>
                <a:sym typeface="Symbol" pitchFamily="18" charset="2"/>
              </a:rPr>
              <a:t>= </a:t>
            </a:r>
            <a:r>
              <a:rPr lang="en-US" altLang="en-US" sz="2800" dirty="0" smtClean="0">
                <a:solidFill>
                  <a:srgbClr val="FF0000"/>
                </a:solidFill>
                <a:sym typeface="Symbol" pitchFamily="18" charset="2"/>
              </a:rPr>
              <a:t>- </a:t>
            </a:r>
            <a:r>
              <a:rPr lang="en-US" altLang="en-US" sz="2800" i="1" dirty="0" smtClean="0">
                <a:solidFill>
                  <a:srgbClr val="FF0000"/>
                </a:solidFill>
                <a:latin typeface="Times New Roman" pitchFamily="18" charset="0"/>
                <a:sym typeface="Symbol" pitchFamily="18" charset="2"/>
              </a:rPr>
              <a:t>l</a:t>
            </a:r>
            <a:r>
              <a:rPr lang="en-US" altLang="en-US" sz="2800" i="1" dirty="0" smtClean="0">
                <a:solidFill>
                  <a:srgbClr val="FF0000"/>
                </a:solidFill>
                <a:sym typeface="Symbol" pitchFamily="18" charset="2"/>
              </a:rPr>
              <a:t>’</a:t>
            </a:r>
            <a:r>
              <a:rPr lang="en-US" altLang="en-US" sz="2800" dirty="0" smtClean="0">
                <a:solidFill>
                  <a:srgbClr val="FF0000"/>
                </a:solidFill>
                <a:sym typeface="Symbol" pitchFamily="18" charset="2"/>
              </a:rPr>
              <a:t> </a:t>
            </a:r>
          </a:p>
          <a:p>
            <a:pPr lvl="2"/>
            <a:r>
              <a:rPr lang="en-US" altLang="en-US" dirty="0" smtClean="0"/>
              <a:t>The union should choose </a:t>
            </a:r>
            <a:r>
              <a:rPr lang="en-US" altLang="en-US" i="1" dirty="0" smtClean="0"/>
              <a:t>w</a:t>
            </a:r>
            <a:r>
              <a:rPr lang="en-US" altLang="en-US" dirty="0" smtClean="0"/>
              <a:t> so that its </a:t>
            </a:r>
            <a:r>
              <a:rPr lang="en-US" altLang="en-US" i="1" dirty="0" smtClean="0"/>
              <a:t>MRS</a:t>
            </a:r>
            <a:r>
              <a:rPr lang="en-US" altLang="en-US" dirty="0" smtClean="0"/>
              <a:t> is equal to the </a:t>
            </a:r>
            <a:r>
              <a:rPr lang="en-US" altLang="en-US" dirty="0" smtClean="0"/>
              <a:t>absolute value of the slope </a:t>
            </a:r>
            <a:r>
              <a:rPr lang="en-US" altLang="en-US" dirty="0" smtClean="0"/>
              <a:t>of the firm’s labor demand function</a:t>
            </a:r>
          </a:p>
          <a:p>
            <a:pPr lvl="2"/>
            <a:r>
              <a:rPr lang="en-US" altLang="en-US" dirty="0" smtClean="0"/>
              <a:t>The </a:t>
            </a:r>
            <a:r>
              <a:rPr lang="en-US" altLang="en-US" i="1" dirty="0" smtClean="0">
                <a:latin typeface="Times New Roman" panose="02020603050405020304" pitchFamily="18" charset="0"/>
                <a:cs typeface="Times New Roman" panose="02020603050405020304" pitchFamily="18" charset="0"/>
              </a:rPr>
              <a:t>w*, l* </a:t>
            </a:r>
            <a:r>
              <a:rPr lang="en-US" altLang="en-US" dirty="0" smtClean="0"/>
              <a:t>combination resulting </a:t>
            </a:r>
            <a:r>
              <a:rPr lang="en-US" altLang="en-US" dirty="0" smtClean="0"/>
              <a:t>from this game is a Nash equilibrium</a:t>
            </a:r>
            <a:endParaRPr lang="en-US" altLang="en-US" i="1" dirty="0" smtClean="0">
              <a:sym typeface="Symbol" pitchFamily="18" charset="2"/>
            </a:endParaRPr>
          </a:p>
          <a:p>
            <a:endParaRPr lang="en-US" altLang="en-US" i="1" dirty="0" smtClean="0">
              <a:solidFill>
                <a:srgbClr val="7B332D"/>
              </a:solidFill>
              <a:sym typeface="Symbol" pitchFamily="18" charset="2"/>
            </a:endParaRPr>
          </a:p>
        </p:txBody>
      </p:sp>
    </p:spTree>
    <p:extLst>
      <p:ext uri="{BB962C8B-B14F-4D97-AF65-F5344CB8AC3E}">
        <p14:creationId xmlns:p14="http://schemas.microsoft.com/office/powerpoint/2010/main" val="197334545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16.6 	A Union Bargaining Model</a:t>
            </a:r>
          </a:p>
        </p:txBody>
      </p:sp>
      <p:sp>
        <p:nvSpPr>
          <p:cNvPr id="6349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E76799B-530D-4130-AD69-A6F46CDAD9DA}" type="slidenum">
              <a:rPr lang="en-US" smtClean="0"/>
              <a:pPr>
                <a:defRPr/>
              </a:pPr>
              <a:t>56</a:t>
            </a:fld>
            <a:endParaRPr lang="en-US" dirty="0"/>
          </a:p>
        </p:txBody>
      </p:sp>
      <p:sp>
        <p:nvSpPr>
          <p:cNvPr id="63491" name="Content Placeholder 2"/>
          <p:cNvSpPr>
            <a:spLocks noGrp="1"/>
          </p:cNvSpPr>
          <p:nvPr>
            <p:ph type="body" sz="quarter" idx="12"/>
          </p:nvPr>
        </p:nvSpPr>
        <p:spPr>
          <a:prstGeom prst="rect">
            <a:avLst/>
          </a:prstGeom>
        </p:spPr>
        <p:txBody>
          <a:bodyPr/>
          <a:lstStyle/>
          <a:p>
            <a:r>
              <a:rPr lang="en-US" altLang="en-US" dirty="0" smtClean="0"/>
              <a:t>Efficiency of the labor contract</a:t>
            </a:r>
          </a:p>
          <a:p>
            <a:pPr lvl="1"/>
            <a:r>
              <a:rPr lang="en-US" altLang="en-US" dirty="0" smtClean="0"/>
              <a:t>The labor contract </a:t>
            </a:r>
            <a:r>
              <a:rPr lang="en-US" altLang="en-US" i="1" dirty="0" smtClean="0">
                <a:latin typeface="Times New Roman" panose="02020603050405020304" pitchFamily="18" charset="0"/>
                <a:cs typeface="Times New Roman" panose="02020603050405020304" pitchFamily="18" charset="0"/>
              </a:rPr>
              <a:t>w</a:t>
            </a:r>
            <a:r>
              <a:rPr lang="en-US" altLang="en-US" i="1" dirty="0">
                <a:latin typeface="Times New Roman" panose="02020603050405020304" pitchFamily="18" charset="0"/>
                <a:cs typeface="Times New Roman" panose="02020603050405020304" pitchFamily="18" charset="0"/>
              </a:rPr>
              <a:t>*, l* </a:t>
            </a:r>
            <a:r>
              <a:rPr lang="en-US" altLang="en-US" dirty="0" smtClean="0"/>
              <a:t>is Pareto inefficient</a:t>
            </a:r>
          </a:p>
          <a:p>
            <a:pPr lvl="1"/>
            <a:r>
              <a:rPr lang="en-US" altLang="en-US" dirty="0" smtClean="0">
                <a:sym typeface="Symbol" pitchFamily="18" charset="2"/>
              </a:rPr>
              <a:t>Because</a:t>
            </a:r>
            <a:r>
              <a:rPr lang="en-US" altLang="en-US" i="1" dirty="0" smtClean="0">
                <a:sym typeface="Symbol" pitchFamily="18" charset="2"/>
              </a:rPr>
              <a:t> </a:t>
            </a:r>
            <a:r>
              <a:rPr lang="en-US" altLang="en-US" i="1" dirty="0" smtClean="0">
                <a:latin typeface="Times New Roman" panose="02020603050405020304" pitchFamily="18" charset="0"/>
                <a:cs typeface="Times New Roman" panose="02020603050405020304" pitchFamily="18" charset="0"/>
                <a:sym typeface="Symbol" pitchFamily="18" charset="2"/>
              </a:rPr>
              <a:t>U</a:t>
            </a:r>
            <a:r>
              <a:rPr lang="en-US" altLang="en-US" i="1" baseline="-25000" dirty="0" smtClean="0">
                <a:latin typeface="Times New Roman" panose="02020603050405020304" pitchFamily="18" charset="0"/>
                <a:cs typeface="Times New Roman" panose="02020603050405020304" pitchFamily="18" charset="0"/>
                <a:sym typeface="Symbol" pitchFamily="18" charset="2"/>
              </a:rPr>
              <a:t>1</a:t>
            </a:r>
            <a:r>
              <a:rPr lang="en-US" altLang="en-US" i="1" dirty="0" smtClean="0">
                <a:latin typeface="Times New Roman" panose="02020603050405020304" pitchFamily="18" charset="0"/>
                <a:cs typeface="Times New Roman" panose="02020603050405020304" pitchFamily="18" charset="0"/>
                <a:sym typeface="Symbol" pitchFamily="18" charset="2"/>
              </a:rPr>
              <a:t>/U</a:t>
            </a:r>
            <a:r>
              <a:rPr lang="en-US" altLang="en-US" i="1" baseline="-25000" dirty="0" smtClean="0">
                <a:latin typeface="Times New Roman" panose="02020603050405020304" pitchFamily="18" charset="0"/>
                <a:cs typeface="Times New Roman" panose="02020603050405020304" pitchFamily="18" charset="0"/>
                <a:sym typeface="Symbol" pitchFamily="18" charset="2"/>
              </a:rPr>
              <a:t>2</a:t>
            </a:r>
            <a:r>
              <a:rPr lang="en-US" altLang="en-US" i="1" dirty="0" smtClean="0">
                <a:latin typeface="Times New Roman" panose="02020603050405020304" pitchFamily="18" charset="0"/>
                <a:cs typeface="Times New Roman" panose="02020603050405020304" pitchFamily="18" charset="0"/>
                <a:sym typeface="Symbol" pitchFamily="18" charset="2"/>
              </a:rPr>
              <a:t> = -l’ </a:t>
            </a:r>
          </a:p>
          <a:p>
            <a:pPr lvl="2"/>
            <a:r>
              <a:rPr lang="en-US" altLang="en-US" dirty="0" smtClean="0">
                <a:sym typeface="Symbol" pitchFamily="18" charset="2"/>
              </a:rPr>
              <a:t>Small movements </a:t>
            </a:r>
            <a:r>
              <a:rPr lang="en-US" altLang="en-US" dirty="0">
                <a:sym typeface="Symbol" pitchFamily="18" charset="2"/>
              </a:rPr>
              <a:t>along the firm’s </a:t>
            </a:r>
            <a:r>
              <a:rPr lang="en-US" altLang="en-US" dirty="0" smtClean="0">
                <a:sym typeface="Symbol" pitchFamily="18" charset="2"/>
              </a:rPr>
              <a:t>labor demand </a:t>
            </a:r>
            <a:r>
              <a:rPr lang="en-US" altLang="en-US" dirty="0">
                <a:sym typeface="Symbol" pitchFamily="18" charset="2"/>
              </a:rPr>
              <a:t>curve (</a:t>
            </a:r>
            <a:r>
              <a:rPr lang="en-US" altLang="en-US" i="1" dirty="0">
                <a:latin typeface="Times New Roman" panose="02020603050405020304" pitchFamily="18" charset="0"/>
                <a:cs typeface="Times New Roman" panose="02020603050405020304" pitchFamily="18" charset="0"/>
                <a:sym typeface="Symbol" pitchFamily="18" charset="2"/>
              </a:rPr>
              <a:t>l</a:t>
            </a:r>
            <a:r>
              <a:rPr lang="en-US" altLang="en-US" dirty="0">
                <a:sym typeface="Symbol" pitchFamily="18" charset="2"/>
              </a:rPr>
              <a:t>) leave the union equally </a:t>
            </a:r>
            <a:r>
              <a:rPr lang="en-US" altLang="en-US" dirty="0" smtClean="0">
                <a:sym typeface="Symbol" pitchFamily="18" charset="2"/>
              </a:rPr>
              <a:t>well-off</a:t>
            </a:r>
          </a:p>
          <a:p>
            <a:pPr lvl="2"/>
            <a:r>
              <a:rPr lang="en-US" altLang="en-US" dirty="0" smtClean="0">
                <a:sym typeface="Symbol" pitchFamily="18" charset="2"/>
              </a:rPr>
              <a:t>But </a:t>
            </a:r>
            <a:r>
              <a:rPr lang="en-US" altLang="en-US" dirty="0">
                <a:sym typeface="Symbol" pitchFamily="18" charset="2"/>
              </a:rPr>
              <a:t>the envelope theorem implies that </a:t>
            </a:r>
            <a:r>
              <a:rPr lang="en-US" altLang="en-US" dirty="0" smtClean="0">
                <a:sym typeface="Symbol" pitchFamily="18" charset="2"/>
              </a:rPr>
              <a:t>a decrease </a:t>
            </a:r>
            <a:r>
              <a:rPr lang="en-US" altLang="en-US" dirty="0">
                <a:sym typeface="Symbol" pitchFamily="18" charset="2"/>
              </a:rPr>
              <a:t>in </a:t>
            </a:r>
            <a:r>
              <a:rPr lang="en-US" altLang="en-US" i="1" dirty="0">
                <a:latin typeface="Times New Roman" panose="02020603050405020304" pitchFamily="18" charset="0"/>
                <a:cs typeface="Times New Roman" panose="02020603050405020304" pitchFamily="18" charset="0"/>
                <a:sym typeface="Symbol" pitchFamily="18" charset="2"/>
              </a:rPr>
              <a:t>w</a:t>
            </a:r>
            <a:r>
              <a:rPr lang="en-US" altLang="en-US" dirty="0">
                <a:sym typeface="Symbol" pitchFamily="18" charset="2"/>
              </a:rPr>
              <a:t> must increase profits to the </a:t>
            </a:r>
            <a:r>
              <a:rPr lang="en-US" altLang="en-US" dirty="0" smtClean="0">
                <a:sym typeface="Symbol" pitchFamily="18" charset="2"/>
              </a:rPr>
              <a:t>firm</a:t>
            </a:r>
          </a:p>
          <a:p>
            <a:pPr lvl="2"/>
            <a:r>
              <a:rPr lang="en-US" altLang="en-US" dirty="0" smtClean="0">
                <a:sym typeface="Symbol" pitchFamily="18" charset="2"/>
              </a:rPr>
              <a:t>Hence </a:t>
            </a:r>
            <a:r>
              <a:rPr lang="en-US" altLang="en-US" dirty="0">
                <a:sym typeface="Symbol" pitchFamily="18" charset="2"/>
              </a:rPr>
              <a:t>there must exist a contract </a:t>
            </a:r>
            <a:r>
              <a:rPr lang="en-US" altLang="en-US" i="1" dirty="0" err="1">
                <a:latin typeface="Times New Roman" panose="02020603050405020304" pitchFamily="18" charset="0"/>
                <a:cs typeface="Times New Roman" panose="02020603050405020304" pitchFamily="18" charset="0"/>
                <a:sym typeface="Symbol" pitchFamily="18" charset="2"/>
              </a:rPr>
              <a:t>w</a:t>
            </a:r>
            <a:r>
              <a:rPr lang="en-US" altLang="en-US" i="1" baseline="30000" dirty="0" err="1">
                <a:latin typeface="Times New Roman" panose="02020603050405020304" pitchFamily="18" charset="0"/>
                <a:cs typeface="Times New Roman" panose="02020603050405020304" pitchFamily="18" charset="0"/>
                <a:sym typeface="Symbol" pitchFamily="18" charset="2"/>
              </a:rPr>
              <a:t>p</a:t>
            </a:r>
            <a:r>
              <a:rPr lang="en-US" altLang="en-US" i="1" dirty="0">
                <a:latin typeface="Times New Roman" panose="02020603050405020304" pitchFamily="18" charset="0"/>
                <a:cs typeface="Times New Roman" panose="02020603050405020304" pitchFamily="18" charset="0"/>
                <a:sym typeface="Symbol" pitchFamily="18" charset="2"/>
              </a:rPr>
              <a:t>, </a:t>
            </a:r>
            <a:r>
              <a:rPr lang="en-US" altLang="en-US" i="1" dirty="0" err="1" smtClean="0">
                <a:latin typeface="Times New Roman" panose="02020603050405020304" pitchFamily="18" charset="0"/>
                <a:cs typeface="Times New Roman" panose="02020603050405020304" pitchFamily="18" charset="0"/>
                <a:sym typeface="Symbol" pitchFamily="18" charset="2"/>
              </a:rPr>
              <a:t>l</a:t>
            </a:r>
            <a:r>
              <a:rPr lang="en-US" altLang="en-US" i="1" baseline="30000" dirty="0" err="1" smtClean="0">
                <a:latin typeface="Times New Roman" panose="02020603050405020304" pitchFamily="18" charset="0"/>
                <a:cs typeface="Times New Roman" panose="02020603050405020304" pitchFamily="18" charset="0"/>
                <a:sym typeface="Symbol" pitchFamily="18" charset="2"/>
              </a:rPr>
              <a:t>p</a:t>
            </a:r>
            <a:r>
              <a:rPr lang="en-US" altLang="en-US" i="1" dirty="0" smtClean="0">
                <a:latin typeface="Times New Roman" panose="02020603050405020304" pitchFamily="18" charset="0"/>
                <a:cs typeface="Times New Roman" panose="02020603050405020304" pitchFamily="18" charset="0"/>
                <a:sym typeface="Symbol" pitchFamily="18" charset="2"/>
              </a:rPr>
              <a:t> </a:t>
            </a:r>
            <a:r>
              <a:rPr lang="en-US" altLang="en-US" dirty="0">
                <a:sym typeface="Symbol" pitchFamily="18" charset="2"/>
              </a:rPr>
              <a:t>(where</a:t>
            </a:r>
          </a:p>
          <a:p>
            <a:pPr lvl="2"/>
            <a:r>
              <a:rPr lang="en-US" altLang="en-US" i="1" dirty="0" err="1">
                <a:latin typeface="Times New Roman" panose="02020603050405020304" pitchFamily="18" charset="0"/>
                <a:cs typeface="Times New Roman" panose="02020603050405020304" pitchFamily="18" charset="0"/>
                <a:sym typeface="Symbol" pitchFamily="18" charset="2"/>
              </a:rPr>
              <a:t>w</a:t>
            </a:r>
            <a:r>
              <a:rPr lang="en-US" altLang="en-US" i="1" baseline="30000" dirty="0" err="1">
                <a:latin typeface="Times New Roman" panose="02020603050405020304" pitchFamily="18" charset="0"/>
                <a:cs typeface="Times New Roman" panose="02020603050405020304" pitchFamily="18" charset="0"/>
                <a:sym typeface="Symbol" pitchFamily="18" charset="2"/>
              </a:rPr>
              <a:t>p</a:t>
            </a:r>
            <a:r>
              <a:rPr lang="en-US" altLang="en-US" i="1" dirty="0">
                <a:latin typeface="Times New Roman" panose="02020603050405020304" pitchFamily="18" charset="0"/>
                <a:cs typeface="Times New Roman" panose="02020603050405020304" pitchFamily="18" charset="0"/>
                <a:sym typeface="Symbol" pitchFamily="18" charset="2"/>
              </a:rPr>
              <a:t> &lt; </a:t>
            </a:r>
            <a:r>
              <a:rPr lang="en-US" altLang="en-US" i="1" dirty="0" smtClean="0">
                <a:latin typeface="Times New Roman" panose="02020603050405020304" pitchFamily="18" charset="0"/>
                <a:cs typeface="Times New Roman" panose="02020603050405020304" pitchFamily="18" charset="0"/>
                <a:sym typeface="Symbol" pitchFamily="18" charset="2"/>
              </a:rPr>
              <a:t>w* </a:t>
            </a:r>
            <a:r>
              <a:rPr lang="en-US" altLang="en-US" dirty="0">
                <a:sym typeface="Symbol" pitchFamily="18" charset="2"/>
              </a:rPr>
              <a:t>and </a:t>
            </a:r>
            <a:r>
              <a:rPr lang="en-US" altLang="en-US" i="1" dirty="0" err="1" smtClean="0">
                <a:latin typeface="Times New Roman" panose="02020603050405020304" pitchFamily="18" charset="0"/>
                <a:cs typeface="Times New Roman" panose="02020603050405020304" pitchFamily="18" charset="0"/>
                <a:sym typeface="Symbol" pitchFamily="18" charset="2"/>
              </a:rPr>
              <a:t>l</a:t>
            </a:r>
            <a:r>
              <a:rPr lang="en-US" altLang="en-US" i="1" baseline="30000" dirty="0" err="1" smtClean="0">
                <a:latin typeface="Times New Roman" panose="02020603050405020304" pitchFamily="18" charset="0"/>
                <a:cs typeface="Times New Roman" panose="02020603050405020304" pitchFamily="18" charset="0"/>
                <a:sym typeface="Symbol" pitchFamily="18" charset="2"/>
              </a:rPr>
              <a:t>p</a:t>
            </a:r>
            <a:r>
              <a:rPr lang="en-US" altLang="en-US" i="1" dirty="0" smtClean="0">
                <a:latin typeface="Times New Roman" panose="02020603050405020304" pitchFamily="18" charset="0"/>
                <a:cs typeface="Times New Roman" panose="02020603050405020304" pitchFamily="18" charset="0"/>
                <a:sym typeface="Symbol" pitchFamily="18" charset="2"/>
              </a:rPr>
              <a:t> </a:t>
            </a:r>
            <a:r>
              <a:rPr lang="en-US" altLang="en-US" i="1" dirty="0">
                <a:latin typeface="Times New Roman" panose="02020603050405020304" pitchFamily="18" charset="0"/>
                <a:cs typeface="Times New Roman" panose="02020603050405020304" pitchFamily="18" charset="0"/>
                <a:sym typeface="Symbol" pitchFamily="18" charset="2"/>
              </a:rPr>
              <a:t>&gt; </a:t>
            </a:r>
            <a:r>
              <a:rPr lang="en-US" altLang="en-US" i="1" dirty="0" smtClean="0">
                <a:latin typeface="Times New Roman" panose="02020603050405020304" pitchFamily="18" charset="0"/>
                <a:cs typeface="Times New Roman" panose="02020603050405020304" pitchFamily="18" charset="0"/>
                <a:sym typeface="Symbol" pitchFamily="18" charset="2"/>
              </a:rPr>
              <a:t>l*</a:t>
            </a:r>
            <a:r>
              <a:rPr lang="en-US" altLang="en-US" dirty="0" smtClean="0">
                <a:sym typeface="Symbol" pitchFamily="18" charset="2"/>
              </a:rPr>
              <a:t>) </a:t>
            </a:r>
            <a:r>
              <a:rPr lang="en-US" altLang="en-US" dirty="0">
                <a:sym typeface="Symbol" pitchFamily="18" charset="2"/>
              </a:rPr>
              <a:t>with which both the firm and union are better off</a:t>
            </a:r>
            <a:endParaRPr lang="en-US" altLang="en-US" dirty="0" smtClean="0">
              <a:sym typeface="Symbol" pitchFamily="18" charset="2"/>
            </a:endParaRPr>
          </a:p>
          <a:p>
            <a:endParaRPr lang="en-US" altLang="en-US" i="1" dirty="0" smtClean="0">
              <a:solidFill>
                <a:srgbClr val="7B332D"/>
              </a:solidFill>
              <a:sym typeface="Symbol" pitchFamily="18" charset="2"/>
            </a:endParaRPr>
          </a:p>
        </p:txBody>
      </p:sp>
    </p:spTree>
    <p:extLst>
      <p:ext uri="{BB962C8B-B14F-4D97-AF65-F5344CB8AC3E}">
        <p14:creationId xmlns:p14="http://schemas.microsoft.com/office/powerpoint/2010/main" val="666896151"/>
      </p:ext>
    </p:extLst>
  </p:cSld>
  <p:clrMapOvr>
    <a:masterClrMapping/>
  </p:clrMapOvr>
  <p:timing>
    <p:tnLst>
      <p:par>
        <p:cTn id="1" dur="indefinite" restart="never" nodeType="tmRoot"/>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11087</TotalTime>
  <Words>6613</Words>
  <Application>Microsoft Office PowerPoint</Application>
  <PresentationFormat>On-screen Show (4:3)</PresentationFormat>
  <Paragraphs>532</Paragraphs>
  <Slides>56</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56</vt:i4>
      </vt:variant>
    </vt:vector>
  </HeadingPairs>
  <TitlesOfParts>
    <vt:vector size="63" baseType="lpstr">
      <vt:lpstr>chapter</vt:lpstr>
      <vt:lpstr>main</vt:lpstr>
      <vt:lpstr>figure</vt:lpstr>
      <vt:lpstr>table</vt:lpstr>
      <vt:lpstr>example</vt:lpstr>
      <vt:lpstr>extensions</vt:lpstr>
      <vt:lpstr>MathType 6.0 Equation</vt:lpstr>
      <vt:lpstr>CHAPTER       16    Labor Markets </vt:lpstr>
      <vt:lpstr>Allocation of Time</vt:lpstr>
      <vt:lpstr>Simple Two-Good Model</vt:lpstr>
      <vt:lpstr>Simple Two-Good Model</vt:lpstr>
      <vt:lpstr>Utility Maximization</vt:lpstr>
      <vt:lpstr>Utility Maximization</vt:lpstr>
      <vt:lpstr>Income and Substitution Effects</vt:lpstr>
      <vt:lpstr>16.1 Income and Substitution Effects of a Change   in the Real Wage Rate w</vt:lpstr>
      <vt:lpstr>A Mathematical Analysis of Labor Supply</vt:lpstr>
      <vt:lpstr>A Mathematical Analysis of Labor Supply</vt:lpstr>
      <vt:lpstr>Dual to the Labor Supply Problem</vt:lpstr>
      <vt:lpstr>Dual to the Labor Supply Problem</vt:lpstr>
      <vt:lpstr>Slutsky Equation for Labor Supply</vt:lpstr>
      <vt:lpstr>Slutsky Equation for Labor Supply</vt:lpstr>
      <vt:lpstr>16.1  Labor Supply Functions</vt:lpstr>
      <vt:lpstr>16.1  Labor Supply Functions</vt:lpstr>
      <vt:lpstr>16.1  Labor Supply Functions</vt:lpstr>
      <vt:lpstr>16.1  Labor Supply Functions</vt:lpstr>
      <vt:lpstr>16.1  Labor Supply Functions</vt:lpstr>
      <vt:lpstr>16.1  Labor Supply Functions</vt:lpstr>
      <vt:lpstr>Market Supply Curve For Labor</vt:lpstr>
      <vt:lpstr>16.2 Construction of the Market Supply Curve for   Labor</vt:lpstr>
      <vt:lpstr>Labor Market Equilibrium</vt:lpstr>
      <vt:lpstr>16.3 Equilibrium in the Labor Market</vt:lpstr>
      <vt:lpstr>Labor Market Equilibrium</vt:lpstr>
      <vt:lpstr>16.2  Mandated Benefits</vt:lpstr>
      <vt:lpstr>16.2  Mandated Benefits</vt:lpstr>
      <vt:lpstr>16.2  Mandated Benefits</vt:lpstr>
      <vt:lpstr>16.2  Mandated Benefits</vt:lpstr>
      <vt:lpstr>Wage Variation</vt:lpstr>
      <vt:lpstr>Human Capital</vt:lpstr>
      <vt:lpstr>16.3  General and Specific Human Capital</vt:lpstr>
      <vt:lpstr>16.3  General and Specific Human Capital</vt:lpstr>
      <vt:lpstr>16.3  General and Specific Human Capital</vt:lpstr>
      <vt:lpstr>16.3  General and Specific Human Capital</vt:lpstr>
      <vt:lpstr>Compensating Differentials</vt:lpstr>
      <vt:lpstr>Compensating Differentials</vt:lpstr>
      <vt:lpstr>Compensating Differentials</vt:lpstr>
      <vt:lpstr>Compensating Differentials</vt:lpstr>
      <vt:lpstr>Compensating Differentials</vt:lpstr>
      <vt:lpstr>Job Search </vt:lpstr>
      <vt:lpstr>Job Search </vt:lpstr>
      <vt:lpstr>Job Search </vt:lpstr>
      <vt:lpstr>Monopsony in the Labor Market</vt:lpstr>
      <vt:lpstr>Monopsony in the Labor Market</vt:lpstr>
      <vt:lpstr>Monopsony in the Labor Market</vt:lpstr>
      <vt:lpstr>Monopsony in the Labor Market</vt:lpstr>
      <vt:lpstr>16.4 Pricing in a Monopsonistic Labor Market</vt:lpstr>
      <vt:lpstr>16.4  Monopsonistic Hiring</vt:lpstr>
      <vt:lpstr>Labor Unions</vt:lpstr>
      <vt:lpstr>Labor Unions</vt:lpstr>
      <vt:lpstr>16.5 Three Possible Points on the Labor Demand Curve That a Monopolistic Union Might Choose</vt:lpstr>
      <vt:lpstr>16.5  Modeling a Union</vt:lpstr>
      <vt:lpstr>16.6  A Union Bargaining Model</vt:lpstr>
      <vt:lpstr>16.6  A Union Bargaining Model</vt:lpstr>
      <vt:lpstr>16.6  A Union Bargaining Model</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673</cp:revision>
  <dcterms:created xsi:type="dcterms:W3CDTF">2016-06-05T19:40:39Z</dcterms:created>
  <dcterms:modified xsi:type="dcterms:W3CDTF">2016-06-22T17:45:22Z</dcterms:modified>
</cp:coreProperties>
</file>