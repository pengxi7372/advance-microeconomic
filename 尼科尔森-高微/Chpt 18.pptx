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114"/>
  </p:notesMasterIdLst>
  <p:handoutMasterIdLst>
    <p:handoutMasterId r:id="rId115"/>
  </p:handoutMasterIdLst>
  <p:sldIdLst>
    <p:sldId id="258" r:id="rId7"/>
    <p:sldId id="281" r:id="rId8"/>
    <p:sldId id="282" r:id="rId9"/>
    <p:sldId id="283" r:id="rId10"/>
    <p:sldId id="284" r:id="rId11"/>
    <p:sldId id="287" r:id="rId12"/>
    <p:sldId id="285" r:id="rId13"/>
    <p:sldId id="286" r:id="rId14"/>
    <p:sldId id="288" r:id="rId15"/>
    <p:sldId id="289" r:id="rId16"/>
    <p:sldId id="290" r:id="rId17"/>
    <p:sldId id="291"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64" r:id="rId34"/>
    <p:sldId id="308" r:id="rId35"/>
    <p:sldId id="309" r:id="rId36"/>
    <p:sldId id="310" r:id="rId37"/>
    <p:sldId id="311" r:id="rId38"/>
    <p:sldId id="365" r:id="rId39"/>
    <p:sldId id="312" r:id="rId40"/>
    <p:sldId id="313" r:id="rId41"/>
    <p:sldId id="314" r:id="rId42"/>
    <p:sldId id="315"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66" r:id="rId56"/>
    <p:sldId id="367" r:id="rId57"/>
    <p:sldId id="368" r:id="rId58"/>
    <p:sldId id="328" r:id="rId59"/>
    <p:sldId id="329" r:id="rId60"/>
    <p:sldId id="330" r:id="rId61"/>
    <p:sldId id="331" r:id="rId62"/>
    <p:sldId id="332" r:id="rId63"/>
    <p:sldId id="369" r:id="rId64"/>
    <p:sldId id="370" r:id="rId65"/>
    <p:sldId id="371" r:id="rId66"/>
    <p:sldId id="372" r:id="rId67"/>
    <p:sldId id="373" r:id="rId68"/>
    <p:sldId id="333" r:id="rId69"/>
    <p:sldId id="334" r:id="rId70"/>
    <p:sldId id="335" r:id="rId71"/>
    <p:sldId id="336" r:id="rId72"/>
    <p:sldId id="337" r:id="rId73"/>
    <p:sldId id="342" r:id="rId74"/>
    <p:sldId id="343" r:id="rId75"/>
    <p:sldId id="344" r:id="rId76"/>
    <p:sldId id="374" r:id="rId77"/>
    <p:sldId id="338" r:id="rId78"/>
    <p:sldId id="339" r:id="rId79"/>
    <p:sldId id="340" r:id="rId80"/>
    <p:sldId id="341" r:id="rId81"/>
    <p:sldId id="345" r:id="rId82"/>
    <p:sldId id="346" r:id="rId83"/>
    <p:sldId id="347" r:id="rId84"/>
    <p:sldId id="348" r:id="rId85"/>
    <p:sldId id="349" r:id="rId86"/>
    <p:sldId id="350"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3" r:id="rId100"/>
    <p:sldId id="375" r:id="rId101"/>
    <p:sldId id="376" r:id="rId102"/>
    <p:sldId id="377" r:id="rId103"/>
    <p:sldId id="380" r:id="rId104"/>
    <p:sldId id="378" r:id="rId105"/>
    <p:sldId id="379" r:id="rId106"/>
    <p:sldId id="381" r:id="rId107"/>
    <p:sldId id="382" r:id="rId108"/>
    <p:sldId id="383" r:id="rId109"/>
    <p:sldId id="387" r:id="rId110"/>
    <p:sldId id="388" r:id="rId111"/>
    <p:sldId id="384" r:id="rId112"/>
    <p:sldId id="385" r:id="rId1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D56"/>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4" autoAdjust="0"/>
    <p:restoredTop sz="98883" autoAdjust="0"/>
  </p:normalViewPr>
  <p:slideViewPr>
    <p:cSldViewPr>
      <p:cViewPr>
        <p:scale>
          <a:sx n="60" d="100"/>
          <a:sy n="60" d="100"/>
        </p:scale>
        <p:origin x="-1314" y="-288"/>
      </p:cViewPr>
      <p:guideLst>
        <p:guide orient="horz" pos="2160"/>
        <p:guide pos="2880"/>
      </p:guideLst>
    </p:cSldViewPr>
  </p:slideViewPr>
  <p:outlineViewPr>
    <p:cViewPr>
      <p:scale>
        <a:sx n="33" d="100"/>
        <a:sy n="33" d="100"/>
      </p:scale>
      <p:origin x="0" y="2349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viewProps" Target="viewProps.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slide" Target="slides/slide68.xml"/><Relationship Id="rId79" Type="http://schemas.openxmlformats.org/officeDocument/2006/relationships/slide" Target="slides/slide73.xml"/><Relationship Id="rId87" Type="http://schemas.openxmlformats.org/officeDocument/2006/relationships/slide" Target="slides/slide81.xml"/><Relationship Id="rId102" Type="http://schemas.openxmlformats.org/officeDocument/2006/relationships/slide" Target="slides/slide96.xml"/><Relationship Id="rId110" Type="http://schemas.openxmlformats.org/officeDocument/2006/relationships/slide" Target="slides/slide104.xml"/><Relationship Id="rId115" Type="http://schemas.openxmlformats.org/officeDocument/2006/relationships/handoutMaster" Target="handoutMasters/handoutMaster1.xml"/><Relationship Id="rId5" Type="http://schemas.openxmlformats.org/officeDocument/2006/relationships/slideMaster" Target="slideMasters/slideMaster5.xml"/><Relationship Id="rId61" Type="http://schemas.openxmlformats.org/officeDocument/2006/relationships/slide" Target="slides/slide55.xml"/><Relationship Id="rId82" Type="http://schemas.openxmlformats.org/officeDocument/2006/relationships/slide" Target="slides/slide76.xml"/><Relationship Id="rId90" Type="http://schemas.openxmlformats.org/officeDocument/2006/relationships/slide" Target="slides/slide84.xml"/><Relationship Id="rId95" Type="http://schemas.openxmlformats.org/officeDocument/2006/relationships/slide" Target="slides/slide89.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13" Type="http://schemas.openxmlformats.org/officeDocument/2006/relationships/slide" Target="slides/slide107.xml"/><Relationship Id="rId118" Type="http://schemas.openxmlformats.org/officeDocument/2006/relationships/theme" Target="theme/theme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80" Type="http://schemas.openxmlformats.org/officeDocument/2006/relationships/slide" Target="slides/slide74.xml"/><Relationship Id="rId85" Type="http://schemas.openxmlformats.org/officeDocument/2006/relationships/slide" Target="slides/slide79.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103" Type="http://schemas.openxmlformats.org/officeDocument/2006/relationships/slide" Target="slides/slide97.xml"/><Relationship Id="rId108" Type="http://schemas.openxmlformats.org/officeDocument/2006/relationships/slide" Target="slides/slide102.xml"/><Relationship Id="rId116"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slide" Target="slides/slide85.xml"/><Relationship Id="rId96" Type="http://schemas.openxmlformats.org/officeDocument/2006/relationships/slide" Target="slides/slide90.xml"/><Relationship Id="rId111" Type="http://schemas.openxmlformats.org/officeDocument/2006/relationships/slide" Target="slides/slide10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slide" Target="slides/slide100.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6/27/2016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6/27/2016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6.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18.wmf"/><Relationship Id="rId5" Type="http://schemas.openxmlformats.org/officeDocument/2006/relationships/oleObject" Target="../embeddings/oleObject3.bin"/><Relationship Id="rId4" Type="http://schemas.openxmlformats.org/officeDocument/2006/relationships/image" Target="../media/image17.wmf"/></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38.w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10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  	</a:t>
            </a:r>
            <a:r>
              <a:rPr lang="en-US" sz="4800" b="1" baseline="0" dirty="0"/>
              <a:t>Asymmetric </a:t>
            </a:r>
            <a:r>
              <a:rPr lang="en-US" dirty="0" smtClean="0"/>
              <a:t/>
            </a:r>
            <a:br>
              <a:rPr lang="en-US" dirty="0" smtClean="0"/>
            </a:br>
            <a:r>
              <a:rPr lang="en-US" baseline="0" dirty="0" smtClean="0"/>
              <a:t> 18</a:t>
            </a:r>
            <a:r>
              <a:rPr lang="en-US" b="1" baseline="0" dirty="0" smtClean="0"/>
              <a:t>	 		</a:t>
            </a:r>
            <a:r>
              <a:rPr lang="en-US" sz="4800" b="1" baseline="0" dirty="0" smtClean="0"/>
              <a:t>Information</a:t>
            </a:r>
            <a:endParaRPr lang="en-US" sz="44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smtClean="0"/>
              <a:t>Asymmetric Information</a:t>
            </a:r>
          </a:p>
        </p:txBody>
      </p:sp>
      <p:sp>
        <p:nvSpPr>
          <p:cNvPr id="17411" name="Rectangle 3"/>
          <p:cNvSpPr>
            <a:spLocks noGrp="1" noChangeArrowheads="1"/>
          </p:cNvSpPr>
          <p:nvPr>
            <p:ph idx="1"/>
          </p:nvPr>
        </p:nvSpPr>
        <p:spPr/>
        <p:txBody>
          <a:bodyPr/>
          <a:lstStyle/>
          <a:p>
            <a:r>
              <a:rPr lang="en-US" altLang="en-US" smtClean="0"/>
              <a:t>Transactions can involve a considerable amount of uncertainty</a:t>
            </a:r>
          </a:p>
          <a:p>
            <a:pPr lvl="1"/>
            <a:r>
              <a:rPr lang="en-US" altLang="en-US" smtClean="0"/>
              <a:t>Can lead to inefficiency when one side has better information</a:t>
            </a:r>
          </a:p>
          <a:p>
            <a:r>
              <a:rPr lang="en-US" altLang="en-US" smtClean="0"/>
              <a:t>Asymmetric information</a:t>
            </a:r>
          </a:p>
          <a:p>
            <a:pPr lvl="1"/>
            <a:r>
              <a:rPr lang="en-US" altLang="en-US" smtClean="0"/>
              <a:t>The side with better information</a:t>
            </a:r>
          </a:p>
          <a:p>
            <a:pPr lvl="2"/>
            <a:r>
              <a:rPr lang="en-US" altLang="en-US" smtClean="0"/>
              <a:t>Private information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32ABCDC-EA3E-4418-A6AD-3F978DAC05E4}" type="slidenum">
              <a:rPr lang="en-US" smtClean="0"/>
              <a:pPr>
                <a:defRPr/>
              </a:pPr>
              <a:t>2</a:t>
            </a:fld>
            <a:endParaRPr lang="en-US"/>
          </a:p>
        </p:txBody>
      </p:sp>
    </p:spTree>
    <p:extLst>
      <p:ext uri="{BB962C8B-B14F-4D97-AF65-F5344CB8AC3E}">
        <p14:creationId xmlns:p14="http://schemas.microsoft.com/office/powerpoint/2010/main" val="2201061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smtClean="0"/>
              <a:t>The Value of Contracts</a:t>
            </a:r>
          </a:p>
        </p:txBody>
      </p:sp>
      <p:sp>
        <p:nvSpPr>
          <p:cNvPr id="18435" name="Rectangle 3"/>
          <p:cNvSpPr>
            <a:spLocks noGrp="1" noChangeArrowheads="1"/>
          </p:cNvSpPr>
          <p:nvPr>
            <p:ph idx="1"/>
          </p:nvPr>
        </p:nvSpPr>
        <p:spPr/>
        <p:txBody>
          <a:bodyPr/>
          <a:lstStyle/>
          <a:p>
            <a:r>
              <a:rPr lang="en-US" altLang="en-US" smtClean="0"/>
              <a:t>Contractual provisions </a:t>
            </a:r>
          </a:p>
          <a:p>
            <a:pPr lvl="1"/>
            <a:r>
              <a:rPr lang="en-US" altLang="en-US" smtClean="0"/>
              <a:t>Can be added in order to circumvent some of the inefficiencies associated with asymmetric information</a:t>
            </a:r>
          </a:p>
          <a:p>
            <a:pPr lvl="1"/>
            <a:r>
              <a:rPr lang="en-US" altLang="en-US" smtClean="0"/>
              <a:t>Rarely do they eliminate them</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8AEB793-A37B-4A46-A3E9-56E1E8510EC0}" type="slidenum">
              <a:rPr lang="en-US" smtClean="0"/>
              <a:pPr>
                <a:defRPr/>
              </a:pPr>
              <a:t>3</a:t>
            </a:fld>
            <a:endParaRPr lang="en-US"/>
          </a:p>
        </p:txBody>
      </p:sp>
    </p:spTree>
    <p:extLst>
      <p:ext uri="{BB962C8B-B14F-4D97-AF65-F5344CB8AC3E}">
        <p14:creationId xmlns:p14="http://schemas.microsoft.com/office/powerpoint/2010/main" val="24732069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smtClean="0"/>
              <a:t>Principal-Agent Model</a:t>
            </a:r>
          </a:p>
        </p:txBody>
      </p:sp>
      <p:sp>
        <p:nvSpPr>
          <p:cNvPr id="19459" name="Rectangle 3"/>
          <p:cNvSpPr>
            <a:spLocks noGrp="1" noChangeArrowheads="1"/>
          </p:cNvSpPr>
          <p:nvPr>
            <p:ph idx="1"/>
          </p:nvPr>
        </p:nvSpPr>
        <p:spPr/>
        <p:txBody>
          <a:bodyPr/>
          <a:lstStyle/>
          <a:p>
            <a:r>
              <a:rPr lang="en-US" altLang="en-US" smtClean="0"/>
              <a:t>Principal</a:t>
            </a:r>
          </a:p>
          <a:p>
            <a:pPr lvl="1"/>
            <a:r>
              <a:rPr lang="en-US" altLang="en-US" smtClean="0"/>
              <a:t>The party who proposes the contract</a:t>
            </a:r>
            <a:endParaRPr lang="en-US" altLang="en-US" u="sng" smtClean="0"/>
          </a:p>
          <a:p>
            <a:r>
              <a:rPr lang="en-US" altLang="en-US" smtClean="0"/>
              <a:t>Agent</a:t>
            </a:r>
          </a:p>
          <a:p>
            <a:pPr lvl="1"/>
            <a:r>
              <a:rPr lang="en-US" altLang="en-US" smtClean="0"/>
              <a:t>The party who decides whether or not to accept the contract </a:t>
            </a:r>
          </a:p>
          <a:p>
            <a:pPr lvl="1"/>
            <a:r>
              <a:rPr lang="en-US" altLang="en-US" smtClean="0"/>
              <a:t>And then performs under the terms of the contract </a:t>
            </a:r>
          </a:p>
          <a:p>
            <a:pPr lvl="1"/>
            <a:r>
              <a:rPr lang="en-US" altLang="en-US" smtClean="0"/>
              <a:t>Typically the party with asymmetric information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9BB8E36-1CD2-4540-8290-64D24F39B657}" type="slidenum">
              <a:rPr lang="en-US" smtClean="0"/>
              <a:pPr>
                <a:defRPr/>
              </a:pPr>
              <a:t>4</a:t>
            </a:fld>
            <a:endParaRPr lang="en-US"/>
          </a:p>
        </p:txBody>
      </p:sp>
    </p:spTree>
    <p:extLst>
      <p:ext uri="{BB962C8B-B14F-4D97-AF65-F5344CB8AC3E}">
        <p14:creationId xmlns:p14="http://schemas.microsoft.com/office/powerpoint/2010/main" val="2315039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dirty="0" smtClean="0"/>
              <a:t>Two Leading Models</a:t>
            </a:r>
          </a:p>
        </p:txBody>
      </p:sp>
      <p:sp>
        <p:nvSpPr>
          <p:cNvPr id="20483" name="Rectangle 3"/>
          <p:cNvSpPr>
            <a:spLocks noGrp="1" noChangeArrowheads="1"/>
          </p:cNvSpPr>
          <p:nvPr>
            <p:ph idx="1"/>
          </p:nvPr>
        </p:nvSpPr>
        <p:spPr/>
        <p:txBody>
          <a:bodyPr/>
          <a:lstStyle/>
          <a:p>
            <a:r>
              <a:rPr lang="en-US" altLang="en-US" dirty="0" smtClean="0"/>
              <a:t>Moral hazard model</a:t>
            </a:r>
          </a:p>
          <a:p>
            <a:pPr lvl="1"/>
            <a:r>
              <a:rPr lang="en-US" altLang="en-US" dirty="0" smtClean="0"/>
              <a:t>The agent’s actions affect the principal, but the principal does not observe the actions directly</a:t>
            </a:r>
          </a:p>
          <a:p>
            <a:pPr lvl="1"/>
            <a:r>
              <a:rPr lang="en-US" altLang="en-US" dirty="0" smtClean="0"/>
              <a:t>Hidden-action model</a:t>
            </a:r>
          </a:p>
          <a:p>
            <a:r>
              <a:rPr lang="en-US" altLang="en-US" dirty="0" smtClean="0"/>
              <a:t>Adverse selection model</a:t>
            </a:r>
          </a:p>
          <a:p>
            <a:pPr lvl="1"/>
            <a:r>
              <a:rPr lang="en-US" altLang="en-US" dirty="0" smtClean="0"/>
              <a:t>The agent has private information before signing the contract (his type)</a:t>
            </a:r>
          </a:p>
          <a:p>
            <a:pPr lvl="1"/>
            <a:r>
              <a:rPr lang="en-US" altLang="en-US" dirty="0" smtClean="0"/>
              <a:t>Hidden-type model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E358AC1-BC10-4961-B2B5-F2B1228C9422}" type="slidenum">
              <a:rPr lang="en-US" smtClean="0"/>
              <a:pPr>
                <a:defRPr/>
              </a:pPr>
              <a:t>5</a:t>
            </a:fld>
            <a:endParaRPr lang="en-US"/>
          </a:p>
        </p:txBody>
      </p:sp>
    </p:spTree>
    <p:extLst>
      <p:ext uri="{BB962C8B-B14F-4D97-AF65-F5344CB8AC3E}">
        <p14:creationId xmlns:p14="http://schemas.microsoft.com/office/powerpoint/2010/main" val="35925659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18.1	Applications of the </a:t>
            </a:r>
            <a:r>
              <a:rPr lang="en-US" altLang="en-US" dirty="0" smtClean="0"/>
              <a:t>Principal-Agent Model</a:t>
            </a:r>
          </a:p>
        </p:txBody>
      </p:sp>
      <p:sp>
        <p:nvSpPr>
          <p:cNvPr id="23557"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B506D56D-A9CE-42D4-B9A8-9CD4268EA9CA}" type="slidenum">
              <a:rPr lang="en-US" smtClean="0"/>
              <a:pPr>
                <a:defRPr/>
              </a:pPr>
              <a:t>6</a:t>
            </a:fld>
            <a:endParaRPr lang="en-US" dirty="0"/>
          </a:p>
        </p:txBody>
      </p:sp>
      <p:pic>
        <p:nvPicPr>
          <p:cNvPr id="392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 y="1631724"/>
            <a:ext cx="8915400" cy="35498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2503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92194"/>
                                        </p:tgtEl>
                                        <p:attrNameLst>
                                          <p:attrName>style.visibility</p:attrName>
                                        </p:attrNameLst>
                                      </p:cBhvr>
                                      <p:to>
                                        <p:strVal val="visible"/>
                                      </p:to>
                                    </p:set>
                                    <p:animEffect transition="in" filter="wipe(left)">
                                      <p:cBhvr>
                                        <p:cTn id="7" dur="500"/>
                                        <p:tgtEl>
                                          <p:spTgt spid="392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smtClean="0"/>
              <a:t>First, Second, and Third Best</a:t>
            </a:r>
          </a:p>
        </p:txBody>
      </p:sp>
      <p:sp>
        <p:nvSpPr>
          <p:cNvPr id="21507" name="Rectangle 3"/>
          <p:cNvSpPr>
            <a:spLocks noGrp="1" noChangeArrowheads="1"/>
          </p:cNvSpPr>
          <p:nvPr>
            <p:ph idx="1"/>
          </p:nvPr>
        </p:nvSpPr>
        <p:spPr/>
        <p:txBody>
          <a:bodyPr/>
          <a:lstStyle/>
          <a:p>
            <a:r>
              <a:rPr lang="en-US" altLang="en-US" smtClean="0"/>
              <a:t>First-best contract</a:t>
            </a:r>
          </a:p>
          <a:p>
            <a:pPr lvl="1"/>
            <a:r>
              <a:rPr lang="en-US" altLang="en-US" smtClean="0"/>
              <a:t>Full-information environment</a:t>
            </a:r>
          </a:p>
          <a:p>
            <a:pPr lvl="1"/>
            <a:r>
              <a:rPr lang="en-US" altLang="en-US" smtClean="0"/>
              <a:t>The principal could propose a contract that maximizes joint surplus</a:t>
            </a:r>
          </a:p>
          <a:p>
            <a:pPr lvl="2"/>
            <a:r>
              <a:rPr lang="en-US" altLang="en-US" smtClean="0"/>
              <a:t>Could capture all of the surplus for himself</a:t>
            </a:r>
          </a:p>
          <a:p>
            <a:pPr lvl="2"/>
            <a:r>
              <a:rPr lang="en-US" altLang="en-US" smtClean="0"/>
              <a:t>Leaving the agent just enough to make him indifferent between agreeing to the contract or not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017BA13-CC74-49E7-AF8D-2837C02414FA}" type="slidenum">
              <a:rPr lang="en-US" smtClean="0"/>
              <a:pPr>
                <a:defRPr/>
              </a:pPr>
              <a:t>7</a:t>
            </a:fld>
            <a:endParaRPr lang="en-US"/>
          </a:p>
        </p:txBody>
      </p:sp>
    </p:spTree>
    <p:extLst>
      <p:ext uri="{BB962C8B-B14F-4D97-AF65-F5344CB8AC3E}">
        <p14:creationId xmlns:p14="http://schemas.microsoft.com/office/powerpoint/2010/main" val="7980356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smtClean="0"/>
              <a:t>First, Second, and Third Best</a:t>
            </a:r>
          </a:p>
        </p:txBody>
      </p:sp>
      <p:sp>
        <p:nvSpPr>
          <p:cNvPr id="22531" name="Rectangle 3"/>
          <p:cNvSpPr>
            <a:spLocks noGrp="1" noChangeArrowheads="1"/>
          </p:cNvSpPr>
          <p:nvPr>
            <p:ph idx="1"/>
          </p:nvPr>
        </p:nvSpPr>
        <p:spPr/>
        <p:txBody>
          <a:bodyPr/>
          <a:lstStyle/>
          <a:p>
            <a:r>
              <a:rPr lang="en-US" altLang="en-US" smtClean="0"/>
              <a:t>Second-best contract </a:t>
            </a:r>
          </a:p>
          <a:p>
            <a:pPr lvl="1"/>
            <a:r>
              <a:rPr lang="en-US" altLang="en-US" smtClean="0"/>
              <a:t>The contract that maximizes the principal’s surplus </a:t>
            </a:r>
          </a:p>
          <a:p>
            <a:pPr lvl="1"/>
            <a:r>
              <a:rPr lang="en-US" altLang="en-US" smtClean="0"/>
              <a:t>Subject to the constraint that he is less well informed than the agent  </a:t>
            </a:r>
            <a:endParaRPr lang="en-US" altLang="en-US" sz="1600" smtClean="0"/>
          </a:p>
          <a:p>
            <a:r>
              <a:rPr lang="en-US" altLang="en-US" smtClean="0"/>
              <a:t>Adding further constraints </a:t>
            </a:r>
          </a:p>
          <a:p>
            <a:pPr lvl="1"/>
            <a:r>
              <a:rPr lang="en-US" altLang="en-US" smtClean="0"/>
              <a:t>Leads to the third best, fourth best, etc.</a:t>
            </a:r>
            <a:endParaRPr lang="en-US" altLang="en-US" u="sng"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EFCFAA1-8034-469F-8451-B4FB375CF5B2}" type="slidenum">
              <a:rPr lang="en-US" smtClean="0"/>
              <a:pPr>
                <a:defRPr/>
              </a:pPr>
              <a:t>8</a:t>
            </a:fld>
            <a:endParaRPr lang="en-US"/>
          </a:p>
        </p:txBody>
      </p:sp>
    </p:spTree>
    <p:extLst>
      <p:ext uri="{BB962C8B-B14F-4D97-AF65-F5344CB8AC3E}">
        <p14:creationId xmlns:p14="http://schemas.microsoft.com/office/powerpoint/2010/main" val="26999487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18.1 (a</a:t>
            </a:r>
            <a:r>
              <a:rPr lang="en-US" altLang="en-US" dirty="0"/>
              <a:t>)	The Contracting ‘‘Pie</a:t>
            </a:r>
            <a:r>
              <a:rPr lang="en-US" altLang="en-US" dirty="0" smtClean="0"/>
              <a:t>’’	</a:t>
            </a:r>
          </a:p>
        </p:txBody>
      </p:sp>
      <p:sp>
        <p:nvSpPr>
          <p:cNvPr id="24579" name="Text Placeholder 2"/>
          <p:cNvSpPr>
            <a:spLocks noGrp="1"/>
          </p:cNvSpPr>
          <p:nvPr>
            <p:ph sz="half" idx="1"/>
          </p:nvPr>
        </p:nvSpPr>
        <p:spPr>
          <a:xfrm>
            <a:off x="342900" y="4952999"/>
            <a:ext cx="8458200" cy="1249363"/>
          </a:xfrm>
        </p:spPr>
        <p:txBody>
          <a:bodyPr>
            <a:normAutofit/>
          </a:bodyPr>
          <a:lstStyle/>
          <a:p>
            <a:pPr>
              <a:spcBef>
                <a:spcPct val="0"/>
              </a:spcBef>
            </a:pPr>
            <a:r>
              <a:rPr lang="en-US" altLang="en-US" dirty="0"/>
              <a:t>The total welfare is the area of the circle (‘‘pie’’); the principal’s surplus is the area of the shaded region. In panel (a), the complex contract increases total welfare and the principal’s surplus along with it because she obtains a constant share. </a:t>
            </a:r>
          </a:p>
          <a:p>
            <a:pPr>
              <a:spcBef>
                <a:spcPct val="0"/>
              </a:spcBef>
            </a:pPr>
            <a:endParaRPr lang="en-US" altLang="en-US" dirty="0" smtClean="0"/>
          </a:p>
        </p:txBody>
      </p:sp>
      <p:sp>
        <p:nvSpPr>
          <p:cNvPr id="2458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BACDE8B3-8AA4-4E8F-AF14-FCEEA3679D90}" type="slidenum">
              <a:rPr lang="en-US" smtClean="0"/>
              <a:pPr>
                <a:defRPr/>
              </a:pPr>
              <a:t>9</a:t>
            </a:fld>
            <a:endParaRPr lang="en-US" dirty="0"/>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0688" y="1530350"/>
            <a:ext cx="5762625"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a:spLocks noChangeArrowheads="1"/>
          </p:cNvSpPr>
          <p:nvPr/>
        </p:nvSpPr>
        <p:spPr bwMode="auto">
          <a:xfrm>
            <a:off x="1835150" y="938213"/>
            <a:ext cx="5473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a:solidFill>
                  <a:srgbClr val="002D56"/>
                </a:solidFill>
              </a:rPr>
              <a:t>(a) Complex contract increases parties’ joint surplus</a:t>
            </a:r>
          </a:p>
        </p:txBody>
      </p:sp>
    </p:spTree>
    <p:extLst>
      <p:ext uri="{BB962C8B-B14F-4D97-AF65-F5344CB8AC3E}">
        <p14:creationId xmlns:p14="http://schemas.microsoft.com/office/powerpoint/2010/main" val="3331764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3794"/>
                                        </p:tgtEl>
                                        <p:attrNameLst>
                                          <p:attrName>style.visibility</p:attrName>
                                        </p:attrNameLst>
                                      </p:cBhvr>
                                      <p:to>
                                        <p:strVal val="visible"/>
                                      </p:to>
                                    </p:set>
                                    <p:animEffect transition="in" filter="wipe(left)">
                                      <p:cBhvr>
                                        <p:cTn id="11" dur="500"/>
                                        <p:tgtEl>
                                          <p:spTgt spid="3379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4579">
                                            <p:txEl>
                                              <p:pRg st="0" end="0"/>
                                            </p:txEl>
                                          </p:spTgt>
                                        </p:tgtEl>
                                        <p:attrNameLst>
                                          <p:attrName>style.visibility</p:attrName>
                                        </p:attrNameLst>
                                      </p:cBhvr>
                                      <p:to>
                                        <p:strVal val="visible"/>
                                      </p:to>
                                    </p:set>
                                    <p:animEffect transition="in" filter="wipe(left)">
                                      <p:cBhvr>
                                        <p:cTn id="15" dur="500"/>
                                        <p:tgtEl>
                                          <p:spTgt spid="245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18.1 (b</a:t>
            </a:r>
            <a:r>
              <a:rPr lang="en-US" altLang="en-US" dirty="0"/>
              <a:t>)	The Contracting ‘‘Pie</a:t>
            </a:r>
            <a:r>
              <a:rPr lang="en-US" altLang="en-US" dirty="0" smtClean="0"/>
              <a:t>’’</a:t>
            </a:r>
          </a:p>
        </p:txBody>
      </p:sp>
      <p:sp>
        <p:nvSpPr>
          <p:cNvPr id="25603" name="Text Placeholder 2"/>
          <p:cNvSpPr>
            <a:spLocks noGrp="1"/>
          </p:cNvSpPr>
          <p:nvPr>
            <p:ph sz="half" idx="1"/>
          </p:nvPr>
        </p:nvSpPr>
        <p:spPr>
          <a:xfrm>
            <a:off x="457200" y="4876800"/>
            <a:ext cx="8229600" cy="1249363"/>
          </a:xfrm>
        </p:spPr>
        <p:txBody>
          <a:bodyPr>
            <a:normAutofit/>
          </a:bodyPr>
          <a:lstStyle/>
          <a:p>
            <a:pPr>
              <a:spcBef>
                <a:spcPct val="0"/>
              </a:spcBef>
            </a:pPr>
            <a:r>
              <a:rPr lang="en-US" altLang="en-US" dirty="0"/>
              <a:t>The total welfare is the area of the circle (‘‘pie’’); the principal’s surplus is the area of the shaded region. In panel (b), the principal offers the complex contract—even though this reduces total welfare—because the complex contract allows her to appropriate a larger share.</a:t>
            </a:r>
          </a:p>
          <a:p>
            <a:pPr>
              <a:spcBef>
                <a:spcPct val="0"/>
              </a:spcBef>
            </a:pPr>
            <a:endParaRPr lang="en-US" altLang="en-US" dirty="0" smtClean="0"/>
          </a:p>
        </p:txBody>
      </p:sp>
      <p:sp>
        <p:nvSpPr>
          <p:cNvPr id="2560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D9F577ED-9738-4280-B99A-C23A48A90B85}" type="slidenum">
              <a:rPr lang="en-US" smtClean="0"/>
              <a:pPr>
                <a:defRPr/>
              </a:pPr>
              <a:t>10</a:t>
            </a:fld>
            <a:endParaRPr lang="en-US" dirty="0"/>
          </a:p>
        </p:txBody>
      </p:sp>
      <p:sp>
        <p:nvSpPr>
          <p:cNvPr id="7" name="TextBox 6"/>
          <p:cNvSpPr txBox="1">
            <a:spLocks noChangeArrowheads="1"/>
          </p:cNvSpPr>
          <p:nvPr/>
        </p:nvSpPr>
        <p:spPr bwMode="auto">
          <a:xfrm>
            <a:off x="1423222" y="938213"/>
            <a:ext cx="62975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ctr" eaLnBrk="1" hangingPunct="1"/>
            <a:r>
              <a:rPr lang="en-US" altLang="en-US" sz="1800" dirty="0" smtClean="0">
                <a:solidFill>
                  <a:srgbClr val="002D56"/>
                </a:solidFill>
              </a:rPr>
              <a:t>(b) </a:t>
            </a:r>
            <a:r>
              <a:rPr lang="en-US" altLang="en-US" sz="1800" dirty="0">
                <a:solidFill>
                  <a:srgbClr val="002D56"/>
                </a:solidFill>
              </a:rPr>
              <a:t>Complex contract increases principal’s share of surplus</a:t>
            </a: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163" y="1308100"/>
            <a:ext cx="5781675"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990493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4818"/>
                                        </p:tgtEl>
                                        <p:attrNameLst>
                                          <p:attrName>style.visibility</p:attrName>
                                        </p:attrNameLst>
                                      </p:cBhvr>
                                      <p:to>
                                        <p:strVal val="visible"/>
                                      </p:to>
                                    </p:set>
                                    <p:animEffect transition="in" filter="wipe(left)">
                                      <p:cBhvr>
                                        <p:cTn id="11" dur="500"/>
                                        <p:tgtEl>
                                          <p:spTgt spid="3481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5603">
                                            <p:txEl>
                                              <p:pRg st="0" end="0"/>
                                            </p:txEl>
                                          </p:spTgt>
                                        </p:tgtEl>
                                        <p:attrNameLst>
                                          <p:attrName>style.visibility</p:attrName>
                                        </p:attrNameLst>
                                      </p:cBhvr>
                                      <p:to>
                                        <p:strVal val="visible"/>
                                      </p:to>
                                    </p:set>
                                    <p:animEffect transition="in" filter="wipe(left)">
                                      <p:cBhvr>
                                        <p:cTn id="15" dur="500"/>
                                        <p:tgtEl>
                                          <p:spTgt spid="256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smtClean="0"/>
              <a:t>Hidden Actions</a:t>
            </a:r>
          </a:p>
        </p:txBody>
      </p:sp>
      <p:sp>
        <p:nvSpPr>
          <p:cNvPr id="26627" name="Rectangle 3"/>
          <p:cNvSpPr>
            <a:spLocks noGrp="1" noChangeArrowheads="1"/>
          </p:cNvSpPr>
          <p:nvPr>
            <p:ph idx="1"/>
          </p:nvPr>
        </p:nvSpPr>
        <p:spPr/>
        <p:txBody>
          <a:bodyPr/>
          <a:lstStyle/>
          <a:p>
            <a:r>
              <a:rPr lang="en-US" altLang="en-US" smtClean="0"/>
              <a:t>The principal </a:t>
            </a:r>
          </a:p>
          <a:p>
            <a:pPr lvl="1"/>
            <a:r>
              <a:rPr lang="en-US" altLang="en-US" smtClean="0"/>
              <a:t>Would like the agent to take an action that maximizes their joint surplus</a:t>
            </a:r>
          </a:p>
          <a:p>
            <a:r>
              <a:rPr lang="en-US" altLang="en-US" smtClean="0"/>
              <a:t>The agent’s actions </a:t>
            </a:r>
          </a:p>
          <a:p>
            <a:pPr lvl="1"/>
            <a:r>
              <a:rPr lang="en-US" altLang="en-US" smtClean="0"/>
              <a:t>May be unobservable to the principal</a:t>
            </a:r>
          </a:p>
          <a:p>
            <a:pPr lvl="1"/>
            <a:r>
              <a:rPr lang="en-US" altLang="en-US" smtClean="0"/>
              <a:t>The agent will prefer to shirk</a:t>
            </a:r>
            <a:endParaRPr lang="en-US" altLang="en-US" sz="1600" smtClean="0"/>
          </a:p>
          <a:p>
            <a:r>
              <a:rPr lang="en-US" altLang="en-US" smtClean="0"/>
              <a:t>Contracts </a:t>
            </a:r>
          </a:p>
          <a:p>
            <a:pPr lvl="1"/>
            <a:r>
              <a:rPr lang="en-US" altLang="en-US" smtClean="0"/>
              <a:t>Can mitigate shirking by tying compensation to observable outcomes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BEEC096-13AA-4712-9AB2-395254A5121C}" type="slidenum">
              <a:rPr lang="en-US" smtClean="0"/>
              <a:pPr>
                <a:defRPr/>
              </a:pPr>
              <a:t>11</a:t>
            </a:fld>
            <a:endParaRPr lang="en-US"/>
          </a:p>
        </p:txBody>
      </p:sp>
    </p:spTree>
    <p:extLst>
      <p:ext uri="{BB962C8B-B14F-4D97-AF65-F5344CB8AC3E}">
        <p14:creationId xmlns:p14="http://schemas.microsoft.com/office/powerpoint/2010/main" val="36856925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smtClean="0"/>
              <a:t>Hidden Actions</a:t>
            </a:r>
          </a:p>
        </p:txBody>
      </p:sp>
      <p:sp>
        <p:nvSpPr>
          <p:cNvPr id="27651" name="Rectangle 3"/>
          <p:cNvSpPr>
            <a:spLocks noGrp="1" noChangeArrowheads="1"/>
          </p:cNvSpPr>
          <p:nvPr>
            <p:ph idx="1"/>
          </p:nvPr>
        </p:nvSpPr>
        <p:spPr/>
        <p:txBody>
          <a:bodyPr/>
          <a:lstStyle/>
          <a:p>
            <a:r>
              <a:rPr lang="en-US" altLang="en-US" dirty="0" smtClean="0"/>
              <a:t>The principal</a:t>
            </a:r>
          </a:p>
          <a:p>
            <a:pPr lvl="1"/>
            <a:r>
              <a:rPr lang="en-US" altLang="en-US" dirty="0" smtClean="0"/>
              <a:t>More concerned with outcomes than actions</a:t>
            </a:r>
          </a:p>
          <a:p>
            <a:pPr lvl="2"/>
            <a:r>
              <a:rPr lang="en-US" altLang="en-US" dirty="0" smtClean="0"/>
              <a:t>May as well condition the contract on outcomes</a:t>
            </a:r>
          </a:p>
          <a:p>
            <a:r>
              <a:rPr lang="en-US" altLang="en-US" dirty="0"/>
              <a:t>The problem </a:t>
            </a:r>
          </a:p>
          <a:p>
            <a:pPr lvl="1"/>
            <a:r>
              <a:rPr lang="en-US" altLang="en-US" dirty="0" smtClean="0"/>
              <a:t>Outcome </a:t>
            </a:r>
            <a:r>
              <a:rPr lang="en-US" altLang="en-US" dirty="0"/>
              <a:t>may depend </a:t>
            </a:r>
            <a:r>
              <a:rPr lang="en-US" altLang="en-US" dirty="0" smtClean="0"/>
              <a:t>on </a:t>
            </a:r>
            <a:r>
              <a:rPr lang="en-US" altLang="en-US" dirty="0"/>
              <a:t>random factors  </a:t>
            </a:r>
          </a:p>
          <a:p>
            <a:pPr lvl="1"/>
            <a:r>
              <a:rPr lang="en-US" altLang="en-US" dirty="0"/>
              <a:t>Tying the agent’s compensation to outcomes exposes the agent to risk</a:t>
            </a:r>
          </a:p>
          <a:p>
            <a:pPr lvl="1"/>
            <a:r>
              <a:rPr lang="en-US" altLang="en-US" dirty="0"/>
              <a:t>If the agent is risk </a:t>
            </a:r>
            <a:r>
              <a:rPr lang="en-US" altLang="en-US" dirty="0" smtClean="0"/>
              <a:t>averse: payment </a:t>
            </a:r>
            <a:r>
              <a:rPr lang="en-US" altLang="en-US" dirty="0"/>
              <a:t>of a risk premium before he will accept the </a:t>
            </a:r>
            <a:r>
              <a:rPr lang="en-US" altLang="en-US" dirty="0" smtClean="0"/>
              <a:t>contract</a:t>
            </a:r>
            <a:endParaRPr lang="en-US" altLang="en-US" dirty="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644AF32-C458-444E-B156-927383D8D7D2}" type="slidenum">
              <a:rPr lang="en-US" smtClean="0"/>
              <a:pPr>
                <a:defRPr/>
              </a:pPr>
              <a:t>12</a:t>
            </a:fld>
            <a:endParaRPr lang="en-US"/>
          </a:p>
        </p:txBody>
      </p:sp>
    </p:spTree>
    <p:extLst>
      <p:ext uri="{BB962C8B-B14F-4D97-AF65-F5344CB8AC3E}">
        <p14:creationId xmlns:p14="http://schemas.microsoft.com/office/powerpoint/2010/main" val="40197506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smtClean="0"/>
              <a:t>Owner-Manager Relationship</a:t>
            </a:r>
          </a:p>
        </p:txBody>
      </p:sp>
      <p:sp>
        <p:nvSpPr>
          <p:cNvPr id="29699" name="Rectangle 3"/>
          <p:cNvSpPr>
            <a:spLocks noGrp="1" noChangeArrowheads="1"/>
          </p:cNvSpPr>
          <p:nvPr>
            <p:ph idx="1"/>
          </p:nvPr>
        </p:nvSpPr>
        <p:spPr/>
        <p:txBody>
          <a:bodyPr/>
          <a:lstStyle/>
          <a:p>
            <a:r>
              <a:rPr lang="en-US" altLang="en-US" smtClean="0"/>
              <a:t>A firm: one owner and one manager</a:t>
            </a:r>
          </a:p>
          <a:p>
            <a:pPr lvl="1"/>
            <a:r>
              <a:rPr lang="en-US" altLang="en-US" smtClean="0"/>
              <a:t>The owner (principal) offers a contract to the manager</a:t>
            </a:r>
          </a:p>
          <a:p>
            <a:pPr lvl="1"/>
            <a:r>
              <a:rPr lang="en-US" altLang="en-US" smtClean="0"/>
              <a:t>The manager (agent) decides whether to accept the contract and what action </a:t>
            </a:r>
            <a:r>
              <a:rPr lang="en-US" altLang="en-US" i="1" smtClean="0"/>
              <a:t>e</a:t>
            </a:r>
            <a:r>
              <a:rPr lang="en-US" altLang="en-US" smtClean="0"/>
              <a:t> </a:t>
            </a:r>
            <a:r>
              <a:rPr lang="en-US" altLang="en-US" smtClean="0">
                <a:sym typeface="Symbol" pitchFamily="18" charset="2"/>
              </a:rPr>
              <a:t> 0 to take</a:t>
            </a:r>
          </a:p>
          <a:p>
            <a:pPr lvl="2"/>
            <a:r>
              <a:rPr lang="en-US" altLang="en-US" smtClean="0">
                <a:sym typeface="Symbol" pitchFamily="18" charset="2"/>
              </a:rPr>
              <a:t>An increase in </a:t>
            </a:r>
            <a:r>
              <a:rPr lang="en-US" altLang="en-US" i="1" smtClean="0">
                <a:sym typeface="Symbol" pitchFamily="18" charset="2"/>
              </a:rPr>
              <a:t>e</a:t>
            </a:r>
            <a:r>
              <a:rPr lang="en-US" altLang="en-US" smtClean="0">
                <a:sym typeface="Symbol" pitchFamily="18" charset="2"/>
              </a:rPr>
              <a:t> increases the firm’s gross profit but is personally costly to the manager</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BD67F63-DE7D-44E0-9B4F-5E92C73DC897}" type="slidenum">
              <a:rPr lang="en-US" smtClean="0"/>
              <a:pPr>
                <a:defRPr/>
              </a:pPr>
              <a:t>13</a:t>
            </a:fld>
            <a:endParaRPr lang="en-US"/>
          </a:p>
        </p:txBody>
      </p:sp>
    </p:spTree>
    <p:extLst>
      <p:ext uri="{BB962C8B-B14F-4D97-AF65-F5344CB8AC3E}">
        <p14:creationId xmlns:p14="http://schemas.microsoft.com/office/powerpoint/2010/main" val="7863361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smtClean="0"/>
              <a:t>Owner-Manager Relationship</a:t>
            </a:r>
          </a:p>
        </p:txBody>
      </p:sp>
      <p:sp>
        <p:nvSpPr>
          <p:cNvPr id="30723" name="Rectangle 3"/>
          <p:cNvSpPr>
            <a:spLocks noGrp="1" noChangeArrowheads="1"/>
          </p:cNvSpPr>
          <p:nvPr>
            <p:ph idx="1"/>
          </p:nvPr>
        </p:nvSpPr>
        <p:spPr>
          <a:xfrm>
            <a:off x="381000" y="1066800"/>
            <a:ext cx="8534400" cy="5334000"/>
          </a:xfrm>
        </p:spPr>
        <p:txBody>
          <a:bodyPr/>
          <a:lstStyle/>
          <a:p>
            <a:pPr>
              <a:lnSpc>
                <a:spcPct val="150000"/>
              </a:lnSpc>
            </a:pPr>
            <a:r>
              <a:rPr lang="en-US" altLang="en-US" dirty="0" smtClean="0"/>
              <a:t>The firm’s gross profit: </a:t>
            </a:r>
            <a:r>
              <a:rPr lang="en-US" altLang="en-US" sz="3200" dirty="0" smtClean="0">
                <a:solidFill>
                  <a:srgbClr val="FF0000"/>
                </a:solidFill>
                <a:sym typeface="Symbol" pitchFamily="18" charset="2"/>
              </a:rPr>
              <a:t></a:t>
            </a:r>
            <a:r>
              <a:rPr lang="en-US" altLang="en-US" sz="3200" i="1" baseline="-25000" dirty="0" smtClean="0">
                <a:solidFill>
                  <a:srgbClr val="FF0000"/>
                </a:solidFill>
                <a:sym typeface="Symbol" pitchFamily="18" charset="2"/>
              </a:rPr>
              <a:t>g</a:t>
            </a:r>
            <a:r>
              <a:rPr lang="en-US" altLang="en-US" sz="3200" i="1" dirty="0" smtClean="0">
                <a:solidFill>
                  <a:srgbClr val="FF0000"/>
                </a:solidFill>
                <a:sym typeface="Symbol" pitchFamily="18" charset="2"/>
              </a:rPr>
              <a:t> = e + </a:t>
            </a:r>
            <a:r>
              <a:rPr lang="en-US" altLang="en-US" sz="3200" dirty="0" smtClean="0">
                <a:solidFill>
                  <a:srgbClr val="FF0000"/>
                </a:solidFill>
                <a:sym typeface="Symbol" pitchFamily="18" charset="2"/>
              </a:rPr>
              <a:t></a:t>
            </a:r>
          </a:p>
          <a:p>
            <a:pPr lvl="1">
              <a:lnSpc>
                <a:spcPct val="90000"/>
              </a:lnSpc>
            </a:pPr>
            <a:r>
              <a:rPr lang="en-US" altLang="en-US" dirty="0" smtClean="0">
                <a:sym typeface="Symbol" pitchFamily="18" charset="2"/>
              </a:rPr>
              <a:t>Where  represents demand, cost, and other economic factors outside of the agent’s control</a:t>
            </a:r>
          </a:p>
          <a:p>
            <a:pPr lvl="2">
              <a:lnSpc>
                <a:spcPct val="90000"/>
              </a:lnSpc>
            </a:pPr>
            <a:r>
              <a:rPr lang="en-US" altLang="en-US" dirty="0" smtClean="0">
                <a:sym typeface="Symbol" pitchFamily="18" charset="2"/>
              </a:rPr>
              <a:t>Assume  ~ (0,</a:t>
            </a:r>
            <a:r>
              <a:rPr lang="en-US" altLang="en-US" baseline="30000" dirty="0" smtClean="0">
                <a:sym typeface="Symbol" pitchFamily="18" charset="2"/>
              </a:rPr>
              <a:t>2</a:t>
            </a:r>
            <a:r>
              <a:rPr lang="en-US" altLang="en-US" dirty="0" smtClean="0">
                <a:sym typeface="Symbol" pitchFamily="18" charset="2"/>
              </a:rPr>
              <a:t>)</a:t>
            </a:r>
          </a:p>
          <a:p>
            <a:pPr lvl="1">
              <a:lnSpc>
                <a:spcPct val="90000"/>
              </a:lnSpc>
            </a:pPr>
            <a:r>
              <a:rPr lang="en-US" altLang="en-US" i="1" dirty="0" smtClean="0">
                <a:sym typeface="Symbol" pitchFamily="18" charset="2"/>
              </a:rPr>
              <a:t>c</a:t>
            </a:r>
            <a:r>
              <a:rPr lang="en-US" altLang="en-US" dirty="0" smtClean="0">
                <a:sym typeface="Symbol" pitchFamily="18" charset="2"/>
              </a:rPr>
              <a:t>(</a:t>
            </a:r>
            <a:r>
              <a:rPr lang="en-US" altLang="en-US" i="1" dirty="0" smtClean="0">
                <a:sym typeface="Symbol" pitchFamily="18" charset="2"/>
              </a:rPr>
              <a:t>e</a:t>
            </a:r>
            <a:r>
              <a:rPr lang="en-US" altLang="en-US" dirty="0" smtClean="0">
                <a:sym typeface="Symbol" pitchFamily="18" charset="2"/>
              </a:rPr>
              <a:t>) is the manager’s personal disutility from effort; assume </a:t>
            </a:r>
            <a:r>
              <a:rPr lang="en-US" altLang="en-US" i="1" dirty="0" smtClean="0">
                <a:sym typeface="Symbol" pitchFamily="18" charset="2"/>
              </a:rPr>
              <a:t>c</a:t>
            </a:r>
            <a:r>
              <a:rPr lang="en-US" altLang="en-US" dirty="0" smtClean="0">
                <a:sym typeface="Symbol" pitchFamily="18" charset="2"/>
              </a:rPr>
              <a:t>’(</a:t>
            </a:r>
            <a:r>
              <a:rPr lang="en-US" altLang="en-US" i="1" dirty="0" smtClean="0">
                <a:sym typeface="Symbol" pitchFamily="18" charset="2"/>
              </a:rPr>
              <a:t>e</a:t>
            </a:r>
            <a:r>
              <a:rPr lang="en-US" altLang="en-US" dirty="0" smtClean="0">
                <a:sym typeface="Symbol" pitchFamily="18" charset="2"/>
              </a:rPr>
              <a:t>) &gt; 0 and </a:t>
            </a:r>
            <a:r>
              <a:rPr lang="en-US" altLang="en-US" i="1" dirty="0" smtClean="0">
                <a:sym typeface="Symbol" pitchFamily="18" charset="2"/>
              </a:rPr>
              <a:t>c</a:t>
            </a:r>
            <a:r>
              <a:rPr lang="en-US" altLang="en-US" dirty="0" smtClean="0">
                <a:sym typeface="Symbol" pitchFamily="18" charset="2"/>
              </a:rPr>
              <a:t>’’(</a:t>
            </a:r>
            <a:r>
              <a:rPr lang="en-US" altLang="en-US" i="1" dirty="0" smtClean="0">
                <a:sym typeface="Symbol" pitchFamily="18" charset="2"/>
              </a:rPr>
              <a:t>e</a:t>
            </a:r>
            <a:r>
              <a:rPr lang="en-US" altLang="en-US" dirty="0" smtClean="0">
                <a:sym typeface="Symbol" pitchFamily="18" charset="2"/>
              </a:rPr>
              <a:t>)</a:t>
            </a:r>
            <a:r>
              <a:rPr lang="en-US" altLang="en-US" i="1" dirty="0" smtClean="0">
                <a:sym typeface="Symbol" pitchFamily="18" charset="2"/>
              </a:rPr>
              <a:t> &lt; 0</a:t>
            </a:r>
          </a:p>
          <a:p>
            <a:pPr>
              <a:lnSpc>
                <a:spcPct val="150000"/>
              </a:lnSpc>
            </a:pPr>
            <a:r>
              <a:rPr lang="en-US" altLang="en-US" dirty="0" smtClean="0"/>
              <a:t>Firm’s net profit: </a:t>
            </a:r>
            <a:r>
              <a:rPr lang="en-US" altLang="en-US" sz="3200" dirty="0" smtClean="0">
                <a:solidFill>
                  <a:srgbClr val="FF0000"/>
                </a:solidFill>
                <a:sym typeface="Symbol" pitchFamily="18" charset="2"/>
              </a:rPr>
              <a:t></a:t>
            </a:r>
            <a:r>
              <a:rPr lang="en-US" altLang="en-US" sz="3200" i="1" baseline="-25000" dirty="0" smtClean="0">
                <a:solidFill>
                  <a:srgbClr val="FF0000"/>
                </a:solidFill>
                <a:sym typeface="Symbol" pitchFamily="18" charset="2"/>
              </a:rPr>
              <a:t>n</a:t>
            </a:r>
            <a:r>
              <a:rPr lang="en-US" altLang="en-US" sz="3200" i="1" dirty="0" smtClean="0">
                <a:solidFill>
                  <a:srgbClr val="FF0000"/>
                </a:solidFill>
                <a:sym typeface="Symbol" pitchFamily="18" charset="2"/>
              </a:rPr>
              <a:t> = </a:t>
            </a:r>
            <a:r>
              <a:rPr lang="en-US" altLang="en-US" sz="3200" dirty="0" smtClean="0">
                <a:solidFill>
                  <a:srgbClr val="FF0000"/>
                </a:solidFill>
                <a:sym typeface="Symbol" pitchFamily="18" charset="2"/>
              </a:rPr>
              <a:t></a:t>
            </a:r>
            <a:r>
              <a:rPr lang="en-US" altLang="en-US" sz="3200" i="1" baseline="-25000" dirty="0" smtClean="0">
                <a:solidFill>
                  <a:srgbClr val="FF0000"/>
                </a:solidFill>
                <a:sym typeface="Symbol" pitchFamily="18" charset="2"/>
              </a:rPr>
              <a:t>g</a:t>
            </a:r>
            <a:r>
              <a:rPr lang="en-US" altLang="en-US" sz="3200" i="1" dirty="0" smtClean="0">
                <a:solidFill>
                  <a:srgbClr val="FF0000"/>
                </a:solidFill>
                <a:sym typeface="Symbol" pitchFamily="18" charset="2"/>
              </a:rPr>
              <a:t> </a:t>
            </a:r>
            <a:r>
              <a:rPr lang="en-US" altLang="en-US" sz="3200" dirty="0" smtClean="0">
                <a:solidFill>
                  <a:srgbClr val="FF0000"/>
                </a:solidFill>
                <a:sym typeface="Symbol" pitchFamily="18" charset="2"/>
              </a:rPr>
              <a:t>– </a:t>
            </a:r>
            <a:r>
              <a:rPr lang="en-US" altLang="en-US" sz="3200" i="1" dirty="0" smtClean="0">
                <a:solidFill>
                  <a:srgbClr val="FF0000"/>
                </a:solidFill>
                <a:sym typeface="Symbol" pitchFamily="18" charset="2"/>
              </a:rPr>
              <a:t>s</a:t>
            </a:r>
            <a:endParaRPr lang="en-US" altLang="en-US" dirty="0" smtClean="0"/>
          </a:p>
          <a:p>
            <a:pPr lvl="2"/>
            <a:r>
              <a:rPr lang="en-US" altLang="en-US" dirty="0" smtClean="0"/>
              <a:t>Where </a:t>
            </a:r>
            <a:r>
              <a:rPr lang="en-US" altLang="en-US" i="1" dirty="0" smtClean="0"/>
              <a:t>s </a:t>
            </a:r>
            <a:r>
              <a:rPr lang="en-US" altLang="en-US" dirty="0" smtClean="0"/>
              <a:t>is the manager’s salary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5542139-5461-49F8-8005-9E76891D2135}" type="slidenum">
              <a:rPr lang="en-US" smtClean="0"/>
              <a:pPr>
                <a:defRPr/>
              </a:pPr>
              <a:t>14</a:t>
            </a:fld>
            <a:endParaRPr lang="en-US"/>
          </a:p>
        </p:txBody>
      </p:sp>
    </p:spTree>
    <p:extLst>
      <p:ext uri="{BB962C8B-B14F-4D97-AF65-F5344CB8AC3E}">
        <p14:creationId xmlns:p14="http://schemas.microsoft.com/office/powerpoint/2010/main" val="2716877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en-US" smtClean="0"/>
              <a:t>Owner-Manager Relationship</a:t>
            </a:r>
          </a:p>
        </p:txBody>
      </p:sp>
      <p:sp>
        <p:nvSpPr>
          <p:cNvPr id="1028" name="Rectangle 3"/>
          <p:cNvSpPr>
            <a:spLocks noGrp="1" noChangeArrowheads="1"/>
          </p:cNvSpPr>
          <p:nvPr>
            <p:ph idx="1"/>
          </p:nvPr>
        </p:nvSpPr>
        <p:spPr/>
        <p:txBody>
          <a:bodyPr/>
          <a:lstStyle/>
          <a:p>
            <a:r>
              <a:rPr lang="en-US" altLang="en-US" dirty="0" smtClean="0">
                <a:sym typeface="Symbol" pitchFamily="18" charset="2"/>
              </a:rPr>
              <a:t>Risk-neutral owner </a:t>
            </a:r>
          </a:p>
          <a:p>
            <a:pPr lvl="1"/>
            <a:r>
              <a:rPr lang="en-US" altLang="en-US" dirty="0" smtClean="0">
                <a:sym typeface="Symbol" pitchFamily="18" charset="2"/>
              </a:rPr>
              <a:t>Maximize the expected value of profit </a:t>
            </a:r>
          </a:p>
          <a:p>
            <a:pPr lvl="1" algn="ctr">
              <a:buFont typeface="Arial" charset="0"/>
              <a:buNone/>
            </a:pPr>
            <a:r>
              <a:rPr lang="en-US" altLang="en-US" sz="2800" i="1" dirty="0" smtClean="0">
                <a:solidFill>
                  <a:srgbClr val="FF0000"/>
                </a:solidFill>
                <a:sym typeface="Symbol" pitchFamily="18" charset="2"/>
              </a:rPr>
              <a:t>E</a:t>
            </a:r>
            <a:r>
              <a:rPr lang="en-US" altLang="en-US" sz="2800" dirty="0" smtClean="0">
                <a:solidFill>
                  <a:srgbClr val="FF0000"/>
                </a:solidFill>
                <a:sym typeface="Symbol" pitchFamily="18" charset="2"/>
              </a:rPr>
              <a:t>(</a:t>
            </a:r>
            <a:r>
              <a:rPr lang="en-US" altLang="en-US" sz="2800" i="1" baseline="-25000" dirty="0" smtClean="0">
                <a:solidFill>
                  <a:srgbClr val="FF0000"/>
                </a:solidFill>
                <a:sym typeface="Symbol" pitchFamily="18" charset="2"/>
              </a:rPr>
              <a:t>n</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 = E</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e + </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 –</a:t>
            </a:r>
            <a:r>
              <a:rPr lang="en-US" altLang="en-US" sz="2800" dirty="0" smtClean="0">
                <a:solidFill>
                  <a:srgbClr val="FF0000"/>
                </a:solidFill>
                <a:sym typeface="Symbol" pitchFamily="18" charset="2"/>
              </a:rPr>
              <a:t> </a:t>
            </a:r>
            <a:r>
              <a:rPr lang="en-US" altLang="en-US" sz="2800" i="1" dirty="0" smtClean="0">
                <a:solidFill>
                  <a:srgbClr val="FF0000"/>
                </a:solidFill>
                <a:sym typeface="Symbol" pitchFamily="18" charset="2"/>
              </a:rPr>
              <a:t>s</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e</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E</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s</a:t>
            </a:r>
            <a:r>
              <a:rPr lang="en-US" altLang="en-US" sz="2800" dirty="0" smtClean="0">
                <a:solidFill>
                  <a:srgbClr val="FF0000"/>
                </a:solidFill>
                <a:sym typeface="Symbol" pitchFamily="18" charset="2"/>
              </a:rPr>
              <a:t>) </a:t>
            </a:r>
            <a:r>
              <a:rPr lang="en-US" altLang="en-US" dirty="0" smtClean="0">
                <a:solidFill>
                  <a:srgbClr val="FF0000"/>
                </a:solidFill>
                <a:sym typeface="Symbol" pitchFamily="18" charset="2"/>
              </a:rPr>
              <a:t> </a:t>
            </a:r>
          </a:p>
          <a:p>
            <a:r>
              <a:rPr lang="en-US" altLang="en-US" dirty="0" smtClean="0"/>
              <a:t>Risk adverse manager</a:t>
            </a:r>
          </a:p>
          <a:p>
            <a:pPr lvl="1"/>
            <a:r>
              <a:rPr lang="en-US" altLang="en-US" dirty="0" smtClean="0"/>
              <a:t>Constant risk aversion parameter, </a:t>
            </a:r>
            <a:r>
              <a:rPr lang="en-US" altLang="en-US" i="1" dirty="0" smtClean="0"/>
              <a:t>A</a:t>
            </a:r>
            <a:r>
              <a:rPr lang="en-US" altLang="en-US" dirty="0" smtClean="0"/>
              <a:t> &gt; 0 </a:t>
            </a:r>
          </a:p>
          <a:p>
            <a:pPr lvl="1"/>
            <a:r>
              <a:rPr lang="en-US" altLang="en-US" dirty="0" smtClean="0"/>
              <a:t>Manager’s expected utility: </a:t>
            </a:r>
            <a:endParaRPr lang="en-US" altLang="en-US" i="1" dirty="0" smtClean="0">
              <a:solidFill>
                <a:srgbClr val="7B332D"/>
              </a:solidFill>
              <a:sym typeface="Symbol" pitchFamily="18" charset="2"/>
            </a:endParaRPr>
          </a:p>
          <a:p>
            <a:endParaRPr lang="en-US" altLang="en-US" sz="2800" i="1" dirty="0" smtClean="0">
              <a:solidFill>
                <a:srgbClr val="7B332D"/>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3601661-32E9-4B64-8A0E-D1D16C86C6D5}" type="slidenum">
              <a:rPr lang="en-US" smtClean="0"/>
              <a:pPr>
                <a:defRPr/>
              </a:pPr>
              <a:t>15</a:t>
            </a:fld>
            <a:endParaRPr lang="en-US"/>
          </a:p>
        </p:txBody>
      </p:sp>
      <p:graphicFrame>
        <p:nvGraphicFramePr>
          <p:cNvPr id="35842" name="Object 2"/>
          <p:cNvGraphicFramePr>
            <a:graphicFrameLocks noChangeAspect="1"/>
          </p:cNvGraphicFramePr>
          <p:nvPr>
            <p:extLst>
              <p:ext uri="{D42A27DB-BD31-4B8C-83A1-F6EECF244321}">
                <p14:modId xmlns:p14="http://schemas.microsoft.com/office/powerpoint/2010/main" val="245185501"/>
              </p:ext>
            </p:extLst>
          </p:nvPr>
        </p:nvGraphicFramePr>
        <p:xfrm>
          <a:off x="2281238" y="4735512"/>
          <a:ext cx="4581525" cy="903288"/>
        </p:xfrm>
        <a:graphic>
          <a:graphicData uri="http://schemas.openxmlformats.org/presentationml/2006/ole">
            <mc:AlternateContent xmlns:mc="http://schemas.openxmlformats.org/markup-compatibility/2006">
              <mc:Choice xmlns:v="urn:schemas-microsoft-com:vml" Requires="v">
                <p:oleObj spid="_x0000_s389142" name="Equation" r:id="rId3" imgW="1993680" imgH="393480" progId="Equation.DSMT4">
                  <p:embed/>
                </p:oleObj>
              </mc:Choice>
              <mc:Fallback>
                <p:oleObj name="Equation" r:id="rId3" imgW="1993680" imgH="39348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1238" y="4735512"/>
                        <a:ext cx="4581525" cy="903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873177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wipe(left)">
                                      <p:cBhvr>
                                        <p:cTn id="7" dur="5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dirty="0" smtClean="0"/>
              <a:t>First Best (Full-Information Case)</a:t>
            </a:r>
          </a:p>
        </p:txBody>
      </p:sp>
      <p:sp>
        <p:nvSpPr>
          <p:cNvPr id="31747" name="Rectangle 3"/>
          <p:cNvSpPr>
            <a:spLocks noGrp="1" noChangeArrowheads="1"/>
          </p:cNvSpPr>
          <p:nvPr>
            <p:ph idx="1"/>
          </p:nvPr>
        </p:nvSpPr>
        <p:spPr/>
        <p:txBody>
          <a:bodyPr/>
          <a:lstStyle/>
          <a:p>
            <a:r>
              <a:rPr lang="en-US" altLang="en-US" dirty="0" smtClean="0"/>
              <a:t>Optimal salary contract</a:t>
            </a:r>
          </a:p>
          <a:p>
            <a:pPr lvl="1"/>
            <a:r>
              <a:rPr lang="en-US" altLang="en-US" dirty="0" smtClean="0"/>
              <a:t>The owner can pay the manager </a:t>
            </a:r>
          </a:p>
          <a:p>
            <a:pPr lvl="2"/>
            <a:r>
              <a:rPr lang="en-US" altLang="en-US" dirty="0" smtClean="0"/>
              <a:t>A fixed salary </a:t>
            </a:r>
            <a:r>
              <a:rPr lang="en-US" altLang="en-US" i="1" dirty="0" smtClean="0"/>
              <a:t>s*</a:t>
            </a:r>
            <a:r>
              <a:rPr lang="en-US" altLang="en-US" dirty="0" smtClean="0"/>
              <a:t> if he exerts a first-best level of effort </a:t>
            </a:r>
            <a:r>
              <a:rPr lang="en-US" altLang="en-US" i="1" dirty="0" smtClean="0"/>
              <a:t>e*</a:t>
            </a:r>
            <a:r>
              <a:rPr lang="en-US" altLang="en-US" dirty="0" smtClean="0"/>
              <a:t> </a:t>
            </a:r>
          </a:p>
          <a:p>
            <a:pPr lvl="2"/>
            <a:r>
              <a:rPr lang="en-US" altLang="en-US" dirty="0" smtClean="0"/>
              <a:t>And nothing otherwise</a:t>
            </a:r>
          </a:p>
          <a:p>
            <a:pPr lvl="1"/>
            <a:r>
              <a:rPr lang="en-US" altLang="en-US" dirty="0" smtClean="0"/>
              <a:t>For the manager to accept the contract (participation constraint)</a:t>
            </a:r>
          </a:p>
          <a:p>
            <a:pPr lvl="1" algn="ctr">
              <a:buFontTx/>
              <a:buNone/>
            </a:pPr>
            <a:r>
              <a:rPr lang="en-US" altLang="en-US" i="1" dirty="0" smtClean="0">
                <a:solidFill>
                  <a:srgbClr val="FF0000"/>
                </a:solidFill>
              </a:rPr>
              <a:t>E</a:t>
            </a:r>
            <a:r>
              <a:rPr lang="en-US" altLang="en-US" dirty="0" smtClean="0">
                <a:solidFill>
                  <a:srgbClr val="FF0000"/>
                </a:solidFill>
              </a:rPr>
              <a:t>(</a:t>
            </a:r>
            <a:r>
              <a:rPr lang="en-US" altLang="en-US" i="1" dirty="0" smtClean="0">
                <a:solidFill>
                  <a:srgbClr val="FF0000"/>
                </a:solidFill>
              </a:rPr>
              <a:t>U</a:t>
            </a:r>
            <a:r>
              <a:rPr lang="en-US" altLang="en-US" dirty="0" smtClean="0">
                <a:solidFill>
                  <a:srgbClr val="FF0000"/>
                </a:solidFill>
              </a:rPr>
              <a:t>) = </a:t>
            </a:r>
            <a:r>
              <a:rPr lang="en-US" altLang="en-US" i="1" dirty="0" smtClean="0">
                <a:solidFill>
                  <a:srgbClr val="FF0000"/>
                </a:solidFill>
              </a:rPr>
              <a:t>s</a:t>
            </a:r>
            <a:r>
              <a:rPr lang="en-US" altLang="en-US" dirty="0" smtClean="0">
                <a:solidFill>
                  <a:srgbClr val="FF0000"/>
                </a:solidFill>
              </a:rPr>
              <a:t>* - </a:t>
            </a:r>
            <a:r>
              <a:rPr lang="en-US" altLang="en-US" i="1" dirty="0" smtClean="0">
                <a:solidFill>
                  <a:srgbClr val="FF0000"/>
                </a:solidFill>
              </a:rPr>
              <a:t>c</a:t>
            </a:r>
            <a:r>
              <a:rPr lang="en-US" altLang="en-US" dirty="0" smtClean="0">
                <a:solidFill>
                  <a:srgbClr val="FF0000"/>
                </a:solidFill>
              </a:rPr>
              <a:t>(</a:t>
            </a:r>
            <a:r>
              <a:rPr lang="en-US" altLang="en-US" i="1" dirty="0" smtClean="0">
                <a:solidFill>
                  <a:srgbClr val="FF0000"/>
                </a:solidFill>
              </a:rPr>
              <a:t>e</a:t>
            </a:r>
            <a:r>
              <a:rPr lang="en-US" altLang="en-US" dirty="0" smtClean="0">
                <a:solidFill>
                  <a:srgbClr val="FF0000"/>
                </a:solidFill>
              </a:rPr>
              <a:t>*) </a:t>
            </a:r>
            <a:r>
              <a:rPr lang="en-US" altLang="en-US" dirty="0" smtClean="0">
                <a:solidFill>
                  <a:srgbClr val="FF0000"/>
                </a:solidFill>
                <a:sym typeface="Symbol" pitchFamily="18" charset="2"/>
              </a:rPr>
              <a:t> 0</a:t>
            </a:r>
            <a:endParaRPr lang="en-US" altLang="en-US" i="1" dirty="0" smtClean="0">
              <a:solidFill>
                <a:srgbClr val="FF0000"/>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EF8234B-7853-4866-946D-17E3894A2CCC}" type="slidenum">
              <a:rPr lang="en-US" smtClean="0"/>
              <a:pPr>
                <a:defRPr/>
              </a:pPr>
              <a:t>16</a:t>
            </a:fld>
            <a:endParaRPr lang="en-US"/>
          </a:p>
        </p:txBody>
      </p:sp>
    </p:spTree>
    <p:extLst>
      <p:ext uri="{BB962C8B-B14F-4D97-AF65-F5344CB8AC3E}">
        <p14:creationId xmlns:p14="http://schemas.microsoft.com/office/powerpoint/2010/main" val="14755437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dirty="0" smtClean="0"/>
              <a:t>First Best </a:t>
            </a:r>
            <a:r>
              <a:rPr lang="en-US" altLang="en-US" dirty="0"/>
              <a:t>(Full-Information Case)</a:t>
            </a:r>
            <a:endParaRPr lang="en-US" altLang="en-US" dirty="0" smtClean="0"/>
          </a:p>
        </p:txBody>
      </p:sp>
      <p:sp>
        <p:nvSpPr>
          <p:cNvPr id="32771" name="Rectangle 3"/>
          <p:cNvSpPr>
            <a:spLocks noGrp="1" noChangeArrowheads="1"/>
          </p:cNvSpPr>
          <p:nvPr>
            <p:ph idx="1"/>
          </p:nvPr>
        </p:nvSpPr>
        <p:spPr/>
        <p:txBody>
          <a:bodyPr/>
          <a:lstStyle/>
          <a:p>
            <a:r>
              <a:rPr lang="en-US" altLang="en-US" dirty="0" smtClean="0"/>
              <a:t>The owner </a:t>
            </a:r>
          </a:p>
          <a:p>
            <a:pPr lvl="1"/>
            <a:r>
              <a:rPr lang="en-US" altLang="en-US" dirty="0" smtClean="0"/>
              <a:t>Will pay the lowest salary possible [</a:t>
            </a:r>
            <a:r>
              <a:rPr lang="en-US" altLang="en-US" i="1" dirty="0" smtClean="0"/>
              <a:t>s</a:t>
            </a:r>
            <a:r>
              <a:rPr lang="en-US" altLang="en-US" dirty="0" smtClean="0"/>
              <a:t>* = </a:t>
            </a:r>
            <a:r>
              <a:rPr lang="en-US" altLang="en-US" i="1" dirty="0" smtClean="0"/>
              <a:t>c</a:t>
            </a:r>
            <a:r>
              <a:rPr lang="en-US" altLang="en-US" dirty="0" smtClean="0"/>
              <a:t>(</a:t>
            </a:r>
            <a:r>
              <a:rPr lang="en-US" altLang="en-US" i="1" dirty="0" smtClean="0"/>
              <a:t>e</a:t>
            </a:r>
            <a:r>
              <a:rPr lang="en-US" altLang="en-US" dirty="0" smtClean="0"/>
              <a:t>*)]</a:t>
            </a:r>
          </a:p>
          <a:p>
            <a:pPr lvl="1"/>
            <a:r>
              <a:rPr lang="en-US" altLang="en-US" dirty="0" smtClean="0"/>
              <a:t>Net profit: </a:t>
            </a:r>
            <a:r>
              <a:rPr lang="en-US" altLang="en-US" i="1" dirty="0" smtClean="0">
                <a:solidFill>
                  <a:srgbClr val="FF0000"/>
                </a:solidFill>
                <a:sym typeface="Symbol" pitchFamily="18" charset="2"/>
              </a:rPr>
              <a:t>E</a:t>
            </a:r>
            <a:r>
              <a:rPr lang="en-US" altLang="en-US" dirty="0" smtClean="0">
                <a:solidFill>
                  <a:srgbClr val="FF0000"/>
                </a:solidFill>
                <a:sym typeface="Symbol" pitchFamily="18" charset="2"/>
              </a:rPr>
              <a:t>(</a:t>
            </a:r>
            <a:r>
              <a:rPr lang="en-US" altLang="en-US" i="1" baseline="-25000" dirty="0" smtClean="0">
                <a:solidFill>
                  <a:srgbClr val="FF0000"/>
                </a:solidFill>
                <a:sym typeface="Symbol" pitchFamily="18" charset="2"/>
              </a:rPr>
              <a:t>n</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e</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E</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s</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e</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c</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e</a:t>
            </a:r>
            <a:r>
              <a:rPr lang="en-US" altLang="en-US" dirty="0" smtClean="0">
                <a:solidFill>
                  <a:srgbClr val="FF0000"/>
                </a:solidFill>
                <a:sym typeface="Symbol" pitchFamily="18" charset="2"/>
              </a:rPr>
              <a:t>*)</a:t>
            </a:r>
          </a:p>
          <a:p>
            <a:pPr lvl="1">
              <a:lnSpc>
                <a:spcPct val="110000"/>
              </a:lnSpc>
            </a:pPr>
            <a:r>
              <a:rPr lang="en-US" altLang="en-US" dirty="0" smtClean="0">
                <a:sym typeface="Symbol" pitchFamily="18" charset="2"/>
              </a:rPr>
              <a:t>At the optimum, the marginal cost of effort equals the marginal benefit, </a:t>
            </a:r>
            <a:r>
              <a:rPr lang="en-US" altLang="en-US" i="1" dirty="0" smtClean="0">
                <a:solidFill>
                  <a:srgbClr val="FF0000"/>
                </a:solidFill>
                <a:sym typeface="Symbol" pitchFamily="18" charset="2"/>
              </a:rPr>
              <a:t>c’</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e</a:t>
            </a:r>
            <a:r>
              <a:rPr lang="en-US" altLang="en-US" dirty="0" smtClean="0">
                <a:solidFill>
                  <a:srgbClr val="FF0000"/>
                </a:solidFill>
                <a:sym typeface="Symbol" pitchFamily="18" charset="2"/>
              </a:rPr>
              <a:t>*) = 1</a:t>
            </a:r>
            <a:endParaRPr lang="en-US" altLang="en-US"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9B544F7-A107-4499-BDE7-03BDA404D1D6}" type="slidenum">
              <a:rPr lang="en-US" smtClean="0"/>
              <a:pPr>
                <a:defRPr/>
              </a:pPr>
              <a:t>17</a:t>
            </a:fld>
            <a:endParaRPr lang="en-US"/>
          </a:p>
        </p:txBody>
      </p:sp>
    </p:spTree>
    <p:extLst>
      <p:ext uri="{BB962C8B-B14F-4D97-AF65-F5344CB8AC3E}">
        <p14:creationId xmlns:p14="http://schemas.microsoft.com/office/powerpoint/2010/main" val="17818554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dirty="0" smtClean="0"/>
              <a:t>Second </a:t>
            </a:r>
            <a:r>
              <a:rPr lang="en-US" altLang="en-US" dirty="0"/>
              <a:t>Best </a:t>
            </a:r>
            <a:r>
              <a:rPr lang="en-US" altLang="en-US" dirty="0" smtClean="0"/>
              <a:t>(Hidden-Action Case</a:t>
            </a:r>
            <a:r>
              <a:rPr lang="en-US" altLang="en-US" dirty="0"/>
              <a:t>)</a:t>
            </a:r>
            <a:endParaRPr lang="en-US" altLang="en-US" dirty="0" smtClean="0"/>
          </a:p>
        </p:txBody>
      </p:sp>
      <p:sp>
        <p:nvSpPr>
          <p:cNvPr id="33795" name="Rectangle 3"/>
          <p:cNvSpPr>
            <a:spLocks noGrp="1" noChangeArrowheads="1"/>
          </p:cNvSpPr>
          <p:nvPr>
            <p:ph idx="1"/>
          </p:nvPr>
        </p:nvSpPr>
        <p:spPr/>
        <p:txBody>
          <a:bodyPr/>
          <a:lstStyle/>
          <a:p>
            <a:r>
              <a:rPr lang="en-US" altLang="en-US" dirty="0" smtClean="0"/>
              <a:t>If the owner cannot observe effort</a:t>
            </a:r>
          </a:p>
          <a:p>
            <a:pPr lvl="1"/>
            <a:r>
              <a:rPr lang="en-US" altLang="en-US" dirty="0" smtClean="0"/>
              <a:t>The contract cannot be conditioned on </a:t>
            </a:r>
            <a:r>
              <a:rPr lang="en-US" altLang="en-US" i="1" dirty="0" smtClean="0"/>
              <a:t>e</a:t>
            </a:r>
            <a:endParaRPr lang="en-US" altLang="en-US" dirty="0" smtClean="0"/>
          </a:p>
          <a:p>
            <a:pPr lvl="1"/>
            <a:r>
              <a:rPr lang="en-US" altLang="en-US" dirty="0" smtClean="0"/>
              <a:t>The owner may still induce effort if some of the manager’s salary depends on gross profit</a:t>
            </a:r>
          </a:p>
          <a:p>
            <a:pPr lvl="1"/>
            <a:r>
              <a:rPr lang="en-US" altLang="en-US" dirty="0" smtClean="0"/>
              <a:t>The owner offers a salary such as</a:t>
            </a:r>
          </a:p>
          <a:p>
            <a:pPr lvl="1" algn="ctr">
              <a:lnSpc>
                <a:spcPct val="150000"/>
              </a:lnSpc>
              <a:buFontTx/>
              <a:buNone/>
            </a:pPr>
            <a:r>
              <a:rPr lang="en-US" altLang="en-US" i="1" dirty="0" smtClean="0">
                <a:solidFill>
                  <a:srgbClr val="FF0000"/>
                </a:solidFill>
              </a:rPr>
              <a:t>s</a:t>
            </a:r>
            <a:r>
              <a:rPr lang="en-US" altLang="en-US" dirty="0" smtClean="0">
                <a:solidFill>
                  <a:srgbClr val="FF0000"/>
                </a:solidFill>
              </a:rPr>
              <a:t>(</a:t>
            </a:r>
            <a:r>
              <a:rPr lang="en-US" altLang="en-US" dirty="0" smtClean="0">
                <a:solidFill>
                  <a:srgbClr val="FF0000"/>
                </a:solidFill>
                <a:sym typeface="Symbol" pitchFamily="18" charset="2"/>
              </a:rPr>
              <a:t></a:t>
            </a:r>
            <a:r>
              <a:rPr lang="en-US" altLang="en-US" i="1" baseline="-25000" dirty="0" smtClean="0">
                <a:solidFill>
                  <a:srgbClr val="FF0000"/>
                </a:solidFill>
                <a:sym typeface="Symbol" pitchFamily="18" charset="2"/>
              </a:rPr>
              <a:t>g</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a</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b</a:t>
            </a:r>
            <a:r>
              <a:rPr lang="en-US" altLang="en-US" dirty="0" err="1" smtClean="0">
                <a:solidFill>
                  <a:srgbClr val="FF0000"/>
                </a:solidFill>
                <a:sym typeface="Symbol" pitchFamily="18" charset="2"/>
              </a:rPr>
              <a:t></a:t>
            </a:r>
            <a:r>
              <a:rPr lang="en-US" altLang="en-US" i="1" baseline="-25000" dirty="0" err="1" smtClean="0">
                <a:solidFill>
                  <a:srgbClr val="FF0000"/>
                </a:solidFill>
                <a:sym typeface="Symbol" pitchFamily="18" charset="2"/>
              </a:rPr>
              <a:t>g</a:t>
            </a:r>
            <a:endParaRPr lang="en-US" altLang="en-US" dirty="0" smtClean="0">
              <a:solidFill>
                <a:srgbClr val="FF0000"/>
              </a:solidFill>
              <a:sym typeface="Symbol" pitchFamily="18" charset="2"/>
            </a:endParaRPr>
          </a:p>
          <a:p>
            <a:pPr lvl="2"/>
            <a:r>
              <a:rPr lang="en-US" altLang="en-US" i="1" dirty="0" smtClean="0">
                <a:sym typeface="Symbol" pitchFamily="18" charset="2"/>
              </a:rPr>
              <a:t> a</a:t>
            </a:r>
            <a:r>
              <a:rPr lang="en-US" altLang="en-US" dirty="0" smtClean="0">
                <a:sym typeface="Symbol" pitchFamily="18" charset="2"/>
              </a:rPr>
              <a:t> is the fixed salary </a:t>
            </a:r>
          </a:p>
          <a:p>
            <a:pPr lvl="2"/>
            <a:r>
              <a:rPr lang="en-US" altLang="en-US" dirty="0" smtClean="0">
                <a:sym typeface="Symbol" pitchFamily="18" charset="2"/>
              </a:rPr>
              <a:t> </a:t>
            </a:r>
            <a:r>
              <a:rPr lang="en-US" altLang="en-US" i="1" dirty="0" smtClean="0">
                <a:sym typeface="Symbol" pitchFamily="18" charset="2"/>
              </a:rPr>
              <a:t>b </a:t>
            </a:r>
            <a:r>
              <a:rPr lang="en-US" altLang="en-US" dirty="0" smtClean="0">
                <a:sym typeface="Symbol" pitchFamily="18" charset="2"/>
              </a:rPr>
              <a:t>is the power of the incentive scheme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E862CE8-9341-4A1C-94ED-1567A8E9A395}" type="slidenum">
              <a:rPr lang="en-US" smtClean="0"/>
              <a:pPr>
                <a:defRPr/>
              </a:pPr>
              <a:t>18</a:t>
            </a:fld>
            <a:endParaRPr lang="en-US"/>
          </a:p>
        </p:txBody>
      </p:sp>
    </p:spTree>
    <p:extLst>
      <p:ext uri="{BB962C8B-B14F-4D97-AF65-F5344CB8AC3E}">
        <p14:creationId xmlns:p14="http://schemas.microsoft.com/office/powerpoint/2010/main" val="10539186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dirty="0" smtClean="0"/>
              <a:t>Second Best </a:t>
            </a:r>
            <a:r>
              <a:rPr lang="en-US" altLang="en-US" dirty="0"/>
              <a:t>(Hidden-Action Case)</a:t>
            </a:r>
            <a:endParaRPr lang="en-US" altLang="en-US" dirty="0" smtClean="0"/>
          </a:p>
        </p:txBody>
      </p:sp>
      <p:sp>
        <p:nvSpPr>
          <p:cNvPr id="34819" name="Rectangle 3"/>
          <p:cNvSpPr>
            <a:spLocks noGrp="1" noChangeArrowheads="1"/>
          </p:cNvSpPr>
          <p:nvPr>
            <p:ph idx="1"/>
          </p:nvPr>
        </p:nvSpPr>
        <p:spPr/>
        <p:txBody>
          <a:bodyPr/>
          <a:lstStyle/>
          <a:p>
            <a:r>
              <a:rPr lang="en-US" altLang="en-US" dirty="0" smtClean="0"/>
              <a:t>This relationship can be viewed as a three-stage game</a:t>
            </a:r>
          </a:p>
          <a:p>
            <a:pPr lvl="1"/>
            <a:r>
              <a:rPr lang="en-US" altLang="en-US" dirty="0" smtClean="0">
                <a:sym typeface="Symbol" pitchFamily="18" charset="2"/>
              </a:rPr>
              <a:t>Owner sets the salary (choosing </a:t>
            </a:r>
            <a:r>
              <a:rPr lang="en-US" altLang="en-US" i="1" dirty="0" smtClean="0">
                <a:sym typeface="Symbol" pitchFamily="18" charset="2"/>
              </a:rPr>
              <a:t>a</a:t>
            </a:r>
            <a:r>
              <a:rPr lang="en-US" altLang="en-US" dirty="0" smtClean="0">
                <a:sym typeface="Symbol" pitchFamily="18" charset="2"/>
              </a:rPr>
              <a:t> and </a:t>
            </a:r>
            <a:r>
              <a:rPr lang="en-US" altLang="en-US" i="1" dirty="0" smtClean="0">
                <a:sym typeface="Symbol" pitchFamily="18" charset="2"/>
              </a:rPr>
              <a:t>b</a:t>
            </a:r>
            <a:r>
              <a:rPr lang="en-US" altLang="en-US" dirty="0" smtClean="0">
                <a:sym typeface="Symbol" pitchFamily="18" charset="2"/>
              </a:rPr>
              <a:t>)</a:t>
            </a:r>
          </a:p>
          <a:p>
            <a:pPr lvl="1"/>
            <a:r>
              <a:rPr lang="en-US" altLang="en-US" dirty="0" smtClean="0">
                <a:sym typeface="Symbol" pitchFamily="18" charset="2"/>
              </a:rPr>
              <a:t>The manager decides whether or not to accept the contract</a:t>
            </a:r>
          </a:p>
          <a:p>
            <a:pPr lvl="1"/>
            <a:r>
              <a:rPr lang="en-US" altLang="en-US" dirty="0" smtClean="0">
                <a:sym typeface="Symbol" pitchFamily="18" charset="2"/>
              </a:rPr>
              <a:t>The manager decides how much effort to put forth (conditional on accepting the contract)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1D6838C-AD82-45A9-9123-2B995B57CF00}" type="slidenum">
              <a:rPr lang="en-US" smtClean="0"/>
              <a:pPr>
                <a:defRPr/>
              </a:pPr>
              <a:t>19</a:t>
            </a:fld>
            <a:endParaRPr lang="en-US"/>
          </a:p>
        </p:txBody>
      </p:sp>
    </p:spTree>
    <p:extLst>
      <p:ext uri="{BB962C8B-B14F-4D97-AF65-F5344CB8AC3E}">
        <p14:creationId xmlns:p14="http://schemas.microsoft.com/office/powerpoint/2010/main" val="39329798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dirty="0" smtClean="0"/>
              <a:t>Second Best </a:t>
            </a:r>
            <a:r>
              <a:rPr lang="en-US" altLang="en-US" dirty="0"/>
              <a:t>(Hidden-Action Case)</a:t>
            </a:r>
            <a:endParaRPr lang="en-US" altLang="en-US" dirty="0" smtClean="0"/>
          </a:p>
        </p:txBody>
      </p:sp>
      <p:sp>
        <p:nvSpPr>
          <p:cNvPr id="35843" name="Rectangle 3"/>
          <p:cNvSpPr>
            <a:spLocks noGrp="1" noChangeArrowheads="1"/>
          </p:cNvSpPr>
          <p:nvPr>
            <p:ph idx="1"/>
          </p:nvPr>
        </p:nvSpPr>
        <p:spPr/>
        <p:txBody>
          <a:bodyPr/>
          <a:lstStyle/>
          <a:p>
            <a:r>
              <a:rPr lang="en-US" altLang="en-US" dirty="0" smtClean="0"/>
              <a:t>Manager</a:t>
            </a:r>
          </a:p>
          <a:p>
            <a:pPr lvl="1">
              <a:lnSpc>
                <a:spcPct val="150000"/>
              </a:lnSpc>
            </a:pPr>
            <a:r>
              <a:rPr lang="en-US" altLang="en-US" dirty="0" smtClean="0"/>
              <a:t>Accepted the salary scheme: </a:t>
            </a:r>
            <a:r>
              <a:rPr lang="en-US" altLang="en-US" i="1" dirty="0" smtClean="0">
                <a:solidFill>
                  <a:srgbClr val="FF0000"/>
                </a:solidFill>
                <a:sym typeface="Symbol" pitchFamily="18" charset="2"/>
              </a:rPr>
              <a:t>a</a:t>
            </a:r>
            <a:r>
              <a:rPr lang="en-US" altLang="en-US" dirty="0" smtClean="0">
                <a:solidFill>
                  <a:srgbClr val="FF0000"/>
                </a:solidFill>
                <a:sym typeface="Symbol" pitchFamily="18" charset="2"/>
              </a:rPr>
              <a:t> + </a:t>
            </a:r>
            <a:r>
              <a:rPr lang="en-US" altLang="en-US" i="1" dirty="0" err="1" smtClean="0">
                <a:solidFill>
                  <a:srgbClr val="FF0000"/>
                </a:solidFill>
                <a:sym typeface="Symbol" pitchFamily="18" charset="2"/>
              </a:rPr>
              <a:t>b</a:t>
            </a:r>
            <a:r>
              <a:rPr lang="en-US" altLang="en-US" dirty="0" err="1" smtClean="0">
                <a:solidFill>
                  <a:srgbClr val="FF0000"/>
                </a:solidFill>
                <a:sym typeface="Symbol" pitchFamily="18" charset="2"/>
              </a:rPr>
              <a:t></a:t>
            </a:r>
            <a:r>
              <a:rPr lang="en-US" altLang="en-US" i="1" baseline="-25000" dirty="0" err="1" smtClean="0">
                <a:solidFill>
                  <a:srgbClr val="FF0000"/>
                </a:solidFill>
                <a:sym typeface="Symbol" pitchFamily="18" charset="2"/>
              </a:rPr>
              <a:t>g</a:t>
            </a:r>
            <a:endParaRPr lang="en-US" altLang="en-US" dirty="0" smtClean="0">
              <a:solidFill>
                <a:srgbClr val="FF0000"/>
              </a:solidFill>
              <a:sym typeface="Symbol" pitchFamily="18" charset="2"/>
            </a:endParaRPr>
          </a:p>
          <a:p>
            <a:pPr lvl="1"/>
            <a:r>
              <a:rPr lang="en-US" altLang="en-US" dirty="0" smtClean="0"/>
              <a:t>Expected utility from the linear salary: </a:t>
            </a:r>
          </a:p>
          <a:p>
            <a:pPr algn="ctr">
              <a:lnSpc>
                <a:spcPct val="150000"/>
              </a:lnSpc>
              <a:buFontTx/>
              <a:buNone/>
            </a:pPr>
            <a:r>
              <a:rPr lang="en-US" altLang="en-US" sz="3200" i="1" dirty="0" smtClean="0">
                <a:solidFill>
                  <a:srgbClr val="FF0000"/>
                </a:solidFill>
              </a:rPr>
              <a:t>E(</a:t>
            </a:r>
            <a:r>
              <a:rPr lang="en-US" altLang="en-US" sz="3200" i="1" dirty="0" smtClean="0">
                <a:solidFill>
                  <a:srgbClr val="FF0000"/>
                </a:solidFill>
                <a:sym typeface="Symbol" pitchFamily="18" charset="2"/>
              </a:rPr>
              <a:t>a + </a:t>
            </a:r>
            <a:r>
              <a:rPr lang="en-US" altLang="en-US" sz="3200" i="1" dirty="0" err="1" smtClean="0">
                <a:solidFill>
                  <a:srgbClr val="FF0000"/>
                </a:solidFill>
                <a:sym typeface="Symbol" pitchFamily="18" charset="2"/>
              </a:rPr>
              <a:t>b</a:t>
            </a:r>
            <a:r>
              <a:rPr lang="en-US" altLang="en-US" sz="3200" i="1" baseline="-25000" dirty="0" err="1" smtClean="0">
                <a:solidFill>
                  <a:srgbClr val="FF0000"/>
                </a:solidFill>
                <a:sym typeface="Symbol" pitchFamily="18" charset="2"/>
              </a:rPr>
              <a:t>g</a:t>
            </a:r>
            <a:r>
              <a:rPr lang="en-US" altLang="en-US" sz="3200" i="1" dirty="0" smtClean="0">
                <a:solidFill>
                  <a:srgbClr val="FF0000"/>
                </a:solidFill>
                <a:sym typeface="Symbol" pitchFamily="18" charset="2"/>
              </a:rPr>
              <a:t>) – (A/2)</a:t>
            </a:r>
            <a:r>
              <a:rPr lang="en-US" altLang="en-US" sz="3200" i="1" dirty="0" smtClean="0">
                <a:solidFill>
                  <a:srgbClr val="FF0000"/>
                </a:solidFill>
              </a:rPr>
              <a:t> </a:t>
            </a:r>
            <a:r>
              <a:rPr lang="en-US" altLang="en-US" sz="3200" i="1" dirty="0" err="1" smtClean="0">
                <a:solidFill>
                  <a:srgbClr val="FF0000"/>
                </a:solidFill>
              </a:rPr>
              <a:t>Var</a:t>
            </a:r>
            <a:r>
              <a:rPr lang="en-US" altLang="en-US" sz="3200" i="1" dirty="0" smtClean="0">
                <a:solidFill>
                  <a:srgbClr val="FF0000"/>
                </a:solidFill>
              </a:rPr>
              <a:t>(</a:t>
            </a:r>
            <a:r>
              <a:rPr lang="en-US" altLang="en-US" sz="3200" i="1" dirty="0" smtClean="0">
                <a:solidFill>
                  <a:srgbClr val="FF0000"/>
                </a:solidFill>
                <a:sym typeface="Symbol" pitchFamily="18" charset="2"/>
              </a:rPr>
              <a:t>a + </a:t>
            </a:r>
            <a:r>
              <a:rPr lang="en-US" altLang="en-US" sz="3200" i="1" dirty="0" err="1" smtClean="0">
                <a:solidFill>
                  <a:srgbClr val="FF0000"/>
                </a:solidFill>
                <a:sym typeface="Symbol" pitchFamily="18" charset="2"/>
              </a:rPr>
              <a:t>b</a:t>
            </a:r>
            <a:r>
              <a:rPr lang="en-US" altLang="en-US" sz="3200" i="1" baseline="-25000" dirty="0" err="1" smtClean="0">
                <a:solidFill>
                  <a:srgbClr val="FF0000"/>
                </a:solidFill>
                <a:sym typeface="Symbol" pitchFamily="18" charset="2"/>
              </a:rPr>
              <a:t>g</a:t>
            </a:r>
            <a:r>
              <a:rPr lang="en-US" altLang="en-US" sz="3200" i="1" dirty="0" smtClean="0">
                <a:solidFill>
                  <a:srgbClr val="FF0000"/>
                </a:solidFill>
                <a:sym typeface="Symbol" pitchFamily="18" charset="2"/>
              </a:rPr>
              <a:t>) – c(e)</a:t>
            </a:r>
            <a:endParaRPr lang="en-US" altLang="en-US" sz="3200" dirty="0" smtClean="0"/>
          </a:p>
          <a:p>
            <a:pPr lvl="1"/>
            <a:r>
              <a:rPr lang="en-US" altLang="en-US" dirty="0" smtClean="0"/>
              <a:t>Note: </a:t>
            </a:r>
            <a:r>
              <a:rPr lang="en-US" altLang="en-US" i="1" dirty="0" smtClean="0">
                <a:solidFill>
                  <a:srgbClr val="FF0000"/>
                </a:solidFill>
              </a:rPr>
              <a:t>E(</a:t>
            </a:r>
            <a:r>
              <a:rPr lang="en-US" altLang="en-US" i="1" dirty="0" smtClean="0">
                <a:solidFill>
                  <a:srgbClr val="FF0000"/>
                </a:solidFill>
                <a:sym typeface="Symbol" pitchFamily="18" charset="2"/>
              </a:rPr>
              <a:t>a + </a:t>
            </a:r>
            <a:r>
              <a:rPr lang="en-US" altLang="en-US" i="1" dirty="0" err="1" smtClean="0">
                <a:solidFill>
                  <a:srgbClr val="FF0000"/>
                </a:solidFill>
                <a:sym typeface="Symbol" pitchFamily="18" charset="2"/>
              </a:rPr>
              <a:t>b</a:t>
            </a:r>
            <a:r>
              <a:rPr lang="en-US" altLang="en-US" i="1" baseline="-25000" dirty="0" err="1" smtClean="0">
                <a:solidFill>
                  <a:srgbClr val="FF0000"/>
                </a:solidFill>
                <a:sym typeface="Symbol" pitchFamily="18" charset="2"/>
              </a:rPr>
              <a:t>g</a:t>
            </a:r>
            <a:r>
              <a:rPr lang="en-US" altLang="en-US" i="1" dirty="0" smtClean="0">
                <a:solidFill>
                  <a:srgbClr val="FF0000"/>
                </a:solidFill>
                <a:sym typeface="Symbol" pitchFamily="18" charset="2"/>
              </a:rPr>
              <a:t>) = a + be</a:t>
            </a:r>
          </a:p>
          <a:p>
            <a:pPr lvl="1">
              <a:lnSpc>
                <a:spcPct val="150000"/>
              </a:lnSpc>
            </a:pPr>
            <a:r>
              <a:rPr lang="en-US" altLang="en-US" dirty="0" smtClean="0">
                <a:sym typeface="Symbol" pitchFamily="18" charset="2"/>
              </a:rPr>
              <a:t>Variance: </a:t>
            </a:r>
            <a:r>
              <a:rPr lang="en-US" altLang="en-US" i="1" dirty="0" err="1" smtClean="0">
                <a:solidFill>
                  <a:srgbClr val="FF0000"/>
                </a:solidFill>
              </a:rPr>
              <a:t>Var</a:t>
            </a:r>
            <a:r>
              <a:rPr lang="en-US" altLang="en-US" i="1" dirty="0" smtClean="0">
                <a:solidFill>
                  <a:srgbClr val="FF0000"/>
                </a:solidFill>
              </a:rPr>
              <a:t>(</a:t>
            </a:r>
            <a:r>
              <a:rPr lang="en-US" altLang="en-US" i="1" dirty="0" smtClean="0">
                <a:solidFill>
                  <a:srgbClr val="FF0000"/>
                </a:solidFill>
                <a:sym typeface="Symbol" pitchFamily="18" charset="2"/>
              </a:rPr>
              <a:t>a + </a:t>
            </a:r>
            <a:r>
              <a:rPr lang="en-US" altLang="en-US" i="1" dirty="0" err="1" smtClean="0">
                <a:solidFill>
                  <a:srgbClr val="FF0000"/>
                </a:solidFill>
                <a:sym typeface="Symbol" pitchFamily="18" charset="2"/>
              </a:rPr>
              <a:t>b</a:t>
            </a:r>
            <a:r>
              <a:rPr lang="en-US" altLang="en-US" i="1" baseline="-25000" dirty="0" err="1" smtClean="0">
                <a:solidFill>
                  <a:srgbClr val="FF0000"/>
                </a:solidFill>
                <a:sym typeface="Symbol" pitchFamily="18" charset="2"/>
              </a:rPr>
              <a:t>g</a:t>
            </a:r>
            <a:r>
              <a:rPr lang="en-US" altLang="en-US" i="1" dirty="0" smtClean="0">
                <a:solidFill>
                  <a:srgbClr val="FF0000"/>
                </a:solidFill>
                <a:sym typeface="Symbol" pitchFamily="18" charset="2"/>
              </a:rPr>
              <a:t>) = b</a:t>
            </a:r>
            <a:r>
              <a:rPr lang="en-US" altLang="en-US" i="1" baseline="30000" dirty="0" smtClean="0">
                <a:solidFill>
                  <a:srgbClr val="FF0000"/>
                </a:solidFill>
                <a:sym typeface="Symbol" pitchFamily="18" charset="2"/>
              </a:rPr>
              <a:t>2</a:t>
            </a:r>
            <a:r>
              <a:rPr lang="el-GR" altLang="en-US" i="1" dirty="0" smtClean="0">
                <a:solidFill>
                  <a:srgbClr val="FF0000"/>
                </a:solidFill>
                <a:cs typeface="Arial" charset="0"/>
                <a:sym typeface="Symbol" pitchFamily="18" charset="2"/>
              </a:rPr>
              <a:t>σ</a:t>
            </a:r>
            <a:r>
              <a:rPr lang="en-US" altLang="en-US" i="1" baseline="30000" dirty="0" smtClean="0">
                <a:solidFill>
                  <a:srgbClr val="FF0000"/>
                </a:solidFill>
                <a:cs typeface="Arial" charset="0"/>
                <a:sym typeface="Symbol" pitchFamily="18" charset="2"/>
              </a:rPr>
              <a:t>2</a:t>
            </a:r>
          </a:p>
          <a:p>
            <a:pPr algn="ctr">
              <a:buFontTx/>
              <a:buNone/>
            </a:pPr>
            <a:r>
              <a:rPr lang="en-US" altLang="en-US" dirty="0" smtClean="0">
                <a:cs typeface="Arial" charset="0"/>
                <a:sym typeface="Symbol" pitchFamily="18" charset="2"/>
              </a:rPr>
              <a:t> </a:t>
            </a:r>
            <a:r>
              <a:rPr lang="en-US" altLang="en-US" sz="3200" dirty="0" smtClean="0">
                <a:solidFill>
                  <a:srgbClr val="FF0000"/>
                </a:solidFill>
                <a:cs typeface="Arial" charset="0"/>
                <a:sym typeface="Symbol" pitchFamily="18" charset="2"/>
              </a:rPr>
              <a:t>Expected utility = </a:t>
            </a:r>
            <a:r>
              <a:rPr lang="en-US" altLang="en-US" sz="3200" i="1" dirty="0" smtClean="0">
                <a:solidFill>
                  <a:srgbClr val="FF0000"/>
                </a:solidFill>
                <a:sym typeface="Symbol" pitchFamily="18" charset="2"/>
              </a:rPr>
              <a:t>a + be – (A b</a:t>
            </a:r>
            <a:r>
              <a:rPr lang="en-US" altLang="en-US" sz="3200" i="1" baseline="30000" dirty="0" smtClean="0">
                <a:solidFill>
                  <a:srgbClr val="FF0000"/>
                </a:solidFill>
                <a:sym typeface="Symbol" pitchFamily="18" charset="2"/>
              </a:rPr>
              <a:t>2</a:t>
            </a:r>
            <a:r>
              <a:rPr lang="el-GR" altLang="en-US" sz="3200" i="1" dirty="0" smtClean="0">
                <a:solidFill>
                  <a:srgbClr val="FF0000"/>
                </a:solidFill>
                <a:cs typeface="Arial" charset="0"/>
                <a:sym typeface="Symbol" pitchFamily="18" charset="2"/>
              </a:rPr>
              <a:t>σ</a:t>
            </a:r>
            <a:r>
              <a:rPr lang="en-US" altLang="en-US" sz="3200" i="1" baseline="30000" dirty="0" smtClean="0">
                <a:solidFill>
                  <a:srgbClr val="FF0000"/>
                </a:solidFill>
                <a:cs typeface="Arial" charset="0"/>
                <a:sym typeface="Symbol" pitchFamily="18" charset="2"/>
              </a:rPr>
              <a:t>2 </a:t>
            </a:r>
            <a:r>
              <a:rPr lang="en-US" altLang="en-US" sz="3200" i="1" dirty="0" smtClean="0">
                <a:solidFill>
                  <a:srgbClr val="FF0000"/>
                </a:solidFill>
                <a:sym typeface="Symbol" pitchFamily="18" charset="2"/>
              </a:rPr>
              <a:t>/2) – c(e)</a:t>
            </a:r>
            <a:endParaRPr lang="en-US" altLang="en-US" sz="3200" dirty="0" smtClean="0">
              <a:solidFill>
                <a:srgbClr val="FF0000"/>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DB04C56-5A20-4D5D-AF64-0734774F044A}" type="slidenum">
              <a:rPr lang="en-US" smtClean="0"/>
              <a:pPr>
                <a:defRPr/>
              </a:pPr>
              <a:t>20</a:t>
            </a:fld>
            <a:endParaRPr lang="en-US"/>
          </a:p>
        </p:txBody>
      </p:sp>
    </p:spTree>
    <p:extLst>
      <p:ext uri="{BB962C8B-B14F-4D97-AF65-F5344CB8AC3E}">
        <p14:creationId xmlns:p14="http://schemas.microsoft.com/office/powerpoint/2010/main" val="24886570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dirty="0" smtClean="0"/>
              <a:t>Second Best </a:t>
            </a:r>
            <a:r>
              <a:rPr lang="en-US" altLang="en-US" dirty="0"/>
              <a:t>(Hidden-Action Case)</a:t>
            </a:r>
            <a:endParaRPr lang="en-US" altLang="en-US" dirty="0" smtClean="0"/>
          </a:p>
        </p:txBody>
      </p:sp>
      <p:sp>
        <p:nvSpPr>
          <p:cNvPr id="36867" name="Rectangle 3"/>
          <p:cNvSpPr>
            <a:spLocks noGrp="1" noChangeArrowheads="1"/>
          </p:cNvSpPr>
          <p:nvPr>
            <p:ph idx="1"/>
          </p:nvPr>
        </p:nvSpPr>
        <p:spPr/>
        <p:txBody>
          <a:bodyPr>
            <a:noAutofit/>
          </a:bodyPr>
          <a:lstStyle/>
          <a:p>
            <a:r>
              <a:rPr lang="en-US" altLang="en-US" dirty="0" smtClean="0"/>
              <a:t>First-order condition for the </a:t>
            </a:r>
            <a:r>
              <a:rPr lang="en-US" altLang="en-US" i="1" dirty="0" smtClean="0"/>
              <a:t>e</a:t>
            </a:r>
            <a:r>
              <a:rPr lang="en-US" altLang="en-US" dirty="0" smtClean="0"/>
              <a:t> </a:t>
            </a:r>
          </a:p>
          <a:p>
            <a:pPr lvl="1"/>
            <a:r>
              <a:rPr lang="en-US" altLang="en-US" dirty="0" smtClean="0"/>
              <a:t>Maximizing the manager’s expected utility</a:t>
            </a:r>
          </a:p>
          <a:p>
            <a:pPr lvl="1"/>
            <a:r>
              <a:rPr lang="en-US" altLang="en-US" dirty="0" smtClean="0">
                <a:sym typeface="Symbol" pitchFamily="18" charset="2"/>
              </a:rPr>
              <a:t> </a:t>
            </a:r>
            <a:r>
              <a:rPr lang="en-US" altLang="en-US" i="1" dirty="0" smtClean="0">
                <a:sym typeface="Symbol" pitchFamily="18" charset="2"/>
              </a:rPr>
              <a:t>c’(e) = b</a:t>
            </a:r>
          </a:p>
          <a:p>
            <a:pPr lvl="2"/>
            <a:r>
              <a:rPr lang="en-US" altLang="en-US" dirty="0" smtClean="0">
                <a:sym typeface="Symbol" pitchFamily="18" charset="2"/>
              </a:rPr>
              <a:t> </a:t>
            </a:r>
            <a:r>
              <a:rPr lang="en-US" altLang="en-US" i="1" dirty="0" smtClean="0">
                <a:sym typeface="Symbol" pitchFamily="18" charset="2"/>
              </a:rPr>
              <a:t>c(e)</a:t>
            </a:r>
            <a:r>
              <a:rPr lang="en-US" altLang="en-US" dirty="0" smtClean="0">
                <a:sym typeface="Symbol" pitchFamily="18" charset="2"/>
              </a:rPr>
              <a:t> is convex;  </a:t>
            </a:r>
            <a:r>
              <a:rPr lang="en-US" altLang="en-US" i="1" dirty="0" smtClean="0">
                <a:sym typeface="Symbol" pitchFamily="18" charset="2"/>
              </a:rPr>
              <a:t>c’(e) </a:t>
            </a:r>
            <a:r>
              <a:rPr lang="en-US" altLang="en-US" dirty="0" smtClean="0">
                <a:sym typeface="Symbol" pitchFamily="18" charset="2"/>
              </a:rPr>
              <a:t>is increasing in </a:t>
            </a:r>
            <a:r>
              <a:rPr lang="en-US" altLang="en-US" i="1" dirty="0" smtClean="0">
                <a:sym typeface="Symbol" pitchFamily="18" charset="2"/>
              </a:rPr>
              <a:t>e</a:t>
            </a:r>
          </a:p>
          <a:p>
            <a:pPr lvl="2"/>
            <a:r>
              <a:rPr lang="en-US" altLang="en-US" dirty="0" smtClean="0"/>
              <a:t>The higher is the power </a:t>
            </a:r>
            <a:r>
              <a:rPr lang="en-US" altLang="en-US" i="1" dirty="0" smtClean="0"/>
              <a:t>b</a:t>
            </a:r>
            <a:r>
              <a:rPr lang="en-US" altLang="en-US" dirty="0" smtClean="0"/>
              <a:t> of the incentive scheme, the more effort </a:t>
            </a:r>
            <a:r>
              <a:rPr lang="en-US" altLang="en-US" i="1" dirty="0" smtClean="0"/>
              <a:t>e </a:t>
            </a:r>
            <a:r>
              <a:rPr lang="en-US" altLang="en-US" dirty="0" smtClean="0"/>
              <a:t>the manager exerts</a:t>
            </a:r>
          </a:p>
          <a:p>
            <a:r>
              <a:rPr lang="en-US" altLang="en-US" dirty="0" smtClean="0"/>
              <a:t>The manager’s effort </a:t>
            </a:r>
          </a:p>
          <a:p>
            <a:pPr lvl="2"/>
            <a:r>
              <a:rPr lang="en-US" altLang="en-US" dirty="0" smtClean="0"/>
              <a:t>Depends only on the slope, </a:t>
            </a:r>
            <a:r>
              <a:rPr lang="en-US" altLang="en-US" i="1" dirty="0" smtClean="0"/>
              <a:t>b</a:t>
            </a:r>
            <a:r>
              <a:rPr lang="en-US" altLang="en-US" dirty="0" smtClean="0"/>
              <a:t>, and not on the fixed part, </a:t>
            </a:r>
            <a:r>
              <a:rPr lang="en-US" altLang="en-US" i="1" dirty="0" smtClean="0"/>
              <a:t>a</a:t>
            </a:r>
            <a:r>
              <a:rPr lang="en-US" altLang="en-US" dirty="0" smtClean="0"/>
              <a:t>, of his incentive scheme</a:t>
            </a:r>
            <a:endParaRPr lang="en-US" altLang="en-US"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D891C11-DD04-4D0F-8F40-163A9711F54F}" type="slidenum">
              <a:rPr lang="en-US" smtClean="0"/>
              <a:pPr>
                <a:defRPr/>
              </a:pPr>
              <a:t>21</a:t>
            </a:fld>
            <a:endParaRPr lang="en-US"/>
          </a:p>
        </p:txBody>
      </p:sp>
    </p:spTree>
    <p:extLst>
      <p:ext uri="{BB962C8B-B14F-4D97-AF65-F5344CB8AC3E}">
        <p14:creationId xmlns:p14="http://schemas.microsoft.com/office/powerpoint/2010/main" val="41039821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dirty="0" smtClean="0"/>
              <a:t>Second Best </a:t>
            </a:r>
            <a:r>
              <a:rPr lang="en-US" altLang="en-US" dirty="0"/>
              <a:t>(Hidden-Action Case)</a:t>
            </a:r>
            <a:endParaRPr lang="en-US" altLang="en-US" dirty="0" smtClean="0"/>
          </a:p>
        </p:txBody>
      </p:sp>
      <p:sp>
        <p:nvSpPr>
          <p:cNvPr id="37891" name="Rectangle 3"/>
          <p:cNvSpPr>
            <a:spLocks noGrp="1" noChangeArrowheads="1"/>
          </p:cNvSpPr>
          <p:nvPr>
            <p:ph idx="1"/>
          </p:nvPr>
        </p:nvSpPr>
        <p:spPr/>
        <p:txBody>
          <a:bodyPr/>
          <a:lstStyle/>
          <a:p>
            <a:r>
              <a:rPr lang="en-US" altLang="en-US" dirty="0" smtClean="0"/>
              <a:t>The manager accepts the contract</a:t>
            </a:r>
          </a:p>
          <a:p>
            <a:pPr lvl="1"/>
            <a:r>
              <a:rPr lang="en-US" altLang="en-US" dirty="0" smtClean="0"/>
              <a:t>If his expected utility is non-negative</a:t>
            </a:r>
          </a:p>
          <a:p>
            <a:pPr algn="ctr">
              <a:buFontTx/>
              <a:buNone/>
            </a:pPr>
            <a:r>
              <a:rPr lang="en-US" altLang="en-US" sz="2800" i="1" dirty="0" smtClean="0">
                <a:solidFill>
                  <a:srgbClr val="FF0000"/>
                </a:solidFill>
                <a:sym typeface="Symbol" pitchFamily="18" charset="2"/>
              </a:rPr>
              <a:t>a </a:t>
            </a:r>
            <a:r>
              <a:rPr lang="en-US" altLang="en-US" sz="2800" i="1" dirty="0" smtClean="0">
                <a:solidFill>
                  <a:srgbClr val="FF0000"/>
                </a:solidFill>
                <a:cs typeface="Arial" charset="0"/>
                <a:sym typeface="Symbol" pitchFamily="18" charset="2"/>
              </a:rPr>
              <a:t>≥</a:t>
            </a:r>
            <a:r>
              <a:rPr lang="en-US" altLang="en-US" sz="2800" i="1" dirty="0" smtClean="0">
                <a:solidFill>
                  <a:srgbClr val="FF0000"/>
                </a:solidFill>
                <a:sym typeface="Symbol" pitchFamily="18" charset="2"/>
              </a:rPr>
              <a:t> c(e) + (A b</a:t>
            </a:r>
            <a:r>
              <a:rPr lang="en-US" altLang="en-US" sz="2800" i="1" baseline="30000" dirty="0" smtClean="0">
                <a:solidFill>
                  <a:srgbClr val="FF0000"/>
                </a:solidFill>
                <a:sym typeface="Symbol" pitchFamily="18" charset="2"/>
              </a:rPr>
              <a:t>2</a:t>
            </a:r>
            <a:r>
              <a:rPr lang="el-GR" altLang="en-US" sz="2800" i="1" dirty="0" smtClean="0">
                <a:solidFill>
                  <a:srgbClr val="FF0000"/>
                </a:solidFill>
                <a:cs typeface="Arial" charset="0"/>
                <a:sym typeface="Symbol" pitchFamily="18" charset="2"/>
              </a:rPr>
              <a:t>σ</a:t>
            </a:r>
            <a:r>
              <a:rPr lang="en-US" altLang="en-US" sz="2800" i="1" baseline="30000" dirty="0" smtClean="0">
                <a:solidFill>
                  <a:srgbClr val="FF0000"/>
                </a:solidFill>
                <a:cs typeface="Arial" charset="0"/>
                <a:sym typeface="Symbol" pitchFamily="18" charset="2"/>
              </a:rPr>
              <a:t>2 </a:t>
            </a:r>
            <a:r>
              <a:rPr lang="en-US" altLang="en-US" sz="2800" i="1" dirty="0" smtClean="0">
                <a:solidFill>
                  <a:srgbClr val="FF0000"/>
                </a:solidFill>
                <a:sym typeface="Symbol" pitchFamily="18" charset="2"/>
              </a:rPr>
              <a:t>/2) – be</a:t>
            </a:r>
          </a:p>
          <a:p>
            <a:r>
              <a:rPr lang="en-US" altLang="en-US" dirty="0" smtClean="0"/>
              <a:t>The owner’s objective</a:t>
            </a:r>
          </a:p>
          <a:p>
            <a:pPr lvl="1"/>
            <a:r>
              <a:rPr lang="en-US" altLang="en-US" dirty="0" smtClean="0"/>
              <a:t>Maximize expected surplus = </a:t>
            </a:r>
            <a:r>
              <a:rPr lang="en-US" altLang="en-US" i="1" dirty="0" smtClean="0">
                <a:sym typeface="Symbol" pitchFamily="18" charset="2"/>
              </a:rPr>
              <a:t>e(1 – b) – a</a:t>
            </a:r>
          </a:p>
          <a:p>
            <a:pPr lvl="1"/>
            <a:r>
              <a:rPr lang="en-US" altLang="en-US" dirty="0" smtClean="0"/>
              <a:t>Subject to two constraints</a:t>
            </a:r>
          </a:p>
          <a:p>
            <a:pPr lvl="2"/>
            <a:r>
              <a:rPr lang="en-US" altLang="en-US" dirty="0" smtClean="0"/>
              <a:t>Manager must accept contract in second stage </a:t>
            </a:r>
          </a:p>
          <a:p>
            <a:pPr lvl="2"/>
            <a:r>
              <a:rPr lang="en-US" altLang="en-US" dirty="0" smtClean="0"/>
              <a:t>Manager will choose e to suit himself rather than the owner (incentive compatibility constraint)</a:t>
            </a:r>
            <a:endParaRPr lang="en-US" altLang="en-US" dirty="0" smtClean="0">
              <a:sym typeface="Symbol" pitchFamily="18" charset="2"/>
            </a:endParaRPr>
          </a:p>
          <a:p>
            <a:pPr lvl="1"/>
            <a:endParaRPr lang="en-US" altLang="en-US"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247931B-74B5-47E5-B44F-A29E509D9E0B}" type="slidenum">
              <a:rPr lang="en-US" smtClean="0"/>
              <a:pPr>
                <a:defRPr/>
              </a:pPr>
              <a:t>22</a:t>
            </a:fld>
            <a:endParaRPr lang="en-US"/>
          </a:p>
        </p:txBody>
      </p:sp>
    </p:spTree>
    <p:extLst>
      <p:ext uri="{BB962C8B-B14F-4D97-AF65-F5344CB8AC3E}">
        <p14:creationId xmlns:p14="http://schemas.microsoft.com/office/powerpoint/2010/main" val="337845078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2"/>
          <p:cNvSpPr>
            <a:spLocks noGrp="1" noChangeArrowheads="1"/>
          </p:cNvSpPr>
          <p:nvPr>
            <p:ph type="title"/>
          </p:nvPr>
        </p:nvSpPr>
        <p:spPr/>
        <p:txBody>
          <a:bodyPr/>
          <a:lstStyle/>
          <a:p>
            <a:r>
              <a:rPr lang="en-US" altLang="en-US" dirty="0" smtClean="0"/>
              <a:t>Second Best </a:t>
            </a:r>
            <a:r>
              <a:rPr lang="en-US" altLang="en-US" dirty="0"/>
              <a:t>(Hidden-Action Case)</a:t>
            </a:r>
            <a:endParaRPr lang="en-US" altLang="en-US" dirty="0" smtClean="0"/>
          </a:p>
        </p:txBody>
      </p:sp>
      <p:sp>
        <p:nvSpPr>
          <p:cNvPr id="2053" name="Rectangle 3"/>
          <p:cNvSpPr>
            <a:spLocks noGrp="1" noChangeArrowheads="1"/>
          </p:cNvSpPr>
          <p:nvPr>
            <p:ph idx="1"/>
          </p:nvPr>
        </p:nvSpPr>
        <p:spPr/>
        <p:txBody>
          <a:bodyPr/>
          <a:lstStyle/>
          <a:p>
            <a:r>
              <a:rPr lang="en-US" altLang="en-US" dirty="0" smtClean="0"/>
              <a:t>Owner’s surplus as a function of manager’s effort</a:t>
            </a:r>
            <a:endParaRPr lang="en-US" altLang="en-US"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72BBB7D-EDCB-47F6-9978-98957F3EE82E}" type="slidenum">
              <a:rPr lang="en-US" smtClean="0"/>
              <a:pPr>
                <a:defRPr/>
              </a:pPr>
              <a:t>23</a:t>
            </a:fld>
            <a:endParaRPr lang="en-US"/>
          </a:p>
        </p:txBody>
      </p:sp>
      <p:sp>
        <p:nvSpPr>
          <p:cNvPr id="2" name="Text Placeholder 1"/>
          <p:cNvSpPr>
            <a:spLocks noGrp="1"/>
          </p:cNvSpPr>
          <p:nvPr>
            <p:ph type="body" sz="quarter" idx="12"/>
          </p:nvPr>
        </p:nvSpPr>
        <p:spPr>
          <a:xfrm>
            <a:off x="381000" y="3581400"/>
            <a:ext cx="8534400" cy="2667000"/>
          </a:xfrm>
        </p:spPr>
        <p:txBody>
          <a:bodyPr/>
          <a:lstStyle/>
          <a:p>
            <a:r>
              <a:rPr lang="en-US" dirty="0">
                <a:solidFill>
                  <a:srgbClr val="002D56"/>
                </a:solidFill>
              </a:rPr>
              <a:t>The second-best effort e** satisfies the first-order condition </a:t>
            </a:r>
          </a:p>
        </p:txBody>
      </p:sp>
      <p:graphicFrame>
        <p:nvGraphicFramePr>
          <p:cNvPr id="6" name="Object 2"/>
          <p:cNvGraphicFramePr>
            <a:graphicFrameLocks noChangeAspect="1"/>
          </p:cNvGraphicFramePr>
          <p:nvPr>
            <p:extLst>
              <p:ext uri="{D42A27DB-BD31-4B8C-83A1-F6EECF244321}">
                <p14:modId xmlns:p14="http://schemas.microsoft.com/office/powerpoint/2010/main" val="1089598300"/>
              </p:ext>
            </p:extLst>
          </p:nvPr>
        </p:nvGraphicFramePr>
        <p:xfrm>
          <a:off x="1447800" y="2362200"/>
          <a:ext cx="6072188" cy="1028700"/>
        </p:xfrm>
        <a:graphic>
          <a:graphicData uri="http://schemas.openxmlformats.org/presentationml/2006/ole">
            <mc:AlternateContent xmlns:mc="http://schemas.openxmlformats.org/markup-compatibility/2006">
              <mc:Choice xmlns:v="urn:schemas-microsoft-com:vml" Requires="v">
                <p:oleObj spid="_x0000_s390188" name="Equation" r:id="rId3" imgW="2476440" imgH="419040" progId="Equation.DSMT4">
                  <p:embed/>
                </p:oleObj>
              </mc:Choice>
              <mc:Fallback>
                <p:oleObj name="Equation" r:id="rId3" imgW="247644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362200"/>
                        <a:ext cx="6072188"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7891" name="Object 3"/>
          <p:cNvGraphicFramePr>
            <a:graphicFrameLocks noChangeAspect="1"/>
          </p:cNvGraphicFramePr>
          <p:nvPr>
            <p:extLst>
              <p:ext uri="{D42A27DB-BD31-4B8C-83A1-F6EECF244321}">
                <p14:modId xmlns:p14="http://schemas.microsoft.com/office/powerpoint/2010/main" val="1542080627"/>
              </p:ext>
            </p:extLst>
          </p:nvPr>
        </p:nvGraphicFramePr>
        <p:xfrm>
          <a:off x="1509713" y="4838700"/>
          <a:ext cx="4856162" cy="1028700"/>
        </p:xfrm>
        <a:graphic>
          <a:graphicData uri="http://schemas.openxmlformats.org/presentationml/2006/ole">
            <mc:AlternateContent xmlns:mc="http://schemas.openxmlformats.org/markup-compatibility/2006">
              <mc:Choice xmlns:v="urn:schemas-microsoft-com:vml" Requires="v">
                <p:oleObj spid="_x0000_s390189" name="Equation" r:id="rId5" imgW="1981080" imgH="419040" progId="Equation.DSMT4">
                  <p:embed/>
                </p:oleObj>
              </mc:Choice>
              <mc:Fallback>
                <p:oleObj name="Equation" r:id="rId5" imgW="1981080" imgH="419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9713" y="4838700"/>
                        <a:ext cx="4856162"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313860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7891"/>
                                        </p:tgtEl>
                                        <p:attrNameLst>
                                          <p:attrName>style.visibility</p:attrName>
                                        </p:attrNameLst>
                                      </p:cBhvr>
                                      <p:to>
                                        <p:strVal val="visible"/>
                                      </p:to>
                                    </p:set>
                                    <p:animEffect transition="in" filter="wipe(left)">
                                      <p:cBhvr>
                                        <p:cTn id="15"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18.2	Manager’s Effort Responds to Increased </a:t>
            </a:r>
            <a:r>
              <a:rPr lang="en-US" altLang="en-US" dirty="0" smtClean="0"/>
              <a:t/>
            </a:r>
            <a:br>
              <a:rPr lang="en-US" altLang="en-US" dirty="0" smtClean="0"/>
            </a:br>
            <a:r>
              <a:rPr lang="en-US" altLang="en-US" dirty="0"/>
              <a:t>	</a:t>
            </a:r>
            <a:r>
              <a:rPr lang="en-US" altLang="en-US" dirty="0" smtClean="0">
                <a:solidFill>
                  <a:srgbClr val="002D56"/>
                </a:solidFill>
              </a:rPr>
              <a:t>Incentives</a:t>
            </a:r>
          </a:p>
        </p:txBody>
      </p:sp>
      <p:sp>
        <p:nvSpPr>
          <p:cNvPr id="38915" name="Text Placeholder 2"/>
          <p:cNvSpPr>
            <a:spLocks noGrp="1"/>
          </p:cNvSpPr>
          <p:nvPr>
            <p:ph sz="half" idx="1"/>
          </p:nvPr>
        </p:nvSpPr>
        <p:spPr>
          <a:xfrm>
            <a:off x="6400800" y="1600200"/>
            <a:ext cx="2362200" cy="4525963"/>
          </a:xfrm>
        </p:spPr>
        <p:txBody>
          <a:bodyPr>
            <a:normAutofit/>
          </a:bodyPr>
          <a:lstStyle/>
          <a:p>
            <a:pPr>
              <a:spcBef>
                <a:spcPct val="0"/>
              </a:spcBef>
            </a:pPr>
            <a:r>
              <a:rPr lang="en-US" altLang="en-US" dirty="0"/>
              <a:t>Because the manager’s marginal cost of effort, c’(e), slopes upward, an increase in the power of the incentive scheme from b</a:t>
            </a:r>
            <a:r>
              <a:rPr lang="en-US" altLang="en-US" baseline="-25000" dirty="0"/>
              <a:t>1</a:t>
            </a:r>
            <a:r>
              <a:rPr lang="en-US" altLang="en-US" dirty="0"/>
              <a:t> to b</a:t>
            </a:r>
            <a:r>
              <a:rPr lang="en-US" altLang="en-US" baseline="-25000" dirty="0"/>
              <a:t>2</a:t>
            </a:r>
            <a:r>
              <a:rPr lang="en-US" altLang="en-US" dirty="0"/>
              <a:t> induces the manager to increase his effort from e</a:t>
            </a:r>
            <a:r>
              <a:rPr lang="en-US" altLang="en-US" baseline="-25000" dirty="0"/>
              <a:t>1</a:t>
            </a:r>
            <a:r>
              <a:rPr lang="en-US" altLang="en-US" dirty="0"/>
              <a:t> to e</a:t>
            </a:r>
            <a:r>
              <a:rPr lang="en-US" altLang="en-US" baseline="-25000" dirty="0"/>
              <a:t>2</a:t>
            </a:r>
            <a:r>
              <a:rPr lang="en-US" altLang="en-US" dirty="0"/>
              <a:t>.</a:t>
            </a:r>
          </a:p>
          <a:p>
            <a:pPr>
              <a:spcBef>
                <a:spcPct val="0"/>
              </a:spcBef>
            </a:pPr>
            <a:endParaRPr lang="en-US" altLang="en-US" dirty="0" smtClean="0"/>
          </a:p>
        </p:txBody>
      </p:sp>
      <p:sp>
        <p:nvSpPr>
          <p:cNvPr id="3891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E12C4250-7BD0-4B53-9E2C-E9AD872C1E39}" type="slidenum">
              <a:rPr lang="en-US" smtClean="0"/>
              <a:pPr>
                <a:defRPr/>
              </a:pPr>
              <a:t>24</a:t>
            </a:fld>
            <a:endParaRPr lang="en-US"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 y="1447800"/>
            <a:ext cx="6032500"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84893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wipe(left)">
                                      <p:cBhvr>
                                        <p:cTn id="7" dur="500"/>
                                        <p:tgtEl>
                                          <p:spTgt spid="3686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8915">
                                            <p:txEl>
                                              <p:pRg st="0" end="0"/>
                                            </p:txEl>
                                          </p:spTgt>
                                        </p:tgtEl>
                                        <p:attrNameLst>
                                          <p:attrName>style.visibility</p:attrName>
                                        </p:attrNameLst>
                                      </p:cBhvr>
                                      <p:to>
                                        <p:strVal val="visible"/>
                                      </p:to>
                                    </p:set>
                                    <p:animEffect transition="in" filter="wipe(left)">
                                      <p:cBhvr>
                                        <p:cTn id="11" dur="500"/>
                                        <p:tgtEl>
                                          <p:spTgt spid="389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dirty="0" smtClean="0"/>
              <a:t>Second Best </a:t>
            </a:r>
            <a:r>
              <a:rPr lang="en-US" altLang="en-US" dirty="0"/>
              <a:t>(Hidden-Action Case)</a:t>
            </a:r>
            <a:endParaRPr lang="en-US" altLang="en-US" dirty="0" smtClean="0"/>
          </a:p>
        </p:txBody>
      </p:sp>
      <p:sp>
        <p:nvSpPr>
          <p:cNvPr id="39939" name="Rectangle 3"/>
          <p:cNvSpPr>
            <a:spLocks noGrp="1" noChangeArrowheads="1"/>
          </p:cNvSpPr>
          <p:nvPr>
            <p:ph idx="1"/>
          </p:nvPr>
        </p:nvSpPr>
        <p:spPr/>
        <p:txBody>
          <a:bodyPr/>
          <a:lstStyle/>
          <a:p>
            <a:r>
              <a:rPr lang="en-US" altLang="en-US" dirty="0" smtClean="0"/>
              <a:t>Because </a:t>
            </a:r>
            <a:r>
              <a:rPr lang="en-US" altLang="en-US" i="1" dirty="0" smtClean="0"/>
              <a:t>c’(e**) &lt; 1 - c’(e*)</a:t>
            </a:r>
            <a:r>
              <a:rPr lang="en-US" altLang="en-US" dirty="0" smtClean="0"/>
              <a:t>, and </a:t>
            </a:r>
            <a:r>
              <a:rPr lang="en-US" altLang="en-US" i="1" dirty="0" smtClean="0"/>
              <a:t>e** &lt; e*</a:t>
            </a:r>
          </a:p>
          <a:p>
            <a:pPr lvl="1"/>
            <a:r>
              <a:rPr lang="en-US" altLang="en-US" dirty="0">
                <a:sym typeface="Symbol" pitchFamily="18" charset="2"/>
              </a:rPr>
              <a:t>The presence of asymmetric information leads to lower equilibrium </a:t>
            </a:r>
            <a:r>
              <a:rPr lang="en-US" altLang="en-US" dirty="0" smtClean="0">
                <a:sym typeface="Symbol" pitchFamily="18" charset="2"/>
              </a:rPr>
              <a:t>effort</a:t>
            </a:r>
          </a:p>
          <a:p>
            <a:pPr lvl="1"/>
            <a:r>
              <a:rPr lang="en-US" altLang="en-US" dirty="0" smtClean="0">
                <a:sym typeface="Symbol" pitchFamily="18" charset="2"/>
              </a:rPr>
              <a:t>The fundamental </a:t>
            </a:r>
            <a:r>
              <a:rPr lang="en-US" altLang="en-US" dirty="0">
                <a:sym typeface="Symbol" pitchFamily="18" charset="2"/>
              </a:rPr>
              <a:t>trade-off in the owner-manager relationship is </a:t>
            </a:r>
            <a:r>
              <a:rPr lang="en-US" altLang="en-US" dirty="0" smtClean="0">
                <a:sym typeface="Symbol" pitchFamily="18" charset="2"/>
              </a:rPr>
              <a:t>between incentives </a:t>
            </a:r>
            <a:r>
              <a:rPr lang="en-US" altLang="en-US" dirty="0">
                <a:sym typeface="Symbol" pitchFamily="18" charset="2"/>
              </a:rPr>
              <a:t>and </a:t>
            </a:r>
            <a:r>
              <a:rPr lang="en-US" altLang="en-US" dirty="0" smtClean="0">
                <a:sym typeface="Symbol" pitchFamily="18" charset="2"/>
              </a:rPr>
              <a:t>insurance</a:t>
            </a:r>
          </a:p>
          <a:p>
            <a:pPr lvl="1"/>
            <a:r>
              <a:rPr lang="en-US" altLang="en-US" dirty="0" smtClean="0">
                <a:sym typeface="Symbol" pitchFamily="18" charset="2"/>
              </a:rPr>
              <a:t>The </a:t>
            </a:r>
            <a:r>
              <a:rPr lang="en-US" altLang="en-US" dirty="0">
                <a:sym typeface="Symbol" pitchFamily="18" charset="2"/>
              </a:rPr>
              <a:t>more risk averse is the </a:t>
            </a:r>
            <a:r>
              <a:rPr lang="en-US" altLang="en-US" dirty="0" smtClean="0">
                <a:sym typeface="Symbol" pitchFamily="18" charset="2"/>
              </a:rPr>
              <a:t>manager, the more </a:t>
            </a:r>
            <a:r>
              <a:rPr lang="en-US" altLang="en-US" dirty="0">
                <a:sym typeface="Symbol" pitchFamily="18" charset="2"/>
              </a:rPr>
              <a:t>important is insurance relative to incentives</a:t>
            </a:r>
            <a:endParaRPr lang="en-US" altLang="en-US"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411A898-3A25-4434-A3EF-DAA1F1290548}" type="slidenum">
              <a:rPr lang="en-US" smtClean="0"/>
              <a:pPr>
                <a:defRPr/>
              </a:pPr>
              <a:t>25</a:t>
            </a:fld>
            <a:endParaRPr lang="en-US"/>
          </a:p>
        </p:txBody>
      </p:sp>
    </p:spTree>
    <p:extLst>
      <p:ext uri="{BB962C8B-B14F-4D97-AF65-F5344CB8AC3E}">
        <p14:creationId xmlns:p14="http://schemas.microsoft.com/office/powerpoint/2010/main" val="167920124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18.1 	Owner-Manager Relationship</a:t>
            </a:r>
          </a:p>
        </p:txBody>
      </p:sp>
      <p:sp>
        <p:nvSpPr>
          <p:cNvPr id="4096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E5E91E66-C4A6-4C13-A8E9-2D5D894728EE}" type="slidenum">
              <a:rPr lang="en-US" smtClean="0"/>
              <a:pPr>
                <a:defRPr/>
              </a:pPr>
              <a:t>26</a:t>
            </a:fld>
            <a:endParaRPr lang="en-US" dirty="0"/>
          </a:p>
        </p:txBody>
      </p:sp>
      <p:sp>
        <p:nvSpPr>
          <p:cNvPr id="40963" name="Content Placeholder 2"/>
          <p:cNvSpPr>
            <a:spLocks noGrp="1"/>
          </p:cNvSpPr>
          <p:nvPr>
            <p:ph type="body" sz="quarter" idx="12"/>
          </p:nvPr>
        </p:nvSpPr>
        <p:spPr>
          <a:prstGeom prst="rect">
            <a:avLst/>
          </a:prstGeom>
        </p:spPr>
        <p:txBody>
          <a:bodyPr/>
          <a:lstStyle/>
          <a:p>
            <a:r>
              <a:rPr lang="en-US" altLang="en-US" dirty="0" smtClean="0"/>
              <a:t>Assume</a:t>
            </a:r>
          </a:p>
          <a:p>
            <a:pPr lvl="1"/>
            <a:r>
              <a:rPr lang="en-US" altLang="en-US" dirty="0" smtClean="0"/>
              <a:t>Manager’s cost of effort: c(e) = e</a:t>
            </a:r>
            <a:r>
              <a:rPr lang="en-US" altLang="en-US" baseline="30000" dirty="0" smtClean="0"/>
              <a:t>2</a:t>
            </a:r>
            <a:r>
              <a:rPr lang="en-US" altLang="en-US" dirty="0" smtClean="0"/>
              <a:t>/2 </a:t>
            </a:r>
          </a:p>
          <a:p>
            <a:pPr lvl="1"/>
            <a:r>
              <a:rPr lang="en-US" altLang="en-US" dirty="0" smtClean="0">
                <a:cs typeface="Arial" charset="0"/>
              </a:rPr>
              <a:t> σ</a:t>
            </a:r>
            <a:r>
              <a:rPr lang="en-US" altLang="en-US" baseline="30000" dirty="0" smtClean="0"/>
              <a:t>2</a:t>
            </a:r>
            <a:r>
              <a:rPr lang="en-US" altLang="en-US" dirty="0" smtClean="0"/>
              <a:t> = 1</a:t>
            </a:r>
          </a:p>
          <a:p>
            <a:r>
              <a:rPr lang="en-US" altLang="en-US" dirty="0" smtClean="0"/>
              <a:t>First best</a:t>
            </a:r>
          </a:p>
          <a:p>
            <a:pPr lvl="1"/>
            <a:r>
              <a:rPr lang="en-US" altLang="en-US" dirty="0" smtClean="0"/>
              <a:t> c’(e*) = e* = 1</a:t>
            </a:r>
          </a:p>
          <a:p>
            <a:pPr lvl="1"/>
            <a:r>
              <a:rPr lang="en-US" altLang="en-US" dirty="0" smtClean="0"/>
              <a:t>First-best effort e* = 1</a:t>
            </a:r>
          </a:p>
          <a:p>
            <a:pPr lvl="1"/>
            <a:r>
              <a:rPr lang="en-US" altLang="en-US" dirty="0" smtClean="0"/>
              <a:t>Manager’s fixed salary = ½</a:t>
            </a:r>
          </a:p>
          <a:p>
            <a:pPr lvl="1"/>
            <a:r>
              <a:rPr lang="en-US" altLang="en-US" dirty="0" smtClean="0"/>
              <a:t>Owner’s net profit = ½ </a:t>
            </a:r>
          </a:p>
        </p:txBody>
      </p:sp>
    </p:spTree>
    <p:extLst>
      <p:ext uri="{BB962C8B-B14F-4D97-AF65-F5344CB8AC3E}">
        <p14:creationId xmlns:p14="http://schemas.microsoft.com/office/powerpoint/2010/main" val="11732774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18.1 	Owner-Manager Relationship</a:t>
            </a:r>
          </a:p>
        </p:txBody>
      </p:sp>
      <p:sp>
        <p:nvSpPr>
          <p:cNvPr id="4198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3B75DCBB-752F-41F4-BEB8-C19C9508CEE7}" type="slidenum">
              <a:rPr lang="en-US" smtClean="0"/>
              <a:pPr>
                <a:defRPr/>
              </a:pPr>
              <a:t>27</a:t>
            </a:fld>
            <a:endParaRPr lang="en-US" dirty="0"/>
          </a:p>
        </p:txBody>
      </p:sp>
      <p:sp>
        <p:nvSpPr>
          <p:cNvPr id="41987" name="Content Placeholder 2"/>
          <p:cNvSpPr>
            <a:spLocks noGrp="1"/>
          </p:cNvSpPr>
          <p:nvPr>
            <p:ph type="body" sz="quarter" idx="12"/>
          </p:nvPr>
        </p:nvSpPr>
        <p:spPr>
          <a:prstGeom prst="rect">
            <a:avLst/>
          </a:prstGeom>
        </p:spPr>
        <p:txBody>
          <a:bodyPr/>
          <a:lstStyle/>
          <a:p>
            <a:r>
              <a:rPr lang="en-US" altLang="en-US" smtClean="0"/>
              <a:t>Second best, assume A = 1</a:t>
            </a:r>
          </a:p>
          <a:p>
            <a:pPr lvl="1"/>
            <a:r>
              <a:rPr lang="en-US" altLang="en-US" smtClean="0"/>
              <a:t>Then e** = ½ and b** = ½; a** = 0</a:t>
            </a:r>
          </a:p>
          <a:p>
            <a:pPr lvl="1"/>
            <a:r>
              <a:rPr lang="en-US" altLang="en-US" smtClean="0"/>
              <a:t>The manager receives no fixed pay </a:t>
            </a:r>
          </a:p>
          <a:p>
            <a:pPr lvl="2"/>
            <a:r>
              <a:rPr lang="en-US" altLang="en-US" smtClean="0"/>
              <a:t>But does receive incentive pay equal to 50 cents for every dollar of gross profit</a:t>
            </a:r>
          </a:p>
          <a:p>
            <a:pPr lvl="1"/>
            <a:r>
              <a:rPr lang="en-US" altLang="en-US" smtClean="0"/>
              <a:t>Owner’s expected net profit = ¼  </a:t>
            </a:r>
          </a:p>
          <a:p>
            <a:r>
              <a:rPr lang="en-US" altLang="en-US" smtClean="0"/>
              <a:t>Second best, assume A = 2</a:t>
            </a:r>
          </a:p>
          <a:p>
            <a:pPr lvl="1"/>
            <a:r>
              <a:rPr lang="en-US" altLang="en-US" smtClean="0"/>
              <a:t>Then e** = 1/3 and b** = 1/3 ; a** = 1/18</a:t>
            </a:r>
          </a:p>
          <a:p>
            <a:pPr lvl="1"/>
            <a:r>
              <a:rPr lang="en-US" altLang="en-US" smtClean="0"/>
              <a:t>Owner’s expected net profit = 1/6 </a:t>
            </a:r>
          </a:p>
          <a:p>
            <a:endParaRPr lang="en-US" altLang="en-US" smtClean="0"/>
          </a:p>
        </p:txBody>
      </p:sp>
    </p:spTree>
    <p:extLst>
      <p:ext uri="{BB962C8B-B14F-4D97-AF65-F5344CB8AC3E}">
        <p14:creationId xmlns:p14="http://schemas.microsoft.com/office/powerpoint/2010/main" val="6012495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Comparison to </a:t>
            </a:r>
            <a:r>
              <a:rPr lang="en-US" sz="3600" dirty="0" smtClean="0"/>
              <a:t>Standard Model of </a:t>
            </a:r>
            <a:r>
              <a:rPr lang="en-US" sz="3600" dirty="0"/>
              <a:t>the </a:t>
            </a:r>
            <a:r>
              <a:rPr lang="en-US" sz="3600" dirty="0" smtClean="0"/>
              <a:t>Firm</a:t>
            </a:r>
            <a:endParaRPr lang="en-US" sz="3600" dirty="0"/>
          </a:p>
        </p:txBody>
      </p:sp>
      <p:sp>
        <p:nvSpPr>
          <p:cNvPr id="3" name="Content Placeholder 2"/>
          <p:cNvSpPr>
            <a:spLocks noGrp="1"/>
          </p:cNvSpPr>
          <p:nvPr>
            <p:ph idx="1"/>
          </p:nvPr>
        </p:nvSpPr>
        <p:spPr/>
        <p:txBody>
          <a:bodyPr/>
          <a:lstStyle/>
          <a:p>
            <a:r>
              <a:rPr lang="en-US" dirty="0" smtClean="0"/>
              <a:t>Hidden </a:t>
            </a:r>
            <a:r>
              <a:rPr lang="en-US" dirty="0"/>
              <a:t>information </a:t>
            </a:r>
            <a:r>
              <a:rPr lang="en-US" dirty="0" smtClean="0"/>
              <a:t>vs. </a:t>
            </a:r>
            <a:r>
              <a:rPr lang="en-US" dirty="0"/>
              <a:t>perfectly competitive market with no asymmetric </a:t>
            </a:r>
            <a:r>
              <a:rPr lang="en-US" dirty="0" smtClean="0"/>
              <a:t>information:</a:t>
            </a:r>
            <a:endParaRPr lang="en-US" dirty="0"/>
          </a:p>
          <a:p>
            <a:pPr lvl="1"/>
            <a:r>
              <a:rPr lang="en-US" dirty="0" smtClean="0"/>
              <a:t>Possibility </a:t>
            </a:r>
            <a:r>
              <a:rPr lang="en-US" dirty="0"/>
              <a:t>of shirking </a:t>
            </a:r>
            <a:r>
              <a:rPr lang="en-US" dirty="0" smtClean="0"/>
              <a:t>and inefficiency </a:t>
            </a:r>
          </a:p>
          <a:p>
            <a:pPr lvl="2"/>
            <a:r>
              <a:rPr lang="en-US" dirty="0" smtClean="0"/>
              <a:t>Not in </a:t>
            </a:r>
            <a:r>
              <a:rPr lang="en-US" dirty="0"/>
              <a:t>the standard </a:t>
            </a:r>
            <a:r>
              <a:rPr lang="en-US" dirty="0" smtClean="0"/>
              <a:t>model</a:t>
            </a:r>
          </a:p>
          <a:p>
            <a:pPr lvl="1"/>
            <a:r>
              <a:rPr lang="en-US" dirty="0" smtClean="0"/>
              <a:t>The manager becomes </a:t>
            </a:r>
            <a:r>
              <a:rPr lang="en-US" dirty="0"/>
              <a:t>a unique sort of input</a:t>
            </a:r>
          </a:p>
          <a:p>
            <a:pPr lvl="2"/>
            <a:r>
              <a:rPr lang="en-US" dirty="0" smtClean="0"/>
              <a:t>His productivity </a:t>
            </a:r>
            <a:r>
              <a:rPr lang="en-US" dirty="0"/>
              <a:t>depends on how his compensation is </a:t>
            </a:r>
            <a:r>
              <a:rPr lang="en-US" dirty="0" smtClean="0"/>
              <a:t>structured</a:t>
            </a:r>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28</a:t>
            </a:fld>
            <a:endParaRPr lang="en-US"/>
          </a:p>
        </p:txBody>
      </p:sp>
    </p:spTree>
    <p:extLst>
      <p:ext uri="{BB962C8B-B14F-4D97-AF65-F5344CB8AC3E}">
        <p14:creationId xmlns:p14="http://schemas.microsoft.com/office/powerpoint/2010/main" val="13026589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smtClean="0"/>
              <a:t>Moral Hazard in Insurance</a:t>
            </a:r>
          </a:p>
        </p:txBody>
      </p:sp>
      <p:sp>
        <p:nvSpPr>
          <p:cNvPr id="43011" name="Rectangle 3"/>
          <p:cNvSpPr>
            <a:spLocks noGrp="1" noChangeArrowheads="1"/>
          </p:cNvSpPr>
          <p:nvPr>
            <p:ph idx="1"/>
          </p:nvPr>
        </p:nvSpPr>
        <p:spPr/>
        <p:txBody>
          <a:bodyPr/>
          <a:lstStyle/>
          <a:p>
            <a:r>
              <a:rPr lang="en-US" altLang="en-US" dirty="0" smtClean="0"/>
              <a:t>If a person is fully insured</a:t>
            </a:r>
          </a:p>
          <a:p>
            <a:pPr lvl="1"/>
            <a:r>
              <a:rPr lang="en-US" altLang="en-US" dirty="0" smtClean="0"/>
              <a:t>He will have a reduced incentive to undertake precautions</a:t>
            </a:r>
          </a:p>
          <a:p>
            <a:pPr lvl="1"/>
            <a:r>
              <a:rPr lang="en-US" altLang="en-US" dirty="0" smtClean="0"/>
              <a:t>May increase the likelihood of a loss occurring</a:t>
            </a:r>
          </a:p>
          <a:p>
            <a:r>
              <a:rPr lang="en-US" altLang="en-US" dirty="0" smtClean="0"/>
              <a:t>Moral hazard</a:t>
            </a:r>
          </a:p>
          <a:p>
            <a:pPr lvl="1"/>
            <a:r>
              <a:rPr lang="en-US" altLang="en-US" dirty="0" smtClean="0"/>
              <a:t>The effect of insurance coverage on an individual’s precautions</a:t>
            </a:r>
          </a:p>
          <a:p>
            <a:pPr lvl="1"/>
            <a:r>
              <a:rPr lang="en-US" altLang="en-US" dirty="0" smtClean="0"/>
              <a:t>Which may change the likelihood or size of losses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D3DFCEB-115B-400F-9506-0A84D268D3AE}" type="slidenum">
              <a:rPr lang="en-US" smtClean="0"/>
              <a:pPr>
                <a:defRPr/>
              </a:pPr>
              <a:t>29</a:t>
            </a:fld>
            <a:endParaRPr lang="en-US"/>
          </a:p>
        </p:txBody>
      </p:sp>
    </p:spTree>
    <p:extLst>
      <p:ext uri="{BB962C8B-B14F-4D97-AF65-F5344CB8AC3E}">
        <p14:creationId xmlns:p14="http://schemas.microsoft.com/office/powerpoint/2010/main" val="26626453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smtClean="0"/>
              <a:t>Mathematical Model</a:t>
            </a:r>
          </a:p>
        </p:txBody>
      </p:sp>
      <p:sp>
        <p:nvSpPr>
          <p:cNvPr id="44035" name="Rectangle 3"/>
          <p:cNvSpPr>
            <a:spLocks noGrp="1" noChangeArrowheads="1"/>
          </p:cNvSpPr>
          <p:nvPr>
            <p:ph idx="1"/>
          </p:nvPr>
        </p:nvSpPr>
        <p:spPr/>
        <p:txBody>
          <a:bodyPr/>
          <a:lstStyle/>
          <a:p>
            <a:r>
              <a:rPr lang="en-US" altLang="en-US" smtClean="0"/>
              <a:t>Risk-averse individual </a:t>
            </a:r>
          </a:p>
          <a:p>
            <a:pPr lvl="1"/>
            <a:r>
              <a:rPr lang="en-US" altLang="en-US" smtClean="0"/>
              <a:t>Faces the possibility of a loss (</a:t>
            </a:r>
            <a:r>
              <a:rPr lang="en-US" altLang="en-US" i="1" smtClean="0">
                <a:latin typeface="Times New Roman" pitchFamily="18" charset="0"/>
                <a:cs typeface="Times New Roman" pitchFamily="18" charset="0"/>
              </a:rPr>
              <a:t>l</a:t>
            </a:r>
            <a:r>
              <a:rPr lang="en-US" altLang="en-US" smtClean="0"/>
              <a:t>) </a:t>
            </a:r>
          </a:p>
          <a:p>
            <a:pPr lvl="1"/>
            <a:r>
              <a:rPr lang="en-US" altLang="en-US" smtClean="0"/>
              <a:t>That will reduce his initial wealth (</a:t>
            </a:r>
            <a:r>
              <a:rPr lang="en-US" altLang="en-US" i="1" smtClean="0"/>
              <a:t>W</a:t>
            </a:r>
            <a:r>
              <a:rPr lang="en-US" altLang="en-US" baseline="-25000" smtClean="0"/>
              <a:t>0</a:t>
            </a:r>
            <a:r>
              <a:rPr lang="en-US" altLang="en-US" smtClean="0"/>
              <a:t>)</a:t>
            </a:r>
          </a:p>
          <a:p>
            <a:pPr lvl="1"/>
            <a:r>
              <a:rPr lang="en-US" altLang="en-US" smtClean="0"/>
              <a:t>The probability of loss is </a:t>
            </a:r>
            <a:r>
              <a:rPr lang="en-US" altLang="en-US" smtClean="0">
                <a:sym typeface="Symbol" pitchFamily="18" charset="2"/>
              </a:rPr>
              <a:t></a:t>
            </a:r>
          </a:p>
          <a:p>
            <a:pPr lvl="1"/>
            <a:r>
              <a:rPr lang="en-US" altLang="en-US" smtClean="0">
                <a:sym typeface="Symbol" pitchFamily="18" charset="2"/>
              </a:rPr>
              <a:t>An individual can reduce  by spending more on preventive measures (</a:t>
            </a:r>
            <a:r>
              <a:rPr lang="en-US" altLang="en-US" i="1" smtClean="0">
                <a:sym typeface="Symbol" pitchFamily="18" charset="2"/>
              </a:rPr>
              <a:t>e</a:t>
            </a:r>
            <a:r>
              <a:rPr lang="en-US" altLang="en-US" smtClean="0">
                <a:sym typeface="Symbol" pitchFamily="18" charset="2"/>
              </a:rPr>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D5E83B7-561F-4A6E-9C38-A932AB92A9BC}" type="slidenum">
              <a:rPr lang="en-US" smtClean="0"/>
              <a:pPr>
                <a:defRPr/>
              </a:pPr>
              <a:t>30</a:t>
            </a:fld>
            <a:endParaRPr lang="en-US"/>
          </a:p>
        </p:txBody>
      </p:sp>
    </p:spTree>
    <p:extLst>
      <p:ext uri="{BB962C8B-B14F-4D97-AF65-F5344CB8AC3E}">
        <p14:creationId xmlns:p14="http://schemas.microsoft.com/office/powerpoint/2010/main" val="235460208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Mathematical Model</a:t>
            </a:r>
          </a:p>
        </p:txBody>
      </p:sp>
      <p:sp>
        <p:nvSpPr>
          <p:cNvPr id="45059" name="Rectangle 3"/>
          <p:cNvSpPr>
            <a:spLocks noGrp="1" noChangeArrowheads="1"/>
          </p:cNvSpPr>
          <p:nvPr>
            <p:ph idx="1"/>
          </p:nvPr>
        </p:nvSpPr>
        <p:spPr/>
        <p:txBody>
          <a:bodyPr/>
          <a:lstStyle/>
          <a:p>
            <a:r>
              <a:rPr lang="en-US" altLang="en-US" dirty="0" smtClean="0"/>
              <a:t>An insurance company (principal) </a:t>
            </a:r>
          </a:p>
          <a:p>
            <a:pPr lvl="1"/>
            <a:r>
              <a:rPr lang="en-US" altLang="en-US" sz="3000" dirty="0" smtClean="0"/>
              <a:t>Offers a contract involving a payment of </a:t>
            </a:r>
            <a:r>
              <a:rPr lang="en-US" altLang="en-US" sz="3000" i="1" dirty="0" smtClean="0"/>
              <a:t>x</a:t>
            </a:r>
            <a:r>
              <a:rPr lang="en-US" altLang="en-US" sz="3000" dirty="0" smtClean="0"/>
              <a:t> to the individual if a loss occurs</a:t>
            </a:r>
          </a:p>
          <a:p>
            <a:pPr lvl="1"/>
            <a:r>
              <a:rPr lang="en-US" altLang="en-US" sz="3000" dirty="0" smtClean="0">
                <a:sym typeface="Symbol" pitchFamily="18" charset="2"/>
              </a:rPr>
              <a:t>The premium is </a:t>
            </a:r>
            <a:r>
              <a:rPr lang="en-US" altLang="en-US" sz="3000" i="1" dirty="0" smtClean="0">
                <a:sym typeface="Symbol" pitchFamily="18" charset="2"/>
              </a:rPr>
              <a:t>p</a:t>
            </a:r>
            <a:endParaRPr lang="en-US" altLang="en-US" sz="3000" dirty="0" smtClean="0">
              <a:sym typeface="Symbol" pitchFamily="18" charset="2"/>
            </a:endParaRPr>
          </a:p>
          <a:p>
            <a:r>
              <a:rPr lang="en-US" altLang="en-US" dirty="0" smtClean="0">
                <a:sym typeface="Symbol" pitchFamily="18" charset="2"/>
              </a:rPr>
              <a:t>If the individual takes the coverage</a:t>
            </a:r>
          </a:p>
          <a:p>
            <a:pPr lvl="1"/>
            <a:r>
              <a:rPr lang="en-US" altLang="en-US" sz="3000" dirty="0" smtClean="0">
                <a:sym typeface="Symbol" pitchFamily="18" charset="2"/>
              </a:rPr>
              <a:t>Expected utility: </a:t>
            </a:r>
            <a:r>
              <a:rPr lang="en-US" altLang="en-US" sz="3000" dirty="0" smtClean="0">
                <a:solidFill>
                  <a:srgbClr val="FF0000"/>
                </a:solidFill>
                <a:sym typeface="Symbol" pitchFamily="18" charset="2"/>
              </a:rPr>
              <a:t>(1-)</a:t>
            </a:r>
            <a:r>
              <a:rPr lang="en-US" altLang="en-US" sz="3000" i="1" dirty="0" smtClean="0">
                <a:solidFill>
                  <a:srgbClr val="FF0000"/>
                </a:solidFill>
                <a:sym typeface="Symbol" pitchFamily="18" charset="2"/>
              </a:rPr>
              <a:t>U</a:t>
            </a:r>
            <a:r>
              <a:rPr lang="en-US" altLang="en-US" sz="3000" dirty="0" smtClean="0">
                <a:solidFill>
                  <a:srgbClr val="FF0000"/>
                </a:solidFill>
                <a:sym typeface="Symbol" pitchFamily="18" charset="2"/>
              </a:rPr>
              <a:t>(</a:t>
            </a:r>
            <a:r>
              <a:rPr lang="en-US" altLang="en-US" sz="3000" i="1" dirty="0" smtClean="0">
                <a:solidFill>
                  <a:srgbClr val="FF0000"/>
                </a:solidFill>
                <a:sym typeface="Symbol" pitchFamily="18" charset="2"/>
              </a:rPr>
              <a:t>W</a:t>
            </a:r>
            <a:r>
              <a:rPr lang="en-US" altLang="en-US" sz="3000" baseline="-25000" dirty="0" smtClean="0">
                <a:solidFill>
                  <a:srgbClr val="FF0000"/>
                </a:solidFill>
                <a:sym typeface="Symbol" pitchFamily="18" charset="2"/>
              </a:rPr>
              <a:t>1</a:t>
            </a:r>
            <a:r>
              <a:rPr lang="en-US" altLang="en-US" sz="3000" dirty="0" smtClean="0">
                <a:solidFill>
                  <a:srgbClr val="FF0000"/>
                </a:solidFill>
                <a:sym typeface="Symbol" pitchFamily="18" charset="2"/>
              </a:rPr>
              <a:t>) + ()</a:t>
            </a:r>
            <a:r>
              <a:rPr lang="en-US" altLang="en-US" sz="3000" i="1" dirty="0" smtClean="0">
                <a:solidFill>
                  <a:srgbClr val="FF0000"/>
                </a:solidFill>
                <a:sym typeface="Symbol" pitchFamily="18" charset="2"/>
              </a:rPr>
              <a:t>U</a:t>
            </a:r>
            <a:r>
              <a:rPr lang="en-US" altLang="en-US" sz="3000" dirty="0" smtClean="0">
                <a:solidFill>
                  <a:srgbClr val="FF0000"/>
                </a:solidFill>
                <a:sym typeface="Symbol" pitchFamily="18" charset="2"/>
              </a:rPr>
              <a:t>(</a:t>
            </a:r>
            <a:r>
              <a:rPr lang="en-US" altLang="en-US" sz="3000" i="1" dirty="0" smtClean="0">
                <a:solidFill>
                  <a:srgbClr val="FF0000"/>
                </a:solidFill>
                <a:sym typeface="Symbol" pitchFamily="18" charset="2"/>
              </a:rPr>
              <a:t>W</a:t>
            </a:r>
            <a:r>
              <a:rPr lang="en-US" altLang="en-US" sz="3000" baseline="-25000" dirty="0" smtClean="0">
                <a:solidFill>
                  <a:srgbClr val="FF0000"/>
                </a:solidFill>
                <a:sym typeface="Symbol" pitchFamily="18" charset="2"/>
              </a:rPr>
              <a:t>2</a:t>
            </a:r>
            <a:r>
              <a:rPr lang="en-US" altLang="en-US" sz="3000" dirty="0" smtClean="0">
                <a:solidFill>
                  <a:srgbClr val="FF0000"/>
                </a:solidFill>
                <a:sym typeface="Symbol" pitchFamily="18" charset="2"/>
              </a:rPr>
              <a:t>)</a:t>
            </a:r>
          </a:p>
          <a:p>
            <a:pPr lvl="2"/>
            <a:r>
              <a:rPr lang="en-US" altLang="en-US" dirty="0" smtClean="0">
                <a:sym typeface="Symbol" pitchFamily="18" charset="2"/>
              </a:rPr>
              <a:t>Wealth in state 1 (no loss): </a:t>
            </a:r>
            <a:r>
              <a:rPr lang="en-US" altLang="en-US" i="1" dirty="0" smtClean="0">
                <a:solidFill>
                  <a:srgbClr val="FF0000"/>
                </a:solidFill>
                <a:sym typeface="Symbol" pitchFamily="18" charset="2"/>
              </a:rPr>
              <a:t>W</a:t>
            </a:r>
            <a:r>
              <a:rPr lang="en-US" altLang="en-US" i="1" baseline="-25000" dirty="0" smtClean="0">
                <a:solidFill>
                  <a:srgbClr val="FF0000"/>
                </a:solidFill>
                <a:sym typeface="Symbol" pitchFamily="18" charset="2"/>
              </a:rPr>
              <a:t>1</a:t>
            </a:r>
            <a:r>
              <a:rPr lang="en-US" altLang="en-US" i="1" dirty="0" smtClean="0">
                <a:solidFill>
                  <a:srgbClr val="FF0000"/>
                </a:solidFill>
                <a:sym typeface="Symbol" pitchFamily="18" charset="2"/>
              </a:rPr>
              <a:t> = W</a:t>
            </a:r>
            <a:r>
              <a:rPr lang="en-US" altLang="en-US" baseline="-25000" dirty="0" smtClean="0">
                <a:solidFill>
                  <a:srgbClr val="FF0000"/>
                </a:solidFill>
                <a:sym typeface="Symbol" pitchFamily="18" charset="2"/>
              </a:rPr>
              <a:t>0</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e-p</a:t>
            </a:r>
          </a:p>
          <a:p>
            <a:pPr lvl="2"/>
            <a:r>
              <a:rPr lang="en-US" altLang="en-US" dirty="0" smtClean="0">
                <a:sym typeface="Symbol" pitchFamily="18" charset="2"/>
              </a:rPr>
              <a:t>Wealth in state 2 (loss): </a:t>
            </a:r>
            <a:r>
              <a:rPr lang="en-US" altLang="en-US" i="1" dirty="0" smtClean="0">
                <a:solidFill>
                  <a:srgbClr val="FF0000"/>
                </a:solidFill>
                <a:sym typeface="Symbol" pitchFamily="18" charset="2"/>
              </a:rPr>
              <a:t>W</a:t>
            </a:r>
            <a:r>
              <a:rPr lang="en-US" altLang="en-US" i="1" baseline="-25000" dirty="0" smtClean="0">
                <a:solidFill>
                  <a:srgbClr val="FF0000"/>
                </a:solidFill>
                <a:sym typeface="Symbol" pitchFamily="18" charset="2"/>
              </a:rPr>
              <a:t>2 </a:t>
            </a:r>
            <a:r>
              <a:rPr lang="en-US" altLang="en-US" i="1" dirty="0" smtClean="0">
                <a:solidFill>
                  <a:srgbClr val="FF0000"/>
                </a:solidFill>
                <a:sym typeface="Symbol" pitchFamily="18" charset="2"/>
              </a:rPr>
              <a:t>= W</a:t>
            </a:r>
            <a:r>
              <a:rPr lang="en-US" altLang="en-US" baseline="-25000" dirty="0" smtClean="0">
                <a:solidFill>
                  <a:srgbClr val="FF0000"/>
                </a:solidFill>
                <a:sym typeface="Symbol" pitchFamily="18" charset="2"/>
              </a:rPr>
              <a:t>0</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e-p-</a:t>
            </a:r>
            <a:r>
              <a:rPr lang="en-US" altLang="en-US" i="1" dirty="0" smtClean="0">
                <a:solidFill>
                  <a:srgbClr val="FF0000"/>
                </a:solidFill>
                <a:latin typeface="Times New Roman" pitchFamily="18" charset="0"/>
                <a:cs typeface="Times New Roman" pitchFamily="18" charset="0"/>
                <a:sym typeface="Symbol" pitchFamily="18" charset="2"/>
              </a:rPr>
              <a:t>l</a:t>
            </a:r>
            <a:r>
              <a:rPr lang="en-US" altLang="en-US" i="1" dirty="0" smtClean="0">
                <a:solidFill>
                  <a:srgbClr val="FF0000"/>
                </a:solidFill>
                <a:sym typeface="Symbol" pitchFamily="18" charset="2"/>
              </a:rPr>
              <a:t>+x</a:t>
            </a:r>
          </a:p>
          <a:p>
            <a:r>
              <a:rPr lang="en-US" altLang="en-US" dirty="0" smtClean="0"/>
              <a:t>Maximize: expected insurance profit = </a:t>
            </a:r>
            <a:r>
              <a:rPr lang="en-US" altLang="en-US" i="1" dirty="0" smtClean="0"/>
              <a:t>p - </a:t>
            </a:r>
            <a:r>
              <a:rPr lang="el-GR" altLang="en-US" i="1" dirty="0" smtClean="0">
                <a:cs typeface="Arial" charset="0"/>
              </a:rPr>
              <a:t>π</a:t>
            </a:r>
            <a:r>
              <a:rPr lang="en-US" altLang="en-US" i="1" dirty="0" smtClean="0"/>
              <a:t>x</a:t>
            </a:r>
            <a:endParaRPr lang="en-US" altLang="en-US" i="1" dirty="0" smtClean="0">
              <a:solidFill>
                <a:srgbClr val="FF0000"/>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C2F6BFB-2845-4220-8E91-2FC0564113A2}" type="slidenum">
              <a:rPr lang="en-US" smtClean="0"/>
              <a:pPr>
                <a:defRPr/>
              </a:pPr>
              <a:t>31</a:t>
            </a:fld>
            <a:endParaRPr lang="en-US"/>
          </a:p>
        </p:txBody>
      </p:sp>
    </p:spTree>
    <p:extLst>
      <p:ext uri="{BB962C8B-B14F-4D97-AF65-F5344CB8AC3E}">
        <p14:creationId xmlns:p14="http://schemas.microsoft.com/office/powerpoint/2010/main" val="410987047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dirty="0" smtClean="0"/>
              <a:t>First Best Insurance Contract</a:t>
            </a:r>
          </a:p>
        </p:txBody>
      </p:sp>
      <p:sp>
        <p:nvSpPr>
          <p:cNvPr id="46083" name="Rectangle 3"/>
          <p:cNvSpPr>
            <a:spLocks noGrp="1" noChangeArrowheads="1"/>
          </p:cNvSpPr>
          <p:nvPr>
            <p:ph idx="1"/>
          </p:nvPr>
        </p:nvSpPr>
        <p:spPr/>
        <p:txBody>
          <a:bodyPr/>
          <a:lstStyle/>
          <a:p>
            <a:r>
              <a:rPr lang="en-US" altLang="en-US" dirty="0" smtClean="0"/>
              <a:t>Insurance company - perfectly monitor </a:t>
            </a:r>
            <a:r>
              <a:rPr lang="en-US" altLang="en-US" i="1" dirty="0" smtClean="0"/>
              <a:t>e</a:t>
            </a:r>
            <a:endParaRPr lang="en-US" altLang="en-US" dirty="0" smtClean="0"/>
          </a:p>
          <a:p>
            <a:pPr lvl="1"/>
            <a:r>
              <a:rPr lang="en-US" altLang="en-US" dirty="0" smtClean="0"/>
              <a:t>Set the terms to maximize its expected profit - subject to the participation constraint</a:t>
            </a:r>
          </a:p>
          <a:p>
            <a:pPr lvl="2">
              <a:buFontTx/>
              <a:buNone/>
            </a:pPr>
            <a:r>
              <a:rPr lang="en-US" altLang="en-US" dirty="0" smtClean="0">
                <a:solidFill>
                  <a:srgbClr val="FF0000"/>
                </a:solidFill>
                <a:sym typeface="Symbol" pitchFamily="18" charset="2"/>
              </a:rPr>
              <a:t>(1-)</a:t>
            </a:r>
            <a:r>
              <a:rPr lang="en-US" altLang="en-US" i="1" dirty="0" smtClean="0">
                <a:solidFill>
                  <a:srgbClr val="FF0000"/>
                </a:solidFill>
                <a:sym typeface="Symbol" pitchFamily="18" charset="2"/>
              </a:rPr>
              <a:t>U</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W</a:t>
            </a:r>
            <a:r>
              <a:rPr lang="en-US" altLang="en-US" baseline="-25000" dirty="0" smtClean="0">
                <a:solidFill>
                  <a:srgbClr val="FF0000"/>
                </a:solidFill>
                <a:sym typeface="Symbol" pitchFamily="18" charset="2"/>
              </a:rPr>
              <a:t>1</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U</a:t>
            </a:r>
            <a:r>
              <a:rPr lang="en-US" altLang="en-US" dirty="0" smtClean="0">
                <a:solidFill>
                  <a:srgbClr val="FF0000"/>
                </a:solidFill>
                <a:sym typeface="Symbol" pitchFamily="18" charset="2"/>
              </a:rPr>
              <a:t>(</a:t>
            </a:r>
            <a:r>
              <a:rPr lang="en-US" altLang="en-US" i="1" dirty="0" smtClean="0">
                <a:solidFill>
                  <a:srgbClr val="FF0000"/>
                </a:solidFill>
                <a:sym typeface="Symbol" pitchFamily="18" charset="2"/>
              </a:rPr>
              <a:t>W</a:t>
            </a:r>
            <a:r>
              <a:rPr lang="en-US" altLang="en-US" baseline="-25000" dirty="0" smtClean="0">
                <a:solidFill>
                  <a:srgbClr val="FF0000"/>
                </a:solidFill>
                <a:sym typeface="Symbol" pitchFamily="18" charset="2"/>
              </a:rPr>
              <a:t>2</a:t>
            </a:r>
            <a:r>
              <a:rPr lang="en-US" altLang="en-US" dirty="0" smtClean="0">
                <a:solidFill>
                  <a:srgbClr val="FF0000"/>
                </a:solidFill>
                <a:sym typeface="Symbol" pitchFamily="18" charset="2"/>
              </a:rPr>
              <a:t>) </a:t>
            </a:r>
            <a:r>
              <a:rPr lang="en-US" altLang="en-US" dirty="0" smtClean="0">
                <a:solidFill>
                  <a:srgbClr val="FF0000"/>
                </a:solidFill>
                <a:cs typeface="Arial" charset="0"/>
                <a:sym typeface="Symbol" pitchFamily="18" charset="2"/>
              </a:rPr>
              <a:t>≥ </a:t>
            </a:r>
            <a:r>
              <a:rPr lang="en-US" altLang="en-US" i="1" dirty="0" smtClean="0">
                <a:solidFill>
                  <a:srgbClr val="FF0000"/>
                </a:solidFill>
                <a:cs typeface="Arial" charset="0"/>
                <a:sym typeface="Symbol" pitchFamily="18" charset="2"/>
              </a:rPr>
              <a:t>Ū</a:t>
            </a:r>
            <a:r>
              <a:rPr lang="en-US" altLang="en-US" dirty="0" smtClean="0">
                <a:solidFill>
                  <a:srgbClr val="FF0000"/>
                </a:solidFill>
                <a:cs typeface="Arial" charset="0"/>
                <a:sym typeface="Symbol" pitchFamily="18" charset="2"/>
              </a:rPr>
              <a:t> </a:t>
            </a:r>
            <a:endParaRPr lang="en-US" altLang="en-US" dirty="0" smtClean="0">
              <a:solidFill>
                <a:srgbClr val="FF0000"/>
              </a:solidFill>
              <a:sym typeface="Symbol" pitchFamily="18" charset="2"/>
            </a:endParaRPr>
          </a:p>
          <a:p>
            <a:pPr lvl="1"/>
            <a:r>
              <a:rPr lang="en-US" altLang="en-US" dirty="0" smtClean="0"/>
              <a:t>Will result in full insurance with </a:t>
            </a:r>
            <a:r>
              <a:rPr lang="en-US" altLang="en-US" i="1" dirty="0" smtClean="0"/>
              <a:t>x = </a:t>
            </a:r>
            <a:r>
              <a:rPr lang="en-US" altLang="en-US" i="1" dirty="0" smtClean="0">
                <a:latin typeface="Times New Roman" pitchFamily="18" charset="0"/>
                <a:cs typeface="Times New Roman" pitchFamily="18" charset="0"/>
              </a:rPr>
              <a:t>l</a:t>
            </a:r>
          </a:p>
          <a:p>
            <a:pPr lvl="1"/>
            <a:r>
              <a:rPr lang="en-US" altLang="en-US" dirty="0" smtClean="0"/>
              <a:t>The individual will choose the socially efficient level of precaution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9D28580-32BB-4A49-8ACF-CB525299C991}" type="slidenum">
              <a:rPr lang="en-US" smtClean="0"/>
              <a:pPr>
                <a:defRPr/>
              </a:pPr>
              <a:t>32</a:t>
            </a:fld>
            <a:endParaRPr lang="en-US"/>
          </a:p>
        </p:txBody>
      </p:sp>
    </p:spTree>
    <p:extLst>
      <p:ext uri="{BB962C8B-B14F-4D97-AF65-F5344CB8AC3E}">
        <p14:creationId xmlns:p14="http://schemas.microsoft.com/office/powerpoint/2010/main" val="20936617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dirty="0" smtClean="0"/>
              <a:t>First Best Insurance Contract</a:t>
            </a:r>
          </a:p>
        </p:txBody>
      </p:sp>
      <mc:AlternateContent xmlns:mc="http://schemas.openxmlformats.org/markup-compatibility/2006" xmlns:a14="http://schemas.microsoft.com/office/drawing/2010/main">
        <mc:Choice Requires="a14">
          <p:sp>
            <p:nvSpPr>
              <p:cNvPr id="46083" name="Rectangle 3"/>
              <p:cNvSpPr>
                <a:spLocks noGrp="1" noChangeArrowheads="1"/>
              </p:cNvSpPr>
              <p:nvPr>
                <p:ph idx="1"/>
              </p:nvPr>
            </p:nvSpPr>
            <p:spPr/>
            <p:txBody>
              <a:bodyPr/>
              <a:lstStyle/>
              <a:p>
                <a:r>
                  <a:rPr lang="en-US" altLang="en-US" dirty="0" smtClean="0"/>
                  <a:t>Lagrangian: </a:t>
                </a:r>
                <a:r>
                  <a:rPr lang="en-US" altLang="en-US" sz="2800" i="1" dirty="0" smtClean="0">
                    <a:solidFill>
                      <a:schemeClr val="tx1"/>
                    </a:solidFill>
                    <a:latin typeface="Times New Roman" panose="02020603050405020304" pitchFamily="18" charset="0"/>
                    <a:cs typeface="Times New Roman" panose="02020603050405020304" pitchFamily="18" charset="0"/>
                  </a:rPr>
                  <a:t>L = p – </a:t>
                </a:r>
                <a:r>
                  <a:rPr lang="el-GR" altLang="en-US" sz="2800" i="1" dirty="0" smtClean="0">
                    <a:solidFill>
                      <a:schemeClr val="tx1"/>
                    </a:solidFill>
                    <a:latin typeface="Times New Roman" panose="02020603050405020304" pitchFamily="18" charset="0"/>
                    <a:cs typeface="Times New Roman" panose="02020603050405020304" pitchFamily="18" charset="0"/>
                  </a:rPr>
                  <a:t>π</a:t>
                </a:r>
                <a:r>
                  <a:rPr lang="en-US" altLang="en-US" sz="2800" i="1" dirty="0" smtClean="0">
                    <a:solidFill>
                      <a:schemeClr val="tx1"/>
                    </a:solidFill>
                    <a:latin typeface="Times New Roman" panose="02020603050405020304" pitchFamily="18" charset="0"/>
                    <a:cs typeface="Times New Roman" panose="02020603050405020304" pitchFamily="18" charset="0"/>
                  </a:rPr>
                  <a:t>x + </a:t>
                </a:r>
                <a:r>
                  <a:rPr lang="el-GR" altLang="en-US" sz="2800" i="1" dirty="0" smtClean="0">
                    <a:solidFill>
                      <a:schemeClr val="tx1"/>
                    </a:solidFill>
                    <a:latin typeface="Times New Roman" panose="02020603050405020304" pitchFamily="18" charset="0"/>
                    <a:cs typeface="Times New Roman" panose="02020603050405020304" pitchFamily="18" charset="0"/>
                  </a:rPr>
                  <a:t>λ</a:t>
                </a:r>
                <a:r>
                  <a:rPr lang="en-US" altLang="en-US" sz="2800" i="1" dirty="0" smtClean="0">
                    <a:solidFill>
                      <a:schemeClr val="tx1"/>
                    </a:solidFill>
                    <a:latin typeface="Times New Roman" panose="02020603050405020304" pitchFamily="18" charset="0"/>
                    <a:cs typeface="Times New Roman" panose="02020603050405020304" pitchFamily="18" charset="0"/>
                  </a:rPr>
                  <a:t>[(1-</a:t>
                </a:r>
                <a:r>
                  <a:rPr lang="el-GR" altLang="en-US" sz="2800" i="1" dirty="0" smtClean="0">
                    <a:solidFill>
                      <a:schemeClr val="tx1"/>
                    </a:solidFill>
                    <a:latin typeface="Times New Roman" panose="02020603050405020304" pitchFamily="18" charset="0"/>
                    <a:cs typeface="Times New Roman" panose="02020603050405020304" pitchFamily="18" charset="0"/>
                  </a:rPr>
                  <a:t>π</a:t>
                </a:r>
                <a:r>
                  <a:rPr lang="en-US" altLang="en-US" sz="2800" i="1" dirty="0" smtClean="0">
                    <a:solidFill>
                      <a:schemeClr val="tx1"/>
                    </a:solidFill>
                    <a:latin typeface="Times New Roman" panose="02020603050405020304" pitchFamily="18" charset="0"/>
                    <a:cs typeface="Times New Roman" panose="02020603050405020304" pitchFamily="18" charset="0"/>
                  </a:rPr>
                  <a:t>)U(W</a:t>
                </a:r>
                <a:r>
                  <a:rPr lang="en-US" altLang="en-US" sz="2800" i="1" baseline="-25000" dirty="0" smtClean="0">
                    <a:solidFill>
                      <a:schemeClr val="tx1"/>
                    </a:solidFill>
                    <a:latin typeface="Times New Roman" panose="02020603050405020304" pitchFamily="18" charset="0"/>
                    <a:cs typeface="Times New Roman" panose="02020603050405020304" pitchFamily="18" charset="0"/>
                  </a:rPr>
                  <a:t>1</a:t>
                </a:r>
                <a:r>
                  <a:rPr lang="en-US" altLang="en-US" sz="2800" i="1" dirty="0" smtClean="0">
                    <a:solidFill>
                      <a:schemeClr val="tx1"/>
                    </a:solidFill>
                    <a:latin typeface="Times New Roman" panose="02020603050405020304" pitchFamily="18" charset="0"/>
                    <a:cs typeface="Times New Roman" panose="02020603050405020304" pitchFamily="18" charset="0"/>
                  </a:rPr>
                  <a:t>)+</a:t>
                </a:r>
                <a:r>
                  <a:rPr lang="el-GR" altLang="en-US" sz="2800" i="1" dirty="0" smtClean="0">
                    <a:solidFill>
                      <a:schemeClr val="tx1"/>
                    </a:solidFill>
                    <a:latin typeface="Times New Roman" panose="02020603050405020304" pitchFamily="18" charset="0"/>
                    <a:cs typeface="Times New Roman" panose="02020603050405020304" pitchFamily="18" charset="0"/>
                  </a:rPr>
                  <a:t>π</a:t>
                </a:r>
                <a:r>
                  <a:rPr lang="en-US" altLang="en-US" sz="2800" i="1" dirty="0" smtClean="0">
                    <a:solidFill>
                      <a:schemeClr val="tx1"/>
                    </a:solidFill>
                    <a:latin typeface="Times New Roman" panose="02020603050405020304" pitchFamily="18" charset="0"/>
                    <a:cs typeface="Times New Roman" panose="02020603050405020304" pitchFamily="18" charset="0"/>
                  </a:rPr>
                  <a:t>U(W</a:t>
                </a:r>
                <a:r>
                  <a:rPr lang="en-US" altLang="en-US" sz="2800" i="1" baseline="-25000" dirty="0" smtClean="0">
                    <a:solidFill>
                      <a:schemeClr val="tx1"/>
                    </a:solidFill>
                    <a:latin typeface="Times New Roman" panose="02020603050405020304" pitchFamily="18" charset="0"/>
                    <a:cs typeface="Times New Roman" panose="02020603050405020304" pitchFamily="18" charset="0"/>
                  </a:rPr>
                  <a:t>2</a:t>
                </a:r>
                <a:r>
                  <a:rPr lang="en-US" altLang="en-US" sz="2800" i="1" dirty="0" smtClean="0">
                    <a:solidFill>
                      <a:schemeClr val="tx1"/>
                    </a:solidFill>
                    <a:latin typeface="Times New Roman" panose="02020603050405020304" pitchFamily="18" charset="0"/>
                    <a:cs typeface="Times New Roman" panose="02020603050405020304" pitchFamily="18" charset="0"/>
                  </a:rPr>
                  <a:t>) - </a:t>
                </a:r>
                <a:r>
                  <a:rPr lang="en-US" altLang="en-US" sz="2800" i="1" dirty="0">
                    <a:solidFill>
                      <a:schemeClr val="tx1"/>
                    </a:solidFill>
                    <a:latin typeface="Times New Roman" panose="02020603050405020304" pitchFamily="18" charset="0"/>
                    <a:cs typeface="Times New Roman" panose="02020603050405020304" pitchFamily="18" charset="0"/>
                    <a:sym typeface="Symbol" pitchFamily="18" charset="2"/>
                  </a:rPr>
                  <a:t>Ū </a:t>
                </a:r>
              </a:p>
              <a:p>
                <a:r>
                  <a:rPr lang="en-US" altLang="en-US" dirty="0" smtClean="0"/>
                  <a:t>First-order conditions:</a:t>
                </a:r>
              </a:p>
              <a:p>
                <a:pPr marL="0" indent="0">
                  <a:buNone/>
                </a:pPr>
                <a14:m>
                  <m:oMathPara xmlns:m="http://schemas.openxmlformats.org/officeDocument/2006/math">
                    <m:oMathParaPr>
                      <m:jc m:val="centerGroup"/>
                    </m:oMathParaPr>
                    <m:oMath xmlns:m="http://schemas.openxmlformats.org/officeDocument/2006/math">
                      <m:r>
                        <a:rPr lang="en-US" altLang="en-US" sz="2400" b="0" i="1" smtClean="0">
                          <a:solidFill>
                            <a:schemeClr val="tx1"/>
                          </a:solidFill>
                          <a:latin typeface="Cambria Math"/>
                        </a:rPr>
                        <m:t>0=</m:t>
                      </m:r>
                      <m:f>
                        <m:fPr>
                          <m:ctrlPr>
                            <a:rPr lang="en-US" altLang="en-US" sz="2400" i="1" smtClean="0">
                              <a:solidFill>
                                <a:schemeClr val="tx1"/>
                              </a:solidFill>
                              <a:latin typeface="Cambria Math"/>
                            </a:rPr>
                          </m:ctrlPr>
                        </m:fPr>
                        <m:num>
                          <m:r>
                            <a:rPr lang="en-US" altLang="en-US" sz="2400" i="1" smtClean="0">
                              <a:solidFill>
                                <a:schemeClr val="tx1"/>
                              </a:solidFill>
                              <a:latin typeface="Cambria Math"/>
                            </a:rPr>
                            <m:t>𝜕</m:t>
                          </m:r>
                          <m:r>
                            <a:rPr lang="en-US" altLang="en-US" sz="2400" b="0" i="1" smtClean="0">
                              <a:solidFill>
                                <a:schemeClr val="tx1"/>
                              </a:solidFill>
                              <a:latin typeface="Cambria Math"/>
                            </a:rPr>
                            <m:t>𝐿</m:t>
                          </m:r>
                        </m:num>
                        <m:den>
                          <m:r>
                            <a:rPr lang="en-US" altLang="en-US" sz="2400" i="1" smtClean="0">
                              <a:solidFill>
                                <a:schemeClr val="tx1"/>
                              </a:solidFill>
                              <a:latin typeface="Cambria Math"/>
                            </a:rPr>
                            <m:t>𝜕</m:t>
                          </m:r>
                          <m:r>
                            <a:rPr lang="en-US" altLang="en-US" sz="2400" b="0" i="1" smtClean="0">
                              <a:solidFill>
                                <a:schemeClr val="tx1"/>
                              </a:solidFill>
                              <a:latin typeface="Cambria Math"/>
                            </a:rPr>
                            <m:t>𝑝</m:t>
                          </m:r>
                        </m:den>
                      </m:f>
                      <m:r>
                        <a:rPr lang="en-US" altLang="en-US" sz="2400" b="0" i="1" smtClean="0">
                          <a:solidFill>
                            <a:schemeClr val="tx1"/>
                          </a:solidFill>
                          <a:latin typeface="Cambria Math"/>
                        </a:rPr>
                        <m:t>=1−</m:t>
                      </m:r>
                      <m:r>
                        <a:rPr lang="en-US" altLang="en-US" sz="2400" b="0" i="1" smtClean="0">
                          <a:solidFill>
                            <a:schemeClr val="tx1"/>
                          </a:solidFill>
                          <a:latin typeface="Cambria Math"/>
                          <a:ea typeface="Cambria Math"/>
                        </a:rPr>
                        <m:t>𝜆</m:t>
                      </m:r>
                      <m:r>
                        <a:rPr lang="en-US" altLang="en-US" sz="2400" b="0" i="1" smtClean="0">
                          <a:solidFill>
                            <a:schemeClr val="tx1"/>
                          </a:solidFill>
                          <a:latin typeface="Cambria Math"/>
                          <a:ea typeface="Cambria Math"/>
                        </a:rPr>
                        <m:t>[</m:t>
                      </m:r>
                      <m:d>
                        <m:dPr>
                          <m:ctrlPr>
                            <a:rPr lang="en-US" altLang="en-US" sz="2400" b="0" i="1" smtClean="0">
                              <a:solidFill>
                                <a:schemeClr val="tx1"/>
                              </a:solidFill>
                              <a:latin typeface="Cambria Math"/>
                              <a:ea typeface="Cambria Math"/>
                            </a:rPr>
                          </m:ctrlPr>
                        </m:dPr>
                        <m:e>
                          <m:r>
                            <a:rPr lang="en-US" altLang="en-US" sz="2400" b="0" i="1" smtClean="0">
                              <a:solidFill>
                                <a:schemeClr val="tx1"/>
                              </a:solidFill>
                              <a:latin typeface="Cambria Math"/>
                              <a:ea typeface="Cambria Math"/>
                            </a:rPr>
                            <m:t>1−</m:t>
                          </m:r>
                          <m:r>
                            <a:rPr lang="en-US" altLang="en-US" sz="2400" b="0" i="1" smtClean="0">
                              <a:solidFill>
                                <a:schemeClr val="tx1"/>
                              </a:solidFill>
                              <a:latin typeface="Cambria Math"/>
                              <a:ea typeface="Cambria Math"/>
                            </a:rPr>
                            <m:t>𝜋</m:t>
                          </m:r>
                        </m:e>
                      </m:d>
                      <m:sSup>
                        <m:sSupPr>
                          <m:ctrlPr>
                            <a:rPr lang="en-US" altLang="en-US" sz="2400" b="0" i="1" smtClean="0">
                              <a:solidFill>
                                <a:schemeClr val="tx1"/>
                              </a:solidFill>
                              <a:latin typeface="Cambria Math"/>
                              <a:ea typeface="Cambria Math"/>
                            </a:rPr>
                          </m:ctrlPr>
                        </m:sSupPr>
                        <m:e>
                          <m:r>
                            <a:rPr lang="en-US" altLang="en-US" sz="2400" b="0" i="1" smtClean="0">
                              <a:solidFill>
                                <a:schemeClr val="tx1"/>
                              </a:solidFill>
                              <a:latin typeface="Cambria Math"/>
                              <a:ea typeface="Cambria Math"/>
                            </a:rPr>
                            <m:t>𝑈</m:t>
                          </m:r>
                        </m:e>
                        <m:sup>
                          <m:r>
                            <a:rPr lang="en-US" altLang="en-US" sz="2400" b="0" i="1" smtClean="0">
                              <a:solidFill>
                                <a:schemeClr val="tx1"/>
                              </a:solidFill>
                              <a:latin typeface="Cambria Math"/>
                              <a:ea typeface="Cambria Math"/>
                            </a:rPr>
                            <m:t>′</m:t>
                          </m:r>
                        </m:sup>
                      </m:sSup>
                      <m:d>
                        <m:dPr>
                          <m:ctrlPr>
                            <a:rPr lang="en-US" altLang="en-US" sz="2400" b="0" i="1" smtClean="0">
                              <a:solidFill>
                                <a:schemeClr val="tx1"/>
                              </a:solidFill>
                              <a:latin typeface="Cambria Math"/>
                              <a:ea typeface="Cambria Math"/>
                            </a:rPr>
                          </m:ctrlPr>
                        </m:dPr>
                        <m:e>
                          <m:sSub>
                            <m:sSubPr>
                              <m:ctrlPr>
                                <a:rPr lang="en-US" altLang="en-US" sz="2400" b="0" i="1" smtClean="0">
                                  <a:solidFill>
                                    <a:schemeClr val="tx1"/>
                                  </a:solidFill>
                                  <a:latin typeface="Cambria Math"/>
                                  <a:ea typeface="Cambria Math"/>
                                </a:rPr>
                              </m:ctrlPr>
                            </m:sSubPr>
                            <m:e>
                              <m:r>
                                <a:rPr lang="en-US" altLang="en-US" sz="2400" b="0" i="1" smtClean="0">
                                  <a:solidFill>
                                    <a:schemeClr val="tx1"/>
                                  </a:solidFill>
                                  <a:latin typeface="Cambria Math"/>
                                  <a:ea typeface="Cambria Math"/>
                                </a:rPr>
                                <m:t>𝑊</m:t>
                              </m:r>
                            </m:e>
                            <m:sub>
                              <m:r>
                                <a:rPr lang="en-US" altLang="en-US" sz="2400" b="0" i="1" smtClean="0">
                                  <a:solidFill>
                                    <a:schemeClr val="tx1"/>
                                  </a:solidFill>
                                  <a:latin typeface="Cambria Math"/>
                                  <a:ea typeface="Cambria Math"/>
                                </a:rPr>
                                <m:t>0</m:t>
                              </m:r>
                            </m:sub>
                          </m:sSub>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𝑒</m:t>
                          </m:r>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𝑝</m:t>
                          </m:r>
                        </m:e>
                      </m:d>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𝜋</m:t>
                      </m:r>
                      <m:sSup>
                        <m:sSupPr>
                          <m:ctrlPr>
                            <a:rPr lang="en-US" altLang="en-US" sz="2400" b="0" i="1" smtClean="0">
                              <a:solidFill>
                                <a:schemeClr val="tx1"/>
                              </a:solidFill>
                              <a:latin typeface="Cambria Math"/>
                              <a:ea typeface="Cambria Math"/>
                            </a:rPr>
                          </m:ctrlPr>
                        </m:sSupPr>
                        <m:e>
                          <m:r>
                            <a:rPr lang="en-US" altLang="en-US" sz="2400" b="0" i="1" smtClean="0">
                              <a:solidFill>
                                <a:schemeClr val="tx1"/>
                              </a:solidFill>
                              <a:latin typeface="Cambria Math"/>
                              <a:ea typeface="Cambria Math"/>
                            </a:rPr>
                            <m:t>𝑈</m:t>
                          </m:r>
                        </m:e>
                        <m:sup>
                          <m:r>
                            <a:rPr lang="en-US" altLang="en-US" sz="2400" b="0" i="1" smtClean="0">
                              <a:solidFill>
                                <a:schemeClr val="tx1"/>
                              </a:solidFill>
                              <a:latin typeface="Cambria Math"/>
                              <a:ea typeface="Cambria Math"/>
                            </a:rPr>
                            <m:t>′</m:t>
                          </m:r>
                        </m:sup>
                      </m:sSup>
                      <m:d>
                        <m:dPr>
                          <m:ctrlPr>
                            <a:rPr lang="en-US" altLang="en-US" sz="2400" b="0" i="1" smtClean="0">
                              <a:solidFill>
                                <a:schemeClr val="tx1"/>
                              </a:solidFill>
                              <a:latin typeface="Cambria Math"/>
                              <a:ea typeface="Cambria Math"/>
                            </a:rPr>
                          </m:ctrlPr>
                        </m:dPr>
                        <m:e>
                          <m:sSub>
                            <m:sSubPr>
                              <m:ctrlPr>
                                <a:rPr lang="en-US" altLang="en-US" sz="2400" i="1">
                                  <a:solidFill>
                                    <a:schemeClr val="tx1"/>
                                  </a:solidFill>
                                  <a:latin typeface="Cambria Math"/>
                                  <a:ea typeface="Cambria Math"/>
                                </a:rPr>
                              </m:ctrlPr>
                            </m:sSubPr>
                            <m:e>
                              <m:r>
                                <a:rPr lang="en-US" altLang="en-US" sz="2400" i="1">
                                  <a:solidFill>
                                    <a:schemeClr val="tx1"/>
                                  </a:solidFill>
                                  <a:latin typeface="Cambria Math"/>
                                  <a:ea typeface="Cambria Math"/>
                                </a:rPr>
                                <m:t>𝑊</m:t>
                              </m:r>
                            </m:e>
                            <m:sub>
                              <m:r>
                                <a:rPr lang="en-US" altLang="en-US" sz="2400" i="1">
                                  <a:solidFill>
                                    <a:schemeClr val="tx1"/>
                                  </a:solidFill>
                                  <a:latin typeface="Cambria Math"/>
                                  <a:ea typeface="Cambria Math"/>
                                </a:rPr>
                                <m:t>0</m:t>
                              </m:r>
                            </m:sub>
                          </m:sSub>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𝑒</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𝑝</m:t>
                          </m:r>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𝑙</m:t>
                          </m:r>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𝑥</m:t>
                          </m:r>
                        </m:e>
                      </m:d>
                      <m:r>
                        <a:rPr lang="en-US" altLang="en-US" sz="2400" b="0" i="1" smtClean="0">
                          <a:solidFill>
                            <a:schemeClr val="tx1"/>
                          </a:solidFill>
                          <a:latin typeface="Cambria Math"/>
                          <a:ea typeface="Cambria Math"/>
                        </a:rPr>
                        <m:t>]</m:t>
                      </m:r>
                    </m:oMath>
                  </m:oMathPara>
                </a14:m>
                <a:endParaRPr lang="en-US" altLang="en-US" sz="2400" dirty="0" smtClean="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en-US" sz="2400" b="0" i="1" smtClean="0">
                          <a:solidFill>
                            <a:schemeClr val="tx1"/>
                          </a:solidFill>
                          <a:latin typeface="Cambria Math"/>
                        </a:rPr>
                        <m:t>0=</m:t>
                      </m:r>
                      <m:f>
                        <m:fPr>
                          <m:ctrlPr>
                            <a:rPr lang="en-US" altLang="en-US" sz="2400" b="0" i="1" smtClean="0">
                              <a:solidFill>
                                <a:schemeClr val="tx1"/>
                              </a:solidFill>
                              <a:latin typeface="Cambria Math"/>
                            </a:rPr>
                          </m:ctrlPr>
                        </m:fPr>
                        <m:num>
                          <m:r>
                            <a:rPr lang="en-US" altLang="en-US" sz="2400" b="0" i="1" smtClean="0">
                              <a:solidFill>
                                <a:schemeClr val="tx1"/>
                              </a:solidFill>
                              <a:latin typeface="Cambria Math"/>
                            </a:rPr>
                            <m:t>𝜕</m:t>
                          </m:r>
                          <m:r>
                            <a:rPr lang="en-US" altLang="en-US" sz="2400" b="0" i="1" smtClean="0">
                              <a:solidFill>
                                <a:schemeClr val="tx1"/>
                              </a:solidFill>
                              <a:latin typeface="Cambria Math"/>
                            </a:rPr>
                            <m:t>𝐿</m:t>
                          </m:r>
                        </m:num>
                        <m:den>
                          <m:r>
                            <a:rPr lang="en-US" altLang="en-US" sz="2400" b="0" i="1" smtClean="0">
                              <a:solidFill>
                                <a:schemeClr val="tx1"/>
                              </a:solidFill>
                              <a:latin typeface="Cambria Math"/>
                            </a:rPr>
                            <m:t>𝜕</m:t>
                          </m:r>
                          <m:r>
                            <a:rPr lang="en-US" altLang="en-US" sz="2400" b="0" i="1" smtClean="0">
                              <a:solidFill>
                                <a:schemeClr val="tx1"/>
                              </a:solidFill>
                              <a:latin typeface="Cambria Math"/>
                            </a:rPr>
                            <m:t>𝑥</m:t>
                          </m:r>
                        </m:den>
                      </m:f>
                      <m:r>
                        <a:rPr lang="en-US" altLang="en-US" sz="2400" b="0" i="1" smtClean="0">
                          <a:solidFill>
                            <a:schemeClr val="tx1"/>
                          </a:solidFill>
                          <a:latin typeface="Cambria Math"/>
                        </a:rPr>
                        <m:t>=−</m:t>
                      </m:r>
                      <m:r>
                        <a:rPr lang="en-US" altLang="en-US" sz="2400" b="0" i="1" smtClean="0">
                          <a:solidFill>
                            <a:schemeClr val="tx1"/>
                          </a:solidFill>
                          <a:latin typeface="Cambria Math"/>
                          <a:ea typeface="Cambria Math"/>
                        </a:rPr>
                        <m:t>𝜋</m:t>
                      </m:r>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𝜆𝜋</m:t>
                      </m:r>
                      <m:sSup>
                        <m:sSupPr>
                          <m:ctrlPr>
                            <a:rPr lang="en-US" altLang="en-US" sz="2400" i="1">
                              <a:solidFill>
                                <a:schemeClr val="tx1"/>
                              </a:solidFill>
                              <a:latin typeface="Cambria Math"/>
                              <a:ea typeface="Cambria Math"/>
                            </a:rPr>
                          </m:ctrlPr>
                        </m:sSupPr>
                        <m:e>
                          <m:r>
                            <a:rPr lang="en-US" altLang="en-US" sz="2400" i="1">
                              <a:solidFill>
                                <a:schemeClr val="tx1"/>
                              </a:solidFill>
                              <a:latin typeface="Cambria Math"/>
                              <a:ea typeface="Cambria Math"/>
                            </a:rPr>
                            <m:t>𝑈</m:t>
                          </m:r>
                        </m:e>
                        <m:sup>
                          <m:r>
                            <a:rPr lang="en-US" altLang="en-US" sz="2400" i="1">
                              <a:solidFill>
                                <a:schemeClr val="tx1"/>
                              </a:solidFill>
                              <a:latin typeface="Cambria Math"/>
                              <a:ea typeface="Cambria Math"/>
                            </a:rPr>
                            <m:t>′</m:t>
                          </m:r>
                        </m:sup>
                      </m:sSup>
                      <m:d>
                        <m:dPr>
                          <m:ctrlPr>
                            <a:rPr lang="en-US" altLang="en-US" sz="2400" i="1">
                              <a:solidFill>
                                <a:schemeClr val="tx1"/>
                              </a:solidFill>
                              <a:latin typeface="Cambria Math"/>
                              <a:ea typeface="Cambria Math"/>
                            </a:rPr>
                          </m:ctrlPr>
                        </m:dPr>
                        <m:e>
                          <m:sSub>
                            <m:sSubPr>
                              <m:ctrlPr>
                                <a:rPr lang="en-US" altLang="en-US" sz="2400" i="1">
                                  <a:solidFill>
                                    <a:schemeClr val="tx1"/>
                                  </a:solidFill>
                                  <a:latin typeface="Cambria Math"/>
                                  <a:ea typeface="Cambria Math"/>
                                </a:rPr>
                              </m:ctrlPr>
                            </m:sSubPr>
                            <m:e>
                              <m:r>
                                <a:rPr lang="en-US" altLang="en-US" sz="2400" i="1">
                                  <a:solidFill>
                                    <a:schemeClr val="tx1"/>
                                  </a:solidFill>
                                  <a:latin typeface="Cambria Math"/>
                                  <a:ea typeface="Cambria Math"/>
                                </a:rPr>
                                <m:t>𝑊</m:t>
                              </m:r>
                            </m:e>
                            <m:sub>
                              <m:r>
                                <a:rPr lang="en-US" altLang="en-US" sz="2400" i="1">
                                  <a:solidFill>
                                    <a:schemeClr val="tx1"/>
                                  </a:solidFill>
                                  <a:latin typeface="Cambria Math"/>
                                  <a:ea typeface="Cambria Math"/>
                                </a:rPr>
                                <m:t>0</m:t>
                              </m:r>
                            </m:sub>
                          </m:sSub>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𝑒</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𝑝</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𝑙</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𝑥</m:t>
                          </m:r>
                        </m:e>
                      </m:d>
                    </m:oMath>
                  </m:oMathPara>
                </a14:m>
                <a:endParaRPr lang="en-US" altLang="en-US" sz="2400" dirty="0" smtClean="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en-US" sz="2400" b="0" i="1" smtClean="0">
                          <a:solidFill>
                            <a:schemeClr val="tx1"/>
                          </a:solidFill>
                          <a:latin typeface="Cambria Math"/>
                        </a:rPr>
                        <m:t>0=</m:t>
                      </m:r>
                      <m:f>
                        <m:fPr>
                          <m:ctrlPr>
                            <a:rPr lang="en-US" altLang="en-US" sz="2400" b="0" i="1" smtClean="0">
                              <a:solidFill>
                                <a:schemeClr val="tx1"/>
                              </a:solidFill>
                              <a:latin typeface="Cambria Math"/>
                            </a:rPr>
                          </m:ctrlPr>
                        </m:fPr>
                        <m:num>
                          <m:r>
                            <a:rPr lang="en-US" altLang="en-US" sz="2400" b="0" i="1" smtClean="0">
                              <a:solidFill>
                                <a:schemeClr val="tx1"/>
                              </a:solidFill>
                              <a:latin typeface="Cambria Math"/>
                            </a:rPr>
                            <m:t>𝜕</m:t>
                          </m:r>
                          <m:r>
                            <a:rPr lang="en-US" altLang="en-US" sz="2400" b="0" i="1" smtClean="0">
                              <a:solidFill>
                                <a:schemeClr val="tx1"/>
                              </a:solidFill>
                              <a:latin typeface="Cambria Math"/>
                            </a:rPr>
                            <m:t>𝐿</m:t>
                          </m:r>
                        </m:num>
                        <m:den>
                          <m:r>
                            <a:rPr lang="en-US" altLang="en-US" sz="2400" b="0" i="1" smtClean="0">
                              <a:solidFill>
                                <a:schemeClr val="tx1"/>
                              </a:solidFill>
                              <a:latin typeface="Cambria Math"/>
                            </a:rPr>
                            <m:t>𝜕</m:t>
                          </m:r>
                          <m:r>
                            <a:rPr lang="en-US" altLang="en-US" sz="2400" b="0" i="1" smtClean="0">
                              <a:solidFill>
                                <a:schemeClr val="tx1"/>
                              </a:solidFill>
                              <a:latin typeface="Cambria Math"/>
                            </a:rPr>
                            <m:t>𝑒</m:t>
                          </m:r>
                        </m:den>
                      </m:f>
                      <m:r>
                        <a:rPr lang="en-US" altLang="en-US" sz="2400" b="0" i="1" smtClean="0">
                          <a:solidFill>
                            <a:schemeClr val="tx1"/>
                          </a:solidFill>
                          <a:latin typeface="Cambria Math"/>
                        </a:rPr>
                        <m:t>=−</m:t>
                      </m:r>
                      <m:f>
                        <m:fPr>
                          <m:ctrlPr>
                            <a:rPr lang="en-US" altLang="en-US" sz="2400" b="0" i="1" smtClean="0">
                              <a:solidFill>
                                <a:schemeClr val="tx1"/>
                              </a:solidFill>
                              <a:latin typeface="Cambria Math"/>
                            </a:rPr>
                          </m:ctrlPr>
                        </m:fPr>
                        <m:num>
                          <m:r>
                            <a:rPr lang="en-US" altLang="en-US" sz="2400" b="0" i="1" smtClean="0">
                              <a:solidFill>
                                <a:schemeClr val="tx1"/>
                              </a:solidFill>
                              <a:latin typeface="Cambria Math"/>
                            </a:rPr>
                            <m:t>𝜕</m:t>
                          </m:r>
                          <m:r>
                            <a:rPr lang="en-US" altLang="en-US" sz="2400" b="0" i="1" smtClean="0">
                              <a:solidFill>
                                <a:schemeClr val="tx1"/>
                              </a:solidFill>
                              <a:latin typeface="Cambria Math"/>
                              <a:ea typeface="Cambria Math"/>
                            </a:rPr>
                            <m:t>𝜋</m:t>
                          </m:r>
                        </m:num>
                        <m:den>
                          <m:r>
                            <a:rPr lang="en-US" altLang="en-US" sz="2400" b="0" i="1" smtClean="0">
                              <a:solidFill>
                                <a:schemeClr val="tx1"/>
                              </a:solidFill>
                              <a:latin typeface="Cambria Math"/>
                            </a:rPr>
                            <m:t>𝜕</m:t>
                          </m:r>
                          <m:r>
                            <a:rPr lang="en-US" altLang="en-US" sz="2400" b="0" i="1" smtClean="0">
                              <a:solidFill>
                                <a:schemeClr val="tx1"/>
                              </a:solidFill>
                              <a:latin typeface="Cambria Math"/>
                            </a:rPr>
                            <m:t>𝑒</m:t>
                          </m:r>
                        </m:den>
                      </m:f>
                      <m:r>
                        <a:rPr lang="en-US" altLang="en-US" sz="2400" b="0" i="1" smtClean="0">
                          <a:solidFill>
                            <a:schemeClr val="tx1"/>
                          </a:solidFill>
                          <a:latin typeface="Cambria Math"/>
                        </a:rPr>
                        <m:t>𝑥</m:t>
                      </m:r>
                      <m:r>
                        <a:rPr lang="en-US" altLang="en-US" sz="2400" b="0" i="1" smtClean="0">
                          <a:solidFill>
                            <a:schemeClr val="tx1"/>
                          </a:solidFill>
                          <a:latin typeface="Cambria Math"/>
                        </a:rPr>
                        <m:t>−</m:t>
                      </m:r>
                      <m:r>
                        <a:rPr lang="en-US" altLang="en-US" sz="2400" b="0" i="1" smtClean="0">
                          <a:solidFill>
                            <a:schemeClr val="tx1"/>
                          </a:solidFill>
                          <a:latin typeface="Cambria Math"/>
                          <a:ea typeface="Cambria Math"/>
                        </a:rPr>
                        <m:t>𝜆</m:t>
                      </m:r>
                      <m:r>
                        <a:rPr lang="en-US" altLang="en-US" sz="2400" b="0" i="1" smtClean="0">
                          <a:solidFill>
                            <a:schemeClr val="tx1"/>
                          </a:solidFill>
                          <a:latin typeface="Cambria Math"/>
                          <a:ea typeface="Cambria Math"/>
                        </a:rPr>
                        <m:t>{</m:t>
                      </m:r>
                      <m:d>
                        <m:dPr>
                          <m:ctrlPr>
                            <a:rPr lang="en-US" altLang="en-US" sz="2400" b="0" i="1" smtClean="0">
                              <a:solidFill>
                                <a:schemeClr val="tx1"/>
                              </a:solidFill>
                              <a:latin typeface="Cambria Math"/>
                              <a:ea typeface="Cambria Math"/>
                            </a:rPr>
                          </m:ctrlPr>
                        </m:dPr>
                        <m:e>
                          <m:r>
                            <a:rPr lang="en-US" altLang="en-US" sz="2400" b="0" i="1" smtClean="0">
                              <a:solidFill>
                                <a:schemeClr val="tx1"/>
                              </a:solidFill>
                              <a:latin typeface="Cambria Math"/>
                              <a:ea typeface="Cambria Math"/>
                            </a:rPr>
                            <m:t>1−</m:t>
                          </m:r>
                          <m:r>
                            <a:rPr lang="en-US" altLang="en-US" sz="2400" b="0" i="1" smtClean="0">
                              <a:solidFill>
                                <a:schemeClr val="tx1"/>
                              </a:solidFill>
                              <a:latin typeface="Cambria Math"/>
                              <a:ea typeface="Cambria Math"/>
                            </a:rPr>
                            <m:t>𝜋</m:t>
                          </m:r>
                        </m:e>
                      </m:d>
                      <m:sSup>
                        <m:sSupPr>
                          <m:ctrlPr>
                            <a:rPr lang="en-US" altLang="en-US" sz="2400" b="0" i="1" smtClean="0">
                              <a:solidFill>
                                <a:schemeClr val="tx1"/>
                              </a:solidFill>
                              <a:latin typeface="Cambria Math"/>
                              <a:ea typeface="Cambria Math"/>
                            </a:rPr>
                          </m:ctrlPr>
                        </m:sSupPr>
                        <m:e>
                          <m:r>
                            <a:rPr lang="en-US" altLang="en-US" sz="2400" b="0" i="1" smtClean="0">
                              <a:solidFill>
                                <a:schemeClr val="tx1"/>
                              </a:solidFill>
                              <a:latin typeface="Cambria Math"/>
                              <a:ea typeface="Cambria Math"/>
                            </a:rPr>
                            <m:t>𝑈</m:t>
                          </m:r>
                        </m:e>
                        <m:sup>
                          <m:r>
                            <a:rPr lang="en-US" altLang="en-US" sz="2400" b="0" i="1" smtClean="0">
                              <a:solidFill>
                                <a:schemeClr val="tx1"/>
                              </a:solidFill>
                              <a:latin typeface="Cambria Math"/>
                              <a:ea typeface="Cambria Math"/>
                            </a:rPr>
                            <m:t>′</m:t>
                          </m:r>
                        </m:sup>
                      </m:sSup>
                      <m:d>
                        <m:dPr>
                          <m:ctrlPr>
                            <a:rPr lang="en-US" altLang="en-US" sz="2400" b="0" i="1" smtClean="0">
                              <a:solidFill>
                                <a:schemeClr val="tx1"/>
                              </a:solidFill>
                              <a:latin typeface="Cambria Math"/>
                              <a:ea typeface="Cambria Math"/>
                            </a:rPr>
                          </m:ctrlPr>
                        </m:dPr>
                        <m:e>
                          <m:sSub>
                            <m:sSubPr>
                              <m:ctrlPr>
                                <a:rPr lang="en-US" altLang="en-US" sz="2400" b="0" i="1" smtClean="0">
                                  <a:solidFill>
                                    <a:schemeClr val="tx1"/>
                                  </a:solidFill>
                                  <a:latin typeface="Cambria Math"/>
                                  <a:ea typeface="Cambria Math"/>
                                </a:rPr>
                              </m:ctrlPr>
                            </m:sSubPr>
                            <m:e>
                              <m:r>
                                <a:rPr lang="en-US" altLang="en-US" sz="2400" b="0" i="1" smtClean="0">
                                  <a:solidFill>
                                    <a:schemeClr val="tx1"/>
                                  </a:solidFill>
                                  <a:latin typeface="Cambria Math"/>
                                  <a:ea typeface="Cambria Math"/>
                                </a:rPr>
                                <m:t>𝑊</m:t>
                              </m:r>
                            </m:e>
                            <m:sub>
                              <m:r>
                                <a:rPr lang="en-US" altLang="en-US" sz="2400" b="0" i="1" smtClean="0">
                                  <a:solidFill>
                                    <a:schemeClr val="tx1"/>
                                  </a:solidFill>
                                  <a:latin typeface="Cambria Math"/>
                                  <a:ea typeface="Cambria Math"/>
                                </a:rPr>
                                <m:t>0</m:t>
                              </m:r>
                            </m:sub>
                          </m:sSub>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𝑒</m:t>
                          </m:r>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𝑝</m:t>
                          </m:r>
                        </m:e>
                      </m:d>
                      <m:r>
                        <a:rPr lang="en-US" altLang="en-US" sz="2400" b="0" i="1" smtClean="0">
                          <a:solidFill>
                            <a:schemeClr val="tx1"/>
                          </a:solidFill>
                          <a:latin typeface="Cambria Math"/>
                          <a:ea typeface="Cambria Math"/>
                        </a:rPr>
                        <m:t>+</m:t>
                      </m:r>
                      <m:r>
                        <a:rPr lang="en-US" altLang="en-US" sz="2400" i="1">
                          <a:solidFill>
                            <a:schemeClr val="tx1"/>
                          </a:solidFill>
                          <a:latin typeface="Cambria Math"/>
                          <a:ea typeface="Cambria Math"/>
                        </a:rPr>
                        <m:t>𝜋</m:t>
                      </m:r>
                      <m:sSup>
                        <m:sSupPr>
                          <m:ctrlPr>
                            <a:rPr lang="en-US" altLang="en-US" sz="2400" i="1">
                              <a:solidFill>
                                <a:schemeClr val="tx1"/>
                              </a:solidFill>
                              <a:latin typeface="Cambria Math"/>
                              <a:ea typeface="Cambria Math"/>
                            </a:rPr>
                          </m:ctrlPr>
                        </m:sSupPr>
                        <m:e>
                          <m:r>
                            <a:rPr lang="en-US" altLang="en-US" sz="2400" i="1">
                              <a:solidFill>
                                <a:schemeClr val="tx1"/>
                              </a:solidFill>
                              <a:latin typeface="Cambria Math"/>
                              <a:ea typeface="Cambria Math"/>
                            </a:rPr>
                            <m:t>𝑈</m:t>
                          </m:r>
                        </m:e>
                        <m:sup>
                          <m:r>
                            <a:rPr lang="en-US" altLang="en-US" sz="2400" i="1">
                              <a:solidFill>
                                <a:schemeClr val="tx1"/>
                              </a:solidFill>
                              <a:latin typeface="Cambria Math"/>
                              <a:ea typeface="Cambria Math"/>
                            </a:rPr>
                            <m:t>′</m:t>
                          </m:r>
                        </m:sup>
                      </m:sSup>
                      <m:d>
                        <m:dPr>
                          <m:ctrlPr>
                            <a:rPr lang="en-US" altLang="en-US" sz="2400" i="1">
                              <a:solidFill>
                                <a:schemeClr val="tx1"/>
                              </a:solidFill>
                              <a:latin typeface="Cambria Math"/>
                              <a:ea typeface="Cambria Math"/>
                            </a:rPr>
                          </m:ctrlPr>
                        </m:dPr>
                        <m:e>
                          <m:sSub>
                            <m:sSubPr>
                              <m:ctrlPr>
                                <a:rPr lang="en-US" altLang="en-US" sz="2400" i="1">
                                  <a:solidFill>
                                    <a:schemeClr val="tx1"/>
                                  </a:solidFill>
                                  <a:latin typeface="Cambria Math"/>
                                  <a:ea typeface="Cambria Math"/>
                                </a:rPr>
                              </m:ctrlPr>
                            </m:sSubPr>
                            <m:e>
                              <m:r>
                                <a:rPr lang="en-US" altLang="en-US" sz="2400" i="1">
                                  <a:solidFill>
                                    <a:schemeClr val="tx1"/>
                                  </a:solidFill>
                                  <a:latin typeface="Cambria Math"/>
                                  <a:ea typeface="Cambria Math"/>
                                </a:rPr>
                                <m:t>𝑊</m:t>
                              </m:r>
                            </m:e>
                            <m:sub>
                              <m:r>
                                <a:rPr lang="en-US" altLang="en-US" sz="2400" i="1">
                                  <a:solidFill>
                                    <a:schemeClr val="tx1"/>
                                  </a:solidFill>
                                  <a:latin typeface="Cambria Math"/>
                                  <a:ea typeface="Cambria Math"/>
                                </a:rPr>
                                <m:t>0</m:t>
                              </m:r>
                            </m:sub>
                          </m:sSub>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𝑒</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𝑝</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𝑙</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𝑥</m:t>
                          </m:r>
                        </m:e>
                      </m:d>
                      <m:r>
                        <a:rPr lang="en-US" altLang="en-US" sz="2400" b="0" i="1" smtClean="0">
                          <a:solidFill>
                            <a:schemeClr val="tx1"/>
                          </a:solidFill>
                          <a:latin typeface="Cambria Math"/>
                          <a:ea typeface="Cambria Math"/>
                        </a:rPr>
                        <m:t>+</m:t>
                      </m:r>
                      <m:f>
                        <m:fPr>
                          <m:ctrlPr>
                            <a:rPr lang="en-US" altLang="en-US" sz="2400" b="0" i="1" smtClean="0">
                              <a:solidFill>
                                <a:schemeClr val="tx1"/>
                              </a:solidFill>
                              <a:latin typeface="Cambria Math"/>
                              <a:ea typeface="Cambria Math"/>
                            </a:rPr>
                          </m:ctrlPr>
                        </m:fPr>
                        <m:num>
                          <m:r>
                            <a:rPr lang="en-US" altLang="en-US" sz="2400" b="0" i="1" smtClean="0">
                              <a:solidFill>
                                <a:schemeClr val="tx1"/>
                              </a:solidFill>
                              <a:latin typeface="Cambria Math"/>
                              <a:ea typeface="Cambria Math"/>
                            </a:rPr>
                            <m:t>𝜕𝜋</m:t>
                          </m:r>
                        </m:num>
                        <m:den>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𝑒</m:t>
                          </m:r>
                        </m:den>
                      </m:f>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𝑈</m:t>
                      </m:r>
                      <m:d>
                        <m:dPr>
                          <m:ctrlPr>
                            <a:rPr lang="en-US" altLang="en-US" sz="2400" b="0" i="1" smtClean="0">
                              <a:solidFill>
                                <a:schemeClr val="tx1"/>
                              </a:solidFill>
                              <a:latin typeface="Cambria Math"/>
                              <a:ea typeface="Cambria Math"/>
                            </a:rPr>
                          </m:ctrlPr>
                        </m:dPr>
                        <m:e>
                          <m:sSub>
                            <m:sSubPr>
                              <m:ctrlPr>
                                <a:rPr lang="en-US" altLang="en-US" sz="2400" b="0" i="1" smtClean="0">
                                  <a:solidFill>
                                    <a:schemeClr val="tx1"/>
                                  </a:solidFill>
                                  <a:latin typeface="Cambria Math"/>
                                  <a:ea typeface="Cambria Math"/>
                                </a:rPr>
                              </m:ctrlPr>
                            </m:sSubPr>
                            <m:e>
                              <m:r>
                                <a:rPr lang="en-US" altLang="en-US" sz="2400" b="0" i="1" smtClean="0">
                                  <a:solidFill>
                                    <a:schemeClr val="tx1"/>
                                  </a:solidFill>
                                  <a:latin typeface="Cambria Math"/>
                                  <a:ea typeface="Cambria Math"/>
                                </a:rPr>
                                <m:t>𝑊</m:t>
                              </m:r>
                            </m:e>
                            <m:sub>
                              <m:r>
                                <a:rPr lang="en-US" altLang="en-US" sz="2400" b="0" i="1" smtClean="0">
                                  <a:solidFill>
                                    <a:schemeClr val="tx1"/>
                                  </a:solidFill>
                                  <a:latin typeface="Cambria Math"/>
                                  <a:ea typeface="Cambria Math"/>
                                </a:rPr>
                                <m:t>0</m:t>
                              </m:r>
                            </m:sub>
                          </m:sSub>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𝑒</m:t>
                          </m:r>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𝑝</m:t>
                          </m:r>
                        </m:e>
                      </m:d>
                      <m:r>
                        <a:rPr lang="en-US" altLang="en-US" sz="2400" b="0" i="1" smtClean="0">
                          <a:solidFill>
                            <a:schemeClr val="tx1"/>
                          </a:solidFill>
                          <a:latin typeface="Cambria Math"/>
                          <a:ea typeface="Cambria Math"/>
                        </a:rPr>
                        <m:t>−</m:t>
                      </m:r>
                      <m:r>
                        <a:rPr lang="en-US" altLang="en-US" sz="2400" b="0" i="1" smtClean="0">
                          <a:solidFill>
                            <a:schemeClr val="tx1"/>
                          </a:solidFill>
                          <a:latin typeface="Cambria Math"/>
                          <a:ea typeface="Cambria Math"/>
                        </a:rPr>
                        <m:t>𝑈</m:t>
                      </m:r>
                      <m:d>
                        <m:dPr>
                          <m:ctrlPr>
                            <a:rPr lang="en-US" altLang="en-US" sz="2400" i="1">
                              <a:solidFill>
                                <a:schemeClr val="tx1"/>
                              </a:solidFill>
                              <a:latin typeface="Cambria Math"/>
                              <a:ea typeface="Cambria Math"/>
                            </a:rPr>
                          </m:ctrlPr>
                        </m:dPr>
                        <m:e>
                          <m:sSub>
                            <m:sSubPr>
                              <m:ctrlPr>
                                <a:rPr lang="en-US" altLang="en-US" sz="2400" i="1">
                                  <a:solidFill>
                                    <a:schemeClr val="tx1"/>
                                  </a:solidFill>
                                  <a:latin typeface="Cambria Math"/>
                                  <a:ea typeface="Cambria Math"/>
                                </a:rPr>
                              </m:ctrlPr>
                            </m:sSubPr>
                            <m:e>
                              <m:r>
                                <a:rPr lang="en-US" altLang="en-US" sz="2400" i="1">
                                  <a:solidFill>
                                    <a:schemeClr val="tx1"/>
                                  </a:solidFill>
                                  <a:latin typeface="Cambria Math"/>
                                  <a:ea typeface="Cambria Math"/>
                                </a:rPr>
                                <m:t>𝑊</m:t>
                              </m:r>
                            </m:e>
                            <m:sub>
                              <m:r>
                                <a:rPr lang="en-US" altLang="en-US" sz="2400" i="1">
                                  <a:solidFill>
                                    <a:schemeClr val="tx1"/>
                                  </a:solidFill>
                                  <a:latin typeface="Cambria Math"/>
                                  <a:ea typeface="Cambria Math"/>
                                </a:rPr>
                                <m:t>0</m:t>
                              </m:r>
                            </m:sub>
                          </m:sSub>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𝑒</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𝑝</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𝑙</m:t>
                          </m:r>
                          <m:r>
                            <a:rPr lang="en-US" altLang="en-US" sz="2400" i="1">
                              <a:solidFill>
                                <a:schemeClr val="tx1"/>
                              </a:solidFill>
                              <a:latin typeface="Cambria Math"/>
                              <a:ea typeface="Cambria Math"/>
                            </a:rPr>
                            <m:t>+</m:t>
                          </m:r>
                          <m:r>
                            <a:rPr lang="en-US" altLang="en-US" sz="2400" i="1">
                              <a:solidFill>
                                <a:schemeClr val="tx1"/>
                              </a:solidFill>
                              <a:latin typeface="Cambria Math"/>
                              <a:ea typeface="Cambria Math"/>
                            </a:rPr>
                            <m:t>𝑥</m:t>
                          </m:r>
                        </m:e>
                      </m:d>
                    </m:oMath>
                  </m:oMathPara>
                </a14:m>
                <a:endParaRPr lang="en-US" altLang="en-US" sz="2400" dirty="0" smtClean="0">
                  <a:solidFill>
                    <a:schemeClr val="tx1"/>
                  </a:solidFill>
                </a:endParaRPr>
              </a:p>
              <a:p>
                <a:endParaRPr lang="en-US" altLang="en-US" sz="2800" dirty="0" smtClean="0">
                  <a:solidFill>
                    <a:schemeClr val="tx1"/>
                  </a:solidFill>
                </a:endParaRPr>
              </a:p>
            </p:txBody>
          </p:sp>
        </mc:Choice>
        <mc:Fallback xmlns="">
          <p:sp>
            <p:nvSpPr>
              <p:cNvPr id="46083"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r="-71"/>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9D28580-32BB-4A49-8ACF-CB525299C991}" type="slidenum">
              <a:rPr lang="en-US" smtClean="0"/>
              <a:pPr>
                <a:defRPr/>
              </a:pPr>
              <a:t>33</a:t>
            </a:fld>
            <a:endParaRPr lang="en-US"/>
          </a:p>
        </p:txBody>
      </p:sp>
    </p:spTree>
    <p:extLst>
      <p:ext uri="{BB962C8B-B14F-4D97-AF65-F5344CB8AC3E}">
        <p14:creationId xmlns:p14="http://schemas.microsoft.com/office/powerpoint/2010/main" val="35308271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en-US" smtClean="0"/>
              <a:t>Second-Best Insurance Contract</a:t>
            </a:r>
          </a:p>
        </p:txBody>
      </p:sp>
      <p:sp>
        <p:nvSpPr>
          <p:cNvPr id="47107" name="Rectangle 3"/>
          <p:cNvSpPr>
            <a:spLocks noGrp="1" noChangeArrowheads="1"/>
          </p:cNvSpPr>
          <p:nvPr>
            <p:ph idx="1"/>
          </p:nvPr>
        </p:nvSpPr>
        <p:spPr/>
        <p:txBody>
          <a:bodyPr>
            <a:noAutofit/>
          </a:bodyPr>
          <a:lstStyle/>
          <a:p>
            <a:r>
              <a:rPr lang="en-US" altLang="en-US" dirty="0" smtClean="0"/>
              <a:t>Insurance company cannot monitor </a:t>
            </a:r>
            <a:r>
              <a:rPr lang="en-US" altLang="en-US" i="1" dirty="0" smtClean="0"/>
              <a:t>e</a:t>
            </a:r>
            <a:r>
              <a:rPr lang="en-US" altLang="en-US" dirty="0" smtClean="0"/>
              <a:t> </a:t>
            </a:r>
          </a:p>
          <a:p>
            <a:pPr lvl="1"/>
            <a:r>
              <a:rPr lang="en-US" altLang="en-US" dirty="0" smtClean="0"/>
              <a:t>Add incentive compatibility constraint:</a:t>
            </a:r>
          </a:p>
          <a:p>
            <a:pPr lvl="2"/>
            <a:r>
              <a:rPr lang="en-US" altLang="en-US" dirty="0" smtClean="0"/>
              <a:t>Agent </a:t>
            </a:r>
            <a:r>
              <a:rPr lang="en-US" altLang="en-US" dirty="0"/>
              <a:t>is free to choose the level of precaution that suits </a:t>
            </a:r>
            <a:r>
              <a:rPr lang="en-US" altLang="en-US" dirty="0" smtClean="0"/>
              <a:t>him and </a:t>
            </a:r>
            <a:r>
              <a:rPr lang="en-US" altLang="en-US" dirty="0"/>
              <a:t>maximizes his expected </a:t>
            </a:r>
            <a:r>
              <a:rPr lang="en-US" altLang="en-US" dirty="0" smtClean="0"/>
              <a:t>utility </a:t>
            </a:r>
            <a:r>
              <a:rPr lang="en-US" altLang="en-US" i="1" dirty="0" smtClean="0">
                <a:solidFill>
                  <a:srgbClr val="C00000"/>
                </a:solidFill>
                <a:latin typeface="Times New Roman" panose="02020603050405020304" pitchFamily="18" charset="0"/>
                <a:cs typeface="Times New Roman" panose="02020603050405020304" pitchFamily="18" charset="0"/>
              </a:rPr>
              <a:t>(1-</a:t>
            </a:r>
            <a:r>
              <a:rPr lang="el-GR" altLang="en-US" i="1" dirty="0" smtClean="0">
                <a:solidFill>
                  <a:srgbClr val="C00000"/>
                </a:solidFill>
                <a:latin typeface="Times New Roman" panose="02020603050405020304" pitchFamily="18" charset="0"/>
                <a:cs typeface="Times New Roman" panose="02020603050405020304" pitchFamily="18" charset="0"/>
              </a:rPr>
              <a:t>π</a:t>
            </a:r>
            <a:r>
              <a:rPr lang="en-US" altLang="en-US" i="1" dirty="0" smtClean="0">
                <a:solidFill>
                  <a:srgbClr val="C00000"/>
                </a:solidFill>
                <a:latin typeface="Times New Roman" panose="02020603050405020304" pitchFamily="18" charset="0"/>
                <a:cs typeface="Times New Roman" panose="02020603050405020304" pitchFamily="18" charset="0"/>
              </a:rPr>
              <a:t>)U(W</a:t>
            </a:r>
            <a:r>
              <a:rPr lang="en-US" altLang="en-US" i="1" baseline="-25000" dirty="0" smtClean="0">
                <a:solidFill>
                  <a:srgbClr val="C00000"/>
                </a:solidFill>
                <a:latin typeface="Times New Roman" panose="02020603050405020304" pitchFamily="18" charset="0"/>
                <a:cs typeface="Times New Roman" panose="02020603050405020304" pitchFamily="18" charset="0"/>
              </a:rPr>
              <a:t>1</a:t>
            </a:r>
            <a:r>
              <a:rPr lang="en-US" altLang="en-US" i="1" dirty="0" smtClean="0">
                <a:solidFill>
                  <a:srgbClr val="C00000"/>
                </a:solidFill>
                <a:latin typeface="Times New Roman" panose="02020603050405020304" pitchFamily="18" charset="0"/>
                <a:cs typeface="Times New Roman" panose="02020603050405020304" pitchFamily="18" charset="0"/>
              </a:rPr>
              <a:t>)+</a:t>
            </a:r>
            <a:r>
              <a:rPr lang="el-GR" altLang="en-US" i="1" dirty="0" smtClean="0">
                <a:solidFill>
                  <a:srgbClr val="C00000"/>
                </a:solidFill>
                <a:latin typeface="Times New Roman" panose="02020603050405020304" pitchFamily="18" charset="0"/>
                <a:cs typeface="Times New Roman" panose="02020603050405020304" pitchFamily="18" charset="0"/>
              </a:rPr>
              <a:t>π</a:t>
            </a:r>
            <a:r>
              <a:rPr lang="en-US" altLang="en-US" i="1" dirty="0" smtClean="0">
                <a:solidFill>
                  <a:srgbClr val="C00000"/>
                </a:solidFill>
                <a:latin typeface="Times New Roman" panose="02020603050405020304" pitchFamily="18" charset="0"/>
                <a:cs typeface="Times New Roman" panose="02020603050405020304" pitchFamily="18" charset="0"/>
              </a:rPr>
              <a:t>(W</a:t>
            </a:r>
            <a:r>
              <a:rPr lang="en-US" altLang="en-US" i="1" baseline="-25000" dirty="0" smtClean="0">
                <a:solidFill>
                  <a:srgbClr val="C00000"/>
                </a:solidFill>
                <a:latin typeface="Times New Roman" panose="02020603050405020304" pitchFamily="18" charset="0"/>
                <a:cs typeface="Times New Roman" panose="02020603050405020304" pitchFamily="18" charset="0"/>
              </a:rPr>
              <a:t>2</a:t>
            </a:r>
            <a:r>
              <a:rPr lang="en-US" altLang="en-US" i="1" dirty="0" smtClean="0">
                <a:solidFill>
                  <a:srgbClr val="C00000"/>
                </a:solidFill>
                <a:latin typeface="Times New Roman" panose="02020603050405020304" pitchFamily="18" charset="0"/>
                <a:cs typeface="Times New Roman" panose="02020603050405020304" pitchFamily="18" charset="0"/>
              </a:rPr>
              <a:t>)</a:t>
            </a:r>
          </a:p>
          <a:p>
            <a:r>
              <a:rPr lang="en-US" altLang="en-US" dirty="0" smtClean="0"/>
              <a:t>The second-best contract will typically not involve full insurance</a:t>
            </a:r>
          </a:p>
          <a:p>
            <a:pPr lvl="1"/>
            <a:r>
              <a:rPr lang="en-US" altLang="en-US" sz="2800" dirty="0" smtClean="0"/>
              <a:t>Exposing the individual to some risk induces him to take some precaution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FFD1351-09B4-4614-9780-90CE5A5030C9}" type="slidenum">
              <a:rPr lang="en-US" smtClean="0"/>
              <a:pPr>
                <a:defRPr/>
              </a:pPr>
              <a:t>34</a:t>
            </a:fld>
            <a:endParaRPr lang="en-US"/>
          </a:p>
        </p:txBody>
      </p:sp>
    </p:spTree>
    <p:extLst>
      <p:ext uri="{BB962C8B-B14F-4D97-AF65-F5344CB8AC3E}">
        <p14:creationId xmlns:p14="http://schemas.microsoft.com/office/powerpoint/2010/main" val="259983571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sz="2800" dirty="0" smtClean="0"/>
              <a:t>18.2 Insurance and Precaution against Car Theft</a:t>
            </a:r>
          </a:p>
        </p:txBody>
      </p:sp>
      <p:sp>
        <p:nvSpPr>
          <p:cNvPr id="4813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A6DECB3C-D322-454C-BBD0-F0537D157ABB}" type="slidenum">
              <a:rPr lang="en-US" smtClean="0"/>
              <a:pPr>
                <a:defRPr/>
              </a:pPr>
              <a:t>35</a:t>
            </a:fld>
            <a:endParaRPr lang="en-US" dirty="0"/>
          </a:p>
        </p:txBody>
      </p:sp>
      <p:sp>
        <p:nvSpPr>
          <p:cNvPr id="48131" name="Content Placeholder 2"/>
          <p:cNvSpPr>
            <a:spLocks noGrp="1"/>
          </p:cNvSpPr>
          <p:nvPr>
            <p:ph type="body" sz="quarter" idx="12"/>
          </p:nvPr>
        </p:nvSpPr>
        <p:spPr>
          <a:prstGeom prst="rect">
            <a:avLst/>
          </a:prstGeom>
        </p:spPr>
        <p:txBody>
          <a:bodyPr/>
          <a:lstStyle/>
          <a:p>
            <a:r>
              <a:rPr lang="en-US" altLang="en-US" dirty="0" smtClean="0"/>
              <a:t>Driver endowed with $100,000 of wealth</a:t>
            </a:r>
          </a:p>
          <a:p>
            <a:pPr lvl="1"/>
            <a:r>
              <a:rPr lang="en-US" altLang="en-US" dirty="0" smtClean="0"/>
              <a:t>Purchase insurance against the theft of a $20,000 car</a:t>
            </a:r>
          </a:p>
          <a:p>
            <a:pPr lvl="1"/>
            <a:r>
              <a:rPr lang="en-US" altLang="en-US" dirty="0" smtClean="0"/>
              <a:t>If installs a car alarm that costs $1,750</a:t>
            </a:r>
          </a:p>
          <a:p>
            <a:pPr lvl="2"/>
            <a:r>
              <a:rPr lang="en-US" altLang="en-US" dirty="0" smtClean="0"/>
              <a:t>Probability of theft drops from 0.25 to 0.15</a:t>
            </a:r>
          </a:p>
          <a:p>
            <a:r>
              <a:rPr lang="en-US" altLang="en-US" dirty="0" smtClean="0"/>
              <a:t>No insurance</a:t>
            </a:r>
          </a:p>
          <a:p>
            <a:pPr lvl="1"/>
            <a:r>
              <a:rPr lang="en-US" altLang="en-US" dirty="0" smtClean="0"/>
              <a:t>No car alarm: Expected utility = 11.45714</a:t>
            </a:r>
          </a:p>
          <a:p>
            <a:pPr lvl="1"/>
            <a:r>
              <a:rPr lang="en-US" altLang="en-US" dirty="0" smtClean="0"/>
              <a:t>Install car alarm: Expected utility = 11.46113</a:t>
            </a:r>
          </a:p>
        </p:txBody>
      </p:sp>
    </p:spTree>
    <p:extLst>
      <p:ext uri="{BB962C8B-B14F-4D97-AF65-F5344CB8AC3E}">
        <p14:creationId xmlns:p14="http://schemas.microsoft.com/office/powerpoint/2010/main" val="6513440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sz="2800" dirty="0" smtClean="0"/>
              <a:t>18.2 Insurance and Precaution against Car Theft</a:t>
            </a:r>
          </a:p>
        </p:txBody>
      </p:sp>
      <p:sp>
        <p:nvSpPr>
          <p:cNvPr id="4915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9D585EFE-89B4-4D53-BBBB-D2AC77F3AFE7}" type="slidenum">
              <a:rPr lang="en-US" smtClean="0"/>
              <a:pPr>
                <a:defRPr/>
              </a:pPr>
              <a:t>36</a:t>
            </a:fld>
            <a:endParaRPr lang="en-US" dirty="0"/>
          </a:p>
        </p:txBody>
      </p:sp>
      <p:sp>
        <p:nvSpPr>
          <p:cNvPr id="49155" name="Content Placeholder 2"/>
          <p:cNvSpPr>
            <a:spLocks noGrp="1"/>
          </p:cNvSpPr>
          <p:nvPr>
            <p:ph type="body" sz="quarter" idx="12"/>
          </p:nvPr>
        </p:nvSpPr>
        <p:spPr>
          <a:prstGeom prst="rect">
            <a:avLst/>
          </a:prstGeom>
        </p:spPr>
        <p:txBody>
          <a:bodyPr/>
          <a:lstStyle/>
          <a:p>
            <a:r>
              <a:rPr lang="en-US" altLang="en-US" smtClean="0"/>
              <a:t>First best </a:t>
            </a:r>
          </a:p>
          <a:p>
            <a:pPr lvl="1"/>
            <a:r>
              <a:rPr lang="en-US" altLang="en-US" smtClean="0"/>
              <a:t>Maximizes the insurance company’s profit </a:t>
            </a:r>
          </a:p>
          <a:p>
            <a:pPr lvl="2"/>
            <a:r>
              <a:rPr lang="en-US" altLang="en-US" smtClean="0"/>
              <a:t>Given that it requires the individual to install an alarm</a:t>
            </a:r>
          </a:p>
          <a:p>
            <a:pPr lvl="2"/>
            <a:r>
              <a:rPr lang="en-US" altLang="en-US" smtClean="0"/>
              <a:t>Can costlessly verify whether the individual has complied</a:t>
            </a:r>
          </a:p>
          <a:p>
            <a:pPr lvl="1"/>
            <a:r>
              <a:rPr lang="en-US" altLang="en-US" smtClean="0"/>
              <a:t>Full insurance</a:t>
            </a:r>
          </a:p>
          <a:p>
            <a:pPr lvl="1"/>
            <a:r>
              <a:rPr lang="en-US" altLang="en-US" smtClean="0"/>
              <a:t>Highest premium </a:t>
            </a:r>
            <a:r>
              <a:rPr lang="en-US" altLang="en-US" i="1" smtClean="0"/>
              <a:t>p</a:t>
            </a:r>
            <a:r>
              <a:rPr lang="en-US" altLang="en-US" smtClean="0"/>
              <a:t> = 3,298 </a:t>
            </a:r>
          </a:p>
          <a:p>
            <a:pPr lvl="1"/>
            <a:r>
              <a:rPr lang="en-US" altLang="en-US" smtClean="0"/>
              <a:t>Company’s profit = $298</a:t>
            </a:r>
          </a:p>
        </p:txBody>
      </p:sp>
    </p:spTree>
    <p:extLst>
      <p:ext uri="{BB962C8B-B14F-4D97-AF65-F5344CB8AC3E}">
        <p14:creationId xmlns:p14="http://schemas.microsoft.com/office/powerpoint/2010/main" val="8012044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sz="2800" dirty="0" smtClean="0"/>
              <a:t>18.2 Insurance and Precaution against Car Theft</a:t>
            </a:r>
          </a:p>
        </p:txBody>
      </p:sp>
      <p:sp>
        <p:nvSpPr>
          <p:cNvPr id="5018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D2076FEF-21BB-45E1-BA5C-37039143967B}" type="slidenum">
              <a:rPr lang="en-US" smtClean="0"/>
              <a:pPr>
                <a:defRPr/>
              </a:pPr>
              <a:t>37</a:t>
            </a:fld>
            <a:endParaRPr lang="en-US" dirty="0"/>
          </a:p>
        </p:txBody>
      </p:sp>
      <p:sp>
        <p:nvSpPr>
          <p:cNvPr id="50179" name="Content Placeholder 2"/>
          <p:cNvSpPr>
            <a:spLocks noGrp="1"/>
          </p:cNvSpPr>
          <p:nvPr>
            <p:ph type="body" sz="quarter" idx="12"/>
          </p:nvPr>
        </p:nvSpPr>
        <p:spPr>
          <a:prstGeom prst="rect">
            <a:avLst/>
          </a:prstGeom>
        </p:spPr>
        <p:txBody>
          <a:bodyPr/>
          <a:lstStyle/>
          <a:p>
            <a:r>
              <a:rPr lang="en-US" altLang="en-US" smtClean="0"/>
              <a:t>Second best</a:t>
            </a:r>
          </a:p>
          <a:p>
            <a:pPr lvl="1"/>
            <a:r>
              <a:rPr lang="en-US" altLang="en-US" smtClean="0"/>
              <a:t>Company cannot monitor whether the individual has installed an alarm</a:t>
            </a:r>
          </a:p>
          <a:p>
            <a:pPr lvl="1">
              <a:buFont typeface="Arial" charset="0"/>
              <a:buNone/>
            </a:pPr>
            <a:r>
              <a:rPr lang="en-US" altLang="en-US" smtClean="0"/>
              <a:t>1. Induce him to install the alarm by offering only partial insurance</a:t>
            </a:r>
          </a:p>
          <a:p>
            <a:pPr lvl="2"/>
            <a:r>
              <a:rPr lang="en-US" altLang="en-US" smtClean="0"/>
              <a:t> Payment after theft = $3,374</a:t>
            </a:r>
          </a:p>
          <a:p>
            <a:pPr lvl="2"/>
            <a:r>
              <a:rPr lang="en-US" altLang="en-US" smtClean="0"/>
              <a:t> </a:t>
            </a:r>
            <a:r>
              <a:rPr lang="en-US" altLang="en-US" i="1" smtClean="0"/>
              <a:t>p</a:t>
            </a:r>
            <a:r>
              <a:rPr lang="en-US" altLang="en-US" smtClean="0"/>
              <a:t> = $602 and company’s profit = $96</a:t>
            </a:r>
          </a:p>
          <a:p>
            <a:pPr lvl="1">
              <a:buFont typeface="Arial" charset="0"/>
              <a:buNone/>
            </a:pPr>
            <a:r>
              <a:rPr lang="en-US" altLang="en-US" smtClean="0"/>
              <a:t>2. Disregard the alarm and provide him with full insurance</a:t>
            </a:r>
          </a:p>
          <a:p>
            <a:pPr lvl="2"/>
            <a:r>
              <a:rPr lang="en-US" altLang="en-US" smtClean="0"/>
              <a:t> </a:t>
            </a:r>
            <a:r>
              <a:rPr lang="en-US" altLang="en-US" i="1" smtClean="0"/>
              <a:t>p</a:t>
            </a:r>
            <a:r>
              <a:rPr lang="en-US" altLang="en-US" smtClean="0"/>
              <a:t> = $5,048 and company’s profit = $48</a:t>
            </a:r>
          </a:p>
        </p:txBody>
      </p:sp>
    </p:spTree>
    <p:extLst>
      <p:ext uri="{BB962C8B-B14F-4D97-AF65-F5344CB8AC3E}">
        <p14:creationId xmlns:p14="http://schemas.microsoft.com/office/powerpoint/2010/main" val="185057790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smtClean="0"/>
              <a:t>Competitive Insurance Market</a:t>
            </a:r>
          </a:p>
        </p:txBody>
      </p:sp>
      <p:sp>
        <p:nvSpPr>
          <p:cNvPr id="51203" name="Content Placeholder 2"/>
          <p:cNvSpPr>
            <a:spLocks noGrp="1"/>
          </p:cNvSpPr>
          <p:nvPr>
            <p:ph idx="1"/>
          </p:nvPr>
        </p:nvSpPr>
        <p:spPr/>
        <p:txBody>
          <a:bodyPr/>
          <a:lstStyle/>
          <a:p>
            <a:r>
              <a:rPr lang="en-US" altLang="en-US" dirty="0" smtClean="0"/>
              <a:t>Competitive insurers</a:t>
            </a:r>
          </a:p>
          <a:p>
            <a:pPr lvl="1"/>
            <a:r>
              <a:rPr lang="en-US" altLang="en-US" dirty="0" smtClean="0"/>
              <a:t>The first best maximizes the insurance customer’s expected utility </a:t>
            </a:r>
          </a:p>
          <a:p>
            <a:pPr lvl="2"/>
            <a:r>
              <a:rPr lang="en-US" altLang="en-US" dirty="0" smtClean="0"/>
              <a:t>Given that the contract can specify his precaution level</a:t>
            </a:r>
          </a:p>
          <a:p>
            <a:pPr lvl="1"/>
            <a:r>
              <a:rPr lang="en-US" altLang="en-US" dirty="0" smtClean="0"/>
              <a:t>The second best maximizes the customer’s expected utility </a:t>
            </a:r>
          </a:p>
          <a:p>
            <a:pPr lvl="2"/>
            <a:r>
              <a:rPr lang="en-US" altLang="en-US" dirty="0" smtClean="0"/>
              <a:t>Under the constraint that his precaution level must be induced by having the contract offer only partial insurance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32DD94B-7B7F-4EC1-B3B3-92B2CBC73D1B}" type="slidenum">
              <a:rPr lang="en-US" smtClean="0"/>
              <a:pPr>
                <a:defRPr/>
              </a:pPr>
              <a:t>38</a:t>
            </a:fld>
            <a:endParaRPr lang="en-US"/>
          </a:p>
        </p:txBody>
      </p:sp>
    </p:spTree>
    <p:extLst>
      <p:ext uri="{BB962C8B-B14F-4D97-AF65-F5344CB8AC3E}">
        <p14:creationId xmlns:p14="http://schemas.microsoft.com/office/powerpoint/2010/main" val="25883007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18.3 	Competitive Theft Insurance</a:t>
            </a:r>
          </a:p>
        </p:txBody>
      </p:sp>
      <p:sp>
        <p:nvSpPr>
          <p:cNvPr id="5222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8F2EA550-D1E9-42D6-9410-533DD799CD03}" type="slidenum">
              <a:rPr lang="en-US" smtClean="0"/>
              <a:pPr>
                <a:defRPr/>
              </a:pPr>
              <a:t>39</a:t>
            </a:fld>
            <a:endParaRPr lang="en-US" dirty="0"/>
          </a:p>
        </p:txBody>
      </p:sp>
      <p:sp>
        <p:nvSpPr>
          <p:cNvPr id="52227" name="Content Placeholder 2"/>
          <p:cNvSpPr>
            <a:spLocks noGrp="1"/>
          </p:cNvSpPr>
          <p:nvPr>
            <p:ph type="body" sz="quarter" idx="12"/>
          </p:nvPr>
        </p:nvSpPr>
        <p:spPr>
          <a:prstGeom prst="rect">
            <a:avLst/>
          </a:prstGeom>
        </p:spPr>
        <p:txBody>
          <a:bodyPr/>
          <a:lstStyle/>
          <a:p>
            <a:r>
              <a:rPr lang="en-US" altLang="en-US" smtClean="0"/>
              <a:t>Car theft insurance </a:t>
            </a:r>
          </a:p>
          <a:p>
            <a:pPr lvl="1"/>
            <a:r>
              <a:rPr lang="en-US" altLang="en-US" smtClean="0"/>
              <a:t>Is sold by perfectly competitive companies</a:t>
            </a:r>
          </a:p>
          <a:p>
            <a:r>
              <a:rPr lang="en-US" altLang="en-US" smtClean="0"/>
              <a:t>First best</a:t>
            </a:r>
          </a:p>
          <a:p>
            <a:pPr lvl="1"/>
            <a:r>
              <a:rPr lang="en-US" altLang="en-US" smtClean="0"/>
              <a:t>Require him to install the alarm</a:t>
            </a:r>
          </a:p>
          <a:p>
            <a:pPr lvl="1"/>
            <a:r>
              <a:rPr lang="en-US" altLang="en-US" smtClean="0"/>
              <a:t>Fully insure him for </a:t>
            </a:r>
            <a:r>
              <a:rPr lang="en-US" altLang="en-US" i="1" smtClean="0"/>
              <a:t>p</a:t>
            </a:r>
            <a:r>
              <a:rPr lang="en-US" altLang="en-US" smtClean="0"/>
              <a:t> = $3,000 </a:t>
            </a:r>
          </a:p>
          <a:p>
            <a:pPr lvl="2"/>
            <a:r>
              <a:rPr lang="en-US" altLang="en-US" smtClean="0"/>
              <a:t>Fair insurance premium = the expected payout for a loss</a:t>
            </a:r>
          </a:p>
          <a:p>
            <a:pPr lvl="1"/>
            <a:r>
              <a:rPr lang="en-US" altLang="en-US" smtClean="0"/>
              <a:t>Firm earns zero profit </a:t>
            </a:r>
          </a:p>
          <a:p>
            <a:r>
              <a:rPr lang="en-US" altLang="en-US" smtClean="0"/>
              <a:t>Second best</a:t>
            </a:r>
          </a:p>
          <a:p>
            <a:pPr lvl="1"/>
            <a:r>
              <a:rPr lang="en-US" altLang="en-US" smtClean="0"/>
              <a:t>Equilibrium premium, </a:t>
            </a:r>
            <a:r>
              <a:rPr lang="en-US" altLang="en-US" i="1" smtClean="0"/>
              <a:t>p</a:t>
            </a:r>
            <a:r>
              <a:rPr lang="en-US" altLang="en-US" smtClean="0"/>
              <a:t> = $506 </a:t>
            </a:r>
          </a:p>
          <a:p>
            <a:pPr lvl="1"/>
            <a:r>
              <a:rPr lang="en-US" altLang="en-US" smtClean="0"/>
              <a:t>Payment for loss is = $3,374</a:t>
            </a:r>
          </a:p>
        </p:txBody>
      </p:sp>
    </p:spTree>
    <p:extLst>
      <p:ext uri="{BB962C8B-B14F-4D97-AF65-F5344CB8AC3E}">
        <p14:creationId xmlns:p14="http://schemas.microsoft.com/office/powerpoint/2010/main" val="223852320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smtClean="0"/>
              <a:t>Hidden Types</a:t>
            </a:r>
          </a:p>
        </p:txBody>
      </p:sp>
      <p:sp>
        <p:nvSpPr>
          <p:cNvPr id="53251" name="Rectangle 3"/>
          <p:cNvSpPr>
            <a:spLocks noGrp="1" noChangeArrowheads="1"/>
          </p:cNvSpPr>
          <p:nvPr>
            <p:ph idx="1"/>
          </p:nvPr>
        </p:nvSpPr>
        <p:spPr/>
        <p:txBody>
          <a:bodyPr/>
          <a:lstStyle/>
          <a:p>
            <a:r>
              <a:rPr lang="en-US" altLang="en-US" smtClean="0"/>
              <a:t>In the hidden-type model</a:t>
            </a:r>
          </a:p>
          <a:p>
            <a:pPr lvl="1"/>
            <a:r>
              <a:rPr lang="en-US" altLang="en-US" smtClean="0"/>
              <a:t>The individual has private information about an innate characteristic he cannot choose</a:t>
            </a:r>
          </a:p>
          <a:p>
            <a:r>
              <a:rPr lang="en-US" altLang="en-US" smtClean="0"/>
              <a:t>The agent’s private information </a:t>
            </a:r>
          </a:p>
          <a:p>
            <a:pPr lvl="1"/>
            <a:r>
              <a:rPr lang="en-US" altLang="en-US" smtClean="0"/>
              <a:t>At the time of signing the contract </a:t>
            </a:r>
          </a:p>
          <a:p>
            <a:pPr lvl="1"/>
            <a:r>
              <a:rPr lang="en-US" altLang="en-US" smtClean="0"/>
              <a:t>Puts him in a better position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0D49330-76EE-4F0A-BD01-5357566E4178}" type="slidenum">
              <a:rPr lang="en-US" smtClean="0"/>
              <a:pPr>
                <a:defRPr/>
              </a:pPr>
              <a:t>40</a:t>
            </a:fld>
            <a:endParaRPr lang="en-US"/>
          </a:p>
        </p:txBody>
      </p:sp>
    </p:spTree>
    <p:extLst>
      <p:ext uri="{BB962C8B-B14F-4D97-AF65-F5344CB8AC3E}">
        <p14:creationId xmlns:p14="http://schemas.microsoft.com/office/powerpoint/2010/main" val="3137623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altLang="en-US" smtClean="0"/>
              <a:t>Hidden Types</a:t>
            </a:r>
          </a:p>
        </p:txBody>
      </p:sp>
      <p:sp>
        <p:nvSpPr>
          <p:cNvPr id="54275" name="Rectangle 3"/>
          <p:cNvSpPr>
            <a:spLocks noGrp="1" noChangeArrowheads="1"/>
          </p:cNvSpPr>
          <p:nvPr>
            <p:ph idx="1"/>
          </p:nvPr>
        </p:nvSpPr>
        <p:spPr/>
        <p:txBody>
          <a:bodyPr/>
          <a:lstStyle/>
          <a:p>
            <a:r>
              <a:rPr lang="en-US" altLang="en-US" smtClean="0"/>
              <a:t>The principal </a:t>
            </a:r>
          </a:p>
          <a:p>
            <a:pPr lvl="1"/>
            <a:r>
              <a:rPr lang="en-US" altLang="en-US" smtClean="0"/>
              <a:t>Will try to extract as much surplus as possible from agents through clever contract design</a:t>
            </a:r>
          </a:p>
          <a:p>
            <a:pPr lvl="1"/>
            <a:r>
              <a:rPr lang="en-US" altLang="en-US" smtClean="0"/>
              <a:t>Include options targeted to every agent type</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7987B64-0FC9-4B87-AF16-72C28ABC8D6F}" type="slidenum">
              <a:rPr lang="en-US" smtClean="0"/>
              <a:pPr>
                <a:defRPr/>
              </a:pPr>
              <a:t>41</a:t>
            </a:fld>
            <a:endParaRPr lang="en-US"/>
          </a:p>
        </p:txBody>
      </p:sp>
    </p:spTree>
    <p:extLst>
      <p:ext uri="{BB962C8B-B14F-4D97-AF65-F5344CB8AC3E}">
        <p14:creationId xmlns:p14="http://schemas.microsoft.com/office/powerpoint/2010/main" val="71241294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smtClean="0"/>
              <a:t>Nonlinear Pricing</a:t>
            </a:r>
          </a:p>
        </p:txBody>
      </p:sp>
      <p:sp>
        <p:nvSpPr>
          <p:cNvPr id="55299" name="Rectangle 3"/>
          <p:cNvSpPr>
            <a:spLocks noGrp="1" noChangeArrowheads="1"/>
          </p:cNvSpPr>
          <p:nvPr>
            <p:ph idx="1"/>
          </p:nvPr>
        </p:nvSpPr>
        <p:spPr/>
        <p:txBody>
          <a:bodyPr/>
          <a:lstStyle/>
          <a:p>
            <a:r>
              <a:rPr lang="en-US" altLang="en-US" smtClean="0"/>
              <a:t>A monopolist (the principal) </a:t>
            </a:r>
          </a:p>
          <a:p>
            <a:pPr lvl="1"/>
            <a:r>
              <a:rPr lang="en-US" altLang="en-US" smtClean="0"/>
              <a:t>Who sells to a consumer (the agent) with private information about his own valuation for the good</a:t>
            </a:r>
          </a:p>
          <a:p>
            <a:pPr lvl="1"/>
            <a:r>
              <a:rPr lang="en-US" altLang="en-US" smtClean="0"/>
              <a:t>Offers a nonlinear price schedule</a:t>
            </a:r>
          </a:p>
          <a:p>
            <a:pPr lvl="2"/>
            <a:r>
              <a:rPr lang="en-US" altLang="en-US" smtClean="0"/>
              <a:t>Menu of different-sized bundles at different prices</a:t>
            </a:r>
          </a:p>
          <a:p>
            <a:pPr lvl="2"/>
            <a:r>
              <a:rPr lang="en-US" altLang="en-US" smtClean="0"/>
              <a:t>Larger bundles sell for lower per-unit price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97F5307-98C7-4A56-ACB2-3642D7093E88}" type="slidenum">
              <a:rPr lang="en-US" smtClean="0"/>
              <a:pPr>
                <a:defRPr/>
              </a:pPr>
              <a:t>42</a:t>
            </a:fld>
            <a:endParaRPr lang="en-US"/>
          </a:p>
        </p:txBody>
      </p:sp>
    </p:spTree>
    <p:extLst>
      <p:ext uri="{BB962C8B-B14F-4D97-AF65-F5344CB8AC3E}">
        <p14:creationId xmlns:p14="http://schemas.microsoft.com/office/powerpoint/2010/main" val="292263258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18.3	Shapes of Various Pricing </a:t>
            </a:r>
            <a:r>
              <a:rPr lang="en-US" altLang="en-US" dirty="0" smtClean="0"/>
              <a:t>Schedules</a:t>
            </a:r>
          </a:p>
        </p:txBody>
      </p:sp>
      <p:sp>
        <p:nvSpPr>
          <p:cNvPr id="56323" name="Text Placeholder 2"/>
          <p:cNvSpPr>
            <a:spLocks noGrp="1"/>
          </p:cNvSpPr>
          <p:nvPr>
            <p:ph sz="half" idx="1"/>
          </p:nvPr>
        </p:nvSpPr>
        <p:spPr>
          <a:xfrm>
            <a:off x="6400800" y="1600200"/>
            <a:ext cx="2362200" cy="4525963"/>
          </a:xfrm>
        </p:spPr>
        <p:txBody>
          <a:bodyPr>
            <a:normAutofit/>
          </a:bodyPr>
          <a:lstStyle/>
          <a:p>
            <a:pPr>
              <a:spcBef>
                <a:spcPct val="0"/>
              </a:spcBef>
            </a:pPr>
            <a:r>
              <a:rPr lang="en-US" altLang="en-US" dirty="0"/>
              <a:t>The graph shows the shape of three different pricing schedules. Darker curves are more complicated pricing schedules and so represent more sophisticated forms of second-degree price discrimination.</a:t>
            </a:r>
          </a:p>
          <a:p>
            <a:pPr>
              <a:spcBef>
                <a:spcPct val="0"/>
              </a:spcBef>
            </a:pPr>
            <a:endParaRPr lang="en-US" altLang="en-US" dirty="0" smtClean="0"/>
          </a:p>
        </p:txBody>
      </p:sp>
      <p:sp>
        <p:nvSpPr>
          <p:cNvPr id="56325"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027F6C87-B59E-463E-8029-44B23EB9A4BB}" type="slidenum">
              <a:rPr lang="en-US" smtClean="0"/>
              <a:pPr>
                <a:defRPr/>
              </a:pPr>
              <a:t>43</a:t>
            </a:fld>
            <a:endParaRPr lang="en-US" dirty="0"/>
          </a:p>
        </p:txBody>
      </p:sp>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0"/>
            <a:ext cx="5988551"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5123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wipe(left)">
                                      <p:cBhvr>
                                        <p:cTn id="7" dur="500"/>
                                        <p:tgtEl>
                                          <p:spTgt spid="3891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6323">
                                            <p:txEl>
                                              <p:pRg st="0" end="0"/>
                                            </p:txEl>
                                          </p:spTgt>
                                        </p:tgtEl>
                                        <p:attrNameLst>
                                          <p:attrName>style.visibility</p:attrName>
                                        </p:attrNameLst>
                                      </p:cBhvr>
                                      <p:to>
                                        <p:strVal val="visible"/>
                                      </p:to>
                                    </p:set>
                                    <p:animEffect transition="in" filter="wipe(left)">
                                      <p:cBhvr>
                                        <p:cTn id="11" dur="500"/>
                                        <p:tgtEl>
                                          <p:spTgt spid="563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en-US" smtClean="0"/>
              <a:t>Mathematical Model</a:t>
            </a:r>
          </a:p>
        </p:txBody>
      </p:sp>
      <p:sp>
        <p:nvSpPr>
          <p:cNvPr id="57347" name="Rectangle 3"/>
          <p:cNvSpPr>
            <a:spLocks noGrp="1" noChangeArrowheads="1"/>
          </p:cNvSpPr>
          <p:nvPr>
            <p:ph idx="1"/>
          </p:nvPr>
        </p:nvSpPr>
        <p:spPr>
          <a:xfrm>
            <a:off x="381000" y="1219200"/>
            <a:ext cx="8534400" cy="5181600"/>
          </a:xfrm>
        </p:spPr>
        <p:txBody>
          <a:bodyPr>
            <a:noAutofit/>
          </a:bodyPr>
          <a:lstStyle/>
          <a:p>
            <a:r>
              <a:rPr lang="en-US" altLang="en-US" dirty="0" smtClean="0"/>
              <a:t>A single consumer obtains surplus, </a:t>
            </a:r>
            <a:r>
              <a:rPr lang="en-US" altLang="en-US" i="1" dirty="0" smtClean="0"/>
              <a:t>U</a:t>
            </a:r>
          </a:p>
          <a:p>
            <a:pPr lvl="1"/>
            <a:r>
              <a:rPr lang="en-US" altLang="en-US" dirty="0" smtClean="0"/>
              <a:t>From consuming a bundle of </a:t>
            </a:r>
            <a:r>
              <a:rPr lang="en-US" altLang="en-US" i="1" dirty="0" smtClean="0"/>
              <a:t>q</a:t>
            </a:r>
            <a:r>
              <a:rPr lang="en-US" altLang="en-US" dirty="0" smtClean="0"/>
              <a:t> units </a:t>
            </a:r>
          </a:p>
          <a:p>
            <a:pPr lvl="1"/>
            <a:r>
              <a:rPr lang="en-US" altLang="en-US" dirty="0" smtClean="0"/>
              <a:t>For which he pays a total tariff of </a:t>
            </a:r>
            <a:r>
              <a:rPr lang="en-US" altLang="en-US" i="1" dirty="0" smtClean="0"/>
              <a:t>T</a:t>
            </a:r>
            <a:endParaRPr lang="en-US" altLang="en-US" dirty="0" smtClean="0"/>
          </a:p>
          <a:p>
            <a:pPr algn="ctr">
              <a:lnSpc>
                <a:spcPct val="120000"/>
              </a:lnSpc>
              <a:buFontTx/>
              <a:buNone/>
            </a:pPr>
            <a:r>
              <a:rPr lang="en-US" altLang="en-US" sz="2800" i="1" dirty="0" smtClean="0">
                <a:solidFill>
                  <a:srgbClr val="FF0000"/>
                </a:solidFill>
              </a:rPr>
              <a:t>U</a:t>
            </a:r>
            <a:r>
              <a:rPr lang="en-US" altLang="en-US" sz="2800" dirty="0" smtClean="0">
                <a:solidFill>
                  <a:srgbClr val="FF0000"/>
                </a:solidFill>
              </a:rPr>
              <a:t> = </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v</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q</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T</a:t>
            </a:r>
          </a:p>
          <a:p>
            <a:pPr lvl="2"/>
            <a:r>
              <a:rPr lang="en-US" altLang="en-US" dirty="0" smtClean="0">
                <a:sym typeface="Symbol" pitchFamily="18" charset="2"/>
              </a:rPr>
              <a:t>Assume that </a:t>
            </a:r>
            <a:r>
              <a:rPr lang="en-US" altLang="en-US" i="1" dirty="0" smtClean="0">
                <a:sym typeface="Symbol" pitchFamily="18" charset="2"/>
              </a:rPr>
              <a:t>v</a:t>
            </a:r>
            <a:r>
              <a:rPr lang="en-US" altLang="en-US" dirty="0" smtClean="0">
                <a:sym typeface="Symbol" pitchFamily="18" charset="2"/>
              </a:rPr>
              <a:t>’(</a:t>
            </a:r>
            <a:r>
              <a:rPr lang="en-US" altLang="en-US" i="1" dirty="0" smtClean="0">
                <a:sym typeface="Symbol" pitchFamily="18" charset="2"/>
              </a:rPr>
              <a:t>q</a:t>
            </a:r>
            <a:r>
              <a:rPr lang="en-US" altLang="en-US" dirty="0" smtClean="0">
                <a:sym typeface="Symbol" pitchFamily="18" charset="2"/>
              </a:rPr>
              <a:t>) &gt; 0 and </a:t>
            </a:r>
            <a:r>
              <a:rPr lang="en-US" altLang="en-US" i="1" dirty="0" smtClean="0">
                <a:sym typeface="Symbol" pitchFamily="18" charset="2"/>
              </a:rPr>
              <a:t>v</a:t>
            </a:r>
            <a:r>
              <a:rPr lang="en-US" altLang="en-US" dirty="0" smtClean="0">
                <a:sym typeface="Symbol" pitchFamily="18" charset="2"/>
              </a:rPr>
              <a:t>’’(</a:t>
            </a:r>
            <a:r>
              <a:rPr lang="en-US" altLang="en-US" i="1" dirty="0" smtClean="0">
                <a:sym typeface="Symbol" pitchFamily="18" charset="2"/>
              </a:rPr>
              <a:t>q</a:t>
            </a:r>
            <a:r>
              <a:rPr lang="en-US" altLang="en-US" dirty="0" smtClean="0">
                <a:sym typeface="Symbol" pitchFamily="18" charset="2"/>
              </a:rPr>
              <a:t>) &lt; 0</a:t>
            </a:r>
          </a:p>
          <a:p>
            <a:r>
              <a:rPr lang="en-US" altLang="en-US" dirty="0" smtClean="0">
                <a:sym typeface="Symbol" pitchFamily="18" charset="2"/>
              </a:rPr>
              <a:t>The consumer’s type is </a:t>
            </a:r>
          </a:p>
          <a:p>
            <a:pPr lvl="1"/>
            <a:r>
              <a:rPr lang="en-US" altLang="en-US" dirty="0" smtClean="0">
                <a:sym typeface="Symbol" pitchFamily="18" charset="2"/>
              </a:rPr>
              <a:t></a:t>
            </a:r>
            <a:r>
              <a:rPr lang="en-US" altLang="en-US" i="1" baseline="-25000" dirty="0" smtClean="0">
                <a:sym typeface="Symbol" pitchFamily="18" charset="2"/>
              </a:rPr>
              <a:t>H</a:t>
            </a:r>
            <a:r>
              <a:rPr lang="en-US" altLang="en-US" dirty="0" smtClean="0">
                <a:sym typeface="Symbol" pitchFamily="18" charset="2"/>
              </a:rPr>
              <a:t> is the “high” type (with probability of )</a:t>
            </a:r>
          </a:p>
          <a:p>
            <a:pPr lvl="1"/>
            <a:r>
              <a:rPr lang="en-US" altLang="en-US" dirty="0" smtClean="0">
                <a:sym typeface="Symbol" pitchFamily="18" charset="2"/>
              </a:rPr>
              <a:t></a:t>
            </a:r>
            <a:r>
              <a:rPr lang="en-US" altLang="en-US" i="1" baseline="-25000" dirty="0" smtClean="0">
                <a:sym typeface="Symbol" pitchFamily="18" charset="2"/>
              </a:rPr>
              <a:t>L</a:t>
            </a:r>
            <a:r>
              <a:rPr lang="en-US" altLang="en-US" dirty="0" smtClean="0">
                <a:sym typeface="Symbol" pitchFamily="18" charset="2"/>
              </a:rPr>
              <a:t> is the “low” type (with probability of 1-)</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61D2884-95F7-4F3E-A73C-02301CBC85B4}" type="slidenum">
              <a:rPr lang="en-US" smtClean="0"/>
              <a:pPr>
                <a:defRPr/>
              </a:pPr>
              <a:t>44</a:t>
            </a:fld>
            <a:endParaRPr lang="en-US"/>
          </a:p>
        </p:txBody>
      </p:sp>
    </p:spTree>
    <p:extLst>
      <p:ext uri="{BB962C8B-B14F-4D97-AF65-F5344CB8AC3E}">
        <p14:creationId xmlns:p14="http://schemas.microsoft.com/office/powerpoint/2010/main" val="121178545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ltLang="en-US" smtClean="0"/>
              <a:t>Mathematical Model</a:t>
            </a:r>
          </a:p>
        </p:txBody>
      </p:sp>
      <p:sp>
        <p:nvSpPr>
          <p:cNvPr id="58371" name="Rectangle 3"/>
          <p:cNvSpPr>
            <a:spLocks noGrp="1" noChangeArrowheads="1"/>
          </p:cNvSpPr>
          <p:nvPr>
            <p:ph idx="1"/>
          </p:nvPr>
        </p:nvSpPr>
        <p:spPr/>
        <p:txBody>
          <a:bodyPr/>
          <a:lstStyle/>
          <a:p>
            <a:r>
              <a:rPr lang="en-US" altLang="en-US" dirty="0">
                <a:sym typeface="Symbol" pitchFamily="18" charset="2"/>
              </a:rPr>
              <a:t>The consumer’s type is </a:t>
            </a:r>
            <a:r>
              <a:rPr lang="en-US" altLang="en-US" dirty="0" smtClean="0">
                <a:sym typeface="Symbol" pitchFamily="18" charset="2"/>
              </a:rPr>
              <a:t></a:t>
            </a:r>
          </a:p>
          <a:p>
            <a:pPr lvl="1"/>
            <a:r>
              <a:rPr lang="en-US" altLang="en-US" dirty="0">
                <a:sym typeface="Symbol" pitchFamily="18" charset="2"/>
              </a:rPr>
              <a:t>0 &lt; </a:t>
            </a:r>
            <a:r>
              <a:rPr lang="en-US" altLang="en-US" i="1" baseline="-25000" dirty="0">
                <a:sym typeface="Symbol" pitchFamily="18" charset="2"/>
              </a:rPr>
              <a:t>L</a:t>
            </a:r>
            <a:r>
              <a:rPr lang="en-US" altLang="en-US" dirty="0">
                <a:sym typeface="Symbol" pitchFamily="18" charset="2"/>
              </a:rPr>
              <a:t> &lt; </a:t>
            </a:r>
            <a:r>
              <a:rPr lang="en-US" altLang="en-US" i="1" baseline="-25000" dirty="0">
                <a:sym typeface="Symbol" pitchFamily="18" charset="2"/>
              </a:rPr>
              <a:t>H</a:t>
            </a:r>
          </a:p>
          <a:p>
            <a:r>
              <a:rPr lang="en-US" altLang="en-US" dirty="0" smtClean="0"/>
              <a:t>The monopolist </a:t>
            </a:r>
          </a:p>
          <a:p>
            <a:pPr lvl="1"/>
            <a:r>
              <a:rPr lang="en-US" altLang="en-US" dirty="0" smtClean="0"/>
              <a:t>Has a constant average and marginal cost of </a:t>
            </a:r>
            <a:r>
              <a:rPr lang="en-US" altLang="en-US" i="1" dirty="0" smtClean="0"/>
              <a:t>c</a:t>
            </a:r>
            <a:endParaRPr lang="en-US" altLang="en-US" dirty="0" smtClean="0"/>
          </a:p>
          <a:p>
            <a:pPr lvl="1"/>
            <a:r>
              <a:rPr lang="en-US" altLang="en-US" dirty="0" smtClean="0"/>
              <a:t>Profit from selling </a:t>
            </a:r>
            <a:r>
              <a:rPr lang="en-US" altLang="en-US" i="1" dirty="0" smtClean="0"/>
              <a:t>q</a:t>
            </a:r>
            <a:r>
              <a:rPr lang="en-US" altLang="en-US" dirty="0" smtClean="0"/>
              <a:t> units is</a:t>
            </a:r>
          </a:p>
          <a:p>
            <a:pPr algn="ctr">
              <a:lnSpc>
                <a:spcPct val="120000"/>
              </a:lnSpc>
              <a:buFontTx/>
              <a:buNone/>
            </a:pP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T – </a:t>
            </a:r>
            <a:r>
              <a:rPr lang="en-US" altLang="en-US" sz="2800" i="1" dirty="0" err="1" smtClean="0">
                <a:solidFill>
                  <a:srgbClr val="FF0000"/>
                </a:solidFill>
                <a:sym typeface="Symbol" pitchFamily="18" charset="2"/>
              </a:rPr>
              <a:t>cq</a:t>
            </a:r>
            <a:endParaRPr lang="en-US" altLang="en-US" sz="2800" dirty="0" smtClean="0">
              <a:solidFill>
                <a:srgbClr val="FF0000"/>
              </a:solidFill>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2B2737A-401A-46C1-A02B-08D4DB2F6A6C}" type="slidenum">
              <a:rPr lang="en-US" smtClean="0"/>
              <a:pPr>
                <a:defRPr/>
              </a:pPr>
              <a:t>45</a:t>
            </a:fld>
            <a:endParaRPr lang="en-US"/>
          </a:p>
        </p:txBody>
      </p:sp>
    </p:spTree>
    <p:extLst>
      <p:ext uri="{BB962C8B-B14F-4D97-AF65-F5344CB8AC3E}">
        <p14:creationId xmlns:p14="http://schemas.microsoft.com/office/powerpoint/2010/main" val="129642125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smtClean="0"/>
              <a:t>First-Best Nonlinear Pricing</a:t>
            </a:r>
          </a:p>
        </p:txBody>
      </p:sp>
      <p:sp>
        <p:nvSpPr>
          <p:cNvPr id="59395" name="Rectangle 3"/>
          <p:cNvSpPr>
            <a:spLocks noGrp="1" noChangeArrowheads="1"/>
          </p:cNvSpPr>
          <p:nvPr>
            <p:ph idx="1"/>
          </p:nvPr>
        </p:nvSpPr>
        <p:spPr/>
        <p:txBody>
          <a:bodyPr/>
          <a:lstStyle/>
          <a:p>
            <a:r>
              <a:rPr lang="en-US" altLang="en-US" smtClean="0"/>
              <a:t>The monopolist observes </a:t>
            </a:r>
            <a:r>
              <a:rPr lang="en-US" altLang="en-US" i="1" smtClean="0">
                <a:sym typeface="Symbol" pitchFamily="18" charset="2"/>
              </a:rPr>
              <a:t></a:t>
            </a:r>
          </a:p>
          <a:p>
            <a:r>
              <a:rPr lang="en-US" altLang="en-US" smtClean="0"/>
              <a:t>Participation constraint: </a:t>
            </a:r>
            <a:r>
              <a:rPr lang="en-US" altLang="en-US" sz="3200" i="1" smtClean="0">
                <a:solidFill>
                  <a:srgbClr val="FF0000"/>
                </a:solidFill>
                <a:sym typeface="Symbol" pitchFamily="18" charset="2"/>
              </a:rPr>
              <a:t>v(q) – T </a:t>
            </a:r>
            <a:r>
              <a:rPr lang="en-US" altLang="en-US" sz="3200" i="1" smtClean="0">
                <a:solidFill>
                  <a:srgbClr val="FF0000"/>
                </a:solidFill>
                <a:cs typeface="Arial" charset="0"/>
                <a:sym typeface="Symbol" pitchFamily="18" charset="2"/>
              </a:rPr>
              <a:t>≥ 0</a:t>
            </a:r>
            <a:endParaRPr lang="en-US" altLang="en-US" sz="3200" i="1" smtClean="0">
              <a:sym typeface="Symbol" pitchFamily="18" charset="2"/>
            </a:endParaRPr>
          </a:p>
          <a:p>
            <a:r>
              <a:rPr lang="en-US" altLang="en-US" smtClean="0">
                <a:sym typeface="Symbol" pitchFamily="18" charset="2"/>
              </a:rPr>
              <a:t>At the optimum: </a:t>
            </a:r>
            <a:r>
              <a:rPr lang="en-US" altLang="en-US" sz="3200" i="1" smtClean="0">
                <a:solidFill>
                  <a:srgbClr val="FF0000"/>
                </a:solidFill>
                <a:sym typeface="Symbol" pitchFamily="18" charset="2"/>
              </a:rPr>
              <a:t>v’(q) = c</a:t>
            </a:r>
          </a:p>
          <a:p>
            <a:pPr lvl="1"/>
            <a:r>
              <a:rPr lang="en-US" altLang="en-US" smtClean="0">
                <a:sym typeface="Symbol" pitchFamily="18" charset="2"/>
              </a:rPr>
              <a:t>The marginal social benefit of increased quantity [</a:t>
            </a:r>
            <a:r>
              <a:rPr lang="en-US" altLang="en-US" smtClean="0"/>
              <a:t>the consumer’s marginal private benefit</a:t>
            </a:r>
            <a:r>
              <a:rPr lang="en-US" altLang="en-US" smtClean="0">
                <a:sym typeface="Symbol" pitchFamily="18" charset="2"/>
              </a:rPr>
              <a:t>] </a:t>
            </a:r>
          </a:p>
          <a:p>
            <a:pPr lvl="1"/>
            <a:r>
              <a:rPr lang="en-US" altLang="en-US" smtClean="0">
                <a:sym typeface="Symbol" pitchFamily="18" charset="2"/>
              </a:rPr>
              <a:t>Is equal to the marginal social cost [</a:t>
            </a:r>
            <a:r>
              <a:rPr lang="en-US" altLang="en-US" smtClean="0"/>
              <a:t>the monopolist’s marginal cost</a:t>
            </a:r>
            <a:r>
              <a:rPr lang="en-US" altLang="en-US" smtClean="0">
                <a:sym typeface="Symbol" pitchFamily="18" charset="2"/>
              </a:rPr>
              <a: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3AB17F8-661C-4902-A329-60E17B8DADE4}" type="slidenum">
              <a:rPr lang="en-US" smtClean="0"/>
              <a:pPr>
                <a:defRPr/>
              </a:pPr>
              <a:t>46</a:t>
            </a:fld>
            <a:endParaRPr lang="en-US"/>
          </a:p>
        </p:txBody>
      </p:sp>
    </p:spTree>
    <p:extLst>
      <p:ext uri="{BB962C8B-B14F-4D97-AF65-F5344CB8AC3E}">
        <p14:creationId xmlns:p14="http://schemas.microsoft.com/office/powerpoint/2010/main" val="233020540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18.4	First-Best Nonlinear </a:t>
            </a:r>
            <a:r>
              <a:rPr lang="en-US" altLang="en-US" dirty="0" smtClean="0"/>
              <a:t>Pricing</a:t>
            </a:r>
          </a:p>
        </p:txBody>
      </p:sp>
      <p:sp>
        <p:nvSpPr>
          <p:cNvPr id="60419" name="Text Placeholder 2"/>
          <p:cNvSpPr>
            <a:spLocks noGrp="1"/>
          </p:cNvSpPr>
          <p:nvPr>
            <p:ph sz="half" idx="1"/>
          </p:nvPr>
        </p:nvSpPr>
        <p:spPr>
          <a:xfrm>
            <a:off x="5943600" y="1600200"/>
            <a:ext cx="2895600" cy="4525963"/>
          </a:xfrm>
        </p:spPr>
        <p:txBody>
          <a:bodyPr>
            <a:normAutofit/>
          </a:bodyPr>
          <a:lstStyle/>
          <a:p>
            <a:pPr>
              <a:spcBef>
                <a:spcPct val="0"/>
              </a:spcBef>
            </a:pPr>
            <a:r>
              <a:rPr lang="en-US" altLang="en-US" dirty="0"/>
              <a:t>The consumer’s indifference curves over the bundle of contractual terms are drawn as solid lines (the darker one for the high type and lighter for the low type); the monopolist’s </a:t>
            </a:r>
            <a:r>
              <a:rPr lang="en-US" altLang="en-US" dirty="0" err="1"/>
              <a:t>isoprofits</a:t>
            </a:r>
            <a:r>
              <a:rPr lang="en-US" altLang="en-US" dirty="0"/>
              <a:t> are drawn as dashed lines. Point A is the first-best contract option offered to the high type, and point B is that offered to the low type.</a:t>
            </a:r>
          </a:p>
          <a:p>
            <a:pPr>
              <a:spcBef>
                <a:spcPct val="0"/>
              </a:spcBef>
            </a:pPr>
            <a:endParaRPr lang="en-US" altLang="en-US" dirty="0" smtClean="0"/>
          </a:p>
        </p:txBody>
      </p:sp>
      <p:sp>
        <p:nvSpPr>
          <p:cNvPr id="60421"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5E18F0E9-BFDF-4C7F-97BB-8AEDB578F5D2}" type="slidenum">
              <a:rPr lang="en-US" smtClean="0"/>
              <a:pPr>
                <a:defRPr/>
              </a:pPr>
              <a:t>47</a:t>
            </a:fld>
            <a:endParaRPr lang="en-US" dirty="0"/>
          </a:p>
        </p:txBody>
      </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1" y="990600"/>
            <a:ext cx="5105400" cy="5147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1416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wipe(left)">
                                      <p:cBhvr>
                                        <p:cTn id="7" dur="500"/>
                                        <p:tgtEl>
                                          <p:spTgt spid="3993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0419">
                                            <p:txEl>
                                              <p:pRg st="0" end="0"/>
                                            </p:txEl>
                                          </p:spTgt>
                                        </p:tgtEl>
                                        <p:attrNameLst>
                                          <p:attrName>style.visibility</p:attrName>
                                        </p:attrNameLst>
                                      </p:cBhvr>
                                      <p:to>
                                        <p:strVal val="visible"/>
                                      </p:to>
                                    </p:set>
                                    <p:animEffect transition="in" filter="wipe(left)">
                                      <p:cBhvr>
                                        <p:cTn id="11" dur="500"/>
                                        <p:tgtEl>
                                          <p:spTgt spid="604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en-US" smtClean="0"/>
              <a:t>Second-Best Nonlinear Pricing</a:t>
            </a:r>
          </a:p>
        </p:txBody>
      </p:sp>
      <p:sp>
        <p:nvSpPr>
          <p:cNvPr id="61443" name="Rectangle 3"/>
          <p:cNvSpPr>
            <a:spLocks noGrp="1" noChangeArrowheads="1"/>
          </p:cNvSpPr>
          <p:nvPr>
            <p:ph idx="1"/>
          </p:nvPr>
        </p:nvSpPr>
        <p:spPr/>
        <p:txBody>
          <a:bodyPr/>
          <a:lstStyle/>
          <a:p>
            <a:r>
              <a:rPr lang="en-US" altLang="en-US" smtClean="0"/>
              <a:t>The monopolist cannot observe the consumer’s type</a:t>
            </a:r>
            <a:endParaRPr lang="en-US" altLang="en-US" smtClean="0">
              <a:sym typeface="Symbol" pitchFamily="18" charset="2"/>
            </a:endParaRPr>
          </a:p>
          <a:p>
            <a:pPr lvl="1"/>
            <a:r>
              <a:rPr lang="en-US" altLang="en-US" smtClean="0">
                <a:sym typeface="Symbol" pitchFamily="18" charset="2"/>
              </a:rPr>
              <a:t>Knows the distribution</a:t>
            </a:r>
          </a:p>
          <a:p>
            <a:pPr lvl="1"/>
            <a:r>
              <a:rPr lang="en-US" altLang="en-US" smtClean="0">
                <a:sym typeface="Symbol" pitchFamily="18" charset="2"/>
              </a:rPr>
              <a:t>Choosing </a:t>
            </a:r>
            <a:r>
              <a:rPr lang="en-US" altLang="en-US" i="1" smtClean="0">
                <a:sym typeface="Symbol" pitchFamily="18" charset="2"/>
              </a:rPr>
              <a:t>A</a:t>
            </a:r>
            <a:r>
              <a:rPr lang="en-US" altLang="en-US" smtClean="0">
                <a:sym typeface="Symbol" pitchFamily="18" charset="2"/>
              </a:rPr>
              <a:t> is no longer incentive compatible for the high type</a:t>
            </a:r>
          </a:p>
          <a:p>
            <a:pPr lvl="1"/>
            <a:r>
              <a:rPr lang="en-US" altLang="en-US" smtClean="0">
                <a:sym typeface="Symbol" pitchFamily="18" charset="2"/>
              </a:rPr>
              <a:t>The monopolist must reduce the high-type’s tariff, offering </a:t>
            </a:r>
            <a:r>
              <a:rPr lang="en-US" altLang="en-US" i="1" smtClean="0">
                <a:sym typeface="Symbol" pitchFamily="18" charset="2"/>
              </a:rPr>
              <a:t>C</a:t>
            </a:r>
            <a:r>
              <a:rPr lang="en-US" altLang="en-US" smtClean="0">
                <a:sym typeface="Symbol" pitchFamily="18" charset="2"/>
              </a:rPr>
              <a:t> instead of </a:t>
            </a:r>
            <a:r>
              <a:rPr lang="en-US" altLang="en-US" i="1" smtClean="0">
                <a:sym typeface="Symbol" pitchFamily="18" charset="2"/>
              </a:rPr>
              <a:t>A</a:t>
            </a:r>
            <a:r>
              <a:rPr lang="en-US" altLang="en-US" smtClean="0">
                <a:sym typeface="Symbol" pitchFamily="18" charset="2"/>
              </a:rPr>
              <a:t>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5113D61-9E80-4248-A8DA-600B9D8BAB7D}" type="slidenum">
              <a:rPr lang="en-US" smtClean="0"/>
              <a:pPr>
                <a:defRPr/>
              </a:pPr>
              <a:t>48</a:t>
            </a:fld>
            <a:endParaRPr lang="en-US"/>
          </a:p>
        </p:txBody>
      </p:sp>
    </p:spTree>
    <p:extLst>
      <p:ext uri="{BB962C8B-B14F-4D97-AF65-F5344CB8AC3E}">
        <p14:creationId xmlns:p14="http://schemas.microsoft.com/office/powerpoint/2010/main" val="25454865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18.5	First Best Not Incentive </a:t>
            </a:r>
            <a:r>
              <a:rPr lang="en-US" altLang="en-US" dirty="0" smtClean="0"/>
              <a:t>Compatible</a:t>
            </a:r>
          </a:p>
        </p:txBody>
      </p:sp>
      <p:sp>
        <p:nvSpPr>
          <p:cNvPr id="62467" name="Text Placeholder 2"/>
          <p:cNvSpPr>
            <a:spLocks noGrp="1"/>
          </p:cNvSpPr>
          <p:nvPr>
            <p:ph sz="half" idx="1"/>
          </p:nvPr>
        </p:nvSpPr>
        <p:spPr>
          <a:xfrm>
            <a:off x="6019800" y="1600200"/>
            <a:ext cx="2971800" cy="4525963"/>
          </a:xfrm>
        </p:spPr>
        <p:txBody>
          <a:bodyPr>
            <a:normAutofit/>
          </a:bodyPr>
          <a:lstStyle/>
          <a:p>
            <a:pPr>
              <a:spcBef>
                <a:spcPct val="0"/>
              </a:spcBef>
            </a:pPr>
            <a:r>
              <a:rPr lang="en-US" altLang="en-US" dirty="0"/>
              <a:t>The first-best contract, involving points A and B, is not incentive compatible if the consumer has private information about his type. The high type can reach a higher indifference curve by choosing the bundle (B) that is targeted at the low type. To keep him from choosing B, the monopolist must reduce the high type’s tariff by replacing bundle A with C.</a:t>
            </a:r>
          </a:p>
          <a:p>
            <a:pPr>
              <a:spcBef>
                <a:spcPct val="0"/>
              </a:spcBef>
            </a:pPr>
            <a:endParaRPr lang="en-US" altLang="en-US" dirty="0" smtClean="0"/>
          </a:p>
        </p:txBody>
      </p:sp>
      <p:sp>
        <p:nvSpPr>
          <p:cNvPr id="62469"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88A82F3D-D55C-4A3B-8EF5-3033A381BD3A}" type="slidenum">
              <a:rPr lang="en-US" smtClean="0"/>
              <a:pPr>
                <a:defRPr/>
              </a:pPr>
              <a:t>49</a:t>
            </a:fld>
            <a:endParaRPr lang="en-US" dirty="0"/>
          </a:p>
        </p:txBody>
      </p:sp>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90601"/>
            <a:ext cx="5257800" cy="5365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07584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wipe(left)">
                                      <p:cBhvr>
                                        <p:cTn id="7" dur="500"/>
                                        <p:tgtEl>
                                          <p:spTgt spid="4096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2467">
                                            <p:txEl>
                                              <p:pRg st="0" end="0"/>
                                            </p:txEl>
                                          </p:spTgt>
                                        </p:tgtEl>
                                        <p:attrNameLst>
                                          <p:attrName>style.visibility</p:attrName>
                                        </p:attrNameLst>
                                      </p:cBhvr>
                                      <p:to>
                                        <p:strVal val="visible"/>
                                      </p:to>
                                    </p:set>
                                    <p:animEffect transition="in" filter="wipe(left)">
                                      <p:cBhvr>
                                        <p:cTn id="11" dur="500"/>
                                        <p:tgtEl>
                                          <p:spTgt spid="6246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en-US" smtClean="0"/>
              <a:t>Second-Best Nonlinear Pricing</a:t>
            </a:r>
          </a:p>
        </p:txBody>
      </p:sp>
      <p:sp>
        <p:nvSpPr>
          <p:cNvPr id="61443" name="Rectangle 3"/>
          <p:cNvSpPr>
            <a:spLocks noGrp="1" noChangeArrowheads="1"/>
          </p:cNvSpPr>
          <p:nvPr>
            <p:ph idx="1"/>
          </p:nvPr>
        </p:nvSpPr>
        <p:spPr/>
        <p:txBody>
          <a:bodyPr/>
          <a:lstStyle/>
          <a:p>
            <a:r>
              <a:rPr lang="en-US" altLang="en-US" dirty="0"/>
              <a:t>The second-best </a:t>
            </a:r>
            <a:r>
              <a:rPr lang="en-US" altLang="en-US" dirty="0" smtClean="0"/>
              <a:t>contract</a:t>
            </a:r>
          </a:p>
          <a:p>
            <a:pPr lvl="1"/>
            <a:r>
              <a:rPr lang="en-US" altLang="en-US" dirty="0" smtClean="0"/>
              <a:t>Menu </a:t>
            </a:r>
            <a:r>
              <a:rPr lang="en-US" altLang="en-US" dirty="0"/>
              <a:t>that targets bundle (</a:t>
            </a:r>
            <a:r>
              <a:rPr lang="en-US" altLang="en-US" dirty="0" err="1"/>
              <a:t>q</a:t>
            </a:r>
            <a:r>
              <a:rPr lang="en-US" altLang="en-US" baseline="-25000" dirty="0" err="1"/>
              <a:t>H</a:t>
            </a:r>
            <a:r>
              <a:rPr lang="en-US" altLang="en-US" dirty="0"/>
              <a:t>, T</a:t>
            </a:r>
            <a:r>
              <a:rPr lang="en-US" altLang="en-US" baseline="-25000" dirty="0"/>
              <a:t>H</a:t>
            </a:r>
            <a:r>
              <a:rPr lang="en-US" altLang="en-US" dirty="0"/>
              <a:t>) at the high type </a:t>
            </a:r>
            <a:r>
              <a:rPr lang="en-US" altLang="en-US" dirty="0" smtClean="0"/>
              <a:t>and (</a:t>
            </a:r>
            <a:r>
              <a:rPr lang="en-US" altLang="en-US" dirty="0" err="1"/>
              <a:t>q</a:t>
            </a:r>
            <a:r>
              <a:rPr lang="en-US" altLang="en-US" baseline="-25000" dirty="0" err="1"/>
              <a:t>L</a:t>
            </a:r>
            <a:r>
              <a:rPr lang="en-US" altLang="en-US" dirty="0"/>
              <a:t>, T</a:t>
            </a:r>
            <a:r>
              <a:rPr lang="en-US" altLang="en-US" baseline="-25000" dirty="0"/>
              <a:t>L</a:t>
            </a:r>
            <a:r>
              <a:rPr lang="en-US" altLang="en-US" dirty="0"/>
              <a:t>) at the low </a:t>
            </a:r>
            <a:r>
              <a:rPr lang="en-US" altLang="en-US" dirty="0" smtClean="0"/>
              <a:t>type</a:t>
            </a:r>
          </a:p>
          <a:p>
            <a:pPr lvl="1"/>
            <a:r>
              <a:rPr lang="en-US" altLang="en-US" dirty="0" smtClean="0">
                <a:sym typeface="Symbol" pitchFamily="18" charset="2"/>
              </a:rPr>
              <a:t>Maximizes </a:t>
            </a:r>
            <a:r>
              <a:rPr lang="en-US" altLang="en-US" dirty="0">
                <a:sym typeface="Symbol" pitchFamily="18" charset="2"/>
              </a:rPr>
              <a:t>the monopolist’s expected </a:t>
            </a:r>
            <a:r>
              <a:rPr lang="en-US" altLang="en-US" dirty="0" smtClean="0">
                <a:sym typeface="Symbol" pitchFamily="18" charset="2"/>
              </a:rPr>
              <a:t>profit:</a:t>
            </a:r>
            <a:endParaRPr lang="en-US" altLang="en-US" dirty="0">
              <a:sym typeface="Symbol" pitchFamily="18" charset="2"/>
            </a:endParaRPr>
          </a:p>
          <a:p>
            <a:pPr marL="457200" lvl="1" indent="0">
              <a:buNone/>
            </a:pPr>
            <a:r>
              <a:rPr lang="en-US" altLang="en-US" dirty="0" smtClean="0">
                <a:sym typeface="Symbol" pitchFamily="18" charset="2"/>
              </a:rPr>
              <a:t>	 </a:t>
            </a:r>
            <a:r>
              <a:rPr lang="el-GR" altLang="en-US" i="1" dirty="0" smtClean="0">
                <a:solidFill>
                  <a:srgbClr val="C00000"/>
                </a:solidFill>
                <a:latin typeface="Times New Roman" panose="02020603050405020304" pitchFamily="18" charset="0"/>
                <a:cs typeface="Times New Roman" panose="02020603050405020304" pitchFamily="18" charset="0"/>
                <a:sym typeface="Symbol" pitchFamily="18" charset="2"/>
              </a:rPr>
              <a:t>β</a:t>
            </a:r>
            <a:r>
              <a:rPr lang="en-US" altLang="en-US" i="1" dirty="0" smtClean="0">
                <a:solidFill>
                  <a:srgbClr val="C00000"/>
                </a:solidFill>
                <a:latin typeface="Times New Roman" panose="02020603050405020304" pitchFamily="18" charset="0"/>
                <a:cs typeface="Times New Roman" panose="02020603050405020304" pitchFamily="18" charset="0"/>
                <a:sym typeface="Symbol" pitchFamily="18" charset="2"/>
              </a:rPr>
              <a:t>(T</a:t>
            </a:r>
            <a:r>
              <a:rPr lang="en-US" altLang="en-US" i="1" baseline="-25000" dirty="0" smtClean="0">
                <a:solidFill>
                  <a:srgbClr val="C00000"/>
                </a:solidFill>
                <a:latin typeface="Times New Roman" panose="02020603050405020304" pitchFamily="18" charset="0"/>
                <a:cs typeface="Times New Roman" panose="02020603050405020304" pitchFamily="18" charset="0"/>
                <a:sym typeface="Symbol" pitchFamily="18" charset="2"/>
              </a:rPr>
              <a:t>H</a:t>
            </a:r>
            <a:r>
              <a:rPr lang="en-US" altLang="en-US" i="1" dirty="0" smtClean="0">
                <a:solidFill>
                  <a:srgbClr val="C00000"/>
                </a:solidFill>
                <a:latin typeface="Times New Roman" panose="02020603050405020304" pitchFamily="18" charset="0"/>
                <a:cs typeface="Times New Roman" panose="02020603050405020304" pitchFamily="18" charset="0"/>
                <a:sym typeface="Symbol" pitchFamily="18" charset="2"/>
              </a:rPr>
              <a:t> – </a:t>
            </a:r>
            <a:r>
              <a:rPr lang="en-US" altLang="en-US" i="1" dirty="0" err="1" smtClean="0">
                <a:solidFill>
                  <a:srgbClr val="C00000"/>
                </a:solidFill>
                <a:latin typeface="Times New Roman" panose="02020603050405020304" pitchFamily="18" charset="0"/>
                <a:cs typeface="Times New Roman" panose="02020603050405020304" pitchFamily="18" charset="0"/>
                <a:sym typeface="Symbol" pitchFamily="18" charset="2"/>
              </a:rPr>
              <a:t>cq</a:t>
            </a:r>
            <a:r>
              <a:rPr lang="en-US" altLang="en-US" i="1" baseline="-25000" dirty="0" err="1" smtClean="0">
                <a:solidFill>
                  <a:srgbClr val="C00000"/>
                </a:solidFill>
                <a:latin typeface="Times New Roman" panose="02020603050405020304" pitchFamily="18" charset="0"/>
                <a:cs typeface="Times New Roman" panose="02020603050405020304" pitchFamily="18" charset="0"/>
                <a:sym typeface="Symbol" pitchFamily="18" charset="2"/>
              </a:rPr>
              <a:t>H</a:t>
            </a:r>
            <a:r>
              <a:rPr lang="en-US" altLang="en-US" i="1" dirty="0" smtClean="0">
                <a:solidFill>
                  <a:srgbClr val="C00000"/>
                </a:solidFill>
                <a:latin typeface="Times New Roman" panose="02020603050405020304" pitchFamily="18" charset="0"/>
                <a:cs typeface="Times New Roman" panose="02020603050405020304" pitchFamily="18" charset="0"/>
                <a:sym typeface="Symbol" pitchFamily="18" charset="2"/>
              </a:rPr>
              <a:t>) = (1 – </a:t>
            </a:r>
            <a:r>
              <a:rPr lang="el-GR" altLang="en-US" i="1" dirty="0" smtClean="0">
                <a:solidFill>
                  <a:srgbClr val="C00000"/>
                </a:solidFill>
                <a:latin typeface="Times New Roman" panose="02020603050405020304" pitchFamily="18" charset="0"/>
                <a:cs typeface="Times New Roman" panose="02020603050405020304" pitchFamily="18" charset="0"/>
                <a:sym typeface="Symbol" pitchFamily="18" charset="2"/>
              </a:rPr>
              <a:t>β</a:t>
            </a:r>
            <a:r>
              <a:rPr lang="en-US" altLang="en-US" i="1" dirty="0" smtClean="0">
                <a:solidFill>
                  <a:srgbClr val="C00000"/>
                </a:solidFill>
                <a:latin typeface="Times New Roman" panose="02020603050405020304" pitchFamily="18" charset="0"/>
                <a:cs typeface="Times New Roman" panose="02020603050405020304" pitchFamily="18" charset="0"/>
                <a:sym typeface="Symbol" pitchFamily="18" charset="2"/>
              </a:rPr>
              <a:t>)(T</a:t>
            </a:r>
            <a:r>
              <a:rPr lang="en-US" altLang="en-US" i="1" baseline="-25000" dirty="0" smtClean="0">
                <a:solidFill>
                  <a:srgbClr val="C00000"/>
                </a:solidFill>
                <a:latin typeface="Times New Roman" panose="02020603050405020304" pitchFamily="18" charset="0"/>
                <a:cs typeface="Times New Roman" panose="02020603050405020304" pitchFamily="18" charset="0"/>
                <a:sym typeface="Symbol" pitchFamily="18" charset="2"/>
              </a:rPr>
              <a:t>L</a:t>
            </a:r>
            <a:r>
              <a:rPr lang="en-US" altLang="en-US" i="1" dirty="0" smtClean="0">
                <a:solidFill>
                  <a:srgbClr val="C00000"/>
                </a:solidFill>
                <a:latin typeface="Times New Roman" panose="02020603050405020304" pitchFamily="18" charset="0"/>
                <a:cs typeface="Times New Roman" panose="02020603050405020304" pitchFamily="18" charset="0"/>
                <a:sym typeface="Symbol" pitchFamily="18" charset="2"/>
              </a:rPr>
              <a:t> – </a:t>
            </a:r>
            <a:r>
              <a:rPr lang="en-US" altLang="en-US" i="1" dirty="0" err="1" smtClean="0">
                <a:solidFill>
                  <a:srgbClr val="C00000"/>
                </a:solidFill>
                <a:latin typeface="Times New Roman" panose="02020603050405020304" pitchFamily="18" charset="0"/>
                <a:cs typeface="Times New Roman" panose="02020603050405020304" pitchFamily="18" charset="0"/>
                <a:sym typeface="Symbol" pitchFamily="18" charset="2"/>
              </a:rPr>
              <a:t>cq</a:t>
            </a:r>
            <a:r>
              <a:rPr lang="en-US" altLang="en-US" i="1" baseline="-25000" dirty="0" err="1" smtClean="0">
                <a:solidFill>
                  <a:srgbClr val="C00000"/>
                </a:solidFill>
                <a:latin typeface="Times New Roman" panose="02020603050405020304" pitchFamily="18" charset="0"/>
                <a:cs typeface="Times New Roman" panose="02020603050405020304" pitchFamily="18" charset="0"/>
                <a:sym typeface="Symbol" pitchFamily="18" charset="2"/>
              </a:rPr>
              <a:t>L</a:t>
            </a:r>
            <a:r>
              <a:rPr lang="en-US" altLang="en-US" i="1" dirty="0" smtClean="0">
                <a:solidFill>
                  <a:srgbClr val="C00000"/>
                </a:solidFill>
                <a:latin typeface="Times New Roman" panose="02020603050405020304" pitchFamily="18" charset="0"/>
                <a:cs typeface="Times New Roman" panose="02020603050405020304" pitchFamily="18" charset="0"/>
                <a:sym typeface="Symbol" pitchFamily="18" charset="2"/>
              </a:rPr>
              <a:t>)</a:t>
            </a:r>
          </a:p>
          <a:p>
            <a:pPr lvl="1"/>
            <a:r>
              <a:rPr lang="en-US" altLang="en-US" dirty="0" smtClean="0">
                <a:sym typeface="Symbol" pitchFamily="18" charset="2"/>
              </a:rPr>
              <a:t>Subject to four constraints</a:t>
            </a:r>
          </a:p>
          <a:p>
            <a:pPr marL="457200" lvl="1" indent="0" algn="ctr">
              <a:buNone/>
            </a:pPr>
            <a:r>
              <a:rPr lang="en-US" altLang="en-US" sz="2800" i="1" dirty="0" err="1" smtClean="0">
                <a:solidFill>
                  <a:srgbClr val="C00000"/>
                </a:solidFill>
                <a:latin typeface="Times New Roman" panose="02020603050405020304" pitchFamily="18" charset="0"/>
                <a:cs typeface="Times New Roman" panose="02020603050405020304" pitchFamily="18" charset="0"/>
                <a:sym typeface="Symbol" pitchFamily="18" charset="2"/>
              </a:rPr>
              <a:t>θ</a:t>
            </a:r>
            <a:r>
              <a:rPr lang="en-US" altLang="en-US" sz="2800" i="1" baseline="-25000" dirty="0" err="1" smtClean="0">
                <a:solidFill>
                  <a:srgbClr val="C00000"/>
                </a:solidFill>
                <a:latin typeface="Times New Roman" panose="02020603050405020304" pitchFamily="18" charset="0"/>
                <a:cs typeface="Times New Roman" panose="02020603050405020304" pitchFamily="18" charset="0"/>
                <a:sym typeface="Symbol" pitchFamily="18" charset="2"/>
              </a:rPr>
              <a:t>L</a:t>
            </a:r>
            <a:r>
              <a:rPr lang="el-GR"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ν</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a:t>
            </a:r>
            <a:r>
              <a:rPr lang="en-US" altLang="en-US" sz="2800" i="1" dirty="0" err="1" smtClean="0">
                <a:solidFill>
                  <a:srgbClr val="C00000"/>
                </a:solidFill>
                <a:latin typeface="Times New Roman" panose="02020603050405020304" pitchFamily="18" charset="0"/>
                <a:cs typeface="Times New Roman" panose="02020603050405020304" pitchFamily="18" charset="0"/>
                <a:sym typeface="Symbol" pitchFamily="18" charset="2"/>
              </a:rPr>
              <a:t>q</a:t>
            </a:r>
            <a:r>
              <a:rPr lang="en-US" altLang="en-US" sz="2800" i="1" baseline="-25000" dirty="0" err="1" smtClean="0">
                <a:solidFill>
                  <a:srgbClr val="C00000"/>
                </a:solidFill>
                <a:latin typeface="Times New Roman" panose="02020603050405020304" pitchFamily="18" charset="0"/>
                <a:cs typeface="Times New Roman" panose="02020603050405020304" pitchFamily="18" charset="0"/>
                <a:sym typeface="Symbol" pitchFamily="18" charset="2"/>
              </a:rPr>
              <a:t>L</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 – T</a:t>
            </a:r>
            <a:r>
              <a:rPr lang="en-US" altLang="en-US" sz="2800" i="1" baseline="-25000" dirty="0" smtClean="0">
                <a:solidFill>
                  <a:srgbClr val="C00000"/>
                </a:solidFill>
                <a:latin typeface="Times New Roman" panose="02020603050405020304" pitchFamily="18" charset="0"/>
                <a:cs typeface="Times New Roman" panose="02020603050405020304" pitchFamily="18" charset="0"/>
                <a:sym typeface="Symbol" pitchFamily="18" charset="2"/>
              </a:rPr>
              <a:t>L</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 ≥ 0,                 </a:t>
            </a:r>
            <a:r>
              <a:rPr lang="en-US" altLang="en-US" sz="2800" i="1" dirty="0" err="1" smtClean="0">
                <a:solidFill>
                  <a:srgbClr val="C00000"/>
                </a:solidFill>
                <a:latin typeface="Times New Roman" panose="02020603050405020304" pitchFamily="18" charset="0"/>
                <a:cs typeface="Times New Roman" panose="02020603050405020304" pitchFamily="18" charset="0"/>
                <a:sym typeface="Symbol" pitchFamily="18" charset="2"/>
              </a:rPr>
              <a:t>θ</a:t>
            </a:r>
            <a:r>
              <a:rPr lang="en-US" altLang="en-US" sz="2800" i="1" baseline="-25000" dirty="0" err="1" smtClean="0">
                <a:solidFill>
                  <a:srgbClr val="C00000"/>
                </a:solidFill>
                <a:latin typeface="Times New Roman" panose="02020603050405020304" pitchFamily="18" charset="0"/>
                <a:cs typeface="Times New Roman" panose="02020603050405020304" pitchFamily="18" charset="0"/>
                <a:sym typeface="Symbol" pitchFamily="18" charset="2"/>
              </a:rPr>
              <a:t>H</a:t>
            </a:r>
            <a:r>
              <a:rPr lang="el-GR"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ν</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a:t>
            </a:r>
            <a:r>
              <a:rPr lang="en-US" altLang="en-US" sz="2800" i="1" dirty="0" err="1" smtClean="0">
                <a:solidFill>
                  <a:srgbClr val="C00000"/>
                </a:solidFill>
                <a:latin typeface="Times New Roman" panose="02020603050405020304" pitchFamily="18" charset="0"/>
                <a:cs typeface="Times New Roman" panose="02020603050405020304" pitchFamily="18" charset="0"/>
                <a:sym typeface="Symbol" pitchFamily="18" charset="2"/>
              </a:rPr>
              <a:t>q</a:t>
            </a:r>
            <a:r>
              <a:rPr lang="en-US" altLang="en-US" sz="2800" i="1" baseline="-25000" dirty="0" err="1" smtClean="0">
                <a:solidFill>
                  <a:srgbClr val="C00000"/>
                </a:solidFill>
                <a:latin typeface="Times New Roman" panose="02020603050405020304" pitchFamily="18" charset="0"/>
                <a:cs typeface="Times New Roman" panose="02020603050405020304" pitchFamily="18" charset="0"/>
                <a:sym typeface="Symbol" pitchFamily="18" charset="2"/>
              </a:rPr>
              <a:t>H</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T</a:t>
            </a:r>
            <a:r>
              <a:rPr lang="en-US" altLang="en-US" sz="2800" i="1" baseline="-25000" dirty="0" smtClean="0">
                <a:solidFill>
                  <a:srgbClr val="C00000"/>
                </a:solidFill>
                <a:latin typeface="Times New Roman" panose="02020603050405020304" pitchFamily="18" charset="0"/>
                <a:cs typeface="Times New Roman" panose="02020603050405020304" pitchFamily="18" charset="0"/>
                <a:sym typeface="Symbol" pitchFamily="18" charset="2"/>
              </a:rPr>
              <a:t>H</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0</a:t>
            </a:r>
          </a:p>
          <a:p>
            <a:pPr marL="457200" lvl="1" indent="0" algn="ctr">
              <a:buNone/>
            </a:pPr>
            <a:r>
              <a:rPr lang="en-US" altLang="en-US" sz="2800" i="1" dirty="0" err="1">
                <a:solidFill>
                  <a:srgbClr val="C00000"/>
                </a:solidFill>
                <a:latin typeface="Times New Roman" panose="02020603050405020304" pitchFamily="18" charset="0"/>
                <a:cs typeface="Times New Roman" panose="02020603050405020304" pitchFamily="18" charset="0"/>
                <a:sym typeface="Symbol" pitchFamily="18" charset="2"/>
              </a:rPr>
              <a:t>θ</a:t>
            </a:r>
            <a:r>
              <a:rPr lang="en-US" altLang="en-US" sz="2800" i="1" baseline="-25000" dirty="0" err="1">
                <a:solidFill>
                  <a:srgbClr val="C00000"/>
                </a:solidFill>
                <a:latin typeface="Times New Roman" panose="02020603050405020304" pitchFamily="18" charset="0"/>
                <a:cs typeface="Times New Roman" panose="02020603050405020304" pitchFamily="18" charset="0"/>
                <a:sym typeface="Symbol" pitchFamily="18" charset="2"/>
              </a:rPr>
              <a:t>L</a:t>
            </a:r>
            <a:r>
              <a:rPr lang="el-GR"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ν</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a:t>
            </a:r>
            <a:r>
              <a:rPr lang="en-US" altLang="en-US" sz="2800" i="1" dirty="0" err="1">
                <a:solidFill>
                  <a:srgbClr val="C00000"/>
                </a:solidFill>
                <a:latin typeface="Times New Roman" panose="02020603050405020304" pitchFamily="18" charset="0"/>
                <a:cs typeface="Times New Roman" panose="02020603050405020304" pitchFamily="18" charset="0"/>
                <a:sym typeface="Symbol" pitchFamily="18" charset="2"/>
              </a:rPr>
              <a:t>q</a:t>
            </a:r>
            <a:r>
              <a:rPr lang="en-US" altLang="en-US" sz="2800" i="1" baseline="-25000" dirty="0" err="1">
                <a:solidFill>
                  <a:srgbClr val="C00000"/>
                </a:solidFill>
                <a:latin typeface="Times New Roman" panose="02020603050405020304" pitchFamily="18" charset="0"/>
                <a:cs typeface="Times New Roman" panose="02020603050405020304" pitchFamily="18" charset="0"/>
                <a:sym typeface="Symbol" pitchFamily="18" charset="2"/>
              </a:rPr>
              <a:t>L</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 – T</a:t>
            </a:r>
            <a:r>
              <a:rPr lang="en-US" altLang="en-US" sz="2800" i="1" baseline="-25000" dirty="0">
                <a:solidFill>
                  <a:srgbClr val="C00000"/>
                </a:solidFill>
                <a:latin typeface="Times New Roman" panose="02020603050405020304" pitchFamily="18" charset="0"/>
                <a:cs typeface="Times New Roman" panose="02020603050405020304" pitchFamily="18" charset="0"/>
                <a:sym typeface="Symbol" pitchFamily="18" charset="2"/>
              </a:rPr>
              <a:t>L</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 ≥ </a:t>
            </a:r>
            <a:r>
              <a:rPr lang="en-US" altLang="en-US" sz="2800" i="1" dirty="0" err="1">
                <a:solidFill>
                  <a:srgbClr val="C00000"/>
                </a:solidFill>
                <a:latin typeface="Times New Roman" panose="02020603050405020304" pitchFamily="18" charset="0"/>
                <a:cs typeface="Times New Roman" panose="02020603050405020304" pitchFamily="18" charset="0"/>
                <a:sym typeface="Symbol" pitchFamily="18" charset="2"/>
              </a:rPr>
              <a:t>θ</a:t>
            </a:r>
            <a:r>
              <a:rPr lang="en-US" altLang="en-US" sz="2800" i="1" baseline="-25000" dirty="0" err="1">
                <a:solidFill>
                  <a:srgbClr val="C00000"/>
                </a:solidFill>
                <a:latin typeface="Times New Roman" panose="02020603050405020304" pitchFamily="18" charset="0"/>
                <a:cs typeface="Times New Roman" panose="02020603050405020304" pitchFamily="18" charset="0"/>
                <a:sym typeface="Symbol" pitchFamily="18" charset="2"/>
              </a:rPr>
              <a:t>L</a:t>
            </a:r>
            <a:r>
              <a:rPr lang="el-GR"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ν</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a:t>
            </a:r>
            <a:r>
              <a:rPr lang="en-US" altLang="en-US" sz="2800" i="1" dirty="0" err="1" smtClean="0">
                <a:solidFill>
                  <a:srgbClr val="C00000"/>
                </a:solidFill>
                <a:latin typeface="Times New Roman" panose="02020603050405020304" pitchFamily="18" charset="0"/>
                <a:cs typeface="Times New Roman" panose="02020603050405020304" pitchFamily="18" charset="0"/>
                <a:sym typeface="Symbol" pitchFamily="18" charset="2"/>
              </a:rPr>
              <a:t>q</a:t>
            </a:r>
            <a:r>
              <a:rPr lang="en-US" altLang="en-US" sz="2800" i="1" baseline="-25000" dirty="0" err="1" smtClean="0">
                <a:solidFill>
                  <a:srgbClr val="C00000"/>
                </a:solidFill>
                <a:latin typeface="Times New Roman" panose="02020603050405020304" pitchFamily="18" charset="0"/>
                <a:cs typeface="Times New Roman" panose="02020603050405020304" pitchFamily="18" charset="0"/>
                <a:sym typeface="Symbol" pitchFamily="18" charset="2"/>
              </a:rPr>
              <a:t>H</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T</a:t>
            </a:r>
            <a:r>
              <a:rPr lang="en-US" altLang="en-US" sz="2800" i="1" baseline="-25000" dirty="0" smtClean="0">
                <a:solidFill>
                  <a:srgbClr val="C00000"/>
                </a:solidFill>
                <a:latin typeface="Times New Roman" panose="02020603050405020304" pitchFamily="18" charset="0"/>
                <a:cs typeface="Times New Roman" panose="02020603050405020304" pitchFamily="18" charset="0"/>
                <a:sym typeface="Symbol" pitchFamily="18" charset="2"/>
              </a:rPr>
              <a:t>H</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 </a:t>
            </a:r>
          </a:p>
          <a:p>
            <a:pPr marL="457200" lvl="1" indent="0" algn="ctr">
              <a:buNone/>
            </a:pPr>
            <a:r>
              <a:rPr lang="en-US" altLang="en-US" sz="2800" i="1" dirty="0" err="1">
                <a:solidFill>
                  <a:srgbClr val="C00000"/>
                </a:solidFill>
                <a:latin typeface="Times New Roman" panose="02020603050405020304" pitchFamily="18" charset="0"/>
                <a:cs typeface="Times New Roman" panose="02020603050405020304" pitchFamily="18" charset="0"/>
                <a:sym typeface="Symbol" pitchFamily="18" charset="2"/>
              </a:rPr>
              <a:t>θ</a:t>
            </a:r>
            <a:r>
              <a:rPr lang="en-US" altLang="en-US" sz="2800" i="1" baseline="-25000" dirty="0" err="1">
                <a:solidFill>
                  <a:srgbClr val="C00000"/>
                </a:solidFill>
                <a:latin typeface="Times New Roman" panose="02020603050405020304" pitchFamily="18" charset="0"/>
                <a:cs typeface="Times New Roman" panose="02020603050405020304" pitchFamily="18" charset="0"/>
                <a:sym typeface="Symbol" pitchFamily="18" charset="2"/>
              </a:rPr>
              <a:t>H</a:t>
            </a:r>
            <a:r>
              <a:rPr lang="el-GR"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ν</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a:t>
            </a:r>
            <a:r>
              <a:rPr lang="en-US" altLang="en-US" sz="2800" i="1" dirty="0" err="1">
                <a:solidFill>
                  <a:srgbClr val="C00000"/>
                </a:solidFill>
                <a:latin typeface="Times New Roman" panose="02020603050405020304" pitchFamily="18" charset="0"/>
                <a:cs typeface="Times New Roman" panose="02020603050405020304" pitchFamily="18" charset="0"/>
                <a:sym typeface="Symbol" pitchFamily="18" charset="2"/>
              </a:rPr>
              <a:t>q</a:t>
            </a:r>
            <a:r>
              <a:rPr lang="en-US" altLang="en-US" sz="2800" i="1" baseline="-25000" dirty="0" err="1">
                <a:solidFill>
                  <a:srgbClr val="C00000"/>
                </a:solidFill>
                <a:latin typeface="Times New Roman" panose="02020603050405020304" pitchFamily="18" charset="0"/>
                <a:cs typeface="Times New Roman" panose="02020603050405020304" pitchFamily="18" charset="0"/>
                <a:sym typeface="Symbol" pitchFamily="18" charset="2"/>
              </a:rPr>
              <a:t>H</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 – T</a:t>
            </a:r>
            <a:r>
              <a:rPr lang="en-US" altLang="en-US" sz="2800" i="1" baseline="-25000" dirty="0">
                <a:solidFill>
                  <a:srgbClr val="C00000"/>
                </a:solidFill>
                <a:latin typeface="Times New Roman" panose="02020603050405020304" pitchFamily="18" charset="0"/>
                <a:cs typeface="Times New Roman" panose="02020603050405020304" pitchFamily="18" charset="0"/>
                <a:sym typeface="Symbol" pitchFamily="18" charset="2"/>
              </a:rPr>
              <a:t>H</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err="1">
                <a:solidFill>
                  <a:srgbClr val="C00000"/>
                </a:solidFill>
                <a:latin typeface="Times New Roman" panose="02020603050405020304" pitchFamily="18" charset="0"/>
                <a:cs typeface="Times New Roman" panose="02020603050405020304" pitchFamily="18" charset="0"/>
                <a:sym typeface="Symbol" pitchFamily="18" charset="2"/>
              </a:rPr>
              <a:t>θ</a:t>
            </a:r>
            <a:r>
              <a:rPr lang="en-US" altLang="en-US" sz="2800" i="1" baseline="-25000" dirty="0" err="1">
                <a:solidFill>
                  <a:srgbClr val="C00000"/>
                </a:solidFill>
                <a:latin typeface="Times New Roman" panose="02020603050405020304" pitchFamily="18" charset="0"/>
                <a:cs typeface="Times New Roman" panose="02020603050405020304" pitchFamily="18" charset="0"/>
                <a:sym typeface="Symbol" pitchFamily="18" charset="2"/>
              </a:rPr>
              <a:t>H</a:t>
            </a:r>
            <a:r>
              <a:rPr lang="el-GR"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ν</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a:t>
            </a:r>
            <a:r>
              <a:rPr lang="en-US" altLang="en-US" sz="2800" i="1" dirty="0" err="1" smtClean="0">
                <a:solidFill>
                  <a:srgbClr val="C00000"/>
                </a:solidFill>
                <a:latin typeface="Times New Roman" panose="02020603050405020304" pitchFamily="18" charset="0"/>
                <a:cs typeface="Times New Roman" panose="02020603050405020304" pitchFamily="18" charset="0"/>
                <a:sym typeface="Symbol" pitchFamily="18" charset="2"/>
              </a:rPr>
              <a:t>q</a:t>
            </a:r>
            <a:r>
              <a:rPr lang="en-US" altLang="en-US" sz="2800" i="1" baseline="-25000" dirty="0" err="1" smtClean="0">
                <a:solidFill>
                  <a:srgbClr val="C00000"/>
                </a:solidFill>
                <a:latin typeface="Times New Roman" panose="02020603050405020304" pitchFamily="18" charset="0"/>
                <a:cs typeface="Times New Roman" panose="02020603050405020304" pitchFamily="18" charset="0"/>
                <a:sym typeface="Symbol" pitchFamily="18" charset="2"/>
              </a:rPr>
              <a:t>L</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a:solidFill>
                  <a:srgbClr val="C00000"/>
                </a:solidFill>
                <a:latin typeface="Times New Roman" panose="02020603050405020304" pitchFamily="18" charset="0"/>
                <a:cs typeface="Times New Roman" panose="02020603050405020304" pitchFamily="18" charset="0"/>
                <a:sym typeface="Symbol" pitchFamily="18" charset="2"/>
              </a:rPr>
              <a:t>– </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T</a:t>
            </a:r>
            <a:r>
              <a:rPr lang="en-US" altLang="en-US" sz="2800" i="1" baseline="-25000" dirty="0" smtClean="0">
                <a:solidFill>
                  <a:srgbClr val="C00000"/>
                </a:solidFill>
                <a:latin typeface="Times New Roman" panose="02020603050405020304" pitchFamily="18" charset="0"/>
                <a:cs typeface="Times New Roman" panose="02020603050405020304" pitchFamily="18" charset="0"/>
                <a:sym typeface="Symbol" pitchFamily="18" charset="2"/>
              </a:rPr>
              <a:t>L</a:t>
            </a:r>
            <a:r>
              <a:rPr lang="en-US" altLang="en-US" sz="2800" i="1" dirty="0" smtClean="0">
                <a:solidFill>
                  <a:srgbClr val="C00000"/>
                </a:solidFill>
                <a:latin typeface="Times New Roman" panose="02020603050405020304" pitchFamily="18" charset="0"/>
                <a:cs typeface="Times New Roman" panose="02020603050405020304" pitchFamily="18" charset="0"/>
                <a:sym typeface="Symbol" pitchFamily="18" charset="2"/>
              </a:rPr>
              <a:t>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5113D61-9E80-4248-A8DA-600B9D8BAB7D}" type="slidenum">
              <a:rPr lang="en-US" smtClean="0"/>
              <a:pPr>
                <a:defRPr/>
              </a:pPr>
              <a:t>50</a:t>
            </a:fld>
            <a:endParaRPr lang="en-US"/>
          </a:p>
        </p:txBody>
      </p:sp>
    </p:spTree>
    <p:extLst>
      <p:ext uri="{BB962C8B-B14F-4D97-AF65-F5344CB8AC3E}">
        <p14:creationId xmlns:p14="http://schemas.microsoft.com/office/powerpoint/2010/main" val="279881149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en-US" smtClean="0"/>
              <a:t>Second-Best Nonlinear Pricing</a:t>
            </a:r>
          </a:p>
        </p:txBody>
      </p:sp>
      <mc:AlternateContent xmlns:mc="http://schemas.openxmlformats.org/markup-compatibility/2006" xmlns:a14="http://schemas.microsoft.com/office/drawing/2010/main">
        <mc:Choice Requires="a14">
          <p:sp>
            <p:nvSpPr>
              <p:cNvPr id="61443" name="Rectangle 3"/>
              <p:cNvSpPr>
                <a:spLocks noGrp="1" noChangeArrowheads="1"/>
              </p:cNvSpPr>
              <p:nvPr>
                <p:ph idx="1"/>
              </p:nvPr>
            </p:nvSpPr>
            <p:spPr/>
            <p:txBody>
              <a:bodyPr/>
              <a:lstStyle/>
              <a:p>
                <a:r>
                  <a:rPr lang="en-US" altLang="en-US" dirty="0" smtClean="0"/>
                  <a:t>Solving for T</a:t>
                </a:r>
                <a:r>
                  <a:rPr lang="en-US" altLang="en-US" baseline="-25000" dirty="0" smtClean="0"/>
                  <a:t>L</a:t>
                </a:r>
                <a:r>
                  <a:rPr lang="en-US" altLang="en-US" dirty="0" smtClean="0"/>
                  <a:t> and T</a:t>
                </a:r>
                <a:r>
                  <a:rPr lang="en-US" altLang="en-US" baseline="-25000" dirty="0" smtClean="0"/>
                  <a:t>H</a:t>
                </a:r>
                <a:endParaRPr lang="en-US" altLang="en-US" dirty="0">
                  <a:sym typeface="Symbol" pitchFamily="18" charset="2"/>
                </a:endParaRPr>
              </a:p>
              <a:p>
                <a:pPr marL="457200" lvl="1" indent="0">
                  <a:buNone/>
                </a:pPr>
                <a:r>
                  <a:rPr lang="en-US" altLang="en-US" dirty="0" smtClean="0">
                    <a:sym typeface="Symbol" pitchFamily="18" charset="2"/>
                  </a:rPr>
                  <a:t>	 </a:t>
                </a:r>
                <a:r>
                  <a:rPr lang="en-US" altLang="en-US" i="1" dirty="0">
                    <a:latin typeface="Times New Roman" panose="02020603050405020304" pitchFamily="18" charset="0"/>
                    <a:cs typeface="Times New Roman" panose="02020603050405020304" pitchFamily="18" charset="0"/>
                    <a:sym typeface="Symbol" pitchFamily="18" charset="2"/>
                  </a:rPr>
                  <a:t>T</a:t>
                </a:r>
                <a:r>
                  <a:rPr lang="en-US" altLang="en-US" i="1" baseline="-25000" dirty="0">
                    <a:latin typeface="Times New Roman" panose="02020603050405020304" pitchFamily="18" charset="0"/>
                    <a:cs typeface="Times New Roman" panose="02020603050405020304" pitchFamily="18" charset="0"/>
                    <a:sym typeface="Symbol" pitchFamily="18" charset="2"/>
                  </a:rPr>
                  <a:t>L </a:t>
                </a:r>
                <a:r>
                  <a:rPr lang="en-US" altLang="en-US" i="1" baseline="-25000" dirty="0" smtClean="0">
                    <a:latin typeface="Times New Roman" panose="02020603050405020304" pitchFamily="18" charset="0"/>
                    <a:cs typeface="Times New Roman" panose="02020603050405020304" pitchFamily="18" charset="0"/>
                    <a:sym typeface="Symbol" pitchFamily="18" charset="2"/>
                  </a:rPr>
                  <a:t> </a:t>
                </a:r>
                <a:r>
                  <a:rPr lang="en-US" altLang="en-US" i="1" dirty="0" smtClean="0">
                    <a:latin typeface="Times New Roman" panose="02020603050405020304" pitchFamily="18" charset="0"/>
                    <a:cs typeface="Times New Roman" panose="02020603050405020304" pitchFamily="18" charset="0"/>
                    <a:sym typeface="Symbol" pitchFamily="18" charset="2"/>
                  </a:rPr>
                  <a:t>= </a:t>
                </a:r>
                <a:r>
                  <a:rPr lang="en-US" altLang="en-US" i="1" dirty="0" err="1" smtClean="0">
                    <a:latin typeface="Times New Roman" panose="02020603050405020304" pitchFamily="18" charset="0"/>
                    <a:cs typeface="Times New Roman" panose="02020603050405020304" pitchFamily="18" charset="0"/>
                    <a:sym typeface="Symbol" pitchFamily="18" charset="2"/>
                  </a:rPr>
                  <a:t>θ</a:t>
                </a:r>
                <a:r>
                  <a:rPr lang="en-US" altLang="en-US" i="1" baseline="-25000" dirty="0" err="1" smtClean="0">
                    <a:latin typeface="Times New Roman" panose="02020603050405020304" pitchFamily="18" charset="0"/>
                    <a:cs typeface="Times New Roman" panose="02020603050405020304" pitchFamily="18" charset="0"/>
                    <a:sym typeface="Symbol" pitchFamily="18" charset="2"/>
                  </a:rPr>
                  <a:t>L</a:t>
                </a:r>
                <a:r>
                  <a:rPr lang="el-GR" altLang="en-US" i="1" dirty="0">
                    <a:latin typeface="Times New Roman" panose="02020603050405020304" pitchFamily="18" charset="0"/>
                    <a:cs typeface="Times New Roman" panose="02020603050405020304" pitchFamily="18" charset="0"/>
                    <a:sym typeface="Symbol" pitchFamily="18" charset="2"/>
                  </a:rPr>
                  <a:t>ν</a:t>
                </a:r>
                <a:r>
                  <a:rPr lang="en-US" altLang="en-US" i="1" dirty="0">
                    <a:latin typeface="Times New Roman" panose="02020603050405020304" pitchFamily="18" charset="0"/>
                    <a:cs typeface="Times New Roman" panose="02020603050405020304" pitchFamily="18" charset="0"/>
                    <a:sym typeface="Symbol" pitchFamily="18" charset="2"/>
                  </a:rPr>
                  <a:t>(</a:t>
                </a:r>
                <a:r>
                  <a:rPr lang="en-US" altLang="en-US" i="1" dirty="0" err="1">
                    <a:latin typeface="Times New Roman" panose="02020603050405020304" pitchFamily="18" charset="0"/>
                    <a:cs typeface="Times New Roman" panose="02020603050405020304" pitchFamily="18" charset="0"/>
                    <a:sym typeface="Symbol" pitchFamily="18" charset="2"/>
                  </a:rPr>
                  <a:t>q</a:t>
                </a:r>
                <a:r>
                  <a:rPr lang="en-US" altLang="en-US" i="1" baseline="-25000" dirty="0" err="1">
                    <a:latin typeface="Times New Roman" panose="02020603050405020304" pitchFamily="18" charset="0"/>
                    <a:cs typeface="Times New Roman" panose="02020603050405020304" pitchFamily="18" charset="0"/>
                    <a:sym typeface="Symbol" pitchFamily="18" charset="2"/>
                  </a:rPr>
                  <a:t>L</a:t>
                </a:r>
                <a:r>
                  <a:rPr lang="en-US" altLang="en-US" i="1" dirty="0" smtClean="0">
                    <a:latin typeface="Times New Roman" panose="02020603050405020304" pitchFamily="18" charset="0"/>
                    <a:cs typeface="Times New Roman" panose="02020603050405020304" pitchFamily="18" charset="0"/>
                    <a:sym typeface="Symbol" pitchFamily="18" charset="2"/>
                  </a:rPr>
                  <a:t>)</a:t>
                </a:r>
              </a:p>
              <a:p>
                <a:pPr marL="457200" lvl="1" indent="0">
                  <a:buNone/>
                </a:pPr>
                <a:r>
                  <a:rPr lang="en-US" altLang="en-US" i="1" dirty="0" smtClean="0">
                    <a:latin typeface="Times New Roman" panose="02020603050405020304" pitchFamily="18" charset="0"/>
                    <a:cs typeface="Times New Roman" panose="02020603050405020304" pitchFamily="18" charset="0"/>
                    <a:sym typeface="Symbol" pitchFamily="18" charset="2"/>
                  </a:rPr>
                  <a:t>	T</a:t>
                </a:r>
                <a:r>
                  <a:rPr lang="en-US" altLang="en-US" i="1" baseline="-25000" dirty="0" smtClean="0">
                    <a:latin typeface="Times New Roman" panose="02020603050405020304" pitchFamily="18" charset="0"/>
                    <a:cs typeface="Times New Roman" panose="02020603050405020304" pitchFamily="18" charset="0"/>
                    <a:sym typeface="Symbol" pitchFamily="18" charset="2"/>
                  </a:rPr>
                  <a:t>H</a:t>
                </a:r>
                <a:r>
                  <a:rPr lang="en-US" altLang="en-US" i="1" dirty="0" smtClean="0">
                    <a:latin typeface="Times New Roman" panose="02020603050405020304" pitchFamily="18" charset="0"/>
                    <a:cs typeface="Times New Roman" panose="02020603050405020304" pitchFamily="18" charset="0"/>
                    <a:sym typeface="Symbol" pitchFamily="18" charset="2"/>
                  </a:rPr>
                  <a:t> = </a:t>
                </a:r>
                <a:r>
                  <a:rPr lang="en-US" altLang="en-US" i="1" dirty="0" err="1" smtClean="0">
                    <a:latin typeface="Times New Roman" panose="02020603050405020304" pitchFamily="18" charset="0"/>
                    <a:cs typeface="Times New Roman" panose="02020603050405020304" pitchFamily="18" charset="0"/>
                    <a:sym typeface="Symbol" pitchFamily="18" charset="2"/>
                  </a:rPr>
                  <a:t>θ</a:t>
                </a:r>
                <a:r>
                  <a:rPr lang="en-US" altLang="en-US" i="1" baseline="-25000" dirty="0" err="1" smtClean="0">
                    <a:latin typeface="Times New Roman" panose="02020603050405020304" pitchFamily="18" charset="0"/>
                    <a:cs typeface="Times New Roman" panose="02020603050405020304" pitchFamily="18" charset="0"/>
                    <a:sym typeface="Symbol" pitchFamily="18" charset="2"/>
                  </a:rPr>
                  <a:t>H</a:t>
                </a:r>
                <a:r>
                  <a:rPr lang="en-US" altLang="en-US" i="1" dirty="0" smtClean="0">
                    <a:latin typeface="Times New Roman" panose="02020603050405020304" pitchFamily="18" charset="0"/>
                    <a:cs typeface="Times New Roman" panose="02020603050405020304" pitchFamily="18" charset="0"/>
                    <a:sym typeface="Symbol" pitchFamily="18" charset="2"/>
                  </a:rPr>
                  <a:t>[</a:t>
                </a:r>
                <a:r>
                  <a:rPr lang="el-GR" altLang="en-US" i="1" dirty="0" smtClean="0">
                    <a:latin typeface="Times New Roman" panose="02020603050405020304" pitchFamily="18" charset="0"/>
                    <a:cs typeface="Times New Roman" panose="02020603050405020304" pitchFamily="18" charset="0"/>
                    <a:sym typeface="Symbol" pitchFamily="18" charset="2"/>
                  </a:rPr>
                  <a:t>ν</a:t>
                </a:r>
                <a:r>
                  <a:rPr lang="en-US" altLang="en-US" i="1" dirty="0">
                    <a:latin typeface="Times New Roman" panose="02020603050405020304" pitchFamily="18" charset="0"/>
                    <a:cs typeface="Times New Roman" panose="02020603050405020304" pitchFamily="18" charset="0"/>
                    <a:sym typeface="Symbol" pitchFamily="18" charset="2"/>
                  </a:rPr>
                  <a:t>(</a:t>
                </a:r>
                <a:r>
                  <a:rPr lang="en-US" altLang="en-US" i="1" dirty="0" err="1">
                    <a:latin typeface="Times New Roman" panose="02020603050405020304" pitchFamily="18" charset="0"/>
                    <a:cs typeface="Times New Roman" panose="02020603050405020304" pitchFamily="18" charset="0"/>
                    <a:sym typeface="Symbol" pitchFamily="18" charset="2"/>
                  </a:rPr>
                  <a:t>q</a:t>
                </a:r>
                <a:r>
                  <a:rPr lang="en-US" altLang="en-US" i="1" baseline="-25000" dirty="0" err="1">
                    <a:latin typeface="Times New Roman" panose="02020603050405020304" pitchFamily="18" charset="0"/>
                    <a:cs typeface="Times New Roman" panose="02020603050405020304" pitchFamily="18" charset="0"/>
                    <a:sym typeface="Symbol" pitchFamily="18" charset="2"/>
                  </a:rPr>
                  <a:t>H</a:t>
                </a:r>
                <a:r>
                  <a:rPr lang="en-US" altLang="en-US" i="1" dirty="0">
                    <a:latin typeface="Times New Roman" panose="02020603050405020304" pitchFamily="18" charset="0"/>
                    <a:cs typeface="Times New Roman" panose="02020603050405020304" pitchFamily="18" charset="0"/>
                    <a:sym typeface="Symbol" pitchFamily="18" charset="2"/>
                  </a:rPr>
                  <a:t>) </a:t>
                </a:r>
                <a:r>
                  <a:rPr lang="en-US" altLang="en-US" i="1" dirty="0" smtClean="0">
                    <a:latin typeface="Times New Roman" panose="02020603050405020304" pitchFamily="18" charset="0"/>
                    <a:cs typeface="Times New Roman" panose="02020603050405020304" pitchFamily="18" charset="0"/>
                    <a:sym typeface="Symbol" pitchFamily="18" charset="2"/>
                  </a:rPr>
                  <a:t>–</a:t>
                </a:r>
                <a:r>
                  <a:rPr lang="el-GR" altLang="en-US" i="1" dirty="0" smtClean="0">
                    <a:latin typeface="Times New Roman" panose="02020603050405020304" pitchFamily="18" charset="0"/>
                    <a:cs typeface="Times New Roman" panose="02020603050405020304" pitchFamily="18" charset="0"/>
                    <a:sym typeface="Symbol" pitchFamily="18" charset="2"/>
                  </a:rPr>
                  <a:t>ν</a:t>
                </a:r>
                <a:r>
                  <a:rPr lang="en-US" altLang="en-US" i="1" dirty="0" smtClean="0">
                    <a:latin typeface="Times New Roman" panose="02020603050405020304" pitchFamily="18" charset="0"/>
                    <a:cs typeface="Times New Roman" panose="02020603050405020304" pitchFamily="18" charset="0"/>
                    <a:sym typeface="Symbol" pitchFamily="18" charset="2"/>
                  </a:rPr>
                  <a:t>(</a:t>
                </a:r>
                <a:r>
                  <a:rPr lang="en-US" altLang="en-US" i="1" dirty="0" err="1" smtClean="0">
                    <a:latin typeface="Times New Roman" panose="02020603050405020304" pitchFamily="18" charset="0"/>
                    <a:cs typeface="Times New Roman" panose="02020603050405020304" pitchFamily="18" charset="0"/>
                    <a:sym typeface="Symbol" pitchFamily="18" charset="2"/>
                  </a:rPr>
                  <a:t>q</a:t>
                </a:r>
                <a:r>
                  <a:rPr lang="en-US" altLang="en-US" i="1" baseline="-25000" dirty="0" err="1" smtClean="0">
                    <a:latin typeface="Times New Roman" panose="02020603050405020304" pitchFamily="18" charset="0"/>
                    <a:cs typeface="Times New Roman" panose="02020603050405020304" pitchFamily="18" charset="0"/>
                    <a:sym typeface="Symbol" pitchFamily="18" charset="2"/>
                  </a:rPr>
                  <a:t>L</a:t>
                </a:r>
                <a:r>
                  <a:rPr lang="en-US" altLang="en-US" i="1" dirty="0" smtClean="0">
                    <a:latin typeface="Times New Roman" panose="02020603050405020304" pitchFamily="18" charset="0"/>
                    <a:cs typeface="Times New Roman" panose="02020603050405020304" pitchFamily="18" charset="0"/>
                    <a:sym typeface="Symbol" pitchFamily="18" charset="2"/>
                  </a:rPr>
                  <a:t>)]+ </a:t>
                </a:r>
                <a:r>
                  <a:rPr lang="en-US" altLang="en-US" i="1" dirty="0" err="1">
                    <a:latin typeface="Times New Roman" panose="02020603050405020304" pitchFamily="18" charset="0"/>
                    <a:cs typeface="Times New Roman" panose="02020603050405020304" pitchFamily="18" charset="0"/>
                    <a:sym typeface="Symbol" pitchFamily="18" charset="2"/>
                  </a:rPr>
                  <a:t>θ</a:t>
                </a:r>
                <a:r>
                  <a:rPr lang="en-US" altLang="en-US" i="1" baseline="-25000" dirty="0" err="1">
                    <a:latin typeface="Times New Roman" panose="02020603050405020304" pitchFamily="18" charset="0"/>
                    <a:cs typeface="Times New Roman" panose="02020603050405020304" pitchFamily="18" charset="0"/>
                    <a:sym typeface="Symbol" pitchFamily="18" charset="2"/>
                  </a:rPr>
                  <a:t>L</a:t>
                </a:r>
                <a:r>
                  <a:rPr lang="el-GR" altLang="en-US" i="1" dirty="0">
                    <a:latin typeface="Times New Roman" panose="02020603050405020304" pitchFamily="18" charset="0"/>
                    <a:cs typeface="Times New Roman" panose="02020603050405020304" pitchFamily="18" charset="0"/>
                    <a:sym typeface="Symbol" pitchFamily="18" charset="2"/>
                  </a:rPr>
                  <a:t>ν</a:t>
                </a:r>
                <a:r>
                  <a:rPr lang="en-US" altLang="en-US" i="1" dirty="0">
                    <a:latin typeface="Times New Roman" panose="02020603050405020304" pitchFamily="18" charset="0"/>
                    <a:cs typeface="Times New Roman" panose="02020603050405020304" pitchFamily="18" charset="0"/>
                    <a:sym typeface="Symbol" pitchFamily="18" charset="2"/>
                  </a:rPr>
                  <a:t>(</a:t>
                </a:r>
                <a:r>
                  <a:rPr lang="en-US" altLang="en-US" i="1" dirty="0" err="1">
                    <a:latin typeface="Times New Roman" panose="02020603050405020304" pitchFamily="18" charset="0"/>
                    <a:cs typeface="Times New Roman" panose="02020603050405020304" pitchFamily="18" charset="0"/>
                    <a:sym typeface="Symbol" pitchFamily="18" charset="2"/>
                  </a:rPr>
                  <a:t>q</a:t>
                </a:r>
                <a:r>
                  <a:rPr lang="en-US" altLang="en-US" i="1" baseline="-25000" dirty="0" err="1">
                    <a:latin typeface="Times New Roman" panose="02020603050405020304" pitchFamily="18" charset="0"/>
                    <a:cs typeface="Times New Roman" panose="02020603050405020304" pitchFamily="18" charset="0"/>
                    <a:sym typeface="Symbol" pitchFamily="18" charset="2"/>
                  </a:rPr>
                  <a:t>L</a:t>
                </a:r>
                <a:r>
                  <a:rPr lang="en-US" altLang="en-US" i="1" dirty="0">
                    <a:latin typeface="Times New Roman" panose="02020603050405020304" pitchFamily="18" charset="0"/>
                    <a:cs typeface="Times New Roman" panose="02020603050405020304" pitchFamily="18" charset="0"/>
                    <a:sym typeface="Symbol" pitchFamily="18" charset="2"/>
                  </a:rPr>
                  <a:t>)</a:t>
                </a:r>
              </a:p>
              <a:p>
                <a:r>
                  <a:rPr lang="en-US" altLang="en-US" dirty="0" smtClean="0">
                    <a:latin typeface="Times New Roman" panose="02020603050405020304" pitchFamily="18" charset="0"/>
                    <a:cs typeface="Times New Roman" panose="02020603050405020304" pitchFamily="18" charset="0"/>
                    <a:sym typeface="Symbol" pitchFamily="18" charset="2"/>
                  </a:rPr>
                  <a:t>Unconstrained problem </a:t>
                </a:r>
                <a:r>
                  <a:rPr lang="en-US" altLang="en-US" dirty="0">
                    <a:latin typeface="Times New Roman" panose="02020603050405020304" pitchFamily="18" charset="0"/>
                    <a:cs typeface="Times New Roman" panose="02020603050405020304" pitchFamily="18" charset="0"/>
                    <a:sym typeface="Symbol" pitchFamily="18" charset="2"/>
                  </a:rPr>
                  <a:t>of choosing </a:t>
                </a:r>
                <a:r>
                  <a:rPr lang="en-US" altLang="en-US" dirty="0" err="1">
                    <a:latin typeface="Times New Roman" panose="02020603050405020304" pitchFamily="18" charset="0"/>
                    <a:cs typeface="Times New Roman" panose="02020603050405020304" pitchFamily="18" charset="0"/>
                    <a:sym typeface="Symbol" pitchFamily="18" charset="2"/>
                  </a:rPr>
                  <a:t>q</a:t>
                </a:r>
                <a:r>
                  <a:rPr lang="en-US" altLang="en-US" baseline="-25000" dirty="0" err="1">
                    <a:latin typeface="Times New Roman" panose="02020603050405020304" pitchFamily="18" charset="0"/>
                    <a:cs typeface="Times New Roman" panose="02020603050405020304" pitchFamily="18" charset="0"/>
                    <a:sym typeface="Symbol" pitchFamily="18" charset="2"/>
                  </a:rPr>
                  <a:t>L</a:t>
                </a:r>
                <a:r>
                  <a:rPr lang="en-US" altLang="en-US" dirty="0">
                    <a:latin typeface="Times New Roman" panose="02020603050405020304" pitchFamily="18" charset="0"/>
                    <a:cs typeface="Times New Roman" panose="02020603050405020304" pitchFamily="18" charset="0"/>
                    <a:sym typeface="Symbol" pitchFamily="18" charset="2"/>
                  </a:rPr>
                  <a:t> and </a:t>
                </a:r>
                <a:r>
                  <a:rPr lang="en-US" altLang="en-US" dirty="0" err="1">
                    <a:latin typeface="Times New Roman" panose="02020603050405020304" pitchFamily="18" charset="0"/>
                    <a:cs typeface="Times New Roman" panose="02020603050405020304" pitchFamily="18" charset="0"/>
                    <a:sym typeface="Symbol" pitchFamily="18" charset="2"/>
                  </a:rPr>
                  <a:t>q</a:t>
                </a:r>
                <a:r>
                  <a:rPr lang="en-US" altLang="en-US" baseline="-25000" dirty="0" err="1">
                    <a:latin typeface="Times New Roman" panose="02020603050405020304" pitchFamily="18" charset="0"/>
                    <a:cs typeface="Times New Roman" panose="02020603050405020304" pitchFamily="18" charset="0"/>
                    <a:sym typeface="Symbol" pitchFamily="18" charset="2"/>
                  </a:rPr>
                  <a:t>H</a:t>
                </a:r>
                <a:r>
                  <a:rPr lang="en-US" altLang="en-US" dirty="0">
                    <a:latin typeface="Times New Roman" panose="02020603050405020304" pitchFamily="18" charset="0"/>
                    <a:cs typeface="Times New Roman" panose="02020603050405020304" pitchFamily="18" charset="0"/>
                    <a:sym typeface="Symbol" pitchFamily="18" charset="2"/>
                  </a:rPr>
                  <a:t> to </a:t>
                </a:r>
                <a:r>
                  <a:rPr lang="en-US" altLang="en-US" dirty="0" smtClean="0">
                    <a:latin typeface="Times New Roman" panose="02020603050405020304" pitchFamily="18" charset="0"/>
                    <a:cs typeface="Times New Roman" panose="02020603050405020304" pitchFamily="18" charset="0"/>
                    <a:sym typeface="Symbol" pitchFamily="18" charset="2"/>
                  </a:rPr>
                  <a:t>maximize</a:t>
                </a:r>
                <a:r>
                  <a:rPr lang="en-US" altLang="en-US" i="1" dirty="0" smtClean="0">
                    <a:latin typeface="Times New Roman" panose="02020603050405020304" pitchFamily="18" charset="0"/>
                    <a:cs typeface="Times New Roman" panose="02020603050405020304" pitchFamily="18" charset="0"/>
                    <a:sym typeface="Symbol" pitchFamily="18" charset="2"/>
                  </a:rPr>
                  <a:t>:</a:t>
                </a:r>
              </a:p>
              <a:p>
                <a:pPr marL="0" indent="0" algn="ctr">
                  <a:buNone/>
                </a:pPr>
                <a14:m>
                  <m:oMath xmlns:m="http://schemas.openxmlformats.org/officeDocument/2006/math">
                    <m:r>
                      <a:rPr lang="en-US" altLang="en-US" sz="3200" i="1" smtClean="0">
                        <a:solidFill>
                          <a:srgbClr val="C00000"/>
                        </a:solidFill>
                        <a:latin typeface="Cambria Math"/>
                        <a:ea typeface="Cambria Math"/>
                        <a:cs typeface="Times New Roman" panose="02020603050405020304" pitchFamily="18" charset="0"/>
                        <a:sym typeface="Symbol" pitchFamily="18" charset="2"/>
                      </a:rPr>
                      <m:t>𝛽</m:t>
                    </m:r>
                    <m:r>
                      <a:rPr lang="en-US" altLang="en-US" sz="3200" b="0" i="1" smtClean="0">
                        <a:solidFill>
                          <a:srgbClr val="C00000"/>
                        </a:solidFill>
                        <a:latin typeface="Cambria Math"/>
                        <a:ea typeface="Cambria Math"/>
                        <a:cs typeface="Times New Roman" panose="02020603050405020304" pitchFamily="18" charset="0"/>
                        <a:sym typeface="Symbol" pitchFamily="18" charset="2"/>
                      </a:rPr>
                      <m:t>{</m:t>
                    </m:r>
                    <m:sSub>
                      <m:sSubPr>
                        <m:ctrlPr>
                          <a:rPr lang="en-US" altLang="en-US" sz="3200" b="0" i="1" smtClean="0">
                            <a:solidFill>
                              <a:srgbClr val="C00000"/>
                            </a:solidFill>
                            <a:latin typeface="Cambria Math"/>
                            <a:ea typeface="Cambria Math"/>
                            <a:cs typeface="Times New Roman" panose="02020603050405020304" pitchFamily="18" charset="0"/>
                            <a:sym typeface="Symbol" pitchFamily="18" charset="2"/>
                          </a:rPr>
                        </m:ctrlPr>
                      </m:sSubPr>
                      <m:e>
                        <m:r>
                          <a:rPr lang="en-US" altLang="en-US" sz="3200" b="0" i="1" smtClean="0">
                            <a:solidFill>
                              <a:srgbClr val="C00000"/>
                            </a:solidFill>
                            <a:latin typeface="Cambria Math"/>
                            <a:ea typeface="Cambria Math"/>
                            <a:cs typeface="Times New Roman" panose="02020603050405020304" pitchFamily="18" charset="0"/>
                            <a:sym typeface="Symbol" pitchFamily="18" charset="2"/>
                          </a:rPr>
                          <m:t>𝜃</m:t>
                        </m:r>
                      </m:e>
                      <m:sub>
                        <m:r>
                          <a:rPr lang="en-US" altLang="en-US" sz="3200" b="0" i="1" smtClean="0">
                            <a:solidFill>
                              <a:srgbClr val="C00000"/>
                            </a:solidFill>
                            <a:latin typeface="Cambria Math"/>
                            <a:ea typeface="Cambria Math"/>
                            <a:cs typeface="Times New Roman" panose="02020603050405020304" pitchFamily="18" charset="0"/>
                            <a:sym typeface="Symbol" pitchFamily="18" charset="2"/>
                          </a:rPr>
                          <m:t>𝐻</m:t>
                        </m:r>
                      </m:sub>
                    </m:sSub>
                    <m:r>
                      <a:rPr lang="en-US" altLang="en-US" sz="3200" b="0" i="1" smtClean="0">
                        <a:solidFill>
                          <a:srgbClr val="C00000"/>
                        </a:solidFill>
                        <a:latin typeface="Cambria Math"/>
                        <a:ea typeface="Cambria Math"/>
                        <a:cs typeface="Times New Roman" panose="02020603050405020304" pitchFamily="18" charset="0"/>
                        <a:sym typeface="Symbol" pitchFamily="18" charset="2"/>
                      </a:rPr>
                      <m:t>[</m:t>
                    </m:r>
                    <m:r>
                      <a:rPr lang="en-US" altLang="en-US" sz="3200" b="0" i="1" smtClean="0">
                        <a:solidFill>
                          <a:srgbClr val="C00000"/>
                        </a:solidFill>
                        <a:latin typeface="Cambria Math"/>
                        <a:ea typeface="Cambria Math"/>
                        <a:cs typeface="Times New Roman" panose="02020603050405020304" pitchFamily="18" charset="0"/>
                        <a:sym typeface="Symbol" pitchFamily="18" charset="2"/>
                      </a:rPr>
                      <m:t>𝜈</m:t>
                    </m:r>
                    <m:d>
                      <m:dPr>
                        <m:ctrlPr>
                          <a:rPr lang="en-US" altLang="en-US" sz="3200" b="0" i="1" smtClean="0">
                            <a:solidFill>
                              <a:srgbClr val="C00000"/>
                            </a:solidFill>
                            <a:latin typeface="Cambria Math"/>
                            <a:ea typeface="Cambria Math"/>
                            <a:cs typeface="Times New Roman" panose="02020603050405020304" pitchFamily="18" charset="0"/>
                            <a:sym typeface="Symbol" pitchFamily="18" charset="2"/>
                          </a:rPr>
                        </m:ctrlPr>
                      </m:dPr>
                      <m:e>
                        <m:sSub>
                          <m:sSubPr>
                            <m:ctrlPr>
                              <a:rPr lang="en-US" altLang="en-US" sz="3200" b="0" i="1" smtClean="0">
                                <a:solidFill>
                                  <a:srgbClr val="C00000"/>
                                </a:solidFill>
                                <a:latin typeface="Cambria Math"/>
                                <a:ea typeface="Cambria Math"/>
                                <a:cs typeface="Times New Roman" panose="02020603050405020304" pitchFamily="18" charset="0"/>
                                <a:sym typeface="Symbol" pitchFamily="18" charset="2"/>
                              </a:rPr>
                            </m:ctrlPr>
                          </m:sSubPr>
                          <m:e>
                            <m:r>
                              <a:rPr lang="en-US" altLang="en-US" sz="3200" b="0" i="1" smtClean="0">
                                <a:solidFill>
                                  <a:srgbClr val="C00000"/>
                                </a:solidFill>
                                <a:latin typeface="Cambria Math"/>
                                <a:ea typeface="Cambria Math"/>
                                <a:cs typeface="Times New Roman" panose="02020603050405020304" pitchFamily="18" charset="0"/>
                                <a:sym typeface="Symbol" pitchFamily="18" charset="2"/>
                              </a:rPr>
                              <m:t>𝑞</m:t>
                            </m:r>
                          </m:e>
                          <m:sub>
                            <m:r>
                              <a:rPr lang="en-US" altLang="en-US" sz="3200" b="0" i="1" smtClean="0">
                                <a:solidFill>
                                  <a:srgbClr val="C00000"/>
                                </a:solidFill>
                                <a:latin typeface="Cambria Math"/>
                                <a:ea typeface="Cambria Math"/>
                                <a:cs typeface="Times New Roman" panose="02020603050405020304" pitchFamily="18" charset="0"/>
                                <a:sym typeface="Symbol" pitchFamily="18" charset="2"/>
                              </a:rPr>
                              <m:t>𝐻</m:t>
                            </m:r>
                          </m:sub>
                        </m:sSub>
                      </m:e>
                    </m:d>
                    <m:r>
                      <a:rPr lang="en-US" altLang="en-US" sz="3200" b="0" i="1" smtClean="0">
                        <a:solidFill>
                          <a:srgbClr val="C00000"/>
                        </a:solidFill>
                        <a:latin typeface="Cambria Math"/>
                        <a:ea typeface="Cambria Math"/>
                        <a:cs typeface="Times New Roman" panose="02020603050405020304" pitchFamily="18" charset="0"/>
                        <a:sym typeface="Symbol" pitchFamily="18" charset="2"/>
                      </a:rPr>
                      <m:t>−</m:t>
                    </m:r>
                  </m:oMath>
                </a14:m>
                <a:r>
                  <a:rPr lang="en-US" altLang="en-US" sz="3200" dirty="0">
                    <a:ea typeface="Cambria Math"/>
                    <a:cs typeface="Times New Roman" panose="02020603050405020304" pitchFamily="18" charset="0"/>
                    <a:sym typeface="Symbol" pitchFamily="18" charset="2"/>
                  </a:rPr>
                  <a:t> </a:t>
                </a:r>
                <a14:m>
                  <m:oMath xmlns:m="http://schemas.openxmlformats.org/officeDocument/2006/math">
                    <m:r>
                      <a:rPr lang="en-US" altLang="en-US" sz="3200" i="1">
                        <a:latin typeface="Cambria Math"/>
                        <a:ea typeface="Cambria Math"/>
                        <a:cs typeface="Times New Roman" panose="02020603050405020304" pitchFamily="18" charset="0"/>
                        <a:sym typeface="Symbol" pitchFamily="18" charset="2"/>
                      </a:rPr>
                      <m:t>𝜈</m:t>
                    </m:r>
                    <m:d>
                      <m:dPr>
                        <m:ctrlPr>
                          <a:rPr lang="en-US" altLang="en-US" sz="3200" i="1">
                            <a:latin typeface="Cambria Math"/>
                            <a:ea typeface="Cambria Math"/>
                            <a:cs typeface="Times New Roman" panose="02020603050405020304" pitchFamily="18" charset="0"/>
                            <a:sym typeface="Symbol" pitchFamily="18" charset="2"/>
                          </a:rPr>
                        </m:ctrlPr>
                      </m:dPr>
                      <m:e>
                        <m:sSub>
                          <m:sSubPr>
                            <m:ctrlPr>
                              <a:rPr lang="en-US" altLang="en-US" sz="3200" i="1">
                                <a:latin typeface="Cambria Math"/>
                                <a:ea typeface="Cambria Math"/>
                                <a:cs typeface="Times New Roman" panose="02020603050405020304" pitchFamily="18" charset="0"/>
                                <a:sym typeface="Symbol" pitchFamily="18" charset="2"/>
                              </a:rPr>
                            </m:ctrlPr>
                          </m:sSubPr>
                          <m:e>
                            <m:r>
                              <a:rPr lang="en-US" altLang="en-US" sz="3200" i="1">
                                <a:latin typeface="Cambria Math"/>
                                <a:ea typeface="Cambria Math"/>
                                <a:cs typeface="Times New Roman" panose="02020603050405020304" pitchFamily="18" charset="0"/>
                                <a:sym typeface="Symbol" pitchFamily="18" charset="2"/>
                              </a:rPr>
                              <m:t>𝑞</m:t>
                            </m:r>
                          </m:e>
                          <m:sub>
                            <m:r>
                              <a:rPr lang="en-US" altLang="en-US" sz="3200" b="0" i="1" smtClean="0">
                                <a:latin typeface="Cambria Math"/>
                                <a:ea typeface="Cambria Math"/>
                                <a:cs typeface="Times New Roman" panose="02020603050405020304" pitchFamily="18" charset="0"/>
                                <a:sym typeface="Symbol" pitchFamily="18" charset="2"/>
                              </a:rPr>
                              <m:t>𝐿</m:t>
                            </m:r>
                          </m:sub>
                        </m:sSub>
                      </m:e>
                    </m:d>
                    <m:r>
                      <a:rPr lang="en-US" altLang="en-US" sz="3200" b="0" i="1" smtClean="0">
                        <a:latin typeface="Cambria Math"/>
                        <a:ea typeface="Cambria Math"/>
                        <a:cs typeface="Times New Roman" panose="02020603050405020304" pitchFamily="18" charset="0"/>
                        <a:sym typeface="Symbol" pitchFamily="18" charset="2"/>
                      </a:rPr>
                      <m:t>]+</m:t>
                    </m:r>
                    <m:sSub>
                      <m:sSubPr>
                        <m:ctrlPr>
                          <a:rPr lang="en-US" altLang="en-US" sz="3200" i="1">
                            <a:latin typeface="Cambria Math"/>
                            <a:ea typeface="Cambria Math"/>
                            <a:cs typeface="Times New Roman" panose="02020603050405020304" pitchFamily="18" charset="0"/>
                            <a:sym typeface="Symbol" pitchFamily="18" charset="2"/>
                          </a:rPr>
                        </m:ctrlPr>
                      </m:sSubPr>
                      <m:e>
                        <m:r>
                          <a:rPr lang="en-US" altLang="en-US" sz="3200" i="1">
                            <a:latin typeface="Cambria Math"/>
                            <a:ea typeface="Cambria Math"/>
                            <a:cs typeface="Times New Roman" panose="02020603050405020304" pitchFamily="18" charset="0"/>
                            <a:sym typeface="Symbol" pitchFamily="18" charset="2"/>
                          </a:rPr>
                          <m:t>𝜃</m:t>
                        </m:r>
                      </m:e>
                      <m:sub>
                        <m:r>
                          <a:rPr lang="en-US" altLang="en-US" sz="3200" b="0" i="1" smtClean="0">
                            <a:latin typeface="Cambria Math"/>
                            <a:ea typeface="Cambria Math"/>
                            <a:cs typeface="Times New Roman" panose="02020603050405020304" pitchFamily="18" charset="0"/>
                            <a:sym typeface="Symbol" pitchFamily="18" charset="2"/>
                          </a:rPr>
                          <m:t>𝐿</m:t>
                        </m:r>
                      </m:sub>
                    </m:sSub>
                    <m:r>
                      <a:rPr lang="en-US" altLang="en-US" sz="3200" i="1">
                        <a:latin typeface="Cambria Math"/>
                        <a:ea typeface="Cambria Math"/>
                        <a:cs typeface="Times New Roman" panose="02020603050405020304" pitchFamily="18" charset="0"/>
                        <a:sym typeface="Symbol" pitchFamily="18" charset="2"/>
                      </a:rPr>
                      <m:t>𝜈</m:t>
                    </m:r>
                    <m:d>
                      <m:dPr>
                        <m:ctrlPr>
                          <a:rPr lang="en-US" altLang="en-US" sz="3200" i="1">
                            <a:latin typeface="Cambria Math"/>
                            <a:ea typeface="Cambria Math"/>
                            <a:cs typeface="Times New Roman" panose="02020603050405020304" pitchFamily="18" charset="0"/>
                            <a:sym typeface="Symbol" pitchFamily="18" charset="2"/>
                          </a:rPr>
                        </m:ctrlPr>
                      </m:dPr>
                      <m:e>
                        <m:sSub>
                          <m:sSubPr>
                            <m:ctrlPr>
                              <a:rPr lang="en-US" altLang="en-US" sz="3200" i="1">
                                <a:latin typeface="Cambria Math"/>
                                <a:ea typeface="Cambria Math"/>
                                <a:cs typeface="Times New Roman" panose="02020603050405020304" pitchFamily="18" charset="0"/>
                                <a:sym typeface="Symbol" pitchFamily="18" charset="2"/>
                              </a:rPr>
                            </m:ctrlPr>
                          </m:sSubPr>
                          <m:e>
                            <m:r>
                              <a:rPr lang="en-US" altLang="en-US" sz="3200" i="1">
                                <a:latin typeface="Cambria Math"/>
                                <a:ea typeface="Cambria Math"/>
                                <a:cs typeface="Times New Roman" panose="02020603050405020304" pitchFamily="18" charset="0"/>
                                <a:sym typeface="Symbol" pitchFamily="18" charset="2"/>
                              </a:rPr>
                              <m:t>𝑞</m:t>
                            </m:r>
                          </m:e>
                          <m:sub>
                            <m:r>
                              <a:rPr lang="en-US" altLang="en-US" sz="3200" b="0" i="1" smtClean="0">
                                <a:latin typeface="Cambria Math"/>
                                <a:ea typeface="Cambria Math"/>
                                <a:cs typeface="Times New Roman" panose="02020603050405020304" pitchFamily="18" charset="0"/>
                                <a:sym typeface="Symbol" pitchFamily="18" charset="2"/>
                              </a:rPr>
                              <m:t>𝐿</m:t>
                            </m:r>
                          </m:sub>
                        </m:sSub>
                      </m:e>
                    </m:d>
                    <m:r>
                      <a:rPr lang="en-US" altLang="en-US" sz="3200" b="0" i="1" smtClean="0">
                        <a:latin typeface="Cambria Math"/>
                        <a:ea typeface="Cambria Math"/>
                        <a:cs typeface="Times New Roman" panose="02020603050405020304" pitchFamily="18" charset="0"/>
                        <a:sym typeface="Symbol" pitchFamily="18" charset="2"/>
                      </a:rPr>
                      <m:t>−</m:t>
                    </m:r>
                    <m:r>
                      <a:rPr lang="en-US" altLang="en-US" sz="3200" b="0" i="1" smtClean="0">
                        <a:latin typeface="Cambria Math"/>
                        <a:ea typeface="Cambria Math"/>
                        <a:cs typeface="Times New Roman" panose="02020603050405020304" pitchFamily="18" charset="0"/>
                        <a:sym typeface="Symbol" pitchFamily="18" charset="2"/>
                      </a:rPr>
                      <m:t>𝑐</m:t>
                    </m:r>
                    <m:sSub>
                      <m:sSubPr>
                        <m:ctrlPr>
                          <a:rPr lang="en-US" altLang="en-US" sz="3200" b="0" i="1" smtClean="0">
                            <a:latin typeface="Cambria Math"/>
                            <a:ea typeface="Cambria Math"/>
                            <a:cs typeface="Times New Roman" panose="02020603050405020304" pitchFamily="18" charset="0"/>
                            <a:sym typeface="Symbol" pitchFamily="18" charset="2"/>
                          </a:rPr>
                        </m:ctrlPr>
                      </m:sSubPr>
                      <m:e>
                        <m:r>
                          <a:rPr lang="en-US" altLang="en-US" sz="3200" b="0" i="1" smtClean="0">
                            <a:latin typeface="Cambria Math"/>
                            <a:ea typeface="Cambria Math"/>
                            <a:cs typeface="Times New Roman" panose="02020603050405020304" pitchFamily="18" charset="0"/>
                            <a:sym typeface="Symbol" pitchFamily="18" charset="2"/>
                          </a:rPr>
                          <m:t>𝑞</m:t>
                        </m:r>
                      </m:e>
                      <m:sub>
                        <m:r>
                          <a:rPr lang="en-US" altLang="en-US" sz="3200" b="0" i="1" smtClean="0">
                            <a:latin typeface="Cambria Math"/>
                            <a:ea typeface="Cambria Math"/>
                            <a:cs typeface="Times New Roman" panose="02020603050405020304" pitchFamily="18" charset="0"/>
                            <a:sym typeface="Symbol" pitchFamily="18" charset="2"/>
                          </a:rPr>
                          <m:t>𝐻</m:t>
                        </m:r>
                      </m:sub>
                    </m:sSub>
                    <m:r>
                      <a:rPr lang="en-US" altLang="en-US" sz="3200" b="0" i="1" smtClean="0">
                        <a:latin typeface="Cambria Math"/>
                        <a:ea typeface="Cambria Math"/>
                        <a:cs typeface="Times New Roman" panose="02020603050405020304" pitchFamily="18" charset="0"/>
                        <a:sym typeface="Symbol" pitchFamily="18" charset="2"/>
                      </a:rPr>
                      <m:t>}+</m:t>
                    </m:r>
                  </m:oMath>
                </a14:m>
                <a:endParaRPr lang="en-US" altLang="en-US" sz="3200" b="0" i="1" dirty="0" smtClean="0">
                  <a:latin typeface="Cambria Math"/>
                  <a:ea typeface="Cambria Math"/>
                  <a:cs typeface="Times New Roman" panose="02020603050405020304" pitchFamily="18" charset="0"/>
                  <a:sym typeface="Symbol" pitchFamily="18" charset="2"/>
                </a:endParaRPr>
              </a:p>
              <a:p>
                <a:pPr marL="0" indent="0" algn="ctr">
                  <a:buNone/>
                </a:pPr>
                <a14:m>
                  <m:oMathPara xmlns:m="http://schemas.openxmlformats.org/officeDocument/2006/math">
                    <m:oMathParaPr>
                      <m:jc m:val="centerGroup"/>
                    </m:oMathParaPr>
                    <m:oMath xmlns:m="http://schemas.openxmlformats.org/officeDocument/2006/math">
                      <m:r>
                        <a:rPr lang="en-US" altLang="en-US" sz="3200" b="0" i="1" smtClean="0">
                          <a:latin typeface="Cambria Math"/>
                          <a:ea typeface="Cambria Math"/>
                          <a:cs typeface="Times New Roman" panose="02020603050405020304" pitchFamily="18" charset="0"/>
                          <a:sym typeface="Symbol" pitchFamily="18" charset="2"/>
                        </a:rPr>
                        <m:t>+(1−</m:t>
                      </m:r>
                      <m:r>
                        <a:rPr lang="en-US" altLang="en-US" sz="3200" b="0" i="1" smtClean="0">
                          <a:latin typeface="Cambria Math"/>
                          <a:ea typeface="Cambria Math"/>
                          <a:cs typeface="Times New Roman" panose="02020603050405020304" pitchFamily="18" charset="0"/>
                          <a:sym typeface="Symbol" pitchFamily="18" charset="2"/>
                        </a:rPr>
                        <m:t>𝛽</m:t>
                      </m:r>
                      <m:r>
                        <a:rPr lang="en-US" altLang="en-US" sz="3200" b="0" i="1" smtClean="0">
                          <a:latin typeface="Cambria Math"/>
                          <a:ea typeface="Cambria Math"/>
                          <a:cs typeface="Times New Roman" panose="02020603050405020304" pitchFamily="18" charset="0"/>
                          <a:sym typeface="Symbol" pitchFamily="18" charset="2"/>
                        </a:rPr>
                        <m:t>)[</m:t>
                      </m:r>
                      <m:sSub>
                        <m:sSubPr>
                          <m:ctrlPr>
                            <a:rPr lang="en-US" altLang="en-US" sz="3200" i="1">
                              <a:latin typeface="Cambria Math"/>
                              <a:ea typeface="Cambria Math"/>
                              <a:cs typeface="Times New Roman" panose="02020603050405020304" pitchFamily="18" charset="0"/>
                              <a:sym typeface="Symbol" pitchFamily="18" charset="2"/>
                            </a:rPr>
                          </m:ctrlPr>
                        </m:sSubPr>
                        <m:e>
                          <m:r>
                            <a:rPr lang="en-US" altLang="en-US" sz="3200" i="1">
                              <a:latin typeface="Cambria Math"/>
                              <a:ea typeface="Cambria Math"/>
                              <a:cs typeface="Times New Roman" panose="02020603050405020304" pitchFamily="18" charset="0"/>
                              <a:sym typeface="Symbol" pitchFamily="18" charset="2"/>
                            </a:rPr>
                            <m:t>𝜃</m:t>
                          </m:r>
                        </m:e>
                        <m:sub>
                          <m:r>
                            <a:rPr lang="en-US" altLang="en-US" sz="3200" i="1">
                              <a:latin typeface="Cambria Math"/>
                              <a:ea typeface="Cambria Math"/>
                              <a:cs typeface="Times New Roman" panose="02020603050405020304" pitchFamily="18" charset="0"/>
                              <a:sym typeface="Symbol" pitchFamily="18" charset="2"/>
                            </a:rPr>
                            <m:t>𝐿</m:t>
                          </m:r>
                        </m:sub>
                      </m:sSub>
                      <m:r>
                        <a:rPr lang="en-US" altLang="en-US" sz="3200" i="1">
                          <a:latin typeface="Cambria Math"/>
                          <a:ea typeface="Cambria Math"/>
                          <a:cs typeface="Times New Roman" panose="02020603050405020304" pitchFamily="18" charset="0"/>
                          <a:sym typeface="Symbol" pitchFamily="18" charset="2"/>
                        </a:rPr>
                        <m:t>𝜈</m:t>
                      </m:r>
                      <m:d>
                        <m:dPr>
                          <m:ctrlPr>
                            <a:rPr lang="en-US" altLang="en-US" sz="3200" i="1">
                              <a:latin typeface="Cambria Math"/>
                              <a:ea typeface="Cambria Math"/>
                              <a:cs typeface="Times New Roman" panose="02020603050405020304" pitchFamily="18" charset="0"/>
                              <a:sym typeface="Symbol" pitchFamily="18" charset="2"/>
                            </a:rPr>
                          </m:ctrlPr>
                        </m:dPr>
                        <m:e>
                          <m:sSub>
                            <m:sSubPr>
                              <m:ctrlPr>
                                <a:rPr lang="en-US" altLang="en-US" sz="3200" i="1">
                                  <a:latin typeface="Cambria Math"/>
                                  <a:ea typeface="Cambria Math"/>
                                  <a:cs typeface="Times New Roman" panose="02020603050405020304" pitchFamily="18" charset="0"/>
                                  <a:sym typeface="Symbol" pitchFamily="18" charset="2"/>
                                </a:rPr>
                              </m:ctrlPr>
                            </m:sSubPr>
                            <m:e>
                              <m:r>
                                <a:rPr lang="en-US" altLang="en-US" sz="3200" i="1">
                                  <a:latin typeface="Cambria Math"/>
                                  <a:ea typeface="Cambria Math"/>
                                  <a:cs typeface="Times New Roman" panose="02020603050405020304" pitchFamily="18" charset="0"/>
                                  <a:sym typeface="Symbol" pitchFamily="18" charset="2"/>
                                </a:rPr>
                                <m:t>𝑞</m:t>
                              </m:r>
                            </m:e>
                            <m:sub>
                              <m:r>
                                <a:rPr lang="en-US" altLang="en-US" sz="3200" i="1">
                                  <a:latin typeface="Cambria Math"/>
                                  <a:ea typeface="Cambria Math"/>
                                  <a:cs typeface="Times New Roman" panose="02020603050405020304" pitchFamily="18" charset="0"/>
                                  <a:sym typeface="Symbol" pitchFamily="18" charset="2"/>
                                </a:rPr>
                                <m:t>𝐿</m:t>
                              </m:r>
                            </m:sub>
                          </m:sSub>
                        </m:e>
                      </m:d>
                      <m:r>
                        <a:rPr lang="en-US" altLang="en-US" sz="3200" i="1">
                          <a:latin typeface="Cambria Math"/>
                          <a:ea typeface="Cambria Math"/>
                          <a:cs typeface="Times New Roman" panose="02020603050405020304" pitchFamily="18" charset="0"/>
                          <a:sym typeface="Symbol" pitchFamily="18" charset="2"/>
                        </a:rPr>
                        <m:t>−</m:t>
                      </m:r>
                      <m:r>
                        <a:rPr lang="en-US" altLang="en-US" sz="3200" i="1">
                          <a:latin typeface="Cambria Math"/>
                          <a:ea typeface="Cambria Math"/>
                          <a:cs typeface="Times New Roman" panose="02020603050405020304" pitchFamily="18" charset="0"/>
                          <a:sym typeface="Symbol" pitchFamily="18" charset="2"/>
                        </a:rPr>
                        <m:t>𝑐</m:t>
                      </m:r>
                      <m:sSub>
                        <m:sSubPr>
                          <m:ctrlPr>
                            <a:rPr lang="en-US" altLang="en-US" sz="3200" i="1">
                              <a:latin typeface="Cambria Math"/>
                              <a:ea typeface="Cambria Math"/>
                              <a:cs typeface="Times New Roman" panose="02020603050405020304" pitchFamily="18" charset="0"/>
                              <a:sym typeface="Symbol" pitchFamily="18" charset="2"/>
                            </a:rPr>
                          </m:ctrlPr>
                        </m:sSubPr>
                        <m:e>
                          <m:r>
                            <a:rPr lang="en-US" altLang="en-US" sz="3200" i="1">
                              <a:latin typeface="Cambria Math"/>
                              <a:ea typeface="Cambria Math"/>
                              <a:cs typeface="Times New Roman" panose="02020603050405020304" pitchFamily="18" charset="0"/>
                              <a:sym typeface="Symbol" pitchFamily="18" charset="2"/>
                            </a:rPr>
                            <m:t>𝑞</m:t>
                          </m:r>
                        </m:e>
                        <m:sub>
                          <m:r>
                            <a:rPr lang="en-US" altLang="en-US" sz="3200" i="1">
                              <a:latin typeface="Cambria Math"/>
                              <a:ea typeface="Cambria Math"/>
                              <a:cs typeface="Times New Roman" panose="02020603050405020304" pitchFamily="18" charset="0"/>
                              <a:sym typeface="Symbol" pitchFamily="18" charset="2"/>
                            </a:rPr>
                            <m:t>𝐻</m:t>
                          </m:r>
                        </m:sub>
                      </m:sSub>
                      <m:r>
                        <a:rPr lang="en-US" altLang="en-US" sz="3200" b="0" i="0" smtClean="0">
                          <a:latin typeface="Cambria Math"/>
                          <a:ea typeface="Cambria Math"/>
                          <a:cs typeface="Times New Roman" panose="02020603050405020304" pitchFamily="18" charset="0"/>
                          <a:sym typeface="Symbol" pitchFamily="18" charset="2"/>
                        </a:rPr>
                        <m:t>]</m:t>
                      </m:r>
                    </m:oMath>
                  </m:oMathPara>
                </a14:m>
                <a:endParaRPr lang="en-US" altLang="en-US" sz="3200" i="1" dirty="0" smtClean="0">
                  <a:solidFill>
                    <a:srgbClr val="C00000"/>
                  </a:solidFill>
                  <a:latin typeface="Times New Roman" panose="02020603050405020304" pitchFamily="18" charset="0"/>
                  <a:cs typeface="Times New Roman" panose="02020603050405020304" pitchFamily="18" charset="0"/>
                  <a:sym typeface="Symbol" pitchFamily="18" charset="2"/>
                </a:endParaRPr>
              </a:p>
              <a:p>
                <a:endParaRPr lang="en-US" altLang="en-US" sz="3200" dirty="0" smtClean="0">
                  <a:solidFill>
                    <a:srgbClr val="C00000"/>
                  </a:solidFill>
                  <a:cs typeface="Times New Roman" panose="02020603050405020304" pitchFamily="18" charset="0"/>
                  <a:sym typeface="Symbol" pitchFamily="18" charset="2"/>
                </a:endParaRPr>
              </a:p>
            </p:txBody>
          </p:sp>
        </mc:Choice>
        <mc:Fallback xmlns="">
          <p:sp>
            <p:nvSpPr>
              <p:cNvPr id="61443"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r="-286"/>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5113D61-9E80-4248-A8DA-600B9D8BAB7D}" type="slidenum">
              <a:rPr lang="en-US" smtClean="0"/>
              <a:pPr>
                <a:defRPr/>
              </a:pPr>
              <a:t>51</a:t>
            </a:fld>
            <a:endParaRPr lang="en-US"/>
          </a:p>
        </p:txBody>
      </p:sp>
    </p:spTree>
    <p:extLst>
      <p:ext uri="{BB962C8B-B14F-4D97-AF65-F5344CB8AC3E}">
        <p14:creationId xmlns:p14="http://schemas.microsoft.com/office/powerpoint/2010/main" val="262572468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en-US" smtClean="0"/>
              <a:t>Second-Best Nonlinear Pricing</a:t>
            </a:r>
          </a:p>
        </p:txBody>
      </p:sp>
      <mc:AlternateContent xmlns:mc="http://schemas.openxmlformats.org/markup-compatibility/2006" xmlns:a14="http://schemas.microsoft.com/office/drawing/2010/main">
        <mc:Choice Requires="a14">
          <p:sp>
            <p:nvSpPr>
              <p:cNvPr id="61443" name="Rectangle 3"/>
              <p:cNvSpPr>
                <a:spLocks noGrp="1" noChangeArrowheads="1"/>
              </p:cNvSpPr>
              <p:nvPr>
                <p:ph idx="1"/>
              </p:nvPr>
            </p:nvSpPr>
            <p:spPr/>
            <p:txBody>
              <a:bodyPr/>
              <a:lstStyle/>
              <a:p>
                <a:r>
                  <a:rPr lang="en-US" altLang="en-US" dirty="0" smtClean="0"/>
                  <a:t>First order conditions:</a:t>
                </a:r>
              </a:p>
              <a:p>
                <a:pPr marL="0" indent="0">
                  <a:buNone/>
                </a:pPr>
                <a14:m>
                  <m:oMathPara xmlns:m="http://schemas.openxmlformats.org/officeDocument/2006/math">
                    <m:oMathParaPr>
                      <m:jc m:val="centerGroup"/>
                    </m:oMathParaPr>
                    <m:oMath xmlns:m="http://schemas.openxmlformats.org/officeDocument/2006/math">
                      <m:sSub>
                        <m:sSubPr>
                          <m:ctrlPr>
                            <a:rPr lang="en-US" altLang="en-US" sz="3000" i="1" smtClean="0">
                              <a:solidFill>
                                <a:schemeClr val="tx1"/>
                              </a:solidFill>
                              <a:latin typeface="Cambria Math"/>
                            </a:rPr>
                          </m:ctrlPr>
                        </m:sSubPr>
                        <m:e>
                          <m:r>
                            <a:rPr lang="en-US" altLang="en-US" sz="3000" i="1" smtClean="0">
                              <a:solidFill>
                                <a:schemeClr val="tx1"/>
                              </a:solidFill>
                              <a:latin typeface="Cambria Math"/>
                              <a:ea typeface="Cambria Math"/>
                            </a:rPr>
                            <m:t>𝜃</m:t>
                          </m:r>
                        </m:e>
                        <m:sub>
                          <m:r>
                            <a:rPr lang="en-US" altLang="en-US" sz="3000" b="0" i="1" smtClean="0">
                              <a:solidFill>
                                <a:schemeClr val="tx1"/>
                              </a:solidFill>
                              <a:latin typeface="Cambria Math"/>
                            </a:rPr>
                            <m:t>𝐿</m:t>
                          </m:r>
                        </m:sub>
                      </m:sSub>
                      <m:sSup>
                        <m:sSupPr>
                          <m:ctrlPr>
                            <a:rPr lang="en-US" altLang="en-US" sz="3000" b="0" i="1" smtClean="0">
                              <a:solidFill>
                                <a:schemeClr val="tx1"/>
                              </a:solidFill>
                              <a:latin typeface="Cambria Math"/>
                              <a:ea typeface="Cambria Math"/>
                            </a:rPr>
                          </m:ctrlPr>
                        </m:sSupPr>
                        <m:e>
                          <m:r>
                            <a:rPr lang="en-US" altLang="en-US" sz="3000" i="1" smtClean="0">
                              <a:solidFill>
                                <a:schemeClr val="tx1"/>
                              </a:solidFill>
                              <a:latin typeface="Cambria Math"/>
                              <a:ea typeface="Cambria Math"/>
                            </a:rPr>
                            <m:t>𝜈</m:t>
                          </m:r>
                        </m:e>
                        <m:sup>
                          <m:r>
                            <a:rPr lang="en-US" altLang="en-US" sz="3000" b="0" i="1" smtClean="0">
                              <a:solidFill>
                                <a:schemeClr val="tx1"/>
                              </a:solidFill>
                              <a:latin typeface="Cambria Math"/>
                              <a:ea typeface="Cambria Math"/>
                            </a:rPr>
                            <m:t>′</m:t>
                          </m:r>
                        </m:sup>
                      </m:sSup>
                      <m:d>
                        <m:dPr>
                          <m:ctrlPr>
                            <a:rPr lang="en-US" altLang="en-US" sz="3000" b="0" i="1" smtClean="0">
                              <a:solidFill>
                                <a:schemeClr val="tx1"/>
                              </a:solidFill>
                              <a:latin typeface="Cambria Math"/>
                              <a:ea typeface="Cambria Math"/>
                            </a:rPr>
                          </m:ctrlPr>
                        </m:dPr>
                        <m:e>
                          <m:sSub>
                            <m:sSubPr>
                              <m:ctrlPr>
                                <a:rPr lang="en-US" altLang="en-US" sz="3000" b="0" i="1" smtClean="0">
                                  <a:solidFill>
                                    <a:schemeClr val="tx1"/>
                                  </a:solidFill>
                                  <a:latin typeface="Cambria Math"/>
                                  <a:ea typeface="Cambria Math"/>
                                </a:rPr>
                              </m:ctrlPr>
                            </m:sSubPr>
                            <m:e>
                              <m:r>
                                <a:rPr lang="en-US" altLang="en-US" sz="3000" b="0" i="1" smtClean="0">
                                  <a:solidFill>
                                    <a:schemeClr val="tx1"/>
                                  </a:solidFill>
                                  <a:latin typeface="Cambria Math"/>
                                  <a:ea typeface="Cambria Math"/>
                                </a:rPr>
                                <m:t>𝑞</m:t>
                              </m:r>
                              <m:r>
                                <a:rPr lang="en-US" altLang="en-US" sz="3000" b="0" i="1" baseline="30000" smtClean="0">
                                  <a:solidFill>
                                    <a:schemeClr val="tx1"/>
                                  </a:solidFill>
                                  <a:latin typeface="Cambria Math"/>
                                  <a:ea typeface="Cambria Math"/>
                                </a:rPr>
                                <m:t>∗∗</m:t>
                              </m:r>
                            </m:e>
                            <m:sub>
                              <m:r>
                                <a:rPr lang="en-US" altLang="en-US" sz="3000" b="0" i="1" smtClean="0">
                                  <a:solidFill>
                                    <a:schemeClr val="tx1"/>
                                  </a:solidFill>
                                  <a:latin typeface="Cambria Math"/>
                                  <a:ea typeface="Cambria Math"/>
                                </a:rPr>
                                <m:t>𝐿</m:t>
                              </m:r>
                            </m:sub>
                          </m:sSub>
                        </m:e>
                      </m:d>
                      <m:r>
                        <a:rPr lang="en-US" altLang="en-US" sz="3000" b="0" i="1" smtClean="0">
                          <a:solidFill>
                            <a:schemeClr val="tx1"/>
                          </a:solidFill>
                          <a:latin typeface="Cambria Math"/>
                          <a:ea typeface="Cambria Math"/>
                        </a:rPr>
                        <m:t>=</m:t>
                      </m:r>
                      <m:r>
                        <a:rPr lang="en-US" altLang="en-US" sz="3000" b="0" i="1" smtClean="0">
                          <a:solidFill>
                            <a:schemeClr val="tx1"/>
                          </a:solidFill>
                          <a:latin typeface="Cambria Math"/>
                          <a:ea typeface="Cambria Math"/>
                        </a:rPr>
                        <m:t>𝑐</m:t>
                      </m:r>
                      <m:r>
                        <a:rPr lang="en-US" altLang="en-US" sz="3000" b="0" i="1" smtClean="0">
                          <a:solidFill>
                            <a:schemeClr val="tx1"/>
                          </a:solidFill>
                          <a:latin typeface="Cambria Math"/>
                          <a:ea typeface="Cambria Math"/>
                        </a:rPr>
                        <m:t>+</m:t>
                      </m:r>
                      <m:f>
                        <m:fPr>
                          <m:ctrlPr>
                            <a:rPr lang="en-US" altLang="en-US" sz="3000" b="0" i="1" smtClean="0">
                              <a:solidFill>
                                <a:schemeClr val="tx1"/>
                              </a:solidFill>
                              <a:latin typeface="Cambria Math"/>
                              <a:ea typeface="Cambria Math"/>
                            </a:rPr>
                          </m:ctrlPr>
                        </m:fPr>
                        <m:num>
                          <m:r>
                            <a:rPr lang="en-US" altLang="en-US" sz="3000" b="0" i="1" smtClean="0">
                              <a:solidFill>
                                <a:schemeClr val="tx1"/>
                              </a:solidFill>
                              <a:latin typeface="Cambria Math"/>
                              <a:ea typeface="Cambria Math"/>
                            </a:rPr>
                            <m:t>𝛽</m:t>
                          </m:r>
                          <m:r>
                            <a:rPr lang="en-US" altLang="en-US" sz="3000" b="0" i="1" smtClean="0">
                              <a:solidFill>
                                <a:schemeClr val="tx1"/>
                              </a:solidFill>
                              <a:latin typeface="Cambria Math"/>
                              <a:ea typeface="Cambria Math"/>
                            </a:rPr>
                            <m:t>(</m:t>
                          </m:r>
                          <m:sSub>
                            <m:sSubPr>
                              <m:ctrlPr>
                                <a:rPr lang="en-US" altLang="en-US" sz="3000" b="0" i="1" smtClean="0">
                                  <a:solidFill>
                                    <a:schemeClr val="tx1"/>
                                  </a:solidFill>
                                  <a:latin typeface="Cambria Math"/>
                                  <a:ea typeface="Cambria Math"/>
                                </a:rPr>
                              </m:ctrlPr>
                            </m:sSubPr>
                            <m:e>
                              <m:r>
                                <a:rPr lang="en-US" altLang="en-US" sz="3000" b="0" i="1" smtClean="0">
                                  <a:solidFill>
                                    <a:schemeClr val="tx1"/>
                                  </a:solidFill>
                                  <a:latin typeface="Cambria Math"/>
                                  <a:ea typeface="Cambria Math"/>
                                </a:rPr>
                                <m:t>𝜃</m:t>
                              </m:r>
                            </m:e>
                            <m:sub>
                              <m:r>
                                <a:rPr lang="en-US" altLang="en-US" sz="3000" b="0" i="1" smtClean="0">
                                  <a:solidFill>
                                    <a:schemeClr val="tx1"/>
                                  </a:solidFill>
                                  <a:latin typeface="Cambria Math"/>
                                  <a:ea typeface="Cambria Math"/>
                                </a:rPr>
                                <m:t>𝐻</m:t>
                              </m:r>
                            </m:sub>
                          </m:sSub>
                          <m:r>
                            <a:rPr lang="en-US" altLang="en-US" sz="3000" b="0" i="1" smtClean="0">
                              <a:solidFill>
                                <a:schemeClr val="tx1"/>
                              </a:solidFill>
                              <a:latin typeface="Cambria Math"/>
                              <a:ea typeface="Cambria Math"/>
                            </a:rPr>
                            <m:t>−</m:t>
                          </m:r>
                          <m:sSub>
                            <m:sSubPr>
                              <m:ctrlPr>
                                <a:rPr lang="en-US" altLang="en-US" sz="3000" b="0" i="1" smtClean="0">
                                  <a:solidFill>
                                    <a:schemeClr val="tx1"/>
                                  </a:solidFill>
                                  <a:latin typeface="Cambria Math"/>
                                  <a:ea typeface="Cambria Math"/>
                                </a:rPr>
                              </m:ctrlPr>
                            </m:sSubPr>
                            <m:e>
                              <m:r>
                                <a:rPr lang="en-US" altLang="en-US" sz="3000" b="0" i="1" smtClean="0">
                                  <a:solidFill>
                                    <a:schemeClr val="tx1"/>
                                  </a:solidFill>
                                  <a:latin typeface="Cambria Math"/>
                                  <a:ea typeface="Cambria Math"/>
                                </a:rPr>
                                <m:t>𝜃</m:t>
                              </m:r>
                            </m:e>
                            <m:sub>
                              <m:r>
                                <a:rPr lang="en-US" altLang="en-US" sz="3000" b="0" i="1" smtClean="0">
                                  <a:solidFill>
                                    <a:schemeClr val="tx1"/>
                                  </a:solidFill>
                                  <a:latin typeface="Cambria Math"/>
                                  <a:ea typeface="Cambria Math"/>
                                </a:rPr>
                                <m:t>𝐿</m:t>
                              </m:r>
                            </m:sub>
                          </m:sSub>
                          <m:r>
                            <a:rPr lang="en-US" altLang="en-US" sz="3000" b="0" i="1" smtClean="0">
                              <a:solidFill>
                                <a:schemeClr val="tx1"/>
                              </a:solidFill>
                              <a:latin typeface="Cambria Math"/>
                              <a:ea typeface="Cambria Math"/>
                            </a:rPr>
                            <m:t>)</m:t>
                          </m:r>
                          <m:r>
                            <a:rPr lang="en-US" altLang="en-US" sz="3000" b="0" i="1" smtClean="0">
                              <a:solidFill>
                                <a:schemeClr val="tx1"/>
                              </a:solidFill>
                              <a:latin typeface="Cambria Math"/>
                              <a:ea typeface="Cambria Math"/>
                            </a:rPr>
                            <m:t>𝜈</m:t>
                          </m:r>
                          <m:r>
                            <a:rPr lang="en-US" altLang="en-US" sz="3000" b="0" i="1" smtClean="0">
                              <a:solidFill>
                                <a:schemeClr val="tx1"/>
                              </a:solidFill>
                              <a:latin typeface="Cambria Math"/>
                              <a:ea typeface="Cambria Math"/>
                            </a:rPr>
                            <m:t>′</m:t>
                          </m:r>
                          <m:d>
                            <m:dPr>
                              <m:ctrlPr>
                                <a:rPr lang="en-US" altLang="en-US" sz="3000" i="1">
                                  <a:solidFill>
                                    <a:schemeClr val="tx1"/>
                                  </a:solidFill>
                                  <a:latin typeface="Cambria Math"/>
                                  <a:ea typeface="Cambria Math"/>
                                </a:rPr>
                              </m:ctrlPr>
                            </m:dPr>
                            <m:e>
                              <m:sSub>
                                <m:sSubPr>
                                  <m:ctrlPr>
                                    <a:rPr lang="en-US" altLang="en-US" sz="3000" i="1">
                                      <a:solidFill>
                                        <a:schemeClr val="tx1"/>
                                      </a:solidFill>
                                      <a:latin typeface="Cambria Math"/>
                                      <a:ea typeface="Cambria Math"/>
                                    </a:rPr>
                                  </m:ctrlPr>
                                </m:sSubPr>
                                <m:e>
                                  <m:r>
                                    <a:rPr lang="en-US" altLang="en-US" sz="3000" i="1">
                                      <a:solidFill>
                                        <a:schemeClr val="tx1"/>
                                      </a:solidFill>
                                      <a:latin typeface="Cambria Math"/>
                                      <a:ea typeface="Cambria Math"/>
                                    </a:rPr>
                                    <m:t>𝑞</m:t>
                                  </m:r>
                                  <m:r>
                                    <a:rPr lang="en-US" altLang="en-US" sz="3000" i="1" baseline="30000">
                                      <a:solidFill>
                                        <a:schemeClr val="tx1"/>
                                      </a:solidFill>
                                      <a:latin typeface="Cambria Math"/>
                                      <a:ea typeface="Cambria Math"/>
                                    </a:rPr>
                                    <m:t>∗∗</m:t>
                                  </m:r>
                                </m:e>
                                <m:sub>
                                  <m:r>
                                    <a:rPr lang="en-US" altLang="en-US" sz="3000" i="1">
                                      <a:solidFill>
                                        <a:schemeClr val="tx1"/>
                                      </a:solidFill>
                                      <a:latin typeface="Cambria Math"/>
                                      <a:ea typeface="Cambria Math"/>
                                    </a:rPr>
                                    <m:t>𝐿</m:t>
                                  </m:r>
                                </m:sub>
                              </m:sSub>
                            </m:e>
                          </m:d>
                        </m:num>
                        <m:den>
                          <m:r>
                            <a:rPr lang="en-US" altLang="en-US" sz="3000" b="0" i="1" smtClean="0">
                              <a:solidFill>
                                <a:schemeClr val="tx1"/>
                              </a:solidFill>
                              <a:latin typeface="Cambria Math"/>
                              <a:ea typeface="Cambria Math"/>
                            </a:rPr>
                            <m:t>1−</m:t>
                          </m:r>
                          <m:r>
                            <a:rPr lang="en-US" altLang="en-US" sz="3000" b="0" i="1" smtClean="0">
                              <a:solidFill>
                                <a:schemeClr val="tx1"/>
                              </a:solidFill>
                              <a:latin typeface="Cambria Math"/>
                              <a:ea typeface="Cambria Math"/>
                            </a:rPr>
                            <m:t>𝛽</m:t>
                          </m:r>
                        </m:den>
                      </m:f>
                      <m:r>
                        <a:rPr lang="en-US" altLang="en-US" sz="3000" b="0" i="1" smtClean="0">
                          <a:solidFill>
                            <a:schemeClr val="tx1"/>
                          </a:solidFill>
                          <a:latin typeface="Cambria Math"/>
                          <a:ea typeface="Cambria Math"/>
                        </a:rPr>
                        <m:t>&gt;</m:t>
                      </m:r>
                      <m:r>
                        <a:rPr lang="en-US" altLang="en-US" sz="3000" b="0" i="1" smtClean="0">
                          <a:solidFill>
                            <a:schemeClr val="tx1"/>
                          </a:solidFill>
                          <a:latin typeface="Cambria Math"/>
                          <a:ea typeface="Cambria Math"/>
                        </a:rPr>
                        <m:t>𝑐</m:t>
                      </m:r>
                    </m:oMath>
                  </m:oMathPara>
                </a14:m>
                <a:endParaRPr lang="en-US" altLang="en-US" sz="3000" dirty="0">
                  <a:solidFill>
                    <a:schemeClr val="tx1"/>
                  </a:solidFill>
                </a:endParaRPr>
              </a:p>
              <a:p>
                <a:r>
                  <a:rPr lang="en-US" altLang="en-US" dirty="0" smtClean="0"/>
                  <a:t>And</a:t>
                </a:r>
              </a:p>
              <a:p>
                <a:pPr marL="0" indent="0">
                  <a:buNone/>
                </a:pPr>
                <a14:m>
                  <m:oMathPara xmlns:m="http://schemas.openxmlformats.org/officeDocument/2006/math">
                    <m:oMathParaPr>
                      <m:jc m:val="centerGroup"/>
                    </m:oMathParaPr>
                    <m:oMath xmlns:m="http://schemas.openxmlformats.org/officeDocument/2006/math">
                      <m:sSub>
                        <m:sSubPr>
                          <m:ctrlPr>
                            <a:rPr lang="en-US" altLang="en-US" sz="3200" i="1">
                              <a:solidFill>
                                <a:schemeClr val="tx1"/>
                              </a:solidFill>
                              <a:latin typeface="Cambria Math"/>
                            </a:rPr>
                          </m:ctrlPr>
                        </m:sSubPr>
                        <m:e>
                          <m:r>
                            <a:rPr lang="en-US" altLang="en-US" sz="3200" i="1">
                              <a:solidFill>
                                <a:schemeClr val="tx1"/>
                              </a:solidFill>
                              <a:latin typeface="Cambria Math"/>
                              <a:ea typeface="Cambria Math"/>
                            </a:rPr>
                            <m:t>𝜃</m:t>
                          </m:r>
                        </m:e>
                        <m:sub>
                          <m:r>
                            <a:rPr lang="en-US" altLang="en-US" sz="3200" b="0" i="1" smtClean="0">
                              <a:solidFill>
                                <a:schemeClr val="tx1"/>
                              </a:solidFill>
                              <a:latin typeface="Cambria Math"/>
                            </a:rPr>
                            <m:t>𝐻</m:t>
                          </m:r>
                        </m:sub>
                      </m:sSub>
                      <m:sSup>
                        <m:sSupPr>
                          <m:ctrlPr>
                            <a:rPr lang="en-US" altLang="en-US" sz="3200" i="1">
                              <a:solidFill>
                                <a:schemeClr val="tx1"/>
                              </a:solidFill>
                              <a:latin typeface="Cambria Math"/>
                              <a:ea typeface="Cambria Math"/>
                            </a:rPr>
                          </m:ctrlPr>
                        </m:sSupPr>
                        <m:e>
                          <m:r>
                            <a:rPr lang="en-US" altLang="en-US" sz="3200" i="1">
                              <a:solidFill>
                                <a:schemeClr val="tx1"/>
                              </a:solidFill>
                              <a:latin typeface="Cambria Math"/>
                              <a:ea typeface="Cambria Math"/>
                            </a:rPr>
                            <m:t>𝜈</m:t>
                          </m:r>
                        </m:e>
                        <m:sup>
                          <m:r>
                            <a:rPr lang="en-US" altLang="en-US" sz="3200" i="1">
                              <a:solidFill>
                                <a:schemeClr val="tx1"/>
                              </a:solidFill>
                              <a:latin typeface="Cambria Math"/>
                              <a:ea typeface="Cambria Math"/>
                            </a:rPr>
                            <m:t>′</m:t>
                          </m:r>
                        </m:sup>
                      </m:sSup>
                      <m:d>
                        <m:dPr>
                          <m:ctrlPr>
                            <a:rPr lang="en-US" altLang="en-US" sz="3200" i="1">
                              <a:solidFill>
                                <a:schemeClr val="tx1"/>
                              </a:solidFill>
                              <a:latin typeface="Cambria Math"/>
                              <a:ea typeface="Cambria Math"/>
                            </a:rPr>
                          </m:ctrlPr>
                        </m:dPr>
                        <m:e>
                          <m:sSub>
                            <m:sSubPr>
                              <m:ctrlPr>
                                <a:rPr lang="en-US" altLang="en-US" sz="3200" i="1">
                                  <a:solidFill>
                                    <a:schemeClr val="tx1"/>
                                  </a:solidFill>
                                  <a:latin typeface="Cambria Math"/>
                                  <a:ea typeface="Cambria Math"/>
                                </a:rPr>
                              </m:ctrlPr>
                            </m:sSubPr>
                            <m:e>
                              <m:r>
                                <a:rPr lang="en-US" altLang="en-US" sz="3200" i="1">
                                  <a:solidFill>
                                    <a:schemeClr val="tx1"/>
                                  </a:solidFill>
                                  <a:latin typeface="Cambria Math"/>
                                  <a:ea typeface="Cambria Math"/>
                                </a:rPr>
                                <m:t>𝑞</m:t>
                              </m:r>
                              <m:r>
                                <a:rPr lang="en-US" altLang="en-US" sz="3200" i="1" baseline="30000">
                                  <a:solidFill>
                                    <a:schemeClr val="tx1"/>
                                  </a:solidFill>
                                  <a:latin typeface="Cambria Math"/>
                                  <a:ea typeface="Cambria Math"/>
                                </a:rPr>
                                <m:t>∗∗</m:t>
                              </m:r>
                            </m:e>
                            <m:sub>
                              <m:r>
                                <a:rPr lang="en-US" altLang="en-US" sz="3200" b="0" i="1" smtClean="0">
                                  <a:solidFill>
                                    <a:schemeClr val="tx1"/>
                                  </a:solidFill>
                                  <a:latin typeface="Cambria Math"/>
                                  <a:ea typeface="Cambria Math"/>
                                </a:rPr>
                                <m:t>𝐻</m:t>
                              </m:r>
                            </m:sub>
                          </m:sSub>
                        </m:e>
                      </m:d>
                      <m:r>
                        <a:rPr lang="en-US" altLang="en-US" sz="3200" i="1">
                          <a:solidFill>
                            <a:schemeClr val="tx1"/>
                          </a:solidFill>
                          <a:latin typeface="Cambria Math"/>
                          <a:ea typeface="Cambria Math"/>
                        </a:rPr>
                        <m:t>=</m:t>
                      </m:r>
                      <m:r>
                        <a:rPr lang="en-US" altLang="en-US" sz="3200" i="1">
                          <a:solidFill>
                            <a:schemeClr val="tx1"/>
                          </a:solidFill>
                          <a:latin typeface="Cambria Math"/>
                          <a:ea typeface="Cambria Math"/>
                        </a:rPr>
                        <m:t>𝑐</m:t>
                      </m:r>
                    </m:oMath>
                  </m:oMathPara>
                </a14:m>
                <a:endParaRPr lang="en-US" altLang="en-US" sz="3200" dirty="0" smtClean="0">
                  <a:solidFill>
                    <a:schemeClr val="tx1"/>
                  </a:solidFill>
                </a:endParaRPr>
              </a:p>
              <a:p>
                <a:endParaRPr lang="en-US" altLang="en-US" sz="3200" dirty="0" smtClean="0">
                  <a:solidFill>
                    <a:srgbClr val="C00000"/>
                  </a:solidFill>
                  <a:cs typeface="Times New Roman" panose="02020603050405020304" pitchFamily="18" charset="0"/>
                  <a:sym typeface="Symbol" pitchFamily="18" charset="2"/>
                </a:endParaRPr>
              </a:p>
            </p:txBody>
          </p:sp>
        </mc:Choice>
        <mc:Fallback xmlns="">
          <p:sp>
            <p:nvSpPr>
              <p:cNvPr id="61443"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5113D61-9E80-4248-A8DA-600B9D8BAB7D}" type="slidenum">
              <a:rPr lang="en-US" smtClean="0"/>
              <a:pPr>
                <a:defRPr/>
              </a:pPr>
              <a:t>52</a:t>
            </a:fld>
            <a:endParaRPr lang="en-US"/>
          </a:p>
        </p:txBody>
      </p:sp>
    </p:spTree>
    <p:extLst>
      <p:ext uri="{BB962C8B-B14F-4D97-AF65-F5344CB8AC3E}">
        <p14:creationId xmlns:p14="http://schemas.microsoft.com/office/powerpoint/2010/main" val="407094530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18.6	Second-Best Nonlinear </a:t>
            </a:r>
            <a:r>
              <a:rPr lang="en-US" altLang="en-US" dirty="0" smtClean="0"/>
              <a:t>Pricing</a:t>
            </a:r>
          </a:p>
        </p:txBody>
      </p:sp>
      <p:sp>
        <p:nvSpPr>
          <p:cNvPr id="63491" name="Text Placeholder 2"/>
          <p:cNvSpPr>
            <a:spLocks noGrp="1"/>
          </p:cNvSpPr>
          <p:nvPr>
            <p:ph sz="half" idx="1"/>
          </p:nvPr>
        </p:nvSpPr>
        <p:spPr>
          <a:xfrm>
            <a:off x="304800" y="1447800"/>
            <a:ext cx="2971800" cy="4525963"/>
          </a:xfrm>
        </p:spPr>
        <p:txBody>
          <a:bodyPr>
            <a:normAutofit/>
          </a:bodyPr>
          <a:lstStyle/>
          <a:p>
            <a:pPr>
              <a:spcBef>
                <a:spcPct val="0"/>
              </a:spcBef>
            </a:pPr>
            <a:r>
              <a:rPr lang="en-US" altLang="en-US" dirty="0"/>
              <a:t>The second-best contract is indicated by the circled points D and E. Relative to the incentive-compatible contract found in Figure 18.5 (points B and C), the second-best contract distorts the low type’s quantity (indicated by the move from B to D) in order to make the low type’s bundle less attractive to the high type. This allows the principal to charge tariff to the high type (indicated by the move from C to E).</a:t>
            </a:r>
          </a:p>
          <a:p>
            <a:pPr>
              <a:spcBef>
                <a:spcPct val="0"/>
              </a:spcBef>
            </a:pPr>
            <a:endParaRPr lang="en-US" altLang="en-US" dirty="0" smtClean="0"/>
          </a:p>
        </p:txBody>
      </p:sp>
      <p:sp>
        <p:nvSpPr>
          <p:cNvPr id="63494"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19ED55DA-C83E-48B7-AE6E-E97095A7A351}" type="slidenum">
              <a:rPr lang="en-US" smtClean="0"/>
              <a:pPr>
                <a:defRPr/>
              </a:pPr>
              <a:t>53</a:t>
            </a:fld>
            <a:endParaRPr lang="en-US" dirty="0"/>
          </a:p>
        </p:txBody>
      </p:sp>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838200"/>
            <a:ext cx="5133975"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375782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1986"/>
                                        </p:tgtEl>
                                        <p:attrNameLst>
                                          <p:attrName>style.visibility</p:attrName>
                                        </p:attrNameLst>
                                      </p:cBhvr>
                                      <p:to>
                                        <p:strVal val="visible"/>
                                      </p:to>
                                    </p:set>
                                    <p:animEffect transition="in" filter="wipe(left)">
                                      <p:cBhvr>
                                        <p:cTn id="7" dur="500"/>
                                        <p:tgtEl>
                                          <p:spTgt spid="4198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3491">
                                            <p:txEl>
                                              <p:pRg st="0" end="0"/>
                                            </p:txEl>
                                          </p:spTgt>
                                        </p:tgtEl>
                                        <p:attrNameLst>
                                          <p:attrName>style.visibility</p:attrName>
                                        </p:attrNameLst>
                                      </p:cBhvr>
                                      <p:to>
                                        <p:strVal val="visible"/>
                                      </p:to>
                                    </p:set>
                                    <p:animEffect transition="in" filter="wipe(left)">
                                      <p:cBhvr>
                                        <p:cTn id="11" dur="500"/>
                                        <p:tgtEl>
                                          <p:spTgt spid="6349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18.4 	Monopoly Coffee Shop</a:t>
            </a:r>
          </a:p>
        </p:txBody>
      </p:sp>
      <p:sp>
        <p:nvSpPr>
          <p:cNvPr id="6451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B23DAA17-3C26-4035-B258-CFDF74D6EBB9}" type="slidenum">
              <a:rPr lang="en-US" smtClean="0"/>
              <a:pPr>
                <a:defRPr/>
              </a:pPr>
              <a:t>54</a:t>
            </a:fld>
            <a:endParaRPr lang="en-US" dirty="0"/>
          </a:p>
        </p:txBody>
      </p:sp>
      <p:sp>
        <p:nvSpPr>
          <p:cNvPr id="64515" name="Content Placeholder 2"/>
          <p:cNvSpPr>
            <a:spLocks noGrp="1"/>
          </p:cNvSpPr>
          <p:nvPr>
            <p:ph type="body" sz="quarter" idx="12"/>
          </p:nvPr>
        </p:nvSpPr>
        <p:spPr>
          <a:prstGeom prst="rect">
            <a:avLst/>
          </a:prstGeom>
        </p:spPr>
        <p:txBody>
          <a:bodyPr/>
          <a:lstStyle/>
          <a:p>
            <a:r>
              <a:rPr lang="en-US" altLang="en-US" dirty="0" smtClean="0"/>
              <a:t>The college has a single coffee shop</a:t>
            </a:r>
          </a:p>
          <a:p>
            <a:pPr lvl="1"/>
            <a:r>
              <a:rPr lang="en-US" altLang="en-US" dirty="0" smtClean="0"/>
              <a:t>Faces a marginal cost of 5 cents per ounce</a:t>
            </a:r>
          </a:p>
          <a:p>
            <a:r>
              <a:rPr lang="en-US" altLang="en-US" dirty="0" smtClean="0"/>
              <a:t>The representative customer faces an equal probability of being one of two types</a:t>
            </a:r>
          </a:p>
          <a:p>
            <a:pPr lvl="1"/>
            <a:r>
              <a:rPr lang="en-US" altLang="en-US" dirty="0" smtClean="0"/>
              <a:t>A coffee hound (</a:t>
            </a:r>
            <a:r>
              <a:rPr lang="en-US" altLang="en-US" dirty="0" smtClean="0">
                <a:sym typeface="Symbol" pitchFamily="18" charset="2"/>
              </a:rPr>
              <a:t></a:t>
            </a:r>
            <a:r>
              <a:rPr lang="en-US" altLang="en-US" i="1" baseline="-25000" dirty="0" smtClean="0">
                <a:sym typeface="Symbol" pitchFamily="18" charset="2"/>
              </a:rPr>
              <a:t>H</a:t>
            </a:r>
            <a:r>
              <a:rPr lang="en-US" altLang="en-US" dirty="0" smtClean="0">
                <a:sym typeface="Symbol" pitchFamily="18" charset="2"/>
              </a:rPr>
              <a:t> = 20)</a:t>
            </a:r>
          </a:p>
          <a:p>
            <a:pPr lvl="1"/>
            <a:r>
              <a:rPr lang="en-US" altLang="en-US" dirty="0" smtClean="0">
                <a:sym typeface="Symbol" pitchFamily="18" charset="2"/>
              </a:rPr>
              <a:t>A regular Joe (</a:t>
            </a:r>
            <a:r>
              <a:rPr lang="en-US" altLang="en-US" i="1" baseline="-25000" dirty="0" smtClean="0">
                <a:sym typeface="Symbol" pitchFamily="18" charset="2"/>
              </a:rPr>
              <a:t>L</a:t>
            </a:r>
            <a:r>
              <a:rPr lang="en-US" altLang="en-US" dirty="0" smtClean="0">
                <a:sym typeface="Symbol" pitchFamily="18" charset="2"/>
              </a:rPr>
              <a:t> = 15)</a:t>
            </a:r>
          </a:p>
          <a:p>
            <a:r>
              <a:rPr lang="en-US" altLang="en-US" dirty="0" smtClean="0">
                <a:sym typeface="Symbol" pitchFamily="18" charset="2"/>
              </a:rPr>
              <a:t>Assume </a:t>
            </a:r>
            <a:r>
              <a:rPr lang="en-US" altLang="en-US" i="1" dirty="0" smtClean="0">
                <a:sym typeface="Symbol" pitchFamily="18" charset="2"/>
              </a:rPr>
              <a:t>v</a:t>
            </a:r>
            <a:r>
              <a:rPr lang="en-US" altLang="en-US" dirty="0" smtClean="0">
                <a:sym typeface="Symbol" pitchFamily="18" charset="2"/>
              </a:rPr>
              <a:t>(</a:t>
            </a:r>
            <a:r>
              <a:rPr lang="en-US" altLang="en-US" i="1" dirty="0" smtClean="0">
                <a:sym typeface="Symbol" pitchFamily="18" charset="2"/>
              </a:rPr>
              <a:t>q</a:t>
            </a:r>
            <a:r>
              <a:rPr lang="en-US" altLang="en-US" dirty="0" smtClean="0">
                <a:sym typeface="Symbol" pitchFamily="18" charset="2"/>
              </a:rPr>
              <a:t>) = 2</a:t>
            </a:r>
            <a:r>
              <a:rPr lang="en-US" altLang="en-US" i="1" dirty="0" smtClean="0">
                <a:sym typeface="Symbol" pitchFamily="18" charset="2"/>
              </a:rPr>
              <a:t>q</a:t>
            </a:r>
            <a:r>
              <a:rPr lang="en-US" altLang="en-US" baseline="30000" dirty="0" smtClean="0">
                <a:sym typeface="Symbol" pitchFamily="18" charset="2"/>
              </a:rPr>
              <a:t>0.5</a:t>
            </a:r>
            <a:endParaRPr lang="en-US" altLang="en-US" dirty="0" smtClean="0">
              <a:sym typeface="Symbol" pitchFamily="18" charset="2"/>
            </a:endParaRPr>
          </a:p>
        </p:txBody>
      </p:sp>
    </p:spTree>
    <p:extLst>
      <p:ext uri="{BB962C8B-B14F-4D97-AF65-F5344CB8AC3E}">
        <p14:creationId xmlns:p14="http://schemas.microsoft.com/office/powerpoint/2010/main" val="36174636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18.4 	Monopoly Coffee Shop</a:t>
            </a:r>
          </a:p>
        </p:txBody>
      </p:sp>
      <p:sp>
        <p:nvSpPr>
          <p:cNvPr id="6554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9A340F32-4DCC-4171-B686-C5B078665994}" type="slidenum">
              <a:rPr lang="en-US" smtClean="0"/>
              <a:pPr>
                <a:defRPr/>
              </a:pPr>
              <a:t>55</a:t>
            </a:fld>
            <a:endParaRPr lang="en-US" dirty="0"/>
          </a:p>
        </p:txBody>
      </p:sp>
      <p:sp>
        <p:nvSpPr>
          <p:cNvPr id="65539" name="Content Placeholder 2"/>
          <p:cNvSpPr>
            <a:spLocks noGrp="1"/>
          </p:cNvSpPr>
          <p:nvPr>
            <p:ph type="body" sz="quarter" idx="12"/>
          </p:nvPr>
        </p:nvSpPr>
        <p:spPr>
          <a:prstGeom prst="rect">
            <a:avLst/>
          </a:prstGeom>
        </p:spPr>
        <p:txBody>
          <a:bodyPr/>
          <a:lstStyle/>
          <a:p>
            <a:r>
              <a:rPr lang="en-US" altLang="en-US" dirty="0" smtClean="0"/>
              <a:t>First best</a:t>
            </a:r>
          </a:p>
          <a:p>
            <a:pPr lvl="1"/>
            <a:r>
              <a:rPr lang="en-US" altLang="en-US" dirty="0" smtClean="0"/>
              <a:t>Substituting such that marginal cost = marginal benefit, we get</a:t>
            </a:r>
          </a:p>
          <a:p>
            <a:pPr algn="ctr">
              <a:lnSpc>
                <a:spcPct val="140000"/>
              </a:lnSpc>
              <a:buFontTx/>
              <a:buNone/>
            </a:pPr>
            <a:r>
              <a:rPr lang="en-US" altLang="en-US" sz="2800" i="1" dirty="0" smtClean="0">
                <a:solidFill>
                  <a:srgbClr val="FF0000"/>
                </a:solidFill>
              </a:rPr>
              <a:t>q = </a:t>
            </a:r>
            <a:r>
              <a:rPr lang="en-US" altLang="en-US" sz="2800" dirty="0" smtClean="0">
                <a:solidFill>
                  <a:srgbClr val="FF0000"/>
                </a:solidFill>
              </a:rPr>
              <a:t>(</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c</a:t>
            </a:r>
            <a:r>
              <a:rPr lang="en-US" altLang="en-US" sz="2800" dirty="0" smtClean="0">
                <a:solidFill>
                  <a:srgbClr val="FF0000"/>
                </a:solidFill>
                <a:sym typeface="Symbol" pitchFamily="18" charset="2"/>
              </a:rPr>
              <a:t>)</a:t>
            </a:r>
            <a:r>
              <a:rPr lang="en-US" altLang="en-US" sz="2800" baseline="30000" dirty="0" smtClean="0">
                <a:solidFill>
                  <a:srgbClr val="FF0000"/>
                </a:solidFill>
                <a:sym typeface="Symbol" pitchFamily="18" charset="2"/>
              </a:rPr>
              <a:t>2</a:t>
            </a:r>
            <a:endParaRPr lang="en-US" altLang="en-US" sz="2800" dirty="0" smtClean="0">
              <a:solidFill>
                <a:srgbClr val="FF0000"/>
              </a:solidFill>
              <a:sym typeface="Symbol" pitchFamily="18" charset="2"/>
            </a:endParaRPr>
          </a:p>
          <a:p>
            <a:pPr algn="ctr">
              <a:lnSpc>
                <a:spcPct val="140000"/>
              </a:lnSpc>
              <a:buFontTx/>
              <a:buNone/>
            </a:pPr>
            <a:r>
              <a:rPr lang="en-US" altLang="en-US" sz="2800" i="1" dirty="0" smtClean="0">
                <a:solidFill>
                  <a:srgbClr val="FF0000"/>
                </a:solidFill>
                <a:sym typeface="Symbol" pitchFamily="18" charset="2"/>
              </a:rPr>
              <a:t>q</a:t>
            </a:r>
            <a:r>
              <a:rPr lang="en-US" altLang="en-US" sz="2800" dirty="0" smtClean="0">
                <a:solidFill>
                  <a:srgbClr val="FF0000"/>
                </a:solidFill>
                <a:sym typeface="Symbol" pitchFamily="18" charset="2"/>
              </a:rPr>
              <a:t>*</a:t>
            </a:r>
            <a:r>
              <a:rPr lang="en-US" altLang="en-US" sz="2800" i="1" baseline="-25000" dirty="0" smtClean="0">
                <a:solidFill>
                  <a:srgbClr val="FF0000"/>
                </a:solidFill>
                <a:sym typeface="Symbol" pitchFamily="18" charset="2"/>
              </a:rPr>
              <a:t>L</a:t>
            </a:r>
            <a:r>
              <a:rPr lang="en-US" altLang="en-US" sz="2800" dirty="0" smtClean="0">
                <a:solidFill>
                  <a:srgbClr val="FF0000"/>
                </a:solidFill>
                <a:sym typeface="Symbol" pitchFamily="18" charset="2"/>
              </a:rPr>
              <a:t> = 9      </a:t>
            </a:r>
            <a:r>
              <a:rPr lang="en-US" altLang="en-US" sz="2800" i="1" dirty="0" smtClean="0">
                <a:solidFill>
                  <a:srgbClr val="FF0000"/>
                </a:solidFill>
                <a:sym typeface="Symbol" pitchFamily="18" charset="2"/>
              </a:rPr>
              <a:t>q</a:t>
            </a:r>
            <a:r>
              <a:rPr lang="en-US" altLang="en-US" sz="2800" dirty="0" smtClean="0">
                <a:solidFill>
                  <a:srgbClr val="FF0000"/>
                </a:solidFill>
                <a:sym typeface="Symbol" pitchFamily="18" charset="2"/>
              </a:rPr>
              <a:t>*</a:t>
            </a:r>
            <a:r>
              <a:rPr lang="en-US" altLang="en-US" sz="2800" i="1" baseline="-25000" dirty="0" smtClean="0">
                <a:solidFill>
                  <a:srgbClr val="FF0000"/>
                </a:solidFill>
                <a:sym typeface="Symbol" pitchFamily="18" charset="2"/>
              </a:rPr>
              <a:t>H</a:t>
            </a:r>
            <a:r>
              <a:rPr lang="en-US" altLang="en-US" sz="2800" dirty="0" smtClean="0">
                <a:solidFill>
                  <a:srgbClr val="FF0000"/>
                </a:solidFill>
                <a:sym typeface="Symbol" pitchFamily="18" charset="2"/>
              </a:rPr>
              <a:t> = 16</a:t>
            </a:r>
          </a:p>
          <a:p>
            <a:pPr algn="ctr">
              <a:lnSpc>
                <a:spcPct val="140000"/>
              </a:lnSpc>
              <a:buFontTx/>
              <a:buNone/>
            </a:pPr>
            <a:r>
              <a:rPr lang="en-US" altLang="en-US" sz="2800" i="1" dirty="0" smtClean="0">
                <a:solidFill>
                  <a:srgbClr val="FF0000"/>
                </a:solidFill>
                <a:sym typeface="Symbol" pitchFamily="18" charset="2"/>
              </a:rPr>
              <a:t>T</a:t>
            </a:r>
            <a:r>
              <a:rPr lang="en-US" altLang="en-US" sz="2800" dirty="0" smtClean="0">
                <a:solidFill>
                  <a:srgbClr val="FF0000"/>
                </a:solidFill>
                <a:sym typeface="Symbol" pitchFamily="18" charset="2"/>
              </a:rPr>
              <a:t>*</a:t>
            </a:r>
            <a:r>
              <a:rPr lang="en-US" altLang="en-US" sz="2800" i="1" baseline="-25000" dirty="0" smtClean="0">
                <a:solidFill>
                  <a:srgbClr val="FF0000"/>
                </a:solidFill>
                <a:sym typeface="Symbol" pitchFamily="18" charset="2"/>
              </a:rPr>
              <a:t>L</a:t>
            </a:r>
            <a:r>
              <a:rPr lang="en-US" altLang="en-US" sz="2800" dirty="0" smtClean="0">
                <a:solidFill>
                  <a:srgbClr val="FF0000"/>
                </a:solidFill>
                <a:sym typeface="Symbol" pitchFamily="18" charset="2"/>
              </a:rPr>
              <a:t> = 90     </a:t>
            </a:r>
            <a:r>
              <a:rPr lang="en-US" altLang="en-US" sz="2800" i="1" dirty="0" smtClean="0">
                <a:solidFill>
                  <a:srgbClr val="FF0000"/>
                </a:solidFill>
                <a:sym typeface="Symbol" pitchFamily="18" charset="2"/>
              </a:rPr>
              <a:t>T</a:t>
            </a:r>
            <a:r>
              <a:rPr lang="en-US" altLang="en-US" sz="2800" dirty="0" smtClean="0">
                <a:solidFill>
                  <a:srgbClr val="FF0000"/>
                </a:solidFill>
                <a:sym typeface="Symbol" pitchFamily="18" charset="2"/>
              </a:rPr>
              <a:t>*</a:t>
            </a:r>
            <a:r>
              <a:rPr lang="en-US" altLang="en-US" sz="2800" i="1" baseline="-25000" dirty="0" smtClean="0">
                <a:solidFill>
                  <a:srgbClr val="FF0000"/>
                </a:solidFill>
                <a:sym typeface="Symbol" pitchFamily="18" charset="2"/>
              </a:rPr>
              <a:t>H</a:t>
            </a:r>
            <a:r>
              <a:rPr lang="en-US" altLang="en-US" sz="2800" dirty="0" smtClean="0">
                <a:solidFill>
                  <a:srgbClr val="FF0000"/>
                </a:solidFill>
                <a:sym typeface="Symbol" pitchFamily="18" charset="2"/>
              </a:rPr>
              <a:t> = 160</a:t>
            </a:r>
          </a:p>
          <a:p>
            <a:pPr algn="ctr">
              <a:lnSpc>
                <a:spcPct val="140000"/>
              </a:lnSpc>
              <a:buFontTx/>
              <a:buNone/>
            </a:pPr>
            <a:r>
              <a:rPr lang="en-US" altLang="en-US" sz="2800" i="1" dirty="0" smtClean="0">
                <a:solidFill>
                  <a:srgbClr val="FF0000"/>
                </a:solidFill>
                <a:sym typeface="Symbol" pitchFamily="18" charset="2"/>
              </a:rPr>
              <a:t>Expected profit</a:t>
            </a:r>
            <a:r>
              <a:rPr lang="en-US" altLang="en-US" sz="2800" dirty="0" smtClean="0">
                <a:solidFill>
                  <a:srgbClr val="FF0000"/>
                </a:solidFill>
                <a:sym typeface="Symbol" pitchFamily="18" charset="2"/>
              </a:rPr>
              <a:t> = 62.5</a:t>
            </a:r>
            <a:endParaRPr lang="en-US" altLang="en-US" sz="2800" i="1" dirty="0" smtClean="0">
              <a:solidFill>
                <a:srgbClr val="FF0000"/>
              </a:solidFill>
              <a:sym typeface="Symbol" pitchFamily="18" charset="2"/>
            </a:endParaRPr>
          </a:p>
          <a:p>
            <a:endParaRPr lang="en-US" altLang="en-US" dirty="0" smtClean="0"/>
          </a:p>
        </p:txBody>
      </p:sp>
    </p:spTree>
    <p:extLst>
      <p:ext uri="{BB962C8B-B14F-4D97-AF65-F5344CB8AC3E}">
        <p14:creationId xmlns:p14="http://schemas.microsoft.com/office/powerpoint/2010/main" val="404406534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18.4 	Monopoly Coffee Shop</a:t>
            </a:r>
          </a:p>
        </p:txBody>
      </p:sp>
      <p:sp>
        <p:nvSpPr>
          <p:cNvPr id="66565"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2E6433D6-1EEA-4570-953A-FEA7D878DC6A}" type="slidenum">
              <a:rPr lang="en-US" smtClean="0"/>
              <a:pPr>
                <a:defRPr/>
              </a:pPr>
              <a:t>56</a:t>
            </a:fld>
            <a:endParaRPr lang="en-US" dirty="0"/>
          </a:p>
        </p:txBody>
      </p:sp>
      <p:sp>
        <p:nvSpPr>
          <p:cNvPr id="66563" name="Content Placeholder 2"/>
          <p:cNvSpPr>
            <a:spLocks noGrp="1"/>
          </p:cNvSpPr>
          <p:nvPr>
            <p:ph type="body" sz="quarter" idx="12"/>
          </p:nvPr>
        </p:nvSpPr>
        <p:spPr>
          <a:prstGeom prst="rect">
            <a:avLst/>
          </a:prstGeom>
        </p:spPr>
        <p:txBody>
          <a:bodyPr/>
          <a:lstStyle/>
          <a:p>
            <a:r>
              <a:rPr lang="en-US" altLang="en-US" smtClean="0"/>
              <a:t>Incentive compatibility when types are hidden</a:t>
            </a:r>
          </a:p>
          <a:p>
            <a:pPr lvl="1"/>
            <a:r>
              <a:rPr lang="en-US" altLang="en-US" smtClean="0"/>
              <a:t>The first-best pricing scheme is not incentive compatible if the monopolist cannot observe type</a:t>
            </a:r>
          </a:p>
          <a:p>
            <a:pPr lvl="2"/>
            <a:r>
              <a:rPr lang="en-US" altLang="en-US" smtClean="0"/>
              <a:t>Keeping the cup sizes the same, the price for the large cup would have to be reduced by 30 cents</a:t>
            </a:r>
          </a:p>
          <a:p>
            <a:pPr lvl="2"/>
            <a:r>
              <a:rPr lang="en-US" altLang="en-US" smtClean="0"/>
              <a:t>The shop’s expected profit falls to 47.5</a:t>
            </a:r>
          </a:p>
        </p:txBody>
      </p:sp>
    </p:spTree>
    <p:extLst>
      <p:ext uri="{BB962C8B-B14F-4D97-AF65-F5344CB8AC3E}">
        <p14:creationId xmlns:p14="http://schemas.microsoft.com/office/powerpoint/2010/main" val="11654876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18.4 	Monopoly Coffee Shop</a:t>
            </a:r>
          </a:p>
        </p:txBody>
      </p:sp>
      <p:sp>
        <p:nvSpPr>
          <p:cNvPr id="6758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0157B624-AF22-41C9-9894-C929494BE36F}" type="slidenum">
              <a:rPr lang="en-US" smtClean="0"/>
              <a:pPr>
                <a:defRPr/>
              </a:pPr>
              <a:t>57</a:t>
            </a:fld>
            <a:endParaRPr lang="en-US" dirty="0"/>
          </a:p>
        </p:txBody>
      </p:sp>
      <p:sp>
        <p:nvSpPr>
          <p:cNvPr id="67587" name="Content Placeholder 2"/>
          <p:cNvSpPr>
            <a:spLocks noGrp="1"/>
          </p:cNvSpPr>
          <p:nvPr>
            <p:ph type="body" sz="quarter" idx="12"/>
          </p:nvPr>
        </p:nvSpPr>
        <p:spPr>
          <a:prstGeom prst="rect">
            <a:avLst/>
          </a:prstGeom>
        </p:spPr>
        <p:txBody>
          <a:bodyPr/>
          <a:lstStyle/>
          <a:p>
            <a:r>
              <a:rPr lang="en-US" altLang="en-US" dirty="0" smtClean="0"/>
              <a:t>Second best</a:t>
            </a:r>
          </a:p>
          <a:p>
            <a:pPr lvl="1"/>
            <a:r>
              <a:rPr lang="en-US" altLang="en-US" dirty="0" smtClean="0"/>
              <a:t>The shop can do better by reducing the size of the small cup</a:t>
            </a:r>
          </a:p>
          <a:p>
            <a:pPr lvl="1"/>
            <a:r>
              <a:rPr lang="en-US" altLang="en-US" dirty="0" smtClean="0"/>
              <a:t>The size that is second best would be</a:t>
            </a:r>
          </a:p>
          <a:p>
            <a:pPr algn="ctr">
              <a:lnSpc>
                <a:spcPct val="120000"/>
              </a:lnSpc>
              <a:buFontTx/>
              <a:buNone/>
            </a:pPr>
            <a:r>
              <a:rPr lang="en-US" altLang="en-US" sz="2800" dirty="0" smtClean="0">
                <a:solidFill>
                  <a:srgbClr val="FF0000"/>
                </a:solidFill>
                <a:sym typeface="Symbol" pitchFamily="18" charset="2"/>
              </a:rPr>
              <a:t></a:t>
            </a:r>
            <a:r>
              <a:rPr lang="en-US" altLang="en-US" sz="2800" i="1" baseline="-25000" dirty="0" smtClean="0">
                <a:solidFill>
                  <a:srgbClr val="FF0000"/>
                </a:solidFill>
                <a:sym typeface="Symbol" pitchFamily="18" charset="2"/>
              </a:rPr>
              <a:t>L</a:t>
            </a:r>
            <a:r>
              <a:rPr lang="en-US" altLang="en-US" sz="2800" i="1" dirty="0" smtClean="0">
                <a:solidFill>
                  <a:srgbClr val="FF0000"/>
                </a:solidFill>
                <a:sym typeface="Symbol" pitchFamily="18" charset="2"/>
              </a:rPr>
              <a:t>q</a:t>
            </a:r>
            <a:r>
              <a:rPr lang="en-US" altLang="en-US" sz="2800" i="1" baseline="-25000" dirty="0" smtClean="0">
                <a:solidFill>
                  <a:srgbClr val="FF0000"/>
                </a:solidFill>
                <a:sym typeface="Symbol" pitchFamily="18" charset="2"/>
              </a:rPr>
              <a:t>L</a:t>
            </a:r>
            <a:r>
              <a:rPr lang="en-US" altLang="en-US" sz="2800" baseline="30000" dirty="0" smtClean="0">
                <a:solidFill>
                  <a:srgbClr val="FF0000"/>
                </a:solidFill>
                <a:sym typeface="Symbol" pitchFamily="18" charset="2"/>
              </a:rPr>
              <a:t>-0.5</a:t>
            </a:r>
            <a:r>
              <a:rPr lang="en-US" altLang="en-US" sz="2800" dirty="0" smtClean="0">
                <a:solidFill>
                  <a:srgbClr val="FF0000"/>
                </a:solidFill>
                <a:sym typeface="Symbol" pitchFamily="18" charset="2"/>
              </a:rPr>
              <a:t> = </a:t>
            </a:r>
            <a:r>
              <a:rPr lang="en-US" altLang="en-US" sz="2800" i="1" dirty="0" smtClean="0">
                <a:solidFill>
                  <a:srgbClr val="FF0000"/>
                </a:solidFill>
                <a:sym typeface="Symbol" pitchFamily="18" charset="2"/>
              </a:rPr>
              <a:t>c</a:t>
            </a:r>
            <a:r>
              <a:rPr lang="en-US" altLang="en-US" sz="2800" dirty="0" smtClean="0">
                <a:solidFill>
                  <a:srgbClr val="FF0000"/>
                </a:solidFill>
                <a:sym typeface="Symbol" pitchFamily="18" charset="2"/>
              </a:rPr>
              <a:t> + (</a:t>
            </a:r>
            <a:r>
              <a:rPr lang="en-US" altLang="en-US" sz="2800" i="1" baseline="-25000" dirty="0" smtClean="0">
                <a:solidFill>
                  <a:srgbClr val="FF0000"/>
                </a:solidFill>
                <a:sym typeface="Symbol" pitchFamily="18" charset="2"/>
              </a:rPr>
              <a:t>H</a:t>
            </a:r>
            <a:r>
              <a:rPr lang="en-US" altLang="en-US" sz="2800" dirty="0" smtClean="0">
                <a:solidFill>
                  <a:srgbClr val="FF0000"/>
                </a:solidFill>
                <a:sym typeface="Symbol" pitchFamily="18" charset="2"/>
              </a:rPr>
              <a:t> - </a:t>
            </a:r>
            <a:r>
              <a:rPr lang="en-US" altLang="en-US" sz="2800" i="1" baseline="-25000" dirty="0" smtClean="0">
                <a:solidFill>
                  <a:srgbClr val="FF0000"/>
                </a:solidFill>
                <a:sym typeface="Symbol" pitchFamily="18" charset="2"/>
              </a:rPr>
              <a:t>L</a:t>
            </a:r>
            <a:r>
              <a:rPr lang="en-US" altLang="en-US" sz="2800" dirty="0" smtClean="0">
                <a:solidFill>
                  <a:srgbClr val="FF0000"/>
                </a:solidFill>
                <a:sym typeface="Symbol" pitchFamily="18" charset="2"/>
              </a:rPr>
              <a:t>)</a:t>
            </a:r>
            <a:r>
              <a:rPr lang="en-US" altLang="en-US" sz="2800" i="1" dirty="0" smtClean="0">
                <a:solidFill>
                  <a:srgbClr val="FF0000"/>
                </a:solidFill>
                <a:sym typeface="Symbol" pitchFamily="18" charset="2"/>
              </a:rPr>
              <a:t>q</a:t>
            </a:r>
            <a:r>
              <a:rPr lang="en-US" altLang="en-US" sz="2800" i="1" baseline="-25000" dirty="0" smtClean="0">
                <a:solidFill>
                  <a:srgbClr val="FF0000"/>
                </a:solidFill>
                <a:sym typeface="Symbol" pitchFamily="18" charset="2"/>
              </a:rPr>
              <a:t>L</a:t>
            </a:r>
            <a:r>
              <a:rPr lang="en-US" altLang="en-US" sz="2800" baseline="30000" dirty="0" smtClean="0">
                <a:solidFill>
                  <a:srgbClr val="FF0000"/>
                </a:solidFill>
                <a:sym typeface="Symbol" pitchFamily="18" charset="2"/>
              </a:rPr>
              <a:t>-0.5</a:t>
            </a:r>
          </a:p>
          <a:p>
            <a:pPr algn="ctr">
              <a:lnSpc>
                <a:spcPct val="120000"/>
              </a:lnSpc>
              <a:buFontTx/>
              <a:buNone/>
            </a:pPr>
            <a:r>
              <a:rPr lang="en-US" altLang="en-US" sz="2800" i="1" dirty="0" smtClean="0">
                <a:solidFill>
                  <a:srgbClr val="FF0000"/>
                </a:solidFill>
                <a:sym typeface="Symbol" pitchFamily="18" charset="2"/>
              </a:rPr>
              <a:t>q</a:t>
            </a:r>
            <a:r>
              <a:rPr lang="en-US" altLang="en-US" sz="2800" dirty="0" smtClean="0">
                <a:solidFill>
                  <a:srgbClr val="FF0000"/>
                </a:solidFill>
                <a:sym typeface="Symbol" pitchFamily="18" charset="2"/>
              </a:rPr>
              <a:t>**</a:t>
            </a:r>
            <a:r>
              <a:rPr lang="en-US" altLang="en-US" sz="2800" i="1" baseline="-25000" dirty="0" smtClean="0">
                <a:solidFill>
                  <a:srgbClr val="FF0000"/>
                </a:solidFill>
                <a:sym typeface="Symbol" pitchFamily="18" charset="2"/>
              </a:rPr>
              <a:t>L</a:t>
            </a:r>
            <a:r>
              <a:rPr lang="en-US" altLang="en-US" sz="2800" dirty="0" smtClean="0">
                <a:solidFill>
                  <a:srgbClr val="FF0000"/>
                </a:solidFill>
                <a:sym typeface="Symbol" pitchFamily="18" charset="2"/>
              </a:rPr>
              <a:t> = 4</a:t>
            </a:r>
          </a:p>
          <a:p>
            <a:pPr algn="ctr">
              <a:lnSpc>
                <a:spcPct val="120000"/>
              </a:lnSpc>
              <a:buFontTx/>
              <a:buNone/>
            </a:pPr>
            <a:r>
              <a:rPr lang="en-US" altLang="en-US" sz="2800" i="1" dirty="0" smtClean="0">
                <a:solidFill>
                  <a:srgbClr val="FF0000"/>
                </a:solidFill>
                <a:sym typeface="Symbol" pitchFamily="18" charset="2"/>
              </a:rPr>
              <a:t>T</a:t>
            </a:r>
            <a:r>
              <a:rPr lang="en-US" altLang="en-US" sz="2800" dirty="0" smtClean="0">
                <a:solidFill>
                  <a:srgbClr val="FF0000"/>
                </a:solidFill>
                <a:sym typeface="Symbol" pitchFamily="18" charset="2"/>
              </a:rPr>
              <a:t>**</a:t>
            </a:r>
            <a:r>
              <a:rPr lang="en-US" altLang="en-US" sz="2800" baseline="-25000" dirty="0" smtClean="0">
                <a:solidFill>
                  <a:srgbClr val="FF0000"/>
                </a:solidFill>
                <a:sym typeface="Symbol" pitchFamily="18" charset="2"/>
              </a:rPr>
              <a:t>L</a:t>
            </a:r>
            <a:r>
              <a:rPr lang="en-US" altLang="en-US" sz="2800" dirty="0" smtClean="0">
                <a:solidFill>
                  <a:srgbClr val="FF0000"/>
                </a:solidFill>
                <a:sym typeface="Symbol" pitchFamily="18" charset="2"/>
              </a:rPr>
              <a:t> = 60</a:t>
            </a:r>
          </a:p>
          <a:p>
            <a:pPr algn="ctr">
              <a:lnSpc>
                <a:spcPct val="120000"/>
              </a:lnSpc>
              <a:buFontTx/>
              <a:buNone/>
            </a:pPr>
            <a:r>
              <a:rPr lang="en-US" altLang="en-US" sz="2800" i="1" dirty="0" smtClean="0">
                <a:solidFill>
                  <a:srgbClr val="FF0000"/>
                </a:solidFill>
                <a:sym typeface="Symbol" pitchFamily="18" charset="2"/>
              </a:rPr>
              <a:t>Expected profit</a:t>
            </a:r>
            <a:r>
              <a:rPr lang="en-US" altLang="en-US" sz="2800" dirty="0" smtClean="0">
                <a:solidFill>
                  <a:srgbClr val="FF0000"/>
                </a:solidFill>
                <a:sym typeface="Symbol" pitchFamily="18" charset="2"/>
              </a:rPr>
              <a:t> = 50</a:t>
            </a:r>
            <a:endParaRPr lang="en-US" altLang="en-US" sz="2800" i="1" dirty="0" smtClean="0">
              <a:solidFill>
                <a:srgbClr val="FF0000"/>
              </a:solidFill>
              <a:sym typeface="Symbol" pitchFamily="18" charset="2"/>
            </a:endParaRPr>
          </a:p>
          <a:p>
            <a:endParaRPr lang="en-US" altLang="en-US" dirty="0" smtClean="0"/>
          </a:p>
        </p:txBody>
      </p:sp>
    </p:spTree>
    <p:extLst>
      <p:ext uri="{BB962C8B-B14F-4D97-AF65-F5344CB8AC3E}">
        <p14:creationId xmlns:p14="http://schemas.microsoft.com/office/powerpoint/2010/main" val="294190707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Continuum of Types</a:t>
            </a:r>
          </a:p>
        </p:txBody>
      </p:sp>
      <p:sp>
        <p:nvSpPr>
          <p:cNvPr id="3" name="Content Placeholder 2"/>
          <p:cNvSpPr>
            <a:spLocks noGrp="1"/>
          </p:cNvSpPr>
          <p:nvPr>
            <p:ph idx="1"/>
          </p:nvPr>
        </p:nvSpPr>
        <p:spPr/>
        <p:txBody>
          <a:bodyPr/>
          <a:lstStyle/>
          <a:p>
            <a:r>
              <a:rPr lang="en-US" dirty="0" smtClean="0"/>
              <a:t>Consumer’s type, </a:t>
            </a:r>
            <a:r>
              <a:rPr lang="el-GR" dirty="0" smtClean="0"/>
              <a:t>θ</a:t>
            </a:r>
            <a:endParaRPr lang="en-US" dirty="0" smtClean="0"/>
          </a:p>
          <a:p>
            <a:pPr lvl="1"/>
            <a:r>
              <a:rPr lang="en-US" dirty="0" smtClean="0"/>
              <a:t>Continuous between </a:t>
            </a:r>
            <a:r>
              <a:rPr lang="el-GR" dirty="0" smtClean="0"/>
              <a:t>θ</a:t>
            </a:r>
            <a:r>
              <a:rPr lang="en-US" baseline="-25000" dirty="0" smtClean="0"/>
              <a:t>L</a:t>
            </a:r>
            <a:r>
              <a:rPr lang="en-US" dirty="0" smtClean="0"/>
              <a:t> and </a:t>
            </a:r>
            <a:r>
              <a:rPr lang="el-GR" dirty="0" smtClean="0"/>
              <a:t>θ</a:t>
            </a:r>
            <a:r>
              <a:rPr lang="en-US" baseline="-25000" dirty="0" smtClean="0"/>
              <a:t>H</a:t>
            </a:r>
          </a:p>
          <a:p>
            <a:pPr lvl="1"/>
            <a:r>
              <a:rPr lang="en-US" dirty="0" smtClean="0"/>
              <a:t>Let </a:t>
            </a:r>
          </a:p>
          <a:p>
            <a:pPr lvl="2"/>
            <a:r>
              <a:rPr lang="en-US" dirty="0" smtClean="0"/>
              <a:t> </a:t>
            </a:r>
            <a:r>
              <a:rPr lang="el-GR" dirty="0" smtClean="0"/>
              <a:t>φ</a:t>
            </a:r>
            <a:r>
              <a:rPr lang="en-US" dirty="0" smtClean="0"/>
              <a:t>(</a:t>
            </a:r>
            <a:r>
              <a:rPr lang="el-GR" dirty="0" smtClean="0"/>
              <a:t>θ</a:t>
            </a:r>
            <a:r>
              <a:rPr lang="en-US" dirty="0" smtClean="0"/>
              <a:t>) </a:t>
            </a:r>
            <a:r>
              <a:rPr lang="en-US" dirty="0"/>
              <a:t>be the associated probability density function </a:t>
            </a:r>
            <a:endParaRPr lang="en-US" dirty="0" smtClean="0"/>
          </a:p>
          <a:p>
            <a:pPr lvl="2"/>
            <a:r>
              <a:rPr lang="en-US" dirty="0" smtClean="0"/>
              <a:t>And </a:t>
            </a:r>
            <a:r>
              <a:rPr lang="el-GR" dirty="0" smtClean="0"/>
              <a:t>Φ</a:t>
            </a:r>
            <a:r>
              <a:rPr lang="en-US" dirty="0" smtClean="0"/>
              <a:t>(</a:t>
            </a:r>
            <a:r>
              <a:rPr lang="el-GR" dirty="0" smtClean="0"/>
              <a:t>θ</a:t>
            </a:r>
            <a:r>
              <a:rPr lang="en-US" dirty="0" smtClean="0"/>
              <a:t>) </a:t>
            </a:r>
            <a:r>
              <a:rPr lang="en-US" dirty="0"/>
              <a:t>the cumulative distribution function</a:t>
            </a:r>
            <a:endParaRPr lang="en-US" dirty="0" smtClean="0"/>
          </a:p>
          <a:p>
            <a:pPr lvl="1"/>
            <a:r>
              <a:rPr lang="en-US" dirty="0" smtClean="0"/>
              <a:t>Monopolist offers a menu of bundles</a:t>
            </a:r>
          </a:p>
          <a:p>
            <a:pPr lvl="2"/>
            <a:r>
              <a:rPr lang="en-US" dirty="0" smtClean="0"/>
              <a:t>Specification of quantity q(</a:t>
            </a:r>
            <a:r>
              <a:rPr lang="el-GR" dirty="0" smtClean="0"/>
              <a:t>θ</a:t>
            </a:r>
            <a:r>
              <a:rPr lang="en-US" dirty="0" smtClean="0"/>
              <a:t>) and tariff T(</a:t>
            </a:r>
            <a:r>
              <a:rPr lang="el-GR" dirty="0" smtClean="0"/>
              <a:t>θ</a:t>
            </a:r>
            <a:r>
              <a:rPr lang="en-US" dirty="0" smtClean="0"/>
              <a:t>)</a:t>
            </a:r>
          </a:p>
          <a:p>
            <a:pPr lvl="2"/>
            <a:r>
              <a:rPr lang="en-US" dirty="0" smtClean="0"/>
              <a:t>Continuous schedule </a:t>
            </a:r>
            <a:endParaRPr lang="en-US" dirty="0"/>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58</a:t>
            </a:fld>
            <a:endParaRPr lang="en-US"/>
          </a:p>
        </p:txBody>
      </p:sp>
    </p:spTree>
    <p:extLst>
      <p:ext uri="{BB962C8B-B14F-4D97-AF65-F5344CB8AC3E}">
        <p14:creationId xmlns:p14="http://schemas.microsoft.com/office/powerpoint/2010/main" val="168390567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Continuum of Types</a:t>
            </a:r>
          </a:p>
        </p:txBody>
      </p:sp>
      <p:sp>
        <p:nvSpPr>
          <p:cNvPr id="3" name="Content Placeholder 2"/>
          <p:cNvSpPr>
            <a:spLocks noGrp="1"/>
          </p:cNvSpPr>
          <p:nvPr>
            <p:ph idx="1"/>
          </p:nvPr>
        </p:nvSpPr>
        <p:spPr/>
        <p:txBody>
          <a:bodyPr/>
          <a:lstStyle/>
          <a:p>
            <a:r>
              <a:rPr lang="en-US" dirty="0" smtClean="0"/>
              <a:t>Consumer’s utility function: </a:t>
            </a:r>
            <a:r>
              <a:rPr lang="en-US" sz="2800" dirty="0" smtClean="0">
                <a:solidFill>
                  <a:schemeClr val="tx1"/>
                </a:solidFill>
              </a:rPr>
              <a:t>U(</a:t>
            </a:r>
            <a:r>
              <a:rPr lang="el-GR" sz="2800" dirty="0" smtClean="0">
                <a:solidFill>
                  <a:schemeClr val="tx1"/>
                </a:solidFill>
              </a:rPr>
              <a:t>θ</a:t>
            </a:r>
            <a:r>
              <a:rPr lang="en-US" sz="2800" dirty="0" smtClean="0">
                <a:solidFill>
                  <a:schemeClr val="tx1"/>
                </a:solidFill>
              </a:rPr>
              <a:t>) = </a:t>
            </a:r>
            <a:r>
              <a:rPr lang="el-GR" sz="2800" dirty="0" smtClean="0">
                <a:solidFill>
                  <a:schemeClr val="tx1"/>
                </a:solidFill>
              </a:rPr>
              <a:t>θν</a:t>
            </a:r>
            <a:r>
              <a:rPr lang="en-US" sz="2800" dirty="0" smtClean="0">
                <a:solidFill>
                  <a:schemeClr val="tx1"/>
                </a:solidFill>
              </a:rPr>
              <a:t>(q(</a:t>
            </a:r>
            <a:r>
              <a:rPr lang="el-GR" sz="2800" dirty="0" smtClean="0">
                <a:solidFill>
                  <a:schemeClr val="tx1"/>
                </a:solidFill>
              </a:rPr>
              <a:t>θ</a:t>
            </a:r>
            <a:r>
              <a:rPr lang="en-US" sz="2800" dirty="0" smtClean="0">
                <a:solidFill>
                  <a:schemeClr val="tx1"/>
                </a:solidFill>
              </a:rPr>
              <a:t>)) – T(</a:t>
            </a:r>
            <a:r>
              <a:rPr lang="el-GR" sz="2800" dirty="0" smtClean="0">
                <a:solidFill>
                  <a:schemeClr val="tx1"/>
                </a:solidFill>
              </a:rPr>
              <a:t>θ</a:t>
            </a:r>
            <a:r>
              <a:rPr lang="en-US" sz="2800" dirty="0" smtClean="0">
                <a:solidFill>
                  <a:schemeClr val="tx1"/>
                </a:solidFill>
              </a:rPr>
              <a:t>)</a:t>
            </a:r>
            <a:endParaRPr lang="en-US" sz="2800" dirty="0">
              <a:solidFill>
                <a:schemeClr val="tx1"/>
              </a:solidFill>
            </a:endParaRPr>
          </a:p>
          <a:p>
            <a:r>
              <a:rPr lang="en-US" dirty="0"/>
              <a:t>The monopolist’s profit from serving type </a:t>
            </a:r>
            <a:r>
              <a:rPr lang="el-GR" dirty="0" smtClean="0"/>
              <a:t>θ</a:t>
            </a:r>
            <a:r>
              <a:rPr lang="en-US" dirty="0" smtClean="0"/>
              <a:t>: </a:t>
            </a:r>
            <a:r>
              <a:rPr lang="el-GR" sz="3200" dirty="0" smtClean="0">
                <a:solidFill>
                  <a:schemeClr val="tx1"/>
                </a:solidFill>
              </a:rPr>
              <a:t>Π</a:t>
            </a:r>
            <a:r>
              <a:rPr lang="en-US" sz="3200" dirty="0" smtClean="0">
                <a:solidFill>
                  <a:schemeClr val="tx1"/>
                </a:solidFill>
              </a:rPr>
              <a:t>(</a:t>
            </a:r>
            <a:r>
              <a:rPr lang="el-GR" sz="3200" dirty="0" smtClean="0">
                <a:solidFill>
                  <a:schemeClr val="tx1"/>
                </a:solidFill>
              </a:rPr>
              <a:t>θ</a:t>
            </a:r>
            <a:r>
              <a:rPr lang="en-US" sz="3200" dirty="0" smtClean="0">
                <a:solidFill>
                  <a:schemeClr val="tx1"/>
                </a:solidFill>
              </a:rPr>
              <a:t>) = </a:t>
            </a:r>
            <a:r>
              <a:rPr lang="en-US" sz="3200" dirty="0">
                <a:solidFill>
                  <a:schemeClr val="tx1"/>
                </a:solidFill>
              </a:rPr>
              <a:t>T(</a:t>
            </a:r>
            <a:r>
              <a:rPr lang="el-GR" sz="3200" dirty="0">
                <a:solidFill>
                  <a:schemeClr val="tx1"/>
                </a:solidFill>
              </a:rPr>
              <a:t>θ</a:t>
            </a:r>
            <a:r>
              <a:rPr lang="en-US" sz="3200" dirty="0" smtClean="0">
                <a:solidFill>
                  <a:schemeClr val="tx1"/>
                </a:solidFill>
              </a:rPr>
              <a:t>) – </a:t>
            </a:r>
            <a:r>
              <a:rPr lang="en-US" sz="3200" dirty="0" err="1" smtClean="0">
                <a:solidFill>
                  <a:schemeClr val="tx1"/>
                </a:solidFill>
              </a:rPr>
              <a:t>cq</a:t>
            </a:r>
            <a:r>
              <a:rPr lang="en-US" sz="3200" dirty="0" smtClean="0">
                <a:solidFill>
                  <a:schemeClr val="tx1"/>
                </a:solidFill>
              </a:rPr>
              <a:t>(</a:t>
            </a:r>
            <a:r>
              <a:rPr lang="el-GR" sz="3200" dirty="0" smtClean="0">
                <a:solidFill>
                  <a:schemeClr val="tx1"/>
                </a:solidFill>
              </a:rPr>
              <a:t>θ</a:t>
            </a:r>
            <a:r>
              <a:rPr lang="en-US" sz="3200" dirty="0" smtClean="0">
                <a:solidFill>
                  <a:schemeClr val="tx1"/>
                </a:solidFill>
              </a:rPr>
              <a:t>)</a:t>
            </a:r>
          </a:p>
          <a:p>
            <a:r>
              <a:rPr lang="en-US" dirty="0" smtClean="0"/>
              <a:t>First best:</a:t>
            </a:r>
          </a:p>
          <a:p>
            <a:pPr lvl="1"/>
            <a:r>
              <a:rPr lang="en-US" dirty="0" smtClean="0"/>
              <a:t>Socially optimal quantity: </a:t>
            </a:r>
            <a:r>
              <a:rPr lang="el-GR" dirty="0" smtClean="0">
                <a:solidFill>
                  <a:srgbClr val="C00000"/>
                </a:solidFill>
              </a:rPr>
              <a:t>θν</a:t>
            </a:r>
            <a:r>
              <a:rPr lang="en-US" dirty="0" smtClean="0">
                <a:solidFill>
                  <a:srgbClr val="C00000"/>
                </a:solidFill>
              </a:rPr>
              <a:t>’(q) = c</a:t>
            </a:r>
          </a:p>
          <a:p>
            <a:pPr lvl="1"/>
            <a:r>
              <a:rPr lang="en-US" dirty="0" smtClean="0"/>
              <a:t>Tariff: </a:t>
            </a:r>
            <a:r>
              <a:rPr lang="en-US" dirty="0" smtClean="0">
                <a:solidFill>
                  <a:srgbClr val="C00000"/>
                </a:solidFill>
              </a:rPr>
              <a:t>T(</a:t>
            </a:r>
            <a:r>
              <a:rPr lang="el-GR" dirty="0" smtClean="0">
                <a:solidFill>
                  <a:srgbClr val="C00000"/>
                </a:solidFill>
              </a:rPr>
              <a:t>θ</a:t>
            </a:r>
            <a:r>
              <a:rPr lang="en-US" dirty="0" smtClean="0">
                <a:solidFill>
                  <a:srgbClr val="C00000"/>
                </a:solidFill>
              </a:rPr>
              <a:t>) = </a:t>
            </a:r>
            <a:r>
              <a:rPr lang="el-GR" dirty="0">
                <a:solidFill>
                  <a:srgbClr val="C00000"/>
                </a:solidFill>
              </a:rPr>
              <a:t>θν</a:t>
            </a:r>
            <a:r>
              <a:rPr lang="en-US" dirty="0">
                <a:solidFill>
                  <a:srgbClr val="C00000"/>
                </a:solidFill>
              </a:rPr>
              <a:t>(q(</a:t>
            </a:r>
            <a:r>
              <a:rPr lang="el-GR" dirty="0">
                <a:solidFill>
                  <a:srgbClr val="C00000"/>
                </a:solidFill>
              </a:rPr>
              <a:t>θ</a:t>
            </a:r>
            <a:r>
              <a:rPr lang="en-US" dirty="0">
                <a:solidFill>
                  <a:srgbClr val="C00000"/>
                </a:solidFill>
              </a:rPr>
              <a:t>)) </a:t>
            </a:r>
            <a:endParaRPr lang="en-US" dirty="0" smtClean="0">
              <a:solidFill>
                <a:srgbClr val="C00000"/>
              </a:solidFill>
            </a:endParaRPr>
          </a:p>
          <a:p>
            <a:pPr lvl="1"/>
            <a:r>
              <a:rPr lang="en-US" dirty="0" smtClean="0"/>
              <a:t>Monopolist profits: </a:t>
            </a:r>
            <a:r>
              <a:rPr lang="el-GR" dirty="0">
                <a:solidFill>
                  <a:srgbClr val="C00000"/>
                </a:solidFill>
              </a:rPr>
              <a:t>θν</a:t>
            </a:r>
            <a:r>
              <a:rPr lang="en-US" dirty="0">
                <a:solidFill>
                  <a:srgbClr val="C00000"/>
                </a:solidFill>
              </a:rPr>
              <a:t>(q(</a:t>
            </a:r>
            <a:r>
              <a:rPr lang="el-GR" dirty="0">
                <a:solidFill>
                  <a:srgbClr val="C00000"/>
                </a:solidFill>
              </a:rPr>
              <a:t>θ</a:t>
            </a:r>
            <a:r>
              <a:rPr lang="en-US" dirty="0">
                <a:solidFill>
                  <a:srgbClr val="C00000"/>
                </a:solidFill>
              </a:rPr>
              <a:t>)) </a:t>
            </a:r>
            <a:r>
              <a:rPr lang="en-US" dirty="0" smtClean="0">
                <a:solidFill>
                  <a:srgbClr val="C00000"/>
                </a:solidFill>
              </a:rPr>
              <a:t>– </a:t>
            </a:r>
            <a:r>
              <a:rPr lang="en-US" dirty="0" err="1" smtClean="0">
                <a:solidFill>
                  <a:srgbClr val="C00000"/>
                </a:solidFill>
              </a:rPr>
              <a:t>cq</a:t>
            </a:r>
            <a:r>
              <a:rPr lang="en-US" dirty="0" smtClean="0">
                <a:solidFill>
                  <a:srgbClr val="C00000"/>
                </a:solidFill>
              </a:rPr>
              <a:t>(</a:t>
            </a:r>
            <a:r>
              <a:rPr lang="el-GR" dirty="0" smtClean="0">
                <a:solidFill>
                  <a:srgbClr val="C00000"/>
                </a:solidFill>
              </a:rPr>
              <a:t>θ</a:t>
            </a:r>
            <a:r>
              <a:rPr lang="en-US" dirty="0" smtClean="0">
                <a:solidFill>
                  <a:srgbClr val="C00000"/>
                </a:solidFill>
              </a:rPr>
              <a:t>)</a:t>
            </a:r>
            <a:r>
              <a:rPr lang="en-US" dirty="0" smtClean="0"/>
              <a:t>, all of social surplus</a:t>
            </a:r>
          </a:p>
          <a:p>
            <a:endParaRPr lang="en-US" dirty="0"/>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59</a:t>
            </a:fld>
            <a:endParaRPr lang="en-US"/>
          </a:p>
        </p:txBody>
      </p:sp>
    </p:spTree>
    <p:extLst>
      <p:ext uri="{BB962C8B-B14F-4D97-AF65-F5344CB8AC3E}">
        <p14:creationId xmlns:p14="http://schemas.microsoft.com/office/powerpoint/2010/main" val="359417430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Continuum of Types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Second best:</a:t>
                </a:r>
              </a:p>
              <a:p>
                <a:pPr lvl="1"/>
                <a:r>
                  <a:rPr lang="en-US" dirty="0" smtClean="0"/>
                  <a:t>Maximize expected profit:</a:t>
                </a:r>
              </a:p>
              <a:p>
                <a:pPr marL="457200" lvl="1" indent="0">
                  <a:buNone/>
                </a:pPr>
                <a14:m>
                  <m:oMathPara xmlns:m="http://schemas.openxmlformats.org/officeDocument/2006/math">
                    <m:oMathParaPr>
                      <m:jc m:val="centerGroup"/>
                    </m:oMathParaPr>
                    <m:oMath xmlns:m="http://schemas.openxmlformats.org/officeDocument/2006/math">
                      <m:nary>
                        <m:naryPr>
                          <m:limLoc m:val="undOvr"/>
                          <m:ctrlPr>
                            <a:rPr lang="en-US" sz="2800" i="1" smtClean="0">
                              <a:latin typeface="Cambria Math"/>
                            </a:rPr>
                          </m:ctrlPr>
                        </m:naryPr>
                        <m:sub>
                          <m:sSub>
                            <m:sSubPr>
                              <m:ctrlPr>
                                <a:rPr lang="en-US" sz="2800" i="1" smtClean="0">
                                  <a:latin typeface="Cambria Math"/>
                                </a:rPr>
                              </m:ctrlPr>
                            </m:sSubPr>
                            <m:e>
                              <m:r>
                                <a:rPr lang="en-US" sz="2800" i="1" smtClean="0">
                                  <a:latin typeface="Cambria Math"/>
                                  <a:ea typeface="Cambria Math"/>
                                </a:rPr>
                                <m:t>𝜃</m:t>
                              </m:r>
                            </m:e>
                            <m:sub>
                              <m:r>
                                <a:rPr lang="en-US" sz="2800" b="0" i="1" smtClean="0">
                                  <a:latin typeface="Cambria Math"/>
                                </a:rPr>
                                <m:t>𝐿</m:t>
                              </m:r>
                            </m:sub>
                          </m:sSub>
                        </m:sub>
                        <m:sup>
                          <m:sSub>
                            <m:sSubPr>
                              <m:ctrlPr>
                                <a:rPr lang="en-US" sz="2800" i="1" smtClean="0">
                                  <a:latin typeface="Cambria Math"/>
                                </a:rPr>
                              </m:ctrlPr>
                            </m:sSubPr>
                            <m:e>
                              <m:r>
                                <a:rPr lang="en-US" sz="2800" i="1" smtClean="0">
                                  <a:latin typeface="Cambria Math"/>
                                  <a:ea typeface="Cambria Math"/>
                                </a:rPr>
                                <m:t>𝜃</m:t>
                              </m:r>
                            </m:e>
                            <m:sub>
                              <m:r>
                                <a:rPr lang="en-US" sz="2800" b="0" i="1" smtClean="0">
                                  <a:latin typeface="Cambria Math"/>
                                </a:rPr>
                                <m:t>𝐻</m:t>
                              </m:r>
                            </m:sub>
                          </m:sSub>
                        </m:sup>
                        <m:e>
                          <m:r>
                            <m:rPr>
                              <m:sty m:val="p"/>
                            </m:rPr>
                            <a:rPr lang="el-GR" sz="2800" i="1" smtClean="0">
                              <a:latin typeface="Cambria Math"/>
                              <a:ea typeface="Cambria Math"/>
                            </a:rPr>
                            <m:t>Π</m:t>
                          </m:r>
                          <m:d>
                            <m:dPr>
                              <m:ctrlPr>
                                <a:rPr lang="en-US" sz="2800" b="0" i="1" smtClean="0">
                                  <a:latin typeface="Cambria Math"/>
                                  <a:ea typeface="Cambria Math"/>
                                </a:rPr>
                              </m:ctrlPr>
                            </m:dPr>
                            <m:e>
                              <m:r>
                                <a:rPr lang="en-US" sz="2800" b="0" i="1" smtClean="0">
                                  <a:latin typeface="Cambria Math"/>
                                  <a:ea typeface="Cambria Math"/>
                                </a:rPr>
                                <m:t>𝜃</m:t>
                              </m:r>
                            </m:e>
                          </m:d>
                          <m:r>
                            <a:rPr lang="en-US" sz="2800" b="0" i="1" smtClean="0">
                              <a:latin typeface="Cambria Math"/>
                              <a:ea typeface="Cambria Math"/>
                            </a:rPr>
                            <m:t>𝜙</m:t>
                          </m:r>
                          <m:d>
                            <m:dPr>
                              <m:ctrlPr>
                                <a:rPr lang="en-US" sz="2800" b="0" i="1" smtClean="0">
                                  <a:latin typeface="Cambria Math"/>
                                  <a:ea typeface="Cambria Math"/>
                                </a:rPr>
                              </m:ctrlPr>
                            </m:dPr>
                            <m:e>
                              <m:r>
                                <a:rPr lang="en-US" sz="2800" b="0" i="1" smtClean="0">
                                  <a:latin typeface="Cambria Math"/>
                                  <a:ea typeface="Cambria Math"/>
                                </a:rPr>
                                <m:t>𝜃</m:t>
                              </m:r>
                            </m:e>
                          </m:d>
                          <m:r>
                            <a:rPr lang="en-US" sz="2800" b="0" i="1" smtClean="0">
                              <a:latin typeface="Cambria Math"/>
                              <a:ea typeface="Cambria Math"/>
                            </a:rPr>
                            <m:t>𝑑</m:t>
                          </m:r>
                          <m:r>
                            <a:rPr lang="en-US" sz="2800" b="0" i="1" smtClean="0">
                              <a:latin typeface="Cambria Math"/>
                              <a:ea typeface="Cambria Math"/>
                            </a:rPr>
                            <m:t>𝜃</m:t>
                          </m:r>
                          <m:r>
                            <a:rPr lang="en-US" sz="2800" b="0" i="1" smtClean="0">
                              <a:latin typeface="Cambria Math"/>
                              <a:ea typeface="Cambria Math"/>
                            </a:rPr>
                            <m:t>=</m:t>
                          </m:r>
                          <m:nary>
                            <m:naryPr>
                              <m:limLoc m:val="undOvr"/>
                              <m:ctrlPr>
                                <a:rPr lang="en-US" sz="2800" i="1">
                                  <a:latin typeface="Cambria Math"/>
                                </a:rPr>
                              </m:ctrlPr>
                            </m:naryPr>
                            <m:sub>
                              <m:sSub>
                                <m:sSubPr>
                                  <m:ctrlPr>
                                    <a:rPr lang="en-US" sz="2800" i="1">
                                      <a:latin typeface="Cambria Math"/>
                                    </a:rPr>
                                  </m:ctrlPr>
                                </m:sSubPr>
                                <m:e>
                                  <m:r>
                                    <a:rPr lang="en-US" sz="2800" i="1">
                                      <a:latin typeface="Cambria Math"/>
                                      <a:ea typeface="Cambria Math"/>
                                    </a:rPr>
                                    <m:t>𝜃</m:t>
                                  </m:r>
                                </m:e>
                                <m:sub>
                                  <m:r>
                                    <a:rPr lang="en-US" sz="2800" i="1">
                                      <a:latin typeface="Cambria Math"/>
                                    </a:rPr>
                                    <m:t>𝐿</m:t>
                                  </m:r>
                                </m:sub>
                              </m:sSub>
                            </m:sub>
                            <m:sup>
                              <m:sSub>
                                <m:sSubPr>
                                  <m:ctrlPr>
                                    <a:rPr lang="en-US" sz="2800" i="1">
                                      <a:latin typeface="Cambria Math"/>
                                    </a:rPr>
                                  </m:ctrlPr>
                                </m:sSubPr>
                                <m:e>
                                  <m:r>
                                    <a:rPr lang="en-US" sz="2800" i="1">
                                      <a:latin typeface="Cambria Math"/>
                                      <a:ea typeface="Cambria Math"/>
                                    </a:rPr>
                                    <m:t>𝜃</m:t>
                                  </m:r>
                                </m:e>
                                <m:sub>
                                  <m:r>
                                    <a:rPr lang="en-US" sz="2800" i="1">
                                      <a:latin typeface="Cambria Math"/>
                                    </a:rPr>
                                    <m:t>𝐻</m:t>
                                  </m:r>
                                </m:sub>
                              </m:sSub>
                            </m:sup>
                            <m:e>
                              <m:r>
                                <a:rPr lang="en-US" sz="2800" b="0" i="1" smtClean="0">
                                  <a:latin typeface="Cambria Math"/>
                                </a:rPr>
                                <m:t>[</m:t>
                              </m:r>
                              <m:r>
                                <a:rPr lang="en-US" sz="2800" b="0" i="1" smtClean="0">
                                  <a:latin typeface="Cambria Math"/>
                                </a:rPr>
                                <m:t>𝑇</m:t>
                              </m:r>
                              <m:d>
                                <m:dPr>
                                  <m:ctrlPr>
                                    <a:rPr lang="en-US" sz="2800" i="1">
                                      <a:latin typeface="Cambria Math"/>
                                      <a:ea typeface="Cambria Math"/>
                                    </a:rPr>
                                  </m:ctrlPr>
                                </m:dPr>
                                <m:e>
                                  <m:r>
                                    <a:rPr lang="en-US" sz="2800" i="1">
                                      <a:latin typeface="Cambria Math"/>
                                      <a:ea typeface="Cambria Math"/>
                                    </a:rPr>
                                    <m:t>𝜃</m:t>
                                  </m:r>
                                </m:e>
                              </m:d>
                              <m:r>
                                <a:rPr lang="en-US" sz="2800" b="0" i="1" smtClean="0">
                                  <a:latin typeface="Cambria Math"/>
                                  <a:ea typeface="Cambria Math"/>
                                </a:rPr>
                                <m:t>−</m:t>
                              </m:r>
                              <m:r>
                                <a:rPr lang="en-US" sz="2800" b="0" i="1" smtClean="0">
                                  <a:latin typeface="Cambria Math"/>
                                  <a:ea typeface="Cambria Math"/>
                                </a:rPr>
                                <m:t>𝑐𝑞</m:t>
                              </m:r>
                              <m:d>
                                <m:dPr>
                                  <m:ctrlPr>
                                    <a:rPr lang="en-US" sz="2800" b="0" i="1" smtClean="0">
                                      <a:latin typeface="Cambria Math"/>
                                      <a:ea typeface="Cambria Math"/>
                                    </a:rPr>
                                  </m:ctrlPr>
                                </m:dPr>
                                <m:e>
                                  <m:r>
                                    <a:rPr lang="en-US" sz="2800" b="0" i="1" smtClean="0">
                                      <a:latin typeface="Cambria Math"/>
                                      <a:ea typeface="Cambria Math"/>
                                    </a:rPr>
                                    <m:t>𝜃</m:t>
                                  </m:r>
                                </m:e>
                              </m:d>
                              <m:r>
                                <a:rPr lang="en-US" sz="2800" b="0" i="1" smtClean="0">
                                  <a:latin typeface="Cambria Math"/>
                                  <a:ea typeface="Cambria Math"/>
                                </a:rPr>
                                <m:t>]</m:t>
                              </m:r>
                              <m:r>
                                <a:rPr lang="en-US" sz="2800" i="1">
                                  <a:latin typeface="Cambria Math"/>
                                  <a:ea typeface="Cambria Math"/>
                                </a:rPr>
                                <m:t>𝜙</m:t>
                              </m:r>
                              <m:d>
                                <m:dPr>
                                  <m:ctrlPr>
                                    <a:rPr lang="en-US" sz="2800" i="1">
                                      <a:latin typeface="Cambria Math"/>
                                      <a:ea typeface="Cambria Math"/>
                                    </a:rPr>
                                  </m:ctrlPr>
                                </m:dPr>
                                <m:e>
                                  <m:r>
                                    <a:rPr lang="en-US" sz="2800" i="1">
                                      <a:latin typeface="Cambria Math"/>
                                      <a:ea typeface="Cambria Math"/>
                                    </a:rPr>
                                    <m:t>𝜃</m:t>
                                  </m:r>
                                </m:e>
                              </m:d>
                              <m:r>
                                <a:rPr lang="en-US" sz="2800" i="1">
                                  <a:latin typeface="Cambria Math"/>
                                  <a:ea typeface="Cambria Math"/>
                                </a:rPr>
                                <m:t>𝑑</m:t>
                              </m:r>
                              <m:r>
                                <a:rPr lang="en-US" sz="2800" i="1">
                                  <a:latin typeface="Cambria Math"/>
                                  <a:ea typeface="Cambria Math"/>
                                </a:rPr>
                                <m:t>𝜃</m:t>
                              </m:r>
                            </m:e>
                          </m:nary>
                        </m:e>
                      </m:nary>
                    </m:oMath>
                  </m:oMathPara>
                </a14:m>
                <a:endParaRPr lang="en-US" sz="2800" dirty="0"/>
              </a:p>
              <a:p>
                <a:pPr lvl="1"/>
                <a:r>
                  <a:rPr lang="en-US" dirty="0" smtClean="0"/>
                  <a:t>Relevant participation constraint:</a:t>
                </a:r>
              </a:p>
              <a:p>
                <a:pPr marL="457200" lvl="1" indent="0">
                  <a:buNone/>
                </a:pPr>
                <a:r>
                  <a:rPr lang="el-GR" sz="2800" dirty="0" smtClean="0">
                    <a:solidFill>
                      <a:srgbClr val="C00000"/>
                    </a:solidFill>
                  </a:rPr>
                  <a:t>θ</a:t>
                </a:r>
                <a:r>
                  <a:rPr lang="en-US" sz="2800" baseline="-25000" dirty="0" smtClean="0">
                    <a:solidFill>
                      <a:srgbClr val="C00000"/>
                    </a:solidFill>
                  </a:rPr>
                  <a:t>L</a:t>
                </a:r>
                <a:r>
                  <a:rPr lang="el-GR" sz="2800" dirty="0" smtClean="0">
                    <a:solidFill>
                      <a:srgbClr val="C00000"/>
                    </a:solidFill>
                  </a:rPr>
                  <a:t>ν</a:t>
                </a:r>
                <a:r>
                  <a:rPr lang="en-US" sz="2800" dirty="0" smtClean="0">
                    <a:solidFill>
                      <a:srgbClr val="C00000"/>
                    </a:solidFill>
                  </a:rPr>
                  <a:t>(q(</a:t>
                </a:r>
                <a:r>
                  <a:rPr lang="el-GR" sz="2800" dirty="0" smtClean="0">
                    <a:solidFill>
                      <a:srgbClr val="C00000"/>
                    </a:solidFill>
                  </a:rPr>
                  <a:t>θ</a:t>
                </a:r>
                <a:r>
                  <a:rPr lang="en-US" sz="2800" baseline="-25000" dirty="0" smtClean="0">
                    <a:solidFill>
                      <a:srgbClr val="C00000"/>
                    </a:solidFill>
                  </a:rPr>
                  <a:t>L</a:t>
                </a:r>
                <a:r>
                  <a:rPr lang="en-US" sz="2800" dirty="0" smtClean="0">
                    <a:solidFill>
                      <a:srgbClr val="C00000"/>
                    </a:solidFill>
                  </a:rPr>
                  <a:t>)) – T(</a:t>
                </a:r>
                <a:r>
                  <a:rPr lang="el-GR" sz="2800" dirty="0">
                    <a:solidFill>
                      <a:srgbClr val="C00000"/>
                    </a:solidFill>
                  </a:rPr>
                  <a:t>θ</a:t>
                </a:r>
                <a:r>
                  <a:rPr lang="en-US" sz="2800" baseline="-25000" dirty="0" smtClean="0">
                    <a:solidFill>
                      <a:srgbClr val="C00000"/>
                    </a:solidFill>
                  </a:rPr>
                  <a:t>L</a:t>
                </a:r>
                <a:r>
                  <a:rPr lang="en-US" sz="2800" dirty="0" smtClean="0">
                    <a:solidFill>
                      <a:srgbClr val="C00000"/>
                    </a:solidFill>
                  </a:rPr>
                  <a:t>) ≥ 0</a:t>
                </a:r>
                <a:endParaRPr lang="en-US" sz="2800" dirty="0">
                  <a:solidFill>
                    <a:srgbClr val="C00000"/>
                  </a:solidFill>
                </a:endParaRPr>
              </a:p>
              <a:p>
                <a:pPr lvl="1"/>
                <a:r>
                  <a:rPr lang="en-US" dirty="0"/>
                  <a:t>Incentive compatibility </a:t>
                </a:r>
                <a:r>
                  <a:rPr lang="en-US" dirty="0" smtClean="0"/>
                  <a:t>: </a:t>
                </a:r>
                <a:r>
                  <a:rPr lang="el-GR" sz="2800" dirty="0" smtClean="0">
                    <a:solidFill>
                      <a:srgbClr val="C00000"/>
                    </a:solidFill>
                  </a:rPr>
                  <a:t>θν</a:t>
                </a:r>
                <a:r>
                  <a:rPr lang="en-US" sz="2800" dirty="0" smtClean="0">
                    <a:solidFill>
                      <a:srgbClr val="C00000"/>
                    </a:solidFill>
                  </a:rPr>
                  <a:t>’(</a:t>
                </a:r>
                <a:r>
                  <a:rPr lang="en-US" sz="2800" dirty="0">
                    <a:solidFill>
                      <a:srgbClr val="C00000"/>
                    </a:solidFill>
                  </a:rPr>
                  <a:t>q(</a:t>
                </a:r>
                <a:r>
                  <a:rPr lang="el-GR" sz="2800" dirty="0" smtClean="0">
                    <a:solidFill>
                      <a:srgbClr val="C00000"/>
                    </a:solidFill>
                  </a:rPr>
                  <a:t>θ</a:t>
                </a:r>
                <a:r>
                  <a:rPr lang="en-US" sz="2800" dirty="0" smtClean="0">
                    <a:solidFill>
                      <a:srgbClr val="C00000"/>
                    </a:solidFill>
                  </a:rPr>
                  <a:t>))q’(</a:t>
                </a:r>
                <a:r>
                  <a:rPr lang="el-GR" sz="2800" dirty="0">
                    <a:solidFill>
                      <a:srgbClr val="C00000"/>
                    </a:solidFill>
                  </a:rPr>
                  <a:t>θ</a:t>
                </a:r>
                <a:r>
                  <a:rPr lang="en-US" sz="2800" dirty="0">
                    <a:solidFill>
                      <a:srgbClr val="C00000"/>
                    </a:solidFill>
                  </a:rPr>
                  <a:t>)</a:t>
                </a:r>
                <a:r>
                  <a:rPr lang="en-US" sz="2800" dirty="0" smtClean="0">
                    <a:solidFill>
                      <a:srgbClr val="C00000"/>
                    </a:solidFill>
                  </a:rPr>
                  <a:t> </a:t>
                </a:r>
                <a:r>
                  <a:rPr lang="en-US" sz="2800" dirty="0">
                    <a:solidFill>
                      <a:srgbClr val="C00000"/>
                    </a:solidFill>
                  </a:rPr>
                  <a:t>– </a:t>
                </a:r>
                <a:r>
                  <a:rPr lang="en-US" sz="2800" dirty="0" smtClean="0">
                    <a:solidFill>
                      <a:srgbClr val="C00000"/>
                    </a:solidFill>
                  </a:rPr>
                  <a:t>T’(</a:t>
                </a:r>
                <a:r>
                  <a:rPr lang="el-GR" sz="2800" dirty="0" smtClean="0">
                    <a:solidFill>
                      <a:srgbClr val="C00000"/>
                    </a:solidFill>
                  </a:rPr>
                  <a:t>θ</a:t>
                </a:r>
                <a:r>
                  <a:rPr lang="en-US" sz="2800" dirty="0" smtClean="0">
                    <a:solidFill>
                      <a:srgbClr val="C00000"/>
                    </a:solidFill>
                  </a:rPr>
                  <a:t>) = 0</a:t>
                </a:r>
                <a:endParaRPr lang="en-US" dirty="0" smtClean="0"/>
              </a:p>
              <a:p>
                <a:pPr lvl="1"/>
                <a:endParaRPr lang="en-US" dirty="0"/>
              </a:p>
              <a:p>
                <a:pPr lvl="1"/>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786" t="-1647" r="-357"/>
                </a:stretch>
              </a:blipFill>
            </p:spPr>
            <p:txBody>
              <a:bodyPr/>
              <a:lstStyle/>
              <a:p>
                <a:r>
                  <a:rPr lang="en-US">
                    <a:noFill/>
                  </a:rPr>
                  <a:t> </a:t>
                </a:r>
              </a:p>
            </p:txBody>
          </p:sp>
        </mc:Fallback>
      </mc:AlternateContent>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60</a:t>
            </a:fld>
            <a:endParaRPr lang="en-US"/>
          </a:p>
        </p:txBody>
      </p:sp>
    </p:spTree>
    <p:extLst>
      <p:ext uri="{BB962C8B-B14F-4D97-AF65-F5344CB8AC3E}">
        <p14:creationId xmlns:p14="http://schemas.microsoft.com/office/powerpoint/2010/main" val="255960062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Continuum of Types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1"/>
                <a:r>
                  <a:rPr lang="en-US" dirty="0" smtClean="0"/>
                  <a:t>Differentiate the utility function:</a:t>
                </a:r>
              </a:p>
              <a:p>
                <a:pPr marL="457200" lvl="1" indent="0">
                  <a:buNone/>
                </a:pPr>
                <a:r>
                  <a:rPr lang="en-US" sz="3000" dirty="0" smtClean="0">
                    <a:solidFill>
                      <a:srgbClr val="C00000"/>
                    </a:solidFill>
                  </a:rPr>
                  <a:t>U’(</a:t>
                </a:r>
                <a:r>
                  <a:rPr lang="el-GR" sz="3000" dirty="0" smtClean="0">
                    <a:solidFill>
                      <a:srgbClr val="C00000"/>
                    </a:solidFill>
                  </a:rPr>
                  <a:t>θ</a:t>
                </a:r>
                <a:r>
                  <a:rPr lang="en-US" sz="3000" dirty="0" smtClean="0">
                    <a:solidFill>
                      <a:srgbClr val="C00000"/>
                    </a:solidFill>
                  </a:rPr>
                  <a:t>) = </a:t>
                </a:r>
                <a:r>
                  <a:rPr lang="el-GR" sz="3000" dirty="0" smtClean="0">
                    <a:solidFill>
                      <a:srgbClr val="C00000"/>
                    </a:solidFill>
                  </a:rPr>
                  <a:t>ν</a:t>
                </a:r>
                <a:r>
                  <a:rPr lang="en-US" sz="3000" dirty="0" smtClean="0">
                    <a:solidFill>
                      <a:srgbClr val="C00000"/>
                    </a:solidFill>
                  </a:rPr>
                  <a:t>(q(</a:t>
                </a:r>
                <a:r>
                  <a:rPr lang="el-GR" sz="3000" dirty="0" smtClean="0">
                    <a:solidFill>
                      <a:srgbClr val="C00000"/>
                    </a:solidFill>
                  </a:rPr>
                  <a:t>θ</a:t>
                </a:r>
                <a:r>
                  <a:rPr lang="en-US" sz="3000" dirty="0" smtClean="0">
                    <a:solidFill>
                      <a:srgbClr val="C00000"/>
                    </a:solidFill>
                  </a:rPr>
                  <a:t>)) + </a:t>
                </a:r>
                <a:r>
                  <a:rPr lang="el-GR" sz="3000" dirty="0" smtClean="0">
                    <a:solidFill>
                      <a:srgbClr val="C00000"/>
                    </a:solidFill>
                  </a:rPr>
                  <a:t>θν</a:t>
                </a:r>
                <a:r>
                  <a:rPr lang="en-US" sz="3000" dirty="0" smtClean="0">
                    <a:solidFill>
                      <a:srgbClr val="C00000"/>
                    </a:solidFill>
                  </a:rPr>
                  <a:t>’(q(</a:t>
                </a:r>
                <a:r>
                  <a:rPr lang="el-GR" sz="3000" dirty="0">
                    <a:solidFill>
                      <a:srgbClr val="C00000"/>
                    </a:solidFill>
                  </a:rPr>
                  <a:t>θ</a:t>
                </a:r>
                <a:r>
                  <a:rPr lang="en-US" sz="3000" dirty="0" smtClean="0">
                    <a:solidFill>
                      <a:srgbClr val="C00000"/>
                    </a:solidFill>
                  </a:rPr>
                  <a:t>))</a:t>
                </a:r>
                <a:r>
                  <a:rPr lang="en-US" sz="3000" dirty="0">
                    <a:solidFill>
                      <a:srgbClr val="C00000"/>
                    </a:solidFill>
                  </a:rPr>
                  <a:t> </a:t>
                </a:r>
                <a:r>
                  <a:rPr lang="en-US" sz="3000" dirty="0" smtClean="0">
                    <a:solidFill>
                      <a:srgbClr val="C00000"/>
                    </a:solidFill>
                  </a:rPr>
                  <a:t>q’(</a:t>
                </a:r>
                <a:r>
                  <a:rPr lang="el-GR" sz="3000" dirty="0">
                    <a:solidFill>
                      <a:srgbClr val="C00000"/>
                    </a:solidFill>
                  </a:rPr>
                  <a:t>θ</a:t>
                </a:r>
                <a:r>
                  <a:rPr lang="en-US" sz="3000" dirty="0" smtClean="0">
                    <a:solidFill>
                      <a:srgbClr val="C00000"/>
                    </a:solidFill>
                  </a:rPr>
                  <a:t>) – T’(</a:t>
                </a:r>
                <a:r>
                  <a:rPr lang="el-GR" sz="3000" dirty="0" smtClean="0">
                    <a:solidFill>
                      <a:srgbClr val="C00000"/>
                    </a:solidFill>
                  </a:rPr>
                  <a:t>θ</a:t>
                </a:r>
                <a:r>
                  <a:rPr lang="en-US" sz="3000" dirty="0" smtClean="0">
                    <a:solidFill>
                      <a:srgbClr val="C00000"/>
                    </a:solidFill>
                  </a:rPr>
                  <a:t>) = </a:t>
                </a:r>
                <a:r>
                  <a:rPr lang="el-GR" sz="3000" dirty="0" smtClean="0">
                    <a:solidFill>
                      <a:srgbClr val="C00000"/>
                    </a:solidFill>
                  </a:rPr>
                  <a:t>ν</a:t>
                </a:r>
                <a:r>
                  <a:rPr lang="en-US" sz="3000" dirty="0">
                    <a:solidFill>
                      <a:srgbClr val="C00000"/>
                    </a:solidFill>
                  </a:rPr>
                  <a:t>(q(</a:t>
                </a:r>
                <a:r>
                  <a:rPr lang="el-GR" sz="3000" dirty="0">
                    <a:solidFill>
                      <a:srgbClr val="C00000"/>
                    </a:solidFill>
                  </a:rPr>
                  <a:t>θ</a:t>
                </a:r>
                <a:r>
                  <a:rPr lang="en-US" sz="3000" dirty="0">
                    <a:solidFill>
                      <a:srgbClr val="C00000"/>
                    </a:solidFill>
                  </a:rPr>
                  <a:t>)) </a:t>
                </a:r>
              </a:p>
              <a:p>
                <a:pPr lvl="1"/>
                <a:r>
                  <a:rPr lang="en-US" dirty="0" smtClean="0"/>
                  <a:t>Substitute: </a:t>
                </a:r>
                <a:r>
                  <a:rPr lang="en-US" sz="3000" dirty="0" smtClean="0">
                    <a:solidFill>
                      <a:srgbClr val="C00000"/>
                    </a:solidFill>
                  </a:rPr>
                  <a:t>T(</a:t>
                </a:r>
                <a:r>
                  <a:rPr lang="el-GR" sz="3000" dirty="0" smtClean="0">
                    <a:solidFill>
                      <a:srgbClr val="C00000"/>
                    </a:solidFill>
                  </a:rPr>
                  <a:t>θ</a:t>
                </a:r>
                <a:r>
                  <a:rPr lang="en-US" sz="3000" dirty="0" smtClean="0">
                    <a:solidFill>
                      <a:srgbClr val="C00000"/>
                    </a:solidFill>
                  </a:rPr>
                  <a:t>) = </a:t>
                </a:r>
                <a:r>
                  <a:rPr lang="el-GR" sz="3000" dirty="0" smtClean="0">
                    <a:solidFill>
                      <a:srgbClr val="C00000"/>
                    </a:solidFill>
                  </a:rPr>
                  <a:t>θ</a:t>
                </a:r>
                <a:r>
                  <a:rPr lang="el-GR" sz="3000" dirty="0">
                    <a:solidFill>
                      <a:srgbClr val="C00000"/>
                    </a:solidFill>
                  </a:rPr>
                  <a:t> ν</a:t>
                </a:r>
                <a:r>
                  <a:rPr lang="en-US" sz="3000" dirty="0">
                    <a:solidFill>
                      <a:srgbClr val="C00000"/>
                    </a:solidFill>
                  </a:rPr>
                  <a:t>(q(</a:t>
                </a:r>
                <a:r>
                  <a:rPr lang="el-GR" sz="3000" dirty="0">
                    <a:solidFill>
                      <a:srgbClr val="C00000"/>
                    </a:solidFill>
                  </a:rPr>
                  <a:t>θ</a:t>
                </a:r>
                <a:r>
                  <a:rPr lang="en-US" sz="3000" dirty="0">
                    <a:solidFill>
                      <a:srgbClr val="C00000"/>
                    </a:solidFill>
                  </a:rPr>
                  <a:t>)) </a:t>
                </a:r>
                <a:r>
                  <a:rPr lang="en-US" sz="3000" dirty="0" smtClean="0">
                    <a:solidFill>
                      <a:srgbClr val="C00000"/>
                    </a:solidFill>
                  </a:rPr>
                  <a:t> - U(</a:t>
                </a:r>
                <a:r>
                  <a:rPr lang="el-GR" sz="3000" dirty="0" smtClean="0">
                    <a:solidFill>
                      <a:srgbClr val="C00000"/>
                    </a:solidFill>
                  </a:rPr>
                  <a:t>θ</a:t>
                </a:r>
                <a:r>
                  <a:rPr lang="en-US" sz="3000" dirty="0" smtClean="0">
                    <a:solidFill>
                      <a:srgbClr val="C00000"/>
                    </a:solidFill>
                  </a:rPr>
                  <a:t>)</a:t>
                </a:r>
              </a:p>
              <a:p>
                <a:pPr lvl="1"/>
                <a:r>
                  <a:rPr lang="en-US" dirty="0" smtClean="0"/>
                  <a:t>Maximize: </a:t>
                </a:r>
              </a:p>
              <a:p>
                <a:pPr marL="0" indent="0">
                  <a:buNone/>
                </a:pPr>
                <a14:m>
                  <m:oMathPara xmlns:m="http://schemas.openxmlformats.org/officeDocument/2006/math">
                    <m:oMathParaPr>
                      <m:jc m:val="centerGroup"/>
                    </m:oMathParaPr>
                    <m:oMath xmlns:m="http://schemas.openxmlformats.org/officeDocument/2006/math">
                      <m:nary>
                        <m:naryPr>
                          <m:limLoc m:val="undOvr"/>
                          <m:ctrlPr>
                            <a:rPr lang="en-US" sz="2800" i="1">
                              <a:latin typeface="Cambria Math"/>
                            </a:rPr>
                          </m:ctrlPr>
                        </m:naryPr>
                        <m:sub>
                          <m:sSub>
                            <m:sSubPr>
                              <m:ctrlPr>
                                <a:rPr lang="en-US" sz="2800" i="1">
                                  <a:latin typeface="Cambria Math"/>
                                </a:rPr>
                              </m:ctrlPr>
                            </m:sSubPr>
                            <m:e>
                              <m:r>
                                <a:rPr lang="en-US" sz="2800" i="1">
                                  <a:latin typeface="Cambria Math"/>
                                  <a:ea typeface="Cambria Math"/>
                                </a:rPr>
                                <m:t>𝜃</m:t>
                              </m:r>
                            </m:e>
                            <m:sub>
                              <m:r>
                                <a:rPr lang="en-US" sz="2800" i="1">
                                  <a:latin typeface="Cambria Math"/>
                                </a:rPr>
                                <m:t>𝐿</m:t>
                              </m:r>
                            </m:sub>
                          </m:sSub>
                        </m:sub>
                        <m:sup>
                          <m:sSub>
                            <m:sSubPr>
                              <m:ctrlPr>
                                <a:rPr lang="en-US" sz="2800" i="1">
                                  <a:latin typeface="Cambria Math"/>
                                </a:rPr>
                              </m:ctrlPr>
                            </m:sSubPr>
                            <m:e>
                              <m:r>
                                <a:rPr lang="en-US" sz="2800" i="1">
                                  <a:latin typeface="Cambria Math"/>
                                  <a:ea typeface="Cambria Math"/>
                                </a:rPr>
                                <m:t>𝜃</m:t>
                              </m:r>
                            </m:e>
                            <m:sub>
                              <m:r>
                                <a:rPr lang="en-US" sz="2800" i="1">
                                  <a:latin typeface="Cambria Math"/>
                                </a:rPr>
                                <m:t>𝐻</m:t>
                              </m:r>
                            </m:sub>
                          </m:sSub>
                        </m:sup>
                        <m:e>
                          <m:r>
                            <a:rPr lang="en-US" sz="2800" i="1">
                              <a:latin typeface="Cambria Math"/>
                            </a:rPr>
                            <m:t>[</m:t>
                          </m:r>
                          <m:r>
                            <a:rPr lang="en-US" sz="2800" i="1" smtClean="0">
                              <a:latin typeface="Cambria Math"/>
                              <a:ea typeface="Cambria Math"/>
                            </a:rPr>
                            <m:t>𝜃𝜈</m:t>
                          </m:r>
                          <m:r>
                            <a:rPr lang="en-US" sz="2800" b="0" i="1" smtClean="0">
                              <a:latin typeface="Cambria Math"/>
                              <a:ea typeface="Cambria Math"/>
                            </a:rPr>
                            <m:t>(</m:t>
                          </m:r>
                          <m:r>
                            <a:rPr lang="en-US" sz="2800" b="0" i="1" smtClean="0">
                              <a:latin typeface="Cambria Math"/>
                              <a:ea typeface="Cambria Math"/>
                            </a:rPr>
                            <m:t>𝑞</m:t>
                          </m:r>
                          <m:d>
                            <m:dPr>
                              <m:ctrlPr>
                                <a:rPr lang="en-US" sz="2800" b="0" i="1" smtClean="0">
                                  <a:latin typeface="Cambria Math"/>
                                  <a:ea typeface="Cambria Math"/>
                                </a:rPr>
                              </m:ctrlPr>
                            </m:dPr>
                            <m:e>
                              <m:r>
                                <a:rPr lang="en-US" sz="2800" b="0" i="1" smtClean="0">
                                  <a:latin typeface="Cambria Math"/>
                                  <a:ea typeface="Cambria Math"/>
                                </a:rPr>
                                <m:t>𝜃</m:t>
                              </m:r>
                            </m:e>
                          </m:d>
                          <m:r>
                            <a:rPr lang="en-US" sz="2800" b="0" i="1" smtClean="0">
                              <a:latin typeface="Cambria Math"/>
                              <a:ea typeface="Cambria Math"/>
                            </a:rPr>
                            <m:t>)</m:t>
                          </m:r>
                          <m:r>
                            <a:rPr lang="en-US" sz="2800" b="0" i="1" smtClean="0">
                              <a:latin typeface="Cambria Math"/>
                            </a:rPr>
                            <m:t>−</m:t>
                          </m:r>
                          <m:r>
                            <a:rPr lang="en-US" sz="2800" b="0" i="1" smtClean="0">
                              <a:latin typeface="Cambria Math"/>
                            </a:rPr>
                            <m:t>𝑈</m:t>
                          </m:r>
                          <m:d>
                            <m:dPr>
                              <m:ctrlPr>
                                <a:rPr lang="en-US" sz="2800" i="1">
                                  <a:latin typeface="Cambria Math"/>
                                  <a:ea typeface="Cambria Math"/>
                                </a:rPr>
                              </m:ctrlPr>
                            </m:dPr>
                            <m:e>
                              <m:r>
                                <a:rPr lang="en-US" sz="2800" i="1">
                                  <a:latin typeface="Cambria Math"/>
                                  <a:ea typeface="Cambria Math"/>
                                </a:rPr>
                                <m:t>𝜃</m:t>
                              </m:r>
                            </m:e>
                          </m:d>
                          <m:r>
                            <a:rPr lang="en-US" sz="2800" i="1">
                              <a:latin typeface="Cambria Math"/>
                              <a:ea typeface="Cambria Math"/>
                            </a:rPr>
                            <m:t>−</m:t>
                          </m:r>
                          <m:r>
                            <a:rPr lang="en-US" sz="2800" i="1">
                              <a:latin typeface="Cambria Math"/>
                              <a:ea typeface="Cambria Math"/>
                            </a:rPr>
                            <m:t>𝑐𝑞</m:t>
                          </m:r>
                          <m:d>
                            <m:dPr>
                              <m:ctrlPr>
                                <a:rPr lang="en-US" sz="2800" i="1">
                                  <a:latin typeface="Cambria Math"/>
                                  <a:ea typeface="Cambria Math"/>
                                </a:rPr>
                              </m:ctrlPr>
                            </m:dPr>
                            <m:e>
                              <m:r>
                                <a:rPr lang="en-US" sz="2800" i="1">
                                  <a:latin typeface="Cambria Math"/>
                                  <a:ea typeface="Cambria Math"/>
                                </a:rPr>
                                <m:t>𝜃</m:t>
                              </m:r>
                            </m:e>
                          </m:d>
                          <m:r>
                            <a:rPr lang="en-US" sz="2800" i="1">
                              <a:latin typeface="Cambria Math"/>
                              <a:ea typeface="Cambria Math"/>
                            </a:rPr>
                            <m:t>]</m:t>
                          </m:r>
                          <m:r>
                            <a:rPr lang="en-US" sz="2800" i="1">
                              <a:latin typeface="Cambria Math"/>
                              <a:ea typeface="Cambria Math"/>
                            </a:rPr>
                            <m:t>𝜙</m:t>
                          </m:r>
                          <m:d>
                            <m:dPr>
                              <m:ctrlPr>
                                <a:rPr lang="en-US" sz="2800" i="1">
                                  <a:latin typeface="Cambria Math"/>
                                  <a:ea typeface="Cambria Math"/>
                                </a:rPr>
                              </m:ctrlPr>
                            </m:dPr>
                            <m:e>
                              <m:r>
                                <a:rPr lang="en-US" sz="2800" i="1">
                                  <a:latin typeface="Cambria Math"/>
                                  <a:ea typeface="Cambria Math"/>
                                </a:rPr>
                                <m:t>𝜃</m:t>
                              </m:r>
                            </m:e>
                          </m:d>
                          <m:r>
                            <a:rPr lang="en-US" sz="2800" i="1">
                              <a:latin typeface="Cambria Math"/>
                              <a:ea typeface="Cambria Math"/>
                            </a:rPr>
                            <m:t>𝑑</m:t>
                          </m:r>
                          <m:r>
                            <a:rPr lang="en-US" sz="2800" i="1">
                              <a:latin typeface="Cambria Math"/>
                              <a:ea typeface="Cambria Math"/>
                            </a:rPr>
                            <m:t>𝜃</m:t>
                          </m:r>
                        </m:e>
                      </m:nary>
                    </m:oMath>
                  </m:oMathPara>
                </a14:m>
                <a:endParaRPr lang="en-US" sz="3000" dirty="0" smtClean="0"/>
              </a:p>
              <a:p>
                <a:pPr lvl="1"/>
                <a:r>
                  <a:rPr lang="en-US" dirty="0" smtClean="0"/>
                  <a:t>Hamiltonian: </a:t>
                </a:r>
                <a:r>
                  <a:rPr lang="en-US" dirty="0" smtClean="0">
                    <a:solidFill>
                      <a:srgbClr val="C00000"/>
                    </a:solidFill>
                  </a:rPr>
                  <a:t>H = [</a:t>
                </a:r>
                <a:r>
                  <a:rPr lang="el-GR" dirty="0" smtClean="0">
                    <a:solidFill>
                      <a:srgbClr val="C00000"/>
                    </a:solidFill>
                  </a:rPr>
                  <a:t>θν</a:t>
                </a:r>
                <a:r>
                  <a:rPr lang="en-US" dirty="0" smtClean="0">
                    <a:solidFill>
                      <a:srgbClr val="C00000"/>
                    </a:solidFill>
                  </a:rPr>
                  <a:t>(q(</a:t>
                </a:r>
                <a:r>
                  <a:rPr lang="el-GR" dirty="0" smtClean="0">
                    <a:solidFill>
                      <a:srgbClr val="C00000"/>
                    </a:solidFill>
                  </a:rPr>
                  <a:t>θ</a:t>
                </a:r>
                <a:r>
                  <a:rPr lang="en-US" dirty="0" smtClean="0">
                    <a:solidFill>
                      <a:srgbClr val="C00000"/>
                    </a:solidFill>
                  </a:rPr>
                  <a:t>)) – U(</a:t>
                </a:r>
                <a:r>
                  <a:rPr lang="el-GR" dirty="0" smtClean="0">
                    <a:solidFill>
                      <a:srgbClr val="C00000"/>
                    </a:solidFill>
                  </a:rPr>
                  <a:t>θ</a:t>
                </a:r>
                <a:r>
                  <a:rPr lang="en-US" dirty="0" smtClean="0">
                    <a:solidFill>
                      <a:srgbClr val="C00000"/>
                    </a:solidFill>
                  </a:rPr>
                  <a:t>) – </a:t>
                </a:r>
                <a:r>
                  <a:rPr lang="en-US" dirty="0" err="1" smtClean="0">
                    <a:solidFill>
                      <a:srgbClr val="C00000"/>
                    </a:solidFill>
                  </a:rPr>
                  <a:t>cq</a:t>
                </a:r>
                <a:r>
                  <a:rPr lang="en-US" dirty="0" smtClean="0">
                    <a:solidFill>
                      <a:srgbClr val="C00000"/>
                    </a:solidFill>
                  </a:rPr>
                  <a:t>(</a:t>
                </a:r>
                <a:r>
                  <a:rPr lang="el-GR" dirty="0" smtClean="0">
                    <a:solidFill>
                      <a:srgbClr val="C00000"/>
                    </a:solidFill>
                  </a:rPr>
                  <a:t>θ</a:t>
                </a:r>
                <a:r>
                  <a:rPr lang="en-US" dirty="0" smtClean="0">
                    <a:solidFill>
                      <a:srgbClr val="C00000"/>
                    </a:solidFill>
                  </a:rPr>
                  <a:t>)]</a:t>
                </a:r>
                <a:r>
                  <a:rPr lang="el-GR" dirty="0" smtClean="0">
                    <a:solidFill>
                      <a:srgbClr val="C00000"/>
                    </a:solidFill>
                  </a:rPr>
                  <a:t>φ</a:t>
                </a:r>
                <a:r>
                  <a:rPr lang="en-US" dirty="0" smtClean="0">
                    <a:solidFill>
                      <a:srgbClr val="C00000"/>
                    </a:solidFill>
                  </a:rPr>
                  <a:t>(</a:t>
                </a:r>
                <a:r>
                  <a:rPr lang="el-GR" dirty="0" smtClean="0">
                    <a:solidFill>
                      <a:srgbClr val="C00000"/>
                    </a:solidFill>
                  </a:rPr>
                  <a:t>θ</a:t>
                </a:r>
                <a:r>
                  <a:rPr lang="en-US" dirty="0" smtClean="0">
                    <a:solidFill>
                      <a:srgbClr val="C00000"/>
                    </a:solidFill>
                  </a:rPr>
                  <a:t>) + </a:t>
                </a:r>
                <a:r>
                  <a:rPr lang="el-GR" dirty="0" smtClean="0">
                    <a:solidFill>
                      <a:srgbClr val="C00000"/>
                    </a:solidFill>
                  </a:rPr>
                  <a:t>λ</a:t>
                </a:r>
                <a:r>
                  <a:rPr lang="en-US" dirty="0" smtClean="0">
                    <a:solidFill>
                      <a:srgbClr val="C00000"/>
                    </a:solidFill>
                  </a:rPr>
                  <a:t>(</a:t>
                </a:r>
                <a:r>
                  <a:rPr lang="el-GR" dirty="0" smtClean="0">
                    <a:solidFill>
                      <a:srgbClr val="C00000"/>
                    </a:solidFill>
                  </a:rPr>
                  <a:t>θ</a:t>
                </a:r>
                <a:r>
                  <a:rPr lang="en-US" dirty="0" smtClean="0">
                    <a:solidFill>
                      <a:srgbClr val="C00000"/>
                    </a:solidFill>
                  </a:rPr>
                  <a:t>)</a:t>
                </a:r>
                <a:r>
                  <a:rPr lang="el-GR" dirty="0" smtClean="0">
                    <a:solidFill>
                      <a:srgbClr val="C00000"/>
                    </a:solidFill>
                  </a:rPr>
                  <a:t>ν</a:t>
                </a:r>
                <a:r>
                  <a:rPr lang="en-US" dirty="0">
                    <a:solidFill>
                      <a:srgbClr val="C00000"/>
                    </a:solidFill>
                  </a:rPr>
                  <a:t>(q(</a:t>
                </a:r>
                <a:r>
                  <a:rPr lang="el-GR" dirty="0">
                    <a:solidFill>
                      <a:srgbClr val="C00000"/>
                    </a:solidFill>
                  </a:rPr>
                  <a:t>θ</a:t>
                </a:r>
                <a:r>
                  <a:rPr lang="en-US" dirty="0" smtClean="0">
                    <a:solidFill>
                      <a:srgbClr val="C00000"/>
                    </a:solidFill>
                  </a:rPr>
                  <a:t>)) + </a:t>
                </a:r>
                <a:r>
                  <a:rPr lang="en-US" dirty="0">
                    <a:solidFill>
                      <a:srgbClr val="C00000"/>
                    </a:solidFill>
                  </a:rPr>
                  <a:t>U(</a:t>
                </a:r>
                <a:r>
                  <a:rPr lang="el-GR" dirty="0">
                    <a:solidFill>
                      <a:srgbClr val="C00000"/>
                    </a:solidFill>
                  </a:rPr>
                  <a:t>θ</a:t>
                </a:r>
                <a:r>
                  <a:rPr lang="en-US" dirty="0" smtClean="0">
                    <a:solidFill>
                      <a:srgbClr val="C00000"/>
                    </a:solidFill>
                  </a:rPr>
                  <a:t>)</a:t>
                </a:r>
                <a:r>
                  <a:rPr lang="el-GR" dirty="0">
                    <a:solidFill>
                      <a:srgbClr val="C00000"/>
                    </a:solidFill>
                  </a:rPr>
                  <a:t> </a:t>
                </a:r>
                <a:r>
                  <a:rPr lang="el-GR" dirty="0" smtClean="0">
                    <a:solidFill>
                      <a:srgbClr val="C00000"/>
                    </a:solidFill>
                  </a:rPr>
                  <a:t>λ</a:t>
                </a:r>
                <a:r>
                  <a:rPr lang="en-US" dirty="0" smtClean="0">
                    <a:solidFill>
                      <a:srgbClr val="C00000"/>
                    </a:solidFill>
                  </a:rPr>
                  <a:t>’(</a:t>
                </a:r>
                <a:r>
                  <a:rPr lang="el-GR" dirty="0">
                    <a:solidFill>
                      <a:srgbClr val="C00000"/>
                    </a:solidFill>
                  </a:rPr>
                  <a:t>θ</a:t>
                </a:r>
                <a:r>
                  <a:rPr lang="en-US" dirty="0">
                    <a:solidFill>
                      <a:srgbClr val="C00000"/>
                    </a:solidFill>
                  </a:rPr>
                  <a:t>)</a:t>
                </a:r>
              </a:p>
              <a:p>
                <a:pPr lvl="1"/>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29" r="-1857"/>
                </a:stretch>
              </a:blipFill>
            </p:spPr>
            <p:txBody>
              <a:bodyPr/>
              <a:lstStyle/>
              <a:p>
                <a:r>
                  <a:rPr lang="en-US">
                    <a:noFill/>
                  </a:rPr>
                  <a:t> </a:t>
                </a:r>
              </a:p>
            </p:txBody>
          </p:sp>
        </mc:Fallback>
      </mc:AlternateContent>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61</a:t>
            </a:fld>
            <a:endParaRPr lang="en-US"/>
          </a:p>
        </p:txBody>
      </p:sp>
    </p:spTree>
    <p:extLst>
      <p:ext uri="{BB962C8B-B14F-4D97-AF65-F5344CB8AC3E}">
        <p14:creationId xmlns:p14="http://schemas.microsoft.com/office/powerpoint/2010/main" val="190416005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Continuum of Types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z="3200" dirty="0" smtClean="0"/>
                  <a:t>Conditions for </a:t>
                </a:r>
                <a:r>
                  <a:rPr lang="en-US" sz="3200" dirty="0"/>
                  <a:t>the optimal-control </a:t>
                </a:r>
                <a:r>
                  <a:rPr lang="en-US" sz="3200" dirty="0" smtClean="0"/>
                  <a:t>solution:</a:t>
                </a:r>
              </a:p>
              <a:p>
                <a:pPr marL="914400" lvl="2" indent="0">
                  <a:buNone/>
                </a:pPr>
                <a14:m>
                  <m:oMathPara xmlns:m="http://schemas.openxmlformats.org/officeDocument/2006/math">
                    <m:oMathParaPr>
                      <m:jc m:val="centerGroup"/>
                    </m:oMathParaPr>
                    <m:oMath xmlns:m="http://schemas.openxmlformats.org/officeDocument/2006/math">
                      <m:f>
                        <m:fPr>
                          <m:ctrlPr>
                            <a:rPr lang="en-US" sz="2400" i="1" smtClean="0">
                              <a:latin typeface="Cambria Math"/>
                            </a:rPr>
                          </m:ctrlPr>
                        </m:fPr>
                        <m:num>
                          <m:r>
                            <a:rPr lang="en-US" sz="2400" i="1" smtClean="0">
                              <a:latin typeface="Cambria Math"/>
                            </a:rPr>
                            <m:t>𝜕</m:t>
                          </m:r>
                          <m:r>
                            <a:rPr lang="en-US" sz="2400" b="0" i="1" smtClean="0">
                              <a:latin typeface="Cambria Math"/>
                            </a:rPr>
                            <m:t>𝐻</m:t>
                          </m:r>
                        </m:num>
                        <m:den>
                          <m:r>
                            <a:rPr lang="en-US" sz="2400" i="1" smtClean="0">
                              <a:latin typeface="Cambria Math"/>
                            </a:rPr>
                            <m:t>𝜕</m:t>
                          </m:r>
                          <m:r>
                            <a:rPr lang="en-US" sz="2400" b="0" i="1" smtClean="0">
                              <a:latin typeface="Cambria Math"/>
                            </a:rPr>
                            <m:t>𝑞</m:t>
                          </m:r>
                        </m:den>
                      </m:f>
                      <m:r>
                        <a:rPr lang="en-US" sz="2400" b="0" i="1" smtClean="0">
                          <a:latin typeface="Cambria Math"/>
                        </a:rPr>
                        <m:t>=</m:t>
                      </m:r>
                      <m:d>
                        <m:dPr>
                          <m:begChr m:val="["/>
                          <m:endChr m:val="]"/>
                          <m:ctrlPr>
                            <a:rPr lang="en-US" sz="2400" b="0" i="1" smtClean="0">
                              <a:latin typeface="Cambria Math"/>
                              <a:ea typeface="Cambria Math"/>
                            </a:rPr>
                          </m:ctrlPr>
                        </m:dPr>
                        <m:e>
                          <m:r>
                            <a:rPr lang="en-US" sz="2400" b="0" i="1" smtClean="0">
                              <a:latin typeface="Cambria Math"/>
                              <a:ea typeface="Cambria Math"/>
                            </a:rPr>
                            <m:t>𝜃</m:t>
                          </m:r>
                          <m:sSup>
                            <m:sSupPr>
                              <m:ctrlPr>
                                <a:rPr lang="en-US" sz="2400" b="0" i="1" smtClean="0">
                                  <a:latin typeface="Cambria Math"/>
                                  <a:ea typeface="Cambria Math"/>
                                </a:rPr>
                              </m:ctrlPr>
                            </m:sSupPr>
                            <m:e>
                              <m:r>
                                <a:rPr lang="en-US" sz="2400" b="0" i="1" smtClean="0">
                                  <a:latin typeface="Cambria Math"/>
                                  <a:ea typeface="Cambria Math"/>
                                </a:rPr>
                                <m:t>𝜈</m:t>
                              </m:r>
                            </m:e>
                            <m:sup>
                              <m:r>
                                <a:rPr lang="en-US" sz="2400" b="0" i="1" smtClean="0">
                                  <a:latin typeface="Cambria Math"/>
                                  <a:ea typeface="Cambria Math"/>
                                </a:rPr>
                                <m:t>′</m:t>
                              </m:r>
                            </m:sup>
                          </m:sSup>
                          <m:d>
                            <m:dPr>
                              <m:ctrlPr>
                                <a:rPr lang="en-US" sz="2400" b="0" i="1" smtClean="0">
                                  <a:latin typeface="Cambria Math"/>
                                  <a:ea typeface="Cambria Math"/>
                                </a:rPr>
                              </m:ctrlPr>
                            </m:dPr>
                            <m:e>
                              <m:r>
                                <a:rPr lang="en-US" sz="2400" b="0" i="1" smtClean="0">
                                  <a:latin typeface="Cambria Math"/>
                                  <a:ea typeface="Cambria Math"/>
                                </a:rPr>
                                <m:t>𝑞</m:t>
                              </m:r>
                              <m:d>
                                <m:dPr>
                                  <m:ctrlPr>
                                    <a:rPr lang="en-US" sz="2400" b="0" i="1" smtClean="0">
                                      <a:latin typeface="Cambria Math"/>
                                      <a:ea typeface="Cambria Math"/>
                                    </a:rPr>
                                  </m:ctrlPr>
                                </m:dPr>
                                <m:e>
                                  <m:r>
                                    <a:rPr lang="en-US" sz="2400" b="0" i="1" smtClean="0">
                                      <a:latin typeface="Cambria Math"/>
                                      <a:ea typeface="Cambria Math"/>
                                    </a:rPr>
                                    <m:t>𝜃</m:t>
                                  </m:r>
                                </m:e>
                              </m:d>
                            </m:e>
                          </m:d>
                          <m:r>
                            <a:rPr lang="en-US" sz="2400" b="0" i="1" smtClean="0">
                              <a:latin typeface="Cambria Math"/>
                              <a:ea typeface="Cambria Math"/>
                            </a:rPr>
                            <m:t>−</m:t>
                          </m:r>
                          <m:r>
                            <a:rPr lang="en-US" sz="2400" b="0" i="1" smtClean="0">
                              <a:latin typeface="Cambria Math"/>
                              <a:ea typeface="Cambria Math"/>
                            </a:rPr>
                            <m:t>𝑐</m:t>
                          </m:r>
                        </m:e>
                      </m:d>
                      <m:r>
                        <a:rPr lang="en-US" sz="2400" b="0" i="1" smtClean="0">
                          <a:latin typeface="Cambria Math"/>
                          <a:ea typeface="Cambria Math"/>
                        </a:rPr>
                        <m:t>𝜙</m:t>
                      </m:r>
                      <m:d>
                        <m:dPr>
                          <m:ctrlPr>
                            <a:rPr lang="en-US" sz="2400" b="0" i="1" smtClean="0">
                              <a:latin typeface="Cambria Math"/>
                              <a:ea typeface="Cambria Math"/>
                            </a:rPr>
                          </m:ctrlPr>
                        </m:dPr>
                        <m:e>
                          <m:r>
                            <a:rPr lang="en-US" sz="2400" b="0" i="1" smtClean="0">
                              <a:latin typeface="Cambria Math"/>
                              <a:ea typeface="Cambria Math"/>
                            </a:rPr>
                            <m:t>𝜃</m:t>
                          </m:r>
                        </m:e>
                      </m:d>
                      <m:r>
                        <a:rPr lang="en-US" sz="2400" b="0" i="1" smtClean="0">
                          <a:latin typeface="Cambria Math"/>
                          <a:ea typeface="Cambria Math"/>
                        </a:rPr>
                        <m:t>+</m:t>
                      </m:r>
                      <m:r>
                        <a:rPr lang="en-US" sz="2400" b="0" i="1" smtClean="0">
                          <a:latin typeface="Cambria Math"/>
                          <a:ea typeface="Cambria Math"/>
                        </a:rPr>
                        <m:t>𝜆</m:t>
                      </m:r>
                      <m:d>
                        <m:dPr>
                          <m:ctrlPr>
                            <a:rPr lang="en-US" sz="2400" b="0" i="1" smtClean="0">
                              <a:latin typeface="Cambria Math"/>
                              <a:ea typeface="Cambria Math"/>
                            </a:rPr>
                          </m:ctrlPr>
                        </m:dPr>
                        <m:e>
                          <m:r>
                            <a:rPr lang="en-US" sz="2400" b="0" i="1" smtClean="0">
                              <a:latin typeface="Cambria Math"/>
                              <a:ea typeface="Cambria Math"/>
                            </a:rPr>
                            <m:t>𝜃</m:t>
                          </m:r>
                        </m:e>
                      </m:d>
                      <m:sSup>
                        <m:sSupPr>
                          <m:ctrlPr>
                            <a:rPr lang="en-US" sz="2400" b="0" i="1" smtClean="0">
                              <a:latin typeface="Cambria Math"/>
                              <a:ea typeface="Cambria Math"/>
                            </a:rPr>
                          </m:ctrlPr>
                        </m:sSupPr>
                        <m:e>
                          <m:r>
                            <a:rPr lang="en-US" sz="2400" b="0" i="1" smtClean="0">
                              <a:latin typeface="Cambria Math"/>
                              <a:ea typeface="Cambria Math"/>
                            </a:rPr>
                            <m:t>𝜈</m:t>
                          </m:r>
                        </m:e>
                        <m:sup>
                          <m:r>
                            <a:rPr lang="en-US" sz="2400" b="0" i="1" smtClean="0">
                              <a:latin typeface="Cambria Math"/>
                              <a:ea typeface="Cambria Math"/>
                            </a:rPr>
                            <m:t>′</m:t>
                          </m:r>
                        </m:sup>
                      </m:sSup>
                      <m:d>
                        <m:dPr>
                          <m:ctrlPr>
                            <a:rPr lang="en-US" sz="2400" b="0" i="1" smtClean="0">
                              <a:latin typeface="Cambria Math"/>
                              <a:ea typeface="Cambria Math"/>
                            </a:rPr>
                          </m:ctrlPr>
                        </m:dPr>
                        <m:e>
                          <m:r>
                            <a:rPr lang="en-US" sz="2400" b="0" i="1" smtClean="0">
                              <a:latin typeface="Cambria Math"/>
                              <a:ea typeface="Cambria Math"/>
                            </a:rPr>
                            <m:t>𝜃</m:t>
                          </m:r>
                        </m:e>
                      </m:d>
                      <m:r>
                        <a:rPr lang="en-US" sz="2400" b="0" i="1" smtClean="0">
                          <a:latin typeface="Cambria Math"/>
                          <a:ea typeface="Cambria Math"/>
                        </a:rPr>
                        <m:t>=0</m:t>
                      </m:r>
                    </m:oMath>
                  </m:oMathPara>
                </a14:m>
                <a:endParaRPr lang="en-US" sz="2400" b="0" dirty="0" smtClean="0">
                  <a:ea typeface="Cambria Math"/>
                </a:endParaRPr>
              </a:p>
              <a:p>
                <a:pPr marL="914400" lvl="2" indent="0">
                  <a:buNone/>
                </a:pPr>
                <a14:m>
                  <m:oMathPara xmlns:m="http://schemas.openxmlformats.org/officeDocument/2006/math">
                    <m:oMathParaPr>
                      <m:jc m:val="centerGroup"/>
                    </m:oMathParaPr>
                    <m:oMath xmlns:m="http://schemas.openxmlformats.org/officeDocument/2006/math">
                      <m:f>
                        <m:fPr>
                          <m:ctrlPr>
                            <a:rPr lang="en-US" sz="2400" i="1" smtClean="0">
                              <a:latin typeface="Cambria Math"/>
                            </a:rPr>
                          </m:ctrlPr>
                        </m:fPr>
                        <m:num>
                          <m:r>
                            <a:rPr lang="en-US" sz="2400" i="1">
                              <a:latin typeface="Cambria Math"/>
                            </a:rPr>
                            <m:t>𝜕</m:t>
                          </m:r>
                          <m:r>
                            <a:rPr lang="en-US" sz="2400" i="1">
                              <a:latin typeface="Cambria Math"/>
                            </a:rPr>
                            <m:t>𝐻</m:t>
                          </m:r>
                        </m:num>
                        <m:den>
                          <m:r>
                            <a:rPr lang="en-US" sz="2400" i="1">
                              <a:latin typeface="Cambria Math"/>
                            </a:rPr>
                            <m:t>𝜕</m:t>
                          </m:r>
                          <m:r>
                            <a:rPr lang="en-US" sz="2400" b="0" i="1" smtClean="0">
                              <a:latin typeface="Cambria Math"/>
                            </a:rPr>
                            <m:t>𝑈</m:t>
                          </m:r>
                        </m:den>
                      </m:f>
                      <m:r>
                        <a:rPr lang="en-US" sz="2400" i="1">
                          <a:latin typeface="Cambria Math"/>
                        </a:rPr>
                        <m:t>=</m:t>
                      </m:r>
                      <m:r>
                        <a:rPr lang="en-US" sz="2400" b="0" i="1" smtClean="0">
                          <a:latin typeface="Cambria Math"/>
                        </a:rPr>
                        <m:t>−</m:t>
                      </m:r>
                      <m:r>
                        <a:rPr lang="en-US" sz="2400" i="1">
                          <a:latin typeface="Cambria Math"/>
                          <a:ea typeface="Cambria Math"/>
                        </a:rPr>
                        <m:t>𝜙</m:t>
                      </m:r>
                      <m:d>
                        <m:dPr>
                          <m:ctrlPr>
                            <a:rPr lang="en-US" sz="2400" i="1">
                              <a:latin typeface="Cambria Math"/>
                              <a:ea typeface="Cambria Math"/>
                            </a:rPr>
                          </m:ctrlPr>
                        </m:dPr>
                        <m:e>
                          <m:r>
                            <a:rPr lang="en-US" sz="2400" i="1">
                              <a:latin typeface="Cambria Math"/>
                              <a:ea typeface="Cambria Math"/>
                            </a:rPr>
                            <m:t>𝜃</m:t>
                          </m:r>
                        </m:e>
                      </m:d>
                      <m:r>
                        <a:rPr lang="en-US" sz="2400" i="1">
                          <a:latin typeface="Cambria Math"/>
                          <a:ea typeface="Cambria Math"/>
                        </a:rPr>
                        <m:t>+</m:t>
                      </m:r>
                      <m:r>
                        <a:rPr lang="en-US" sz="2400" i="1">
                          <a:latin typeface="Cambria Math"/>
                          <a:ea typeface="Cambria Math"/>
                        </a:rPr>
                        <m:t>𝜆</m:t>
                      </m:r>
                      <m:r>
                        <a:rPr lang="en-US" sz="2400" b="0" i="1" smtClean="0">
                          <a:latin typeface="Cambria Math"/>
                          <a:ea typeface="Cambria Math"/>
                        </a:rPr>
                        <m:t>′</m:t>
                      </m:r>
                      <m:d>
                        <m:dPr>
                          <m:ctrlPr>
                            <a:rPr lang="en-US" sz="2400" i="1">
                              <a:latin typeface="Cambria Math"/>
                              <a:ea typeface="Cambria Math"/>
                            </a:rPr>
                          </m:ctrlPr>
                        </m:dPr>
                        <m:e>
                          <m:r>
                            <a:rPr lang="en-US" sz="2400" i="1">
                              <a:latin typeface="Cambria Math"/>
                              <a:ea typeface="Cambria Math"/>
                            </a:rPr>
                            <m:t>𝜃</m:t>
                          </m:r>
                        </m:e>
                      </m:d>
                      <m:r>
                        <a:rPr lang="en-US" sz="2400" i="1">
                          <a:latin typeface="Cambria Math"/>
                          <a:ea typeface="Cambria Math"/>
                        </a:rPr>
                        <m:t>=0</m:t>
                      </m:r>
                    </m:oMath>
                  </m:oMathPara>
                </a14:m>
                <a:endParaRPr lang="en-US" sz="2400" dirty="0">
                  <a:ea typeface="Cambria Math"/>
                </a:endParaRPr>
              </a:p>
              <a:p>
                <a:r>
                  <a:rPr lang="en-US" sz="3200" dirty="0" smtClean="0"/>
                  <a:t>Implies: </a:t>
                </a:r>
                <a:r>
                  <a:rPr lang="el-GR" sz="3200" dirty="0" smtClean="0"/>
                  <a:t>λ</a:t>
                </a:r>
                <a:r>
                  <a:rPr lang="en-US" sz="3200" dirty="0" smtClean="0"/>
                  <a:t>(</a:t>
                </a:r>
                <a:r>
                  <a:rPr lang="el-GR" sz="3200" dirty="0" smtClean="0"/>
                  <a:t>θ</a:t>
                </a:r>
                <a:r>
                  <a:rPr lang="en-US" sz="3200" dirty="0" smtClean="0"/>
                  <a:t>) = </a:t>
                </a:r>
                <a:r>
                  <a:rPr lang="el-GR" sz="3200" dirty="0" smtClean="0"/>
                  <a:t>Φ</a:t>
                </a:r>
                <a:r>
                  <a:rPr lang="en-US" sz="3200" dirty="0"/>
                  <a:t>(</a:t>
                </a:r>
                <a:r>
                  <a:rPr lang="el-GR" sz="3200" dirty="0" smtClean="0"/>
                  <a:t>θ</a:t>
                </a:r>
                <a:r>
                  <a:rPr lang="en-US" sz="3200" dirty="0" smtClean="0"/>
                  <a:t>) – 1 </a:t>
                </a:r>
              </a:p>
              <a:p>
                <a:r>
                  <a:rPr lang="en-US" sz="3200" dirty="0" smtClean="0"/>
                  <a:t>Substituting and rearranging:</a:t>
                </a:r>
              </a:p>
              <a:p>
                <a:pPr marL="914400" lvl="2" indent="0">
                  <a:buNone/>
                </a:pPr>
                <a14:m>
                  <m:oMathPara xmlns:m="http://schemas.openxmlformats.org/officeDocument/2006/math">
                    <m:oMathParaPr>
                      <m:jc m:val="centerGroup"/>
                    </m:oMathParaPr>
                    <m:oMath xmlns:m="http://schemas.openxmlformats.org/officeDocument/2006/math">
                      <m:r>
                        <a:rPr lang="en-US" i="1">
                          <a:latin typeface="Cambria Math"/>
                          <a:ea typeface="Cambria Math"/>
                        </a:rPr>
                        <m:t>𝜃</m:t>
                      </m:r>
                      <m:sSup>
                        <m:sSupPr>
                          <m:ctrlPr>
                            <a:rPr lang="en-US" i="1">
                              <a:latin typeface="Cambria Math"/>
                              <a:ea typeface="Cambria Math"/>
                            </a:rPr>
                          </m:ctrlPr>
                        </m:sSupPr>
                        <m:e>
                          <m:r>
                            <a:rPr lang="en-US" i="1">
                              <a:latin typeface="Cambria Math"/>
                              <a:ea typeface="Cambria Math"/>
                            </a:rPr>
                            <m:t>𝜈</m:t>
                          </m:r>
                        </m:e>
                        <m:sup>
                          <m:r>
                            <a:rPr lang="en-US" i="1">
                              <a:latin typeface="Cambria Math"/>
                              <a:ea typeface="Cambria Math"/>
                            </a:rPr>
                            <m:t>′</m:t>
                          </m:r>
                        </m:sup>
                      </m:sSup>
                      <m:d>
                        <m:dPr>
                          <m:ctrlPr>
                            <a:rPr lang="en-US" i="1">
                              <a:latin typeface="Cambria Math"/>
                              <a:ea typeface="Cambria Math"/>
                            </a:rPr>
                          </m:ctrlPr>
                        </m:dPr>
                        <m:e>
                          <m:r>
                            <a:rPr lang="en-US" i="1">
                              <a:latin typeface="Cambria Math"/>
                              <a:ea typeface="Cambria Math"/>
                            </a:rPr>
                            <m:t>𝑞</m:t>
                          </m:r>
                          <m:d>
                            <m:dPr>
                              <m:ctrlPr>
                                <a:rPr lang="en-US" i="1">
                                  <a:latin typeface="Cambria Math"/>
                                  <a:ea typeface="Cambria Math"/>
                                </a:rPr>
                              </m:ctrlPr>
                            </m:dPr>
                            <m:e>
                              <m:r>
                                <a:rPr lang="en-US" i="1">
                                  <a:latin typeface="Cambria Math"/>
                                  <a:ea typeface="Cambria Math"/>
                                </a:rPr>
                                <m:t>𝜃</m:t>
                              </m:r>
                            </m:e>
                          </m:d>
                        </m:e>
                      </m:d>
                      <m:r>
                        <a:rPr lang="en-US" b="0" i="0" smtClean="0">
                          <a:latin typeface="Cambria Math"/>
                          <a:ea typeface="Cambria Math"/>
                        </a:rPr>
                        <m:t>=</m:t>
                      </m:r>
                      <m:r>
                        <m:rPr>
                          <m:sty m:val="p"/>
                        </m:rPr>
                        <a:rPr lang="en-US" b="0" i="0" smtClean="0">
                          <a:latin typeface="Cambria Math"/>
                          <a:ea typeface="Cambria Math"/>
                        </a:rPr>
                        <m:t>c</m:t>
                      </m:r>
                      <m:r>
                        <a:rPr lang="en-US" b="0" i="0" smtClean="0">
                          <a:latin typeface="Cambria Math"/>
                          <a:ea typeface="Cambria Math"/>
                        </a:rPr>
                        <m:t>+</m:t>
                      </m:r>
                      <m:f>
                        <m:fPr>
                          <m:ctrlPr>
                            <a:rPr lang="en-US" b="0" i="1" smtClean="0">
                              <a:latin typeface="Cambria Math"/>
                              <a:ea typeface="Cambria Math"/>
                            </a:rPr>
                          </m:ctrlPr>
                        </m:fPr>
                        <m:num>
                          <m:r>
                            <a:rPr lang="en-US" b="0" i="1" smtClean="0">
                              <a:latin typeface="Cambria Math"/>
                              <a:ea typeface="Cambria Math"/>
                            </a:rPr>
                            <m:t>1−</m:t>
                          </m:r>
                          <m:r>
                            <m:rPr>
                              <m:sty m:val="p"/>
                            </m:rPr>
                            <a:rPr lang="el-GR" b="0" i="1" smtClean="0">
                              <a:latin typeface="Cambria Math"/>
                              <a:ea typeface="Cambria Math"/>
                            </a:rPr>
                            <m:t>Φ</m:t>
                          </m:r>
                          <m:r>
                            <a:rPr lang="en-US" b="0" i="1" smtClean="0">
                              <a:latin typeface="Cambria Math"/>
                              <a:ea typeface="Cambria Math"/>
                            </a:rPr>
                            <m:t>(</m:t>
                          </m:r>
                          <m:r>
                            <a:rPr lang="en-US" b="0" i="1" smtClean="0">
                              <a:latin typeface="Cambria Math"/>
                              <a:ea typeface="Cambria Math"/>
                            </a:rPr>
                            <m:t>𝜃</m:t>
                          </m:r>
                          <m:r>
                            <a:rPr lang="en-US" b="0" i="1" smtClean="0">
                              <a:latin typeface="Cambria Math"/>
                              <a:ea typeface="Cambria Math"/>
                            </a:rPr>
                            <m:t>)</m:t>
                          </m:r>
                        </m:num>
                        <m:den>
                          <m:r>
                            <a:rPr lang="en-US" b="0" i="1" smtClean="0">
                              <a:latin typeface="Cambria Math"/>
                              <a:ea typeface="Cambria Math"/>
                            </a:rPr>
                            <m:t>𝜙</m:t>
                          </m:r>
                          <m:r>
                            <a:rPr lang="en-US" b="0" i="1" smtClean="0">
                              <a:latin typeface="Cambria Math"/>
                              <a:ea typeface="Cambria Math"/>
                            </a:rPr>
                            <m:t>(</m:t>
                          </m:r>
                          <m:r>
                            <a:rPr lang="en-US" b="0" i="1" smtClean="0">
                              <a:latin typeface="Cambria Math"/>
                              <a:ea typeface="Cambria Math"/>
                            </a:rPr>
                            <m:t>𝜃</m:t>
                          </m:r>
                          <m:r>
                            <a:rPr lang="en-US" b="0" i="1" smtClean="0">
                              <a:latin typeface="Cambria Math"/>
                              <a:ea typeface="Cambria Math"/>
                            </a:rPr>
                            <m:t>)</m:t>
                          </m:r>
                        </m:den>
                      </m:f>
                      <m:r>
                        <a:rPr lang="en-US" b="0" i="1" smtClean="0">
                          <a:latin typeface="Cambria Math"/>
                          <a:ea typeface="Cambria Math"/>
                        </a:rPr>
                        <m:t>𝜈</m:t>
                      </m:r>
                      <m:r>
                        <a:rPr lang="en-US" b="0" i="1" smtClean="0">
                          <a:latin typeface="Cambria Math"/>
                          <a:ea typeface="Cambria Math"/>
                        </a:rPr>
                        <m:t>′(</m:t>
                      </m:r>
                      <m:r>
                        <a:rPr lang="en-US" b="0" i="1" smtClean="0">
                          <a:latin typeface="Cambria Math"/>
                          <a:ea typeface="Cambria Math"/>
                        </a:rPr>
                        <m:t>𝑞</m:t>
                      </m:r>
                      <m:d>
                        <m:dPr>
                          <m:ctrlPr>
                            <a:rPr lang="en-US" b="0" i="1" smtClean="0">
                              <a:latin typeface="Cambria Math"/>
                              <a:ea typeface="Cambria Math"/>
                            </a:rPr>
                          </m:ctrlPr>
                        </m:dPr>
                        <m:e>
                          <m:r>
                            <a:rPr lang="en-US" b="0" i="1" smtClean="0">
                              <a:latin typeface="Cambria Math"/>
                              <a:ea typeface="Cambria Math"/>
                            </a:rPr>
                            <m:t>𝜃</m:t>
                          </m:r>
                        </m:e>
                      </m:d>
                      <m:r>
                        <a:rPr lang="en-US" b="0" i="1" smtClean="0">
                          <a:latin typeface="Cambria Math"/>
                          <a:ea typeface="Cambria Math"/>
                        </a:rPr>
                        <m:t>)</m:t>
                      </m:r>
                    </m:oMath>
                  </m:oMathPara>
                </a14:m>
                <a:endParaRPr lang="en-US" dirty="0"/>
              </a:p>
              <a:p>
                <a:pPr lvl="2"/>
                <a:r>
                  <a:rPr lang="en-US" dirty="0" smtClean="0"/>
                  <a:t>“</a:t>
                </a:r>
                <a:r>
                  <a:rPr lang="en-US" dirty="0"/>
                  <a:t>no distortion at the top” for the high </a:t>
                </a:r>
                <a:r>
                  <a:rPr lang="en-US" dirty="0" smtClean="0"/>
                  <a:t>type</a:t>
                </a:r>
              </a:p>
              <a:p>
                <a:pPr lvl="2"/>
                <a:r>
                  <a:rPr lang="en-US" dirty="0" smtClean="0"/>
                  <a:t>all </a:t>
                </a:r>
                <a:r>
                  <a:rPr lang="en-US" dirty="0"/>
                  <a:t>other types face some downward distortion </a:t>
                </a:r>
                <a:endParaRPr lang="en-US" dirty="0" smtClean="0"/>
              </a:p>
              <a:p>
                <a:endParaRPr lang="en-US" dirty="0"/>
              </a:p>
              <a:p>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43" t="-1529" b="-2118"/>
                </a:stretch>
              </a:blipFill>
            </p:spPr>
            <p:txBody>
              <a:bodyPr/>
              <a:lstStyle/>
              <a:p>
                <a:r>
                  <a:rPr lang="en-US">
                    <a:noFill/>
                  </a:rPr>
                  <a:t> </a:t>
                </a:r>
              </a:p>
            </p:txBody>
          </p:sp>
        </mc:Fallback>
      </mc:AlternateContent>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62</a:t>
            </a:fld>
            <a:endParaRPr lang="en-US"/>
          </a:p>
        </p:txBody>
      </p:sp>
    </p:spTree>
    <p:extLst>
      <p:ext uri="{BB962C8B-B14F-4D97-AF65-F5344CB8AC3E}">
        <p14:creationId xmlns:p14="http://schemas.microsoft.com/office/powerpoint/2010/main" val="14198174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en-US" smtClean="0"/>
              <a:t>Adverse Selection in Insurance</a:t>
            </a:r>
          </a:p>
        </p:txBody>
      </p:sp>
      <p:sp>
        <p:nvSpPr>
          <p:cNvPr id="68611" name="Rectangle 3"/>
          <p:cNvSpPr>
            <a:spLocks noGrp="1" noChangeArrowheads="1"/>
          </p:cNvSpPr>
          <p:nvPr>
            <p:ph idx="1"/>
          </p:nvPr>
        </p:nvSpPr>
        <p:spPr/>
        <p:txBody>
          <a:bodyPr/>
          <a:lstStyle/>
          <a:p>
            <a:r>
              <a:rPr lang="en-US" altLang="en-US" dirty="0" smtClean="0"/>
              <a:t>Adverse selection </a:t>
            </a:r>
          </a:p>
          <a:p>
            <a:pPr lvl="1"/>
            <a:r>
              <a:rPr lang="en-US" altLang="en-US" dirty="0" smtClean="0"/>
              <a:t>Is a problem facing insurers where the risky types are more likely to accept an insurance policy and are more expensive to serve</a:t>
            </a:r>
          </a:p>
          <a:p>
            <a:pPr lvl="1"/>
            <a:r>
              <a:rPr lang="en-US" altLang="en-US" dirty="0" smtClean="0"/>
              <a:t>Assume policy holders may be one of two types</a:t>
            </a:r>
          </a:p>
          <a:p>
            <a:pPr lvl="2"/>
            <a:r>
              <a:rPr lang="en-US" altLang="en-US" dirty="0" smtClean="0">
                <a:sym typeface="Symbol" pitchFamily="18" charset="2"/>
              </a:rPr>
              <a:t></a:t>
            </a:r>
            <a:r>
              <a:rPr lang="en-US" altLang="en-US" i="1" baseline="-25000" dirty="0" smtClean="0">
                <a:sym typeface="Symbol" pitchFamily="18" charset="2"/>
              </a:rPr>
              <a:t>H</a:t>
            </a:r>
            <a:r>
              <a:rPr lang="en-US" altLang="en-US" dirty="0" smtClean="0">
                <a:sym typeface="Symbol" pitchFamily="18" charset="2"/>
              </a:rPr>
              <a:t> = high risk</a:t>
            </a:r>
          </a:p>
          <a:p>
            <a:pPr lvl="2"/>
            <a:r>
              <a:rPr lang="en-US" altLang="en-US" dirty="0" smtClean="0">
                <a:sym typeface="Symbol" pitchFamily="18" charset="2"/>
              </a:rPr>
              <a:t></a:t>
            </a:r>
            <a:r>
              <a:rPr lang="en-US" altLang="en-US" i="1" baseline="-25000" dirty="0" smtClean="0">
                <a:sym typeface="Symbol" pitchFamily="18" charset="2"/>
              </a:rPr>
              <a:t>L</a:t>
            </a:r>
            <a:r>
              <a:rPr lang="en-US" altLang="en-US" dirty="0" smtClean="0">
                <a:sym typeface="Symbol" pitchFamily="18" charset="2"/>
              </a:rPr>
              <a:t> = low risk</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E0F661B-E083-4AA4-A07C-090AB647B0BA}" type="slidenum">
              <a:rPr lang="en-US" smtClean="0"/>
              <a:pPr>
                <a:defRPr/>
              </a:pPr>
              <a:t>63</a:t>
            </a:fld>
            <a:endParaRPr lang="en-US"/>
          </a:p>
        </p:txBody>
      </p:sp>
    </p:spTree>
    <p:extLst>
      <p:ext uri="{BB962C8B-B14F-4D97-AF65-F5344CB8AC3E}">
        <p14:creationId xmlns:p14="http://schemas.microsoft.com/office/powerpoint/2010/main" val="401031179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ltLang="en-US" smtClean="0"/>
              <a:t>First Best</a:t>
            </a:r>
          </a:p>
        </p:txBody>
      </p:sp>
      <p:sp>
        <p:nvSpPr>
          <p:cNvPr id="69635" name="Rectangle 3"/>
          <p:cNvSpPr>
            <a:spLocks noGrp="1" noChangeArrowheads="1"/>
          </p:cNvSpPr>
          <p:nvPr>
            <p:ph idx="1"/>
          </p:nvPr>
        </p:nvSpPr>
        <p:spPr/>
        <p:txBody>
          <a:bodyPr/>
          <a:lstStyle/>
          <a:p>
            <a:r>
              <a:rPr lang="en-US" altLang="en-US" smtClean="0"/>
              <a:t>The insurer can observe the individual’s risk type</a:t>
            </a:r>
          </a:p>
          <a:p>
            <a:r>
              <a:rPr lang="en-US" altLang="en-US" smtClean="0"/>
              <a:t>First best involves full insurance</a:t>
            </a:r>
          </a:p>
          <a:p>
            <a:pPr lvl="1"/>
            <a:r>
              <a:rPr lang="en-US" altLang="en-US" smtClean="0"/>
              <a:t>Different premiums are charged to each type to extract all surplus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164FB17-1538-4631-9C9F-337B11137DEF}" type="slidenum">
              <a:rPr lang="en-US" smtClean="0"/>
              <a:pPr>
                <a:defRPr/>
              </a:pPr>
              <a:t>64</a:t>
            </a:fld>
            <a:endParaRPr lang="en-US"/>
          </a:p>
        </p:txBody>
      </p:sp>
    </p:spTree>
    <p:extLst>
      <p:ext uri="{BB962C8B-B14F-4D97-AF65-F5344CB8AC3E}">
        <p14:creationId xmlns:p14="http://schemas.microsoft.com/office/powerpoint/2010/main" val="88525902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18.7	First Best for a Monopoly </a:t>
            </a:r>
            <a:r>
              <a:rPr lang="en-US" altLang="en-US" dirty="0" smtClean="0"/>
              <a:t>Insurer</a:t>
            </a:r>
          </a:p>
        </p:txBody>
      </p:sp>
      <p:sp>
        <p:nvSpPr>
          <p:cNvPr id="70659" name="Text Placeholder 2"/>
          <p:cNvSpPr>
            <a:spLocks noGrp="1"/>
          </p:cNvSpPr>
          <p:nvPr>
            <p:ph sz="half" idx="1"/>
          </p:nvPr>
        </p:nvSpPr>
        <p:spPr>
          <a:xfrm>
            <a:off x="6019800" y="2057400"/>
            <a:ext cx="2895600" cy="4068763"/>
          </a:xfrm>
        </p:spPr>
        <p:txBody>
          <a:bodyPr>
            <a:normAutofit/>
          </a:bodyPr>
          <a:lstStyle/>
          <a:p>
            <a:pPr>
              <a:spcBef>
                <a:spcPct val="0"/>
              </a:spcBef>
            </a:pPr>
            <a:r>
              <a:rPr lang="en-US" altLang="en-US" dirty="0"/>
              <a:t>In the first best, the monopoly insurer offers policy A to the high-risk type and B to the low-risk type. Both types are fully insured. The premiums are sufficiently high to keep each type on his indifference curve through the no-insurance point (E).</a:t>
            </a:r>
          </a:p>
          <a:p>
            <a:pPr>
              <a:spcBef>
                <a:spcPct val="0"/>
              </a:spcBef>
            </a:pPr>
            <a:endParaRPr lang="en-US" altLang="en-US" dirty="0" smtClean="0"/>
          </a:p>
        </p:txBody>
      </p:sp>
      <p:sp>
        <p:nvSpPr>
          <p:cNvPr id="7066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01291DD2-BBC3-4C67-9B79-8137EF692950}" type="slidenum">
              <a:rPr lang="en-US" smtClean="0"/>
              <a:pPr>
                <a:defRPr/>
              </a:pPr>
              <a:t>65</a:t>
            </a:fld>
            <a:endParaRPr lang="en-US" dirty="0"/>
          </a:p>
        </p:txBody>
      </p:sp>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944" y="914400"/>
            <a:ext cx="5370512"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90253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wipe(left)">
                                      <p:cBhvr>
                                        <p:cTn id="7" dur="500"/>
                                        <p:tgtEl>
                                          <p:spTgt spid="430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0659">
                                            <p:txEl>
                                              <p:pRg st="0" end="0"/>
                                            </p:txEl>
                                          </p:spTgt>
                                        </p:tgtEl>
                                        <p:attrNameLst>
                                          <p:attrName>style.visibility</p:attrName>
                                        </p:attrNameLst>
                                      </p:cBhvr>
                                      <p:to>
                                        <p:strVal val="visible"/>
                                      </p:to>
                                    </p:set>
                                    <p:animEffect transition="in" filter="wipe(left)">
                                      <p:cBhvr>
                                        <p:cTn id="11" dur="500"/>
                                        <p:tgtEl>
                                          <p:spTgt spid="706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en-US" smtClean="0"/>
              <a:t>Second Best</a:t>
            </a:r>
          </a:p>
        </p:txBody>
      </p:sp>
      <p:sp>
        <p:nvSpPr>
          <p:cNvPr id="71683" name="Rectangle 3"/>
          <p:cNvSpPr>
            <a:spLocks noGrp="1" noChangeArrowheads="1"/>
          </p:cNvSpPr>
          <p:nvPr>
            <p:ph idx="1"/>
          </p:nvPr>
        </p:nvSpPr>
        <p:spPr/>
        <p:txBody>
          <a:bodyPr/>
          <a:lstStyle/>
          <a:p>
            <a:r>
              <a:rPr lang="en-US" altLang="en-US" smtClean="0"/>
              <a:t>The insurer cannot observe type</a:t>
            </a:r>
          </a:p>
          <a:p>
            <a:pPr lvl="1"/>
            <a:r>
              <a:rPr lang="en-US" altLang="en-US" smtClean="0"/>
              <a:t>First-best contracts will not be incentive compatible</a:t>
            </a:r>
          </a:p>
          <a:p>
            <a:pPr lvl="1"/>
            <a:r>
              <a:rPr lang="en-US" altLang="en-US" smtClean="0"/>
              <a:t>If the insurer offered </a:t>
            </a:r>
            <a:r>
              <a:rPr lang="en-US" altLang="en-US" i="1" smtClean="0"/>
              <a:t>A</a:t>
            </a:r>
            <a:r>
              <a:rPr lang="en-US" altLang="en-US" smtClean="0"/>
              <a:t> and </a:t>
            </a:r>
            <a:r>
              <a:rPr lang="en-US" altLang="en-US" i="1" smtClean="0"/>
              <a:t>B</a:t>
            </a:r>
            <a:r>
              <a:rPr lang="en-US" altLang="en-US" smtClean="0"/>
              <a:t>, the high-risk type would choose </a:t>
            </a:r>
            <a:r>
              <a:rPr lang="en-US" altLang="en-US" i="1" smtClean="0"/>
              <a:t>B</a:t>
            </a:r>
            <a:endParaRPr lang="en-US" altLang="en-US" smtClean="0"/>
          </a:p>
          <a:p>
            <a:pPr lvl="1"/>
            <a:r>
              <a:rPr lang="en-US" altLang="en-US" smtClean="0"/>
              <a:t>The insurer must change the coverage offered to low-risk individuals to make it unattractive to high-risk individuals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6DA740D-B2F4-4B90-A622-59647D199AE1}" type="slidenum">
              <a:rPr lang="en-US" smtClean="0"/>
              <a:pPr>
                <a:defRPr/>
              </a:pPr>
              <a:t>66</a:t>
            </a:fld>
            <a:endParaRPr lang="en-US"/>
          </a:p>
        </p:txBody>
      </p:sp>
    </p:spTree>
    <p:extLst>
      <p:ext uri="{BB962C8B-B14F-4D97-AF65-F5344CB8AC3E}">
        <p14:creationId xmlns:p14="http://schemas.microsoft.com/office/powerpoint/2010/main" val="146588443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18.8	Second Best for a Monopoly </a:t>
            </a:r>
            <a:r>
              <a:rPr lang="en-US" altLang="en-US" dirty="0" smtClean="0"/>
              <a:t>Insurer</a:t>
            </a:r>
          </a:p>
        </p:txBody>
      </p:sp>
      <p:sp>
        <p:nvSpPr>
          <p:cNvPr id="72707" name="Text Placeholder 2"/>
          <p:cNvSpPr>
            <a:spLocks noGrp="1"/>
          </p:cNvSpPr>
          <p:nvPr>
            <p:ph sz="half" idx="1"/>
          </p:nvPr>
        </p:nvSpPr>
        <p:spPr>
          <a:xfrm>
            <a:off x="6172200" y="1600200"/>
            <a:ext cx="2743200" cy="4525963"/>
          </a:xfrm>
        </p:spPr>
        <p:txBody>
          <a:bodyPr>
            <a:normAutofit/>
          </a:bodyPr>
          <a:lstStyle/>
          <a:p>
            <a:pPr>
              <a:spcBef>
                <a:spcPct val="0"/>
              </a:spcBef>
            </a:pPr>
            <a:r>
              <a:rPr lang="en-US" altLang="en-US" dirty="0"/>
              <a:t>Second-best insurance policies are represented by the circled points: C for the high-risk type and D for the low-risk type.</a:t>
            </a:r>
          </a:p>
          <a:p>
            <a:pPr>
              <a:spcBef>
                <a:spcPct val="0"/>
              </a:spcBef>
            </a:pPr>
            <a:endParaRPr lang="en-US" altLang="en-US" dirty="0" smtClean="0"/>
          </a:p>
        </p:txBody>
      </p:sp>
      <p:sp>
        <p:nvSpPr>
          <p:cNvPr id="72710"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2EFEB812-81FA-45F4-9F70-23FFF0C375A4}" type="slidenum">
              <a:rPr lang="en-US" smtClean="0"/>
              <a:pPr>
                <a:defRPr/>
              </a:pPr>
              <a:t>67</a:t>
            </a:fld>
            <a:endParaRPr lang="en-US" dirty="0"/>
          </a:p>
        </p:txBody>
      </p:sp>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914400"/>
            <a:ext cx="5397500" cy="544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288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wipe(left)">
                                      <p:cBhvr>
                                        <p:cTn id="7" dur="500"/>
                                        <p:tgtEl>
                                          <p:spTgt spid="4403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2707">
                                            <p:txEl>
                                              <p:pRg st="0" end="0"/>
                                            </p:txEl>
                                          </p:spTgt>
                                        </p:tgtEl>
                                        <p:attrNameLst>
                                          <p:attrName>style.visibility</p:attrName>
                                        </p:attrNameLst>
                                      </p:cBhvr>
                                      <p:to>
                                        <p:strVal val="visible"/>
                                      </p:to>
                                    </p:set>
                                    <p:animEffect transition="in" filter="wipe(left)">
                                      <p:cBhvr>
                                        <p:cTn id="11" dur="500"/>
                                        <p:tgtEl>
                                          <p:spTgt spid="727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18.5 	Insuring the Little Red Corvette</a:t>
            </a:r>
          </a:p>
        </p:txBody>
      </p:sp>
      <p:sp>
        <p:nvSpPr>
          <p:cNvPr id="7782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6ED13B1-633C-4DF5-B12C-5A7D9C5F065B}" type="slidenum">
              <a:rPr lang="en-US" smtClean="0"/>
              <a:pPr>
                <a:defRPr/>
              </a:pPr>
              <a:t>68</a:t>
            </a:fld>
            <a:endParaRPr lang="en-US" dirty="0"/>
          </a:p>
        </p:txBody>
      </p:sp>
      <p:sp>
        <p:nvSpPr>
          <p:cNvPr id="77827" name="Content Placeholder 2"/>
          <p:cNvSpPr>
            <a:spLocks noGrp="1"/>
          </p:cNvSpPr>
          <p:nvPr>
            <p:ph type="body" sz="quarter" idx="12"/>
          </p:nvPr>
        </p:nvSpPr>
        <p:spPr>
          <a:prstGeom prst="rect">
            <a:avLst/>
          </a:prstGeom>
        </p:spPr>
        <p:txBody>
          <a:bodyPr/>
          <a:lstStyle/>
          <a:p>
            <a:r>
              <a:rPr lang="en-US" altLang="en-US" smtClean="0"/>
              <a:t>Probability of theft </a:t>
            </a:r>
          </a:p>
          <a:p>
            <a:pPr lvl="1"/>
            <a:r>
              <a:rPr lang="en-US" altLang="en-US" smtClean="0"/>
              <a:t>Depends on the color of the car</a:t>
            </a:r>
          </a:p>
          <a:p>
            <a:pPr lvl="1"/>
            <a:r>
              <a:rPr lang="en-US" altLang="en-US" smtClean="0"/>
              <a:t>Probability of theft is higher for red cars (</a:t>
            </a:r>
            <a:r>
              <a:rPr lang="el-GR" altLang="en-US" smtClean="0">
                <a:cs typeface="Arial" charset="0"/>
              </a:rPr>
              <a:t>π</a:t>
            </a:r>
            <a:r>
              <a:rPr lang="en-US" altLang="en-US" baseline="-25000" smtClean="0"/>
              <a:t>H</a:t>
            </a:r>
            <a:r>
              <a:rPr lang="en-US" altLang="en-US" smtClean="0"/>
              <a:t> = 0.25) than for gray cars (</a:t>
            </a:r>
            <a:r>
              <a:rPr lang="el-GR" altLang="en-US" smtClean="0">
                <a:cs typeface="Arial" charset="0"/>
              </a:rPr>
              <a:t>π</a:t>
            </a:r>
            <a:r>
              <a:rPr lang="en-US" altLang="en-US" baseline="-25000" smtClean="0"/>
              <a:t>L</a:t>
            </a:r>
            <a:r>
              <a:rPr lang="en-US" altLang="en-US" smtClean="0"/>
              <a:t> = 0.15)</a:t>
            </a:r>
          </a:p>
          <a:p>
            <a:r>
              <a:rPr lang="en-US" altLang="en-US" smtClean="0"/>
              <a:t>First best</a:t>
            </a:r>
          </a:p>
          <a:p>
            <a:pPr lvl="1"/>
            <a:r>
              <a:rPr lang="en-US" altLang="en-US" smtClean="0"/>
              <a:t>The monopoly insurer </a:t>
            </a:r>
          </a:p>
          <a:p>
            <a:pPr lvl="2"/>
            <a:r>
              <a:rPr lang="en-US" altLang="en-US" smtClean="0"/>
              <a:t>Can observe the car color </a:t>
            </a:r>
          </a:p>
          <a:p>
            <a:pPr lvl="2"/>
            <a:r>
              <a:rPr lang="en-US" altLang="en-US" smtClean="0"/>
              <a:t>Offer different policies for different colors</a:t>
            </a:r>
          </a:p>
          <a:p>
            <a:pPr lvl="1"/>
            <a:r>
              <a:rPr lang="en-US" altLang="en-US" smtClean="0"/>
              <a:t>Both colors are fully insured for the $20,000 loss of the car</a:t>
            </a:r>
          </a:p>
        </p:txBody>
      </p:sp>
    </p:spTree>
    <p:extLst>
      <p:ext uri="{BB962C8B-B14F-4D97-AF65-F5344CB8AC3E}">
        <p14:creationId xmlns:p14="http://schemas.microsoft.com/office/powerpoint/2010/main" val="98169928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18.5 	Insuring the Little Red Corvette</a:t>
            </a:r>
          </a:p>
        </p:txBody>
      </p:sp>
      <p:sp>
        <p:nvSpPr>
          <p:cNvPr id="7885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F1CAEEC1-66A8-47A7-A9D3-E2B71F0B9602}" type="slidenum">
              <a:rPr lang="en-US" smtClean="0"/>
              <a:pPr>
                <a:defRPr/>
              </a:pPr>
              <a:t>69</a:t>
            </a:fld>
            <a:endParaRPr lang="en-US" dirty="0"/>
          </a:p>
        </p:txBody>
      </p:sp>
      <p:sp>
        <p:nvSpPr>
          <p:cNvPr id="78851" name="Content Placeholder 2"/>
          <p:cNvSpPr>
            <a:spLocks noGrp="1"/>
          </p:cNvSpPr>
          <p:nvPr>
            <p:ph type="body" sz="quarter" idx="12"/>
          </p:nvPr>
        </p:nvSpPr>
        <p:spPr>
          <a:prstGeom prst="rect">
            <a:avLst/>
          </a:prstGeom>
        </p:spPr>
        <p:txBody>
          <a:bodyPr/>
          <a:lstStyle/>
          <a:p>
            <a:r>
              <a:rPr lang="en-US" altLang="en-US" smtClean="0"/>
              <a:t>First best</a:t>
            </a:r>
          </a:p>
          <a:p>
            <a:pPr lvl="1"/>
            <a:r>
              <a:rPr lang="en-US" altLang="en-US" smtClean="0"/>
              <a:t>Premium = maximum amount that each type would be willing to pay in lieu of going without insurance</a:t>
            </a:r>
          </a:p>
          <a:p>
            <a:pPr lvl="2"/>
            <a:r>
              <a:rPr lang="en-US" altLang="en-US" smtClean="0"/>
              <a:t>= $5,426 for the high type (red cars)</a:t>
            </a:r>
          </a:p>
          <a:p>
            <a:pPr lvl="2"/>
            <a:r>
              <a:rPr lang="en-US" altLang="en-US" smtClean="0"/>
              <a:t>= $3,287 for the gray cars</a:t>
            </a:r>
          </a:p>
          <a:p>
            <a:pPr lvl="1"/>
            <a:r>
              <a:rPr lang="en-US" altLang="en-US" smtClean="0"/>
              <a:t>Expected profit from a policy </a:t>
            </a:r>
          </a:p>
          <a:p>
            <a:pPr lvl="2"/>
            <a:r>
              <a:rPr lang="en-US" altLang="en-US" smtClean="0"/>
              <a:t>Sold for a red car = $426</a:t>
            </a:r>
          </a:p>
          <a:p>
            <a:pPr lvl="2"/>
            <a:r>
              <a:rPr lang="en-US" altLang="en-US" smtClean="0"/>
              <a:t>Sold for a gray car = $287</a:t>
            </a:r>
          </a:p>
        </p:txBody>
      </p:sp>
    </p:spTree>
    <p:extLst>
      <p:ext uri="{BB962C8B-B14F-4D97-AF65-F5344CB8AC3E}">
        <p14:creationId xmlns:p14="http://schemas.microsoft.com/office/powerpoint/2010/main" val="181737484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18.5 	Insuring the Little Red Corvette</a:t>
            </a:r>
          </a:p>
        </p:txBody>
      </p:sp>
      <p:sp>
        <p:nvSpPr>
          <p:cNvPr id="7987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18963E0A-05D0-4C63-98A4-DD427029C2F9}" type="slidenum">
              <a:rPr lang="en-US" smtClean="0"/>
              <a:pPr>
                <a:defRPr/>
              </a:pPr>
              <a:t>70</a:t>
            </a:fld>
            <a:endParaRPr lang="en-US" dirty="0"/>
          </a:p>
        </p:txBody>
      </p:sp>
      <mc:AlternateContent xmlns:mc="http://schemas.openxmlformats.org/markup-compatibility/2006" xmlns:a14="http://schemas.microsoft.com/office/drawing/2010/main">
        <mc:Choice Requires="a14">
          <p:sp>
            <p:nvSpPr>
              <p:cNvPr id="79875" name="Content Placeholder 2"/>
              <p:cNvSpPr>
                <a:spLocks noGrp="1"/>
              </p:cNvSpPr>
              <p:nvPr>
                <p:ph type="body" sz="quarter" idx="12"/>
              </p:nvPr>
            </p:nvSpPr>
            <p:spPr>
              <a:prstGeom prst="rect">
                <a:avLst/>
              </a:prstGeom>
            </p:spPr>
            <p:txBody>
              <a:bodyPr/>
              <a:lstStyle/>
              <a:p>
                <a:r>
                  <a:rPr lang="en-US" altLang="en-US" dirty="0" smtClean="0"/>
                  <a:t>Second best</a:t>
                </a:r>
              </a:p>
              <a:p>
                <a:pPr lvl="1"/>
                <a:r>
                  <a:rPr lang="en-US" altLang="en-US" dirty="0" smtClean="0"/>
                  <a:t>Insurer – knows only that 10% of all cars are red and the rest are gray</a:t>
                </a:r>
              </a:p>
              <a:p>
                <a:r>
                  <a:rPr lang="en-US" altLang="en-US" dirty="0" smtClean="0"/>
                  <a:t>Premium/insurance coverage bundles</a:t>
                </a:r>
              </a:p>
              <a:p>
                <a:pPr lvl="1"/>
                <a:r>
                  <a:rPr lang="en-US" altLang="en-US" i="1" dirty="0" smtClean="0"/>
                  <a:t>(</a:t>
                </a:r>
                <a:r>
                  <a:rPr lang="en-US" altLang="en-US" i="1" dirty="0" err="1" smtClean="0"/>
                  <a:t>p</a:t>
                </a:r>
                <a:r>
                  <a:rPr lang="en-US" altLang="en-US" i="1" baseline="-25000" dirty="0" err="1" smtClean="0"/>
                  <a:t>H</a:t>
                </a:r>
                <a:r>
                  <a:rPr lang="en-US" altLang="en-US" i="1" dirty="0" err="1" smtClean="0"/>
                  <a:t>,x</a:t>
                </a:r>
                <a:r>
                  <a:rPr lang="en-US" altLang="en-US" i="1" baseline="-25000" dirty="0" err="1" smtClean="0"/>
                  <a:t>H</a:t>
                </a:r>
                <a:r>
                  <a:rPr lang="en-US" altLang="en-US" dirty="0" smtClean="0"/>
                  <a:t>) for high-risk, red cars</a:t>
                </a:r>
              </a:p>
              <a:p>
                <a:pPr lvl="1"/>
                <a:r>
                  <a:rPr lang="en-US" altLang="en-US" i="1" dirty="0" smtClean="0"/>
                  <a:t>(</a:t>
                </a:r>
                <a:r>
                  <a:rPr lang="en-US" altLang="en-US" i="1" dirty="0" err="1" smtClean="0"/>
                  <a:t>p</a:t>
                </a:r>
                <a:r>
                  <a:rPr lang="en-US" altLang="en-US" i="1" baseline="-25000" dirty="0" err="1" smtClean="0"/>
                  <a:t>L</a:t>
                </a:r>
                <a:r>
                  <a:rPr lang="en-US" altLang="en-US" i="1" dirty="0" err="1" smtClean="0"/>
                  <a:t>,x</a:t>
                </a:r>
                <a:r>
                  <a:rPr lang="en-US" altLang="en-US" i="1" baseline="-25000" dirty="0" err="1" smtClean="0"/>
                  <a:t>L</a:t>
                </a:r>
                <a:r>
                  <a:rPr lang="en-US" altLang="en-US" i="1" dirty="0" smtClean="0"/>
                  <a:t>) </a:t>
                </a:r>
                <a:r>
                  <a:rPr lang="en-US" altLang="en-US" dirty="0" smtClean="0"/>
                  <a:t>for low-risk, gray cars</a:t>
                </a:r>
              </a:p>
              <a:p>
                <a:pPr lvl="1"/>
                <a:r>
                  <a:rPr lang="en-US" altLang="en-US" dirty="0" smtClean="0"/>
                  <a:t>Red cars are fully insured, </a:t>
                </a:r>
                <a:r>
                  <a:rPr lang="en-US" altLang="en-US" i="1" dirty="0" err="1" smtClean="0"/>
                  <a:t>x</a:t>
                </a:r>
                <a:r>
                  <a:rPr lang="en-US" altLang="en-US" i="1" baseline="-25000" dirty="0" err="1" smtClean="0"/>
                  <a:t>H</a:t>
                </a:r>
                <a:r>
                  <a:rPr lang="en-US" altLang="en-US" dirty="0" smtClean="0"/>
                  <a:t> = $20,000</a:t>
                </a:r>
              </a:p>
              <a:p>
                <a:r>
                  <a:rPr lang="en-US" altLang="en-US" dirty="0" smtClean="0"/>
                  <a:t>Second-best values that result are </a:t>
                </a:r>
              </a:p>
              <a:p>
                <a:pPr lvl="2">
                  <a:buNone/>
                </a:pPr>
                <a:r>
                  <a:rPr lang="en-US" altLang="en-US" i="1" dirty="0">
                    <a:solidFill>
                      <a:srgbClr val="FF0000"/>
                    </a:solidFill>
                  </a:rPr>
                  <a:t>p</a:t>
                </a:r>
                <a:r>
                  <a:rPr lang="en-US" altLang="en-US" i="1" baseline="-25000" dirty="0" err="1">
                    <a:solidFill>
                      <a:srgbClr val="FF0000"/>
                    </a:solidFill>
                  </a:rPr>
                  <a:t>L</a:t>
                </a:r>
                <a:r>
                  <a:rPr lang="en-US" altLang="en-US" i="1" dirty="0">
                    <a:solidFill>
                      <a:srgbClr val="FF0000"/>
                    </a:solidFill>
                  </a:rPr>
                  <a:t>**</a:t>
                </a:r>
                <a14:m>
                  <m:oMath xmlns:m="http://schemas.openxmlformats.org/officeDocument/2006/math">
                    <m:r>
                      <a:rPr lang="en-US" altLang="en-US" i="1" dirty="0">
                        <a:solidFill>
                          <a:srgbClr val="FF0000"/>
                        </a:solidFill>
                        <a:latin typeface="Cambria Math"/>
                        <a:ea typeface="Cambria Math"/>
                      </a:rPr>
                      <m:t>≈</m:t>
                    </m:r>
                  </m:oMath>
                </a14:m>
                <a:r>
                  <a:rPr lang="en-US" altLang="en-US" i="1" dirty="0">
                    <a:solidFill>
                      <a:srgbClr val="FF0000"/>
                    </a:solidFill>
                  </a:rPr>
                  <a:t> </a:t>
                </a:r>
                <a:r>
                  <a:rPr lang="en-US" altLang="en-US" dirty="0" smtClean="0">
                    <a:solidFill>
                      <a:srgbClr val="FF0000"/>
                    </a:solidFill>
                  </a:rPr>
                  <a:t>1,985;  </a:t>
                </a:r>
                <a:r>
                  <a:rPr lang="en-US" altLang="en-US" i="1" dirty="0" smtClean="0">
                    <a:solidFill>
                      <a:srgbClr val="FF0000"/>
                    </a:solidFill>
                  </a:rPr>
                  <a:t>p</a:t>
                </a:r>
                <a:r>
                  <a:rPr lang="en-US" altLang="en-US" i="1" baseline="-25000" dirty="0" smtClean="0">
                    <a:solidFill>
                      <a:srgbClr val="FF0000"/>
                    </a:solidFill>
                  </a:rPr>
                  <a:t>H</a:t>
                </a:r>
                <a:r>
                  <a:rPr lang="en-US" altLang="en-US" i="1" dirty="0" smtClean="0">
                    <a:solidFill>
                      <a:srgbClr val="FF0000"/>
                    </a:solidFill>
                  </a:rPr>
                  <a:t>**</a:t>
                </a:r>
                <a:r>
                  <a:rPr lang="en-US" altLang="en-US" dirty="0">
                    <a:solidFill>
                      <a:srgbClr val="FF0000"/>
                    </a:solidFill>
                    <a:ea typeface="Cambria Math"/>
                  </a:rPr>
                  <a:t> </a:t>
                </a:r>
                <a14:m>
                  <m:oMath xmlns:m="http://schemas.openxmlformats.org/officeDocument/2006/math">
                    <m:r>
                      <a:rPr lang="en-US" altLang="en-US" i="1" dirty="0">
                        <a:solidFill>
                          <a:srgbClr val="FF0000"/>
                        </a:solidFill>
                        <a:latin typeface="Cambria Math"/>
                        <a:ea typeface="Cambria Math"/>
                      </a:rPr>
                      <m:t>≈</m:t>
                    </m:r>
                  </m:oMath>
                </a14:m>
                <a:r>
                  <a:rPr lang="en-US" altLang="en-US" i="1" dirty="0" smtClean="0">
                    <a:solidFill>
                      <a:srgbClr val="FF0000"/>
                    </a:solidFill>
                  </a:rPr>
                  <a:t> </a:t>
                </a:r>
                <a:r>
                  <a:rPr lang="en-US" altLang="en-US" dirty="0" smtClean="0">
                    <a:solidFill>
                      <a:srgbClr val="FF0000"/>
                    </a:solidFill>
                  </a:rPr>
                  <a:t>4,146; </a:t>
                </a:r>
                <a:r>
                  <a:rPr lang="en-US" altLang="en-US" i="1" dirty="0" err="1" smtClean="0">
                    <a:solidFill>
                      <a:srgbClr val="FF0000"/>
                    </a:solidFill>
                  </a:rPr>
                  <a:t>x</a:t>
                </a:r>
                <a:r>
                  <a:rPr lang="en-US" altLang="en-US" i="1" baseline="-25000" dirty="0" err="1" smtClean="0">
                    <a:solidFill>
                      <a:srgbClr val="FF0000"/>
                    </a:solidFill>
                  </a:rPr>
                  <a:t>L</a:t>
                </a:r>
                <a:r>
                  <a:rPr lang="en-US" altLang="en-US" i="1" dirty="0" smtClean="0">
                    <a:solidFill>
                      <a:srgbClr val="FF0000"/>
                    </a:solidFill>
                  </a:rPr>
                  <a:t>**</a:t>
                </a:r>
                <a:r>
                  <a:rPr lang="en-US" altLang="en-US" dirty="0">
                    <a:solidFill>
                      <a:srgbClr val="FF0000"/>
                    </a:solidFill>
                    <a:ea typeface="Cambria Math"/>
                  </a:rPr>
                  <a:t> </a:t>
                </a:r>
                <a14:m>
                  <m:oMath xmlns:m="http://schemas.openxmlformats.org/officeDocument/2006/math">
                    <m:r>
                      <a:rPr lang="en-US" altLang="en-US" i="1" dirty="0">
                        <a:solidFill>
                          <a:srgbClr val="FF0000"/>
                        </a:solidFill>
                        <a:latin typeface="Cambria Math"/>
                        <a:ea typeface="Cambria Math"/>
                      </a:rPr>
                      <m:t>≈</m:t>
                    </m:r>
                  </m:oMath>
                </a14:m>
                <a:r>
                  <a:rPr lang="en-US" altLang="en-US" i="1" dirty="0" smtClean="0">
                    <a:solidFill>
                      <a:srgbClr val="FF0000"/>
                    </a:solidFill>
                  </a:rPr>
                  <a:t> </a:t>
                </a:r>
                <a:r>
                  <a:rPr lang="en-US" altLang="en-US" dirty="0" smtClean="0">
                    <a:solidFill>
                      <a:srgbClr val="FF0000"/>
                    </a:solidFill>
                  </a:rPr>
                  <a:t>11,638</a:t>
                </a:r>
              </a:p>
            </p:txBody>
          </p:sp>
        </mc:Choice>
        <mc:Fallback xmlns="">
          <p:sp>
            <p:nvSpPr>
              <p:cNvPr id="79875" name="Content Placeholder 2"/>
              <p:cNvSpPr>
                <a:spLocks noGrp="1" noRot="1" noChangeAspect="1" noMove="1" noResize="1" noEditPoints="1" noAdjustHandles="1" noChangeArrowheads="1" noChangeShapeType="1" noTextEdit="1"/>
              </p:cNvSpPr>
              <p:nvPr>
                <p:ph type="body" sz="quarter" idx="12"/>
              </p:nvPr>
            </p:nvSpPr>
            <p:spPr>
              <a:prstGeom prst="rect">
                <a:avLst/>
              </a:prstGeom>
              <a:blipFill rotWithShape="1">
                <a:blip r:embed="rId2"/>
                <a:stretch>
                  <a:fillRect l="-1673" t="-1351"/>
                </a:stretch>
              </a:blipFill>
            </p:spPr>
            <p:txBody>
              <a:bodyPr/>
              <a:lstStyle/>
              <a:p>
                <a:r>
                  <a:rPr lang="en-US">
                    <a:noFill/>
                  </a:rPr>
                  <a:t> </a:t>
                </a:r>
              </a:p>
            </p:txBody>
          </p:sp>
        </mc:Fallback>
      </mc:AlternateContent>
    </p:spTree>
    <p:extLst>
      <p:ext uri="{BB962C8B-B14F-4D97-AF65-F5344CB8AC3E}">
        <p14:creationId xmlns:p14="http://schemas.microsoft.com/office/powerpoint/2010/main" val="295801211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43000" y="0"/>
            <a:ext cx="8001000" cy="1066800"/>
          </a:xfrm>
        </p:spPr>
        <p:txBody>
          <a:bodyPr>
            <a:noAutofit/>
          </a:bodyPr>
          <a:lstStyle/>
          <a:p>
            <a:r>
              <a:rPr lang="en-US" dirty="0" smtClean="0"/>
              <a:t>18.9  </a:t>
            </a:r>
            <a:r>
              <a:rPr lang="en-US" dirty="0"/>
              <a:t>Solving for Second Best in the Numerical </a:t>
            </a:r>
            <a:r>
              <a:rPr lang="en-US" dirty="0" smtClean="0"/>
              <a:t/>
            </a:r>
            <a:br>
              <a:rPr lang="en-US" dirty="0" smtClean="0"/>
            </a:br>
            <a:r>
              <a:rPr lang="en-US" dirty="0"/>
              <a:t>	</a:t>
            </a:r>
            <a:r>
              <a:rPr lang="en-US" dirty="0" smtClean="0">
                <a:solidFill>
                  <a:srgbClr val="002D56"/>
                </a:solidFill>
              </a:rPr>
              <a:t>Example</a:t>
            </a:r>
            <a:endParaRPr lang="en-US" dirty="0">
              <a:solidFill>
                <a:srgbClr val="002D56"/>
              </a:solidFill>
            </a:endParaRPr>
          </a:p>
        </p:txBody>
      </p:sp>
      <mc:AlternateContent xmlns:mc="http://schemas.openxmlformats.org/markup-compatibility/2006">
        <mc:Choice xmlns:a14="http://schemas.microsoft.com/office/drawing/2010/main" Requires="a14">
          <p:sp>
            <p:nvSpPr>
              <p:cNvPr id="8" name="Content Placeholder 7"/>
              <p:cNvSpPr>
                <a:spLocks noGrp="1"/>
              </p:cNvSpPr>
              <p:nvPr>
                <p:ph sz="half" idx="1"/>
              </p:nvPr>
            </p:nvSpPr>
            <p:spPr>
              <a:xfrm>
                <a:off x="6629400" y="1600200"/>
                <a:ext cx="2362200" cy="4525963"/>
              </a:xfrm>
            </p:spPr>
            <p:txBody>
              <a:bodyPr/>
              <a:lstStyle/>
              <a:p>
                <a:r>
                  <a:rPr lang="en-US" dirty="0">
                    <a:latin typeface="Arial" pitchFamily="34" charset="0"/>
                    <a:cs typeface="Arial" pitchFamily="34" charset="0"/>
                  </a:rPr>
                  <a:t>Graphing the expression for profit in Equation 18.71 as a function of </a:t>
                </a:r>
                <a14:m>
                  <m:oMath xmlns:m="http://schemas.openxmlformats.org/officeDocument/2006/math">
                    <m:sSub>
                      <m:sSubPr>
                        <m:ctrlPr>
                          <a:rPr lang="en-US" i="1">
                            <a:latin typeface="Cambria Math"/>
                            <a:cs typeface="Arial" pitchFamily="34" charset="0"/>
                          </a:rPr>
                        </m:ctrlPr>
                      </m:sSubPr>
                      <m:e>
                        <m:r>
                          <a:rPr lang="en-US" i="1">
                            <a:latin typeface="Cambria Math"/>
                            <a:cs typeface="Arial" pitchFamily="34" charset="0"/>
                          </a:rPr>
                          <m:t>𝑝</m:t>
                        </m:r>
                      </m:e>
                      <m:sub>
                        <m:r>
                          <a:rPr lang="en-US" i="1">
                            <a:latin typeface="Cambria Math"/>
                            <a:cs typeface="Arial" pitchFamily="34" charset="0"/>
                          </a:rPr>
                          <m:t>𝐿</m:t>
                        </m:r>
                      </m:sub>
                    </m:sSub>
                  </m:oMath>
                </a14:m>
                <a:r>
                  <a:rPr lang="en-US" dirty="0">
                    <a:latin typeface="Arial" pitchFamily="34" charset="0"/>
                    <a:cs typeface="Arial" pitchFamily="34" charset="0"/>
                  </a:rPr>
                  <a:t> </a:t>
                </a:r>
                <a:r>
                  <a:rPr lang="en-US" dirty="0" smtClean="0">
                    <a:latin typeface="Arial" pitchFamily="34" charset="0"/>
                    <a:cs typeface="Arial" pitchFamily="34" charset="0"/>
                  </a:rPr>
                  <a:t>shows </a:t>
                </a:r>
                <a:r>
                  <a:rPr lang="en-US" dirty="0">
                    <a:latin typeface="Arial" pitchFamily="34" charset="0"/>
                    <a:cs typeface="Arial" pitchFamily="34" charset="0"/>
                  </a:rPr>
                  <a:t>that a maximum is reached at </a:t>
                </a:r>
                <a14:m>
                  <m:oMath xmlns:m="http://schemas.openxmlformats.org/officeDocument/2006/math">
                    <m:sSubSup>
                      <m:sSubSupPr>
                        <m:ctrlPr>
                          <a:rPr lang="en-US" i="1">
                            <a:latin typeface="Cambria Math"/>
                            <a:cs typeface="Arial" pitchFamily="34" charset="0"/>
                          </a:rPr>
                        </m:ctrlPr>
                      </m:sSubSupPr>
                      <m:e>
                        <m:r>
                          <a:rPr lang="en-US" i="1">
                            <a:latin typeface="Cambria Math"/>
                            <a:cs typeface="Arial" pitchFamily="34" charset="0"/>
                          </a:rPr>
                          <m:t>𝑝</m:t>
                        </m:r>
                      </m:e>
                      <m:sub>
                        <m:r>
                          <a:rPr lang="en-US" i="1">
                            <a:latin typeface="Cambria Math"/>
                            <a:cs typeface="Arial" pitchFamily="34" charset="0"/>
                          </a:rPr>
                          <m:t>𝐿</m:t>
                        </m:r>
                      </m:sub>
                      <m:sup>
                        <m:r>
                          <a:rPr lang="en-US" i="1">
                            <a:latin typeface="Cambria Math"/>
                            <a:cs typeface="Arial" pitchFamily="34" charset="0"/>
                          </a:rPr>
                          <m:t>∗∗</m:t>
                        </m:r>
                      </m:sup>
                    </m:sSubSup>
                    <m:r>
                      <a:rPr lang="en-US" i="1">
                        <a:latin typeface="Cambria Math"/>
                        <a:ea typeface="Cambria Math"/>
                        <a:cs typeface="Arial" pitchFamily="34" charset="0"/>
                      </a:rPr>
                      <m:t>≈1,985</m:t>
                    </m:r>
                  </m:oMath>
                </a14:m>
                <a:r>
                  <a:rPr lang="en-US" dirty="0">
                    <a:latin typeface="Arial" pitchFamily="34" charset="0"/>
                    <a:cs typeface="Arial" pitchFamily="34" charset="0"/>
                  </a:rPr>
                  <a:t>.</a:t>
                </a:r>
              </a:p>
              <a:p>
                <a:endParaRPr lang="en-US" dirty="0"/>
              </a:p>
            </p:txBody>
          </p:sp>
        </mc:Choice>
        <mc:Fallback>
          <p:sp>
            <p:nvSpPr>
              <p:cNvPr id="8" name="Content Placeholder 7"/>
              <p:cNvSpPr>
                <a:spLocks noGrp="1" noRot="1" noChangeAspect="1" noMove="1" noResize="1" noEditPoints="1" noAdjustHandles="1" noChangeArrowheads="1" noChangeShapeType="1" noTextEdit="1"/>
              </p:cNvSpPr>
              <p:nvPr>
                <p:ph sz="half" idx="1"/>
              </p:nvPr>
            </p:nvSpPr>
            <p:spPr>
              <a:xfrm>
                <a:off x="6629400" y="1600200"/>
                <a:ext cx="2362200" cy="4525963"/>
              </a:xfrm>
              <a:blipFill rotWithShape="1">
                <a:blip r:embed="rId2"/>
                <a:stretch>
                  <a:fillRect l="-2326" t="-674" r="-1809"/>
                </a:stretch>
              </a:blipFill>
            </p:spPr>
            <p:txBody>
              <a:bodyPr/>
              <a:lstStyle/>
              <a:p>
                <a:r>
                  <a:rPr lang="en-US">
                    <a:noFill/>
                  </a:rPr>
                  <a:t> </a:t>
                </a:r>
              </a:p>
            </p:txBody>
          </p:sp>
        </mc:Fallback>
      </mc:AlternateContent>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71</a:t>
            </a:fld>
            <a:endParaRPr lang="en-US" dirty="0"/>
          </a:p>
        </p:txBody>
      </p:sp>
      <p:pic>
        <p:nvPicPr>
          <p:cNvPr id="392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924910"/>
            <a:ext cx="6324600" cy="5410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6655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92195"/>
                                        </p:tgtEl>
                                        <p:attrNameLst>
                                          <p:attrName>style.visibility</p:attrName>
                                        </p:attrNameLst>
                                      </p:cBhvr>
                                      <p:to>
                                        <p:strVal val="visible"/>
                                      </p:to>
                                    </p:set>
                                    <p:animEffect transition="in" filter="wipe(left)">
                                      <p:cBhvr>
                                        <p:cTn id="7" dur="500"/>
                                        <p:tgtEl>
                                          <p:spTgt spid="39219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wipe(left)">
                                      <p:cBhvr>
                                        <p:cTn id="1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ltLang="en-US" smtClean="0"/>
              <a:t>Competitive Insurance Market</a:t>
            </a:r>
          </a:p>
        </p:txBody>
      </p:sp>
      <p:sp>
        <p:nvSpPr>
          <p:cNvPr id="73731" name="Rectangle 3"/>
          <p:cNvSpPr>
            <a:spLocks noGrp="1" noChangeArrowheads="1"/>
          </p:cNvSpPr>
          <p:nvPr>
            <p:ph idx="1"/>
          </p:nvPr>
        </p:nvSpPr>
        <p:spPr/>
        <p:txBody>
          <a:bodyPr/>
          <a:lstStyle/>
          <a:p>
            <a:r>
              <a:rPr lang="en-US" altLang="en-US" smtClean="0"/>
              <a:t>Insurance is provided by a perfectly competitive market</a:t>
            </a:r>
          </a:p>
          <a:p>
            <a:pPr lvl="1"/>
            <a:r>
              <a:rPr lang="en-US" altLang="en-US" smtClean="0"/>
              <a:t>Fair insurance</a:t>
            </a:r>
          </a:p>
          <a:p>
            <a:pPr lvl="1"/>
            <a:r>
              <a:rPr lang="en-US" altLang="en-US" smtClean="0"/>
              <a:t>Each type receives full insurance at a fair premium</a:t>
            </a:r>
          </a:p>
          <a:p>
            <a:pPr lvl="1"/>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1DA3630-BDD2-40D6-BFE9-63F24FE391DC}" type="slidenum">
              <a:rPr lang="en-US" smtClean="0"/>
              <a:pPr>
                <a:defRPr/>
              </a:pPr>
              <a:t>72</a:t>
            </a:fld>
            <a:endParaRPr lang="en-US"/>
          </a:p>
        </p:txBody>
      </p:sp>
    </p:spTree>
    <p:extLst>
      <p:ext uri="{BB962C8B-B14F-4D97-AF65-F5344CB8AC3E}">
        <p14:creationId xmlns:p14="http://schemas.microsoft.com/office/powerpoint/2010/main" val="351463166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bwMode="auto">
          <a:xfrm>
            <a:off x="1143000" y="0"/>
            <a:ext cx="8001000" cy="9461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18.10	Competitive </a:t>
            </a:r>
            <a:r>
              <a:rPr lang="en-US" altLang="en-US" dirty="0"/>
              <a:t>Insurance Equilibrium </a:t>
            </a:r>
            <a:r>
              <a:rPr lang="en-US" altLang="en-US" dirty="0" smtClean="0"/>
              <a:t>with</a:t>
            </a:r>
            <a:br>
              <a:rPr lang="en-US" altLang="en-US" dirty="0" smtClean="0"/>
            </a:br>
            <a:r>
              <a:rPr lang="en-US" altLang="en-US" dirty="0" smtClean="0"/>
              <a:t>	</a:t>
            </a:r>
            <a:r>
              <a:rPr lang="en-US" altLang="en-US" dirty="0" smtClean="0">
                <a:solidFill>
                  <a:srgbClr val="002D56"/>
                </a:solidFill>
              </a:rPr>
              <a:t> </a:t>
            </a:r>
            <a:r>
              <a:rPr lang="en-US" altLang="en-US" dirty="0">
                <a:solidFill>
                  <a:srgbClr val="002D56"/>
                </a:solidFill>
              </a:rPr>
              <a:t>Perfect </a:t>
            </a:r>
            <a:r>
              <a:rPr lang="en-US" altLang="en-US" dirty="0" smtClean="0">
                <a:solidFill>
                  <a:srgbClr val="002D56"/>
                </a:solidFill>
              </a:rPr>
              <a:t>Information</a:t>
            </a:r>
          </a:p>
        </p:txBody>
      </p:sp>
      <p:sp>
        <p:nvSpPr>
          <p:cNvPr id="74755" name="Text Placeholder 2"/>
          <p:cNvSpPr>
            <a:spLocks noGrp="1"/>
          </p:cNvSpPr>
          <p:nvPr>
            <p:ph sz="half" idx="1"/>
          </p:nvPr>
        </p:nvSpPr>
        <p:spPr>
          <a:xfrm>
            <a:off x="6172200" y="1828800"/>
            <a:ext cx="2590800" cy="4297363"/>
          </a:xfrm>
        </p:spPr>
        <p:txBody>
          <a:bodyPr>
            <a:normAutofit/>
          </a:bodyPr>
          <a:lstStyle/>
          <a:p>
            <a:pPr>
              <a:spcBef>
                <a:spcPct val="0"/>
              </a:spcBef>
            </a:pPr>
            <a:r>
              <a:rPr lang="en-US" altLang="en-US" dirty="0"/>
              <a:t>With perfect information, the competitive insurance market results in full insurance at fair premiums for each type. The high type is offered policy G; the low type, policy F.</a:t>
            </a:r>
          </a:p>
          <a:p>
            <a:pPr>
              <a:spcBef>
                <a:spcPct val="0"/>
              </a:spcBef>
            </a:pPr>
            <a:endParaRPr lang="en-US" altLang="en-US" dirty="0" smtClean="0"/>
          </a:p>
        </p:txBody>
      </p:sp>
      <p:sp>
        <p:nvSpPr>
          <p:cNvPr id="74758"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9504DF9B-643A-4735-802E-C1781AD4160F}" type="slidenum">
              <a:rPr lang="en-US" smtClean="0"/>
              <a:pPr>
                <a:defRPr/>
              </a:pPr>
              <a:t>73</a:t>
            </a:fld>
            <a:endParaRPr lang="en-US" dirty="0"/>
          </a:p>
        </p:txBody>
      </p:sp>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087" y="946150"/>
            <a:ext cx="5395913" cy="5304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04911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wipe(left)">
                                      <p:cBhvr>
                                        <p:cTn id="7" dur="500"/>
                                        <p:tgtEl>
                                          <p:spTgt spid="4505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4755">
                                            <p:txEl>
                                              <p:pRg st="0" end="0"/>
                                            </p:txEl>
                                          </p:spTgt>
                                        </p:tgtEl>
                                        <p:attrNameLst>
                                          <p:attrName>style.visibility</p:attrName>
                                        </p:attrNameLst>
                                      </p:cBhvr>
                                      <p:to>
                                        <p:strVal val="visible"/>
                                      </p:to>
                                    </p:set>
                                    <p:animEffect transition="in" filter="wipe(left)">
                                      <p:cBhvr>
                                        <p:cTn id="11" dur="500"/>
                                        <p:tgtEl>
                                          <p:spTgt spid="7475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bwMode="auto">
          <a:xfrm>
            <a:off x="1143000" y="0"/>
            <a:ext cx="8001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18.11	Competitive Insurance Equilibrium with </a:t>
            </a:r>
            <a:r>
              <a:rPr lang="en-US" altLang="en-US" dirty="0" smtClean="0"/>
              <a:t/>
            </a:r>
            <a:br>
              <a:rPr lang="en-US" altLang="en-US" dirty="0" smtClean="0"/>
            </a:br>
            <a:r>
              <a:rPr lang="en-US" altLang="en-US" dirty="0" smtClean="0"/>
              <a:t>	</a:t>
            </a:r>
            <a:r>
              <a:rPr lang="en-US" altLang="en-US" dirty="0" smtClean="0">
                <a:solidFill>
                  <a:srgbClr val="002D56"/>
                </a:solidFill>
              </a:rPr>
              <a:t>Hidden Types</a:t>
            </a:r>
          </a:p>
        </p:txBody>
      </p:sp>
      <p:sp>
        <p:nvSpPr>
          <p:cNvPr id="75779" name="Text Placeholder 2"/>
          <p:cNvSpPr>
            <a:spLocks noGrp="1"/>
          </p:cNvSpPr>
          <p:nvPr>
            <p:ph sz="half" idx="1"/>
          </p:nvPr>
        </p:nvSpPr>
        <p:spPr>
          <a:xfrm>
            <a:off x="5715000" y="1858048"/>
            <a:ext cx="2971800" cy="4525963"/>
          </a:xfrm>
        </p:spPr>
        <p:txBody>
          <a:bodyPr>
            <a:normAutofit/>
          </a:bodyPr>
          <a:lstStyle/>
          <a:p>
            <a:pPr>
              <a:spcBef>
                <a:spcPct val="0"/>
              </a:spcBef>
            </a:pPr>
            <a:r>
              <a:rPr lang="en-US" altLang="en-US" dirty="0"/>
              <a:t>With hidden types, the high-risk type continues to be offered first-best policy G but the low-risk type is rationed, receiving only partial insurance at J in order to keep the high-risk type from pooling.</a:t>
            </a:r>
          </a:p>
          <a:p>
            <a:pPr>
              <a:spcBef>
                <a:spcPct val="0"/>
              </a:spcBef>
            </a:pPr>
            <a:endParaRPr lang="en-US" altLang="en-US" dirty="0" smtClean="0"/>
          </a:p>
        </p:txBody>
      </p:sp>
      <p:sp>
        <p:nvSpPr>
          <p:cNvPr id="75781"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D7472A48-41FD-4CB1-B383-C73FF031AA41}" type="slidenum">
              <a:rPr lang="en-US" smtClean="0"/>
              <a:pPr>
                <a:defRPr/>
              </a:pPr>
              <a:t>74</a:t>
            </a:fld>
            <a:endParaRPr lang="en-US" dirty="0"/>
          </a:p>
        </p:txBody>
      </p:sp>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66800"/>
            <a:ext cx="5410200" cy="5296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98251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wipe(left)">
                                      <p:cBhvr>
                                        <p:cTn id="7" dur="500"/>
                                        <p:tgtEl>
                                          <p:spTgt spid="4608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5779">
                                            <p:txEl>
                                              <p:pRg st="0" end="0"/>
                                            </p:txEl>
                                          </p:spTgt>
                                        </p:tgtEl>
                                        <p:attrNameLst>
                                          <p:attrName>style.visibility</p:attrName>
                                        </p:attrNameLst>
                                      </p:cBhvr>
                                      <p:to>
                                        <p:strVal val="visible"/>
                                      </p:to>
                                    </p:set>
                                    <p:animEffect transition="in" filter="wipe(left)">
                                      <p:cBhvr>
                                        <p:cTn id="11" dur="500"/>
                                        <p:tgtEl>
                                          <p:spTgt spid="757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1" y="914400"/>
            <a:ext cx="5410200" cy="535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2"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18.12	Impossibility of a Competitive </a:t>
            </a:r>
            <a:r>
              <a:rPr lang="en-US" altLang="en-US" dirty="0" smtClean="0"/>
              <a:t>Pooling</a:t>
            </a:r>
            <a:br>
              <a:rPr lang="en-US" altLang="en-US" dirty="0" smtClean="0"/>
            </a:br>
            <a:r>
              <a:rPr lang="en-US" altLang="en-US" dirty="0" smtClean="0"/>
              <a:t>	</a:t>
            </a:r>
            <a:r>
              <a:rPr lang="en-US" altLang="en-US" dirty="0" smtClean="0">
                <a:solidFill>
                  <a:srgbClr val="002D56"/>
                </a:solidFill>
              </a:rPr>
              <a:t> Equilibrium</a:t>
            </a:r>
          </a:p>
        </p:txBody>
      </p:sp>
      <p:sp>
        <p:nvSpPr>
          <p:cNvPr id="76803" name="Text Placeholder 2"/>
          <p:cNvSpPr>
            <a:spLocks noGrp="1"/>
          </p:cNvSpPr>
          <p:nvPr>
            <p:ph sz="half" idx="1"/>
          </p:nvPr>
        </p:nvSpPr>
        <p:spPr>
          <a:xfrm>
            <a:off x="5943600" y="1600200"/>
            <a:ext cx="2971800" cy="4525963"/>
          </a:xfrm>
        </p:spPr>
        <p:txBody>
          <a:bodyPr>
            <a:normAutofit/>
          </a:bodyPr>
          <a:lstStyle/>
          <a:p>
            <a:pPr>
              <a:spcBef>
                <a:spcPct val="0"/>
              </a:spcBef>
            </a:pPr>
            <a:r>
              <a:rPr lang="en-US" altLang="en-US" dirty="0"/>
              <a:t>Pooling contract M cannot be an equilibrium because there exist insurance policies such as N that are profitable to insurers and are attractive to low-risk types but not to high-risk types.</a:t>
            </a:r>
          </a:p>
          <a:p>
            <a:pPr>
              <a:spcBef>
                <a:spcPct val="0"/>
              </a:spcBef>
            </a:pPr>
            <a:endParaRPr lang="en-US" altLang="en-US" dirty="0" smtClean="0"/>
          </a:p>
        </p:txBody>
      </p:sp>
      <p:sp>
        <p:nvSpPr>
          <p:cNvPr id="7680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AA910349-BE4D-4957-BF43-E31D472A5FDF}" type="slidenum">
              <a:rPr lang="en-US" smtClean="0"/>
              <a:pPr>
                <a:defRPr/>
              </a:pPr>
              <a:t>75</a:t>
            </a:fld>
            <a:endParaRPr lang="en-US" dirty="0"/>
          </a:p>
        </p:txBody>
      </p:sp>
    </p:spTree>
    <p:extLst>
      <p:ext uri="{BB962C8B-B14F-4D97-AF65-F5344CB8AC3E}">
        <p14:creationId xmlns:p14="http://schemas.microsoft.com/office/powerpoint/2010/main" val="104953243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wipe(left)">
                                      <p:cBhvr>
                                        <p:cTn id="7" dur="500"/>
                                        <p:tgtEl>
                                          <p:spTgt spid="4710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6803">
                                            <p:txEl>
                                              <p:pRg st="0" end="0"/>
                                            </p:txEl>
                                          </p:spTgt>
                                        </p:tgtEl>
                                        <p:attrNameLst>
                                          <p:attrName>style.visibility</p:attrName>
                                        </p:attrNameLst>
                                      </p:cBhvr>
                                      <p:to>
                                        <p:strVal val="visible"/>
                                      </p:to>
                                    </p:set>
                                    <p:animEffect transition="in" filter="wipe(left)">
                                      <p:cBhvr>
                                        <p:cTn id="11" dur="500"/>
                                        <p:tgtEl>
                                          <p:spTgt spid="768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bwMode="auto">
          <a:xfrm>
            <a:off x="1764344" y="0"/>
            <a:ext cx="7379656"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18.6 	Competitive Insurance for the Little Red</a:t>
            </a:r>
            <a:r>
              <a:rPr lang="en-US" altLang="en-US" dirty="0" smtClean="0">
                <a:solidFill>
                  <a:srgbClr val="000099"/>
                </a:solidFill>
              </a:rPr>
              <a:t> 	</a:t>
            </a:r>
            <a:r>
              <a:rPr lang="en-US" altLang="en-US" dirty="0" smtClean="0">
                <a:solidFill>
                  <a:srgbClr val="002D56"/>
                </a:solidFill>
              </a:rPr>
              <a:t>Corvette</a:t>
            </a:r>
          </a:p>
        </p:txBody>
      </p:sp>
      <p:sp>
        <p:nvSpPr>
          <p:cNvPr id="8090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80C63C5-109A-49B4-89EE-88C3E93EB34F}" type="slidenum">
              <a:rPr lang="en-US" smtClean="0"/>
              <a:pPr>
                <a:defRPr/>
              </a:pPr>
              <a:t>76</a:t>
            </a:fld>
            <a:endParaRPr lang="en-US" dirty="0"/>
          </a:p>
        </p:txBody>
      </p:sp>
      <p:sp>
        <p:nvSpPr>
          <p:cNvPr id="80899" name="Content Placeholder 2"/>
          <p:cNvSpPr>
            <a:spLocks noGrp="1"/>
          </p:cNvSpPr>
          <p:nvPr>
            <p:ph type="body" sz="quarter" idx="12"/>
          </p:nvPr>
        </p:nvSpPr>
        <p:spPr>
          <a:xfrm>
            <a:off x="381000" y="1066800"/>
            <a:ext cx="8382000" cy="5334000"/>
          </a:xfrm>
          <a:prstGeom prst="rect">
            <a:avLst/>
          </a:prstGeom>
        </p:spPr>
        <p:txBody>
          <a:bodyPr/>
          <a:lstStyle/>
          <a:p>
            <a:r>
              <a:rPr lang="en-US" altLang="en-US" dirty="0" smtClean="0"/>
              <a:t>Insurance - competitive market</a:t>
            </a:r>
          </a:p>
          <a:p>
            <a:r>
              <a:rPr lang="en-US" altLang="en-US" dirty="0" smtClean="0"/>
              <a:t>Full information</a:t>
            </a:r>
          </a:p>
          <a:p>
            <a:pPr lvl="1"/>
            <a:r>
              <a:rPr lang="en-US" altLang="en-US" dirty="0" smtClean="0"/>
              <a:t>Competitive equilibrium - full insurance for both types </a:t>
            </a:r>
          </a:p>
          <a:p>
            <a:pPr lvl="2"/>
            <a:r>
              <a:rPr lang="en-US" altLang="en-US" dirty="0" smtClean="0"/>
              <a:t>Fair premium of $5,000 for high-risk, red cars</a:t>
            </a:r>
          </a:p>
          <a:p>
            <a:pPr lvl="2"/>
            <a:r>
              <a:rPr lang="en-US" altLang="en-US" dirty="0" smtClean="0"/>
              <a:t>Fair premium of $3,000 for low-risk, gray cars</a:t>
            </a:r>
          </a:p>
          <a:p>
            <a:r>
              <a:rPr lang="en-US" altLang="en-US" dirty="0" smtClean="0"/>
              <a:t>If insurers cannot observe car colors</a:t>
            </a:r>
          </a:p>
          <a:p>
            <a:pPr lvl="1"/>
            <a:r>
              <a:rPr lang="en-US" altLang="en-US" dirty="0" smtClean="0"/>
              <a:t>Red cars – same as under full information</a:t>
            </a:r>
          </a:p>
          <a:p>
            <a:pPr lvl="1"/>
            <a:r>
              <a:rPr lang="en-US" altLang="en-US" dirty="0" smtClean="0"/>
              <a:t>Gray cars - involves a fair premium </a:t>
            </a:r>
            <a:r>
              <a:rPr lang="en-US" altLang="en-US" i="1" dirty="0" err="1" smtClean="0"/>
              <a:t>p</a:t>
            </a:r>
            <a:r>
              <a:rPr lang="en-US" altLang="en-US" i="1" baseline="-25000" dirty="0" err="1" smtClean="0"/>
              <a:t>L</a:t>
            </a:r>
            <a:r>
              <a:rPr lang="en-US" altLang="en-US" i="1" dirty="0" smtClean="0"/>
              <a:t> = 0.1</a:t>
            </a:r>
            <a:r>
              <a:rPr lang="en-US" altLang="en-US" dirty="0" smtClean="0"/>
              <a:t>5x</a:t>
            </a:r>
            <a:r>
              <a:rPr lang="en-US" altLang="en-US" baseline="-25000" dirty="0" smtClean="0"/>
              <a:t>L</a:t>
            </a:r>
          </a:p>
          <a:p>
            <a:pPr lvl="2"/>
            <a:r>
              <a:rPr lang="en-US" altLang="en-US" i="1" dirty="0" err="1" smtClean="0"/>
              <a:t>p</a:t>
            </a:r>
            <a:r>
              <a:rPr lang="en-US" altLang="en-US" i="1" baseline="-25000" dirty="0" err="1" smtClean="0"/>
              <a:t>L</a:t>
            </a:r>
            <a:r>
              <a:rPr lang="en-US" altLang="en-US" baseline="30000" dirty="0" err="1" smtClean="0"/>
              <a:t>C</a:t>
            </a:r>
            <a:r>
              <a:rPr lang="en-US" altLang="en-US" dirty="0" smtClean="0"/>
              <a:t> ≈ 453 and </a:t>
            </a:r>
            <a:r>
              <a:rPr lang="en-US" altLang="en-US" i="1" dirty="0" err="1" smtClean="0"/>
              <a:t>x</a:t>
            </a:r>
            <a:r>
              <a:rPr lang="en-US" altLang="en-US" i="1" baseline="-25000" dirty="0" err="1" smtClean="0"/>
              <a:t>L</a:t>
            </a:r>
            <a:r>
              <a:rPr lang="en-US" altLang="en-US" baseline="30000" dirty="0" err="1" smtClean="0"/>
              <a:t>C</a:t>
            </a:r>
            <a:r>
              <a:rPr lang="en-US" altLang="en-US" dirty="0" smtClean="0"/>
              <a:t>≈ 3,021</a:t>
            </a:r>
            <a:endParaRPr lang="en-US" altLang="en-US" baseline="-25000" dirty="0" smtClean="0"/>
          </a:p>
        </p:txBody>
      </p:sp>
    </p:spTree>
    <p:extLst>
      <p:ext uri="{BB962C8B-B14F-4D97-AF65-F5344CB8AC3E}">
        <p14:creationId xmlns:p14="http://schemas.microsoft.com/office/powerpoint/2010/main" val="176675551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en-US" smtClean="0"/>
              <a:t>Market Signaling</a:t>
            </a:r>
          </a:p>
        </p:txBody>
      </p:sp>
      <p:sp>
        <p:nvSpPr>
          <p:cNvPr id="81923" name="Rectangle 3"/>
          <p:cNvSpPr>
            <a:spLocks noGrp="1" noChangeArrowheads="1"/>
          </p:cNvSpPr>
          <p:nvPr>
            <p:ph idx="1"/>
          </p:nvPr>
        </p:nvSpPr>
        <p:spPr/>
        <p:txBody>
          <a:bodyPr/>
          <a:lstStyle/>
          <a:p>
            <a:r>
              <a:rPr lang="en-US" altLang="en-US" smtClean="0"/>
              <a:t>If the informed player moves first, he can “signal” his type to the other party</a:t>
            </a:r>
          </a:p>
          <a:p>
            <a:pPr lvl="1"/>
            <a:r>
              <a:rPr lang="en-US" altLang="en-US" smtClean="0"/>
              <a:t>The low-risk individual would benefit from providing his type to insurers</a:t>
            </a:r>
          </a:p>
          <a:p>
            <a:pPr lvl="2"/>
            <a:r>
              <a:rPr lang="en-US" altLang="en-US" smtClean="0"/>
              <a:t>He should be willing to pay the difference between his equilibrium and his first-best surplus to issue such a signal</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086E7C4-4D3D-476E-A4BE-FA781EB34D4E}" type="slidenum">
              <a:rPr lang="en-US" smtClean="0"/>
              <a:pPr>
                <a:defRPr/>
              </a:pPr>
              <a:t>77</a:t>
            </a:fld>
            <a:endParaRPr lang="en-US"/>
          </a:p>
        </p:txBody>
      </p:sp>
    </p:spTree>
    <p:extLst>
      <p:ext uri="{BB962C8B-B14F-4D97-AF65-F5344CB8AC3E}">
        <p14:creationId xmlns:p14="http://schemas.microsoft.com/office/powerpoint/2010/main" val="10162044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18.7 	Certifying Car Color</a:t>
            </a:r>
          </a:p>
        </p:txBody>
      </p:sp>
      <p:sp>
        <p:nvSpPr>
          <p:cNvPr id="8294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A099636-7049-403E-AD65-18D9D24AF335}" type="slidenum">
              <a:rPr lang="en-US" smtClean="0"/>
              <a:pPr>
                <a:defRPr/>
              </a:pPr>
              <a:t>78</a:t>
            </a:fld>
            <a:endParaRPr lang="en-US" dirty="0"/>
          </a:p>
        </p:txBody>
      </p:sp>
      <p:sp>
        <p:nvSpPr>
          <p:cNvPr id="82947" name="Content Placeholder 2"/>
          <p:cNvSpPr>
            <a:spLocks noGrp="1"/>
          </p:cNvSpPr>
          <p:nvPr>
            <p:ph type="body" sz="quarter" idx="12"/>
          </p:nvPr>
        </p:nvSpPr>
        <p:spPr>
          <a:prstGeom prst="rect">
            <a:avLst/>
          </a:prstGeom>
        </p:spPr>
        <p:txBody>
          <a:bodyPr/>
          <a:lstStyle/>
          <a:p>
            <a:r>
              <a:rPr lang="en-US" altLang="en-US" smtClean="0"/>
              <a:t>Competitive market for automobile insurance</a:t>
            </a:r>
          </a:p>
          <a:p>
            <a:pPr lvl="1"/>
            <a:r>
              <a:rPr lang="en-US" altLang="en-US" smtClean="0"/>
              <a:t>Owner of a gray car</a:t>
            </a:r>
          </a:p>
          <a:p>
            <a:pPr lvl="2"/>
            <a:r>
              <a:rPr lang="en-US" altLang="en-US" smtClean="0"/>
              <a:t>R – the most that he would be willing to pay to have his car color certified and reported to the market</a:t>
            </a:r>
          </a:p>
          <a:p>
            <a:pPr lvl="3"/>
            <a:r>
              <a:rPr lang="en-US" altLang="en-US" sz="2700" smtClean="0"/>
              <a:t>Fully insured at a fair premium of $3,000</a:t>
            </a:r>
          </a:p>
          <a:p>
            <a:pPr lvl="3"/>
            <a:r>
              <a:rPr lang="en-US" altLang="en-US" sz="2700" smtClean="0"/>
              <a:t>Earns surplus: ln(100,000 - 3,000 - R)</a:t>
            </a:r>
          </a:p>
          <a:p>
            <a:pPr lvl="2"/>
            <a:r>
              <a:rPr lang="en-US" altLang="en-US" smtClean="0"/>
              <a:t>Without the certified report</a:t>
            </a:r>
          </a:p>
          <a:p>
            <a:pPr lvl="3"/>
            <a:r>
              <a:rPr lang="en-US" altLang="en-US" sz="2700" smtClean="0"/>
              <a:t>Expected surplus: 0.85 ln(100,000 – 453) + 0.15 ln(100,000 - 453 - 20,000 + 3,020) = 11.4803 </a:t>
            </a:r>
          </a:p>
          <a:p>
            <a:pPr lvl="2"/>
            <a:r>
              <a:rPr lang="en-US" altLang="en-US" smtClean="0"/>
              <a:t>R = 207</a:t>
            </a:r>
          </a:p>
        </p:txBody>
      </p:sp>
    </p:spTree>
    <p:extLst>
      <p:ext uri="{BB962C8B-B14F-4D97-AF65-F5344CB8AC3E}">
        <p14:creationId xmlns:p14="http://schemas.microsoft.com/office/powerpoint/2010/main" val="213552606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18.7 	Certifying Car Color</a:t>
            </a:r>
          </a:p>
        </p:txBody>
      </p:sp>
      <p:sp>
        <p:nvSpPr>
          <p:cNvPr id="8397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F2C397AE-231F-43A1-95D4-BE57751CABE7}" type="slidenum">
              <a:rPr lang="en-US" smtClean="0"/>
              <a:pPr>
                <a:defRPr/>
              </a:pPr>
              <a:t>79</a:t>
            </a:fld>
            <a:endParaRPr lang="en-US" dirty="0"/>
          </a:p>
        </p:txBody>
      </p:sp>
      <p:sp>
        <p:nvSpPr>
          <p:cNvPr id="83971" name="Content Placeholder 2"/>
          <p:cNvSpPr>
            <a:spLocks noGrp="1"/>
          </p:cNvSpPr>
          <p:nvPr>
            <p:ph type="body" sz="quarter" idx="12"/>
          </p:nvPr>
        </p:nvSpPr>
        <p:spPr>
          <a:prstGeom prst="rect">
            <a:avLst/>
          </a:prstGeom>
        </p:spPr>
        <p:txBody>
          <a:bodyPr/>
          <a:lstStyle/>
          <a:p>
            <a:r>
              <a:rPr lang="en-US" altLang="en-US" dirty="0" smtClean="0"/>
              <a:t>Competitive market for automobile insurance</a:t>
            </a:r>
          </a:p>
          <a:p>
            <a:pPr lvl="1"/>
            <a:r>
              <a:rPr lang="en-US" altLang="en-US" dirty="0" smtClean="0"/>
              <a:t>Owner of a red car</a:t>
            </a:r>
          </a:p>
          <a:p>
            <a:pPr lvl="2"/>
            <a:r>
              <a:rPr lang="en-US" altLang="en-US" dirty="0" smtClean="0"/>
              <a:t>Would pay a bribe as high as $2,000</a:t>
            </a:r>
          </a:p>
          <a:p>
            <a:pPr lvl="3"/>
            <a:r>
              <a:rPr lang="en-US" altLang="en-US" dirty="0" smtClean="0"/>
              <a:t>The difference between his fair premium with full information ($5,000) </a:t>
            </a:r>
          </a:p>
          <a:p>
            <a:pPr lvl="3"/>
            <a:r>
              <a:rPr lang="en-US" altLang="en-US" dirty="0" smtClean="0"/>
              <a:t>And the fair premium charged to an individual known to be of low risk ($3,000)</a:t>
            </a:r>
          </a:p>
        </p:txBody>
      </p:sp>
    </p:spTree>
    <p:extLst>
      <p:ext uri="{BB962C8B-B14F-4D97-AF65-F5344CB8AC3E}">
        <p14:creationId xmlns:p14="http://schemas.microsoft.com/office/powerpoint/2010/main" val="102722894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en-US" smtClean="0"/>
              <a:t>Market for Lemons</a:t>
            </a:r>
          </a:p>
        </p:txBody>
      </p:sp>
      <p:sp>
        <p:nvSpPr>
          <p:cNvPr id="84995" name="Rectangle 3"/>
          <p:cNvSpPr>
            <a:spLocks noGrp="1" noChangeArrowheads="1"/>
          </p:cNvSpPr>
          <p:nvPr>
            <p:ph idx="1"/>
          </p:nvPr>
        </p:nvSpPr>
        <p:spPr/>
        <p:txBody>
          <a:bodyPr/>
          <a:lstStyle/>
          <a:p>
            <a:r>
              <a:rPr lang="en-US" altLang="en-US" smtClean="0"/>
              <a:t>Sellers of used cars </a:t>
            </a:r>
          </a:p>
          <a:p>
            <a:pPr lvl="1"/>
            <a:r>
              <a:rPr lang="en-US" altLang="en-US" smtClean="0"/>
              <a:t>Have more information on the condition of the car</a:t>
            </a:r>
          </a:p>
          <a:p>
            <a:pPr lvl="1"/>
            <a:r>
              <a:rPr lang="en-US" altLang="en-US" smtClean="0"/>
              <a:t>But the act of offering the car for sale can serve as a signal of car quality</a:t>
            </a:r>
          </a:p>
          <a:p>
            <a:pPr lvl="2"/>
            <a:r>
              <a:rPr lang="en-US" altLang="en-US" smtClean="0"/>
              <a:t>It must be below some threshold that would have induced the owner to keep it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FB2892A0-EC5A-402D-B455-2C47D310B954}" type="slidenum">
              <a:rPr lang="en-US" smtClean="0"/>
              <a:pPr>
                <a:defRPr/>
              </a:pPr>
              <a:t>80</a:t>
            </a:fld>
            <a:endParaRPr lang="en-US"/>
          </a:p>
        </p:txBody>
      </p:sp>
    </p:spTree>
    <p:extLst>
      <p:ext uri="{BB962C8B-B14F-4D97-AF65-F5344CB8AC3E}">
        <p14:creationId xmlns:p14="http://schemas.microsoft.com/office/powerpoint/2010/main" val="152636959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en-US" smtClean="0"/>
              <a:t>Market for Lemons</a:t>
            </a:r>
          </a:p>
        </p:txBody>
      </p:sp>
      <p:sp>
        <p:nvSpPr>
          <p:cNvPr id="86019" name="Rectangle 3"/>
          <p:cNvSpPr>
            <a:spLocks noGrp="1" noChangeArrowheads="1"/>
          </p:cNvSpPr>
          <p:nvPr>
            <p:ph idx="1"/>
          </p:nvPr>
        </p:nvSpPr>
        <p:spPr/>
        <p:txBody>
          <a:bodyPr/>
          <a:lstStyle/>
          <a:p>
            <a:r>
              <a:rPr lang="en-US" altLang="en-US" smtClean="0"/>
              <a:t>Suppose there is a continuum of qualities </a:t>
            </a:r>
          </a:p>
          <a:p>
            <a:pPr lvl="1"/>
            <a:r>
              <a:rPr lang="en-US" altLang="en-US" smtClean="0"/>
              <a:t>From low-quality lemons to high-quality gems</a:t>
            </a:r>
          </a:p>
          <a:p>
            <a:pPr lvl="1"/>
            <a:r>
              <a:rPr lang="en-US" altLang="en-US" smtClean="0"/>
              <a:t>Only the owner knows a car’s type</a:t>
            </a:r>
          </a:p>
          <a:p>
            <a:r>
              <a:rPr lang="en-US" altLang="en-US" smtClean="0"/>
              <a:t>Buyers cannot determine the quality</a:t>
            </a:r>
          </a:p>
          <a:p>
            <a:pPr lvl="1"/>
            <a:r>
              <a:rPr lang="en-US" altLang="en-US" smtClean="0"/>
              <a:t>All used cars sell for the same price</a:t>
            </a:r>
          </a:p>
          <a:p>
            <a:pPr lvl="1"/>
            <a:r>
              <a:rPr lang="en-US" altLang="en-US" smtClean="0"/>
              <a:t>Function of average car quality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235B7E8-0719-419C-973A-E0200C8CE94C}" type="slidenum">
              <a:rPr lang="en-US" smtClean="0"/>
              <a:pPr>
                <a:defRPr/>
              </a:pPr>
              <a:t>81</a:t>
            </a:fld>
            <a:endParaRPr lang="en-US"/>
          </a:p>
        </p:txBody>
      </p:sp>
    </p:spTree>
    <p:extLst>
      <p:ext uri="{BB962C8B-B14F-4D97-AF65-F5344CB8AC3E}">
        <p14:creationId xmlns:p14="http://schemas.microsoft.com/office/powerpoint/2010/main" val="23950266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ltLang="en-US" smtClean="0"/>
              <a:t>Market for Lemons</a:t>
            </a:r>
          </a:p>
        </p:txBody>
      </p:sp>
      <p:sp>
        <p:nvSpPr>
          <p:cNvPr id="87043" name="Rectangle 3"/>
          <p:cNvSpPr>
            <a:spLocks noGrp="1" noChangeArrowheads="1"/>
          </p:cNvSpPr>
          <p:nvPr>
            <p:ph idx="1"/>
          </p:nvPr>
        </p:nvSpPr>
        <p:spPr/>
        <p:txBody>
          <a:bodyPr/>
          <a:lstStyle/>
          <a:p>
            <a:r>
              <a:rPr lang="en-US" altLang="en-US" smtClean="0"/>
              <a:t>A car’s owner - keep a car that is in the upper end of the spectrum</a:t>
            </a:r>
          </a:p>
          <a:p>
            <a:pPr lvl="1"/>
            <a:r>
              <a:rPr lang="en-US" altLang="en-US" smtClean="0"/>
              <a:t>Sell a car that is in the lower end of the spectrum</a:t>
            </a:r>
          </a:p>
          <a:p>
            <a:pPr lvl="1"/>
            <a:r>
              <a:rPr lang="en-US" altLang="en-US" smtClean="0"/>
              <a:t>Reduces the average quality</a:t>
            </a:r>
          </a:p>
          <a:p>
            <a:pPr lvl="1"/>
            <a:r>
              <a:rPr lang="en-US" altLang="en-US" smtClean="0"/>
              <a:t>Reduces the market price</a:t>
            </a:r>
          </a:p>
          <a:p>
            <a:pPr lvl="1"/>
            <a:r>
              <a:rPr lang="en-US" altLang="en-US" smtClean="0"/>
              <a:t>Leads sellers of the high end of the remaining cars to keep their cars</a:t>
            </a:r>
          </a:p>
          <a:p>
            <a:pPr lvl="2"/>
            <a:r>
              <a:rPr lang="en-US" altLang="en-US" smtClean="0"/>
              <a:t>Reduces average quality and market price</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7E27FA4D-8FB6-4673-8FDD-3F27FF23ADFE}" type="slidenum">
              <a:rPr lang="en-US" smtClean="0"/>
              <a:pPr>
                <a:defRPr/>
              </a:pPr>
              <a:t>82</a:t>
            </a:fld>
            <a:endParaRPr lang="en-US"/>
          </a:p>
        </p:txBody>
      </p:sp>
    </p:spTree>
    <p:extLst>
      <p:ext uri="{BB962C8B-B14F-4D97-AF65-F5344CB8AC3E}">
        <p14:creationId xmlns:p14="http://schemas.microsoft.com/office/powerpoint/2010/main" val="73652889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18.8	 Used-Car Market</a:t>
            </a:r>
          </a:p>
        </p:txBody>
      </p:sp>
      <p:sp>
        <p:nvSpPr>
          <p:cNvPr id="8806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13175407-0C47-40A4-AB65-A608C684DEA1}" type="slidenum">
              <a:rPr lang="en-US" smtClean="0"/>
              <a:pPr>
                <a:defRPr/>
              </a:pPr>
              <a:t>83</a:t>
            </a:fld>
            <a:endParaRPr lang="en-US" dirty="0"/>
          </a:p>
        </p:txBody>
      </p:sp>
      <p:sp>
        <p:nvSpPr>
          <p:cNvPr id="88067" name="Content Placeholder 2"/>
          <p:cNvSpPr>
            <a:spLocks noGrp="1"/>
          </p:cNvSpPr>
          <p:nvPr>
            <p:ph type="body" sz="quarter" idx="12"/>
          </p:nvPr>
        </p:nvSpPr>
        <p:spPr>
          <a:prstGeom prst="rect">
            <a:avLst/>
          </a:prstGeom>
        </p:spPr>
        <p:txBody>
          <a:bodyPr/>
          <a:lstStyle/>
          <a:p>
            <a:r>
              <a:rPr lang="en-US" altLang="en-US" smtClean="0"/>
              <a:t>Quality, </a:t>
            </a:r>
            <a:r>
              <a:rPr lang="en-US" altLang="en-US" i="1" smtClean="0"/>
              <a:t>q</a:t>
            </a:r>
            <a:r>
              <a:rPr lang="en-US" altLang="en-US" smtClean="0"/>
              <a:t>, of used cars </a:t>
            </a:r>
          </a:p>
          <a:p>
            <a:pPr lvl="1"/>
            <a:r>
              <a:rPr lang="en-US" altLang="en-US" smtClean="0"/>
              <a:t>Is uniformly distributed between 0 and 20,000</a:t>
            </a:r>
          </a:p>
          <a:p>
            <a:r>
              <a:rPr lang="en-US" altLang="en-US" smtClean="0"/>
              <a:t>Sellers </a:t>
            </a:r>
          </a:p>
          <a:p>
            <a:pPr lvl="1"/>
            <a:r>
              <a:rPr lang="en-US" altLang="en-US" smtClean="0"/>
              <a:t>Value their cars at </a:t>
            </a:r>
            <a:r>
              <a:rPr lang="en-US" altLang="en-US" i="1" smtClean="0"/>
              <a:t>q</a:t>
            </a:r>
          </a:p>
          <a:p>
            <a:r>
              <a:rPr lang="en-US" altLang="en-US" smtClean="0"/>
              <a:t>Buyers </a:t>
            </a:r>
          </a:p>
          <a:p>
            <a:pPr lvl="1"/>
            <a:r>
              <a:rPr lang="en-US" altLang="en-US" smtClean="0"/>
              <a:t>Place a higher value on cars, </a:t>
            </a:r>
            <a:r>
              <a:rPr lang="en-US" altLang="en-US" i="1" smtClean="0"/>
              <a:t>q + b</a:t>
            </a:r>
          </a:p>
          <a:p>
            <a:r>
              <a:rPr lang="en-US" altLang="en-US" smtClean="0"/>
              <a:t>Full information about quality</a:t>
            </a:r>
          </a:p>
          <a:p>
            <a:pPr lvl="1"/>
            <a:r>
              <a:rPr lang="en-US" altLang="en-US" smtClean="0"/>
              <a:t>All used cars would be sold</a:t>
            </a:r>
          </a:p>
        </p:txBody>
      </p:sp>
    </p:spTree>
    <p:extLst>
      <p:ext uri="{BB962C8B-B14F-4D97-AF65-F5344CB8AC3E}">
        <p14:creationId xmlns:p14="http://schemas.microsoft.com/office/powerpoint/2010/main" val="244977599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18.8	 Used-Car Market</a:t>
            </a:r>
          </a:p>
        </p:txBody>
      </p:sp>
      <p:sp>
        <p:nvSpPr>
          <p:cNvPr id="307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83F8DA1-698A-4097-8331-AE257E5E00EE}" type="slidenum">
              <a:rPr lang="en-US" smtClean="0"/>
              <a:pPr>
                <a:defRPr/>
              </a:pPr>
              <a:t>84</a:t>
            </a:fld>
            <a:endParaRPr lang="en-US" dirty="0"/>
          </a:p>
        </p:txBody>
      </p:sp>
      <p:sp>
        <p:nvSpPr>
          <p:cNvPr id="3076" name="Content Placeholder 2"/>
          <p:cNvSpPr>
            <a:spLocks noGrp="1"/>
          </p:cNvSpPr>
          <p:nvPr>
            <p:ph type="body" sz="quarter" idx="12"/>
          </p:nvPr>
        </p:nvSpPr>
        <p:spPr>
          <a:xfrm>
            <a:off x="381000" y="533400"/>
            <a:ext cx="8382000" cy="3962400"/>
          </a:xfrm>
          <a:prstGeom prst="rect">
            <a:avLst/>
          </a:prstGeom>
        </p:spPr>
        <p:txBody>
          <a:bodyPr>
            <a:normAutofit/>
          </a:bodyPr>
          <a:lstStyle/>
          <a:p>
            <a:r>
              <a:rPr lang="en-US" altLang="en-US" dirty="0" smtClean="0"/>
              <a:t>Sellers have private information about quality</a:t>
            </a:r>
          </a:p>
          <a:p>
            <a:pPr lvl="1"/>
            <a:r>
              <a:rPr lang="en-US" altLang="en-US" dirty="0" smtClean="0"/>
              <a:t>And buyers know only the distribution</a:t>
            </a:r>
          </a:p>
          <a:p>
            <a:pPr lvl="1"/>
            <a:r>
              <a:rPr lang="en-US" altLang="en-US" dirty="0" smtClean="0"/>
              <a:t>Market price, </a:t>
            </a:r>
            <a:r>
              <a:rPr lang="en-US" altLang="en-US" i="1" dirty="0" smtClean="0"/>
              <a:t>p</a:t>
            </a:r>
          </a:p>
          <a:p>
            <a:pPr lvl="1"/>
            <a:r>
              <a:rPr lang="en-US" altLang="en-US" dirty="0" smtClean="0"/>
              <a:t>Sellers offer their cars for sale if and only if </a:t>
            </a:r>
            <a:r>
              <a:rPr lang="en-US" altLang="en-US" i="1" dirty="0" smtClean="0"/>
              <a:t>q ≤ p</a:t>
            </a:r>
          </a:p>
          <a:p>
            <a:pPr lvl="1"/>
            <a:r>
              <a:rPr lang="en-US" altLang="en-US" dirty="0" smtClean="0"/>
              <a:t>Quality of a car offered for sale</a:t>
            </a:r>
          </a:p>
          <a:p>
            <a:pPr lvl="2"/>
            <a:r>
              <a:rPr lang="en-US" altLang="en-US" dirty="0" smtClean="0"/>
              <a:t>Uniformly distributed between 0 and </a:t>
            </a:r>
            <a:r>
              <a:rPr lang="en-US" altLang="en-US" i="1" dirty="0" smtClean="0"/>
              <a:t>p</a:t>
            </a:r>
          </a:p>
          <a:p>
            <a:pPr lvl="1"/>
            <a:r>
              <a:rPr lang="en-US" altLang="en-US" dirty="0" smtClean="0"/>
              <a:t>Expected quality:</a:t>
            </a:r>
            <a:endParaRPr lang="en-US" altLang="en-US" i="1" dirty="0" smtClean="0"/>
          </a:p>
        </p:txBody>
      </p:sp>
      <p:sp>
        <p:nvSpPr>
          <p:cNvPr id="2" name="Text Placeholder 1"/>
          <p:cNvSpPr>
            <a:spLocks noGrp="1"/>
          </p:cNvSpPr>
          <p:nvPr>
            <p:ph type="body" sz="quarter" idx="13"/>
          </p:nvPr>
        </p:nvSpPr>
        <p:spPr>
          <a:xfrm>
            <a:off x="381000" y="5181600"/>
            <a:ext cx="8382000" cy="1219200"/>
          </a:xfrm>
        </p:spPr>
        <p:txBody>
          <a:bodyPr>
            <a:normAutofit/>
          </a:bodyPr>
          <a:lstStyle/>
          <a:p>
            <a:pPr lvl="1" eaLnBrk="0" hangingPunct="0">
              <a:defRPr/>
            </a:pPr>
            <a:r>
              <a:rPr lang="en-US" kern="0" dirty="0"/>
              <a:t>Buyer’s expected net surplus = </a:t>
            </a:r>
            <a:r>
              <a:rPr lang="en-US" i="1" kern="0" dirty="0"/>
              <a:t>b – p/2 </a:t>
            </a:r>
          </a:p>
          <a:p>
            <a:pPr lvl="1" eaLnBrk="0" hangingPunct="0">
              <a:defRPr/>
            </a:pPr>
            <a:r>
              <a:rPr lang="en-US" kern="0" dirty="0"/>
              <a:t>One equilibrium: </a:t>
            </a:r>
            <a:r>
              <a:rPr lang="en-US" i="1" kern="0" dirty="0"/>
              <a:t>p*=</a:t>
            </a:r>
            <a:r>
              <a:rPr lang="en-US" i="1" kern="0" dirty="0" smtClean="0"/>
              <a:t>2b</a:t>
            </a:r>
            <a:endParaRPr lang="en-US" i="1" kern="0" dirty="0"/>
          </a:p>
        </p:txBody>
      </p:sp>
      <p:graphicFrame>
        <p:nvGraphicFramePr>
          <p:cNvPr id="6" name="Object 2"/>
          <p:cNvGraphicFramePr>
            <a:graphicFrameLocks noChangeAspect="1"/>
          </p:cNvGraphicFramePr>
          <p:nvPr/>
        </p:nvGraphicFramePr>
        <p:xfrm>
          <a:off x="1422400" y="4202113"/>
          <a:ext cx="2262188" cy="1130300"/>
        </p:xfrm>
        <a:graphic>
          <a:graphicData uri="http://schemas.openxmlformats.org/presentationml/2006/ole">
            <mc:AlternateContent xmlns:mc="http://schemas.openxmlformats.org/markup-compatibility/2006">
              <mc:Choice xmlns:v="urn:schemas-microsoft-com:vml" Requires="v">
                <p:oleObj spid="_x0000_s391192" name="Equation" r:id="rId3" imgW="965160" imgH="482400" progId="Equation.DSMT4">
                  <p:embed/>
                </p:oleObj>
              </mc:Choice>
              <mc:Fallback>
                <p:oleObj name="Equation" r:id="rId3" imgW="965160" imgH="4824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2400" y="4202113"/>
                        <a:ext cx="2262188"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134028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altLang="en-US" smtClean="0"/>
              <a:t>Auctions</a:t>
            </a:r>
          </a:p>
        </p:txBody>
      </p:sp>
      <p:sp>
        <p:nvSpPr>
          <p:cNvPr id="89091" name="Rectangle 3"/>
          <p:cNvSpPr>
            <a:spLocks noGrp="1" noChangeArrowheads="1"/>
          </p:cNvSpPr>
          <p:nvPr>
            <p:ph idx="1"/>
          </p:nvPr>
        </p:nvSpPr>
        <p:spPr/>
        <p:txBody>
          <a:bodyPr/>
          <a:lstStyle/>
          <a:p>
            <a:r>
              <a:rPr lang="en-US" altLang="en-US" dirty="0" smtClean="0"/>
              <a:t>A seller </a:t>
            </a:r>
          </a:p>
          <a:p>
            <a:pPr lvl="1"/>
            <a:r>
              <a:rPr lang="en-US" altLang="en-US" dirty="0" smtClean="0"/>
              <a:t>Can often do better if several buyers compete against each other</a:t>
            </a:r>
          </a:p>
          <a:p>
            <a:pPr lvl="1"/>
            <a:r>
              <a:rPr lang="en-US" altLang="en-US" dirty="0" smtClean="0"/>
              <a:t>High-value consumers are pushed to bid high</a:t>
            </a:r>
          </a:p>
          <a:p>
            <a:endParaRPr lang="en-US" altLang="en-US" sz="1600" dirty="0" smtClean="0"/>
          </a:p>
          <a:p>
            <a:r>
              <a:rPr lang="en-US" altLang="en-US" dirty="0" smtClean="0"/>
              <a:t>Different formats may lead to different outcomes</a:t>
            </a:r>
          </a:p>
          <a:p>
            <a:pPr lvl="1"/>
            <a:r>
              <a:rPr lang="en-US" altLang="en-US" dirty="0" smtClean="0"/>
              <a:t>Sellers should think carefully about how to design the auction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7970BFE-4D7F-4D8B-9BE0-F931B3CA5B4A}" type="slidenum">
              <a:rPr lang="en-US" smtClean="0"/>
              <a:pPr>
                <a:defRPr/>
              </a:pPr>
              <a:t>85</a:t>
            </a:fld>
            <a:endParaRPr lang="en-US"/>
          </a:p>
        </p:txBody>
      </p:sp>
    </p:spTree>
    <p:extLst>
      <p:ext uri="{BB962C8B-B14F-4D97-AF65-F5344CB8AC3E}">
        <p14:creationId xmlns:p14="http://schemas.microsoft.com/office/powerpoint/2010/main" val="395040956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en-US" smtClean="0"/>
              <a:t>Auctions</a:t>
            </a:r>
          </a:p>
        </p:txBody>
      </p:sp>
      <p:sp>
        <p:nvSpPr>
          <p:cNvPr id="90115" name="Rectangle 3"/>
          <p:cNvSpPr>
            <a:spLocks noGrp="1" noChangeArrowheads="1"/>
          </p:cNvSpPr>
          <p:nvPr>
            <p:ph idx="1"/>
          </p:nvPr>
        </p:nvSpPr>
        <p:spPr/>
        <p:txBody>
          <a:bodyPr/>
          <a:lstStyle/>
          <a:p>
            <a:r>
              <a:rPr lang="en-US" altLang="en-US" smtClean="0"/>
              <a:t>First-price sealed auction bid</a:t>
            </a:r>
          </a:p>
          <a:p>
            <a:pPr lvl="1"/>
            <a:r>
              <a:rPr lang="en-US" altLang="en-US" smtClean="0"/>
              <a:t>All bidders simultaneously submit secret bids</a:t>
            </a:r>
          </a:p>
          <a:p>
            <a:pPr lvl="1"/>
            <a:r>
              <a:rPr lang="en-US" altLang="en-US" smtClean="0"/>
              <a:t>The auctioneer unseals the bids and awards the object to the highest bidder</a:t>
            </a:r>
          </a:p>
          <a:p>
            <a:pPr lvl="1"/>
            <a:r>
              <a:rPr lang="en-US" altLang="en-US" smtClean="0"/>
              <a:t>The highest bidder pays his own bid</a:t>
            </a:r>
          </a:p>
          <a:p>
            <a:pPr lvl="1"/>
            <a:r>
              <a:rPr lang="en-US" altLang="en-US" smtClean="0"/>
              <a:t>Weakly dominated strategy to submit a bid </a:t>
            </a:r>
            <a:r>
              <a:rPr lang="en-US" altLang="en-US" i="1" smtClean="0"/>
              <a:t>b</a:t>
            </a:r>
            <a:r>
              <a:rPr lang="en-US" altLang="en-US" smtClean="0"/>
              <a:t> greater than or equal to the buyer’s valuation </a:t>
            </a:r>
            <a:r>
              <a:rPr lang="en-US" altLang="en-US" i="1" smtClean="0"/>
              <a:t>v</a:t>
            </a:r>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A1A17A3-ADE4-4228-B791-6EAC7166C85B}" type="slidenum">
              <a:rPr lang="en-US" smtClean="0"/>
              <a:pPr>
                <a:defRPr/>
              </a:pPr>
              <a:t>86</a:t>
            </a:fld>
            <a:endParaRPr lang="en-US"/>
          </a:p>
        </p:txBody>
      </p:sp>
    </p:spTree>
    <p:extLst>
      <p:ext uri="{BB962C8B-B14F-4D97-AF65-F5344CB8AC3E}">
        <p14:creationId xmlns:p14="http://schemas.microsoft.com/office/powerpoint/2010/main" val="276705531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altLang="en-US" smtClean="0"/>
              <a:t>Auction</a:t>
            </a:r>
          </a:p>
        </p:txBody>
      </p:sp>
      <p:sp>
        <p:nvSpPr>
          <p:cNvPr id="91139" name="Rectangle 3"/>
          <p:cNvSpPr>
            <a:spLocks noGrp="1" noChangeArrowheads="1"/>
          </p:cNvSpPr>
          <p:nvPr>
            <p:ph idx="1"/>
          </p:nvPr>
        </p:nvSpPr>
        <p:spPr/>
        <p:txBody>
          <a:bodyPr/>
          <a:lstStyle/>
          <a:p>
            <a:r>
              <a:rPr lang="en-US" altLang="en-US" smtClean="0"/>
              <a:t>Weakly dominated strategy</a:t>
            </a:r>
          </a:p>
          <a:p>
            <a:pPr lvl="1"/>
            <a:r>
              <a:rPr lang="en-US" altLang="en-US" smtClean="0"/>
              <a:t>If there is another strategy that does at least as well against all rivals’ strategies and strictly better against at least one</a:t>
            </a:r>
          </a:p>
          <a:p>
            <a:r>
              <a:rPr lang="en-US" altLang="en-US" smtClean="0"/>
              <a:t>First-price sealed auction bid</a:t>
            </a:r>
          </a:p>
          <a:p>
            <a:pPr lvl="1"/>
            <a:r>
              <a:rPr lang="en-US" altLang="en-US" smtClean="0"/>
              <a:t>A buyer receives no surplus if he bids </a:t>
            </a:r>
            <a:r>
              <a:rPr lang="en-US" altLang="en-US" i="1" smtClean="0"/>
              <a:t>b=v</a:t>
            </a:r>
          </a:p>
          <a:p>
            <a:pPr lvl="2"/>
            <a:r>
              <a:rPr lang="en-US" altLang="en-US" smtClean="0"/>
              <a:t>No matter what his rivals bid</a:t>
            </a:r>
          </a:p>
          <a:p>
            <a:pPr lvl="1"/>
            <a:r>
              <a:rPr lang="en-US" altLang="en-US" smtClean="0"/>
              <a:t>By bidding </a:t>
            </a:r>
            <a:r>
              <a:rPr lang="en-US" altLang="en-US" i="1" smtClean="0"/>
              <a:t>b </a:t>
            </a:r>
            <a:r>
              <a:rPr lang="en-US" altLang="en-US" smtClean="0"/>
              <a:t>&lt; </a:t>
            </a:r>
            <a:r>
              <a:rPr lang="en-US" altLang="en-US" i="1" smtClean="0"/>
              <a:t>v</a:t>
            </a:r>
            <a:r>
              <a:rPr lang="en-US" altLang="en-US" smtClean="0"/>
              <a:t>, there is a chance for some positive surplus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C896DB3-7E4B-4EC3-8BE4-182218785C4B}" type="slidenum">
              <a:rPr lang="en-US" smtClean="0"/>
              <a:pPr>
                <a:defRPr/>
              </a:pPr>
              <a:t>87</a:t>
            </a:fld>
            <a:endParaRPr lang="en-US"/>
          </a:p>
        </p:txBody>
      </p:sp>
    </p:spTree>
    <p:extLst>
      <p:ext uri="{BB962C8B-B14F-4D97-AF65-F5344CB8AC3E}">
        <p14:creationId xmlns:p14="http://schemas.microsoft.com/office/powerpoint/2010/main" val="382616016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altLang="en-US" smtClean="0"/>
              <a:t>Auction </a:t>
            </a:r>
          </a:p>
        </p:txBody>
      </p:sp>
      <p:sp>
        <p:nvSpPr>
          <p:cNvPr id="92163" name="Rectangle 3"/>
          <p:cNvSpPr>
            <a:spLocks noGrp="1" noChangeArrowheads="1"/>
          </p:cNvSpPr>
          <p:nvPr>
            <p:ph idx="1"/>
          </p:nvPr>
        </p:nvSpPr>
        <p:spPr/>
        <p:txBody>
          <a:bodyPr/>
          <a:lstStyle/>
          <a:p>
            <a:r>
              <a:rPr lang="en-US" altLang="en-US" dirty="0" smtClean="0"/>
              <a:t>Second-price sealed auction bid</a:t>
            </a:r>
          </a:p>
          <a:p>
            <a:pPr lvl="1"/>
            <a:r>
              <a:rPr lang="en-US" altLang="en-US" dirty="0" smtClean="0"/>
              <a:t>The highest bidder pays the next highest bid rather than his own</a:t>
            </a:r>
          </a:p>
          <a:p>
            <a:pPr lvl="1"/>
            <a:r>
              <a:rPr lang="en-US" altLang="en-US" dirty="0" smtClean="0"/>
              <a:t>Induce bidders to reveal their valuations</a:t>
            </a:r>
          </a:p>
          <a:p>
            <a:r>
              <a:rPr lang="en-US" altLang="en-US" dirty="0" smtClean="0"/>
              <a:t>All bidding strategies </a:t>
            </a:r>
          </a:p>
          <a:p>
            <a:pPr lvl="1"/>
            <a:r>
              <a:rPr lang="en-US" altLang="en-US" dirty="0" smtClean="0"/>
              <a:t>Are weakly dominated by the strategy of bidding exactly one’s valuation</a:t>
            </a:r>
          </a:p>
          <a:p>
            <a:pPr lvl="2"/>
            <a:r>
              <a:rPr lang="en-US" altLang="en-US" dirty="0" smtClean="0"/>
              <a:t>The winner’s bid does not affect the amount he has to pay; that depends on someone else’s bid</a:t>
            </a: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C02A61F-FCD5-49E1-A89F-E4F991C03D1B}" type="slidenum">
              <a:rPr lang="en-US" smtClean="0"/>
              <a:pPr>
                <a:defRPr/>
              </a:pPr>
              <a:t>88</a:t>
            </a:fld>
            <a:endParaRPr lang="en-US"/>
          </a:p>
        </p:txBody>
      </p:sp>
    </p:spTree>
    <p:extLst>
      <p:ext uri="{BB962C8B-B14F-4D97-AF65-F5344CB8AC3E}">
        <p14:creationId xmlns:p14="http://schemas.microsoft.com/office/powerpoint/2010/main" val="419311239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18.9 	Art Auction</a:t>
            </a:r>
          </a:p>
        </p:txBody>
      </p:sp>
      <p:sp>
        <p:nvSpPr>
          <p:cNvPr id="9318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FDC452E-72A6-4392-9D64-36234D295038}" type="slidenum">
              <a:rPr lang="en-US" smtClean="0"/>
              <a:pPr>
                <a:defRPr/>
              </a:pPr>
              <a:t>89</a:t>
            </a:fld>
            <a:endParaRPr lang="en-US" dirty="0"/>
          </a:p>
        </p:txBody>
      </p:sp>
      <p:sp>
        <p:nvSpPr>
          <p:cNvPr id="93187" name="Content Placeholder 2"/>
          <p:cNvSpPr>
            <a:spLocks noGrp="1"/>
          </p:cNvSpPr>
          <p:nvPr>
            <p:ph type="body" sz="quarter" idx="12"/>
          </p:nvPr>
        </p:nvSpPr>
        <p:spPr>
          <a:prstGeom prst="rect">
            <a:avLst/>
          </a:prstGeom>
        </p:spPr>
        <p:txBody>
          <a:bodyPr/>
          <a:lstStyle/>
          <a:p>
            <a:r>
              <a:rPr lang="en-US" altLang="en-US" dirty="0" smtClean="0"/>
              <a:t>Two buyers - bid for a painting in a first-price sealed-bid auction</a:t>
            </a:r>
          </a:p>
          <a:p>
            <a:pPr lvl="1"/>
            <a:r>
              <a:rPr lang="en-US" altLang="en-US" dirty="0" smtClean="0"/>
              <a:t>Buyer </a:t>
            </a:r>
            <a:r>
              <a:rPr lang="en-US" altLang="en-US" i="1" dirty="0" smtClean="0"/>
              <a:t>i</a:t>
            </a:r>
            <a:r>
              <a:rPr lang="en-US" altLang="en-US" dirty="0" smtClean="0"/>
              <a:t>’s valuation, </a:t>
            </a:r>
            <a:r>
              <a:rPr lang="en-US" altLang="en-US" i="1" dirty="0" smtClean="0"/>
              <a:t>v</a:t>
            </a:r>
            <a:r>
              <a:rPr lang="en-US" altLang="en-US" i="1" baseline="-25000" dirty="0" smtClean="0"/>
              <a:t>i</a:t>
            </a:r>
          </a:p>
          <a:p>
            <a:pPr lvl="2"/>
            <a:r>
              <a:rPr lang="en-US" altLang="en-US" dirty="0" smtClean="0"/>
              <a:t>Random variable, uniformly distributed between 0 and 1 </a:t>
            </a:r>
          </a:p>
          <a:p>
            <a:pPr lvl="2"/>
            <a:r>
              <a:rPr lang="en-US" altLang="en-US" dirty="0" smtClean="0"/>
              <a:t>Independent of the other buyer’s valuation</a:t>
            </a:r>
          </a:p>
          <a:p>
            <a:pPr lvl="1"/>
            <a:r>
              <a:rPr lang="en-US" altLang="en-US" dirty="0" smtClean="0"/>
              <a:t>Buyers’ valuations are private information</a:t>
            </a:r>
          </a:p>
          <a:p>
            <a:pPr lvl="1"/>
            <a:r>
              <a:rPr lang="en-US" altLang="en-US" dirty="0" smtClean="0"/>
              <a:t>Symmetric equilibrium </a:t>
            </a:r>
          </a:p>
          <a:p>
            <a:pPr lvl="2"/>
            <a:r>
              <a:rPr lang="en-US" altLang="en-US" dirty="0" smtClean="0"/>
              <a:t>Buyers bid a constant fraction of their valuations, </a:t>
            </a:r>
            <a:r>
              <a:rPr lang="en-US" altLang="en-US" i="1" dirty="0" smtClean="0"/>
              <a:t>b</a:t>
            </a:r>
            <a:r>
              <a:rPr lang="en-US" altLang="en-US" i="1" baseline="-25000" dirty="0" smtClean="0"/>
              <a:t>i</a:t>
            </a:r>
            <a:r>
              <a:rPr lang="en-US" altLang="en-US" i="1" dirty="0" smtClean="0"/>
              <a:t> = </a:t>
            </a:r>
            <a:r>
              <a:rPr lang="en-US" altLang="en-US" i="1" dirty="0" err="1" smtClean="0"/>
              <a:t>kv</a:t>
            </a:r>
            <a:r>
              <a:rPr lang="en-US" altLang="en-US" i="1" baseline="-25000" dirty="0" err="1" smtClean="0"/>
              <a:t>i</a:t>
            </a:r>
            <a:r>
              <a:rPr lang="en-US" altLang="en-US" dirty="0" smtClean="0"/>
              <a:t> </a:t>
            </a:r>
          </a:p>
          <a:p>
            <a:pPr lvl="1"/>
            <a:r>
              <a:rPr lang="en-US" altLang="en-US" dirty="0" smtClean="0"/>
              <a:t>Solve for the equilibrium value of </a:t>
            </a:r>
            <a:r>
              <a:rPr lang="en-US" altLang="en-US" i="1" dirty="0" smtClean="0"/>
              <a:t>k</a:t>
            </a:r>
            <a:endParaRPr lang="en-US" altLang="en-US" dirty="0" smtClean="0"/>
          </a:p>
        </p:txBody>
      </p:sp>
    </p:spTree>
    <p:extLst>
      <p:ext uri="{BB962C8B-B14F-4D97-AF65-F5344CB8AC3E}">
        <p14:creationId xmlns:p14="http://schemas.microsoft.com/office/powerpoint/2010/main" val="125001994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18.9 	Art Auction</a:t>
            </a:r>
          </a:p>
        </p:txBody>
      </p:sp>
      <p:sp>
        <p:nvSpPr>
          <p:cNvPr id="9421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04464D58-F54F-4419-BB25-BC62AD7B8CC7}" type="slidenum">
              <a:rPr lang="en-US" smtClean="0"/>
              <a:pPr>
                <a:defRPr/>
              </a:pPr>
              <a:t>90</a:t>
            </a:fld>
            <a:endParaRPr lang="en-US" dirty="0"/>
          </a:p>
        </p:txBody>
      </p:sp>
      <p:sp>
        <p:nvSpPr>
          <p:cNvPr id="94211" name="Content Placeholder 2"/>
          <p:cNvSpPr>
            <a:spLocks noGrp="1"/>
          </p:cNvSpPr>
          <p:nvPr>
            <p:ph type="body" sz="quarter" idx="12"/>
          </p:nvPr>
        </p:nvSpPr>
        <p:spPr>
          <a:prstGeom prst="rect">
            <a:avLst/>
          </a:prstGeom>
        </p:spPr>
        <p:txBody>
          <a:bodyPr/>
          <a:lstStyle/>
          <a:p>
            <a:r>
              <a:rPr lang="en-US" altLang="en-US" dirty="0" smtClean="0"/>
              <a:t>Symmetric equilibrium </a:t>
            </a:r>
          </a:p>
          <a:p>
            <a:pPr lvl="1"/>
            <a:r>
              <a:rPr lang="en-US" altLang="en-US" dirty="0" smtClean="0"/>
              <a:t>Buyer 1 </a:t>
            </a:r>
          </a:p>
          <a:p>
            <a:pPr lvl="2"/>
            <a:r>
              <a:rPr lang="en-US" altLang="en-US" dirty="0" smtClean="0"/>
              <a:t>Knows his own type </a:t>
            </a:r>
            <a:r>
              <a:rPr lang="en-US" altLang="en-US" i="1" dirty="0" smtClean="0"/>
              <a:t>v</a:t>
            </a:r>
            <a:r>
              <a:rPr lang="en-US" altLang="en-US" i="1" baseline="-25000" dirty="0" smtClean="0"/>
              <a:t>1</a:t>
            </a:r>
            <a:r>
              <a:rPr lang="en-US" altLang="en-US" dirty="0" smtClean="0"/>
              <a:t> </a:t>
            </a:r>
          </a:p>
          <a:p>
            <a:pPr lvl="2"/>
            <a:r>
              <a:rPr lang="en-US" altLang="en-US" dirty="0" smtClean="0"/>
              <a:t>Knows buyer 2’s equilibrium strategy </a:t>
            </a:r>
            <a:r>
              <a:rPr lang="en-US" altLang="en-US" i="1" dirty="0" smtClean="0"/>
              <a:t>b</a:t>
            </a:r>
            <a:r>
              <a:rPr lang="en-US" altLang="en-US" i="1" baseline="-25000" dirty="0" smtClean="0"/>
              <a:t>2</a:t>
            </a:r>
            <a:r>
              <a:rPr lang="en-US" altLang="en-US" i="1" dirty="0" smtClean="0"/>
              <a:t> = kv</a:t>
            </a:r>
            <a:r>
              <a:rPr lang="en-US" altLang="en-US" i="1" baseline="-25000" dirty="0" smtClean="0"/>
              <a:t>2</a:t>
            </a:r>
          </a:p>
          <a:p>
            <a:pPr lvl="2"/>
            <a:r>
              <a:rPr lang="en-US" altLang="en-US" dirty="0" smtClean="0"/>
              <a:t>Best responds by choosing the bid </a:t>
            </a:r>
            <a:r>
              <a:rPr lang="en-US" altLang="en-US" i="1" dirty="0" smtClean="0"/>
              <a:t>b</a:t>
            </a:r>
            <a:r>
              <a:rPr lang="en-US" altLang="en-US" i="1" baseline="-25000" dirty="0" smtClean="0"/>
              <a:t>1</a:t>
            </a:r>
            <a:r>
              <a:rPr lang="en-US" altLang="en-US" dirty="0" smtClean="0"/>
              <a:t> maximizing his expected surplus = </a:t>
            </a:r>
            <a:r>
              <a:rPr lang="en-US" altLang="en-US" i="1" dirty="0" smtClean="0"/>
              <a:t>(b</a:t>
            </a:r>
            <a:r>
              <a:rPr lang="en-US" altLang="en-US" i="1" baseline="-25000" dirty="0" smtClean="0"/>
              <a:t>1</a:t>
            </a:r>
            <a:r>
              <a:rPr lang="en-US" altLang="en-US" i="1" dirty="0" smtClean="0"/>
              <a:t>/k)(v</a:t>
            </a:r>
            <a:r>
              <a:rPr lang="en-US" altLang="en-US" i="1" baseline="-25000" dirty="0" smtClean="0"/>
              <a:t>1</a:t>
            </a:r>
            <a:r>
              <a:rPr lang="en-US" altLang="en-US" i="1" dirty="0" smtClean="0"/>
              <a:t>-b</a:t>
            </a:r>
            <a:r>
              <a:rPr lang="en-US" altLang="en-US" i="1" baseline="-25000" dirty="0" smtClean="0"/>
              <a:t>1</a:t>
            </a:r>
            <a:r>
              <a:rPr lang="en-US" altLang="en-US" i="1" dirty="0" smtClean="0"/>
              <a:t>)</a:t>
            </a:r>
          </a:p>
          <a:p>
            <a:pPr lvl="1"/>
            <a:r>
              <a:rPr lang="en-US" altLang="en-US" dirty="0" smtClean="0"/>
              <a:t>So, </a:t>
            </a:r>
            <a:r>
              <a:rPr lang="en-US" altLang="en-US" i="1" dirty="0" smtClean="0"/>
              <a:t>b</a:t>
            </a:r>
            <a:r>
              <a:rPr lang="en-US" altLang="en-US" i="1" baseline="-25000" dirty="0" smtClean="0"/>
              <a:t>1</a:t>
            </a:r>
            <a:r>
              <a:rPr lang="en-US" altLang="en-US" i="1" dirty="0" smtClean="0"/>
              <a:t> = v</a:t>
            </a:r>
            <a:r>
              <a:rPr lang="en-US" altLang="en-US" i="1" baseline="-25000" dirty="0" smtClean="0"/>
              <a:t>1</a:t>
            </a:r>
            <a:r>
              <a:rPr lang="en-US" altLang="en-US" i="1" dirty="0" smtClean="0"/>
              <a:t>/2, k*= ½ </a:t>
            </a:r>
          </a:p>
        </p:txBody>
      </p:sp>
    </p:spTree>
    <p:extLst>
      <p:ext uri="{BB962C8B-B14F-4D97-AF65-F5344CB8AC3E}">
        <p14:creationId xmlns:p14="http://schemas.microsoft.com/office/powerpoint/2010/main" val="92678140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18.9 	Art Auction</a:t>
            </a:r>
          </a:p>
        </p:txBody>
      </p:sp>
      <p:sp>
        <p:nvSpPr>
          <p:cNvPr id="9523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B96EF9A3-0ABA-4E00-95AD-D07D0D114984}" type="slidenum">
              <a:rPr lang="en-US" smtClean="0"/>
              <a:pPr>
                <a:defRPr/>
              </a:pPr>
              <a:t>91</a:t>
            </a:fld>
            <a:endParaRPr lang="en-US" dirty="0"/>
          </a:p>
        </p:txBody>
      </p:sp>
      <p:sp>
        <p:nvSpPr>
          <p:cNvPr id="95235" name="Content Placeholder 2"/>
          <p:cNvSpPr>
            <a:spLocks noGrp="1"/>
          </p:cNvSpPr>
          <p:nvPr>
            <p:ph type="body" sz="quarter" idx="12"/>
          </p:nvPr>
        </p:nvSpPr>
        <p:spPr>
          <a:prstGeom prst="rect">
            <a:avLst/>
          </a:prstGeom>
        </p:spPr>
        <p:txBody>
          <a:bodyPr/>
          <a:lstStyle/>
          <a:p>
            <a:r>
              <a:rPr lang="en-US" altLang="en-US" dirty="0" smtClean="0"/>
              <a:t>Order statistics </a:t>
            </a:r>
          </a:p>
          <a:p>
            <a:r>
              <a:rPr lang="en-US" altLang="en-US" dirty="0" smtClean="0"/>
              <a:t> </a:t>
            </a:r>
            <a:r>
              <a:rPr lang="en-US" altLang="en-US" i="1" dirty="0" smtClean="0"/>
              <a:t>k</a:t>
            </a:r>
            <a:r>
              <a:rPr lang="en-US" altLang="en-US" baseline="30000" dirty="0" smtClean="0"/>
              <a:t>th</a:t>
            </a:r>
            <a:r>
              <a:rPr lang="en-US" altLang="en-US" dirty="0" smtClean="0"/>
              <a:t> -order statistic, </a:t>
            </a:r>
            <a:r>
              <a:rPr lang="en-US" altLang="en-US" i="1" dirty="0" smtClean="0"/>
              <a:t>X</a:t>
            </a:r>
            <a:r>
              <a:rPr lang="en-US" altLang="en-US" i="1" baseline="-25000" dirty="0" smtClean="0"/>
              <a:t>(k)</a:t>
            </a:r>
          </a:p>
          <a:p>
            <a:pPr lvl="1"/>
            <a:r>
              <a:rPr lang="en-US" altLang="en-US" dirty="0" smtClean="0"/>
              <a:t>The </a:t>
            </a:r>
            <a:r>
              <a:rPr lang="en-US" altLang="en-US" i="1" dirty="0" smtClean="0"/>
              <a:t>k</a:t>
            </a:r>
            <a:r>
              <a:rPr lang="en-US" altLang="en-US" baseline="30000" dirty="0" smtClean="0"/>
              <a:t>th</a:t>
            </a:r>
            <a:r>
              <a:rPr lang="en-US" altLang="en-US" dirty="0" smtClean="0"/>
              <a:t> lowest draw from  </a:t>
            </a:r>
          </a:p>
          <a:p>
            <a:pPr lvl="1"/>
            <a:r>
              <a:rPr lang="en-US" altLang="en-US" dirty="0" smtClean="0"/>
              <a:t> </a:t>
            </a:r>
            <a:r>
              <a:rPr lang="en-US" altLang="en-US" i="1" dirty="0" smtClean="0"/>
              <a:t>n</a:t>
            </a:r>
            <a:r>
              <a:rPr lang="en-US" altLang="en-US" dirty="0" smtClean="0"/>
              <a:t> independent draws made from the same distribution, arranged from smallest to largest</a:t>
            </a:r>
          </a:p>
          <a:p>
            <a:r>
              <a:rPr lang="en-US" altLang="en-US" dirty="0" smtClean="0"/>
              <a:t>Expected value of the </a:t>
            </a:r>
            <a:r>
              <a:rPr lang="en-US" altLang="en-US" i="1" dirty="0" smtClean="0"/>
              <a:t>k</a:t>
            </a:r>
            <a:r>
              <a:rPr lang="en-US" altLang="en-US" dirty="0" smtClean="0"/>
              <a:t>th-order statistic   </a:t>
            </a:r>
          </a:p>
          <a:p>
            <a:pPr lvl="1"/>
            <a:r>
              <a:rPr lang="en-US" altLang="en-US" dirty="0" smtClean="0"/>
              <a:t> </a:t>
            </a:r>
            <a:r>
              <a:rPr lang="en-US" altLang="en-US" i="1" dirty="0" smtClean="0"/>
              <a:t>n</a:t>
            </a:r>
            <a:r>
              <a:rPr lang="en-US" altLang="en-US" dirty="0" smtClean="0"/>
              <a:t> draws taken from a uniform distribution between 0 and 1</a:t>
            </a:r>
          </a:p>
          <a:p>
            <a:pPr lvl="1"/>
            <a:r>
              <a:rPr lang="en-US" altLang="en-US" i="1" dirty="0" smtClean="0"/>
              <a:t>E(X</a:t>
            </a:r>
            <a:r>
              <a:rPr lang="en-US" altLang="en-US" i="1" baseline="-25000" dirty="0" smtClean="0"/>
              <a:t>(k)</a:t>
            </a:r>
            <a:r>
              <a:rPr lang="en-US" altLang="en-US" i="1" dirty="0" smtClean="0"/>
              <a:t>) = k/(n+1) </a:t>
            </a:r>
            <a:endParaRPr lang="en-US" altLang="en-US" i="1" baseline="-25000" dirty="0" smtClean="0"/>
          </a:p>
          <a:p>
            <a:endParaRPr lang="en-US" altLang="en-US" dirty="0" smtClean="0"/>
          </a:p>
        </p:txBody>
      </p:sp>
    </p:spTree>
    <p:extLst>
      <p:ext uri="{BB962C8B-B14F-4D97-AF65-F5344CB8AC3E}">
        <p14:creationId xmlns:p14="http://schemas.microsoft.com/office/powerpoint/2010/main" val="45271704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18.9 	Art Auction</a:t>
            </a:r>
          </a:p>
        </p:txBody>
      </p:sp>
      <p:sp>
        <p:nvSpPr>
          <p:cNvPr id="9626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E60E1E97-CAAC-4AAA-B1E0-2B9D37C06B10}" type="slidenum">
              <a:rPr lang="en-US" smtClean="0"/>
              <a:pPr>
                <a:defRPr/>
              </a:pPr>
              <a:t>92</a:t>
            </a:fld>
            <a:endParaRPr lang="en-US" dirty="0"/>
          </a:p>
        </p:txBody>
      </p:sp>
      <p:sp>
        <p:nvSpPr>
          <p:cNvPr id="96259" name="Content Placeholder 2"/>
          <p:cNvSpPr>
            <a:spLocks noGrp="1"/>
          </p:cNvSpPr>
          <p:nvPr>
            <p:ph type="body" sz="quarter" idx="12"/>
          </p:nvPr>
        </p:nvSpPr>
        <p:spPr>
          <a:prstGeom prst="rect">
            <a:avLst/>
          </a:prstGeom>
        </p:spPr>
        <p:txBody>
          <a:bodyPr/>
          <a:lstStyle/>
          <a:p>
            <a:r>
              <a:rPr lang="en-US" altLang="en-US" dirty="0" smtClean="0"/>
              <a:t>Expected revenue</a:t>
            </a:r>
          </a:p>
          <a:p>
            <a:pPr lvl="1"/>
            <a:r>
              <a:rPr lang="en-US" altLang="en-US" dirty="0" smtClean="0"/>
              <a:t>From the first-price auction </a:t>
            </a:r>
            <a:r>
              <a:rPr lang="en-US" altLang="en-US" i="1" dirty="0" smtClean="0"/>
              <a:t>= E(max(b</a:t>
            </a:r>
            <a:r>
              <a:rPr lang="en-US" altLang="en-US" i="1" baseline="-25000" dirty="0" smtClean="0"/>
              <a:t>1</a:t>
            </a:r>
            <a:r>
              <a:rPr lang="en-US" altLang="en-US" i="1" dirty="0" smtClean="0"/>
              <a:t>,b</a:t>
            </a:r>
            <a:r>
              <a:rPr lang="en-US" altLang="en-US" i="1" baseline="-25000" dirty="0" smtClean="0"/>
              <a:t>2</a:t>
            </a:r>
            <a:r>
              <a:rPr lang="en-US" altLang="en-US" i="1" dirty="0" smtClean="0"/>
              <a:t>))=(1/2) E(max(v</a:t>
            </a:r>
            <a:r>
              <a:rPr lang="en-US" altLang="en-US" i="1" baseline="-25000" dirty="0" smtClean="0"/>
              <a:t>1</a:t>
            </a:r>
            <a:r>
              <a:rPr lang="en-US" altLang="en-US" i="1" dirty="0" smtClean="0"/>
              <a:t>,v</a:t>
            </a:r>
            <a:r>
              <a:rPr lang="en-US" altLang="en-US" i="1" baseline="-25000" dirty="0" smtClean="0"/>
              <a:t>2</a:t>
            </a:r>
            <a:r>
              <a:rPr lang="en-US" altLang="en-US" i="1" dirty="0" smtClean="0"/>
              <a:t>)) = 1/3</a:t>
            </a:r>
          </a:p>
          <a:p>
            <a:pPr lvl="2"/>
            <a:r>
              <a:rPr lang="en-US" altLang="en-US" dirty="0" smtClean="0"/>
              <a:t>Because max(v</a:t>
            </a:r>
            <a:r>
              <a:rPr lang="en-US" altLang="en-US" baseline="-25000" dirty="0" smtClean="0"/>
              <a:t>1</a:t>
            </a:r>
            <a:r>
              <a:rPr lang="en-US" altLang="en-US" dirty="0" smtClean="0"/>
              <a:t>,v</a:t>
            </a:r>
            <a:r>
              <a:rPr lang="en-US" altLang="en-US" baseline="-25000" dirty="0" smtClean="0"/>
              <a:t>2</a:t>
            </a:r>
            <a:r>
              <a:rPr lang="en-US" altLang="en-US" dirty="0" smtClean="0"/>
              <a:t>) is the largest-order statistic from two draws of a uniform random variable between 0 and 1</a:t>
            </a:r>
          </a:p>
          <a:p>
            <a:r>
              <a:rPr lang="en-US" altLang="en-US" dirty="0" smtClean="0"/>
              <a:t>Second-price auction</a:t>
            </a:r>
          </a:p>
          <a:p>
            <a:pPr lvl="1"/>
            <a:r>
              <a:rPr lang="en-US" altLang="en-US" dirty="0" smtClean="0"/>
              <a:t>Buyers bid their true valuations: </a:t>
            </a:r>
            <a:r>
              <a:rPr lang="en-US" altLang="en-US" i="1" dirty="0" smtClean="0"/>
              <a:t>b</a:t>
            </a:r>
            <a:r>
              <a:rPr lang="en-US" altLang="en-US" i="1" baseline="-25000" dirty="0" smtClean="0"/>
              <a:t>i</a:t>
            </a:r>
            <a:r>
              <a:rPr lang="en-US" altLang="en-US" i="1" dirty="0" smtClean="0"/>
              <a:t> = v</a:t>
            </a:r>
            <a:r>
              <a:rPr lang="en-US" altLang="en-US" i="1" baseline="-25000" dirty="0" smtClean="0"/>
              <a:t>i</a:t>
            </a:r>
          </a:p>
          <a:p>
            <a:pPr lvl="1"/>
            <a:r>
              <a:rPr lang="en-US" altLang="en-US" dirty="0" smtClean="0"/>
              <a:t>Seller’s expected revenue = </a:t>
            </a:r>
            <a:r>
              <a:rPr lang="en-US" altLang="en-US" i="1" dirty="0" smtClean="0"/>
              <a:t>E(min(b</a:t>
            </a:r>
            <a:r>
              <a:rPr lang="en-US" altLang="en-US" i="1" baseline="-25000" dirty="0" smtClean="0"/>
              <a:t>1</a:t>
            </a:r>
            <a:r>
              <a:rPr lang="en-US" altLang="en-US" i="1" dirty="0" smtClean="0"/>
              <a:t>, b</a:t>
            </a:r>
            <a:r>
              <a:rPr lang="en-US" altLang="en-US" i="1" baseline="-25000" dirty="0" smtClean="0"/>
              <a:t>2</a:t>
            </a:r>
            <a:r>
              <a:rPr lang="en-US" altLang="en-US" i="1" dirty="0" smtClean="0"/>
              <a:t>)) = 1/3 </a:t>
            </a:r>
          </a:p>
          <a:p>
            <a:pPr lvl="2"/>
            <a:r>
              <a:rPr lang="en-US" altLang="en-US" dirty="0" smtClean="0"/>
              <a:t>Because </a:t>
            </a:r>
            <a:r>
              <a:rPr lang="en-US" altLang="en-US" i="1" dirty="0" smtClean="0"/>
              <a:t>min(b</a:t>
            </a:r>
            <a:r>
              <a:rPr lang="en-US" altLang="en-US" i="1" baseline="-25000" dirty="0" smtClean="0"/>
              <a:t>1</a:t>
            </a:r>
            <a:r>
              <a:rPr lang="en-US" altLang="en-US" i="1" dirty="0" smtClean="0"/>
              <a:t>, b</a:t>
            </a:r>
            <a:r>
              <a:rPr lang="en-US" altLang="en-US" i="1" baseline="-25000" dirty="0" smtClean="0"/>
              <a:t>2</a:t>
            </a:r>
            <a:r>
              <a:rPr lang="en-US" altLang="en-US" i="1" dirty="0" smtClean="0"/>
              <a:t>) = min(v</a:t>
            </a:r>
            <a:r>
              <a:rPr lang="en-US" altLang="en-US" i="1" baseline="-25000" dirty="0" smtClean="0"/>
              <a:t>1</a:t>
            </a:r>
            <a:r>
              <a:rPr lang="en-US" altLang="en-US" i="1" dirty="0" smtClean="0"/>
              <a:t>, v</a:t>
            </a:r>
            <a:r>
              <a:rPr lang="en-US" altLang="en-US" i="1" baseline="-25000" dirty="0" smtClean="0"/>
              <a:t>2</a:t>
            </a:r>
            <a:r>
              <a:rPr lang="en-US" altLang="en-US" i="1" dirty="0" smtClean="0"/>
              <a:t>)</a:t>
            </a:r>
          </a:p>
        </p:txBody>
      </p:sp>
    </p:spTree>
    <p:extLst>
      <p:ext uri="{BB962C8B-B14F-4D97-AF65-F5344CB8AC3E}">
        <p14:creationId xmlns:p14="http://schemas.microsoft.com/office/powerpoint/2010/main" val="26737335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en-US" smtClean="0"/>
              <a:t>Auction</a:t>
            </a:r>
          </a:p>
        </p:txBody>
      </p:sp>
      <p:sp>
        <p:nvSpPr>
          <p:cNvPr id="97283" name="Rectangle 3"/>
          <p:cNvSpPr>
            <a:spLocks noGrp="1" noChangeArrowheads="1"/>
          </p:cNvSpPr>
          <p:nvPr>
            <p:ph idx="1"/>
          </p:nvPr>
        </p:nvSpPr>
        <p:spPr/>
        <p:txBody>
          <a:bodyPr/>
          <a:lstStyle/>
          <a:p>
            <a:r>
              <a:rPr lang="en-US" altLang="en-US" dirty="0" smtClean="0"/>
              <a:t>Common values auctions</a:t>
            </a:r>
          </a:p>
          <a:p>
            <a:pPr lvl="1"/>
            <a:r>
              <a:rPr lang="en-US" altLang="en-US" dirty="0" smtClean="0"/>
              <a:t>The good has the same value to all bidders</a:t>
            </a:r>
          </a:p>
          <a:p>
            <a:pPr lvl="1"/>
            <a:r>
              <a:rPr lang="en-US" altLang="en-US" dirty="0" smtClean="0"/>
              <a:t>But they do not know exactly what that value is</a:t>
            </a:r>
          </a:p>
          <a:p>
            <a:pPr lvl="1"/>
            <a:r>
              <a:rPr lang="en-US" altLang="en-US" dirty="0" smtClean="0"/>
              <a:t>The winner’s curse</a:t>
            </a:r>
          </a:p>
          <a:p>
            <a:pPr lvl="2"/>
            <a:r>
              <a:rPr lang="en-US" altLang="en-US" dirty="0" smtClean="0"/>
              <a:t>The winning bidder realizes that every other bidder though the object was worth less</a:t>
            </a:r>
          </a:p>
          <a:p>
            <a:pPr lvl="2"/>
            <a:r>
              <a:rPr lang="en-US" altLang="en-US" dirty="0" smtClean="0"/>
              <a:t>He probably overestimated the value when bidding</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5C23B8A-761B-4D46-BA67-FEF267B879D8}" type="slidenum">
              <a:rPr lang="en-US" smtClean="0"/>
              <a:pPr>
                <a:defRPr/>
              </a:pPr>
              <a:t>93</a:t>
            </a:fld>
            <a:endParaRPr lang="en-US"/>
          </a:p>
        </p:txBody>
      </p:sp>
    </p:spTree>
    <p:extLst>
      <p:ext uri="{BB962C8B-B14F-4D97-AF65-F5344CB8AC3E}">
        <p14:creationId xmlns:p14="http://schemas.microsoft.com/office/powerpoint/2010/main" val="238009566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600200" y="0"/>
            <a:ext cx="7543800" cy="914400"/>
          </a:xfrm>
        </p:spPr>
        <p:txBody>
          <a:bodyPr>
            <a:noAutofit/>
          </a:bodyPr>
          <a:lstStyle/>
          <a:p>
            <a:r>
              <a:rPr lang="en-US" dirty="0" smtClean="0"/>
              <a:t>Using Experiments To Measure Asymmetric-</a:t>
            </a:r>
            <a:r>
              <a:rPr lang="en-US" dirty="0" smtClean="0">
                <a:solidFill>
                  <a:srgbClr val="002D56"/>
                </a:solidFill>
              </a:rPr>
              <a:t>Information Problems</a:t>
            </a:r>
            <a:endParaRPr lang="en-US" dirty="0">
              <a:solidFill>
                <a:srgbClr val="002D56"/>
              </a:solidFill>
            </a:endParaRP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94</a:t>
            </a:fld>
            <a:endParaRPr lang="en-US" dirty="0"/>
          </a:p>
        </p:txBody>
      </p:sp>
      <p:sp>
        <p:nvSpPr>
          <p:cNvPr id="7" name="Text Placeholder 6"/>
          <p:cNvSpPr>
            <a:spLocks noGrp="1"/>
          </p:cNvSpPr>
          <p:nvPr>
            <p:ph type="body" sz="quarter" idx="12"/>
          </p:nvPr>
        </p:nvSpPr>
        <p:spPr>
          <a:xfrm>
            <a:off x="381000" y="1295400"/>
            <a:ext cx="8382000" cy="5105400"/>
          </a:xfrm>
        </p:spPr>
        <p:txBody>
          <a:bodyPr/>
          <a:lstStyle/>
          <a:p>
            <a:r>
              <a:rPr lang="en-US" dirty="0" smtClean="0"/>
              <a:t>Theoretical case </a:t>
            </a:r>
          </a:p>
          <a:p>
            <a:pPr lvl="1"/>
            <a:r>
              <a:rPr lang="en-US" dirty="0" smtClean="0"/>
              <a:t>Moral hazard </a:t>
            </a:r>
            <a:r>
              <a:rPr lang="en-US" dirty="0"/>
              <a:t>and adverse selection are market imperfections with the potential to reduce welfare relative to a full-information </a:t>
            </a:r>
            <a:r>
              <a:rPr lang="en-US" dirty="0" smtClean="0"/>
              <a:t>setting</a:t>
            </a:r>
          </a:p>
          <a:p>
            <a:r>
              <a:rPr lang="en-US" dirty="0" smtClean="0"/>
              <a:t>Empirical question </a:t>
            </a:r>
          </a:p>
          <a:p>
            <a:pPr lvl="1"/>
            <a:r>
              <a:rPr lang="en-US" dirty="0" smtClean="0"/>
              <a:t>Whether these </a:t>
            </a:r>
            <a:r>
              <a:rPr lang="en-US" dirty="0"/>
              <a:t>market imperfections are substantial in real-world markets</a:t>
            </a:r>
          </a:p>
        </p:txBody>
      </p:sp>
    </p:spTree>
    <p:extLst>
      <p:ext uri="{BB962C8B-B14F-4D97-AF65-F5344CB8AC3E}">
        <p14:creationId xmlns:p14="http://schemas.microsoft.com/office/powerpoint/2010/main" val="66827122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Natural and Field Experiments</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95</a:t>
            </a:fld>
            <a:endParaRPr lang="en-US" dirty="0"/>
          </a:p>
        </p:txBody>
      </p:sp>
      <p:sp>
        <p:nvSpPr>
          <p:cNvPr id="5" name="Text Placeholder 4"/>
          <p:cNvSpPr>
            <a:spLocks noGrp="1"/>
          </p:cNvSpPr>
          <p:nvPr>
            <p:ph type="body" sz="quarter" idx="12"/>
          </p:nvPr>
        </p:nvSpPr>
        <p:spPr/>
        <p:txBody>
          <a:bodyPr/>
          <a:lstStyle/>
          <a:p>
            <a:r>
              <a:rPr lang="en-US" dirty="0"/>
              <a:t>Natural experiments </a:t>
            </a:r>
            <a:endParaRPr lang="en-US" dirty="0" smtClean="0"/>
          </a:p>
          <a:p>
            <a:pPr lvl="1"/>
            <a:r>
              <a:rPr lang="en-US" dirty="0" smtClean="0"/>
              <a:t>Not </a:t>
            </a:r>
            <a:r>
              <a:rPr lang="en-US" dirty="0"/>
              <a:t>personally designed by the researcher </a:t>
            </a:r>
            <a:endParaRPr lang="en-US" dirty="0" smtClean="0"/>
          </a:p>
          <a:p>
            <a:pPr lvl="1"/>
            <a:r>
              <a:rPr lang="en-US" dirty="0" smtClean="0"/>
              <a:t>Arise </a:t>
            </a:r>
            <a:r>
              <a:rPr lang="en-US" dirty="0"/>
              <a:t>from significant natural events or government-policy changes </a:t>
            </a:r>
            <a:endParaRPr lang="en-US" dirty="0" smtClean="0"/>
          </a:p>
          <a:p>
            <a:pPr lvl="2"/>
            <a:r>
              <a:rPr lang="en-US" dirty="0" smtClean="0"/>
              <a:t>Produce </a:t>
            </a:r>
            <a:r>
              <a:rPr lang="en-US" dirty="0"/>
              <a:t>data much as would a well-designed </a:t>
            </a:r>
            <a:r>
              <a:rPr lang="en-US" dirty="0" smtClean="0"/>
              <a:t>experiment</a:t>
            </a:r>
          </a:p>
          <a:p>
            <a:r>
              <a:rPr lang="en-US" dirty="0" smtClean="0"/>
              <a:t>Field experiments</a:t>
            </a:r>
          </a:p>
          <a:p>
            <a:pPr lvl="1"/>
            <a:r>
              <a:rPr lang="en-US" dirty="0"/>
              <a:t>D</a:t>
            </a:r>
            <a:r>
              <a:rPr lang="en-US" dirty="0" smtClean="0"/>
              <a:t>esigned </a:t>
            </a:r>
            <a:r>
              <a:rPr lang="en-US" dirty="0"/>
              <a:t>by </a:t>
            </a:r>
            <a:r>
              <a:rPr lang="en-US" dirty="0" smtClean="0"/>
              <a:t>researchers</a:t>
            </a:r>
          </a:p>
          <a:p>
            <a:pPr lvl="2"/>
            <a:r>
              <a:rPr lang="en-US" dirty="0" smtClean="0"/>
              <a:t>With </a:t>
            </a:r>
            <a:r>
              <a:rPr lang="en-US" dirty="0"/>
              <a:t>the explicit intention to identify and measure asymmetric-information </a:t>
            </a:r>
            <a:r>
              <a:rPr lang="en-US" dirty="0" smtClean="0"/>
              <a:t>problems</a:t>
            </a:r>
          </a:p>
        </p:txBody>
      </p:sp>
    </p:spTree>
    <p:extLst>
      <p:ext uri="{BB962C8B-B14F-4D97-AF65-F5344CB8AC3E}">
        <p14:creationId xmlns:p14="http://schemas.microsoft.com/office/powerpoint/2010/main" val="149382208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the Theory</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96</a:t>
            </a:fld>
            <a:endParaRPr lang="en-US" dirty="0"/>
          </a:p>
        </p:txBody>
      </p:sp>
      <p:sp>
        <p:nvSpPr>
          <p:cNvPr id="5" name="Text Placeholder 4"/>
          <p:cNvSpPr>
            <a:spLocks noGrp="1"/>
          </p:cNvSpPr>
          <p:nvPr>
            <p:ph type="body" sz="quarter" idx="12"/>
          </p:nvPr>
        </p:nvSpPr>
        <p:spPr/>
        <p:txBody>
          <a:bodyPr/>
          <a:lstStyle/>
          <a:p>
            <a:pPr marL="514350" indent="-514350">
              <a:buFont typeface="+mj-lt"/>
              <a:buAutoNum type="arabicPeriod"/>
            </a:pPr>
            <a:r>
              <a:rPr lang="en-US" dirty="0" smtClean="0"/>
              <a:t>Measure </a:t>
            </a:r>
            <a:r>
              <a:rPr lang="en-US" dirty="0"/>
              <a:t>aggregate welfare in a population facing </a:t>
            </a:r>
            <a:r>
              <a:rPr lang="en-US" dirty="0" smtClean="0"/>
              <a:t>uncertainty</a:t>
            </a:r>
          </a:p>
          <a:p>
            <a:pPr marL="914400" lvl="1" indent="-514350"/>
            <a:r>
              <a:rPr lang="en-US" dirty="0" smtClean="0"/>
              <a:t>Well-being </a:t>
            </a:r>
            <a:r>
              <a:rPr lang="en-US" dirty="0"/>
              <a:t>of one consumer facing an uncertain situation </a:t>
            </a:r>
            <a:r>
              <a:rPr lang="en-US" dirty="0" smtClean="0"/>
              <a:t> = certain equivalent</a:t>
            </a:r>
          </a:p>
          <a:p>
            <a:pPr marL="914400" lvl="1" indent="-514350"/>
            <a:r>
              <a:rPr lang="en-US" dirty="0" smtClean="0"/>
              <a:t>Overall social welfare = consumer surplus + profits</a:t>
            </a:r>
          </a:p>
          <a:p>
            <a:pPr marL="514350" indent="-514350">
              <a:buFont typeface="+mj-lt"/>
              <a:buAutoNum type="arabicPeriod"/>
            </a:pPr>
            <a:r>
              <a:rPr lang="en-US" dirty="0" smtClean="0"/>
              <a:t>Policies </a:t>
            </a:r>
            <a:r>
              <a:rPr lang="en-US" dirty="0"/>
              <a:t>addressing one form of asymmetric-information problem can exacerbate the other </a:t>
            </a:r>
            <a:endParaRPr lang="en-US" dirty="0" smtClean="0"/>
          </a:p>
          <a:p>
            <a:pPr marL="914400" lvl="1" indent="-514350"/>
            <a:r>
              <a:rPr lang="en-US" dirty="0" smtClean="0"/>
              <a:t>Government </a:t>
            </a:r>
            <a:r>
              <a:rPr lang="en-US" dirty="0"/>
              <a:t>mandate </a:t>
            </a:r>
            <a:r>
              <a:rPr lang="en-US" dirty="0" smtClean="0"/>
              <a:t>of full </a:t>
            </a:r>
            <a:r>
              <a:rPr lang="en-US" dirty="0"/>
              <a:t>insurance </a:t>
            </a:r>
            <a:endParaRPr lang="en-US" dirty="0" smtClean="0"/>
          </a:p>
          <a:p>
            <a:pPr marL="1314450" lvl="2" indent="-514350"/>
            <a:r>
              <a:rPr lang="en-US" dirty="0" smtClean="0"/>
              <a:t>Can </a:t>
            </a:r>
            <a:r>
              <a:rPr lang="en-US" dirty="0"/>
              <a:t>eliminate adverse </a:t>
            </a:r>
            <a:r>
              <a:rPr lang="en-US" dirty="0" smtClean="0"/>
              <a:t>selection</a:t>
            </a:r>
          </a:p>
          <a:p>
            <a:pPr marL="1314450" lvl="2" indent="-514350"/>
            <a:r>
              <a:rPr lang="en-US" dirty="0" smtClean="0"/>
              <a:t>Can </a:t>
            </a:r>
            <a:r>
              <a:rPr lang="en-US" dirty="0"/>
              <a:t>reduce welfare if moral hazard is the main information </a:t>
            </a:r>
            <a:r>
              <a:rPr lang="en-US" dirty="0" smtClean="0"/>
              <a:t>problem</a:t>
            </a:r>
            <a:endParaRPr lang="en-US" dirty="0"/>
          </a:p>
        </p:txBody>
      </p:sp>
    </p:spTree>
    <p:extLst>
      <p:ext uri="{BB962C8B-B14F-4D97-AF65-F5344CB8AC3E}">
        <p14:creationId xmlns:p14="http://schemas.microsoft.com/office/powerpoint/2010/main" val="10121923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Moral Hazard in Health Insurance</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97</a:t>
            </a:fld>
            <a:endParaRPr lang="en-US" dirty="0"/>
          </a:p>
        </p:txBody>
      </p:sp>
      <p:sp>
        <p:nvSpPr>
          <p:cNvPr id="5" name="Text Placeholder 4"/>
          <p:cNvSpPr>
            <a:spLocks noGrp="1"/>
          </p:cNvSpPr>
          <p:nvPr>
            <p:ph type="body" sz="quarter" idx="12"/>
          </p:nvPr>
        </p:nvSpPr>
        <p:spPr/>
        <p:txBody>
          <a:bodyPr/>
          <a:lstStyle/>
          <a:p>
            <a:r>
              <a:rPr lang="en-US" dirty="0" smtClean="0"/>
              <a:t>Moral hazard in healthcare</a:t>
            </a:r>
          </a:p>
          <a:p>
            <a:pPr lvl="1"/>
            <a:r>
              <a:rPr lang="en-US" dirty="0" smtClean="0"/>
              <a:t>Individuals consume </a:t>
            </a:r>
            <a:r>
              <a:rPr lang="en-US" dirty="0"/>
              <a:t>more medical services if some or all is covered by insurance and less is paid out of </a:t>
            </a:r>
            <a:r>
              <a:rPr lang="en-US" dirty="0" smtClean="0"/>
              <a:t>pocket</a:t>
            </a:r>
          </a:p>
          <a:p>
            <a:r>
              <a:rPr lang="en-US" dirty="0" smtClean="0"/>
              <a:t>Rapid rise </a:t>
            </a:r>
            <a:r>
              <a:rPr lang="en-US" dirty="0"/>
              <a:t>in healthcare expenditures </a:t>
            </a:r>
            <a:endParaRPr lang="en-US" dirty="0" smtClean="0"/>
          </a:p>
          <a:p>
            <a:pPr lvl="1"/>
            <a:r>
              <a:rPr lang="en-US" dirty="0" smtClean="0"/>
              <a:t>Could </a:t>
            </a:r>
            <a:r>
              <a:rPr lang="en-US" dirty="0"/>
              <a:t>be stemmed by offering less than full </a:t>
            </a:r>
            <a:r>
              <a:rPr lang="en-US" dirty="0" smtClean="0"/>
              <a:t>insurance</a:t>
            </a:r>
          </a:p>
          <a:p>
            <a:pPr lvl="2"/>
            <a:r>
              <a:rPr lang="en-US" dirty="0" smtClean="0"/>
              <a:t>Confronting </a:t>
            </a:r>
            <a:r>
              <a:rPr lang="en-US" dirty="0"/>
              <a:t>consumers with copayments and </a:t>
            </a:r>
            <a:r>
              <a:rPr lang="en-US" dirty="0" smtClean="0"/>
              <a:t>deductibles</a:t>
            </a:r>
          </a:p>
          <a:p>
            <a:pPr lvl="1"/>
            <a:r>
              <a:rPr lang="en-US" dirty="0" smtClean="0"/>
              <a:t>The </a:t>
            </a:r>
            <a:r>
              <a:rPr lang="en-US" dirty="0"/>
              <a:t>effect depends on the elasticity of healthcare expenditures with respect to price</a:t>
            </a:r>
          </a:p>
        </p:txBody>
      </p:sp>
    </p:spTree>
    <p:extLst>
      <p:ext uri="{BB962C8B-B14F-4D97-AF65-F5344CB8AC3E}">
        <p14:creationId xmlns:p14="http://schemas.microsoft.com/office/powerpoint/2010/main" val="370309941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Moral Hazard in Health Insurance</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98</a:t>
            </a:fld>
            <a:endParaRPr lang="en-US" dirty="0"/>
          </a:p>
        </p:txBody>
      </p:sp>
      <p:sp>
        <p:nvSpPr>
          <p:cNvPr id="5" name="Text Placeholder 4"/>
          <p:cNvSpPr>
            <a:spLocks noGrp="1"/>
          </p:cNvSpPr>
          <p:nvPr>
            <p:ph type="body" sz="quarter" idx="12"/>
          </p:nvPr>
        </p:nvSpPr>
        <p:spPr/>
        <p:txBody>
          <a:bodyPr/>
          <a:lstStyle/>
          <a:p>
            <a:r>
              <a:rPr lang="en-US" dirty="0" smtClean="0"/>
              <a:t>The Rand (field) experiment</a:t>
            </a:r>
          </a:p>
          <a:p>
            <a:pPr lvl="1"/>
            <a:r>
              <a:rPr lang="en-US" dirty="0" smtClean="0"/>
              <a:t>1970s, 6000 participants</a:t>
            </a:r>
          </a:p>
          <a:p>
            <a:pPr lvl="1"/>
            <a:r>
              <a:rPr lang="en-US" dirty="0" smtClean="0"/>
              <a:t>Copayments 0, 25, 50, and 95%, randomized</a:t>
            </a:r>
          </a:p>
          <a:p>
            <a:pPr lvl="1"/>
            <a:r>
              <a:rPr lang="en-US" dirty="0" smtClean="0"/>
              <a:t>Estimated linear demand p(q), p = 288 – 0.39q</a:t>
            </a:r>
          </a:p>
          <a:p>
            <a:pPr lvl="1"/>
            <a:r>
              <a:rPr lang="en-US" dirty="0" smtClean="0"/>
              <a:t>Marginal cost curve for healthcare, mc(q)</a:t>
            </a:r>
          </a:p>
          <a:p>
            <a:pPr lvl="1"/>
            <a:r>
              <a:rPr lang="en-US" dirty="0" smtClean="0"/>
              <a:t>Copayment &lt; 100% leads to overconsumption</a:t>
            </a:r>
          </a:p>
          <a:p>
            <a:pPr lvl="1"/>
            <a:r>
              <a:rPr lang="en-US" dirty="0" smtClean="0"/>
              <a:t>Deadweight loss from moral hazard = 28%</a:t>
            </a:r>
          </a:p>
          <a:p>
            <a:pPr lvl="1"/>
            <a:r>
              <a:rPr lang="en-US" dirty="0" smtClean="0"/>
              <a:t>The estimated </a:t>
            </a:r>
            <a:r>
              <a:rPr lang="en-US" dirty="0"/>
              <a:t>demand curve is quite </a:t>
            </a:r>
            <a:r>
              <a:rPr lang="en-US" dirty="0" smtClean="0"/>
              <a:t>inelastic</a:t>
            </a:r>
          </a:p>
          <a:p>
            <a:pPr lvl="1"/>
            <a:r>
              <a:rPr lang="en-US" dirty="0" smtClean="0"/>
              <a:t>Confronting consumers </a:t>
            </a:r>
            <a:r>
              <a:rPr lang="en-US" dirty="0"/>
              <a:t>with more of the cost of their healthcare decisions will not stem much of the increase in medical expenditures</a:t>
            </a:r>
            <a:endParaRPr lang="en-US" dirty="0" smtClean="0"/>
          </a:p>
          <a:p>
            <a:pPr lvl="1"/>
            <a:endParaRPr lang="en-US" dirty="0"/>
          </a:p>
        </p:txBody>
      </p:sp>
    </p:spTree>
    <p:extLst>
      <p:ext uri="{BB962C8B-B14F-4D97-AF65-F5344CB8AC3E}">
        <p14:creationId xmlns:p14="http://schemas.microsoft.com/office/powerpoint/2010/main" val="343240798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150" y="0"/>
            <a:ext cx="7943850" cy="990600"/>
          </a:xfrm>
        </p:spPr>
        <p:txBody>
          <a:bodyPr>
            <a:noAutofit/>
          </a:bodyPr>
          <a:lstStyle/>
          <a:p>
            <a:r>
              <a:rPr lang="en-US" dirty="0" smtClean="0"/>
              <a:t>18.2	Key results from Rand health insurance 	</a:t>
            </a:r>
            <a:r>
              <a:rPr lang="en-US" dirty="0" smtClean="0">
                <a:solidFill>
                  <a:srgbClr val="002D56"/>
                </a:solidFill>
              </a:rPr>
              <a:t>experiment</a:t>
            </a:r>
            <a:endParaRPr lang="en-US" dirty="0">
              <a:solidFill>
                <a:srgbClr val="002D56"/>
              </a:solidFill>
            </a:endParaRPr>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F2BCF9F2-1022-4C47-AC3A-FA21E418CE18}" type="slidenum">
              <a:rPr lang="en-US" smtClean="0"/>
              <a:t>99</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990716895"/>
              </p:ext>
            </p:extLst>
          </p:nvPr>
        </p:nvGraphicFramePr>
        <p:xfrm>
          <a:off x="891191" y="1447800"/>
          <a:ext cx="7361618" cy="3657600"/>
        </p:xfrm>
        <a:graphic>
          <a:graphicData uri="http://schemas.openxmlformats.org/drawingml/2006/table">
            <a:tbl>
              <a:tblPr firstRow="1" firstCol="1" bandRow="1">
                <a:tableStyleId>{5C22544A-7EE6-4342-B048-85BDC9FD1C3A}</a:tableStyleId>
              </a:tblPr>
              <a:tblGrid>
                <a:gridCol w="2141728"/>
                <a:gridCol w="3630168"/>
                <a:gridCol w="1589722"/>
              </a:tblGrid>
              <a:tr h="0">
                <a:tc>
                  <a:txBody>
                    <a:bodyPr/>
                    <a:lstStyle/>
                    <a:p>
                      <a:pPr marL="0" marR="0" algn="ctr">
                        <a:lnSpc>
                          <a:spcPct val="100000"/>
                        </a:lnSpc>
                        <a:spcBef>
                          <a:spcPts val="0"/>
                        </a:spcBef>
                        <a:spcAft>
                          <a:spcPts val="0"/>
                        </a:spcAft>
                        <a:tabLst>
                          <a:tab pos="2743200" algn="ctr"/>
                          <a:tab pos="5486400" algn="r"/>
                        </a:tabLst>
                      </a:pPr>
                      <a:r>
                        <a:rPr lang="en-US" sz="2400" dirty="0">
                          <a:solidFill>
                            <a:srgbClr val="002D56"/>
                          </a:solidFill>
                          <a:effectLst/>
                        </a:rPr>
                        <a:t>Assigned </a:t>
                      </a:r>
                    </a:p>
                    <a:p>
                      <a:pPr marL="0" marR="0" algn="ctr">
                        <a:lnSpc>
                          <a:spcPct val="100000"/>
                        </a:lnSpc>
                        <a:spcBef>
                          <a:spcPts val="0"/>
                        </a:spcBef>
                        <a:spcAft>
                          <a:spcPts val="0"/>
                        </a:spcAft>
                        <a:tabLst>
                          <a:tab pos="2743200" algn="ctr"/>
                          <a:tab pos="5486400" algn="r"/>
                        </a:tabLst>
                      </a:pPr>
                      <a:r>
                        <a:rPr lang="en-US" sz="2400" dirty="0">
                          <a:solidFill>
                            <a:srgbClr val="002D56"/>
                          </a:solidFill>
                          <a:effectLst/>
                        </a:rPr>
                        <a:t>Copayment (%)</a:t>
                      </a:r>
                      <a:endParaRPr lang="en-US" sz="2400" b="1"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100000"/>
                        </a:lnSpc>
                        <a:spcBef>
                          <a:spcPts val="0"/>
                        </a:spcBef>
                        <a:spcAft>
                          <a:spcPts val="0"/>
                        </a:spcAft>
                        <a:tabLst>
                          <a:tab pos="2743200" algn="ctr"/>
                          <a:tab pos="5486400" algn="r"/>
                        </a:tabLst>
                      </a:pPr>
                      <a:r>
                        <a:rPr lang="en-US" sz="2400" dirty="0">
                          <a:solidFill>
                            <a:srgbClr val="002D56"/>
                          </a:solidFill>
                          <a:effectLst/>
                        </a:rPr>
                        <a:t>Adjusted Annual Expenditure (1984 $)</a:t>
                      </a:r>
                      <a:endParaRPr lang="en-US" sz="2400" b="1"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100000"/>
                        </a:lnSpc>
                        <a:spcBef>
                          <a:spcPts val="0"/>
                        </a:spcBef>
                        <a:spcAft>
                          <a:spcPts val="0"/>
                        </a:spcAft>
                        <a:tabLst>
                          <a:tab pos="2743200" algn="ctr"/>
                          <a:tab pos="5486400" algn="r"/>
                        </a:tabLst>
                      </a:pPr>
                      <a:r>
                        <a:rPr lang="en-US" sz="2400" dirty="0">
                          <a:solidFill>
                            <a:srgbClr val="002D56"/>
                          </a:solidFill>
                          <a:effectLst/>
                        </a:rPr>
                        <a:t>Individuals</a:t>
                      </a:r>
                      <a:endParaRPr lang="en-US" sz="2400" b="1"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r h="0">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0</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750</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1,893</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r h="0">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25</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617</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1,137</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r h="0">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50</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573</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383</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r h="0">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95</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540</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dirty="0">
                          <a:solidFill>
                            <a:srgbClr val="002D56"/>
                          </a:solidFill>
                          <a:effectLst/>
                        </a:rPr>
                        <a:t>1,120</a:t>
                      </a:r>
                      <a:endParaRPr lang="en-US" sz="2400" dirty="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bl>
          </a:graphicData>
        </a:graphic>
      </p:graphicFrame>
    </p:spTree>
    <p:extLst>
      <p:ext uri="{BB962C8B-B14F-4D97-AF65-F5344CB8AC3E}">
        <p14:creationId xmlns:p14="http://schemas.microsoft.com/office/powerpoint/2010/main" val="235944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2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59832"/>
            <a:ext cx="5486400" cy="4331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143000" y="0"/>
            <a:ext cx="8001000" cy="990600"/>
          </a:xfrm>
        </p:spPr>
        <p:txBody>
          <a:bodyPr/>
          <a:lstStyle/>
          <a:p>
            <a:r>
              <a:rPr lang="en-US" dirty="0" smtClean="0"/>
              <a:t>E18.1	</a:t>
            </a:r>
            <a:r>
              <a:rPr lang="en-US" dirty="0"/>
              <a:t>Welfare Loss from Moral Hazard in Rand </a:t>
            </a:r>
            <a:r>
              <a:rPr lang="en-US" dirty="0" smtClean="0"/>
              <a:t/>
            </a:r>
            <a:br>
              <a:rPr lang="en-US" dirty="0" smtClean="0"/>
            </a:br>
            <a:r>
              <a:rPr lang="en-US" dirty="0"/>
              <a:t>	</a:t>
            </a:r>
            <a:r>
              <a:rPr lang="en-US" dirty="0" smtClean="0">
                <a:solidFill>
                  <a:srgbClr val="002D56"/>
                </a:solidFill>
              </a:rPr>
              <a:t>Health </a:t>
            </a:r>
            <a:r>
              <a:rPr lang="en-US" dirty="0">
                <a:solidFill>
                  <a:srgbClr val="002D56"/>
                </a:solidFill>
              </a:rPr>
              <a:t>Insurance Experiment</a:t>
            </a:r>
          </a:p>
        </p:txBody>
      </p:sp>
      <p:sp>
        <p:nvSpPr>
          <p:cNvPr id="3" name="Content Placeholder 2"/>
          <p:cNvSpPr>
            <a:spLocks noGrp="1"/>
          </p:cNvSpPr>
          <p:nvPr>
            <p:ph sz="half" idx="1"/>
          </p:nvPr>
        </p:nvSpPr>
        <p:spPr>
          <a:xfrm>
            <a:off x="2862751" y="914401"/>
            <a:ext cx="6128849" cy="2743199"/>
          </a:xfrm>
        </p:spPr>
        <p:txBody>
          <a:bodyPr/>
          <a:lstStyle/>
          <a:p>
            <a:r>
              <a:rPr lang="en-US" sz="1700" dirty="0"/>
              <a:t>Filled circles are average expenditures for different copayments from the Manning et al. (1987) study.  Individual consumer </a:t>
            </a:r>
            <a:r>
              <a:rPr lang="en-US" sz="1700" dirty="0" smtClean="0"/>
              <a:t> demand </a:t>
            </a:r>
            <a:r>
              <a:rPr lang="en-US" sz="1700" dirty="0"/>
              <a:t>𝑝(𝑞) estimated as the regression line fitting the circles, weighted by size (proportional to number of observations </a:t>
            </a:r>
            <a:r>
              <a:rPr lang="en-US" sz="1700" dirty="0" smtClean="0"/>
              <a:t>in group</a:t>
            </a:r>
            <a:r>
              <a:rPr lang="en-US" sz="1700" dirty="0"/>
              <a:t>).  Marginal cost curve 𝑚𝑐(𝑞) is a horizontal line of height 1 = 100%.  First-best social welfare equals the area of triangle </a:t>
            </a:r>
            <a:r>
              <a:rPr lang="en-US" sz="1700" dirty="0" smtClean="0"/>
              <a:t> ABC</a:t>
            </a:r>
            <a:r>
              <a:rPr lang="en-US" sz="1700" dirty="0"/>
              <a:t>.  A consumer facing no copayment will overconsume healthcare, leading to deadweight loss equal to the area of triangle </a:t>
            </a:r>
            <a:r>
              <a:rPr lang="en-US" sz="1700" dirty="0" smtClean="0"/>
              <a:t> CDE</a:t>
            </a:r>
            <a:r>
              <a:rPr lang="en-US" sz="1700" dirty="0"/>
              <a:t>.  The deadweight loss from a reduction in copayment from 50% to 25% is shown as the shaded trapezoid.</a:t>
            </a:r>
            <a:endParaRPr lang="en-US" sz="1700" dirty="0"/>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F2BCF9F2-1022-4C47-AC3A-FA21E418CE18}" type="slidenum">
              <a:rPr lang="en-US" smtClean="0"/>
              <a:t>100</a:t>
            </a:fld>
            <a:endParaRPr lang="en-US" dirty="0"/>
          </a:p>
        </p:txBody>
      </p:sp>
    </p:spTree>
    <p:extLst>
      <p:ext uri="{BB962C8B-B14F-4D97-AF65-F5344CB8AC3E}">
        <p14:creationId xmlns:p14="http://schemas.microsoft.com/office/powerpoint/2010/main" val="180349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92194"/>
                                        </p:tgtEl>
                                        <p:attrNameLst>
                                          <p:attrName>style.visibility</p:attrName>
                                        </p:attrNameLst>
                                      </p:cBhvr>
                                      <p:to>
                                        <p:strVal val="visible"/>
                                      </p:to>
                                    </p:set>
                                    <p:animEffect transition="in" filter="wipe(left)">
                                      <p:cBhvr>
                                        <p:cTn id="7" dur="500"/>
                                        <p:tgtEl>
                                          <p:spTgt spid="39219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Moral Hazard in Health Insurance</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101</a:t>
            </a:fld>
            <a:endParaRPr lang="en-US" dirty="0"/>
          </a:p>
        </p:txBody>
      </p:sp>
      <p:sp>
        <p:nvSpPr>
          <p:cNvPr id="5" name="Text Placeholder 4"/>
          <p:cNvSpPr>
            <a:spLocks noGrp="1"/>
          </p:cNvSpPr>
          <p:nvPr>
            <p:ph type="body" sz="quarter" idx="12"/>
          </p:nvPr>
        </p:nvSpPr>
        <p:spPr/>
        <p:txBody>
          <a:bodyPr/>
          <a:lstStyle/>
          <a:p>
            <a:r>
              <a:rPr lang="en-US" dirty="0" smtClean="0"/>
              <a:t>The 2008 Oregon(natural) experiment</a:t>
            </a:r>
          </a:p>
          <a:p>
            <a:pPr lvl="1"/>
            <a:r>
              <a:rPr lang="en-US" dirty="0" smtClean="0"/>
              <a:t>Want </a:t>
            </a:r>
            <a:r>
              <a:rPr lang="en-US" dirty="0"/>
              <a:t>to expand </a:t>
            </a:r>
            <a:r>
              <a:rPr lang="en-US" dirty="0" smtClean="0"/>
              <a:t>Medicaid program </a:t>
            </a:r>
            <a:r>
              <a:rPr lang="en-US" dirty="0"/>
              <a:t>but with facing a tight budget </a:t>
            </a:r>
            <a:r>
              <a:rPr lang="en-US" dirty="0" smtClean="0"/>
              <a:t>constraint</a:t>
            </a:r>
          </a:p>
          <a:p>
            <a:pPr lvl="1"/>
            <a:r>
              <a:rPr lang="en-US" dirty="0" smtClean="0"/>
              <a:t>Use lottery </a:t>
            </a:r>
            <a:r>
              <a:rPr lang="en-US" dirty="0"/>
              <a:t>to allocate the insurance to </a:t>
            </a:r>
            <a:r>
              <a:rPr lang="en-US" dirty="0" smtClean="0"/>
              <a:t>90,000 eligible citizens</a:t>
            </a:r>
          </a:p>
          <a:p>
            <a:pPr lvl="1"/>
            <a:r>
              <a:rPr lang="en-US" dirty="0" smtClean="0"/>
              <a:t>Access </a:t>
            </a:r>
            <a:r>
              <a:rPr lang="en-US" dirty="0"/>
              <a:t>to Medicaid increased healthcare expenditures by $778, about a 25% </a:t>
            </a:r>
            <a:r>
              <a:rPr lang="en-US" dirty="0" smtClean="0"/>
              <a:t>increase</a:t>
            </a:r>
          </a:p>
          <a:p>
            <a:pPr lvl="2"/>
            <a:r>
              <a:rPr lang="en-US" dirty="0" smtClean="0"/>
              <a:t>30 % decrease in self </a:t>
            </a:r>
            <a:r>
              <a:rPr lang="en-US" dirty="0"/>
              <a:t>reports of financial strain </a:t>
            </a:r>
            <a:endParaRPr lang="en-US" dirty="0" smtClean="0"/>
          </a:p>
          <a:p>
            <a:pPr lvl="2"/>
            <a:r>
              <a:rPr lang="en-US" dirty="0" smtClean="0"/>
              <a:t>25% increase in </a:t>
            </a:r>
            <a:r>
              <a:rPr lang="en-US" dirty="0"/>
              <a:t>self reports of being in good health </a:t>
            </a:r>
            <a:endParaRPr lang="en-US" dirty="0" smtClean="0"/>
          </a:p>
          <a:p>
            <a:pPr lvl="1"/>
            <a:r>
              <a:rPr lang="en-US" dirty="0" smtClean="0"/>
              <a:t>Hints from the study: a </a:t>
            </a:r>
            <a:r>
              <a:rPr lang="en-US" dirty="0"/>
              <a:t>lack of insurance may cause underconsumption</a:t>
            </a:r>
          </a:p>
          <a:p>
            <a:pPr lvl="1"/>
            <a:endParaRPr lang="en-US" dirty="0"/>
          </a:p>
        </p:txBody>
      </p:sp>
    </p:spTree>
    <p:extLst>
      <p:ext uri="{BB962C8B-B14F-4D97-AF65-F5344CB8AC3E}">
        <p14:creationId xmlns:p14="http://schemas.microsoft.com/office/powerpoint/2010/main" val="1957041033"/>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Adverse Selection in Health Insurance</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102</a:t>
            </a:fld>
            <a:endParaRPr lang="en-US" dirty="0"/>
          </a:p>
        </p:txBody>
      </p:sp>
      <p:sp>
        <p:nvSpPr>
          <p:cNvPr id="5" name="Text Placeholder 4"/>
          <p:cNvSpPr>
            <a:spLocks noGrp="1"/>
          </p:cNvSpPr>
          <p:nvPr>
            <p:ph type="body" sz="quarter" idx="12"/>
          </p:nvPr>
        </p:nvSpPr>
        <p:spPr/>
        <p:txBody>
          <a:bodyPr/>
          <a:lstStyle/>
          <a:p>
            <a:r>
              <a:rPr lang="en-US" dirty="0" smtClean="0"/>
              <a:t>The Alcoa natural experiment</a:t>
            </a:r>
          </a:p>
          <a:p>
            <a:pPr lvl="1"/>
            <a:r>
              <a:rPr lang="en-US" dirty="0" smtClean="0"/>
              <a:t>7 divisions, </a:t>
            </a:r>
            <a:r>
              <a:rPr lang="en-US" dirty="0"/>
              <a:t>run by different </a:t>
            </a:r>
            <a:r>
              <a:rPr lang="en-US" dirty="0" smtClean="0"/>
              <a:t>managers</a:t>
            </a:r>
          </a:p>
          <a:p>
            <a:pPr lvl="2"/>
            <a:r>
              <a:rPr lang="en-US" dirty="0" smtClean="0"/>
              <a:t>Responsibility: set </a:t>
            </a:r>
            <a:r>
              <a:rPr lang="en-US" dirty="0"/>
              <a:t>the terms of the benefits packages </a:t>
            </a:r>
            <a:endParaRPr lang="en-US" dirty="0" smtClean="0"/>
          </a:p>
          <a:p>
            <a:pPr lvl="2"/>
            <a:r>
              <a:rPr lang="en-US" dirty="0" smtClean="0"/>
              <a:t>Premiums </a:t>
            </a:r>
            <a:r>
              <a:rPr lang="en-US" dirty="0"/>
              <a:t>for two health insurance </a:t>
            </a:r>
            <a:r>
              <a:rPr lang="en-US" dirty="0" smtClean="0"/>
              <a:t>policies:  </a:t>
            </a:r>
            <a:r>
              <a:rPr lang="en-US" dirty="0"/>
              <a:t>a basic policy and a “gold” policy involving fuller insurance and a </a:t>
            </a:r>
            <a:r>
              <a:rPr lang="en-US" dirty="0" smtClean="0"/>
              <a:t>surcharge</a:t>
            </a:r>
          </a:p>
          <a:p>
            <a:pPr lvl="2"/>
            <a:r>
              <a:rPr lang="en-US" dirty="0" smtClean="0"/>
              <a:t>Price </a:t>
            </a:r>
            <a:r>
              <a:rPr lang="en-US" dirty="0"/>
              <a:t>variation across </a:t>
            </a:r>
            <a:r>
              <a:rPr lang="en-US" dirty="0" smtClean="0"/>
              <a:t>divisions, fairly random</a:t>
            </a:r>
            <a:endParaRPr lang="en-US" dirty="0"/>
          </a:p>
        </p:txBody>
      </p:sp>
    </p:spTree>
    <p:extLst>
      <p:ext uri="{BB962C8B-B14F-4D97-AF65-F5344CB8AC3E}">
        <p14:creationId xmlns:p14="http://schemas.microsoft.com/office/powerpoint/2010/main" val="316315355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Adverse Selection in Health Insurance</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103</a:t>
            </a:fld>
            <a:endParaRPr lang="en-US" dirty="0"/>
          </a:p>
        </p:txBody>
      </p:sp>
      <p:sp>
        <p:nvSpPr>
          <p:cNvPr id="5" name="Text Placeholder 4"/>
          <p:cNvSpPr>
            <a:spLocks noGrp="1"/>
          </p:cNvSpPr>
          <p:nvPr>
            <p:ph type="body" sz="quarter" idx="12"/>
          </p:nvPr>
        </p:nvSpPr>
        <p:spPr/>
        <p:txBody>
          <a:bodyPr/>
          <a:lstStyle/>
          <a:p>
            <a:r>
              <a:rPr lang="en-US" dirty="0" smtClean="0"/>
              <a:t>The Alcoa natural experiment</a:t>
            </a:r>
          </a:p>
          <a:p>
            <a:pPr lvl="1"/>
            <a:r>
              <a:rPr lang="en-US" dirty="0" smtClean="0"/>
              <a:t>Demand curve for gold policy, P(Q) = 1,081-1,023Q</a:t>
            </a:r>
          </a:p>
          <a:p>
            <a:pPr lvl="1"/>
            <a:r>
              <a:rPr lang="en-US" dirty="0"/>
              <a:t>Average cost of serving consumers selecting the gold policy </a:t>
            </a:r>
            <a:r>
              <a:rPr lang="en-US" dirty="0" smtClean="0"/>
              <a:t>, AC(Q) = 585 – 198Q </a:t>
            </a:r>
          </a:p>
          <a:p>
            <a:pPr lvl="1"/>
            <a:r>
              <a:rPr lang="en-US" dirty="0" smtClean="0"/>
              <a:t>Adverse selection: AC(Q</a:t>
            </a:r>
            <a:r>
              <a:rPr lang="en-US" dirty="0"/>
              <a:t>) is downward </a:t>
            </a:r>
            <a:r>
              <a:rPr lang="en-US" dirty="0" smtClean="0"/>
              <a:t>sloping</a:t>
            </a:r>
          </a:p>
          <a:p>
            <a:pPr lvl="1"/>
            <a:r>
              <a:rPr lang="en-US" dirty="0" smtClean="0"/>
              <a:t>Equilibrium: P(Q) = AC(Q)</a:t>
            </a:r>
          </a:p>
          <a:p>
            <a:pPr lvl="2"/>
            <a:r>
              <a:rPr lang="en-US" dirty="0" smtClean="0"/>
              <a:t>Q</a:t>
            </a:r>
            <a:r>
              <a:rPr lang="en-US" baseline="-25000" dirty="0" smtClean="0"/>
              <a:t>c</a:t>
            </a:r>
            <a:r>
              <a:rPr lang="en-US" dirty="0" smtClean="0"/>
              <a:t> = 60%, not efficient</a:t>
            </a:r>
          </a:p>
          <a:p>
            <a:pPr lvl="1"/>
            <a:r>
              <a:rPr lang="en-US" dirty="0" smtClean="0"/>
              <a:t>First best: P(Q) = MC(Q)</a:t>
            </a:r>
          </a:p>
          <a:p>
            <a:pPr lvl="1"/>
            <a:r>
              <a:rPr lang="en-US" dirty="0" smtClean="0"/>
              <a:t>Deadweight loss from undersupply: $12</a:t>
            </a:r>
          </a:p>
          <a:p>
            <a:pPr lvl="1"/>
            <a:endParaRPr lang="en-US" dirty="0" smtClean="0"/>
          </a:p>
          <a:p>
            <a:pPr lvl="1"/>
            <a:endParaRPr lang="en-US" dirty="0"/>
          </a:p>
        </p:txBody>
      </p:sp>
    </p:spTree>
    <p:extLst>
      <p:ext uri="{BB962C8B-B14F-4D97-AF65-F5344CB8AC3E}">
        <p14:creationId xmlns:p14="http://schemas.microsoft.com/office/powerpoint/2010/main" val="148113258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18.3 Key results from Alcoa experiment</a:t>
            </a:r>
            <a:endParaRPr lang="en-US" dirty="0"/>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F2BCF9F2-1022-4C47-AC3A-FA21E418CE18}" type="slidenum">
              <a:rPr lang="en-US" smtClean="0"/>
              <a:t>104</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217035383"/>
              </p:ext>
            </p:extLst>
          </p:nvPr>
        </p:nvGraphicFramePr>
        <p:xfrm>
          <a:off x="716439" y="1051560"/>
          <a:ext cx="7711122" cy="4754880"/>
        </p:xfrm>
        <a:graphic>
          <a:graphicData uri="http://schemas.openxmlformats.org/drawingml/2006/table">
            <a:tbl>
              <a:tblPr firstRow="1" firstCol="1" bandRow="1">
                <a:tableStyleId>{5C22544A-7EE6-4342-B048-85BDC9FD1C3A}</a:tableStyleId>
              </a:tblPr>
              <a:tblGrid>
                <a:gridCol w="2667000"/>
                <a:gridCol w="2161159"/>
                <a:gridCol w="1293241"/>
                <a:gridCol w="1589722"/>
              </a:tblGrid>
              <a:tr h="0">
                <a:tc>
                  <a:txBody>
                    <a:bodyPr/>
                    <a:lstStyle/>
                    <a:p>
                      <a:pPr marL="0" marR="0" algn="ctr">
                        <a:lnSpc>
                          <a:spcPct val="100000"/>
                        </a:lnSpc>
                        <a:spcBef>
                          <a:spcPts val="0"/>
                        </a:spcBef>
                        <a:spcAft>
                          <a:spcPts val="0"/>
                        </a:spcAft>
                        <a:tabLst>
                          <a:tab pos="2743200" algn="ctr"/>
                          <a:tab pos="5486400" algn="r"/>
                        </a:tabLst>
                      </a:pPr>
                      <a:r>
                        <a:rPr lang="en-US" sz="2400" dirty="0">
                          <a:solidFill>
                            <a:srgbClr val="002D56"/>
                          </a:solidFill>
                          <a:effectLst/>
                        </a:rPr>
                        <a:t>Premium Difference </a:t>
                      </a:r>
                      <a:endParaRPr lang="en-US" sz="2400" dirty="0" smtClean="0">
                        <a:solidFill>
                          <a:srgbClr val="002D56"/>
                        </a:solidFill>
                        <a:effectLst/>
                      </a:endParaRPr>
                    </a:p>
                    <a:p>
                      <a:pPr marL="0" marR="0" algn="ctr">
                        <a:lnSpc>
                          <a:spcPct val="100000"/>
                        </a:lnSpc>
                        <a:spcBef>
                          <a:spcPts val="0"/>
                        </a:spcBef>
                        <a:spcAft>
                          <a:spcPts val="0"/>
                        </a:spcAft>
                        <a:tabLst>
                          <a:tab pos="2743200" algn="ctr"/>
                          <a:tab pos="5486400" algn="r"/>
                        </a:tabLst>
                      </a:pPr>
                      <a:r>
                        <a:rPr lang="en-US" sz="2400" dirty="0" smtClean="0">
                          <a:solidFill>
                            <a:srgbClr val="002D56"/>
                          </a:solidFill>
                          <a:effectLst/>
                        </a:rPr>
                        <a:t>(</a:t>
                      </a:r>
                      <a:r>
                        <a:rPr lang="en-US" sz="2400" dirty="0">
                          <a:solidFill>
                            <a:srgbClr val="002D56"/>
                          </a:solidFill>
                          <a:effectLst/>
                        </a:rPr>
                        <a:t>2004 $)</a:t>
                      </a:r>
                      <a:endParaRPr lang="en-US" sz="2400" b="1"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100000"/>
                        </a:lnSpc>
                        <a:spcBef>
                          <a:spcPts val="0"/>
                        </a:spcBef>
                        <a:spcAft>
                          <a:spcPts val="0"/>
                        </a:spcAft>
                        <a:tabLst>
                          <a:tab pos="2743200" algn="ctr"/>
                          <a:tab pos="5486400" algn="r"/>
                        </a:tabLst>
                      </a:pPr>
                      <a:r>
                        <a:rPr lang="en-US" sz="2400" dirty="0">
                          <a:solidFill>
                            <a:srgbClr val="002D56"/>
                          </a:solidFill>
                          <a:effectLst/>
                        </a:rPr>
                        <a:t>Fraction Choosing “Gold” Contract</a:t>
                      </a:r>
                      <a:endParaRPr lang="en-US" sz="2400" b="1" dirty="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100000"/>
                        </a:lnSpc>
                        <a:spcBef>
                          <a:spcPts val="0"/>
                        </a:spcBef>
                        <a:spcAft>
                          <a:spcPts val="0"/>
                        </a:spcAft>
                        <a:tabLst>
                          <a:tab pos="2743200" algn="ctr"/>
                          <a:tab pos="5486400" algn="r"/>
                        </a:tabLst>
                      </a:pPr>
                      <a:r>
                        <a:rPr lang="en-US" sz="2400" dirty="0">
                          <a:solidFill>
                            <a:srgbClr val="002D56"/>
                          </a:solidFill>
                          <a:effectLst/>
                        </a:rPr>
                        <a:t>Average </a:t>
                      </a:r>
                      <a:endParaRPr lang="en-US" sz="2400" dirty="0" smtClean="0">
                        <a:solidFill>
                          <a:srgbClr val="002D56"/>
                        </a:solidFill>
                        <a:effectLst/>
                      </a:endParaRPr>
                    </a:p>
                    <a:p>
                      <a:pPr marL="0" marR="0" algn="ctr">
                        <a:lnSpc>
                          <a:spcPct val="100000"/>
                        </a:lnSpc>
                        <a:spcBef>
                          <a:spcPts val="0"/>
                        </a:spcBef>
                        <a:spcAft>
                          <a:spcPts val="0"/>
                        </a:spcAft>
                        <a:tabLst>
                          <a:tab pos="2743200" algn="ctr"/>
                          <a:tab pos="5486400" algn="r"/>
                        </a:tabLst>
                      </a:pPr>
                      <a:r>
                        <a:rPr lang="en-US" sz="2400" dirty="0" smtClean="0">
                          <a:solidFill>
                            <a:srgbClr val="002D56"/>
                          </a:solidFill>
                          <a:effectLst/>
                        </a:rPr>
                        <a:t>Cost </a:t>
                      </a:r>
                    </a:p>
                    <a:p>
                      <a:pPr marL="0" marR="0" algn="ctr">
                        <a:lnSpc>
                          <a:spcPct val="100000"/>
                        </a:lnSpc>
                        <a:spcBef>
                          <a:spcPts val="0"/>
                        </a:spcBef>
                        <a:spcAft>
                          <a:spcPts val="0"/>
                        </a:spcAft>
                        <a:tabLst>
                          <a:tab pos="2743200" algn="ctr"/>
                          <a:tab pos="5486400" algn="r"/>
                        </a:tabLst>
                      </a:pPr>
                      <a:r>
                        <a:rPr lang="en-US" sz="2400" dirty="0" smtClean="0">
                          <a:solidFill>
                            <a:srgbClr val="002D56"/>
                          </a:solidFill>
                          <a:effectLst/>
                        </a:rPr>
                        <a:t>(</a:t>
                      </a:r>
                      <a:r>
                        <a:rPr lang="en-US" sz="2400" dirty="0">
                          <a:solidFill>
                            <a:srgbClr val="002D56"/>
                          </a:solidFill>
                          <a:effectLst/>
                        </a:rPr>
                        <a:t>2004 $)</a:t>
                      </a:r>
                      <a:endParaRPr lang="en-US" sz="2400" b="1"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100000"/>
                        </a:lnSpc>
                        <a:spcBef>
                          <a:spcPts val="0"/>
                        </a:spcBef>
                        <a:spcAft>
                          <a:spcPts val="0"/>
                        </a:spcAft>
                        <a:tabLst>
                          <a:tab pos="2743200" algn="ctr"/>
                          <a:tab pos="5486400" algn="r"/>
                        </a:tabLst>
                      </a:pPr>
                      <a:r>
                        <a:rPr lang="en-US" sz="2400" dirty="0">
                          <a:solidFill>
                            <a:srgbClr val="002D56"/>
                          </a:solidFill>
                          <a:effectLst/>
                        </a:rPr>
                        <a:t>Individuals</a:t>
                      </a:r>
                      <a:endParaRPr lang="en-US" sz="2400" b="1"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r h="0">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384</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dirty="0">
                          <a:solidFill>
                            <a:srgbClr val="002D56"/>
                          </a:solidFill>
                          <a:effectLst/>
                        </a:rPr>
                        <a:t>0.67</a:t>
                      </a:r>
                      <a:endParaRPr lang="en-US" sz="2400" dirty="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dirty="0">
                          <a:solidFill>
                            <a:srgbClr val="002D56"/>
                          </a:solidFill>
                          <a:effectLst/>
                        </a:rPr>
                        <a:t>451</a:t>
                      </a:r>
                      <a:endParaRPr lang="en-US" sz="2400"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2,939</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r h="0">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466</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0.66</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dirty="0">
                          <a:solidFill>
                            <a:srgbClr val="002D56"/>
                          </a:solidFill>
                          <a:effectLst/>
                        </a:rPr>
                        <a:t>499</a:t>
                      </a:r>
                      <a:endParaRPr lang="en-US" sz="2400"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67</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r h="0">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495</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0.64</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dirty="0">
                          <a:solidFill>
                            <a:srgbClr val="002D56"/>
                          </a:solidFill>
                          <a:effectLst/>
                        </a:rPr>
                        <a:t>459</a:t>
                      </a:r>
                      <a:endParaRPr lang="en-US" sz="2400"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526</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r h="0">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570</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0.46</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dirty="0">
                          <a:solidFill>
                            <a:srgbClr val="002D56"/>
                          </a:solidFill>
                          <a:effectLst/>
                        </a:rPr>
                        <a:t>493</a:t>
                      </a:r>
                      <a:endParaRPr lang="en-US" sz="2400" dirty="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dirty="0">
                          <a:solidFill>
                            <a:srgbClr val="002D56"/>
                          </a:solidFill>
                          <a:effectLst/>
                        </a:rPr>
                        <a:t>199</a:t>
                      </a:r>
                      <a:endParaRPr lang="en-US" sz="2400" dirty="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r h="0">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659</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0.49</a:t>
                      </a:r>
                      <a:endParaRPr lang="en-US" sz="240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a:solidFill>
                            <a:srgbClr val="002D56"/>
                          </a:solidFill>
                          <a:effectLst/>
                        </a:rPr>
                        <a:t>489</a:t>
                      </a:r>
                      <a:endParaRPr lang="en-US" sz="2400">
                        <a:solidFill>
                          <a:srgbClr val="002D56"/>
                        </a:solidFill>
                        <a:effectLst/>
                        <a:latin typeface="Times New Roman"/>
                        <a:ea typeface="Times New Roman"/>
                      </a:endParaRPr>
                    </a:p>
                  </a:txBody>
                  <a:tcPr marL="68580" marR="6858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c>
                  <a:txBody>
                    <a:bodyPr/>
                    <a:lstStyle/>
                    <a:p>
                      <a:pPr marL="0" marR="0" algn="ctr">
                        <a:lnSpc>
                          <a:spcPct val="200000"/>
                        </a:lnSpc>
                        <a:spcBef>
                          <a:spcPts val="0"/>
                        </a:spcBef>
                        <a:spcAft>
                          <a:spcPts val="0"/>
                        </a:spcAft>
                        <a:tabLst>
                          <a:tab pos="2743200" algn="ctr"/>
                          <a:tab pos="5486400" algn="r"/>
                        </a:tabLst>
                      </a:pPr>
                      <a:r>
                        <a:rPr lang="en-US" sz="2400" dirty="0">
                          <a:solidFill>
                            <a:srgbClr val="002D56"/>
                          </a:solidFill>
                          <a:effectLst/>
                        </a:rPr>
                        <a:t>41</a:t>
                      </a:r>
                      <a:endParaRPr lang="en-US" sz="2400" dirty="0">
                        <a:solidFill>
                          <a:srgbClr val="002D56"/>
                        </a:solidFill>
                        <a:effectLst/>
                        <a:latin typeface="Times New Roman"/>
                        <a:ea typeface="Times New Roman"/>
                      </a:endParaRPr>
                    </a:p>
                  </a:txBody>
                  <a:tcPr marL="68580" marR="6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2"/>
                      <a:stretch>
                        <a:fillRect/>
                      </a:stretch>
                    </a:blipFill>
                  </a:tcPr>
                </a:tc>
              </a:tr>
            </a:tbl>
          </a:graphicData>
        </a:graphic>
      </p:graphicFrame>
    </p:spTree>
    <p:extLst>
      <p:ext uri="{BB962C8B-B14F-4D97-AF65-F5344CB8AC3E}">
        <p14:creationId xmlns:p14="http://schemas.microsoft.com/office/powerpoint/2010/main" val="4059591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3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19200"/>
            <a:ext cx="5576880" cy="4776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143000" y="0"/>
            <a:ext cx="8001000" cy="990600"/>
          </a:xfrm>
        </p:spPr>
        <p:txBody>
          <a:bodyPr>
            <a:noAutofit/>
          </a:bodyPr>
          <a:lstStyle/>
          <a:p>
            <a:r>
              <a:rPr lang="en-US" dirty="0" smtClean="0"/>
              <a:t>E18.2	</a:t>
            </a:r>
            <a:r>
              <a:rPr lang="en-US" dirty="0"/>
              <a:t>Welfare Loss from Adverse Selection in </a:t>
            </a:r>
            <a:r>
              <a:rPr lang="en-US" dirty="0" smtClean="0"/>
              <a:t/>
            </a:r>
            <a:br>
              <a:rPr lang="en-US" dirty="0" smtClean="0"/>
            </a:br>
            <a:r>
              <a:rPr lang="en-US" dirty="0"/>
              <a:t>	</a:t>
            </a:r>
            <a:r>
              <a:rPr lang="en-US" dirty="0" smtClean="0">
                <a:solidFill>
                  <a:srgbClr val="002D56"/>
                </a:solidFill>
              </a:rPr>
              <a:t>Alcoa </a:t>
            </a:r>
            <a:r>
              <a:rPr lang="en-US" dirty="0">
                <a:solidFill>
                  <a:srgbClr val="002D56"/>
                </a:solidFill>
              </a:rPr>
              <a:t>Experiment</a:t>
            </a:r>
            <a:endParaRPr lang="en-US" dirty="0">
              <a:solidFill>
                <a:srgbClr val="002D56"/>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sz="half" idx="1"/>
              </p:nvPr>
            </p:nvSpPr>
            <p:spPr>
              <a:xfrm>
                <a:off x="5708784" y="914400"/>
                <a:ext cx="3435215" cy="5449366"/>
              </a:xfrm>
            </p:spPr>
            <p:txBody>
              <a:bodyPr/>
              <a:lstStyle/>
              <a:p>
                <a:r>
                  <a:rPr lang="en-US" sz="1700" dirty="0">
                    <a:latin typeface="Arial" pitchFamily="34" charset="0"/>
                    <a:cs typeface="Arial" pitchFamily="34" charset="0"/>
                  </a:rPr>
                  <a:t>Filled circles are percentage of employees taking up “gold” policy at surcharge in each Alcoa division in </a:t>
                </a:r>
                <a:r>
                  <a:rPr lang="en-US" sz="1700" dirty="0" err="1">
                    <a:latin typeface="Arial" pitchFamily="34" charset="0"/>
                    <a:cs typeface="Arial" pitchFamily="34" charset="0"/>
                  </a:rPr>
                  <a:t>Einav</a:t>
                </a:r>
                <a:r>
                  <a:rPr lang="en-US" sz="1700" dirty="0">
                    <a:latin typeface="Arial" pitchFamily="34" charset="0"/>
                    <a:cs typeface="Arial" pitchFamily="34" charset="0"/>
                  </a:rPr>
                  <a:t>, Finkelstein, </a:t>
                </a:r>
                <a:r>
                  <a:rPr lang="en-US" sz="1700" dirty="0" smtClean="0">
                    <a:latin typeface="Arial" pitchFamily="34" charset="0"/>
                    <a:cs typeface="Arial" pitchFamily="34" charset="0"/>
                  </a:rPr>
                  <a:t>and Cullen </a:t>
                </a:r>
                <a:r>
                  <a:rPr lang="en-US" sz="1700" dirty="0">
                    <a:latin typeface="Arial" pitchFamily="34" charset="0"/>
                    <a:cs typeface="Arial" pitchFamily="34" charset="0"/>
                  </a:rPr>
                  <a:t>(2010) study.  </a:t>
                </a:r>
                <a:r>
                  <a:rPr lang="en-US" sz="1700" dirty="0">
                    <a:latin typeface="Arial" pitchFamily="34" charset="0"/>
                    <a:cs typeface="Arial" pitchFamily="34" charset="0"/>
                  </a:rPr>
                  <a:t>Open circles are average cost of serving consumers selecting “gold” policy in division.  </a:t>
                </a:r>
                <a:r>
                  <a:rPr lang="en-US" sz="1700" dirty="0">
                    <a:latin typeface="Arial" pitchFamily="34" charset="0"/>
                    <a:cs typeface="Arial" pitchFamily="34" charset="0"/>
                  </a:rPr>
                  <a:t>Circle size proportional </a:t>
                </a:r>
                <a:r>
                  <a:rPr lang="en-US" sz="1700" dirty="0" smtClean="0">
                    <a:latin typeface="Arial" pitchFamily="34" charset="0"/>
                    <a:cs typeface="Arial" pitchFamily="34" charset="0"/>
                  </a:rPr>
                  <a:t>to </a:t>
                </a:r>
                <a:r>
                  <a:rPr lang="en-US" sz="1700" dirty="0">
                    <a:latin typeface="Arial" pitchFamily="34" charset="0"/>
                    <a:cs typeface="Arial" pitchFamily="34" charset="0"/>
                  </a:rPr>
                  <a:t>log of observations in division.  </a:t>
                </a:r>
                <a:r>
                  <a:rPr lang="en-US" sz="1700" dirty="0">
                    <a:latin typeface="Arial" pitchFamily="34" charset="0"/>
                    <a:cs typeface="Arial" pitchFamily="34" charset="0"/>
                  </a:rPr>
                  <a:t>Solid demand curve </a:t>
                </a:r>
                <a14:m>
                  <m:oMath xmlns:m="http://schemas.openxmlformats.org/officeDocument/2006/math">
                    <m:r>
                      <a:rPr lang="en-US" sz="1700" i="1">
                        <a:latin typeface="Cambria Math"/>
                        <a:cs typeface="Arial" pitchFamily="34" charset="0"/>
                      </a:rPr>
                      <m:t>𝑃</m:t>
                    </m:r>
                    <m:r>
                      <a:rPr lang="en-US" sz="1700" i="1">
                        <a:latin typeface="Cambria Math"/>
                        <a:cs typeface="Arial" pitchFamily="34" charset="0"/>
                      </a:rPr>
                      <m:t>(</m:t>
                    </m:r>
                    <m:r>
                      <a:rPr lang="en-US" sz="1700" i="1">
                        <a:latin typeface="Cambria Math"/>
                        <a:cs typeface="Arial" pitchFamily="34" charset="0"/>
                      </a:rPr>
                      <m:t>𝑄</m:t>
                    </m:r>
                    <m:r>
                      <a:rPr lang="en-US" sz="1700" i="1">
                        <a:latin typeface="Cambria Math"/>
                        <a:cs typeface="Arial" pitchFamily="34" charset="0"/>
                      </a:rPr>
                      <m:t>)</m:t>
                    </m:r>
                  </m:oMath>
                </a14:m>
                <a:r>
                  <a:rPr lang="en-US" sz="1700" dirty="0">
                    <a:latin typeface="Arial" pitchFamily="34" charset="0"/>
                    <a:cs typeface="Arial" pitchFamily="34" charset="0"/>
                  </a:rPr>
                  <a:t> fitted to filled circles.  Dotted average cost curve </a:t>
                </a:r>
                <a14:m>
                  <m:oMath xmlns:m="http://schemas.openxmlformats.org/officeDocument/2006/math">
                    <m:r>
                      <a:rPr lang="en-US" sz="1700" i="1">
                        <a:latin typeface="Cambria Math"/>
                        <a:cs typeface="Arial" pitchFamily="34" charset="0"/>
                      </a:rPr>
                      <m:t>𝐴𝐶</m:t>
                    </m:r>
                    <m:r>
                      <a:rPr lang="en-US" sz="1700" i="1">
                        <a:latin typeface="Cambria Math"/>
                        <a:cs typeface="Arial" pitchFamily="34" charset="0"/>
                      </a:rPr>
                      <m:t>(</m:t>
                    </m:r>
                    <m:r>
                      <a:rPr lang="en-US" sz="1700" i="1">
                        <a:latin typeface="Cambria Math"/>
                        <a:cs typeface="Arial" pitchFamily="34" charset="0"/>
                      </a:rPr>
                      <m:t>𝑄</m:t>
                    </m:r>
                    <m:r>
                      <a:rPr lang="en-US" sz="1700" i="1">
                        <a:latin typeface="Cambria Math"/>
                        <a:cs typeface="Arial" pitchFamily="34" charset="0"/>
                      </a:rPr>
                      <m:t>)</m:t>
                    </m:r>
                  </m:oMath>
                </a14:m>
                <a:r>
                  <a:rPr lang="en-US" sz="1700" dirty="0">
                    <a:latin typeface="Arial" pitchFamily="34" charset="0"/>
                    <a:cs typeface="Arial" pitchFamily="34" charset="0"/>
                  </a:rPr>
                  <a:t> fitted to open </a:t>
                </a:r>
                <a:r>
                  <a:rPr lang="en-US" sz="1700" dirty="0" smtClean="0">
                    <a:latin typeface="Arial" pitchFamily="34" charset="0"/>
                    <a:cs typeface="Arial" pitchFamily="34" charset="0"/>
                  </a:rPr>
                  <a:t>circles</a:t>
                </a:r>
                <a:r>
                  <a:rPr lang="en-US" sz="1700" dirty="0">
                    <a:latin typeface="Arial" pitchFamily="34" charset="0"/>
                    <a:cs typeface="Arial" pitchFamily="34" charset="0"/>
                  </a:rPr>
                  <a:t>; its downward slope indicates presence of adverse selection.  First-best social welfare equals area of triangle </a:t>
                </a:r>
                <a:r>
                  <a:rPr lang="en-US" sz="1700" i="1" dirty="0">
                    <a:latin typeface="Arial" pitchFamily="34" charset="0"/>
                    <a:cs typeface="Arial" pitchFamily="34" charset="0"/>
                  </a:rPr>
                  <a:t>ACE</a:t>
                </a:r>
                <a:r>
                  <a:rPr lang="en-US" sz="1700" dirty="0">
                    <a:latin typeface="Arial" pitchFamily="34" charset="0"/>
                    <a:cs typeface="Arial" pitchFamily="34" charset="0"/>
                  </a:rPr>
                  <a:t>.   </a:t>
                </a:r>
                <a:r>
                  <a:rPr lang="en-US" sz="1700" dirty="0" smtClean="0">
                    <a:latin typeface="Arial" pitchFamily="34" charset="0"/>
                    <a:cs typeface="Arial" pitchFamily="34" charset="0"/>
                  </a:rPr>
                  <a:t>Competitive </a:t>
                </a:r>
                <a:r>
                  <a:rPr lang="en-US" sz="1700" dirty="0">
                    <a:latin typeface="Arial" pitchFamily="34" charset="0"/>
                    <a:cs typeface="Arial" pitchFamily="34" charset="0"/>
                  </a:rPr>
                  <a:t>market undersupplies insurance, leading to deadweight loss equal to the area of triangle </a:t>
                </a:r>
                <a:r>
                  <a:rPr lang="en-US" sz="1700" i="1" dirty="0">
                    <a:latin typeface="Arial" pitchFamily="34" charset="0"/>
                    <a:cs typeface="Arial" pitchFamily="34" charset="0"/>
                  </a:rPr>
                  <a:t>BCD</a:t>
                </a:r>
                <a:r>
                  <a:rPr lang="en-US" sz="1700" dirty="0">
                    <a:latin typeface="Arial" pitchFamily="34" charset="0"/>
                    <a:cs typeface="Arial" pitchFamily="34" charset="0"/>
                  </a:rPr>
                  <a:t>.</a:t>
                </a:r>
              </a:p>
              <a:p>
                <a:endParaRPr lang="en-US" sz="1700" dirty="0"/>
              </a:p>
            </p:txBody>
          </p:sp>
        </mc:Choice>
        <mc:Fallback>
          <p:sp>
            <p:nvSpPr>
              <p:cNvPr id="3" name="Content Placeholder 2"/>
              <p:cNvSpPr>
                <a:spLocks noGrp="1" noRot="1" noChangeAspect="1" noMove="1" noResize="1" noEditPoints="1" noAdjustHandles="1" noChangeArrowheads="1" noChangeShapeType="1" noTextEdit="1"/>
              </p:cNvSpPr>
              <p:nvPr>
                <p:ph sz="half" idx="1"/>
              </p:nvPr>
            </p:nvSpPr>
            <p:spPr>
              <a:xfrm>
                <a:off x="5708784" y="914400"/>
                <a:ext cx="3435215" cy="5449366"/>
              </a:xfrm>
              <a:blipFill rotWithShape="1">
                <a:blip r:embed="rId3"/>
                <a:stretch>
                  <a:fillRect l="-1064" t="-336" r="-2660" b="-3020"/>
                </a:stretch>
              </a:blipFill>
            </p:spPr>
            <p:txBody>
              <a:bodyPr/>
              <a:lstStyle/>
              <a:p>
                <a:r>
                  <a:rPr lang="en-US">
                    <a:noFill/>
                  </a:rPr>
                  <a:t> </a:t>
                </a:r>
              </a:p>
            </p:txBody>
          </p:sp>
        </mc:Fallback>
      </mc:AlternateContent>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F2BCF9F2-1022-4C47-AC3A-FA21E418CE18}" type="slidenum">
              <a:rPr lang="en-US" smtClean="0"/>
              <a:t>105</a:t>
            </a:fld>
            <a:endParaRPr lang="en-US" dirty="0"/>
          </a:p>
        </p:txBody>
      </p:sp>
    </p:spTree>
    <p:extLst>
      <p:ext uri="{BB962C8B-B14F-4D97-AF65-F5344CB8AC3E}">
        <p14:creationId xmlns:p14="http://schemas.microsoft.com/office/powerpoint/2010/main" val="369004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93218"/>
                                        </p:tgtEl>
                                        <p:attrNameLst>
                                          <p:attrName>style.visibility</p:attrName>
                                        </p:attrNameLst>
                                      </p:cBhvr>
                                      <p:to>
                                        <p:strVal val="visible"/>
                                      </p:to>
                                    </p:set>
                                    <p:animEffect transition="in" filter="wipe(left)">
                                      <p:cBhvr>
                                        <p:cTn id="7" dur="500"/>
                                        <p:tgtEl>
                                          <p:spTgt spid="3932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left)">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Asymmetric Information in Consumer Credit </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106</a:t>
            </a:fld>
            <a:endParaRPr lang="en-US" dirty="0"/>
          </a:p>
        </p:txBody>
      </p:sp>
      <p:sp>
        <p:nvSpPr>
          <p:cNvPr id="5" name="Text Placeholder 4"/>
          <p:cNvSpPr>
            <a:spLocks noGrp="1"/>
          </p:cNvSpPr>
          <p:nvPr>
            <p:ph type="body" sz="quarter" idx="12"/>
          </p:nvPr>
        </p:nvSpPr>
        <p:spPr/>
        <p:txBody>
          <a:bodyPr/>
          <a:lstStyle/>
          <a:p>
            <a:r>
              <a:rPr lang="en-US" dirty="0"/>
              <a:t>A high interest rate </a:t>
            </a:r>
            <a:endParaRPr lang="en-US" dirty="0" smtClean="0"/>
          </a:p>
          <a:p>
            <a:pPr lvl="1"/>
            <a:r>
              <a:rPr lang="en-US" dirty="0" smtClean="0"/>
              <a:t>Adverse selection: attracts </a:t>
            </a:r>
            <a:r>
              <a:rPr lang="en-US" dirty="0"/>
              <a:t>only those high-risk borrowers unfazed by the interest rate because they are unlikely to pay the loan back in any </a:t>
            </a:r>
            <a:r>
              <a:rPr lang="en-US" dirty="0" smtClean="0"/>
              <a:t>event</a:t>
            </a:r>
          </a:p>
          <a:p>
            <a:pPr lvl="1"/>
            <a:r>
              <a:rPr lang="en-US" dirty="0" smtClean="0"/>
              <a:t>Moral </a:t>
            </a:r>
            <a:r>
              <a:rPr lang="en-US" dirty="0"/>
              <a:t>hazard:  why work hard and live frugally if most of the benefit is siphoned off by burdensome repayments? </a:t>
            </a:r>
            <a:endParaRPr lang="en-US" dirty="0" smtClean="0"/>
          </a:p>
          <a:p>
            <a:pPr lvl="1"/>
            <a:r>
              <a:rPr lang="en-US" dirty="0" smtClean="0"/>
              <a:t>More defaults </a:t>
            </a:r>
            <a:r>
              <a:rPr lang="en-US" dirty="0"/>
              <a:t>through a simple liquidity effect:  higher interest rates lead to higher repayments, which may be difficult to afford on a given budget</a:t>
            </a:r>
          </a:p>
        </p:txBody>
      </p:sp>
    </p:spTree>
    <p:extLst>
      <p:ext uri="{BB962C8B-B14F-4D97-AF65-F5344CB8AC3E}">
        <p14:creationId xmlns:p14="http://schemas.microsoft.com/office/powerpoint/2010/main" val="3039046232"/>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Asymmetric Information in Consumer Credit </a:t>
            </a:r>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107</a:t>
            </a:fld>
            <a:endParaRPr lang="en-US" dirty="0"/>
          </a:p>
        </p:txBody>
      </p:sp>
      <p:sp>
        <p:nvSpPr>
          <p:cNvPr id="5" name="Text Placeholder 4"/>
          <p:cNvSpPr>
            <a:spLocks noGrp="1"/>
          </p:cNvSpPr>
          <p:nvPr>
            <p:ph type="body" sz="quarter" idx="12"/>
          </p:nvPr>
        </p:nvSpPr>
        <p:spPr/>
        <p:txBody>
          <a:bodyPr/>
          <a:lstStyle/>
          <a:p>
            <a:r>
              <a:rPr lang="en-US" dirty="0" smtClean="0"/>
              <a:t>Miro-lending in South Africa, field experiment</a:t>
            </a:r>
          </a:p>
          <a:p>
            <a:pPr lvl="1"/>
            <a:r>
              <a:rPr lang="en-US" dirty="0" smtClean="0"/>
              <a:t>4,000 customers; high-interest rates</a:t>
            </a:r>
          </a:p>
          <a:p>
            <a:pPr lvl="1"/>
            <a:r>
              <a:rPr lang="en-US" dirty="0" smtClean="0"/>
              <a:t>Randomly </a:t>
            </a:r>
            <a:r>
              <a:rPr lang="en-US" dirty="0"/>
              <a:t>selected customers </a:t>
            </a:r>
            <a:r>
              <a:rPr lang="en-US" dirty="0" smtClean="0"/>
              <a:t>receive </a:t>
            </a:r>
            <a:r>
              <a:rPr lang="en-US" dirty="0"/>
              <a:t>one of three different interest rates </a:t>
            </a:r>
            <a:endParaRPr lang="en-US" dirty="0" smtClean="0"/>
          </a:p>
          <a:p>
            <a:pPr lvl="2"/>
            <a:r>
              <a:rPr lang="en-US" dirty="0" smtClean="0"/>
              <a:t>Had little effect on probability of default </a:t>
            </a:r>
          </a:p>
          <a:p>
            <a:pPr lvl="1"/>
            <a:r>
              <a:rPr lang="en-US" dirty="0" smtClean="0"/>
              <a:t>Randomized surprise reward </a:t>
            </a:r>
            <a:r>
              <a:rPr lang="en-US" dirty="0"/>
              <a:t>for timely repayment </a:t>
            </a:r>
            <a:r>
              <a:rPr lang="en-US" dirty="0" smtClean="0"/>
              <a:t>(promise </a:t>
            </a:r>
            <a:r>
              <a:rPr lang="en-US" dirty="0"/>
              <a:t>to extend future loans at attractive </a:t>
            </a:r>
            <a:r>
              <a:rPr lang="en-US" dirty="0" smtClean="0"/>
              <a:t>rates)</a:t>
            </a:r>
          </a:p>
          <a:p>
            <a:pPr lvl="2"/>
            <a:r>
              <a:rPr lang="en-US" dirty="0" smtClean="0"/>
              <a:t>Significant effect </a:t>
            </a:r>
            <a:endParaRPr lang="en-US" dirty="0"/>
          </a:p>
        </p:txBody>
      </p:sp>
    </p:spTree>
    <p:extLst>
      <p:ext uri="{BB962C8B-B14F-4D97-AF65-F5344CB8AC3E}">
        <p14:creationId xmlns:p14="http://schemas.microsoft.com/office/powerpoint/2010/main" val="3246953671"/>
      </p:ext>
    </p:extLst>
  </p:cSld>
  <p:clrMapOvr>
    <a:masterClrMapping/>
  </p:clrMapOvr>
  <p:timing>
    <p:tnLst>
      <p:par>
        <p:cTn id="1" dur="indefinite" restart="never" nodeType="tmRoot"/>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12664</TotalTime>
  <Words>12195</Words>
  <Application>Microsoft Office PowerPoint</Application>
  <PresentationFormat>On-screen Show (4:3)</PresentationFormat>
  <Paragraphs>911</Paragraphs>
  <Slides>107</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107</vt:i4>
      </vt:variant>
    </vt:vector>
  </HeadingPairs>
  <TitlesOfParts>
    <vt:vector size="114" baseType="lpstr">
      <vt:lpstr>chapter</vt:lpstr>
      <vt:lpstr>main</vt:lpstr>
      <vt:lpstr>figure</vt:lpstr>
      <vt:lpstr>table</vt:lpstr>
      <vt:lpstr>example</vt:lpstr>
      <vt:lpstr>extensions</vt:lpstr>
      <vt:lpstr>Equation</vt:lpstr>
      <vt:lpstr>CHAPTER     Asymmetric   18    Information</vt:lpstr>
      <vt:lpstr>Asymmetric Information</vt:lpstr>
      <vt:lpstr>The Value of Contracts</vt:lpstr>
      <vt:lpstr>Principal-Agent Model</vt:lpstr>
      <vt:lpstr>Two Leading Models</vt:lpstr>
      <vt:lpstr>18.1 Applications of the Principal-Agent Model</vt:lpstr>
      <vt:lpstr>First, Second, and Third Best</vt:lpstr>
      <vt:lpstr>First, Second, and Third Best</vt:lpstr>
      <vt:lpstr>18.1 (a) The Contracting ‘‘Pie’’ </vt:lpstr>
      <vt:lpstr>18.1 (b) The Contracting ‘‘Pie’’</vt:lpstr>
      <vt:lpstr>Hidden Actions</vt:lpstr>
      <vt:lpstr>Hidden Actions</vt:lpstr>
      <vt:lpstr>Owner-Manager Relationship</vt:lpstr>
      <vt:lpstr>Owner-Manager Relationship</vt:lpstr>
      <vt:lpstr>Owner-Manager Relationship</vt:lpstr>
      <vt:lpstr>First Best (Full-Information Case)</vt:lpstr>
      <vt:lpstr>First Best (Full-Information Case)</vt:lpstr>
      <vt:lpstr>Second Best (Hidden-Action Case)</vt:lpstr>
      <vt:lpstr>Second Best (Hidden-Action Case)</vt:lpstr>
      <vt:lpstr>Second Best (Hidden-Action Case)</vt:lpstr>
      <vt:lpstr>Second Best (Hidden-Action Case)</vt:lpstr>
      <vt:lpstr>Second Best (Hidden-Action Case)</vt:lpstr>
      <vt:lpstr>Second Best (Hidden-Action Case)</vt:lpstr>
      <vt:lpstr>18.2 Manager’s Effort Responds to Increased   Incentives</vt:lpstr>
      <vt:lpstr>Second Best (Hidden-Action Case)</vt:lpstr>
      <vt:lpstr>18.1  Owner-Manager Relationship</vt:lpstr>
      <vt:lpstr>18.1  Owner-Manager Relationship</vt:lpstr>
      <vt:lpstr>Comparison to Standard Model of the Firm</vt:lpstr>
      <vt:lpstr>Moral Hazard in Insurance</vt:lpstr>
      <vt:lpstr>Mathematical Model</vt:lpstr>
      <vt:lpstr>Mathematical Model</vt:lpstr>
      <vt:lpstr>First Best Insurance Contract</vt:lpstr>
      <vt:lpstr>First Best Insurance Contract</vt:lpstr>
      <vt:lpstr>Second-Best Insurance Contract</vt:lpstr>
      <vt:lpstr>18.2 Insurance and Precaution against Car Theft</vt:lpstr>
      <vt:lpstr>18.2 Insurance and Precaution against Car Theft</vt:lpstr>
      <vt:lpstr>18.2 Insurance and Precaution against Car Theft</vt:lpstr>
      <vt:lpstr>Competitive Insurance Market</vt:lpstr>
      <vt:lpstr>18.3  Competitive Theft Insurance</vt:lpstr>
      <vt:lpstr>Hidden Types</vt:lpstr>
      <vt:lpstr>Hidden Types</vt:lpstr>
      <vt:lpstr>Nonlinear Pricing</vt:lpstr>
      <vt:lpstr>18.3 Shapes of Various Pricing Schedules</vt:lpstr>
      <vt:lpstr>Mathematical Model</vt:lpstr>
      <vt:lpstr>Mathematical Model</vt:lpstr>
      <vt:lpstr>First-Best Nonlinear Pricing</vt:lpstr>
      <vt:lpstr>18.4 First-Best Nonlinear Pricing</vt:lpstr>
      <vt:lpstr>Second-Best Nonlinear Pricing</vt:lpstr>
      <vt:lpstr>18.5 First Best Not Incentive Compatible</vt:lpstr>
      <vt:lpstr>Second-Best Nonlinear Pricing</vt:lpstr>
      <vt:lpstr>Second-Best Nonlinear Pricing</vt:lpstr>
      <vt:lpstr>Second-Best Nonlinear Pricing</vt:lpstr>
      <vt:lpstr>18.6 Second-Best Nonlinear Pricing</vt:lpstr>
      <vt:lpstr>18.4  Monopoly Coffee Shop</vt:lpstr>
      <vt:lpstr>18.4  Monopoly Coffee Shop</vt:lpstr>
      <vt:lpstr>18.4  Monopoly Coffee Shop</vt:lpstr>
      <vt:lpstr>18.4  Monopoly Coffee Shop</vt:lpstr>
      <vt:lpstr>Continuum of Types</vt:lpstr>
      <vt:lpstr>Continuum of Types</vt:lpstr>
      <vt:lpstr>Continuum of Types</vt:lpstr>
      <vt:lpstr>Continuum of Types</vt:lpstr>
      <vt:lpstr>Continuum of Types</vt:lpstr>
      <vt:lpstr>Adverse Selection in Insurance</vt:lpstr>
      <vt:lpstr>First Best</vt:lpstr>
      <vt:lpstr>18.7 First Best for a Monopoly Insurer</vt:lpstr>
      <vt:lpstr>Second Best</vt:lpstr>
      <vt:lpstr>18.8 Second Best for a Monopoly Insurer</vt:lpstr>
      <vt:lpstr>18.5  Insuring the Little Red Corvette</vt:lpstr>
      <vt:lpstr>18.5  Insuring the Little Red Corvette</vt:lpstr>
      <vt:lpstr>18.5  Insuring the Little Red Corvette</vt:lpstr>
      <vt:lpstr>18.9  Solving for Second Best in the Numerical   Example</vt:lpstr>
      <vt:lpstr>Competitive Insurance Market</vt:lpstr>
      <vt:lpstr>18.10 Competitive Insurance Equilibrium with   Perfect Information</vt:lpstr>
      <vt:lpstr>18.11 Competitive Insurance Equilibrium with   Hidden Types</vt:lpstr>
      <vt:lpstr>18.12 Impossibility of a Competitive Pooling   Equilibrium</vt:lpstr>
      <vt:lpstr>18.6  Competitive Insurance for the Little Red  Corvette</vt:lpstr>
      <vt:lpstr>Market Signaling</vt:lpstr>
      <vt:lpstr>18.7  Certifying Car Color</vt:lpstr>
      <vt:lpstr>18.7  Certifying Car Color</vt:lpstr>
      <vt:lpstr>Market for Lemons</vt:lpstr>
      <vt:lpstr>Market for Lemons</vt:lpstr>
      <vt:lpstr>Market for Lemons</vt:lpstr>
      <vt:lpstr>18.8  Used-Car Market</vt:lpstr>
      <vt:lpstr>18.8  Used-Car Market</vt:lpstr>
      <vt:lpstr>Auctions</vt:lpstr>
      <vt:lpstr>Auctions</vt:lpstr>
      <vt:lpstr>Auction</vt:lpstr>
      <vt:lpstr>Auction </vt:lpstr>
      <vt:lpstr>18.9  Art Auction</vt:lpstr>
      <vt:lpstr>18.9  Art Auction</vt:lpstr>
      <vt:lpstr>18.9  Art Auction</vt:lpstr>
      <vt:lpstr>18.9  Art Auction</vt:lpstr>
      <vt:lpstr>Auction</vt:lpstr>
      <vt:lpstr>Using Experiments To Measure Asymmetric-Information Problems</vt:lpstr>
      <vt:lpstr>Natural and Field Experiments</vt:lpstr>
      <vt:lpstr>Extending the Theory</vt:lpstr>
      <vt:lpstr>Moral Hazard in Health Insurance</vt:lpstr>
      <vt:lpstr>Moral Hazard in Health Insurance</vt:lpstr>
      <vt:lpstr>18.2 Key results from Rand health insurance  experiment</vt:lpstr>
      <vt:lpstr>E18.1 Welfare Loss from Moral Hazard in Rand   Health Insurance Experiment</vt:lpstr>
      <vt:lpstr>Moral Hazard in Health Insurance</vt:lpstr>
      <vt:lpstr>Adverse Selection in Health Insurance</vt:lpstr>
      <vt:lpstr>Adverse Selection in Health Insurance</vt:lpstr>
      <vt:lpstr>18.3 Key results from Alcoa experiment</vt:lpstr>
      <vt:lpstr>E18.2 Welfare Loss from Adverse Selection in   Alcoa Experiment</vt:lpstr>
      <vt:lpstr>Asymmetric Information in Consumer Credit </vt:lpstr>
      <vt:lpstr>Asymmetric Information in Consumer Credit </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802</cp:revision>
  <dcterms:created xsi:type="dcterms:W3CDTF">2016-06-05T19:40:39Z</dcterms:created>
  <dcterms:modified xsi:type="dcterms:W3CDTF">2016-06-27T18:51:24Z</dcterms:modified>
</cp:coreProperties>
</file>