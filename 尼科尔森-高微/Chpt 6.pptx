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49"/>
  </p:notesMasterIdLst>
  <p:handoutMasterIdLst>
    <p:handoutMasterId r:id="rId50"/>
  </p:handoutMasterIdLst>
  <p:sldIdLst>
    <p:sldId id="25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306" r:id="rId23"/>
    <p:sldId id="284" r:id="rId24"/>
    <p:sldId id="285" r:id="rId25"/>
    <p:sldId id="286" r:id="rId26"/>
    <p:sldId id="287" r:id="rId27"/>
    <p:sldId id="30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8" r:id="rId46"/>
    <p:sldId id="309" r:id="rId47"/>
    <p:sldId id="305"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4" autoAdjust="0"/>
    <p:restoredTop sz="83799" autoAdjust="0"/>
  </p:normalViewPr>
  <p:slideViewPr>
    <p:cSldViewPr>
      <p:cViewPr>
        <p:scale>
          <a:sx n="70" d="100"/>
          <a:sy n="70" d="100"/>
        </p:scale>
        <p:origin x="-828" y="-84"/>
      </p:cViewPr>
      <p:guideLst>
        <p:guide orient="horz" pos="2160"/>
        <p:guide pos="2880"/>
      </p:guideLst>
    </p:cSldViewPr>
  </p:slideViewPr>
  <p:outlineViewPr>
    <p:cViewPr>
      <p:scale>
        <a:sx n="33" d="100"/>
        <a:sy n="33" d="100"/>
      </p:scale>
      <p:origin x="0" y="2394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6/13/2016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6/13/2016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15.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7.wmf"/><Relationship Id="rId5" Type="http://schemas.openxmlformats.org/officeDocument/2006/relationships/oleObject" Target="../embeddings/oleObject5.bin"/><Relationship Id="rId4" Type="http://schemas.openxmlformats.org/officeDocument/2006/relationships/image" Target="../media/image16.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19.emf"/><Relationship Id="rId5" Type="http://schemas.openxmlformats.org/officeDocument/2006/relationships/oleObject" Target="../embeddings/oleObject7.bin"/><Relationship Id="rId4" Type="http://schemas.openxmlformats.org/officeDocument/2006/relationships/image" Target="../media/image1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21.emf"/><Relationship Id="rId5" Type="http://schemas.openxmlformats.org/officeDocument/2006/relationships/oleObject" Target="../embeddings/oleObject9.bin"/><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2.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23.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2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25.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6.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9.xml"/><Relationship Id="rId1" Type="http://schemas.openxmlformats.org/officeDocument/2006/relationships/vmlDrawing" Target="../drawings/vmlDrawing11.vml"/><Relationship Id="rId4" Type="http://schemas.openxmlformats.org/officeDocument/2006/relationships/image" Target="../media/image28.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Demand </a:t>
            </a:r>
            <a:r>
              <a:rPr lang="en-US" sz="4800" b="1" baseline="0" dirty="0"/>
              <a:t>Relationships</a:t>
            </a:r>
            <a:r>
              <a:rPr lang="en-US" dirty="0" smtClean="0"/>
              <a:t/>
            </a:r>
            <a:br>
              <a:rPr lang="en-US" dirty="0" smtClean="0"/>
            </a:br>
            <a:r>
              <a:rPr lang="en-US" baseline="0" dirty="0" smtClean="0"/>
              <a:t> </a:t>
            </a:r>
            <a:r>
              <a:rPr lang="en-US" baseline="0" dirty="0" smtClean="0"/>
              <a:t>6</a:t>
            </a:r>
            <a:r>
              <a:rPr lang="en-US" b="1" baseline="0" dirty="0" smtClean="0"/>
              <a:t>	 		</a:t>
            </a:r>
            <a:r>
              <a:rPr lang="en-US" b="1" baseline="0" dirty="0" smtClean="0"/>
              <a:t> </a:t>
            </a:r>
            <a:r>
              <a:rPr lang="en-US" sz="4800" b="1" baseline="0" dirty="0"/>
              <a:t>among </a:t>
            </a:r>
            <a:r>
              <a:rPr lang="en-US" sz="4800" b="1" baseline="0" dirty="0" smtClean="0"/>
              <a:t>Goods</a:t>
            </a:r>
            <a:endParaRPr lang="en-US" sz="48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smtClean="0"/>
              <a:t>The Two-Good Case</a:t>
            </a:r>
          </a:p>
        </p:txBody>
      </p:sp>
      <p:sp>
        <p:nvSpPr>
          <p:cNvPr id="22531" name="Content Placeholder 2"/>
          <p:cNvSpPr>
            <a:spLocks noGrp="1"/>
          </p:cNvSpPr>
          <p:nvPr>
            <p:ph idx="1"/>
          </p:nvPr>
        </p:nvSpPr>
        <p:spPr/>
        <p:txBody>
          <a:bodyPr/>
          <a:lstStyle/>
          <a:p>
            <a:r>
              <a:rPr lang="en-US" altLang="en-US" smtClean="0"/>
              <a:t>How the quantity of x chosen might be affected by a decrease in the price of y</a:t>
            </a:r>
          </a:p>
          <a:p>
            <a:pPr lvl="1"/>
            <a:r>
              <a:rPr lang="en-US" altLang="en-US" sz="3100" smtClean="0"/>
              <a:t>Shifting the budget constraint outward</a:t>
            </a:r>
          </a:p>
          <a:p>
            <a:pPr lvl="1"/>
            <a:r>
              <a:rPr lang="en-US" altLang="en-US" sz="3100" smtClean="0"/>
              <a:t>The quantity of good y chosen has increased</a:t>
            </a:r>
          </a:p>
          <a:p>
            <a:pPr lvl="1"/>
            <a:r>
              <a:rPr lang="en-US" altLang="en-US" smtClean="0"/>
              <a:t>In (a), small substitution effect </a:t>
            </a:r>
          </a:p>
          <a:p>
            <a:pPr lvl="2">
              <a:lnSpc>
                <a:spcPct val="150000"/>
              </a:lnSpc>
            </a:pPr>
            <a:r>
              <a:rPr lang="en-US" altLang="en-US" smtClean="0"/>
              <a:t>x and p</a:t>
            </a:r>
            <a:r>
              <a:rPr lang="en-US" altLang="en-US" baseline="-25000" smtClean="0"/>
              <a:t>y</a:t>
            </a:r>
            <a:r>
              <a:rPr lang="en-US" altLang="en-US" smtClean="0"/>
              <a:t> move in opposite directions</a:t>
            </a:r>
          </a:p>
          <a:p>
            <a:pPr lvl="1"/>
            <a:r>
              <a:rPr lang="en-US" altLang="en-US" smtClean="0"/>
              <a:t>In (b), large substitution effect</a:t>
            </a:r>
          </a:p>
          <a:p>
            <a:pPr lvl="2">
              <a:lnSpc>
                <a:spcPct val="150000"/>
              </a:lnSpc>
            </a:pPr>
            <a:r>
              <a:rPr lang="en-US" altLang="en-US" smtClean="0"/>
              <a:t>x and p</a:t>
            </a:r>
            <a:r>
              <a:rPr lang="en-US" altLang="en-US" baseline="-25000" smtClean="0"/>
              <a:t>y</a:t>
            </a:r>
            <a:r>
              <a:rPr lang="en-US" altLang="en-US" smtClean="0"/>
              <a:t> move in the same direction </a:t>
            </a:r>
          </a:p>
          <a:p>
            <a:pPr lvl="1"/>
            <a:endParaRPr lang="en-US" altLang="en-US" smtClean="0"/>
          </a:p>
          <a:p>
            <a:pPr lvl="1"/>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261A60A-4517-46B4-A736-4F170026BFF1}" type="slidenum">
              <a:rPr lang="en-US" smtClean="0"/>
              <a:pPr>
                <a:defRPr/>
              </a:pPr>
              <a:t>2</a:t>
            </a:fld>
            <a:endParaRPr lang="en-US"/>
          </a:p>
        </p:txBody>
      </p:sp>
    </p:spTree>
    <p:extLst>
      <p:ext uri="{BB962C8B-B14F-4D97-AF65-F5344CB8AC3E}">
        <p14:creationId xmlns:p14="http://schemas.microsoft.com/office/powerpoint/2010/main" val="37867281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6.1	Differing Directions of Cross-Price </a:t>
            </a:r>
            <a:r>
              <a:rPr lang="en-US" altLang="en-US" dirty="0" smtClean="0"/>
              <a:t>Effects</a:t>
            </a:r>
            <a:endParaRPr lang="en-US" altLang="en-US" dirty="0" smtClean="0"/>
          </a:p>
        </p:txBody>
      </p:sp>
      <p:sp>
        <p:nvSpPr>
          <p:cNvPr id="23555" name="Text Placeholder 2"/>
          <p:cNvSpPr>
            <a:spLocks noGrp="1"/>
          </p:cNvSpPr>
          <p:nvPr>
            <p:ph sz="half" idx="1"/>
          </p:nvPr>
        </p:nvSpPr>
        <p:spPr>
          <a:xfrm>
            <a:off x="0" y="4876800"/>
            <a:ext cx="9144000" cy="1600200"/>
          </a:xfrm>
        </p:spPr>
        <p:txBody>
          <a:bodyPr>
            <a:normAutofit/>
          </a:bodyPr>
          <a:lstStyle/>
          <a:p>
            <a:pPr>
              <a:spcBef>
                <a:spcPct val="0"/>
              </a:spcBef>
            </a:pPr>
            <a:r>
              <a:rPr lang="en-US" altLang="en-US" dirty="0" smtClean="0"/>
              <a:t>The </a:t>
            </a:r>
            <a:r>
              <a:rPr lang="en-US" altLang="en-US" dirty="0"/>
              <a:t>price of y has decreased. In (a), substitution effects are small; therefore, the quantity of x consumed increases along with y. Because </a:t>
            </a:r>
            <a:r>
              <a:rPr lang="en-US" altLang="en-US" dirty="0">
                <a:cs typeface="Arial" charset="0"/>
              </a:rPr>
              <a:t>∂</a:t>
            </a:r>
            <a:r>
              <a:rPr lang="en-US" altLang="en-US" dirty="0"/>
              <a:t>x/</a:t>
            </a:r>
            <a:r>
              <a:rPr lang="en-US" altLang="en-US" dirty="0">
                <a:cs typeface="Arial" charset="0"/>
              </a:rPr>
              <a:t>∂</a:t>
            </a:r>
            <a:r>
              <a:rPr lang="en-US" altLang="en-US" dirty="0" err="1"/>
              <a:t>p</a:t>
            </a:r>
            <a:r>
              <a:rPr lang="en-US" altLang="en-US" baseline="-25000" dirty="0" err="1"/>
              <a:t>y</a:t>
            </a:r>
            <a:r>
              <a:rPr lang="en-US" altLang="en-US" dirty="0"/>
              <a:t> &lt; 0, x and y are </a:t>
            </a:r>
            <a:r>
              <a:rPr lang="en-US" altLang="en-US" i="1" dirty="0"/>
              <a:t>gross</a:t>
            </a:r>
            <a:r>
              <a:rPr lang="en-US" altLang="en-US" dirty="0"/>
              <a:t> </a:t>
            </a:r>
            <a:r>
              <a:rPr lang="en-US" altLang="en-US" i="1" dirty="0"/>
              <a:t>complements</a:t>
            </a:r>
            <a:r>
              <a:rPr lang="en-US" altLang="en-US" dirty="0"/>
              <a:t>. </a:t>
            </a:r>
            <a:endParaRPr lang="en-US" altLang="en-US" dirty="0" smtClean="0"/>
          </a:p>
          <a:p>
            <a:pPr>
              <a:spcBef>
                <a:spcPct val="0"/>
              </a:spcBef>
            </a:pPr>
            <a:r>
              <a:rPr lang="en-US" altLang="en-US" dirty="0"/>
              <a:t>The price of y has decreased. </a:t>
            </a:r>
            <a:r>
              <a:rPr lang="en-US" altLang="en-US" dirty="0" smtClean="0"/>
              <a:t>In </a:t>
            </a:r>
            <a:r>
              <a:rPr lang="en-US" altLang="en-US" dirty="0"/>
              <a:t>(b), substitution effects are large; therefore, the quantity of x chosen decreases. Because </a:t>
            </a:r>
            <a:r>
              <a:rPr lang="en-US" altLang="en-US" dirty="0">
                <a:cs typeface="Arial" charset="0"/>
              </a:rPr>
              <a:t>∂</a:t>
            </a:r>
            <a:r>
              <a:rPr lang="en-US" altLang="en-US" dirty="0"/>
              <a:t>x/</a:t>
            </a:r>
            <a:r>
              <a:rPr lang="en-US" altLang="en-US" dirty="0">
                <a:cs typeface="Arial" charset="0"/>
              </a:rPr>
              <a:t>∂</a:t>
            </a:r>
            <a:r>
              <a:rPr lang="en-US" altLang="en-US" dirty="0" err="1"/>
              <a:t>p</a:t>
            </a:r>
            <a:r>
              <a:rPr lang="en-US" altLang="en-US" baseline="-25000" dirty="0" err="1"/>
              <a:t>y</a:t>
            </a:r>
            <a:r>
              <a:rPr lang="en-US" altLang="en-US" dirty="0"/>
              <a:t> &gt; 0, x and y would be termed </a:t>
            </a:r>
            <a:r>
              <a:rPr lang="en-US" altLang="en-US" i="1" dirty="0"/>
              <a:t>gross substitutes</a:t>
            </a:r>
            <a:r>
              <a:rPr lang="en-US" altLang="en-US" dirty="0" smtClean="0"/>
              <a:t>.</a:t>
            </a:r>
            <a:endParaRPr lang="en-US" altLang="en-US" dirty="0"/>
          </a:p>
        </p:txBody>
      </p:sp>
      <p:sp>
        <p:nvSpPr>
          <p:cNvPr id="2355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2B52AD26-3F69-4832-A0B7-15B394666F98}" type="slidenum">
              <a:rPr lang="en-US" smtClean="0"/>
              <a:pPr>
                <a:defRPr/>
              </a:pPr>
              <a:t>3</a:t>
            </a:fld>
            <a:endParaRPr lang="en-US" dirty="0"/>
          </a:p>
        </p:txBody>
      </p:sp>
      <p:grpSp>
        <p:nvGrpSpPr>
          <p:cNvPr id="7" name="Group 68"/>
          <p:cNvGrpSpPr>
            <a:grpSpLocks/>
          </p:cNvGrpSpPr>
          <p:nvPr/>
        </p:nvGrpSpPr>
        <p:grpSpPr bwMode="auto">
          <a:xfrm>
            <a:off x="838200" y="533400"/>
            <a:ext cx="3503186" cy="4457787"/>
            <a:chOff x="838375" y="819945"/>
            <a:chExt cx="3503234" cy="4458990"/>
          </a:xfrm>
        </p:grpSpPr>
        <p:grpSp>
          <p:nvGrpSpPr>
            <p:cNvPr id="23619" name="Group 6"/>
            <p:cNvGrpSpPr>
              <a:grpSpLocks/>
            </p:cNvGrpSpPr>
            <p:nvPr/>
          </p:nvGrpSpPr>
          <p:grpSpPr bwMode="auto">
            <a:xfrm>
              <a:off x="990778" y="4632430"/>
              <a:ext cx="3350831" cy="646505"/>
              <a:chOff x="1358912" y="5855590"/>
              <a:chExt cx="3350831" cy="646505"/>
            </a:xfrm>
          </p:grpSpPr>
          <p:sp>
            <p:nvSpPr>
              <p:cNvPr id="23623" name="Line 6"/>
              <p:cNvSpPr>
                <a:spLocks noChangeShapeType="1"/>
              </p:cNvSpPr>
              <p:nvPr/>
            </p:nvSpPr>
            <p:spPr bwMode="auto">
              <a:xfrm flipV="1">
                <a:off x="1371600" y="5866410"/>
                <a:ext cx="2962894" cy="9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624" name="Text Box 7"/>
              <p:cNvSpPr txBox="1">
                <a:spLocks noChangeArrowheads="1"/>
              </p:cNvSpPr>
              <p:nvPr/>
            </p:nvSpPr>
            <p:spPr bwMode="auto">
              <a:xfrm>
                <a:off x="1358912" y="5855590"/>
                <a:ext cx="3350831" cy="6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dirty="0"/>
                  <a:t>Quantity of </a:t>
                </a:r>
                <a:r>
                  <a:rPr lang="en-US" altLang="en-US" sz="1800" i="1" dirty="0"/>
                  <a:t>x</a:t>
                </a:r>
              </a:p>
              <a:p>
                <a:pPr eaLnBrk="1" hangingPunct="1"/>
                <a:r>
                  <a:rPr lang="en-US" altLang="en-US" sz="1800" i="1" dirty="0"/>
                  <a:t>(a) Gross complements</a:t>
                </a:r>
              </a:p>
            </p:txBody>
          </p:sp>
        </p:grpSp>
        <p:grpSp>
          <p:nvGrpSpPr>
            <p:cNvPr id="23620" name="Group 9"/>
            <p:cNvGrpSpPr>
              <a:grpSpLocks/>
            </p:cNvGrpSpPr>
            <p:nvPr/>
          </p:nvGrpSpPr>
          <p:grpSpPr bwMode="auto">
            <a:xfrm>
              <a:off x="838375" y="819945"/>
              <a:ext cx="1466850" cy="3824295"/>
              <a:chOff x="1206509" y="2043105"/>
              <a:chExt cx="1466850" cy="3824295"/>
            </a:xfrm>
          </p:grpSpPr>
          <p:sp>
            <p:nvSpPr>
              <p:cNvPr id="23621" name="Line 5"/>
              <p:cNvSpPr>
                <a:spLocks noChangeShapeType="1"/>
              </p:cNvSpPr>
              <p:nvPr/>
            </p:nvSpPr>
            <p:spPr bwMode="auto">
              <a:xfrm>
                <a:off x="1371600" y="2438400"/>
                <a:ext cx="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3622" name="Text Box 8"/>
              <p:cNvSpPr txBox="1">
                <a:spLocks noChangeArrowheads="1"/>
              </p:cNvSpPr>
              <p:nvPr/>
            </p:nvSpPr>
            <p:spPr bwMode="auto">
              <a:xfrm>
                <a:off x="1206509" y="2043105"/>
                <a:ext cx="146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Quantity of </a:t>
                </a:r>
                <a:r>
                  <a:rPr lang="en-US" altLang="en-US" sz="1800" i="1" dirty="0"/>
                  <a:t>y</a:t>
                </a:r>
              </a:p>
            </p:txBody>
          </p:sp>
        </p:grpSp>
      </p:grpSp>
      <p:grpSp>
        <p:nvGrpSpPr>
          <p:cNvPr id="16" name="Group 12"/>
          <p:cNvGrpSpPr>
            <a:grpSpLocks/>
          </p:cNvGrpSpPr>
          <p:nvPr/>
        </p:nvGrpSpPr>
        <p:grpSpPr bwMode="auto">
          <a:xfrm>
            <a:off x="1527175" y="2909887"/>
            <a:ext cx="366713" cy="1752600"/>
            <a:chOff x="1895475" y="4419600"/>
            <a:chExt cx="366713" cy="1752600"/>
          </a:xfrm>
        </p:grpSpPr>
        <p:sp>
          <p:nvSpPr>
            <p:cNvPr id="23617" name="Line 13"/>
            <p:cNvSpPr>
              <a:spLocks noChangeShapeType="1"/>
            </p:cNvSpPr>
            <p:nvPr/>
          </p:nvSpPr>
          <p:spPr bwMode="auto">
            <a:xfrm>
              <a:off x="2124075" y="4419600"/>
              <a:ext cx="0" cy="1447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618" name="Text Box 18"/>
            <p:cNvSpPr txBox="1">
              <a:spLocks noChangeArrowheads="1"/>
            </p:cNvSpPr>
            <p:nvPr/>
          </p:nvSpPr>
          <p:spPr bwMode="auto">
            <a:xfrm>
              <a:off x="1895475" y="5867400"/>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x</a:t>
              </a:r>
              <a:r>
                <a:rPr lang="en-US" altLang="en-US" sz="1400" b="1" i="1" baseline="-25000"/>
                <a:t>0</a:t>
              </a:r>
              <a:endParaRPr lang="en-US" altLang="en-US" sz="1400" b="1" baseline="-25000"/>
            </a:p>
          </p:txBody>
        </p:sp>
      </p:grpSp>
      <p:grpSp>
        <p:nvGrpSpPr>
          <p:cNvPr id="19" name="Group 15"/>
          <p:cNvGrpSpPr>
            <a:grpSpLocks/>
          </p:cNvGrpSpPr>
          <p:nvPr/>
        </p:nvGrpSpPr>
        <p:grpSpPr bwMode="auto">
          <a:xfrm>
            <a:off x="1841500" y="2605087"/>
            <a:ext cx="346075" cy="2057400"/>
            <a:chOff x="2209800" y="4114800"/>
            <a:chExt cx="346075" cy="2057400"/>
          </a:xfrm>
        </p:grpSpPr>
        <p:sp>
          <p:nvSpPr>
            <p:cNvPr id="23615" name="Text Box 17"/>
            <p:cNvSpPr txBox="1">
              <a:spLocks noChangeArrowheads="1"/>
            </p:cNvSpPr>
            <p:nvPr/>
          </p:nvSpPr>
          <p:spPr bwMode="auto">
            <a:xfrm>
              <a:off x="2209800" y="58674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x</a:t>
              </a:r>
              <a:r>
                <a:rPr lang="en-US" altLang="en-US" sz="1400" b="1" i="1" baseline="-25000"/>
                <a:t>1</a:t>
              </a:r>
              <a:endParaRPr lang="en-US" altLang="en-US" baseline="-25000"/>
            </a:p>
          </p:txBody>
        </p:sp>
        <p:sp>
          <p:nvSpPr>
            <p:cNvPr id="23616" name="Line 14"/>
            <p:cNvSpPr>
              <a:spLocks noChangeShapeType="1"/>
            </p:cNvSpPr>
            <p:nvPr/>
          </p:nvSpPr>
          <p:spPr bwMode="auto">
            <a:xfrm>
              <a:off x="2352675" y="4114800"/>
              <a:ext cx="0" cy="17526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22" name="Group 18"/>
          <p:cNvGrpSpPr>
            <a:grpSpLocks/>
          </p:cNvGrpSpPr>
          <p:nvPr/>
        </p:nvGrpSpPr>
        <p:grpSpPr bwMode="auto">
          <a:xfrm>
            <a:off x="1603375" y="1766887"/>
            <a:ext cx="2449513" cy="1844675"/>
            <a:chOff x="1971675" y="3276600"/>
            <a:chExt cx="2449513" cy="1844675"/>
          </a:xfrm>
        </p:grpSpPr>
        <p:sp>
          <p:nvSpPr>
            <p:cNvPr id="23613" name="Freeform 12"/>
            <p:cNvSpPr>
              <a:spLocks/>
            </p:cNvSpPr>
            <p:nvPr/>
          </p:nvSpPr>
          <p:spPr bwMode="auto">
            <a:xfrm>
              <a:off x="1971675" y="3276600"/>
              <a:ext cx="2057400" cy="1676400"/>
            </a:xfrm>
            <a:custGeom>
              <a:avLst/>
              <a:gdLst>
                <a:gd name="T0" fmla="*/ 0 w 1296"/>
                <a:gd name="T1" fmla="*/ 0 h 1056"/>
                <a:gd name="T2" fmla="*/ 432 w 1296"/>
                <a:gd name="T3" fmla="*/ 720 h 1056"/>
                <a:gd name="T4" fmla="*/ 1296 w 1296"/>
                <a:gd name="T5" fmla="*/ 1056 h 1056"/>
                <a:gd name="T6" fmla="*/ 0 60000 65536"/>
                <a:gd name="T7" fmla="*/ 0 60000 65536"/>
                <a:gd name="T8" fmla="*/ 0 60000 65536"/>
                <a:gd name="T9" fmla="*/ 0 w 1296"/>
                <a:gd name="T10" fmla="*/ 0 h 1056"/>
                <a:gd name="T11" fmla="*/ 1296 w 1296"/>
                <a:gd name="T12" fmla="*/ 1056 h 1056"/>
              </a:gdLst>
              <a:ahLst/>
              <a:cxnLst>
                <a:cxn ang="T6">
                  <a:pos x="T0" y="T1"/>
                </a:cxn>
                <a:cxn ang="T7">
                  <a:pos x="T2" y="T3"/>
                </a:cxn>
                <a:cxn ang="T8">
                  <a:pos x="T4" y="T5"/>
                </a:cxn>
              </a:cxnLst>
              <a:rect l="T9" t="T10" r="T11" b="T12"/>
              <a:pathLst>
                <a:path w="1296" h="1056">
                  <a:moveTo>
                    <a:pt x="0" y="0"/>
                  </a:moveTo>
                  <a:cubicBezTo>
                    <a:pt x="108" y="272"/>
                    <a:pt x="216" y="544"/>
                    <a:pt x="432" y="720"/>
                  </a:cubicBezTo>
                  <a:cubicBezTo>
                    <a:pt x="648" y="896"/>
                    <a:pt x="972" y="976"/>
                    <a:pt x="1296" y="1056"/>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sp>
          <p:nvSpPr>
            <p:cNvPr id="23614" name="Text Box 23"/>
            <p:cNvSpPr txBox="1">
              <a:spLocks noChangeArrowheads="1"/>
            </p:cNvSpPr>
            <p:nvPr/>
          </p:nvSpPr>
          <p:spPr bwMode="auto">
            <a:xfrm>
              <a:off x="4013200" y="4784725"/>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dirty="0">
                  <a:solidFill>
                    <a:srgbClr val="C00000"/>
                  </a:solidFill>
                </a:rPr>
                <a:t>U</a:t>
              </a:r>
              <a:r>
                <a:rPr lang="en-US" altLang="en-US" sz="1600" b="1" baseline="-25000" dirty="0">
                  <a:solidFill>
                    <a:srgbClr val="C00000"/>
                  </a:solidFill>
                </a:rPr>
                <a:t>1</a:t>
              </a:r>
            </a:p>
          </p:txBody>
        </p:sp>
      </p:grpSp>
      <p:grpSp>
        <p:nvGrpSpPr>
          <p:cNvPr id="25" name="Group 21"/>
          <p:cNvGrpSpPr>
            <a:grpSpLocks/>
          </p:cNvGrpSpPr>
          <p:nvPr/>
        </p:nvGrpSpPr>
        <p:grpSpPr bwMode="auto">
          <a:xfrm>
            <a:off x="1146175" y="1843087"/>
            <a:ext cx="2368550" cy="1997075"/>
            <a:chOff x="1514475" y="3352800"/>
            <a:chExt cx="2368551" cy="1997075"/>
          </a:xfrm>
        </p:grpSpPr>
        <p:sp>
          <p:nvSpPr>
            <p:cNvPr id="23611" name="Freeform 11"/>
            <p:cNvSpPr>
              <a:spLocks/>
            </p:cNvSpPr>
            <p:nvPr/>
          </p:nvSpPr>
          <p:spPr bwMode="auto">
            <a:xfrm>
              <a:off x="1514475" y="3352800"/>
              <a:ext cx="2057400" cy="1676400"/>
            </a:xfrm>
            <a:custGeom>
              <a:avLst/>
              <a:gdLst>
                <a:gd name="T0" fmla="*/ 0 w 1296"/>
                <a:gd name="T1" fmla="*/ 0 h 1056"/>
                <a:gd name="T2" fmla="*/ 432 w 1296"/>
                <a:gd name="T3" fmla="*/ 720 h 1056"/>
                <a:gd name="T4" fmla="*/ 1296 w 1296"/>
                <a:gd name="T5" fmla="*/ 1056 h 1056"/>
                <a:gd name="T6" fmla="*/ 0 60000 65536"/>
                <a:gd name="T7" fmla="*/ 0 60000 65536"/>
                <a:gd name="T8" fmla="*/ 0 60000 65536"/>
                <a:gd name="T9" fmla="*/ 0 w 1296"/>
                <a:gd name="T10" fmla="*/ 0 h 1056"/>
                <a:gd name="T11" fmla="*/ 1296 w 1296"/>
                <a:gd name="T12" fmla="*/ 1056 h 1056"/>
              </a:gdLst>
              <a:ahLst/>
              <a:cxnLst>
                <a:cxn ang="T6">
                  <a:pos x="T0" y="T1"/>
                </a:cxn>
                <a:cxn ang="T7">
                  <a:pos x="T2" y="T3"/>
                </a:cxn>
                <a:cxn ang="T8">
                  <a:pos x="T4" y="T5"/>
                </a:cxn>
              </a:cxnLst>
              <a:rect l="T9" t="T10" r="T11" b="T12"/>
              <a:pathLst>
                <a:path w="1296" h="1056">
                  <a:moveTo>
                    <a:pt x="0" y="0"/>
                  </a:moveTo>
                  <a:cubicBezTo>
                    <a:pt x="108" y="272"/>
                    <a:pt x="216" y="544"/>
                    <a:pt x="432" y="720"/>
                  </a:cubicBezTo>
                  <a:cubicBezTo>
                    <a:pt x="648" y="896"/>
                    <a:pt x="972" y="976"/>
                    <a:pt x="1296" y="1056"/>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sp>
          <p:nvSpPr>
            <p:cNvPr id="23612" name="Text Box 24"/>
            <p:cNvSpPr txBox="1">
              <a:spLocks noChangeArrowheads="1"/>
            </p:cNvSpPr>
            <p:nvPr/>
          </p:nvSpPr>
          <p:spPr bwMode="auto">
            <a:xfrm>
              <a:off x="3475038" y="5013325"/>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dirty="0">
                  <a:solidFill>
                    <a:srgbClr val="C00000"/>
                  </a:solidFill>
                </a:rPr>
                <a:t>U</a:t>
              </a:r>
              <a:r>
                <a:rPr lang="en-US" altLang="en-US" sz="1600" b="1" baseline="-25000" dirty="0">
                  <a:solidFill>
                    <a:srgbClr val="C00000"/>
                  </a:solidFill>
                </a:rPr>
                <a:t>0</a:t>
              </a:r>
            </a:p>
          </p:txBody>
        </p:sp>
      </p:grpSp>
      <p:grpSp>
        <p:nvGrpSpPr>
          <p:cNvPr id="28" name="Group 24"/>
          <p:cNvGrpSpPr>
            <a:grpSpLocks/>
          </p:cNvGrpSpPr>
          <p:nvPr/>
        </p:nvGrpSpPr>
        <p:grpSpPr bwMode="auto">
          <a:xfrm>
            <a:off x="993775" y="1027112"/>
            <a:ext cx="2209800" cy="3330575"/>
            <a:chOff x="1362075" y="2537307"/>
            <a:chExt cx="2209800" cy="3330093"/>
          </a:xfrm>
        </p:grpSpPr>
        <p:sp>
          <p:nvSpPr>
            <p:cNvPr id="23609" name="Line 10"/>
            <p:cNvSpPr>
              <a:spLocks noChangeShapeType="1"/>
            </p:cNvSpPr>
            <p:nvPr/>
          </p:nvSpPr>
          <p:spPr bwMode="auto">
            <a:xfrm flipH="1" flipV="1">
              <a:off x="1362075" y="2667000"/>
              <a:ext cx="2209800" cy="32004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610" name="Text Box 23"/>
            <p:cNvSpPr txBox="1">
              <a:spLocks noChangeArrowheads="1"/>
            </p:cNvSpPr>
            <p:nvPr/>
          </p:nvSpPr>
          <p:spPr bwMode="auto">
            <a:xfrm>
              <a:off x="1469902" y="2537307"/>
              <a:ext cx="3177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a:solidFill>
                    <a:srgbClr val="000099"/>
                  </a:solidFill>
                </a:rPr>
                <a:t>I</a:t>
              </a:r>
              <a:r>
                <a:rPr lang="en-US" altLang="en-US" sz="1600" b="1" baseline="-25000">
                  <a:solidFill>
                    <a:srgbClr val="000099"/>
                  </a:solidFill>
                </a:rPr>
                <a:t>1</a:t>
              </a:r>
            </a:p>
          </p:txBody>
        </p:sp>
      </p:grpSp>
      <p:grpSp>
        <p:nvGrpSpPr>
          <p:cNvPr id="31" name="Group 27"/>
          <p:cNvGrpSpPr>
            <a:grpSpLocks/>
          </p:cNvGrpSpPr>
          <p:nvPr/>
        </p:nvGrpSpPr>
        <p:grpSpPr bwMode="auto">
          <a:xfrm>
            <a:off x="993775" y="2147887"/>
            <a:ext cx="2209800" cy="2209800"/>
            <a:chOff x="1362075" y="3657600"/>
            <a:chExt cx="2209800" cy="2209800"/>
          </a:xfrm>
        </p:grpSpPr>
        <p:sp>
          <p:nvSpPr>
            <p:cNvPr id="23607" name="Line 9"/>
            <p:cNvSpPr>
              <a:spLocks noChangeShapeType="1"/>
            </p:cNvSpPr>
            <p:nvPr/>
          </p:nvSpPr>
          <p:spPr bwMode="auto">
            <a:xfrm>
              <a:off x="1362075" y="3657600"/>
              <a:ext cx="2209800" cy="22098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3608" name="Text Box 23"/>
            <p:cNvSpPr txBox="1">
              <a:spLocks noChangeArrowheads="1"/>
            </p:cNvSpPr>
            <p:nvPr/>
          </p:nvSpPr>
          <p:spPr bwMode="auto">
            <a:xfrm>
              <a:off x="2726703" y="5290402"/>
              <a:ext cx="3177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a:solidFill>
                    <a:srgbClr val="000099"/>
                  </a:solidFill>
                </a:rPr>
                <a:t>I</a:t>
              </a:r>
              <a:r>
                <a:rPr lang="en-US" altLang="en-US" sz="1600" b="1" baseline="-25000">
                  <a:solidFill>
                    <a:srgbClr val="000099"/>
                  </a:solidFill>
                </a:rPr>
                <a:t>0</a:t>
              </a:r>
            </a:p>
          </p:txBody>
        </p:sp>
      </p:grpSp>
      <p:grpSp>
        <p:nvGrpSpPr>
          <p:cNvPr id="35" name="Group 30"/>
          <p:cNvGrpSpPr>
            <a:grpSpLocks/>
          </p:cNvGrpSpPr>
          <p:nvPr/>
        </p:nvGrpSpPr>
        <p:grpSpPr bwMode="auto">
          <a:xfrm>
            <a:off x="622300" y="2833687"/>
            <a:ext cx="1171575" cy="304800"/>
            <a:chOff x="990600" y="4343400"/>
            <a:chExt cx="1171311" cy="304800"/>
          </a:xfrm>
        </p:grpSpPr>
        <p:sp>
          <p:nvSpPr>
            <p:cNvPr id="23604" name="Oval 16"/>
            <p:cNvSpPr>
              <a:spLocks noChangeArrowheads="1"/>
            </p:cNvSpPr>
            <p:nvPr/>
          </p:nvSpPr>
          <p:spPr bwMode="auto">
            <a:xfrm>
              <a:off x="2085711" y="4374842"/>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23605" name="Line 20"/>
            <p:cNvSpPr>
              <a:spLocks noChangeShapeType="1"/>
            </p:cNvSpPr>
            <p:nvPr/>
          </p:nvSpPr>
          <p:spPr bwMode="auto">
            <a:xfrm flipH="1">
              <a:off x="1362075" y="4419600"/>
              <a:ext cx="7620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3606" name="Text Box 22"/>
            <p:cNvSpPr txBox="1">
              <a:spLocks noChangeArrowheads="1"/>
            </p:cNvSpPr>
            <p:nvPr/>
          </p:nvSpPr>
          <p:spPr bwMode="auto">
            <a:xfrm>
              <a:off x="990600" y="43434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y</a:t>
              </a:r>
              <a:r>
                <a:rPr lang="en-US" altLang="en-US" sz="1400" b="1" i="1" baseline="-25000"/>
                <a:t>0</a:t>
              </a:r>
              <a:endParaRPr lang="en-US" altLang="en-US" baseline="-25000"/>
            </a:p>
          </p:txBody>
        </p:sp>
      </p:grpSp>
      <p:grpSp>
        <p:nvGrpSpPr>
          <p:cNvPr id="43" name="Group 34"/>
          <p:cNvGrpSpPr>
            <a:grpSpLocks/>
          </p:cNvGrpSpPr>
          <p:nvPr/>
        </p:nvGrpSpPr>
        <p:grpSpPr bwMode="auto">
          <a:xfrm>
            <a:off x="622300" y="2376487"/>
            <a:ext cx="1393825" cy="304800"/>
            <a:chOff x="990600" y="3886200"/>
            <a:chExt cx="1394045" cy="304800"/>
          </a:xfrm>
        </p:grpSpPr>
        <p:sp>
          <p:nvSpPr>
            <p:cNvPr id="23601" name="Oval 15"/>
            <p:cNvSpPr>
              <a:spLocks noChangeArrowheads="1"/>
            </p:cNvSpPr>
            <p:nvPr/>
          </p:nvSpPr>
          <p:spPr bwMode="auto">
            <a:xfrm>
              <a:off x="2308445" y="4003433"/>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23602" name="Text Box 19"/>
            <p:cNvSpPr txBox="1">
              <a:spLocks noChangeArrowheads="1"/>
            </p:cNvSpPr>
            <p:nvPr/>
          </p:nvSpPr>
          <p:spPr bwMode="auto">
            <a:xfrm>
              <a:off x="990600" y="38862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y</a:t>
              </a:r>
              <a:r>
                <a:rPr lang="en-US" altLang="en-US" sz="1400" b="1" i="1" baseline="-25000"/>
                <a:t>1</a:t>
              </a:r>
              <a:endParaRPr lang="en-US" altLang="en-US" baseline="-25000"/>
            </a:p>
          </p:txBody>
        </p:sp>
        <p:sp>
          <p:nvSpPr>
            <p:cNvPr id="23603" name="Line 21"/>
            <p:cNvSpPr>
              <a:spLocks noChangeShapeType="1"/>
            </p:cNvSpPr>
            <p:nvPr/>
          </p:nvSpPr>
          <p:spPr bwMode="auto">
            <a:xfrm flipH="1">
              <a:off x="1362075" y="4038600"/>
              <a:ext cx="990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46" name="Group 71"/>
          <p:cNvGrpSpPr>
            <a:grpSpLocks/>
          </p:cNvGrpSpPr>
          <p:nvPr/>
        </p:nvGrpSpPr>
        <p:grpSpPr bwMode="auto">
          <a:xfrm>
            <a:off x="4629407" y="533400"/>
            <a:ext cx="3721219" cy="4441896"/>
            <a:chOff x="4629126" y="819954"/>
            <a:chExt cx="3721874" cy="4442872"/>
          </a:xfrm>
        </p:grpSpPr>
        <p:grpSp>
          <p:nvGrpSpPr>
            <p:cNvPr id="23595" name="Group 70"/>
            <p:cNvGrpSpPr>
              <a:grpSpLocks/>
            </p:cNvGrpSpPr>
            <p:nvPr/>
          </p:nvGrpSpPr>
          <p:grpSpPr bwMode="auto">
            <a:xfrm>
              <a:off x="5028988" y="4616353"/>
              <a:ext cx="3322012" cy="646473"/>
              <a:chOff x="5028988" y="4616353"/>
              <a:chExt cx="3322012" cy="646473"/>
            </a:xfrm>
          </p:grpSpPr>
          <p:sp>
            <p:nvSpPr>
              <p:cNvPr id="23599" name="Line 4"/>
              <p:cNvSpPr>
                <a:spLocks noChangeShapeType="1"/>
              </p:cNvSpPr>
              <p:nvPr/>
            </p:nvSpPr>
            <p:spPr bwMode="auto">
              <a:xfrm flipV="1">
                <a:off x="5147919" y="4643251"/>
                <a:ext cx="2749138" cy="9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600" name="Text Box 5"/>
              <p:cNvSpPr txBox="1">
                <a:spLocks noChangeArrowheads="1"/>
              </p:cNvSpPr>
              <p:nvPr/>
            </p:nvSpPr>
            <p:spPr bwMode="auto">
              <a:xfrm>
                <a:off x="5028988" y="4616353"/>
                <a:ext cx="3322012" cy="646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dirty="0"/>
                  <a:t>Quantity of </a:t>
                </a:r>
                <a:r>
                  <a:rPr lang="en-US" altLang="en-US" sz="1800" i="1" dirty="0"/>
                  <a:t>x</a:t>
                </a:r>
              </a:p>
              <a:p>
                <a:pPr eaLnBrk="1" hangingPunct="1"/>
                <a:r>
                  <a:rPr lang="en-US" altLang="en-US" sz="1800" i="1" dirty="0"/>
                  <a:t>(b) Gross substitutes</a:t>
                </a:r>
              </a:p>
            </p:txBody>
          </p:sp>
        </p:grpSp>
        <p:grpSp>
          <p:nvGrpSpPr>
            <p:cNvPr id="23596" name="Group 69"/>
            <p:cNvGrpSpPr>
              <a:grpSpLocks/>
            </p:cNvGrpSpPr>
            <p:nvPr/>
          </p:nvGrpSpPr>
          <p:grpSpPr bwMode="auto">
            <a:xfrm>
              <a:off x="4629126" y="819954"/>
              <a:ext cx="1466850" cy="3824287"/>
              <a:chOff x="4629126" y="819954"/>
              <a:chExt cx="1466850" cy="3824287"/>
            </a:xfrm>
          </p:grpSpPr>
          <p:sp>
            <p:nvSpPr>
              <p:cNvPr id="23597" name="Line 3"/>
              <p:cNvSpPr>
                <a:spLocks noChangeShapeType="1"/>
              </p:cNvSpPr>
              <p:nvPr/>
            </p:nvSpPr>
            <p:spPr bwMode="auto">
              <a:xfrm>
                <a:off x="5138394" y="1215241"/>
                <a:ext cx="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3598" name="Text Box 6"/>
              <p:cNvSpPr txBox="1">
                <a:spLocks noChangeArrowheads="1"/>
              </p:cNvSpPr>
              <p:nvPr/>
            </p:nvSpPr>
            <p:spPr bwMode="auto">
              <a:xfrm>
                <a:off x="4629126" y="819954"/>
                <a:ext cx="1466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Quantity of </a:t>
                </a:r>
                <a:r>
                  <a:rPr lang="en-US" altLang="en-US" sz="1800" i="1" dirty="0"/>
                  <a:t>y</a:t>
                </a:r>
              </a:p>
            </p:txBody>
          </p:sp>
        </p:grpSp>
      </p:grpSp>
      <p:grpSp>
        <p:nvGrpSpPr>
          <p:cNvPr id="56" name="Group 42"/>
          <p:cNvGrpSpPr>
            <a:grpSpLocks/>
          </p:cNvGrpSpPr>
          <p:nvPr/>
        </p:nvGrpSpPr>
        <p:grpSpPr bwMode="auto">
          <a:xfrm>
            <a:off x="5757863" y="2376487"/>
            <a:ext cx="346075" cy="2286000"/>
            <a:chOff x="1981200" y="3886200"/>
            <a:chExt cx="346075" cy="2286000"/>
          </a:xfrm>
        </p:grpSpPr>
        <p:sp>
          <p:nvSpPr>
            <p:cNvPr id="23593" name="Line 12"/>
            <p:cNvSpPr>
              <a:spLocks noChangeShapeType="1"/>
            </p:cNvSpPr>
            <p:nvPr/>
          </p:nvSpPr>
          <p:spPr bwMode="auto">
            <a:xfrm>
              <a:off x="2200275" y="3886200"/>
              <a:ext cx="0" cy="1981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594" name="Text Box 15"/>
            <p:cNvSpPr txBox="1">
              <a:spLocks noChangeArrowheads="1"/>
            </p:cNvSpPr>
            <p:nvPr/>
          </p:nvSpPr>
          <p:spPr bwMode="auto">
            <a:xfrm>
              <a:off x="1981200" y="58674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x</a:t>
              </a:r>
              <a:r>
                <a:rPr lang="en-US" altLang="en-US" sz="1400" b="1" i="1" baseline="-25000"/>
                <a:t>1</a:t>
              </a:r>
              <a:endParaRPr lang="en-US" altLang="en-US" baseline="-25000"/>
            </a:p>
          </p:txBody>
        </p:sp>
      </p:grpSp>
      <p:grpSp>
        <p:nvGrpSpPr>
          <p:cNvPr id="60" name="Group 45"/>
          <p:cNvGrpSpPr>
            <a:grpSpLocks/>
          </p:cNvGrpSpPr>
          <p:nvPr/>
        </p:nvGrpSpPr>
        <p:grpSpPr bwMode="auto">
          <a:xfrm>
            <a:off x="6138863" y="3290887"/>
            <a:ext cx="346075" cy="1371600"/>
            <a:chOff x="2362200" y="4800600"/>
            <a:chExt cx="346075" cy="1371600"/>
          </a:xfrm>
        </p:grpSpPr>
        <p:sp>
          <p:nvSpPr>
            <p:cNvPr id="23591" name="Line 11"/>
            <p:cNvSpPr>
              <a:spLocks noChangeShapeType="1"/>
            </p:cNvSpPr>
            <p:nvPr/>
          </p:nvSpPr>
          <p:spPr bwMode="auto">
            <a:xfrm>
              <a:off x="2505075" y="4800600"/>
              <a:ext cx="0" cy="1066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592" name="Text Box 16"/>
            <p:cNvSpPr txBox="1">
              <a:spLocks noChangeArrowheads="1"/>
            </p:cNvSpPr>
            <p:nvPr/>
          </p:nvSpPr>
          <p:spPr bwMode="auto">
            <a:xfrm>
              <a:off x="2362200" y="58674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x</a:t>
              </a:r>
              <a:r>
                <a:rPr lang="en-US" altLang="en-US" sz="1400" b="1" i="1" baseline="-25000"/>
                <a:t>0</a:t>
              </a:r>
              <a:endParaRPr lang="en-US" altLang="en-US" baseline="-25000"/>
            </a:p>
          </p:txBody>
        </p:sp>
      </p:grpSp>
      <p:grpSp>
        <p:nvGrpSpPr>
          <p:cNvPr id="63" name="Group 52"/>
          <p:cNvGrpSpPr>
            <a:grpSpLocks/>
          </p:cNvGrpSpPr>
          <p:nvPr/>
        </p:nvGrpSpPr>
        <p:grpSpPr bwMode="auto">
          <a:xfrm>
            <a:off x="5443538" y="1766887"/>
            <a:ext cx="2525712" cy="2454275"/>
            <a:chOff x="1666875" y="3276600"/>
            <a:chExt cx="2525713" cy="2454275"/>
          </a:xfrm>
        </p:grpSpPr>
        <p:sp>
          <p:nvSpPr>
            <p:cNvPr id="23589" name="Text Box 22"/>
            <p:cNvSpPr txBox="1">
              <a:spLocks noChangeArrowheads="1"/>
            </p:cNvSpPr>
            <p:nvPr/>
          </p:nvSpPr>
          <p:spPr bwMode="auto">
            <a:xfrm>
              <a:off x="3784600" y="5394325"/>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dirty="0">
                  <a:solidFill>
                    <a:srgbClr val="C00000"/>
                  </a:solidFill>
                </a:rPr>
                <a:t>U</a:t>
              </a:r>
              <a:r>
                <a:rPr lang="en-US" altLang="en-US" sz="1600" b="1" baseline="-25000" dirty="0">
                  <a:solidFill>
                    <a:srgbClr val="C00000"/>
                  </a:solidFill>
                </a:rPr>
                <a:t>0</a:t>
              </a:r>
            </a:p>
          </p:txBody>
        </p:sp>
        <p:sp>
          <p:nvSpPr>
            <p:cNvPr id="23590" name="Freeform 28"/>
            <p:cNvSpPr>
              <a:spLocks/>
            </p:cNvSpPr>
            <p:nvPr/>
          </p:nvSpPr>
          <p:spPr bwMode="auto">
            <a:xfrm>
              <a:off x="1666875" y="3276600"/>
              <a:ext cx="2133600" cy="2286000"/>
            </a:xfrm>
            <a:custGeom>
              <a:avLst/>
              <a:gdLst>
                <a:gd name="T0" fmla="*/ 0 w 1344"/>
                <a:gd name="T1" fmla="*/ 0 h 1440"/>
                <a:gd name="T2" fmla="*/ 480 w 1344"/>
                <a:gd name="T3" fmla="*/ 912 h 1440"/>
                <a:gd name="T4" fmla="*/ 1344 w 1344"/>
                <a:gd name="T5" fmla="*/ 1440 h 1440"/>
                <a:gd name="T6" fmla="*/ 0 60000 65536"/>
                <a:gd name="T7" fmla="*/ 0 60000 65536"/>
                <a:gd name="T8" fmla="*/ 0 60000 65536"/>
                <a:gd name="T9" fmla="*/ 0 w 1344"/>
                <a:gd name="T10" fmla="*/ 0 h 1440"/>
                <a:gd name="T11" fmla="*/ 1344 w 1344"/>
                <a:gd name="T12" fmla="*/ 1440 h 1440"/>
              </a:gdLst>
              <a:ahLst/>
              <a:cxnLst>
                <a:cxn ang="T6">
                  <a:pos x="T0" y="T1"/>
                </a:cxn>
                <a:cxn ang="T7">
                  <a:pos x="T2" y="T3"/>
                </a:cxn>
                <a:cxn ang="T8">
                  <a:pos x="T4" y="T5"/>
                </a:cxn>
              </a:cxnLst>
              <a:rect l="T9" t="T10" r="T11" b="T12"/>
              <a:pathLst>
                <a:path w="1344" h="1440">
                  <a:moveTo>
                    <a:pt x="0" y="0"/>
                  </a:moveTo>
                  <a:cubicBezTo>
                    <a:pt x="128" y="336"/>
                    <a:pt x="256" y="672"/>
                    <a:pt x="480" y="912"/>
                  </a:cubicBezTo>
                  <a:cubicBezTo>
                    <a:pt x="704" y="1152"/>
                    <a:pt x="1024" y="1296"/>
                    <a:pt x="1344" y="144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grpSp>
        <p:nvGrpSpPr>
          <p:cNvPr id="66" name="Group 59"/>
          <p:cNvGrpSpPr>
            <a:grpSpLocks/>
          </p:cNvGrpSpPr>
          <p:nvPr/>
        </p:nvGrpSpPr>
        <p:grpSpPr bwMode="auto">
          <a:xfrm>
            <a:off x="5403850" y="1116012"/>
            <a:ext cx="2525713" cy="2454275"/>
            <a:chOff x="1590675" y="2590800"/>
            <a:chExt cx="2525713" cy="2454275"/>
          </a:xfrm>
        </p:grpSpPr>
        <p:sp>
          <p:nvSpPr>
            <p:cNvPr id="23587" name="Freeform 27"/>
            <p:cNvSpPr>
              <a:spLocks/>
            </p:cNvSpPr>
            <p:nvPr/>
          </p:nvSpPr>
          <p:spPr bwMode="auto">
            <a:xfrm>
              <a:off x="1590675" y="2590800"/>
              <a:ext cx="2133600" cy="2286000"/>
            </a:xfrm>
            <a:custGeom>
              <a:avLst/>
              <a:gdLst>
                <a:gd name="T0" fmla="*/ 0 w 1344"/>
                <a:gd name="T1" fmla="*/ 0 h 1440"/>
                <a:gd name="T2" fmla="*/ 480 w 1344"/>
                <a:gd name="T3" fmla="*/ 912 h 1440"/>
                <a:gd name="T4" fmla="*/ 1344 w 1344"/>
                <a:gd name="T5" fmla="*/ 1440 h 1440"/>
                <a:gd name="T6" fmla="*/ 0 60000 65536"/>
                <a:gd name="T7" fmla="*/ 0 60000 65536"/>
                <a:gd name="T8" fmla="*/ 0 60000 65536"/>
                <a:gd name="T9" fmla="*/ 0 w 1344"/>
                <a:gd name="T10" fmla="*/ 0 h 1440"/>
                <a:gd name="T11" fmla="*/ 1344 w 1344"/>
                <a:gd name="T12" fmla="*/ 1440 h 1440"/>
              </a:gdLst>
              <a:ahLst/>
              <a:cxnLst>
                <a:cxn ang="T6">
                  <a:pos x="T0" y="T1"/>
                </a:cxn>
                <a:cxn ang="T7">
                  <a:pos x="T2" y="T3"/>
                </a:cxn>
                <a:cxn ang="T8">
                  <a:pos x="T4" y="T5"/>
                </a:cxn>
              </a:cxnLst>
              <a:rect l="T9" t="T10" r="T11" b="T12"/>
              <a:pathLst>
                <a:path w="1344" h="1440">
                  <a:moveTo>
                    <a:pt x="0" y="0"/>
                  </a:moveTo>
                  <a:cubicBezTo>
                    <a:pt x="128" y="336"/>
                    <a:pt x="256" y="672"/>
                    <a:pt x="480" y="912"/>
                  </a:cubicBezTo>
                  <a:cubicBezTo>
                    <a:pt x="704" y="1152"/>
                    <a:pt x="1024" y="1296"/>
                    <a:pt x="1344" y="1440"/>
                  </a:cubicBezTo>
                </a:path>
              </a:pathLst>
            </a:custGeom>
            <a:noFill/>
            <a:ln w="28575" cap="flat" cmpd="sng">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sp>
          <p:nvSpPr>
            <p:cNvPr id="23588" name="Text Box 29"/>
            <p:cNvSpPr txBox="1">
              <a:spLocks noChangeArrowheads="1"/>
            </p:cNvSpPr>
            <p:nvPr/>
          </p:nvSpPr>
          <p:spPr bwMode="auto">
            <a:xfrm>
              <a:off x="3708400" y="4708525"/>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dirty="0">
                  <a:solidFill>
                    <a:srgbClr val="C00000"/>
                  </a:solidFill>
                </a:rPr>
                <a:t>U</a:t>
              </a:r>
              <a:r>
                <a:rPr lang="en-US" altLang="en-US" sz="1600" b="1" baseline="-25000" dirty="0">
                  <a:solidFill>
                    <a:srgbClr val="C00000"/>
                  </a:solidFill>
                </a:rPr>
                <a:t>1</a:t>
              </a:r>
            </a:p>
          </p:txBody>
        </p:sp>
      </p:grpSp>
      <p:grpSp>
        <p:nvGrpSpPr>
          <p:cNvPr id="69" name="Group 62"/>
          <p:cNvGrpSpPr>
            <a:grpSpLocks/>
          </p:cNvGrpSpPr>
          <p:nvPr/>
        </p:nvGrpSpPr>
        <p:grpSpPr bwMode="auto">
          <a:xfrm>
            <a:off x="5138738" y="2147887"/>
            <a:ext cx="2209800" cy="2209800"/>
            <a:chOff x="1362075" y="3657600"/>
            <a:chExt cx="2209800" cy="2209800"/>
          </a:xfrm>
        </p:grpSpPr>
        <p:sp>
          <p:nvSpPr>
            <p:cNvPr id="23585" name="Line 7"/>
            <p:cNvSpPr>
              <a:spLocks noChangeShapeType="1"/>
            </p:cNvSpPr>
            <p:nvPr/>
          </p:nvSpPr>
          <p:spPr bwMode="auto">
            <a:xfrm>
              <a:off x="1362075" y="3657600"/>
              <a:ext cx="2209800" cy="22098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3586" name="Text Box 22"/>
            <p:cNvSpPr txBox="1">
              <a:spLocks noChangeArrowheads="1"/>
            </p:cNvSpPr>
            <p:nvPr/>
          </p:nvSpPr>
          <p:spPr bwMode="auto">
            <a:xfrm>
              <a:off x="2808844" y="5426970"/>
              <a:ext cx="3177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a:solidFill>
                    <a:srgbClr val="000099"/>
                  </a:solidFill>
                </a:rPr>
                <a:t>I</a:t>
              </a:r>
              <a:r>
                <a:rPr lang="en-US" altLang="en-US" sz="1600" b="1" baseline="-25000">
                  <a:solidFill>
                    <a:srgbClr val="000099"/>
                  </a:solidFill>
                </a:rPr>
                <a:t>0</a:t>
              </a:r>
            </a:p>
          </p:txBody>
        </p:sp>
      </p:grpSp>
      <p:grpSp>
        <p:nvGrpSpPr>
          <p:cNvPr id="70" name="Group 65"/>
          <p:cNvGrpSpPr>
            <a:grpSpLocks/>
          </p:cNvGrpSpPr>
          <p:nvPr/>
        </p:nvGrpSpPr>
        <p:grpSpPr bwMode="auto">
          <a:xfrm>
            <a:off x="5119688" y="1157287"/>
            <a:ext cx="2228850" cy="3200400"/>
            <a:chOff x="1343230" y="2667000"/>
            <a:chExt cx="2228645" cy="3200400"/>
          </a:xfrm>
        </p:grpSpPr>
        <p:sp>
          <p:nvSpPr>
            <p:cNvPr id="23583" name="Line 8"/>
            <p:cNvSpPr>
              <a:spLocks noChangeShapeType="1"/>
            </p:cNvSpPr>
            <p:nvPr/>
          </p:nvSpPr>
          <p:spPr bwMode="auto">
            <a:xfrm flipH="1" flipV="1">
              <a:off x="1362075" y="2667000"/>
              <a:ext cx="2209800" cy="32004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584" name="Text Box 29"/>
            <p:cNvSpPr txBox="1">
              <a:spLocks noChangeArrowheads="1"/>
            </p:cNvSpPr>
            <p:nvPr/>
          </p:nvSpPr>
          <p:spPr bwMode="auto">
            <a:xfrm>
              <a:off x="1343230" y="2936121"/>
              <a:ext cx="3177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a:solidFill>
                    <a:srgbClr val="000099"/>
                  </a:solidFill>
                </a:rPr>
                <a:t>I</a:t>
              </a:r>
              <a:r>
                <a:rPr lang="en-US" altLang="en-US" sz="1600" b="1" baseline="-25000">
                  <a:solidFill>
                    <a:srgbClr val="000099"/>
                  </a:solidFill>
                </a:rPr>
                <a:t>1</a:t>
              </a:r>
            </a:p>
          </p:txBody>
        </p:sp>
      </p:grpSp>
      <p:grpSp>
        <p:nvGrpSpPr>
          <p:cNvPr id="71" name="Group 48"/>
          <p:cNvGrpSpPr>
            <a:grpSpLocks/>
          </p:cNvGrpSpPr>
          <p:nvPr/>
        </p:nvGrpSpPr>
        <p:grpSpPr bwMode="auto">
          <a:xfrm>
            <a:off x="4767263" y="2224087"/>
            <a:ext cx="1243012" cy="304800"/>
            <a:chOff x="990600" y="3733800"/>
            <a:chExt cx="1242873" cy="304800"/>
          </a:xfrm>
        </p:grpSpPr>
        <p:sp>
          <p:nvSpPr>
            <p:cNvPr id="23580" name="Text Box 17"/>
            <p:cNvSpPr txBox="1">
              <a:spLocks noChangeArrowheads="1"/>
            </p:cNvSpPr>
            <p:nvPr/>
          </p:nvSpPr>
          <p:spPr bwMode="auto">
            <a:xfrm>
              <a:off x="990600" y="37338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y</a:t>
              </a:r>
              <a:r>
                <a:rPr lang="en-US" altLang="en-US" sz="1400" b="1" i="1" baseline="-25000"/>
                <a:t>1</a:t>
              </a:r>
              <a:endParaRPr lang="en-US" altLang="en-US" baseline="-25000"/>
            </a:p>
          </p:txBody>
        </p:sp>
        <p:sp>
          <p:nvSpPr>
            <p:cNvPr id="23581" name="Line 19"/>
            <p:cNvSpPr>
              <a:spLocks noChangeShapeType="1"/>
            </p:cNvSpPr>
            <p:nvPr/>
          </p:nvSpPr>
          <p:spPr bwMode="auto">
            <a:xfrm flipH="1">
              <a:off x="1362075" y="3886200"/>
              <a:ext cx="8382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582" name="Oval 13"/>
            <p:cNvSpPr>
              <a:spLocks noChangeArrowheads="1"/>
            </p:cNvSpPr>
            <p:nvPr/>
          </p:nvSpPr>
          <p:spPr bwMode="auto">
            <a:xfrm>
              <a:off x="2157273" y="3843198"/>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72" name="Group 55"/>
          <p:cNvGrpSpPr>
            <a:grpSpLocks/>
          </p:cNvGrpSpPr>
          <p:nvPr/>
        </p:nvGrpSpPr>
        <p:grpSpPr bwMode="auto">
          <a:xfrm>
            <a:off x="4767263" y="3138487"/>
            <a:ext cx="1549400" cy="304800"/>
            <a:chOff x="990600" y="4648200"/>
            <a:chExt cx="1549642" cy="304800"/>
          </a:xfrm>
        </p:grpSpPr>
        <p:sp>
          <p:nvSpPr>
            <p:cNvPr id="23577" name="Line 18"/>
            <p:cNvSpPr>
              <a:spLocks noChangeShapeType="1"/>
            </p:cNvSpPr>
            <p:nvPr/>
          </p:nvSpPr>
          <p:spPr bwMode="auto">
            <a:xfrm flipH="1">
              <a:off x="1362075" y="4800600"/>
              <a:ext cx="10668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3578" name="Text Box 20"/>
            <p:cNvSpPr txBox="1">
              <a:spLocks noChangeArrowheads="1"/>
            </p:cNvSpPr>
            <p:nvPr/>
          </p:nvSpPr>
          <p:spPr bwMode="auto">
            <a:xfrm>
              <a:off x="990600" y="4648200"/>
              <a:ext cx="346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400" b="1" i="1"/>
                <a:t>y</a:t>
              </a:r>
              <a:r>
                <a:rPr lang="en-US" altLang="en-US" sz="1400" b="1" i="1" baseline="-25000"/>
                <a:t>0</a:t>
              </a:r>
              <a:endParaRPr lang="en-US" altLang="en-US" baseline="-25000"/>
            </a:p>
          </p:txBody>
        </p:sp>
        <p:sp>
          <p:nvSpPr>
            <p:cNvPr id="23579" name="Oval 14"/>
            <p:cNvSpPr>
              <a:spLocks noChangeArrowheads="1"/>
            </p:cNvSpPr>
            <p:nvPr/>
          </p:nvSpPr>
          <p:spPr bwMode="auto">
            <a:xfrm>
              <a:off x="2464042" y="4765961"/>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41257069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left)">
                                      <p:cBhvr>
                                        <p:cTn id="19" dur="500"/>
                                        <p:tgtEl>
                                          <p:spTgt spid="35"/>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500"/>
                                        <p:tgtEl>
                                          <p:spTgt spid="1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500"/>
                                        <p:tgtEl>
                                          <p:spTgt spid="28"/>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wipe(left)">
                                      <p:cBhvr>
                                        <p:cTn id="36" dur="500"/>
                                        <p:tgtEl>
                                          <p:spTgt spid="43"/>
                                        </p:tgtEl>
                                      </p:cBhvr>
                                    </p:animEffect>
                                  </p:childTnLst>
                                </p:cTn>
                              </p:par>
                            </p:childTnLst>
                          </p:cTn>
                        </p:par>
                        <p:par>
                          <p:cTn id="37" fill="hold" nodeType="afterGroup">
                            <p:stCondLst>
                              <p:cond delay="1500"/>
                            </p:stCondLst>
                            <p:childTnLst>
                              <p:par>
                                <p:cTn id="38" presetID="22" presetClass="entr" presetSubtype="1" fill="hold"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up)">
                                      <p:cBhvr>
                                        <p:cTn id="40" dur="500"/>
                                        <p:tgtEl>
                                          <p:spTgt spid="19"/>
                                        </p:tgtEl>
                                      </p:cBhvr>
                                    </p:animEffect>
                                  </p:childTnLst>
                                </p:cTn>
                              </p:par>
                            </p:childTnLst>
                          </p:cTn>
                        </p:par>
                        <p:par>
                          <p:cTn id="41" fill="hold" nodeType="withGroup">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23555">
                                            <p:txEl>
                                              <p:pRg st="0" end="0"/>
                                            </p:txEl>
                                          </p:spTgt>
                                        </p:tgtEl>
                                        <p:attrNameLst>
                                          <p:attrName>style.visibility</p:attrName>
                                        </p:attrNameLst>
                                      </p:cBhvr>
                                      <p:to>
                                        <p:strVal val="visible"/>
                                      </p:to>
                                    </p:set>
                                    <p:animEffect transition="in" filter="wipe(left)">
                                      <p:cBhvr>
                                        <p:cTn id="44" dur="500"/>
                                        <p:tgtEl>
                                          <p:spTgt spid="23555">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wipe(left)">
                                      <p:cBhvr>
                                        <p:cTn id="49" dur="500"/>
                                        <p:tgtEl>
                                          <p:spTgt spid="46"/>
                                        </p:tgtEl>
                                      </p:cBhvr>
                                    </p:animEffec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wipe(left)">
                                      <p:cBhvr>
                                        <p:cTn id="53" dur="500"/>
                                        <p:tgtEl>
                                          <p:spTgt spid="69"/>
                                        </p:tgtEl>
                                      </p:cBhvr>
                                    </p:animEffect>
                                  </p:childTnLst>
                                </p:cTn>
                              </p:par>
                            </p:childTnLst>
                          </p:cTn>
                        </p:par>
                        <p:par>
                          <p:cTn id="54" fill="hold" nodeType="afterGroup">
                            <p:stCondLst>
                              <p:cond delay="1000"/>
                            </p:stCondLst>
                            <p:childTnLst>
                              <p:par>
                                <p:cTn id="55" presetID="22" presetClass="entr" presetSubtype="8" fill="hold" nodeType="after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wipe(left)">
                                      <p:cBhvr>
                                        <p:cTn id="57" dur="500"/>
                                        <p:tgtEl>
                                          <p:spTgt spid="63"/>
                                        </p:tgtEl>
                                      </p:cBhvr>
                                    </p:animEffect>
                                  </p:childTnLst>
                                </p:cTn>
                              </p:par>
                            </p:childTnLst>
                          </p:cTn>
                        </p:par>
                        <p:par>
                          <p:cTn id="58" fill="hold" nodeType="afterGroup">
                            <p:stCondLst>
                              <p:cond delay="1500"/>
                            </p:stCondLst>
                            <p:childTnLst>
                              <p:par>
                                <p:cTn id="59" presetID="22" presetClass="entr" presetSubtype="8" fill="hold" nodeType="after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wipe(left)">
                                      <p:cBhvr>
                                        <p:cTn id="61" dur="500"/>
                                        <p:tgtEl>
                                          <p:spTgt spid="72"/>
                                        </p:tgtEl>
                                      </p:cBhvr>
                                    </p:animEffect>
                                  </p:childTnLst>
                                </p:cTn>
                              </p:par>
                            </p:childTnLst>
                          </p:cTn>
                        </p:par>
                        <p:par>
                          <p:cTn id="62" fill="hold" nodeType="afterGroup">
                            <p:stCondLst>
                              <p:cond delay="2000"/>
                            </p:stCondLst>
                            <p:childTnLst>
                              <p:par>
                                <p:cTn id="63" presetID="22" presetClass="entr" presetSubtype="1" fill="hold" nodeType="after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wipe(up)">
                                      <p:cBhvr>
                                        <p:cTn id="65" dur="500"/>
                                        <p:tgtEl>
                                          <p:spTgt spid="6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70"/>
                                        </p:tgtEl>
                                        <p:attrNameLst>
                                          <p:attrName>style.visibility</p:attrName>
                                        </p:attrNameLst>
                                      </p:cBhvr>
                                      <p:to>
                                        <p:strVal val="visible"/>
                                      </p:to>
                                    </p:set>
                                    <p:animEffect transition="in" filter="wipe(left)">
                                      <p:cBhvr>
                                        <p:cTn id="70" dur="500"/>
                                        <p:tgtEl>
                                          <p:spTgt spid="70"/>
                                        </p:tgtEl>
                                      </p:cBhvr>
                                    </p:animEffect>
                                  </p:childTnLst>
                                </p:cTn>
                              </p:par>
                            </p:childTnLst>
                          </p:cTn>
                        </p:par>
                        <p:par>
                          <p:cTn id="71" fill="hold" nodeType="afterGroup">
                            <p:stCondLst>
                              <p:cond delay="500"/>
                            </p:stCondLst>
                            <p:childTnLst>
                              <p:par>
                                <p:cTn id="72" presetID="22" presetClass="entr" presetSubtype="8" fill="hold" nodeType="after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wipe(left)">
                                      <p:cBhvr>
                                        <p:cTn id="74" dur="500"/>
                                        <p:tgtEl>
                                          <p:spTgt spid="66"/>
                                        </p:tgtEl>
                                      </p:cBhvr>
                                    </p:animEffect>
                                  </p:childTnLst>
                                </p:cTn>
                              </p:par>
                            </p:childTnLst>
                          </p:cTn>
                        </p:par>
                        <p:par>
                          <p:cTn id="75" fill="hold" nodeType="afterGroup">
                            <p:stCondLst>
                              <p:cond delay="1000"/>
                            </p:stCondLst>
                            <p:childTnLst>
                              <p:par>
                                <p:cTn id="76" presetID="22" presetClass="entr" presetSubtype="8" fill="hold" nodeType="afterEffect">
                                  <p:stCondLst>
                                    <p:cond delay="0"/>
                                  </p:stCondLst>
                                  <p:childTnLst>
                                    <p:set>
                                      <p:cBhvr>
                                        <p:cTn id="77" dur="1" fill="hold">
                                          <p:stCondLst>
                                            <p:cond delay="0"/>
                                          </p:stCondLst>
                                        </p:cTn>
                                        <p:tgtEl>
                                          <p:spTgt spid="71"/>
                                        </p:tgtEl>
                                        <p:attrNameLst>
                                          <p:attrName>style.visibility</p:attrName>
                                        </p:attrNameLst>
                                      </p:cBhvr>
                                      <p:to>
                                        <p:strVal val="visible"/>
                                      </p:to>
                                    </p:set>
                                    <p:animEffect transition="in" filter="wipe(left)">
                                      <p:cBhvr>
                                        <p:cTn id="78" dur="500"/>
                                        <p:tgtEl>
                                          <p:spTgt spid="71"/>
                                        </p:tgtEl>
                                      </p:cBhvr>
                                    </p:animEffect>
                                  </p:childTnLst>
                                </p:cTn>
                              </p:par>
                            </p:childTnLst>
                          </p:cTn>
                        </p:par>
                        <p:par>
                          <p:cTn id="79" fill="hold" nodeType="afterGroup">
                            <p:stCondLst>
                              <p:cond delay="1500"/>
                            </p:stCondLst>
                            <p:childTnLst>
                              <p:par>
                                <p:cTn id="80" presetID="22" presetClass="entr" presetSubtype="1" fill="hold" nodeType="after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wipe(up)">
                                      <p:cBhvr>
                                        <p:cTn id="82" dur="500"/>
                                        <p:tgtEl>
                                          <p:spTgt spid="56"/>
                                        </p:tgtEl>
                                      </p:cBhvr>
                                    </p:animEffect>
                                  </p:childTnLst>
                                </p:cTn>
                              </p:par>
                            </p:childTnLst>
                          </p:cTn>
                        </p:par>
                        <p:par>
                          <p:cTn id="83" fill="hold">
                            <p:stCondLst>
                              <p:cond delay="2500"/>
                            </p:stCondLst>
                            <p:childTnLst>
                              <p:par>
                                <p:cTn id="84" presetID="22" presetClass="entr" presetSubtype="8" fill="hold" grpId="0" nodeType="afterEffect">
                                  <p:stCondLst>
                                    <p:cond delay="0"/>
                                  </p:stCondLst>
                                  <p:childTnLst>
                                    <p:set>
                                      <p:cBhvr>
                                        <p:cTn id="85" dur="1" fill="hold">
                                          <p:stCondLst>
                                            <p:cond delay="0"/>
                                          </p:stCondLst>
                                        </p:cTn>
                                        <p:tgtEl>
                                          <p:spTgt spid="23555">
                                            <p:txEl>
                                              <p:pRg st="1" end="1"/>
                                            </p:txEl>
                                          </p:spTgt>
                                        </p:tgtEl>
                                        <p:attrNameLst>
                                          <p:attrName>style.visibility</p:attrName>
                                        </p:attrNameLst>
                                      </p:cBhvr>
                                      <p:to>
                                        <p:strVal val="visible"/>
                                      </p:to>
                                    </p:set>
                                    <p:animEffect transition="in" filter="wipe(left)">
                                      <p:cBhvr>
                                        <p:cTn id="86" dur="500"/>
                                        <p:tgtEl>
                                          <p:spTgt spid="235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itle 1"/>
          <p:cNvSpPr>
            <a:spLocks noGrp="1"/>
          </p:cNvSpPr>
          <p:nvPr>
            <p:ph type="title"/>
          </p:nvPr>
        </p:nvSpPr>
        <p:spPr/>
        <p:txBody>
          <a:bodyPr/>
          <a:lstStyle/>
          <a:p>
            <a:r>
              <a:rPr lang="en-US" altLang="en-US" smtClean="0"/>
              <a:t>The Two-Good Case</a:t>
            </a:r>
          </a:p>
        </p:txBody>
      </p:sp>
      <p:sp>
        <p:nvSpPr>
          <p:cNvPr id="1029" name="Content Placeholder 2"/>
          <p:cNvSpPr>
            <a:spLocks noGrp="1"/>
          </p:cNvSpPr>
          <p:nvPr>
            <p:ph idx="1"/>
          </p:nvPr>
        </p:nvSpPr>
        <p:spPr/>
        <p:txBody>
          <a:bodyPr/>
          <a:lstStyle/>
          <a:p>
            <a:r>
              <a:rPr lang="en-US" altLang="en-US" smtClean="0"/>
              <a:t>Slutsky-type equation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4850CA7-4BA6-44D3-81FB-F6A15F7AEDF0}" type="slidenum">
              <a:rPr lang="en-US" smtClean="0"/>
              <a:pPr>
                <a:defRPr/>
              </a:pPr>
              <a:t>4</a:t>
            </a:fld>
            <a:endParaRPr lang="en-US"/>
          </a:p>
        </p:txBody>
      </p:sp>
      <p:sp>
        <p:nvSpPr>
          <p:cNvPr id="8" name="Text Placeholder 7"/>
          <p:cNvSpPr>
            <a:spLocks noGrp="1"/>
          </p:cNvSpPr>
          <p:nvPr>
            <p:ph type="body" sz="quarter" idx="12"/>
          </p:nvPr>
        </p:nvSpPr>
        <p:spPr>
          <a:xfrm>
            <a:off x="381000" y="4416426"/>
            <a:ext cx="8534400" cy="1831974"/>
          </a:xfrm>
        </p:spPr>
        <p:txBody>
          <a:bodyPr/>
          <a:lstStyle/>
          <a:p>
            <a:r>
              <a:rPr lang="en-US" dirty="0"/>
              <a:t>In elasticity </a:t>
            </a:r>
            <a:r>
              <a:rPr lang="en-US" dirty="0" smtClean="0"/>
              <a:t>terms: </a:t>
            </a:r>
            <a:endParaRPr lang="en-US" dirty="0"/>
          </a:p>
        </p:txBody>
      </p:sp>
      <p:graphicFrame>
        <p:nvGraphicFramePr>
          <p:cNvPr id="6" name="Object 2"/>
          <p:cNvGraphicFramePr>
            <a:graphicFrameLocks noChangeAspect="1"/>
          </p:cNvGraphicFramePr>
          <p:nvPr>
            <p:extLst>
              <p:ext uri="{D42A27DB-BD31-4B8C-83A1-F6EECF244321}">
                <p14:modId xmlns:p14="http://schemas.microsoft.com/office/powerpoint/2010/main" val="773867688"/>
              </p:ext>
            </p:extLst>
          </p:nvPr>
        </p:nvGraphicFramePr>
        <p:xfrm>
          <a:off x="609600" y="1700213"/>
          <a:ext cx="6105525" cy="1446212"/>
        </p:xfrm>
        <a:graphic>
          <a:graphicData uri="http://schemas.openxmlformats.org/presentationml/2006/ole">
            <mc:AlternateContent xmlns:mc="http://schemas.openxmlformats.org/markup-compatibility/2006">
              <mc:Choice xmlns:v="urn:schemas-microsoft-com:vml" Requires="v">
                <p:oleObj spid="_x0000_s129044" name="Equation" r:id="rId3" imgW="2197080" imgH="520560" progId="Equation.DSMT4">
                  <p:embed/>
                </p:oleObj>
              </mc:Choice>
              <mc:Fallback>
                <p:oleObj name="Equation" r:id="rId3" imgW="2197080" imgH="520560" progId="Equation.DSMT4">
                  <p:embed/>
                  <p:pic>
                    <p:nvPicPr>
                      <p:cNvPr id="0" name=""/>
                      <p:cNvPicPr>
                        <a:picLocks noChangeAspect="1" noChangeArrowheads="1"/>
                      </p:cNvPicPr>
                      <p:nvPr/>
                    </p:nvPicPr>
                    <p:blipFill>
                      <a:blip r:embed="rId4"/>
                      <a:srcRect/>
                      <a:stretch>
                        <a:fillRect/>
                      </a:stretch>
                    </p:blipFill>
                    <p:spPr bwMode="auto">
                      <a:xfrm>
                        <a:off x="609600" y="1700213"/>
                        <a:ext cx="6105525" cy="1446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5"/>
          <p:cNvGrpSpPr>
            <a:grpSpLocks/>
          </p:cNvGrpSpPr>
          <p:nvPr/>
        </p:nvGrpSpPr>
        <p:grpSpPr bwMode="auto">
          <a:xfrm>
            <a:off x="2198995" y="3196943"/>
            <a:ext cx="2678113" cy="606426"/>
            <a:chOff x="1981" y="2544"/>
            <a:chExt cx="1687" cy="382"/>
          </a:xfrm>
        </p:grpSpPr>
        <p:sp>
          <p:nvSpPr>
            <p:cNvPr id="1040" name="Text Box 6"/>
            <p:cNvSpPr txBox="1">
              <a:spLocks noChangeArrowheads="1"/>
            </p:cNvSpPr>
            <p:nvPr/>
          </p:nvSpPr>
          <p:spPr bwMode="auto">
            <a:xfrm>
              <a:off x="1981" y="2674"/>
              <a:ext cx="168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000" dirty="0">
                  <a:solidFill>
                    <a:srgbClr val="5D0D8F"/>
                  </a:solidFill>
                </a:rPr>
                <a:t>Substitution effect (+)</a:t>
              </a:r>
            </a:p>
          </p:txBody>
        </p:sp>
        <p:sp>
          <p:nvSpPr>
            <p:cNvPr id="1041" name="AutoShape 7"/>
            <p:cNvSpPr>
              <a:spLocks/>
            </p:cNvSpPr>
            <p:nvPr/>
          </p:nvSpPr>
          <p:spPr bwMode="auto">
            <a:xfrm rot="5400000">
              <a:off x="3000" y="2040"/>
              <a:ext cx="96" cy="1104"/>
            </a:xfrm>
            <a:prstGeom prst="rightBrace">
              <a:avLst>
                <a:gd name="adj1" fmla="val 95833"/>
                <a:gd name="adj2" fmla="val 50000"/>
              </a:avLst>
            </a:prstGeom>
            <a:noFill/>
            <a:ln w="38100">
              <a:solidFill>
                <a:srgbClr val="5D0D8F"/>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3" name="Group 11"/>
          <p:cNvGrpSpPr>
            <a:grpSpLocks/>
          </p:cNvGrpSpPr>
          <p:nvPr/>
        </p:nvGrpSpPr>
        <p:grpSpPr bwMode="auto">
          <a:xfrm>
            <a:off x="4876801" y="3200403"/>
            <a:ext cx="3817938" cy="592138"/>
            <a:chOff x="3437" y="2544"/>
            <a:chExt cx="2405" cy="373"/>
          </a:xfrm>
        </p:grpSpPr>
        <p:sp>
          <p:nvSpPr>
            <p:cNvPr id="1038" name="AutoShape 8"/>
            <p:cNvSpPr>
              <a:spLocks/>
            </p:cNvSpPr>
            <p:nvPr/>
          </p:nvSpPr>
          <p:spPr bwMode="auto">
            <a:xfrm rot="5400000">
              <a:off x="4128" y="2112"/>
              <a:ext cx="96" cy="960"/>
            </a:xfrm>
            <a:prstGeom prst="rightBrace">
              <a:avLst>
                <a:gd name="adj1" fmla="val 83333"/>
                <a:gd name="adj2" fmla="val 50000"/>
              </a:avLst>
            </a:prstGeom>
            <a:noFill/>
            <a:ln w="38100">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1039" name="Text Box 9"/>
            <p:cNvSpPr txBox="1">
              <a:spLocks noChangeArrowheads="1"/>
            </p:cNvSpPr>
            <p:nvPr/>
          </p:nvSpPr>
          <p:spPr bwMode="auto">
            <a:xfrm>
              <a:off x="3437" y="2665"/>
              <a:ext cx="24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000" dirty="0">
                  <a:solidFill>
                    <a:srgbClr val="177B21"/>
                  </a:solidFill>
                </a:rPr>
                <a:t>Income effect (-) if </a:t>
              </a:r>
              <a:r>
                <a:rPr lang="en-US" altLang="en-US" sz="2000" i="1" dirty="0">
                  <a:solidFill>
                    <a:srgbClr val="177B21"/>
                  </a:solidFill>
                </a:rPr>
                <a:t>x</a:t>
              </a:r>
              <a:r>
                <a:rPr lang="en-US" altLang="en-US" sz="2000" dirty="0">
                  <a:solidFill>
                    <a:srgbClr val="177B21"/>
                  </a:solidFill>
                </a:rPr>
                <a:t> is normal</a:t>
              </a:r>
            </a:p>
          </p:txBody>
        </p:sp>
      </p:grpSp>
      <p:grpSp>
        <p:nvGrpSpPr>
          <p:cNvPr id="7" name="Group 14"/>
          <p:cNvGrpSpPr>
            <a:grpSpLocks/>
          </p:cNvGrpSpPr>
          <p:nvPr/>
        </p:nvGrpSpPr>
        <p:grpSpPr bwMode="auto">
          <a:xfrm>
            <a:off x="3014663" y="3749679"/>
            <a:ext cx="4267200" cy="696913"/>
            <a:chOff x="2400" y="3312"/>
            <a:chExt cx="2688" cy="439"/>
          </a:xfrm>
        </p:grpSpPr>
        <p:sp>
          <p:nvSpPr>
            <p:cNvPr id="1036" name="AutoShape 12"/>
            <p:cNvSpPr>
              <a:spLocks/>
            </p:cNvSpPr>
            <p:nvPr/>
          </p:nvSpPr>
          <p:spPr bwMode="auto">
            <a:xfrm rot="5400000">
              <a:off x="3648" y="2064"/>
              <a:ext cx="192" cy="2688"/>
            </a:xfrm>
            <a:prstGeom prst="rightBrace">
              <a:avLst>
                <a:gd name="adj1" fmla="val 116667"/>
                <a:gd name="adj2" fmla="val 50000"/>
              </a:avLst>
            </a:prstGeom>
            <a:noFill/>
            <a:ln w="38100">
              <a:solidFill>
                <a:srgbClr val="7B332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1037" name="Text Box 13"/>
            <p:cNvSpPr txBox="1">
              <a:spLocks noChangeArrowheads="1"/>
            </p:cNvSpPr>
            <p:nvPr/>
          </p:nvSpPr>
          <p:spPr bwMode="auto">
            <a:xfrm>
              <a:off x="2723" y="3499"/>
              <a:ext cx="227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000" dirty="0">
                  <a:solidFill>
                    <a:srgbClr val="7B332D"/>
                  </a:solidFill>
                </a:rPr>
                <a:t>Combined effect (ambiguous)</a:t>
              </a:r>
            </a:p>
          </p:txBody>
        </p:sp>
      </p:grpSp>
      <p:graphicFrame>
        <p:nvGraphicFramePr>
          <p:cNvPr id="16" name="Object 3"/>
          <p:cNvGraphicFramePr>
            <a:graphicFrameLocks noChangeAspect="1"/>
          </p:cNvGraphicFramePr>
          <p:nvPr/>
        </p:nvGraphicFramePr>
        <p:xfrm>
          <a:off x="1738313" y="5110163"/>
          <a:ext cx="3971925" cy="938212"/>
        </p:xfrm>
        <a:graphic>
          <a:graphicData uri="http://schemas.openxmlformats.org/presentationml/2006/ole">
            <mc:AlternateContent xmlns:mc="http://schemas.openxmlformats.org/markup-compatibility/2006">
              <mc:Choice xmlns:v="urn:schemas-microsoft-com:vml" Requires="v">
                <p:oleObj spid="_x0000_s129045" name="Equation" r:id="rId5" imgW="1180800" imgH="279360" progId="Equation.DSMT4">
                  <p:embed/>
                </p:oleObj>
              </mc:Choice>
              <mc:Fallback>
                <p:oleObj name="Equation" r:id="rId5" imgW="1180800" imgH="27936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8313" y="5110163"/>
                        <a:ext cx="3971925" cy="938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605292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left)">
                                      <p:cBhvr>
                                        <p:cTn id="23" dur="500"/>
                                        <p:tgtEl>
                                          <p:spTgt spid="8">
                                            <p:txEl>
                                              <p:pRg st="0" end="0"/>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6.1 </a:t>
            </a:r>
            <a:r>
              <a:rPr lang="en-US" altLang="en-US" dirty="0" smtClean="0"/>
              <a:t>	Another </a:t>
            </a:r>
            <a:r>
              <a:rPr lang="en-US" altLang="en-US" dirty="0" err="1" smtClean="0"/>
              <a:t>Slutsky</a:t>
            </a:r>
            <a:r>
              <a:rPr lang="en-US" altLang="en-US" dirty="0" smtClean="0"/>
              <a:t> Decomposition for </a:t>
            </a:r>
            <a:br>
              <a:rPr lang="en-US" altLang="en-US" dirty="0" smtClean="0"/>
            </a:br>
            <a:r>
              <a:rPr lang="en-US" altLang="en-US" dirty="0" smtClean="0"/>
              <a:t>	</a:t>
            </a:r>
            <a:r>
              <a:rPr lang="en-US" altLang="en-US" dirty="0" smtClean="0">
                <a:solidFill>
                  <a:srgbClr val="002D56"/>
                </a:solidFill>
              </a:rPr>
              <a:t>Cross-Price </a:t>
            </a:r>
            <a:r>
              <a:rPr lang="en-US" altLang="en-US" dirty="0" smtClean="0">
                <a:solidFill>
                  <a:srgbClr val="002D56"/>
                </a:solidFill>
              </a:rPr>
              <a:t>Effects</a:t>
            </a:r>
          </a:p>
        </p:txBody>
      </p:sp>
      <p:sp>
        <p:nvSpPr>
          <p:cNvPr id="2458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49ED4401-095E-415C-96DA-41ACA351804F}" type="slidenum">
              <a:rPr lang="en-US" smtClean="0"/>
              <a:pPr>
                <a:defRPr/>
              </a:pPr>
              <a:t>5</a:t>
            </a:fld>
            <a:endParaRPr lang="en-US" dirty="0"/>
          </a:p>
        </p:txBody>
      </p:sp>
      <p:sp>
        <p:nvSpPr>
          <p:cNvPr id="24579" name="Content Placeholder 2"/>
          <p:cNvSpPr>
            <a:spLocks noGrp="1"/>
          </p:cNvSpPr>
          <p:nvPr>
            <p:ph type="body" sz="quarter" idx="12"/>
          </p:nvPr>
        </p:nvSpPr>
        <p:spPr>
          <a:xfrm>
            <a:off x="381000" y="990600"/>
            <a:ext cx="8382000" cy="5410200"/>
          </a:xfrm>
          <a:prstGeom prst="rect">
            <a:avLst/>
          </a:prstGeom>
        </p:spPr>
        <p:txBody>
          <a:bodyPr/>
          <a:lstStyle/>
          <a:p>
            <a:r>
              <a:rPr lang="en-US" altLang="en-US" dirty="0" smtClean="0"/>
              <a:t>The cross-price effect of a change in y prices on x purchases</a:t>
            </a:r>
          </a:p>
          <a:p>
            <a:pPr lvl="1"/>
            <a:r>
              <a:rPr lang="en-US" altLang="en-US" dirty="0" smtClean="0"/>
              <a:t>Uncompensated demand function: </a:t>
            </a:r>
          </a:p>
          <a:p>
            <a:pPr lvl="1">
              <a:lnSpc>
                <a:spcPct val="150000"/>
              </a:lnSpc>
              <a:buFont typeface="Arial" charset="0"/>
              <a:buNone/>
            </a:pPr>
            <a:r>
              <a:rPr lang="en-US" altLang="en-US" dirty="0" smtClean="0"/>
              <a:t>x(</a:t>
            </a:r>
            <a:r>
              <a:rPr lang="en-US" altLang="en-US" dirty="0" err="1" smtClean="0"/>
              <a:t>p</a:t>
            </a:r>
            <a:r>
              <a:rPr lang="en-US" altLang="en-US" baseline="-25000" dirty="0" err="1" smtClean="0"/>
              <a:t>x</a:t>
            </a:r>
            <a:r>
              <a:rPr lang="en-US" altLang="en-US" dirty="0" err="1" smtClean="0"/>
              <a:t>,p</a:t>
            </a:r>
            <a:r>
              <a:rPr lang="en-US" altLang="en-US" baseline="-25000" dirty="0" err="1" smtClean="0"/>
              <a:t>y</a:t>
            </a:r>
            <a:r>
              <a:rPr lang="en-US" altLang="en-US" dirty="0" err="1" smtClean="0"/>
              <a:t>,</a:t>
            </a:r>
            <a:r>
              <a:rPr lang="en-US" altLang="en-US" dirty="0" err="1" smtClean="0">
                <a:latin typeface="Bell MT" panose="02020503060305020303" pitchFamily="18" charset="0"/>
              </a:rPr>
              <a:t>I</a:t>
            </a:r>
            <a:r>
              <a:rPr lang="en-US" altLang="en-US" dirty="0" smtClean="0"/>
              <a:t>)=0.5 </a:t>
            </a:r>
            <a:r>
              <a:rPr lang="en-US" altLang="en-US" dirty="0" smtClean="0">
                <a:latin typeface="Bell MT" panose="02020503060305020303" pitchFamily="18" charset="0"/>
              </a:rPr>
              <a:t>I</a:t>
            </a:r>
            <a:r>
              <a:rPr lang="en-US" altLang="en-US" dirty="0" smtClean="0"/>
              <a:t>/</a:t>
            </a:r>
            <a:r>
              <a:rPr lang="en-US" altLang="en-US" dirty="0" err="1" smtClean="0"/>
              <a:t>p</a:t>
            </a:r>
            <a:r>
              <a:rPr lang="en-US" altLang="en-US" baseline="-25000" dirty="0" err="1" smtClean="0"/>
              <a:t>x</a:t>
            </a:r>
            <a:endParaRPr lang="en-US" altLang="en-US" baseline="-25000" dirty="0" smtClean="0"/>
          </a:p>
          <a:p>
            <a:pPr lvl="1"/>
            <a:r>
              <a:rPr lang="en-US" altLang="en-US" dirty="0" smtClean="0"/>
              <a:t>Compensated demand function: </a:t>
            </a:r>
          </a:p>
          <a:p>
            <a:pPr lvl="1">
              <a:lnSpc>
                <a:spcPct val="150000"/>
              </a:lnSpc>
              <a:buFont typeface="Arial" charset="0"/>
              <a:buNone/>
            </a:pPr>
            <a:r>
              <a:rPr lang="en-US" altLang="en-US" dirty="0" smtClean="0"/>
              <a:t>x</a:t>
            </a:r>
            <a:r>
              <a:rPr lang="en-US" altLang="en-US" baseline="30000" dirty="0" smtClean="0"/>
              <a:t>c</a:t>
            </a:r>
            <a:r>
              <a:rPr lang="en-US" altLang="en-US" dirty="0" smtClean="0"/>
              <a:t>(</a:t>
            </a:r>
            <a:r>
              <a:rPr lang="en-US" altLang="en-US" dirty="0" err="1" smtClean="0"/>
              <a:t>p</a:t>
            </a:r>
            <a:r>
              <a:rPr lang="en-US" altLang="en-US" baseline="-25000" dirty="0" err="1" smtClean="0"/>
              <a:t>x</a:t>
            </a:r>
            <a:r>
              <a:rPr lang="en-US" altLang="en-US" dirty="0" err="1" smtClean="0"/>
              <a:t>,p</a:t>
            </a:r>
            <a:r>
              <a:rPr lang="en-US" altLang="en-US" baseline="-25000" dirty="0" err="1" smtClean="0"/>
              <a:t>y</a:t>
            </a:r>
            <a:r>
              <a:rPr lang="en-US" altLang="en-US" dirty="0" err="1" smtClean="0"/>
              <a:t>,V</a:t>
            </a:r>
            <a:r>
              <a:rPr lang="en-US" altLang="en-US" dirty="0" smtClean="0"/>
              <a:t>)=Vp</a:t>
            </a:r>
            <a:r>
              <a:rPr lang="en-US" altLang="en-US" baseline="-25000" dirty="0" smtClean="0"/>
              <a:t>y</a:t>
            </a:r>
            <a:r>
              <a:rPr lang="en-US" altLang="en-US" baseline="30000" dirty="0" smtClean="0"/>
              <a:t>0.5</a:t>
            </a:r>
            <a:r>
              <a:rPr lang="en-US" altLang="en-US" dirty="0" smtClean="0"/>
              <a:t>p</a:t>
            </a:r>
            <a:r>
              <a:rPr lang="en-US" altLang="en-US" baseline="-25000" dirty="0" smtClean="0"/>
              <a:t>x</a:t>
            </a:r>
            <a:r>
              <a:rPr lang="en-US" altLang="en-US" baseline="30000" dirty="0" smtClean="0"/>
              <a:t>-0.5</a:t>
            </a:r>
          </a:p>
          <a:p>
            <a:pPr lvl="1"/>
            <a:r>
              <a:rPr lang="en-US" altLang="en-US" dirty="0" smtClean="0"/>
              <a:t>Marshallian demand function in this case yields: </a:t>
            </a:r>
          </a:p>
          <a:p>
            <a:pPr lvl="1">
              <a:lnSpc>
                <a:spcPct val="150000"/>
              </a:lnSpc>
              <a:buFont typeface="Arial" charset="0"/>
              <a:buNone/>
            </a:pPr>
            <a:r>
              <a:rPr lang="en-US" altLang="en-US" dirty="0" smtClean="0">
                <a:cs typeface="Arial" charset="0"/>
              </a:rPr>
              <a:t>∂x/∂</a:t>
            </a:r>
            <a:r>
              <a:rPr lang="en-US" altLang="en-US" dirty="0" err="1" smtClean="0">
                <a:cs typeface="Arial" charset="0"/>
              </a:rPr>
              <a:t>p</a:t>
            </a:r>
            <a:r>
              <a:rPr lang="en-US" altLang="en-US" baseline="-25000" dirty="0" err="1" smtClean="0">
                <a:cs typeface="Arial" charset="0"/>
              </a:rPr>
              <a:t>y</a:t>
            </a:r>
            <a:r>
              <a:rPr lang="en-US" altLang="en-US" dirty="0" smtClean="0">
                <a:cs typeface="Arial" charset="0"/>
              </a:rPr>
              <a:t>=0</a:t>
            </a:r>
            <a:endParaRPr lang="en-US" altLang="en-US" dirty="0" smtClean="0"/>
          </a:p>
        </p:txBody>
      </p:sp>
    </p:spTree>
    <p:extLst>
      <p:ext uri="{BB962C8B-B14F-4D97-AF65-F5344CB8AC3E}">
        <p14:creationId xmlns:p14="http://schemas.microsoft.com/office/powerpoint/2010/main" val="40892084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6.1 </a:t>
            </a:r>
            <a:r>
              <a:rPr lang="en-US" altLang="en-US" dirty="0" smtClean="0"/>
              <a:t>	Another </a:t>
            </a:r>
            <a:r>
              <a:rPr lang="en-US" altLang="en-US" dirty="0" err="1" smtClean="0"/>
              <a:t>Slutsky</a:t>
            </a:r>
            <a:r>
              <a:rPr lang="en-US" altLang="en-US" dirty="0" smtClean="0"/>
              <a:t> Decomposition for </a:t>
            </a:r>
            <a:br>
              <a:rPr lang="en-US" altLang="en-US" dirty="0" smtClean="0"/>
            </a:br>
            <a:r>
              <a:rPr lang="en-US" altLang="en-US" dirty="0" smtClean="0"/>
              <a:t>	</a:t>
            </a:r>
            <a:r>
              <a:rPr lang="en-US" altLang="en-US" dirty="0" smtClean="0">
                <a:solidFill>
                  <a:srgbClr val="002D56"/>
                </a:solidFill>
              </a:rPr>
              <a:t>Cross-Price </a:t>
            </a:r>
            <a:r>
              <a:rPr lang="en-US" altLang="en-US" dirty="0" smtClean="0">
                <a:solidFill>
                  <a:srgbClr val="002D56"/>
                </a:solidFill>
              </a:rPr>
              <a:t>Effects</a:t>
            </a:r>
          </a:p>
        </p:txBody>
      </p:sp>
      <p:sp>
        <p:nvSpPr>
          <p:cNvPr id="2054"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053598CC-55F8-4F31-AF9B-EC9285E4B0D1}" type="slidenum">
              <a:rPr lang="en-US" smtClean="0"/>
              <a:pPr>
                <a:defRPr/>
              </a:pPr>
              <a:t>6</a:t>
            </a:fld>
            <a:endParaRPr lang="en-US" dirty="0"/>
          </a:p>
        </p:txBody>
      </p:sp>
      <p:sp>
        <p:nvSpPr>
          <p:cNvPr id="2052" name="Content Placeholder 2"/>
          <p:cNvSpPr>
            <a:spLocks noGrp="1"/>
          </p:cNvSpPr>
          <p:nvPr>
            <p:ph type="body" sz="quarter" idx="12"/>
          </p:nvPr>
        </p:nvSpPr>
        <p:spPr>
          <a:xfrm>
            <a:off x="381000" y="1066800"/>
            <a:ext cx="8382000" cy="5334000"/>
          </a:xfrm>
          <a:prstGeom prst="rect">
            <a:avLst/>
          </a:prstGeom>
        </p:spPr>
        <p:txBody>
          <a:bodyPr/>
          <a:lstStyle/>
          <a:p>
            <a:r>
              <a:rPr lang="en-US" altLang="en-US" dirty="0" smtClean="0"/>
              <a:t>The cross-price effect of a change in y prices on x purchases</a:t>
            </a:r>
          </a:p>
          <a:p>
            <a:pPr lvl="1"/>
            <a:r>
              <a:rPr lang="en-US" altLang="en-US" dirty="0" smtClean="0"/>
              <a:t>Changes in the price of y do not affect x purchases</a:t>
            </a:r>
          </a:p>
          <a:p>
            <a:pPr lvl="1"/>
            <a:r>
              <a:rPr lang="en-US" altLang="en-US" dirty="0" smtClean="0"/>
              <a:t>Because the substitution and income effects of a price change are precisely counterbalancing</a:t>
            </a:r>
          </a:p>
          <a:p>
            <a:r>
              <a:rPr lang="en-US" altLang="en-US" dirty="0" smtClean="0"/>
              <a:t>Substitution effect:</a:t>
            </a:r>
          </a:p>
        </p:txBody>
      </p:sp>
      <p:graphicFrame>
        <p:nvGraphicFramePr>
          <p:cNvPr id="6" name="Object 2"/>
          <p:cNvGraphicFramePr>
            <a:graphicFrameLocks noChangeAspect="1"/>
          </p:cNvGraphicFramePr>
          <p:nvPr/>
        </p:nvGraphicFramePr>
        <p:xfrm>
          <a:off x="720725" y="4360863"/>
          <a:ext cx="7810500" cy="2095500"/>
        </p:xfrm>
        <a:graphic>
          <a:graphicData uri="http://schemas.openxmlformats.org/presentationml/2006/ole">
            <mc:AlternateContent xmlns:mc="http://schemas.openxmlformats.org/markup-compatibility/2006">
              <mc:Choice xmlns:v="urn:schemas-microsoft-com:vml" Requires="v">
                <p:oleObj spid="_x0000_s130059" name="Equation" r:id="rId3" imgW="2933640" imgH="787320" progId="Equation.DSMT4">
                  <p:embed/>
                </p:oleObj>
              </mc:Choice>
              <mc:Fallback>
                <p:oleObj name="Equation" r:id="rId3" imgW="2933640" imgH="7873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725" y="4360863"/>
                        <a:ext cx="7810500" cy="209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935060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6.1 </a:t>
            </a:r>
            <a:r>
              <a:rPr lang="en-US" altLang="en-US" dirty="0" smtClean="0"/>
              <a:t>	Another </a:t>
            </a:r>
            <a:r>
              <a:rPr lang="en-US" altLang="en-US" dirty="0" err="1" smtClean="0"/>
              <a:t>Slutsky</a:t>
            </a:r>
            <a:r>
              <a:rPr lang="en-US" altLang="en-US" dirty="0" smtClean="0"/>
              <a:t> Decomposition for </a:t>
            </a:r>
            <a:br>
              <a:rPr lang="en-US" altLang="en-US" dirty="0" smtClean="0"/>
            </a:br>
            <a:r>
              <a:rPr lang="en-US" altLang="en-US" dirty="0" smtClean="0"/>
              <a:t>	</a:t>
            </a:r>
            <a:r>
              <a:rPr lang="en-US" altLang="en-US" dirty="0" smtClean="0">
                <a:solidFill>
                  <a:srgbClr val="002D56"/>
                </a:solidFill>
              </a:rPr>
              <a:t>Cross-Price </a:t>
            </a:r>
            <a:r>
              <a:rPr lang="en-US" altLang="en-US" dirty="0" smtClean="0">
                <a:solidFill>
                  <a:srgbClr val="002D56"/>
                </a:solidFill>
              </a:rPr>
              <a:t>Effects</a:t>
            </a:r>
          </a:p>
        </p:txBody>
      </p:sp>
      <p:sp>
        <p:nvSpPr>
          <p:cNvPr id="307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9195D8E1-EFE1-4C6E-9D2D-62B60484E9F4}" type="slidenum">
              <a:rPr lang="en-US" smtClean="0"/>
              <a:pPr>
                <a:defRPr/>
              </a:pPr>
              <a:t>7</a:t>
            </a:fld>
            <a:endParaRPr lang="en-US" dirty="0"/>
          </a:p>
        </p:txBody>
      </p:sp>
      <p:sp>
        <p:nvSpPr>
          <p:cNvPr id="3077" name="Content Placeholder 2"/>
          <p:cNvSpPr>
            <a:spLocks noGrp="1"/>
          </p:cNvSpPr>
          <p:nvPr>
            <p:ph type="body" sz="quarter" idx="12"/>
          </p:nvPr>
        </p:nvSpPr>
        <p:spPr>
          <a:xfrm>
            <a:off x="381000" y="914400"/>
            <a:ext cx="8382000" cy="2286000"/>
          </a:xfrm>
          <a:prstGeom prst="rect">
            <a:avLst/>
          </a:prstGeom>
        </p:spPr>
        <p:txBody>
          <a:bodyPr/>
          <a:lstStyle/>
          <a:p>
            <a:r>
              <a:rPr lang="en-US" altLang="en-US" dirty="0" smtClean="0"/>
              <a:t>Income effect:</a:t>
            </a:r>
          </a:p>
        </p:txBody>
      </p:sp>
      <p:sp>
        <p:nvSpPr>
          <p:cNvPr id="2" name="Text Placeholder 1"/>
          <p:cNvSpPr>
            <a:spLocks noGrp="1"/>
          </p:cNvSpPr>
          <p:nvPr>
            <p:ph type="body" sz="quarter" idx="13"/>
          </p:nvPr>
        </p:nvSpPr>
        <p:spPr>
          <a:xfrm>
            <a:off x="381000" y="3581400"/>
            <a:ext cx="8382000" cy="2590800"/>
          </a:xfrm>
        </p:spPr>
        <p:txBody>
          <a:bodyPr/>
          <a:lstStyle/>
          <a:p>
            <a:r>
              <a:rPr lang="en-US" dirty="0"/>
              <a:t>Total effect of a change in the price of y</a:t>
            </a:r>
            <a:r>
              <a:rPr lang="en-US" dirty="0" smtClean="0"/>
              <a:t>:</a:t>
            </a:r>
            <a:endParaRPr lang="en-US" dirty="0"/>
          </a:p>
        </p:txBody>
      </p:sp>
      <p:graphicFrame>
        <p:nvGraphicFramePr>
          <p:cNvPr id="7" name="Object 3"/>
          <p:cNvGraphicFramePr>
            <a:graphicFrameLocks noChangeAspect="1"/>
          </p:cNvGraphicFramePr>
          <p:nvPr>
            <p:extLst>
              <p:ext uri="{D42A27DB-BD31-4B8C-83A1-F6EECF244321}">
                <p14:modId xmlns:p14="http://schemas.microsoft.com/office/powerpoint/2010/main" val="3882261750"/>
              </p:ext>
            </p:extLst>
          </p:nvPr>
        </p:nvGraphicFramePr>
        <p:xfrm>
          <a:off x="704850" y="1641475"/>
          <a:ext cx="7496175" cy="1787525"/>
        </p:xfrm>
        <a:graphic>
          <a:graphicData uri="http://schemas.openxmlformats.org/presentationml/2006/ole">
            <mc:AlternateContent xmlns:mc="http://schemas.openxmlformats.org/markup-compatibility/2006">
              <mc:Choice xmlns:v="urn:schemas-microsoft-com:vml" Requires="v">
                <p:oleObj spid="_x0000_s131092" name="Equation" r:id="rId3" imgW="2768400" imgH="660240" progId="Equation.DSMT4">
                  <p:embed/>
                </p:oleObj>
              </mc:Choice>
              <mc:Fallback>
                <p:oleObj name="Equation" r:id="rId3" imgW="2768400" imgH="660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 y="1641475"/>
                        <a:ext cx="7496175" cy="178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2" name="Object 4"/>
          <p:cNvGraphicFramePr>
            <a:graphicFrameLocks noChangeAspect="1"/>
          </p:cNvGraphicFramePr>
          <p:nvPr/>
        </p:nvGraphicFramePr>
        <p:xfrm>
          <a:off x="855663" y="4379913"/>
          <a:ext cx="5849937" cy="1182687"/>
        </p:xfrm>
        <a:graphic>
          <a:graphicData uri="http://schemas.openxmlformats.org/presentationml/2006/ole">
            <mc:AlternateContent xmlns:mc="http://schemas.openxmlformats.org/markup-compatibility/2006">
              <mc:Choice xmlns:v="urn:schemas-microsoft-com:vml" Requires="v">
                <p:oleObj spid="_x0000_s131093" name="Equation" r:id="rId5" imgW="2197080" imgH="444240" progId="Equation.DSMT4">
                  <p:embed/>
                </p:oleObj>
              </mc:Choice>
              <mc:Fallback>
                <p:oleObj name="Equation" r:id="rId5" imgW="2197080" imgH="4442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5663" y="4379913"/>
                        <a:ext cx="5849937" cy="1182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629964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3012"/>
                                        </p:tgtEl>
                                        <p:attrNameLst>
                                          <p:attrName>style.visibility</p:attrName>
                                        </p:attrNameLst>
                                      </p:cBhvr>
                                      <p:to>
                                        <p:strVal val="visible"/>
                                      </p:to>
                                    </p:set>
                                    <p:animEffect transition="in" filter="wipe(left)">
                                      <p:cBhvr>
                                        <p:cTn id="15" dur="500"/>
                                        <p:tgtEl>
                                          <p:spTgt spid="4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itle 1"/>
          <p:cNvSpPr>
            <a:spLocks noGrp="1"/>
          </p:cNvSpPr>
          <p:nvPr>
            <p:ph type="title"/>
          </p:nvPr>
        </p:nvSpPr>
        <p:spPr/>
        <p:txBody>
          <a:bodyPr/>
          <a:lstStyle/>
          <a:p>
            <a:r>
              <a:rPr lang="en-US" altLang="en-US" smtClean="0"/>
              <a:t>Substitutes and Complements</a:t>
            </a:r>
          </a:p>
        </p:txBody>
      </p:sp>
      <p:sp>
        <p:nvSpPr>
          <p:cNvPr id="4101" name="Content Placeholder 2"/>
          <p:cNvSpPr>
            <a:spLocks noGrp="1"/>
          </p:cNvSpPr>
          <p:nvPr>
            <p:ph idx="1"/>
          </p:nvPr>
        </p:nvSpPr>
        <p:spPr/>
        <p:txBody>
          <a:bodyPr/>
          <a:lstStyle/>
          <a:p>
            <a:r>
              <a:rPr lang="en-US" altLang="en-US" dirty="0" smtClean="0"/>
              <a:t>Many goods</a:t>
            </a:r>
          </a:p>
          <a:p>
            <a:pPr lvl="1">
              <a:lnSpc>
                <a:spcPct val="150000"/>
              </a:lnSpc>
            </a:pPr>
            <a:r>
              <a:rPr lang="en-US" altLang="en-US" dirty="0" smtClean="0"/>
              <a:t>Generalize the </a:t>
            </a:r>
            <a:r>
              <a:rPr lang="en-US" altLang="en-US" dirty="0" err="1" smtClean="0"/>
              <a:t>Slutsky</a:t>
            </a:r>
            <a:r>
              <a:rPr lang="en-US" altLang="en-US" dirty="0" smtClean="0"/>
              <a:t> equation for any </a:t>
            </a:r>
            <a:r>
              <a:rPr lang="en-US" altLang="en-US" dirty="0" smtClean="0"/>
              <a:t>two goods </a:t>
            </a:r>
            <a:r>
              <a:rPr lang="en-US" altLang="en-US" dirty="0" smtClean="0"/>
              <a:t>x</a:t>
            </a:r>
            <a:r>
              <a:rPr lang="en-US" altLang="en-US" baseline="-25000" dirty="0" smtClean="0"/>
              <a:t>i</a:t>
            </a:r>
            <a:r>
              <a:rPr lang="en-US" altLang="en-US" dirty="0" smtClean="0"/>
              <a:t>, </a:t>
            </a:r>
            <a:r>
              <a:rPr lang="en-US" altLang="en-US" dirty="0" err="1" smtClean="0"/>
              <a:t>x</a:t>
            </a:r>
            <a:r>
              <a:rPr lang="en-US" altLang="en-US" baseline="-25000" dirty="0" err="1" smtClean="0"/>
              <a:t>j</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7AC326B-9D6D-470D-8B5A-C984CFC27837}" type="slidenum">
              <a:rPr lang="en-US" smtClean="0"/>
              <a:pPr>
                <a:defRPr/>
              </a:pPr>
              <a:t>8</a:t>
            </a:fld>
            <a:endParaRPr lang="en-US"/>
          </a:p>
        </p:txBody>
      </p:sp>
      <p:sp>
        <p:nvSpPr>
          <p:cNvPr id="2" name="Text Placeholder 1"/>
          <p:cNvSpPr>
            <a:spLocks noGrp="1"/>
          </p:cNvSpPr>
          <p:nvPr>
            <p:ph type="body" sz="quarter" idx="12"/>
          </p:nvPr>
        </p:nvSpPr>
        <p:spPr>
          <a:xfrm>
            <a:off x="381000" y="4572000"/>
            <a:ext cx="8534400" cy="1676400"/>
          </a:xfrm>
        </p:spPr>
        <p:txBody>
          <a:bodyPr/>
          <a:lstStyle/>
          <a:p>
            <a:pPr lvl="1"/>
            <a:r>
              <a:rPr lang="en-US" dirty="0"/>
              <a:t>An elasticity </a:t>
            </a:r>
            <a:r>
              <a:rPr lang="en-US" dirty="0" smtClean="0"/>
              <a:t>relation</a:t>
            </a:r>
            <a:endParaRPr lang="en-US" dirty="0"/>
          </a:p>
        </p:txBody>
      </p:sp>
      <p:graphicFrame>
        <p:nvGraphicFramePr>
          <p:cNvPr id="44034" name="Object 2"/>
          <p:cNvGraphicFramePr>
            <a:graphicFrameLocks noChangeAspect="1"/>
          </p:cNvGraphicFramePr>
          <p:nvPr>
            <p:extLst>
              <p:ext uri="{D42A27DB-BD31-4B8C-83A1-F6EECF244321}">
                <p14:modId xmlns:p14="http://schemas.microsoft.com/office/powerpoint/2010/main" val="3440798901"/>
              </p:ext>
            </p:extLst>
          </p:nvPr>
        </p:nvGraphicFramePr>
        <p:xfrm>
          <a:off x="1112838" y="3224212"/>
          <a:ext cx="6076950" cy="1347788"/>
        </p:xfrm>
        <a:graphic>
          <a:graphicData uri="http://schemas.openxmlformats.org/presentationml/2006/ole">
            <mc:AlternateContent xmlns:mc="http://schemas.openxmlformats.org/markup-compatibility/2006">
              <mc:Choice xmlns:v="urn:schemas-microsoft-com:vml" Requires="v">
                <p:oleObj spid="_x0000_s132116" name="Equation" r:id="rId3" imgW="2349360" imgH="520560" progId="Equation.DSMT4">
                  <p:embed/>
                </p:oleObj>
              </mc:Choice>
              <mc:Fallback>
                <p:oleObj name="Equation" r:id="rId3" imgW="2349360" imgH="5205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838" y="3224212"/>
                        <a:ext cx="6076950" cy="1347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5" name="Object 3"/>
          <p:cNvGraphicFramePr>
            <a:graphicFrameLocks noChangeAspect="1"/>
          </p:cNvGraphicFramePr>
          <p:nvPr/>
        </p:nvGraphicFramePr>
        <p:xfrm>
          <a:off x="1112838" y="5173663"/>
          <a:ext cx="2868612" cy="754062"/>
        </p:xfrm>
        <a:graphic>
          <a:graphicData uri="http://schemas.openxmlformats.org/presentationml/2006/ole">
            <mc:AlternateContent xmlns:mc="http://schemas.openxmlformats.org/markup-compatibility/2006">
              <mc:Choice xmlns:v="urn:schemas-microsoft-com:vml" Requires="v">
                <p:oleObj spid="_x0000_s132117" name="Equation" r:id="rId5" imgW="965160" imgH="253800" progId="Equation.DSMT4">
                  <p:embed/>
                </p:oleObj>
              </mc:Choice>
              <mc:Fallback>
                <p:oleObj name="Equation" r:id="rId5" imgW="965160" imgH="253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2838" y="5173663"/>
                        <a:ext cx="2868612" cy="754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245994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wipe(left)">
                                      <p:cBhvr>
                                        <p:cTn id="7" dur="500"/>
                                        <p:tgtEl>
                                          <p:spTgt spid="4403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4035"/>
                                        </p:tgtEl>
                                        <p:attrNameLst>
                                          <p:attrName>style.visibility</p:attrName>
                                        </p:attrNameLst>
                                      </p:cBhvr>
                                      <p:to>
                                        <p:strVal val="visible"/>
                                      </p:to>
                                    </p:set>
                                    <p:animEffect transition="in" filter="wipe(left)">
                                      <p:cBhvr>
                                        <p:cTn id="15" dur="500"/>
                                        <p:tgtEl>
                                          <p:spTgt spid="44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smtClean="0"/>
              <a:t>Substitutes and Complements</a:t>
            </a:r>
          </a:p>
        </p:txBody>
      </p:sp>
      <p:sp>
        <p:nvSpPr>
          <p:cNvPr id="25603" name="Content Placeholder 2"/>
          <p:cNvSpPr>
            <a:spLocks noGrp="1"/>
          </p:cNvSpPr>
          <p:nvPr>
            <p:ph idx="1"/>
          </p:nvPr>
        </p:nvSpPr>
        <p:spPr/>
        <p:txBody>
          <a:bodyPr/>
          <a:lstStyle/>
          <a:p>
            <a:r>
              <a:rPr lang="en-US" altLang="en-US" smtClean="0"/>
              <a:t>Substitutes </a:t>
            </a:r>
          </a:p>
          <a:p>
            <a:pPr lvl="1"/>
            <a:r>
              <a:rPr lang="en-US" altLang="en-US" smtClean="0"/>
              <a:t>If one good may, as a result of changed conditions, replace the other in use</a:t>
            </a:r>
          </a:p>
          <a:p>
            <a:pPr lvl="1"/>
            <a:r>
              <a:rPr lang="en-US" altLang="en-US" smtClean="0"/>
              <a:t>Substitute for one another in the utility function</a:t>
            </a:r>
          </a:p>
          <a:p>
            <a:r>
              <a:rPr lang="en-US" altLang="en-US" smtClean="0"/>
              <a:t>Complements</a:t>
            </a:r>
          </a:p>
          <a:p>
            <a:pPr lvl="1"/>
            <a:r>
              <a:rPr lang="en-US" altLang="en-US" smtClean="0"/>
              <a:t>Goods that ‘‘go together’’</a:t>
            </a:r>
          </a:p>
          <a:p>
            <a:pPr lvl="1"/>
            <a:r>
              <a:rPr lang="en-US" altLang="en-US" smtClean="0"/>
              <a:t> Complement each other in the utility function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468313C-E82A-4137-962E-4ED84C02D11A}" type="slidenum">
              <a:rPr lang="en-US" smtClean="0"/>
              <a:pPr>
                <a:defRPr/>
              </a:pPr>
              <a:t>9</a:t>
            </a:fld>
            <a:endParaRPr lang="en-US"/>
          </a:p>
        </p:txBody>
      </p:sp>
    </p:spTree>
    <p:extLst>
      <p:ext uri="{BB962C8B-B14F-4D97-AF65-F5344CB8AC3E}">
        <p14:creationId xmlns:p14="http://schemas.microsoft.com/office/powerpoint/2010/main" val="32032876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mtClean="0"/>
              <a:t>Substitutes and Complements</a:t>
            </a:r>
          </a:p>
        </p:txBody>
      </p:sp>
      <p:sp>
        <p:nvSpPr>
          <p:cNvPr id="26627" name="Content Placeholder 2"/>
          <p:cNvSpPr>
            <a:spLocks noGrp="1"/>
          </p:cNvSpPr>
          <p:nvPr>
            <p:ph idx="1"/>
          </p:nvPr>
        </p:nvSpPr>
        <p:spPr/>
        <p:txBody>
          <a:bodyPr/>
          <a:lstStyle/>
          <a:p>
            <a:r>
              <a:rPr lang="en-US" altLang="en-US" dirty="0" smtClean="0"/>
              <a:t>Gross substitutes </a:t>
            </a:r>
          </a:p>
          <a:p>
            <a:pPr lvl="1">
              <a:lnSpc>
                <a:spcPct val="150000"/>
              </a:lnSpc>
            </a:pPr>
            <a:r>
              <a:rPr lang="en-US" altLang="en-US" dirty="0" smtClean="0"/>
              <a:t>Two goods, x</a:t>
            </a:r>
            <a:r>
              <a:rPr lang="en-US" altLang="en-US" baseline="-25000" dirty="0" smtClean="0"/>
              <a:t>i</a:t>
            </a:r>
            <a:r>
              <a:rPr lang="en-US" altLang="en-US" dirty="0" smtClean="0"/>
              <a:t> and </a:t>
            </a:r>
            <a:r>
              <a:rPr lang="en-US" altLang="en-US" dirty="0" err="1" smtClean="0"/>
              <a:t>x</a:t>
            </a:r>
            <a:r>
              <a:rPr lang="en-US" altLang="en-US" baseline="-25000" dirty="0" err="1" smtClean="0"/>
              <a:t>j</a:t>
            </a:r>
            <a:r>
              <a:rPr lang="en-US" altLang="en-US" dirty="0" smtClean="0"/>
              <a:t>, are said to be gross substitutes if: </a:t>
            </a:r>
            <a:r>
              <a:rPr lang="en-US" altLang="en-US" dirty="0" smtClean="0">
                <a:solidFill>
                  <a:srgbClr val="FF0000"/>
                </a:solidFill>
                <a:cs typeface="Arial" charset="0"/>
              </a:rPr>
              <a:t>∂x</a:t>
            </a:r>
            <a:r>
              <a:rPr lang="en-US" altLang="en-US" baseline="-25000" dirty="0" smtClean="0">
                <a:solidFill>
                  <a:srgbClr val="FF0000"/>
                </a:solidFill>
                <a:cs typeface="Arial" charset="0"/>
              </a:rPr>
              <a:t>i</a:t>
            </a:r>
            <a:r>
              <a:rPr lang="en-US" altLang="en-US" dirty="0" smtClean="0">
                <a:solidFill>
                  <a:srgbClr val="FF0000"/>
                </a:solidFill>
                <a:cs typeface="Arial" charset="0"/>
              </a:rPr>
              <a:t>/∂</a:t>
            </a:r>
            <a:r>
              <a:rPr lang="en-US" altLang="en-US" dirty="0" err="1" smtClean="0">
                <a:solidFill>
                  <a:srgbClr val="FF0000"/>
                </a:solidFill>
                <a:cs typeface="Arial" charset="0"/>
              </a:rPr>
              <a:t>p</a:t>
            </a:r>
            <a:r>
              <a:rPr lang="en-US" altLang="en-US" baseline="-25000" dirty="0" err="1" smtClean="0">
                <a:solidFill>
                  <a:srgbClr val="FF0000"/>
                </a:solidFill>
                <a:cs typeface="Arial" charset="0"/>
              </a:rPr>
              <a:t>j</a:t>
            </a:r>
            <a:r>
              <a:rPr lang="en-US" altLang="en-US" dirty="0" smtClean="0">
                <a:solidFill>
                  <a:srgbClr val="FF0000"/>
                </a:solidFill>
                <a:cs typeface="Arial" charset="0"/>
              </a:rPr>
              <a:t>&gt;0</a:t>
            </a:r>
            <a:endParaRPr lang="en-US" altLang="en-US" dirty="0" smtClean="0">
              <a:solidFill>
                <a:srgbClr val="FF0000"/>
              </a:solidFill>
            </a:endParaRPr>
          </a:p>
          <a:p>
            <a:pPr lvl="1"/>
            <a:r>
              <a:rPr lang="en-US" altLang="en-US" dirty="0" smtClean="0"/>
              <a:t>An increase in the price of one good causes more of the other good to be bought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1C790E2-3754-4AFC-BF3E-1410192A354B}" type="slidenum">
              <a:rPr lang="en-US" smtClean="0"/>
              <a:pPr>
                <a:defRPr/>
              </a:pPr>
              <a:t>10</a:t>
            </a:fld>
            <a:endParaRPr lang="en-US"/>
          </a:p>
        </p:txBody>
      </p:sp>
    </p:spTree>
    <p:extLst>
      <p:ext uri="{BB962C8B-B14F-4D97-AF65-F5344CB8AC3E}">
        <p14:creationId xmlns:p14="http://schemas.microsoft.com/office/powerpoint/2010/main" val="2417401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smtClean="0"/>
              <a:t>Substitutes and Complements</a:t>
            </a:r>
          </a:p>
        </p:txBody>
      </p:sp>
      <p:sp>
        <p:nvSpPr>
          <p:cNvPr id="27651" name="Content Placeholder 2"/>
          <p:cNvSpPr>
            <a:spLocks noGrp="1"/>
          </p:cNvSpPr>
          <p:nvPr>
            <p:ph idx="1"/>
          </p:nvPr>
        </p:nvSpPr>
        <p:spPr/>
        <p:txBody>
          <a:bodyPr/>
          <a:lstStyle/>
          <a:p>
            <a:r>
              <a:rPr lang="en-US" altLang="en-US" smtClean="0"/>
              <a:t>Gross complements</a:t>
            </a:r>
          </a:p>
          <a:p>
            <a:pPr lvl="1">
              <a:lnSpc>
                <a:spcPct val="150000"/>
              </a:lnSpc>
            </a:pPr>
            <a:r>
              <a:rPr lang="en-US" altLang="en-US" smtClean="0"/>
              <a:t>Two goods, x</a:t>
            </a:r>
            <a:r>
              <a:rPr lang="en-US" altLang="en-US" baseline="-25000" smtClean="0"/>
              <a:t>i</a:t>
            </a:r>
            <a:r>
              <a:rPr lang="en-US" altLang="en-US" smtClean="0"/>
              <a:t> and x</a:t>
            </a:r>
            <a:r>
              <a:rPr lang="en-US" altLang="en-US" baseline="-25000" smtClean="0"/>
              <a:t>j</a:t>
            </a:r>
            <a:r>
              <a:rPr lang="en-US" altLang="en-US" smtClean="0"/>
              <a:t>, are said to be gross complements if: </a:t>
            </a:r>
            <a:r>
              <a:rPr lang="en-US" altLang="en-US" smtClean="0">
                <a:solidFill>
                  <a:srgbClr val="FF0000"/>
                </a:solidFill>
                <a:cs typeface="Arial" charset="0"/>
              </a:rPr>
              <a:t>∂x</a:t>
            </a:r>
            <a:r>
              <a:rPr lang="en-US" altLang="en-US" baseline="-25000" smtClean="0">
                <a:solidFill>
                  <a:srgbClr val="FF0000"/>
                </a:solidFill>
                <a:cs typeface="Arial" charset="0"/>
              </a:rPr>
              <a:t>i</a:t>
            </a:r>
            <a:r>
              <a:rPr lang="en-US" altLang="en-US" smtClean="0">
                <a:solidFill>
                  <a:srgbClr val="FF0000"/>
                </a:solidFill>
                <a:cs typeface="Arial" charset="0"/>
              </a:rPr>
              <a:t>/∂p</a:t>
            </a:r>
            <a:r>
              <a:rPr lang="en-US" altLang="en-US" baseline="-25000" smtClean="0">
                <a:solidFill>
                  <a:srgbClr val="FF0000"/>
                </a:solidFill>
                <a:cs typeface="Arial" charset="0"/>
              </a:rPr>
              <a:t>j</a:t>
            </a:r>
            <a:r>
              <a:rPr lang="en-US" altLang="en-US" smtClean="0">
                <a:solidFill>
                  <a:srgbClr val="FF0000"/>
                </a:solidFill>
                <a:cs typeface="Arial" charset="0"/>
              </a:rPr>
              <a:t>&lt;0</a:t>
            </a:r>
          </a:p>
          <a:p>
            <a:pPr lvl="1"/>
            <a:r>
              <a:rPr lang="en-US" altLang="en-US" smtClean="0"/>
              <a:t>An increase in the price of one good causes less of the other good to be purchased</a:t>
            </a:r>
          </a:p>
          <a:p>
            <a:pPr lvl="1">
              <a:lnSpc>
                <a:spcPct val="150000"/>
              </a:lnSpc>
            </a:pP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ABB307A-F00D-435C-9C77-C50523C9A891}" type="slidenum">
              <a:rPr lang="en-US" smtClean="0"/>
              <a:pPr>
                <a:defRPr/>
              </a:pPr>
              <a:t>11</a:t>
            </a:fld>
            <a:endParaRPr lang="en-US"/>
          </a:p>
        </p:txBody>
      </p:sp>
    </p:spTree>
    <p:extLst>
      <p:ext uri="{BB962C8B-B14F-4D97-AF65-F5344CB8AC3E}">
        <p14:creationId xmlns:p14="http://schemas.microsoft.com/office/powerpoint/2010/main" val="42049173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mtClean="0"/>
              <a:t>Substitutes and Complements</a:t>
            </a:r>
          </a:p>
        </p:txBody>
      </p:sp>
      <p:sp>
        <p:nvSpPr>
          <p:cNvPr id="28675" name="Content Placeholder 2"/>
          <p:cNvSpPr>
            <a:spLocks noGrp="1"/>
          </p:cNvSpPr>
          <p:nvPr>
            <p:ph idx="1"/>
          </p:nvPr>
        </p:nvSpPr>
        <p:spPr/>
        <p:txBody>
          <a:bodyPr/>
          <a:lstStyle/>
          <a:p>
            <a:r>
              <a:rPr lang="en-US" altLang="en-US" smtClean="0"/>
              <a:t>Asymmetry of the gross definitions</a:t>
            </a:r>
          </a:p>
          <a:p>
            <a:pPr lvl="1"/>
            <a:r>
              <a:rPr lang="en-US" altLang="en-US" smtClean="0"/>
              <a:t>Gross definitions of substitutes and complements - are not symmetric</a:t>
            </a:r>
          </a:p>
          <a:p>
            <a:pPr lvl="1"/>
            <a:r>
              <a:rPr lang="en-US" altLang="en-US" smtClean="0"/>
              <a:t>It is possible, by the definitions</a:t>
            </a:r>
          </a:p>
          <a:p>
            <a:pPr lvl="2"/>
            <a:r>
              <a:rPr lang="en-US" altLang="en-US" smtClean="0"/>
              <a:t>For x</a:t>
            </a:r>
            <a:r>
              <a:rPr lang="en-US" altLang="en-US" baseline="-25000" smtClean="0"/>
              <a:t>1</a:t>
            </a:r>
            <a:r>
              <a:rPr lang="en-US" altLang="en-US" smtClean="0"/>
              <a:t> to be a substitute for x</a:t>
            </a:r>
            <a:r>
              <a:rPr lang="en-US" altLang="en-US" baseline="-25000" smtClean="0"/>
              <a:t>2</a:t>
            </a:r>
            <a:r>
              <a:rPr lang="en-US" altLang="en-US" smtClean="0"/>
              <a:t> </a:t>
            </a:r>
          </a:p>
          <a:p>
            <a:pPr lvl="2"/>
            <a:r>
              <a:rPr lang="en-US" altLang="en-US" smtClean="0"/>
              <a:t>And at the same time </a:t>
            </a:r>
          </a:p>
          <a:p>
            <a:pPr lvl="2"/>
            <a:r>
              <a:rPr lang="en-US" altLang="en-US" smtClean="0"/>
              <a:t>For x</a:t>
            </a:r>
            <a:r>
              <a:rPr lang="en-US" altLang="en-US" baseline="-25000" smtClean="0"/>
              <a:t>2</a:t>
            </a:r>
            <a:r>
              <a:rPr lang="en-US" altLang="en-US" smtClean="0"/>
              <a:t> to be a complement of x</a:t>
            </a:r>
            <a:r>
              <a:rPr lang="en-US" altLang="en-US" baseline="-25000" smtClean="0"/>
              <a:t>1</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33B9695-1AA3-43DD-A2BB-6A3285406327}" type="slidenum">
              <a:rPr lang="en-US" smtClean="0"/>
              <a:pPr>
                <a:defRPr/>
              </a:pPr>
              <a:t>12</a:t>
            </a:fld>
            <a:endParaRPr lang="en-US"/>
          </a:p>
        </p:txBody>
      </p:sp>
    </p:spTree>
    <p:extLst>
      <p:ext uri="{BB962C8B-B14F-4D97-AF65-F5344CB8AC3E}">
        <p14:creationId xmlns:p14="http://schemas.microsoft.com/office/powerpoint/2010/main" val="41226688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6.2 	Asymmetry in Cross-Price Effects</a:t>
            </a:r>
          </a:p>
        </p:txBody>
      </p:sp>
      <p:sp>
        <p:nvSpPr>
          <p:cNvPr id="2970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02EF2E88-A6CB-4E3A-AC43-634A596E8461}" type="slidenum">
              <a:rPr lang="en-US" smtClean="0"/>
              <a:pPr>
                <a:defRPr/>
              </a:pPr>
              <a:t>13</a:t>
            </a:fld>
            <a:endParaRPr lang="en-US" dirty="0"/>
          </a:p>
        </p:txBody>
      </p:sp>
      <p:sp>
        <p:nvSpPr>
          <p:cNvPr id="29699" name="Content Placeholder 2"/>
          <p:cNvSpPr>
            <a:spLocks noGrp="1"/>
          </p:cNvSpPr>
          <p:nvPr>
            <p:ph type="body" sz="quarter" idx="12"/>
          </p:nvPr>
        </p:nvSpPr>
        <p:spPr>
          <a:prstGeom prst="rect">
            <a:avLst/>
          </a:prstGeom>
        </p:spPr>
        <p:txBody>
          <a:bodyPr/>
          <a:lstStyle/>
          <a:p>
            <a:pPr>
              <a:lnSpc>
                <a:spcPct val="150000"/>
              </a:lnSpc>
            </a:pPr>
            <a:r>
              <a:rPr lang="en-US" altLang="en-US" smtClean="0"/>
              <a:t>Utility function, </a:t>
            </a:r>
            <a:r>
              <a:rPr lang="en-US" altLang="en-US" smtClean="0">
                <a:solidFill>
                  <a:srgbClr val="FF0000"/>
                </a:solidFill>
              </a:rPr>
              <a:t>U(</a:t>
            </a:r>
            <a:r>
              <a:rPr lang="en-US" altLang="en-US" i="1" smtClean="0">
                <a:solidFill>
                  <a:srgbClr val="FF0000"/>
                </a:solidFill>
              </a:rPr>
              <a:t>x</a:t>
            </a:r>
            <a:r>
              <a:rPr lang="en-US" altLang="en-US" smtClean="0">
                <a:solidFill>
                  <a:srgbClr val="FF0000"/>
                </a:solidFill>
              </a:rPr>
              <a:t>,</a:t>
            </a:r>
            <a:r>
              <a:rPr lang="en-US" altLang="en-US" i="1" smtClean="0">
                <a:solidFill>
                  <a:srgbClr val="FF0000"/>
                </a:solidFill>
              </a:rPr>
              <a:t>y</a:t>
            </a:r>
            <a:r>
              <a:rPr lang="en-US" altLang="en-US" smtClean="0">
                <a:solidFill>
                  <a:srgbClr val="FF0000"/>
                </a:solidFill>
              </a:rPr>
              <a:t>) = </a:t>
            </a:r>
            <a:r>
              <a:rPr lang="en-US" altLang="en-US" smtClean="0">
                <a:solidFill>
                  <a:srgbClr val="FF0000"/>
                </a:solidFill>
                <a:latin typeface="Verdana" pitchFamily="34" charset="0"/>
              </a:rPr>
              <a:t>ln</a:t>
            </a:r>
            <a:r>
              <a:rPr lang="en-US" altLang="en-US" smtClean="0">
                <a:solidFill>
                  <a:srgbClr val="FF0000"/>
                </a:solidFill>
              </a:rPr>
              <a:t> </a:t>
            </a:r>
            <a:r>
              <a:rPr lang="en-US" altLang="en-US" i="1" smtClean="0">
                <a:solidFill>
                  <a:srgbClr val="FF0000"/>
                </a:solidFill>
              </a:rPr>
              <a:t>x</a:t>
            </a:r>
            <a:r>
              <a:rPr lang="en-US" altLang="en-US" smtClean="0">
                <a:solidFill>
                  <a:srgbClr val="FF0000"/>
                </a:solidFill>
              </a:rPr>
              <a:t> + </a:t>
            </a:r>
            <a:r>
              <a:rPr lang="en-US" altLang="en-US" i="1" smtClean="0">
                <a:solidFill>
                  <a:srgbClr val="FF0000"/>
                </a:solidFill>
              </a:rPr>
              <a:t>y</a:t>
            </a:r>
            <a:endParaRPr lang="en-US" altLang="en-US" smtClean="0">
              <a:solidFill>
                <a:srgbClr val="FF0000"/>
              </a:solidFill>
            </a:endParaRPr>
          </a:p>
          <a:p>
            <a:pPr lvl="1">
              <a:lnSpc>
                <a:spcPct val="150000"/>
              </a:lnSpc>
            </a:pPr>
            <a:r>
              <a:rPr lang="en-US" altLang="en-US" smtClean="0"/>
              <a:t>The Lagrangian, </a:t>
            </a:r>
            <a:r>
              <a:rPr lang="en-US" altLang="en-US" b="1" smtClean="0">
                <a:solidFill>
                  <a:srgbClr val="FF0000"/>
                </a:solidFill>
                <a:latin typeface="Arial Unicode MS" pitchFamily="34" charset="-128"/>
                <a:ea typeface="Arial Unicode MS" pitchFamily="34" charset="-128"/>
                <a:cs typeface="Arial Unicode MS" pitchFamily="34" charset="-128"/>
              </a:rPr>
              <a:t>ℒ</a:t>
            </a:r>
            <a:r>
              <a:rPr lang="en-US" altLang="en-US" smtClean="0">
                <a:solidFill>
                  <a:srgbClr val="FF0000"/>
                </a:solidFill>
              </a:rPr>
              <a:t> = </a:t>
            </a:r>
            <a:r>
              <a:rPr lang="en-US" altLang="en-US" smtClean="0">
                <a:solidFill>
                  <a:srgbClr val="FF0000"/>
                </a:solidFill>
                <a:latin typeface="Verdana" pitchFamily="34" charset="0"/>
              </a:rPr>
              <a:t>ln</a:t>
            </a:r>
            <a:r>
              <a:rPr lang="en-US" altLang="en-US" i="1" smtClean="0">
                <a:solidFill>
                  <a:srgbClr val="FF0000"/>
                </a:solidFill>
              </a:rPr>
              <a:t> x</a:t>
            </a:r>
            <a:r>
              <a:rPr lang="en-US" altLang="en-US" smtClean="0">
                <a:solidFill>
                  <a:srgbClr val="FF0000"/>
                </a:solidFill>
              </a:rPr>
              <a:t> + </a:t>
            </a:r>
            <a:r>
              <a:rPr lang="en-US" altLang="en-US" i="1" smtClean="0">
                <a:solidFill>
                  <a:srgbClr val="FF0000"/>
                </a:solidFill>
              </a:rPr>
              <a:t>y</a:t>
            </a:r>
            <a:r>
              <a:rPr lang="en-US" altLang="en-US" smtClean="0">
                <a:solidFill>
                  <a:srgbClr val="FF0000"/>
                </a:solidFill>
              </a:rPr>
              <a:t> + </a:t>
            </a:r>
            <a:r>
              <a:rPr lang="en-US" altLang="en-US" smtClean="0">
                <a:solidFill>
                  <a:srgbClr val="FF0000"/>
                </a:solidFill>
                <a:sym typeface="Symbol" pitchFamily="18" charset="2"/>
              </a:rPr>
              <a:t>(</a:t>
            </a:r>
            <a:r>
              <a:rPr lang="en-US" altLang="en-US" i="1" smtClean="0">
                <a:solidFill>
                  <a:srgbClr val="FF0000"/>
                </a:solidFill>
                <a:latin typeface="Verdana" pitchFamily="34" charset="0"/>
                <a:sym typeface="Symbol" pitchFamily="18" charset="2"/>
              </a:rPr>
              <a:t>I</a:t>
            </a:r>
            <a:r>
              <a:rPr lang="en-US" altLang="en-US" i="1" smtClean="0">
                <a:solidFill>
                  <a:srgbClr val="FF0000"/>
                </a:solidFill>
                <a:sym typeface="Symbol" pitchFamily="18" charset="2"/>
              </a:rPr>
              <a:t> – p</a:t>
            </a:r>
            <a:r>
              <a:rPr lang="en-US" altLang="en-US" i="1" baseline="-25000" smtClean="0">
                <a:solidFill>
                  <a:srgbClr val="FF0000"/>
                </a:solidFill>
                <a:sym typeface="Symbol" pitchFamily="18" charset="2"/>
              </a:rPr>
              <a:t>x</a:t>
            </a:r>
            <a:r>
              <a:rPr lang="en-US" altLang="en-US" i="1" smtClean="0">
                <a:solidFill>
                  <a:srgbClr val="FF0000"/>
                </a:solidFill>
                <a:sym typeface="Symbol" pitchFamily="18" charset="2"/>
              </a:rPr>
              <a:t>x – p</a:t>
            </a:r>
            <a:r>
              <a:rPr lang="en-US" altLang="en-US" i="1" baseline="-25000" smtClean="0">
                <a:solidFill>
                  <a:srgbClr val="FF0000"/>
                </a:solidFill>
                <a:sym typeface="Symbol" pitchFamily="18" charset="2"/>
              </a:rPr>
              <a:t>y</a:t>
            </a:r>
            <a:r>
              <a:rPr lang="en-US" altLang="en-US" i="1" smtClean="0">
                <a:solidFill>
                  <a:srgbClr val="FF0000"/>
                </a:solidFill>
                <a:sym typeface="Symbol" pitchFamily="18" charset="2"/>
              </a:rPr>
              <a:t>y</a:t>
            </a:r>
            <a:r>
              <a:rPr lang="en-US" altLang="en-US" smtClean="0">
                <a:solidFill>
                  <a:srgbClr val="FF0000"/>
                </a:solidFill>
                <a:sym typeface="Symbol" pitchFamily="18" charset="2"/>
              </a:rPr>
              <a:t>)</a:t>
            </a:r>
            <a:endParaRPr lang="en-US" altLang="en-US" b="1" smtClean="0">
              <a:solidFill>
                <a:srgbClr val="FF0000"/>
              </a:solidFill>
              <a:cs typeface="Arial" charset="0"/>
              <a:sym typeface="Symbol" pitchFamily="18" charset="2"/>
            </a:endParaRPr>
          </a:p>
          <a:p>
            <a:pPr lvl="1"/>
            <a:r>
              <a:rPr lang="en-US" altLang="en-US" smtClean="0"/>
              <a:t>First-order conditions</a:t>
            </a:r>
          </a:p>
          <a:p>
            <a:pPr algn="ctr">
              <a:lnSpc>
                <a:spcPct val="150000"/>
              </a:lnSpc>
              <a:buFontTx/>
              <a:buNone/>
            </a:pPr>
            <a:r>
              <a:rPr lang="en-US" altLang="en-US" sz="2800" smtClean="0">
                <a:cs typeface="Arial" charset="0"/>
                <a:sym typeface="Symbol" pitchFamily="18" charset="2"/>
              </a:rPr>
              <a:t></a:t>
            </a:r>
            <a:r>
              <a:rPr lang="en-US" altLang="en-US" sz="2800" b="1" smtClean="0">
                <a:latin typeface="Arial Unicode MS" pitchFamily="34" charset="-128"/>
                <a:ea typeface="Arial Unicode MS" pitchFamily="34" charset="-128"/>
                <a:cs typeface="Arial Unicode MS" pitchFamily="34" charset="-128"/>
              </a:rPr>
              <a:t>ℒ</a:t>
            </a:r>
            <a:r>
              <a:rPr lang="en-US" altLang="en-US" sz="2800" b="1" smtClean="0">
                <a:cs typeface="Arial" charset="0"/>
                <a:sym typeface="Symbol" pitchFamily="18" charset="2"/>
              </a:rPr>
              <a:t> /</a:t>
            </a:r>
            <a:r>
              <a:rPr lang="en-US" altLang="en-US" sz="2800" smtClean="0">
                <a:cs typeface="Arial" charset="0"/>
                <a:sym typeface="Symbol" pitchFamily="18" charset="2"/>
              </a:rPr>
              <a:t></a:t>
            </a:r>
            <a:r>
              <a:rPr lang="en-US" altLang="en-US" sz="2800" i="1" smtClean="0">
                <a:cs typeface="Arial" charset="0"/>
                <a:sym typeface="Symbol" pitchFamily="18" charset="2"/>
              </a:rPr>
              <a:t>x</a:t>
            </a:r>
            <a:r>
              <a:rPr lang="en-US" altLang="en-US" sz="2800" smtClean="0">
                <a:cs typeface="Arial" charset="0"/>
                <a:sym typeface="Symbol" pitchFamily="18" charset="2"/>
              </a:rPr>
              <a:t> = 1/</a:t>
            </a:r>
            <a:r>
              <a:rPr lang="en-US" altLang="en-US" sz="2800" i="1" smtClean="0">
                <a:cs typeface="Arial" charset="0"/>
                <a:sym typeface="Symbol" pitchFamily="18" charset="2"/>
              </a:rPr>
              <a:t>x</a:t>
            </a:r>
            <a:r>
              <a:rPr lang="en-US" altLang="en-US" sz="2800" smtClean="0">
                <a:cs typeface="Arial" charset="0"/>
                <a:sym typeface="Symbol" pitchFamily="18" charset="2"/>
              </a:rPr>
              <a:t> - </a:t>
            </a:r>
            <a:r>
              <a:rPr lang="en-US" altLang="en-US" sz="2800" i="1" smtClean="0">
                <a:cs typeface="Arial" charset="0"/>
                <a:sym typeface="Symbol" pitchFamily="18" charset="2"/>
              </a:rPr>
              <a:t>p</a:t>
            </a:r>
            <a:r>
              <a:rPr lang="en-US" altLang="en-US" sz="2800" i="1" baseline="-25000" smtClean="0">
                <a:cs typeface="Arial" charset="0"/>
                <a:sym typeface="Symbol" pitchFamily="18" charset="2"/>
              </a:rPr>
              <a:t>x</a:t>
            </a:r>
            <a:r>
              <a:rPr lang="en-US" altLang="en-US" sz="2800" smtClean="0">
                <a:cs typeface="Arial" charset="0"/>
                <a:sym typeface="Symbol" pitchFamily="18" charset="2"/>
              </a:rPr>
              <a:t> = 0</a:t>
            </a:r>
          </a:p>
          <a:p>
            <a:pPr algn="ctr">
              <a:lnSpc>
                <a:spcPct val="150000"/>
              </a:lnSpc>
              <a:buFontTx/>
              <a:buNone/>
            </a:pPr>
            <a:r>
              <a:rPr lang="en-US" altLang="en-US" sz="2800" smtClean="0">
                <a:cs typeface="Arial" charset="0"/>
                <a:sym typeface="Symbol" pitchFamily="18" charset="2"/>
              </a:rPr>
              <a:t></a:t>
            </a:r>
            <a:r>
              <a:rPr lang="en-US" altLang="en-US" sz="2800" b="1" smtClean="0">
                <a:latin typeface="Arial Unicode MS" pitchFamily="34" charset="-128"/>
                <a:ea typeface="Arial Unicode MS" pitchFamily="34" charset="-128"/>
                <a:cs typeface="Arial Unicode MS" pitchFamily="34" charset="-128"/>
              </a:rPr>
              <a:t>ℒ</a:t>
            </a:r>
            <a:r>
              <a:rPr lang="en-US" altLang="en-US" sz="2800" smtClean="0">
                <a:cs typeface="Arial" charset="0"/>
                <a:sym typeface="Symbol" pitchFamily="18" charset="2"/>
              </a:rPr>
              <a:t> </a:t>
            </a:r>
            <a:r>
              <a:rPr lang="en-US" altLang="en-US" sz="2800" b="1" smtClean="0">
                <a:cs typeface="Arial" charset="0"/>
                <a:sym typeface="Symbol" pitchFamily="18" charset="2"/>
              </a:rPr>
              <a:t>/</a:t>
            </a:r>
            <a:r>
              <a:rPr lang="en-US" altLang="en-US" sz="2800" smtClean="0">
                <a:cs typeface="Arial" charset="0"/>
                <a:sym typeface="Symbol" pitchFamily="18" charset="2"/>
              </a:rPr>
              <a:t></a:t>
            </a:r>
            <a:r>
              <a:rPr lang="en-US" altLang="en-US" sz="2800" i="1" smtClean="0">
                <a:cs typeface="Arial" charset="0"/>
                <a:sym typeface="Symbol" pitchFamily="18" charset="2"/>
              </a:rPr>
              <a:t>y</a:t>
            </a:r>
            <a:r>
              <a:rPr lang="en-US" altLang="en-US" sz="2800" smtClean="0">
                <a:cs typeface="Arial" charset="0"/>
                <a:sym typeface="Symbol" pitchFamily="18" charset="2"/>
              </a:rPr>
              <a:t> = 1 - </a:t>
            </a:r>
            <a:r>
              <a:rPr lang="en-US" altLang="en-US" sz="2800" i="1" smtClean="0">
                <a:cs typeface="Arial" charset="0"/>
                <a:sym typeface="Symbol" pitchFamily="18" charset="2"/>
              </a:rPr>
              <a:t>p</a:t>
            </a:r>
            <a:r>
              <a:rPr lang="en-US" altLang="en-US" sz="2800" i="1" baseline="-25000" smtClean="0">
                <a:cs typeface="Arial" charset="0"/>
                <a:sym typeface="Symbol" pitchFamily="18" charset="2"/>
              </a:rPr>
              <a:t>y</a:t>
            </a:r>
            <a:r>
              <a:rPr lang="en-US" altLang="en-US" sz="2800" smtClean="0">
                <a:cs typeface="Arial" charset="0"/>
                <a:sym typeface="Symbol" pitchFamily="18" charset="2"/>
              </a:rPr>
              <a:t> = 0</a:t>
            </a:r>
          </a:p>
          <a:p>
            <a:pPr algn="ctr">
              <a:lnSpc>
                <a:spcPct val="150000"/>
              </a:lnSpc>
              <a:buFontTx/>
              <a:buNone/>
            </a:pPr>
            <a:r>
              <a:rPr lang="en-US" altLang="en-US" sz="2800" smtClean="0">
                <a:cs typeface="Arial" charset="0"/>
                <a:sym typeface="Symbol" pitchFamily="18" charset="2"/>
              </a:rPr>
              <a:t></a:t>
            </a:r>
            <a:r>
              <a:rPr lang="en-US" altLang="en-US" sz="2800" b="1" smtClean="0">
                <a:latin typeface="Arial Unicode MS" pitchFamily="34" charset="-128"/>
                <a:ea typeface="Arial Unicode MS" pitchFamily="34" charset="-128"/>
                <a:cs typeface="Arial Unicode MS" pitchFamily="34" charset="-128"/>
              </a:rPr>
              <a:t>ℒ</a:t>
            </a:r>
            <a:r>
              <a:rPr lang="en-US" altLang="en-US" sz="2800" smtClean="0">
                <a:cs typeface="Arial" charset="0"/>
                <a:sym typeface="Symbol" pitchFamily="18" charset="2"/>
              </a:rPr>
              <a:t> </a:t>
            </a:r>
            <a:r>
              <a:rPr lang="en-US" altLang="en-US" sz="2800" b="1" smtClean="0">
                <a:cs typeface="Arial" charset="0"/>
                <a:sym typeface="Symbol" pitchFamily="18" charset="2"/>
              </a:rPr>
              <a:t>/</a:t>
            </a:r>
            <a:r>
              <a:rPr lang="en-US" altLang="en-US" sz="2800" smtClean="0">
                <a:cs typeface="Arial" charset="0"/>
                <a:sym typeface="Symbol" pitchFamily="18" charset="2"/>
              </a:rPr>
              <a:t> = </a:t>
            </a:r>
            <a:r>
              <a:rPr lang="en-US" altLang="en-US" sz="2800" i="1" smtClean="0">
                <a:latin typeface="Verdana" pitchFamily="34" charset="0"/>
                <a:cs typeface="Arial" charset="0"/>
                <a:sym typeface="Symbol" pitchFamily="18" charset="2"/>
              </a:rPr>
              <a:t>I</a:t>
            </a:r>
            <a:r>
              <a:rPr lang="en-US" altLang="en-US" sz="2800" i="1" smtClean="0">
                <a:cs typeface="Arial" charset="0"/>
                <a:sym typeface="Symbol" pitchFamily="18" charset="2"/>
              </a:rPr>
              <a:t> - p</a:t>
            </a:r>
            <a:r>
              <a:rPr lang="en-US" altLang="en-US" sz="2800" i="1" baseline="-25000" smtClean="0">
                <a:cs typeface="Arial" charset="0"/>
                <a:sym typeface="Symbol" pitchFamily="18" charset="2"/>
              </a:rPr>
              <a:t>x</a:t>
            </a:r>
            <a:r>
              <a:rPr lang="en-US" altLang="en-US" sz="2800" i="1" smtClean="0">
                <a:cs typeface="Arial" charset="0"/>
                <a:sym typeface="Symbol" pitchFamily="18" charset="2"/>
              </a:rPr>
              <a:t>x - p</a:t>
            </a:r>
            <a:r>
              <a:rPr lang="en-US" altLang="en-US" sz="2800" i="1" baseline="-25000" smtClean="0">
                <a:cs typeface="Arial" charset="0"/>
                <a:sym typeface="Symbol" pitchFamily="18" charset="2"/>
              </a:rPr>
              <a:t>y</a:t>
            </a:r>
            <a:r>
              <a:rPr lang="en-US" altLang="en-US" sz="2800" i="1" smtClean="0">
                <a:cs typeface="Arial" charset="0"/>
                <a:sym typeface="Symbol" pitchFamily="18" charset="2"/>
              </a:rPr>
              <a:t>y</a:t>
            </a:r>
            <a:r>
              <a:rPr lang="en-US" altLang="en-US" sz="2800" smtClean="0">
                <a:cs typeface="Arial" charset="0"/>
                <a:sym typeface="Symbol" pitchFamily="18" charset="2"/>
              </a:rPr>
              <a:t> = 0</a:t>
            </a:r>
          </a:p>
          <a:p>
            <a:pPr lvl="1">
              <a:lnSpc>
                <a:spcPct val="150000"/>
              </a:lnSpc>
            </a:pPr>
            <a:r>
              <a:rPr lang="en-US" altLang="en-US" smtClean="0">
                <a:cs typeface="Arial" charset="0"/>
                <a:sym typeface="Symbol" pitchFamily="18" charset="2"/>
              </a:rPr>
              <a:t>So,</a:t>
            </a:r>
            <a:r>
              <a:rPr lang="en-US" altLang="en-US" i="1" smtClean="0">
                <a:solidFill>
                  <a:srgbClr val="7B332D"/>
                </a:solidFill>
                <a:cs typeface="Arial" charset="0"/>
                <a:sym typeface="Symbol" pitchFamily="18" charset="2"/>
              </a:rPr>
              <a:t> </a:t>
            </a:r>
            <a:r>
              <a:rPr lang="en-US" altLang="en-US" i="1" smtClean="0">
                <a:solidFill>
                  <a:srgbClr val="FF0000"/>
                </a:solidFill>
                <a:cs typeface="Arial" charset="0"/>
                <a:sym typeface="Symbol" pitchFamily="18" charset="2"/>
              </a:rPr>
              <a:t>p</a:t>
            </a:r>
            <a:r>
              <a:rPr lang="en-US" altLang="en-US" i="1" baseline="-25000" smtClean="0">
                <a:solidFill>
                  <a:srgbClr val="FF0000"/>
                </a:solidFill>
                <a:cs typeface="Arial" charset="0"/>
                <a:sym typeface="Symbol" pitchFamily="18" charset="2"/>
              </a:rPr>
              <a:t>x</a:t>
            </a:r>
            <a:r>
              <a:rPr lang="en-US" altLang="en-US" i="1" smtClean="0">
                <a:solidFill>
                  <a:srgbClr val="FF0000"/>
                </a:solidFill>
                <a:cs typeface="Arial" charset="0"/>
                <a:sym typeface="Symbol" pitchFamily="18" charset="2"/>
              </a:rPr>
              <a:t>x</a:t>
            </a:r>
            <a:r>
              <a:rPr lang="en-US" altLang="en-US" smtClean="0">
                <a:solidFill>
                  <a:srgbClr val="FF0000"/>
                </a:solidFill>
                <a:cs typeface="Arial" charset="0"/>
                <a:sym typeface="Symbol" pitchFamily="18" charset="2"/>
              </a:rPr>
              <a:t> = </a:t>
            </a:r>
            <a:r>
              <a:rPr lang="en-US" altLang="en-US" i="1" smtClean="0">
                <a:solidFill>
                  <a:srgbClr val="FF0000"/>
                </a:solidFill>
                <a:cs typeface="Arial" charset="0"/>
                <a:sym typeface="Symbol" pitchFamily="18" charset="2"/>
              </a:rPr>
              <a:t>p</a:t>
            </a:r>
            <a:r>
              <a:rPr lang="en-US" altLang="en-US" i="1" baseline="-25000" smtClean="0">
                <a:solidFill>
                  <a:srgbClr val="FF0000"/>
                </a:solidFill>
                <a:cs typeface="Arial" charset="0"/>
                <a:sym typeface="Symbol" pitchFamily="18" charset="2"/>
              </a:rPr>
              <a:t>y</a:t>
            </a:r>
          </a:p>
        </p:txBody>
      </p:sp>
    </p:spTree>
    <p:extLst>
      <p:ext uri="{BB962C8B-B14F-4D97-AF65-F5344CB8AC3E}">
        <p14:creationId xmlns:p14="http://schemas.microsoft.com/office/powerpoint/2010/main" val="42092544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6.2 	Asymmetry in Cross-Price Effects</a:t>
            </a:r>
          </a:p>
        </p:txBody>
      </p:sp>
      <p:sp>
        <p:nvSpPr>
          <p:cNvPr id="3072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E8E40E39-1BB0-49DA-9A49-4E594B44E5F6}" type="slidenum">
              <a:rPr lang="en-US" smtClean="0"/>
              <a:pPr>
                <a:defRPr/>
              </a:pPr>
              <a:t>14</a:t>
            </a:fld>
            <a:endParaRPr lang="en-US" dirty="0"/>
          </a:p>
        </p:txBody>
      </p:sp>
      <p:sp>
        <p:nvSpPr>
          <p:cNvPr id="30723" name="Content Placeholder 2"/>
          <p:cNvSpPr>
            <a:spLocks noGrp="1"/>
          </p:cNvSpPr>
          <p:nvPr>
            <p:ph type="body" sz="quarter" idx="12"/>
          </p:nvPr>
        </p:nvSpPr>
        <p:spPr>
          <a:prstGeom prst="rect">
            <a:avLst/>
          </a:prstGeom>
        </p:spPr>
        <p:txBody>
          <a:bodyPr/>
          <a:lstStyle/>
          <a:p>
            <a:r>
              <a:rPr lang="en-US" altLang="en-US" dirty="0" smtClean="0"/>
              <a:t>Substitution into the budget constraint</a:t>
            </a:r>
          </a:p>
          <a:p>
            <a:pPr lvl="1"/>
            <a:r>
              <a:rPr lang="en-US" altLang="en-US" dirty="0" smtClean="0"/>
              <a:t>Solve for the Marshallian demand function for y</a:t>
            </a:r>
          </a:p>
          <a:p>
            <a:pPr lvl="1">
              <a:lnSpc>
                <a:spcPct val="150000"/>
              </a:lnSpc>
              <a:buFont typeface="Arial" charset="0"/>
              <a:buNone/>
            </a:pPr>
            <a:r>
              <a:rPr lang="en-US" altLang="en-US" dirty="0" smtClean="0">
                <a:solidFill>
                  <a:srgbClr val="000099"/>
                </a:solidFill>
                <a:latin typeface="Bell MT" panose="02020503060305020303" pitchFamily="18" charset="0"/>
                <a:cs typeface="Arial" charset="0"/>
                <a:sym typeface="Symbol" pitchFamily="18" charset="2"/>
              </a:rPr>
              <a:t>I</a:t>
            </a:r>
            <a:r>
              <a:rPr lang="en-US" altLang="en-US" dirty="0" smtClean="0">
                <a:solidFill>
                  <a:srgbClr val="000099"/>
                </a:solidFill>
                <a:cs typeface="Arial" charset="0"/>
                <a:sym typeface="Symbol" pitchFamily="18" charset="2"/>
              </a:rPr>
              <a:t>=</a:t>
            </a:r>
            <a:r>
              <a:rPr lang="en-US" altLang="en-US" dirty="0" err="1" smtClean="0">
                <a:solidFill>
                  <a:srgbClr val="000099"/>
                </a:solidFill>
                <a:cs typeface="Arial" charset="0"/>
                <a:sym typeface="Symbol" pitchFamily="18" charset="2"/>
              </a:rPr>
              <a:t>p</a:t>
            </a:r>
            <a:r>
              <a:rPr lang="en-US" altLang="en-US" baseline="-25000" dirty="0" err="1" smtClean="0">
                <a:solidFill>
                  <a:srgbClr val="000099"/>
                </a:solidFill>
                <a:cs typeface="Arial" charset="0"/>
                <a:sym typeface="Symbol" pitchFamily="18" charset="2"/>
              </a:rPr>
              <a:t>x</a:t>
            </a:r>
            <a:r>
              <a:rPr lang="en-US" altLang="en-US" dirty="0" err="1" smtClean="0">
                <a:solidFill>
                  <a:srgbClr val="000099"/>
                </a:solidFill>
                <a:cs typeface="Arial" charset="0"/>
                <a:sym typeface="Symbol" pitchFamily="18" charset="2"/>
              </a:rPr>
              <a:t>x+p</a:t>
            </a:r>
            <a:r>
              <a:rPr lang="en-US" altLang="en-US" baseline="-25000" dirty="0" err="1" smtClean="0">
                <a:solidFill>
                  <a:srgbClr val="000099"/>
                </a:solidFill>
                <a:cs typeface="Arial" charset="0"/>
                <a:sym typeface="Symbol" pitchFamily="18" charset="2"/>
              </a:rPr>
              <a:t>y</a:t>
            </a:r>
            <a:r>
              <a:rPr lang="en-US" altLang="en-US" dirty="0" err="1" smtClean="0">
                <a:solidFill>
                  <a:srgbClr val="000099"/>
                </a:solidFill>
                <a:cs typeface="Arial" charset="0"/>
                <a:sym typeface="Symbol" pitchFamily="18" charset="2"/>
              </a:rPr>
              <a:t>y</a:t>
            </a:r>
            <a:r>
              <a:rPr lang="en-US" altLang="en-US" dirty="0" smtClean="0">
                <a:solidFill>
                  <a:srgbClr val="000099"/>
                </a:solidFill>
                <a:cs typeface="Arial" charset="0"/>
                <a:sym typeface="Symbol" pitchFamily="18" charset="2"/>
              </a:rPr>
              <a:t> = </a:t>
            </a:r>
            <a:r>
              <a:rPr lang="en-US" altLang="en-US" dirty="0" err="1" smtClean="0">
                <a:solidFill>
                  <a:srgbClr val="000099"/>
                </a:solidFill>
                <a:cs typeface="Arial" charset="0"/>
                <a:sym typeface="Symbol" pitchFamily="18" charset="2"/>
              </a:rPr>
              <a:t>p</a:t>
            </a:r>
            <a:r>
              <a:rPr lang="en-US" altLang="en-US" baseline="-25000" dirty="0" err="1" smtClean="0">
                <a:solidFill>
                  <a:srgbClr val="000099"/>
                </a:solidFill>
                <a:cs typeface="Arial" charset="0"/>
                <a:sym typeface="Symbol" pitchFamily="18" charset="2"/>
              </a:rPr>
              <a:t>y</a:t>
            </a:r>
            <a:r>
              <a:rPr lang="en-US" altLang="en-US" dirty="0" err="1" smtClean="0">
                <a:solidFill>
                  <a:srgbClr val="000099"/>
                </a:solidFill>
                <a:cs typeface="Arial" charset="0"/>
                <a:sym typeface="Symbol" pitchFamily="18" charset="2"/>
              </a:rPr>
              <a:t>+p</a:t>
            </a:r>
            <a:r>
              <a:rPr lang="en-US" altLang="en-US" baseline="-25000" dirty="0" err="1" smtClean="0">
                <a:solidFill>
                  <a:srgbClr val="000099"/>
                </a:solidFill>
                <a:cs typeface="Arial" charset="0"/>
                <a:sym typeface="Symbol" pitchFamily="18" charset="2"/>
              </a:rPr>
              <a:t>y</a:t>
            </a:r>
            <a:r>
              <a:rPr lang="en-US" altLang="en-US" dirty="0" err="1" smtClean="0">
                <a:solidFill>
                  <a:srgbClr val="000099"/>
                </a:solidFill>
                <a:cs typeface="Arial" charset="0"/>
                <a:sym typeface="Symbol" pitchFamily="18" charset="2"/>
              </a:rPr>
              <a:t>y</a:t>
            </a:r>
            <a:endParaRPr lang="en-US" altLang="en-US" dirty="0" smtClean="0">
              <a:solidFill>
                <a:srgbClr val="000099"/>
              </a:solidFill>
              <a:cs typeface="Arial" charset="0"/>
              <a:sym typeface="Symbol" pitchFamily="18" charset="2"/>
            </a:endParaRPr>
          </a:p>
          <a:p>
            <a:pPr lvl="1">
              <a:lnSpc>
                <a:spcPct val="150000"/>
              </a:lnSpc>
            </a:pPr>
            <a:r>
              <a:rPr lang="en-US" altLang="en-US" dirty="0" smtClean="0">
                <a:cs typeface="Arial" charset="0"/>
                <a:sym typeface="Symbol" pitchFamily="18" charset="2"/>
              </a:rPr>
              <a:t>So, </a:t>
            </a:r>
            <a:r>
              <a:rPr lang="en-US" altLang="en-US" dirty="0" smtClean="0">
                <a:solidFill>
                  <a:srgbClr val="FF0000"/>
                </a:solidFill>
                <a:cs typeface="Arial" charset="0"/>
                <a:sym typeface="Symbol" pitchFamily="18" charset="2"/>
              </a:rPr>
              <a:t>y=(</a:t>
            </a:r>
            <a:r>
              <a:rPr lang="en-US" altLang="en-US" dirty="0" smtClean="0">
                <a:solidFill>
                  <a:srgbClr val="FF0000"/>
                </a:solidFill>
                <a:latin typeface="Bell MT" panose="02020503060305020303" pitchFamily="18" charset="0"/>
                <a:cs typeface="Arial" charset="0"/>
                <a:sym typeface="Symbol" pitchFamily="18" charset="2"/>
              </a:rPr>
              <a:t>I</a:t>
            </a:r>
            <a:r>
              <a:rPr lang="en-US" altLang="en-US" dirty="0" smtClean="0">
                <a:solidFill>
                  <a:srgbClr val="FF0000"/>
                </a:solidFill>
                <a:cs typeface="Arial" charset="0"/>
                <a:sym typeface="Symbol" pitchFamily="18" charset="2"/>
              </a:rPr>
              <a:t>-</a:t>
            </a:r>
            <a:r>
              <a:rPr lang="en-US" altLang="en-US" dirty="0" err="1" smtClean="0">
                <a:solidFill>
                  <a:srgbClr val="FF0000"/>
                </a:solidFill>
                <a:cs typeface="Arial" charset="0"/>
                <a:sym typeface="Symbol" pitchFamily="18" charset="2"/>
              </a:rPr>
              <a:t>p</a:t>
            </a:r>
            <a:r>
              <a:rPr lang="en-US" altLang="en-US" baseline="-25000" dirty="0" err="1" smtClean="0">
                <a:solidFill>
                  <a:srgbClr val="FF0000"/>
                </a:solidFill>
                <a:cs typeface="Arial" charset="0"/>
                <a:sym typeface="Symbol" pitchFamily="18" charset="2"/>
              </a:rPr>
              <a:t>y</a:t>
            </a:r>
            <a:r>
              <a:rPr lang="en-US" altLang="en-US" dirty="0" smtClean="0">
                <a:solidFill>
                  <a:srgbClr val="FF0000"/>
                </a:solidFill>
                <a:cs typeface="Arial" charset="0"/>
                <a:sym typeface="Symbol" pitchFamily="18" charset="2"/>
              </a:rPr>
              <a:t>)/</a:t>
            </a:r>
            <a:r>
              <a:rPr lang="en-US" altLang="en-US" dirty="0" err="1" smtClean="0">
                <a:solidFill>
                  <a:srgbClr val="FF0000"/>
                </a:solidFill>
                <a:cs typeface="Arial" charset="0"/>
                <a:sym typeface="Symbol" pitchFamily="18" charset="2"/>
              </a:rPr>
              <a:t>p</a:t>
            </a:r>
            <a:r>
              <a:rPr lang="en-US" altLang="en-US" baseline="-25000" dirty="0" err="1" smtClean="0">
                <a:solidFill>
                  <a:srgbClr val="FF0000"/>
                </a:solidFill>
                <a:cs typeface="Arial" charset="0"/>
                <a:sym typeface="Symbol" pitchFamily="18" charset="2"/>
              </a:rPr>
              <a:t>y</a:t>
            </a:r>
            <a:endParaRPr lang="en-US" altLang="en-US" baseline="-25000" dirty="0" smtClean="0">
              <a:solidFill>
                <a:srgbClr val="FF0000"/>
              </a:solidFill>
              <a:cs typeface="Arial" charset="0"/>
              <a:sym typeface="Symbol" pitchFamily="18" charset="2"/>
            </a:endParaRPr>
          </a:p>
          <a:p>
            <a:pPr lvl="1">
              <a:lnSpc>
                <a:spcPct val="150000"/>
              </a:lnSpc>
            </a:pPr>
            <a:r>
              <a:rPr lang="en-US" altLang="en-US" dirty="0" smtClean="0">
                <a:cs typeface="Arial" charset="0"/>
                <a:sym typeface="Symbol" pitchFamily="18" charset="2"/>
              </a:rPr>
              <a:t>An increase in </a:t>
            </a:r>
            <a:r>
              <a:rPr lang="en-US" altLang="en-US" dirty="0" err="1" smtClean="0">
                <a:cs typeface="Arial" charset="0"/>
                <a:sym typeface="Symbol" pitchFamily="18" charset="2"/>
              </a:rPr>
              <a:t>p</a:t>
            </a:r>
            <a:r>
              <a:rPr lang="en-US" altLang="en-US" baseline="-25000" dirty="0" err="1" smtClean="0">
                <a:cs typeface="Arial" charset="0"/>
                <a:sym typeface="Symbol" pitchFamily="18" charset="2"/>
              </a:rPr>
              <a:t>y</a:t>
            </a:r>
            <a:r>
              <a:rPr lang="en-US" altLang="en-US" dirty="0" smtClean="0">
                <a:cs typeface="Arial" charset="0"/>
                <a:sym typeface="Symbol" pitchFamily="18" charset="2"/>
              </a:rPr>
              <a:t> - must decrease spending on y</a:t>
            </a:r>
          </a:p>
          <a:p>
            <a:pPr lvl="2"/>
            <a:r>
              <a:rPr lang="en-US" altLang="en-US" dirty="0" smtClean="0"/>
              <a:t>Because </a:t>
            </a:r>
            <a:r>
              <a:rPr lang="en-US" altLang="en-US" dirty="0" err="1" smtClean="0"/>
              <a:t>p</a:t>
            </a:r>
            <a:r>
              <a:rPr lang="en-US" altLang="en-US" baseline="-25000" dirty="0" err="1" smtClean="0"/>
              <a:t>x</a:t>
            </a:r>
            <a:r>
              <a:rPr lang="en-US" altLang="en-US" dirty="0" smtClean="0"/>
              <a:t> and </a:t>
            </a:r>
            <a:r>
              <a:rPr lang="en-US" altLang="en-US" dirty="0" smtClean="0">
                <a:latin typeface="Bell MT" panose="02020503060305020303" pitchFamily="18" charset="0"/>
              </a:rPr>
              <a:t>I</a:t>
            </a:r>
            <a:r>
              <a:rPr lang="en-US" altLang="en-US" dirty="0" smtClean="0"/>
              <a:t> are unchanged, spending on x must increase</a:t>
            </a:r>
          </a:p>
          <a:p>
            <a:pPr lvl="3">
              <a:lnSpc>
                <a:spcPct val="150000"/>
              </a:lnSpc>
            </a:pPr>
            <a:r>
              <a:rPr lang="en-US" altLang="en-US" dirty="0" smtClean="0">
                <a:cs typeface="Arial" charset="0"/>
                <a:sym typeface="Symbol" pitchFamily="18" charset="2"/>
              </a:rPr>
              <a:t>∂x/∂</a:t>
            </a:r>
            <a:r>
              <a:rPr lang="en-US" altLang="en-US" dirty="0" err="1" smtClean="0">
                <a:cs typeface="Arial" charset="0"/>
                <a:sym typeface="Symbol" pitchFamily="18" charset="2"/>
              </a:rPr>
              <a:t>p</a:t>
            </a:r>
            <a:r>
              <a:rPr lang="en-US" altLang="en-US" baseline="-25000" dirty="0" err="1" smtClean="0">
                <a:cs typeface="Arial" charset="0"/>
                <a:sym typeface="Symbol" pitchFamily="18" charset="2"/>
              </a:rPr>
              <a:t>y</a:t>
            </a:r>
            <a:r>
              <a:rPr lang="en-US" altLang="en-US" dirty="0" smtClean="0">
                <a:cs typeface="Arial" charset="0"/>
                <a:sym typeface="Symbol" pitchFamily="18" charset="2"/>
              </a:rPr>
              <a:t>&gt;0, gross substitutes</a:t>
            </a:r>
          </a:p>
          <a:p>
            <a:pPr lvl="3">
              <a:lnSpc>
                <a:spcPct val="150000"/>
              </a:lnSpc>
            </a:pPr>
            <a:r>
              <a:rPr lang="en-US" altLang="en-US" dirty="0" smtClean="0">
                <a:cs typeface="Arial" charset="0"/>
                <a:sym typeface="Symbol" pitchFamily="18" charset="2"/>
              </a:rPr>
              <a:t>∂y/∂</a:t>
            </a:r>
            <a:r>
              <a:rPr lang="en-US" altLang="en-US" dirty="0" err="1" smtClean="0">
                <a:cs typeface="Arial" charset="0"/>
                <a:sym typeface="Symbol" pitchFamily="18" charset="2"/>
              </a:rPr>
              <a:t>p</a:t>
            </a:r>
            <a:r>
              <a:rPr lang="en-US" altLang="en-US" baseline="-25000" dirty="0" err="1" smtClean="0">
                <a:cs typeface="Arial" charset="0"/>
                <a:sym typeface="Symbol" pitchFamily="18" charset="2"/>
              </a:rPr>
              <a:t>x</a:t>
            </a:r>
            <a:r>
              <a:rPr lang="en-US" altLang="en-US" dirty="0" smtClean="0">
                <a:cs typeface="Arial" charset="0"/>
                <a:sym typeface="Symbol" pitchFamily="18" charset="2"/>
              </a:rPr>
              <a:t>=0, independent </a:t>
            </a:r>
          </a:p>
        </p:txBody>
      </p:sp>
    </p:spTree>
    <p:extLst>
      <p:ext uri="{BB962C8B-B14F-4D97-AF65-F5344CB8AC3E}">
        <p14:creationId xmlns:p14="http://schemas.microsoft.com/office/powerpoint/2010/main" val="20181350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itle 1"/>
          <p:cNvSpPr>
            <a:spLocks noGrp="1"/>
          </p:cNvSpPr>
          <p:nvPr>
            <p:ph type="title"/>
          </p:nvPr>
        </p:nvSpPr>
        <p:spPr/>
        <p:txBody>
          <a:bodyPr>
            <a:normAutofit/>
          </a:bodyPr>
          <a:lstStyle/>
          <a:p>
            <a:r>
              <a:rPr lang="en-US" altLang="en-US" sz="3600" dirty="0" smtClean="0"/>
              <a:t>Net (</a:t>
            </a:r>
            <a:r>
              <a:rPr lang="en-US" altLang="en-US" sz="3600" dirty="0" err="1" smtClean="0"/>
              <a:t>Hicksian</a:t>
            </a:r>
            <a:r>
              <a:rPr lang="en-US" altLang="en-US" sz="3600" dirty="0" smtClean="0"/>
              <a:t>) Substitutes </a:t>
            </a:r>
            <a:r>
              <a:rPr lang="en-US" altLang="en-US" sz="3600" dirty="0" smtClean="0"/>
              <a:t>and Complements</a:t>
            </a:r>
            <a:endParaRPr lang="en-US" altLang="en-US" sz="3600" dirty="0" smtClean="0"/>
          </a:p>
        </p:txBody>
      </p:sp>
      <p:sp>
        <p:nvSpPr>
          <p:cNvPr id="5125" name="Content Placeholder 2"/>
          <p:cNvSpPr>
            <a:spLocks noGrp="1"/>
          </p:cNvSpPr>
          <p:nvPr>
            <p:ph idx="1"/>
          </p:nvPr>
        </p:nvSpPr>
        <p:spPr/>
        <p:txBody>
          <a:bodyPr/>
          <a:lstStyle/>
          <a:p>
            <a:r>
              <a:rPr lang="en-US" altLang="en-US" dirty="0" smtClean="0"/>
              <a:t>Goods x</a:t>
            </a:r>
            <a:r>
              <a:rPr lang="en-US" altLang="en-US" baseline="-25000" dirty="0" smtClean="0"/>
              <a:t>i</a:t>
            </a:r>
            <a:r>
              <a:rPr lang="en-US" altLang="en-US" dirty="0" smtClean="0"/>
              <a:t> and </a:t>
            </a:r>
            <a:r>
              <a:rPr lang="en-US" altLang="en-US" dirty="0" err="1" smtClean="0"/>
              <a:t>x</a:t>
            </a:r>
            <a:r>
              <a:rPr lang="en-US" altLang="en-US" baseline="-25000" dirty="0" err="1" smtClean="0"/>
              <a:t>j</a:t>
            </a:r>
            <a:r>
              <a:rPr lang="en-US" altLang="en-US" dirty="0" smtClean="0"/>
              <a:t> are said to be </a:t>
            </a:r>
            <a:r>
              <a:rPr lang="en-US" altLang="en-US" u="sng" dirty="0" smtClean="0"/>
              <a:t>net substitutes </a:t>
            </a:r>
            <a:r>
              <a:rPr lang="en-US" altLang="en-US" dirty="0" smtClean="0"/>
              <a:t>if:</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97364C5-17F2-4711-A365-D7015ADFAB52}" type="slidenum">
              <a:rPr lang="en-US" smtClean="0"/>
              <a:pPr>
                <a:defRPr/>
              </a:pPr>
              <a:t>15</a:t>
            </a:fld>
            <a:endParaRPr lang="en-US"/>
          </a:p>
        </p:txBody>
      </p:sp>
      <p:sp>
        <p:nvSpPr>
          <p:cNvPr id="2" name="Text Placeholder 1"/>
          <p:cNvSpPr>
            <a:spLocks noGrp="1"/>
          </p:cNvSpPr>
          <p:nvPr>
            <p:ph type="body" sz="quarter" idx="12"/>
          </p:nvPr>
        </p:nvSpPr>
        <p:spPr>
          <a:xfrm>
            <a:off x="381000" y="3581400"/>
            <a:ext cx="8534400" cy="2667000"/>
          </a:xfrm>
        </p:spPr>
        <p:txBody>
          <a:bodyPr/>
          <a:lstStyle/>
          <a:p>
            <a:r>
              <a:rPr lang="en-US" kern="0" dirty="0">
                <a:solidFill>
                  <a:srgbClr val="002D56"/>
                </a:solidFill>
              </a:rPr>
              <a:t>Goods x</a:t>
            </a:r>
            <a:r>
              <a:rPr lang="en-US" kern="0" baseline="-25000" dirty="0">
                <a:solidFill>
                  <a:srgbClr val="002D56"/>
                </a:solidFill>
              </a:rPr>
              <a:t>i</a:t>
            </a:r>
            <a:r>
              <a:rPr lang="en-US" kern="0" dirty="0">
                <a:solidFill>
                  <a:srgbClr val="002D56"/>
                </a:solidFill>
              </a:rPr>
              <a:t> and </a:t>
            </a:r>
            <a:r>
              <a:rPr lang="en-US" kern="0" dirty="0" err="1">
                <a:solidFill>
                  <a:srgbClr val="002D56"/>
                </a:solidFill>
              </a:rPr>
              <a:t>x</a:t>
            </a:r>
            <a:r>
              <a:rPr lang="en-US" kern="0" baseline="-25000" dirty="0" err="1">
                <a:solidFill>
                  <a:srgbClr val="002D56"/>
                </a:solidFill>
              </a:rPr>
              <a:t>j</a:t>
            </a:r>
            <a:r>
              <a:rPr lang="en-US" kern="0" dirty="0">
                <a:solidFill>
                  <a:srgbClr val="002D56"/>
                </a:solidFill>
              </a:rPr>
              <a:t> are said to be </a:t>
            </a:r>
            <a:r>
              <a:rPr lang="en-US" u="sng" kern="0" dirty="0">
                <a:solidFill>
                  <a:srgbClr val="002D56"/>
                </a:solidFill>
              </a:rPr>
              <a:t>net complements</a:t>
            </a:r>
            <a:r>
              <a:rPr lang="en-US" kern="0" dirty="0">
                <a:solidFill>
                  <a:srgbClr val="002D56"/>
                </a:solidFill>
              </a:rPr>
              <a:t> if</a:t>
            </a:r>
            <a:r>
              <a:rPr lang="en-US" kern="0" dirty="0" smtClean="0">
                <a:solidFill>
                  <a:srgbClr val="002D56"/>
                </a:solidFill>
              </a:rPr>
              <a:t>:</a:t>
            </a:r>
            <a:endParaRPr lang="en-US" kern="0" dirty="0">
              <a:solidFill>
                <a:srgbClr val="002D56"/>
              </a:solidFill>
            </a:endParaRPr>
          </a:p>
        </p:txBody>
      </p:sp>
      <p:graphicFrame>
        <p:nvGraphicFramePr>
          <p:cNvPr id="46082" name="Object 2"/>
          <p:cNvGraphicFramePr>
            <a:graphicFrameLocks noChangeAspect="1"/>
          </p:cNvGraphicFramePr>
          <p:nvPr/>
        </p:nvGraphicFramePr>
        <p:xfrm>
          <a:off x="2295525" y="2135188"/>
          <a:ext cx="2501900" cy="1331912"/>
        </p:xfrm>
        <a:graphic>
          <a:graphicData uri="http://schemas.openxmlformats.org/presentationml/2006/ole">
            <mc:AlternateContent xmlns:mc="http://schemas.openxmlformats.org/markup-compatibility/2006">
              <mc:Choice xmlns:v="urn:schemas-microsoft-com:vml" Requires="v">
                <p:oleObj spid="_x0000_s133142" name="Equation" r:id="rId3" imgW="977760" imgH="520560" progId="Equation.DSMT4">
                  <p:embed/>
                </p:oleObj>
              </mc:Choice>
              <mc:Fallback>
                <p:oleObj name="Equation" r:id="rId3" imgW="977760" imgH="5205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5525" y="2135188"/>
                        <a:ext cx="2501900" cy="1331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3" name="Object 3"/>
          <p:cNvGraphicFramePr>
            <a:graphicFrameLocks noChangeAspect="1"/>
          </p:cNvGraphicFramePr>
          <p:nvPr/>
        </p:nvGraphicFramePr>
        <p:xfrm>
          <a:off x="2295525" y="4922838"/>
          <a:ext cx="2430463" cy="1311275"/>
        </p:xfrm>
        <a:graphic>
          <a:graphicData uri="http://schemas.openxmlformats.org/presentationml/2006/ole">
            <mc:AlternateContent xmlns:mc="http://schemas.openxmlformats.org/markup-compatibility/2006">
              <mc:Choice xmlns:v="urn:schemas-microsoft-com:vml" Requires="v">
                <p:oleObj spid="_x0000_s133143" name="Equation" r:id="rId5" imgW="965160" imgH="520560" progId="Equation.DSMT4">
                  <p:embed/>
                </p:oleObj>
              </mc:Choice>
              <mc:Fallback>
                <p:oleObj name="Equation" r:id="rId5" imgW="965160" imgH="52056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5525" y="4922838"/>
                        <a:ext cx="2430463"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174882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wipe(left)">
                                      <p:cBhvr>
                                        <p:cTn id="7" dur="500"/>
                                        <p:tgtEl>
                                          <p:spTgt spid="4608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6083"/>
                                        </p:tgtEl>
                                        <p:attrNameLst>
                                          <p:attrName>style.visibility</p:attrName>
                                        </p:attrNameLst>
                                      </p:cBhvr>
                                      <p:to>
                                        <p:strVal val="visible"/>
                                      </p:to>
                                    </p:set>
                                    <p:animEffect transition="in" filter="wipe(left)">
                                      <p:cBhvr>
                                        <p:cTn id="15" dur="500"/>
                                        <p:tgtEl>
                                          <p:spTgt spid="46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normAutofit/>
          </a:bodyPr>
          <a:lstStyle/>
          <a:p>
            <a:r>
              <a:rPr lang="en-US" altLang="en-US" sz="3600" dirty="0" smtClean="0"/>
              <a:t>Net (</a:t>
            </a:r>
            <a:r>
              <a:rPr lang="en-US" altLang="en-US" sz="3600" dirty="0" err="1" smtClean="0"/>
              <a:t>Hicksian</a:t>
            </a:r>
            <a:r>
              <a:rPr lang="en-US" altLang="en-US" sz="3600" dirty="0" smtClean="0"/>
              <a:t>) Substitutes </a:t>
            </a:r>
            <a:r>
              <a:rPr lang="en-US" altLang="en-US" sz="3600" dirty="0" smtClean="0"/>
              <a:t>and Complements</a:t>
            </a:r>
            <a:endParaRPr lang="en-US" altLang="en-US" sz="3600" dirty="0" smtClean="0"/>
          </a:p>
        </p:txBody>
      </p:sp>
      <p:sp>
        <p:nvSpPr>
          <p:cNvPr id="6148" name="Content Placeholder 2"/>
          <p:cNvSpPr>
            <a:spLocks noGrp="1"/>
          </p:cNvSpPr>
          <p:nvPr>
            <p:ph idx="1"/>
          </p:nvPr>
        </p:nvSpPr>
        <p:spPr/>
        <p:txBody>
          <a:bodyPr/>
          <a:lstStyle/>
          <a:p>
            <a:r>
              <a:rPr lang="en-US" altLang="en-US" dirty="0" smtClean="0"/>
              <a:t>These </a:t>
            </a:r>
            <a:r>
              <a:rPr lang="en-US" altLang="en-US" dirty="0" smtClean="0"/>
              <a:t>definitions </a:t>
            </a:r>
          </a:p>
          <a:p>
            <a:pPr lvl="1"/>
            <a:r>
              <a:rPr lang="en-US" altLang="en-US" sz="3100" dirty="0" smtClean="0"/>
              <a:t>Look only at the substitution terms to determine whether two goods are substitutes or complements</a:t>
            </a:r>
          </a:p>
          <a:p>
            <a:pPr lvl="1"/>
            <a:r>
              <a:rPr lang="en-US" altLang="en-US" sz="3100" dirty="0" smtClean="0"/>
              <a:t>Look only at the shape of the indifference curve</a:t>
            </a:r>
          </a:p>
          <a:p>
            <a:pPr lvl="1"/>
            <a:r>
              <a:rPr lang="en-US" altLang="en-US" sz="3100" dirty="0" smtClean="0"/>
              <a:t>This definition is unambiguous because the definitions are perfectly symmetric</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62118AB-978E-49EB-80BF-8BEE0EBAACED}" type="slidenum">
              <a:rPr lang="en-US" smtClean="0"/>
              <a:pPr>
                <a:defRPr/>
              </a:pPr>
              <a:t>16</a:t>
            </a:fld>
            <a:endParaRPr lang="en-US"/>
          </a:p>
        </p:txBody>
      </p:sp>
      <p:graphicFrame>
        <p:nvGraphicFramePr>
          <p:cNvPr id="47108" name="Object 4"/>
          <p:cNvGraphicFramePr>
            <a:graphicFrameLocks noChangeAspect="1"/>
          </p:cNvGraphicFramePr>
          <p:nvPr>
            <p:extLst>
              <p:ext uri="{D42A27DB-BD31-4B8C-83A1-F6EECF244321}">
                <p14:modId xmlns:p14="http://schemas.microsoft.com/office/powerpoint/2010/main" val="107051731"/>
              </p:ext>
            </p:extLst>
          </p:nvPr>
        </p:nvGraphicFramePr>
        <p:xfrm>
          <a:off x="2623344" y="5227945"/>
          <a:ext cx="3897312" cy="1182380"/>
        </p:xfrm>
        <a:graphic>
          <a:graphicData uri="http://schemas.openxmlformats.org/presentationml/2006/ole">
            <mc:AlternateContent xmlns:mc="http://schemas.openxmlformats.org/markup-compatibility/2006">
              <mc:Choice xmlns:v="urn:schemas-microsoft-com:vml" Requires="v">
                <p:oleObj spid="_x0000_s134155" name="Equation" r:id="rId3" imgW="1714320" imgH="520560" progId="Equation.DSMT4">
                  <p:embed/>
                </p:oleObj>
              </mc:Choice>
              <mc:Fallback>
                <p:oleObj name="Equation" r:id="rId3" imgW="1714320" imgH="5205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3344" y="5227945"/>
                        <a:ext cx="3897312" cy="118238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880735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wipe(left)">
                                      <p:cBhvr>
                                        <p:cTn id="7"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normAutofit/>
          </a:bodyPr>
          <a:lstStyle/>
          <a:p>
            <a:r>
              <a:rPr lang="en-US" altLang="en-US" sz="3600" dirty="0" smtClean="0"/>
              <a:t>Net (</a:t>
            </a:r>
            <a:r>
              <a:rPr lang="en-US" altLang="en-US" sz="3600" dirty="0" err="1" smtClean="0"/>
              <a:t>Hicksian</a:t>
            </a:r>
            <a:r>
              <a:rPr lang="en-US" altLang="en-US" sz="3600" dirty="0" smtClean="0"/>
              <a:t>) Substitutes </a:t>
            </a:r>
            <a:r>
              <a:rPr lang="en-US" altLang="en-US" sz="3600" dirty="0" smtClean="0"/>
              <a:t>and Complements</a:t>
            </a:r>
            <a:endParaRPr lang="en-US" altLang="en-US" sz="3600" dirty="0" smtClean="0"/>
          </a:p>
        </p:txBody>
      </p:sp>
      <p:sp>
        <p:nvSpPr>
          <p:cNvPr id="6148" name="Content Placeholder 2"/>
          <p:cNvSpPr>
            <a:spLocks noGrp="1"/>
          </p:cNvSpPr>
          <p:nvPr>
            <p:ph idx="1"/>
          </p:nvPr>
        </p:nvSpPr>
        <p:spPr/>
        <p:txBody>
          <a:bodyPr/>
          <a:lstStyle/>
          <a:p>
            <a:r>
              <a:rPr lang="en-US" altLang="en-US" dirty="0"/>
              <a:t>The difference between Hicks’ and Marshall’s definitions of substitutes and </a:t>
            </a:r>
            <a:r>
              <a:rPr lang="en-US" altLang="en-US" dirty="0" smtClean="0"/>
              <a:t>complements</a:t>
            </a:r>
          </a:p>
          <a:p>
            <a:pPr lvl="1"/>
            <a:r>
              <a:rPr lang="en-US" altLang="en-US" sz="2900" dirty="0" smtClean="0"/>
              <a:t>The Hicks definition eliminates </a:t>
            </a:r>
            <a:r>
              <a:rPr lang="en-US" altLang="en-US" sz="2900" dirty="0"/>
              <a:t>the </a:t>
            </a:r>
            <a:r>
              <a:rPr lang="en-US" altLang="en-US" sz="2900" dirty="0" smtClean="0"/>
              <a:t>ambiguities</a:t>
            </a:r>
          </a:p>
          <a:p>
            <a:pPr lvl="2"/>
            <a:r>
              <a:rPr lang="en-US" altLang="en-US" sz="2500" dirty="0" smtClean="0"/>
              <a:t>Figure 6.1, Hicks substitutes, both graphs</a:t>
            </a:r>
          </a:p>
          <a:p>
            <a:pPr lvl="1"/>
            <a:r>
              <a:rPr lang="en-US" altLang="en-US" sz="2900" dirty="0" smtClean="0"/>
              <a:t>Marshall’s definition: income effects</a:t>
            </a:r>
          </a:p>
          <a:p>
            <a:pPr lvl="2"/>
            <a:r>
              <a:rPr lang="en-US" altLang="en-US" sz="2500" dirty="0" smtClean="0"/>
              <a:t>Figure 6.1a: </a:t>
            </a:r>
            <a:r>
              <a:rPr lang="en-US" altLang="en-US" sz="2900" dirty="0" smtClean="0"/>
              <a:t>Marshall complements</a:t>
            </a:r>
          </a:p>
          <a:p>
            <a:pPr lvl="2"/>
            <a:r>
              <a:rPr lang="en-US" altLang="en-US" sz="2500" dirty="0"/>
              <a:t>Figure </a:t>
            </a:r>
            <a:r>
              <a:rPr lang="en-US" altLang="en-US" sz="2500" dirty="0" smtClean="0"/>
              <a:t>6.1b: </a:t>
            </a:r>
            <a:r>
              <a:rPr lang="en-US" altLang="en-US" sz="2900" dirty="0"/>
              <a:t>Marshall </a:t>
            </a:r>
            <a:r>
              <a:rPr lang="en-US" altLang="en-US" sz="2900" dirty="0" smtClean="0"/>
              <a:t>substitutes</a:t>
            </a:r>
            <a:endParaRPr lang="en-US" altLang="en-US" sz="2900"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62118AB-978E-49EB-80BF-8BEE0EBAACED}" type="slidenum">
              <a:rPr lang="en-US" smtClean="0"/>
              <a:pPr>
                <a:defRPr/>
              </a:pPr>
              <a:t>17</a:t>
            </a:fld>
            <a:endParaRPr lang="en-US"/>
          </a:p>
        </p:txBody>
      </p:sp>
    </p:spTree>
    <p:extLst>
      <p:ext uri="{BB962C8B-B14F-4D97-AF65-F5344CB8AC3E}">
        <p14:creationId xmlns:p14="http://schemas.microsoft.com/office/powerpoint/2010/main" val="404023684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smtClean="0"/>
              <a:t>Substitutability with Many Goods</a:t>
            </a:r>
          </a:p>
        </p:txBody>
      </p:sp>
      <p:sp>
        <p:nvSpPr>
          <p:cNvPr id="31747" name="Content Placeholder 2"/>
          <p:cNvSpPr>
            <a:spLocks noGrp="1"/>
          </p:cNvSpPr>
          <p:nvPr>
            <p:ph idx="1"/>
          </p:nvPr>
        </p:nvSpPr>
        <p:spPr>
          <a:xfrm>
            <a:off x="381000" y="1105469"/>
            <a:ext cx="8534400" cy="5295331"/>
          </a:xfrm>
        </p:spPr>
        <p:txBody>
          <a:bodyPr/>
          <a:lstStyle/>
          <a:p>
            <a:r>
              <a:rPr lang="en-US" altLang="en-US" dirty="0" smtClean="0"/>
              <a:t>Once the utility-maximizing model is extended to many goods</a:t>
            </a:r>
          </a:p>
          <a:p>
            <a:pPr lvl="1"/>
            <a:r>
              <a:rPr lang="en-US" altLang="en-US" dirty="0" smtClean="0"/>
              <a:t>A wide variety of demand patterns become possible</a:t>
            </a:r>
            <a:endParaRPr lang="en-US" altLang="en-US" sz="1400" dirty="0" smtClean="0"/>
          </a:p>
          <a:p>
            <a:pPr lvl="1"/>
            <a:r>
              <a:rPr lang="en-US" altLang="en-US" dirty="0" smtClean="0"/>
              <a:t>Hicks’ second law of demand, “most” goods must be substitutes</a:t>
            </a:r>
          </a:p>
          <a:p>
            <a:pPr lvl="2"/>
            <a:r>
              <a:rPr lang="en-US" altLang="en-US" dirty="0" smtClean="0"/>
              <a:t>Start with the compensated demand function </a:t>
            </a:r>
          </a:p>
          <a:p>
            <a:pPr lvl="3"/>
            <a:r>
              <a:rPr lang="en-US" altLang="en-US" dirty="0" smtClean="0"/>
              <a:t>Homogenous of degree 0 in all prices</a:t>
            </a:r>
          </a:p>
          <a:p>
            <a:pPr lvl="2"/>
            <a:r>
              <a:rPr lang="en-US" altLang="en-US" dirty="0" smtClean="0"/>
              <a:t>Euler’s theorem</a:t>
            </a:r>
          </a:p>
          <a:p>
            <a:pPr lvl="2"/>
            <a:r>
              <a:rPr lang="en-US" altLang="en-US" dirty="0" smtClean="0"/>
              <a:t>Result – into elasticity terms</a:t>
            </a:r>
          </a:p>
          <a:p>
            <a:pPr lvl="2"/>
            <a:endParaRPr lang="en-US" altLang="en-US" dirty="0" smtClean="0"/>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58CAF30-BC79-44B8-B33A-F942E0C2E8A6}" type="slidenum">
              <a:rPr lang="en-US" smtClean="0"/>
              <a:pPr>
                <a:defRPr/>
              </a:pPr>
              <a:t>18</a:t>
            </a:fld>
            <a:endParaRPr lang="en-US"/>
          </a:p>
        </p:txBody>
      </p:sp>
    </p:spTree>
    <p:extLst>
      <p:ext uri="{BB962C8B-B14F-4D97-AF65-F5344CB8AC3E}">
        <p14:creationId xmlns:p14="http://schemas.microsoft.com/office/powerpoint/2010/main" val="29496946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1"/>
          <p:cNvSpPr>
            <a:spLocks noGrp="1"/>
          </p:cNvSpPr>
          <p:nvPr>
            <p:ph type="title"/>
          </p:nvPr>
        </p:nvSpPr>
        <p:spPr/>
        <p:txBody>
          <a:bodyPr/>
          <a:lstStyle/>
          <a:p>
            <a:r>
              <a:rPr lang="en-US" altLang="en-US" smtClean="0"/>
              <a:t>Substitutability with Many Goods</a:t>
            </a:r>
          </a:p>
        </p:txBody>
      </p:sp>
      <p:sp>
        <p:nvSpPr>
          <p:cNvPr id="7172" name="Content Placeholder 2"/>
          <p:cNvSpPr>
            <a:spLocks noGrp="1"/>
          </p:cNvSpPr>
          <p:nvPr>
            <p:ph idx="1"/>
          </p:nvPr>
        </p:nvSpPr>
        <p:spPr/>
        <p:txBody>
          <a:bodyPr/>
          <a:lstStyle/>
          <a:p>
            <a:r>
              <a:rPr lang="en-US" altLang="en-US" smtClean="0"/>
              <a:t>Proof:</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5239176-201F-427E-8073-6D44ED88C574}" type="slidenum">
              <a:rPr lang="en-US" smtClean="0"/>
              <a:pPr>
                <a:defRPr/>
              </a:pPr>
              <a:t>19</a:t>
            </a:fld>
            <a:endParaRPr lang="en-US"/>
          </a:p>
        </p:txBody>
      </p:sp>
      <p:sp>
        <p:nvSpPr>
          <p:cNvPr id="2" name="Text Placeholder 1"/>
          <p:cNvSpPr>
            <a:spLocks noGrp="1"/>
          </p:cNvSpPr>
          <p:nvPr>
            <p:ph type="body" sz="quarter" idx="12"/>
          </p:nvPr>
        </p:nvSpPr>
        <p:spPr>
          <a:xfrm>
            <a:off x="381000" y="4800600"/>
            <a:ext cx="8534400" cy="1600200"/>
          </a:xfrm>
        </p:spPr>
        <p:txBody>
          <a:bodyPr>
            <a:noAutofit/>
          </a:bodyPr>
          <a:lstStyle/>
          <a:p>
            <a:pPr lvl="1"/>
            <a:r>
              <a:rPr lang="en-US" sz="3000" kern="0" dirty="0"/>
              <a:t>The sum of all the compensated cross-price elasticities for a particular good must be positive (or zero): ‘‘most’’ goods are </a:t>
            </a:r>
            <a:r>
              <a:rPr lang="en-US" sz="3000" kern="0" dirty="0" smtClean="0"/>
              <a:t>substitutes</a:t>
            </a:r>
            <a:endParaRPr lang="en-US" sz="3000" kern="0" dirty="0"/>
          </a:p>
        </p:txBody>
      </p:sp>
      <p:graphicFrame>
        <p:nvGraphicFramePr>
          <p:cNvPr id="6" name="Object 2"/>
          <p:cNvGraphicFramePr>
            <a:graphicFrameLocks noChangeAspect="1"/>
          </p:cNvGraphicFramePr>
          <p:nvPr>
            <p:extLst>
              <p:ext uri="{D42A27DB-BD31-4B8C-83A1-F6EECF244321}">
                <p14:modId xmlns:p14="http://schemas.microsoft.com/office/powerpoint/2010/main" val="2051573209"/>
              </p:ext>
            </p:extLst>
          </p:nvPr>
        </p:nvGraphicFramePr>
        <p:xfrm>
          <a:off x="2246313" y="1116013"/>
          <a:ext cx="5807075" cy="3821112"/>
        </p:xfrm>
        <a:graphic>
          <a:graphicData uri="http://schemas.openxmlformats.org/presentationml/2006/ole">
            <mc:AlternateContent xmlns:mc="http://schemas.openxmlformats.org/markup-compatibility/2006">
              <mc:Choice xmlns:v="urn:schemas-microsoft-com:vml" Requires="v">
                <p:oleObj spid="_x0000_s135179" name="Equation" r:id="rId3" imgW="2044440" imgH="1346040" progId="Equation.DSMT4">
                  <p:embed/>
                </p:oleObj>
              </mc:Choice>
              <mc:Fallback>
                <p:oleObj name="Equation" r:id="rId3" imgW="2044440" imgH="1346040" progId="Equation.DSMT4">
                  <p:embed/>
                  <p:pic>
                    <p:nvPicPr>
                      <p:cNvPr id="0" name=""/>
                      <p:cNvPicPr>
                        <a:picLocks noChangeAspect="1" noChangeArrowheads="1"/>
                      </p:cNvPicPr>
                      <p:nvPr/>
                    </p:nvPicPr>
                    <p:blipFill>
                      <a:blip r:embed="rId4"/>
                      <a:srcRect/>
                      <a:stretch>
                        <a:fillRect/>
                      </a:stretch>
                    </p:blipFill>
                    <p:spPr bwMode="auto">
                      <a:xfrm>
                        <a:off x="2246313" y="1116013"/>
                        <a:ext cx="5807075" cy="3821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771812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smtClean="0"/>
              <a:t>Composite Commodities</a:t>
            </a:r>
          </a:p>
        </p:txBody>
      </p:sp>
      <p:sp>
        <p:nvSpPr>
          <p:cNvPr id="32771" name="Content Placeholder 4"/>
          <p:cNvSpPr>
            <a:spLocks noGrp="1"/>
          </p:cNvSpPr>
          <p:nvPr>
            <p:ph idx="1"/>
          </p:nvPr>
        </p:nvSpPr>
        <p:spPr/>
        <p:txBody>
          <a:bodyPr/>
          <a:lstStyle/>
          <a:p>
            <a:r>
              <a:rPr lang="en-US" altLang="en-US" dirty="0" smtClean="0"/>
              <a:t>In the most general case</a:t>
            </a:r>
          </a:p>
          <a:p>
            <a:pPr lvl="1"/>
            <a:r>
              <a:rPr lang="en-US" altLang="en-US" dirty="0" smtClean="0"/>
              <a:t>An individual who consumes </a:t>
            </a:r>
            <a:r>
              <a:rPr lang="en-US" altLang="en-US" i="1" dirty="0" smtClean="0"/>
              <a:t>n</a:t>
            </a:r>
            <a:r>
              <a:rPr lang="en-US" altLang="en-US" dirty="0" smtClean="0"/>
              <a:t> goods </a:t>
            </a:r>
          </a:p>
          <a:p>
            <a:pPr lvl="1"/>
            <a:r>
              <a:rPr lang="en-US" altLang="en-US" dirty="0" smtClean="0"/>
              <a:t>Will have demand functions that reflect </a:t>
            </a:r>
            <a:r>
              <a:rPr lang="en-US" altLang="en-US" i="1" dirty="0" smtClean="0"/>
              <a:t>n</a:t>
            </a:r>
            <a:r>
              <a:rPr lang="en-US" altLang="en-US" dirty="0" smtClean="0"/>
              <a:t>(</a:t>
            </a:r>
            <a:r>
              <a:rPr lang="en-US" altLang="en-US" i="1" dirty="0" smtClean="0"/>
              <a:t>n</a:t>
            </a:r>
            <a:r>
              <a:rPr lang="en-US" altLang="en-US" dirty="0" smtClean="0"/>
              <a:t>+1)/2 different substitution effects</a:t>
            </a:r>
            <a:endParaRPr lang="en-US" altLang="en-US" sz="1400" dirty="0" smtClean="0"/>
          </a:p>
          <a:p>
            <a:r>
              <a:rPr lang="en-US" altLang="en-US" dirty="0" smtClean="0"/>
              <a:t>Convenience: group goods into larger aggregates</a:t>
            </a:r>
          </a:p>
          <a:p>
            <a:pPr lvl="1"/>
            <a:r>
              <a:rPr lang="en-US" altLang="en-US" dirty="0" smtClean="0"/>
              <a:t>Examples: food, clothing, “all other goods”</a:t>
            </a:r>
          </a:p>
          <a:p>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6EE0E68-0502-4CD7-871A-DACF6C23CB68}" type="slidenum">
              <a:rPr lang="en-US" smtClean="0"/>
              <a:pPr>
                <a:defRPr/>
              </a:pPr>
              <a:t>20</a:t>
            </a:fld>
            <a:endParaRPr lang="en-US"/>
          </a:p>
        </p:txBody>
      </p:sp>
    </p:spTree>
    <p:extLst>
      <p:ext uri="{BB962C8B-B14F-4D97-AF65-F5344CB8AC3E}">
        <p14:creationId xmlns:p14="http://schemas.microsoft.com/office/powerpoint/2010/main" val="12199548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smtClean="0"/>
              <a:t>Composite Commodities</a:t>
            </a:r>
          </a:p>
        </p:txBody>
      </p:sp>
      <p:sp>
        <p:nvSpPr>
          <p:cNvPr id="33795" name="Content Placeholder 4"/>
          <p:cNvSpPr>
            <a:spLocks noGrp="1"/>
          </p:cNvSpPr>
          <p:nvPr>
            <p:ph idx="1"/>
          </p:nvPr>
        </p:nvSpPr>
        <p:spPr>
          <a:xfrm>
            <a:off x="381000" y="1143000"/>
            <a:ext cx="8534400" cy="5257800"/>
          </a:xfrm>
        </p:spPr>
        <p:txBody>
          <a:bodyPr/>
          <a:lstStyle/>
          <a:p>
            <a:r>
              <a:rPr lang="en-US" altLang="en-US" dirty="0" smtClean="0"/>
              <a:t>Consumers choose among </a:t>
            </a:r>
            <a:r>
              <a:rPr lang="en-US" altLang="en-US" i="1" dirty="0" smtClean="0"/>
              <a:t>n</a:t>
            </a:r>
            <a:r>
              <a:rPr lang="en-US" altLang="en-US" dirty="0" smtClean="0"/>
              <a:t> goods</a:t>
            </a:r>
          </a:p>
          <a:p>
            <a:pPr lvl="1"/>
            <a:r>
              <a:rPr lang="en-US" altLang="en-US" dirty="0" smtClean="0"/>
              <a:t>The demand for </a:t>
            </a:r>
            <a:r>
              <a:rPr lang="en-US" altLang="en-US" i="1" dirty="0" smtClean="0"/>
              <a:t>x</a:t>
            </a:r>
            <a:r>
              <a:rPr lang="en-US" altLang="en-US" baseline="-25000" dirty="0" smtClean="0"/>
              <a:t>1</a:t>
            </a:r>
            <a:r>
              <a:rPr lang="en-US" altLang="en-US" dirty="0" smtClean="0"/>
              <a:t> will depend on the prices of the other </a:t>
            </a:r>
            <a:r>
              <a:rPr lang="en-US" altLang="en-US" i="1" dirty="0" smtClean="0"/>
              <a:t>n</a:t>
            </a:r>
            <a:r>
              <a:rPr lang="en-US" altLang="en-US" dirty="0" smtClean="0"/>
              <a:t>-1 commodities</a:t>
            </a:r>
          </a:p>
          <a:p>
            <a:pPr lvl="1"/>
            <a:r>
              <a:rPr lang="en-US" altLang="en-US" dirty="0" smtClean="0"/>
              <a:t>Assuming that </a:t>
            </a:r>
            <a:r>
              <a:rPr lang="en-US" altLang="en-US" dirty="0"/>
              <a:t>the prices of all of these other </a:t>
            </a:r>
            <a:r>
              <a:rPr lang="en-US" altLang="en-US" i="1" dirty="0"/>
              <a:t>n</a:t>
            </a:r>
            <a:r>
              <a:rPr lang="en-US" altLang="en-US" dirty="0"/>
              <a:t>-1 goods move proportionally </a:t>
            </a:r>
            <a:r>
              <a:rPr lang="en-US" altLang="en-US" dirty="0" smtClean="0"/>
              <a:t>together</a:t>
            </a:r>
          </a:p>
          <a:p>
            <a:pPr lvl="2"/>
            <a:r>
              <a:rPr lang="en-US" altLang="en-US" dirty="0" smtClean="0"/>
              <a:t>Composite </a:t>
            </a:r>
            <a:r>
              <a:rPr lang="en-US" altLang="en-US" dirty="0"/>
              <a:t>commodity </a:t>
            </a:r>
            <a:r>
              <a:rPr lang="en-US" altLang="en-US" dirty="0" smtClean="0"/>
              <a:t>theorem: define </a:t>
            </a:r>
            <a:r>
              <a:rPr lang="en-US" altLang="en-US" dirty="0"/>
              <a:t>a single composite of all of these goods, </a:t>
            </a:r>
            <a:r>
              <a:rPr lang="en-US" altLang="en-US" dirty="0" smtClean="0"/>
              <a:t>y</a:t>
            </a:r>
          </a:p>
          <a:p>
            <a:pPr lvl="2"/>
            <a:r>
              <a:rPr lang="en-US" altLang="en-US" dirty="0" smtClean="0"/>
              <a:t>Simpler </a:t>
            </a:r>
            <a:r>
              <a:rPr lang="en-US" altLang="en-US" dirty="0"/>
              <a:t>problem of choosing only between </a:t>
            </a:r>
            <a:r>
              <a:rPr lang="en-US" altLang="en-US" dirty="0" smtClean="0"/>
              <a:t>x</a:t>
            </a:r>
            <a:r>
              <a:rPr lang="en-US" altLang="en-US" baseline="-25000" dirty="0" smtClean="0"/>
              <a:t>1</a:t>
            </a:r>
            <a:r>
              <a:rPr lang="en-US" altLang="en-US" dirty="0" smtClean="0"/>
              <a:t> and y</a:t>
            </a:r>
            <a:endParaRPr lang="en-US" altLang="en-US" dirty="0"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787A295-D536-4481-AAD0-B747E438D00C}" type="slidenum">
              <a:rPr lang="en-US" smtClean="0"/>
              <a:pPr>
                <a:defRPr/>
              </a:pPr>
              <a:t>21</a:t>
            </a:fld>
            <a:endParaRPr lang="en-US"/>
          </a:p>
        </p:txBody>
      </p:sp>
    </p:spTree>
    <p:extLst>
      <p:ext uri="{BB962C8B-B14F-4D97-AF65-F5344CB8AC3E}">
        <p14:creationId xmlns:p14="http://schemas.microsoft.com/office/powerpoint/2010/main" val="25549784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smtClean="0"/>
              <a:t>Composite Commodities</a:t>
            </a:r>
          </a:p>
        </p:txBody>
      </p:sp>
      <p:sp>
        <p:nvSpPr>
          <p:cNvPr id="33795" name="Content Placeholder 4"/>
          <p:cNvSpPr>
            <a:spLocks noGrp="1"/>
          </p:cNvSpPr>
          <p:nvPr>
            <p:ph idx="1"/>
          </p:nvPr>
        </p:nvSpPr>
        <p:spPr>
          <a:xfrm>
            <a:off x="381000" y="1143000"/>
            <a:ext cx="8534400" cy="5257800"/>
          </a:xfrm>
        </p:spPr>
        <p:txBody>
          <a:bodyPr/>
          <a:lstStyle/>
          <a:p>
            <a:r>
              <a:rPr lang="en-US" altLang="en-US" dirty="0" smtClean="0"/>
              <a:t>Consumers choose among </a:t>
            </a:r>
            <a:r>
              <a:rPr lang="en-US" altLang="en-US" i="1" dirty="0" smtClean="0"/>
              <a:t>n</a:t>
            </a:r>
            <a:r>
              <a:rPr lang="en-US" altLang="en-US" dirty="0" smtClean="0"/>
              <a:t> goods</a:t>
            </a:r>
          </a:p>
          <a:p>
            <a:pPr lvl="1"/>
            <a:r>
              <a:rPr lang="en-US" altLang="en-US" dirty="0" smtClean="0"/>
              <a:t>Let </a:t>
            </a:r>
            <a:r>
              <a:rPr lang="en-US" altLang="en-US" i="1" dirty="0" smtClean="0"/>
              <a:t>p</a:t>
            </a:r>
            <a:r>
              <a:rPr lang="en-US" altLang="en-US" baseline="-25000" dirty="0" smtClean="0"/>
              <a:t>2</a:t>
            </a:r>
            <a:r>
              <a:rPr lang="en-US" altLang="en-US" baseline="30000" dirty="0" smtClean="0"/>
              <a:t>0</a:t>
            </a:r>
            <a:r>
              <a:rPr lang="en-US" altLang="en-US" dirty="0" smtClean="0"/>
              <a:t>…</a:t>
            </a:r>
            <a:r>
              <a:rPr lang="en-US" altLang="en-US" i="1" dirty="0" smtClean="0"/>
              <a:t>p</a:t>
            </a:r>
            <a:r>
              <a:rPr lang="en-US" altLang="en-US" i="1" baseline="-25000" dirty="0" smtClean="0"/>
              <a:t>n</a:t>
            </a:r>
            <a:r>
              <a:rPr lang="en-US" altLang="en-US" baseline="30000" dirty="0" smtClean="0"/>
              <a:t>0</a:t>
            </a:r>
            <a:r>
              <a:rPr lang="en-US" altLang="en-US" dirty="0" smtClean="0"/>
              <a:t> represent the initial prices of these other commodities</a:t>
            </a:r>
          </a:p>
          <a:p>
            <a:pPr lvl="1"/>
            <a:r>
              <a:rPr lang="en-US" altLang="en-US" dirty="0" smtClean="0"/>
              <a:t>Assume they all vary together (so that the relative prices of </a:t>
            </a:r>
            <a:r>
              <a:rPr lang="en-US" altLang="en-US" i="1" dirty="0" smtClean="0"/>
              <a:t>x</a:t>
            </a:r>
            <a:r>
              <a:rPr lang="en-US" altLang="en-US" baseline="-25000" dirty="0" smtClean="0"/>
              <a:t>2</a:t>
            </a:r>
            <a:r>
              <a:rPr lang="en-US" altLang="en-US" dirty="0" smtClean="0"/>
              <a:t>…</a:t>
            </a:r>
            <a:r>
              <a:rPr lang="en-US" altLang="en-US" i="1" dirty="0" err="1" smtClean="0"/>
              <a:t>x</a:t>
            </a:r>
            <a:r>
              <a:rPr lang="en-US" altLang="en-US" i="1" baseline="-25000" dirty="0" err="1" smtClean="0"/>
              <a:t>n</a:t>
            </a:r>
            <a:r>
              <a:rPr lang="en-US" altLang="en-US" dirty="0" smtClean="0"/>
              <a:t> do not change)</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787A295-D536-4481-AAD0-B747E438D00C}" type="slidenum">
              <a:rPr lang="en-US" smtClean="0"/>
              <a:pPr>
                <a:defRPr/>
              </a:pPr>
              <a:t>22</a:t>
            </a:fld>
            <a:endParaRPr lang="en-US"/>
          </a:p>
        </p:txBody>
      </p:sp>
    </p:spTree>
    <p:extLst>
      <p:ext uri="{BB962C8B-B14F-4D97-AF65-F5344CB8AC3E}">
        <p14:creationId xmlns:p14="http://schemas.microsoft.com/office/powerpoint/2010/main" val="7913064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smtClean="0"/>
              <a:t>Composite Commodities</a:t>
            </a:r>
          </a:p>
        </p:txBody>
      </p:sp>
      <p:sp>
        <p:nvSpPr>
          <p:cNvPr id="34819" name="Content Placeholder 4"/>
          <p:cNvSpPr>
            <a:spLocks noGrp="1"/>
          </p:cNvSpPr>
          <p:nvPr>
            <p:ph idx="1"/>
          </p:nvPr>
        </p:nvSpPr>
        <p:spPr/>
        <p:txBody>
          <a:bodyPr/>
          <a:lstStyle/>
          <a:p>
            <a:pPr>
              <a:lnSpc>
                <a:spcPct val="110000"/>
              </a:lnSpc>
            </a:pPr>
            <a:r>
              <a:rPr lang="en-US" altLang="en-US" smtClean="0"/>
              <a:t>Define the composite commodity </a:t>
            </a:r>
            <a:r>
              <a:rPr lang="en-US" altLang="en-US" i="1" smtClean="0"/>
              <a:t>y</a:t>
            </a:r>
          </a:p>
          <a:p>
            <a:pPr lvl="1">
              <a:lnSpc>
                <a:spcPct val="110000"/>
              </a:lnSpc>
            </a:pPr>
            <a:r>
              <a:rPr lang="en-US" altLang="en-US" smtClean="0"/>
              <a:t>To be total expenditures on </a:t>
            </a:r>
            <a:r>
              <a:rPr lang="en-US" altLang="en-US" i="1" smtClean="0"/>
              <a:t>x</a:t>
            </a:r>
            <a:r>
              <a:rPr lang="en-US" altLang="en-US" baseline="-25000" smtClean="0"/>
              <a:t>2</a:t>
            </a:r>
            <a:r>
              <a:rPr lang="en-US" altLang="en-US" smtClean="0"/>
              <a:t>…</a:t>
            </a:r>
            <a:r>
              <a:rPr lang="en-US" altLang="en-US" i="1" smtClean="0"/>
              <a:t>x</a:t>
            </a:r>
            <a:r>
              <a:rPr lang="en-US" altLang="en-US" i="1" baseline="-25000" smtClean="0"/>
              <a:t>n</a:t>
            </a:r>
            <a:r>
              <a:rPr lang="en-US" altLang="en-US" smtClean="0"/>
              <a:t> at the initial prices, </a:t>
            </a:r>
            <a:r>
              <a:rPr lang="en-US" altLang="en-US" i="1" smtClean="0">
                <a:solidFill>
                  <a:srgbClr val="FF0000"/>
                </a:solidFill>
              </a:rPr>
              <a:t>y</a:t>
            </a:r>
            <a:r>
              <a:rPr lang="en-US" altLang="en-US" smtClean="0">
                <a:solidFill>
                  <a:srgbClr val="FF0000"/>
                </a:solidFill>
              </a:rPr>
              <a:t> = </a:t>
            </a:r>
            <a:r>
              <a:rPr lang="en-US" altLang="en-US" i="1" smtClean="0">
                <a:solidFill>
                  <a:srgbClr val="FF0000"/>
                </a:solidFill>
              </a:rPr>
              <a:t>p</a:t>
            </a:r>
            <a:r>
              <a:rPr lang="en-US" altLang="en-US" baseline="-25000" smtClean="0">
                <a:solidFill>
                  <a:srgbClr val="FF0000"/>
                </a:solidFill>
              </a:rPr>
              <a:t>2</a:t>
            </a:r>
            <a:r>
              <a:rPr lang="en-US" altLang="en-US" baseline="30000" smtClean="0">
                <a:solidFill>
                  <a:srgbClr val="FF0000"/>
                </a:solidFill>
              </a:rPr>
              <a:t>0</a:t>
            </a:r>
            <a:r>
              <a:rPr lang="en-US" altLang="en-US" i="1" smtClean="0">
                <a:solidFill>
                  <a:srgbClr val="FF0000"/>
                </a:solidFill>
              </a:rPr>
              <a:t>x</a:t>
            </a:r>
            <a:r>
              <a:rPr lang="en-US" altLang="en-US" baseline="-25000" smtClean="0">
                <a:solidFill>
                  <a:srgbClr val="FF0000"/>
                </a:solidFill>
              </a:rPr>
              <a:t>2</a:t>
            </a:r>
            <a:r>
              <a:rPr lang="en-US" altLang="en-US" smtClean="0">
                <a:solidFill>
                  <a:srgbClr val="FF0000"/>
                </a:solidFill>
              </a:rPr>
              <a:t> + </a:t>
            </a:r>
            <a:r>
              <a:rPr lang="en-US" altLang="en-US" i="1" smtClean="0">
                <a:solidFill>
                  <a:srgbClr val="FF0000"/>
                </a:solidFill>
              </a:rPr>
              <a:t>p</a:t>
            </a:r>
            <a:r>
              <a:rPr lang="en-US" altLang="en-US" baseline="-25000" smtClean="0">
                <a:solidFill>
                  <a:srgbClr val="FF0000"/>
                </a:solidFill>
              </a:rPr>
              <a:t>3</a:t>
            </a:r>
            <a:r>
              <a:rPr lang="en-US" altLang="en-US" baseline="30000" smtClean="0">
                <a:solidFill>
                  <a:srgbClr val="FF0000"/>
                </a:solidFill>
              </a:rPr>
              <a:t>0</a:t>
            </a:r>
            <a:r>
              <a:rPr lang="en-US" altLang="en-US" i="1" smtClean="0">
                <a:solidFill>
                  <a:srgbClr val="FF0000"/>
                </a:solidFill>
              </a:rPr>
              <a:t>x</a:t>
            </a:r>
            <a:r>
              <a:rPr lang="en-US" altLang="en-US" baseline="-25000" smtClean="0">
                <a:solidFill>
                  <a:srgbClr val="FF0000"/>
                </a:solidFill>
              </a:rPr>
              <a:t>3</a:t>
            </a:r>
            <a:r>
              <a:rPr lang="en-US" altLang="en-US" smtClean="0">
                <a:solidFill>
                  <a:srgbClr val="FF0000"/>
                </a:solidFill>
              </a:rPr>
              <a:t> +…+ </a:t>
            </a:r>
            <a:r>
              <a:rPr lang="en-US" altLang="en-US" i="1" smtClean="0">
                <a:solidFill>
                  <a:srgbClr val="FF0000"/>
                </a:solidFill>
              </a:rPr>
              <a:t>p</a:t>
            </a:r>
            <a:r>
              <a:rPr lang="en-US" altLang="en-US" i="1" baseline="-25000" smtClean="0">
                <a:solidFill>
                  <a:srgbClr val="FF0000"/>
                </a:solidFill>
              </a:rPr>
              <a:t>n</a:t>
            </a:r>
            <a:r>
              <a:rPr lang="en-US" altLang="en-US" baseline="30000" smtClean="0">
                <a:solidFill>
                  <a:srgbClr val="FF0000"/>
                </a:solidFill>
              </a:rPr>
              <a:t>0</a:t>
            </a:r>
            <a:r>
              <a:rPr lang="en-US" altLang="en-US" i="1" smtClean="0">
                <a:solidFill>
                  <a:srgbClr val="FF0000"/>
                </a:solidFill>
              </a:rPr>
              <a:t>x</a:t>
            </a:r>
            <a:r>
              <a:rPr lang="en-US" altLang="en-US" i="1" baseline="-25000" smtClean="0">
                <a:solidFill>
                  <a:srgbClr val="FF0000"/>
                </a:solidFill>
              </a:rPr>
              <a:t>n</a:t>
            </a:r>
          </a:p>
          <a:p>
            <a:pPr>
              <a:lnSpc>
                <a:spcPct val="110000"/>
              </a:lnSpc>
            </a:pPr>
            <a:r>
              <a:rPr lang="en-US" altLang="en-US" smtClean="0"/>
              <a:t>The individual’s budget constraint is </a:t>
            </a:r>
          </a:p>
          <a:p>
            <a:pPr lvl="1">
              <a:lnSpc>
                <a:spcPct val="110000"/>
              </a:lnSpc>
              <a:buFont typeface="Arial" charset="0"/>
              <a:buNone/>
            </a:pPr>
            <a:r>
              <a:rPr lang="en-US" altLang="en-US" i="1" smtClean="0">
                <a:solidFill>
                  <a:srgbClr val="FF0000"/>
                </a:solidFill>
                <a:latin typeface="Verdana" pitchFamily="34" charset="0"/>
              </a:rPr>
              <a:t>I</a:t>
            </a:r>
            <a:r>
              <a:rPr lang="en-US" altLang="en-US" smtClean="0">
                <a:solidFill>
                  <a:srgbClr val="FF0000"/>
                </a:solidFill>
              </a:rPr>
              <a:t> = </a:t>
            </a:r>
            <a:r>
              <a:rPr lang="en-US" altLang="en-US" i="1" smtClean="0">
                <a:solidFill>
                  <a:srgbClr val="FF0000"/>
                </a:solidFill>
              </a:rPr>
              <a:t>p</a:t>
            </a:r>
            <a:r>
              <a:rPr lang="en-US" altLang="en-US" baseline="-25000" smtClean="0">
                <a:solidFill>
                  <a:srgbClr val="FF0000"/>
                </a:solidFill>
              </a:rPr>
              <a:t>1</a:t>
            </a:r>
            <a:r>
              <a:rPr lang="en-US" altLang="en-US" i="1" smtClean="0">
                <a:solidFill>
                  <a:srgbClr val="FF0000"/>
                </a:solidFill>
              </a:rPr>
              <a:t>x</a:t>
            </a:r>
            <a:r>
              <a:rPr lang="en-US" altLang="en-US" baseline="-25000" smtClean="0">
                <a:solidFill>
                  <a:srgbClr val="FF0000"/>
                </a:solidFill>
              </a:rPr>
              <a:t>1</a:t>
            </a:r>
            <a:r>
              <a:rPr lang="en-US" altLang="en-US" smtClean="0">
                <a:solidFill>
                  <a:srgbClr val="FF0000"/>
                </a:solidFill>
              </a:rPr>
              <a:t> + </a:t>
            </a:r>
            <a:r>
              <a:rPr lang="en-US" altLang="en-US" i="1" smtClean="0">
                <a:solidFill>
                  <a:srgbClr val="FF0000"/>
                </a:solidFill>
              </a:rPr>
              <a:t>p</a:t>
            </a:r>
            <a:r>
              <a:rPr lang="en-US" altLang="en-US" baseline="-25000" smtClean="0">
                <a:solidFill>
                  <a:srgbClr val="FF0000"/>
                </a:solidFill>
              </a:rPr>
              <a:t>2</a:t>
            </a:r>
            <a:r>
              <a:rPr lang="en-US" altLang="en-US" baseline="30000" smtClean="0">
                <a:solidFill>
                  <a:srgbClr val="FF0000"/>
                </a:solidFill>
              </a:rPr>
              <a:t>0</a:t>
            </a:r>
            <a:r>
              <a:rPr lang="en-US" altLang="en-US" i="1" smtClean="0">
                <a:solidFill>
                  <a:srgbClr val="FF0000"/>
                </a:solidFill>
              </a:rPr>
              <a:t>x</a:t>
            </a:r>
            <a:r>
              <a:rPr lang="en-US" altLang="en-US" baseline="-25000" smtClean="0">
                <a:solidFill>
                  <a:srgbClr val="FF0000"/>
                </a:solidFill>
              </a:rPr>
              <a:t>2</a:t>
            </a:r>
            <a:r>
              <a:rPr lang="en-US" altLang="en-US" smtClean="0">
                <a:solidFill>
                  <a:srgbClr val="FF0000"/>
                </a:solidFill>
              </a:rPr>
              <a:t> +…+ </a:t>
            </a:r>
            <a:r>
              <a:rPr lang="en-US" altLang="en-US" i="1" smtClean="0">
                <a:solidFill>
                  <a:srgbClr val="FF0000"/>
                </a:solidFill>
              </a:rPr>
              <a:t>p</a:t>
            </a:r>
            <a:r>
              <a:rPr lang="en-US" altLang="en-US" i="1" baseline="-25000" smtClean="0">
                <a:solidFill>
                  <a:srgbClr val="FF0000"/>
                </a:solidFill>
              </a:rPr>
              <a:t>n</a:t>
            </a:r>
            <a:r>
              <a:rPr lang="en-US" altLang="en-US" baseline="30000" smtClean="0">
                <a:solidFill>
                  <a:srgbClr val="FF0000"/>
                </a:solidFill>
              </a:rPr>
              <a:t>0</a:t>
            </a:r>
            <a:r>
              <a:rPr lang="en-US" altLang="en-US" i="1" smtClean="0">
                <a:solidFill>
                  <a:srgbClr val="FF0000"/>
                </a:solidFill>
              </a:rPr>
              <a:t>x</a:t>
            </a:r>
            <a:r>
              <a:rPr lang="en-US" altLang="en-US" i="1" baseline="-25000" smtClean="0">
                <a:solidFill>
                  <a:srgbClr val="FF0000"/>
                </a:solidFill>
              </a:rPr>
              <a:t>n</a:t>
            </a:r>
            <a:r>
              <a:rPr lang="en-US" altLang="en-US" smtClean="0">
                <a:solidFill>
                  <a:srgbClr val="FF0000"/>
                </a:solidFill>
              </a:rPr>
              <a:t> = </a:t>
            </a:r>
            <a:r>
              <a:rPr lang="en-US" altLang="en-US" i="1" smtClean="0">
                <a:solidFill>
                  <a:srgbClr val="FF0000"/>
                </a:solidFill>
              </a:rPr>
              <a:t>p</a:t>
            </a:r>
            <a:r>
              <a:rPr lang="en-US" altLang="en-US" baseline="-25000" smtClean="0">
                <a:solidFill>
                  <a:srgbClr val="FF0000"/>
                </a:solidFill>
              </a:rPr>
              <a:t>1</a:t>
            </a:r>
            <a:r>
              <a:rPr lang="en-US" altLang="en-US" i="1" smtClean="0">
                <a:solidFill>
                  <a:srgbClr val="FF0000"/>
                </a:solidFill>
              </a:rPr>
              <a:t>x</a:t>
            </a:r>
            <a:r>
              <a:rPr lang="en-US" altLang="en-US" baseline="-25000" smtClean="0">
                <a:solidFill>
                  <a:srgbClr val="FF0000"/>
                </a:solidFill>
              </a:rPr>
              <a:t>1</a:t>
            </a:r>
            <a:r>
              <a:rPr lang="en-US" altLang="en-US" smtClean="0">
                <a:solidFill>
                  <a:srgbClr val="FF0000"/>
                </a:solidFill>
              </a:rPr>
              <a:t> + </a:t>
            </a:r>
            <a:r>
              <a:rPr lang="en-US" altLang="en-US" i="1" smtClean="0">
                <a:solidFill>
                  <a:srgbClr val="FF0000"/>
                </a:solidFill>
              </a:rPr>
              <a:t>y</a:t>
            </a:r>
          </a:p>
          <a:p>
            <a:pPr lvl="1">
              <a:lnSpc>
                <a:spcPct val="110000"/>
              </a:lnSpc>
            </a:pPr>
            <a:r>
              <a:rPr lang="en-US" altLang="en-US" smtClean="0"/>
              <a:t>Assumption; all of the prices </a:t>
            </a:r>
            <a:r>
              <a:rPr lang="en-US" altLang="en-US" i="1" smtClean="0"/>
              <a:t>p</a:t>
            </a:r>
            <a:r>
              <a:rPr lang="en-US" altLang="en-US" baseline="-25000" smtClean="0"/>
              <a:t>2</a:t>
            </a:r>
            <a:r>
              <a:rPr lang="en-US" altLang="en-US" baseline="30000" smtClean="0"/>
              <a:t>0</a:t>
            </a:r>
            <a:r>
              <a:rPr lang="en-US" altLang="en-US" smtClean="0"/>
              <a:t>…</a:t>
            </a:r>
            <a:r>
              <a:rPr lang="en-US" altLang="en-US" i="1" smtClean="0"/>
              <a:t>p</a:t>
            </a:r>
            <a:r>
              <a:rPr lang="en-US" altLang="en-US" i="1" baseline="-25000" smtClean="0"/>
              <a:t>n</a:t>
            </a:r>
            <a:r>
              <a:rPr lang="en-US" altLang="en-US" baseline="30000" smtClean="0"/>
              <a:t>0</a:t>
            </a:r>
            <a:r>
              <a:rPr lang="en-US" altLang="en-US" smtClean="0"/>
              <a:t> change in unison by a factor t (</a:t>
            </a:r>
            <a:r>
              <a:rPr lang="en-US" altLang="en-US" i="1" smtClean="0"/>
              <a:t>t </a:t>
            </a:r>
            <a:r>
              <a:rPr lang="en-US" altLang="en-US" smtClean="0"/>
              <a:t>&gt; 0)</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78BAD7C-0F6A-4566-A7EF-D75635C48D61}" type="slidenum">
              <a:rPr lang="en-US" smtClean="0"/>
              <a:pPr>
                <a:defRPr/>
              </a:pPr>
              <a:t>23</a:t>
            </a:fld>
            <a:endParaRPr lang="en-US"/>
          </a:p>
        </p:txBody>
      </p:sp>
    </p:spTree>
    <p:extLst>
      <p:ext uri="{BB962C8B-B14F-4D97-AF65-F5344CB8AC3E}">
        <p14:creationId xmlns:p14="http://schemas.microsoft.com/office/powerpoint/2010/main" val="7964647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smtClean="0"/>
              <a:t>Composite Commodities</a:t>
            </a:r>
          </a:p>
        </p:txBody>
      </p:sp>
      <p:sp>
        <p:nvSpPr>
          <p:cNvPr id="35843" name="Content Placeholder 4"/>
          <p:cNvSpPr>
            <a:spLocks noGrp="1"/>
          </p:cNvSpPr>
          <p:nvPr>
            <p:ph idx="1"/>
          </p:nvPr>
        </p:nvSpPr>
        <p:spPr/>
        <p:txBody>
          <a:bodyPr/>
          <a:lstStyle/>
          <a:p>
            <a:pPr>
              <a:lnSpc>
                <a:spcPct val="110000"/>
              </a:lnSpc>
            </a:pPr>
            <a:r>
              <a:rPr lang="en-US" altLang="en-US" smtClean="0"/>
              <a:t>Budget constraint becomes</a:t>
            </a:r>
          </a:p>
          <a:p>
            <a:pPr>
              <a:lnSpc>
                <a:spcPct val="110000"/>
              </a:lnSpc>
              <a:buFontTx/>
              <a:buNone/>
            </a:pPr>
            <a:r>
              <a:rPr lang="en-US" altLang="en-US" sz="2800" i="1" smtClean="0">
                <a:solidFill>
                  <a:srgbClr val="7B332D"/>
                </a:solidFill>
                <a:latin typeface="Verdana" pitchFamily="34" charset="0"/>
              </a:rPr>
              <a:t>	</a:t>
            </a:r>
            <a:r>
              <a:rPr lang="en-US" altLang="en-US" sz="3200" i="1" smtClean="0">
                <a:solidFill>
                  <a:srgbClr val="FF0000"/>
                </a:solidFill>
              </a:rPr>
              <a:t>I</a:t>
            </a:r>
            <a:r>
              <a:rPr lang="en-US" altLang="en-US" sz="3200" smtClean="0">
                <a:solidFill>
                  <a:srgbClr val="FF0000"/>
                </a:solidFill>
              </a:rPr>
              <a:t> = </a:t>
            </a:r>
            <a:r>
              <a:rPr lang="en-US" altLang="en-US" sz="3200" i="1" smtClean="0">
                <a:solidFill>
                  <a:srgbClr val="FF0000"/>
                </a:solidFill>
              </a:rPr>
              <a:t>p</a:t>
            </a:r>
            <a:r>
              <a:rPr lang="en-US" altLang="en-US" sz="3200" baseline="-25000" smtClean="0">
                <a:solidFill>
                  <a:srgbClr val="FF0000"/>
                </a:solidFill>
              </a:rPr>
              <a:t>1</a:t>
            </a:r>
            <a:r>
              <a:rPr lang="en-US" altLang="en-US" sz="3200" i="1" smtClean="0">
                <a:solidFill>
                  <a:srgbClr val="FF0000"/>
                </a:solidFill>
              </a:rPr>
              <a:t>x</a:t>
            </a:r>
            <a:r>
              <a:rPr lang="en-US" altLang="en-US" sz="3200" baseline="-25000" smtClean="0">
                <a:solidFill>
                  <a:srgbClr val="FF0000"/>
                </a:solidFill>
              </a:rPr>
              <a:t>1</a:t>
            </a:r>
            <a:r>
              <a:rPr lang="en-US" altLang="en-US" sz="3200" smtClean="0">
                <a:solidFill>
                  <a:srgbClr val="FF0000"/>
                </a:solidFill>
              </a:rPr>
              <a:t> + </a:t>
            </a:r>
            <a:r>
              <a:rPr lang="en-US" altLang="en-US" sz="3200" i="1" smtClean="0">
                <a:solidFill>
                  <a:srgbClr val="FF0000"/>
                </a:solidFill>
              </a:rPr>
              <a:t>tp</a:t>
            </a:r>
            <a:r>
              <a:rPr lang="en-US" altLang="en-US" sz="3200" baseline="-25000" smtClean="0">
                <a:solidFill>
                  <a:srgbClr val="FF0000"/>
                </a:solidFill>
              </a:rPr>
              <a:t>2</a:t>
            </a:r>
            <a:r>
              <a:rPr lang="en-US" altLang="en-US" sz="3200" baseline="30000" smtClean="0">
                <a:solidFill>
                  <a:srgbClr val="FF0000"/>
                </a:solidFill>
              </a:rPr>
              <a:t>0</a:t>
            </a:r>
            <a:r>
              <a:rPr lang="en-US" altLang="en-US" sz="3200" i="1" smtClean="0">
                <a:solidFill>
                  <a:srgbClr val="FF0000"/>
                </a:solidFill>
              </a:rPr>
              <a:t>x</a:t>
            </a:r>
            <a:r>
              <a:rPr lang="en-US" altLang="en-US" sz="3200" baseline="-25000" smtClean="0">
                <a:solidFill>
                  <a:srgbClr val="FF0000"/>
                </a:solidFill>
              </a:rPr>
              <a:t>2</a:t>
            </a:r>
            <a:r>
              <a:rPr lang="en-US" altLang="en-US" sz="3200" smtClean="0">
                <a:solidFill>
                  <a:srgbClr val="FF0000"/>
                </a:solidFill>
              </a:rPr>
              <a:t> +…+ </a:t>
            </a:r>
            <a:r>
              <a:rPr lang="en-US" altLang="en-US" sz="3200" i="1" smtClean="0">
                <a:solidFill>
                  <a:srgbClr val="FF0000"/>
                </a:solidFill>
              </a:rPr>
              <a:t>tp</a:t>
            </a:r>
            <a:r>
              <a:rPr lang="en-US" altLang="en-US" sz="3200" i="1" baseline="-25000" smtClean="0">
                <a:solidFill>
                  <a:srgbClr val="FF0000"/>
                </a:solidFill>
              </a:rPr>
              <a:t>n</a:t>
            </a:r>
            <a:r>
              <a:rPr lang="en-US" altLang="en-US" sz="3200" baseline="30000" smtClean="0">
                <a:solidFill>
                  <a:srgbClr val="FF0000"/>
                </a:solidFill>
              </a:rPr>
              <a:t>0</a:t>
            </a:r>
            <a:r>
              <a:rPr lang="en-US" altLang="en-US" sz="3200" i="1" smtClean="0">
                <a:solidFill>
                  <a:srgbClr val="FF0000"/>
                </a:solidFill>
              </a:rPr>
              <a:t>x</a:t>
            </a:r>
            <a:r>
              <a:rPr lang="en-US" altLang="en-US" sz="3200" i="1" baseline="-25000" smtClean="0">
                <a:solidFill>
                  <a:srgbClr val="FF0000"/>
                </a:solidFill>
              </a:rPr>
              <a:t>n</a:t>
            </a:r>
            <a:r>
              <a:rPr lang="en-US" altLang="en-US" sz="3200" smtClean="0">
                <a:solidFill>
                  <a:srgbClr val="FF0000"/>
                </a:solidFill>
              </a:rPr>
              <a:t> = </a:t>
            </a:r>
            <a:r>
              <a:rPr lang="en-US" altLang="en-US" sz="3200" i="1" smtClean="0">
                <a:solidFill>
                  <a:srgbClr val="FF0000"/>
                </a:solidFill>
              </a:rPr>
              <a:t>p</a:t>
            </a:r>
            <a:r>
              <a:rPr lang="en-US" altLang="en-US" sz="3200" baseline="-25000" smtClean="0">
                <a:solidFill>
                  <a:srgbClr val="FF0000"/>
                </a:solidFill>
              </a:rPr>
              <a:t>1</a:t>
            </a:r>
            <a:r>
              <a:rPr lang="en-US" altLang="en-US" sz="3200" i="1" smtClean="0">
                <a:solidFill>
                  <a:srgbClr val="FF0000"/>
                </a:solidFill>
              </a:rPr>
              <a:t>x</a:t>
            </a:r>
            <a:r>
              <a:rPr lang="en-US" altLang="en-US" sz="3200" baseline="-25000" smtClean="0">
                <a:solidFill>
                  <a:srgbClr val="FF0000"/>
                </a:solidFill>
              </a:rPr>
              <a:t>1</a:t>
            </a:r>
            <a:r>
              <a:rPr lang="en-US" altLang="en-US" sz="3200" smtClean="0">
                <a:solidFill>
                  <a:srgbClr val="FF0000"/>
                </a:solidFill>
              </a:rPr>
              <a:t> + </a:t>
            </a:r>
            <a:r>
              <a:rPr lang="en-US" altLang="en-US" sz="3200" i="1" smtClean="0">
                <a:solidFill>
                  <a:srgbClr val="FF0000"/>
                </a:solidFill>
              </a:rPr>
              <a:t>ty</a:t>
            </a:r>
            <a:endParaRPr lang="en-US" altLang="en-US" sz="3200" smtClean="0">
              <a:solidFill>
                <a:srgbClr val="FF0000"/>
              </a:solidFill>
            </a:endParaRPr>
          </a:p>
          <a:p>
            <a:pPr lvl="1">
              <a:lnSpc>
                <a:spcPct val="110000"/>
              </a:lnSpc>
            </a:pPr>
            <a:r>
              <a:rPr lang="en-US" altLang="en-US" smtClean="0"/>
              <a:t>Changes in </a:t>
            </a:r>
            <a:r>
              <a:rPr lang="en-US" altLang="en-US" i="1" smtClean="0"/>
              <a:t>p</a:t>
            </a:r>
            <a:r>
              <a:rPr lang="en-US" altLang="en-US" baseline="-25000" smtClean="0"/>
              <a:t>1</a:t>
            </a:r>
            <a:r>
              <a:rPr lang="en-US" altLang="en-US" smtClean="0"/>
              <a:t> or </a:t>
            </a:r>
            <a:r>
              <a:rPr lang="en-US" altLang="en-US" i="1" smtClean="0"/>
              <a:t>t</a:t>
            </a:r>
            <a:r>
              <a:rPr lang="en-US" altLang="en-US" smtClean="0"/>
              <a:t> induce substitution effects</a:t>
            </a:r>
            <a:endParaRPr lang="en-US" altLang="en-US" i="1" smtClean="0"/>
          </a:p>
          <a:p>
            <a:pPr lvl="1">
              <a:lnSpc>
                <a:spcPct val="110000"/>
              </a:lnSpc>
            </a:pPr>
            <a:r>
              <a:rPr lang="en-US" altLang="en-US" smtClean="0"/>
              <a:t>As long as </a:t>
            </a:r>
            <a:r>
              <a:rPr lang="en-US" altLang="en-US" i="1" smtClean="0"/>
              <a:t>p</a:t>
            </a:r>
            <a:r>
              <a:rPr lang="en-US" altLang="en-US" baseline="-25000" smtClean="0"/>
              <a:t>2</a:t>
            </a:r>
            <a:r>
              <a:rPr lang="en-US" altLang="en-US" baseline="30000" smtClean="0"/>
              <a:t>0</a:t>
            </a:r>
            <a:r>
              <a:rPr lang="en-US" altLang="en-US" smtClean="0"/>
              <a:t>…</a:t>
            </a:r>
            <a:r>
              <a:rPr lang="en-US" altLang="en-US" i="1" smtClean="0"/>
              <a:t>p</a:t>
            </a:r>
            <a:r>
              <a:rPr lang="en-US" altLang="en-US" i="1" baseline="-25000" smtClean="0"/>
              <a:t>n</a:t>
            </a:r>
            <a:r>
              <a:rPr lang="en-US" altLang="en-US" baseline="30000" smtClean="0"/>
              <a:t>0</a:t>
            </a:r>
            <a:r>
              <a:rPr lang="en-US" altLang="en-US" smtClean="0"/>
              <a:t> move together</a:t>
            </a:r>
          </a:p>
          <a:p>
            <a:pPr lvl="2">
              <a:lnSpc>
                <a:spcPct val="110000"/>
              </a:lnSpc>
            </a:pPr>
            <a:r>
              <a:rPr lang="en-US" altLang="en-US" smtClean="0"/>
              <a:t>We can confine our examination of demand to choices between buying </a:t>
            </a:r>
            <a:r>
              <a:rPr lang="en-US" altLang="en-US" i="1" smtClean="0"/>
              <a:t>x</a:t>
            </a:r>
            <a:r>
              <a:rPr lang="en-US" altLang="en-US" baseline="-25000" smtClean="0"/>
              <a:t>1</a:t>
            </a:r>
            <a:r>
              <a:rPr lang="en-US" altLang="en-US" smtClean="0"/>
              <a:t> and “everything else”</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87ECFD0-7BBE-4416-B079-B75D188CFE64}" type="slidenum">
              <a:rPr lang="en-US" smtClean="0"/>
              <a:pPr>
                <a:defRPr/>
              </a:pPr>
              <a:t>24</a:t>
            </a:fld>
            <a:endParaRPr lang="en-US"/>
          </a:p>
        </p:txBody>
      </p:sp>
    </p:spTree>
    <p:extLst>
      <p:ext uri="{BB962C8B-B14F-4D97-AF65-F5344CB8AC3E}">
        <p14:creationId xmlns:p14="http://schemas.microsoft.com/office/powerpoint/2010/main" val="20220462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smtClean="0"/>
              <a:t>Composite Commodities</a:t>
            </a:r>
          </a:p>
        </p:txBody>
      </p:sp>
      <p:sp>
        <p:nvSpPr>
          <p:cNvPr id="36867" name="Content Placeholder 4"/>
          <p:cNvSpPr>
            <a:spLocks noGrp="1"/>
          </p:cNvSpPr>
          <p:nvPr>
            <p:ph idx="1"/>
          </p:nvPr>
        </p:nvSpPr>
        <p:spPr/>
        <p:txBody>
          <a:bodyPr/>
          <a:lstStyle/>
          <a:p>
            <a:r>
              <a:rPr lang="en-US" altLang="en-US" smtClean="0"/>
              <a:t>A composite commodity </a:t>
            </a:r>
          </a:p>
          <a:p>
            <a:pPr lvl="1"/>
            <a:r>
              <a:rPr lang="en-US" altLang="en-US" smtClean="0"/>
              <a:t>A group of goods for which all prices move together</a:t>
            </a:r>
          </a:p>
          <a:p>
            <a:pPr lvl="2"/>
            <a:r>
              <a:rPr lang="en-US" altLang="en-US" smtClean="0"/>
              <a:t>These goods can be treated as a single commodity</a:t>
            </a:r>
          </a:p>
          <a:p>
            <a:pPr lvl="2"/>
            <a:r>
              <a:rPr lang="en-US" altLang="en-US" smtClean="0"/>
              <a:t>The individual behaves as if he is choosing between other goods and spending on this entire composite group</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E043C94-C5C3-4CD8-9870-276E3FA62FC8}" type="slidenum">
              <a:rPr lang="en-US" smtClean="0"/>
              <a:pPr>
                <a:defRPr/>
              </a:pPr>
              <a:t>25</a:t>
            </a:fld>
            <a:endParaRPr lang="en-US"/>
          </a:p>
        </p:txBody>
      </p:sp>
    </p:spTree>
    <p:extLst>
      <p:ext uri="{BB962C8B-B14F-4D97-AF65-F5344CB8AC3E}">
        <p14:creationId xmlns:p14="http://schemas.microsoft.com/office/powerpoint/2010/main" val="14369522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6.3 	Housing Costs as a </a:t>
            </a:r>
            <a:r>
              <a:rPr lang="en-US" altLang="en-US" dirty="0" smtClean="0"/>
              <a:t>Composite</a:t>
            </a:r>
            <a:br>
              <a:rPr lang="en-US" altLang="en-US" dirty="0" smtClean="0"/>
            </a:br>
            <a:r>
              <a:rPr lang="en-US" altLang="en-US" dirty="0"/>
              <a:t>	</a:t>
            </a:r>
            <a:r>
              <a:rPr lang="en-US" altLang="en-US" dirty="0" smtClean="0">
                <a:solidFill>
                  <a:srgbClr val="002D56"/>
                </a:solidFill>
              </a:rPr>
              <a:t> </a:t>
            </a:r>
            <a:r>
              <a:rPr lang="en-US" altLang="en-US" dirty="0" smtClean="0">
                <a:solidFill>
                  <a:srgbClr val="002D56"/>
                </a:solidFill>
              </a:rPr>
              <a:t>Commodity</a:t>
            </a:r>
          </a:p>
        </p:txBody>
      </p:sp>
      <p:sp>
        <p:nvSpPr>
          <p:cNvPr id="819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E3D3CC0C-B196-43BE-8DDB-786A504FB34C}" type="slidenum">
              <a:rPr lang="en-US" smtClean="0"/>
              <a:pPr>
                <a:defRPr/>
              </a:pPr>
              <a:t>26</a:t>
            </a:fld>
            <a:endParaRPr lang="en-US" dirty="0"/>
          </a:p>
        </p:txBody>
      </p:sp>
      <p:sp>
        <p:nvSpPr>
          <p:cNvPr id="8196" name="Content Placeholder 2"/>
          <p:cNvSpPr>
            <a:spLocks noGrp="1"/>
          </p:cNvSpPr>
          <p:nvPr>
            <p:ph type="body" sz="quarter" idx="12"/>
          </p:nvPr>
        </p:nvSpPr>
        <p:spPr>
          <a:xfrm>
            <a:off x="381000" y="1066800"/>
            <a:ext cx="8382000" cy="5334000"/>
          </a:xfrm>
          <a:prstGeom prst="rect">
            <a:avLst/>
          </a:prstGeom>
        </p:spPr>
        <p:txBody>
          <a:bodyPr/>
          <a:lstStyle/>
          <a:p>
            <a:r>
              <a:rPr lang="en-US" altLang="en-US" dirty="0" smtClean="0"/>
              <a:t>Suppose that an individual receives utility from three goods:</a:t>
            </a:r>
          </a:p>
          <a:p>
            <a:pPr lvl="1"/>
            <a:r>
              <a:rPr lang="en-US" altLang="en-US" dirty="0" smtClean="0"/>
              <a:t>Food (</a:t>
            </a:r>
            <a:r>
              <a:rPr lang="en-US" altLang="en-US" i="1" dirty="0" smtClean="0"/>
              <a:t>x</a:t>
            </a:r>
            <a:r>
              <a:rPr lang="en-US" altLang="en-US" dirty="0" smtClean="0"/>
              <a:t>)</a:t>
            </a:r>
          </a:p>
          <a:p>
            <a:pPr lvl="1"/>
            <a:r>
              <a:rPr lang="en-US" altLang="en-US" dirty="0" smtClean="0"/>
              <a:t>Housing services (</a:t>
            </a:r>
            <a:r>
              <a:rPr lang="en-US" altLang="en-US" i="1" dirty="0" smtClean="0"/>
              <a:t>y</a:t>
            </a:r>
            <a:r>
              <a:rPr lang="en-US" altLang="en-US" dirty="0" smtClean="0"/>
              <a:t>), measured in hundreds of square feet</a:t>
            </a:r>
          </a:p>
          <a:p>
            <a:pPr lvl="1"/>
            <a:r>
              <a:rPr lang="en-US" altLang="en-US" dirty="0" smtClean="0"/>
              <a:t>Household operations (</a:t>
            </a:r>
            <a:r>
              <a:rPr lang="en-US" altLang="en-US" i="1" dirty="0" smtClean="0"/>
              <a:t>z</a:t>
            </a:r>
            <a:r>
              <a:rPr lang="en-US" altLang="en-US" dirty="0" smtClean="0"/>
              <a:t>), measured by electricity use</a:t>
            </a:r>
          </a:p>
          <a:p>
            <a:r>
              <a:rPr lang="en-US" altLang="en-US" dirty="0" smtClean="0"/>
              <a:t>CES utility function</a:t>
            </a:r>
          </a:p>
          <a:p>
            <a:endParaRPr lang="en-US" altLang="en-US" dirty="0" smtClean="0"/>
          </a:p>
        </p:txBody>
      </p:sp>
      <p:graphicFrame>
        <p:nvGraphicFramePr>
          <p:cNvPr id="49154" name="Object 2"/>
          <p:cNvGraphicFramePr>
            <a:graphicFrameLocks noChangeAspect="1"/>
          </p:cNvGraphicFramePr>
          <p:nvPr>
            <p:extLst>
              <p:ext uri="{D42A27DB-BD31-4B8C-83A1-F6EECF244321}">
                <p14:modId xmlns:p14="http://schemas.microsoft.com/office/powerpoint/2010/main" val="1273887915"/>
              </p:ext>
            </p:extLst>
          </p:nvPr>
        </p:nvGraphicFramePr>
        <p:xfrm>
          <a:off x="1030288" y="4994275"/>
          <a:ext cx="5764212" cy="1101725"/>
        </p:xfrm>
        <a:graphic>
          <a:graphicData uri="http://schemas.openxmlformats.org/presentationml/2006/ole">
            <mc:AlternateContent xmlns:mc="http://schemas.openxmlformats.org/markup-compatibility/2006">
              <mc:Choice xmlns:v="urn:schemas-microsoft-com:vml" Requires="v">
                <p:oleObj spid="_x0000_s136203" name="Equation" r:id="rId3" imgW="2184120" imgH="419040" progId="Equation.DSMT4">
                  <p:embed/>
                </p:oleObj>
              </mc:Choice>
              <mc:Fallback>
                <p:oleObj name="Equation" r:id="rId3" imgW="218412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0288" y="4994275"/>
                        <a:ext cx="5764212"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63013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wipe(left)">
                                      <p:cBhvr>
                                        <p:cTn id="7" dur="500"/>
                                        <p:tgtEl>
                                          <p:spTgt spid="49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6.3 	Housing Costs as a Composite </a:t>
            </a:r>
            <a:r>
              <a:rPr lang="en-US" altLang="en-US" dirty="0" smtClean="0"/>
              <a:t/>
            </a:r>
            <a:br>
              <a:rPr lang="en-US" altLang="en-US" dirty="0" smtClean="0"/>
            </a:br>
            <a:r>
              <a:rPr lang="en-US" altLang="en-US" dirty="0"/>
              <a:t>	</a:t>
            </a:r>
            <a:r>
              <a:rPr lang="en-US" altLang="en-US" dirty="0" smtClean="0">
                <a:solidFill>
                  <a:srgbClr val="002D56"/>
                </a:solidFill>
              </a:rPr>
              <a:t>Commodity</a:t>
            </a:r>
            <a:endParaRPr lang="en-US" altLang="en-US" dirty="0" smtClean="0">
              <a:solidFill>
                <a:srgbClr val="002D56"/>
              </a:solidFill>
            </a:endParaRPr>
          </a:p>
        </p:txBody>
      </p:sp>
      <p:sp>
        <p:nvSpPr>
          <p:cNvPr id="922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7DD92D7-FF60-4F77-A437-D25070B4DA76}" type="slidenum">
              <a:rPr lang="en-US" smtClean="0"/>
              <a:pPr>
                <a:defRPr/>
              </a:pPr>
              <a:t>27</a:t>
            </a:fld>
            <a:endParaRPr lang="en-US" dirty="0"/>
          </a:p>
        </p:txBody>
      </p:sp>
      <p:sp>
        <p:nvSpPr>
          <p:cNvPr id="9220" name="Content Placeholder 2"/>
          <p:cNvSpPr>
            <a:spLocks noGrp="1"/>
          </p:cNvSpPr>
          <p:nvPr>
            <p:ph type="body" sz="quarter" idx="12"/>
          </p:nvPr>
        </p:nvSpPr>
        <p:spPr>
          <a:xfrm>
            <a:off x="381000" y="1066800"/>
            <a:ext cx="8382000" cy="5334000"/>
          </a:xfrm>
          <a:prstGeom prst="rect">
            <a:avLst/>
          </a:prstGeom>
        </p:spPr>
        <p:txBody>
          <a:bodyPr/>
          <a:lstStyle/>
          <a:p>
            <a:r>
              <a:rPr lang="en-US" altLang="en-US" dirty="0" err="1" smtClean="0"/>
              <a:t>Lagrangian</a:t>
            </a:r>
            <a:r>
              <a:rPr lang="en-US" altLang="en-US" dirty="0" smtClean="0"/>
              <a:t> technique</a:t>
            </a:r>
          </a:p>
          <a:p>
            <a:pPr lvl="1"/>
            <a:r>
              <a:rPr lang="en-US" altLang="en-US" dirty="0" smtClean="0"/>
              <a:t>Can be used to calculate Marshallian demand functions for these goods as</a:t>
            </a:r>
          </a:p>
        </p:txBody>
      </p:sp>
      <p:graphicFrame>
        <p:nvGraphicFramePr>
          <p:cNvPr id="50182" name="Object 6"/>
          <p:cNvGraphicFramePr>
            <a:graphicFrameLocks noChangeAspect="1"/>
          </p:cNvGraphicFramePr>
          <p:nvPr>
            <p:extLst>
              <p:ext uri="{D42A27DB-BD31-4B8C-83A1-F6EECF244321}">
                <p14:modId xmlns:p14="http://schemas.microsoft.com/office/powerpoint/2010/main" val="2430435951"/>
              </p:ext>
            </p:extLst>
          </p:nvPr>
        </p:nvGraphicFramePr>
        <p:xfrm>
          <a:off x="1141413" y="2714625"/>
          <a:ext cx="3670300" cy="3381375"/>
        </p:xfrm>
        <a:graphic>
          <a:graphicData uri="http://schemas.openxmlformats.org/presentationml/2006/ole">
            <mc:AlternateContent xmlns:mc="http://schemas.openxmlformats.org/markup-compatibility/2006">
              <mc:Choice xmlns:v="urn:schemas-microsoft-com:vml" Requires="v">
                <p:oleObj spid="_x0000_s137227" name="Equation" r:id="rId3" imgW="1587240" imgH="1460160" progId="Equation.DSMT4">
                  <p:embed/>
                </p:oleObj>
              </mc:Choice>
              <mc:Fallback>
                <p:oleObj name="Equation" r:id="rId3" imgW="1587240" imgH="14601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413" y="2714625"/>
                        <a:ext cx="3670300" cy="338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40105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182"/>
                                        </p:tgtEl>
                                        <p:attrNameLst>
                                          <p:attrName>style.visibility</p:attrName>
                                        </p:attrNameLst>
                                      </p:cBhvr>
                                      <p:to>
                                        <p:strVal val="visible"/>
                                      </p:to>
                                    </p:set>
                                    <p:animEffect transition="in" filter="wipe(left)">
                                      <p:cBhvr>
                                        <p:cTn id="7" dur="500"/>
                                        <p:tgtEl>
                                          <p:spTgt spid="50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bwMode="auto">
          <a:xfrm>
            <a:off x="1764344" y="0"/>
            <a:ext cx="7379656"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6.3 	Housing Costs as a Composite </a:t>
            </a:r>
            <a:r>
              <a:rPr lang="en-US" altLang="en-US" dirty="0" smtClean="0"/>
              <a:t/>
            </a:r>
            <a:br>
              <a:rPr lang="en-US" altLang="en-US" dirty="0" smtClean="0"/>
            </a:br>
            <a:r>
              <a:rPr lang="en-US" altLang="en-US" dirty="0"/>
              <a:t>	</a:t>
            </a:r>
            <a:r>
              <a:rPr lang="en-US" altLang="en-US" dirty="0" smtClean="0">
                <a:solidFill>
                  <a:srgbClr val="002D56"/>
                </a:solidFill>
              </a:rPr>
              <a:t>Commodity</a:t>
            </a:r>
            <a:endParaRPr lang="en-US" altLang="en-US" dirty="0" smtClean="0">
              <a:solidFill>
                <a:srgbClr val="002D56"/>
              </a:solidFill>
            </a:endParaRPr>
          </a:p>
        </p:txBody>
      </p:sp>
      <p:sp>
        <p:nvSpPr>
          <p:cNvPr id="3789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8A039FD6-3904-47D5-8A9E-E93BE42CD5D5}" type="slidenum">
              <a:rPr lang="en-US" smtClean="0"/>
              <a:pPr>
                <a:defRPr/>
              </a:pPr>
              <a:t>28</a:t>
            </a:fld>
            <a:endParaRPr lang="en-US" dirty="0"/>
          </a:p>
        </p:txBody>
      </p:sp>
      <p:sp>
        <p:nvSpPr>
          <p:cNvPr id="37891" name="Content Placeholder 2"/>
          <p:cNvSpPr>
            <a:spLocks noGrp="1"/>
          </p:cNvSpPr>
          <p:nvPr>
            <p:ph type="body" sz="quarter" idx="12"/>
          </p:nvPr>
        </p:nvSpPr>
        <p:spPr>
          <a:xfrm>
            <a:off x="381000" y="838200"/>
            <a:ext cx="8458200" cy="5562600"/>
          </a:xfrm>
          <a:prstGeom prst="rect">
            <a:avLst/>
          </a:prstGeom>
        </p:spPr>
        <p:txBody>
          <a:bodyPr/>
          <a:lstStyle/>
          <a:p>
            <a:pPr>
              <a:lnSpc>
                <a:spcPct val="150000"/>
              </a:lnSpc>
            </a:pPr>
            <a:r>
              <a:rPr lang="en-US" altLang="en-US" sz="2800" dirty="0" smtClean="0"/>
              <a:t>If initially </a:t>
            </a:r>
            <a:r>
              <a:rPr lang="en-US" altLang="en-US" sz="2800" i="1" dirty="0" smtClean="0">
                <a:latin typeface="Verdana" pitchFamily="34" charset="0"/>
              </a:rPr>
              <a:t>I </a:t>
            </a:r>
            <a:r>
              <a:rPr lang="en-US" altLang="en-US" sz="2800" dirty="0" smtClean="0"/>
              <a:t>= 100, </a:t>
            </a:r>
            <a:r>
              <a:rPr lang="en-US" altLang="en-US" sz="2800" i="1" dirty="0" err="1" smtClean="0"/>
              <a:t>p</a:t>
            </a:r>
            <a:r>
              <a:rPr lang="en-US" altLang="en-US" sz="2800" i="1" baseline="-25000" dirty="0" err="1" smtClean="0"/>
              <a:t>x</a:t>
            </a:r>
            <a:r>
              <a:rPr lang="en-US" altLang="en-US" sz="2800" i="1" baseline="-25000" dirty="0" smtClean="0"/>
              <a:t> </a:t>
            </a:r>
            <a:r>
              <a:rPr lang="en-US" altLang="en-US" sz="2800" dirty="0" smtClean="0"/>
              <a:t>= 1, </a:t>
            </a:r>
            <a:r>
              <a:rPr lang="en-US" altLang="en-US" sz="2800" i="1" dirty="0" err="1" smtClean="0"/>
              <a:t>p</a:t>
            </a:r>
            <a:r>
              <a:rPr lang="en-US" altLang="en-US" sz="2800" i="1" baseline="-25000" dirty="0" err="1" smtClean="0"/>
              <a:t>y</a:t>
            </a:r>
            <a:r>
              <a:rPr lang="en-US" altLang="en-US" sz="2800" i="1" baseline="-25000" dirty="0" smtClean="0"/>
              <a:t> </a:t>
            </a:r>
            <a:r>
              <a:rPr lang="en-US" altLang="en-US" sz="2800" dirty="0" smtClean="0"/>
              <a:t>= 4, </a:t>
            </a:r>
            <a:r>
              <a:rPr lang="en-US" altLang="en-US" sz="2800" i="1" dirty="0" err="1" smtClean="0"/>
              <a:t>p</a:t>
            </a:r>
            <a:r>
              <a:rPr lang="en-US" altLang="en-US" sz="2800" i="1" baseline="-25000" dirty="0" err="1" smtClean="0"/>
              <a:t>z</a:t>
            </a:r>
            <a:r>
              <a:rPr lang="en-US" altLang="en-US" sz="2800" dirty="0" smtClean="0"/>
              <a:t> = 1</a:t>
            </a:r>
          </a:p>
          <a:p>
            <a:pPr lvl="1"/>
            <a:r>
              <a:rPr lang="en-US" altLang="en-US" dirty="0" smtClean="0"/>
              <a:t>Demand </a:t>
            </a:r>
            <a:r>
              <a:rPr lang="en-US" altLang="en-US" dirty="0" smtClean="0"/>
              <a:t>functions predict: </a:t>
            </a:r>
            <a:r>
              <a:rPr lang="en-US" altLang="en-US" i="1" dirty="0" smtClean="0"/>
              <a:t>x</a:t>
            </a:r>
            <a:r>
              <a:rPr lang="en-US" altLang="en-US" dirty="0" smtClean="0"/>
              <a:t>*= </a:t>
            </a:r>
            <a:r>
              <a:rPr lang="en-US" altLang="en-US" dirty="0" smtClean="0"/>
              <a:t>25, </a:t>
            </a:r>
            <a:r>
              <a:rPr lang="en-US" altLang="en-US" i="1" dirty="0" smtClean="0"/>
              <a:t>y</a:t>
            </a:r>
            <a:r>
              <a:rPr lang="en-US" altLang="en-US" dirty="0" smtClean="0"/>
              <a:t>*= </a:t>
            </a:r>
            <a:r>
              <a:rPr lang="en-US" altLang="en-US" dirty="0" smtClean="0"/>
              <a:t>12.5, </a:t>
            </a:r>
            <a:r>
              <a:rPr lang="en-US" altLang="en-US" i="1" dirty="0" smtClean="0"/>
              <a:t>z</a:t>
            </a:r>
            <a:r>
              <a:rPr lang="en-US" altLang="en-US" dirty="0" smtClean="0"/>
              <a:t>*= </a:t>
            </a:r>
            <a:r>
              <a:rPr lang="en-US" altLang="en-US" dirty="0" smtClean="0"/>
              <a:t>25</a:t>
            </a:r>
          </a:p>
          <a:p>
            <a:pPr lvl="1"/>
            <a:r>
              <a:rPr lang="en-US" altLang="en-US" dirty="0" smtClean="0"/>
              <a:t>$25 is spent on food and $75 is spent on housing-related needs</a:t>
            </a:r>
          </a:p>
          <a:p>
            <a:pPr>
              <a:lnSpc>
                <a:spcPct val="150000"/>
              </a:lnSpc>
            </a:pPr>
            <a:r>
              <a:rPr lang="en-US" altLang="en-US" sz="2800" dirty="0" smtClean="0"/>
              <a:t>Assume that the </a:t>
            </a:r>
            <a:r>
              <a:rPr lang="en-US" altLang="en-US" sz="2800" i="1" dirty="0" err="1" smtClean="0"/>
              <a:t>p</a:t>
            </a:r>
            <a:r>
              <a:rPr lang="en-US" altLang="en-US" sz="2800" i="1" baseline="-25000" dirty="0" err="1" smtClean="0"/>
              <a:t>y</a:t>
            </a:r>
            <a:r>
              <a:rPr lang="en-US" altLang="en-US" sz="2800" dirty="0" smtClean="0"/>
              <a:t> and </a:t>
            </a:r>
            <a:r>
              <a:rPr lang="en-US" altLang="en-US" sz="2800" i="1" dirty="0" err="1" smtClean="0"/>
              <a:t>p</a:t>
            </a:r>
            <a:r>
              <a:rPr lang="en-US" altLang="en-US" sz="2800" i="1" baseline="-25000" dirty="0" err="1" smtClean="0"/>
              <a:t>z</a:t>
            </a:r>
            <a:r>
              <a:rPr lang="en-US" altLang="en-US" sz="2800" dirty="0" smtClean="0"/>
              <a:t> move together</a:t>
            </a:r>
          </a:p>
          <a:p>
            <a:pPr lvl="1"/>
            <a:r>
              <a:rPr lang="en-US" altLang="en-US" dirty="0" smtClean="0"/>
              <a:t>Define the “composite commodity” housing (</a:t>
            </a:r>
            <a:r>
              <a:rPr lang="en-US" altLang="en-US" i="1" dirty="0" smtClean="0"/>
              <a:t>h</a:t>
            </a:r>
            <a:r>
              <a:rPr lang="en-US" altLang="en-US" dirty="0" smtClean="0"/>
              <a:t>)</a:t>
            </a:r>
          </a:p>
          <a:p>
            <a:pPr lvl="1">
              <a:buFont typeface="Arial" charset="0"/>
              <a:buNone/>
            </a:pPr>
            <a:r>
              <a:rPr lang="en-US" altLang="en-US" i="1" dirty="0" smtClean="0"/>
              <a:t>h</a:t>
            </a:r>
            <a:r>
              <a:rPr lang="en-US" altLang="en-US" dirty="0" smtClean="0"/>
              <a:t> = 4</a:t>
            </a:r>
            <a:r>
              <a:rPr lang="en-US" altLang="en-US" i="1" dirty="0" smtClean="0"/>
              <a:t>y</a:t>
            </a:r>
            <a:r>
              <a:rPr lang="en-US" altLang="en-US" dirty="0" smtClean="0"/>
              <a:t> + 1</a:t>
            </a:r>
            <a:r>
              <a:rPr lang="en-US" altLang="en-US" i="1" dirty="0" smtClean="0"/>
              <a:t>z</a:t>
            </a:r>
          </a:p>
          <a:p>
            <a:pPr lvl="1"/>
            <a:r>
              <a:rPr lang="en-US" altLang="en-US" dirty="0" smtClean="0"/>
              <a:t>Define the initial price of housing (</a:t>
            </a:r>
            <a:r>
              <a:rPr lang="en-US" altLang="en-US" dirty="0" err="1" smtClean="0"/>
              <a:t>p</a:t>
            </a:r>
            <a:r>
              <a:rPr lang="en-US" altLang="en-US" baseline="-25000" dirty="0" err="1" smtClean="0"/>
              <a:t>h</a:t>
            </a:r>
            <a:r>
              <a:rPr lang="en-US" altLang="en-US" dirty="0" smtClean="0"/>
              <a:t>) to be 1</a:t>
            </a:r>
          </a:p>
          <a:p>
            <a:pPr lvl="2"/>
            <a:r>
              <a:rPr lang="en-US" altLang="en-US" dirty="0" smtClean="0"/>
              <a:t>Initial quantity of housing = total spent on housing (75)</a:t>
            </a:r>
          </a:p>
        </p:txBody>
      </p:sp>
    </p:spTree>
    <p:extLst>
      <p:ext uri="{BB962C8B-B14F-4D97-AF65-F5344CB8AC3E}">
        <p14:creationId xmlns:p14="http://schemas.microsoft.com/office/powerpoint/2010/main" val="39872413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6.3 	Housing Costs as a Composite </a:t>
            </a:r>
            <a:r>
              <a:rPr lang="en-US" altLang="en-US" dirty="0" smtClean="0"/>
              <a:t/>
            </a:r>
            <a:br>
              <a:rPr lang="en-US" altLang="en-US" dirty="0" smtClean="0"/>
            </a:br>
            <a:r>
              <a:rPr lang="en-US" altLang="en-US" dirty="0"/>
              <a:t>	</a:t>
            </a:r>
            <a:r>
              <a:rPr lang="en-US" altLang="en-US" dirty="0" smtClean="0">
                <a:solidFill>
                  <a:srgbClr val="002D56"/>
                </a:solidFill>
              </a:rPr>
              <a:t>Commodity</a:t>
            </a:r>
            <a:endParaRPr lang="en-US" altLang="en-US" dirty="0" smtClean="0">
              <a:solidFill>
                <a:srgbClr val="002D56"/>
              </a:solidFill>
            </a:endParaRPr>
          </a:p>
        </p:txBody>
      </p:sp>
      <p:sp>
        <p:nvSpPr>
          <p:cNvPr id="10246"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2EDF963C-753D-4859-9DB8-F813E9C2632D}" type="slidenum">
              <a:rPr lang="en-US" smtClean="0"/>
              <a:pPr>
                <a:defRPr/>
              </a:pPr>
              <a:t>29</a:t>
            </a:fld>
            <a:endParaRPr lang="en-US" dirty="0"/>
          </a:p>
        </p:txBody>
      </p:sp>
      <p:sp>
        <p:nvSpPr>
          <p:cNvPr id="10244" name="Content Placeholder 2"/>
          <p:cNvSpPr>
            <a:spLocks noGrp="1"/>
          </p:cNvSpPr>
          <p:nvPr>
            <p:ph type="body" sz="quarter" idx="12"/>
          </p:nvPr>
        </p:nvSpPr>
        <p:spPr>
          <a:xfrm>
            <a:off x="152400" y="838200"/>
            <a:ext cx="8763000" cy="2590800"/>
          </a:xfrm>
          <a:prstGeom prst="rect">
            <a:avLst/>
          </a:prstGeom>
        </p:spPr>
        <p:txBody>
          <a:bodyPr>
            <a:normAutofit/>
          </a:bodyPr>
          <a:lstStyle/>
          <a:p>
            <a:pPr>
              <a:lnSpc>
                <a:spcPct val="150000"/>
              </a:lnSpc>
            </a:pPr>
            <a:r>
              <a:rPr lang="en-US" altLang="en-US" dirty="0" err="1" smtClean="0"/>
              <a:t>p</a:t>
            </a:r>
            <a:r>
              <a:rPr lang="en-US" altLang="en-US" baseline="-25000" dirty="0" err="1" smtClean="0"/>
              <a:t>y</a:t>
            </a:r>
            <a:r>
              <a:rPr lang="en-US" altLang="en-US" dirty="0" smtClean="0"/>
              <a:t> and </a:t>
            </a:r>
            <a:r>
              <a:rPr lang="en-US" altLang="en-US" dirty="0" err="1" smtClean="0"/>
              <a:t>p</a:t>
            </a:r>
            <a:r>
              <a:rPr lang="en-US" altLang="en-US" baseline="-25000" dirty="0" err="1" smtClean="0"/>
              <a:t>z</a:t>
            </a:r>
            <a:r>
              <a:rPr lang="en-US" altLang="en-US" dirty="0" smtClean="0"/>
              <a:t> always move together</a:t>
            </a:r>
          </a:p>
          <a:p>
            <a:pPr lvl="1"/>
            <a:r>
              <a:rPr lang="en-US" altLang="en-US" dirty="0" err="1" smtClean="0"/>
              <a:t>p</a:t>
            </a:r>
            <a:r>
              <a:rPr lang="en-US" altLang="en-US" baseline="-25000" dirty="0" err="1" smtClean="0"/>
              <a:t>h</a:t>
            </a:r>
            <a:r>
              <a:rPr lang="en-US" altLang="en-US" dirty="0" smtClean="0"/>
              <a:t> will always be related to these prices, </a:t>
            </a:r>
            <a:r>
              <a:rPr lang="en-US" altLang="en-US" dirty="0" err="1" smtClean="0"/>
              <a:t>p</a:t>
            </a:r>
            <a:r>
              <a:rPr lang="en-US" altLang="en-US" baseline="-25000" dirty="0" err="1" smtClean="0"/>
              <a:t>h</a:t>
            </a:r>
            <a:r>
              <a:rPr lang="en-US" altLang="en-US" dirty="0" smtClean="0"/>
              <a:t>=</a:t>
            </a:r>
            <a:r>
              <a:rPr lang="en-US" altLang="en-US" dirty="0" err="1" smtClean="0"/>
              <a:t>p</a:t>
            </a:r>
            <a:r>
              <a:rPr lang="en-US" altLang="en-US" baseline="-25000" dirty="0" err="1" smtClean="0"/>
              <a:t>z</a:t>
            </a:r>
            <a:r>
              <a:rPr lang="en-US" altLang="en-US" dirty="0" smtClean="0"/>
              <a:t>=0.25p</a:t>
            </a:r>
            <a:r>
              <a:rPr lang="en-US" altLang="en-US" baseline="-25000" dirty="0" smtClean="0"/>
              <a:t>y</a:t>
            </a:r>
            <a:endParaRPr lang="en-US" altLang="en-US" baseline="-25000" dirty="0" smtClean="0"/>
          </a:p>
          <a:p>
            <a:r>
              <a:rPr lang="en-US" altLang="en-US" dirty="0" smtClean="0"/>
              <a:t>Recalculate the demand function for x as a function of I, </a:t>
            </a:r>
            <a:r>
              <a:rPr lang="en-US" altLang="en-US" dirty="0" err="1" smtClean="0"/>
              <a:t>p</a:t>
            </a:r>
            <a:r>
              <a:rPr lang="en-US" altLang="en-US" baseline="-25000" dirty="0" err="1" smtClean="0"/>
              <a:t>x</a:t>
            </a:r>
            <a:r>
              <a:rPr lang="en-US" altLang="en-US" dirty="0" smtClean="0"/>
              <a:t>, and </a:t>
            </a:r>
            <a:r>
              <a:rPr lang="en-US" altLang="en-US" dirty="0" err="1" smtClean="0"/>
              <a:t>p</a:t>
            </a:r>
            <a:r>
              <a:rPr lang="en-US" altLang="en-US" baseline="-25000" dirty="0" err="1" smtClean="0"/>
              <a:t>h</a:t>
            </a:r>
            <a:r>
              <a:rPr lang="en-US" altLang="en-US" dirty="0" smtClean="0"/>
              <a:t>:</a:t>
            </a:r>
          </a:p>
        </p:txBody>
      </p:sp>
      <p:sp>
        <p:nvSpPr>
          <p:cNvPr id="2" name="Text Placeholder 1"/>
          <p:cNvSpPr>
            <a:spLocks noGrp="1"/>
          </p:cNvSpPr>
          <p:nvPr>
            <p:ph type="body" sz="quarter" idx="13"/>
          </p:nvPr>
        </p:nvSpPr>
        <p:spPr>
          <a:xfrm>
            <a:off x="381000" y="4724400"/>
            <a:ext cx="8382000" cy="1676400"/>
          </a:xfrm>
        </p:spPr>
        <p:txBody>
          <a:bodyPr>
            <a:normAutofit/>
          </a:bodyPr>
          <a:lstStyle/>
          <a:p>
            <a:pPr lvl="1" eaLnBrk="0" hangingPunct="0">
              <a:lnSpc>
                <a:spcPct val="120000"/>
              </a:lnSpc>
              <a:buFont typeface="Arial" charset="0"/>
              <a:buChar char="•"/>
              <a:defRPr/>
            </a:pPr>
            <a:r>
              <a:rPr lang="en-US" kern="0" dirty="0"/>
              <a:t>If </a:t>
            </a:r>
            <a:r>
              <a:rPr lang="en-US" i="1" kern="0" dirty="0">
                <a:latin typeface="Verdana" pitchFamily="34" charset="0"/>
              </a:rPr>
              <a:t>I </a:t>
            </a:r>
            <a:r>
              <a:rPr lang="en-US" kern="0" dirty="0"/>
              <a:t>= 100, </a:t>
            </a:r>
            <a:r>
              <a:rPr lang="en-US" i="1" kern="0" dirty="0" err="1"/>
              <a:t>p</a:t>
            </a:r>
            <a:r>
              <a:rPr lang="en-US" i="1" kern="0" baseline="-25000" dirty="0" err="1"/>
              <a:t>x</a:t>
            </a:r>
            <a:r>
              <a:rPr lang="en-US" i="1" kern="0" baseline="-25000" dirty="0"/>
              <a:t> </a:t>
            </a:r>
            <a:r>
              <a:rPr lang="en-US" kern="0" dirty="0"/>
              <a:t>= 1, </a:t>
            </a:r>
            <a:r>
              <a:rPr lang="en-US" i="1" kern="0" dirty="0" err="1"/>
              <a:t>p</a:t>
            </a:r>
            <a:r>
              <a:rPr lang="en-US" i="1" kern="0" baseline="-25000" dirty="0" err="1"/>
              <a:t>y</a:t>
            </a:r>
            <a:r>
              <a:rPr lang="en-US" i="1" kern="0" baseline="-25000" dirty="0"/>
              <a:t> </a:t>
            </a:r>
            <a:r>
              <a:rPr lang="en-US" kern="0" dirty="0"/>
              <a:t>= 4, and </a:t>
            </a:r>
            <a:r>
              <a:rPr lang="en-US" i="1" kern="0" dirty="0" err="1"/>
              <a:t>p</a:t>
            </a:r>
            <a:r>
              <a:rPr lang="en-US" i="1" kern="0" baseline="-25000" dirty="0" err="1"/>
              <a:t>h</a:t>
            </a:r>
            <a:r>
              <a:rPr lang="en-US" kern="0" dirty="0"/>
              <a:t> = 1</a:t>
            </a:r>
            <a:r>
              <a:rPr lang="en-US" kern="0" dirty="0" smtClean="0"/>
              <a:t>, </a:t>
            </a:r>
            <a:r>
              <a:rPr lang="en-US" sz="2800" i="1" kern="0" dirty="0" smtClean="0"/>
              <a:t>x</a:t>
            </a:r>
            <a:r>
              <a:rPr lang="en-US" sz="2800" kern="0" dirty="0"/>
              <a:t>* = </a:t>
            </a:r>
            <a:r>
              <a:rPr lang="en-US" sz="2800" kern="0" dirty="0" smtClean="0"/>
              <a:t>25</a:t>
            </a:r>
          </a:p>
          <a:p>
            <a:pPr marL="457200" lvl="1" indent="0" eaLnBrk="0" hangingPunct="0">
              <a:lnSpc>
                <a:spcPct val="120000"/>
              </a:lnSpc>
              <a:buNone/>
              <a:defRPr/>
            </a:pPr>
            <a:r>
              <a:rPr lang="en-US" sz="2800" kern="0" dirty="0" err="1" smtClean="0"/>
              <a:t>p</a:t>
            </a:r>
            <a:r>
              <a:rPr lang="en-US" sz="2800" kern="0" baseline="-25000" dirty="0" err="1" smtClean="0"/>
              <a:t>h</a:t>
            </a:r>
            <a:r>
              <a:rPr lang="en-US" sz="2800" kern="0" dirty="0" smtClean="0"/>
              <a:t> h</a:t>
            </a:r>
            <a:r>
              <a:rPr lang="en-US" sz="2800" kern="0" baseline="30000" dirty="0" smtClean="0"/>
              <a:t>*</a:t>
            </a:r>
            <a:r>
              <a:rPr lang="en-US" sz="2800" kern="0" dirty="0" smtClean="0"/>
              <a:t> = I – </a:t>
            </a:r>
            <a:r>
              <a:rPr lang="en-US" sz="2800" kern="0" dirty="0" err="1" smtClean="0"/>
              <a:t>p</a:t>
            </a:r>
            <a:r>
              <a:rPr lang="en-US" sz="2800" kern="0" baseline="-25000" dirty="0" err="1" smtClean="0"/>
              <a:t>x</a:t>
            </a:r>
            <a:r>
              <a:rPr lang="en-US" sz="2800" kern="0" dirty="0" err="1" smtClean="0"/>
              <a:t>x</a:t>
            </a:r>
            <a:r>
              <a:rPr lang="en-US" sz="2800" kern="0" baseline="30000" dirty="0" smtClean="0"/>
              <a:t>*</a:t>
            </a:r>
            <a:r>
              <a:rPr lang="en-US" sz="2800" kern="0" dirty="0" smtClean="0"/>
              <a:t> = 100-25 = 75. Since </a:t>
            </a:r>
            <a:r>
              <a:rPr lang="en-US" sz="2800" kern="0" dirty="0" err="1" smtClean="0"/>
              <a:t>p</a:t>
            </a:r>
            <a:r>
              <a:rPr lang="en-US" sz="2800" kern="0" baseline="-25000" dirty="0" err="1" smtClean="0"/>
              <a:t>h</a:t>
            </a:r>
            <a:r>
              <a:rPr lang="en-US" sz="2800" kern="0" dirty="0" smtClean="0"/>
              <a:t>=1, </a:t>
            </a:r>
            <a:r>
              <a:rPr lang="en-US" sz="2800" i="1" kern="0" dirty="0" smtClean="0"/>
              <a:t>h</a:t>
            </a:r>
            <a:r>
              <a:rPr lang="en-US" sz="2800" kern="0" dirty="0"/>
              <a:t>* = 75</a:t>
            </a:r>
            <a:endParaRPr lang="en-US" sz="2800" kern="0" dirty="0"/>
          </a:p>
        </p:txBody>
      </p:sp>
      <p:graphicFrame>
        <p:nvGraphicFramePr>
          <p:cNvPr id="52226" name="Object 2"/>
          <p:cNvGraphicFramePr>
            <a:graphicFrameLocks noChangeAspect="1"/>
          </p:cNvGraphicFramePr>
          <p:nvPr>
            <p:extLst>
              <p:ext uri="{D42A27DB-BD31-4B8C-83A1-F6EECF244321}">
                <p14:modId xmlns:p14="http://schemas.microsoft.com/office/powerpoint/2010/main" val="780911383"/>
              </p:ext>
            </p:extLst>
          </p:nvPr>
        </p:nvGraphicFramePr>
        <p:xfrm>
          <a:off x="1568450" y="3352800"/>
          <a:ext cx="2865438" cy="1185863"/>
        </p:xfrm>
        <a:graphic>
          <a:graphicData uri="http://schemas.openxmlformats.org/presentationml/2006/ole">
            <mc:AlternateContent xmlns:mc="http://schemas.openxmlformats.org/markup-compatibility/2006">
              <mc:Choice xmlns:v="urn:schemas-microsoft-com:vml" Requires="v">
                <p:oleObj spid="_x0000_s138252" name="Equation" r:id="rId3" imgW="1104840" imgH="457200" progId="Equation.DSMT4">
                  <p:embed/>
                </p:oleObj>
              </mc:Choice>
              <mc:Fallback>
                <p:oleObj name="Equation" r:id="rId3" imgW="1104840" imgH="457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8450" y="3352800"/>
                        <a:ext cx="2865438"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5261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304800" y="0"/>
            <a:ext cx="8610600" cy="990600"/>
          </a:xfrm>
        </p:spPr>
        <p:txBody>
          <a:bodyPr>
            <a:noAutofit/>
          </a:bodyPr>
          <a:lstStyle/>
          <a:p>
            <a:r>
              <a:rPr lang="en-US" altLang="en-US" sz="3600" dirty="0" smtClean="0"/>
              <a:t>Home Production, Attributes of Goods,</a:t>
            </a:r>
            <a:br>
              <a:rPr lang="en-US" altLang="en-US" sz="3600" dirty="0" smtClean="0"/>
            </a:br>
            <a:r>
              <a:rPr lang="en-US" altLang="en-US" sz="3600" dirty="0" smtClean="0"/>
              <a:t> and Implicit Prices</a:t>
            </a:r>
          </a:p>
        </p:txBody>
      </p:sp>
      <p:sp>
        <p:nvSpPr>
          <p:cNvPr id="38915" name="Content Placeholder 4"/>
          <p:cNvSpPr>
            <a:spLocks noGrp="1"/>
          </p:cNvSpPr>
          <p:nvPr>
            <p:ph idx="1"/>
          </p:nvPr>
        </p:nvSpPr>
        <p:spPr/>
        <p:txBody>
          <a:bodyPr/>
          <a:lstStyle/>
          <a:p>
            <a:r>
              <a:rPr lang="en-US" altLang="en-US" smtClean="0"/>
              <a:t>Household production model</a:t>
            </a:r>
          </a:p>
          <a:p>
            <a:pPr lvl="1"/>
            <a:r>
              <a:rPr lang="en-US" altLang="en-US" smtClean="0"/>
              <a:t>Individuals do not receive utility directly from goods they purchase in the market</a:t>
            </a:r>
          </a:p>
          <a:p>
            <a:pPr lvl="1"/>
            <a:r>
              <a:rPr lang="en-US" altLang="en-US" smtClean="0"/>
              <a:t>Utility is received when the individual produces goods by combining market goods with time inputs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64FAF73-64AE-4153-8CA6-E07FEACEF16F}" type="slidenum">
              <a:rPr lang="en-US" smtClean="0"/>
              <a:pPr>
                <a:defRPr/>
              </a:pPr>
              <a:t>30</a:t>
            </a:fld>
            <a:endParaRPr lang="en-US"/>
          </a:p>
        </p:txBody>
      </p:sp>
    </p:spTree>
    <p:extLst>
      <p:ext uri="{BB962C8B-B14F-4D97-AF65-F5344CB8AC3E}">
        <p14:creationId xmlns:p14="http://schemas.microsoft.com/office/powerpoint/2010/main" val="22415064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304800" y="0"/>
            <a:ext cx="8610600" cy="990600"/>
          </a:xfrm>
        </p:spPr>
        <p:txBody>
          <a:bodyPr>
            <a:noAutofit/>
          </a:bodyPr>
          <a:lstStyle/>
          <a:p>
            <a:r>
              <a:rPr lang="en-US" altLang="en-US" sz="3600" dirty="0" smtClean="0"/>
              <a:t>Home Production, Attributes of Goods,</a:t>
            </a:r>
            <a:br>
              <a:rPr lang="en-US" altLang="en-US" sz="3600" dirty="0" smtClean="0"/>
            </a:br>
            <a:r>
              <a:rPr lang="en-US" altLang="en-US" sz="3600" dirty="0" smtClean="0"/>
              <a:t> and Implicit Prices</a:t>
            </a:r>
          </a:p>
        </p:txBody>
      </p:sp>
      <p:sp>
        <p:nvSpPr>
          <p:cNvPr id="39939" name="Content Placeholder 4"/>
          <p:cNvSpPr>
            <a:spLocks noGrp="1"/>
          </p:cNvSpPr>
          <p:nvPr>
            <p:ph idx="1"/>
          </p:nvPr>
        </p:nvSpPr>
        <p:spPr/>
        <p:txBody>
          <a:bodyPr/>
          <a:lstStyle/>
          <a:p>
            <a:r>
              <a:rPr lang="en-US" altLang="en-US" smtClean="0"/>
              <a:t>Three goods: x, y, and z</a:t>
            </a:r>
          </a:p>
          <a:p>
            <a:pPr lvl="1"/>
            <a:r>
              <a:rPr lang="en-US" altLang="en-US" smtClean="0"/>
              <a:t>Purchasing these goods provides no direct utility</a:t>
            </a:r>
          </a:p>
          <a:p>
            <a:pPr lvl="1"/>
            <a:r>
              <a:rPr lang="en-US" altLang="en-US" smtClean="0"/>
              <a:t>Can be combined to produce either of two home-produced goods: a</a:t>
            </a:r>
            <a:r>
              <a:rPr lang="en-US" altLang="en-US" baseline="-25000" smtClean="0"/>
              <a:t>1</a:t>
            </a:r>
            <a:r>
              <a:rPr lang="en-US" altLang="en-US" smtClean="0"/>
              <a:t> or a</a:t>
            </a:r>
            <a:r>
              <a:rPr lang="en-US" altLang="en-US" baseline="-25000" smtClean="0"/>
              <a:t>2</a:t>
            </a:r>
          </a:p>
          <a:p>
            <a:pPr lvl="2"/>
            <a:r>
              <a:rPr lang="en-US" altLang="en-US" smtClean="0"/>
              <a:t>The technology of this household production: production functions f</a:t>
            </a:r>
            <a:r>
              <a:rPr lang="en-US" altLang="en-US" baseline="-25000" smtClean="0"/>
              <a:t>1</a:t>
            </a:r>
            <a:r>
              <a:rPr lang="en-US" altLang="en-US" smtClean="0"/>
              <a:t> and f</a:t>
            </a:r>
            <a:r>
              <a:rPr lang="en-US" altLang="en-US" baseline="-25000" smtClean="0"/>
              <a:t>2</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B38800F-DE43-4D93-A07E-EEF31CFACA6B}" type="slidenum">
              <a:rPr lang="en-US" smtClean="0"/>
              <a:pPr>
                <a:defRPr/>
              </a:pPr>
              <a:t>31</a:t>
            </a:fld>
            <a:endParaRPr lang="en-US"/>
          </a:p>
        </p:txBody>
      </p:sp>
    </p:spTree>
    <p:extLst>
      <p:ext uri="{BB962C8B-B14F-4D97-AF65-F5344CB8AC3E}">
        <p14:creationId xmlns:p14="http://schemas.microsoft.com/office/powerpoint/2010/main" val="31685428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304800" y="0"/>
            <a:ext cx="8610600" cy="990600"/>
          </a:xfrm>
        </p:spPr>
        <p:txBody>
          <a:bodyPr>
            <a:noAutofit/>
          </a:bodyPr>
          <a:lstStyle/>
          <a:p>
            <a:r>
              <a:rPr lang="en-US" altLang="en-US" sz="3600" dirty="0" smtClean="0"/>
              <a:t>Home Production, Attributes of Goods,</a:t>
            </a:r>
            <a:br>
              <a:rPr lang="en-US" altLang="en-US" sz="3600" dirty="0" smtClean="0"/>
            </a:br>
            <a:r>
              <a:rPr lang="en-US" altLang="en-US" sz="3600" dirty="0" smtClean="0"/>
              <a:t> and Implicit Prices</a:t>
            </a:r>
          </a:p>
        </p:txBody>
      </p:sp>
      <p:sp>
        <p:nvSpPr>
          <p:cNvPr id="40963" name="Content Placeholder 4"/>
          <p:cNvSpPr>
            <a:spLocks noGrp="1"/>
          </p:cNvSpPr>
          <p:nvPr>
            <p:ph idx="1"/>
          </p:nvPr>
        </p:nvSpPr>
        <p:spPr/>
        <p:txBody>
          <a:bodyPr/>
          <a:lstStyle/>
          <a:p>
            <a:r>
              <a:rPr lang="en-US" altLang="en-US" dirty="0" smtClean="0"/>
              <a:t>Choose </a:t>
            </a:r>
            <a:r>
              <a:rPr lang="en-US" altLang="en-US" i="1" dirty="0" smtClean="0">
                <a:solidFill>
                  <a:srgbClr val="FF0000"/>
                </a:solidFill>
              </a:rPr>
              <a:t>x, y, </a:t>
            </a:r>
            <a:r>
              <a:rPr lang="en-US" altLang="en-US" dirty="0" smtClean="0"/>
              <a:t>and </a:t>
            </a:r>
            <a:r>
              <a:rPr lang="en-US" altLang="en-US" i="1" dirty="0" smtClean="0">
                <a:solidFill>
                  <a:srgbClr val="FF0000"/>
                </a:solidFill>
              </a:rPr>
              <a:t>z</a:t>
            </a:r>
            <a:r>
              <a:rPr lang="en-US" altLang="en-US" dirty="0" smtClean="0"/>
              <a:t> as to maximize</a:t>
            </a:r>
          </a:p>
          <a:p>
            <a:pPr lvl="1">
              <a:buFont typeface="Arial" charset="0"/>
              <a:buNone/>
            </a:pPr>
            <a:r>
              <a:rPr lang="en-US" altLang="en-US" i="1" dirty="0" smtClean="0">
                <a:solidFill>
                  <a:srgbClr val="002D56"/>
                </a:solidFill>
              </a:rPr>
              <a:t>utility= U(a</a:t>
            </a:r>
            <a:r>
              <a:rPr lang="en-US" altLang="en-US" i="1" baseline="-25000" dirty="0" smtClean="0">
                <a:solidFill>
                  <a:srgbClr val="002D56"/>
                </a:solidFill>
              </a:rPr>
              <a:t>1</a:t>
            </a:r>
            <a:r>
              <a:rPr lang="en-US" altLang="en-US" i="1" dirty="0" smtClean="0">
                <a:solidFill>
                  <a:srgbClr val="002D56"/>
                </a:solidFill>
              </a:rPr>
              <a:t>,a</a:t>
            </a:r>
            <a:r>
              <a:rPr lang="en-US" altLang="en-US" i="1" baseline="-25000" dirty="0" smtClean="0">
                <a:solidFill>
                  <a:srgbClr val="002D56"/>
                </a:solidFill>
              </a:rPr>
              <a:t>2</a:t>
            </a:r>
            <a:r>
              <a:rPr lang="en-US" altLang="en-US" i="1" dirty="0" smtClean="0">
                <a:solidFill>
                  <a:srgbClr val="002D56"/>
                </a:solidFill>
              </a:rPr>
              <a:t>)</a:t>
            </a:r>
          </a:p>
          <a:p>
            <a:r>
              <a:rPr lang="en-US" altLang="en-US" dirty="0" smtClean="0"/>
              <a:t>Subject to the production functions</a:t>
            </a:r>
          </a:p>
          <a:p>
            <a:pPr lvl="1">
              <a:buFont typeface="Arial" charset="0"/>
              <a:buNone/>
            </a:pPr>
            <a:r>
              <a:rPr lang="en-US" altLang="en-US" i="1" dirty="0" smtClean="0">
                <a:solidFill>
                  <a:srgbClr val="002D56"/>
                </a:solidFill>
              </a:rPr>
              <a:t>a</a:t>
            </a:r>
            <a:r>
              <a:rPr lang="en-US" altLang="en-US" i="1" baseline="-25000" dirty="0" smtClean="0">
                <a:solidFill>
                  <a:srgbClr val="002D56"/>
                </a:solidFill>
              </a:rPr>
              <a:t>1</a:t>
            </a:r>
            <a:r>
              <a:rPr lang="en-US" altLang="en-US" i="1" dirty="0" smtClean="0">
                <a:solidFill>
                  <a:srgbClr val="002D56"/>
                </a:solidFill>
              </a:rPr>
              <a:t>=f</a:t>
            </a:r>
            <a:r>
              <a:rPr lang="en-US" altLang="en-US" i="1" baseline="-25000" dirty="0" smtClean="0">
                <a:solidFill>
                  <a:srgbClr val="002D56"/>
                </a:solidFill>
              </a:rPr>
              <a:t>1</a:t>
            </a:r>
            <a:r>
              <a:rPr lang="en-US" altLang="en-US" i="1" dirty="0" smtClean="0">
                <a:solidFill>
                  <a:srgbClr val="002D56"/>
                </a:solidFill>
              </a:rPr>
              <a:t>(</a:t>
            </a:r>
            <a:r>
              <a:rPr lang="en-US" altLang="en-US" i="1" dirty="0" err="1" smtClean="0">
                <a:solidFill>
                  <a:srgbClr val="002D56"/>
                </a:solidFill>
              </a:rPr>
              <a:t>x,y,z</a:t>
            </a:r>
            <a:r>
              <a:rPr lang="en-US" altLang="en-US" i="1" dirty="0" smtClean="0">
                <a:solidFill>
                  <a:srgbClr val="002D56"/>
                </a:solidFill>
              </a:rPr>
              <a:t>)</a:t>
            </a:r>
          </a:p>
          <a:p>
            <a:pPr lvl="1">
              <a:buFont typeface="Arial" charset="0"/>
              <a:buNone/>
            </a:pPr>
            <a:r>
              <a:rPr lang="en-US" altLang="en-US" i="1" dirty="0" smtClean="0">
                <a:solidFill>
                  <a:srgbClr val="002D56"/>
                </a:solidFill>
              </a:rPr>
              <a:t>a</a:t>
            </a:r>
            <a:r>
              <a:rPr lang="en-US" altLang="en-US" i="1" baseline="-25000" dirty="0" smtClean="0">
                <a:solidFill>
                  <a:srgbClr val="002D56"/>
                </a:solidFill>
              </a:rPr>
              <a:t>2</a:t>
            </a:r>
            <a:r>
              <a:rPr lang="en-US" altLang="en-US" i="1" dirty="0" smtClean="0">
                <a:solidFill>
                  <a:srgbClr val="002D56"/>
                </a:solidFill>
              </a:rPr>
              <a:t>=f</a:t>
            </a:r>
            <a:r>
              <a:rPr lang="en-US" altLang="en-US" i="1" baseline="-25000" dirty="0" smtClean="0">
                <a:solidFill>
                  <a:srgbClr val="002D56"/>
                </a:solidFill>
              </a:rPr>
              <a:t>2</a:t>
            </a:r>
            <a:r>
              <a:rPr lang="en-US" altLang="en-US" i="1" dirty="0" smtClean="0">
                <a:solidFill>
                  <a:srgbClr val="002D56"/>
                </a:solidFill>
              </a:rPr>
              <a:t>(</a:t>
            </a:r>
            <a:r>
              <a:rPr lang="en-US" altLang="en-US" i="1" dirty="0" err="1" smtClean="0">
                <a:solidFill>
                  <a:srgbClr val="002D56"/>
                </a:solidFill>
              </a:rPr>
              <a:t>x,y,z</a:t>
            </a:r>
            <a:r>
              <a:rPr lang="en-US" altLang="en-US" i="1" dirty="0" smtClean="0">
                <a:solidFill>
                  <a:srgbClr val="002D56"/>
                </a:solidFill>
              </a:rPr>
              <a:t>)</a:t>
            </a:r>
          </a:p>
          <a:p>
            <a:r>
              <a:rPr lang="en-US" altLang="en-US" dirty="0" smtClean="0"/>
              <a:t>And a financial budget constraint</a:t>
            </a:r>
          </a:p>
          <a:p>
            <a:pPr lvl="1">
              <a:lnSpc>
                <a:spcPct val="150000"/>
              </a:lnSpc>
              <a:buFont typeface="Arial" charset="0"/>
              <a:buNone/>
            </a:pPr>
            <a:r>
              <a:rPr lang="en-US" altLang="en-US" sz="3000" i="1" dirty="0" err="1" smtClean="0">
                <a:solidFill>
                  <a:srgbClr val="002D56"/>
                </a:solidFill>
              </a:rPr>
              <a:t>p</a:t>
            </a:r>
            <a:r>
              <a:rPr lang="en-US" altLang="en-US" sz="3000" i="1" baseline="-25000" dirty="0" err="1" smtClean="0">
                <a:solidFill>
                  <a:srgbClr val="002D56"/>
                </a:solidFill>
              </a:rPr>
              <a:t>x</a:t>
            </a:r>
            <a:r>
              <a:rPr lang="en-US" altLang="en-US" sz="3000" i="1" dirty="0" err="1" smtClean="0">
                <a:solidFill>
                  <a:srgbClr val="002D56"/>
                </a:solidFill>
              </a:rPr>
              <a:t>x</a:t>
            </a:r>
            <a:r>
              <a:rPr lang="en-US" altLang="en-US" sz="3000" dirty="0" smtClean="0">
                <a:solidFill>
                  <a:srgbClr val="002D56"/>
                </a:solidFill>
              </a:rPr>
              <a:t> + </a:t>
            </a:r>
            <a:r>
              <a:rPr lang="en-US" altLang="en-US" sz="3000" i="1" dirty="0" err="1" smtClean="0">
                <a:solidFill>
                  <a:srgbClr val="002D56"/>
                </a:solidFill>
              </a:rPr>
              <a:t>p</a:t>
            </a:r>
            <a:r>
              <a:rPr lang="en-US" altLang="en-US" sz="3000" i="1" baseline="-25000" dirty="0" err="1" smtClean="0">
                <a:solidFill>
                  <a:srgbClr val="002D56"/>
                </a:solidFill>
              </a:rPr>
              <a:t>y</a:t>
            </a:r>
            <a:r>
              <a:rPr lang="en-US" altLang="en-US" sz="3000" i="1" dirty="0" err="1" smtClean="0">
                <a:solidFill>
                  <a:srgbClr val="002D56"/>
                </a:solidFill>
              </a:rPr>
              <a:t>y</a:t>
            </a:r>
            <a:r>
              <a:rPr lang="en-US" altLang="en-US" sz="3000" dirty="0" smtClean="0">
                <a:solidFill>
                  <a:srgbClr val="002D56"/>
                </a:solidFill>
              </a:rPr>
              <a:t> + </a:t>
            </a:r>
            <a:r>
              <a:rPr lang="en-US" altLang="en-US" sz="3000" i="1" dirty="0" err="1" smtClean="0">
                <a:solidFill>
                  <a:srgbClr val="002D56"/>
                </a:solidFill>
              </a:rPr>
              <a:t>p</a:t>
            </a:r>
            <a:r>
              <a:rPr lang="en-US" altLang="en-US" sz="3000" i="1" baseline="-25000" dirty="0" err="1" smtClean="0">
                <a:solidFill>
                  <a:srgbClr val="002D56"/>
                </a:solidFill>
              </a:rPr>
              <a:t>z</a:t>
            </a:r>
            <a:r>
              <a:rPr lang="en-US" altLang="en-US" sz="3000" i="1" dirty="0" err="1" smtClean="0">
                <a:solidFill>
                  <a:srgbClr val="002D56"/>
                </a:solidFill>
              </a:rPr>
              <a:t>z</a:t>
            </a:r>
            <a:r>
              <a:rPr lang="en-US" altLang="en-US" sz="3000" dirty="0" smtClean="0">
                <a:solidFill>
                  <a:srgbClr val="002D56"/>
                </a:solidFill>
              </a:rPr>
              <a:t> = </a:t>
            </a:r>
            <a:r>
              <a:rPr lang="en-US" altLang="en-US" sz="3000" i="1" dirty="0" smtClean="0">
                <a:solidFill>
                  <a:srgbClr val="002D56"/>
                </a:solidFill>
                <a:latin typeface="Verdana" pitchFamily="34" charset="0"/>
              </a:rPr>
              <a:t>I</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619C391-5E0E-4962-BBAC-3E2E995653DD}" type="slidenum">
              <a:rPr lang="en-US" smtClean="0"/>
              <a:pPr>
                <a:defRPr/>
              </a:pPr>
              <a:t>32</a:t>
            </a:fld>
            <a:endParaRPr lang="en-US"/>
          </a:p>
        </p:txBody>
      </p:sp>
    </p:spTree>
    <p:extLst>
      <p:ext uri="{BB962C8B-B14F-4D97-AF65-F5344CB8AC3E}">
        <p14:creationId xmlns:p14="http://schemas.microsoft.com/office/powerpoint/2010/main" val="7293997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304800" y="0"/>
            <a:ext cx="8610600" cy="990600"/>
          </a:xfrm>
        </p:spPr>
        <p:txBody>
          <a:bodyPr>
            <a:noAutofit/>
          </a:bodyPr>
          <a:lstStyle/>
          <a:p>
            <a:r>
              <a:rPr lang="en-US" altLang="en-US" sz="3600" dirty="0" smtClean="0"/>
              <a:t>Home Production, Attributes of Goods,</a:t>
            </a:r>
            <a:br>
              <a:rPr lang="en-US" altLang="en-US" sz="3600" dirty="0" smtClean="0"/>
            </a:br>
            <a:r>
              <a:rPr lang="en-US" altLang="en-US" sz="3600" dirty="0" smtClean="0"/>
              <a:t> and Implicit Prices</a:t>
            </a:r>
          </a:p>
        </p:txBody>
      </p:sp>
      <p:sp>
        <p:nvSpPr>
          <p:cNvPr id="41987" name="Content Placeholder 4"/>
          <p:cNvSpPr>
            <a:spLocks noGrp="1"/>
          </p:cNvSpPr>
          <p:nvPr>
            <p:ph idx="1"/>
          </p:nvPr>
        </p:nvSpPr>
        <p:spPr/>
        <p:txBody>
          <a:bodyPr/>
          <a:lstStyle/>
          <a:p>
            <a:r>
              <a:rPr lang="en-US" altLang="en-US" smtClean="0"/>
              <a:t>The production functions are measurable</a:t>
            </a:r>
          </a:p>
          <a:p>
            <a:pPr lvl="1"/>
            <a:r>
              <a:rPr lang="en-US" altLang="en-US" smtClean="0"/>
              <a:t>Households can be treated as “multi-product” firms</a:t>
            </a:r>
            <a:endParaRPr lang="en-US" altLang="en-US" sz="1400" smtClean="0"/>
          </a:p>
          <a:p>
            <a:r>
              <a:rPr lang="en-US" altLang="en-US" smtClean="0"/>
              <a:t>Consuming more </a:t>
            </a:r>
            <a:r>
              <a:rPr lang="en-US" altLang="en-US" i="1" smtClean="0"/>
              <a:t>a</a:t>
            </a:r>
            <a:r>
              <a:rPr lang="en-US" altLang="en-US" baseline="-25000" smtClean="0"/>
              <a:t>1</a:t>
            </a:r>
            <a:r>
              <a:rPr lang="en-US" altLang="en-US" smtClean="0"/>
              <a:t> requires more use of </a:t>
            </a:r>
            <a:r>
              <a:rPr lang="en-US" altLang="en-US" i="1" smtClean="0"/>
              <a:t>x</a:t>
            </a:r>
            <a:r>
              <a:rPr lang="en-US" altLang="en-US" smtClean="0"/>
              <a:t>, </a:t>
            </a:r>
            <a:r>
              <a:rPr lang="en-US" altLang="en-US" i="1" smtClean="0"/>
              <a:t>y</a:t>
            </a:r>
            <a:r>
              <a:rPr lang="en-US" altLang="en-US" smtClean="0"/>
              <a:t>, and </a:t>
            </a:r>
            <a:r>
              <a:rPr lang="en-US" altLang="en-US" i="1" smtClean="0"/>
              <a:t>z,</a:t>
            </a:r>
            <a:r>
              <a:rPr lang="en-US" altLang="en-US" smtClean="0"/>
              <a:t> </a:t>
            </a:r>
          </a:p>
          <a:p>
            <a:pPr lvl="1"/>
            <a:r>
              <a:rPr lang="en-US" altLang="en-US" smtClean="0"/>
              <a:t>This activity has an opportunity cost</a:t>
            </a:r>
          </a:p>
          <a:p>
            <a:pPr lvl="1"/>
            <a:r>
              <a:rPr lang="en-US" altLang="en-US" smtClean="0"/>
              <a:t>Measured in terms of the amount of </a:t>
            </a:r>
            <a:r>
              <a:rPr lang="en-US" altLang="en-US" i="1" smtClean="0"/>
              <a:t>a</a:t>
            </a:r>
            <a:r>
              <a:rPr lang="en-US" altLang="en-US" baseline="-25000" smtClean="0"/>
              <a:t>2</a:t>
            </a:r>
            <a:r>
              <a:rPr lang="en-US" altLang="en-US" smtClean="0"/>
              <a:t> that can be produced</a:t>
            </a:r>
          </a:p>
          <a:p>
            <a:endParaRPr lang="en-US" altLang="en-US" smtClean="0"/>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74CEA32-19C2-47B0-9AC7-FC8173C3D86C}" type="slidenum">
              <a:rPr lang="en-US" smtClean="0"/>
              <a:pPr>
                <a:defRPr/>
              </a:pPr>
              <a:t>33</a:t>
            </a:fld>
            <a:endParaRPr lang="en-US"/>
          </a:p>
        </p:txBody>
      </p:sp>
    </p:spTree>
    <p:extLst>
      <p:ext uri="{BB962C8B-B14F-4D97-AF65-F5344CB8AC3E}">
        <p14:creationId xmlns:p14="http://schemas.microsoft.com/office/powerpoint/2010/main" val="27091580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304800" y="0"/>
            <a:ext cx="8610600" cy="990600"/>
          </a:xfrm>
        </p:spPr>
        <p:txBody>
          <a:bodyPr>
            <a:noAutofit/>
          </a:bodyPr>
          <a:lstStyle/>
          <a:p>
            <a:r>
              <a:rPr lang="en-US" altLang="en-US" sz="3600" dirty="0" smtClean="0"/>
              <a:t>Home Production, Attributes of Goods,</a:t>
            </a:r>
            <a:br>
              <a:rPr lang="en-US" altLang="en-US" sz="3600" dirty="0" smtClean="0"/>
            </a:br>
            <a:r>
              <a:rPr lang="en-US" altLang="en-US" sz="3600" dirty="0" smtClean="0"/>
              <a:t> and Implicit Prices</a:t>
            </a:r>
          </a:p>
        </p:txBody>
      </p:sp>
      <p:sp>
        <p:nvSpPr>
          <p:cNvPr id="43011" name="Content Placeholder 4"/>
          <p:cNvSpPr>
            <a:spLocks noGrp="1"/>
          </p:cNvSpPr>
          <p:nvPr>
            <p:ph idx="1"/>
          </p:nvPr>
        </p:nvSpPr>
        <p:spPr/>
        <p:txBody>
          <a:bodyPr/>
          <a:lstStyle/>
          <a:p>
            <a:r>
              <a:rPr lang="en-US" altLang="en-US" dirty="0" smtClean="0"/>
              <a:t>The linear attributes model</a:t>
            </a:r>
          </a:p>
          <a:p>
            <a:pPr lvl="1"/>
            <a:r>
              <a:rPr lang="en-US" altLang="en-US" dirty="0" smtClean="0"/>
              <a:t>The attributes of goods provide utility to individuals</a:t>
            </a:r>
          </a:p>
          <a:p>
            <a:pPr lvl="1"/>
            <a:r>
              <a:rPr lang="en-US" altLang="en-US" dirty="0" smtClean="0"/>
              <a:t>Each good has a fixed set of attributes</a:t>
            </a:r>
          </a:p>
          <a:p>
            <a:pPr lvl="1"/>
            <a:r>
              <a:rPr lang="en-US" altLang="en-US" dirty="0" smtClean="0"/>
              <a:t>Assumes that the production equations for </a:t>
            </a:r>
            <a:r>
              <a:rPr lang="en-US" altLang="en-US" i="1" dirty="0" smtClean="0"/>
              <a:t>a</a:t>
            </a:r>
            <a:r>
              <a:rPr lang="en-US" altLang="en-US" baseline="-25000" dirty="0" smtClean="0"/>
              <a:t>1</a:t>
            </a:r>
            <a:r>
              <a:rPr lang="en-US" altLang="en-US" dirty="0" smtClean="0"/>
              <a:t> and </a:t>
            </a:r>
            <a:r>
              <a:rPr lang="en-US" altLang="en-US" i="1" dirty="0" smtClean="0"/>
              <a:t>a</a:t>
            </a:r>
            <a:r>
              <a:rPr lang="en-US" altLang="en-US" baseline="-25000" dirty="0" smtClean="0"/>
              <a:t>2</a:t>
            </a:r>
            <a:r>
              <a:rPr lang="en-US" altLang="en-US" dirty="0" smtClean="0"/>
              <a:t> have the form</a:t>
            </a:r>
          </a:p>
          <a:p>
            <a:pPr lvl="2">
              <a:lnSpc>
                <a:spcPct val="150000"/>
              </a:lnSpc>
              <a:buFontTx/>
              <a:buNone/>
            </a:pPr>
            <a:r>
              <a:rPr lang="en-US" altLang="en-US" sz="3200" i="1" dirty="0" smtClean="0">
                <a:solidFill>
                  <a:srgbClr val="000099"/>
                </a:solidFill>
              </a:rPr>
              <a:t>a</a:t>
            </a:r>
            <a:r>
              <a:rPr lang="en-US" altLang="en-US" sz="3200" baseline="-25000" dirty="0" smtClean="0">
                <a:solidFill>
                  <a:srgbClr val="000099"/>
                </a:solidFill>
              </a:rPr>
              <a:t>1</a:t>
            </a:r>
            <a:r>
              <a:rPr lang="en-US" altLang="en-US" sz="3200" dirty="0" smtClean="0">
                <a:solidFill>
                  <a:srgbClr val="000099"/>
                </a:solidFill>
              </a:rPr>
              <a:t> = </a:t>
            </a:r>
            <a:r>
              <a:rPr lang="en-US" altLang="en-US" sz="3200" i="1" dirty="0" smtClean="0">
                <a:solidFill>
                  <a:srgbClr val="000099"/>
                </a:solidFill>
              </a:rPr>
              <a:t>a</a:t>
            </a:r>
            <a:r>
              <a:rPr lang="en-US" altLang="en-US" sz="3200" i="1" baseline="-25000" dirty="0" smtClean="0">
                <a:solidFill>
                  <a:srgbClr val="000099"/>
                </a:solidFill>
              </a:rPr>
              <a:t>x</a:t>
            </a:r>
            <a:r>
              <a:rPr lang="en-US" altLang="en-US" sz="3200" baseline="30000" dirty="0" smtClean="0">
                <a:solidFill>
                  <a:srgbClr val="000099"/>
                </a:solidFill>
              </a:rPr>
              <a:t>1</a:t>
            </a:r>
            <a:r>
              <a:rPr lang="en-US" altLang="en-US" sz="3200" i="1" dirty="0" smtClean="0">
                <a:solidFill>
                  <a:srgbClr val="000099"/>
                </a:solidFill>
              </a:rPr>
              <a:t>x</a:t>
            </a:r>
            <a:r>
              <a:rPr lang="en-US" altLang="en-US" sz="3200" dirty="0" smtClean="0">
                <a:solidFill>
                  <a:srgbClr val="000099"/>
                </a:solidFill>
              </a:rPr>
              <a:t> + </a:t>
            </a:r>
            <a:r>
              <a:rPr lang="en-US" altLang="en-US" sz="3200" i="1" dirty="0" smtClean="0">
                <a:solidFill>
                  <a:srgbClr val="000099"/>
                </a:solidFill>
              </a:rPr>
              <a:t>a</a:t>
            </a:r>
            <a:r>
              <a:rPr lang="en-US" altLang="en-US" sz="3200" i="1" baseline="-25000" dirty="0" smtClean="0">
                <a:solidFill>
                  <a:srgbClr val="000099"/>
                </a:solidFill>
              </a:rPr>
              <a:t>y</a:t>
            </a:r>
            <a:r>
              <a:rPr lang="en-US" altLang="en-US" sz="3200" baseline="30000" dirty="0" smtClean="0">
                <a:solidFill>
                  <a:srgbClr val="000099"/>
                </a:solidFill>
              </a:rPr>
              <a:t>1</a:t>
            </a:r>
            <a:r>
              <a:rPr lang="en-US" altLang="en-US" sz="3200" i="1" dirty="0" smtClean="0">
                <a:solidFill>
                  <a:srgbClr val="000099"/>
                </a:solidFill>
              </a:rPr>
              <a:t>y</a:t>
            </a:r>
            <a:r>
              <a:rPr lang="en-US" altLang="en-US" sz="3200" dirty="0" smtClean="0">
                <a:solidFill>
                  <a:srgbClr val="000099"/>
                </a:solidFill>
              </a:rPr>
              <a:t> + </a:t>
            </a:r>
            <a:r>
              <a:rPr lang="en-US" altLang="en-US" sz="3200" i="1" dirty="0" smtClean="0">
                <a:solidFill>
                  <a:srgbClr val="000099"/>
                </a:solidFill>
              </a:rPr>
              <a:t>a</a:t>
            </a:r>
            <a:r>
              <a:rPr lang="en-US" altLang="en-US" sz="3200" i="1" baseline="-25000" dirty="0" smtClean="0">
                <a:solidFill>
                  <a:srgbClr val="000099"/>
                </a:solidFill>
              </a:rPr>
              <a:t>z</a:t>
            </a:r>
            <a:r>
              <a:rPr lang="en-US" altLang="en-US" sz="3200" baseline="30000" dirty="0" smtClean="0">
                <a:solidFill>
                  <a:srgbClr val="000099"/>
                </a:solidFill>
              </a:rPr>
              <a:t>1</a:t>
            </a:r>
            <a:r>
              <a:rPr lang="en-US" altLang="en-US" sz="3200" i="1" dirty="0" smtClean="0">
                <a:solidFill>
                  <a:srgbClr val="000099"/>
                </a:solidFill>
              </a:rPr>
              <a:t>z</a:t>
            </a:r>
          </a:p>
          <a:p>
            <a:pPr lvl="2">
              <a:lnSpc>
                <a:spcPct val="150000"/>
              </a:lnSpc>
              <a:buFontTx/>
              <a:buNone/>
            </a:pPr>
            <a:r>
              <a:rPr lang="en-US" altLang="en-US" sz="3200" i="1" dirty="0" smtClean="0">
                <a:solidFill>
                  <a:srgbClr val="000099"/>
                </a:solidFill>
              </a:rPr>
              <a:t>a</a:t>
            </a:r>
            <a:r>
              <a:rPr lang="en-US" altLang="en-US" sz="3200" baseline="-25000" dirty="0" smtClean="0">
                <a:solidFill>
                  <a:srgbClr val="000099"/>
                </a:solidFill>
              </a:rPr>
              <a:t>2</a:t>
            </a:r>
            <a:r>
              <a:rPr lang="en-US" altLang="en-US" sz="3200" dirty="0" smtClean="0">
                <a:solidFill>
                  <a:srgbClr val="000099"/>
                </a:solidFill>
              </a:rPr>
              <a:t> = </a:t>
            </a:r>
            <a:r>
              <a:rPr lang="en-US" altLang="en-US" sz="3200" i="1" dirty="0" smtClean="0">
                <a:solidFill>
                  <a:srgbClr val="000099"/>
                </a:solidFill>
              </a:rPr>
              <a:t>a</a:t>
            </a:r>
            <a:r>
              <a:rPr lang="en-US" altLang="en-US" sz="3200" i="1" baseline="-25000" dirty="0" smtClean="0">
                <a:solidFill>
                  <a:srgbClr val="000099"/>
                </a:solidFill>
              </a:rPr>
              <a:t>x</a:t>
            </a:r>
            <a:r>
              <a:rPr lang="en-US" altLang="en-US" sz="3200" baseline="30000" dirty="0" smtClean="0">
                <a:solidFill>
                  <a:srgbClr val="000099"/>
                </a:solidFill>
              </a:rPr>
              <a:t>2</a:t>
            </a:r>
            <a:r>
              <a:rPr lang="en-US" altLang="en-US" sz="3200" i="1" dirty="0" smtClean="0">
                <a:solidFill>
                  <a:srgbClr val="000099"/>
                </a:solidFill>
              </a:rPr>
              <a:t>x</a:t>
            </a:r>
            <a:r>
              <a:rPr lang="en-US" altLang="en-US" sz="3200" dirty="0" smtClean="0">
                <a:solidFill>
                  <a:srgbClr val="000099"/>
                </a:solidFill>
              </a:rPr>
              <a:t> + </a:t>
            </a:r>
            <a:r>
              <a:rPr lang="en-US" altLang="en-US" sz="3200" i="1" dirty="0" smtClean="0">
                <a:solidFill>
                  <a:srgbClr val="000099"/>
                </a:solidFill>
              </a:rPr>
              <a:t>a</a:t>
            </a:r>
            <a:r>
              <a:rPr lang="en-US" altLang="en-US" sz="3200" i="1" baseline="-25000" dirty="0" smtClean="0">
                <a:solidFill>
                  <a:srgbClr val="000099"/>
                </a:solidFill>
              </a:rPr>
              <a:t>y</a:t>
            </a:r>
            <a:r>
              <a:rPr lang="en-US" altLang="en-US" sz="3200" baseline="30000" dirty="0" smtClean="0">
                <a:solidFill>
                  <a:srgbClr val="000099"/>
                </a:solidFill>
              </a:rPr>
              <a:t>2</a:t>
            </a:r>
            <a:r>
              <a:rPr lang="en-US" altLang="en-US" sz="3200" i="1" dirty="0" smtClean="0">
                <a:solidFill>
                  <a:srgbClr val="000099"/>
                </a:solidFill>
              </a:rPr>
              <a:t>y</a:t>
            </a:r>
            <a:r>
              <a:rPr lang="en-US" altLang="en-US" sz="3200" dirty="0" smtClean="0">
                <a:solidFill>
                  <a:srgbClr val="000099"/>
                </a:solidFill>
              </a:rPr>
              <a:t> + </a:t>
            </a:r>
            <a:r>
              <a:rPr lang="en-US" altLang="en-US" sz="3200" i="1" dirty="0" smtClean="0">
                <a:solidFill>
                  <a:srgbClr val="000099"/>
                </a:solidFill>
              </a:rPr>
              <a:t>a</a:t>
            </a:r>
            <a:r>
              <a:rPr lang="en-US" altLang="en-US" sz="3200" i="1" baseline="-25000" dirty="0" smtClean="0">
                <a:solidFill>
                  <a:srgbClr val="000099"/>
                </a:solidFill>
              </a:rPr>
              <a:t>z</a:t>
            </a:r>
            <a:r>
              <a:rPr lang="en-US" altLang="en-US" sz="3200" baseline="30000" dirty="0" smtClean="0">
                <a:solidFill>
                  <a:srgbClr val="000099"/>
                </a:solidFill>
              </a:rPr>
              <a:t>2</a:t>
            </a:r>
            <a:r>
              <a:rPr lang="en-US" altLang="en-US" sz="3200" i="1" dirty="0" smtClean="0">
                <a:solidFill>
                  <a:srgbClr val="000099"/>
                </a:solidFill>
              </a:rPr>
              <a:t>z</a:t>
            </a:r>
          </a:p>
          <a:p>
            <a:pPr lvl="1"/>
            <a:endParaRPr lang="en-US" altLang="en-US" dirty="0" smtClean="0"/>
          </a:p>
          <a:p>
            <a:pPr lvl="1"/>
            <a:endParaRPr lang="en-US" altLang="en-US" dirty="0" smtClean="0">
              <a:solidFill>
                <a:srgbClr val="000099"/>
              </a:solidFill>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9380FC8-A74B-4160-B5C9-43D61E07BE55}" type="slidenum">
              <a:rPr lang="en-US" smtClean="0"/>
              <a:pPr>
                <a:defRPr/>
              </a:pPr>
              <a:t>34</a:t>
            </a:fld>
            <a:endParaRPr lang="en-US"/>
          </a:p>
        </p:txBody>
      </p:sp>
    </p:spTree>
    <p:extLst>
      <p:ext uri="{BB962C8B-B14F-4D97-AF65-F5344CB8AC3E}">
        <p14:creationId xmlns:p14="http://schemas.microsoft.com/office/powerpoint/2010/main" val="10018759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304800" y="0"/>
            <a:ext cx="8610600" cy="990600"/>
          </a:xfrm>
        </p:spPr>
        <p:txBody>
          <a:bodyPr>
            <a:noAutofit/>
          </a:bodyPr>
          <a:lstStyle/>
          <a:p>
            <a:r>
              <a:rPr lang="en-US" altLang="en-US" sz="3600" dirty="0" smtClean="0"/>
              <a:t>Home Production, Attributes of Goods,</a:t>
            </a:r>
            <a:br>
              <a:rPr lang="en-US" altLang="en-US" sz="3600" dirty="0" smtClean="0"/>
            </a:br>
            <a:r>
              <a:rPr lang="en-US" altLang="en-US" sz="3600" dirty="0" smtClean="0"/>
              <a:t> and Implicit Prices</a:t>
            </a:r>
          </a:p>
        </p:txBody>
      </p:sp>
      <p:sp>
        <p:nvSpPr>
          <p:cNvPr id="44035" name="Content Placeholder 4"/>
          <p:cNvSpPr>
            <a:spLocks noGrp="1"/>
          </p:cNvSpPr>
          <p:nvPr>
            <p:ph idx="1"/>
          </p:nvPr>
        </p:nvSpPr>
        <p:spPr/>
        <p:txBody>
          <a:bodyPr/>
          <a:lstStyle/>
          <a:p>
            <a:r>
              <a:rPr lang="en-US" altLang="en-US" smtClean="0"/>
              <a:t>The linear attributes model</a:t>
            </a:r>
          </a:p>
          <a:p>
            <a:pPr lvl="1"/>
            <a:r>
              <a:rPr lang="en-US" altLang="en-US" smtClean="0"/>
              <a:t>If the individual spends all of his or her income on good </a:t>
            </a:r>
            <a:r>
              <a:rPr lang="en-US" altLang="en-US" i="1" smtClean="0"/>
              <a:t>x: </a:t>
            </a:r>
            <a:r>
              <a:rPr lang="en-US" altLang="en-US" i="1" smtClean="0">
                <a:solidFill>
                  <a:srgbClr val="FF0000"/>
                </a:solidFill>
              </a:rPr>
              <a:t>x</a:t>
            </a:r>
            <a:r>
              <a:rPr lang="en-US" altLang="en-US" smtClean="0">
                <a:solidFill>
                  <a:srgbClr val="FF0000"/>
                </a:solidFill>
              </a:rPr>
              <a:t>* = </a:t>
            </a:r>
            <a:r>
              <a:rPr lang="en-US" altLang="en-US" i="1" smtClean="0">
                <a:solidFill>
                  <a:srgbClr val="FF0000"/>
                </a:solidFill>
                <a:latin typeface="Verdana" pitchFamily="34" charset="0"/>
              </a:rPr>
              <a:t>I</a:t>
            </a:r>
            <a:r>
              <a:rPr lang="en-US" altLang="en-US" smtClean="0">
                <a:solidFill>
                  <a:srgbClr val="FF0000"/>
                </a:solidFill>
              </a:rPr>
              <a:t>/</a:t>
            </a:r>
            <a:r>
              <a:rPr lang="en-US" altLang="en-US" i="1" smtClean="0">
                <a:solidFill>
                  <a:srgbClr val="FF0000"/>
                </a:solidFill>
              </a:rPr>
              <a:t>p</a:t>
            </a:r>
            <a:r>
              <a:rPr lang="en-US" altLang="en-US" i="1" baseline="-25000" smtClean="0">
                <a:solidFill>
                  <a:srgbClr val="FF0000"/>
                </a:solidFill>
              </a:rPr>
              <a:t>x</a:t>
            </a:r>
          </a:p>
          <a:p>
            <a:pPr lvl="1"/>
            <a:r>
              <a:rPr lang="en-US" altLang="en-US" smtClean="0"/>
              <a:t>That will yield</a:t>
            </a:r>
          </a:p>
          <a:p>
            <a:pPr lvl="2">
              <a:lnSpc>
                <a:spcPct val="130000"/>
              </a:lnSpc>
              <a:buFontTx/>
              <a:buNone/>
            </a:pPr>
            <a:r>
              <a:rPr lang="en-US" altLang="en-US" sz="3200" i="1" smtClean="0">
                <a:solidFill>
                  <a:srgbClr val="FF0000"/>
                </a:solidFill>
              </a:rPr>
              <a:t>a</a:t>
            </a:r>
            <a:r>
              <a:rPr lang="en-US" altLang="en-US" sz="3200" baseline="-25000" smtClean="0">
                <a:solidFill>
                  <a:srgbClr val="FF0000"/>
                </a:solidFill>
              </a:rPr>
              <a:t>1</a:t>
            </a:r>
            <a:r>
              <a:rPr lang="en-US" altLang="en-US" sz="3200" smtClean="0">
                <a:solidFill>
                  <a:srgbClr val="FF0000"/>
                </a:solidFill>
              </a:rPr>
              <a:t>* = </a:t>
            </a:r>
            <a:r>
              <a:rPr lang="en-US" altLang="en-US" sz="3200" i="1" smtClean="0">
                <a:solidFill>
                  <a:srgbClr val="FF0000"/>
                </a:solidFill>
              </a:rPr>
              <a:t>a</a:t>
            </a:r>
            <a:r>
              <a:rPr lang="en-US" altLang="en-US" sz="3200" i="1" baseline="-25000" smtClean="0">
                <a:solidFill>
                  <a:srgbClr val="FF0000"/>
                </a:solidFill>
              </a:rPr>
              <a:t>x</a:t>
            </a:r>
            <a:r>
              <a:rPr lang="en-US" altLang="en-US" sz="3200" baseline="30000" smtClean="0">
                <a:solidFill>
                  <a:srgbClr val="FF0000"/>
                </a:solidFill>
              </a:rPr>
              <a:t>1</a:t>
            </a:r>
            <a:r>
              <a:rPr lang="en-US" altLang="en-US" sz="3200" i="1" smtClean="0">
                <a:solidFill>
                  <a:srgbClr val="FF0000"/>
                </a:solidFill>
              </a:rPr>
              <a:t>x</a:t>
            </a:r>
            <a:r>
              <a:rPr lang="en-US" altLang="en-US" sz="3200" smtClean="0">
                <a:solidFill>
                  <a:srgbClr val="FF0000"/>
                </a:solidFill>
              </a:rPr>
              <a:t>* = (</a:t>
            </a:r>
            <a:r>
              <a:rPr lang="en-US" altLang="en-US" sz="3200" i="1" smtClean="0">
                <a:solidFill>
                  <a:srgbClr val="FF0000"/>
                </a:solidFill>
              </a:rPr>
              <a:t>a</a:t>
            </a:r>
            <a:r>
              <a:rPr lang="en-US" altLang="en-US" sz="3200" i="1" baseline="-25000" smtClean="0">
                <a:solidFill>
                  <a:srgbClr val="FF0000"/>
                </a:solidFill>
              </a:rPr>
              <a:t>x</a:t>
            </a:r>
            <a:r>
              <a:rPr lang="en-US" altLang="en-US" sz="3200" baseline="30000" smtClean="0">
                <a:solidFill>
                  <a:srgbClr val="FF0000"/>
                </a:solidFill>
              </a:rPr>
              <a:t>1</a:t>
            </a:r>
            <a:r>
              <a:rPr lang="en-US" altLang="en-US" sz="3200" i="1" smtClean="0">
                <a:solidFill>
                  <a:srgbClr val="FF0000"/>
                </a:solidFill>
                <a:latin typeface="Verdana" pitchFamily="34" charset="0"/>
              </a:rPr>
              <a:t>I</a:t>
            </a:r>
            <a:r>
              <a:rPr lang="en-US" altLang="en-US" sz="3200" smtClean="0">
                <a:solidFill>
                  <a:srgbClr val="FF0000"/>
                </a:solidFill>
                <a:latin typeface="Verdana" pitchFamily="34" charset="0"/>
              </a:rPr>
              <a:t>)</a:t>
            </a:r>
            <a:r>
              <a:rPr lang="en-US" altLang="en-US" sz="3200" smtClean="0">
                <a:solidFill>
                  <a:srgbClr val="FF0000"/>
                </a:solidFill>
              </a:rPr>
              <a:t>/</a:t>
            </a:r>
            <a:r>
              <a:rPr lang="en-US" altLang="en-US" sz="3200" i="1" smtClean="0">
                <a:solidFill>
                  <a:srgbClr val="FF0000"/>
                </a:solidFill>
              </a:rPr>
              <a:t>p</a:t>
            </a:r>
            <a:r>
              <a:rPr lang="en-US" altLang="en-US" sz="3200" i="1" baseline="-25000" smtClean="0">
                <a:solidFill>
                  <a:srgbClr val="FF0000"/>
                </a:solidFill>
              </a:rPr>
              <a:t>x</a:t>
            </a:r>
            <a:endParaRPr lang="en-US" altLang="en-US" sz="3200" smtClean="0">
              <a:solidFill>
                <a:srgbClr val="FF0000"/>
              </a:solidFill>
            </a:endParaRPr>
          </a:p>
          <a:p>
            <a:pPr lvl="2">
              <a:lnSpc>
                <a:spcPct val="130000"/>
              </a:lnSpc>
              <a:buFontTx/>
              <a:buNone/>
            </a:pPr>
            <a:r>
              <a:rPr lang="en-US" altLang="en-US" sz="3200" i="1" smtClean="0">
                <a:solidFill>
                  <a:srgbClr val="FF0000"/>
                </a:solidFill>
              </a:rPr>
              <a:t>a</a:t>
            </a:r>
            <a:r>
              <a:rPr lang="en-US" altLang="en-US" sz="3200" baseline="-25000" smtClean="0">
                <a:solidFill>
                  <a:srgbClr val="FF0000"/>
                </a:solidFill>
              </a:rPr>
              <a:t>2</a:t>
            </a:r>
            <a:r>
              <a:rPr lang="en-US" altLang="en-US" sz="3200" smtClean="0">
                <a:solidFill>
                  <a:srgbClr val="FF0000"/>
                </a:solidFill>
              </a:rPr>
              <a:t>* = </a:t>
            </a:r>
            <a:r>
              <a:rPr lang="en-US" altLang="en-US" sz="3200" i="1" smtClean="0">
                <a:solidFill>
                  <a:srgbClr val="FF0000"/>
                </a:solidFill>
              </a:rPr>
              <a:t>a</a:t>
            </a:r>
            <a:r>
              <a:rPr lang="en-US" altLang="en-US" sz="3200" i="1" baseline="-25000" smtClean="0">
                <a:solidFill>
                  <a:srgbClr val="FF0000"/>
                </a:solidFill>
              </a:rPr>
              <a:t>x</a:t>
            </a:r>
            <a:r>
              <a:rPr lang="en-US" altLang="en-US" sz="3200" baseline="30000" smtClean="0">
                <a:solidFill>
                  <a:srgbClr val="FF0000"/>
                </a:solidFill>
              </a:rPr>
              <a:t>2</a:t>
            </a:r>
            <a:r>
              <a:rPr lang="en-US" altLang="en-US" sz="3200" i="1" smtClean="0">
                <a:solidFill>
                  <a:srgbClr val="FF0000"/>
                </a:solidFill>
              </a:rPr>
              <a:t>x</a:t>
            </a:r>
            <a:r>
              <a:rPr lang="en-US" altLang="en-US" sz="3200" smtClean="0">
                <a:solidFill>
                  <a:srgbClr val="FF0000"/>
                </a:solidFill>
              </a:rPr>
              <a:t>* = (</a:t>
            </a:r>
            <a:r>
              <a:rPr lang="en-US" altLang="en-US" sz="3200" i="1" smtClean="0">
                <a:solidFill>
                  <a:srgbClr val="FF0000"/>
                </a:solidFill>
              </a:rPr>
              <a:t>a</a:t>
            </a:r>
            <a:r>
              <a:rPr lang="en-US" altLang="en-US" sz="3200" i="1" baseline="-25000" smtClean="0">
                <a:solidFill>
                  <a:srgbClr val="FF0000"/>
                </a:solidFill>
              </a:rPr>
              <a:t>x</a:t>
            </a:r>
            <a:r>
              <a:rPr lang="en-US" altLang="en-US" sz="3200" baseline="30000" smtClean="0">
                <a:solidFill>
                  <a:srgbClr val="FF0000"/>
                </a:solidFill>
              </a:rPr>
              <a:t>2</a:t>
            </a:r>
            <a:r>
              <a:rPr lang="en-US" altLang="en-US" sz="3200" i="1" smtClean="0">
                <a:solidFill>
                  <a:srgbClr val="FF0000"/>
                </a:solidFill>
                <a:latin typeface="Verdana" pitchFamily="34" charset="0"/>
              </a:rPr>
              <a:t>I</a:t>
            </a:r>
            <a:r>
              <a:rPr lang="en-US" altLang="en-US" sz="3200" smtClean="0">
                <a:solidFill>
                  <a:srgbClr val="FF0000"/>
                </a:solidFill>
                <a:latin typeface="Verdana" pitchFamily="34" charset="0"/>
              </a:rPr>
              <a:t>)</a:t>
            </a:r>
            <a:r>
              <a:rPr lang="en-US" altLang="en-US" sz="3200" smtClean="0">
                <a:solidFill>
                  <a:srgbClr val="FF0000"/>
                </a:solidFill>
              </a:rPr>
              <a:t>/</a:t>
            </a:r>
            <a:r>
              <a:rPr lang="en-US" altLang="en-US" sz="3200" i="1" smtClean="0">
                <a:solidFill>
                  <a:srgbClr val="FF0000"/>
                </a:solidFill>
              </a:rPr>
              <a:t>p</a:t>
            </a:r>
            <a:r>
              <a:rPr lang="en-US" altLang="en-US" sz="3200" i="1" baseline="-25000" smtClean="0">
                <a:solidFill>
                  <a:srgbClr val="FF0000"/>
                </a:solidFill>
              </a:rPr>
              <a:t>x</a:t>
            </a:r>
          </a:p>
          <a:p>
            <a:pPr lvl="1"/>
            <a:endParaRPr lang="en-US" altLang="en-US" smtClean="0"/>
          </a:p>
          <a:p>
            <a:pPr lvl="1"/>
            <a:endParaRPr lang="en-US" altLang="en-US" smtClean="0">
              <a:solidFill>
                <a:srgbClr val="000099"/>
              </a:solidFill>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063B2E4-8D29-40F9-A695-A3D45616FAA6}" type="slidenum">
              <a:rPr lang="en-US" smtClean="0"/>
              <a:pPr>
                <a:defRPr/>
              </a:pPr>
              <a:t>35</a:t>
            </a:fld>
            <a:endParaRPr lang="en-US"/>
          </a:p>
        </p:txBody>
      </p:sp>
    </p:spTree>
    <p:extLst>
      <p:ext uri="{BB962C8B-B14F-4D97-AF65-F5344CB8AC3E}">
        <p14:creationId xmlns:p14="http://schemas.microsoft.com/office/powerpoint/2010/main" val="33989197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1012825"/>
            <a:ext cx="6170613" cy="506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6.2	Utility Maximization in the Attributes </a:t>
            </a:r>
            <a:r>
              <a:rPr lang="en-US" altLang="en-US" dirty="0" smtClean="0"/>
              <a:t>Model</a:t>
            </a:r>
            <a:endParaRPr lang="en-US" altLang="en-US" dirty="0" smtClean="0"/>
          </a:p>
        </p:txBody>
      </p:sp>
      <p:sp>
        <p:nvSpPr>
          <p:cNvPr id="45060" name="Text Placeholder 2"/>
          <p:cNvSpPr>
            <a:spLocks noGrp="1"/>
          </p:cNvSpPr>
          <p:nvPr>
            <p:ph sz="half" idx="1"/>
          </p:nvPr>
        </p:nvSpPr>
        <p:spPr>
          <a:xfrm>
            <a:off x="6172200" y="1447800"/>
            <a:ext cx="2848970" cy="4678363"/>
          </a:xfrm>
        </p:spPr>
        <p:txBody>
          <a:bodyPr>
            <a:normAutofit/>
          </a:bodyPr>
          <a:lstStyle/>
          <a:p>
            <a:pPr>
              <a:spcBef>
                <a:spcPct val="0"/>
              </a:spcBef>
            </a:pPr>
            <a:r>
              <a:rPr lang="en-US" altLang="en-US" dirty="0"/>
              <a:t>The points x*, y*, and z* show the amounts of attributes a</a:t>
            </a:r>
            <a:r>
              <a:rPr lang="en-US" altLang="en-US" baseline="-25000" dirty="0"/>
              <a:t>1</a:t>
            </a:r>
            <a:r>
              <a:rPr lang="en-US" altLang="en-US" dirty="0"/>
              <a:t> and a</a:t>
            </a:r>
            <a:r>
              <a:rPr lang="en-US" altLang="en-US" baseline="-25000" dirty="0"/>
              <a:t>2</a:t>
            </a:r>
            <a:r>
              <a:rPr lang="en-US" altLang="en-US" dirty="0"/>
              <a:t> that can be purchased by buying only x, y, or z, respectively. The shaded area shows all combinations that can be bought with mixed bundles. Some individuals may maximize utility at E, others at E’ .</a:t>
            </a:r>
          </a:p>
          <a:p>
            <a:pPr>
              <a:spcBef>
                <a:spcPct val="0"/>
              </a:spcBef>
            </a:pPr>
            <a:endParaRPr lang="en-US" altLang="en-US" dirty="0" smtClean="0"/>
          </a:p>
        </p:txBody>
      </p:sp>
      <p:sp>
        <p:nvSpPr>
          <p:cNvPr id="4506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294ECDAA-7E6B-409A-A772-BF3F41919C3C}" type="slidenum">
              <a:rPr lang="en-US" smtClean="0"/>
              <a:pPr>
                <a:defRPr/>
              </a:pPr>
              <a:t>36</a:t>
            </a:fld>
            <a:endParaRPr lang="en-US" dirty="0"/>
          </a:p>
        </p:txBody>
      </p:sp>
    </p:spTree>
    <p:extLst>
      <p:ext uri="{BB962C8B-B14F-4D97-AF65-F5344CB8AC3E}">
        <p14:creationId xmlns:p14="http://schemas.microsoft.com/office/powerpoint/2010/main" val="21117980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wipe(left)">
                                      <p:cBhvr>
                                        <p:cTn id="7" dur="500"/>
                                        <p:tgtEl>
                                          <p:spTgt spid="5325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5060">
                                            <p:txEl>
                                              <p:pRg st="0" end="0"/>
                                            </p:txEl>
                                          </p:spTgt>
                                        </p:tgtEl>
                                        <p:attrNameLst>
                                          <p:attrName>style.visibility</p:attrName>
                                        </p:attrNameLst>
                                      </p:cBhvr>
                                      <p:to>
                                        <p:strVal val="visible"/>
                                      </p:to>
                                    </p:set>
                                    <p:animEffect transition="in" filter="wipe(left)">
                                      <p:cBhvr>
                                        <p:cTn id="11" dur="500"/>
                                        <p:tgtEl>
                                          <p:spTgt spid="450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304800" y="0"/>
            <a:ext cx="8610600" cy="990600"/>
          </a:xfrm>
        </p:spPr>
        <p:txBody>
          <a:bodyPr>
            <a:noAutofit/>
          </a:bodyPr>
          <a:lstStyle/>
          <a:p>
            <a:r>
              <a:rPr lang="en-US" altLang="en-US" sz="3600" dirty="0" smtClean="0"/>
              <a:t>Home Production, Attributes of Goods,</a:t>
            </a:r>
            <a:br>
              <a:rPr lang="en-US" altLang="en-US" sz="3600" dirty="0" smtClean="0"/>
            </a:br>
            <a:r>
              <a:rPr lang="en-US" altLang="en-US" sz="3600" dirty="0" smtClean="0"/>
              <a:t> and Implicit Prices</a:t>
            </a:r>
          </a:p>
        </p:txBody>
      </p:sp>
      <p:sp>
        <p:nvSpPr>
          <p:cNvPr id="46083" name="Content Placeholder 4"/>
          <p:cNvSpPr>
            <a:spLocks noGrp="1"/>
          </p:cNvSpPr>
          <p:nvPr>
            <p:ph idx="1"/>
          </p:nvPr>
        </p:nvSpPr>
        <p:spPr/>
        <p:txBody>
          <a:bodyPr/>
          <a:lstStyle/>
          <a:p>
            <a:r>
              <a:rPr lang="en-US" altLang="en-US" dirty="0" smtClean="0"/>
              <a:t>Corner solutions </a:t>
            </a:r>
          </a:p>
          <a:p>
            <a:pPr lvl="1"/>
            <a:r>
              <a:rPr lang="en-US" altLang="en-US" dirty="0" smtClean="0"/>
              <a:t>Will be relatively common</a:t>
            </a:r>
          </a:p>
          <a:p>
            <a:pPr lvl="1"/>
            <a:r>
              <a:rPr lang="en-US" altLang="en-US" dirty="0" smtClean="0"/>
              <a:t>Especially in cases where individuals attach value to fewer attributes than there are market goods to choose from</a:t>
            </a:r>
          </a:p>
          <a:p>
            <a:r>
              <a:rPr lang="en-US" altLang="en-US" dirty="0" smtClean="0"/>
              <a:t>Consumption patterns may change abruptly if income, prices, or preferences change</a:t>
            </a:r>
          </a:p>
          <a:p>
            <a:pPr lvl="1"/>
            <a:endParaRPr lang="en-US" altLang="en-US" dirty="0" smtClean="0"/>
          </a:p>
          <a:p>
            <a:pPr lvl="1"/>
            <a:endParaRPr lang="en-US" altLang="en-US" dirty="0" smtClean="0">
              <a:solidFill>
                <a:srgbClr val="000099"/>
              </a:solidFill>
            </a:endParaRP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5278303-42BE-4523-B5B8-62AFC6577DCD}" type="slidenum">
              <a:rPr lang="en-US" smtClean="0"/>
              <a:pPr>
                <a:defRPr/>
              </a:pPr>
              <a:t>37</a:t>
            </a:fld>
            <a:endParaRPr lang="en-US"/>
          </a:p>
        </p:txBody>
      </p:sp>
    </p:spTree>
    <p:extLst>
      <p:ext uri="{BB962C8B-B14F-4D97-AF65-F5344CB8AC3E}">
        <p14:creationId xmlns:p14="http://schemas.microsoft.com/office/powerpoint/2010/main" val="6056142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algn="l"/>
            <a:r>
              <a:rPr lang="en-US" altLang="en-US" dirty="0" smtClean="0"/>
              <a:t>Theory of two-stage budgeting</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1660440-7040-4D9C-A948-EEE1B3C99EEC}" type="slidenum">
              <a:rPr lang="en-US" smtClean="0"/>
              <a:pPr>
                <a:defRPr/>
              </a:pPr>
              <a:t>38</a:t>
            </a:fld>
            <a:endParaRPr lang="en-US"/>
          </a:p>
        </p:txBody>
      </p:sp>
      <p:sp>
        <p:nvSpPr>
          <p:cNvPr id="47107" name="Content Placeholder 2"/>
          <p:cNvSpPr>
            <a:spLocks noGrp="1"/>
          </p:cNvSpPr>
          <p:nvPr>
            <p:ph type="body" sz="quarter" idx="12"/>
          </p:nvPr>
        </p:nvSpPr>
        <p:spPr/>
        <p:txBody>
          <a:bodyPr/>
          <a:lstStyle/>
          <a:p>
            <a:r>
              <a:rPr lang="en-US" altLang="en-US" dirty="0" smtClean="0"/>
              <a:t>Partition of goods</a:t>
            </a:r>
          </a:p>
          <a:p>
            <a:pPr lvl="1"/>
            <a:r>
              <a:rPr lang="en-US" altLang="en-US" sz="3100" dirty="0" smtClean="0"/>
              <a:t>Into </a:t>
            </a:r>
            <a:r>
              <a:rPr lang="en-US" altLang="en-US" sz="3100" i="1" dirty="0" smtClean="0"/>
              <a:t>m</a:t>
            </a:r>
            <a:r>
              <a:rPr lang="en-US" altLang="en-US" sz="3100" dirty="0" smtClean="0"/>
              <a:t> </a:t>
            </a:r>
            <a:r>
              <a:rPr lang="en-US" altLang="en-US" sz="3100" dirty="0" err="1" smtClean="0"/>
              <a:t>nonoverlapping</a:t>
            </a:r>
            <a:r>
              <a:rPr lang="en-US" altLang="en-US" sz="3100" dirty="0" smtClean="0"/>
              <a:t> groups (</a:t>
            </a:r>
            <a:r>
              <a:rPr lang="en-US" altLang="en-US" sz="3100" i="1" dirty="0" smtClean="0"/>
              <a:t>r =1, m</a:t>
            </a:r>
            <a:r>
              <a:rPr lang="en-US" altLang="en-US" sz="3100" dirty="0" smtClean="0"/>
              <a:t>)</a:t>
            </a:r>
          </a:p>
          <a:p>
            <a:r>
              <a:rPr lang="en-US" altLang="en-US" dirty="0" smtClean="0"/>
              <a:t>A separate budget (</a:t>
            </a:r>
            <a:r>
              <a:rPr lang="en-US" altLang="en-US" i="1" dirty="0" err="1" smtClean="0"/>
              <a:t>l</a:t>
            </a:r>
            <a:r>
              <a:rPr lang="en-US" altLang="en-US" i="1" baseline="-25000" dirty="0" err="1" smtClean="0"/>
              <a:t>r</a:t>
            </a:r>
            <a:r>
              <a:rPr lang="en-US" altLang="en-US" dirty="0" smtClean="0"/>
              <a:t>) </a:t>
            </a:r>
          </a:p>
          <a:p>
            <a:pPr lvl="1"/>
            <a:r>
              <a:rPr lang="en-US" altLang="en-US" dirty="0" smtClean="0"/>
              <a:t>Devoted to each category </a:t>
            </a:r>
          </a:p>
          <a:p>
            <a:r>
              <a:rPr lang="en-US" altLang="en-US" dirty="0" smtClean="0"/>
              <a:t>Demand functions for the goods within any one category </a:t>
            </a:r>
          </a:p>
          <a:p>
            <a:pPr lvl="1"/>
            <a:r>
              <a:rPr lang="en-US" altLang="en-US" sz="3100" dirty="0" smtClean="0"/>
              <a:t>Depend on the prices of goods within the category </a:t>
            </a:r>
          </a:p>
          <a:p>
            <a:pPr lvl="1"/>
            <a:r>
              <a:rPr lang="en-US" altLang="en-US" sz="3100" dirty="0" smtClean="0"/>
              <a:t>And on the category’s budget allocation</a:t>
            </a:r>
          </a:p>
        </p:txBody>
      </p:sp>
    </p:spTree>
    <p:extLst>
      <p:ext uri="{BB962C8B-B14F-4D97-AF65-F5344CB8AC3E}">
        <p14:creationId xmlns:p14="http://schemas.microsoft.com/office/powerpoint/2010/main" val="10004630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1"/>
          <p:cNvSpPr>
            <a:spLocks noGrp="1"/>
          </p:cNvSpPr>
          <p:nvPr>
            <p:ph type="title"/>
          </p:nvPr>
        </p:nvSpPr>
        <p:spPr/>
        <p:txBody>
          <a:bodyPr/>
          <a:lstStyle/>
          <a:p>
            <a:pPr algn="l"/>
            <a:r>
              <a:rPr lang="en-US" altLang="en-US" smtClean="0"/>
              <a:t>Theory of two-stage budgeting</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CBE1DF3-BA81-4BAE-A976-18C1C3466BC0}" type="slidenum">
              <a:rPr lang="en-US" smtClean="0"/>
              <a:pPr>
                <a:defRPr/>
              </a:pPr>
              <a:t>39</a:t>
            </a:fld>
            <a:endParaRPr lang="en-US"/>
          </a:p>
        </p:txBody>
      </p:sp>
      <p:sp>
        <p:nvSpPr>
          <p:cNvPr id="11268" name="Content Placeholder 2"/>
          <p:cNvSpPr>
            <a:spLocks noGrp="1"/>
          </p:cNvSpPr>
          <p:nvPr>
            <p:ph type="body" sz="quarter" idx="12"/>
          </p:nvPr>
        </p:nvSpPr>
        <p:spPr/>
        <p:txBody>
          <a:bodyPr/>
          <a:lstStyle/>
          <a:p>
            <a:r>
              <a:rPr lang="en-US" altLang="en-US" dirty="0" smtClean="0"/>
              <a:t>Demand is given by: </a:t>
            </a:r>
          </a:p>
          <a:p>
            <a:pPr lvl="1">
              <a:buFont typeface="Arial" charset="0"/>
              <a:buNone/>
            </a:pPr>
            <a:r>
              <a:rPr lang="en-US" altLang="en-US" i="1" dirty="0" smtClean="0">
                <a:solidFill>
                  <a:srgbClr val="FF0000"/>
                </a:solidFill>
              </a:rPr>
              <a:t>x</a:t>
            </a:r>
            <a:r>
              <a:rPr lang="en-US" altLang="en-US" i="1" baseline="-25000" dirty="0" smtClean="0">
                <a:solidFill>
                  <a:srgbClr val="FF0000"/>
                </a:solidFill>
              </a:rPr>
              <a:t>i</a:t>
            </a:r>
            <a:r>
              <a:rPr lang="en-US" altLang="en-US" i="1" dirty="0" smtClean="0">
                <a:solidFill>
                  <a:srgbClr val="FF0000"/>
                </a:solidFill>
              </a:rPr>
              <a:t>(p</a:t>
            </a:r>
            <a:r>
              <a:rPr lang="en-US" altLang="en-US" i="1" baseline="-25000" dirty="0" smtClean="0">
                <a:solidFill>
                  <a:srgbClr val="FF0000"/>
                </a:solidFill>
              </a:rPr>
              <a:t>1</a:t>
            </a:r>
            <a:r>
              <a:rPr lang="en-US" altLang="en-US" dirty="0" smtClean="0">
                <a:solidFill>
                  <a:srgbClr val="FF0000"/>
                </a:solidFill>
              </a:rPr>
              <a:t>,</a:t>
            </a:r>
            <a:r>
              <a:rPr lang="en-US" altLang="en-US" i="1" dirty="0" smtClean="0">
                <a:solidFill>
                  <a:srgbClr val="FF0000"/>
                </a:solidFill>
              </a:rPr>
              <a:t>…</a:t>
            </a:r>
            <a:r>
              <a:rPr lang="en-US" altLang="en-US" i="1" dirty="0" err="1" smtClean="0">
                <a:solidFill>
                  <a:srgbClr val="FF0000"/>
                </a:solidFill>
              </a:rPr>
              <a:t>p</a:t>
            </a:r>
            <a:r>
              <a:rPr lang="en-US" altLang="en-US" i="1" baseline="-25000" dirty="0" err="1" smtClean="0">
                <a:solidFill>
                  <a:srgbClr val="FF0000"/>
                </a:solidFill>
              </a:rPr>
              <a:t>n</a:t>
            </a:r>
            <a:r>
              <a:rPr lang="en-US" altLang="en-US" dirty="0" err="1" smtClean="0">
                <a:solidFill>
                  <a:srgbClr val="FF0000"/>
                </a:solidFill>
              </a:rPr>
              <a:t>,</a:t>
            </a:r>
            <a:r>
              <a:rPr lang="en-US" altLang="en-US" i="1" dirty="0" err="1" smtClean="0">
                <a:solidFill>
                  <a:srgbClr val="FF0000"/>
                </a:solidFill>
              </a:rPr>
              <a:t>I</a:t>
            </a:r>
            <a:r>
              <a:rPr lang="en-US" altLang="en-US" i="1" dirty="0" smtClean="0">
                <a:solidFill>
                  <a:srgbClr val="FF0000"/>
                </a:solidFill>
              </a:rPr>
              <a:t>)=x</a:t>
            </a:r>
            <a:r>
              <a:rPr lang="en-US" altLang="en-US" i="1" baseline="-25000" dirty="0" smtClean="0">
                <a:solidFill>
                  <a:srgbClr val="FF0000"/>
                </a:solidFill>
              </a:rPr>
              <a:t>i</a:t>
            </a:r>
            <a:r>
              <a:rPr lang="az-Cyrl-AZ" altLang="en-US" i="1" baseline="-25000" dirty="0" smtClean="0">
                <a:solidFill>
                  <a:srgbClr val="FF0000"/>
                </a:solidFill>
                <a:cs typeface="Arial" charset="0"/>
              </a:rPr>
              <a:t>Є</a:t>
            </a:r>
            <a:r>
              <a:rPr lang="en-US" altLang="en-US" i="1" baseline="-25000" dirty="0" smtClean="0">
                <a:solidFill>
                  <a:srgbClr val="FF0000"/>
                </a:solidFill>
              </a:rPr>
              <a:t>r</a:t>
            </a:r>
            <a:r>
              <a:rPr lang="en-US" altLang="en-US" i="1" dirty="0" smtClean="0">
                <a:solidFill>
                  <a:srgbClr val="FF0000"/>
                </a:solidFill>
              </a:rPr>
              <a:t>(p</a:t>
            </a:r>
            <a:r>
              <a:rPr lang="en-US" altLang="en-US" i="1" baseline="-25000" dirty="0" smtClean="0">
                <a:solidFill>
                  <a:srgbClr val="FF0000"/>
                </a:solidFill>
              </a:rPr>
              <a:t>i</a:t>
            </a:r>
            <a:r>
              <a:rPr lang="az-Cyrl-AZ" altLang="en-US" i="1" baseline="-25000" dirty="0" smtClean="0">
                <a:solidFill>
                  <a:srgbClr val="FF0000"/>
                </a:solidFill>
                <a:cs typeface="Arial" charset="0"/>
              </a:rPr>
              <a:t>Є</a:t>
            </a:r>
            <a:r>
              <a:rPr lang="en-US" altLang="en-US" i="1" baseline="-25000" dirty="0" err="1" smtClean="0">
                <a:solidFill>
                  <a:srgbClr val="FF0000"/>
                </a:solidFill>
              </a:rPr>
              <a:t>r</a:t>
            </a:r>
            <a:r>
              <a:rPr lang="en-US" altLang="en-US" dirty="0" err="1" smtClean="0">
                <a:solidFill>
                  <a:srgbClr val="FF0000"/>
                </a:solidFill>
              </a:rPr>
              <a:t>,</a:t>
            </a:r>
            <a:r>
              <a:rPr lang="en-US" altLang="en-US" i="1" dirty="0" err="1" smtClean="0">
                <a:solidFill>
                  <a:srgbClr val="FF0000"/>
                </a:solidFill>
              </a:rPr>
              <a:t>I</a:t>
            </a:r>
            <a:r>
              <a:rPr lang="en-US" altLang="en-US" i="1" baseline="-25000" dirty="0" err="1" smtClean="0">
                <a:solidFill>
                  <a:srgbClr val="FF0000"/>
                </a:solidFill>
              </a:rPr>
              <a:t>r</a:t>
            </a:r>
            <a:r>
              <a:rPr lang="en-US" altLang="en-US" i="1" dirty="0" smtClean="0">
                <a:solidFill>
                  <a:srgbClr val="FF0000"/>
                </a:solidFill>
              </a:rPr>
              <a:t>), r=1,m</a:t>
            </a:r>
          </a:p>
          <a:p>
            <a:endParaRPr lang="en-US" altLang="en-US" dirty="0" smtClean="0"/>
          </a:p>
          <a:p>
            <a:pPr lvl="1">
              <a:buFont typeface="Arial" charset="0"/>
              <a:buNone/>
            </a:pPr>
            <a:endParaRPr lang="en-US" altLang="en-US" dirty="0" smtClean="0"/>
          </a:p>
          <a:p>
            <a:pPr lvl="1">
              <a:buFont typeface="Arial" charset="0"/>
              <a:buNone/>
            </a:pPr>
            <a:endParaRPr lang="en-US" altLang="en-US" dirty="0" smtClean="0"/>
          </a:p>
          <a:p>
            <a:endParaRPr lang="en-US" altLang="en-US" dirty="0" smtClean="0"/>
          </a:p>
        </p:txBody>
      </p:sp>
      <p:graphicFrame>
        <p:nvGraphicFramePr>
          <p:cNvPr id="6" name="Object 2"/>
          <p:cNvGraphicFramePr>
            <a:graphicFrameLocks noChangeAspect="1"/>
          </p:cNvGraphicFramePr>
          <p:nvPr>
            <p:extLst>
              <p:ext uri="{D42A27DB-BD31-4B8C-83A1-F6EECF244321}">
                <p14:modId xmlns:p14="http://schemas.microsoft.com/office/powerpoint/2010/main" val="2186137164"/>
              </p:ext>
            </p:extLst>
          </p:nvPr>
        </p:nvGraphicFramePr>
        <p:xfrm>
          <a:off x="534988" y="1905000"/>
          <a:ext cx="6765925" cy="4446588"/>
        </p:xfrm>
        <a:graphic>
          <a:graphicData uri="http://schemas.openxmlformats.org/presentationml/2006/ole">
            <mc:AlternateContent xmlns:mc="http://schemas.openxmlformats.org/markup-compatibility/2006">
              <mc:Choice xmlns:v="urn:schemas-microsoft-com:vml" Requires="v">
                <p:oleObj spid="_x0000_s139275" name="Equation" r:id="rId3" imgW="2743200" imgH="1803240" progId="Equation.DSMT4">
                  <p:embed/>
                </p:oleObj>
              </mc:Choice>
              <mc:Fallback>
                <p:oleObj name="Equation" r:id="rId3" imgW="2743200" imgH="1803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988" y="1905000"/>
                        <a:ext cx="6765925" cy="444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916678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7543800" cy="914400"/>
          </a:xfrm>
        </p:spPr>
        <p:txBody>
          <a:bodyPr/>
          <a:lstStyle/>
          <a:p>
            <a:r>
              <a:rPr lang="en-US" dirty="0"/>
              <a:t>Relation to the </a:t>
            </a:r>
            <a:r>
              <a:rPr lang="en-US" dirty="0" smtClean="0"/>
              <a:t>composition commodity</a:t>
            </a:r>
            <a:br>
              <a:rPr lang="en-US" dirty="0" smtClean="0"/>
            </a:br>
            <a:r>
              <a:rPr lang="en-US" dirty="0" smtClean="0">
                <a:solidFill>
                  <a:srgbClr val="002D56"/>
                </a:solidFill>
              </a:rPr>
              <a:t> </a:t>
            </a:r>
            <a:r>
              <a:rPr lang="en-US" dirty="0">
                <a:solidFill>
                  <a:srgbClr val="002D56"/>
                </a:solidFill>
              </a:rPr>
              <a:t>theorem</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40</a:t>
            </a:fld>
            <a:endParaRPr lang="en-US" dirty="0"/>
          </a:p>
        </p:txBody>
      </p:sp>
      <p:sp>
        <p:nvSpPr>
          <p:cNvPr id="5" name="Text Placeholder 4"/>
          <p:cNvSpPr>
            <a:spLocks noGrp="1"/>
          </p:cNvSpPr>
          <p:nvPr>
            <p:ph type="body" sz="quarter" idx="12"/>
          </p:nvPr>
        </p:nvSpPr>
        <p:spPr>
          <a:xfrm>
            <a:off x="381000" y="990600"/>
            <a:ext cx="8382000" cy="5410200"/>
          </a:xfrm>
        </p:spPr>
        <p:txBody>
          <a:bodyPr/>
          <a:lstStyle/>
          <a:p>
            <a:r>
              <a:rPr lang="en-US" dirty="0"/>
              <a:t>The composite commodity theorem </a:t>
            </a:r>
            <a:endParaRPr lang="en-US" dirty="0" smtClean="0"/>
          </a:p>
          <a:p>
            <a:pPr lvl="1"/>
            <a:r>
              <a:rPr lang="en-US" dirty="0" smtClean="0"/>
              <a:t>Requires </a:t>
            </a:r>
            <a:r>
              <a:rPr lang="en-US" dirty="0"/>
              <a:t>that the </a:t>
            </a:r>
            <a:r>
              <a:rPr lang="en-US" dirty="0" smtClean="0"/>
              <a:t>relative prices </a:t>
            </a:r>
            <a:r>
              <a:rPr lang="en-US" dirty="0"/>
              <a:t>for goods within one group remain constant over </a:t>
            </a:r>
            <a:r>
              <a:rPr lang="en-US" dirty="0" smtClean="0"/>
              <a:t>time</a:t>
            </a:r>
          </a:p>
          <a:p>
            <a:pPr lvl="2"/>
            <a:r>
              <a:rPr lang="en-US" dirty="0" smtClean="0"/>
              <a:t>Assumption rejected </a:t>
            </a:r>
            <a:r>
              <a:rPr lang="en-US" dirty="0"/>
              <a:t>during many </a:t>
            </a:r>
            <a:r>
              <a:rPr lang="en-US" dirty="0" smtClean="0"/>
              <a:t>different historical periods</a:t>
            </a:r>
          </a:p>
          <a:p>
            <a:r>
              <a:rPr lang="en-US" dirty="0" err="1" smtClean="0"/>
              <a:t>Separability</a:t>
            </a:r>
            <a:r>
              <a:rPr lang="en-US" dirty="0" smtClean="0"/>
              <a:t> </a:t>
            </a:r>
            <a:r>
              <a:rPr lang="en-US" dirty="0"/>
              <a:t>and </a:t>
            </a:r>
            <a:r>
              <a:rPr lang="en-US" dirty="0" smtClean="0"/>
              <a:t>two-stage budgeting </a:t>
            </a:r>
          </a:p>
          <a:p>
            <a:pPr lvl="1"/>
            <a:r>
              <a:rPr lang="en-US" dirty="0" smtClean="0"/>
              <a:t>Requires </a:t>
            </a:r>
            <a:r>
              <a:rPr lang="en-US" dirty="0"/>
              <a:t>strong assumptions about how changes in prices </a:t>
            </a:r>
            <a:r>
              <a:rPr lang="en-US" dirty="0" smtClean="0"/>
              <a:t>for a </a:t>
            </a:r>
            <a:r>
              <a:rPr lang="en-US" dirty="0"/>
              <a:t>good in one group affect spending on goods in any </a:t>
            </a:r>
            <a:r>
              <a:rPr lang="en-US" dirty="0" smtClean="0"/>
              <a:t>other group</a:t>
            </a:r>
          </a:p>
          <a:p>
            <a:pPr lvl="2"/>
            <a:r>
              <a:rPr lang="en-US" dirty="0" smtClean="0"/>
              <a:t>Assumptions rejected </a:t>
            </a:r>
            <a:r>
              <a:rPr lang="en-US" dirty="0"/>
              <a:t>by the </a:t>
            </a:r>
            <a:r>
              <a:rPr lang="en-US" dirty="0" smtClean="0"/>
              <a:t>data</a:t>
            </a:r>
            <a:endParaRPr lang="en-US" dirty="0"/>
          </a:p>
        </p:txBody>
      </p:sp>
    </p:spTree>
    <p:extLst>
      <p:ext uri="{BB962C8B-B14F-4D97-AF65-F5344CB8AC3E}">
        <p14:creationId xmlns:p14="http://schemas.microsoft.com/office/powerpoint/2010/main" val="28780473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7543800" cy="914400"/>
          </a:xfrm>
        </p:spPr>
        <p:txBody>
          <a:bodyPr/>
          <a:lstStyle/>
          <a:p>
            <a:r>
              <a:rPr lang="en-US" dirty="0"/>
              <a:t>Relation to the </a:t>
            </a:r>
            <a:r>
              <a:rPr lang="en-US" dirty="0" smtClean="0"/>
              <a:t>composition commodity</a:t>
            </a:r>
            <a:br>
              <a:rPr lang="en-US" dirty="0" smtClean="0"/>
            </a:br>
            <a:r>
              <a:rPr lang="en-US" dirty="0" smtClean="0">
                <a:solidFill>
                  <a:srgbClr val="002D56"/>
                </a:solidFill>
              </a:rPr>
              <a:t> </a:t>
            </a:r>
            <a:r>
              <a:rPr lang="en-US" dirty="0">
                <a:solidFill>
                  <a:srgbClr val="002D56"/>
                </a:solidFill>
              </a:rPr>
              <a:t>theorem</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41</a:t>
            </a:fld>
            <a:endParaRPr lang="en-US" dirty="0"/>
          </a:p>
        </p:txBody>
      </p:sp>
      <p:sp>
        <p:nvSpPr>
          <p:cNvPr id="5" name="Text Placeholder 4"/>
          <p:cNvSpPr>
            <a:spLocks noGrp="1"/>
          </p:cNvSpPr>
          <p:nvPr>
            <p:ph type="body" sz="quarter" idx="12"/>
          </p:nvPr>
        </p:nvSpPr>
        <p:spPr>
          <a:xfrm>
            <a:off x="381000" y="990600"/>
            <a:ext cx="8382000" cy="5410200"/>
          </a:xfrm>
        </p:spPr>
        <p:txBody>
          <a:bodyPr/>
          <a:lstStyle/>
          <a:p>
            <a:r>
              <a:rPr lang="en-US" dirty="0" smtClean="0"/>
              <a:t>New elaborate, hybrid </a:t>
            </a:r>
            <a:r>
              <a:rPr lang="en-US" dirty="0"/>
              <a:t>methods of aggregation among </a:t>
            </a:r>
            <a:r>
              <a:rPr lang="en-US" dirty="0" smtClean="0"/>
              <a:t>goods</a:t>
            </a:r>
          </a:p>
          <a:p>
            <a:pPr lvl="1"/>
            <a:r>
              <a:rPr lang="en-US" dirty="0" smtClean="0"/>
              <a:t>Composite </a:t>
            </a:r>
            <a:r>
              <a:rPr lang="en-US" dirty="0"/>
              <a:t>commodity </a:t>
            </a:r>
            <a:r>
              <a:rPr lang="en-US" dirty="0" smtClean="0"/>
              <a:t>theorem might </a:t>
            </a:r>
            <a:r>
              <a:rPr lang="en-US" dirty="0"/>
              <a:t>be generalized </a:t>
            </a:r>
            <a:endParaRPr lang="en-US" dirty="0" smtClean="0"/>
          </a:p>
          <a:p>
            <a:pPr lvl="1"/>
            <a:r>
              <a:rPr lang="en-US" dirty="0" smtClean="0"/>
              <a:t>To </a:t>
            </a:r>
            <a:r>
              <a:rPr lang="en-US" dirty="0"/>
              <a:t>cases where within-group </a:t>
            </a:r>
            <a:r>
              <a:rPr lang="en-US" dirty="0" smtClean="0"/>
              <a:t>relative prices </a:t>
            </a:r>
            <a:r>
              <a:rPr lang="en-US" dirty="0"/>
              <a:t>exhibit considerable </a:t>
            </a:r>
            <a:r>
              <a:rPr lang="en-US" dirty="0" smtClean="0"/>
              <a:t>variability</a:t>
            </a:r>
          </a:p>
          <a:p>
            <a:pPr lvl="1"/>
            <a:r>
              <a:rPr lang="en-US" dirty="0" smtClean="0"/>
              <a:t>Much more </a:t>
            </a:r>
            <a:r>
              <a:rPr lang="en-US" dirty="0"/>
              <a:t>accurate than </a:t>
            </a:r>
            <a:r>
              <a:rPr lang="en-US" dirty="0" smtClean="0"/>
              <a:t>assuming two-stage </a:t>
            </a:r>
            <a:r>
              <a:rPr lang="en-US" dirty="0"/>
              <a:t>budgeting</a:t>
            </a:r>
          </a:p>
        </p:txBody>
      </p:sp>
    </p:spTree>
    <p:extLst>
      <p:ext uri="{BB962C8B-B14F-4D97-AF65-F5344CB8AC3E}">
        <p14:creationId xmlns:p14="http://schemas.microsoft.com/office/powerpoint/2010/main" val="4048504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dirty="0" smtClean="0"/>
              <a:t>Homothetic functions </a:t>
            </a:r>
            <a:r>
              <a:rPr lang="en-US" altLang="en-US" dirty="0" smtClean="0"/>
              <a:t>and energy </a:t>
            </a:r>
            <a:r>
              <a:rPr lang="en-US" altLang="en-US" dirty="0" smtClean="0"/>
              <a:t>demand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C6DC355-B715-4129-A596-713A19A343C3}" type="slidenum">
              <a:rPr lang="en-US" smtClean="0"/>
              <a:pPr>
                <a:defRPr/>
              </a:pPr>
              <a:t>42</a:t>
            </a:fld>
            <a:endParaRPr lang="en-US"/>
          </a:p>
        </p:txBody>
      </p:sp>
      <p:sp>
        <p:nvSpPr>
          <p:cNvPr id="48131" name="Content Placeholder 2"/>
          <p:cNvSpPr>
            <a:spLocks noGrp="1"/>
          </p:cNvSpPr>
          <p:nvPr>
            <p:ph type="body" sz="quarter" idx="12"/>
          </p:nvPr>
        </p:nvSpPr>
        <p:spPr/>
        <p:txBody>
          <a:bodyPr/>
          <a:lstStyle/>
          <a:p>
            <a:r>
              <a:rPr lang="en-US" altLang="en-US" dirty="0" smtClean="0"/>
              <a:t>Assumption</a:t>
            </a:r>
          </a:p>
          <a:p>
            <a:pPr lvl="1"/>
            <a:r>
              <a:rPr lang="en-US" altLang="en-US" dirty="0" smtClean="0"/>
              <a:t>The utility for certain subcategories of goods is homothetic and may be separated from the demand for other </a:t>
            </a:r>
            <a:r>
              <a:rPr lang="en-US" altLang="en-US" dirty="0" smtClean="0"/>
              <a:t>commodities</a:t>
            </a:r>
          </a:p>
          <a:p>
            <a:r>
              <a:rPr lang="en-US" altLang="en-US" dirty="0" smtClean="0"/>
              <a:t>Energy demand by U.S. consumers</a:t>
            </a:r>
          </a:p>
          <a:p>
            <a:pPr lvl="1"/>
            <a:r>
              <a:rPr lang="en-US" altLang="en-US" dirty="0" smtClean="0"/>
              <a:t>Assume demand functions </a:t>
            </a:r>
            <a:r>
              <a:rPr lang="en-US" altLang="en-US" dirty="0"/>
              <a:t>for specific types of energy are proportional to </a:t>
            </a:r>
            <a:r>
              <a:rPr lang="en-US" altLang="en-US" dirty="0" smtClean="0"/>
              <a:t>total spending </a:t>
            </a:r>
            <a:r>
              <a:rPr lang="en-US" altLang="en-US" dirty="0"/>
              <a:t>on </a:t>
            </a:r>
            <a:r>
              <a:rPr lang="en-US" altLang="en-US" dirty="0" smtClean="0"/>
              <a:t>energy</a:t>
            </a:r>
          </a:p>
          <a:p>
            <a:pPr lvl="1"/>
            <a:r>
              <a:rPr lang="en-US" altLang="en-US" dirty="0" smtClean="0"/>
              <a:t>Estimate the </a:t>
            </a:r>
            <a:r>
              <a:rPr lang="en-US" altLang="en-US" dirty="0"/>
              <a:t>price elasticities of demand for </a:t>
            </a:r>
            <a:r>
              <a:rPr lang="en-US" altLang="en-US" dirty="0" smtClean="0"/>
              <a:t>various types </a:t>
            </a:r>
            <a:r>
              <a:rPr lang="en-US" altLang="en-US" dirty="0"/>
              <a:t>of </a:t>
            </a:r>
            <a:r>
              <a:rPr lang="en-US" altLang="en-US" dirty="0" smtClean="0"/>
              <a:t>energy</a:t>
            </a:r>
          </a:p>
          <a:p>
            <a:pPr lvl="2"/>
            <a:r>
              <a:rPr lang="en-US" altLang="en-US" dirty="0" smtClean="0"/>
              <a:t>Fairly </a:t>
            </a:r>
            <a:r>
              <a:rPr lang="en-US" altLang="en-US" dirty="0"/>
              <a:t>elastic </a:t>
            </a:r>
            <a:r>
              <a:rPr lang="en-US" altLang="en-US" dirty="0" smtClean="0"/>
              <a:t>demand functions</a:t>
            </a:r>
          </a:p>
        </p:txBody>
      </p:sp>
    </p:spTree>
    <p:extLst>
      <p:ext uri="{BB962C8B-B14F-4D97-AF65-F5344CB8AC3E}">
        <p14:creationId xmlns:p14="http://schemas.microsoft.com/office/powerpoint/2010/main" val="15526928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4904</TotalTime>
  <Words>4410</Words>
  <Application>Microsoft Office PowerPoint</Application>
  <PresentationFormat>On-screen Show (4:3)</PresentationFormat>
  <Paragraphs>342</Paragraphs>
  <Slides>42</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42</vt:i4>
      </vt:variant>
    </vt:vector>
  </HeadingPairs>
  <TitlesOfParts>
    <vt:vector size="49" baseType="lpstr">
      <vt:lpstr>chapter</vt:lpstr>
      <vt:lpstr>main</vt:lpstr>
      <vt:lpstr>figure</vt:lpstr>
      <vt:lpstr>table</vt:lpstr>
      <vt:lpstr>example</vt:lpstr>
      <vt:lpstr>extensions</vt:lpstr>
      <vt:lpstr>MathType 6.0 Equation</vt:lpstr>
      <vt:lpstr>CHAPTER  Demand Relationships  6     among Goods</vt:lpstr>
      <vt:lpstr>The Two-Good Case</vt:lpstr>
      <vt:lpstr>6.1 Differing Directions of Cross-Price Effects</vt:lpstr>
      <vt:lpstr>The Two-Good Case</vt:lpstr>
      <vt:lpstr>6.1  Another Slutsky Decomposition for   Cross-Price Effects</vt:lpstr>
      <vt:lpstr>6.1  Another Slutsky Decomposition for   Cross-Price Effects</vt:lpstr>
      <vt:lpstr>6.1  Another Slutsky Decomposition for   Cross-Price Effects</vt:lpstr>
      <vt:lpstr>Substitutes and Complements</vt:lpstr>
      <vt:lpstr>Substitutes and Complements</vt:lpstr>
      <vt:lpstr>Substitutes and Complements</vt:lpstr>
      <vt:lpstr>Substitutes and Complements</vt:lpstr>
      <vt:lpstr>Substitutes and Complements</vt:lpstr>
      <vt:lpstr>6.2  Asymmetry in Cross-Price Effects</vt:lpstr>
      <vt:lpstr>6.2  Asymmetry in Cross-Price Effects</vt:lpstr>
      <vt:lpstr>Net (Hicksian) Substitutes and Complements</vt:lpstr>
      <vt:lpstr>Net (Hicksian) Substitutes and Complements</vt:lpstr>
      <vt:lpstr>Net (Hicksian) Substitutes and Complements</vt:lpstr>
      <vt:lpstr>Substitutability with Many Goods</vt:lpstr>
      <vt:lpstr>Substitutability with Many Goods</vt:lpstr>
      <vt:lpstr>Composite Commodities</vt:lpstr>
      <vt:lpstr>Composite Commodities</vt:lpstr>
      <vt:lpstr>Composite Commodities</vt:lpstr>
      <vt:lpstr>Composite Commodities</vt:lpstr>
      <vt:lpstr>Composite Commodities</vt:lpstr>
      <vt:lpstr>Composite Commodities</vt:lpstr>
      <vt:lpstr>6.3  Housing Costs as a Composite   Commodity</vt:lpstr>
      <vt:lpstr>6.3  Housing Costs as a Composite   Commodity</vt:lpstr>
      <vt:lpstr>6.3  Housing Costs as a Composite   Commodity</vt:lpstr>
      <vt:lpstr>6.3  Housing Costs as a Composite   Commodity</vt:lpstr>
      <vt:lpstr>Home Production, Attributes of Goods,  and Implicit Prices</vt:lpstr>
      <vt:lpstr>Home Production, Attributes of Goods,  and Implicit Prices</vt:lpstr>
      <vt:lpstr>Home Production, Attributes of Goods,  and Implicit Prices</vt:lpstr>
      <vt:lpstr>Home Production, Attributes of Goods,  and Implicit Prices</vt:lpstr>
      <vt:lpstr>Home Production, Attributes of Goods,  and Implicit Prices</vt:lpstr>
      <vt:lpstr>Home Production, Attributes of Goods,  and Implicit Prices</vt:lpstr>
      <vt:lpstr>6.2 Utility Maximization in the Attributes Model</vt:lpstr>
      <vt:lpstr>Home Production, Attributes of Goods,  and Implicit Prices</vt:lpstr>
      <vt:lpstr>Theory of two-stage budgeting</vt:lpstr>
      <vt:lpstr>Theory of two-stage budgeting</vt:lpstr>
      <vt:lpstr>Relation to the composition commodity  theorem</vt:lpstr>
      <vt:lpstr>Relation to the composition commodity  theorem</vt:lpstr>
      <vt:lpstr>Homothetic functions and energy demand</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266</cp:revision>
  <dcterms:created xsi:type="dcterms:W3CDTF">2016-06-05T19:40:39Z</dcterms:created>
  <dcterms:modified xsi:type="dcterms:W3CDTF">2016-06-13T17:01:38Z</dcterms:modified>
</cp:coreProperties>
</file>