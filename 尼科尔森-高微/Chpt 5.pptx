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4" r:id="rId3"/>
    <p:sldMasterId id="2147483677" r:id="rId4"/>
    <p:sldMasterId id="2147483669" r:id="rId5"/>
    <p:sldMasterId id="2147483672" r:id="rId6"/>
  </p:sldMasterIdLst>
  <p:notesMasterIdLst>
    <p:notesMasterId r:id="rId91"/>
  </p:notesMasterIdLst>
  <p:handoutMasterIdLst>
    <p:handoutMasterId r:id="rId92"/>
  </p:handoutMasterIdLst>
  <p:sldIdLst>
    <p:sldId id="258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4" autoAdjust="0"/>
    <p:restoredTop sz="83799" autoAdjust="0"/>
  </p:normalViewPr>
  <p:slideViewPr>
    <p:cSldViewPr>
      <p:cViewPr>
        <p:scale>
          <a:sx n="70" d="100"/>
          <a:sy n="70" d="100"/>
        </p:scale>
        <p:origin x="-13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39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6" Type="http://schemas.openxmlformats.org/officeDocument/2006/relationships/slide" Target="slides/slide70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87" Type="http://schemas.openxmlformats.org/officeDocument/2006/relationships/slide" Target="slides/slide8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90" Type="http://schemas.openxmlformats.org/officeDocument/2006/relationships/slide" Target="slides/slide84.xml"/><Relationship Id="rId95" Type="http://schemas.openxmlformats.org/officeDocument/2006/relationships/theme" Target="theme/theme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9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143B-620F-4987-B4C6-8DA41D14F534}" type="datetimeFigureOut">
              <a:rPr lang="en-US" smtClean="0"/>
              <a:t>6/13/2016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E537F-0D91-4DE0-B9F5-55E2B2118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92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7A522-1067-4090-8338-D2D3A24AAAF6}" type="datetimeFigureOut">
              <a:rPr lang="en-US" smtClean="0"/>
              <a:t>6/13/2016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A4D4-42B8-482F-A3F9-BD6E0B3B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1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9A4D4-42B8-482F-A3F9-BD6E0B3BC1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0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2971800"/>
            <a:ext cx="9144000" cy="1676400"/>
          </a:xfrm>
          <a:prstGeom prst="rect">
            <a:avLst/>
          </a:prstGeom>
          <a:noFill/>
        </p:spPr>
        <p:txBody>
          <a:bodyPr/>
          <a:lstStyle>
            <a:lvl1pPr marL="91440">
              <a:lnSpc>
                <a:spcPct val="100000"/>
              </a:lnSpc>
              <a:spcBef>
                <a:spcPts val="600"/>
              </a:spcBef>
              <a:defRPr sz="5400" b="0"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				Master title style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-76200" y="0"/>
            <a:ext cx="9220200" cy="609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0" tIns="18288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200000"/>
              </a:lnSpc>
              <a:spcBef>
                <a:spcPct val="0"/>
              </a:spcBef>
              <a:buNone/>
              <a:defRPr sz="4400" b="0" kern="1200" baseline="30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Walter Nicholson | Christopher Snyder	 12th edition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51816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8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28194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81000" y="4114800"/>
            <a:ext cx="8534400" cy="21336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8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203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134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69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81000" y="3429000"/>
            <a:ext cx="8382000" cy="27432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9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64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79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3352800"/>
            <a:ext cx="8305800" cy="2895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9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Andreea\Desktop\Cengage\Nicholson 12e\cover\ch bk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800"/>
            <a:ext cx="9144000" cy="377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dreea\Desktop\Cengage\Nicholson 12e\cover\MT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184"/>
            <a:ext cx="9144000" cy="224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0"/>
            <a:ext cx="8686800" cy="457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105400" y="5562600"/>
            <a:ext cx="4038600" cy="9144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smtClean="0">
                <a:latin typeface="Arial" pitchFamily="34" charset="0"/>
              </a:rPr>
              <a:t>PowerPoint Slides prepared by: </a:t>
            </a:r>
          </a:p>
          <a:p>
            <a:pPr>
              <a:defRPr/>
            </a:pPr>
            <a:r>
              <a:rPr lang="en-US" sz="1600" smtClean="0">
                <a:latin typeface="Arial" pitchFamily="34" charset="0"/>
              </a:rPr>
              <a:t>V. Andreea CHIRITESCU</a:t>
            </a:r>
          </a:p>
          <a:p>
            <a:pPr>
              <a:defRPr/>
            </a:pPr>
            <a:r>
              <a:rPr lang="en-US" sz="1600" smtClean="0">
                <a:latin typeface="Arial" pitchFamily="34" charset="0"/>
              </a:rPr>
              <a:t>Eastern Illinois University</a:t>
            </a:r>
            <a:endParaRPr lang="en-US" sz="16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5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lnSpc>
          <a:spcPct val="200000"/>
        </a:lnSpc>
        <a:spcBef>
          <a:spcPct val="0"/>
        </a:spcBef>
        <a:buNone/>
        <a:defRPr sz="4400" b="0" kern="1200" baseline="300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8" y="1143000"/>
            <a:ext cx="8601072" cy="5335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1"/>
            <a:ext cx="8686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pic>
        <p:nvPicPr>
          <p:cNvPr id="3074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3043235" y="3043235"/>
            <a:ext cx="6400800" cy="31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14328" y="985836"/>
            <a:ext cx="8829672" cy="15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16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6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43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236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0150" y="0"/>
            <a:ext cx="794385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 rot="10800000">
            <a:off x="1" y="5505448"/>
            <a:ext cx="9144000" cy="895351"/>
            <a:chOff x="138110" y="3505200"/>
            <a:chExt cx="9144000" cy="895351"/>
          </a:xfrm>
        </p:grpSpPr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23823" y="3519488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8386760" y="3505200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4994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85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00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033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4344" y="0"/>
            <a:ext cx="7379656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764345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09600"/>
            <a:ext cx="8229600" cy="586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8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4" r:id="rId2"/>
    <p:sldLayoutId id="2147483679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510213" y="3224211"/>
            <a:ext cx="6858001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2895600" y="3095624"/>
            <a:ext cx="620077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0200" y="0"/>
            <a:ext cx="7543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33400"/>
            <a:ext cx="82296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28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9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5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8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9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1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2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3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4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5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6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7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8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9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0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1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2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3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4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5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6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9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40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1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43.e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4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895600"/>
            <a:ext cx="8991600" cy="1676400"/>
          </a:xfrm>
        </p:spPr>
        <p:txBody>
          <a:bodyPr/>
          <a:lstStyle/>
          <a:p>
            <a:pPr algn="l"/>
            <a:r>
              <a:rPr lang="en-US" dirty="0" smtClean="0"/>
              <a:t>CHAPTER</a:t>
            </a:r>
            <a:r>
              <a:rPr lang="en-US" b="1" baseline="0" dirty="0"/>
              <a:t> </a:t>
            </a:r>
            <a:r>
              <a:rPr lang="en-US" b="1" baseline="0" dirty="0" smtClean="0"/>
              <a:t>		</a:t>
            </a:r>
            <a:r>
              <a:rPr lang="en-US" b="1" baseline="0" dirty="0"/>
              <a:t> Income and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aseline="0" smtClean="0"/>
              <a:t> 5</a:t>
            </a:r>
            <a:r>
              <a:rPr lang="en-US" b="1" baseline="0" dirty="0" smtClean="0"/>
              <a:t>	 		Substitution Effects</a:t>
            </a:r>
            <a:r>
              <a:rPr lang="en-US" b="1" baseline="0" dirty="0"/>
              <a:t/>
            </a:r>
            <a:br>
              <a:rPr lang="en-US" b="1" baseline="0" dirty="0"/>
            </a:br>
            <a:endParaRPr lang="en-US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9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Demand Functions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optimal levels of </a:t>
            </a:r>
            <a:r>
              <a:rPr lang="en-US" altLang="en-US" i="1" dirty="0" smtClean="0"/>
              <a:t>x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</a:t>
            </a:r>
            <a:r>
              <a:rPr lang="en-US" altLang="en-US" i="1" dirty="0" smtClean="0"/>
              <a:t>x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,…,</a:t>
            </a:r>
            <a:r>
              <a:rPr lang="en-US" altLang="en-US" i="1" dirty="0" err="1" smtClean="0"/>
              <a:t>x</a:t>
            </a:r>
            <a:r>
              <a:rPr lang="en-US" altLang="en-US" i="1" baseline="-25000" dirty="0" err="1" smtClean="0"/>
              <a:t>n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Can be expressed as functions of all prices and income</a:t>
            </a:r>
          </a:p>
          <a:p>
            <a:pPr lvl="1"/>
            <a:r>
              <a:rPr lang="en-US" altLang="en-US" dirty="0" smtClean="0"/>
              <a:t>These can be expressed as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demand functions of the form: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FF0000"/>
                </a:solidFill>
              </a:rPr>
              <a:t>x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sz="3200" dirty="0" smtClean="0">
                <a:solidFill>
                  <a:srgbClr val="FF0000"/>
                </a:solidFill>
              </a:rPr>
              <a:t>* =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d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sz="3200" dirty="0" smtClean="0">
                <a:solidFill>
                  <a:srgbClr val="FF0000"/>
                </a:solidFill>
              </a:rPr>
              <a:t>,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2</a:t>
            </a:r>
            <a:r>
              <a:rPr lang="en-US" altLang="en-US" sz="3200" dirty="0" smtClean="0">
                <a:solidFill>
                  <a:srgbClr val="FF0000"/>
                </a:solidFill>
              </a:rPr>
              <a:t>,…,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3200" i="1" baseline="-25000" dirty="0" err="1" smtClean="0">
                <a:solidFill>
                  <a:srgbClr val="FF0000"/>
                </a:solidFill>
              </a:rPr>
              <a:t>n</a:t>
            </a:r>
            <a:r>
              <a:rPr lang="en-US" altLang="en-US" sz="3200" dirty="0" err="1" smtClean="0">
                <a:solidFill>
                  <a:srgbClr val="FF0000"/>
                </a:solidFill>
              </a:rPr>
              <a:t>,</a:t>
            </a:r>
            <a:r>
              <a:rPr lang="en-US" altLang="en-US" sz="3200" i="1" dirty="0" err="1" smtClean="0">
                <a:solidFill>
                  <a:srgbClr val="FF0000"/>
                </a:solidFill>
                <a:latin typeface="Verdana" pitchFamily="34" charset="0"/>
              </a:rPr>
              <a:t>I</a:t>
            </a:r>
            <a:r>
              <a:rPr lang="en-US" altLang="en-US" sz="3200" dirty="0" smtClean="0">
                <a:solidFill>
                  <a:srgbClr val="FF0000"/>
                </a:solidFill>
              </a:rPr>
              <a:t>)</a:t>
            </a:r>
          </a:p>
          <a:p>
            <a:pPr lvl="2">
              <a:lnSpc>
                <a:spcPct val="13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FF0000"/>
                </a:solidFill>
              </a:rPr>
              <a:t>x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2</a:t>
            </a:r>
            <a:r>
              <a:rPr lang="en-US" altLang="en-US" sz="3200" dirty="0" smtClean="0">
                <a:solidFill>
                  <a:srgbClr val="FF0000"/>
                </a:solidFill>
              </a:rPr>
              <a:t>* =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d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2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sz="3200" dirty="0" smtClean="0">
                <a:solidFill>
                  <a:srgbClr val="FF0000"/>
                </a:solidFill>
              </a:rPr>
              <a:t>,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2</a:t>
            </a:r>
            <a:r>
              <a:rPr lang="en-US" altLang="en-US" sz="3200" dirty="0" smtClean="0">
                <a:solidFill>
                  <a:srgbClr val="FF0000"/>
                </a:solidFill>
              </a:rPr>
              <a:t>,…,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3200" i="1" baseline="-25000" dirty="0" err="1" smtClean="0">
                <a:solidFill>
                  <a:srgbClr val="FF0000"/>
                </a:solidFill>
              </a:rPr>
              <a:t>n</a:t>
            </a:r>
            <a:r>
              <a:rPr lang="en-US" altLang="en-US" sz="3200" dirty="0" err="1" smtClean="0">
                <a:solidFill>
                  <a:srgbClr val="FF0000"/>
                </a:solidFill>
              </a:rPr>
              <a:t>,</a:t>
            </a:r>
            <a:r>
              <a:rPr lang="en-US" altLang="en-US" sz="3200" i="1" dirty="0" err="1" smtClean="0">
                <a:solidFill>
                  <a:srgbClr val="FF0000"/>
                </a:solidFill>
                <a:latin typeface="Verdana" pitchFamily="34" charset="0"/>
              </a:rPr>
              <a:t>I</a:t>
            </a:r>
            <a:r>
              <a:rPr lang="en-US" altLang="en-US" sz="3200" dirty="0" smtClean="0">
                <a:solidFill>
                  <a:srgbClr val="FF0000"/>
                </a:solidFill>
              </a:rPr>
              <a:t>)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3200" dirty="0" smtClean="0">
                <a:solidFill>
                  <a:srgbClr val="FF0000"/>
                </a:solidFill>
              </a:rPr>
              <a:t>…</a:t>
            </a:r>
            <a:endParaRPr lang="en-US" altLang="en-US" sz="3200" i="1" dirty="0" smtClean="0">
              <a:solidFill>
                <a:srgbClr val="FF0000"/>
              </a:solidFill>
            </a:endParaRPr>
          </a:p>
          <a:p>
            <a:pPr lvl="2">
              <a:lnSpc>
                <a:spcPct val="60000"/>
              </a:lnSpc>
              <a:buFontTx/>
              <a:buNone/>
            </a:pPr>
            <a:r>
              <a:rPr lang="en-US" altLang="en-US" sz="3200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sz="3200" i="1" baseline="-25000" dirty="0" err="1" smtClean="0">
                <a:solidFill>
                  <a:srgbClr val="FF0000"/>
                </a:solidFill>
              </a:rPr>
              <a:t>n</a:t>
            </a:r>
            <a:r>
              <a:rPr lang="en-US" altLang="en-US" sz="3200" dirty="0" smtClean="0">
                <a:solidFill>
                  <a:srgbClr val="FF0000"/>
                </a:solidFill>
              </a:rPr>
              <a:t>* = </a:t>
            </a:r>
            <a:r>
              <a:rPr lang="en-US" altLang="en-US" sz="2600" i="1" dirty="0" err="1" smtClean="0">
                <a:solidFill>
                  <a:srgbClr val="FF0000"/>
                </a:solidFill>
              </a:rPr>
              <a:t>d</a:t>
            </a:r>
            <a:r>
              <a:rPr lang="en-US" altLang="en-US" sz="2600" i="1" baseline="-25000" dirty="0" err="1" smtClean="0">
                <a:solidFill>
                  <a:srgbClr val="FF0000"/>
                </a:solidFill>
              </a:rPr>
              <a:t>n</a:t>
            </a:r>
            <a:r>
              <a:rPr lang="en-US" altLang="en-US" sz="2600" dirty="0" smtClean="0">
                <a:solidFill>
                  <a:srgbClr val="FF0000"/>
                </a:solidFill>
              </a:rPr>
              <a:t>(</a:t>
            </a:r>
            <a:r>
              <a:rPr lang="en-US" altLang="en-US" sz="26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2600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sz="2600" dirty="0" smtClean="0">
                <a:solidFill>
                  <a:srgbClr val="FF0000"/>
                </a:solidFill>
              </a:rPr>
              <a:t>,</a:t>
            </a:r>
            <a:r>
              <a:rPr lang="en-US" altLang="en-US" sz="26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2600" baseline="-25000" dirty="0" smtClean="0">
                <a:solidFill>
                  <a:srgbClr val="FF0000"/>
                </a:solidFill>
              </a:rPr>
              <a:t>2</a:t>
            </a:r>
            <a:r>
              <a:rPr lang="en-US" altLang="en-US" sz="2600" dirty="0" smtClean="0">
                <a:solidFill>
                  <a:srgbClr val="FF0000"/>
                </a:solidFill>
              </a:rPr>
              <a:t>,…,</a:t>
            </a:r>
            <a:r>
              <a:rPr lang="en-US" altLang="en-US" sz="26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2600" i="1" baseline="-25000" dirty="0" err="1" smtClean="0">
                <a:solidFill>
                  <a:srgbClr val="FF0000"/>
                </a:solidFill>
              </a:rPr>
              <a:t>n</a:t>
            </a:r>
            <a:r>
              <a:rPr lang="en-US" altLang="en-US" sz="2600" dirty="0" err="1" smtClean="0">
                <a:solidFill>
                  <a:srgbClr val="FF0000"/>
                </a:solidFill>
              </a:rPr>
              <a:t>,</a:t>
            </a:r>
            <a:r>
              <a:rPr lang="en-US" altLang="en-US" sz="2600" i="1" dirty="0" err="1" smtClean="0">
                <a:solidFill>
                  <a:srgbClr val="FF0000"/>
                </a:solidFill>
                <a:latin typeface="Verdana" pitchFamily="34" charset="0"/>
              </a:rPr>
              <a:t>I</a:t>
            </a:r>
            <a:r>
              <a:rPr lang="en-US" altLang="en-US" sz="2600" dirty="0" smtClean="0">
                <a:solidFill>
                  <a:srgbClr val="FF0000"/>
                </a:solidFill>
              </a:rPr>
              <a:t>)</a:t>
            </a:r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DB6F5D3-1604-4360-B344-40FBE4E6A70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Demand Functions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For only two goods (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):</a:t>
            </a:r>
          </a:p>
          <a:p>
            <a:pPr algn="ctr">
              <a:lnSpc>
                <a:spcPct val="14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002D56"/>
                </a:solidFill>
              </a:rPr>
              <a:t>x</a:t>
            </a:r>
            <a:r>
              <a:rPr lang="en-US" altLang="en-US" sz="3200" dirty="0" smtClean="0">
                <a:solidFill>
                  <a:srgbClr val="002D56"/>
                </a:solidFill>
              </a:rPr>
              <a:t>* = </a:t>
            </a:r>
            <a:r>
              <a:rPr lang="en-US" altLang="en-US" sz="3200" i="1" dirty="0" smtClean="0">
                <a:solidFill>
                  <a:srgbClr val="002D56"/>
                </a:solidFill>
              </a:rPr>
              <a:t>x</a:t>
            </a:r>
            <a:r>
              <a:rPr lang="en-US" altLang="en-US" sz="3200" dirty="0" smtClean="0">
                <a:solidFill>
                  <a:srgbClr val="002D56"/>
                </a:solidFill>
              </a:rPr>
              <a:t>(</a:t>
            </a:r>
            <a:r>
              <a:rPr lang="en-US" altLang="en-US" sz="3200" i="1" dirty="0" err="1" smtClean="0">
                <a:solidFill>
                  <a:srgbClr val="002D56"/>
                </a:solidFill>
              </a:rPr>
              <a:t>p</a:t>
            </a:r>
            <a:r>
              <a:rPr lang="en-US" altLang="en-US" sz="3200" i="1" baseline="-25000" dirty="0" err="1" smtClean="0">
                <a:solidFill>
                  <a:srgbClr val="002D56"/>
                </a:solidFill>
              </a:rPr>
              <a:t>x</a:t>
            </a:r>
            <a:r>
              <a:rPr lang="en-US" altLang="en-US" sz="3200" dirty="0" err="1" smtClean="0">
                <a:solidFill>
                  <a:srgbClr val="002D56"/>
                </a:solidFill>
              </a:rPr>
              <a:t>,</a:t>
            </a:r>
            <a:r>
              <a:rPr lang="en-US" altLang="en-US" sz="3200" i="1" dirty="0" err="1" smtClean="0">
                <a:solidFill>
                  <a:srgbClr val="002D56"/>
                </a:solidFill>
              </a:rPr>
              <a:t>p</a:t>
            </a:r>
            <a:r>
              <a:rPr lang="en-US" altLang="en-US" sz="3200" i="1" baseline="-25000" dirty="0" err="1" smtClean="0">
                <a:solidFill>
                  <a:srgbClr val="002D56"/>
                </a:solidFill>
              </a:rPr>
              <a:t>y</a:t>
            </a:r>
            <a:r>
              <a:rPr lang="en-US" altLang="en-US" sz="3200" dirty="0" err="1" smtClean="0">
                <a:solidFill>
                  <a:srgbClr val="002D56"/>
                </a:solidFill>
              </a:rPr>
              <a:t>,</a:t>
            </a:r>
            <a:r>
              <a:rPr lang="en-US" altLang="en-US" sz="3200" i="1" dirty="0" err="1" smtClean="0">
                <a:solidFill>
                  <a:srgbClr val="002D56"/>
                </a:solidFill>
                <a:latin typeface="Verdana" pitchFamily="34" charset="0"/>
              </a:rPr>
              <a:t>I</a:t>
            </a:r>
            <a:r>
              <a:rPr lang="en-US" altLang="en-US" sz="3200" dirty="0" smtClean="0">
                <a:solidFill>
                  <a:srgbClr val="002D56"/>
                </a:solidFill>
              </a:rPr>
              <a:t>)</a:t>
            </a:r>
          </a:p>
          <a:p>
            <a:pPr algn="ctr">
              <a:lnSpc>
                <a:spcPct val="14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002D56"/>
                </a:solidFill>
              </a:rPr>
              <a:t>y</a:t>
            </a:r>
            <a:r>
              <a:rPr lang="en-US" altLang="en-US" sz="3200" dirty="0" smtClean="0">
                <a:solidFill>
                  <a:srgbClr val="002D56"/>
                </a:solidFill>
              </a:rPr>
              <a:t>* = </a:t>
            </a:r>
            <a:r>
              <a:rPr lang="en-US" altLang="en-US" sz="3200" i="1" dirty="0" smtClean="0">
                <a:solidFill>
                  <a:srgbClr val="002D56"/>
                </a:solidFill>
              </a:rPr>
              <a:t>y</a:t>
            </a:r>
            <a:r>
              <a:rPr lang="en-US" altLang="en-US" sz="3200" dirty="0" smtClean="0">
                <a:solidFill>
                  <a:srgbClr val="002D56"/>
                </a:solidFill>
              </a:rPr>
              <a:t>(</a:t>
            </a:r>
            <a:r>
              <a:rPr lang="en-US" altLang="en-US" sz="3200" i="1" dirty="0" err="1" smtClean="0">
                <a:solidFill>
                  <a:srgbClr val="002D56"/>
                </a:solidFill>
              </a:rPr>
              <a:t>p</a:t>
            </a:r>
            <a:r>
              <a:rPr lang="en-US" altLang="en-US" sz="3200" i="1" baseline="-25000" dirty="0" err="1" smtClean="0">
                <a:solidFill>
                  <a:srgbClr val="002D56"/>
                </a:solidFill>
              </a:rPr>
              <a:t>x</a:t>
            </a:r>
            <a:r>
              <a:rPr lang="en-US" altLang="en-US" sz="3200" dirty="0" err="1" smtClean="0">
                <a:solidFill>
                  <a:srgbClr val="002D56"/>
                </a:solidFill>
              </a:rPr>
              <a:t>,</a:t>
            </a:r>
            <a:r>
              <a:rPr lang="en-US" altLang="en-US" sz="3200" i="1" dirty="0" err="1" smtClean="0">
                <a:solidFill>
                  <a:srgbClr val="002D56"/>
                </a:solidFill>
              </a:rPr>
              <a:t>p</a:t>
            </a:r>
            <a:r>
              <a:rPr lang="en-US" altLang="en-US" sz="3200" i="1" baseline="-25000" dirty="0" err="1" smtClean="0">
                <a:solidFill>
                  <a:srgbClr val="002D56"/>
                </a:solidFill>
              </a:rPr>
              <a:t>y</a:t>
            </a:r>
            <a:r>
              <a:rPr lang="en-US" altLang="en-US" sz="3200" dirty="0" err="1" smtClean="0">
                <a:solidFill>
                  <a:srgbClr val="002D56"/>
                </a:solidFill>
              </a:rPr>
              <a:t>,</a:t>
            </a:r>
            <a:r>
              <a:rPr lang="en-US" altLang="en-US" sz="3200" i="1" dirty="0" err="1" smtClean="0">
                <a:solidFill>
                  <a:srgbClr val="002D56"/>
                </a:solidFill>
                <a:latin typeface="Verdana" pitchFamily="34" charset="0"/>
              </a:rPr>
              <a:t>I</a:t>
            </a:r>
            <a:r>
              <a:rPr lang="en-US" altLang="en-US" sz="3200" dirty="0" smtClean="0">
                <a:solidFill>
                  <a:srgbClr val="002D56"/>
                </a:solidFill>
              </a:rPr>
              <a:t>)</a:t>
            </a:r>
          </a:p>
          <a:p>
            <a:r>
              <a:rPr lang="en-US" altLang="en-US" dirty="0" smtClean="0"/>
              <a:t>Prices and income are exogenous</a:t>
            </a:r>
          </a:p>
          <a:p>
            <a:pPr lvl="1"/>
            <a:r>
              <a:rPr lang="en-US" altLang="en-US" dirty="0" smtClean="0"/>
              <a:t>The individual has no control over these parameters</a:t>
            </a:r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76E1B22-02D1-48EA-B071-B2EBCB17AA5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9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Demand Functions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534400" cy="52578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 smtClean="0"/>
              <a:t>Homogeneity</a:t>
            </a:r>
          </a:p>
          <a:p>
            <a:pPr lvl="1">
              <a:defRPr/>
            </a:pPr>
            <a:r>
              <a:rPr lang="en-US" dirty="0" smtClean="0"/>
              <a:t>Double all prices and income - the optimal quantities demanded would remain unchanged</a:t>
            </a:r>
          </a:p>
          <a:p>
            <a:pPr lvl="1">
              <a:defRPr/>
            </a:pPr>
            <a:r>
              <a:rPr lang="en-US" dirty="0" smtClean="0"/>
              <a:t>The budget constraint is unchanged</a:t>
            </a:r>
          </a:p>
          <a:p>
            <a:pPr algn="ctr">
              <a:lnSpc>
                <a:spcPct val="150000"/>
              </a:lnSpc>
              <a:buFontTx/>
              <a:buNone/>
              <a:defRPr/>
            </a:pPr>
            <a:r>
              <a:rPr lang="en-US" sz="3600" i="1" dirty="0" smtClean="0">
                <a:solidFill>
                  <a:srgbClr val="FF0000"/>
                </a:solidFill>
              </a:rPr>
              <a:t>x</a:t>
            </a:r>
            <a:r>
              <a:rPr lang="en-US" sz="3600" i="1" baseline="-25000" dirty="0" smtClean="0">
                <a:solidFill>
                  <a:srgbClr val="FF0000"/>
                </a:solidFill>
              </a:rPr>
              <a:t>i</a:t>
            </a:r>
            <a:r>
              <a:rPr lang="en-US" sz="3600" dirty="0" smtClean="0">
                <a:solidFill>
                  <a:srgbClr val="FF0000"/>
                </a:solidFill>
              </a:rPr>
              <a:t>* = </a:t>
            </a:r>
            <a:r>
              <a:rPr lang="en-US" sz="3600" i="1" dirty="0" smtClean="0">
                <a:solidFill>
                  <a:srgbClr val="FF0000"/>
                </a:solidFill>
              </a:rPr>
              <a:t>x</a:t>
            </a:r>
            <a:r>
              <a:rPr lang="en-US" sz="3600" i="1" baseline="-25000" dirty="0" smtClean="0">
                <a:solidFill>
                  <a:srgbClr val="FF0000"/>
                </a:solidFill>
              </a:rPr>
              <a:t>i</a:t>
            </a:r>
            <a:r>
              <a:rPr lang="en-US" sz="3600" dirty="0" smtClean="0">
                <a:solidFill>
                  <a:srgbClr val="FF0000"/>
                </a:solidFill>
              </a:rPr>
              <a:t>(</a:t>
            </a:r>
            <a:r>
              <a:rPr lang="en-US" sz="3600" i="1" dirty="0" smtClean="0">
                <a:solidFill>
                  <a:srgbClr val="FF0000"/>
                </a:solidFill>
              </a:rPr>
              <a:t>p</a:t>
            </a:r>
            <a:r>
              <a:rPr lang="en-US" sz="3600" baseline="-25000" dirty="0" smtClean="0">
                <a:solidFill>
                  <a:srgbClr val="FF0000"/>
                </a:solidFill>
              </a:rPr>
              <a:t>1</a:t>
            </a:r>
            <a:r>
              <a:rPr lang="en-US" sz="3600" dirty="0" smtClean="0">
                <a:solidFill>
                  <a:srgbClr val="FF0000"/>
                </a:solidFill>
              </a:rPr>
              <a:t>,</a:t>
            </a:r>
            <a:r>
              <a:rPr lang="en-US" sz="3600" i="1" dirty="0" smtClean="0">
                <a:solidFill>
                  <a:srgbClr val="FF0000"/>
                </a:solidFill>
              </a:rPr>
              <a:t>p</a:t>
            </a:r>
            <a:r>
              <a:rPr lang="en-US" sz="3600" baseline="-25000" dirty="0" smtClean="0">
                <a:solidFill>
                  <a:srgbClr val="FF0000"/>
                </a:solidFill>
              </a:rPr>
              <a:t>2</a:t>
            </a:r>
            <a:r>
              <a:rPr lang="en-US" sz="3600" dirty="0" smtClean="0">
                <a:solidFill>
                  <a:srgbClr val="FF0000"/>
                </a:solidFill>
              </a:rPr>
              <a:t>,…,</a:t>
            </a:r>
            <a:r>
              <a:rPr lang="en-US" sz="3600" i="1" dirty="0" err="1" smtClean="0">
                <a:solidFill>
                  <a:srgbClr val="FF0000"/>
                </a:solidFill>
              </a:rPr>
              <a:t>p</a:t>
            </a:r>
            <a:r>
              <a:rPr lang="en-US" sz="3600" i="1" baseline="-25000" dirty="0" err="1" smtClean="0">
                <a:solidFill>
                  <a:srgbClr val="FF0000"/>
                </a:solidFill>
              </a:rPr>
              <a:t>n</a:t>
            </a:r>
            <a:r>
              <a:rPr lang="en-US" sz="3600" dirty="0" err="1" smtClean="0">
                <a:solidFill>
                  <a:srgbClr val="FF0000"/>
                </a:solidFill>
              </a:rPr>
              <a:t>,</a:t>
            </a:r>
            <a:r>
              <a:rPr lang="en-US" sz="3600" i="1" dirty="0" err="1" smtClean="0">
                <a:solidFill>
                  <a:srgbClr val="FF0000"/>
                </a:solidFill>
                <a:latin typeface="Verdana" pitchFamily="34" charset="0"/>
              </a:rPr>
              <a:t>I</a:t>
            </a:r>
            <a:r>
              <a:rPr lang="en-US" sz="3600" dirty="0" smtClean="0">
                <a:solidFill>
                  <a:srgbClr val="FF0000"/>
                </a:solidFill>
              </a:rPr>
              <a:t>) = </a:t>
            </a:r>
            <a:r>
              <a:rPr lang="en-US" sz="3600" i="1" dirty="0" smtClean="0">
                <a:solidFill>
                  <a:srgbClr val="FF0000"/>
                </a:solidFill>
              </a:rPr>
              <a:t>x</a:t>
            </a:r>
            <a:r>
              <a:rPr lang="en-US" sz="3600" i="1" baseline="-25000" dirty="0" smtClean="0">
                <a:solidFill>
                  <a:srgbClr val="FF0000"/>
                </a:solidFill>
              </a:rPr>
              <a:t>i</a:t>
            </a:r>
            <a:r>
              <a:rPr lang="en-US" sz="3600" dirty="0" smtClean="0">
                <a:solidFill>
                  <a:srgbClr val="FF0000"/>
                </a:solidFill>
              </a:rPr>
              <a:t>(</a:t>
            </a:r>
            <a:r>
              <a:rPr lang="en-US" sz="3600" i="1" dirty="0" smtClean="0">
                <a:solidFill>
                  <a:srgbClr val="FF0000"/>
                </a:solidFill>
              </a:rPr>
              <a:t>tp</a:t>
            </a:r>
            <a:r>
              <a:rPr lang="en-US" sz="3600" baseline="-25000" dirty="0" smtClean="0">
                <a:solidFill>
                  <a:srgbClr val="FF0000"/>
                </a:solidFill>
              </a:rPr>
              <a:t>1</a:t>
            </a:r>
            <a:r>
              <a:rPr lang="en-US" sz="3600" dirty="0" smtClean="0">
                <a:solidFill>
                  <a:srgbClr val="FF0000"/>
                </a:solidFill>
              </a:rPr>
              <a:t>,</a:t>
            </a:r>
            <a:r>
              <a:rPr lang="en-US" sz="3600" i="1" dirty="0" smtClean="0">
                <a:solidFill>
                  <a:srgbClr val="FF0000"/>
                </a:solidFill>
              </a:rPr>
              <a:t>tp</a:t>
            </a:r>
            <a:r>
              <a:rPr lang="en-US" sz="3600" baseline="-25000" dirty="0" smtClean="0">
                <a:solidFill>
                  <a:srgbClr val="FF0000"/>
                </a:solidFill>
              </a:rPr>
              <a:t>2</a:t>
            </a:r>
            <a:r>
              <a:rPr lang="en-US" sz="3600" dirty="0" smtClean="0">
                <a:solidFill>
                  <a:srgbClr val="FF0000"/>
                </a:solidFill>
              </a:rPr>
              <a:t>,…,</a:t>
            </a:r>
            <a:r>
              <a:rPr lang="en-US" sz="3600" i="1" dirty="0" err="1" smtClean="0">
                <a:solidFill>
                  <a:srgbClr val="FF0000"/>
                </a:solidFill>
              </a:rPr>
              <a:t>tp</a:t>
            </a:r>
            <a:r>
              <a:rPr lang="en-US" sz="3600" i="1" baseline="-25000" dirty="0" err="1" smtClean="0">
                <a:solidFill>
                  <a:srgbClr val="FF0000"/>
                </a:solidFill>
              </a:rPr>
              <a:t>n</a:t>
            </a:r>
            <a:r>
              <a:rPr lang="en-US" sz="3600" dirty="0" err="1" smtClean="0">
                <a:solidFill>
                  <a:srgbClr val="FF0000"/>
                </a:solidFill>
              </a:rPr>
              <a:t>,</a:t>
            </a:r>
            <a:r>
              <a:rPr lang="en-US" sz="3600" i="1" dirty="0" err="1" smtClean="0">
                <a:solidFill>
                  <a:srgbClr val="FF0000"/>
                </a:solidFill>
              </a:rPr>
              <a:t>t</a:t>
            </a:r>
            <a:r>
              <a:rPr lang="en-US" sz="3600" i="1" dirty="0" err="1" smtClean="0">
                <a:solidFill>
                  <a:srgbClr val="FF0000"/>
                </a:solidFill>
                <a:latin typeface="Verdana" pitchFamily="34" charset="0"/>
              </a:rPr>
              <a:t>I</a:t>
            </a:r>
            <a:r>
              <a:rPr lang="en-US" sz="3600" dirty="0" smtClean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90000"/>
              </a:lnSpc>
              <a:defRPr/>
            </a:pPr>
            <a:endParaRPr lang="en-US" sz="1050" dirty="0" smtClean="0"/>
          </a:p>
          <a:p>
            <a:pPr lvl="1">
              <a:lnSpc>
                <a:spcPct val="90000"/>
              </a:lnSpc>
              <a:defRPr/>
            </a:pPr>
            <a:r>
              <a:rPr lang="en-US" dirty="0" smtClean="0"/>
              <a:t>Individual demand functions are </a:t>
            </a:r>
            <a:r>
              <a:rPr lang="en-US" u="sng" dirty="0" smtClean="0"/>
              <a:t>homogeneous of degree zero</a:t>
            </a:r>
            <a:r>
              <a:rPr lang="en-US" dirty="0" smtClean="0"/>
              <a:t> in all prices and income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CC1191-2530-44A8-B679-7C271505954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4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smtClean="0"/>
              <a:t>5.1 	Homogeneity</a:t>
            </a:r>
          </a:p>
        </p:txBody>
      </p:sp>
      <p:sp>
        <p:nvSpPr>
          <p:cNvPr id="1030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A5F388FE-406E-4C62-B357-1850021EF9FD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029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38862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en-US" dirty="0" smtClean="0"/>
              <a:t>Cobb-Douglas utility function: </a:t>
            </a:r>
          </a:p>
          <a:p>
            <a:pPr lvl="1">
              <a:buFont typeface="Arial" charset="0"/>
              <a:buNone/>
            </a:pPr>
            <a:r>
              <a:rPr lang="en-US" altLang="en-US" dirty="0" smtClean="0">
                <a:solidFill>
                  <a:srgbClr val="FF0000"/>
                </a:solidFill>
              </a:rPr>
              <a:t>utility = </a:t>
            </a:r>
            <a:r>
              <a:rPr lang="en-US" altLang="en-US" i="1" dirty="0" smtClean="0">
                <a:solidFill>
                  <a:srgbClr val="FF0000"/>
                </a:solidFill>
              </a:rPr>
              <a:t>U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smtClean="0">
                <a:solidFill>
                  <a:srgbClr val="FF0000"/>
                </a:solidFill>
              </a:rPr>
              <a:t>) = </a:t>
            </a:r>
            <a:r>
              <a:rPr lang="en-US" altLang="en-US" i="1" dirty="0" smtClean="0">
                <a:solidFill>
                  <a:srgbClr val="FF0000"/>
                </a:solidFill>
              </a:rPr>
              <a:t>x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0.3</a:t>
            </a:r>
            <a:r>
              <a:rPr lang="en-US" altLang="en-US" i="1" dirty="0" smtClean="0">
                <a:solidFill>
                  <a:srgbClr val="FF0000"/>
                </a:solidFill>
              </a:rPr>
              <a:t>y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0.7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en-US" dirty="0" smtClean="0"/>
              <a:t>The demand functions are: </a:t>
            </a:r>
            <a:r>
              <a:rPr lang="en-US" altLang="en-US" i="1" dirty="0" smtClean="0">
                <a:solidFill>
                  <a:srgbClr val="FF0000"/>
                </a:solidFill>
              </a:rPr>
              <a:t>x*=0.3I/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/>
              <a:t>and </a:t>
            </a:r>
            <a:r>
              <a:rPr lang="en-US" altLang="en-US" i="1" dirty="0" smtClean="0">
                <a:solidFill>
                  <a:srgbClr val="FF0000"/>
                </a:solidFill>
              </a:rPr>
              <a:t>y*=0.7I/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dirty="0" smtClean="0">
                <a:solidFill>
                  <a:srgbClr val="FF0000"/>
                </a:solidFill>
              </a:rPr>
              <a:t> </a:t>
            </a:r>
            <a:endParaRPr lang="en-US" altLang="en-US" i="1" baseline="-25000" dirty="0" smtClean="0">
              <a:solidFill>
                <a:srgbClr val="FF0000"/>
              </a:solidFill>
            </a:endParaRPr>
          </a:p>
          <a:p>
            <a:pPr lvl="1"/>
            <a:r>
              <a:rPr lang="en-US" altLang="en-US" dirty="0" smtClean="0"/>
              <a:t>Exhibit homogeneity </a:t>
            </a:r>
          </a:p>
          <a:p>
            <a:r>
              <a:rPr lang="en-US" altLang="en-US" dirty="0" smtClean="0"/>
              <a:t>CES utility function: </a:t>
            </a:r>
          </a:p>
          <a:p>
            <a:pPr lvl="1">
              <a:buFont typeface="Arial" charset="0"/>
              <a:buNone/>
            </a:pPr>
            <a:r>
              <a:rPr lang="en-US" altLang="en-US" dirty="0" smtClean="0">
                <a:solidFill>
                  <a:srgbClr val="FF0000"/>
                </a:solidFill>
              </a:rPr>
              <a:t>utility = </a:t>
            </a:r>
            <a:r>
              <a:rPr lang="en-US" altLang="en-US" i="1" dirty="0" smtClean="0">
                <a:solidFill>
                  <a:srgbClr val="FF0000"/>
                </a:solidFill>
              </a:rPr>
              <a:t>U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smtClean="0">
                <a:solidFill>
                  <a:srgbClr val="FF0000"/>
                </a:solidFill>
              </a:rPr>
              <a:t>) = </a:t>
            </a:r>
            <a:r>
              <a:rPr lang="en-US" altLang="en-US" i="1" dirty="0" smtClean="0">
                <a:solidFill>
                  <a:srgbClr val="FF0000"/>
                </a:solidFill>
              </a:rPr>
              <a:t>x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0.5</a:t>
            </a:r>
            <a:r>
              <a:rPr lang="en-US" altLang="en-US" dirty="0" smtClean="0">
                <a:solidFill>
                  <a:srgbClr val="FF0000"/>
                </a:solidFill>
              </a:rPr>
              <a:t> + </a:t>
            </a:r>
            <a:r>
              <a:rPr lang="en-US" altLang="en-US" i="1" dirty="0" smtClean="0">
                <a:solidFill>
                  <a:srgbClr val="FF0000"/>
                </a:solidFill>
              </a:rPr>
              <a:t>y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0.5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pPr lvl="1"/>
            <a:r>
              <a:rPr lang="en-US" altLang="en-US" dirty="0" smtClean="0"/>
              <a:t>The demand functions are: </a:t>
            </a:r>
          </a:p>
          <a:p>
            <a:endParaRPr lang="en-US" altLang="en-US" dirty="0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5334000"/>
            <a:ext cx="8382000" cy="838200"/>
          </a:xfrm>
        </p:spPr>
        <p:txBody>
          <a:bodyPr/>
          <a:lstStyle/>
          <a:p>
            <a:pPr lvl="1"/>
            <a:r>
              <a:rPr lang="en-US" altLang="en-US" dirty="0"/>
              <a:t>Exhibit homogeneity </a:t>
            </a:r>
          </a:p>
          <a:p>
            <a:pPr lvl="1"/>
            <a:endParaRPr lang="en-US" dirty="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996950" y="4341812"/>
            <a:ext cx="7173913" cy="992188"/>
            <a:chOff x="758825" y="4899025"/>
            <a:chExt cx="7425341" cy="1157288"/>
          </a:xfrm>
        </p:grpSpPr>
        <p:graphicFrame>
          <p:nvGraphicFramePr>
            <p:cNvPr id="1026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5088775"/>
                </p:ext>
              </p:extLst>
            </p:nvPr>
          </p:nvGraphicFramePr>
          <p:xfrm>
            <a:off x="758825" y="4899025"/>
            <a:ext cx="3182938" cy="1157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402" name="Equation" r:id="rId3" imgW="1218960" imgH="444240" progId="Equation.DSMT4">
                    <p:embed/>
                  </p:oleObj>
                </mc:Choice>
                <mc:Fallback>
                  <p:oleObj name="Equation" r:id="rId3" imgW="121896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8825" y="4899025"/>
                          <a:ext cx="3182938" cy="1157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" name="Object 3"/>
            <p:cNvGraphicFramePr>
              <a:graphicFrameLocks noChangeAspect="1"/>
            </p:cNvGraphicFramePr>
            <p:nvPr/>
          </p:nvGraphicFramePr>
          <p:xfrm>
            <a:off x="4969476" y="4899025"/>
            <a:ext cx="3214690" cy="1157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1403" name="Equation" r:id="rId5" imgW="1231560" imgH="444240" progId="Equation.DSMT4">
                    <p:embed/>
                  </p:oleObj>
                </mc:Choice>
                <mc:Fallback>
                  <p:oleObj name="Equation" r:id="rId5" imgW="123156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9476" y="4899025"/>
                          <a:ext cx="3214690" cy="1157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5058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Changes in Income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An increase in income </a:t>
            </a:r>
          </a:p>
          <a:p>
            <a:pPr lvl="1"/>
            <a:r>
              <a:rPr lang="en-US" altLang="en-US" smtClean="0"/>
              <a:t>Will cause the budget constraint out in a parallel fashion</a:t>
            </a:r>
          </a:p>
          <a:p>
            <a:pPr lvl="1">
              <a:lnSpc>
                <a:spcPct val="150000"/>
              </a:lnSpc>
            </a:pPr>
            <a:r>
              <a:rPr lang="en-US" altLang="en-US" smtClean="0"/>
              <a:t> 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x</a:t>
            </a:r>
            <a:r>
              <a:rPr lang="en-US" altLang="en-US" smtClean="0"/>
              <a:t>/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y</a:t>
            </a:r>
            <a:r>
              <a:rPr lang="en-US" altLang="en-US" smtClean="0"/>
              <a:t> does not change</a:t>
            </a:r>
          </a:p>
          <a:p>
            <a:pPr lvl="2"/>
            <a:r>
              <a:rPr lang="en-US" altLang="en-US" smtClean="0"/>
              <a:t>The </a:t>
            </a:r>
            <a:r>
              <a:rPr lang="en-US" altLang="en-US" i="1" smtClean="0"/>
              <a:t>MRS</a:t>
            </a:r>
            <a:r>
              <a:rPr lang="en-US" altLang="en-US" smtClean="0"/>
              <a:t> will stay constant as the individual  moves to higher levels of satisfaction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178A07-3B09-4275-A559-479FD81CEA4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Changes in Income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Normal good</a:t>
            </a:r>
          </a:p>
          <a:p>
            <a:pPr lvl="1"/>
            <a:r>
              <a:rPr lang="en-US" altLang="en-US" smtClean="0"/>
              <a:t>Over some range of income</a:t>
            </a:r>
          </a:p>
          <a:p>
            <a:pPr lvl="1"/>
            <a:r>
              <a:rPr lang="en-US" altLang="en-US" smtClean="0"/>
              <a:t>A good </a:t>
            </a:r>
            <a:r>
              <a:rPr lang="en-US" altLang="en-US" i="1" smtClean="0"/>
              <a:t>x</a:t>
            </a:r>
            <a:r>
              <a:rPr lang="en-US" altLang="en-US" baseline="-25000" smtClean="0"/>
              <a:t>i</a:t>
            </a:r>
            <a:r>
              <a:rPr lang="en-US" altLang="en-US" smtClean="0"/>
              <a:t> for which </a:t>
            </a:r>
            <a:r>
              <a:rPr lang="en-US" altLang="en-US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i="1" smtClean="0">
                <a:solidFill>
                  <a:srgbClr val="FF0000"/>
                </a:solidFill>
              </a:rPr>
              <a:t>x</a:t>
            </a:r>
            <a:r>
              <a:rPr lang="en-US" altLang="en-US" baseline="-25000" smtClean="0">
                <a:solidFill>
                  <a:srgbClr val="FF0000"/>
                </a:solidFill>
              </a:rPr>
              <a:t>i</a:t>
            </a:r>
            <a:r>
              <a:rPr lang="en-US" altLang="en-US" smtClean="0">
                <a:solidFill>
                  <a:srgbClr val="FF0000"/>
                </a:solidFill>
              </a:rPr>
              <a:t>/</a:t>
            </a:r>
            <a:r>
              <a:rPr lang="en-US" altLang="en-US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i="1" smtClean="0">
                <a:solidFill>
                  <a:srgbClr val="FF0000"/>
                </a:solidFill>
                <a:latin typeface="Verdana" pitchFamily="34" charset="0"/>
              </a:rPr>
              <a:t>I</a:t>
            </a:r>
            <a:r>
              <a:rPr lang="en-US" altLang="en-US" smtClean="0">
                <a:solidFill>
                  <a:srgbClr val="FF0000"/>
                </a:solidFill>
              </a:rPr>
              <a:t> </a:t>
            </a:r>
            <a:r>
              <a:rPr lang="en-US" altLang="en-US" smtClean="0">
                <a:solidFill>
                  <a:srgbClr val="FF0000"/>
                </a:solidFill>
                <a:sym typeface="Symbol" pitchFamily="18" charset="2"/>
              </a:rPr>
              <a:t> 0 </a:t>
            </a:r>
            <a:r>
              <a:rPr lang="en-US" altLang="en-US" smtClean="0"/>
              <a:t>over that range of income</a:t>
            </a:r>
          </a:p>
          <a:p>
            <a:r>
              <a:rPr lang="en-US" altLang="en-US" smtClean="0"/>
              <a:t>Inferior good</a:t>
            </a:r>
          </a:p>
          <a:p>
            <a:pPr lvl="1"/>
            <a:r>
              <a:rPr lang="en-US" altLang="en-US" smtClean="0"/>
              <a:t>Over some range of income</a:t>
            </a:r>
          </a:p>
          <a:p>
            <a:pPr lvl="1"/>
            <a:r>
              <a:rPr lang="en-US" altLang="en-US" smtClean="0"/>
              <a:t>A good </a:t>
            </a:r>
            <a:r>
              <a:rPr lang="en-US" altLang="en-US" i="1" smtClean="0"/>
              <a:t>x</a:t>
            </a:r>
            <a:r>
              <a:rPr lang="en-US" altLang="en-US" baseline="-25000" smtClean="0"/>
              <a:t>i</a:t>
            </a:r>
            <a:r>
              <a:rPr lang="en-US" altLang="en-US" smtClean="0"/>
              <a:t> for which </a:t>
            </a:r>
            <a:r>
              <a:rPr lang="en-US" altLang="en-US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i="1" smtClean="0">
                <a:solidFill>
                  <a:srgbClr val="FF0000"/>
                </a:solidFill>
              </a:rPr>
              <a:t>x</a:t>
            </a:r>
            <a:r>
              <a:rPr lang="en-US" altLang="en-US" baseline="-25000" smtClean="0">
                <a:solidFill>
                  <a:srgbClr val="FF0000"/>
                </a:solidFill>
              </a:rPr>
              <a:t>i</a:t>
            </a:r>
            <a:r>
              <a:rPr lang="en-US" altLang="en-US" smtClean="0">
                <a:solidFill>
                  <a:srgbClr val="FF0000"/>
                </a:solidFill>
              </a:rPr>
              <a:t>/</a:t>
            </a:r>
            <a:r>
              <a:rPr lang="en-US" altLang="en-US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i="1" smtClean="0">
                <a:solidFill>
                  <a:srgbClr val="FF0000"/>
                </a:solidFill>
                <a:latin typeface="Verdana" pitchFamily="34" charset="0"/>
              </a:rPr>
              <a:t>I</a:t>
            </a:r>
            <a:r>
              <a:rPr lang="en-US" altLang="en-US" smtClean="0">
                <a:solidFill>
                  <a:srgbClr val="FF0000"/>
                </a:solidFill>
              </a:rPr>
              <a:t> </a:t>
            </a:r>
            <a:r>
              <a:rPr lang="en-US" altLang="en-US" smtClean="0">
                <a:solidFill>
                  <a:srgbClr val="FF0000"/>
                </a:solidFill>
                <a:sym typeface="Symbol" pitchFamily="18" charset="2"/>
              </a:rPr>
              <a:t>&lt; 0 </a:t>
            </a:r>
            <a:r>
              <a:rPr lang="en-US" altLang="en-US" smtClean="0"/>
              <a:t>over that range of income </a:t>
            </a:r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6927D3-4890-493D-A5F5-B6C6C6AED01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2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5.1	Effect of an Increase in Income on the 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Quantities </a:t>
            </a:r>
            <a:r>
              <a:rPr lang="en-US" altLang="en-US" dirty="0">
                <a:solidFill>
                  <a:srgbClr val="002D56"/>
                </a:solidFill>
              </a:rPr>
              <a:t>of x and y </a:t>
            </a:r>
            <a:r>
              <a:rPr lang="en-US" altLang="en-US" dirty="0" smtClean="0">
                <a:solidFill>
                  <a:srgbClr val="002D56"/>
                </a:solidFill>
              </a:rPr>
              <a:t>Chosen</a:t>
            </a:r>
          </a:p>
        </p:txBody>
      </p:sp>
      <p:sp>
        <p:nvSpPr>
          <p:cNvPr id="44035" name="Text Placeholder 2"/>
          <p:cNvSpPr>
            <a:spLocks noGrp="1"/>
          </p:cNvSpPr>
          <p:nvPr>
            <p:ph sz="half" idx="1"/>
          </p:nvPr>
        </p:nvSpPr>
        <p:spPr>
          <a:xfrm>
            <a:off x="309755" y="4953000"/>
            <a:ext cx="8610600" cy="1366838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As income increases from I</a:t>
            </a:r>
            <a:r>
              <a:rPr lang="en-US" altLang="en-US" baseline="-25000" dirty="0"/>
              <a:t>1</a:t>
            </a:r>
            <a:r>
              <a:rPr lang="en-US" altLang="en-US" dirty="0"/>
              <a:t> to I</a:t>
            </a:r>
            <a:r>
              <a:rPr lang="en-US" altLang="en-US" baseline="-25000" dirty="0"/>
              <a:t>2</a:t>
            </a:r>
            <a:r>
              <a:rPr lang="en-US" altLang="en-US" dirty="0"/>
              <a:t> to I</a:t>
            </a:r>
            <a:r>
              <a:rPr lang="en-US" altLang="en-US" baseline="-25000" dirty="0"/>
              <a:t>3</a:t>
            </a:r>
            <a:r>
              <a:rPr lang="en-US" altLang="en-US" dirty="0"/>
              <a:t>, the optimal (utility-maximizing) choices of x and y are shown by the successively higher points of tangency. Observe that the budget constraint shifts in a parallel way because its slope (given by -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x</a:t>
            </a:r>
            <a:r>
              <a:rPr lang="en-US" altLang="en-US" dirty="0"/>
              <a:t>/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y</a:t>
            </a:r>
            <a:r>
              <a:rPr lang="en-US" altLang="en-US" dirty="0"/>
              <a:t>) does not change</a:t>
            </a:r>
            <a:r>
              <a:rPr lang="en-US" altLang="en-US" dirty="0" smtClean="0"/>
              <a:t>.</a:t>
            </a:r>
            <a:endParaRPr lang="en-US" altLang="en-US" dirty="0"/>
          </a:p>
        </p:txBody>
      </p:sp>
      <p:sp>
        <p:nvSpPr>
          <p:cNvPr id="44037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8" name="Slide Number Placeholder 5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4BEF11B-5BAC-424C-BADF-601CEA9142C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882650" y="1328738"/>
            <a:ext cx="6665913" cy="3430587"/>
            <a:chOff x="881990" y="1055914"/>
            <a:chExt cx="6667253" cy="3430547"/>
          </a:xfrm>
        </p:grpSpPr>
        <p:grpSp>
          <p:nvGrpSpPr>
            <p:cNvPr id="44085" name="Group 29"/>
            <p:cNvGrpSpPr>
              <a:grpSpLocks/>
            </p:cNvGrpSpPr>
            <p:nvPr/>
          </p:nvGrpSpPr>
          <p:grpSpPr bwMode="auto">
            <a:xfrm>
              <a:off x="2481943" y="4119748"/>
              <a:ext cx="5067300" cy="366713"/>
              <a:chOff x="2481943" y="4119748"/>
              <a:chExt cx="5067300" cy="366713"/>
            </a:xfrm>
          </p:grpSpPr>
          <p:sp>
            <p:nvSpPr>
              <p:cNvPr id="44089" name="Line 5"/>
              <p:cNvSpPr>
                <a:spLocks noChangeShapeType="1"/>
              </p:cNvSpPr>
              <p:nvPr/>
            </p:nvSpPr>
            <p:spPr bwMode="auto">
              <a:xfrm>
                <a:off x="2481943" y="4272148"/>
                <a:ext cx="3505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4090" name="Text Box 6"/>
              <p:cNvSpPr txBox="1">
                <a:spLocks noChangeArrowheads="1"/>
              </p:cNvSpPr>
              <p:nvPr/>
            </p:nvSpPr>
            <p:spPr bwMode="auto">
              <a:xfrm>
                <a:off x="6082393" y="4119748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  <a:endParaRPr lang="en-US" altLang="en-US" sz="1800"/>
              </a:p>
            </p:txBody>
          </p:sp>
        </p:grpSp>
        <p:grpSp>
          <p:nvGrpSpPr>
            <p:cNvPr id="44086" name="Group 28"/>
            <p:cNvGrpSpPr>
              <a:grpSpLocks/>
            </p:cNvGrpSpPr>
            <p:nvPr/>
          </p:nvGrpSpPr>
          <p:grpSpPr bwMode="auto">
            <a:xfrm>
              <a:off x="881990" y="1055914"/>
              <a:ext cx="1611828" cy="3216233"/>
              <a:chOff x="881990" y="1055914"/>
              <a:chExt cx="1611828" cy="3216233"/>
            </a:xfrm>
          </p:grpSpPr>
          <p:sp>
            <p:nvSpPr>
              <p:cNvPr id="44087" name="Line 4"/>
              <p:cNvSpPr>
                <a:spLocks noChangeShapeType="1"/>
              </p:cNvSpPr>
              <p:nvPr/>
            </p:nvSpPr>
            <p:spPr bwMode="auto">
              <a:xfrm flipH="1">
                <a:off x="2481943" y="1068786"/>
                <a:ext cx="11875" cy="320336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4088" name="Text Box 7"/>
              <p:cNvSpPr txBox="1">
                <a:spLocks noChangeArrowheads="1"/>
              </p:cNvSpPr>
              <p:nvPr/>
            </p:nvSpPr>
            <p:spPr bwMode="auto">
              <a:xfrm>
                <a:off x="881990" y="1055914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y</a:t>
                </a:r>
                <a:endParaRPr lang="en-US" altLang="en-US" sz="1800"/>
              </a:p>
            </p:txBody>
          </p:sp>
        </p:grp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3208338" y="1920875"/>
            <a:ext cx="2532062" cy="1801813"/>
            <a:chOff x="2939143" y="2062348"/>
            <a:chExt cx="2531838" cy="1800741"/>
          </a:xfrm>
        </p:grpSpPr>
        <p:sp>
          <p:nvSpPr>
            <p:cNvPr id="44083" name="Freeform 22"/>
            <p:cNvSpPr>
              <a:spLocks/>
            </p:cNvSpPr>
            <p:nvPr/>
          </p:nvSpPr>
          <p:spPr bwMode="auto">
            <a:xfrm>
              <a:off x="2939143" y="2062348"/>
              <a:ext cx="2133600" cy="1676400"/>
            </a:xfrm>
            <a:custGeom>
              <a:avLst/>
              <a:gdLst>
                <a:gd name="T0" fmla="*/ 0 w 1008"/>
                <a:gd name="T1" fmla="*/ 0 h 864"/>
                <a:gd name="T2" fmla="*/ 2147483647 w 1008"/>
                <a:gd name="T3" fmla="*/ 2147483647 h 864"/>
                <a:gd name="T4" fmla="*/ 2147483647 w 1008"/>
                <a:gd name="T5" fmla="*/ 2147483647 h 864"/>
                <a:gd name="T6" fmla="*/ 0 60000 65536"/>
                <a:gd name="T7" fmla="*/ 0 60000 65536"/>
                <a:gd name="T8" fmla="*/ 0 60000 65536"/>
                <a:gd name="T9" fmla="*/ 0 w 1008"/>
                <a:gd name="T10" fmla="*/ 0 h 864"/>
                <a:gd name="T11" fmla="*/ 1008 w 1008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864">
                  <a:moveTo>
                    <a:pt x="0" y="0"/>
                  </a:moveTo>
                  <a:cubicBezTo>
                    <a:pt x="84" y="240"/>
                    <a:pt x="168" y="480"/>
                    <a:pt x="336" y="624"/>
                  </a:cubicBezTo>
                  <a:cubicBezTo>
                    <a:pt x="504" y="768"/>
                    <a:pt x="756" y="816"/>
                    <a:pt x="1008" y="864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84" name="Text Box 28"/>
            <p:cNvSpPr txBox="1">
              <a:spLocks noChangeArrowheads="1"/>
            </p:cNvSpPr>
            <p:nvPr/>
          </p:nvSpPr>
          <p:spPr bwMode="auto">
            <a:xfrm>
              <a:off x="5034643" y="3493757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3</a:t>
              </a:r>
            </a:p>
          </p:txBody>
        </p:sp>
      </p:grpSp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2814638" y="2287588"/>
            <a:ext cx="2570162" cy="1860550"/>
            <a:chOff x="2710543" y="2290948"/>
            <a:chExt cx="2569938" cy="1860591"/>
          </a:xfrm>
        </p:grpSpPr>
        <p:sp>
          <p:nvSpPr>
            <p:cNvPr id="44081" name="Freeform 8"/>
            <p:cNvSpPr>
              <a:spLocks/>
            </p:cNvSpPr>
            <p:nvPr/>
          </p:nvSpPr>
          <p:spPr bwMode="auto">
            <a:xfrm>
              <a:off x="2710543" y="2290948"/>
              <a:ext cx="2133600" cy="1676400"/>
            </a:xfrm>
            <a:custGeom>
              <a:avLst/>
              <a:gdLst>
                <a:gd name="T0" fmla="*/ 0 w 1008"/>
                <a:gd name="T1" fmla="*/ 0 h 864"/>
                <a:gd name="T2" fmla="*/ 2147483647 w 1008"/>
                <a:gd name="T3" fmla="*/ 2147483647 h 864"/>
                <a:gd name="T4" fmla="*/ 2147483647 w 1008"/>
                <a:gd name="T5" fmla="*/ 2147483647 h 864"/>
                <a:gd name="T6" fmla="*/ 0 60000 65536"/>
                <a:gd name="T7" fmla="*/ 0 60000 65536"/>
                <a:gd name="T8" fmla="*/ 0 60000 65536"/>
                <a:gd name="T9" fmla="*/ 0 w 1008"/>
                <a:gd name="T10" fmla="*/ 0 h 864"/>
                <a:gd name="T11" fmla="*/ 1008 w 1008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864">
                  <a:moveTo>
                    <a:pt x="0" y="0"/>
                  </a:moveTo>
                  <a:cubicBezTo>
                    <a:pt x="84" y="240"/>
                    <a:pt x="168" y="480"/>
                    <a:pt x="336" y="624"/>
                  </a:cubicBezTo>
                  <a:cubicBezTo>
                    <a:pt x="504" y="768"/>
                    <a:pt x="756" y="816"/>
                    <a:pt x="1008" y="864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82" name="Text Box 29"/>
            <p:cNvSpPr txBox="1">
              <a:spLocks noChangeArrowheads="1"/>
            </p:cNvSpPr>
            <p:nvPr/>
          </p:nvSpPr>
          <p:spPr bwMode="auto">
            <a:xfrm>
              <a:off x="4844143" y="3782207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2</a:t>
              </a:r>
            </a:p>
          </p:txBody>
        </p:sp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2481263" y="2749550"/>
            <a:ext cx="2493962" cy="1812925"/>
            <a:chOff x="2481943" y="2443348"/>
            <a:chExt cx="2493738" cy="1812616"/>
          </a:xfrm>
        </p:grpSpPr>
        <p:sp>
          <p:nvSpPr>
            <p:cNvPr id="44079" name="Freeform 23"/>
            <p:cNvSpPr>
              <a:spLocks/>
            </p:cNvSpPr>
            <p:nvPr/>
          </p:nvSpPr>
          <p:spPr bwMode="auto">
            <a:xfrm>
              <a:off x="2481943" y="2443348"/>
              <a:ext cx="2133600" cy="1676400"/>
            </a:xfrm>
            <a:custGeom>
              <a:avLst/>
              <a:gdLst>
                <a:gd name="T0" fmla="*/ 0 w 1008"/>
                <a:gd name="T1" fmla="*/ 0 h 864"/>
                <a:gd name="T2" fmla="*/ 2147483647 w 1008"/>
                <a:gd name="T3" fmla="*/ 2147483647 h 864"/>
                <a:gd name="T4" fmla="*/ 2147483647 w 1008"/>
                <a:gd name="T5" fmla="*/ 2147483647 h 864"/>
                <a:gd name="T6" fmla="*/ 0 60000 65536"/>
                <a:gd name="T7" fmla="*/ 0 60000 65536"/>
                <a:gd name="T8" fmla="*/ 0 60000 65536"/>
                <a:gd name="T9" fmla="*/ 0 w 1008"/>
                <a:gd name="T10" fmla="*/ 0 h 864"/>
                <a:gd name="T11" fmla="*/ 1008 w 1008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864">
                  <a:moveTo>
                    <a:pt x="0" y="0"/>
                  </a:moveTo>
                  <a:cubicBezTo>
                    <a:pt x="84" y="240"/>
                    <a:pt x="168" y="480"/>
                    <a:pt x="336" y="624"/>
                  </a:cubicBezTo>
                  <a:cubicBezTo>
                    <a:pt x="504" y="768"/>
                    <a:pt x="756" y="816"/>
                    <a:pt x="1008" y="864"/>
                  </a:cubicBezTo>
                </a:path>
              </a:pathLst>
            </a:custGeom>
            <a:solidFill>
              <a:srgbClr val="FFFFFF"/>
            </a:solidFill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80" name="Text Box 30"/>
            <p:cNvSpPr txBox="1">
              <a:spLocks noChangeArrowheads="1"/>
            </p:cNvSpPr>
            <p:nvPr/>
          </p:nvSpPr>
          <p:spPr bwMode="auto">
            <a:xfrm>
              <a:off x="4539343" y="3886632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1</a:t>
              </a:r>
            </a:p>
          </p:txBody>
        </p:sp>
      </p:grpSp>
      <p:grpSp>
        <p:nvGrpSpPr>
          <p:cNvPr id="9" name="Group 65"/>
          <p:cNvGrpSpPr>
            <a:grpSpLocks/>
          </p:cNvGrpSpPr>
          <p:nvPr/>
        </p:nvGrpSpPr>
        <p:grpSpPr bwMode="auto">
          <a:xfrm>
            <a:off x="2470150" y="1235075"/>
            <a:ext cx="2574925" cy="3309938"/>
            <a:chOff x="2470068" y="1234509"/>
            <a:chExt cx="2574950" cy="3310764"/>
          </a:xfrm>
        </p:grpSpPr>
        <p:sp>
          <p:nvSpPr>
            <p:cNvPr id="44077" name="Line 14"/>
            <p:cNvSpPr>
              <a:spLocks noChangeShapeType="1"/>
            </p:cNvSpPr>
            <p:nvPr/>
          </p:nvSpPr>
          <p:spPr bwMode="auto">
            <a:xfrm>
              <a:off x="2470068" y="1484416"/>
              <a:ext cx="2574950" cy="306085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78" name="Text Box 28"/>
            <p:cNvSpPr txBox="1">
              <a:spLocks noChangeArrowheads="1"/>
            </p:cNvSpPr>
            <p:nvPr/>
          </p:nvSpPr>
          <p:spPr bwMode="auto">
            <a:xfrm>
              <a:off x="2562581" y="1234509"/>
              <a:ext cx="33374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I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3</a:t>
              </a:r>
            </a:p>
          </p:txBody>
        </p:sp>
      </p:grpSp>
      <p:grpSp>
        <p:nvGrpSpPr>
          <p:cNvPr id="10" name="Group 62"/>
          <p:cNvGrpSpPr>
            <a:grpSpLocks/>
          </p:cNvGrpSpPr>
          <p:nvPr/>
        </p:nvGrpSpPr>
        <p:grpSpPr bwMode="auto">
          <a:xfrm>
            <a:off x="2119313" y="2686050"/>
            <a:ext cx="1747837" cy="2155825"/>
            <a:chOff x="2119627" y="2413351"/>
            <a:chExt cx="1748112" cy="2155806"/>
          </a:xfrm>
        </p:grpSpPr>
        <p:grpSp>
          <p:nvGrpSpPr>
            <p:cNvPr id="44069" name="Group 56"/>
            <p:cNvGrpSpPr>
              <a:grpSpLocks/>
            </p:cNvGrpSpPr>
            <p:nvPr/>
          </p:nvGrpSpPr>
          <p:grpSpPr bwMode="auto">
            <a:xfrm>
              <a:off x="3482697" y="2644247"/>
              <a:ext cx="385042" cy="1924910"/>
              <a:chOff x="3482697" y="2644247"/>
              <a:chExt cx="385042" cy="1924910"/>
            </a:xfrm>
          </p:grpSpPr>
          <p:sp>
            <p:nvSpPr>
              <p:cNvPr id="44075" name="Text Box 19"/>
              <p:cNvSpPr txBox="1">
                <a:spLocks noChangeArrowheads="1"/>
              </p:cNvSpPr>
              <p:nvPr/>
            </p:nvSpPr>
            <p:spPr bwMode="auto">
              <a:xfrm>
                <a:off x="3482697" y="4199825"/>
                <a:ext cx="38504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x</a:t>
                </a:r>
                <a:r>
                  <a:rPr lang="en-US" altLang="en-US" sz="1800" baseline="-25000"/>
                  <a:t>3</a:t>
                </a:r>
              </a:p>
            </p:txBody>
          </p:sp>
          <p:cxnSp>
            <p:nvCxnSpPr>
              <p:cNvPr id="44076" name="Straight Connector 42"/>
              <p:cNvCxnSpPr>
                <a:cxnSpLocks noChangeShapeType="1"/>
              </p:cNvCxnSpPr>
              <p:nvPr/>
            </p:nvCxnSpPr>
            <p:spPr bwMode="auto">
              <a:xfrm rot="16200000" flipH="1">
                <a:off x="2853977" y="3458756"/>
                <a:ext cx="1633732" cy="4713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4070" name="Group 57"/>
            <p:cNvGrpSpPr>
              <a:grpSpLocks/>
            </p:cNvGrpSpPr>
            <p:nvPr/>
          </p:nvGrpSpPr>
          <p:grpSpPr bwMode="auto">
            <a:xfrm>
              <a:off x="2119627" y="2413351"/>
              <a:ext cx="1591795" cy="369332"/>
              <a:chOff x="2119627" y="2413351"/>
              <a:chExt cx="1591795" cy="369332"/>
            </a:xfrm>
          </p:grpSpPr>
          <p:sp>
            <p:nvSpPr>
              <p:cNvPr id="44071" name="Oval 24"/>
              <p:cNvSpPr>
                <a:spLocks noChangeArrowheads="1"/>
              </p:cNvSpPr>
              <p:nvPr/>
            </p:nvSpPr>
            <p:spPr bwMode="auto">
              <a:xfrm>
                <a:off x="3635222" y="2588504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44072" name="Group 53"/>
              <p:cNvGrpSpPr>
                <a:grpSpLocks/>
              </p:cNvGrpSpPr>
              <p:nvPr/>
            </p:nvGrpSpPr>
            <p:grpSpPr bwMode="auto">
              <a:xfrm>
                <a:off x="2119627" y="2413351"/>
                <a:ext cx="1545404" cy="369332"/>
                <a:chOff x="2119627" y="2413351"/>
                <a:chExt cx="1545404" cy="369332"/>
              </a:xfrm>
            </p:grpSpPr>
            <p:sp>
              <p:nvSpPr>
                <p:cNvPr id="4407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19627" y="2413351"/>
                  <a:ext cx="38504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/>
                    <a:t>y</a:t>
                  </a:r>
                  <a:r>
                    <a:rPr lang="en-US" altLang="en-US" sz="1800" baseline="-25000"/>
                    <a:t>3</a:t>
                  </a:r>
                </a:p>
              </p:txBody>
            </p:sp>
            <p:cxnSp>
              <p:nvCxnSpPr>
                <p:cNvPr id="44074" name="Straight Connector 48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2467430" y="2618847"/>
                  <a:ext cx="1197601" cy="11261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14" name="Group 73"/>
          <p:cNvGrpSpPr>
            <a:grpSpLocks/>
          </p:cNvGrpSpPr>
          <p:nvPr/>
        </p:nvGrpSpPr>
        <p:grpSpPr bwMode="auto">
          <a:xfrm>
            <a:off x="2449513" y="3173413"/>
            <a:ext cx="1174750" cy="1371600"/>
            <a:chOff x="2450096" y="3173673"/>
            <a:chExt cx="1174847" cy="1371600"/>
          </a:xfrm>
        </p:grpSpPr>
        <p:sp>
          <p:nvSpPr>
            <p:cNvPr id="44067" name="Line 10"/>
            <p:cNvSpPr>
              <a:spLocks noChangeShapeType="1"/>
            </p:cNvSpPr>
            <p:nvPr/>
          </p:nvSpPr>
          <p:spPr bwMode="auto">
            <a:xfrm>
              <a:off x="2481943" y="3173673"/>
              <a:ext cx="1143000" cy="13716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68" name="Text Box 28"/>
            <p:cNvSpPr txBox="1">
              <a:spLocks noChangeArrowheads="1"/>
            </p:cNvSpPr>
            <p:nvPr/>
          </p:nvSpPr>
          <p:spPr bwMode="auto">
            <a:xfrm>
              <a:off x="2450096" y="3342709"/>
              <a:ext cx="33374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I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1</a:t>
              </a:r>
            </a:p>
          </p:txBody>
        </p:sp>
      </p:grpSp>
      <p:grpSp>
        <p:nvGrpSpPr>
          <p:cNvPr id="15" name="Group 72"/>
          <p:cNvGrpSpPr>
            <a:grpSpLocks/>
          </p:cNvGrpSpPr>
          <p:nvPr/>
        </p:nvGrpSpPr>
        <p:grpSpPr bwMode="auto">
          <a:xfrm>
            <a:off x="2505075" y="2062163"/>
            <a:ext cx="1874838" cy="2482850"/>
            <a:chOff x="2504523" y="2061823"/>
            <a:chExt cx="1875207" cy="2483450"/>
          </a:xfrm>
        </p:grpSpPr>
        <p:sp>
          <p:nvSpPr>
            <p:cNvPr id="44065" name="Line 21"/>
            <p:cNvSpPr>
              <a:spLocks noChangeShapeType="1"/>
            </p:cNvSpPr>
            <p:nvPr/>
          </p:nvSpPr>
          <p:spPr bwMode="auto">
            <a:xfrm>
              <a:off x="2507343" y="2391229"/>
              <a:ext cx="1872387" cy="215404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4066" name="Text Box 28"/>
            <p:cNvSpPr txBox="1">
              <a:spLocks noChangeArrowheads="1"/>
            </p:cNvSpPr>
            <p:nvPr/>
          </p:nvSpPr>
          <p:spPr bwMode="auto">
            <a:xfrm>
              <a:off x="2504523" y="2061823"/>
              <a:ext cx="33374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I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2</a:t>
              </a:r>
            </a:p>
          </p:txBody>
        </p:sp>
      </p:grpSp>
      <p:grpSp>
        <p:nvGrpSpPr>
          <p:cNvPr id="16" name="Group 60"/>
          <p:cNvGrpSpPr>
            <a:grpSpLocks/>
          </p:cNvGrpSpPr>
          <p:nvPr/>
        </p:nvGrpSpPr>
        <p:grpSpPr bwMode="auto">
          <a:xfrm>
            <a:off x="2119313" y="3571875"/>
            <a:ext cx="1042987" cy="1270000"/>
            <a:chOff x="2119627" y="3299347"/>
            <a:chExt cx="1043458" cy="1269810"/>
          </a:xfrm>
        </p:grpSpPr>
        <p:grpSp>
          <p:nvGrpSpPr>
            <p:cNvPr id="44057" name="Group 54"/>
            <p:cNvGrpSpPr>
              <a:grpSpLocks/>
            </p:cNvGrpSpPr>
            <p:nvPr/>
          </p:nvGrpSpPr>
          <p:grpSpPr bwMode="auto">
            <a:xfrm>
              <a:off x="2778043" y="3474723"/>
              <a:ext cx="385042" cy="1094434"/>
              <a:chOff x="2778043" y="3474723"/>
              <a:chExt cx="385042" cy="1094434"/>
            </a:xfrm>
          </p:grpSpPr>
          <p:sp>
            <p:nvSpPr>
              <p:cNvPr id="44063" name="Text Box 19"/>
              <p:cNvSpPr txBox="1">
                <a:spLocks noChangeArrowheads="1"/>
              </p:cNvSpPr>
              <p:nvPr/>
            </p:nvSpPr>
            <p:spPr bwMode="auto">
              <a:xfrm>
                <a:off x="2778043" y="4199825"/>
                <a:ext cx="38504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x</a:t>
                </a:r>
                <a:r>
                  <a:rPr lang="en-US" altLang="en-US" sz="1800" baseline="-25000"/>
                  <a:t>1</a:t>
                </a:r>
              </a:p>
            </p:txBody>
          </p:sp>
          <p:cxnSp>
            <p:nvCxnSpPr>
              <p:cNvPr id="44064" name="Straight Connector 39"/>
              <p:cNvCxnSpPr>
                <a:cxnSpLocks noChangeShapeType="1"/>
              </p:cNvCxnSpPr>
              <p:nvPr/>
            </p:nvCxnSpPr>
            <p:spPr bwMode="auto">
              <a:xfrm rot="16200000" flipH="1">
                <a:off x="2585262" y="3858770"/>
                <a:ext cx="771418" cy="33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4058" name="Group 59"/>
            <p:cNvGrpSpPr>
              <a:grpSpLocks/>
            </p:cNvGrpSpPr>
            <p:nvPr/>
          </p:nvGrpSpPr>
          <p:grpSpPr bwMode="auto">
            <a:xfrm>
              <a:off x="2119627" y="3299347"/>
              <a:ext cx="889066" cy="369332"/>
              <a:chOff x="2119627" y="3299347"/>
              <a:chExt cx="889066" cy="369332"/>
            </a:xfrm>
          </p:grpSpPr>
          <p:sp>
            <p:nvSpPr>
              <p:cNvPr id="44059" name="Oval 25"/>
              <p:cNvSpPr>
                <a:spLocks noChangeArrowheads="1"/>
              </p:cNvSpPr>
              <p:nvPr/>
            </p:nvSpPr>
            <p:spPr bwMode="auto">
              <a:xfrm>
                <a:off x="2932493" y="3440598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44060" name="Group 51"/>
              <p:cNvGrpSpPr>
                <a:grpSpLocks/>
              </p:cNvGrpSpPr>
              <p:nvPr/>
            </p:nvGrpSpPr>
            <p:grpSpPr bwMode="auto">
              <a:xfrm>
                <a:off x="2119627" y="3299347"/>
                <a:ext cx="819754" cy="369332"/>
                <a:chOff x="2119627" y="3299347"/>
                <a:chExt cx="819754" cy="369332"/>
              </a:xfrm>
            </p:grpSpPr>
            <p:sp>
              <p:nvSpPr>
                <p:cNvPr id="4406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19627" y="3299347"/>
                  <a:ext cx="38504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/>
                    <a:t>y</a:t>
                  </a:r>
                  <a:r>
                    <a:rPr lang="en-US" altLang="en-US" sz="1800" baseline="-25000"/>
                    <a:t>1</a:t>
                  </a:r>
                </a:p>
              </p:txBody>
            </p:sp>
            <p:cxnSp>
              <p:nvCxnSpPr>
                <p:cNvPr id="44062" name="Straight Connector 46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2467218" y="3494671"/>
                  <a:ext cx="472163" cy="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20" name="Group 61"/>
          <p:cNvGrpSpPr>
            <a:grpSpLocks/>
          </p:cNvGrpSpPr>
          <p:nvPr/>
        </p:nvGrpSpPr>
        <p:grpSpPr bwMode="auto">
          <a:xfrm>
            <a:off x="2122488" y="3114675"/>
            <a:ext cx="1406525" cy="1727200"/>
            <a:chOff x="2123256" y="2841561"/>
            <a:chExt cx="1405040" cy="1727596"/>
          </a:xfrm>
        </p:grpSpPr>
        <p:grpSp>
          <p:nvGrpSpPr>
            <p:cNvPr id="44049" name="Group 55"/>
            <p:cNvGrpSpPr>
              <a:grpSpLocks/>
            </p:cNvGrpSpPr>
            <p:nvPr/>
          </p:nvGrpSpPr>
          <p:grpSpPr bwMode="auto">
            <a:xfrm>
              <a:off x="3143254" y="3072420"/>
              <a:ext cx="385042" cy="1496737"/>
              <a:chOff x="3143254" y="3072420"/>
              <a:chExt cx="385042" cy="1496737"/>
            </a:xfrm>
          </p:grpSpPr>
          <p:sp>
            <p:nvSpPr>
              <p:cNvPr id="44055" name="Text Box 19"/>
              <p:cNvSpPr txBox="1">
                <a:spLocks noChangeArrowheads="1"/>
              </p:cNvSpPr>
              <p:nvPr/>
            </p:nvSpPr>
            <p:spPr bwMode="auto">
              <a:xfrm>
                <a:off x="3143254" y="4199825"/>
                <a:ext cx="38504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x</a:t>
                </a:r>
                <a:r>
                  <a:rPr lang="en-US" altLang="en-US" sz="1800" baseline="-25000"/>
                  <a:t>2</a:t>
                </a:r>
              </a:p>
            </p:txBody>
          </p:sp>
          <p:cxnSp>
            <p:nvCxnSpPr>
              <p:cNvPr id="44056" name="Straight Connector 41"/>
              <p:cNvCxnSpPr>
                <a:cxnSpLocks noChangeShapeType="1"/>
              </p:cNvCxnSpPr>
              <p:nvPr/>
            </p:nvCxnSpPr>
            <p:spPr bwMode="auto">
              <a:xfrm rot="16200000" flipH="1">
                <a:off x="2743813" y="3659656"/>
                <a:ext cx="1179815" cy="534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4050" name="Group 58"/>
            <p:cNvGrpSpPr>
              <a:grpSpLocks/>
            </p:cNvGrpSpPr>
            <p:nvPr/>
          </p:nvGrpSpPr>
          <p:grpSpPr bwMode="auto">
            <a:xfrm>
              <a:off x="2123256" y="2841561"/>
              <a:ext cx="1240430" cy="369332"/>
              <a:chOff x="2123256" y="2841561"/>
              <a:chExt cx="1240430" cy="369332"/>
            </a:xfrm>
          </p:grpSpPr>
          <p:sp>
            <p:nvSpPr>
              <p:cNvPr id="44051" name="Oval 18"/>
              <p:cNvSpPr>
                <a:spLocks noChangeArrowheads="1"/>
              </p:cNvSpPr>
              <p:nvPr/>
            </p:nvSpPr>
            <p:spPr bwMode="auto">
              <a:xfrm>
                <a:off x="3287486" y="3009405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44052" name="Group 52"/>
              <p:cNvGrpSpPr>
                <a:grpSpLocks/>
              </p:cNvGrpSpPr>
              <p:nvPr/>
            </p:nvGrpSpPr>
            <p:grpSpPr bwMode="auto">
              <a:xfrm>
                <a:off x="2123256" y="2841561"/>
                <a:ext cx="1153346" cy="369332"/>
                <a:chOff x="2123256" y="2841561"/>
                <a:chExt cx="1153346" cy="369332"/>
              </a:xfrm>
            </p:grpSpPr>
            <p:sp>
              <p:nvSpPr>
                <p:cNvPr id="44053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23256" y="2841561"/>
                  <a:ext cx="38504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/>
                    <a:t>y</a:t>
                  </a:r>
                  <a:r>
                    <a:rPr lang="en-US" altLang="en-US" sz="1800" baseline="-25000"/>
                    <a:t>2</a:t>
                  </a:r>
                </a:p>
              </p:txBody>
            </p:sp>
            <p:cxnSp>
              <p:nvCxnSpPr>
                <p:cNvPr id="44054" name="Straight Connector 47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2455727" y="3038437"/>
                  <a:ext cx="820875" cy="495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</p:spTree>
    <p:extLst>
      <p:ext uri="{BB962C8B-B14F-4D97-AF65-F5344CB8AC3E}">
        <p14:creationId xmlns:p14="http://schemas.microsoft.com/office/powerpoint/2010/main" val="240725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5.2	An Indifference Curve Map Exhibiting </a:t>
            </a:r>
            <a:r>
              <a:rPr lang="en-US" altLang="en-US" dirty="0" smtClean="0"/>
              <a:t>		</a:t>
            </a:r>
            <a:r>
              <a:rPr lang="en-US" altLang="en-US" dirty="0" smtClean="0">
                <a:solidFill>
                  <a:srgbClr val="002D56"/>
                </a:solidFill>
              </a:rPr>
              <a:t>Inferiority</a:t>
            </a:r>
          </a:p>
        </p:txBody>
      </p:sp>
      <p:sp>
        <p:nvSpPr>
          <p:cNvPr id="45059" name="Text Placeholder 2"/>
          <p:cNvSpPr>
            <a:spLocks noGrp="1"/>
          </p:cNvSpPr>
          <p:nvPr>
            <p:ph sz="half" idx="1"/>
          </p:nvPr>
        </p:nvSpPr>
        <p:spPr>
          <a:xfrm>
            <a:off x="292429" y="5029200"/>
            <a:ext cx="8559143" cy="1192248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In this diagram, good z is inferior because the quantity purchased decreases as income increases. Here, y is a normal good (as it must be if there are only two goods available), and purchases of y increase as total expenditures </a:t>
            </a:r>
            <a:r>
              <a:rPr lang="en-US" altLang="en-US" dirty="0" smtClean="0"/>
              <a:t>increase</a:t>
            </a:r>
            <a:r>
              <a:rPr lang="en-US" altLang="en-US" dirty="0"/>
              <a:t>.</a:t>
            </a:r>
          </a:p>
        </p:txBody>
      </p:sp>
      <p:sp>
        <p:nvSpPr>
          <p:cNvPr id="45061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8" name="Slide Number Placeholder 5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55DC15-79DD-4520-92F9-8474FB540D4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882650" y="1328738"/>
            <a:ext cx="6680200" cy="3432175"/>
            <a:chOff x="881990" y="1055914"/>
            <a:chExt cx="6680295" cy="3431857"/>
          </a:xfrm>
        </p:grpSpPr>
        <p:grpSp>
          <p:nvGrpSpPr>
            <p:cNvPr id="45109" name="Group 29"/>
            <p:cNvGrpSpPr>
              <a:grpSpLocks/>
            </p:cNvGrpSpPr>
            <p:nvPr/>
          </p:nvGrpSpPr>
          <p:grpSpPr bwMode="auto">
            <a:xfrm>
              <a:off x="2481943" y="4118439"/>
              <a:ext cx="5080342" cy="369332"/>
              <a:chOff x="2481943" y="4118439"/>
              <a:chExt cx="5080342" cy="369332"/>
            </a:xfrm>
          </p:grpSpPr>
          <p:sp>
            <p:nvSpPr>
              <p:cNvPr id="45113" name="Line 5"/>
              <p:cNvSpPr>
                <a:spLocks noChangeShapeType="1"/>
              </p:cNvSpPr>
              <p:nvPr/>
            </p:nvSpPr>
            <p:spPr bwMode="auto">
              <a:xfrm>
                <a:off x="2481943" y="4272148"/>
                <a:ext cx="3505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5114" name="Text Box 6"/>
              <p:cNvSpPr txBox="1">
                <a:spLocks noChangeArrowheads="1"/>
              </p:cNvSpPr>
              <p:nvPr/>
            </p:nvSpPr>
            <p:spPr bwMode="auto">
              <a:xfrm>
                <a:off x="6082393" y="4118439"/>
                <a:ext cx="147989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z</a:t>
                </a:r>
              </a:p>
            </p:txBody>
          </p:sp>
        </p:grpSp>
        <p:grpSp>
          <p:nvGrpSpPr>
            <p:cNvPr id="45110" name="Group 28"/>
            <p:cNvGrpSpPr>
              <a:grpSpLocks/>
            </p:cNvGrpSpPr>
            <p:nvPr/>
          </p:nvGrpSpPr>
          <p:grpSpPr bwMode="auto">
            <a:xfrm>
              <a:off x="881990" y="1055914"/>
              <a:ext cx="1611828" cy="3216233"/>
              <a:chOff x="881990" y="1055914"/>
              <a:chExt cx="1611828" cy="3216233"/>
            </a:xfrm>
          </p:grpSpPr>
          <p:sp>
            <p:nvSpPr>
              <p:cNvPr id="45111" name="Line 4"/>
              <p:cNvSpPr>
                <a:spLocks noChangeShapeType="1"/>
              </p:cNvSpPr>
              <p:nvPr/>
            </p:nvSpPr>
            <p:spPr bwMode="auto">
              <a:xfrm flipH="1">
                <a:off x="2481943" y="1068786"/>
                <a:ext cx="11875" cy="320336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5112" name="Text Box 7"/>
              <p:cNvSpPr txBox="1">
                <a:spLocks noChangeArrowheads="1"/>
              </p:cNvSpPr>
              <p:nvPr/>
            </p:nvSpPr>
            <p:spPr bwMode="auto">
              <a:xfrm>
                <a:off x="881990" y="1055914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y</a:t>
                </a:r>
                <a:endParaRPr lang="en-US" altLang="en-US" sz="1800"/>
              </a:p>
            </p:txBody>
          </p:sp>
        </p:grp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2470150" y="1484313"/>
            <a:ext cx="3330575" cy="3054350"/>
            <a:chOff x="2470067" y="1484416"/>
            <a:chExt cx="3330231" cy="3053465"/>
          </a:xfrm>
        </p:grpSpPr>
        <p:sp>
          <p:nvSpPr>
            <p:cNvPr id="45107" name="Line 14"/>
            <p:cNvSpPr>
              <a:spLocks noChangeShapeType="1"/>
            </p:cNvSpPr>
            <p:nvPr/>
          </p:nvSpPr>
          <p:spPr bwMode="auto">
            <a:xfrm>
              <a:off x="2470067" y="1484416"/>
              <a:ext cx="3330231" cy="305346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108" name="Text Box 28"/>
            <p:cNvSpPr txBox="1">
              <a:spLocks noChangeArrowheads="1"/>
            </p:cNvSpPr>
            <p:nvPr/>
          </p:nvSpPr>
          <p:spPr bwMode="auto">
            <a:xfrm>
              <a:off x="4552018" y="3063309"/>
              <a:ext cx="33374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I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3</a:t>
              </a:r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2449513" y="3173413"/>
            <a:ext cx="1665287" cy="1344612"/>
            <a:chOff x="2450096" y="3173673"/>
            <a:chExt cx="1664703" cy="1343736"/>
          </a:xfrm>
        </p:grpSpPr>
        <p:sp>
          <p:nvSpPr>
            <p:cNvPr id="45105" name="Line 10"/>
            <p:cNvSpPr>
              <a:spLocks noChangeShapeType="1"/>
            </p:cNvSpPr>
            <p:nvPr/>
          </p:nvSpPr>
          <p:spPr bwMode="auto">
            <a:xfrm>
              <a:off x="2481942" y="3173673"/>
              <a:ext cx="1632857" cy="134373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106" name="Text Box 28"/>
            <p:cNvSpPr txBox="1">
              <a:spLocks noChangeArrowheads="1"/>
            </p:cNvSpPr>
            <p:nvPr/>
          </p:nvSpPr>
          <p:spPr bwMode="auto">
            <a:xfrm>
              <a:off x="2450096" y="3342709"/>
              <a:ext cx="33374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I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1</a:t>
              </a:r>
            </a:p>
          </p:txBody>
        </p:sp>
      </p:grp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2505075" y="2062163"/>
            <a:ext cx="2470150" cy="2468562"/>
            <a:chOff x="2504523" y="2061823"/>
            <a:chExt cx="2470086" cy="2469234"/>
          </a:xfrm>
        </p:grpSpPr>
        <p:sp>
          <p:nvSpPr>
            <p:cNvPr id="45103" name="Line 21"/>
            <p:cNvSpPr>
              <a:spLocks noChangeShapeType="1"/>
            </p:cNvSpPr>
            <p:nvPr/>
          </p:nvSpPr>
          <p:spPr bwMode="auto">
            <a:xfrm>
              <a:off x="2507343" y="2391229"/>
              <a:ext cx="2467266" cy="213982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104" name="Text Box 28"/>
            <p:cNvSpPr txBox="1">
              <a:spLocks noChangeArrowheads="1"/>
            </p:cNvSpPr>
            <p:nvPr/>
          </p:nvSpPr>
          <p:spPr bwMode="auto">
            <a:xfrm>
              <a:off x="2504523" y="2061823"/>
              <a:ext cx="33374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I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2</a:t>
              </a:r>
            </a:p>
          </p:txBody>
        </p:sp>
      </p:grpSp>
      <p:grpSp>
        <p:nvGrpSpPr>
          <p:cNvPr id="9" name="Group 59"/>
          <p:cNvGrpSpPr>
            <a:grpSpLocks/>
          </p:cNvGrpSpPr>
          <p:nvPr/>
        </p:nvGrpSpPr>
        <p:grpSpPr bwMode="auto">
          <a:xfrm>
            <a:off x="2695575" y="1385888"/>
            <a:ext cx="4225925" cy="1470025"/>
            <a:chOff x="2838734" y="1678676"/>
            <a:chExt cx="4225898" cy="1470385"/>
          </a:xfrm>
        </p:grpSpPr>
        <p:sp>
          <p:nvSpPr>
            <p:cNvPr id="45101" name="Text Box 28"/>
            <p:cNvSpPr txBox="1">
              <a:spLocks noChangeArrowheads="1"/>
            </p:cNvSpPr>
            <p:nvPr/>
          </p:nvSpPr>
          <p:spPr bwMode="auto">
            <a:xfrm>
              <a:off x="6628294" y="2779729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45102" name="Freeform 58"/>
            <p:cNvSpPr>
              <a:spLocks/>
            </p:cNvSpPr>
            <p:nvPr/>
          </p:nvSpPr>
          <p:spPr bwMode="auto">
            <a:xfrm>
              <a:off x="2838734" y="1678676"/>
              <a:ext cx="3725839" cy="1378424"/>
            </a:xfrm>
            <a:custGeom>
              <a:avLst/>
              <a:gdLst>
                <a:gd name="T0" fmla="*/ 0 w 3725839"/>
                <a:gd name="T1" fmla="*/ 0 h 1378424"/>
                <a:gd name="T2" fmla="*/ 3725839 w 3725839"/>
                <a:gd name="T3" fmla="*/ 1378424 h 1378424"/>
                <a:gd name="T4" fmla="*/ 0 60000 65536"/>
                <a:gd name="T5" fmla="*/ 0 60000 65536"/>
                <a:gd name="T6" fmla="*/ 0 w 3725839"/>
                <a:gd name="T7" fmla="*/ 0 h 1378424"/>
                <a:gd name="T8" fmla="*/ 3725839 w 3725839"/>
                <a:gd name="T9" fmla="*/ 1378424 h 13784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25839" h="1378424">
                  <a:moveTo>
                    <a:pt x="0" y="0"/>
                  </a:moveTo>
                  <a:cubicBezTo>
                    <a:pt x="245660" y="882555"/>
                    <a:pt x="1119116" y="1342030"/>
                    <a:pt x="3725839" y="1378424"/>
                  </a:cubicBezTo>
                </a:path>
              </a:pathLst>
            </a:cu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62"/>
          <p:cNvGrpSpPr>
            <a:grpSpLocks/>
          </p:cNvGrpSpPr>
          <p:nvPr/>
        </p:nvGrpSpPr>
        <p:grpSpPr bwMode="auto">
          <a:xfrm>
            <a:off x="2984500" y="2465388"/>
            <a:ext cx="4219575" cy="1450975"/>
            <a:chOff x="2845558" y="1699148"/>
            <a:chExt cx="4219074" cy="1449913"/>
          </a:xfrm>
        </p:grpSpPr>
        <p:sp>
          <p:nvSpPr>
            <p:cNvPr id="45099" name="Text Box 28"/>
            <p:cNvSpPr txBox="1">
              <a:spLocks noChangeArrowheads="1"/>
            </p:cNvSpPr>
            <p:nvPr/>
          </p:nvSpPr>
          <p:spPr bwMode="auto">
            <a:xfrm>
              <a:off x="6628294" y="2779729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45100" name="Freeform 64"/>
            <p:cNvSpPr>
              <a:spLocks/>
            </p:cNvSpPr>
            <p:nvPr/>
          </p:nvSpPr>
          <p:spPr bwMode="auto">
            <a:xfrm>
              <a:off x="2845558" y="1699148"/>
              <a:ext cx="3725839" cy="1378424"/>
            </a:xfrm>
            <a:custGeom>
              <a:avLst/>
              <a:gdLst>
                <a:gd name="T0" fmla="*/ 0 w 3725839"/>
                <a:gd name="T1" fmla="*/ 0 h 1378424"/>
                <a:gd name="T2" fmla="*/ 3725839 w 3725839"/>
                <a:gd name="T3" fmla="*/ 1378424 h 1378424"/>
                <a:gd name="T4" fmla="*/ 0 60000 65536"/>
                <a:gd name="T5" fmla="*/ 0 60000 65536"/>
                <a:gd name="T6" fmla="*/ 0 w 3725839"/>
                <a:gd name="T7" fmla="*/ 0 h 1378424"/>
                <a:gd name="T8" fmla="*/ 3725839 w 3725839"/>
                <a:gd name="T9" fmla="*/ 1378424 h 13784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25839" h="1378424">
                  <a:moveTo>
                    <a:pt x="0" y="0"/>
                  </a:moveTo>
                  <a:cubicBezTo>
                    <a:pt x="245660" y="882555"/>
                    <a:pt x="1119116" y="1342030"/>
                    <a:pt x="3725839" y="1378424"/>
                  </a:cubicBezTo>
                </a:path>
              </a:pathLst>
            </a:cu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" name="Group 49"/>
          <p:cNvGrpSpPr>
            <a:grpSpLocks/>
          </p:cNvGrpSpPr>
          <p:nvPr/>
        </p:nvGrpSpPr>
        <p:grpSpPr bwMode="auto">
          <a:xfrm>
            <a:off x="2122488" y="2957513"/>
            <a:ext cx="1514475" cy="1884362"/>
            <a:chOff x="2123256" y="2684609"/>
            <a:chExt cx="1514224" cy="1884548"/>
          </a:xfrm>
        </p:grpSpPr>
        <p:grpSp>
          <p:nvGrpSpPr>
            <p:cNvPr id="45091" name="Group 55"/>
            <p:cNvGrpSpPr>
              <a:grpSpLocks/>
            </p:cNvGrpSpPr>
            <p:nvPr/>
          </p:nvGrpSpPr>
          <p:grpSpPr bwMode="auto">
            <a:xfrm>
              <a:off x="3252438" y="2913629"/>
              <a:ext cx="385042" cy="1655528"/>
              <a:chOff x="3252438" y="2913629"/>
              <a:chExt cx="385042" cy="1655528"/>
            </a:xfrm>
          </p:grpSpPr>
          <p:sp>
            <p:nvSpPr>
              <p:cNvPr id="45097" name="Text Box 19"/>
              <p:cNvSpPr txBox="1">
                <a:spLocks noChangeArrowheads="1"/>
              </p:cNvSpPr>
              <p:nvPr/>
            </p:nvSpPr>
            <p:spPr bwMode="auto">
              <a:xfrm>
                <a:off x="3252438" y="4199825"/>
                <a:ext cx="38504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z</a:t>
                </a:r>
                <a:r>
                  <a:rPr lang="en-US" altLang="en-US" sz="1800" baseline="-25000"/>
                  <a:t>2</a:t>
                </a:r>
              </a:p>
            </p:txBody>
          </p:sp>
          <p:cxnSp>
            <p:nvCxnSpPr>
              <p:cNvPr id="45098" name="Straight Connector 57"/>
              <p:cNvCxnSpPr>
                <a:cxnSpLocks noChangeShapeType="1"/>
              </p:cNvCxnSpPr>
              <p:nvPr/>
            </p:nvCxnSpPr>
            <p:spPr bwMode="auto">
              <a:xfrm rot="16200000" flipH="1">
                <a:off x="2704867" y="3579764"/>
                <a:ext cx="1338605" cy="6336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5092" name="Group 58"/>
            <p:cNvGrpSpPr>
              <a:grpSpLocks/>
            </p:cNvGrpSpPr>
            <p:nvPr/>
          </p:nvGrpSpPr>
          <p:grpSpPr bwMode="auto">
            <a:xfrm>
              <a:off x="2123256" y="2684609"/>
              <a:ext cx="1295022" cy="369332"/>
              <a:chOff x="2123256" y="2684609"/>
              <a:chExt cx="1295022" cy="369332"/>
            </a:xfrm>
          </p:grpSpPr>
          <p:sp>
            <p:nvSpPr>
              <p:cNvPr id="45093" name="Oval 18"/>
              <p:cNvSpPr>
                <a:spLocks noChangeArrowheads="1"/>
              </p:cNvSpPr>
              <p:nvPr/>
            </p:nvSpPr>
            <p:spPr bwMode="auto">
              <a:xfrm>
                <a:off x="3342078" y="2825157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45094" name="Group 52"/>
              <p:cNvGrpSpPr>
                <a:grpSpLocks/>
              </p:cNvGrpSpPr>
              <p:nvPr/>
            </p:nvGrpSpPr>
            <p:grpSpPr bwMode="auto">
              <a:xfrm>
                <a:off x="2123256" y="2684609"/>
                <a:ext cx="1247741" cy="369332"/>
                <a:chOff x="2123256" y="2684609"/>
                <a:chExt cx="1247741" cy="369332"/>
              </a:xfrm>
            </p:grpSpPr>
            <p:sp>
              <p:nvSpPr>
                <p:cNvPr id="45095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23256" y="2684609"/>
                  <a:ext cx="38504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/>
                    <a:t>y</a:t>
                  </a:r>
                  <a:r>
                    <a:rPr lang="en-US" altLang="en-US" sz="1800" baseline="-25000"/>
                    <a:t>2</a:t>
                  </a:r>
                </a:p>
              </p:txBody>
            </p:sp>
            <p:cxnSp>
              <p:nvCxnSpPr>
                <p:cNvPr id="45096" name="Straight Connector 47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2481943" y="2852210"/>
                  <a:ext cx="889054" cy="571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15" name="Group 25"/>
          <p:cNvGrpSpPr>
            <a:grpSpLocks/>
          </p:cNvGrpSpPr>
          <p:nvPr/>
        </p:nvGrpSpPr>
        <p:grpSpPr bwMode="auto">
          <a:xfrm>
            <a:off x="2130425" y="1843088"/>
            <a:ext cx="1163638" cy="2998787"/>
            <a:chOff x="2130260" y="1570678"/>
            <a:chExt cx="1164263" cy="2998479"/>
          </a:xfrm>
        </p:grpSpPr>
        <p:grpSp>
          <p:nvGrpSpPr>
            <p:cNvPr id="45083" name="Group 56"/>
            <p:cNvGrpSpPr>
              <a:grpSpLocks/>
            </p:cNvGrpSpPr>
            <p:nvPr/>
          </p:nvGrpSpPr>
          <p:grpSpPr bwMode="auto">
            <a:xfrm>
              <a:off x="2909481" y="1708207"/>
              <a:ext cx="385042" cy="2860950"/>
              <a:chOff x="2909481" y="1708207"/>
              <a:chExt cx="385042" cy="2860950"/>
            </a:xfrm>
          </p:grpSpPr>
          <p:sp>
            <p:nvSpPr>
              <p:cNvPr id="45089" name="Text Box 19"/>
              <p:cNvSpPr txBox="1">
                <a:spLocks noChangeArrowheads="1"/>
              </p:cNvSpPr>
              <p:nvPr/>
            </p:nvSpPr>
            <p:spPr bwMode="auto">
              <a:xfrm>
                <a:off x="2909481" y="4199825"/>
                <a:ext cx="38504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z</a:t>
                </a:r>
                <a:r>
                  <a:rPr lang="en-US" altLang="en-US" sz="1800" baseline="-25000"/>
                  <a:t>3</a:t>
                </a:r>
              </a:p>
            </p:txBody>
          </p:sp>
          <p:cxnSp>
            <p:nvCxnSpPr>
              <p:cNvPr id="45090" name="Straight Connector 33"/>
              <p:cNvCxnSpPr>
                <a:cxnSpLocks noChangeShapeType="1"/>
              </p:cNvCxnSpPr>
              <p:nvPr/>
            </p:nvCxnSpPr>
            <p:spPr bwMode="auto">
              <a:xfrm rot="-5400000" flipH="1" flipV="1">
                <a:off x="1801516" y="2999860"/>
                <a:ext cx="2583419" cy="113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5084" name="Group 57"/>
            <p:cNvGrpSpPr>
              <a:grpSpLocks/>
            </p:cNvGrpSpPr>
            <p:nvPr/>
          </p:nvGrpSpPr>
          <p:grpSpPr bwMode="auto">
            <a:xfrm>
              <a:off x="2130260" y="1570678"/>
              <a:ext cx="1001122" cy="369332"/>
              <a:chOff x="2130260" y="1570678"/>
              <a:chExt cx="1001122" cy="369332"/>
            </a:xfrm>
          </p:grpSpPr>
          <p:sp>
            <p:nvSpPr>
              <p:cNvPr id="45085" name="Oval 24"/>
              <p:cNvSpPr>
                <a:spLocks noChangeArrowheads="1"/>
              </p:cNvSpPr>
              <p:nvPr/>
            </p:nvSpPr>
            <p:spPr bwMode="auto">
              <a:xfrm>
                <a:off x="3055182" y="1723054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45086" name="Group 53"/>
              <p:cNvGrpSpPr>
                <a:grpSpLocks/>
              </p:cNvGrpSpPr>
              <p:nvPr/>
            </p:nvGrpSpPr>
            <p:grpSpPr bwMode="auto">
              <a:xfrm>
                <a:off x="2130260" y="1570678"/>
                <a:ext cx="988862" cy="369332"/>
                <a:chOff x="2130260" y="1570678"/>
                <a:chExt cx="988862" cy="369332"/>
              </a:xfrm>
            </p:grpSpPr>
            <p:sp>
              <p:nvSpPr>
                <p:cNvPr id="45087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30260" y="1570678"/>
                  <a:ext cx="38504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/>
                    <a:t>y</a:t>
                  </a:r>
                  <a:r>
                    <a:rPr lang="en-US" altLang="en-US" sz="1800" baseline="-25000"/>
                    <a:t>3</a:t>
                  </a:r>
                </a:p>
              </p:txBody>
            </p:sp>
            <p:cxnSp>
              <p:nvCxnSpPr>
                <p:cNvPr id="45088" name="Straight Connector 31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2477387" y="1773338"/>
                  <a:ext cx="641735" cy="1359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19" name="Group 67"/>
          <p:cNvGrpSpPr>
            <a:grpSpLocks/>
          </p:cNvGrpSpPr>
          <p:nvPr/>
        </p:nvGrpSpPr>
        <p:grpSpPr bwMode="auto">
          <a:xfrm>
            <a:off x="3395663" y="3784600"/>
            <a:ext cx="2936772" cy="776288"/>
            <a:chOff x="2879677" y="1856097"/>
            <a:chExt cx="2936082" cy="910615"/>
          </a:xfrm>
        </p:grpSpPr>
        <p:sp>
          <p:nvSpPr>
            <p:cNvPr id="45081" name="Text Box 28"/>
            <p:cNvSpPr txBox="1">
              <a:spLocks noChangeArrowheads="1"/>
            </p:cNvSpPr>
            <p:nvPr/>
          </p:nvSpPr>
          <p:spPr bwMode="auto">
            <a:xfrm>
              <a:off x="5379524" y="2258905"/>
              <a:ext cx="436235" cy="43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45082" name="Freeform 69"/>
            <p:cNvSpPr>
              <a:spLocks/>
            </p:cNvSpPr>
            <p:nvPr/>
          </p:nvSpPr>
          <p:spPr bwMode="auto">
            <a:xfrm>
              <a:off x="2879677" y="1856097"/>
              <a:ext cx="2411105" cy="910615"/>
            </a:xfrm>
            <a:custGeom>
              <a:avLst/>
              <a:gdLst>
                <a:gd name="T0" fmla="*/ 0 w 2752188"/>
                <a:gd name="T1" fmla="*/ 0 h 1696277"/>
                <a:gd name="T2" fmla="*/ 1850513 w 2752188"/>
                <a:gd name="T3" fmla="*/ 210944 h 1696277"/>
                <a:gd name="T4" fmla="*/ 0 60000 65536"/>
                <a:gd name="T5" fmla="*/ 0 60000 65536"/>
                <a:gd name="T6" fmla="*/ 0 w 2752188"/>
                <a:gd name="T7" fmla="*/ 0 h 1696277"/>
                <a:gd name="T8" fmla="*/ 2752188 w 2752188"/>
                <a:gd name="T9" fmla="*/ 1696277 h 169627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52188" h="1696277">
                  <a:moveTo>
                    <a:pt x="0" y="0"/>
                  </a:moveTo>
                  <a:cubicBezTo>
                    <a:pt x="432602" y="1696277"/>
                    <a:pt x="1703308" y="1371889"/>
                    <a:pt x="2752188" y="1363495"/>
                  </a:cubicBezTo>
                </a:path>
              </a:pathLst>
            </a:cu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" name="Group 40"/>
          <p:cNvGrpSpPr>
            <a:grpSpLocks/>
          </p:cNvGrpSpPr>
          <p:nvPr/>
        </p:nvGrpSpPr>
        <p:grpSpPr bwMode="auto">
          <a:xfrm>
            <a:off x="2119313" y="3900488"/>
            <a:ext cx="1814512" cy="941387"/>
            <a:chOff x="2119627" y="3626899"/>
            <a:chExt cx="1814570" cy="942258"/>
          </a:xfrm>
        </p:grpSpPr>
        <p:grpSp>
          <p:nvGrpSpPr>
            <p:cNvPr id="45073" name="Group 54"/>
            <p:cNvGrpSpPr>
              <a:grpSpLocks/>
            </p:cNvGrpSpPr>
            <p:nvPr/>
          </p:nvGrpSpPr>
          <p:grpSpPr bwMode="auto">
            <a:xfrm>
              <a:off x="3549155" y="3848500"/>
              <a:ext cx="385042" cy="720657"/>
              <a:chOff x="3549155" y="3848500"/>
              <a:chExt cx="385042" cy="720657"/>
            </a:xfrm>
          </p:grpSpPr>
          <p:sp>
            <p:nvSpPr>
              <p:cNvPr id="45079" name="Text Box 19"/>
              <p:cNvSpPr txBox="1">
                <a:spLocks noChangeArrowheads="1"/>
              </p:cNvSpPr>
              <p:nvPr/>
            </p:nvSpPr>
            <p:spPr bwMode="auto">
              <a:xfrm>
                <a:off x="3549155" y="4199825"/>
                <a:ext cx="38504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z</a:t>
                </a:r>
                <a:r>
                  <a:rPr lang="en-US" altLang="en-US" sz="1800" baseline="-25000"/>
                  <a:t>1</a:t>
                </a:r>
              </a:p>
            </p:txBody>
          </p:sp>
          <p:cxnSp>
            <p:nvCxnSpPr>
              <p:cNvPr id="45080" name="Straight Connector 39"/>
              <p:cNvCxnSpPr>
                <a:cxnSpLocks noChangeShapeType="1"/>
              </p:cNvCxnSpPr>
              <p:nvPr/>
            </p:nvCxnSpPr>
            <p:spPr bwMode="auto">
              <a:xfrm rot="5400000">
                <a:off x="3437024" y="4046037"/>
                <a:ext cx="397642" cy="2567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45074" name="Group 59"/>
            <p:cNvGrpSpPr>
              <a:grpSpLocks/>
            </p:cNvGrpSpPr>
            <p:nvPr/>
          </p:nvGrpSpPr>
          <p:grpSpPr bwMode="auto">
            <a:xfrm>
              <a:off x="2119627" y="3626899"/>
              <a:ext cx="1571454" cy="369332"/>
              <a:chOff x="2119627" y="3626899"/>
              <a:chExt cx="1571454" cy="369332"/>
            </a:xfrm>
          </p:grpSpPr>
          <p:sp>
            <p:nvSpPr>
              <p:cNvPr id="45075" name="Oval 25"/>
              <p:cNvSpPr>
                <a:spLocks noChangeArrowheads="1"/>
              </p:cNvSpPr>
              <p:nvPr/>
            </p:nvSpPr>
            <p:spPr bwMode="auto">
              <a:xfrm>
                <a:off x="3614881" y="3795440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45076" name="Group 51"/>
              <p:cNvGrpSpPr>
                <a:grpSpLocks/>
              </p:cNvGrpSpPr>
              <p:nvPr/>
            </p:nvGrpSpPr>
            <p:grpSpPr bwMode="auto">
              <a:xfrm>
                <a:off x="2119627" y="3626899"/>
                <a:ext cx="1531150" cy="369332"/>
                <a:chOff x="2119627" y="3626899"/>
                <a:chExt cx="1531150" cy="369332"/>
              </a:xfrm>
            </p:grpSpPr>
            <p:sp>
              <p:nvSpPr>
                <p:cNvPr id="45077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19627" y="3626899"/>
                  <a:ext cx="38504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/>
                    <a:t>y</a:t>
                  </a:r>
                  <a:r>
                    <a:rPr lang="en-US" altLang="en-US" sz="1800" baseline="-25000"/>
                    <a:t>1</a:t>
                  </a:r>
                </a:p>
              </p:txBody>
            </p:sp>
            <p:cxnSp>
              <p:nvCxnSpPr>
                <p:cNvPr id="45078" name="Straight Connector 46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2467220" y="3822223"/>
                  <a:ext cx="1183557" cy="581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</p:spTree>
    <p:extLst>
      <p:ext uri="{BB962C8B-B14F-4D97-AF65-F5344CB8AC3E}">
        <p14:creationId xmlns:p14="http://schemas.microsoft.com/office/powerpoint/2010/main" val="214694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Changes in a Good’s Price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 change in the price of a good</a:t>
            </a:r>
          </a:p>
          <a:p>
            <a:pPr lvl="1"/>
            <a:r>
              <a:rPr lang="en-US" altLang="en-US" smtClean="0"/>
              <a:t>Alters the slope of the budget constraint</a:t>
            </a:r>
          </a:p>
          <a:p>
            <a:pPr lvl="1">
              <a:lnSpc>
                <a:spcPct val="110000"/>
              </a:lnSpc>
            </a:pPr>
            <a:r>
              <a:rPr lang="en-US" altLang="en-US" smtClean="0"/>
              <a:t>Changes the </a:t>
            </a:r>
            <a:r>
              <a:rPr lang="en-US" altLang="en-US" i="1" smtClean="0"/>
              <a:t>MRS</a:t>
            </a:r>
            <a:r>
              <a:rPr lang="en-US" altLang="en-US" smtClean="0"/>
              <a:t> at the consumer’s utility-maximizing choices</a:t>
            </a:r>
          </a:p>
          <a:p>
            <a:pPr lvl="1">
              <a:lnSpc>
                <a:spcPct val="110000"/>
              </a:lnSpc>
            </a:pPr>
            <a:r>
              <a:rPr lang="en-US" altLang="en-US" smtClean="0"/>
              <a:t>Two effects come into play</a:t>
            </a:r>
          </a:p>
          <a:p>
            <a:pPr lvl="2"/>
            <a:r>
              <a:rPr lang="en-US" altLang="en-US" smtClean="0"/>
              <a:t>Substitution effect</a:t>
            </a:r>
          </a:p>
          <a:p>
            <a:pPr lvl="2"/>
            <a:r>
              <a:rPr lang="en-US" altLang="en-US" smtClean="0"/>
              <a:t>Income effect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FFB6FC9-E58F-4D05-A506-3AC8E849872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22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Changes in a Good’s Price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Substitution effect of a price change</a:t>
            </a:r>
          </a:p>
          <a:p>
            <a:pPr lvl="1"/>
            <a:r>
              <a:rPr lang="en-US" altLang="en-US" smtClean="0"/>
              <a:t>Even if the individual were to stay on the same indifference curve</a:t>
            </a:r>
          </a:p>
          <a:p>
            <a:pPr lvl="1"/>
            <a:r>
              <a:rPr lang="en-US" altLang="en-US" smtClean="0"/>
              <a:t>Consumption patterns would be allocated so as to equate the MRS to the new price ratio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0E3C65D-1A17-4EB0-B972-554DAC2440C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Changes in a Good’s Price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Income effect of a price change</a:t>
            </a:r>
          </a:p>
          <a:p>
            <a:pPr lvl="1"/>
            <a:r>
              <a:rPr lang="en-US" altLang="en-US" smtClean="0"/>
              <a:t>Arises because a price change necessarily changes an individual’s ‘‘real’’ income</a:t>
            </a:r>
          </a:p>
          <a:p>
            <a:pPr lvl="1"/>
            <a:r>
              <a:rPr lang="en-US" altLang="en-US" smtClean="0"/>
              <a:t>The individual cannot stay on the initial indifference curve and must move to a new one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758189-2CA8-4A85-9AA1-3C2F4D42ECF1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5.3 	Demonstration </a:t>
            </a:r>
            <a:r>
              <a:rPr lang="en-US" altLang="en-US" dirty="0"/>
              <a:t>of </a:t>
            </a:r>
            <a:r>
              <a:rPr lang="en-US" altLang="en-US" dirty="0" smtClean="0"/>
              <a:t>Income and</a:t>
            </a:r>
            <a:r>
              <a:rPr lang="en-US" altLang="en-US" dirty="0"/>
              <a:t> </a:t>
            </a:r>
            <a:r>
              <a:rPr lang="en-US" altLang="en-US" dirty="0" smtClean="0"/>
              <a:t>Substitution 	</a:t>
            </a:r>
            <a:r>
              <a:rPr lang="en-US" altLang="en-US" dirty="0" smtClean="0">
                <a:solidFill>
                  <a:srgbClr val="002D56"/>
                </a:solidFill>
              </a:rPr>
              <a:t>Effects </a:t>
            </a:r>
            <a:r>
              <a:rPr lang="en-US" altLang="en-US" dirty="0">
                <a:solidFill>
                  <a:srgbClr val="002D56"/>
                </a:solidFill>
              </a:rPr>
              <a:t>of a Decrease in the Price of </a:t>
            </a:r>
            <a:r>
              <a:rPr lang="en-US" altLang="en-US" dirty="0" smtClean="0">
                <a:solidFill>
                  <a:srgbClr val="002D56"/>
                </a:solidFill>
              </a:rPr>
              <a:t>x</a:t>
            </a:r>
          </a:p>
        </p:txBody>
      </p:sp>
      <p:sp>
        <p:nvSpPr>
          <p:cNvPr id="49155" name="Text Placeholder 2"/>
          <p:cNvSpPr>
            <a:spLocks noGrp="1"/>
          </p:cNvSpPr>
          <p:nvPr>
            <p:ph sz="half" idx="1"/>
          </p:nvPr>
        </p:nvSpPr>
        <p:spPr>
          <a:xfrm>
            <a:off x="5105054" y="990600"/>
            <a:ext cx="4038946" cy="5311775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When the price of x decreases from p</a:t>
            </a:r>
            <a:r>
              <a:rPr lang="en-US" altLang="en-US" baseline="30000" dirty="0"/>
              <a:t>1</a:t>
            </a:r>
            <a:r>
              <a:rPr lang="en-US" altLang="en-US" baseline="-25000" dirty="0"/>
              <a:t>x</a:t>
            </a:r>
            <a:r>
              <a:rPr lang="en-US" altLang="en-US" dirty="0"/>
              <a:t> to p</a:t>
            </a:r>
            <a:r>
              <a:rPr lang="en-US" altLang="en-US" baseline="30000" dirty="0"/>
              <a:t>2</a:t>
            </a:r>
            <a:r>
              <a:rPr lang="en-US" altLang="en-US" baseline="-25000" dirty="0"/>
              <a:t>x </a:t>
            </a:r>
            <a:r>
              <a:rPr lang="en-US" altLang="en-US" dirty="0"/>
              <a:t>, the utility-maximizing choice shifts from x*,y* to x**,y**. This movement can be broken down into two analytically different effects: first, the substitution effect, involving a movement along the initial indifference curve to point B, where the MRS is equal to the new price ratio; and second, the income effect, entailing a movement to a higher level of utility because real income has increased. In the diagram, both the substitution and income effects cause more x to be bought when its price decreases. Notice that point I/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y</a:t>
            </a:r>
            <a:r>
              <a:rPr lang="en-US" altLang="en-US" dirty="0"/>
              <a:t> is the same as before the price change; this is because 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y</a:t>
            </a:r>
            <a:r>
              <a:rPr lang="en-US" altLang="en-US" dirty="0"/>
              <a:t> has not changed. Therefore, point I/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y</a:t>
            </a:r>
            <a:r>
              <a:rPr lang="en-US" altLang="en-US" dirty="0"/>
              <a:t> appears on both the old and new budget constraints</a:t>
            </a:r>
            <a:r>
              <a:rPr lang="en-US" altLang="en-US" dirty="0" smtClean="0"/>
              <a:t>.</a:t>
            </a:r>
            <a:endParaRPr lang="en-US" altLang="en-US" dirty="0"/>
          </a:p>
        </p:txBody>
      </p:sp>
      <p:sp>
        <p:nvSpPr>
          <p:cNvPr id="49157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7" name="Slide Number Placeholder 5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7284EE0-7B72-4C65-952D-5156D7C44D9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pSp>
        <p:nvGrpSpPr>
          <p:cNvPr id="2" name="Group 74"/>
          <p:cNvGrpSpPr>
            <a:grpSpLocks/>
          </p:cNvGrpSpPr>
          <p:nvPr/>
        </p:nvGrpSpPr>
        <p:grpSpPr bwMode="auto">
          <a:xfrm>
            <a:off x="34925" y="1233488"/>
            <a:ext cx="5126038" cy="4265612"/>
            <a:chOff x="35182" y="1232976"/>
            <a:chExt cx="5126518" cy="4266847"/>
          </a:xfrm>
        </p:grpSpPr>
        <p:grpSp>
          <p:nvGrpSpPr>
            <p:cNvPr id="49204" name="Group 71"/>
            <p:cNvGrpSpPr>
              <a:grpSpLocks/>
            </p:cNvGrpSpPr>
            <p:nvPr/>
          </p:nvGrpSpPr>
          <p:grpSpPr bwMode="auto">
            <a:xfrm>
              <a:off x="609986" y="5121234"/>
              <a:ext cx="4551714" cy="378589"/>
              <a:chOff x="609986" y="5121234"/>
              <a:chExt cx="4551714" cy="378589"/>
            </a:xfrm>
          </p:grpSpPr>
          <p:sp>
            <p:nvSpPr>
              <p:cNvPr id="49208" name="Line 4"/>
              <p:cNvSpPr>
                <a:spLocks noChangeShapeType="1"/>
              </p:cNvSpPr>
              <p:nvPr/>
            </p:nvSpPr>
            <p:spPr bwMode="auto">
              <a:xfrm>
                <a:off x="609986" y="5121234"/>
                <a:ext cx="4495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209" name="Text Box 5"/>
              <p:cNvSpPr txBox="1">
                <a:spLocks noChangeArrowheads="1"/>
              </p:cNvSpPr>
              <p:nvPr/>
            </p:nvSpPr>
            <p:spPr bwMode="auto">
              <a:xfrm>
                <a:off x="3694850" y="5133110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  <a:endParaRPr lang="en-US" altLang="en-US" sz="1800"/>
              </a:p>
            </p:txBody>
          </p:sp>
        </p:grpSp>
        <p:grpSp>
          <p:nvGrpSpPr>
            <p:cNvPr id="49205" name="Group 72"/>
            <p:cNvGrpSpPr>
              <a:grpSpLocks/>
            </p:cNvGrpSpPr>
            <p:nvPr/>
          </p:nvGrpSpPr>
          <p:grpSpPr bwMode="auto">
            <a:xfrm>
              <a:off x="35182" y="1232976"/>
              <a:ext cx="1466850" cy="3888258"/>
              <a:chOff x="35182" y="1232976"/>
              <a:chExt cx="1466850" cy="3888258"/>
            </a:xfrm>
          </p:grpSpPr>
          <p:sp>
            <p:nvSpPr>
              <p:cNvPr id="49206" name="Line 3"/>
              <p:cNvSpPr>
                <a:spLocks noChangeShapeType="1"/>
              </p:cNvSpPr>
              <p:nvPr/>
            </p:nvSpPr>
            <p:spPr bwMode="auto">
              <a:xfrm>
                <a:off x="609986" y="1616034"/>
                <a:ext cx="0" cy="3505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207" name="Text Box 6"/>
              <p:cNvSpPr txBox="1">
                <a:spLocks noChangeArrowheads="1"/>
              </p:cNvSpPr>
              <p:nvPr/>
            </p:nvSpPr>
            <p:spPr bwMode="auto">
              <a:xfrm>
                <a:off x="35182" y="1232976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y</a:t>
                </a:r>
                <a:endParaRPr lang="en-US" altLang="en-US" sz="1800"/>
              </a:p>
            </p:txBody>
          </p:sp>
        </p:grpSp>
      </p:grpSp>
      <p:grpSp>
        <p:nvGrpSpPr>
          <p:cNvPr id="6" name="Group 73"/>
          <p:cNvGrpSpPr>
            <a:grpSpLocks/>
          </p:cNvGrpSpPr>
          <p:nvPr/>
        </p:nvGrpSpPr>
        <p:grpSpPr bwMode="auto">
          <a:xfrm>
            <a:off x="1236663" y="2190750"/>
            <a:ext cx="3332162" cy="2576513"/>
            <a:chOff x="1236411" y="2190009"/>
            <a:chExt cx="3331938" cy="2577029"/>
          </a:xfrm>
        </p:grpSpPr>
        <p:sp>
          <p:nvSpPr>
            <p:cNvPr id="49202" name="Freeform 9"/>
            <p:cNvSpPr>
              <a:spLocks/>
            </p:cNvSpPr>
            <p:nvPr/>
          </p:nvSpPr>
          <p:spPr bwMode="auto">
            <a:xfrm>
              <a:off x="1236411" y="2190009"/>
              <a:ext cx="2895600" cy="2362200"/>
            </a:xfrm>
            <a:custGeom>
              <a:avLst/>
              <a:gdLst>
                <a:gd name="T0" fmla="*/ 0 w 1824"/>
                <a:gd name="T1" fmla="*/ 0 h 1488"/>
                <a:gd name="T2" fmla="*/ 2147483647 w 1824"/>
                <a:gd name="T3" fmla="*/ 2147483647 h 1488"/>
                <a:gd name="T4" fmla="*/ 2147483647 w 1824"/>
                <a:gd name="T5" fmla="*/ 2147483647 h 1488"/>
                <a:gd name="T6" fmla="*/ 0 60000 65536"/>
                <a:gd name="T7" fmla="*/ 0 60000 65536"/>
                <a:gd name="T8" fmla="*/ 0 60000 65536"/>
                <a:gd name="T9" fmla="*/ 0 w 1824"/>
                <a:gd name="T10" fmla="*/ 0 h 1488"/>
                <a:gd name="T11" fmla="*/ 1824 w 1824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4" h="1488">
                  <a:moveTo>
                    <a:pt x="0" y="0"/>
                  </a:moveTo>
                  <a:cubicBezTo>
                    <a:pt x="64" y="380"/>
                    <a:pt x="128" y="760"/>
                    <a:pt x="432" y="1008"/>
                  </a:cubicBezTo>
                  <a:cubicBezTo>
                    <a:pt x="736" y="1256"/>
                    <a:pt x="1280" y="1372"/>
                    <a:pt x="1824" y="1488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203" name="Text Box 10"/>
            <p:cNvSpPr txBox="1">
              <a:spLocks noChangeArrowheads="1"/>
            </p:cNvSpPr>
            <p:nvPr/>
          </p:nvSpPr>
          <p:spPr bwMode="auto">
            <a:xfrm>
              <a:off x="4132011" y="4397706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1</a:t>
              </a:r>
            </a:p>
          </p:txBody>
        </p:sp>
      </p:grpSp>
      <p:grpSp>
        <p:nvGrpSpPr>
          <p:cNvPr id="7" name="Group 66"/>
          <p:cNvGrpSpPr>
            <a:grpSpLocks/>
          </p:cNvGrpSpPr>
          <p:nvPr/>
        </p:nvGrpSpPr>
        <p:grpSpPr bwMode="auto">
          <a:xfrm>
            <a:off x="1528763" y="1485900"/>
            <a:ext cx="3359150" cy="2538413"/>
            <a:chOff x="1417745" y="1486494"/>
            <a:chExt cx="3358257" cy="2537693"/>
          </a:xfrm>
        </p:grpSpPr>
        <p:sp>
          <p:nvSpPr>
            <p:cNvPr id="49200" name="Freeform 16"/>
            <p:cNvSpPr>
              <a:spLocks/>
            </p:cNvSpPr>
            <p:nvPr/>
          </p:nvSpPr>
          <p:spPr bwMode="auto">
            <a:xfrm>
              <a:off x="1417745" y="1486494"/>
              <a:ext cx="2895600" cy="2362200"/>
            </a:xfrm>
            <a:custGeom>
              <a:avLst/>
              <a:gdLst>
                <a:gd name="T0" fmla="*/ 0 w 1824"/>
                <a:gd name="T1" fmla="*/ 0 h 1488"/>
                <a:gd name="T2" fmla="*/ 2147483647 w 1824"/>
                <a:gd name="T3" fmla="*/ 2147483647 h 1488"/>
                <a:gd name="T4" fmla="*/ 2147483647 w 1824"/>
                <a:gd name="T5" fmla="*/ 2147483647 h 1488"/>
                <a:gd name="T6" fmla="*/ 0 60000 65536"/>
                <a:gd name="T7" fmla="*/ 0 60000 65536"/>
                <a:gd name="T8" fmla="*/ 0 60000 65536"/>
                <a:gd name="T9" fmla="*/ 0 w 1824"/>
                <a:gd name="T10" fmla="*/ 0 h 1488"/>
                <a:gd name="T11" fmla="*/ 1824 w 1824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4" h="1488">
                  <a:moveTo>
                    <a:pt x="0" y="0"/>
                  </a:moveTo>
                  <a:cubicBezTo>
                    <a:pt x="64" y="380"/>
                    <a:pt x="128" y="760"/>
                    <a:pt x="432" y="1008"/>
                  </a:cubicBezTo>
                  <a:cubicBezTo>
                    <a:pt x="736" y="1256"/>
                    <a:pt x="1280" y="1372"/>
                    <a:pt x="1824" y="1488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9201" name="Text Box 17"/>
            <p:cNvSpPr txBox="1">
              <a:spLocks noChangeArrowheads="1"/>
            </p:cNvSpPr>
            <p:nvPr/>
          </p:nvSpPr>
          <p:spPr bwMode="auto">
            <a:xfrm>
              <a:off x="4339664" y="3654855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2</a:t>
              </a:r>
            </a:p>
          </p:txBody>
        </p:sp>
      </p:grpSp>
      <p:sp>
        <p:nvSpPr>
          <p:cNvPr id="29" name="Line 30"/>
          <p:cNvSpPr>
            <a:spLocks noChangeShapeType="1"/>
          </p:cNvSpPr>
          <p:nvPr/>
        </p:nvSpPr>
        <p:spPr bwMode="auto">
          <a:xfrm flipH="1" flipV="1">
            <a:off x="1239838" y="3302000"/>
            <a:ext cx="1757362" cy="1328738"/>
          </a:xfrm>
          <a:prstGeom prst="line">
            <a:avLst/>
          </a:prstGeom>
          <a:noFill/>
          <a:ln w="38100">
            <a:solidFill>
              <a:srgbClr val="002D5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8" name="Group 39"/>
          <p:cNvGrpSpPr>
            <a:grpSpLocks/>
          </p:cNvGrpSpPr>
          <p:nvPr/>
        </p:nvGrpSpPr>
        <p:grpSpPr bwMode="auto">
          <a:xfrm>
            <a:off x="-22225" y="5429250"/>
            <a:ext cx="1965325" cy="460375"/>
            <a:chOff x="127" y="3493"/>
            <a:chExt cx="1238" cy="290"/>
          </a:xfrm>
        </p:grpSpPr>
        <p:sp>
          <p:nvSpPr>
            <p:cNvPr id="49198" name="AutoShape 26"/>
            <p:cNvSpPr>
              <a:spLocks/>
            </p:cNvSpPr>
            <p:nvPr/>
          </p:nvSpPr>
          <p:spPr bwMode="auto">
            <a:xfrm rot="-5400000">
              <a:off x="1205" y="3429"/>
              <a:ext cx="96" cy="224"/>
            </a:xfrm>
            <a:prstGeom prst="leftBrace">
              <a:avLst>
                <a:gd name="adj1" fmla="val 20838"/>
                <a:gd name="adj2" fmla="val 50000"/>
              </a:avLst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49199" name="Text Box 27"/>
            <p:cNvSpPr txBox="1">
              <a:spLocks noChangeArrowheads="1"/>
            </p:cNvSpPr>
            <p:nvPr/>
          </p:nvSpPr>
          <p:spPr bwMode="auto">
            <a:xfrm>
              <a:off x="127" y="3570"/>
              <a:ext cx="117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r" eaLnBrk="1" hangingPunct="1"/>
              <a:r>
                <a:rPr lang="en-US" altLang="en-US" sz="1600" dirty="0">
                  <a:solidFill>
                    <a:srgbClr val="C00000"/>
                  </a:solidFill>
                </a:rPr>
                <a:t>Substitution effect</a:t>
              </a:r>
            </a:p>
          </p:txBody>
        </p:sp>
      </p:grpSp>
      <p:grpSp>
        <p:nvGrpSpPr>
          <p:cNvPr id="9" name="Group 59"/>
          <p:cNvGrpSpPr>
            <a:grpSpLocks/>
          </p:cNvGrpSpPr>
          <p:nvPr/>
        </p:nvGrpSpPr>
        <p:grpSpPr bwMode="auto">
          <a:xfrm>
            <a:off x="1801813" y="3446463"/>
            <a:ext cx="458787" cy="2003425"/>
            <a:chOff x="1690125" y="3447091"/>
            <a:chExt cx="459994" cy="2003275"/>
          </a:xfrm>
        </p:grpSpPr>
        <p:grpSp>
          <p:nvGrpSpPr>
            <p:cNvPr id="49192" name="Group 52"/>
            <p:cNvGrpSpPr>
              <a:grpSpLocks/>
            </p:cNvGrpSpPr>
            <p:nvPr/>
          </p:nvGrpSpPr>
          <p:grpSpPr bwMode="auto">
            <a:xfrm>
              <a:off x="1813569" y="3447091"/>
              <a:ext cx="336550" cy="1676597"/>
              <a:chOff x="1813569" y="3447091"/>
              <a:chExt cx="336550" cy="1676597"/>
            </a:xfrm>
          </p:grpSpPr>
          <p:grpSp>
            <p:nvGrpSpPr>
              <p:cNvPr id="49194" name="Group 34"/>
              <p:cNvGrpSpPr>
                <a:grpSpLocks/>
              </p:cNvGrpSpPr>
              <p:nvPr/>
            </p:nvGrpSpPr>
            <p:grpSpPr bwMode="auto">
              <a:xfrm>
                <a:off x="1813569" y="3447091"/>
                <a:ext cx="336550" cy="408432"/>
                <a:chOff x="2312333" y="2960202"/>
                <a:chExt cx="336550" cy="408432"/>
              </a:xfrm>
            </p:grpSpPr>
            <p:sp>
              <p:nvSpPr>
                <p:cNvPr id="49196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2312333" y="2960202"/>
                  <a:ext cx="336550" cy="366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 i="1"/>
                    <a:t>B</a:t>
                  </a:r>
                </a:p>
              </p:txBody>
            </p:sp>
            <p:sp>
              <p:nvSpPr>
                <p:cNvPr id="49197" name="Oval 19"/>
                <p:cNvSpPr>
                  <a:spLocks noChangeArrowheads="1"/>
                </p:cNvSpPr>
                <p:nvPr/>
              </p:nvSpPr>
              <p:spPr bwMode="auto">
                <a:xfrm>
                  <a:off x="2327573" y="3292434"/>
                  <a:ext cx="76200" cy="76200"/>
                </a:xfrm>
                <a:prstGeom prst="ellipse">
                  <a:avLst/>
                </a:prstGeom>
                <a:solidFill>
                  <a:schemeClr val="tx1"/>
                </a:solidFill>
                <a:ln w="158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  <p:cxnSp>
            <p:nvCxnSpPr>
              <p:cNvPr id="49195" name="Straight Connector 49"/>
              <p:cNvCxnSpPr>
                <a:cxnSpLocks noChangeShapeType="1"/>
              </p:cNvCxnSpPr>
              <p:nvPr/>
            </p:nvCxnSpPr>
            <p:spPr bwMode="auto">
              <a:xfrm rot="16200000" flipH="1">
                <a:off x="1227582" y="4469130"/>
                <a:ext cx="1306068" cy="304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9193" name="Text Box 18"/>
            <p:cNvSpPr txBox="1">
              <a:spLocks noChangeArrowheads="1"/>
            </p:cNvSpPr>
            <p:nvPr/>
          </p:nvSpPr>
          <p:spPr bwMode="auto">
            <a:xfrm>
              <a:off x="1690125" y="5081034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i="1" baseline="-25000"/>
                <a:t>B</a:t>
              </a:r>
            </a:p>
          </p:txBody>
        </p:sp>
      </p:grpSp>
      <p:grpSp>
        <p:nvGrpSpPr>
          <p:cNvPr id="12" name="Group 62"/>
          <p:cNvGrpSpPr>
            <a:grpSpLocks/>
          </p:cNvGrpSpPr>
          <p:nvPr/>
        </p:nvGrpSpPr>
        <p:grpSpPr bwMode="auto">
          <a:xfrm>
            <a:off x="942975" y="5838825"/>
            <a:ext cx="1827213" cy="463550"/>
            <a:chOff x="832529" y="6094476"/>
            <a:chExt cx="1825821" cy="463887"/>
          </a:xfrm>
        </p:grpSpPr>
        <p:sp>
          <p:nvSpPr>
            <p:cNvPr id="49190" name="Text Box 26"/>
            <p:cNvSpPr txBox="1">
              <a:spLocks noChangeArrowheads="1"/>
            </p:cNvSpPr>
            <p:nvPr/>
          </p:nvSpPr>
          <p:spPr bwMode="auto">
            <a:xfrm>
              <a:off x="832529" y="6219809"/>
              <a:ext cx="1825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C00000"/>
                  </a:solidFill>
                </a:rPr>
                <a:t>Total increase in </a:t>
              </a:r>
              <a:r>
                <a:rPr lang="en-US" altLang="en-US" sz="1600" i="1" dirty="0">
                  <a:solidFill>
                    <a:srgbClr val="C00000"/>
                  </a:solidFill>
                </a:rPr>
                <a:t>x</a:t>
              </a:r>
              <a:endParaRPr lang="en-US" alt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49191" name="Right Brace 61"/>
            <p:cNvSpPr>
              <a:spLocks/>
            </p:cNvSpPr>
            <p:nvPr/>
          </p:nvSpPr>
          <p:spPr bwMode="auto">
            <a:xfrm rot="5400000">
              <a:off x="1735074" y="5836158"/>
              <a:ext cx="196596" cy="713232"/>
            </a:xfrm>
            <a:prstGeom prst="rightBrace">
              <a:avLst>
                <a:gd name="adj1" fmla="val 22288"/>
                <a:gd name="adj2" fmla="val 50000"/>
              </a:avLst>
            </a:prstGeom>
            <a:noFill/>
            <a:ln w="28575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FontTx/>
                <a:buChar char="•"/>
              </a:pPr>
              <a:endParaRPr lang="en-US" altLang="en-US"/>
            </a:p>
          </p:txBody>
        </p:sp>
      </p:grpSp>
      <p:grpSp>
        <p:nvGrpSpPr>
          <p:cNvPr id="13" name="Group 65"/>
          <p:cNvGrpSpPr>
            <a:grpSpLocks/>
          </p:cNvGrpSpPr>
          <p:nvPr/>
        </p:nvGrpSpPr>
        <p:grpSpPr bwMode="auto">
          <a:xfrm>
            <a:off x="1960563" y="5426075"/>
            <a:ext cx="1479550" cy="452438"/>
            <a:chOff x="1817847" y="5425513"/>
            <a:chExt cx="1479811" cy="453217"/>
          </a:xfrm>
        </p:grpSpPr>
        <p:sp>
          <p:nvSpPr>
            <p:cNvPr id="49188" name="AutoShape 26"/>
            <p:cNvSpPr>
              <a:spLocks/>
            </p:cNvSpPr>
            <p:nvPr/>
          </p:nvSpPr>
          <p:spPr bwMode="auto">
            <a:xfrm rot="-5400000">
              <a:off x="1919110" y="5324250"/>
              <a:ext cx="152400" cy="354925"/>
            </a:xfrm>
            <a:prstGeom prst="leftBrace">
              <a:avLst>
                <a:gd name="adj1" fmla="val 20831"/>
                <a:gd name="adj2" fmla="val 50000"/>
              </a:avLst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49189" name="Text Box 27"/>
            <p:cNvSpPr txBox="1">
              <a:spLocks noChangeArrowheads="1"/>
            </p:cNvSpPr>
            <p:nvPr/>
          </p:nvSpPr>
          <p:spPr bwMode="auto">
            <a:xfrm>
              <a:off x="1882399" y="5540176"/>
              <a:ext cx="141525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C00000"/>
                  </a:solidFill>
                </a:rPr>
                <a:t>Income effect</a:t>
              </a:r>
            </a:p>
          </p:txBody>
        </p:sp>
      </p:grpSp>
      <p:grpSp>
        <p:nvGrpSpPr>
          <p:cNvPr id="14" name="Group 68"/>
          <p:cNvGrpSpPr>
            <a:grpSpLocks/>
          </p:cNvGrpSpPr>
          <p:nvPr/>
        </p:nvGrpSpPr>
        <p:grpSpPr bwMode="auto">
          <a:xfrm>
            <a:off x="609600" y="1844675"/>
            <a:ext cx="4348163" cy="3276600"/>
            <a:chOff x="498773" y="1844634"/>
            <a:chExt cx="4347855" cy="3276600"/>
          </a:xfrm>
        </p:grpSpPr>
        <p:sp>
          <p:nvSpPr>
            <p:cNvPr id="49186" name="Line 15"/>
            <p:cNvSpPr>
              <a:spLocks noChangeShapeType="1"/>
            </p:cNvSpPr>
            <p:nvPr/>
          </p:nvSpPr>
          <p:spPr bwMode="auto">
            <a:xfrm>
              <a:off x="498773" y="1844634"/>
              <a:ext cx="4114800" cy="327660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9187" name="Text Box 17"/>
            <p:cNvSpPr txBox="1">
              <a:spLocks noChangeArrowheads="1"/>
            </p:cNvSpPr>
            <p:nvPr/>
          </p:nvSpPr>
          <p:spPr bwMode="auto">
            <a:xfrm>
              <a:off x="3602377" y="4029677"/>
              <a:ext cx="12442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I=p</a:t>
              </a:r>
              <a:r>
                <a:rPr lang="en-US" altLang="en-US" sz="1800" baseline="30000">
                  <a:solidFill>
                    <a:srgbClr val="000099"/>
                  </a:solidFill>
                </a:rPr>
                <a:t>2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800">
                  <a:solidFill>
                    <a:srgbClr val="000099"/>
                  </a:solidFill>
                </a:rPr>
                <a:t>x+p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y</a:t>
              </a:r>
              <a:r>
                <a:rPr lang="en-US" altLang="en-US" sz="1800">
                  <a:solidFill>
                    <a:srgbClr val="000099"/>
                  </a:solidFill>
                </a:rPr>
                <a:t>y</a:t>
              </a:r>
              <a:endParaRPr lang="en-US" altLang="en-US" sz="1800" baseline="-25000">
                <a:solidFill>
                  <a:srgbClr val="000099"/>
                </a:solidFill>
              </a:endParaRPr>
            </a:p>
          </p:txBody>
        </p:sp>
      </p:grpSp>
      <p:grpSp>
        <p:nvGrpSpPr>
          <p:cNvPr id="15" name="Group 70"/>
          <p:cNvGrpSpPr>
            <a:grpSpLocks/>
          </p:cNvGrpSpPr>
          <p:nvPr/>
        </p:nvGrpSpPr>
        <p:grpSpPr bwMode="auto">
          <a:xfrm>
            <a:off x="609600" y="1844675"/>
            <a:ext cx="3316288" cy="3276600"/>
            <a:chOff x="498773" y="1844634"/>
            <a:chExt cx="3315409" cy="3276600"/>
          </a:xfrm>
        </p:grpSpPr>
        <p:sp>
          <p:nvSpPr>
            <p:cNvPr id="49184" name="Line 7"/>
            <p:cNvSpPr>
              <a:spLocks noChangeShapeType="1"/>
            </p:cNvSpPr>
            <p:nvPr/>
          </p:nvSpPr>
          <p:spPr bwMode="auto">
            <a:xfrm>
              <a:off x="498773" y="1844634"/>
              <a:ext cx="2057400" cy="327660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9185" name="Text Box 17"/>
            <p:cNvSpPr txBox="1">
              <a:spLocks noChangeArrowheads="1"/>
            </p:cNvSpPr>
            <p:nvPr/>
          </p:nvSpPr>
          <p:spPr bwMode="auto">
            <a:xfrm>
              <a:off x="2531459" y="4725775"/>
              <a:ext cx="12827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I=p</a:t>
              </a:r>
              <a:r>
                <a:rPr lang="en-US" altLang="en-US" sz="1800" baseline="30000">
                  <a:solidFill>
                    <a:srgbClr val="000099"/>
                  </a:solidFill>
                </a:rPr>
                <a:t>1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800">
                  <a:solidFill>
                    <a:srgbClr val="000099"/>
                  </a:solidFill>
                </a:rPr>
                <a:t>x+p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y</a:t>
              </a:r>
              <a:r>
                <a:rPr lang="en-US" altLang="en-US" sz="1800">
                  <a:solidFill>
                    <a:srgbClr val="000099"/>
                  </a:solidFill>
                </a:rPr>
                <a:t>y</a:t>
              </a:r>
              <a:endParaRPr lang="en-US" altLang="en-US" sz="1800" baseline="-25000">
                <a:solidFill>
                  <a:srgbClr val="000099"/>
                </a:solidFill>
              </a:endParaRPr>
            </a:p>
          </p:txBody>
        </p:sp>
      </p:grpSp>
      <p:grpSp>
        <p:nvGrpSpPr>
          <p:cNvPr id="16" name="Group 58"/>
          <p:cNvGrpSpPr>
            <a:grpSpLocks/>
          </p:cNvGrpSpPr>
          <p:nvPr/>
        </p:nvGrpSpPr>
        <p:grpSpPr bwMode="auto">
          <a:xfrm>
            <a:off x="157163" y="3255963"/>
            <a:ext cx="1662112" cy="2193925"/>
            <a:chOff x="45729" y="3255282"/>
            <a:chExt cx="1662390" cy="2195084"/>
          </a:xfrm>
        </p:grpSpPr>
        <p:grpSp>
          <p:nvGrpSpPr>
            <p:cNvPr id="49178" name="Group 41"/>
            <p:cNvGrpSpPr>
              <a:grpSpLocks/>
            </p:cNvGrpSpPr>
            <p:nvPr/>
          </p:nvGrpSpPr>
          <p:grpSpPr bwMode="auto">
            <a:xfrm>
              <a:off x="518160" y="3375681"/>
              <a:ext cx="1004802" cy="76200"/>
              <a:chOff x="518160" y="3375681"/>
              <a:chExt cx="1004802" cy="76200"/>
            </a:xfrm>
          </p:grpSpPr>
          <p:sp>
            <p:nvSpPr>
              <p:cNvPr id="49182" name="Oval 11"/>
              <p:cNvSpPr>
                <a:spLocks noChangeArrowheads="1"/>
              </p:cNvSpPr>
              <p:nvPr/>
            </p:nvSpPr>
            <p:spPr bwMode="auto">
              <a:xfrm>
                <a:off x="1446762" y="3375681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49183" name="Straight Connector 39"/>
              <p:cNvCxnSpPr>
                <a:cxnSpLocks noChangeShapeType="1"/>
              </p:cNvCxnSpPr>
              <p:nvPr/>
            </p:nvCxnSpPr>
            <p:spPr bwMode="auto">
              <a:xfrm rot="10800000" flipV="1">
                <a:off x="518160" y="3410712"/>
                <a:ext cx="972312" cy="15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49179" name="Straight Connector 47"/>
            <p:cNvCxnSpPr>
              <a:cxnSpLocks noChangeShapeType="1"/>
            </p:cNvCxnSpPr>
            <p:nvPr/>
          </p:nvCxnSpPr>
          <p:spPr bwMode="auto">
            <a:xfrm rot="16200000" flipH="1">
              <a:off x="626364" y="4261104"/>
              <a:ext cx="1716024" cy="609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80" name="Text Box 18"/>
            <p:cNvSpPr txBox="1">
              <a:spLocks noChangeArrowheads="1"/>
            </p:cNvSpPr>
            <p:nvPr/>
          </p:nvSpPr>
          <p:spPr bwMode="auto">
            <a:xfrm>
              <a:off x="45729" y="3255282"/>
              <a:ext cx="389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y*</a:t>
              </a:r>
            </a:p>
          </p:txBody>
        </p:sp>
        <p:sp>
          <p:nvSpPr>
            <p:cNvPr id="49181" name="Text Box 18"/>
            <p:cNvSpPr txBox="1">
              <a:spLocks noChangeArrowheads="1"/>
            </p:cNvSpPr>
            <p:nvPr/>
          </p:nvSpPr>
          <p:spPr bwMode="auto">
            <a:xfrm>
              <a:off x="1318269" y="5081034"/>
              <a:ext cx="389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x*</a:t>
              </a:r>
            </a:p>
          </p:txBody>
        </p:sp>
      </p:grpSp>
      <p:grpSp>
        <p:nvGrpSpPr>
          <p:cNvPr id="18" name="Group 60"/>
          <p:cNvGrpSpPr>
            <a:grpSpLocks/>
          </p:cNvGrpSpPr>
          <p:nvPr/>
        </p:nvGrpSpPr>
        <p:grpSpPr bwMode="auto">
          <a:xfrm>
            <a:off x="157163" y="2941638"/>
            <a:ext cx="2392362" cy="2508250"/>
            <a:chOff x="45729" y="2941338"/>
            <a:chExt cx="2392238" cy="2509028"/>
          </a:xfrm>
        </p:grpSpPr>
        <p:grpSp>
          <p:nvGrpSpPr>
            <p:cNvPr id="49172" name="Group 44"/>
            <p:cNvGrpSpPr>
              <a:grpSpLocks/>
            </p:cNvGrpSpPr>
            <p:nvPr/>
          </p:nvGrpSpPr>
          <p:grpSpPr bwMode="auto">
            <a:xfrm>
              <a:off x="493776" y="3084597"/>
              <a:ext cx="1661646" cy="76200"/>
              <a:chOff x="493776" y="3084597"/>
              <a:chExt cx="1661646" cy="76200"/>
            </a:xfrm>
          </p:grpSpPr>
          <p:sp>
            <p:nvSpPr>
              <p:cNvPr id="49176" name="Oval 11"/>
              <p:cNvSpPr>
                <a:spLocks noChangeArrowheads="1"/>
              </p:cNvSpPr>
              <p:nvPr/>
            </p:nvSpPr>
            <p:spPr bwMode="auto">
              <a:xfrm>
                <a:off x="2079222" y="3084597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49177" name="Straight Connector 42"/>
              <p:cNvCxnSpPr>
                <a:cxnSpLocks noChangeShapeType="1"/>
              </p:cNvCxnSpPr>
              <p:nvPr/>
            </p:nvCxnSpPr>
            <p:spPr bwMode="auto">
              <a:xfrm rot="10800000">
                <a:off x="493776" y="3122676"/>
                <a:ext cx="1606296" cy="15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49173" name="Straight Connector 46"/>
            <p:cNvCxnSpPr>
              <a:cxnSpLocks noChangeShapeType="1"/>
            </p:cNvCxnSpPr>
            <p:nvPr/>
          </p:nvCxnSpPr>
          <p:spPr bwMode="auto">
            <a:xfrm rot="5400000">
              <a:off x="1124712" y="4101084"/>
              <a:ext cx="1984248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74" name="Text Box 18"/>
            <p:cNvSpPr txBox="1">
              <a:spLocks noChangeArrowheads="1"/>
            </p:cNvSpPr>
            <p:nvPr/>
          </p:nvSpPr>
          <p:spPr bwMode="auto">
            <a:xfrm>
              <a:off x="45729" y="2941338"/>
              <a:ext cx="4796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y**</a:t>
              </a:r>
            </a:p>
          </p:txBody>
        </p:sp>
        <p:sp>
          <p:nvSpPr>
            <p:cNvPr id="49175" name="Text Box 18"/>
            <p:cNvSpPr txBox="1">
              <a:spLocks noChangeArrowheads="1"/>
            </p:cNvSpPr>
            <p:nvPr/>
          </p:nvSpPr>
          <p:spPr bwMode="auto">
            <a:xfrm>
              <a:off x="1958349" y="5081034"/>
              <a:ext cx="4796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x**</a:t>
              </a:r>
            </a:p>
          </p:txBody>
        </p:sp>
      </p:grpSp>
      <p:sp>
        <p:nvSpPr>
          <p:cNvPr id="76" name="Text Box 17"/>
          <p:cNvSpPr txBox="1">
            <a:spLocks noChangeArrowheads="1"/>
          </p:cNvSpPr>
          <p:nvPr/>
        </p:nvSpPr>
        <p:spPr bwMode="auto">
          <a:xfrm>
            <a:off x="109538" y="1649413"/>
            <a:ext cx="517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99"/>
                </a:solidFill>
              </a:rPr>
              <a:t>I/p</a:t>
            </a:r>
            <a:r>
              <a:rPr lang="en-US" altLang="en-US" sz="1800" baseline="-25000">
                <a:solidFill>
                  <a:srgbClr val="000099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88857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29" grpId="0" animBg="1"/>
      <p:bldP spid="7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5.4 </a:t>
            </a:r>
            <a:r>
              <a:rPr lang="en-US" altLang="en-US" dirty="0" smtClean="0"/>
              <a:t>	Demonstration </a:t>
            </a:r>
            <a:r>
              <a:rPr lang="en-US" altLang="en-US" dirty="0"/>
              <a:t>of </a:t>
            </a:r>
            <a:r>
              <a:rPr lang="en-US" altLang="en-US" dirty="0" smtClean="0"/>
              <a:t>Income </a:t>
            </a:r>
            <a:r>
              <a:rPr lang="en-US" altLang="en-US" dirty="0"/>
              <a:t>and Substitution 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Effects </a:t>
            </a:r>
            <a:r>
              <a:rPr lang="en-US" altLang="en-US" dirty="0">
                <a:solidFill>
                  <a:srgbClr val="002D56"/>
                </a:solidFill>
              </a:rPr>
              <a:t>of an Increase in the Price of x 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50179" name="Text Placeholder 2"/>
          <p:cNvSpPr>
            <a:spLocks noGrp="1"/>
          </p:cNvSpPr>
          <p:nvPr>
            <p:ph sz="half" idx="1"/>
          </p:nvPr>
        </p:nvSpPr>
        <p:spPr>
          <a:xfrm>
            <a:off x="5257800" y="914401"/>
            <a:ext cx="3886200" cy="5349688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When the price of x increases, the budget constraint shifts inward. The movement from the initial utility-maximizing point (x*,y*) to the new point (x**,y**) can be analyzed as two separate effects. The substitution effect would be depicted as a movement to point B on the initial indifference curve (U</a:t>
            </a:r>
            <a:r>
              <a:rPr lang="en-US" altLang="en-US" baseline="-25000" dirty="0"/>
              <a:t>2</a:t>
            </a:r>
            <a:r>
              <a:rPr lang="en-US" altLang="en-US" dirty="0"/>
              <a:t>). The price increase, however, would create a loss of purchasing power and a consequent movement to a lower indifference curve. This is the income effect. In the diagram, both the income and substitution effects cause the quantity of x to decrease as a result of the increase in its price. Again, the point I/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y</a:t>
            </a:r>
            <a:r>
              <a:rPr lang="en-US" altLang="en-US" dirty="0"/>
              <a:t> is not affected by the change in the price of x. </a:t>
            </a:r>
          </a:p>
        </p:txBody>
      </p:sp>
      <p:sp>
        <p:nvSpPr>
          <p:cNvPr id="50181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7" name="Slide Number Placeholder 5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A5A9230-F7FC-4119-AC56-62CC1A147BD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pSp>
        <p:nvGrpSpPr>
          <p:cNvPr id="2" name="Group 74"/>
          <p:cNvGrpSpPr>
            <a:grpSpLocks/>
          </p:cNvGrpSpPr>
          <p:nvPr/>
        </p:nvGrpSpPr>
        <p:grpSpPr bwMode="auto">
          <a:xfrm>
            <a:off x="34925" y="1233488"/>
            <a:ext cx="5126038" cy="4265612"/>
            <a:chOff x="35182" y="1232976"/>
            <a:chExt cx="5126518" cy="4266847"/>
          </a:xfrm>
        </p:grpSpPr>
        <p:grpSp>
          <p:nvGrpSpPr>
            <p:cNvPr id="50228" name="Group 71"/>
            <p:cNvGrpSpPr>
              <a:grpSpLocks/>
            </p:cNvGrpSpPr>
            <p:nvPr/>
          </p:nvGrpSpPr>
          <p:grpSpPr bwMode="auto">
            <a:xfrm>
              <a:off x="609986" y="5121234"/>
              <a:ext cx="4551714" cy="378589"/>
              <a:chOff x="609986" y="5121234"/>
              <a:chExt cx="4551714" cy="378589"/>
            </a:xfrm>
          </p:grpSpPr>
          <p:sp>
            <p:nvSpPr>
              <p:cNvPr id="50232" name="Line 4"/>
              <p:cNvSpPr>
                <a:spLocks noChangeShapeType="1"/>
              </p:cNvSpPr>
              <p:nvPr/>
            </p:nvSpPr>
            <p:spPr bwMode="auto">
              <a:xfrm>
                <a:off x="609986" y="5121234"/>
                <a:ext cx="4495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0233" name="Text Box 5"/>
              <p:cNvSpPr txBox="1">
                <a:spLocks noChangeArrowheads="1"/>
              </p:cNvSpPr>
              <p:nvPr/>
            </p:nvSpPr>
            <p:spPr bwMode="auto">
              <a:xfrm>
                <a:off x="3694850" y="5133110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  <a:endParaRPr lang="en-US" altLang="en-US" sz="1800"/>
              </a:p>
            </p:txBody>
          </p:sp>
        </p:grpSp>
        <p:grpSp>
          <p:nvGrpSpPr>
            <p:cNvPr id="50229" name="Group 72"/>
            <p:cNvGrpSpPr>
              <a:grpSpLocks/>
            </p:cNvGrpSpPr>
            <p:nvPr/>
          </p:nvGrpSpPr>
          <p:grpSpPr bwMode="auto">
            <a:xfrm>
              <a:off x="35182" y="1232976"/>
              <a:ext cx="1466850" cy="3888258"/>
              <a:chOff x="35182" y="1232976"/>
              <a:chExt cx="1466850" cy="3888258"/>
            </a:xfrm>
          </p:grpSpPr>
          <p:sp>
            <p:nvSpPr>
              <p:cNvPr id="50230" name="Line 3"/>
              <p:cNvSpPr>
                <a:spLocks noChangeShapeType="1"/>
              </p:cNvSpPr>
              <p:nvPr/>
            </p:nvSpPr>
            <p:spPr bwMode="auto">
              <a:xfrm>
                <a:off x="609986" y="1616034"/>
                <a:ext cx="0" cy="3505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0231" name="Text Box 6"/>
              <p:cNvSpPr txBox="1">
                <a:spLocks noChangeArrowheads="1"/>
              </p:cNvSpPr>
              <p:nvPr/>
            </p:nvSpPr>
            <p:spPr bwMode="auto">
              <a:xfrm>
                <a:off x="35182" y="1232976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y</a:t>
                </a:r>
                <a:endParaRPr lang="en-US" altLang="en-US" sz="1800"/>
              </a:p>
            </p:txBody>
          </p:sp>
        </p:grpSp>
      </p:grpSp>
      <p:grpSp>
        <p:nvGrpSpPr>
          <p:cNvPr id="6" name="Group 73"/>
          <p:cNvGrpSpPr>
            <a:grpSpLocks/>
          </p:cNvGrpSpPr>
          <p:nvPr/>
        </p:nvGrpSpPr>
        <p:grpSpPr bwMode="auto">
          <a:xfrm>
            <a:off x="965200" y="1831975"/>
            <a:ext cx="3154363" cy="2959100"/>
            <a:chOff x="1335265" y="2449501"/>
            <a:chExt cx="3154480" cy="2958716"/>
          </a:xfrm>
        </p:grpSpPr>
        <p:sp>
          <p:nvSpPr>
            <p:cNvPr id="50226" name="Freeform 9"/>
            <p:cNvSpPr>
              <a:spLocks/>
            </p:cNvSpPr>
            <p:nvPr/>
          </p:nvSpPr>
          <p:spPr bwMode="auto">
            <a:xfrm rot="465111">
              <a:off x="1335265" y="2449501"/>
              <a:ext cx="2895600" cy="2362200"/>
            </a:xfrm>
            <a:custGeom>
              <a:avLst/>
              <a:gdLst>
                <a:gd name="T0" fmla="*/ 0 w 1824"/>
                <a:gd name="T1" fmla="*/ 0 h 1488"/>
                <a:gd name="T2" fmla="*/ 2147483647 w 1824"/>
                <a:gd name="T3" fmla="*/ 2147483647 h 1488"/>
                <a:gd name="T4" fmla="*/ 2147483647 w 1824"/>
                <a:gd name="T5" fmla="*/ 2147483647 h 1488"/>
                <a:gd name="T6" fmla="*/ 0 60000 65536"/>
                <a:gd name="T7" fmla="*/ 0 60000 65536"/>
                <a:gd name="T8" fmla="*/ 0 60000 65536"/>
                <a:gd name="T9" fmla="*/ 0 w 1824"/>
                <a:gd name="T10" fmla="*/ 0 h 1488"/>
                <a:gd name="T11" fmla="*/ 1824 w 1824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4" h="1488">
                  <a:moveTo>
                    <a:pt x="0" y="0"/>
                  </a:moveTo>
                  <a:cubicBezTo>
                    <a:pt x="64" y="380"/>
                    <a:pt x="128" y="760"/>
                    <a:pt x="432" y="1008"/>
                  </a:cubicBezTo>
                  <a:cubicBezTo>
                    <a:pt x="736" y="1256"/>
                    <a:pt x="1280" y="1372"/>
                    <a:pt x="1824" y="1488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27" name="Text Box 10"/>
            <p:cNvSpPr txBox="1">
              <a:spLocks noChangeArrowheads="1"/>
            </p:cNvSpPr>
            <p:nvPr/>
          </p:nvSpPr>
          <p:spPr bwMode="auto">
            <a:xfrm>
              <a:off x="4053407" y="5038885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1</a:t>
              </a:r>
            </a:p>
          </p:txBody>
        </p:sp>
      </p:grpSp>
      <p:grpSp>
        <p:nvGrpSpPr>
          <p:cNvPr id="7" name="Group 66"/>
          <p:cNvGrpSpPr>
            <a:grpSpLocks/>
          </p:cNvGrpSpPr>
          <p:nvPr/>
        </p:nvGrpSpPr>
        <p:grpSpPr bwMode="auto">
          <a:xfrm rot="313676">
            <a:off x="1917700" y="2081213"/>
            <a:ext cx="3535363" cy="2465387"/>
            <a:chOff x="1241403" y="1558541"/>
            <a:chExt cx="3534599" cy="2465646"/>
          </a:xfrm>
        </p:grpSpPr>
        <p:sp>
          <p:nvSpPr>
            <p:cNvPr id="50224" name="Freeform 16"/>
            <p:cNvSpPr>
              <a:spLocks/>
            </p:cNvSpPr>
            <p:nvPr/>
          </p:nvSpPr>
          <p:spPr bwMode="auto">
            <a:xfrm>
              <a:off x="1241403" y="1558541"/>
              <a:ext cx="3071942" cy="2290153"/>
            </a:xfrm>
            <a:custGeom>
              <a:avLst/>
              <a:gdLst>
                <a:gd name="T0" fmla="*/ 0 w 10609"/>
                <a:gd name="T1" fmla="*/ 0 h 9695"/>
                <a:gd name="T2" fmla="*/ 2147483647 w 10609"/>
                <a:gd name="T3" fmla="*/ 2147483647 h 9695"/>
                <a:gd name="T4" fmla="*/ 2147483647 w 10609"/>
                <a:gd name="T5" fmla="*/ 2147483647 h 9695"/>
                <a:gd name="T6" fmla="*/ 0 60000 65536"/>
                <a:gd name="T7" fmla="*/ 0 60000 65536"/>
                <a:gd name="T8" fmla="*/ 0 60000 65536"/>
                <a:gd name="T9" fmla="*/ 0 w 10609"/>
                <a:gd name="T10" fmla="*/ 0 h 9695"/>
                <a:gd name="T11" fmla="*/ 10609 w 10609"/>
                <a:gd name="T12" fmla="*/ 9695 h 96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09" h="9695">
                  <a:moveTo>
                    <a:pt x="0" y="0"/>
                  </a:moveTo>
                  <a:cubicBezTo>
                    <a:pt x="113" y="2123"/>
                    <a:pt x="1209" y="4853"/>
                    <a:pt x="2977" y="6469"/>
                  </a:cubicBezTo>
                  <a:cubicBezTo>
                    <a:pt x="4745" y="8085"/>
                    <a:pt x="7627" y="8915"/>
                    <a:pt x="10609" y="9695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225" name="Text Box 17"/>
            <p:cNvSpPr txBox="1">
              <a:spLocks noChangeArrowheads="1"/>
            </p:cNvSpPr>
            <p:nvPr/>
          </p:nvSpPr>
          <p:spPr bwMode="auto">
            <a:xfrm>
              <a:off x="4339664" y="3654855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2</a:t>
              </a:r>
            </a:p>
          </p:txBody>
        </p:sp>
      </p:grpSp>
      <p:sp>
        <p:nvSpPr>
          <p:cNvPr id="29" name="Line 30"/>
          <p:cNvSpPr>
            <a:spLocks noChangeShapeType="1"/>
          </p:cNvSpPr>
          <p:nvPr/>
        </p:nvSpPr>
        <p:spPr bwMode="auto">
          <a:xfrm flipH="1" flipV="1">
            <a:off x="1843088" y="2125663"/>
            <a:ext cx="881062" cy="1643062"/>
          </a:xfrm>
          <a:prstGeom prst="line">
            <a:avLst/>
          </a:prstGeom>
          <a:noFill/>
          <a:ln w="38100">
            <a:solidFill>
              <a:srgbClr val="002D5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8" name="Group 59"/>
          <p:cNvGrpSpPr>
            <a:grpSpLocks/>
          </p:cNvGrpSpPr>
          <p:nvPr/>
        </p:nvGrpSpPr>
        <p:grpSpPr bwMode="auto">
          <a:xfrm>
            <a:off x="2035175" y="2417763"/>
            <a:ext cx="460375" cy="3070225"/>
            <a:chOff x="1690125" y="3447091"/>
            <a:chExt cx="459994" cy="3070054"/>
          </a:xfrm>
        </p:grpSpPr>
        <p:grpSp>
          <p:nvGrpSpPr>
            <p:cNvPr id="50218" name="Group 52"/>
            <p:cNvGrpSpPr>
              <a:grpSpLocks/>
            </p:cNvGrpSpPr>
            <p:nvPr/>
          </p:nvGrpSpPr>
          <p:grpSpPr bwMode="auto">
            <a:xfrm>
              <a:off x="1813569" y="3447091"/>
              <a:ext cx="336550" cy="2682361"/>
              <a:chOff x="1813569" y="3447091"/>
              <a:chExt cx="336550" cy="2682361"/>
            </a:xfrm>
          </p:grpSpPr>
          <p:grpSp>
            <p:nvGrpSpPr>
              <p:cNvPr id="50220" name="Group 34"/>
              <p:cNvGrpSpPr>
                <a:grpSpLocks/>
              </p:cNvGrpSpPr>
              <p:nvPr/>
            </p:nvGrpSpPr>
            <p:grpSpPr bwMode="auto">
              <a:xfrm>
                <a:off x="1813569" y="3447091"/>
                <a:ext cx="336550" cy="408432"/>
                <a:chOff x="2312333" y="2960202"/>
                <a:chExt cx="336550" cy="408432"/>
              </a:xfrm>
            </p:grpSpPr>
            <p:sp>
              <p:nvSpPr>
                <p:cNvPr id="50222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2312333" y="2960202"/>
                  <a:ext cx="336550" cy="366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 i="1"/>
                    <a:t>B</a:t>
                  </a:r>
                </a:p>
              </p:txBody>
            </p:sp>
            <p:sp>
              <p:nvSpPr>
                <p:cNvPr id="50223" name="Oval 19"/>
                <p:cNvSpPr>
                  <a:spLocks noChangeArrowheads="1"/>
                </p:cNvSpPr>
                <p:nvPr/>
              </p:nvSpPr>
              <p:spPr bwMode="auto">
                <a:xfrm>
                  <a:off x="2327573" y="3292434"/>
                  <a:ext cx="76200" cy="76200"/>
                </a:xfrm>
                <a:prstGeom prst="ellipse">
                  <a:avLst/>
                </a:prstGeom>
                <a:solidFill>
                  <a:schemeClr val="tx1"/>
                </a:solidFill>
                <a:ln w="158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  <p:cxnSp>
            <p:nvCxnSpPr>
              <p:cNvPr id="50221" name="Straight Connector 49"/>
              <p:cNvCxnSpPr>
                <a:cxnSpLocks noChangeShapeType="1"/>
              </p:cNvCxnSpPr>
              <p:nvPr/>
            </p:nvCxnSpPr>
            <p:spPr bwMode="auto">
              <a:xfrm rot="16200000" flipH="1">
                <a:off x="729774" y="4966937"/>
                <a:ext cx="2311833" cy="13197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0219" name="Text Box 18"/>
            <p:cNvSpPr txBox="1">
              <a:spLocks noChangeArrowheads="1"/>
            </p:cNvSpPr>
            <p:nvPr/>
          </p:nvSpPr>
          <p:spPr bwMode="auto">
            <a:xfrm>
              <a:off x="1690125" y="6147813"/>
              <a:ext cx="4026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i="1" baseline="-25000"/>
                <a:t>B</a:t>
              </a:r>
            </a:p>
          </p:txBody>
        </p:sp>
      </p:grpSp>
      <p:grpSp>
        <p:nvGrpSpPr>
          <p:cNvPr id="11" name="Group 68"/>
          <p:cNvGrpSpPr>
            <a:grpSpLocks/>
          </p:cNvGrpSpPr>
          <p:nvPr/>
        </p:nvGrpSpPr>
        <p:grpSpPr bwMode="auto">
          <a:xfrm>
            <a:off x="609600" y="1844675"/>
            <a:ext cx="4114800" cy="3276600"/>
            <a:chOff x="498773" y="1844634"/>
            <a:chExt cx="4114800" cy="3276600"/>
          </a:xfrm>
        </p:grpSpPr>
        <p:sp>
          <p:nvSpPr>
            <p:cNvPr id="50216" name="Line 15"/>
            <p:cNvSpPr>
              <a:spLocks noChangeShapeType="1"/>
            </p:cNvSpPr>
            <p:nvPr/>
          </p:nvSpPr>
          <p:spPr bwMode="auto">
            <a:xfrm>
              <a:off x="498773" y="1844634"/>
              <a:ext cx="4114800" cy="327660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17" name="Text Box 17"/>
            <p:cNvSpPr txBox="1">
              <a:spLocks noChangeArrowheads="1"/>
            </p:cNvSpPr>
            <p:nvPr/>
          </p:nvSpPr>
          <p:spPr bwMode="auto">
            <a:xfrm>
              <a:off x="3097123" y="4730580"/>
              <a:ext cx="12442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I=p</a:t>
              </a:r>
              <a:r>
                <a:rPr lang="en-US" altLang="en-US" sz="1800" baseline="30000">
                  <a:solidFill>
                    <a:srgbClr val="000099"/>
                  </a:solidFill>
                </a:rPr>
                <a:t>2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800">
                  <a:solidFill>
                    <a:srgbClr val="000099"/>
                  </a:solidFill>
                </a:rPr>
                <a:t>x+p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y</a:t>
              </a:r>
              <a:r>
                <a:rPr lang="en-US" altLang="en-US" sz="1800">
                  <a:solidFill>
                    <a:srgbClr val="000099"/>
                  </a:solidFill>
                </a:rPr>
                <a:t>y</a:t>
              </a:r>
              <a:endParaRPr lang="en-US" altLang="en-US" sz="1800" baseline="-25000">
                <a:solidFill>
                  <a:srgbClr val="000099"/>
                </a:solidFill>
              </a:endParaRPr>
            </a:p>
          </p:txBody>
        </p:sp>
      </p:grpSp>
      <p:grpSp>
        <p:nvGrpSpPr>
          <p:cNvPr id="12" name="Group 70"/>
          <p:cNvGrpSpPr>
            <a:grpSpLocks/>
          </p:cNvGrpSpPr>
          <p:nvPr/>
        </p:nvGrpSpPr>
        <p:grpSpPr bwMode="auto">
          <a:xfrm>
            <a:off x="609600" y="1844675"/>
            <a:ext cx="2911475" cy="3276600"/>
            <a:chOff x="498773" y="1844634"/>
            <a:chExt cx="2910696" cy="3276600"/>
          </a:xfrm>
        </p:grpSpPr>
        <p:sp>
          <p:nvSpPr>
            <p:cNvPr id="50214" name="Line 7"/>
            <p:cNvSpPr>
              <a:spLocks noChangeShapeType="1"/>
            </p:cNvSpPr>
            <p:nvPr/>
          </p:nvSpPr>
          <p:spPr bwMode="auto">
            <a:xfrm>
              <a:off x="498773" y="1844634"/>
              <a:ext cx="2057400" cy="327660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0215" name="Text Box 17"/>
            <p:cNvSpPr txBox="1">
              <a:spLocks noChangeArrowheads="1"/>
            </p:cNvSpPr>
            <p:nvPr/>
          </p:nvSpPr>
          <p:spPr bwMode="auto">
            <a:xfrm>
              <a:off x="2165218" y="4321091"/>
              <a:ext cx="12442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I=p</a:t>
              </a:r>
              <a:r>
                <a:rPr lang="en-US" altLang="en-US" sz="1800" baseline="30000">
                  <a:solidFill>
                    <a:srgbClr val="000099"/>
                  </a:solidFill>
                </a:rPr>
                <a:t>1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800">
                  <a:solidFill>
                    <a:srgbClr val="000099"/>
                  </a:solidFill>
                </a:rPr>
                <a:t>x+p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y</a:t>
              </a:r>
              <a:r>
                <a:rPr lang="en-US" altLang="en-US" sz="1800">
                  <a:solidFill>
                    <a:srgbClr val="000099"/>
                  </a:solidFill>
                </a:rPr>
                <a:t>y</a:t>
              </a:r>
              <a:endParaRPr lang="en-US" altLang="en-US" sz="1800" baseline="-25000">
                <a:solidFill>
                  <a:srgbClr val="000099"/>
                </a:solidFill>
              </a:endParaRPr>
            </a:p>
          </p:txBody>
        </p:sp>
      </p:grpSp>
      <p:grpSp>
        <p:nvGrpSpPr>
          <p:cNvPr id="13" name="Group 58"/>
          <p:cNvGrpSpPr>
            <a:grpSpLocks/>
          </p:cNvGrpSpPr>
          <p:nvPr/>
        </p:nvGrpSpPr>
        <p:grpSpPr bwMode="auto">
          <a:xfrm>
            <a:off x="198438" y="2946400"/>
            <a:ext cx="1427162" cy="2541588"/>
            <a:chOff x="280512" y="3255282"/>
            <a:chExt cx="1427607" cy="2541080"/>
          </a:xfrm>
        </p:grpSpPr>
        <p:grpSp>
          <p:nvGrpSpPr>
            <p:cNvPr id="50208" name="Group 41"/>
            <p:cNvGrpSpPr>
              <a:grpSpLocks/>
            </p:cNvGrpSpPr>
            <p:nvPr/>
          </p:nvGrpSpPr>
          <p:grpSpPr bwMode="auto">
            <a:xfrm>
              <a:off x="675924" y="3375681"/>
              <a:ext cx="885138" cy="76200"/>
              <a:chOff x="675924" y="3375681"/>
              <a:chExt cx="885138" cy="76200"/>
            </a:xfrm>
          </p:grpSpPr>
          <p:sp>
            <p:nvSpPr>
              <p:cNvPr id="50212" name="Oval 11"/>
              <p:cNvSpPr>
                <a:spLocks noChangeArrowheads="1"/>
              </p:cNvSpPr>
              <p:nvPr/>
            </p:nvSpPr>
            <p:spPr bwMode="auto">
              <a:xfrm>
                <a:off x="1484862" y="3375681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50213" name="Straight Connector 39"/>
              <p:cNvCxnSpPr>
                <a:cxnSpLocks noChangeShapeType="1"/>
              </p:cNvCxnSpPr>
              <p:nvPr/>
            </p:nvCxnSpPr>
            <p:spPr bwMode="auto">
              <a:xfrm rot="10800000">
                <a:off x="675924" y="3398108"/>
                <a:ext cx="814548" cy="1260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50209" name="Straight Connector 47"/>
            <p:cNvCxnSpPr>
              <a:cxnSpLocks noChangeShapeType="1"/>
            </p:cNvCxnSpPr>
            <p:nvPr/>
          </p:nvCxnSpPr>
          <p:spPr bwMode="auto">
            <a:xfrm rot="16200000" flipH="1">
              <a:off x="532768" y="4404127"/>
              <a:ext cx="1981406" cy="1014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10" name="Text Box 18"/>
            <p:cNvSpPr txBox="1">
              <a:spLocks noChangeArrowheads="1"/>
            </p:cNvSpPr>
            <p:nvPr/>
          </p:nvSpPr>
          <p:spPr bwMode="auto">
            <a:xfrm>
              <a:off x="280512" y="3255282"/>
              <a:ext cx="389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y*</a:t>
              </a:r>
            </a:p>
          </p:txBody>
        </p:sp>
        <p:sp>
          <p:nvSpPr>
            <p:cNvPr id="50211" name="Text Box 18"/>
            <p:cNvSpPr txBox="1">
              <a:spLocks noChangeArrowheads="1"/>
            </p:cNvSpPr>
            <p:nvPr/>
          </p:nvSpPr>
          <p:spPr bwMode="auto">
            <a:xfrm>
              <a:off x="1318269" y="5427030"/>
              <a:ext cx="389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x*</a:t>
              </a:r>
            </a:p>
          </p:txBody>
        </p:sp>
      </p:grpSp>
      <p:grpSp>
        <p:nvGrpSpPr>
          <p:cNvPr id="15" name="Group 60"/>
          <p:cNvGrpSpPr>
            <a:grpSpLocks/>
          </p:cNvGrpSpPr>
          <p:nvPr/>
        </p:nvGrpSpPr>
        <p:grpSpPr bwMode="auto">
          <a:xfrm>
            <a:off x="107950" y="3398838"/>
            <a:ext cx="3009900" cy="2112962"/>
            <a:chOff x="-572121" y="2941338"/>
            <a:chExt cx="3010088" cy="2113604"/>
          </a:xfrm>
        </p:grpSpPr>
        <p:grpSp>
          <p:nvGrpSpPr>
            <p:cNvPr id="50202" name="Group 44"/>
            <p:cNvGrpSpPr>
              <a:grpSpLocks/>
            </p:cNvGrpSpPr>
            <p:nvPr/>
          </p:nvGrpSpPr>
          <p:grpSpPr bwMode="auto">
            <a:xfrm>
              <a:off x="-80145" y="3084597"/>
              <a:ext cx="2235567" cy="76200"/>
              <a:chOff x="-80145" y="3084597"/>
              <a:chExt cx="2235567" cy="76200"/>
            </a:xfrm>
          </p:grpSpPr>
          <p:sp>
            <p:nvSpPr>
              <p:cNvPr id="50206" name="Oval 11"/>
              <p:cNvSpPr>
                <a:spLocks noChangeArrowheads="1"/>
              </p:cNvSpPr>
              <p:nvPr/>
            </p:nvSpPr>
            <p:spPr bwMode="auto">
              <a:xfrm>
                <a:off x="2079222" y="3084597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50207" name="Straight Connector 42"/>
              <p:cNvCxnSpPr>
                <a:cxnSpLocks noChangeShapeType="1"/>
              </p:cNvCxnSpPr>
              <p:nvPr/>
            </p:nvCxnSpPr>
            <p:spPr bwMode="auto">
              <a:xfrm rot="10800000" flipV="1">
                <a:off x="-80145" y="3124200"/>
                <a:ext cx="2192575" cy="180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50203" name="Straight Connector 46"/>
            <p:cNvCxnSpPr>
              <a:cxnSpLocks noChangeShapeType="1"/>
            </p:cNvCxnSpPr>
            <p:nvPr/>
          </p:nvCxnSpPr>
          <p:spPr bwMode="auto">
            <a:xfrm rot="5400000">
              <a:off x="1340152" y="3881812"/>
              <a:ext cx="1549537" cy="383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04" name="Text Box 18"/>
            <p:cNvSpPr txBox="1">
              <a:spLocks noChangeArrowheads="1"/>
            </p:cNvSpPr>
            <p:nvPr/>
          </p:nvSpPr>
          <p:spPr bwMode="auto">
            <a:xfrm>
              <a:off x="-572121" y="2941338"/>
              <a:ext cx="4796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y**</a:t>
              </a:r>
            </a:p>
          </p:txBody>
        </p:sp>
        <p:sp>
          <p:nvSpPr>
            <p:cNvPr id="50205" name="Text Box 18"/>
            <p:cNvSpPr txBox="1">
              <a:spLocks noChangeArrowheads="1"/>
            </p:cNvSpPr>
            <p:nvPr/>
          </p:nvSpPr>
          <p:spPr bwMode="auto">
            <a:xfrm>
              <a:off x="1958349" y="4685610"/>
              <a:ext cx="4796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x**</a:t>
              </a:r>
            </a:p>
          </p:txBody>
        </p:sp>
      </p:grpSp>
      <p:sp>
        <p:nvSpPr>
          <p:cNvPr id="59" name="Text Box 17"/>
          <p:cNvSpPr txBox="1">
            <a:spLocks noChangeArrowheads="1"/>
          </p:cNvSpPr>
          <p:nvPr/>
        </p:nvSpPr>
        <p:spPr bwMode="auto">
          <a:xfrm>
            <a:off x="109538" y="1649413"/>
            <a:ext cx="517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99"/>
                </a:solidFill>
              </a:rPr>
              <a:t>I/p</a:t>
            </a:r>
            <a:r>
              <a:rPr lang="en-US" altLang="en-US" sz="1800" baseline="-25000">
                <a:solidFill>
                  <a:srgbClr val="000099"/>
                </a:solidFill>
              </a:rPr>
              <a:t>y</a:t>
            </a:r>
          </a:p>
        </p:txBody>
      </p:sp>
      <p:grpSp>
        <p:nvGrpSpPr>
          <p:cNvPr id="17" name="Group 73"/>
          <p:cNvGrpSpPr>
            <a:grpSpLocks/>
          </p:cNvGrpSpPr>
          <p:nvPr/>
        </p:nvGrpSpPr>
        <p:grpSpPr bwMode="auto">
          <a:xfrm>
            <a:off x="727075" y="5443538"/>
            <a:ext cx="1471613" cy="506412"/>
            <a:chOff x="726304" y="5511952"/>
            <a:chExt cx="1472484" cy="506276"/>
          </a:xfrm>
        </p:grpSpPr>
        <p:sp>
          <p:nvSpPr>
            <p:cNvPr id="50200" name="Text Box 27"/>
            <p:cNvSpPr txBox="1">
              <a:spLocks noChangeArrowheads="1"/>
            </p:cNvSpPr>
            <p:nvPr/>
          </p:nvSpPr>
          <p:spPr bwMode="auto">
            <a:xfrm>
              <a:off x="726304" y="5679674"/>
              <a:ext cx="141525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r" eaLnBrk="1" hangingPunct="1"/>
              <a:r>
                <a:rPr lang="en-US" altLang="en-US" sz="1600" dirty="0">
                  <a:solidFill>
                    <a:srgbClr val="C00000"/>
                  </a:solidFill>
                </a:rPr>
                <a:t>Income effect</a:t>
              </a:r>
            </a:p>
          </p:txBody>
        </p:sp>
        <p:sp>
          <p:nvSpPr>
            <p:cNvPr id="50201" name="Right Brace 70"/>
            <p:cNvSpPr>
              <a:spLocks/>
            </p:cNvSpPr>
            <p:nvPr/>
          </p:nvSpPr>
          <p:spPr bwMode="auto">
            <a:xfrm rot="5400000">
              <a:off x="1688733" y="5218605"/>
              <a:ext cx="216707" cy="803402"/>
            </a:xfrm>
            <a:prstGeom prst="rightBrace">
              <a:avLst>
                <a:gd name="adj1" fmla="val 29264"/>
                <a:gd name="adj2" fmla="val 50000"/>
              </a:avLst>
            </a:prstGeom>
            <a:noFill/>
            <a:ln w="28575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FontTx/>
                <a:buChar char="•"/>
              </a:pPr>
              <a:endParaRPr lang="en-US" altLang="en-US"/>
            </a:p>
          </p:txBody>
        </p:sp>
      </p:grpSp>
      <p:grpSp>
        <p:nvGrpSpPr>
          <p:cNvPr id="18" name="Group 74"/>
          <p:cNvGrpSpPr>
            <a:grpSpLocks/>
          </p:cNvGrpSpPr>
          <p:nvPr/>
        </p:nvGrpSpPr>
        <p:grpSpPr bwMode="auto">
          <a:xfrm>
            <a:off x="2163763" y="5443538"/>
            <a:ext cx="1870075" cy="504825"/>
            <a:chOff x="2163133" y="5511952"/>
            <a:chExt cx="1870076" cy="505860"/>
          </a:xfrm>
        </p:grpSpPr>
        <p:sp>
          <p:nvSpPr>
            <p:cNvPr id="50198" name="Text Box 27"/>
            <p:cNvSpPr txBox="1">
              <a:spLocks noChangeArrowheads="1"/>
            </p:cNvSpPr>
            <p:nvPr/>
          </p:nvSpPr>
          <p:spPr bwMode="auto">
            <a:xfrm>
              <a:off x="2163133" y="5679674"/>
              <a:ext cx="1870076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C00000"/>
                  </a:solidFill>
                </a:rPr>
                <a:t>Substitution effect</a:t>
              </a:r>
            </a:p>
          </p:txBody>
        </p:sp>
        <p:sp>
          <p:nvSpPr>
            <p:cNvPr id="50199" name="Right Brace 71"/>
            <p:cNvSpPr>
              <a:spLocks/>
            </p:cNvSpPr>
            <p:nvPr/>
          </p:nvSpPr>
          <p:spPr bwMode="auto">
            <a:xfrm rot="5400000">
              <a:off x="2393914" y="5326518"/>
              <a:ext cx="216707" cy="587575"/>
            </a:xfrm>
            <a:prstGeom prst="rightBrace">
              <a:avLst>
                <a:gd name="adj1" fmla="val 29273"/>
                <a:gd name="adj2" fmla="val 50000"/>
              </a:avLst>
            </a:prstGeom>
            <a:noFill/>
            <a:ln w="28575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FontTx/>
                <a:buChar char="•"/>
              </a:pPr>
              <a:endParaRPr lang="en-US" altLang="en-US"/>
            </a:p>
          </p:txBody>
        </p:sp>
      </p:grpSp>
      <p:grpSp>
        <p:nvGrpSpPr>
          <p:cNvPr id="19" name="Group 75"/>
          <p:cNvGrpSpPr>
            <a:grpSpLocks/>
          </p:cNvGrpSpPr>
          <p:nvPr/>
        </p:nvGrpSpPr>
        <p:grpSpPr bwMode="auto">
          <a:xfrm>
            <a:off x="1187450" y="5929313"/>
            <a:ext cx="1825625" cy="473075"/>
            <a:chOff x="1186905" y="5976201"/>
            <a:chExt cx="1825821" cy="474126"/>
          </a:xfrm>
        </p:grpSpPr>
        <p:sp>
          <p:nvSpPr>
            <p:cNvPr id="50196" name="Text Box 26"/>
            <p:cNvSpPr txBox="1">
              <a:spLocks noChangeArrowheads="1"/>
            </p:cNvSpPr>
            <p:nvPr/>
          </p:nvSpPr>
          <p:spPr bwMode="auto">
            <a:xfrm>
              <a:off x="1186905" y="6111773"/>
              <a:ext cx="182582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C00000"/>
                  </a:solidFill>
                </a:rPr>
                <a:t>Total increase in </a:t>
              </a:r>
              <a:r>
                <a:rPr lang="en-US" altLang="en-US" sz="1600" i="1" dirty="0">
                  <a:solidFill>
                    <a:srgbClr val="C00000"/>
                  </a:solidFill>
                </a:rPr>
                <a:t>x</a:t>
              </a:r>
              <a:endParaRPr lang="en-US" alt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50197" name="Right Brace 72"/>
            <p:cNvSpPr>
              <a:spLocks/>
            </p:cNvSpPr>
            <p:nvPr/>
          </p:nvSpPr>
          <p:spPr bwMode="auto">
            <a:xfrm rot="5400000">
              <a:off x="1997056" y="5351625"/>
              <a:ext cx="216707" cy="1465859"/>
            </a:xfrm>
            <a:prstGeom prst="rightBrace">
              <a:avLst>
                <a:gd name="adj1" fmla="val 29280"/>
                <a:gd name="adj2" fmla="val 50000"/>
              </a:avLst>
            </a:prstGeom>
            <a:noFill/>
            <a:ln w="28575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FontTx/>
                <a:buChar char="•"/>
              </a:pP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682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  <p:bldP spid="29" grpId="0" animBg="1"/>
      <p:bldP spid="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Changes in a Good’s Price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If a good is normal, substitution and income effects reinforce one another</a:t>
            </a:r>
          </a:p>
          <a:p>
            <a:pPr lvl="1">
              <a:lnSpc>
                <a:spcPct val="120000"/>
              </a:lnSpc>
            </a:pPr>
            <a:r>
              <a:rPr lang="en-US" altLang="en-US" smtClean="0"/>
              <a:t>When </a:t>
            </a:r>
            <a:r>
              <a:rPr lang="en-US" altLang="en-US" i="1" smtClean="0"/>
              <a:t>p</a:t>
            </a:r>
            <a:r>
              <a:rPr lang="en-US" altLang="en-US" smtClean="0">
                <a:sym typeface="Symbol" pitchFamily="18" charset="2"/>
              </a:rPr>
              <a:t> :</a:t>
            </a:r>
          </a:p>
          <a:p>
            <a:pPr lvl="2">
              <a:lnSpc>
                <a:spcPct val="120000"/>
              </a:lnSpc>
            </a:pPr>
            <a:r>
              <a:rPr lang="en-US" altLang="en-US" smtClean="0"/>
              <a:t>Substitution effect </a:t>
            </a:r>
            <a:r>
              <a:rPr lang="en-US" altLang="en-US" smtClean="0">
                <a:sym typeface="Symbol" pitchFamily="18" charset="2"/>
              </a:rPr>
              <a:t></a:t>
            </a:r>
            <a:r>
              <a:rPr lang="en-US" altLang="en-US" smtClean="0"/>
              <a:t> quantity demanded </a:t>
            </a:r>
            <a:r>
              <a:rPr lang="en-US" altLang="en-US" smtClean="0">
                <a:sym typeface="Symbol" pitchFamily="18" charset="2"/>
              </a:rPr>
              <a:t></a:t>
            </a:r>
          </a:p>
          <a:p>
            <a:pPr lvl="2">
              <a:lnSpc>
                <a:spcPct val="120000"/>
              </a:lnSpc>
            </a:pPr>
            <a:r>
              <a:rPr lang="en-US" altLang="en-US" smtClean="0">
                <a:sym typeface="Symbol" pitchFamily="18" charset="2"/>
              </a:rPr>
              <a:t>Income effect </a:t>
            </a:r>
            <a:r>
              <a:rPr lang="en-US" altLang="en-US" smtClean="0"/>
              <a:t> quantity demanded </a:t>
            </a:r>
            <a:r>
              <a:rPr lang="en-US" altLang="en-US" smtClean="0">
                <a:sym typeface="Symbol" pitchFamily="18" charset="2"/>
              </a:rPr>
              <a:t></a:t>
            </a:r>
          </a:p>
          <a:p>
            <a:pPr lvl="1">
              <a:lnSpc>
                <a:spcPct val="90000"/>
              </a:lnSpc>
            </a:pPr>
            <a:r>
              <a:rPr lang="en-US" altLang="en-US" smtClean="0"/>
              <a:t>When </a:t>
            </a:r>
            <a:r>
              <a:rPr lang="en-US" altLang="en-US" i="1" smtClean="0"/>
              <a:t>p</a:t>
            </a:r>
            <a:r>
              <a:rPr lang="en-US" altLang="en-US" smtClean="0"/>
              <a:t> </a:t>
            </a:r>
            <a:r>
              <a:rPr lang="en-US" altLang="en-US" smtClean="0">
                <a:sym typeface="Symbol" pitchFamily="18" charset="2"/>
              </a:rPr>
              <a:t></a:t>
            </a:r>
            <a:r>
              <a:rPr lang="en-US" altLang="en-US" smtClean="0"/>
              <a:t>:</a:t>
            </a:r>
          </a:p>
          <a:p>
            <a:pPr lvl="2">
              <a:lnSpc>
                <a:spcPct val="120000"/>
              </a:lnSpc>
            </a:pPr>
            <a:r>
              <a:rPr lang="en-US" altLang="en-US" smtClean="0"/>
              <a:t>Substitution effect </a:t>
            </a:r>
            <a:r>
              <a:rPr lang="en-US" altLang="en-US" smtClean="0">
                <a:sym typeface="Symbol" pitchFamily="18" charset="2"/>
              </a:rPr>
              <a:t></a:t>
            </a:r>
            <a:r>
              <a:rPr lang="en-US" altLang="en-US" smtClean="0"/>
              <a:t> quantity demanded </a:t>
            </a:r>
            <a:r>
              <a:rPr lang="en-US" altLang="en-US" smtClean="0">
                <a:sym typeface="Symbol" pitchFamily="18" charset="2"/>
              </a:rPr>
              <a:t></a:t>
            </a:r>
          </a:p>
          <a:p>
            <a:pPr lvl="2">
              <a:lnSpc>
                <a:spcPct val="120000"/>
              </a:lnSpc>
            </a:pPr>
            <a:r>
              <a:rPr lang="en-US" altLang="en-US" smtClean="0">
                <a:sym typeface="Symbol" pitchFamily="18" charset="2"/>
              </a:rPr>
              <a:t>Income effect </a:t>
            </a:r>
            <a:r>
              <a:rPr lang="en-US" altLang="en-US" smtClean="0"/>
              <a:t> quantity demanded </a:t>
            </a:r>
            <a:r>
              <a:rPr lang="en-US" altLang="en-US" smtClean="0">
                <a:sym typeface="Symbol" pitchFamily="18" charset="2"/>
              </a:rPr>
              <a:t>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C943208-1FF7-4752-A180-39AFA1C984C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Changes in a Good’s Price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mtClean="0"/>
              <a:t>For normal goods, a fall in price leads to an increase in quantity demanded</a:t>
            </a:r>
          </a:p>
          <a:p>
            <a:pPr lvl="1"/>
            <a:r>
              <a:rPr lang="en-US" altLang="en-US" smtClean="0"/>
              <a:t>Substitution effect</a:t>
            </a:r>
          </a:p>
          <a:p>
            <a:pPr lvl="2"/>
            <a:r>
              <a:rPr lang="en-US" altLang="en-US" smtClean="0"/>
              <a:t>Purchase more - as the individual moves along an indifference curve</a:t>
            </a:r>
          </a:p>
          <a:p>
            <a:pPr lvl="1"/>
            <a:r>
              <a:rPr lang="en-US" altLang="en-US" smtClean="0"/>
              <a:t>Income effect</a:t>
            </a:r>
          </a:p>
          <a:p>
            <a:pPr lvl="2"/>
            <a:r>
              <a:rPr lang="en-US" altLang="en-US" smtClean="0"/>
              <a:t>Purchase more - because the resulting rise in purchasing power allows the individual to move to a higher indifference curve</a:t>
            </a:r>
          </a:p>
          <a:p>
            <a:pPr>
              <a:lnSpc>
                <a:spcPct val="90000"/>
              </a:lnSpc>
            </a:pPr>
            <a:endParaRPr lang="en-US" altLang="en-US" smtClean="0">
              <a:sym typeface="Symbol" pitchFamily="18" charset="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0C4553-070C-432F-8046-EC21FE69F5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Changes in a Good’s Price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mtClean="0"/>
              <a:t>For normal goods, a rise in price leads to a decline in quantity demanded</a:t>
            </a:r>
          </a:p>
          <a:p>
            <a:pPr lvl="1">
              <a:lnSpc>
                <a:spcPct val="110000"/>
              </a:lnSpc>
            </a:pPr>
            <a:r>
              <a:rPr lang="en-US" altLang="en-US" smtClean="0"/>
              <a:t>Substitution effect</a:t>
            </a:r>
          </a:p>
          <a:p>
            <a:pPr lvl="2">
              <a:lnSpc>
                <a:spcPct val="110000"/>
              </a:lnSpc>
            </a:pPr>
            <a:r>
              <a:rPr lang="en-US" altLang="en-US" smtClean="0"/>
              <a:t>Purchase less - as the individual moves along an indifference curve</a:t>
            </a:r>
          </a:p>
          <a:p>
            <a:pPr lvl="1"/>
            <a:r>
              <a:rPr lang="en-US" altLang="en-US" smtClean="0"/>
              <a:t>Income effect</a:t>
            </a:r>
          </a:p>
          <a:p>
            <a:pPr lvl="2"/>
            <a:r>
              <a:rPr lang="en-US" altLang="en-US" smtClean="0"/>
              <a:t>Purchase less - because the resulting drop in purchasing power moves the individual to a lower indifference curve</a:t>
            </a:r>
          </a:p>
          <a:p>
            <a:pPr>
              <a:lnSpc>
                <a:spcPct val="90000"/>
              </a:lnSpc>
            </a:pPr>
            <a:endParaRPr lang="en-US" altLang="en-US" smtClean="0">
              <a:sym typeface="Symbol" pitchFamily="18" charset="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E6BB34-EC15-445E-8268-88A6F3A5FA8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5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Changes in a Good’s Price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If a good is inferior, substitution and income effects move in opposite directions</a:t>
            </a:r>
          </a:p>
          <a:p>
            <a:pPr lvl="1">
              <a:lnSpc>
                <a:spcPct val="120000"/>
              </a:lnSpc>
            </a:pPr>
            <a:r>
              <a:rPr lang="en-US" altLang="en-US" smtClean="0"/>
              <a:t>When </a:t>
            </a:r>
            <a:r>
              <a:rPr lang="en-US" altLang="en-US" i="1" smtClean="0"/>
              <a:t>p</a:t>
            </a:r>
            <a:r>
              <a:rPr lang="en-US" altLang="en-US" smtClean="0">
                <a:sym typeface="Symbol" pitchFamily="18" charset="2"/>
              </a:rPr>
              <a:t> :</a:t>
            </a:r>
          </a:p>
          <a:p>
            <a:pPr lvl="2">
              <a:lnSpc>
                <a:spcPct val="120000"/>
              </a:lnSpc>
            </a:pPr>
            <a:r>
              <a:rPr lang="en-US" altLang="en-US" smtClean="0"/>
              <a:t>Substitution effect </a:t>
            </a:r>
            <a:r>
              <a:rPr lang="en-US" altLang="en-US" smtClean="0">
                <a:sym typeface="Symbol" pitchFamily="18" charset="2"/>
              </a:rPr>
              <a:t></a:t>
            </a:r>
            <a:r>
              <a:rPr lang="en-US" altLang="en-US" smtClean="0"/>
              <a:t> quantity demanded </a:t>
            </a:r>
            <a:r>
              <a:rPr lang="en-US" altLang="en-US" smtClean="0">
                <a:sym typeface="Symbol" pitchFamily="18" charset="2"/>
              </a:rPr>
              <a:t></a:t>
            </a:r>
          </a:p>
          <a:p>
            <a:pPr lvl="2">
              <a:lnSpc>
                <a:spcPct val="120000"/>
              </a:lnSpc>
            </a:pPr>
            <a:r>
              <a:rPr lang="en-US" altLang="en-US" smtClean="0">
                <a:sym typeface="Symbol" pitchFamily="18" charset="2"/>
              </a:rPr>
              <a:t>Income effect </a:t>
            </a:r>
            <a:r>
              <a:rPr lang="en-US" altLang="en-US" smtClean="0"/>
              <a:t> quantity demanded </a:t>
            </a:r>
            <a:r>
              <a:rPr lang="en-US" altLang="en-US" smtClean="0">
                <a:sym typeface="Symbol" pitchFamily="18" charset="2"/>
              </a:rPr>
              <a:t></a:t>
            </a:r>
          </a:p>
          <a:p>
            <a:pPr lvl="1"/>
            <a:r>
              <a:rPr lang="en-US" altLang="en-US" smtClean="0"/>
              <a:t>When </a:t>
            </a:r>
            <a:r>
              <a:rPr lang="en-US" altLang="en-US" i="1" smtClean="0"/>
              <a:t>p</a:t>
            </a:r>
            <a:r>
              <a:rPr lang="en-US" altLang="en-US" smtClean="0"/>
              <a:t> </a:t>
            </a:r>
            <a:r>
              <a:rPr lang="en-US" altLang="en-US" smtClean="0">
                <a:sym typeface="Symbol" pitchFamily="18" charset="2"/>
              </a:rPr>
              <a:t></a:t>
            </a:r>
            <a:r>
              <a:rPr lang="en-US" altLang="en-US" smtClean="0"/>
              <a:t>:</a:t>
            </a:r>
          </a:p>
          <a:p>
            <a:pPr lvl="2">
              <a:lnSpc>
                <a:spcPct val="120000"/>
              </a:lnSpc>
            </a:pPr>
            <a:r>
              <a:rPr lang="en-US" altLang="en-US" smtClean="0"/>
              <a:t>Substitution effect </a:t>
            </a:r>
            <a:r>
              <a:rPr lang="en-US" altLang="en-US" smtClean="0">
                <a:sym typeface="Symbol" pitchFamily="18" charset="2"/>
              </a:rPr>
              <a:t></a:t>
            </a:r>
            <a:r>
              <a:rPr lang="en-US" altLang="en-US" smtClean="0"/>
              <a:t> quantity demanded </a:t>
            </a:r>
            <a:r>
              <a:rPr lang="en-US" altLang="en-US" smtClean="0">
                <a:sym typeface="Symbol" pitchFamily="18" charset="2"/>
              </a:rPr>
              <a:t></a:t>
            </a:r>
          </a:p>
          <a:p>
            <a:pPr lvl="2">
              <a:lnSpc>
                <a:spcPct val="120000"/>
              </a:lnSpc>
            </a:pPr>
            <a:r>
              <a:rPr lang="en-US" altLang="en-US" smtClean="0">
                <a:sym typeface="Symbol" pitchFamily="18" charset="2"/>
              </a:rPr>
              <a:t>Income effect </a:t>
            </a:r>
            <a:r>
              <a:rPr lang="en-US" altLang="en-US" smtClean="0"/>
              <a:t> quantity demanded </a:t>
            </a:r>
            <a:r>
              <a:rPr lang="en-US" altLang="en-US" smtClean="0">
                <a:sym typeface="Symbol" pitchFamily="18" charset="2"/>
              </a:rPr>
              <a:t>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0AB7AC0-491C-49C5-A8EC-72554E5FB22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6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Changes in a Good’s Price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Giffen’s paradox</a:t>
            </a:r>
          </a:p>
          <a:p>
            <a:pPr lvl="1"/>
            <a:r>
              <a:rPr lang="en-US" altLang="en-US" smtClean="0"/>
              <a:t>If the income effect of a price change is strong enough, there could be a positive relationship between price and quantity demanded</a:t>
            </a:r>
          </a:p>
          <a:p>
            <a:pPr lvl="2"/>
            <a:r>
              <a:rPr lang="en-US" altLang="en-US" smtClean="0"/>
              <a:t>An increase in price leads to a drop in real income</a:t>
            </a:r>
          </a:p>
          <a:p>
            <a:pPr lvl="2"/>
            <a:r>
              <a:rPr lang="en-US" altLang="en-US" smtClean="0"/>
              <a:t>Since the good is inferior, a drop in income causes quantity demanded to rise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E1ABCA-EF58-4A96-9A2F-8DA08CB3F61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6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Changes in a Good’s Price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mtClean="0"/>
              <a:t>For inferior goods, no definite prediction can be made for changes in price</a:t>
            </a:r>
          </a:p>
          <a:p>
            <a:pPr lvl="1">
              <a:lnSpc>
                <a:spcPct val="110000"/>
              </a:lnSpc>
            </a:pPr>
            <a:r>
              <a:rPr lang="en-US" altLang="en-US" smtClean="0"/>
              <a:t>The substitution effect and income effect move in opposite directions</a:t>
            </a:r>
          </a:p>
          <a:p>
            <a:pPr lvl="1">
              <a:lnSpc>
                <a:spcPct val="110000"/>
              </a:lnSpc>
            </a:pPr>
            <a:r>
              <a:rPr lang="en-US" altLang="en-US" smtClean="0"/>
              <a:t>If the income effect outweighs the substitution effect, we have a case of Giffen’s paradox</a:t>
            </a:r>
            <a:endParaRPr lang="en-US" altLang="en-US" i="1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425271-A273-400E-9C10-CBB9EF72E06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4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Individual’s Demand Curve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An individual’s demand for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Depends on preferences, all prices, and income: </a:t>
            </a:r>
            <a:r>
              <a:rPr lang="en-US" altLang="en-US" i="1" dirty="0" smtClean="0">
                <a:solidFill>
                  <a:srgbClr val="FF0000"/>
                </a:solidFill>
              </a:rPr>
              <a:t>x</a:t>
            </a:r>
            <a:r>
              <a:rPr lang="en-US" altLang="en-US" dirty="0" smtClean="0">
                <a:solidFill>
                  <a:srgbClr val="FF0000"/>
                </a:solidFill>
              </a:rPr>
              <a:t>* = </a:t>
            </a:r>
            <a:r>
              <a:rPr lang="en-US" altLang="en-US" i="1" dirty="0" smtClean="0">
                <a:solidFill>
                  <a:srgbClr val="FF0000"/>
                </a:solidFill>
              </a:rPr>
              <a:t>x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  <a:latin typeface="Verdana" pitchFamily="34" charset="0"/>
              </a:rPr>
              <a:t>I</a:t>
            </a:r>
            <a:r>
              <a:rPr lang="en-US" altLang="en-US" dirty="0" smtClean="0">
                <a:solidFill>
                  <a:srgbClr val="FF0000"/>
                </a:solidFill>
              </a:rPr>
              <a:t>)</a:t>
            </a:r>
          </a:p>
          <a:p>
            <a:pPr lvl="1">
              <a:lnSpc>
                <a:spcPct val="110000"/>
              </a:lnSpc>
            </a:pPr>
            <a:r>
              <a:rPr lang="en-US" altLang="en-US" dirty="0" smtClean="0"/>
              <a:t>It may be convenient to graph it assuming that income and the price of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(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y</a:t>
            </a:r>
            <a:r>
              <a:rPr lang="en-US" altLang="en-US" dirty="0" smtClean="0"/>
              <a:t>) are held constant</a:t>
            </a: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A358830-AE98-46B2-A2B6-7EC7C6AAE14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4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5.5	</a:t>
            </a:r>
            <a:r>
              <a:rPr lang="en-US" altLang="en-US" sz="2900" dirty="0"/>
              <a:t>Construction of an Individual’s Demand </a:t>
            </a:r>
            <a:r>
              <a:rPr lang="en-US" altLang="en-US" sz="2900" dirty="0" smtClean="0"/>
              <a:t>Curve</a:t>
            </a:r>
          </a:p>
        </p:txBody>
      </p:sp>
      <p:sp>
        <p:nvSpPr>
          <p:cNvPr id="58371" name="Text Placeholder 2"/>
          <p:cNvSpPr>
            <a:spLocks noGrp="1"/>
          </p:cNvSpPr>
          <p:nvPr>
            <p:ph sz="half" idx="1"/>
          </p:nvPr>
        </p:nvSpPr>
        <p:spPr>
          <a:xfrm>
            <a:off x="152400" y="5130800"/>
            <a:ext cx="8839200" cy="1270000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In (a), the individual’s utility-maximizing choices of x and y are shown for three different prices of x(</a:t>
            </a:r>
            <a:r>
              <a:rPr lang="en-US" altLang="en-US" dirty="0" err="1"/>
              <a:t>p’</a:t>
            </a:r>
            <a:r>
              <a:rPr lang="en-US" altLang="en-US" baseline="-25000" dirty="0" err="1"/>
              <a:t>x</a:t>
            </a:r>
            <a:r>
              <a:rPr lang="en-US" altLang="en-US" dirty="0"/>
              <a:t>, </a:t>
            </a:r>
            <a:r>
              <a:rPr lang="en-US" altLang="en-US" dirty="0" err="1"/>
              <a:t>p”</a:t>
            </a:r>
            <a:r>
              <a:rPr lang="en-US" altLang="en-US" baseline="-25000" dirty="0" err="1"/>
              <a:t>x</a:t>
            </a:r>
            <a:r>
              <a:rPr lang="en-US" altLang="en-US" dirty="0"/>
              <a:t>, and </a:t>
            </a:r>
            <a:r>
              <a:rPr lang="en-US" altLang="en-US" dirty="0" err="1"/>
              <a:t>p’”</a:t>
            </a:r>
            <a:r>
              <a:rPr lang="en-US" altLang="en-US" baseline="-25000" dirty="0" err="1"/>
              <a:t>x</a:t>
            </a:r>
            <a:r>
              <a:rPr lang="en-US" altLang="en-US" dirty="0"/>
              <a:t>). In (b), this relationship between 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x</a:t>
            </a:r>
            <a:r>
              <a:rPr lang="en-US" altLang="en-US" dirty="0"/>
              <a:t> and x is used to construct the demand curve for x. The demand curve is drawn on the assumption that 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y</a:t>
            </a:r>
            <a:r>
              <a:rPr lang="en-US" altLang="en-US" dirty="0"/>
              <a:t>, I, and preferences remain constant as 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x</a:t>
            </a:r>
            <a:r>
              <a:rPr lang="en-US" altLang="en-US" dirty="0"/>
              <a:t> varies.</a:t>
            </a:r>
          </a:p>
        </p:txBody>
      </p:sp>
      <p:sp>
        <p:nvSpPr>
          <p:cNvPr id="58373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79" name="Slide Number Placeholder 7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9B2E531-FADC-494C-ADD0-7C6C333C9B8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grpSp>
        <p:nvGrpSpPr>
          <p:cNvPr id="2" name="Group 69"/>
          <p:cNvGrpSpPr>
            <a:grpSpLocks/>
          </p:cNvGrpSpPr>
          <p:nvPr/>
        </p:nvGrpSpPr>
        <p:grpSpPr bwMode="auto">
          <a:xfrm>
            <a:off x="5524500" y="2133600"/>
            <a:ext cx="3222625" cy="1976438"/>
            <a:chOff x="3456" y="2064"/>
            <a:chExt cx="2030" cy="1245"/>
          </a:xfrm>
        </p:grpSpPr>
        <p:sp>
          <p:nvSpPr>
            <p:cNvPr id="58446" name="Freeform 33"/>
            <p:cNvSpPr>
              <a:spLocks/>
            </p:cNvSpPr>
            <p:nvPr/>
          </p:nvSpPr>
          <p:spPr bwMode="auto">
            <a:xfrm>
              <a:off x="3456" y="2064"/>
              <a:ext cx="1728" cy="1104"/>
            </a:xfrm>
            <a:custGeom>
              <a:avLst/>
              <a:gdLst>
                <a:gd name="T0" fmla="*/ 0 w 1728"/>
                <a:gd name="T1" fmla="*/ 0 h 1104"/>
                <a:gd name="T2" fmla="*/ 624 w 1728"/>
                <a:gd name="T3" fmla="*/ 624 h 1104"/>
                <a:gd name="T4" fmla="*/ 1728 w 1728"/>
                <a:gd name="T5" fmla="*/ 1104 h 1104"/>
                <a:gd name="T6" fmla="*/ 0 60000 65536"/>
                <a:gd name="T7" fmla="*/ 0 60000 65536"/>
                <a:gd name="T8" fmla="*/ 0 60000 65536"/>
                <a:gd name="T9" fmla="*/ 0 w 1728"/>
                <a:gd name="T10" fmla="*/ 0 h 1104"/>
                <a:gd name="T11" fmla="*/ 1728 w 1728"/>
                <a:gd name="T12" fmla="*/ 1104 h 1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" h="1104">
                  <a:moveTo>
                    <a:pt x="0" y="0"/>
                  </a:moveTo>
                  <a:cubicBezTo>
                    <a:pt x="168" y="220"/>
                    <a:pt x="336" y="440"/>
                    <a:pt x="624" y="624"/>
                  </a:cubicBezTo>
                  <a:cubicBezTo>
                    <a:pt x="912" y="808"/>
                    <a:pt x="1320" y="956"/>
                    <a:pt x="1728" y="1104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447" name="Text Box 46"/>
            <p:cNvSpPr txBox="1">
              <a:spLocks noChangeArrowheads="1"/>
            </p:cNvSpPr>
            <p:nvPr/>
          </p:nvSpPr>
          <p:spPr bwMode="auto">
            <a:xfrm>
              <a:off x="5184" y="3076"/>
              <a:ext cx="30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C00000"/>
                  </a:solidFill>
                </a:rPr>
                <a:t>x</a:t>
              </a:r>
              <a:endParaRPr lang="en-US" altLang="en-US" sz="1800">
                <a:solidFill>
                  <a:srgbClr val="C00000"/>
                </a:solidFill>
              </a:endParaRPr>
            </a:p>
          </p:txBody>
        </p:sp>
      </p:grpSp>
      <p:grpSp>
        <p:nvGrpSpPr>
          <p:cNvPr id="3" name="Group 86"/>
          <p:cNvGrpSpPr>
            <a:grpSpLocks/>
          </p:cNvGrpSpPr>
          <p:nvPr/>
        </p:nvGrpSpPr>
        <p:grpSpPr bwMode="auto">
          <a:xfrm>
            <a:off x="209550" y="762000"/>
            <a:ext cx="4603750" cy="4151313"/>
            <a:chOff x="209550" y="762000"/>
            <a:chExt cx="4603750" cy="4151313"/>
          </a:xfrm>
        </p:grpSpPr>
        <p:grpSp>
          <p:nvGrpSpPr>
            <p:cNvPr id="58440" name="Group 83"/>
            <p:cNvGrpSpPr>
              <a:grpSpLocks/>
            </p:cNvGrpSpPr>
            <p:nvPr/>
          </p:nvGrpSpPr>
          <p:grpSpPr bwMode="auto">
            <a:xfrm>
              <a:off x="209550" y="762000"/>
              <a:ext cx="1466850" cy="3810000"/>
              <a:chOff x="209550" y="762000"/>
              <a:chExt cx="1466850" cy="3810000"/>
            </a:xfrm>
          </p:grpSpPr>
          <p:sp>
            <p:nvSpPr>
              <p:cNvPr id="58444" name="Line 4"/>
              <p:cNvSpPr>
                <a:spLocks noChangeShapeType="1"/>
              </p:cNvSpPr>
              <p:nvPr/>
            </p:nvSpPr>
            <p:spPr bwMode="auto">
              <a:xfrm>
                <a:off x="800100" y="1219200"/>
                <a:ext cx="0" cy="3352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445" name="Text Box 8"/>
              <p:cNvSpPr txBox="1">
                <a:spLocks noChangeArrowheads="1"/>
              </p:cNvSpPr>
              <p:nvPr/>
            </p:nvSpPr>
            <p:spPr bwMode="auto">
              <a:xfrm>
                <a:off x="209550" y="762000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y</a:t>
                </a:r>
                <a:endParaRPr lang="en-US" altLang="en-US" sz="1800"/>
              </a:p>
            </p:txBody>
          </p:sp>
        </p:grpSp>
        <p:grpSp>
          <p:nvGrpSpPr>
            <p:cNvPr id="58441" name="Group 82"/>
            <p:cNvGrpSpPr>
              <a:grpSpLocks/>
            </p:cNvGrpSpPr>
            <p:nvPr/>
          </p:nvGrpSpPr>
          <p:grpSpPr bwMode="auto">
            <a:xfrm>
              <a:off x="800100" y="4546600"/>
              <a:ext cx="4013200" cy="366713"/>
              <a:chOff x="800100" y="4546600"/>
              <a:chExt cx="4013200" cy="366713"/>
            </a:xfrm>
          </p:grpSpPr>
          <p:sp>
            <p:nvSpPr>
              <p:cNvPr id="58442" name="Line 5"/>
              <p:cNvSpPr>
                <a:spLocks noChangeShapeType="1"/>
              </p:cNvSpPr>
              <p:nvPr/>
            </p:nvSpPr>
            <p:spPr bwMode="auto">
              <a:xfrm>
                <a:off x="800100" y="4572000"/>
                <a:ext cx="3581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443" name="Text Box 9"/>
              <p:cNvSpPr txBox="1">
                <a:spLocks noChangeArrowheads="1"/>
              </p:cNvSpPr>
              <p:nvPr/>
            </p:nvSpPr>
            <p:spPr bwMode="auto">
              <a:xfrm>
                <a:off x="3346450" y="4546600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  <a:endParaRPr lang="en-US" altLang="en-US" sz="1800"/>
              </a:p>
            </p:txBody>
          </p:sp>
        </p:grpSp>
      </p:grpSp>
      <p:grpSp>
        <p:nvGrpSpPr>
          <p:cNvPr id="7" name="Group 87"/>
          <p:cNvGrpSpPr>
            <a:grpSpLocks/>
          </p:cNvGrpSpPr>
          <p:nvPr/>
        </p:nvGrpSpPr>
        <p:grpSpPr bwMode="auto">
          <a:xfrm>
            <a:off x="4559300" y="838200"/>
            <a:ext cx="4356100" cy="4081463"/>
            <a:chOff x="4559300" y="838200"/>
            <a:chExt cx="4356100" cy="4081016"/>
          </a:xfrm>
        </p:grpSpPr>
        <p:grpSp>
          <p:nvGrpSpPr>
            <p:cNvPr id="58434" name="Group 85"/>
            <p:cNvGrpSpPr>
              <a:grpSpLocks/>
            </p:cNvGrpSpPr>
            <p:nvPr/>
          </p:nvGrpSpPr>
          <p:grpSpPr bwMode="auto">
            <a:xfrm>
              <a:off x="4991100" y="4552503"/>
              <a:ext cx="3924300" cy="366713"/>
              <a:chOff x="4991100" y="4552503"/>
              <a:chExt cx="3924300" cy="366713"/>
            </a:xfrm>
          </p:grpSpPr>
          <p:sp>
            <p:nvSpPr>
              <p:cNvPr id="58438" name="Line 6"/>
              <p:cNvSpPr>
                <a:spLocks noChangeShapeType="1"/>
              </p:cNvSpPr>
              <p:nvPr/>
            </p:nvSpPr>
            <p:spPr bwMode="auto">
              <a:xfrm>
                <a:off x="4991100" y="4572000"/>
                <a:ext cx="3505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439" name="Text Box 10"/>
              <p:cNvSpPr txBox="1">
                <a:spLocks noChangeArrowheads="1"/>
              </p:cNvSpPr>
              <p:nvPr/>
            </p:nvSpPr>
            <p:spPr bwMode="auto">
              <a:xfrm>
                <a:off x="7448550" y="4552503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  <a:endParaRPr lang="en-US" altLang="en-US" sz="1800"/>
              </a:p>
            </p:txBody>
          </p:sp>
        </p:grpSp>
        <p:grpSp>
          <p:nvGrpSpPr>
            <p:cNvPr id="58435" name="Group 84"/>
            <p:cNvGrpSpPr>
              <a:grpSpLocks/>
            </p:cNvGrpSpPr>
            <p:nvPr/>
          </p:nvGrpSpPr>
          <p:grpSpPr bwMode="auto">
            <a:xfrm>
              <a:off x="4559300" y="838200"/>
              <a:ext cx="431800" cy="3733800"/>
              <a:chOff x="4559300" y="838200"/>
              <a:chExt cx="431800" cy="3733800"/>
            </a:xfrm>
          </p:grpSpPr>
          <p:sp>
            <p:nvSpPr>
              <p:cNvPr id="58436" name="Line 7"/>
              <p:cNvSpPr>
                <a:spLocks noChangeShapeType="1"/>
              </p:cNvSpPr>
              <p:nvPr/>
            </p:nvSpPr>
            <p:spPr bwMode="auto">
              <a:xfrm>
                <a:off x="4991100" y="1219200"/>
                <a:ext cx="0" cy="3352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437" name="Text Box 11"/>
              <p:cNvSpPr txBox="1">
                <a:spLocks noChangeArrowheads="1"/>
              </p:cNvSpPr>
              <p:nvPr/>
            </p:nvSpPr>
            <p:spPr bwMode="auto">
              <a:xfrm>
                <a:off x="4559300" y="838200"/>
                <a:ext cx="3873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p</a:t>
                </a:r>
                <a:r>
                  <a:rPr lang="en-US" altLang="en-US" sz="1800" i="1" baseline="-25000"/>
                  <a:t>x</a:t>
                </a:r>
                <a:endParaRPr lang="en-US" altLang="en-US" sz="1800" baseline="-25000"/>
              </a:p>
            </p:txBody>
          </p:sp>
        </p:grpSp>
      </p:grpSp>
      <p:grpSp>
        <p:nvGrpSpPr>
          <p:cNvPr id="10" name="Group 77"/>
          <p:cNvGrpSpPr>
            <a:grpSpLocks/>
          </p:cNvGrpSpPr>
          <p:nvPr/>
        </p:nvGrpSpPr>
        <p:grpSpPr bwMode="auto">
          <a:xfrm>
            <a:off x="5994400" y="2870200"/>
            <a:ext cx="479425" cy="2063750"/>
            <a:chOff x="5994400" y="2870201"/>
            <a:chExt cx="479425" cy="2064266"/>
          </a:xfrm>
        </p:grpSpPr>
        <p:sp>
          <p:nvSpPr>
            <p:cNvPr id="58431" name="Text Box 37"/>
            <p:cNvSpPr txBox="1">
              <a:spLocks noChangeArrowheads="1"/>
            </p:cNvSpPr>
            <p:nvPr/>
          </p:nvSpPr>
          <p:spPr bwMode="auto">
            <a:xfrm>
              <a:off x="5994400" y="4565135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x’’</a:t>
              </a:r>
            </a:p>
          </p:txBody>
        </p:sp>
        <p:sp>
          <p:nvSpPr>
            <p:cNvPr id="58432" name="Line 38"/>
            <p:cNvSpPr>
              <a:spLocks noChangeShapeType="1"/>
            </p:cNvSpPr>
            <p:nvPr/>
          </p:nvSpPr>
          <p:spPr bwMode="auto">
            <a:xfrm flipV="1">
              <a:off x="6210300" y="2895601"/>
              <a:ext cx="0" cy="167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33" name="Oval 44"/>
            <p:cNvSpPr>
              <a:spLocks noChangeArrowheads="1"/>
            </p:cNvSpPr>
            <p:nvPr/>
          </p:nvSpPr>
          <p:spPr bwMode="auto">
            <a:xfrm>
              <a:off x="6184900" y="2870201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1" name="Group 80"/>
          <p:cNvGrpSpPr>
            <a:grpSpLocks/>
          </p:cNvGrpSpPr>
          <p:nvPr/>
        </p:nvGrpSpPr>
        <p:grpSpPr bwMode="auto">
          <a:xfrm>
            <a:off x="4503738" y="2698750"/>
            <a:ext cx="1706562" cy="368300"/>
            <a:chOff x="4504068" y="2698235"/>
            <a:chExt cx="1706232" cy="369332"/>
          </a:xfrm>
        </p:grpSpPr>
        <p:sp>
          <p:nvSpPr>
            <p:cNvPr id="58429" name="Line 39"/>
            <p:cNvSpPr>
              <a:spLocks noChangeShapeType="1"/>
            </p:cNvSpPr>
            <p:nvPr/>
          </p:nvSpPr>
          <p:spPr bwMode="auto">
            <a:xfrm flipH="1">
              <a:off x="4991100" y="2895601"/>
              <a:ext cx="1219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430" name="Text Box 48"/>
            <p:cNvSpPr txBox="1">
              <a:spLocks noChangeArrowheads="1"/>
            </p:cNvSpPr>
            <p:nvPr/>
          </p:nvSpPr>
          <p:spPr bwMode="auto">
            <a:xfrm>
              <a:off x="4504068" y="2698235"/>
              <a:ext cx="6699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i="1" baseline="-25000"/>
                <a:t>x</a:t>
              </a:r>
              <a:r>
                <a:rPr lang="en-US" altLang="en-US" sz="1800"/>
                <a:t>’’</a:t>
              </a:r>
            </a:p>
          </p:txBody>
        </p:sp>
      </p:grpSp>
      <p:grpSp>
        <p:nvGrpSpPr>
          <p:cNvPr id="12" name="Group 89"/>
          <p:cNvGrpSpPr>
            <a:grpSpLocks/>
          </p:cNvGrpSpPr>
          <p:nvPr/>
        </p:nvGrpSpPr>
        <p:grpSpPr bwMode="auto">
          <a:xfrm>
            <a:off x="1590675" y="1828800"/>
            <a:ext cx="1914526" cy="2362200"/>
            <a:chOff x="1590855" y="1828800"/>
            <a:chExt cx="1914344" cy="2362726"/>
          </a:xfrm>
        </p:grpSpPr>
        <p:sp>
          <p:nvSpPr>
            <p:cNvPr id="58427" name="Freeform 19"/>
            <p:cNvSpPr>
              <a:spLocks/>
            </p:cNvSpPr>
            <p:nvPr/>
          </p:nvSpPr>
          <p:spPr bwMode="auto">
            <a:xfrm>
              <a:off x="1590855" y="1828800"/>
              <a:ext cx="1524000" cy="2057400"/>
            </a:xfrm>
            <a:custGeom>
              <a:avLst/>
              <a:gdLst>
                <a:gd name="T0" fmla="*/ 0 w 864"/>
                <a:gd name="T1" fmla="*/ 0 h 1296"/>
                <a:gd name="T2" fmla="*/ 2147483647 w 864"/>
                <a:gd name="T3" fmla="*/ 2147483647 h 1296"/>
                <a:gd name="T4" fmla="*/ 2147483647 w 864"/>
                <a:gd name="T5" fmla="*/ 2147483647 h 1296"/>
                <a:gd name="T6" fmla="*/ 0 60000 65536"/>
                <a:gd name="T7" fmla="*/ 0 60000 65536"/>
                <a:gd name="T8" fmla="*/ 0 60000 65536"/>
                <a:gd name="T9" fmla="*/ 0 w 864"/>
                <a:gd name="T10" fmla="*/ 0 h 1296"/>
                <a:gd name="T11" fmla="*/ 864 w 864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1296">
                  <a:moveTo>
                    <a:pt x="0" y="0"/>
                  </a:moveTo>
                  <a:cubicBezTo>
                    <a:pt x="24" y="300"/>
                    <a:pt x="48" y="600"/>
                    <a:pt x="192" y="816"/>
                  </a:cubicBezTo>
                  <a:cubicBezTo>
                    <a:pt x="336" y="1032"/>
                    <a:pt x="600" y="1164"/>
                    <a:pt x="864" y="1296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28" name="Text Box 22"/>
            <p:cNvSpPr txBox="1">
              <a:spLocks noChangeArrowheads="1"/>
            </p:cNvSpPr>
            <p:nvPr/>
          </p:nvSpPr>
          <p:spPr bwMode="auto">
            <a:xfrm>
              <a:off x="3025774" y="3822194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2</a:t>
              </a:r>
            </a:p>
          </p:txBody>
        </p:sp>
      </p:grpSp>
      <p:grpSp>
        <p:nvGrpSpPr>
          <p:cNvPr id="13" name="Group 72"/>
          <p:cNvGrpSpPr>
            <a:grpSpLocks/>
          </p:cNvGrpSpPr>
          <p:nvPr/>
        </p:nvGrpSpPr>
        <p:grpSpPr bwMode="auto">
          <a:xfrm>
            <a:off x="800100" y="1524000"/>
            <a:ext cx="3222625" cy="3640138"/>
            <a:chOff x="800100" y="1524000"/>
            <a:chExt cx="3223164" cy="3639806"/>
          </a:xfrm>
        </p:grpSpPr>
        <p:sp>
          <p:nvSpPr>
            <p:cNvPr id="58424" name="Line 13"/>
            <p:cNvSpPr>
              <a:spLocks noChangeShapeType="1"/>
            </p:cNvSpPr>
            <p:nvPr/>
          </p:nvSpPr>
          <p:spPr bwMode="auto">
            <a:xfrm>
              <a:off x="800100" y="1524000"/>
              <a:ext cx="2133600" cy="30480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425" name="Text Box 50"/>
            <p:cNvSpPr txBox="1">
              <a:spLocks noChangeArrowheads="1"/>
            </p:cNvSpPr>
            <p:nvPr/>
          </p:nvSpPr>
          <p:spPr bwMode="auto">
            <a:xfrm>
              <a:off x="2423064" y="4825252"/>
              <a:ext cx="16002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i="1">
                  <a:solidFill>
                    <a:srgbClr val="000099"/>
                  </a:solidFill>
                </a:rPr>
                <a:t>I</a:t>
              </a:r>
              <a:r>
                <a:rPr lang="en-US" altLang="en-US" sz="1600">
                  <a:solidFill>
                    <a:srgbClr val="000099"/>
                  </a:solidFill>
                </a:rPr>
                <a:t> = </a:t>
              </a:r>
              <a:r>
                <a:rPr lang="en-US" altLang="en-US" sz="1600" i="1">
                  <a:solidFill>
                    <a:srgbClr val="000099"/>
                  </a:solidFill>
                </a:rPr>
                <a:t>p</a:t>
              </a:r>
              <a:r>
                <a:rPr lang="en-US" altLang="en-US" sz="1600" i="1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600">
                  <a:solidFill>
                    <a:srgbClr val="000099"/>
                  </a:solidFill>
                </a:rPr>
                <a:t>’’x + </a:t>
              </a:r>
              <a:r>
                <a:rPr lang="en-US" altLang="en-US" sz="1600" i="1">
                  <a:solidFill>
                    <a:srgbClr val="000099"/>
                  </a:solidFill>
                </a:rPr>
                <a:t>p</a:t>
              </a:r>
              <a:r>
                <a:rPr lang="en-US" altLang="en-US" sz="1600" i="1" baseline="-25000">
                  <a:solidFill>
                    <a:srgbClr val="000099"/>
                  </a:solidFill>
                </a:rPr>
                <a:t>y</a:t>
              </a:r>
              <a:r>
                <a:rPr lang="en-US" altLang="en-US" sz="1600" i="1">
                  <a:solidFill>
                    <a:srgbClr val="000099"/>
                  </a:solidFill>
                </a:rPr>
                <a:t>y</a:t>
              </a:r>
              <a:endParaRPr lang="en-US" altLang="en-US" sz="1600" baseline="-25000">
                <a:solidFill>
                  <a:srgbClr val="000099"/>
                </a:solidFill>
              </a:endParaRPr>
            </a:p>
          </p:txBody>
        </p:sp>
        <p:sp>
          <p:nvSpPr>
            <p:cNvPr id="58426" name="Line 56"/>
            <p:cNvSpPr>
              <a:spLocks noChangeShapeType="1"/>
            </p:cNvSpPr>
            <p:nvPr/>
          </p:nvSpPr>
          <p:spPr bwMode="auto">
            <a:xfrm flipH="1" flipV="1">
              <a:off x="2682814" y="4276546"/>
              <a:ext cx="71888" cy="542745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4" name="Group 76"/>
          <p:cNvGrpSpPr>
            <a:grpSpLocks/>
          </p:cNvGrpSpPr>
          <p:nvPr/>
        </p:nvGrpSpPr>
        <p:grpSpPr bwMode="auto">
          <a:xfrm>
            <a:off x="5461000" y="2320925"/>
            <a:ext cx="479425" cy="2613025"/>
            <a:chOff x="5461000" y="2320507"/>
            <a:chExt cx="479425" cy="2613960"/>
          </a:xfrm>
        </p:grpSpPr>
        <p:sp>
          <p:nvSpPr>
            <p:cNvPr id="58421" name="Text Box 34"/>
            <p:cNvSpPr txBox="1">
              <a:spLocks noChangeArrowheads="1"/>
            </p:cNvSpPr>
            <p:nvPr/>
          </p:nvSpPr>
          <p:spPr bwMode="auto">
            <a:xfrm>
              <a:off x="5461000" y="4565135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x’</a:t>
              </a:r>
            </a:p>
          </p:txBody>
        </p:sp>
        <p:sp>
          <p:nvSpPr>
            <p:cNvPr id="58422" name="Line 35"/>
            <p:cNvSpPr>
              <a:spLocks noChangeShapeType="1"/>
            </p:cNvSpPr>
            <p:nvPr/>
          </p:nvSpPr>
          <p:spPr bwMode="auto">
            <a:xfrm flipV="1">
              <a:off x="5694153" y="2362201"/>
              <a:ext cx="0" cy="2209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423" name="Oval 43"/>
            <p:cNvSpPr>
              <a:spLocks noChangeArrowheads="1"/>
            </p:cNvSpPr>
            <p:nvPr/>
          </p:nvSpPr>
          <p:spPr bwMode="auto">
            <a:xfrm>
              <a:off x="5652459" y="2320507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5" name="Group 79"/>
          <p:cNvGrpSpPr>
            <a:grpSpLocks/>
          </p:cNvGrpSpPr>
          <p:nvPr/>
        </p:nvGrpSpPr>
        <p:grpSpPr bwMode="auto">
          <a:xfrm>
            <a:off x="4502150" y="2178050"/>
            <a:ext cx="1127125" cy="368300"/>
            <a:chOff x="4502001" y="2177535"/>
            <a:chExt cx="1127454" cy="369332"/>
          </a:xfrm>
        </p:grpSpPr>
        <p:sp>
          <p:nvSpPr>
            <p:cNvPr id="58419" name="Line 36"/>
            <p:cNvSpPr>
              <a:spLocks noChangeShapeType="1"/>
            </p:cNvSpPr>
            <p:nvPr/>
          </p:nvSpPr>
          <p:spPr bwMode="auto">
            <a:xfrm flipH="1">
              <a:off x="5019855" y="2362201"/>
              <a:ext cx="609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20" name="Text Box 47"/>
            <p:cNvSpPr txBox="1">
              <a:spLocks noChangeArrowheads="1"/>
            </p:cNvSpPr>
            <p:nvPr/>
          </p:nvSpPr>
          <p:spPr bwMode="auto">
            <a:xfrm>
              <a:off x="4502001" y="2177535"/>
              <a:ext cx="6699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i="1" baseline="-25000"/>
                <a:t>x</a:t>
              </a:r>
              <a:r>
                <a:rPr lang="en-US" altLang="en-US" sz="1800"/>
                <a:t>’</a:t>
              </a:r>
            </a:p>
          </p:txBody>
        </p:sp>
      </p:grpSp>
      <p:grpSp>
        <p:nvGrpSpPr>
          <p:cNvPr id="16" name="Group 88"/>
          <p:cNvGrpSpPr>
            <a:grpSpLocks/>
          </p:cNvGrpSpPr>
          <p:nvPr/>
        </p:nvGrpSpPr>
        <p:grpSpPr bwMode="auto">
          <a:xfrm>
            <a:off x="1181100" y="1981200"/>
            <a:ext cx="1927225" cy="2241550"/>
            <a:chOff x="1181100" y="1981200"/>
            <a:chExt cx="1927225" cy="2242066"/>
          </a:xfrm>
        </p:grpSpPr>
        <p:sp>
          <p:nvSpPr>
            <p:cNvPr id="58417" name="Freeform 18"/>
            <p:cNvSpPr>
              <a:spLocks/>
            </p:cNvSpPr>
            <p:nvPr/>
          </p:nvSpPr>
          <p:spPr bwMode="auto">
            <a:xfrm>
              <a:off x="1181100" y="1981200"/>
              <a:ext cx="1524000" cy="2057400"/>
            </a:xfrm>
            <a:custGeom>
              <a:avLst/>
              <a:gdLst>
                <a:gd name="T0" fmla="*/ 0 w 864"/>
                <a:gd name="T1" fmla="*/ 0 h 1296"/>
                <a:gd name="T2" fmla="*/ 2147483647 w 864"/>
                <a:gd name="T3" fmla="*/ 2147483647 h 1296"/>
                <a:gd name="T4" fmla="*/ 2147483647 w 864"/>
                <a:gd name="T5" fmla="*/ 2147483647 h 1296"/>
                <a:gd name="T6" fmla="*/ 0 60000 65536"/>
                <a:gd name="T7" fmla="*/ 0 60000 65536"/>
                <a:gd name="T8" fmla="*/ 0 60000 65536"/>
                <a:gd name="T9" fmla="*/ 0 w 864"/>
                <a:gd name="T10" fmla="*/ 0 h 1296"/>
                <a:gd name="T11" fmla="*/ 864 w 864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1296">
                  <a:moveTo>
                    <a:pt x="0" y="0"/>
                  </a:moveTo>
                  <a:cubicBezTo>
                    <a:pt x="24" y="300"/>
                    <a:pt x="48" y="600"/>
                    <a:pt x="192" y="816"/>
                  </a:cubicBezTo>
                  <a:cubicBezTo>
                    <a:pt x="336" y="1032"/>
                    <a:pt x="600" y="1164"/>
                    <a:pt x="864" y="1296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18" name="Text Box 21"/>
            <p:cNvSpPr txBox="1">
              <a:spLocks noChangeArrowheads="1"/>
            </p:cNvSpPr>
            <p:nvPr/>
          </p:nvSpPr>
          <p:spPr bwMode="auto">
            <a:xfrm>
              <a:off x="2628900" y="3853934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1</a:t>
              </a:r>
            </a:p>
          </p:txBody>
        </p:sp>
      </p:grpSp>
      <p:grpSp>
        <p:nvGrpSpPr>
          <p:cNvPr id="17" name="Group 78"/>
          <p:cNvGrpSpPr>
            <a:grpSpLocks/>
          </p:cNvGrpSpPr>
          <p:nvPr/>
        </p:nvGrpSpPr>
        <p:grpSpPr bwMode="auto">
          <a:xfrm>
            <a:off x="6553200" y="3254375"/>
            <a:ext cx="479425" cy="1679575"/>
            <a:chOff x="6553200" y="3253596"/>
            <a:chExt cx="479425" cy="1680870"/>
          </a:xfrm>
        </p:grpSpPr>
        <p:sp>
          <p:nvSpPr>
            <p:cNvPr id="58414" name="Text Box 40"/>
            <p:cNvSpPr txBox="1">
              <a:spLocks noChangeArrowheads="1"/>
            </p:cNvSpPr>
            <p:nvPr/>
          </p:nvSpPr>
          <p:spPr bwMode="auto">
            <a:xfrm>
              <a:off x="6553200" y="4565134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x’’’</a:t>
              </a:r>
            </a:p>
          </p:txBody>
        </p:sp>
        <p:sp>
          <p:nvSpPr>
            <p:cNvPr id="58415" name="Line 41"/>
            <p:cNvSpPr>
              <a:spLocks noChangeShapeType="1"/>
            </p:cNvSpPr>
            <p:nvPr/>
          </p:nvSpPr>
          <p:spPr bwMode="auto">
            <a:xfrm flipV="1">
              <a:off x="6799053" y="3289300"/>
              <a:ext cx="0" cy="1295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416" name="Oval 45"/>
            <p:cNvSpPr>
              <a:spLocks noChangeArrowheads="1"/>
            </p:cNvSpPr>
            <p:nvPr/>
          </p:nvSpPr>
          <p:spPr bwMode="auto">
            <a:xfrm>
              <a:off x="6766704" y="3253596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8" name="Group 81"/>
          <p:cNvGrpSpPr>
            <a:grpSpLocks/>
          </p:cNvGrpSpPr>
          <p:nvPr/>
        </p:nvGrpSpPr>
        <p:grpSpPr bwMode="auto">
          <a:xfrm>
            <a:off x="4502150" y="3111500"/>
            <a:ext cx="2241550" cy="368300"/>
            <a:chOff x="4502001" y="3110984"/>
            <a:chExt cx="2241699" cy="369332"/>
          </a:xfrm>
        </p:grpSpPr>
        <p:sp>
          <p:nvSpPr>
            <p:cNvPr id="58412" name="Line 42"/>
            <p:cNvSpPr>
              <a:spLocks noChangeShapeType="1"/>
            </p:cNvSpPr>
            <p:nvPr/>
          </p:nvSpPr>
          <p:spPr bwMode="auto">
            <a:xfrm flipH="1">
              <a:off x="4991100" y="3302000"/>
              <a:ext cx="1752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13" name="Text Box 49"/>
            <p:cNvSpPr txBox="1">
              <a:spLocks noChangeArrowheads="1"/>
            </p:cNvSpPr>
            <p:nvPr/>
          </p:nvSpPr>
          <p:spPr bwMode="auto">
            <a:xfrm>
              <a:off x="4502001" y="3110984"/>
              <a:ext cx="6572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i="1" baseline="-25000"/>
                <a:t>x</a:t>
              </a:r>
              <a:r>
                <a:rPr lang="en-US" altLang="en-US" sz="1800"/>
                <a:t>’’’</a:t>
              </a:r>
            </a:p>
          </p:txBody>
        </p:sp>
      </p:grpSp>
      <p:grpSp>
        <p:nvGrpSpPr>
          <p:cNvPr id="19" name="Group 90"/>
          <p:cNvGrpSpPr>
            <a:grpSpLocks/>
          </p:cNvGrpSpPr>
          <p:nvPr/>
        </p:nvGrpSpPr>
        <p:grpSpPr bwMode="auto">
          <a:xfrm>
            <a:off x="2019300" y="1676400"/>
            <a:ext cx="2384425" cy="2317750"/>
            <a:chOff x="2019300" y="1676400"/>
            <a:chExt cx="2384425" cy="2318266"/>
          </a:xfrm>
        </p:grpSpPr>
        <p:sp>
          <p:nvSpPr>
            <p:cNvPr id="58410" name="Freeform 20"/>
            <p:cNvSpPr>
              <a:spLocks/>
            </p:cNvSpPr>
            <p:nvPr/>
          </p:nvSpPr>
          <p:spPr bwMode="auto">
            <a:xfrm>
              <a:off x="2019300" y="1676400"/>
              <a:ext cx="1905000" cy="2133600"/>
            </a:xfrm>
            <a:custGeom>
              <a:avLst/>
              <a:gdLst>
                <a:gd name="T0" fmla="*/ 0 w 864"/>
                <a:gd name="T1" fmla="*/ 0 h 1296"/>
                <a:gd name="T2" fmla="*/ 2147483647 w 864"/>
                <a:gd name="T3" fmla="*/ 2147483647 h 1296"/>
                <a:gd name="T4" fmla="*/ 2147483647 w 864"/>
                <a:gd name="T5" fmla="*/ 2147483647 h 1296"/>
                <a:gd name="T6" fmla="*/ 0 60000 65536"/>
                <a:gd name="T7" fmla="*/ 0 60000 65536"/>
                <a:gd name="T8" fmla="*/ 0 60000 65536"/>
                <a:gd name="T9" fmla="*/ 0 w 864"/>
                <a:gd name="T10" fmla="*/ 0 h 1296"/>
                <a:gd name="T11" fmla="*/ 864 w 864"/>
                <a:gd name="T12" fmla="*/ 1296 h 1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1296">
                  <a:moveTo>
                    <a:pt x="0" y="0"/>
                  </a:moveTo>
                  <a:cubicBezTo>
                    <a:pt x="24" y="300"/>
                    <a:pt x="48" y="600"/>
                    <a:pt x="192" y="816"/>
                  </a:cubicBezTo>
                  <a:cubicBezTo>
                    <a:pt x="336" y="1032"/>
                    <a:pt x="600" y="1164"/>
                    <a:pt x="864" y="1296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11" name="Text Box 23"/>
            <p:cNvSpPr txBox="1">
              <a:spLocks noChangeArrowheads="1"/>
            </p:cNvSpPr>
            <p:nvPr/>
          </p:nvSpPr>
          <p:spPr bwMode="auto">
            <a:xfrm>
              <a:off x="3924300" y="3625334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3</a:t>
              </a:r>
            </a:p>
          </p:txBody>
        </p:sp>
      </p:grpSp>
      <p:grpSp>
        <p:nvGrpSpPr>
          <p:cNvPr id="20" name="Group 73"/>
          <p:cNvGrpSpPr>
            <a:grpSpLocks/>
          </p:cNvGrpSpPr>
          <p:nvPr/>
        </p:nvGrpSpPr>
        <p:grpSpPr bwMode="auto">
          <a:xfrm>
            <a:off x="152400" y="1346200"/>
            <a:ext cx="2138363" cy="3784600"/>
            <a:chOff x="152400" y="1346200"/>
            <a:chExt cx="2138392" cy="3785378"/>
          </a:xfrm>
        </p:grpSpPr>
        <p:sp>
          <p:nvSpPr>
            <p:cNvPr id="58406" name="Line 14"/>
            <p:cNvSpPr>
              <a:spLocks noChangeShapeType="1"/>
            </p:cNvSpPr>
            <p:nvPr/>
          </p:nvSpPr>
          <p:spPr bwMode="auto">
            <a:xfrm>
              <a:off x="800100" y="1524000"/>
              <a:ext cx="1143000" cy="30480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407" name="Text Box 58"/>
            <p:cNvSpPr txBox="1">
              <a:spLocks noChangeArrowheads="1"/>
            </p:cNvSpPr>
            <p:nvPr/>
          </p:nvSpPr>
          <p:spPr bwMode="auto">
            <a:xfrm>
              <a:off x="665192" y="4793024"/>
              <a:ext cx="1625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i="1">
                  <a:solidFill>
                    <a:srgbClr val="000099"/>
                  </a:solidFill>
                </a:rPr>
                <a:t>I</a:t>
              </a:r>
              <a:r>
                <a:rPr lang="en-US" altLang="en-US" sz="1600">
                  <a:solidFill>
                    <a:srgbClr val="000099"/>
                  </a:solidFill>
                </a:rPr>
                <a:t> = </a:t>
              </a:r>
              <a:r>
                <a:rPr lang="en-US" altLang="en-US" sz="1600" i="1">
                  <a:solidFill>
                    <a:srgbClr val="000099"/>
                  </a:solidFill>
                </a:rPr>
                <a:t>p</a:t>
              </a:r>
              <a:r>
                <a:rPr lang="en-US" altLang="en-US" sz="1600" i="1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600">
                  <a:solidFill>
                    <a:srgbClr val="000099"/>
                  </a:solidFill>
                </a:rPr>
                <a:t>’x + </a:t>
              </a:r>
              <a:r>
                <a:rPr lang="en-US" altLang="en-US" sz="1600" i="1">
                  <a:solidFill>
                    <a:srgbClr val="000099"/>
                  </a:solidFill>
                </a:rPr>
                <a:t>p</a:t>
              </a:r>
              <a:r>
                <a:rPr lang="en-US" altLang="en-US" sz="1600" i="1" baseline="-25000">
                  <a:solidFill>
                    <a:srgbClr val="000099"/>
                  </a:solidFill>
                </a:rPr>
                <a:t>y</a:t>
              </a:r>
              <a:r>
                <a:rPr lang="en-US" altLang="en-US" sz="1600" i="1">
                  <a:solidFill>
                    <a:srgbClr val="000099"/>
                  </a:solidFill>
                </a:rPr>
                <a:t>y</a:t>
              </a:r>
              <a:endParaRPr lang="en-US" altLang="en-US" sz="1600">
                <a:solidFill>
                  <a:srgbClr val="000099"/>
                </a:solidFill>
              </a:endParaRPr>
            </a:p>
          </p:txBody>
        </p:sp>
        <p:sp>
          <p:nvSpPr>
            <p:cNvPr id="58408" name="Line 59"/>
            <p:cNvSpPr>
              <a:spLocks noChangeShapeType="1"/>
            </p:cNvSpPr>
            <p:nvPr/>
          </p:nvSpPr>
          <p:spPr bwMode="auto">
            <a:xfrm flipV="1">
              <a:off x="1535502" y="3848100"/>
              <a:ext cx="102798" cy="976942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8409" name="Text Box 58"/>
            <p:cNvSpPr txBox="1">
              <a:spLocks noChangeArrowheads="1"/>
            </p:cNvSpPr>
            <p:nvPr/>
          </p:nvSpPr>
          <p:spPr bwMode="auto">
            <a:xfrm>
              <a:off x="152400" y="1346200"/>
              <a:ext cx="685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000099"/>
                  </a:solidFill>
                </a:rPr>
                <a:t>I /</a:t>
              </a:r>
              <a:r>
                <a:rPr lang="en-US" altLang="en-US" sz="1800">
                  <a:solidFill>
                    <a:srgbClr val="000099"/>
                  </a:solidFill>
                </a:rPr>
                <a:t> </a:t>
              </a:r>
              <a:r>
                <a:rPr lang="en-US" altLang="en-US" sz="1800" i="1">
                  <a:solidFill>
                    <a:srgbClr val="000099"/>
                  </a:solidFill>
                </a:rPr>
                <a:t>p</a:t>
              </a:r>
              <a:r>
                <a:rPr lang="en-US" altLang="en-US" sz="1800" i="1" baseline="-25000">
                  <a:solidFill>
                    <a:srgbClr val="000099"/>
                  </a:solidFill>
                </a:rPr>
                <a:t>y</a:t>
              </a:r>
              <a:endParaRPr lang="en-US" altLang="en-US" sz="1800">
                <a:solidFill>
                  <a:srgbClr val="000099"/>
                </a:solidFill>
              </a:endParaRPr>
            </a:p>
          </p:txBody>
        </p:sp>
      </p:grpSp>
      <p:grpSp>
        <p:nvGrpSpPr>
          <p:cNvPr id="21" name="Group 70"/>
          <p:cNvGrpSpPr>
            <a:grpSpLocks/>
          </p:cNvGrpSpPr>
          <p:nvPr/>
        </p:nvGrpSpPr>
        <p:grpSpPr bwMode="auto">
          <a:xfrm>
            <a:off x="800100" y="1268413"/>
            <a:ext cx="3276600" cy="3303587"/>
            <a:chOff x="800100" y="1269132"/>
            <a:chExt cx="3276600" cy="3302868"/>
          </a:xfrm>
        </p:grpSpPr>
        <p:sp>
          <p:nvSpPr>
            <p:cNvPr id="58402" name="Line 12"/>
            <p:cNvSpPr>
              <a:spLocks noChangeShapeType="1"/>
            </p:cNvSpPr>
            <p:nvPr/>
          </p:nvSpPr>
          <p:spPr bwMode="auto">
            <a:xfrm>
              <a:off x="800100" y="1524000"/>
              <a:ext cx="3276600" cy="30480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58403" name="Group 69"/>
            <p:cNvGrpSpPr>
              <a:grpSpLocks/>
            </p:cNvGrpSpPr>
            <p:nvPr/>
          </p:nvGrpSpPr>
          <p:grpSpPr bwMode="auto">
            <a:xfrm>
              <a:off x="1075426" y="1269132"/>
              <a:ext cx="1617213" cy="496408"/>
              <a:chOff x="1075426" y="1269132"/>
              <a:chExt cx="1617213" cy="496408"/>
            </a:xfrm>
          </p:grpSpPr>
          <p:sp>
            <p:nvSpPr>
              <p:cNvPr id="58404" name="Text Box 54"/>
              <p:cNvSpPr txBox="1">
                <a:spLocks noChangeArrowheads="1"/>
              </p:cNvSpPr>
              <p:nvPr/>
            </p:nvSpPr>
            <p:spPr bwMode="auto">
              <a:xfrm>
                <a:off x="1105139" y="1269132"/>
                <a:ext cx="158750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600" i="1">
                    <a:solidFill>
                      <a:srgbClr val="000099"/>
                    </a:solidFill>
                  </a:rPr>
                  <a:t>I</a:t>
                </a:r>
                <a:r>
                  <a:rPr lang="en-US" altLang="en-US" sz="1600">
                    <a:solidFill>
                      <a:srgbClr val="000099"/>
                    </a:solidFill>
                  </a:rPr>
                  <a:t> = </a:t>
                </a:r>
                <a:r>
                  <a:rPr lang="en-US" altLang="en-US" sz="1600" i="1">
                    <a:solidFill>
                      <a:srgbClr val="000099"/>
                    </a:solidFill>
                  </a:rPr>
                  <a:t>p</a:t>
                </a:r>
                <a:r>
                  <a:rPr lang="en-US" altLang="en-US" sz="1600" i="1" baseline="-25000">
                    <a:solidFill>
                      <a:srgbClr val="000099"/>
                    </a:solidFill>
                  </a:rPr>
                  <a:t>x</a:t>
                </a:r>
                <a:r>
                  <a:rPr lang="en-US" altLang="en-US" sz="1600">
                    <a:solidFill>
                      <a:srgbClr val="000099"/>
                    </a:solidFill>
                  </a:rPr>
                  <a:t>’’’x + </a:t>
                </a:r>
                <a:r>
                  <a:rPr lang="en-US" altLang="en-US" sz="1600" i="1">
                    <a:solidFill>
                      <a:srgbClr val="000099"/>
                    </a:solidFill>
                  </a:rPr>
                  <a:t>p</a:t>
                </a:r>
                <a:r>
                  <a:rPr lang="en-US" altLang="en-US" sz="1600" i="1" baseline="-25000">
                    <a:solidFill>
                      <a:srgbClr val="000099"/>
                    </a:solidFill>
                  </a:rPr>
                  <a:t>y</a:t>
                </a:r>
                <a:r>
                  <a:rPr lang="en-US" altLang="en-US" sz="1600" i="1">
                    <a:solidFill>
                      <a:srgbClr val="000099"/>
                    </a:solidFill>
                  </a:rPr>
                  <a:t>y</a:t>
                </a:r>
                <a:endParaRPr lang="en-US" altLang="en-US" sz="1600">
                  <a:solidFill>
                    <a:srgbClr val="000099"/>
                  </a:solidFill>
                </a:endParaRPr>
              </a:p>
            </p:txBody>
          </p:sp>
          <p:sp>
            <p:nvSpPr>
              <p:cNvPr id="58405" name="Line 56"/>
              <p:cNvSpPr>
                <a:spLocks noChangeShapeType="1"/>
              </p:cNvSpPr>
              <p:nvPr/>
            </p:nvSpPr>
            <p:spPr bwMode="auto">
              <a:xfrm flipV="1">
                <a:off x="1075426" y="1536220"/>
                <a:ext cx="258794" cy="22932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3" name="Group 74"/>
          <p:cNvGrpSpPr>
            <a:grpSpLocks/>
          </p:cNvGrpSpPr>
          <p:nvPr/>
        </p:nvGrpSpPr>
        <p:grpSpPr bwMode="auto">
          <a:xfrm>
            <a:off x="1677988" y="3048000"/>
            <a:ext cx="479425" cy="1862138"/>
            <a:chOff x="1678557" y="3048000"/>
            <a:chExt cx="479425" cy="1862138"/>
          </a:xfrm>
        </p:grpSpPr>
        <p:sp>
          <p:nvSpPr>
            <p:cNvPr id="58399" name="Oval 25"/>
            <p:cNvSpPr>
              <a:spLocks noChangeArrowheads="1"/>
            </p:cNvSpPr>
            <p:nvPr/>
          </p:nvSpPr>
          <p:spPr bwMode="auto">
            <a:xfrm>
              <a:off x="1866900" y="304800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8400" name="Line 28"/>
            <p:cNvSpPr>
              <a:spLocks noChangeShapeType="1"/>
            </p:cNvSpPr>
            <p:nvPr/>
          </p:nvSpPr>
          <p:spPr bwMode="auto">
            <a:xfrm>
              <a:off x="1912908" y="3124200"/>
              <a:ext cx="0" cy="1447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401" name="Text Box 31"/>
            <p:cNvSpPr txBox="1">
              <a:spLocks noChangeArrowheads="1"/>
            </p:cNvSpPr>
            <p:nvPr/>
          </p:nvSpPr>
          <p:spPr bwMode="auto">
            <a:xfrm>
              <a:off x="1678557" y="4540250"/>
              <a:ext cx="4794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 x”</a:t>
              </a:r>
            </a:p>
          </p:txBody>
        </p:sp>
      </p:grpSp>
      <p:grpSp>
        <p:nvGrpSpPr>
          <p:cNvPr id="24" name="Group 71"/>
          <p:cNvGrpSpPr>
            <a:grpSpLocks/>
          </p:cNvGrpSpPr>
          <p:nvPr/>
        </p:nvGrpSpPr>
        <p:grpSpPr bwMode="auto">
          <a:xfrm>
            <a:off x="2287588" y="3048000"/>
            <a:ext cx="635000" cy="1862138"/>
            <a:chOff x="2288157" y="3048000"/>
            <a:chExt cx="635000" cy="1862138"/>
          </a:xfrm>
        </p:grpSpPr>
        <p:sp>
          <p:nvSpPr>
            <p:cNvPr id="58396" name="Line 29"/>
            <p:cNvSpPr>
              <a:spLocks noChangeShapeType="1"/>
            </p:cNvSpPr>
            <p:nvPr/>
          </p:nvSpPr>
          <p:spPr bwMode="auto">
            <a:xfrm>
              <a:off x="2522508" y="3124200"/>
              <a:ext cx="0" cy="1447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397" name="Text Box 32"/>
            <p:cNvSpPr txBox="1">
              <a:spLocks noChangeArrowheads="1"/>
            </p:cNvSpPr>
            <p:nvPr/>
          </p:nvSpPr>
          <p:spPr bwMode="auto">
            <a:xfrm>
              <a:off x="2288157" y="4540250"/>
              <a:ext cx="635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 x”’</a:t>
              </a:r>
            </a:p>
          </p:txBody>
        </p:sp>
        <p:sp>
          <p:nvSpPr>
            <p:cNvPr id="58398" name="Oval 24"/>
            <p:cNvSpPr>
              <a:spLocks noChangeArrowheads="1"/>
            </p:cNvSpPr>
            <p:nvPr/>
          </p:nvSpPr>
          <p:spPr bwMode="auto">
            <a:xfrm>
              <a:off x="2476500" y="304800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5" name="Group 75"/>
          <p:cNvGrpSpPr>
            <a:grpSpLocks/>
          </p:cNvGrpSpPr>
          <p:nvPr/>
        </p:nvGrpSpPr>
        <p:grpSpPr bwMode="auto">
          <a:xfrm>
            <a:off x="1144588" y="2971800"/>
            <a:ext cx="479425" cy="1938338"/>
            <a:chOff x="1145157" y="2971800"/>
            <a:chExt cx="479425" cy="1938338"/>
          </a:xfrm>
        </p:grpSpPr>
        <p:sp>
          <p:nvSpPr>
            <p:cNvPr id="58393" name="Oval 26"/>
            <p:cNvSpPr>
              <a:spLocks noChangeArrowheads="1"/>
            </p:cNvSpPr>
            <p:nvPr/>
          </p:nvSpPr>
          <p:spPr bwMode="auto">
            <a:xfrm>
              <a:off x="1333500" y="297180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8394" name="Line 27"/>
            <p:cNvSpPr>
              <a:spLocks noChangeShapeType="1"/>
            </p:cNvSpPr>
            <p:nvPr/>
          </p:nvSpPr>
          <p:spPr bwMode="auto">
            <a:xfrm>
              <a:off x="1379508" y="3048000"/>
              <a:ext cx="0" cy="15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8395" name="Text Box 30"/>
            <p:cNvSpPr txBox="1">
              <a:spLocks noChangeArrowheads="1"/>
            </p:cNvSpPr>
            <p:nvPr/>
          </p:nvSpPr>
          <p:spPr bwMode="auto">
            <a:xfrm>
              <a:off x="1145157" y="4540250"/>
              <a:ext cx="4794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501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Individual’s Demand Curve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An individual demand curve </a:t>
            </a:r>
          </a:p>
          <a:p>
            <a:pPr lvl="1"/>
            <a:r>
              <a:rPr lang="en-US" altLang="en-US" smtClean="0"/>
              <a:t>Shows the relationship between the price of a good and the quantity of that good purchased by an individual </a:t>
            </a:r>
          </a:p>
          <a:p>
            <a:pPr lvl="1"/>
            <a:r>
              <a:rPr lang="en-US" altLang="en-US" smtClean="0"/>
              <a:t>Assuming that all other determinants of demand are held constant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440EBA-6D9C-4CBB-ADE8-669F6CC74D6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0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Individual’s Demand Curve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Shifts in the demand curve</a:t>
            </a:r>
          </a:p>
          <a:p>
            <a:pPr lvl="1"/>
            <a:r>
              <a:rPr lang="en-US" altLang="en-US" dirty="0" smtClean="0"/>
              <a:t>Three factors are held constant when a demand curve is derived</a:t>
            </a:r>
          </a:p>
          <a:p>
            <a:pPr lvl="2"/>
            <a:r>
              <a:rPr lang="en-US" altLang="en-US" dirty="0" smtClean="0"/>
              <a:t>Income </a:t>
            </a:r>
          </a:p>
          <a:p>
            <a:pPr lvl="2"/>
            <a:r>
              <a:rPr lang="en-US" altLang="en-US" dirty="0" smtClean="0"/>
              <a:t>Prices of other goods (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y</a:t>
            </a:r>
            <a:r>
              <a:rPr lang="en-US" altLang="en-US" dirty="0" smtClean="0"/>
              <a:t>)</a:t>
            </a:r>
          </a:p>
          <a:p>
            <a:pPr lvl="2"/>
            <a:r>
              <a:rPr lang="en-US" altLang="en-US" dirty="0" smtClean="0"/>
              <a:t>The individual’s preferences</a:t>
            </a:r>
          </a:p>
          <a:p>
            <a:pPr lvl="1">
              <a:lnSpc>
                <a:spcPct val="110000"/>
              </a:lnSpc>
            </a:pPr>
            <a:r>
              <a:rPr lang="en-US" altLang="en-US" dirty="0" smtClean="0"/>
              <a:t>If any of these factors change, the demand curve will shift to a new position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A567E8-B917-4D47-B343-367CD757DA5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5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Individual’s Demand Curve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 change in quantity demanded</a:t>
            </a:r>
          </a:p>
          <a:p>
            <a:pPr lvl="1"/>
            <a:r>
              <a:rPr lang="en-US" altLang="en-US" smtClean="0"/>
              <a:t>Movement along a given demand curve</a:t>
            </a:r>
          </a:p>
          <a:p>
            <a:pPr lvl="2"/>
            <a:r>
              <a:rPr lang="en-US" altLang="en-US" smtClean="0"/>
              <a:t>Caused by a change in the price of the good</a:t>
            </a:r>
          </a:p>
          <a:p>
            <a:r>
              <a:rPr lang="en-US" altLang="en-US" smtClean="0"/>
              <a:t>A change in demand</a:t>
            </a:r>
          </a:p>
          <a:p>
            <a:pPr lvl="1"/>
            <a:r>
              <a:rPr lang="en-US" altLang="en-US" smtClean="0"/>
              <a:t>Shift in the demand curve</a:t>
            </a:r>
          </a:p>
          <a:p>
            <a:pPr lvl="2"/>
            <a:r>
              <a:rPr lang="en-US" altLang="en-US" smtClean="0"/>
              <a:t>Caused by changes in income, prices of other goods, or preferences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DC9B816-26A4-42DD-8DB6-0D9045B07DA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smtClean="0"/>
              <a:t>5.2	 Demand Functions and Demand Curves</a:t>
            </a:r>
          </a:p>
        </p:txBody>
      </p:sp>
      <p:sp>
        <p:nvSpPr>
          <p:cNvPr id="62468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A56FFB9F-ED2A-4571-8C80-87F9BFFB5C5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62467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04800" y="457200"/>
            <a:ext cx="8534400" cy="59436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Cobb-Douglas  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The demand functions: </a:t>
            </a:r>
            <a:r>
              <a:rPr lang="en-US" altLang="en-US" i="1" dirty="0" smtClean="0"/>
              <a:t> </a:t>
            </a:r>
            <a:r>
              <a:rPr lang="en-US" altLang="en-US" i="1" dirty="0" smtClean="0">
                <a:solidFill>
                  <a:srgbClr val="FF0000"/>
                </a:solidFill>
              </a:rPr>
              <a:t>x=0.3I/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/>
              <a:t>and </a:t>
            </a:r>
            <a:r>
              <a:rPr lang="en-US" altLang="en-US" i="1" dirty="0" smtClean="0">
                <a:solidFill>
                  <a:srgbClr val="FF0000"/>
                </a:solidFill>
              </a:rPr>
              <a:t>y=0.7I/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dirty="0" smtClean="0">
                <a:solidFill>
                  <a:srgbClr val="FF0000"/>
                </a:solidFill>
              </a:rPr>
              <a:t> </a:t>
            </a:r>
            <a:endParaRPr lang="en-US" altLang="en-US" i="1" baseline="-25000" dirty="0" smtClean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 For I=$100: </a:t>
            </a:r>
            <a:r>
              <a:rPr lang="en-US" altLang="en-US" i="1" dirty="0" smtClean="0">
                <a:solidFill>
                  <a:srgbClr val="FF0000"/>
                </a:solidFill>
              </a:rPr>
              <a:t>x=30/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/>
              <a:t>and </a:t>
            </a:r>
            <a:r>
              <a:rPr lang="en-US" altLang="en-US" i="1" dirty="0" smtClean="0">
                <a:solidFill>
                  <a:srgbClr val="FF0000"/>
                </a:solidFill>
              </a:rPr>
              <a:t>y=70/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dirty="0" smtClean="0">
                <a:solidFill>
                  <a:srgbClr val="FF0000"/>
                </a:solidFill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US" altLang="en-US" dirty="0" smtClean="0"/>
              <a:t>Or:</a:t>
            </a:r>
            <a:r>
              <a:rPr lang="en-US" altLang="en-US" i="1" dirty="0" smtClean="0">
                <a:solidFill>
                  <a:srgbClr val="FF0000"/>
                </a:solidFill>
              </a:rPr>
              <a:t>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dirty="0" smtClean="0">
                <a:solidFill>
                  <a:srgbClr val="FF0000"/>
                </a:solidFill>
              </a:rPr>
              <a:t>=30 </a:t>
            </a:r>
            <a:r>
              <a:rPr lang="en-US" altLang="en-US" dirty="0" smtClean="0"/>
              <a:t>and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dirty="0" smtClean="0">
                <a:solidFill>
                  <a:srgbClr val="FF0000"/>
                </a:solidFill>
              </a:rPr>
              <a:t>=70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The demand curves for these two goods are simple hyperbolas</a:t>
            </a:r>
          </a:p>
          <a:p>
            <a:pPr lvl="2"/>
            <a:r>
              <a:rPr lang="en-US" altLang="en-US" dirty="0" smtClean="0"/>
              <a:t>An increase in income would shift both of the demand curves outward</a:t>
            </a:r>
          </a:p>
          <a:p>
            <a:pPr lvl="2">
              <a:lnSpc>
                <a:spcPct val="150000"/>
              </a:lnSpc>
            </a:pPr>
            <a:r>
              <a:rPr lang="en-US" altLang="en-US" dirty="0" smtClean="0"/>
              <a:t>The demand curve for x is not shifted by changes in </a:t>
            </a:r>
            <a:r>
              <a:rPr lang="en-US" altLang="en-US" dirty="0" err="1" smtClean="0"/>
              <a:t>p</a:t>
            </a:r>
            <a:r>
              <a:rPr lang="en-US" altLang="en-US" baseline="-25000" dirty="0" err="1" smtClean="0"/>
              <a:t>y</a:t>
            </a:r>
            <a:r>
              <a:rPr lang="en-US" altLang="en-US" dirty="0" smtClean="0"/>
              <a:t> and vice versa </a:t>
            </a:r>
          </a:p>
        </p:txBody>
      </p:sp>
    </p:spTree>
    <p:extLst>
      <p:ext uri="{BB962C8B-B14F-4D97-AF65-F5344CB8AC3E}">
        <p14:creationId xmlns:p14="http://schemas.microsoft.com/office/powerpoint/2010/main" val="134382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dirty="0" smtClean="0"/>
              <a:t>5.2	 Demand Functions and Demand Curves</a:t>
            </a:r>
          </a:p>
        </p:txBody>
      </p:sp>
      <p:sp>
        <p:nvSpPr>
          <p:cNvPr id="2054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D16127DB-3351-4C49-81D5-ECB27199AEE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2053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CES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pPr lvl="1"/>
            <a:r>
              <a:rPr lang="en-US" altLang="en-US" dirty="0" smtClean="0"/>
              <a:t>For good x: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1981200"/>
            <a:ext cx="8382000" cy="3886200"/>
          </a:xfrm>
        </p:spPr>
        <p:txBody>
          <a:bodyPr/>
          <a:lstStyle/>
          <a:p>
            <a:pPr lvl="1" eaLnBrk="0" hangingPunct="0">
              <a:buFont typeface="Arial" charset="0"/>
              <a:buChar char="•"/>
              <a:defRPr/>
            </a:pPr>
            <a:r>
              <a:rPr lang="en-US" kern="0" dirty="0"/>
              <a:t>For I=$100 and </a:t>
            </a:r>
            <a:r>
              <a:rPr lang="en-US" kern="0" dirty="0" err="1"/>
              <a:t>p</a:t>
            </a:r>
            <a:r>
              <a:rPr lang="en-US" kern="0" baseline="-25000" dirty="0" err="1"/>
              <a:t>y</a:t>
            </a:r>
            <a:r>
              <a:rPr lang="en-US" kern="0" dirty="0"/>
              <a:t>=1: x=100/(p</a:t>
            </a:r>
            <a:r>
              <a:rPr lang="en-US" kern="0" baseline="-25000" dirty="0"/>
              <a:t>x</a:t>
            </a:r>
            <a:r>
              <a:rPr lang="en-US" kern="0" baseline="30000" dirty="0"/>
              <a:t>2</a:t>
            </a:r>
            <a:r>
              <a:rPr lang="en-US" kern="0" dirty="0"/>
              <a:t>+p</a:t>
            </a:r>
            <a:r>
              <a:rPr lang="en-US" kern="0" baseline="-25000" dirty="0"/>
              <a:t>x</a:t>
            </a:r>
            <a:r>
              <a:rPr lang="en-US" kern="0" dirty="0"/>
              <a:t>)</a:t>
            </a:r>
          </a:p>
          <a:p>
            <a:pPr lvl="1" eaLnBrk="0" hangingPunct="0">
              <a:buFont typeface="Arial" charset="0"/>
              <a:buChar char="•"/>
              <a:defRPr/>
            </a:pPr>
            <a:r>
              <a:rPr lang="en-US" kern="0" dirty="0"/>
              <a:t>General hyperbolic relationship between price and quantity consumed</a:t>
            </a:r>
          </a:p>
          <a:p>
            <a:pPr lvl="2" eaLnBrk="0" hangingPunct="0">
              <a:buFont typeface="Arial" charset="0"/>
              <a:buChar char="•"/>
              <a:defRPr/>
            </a:pPr>
            <a:r>
              <a:rPr lang="en-US" sz="2800" kern="0" dirty="0"/>
              <a:t>Relatively flatter curve because substitution effects are larger</a:t>
            </a:r>
          </a:p>
          <a:p>
            <a:pPr lvl="1" eaLnBrk="0" hangingPunct="0">
              <a:buFont typeface="Arial" charset="0"/>
              <a:buChar char="•"/>
              <a:defRPr/>
            </a:pPr>
            <a:r>
              <a:rPr lang="en-US" kern="0" dirty="0"/>
              <a:t>Increases in </a:t>
            </a:r>
            <a:r>
              <a:rPr lang="en-US" i="1" kern="0" dirty="0"/>
              <a:t>I</a:t>
            </a:r>
            <a:r>
              <a:rPr lang="en-US" kern="0" dirty="0"/>
              <a:t> or </a:t>
            </a:r>
            <a:r>
              <a:rPr lang="en-US" i="1" kern="0" dirty="0" err="1"/>
              <a:t>p</a:t>
            </a:r>
            <a:r>
              <a:rPr lang="en-US" i="1" kern="0" baseline="-25000" dirty="0" err="1"/>
              <a:t>y</a:t>
            </a:r>
            <a:r>
              <a:rPr lang="en-US" kern="0" dirty="0"/>
              <a:t> would shift the demand curve for good x outward because</a:t>
            </a:r>
            <a:r>
              <a:rPr lang="en-US" kern="0" dirty="0" smtClean="0"/>
              <a:t>:</a:t>
            </a:r>
            <a:endParaRPr lang="en-US" kern="0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998259"/>
              </p:ext>
            </p:extLst>
          </p:nvPr>
        </p:nvGraphicFramePr>
        <p:xfrm>
          <a:off x="3121025" y="968375"/>
          <a:ext cx="293846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6" name="Equation" r:id="rId3" imgW="1155600" imgH="444240" progId="Equation.DSMT4">
                  <p:embed/>
                </p:oleObj>
              </mc:Choice>
              <mc:Fallback>
                <p:oleObj name="Equation" r:id="rId3" imgW="1155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1025" y="968375"/>
                        <a:ext cx="2938463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007332"/>
              </p:ext>
            </p:extLst>
          </p:nvPr>
        </p:nvGraphicFramePr>
        <p:xfrm>
          <a:off x="803275" y="5262562"/>
          <a:ext cx="753745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7" name="Equation" r:id="rId5" imgW="3365280" imgH="507960" progId="Equation.DSMT4">
                  <p:embed/>
                </p:oleObj>
              </mc:Choice>
              <mc:Fallback>
                <p:oleObj name="Equation" r:id="rId5" imgW="33652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5262562"/>
                        <a:ext cx="7537450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737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Compensated (HICKSIAN) Demand </a:t>
            </a:r>
            <a:br>
              <a:rPr lang="en-US" altLang="en-US" sz="3600" dirty="0" smtClean="0"/>
            </a:br>
            <a:r>
              <a:rPr lang="en-US" altLang="en-US" sz="3600" dirty="0" smtClean="0"/>
              <a:t>Curves and Functions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Actual level of utility </a:t>
            </a:r>
          </a:p>
          <a:p>
            <a:pPr lvl="1"/>
            <a:r>
              <a:rPr lang="en-US" altLang="en-US" dirty="0" smtClean="0"/>
              <a:t>Varies along the demand curve</a:t>
            </a:r>
          </a:p>
          <a:p>
            <a:r>
              <a:rPr lang="en-US" altLang="en-US" dirty="0" smtClean="0"/>
              <a:t>As the price of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falls, the individual moves to higher indifference curves</a:t>
            </a:r>
          </a:p>
          <a:p>
            <a:pPr lvl="1"/>
            <a:r>
              <a:rPr lang="en-US" altLang="en-US" dirty="0" smtClean="0"/>
              <a:t>Assumption: nominal income is held constant as the demand curve is derived</a:t>
            </a:r>
          </a:p>
          <a:p>
            <a:pPr lvl="1"/>
            <a:r>
              <a:rPr lang="en-US" altLang="en-US" dirty="0" smtClean="0"/>
              <a:t>“Real” income rises as the price of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falls</a:t>
            </a: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003A23-2FB1-4F7A-9FEF-D31C7AA6E5A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Compensated (HICKSIAN) Demand </a:t>
            </a:r>
            <a:br>
              <a:rPr lang="en-US" altLang="en-US" sz="3600" dirty="0" smtClean="0"/>
            </a:br>
            <a:r>
              <a:rPr lang="en-US" altLang="en-US" sz="3600" dirty="0" smtClean="0"/>
              <a:t>Curves and Functions</a:t>
            </a:r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Alternative approach</a:t>
            </a:r>
          </a:p>
          <a:p>
            <a:pPr lvl="1"/>
            <a:r>
              <a:rPr lang="en-US" altLang="en-US" dirty="0" smtClean="0"/>
              <a:t>Hold real income (or utility) constant while examining reactions to changes in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x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The effects of the price change are “compensated” so as to force the individual to remain on the same indifference curve</a:t>
            </a:r>
          </a:p>
          <a:p>
            <a:pPr lvl="2"/>
            <a:r>
              <a:rPr lang="en-US" altLang="en-US" dirty="0" smtClean="0"/>
              <a:t>Reactions to price changes include only substitution effects</a:t>
            </a: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7A254C7-634F-4394-9772-20E43DE14B07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96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Compensated (HICKSIAN) Demand </a:t>
            </a:r>
            <a:br>
              <a:rPr lang="en-US" altLang="en-US" sz="3600" dirty="0" smtClean="0"/>
            </a:br>
            <a:r>
              <a:rPr lang="en-US" altLang="en-US" sz="3600" dirty="0" smtClean="0"/>
              <a:t>Curves and Functions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Compensated (</a:t>
            </a:r>
            <a:r>
              <a:rPr lang="en-US" altLang="en-US" dirty="0" err="1" smtClean="0"/>
              <a:t>Hicksian</a:t>
            </a:r>
            <a:r>
              <a:rPr lang="en-US" altLang="en-US" dirty="0" smtClean="0"/>
              <a:t>) demand curve</a:t>
            </a:r>
          </a:p>
          <a:p>
            <a:pPr lvl="1"/>
            <a:r>
              <a:rPr lang="en-US" altLang="en-US" dirty="0" smtClean="0"/>
              <a:t>Shows the relationship between the price of a good and the quantity purchased </a:t>
            </a:r>
          </a:p>
          <a:p>
            <a:pPr lvl="2"/>
            <a:r>
              <a:rPr lang="en-US" altLang="en-US" dirty="0" smtClean="0"/>
              <a:t>Assuming that other prices and utility are held constant</a:t>
            </a:r>
          </a:p>
          <a:p>
            <a:pPr lvl="1"/>
            <a:r>
              <a:rPr lang="en-US" altLang="en-US" dirty="0" smtClean="0"/>
              <a:t>Is a two-dimensional representation of the compensated demand function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FF0000"/>
                </a:solidFill>
              </a:rPr>
              <a:t>x</a:t>
            </a:r>
            <a:r>
              <a:rPr lang="en-US" altLang="en-US" sz="3200" dirty="0" smtClean="0">
                <a:solidFill>
                  <a:srgbClr val="FF0000"/>
                </a:solidFill>
              </a:rPr>
              <a:t>* =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x</a:t>
            </a:r>
            <a:r>
              <a:rPr lang="en-US" altLang="en-US" sz="3200" i="1" baseline="30000" dirty="0" smtClean="0">
                <a:solidFill>
                  <a:srgbClr val="FF0000"/>
                </a:solidFill>
              </a:rPr>
              <a:t>c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3200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sz="3200" dirty="0" err="1" smtClean="0">
                <a:solidFill>
                  <a:srgbClr val="FF0000"/>
                </a:solidFill>
              </a:rPr>
              <a:t>,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3200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sz="3200" dirty="0" err="1" smtClean="0">
                <a:solidFill>
                  <a:srgbClr val="FF0000"/>
                </a:solidFill>
              </a:rPr>
              <a:t>,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U</a:t>
            </a:r>
            <a:r>
              <a:rPr lang="en-US" altLang="en-US" sz="3200" dirty="0" smtClean="0">
                <a:solidFill>
                  <a:srgbClr val="FF0000"/>
                </a:solidFill>
              </a:rPr>
              <a:t>)</a:t>
            </a: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10EAF4-649B-4178-BFA1-1FBF10C3D2CE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3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5.6	Construction of a Compensated Demand 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Curve</a:t>
            </a:r>
          </a:p>
        </p:txBody>
      </p:sp>
      <p:sp>
        <p:nvSpPr>
          <p:cNvPr id="66563" name="Text Placeholder 2"/>
          <p:cNvSpPr>
            <a:spLocks noGrp="1"/>
          </p:cNvSpPr>
          <p:nvPr>
            <p:ph sz="half" idx="1"/>
          </p:nvPr>
        </p:nvSpPr>
        <p:spPr>
          <a:xfrm>
            <a:off x="209550" y="5257800"/>
            <a:ext cx="8605838" cy="104402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curve x</a:t>
            </a:r>
            <a:r>
              <a:rPr lang="en-US" altLang="en-US" baseline="30000" dirty="0"/>
              <a:t>c</a:t>
            </a:r>
            <a:r>
              <a:rPr lang="en-US" altLang="en-US" dirty="0"/>
              <a:t> shows how the quantity of x demanded changes when 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x</a:t>
            </a:r>
            <a:r>
              <a:rPr lang="en-US" altLang="en-US" dirty="0"/>
              <a:t> changes, holding 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y</a:t>
            </a:r>
            <a:r>
              <a:rPr lang="en-US" altLang="en-US" dirty="0"/>
              <a:t> and utility constant. That is, the individual’s income is ‘‘compensated’’ to keep utility constant. Hence x</a:t>
            </a:r>
            <a:r>
              <a:rPr lang="en-US" altLang="en-US" baseline="30000" dirty="0"/>
              <a:t>c</a:t>
            </a:r>
            <a:r>
              <a:rPr lang="en-US" altLang="en-US" dirty="0"/>
              <a:t> reflects only substitution effects of changing prices</a:t>
            </a:r>
            <a:r>
              <a:rPr lang="en-US" altLang="en-US" dirty="0" smtClean="0"/>
              <a:t>.</a:t>
            </a:r>
            <a:endParaRPr lang="en-US" altLang="en-US" dirty="0"/>
          </a:p>
        </p:txBody>
      </p:sp>
      <p:sp>
        <p:nvSpPr>
          <p:cNvPr id="66565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74" name="Slide Number Placeholder 7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0869F41-6C67-4FBC-BC95-EE11B95DBB6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grpSp>
        <p:nvGrpSpPr>
          <p:cNvPr id="2" name="Group 69"/>
          <p:cNvGrpSpPr>
            <a:grpSpLocks/>
          </p:cNvGrpSpPr>
          <p:nvPr/>
        </p:nvGrpSpPr>
        <p:grpSpPr bwMode="auto">
          <a:xfrm>
            <a:off x="5551488" y="1970088"/>
            <a:ext cx="3263900" cy="1949450"/>
            <a:chOff x="3473" y="1961"/>
            <a:chExt cx="2056" cy="1228"/>
          </a:xfrm>
        </p:grpSpPr>
        <p:sp>
          <p:nvSpPr>
            <p:cNvPr id="66633" name="Freeform 33"/>
            <p:cNvSpPr>
              <a:spLocks/>
            </p:cNvSpPr>
            <p:nvPr/>
          </p:nvSpPr>
          <p:spPr bwMode="auto">
            <a:xfrm rot="-410879">
              <a:off x="3473" y="1961"/>
              <a:ext cx="1685" cy="1207"/>
            </a:xfrm>
            <a:custGeom>
              <a:avLst/>
              <a:gdLst>
                <a:gd name="T0" fmla="*/ 0 w 10000"/>
                <a:gd name="T1" fmla="*/ 0 h 10000"/>
                <a:gd name="T2" fmla="*/ 105 w 10000"/>
                <a:gd name="T3" fmla="*/ 75 h 10000"/>
                <a:gd name="T4" fmla="*/ 284 w 10000"/>
                <a:gd name="T5" fmla="*/ 146 h 10000"/>
                <a:gd name="T6" fmla="*/ 0 60000 65536"/>
                <a:gd name="T7" fmla="*/ 0 60000 65536"/>
                <a:gd name="T8" fmla="*/ 0 60000 65536"/>
                <a:gd name="T9" fmla="*/ 0 w 10000"/>
                <a:gd name="T10" fmla="*/ 0 h 10000"/>
                <a:gd name="T11" fmla="*/ 10000 w 10000"/>
                <a:gd name="T12" fmla="*/ 10000 h 1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00" h="10000">
                  <a:moveTo>
                    <a:pt x="0" y="0"/>
                  </a:moveTo>
                  <a:cubicBezTo>
                    <a:pt x="997" y="1823"/>
                    <a:pt x="2037" y="3503"/>
                    <a:pt x="3703" y="5169"/>
                  </a:cubicBezTo>
                  <a:cubicBezTo>
                    <a:pt x="5370" y="6836"/>
                    <a:pt x="8140" y="8774"/>
                    <a:pt x="10000" y="10000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6634" name="Text Box 46"/>
            <p:cNvSpPr txBox="1">
              <a:spLocks noChangeArrowheads="1"/>
            </p:cNvSpPr>
            <p:nvPr/>
          </p:nvSpPr>
          <p:spPr bwMode="auto">
            <a:xfrm>
              <a:off x="5227" y="2956"/>
              <a:ext cx="30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x</a:t>
              </a:r>
              <a:r>
                <a:rPr lang="en-US" altLang="en-US" sz="1800" i="1" baseline="30000" dirty="0">
                  <a:solidFill>
                    <a:srgbClr val="C00000"/>
                  </a:solidFill>
                </a:rPr>
                <a:t>c</a:t>
              </a:r>
              <a:endParaRPr lang="en-US" altLang="en-US" sz="1800" baseline="300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3" name="Group 86"/>
          <p:cNvGrpSpPr>
            <a:grpSpLocks/>
          </p:cNvGrpSpPr>
          <p:nvPr/>
        </p:nvGrpSpPr>
        <p:grpSpPr bwMode="auto">
          <a:xfrm>
            <a:off x="209550" y="762000"/>
            <a:ext cx="4603750" cy="4151313"/>
            <a:chOff x="209550" y="762000"/>
            <a:chExt cx="4603750" cy="4151313"/>
          </a:xfrm>
        </p:grpSpPr>
        <p:grpSp>
          <p:nvGrpSpPr>
            <p:cNvPr id="66627" name="Group 83"/>
            <p:cNvGrpSpPr>
              <a:grpSpLocks/>
            </p:cNvGrpSpPr>
            <p:nvPr/>
          </p:nvGrpSpPr>
          <p:grpSpPr bwMode="auto">
            <a:xfrm>
              <a:off x="209550" y="762000"/>
              <a:ext cx="1466850" cy="3810000"/>
              <a:chOff x="209550" y="762000"/>
              <a:chExt cx="1466850" cy="3810000"/>
            </a:xfrm>
          </p:grpSpPr>
          <p:sp>
            <p:nvSpPr>
              <p:cNvPr id="66631" name="Line 4"/>
              <p:cNvSpPr>
                <a:spLocks noChangeShapeType="1"/>
              </p:cNvSpPr>
              <p:nvPr/>
            </p:nvSpPr>
            <p:spPr bwMode="auto">
              <a:xfrm>
                <a:off x="800100" y="1219200"/>
                <a:ext cx="0" cy="3352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32" name="Text Box 8"/>
              <p:cNvSpPr txBox="1">
                <a:spLocks noChangeArrowheads="1"/>
              </p:cNvSpPr>
              <p:nvPr/>
            </p:nvSpPr>
            <p:spPr bwMode="auto">
              <a:xfrm>
                <a:off x="209550" y="762000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y</a:t>
                </a:r>
                <a:endParaRPr lang="en-US" altLang="en-US" sz="1800"/>
              </a:p>
            </p:txBody>
          </p:sp>
        </p:grpSp>
        <p:grpSp>
          <p:nvGrpSpPr>
            <p:cNvPr id="66628" name="Group 82"/>
            <p:cNvGrpSpPr>
              <a:grpSpLocks/>
            </p:cNvGrpSpPr>
            <p:nvPr/>
          </p:nvGrpSpPr>
          <p:grpSpPr bwMode="auto">
            <a:xfrm>
              <a:off x="800100" y="4546600"/>
              <a:ext cx="4013200" cy="366713"/>
              <a:chOff x="800100" y="4546600"/>
              <a:chExt cx="4013200" cy="366713"/>
            </a:xfrm>
          </p:grpSpPr>
          <p:sp>
            <p:nvSpPr>
              <p:cNvPr id="66629" name="Line 5"/>
              <p:cNvSpPr>
                <a:spLocks noChangeShapeType="1"/>
              </p:cNvSpPr>
              <p:nvPr/>
            </p:nvSpPr>
            <p:spPr bwMode="auto">
              <a:xfrm>
                <a:off x="800100" y="4572000"/>
                <a:ext cx="35814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30" name="Text Box 9"/>
              <p:cNvSpPr txBox="1">
                <a:spLocks noChangeArrowheads="1"/>
              </p:cNvSpPr>
              <p:nvPr/>
            </p:nvSpPr>
            <p:spPr bwMode="auto">
              <a:xfrm>
                <a:off x="3346450" y="4546600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  <a:endParaRPr lang="en-US" altLang="en-US" sz="1800"/>
              </a:p>
            </p:txBody>
          </p:sp>
        </p:grpSp>
      </p:grpSp>
      <p:grpSp>
        <p:nvGrpSpPr>
          <p:cNvPr id="7" name="Group 87"/>
          <p:cNvGrpSpPr>
            <a:grpSpLocks/>
          </p:cNvGrpSpPr>
          <p:nvPr/>
        </p:nvGrpSpPr>
        <p:grpSpPr bwMode="auto">
          <a:xfrm>
            <a:off x="4559300" y="838200"/>
            <a:ext cx="4356100" cy="4081463"/>
            <a:chOff x="4559300" y="838200"/>
            <a:chExt cx="4356100" cy="4081016"/>
          </a:xfrm>
        </p:grpSpPr>
        <p:grpSp>
          <p:nvGrpSpPr>
            <p:cNvPr id="66621" name="Group 85"/>
            <p:cNvGrpSpPr>
              <a:grpSpLocks/>
            </p:cNvGrpSpPr>
            <p:nvPr/>
          </p:nvGrpSpPr>
          <p:grpSpPr bwMode="auto">
            <a:xfrm>
              <a:off x="4991100" y="4552503"/>
              <a:ext cx="3924300" cy="366713"/>
              <a:chOff x="4991100" y="4552503"/>
              <a:chExt cx="3924300" cy="366713"/>
            </a:xfrm>
          </p:grpSpPr>
          <p:sp>
            <p:nvSpPr>
              <p:cNvPr id="66625" name="Line 6"/>
              <p:cNvSpPr>
                <a:spLocks noChangeShapeType="1"/>
              </p:cNvSpPr>
              <p:nvPr/>
            </p:nvSpPr>
            <p:spPr bwMode="auto">
              <a:xfrm>
                <a:off x="4991100" y="4572000"/>
                <a:ext cx="3505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26" name="Text Box 10"/>
              <p:cNvSpPr txBox="1">
                <a:spLocks noChangeArrowheads="1"/>
              </p:cNvSpPr>
              <p:nvPr/>
            </p:nvSpPr>
            <p:spPr bwMode="auto">
              <a:xfrm>
                <a:off x="7448550" y="4552503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  <a:endParaRPr lang="en-US" altLang="en-US" sz="1800"/>
              </a:p>
            </p:txBody>
          </p:sp>
        </p:grpSp>
        <p:grpSp>
          <p:nvGrpSpPr>
            <p:cNvPr id="66622" name="Group 84"/>
            <p:cNvGrpSpPr>
              <a:grpSpLocks/>
            </p:cNvGrpSpPr>
            <p:nvPr/>
          </p:nvGrpSpPr>
          <p:grpSpPr bwMode="auto">
            <a:xfrm>
              <a:off x="4559300" y="838200"/>
              <a:ext cx="431800" cy="3733800"/>
              <a:chOff x="4559300" y="838200"/>
              <a:chExt cx="431800" cy="3733800"/>
            </a:xfrm>
          </p:grpSpPr>
          <p:sp>
            <p:nvSpPr>
              <p:cNvPr id="66623" name="Line 7"/>
              <p:cNvSpPr>
                <a:spLocks noChangeShapeType="1"/>
              </p:cNvSpPr>
              <p:nvPr/>
            </p:nvSpPr>
            <p:spPr bwMode="auto">
              <a:xfrm>
                <a:off x="4991100" y="1219200"/>
                <a:ext cx="0" cy="3352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24" name="Text Box 11"/>
              <p:cNvSpPr txBox="1">
                <a:spLocks noChangeArrowheads="1"/>
              </p:cNvSpPr>
              <p:nvPr/>
            </p:nvSpPr>
            <p:spPr bwMode="auto">
              <a:xfrm>
                <a:off x="4559300" y="838200"/>
                <a:ext cx="3873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p</a:t>
                </a:r>
                <a:r>
                  <a:rPr lang="en-US" altLang="en-US" sz="1800" i="1" baseline="-25000"/>
                  <a:t>x</a:t>
                </a:r>
                <a:endParaRPr lang="en-US" altLang="en-US" sz="1800" baseline="-25000"/>
              </a:p>
            </p:txBody>
          </p:sp>
        </p:grpSp>
      </p:grpSp>
      <p:grpSp>
        <p:nvGrpSpPr>
          <p:cNvPr id="10" name="Group 77"/>
          <p:cNvGrpSpPr>
            <a:grpSpLocks/>
          </p:cNvGrpSpPr>
          <p:nvPr/>
        </p:nvGrpSpPr>
        <p:grpSpPr bwMode="auto">
          <a:xfrm>
            <a:off x="6172200" y="2855913"/>
            <a:ext cx="479425" cy="2078037"/>
            <a:chOff x="5994400" y="2856550"/>
            <a:chExt cx="479425" cy="2077917"/>
          </a:xfrm>
        </p:grpSpPr>
        <p:sp>
          <p:nvSpPr>
            <p:cNvPr id="66618" name="Text Box 37"/>
            <p:cNvSpPr txBox="1">
              <a:spLocks noChangeArrowheads="1"/>
            </p:cNvSpPr>
            <p:nvPr/>
          </p:nvSpPr>
          <p:spPr bwMode="auto">
            <a:xfrm>
              <a:off x="5994400" y="4565135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x’’</a:t>
              </a:r>
            </a:p>
          </p:txBody>
        </p:sp>
        <p:sp>
          <p:nvSpPr>
            <p:cNvPr id="66619" name="Line 38"/>
            <p:cNvSpPr>
              <a:spLocks noChangeShapeType="1"/>
            </p:cNvSpPr>
            <p:nvPr/>
          </p:nvSpPr>
          <p:spPr bwMode="auto">
            <a:xfrm flipV="1">
              <a:off x="6210300" y="2895601"/>
              <a:ext cx="0" cy="167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6620" name="Oval 44"/>
            <p:cNvSpPr>
              <a:spLocks noChangeArrowheads="1"/>
            </p:cNvSpPr>
            <p:nvPr/>
          </p:nvSpPr>
          <p:spPr bwMode="auto">
            <a:xfrm>
              <a:off x="6184900" y="285655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1" name="Group 80"/>
          <p:cNvGrpSpPr>
            <a:grpSpLocks/>
          </p:cNvGrpSpPr>
          <p:nvPr/>
        </p:nvGrpSpPr>
        <p:grpSpPr bwMode="auto">
          <a:xfrm>
            <a:off x="4503738" y="2698750"/>
            <a:ext cx="1855787" cy="368300"/>
            <a:chOff x="4504068" y="2698235"/>
            <a:chExt cx="1855759" cy="369332"/>
          </a:xfrm>
        </p:grpSpPr>
        <p:sp>
          <p:nvSpPr>
            <p:cNvPr id="66616" name="Line 39"/>
            <p:cNvSpPr>
              <a:spLocks noChangeShapeType="1"/>
            </p:cNvSpPr>
            <p:nvPr/>
          </p:nvSpPr>
          <p:spPr bwMode="auto">
            <a:xfrm flipH="1">
              <a:off x="4991099" y="2893355"/>
              <a:ext cx="1368728" cy="22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6617" name="Text Box 48"/>
            <p:cNvSpPr txBox="1">
              <a:spLocks noChangeArrowheads="1"/>
            </p:cNvSpPr>
            <p:nvPr/>
          </p:nvSpPr>
          <p:spPr bwMode="auto">
            <a:xfrm>
              <a:off x="4504068" y="2698235"/>
              <a:ext cx="6699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i="1" baseline="-25000"/>
                <a:t>x</a:t>
              </a:r>
              <a:r>
                <a:rPr lang="en-US" altLang="en-US" sz="1800"/>
                <a:t>’’</a:t>
              </a:r>
            </a:p>
          </p:txBody>
        </p:sp>
      </p:grpSp>
      <p:grpSp>
        <p:nvGrpSpPr>
          <p:cNvPr id="12" name="Group 89"/>
          <p:cNvGrpSpPr>
            <a:grpSpLocks/>
          </p:cNvGrpSpPr>
          <p:nvPr/>
        </p:nvGrpSpPr>
        <p:grpSpPr bwMode="auto">
          <a:xfrm>
            <a:off x="949325" y="1211263"/>
            <a:ext cx="2830513" cy="2314575"/>
            <a:chOff x="1167627" y="911066"/>
            <a:chExt cx="2831204" cy="2314440"/>
          </a:xfrm>
        </p:grpSpPr>
        <p:sp>
          <p:nvSpPr>
            <p:cNvPr id="66614" name="Freeform 19"/>
            <p:cNvSpPr>
              <a:spLocks/>
            </p:cNvSpPr>
            <p:nvPr/>
          </p:nvSpPr>
          <p:spPr bwMode="auto">
            <a:xfrm>
              <a:off x="1345310" y="1348390"/>
              <a:ext cx="2653521" cy="1877116"/>
            </a:xfrm>
            <a:custGeom>
              <a:avLst/>
              <a:gdLst>
                <a:gd name="T0" fmla="*/ 0 w 10958"/>
                <a:gd name="T1" fmla="*/ 0 h 30488"/>
                <a:gd name="T2" fmla="*/ 189754108 w 10958"/>
                <a:gd name="T3" fmla="*/ 82698889 h 30488"/>
                <a:gd name="T4" fmla="*/ 642559882 w 10958"/>
                <a:gd name="T5" fmla="*/ 115231023 h 30488"/>
                <a:gd name="T6" fmla="*/ 0 60000 65536"/>
                <a:gd name="T7" fmla="*/ 0 60000 65536"/>
                <a:gd name="T8" fmla="*/ 0 60000 65536"/>
                <a:gd name="T9" fmla="*/ 0 w 10958"/>
                <a:gd name="T10" fmla="*/ 0 h 30488"/>
                <a:gd name="T11" fmla="*/ 10958 w 10958"/>
                <a:gd name="T12" fmla="*/ 30488 h 30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58" h="30488">
                  <a:moveTo>
                    <a:pt x="0" y="0"/>
                  </a:moveTo>
                  <a:cubicBezTo>
                    <a:pt x="278" y="2315"/>
                    <a:pt x="1400" y="15198"/>
                    <a:pt x="3236" y="21816"/>
                  </a:cubicBezTo>
                  <a:cubicBezTo>
                    <a:pt x="5016" y="28212"/>
                    <a:pt x="7564" y="30488"/>
                    <a:pt x="10958" y="30398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6615" name="Text Box 22"/>
            <p:cNvSpPr txBox="1">
              <a:spLocks noChangeArrowheads="1"/>
            </p:cNvSpPr>
            <p:nvPr/>
          </p:nvSpPr>
          <p:spPr bwMode="auto">
            <a:xfrm>
              <a:off x="1167627" y="911066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AC4C2E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AC4C2E"/>
                  </a:solidFill>
                </a:rPr>
                <a:t>2</a:t>
              </a:r>
            </a:p>
          </p:txBody>
        </p:sp>
      </p:grpSp>
      <p:grpSp>
        <p:nvGrpSpPr>
          <p:cNvPr id="13" name="Group 76"/>
          <p:cNvGrpSpPr>
            <a:grpSpLocks/>
          </p:cNvGrpSpPr>
          <p:nvPr/>
        </p:nvGrpSpPr>
        <p:grpSpPr bwMode="auto">
          <a:xfrm>
            <a:off x="5461000" y="2320925"/>
            <a:ext cx="479425" cy="2613025"/>
            <a:chOff x="5461000" y="2320507"/>
            <a:chExt cx="479425" cy="2613960"/>
          </a:xfrm>
        </p:grpSpPr>
        <p:sp>
          <p:nvSpPr>
            <p:cNvPr id="66611" name="Text Box 34"/>
            <p:cNvSpPr txBox="1">
              <a:spLocks noChangeArrowheads="1"/>
            </p:cNvSpPr>
            <p:nvPr/>
          </p:nvSpPr>
          <p:spPr bwMode="auto">
            <a:xfrm>
              <a:off x="5461000" y="4565135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x’</a:t>
              </a:r>
            </a:p>
          </p:txBody>
        </p:sp>
        <p:sp>
          <p:nvSpPr>
            <p:cNvPr id="66612" name="Line 35"/>
            <p:cNvSpPr>
              <a:spLocks noChangeShapeType="1"/>
            </p:cNvSpPr>
            <p:nvPr/>
          </p:nvSpPr>
          <p:spPr bwMode="auto">
            <a:xfrm flipV="1">
              <a:off x="5694153" y="2362201"/>
              <a:ext cx="0" cy="2209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6613" name="Oval 43"/>
            <p:cNvSpPr>
              <a:spLocks noChangeArrowheads="1"/>
            </p:cNvSpPr>
            <p:nvPr/>
          </p:nvSpPr>
          <p:spPr bwMode="auto">
            <a:xfrm>
              <a:off x="5652459" y="2320507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4" name="Group 79"/>
          <p:cNvGrpSpPr>
            <a:grpSpLocks/>
          </p:cNvGrpSpPr>
          <p:nvPr/>
        </p:nvGrpSpPr>
        <p:grpSpPr bwMode="auto">
          <a:xfrm>
            <a:off x="4502150" y="2178050"/>
            <a:ext cx="1127125" cy="368300"/>
            <a:chOff x="4502001" y="2177535"/>
            <a:chExt cx="1127454" cy="369332"/>
          </a:xfrm>
        </p:grpSpPr>
        <p:sp>
          <p:nvSpPr>
            <p:cNvPr id="66609" name="Line 36"/>
            <p:cNvSpPr>
              <a:spLocks noChangeShapeType="1"/>
            </p:cNvSpPr>
            <p:nvPr/>
          </p:nvSpPr>
          <p:spPr bwMode="auto">
            <a:xfrm flipH="1">
              <a:off x="5019855" y="2362201"/>
              <a:ext cx="609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6610" name="Text Box 47"/>
            <p:cNvSpPr txBox="1">
              <a:spLocks noChangeArrowheads="1"/>
            </p:cNvSpPr>
            <p:nvPr/>
          </p:nvSpPr>
          <p:spPr bwMode="auto">
            <a:xfrm>
              <a:off x="4502001" y="2177535"/>
              <a:ext cx="6699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i="1" baseline="-25000"/>
                <a:t>x</a:t>
              </a:r>
              <a:r>
                <a:rPr lang="en-US" altLang="en-US" sz="1800"/>
                <a:t>’</a:t>
              </a:r>
            </a:p>
          </p:txBody>
        </p:sp>
      </p:grpSp>
      <p:grpSp>
        <p:nvGrpSpPr>
          <p:cNvPr id="15" name="Group 78"/>
          <p:cNvGrpSpPr>
            <a:grpSpLocks/>
          </p:cNvGrpSpPr>
          <p:nvPr/>
        </p:nvGrpSpPr>
        <p:grpSpPr bwMode="auto">
          <a:xfrm>
            <a:off x="6935788" y="3254375"/>
            <a:ext cx="479425" cy="1679575"/>
            <a:chOff x="6553200" y="3253596"/>
            <a:chExt cx="479425" cy="1680870"/>
          </a:xfrm>
        </p:grpSpPr>
        <p:sp>
          <p:nvSpPr>
            <p:cNvPr id="66606" name="Text Box 40"/>
            <p:cNvSpPr txBox="1">
              <a:spLocks noChangeArrowheads="1"/>
            </p:cNvSpPr>
            <p:nvPr/>
          </p:nvSpPr>
          <p:spPr bwMode="auto">
            <a:xfrm>
              <a:off x="6553200" y="4565134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x’’’</a:t>
              </a:r>
            </a:p>
          </p:txBody>
        </p:sp>
        <p:sp>
          <p:nvSpPr>
            <p:cNvPr id="66607" name="Line 41"/>
            <p:cNvSpPr>
              <a:spLocks noChangeShapeType="1"/>
            </p:cNvSpPr>
            <p:nvPr/>
          </p:nvSpPr>
          <p:spPr bwMode="auto">
            <a:xfrm flipV="1">
              <a:off x="6799053" y="3289300"/>
              <a:ext cx="0" cy="1295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6608" name="Oval 45"/>
            <p:cNvSpPr>
              <a:spLocks noChangeArrowheads="1"/>
            </p:cNvSpPr>
            <p:nvPr/>
          </p:nvSpPr>
          <p:spPr bwMode="auto">
            <a:xfrm>
              <a:off x="6766704" y="3253596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6" name="Group 81"/>
          <p:cNvGrpSpPr>
            <a:grpSpLocks/>
          </p:cNvGrpSpPr>
          <p:nvPr/>
        </p:nvGrpSpPr>
        <p:grpSpPr bwMode="auto">
          <a:xfrm>
            <a:off x="4502150" y="3111500"/>
            <a:ext cx="2676525" cy="368300"/>
            <a:chOff x="4502001" y="3110984"/>
            <a:chExt cx="2676750" cy="369332"/>
          </a:xfrm>
        </p:grpSpPr>
        <p:sp>
          <p:nvSpPr>
            <p:cNvPr id="66604" name="Line 42"/>
            <p:cNvSpPr>
              <a:spLocks noChangeShapeType="1"/>
            </p:cNvSpPr>
            <p:nvPr/>
          </p:nvSpPr>
          <p:spPr bwMode="auto">
            <a:xfrm flipH="1" flipV="1">
              <a:off x="4991100" y="3302000"/>
              <a:ext cx="2187651" cy="7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6605" name="Text Box 49"/>
            <p:cNvSpPr txBox="1">
              <a:spLocks noChangeArrowheads="1"/>
            </p:cNvSpPr>
            <p:nvPr/>
          </p:nvSpPr>
          <p:spPr bwMode="auto">
            <a:xfrm>
              <a:off x="4502001" y="3110984"/>
              <a:ext cx="6572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i="1" baseline="-25000"/>
                <a:t>x</a:t>
              </a:r>
              <a:r>
                <a:rPr lang="en-US" altLang="en-US" sz="1800"/>
                <a:t>’’’</a:t>
              </a:r>
            </a:p>
          </p:txBody>
        </p:sp>
      </p:grpSp>
      <p:grpSp>
        <p:nvGrpSpPr>
          <p:cNvPr id="17" name="Group 131"/>
          <p:cNvGrpSpPr>
            <a:grpSpLocks/>
          </p:cNvGrpSpPr>
          <p:nvPr/>
        </p:nvGrpSpPr>
        <p:grpSpPr bwMode="auto">
          <a:xfrm>
            <a:off x="1106488" y="1711325"/>
            <a:ext cx="522287" cy="3198813"/>
            <a:chOff x="1106637" y="1711918"/>
            <a:chExt cx="522916" cy="3198220"/>
          </a:xfrm>
        </p:grpSpPr>
        <p:sp>
          <p:nvSpPr>
            <p:cNvPr id="66599" name="Line 13"/>
            <p:cNvSpPr>
              <a:spLocks noChangeShapeType="1"/>
            </p:cNvSpPr>
            <p:nvPr/>
          </p:nvSpPr>
          <p:spPr bwMode="auto">
            <a:xfrm>
              <a:off x="1106637" y="1711918"/>
              <a:ext cx="522916" cy="105974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66600" name="Group 75"/>
            <p:cNvGrpSpPr>
              <a:grpSpLocks/>
            </p:cNvGrpSpPr>
            <p:nvPr/>
          </p:nvGrpSpPr>
          <p:grpSpPr bwMode="auto">
            <a:xfrm>
              <a:off x="1144588" y="2166568"/>
              <a:ext cx="479425" cy="2743570"/>
              <a:chOff x="1145157" y="2166568"/>
              <a:chExt cx="479425" cy="2743570"/>
            </a:xfrm>
          </p:grpSpPr>
          <p:sp>
            <p:nvSpPr>
              <p:cNvPr id="66601" name="Oval 26"/>
              <p:cNvSpPr>
                <a:spLocks noChangeArrowheads="1"/>
              </p:cNvSpPr>
              <p:nvPr/>
            </p:nvSpPr>
            <p:spPr bwMode="auto">
              <a:xfrm>
                <a:off x="1333500" y="2166568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6602" name="Line 27"/>
              <p:cNvSpPr>
                <a:spLocks noChangeShapeType="1"/>
              </p:cNvSpPr>
              <p:nvPr/>
            </p:nvSpPr>
            <p:spPr bwMode="auto">
              <a:xfrm>
                <a:off x="1378993" y="2238233"/>
                <a:ext cx="515" cy="23337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603" name="Text Box 30"/>
              <p:cNvSpPr txBox="1">
                <a:spLocks noChangeArrowheads="1"/>
              </p:cNvSpPr>
              <p:nvPr/>
            </p:nvSpPr>
            <p:spPr bwMode="auto">
              <a:xfrm>
                <a:off x="1145157" y="4540250"/>
                <a:ext cx="479425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x’</a:t>
                </a:r>
              </a:p>
            </p:txBody>
          </p:sp>
        </p:grpSp>
      </p:grpSp>
      <p:grpSp>
        <p:nvGrpSpPr>
          <p:cNvPr id="19" name="Group 127"/>
          <p:cNvGrpSpPr>
            <a:grpSpLocks/>
          </p:cNvGrpSpPr>
          <p:nvPr/>
        </p:nvGrpSpPr>
        <p:grpSpPr bwMode="auto">
          <a:xfrm>
            <a:off x="1746250" y="2947988"/>
            <a:ext cx="928688" cy="1962150"/>
            <a:chOff x="1746913" y="2947916"/>
            <a:chExt cx="928048" cy="1962222"/>
          </a:xfrm>
        </p:grpSpPr>
        <p:grpSp>
          <p:nvGrpSpPr>
            <p:cNvPr id="66594" name="Group 74"/>
            <p:cNvGrpSpPr>
              <a:grpSpLocks/>
            </p:cNvGrpSpPr>
            <p:nvPr/>
          </p:nvGrpSpPr>
          <p:grpSpPr bwMode="auto">
            <a:xfrm>
              <a:off x="1964596" y="3157184"/>
              <a:ext cx="479425" cy="1752954"/>
              <a:chOff x="1678557" y="3157184"/>
              <a:chExt cx="479425" cy="1752954"/>
            </a:xfrm>
          </p:grpSpPr>
          <p:sp>
            <p:nvSpPr>
              <p:cNvPr id="66596" name="Oval 25"/>
              <p:cNvSpPr>
                <a:spLocks noChangeArrowheads="1"/>
              </p:cNvSpPr>
              <p:nvPr/>
            </p:nvSpPr>
            <p:spPr bwMode="auto">
              <a:xfrm>
                <a:off x="1880548" y="3157184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6597" name="Line 28"/>
              <p:cNvSpPr>
                <a:spLocks noChangeShapeType="1"/>
              </p:cNvSpPr>
              <p:nvPr/>
            </p:nvSpPr>
            <p:spPr bwMode="auto">
              <a:xfrm>
                <a:off x="1911251" y="3234518"/>
                <a:ext cx="1657" cy="133748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598" name="Text Box 31"/>
              <p:cNvSpPr txBox="1">
                <a:spLocks noChangeArrowheads="1"/>
              </p:cNvSpPr>
              <p:nvPr/>
            </p:nvSpPr>
            <p:spPr bwMode="auto">
              <a:xfrm>
                <a:off x="1678557" y="4540250"/>
                <a:ext cx="479425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 x”</a:t>
                </a:r>
              </a:p>
            </p:txBody>
          </p:sp>
        </p:grpSp>
        <p:sp>
          <p:nvSpPr>
            <p:cNvPr id="66595" name="Line 13"/>
            <p:cNvSpPr>
              <a:spLocks noChangeShapeType="1"/>
            </p:cNvSpPr>
            <p:nvPr/>
          </p:nvSpPr>
          <p:spPr bwMode="auto">
            <a:xfrm>
              <a:off x="1746913" y="2947916"/>
              <a:ext cx="928048" cy="51861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1" name="Group 129"/>
          <p:cNvGrpSpPr>
            <a:grpSpLocks/>
          </p:cNvGrpSpPr>
          <p:nvPr/>
        </p:nvGrpSpPr>
        <p:grpSpPr bwMode="auto">
          <a:xfrm>
            <a:off x="2620963" y="3452813"/>
            <a:ext cx="1241425" cy="1457325"/>
            <a:chOff x="2620369" y="3452884"/>
            <a:chExt cx="1241945" cy="1457254"/>
          </a:xfrm>
        </p:grpSpPr>
        <p:grpSp>
          <p:nvGrpSpPr>
            <p:cNvPr id="66589" name="Group 71"/>
            <p:cNvGrpSpPr>
              <a:grpSpLocks/>
            </p:cNvGrpSpPr>
            <p:nvPr/>
          </p:nvGrpSpPr>
          <p:grpSpPr bwMode="auto">
            <a:xfrm>
              <a:off x="3010932" y="3457440"/>
              <a:ext cx="635000" cy="1452698"/>
              <a:chOff x="2288157" y="3457440"/>
              <a:chExt cx="635000" cy="1452698"/>
            </a:xfrm>
          </p:grpSpPr>
          <p:sp>
            <p:nvSpPr>
              <p:cNvPr id="66591" name="Line 29"/>
              <p:cNvSpPr>
                <a:spLocks noChangeShapeType="1"/>
              </p:cNvSpPr>
              <p:nvPr/>
            </p:nvSpPr>
            <p:spPr bwMode="auto">
              <a:xfrm flipH="1">
                <a:off x="2522508" y="3507474"/>
                <a:ext cx="2884" cy="10645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6592" name="Text Box 32"/>
              <p:cNvSpPr txBox="1">
                <a:spLocks noChangeArrowheads="1"/>
              </p:cNvSpPr>
              <p:nvPr/>
            </p:nvSpPr>
            <p:spPr bwMode="auto">
              <a:xfrm>
                <a:off x="2288157" y="4540250"/>
                <a:ext cx="635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 x”’</a:t>
                </a:r>
              </a:p>
            </p:txBody>
          </p:sp>
          <p:sp>
            <p:nvSpPr>
              <p:cNvPr id="66593" name="Oval 24"/>
              <p:cNvSpPr>
                <a:spLocks noChangeArrowheads="1"/>
              </p:cNvSpPr>
              <p:nvPr/>
            </p:nvSpPr>
            <p:spPr bwMode="auto">
              <a:xfrm>
                <a:off x="2490148" y="3457440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66590" name="Line 13"/>
            <p:cNvSpPr>
              <a:spLocks noChangeShapeType="1"/>
            </p:cNvSpPr>
            <p:nvPr/>
          </p:nvSpPr>
          <p:spPr bwMode="auto">
            <a:xfrm>
              <a:off x="2620369" y="3452884"/>
              <a:ext cx="1241945" cy="10918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23" name="Group 126"/>
          <p:cNvGrpSpPr>
            <a:grpSpLocks/>
          </p:cNvGrpSpPr>
          <p:nvPr/>
        </p:nvGrpSpPr>
        <p:grpSpPr bwMode="auto">
          <a:xfrm>
            <a:off x="1146175" y="1241425"/>
            <a:ext cx="2190750" cy="628650"/>
            <a:chOff x="1146412" y="1241947"/>
            <a:chExt cx="2191045" cy="627796"/>
          </a:xfrm>
        </p:grpSpPr>
        <p:cxnSp>
          <p:nvCxnSpPr>
            <p:cNvPr id="66587" name="Straight Arrow Connector 118"/>
            <p:cNvCxnSpPr>
              <a:cxnSpLocks noChangeShapeType="1"/>
            </p:cNvCxnSpPr>
            <p:nvPr/>
          </p:nvCxnSpPr>
          <p:spPr bwMode="auto">
            <a:xfrm flipV="1">
              <a:off x="1146412" y="1514901"/>
              <a:ext cx="696036" cy="354842"/>
            </a:xfrm>
            <a:prstGeom prst="straightConnector1">
              <a:avLst/>
            </a:prstGeom>
            <a:noFill/>
            <a:ln w="19050" algn="ctr">
              <a:solidFill>
                <a:srgbClr val="000099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6588" name="TextBox 123"/>
            <p:cNvSpPr txBox="1">
              <a:spLocks noChangeArrowheads="1"/>
            </p:cNvSpPr>
            <p:nvPr/>
          </p:nvSpPr>
          <p:spPr bwMode="auto">
            <a:xfrm>
              <a:off x="1774209" y="1241947"/>
              <a:ext cx="156324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Slope = p’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800">
                  <a:solidFill>
                    <a:srgbClr val="000099"/>
                  </a:solidFill>
                </a:rPr>
                <a:t>/p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y</a:t>
              </a:r>
            </a:p>
          </p:txBody>
        </p:sp>
      </p:grpSp>
      <p:grpSp>
        <p:nvGrpSpPr>
          <p:cNvPr id="24" name="Group 128"/>
          <p:cNvGrpSpPr>
            <a:grpSpLocks/>
          </p:cNvGrpSpPr>
          <p:nvPr/>
        </p:nvGrpSpPr>
        <p:grpSpPr bwMode="auto">
          <a:xfrm>
            <a:off x="1722438" y="2008188"/>
            <a:ext cx="1644650" cy="969962"/>
            <a:chOff x="1721892" y="2008496"/>
            <a:chExt cx="1645002" cy="968990"/>
          </a:xfrm>
        </p:grpSpPr>
        <p:cxnSp>
          <p:nvCxnSpPr>
            <p:cNvPr id="66585" name="Straight Arrow Connector 119"/>
            <p:cNvCxnSpPr>
              <a:cxnSpLocks noChangeShapeType="1"/>
            </p:cNvCxnSpPr>
            <p:nvPr/>
          </p:nvCxnSpPr>
          <p:spPr bwMode="auto">
            <a:xfrm rot="5400000" flipH="1" flipV="1">
              <a:off x="1774210" y="2404281"/>
              <a:ext cx="616423" cy="529988"/>
            </a:xfrm>
            <a:prstGeom prst="straightConnector1">
              <a:avLst/>
            </a:prstGeom>
            <a:noFill/>
            <a:ln w="19050" algn="ctr">
              <a:solidFill>
                <a:srgbClr val="000099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6586" name="TextBox 124"/>
            <p:cNvSpPr txBox="1">
              <a:spLocks noChangeArrowheads="1"/>
            </p:cNvSpPr>
            <p:nvPr/>
          </p:nvSpPr>
          <p:spPr bwMode="auto">
            <a:xfrm>
              <a:off x="1721892" y="2008496"/>
              <a:ext cx="16450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Slope = p”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800">
                  <a:solidFill>
                    <a:srgbClr val="000099"/>
                  </a:solidFill>
                </a:rPr>
                <a:t>/p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y</a:t>
              </a:r>
            </a:p>
          </p:txBody>
        </p:sp>
      </p:grpSp>
      <p:grpSp>
        <p:nvGrpSpPr>
          <p:cNvPr id="25" name="Group 130"/>
          <p:cNvGrpSpPr>
            <a:grpSpLocks/>
          </p:cNvGrpSpPr>
          <p:nvPr/>
        </p:nvGrpSpPr>
        <p:grpSpPr bwMode="auto">
          <a:xfrm>
            <a:off x="2584450" y="2460625"/>
            <a:ext cx="1644650" cy="1050925"/>
            <a:chOff x="2583977" y="2461147"/>
            <a:chExt cx="1645002" cy="1050876"/>
          </a:xfrm>
        </p:grpSpPr>
        <p:cxnSp>
          <p:nvCxnSpPr>
            <p:cNvPr id="66583" name="Straight Arrow Connector 120"/>
            <p:cNvCxnSpPr>
              <a:cxnSpLocks noChangeShapeType="1"/>
            </p:cNvCxnSpPr>
            <p:nvPr/>
          </p:nvCxnSpPr>
          <p:spPr bwMode="auto">
            <a:xfrm rot="5400000" flipH="1" flipV="1">
              <a:off x="3241344" y="3068471"/>
              <a:ext cx="673289" cy="213816"/>
            </a:xfrm>
            <a:prstGeom prst="straightConnector1">
              <a:avLst/>
            </a:prstGeom>
            <a:noFill/>
            <a:ln w="19050" algn="ctr">
              <a:solidFill>
                <a:srgbClr val="000099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6584" name="TextBox 125"/>
            <p:cNvSpPr txBox="1">
              <a:spLocks noChangeArrowheads="1"/>
            </p:cNvSpPr>
            <p:nvPr/>
          </p:nvSpPr>
          <p:spPr bwMode="auto">
            <a:xfrm>
              <a:off x="2583977" y="2461147"/>
              <a:ext cx="16450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Slope = p”’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800">
                  <a:solidFill>
                    <a:srgbClr val="000099"/>
                  </a:solidFill>
                </a:rPr>
                <a:t>/p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717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Compensated (HICKSIAN) Demand </a:t>
            </a:r>
            <a:br>
              <a:rPr lang="en-US" altLang="en-US" sz="3600" dirty="0" smtClean="0"/>
            </a:br>
            <a:r>
              <a:rPr lang="en-US" altLang="en-US" sz="3600" dirty="0" smtClean="0"/>
              <a:t>Curves and Functions</a:t>
            </a:r>
          </a:p>
        </p:txBody>
      </p:sp>
      <p:sp>
        <p:nvSpPr>
          <p:cNvPr id="307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Shephard’s lemma</a:t>
            </a:r>
          </a:p>
          <a:p>
            <a:pPr lvl="1"/>
            <a:r>
              <a:rPr lang="en-US" altLang="en-US" dirty="0" smtClean="0"/>
              <a:t>Compensated demand function for a good</a:t>
            </a:r>
          </a:p>
          <a:p>
            <a:pPr lvl="2"/>
            <a:r>
              <a:rPr lang="en-US" altLang="en-US" dirty="0" smtClean="0"/>
              <a:t>Can always be found from the expenditure function by differentiation with respect to good’s price </a:t>
            </a:r>
          </a:p>
          <a:p>
            <a:pPr lvl="2"/>
            <a:r>
              <a:rPr lang="en-US" altLang="en-US" dirty="0" err="1" smtClean="0"/>
              <a:t>Lagrangian</a:t>
            </a:r>
            <a:r>
              <a:rPr lang="en-US" altLang="en-US" dirty="0" smtClean="0"/>
              <a:t>: </a:t>
            </a:r>
            <a:r>
              <a:rPr lang="en-US" altLang="en-US" b="1" dirty="0" smtClean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dirty="0" smtClean="0">
                <a:solidFill>
                  <a:srgbClr val="FF0000"/>
                </a:solidFill>
              </a:rPr>
              <a:t> =</a:t>
            </a:r>
            <a:r>
              <a:rPr lang="en-US" altLang="en-US" dirty="0" err="1" smtClean="0">
                <a:solidFill>
                  <a:srgbClr val="FF0000"/>
                </a:solidFill>
              </a:rPr>
              <a:t>p</a:t>
            </a:r>
            <a:r>
              <a:rPr lang="en-US" altLang="en-US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x+p</a:t>
            </a:r>
            <a:r>
              <a:rPr lang="en-US" altLang="en-US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smtClean="0">
                <a:solidFill>
                  <a:srgbClr val="FF0000"/>
                </a:solidFill>
              </a:rPr>
              <a:t>+</a:t>
            </a:r>
            <a:r>
              <a:rPr lang="el-GR" altLang="en-US" dirty="0" smtClean="0">
                <a:solidFill>
                  <a:srgbClr val="FF0000"/>
                </a:solidFill>
              </a:rPr>
              <a:t>λ</a:t>
            </a:r>
            <a:r>
              <a:rPr lang="en-US" altLang="en-US" dirty="0" smtClean="0">
                <a:solidFill>
                  <a:srgbClr val="FF0000"/>
                </a:solidFill>
              </a:rPr>
              <a:t>[U(</a:t>
            </a:r>
            <a:r>
              <a:rPr lang="en-US" altLang="en-US" dirty="0" err="1" smtClean="0">
                <a:solidFill>
                  <a:srgbClr val="FF0000"/>
                </a:solidFill>
              </a:rPr>
              <a:t>x,y</a:t>
            </a:r>
            <a:r>
              <a:rPr lang="en-US" altLang="en-US" dirty="0" smtClean="0">
                <a:solidFill>
                  <a:srgbClr val="FF0000"/>
                </a:solidFill>
              </a:rPr>
              <a:t>)-Ū]</a:t>
            </a:r>
          </a:p>
          <a:p>
            <a:pPr lvl="2"/>
            <a:r>
              <a:rPr lang="en-US" altLang="en-US" dirty="0" smtClean="0"/>
              <a:t>Yields the expenditure function: </a:t>
            </a:r>
            <a:r>
              <a:rPr lang="en-US" altLang="en-US" dirty="0" smtClean="0">
                <a:solidFill>
                  <a:srgbClr val="FF0000"/>
                </a:solidFill>
              </a:rPr>
              <a:t>E(</a:t>
            </a:r>
            <a:r>
              <a:rPr lang="en-US" altLang="en-US" dirty="0" err="1" smtClean="0">
                <a:solidFill>
                  <a:srgbClr val="FF0000"/>
                </a:solidFill>
              </a:rPr>
              <a:t>p</a:t>
            </a:r>
            <a:r>
              <a:rPr lang="en-US" altLang="en-US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,p</a:t>
            </a:r>
            <a:r>
              <a:rPr lang="en-US" altLang="en-US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err="1" smtClean="0">
                <a:solidFill>
                  <a:srgbClr val="FF0000"/>
                </a:solidFill>
              </a:rPr>
              <a:t>,U</a:t>
            </a:r>
            <a:r>
              <a:rPr lang="en-US" altLang="en-US" dirty="0" smtClean="0">
                <a:solidFill>
                  <a:srgbClr val="FF0000"/>
                </a:solidFill>
              </a:rPr>
              <a:t>)</a:t>
            </a:r>
          </a:p>
          <a:p>
            <a:pPr lvl="2"/>
            <a:r>
              <a:rPr lang="en-US" altLang="en-US" dirty="0" smtClean="0"/>
              <a:t>Envelope theorem: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90F76B-05A5-497E-A51F-CF763C66349F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486533"/>
              </p:ext>
            </p:extLst>
          </p:nvPr>
        </p:nvGraphicFramePr>
        <p:xfrm>
          <a:off x="3087688" y="5410200"/>
          <a:ext cx="5110162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38" name="Equation" r:id="rId3" imgW="2286000" imgH="457200" progId="Equation.DSMT4">
                  <p:embed/>
                </p:oleObj>
              </mc:Choice>
              <mc:Fallback>
                <p:oleObj name="Equation" r:id="rId3" imgW="2286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688" y="5410200"/>
                        <a:ext cx="5110162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644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Compensated (HICKSIAN) Demand </a:t>
            </a:r>
            <a:br>
              <a:rPr lang="en-US" altLang="en-US" sz="3600" dirty="0" smtClean="0"/>
            </a:br>
            <a:r>
              <a:rPr lang="en-US" altLang="en-US" sz="3600" dirty="0" smtClean="0"/>
              <a:t>Curves and Functions</a:t>
            </a:r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Relationship between compensated and uncompensated demand curves</a:t>
            </a:r>
          </a:p>
          <a:p>
            <a:pPr lvl="1"/>
            <a:r>
              <a:rPr lang="en-US" altLang="en-US" dirty="0" smtClean="0"/>
              <a:t>Normal good</a:t>
            </a:r>
          </a:p>
          <a:p>
            <a:pPr lvl="2"/>
            <a:r>
              <a:rPr lang="en-US" altLang="en-US" dirty="0" smtClean="0"/>
              <a:t>Compensated demand curve is less responsive to price changes than is the uncompensated demand curve</a:t>
            </a:r>
          </a:p>
          <a:p>
            <a:pPr lvl="3">
              <a:lnSpc>
                <a:spcPct val="110000"/>
              </a:lnSpc>
            </a:pPr>
            <a:r>
              <a:rPr lang="en-US" altLang="en-US" dirty="0" smtClean="0"/>
              <a:t>Uncompensated demand curve reflects both income and substitution effects</a:t>
            </a:r>
          </a:p>
          <a:p>
            <a:pPr lvl="3">
              <a:lnSpc>
                <a:spcPct val="110000"/>
              </a:lnSpc>
            </a:pPr>
            <a:r>
              <a:rPr lang="en-US" altLang="en-US" dirty="0" smtClean="0"/>
              <a:t>Compensated demand curve reflects only substitution effects</a:t>
            </a: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DB45668-B6ED-438E-AEFA-9D105A804BE4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0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 bwMode="auto">
          <a:xfrm>
            <a:off x="1143000" y="-1"/>
            <a:ext cx="8001000" cy="10565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5.7	Comparison of Compensated and 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Uncompensated </a:t>
            </a:r>
            <a:r>
              <a:rPr lang="en-US" altLang="en-US" dirty="0">
                <a:solidFill>
                  <a:srgbClr val="002D56"/>
                </a:solidFill>
              </a:rPr>
              <a:t>Demand </a:t>
            </a:r>
            <a:r>
              <a:rPr lang="en-US" altLang="en-US" dirty="0" smtClean="0">
                <a:solidFill>
                  <a:srgbClr val="002D56"/>
                </a:solidFill>
              </a:rPr>
              <a:t>Curves</a:t>
            </a:r>
          </a:p>
        </p:txBody>
      </p:sp>
      <p:sp>
        <p:nvSpPr>
          <p:cNvPr id="68611" name="Text Placeholder 2"/>
          <p:cNvSpPr>
            <a:spLocks noGrp="1"/>
          </p:cNvSpPr>
          <p:nvPr>
            <p:ph sz="half" idx="1"/>
          </p:nvPr>
        </p:nvSpPr>
        <p:spPr>
          <a:xfrm>
            <a:off x="76200" y="4660942"/>
            <a:ext cx="8915400" cy="1739858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sz="1600" dirty="0"/>
              <a:t>The compensated (x</a:t>
            </a:r>
            <a:r>
              <a:rPr lang="en-US" sz="1600" baseline="30000" dirty="0"/>
              <a:t>c</a:t>
            </a:r>
            <a:r>
              <a:rPr lang="en-US" sz="1600" dirty="0"/>
              <a:t>) and uncompensated (x) demand curves intersect at </a:t>
            </a:r>
            <a:r>
              <a:rPr lang="en-US" sz="1600" dirty="0" err="1"/>
              <a:t>p”</a:t>
            </a:r>
            <a:r>
              <a:rPr lang="en-US" sz="1600" baseline="-25000" dirty="0" err="1"/>
              <a:t>x</a:t>
            </a:r>
            <a:r>
              <a:rPr lang="en-US" sz="1600" dirty="0"/>
              <a:t> because x” is demanded under each concept. For prices above </a:t>
            </a:r>
            <a:r>
              <a:rPr lang="en-US" sz="1600" dirty="0" err="1"/>
              <a:t>p”</a:t>
            </a:r>
            <a:r>
              <a:rPr lang="en-US" sz="1600" baseline="-25000" dirty="0" err="1"/>
              <a:t>x</a:t>
            </a:r>
            <a:r>
              <a:rPr lang="en-US" sz="1600" dirty="0"/>
              <a:t>, the individual’s purchasing power must be increased with the compensated demand curve; thus, more x is demanded than with the uncompensated curve. For prices below </a:t>
            </a:r>
            <a:r>
              <a:rPr lang="en-US" sz="1600" dirty="0" err="1"/>
              <a:t>p”</a:t>
            </a:r>
            <a:r>
              <a:rPr lang="en-US" sz="1600" baseline="-25000" dirty="0" err="1"/>
              <a:t>x</a:t>
            </a:r>
            <a:r>
              <a:rPr lang="en-US" sz="1600" dirty="0"/>
              <a:t>, purchasing power must be reduced for the compensated curve; therefore, less x is demanded than with the uncompensated curve. The standard demand curve is more price-responsive because it incorporates both substitution and income effects, whereas the curve x</a:t>
            </a:r>
            <a:r>
              <a:rPr lang="en-US" sz="1600" baseline="30000" dirty="0"/>
              <a:t>c</a:t>
            </a:r>
            <a:r>
              <a:rPr lang="en-US" sz="1600" dirty="0"/>
              <a:t> reflects only substitution effects.</a:t>
            </a:r>
          </a:p>
          <a:p>
            <a:pPr>
              <a:spcBef>
                <a:spcPct val="0"/>
              </a:spcBef>
            </a:pPr>
            <a:endParaRPr lang="en-US" altLang="en-US" sz="1600" dirty="0" smtClean="0"/>
          </a:p>
        </p:txBody>
      </p:sp>
      <p:sp>
        <p:nvSpPr>
          <p:cNvPr id="68613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82B437C-0E46-41C4-9862-F4E8E7984F63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grpSp>
        <p:nvGrpSpPr>
          <p:cNvPr id="2" name="Group 87"/>
          <p:cNvGrpSpPr>
            <a:grpSpLocks/>
          </p:cNvGrpSpPr>
          <p:nvPr/>
        </p:nvGrpSpPr>
        <p:grpSpPr bwMode="auto">
          <a:xfrm>
            <a:off x="2112963" y="914400"/>
            <a:ext cx="4356100" cy="3721141"/>
            <a:chOff x="4559300" y="1198484"/>
            <a:chExt cx="4356100" cy="3720732"/>
          </a:xfrm>
        </p:grpSpPr>
        <p:grpSp>
          <p:nvGrpSpPr>
            <p:cNvPr id="68657" name="Group 85"/>
            <p:cNvGrpSpPr>
              <a:grpSpLocks/>
            </p:cNvGrpSpPr>
            <p:nvPr/>
          </p:nvGrpSpPr>
          <p:grpSpPr bwMode="auto">
            <a:xfrm>
              <a:off x="4991100" y="4552503"/>
              <a:ext cx="3924300" cy="366713"/>
              <a:chOff x="4991100" y="4552503"/>
              <a:chExt cx="3924300" cy="366713"/>
            </a:xfrm>
          </p:grpSpPr>
          <p:sp>
            <p:nvSpPr>
              <p:cNvPr id="68661" name="Line 6"/>
              <p:cNvSpPr>
                <a:spLocks noChangeShapeType="1"/>
              </p:cNvSpPr>
              <p:nvPr/>
            </p:nvSpPr>
            <p:spPr bwMode="auto">
              <a:xfrm>
                <a:off x="4991100" y="4572000"/>
                <a:ext cx="3505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8662" name="Text Box 10"/>
              <p:cNvSpPr txBox="1">
                <a:spLocks noChangeArrowheads="1"/>
              </p:cNvSpPr>
              <p:nvPr/>
            </p:nvSpPr>
            <p:spPr bwMode="auto">
              <a:xfrm>
                <a:off x="7448550" y="4552503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  <a:endParaRPr lang="en-US" altLang="en-US" sz="1800"/>
              </a:p>
            </p:txBody>
          </p:sp>
        </p:grpSp>
        <p:grpSp>
          <p:nvGrpSpPr>
            <p:cNvPr id="68658" name="Group 84"/>
            <p:cNvGrpSpPr>
              <a:grpSpLocks/>
            </p:cNvGrpSpPr>
            <p:nvPr/>
          </p:nvGrpSpPr>
          <p:grpSpPr bwMode="auto">
            <a:xfrm>
              <a:off x="4559300" y="1198484"/>
              <a:ext cx="431800" cy="3373516"/>
              <a:chOff x="4559300" y="1198484"/>
              <a:chExt cx="431800" cy="3373516"/>
            </a:xfrm>
          </p:grpSpPr>
          <p:sp>
            <p:nvSpPr>
              <p:cNvPr id="68659" name="Line 7"/>
              <p:cNvSpPr>
                <a:spLocks noChangeShapeType="1"/>
              </p:cNvSpPr>
              <p:nvPr/>
            </p:nvSpPr>
            <p:spPr bwMode="auto">
              <a:xfrm>
                <a:off x="4991100" y="1219200"/>
                <a:ext cx="0" cy="3352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8660" name="Text Box 11"/>
              <p:cNvSpPr txBox="1">
                <a:spLocks noChangeArrowheads="1"/>
              </p:cNvSpPr>
              <p:nvPr/>
            </p:nvSpPr>
            <p:spPr bwMode="auto">
              <a:xfrm>
                <a:off x="4559300" y="1198484"/>
                <a:ext cx="3873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 dirty="0" err="1"/>
                  <a:t>p</a:t>
                </a:r>
                <a:r>
                  <a:rPr lang="en-US" altLang="en-US" sz="1800" i="1" baseline="-25000" dirty="0" err="1"/>
                  <a:t>x</a:t>
                </a:r>
                <a:endParaRPr lang="en-US" altLang="en-US" sz="1800" baseline="-25000" dirty="0"/>
              </a:p>
            </p:txBody>
          </p:sp>
        </p:grpSp>
      </p:grpSp>
      <p:grpSp>
        <p:nvGrpSpPr>
          <p:cNvPr id="6" name="Group 80"/>
          <p:cNvGrpSpPr>
            <a:grpSpLocks/>
          </p:cNvGrpSpPr>
          <p:nvPr/>
        </p:nvGrpSpPr>
        <p:grpSpPr bwMode="auto">
          <a:xfrm>
            <a:off x="2057400" y="2414628"/>
            <a:ext cx="1855788" cy="368300"/>
            <a:chOff x="4504068" y="2698235"/>
            <a:chExt cx="1855759" cy="369332"/>
          </a:xfrm>
        </p:grpSpPr>
        <p:sp>
          <p:nvSpPr>
            <p:cNvPr id="68655" name="Line 39"/>
            <p:cNvSpPr>
              <a:spLocks noChangeShapeType="1"/>
            </p:cNvSpPr>
            <p:nvPr/>
          </p:nvSpPr>
          <p:spPr bwMode="auto">
            <a:xfrm flipH="1">
              <a:off x="4991099" y="2893355"/>
              <a:ext cx="1368728" cy="22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8656" name="Text Box 48"/>
            <p:cNvSpPr txBox="1">
              <a:spLocks noChangeArrowheads="1"/>
            </p:cNvSpPr>
            <p:nvPr/>
          </p:nvSpPr>
          <p:spPr bwMode="auto">
            <a:xfrm>
              <a:off x="4504068" y="2698235"/>
              <a:ext cx="6699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i="1" baseline="-25000"/>
                <a:t>x</a:t>
              </a:r>
              <a:r>
                <a:rPr lang="en-US" altLang="en-US" sz="1800"/>
                <a:t>’’</a:t>
              </a:r>
            </a:p>
          </p:txBody>
        </p:sp>
      </p:grpSp>
      <p:grpSp>
        <p:nvGrpSpPr>
          <p:cNvPr id="7" name="Group 79"/>
          <p:cNvGrpSpPr>
            <a:grpSpLocks/>
          </p:cNvGrpSpPr>
          <p:nvPr/>
        </p:nvGrpSpPr>
        <p:grpSpPr bwMode="auto">
          <a:xfrm>
            <a:off x="2055813" y="1893928"/>
            <a:ext cx="1473200" cy="368300"/>
            <a:chOff x="4502001" y="2177535"/>
            <a:chExt cx="1473243" cy="369332"/>
          </a:xfrm>
        </p:grpSpPr>
        <p:sp>
          <p:nvSpPr>
            <p:cNvPr id="68653" name="Line 36"/>
            <p:cNvSpPr>
              <a:spLocks noChangeShapeType="1"/>
            </p:cNvSpPr>
            <p:nvPr/>
          </p:nvSpPr>
          <p:spPr bwMode="auto">
            <a:xfrm flipH="1" flipV="1">
              <a:off x="5019855" y="2362200"/>
              <a:ext cx="955389" cy="15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8654" name="Text Box 47"/>
            <p:cNvSpPr txBox="1">
              <a:spLocks noChangeArrowheads="1"/>
            </p:cNvSpPr>
            <p:nvPr/>
          </p:nvSpPr>
          <p:spPr bwMode="auto">
            <a:xfrm>
              <a:off x="4502001" y="2177535"/>
              <a:ext cx="6699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i="1" baseline="-25000"/>
                <a:t>x</a:t>
              </a:r>
              <a:r>
                <a:rPr lang="en-US" altLang="en-US" sz="1800"/>
                <a:t>’</a:t>
              </a:r>
            </a:p>
          </p:txBody>
        </p:sp>
      </p:grpSp>
      <p:grpSp>
        <p:nvGrpSpPr>
          <p:cNvPr id="8" name="Group 81"/>
          <p:cNvGrpSpPr>
            <a:grpSpLocks/>
          </p:cNvGrpSpPr>
          <p:nvPr/>
        </p:nvGrpSpPr>
        <p:grpSpPr bwMode="auto">
          <a:xfrm>
            <a:off x="2055813" y="2827378"/>
            <a:ext cx="2676525" cy="368300"/>
            <a:chOff x="4502001" y="3110984"/>
            <a:chExt cx="2676750" cy="369332"/>
          </a:xfrm>
        </p:grpSpPr>
        <p:sp>
          <p:nvSpPr>
            <p:cNvPr id="68651" name="Line 42"/>
            <p:cNvSpPr>
              <a:spLocks noChangeShapeType="1"/>
            </p:cNvSpPr>
            <p:nvPr/>
          </p:nvSpPr>
          <p:spPr bwMode="auto">
            <a:xfrm flipH="1" flipV="1">
              <a:off x="4991100" y="3302000"/>
              <a:ext cx="2187651" cy="7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8652" name="Text Box 49"/>
            <p:cNvSpPr txBox="1">
              <a:spLocks noChangeArrowheads="1"/>
            </p:cNvSpPr>
            <p:nvPr/>
          </p:nvSpPr>
          <p:spPr bwMode="auto">
            <a:xfrm>
              <a:off x="4502001" y="3110984"/>
              <a:ext cx="6572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i="1" baseline="-25000"/>
                <a:t>x</a:t>
              </a:r>
              <a:r>
                <a:rPr lang="en-US" altLang="en-US" sz="1800"/>
                <a:t>’’’</a:t>
              </a:r>
            </a:p>
          </p:txBody>
        </p:sp>
      </p:grpSp>
      <p:grpSp>
        <p:nvGrpSpPr>
          <p:cNvPr id="9" name="Group 53"/>
          <p:cNvGrpSpPr>
            <a:grpSpLocks/>
          </p:cNvGrpSpPr>
          <p:nvPr/>
        </p:nvGrpSpPr>
        <p:grpSpPr bwMode="auto">
          <a:xfrm>
            <a:off x="3105150" y="1685966"/>
            <a:ext cx="5424488" cy="1949450"/>
            <a:chOff x="3105172" y="2005717"/>
            <a:chExt cx="5424489" cy="1949452"/>
          </a:xfrm>
        </p:grpSpPr>
        <p:grpSp>
          <p:nvGrpSpPr>
            <p:cNvPr id="68646" name="Group 69"/>
            <p:cNvGrpSpPr>
              <a:grpSpLocks/>
            </p:cNvGrpSpPr>
            <p:nvPr/>
          </p:nvGrpSpPr>
          <p:grpSpPr bwMode="auto">
            <a:xfrm>
              <a:off x="3105172" y="2005717"/>
              <a:ext cx="5424489" cy="1949452"/>
              <a:chOff x="3473" y="1961"/>
              <a:chExt cx="3417" cy="1228"/>
            </a:xfrm>
          </p:grpSpPr>
          <p:sp>
            <p:nvSpPr>
              <p:cNvPr id="68649" name="Freeform 33"/>
              <p:cNvSpPr>
                <a:spLocks/>
              </p:cNvSpPr>
              <p:nvPr/>
            </p:nvSpPr>
            <p:spPr bwMode="auto">
              <a:xfrm rot="-410879">
                <a:off x="3473" y="1961"/>
                <a:ext cx="1685" cy="1207"/>
              </a:xfrm>
              <a:custGeom>
                <a:avLst/>
                <a:gdLst>
                  <a:gd name="T0" fmla="*/ 0 w 10000"/>
                  <a:gd name="T1" fmla="*/ 0 h 10000"/>
                  <a:gd name="T2" fmla="*/ 105 w 10000"/>
                  <a:gd name="T3" fmla="*/ 75 h 10000"/>
                  <a:gd name="T4" fmla="*/ 284 w 10000"/>
                  <a:gd name="T5" fmla="*/ 146 h 10000"/>
                  <a:gd name="T6" fmla="*/ 0 60000 65536"/>
                  <a:gd name="T7" fmla="*/ 0 60000 65536"/>
                  <a:gd name="T8" fmla="*/ 0 60000 65536"/>
                  <a:gd name="T9" fmla="*/ 0 w 10000"/>
                  <a:gd name="T10" fmla="*/ 0 h 10000"/>
                  <a:gd name="T11" fmla="*/ 10000 w 10000"/>
                  <a:gd name="T12" fmla="*/ 10000 h 100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00" h="10000">
                    <a:moveTo>
                      <a:pt x="0" y="0"/>
                    </a:moveTo>
                    <a:cubicBezTo>
                      <a:pt x="997" y="1823"/>
                      <a:pt x="2037" y="3503"/>
                      <a:pt x="3703" y="5169"/>
                    </a:cubicBezTo>
                    <a:cubicBezTo>
                      <a:pt x="5370" y="6836"/>
                      <a:pt x="8140" y="8774"/>
                      <a:pt x="10000" y="10000"/>
                    </a:cubicBezTo>
                  </a:path>
                </a:pathLst>
              </a:custGeom>
              <a:noFill/>
              <a:ln w="28575" cap="flat" cmpd="sng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8650" name="Text Box 46"/>
              <p:cNvSpPr txBox="1">
                <a:spLocks noChangeArrowheads="1"/>
              </p:cNvSpPr>
              <p:nvPr/>
            </p:nvSpPr>
            <p:spPr bwMode="auto">
              <a:xfrm>
                <a:off x="5227" y="2956"/>
                <a:ext cx="1663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 dirty="0">
                    <a:solidFill>
                      <a:srgbClr val="C00000"/>
                    </a:solidFill>
                  </a:rPr>
                  <a:t>x(</a:t>
                </a:r>
                <a:r>
                  <a:rPr lang="en-US" altLang="en-US" sz="1800" i="1" dirty="0" err="1">
                    <a:solidFill>
                      <a:srgbClr val="C00000"/>
                    </a:solidFill>
                  </a:rPr>
                  <a:t>p</a:t>
                </a:r>
                <a:r>
                  <a:rPr lang="en-US" altLang="en-US" sz="1800" i="1" baseline="-25000" dirty="0" err="1">
                    <a:solidFill>
                      <a:srgbClr val="C00000"/>
                    </a:solidFill>
                  </a:rPr>
                  <a:t>x</a:t>
                </a:r>
                <a:r>
                  <a:rPr lang="en-US" altLang="en-US" sz="1800" i="1" dirty="0" err="1">
                    <a:solidFill>
                      <a:srgbClr val="C00000"/>
                    </a:solidFill>
                  </a:rPr>
                  <a:t>,p</a:t>
                </a:r>
                <a:r>
                  <a:rPr lang="en-US" altLang="en-US" sz="1800" i="1" baseline="-25000" dirty="0" err="1">
                    <a:solidFill>
                      <a:srgbClr val="C00000"/>
                    </a:solidFill>
                  </a:rPr>
                  <a:t>y</a:t>
                </a:r>
                <a:r>
                  <a:rPr lang="en-US" altLang="en-US" sz="1800" i="1" dirty="0" err="1">
                    <a:solidFill>
                      <a:srgbClr val="C00000"/>
                    </a:solidFill>
                  </a:rPr>
                  <a:t>,I</a:t>
                </a:r>
                <a:r>
                  <a:rPr lang="en-US" altLang="en-US" sz="1800" i="1" dirty="0">
                    <a:solidFill>
                      <a:srgbClr val="C00000"/>
                    </a:solidFill>
                  </a:rPr>
                  <a:t>)</a:t>
                </a:r>
                <a:endParaRPr lang="en-US" altLang="en-US" sz="1800" baseline="30000" dirty="0">
                  <a:solidFill>
                    <a:srgbClr val="C00000"/>
                  </a:solidFill>
                </a:endParaRPr>
              </a:p>
            </p:txBody>
          </p:sp>
        </p:grpSp>
        <p:cxnSp>
          <p:nvCxnSpPr>
            <p:cNvPr id="68647" name="Straight Connector 49"/>
            <p:cNvCxnSpPr>
              <a:cxnSpLocks noChangeShapeType="1"/>
            </p:cNvCxnSpPr>
            <p:nvPr/>
          </p:nvCxnSpPr>
          <p:spPr bwMode="auto">
            <a:xfrm>
              <a:off x="6458536" y="3666812"/>
              <a:ext cx="109182" cy="0"/>
            </a:xfrm>
            <a:prstGeom prst="line">
              <a:avLst/>
            </a:prstGeom>
            <a:noFill/>
            <a:ln w="9525" algn="ctr">
              <a:solidFill>
                <a:srgbClr val="BB6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648" name="Straight Connector 50"/>
            <p:cNvCxnSpPr>
              <a:cxnSpLocks noChangeShapeType="1"/>
            </p:cNvCxnSpPr>
            <p:nvPr/>
          </p:nvCxnSpPr>
          <p:spPr bwMode="auto">
            <a:xfrm>
              <a:off x="6699317" y="3666812"/>
              <a:ext cx="109182" cy="0"/>
            </a:xfrm>
            <a:prstGeom prst="line">
              <a:avLst/>
            </a:prstGeom>
            <a:noFill/>
            <a:ln w="9525" algn="ctr">
              <a:solidFill>
                <a:srgbClr val="BB6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" name="Group 54"/>
          <p:cNvGrpSpPr>
            <a:grpSpLocks/>
          </p:cNvGrpSpPr>
          <p:nvPr/>
        </p:nvGrpSpPr>
        <p:grpSpPr bwMode="auto">
          <a:xfrm>
            <a:off x="3006725" y="1743116"/>
            <a:ext cx="4198938" cy="2332037"/>
            <a:chOff x="3006930" y="2062348"/>
            <a:chExt cx="4198938" cy="2332038"/>
          </a:xfrm>
        </p:grpSpPr>
        <p:grpSp>
          <p:nvGrpSpPr>
            <p:cNvPr id="68641" name="Group 69"/>
            <p:cNvGrpSpPr>
              <a:grpSpLocks/>
            </p:cNvGrpSpPr>
            <p:nvPr/>
          </p:nvGrpSpPr>
          <p:grpSpPr bwMode="auto">
            <a:xfrm>
              <a:off x="3006930" y="2062348"/>
              <a:ext cx="4198938" cy="2332038"/>
              <a:chOff x="3456" y="2064"/>
              <a:chExt cx="2645" cy="1469"/>
            </a:xfrm>
          </p:grpSpPr>
          <p:sp>
            <p:nvSpPr>
              <p:cNvPr id="68644" name="Freeform 33"/>
              <p:cNvSpPr>
                <a:spLocks/>
              </p:cNvSpPr>
              <p:nvPr/>
            </p:nvSpPr>
            <p:spPr bwMode="auto">
              <a:xfrm rot="632563">
                <a:off x="3456" y="2064"/>
                <a:ext cx="1728" cy="1104"/>
              </a:xfrm>
              <a:custGeom>
                <a:avLst/>
                <a:gdLst>
                  <a:gd name="T0" fmla="*/ 0 w 1728"/>
                  <a:gd name="T1" fmla="*/ 0 h 1104"/>
                  <a:gd name="T2" fmla="*/ 624 w 1728"/>
                  <a:gd name="T3" fmla="*/ 624 h 1104"/>
                  <a:gd name="T4" fmla="*/ 1728 w 1728"/>
                  <a:gd name="T5" fmla="*/ 1104 h 1104"/>
                  <a:gd name="T6" fmla="*/ 0 60000 65536"/>
                  <a:gd name="T7" fmla="*/ 0 60000 65536"/>
                  <a:gd name="T8" fmla="*/ 0 60000 65536"/>
                  <a:gd name="T9" fmla="*/ 0 w 1728"/>
                  <a:gd name="T10" fmla="*/ 0 h 1104"/>
                  <a:gd name="T11" fmla="*/ 1728 w 1728"/>
                  <a:gd name="T12" fmla="*/ 1104 h 110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28" h="1104">
                    <a:moveTo>
                      <a:pt x="0" y="0"/>
                    </a:moveTo>
                    <a:cubicBezTo>
                      <a:pt x="168" y="220"/>
                      <a:pt x="336" y="440"/>
                      <a:pt x="624" y="624"/>
                    </a:cubicBezTo>
                    <a:cubicBezTo>
                      <a:pt x="912" y="808"/>
                      <a:pt x="1320" y="956"/>
                      <a:pt x="1728" y="1104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8645" name="Text Box 46"/>
              <p:cNvSpPr txBox="1">
                <a:spLocks noChangeArrowheads="1"/>
              </p:cNvSpPr>
              <p:nvPr/>
            </p:nvSpPr>
            <p:spPr bwMode="auto">
              <a:xfrm>
                <a:off x="5079" y="3300"/>
                <a:ext cx="102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 dirty="0">
                    <a:solidFill>
                      <a:srgbClr val="FF0000"/>
                    </a:solidFill>
                  </a:rPr>
                  <a:t>x</a:t>
                </a:r>
                <a:r>
                  <a:rPr lang="en-US" altLang="en-US" sz="1800" i="1" baseline="30000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en-US" sz="1800" i="1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en-US" sz="1800" i="1" dirty="0" err="1">
                    <a:solidFill>
                      <a:srgbClr val="FF0000"/>
                    </a:solidFill>
                  </a:rPr>
                  <a:t>p</a:t>
                </a:r>
                <a:r>
                  <a:rPr lang="en-US" altLang="en-US" sz="1800" i="1" baseline="-25000" dirty="0" err="1">
                    <a:solidFill>
                      <a:srgbClr val="FF0000"/>
                    </a:solidFill>
                  </a:rPr>
                  <a:t>x</a:t>
                </a:r>
                <a:r>
                  <a:rPr lang="en-US" altLang="en-US" sz="1800" i="1" dirty="0" err="1">
                    <a:solidFill>
                      <a:srgbClr val="FF0000"/>
                    </a:solidFill>
                  </a:rPr>
                  <a:t>,p</a:t>
                </a:r>
                <a:r>
                  <a:rPr lang="en-US" altLang="en-US" sz="1800" i="1" baseline="-25000" dirty="0" err="1">
                    <a:solidFill>
                      <a:srgbClr val="FF0000"/>
                    </a:solidFill>
                  </a:rPr>
                  <a:t>y</a:t>
                </a:r>
                <a:r>
                  <a:rPr lang="en-US" altLang="en-US" sz="1800" i="1" dirty="0" err="1">
                    <a:solidFill>
                      <a:srgbClr val="FF0000"/>
                    </a:solidFill>
                  </a:rPr>
                  <a:t>,U</a:t>
                </a:r>
                <a:r>
                  <a:rPr lang="en-US" altLang="en-US" sz="1800" i="1" dirty="0">
                    <a:solidFill>
                      <a:srgbClr val="FF0000"/>
                    </a:solidFill>
                  </a:rPr>
                  <a:t>)</a:t>
                </a:r>
                <a:endParaRPr lang="en-US" altLang="en-US" sz="1800" baseline="300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68642" name="Straight Connector 51"/>
            <p:cNvCxnSpPr>
              <a:cxnSpLocks noChangeShapeType="1"/>
            </p:cNvCxnSpPr>
            <p:nvPr/>
          </p:nvCxnSpPr>
          <p:spPr bwMode="auto">
            <a:xfrm>
              <a:off x="6216056" y="4107583"/>
              <a:ext cx="109182" cy="0"/>
            </a:xfrm>
            <a:prstGeom prst="line">
              <a:avLst/>
            </a:prstGeom>
            <a:noFill/>
            <a:ln w="9525" algn="ctr">
              <a:solidFill>
                <a:srgbClr val="7B33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643" name="Straight Connector 52"/>
            <p:cNvCxnSpPr>
              <a:cxnSpLocks noChangeShapeType="1"/>
            </p:cNvCxnSpPr>
            <p:nvPr/>
          </p:nvCxnSpPr>
          <p:spPr bwMode="auto">
            <a:xfrm>
              <a:off x="6518023" y="4107583"/>
              <a:ext cx="109182" cy="0"/>
            </a:xfrm>
            <a:prstGeom prst="line">
              <a:avLst/>
            </a:prstGeom>
            <a:noFill/>
            <a:ln w="9525" algn="ctr">
              <a:solidFill>
                <a:srgbClr val="7B332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" name="Group 78"/>
          <p:cNvGrpSpPr>
            <a:grpSpLocks/>
          </p:cNvGrpSpPr>
          <p:nvPr/>
        </p:nvGrpSpPr>
        <p:grpSpPr bwMode="auto">
          <a:xfrm>
            <a:off x="4489450" y="2970253"/>
            <a:ext cx="479425" cy="1679575"/>
            <a:chOff x="6553200" y="3253596"/>
            <a:chExt cx="479425" cy="1680870"/>
          </a:xfrm>
        </p:grpSpPr>
        <p:sp>
          <p:nvSpPr>
            <p:cNvPr id="68638" name="Text Box 40"/>
            <p:cNvSpPr txBox="1">
              <a:spLocks noChangeArrowheads="1"/>
            </p:cNvSpPr>
            <p:nvPr/>
          </p:nvSpPr>
          <p:spPr bwMode="auto">
            <a:xfrm>
              <a:off x="6553200" y="4565134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x’’’</a:t>
              </a:r>
            </a:p>
          </p:txBody>
        </p:sp>
        <p:sp>
          <p:nvSpPr>
            <p:cNvPr id="68639" name="Line 41"/>
            <p:cNvSpPr>
              <a:spLocks noChangeShapeType="1"/>
            </p:cNvSpPr>
            <p:nvPr/>
          </p:nvSpPr>
          <p:spPr bwMode="auto">
            <a:xfrm flipV="1">
              <a:off x="6799053" y="3289300"/>
              <a:ext cx="0" cy="1295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40" name="Oval 45"/>
            <p:cNvSpPr>
              <a:spLocks noChangeArrowheads="1"/>
            </p:cNvSpPr>
            <p:nvPr/>
          </p:nvSpPr>
          <p:spPr bwMode="auto">
            <a:xfrm>
              <a:off x="6766704" y="3253596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4" name="Group 78"/>
          <p:cNvGrpSpPr>
            <a:grpSpLocks/>
          </p:cNvGrpSpPr>
          <p:nvPr/>
        </p:nvGrpSpPr>
        <p:grpSpPr bwMode="auto">
          <a:xfrm>
            <a:off x="4160838" y="2975016"/>
            <a:ext cx="479425" cy="1679575"/>
            <a:chOff x="6553200" y="3253596"/>
            <a:chExt cx="479425" cy="1681012"/>
          </a:xfrm>
        </p:grpSpPr>
        <p:sp>
          <p:nvSpPr>
            <p:cNvPr id="68635" name="Text Box 40"/>
            <p:cNvSpPr txBox="1">
              <a:spLocks noChangeArrowheads="1"/>
            </p:cNvSpPr>
            <p:nvPr/>
          </p:nvSpPr>
          <p:spPr bwMode="auto">
            <a:xfrm>
              <a:off x="6553200" y="4564991"/>
              <a:ext cx="479425" cy="3696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x**</a:t>
              </a:r>
            </a:p>
          </p:txBody>
        </p:sp>
        <p:sp>
          <p:nvSpPr>
            <p:cNvPr id="68636" name="Line 41"/>
            <p:cNvSpPr>
              <a:spLocks noChangeShapeType="1"/>
            </p:cNvSpPr>
            <p:nvPr/>
          </p:nvSpPr>
          <p:spPr bwMode="auto">
            <a:xfrm flipV="1">
              <a:off x="6799053" y="3289300"/>
              <a:ext cx="0" cy="1295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37" name="Oval 45"/>
            <p:cNvSpPr>
              <a:spLocks noChangeArrowheads="1"/>
            </p:cNvSpPr>
            <p:nvPr/>
          </p:nvSpPr>
          <p:spPr bwMode="auto">
            <a:xfrm>
              <a:off x="6766704" y="3253596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5" name="Group 77"/>
          <p:cNvGrpSpPr>
            <a:grpSpLocks/>
          </p:cNvGrpSpPr>
          <p:nvPr/>
        </p:nvGrpSpPr>
        <p:grpSpPr bwMode="auto">
          <a:xfrm>
            <a:off x="3725863" y="2573378"/>
            <a:ext cx="479425" cy="2076450"/>
            <a:chOff x="5994400" y="2856550"/>
            <a:chExt cx="479425" cy="2077917"/>
          </a:xfrm>
        </p:grpSpPr>
        <p:sp>
          <p:nvSpPr>
            <p:cNvPr id="68632" name="Text Box 37"/>
            <p:cNvSpPr txBox="1">
              <a:spLocks noChangeArrowheads="1"/>
            </p:cNvSpPr>
            <p:nvPr/>
          </p:nvSpPr>
          <p:spPr bwMode="auto">
            <a:xfrm>
              <a:off x="5994400" y="4565135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x’’</a:t>
              </a:r>
            </a:p>
          </p:txBody>
        </p:sp>
        <p:sp>
          <p:nvSpPr>
            <p:cNvPr id="68633" name="Line 38"/>
            <p:cNvSpPr>
              <a:spLocks noChangeShapeType="1"/>
            </p:cNvSpPr>
            <p:nvPr/>
          </p:nvSpPr>
          <p:spPr bwMode="auto">
            <a:xfrm flipV="1">
              <a:off x="6210300" y="2895601"/>
              <a:ext cx="0" cy="167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8634" name="Oval 44"/>
            <p:cNvSpPr>
              <a:spLocks noChangeArrowheads="1"/>
            </p:cNvSpPr>
            <p:nvPr/>
          </p:nvSpPr>
          <p:spPr bwMode="auto">
            <a:xfrm>
              <a:off x="6184900" y="285655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6" name="Group 76"/>
          <p:cNvGrpSpPr>
            <a:grpSpLocks/>
          </p:cNvGrpSpPr>
          <p:nvPr/>
        </p:nvGrpSpPr>
        <p:grpSpPr bwMode="auto">
          <a:xfrm>
            <a:off x="3297238" y="2047916"/>
            <a:ext cx="479425" cy="2613025"/>
            <a:chOff x="5461000" y="2320507"/>
            <a:chExt cx="479425" cy="2614026"/>
          </a:xfrm>
        </p:grpSpPr>
        <p:sp>
          <p:nvSpPr>
            <p:cNvPr id="68629" name="Text Box 34"/>
            <p:cNvSpPr txBox="1">
              <a:spLocks noChangeArrowheads="1"/>
            </p:cNvSpPr>
            <p:nvPr/>
          </p:nvSpPr>
          <p:spPr bwMode="auto">
            <a:xfrm>
              <a:off x="5461000" y="4565069"/>
              <a:ext cx="479425" cy="369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x*</a:t>
              </a:r>
            </a:p>
          </p:txBody>
        </p:sp>
        <p:sp>
          <p:nvSpPr>
            <p:cNvPr id="68630" name="Line 35"/>
            <p:cNvSpPr>
              <a:spLocks noChangeShapeType="1"/>
            </p:cNvSpPr>
            <p:nvPr/>
          </p:nvSpPr>
          <p:spPr bwMode="auto">
            <a:xfrm flipV="1">
              <a:off x="5694153" y="2362201"/>
              <a:ext cx="0" cy="2209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31" name="Oval 43"/>
            <p:cNvSpPr>
              <a:spLocks noChangeArrowheads="1"/>
            </p:cNvSpPr>
            <p:nvPr/>
          </p:nvSpPr>
          <p:spPr bwMode="auto">
            <a:xfrm>
              <a:off x="5652459" y="2320507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7" name="Group 76"/>
          <p:cNvGrpSpPr>
            <a:grpSpLocks/>
          </p:cNvGrpSpPr>
          <p:nvPr/>
        </p:nvGrpSpPr>
        <p:grpSpPr bwMode="auto">
          <a:xfrm>
            <a:off x="3014663" y="2036803"/>
            <a:ext cx="479425" cy="2613025"/>
            <a:chOff x="5461000" y="2320507"/>
            <a:chExt cx="479425" cy="2613960"/>
          </a:xfrm>
        </p:grpSpPr>
        <p:sp>
          <p:nvSpPr>
            <p:cNvPr id="68626" name="Text Box 34"/>
            <p:cNvSpPr txBox="1">
              <a:spLocks noChangeArrowheads="1"/>
            </p:cNvSpPr>
            <p:nvPr/>
          </p:nvSpPr>
          <p:spPr bwMode="auto">
            <a:xfrm>
              <a:off x="5461000" y="4565135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x’</a:t>
              </a:r>
            </a:p>
          </p:txBody>
        </p:sp>
        <p:sp>
          <p:nvSpPr>
            <p:cNvPr id="68627" name="Line 35"/>
            <p:cNvSpPr>
              <a:spLocks noChangeShapeType="1"/>
            </p:cNvSpPr>
            <p:nvPr/>
          </p:nvSpPr>
          <p:spPr bwMode="auto">
            <a:xfrm flipV="1">
              <a:off x="5694153" y="2362201"/>
              <a:ext cx="0" cy="2209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8628" name="Oval 43"/>
            <p:cNvSpPr>
              <a:spLocks noChangeArrowheads="1"/>
            </p:cNvSpPr>
            <p:nvPr/>
          </p:nvSpPr>
          <p:spPr bwMode="auto">
            <a:xfrm>
              <a:off x="5652459" y="2320507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1231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5.3	 Compensated Demand Functions</a:t>
            </a:r>
          </a:p>
        </p:txBody>
      </p:sp>
      <p:sp>
        <p:nvSpPr>
          <p:cNvPr id="4101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ADD5CA-14E2-410A-B323-64020EAC6685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4100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dirty="0" smtClean="0"/>
              <a:t>The utility is: </a:t>
            </a:r>
            <a:r>
              <a:rPr lang="en-US" altLang="en-US" dirty="0" smtClean="0">
                <a:solidFill>
                  <a:srgbClr val="FF0000"/>
                </a:solidFill>
              </a:rPr>
              <a:t>utility = </a:t>
            </a:r>
            <a:r>
              <a:rPr lang="en-US" altLang="en-US" i="1" dirty="0" smtClean="0">
                <a:solidFill>
                  <a:srgbClr val="FF0000"/>
                </a:solidFill>
              </a:rPr>
              <a:t>U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smtClean="0">
                <a:solidFill>
                  <a:srgbClr val="FF0000"/>
                </a:solidFill>
              </a:rPr>
              <a:t>) = </a:t>
            </a:r>
            <a:r>
              <a:rPr lang="en-US" altLang="en-US" i="1" dirty="0" smtClean="0">
                <a:solidFill>
                  <a:srgbClr val="FF0000"/>
                </a:solidFill>
              </a:rPr>
              <a:t>x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0.5</a:t>
            </a:r>
            <a:r>
              <a:rPr lang="en-US" altLang="en-US" i="1" dirty="0" smtClean="0">
                <a:solidFill>
                  <a:srgbClr val="FF0000"/>
                </a:solidFill>
              </a:rPr>
              <a:t>y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0.5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pPr lvl="1"/>
            <a:r>
              <a:rPr lang="en-US" altLang="en-US" dirty="0" smtClean="0"/>
              <a:t>The Marshallian demand functions: </a:t>
            </a:r>
          </a:p>
          <a:p>
            <a:pPr lvl="1">
              <a:lnSpc>
                <a:spcPct val="150000"/>
              </a:lnSpc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</a:rPr>
              <a:t>x(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I</a:t>
            </a:r>
            <a:r>
              <a:rPr lang="en-US" altLang="en-US" i="1" dirty="0" smtClean="0">
                <a:solidFill>
                  <a:srgbClr val="FF0000"/>
                </a:solidFill>
              </a:rPr>
              <a:t>)</a:t>
            </a:r>
            <a:r>
              <a:rPr lang="en-US" altLang="en-US" dirty="0" smtClean="0">
                <a:solidFill>
                  <a:srgbClr val="FF0000"/>
                </a:solidFill>
              </a:rPr>
              <a:t> = 0.5</a:t>
            </a:r>
            <a:r>
              <a:rPr lang="en-US" altLang="en-US" i="1" dirty="0" smtClean="0">
                <a:solidFill>
                  <a:srgbClr val="FF0000"/>
                </a:solidFill>
                <a:latin typeface="Verdana" pitchFamily="34" charset="0"/>
              </a:rPr>
              <a:t>I</a:t>
            </a:r>
            <a:r>
              <a:rPr lang="en-US" altLang="en-US" dirty="0" smtClean="0">
                <a:solidFill>
                  <a:srgbClr val="FF0000"/>
                </a:solidFill>
              </a:rPr>
              <a:t>/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baseline="-25000" dirty="0" smtClean="0">
                <a:solidFill>
                  <a:srgbClr val="7B332D"/>
                </a:solidFill>
              </a:rPr>
              <a:t> </a:t>
            </a:r>
            <a:r>
              <a:rPr lang="en-US" altLang="en-US" dirty="0" smtClean="0">
                <a:solidFill>
                  <a:srgbClr val="7B332D"/>
                </a:solidFill>
              </a:rPr>
              <a:t> </a:t>
            </a:r>
            <a:r>
              <a:rPr lang="en-US" altLang="en-US" dirty="0" smtClean="0"/>
              <a:t>and </a:t>
            </a:r>
            <a:r>
              <a:rPr lang="en-US" altLang="en-US" i="1" dirty="0" smtClean="0">
                <a:solidFill>
                  <a:srgbClr val="FF0000"/>
                </a:solidFill>
              </a:rPr>
              <a:t>y(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dirty="0" err="1" smtClean="0">
                <a:solidFill>
                  <a:srgbClr val="FF0000"/>
                </a:solidFill>
              </a:rPr>
              <a:t>,p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dirty="0" err="1" smtClean="0">
                <a:solidFill>
                  <a:srgbClr val="FF0000"/>
                </a:solidFill>
              </a:rPr>
              <a:t>,I</a:t>
            </a:r>
            <a:r>
              <a:rPr lang="en-US" altLang="en-US" i="1" dirty="0" smtClean="0">
                <a:solidFill>
                  <a:srgbClr val="FF0000"/>
                </a:solidFill>
              </a:rPr>
              <a:t>)</a:t>
            </a:r>
            <a:r>
              <a:rPr lang="en-US" altLang="en-US" dirty="0" smtClean="0">
                <a:solidFill>
                  <a:srgbClr val="FF0000"/>
                </a:solidFill>
              </a:rPr>
              <a:t> = 0.5</a:t>
            </a:r>
            <a:r>
              <a:rPr lang="en-US" altLang="en-US" i="1" dirty="0" smtClean="0">
                <a:solidFill>
                  <a:srgbClr val="FF0000"/>
                </a:solidFill>
                <a:latin typeface="Verdana" pitchFamily="34" charset="0"/>
              </a:rPr>
              <a:t>I</a:t>
            </a:r>
            <a:r>
              <a:rPr lang="en-US" altLang="en-US" dirty="0" smtClean="0">
                <a:solidFill>
                  <a:srgbClr val="FF0000"/>
                </a:solidFill>
              </a:rPr>
              <a:t>/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The expenditure function: </a:t>
            </a:r>
            <a:r>
              <a:rPr lang="en-US" altLang="en-US" dirty="0" smtClean="0">
                <a:solidFill>
                  <a:srgbClr val="FF0000"/>
                </a:solidFill>
              </a:rPr>
              <a:t>E(</a:t>
            </a:r>
            <a:r>
              <a:rPr lang="en-US" altLang="en-US" dirty="0" err="1" smtClean="0">
                <a:solidFill>
                  <a:srgbClr val="FF0000"/>
                </a:solidFill>
              </a:rPr>
              <a:t>p</a:t>
            </a:r>
            <a:r>
              <a:rPr lang="en-US" altLang="en-US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,p</a:t>
            </a:r>
            <a:r>
              <a:rPr lang="en-US" altLang="en-US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smtClean="0">
                <a:solidFill>
                  <a:srgbClr val="FF0000"/>
                </a:solidFill>
              </a:rPr>
              <a:t>,</a:t>
            </a:r>
            <a:r>
              <a:rPr lang="en-US" altLang="en-US" i="1" dirty="0" smtClean="0">
                <a:solidFill>
                  <a:srgbClr val="FF0000"/>
                </a:solidFill>
              </a:rPr>
              <a:t> U</a:t>
            </a:r>
            <a:r>
              <a:rPr lang="en-US" altLang="en-US" dirty="0" smtClean="0">
                <a:solidFill>
                  <a:srgbClr val="FF0000"/>
                </a:solidFill>
              </a:rPr>
              <a:t>)=2p</a:t>
            </a:r>
            <a:r>
              <a:rPr lang="en-US" altLang="en-US" baseline="-25000" dirty="0" smtClean="0">
                <a:solidFill>
                  <a:srgbClr val="FF0000"/>
                </a:solidFill>
              </a:rPr>
              <a:t>x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0.5</a:t>
            </a:r>
            <a:r>
              <a:rPr lang="en-US" altLang="en-US" dirty="0" smtClean="0">
                <a:solidFill>
                  <a:srgbClr val="FF0000"/>
                </a:solidFill>
              </a:rPr>
              <a:t>p</a:t>
            </a:r>
            <a:r>
              <a:rPr lang="en-US" altLang="en-US" baseline="-25000" dirty="0" smtClean="0">
                <a:solidFill>
                  <a:srgbClr val="FF0000"/>
                </a:solidFill>
              </a:rPr>
              <a:t>y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0.5</a:t>
            </a:r>
            <a:r>
              <a:rPr lang="en-US" altLang="en-US" dirty="0" smtClean="0">
                <a:solidFill>
                  <a:srgbClr val="FF0000"/>
                </a:solidFill>
              </a:rPr>
              <a:t>U</a:t>
            </a:r>
          </a:p>
          <a:p>
            <a:pPr lvl="1"/>
            <a:r>
              <a:rPr lang="en-US" altLang="en-US" dirty="0" smtClean="0"/>
              <a:t>Use Shephard’s lemma to calculate the compensated demand functions as</a:t>
            </a:r>
          </a:p>
        </p:txBody>
      </p:sp>
      <p:graphicFrame>
        <p:nvGraphicFramePr>
          <p:cNvPr id="24166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773440"/>
              </p:ext>
            </p:extLst>
          </p:nvPr>
        </p:nvGraphicFramePr>
        <p:xfrm>
          <a:off x="1387475" y="4191000"/>
          <a:ext cx="6010275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63" name="Equation" r:id="rId3" imgW="2603160" imgH="939600" progId="Equation.DSMT4">
                  <p:embed/>
                </p:oleObj>
              </mc:Choice>
              <mc:Fallback>
                <p:oleObj name="Equation" r:id="rId3" imgW="260316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4191000"/>
                        <a:ext cx="6010275" cy="216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807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A Mathematical Development</a:t>
            </a:r>
            <a:br>
              <a:rPr lang="en-US" altLang="en-US" sz="3600" dirty="0" smtClean="0"/>
            </a:br>
            <a:r>
              <a:rPr lang="en-US" altLang="en-US" sz="3600" dirty="0" smtClean="0"/>
              <a:t>of Response to Price Changes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Use the utility-maximization model </a:t>
            </a:r>
          </a:p>
          <a:p>
            <a:pPr lvl="1"/>
            <a:r>
              <a:rPr lang="en-US" altLang="en-US" dirty="0" smtClean="0"/>
              <a:t>To learn something about how the demand for good x changes when </a:t>
            </a:r>
            <a:r>
              <a:rPr lang="en-US" altLang="en-US" dirty="0" err="1" smtClean="0"/>
              <a:t>p</a:t>
            </a:r>
            <a:r>
              <a:rPr lang="en-US" altLang="en-US" baseline="-25000" dirty="0" err="1" smtClean="0"/>
              <a:t>x</a:t>
            </a:r>
            <a:r>
              <a:rPr lang="en-US" altLang="en-US" dirty="0" smtClean="0"/>
              <a:t> changes</a:t>
            </a:r>
          </a:p>
          <a:p>
            <a:pPr lvl="1"/>
            <a:r>
              <a:rPr lang="en-US" altLang="en-US" dirty="0" smtClean="0"/>
              <a:t>Calculate 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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/</a:t>
            </a:r>
            <a:r>
              <a:rPr lang="en-US" altLang="en-US" i="1" dirty="0" err="1" smtClean="0">
                <a:solidFill>
                  <a:srgbClr val="FF0000"/>
                </a:solidFill>
                <a:sym typeface="Symbol" pitchFamily="18" charset="2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sym typeface="Symbol" pitchFamily="18" charset="2"/>
              </a:rPr>
              <a:t>x</a:t>
            </a:r>
            <a:endParaRPr lang="en-US" altLang="en-US" i="1" dirty="0" smtClean="0">
              <a:solidFill>
                <a:srgbClr val="FF0000"/>
              </a:solidFill>
              <a:sym typeface="Symbol" pitchFamily="18" charset="2"/>
            </a:endParaRPr>
          </a:p>
          <a:p>
            <a:r>
              <a:rPr lang="en-US" altLang="en-US" dirty="0" smtClean="0"/>
              <a:t>Direct approach</a:t>
            </a:r>
          </a:p>
          <a:p>
            <a:pPr lvl="1"/>
            <a:r>
              <a:rPr lang="en-US" altLang="en-US" dirty="0" smtClean="0"/>
              <a:t>Comparative static methods by differentiating the three first order conditions for a maximum with respect to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x</a:t>
            </a:r>
            <a:endParaRPr lang="en-US" altLang="en-US" i="1" baseline="-25000" dirty="0" smtClean="0"/>
          </a:p>
          <a:p>
            <a:pPr lvl="2"/>
            <a:r>
              <a:rPr lang="en-US" altLang="en-US" dirty="0" smtClean="0"/>
              <a:t>Cumbersome and provides little economic insight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5C56308-C789-4066-98C2-B81FF51A52A9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8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A Mathematical Development</a:t>
            </a:r>
            <a:br>
              <a:rPr lang="en-US" altLang="en-US" sz="3600" dirty="0" smtClean="0"/>
            </a:br>
            <a:r>
              <a:rPr lang="en-US" altLang="en-US" sz="3600" dirty="0" smtClean="0"/>
              <a:t>of Response to Price Changes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Indirect approach</a:t>
            </a:r>
          </a:p>
          <a:p>
            <a:pPr lvl="1"/>
            <a:r>
              <a:rPr lang="en-US" altLang="en-US" dirty="0" smtClean="0"/>
              <a:t>Assume there are only two goods, x and y </a:t>
            </a:r>
          </a:p>
          <a:p>
            <a:pPr lvl="1"/>
            <a:r>
              <a:rPr lang="en-US" altLang="en-US" dirty="0" smtClean="0"/>
              <a:t>Focus on the compensated demand function, x</a:t>
            </a:r>
            <a:r>
              <a:rPr lang="en-US" altLang="en-US" baseline="30000" dirty="0" smtClean="0"/>
              <a:t>c</a:t>
            </a:r>
            <a:r>
              <a:rPr lang="en-US" altLang="en-US" dirty="0" smtClean="0"/>
              <a:t>(</a:t>
            </a:r>
            <a:r>
              <a:rPr lang="en-US" altLang="en-US" dirty="0" err="1" smtClean="0"/>
              <a:t>p</a:t>
            </a:r>
            <a:r>
              <a:rPr lang="en-US" altLang="en-US" baseline="-25000" dirty="0" err="1" smtClean="0"/>
              <a:t>x</a:t>
            </a:r>
            <a:r>
              <a:rPr lang="en-US" altLang="en-US" dirty="0" err="1" smtClean="0"/>
              <a:t>,p</a:t>
            </a:r>
            <a:r>
              <a:rPr lang="en-US" altLang="en-US" baseline="-25000" dirty="0" err="1" smtClean="0"/>
              <a:t>y</a:t>
            </a:r>
            <a:r>
              <a:rPr lang="en-US" altLang="en-US" dirty="0" err="1" smtClean="0"/>
              <a:t>,U</a:t>
            </a:r>
            <a:r>
              <a:rPr lang="en-US" altLang="en-US" dirty="0" smtClean="0"/>
              <a:t>)</a:t>
            </a:r>
          </a:p>
          <a:p>
            <a:pPr lvl="1"/>
            <a:r>
              <a:rPr lang="en-US" altLang="en-US" dirty="0" smtClean="0"/>
              <a:t>And its relationship to the ordinary demand function, x(</a:t>
            </a:r>
            <a:r>
              <a:rPr lang="en-US" altLang="en-US" dirty="0" err="1" smtClean="0"/>
              <a:t>p</a:t>
            </a:r>
            <a:r>
              <a:rPr lang="en-US" altLang="en-US" baseline="-25000" dirty="0" err="1" smtClean="0"/>
              <a:t>x</a:t>
            </a:r>
            <a:r>
              <a:rPr lang="en-US" altLang="en-US" dirty="0" err="1" smtClean="0"/>
              <a:t>,p</a:t>
            </a:r>
            <a:r>
              <a:rPr lang="en-US" altLang="en-US" baseline="-25000" dirty="0" err="1" smtClean="0"/>
              <a:t>y</a:t>
            </a:r>
            <a:r>
              <a:rPr lang="en-US" altLang="en-US" dirty="0" err="1" smtClean="0"/>
              <a:t>,I</a:t>
            </a:r>
            <a:r>
              <a:rPr lang="en-US" altLang="en-US" dirty="0" smtClean="0"/>
              <a:t>)</a:t>
            </a:r>
          </a:p>
          <a:p>
            <a:pPr lvl="1">
              <a:lnSpc>
                <a:spcPct val="150000"/>
              </a:lnSpc>
              <a:buFont typeface="Arial" charset="0"/>
              <a:buNone/>
            </a:pPr>
            <a:r>
              <a:rPr lang="en-US" altLang="en-US" i="1" dirty="0" smtClean="0">
                <a:solidFill>
                  <a:srgbClr val="000099"/>
                </a:solidFill>
                <a:sym typeface="Symbol" pitchFamily="18" charset="2"/>
              </a:rPr>
              <a:t>x</a:t>
            </a:r>
            <a:r>
              <a:rPr lang="en-US" altLang="en-US" i="1" baseline="30000" dirty="0" smtClean="0">
                <a:solidFill>
                  <a:srgbClr val="000099"/>
                </a:solidFill>
                <a:sym typeface="Symbol" pitchFamily="18" charset="2"/>
              </a:rPr>
              <a:t>c</a:t>
            </a:r>
            <a:r>
              <a:rPr lang="en-US" altLang="en-US" baseline="-25000" dirty="0" smtClean="0">
                <a:solidFill>
                  <a:srgbClr val="000099"/>
                </a:solidFill>
                <a:sym typeface="Symbol" pitchFamily="18" charset="2"/>
              </a:rPr>
              <a:t> </a:t>
            </a:r>
            <a:r>
              <a:rPr lang="en-US" altLang="en-US" dirty="0" smtClean="0">
                <a:solidFill>
                  <a:srgbClr val="000099"/>
                </a:solidFill>
                <a:sym typeface="Symbol" pitchFamily="18" charset="2"/>
              </a:rPr>
              <a:t>(</a:t>
            </a:r>
            <a:r>
              <a:rPr lang="en-US" altLang="en-US" i="1" dirty="0" err="1" smtClean="0">
                <a:solidFill>
                  <a:srgbClr val="000099"/>
                </a:solidFill>
                <a:sym typeface="Symbol" pitchFamily="18" charset="2"/>
              </a:rPr>
              <a:t>p</a:t>
            </a:r>
            <a:r>
              <a:rPr lang="en-US" altLang="en-US" i="1" baseline="-25000" dirty="0" err="1" smtClean="0">
                <a:solidFill>
                  <a:srgbClr val="000099"/>
                </a:solidFill>
                <a:sym typeface="Symbol" pitchFamily="18" charset="2"/>
              </a:rPr>
              <a:t>x</a:t>
            </a:r>
            <a:r>
              <a:rPr lang="en-US" altLang="en-US" dirty="0" err="1" smtClean="0">
                <a:solidFill>
                  <a:srgbClr val="000099"/>
                </a:solidFill>
                <a:sym typeface="Symbol" pitchFamily="18" charset="2"/>
              </a:rPr>
              <a:t>,</a:t>
            </a:r>
            <a:r>
              <a:rPr lang="en-US" altLang="en-US" i="1" dirty="0" err="1" smtClean="0">
                <a:solidFill>
                  <a:srgbClr val="000099"/>
                </a:solidFill>
                <a:sym typeface="Symbol" pitchFamily="18" charset="2"/>
              </a:rPr>
              <a:t>p</a:t>
            </a:r>
            <a:r>
              <a:rPr lang="en-US" altLang="en-US" i="1" baseline="-25000" dirty="0" err="1" smtClean="0">
                <a:solidFill>
                  <a:srgbClr val="000099"/>
                </a:solidFill>
                <a:sym typeface="Symbol" pitchFamily="18" charset="2"/>
              </a:rPr>
              <a:t>y</a:t>
            </a:r>
            <a:r>
              <a:rPr lang="en-US" altLang="en-US" dirty="0" err="1" smtClean="0">
                <a:solidFill>
                  <a:srgbClr val="000099"/>
                </a:solidFill>
                <a:sym typeface="Symbol" pitchFamily="18" charset="2"/>
              </a:rPr>
              <a:t>,</a:t>
            </a:r>
            <a:r>
              <a:rPr lang="en-US" altLang="en-US" i="1" dirty="0" err="1" smtClean="0">
                <a:solidFill>
                  <a:srgbClr val="000099"/>
                </a:solidFill>
                <a:sym typeface="Symbol" pitchFamily="18" charset="2"/>
              </a:rPr>
              <a:t>U</a:t>
            </a:r>
            <a:r>
              <a:rPr lang="en-US" altLang="en-US" dirty="0" smtClean="0">
                <a:solidFill>
                  <a:srgbClr val="000099"/>
                </a:solidFill>
                <a:sym typeface="Symbol" pitchFamily="18" charset="2"/>
              </a:rPr>
              <a:t>) = </a:t>
            </a:r>
            <a:r>
              <a:rPr lang="en-US" altLang="en-US" i="1" dirty="0" smtClean="0">
                <a:solidFill>
                  <a:srgbClr val="000099"/>
                </a:solidFill>
                <a:sym typeface="Symbol" pitchFamily="18" charset="2"/>
              </a:rPr>
              <a:t>x</a:t>
            </a:r>
            <a:r>
              <a:rPr lang="en-US" altLang="en-US" baseline="-25000" dirty="0" smtClean="0">
                <a:solidFill>
                  <a:srgbClr val="000099"/>
                </a:solidFill>
                <a:sym typeface="Symbol" pitchFamily="18" charset="2"/>
              </a:rPr>
              <a:t> </a:t>
            </a:r>
            <a:r>
              <a:rPr lang="en-US" altLang="en-US" dirty="0" smtClean="0">
                <a:solidFill>
                  <a:srgbClr val="000099"/>
                </a:solidFill>
                <a:sym typeface="Symbol" pitchFamily="18" charset="2"/>
              </a:rPr>
              <a:t>[</a:t>
            </a:r>
            <a:r>
              <a:rPr lang="en-US" altLang="en-US" i="1" dirty="0" err="1" smtClean="0">
                <a:solidFill>
                  <a:srgbClr val="000099"/>
                </a:solidFill>
                <a:sym typeface="Symbol" pitchFamily="18" charset="2"/>
              </a:rPr>
              <a:t>p</a:t>
            </a:r>
            <a:r>
              <a:rPr lang="en-US" altLang="en-US" i="1" baseline="-25000" dirty="0" err="1" smtClean="0">
                <a:solidFill>
                  <a:srgbClr val="000099"/>
                </a:solidFill>
                <a:sym typeface="Symbol" pitchFamily="18" charset="2"/>
              </a:rPr>
              <a:t>x</a:t>
            </a:r>
            <a:r>
              <a:rPr lang="en-US" altLang="en-US" dirty="0" err="1" smtClean="0">
                <a:solidFill>
                  <a:srgbClr val="000099"/>
                </a:solidFill>
                <a:sym typeface="Symbol" pitchFamily="18" charset="2"/>
              </a:rPr>
              <a:t>,</a:t>
            </a:r>
            <a:r>
              <a:rPr lang="en-US" altLang="en-US" i="1" dirty="0" err="1" smtClean="0">
                <a:solidFill>
                  <a:srgbClr val="000099"/>
                </a:solidFill>
                <a:sym typeface="Symbol" pitchFamily="18" charset="2"/>
              </a:rPr>
              <a:t>p</a:t>
            </a:r>
            <a:r>
              <a:rPr lang="en-US" altLang="en-US" i="1" baseline="-25000" dirty="0" err="1" smtClean="0">
                <a:solidFill>
                  <a:srgbClr val="000099"/>
                </a:solidFill>
                <a:sym typeface="Symbol" pitchFamily="18" charset="2"/>
              </a:rPr>
              <a:t>y</a:t>
            </a:r>
            <a:r>
              <a:rPr lang="en-US" altLang="en-US" dirty="0" err="1" smtClean="0">
                <a:solidFill>
                  <a:srgbClr val="000099"/>
                </a:solidFill>
                <a:sym typeface="Symbol" pitchFamily="18" charset="2"/>
              </a:rPr>
              <a:t>,</a:t>
            </a:r>
            <a:r>
              <a:rPr lang="en-US" altLang="en-US" i="1" dirty="0" err="1" smtClean="0">
                <a:solidFill>
                  <a:srgbClr val="000099"/>
                </a:solidFill>
                <a:sym typeface="Symbol" pitchFamily="18" charset="2"/>
              </a:rPr>
              <a:t>E</a:t>
            </a:r>
            <a:r>
              <a:rPr lang="en-US" altLang="en-US" dirty="0" smtClean="0">
                <a:solidFill>
                  <a:srgbClr val="000099"/>
                </a:solidFill>
                <a:sym typeface="Symbol" pitchFamily="18" charset="2"/>
              </a:rPr>
              <a:t>(</a:t>
            </a:r>
            <a:r>
              <a:rPr lang="en-US" altLang="en-US" i="1" dirty="0" err="1" smtClean="0">
                <a:solidFill>
                  <a:srgbClr val="000099"/>
                </a:solidFill>
                <a:sym typeface="Symbol" pitchFamily="18" charset="2"/>
              </a:rPr>
              <a:t>p</a:t>
            </a:r>
            <a:r>
              <a:rPr lang="en-US" altLang="en-US" i="1" baseline="-25000" dirty="0" err="1" smtClean="0">
                <a:solidFill>
                  <a:srgbClr val="000099"/>
                </a:solidFill>
                <a:sym typeface="Symbol" pitchFamily="18" charset="2"/>
              </a:rPr>
              <a:t>x</a:t>
            </a:r>
            <a:r>
              <a:rPr lang="en-US" altLang="en-US" dirty="0" err="1" smtClean="0">
                <a:solidFill>
                  <a:srgbClr val="000099"/>
                </a:solidFill>
                <a:sym typeface="Symbol" pitchFamily="18" charset="2"/>
              </a:rPr>
              <a:t>,</a:t>
            </a:r>
            <a:r>
              <a:rPr lang="en-US" altLang="en-US" i="1" dirty="0" err="1" smtClean="0">
                <a:solidFill>
                  <a:srgbClr val="000099"/>
                </a:solidFill>
                <a:sym typeface="Symbol" pitchFamily="18" charset="2"/>
              </a:rPr>
              <a:t>p</a:t>
            </a:r>
            <a:r>
              <a:rPr lang="en-US" altLang="en-US" i="1" baseline="-25000" dirty="0" err="1" smtClean="0">
                <a:solidFill>
                  <a:srgbClr val="000099"/>
                </a:solidFill>
                <a:sym typeface="Symbol" pitchFamily="18" charset="2"/>
              </a:rPr>
              <a:t>y</a:t>
            </a:r>
            <a:r>
              <a:rPr lang="en-US" altLang="en-US" dirty="0" err="1" smtClean="0">
                <a:solidFill>
                  <a:srgbClr val="000099"/>
                </a:solidFill>
                <a:sym typeface="Symbol" pitchFamily="18" charset="2"/>
              </a:rPr>
              <a:t>,</a:t>
            </a:r>
            <a:r>
              <a:rPr lang="en-US" altLang="en-US" i="1" dirty="0" err="1" smtClean="0">
                <a:solidFill>
                  <a:srgbClr val="000099"/>
                </a:solidFill>
                <a:sym typeface="Symbol" pitchFamily="18" charset="2"/>
              </a:rPr>
              <a:t>U</a:t>
            </a:r>
            <a:r>
              <a:rPr lang="en-US" altLang="en-US" dirty="0" smtClean="0">
                <a:solidFill>
                  <a:srgbClr val="000099"/>
                </a:solidFill>
                <a:sym typeface="Symbol" pitchFamily="18" charset="2"/>
              </a:rPr>
              <a:t>)]</a:t>
            </a: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8DCFCF1-50DC-414B-BF57-1450F02EF07D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9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A Mathematical Development</a:t>
            </a:r>
            <a:br>
              <a:rPr lang="en-US" altLang="en-US" sz="3600" dirty="0" smtClean="0"/>
            </a:br>
            <a:r>
              <a:rPr lang="en-US" altLang="en-US" sz="3600" dirty="0" smtClean="0"/>
              <a:t>of Response to Price Changes</a:t>
            </a:r>
          </a:p>
        </p:txBody>
      </p:sp>
      <p:sp>
        <p:nvSpPr>
          <p:cNvPr id="512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Indirect approach</a:t>
            </a:r>
          </a:p>
          <a:p>
            <a:pPr lvl="1"/>
            <a:r>
              <a:rPr lang="en-US" altLang="en-US" dirty="0" smtClean="0"/>
              <a:t>The substitution effect</a:t>
            </a:r>
          </a:p>
          <a:p>
            <a:pPr lvl="2"/>
            <a:r>
              <a:rPr lang="en-US" altLang="en-US" dirty="0" smtClean="0">
                <a:sym typeface="Symbol" pitchFamily="18" charset="2"/>
              </a:rPr>
              <a:t>The first term: the slope of the compensated demand curve</a:t>
            </a:r>
          </a:p>
          <a:p>
            <a:pPr lvl="1"/>
            <a:r>
              <a:rPr lang="en-US" altLang="en-US" dirty="0" smtClean="0">
                <a:sym typeface="Symbol" pitchFamily="18" charset="2"/>
              </a:rPr>
              <a:t>The income effect</a:t>
            </a:r>
          </a:p>
          <a:p>
            <a:pPr lvl="2"/>
            <a:r>
              <a:rPr lang="en-US" altLang="en-US" dirty="0" smtClean="0">
                <a:sym typeface="Symbol" pitchFamily="18" charset="2"/>
              </a:rPr>
              <a:t>The second term: measures the way in which changes in </a:t>
            </a:r>
            <a:r>
              <a:rPr lang="en-US" altLang="en-US" i="1" dirty="0" err="1" smtClean="0">
                <a:sym typeface="Symbol" pitchFamily="18" charset="2"/>
              </a:rPr>
              <a:t>p</a:t>
            </a:r>
            <a:r>
              <a:rPr lang="en-US" altLang="en-US" i="1" baseline="-25000" dirty="0" err="1" smtClean="0">
                <a:sym typeface="Symbol" pitchFamily="18" charset="2"/>
              </a:rPr>
              <a:t>x</a:t>
            </a:r>
            <a:r>
              <a:rPr lang="en-US" altLang="en-US" dirty="0" smtClean="0">
                <a:sym typeface="Symbol" pitchFamily="18" charset="2"/>
              </a:rPr>
              <a:t> affect the demand for 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dirty="0" smtClean="0">
                <a:sym typeface="Symbol" pitchFamily="18" charset="2"/>
              </a:rPr>
              <a:t> through changes in purchasing power</a:t>
            </a:r>
          </a:p>
          <a:p>
            <a:endParaRPr lang="en-US" altLang="en-US" dirty="0" smtClean="0">
              <a:sym typeface="Symbol" pitchFamily="18" charset="2"/>
            </a:endParaRP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3C8B9A-E0AB-46AC-9715-FE8AD2585920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graphicFrame>
        <p:nvGraphicFramePr>
          <p:cNvPr id="246789" name="Object 2"/>
          <p:cNvGraphicFramePr>
            <a:graphicFrameLocks noChangeAspect="1"/>
          </p:cNvGraphicFramePr>
          <p:nvPr/>
        </p:nvGraphicFramePr>
        <p:xfrm>
          <a:off x="922338" y="5267325"/>
          <a:ext cx="6704012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5" name="Equation" r:id="rId3" imgW="2882880" imgH="457200" progId="Equation.DSMT4">
                  <p:embed/>
                </p:oleObj>
              </mc:Choice>
              <mc:Fallback>
                <p:oleObj name="Equation" r:id="rId3" imgW="2882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5267325"/>
                        <a:ext cx="6704012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400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A Mathematical Development</a:t>
            </a:r>
            <a:br>
              <a:rPr lang="en-US" altLang="en-US" sz="3600" dirty="0" smtClean="0"/>
            </a:br>
            <a:r>
              <a:rPr lang="en-US" altLang="en-US" sz="3600" dirty="0" smtClean="0"/>
              <a:t>of Response to Price Changes</a:t>
            </a:r>
          </a:p>
        </p:txBody>
      </p:sp>
      <p:sp>
        <p:nvSpPr>
          <p:cNvPr id="614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</a:t>
            </a:r>
            <a:r>
              <a:rPr lang="en-US" altLang="en-US" dirty="0" err="1" smtClean="0"/>
              <a:t>Slutsky</a:t>
            </a:r>
            <a:r>
              <a:rPr lang="en-US" altLang="en-US" dirty="0" smtClean="0"/>
              <a:t> equation</a:t>
            </a:r>
          </a:p>
          <a:p>
            <a:endParaRPr lang="en-US" altLang="en-US" dirty="0" smtClean="0">
              <a:sym typeface="Symbol" pitchFamily="18" charset="2"/>
            </a:endParaRP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540CAF-FD64-40A2-A994-D45FEECEEF8A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graphicFrame>
        <p:nvGraphicFramePr>
          <p:cNvPr id="249860" name="Object 2"/>
          <p:cNvGraphicFramePr>
            <a:graphicFrameLocks noChangeAspect="1"/>
          </p:cNvGraphicFramePr>
          <p:nvPr/>
        </p:nvGraphicFramePr>
        <p:xfrm>
          <a:off x="504825" y="1731963"/>
          <a:ext cx="8397875" cy="419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9" name="Equation" r:id="rId3" imgW="3352680" imgH="1676160" progId="Equation.DSMT4">
                  <p:embed/>
                </p:oleObj>
              </mc:Choice>
              <mc:Fallback>
                <p:oleObj name="Equation" r:id="rId3" imgW="3352680" imgH="1676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1731963"/>
                        <a:ext cx="8397875" cy="419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644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A Mathematical Development</a:t>
            </a:r>
            <a:br>
              <a:rPr lang="en-US" altLang="en-US" sz="3600" dirty="0" smtClean="0"/>
            </a:br>
            <a:r>
              <a:rPr lang="en-US" altLang="en-US" sz="3600" dirty="0" smtClean="0"/>
              <a:t>of Response to Price Changes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534400" cy="5257800"/>
          </a:xfrm>
        </p:spPr>
        <p:txBody>
          <a:bodyPr>
            <a:noAutofit/>
          </a:bodyPr>
          <a:lstStyle/>
          <a:p>
            <a:r>
              <a:rPr lang="en-US" altLang="en-US" dirty="0" smtClean="0"/>
              <a:t>The </a:t>
            </a:r>
            <a:r>
              <a:rPr lang="en-US" altLang="en-US" dirty="0" err="1" smtClean="0"/>
              <a:t>Slutsky</a:t>
            </a:r>
            <a:r>
              <a:rPr lang="en-US" altLang="en-US" dirty="0" smtClean="0"/>
              <a:t> equation</a:t>
            </a:r>
          </a:p>
          <a:p>
            <a:pPr lvl="1"/>
            <a:r>
              <a:rPr lang="en-US" altLang="en-US" dirty="0" smtClean="0"/>
              <a:t>The substitution effect</a:t>
            </a:r>
          </a:p>
          <a:p>
            <a:pPr lvl="2"/>
            <a:r>
              <a:rPr lang="en-US" altLang="en-US" dirty="0" smtClean="0"/>
              <a:t>Always negative as long as </a:t>
            </a:r>
            <a:r>
              <a:rPr lang="en-US" altLang="en-US" i="1" dirty="0" smtClean="0"/>
              <a:t>MRS</a:t>
            </a:r>
            <a:r>
              <a:rPr lang="en-US" altLang="en-US" dirty="0" smtClean="0"/>
              <a:t> is diminishing</a:t>
            </a:r>
          </a:p>
          <a:p>
            <a:pPr lvl="2"/>
            <a:r>
              <a:rPr lang="en-US" altLang="en-US" dirty="0" smtClean="0"/>
              <a:t>The slope of the compensated demand curve must be negative</a:t>
            </a:r>
          </a:p>
          <a:p>
            <a:pPr lvl="1"/>
            <a:r>
              <a:rPr lang="en-US" altLang="en-US" dirty="0" smtClean="0"/>
              <a:t>The income effect</a:t>
            </a:r>
          </a:p>
          <a:p>
            <a:pPr lvl="2"/>
            <a:r>
              <a:rPr lang="en-US" altLang="en-US" dirty="0" smtClean="0"/>
              <a:t>If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is a normal good, then </a:t>
            </a:r>
            <a:r>
              <a:rPr lang="en-US" altLang="en-US" dirty="0" smtClean="0">
                <a:sym typeface="Symbol" pitchFamily="18" charset="2"/>
              </a:rPr>
              <a:t>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dirty="0" smtClean="0">
                <a:sym typeface="Symbol" pitchFamily="18" charset="2"/>
              </a:rPr>
              <a:t>/</a:t>
            </a:r>
            <a:r>
              <a:rPr lang="en-US" altLang="en-US" i="1" dirty="0" smtClean="0">
                <a:latin typeface="Verdana" pitchFamily="34" charset="0"/>
                <a:sym typeface="Symbol" pitchFamily="18" charset="2"/>
              </a:rPr>
              <a:t>I</a:t>
            </a:r>
            <a:r>
              <a:rPr lang="en-US" altLang="en-US" dirty="0" smtClean="0">
                <a:sym typeface="Symbol" pitchFamily="18" charset="2"/>
              </a:rPr>
              <a:t> &gt; 0</a:t>
            </a:r>
          </a:p>
          <a:p>
            <a:pPr lvl="3"/>
            <a:r>
              <a:rPr lang="en-US" altLang="en-US" dirty="0" smtClean="0">
                <a:sym typeface="Symbol" pitchFamily="18" charset="2"/>
              </a:rPr>
              <a:t>The entire income effect is negative</a:t>
            </a:r>
          </a:p>
          <a:p>
            <a:pPr lvl="2"/>
            <a:r>
              <a:rPr lang="en-US" altLang="en-US" dirty="0" smtClean="0"/>
              <a:t>If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is an inferior good, then </a:t>
            </a:r>
            <a:r>
              <a:rPr lang="en-US" altLang="en-US" dirty="0" smtClean="0">
                <a:sym typeface="Symbol" pitchFamily="18" charset="2"/>
              </a:rPr>
              <a:t>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dirty="0" smtClean="0">
                <a:sym typeface="Symbol" pitchFamily="18" charset="2"/>
              </a:rPr>
              <a:t>/</a:t>
            </a:r>
            <a:r>
              <a:rPr lang="en-US" altLang="en-US" i="1" dirty="0" smtClean="0">
                <a:latin typeface="Verdana" pitchFamily="34" charset="0"/>
                <a:sym typeface="Symbol" pitchFamily="18" charset="2"/>
              </a:rPr>
              <a:t>I</a:t>
            </a:r>
            <a:r>
              <a:rPr lang="en-US" altLang="en-US" dirty="0" smtClean="0">
                <a:sym typeface="Symbol" pitchFamily="18" charset="2"/>
              </a:rPr>
              <a:t> &lt; 0</a:t>
            </a:r>
          </a:p>
          <a:p>
            <a:pPr lvl="3"/>
            <a:r>
              <a:rPr lang="en-US" altLang="en-US" dirty="0" smtClean="0">
                <a:sym typeface="Symbol" pitchFamily="18" charset="2"/>
              </a:rPr>
              <a:t>The entire income effect is positive</a:t>
            </a:r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 smtClean="0">
              <a:sym typeface="Symbol" pitchFamily="18" charset="2"/>
            </a:endParaRP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1F2C28-7AD7-436C-96A4-B953A791B05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1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5.4 	A </a:t>
            </a:r>
            <a:r>
              <a:rPr lang="en-US" altLang="en-US" dirty="0" err="1" smtClean="0"/>
              <a:t>Slutsky</a:t>
            </a:r>
            <a:r>
              <a:rPr lang="en-US" altLang="en-US" dirty="0" smtClean="0"/>
              <a:t> Decomposition</a:t>
            </a:r>
          </a:p>
        </p:txBody>
      </p:sp>
      <p:sp>
        <p:nvSpPr>
          <p:cNvPr id="7173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4DF9EDB-2CBE-4955-A6EF-0FD59C783672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7172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Marshallian demand function for good x </a:t>
            </a:r>
          </a:p>
          <a:p>
            <a:pPr>
              <a:lnSpc>
                <a:spcPct val="150000"/>
              </a:lnSpc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</a:rPr>
              <a:t> 		x(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I</a:t>
            </a:r>
            <a:r>
              <a:rPr lang="en-US" altLang="en-US" i="1" dirty="0" smtClean="0">
                <a:solidFill>
                  <a:srgbClr val="FF0000"/>
                </a:solidFill>
              </a:rPr>
              <a:t>) = 0.5</a:t>
            </a:r>
            <a:r>
              <a:rPr lang="en-US" altLang="en-US" i="1" dirty="0" smtClean="0">
                <a:solidFill>
                  <a:srgbClr val="FF0000"/>
                </a:solidFill>
                <a:latin typeface="Verdana" pitchFamily="34" charset="0"/>
              </a:rPr>
              <a:t>I</a:t>
            </a:r>
            <a:r>
              <a:rPr lang="en-US" altLang="en-US" i="1" dirty="0" smtClean="0">
                <a:solidFill>
                  <a:srgbClr val="FF0000"/>
                </a:solidFill>
              </a:rPr>
              <a:t>/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altLang="en-US" dirty="0" smtClean="0"/>
              <a:t>Compensated demand function for this good </a:t>
            </a:r>
          </a:p>
          <a:p>
            <a:pPr>
              <a:lnSpc>
                <a:spcPct val="150000"/>
              </a:lnSpc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</a:rPr>
              <a:t>		x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c</a:t>
            </a:r>
            <a:r>
              <a:rPr lang="en-US" altLang="en-US" i="1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smtClean="0">
                <a:solidFill>
                  <a:srgbClr val="FF0000"/>
                </a:solidFill>
              </a:rPr>
              <a:t>,</a:t>
            </a:r>
            <a:r>
              <a:rPr lang="en-US" altLang="en-US" i="1" dirty="0" smtClean="0">
                <a:solidFill>
                  <a:srgbClr val="FF0000"/>
                </a:solidFill>
              </a:rPr>
              <a:t> U)=p</a:t>
            </a:r>
            <a:r>
              <a:rPr lang="en-US" altLang="en-US" i="1" baseline="-25000" dirty="0" smtClean="0">
                <a:solidFill>
                  <a:srgbClr val="FF0000"/>
                </a:solidFill>
              </a:rPr>
              <a:t>x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-0.5</a:t>
            </a:r>
            <a:r>
              <a:rPr lang="en-US" altLang="en-US" i="1" dirty="0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smtClean="0">
                <a:solidFill>
                  <a:srgbClr val="FF0000"/>
                </a:solidFill>
              </a:rPr>
              <a:t>y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0.5</a:t>
            </a:r>
            <a:r>
              <a:rPr lang="en-US" altLang="en-US" i="1" dirty="0" smtClean="0">
                <a:solidFill>
                  <a:srgbClr val="FF0000"/>
                </a:solidFill>
              </a:rPr>
              <a:t>U</a:t>
            </a:r>
          </a:p>
          <a:p>
            <a:r>
              <a:rPr lang="en-US" altLang="en-US" dirty="0" smtClean="0"/>
              <a:t>Total effect of a price change on Marshallian demand</a:t>
            </a:r>
          </a:p>
          <a:p>
            <a:endParaRPr lang="en-US" altLang="en-US" dirty="0" smtClean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092200" y="4419600"/>
          <a:ext cx="3519488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5" name="Equation" r:id="rId3" imgW="1346040" imgH="457200" progId="Equation.DSMT4">
                  <p:embed/>
                </p:oleObj>
              </mc:Choice>
              <mc:Fallback>
                <p:oleObj name="Equation" r:id="rId3" imgW="13460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4419600"/>
                        <a:ext cx="3519488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284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5.4 	A </a:t>
            </a:r>
            <a:r>
              <a:rPr lang="en-US" altLang="en-US" dirty="0" err="1" smtClean="0"/>
              <a:t>Slutsky</a:t>
            </a:r>
            <a:r>
              <a:rPr lang="en-US" altLang="en-US" dirty="0" smtClean="0"/>
              <a:t> Decomposition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FC251BEC-CD9D-4472-8B27-C708E4224DFA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graphicFrame>
        <p:nvGraphicFramePr>
          <p:cNvPr id="24986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386133"/>
              </p:ext>
            </p:extLst>
          </p:nvPr>
        </p:nvGraphicFramePr>
        <p:xfrm>
          <a:off x="464866" y="722313"/>
          <a:ext cx="8301309" cy="369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58" name="Equation" r:id="rId3" imgW="3365280" imgH="1498320" progId="Equation.DSMT4">
                  <p:embed/>
                </p:oleObj>
              </mc:Choice>
              <mc:Fallback>
                <p:oleObj name="Equation" r:id="rId3" imgW="3365280" imgH="1498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66" y="722313"/>
                        <a:ext cx="8301309" cy="3697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588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Marshallian Demand Elasticities</a:t>
            </a:r>
          </a:p>
        </p:txBody>
      </p:sp>
      <p:sp>
        <p:nvSpPr>
          <p:cNvPr id="922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Marshallian demand elasticities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Marshallian demand function: </a:t>
            </a:r>
            <a:r>
              <a:rPr lang="en-US" altLang="en-US" i="1" dirty="0" smtClean="0">
                <a:solidFill>
                  <a:srgbClr val="FF0000"/>
                </a:solidFill>
              </a:rPr>
              <a:t>x(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I</a:t>
            </a:r>
            <a:r>
              <a:rPr lang="en-US" altLang="en-US" i="1" dirty="0" smtClean="0">
                <a:solidFill>
                  <a:srgbClr val="FF0000"/>
                </a:solidFill>
              </a:rPr>
              <a:t>)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dirty="0" smtClean="0"/>
              <a:t>1. Price elasticity of demand, e</a:t>
            </a:r>
            <a:r>
              <a:rPr lang="en-US" altLang="en-US" baseline="-25000" dirty="0" smtClean="0"/>
              <a:t>x</a:t>
            </a:r>
            <a:r>
              <a:rPr lang="en-US" altLang="en-US" dirty="0" smtClean="0"/>
              <a:t>, </a:t>
            </a:r>
            <a:r>
              <a:rPr lang="en-US" altLang="en-US" baseline="-25000" dirty="0" err="1" smtClean="0"/>
              <a:t>px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Measures the proportionate change in quantity demanded </a:t>
            </a:r>
          </a:p>
          <a:p>
            <a:pPr lvl="2"/>
            <a:r>
              <a:rPr lang="en-US" altLang="en-US" dirty="0" smtClean="0"/>
              <a:t>In response to a proportionate change in a good’s own price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40C1F2-5B7F-43A7-8105-F36F3EFF98C8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graphicFrame>
        <p:nvGraphicFramePr>
          <p:cNvPr id="32154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956994"/>
              </p:ext>
            </p:extLst>
          </p:nvPr>
        </p:nvGraphicFramePr>
        <p:xfrm>
          <a:off x="1143000" y="5378980"/>
          <a:ext cx="6858000" cy="1080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82" name="Equation" r:id="rId3" imgW="2895480" imgH="457200" progId="Equation.DSMT4">
                  <p:embed/>
                </p:oleObj>
              </mc:Choice>
              <mc:Fallback>
                <p:oleObj name="Equation" r:id="rId3" imgW="28954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378980"/>
                        <a:ext cx="6858000" cy="1080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769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Marshallian Demand Elasticities</a:t>
            </a:r>
          </a:p>
        </p:txBody>
      </p:sp>
      <p:sp>
        <p:nvSpPr>
          <p:cNvPr id="1024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en-US" smtClean="0"/>
              <a:t>2. Income elasticity of demand, e</a:t>
            </a:r>
            <a:r>
              <a:rPr lang="en-US" altLang="en-US" baseline="-25000" smtClean="0"/>
              <a:t>x,I</a:t>
            </a:r>
            <a:r>
              <a:rPr lang="en-US" altLang="en-US" smtClean="0"/>
              <a:t> </a:t>
            </a:r>
          </a:p>
          <a:p>
            <a:pPr lvl="1"/>
            <a:r>
              <a:rPr lang="en-US" altLang="en-US" smtClean="0"/>
              <a:t>Measures the proportionate change in quantity demanded </a:t>
            </a:r>
          </a:p>
          <a:p>
            <a:pPr lvl="2"/>
            <a:r>
              <a:rPr lang="en-US" altLang="en-US" smtClean="0"/>
              <a:t>In response to a proportionate change in income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4053CF0-4C0D-44E5-B217-798E21FD80FA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graphicFrame>
        <p:nvGraphicFramePr>
          <p:cNvPr id="32256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217150"/>
              </p:ext>
            </p:extLst>
          </p:nvPr>
        </p:nvGraphicFramePr>
        <p:xfrm>
          <a:off x="1632744" y="3838575"/>
          <a:ext cx="5878513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06" name="Equation" r:id="rId3" imgW="2463480" imgH="419040" progId="Equation.DSMT4">
                  <p:embed/>
                </p:oleObj>
              </mc:Choice>
              <mc:Fallback>
                <p:oleObj name="Equation" r:id="rId3" imgW="24634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2744" y="3838575"/>
                        <a:ext cx="5878513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4992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Marshallian Demand Elasticities</a:t>
            </a:r>
          </a:p>
        </p:txBody>
      </p:sp>
      <p:sp>
        <p:nvSpPr>
          <p:cNvPr id="112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en-US" smtClean="0"/>
              <a:t>3. Cross-price elasticity of demand, e</a:t>
            </a:r>
            <a:r>
              <a:rPr lang="en-US" altLang="en-US" baseline="-25000" smtClean="0"/>
              <a:t>x,py</a:t>
            </a:r>
            <a:r>
              <a:rPr lang="en-US" altLang="en-US" smtClean="0"/>
              <a:t> </a:t>
            </a:r>
          </a:p>
          <a:p>
            <a:pPr lvl="1"/>
            <a:r>
              <a:rPr lang="en-US" altLang="en-US" smtClean="0"/>
              <a:t>Measures the proportionate change in quantity of x demanded </a:t>
            </a:r>
          </a:p>
          <a:p>
            <a:pPr lvl="2"/>
            <a:r>
              <a:rPr lang="en-US" altLang="en-US" smtClean="0"/>
              <a:t>In response to a proportionate change in the price of some other good (y)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FC38C81-CFC2-4C3A-A949-92415C5E879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graphicFrame>
        <p:nvGraphicFramePr>
          <p:cNvPr id="32256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251747"/>
              </p:ext>
            </p:extLst>
          </p:nvPr>
        </p:nvGraphicFramePr>
        <p:xfrm>
          <a:off x="892175" y="4024313"/>
          <a:ext cx="7359650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9" name="Equation" r:id="rId3" imgW="2933640" imgH="469800" progId="Equation.DSMT4">
                  <p:embed/>
                </p:oleObj>
              </mc:Choice>
              <mc:Fallback>
                <p:oleObj name="Equation" r:id="rId3" imgW="29336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4024313"/>
                        <a:ext cx="7359650" cy="118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0152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Price elasticity of demand</a:t>
            </a:r>
          </a:p>
        </p:txBody>
      </p:sp>
      <p:sp>
        <p:nvSpPr>
          <p:cNvPr id="72707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own price elasticity of demand is always negative</a:t>
            </a:r>
          </a:p>
          <a:p>
            <a:pPr lvl="1"/>
            <a:r>
              <a:rPr lang="en-US" altLang="en-US" dirty="0" smtClean="0"/>
              <a:t>The only exception is </a:t>
            </a:r>
            <a:r>
              <a:rPr lang="en-US" altLang="en-US" dirty="0" err="1" smtClean="0"/>
              <a:t>Giffen’s</a:t>
            </a:r>
            <a:r>
              <a:rPr lang="en-US" altLang="en-US" dirty="0" smtClean="0"/>
              <a:t> paradox</a:t>
            </a:r>
          </a:p>
          <a:p>
            <a:r>
              <a:rPr lang="en-US" altLang="en-US" dirty="0" smtClean="0"/>
              <a:t>The size of the elasticity is important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If </a:t>
            </a:r>
            <a:r>
              <a:rPr lang="en-US" altLang="en-US" i="1" dirty="0" err="1" smtClean="0"/>
              <a:t>e</a:t>
            </a:r>
            <a:r>
              <a:rPr lang="en-US" altLang="en-US" i="1" baseline="-25000" dirty="0" err="1" smtClean="0"/>
              <a:t>x</a:t>
            </a:r>
            <a:r>
              <a:rPr lang="en-US" altLang="en-US" baseline="-25000" dirty="0" err="1" smtClean="0"/>
              <a:t>,</a:t>
            </a:r>
            <a:r>
              <a:rPr lang="en-US" altLang="en-US" i="1" baseline="-25000" dirty="0" err="1" smtClean="0"/>
              <a:t>p</a:t>
            </a:r>
            <a:r>
              <a:rPr lang="en-US" altLang="en-US" i="1" baseline="-40000" dirty="0" err="1" smtClean="0"/>
              <a:t>x</a:t>
            </a:r>
            <a:r>
              <a:rPr lang="en-US" altLang="en-US" dirty="0" smtClean="0"/>
              <a:t> &lt; -1, demand is elastic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If </a:t>
            </a:r>
            <a:r>
              <a:rPr lang="en-US" altLang="en-US" i="1" dirty="0" err="1" smtClean="0"/>
              <a:t>e</a:t>
            </a:r>
            <a:r>
              <a:rPr lang="en-US" altLang="en-US" i="1" baseline="-25000" dirty="0" err="1" smtClean="0"/>
              <a:t>x</a:t>
            </a:r>
            <a:r>
              <a:rPr lang="en-US" altLang="en-US" baseline="-25000" dirty="0" err="1" smtClean="0"/>
              <a:t>,</a:t>
            </a:r>
            <a:r>
              <a:rPr lang="en-US" altLang="en-US" i="1" baseline="-25000" dirty="0" err="1" smtClean="0"/>
              <a:t>p</a:t>
            </a:r>
            <a:r>
              <a:rPr lang="en-US" altLang="en-US" i="1" baseline="-40000" dirty="0" err="1" smtClean="0"/>
              <a:t>x</a:t>
            </a:r>
            <a:r>
              <a:rPr lang="en-US" altLang="en-US" dirty="0" smtClean="0"/>
              <a:t> &gt; -1, demand is inelastic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If </a:t>
            </a:r>
            <a:r>
              <a:rPr lang="en-US" altLang="en-US" i="1" dirty="0" err="1" smtClean="0"/>
              <a:t>e</a:t>
            </a:r>
            <a:r>
              <a:rPr lang="en-US" altLang="en-US" i="1" baseline="-25000" dirty="0" err="1" smtClean="0"/>
              <a:t>x</a:t>
            </a:r>
            <a:r>
              <a:rPr lang="en-US" altLang="en-US" baseline="-25000" dirty="0" err="1" smtClean="0"/>
              <a:t>,</a:t>
            </a:r>
            <a:r>
              <a:rPr lang="en-US" altLang="en-US" i="1" baseline="-25000" dirty="0" err="1" smtClean="0"/>
              <a:t>p</a:t>
            </a:r>
            <a:r>
              <a:rPr lang="en-US" altLang="en-US" i="1" baseline="-40000" dirty="0" err="1" smtClean="0"/>
              <a:t>x</a:t>
            </a:r>
            <a:r>
              <a:rPr lang="en-US" altLang="en-US" dirty="0" smtClean="0"/>
              <a:t> = -1, demand is unit elastic</a:t>
            </a:r>
          </a:p>
          <a:p>
            <a:endParaRPr lang="en-US" altLang="en-US" dirty="0" smtClean="0"/>
          </a:p>
        </p:txBody>
      </p:sp>
      <p:sp>
        <p:nvSpPr>
          <p:cNvPr id="72708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01B62F-5F22-4B27-8E85-3B1534015743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1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Price Elasticity of Demand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Total spending on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=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x</a:t>
            </a:r>
            <a:r>
              <a:rPr lang="en-US" altLang="en-US" i="1" dirty="0" err="1" smtClean="0"/>
              <a:t>x</a:t>
            </a:r>
            <a:endParaRPr lang="en-US" alt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8050BF-5E2C-40A6-ABC8-3C5893B74ABE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04800" y="2895600"/>
            <a:ext cx="8763000" cy="3352800"/>
          </a:xfrm>
        </p:spPr>
        <p:txBody>
          <a:bodyPr>
            <a:noAutofit/>
          </a:bodyPr>
          <a:lstStyle/>
          <a:p>
            <a:pPr eaLnBrk="0" hangingPunct="0">
              <a:buFontTx/>
              <a:buChar char="•"/>
              <a:defRPr/>
            </a:pPr>
            <a:r>
              <a:rPr lang="en-US" kern="0" dirty="0">
                <a:solidFill>
                  <a:srgbClr val="002D56"/>
                </a:solidFill>
                <a:sym typeface="Symbol" pitchFamily="18" charset="2"/>
              </a:rPr>
              <a:t>If </a:t>
            </a:r>
            <a:r>
              <a:rPr lang="en-US" kern="0" dirty="0" smtClean="0">
                <a:solidFill>
                  <a:srgbClr val="002D56"/>
                </a:solidFill>
                <a:sym typeface="Symbol" pitchFamily="18" charset="2"/>
              </a:rPr>
              <a:t>0 &gt; </a:t>
            </a:r>
            <a:r>
              <a:rPr lang="en-US" i="1" kern="0" dirty="0" err="1" smtClean="0">
                <a:solidFill>
                  <a:srgbClr val="002D56"/>
                </a:solidFill>
                <a:sym typeface="Symbol" pitchFamily="18" charset="2"/>
              </a:rPr>
              <a:t>e</a:t>
            </a:r>
            <a:r>
              <a:rPr lang="en-US" i="1" kern="0" baseline="-25000" dirty="0" err="1" smtClean="0">
                <a:solidFill>
                  <a:srgbClr val="002D56"/>
                </a:solidFill>
                <a:sym typeface="Symbol" pitchFamily="18" charset="2"/>
              </a:rPr>
              <a:t>x,p</a:t>
            </a:r>
            <a:r>
              <a:rPr lang="en-US" i="1" kern="0" baseline="-40000" dirty="0" err="1" smtClean="0">
                <a:solidFill>
                  <a:srgbClr val="002D56"/>
                </a:solidFill>
                <a:sym typeface="Symbol" pitchFamily="18" charset="2"/>
              </a:rPr>
              <a:t>x</a:t>
            </a:r>
            <a:r>
              <a:rPr lang="en-US" kern="0" dirty="0" smtClean="0">
                <a:solidFill>
                  <a:srgbClr val="002D56"/>
                </a:solidFill>
                <a:sym typeface="Symbol" pitchFamily="18" charset="2"/>
              </a:rPr>
              <a:t> </a:t>
            </a:r>
            <a:r>
              <a:rPr lang="en-US" kern="0" dirty="0">
                <a:solidFill>
                  <a:srgbClr val="002D56"/>
                </a:solidFill>
                <a:sym typeface="Symbol" pitchFamily="18" charset="2"/>
              </a:rPr>
              <a:t>&gt; -1, demand is inelastic</a:t>
            </a:r>
          </a:p>
          <a:p>
            <a:pPr lvl="1" eaLnBrk="0" hangingPunct="0">
              <a:buFont typeface="Arial" charset="0"/>
              <a:buChar char="–"/>
              <a:defRPr/>
            </a:pPr>
            <a:r>
              <a:rPr lang="en-US" kern="0" dirty="0">
                <a:sym typeface="Symbol" pitchFamily="18" charset="2"/>
              </a:rPr>
              <a:t>Price and total spending move in the same direction</a:t>
            </a:r>
          </a:p>
          <a:p>
            <a:pPr eaLnBrk="0" hangingPunct="0">
              <a:buFontTx/>
              <a:buChar char="•"/>
              <a:defRPr/>
            </a:pPr>
            <a:r>
              <a:rPr lang="en-US" kern="0" dirty="0">
                <a:solidFill>
                  <a:srgbClr val="002D56"/>
                </a:solidFill>
                <a:sym typeface="Symbol" pitchFamily="18" charset="2"/>
              </a:rPr>
              <a:t>If </a:t>
            </a:r>
            <a:r>
              <a:rPr lang="en-US" i="1" kern="0" dirty="0" err="1">
                <a:solidFill>
                  <a:srgbClr val="002D56"/>
                </a:solidFill>
                <a:sym typeface="Symbol" pitchFamily="18" charset="2"/>
              </a:rPr>
              <a:t>e</a:t>
            </a:r>
            <a:r>
              <a:rPr lang="en-US" i="1" kern="0" baseline="-25000" dirty="0" err="1">
                <a:solidFill>
                  <a:srgbClr val="002D56"/>
                </a:solidFill>
                <a:sym typeface="Symbol" pitchFamily="18" charset="2"/>
              </a:rPr>
              <a:t>x,p</a:t>
            </a:r>
            <a:r>
              <a:rPr lang="en-US" i="1" kern="0" baseline="-40000" dirty="0" err="1">
                <a:solidFill>
                  <a:srgbClr val="002D56"/>
                </a:solidFill>
                <a:sym typeface="Symbol" pitchFamily="18" charset="2"/>
              </a:rPr>
              <a:t>x</a:t>
            </a:r>
            <a:r>
              <a:rPr lang="en-US" kern="0" dirty="0">
                <a:solidFill>
                  <a:srgbClr val="002D56"/>
                </a:solidFill>
                <a:sym typeface="Symbol" pitchFamily="18" charset="2"/>
              </a:rPr>
              <a:t> &lt; -1, demand is elastic</a:t>
            </a:r>
          </a:p>
          <a:p>
            <a:pPr lvl="1" eaLnBrk="0" hangingPunct="0">
              <a:buFont typeface="Arial" charset="0"/>
              <a:buChar char="–"/>
              <a:defRPr/>
            </a:pPr>
            <a:r>
              <a:rPr lang="en-US" kern="0" dirty="0">
                <a:sym typeface="Symbol" pitchFamily="18" charset="2"/>
              </a:rPr>
              <a:t>Price and total spending move in opposite </a:t>
            </a:r>
            <a:r>
              <a:rPr lang="en-US" kern="0" dirty="0" smtClean="0">
                <a:sym typeface="Symbol" pitchFamily="18" charset="2"/>
              </a:rPr>
              <a:t>directions</a:t>
            </a:r>
            <a:endParaRPr lang="en-US" kern="0" dirty="0">
              <a:sym typeface="Symbol" pitchFamily="18" charset="2"/>
            </a:endParaRPr>
          </a:p>
        </p:txBody>
      </p:sp>
      <p:graphicFrame>
        <p:nvGraphicFramePr>
          <p:cNvPr id="320516" name="Object 2"/>
          <p:cNvGraphicFramePr>
            <a:graphicFrameLocks noChangeAspect="1"/>
          </p:cNvGraphicFramePr>
          <p:nvPr/>
        </p:nvGraphicFramePr>
        <p:xfrm>
          <a:off x="1417638" y="1758950"/>
          <a:ext cx="521335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4" name="Equation" r:id="rId3" imgW="2070000" imgH="431640" progId="Equation.DSMT4">
                  <p:embed/>
                </p:oleObj>
              </mc:Choice>
              <mc:Fallback>
                <p:oleObj name="Equation" r:id="rId3" imgW="2070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7638" y="1758950"/>
                        <a:ext cx="521335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584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Compensated Price Elasticities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Compensated price elasticities</a:t>
            </a:r>
          </a:p>
          <a:p>
            <a:pPr lvl="1">
              <a:lnSpc>
                <a:spcPct val="150000"/>
              </a:lnSpc>
              <a:defRPr/>
            </a:pPr>
            <a:r>
              <a:rPr lang="en-US" dirty="0" smtClean="0"/>
              <a:t>Compensated demand function, </a:t>
            </a:r>
            <a:r>
              <a:rPr lang="en-US" i="1" dirty="0" err="1" smtClean="0">
                <a:solidFill>
                  <a:srgbClr val="FF0000"/>
                </a:solidFill>
              </a:rPr>
              <a:t>x</a:t>
            </a:r>
            <a:r>
              <a:rPr lang="en-US" i="1" baseline="30000" dirty="0" err="1" smtClean="0">
                <a:solidFill>
                  <a:srgbClr val="FF0000"/>
                </a:solidFill>
              </a:rPr>
              <a:t>c</a:t>
            </a:r>
            <a:r>
              <a:rPr lang="en-US" i="1" dirty="0" smtClean="0">
                <a:solidFill>
                  <a:srgbClr val="FF0000"/>
                </a:solidFill>
              </a:rPr>
              <a:t>(</a:t>
            </a:r>
            <a:r>
              <a:rPr lang="en-US" i="1" dirty="0" err="1" smtClean="0">
                <a:solidFill>
                  <a:srgbClr val="FF0000"/>
                </a:solidFill>
              </a:rPr>
              <a:t>p</a:t>
            </a:r>
            <a:r>
              <a:rPr 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i="1" dirty="0" err="1" smtClean="0">
                <a:solidFill>
                  <a:srgbClr val="FF0000"/>
                </a:solidFill>
              </a:rPr>
              <a:t>,p</a:t>
            </a:r>
            <a:r>
              <a:rPr 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i="1" dirty="0" err="1" smtClean="0">
                <a:solidFill>
                  <a:srgbClr val="FF0000"/>
                </a:solidFill>
              </a:rPr>
              <a:t>,U</a:t>
            </a:r>
            <a:r>
              <a:rPr lang="en-US" i="1" dirty="0" smtClean="0">
                <a:solidFill>
                  <a:srgbClr val="FF0000"/>
                </a:solidFill>
              </a:rPr>
              <a:t>) 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  <a:defRPr/>
            </a:pPr>
            <a:r>
              <a:rPr lang="en-US" dirty="0" smtClean="0"/>
              <a:t>Compensated own-price elasticity of demand, </a:t>
            </a:r>
            <a:r>
              <a:rPr lang="en-US" dirty="0" err="1" smtClean="0"/>
              <a:t>e</a:t>
            </a:r>
            <a:r>
              <a:rPr lang="en-US" baseline="-25000" dirty="0" err="1" smtClean="0"/>
              <a:t>xc,px</a:t>
            </a:r>
            <a:r>
              <a:rPr lang="en-US" dirty="0" smtClean="0"/>
              <a:t> </a:t>
            </a:r>
          </a:p>
          <a:p>
            <a:pPr marL="914400" lvl="1" indent="-514350">
              <a:defRPr/>
            </a:pPr>
            <a:r>
              <a:rPr lang="en-US" dirty="0" smtClean="0"/>
              <a:t>Measures the proportionate compensated change in quantity demanded </a:t>
            </a:r>
          </a:p>
          <a:p>
            <a:pPr marL="1314450" lvl="2" indent="-514350">
              <a:defRPr/>
            </a:pPr>
            <a:r>
              <a:rPr lang="en-US" dirty="0" smtClean="0"/>
              <a:t>In response to a proportionate change in a good’s own price</a:t>
            </a:r>
            <a:endParaRPr lang="en-US" dirty="0"/>
          </a:p>
        </p:txBody>
      </p:sp>
      <p:sp>
        <p:nvSpPr>
          <p:cNvPr id="73732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16076B-C11F-4EEC-A7DE-D4CE4796C9C9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3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Compensated Price Elasticities</a:t>
            </a:r>
          </a:p>
        </p:txBody>
      </p:sp>
      <p:sp>
        <p:nvSpPr>
          <p:cNvPr id="7475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Tx/>
              <a:buNone/>
            </a:pPr>
            <a:r>
              <a:rPr lang="en-US" altLang="en-US" smtClean="0"/>
              <a:t>2. Compensated cross-price elasticity of demand, e</a:t>
            </a:r>
            <a:r>
              <a:rPr lang="en-US" altLang="en-US" baseline="-25000" smtClean="0"/>
              <a:t>xc,py</a:t>
            </a:r>
            <a:r>
              <a:rPr lang="en-US" altLang="en-US" smtClean="0"/>
              <a:t> </a:t>
            </a:r>
          </a:p>
          <a:p>
            <a:pPr marL="914400" lvl="1" indent="-514350"/>
            <a:r>
              <a:rPr lang="en-US" altLang="en-US" smtClean="0"/>
              <a:t>Measures the proportionate compensated change in quantity of x demanded </a:t>
            </a:r>
          </a:p>
          <a:p>
            <a:pPr lvl="2"/>
            <a:r>
              <a:rPr lang="en-US" altLang="en-US" smtClean="0"/>
              <a:t>In response to a proportionate change in the price of another good, y</a:t>
            </a:r>
          </a:p>
        </p:txBody>
      </p:sp>
      <p:sp>
        <p:nvSpPr>
          <p:cNvPr id="74756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B3AA5D-014B-4124-8A3D-1A2A21B66723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2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Compensated Price Elasticities</a:t>
            </a:r>
          </a:p>
        </p:txBody>
      </p:sp>
      <p:sp>
        <p:nvSpPr>
          <p:cNvPr id="13316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35E7B4E-FE45-44FB-BC8F-74E89DB6C650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490654"/>
              </p:ext>
            </p:extLst>
          </p:nvPr>
        </p:nvGraphicFramePr>
        <p:xfrm>
          <a:off x="407194" y="1140965"/>
          <a:ext cx="8329612" cy="5383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78" name="Equation" r:id="rId3" imgW="3301920" imgH="2133360" progId="Equation.DSMT4">
                  <p:embed/>
                </p:oleObj>
              </mc:Choice>
              <mc:Fallback>
                <p:oleObj name="Equation" r:id="rId3" imgW="3301920" imgH="2133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4" y="1140965"/>
                        <a:ext cx="8329612" cy="5383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131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Compensated Price Elasticities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</a:t>
            </a:r>
            <a:r>
              <a:rPr lang="en-US" dirty="0" err="1" smtClean="0"/>
              <a:t>Slutsky</a:t>
            </a:r>
            <a:r>
              <a:rPr lang="en-US" dirty="0" smtClean="0"/>
              <a:t> equation shows </a:t>
            </a:r>
          </a:p>
          <a:p>
            <a:pPr lvl="1">
              <a:defRPr/>
            </a:pPr>
            <a:r>
              <a:rPr lang="en-US" dirty="0" smtClean="0"/>
              <a:t>That the compensated and uncompensated price elasticities will be similar if</a:t>
            </a:r>
          </a:p>
          <a:p>
            <a:pPr lvl="2">
              <a:defRPr/>
            </a:pPr>
            <a:r>
              <a:rPr lang="en-US" dirty="0" smtClean="0"/>
              <a:t>The share of income devoted to </a:t>
            </a:r>
            <a:r>
              <a:rPr lang="en-US" i="1" dirty="0" smtClean="0"/>
              <a:t>x</a:t>
            </a:r>
            <a:r>
              <a:rPr lang="en-US" dirty="0" smtClean="0"/>
              <a:t> is small</a:t>
            </a:r>
          </a:p>
          <a:p>
            <a:pPr lvl="2">
              <a:defRPr/>
            </a:pPr>
            <a:r>
              <a:rPr lang="en-US" dirty="0" smtClean="0"/>
              <a:t>The income elasticity of </a:t>
            </a:r>
            <a:r>
              <a:rPr lang="en-US" i="1" dirty="0" smtClean="0"/>
              <a:t>x</a:t>
            </a:r>
            <a:r>
              <a:rPr lang="en-US" dirty="0" smtClean="0"/>
              <a:t> is small</a:t>
            </a:r>
          </a:p>
          <a:p>
            <a:pPr marL="514350" indent="-514350">
              <a:defRPr/>
            </a:pPr>
            <a:endParaRPr lang="en-US" dirty="0"/>
          </a:p>
        </p:txBody>
      </p:sp>
      <p:sp>
        <p:nvSpPr>
          <p:cNvPr id="75780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C76732B-E7F8-473B-AD09-BECC797CA89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34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smtClean="0"/>
              <a:t>Relationships among Demand Elasticities</a:t>
            </a:r>
          </a:p>
        </p:txBody>
      </p:sp>
      <p:sp>
        <p:nvSpPr>
          <p:cNvPr id="14340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Homogeneity</a:t>
            </a:r>
          </a:p>
          <a:p>
            <a:pPr lvl="1"/>
            <a:r>
              <a:rPr lang="en-US" altLang="en-US" smtClean="0"/>
              <a:t>Demand functions are homogeneous of degree zero in all prices and income</a:t>
            </a:r>
          </a:p>
          <a:p>
            <a:pPr lvl="1"/>
            <a:r>
              <a:rPr lang="en-US" altLang="en-US" smtClean="0"/>
              <a:t>Euler’s theorem for homogenous functions shows that</a:t>
            </a:r>
          </a:p>
          <a:p>
            <a:endParaRPr lang="en-US" altLang="en-US" smtClean="0"/>
          </a:p>
        </p:txBody>
      </p:sp>
      <p:sp>
        <p:nvSpPr>
          <p:cNvPr id="14341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93CFB5-034C-441B-8917-2BE759F11876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graphicFrame>
        <p:nvGraphicFramePr>
          <p:cNvPr id="308228" name="Object 2"/>
          <p:cNvGraphicFramePr>
            <a:graphicFrameLocks noChangeAspect="1"/>
          </p:cNvGraphicFramePr>
          <p:nvPr/>
        </p:nvGraphicFramePr>
        <p:xfrm>
          <a:off x="1077913" y="3779838"/>
          <a:ext cx="4900612" cy="236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1" name="Equation" r:id="rId3" imgW="1942920" imgH="939600" progId="Equation.DSMT4">
                  <p:embed/>
                </p:oleObj>
              </mc:Choice>
              <mc:Fallback>
                <p:oleObj name="Equation" r:id="rId3" imgW="194292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3779838"/>
                        <a:ext cx="4900612" cy="236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752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smtClean="0"/>
              <a:t>Relationships among Demand Elasticities</a:t>
            </a:r>
          </a:p>
        </p:txBody>
      </p:sp>
      <p:sp>
        <p:nvSpPr>
          <p:cNvPr id="1536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Engel aggregation</a:t>
            </a:r>
          </a:p>
          <a:p>
            <a:pPr lvl="1"/>
            <a:r>
              <a:rPr lang="en-US" altLang="en-US" smtClean="0"/>
              <a:t>Engel’s law: income elasticity of demand for food items is &lt;1</a:t>
            </a:r>
          </a:p>
          <a:p>
            <a:pPr lvl="2"/>
            <a:r>
              <a:rPr lang="en-US" altLang="en-US" smtClean="0"/>
              <a:t>Income elasticity of demand for all nonfood items must be &gt;1</a:t>
            </a:r>
          </a:p>
          <a:p>
            <a:pPr lvl="1"/>
            <a:r>
              <a:rPr lang="en-US" altLang="en-US" smtClean="0"/>
              <a:t>Differentiate the budget constraint with respect to income  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15365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A4F419-4D21-4831-806B-393792CBB472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graphicFrame>
        <p:nvGraphicFramePr>
          <p:cNvPr id="329733" name="Object 2"/>
          <p:cNvGraphicFramePr>
            <a:graphicFrameLocks noChangeAspect="1"/>
          </p:cNvGraphicFramePr>
          <p:nvPr/>
        </p:nvGraphicFramePr>
        <p:xfrm>
          <a:off x="1233488" y="4660900"/>
          <a:ext cx="5675312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25" name="Equation" r:id="rId3" imgW="2616120" imgH="838080" progId="Equation.DSMT4">
                  <p:embed/>
                </p:oleObj>
              </mc:Choice>
              <mc:Fallback>
                <p:oleObj name="Equation" r:id="rId3" imgW="261612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488" y="4660900"/>
                        <a:ext cx="5675312" cy="182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008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smtClean="0"/>
              <a:t>Relationships among Demand Elasticities</a:t>
            </a:r>
          </a:p>
        </p:txBody>
      </p:sp>
      <p:sp>
        <p:nvSpPr>
          <p:cNvPr id="76803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Cournot aggregation</a:t>
            </a:r>
          </a:p>
          <a:p>
            <a:pPr lvl="1"/>
            <a:r>
              <a:rPr lang="en-US" altLang="en-US" smtClean="0"/>
              <a:t>The size of the cross-price effect of a change in 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x</a:t>
            </a:r>
            <a:r>
              <a:rPr lang="en-US" altLang="en-US" smtClean="0"/>
              <a:t> on the quantity of </a:t>
            </a:r>
            <a:r>
              <a:rPr lang="en-US" altLang="en-US" i="1" smtClean="0"/>
              <a:t>y </a:t>
            </a:r>
            <a:r>
              <a:rPr lang="en-US" altLang="en-US" smtClean="0"/>
              <a:t>consumed is restricted because of the budget constraint</a:t>
            </a:r>
          </a:p>
          <a:p>
            <a:pPr lvl="1"/>
            <a:r>
              <a:rPr lang="en-US" altLang="en-US" smtClean="0"/>
              <a:t>Differentiate the budget constraint with respect to 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x</a:t>
            </a:r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76804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48E5CA-AB94-4AD6-869A-7DB91F10BEA9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8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smtClean="0"/>
              <a:t>Relationships among Demand Elasticities</a:t>
            </a:r>
          </a:p>
        </p:txBody>
      </p:sp>
      <p:sp>
        <p:nvSpPr>
          <p:cNvPr id="16388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Cournot aggregation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16389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328997-9DBE-41E8-8B2C-4F877F8F6D4D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graphicFrame>
        <p:nvGraphicFramePr>
          <p:cNvPr id="331780" name="Object 2"/>
          <p:cNvGraphicFramePr>
            <a:graphicFrameLocks noChangeAspect="1"/>
          </p:cNvGraphicFramePr>
          <p:nvPr/>
        </p:nvGraphicFramePr>
        <p:xfrm>
          <a:off x="574675" y="1803400"/>
          <a:ext cx="74295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49" name="Equation" r:id="rId3" imgW="2679480" imgH="1396800" progId="Equation.DSMT4">
                  <p:embed/>
                </p:oleObj>
              </mc:Choice>
              <mc:Fallback>
                <p:oleObj name="Equation" r:id="rId3" imgW="2679480" imgH="139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1803400"/>
                        <a:ext cx="7429500" cy="388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868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5.5	 Demand Elasticities: The Importance of 	</a:t>
            </a:r>
            <a:r>
              <a:rPr lang="en-US" altLang="en-US" dirty="0" smtClean="0">
                <a:solidFill>
                  <a:srgbClr val="002D56"/>
                </a:solidFill>
              </a:rPr>
              <a:t>Substitution Effects</a:t>
            </a:r>
          </a:p>
        </p:txBody>
      </p:sp>
      <p:sp>
        <p:nvSpPr>
          <p:cNvPr id="17413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A014CC59-0599-4A08-8BA3-40C881801EFE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  <p:sp>
        <p:nvSpPr>
          <p:cNvPr id="17412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990600"/>
            <a:ext cx="8382000" cy="5410200"/>
          </a:xfrm>
          <a:prstGeom prst="rect">
            <a:avLst/>
          </a:prstGeom>
        </p:spPr>
        <p:txBody>
          <a:bodyPr/>
          <a:lstStyle/>
          <a:p>
            <a:pPr marL="514350" indent="-514350">
              <a:buFont typeface="Arial" charset="0"/>
              <a:buAutoNum type="arabicPeriod"/>
            </a:pPr>
            <a:r>
              <a:rPr lang="en-US" altLang="en-US" dirty="0" smtClean="0"/>
              <a:t>Cobb-Douglas (</a:t>
            </a:r>
            <a:r>
              <a:rPr lang="el-GR" altLang="en-US" dirty="0" smtClean="0"/>
              <a:t>σ</a:t>
            </a:r>
            <a:r>
              <a:rPr lang="en-US" altLang="en-US" dirty="0" smtClean="0"/>
              <a:t>=1): </a:t>
            </a:r>
            <a:r>
              <a:rPr lang="en-US" altLang="en-US" dirty="0" smtClean="0">
                <a:solidFill>
                  <a:srgbClr val="FF0000"/>
                </a:solidFill>
              </a:rPr>
              <a:t>U(</a:t>
            </a:r>
            <a:r>
              <a:rPr lang="en-US" altLang="en-US" dirty="0" err="1" smtClean="0">
                <a:solidFill>
                  <a:srgbClr val="FF0000"/>
                </a:solidFill>
              </a:rPr>
              <a:t>x,y</a:t>
            </a:r>
            <a:r>
              <a:rPr lang="en-US" altLang="en-US" dirty="0" smtClean="0">
                <a:solidFill>
                  <a:srgbClr val="FF0000"/>
                </a:solidFill>
              </a:rPr>
              <a:t>)=</a:t>
            </a:r>
            <a:r>
              <a:rPr lang="en-US" altLang="en-US" dirty="0" err="1" smtClean="0">
                <a:solidFill>
                  <a:srgbClr val="FF0000"/>
                </a:solidFill>
              </a:rPr>
              <a:t>x</a:t>
            </a:r>
            <a:r>
              <a:rPr lang="en-US" altLang="en-US" baseline="30000" dirty="0" err="1" smtClean="0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en-US" altLang="en-US" dirty="0" err="1" smtClean="0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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, </a:t>
            </a:r>
            <a:r>
              <a:rPr lang="en-US" altLang="en-US" dirty="0" smtClean="0">
                <a:sym typeface="Symbol" pitchFamily="18" charset="2"/>
              </a:rPr>
              <a:t>+=1</a:t>
            </a:r>
          </a:p>
          <a:p>
            <a:pPr marL="914400" lvl="1" indent="-514350">
              <a:lnSpc>
                <a:spcPct val="150000"/>
              </a:lnSpc>
            </a:pPr>
            <a:r>
              <a:rPr lang="en-US" altLang="en-US" dirty="0" smtClean="0">
                <a:sym typeface="Symbol" pitchFamily="18" charset="2"/>
              </a:rPr>
              <a:t>Demand functions:  x(</a:t>
            </a:r>
            <a:r>
              <a:rPr lang="en-US" altLang="en-US" dirty="0" err="1" smtClean="0">
                <a:sym typeface="Symbol" pitchFamily="18" charset="2"/>
              </a:rPr>
              <a:t>p</a:t>
            </a:r>
            <a:r>
              <a:rPr lang="en-US" altLang="en-US" baseline="-25000" dirty="0" err="1" smtClean="0">
                <a:sym typeface="Symbol" pitchFamily="18" charset="2"/>
              </a:rPr>
              <a:t>x</a:t>
            </a:r>
            <a:r>
              <a:rPr lang="en-US" altLang="en-US" dirty="0" err="1" smtClean="0">
                <a:sym typeface="Symbol" pitchFamily="18" charset="2"/>
              </a:rPr>
              <a:t>,p</a:t>
            </a:r>
            <a:r>
              <a:rPr lang="en-US" altLang="en-US" baseline="-25000" dirty="0" err="1" smtClean="0">
                <a:sym typeface="Symbol" pitchFamily="18" charset="2"/>
              </a:rPr>
              <a:t>y</a:t>
            </a:r>
            <a:r>
              <a:rPr lang="en-US" altLang="en-US" dirty="0" err="1" smtClean="0">
                <a:sym typeface="Symbol" pitchFamily="18" charset="2"/>
              </a:rPr>
              <a:t>,I</a:t>
            </a:r>
            <a:r>
              <a:rPr lang="en-US" altLang="en-US" dirty="0" smtClean="0">
                <a:sym typeface="Symbol" pitchFamily="18" charset="2"/>
              </a:rPr>
              <a:t>)=I/</a:t>
            </a:r>
            <a:r>
              <a:rPr lang="en-US" altLang="en-US" dirty="0" err="1" smtClean="0">
                <a:sym typeface="Symbol" pitchFamily="18" charset="2"/>
              </a:rPr>
              <a:t>p</a:t>
            </a:r>
            <a:r>
              <a:rPr lang="en-US" altLang="en-US" baseline="-25000" dirty="0" err="1" smtClean="0">
                <a:sym typeface="Symbol" pitchFamily="18" charset="2"/>
              </a:rPr>
              <a:t>x</a:t>
            </a:r>
            <a:r>
              <a:rPr lang="en-US" altLang="en-US" dirty="0" smtClean="0">
                <a:sym typeface="Symbol" pitchFamily="18" charset="2"/>
              </a:rPr>
              <a:t>, and y(</a:t>
            </a:r>
            <a:r>
              <a:rPr lang="en-US" altLang="en-US" dirty="0" err="1" smtClean="0">
                <a:sym typeface="Symbol" pitchFamily="18" charset="2"/>
              </a:rPr>
              <a:t>p</a:t>
            </a:r>
            <a:r>
              <a:rPr lang="en-US" altLang="en-US" baseline="-25000" dirty="0" err="1" smtClean="0">
                <a:sym typeface="Symbol" pitchFamily="18" charset="2"/>
              </a:rPr>
              <a:t>x</a:t>
            </a:r>
            <a:r>
              <a:rPr lang="en-US" altLang="en-US" dirty="0" err="1" smtClean="0">
                <a:sym typeface="Symbol" pitchFamily="18" charset="2"/>
              </a:rPr>
              <a:t>,p</a:t>
            </a:r>
            <a:r>
              <a:rPr lang="en-US" altLang="en-US" baseline="-25000" dirty="0" err="1" smtClean="0">
                <a:sym typeface="Symbol" pitchFamily="18" charset="2"/>
              </a:rPr>
              <a:t>y</a:t>
            </a:r>
            <a:r>
              <a:rPr lang="en-US" altLang="en-US" dirty="0" err="1" smtClean="0">
                <a:sym typeface="Symbol" pitchFamily="18" charset="2"/>
              </a:rPr>
              <a:t>,I</a:t>
            </a:r>
            <a:r>
              <a:rPr lang="en-US" altLang="en-US" dirty="0" smtClean="0">
                <a:sym typeface="Symbol" pitchFamily="18" charset="2"/>
              </a:rPr>
              <a:t>)=I/</a:t>
            </a:r>
            <a:r>
              <a:rPr lang="en-US" altLang="en-US" dirty="0" err="1" smtClean="0">
                <a:sym typeface="Symbol" pitchFamily="18" charset="2"/>
              </a:rPr>
              <a:t>p</a:t>
            </a:r>
            <a:r>
              <a:rPr lang="en-US" altLang="en-US" baseline="-25000" dirty="0" err="1" smtClean="0">
                <a:sym typeface="Symbol" pitchFamily="18" charset="2"/>
              </a:rPr>
              <a:t>y</a:t>
            </a:r>
            <a:r>
              <a:rPr lang="en-US" altLang="en-US" dirty="0" smtClean="0">
                <a:sym typeface="Symbol" pitchFamily="18" charset="2"/>
              </a:rPr>
              <a:t>=(1- )I/</a:t>
            </a:r>
            <a:r>
              <a:rPr lang="en-US" altLang="en-US" dirty="0" err="1" smtClean="0">
                <a:sym typeface="Symbol" pitchFamily="18" charset="2"/>
              </a:rPr>
              <a:t>p</a:t>
            </a:r>
            <a:r>
              <a:rPr lang="en-US" altLang="en-US" baseline="-25000" dirty="0" err="1" smtClean="0">
                <a:sym typeface="Symbol" pitchFamily="18" charset="2"/>
              </a:rPr>
              <a:t>y</a:t>
            </a:r>
            <a:r>
              <a:rPr lang="en-US" altLang="en-US" baseline="-25000" dirty="0" smtClean="0">
                <a:sym typeface="Symbol" pitchFamily="18" charset="2"/>
              </a:rPr>
              <a:t> </a:t>
            </a:r>
            <a:r>
              <a:rPr lang="en-US" altLang="en-US" dirty="0" smtClean="0">
                <a:sym typeface="Symbol" pitchFamily="18" charset="2"/>
              </a:rPr>
              <a:t> </a:t>
            </a:r>
          </a:p>
          <a:p>
            <a:pPr marL="914400" lvl="1" indent="-514350"/>
            <a:r>
              <a:rPr lang="en-US" altLang="en-US" dirty="0" smtClean="0">
                <a:sym typeface="Symbol" pitchFamily="18" charset="2"/>
              </a:rPr>
              <a:t>Elasticities:</a:t>
            </a:r>
            <a:endParaRPr lang="en-US" altLang="en-US" dirty="0" smtClean="0"/>
          </a:p>
        </p:txBody>
      </p:sp>
      <p:graphicFrame>
        <p:nvGraphicFramePr>
          <p:cNvPr id="305166" name="Object 2"/>
          <p:cNvGraphicFramePr>
            <a:graphicFrameLocks noChangeAspect="1"/>
          </p:cNvGraphicFramePr>
          <p:nvPr/>
        </p:nvGraphicFramePr>
        <p:xfrm>
          <a:off x="2093913" y="3346450"/>
          <a:ext cx="6016625" cy="306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74" name="Equation" r:id="rId3" imgW="2743200" imgH="1396800" progId="Equation.DSMT4">
                  <p:embed/>
                </p:oleObj>
              </mc:Choice>
              <mc:Fallback>
                <p:oleObj name="Equation" r:id="rId3" imgW="2743200" imgH="139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3346450"/>
                        <a:ext cx="6016625" cy="306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458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5.5	 Demand Elasticities: The Importance of 	</a:t>
            </a:r>
            <a:r>
              <a:rPr lang="en-US" altLang="en-US" dirty="0" smtClean="0">
                <a:solidFill>
                  <a:srgbClr val="002D56"/>
                </a:solidFill>
              </a:rPr>
              <a:t>Substitution Effects</a:t>
            </a:r>
          </a:p>
        </p:txBody>
      </p:sp>
      <p:sp>
        <p:nvSpPr>
          <p:cNvPr id="18437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27ED1041-CA62-4303-85E1-84B8D9DFC858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  <p:sp>
        <p:nvSpPr>
          <p:cNvPr id="18436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990600"/>
            <a:ext cx="8382000" cy="5410200"/>
          </a:xfrm>
          <a:prstGeom prst="rect">
            <a:avLst/>
          </a:prstGeom>
        </p:spPr>
        <p:txBody>
          <a:bodyPr/>
          <a:lstStyle/>
          <a:p>
            <a:pPr marL="514350" indent="-514350">
              <a:buFont typeface="Arial" charset="0"/>
              <a:buAutoNum type="arabicPeriod"/>
            </a:pPr>
            <a:r>
              <a:rPr lang="en-US" altLang="en-US" dirty="0" smtClean="0"/>
              <a:t>Cobb-Douglas: 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baseline="-25000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</a:p>
          <a:p>
            <a:pPr marL="914400" lvl="1" indent="-514350">
              <a:lnSpc>
                <a:spcPct val="150000"/>
              </a:lnSpc>
            </a:pPr>
            <a:r>
              <a:rPr lang="en-US" altLang="en-US" dirty="0" smtClean="0">
                <a:sym typeface="Symbol" pitchFamily="18" charset="2"/>
              </a:rPr>
              <a:t>Because </a:t>
            </a:r>
            <a:r>
              <a:rPr lang="en-US" altLang="en-US" dirty="0" err="1" smtClean="0">
                <a:sym typeface="Symbol" pitchFamily="18" charset="2"/>
              </a:rPr>
              <a:t>s</a:t>
            </a:r>
            <a:r>
              <a:rPr lang="en-US" altLang="en-US" baseline="-25000" dirty="0" err="1" smtClean="0">
                <a:sym typeface="Symbol" pitchFamily="18" charset="2"/>
              </a:rPr>
              <a:t>x</a:t>
            </a:r>
            <a:r>
              <a:rPr lang="en-US" altLang="en-US" baseline="-25000" dirty="0" smtClean="0">
                <a:sym typeface="Symbol" pitchFamily="18" charset="2"/>
              </a:rPr>
              <a:t> </a:t>
            </a:r>
            <a:r>
              <a:rPr lang="en-US" altLang="en-US" dirty="0" smtClean="0">
                <a:sym typeface="Symbol" pitchFamily="18" charset="2"/>
              </a:rPr>
              <a:t>=  and </a:t>
            </a:r>
            <a:r>
              <a:rPr lang="en-US" altLang="en-US" dirty="0" err="1" smtClean="0">
                <a:sym typeface="Symbol" pitchFamily="18" charset="2"/>
              </a:rPr>
              <a:t>s</a:t>
            </a:r>
            <a:r>
              <a:rPr lang="en-US" altLang="en-US" baseline="-25000" dirty="0" err="1" smtClean="0">
                <a:sym typeface="Symbol" pitchFamily="18" charset="2"/>
              </a:rPr>
              <a:t>y</a:t>
            </a:r>
            <a:r>
              <a:rPr lang="en-US" altLang="en-US" baseline="-25000" dirty="0" smtClean="0">
                <a:sym typeface="Symbol" pitchFamily="18" charset="2"/>
              </a:rPr>
              <a:t> </a:t>
            </a:r>
            <a:r>
              <a:rPr lang="en-US" altLang="en-US" dirty="0" smtClean="0">
                <a:sym typeface="Symbol" pitchFamily="18" charset="2"/>
              </a:rPr>
              <a:t>= </a:t>
            </a:r>
          </a:p>
          <a:p>
            <a:pPr marL="914400" lvl="1" indent="-514350"/>
            <a:endParaRPr lang="en-US" altLang="en-US" dirty="0" smtClean="0"/>
          </a:p>
        </p:txBody>
      </p:sp>
      <p:graphicFrame>
        <p:nvGraphicFramePr>
          <p:cNvPr id="333829" name="Object 2"/>
          <p:cNvGraphicFramePr>
            <a:graphicFrameLocks noChangeAspect="1"/>
          </p:cNvGraphicFramePr>
          <p:nvPr/>
        </p:nvGraphicFramePr>
        <p:xfrm>
          <a:off x="865188" y="2279650"/>
          <a:ext cx="7424737" cy="364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98" name="Equation" r:id="rId3" imgW="2933640" imgH="1447560" progId="Equation.DSMT4">
                  <p:embed/>
                </p:oleObj>
              </mc:Choice>
              <mc:Fallback>
                <p:oleObj name="Equation" r:id="rId3" imgW="2933640" imgH="1447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2279650"/>
                        <a:ext cx="7424737" cy="364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155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5.5	 Demand Elasticities: The Importance of 	</a:t>
            </a:r>
            <a:r>
              <a:rPr lang="en-US" altLang="en-US" dirty="0" smtClean="0">
                <a:solidFill>
                  <a:srgbClr val="002D56"/>
                </a:solidFill>
              </a:rPr>
              <a:t>Substitution Effects</a:t>
            </a:r>
          </a:p>
        </p:txBody>
      </p:sp>
      <p:sp>
        <p:nvSpPr>
          <p:cNvPr id="19461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90705CCA-96B5-433C-9BF3-C820E0148A49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914400"/>
            <a:ext cx="8382000" cy="5486400"/>
          </a:xfrm>
          <a:prstGeom prst="rect">
            <a:avLst/>
          </a:prstGeom>
        </p:spPr>
        <p:txBody>
          <a:bodyPr/>
          <a:lstStyle/>
          <a:p>
            <a:pPr marL="514350" indent="-514350">
              <a:buFont typeface="Arial" charset="0"/>
              <a:buAutoNum type="arabicPeriod"/>
              <a:defRPr/>
            </a:pPr>
            <a:r>
              <a:rPr lang="en-US" dirty="0" smtClean="0"/>
              <a:t>Cobb-Douglas: 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aseline="-25000" dirty="0" smtClean="0">
                <a:solidFill>
                  <a:srgbClr val="FF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 </a:t>
            </a:r>
          </a:p>
          <a:p>
            <a:pPr lvl="1">
              <a:defRPr/>
            </a:pPr>
            <a:r>
              <a:rPr lang="en-US" dirty="0" smtClean="0">
                <a:sym typeface="Symbol"/>
              </a:rPr>
              <a:t>Using </a:t>
            </a:r>
            <a:r>
              <a:rPr lang="en-US" dirty="0" smtClean="0"/>
              <a:t>the </a:t>
            </a:r>
            <a:r>
              <a:rPr lang="en-US" dirty="0" err="1" smtClean="0"/>
              <a:t>Slutsky</a:t>
            </a:r>
            <a:r>
              <a:rPr lang="en-US" dirty="0" smtClean="0"/>
              <a:t> equation in elasticity form to derive the compensated price elasticity:</a:t>
            </a:r>
            <a:endParaRPr lang="en-US" dirty="0" smtClean="0">
              <a:sym typeface="Symbol"/>
            </a:endParaRPr>
          </a:p>
          <a:p>
            <a:pPr marL="914400" lvl="1" indent="-514350">
              <a:defRPr/>
            </a:pPr>
            <a:endParaRPr lang="en-US" dirty="0"/>
          </a:p>
        </p:txBody>
      </p:sp>
      <p:graphicFrame>
        <p:nvGraphicFramePr>
          <p:cNvPr id="33382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246374"/>
              </p:ext>
            </p:extLst>
          </p:nvPr>
        </p:nvGraphicFramePr>
        <p:xfrm>
          <a:off x="859631" y="2574925"/>
          <a:ext cx="742473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23" name="Equation" r:id="rId3" imgW="2755800" imgH="279360" progId="Equation.DSMT4">
                  <p:embed/>
                </p:oleObj>
              </mc:Choice>
              <mc:Fallback>
                <p:oleObj name="Equation" r:id="rId3" imgW="27558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631" y="2574925"/>
                        <a:ext cx="742473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197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5.5	 Demand Elasticities: The Importance of 	</a:t>
            </a:r>
            <a:r>
              <a:rPr lang="en-US" altLang="en-US" dirty="0" smtClean="0">
                <a:solidFill>
                  <a:srgbClr val="002D56"/>
                </a:solidFill>
              </a:rPr>
              <a:t>Substitution Effects</a:t>
            </a:r>
          </a:p>
        </p:txBody>
      </p:sp>
      <p:sp>
        <p:nvSpPr>
          <p:cNvPr id="20485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5C0D70C-3FA0-4F19-8E16-3E8DEB6B96CD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  <p:sp>
        <p:nvSpPr>
          <p:cNvPr id="20484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914400"/>
            <a:ext cx="8382000" cy="5486400"/>
          </a:xfrm>
          <a:prstGeom prst="rect">
            <a:avLst/>
          </a:prstGeo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sym typeface="Symbol" pitchFamily="18" charset="2"/>
              </a:rPr>
              <a:t>2. CES utility function (</a:t>
            </a:r>
            <a:r>
              <a:rPr lang="el-GR" altLang="en-US" dirty="0" smtClean="0">
                <a:cs typeface="Arial" charset="0"/>
                <a:sym typeface="Symbol" pitchFamily="18" charset="2"/>
              </a:rPr>
              <a:t>σ</a:t>
            </a:r>
            <a:r>
              <a:rPr lang="en-US" altLang="en-US" dirty="0" smtClean="0">
                <a:sym typeface="Symbol" pitchFamily="18" charset="2"/>
              </a:rPr>
              <a:t> = 2,  = 5): </a:t>
            </a:r>
          </a:p>
          <a:p>
            <a:pPr>
              <a:buFont typeface="Arial" charset="0"/>
              <a:buNone/>
            </a:pPr>
            <a:r>
              <a:rPr lang="en-US" altLang="en-US" i="1" dirty="0">
                <a:solidFill>
                  <a:srgbClr val="FF0000"/>
                </a:solidFill>
                <a:sym typeface="Symbol" pitchFamily="18" charset="2"/>
              </a:rPr>
              <a:t>	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	</a:t>
            </a:r>
            <a:r>
              <a:rPr lang="en-US" altLang="en-US" i="1" dirty="0" smtClean="0">
                <a:solidFill>
                  <a:srgbClr val="FF0000"/>
                </a:solidFill>
              </a:rPr>
              <a:t>U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smtClean="0">
                <a:solidFill>
                  <a:srgbClr val="FF0000"/>
                </a:solidFill>
              </a:rPr>
              <a:t>) = </a:t>
            </a:r>
            <a:r>
              <a:rPr lang="en-US" altLang="en-US" i="1" dirty="0" smtClean="0">
                <a:solidFill>
                  <a:srgbClr val="FF0000"/>
                </a:solidFill>
              </a:rPr>
              <a:t>x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0.5 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+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0.5</a:t>
            </a:r>
            <a:endParaRPr lang="en-US" altLang="en-US" dirty="0" smtClean="0">
              <a:sym typeface="Symbol" pitchFamily="18" charset="2"/>
            </a:endParaRPr>
          </a:p>
          <a:p>
            <a:pPr lvl="1"/>
            <a:r>
              <a:rPr lang="en-US" altLang="en-US" dirty="0" smtClean="0">
                <a:sym typeface="Symbol" pitchFamily="18" charset="2"/>
              </a:rPr>
              <a:t>The demand functions for 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dirty="0" smtClean="0">
                <a:sym typeface="Symbol" pitchFamily="18" charset="2"/>
              </a:rPr>
              <a:t> and </a:t>
            </a:r>
            <a:r>
              <a:rPr lang="en-US" altLang="en-US" i="1" dirty="0" smtClean="0">
                <a:sym typeface="Symbol" pitchFamily="18" charset="2"/>
              </a:rPr>
              <a:t>y</a:t>
            </a:r>
            <a:r>
              <a:rPr lang="en-US" altLang="en-US" dirty="0" smtClean="0">
                <a:sym typeface="Symbol" pitchFamily="18" charset="2"/>
              </a:rPr>
              <a:t>:</a:t>
            </a:r>
          </a:p>
          <a:p>
            <a:pPr lvl="1">
              <a:lnSpc>
                <a:spcPct val="150000"/>
              </a:lnSpc>
              <a:buFont typeface="Arial" charset="0"/>
              <a:buNone/>
            </a:pP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x(</a:t>
            </a:r>
            <a:r>
              <a:rPr lang="en-US" altLang="en-US" dirty="0" err="1" smtClean="0">
                <a:solidFill>
                  <a:srgbClr val="FF0000"/>
                </a:solidFill>
                <a:sym typeface="Symbol" pitchFamily="18" charset="2"/>
              </a:rPr>
              <a:t>p</a:t>
            </a:r>
            <a:r>
              <a:rPr lang="en-US" altLang="en-US" baseline="-25000" dirty="0" err="1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  <a:sym typeface="Symbol" pitchFamily="18" charset="2"/>
              </a:rPr>
              <a:t>,p</a:t>
            </a:r>
            <a:r>
              <a:rPr lang="en-US" altLang="en-US" baseline="-25000" dirty="0" err="1" smtClean="0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dirty="0" err="1" smtClean="0">
                <a:solidFill>
                  <a:srgbClr val="FF0000"/>
                </a:solidFill>
                <a:sym typeface="Symbol" pitchFamily="18" charset="2"/>
              </a:rPr>
              <a:t>,I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)=I/</a:t>
            </a:r>
            <a:r>
              <a:rPr lang="en-US" altLang="en-US" dirty="0" err="1" smtClean="0">
                <a:solidFill>
                  <a:srgbClr val="FF0000"/>
                </a:solidFill>
                <a:sym typeface="Symbol" pitchFamily="18" charset="2"/>
              </a:rPr>
              <a:t>p</a:t>
            </a:r>
            <a:r>
              <a:rPr lang="en-US" altLang="en-US" baseline="-25000" dirty="0" err="1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(1+ p</a:t>
            </a:r>
            <a:r>
              <a:rPr lang="en-US" altLang="en-US" baseline="-25000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p</a:t>
            </a:r>
            <a:r>
              <a:rPr lang="en-US" altLang="en-US" baseline="-25000" dirty="0" smtClean="0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-1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); y(</a:t>
            </a:r>
            <a:r>
              <a:rPr lang="en-US" altLang="en-US" dirty="0" err="1" smtClean="0">
                <a:solidFill>
                  <a:srgbClr val="FF0000"/>
                </a:solidFill>
                <a:sym typeface="Symbol" pitchFamily="18" charset="2"/>
              </a:rPr>
              <a:t>p</a:t>
            </a:r>
            <a:r>
              <a:rPr lang="en-US" altLang="en-US" baseline="-25000" dirty="0" err="1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  <a:sym typeface="Symbol" pitchFamily="18" charset="2"/>
              </a:rPr>
              <a:t>,p</a:t>
            </a:r>
            <a:r>
              <a:rPr lang="en-US" altLang="en-US" baseline="-25000" dirty="0" err="1" smtClean="0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dirty="0" err="1" smtClean="0">
                <a:solidFill>
                  <a:srgbClr val="FF0000"/>
                </a:solidFill>
                <a:sym typeface="Symbol" pitchFamily="18" charset="2"/>
              </a:rPr>
              <a:t>,I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) =I/</a:t>
            </a:r>
            <a:r>
              <a:rPr lang="en-US" altLang="en-US" dirty="0" err="1" smtClean="0">
                <a:solidFill>
                  <a:srgbClr val="FF0000"/>
                </a:solidFill>
                <a:sym typeface="Symbol" pitchFamily="18" charset="2"/>
              </a:rPr>
              <a:t>p</a:t>
            </a:r>
            <a:r>
              <a:rPr lang="en-US" altLang="en-US" baseline="-25000" dirty="0" err="1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(1+ p</a:t>
            </a:r>
            <a:r>
              <a:rPr lang="en-US" altLang="en-US" baseline="-25000" dirty="0" smtClean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-1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p</a:t>
            </a:r>
            <a:r>
              <a:rPr lang="en-US" altLang="en-US" baseline="-25000" dirty="0" smtClean="0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) </a:t>
            </a:r>
          </a:p>
          <a:p>
            <a:pPr lvl="1"/>
            <a:r>
              <a:rPr lang="en-US" altLang="en-US" dirty="0" smtClean="0"/>
              <a:t>We will use the “share elasticity” to derive the own price elasticity</a:t>
            </a:r>
            <a:endParaRPr lang="en-US" altLang="en-US" dirty="0" smtClean="0">
              <a:solidFill>
                <a:srgbClr val="5858D4"/>
              </a:solidFill>
              <a:sym typeface="Symbol" pitchFamily="18" charset="2"/>
            </a:endParaRPr>
          </a:p>
          <a:p>
            <a:endParaRPr lang="en-US" altLang="en-US" dirty="0" smtClean="0"/>
          </a:p>
        </p:txBody>
      </p:sp>
      <p:graphicFrame>
        <p:nvGraphicFramePr>
          <p:cNvPr id="336902" name="Object 2"/>
          <p:cNvGraphicFramePr>
            <a:graphicFrameLocks noChangeAspect="1"/>
          </p:cNvGraphicFramePr>
          <p:nvPr/>
        </p:nvGraphicFramePr>
        <p:xfrm>
          <a:off x="1063625" y="4041775"/>
          <a:ext cx="4981575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47" name="Equation" r:id="rId3" imgW="2031840" imgH="914400" progId="Equation.DSMT4">
                  <p:embed/>
                </p:oleObj>
              </mc:Choice>
              <mc:Fallback>
                <p:oleObj name="Equation" r:id="rId3" imgW="203184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4041775"/>
                        <a:ext cx="4981575" cy="223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421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5.5	 Demand Elasticities: The Importance of 	</a:t>
            </a:r>
            <a:r>
              <a:rPr lang="en-US" altLang="en-US" dirty="0" smtClean="0">
                <a:solidFill>
                  <a:srgbClr val="002D56"/>
                </a:solidFill>
              </a:rPr>
              <a:t>Substitution Effects</a:t>
            </a:r>
          </a:p>
        </p:txBody>
      </p:sp>
      <p:sp>
        <p:nvSpPr>
          <p:cNvPr id="21509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B86CC632-9D11-4F28-AACA-AEBC099739BD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  <p:sp>
        <p:nvSpPr>
          <p:cNvPr id="21508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990600"/>
            <a:ext cx="8382000" cy="5410200"/>
          </a:xfrm>
          <a:prstGeom prst="rect">
            <a:avLst/>
          </a:prstGeo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 smtClean="0">
                <a:sym typeface="Symbol" pitchFamily="18" charset="2"/>
              </a:rPr>
              <a:t>2. CES utility function (</a:t>
            </a:r>
            <a:r>
              <a:rPr lang="el-GR" altLang="en-US" dirty="0" smtClean="0">
                <a:cs typeface="Arial" charset="0"/>
                <a:sym typeface="Symbol" pitchFamily="18" charset="2"/>
              </a:rPr>
              <a:t>σ</a:t>
            </a:r>
            <a:r>
              <a:rPr lang="en-US" altLang="en-US" dirty="0" smtClean="0">
                <a:sym typeface="Symbol" pitchFamily="18" charset="2"/>
              </a:rPr>
              <a:t> = 2,  = 5)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 </a:t>
            </a:r>
          </a:p>
          <a:p>
            <a:pPr lvl="1"/>
            <a:r>
              <a:rPr lang="en-US" altLang="en-US" dirty="0" smtClean="0"/>
              <a:t>The share elasticity is given by</a:t>
            </a:r>
          </a:p>
        </p:txBody>
      </p:sp>
      <p:graphicFrame>
        <p:nvGraphicFramePr>
          <p:cNvPr id="3369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716806"/>
              </p:ext>
            </p:extLst>
          </p:nvPr>
        </p:nvGraphicFramePr>
        <p:xfrm>
          <a:off x="564357" y="2049457"/>
          <a:ext cx="8015287" cy="2065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71" name="Equation" r:id="rId3" imgW="3543120" imgH="914400" progId="Equation.DSMT4">
                  <p:embed/>
                </p:oleObj>
              </mc:Choice>
              <mc:Fallback>
                <p:oleObj name="Equation" r:id="rId3" imgW="354312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" y="2049457"/>
                        <a:ext cx="8015287" cy="20653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452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5.5	 Demand Elasticities: The Importance of 	</a:t>
            </a:r>
            <a:r>
              <a:rPr lang="en-US" altLang="en-US" dirty="0" smtClean="0">
                <a:solidFill>
                  <a:srgbClr val="002D56"/>
                </a:solidFill>
              </a:rPr>
              <a:t>Substitution Effects</a:t>
            </a:r>
          </a:p>
        </p:txBody>
      </p:sp>
      <p:sp>
        <p:nvSpPr>
          <p:cNvPr id="22535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332CE16-12FA-4749-B66C-0E189FE391C4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  <p:sp>
        <p:nvSpPr>
          <p:cNvPr id="22534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914400"/>
            <a:ext cx="8382000" cy="27432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altLang="en-US" dirty="0" smtClean="0">
                <a:sym typeface="Symbol" pitchFamily="18" charset="2"/>
              </a:rPr>
              <a:t>3. CES utility function (</a:t>
            </a:r>
            <a:r>
              <a:rPr lang="el-GR" altLang="en-US" dirty="0" smtClean="0">
                <a:cs typeface="Arial" charset="0"/>
                <a:sym typeface="Symbol" pitchFamily="18" charset="2"/>
              </a:rPr>
              <a:t>σ</a:t>
            </a:r>
            <a:r>
              <a:rPr lang="en-US" altLang="en-US" dirty="0" smtClean="0">
                <a:sym typeface="Symbol" pitchFamily="18" charset="2"/>
              </a:rPr>
              <a:t> = 0.5,  = -1): </a:t>
            </a:r>
          </a:p>
          <a:p>
            <a:pPr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</a:rPr>
              <a:t>U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dirty="0" smtClean="0">
                <a:solidFill>
                  <a:srgbClr val="FF0000"/>
                </a:solidFill>
              </a:rPr>
              <a:t>) = 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–</a:t>
            </a:r>
            <a:r>
              <a:rPr lang="en-US" altLang="en-US" dirty="0" smtClean="0">
                <a:solidFill>
                  <a:srgbClr val="FF0000"/>
                </a:solidFill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</a:rPr>
              <a:t>x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-1 </a:t>
            </a:r>
            <a:r>
              <a:rPr lang="en-US" altLang="en-US" dirty="0" smtClean="0">
                <a:solidFill>
                  <a:srgbClr val="FF0000"/>
                </a:solidFill>
                <a:sym typeface="Symbol" pitchFamily="18" charset="2"/>
              </a:rPr>
              <a:t>– </a:t>
            </a:r>
            <a:r>
              <a:rPr lang="en-US" altLang="en-US" i="1" dirty="0" smtClean="0">
                <a:solidFill>
                  <a:srgbClr val="FF0000"/>
                </a:solidFill>
                <a:sym typeface="Symbol" pitchFamily="18" charset="2"/>
              </a:rPr>
              <a:t>y 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-1</a:t>
            </a:r>
            <a:endParaRPr lang="en-US" altLang="en-US" dirty="0" smtClean="0">
              <a:sym typeface="Symbol" pitchFamily="18" charset="2"/>
            </a:endParaRPr>
          </a:p>
          <a:p>
            <a:pPr lvl="1">
              <a:lnSpc>
                <a:spcPct val="110000"/>
              </a:lnSpc>
            </a:pPr>
            <a:r>
              <a:rPr lang="en-US" altLang="en-US" dirty="0" smtClean="0">
                <a:sym typeface="Symbol" pitchFamily="18" charset="2"/>
              </a:rPr>
              <a:t>The share of good </a:t>
            </a:r>
            <a:r>
              <a:rPr lang="en-US" altLang="en-US" i="1" dirty="0" smtClean="0">
                <a:sym typeface="Symbol" pitchFamily="18" charset="2"/>
              </a:rPr>
              <a:t>x</a:t>
            </a:r>
            <a:r>
              <a:rPr lang="en-US" altLang="en-US" dirty="0" smtClean="0">
                <a:sym typeface="Symbol" pitchFamily="18" charset="2"/>
              </a:rPr>
              <a:t> is:</a:t>
            </a:r>
          </a:p>
          <a:p>
            <a:pPr lvl="1">
              <a:lnSpc>
                <a:spcPct val="110000"/>
              </a:lnSpc>
            </a:pPr>
            <a:endParaRPr lang="en-US" kern="0" dirty="0" smtClean="0"/>
          </a:p>
          <a:p>
            <a:pPr lvl="1">
              <a:lnSpc>
                <a:spcPct val="110000"/>
              </a:lnSpc>
            </a:pPr>
            <a:r>
              <a:rPr lang="en-US" kern="0" dirty="0" smtClean="0"/>
              <a:t>The </a:t>
            </a:r>
            <a:r>
              <a:rPr lang="en-US" kern="0" dirty="0"/>
              <a:t>share elasticity is:</a:t>
            </a:r>
            <a:endParaRPr lang="en-US" kern="0" dirty="0">
              <a:solidFill>
                <a:srgbClr val="5858D4"/>
              </a:solidFill>
              <a:sym typeface="Symbol" pitchFamily="18" charset="2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altLang="en-US" dirty="0" smtClean="0">
              <a:sym typeface="Symbol" pitchFamily="18" charset="2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4876800"/>
            <a:ext cx="8382000" cy="1295400"/>
          </a:xfrm>
        </p:spPr>
        <p:txBody>
          <a:bodyPr/>
          <a:lstStyle/>
          <a:p>
            <a:pPr lvl="1"/>
            <a:r>
              <a:rPr lang="en-US" kern="0" dirty="0"/>
              <a:t>In general, the compensated price elasticity </a:t>
            </a:r>
            <a:r>
              <a:rPr lang="en-US" kern="0" dirty="0" smtClean="0"/>
              <a:t>is</a:t>
            </a:r>
            <a:endParaRPr lang="en-US" kern="0" dirty="0">
              <a:sym typeface="Symbol" pitchFamily="18" charset="2"/>
            </a:endParaRPr>
          </a:p>
        </p:txBody>
      </p:sp>
      <p:graphicFrame>
        <p:nvGraphicFramePr>
          <p:cNvPr id="3369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958669"/>
              </p:ext>
            </p:extLst>
          </p:nvPr>
        </p:nvGraphicFramePr>
        <p:xfrm>
          <a:off x="4724400" y="1774825"/>
          <a:ext cx="25844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1" name="Equation" r:id="rId3" imgW="1054080" imgH="457200" progId="Equation.DSMT4">
                  <p:embed/>
                </p:oleObj>
              </mc:Choice>
              <mc:Fallback>
                <p:oleObj name="Equation" r:id="rId3" imgW="1054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774825"/>
                        <a:ext cx="2584450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495096"/>
              </p:ext>
            </p:extLst>
          </p:nvPr>
        </p:nvGraphicFramePr>
        <p:xfrm>
          <a:off x="457200" y="3571875"/>
          <a:ext cx="8407400" cy="1058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2" name="Equation" r:id="rId5" imgW="3848040" imgH="482400" progId="Equation.DSMT4">
                  <p:embed/>
                </p:oleObj>
              </mc:Choice>
              <mc:Fallback>
                <p:oleObj name="Equation" r:id="rId5" imgW="3848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571875"/>
                        <a:ext cx="8407400" cy="1058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4" name="Object 2"/>
          <p:cNvGraphicFramePr>
            <a:graphicFrameLocks noChangeAspect="1"/>
          </p:cNvGraphicFramePr>
          <p:nvPr/>
        </p:nvGraphicFramePr>
        <p:xfrm>
          <a:off x="1995488" y="5383213"/>
          <a:ext cx="2974975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3" name="Equation" r:id="rId7" imgW="1143000" imgH="279360" progId="Equation.DSMT4">
                  <p:embed/>
                </p:oleObj>
              </mc:Choice>
              <mc:Fallback>
                <p:oleObj name="Equation" r:id="rId7" imgW="11430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488" y="5383213"/>
                        <a:ext cx="2974975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642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6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Consumer Surplus</a:t>
            </a:r>
          </a:p>
        </p:txBody>
      </p:sp>
      <p:sp>
        <p:nvSpPr>
          <p:cNvPr id="77827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534400" cy="5334000"/>
          </a:xfrm>
        </p:spPr>
        <p:txBody>
          <a:bodyPr/>
          <a:lstStyle/>
          <a:p>
            <a:r>
              <a:rPr lang="en-US" altLang="en-US" dirty="0" smtClean="0"/>
              <a:t>Measure the change in welfare</a:t>
            </a:r>
          </a:p>
          <a:p>
            <a:pPr lvl="1"/>
            <a:r>
              <a:rPr lang="en-US" altLang="en-US" dirty="0" smtClean="0"/>
              <a:t>That an individual experiences if the price of good x increases from p</a:t>
            </a:r>
            <a:r>
              <a:rPr lang="en-US" altLang="en-US" baseline="30000" dirty="0" smtClean="0"/>
              <a:t>0</a:t>
            </a:r>
            <a:r>
              <a:rPr lang="en-US" altLang="en-US" baseline="-25000" dirty="0" smtClean="0"/>
              <a:t>x</a:t>
            </a:r>
            <a:r>
              <a:rPr lang="en-US" altLang="en-US" dirty="0" smtClean="0"/>
              <a:t> to p</a:t>
            </a:r>
            <a:r>
              <a:rPr lang="en-US" altLang="en-US" baseline="30000" dirty="0" smtClean="0"/>
              <a:t>1</a:t>
            </a:r>
            <a:r>
              <a:rPr lang="en-US" altLang="en-US" baseline="-25000" dirty="0" smtClean="0"/>
              <a:t>x</a:t>
            </a:r>
          </a:p>
          <a:p>
            <a:pPr lvl="1"/>
            <a:r>
              <a:rPr lang="en-US" altLang="en-US" dirty="0" smtClean="0"/>
              <a:t>To reach U</a:t>
            </a:r>
            <a:r>
              <a:rPr lang="en-US" altLang="en-US" baseline="-25000" dirty="0" smtClean="0"/>
              <a:t>0</a:t>
            </a:r>
          </a:p>
          <a:p>
            <a:pPr lvl="2">
              <a:lnSpc>
                <a:spcPct val="150000"/>
              </a:lnSpc>
            </a:pPr>
            <a:r>
              <a:rPr lang="en-US" altLang="en-US" dirty="0" smtClean="0"/>
              <a:t>Expenditure at p</a:t>
            </a:r>
            <a:r>
              <a:rPr lang="en-US" altLang="en-US" baseline="30000" dirty="0" smtClean="0"/>
              <a:t>0</a:t>
            </a:r>
            <a:r>
              <a:rPr lang="en-US" altLang="en-US" baseline="-25000" dirty="0" smtClean="0"/>
              <a:t>x</a:t>
            </a:r>
            <a:r>
              <a:rPr lang="en-US" altLang="en-US" dirty="0" smtClean="0"/>
              <a:t>: </a:t>
            </a:r>
            <a:r>
              <a:rPr lang="en-US" altLang="en-US" dirty="0" smtClean="0">
                <a:solidFill>
                  <a:srgbClr val="000099"/>
                </a:solidFill>
              </a:rPr>
              <a:t>E(p</a:t>
            </a:r>
            <a:r>
              <a:rPr lang="en-US" altLang="en-US" baseline="30000" dirty="0" smtClean="0">
                <a:solidFill>
                  <a:srgbClr val="000099"/>
                </a:solidFill>
              </a:rPr>
              <a:t>0</a:t>
            </a:r>
            <a:r>
              <a:rPr lang="en-US" altLang="en-US" baseline="-25000" dirty="0" smtClean="0">
                <a:solidFill>
                  <a:srgbClr val="000099"/>
                </a:solidFill>
              </a:rPr>
              <a:t>x</a:t>
            </a:r>
            <a:r>
              <a:rPr lang="en-US" altLang="en-US" dirty="0" smtClean="0">
                <a:solidFill>
                  <a:srgbClr val="000099"/>
                </a:solidFill>
              </a:rPr>
              <a:t>,p</a:t>
            </a:r>
            <a:r>
              <a:rPr lang="en-US" altLang="en-US" baseline="-25000" dirty="0" smtClean="0">
                <a:solidFill>
                  <a:srgbClr val="000099"/>
                </a:solidFill>
              </a:rPr>
              <a:t>y</a:t>
            </a:r>
            <a:r>
              <a:rPr lang="en-US" altLang="en-US" dirty="0" smtClean="0">
                <a:solidFill>
                  <a:srgbClr val="000099"/>
                </a:solidFill>
              </a:rPr>
              <a:t>,U</a:t>
            </a:r>
            <a:r>
              <a:rPr lang="en-US" altLang="en-US" baseline="-25000" dirty="0" smtClean="0">
                <a:solidFill>
                  <a:srgbClr val="000099"/>
                </a:solidFill>
              </a:rPr>
              <a:t>0</a:t>
            </a:r>
            <a:r>
              <a:rPr lang="en-US" altLang="en-US" dirty="0" smtClean="0">
                <a:solidFill>
                  <a:srgbClr val="000099"/>
                </a:solidFill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en-US" dirty="0" smtClean="0"/>
              <a:t>Expenditure at p</a:t>
            </a:r>
            <a:r>
              <a:rPr lang="en-US" altLang="en-US" baseline="30000" dirty="0" smtClean="0"/>
              <a:t>1</a:t>
            </a:r>
            <a:r>
              <a:rPr lang="en-US" altLang="en-US" baseline="-25000" dirty="0" smtClean="0"/>
              <a:t>x</a:t>
            </a:r>
            <a:r>
              <a:rPr lang="en-US" altLang="en-US" dirty="0" smtClean="0"/>
              <a:t>: </a:t>
            </a:r>
            <a:r>
              <a:rPr lang="en-US" altLang="en-US" dirty="0" smtClean="0">
                <a:solidFill>
                  <a:srgbClr val="000099"/>
                </a:solidFill>
              </a:rPr>
              <a:t>E(p</a:t>
            </a:r>
            <a:r>
              <a:rPr lang="en-US" altLang="en-US" baseline="30000" dirty="0" smtClean="0">
                <a:solidFill>
                  <a:srgbClr val="000099"/>
                </a:solidFill>
              </a:rPr>
              <a:t>1</a:t>
            </a:r>
            <a:r>
              <a:rPr lang="en-US" altLang="en-US" baseline="-25000" dirty="0" smtClean="0">
                <a:solidFill>
                  <a:srgbClr val="000099"/>
                </a:solidFill>
              </a:rPr>
              <a:t>x</a:t>
            </a:r>
            <a:r>
              <a:rPr lang="en-US" altLang="en-US" dirty="0" smtClean="0">
                <a:solidFill>
                  <a:srgbClr val="000099"/>
                </a:solidFill>
              </a:rPr>
              <a:t>,p</a:t>
            </a:r>
            <a:r>
              <a:rPr lang="en-US" altLang="en-US" baseline="-25000" dirty="0" smtClean="0">
                <a:solidFill>
                  <a:srgbClr val="000099"/>
                </a:solidFill>
              </a:rPr>
              <a:t>y</a:t>
            </a:r>
            <a:r>
              <a:rPr lang="en-US" altLang="en-US" dirty="0" smtClean="0">
                <a:solidFill>
                  <a:srgbClr val="000099"/>
                </a:solidFill>
              </a:rPr>
              <a:t>,U</a:t>
            </a:r>
            <a:r>
              <a:rPr lang="en-US" altLang="en-US" baseline="-25000" dirty="0" smtClean="0">
                <a:solidFill>
                  <a:srgbClr val="000099"/>
                </a:solidFill>
              </a:rPr>
              <a:t>0</a:t>
            </a:r>
            <a:r>
              <a:rPr lang="en-US" altLang="en-US" dirty="0" smtClean="0">
                <a:solidFill>
                  <a:srgbClr val="000099"/>
                </a:solidFill>
              </a:rPr>
              <a:t>)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sz="3100" dirty="0" smtClean="0"/>
              <a:t>To compensate for the price increase – compensating variation (CV) of:</a:t>
            </a:r>
          </a:p>
          <a:p>
            <a:pPr marL="457200" lvl="1" indent="0">
              <a:buNone/>
            </a:pPr>
            <a:r>
              <a:rPr lang="en-US" altLang="en-US" sz="3000" i="1" dirty="0" smtClean="0">
                <a:solidFill>
                  <a:srgbClr val="FF0000"/>
                </a:solidFill>
              </a:rPr>
              <a:t>CV</a:t>
            </a:r>
            <a:r>
              <a:rPr lang="en-US" altLang="en-US" sz="3000" dirty="0" smtClean="0">
                <a:solidFill>
                  <a:srgbClr val="FF0000"/>
                </a:solidFill>
              </a:rPr>
              <a:t> = </a:t>
            </a:r>
            <a:r>
              <a:rPr lang="en-US" altLang="en-US" sz="3000" i="1" dirty="0" smtClean="0">
                <a:solidFill>
                  <a:srgbClr val="FF0000"/>
                </a:solidFill>
              </a:rPr>
              <a:t>E</a:t>
            </a:r>
            <a:r>
              <a:rPr lang="en-US" altLang="en-US" sz="3000" dirty="0" smtClean="0">
                <a:solidFill>
                  <a:srgbClr val="FF0000"/>
                </a:solidFill>
              </a:rPr>
              <a:t>(</a:t>
            </a:r>
            <a:r>
              <a:rPr lang="en-US" altLang="en-US" sz="30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3000" i="1" baseline="-25000" dirty="0" smtClean="0">
                <a:solidFill>
                  <a:srgbClr val="FF0000"/>
                </a:solidFill>
              </a:rPr>
              <a:t>x</a:t>
            </a:r>
            <a:r>
              <a:rPr lang="en-US" altLang="en-US" sz="3000" b="1" baseline="30000" dirty="0" smtClean="0">
                <a:solidFill>
                  <a:srgbClr val="FF0000"/>
                </a:solidFill>
              </a:rPr>
              <a:t>1</a:t>
            </a:r>
            <a:r>
              <a:rPr lang="en-US" altLang="en-US" sz="3000" dirty="0" smtClean="0">
                <a:solidFill>
                  <a:srgbClr val="FF0000"/>
                </a:solidFill>
              </a:rPr>
              <a:t>,</a:t>
            </a:r>
            <a:r>
              <a:rPr lang="en-US" altLang="en-US" sz="30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3000" i="1" baseline="-25000" dirty="0" smtClean="0">
                <a:solidFill>
                  <a:srgbClr val="FF0000"/>
                </a:solidFill>
              </a:rPr>
              <a:t>y</a:t>
            </a:r>
            <a:r>
              <a:rPr lang="en-US" altLang="en-US" sz="3000" dirty="0" smtClean="0">
                <a:solidFill>
                  <a:srgbClr val="FF0000"/>
                </a:solidFill>
              </a:rPr>
              <a:t>,</a:t>
            </a:r>
            <a:r>
              <a:rPr lang="en-US" altLang="en-US" sz="3000" i="1" dirty="0" smtClean="0">
                <a:solidFill>
                  <a:srgbClr val="FF0000"/>
                </a:solidFill>
              </a:rPr>
              <a:t>U</a:t>
            </a:r>
            <a:r>
              <a:rPr lang="en-US" altLang="en-US" sz="3000" baseline="-25000" dirty="0" smtClean="0">
                <a:solidFill>
                  <a:srgbClr val="FF0000"/>
                </a:solidFill>
              </a:rPr>
              <a:t>0</a:t>
            </a:r>
            <a:r>
              <a:rPr lang="en-US" altLang="en-US" sz="3000" dirty="0" smtClean="0">
                <a:solidFill>
                  <a:srgbClr val="FF0000"/>
                </a:solidFill>
              </a:rPr>
              <a:t>) - </a:t>
            </a:r>
            <a:r>
              <a:rPr lang="en-US" altLang="en-US" sz="3000" i="1" dirty="0" smtClean="0">
                <a:solidFill>
                  <a:srgbClr val="FF0000"/>
                </a:solidFill>
              </a:rPr>
              <a:t>E</a:t>
            </a:r>
            <a:r>
              <a:rPr lang="en-US" altLang="en-US" sz="3000" dirty="0" smtClean="0">
                <a:solidFill>
                  <a:srgbClr val="FF0000"/>
                </a:solidFill>
              </a:rPr>
              <a:t>(</a:t>
            </a:r>
            <a:r>
              <a:rPr lang="en-US" altLang="en-US" sz="30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3000" i="1" baseline="-25000" dirty="0" smtClean="0">
                <a:solidFill>
                  <a:srgbClr val="FF0000"/>
                </a:solidFill>
              </a:rPr>
              <a:t>x</a:t>
            </a:r>
            <a:r>
              <a:rPr lang="en-US" altLang="en-US" sz="3000" b="1" baseline="30000" dirty="0" smtClean="0">
                <a:solidFill>
                  <a:srgbClr val="FF0000"/>
                </a:solidFill>
              </a:rPr>
              <a:t>0</a:t>
            </a:r>
            <a:r>
              <a:rPr lang="en-US" altLang="en-US" sz="3000" dirty="0" smtClean="0">
                <a:solidFill>
                  <a:srgbClr val="FF0000"/>
                </a:solidFill>
              </a:rPr>
              <a:t>,</a:t>
            </a:r>
            <a:r>
              <a:rPr lang="en-US" altLang="en-US" sz="30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3000" i="1" baseline="-25000" dirty="0" smtClean="0">
                <a:solidFill>
                  <a:srgbClr val="FF0000"/>
                </a:solidFill>
              </a:rPr>
              <a:t>y</a:t>
            </a:r>
            <a:r>
              <a:rPr lang="en-US" altLang="en-US" sz="3000" dirty="0" smtClean="0">
                <a:solidFill>
                  <a:srgbClr val="FF0000"/>
                </a:solidFill>
              </a:rPr>
              <a:t>,</a:t>
            </a:r>
            <a:r>
              <a:rPr lang="en-US" altLang="en-US" sz="3000" i="1" dirty="0" smtClean="0">
                <a:solidFill>
                  <a:srgbClr val="FF0000"/>
                </a:solidFill>
              </a:rPr>
              <a:t>U</a:t>
            </a:r>
            <a:r>
              <a:rPr lang="en-US" altLang="en-US" sz="3000" baseline="-25000" dirty="0" smtClean="0">
                <a:solidFill>
                  <a:srgbClr val="FF0000"/>
                </a:solidFill>
              </a:rPr>
              <a:t>0</a:t>
            </a:r>
            <a:r>
              <a:rPr lang="en-US" altLang="en-US" sz="3000" dirty="0" smtClean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225BF24-8351-4D78-A8A3-F60E652DFC8C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2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1045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5.8 </a:t>
            </a:r>
            <a:r>
              <a:rPr lang="en-US" altLang="en-US" dirty="0"/>
              <a:t>	Showing Compensating Variation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(a) Indifference curve map</a:t>
            </a:r>
          </a:p>
        </p:txBody>
      </p:sp>
      <p:sp>
        <p:nvSpPr>
          <p:cNvPr id="78851" name="Text Placeholder 2"/>
          <p:cNvSpPr>
            <a:spLocks noGrp="1"/>
          </p:cNvSpPr>
          <p:nvPr>
            <p:ph sz="half" idx="1"/>
          </p:nvPr>
        </p:nvSpPr>
        <p:spPr>
          <a:xfrm>
            <a:off x="76200" y="5629275"/>
            <a:ext cx="8915400" cy="756756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en-US" sz="1600" dirty="0"/>
              <a:t>If the price of x increases from p</a:t>
            </a:r>
            <a:r>
              <a:rPr lang="en-US" altLang="en-US" sz="1600" baseline="30000" dirty="0"/>
              <a:t>0</a:t>
            </a:r>
            <a:r>
              <a:rPr lang="en-US" altLang="en-US" sz="1600" baseline="-25000" dirty="0"/>
              <a:t>x</a:t>
            </a:r>
            <a:r>
              <a:rPr lang="en-US" altLang="en-US" sz="1600" dirty="0"/>
              <a:t> to p</a:t>
            </a:r>
            <a:r>
              <a:rPr lang="en-US" altLang="en-US" sz="1600" baseline="30000" dirty="0"/>
              <a:t>1</a:t>
            </a:r>
            <a:r>
              <a:rPr lang="en-US" altLang="en-US" sz="1600" baseline="-25000" dirty="0"/>
              <a:t>x</a:t>
            </a:r>
            <a:r>
              <a:rPr lang="en-US" altLang="en-US" sz="1600" dirty="0"/>
              <a:t>, this person needs extra expenditures of CV to remain on the U</a:t>
            </a:r>
            <a:r>
              <a:rPr lang="en-US" altLang="en-US" sz="1600" baseline="-25000" dirty="0"/>
              <a:t>0</a:t>
            </a:r>
            <a:r>
              <a:rPr lang="en-US" altLang="en-US" sz="1600" dirty="0"/>
              <a:t> indifference curve. Integration shows that CV can also be represented by the shaded area below the compensated demand curve in panel (b).</a:t>
            </a:r>
          </a:p>
        </p:txBody>
      </p:sp>
      <p:sp>
        <p:nvSpPr>
          <p:cNvPr id="78853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4503D2-FF0E-4544-B9D6-C323789C9DFA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633413" y="722313"/>
            <a:ext cx="7720012" cy="4918075"/>
            <a:chOff x="123388" y="722085"/>
            <a:chExt cx="7719617" cy="4917747"/>
          </a:xfrm>
        </p:grpSpPr>
        <p:grpSp>
          <p:nvGrpSpPr>
            <p:cNvPr id="78900" name="Group 29"/>
            <p:cNvGrpSpPr>
              <a:grpSpLocks/>
            </p:cNvGrpSpPr>
            <p:nvPr/>
          </p:nvGrpSpPr>
          <p:grpSpPr bwMode="auto">
            <a:xfrm>
              <a:off x="1803400" y="1181099"/>
              <a:ext cx="5753100" cy="4086225"/>
              <a:chOff x="1816100" y="1600199"/>
              <a:chExt cx="5753100" cy="4086225"/>
            </a:xfrm>
          </p:grpSpPr>
          <p:sp>
            <p:nvSpPr>
              <p:cNvPr id="78903" name="Line 3"/>
              <p:cNvSpPr>
                <a:spLocks noChangeShapeType="1"/>
              </p:cNvSpPr>
              <p:nvPr/>
            </p:nvSpPr>
            <p:spPr bwMode="auto">
              <a:xfrm>
                <a:off x="1816100" y="1600199"/>
                <a:ext cx="0" cy="40862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8904" name="Line 3"/>
              <p:cNvSpPr>
                <a:spLocks noChangeShapeType="1"/>
              </p:cNvSpPr>
              <p:nvPr/>
            </p:nvSpPr>
            <p:spPr bwMode="auto">
              <a:xfrm flipH="1" flipV="1">
                <a:off x="1828800" y="5661024"/>
                <a:ext cx="5740400" cy="158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8901" name="TextBox 30"/>
            <p:cNvSpPr txBox="1">
              <a:spLocks noChangeArrowheads="1"/>
            </p:cNvSpPr>
            <p:nvPr/>
          </p:nvSpPr>
          <p:spPr bwMode="auto">
            <a:xfrm>
              <a:off x="123388" y="722085"/>
              <a:ext cx="174919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Spending on</a:t>
              </a:r>
            </a:p>
            <a:p>
              <a:pPr algn="ctr" eaLnBrk="1" hangingPunct="1"/>
              <a:r>
                <a:rPr lang="en-US" altLang="en-US" sz="1800"/>
                <a:t>other goods ($)</a:t>
              </a:r>
            </a:p>
          </p:txBody>
        </p:sp>
        <p:sp>
          <p:nvSpPr>
            <p:cNvPr id="78902" name="TextBox 31"/>
            <p:cNvSpPr txBox="1">
              <a:spLocks noChangeArrowheads="1"/>
            </p:cNvSpPr>
            <p:nvPr/>
          </p:nvSpPr>
          <p:spPr bwMode="auto">
            <a:xfrm>
              <a:off x="6363113" y="5270500"/>
              <a:ext cx="14798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Quantity of </a:t>
              </a:r>
              <a:r>
                <a:rPr lang="en-US" altLang="en-US" sz="1800" i="1"/>
                <a:t>x</a:t>
              </a:r>
              <a:endParaRPr lang="en-US" altLang="en-US" sz="1800"/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966788" y="2616200"/>
            <a:ext cx="3175000" cy="2527300"/>
            <a:chOff x="647700" y="2616200"/>
            <a:chExt cx="3175000" cy="2527300"/>
          </a:xfrm>
        </p:grpSpPr>
        <p:cxnSp>
          <p:nvCxnSpPr>
            <p:cNvPr id="78898" name="Straight Connector 34"/>
            <p:cNvCxnSpPr>
              <a:cxnSpLocks noChangeShapeType="1"/>
            </p:cNvCxnSpPr>
            <p:nvPr/>
          </p:nvCxnSpPr>
          <p:spPr bwMode="auto">
            <a:xfrm rot="16200000" flipH="1">
              <a:off x="1708150" y="3028950"/>
              <a:ext cx="2400300" cy="1828800"/>
            </a:xfrm>
            <a:prstGeom prst="line">
              <a:avLst/>
            </a:prstGeom>
            <a:noFill/>
            <a:ln w="38100" algn="ctr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899" name="TextBox 40"/>
            <p:cNvSpPr txBox="1">
              <a:spLocks noChangeArrowheads="1"/>
            </p:cNvSpPr>
            <p:nvPr/>
          </p:nvSpPr>
          <p:spPr bwMode="auto">
            <a:xfrm>
              <a:off x="647700" y="2616200"/>
              <a:ext cx="13562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E(p</a:t>
              </a:r>
              <a:r>
                <a:rPr lang="en-US" altLang="en-US" sz="1800" baseline="30000">
                  <a:solidFill>
                    <a:srgbClr val="000099"/>
                  </a:solidFill>
                </a:rPr>
                <a:t>0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800">
                  <a:solidFill>
                    <a:srgbClr val="000099"/>
                  </a:solidFill>
                </a:rPr>
                <a:t>,p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y</a:t>
              </a:r>
              <a:r>
                <a:rPr lang="en-US" altLang="en-US" sz="1800">
                  <a:solidFill>
                    <a:srgbClr val="000099"/>
                  </a:solidFill>
                </a:rPr>
                <a:t>,U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0</a:t>
              </a:r>
              <a:r>
                <a:rPr lang="en-US" altLang="en-US" sz="1800">
                  <a:solidFill>
                    <a:srgbClr val="000099"/>
                  </a:solidFill>
                </a:rPr>
                <a:t>)</a:t>
              </a:r>
              <a:endParaRPr lang="en-US" altLang="en-US" sz="1800"/>
            </a:p>
          </p:txBody>
        </p:sp>
      </p:grpSp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2325688" y="2755900"/>
            <a:ext cx="5092700" cy="2514600"/>
            <a:chOff x="2006600" y="2755900"/>
            <a:chExt cx="5091883" cy="2514600"/>
          </a:xfrm>
        </p:grpSpPr>
        <p:cxnSp>
          <p:nvCxnSpPr>
            <p:cNvPr id="78896" name="Straight Connector 35"/>
            <p:cNvCxnSpPr>
              <a:cxnSpLocks noChangeShapeType="1"/>
            </p:cNvCxnSpPr>
            <p:nvPr/>
          </p:nvCxnSpPr>
          <p:spPr bwMode="auto">
            <a:xfrm>
              <a:off x="2006600" y="2755900"/>
              <a:ext cx="4394200" cy="2514600"/>
            </a:xfrm>
            <a:prstGeom prst="line">
              <a:avLst/>
            </a:prstGeom>
            <a:noFill/>
            <a:ln w="38100" algn="ctr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897" name="TextBox 42"/>
            <p:cNvSpPr txBox="1">
              <a:spLocks noChangeArrowheads="1"/>
            </p:cNvSpPr>
            <p:nvPr/>
          </p:nvSpPr>
          <p:spPr bwMode="auto">
            <a:xfrm>
              <a:off x="5742214" y="4613728"/>
              <a:ext cx="13562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E(p</a:t>
              </a:r>
              <a:r>
                <a:rPr lang="en-US" altLang="en-US" sz="1800" baseline="30000">
                  <a:solidFill>
                    <a:srgbClr val="000099"/>
                  </a:solidFill>
                </a:rPr>
                <a:t>0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800">
                  <a:solidFill>
                    <a:srgbClr val="000099"/>
                  </a:solidFill>
                </a:rPr>
                <a:t>,p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y</a:t>
              </a:r>
              <a:r>
                <a:rPr lang="en-US" altLang="en-US" sz="1800">
                  <a:solidFill>
                    <a:srgbClr val="000099"/>
                  </a:solidFill>
                </a:rPr>
                <a:t>,U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0</a:t>
              </a:r>
              <a:r>
                <a:rPr lang="en-US" altLang="en-US" sz="1800">
                  <a:solidFill>
                    <a:srgbClr val="000099"/>
                  </a:solidFill>
                </a:rPr>
                <a:t>)</a:t>
              </a:r>
              <a:endParaRPr lang="en-US" altLang="en-US" sz="1800"/>
            </a:p>
          </p:txBody>
        </p:sp>
      </p:grpSp>
      <p:grpSp>
        <p:nvGrpSpPr>
          <p:cNvPr id="7" name="Group 79"/>
          <p:cNvGrpSpPr>
            <a:grpSpLocks/>
          </p:cNvGrpSpPr>
          <p:nvPr/>
        </p:nvGrpSpPr>
        <p:grpSpPr bwMode="auto">
          <a:xfrm>
            <a:off x="2838450" y="3606800"/>
            <a:ext cx="384175" cy="2022475"/>
            <a:chOff x="2518455" y="3606800"/>
            <a:chExt cx="385042" cy="2023105"/>
          </a:xfrm>
        </p:grpSpPr>
        <p:cxnSp>
          <p:nvCxnSpPr>
            <p:cNvPr id="78894" name="Straight Connector 56"/>
            <p:cNvCxnSpPr>
              <a:cxnSpLocks noChangeShapeType="1"/>
            </p:cNvCxnSpPr>
            <p:nvPr/>
          </p:nvCxnSpPr>
          <p:spPr bwMode="auto">
            <a:xfrm rot="5400000">
              <a:off x="1873250" y="4425950"/>
              <a:ext cx="16383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895" name="Text Box 8"/>
            <p:cNvSpPr txBox="1">
              <a:spLocks noChangeArrowheads="1"/>
            </p:cNvSpPr>
            <p:nvPr/>
          </p:nvSpPr>
          <p:spPr bwMode="auto">
            <a:xfrm>
              <a:off x="2518455" y="5260573"/>
              <a:ext cx="385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i="1" baseline="-25000"/>
                <a:t>2</a:t>
              </a:r>
            </a:p>
          </p:txBody>
        </p:sp>
      </p:grpSp>
      <p:grpSp>
        <p:nvGrpSpPr>
          <p:cNvPr id="8" name="Group 80"/>
          <p:cNvGrpSpPr>
            <a:grpSpLocks/>
          </p:cNvGrpSpPr>
          <p:nvPr/>
        </p:nvGrpSpPr>
        <p:grpSpPr bwMode="auto">
          <a:xfrm>
            <a:off x="3527425" y="3314700"/>
            <a:ext cx="384175" cy="2314575"/>
            <a:chOff x="3207885" y="3314700"/>
            <a:chExt cx="385042" cy="2315205"/>
          </a:xfrm>
        </p:grpSpPr>
        <p:cxnSp>
          <p:nvCxnSpPr>
            <p:cNvPr id="78892" name="Straight Connector 55"/>
            <p:cNvCxnSpPr>
              <a:cxnSpLocks noChangeShapeType="1"/>
            </p:cNvCxnSpPr>
            <p:nvPr/>
          </p:nvCxnSpPr>
          <p:spPr bwMode="auto">
            <a:xfrm rot="5400000">
              <a:off x="2400300" y="4279900"/>
              <a:ext cx="19304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893" name="Text Box 8"/>
            <p:cNvSpPr txBox="1">
              <a:spLocks noChangeArrowheads="1"/>
            </p:cNvSpPr>
            <p:nvPr/>
          </p:nvSpPr>
          <p:spPr bwMode="auto">
            <a:xfrm>
              <a:off x="3207885" y="5260573"/>
              <a:ext cx="385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i="1" baseline="-25000"/>
                <a:t>1</a:t>
              </a:r>
            </a:p>
          </p:txBody>
        </p:sp>
      </p:grpSp>
      <p:grpSp>
        <p:nvGrpSpPr>
          <p:cNvPr id="9" name="Group 81"/>
          <p:cNvGrpSpPr>
            <a:grpSpLocks/>
          </p:cNvGrpSpPr>
          <p:nvPr/>
        </p:nvGrpSpPr>
        <p:grpSpPr bwMode="auto">
          <a:xfrm>
            <a:off x="4187825" y="3962400"/>
            <a:ext cx="384175" cy="1666875"/>
            <a:chOff x="3868284" y="3962400"/>
            <a:chExt cx="385042" cy="1667505"/>
          </a:xfrm>
        </p:grpSpPr>
        <p:cxnSp>
          <p:nvCxnSpPr>
            <p:cNvPr id="78890" name="Straight Connector 57"/>
            <p:cNvCxnSpPr>
              <a:cxnSpLocks noChangeShapeType="1"/>
            </p:cNvCxnSpPr>
            <p:nvPr/>
          </p:nvCxnSpPr>
          <p:spPr bwMode="auto">
            <a:xfrm rot="5400000">
              <a:off x="3454400" y="4597400"/>
              <a:ext cx="1270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891" name="Text Box 8"/>
            <p:cNvSpPr txBox="1">
              <a:spLocks noChangeArrowheads="1"/>
            </p:cNvSpPr>
            <p:nvPr/>
          </p:nvSpPr>
          <p:spPr bwMode="auto">
            <a:xfrm>
              <a:off x="3868284" y="5260573"/>
              <a:ext cx="385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i="1" baseline="-25000"/>
                <a:t>0</a:t>
              </a:r>
            </a:p>
          </p:txBody>
        </p:sp>
      </p:grpSp>
      <p:grpSp>
        <p:nvGrpSpPr>
          <p:cNvPr id="10" name="Group 74"/>
          <p:cNvGrpSpPr>
            <a:grpSpLocks/>
          </p:cNvGrpSpPr>
          <p:nvPr/>
        </p:nvGrpSpPr>
        <p:grpSpPr bwMode="auto">
          <a:xfrm>
            <a:off x="2998788" y="1866900"/>
            <a:ext cx="3570287" cy="2717800"/>
            <a:chOff x="2679700" y="1866900"/>
            <a:chExt cx="3569837" cy="2717977"/>
          </a:xfrm>
        </p:grpSpPr>
        <p:sp>
          <p:nvSpPr>
            <p:cNvPr id="78888" name="Freeform 46"/>
            <p:cNvSpPr>
              <a:spLocks/>
            </p:cNvSpPr>
            <p:nvPr/>
          </p:nvSpPr>
          <p:spPr bwMode="auto">
            <a:xfrm>
              <a:off x="2679700" y="1866900"/>
              <a:ext cx="3124200" cy="2514600"/>
            </a:xfrm>
            <a:custGeom>
              <a:avLst/>
              <a:gdLst>
                <a:gd name="T0" fmla="*/ 0 w 3124200"/>
                <a:gd name="T1" fmla="*/ 0 h 2514600"/>
                <a:gd name="T2" fmla="*/ 3124200 w 3124200"/>
                <a:gd name="T3" fmla="*/ 2514600 h 2514600"/>
                <a:gd name="T4" fmla="*/ 0 60000 65536"/>
                <a:gd name="T5" fmla="*/ 0 60000 65536"/>
                <a:gd name="T6" fmla="*/ 0 w 3124200"/>
                <a:gd name="T7" fmla="*/ 0 h 2514600"/>
                <a:gd name="T8" fmla="*/ 3124200 w 3124200"/>
                <a:gd name="T9" fmla="*/ 2514600 h 25146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24200" h="2514600">
                  <a:moveTo>
                    <a:pt x="0" y="0"/>
                  </a:moveTo>
                  <a:cubicBezTo>
                    <a:pt x="440267" y="1337733"/>
                    <a:pt x="1045634" y="2357967"/>
                    <a:pt x="3124200" y="2514600"/>
                  </a:cubicBez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89" name="Text Box 8"/>
            <p:cNvSpPr txBox="1">
              <a:spLocks noChangeArrowheads="1"/>
            </p:cNvSpPr>
            <p:nvPr/>
          </p:nvSpPr>
          <p:spPr bwMode="auto">
            <a:xfrm>
              <a:off x="5813199" y="4215545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i="1" baseline="-25000" dirty="0">
                  <a:solidFill>
                    <a:srgbClr val="C00000"/>
                  </a:solidFill>
                </a:rPr>
                <a:t>0</a:t>
              </a:r>
            </a:p>
          </p:txBody>
        </p:sp>
      </p:grpSp>
      <p:grpSp>
        <p:nvGrpSpPr>
          <p:cNvPr id="11" name="Group 75"/>
          <p:cNvGrpSpPr>
            <a:grpSpLocks/>
          </p:cNvGrpSpPr>
          <p:nvPr/>
        </p:nvGrpSpPr>
        <p:grpSpPr bwMode="auto">
          <a:xfrm>
            <a:off x="2516188" y="2565400"/>
            <a:ext cx="2724150" cy="2200275"/>
            <a:chOff x="2197100" y="2565400"/>
            <a:chExt cx="2724380" cy="2200905"/>
          </a:xfrm>
        </p:grpSpPr>
        <p:sp>
          <p:nvSpPr>
            <p:cNvPr id="78886" name="Freeform 47"/>
            <p:cNvSpPr>
              <a:spLocks/>
            </p:cNvSpPr>
            <p:nvPr/>
          </p:nvSpPr>
          <p:spPr bwMode="auto">
            <a:xfrm>
              <a:off x="2197100" y="2565400"/>
              <a:ext cx="2324100" cy="1892300"/>
            </a:xfrm>
            <a:custGeom>
              <a:avLst/>
              <a:gdLst>
                <a:gd name="T0" fmla="*/ 0 w 3124200"/>
                <a:gd name="T1" fmla="*/ 0 h 2514600"/>
                <a:gd name="T2" fmla="*/ 1728904 w 3124200"/>
                <a:gd name="T3" fmla="*/ 1424003 h 2514600"/>
                <a:gd name="T4" fmla="*/ 0 60000 65536"/>
                <a:gd name="T5" fmla="*/ 0 60000 65536"/>
                <a:gd name="T6" fmla="*/ 0 w 3124200"/>
                <a:gd name="T7" fmla="*/ 0 h 2514600"/>
                <a:gd name="T8" fmla="*/ 3124200 w 3124200"/>
                <a:gd name="T9" fmla="*/ 2514600 h 25146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24200" h="2514600">
                  <a:moveTo>
                    <a:pt x="0" y="0"/>
                  </a:moveTo>
                  <a:cubicBezTo>
                    <a:pt x="440267" y="1337733"/>
                    <a:pt x="1045634" y="2357967"/>
                    <a:pt x="3124200" y="2514600"/>
                  </a:cubicBez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887" name="Text Box 8"/>
            <p:cNvSpPr txBox="1">
              <a:spLocks noChangeArrowheads="1"/>
            </p:cNvSpPr>
            <p:nvPr/>
          </p:nvSpPr>
          <p:spPr bwMode="auto">
            <a:xfrm>
              <a:off x="4485142" y="4396973"/>
              <a:ext cx="4363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U</a:t>
              </a:r>
              <a:r>
                <a:rPr lang="en-US" altLang="en-US" sz="1800" i="1" baseline="-25000" dirty="0">
                  <a:solidFill>
                    <a:srgbClr val="C00000"/>
                  </a:solidFill>
                </a:rPr>
                <a:t>1</a:t>
              </a:r>
            </a:p>
          </p:txBody>
        </p:sp>
      </p:grpSp>
      <p:grpSp>
        <p:nvGrpSpPr>
          <p:cNvPr id="12" name="Group 83"/>
          <p:cNvGrpSpPr>
            <a:grpSpLocks/>
          </p:cNvGrpSpPr>
          <p:nvPr/>
        </p:nvGrpSpPr>
        <p:grpSpPr bwMode="auto">
          <a:xfrm>
            <a:off x="1958975" y="3424238"/>
            <a:ext cx="1089025" cy="369887"/>
            <a:chOff x="1640341" y="3424516"/>
            <a:chExt cx="1089054" cy="369332"/>
          </a:xfrm>
        </p:grpSpPr>
        <p:grpSp>
          <p:nvGrpSpPr>
            <p:cNvPr id="78882" name="Group 68"/>
            <p:cNvGrpSpPr>
              <a:grpSpLocks/>
            </p:cNvGrpSpPr>
            <p:nvPr/>
          </p:nvGrpSpPr>
          <p:grpSpPr bwMode="auto">
            <a:xfrm>
              <a:off x="1943100" y="3568594"/>
              <a:ext cx="786295" cy="76200"/>
              <a:chOff x="1943100" y="3568594"/>
              <a:chExt cx="786295" cy="76200"/>
            </a:xfrm>
          </p:grpSpPr>
          <p:cxnSp>
            <p:nvCxnSpPr>
              <p:cNvPr id="78884" name="Straight Connector 52"/>
              <p:cNvCxnSpPr>
                <a:cxnSpLocks noChangeShapeType="1"/>
              </p:cNvCxnSpPr>
              <p:nvPr/>
            </p:nvCxnSpPr>
            <p:spPr bwMode="auto">
              <a:xfrm rot="10800000">
                <a:off x="1943100" y="3606800"/>
                <a:ext cx="7493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8885" name="Oval 12"/>
              <p:cNvSpPr>
                <a:spLocks noChangeArrowheads="1"/>
              </p:cNvSpPr>
              <p:nvPr/>
            </p:nvSpPr>
            <p:spPr bwMode="auto">
              <a:xfrm>
                <a:off x="2653195" y="3568594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78883" name="Text Box 8"/>
            <p:cNvSpPr txBox="1">
              <a:spLocks noChangeArrowheads="1"/>
            </p:cNvSpPr>
            <p:nvPr/>
          </p:nvSpPr>
          <p:spPr bwMode="auto">
            <a:xfrm>
              <a:off x="1640341" y="3424516"/>
              <a:ext cx="385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i="1" baseline="-25000"/>
                <a:t>2</a:t>
              </a:r>
            </a:p>
          </p:txBody>
        </p:sp>
      </p:grpSp>
      <p:grpSp>
        <p:nvGrpSpPr>
          <p:cNvPr id="14" name="Group 82"/>
          <p:cNvGrpSpPr>
            <a:grpSpLocks/>
          </p:cNvGrpSpPr>
          <p:nvPr/>
        </p:nvGrpSpPr>
        <p:grpSpPr bwMode="auto">
          <a:xfrm>
            <a:off x="1958975" y="3816350"/>
            <a:ext cx="2500313" cy="369888"/>
            <a:chOff x="1640341" y="3816402"/>
            <a:chExt cx="2500378" cy="369332"/>
          </a:xfrm>
        </p:grpSpPr>
        <p:grpSp>
          <p:nvGrpSpPr>
            <p:cNvPr id="78878" name="Group 69"/>
            <p:cNvGrpSpPr>
              <a:grpSpLocks/>
            </p:cNvGrpSpPr>
            <p:nvPr/>
          </p:nvGrpSpPr>
          <p:grpSpPr bwMode="auto">
            <a:xfrm>
              <a:off x="1968500" y="3909508"/>
              <a:ext cx="2172219" cy="76200"/>
              <a:chOff x="1968500" y="3909508"/>
              <a:chExt cx="2172219" cy="76200"/>
            </a:xfrm>
          </p:grpSpPr>
          <p:cxnSp>
            <p:nvCxnSpPr>
              <p:cNvPr id="78880" name="Straight Connector 50"/>
              <p:cNvCxnSpPr>
                <a:cxnSpLocks noChangeShapeType="1"/>
              </p:cNvCxnSpPr>
              <p:nvPr/>
            </p:nvCxnSpPr>
            <p:spPr bwMode="auto">
              <a:xfrm rot="10800000">
                <a:off x="1968500" y="3949700"/>
                <a:ext cx="21209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8881" name="Oval 12"/>
              <p:cNvSpPr>
                <a:spLocks noChangeArrowheads="1"/>
              </p:cNvSpPr>
              <p:nvPr/>
            </p:nvSpPr>
            <p:spPr bwMode="auto">
              <a:xfrm>
                <a:off x="4064519" y="3909508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78879" name="Text Box 8"/>
            <p:cNvSpPr txBox="1">
              <a:spLocks noChangeArrowheads="1"/>
            </p:cNvSpPr>
            <p:nvPr/>
          </p:nvSpPr>
          <p:spPr bwMode="auto">
            <a:xfrm>
              <a:off x="1640341" y="3816402"/>
              <a:ext cx="385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i="1" baseline="-25000"/>
                <a:t>0</a:t>
              </a:r>
            </a:p>
          </p:txBody>
        </p:sp>
      </p:grpSp>
      <p:grpSp>
        <p:nvGrpSpPr>
          <p:cNvPr id="16" name="Group 87"/>
          <p:cNvGrpSpPr>
            <a:grpSpLocks/>
          </p:cNvGrpSpPr>
          <p:nvPr/>
        </p:nvGrpSpPr>
        <p:grpSpPr bwMode="auto">
          <a:xfrm>
            <a:off x="217488" y="1509713"/>
            <a:ext cx="812800" cy="1335087"/>
            <a:chOff x="-101598" y="1509487"/>
            <a:chExt cx="812794" cy="1335314"/>
          </a:xfrm>
        </p:grpSpPr>
        <p:sp>
          <p:nvSpPr>
            <p:cNvPr id="78876" name="Left Brace 85"/>
            <p:cNvSpPr>
              <a:spLocks/>
            </p:cNvSpPr>
            <p:nvPr/>
          </p:nvSpPr>
          <p:spPr bwMode="auto">
            <a:xfrm>
              <a:off x="377368" y="1509487"/>
              <a:ext cx="333828" cy="1335314"/>
            </a:xfrm>
            <a:prstGeom prst="leftBrace">
              <a:avLst>
                <a:gd name="adj1" fmla="val 31870"/>
                <a:gd name="adj2" fmla="val 50000"/>
              </a:avLst>
            </a:prstGeom>
            <a:noFill/>
            <a:ln w="28575" algn="ctr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marL="342900" indent="-3429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FontTx/>
                <a:buChar char="•"/>
              </a:pPr>
              <a:endParaRPr lang="en-US" altLang="en-US"/>
            </a:p>
          </p:txBody>
        </p:sp>
        <p:sp>
          <p:nvSpPr>
            <p:cNvPr id="78877" name="Text Box 8"/>
            <p:cNvSpPr txBox="1">
              <a:spLocks noChangeArrowheads="1"/>
            </p:cNvSpPr>
            <p:nvPr/>
          </p:nvSpPr>
          <p:spPr bwMode="auto">
            <a:xfrm>
              <a:off x="-101598" y="1958574"/>
              <a:ext cx="5052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CV</a:t>
              </a:r>
              <a:endParaRPr lang="en-US" altLang="en-US" sz="1800" i="1" baseline="-250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7" name="Group 89"/>
          <p:cNvGrpSpPr>
            <a:grpSpLocks/>
          </p:cNvGrpSpPr>
          <p:nvPr/>
        </p:nvGrpSpPr>
        <p:grpSpPr bwMode="auto">
          <a:xfrm>
            <a:off x="966788" y="1397000"/>
            <a:ext cx="3937000" cy="3492500"/>
            <a:chOff x="967008" y="1397000"/>
            <a:chExt cx="3937000" cy="3492500"/>
          </a:xfrm>
        </p:grpSpPr>
        <p:grpSp>
          <p:nvGrpSpPr>
            <p:cNvPr id="78872" name="Group 45"/>
            <p:cNvGrpSpPr>
              <a:grpSpLocks/>
            </p:cNvGrpSpPr>
            <p:nvPr/>
          </p:nvGrpSpPr>
          <p:grpSpPr bwMode="auto">
            <a:xfrm>
              <a:off x="967008" y="1397000"/>
              <a:ext cx="3937000" cy="3492500"/>
              <a:chOff x="647700" y="1397000"/>
              <a:chExt cx="3937000" cy="3492500"/>
            </a:xfrm>
          </p:grpSpPr>
          <p:cxnSp>
            <p:nvCxnSpPr>
              <p:cNvPr id="78874" name="Straight Connector 38"/>
              <p:cNvCxnSpPr>
                <a:cxnSpLocks noChangeShapeType="1"/>
              </p:cNvCxnSpPr>
              <p:nvPr/>
            </p:nvCxnSpPr>
            <p:spPr bwMode="auto">
              <a:xfrm rot="16200000" flipH="1">
                <a:off x="1638300" y="1943100"/>
                <a:ext cx="3327400" cy="2565400"/>
              </a:xfrm>
              <a:prstGeom prst="line">
                <a:avLst/>
              </a:prstGeom>
              <a:noFill/>
              <a:ln w="38100" algn="ctr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8875" name="TextBox 41"/>
              <p:cNvSpPr txBox="1">
                <a:spLocks noChangeArrowheads="1"/>
              </p:cNvSpPr>
              <p:nvPr/>
            </p:nvSpPr>
            <p:spPr bwMode="auto">
              <a:xfrm>
                <a:off x="647700" y="1397000"/>
                <a:ext cx="135626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99"/>
                    </a:solidFill>
                  </a:rPr>
                  <a:t>E(p</a:t>
                </a:r>
                <a:r>
                  <a:rPr lang="en-US" altLang="en-US" sz="1800" baseline="30000">
                    <a:solidFill>
                      <a:srgbClr val="000099"/>
                    </a:solidFill>
                  </a:rPr>
                  <a:t>1</a:t>
                </a:r>
                <a:r>
                  <a:rPr lang="en-US" altLang="en-US" sz="1800" baseline="-25000">
                    <a:solidFill>
                      <a:srgbClr val="000099"/>
                    </a:solidFill>
                  </a:rPr>
                  <a:t>x</a:t>
                </a:r>
                <a:r>
                  <a:rPr lang="en-US" altLang="en-US" sz="1800">
                    <a:solidFill>
                      <a:srgbClr val="000099"/>
                    </a:solidFill>
                  </a:rPr>
                  <a:t>,p</a:t>
                </a:r>
                <a:r>
                  <a:rPr lang="en-US" altLang="en-US" sz="1800" baseline="-25000">
                    <a:solidFill>
                      <a:srgbClr val="000099"/>
                    </a:solidFill>
                  </a:rPr>
                  <a:t>y</a:t>
                </a:r>
                <a:r>
                  <a:rPr lang="en-US" altLang="en-US" sz="1800">
                    <a:solidFill>
                      <a:srgbClr val="000099"/>
                    </a:solidFill>
                  </a:rPr>
                  <a:t>,U</a:t>
                </a:r>
                <a:r>
                  <a:rPr lang="en-US" altLang="en-US" sz="1800" baseline="-25000">
                    <a:solidFill>
                      <a:srgbClr val="000099"/>
                    </a:solidFill>
                  </a:rPr>
                  <a:t>0</a:t>
                </a:r>
                <a:r>
                  <a:rPr lang="en-US" altLang="en-US" sz="1800">
                    <a:solidFill>
                      <a:srgbClr val="000099"/>
                    </a:solidFill>
                  </a:rPr>
                  <a:t>)</a:t>
                </a:r>
                <a:endParaRPr lang="en-US" altLang="en-US" sz="1800"/>
              </a:p>
            </p:txBody>
          </p:sp>
        </p:grpSp>
        <p:sp>
          <p:nvSpPr>
            <p:cNvPr id="78873" name="TextBox 88"/>
            <p:cNvSpPr txBox="1">
              <a:spLocks noChangeArrowheads="1"/>
            </p:cNvSpPr>
            <p:nvPr/>
          </p:nvSpPr>
          <p:spPr bwMode="auto">
            <a:xfrm>
              <a:off x="2556322" y="1505858"/>
              <a:ext cx="13562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E(p</a:t>
              </a:r>
              <a:r>
                <a:rPr lang="en-US" altLang="en-US" sz="1800" baseline="30000">
                  <a:solidFill>
                    <a:srgbClr val="000099"/>
                  </a:solidFill>
                </a:rPr>
                <a:t>1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800">
                  <a:solidFill>
                    <a:srgbClr val="000099"/>
                  </a:solidFill>
                </a:rPr>
                <a:t>,p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y</a:t>
              </a:r>
              <a:r>
                <a:rPr lang="en-US" altLang="en-US" sz="1800">
                  <a:solidFill>
                    <a:srgbClr val="000099"/>
                  </a:solidFill>
                </a:rPr>
                <a:t>,U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0</a:t>
              </a:r>
              <a:r>
                <a:rPr lang="en-US" altLang="en-US" sz="1800">
                  <a:solidFill>
                    <a:srgbClr val="000099"/>
                  </a:solidFill>
                </a:rPr>
                <a:t>)</a:t>
              </a:r>
              <a:endParaRPr lang="en-US" altLang="en-US" sz="1800"/>
            </a:p>
          </p:txBody>
        </p:sp>
      </p:grpSp>
      <p:grpSp>
        <p:nvGrpSpPr>
          <p:cNvPr id="19" name="Group 84"/>
          <p:cNvGrpSpPr>
            <a:grpSpLocks/>
          </p:cNvGrpSpPr>
          <p:nvPr/>
        </p:nvGrpSpPr>
        <p:grpSpPr bwMode="auto">
          <a:xfrm>
            <a:off x="1958975" y="3040063"/>
            <a:ext cx="1776413" cy="369887"/>
            <a:chOff x="1640341" y="3039888"/>
            <a:chExt cx="1775959" cy="369332"/>
          </a:xfrm>
        </p:grpSpPr>
        <p:grpSp>
          <p:nvGrpSpPr>
            <p:cNvPr id="78868" name="Group 67"/>
            <p:cNvGrpSpPr>
              <a:grpSpLocks/>
            </p:cNvGrpSpPr>
            <p:nvPr/>
          </p:nvGrpSpPr>
          <p:grpSpPr bwMode="auto">
            <a:xfrm>
              <a:off x="1993900" y="3247182"/>
              <a:ext cx="1422400" cy="76200"/>
              <a:chOff x="1993900" y="3247182"/>
              <a:chExt cx="1422400" cy="76200"/>
            </a:xfrm>
          </p:grpSpPr>
          <p:cxnSp>
            <p:nvCxnSpPr>
              <p:cNvPr id="78870" name="Straight Connector 49"/>
              <p:cNvCxnSpPr>
                <a:cxnSpLocks noChangeShapeType="1"/>
              </p:cNvCxnSpPr>
              <p:nvPr/>
            </p:nvCxnSpPr>
            <p:spPr bwMode="auto">
              <a:xfrm rot="10800000">
                <a:off x="1993900" y="3289300"/>
                <a:ext cx="14224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8871" name="Oval 12"/>
              <p:cNvSpPr>
                <a:spLocks noChangeArrowheads="1"/>
              </p:cNvSpPr>
              <p:nvPr/>
            </p:nvSpPr>
            <p:spPr bwMode="auto">
              <a:xfrm>
                <a:off x="3337189" y="3247182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78869" name="Text Box 8"/>
            <p:cNvSpPr txBox="1">
              <a:spLocks noChangeArrowheads="1"/>
            </p:cNvSpPr>
            <p:nvPr/>
          </p:nvSpPr>
          <p:spPr bwMode="auto">
            <a:xfrm>
              <a:off x="1640341" y="3039888"/>
              <a:ext cx="385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i="1" baseline="-2500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077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 67"/>
          <p:cNvSpPr/>
          <p:nvPr/>
        </p:nvSpPr>
        <p:spPr bwMode="auto">
          <a:xfrm>
            <a:off x="2308225" y="3005138"/>
            <a:ext cx="2074863" cy="550862"/>
          </a:xfrm>
          <a:custGeom>
            <a:avLst/>
            <a:gdLst>
              <a:gd name="connsiteX0" fmla="*/ 0 w 2075543"/>
              <a:gd name="connsiteY0" fmla="*/ 0 h 551543"/>
              <a:gd name="connsiteX1" fmla="*/ 1364343 w 2075543"/>
              <a:gd name="connsiteY1" fmla="*/ 14514 h 551543"/>
              <a:gd name="connsiteX2" fmla="*/ 2075543 w 2075543"/>
              <a:gd name="connsiteY2" fmla="*/ 537029 h 551543"/>
              <a:gd name="connsiteX3" fmla="*/ 14515 w 2075543"/>
              <a:gd name="connsiteY3" fmla="*/ 551543 h 551543"/>
              <a:gd name="connsiteX4" fmla="*/ 0 w 2075543"/>
              <a:gd name="connsiteY4" fmla="*/ 0 h 55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5543" h="551543">
                <a:moveTo>
                  <a:pt x="0" y="0"/>
                </a:moveTo>
                <a:lnTo>
                  <a:pt x="1364343" y="14514"/>
                </a:lnTo>
                <a:lnTo>
                  <a:pt x="2075543" y="537029"/>
                </a:lnTo>
                <a:lnTo>
                  <a:pt x="14515" y="5515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marL="342900" indent="-342900" algn="ctr">
              <a:spcBef>
                <a:spcPct val="20000"/>
              </a:spcBef>
              <a:buFontTx/>
              <a:buChar char="•"/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9875" name="Title 1"/>
          <p:cNvSpPr>
            <a:spLocks noGrp="1"/>
          </p:cNvSpPr>
          <p:nvPr>
            <p:ph type="title"/>
          </p:nvPr>
        </p:nvSpPr>
        <p:spPr bwMode="auto">
          <a:xfrm>
            <a:off x="1143000" y="-1"/>
            <a:ext cx="8001000" cy="1058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5.8 </a:t>
            </a:r>
            <a:r>
              <a:rPr lang="en-US" altLang="en-US" dirty="0"/>
              <a:t>	Showing Compensating Variation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(b) Compensated demand curve</a:t>
            </a:r>
          </a:p>
        </p:txBody>
      </p:sp>
      <p:sp>
        <p:nvSpPr>
          <p:cNvPr id="79876" name="Text Placeholder 2"/>
          <p:cNvSpPr>
            <a:spLocks noGrp="1"/>
          </p:cNvSpPr>
          <p:nvPr>
            <p:ph sz="half" idx="1"/>
          </p:nvPr>
        </p:nvSpPr>
        <p:spPr>
          <a:xfrm>
            <a:off x="31110" y="5455709"/>
            <a:ext cx="9112889" cy="899054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en-US" sz="1600" dirty="0"/>
              <a:t>If the price of x increases from p</a:t>
            </a:r>
            <a:r>
              <a:rPr lang="en-US" altLang="en-US" sz="1600" baseline="30000" dirty="0"/>
              <a:t>0</a:t>
            </a:r>
            <a:r>
              <a:rPr lang="en-US" altLang="en-US" sz="1600" baseline="-25000" dirty="0"/>
              <a:t>x</a:t>
            </a:r>
            <a:r>
              <a:rPr lang="en-US" altLang="en-US" sz="1600" dirty="0"/>
              <a:t> to p</a:t>
            </a:r>
            <a:r>
              <a:rPr lang="en-US" altLang="en-US" sz="1600" baseline="30000" dirty="0"/>
              <a:t>1</a:t>
            </a:r>
            <a:r>
              <a:rPr lang="en-US" altLang="en-US" sz="1600" baseline="-25000" dirty="0"/>
              <a:t>x</a:t>
            </a:r>
            <a:r>
              <a:rPr lang="en-US" altLang="en-US" sz="1600" dirty="0"/>
              <a:t>, this person needs extra expenditures of CV to remain on the U</a:t>
            </a:r>
            <a:r>
              <a:rPr lang="en-US" altLang="en-US" sz="1600" baseline="-25000" dirty="0"/>
              <a:t>0</a:t>
            </a:r>
            <a:r>
              <a:rPr lang="en-US" altLang="en-US" sz="1600" dirty="0"/>
              <a:t> indifference curve. Integration shows that CV can also be represented by the shaded area below the compensated demand curve in panel (b).</a:t>
            </a:r>
          </a:p>
          <a:p>
            <a:pPr>
              <a:spcBef>
                <a:spcPct val="0"/>
              </a:spcBef>
            </a:pPr>
            <a:endParaRPr lang="en-US" altLang="en-US" sz="1600" dirty="0" smtClean="0"/>
          </a:p>
        </p:txBody>
      </p:sp>
      <p:sp>
        <p:nvSpPr>
          <p:cNvPr id="79878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CF4264-DDEA-4910-B659-60937E66C21F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152525" y="722313"/>
            <a:ext cx="7200900" cy="4918075"/>
            <a:chOff x="642762" y="722085"/>
            <a:chExt cx="7200243" cy="4917747"/>
          </a:xfrm>
        </p:grpSpPr>
        <p:grpSp>
          <p:nvGrpSpPr>
            <p:cNvPr id="79906" name="Group 29"/>
            <p:cNvGrpSpPr>
              <a:grpSpLocks/>
            </p:cNvGrpSpPr>
            <p:nvPr/>
          </p:nvGrpSpPr>
          <p:grpSpPr bwMode="auto">
            <a:xfrm>
              <a:off x="1803400" y="1181099"/>
              <a:ext cx="5753100" cy="4086225"/>
              <a:chOff x="1816100" y="1600199"/>
              <a:chExt cx="5753100" cy="4086225"/>
            </a:xfrm>
          </p:grpSpPr>
          <p:sp>
            <p:nvSpPr>
              <p:cNvPr id="79909" name="Line 3"/>
              <p:cNvSpPr>
                <a:spLocks noChangeShapeType="1"/>
              </p:cNvSpPr>
              <p:nvPr/>
            </p:nvSpPr>
            <p:spPr bwMode="auto">
              <a:xfrm>
                <a:off x="1816100" y="1600199"/>
                <a:ext cx="0" cy="40862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9910" name="Line 3"/>
              <p:cNvSpPr>
                <a:spLocks noChangeShapeType="1"/>
              </p:cNvSpPr>
              <p:nvPr/>
            </p:nvSpPr>
            <p:spPr bwMode="auto">
              <a:xfrm flipH="1" flipV="1">
                <a:off x="1828800" y="5661024"/>
                <a:ext cx="5740400" cy="158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9907" name="TextBox 30"/>
            <p:cNvSpPr txBox="1">
              <a:spLocks noChangeArrowheads="1"/>
            </p:cNvSpPr>
            <p:nvPr/>
          </p:nvSpPr>
          <p:spPr bwMode="auto">
            <a:xfrm>
              <a:off x="642762" y="722085"/>
              <a:ext cx="7104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Price</a:t>
              </a:r>
            </a:p>
          </p:txBody>
        </p:sp>
        <p:sp>
          <p:nvSpPr>
            <p:cNvPr id="79908" name="TextBox 31"/>
            <p:cNvSpPr txBox="1">
              <a:spLocks noChangeArrowheads="1"/>
            </p:cNvSpPr>
            <p:nvPr/>
          </p:nvSpPr>
          <p:spPr bwMode="auto">
            <a:xfrm>
              <a:off x="6363113" y="5270500"/>
              <a:ext cx="14798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1800"/>
                <a:t>Quantity of </a:t>
              </a:r>
              <a:r>
                <a:rPr lang="en-US" altLang="en-US" sz="1800" i="1"/>
                <a:t>x</a:t>
              </a:r>
              <a:endParaRPr lang="en-US" altLang="en-US" sz="1800"/>
            </a:p>
          </p:txBody>
        </p:sp>
      </p:grpSp>
      <p:grpSp>
        <p:nvGrpSpPr>
          <p:cNvPr id="5" name="Group 80"/>
          <p:cNvGrpSpPr>
            <a:grpSpLocks/>
          </p:cNvGrpSpPr>
          <p:nvPr/>
        </p:nvGrpSpPr>
        <p:grpSpPr bwMode="auto">
          <a:xfrm>
            <a:off x="3527425" y="1058863"/>
            <a:ext cx="384175" cy="4570412"/>
            <a:chOff x="3207885" y="1059547"/>
            <a:chExt cx="385042" cy="4570358"/>
          </a:xfrm>
        </p:grpSpPr>
        <p:cxnSp>
          <p:nvCxnSpPr>
            <p:cNvPr id="79904" name="Straight Connector 55"/>
            <p:cNvCxnSpPr>
              <a:cxnSpLocks noChangeShapeType="1"/>
            </p:cNvCxnSpPr>
            <p:nvPr/>
          </p:nvCxnSpPr>
          <p:spPr bwMode="auto">
            <a:xfrm rot="5400000">
              <a:off x="1273636" y="3151413"/>
              <a:ext cx="4185552" cy="181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905" name="Text Box 8"/>
            <p:cNvSpPr txBox="1">
              <a:spLocks noChangeArrowheads="1"/>
            </p:cNvSpPr>
            <p:nvPr/>
          </p:nvSpPr>
          <p:spPr bwMode="auto">
            <a:xfrm>
              <a:off x="3207885" y="5260573"/>
              <a:ext cx="385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i="1" baseline="-25000"/>
                <a:t>1</a:t>
              </a:r>
            </a:p>
          </p:txBody>
        </p:sp>
      </p:grpSp>
      <p:grpSp>
        <p:nvGrpSpPr>
          <p:cNvPr id="6" name="Group 81"/>
          <p:cNvGrpSpPr>
            <a:grpSpLocks/>
          </p:cNvGrpSpPr>
          <p:nvPr/>
        </p:nvGrpSpPr>
        <p:grpSpPr bwMode="auto">
          <a:xfrm>
            <a:off x="4187825" y="1190625"/>
            <a:ext cx="384175" cy="4438650"/>
            <a:chOff x="3868284" y="1190171"/>
            <a:chExt cx="385042" cy="4439734"/>
          </a:xfrm>
        </p:grpSpPr>
        <p:cxnSp>
          <p:nvCxnSpPr>
            <p:cNvPr id="79902" name="Straight Connector 57"/>
            <p:cNvCxnSpPr>
              <a:cxnSpLocks noChangeShapeType="1"/>
            </p:cNvCxnSpPr>
            <p:nvPr/>
          </p:nvCxnSpPr>
          <p:spPr bwMode="auto">
            <a:xfrm rot="5400000">
              <a:off x="2077361" y="3202211"/>
              <a:ext cx="4042229" cy="1814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903" name="Text Box 8"/>
            <p:cNvSpPr txBox="1">
              <a:spLocks noChangeArrowheads="1"/>
            </p:cNvSpPr>
            <p:nvPr/>
          </p:nvSpPr>
          <p:spPr bwMode="auto">
            <a:xfrm>
              <a:off x="3868284" y="5260573"/>
              <a:ext cx="385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i="1" baseline="-25000"/>
                <a:t>0</a:t>
              </a:r>
            </a:p>
          </p:txBody>
        </p:sp>
      </p:grpSp>
      <p:grpSp>
        <p:nvGrpSpPr>
          <p:cNvPr id="7" name="Group 79"/>
          <p:cNvGrpSpPr>
            <a:grpSpLocks/>
          </p:cNvGrpSpPr>
          <p:nvPr/>
        </p:nvGrpSpPr>
        <p:grpSpPr bwMode="auto">
          <a:xfrm>
            <a:off x="1779588" y="1320800"/>
            <a:ext cx="6696075" cy="3597275"/>
            <a:chOff x="1779349" y="1320577"/>
            <a:chExt cx="6696417" cy="3598128"/>
          </a:xfrm>
        </p:grpSpPr>
        <p:grpSp>
          <p:nvGrpSpPr>
            <p:cNvPr id="79898" name="Group 74"/>
            <p:cNvGrpSpPr>
              <a:grpSpLocks/>
            </p:cNvGrpSpPr>
            <p:nvPr/>
          </p:nvGrpSpPr>
          <p:grpSpPr bwMode="auto">
            <a:xfrm>
              <a:off x="2322286" y="1611085"/>
              <a:ext cx="6153480" cy="3307620"/>
              <a:chOff x="2002978" y="1611085"/>
              <a:chExt cx="6153480" cy="3307620"/>
            </a:xfrm>
          </p:grpSpPr>
          <p:sp>
            <p:nvSpPr>
              <p:cNvPr id="79900" name="Freeform 46"/>
              <p:cNvSpPr>
                <a:spLocks/>
              </p:cNvSpPr>
              <p:nvPr/>
            </p:nvSpPr>
            <p:spPr bwMode="auto">
              <a:xfrm>
                <a:off x="2002978" y="1611085"/>
                <a:ext cx="4804228" cy="3106057"/>
              </a:xfrm>
              <a:custGeom>
                <a:avLst/>
                <a:gdLst>
                  <a:gd name="T0" fmla="*/ 0 w 3124200"/>
                  <a:gd name="T1" fmla="*/ 0 h 2514600"/>
                  <a:gd name="T2" fmla="*/ 7387686 w 3124200"/>
                  <a:gd name="T3" fmla="*/ 3836629 h 2514600"/>
                  <a:gd name="T4" fmla="*/ 0 60000 65536"/>
                  <a:gd name="T5" fmla="*/ 0 60000 65536"/>
                  <a:gd name="T6" fmla="*/ 0 w 3124200"/>
                  <a:gd name="T7" fmla="*/ 0 h 2514600"/>
                  <a:gd name="T8" fmla="*/ 3124200 w 3124200"/>
                  <a:gd name="T9" fmla="*/ 2514600 h 25146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124200" h="2514600">
                    <a:moveTo>
                      <a:pt x="0" y="0"/>
                    </a:moveTo>
                    <a:cubicBezTo>
                      <a:pt x="157107" y="515200"/>
                      <a:pt x="1932869" y="2357967"/>
                      <a:pt x="3124200" y="2514600"/>
                    </a:cubicBezTo>
                  </a:path>
                </a:pathLst>
              </a:custGeom>
              <a:noFill/>
              <a:ln w="38100" cap="flat" cmpd="sng" algn="ctr">
                <a:solidFill>
                  <a:srgbClr val="000099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901" name="Text Box 8"/>
              <p:cNvSpPr txBox="1">
                <a:spLocks noChangeArrowheads="1"/>
              </p:cNvSpPr>
              <p:nvPr/>
            </p:nvSpPr>
            <p:spPr bwMode="auto">
              <a:xfrm>
                <a:off x="6771142" y="4549373"/>
                <a:ext cx="138531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99"/>
                    </a:solidFill>
                  </a:rPr>
                  <a:t>x</a:t>
                </a:r>
                <a:r>
                  <a:rPr lang="en-US" altLang="en-US" sz="1800" baseline="30000">
                    <a:solidFill>
                      <a:srgbClr val="000099"/>
                    </a:solidFill>
                  </a:rPr>
                  <a:t>c</a:t>
                </a:r>
                <a:r>
                  <a:rPr lang="en-US" altLang="en-US" sz="1800">
                    <a:solidFill>
                      <a:srgbClr val="000099"/>
                    </a:solidFill>
                  </a:rPr>
                  <a:t>(p</a:t>
                </a:r>
                <a:r>
                  <a:rPr lang="en-US" altLang="en-US" sz="1800" baseline="-25000">
                    <a:solidFill>
                      <a:srgbClr val="000099"/>
                    </a:solidFill>
                  </a:rPr>
                  <a:t>x</a:t>
                </a:r>
                <a:r>
                  <a:rPr lang="en-US" altLang="en-US" sz="1800">
                    <a:solidFill>
                      <a:srgbClr val="000099"/>
                    </a:solidFill>
                  </a:rPr>
                  <a:t>,…,U</a:t>
                </a:r>
                <a:r>
                  <a:rPr lang="en-US" altLang="en-US" sz="1800" baseline="-25000">
                    <a:solidFill>
                      <a:srgbClr val="000099"/>
                    </a:solidFill>
                  </a:rPr>
                  <a:t>0</a:t>
                </a:r>
                <a:r>
                  <a:rPr lang="en-US" altLang="en-US" sz="1800">
                    <a:solidFill>
                      <a:srgbClr val="000099"/>
                    </a:solidFill>
                  </a:rPr>
                  <a:t>)</a:t>
                </a:r>
                <a:endParaRPr lang="en-US" altLang="en-US" sz="1800" i="1" baseline="-25000">
                  <a:solidFill>
                    <a:srgbClr val="7B332D"/>
                  </a:solidFill>
                </a:endParaRPr>
              </a:p>
            </p:txBody>
          </p:sp>
        </p:grpSp>
        <p:sp>
          <p:nvSpPr>
            <p:cNvPr id="79899" name="Rectangle 58"/>
            <p:cNvSpPr>
              <a:spLocks noChangeArrowheads="1"/>
            </p:cNvSpPr>
            <p:nvPr/>
          </p:nvSpPr>
          <p:spPr bwMode="auto">
            <a:xfrm>
              <a:off x="1779349" y="1320577"/>
              <a:ext cx="4748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i="1" baseline="30000"/>
                <a:t>2</a:t>
              </a:r>
              <a:r>
                <a:rPr lang="en-US" altLang="en-US" sz="1800" i="1" baseline="-25000"/>
                <a:t>x</a:t>
              </a:r>
            </a:p>
          </p:txBody>
        </p:sp>
      </p:grpSp>
      <p:grpSp>
        <p:nvGrpSpPr>
          <p:cNvPr id="9" name="Group 75"/>
          <p:cNvGrpSpPr>
            <a:grpSpLocks/>
          </p:cNvGrpSpPr>
          <p:nvPr/>
        </p:nvGrpSpPr>
        <p:grpSpPr bwMode="auto">
          <a:xfrm>
            <a:off x="1843088" y="3194050"/>
            <a:ext cx="2963862" cy="585788"/>
            <a:chOff x="1843537" y="3193596"/>
            <a:chExt cx="2963640" cy="585746"/>
          </a:xfrm>
        </p:grpSpPr>
        <p:grpSp>
          <p:nvGrpSpPr>
            <p:cNvPr id="79892" name="Group 82"/>
            <p:cNvGrpSpPr>
              <a:grpSpLocks/>
            </p:cNvGrpSpPr>
            <p:nvPr/>
          </p:nvGrpSpPr>
          <p:grpSpPr bwMode="auto">
            <a:xfrm>
              <a:off x="1843537" y="3410010"/>
              <a:ext cx="2616490" cy="369332"/>
              <a:chOff x="1524229" y="3816402"/>
              <a:chExt cx="2616490" cy="369332"/>
            </a:xfrm>
          </p:grpSpPr>
          <p:grpSp>
            <p:nvGrpSpPr>
              <p:cNvPr id="79894" name="Group 69"/>
              <p:cNvGrpSpPr>
                <a:grpSpLocks/>
              </p:cNvGrpSpPr>
              <p:nvPr/>
            </p:nvGrpSpPr>
            <p:grpSpPr bwMode="auto">
              <a:xfrm>
                <a:off x="1968500" y="3909508"/>
                <a:ext cx="2172219" cy="76200"/>
                <a:chOff x="1968500" y="3909508"/>
                <a:chExt cx="2172219" cy="76200"/>
              </a:xfrm>
            </p:grpSpPr>
            <p:cxnSp>
              <p:nvCxnSpPr>
                <p:cNvPr id="79896" name="Straight Connector 50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1968500" y="3949700"/>
                  <a:ext cx="2120900" cy="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9897" name="Oval 12"/>
                <p:cNvSpPr>
                  <a:spLocks noChangeArrowheads="1"/>
                </p:cNvSpPr>
                <p:nvPr/>
              </p:nvSpPr>
              <p:spPr bwMode="auto">
                <a:xfrm>
                  <a:off x="4064519" y="3909508"/>
                  <a:ext cx="76200" cy="76200"/>
                </a:xfrm>
                <a:prstGeom prst="ellipse">
                  <a:avLst/>
                </a:prstGeom>
                <a:solidFill>
                  <a:schemeClr val="tx1"/>
                </a:solidFill>
                <a:ln w="158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  <p:sp>
            <p:nvSpPr>
              <p:cNvPr id="79895" name="Text Box 8"/>
              <p:cNvSpPr txBox="1">
                <a:spLocks noChangeArrowheads="1"/>
              </p:cNvSpPr>
              <p:nvPr/>
            </p:nvSpPr>
            <p:spPr bwMode="auto">
              <a:xfrm>
                <a:off x="1524229" y="3816402"/>
                <a:ext cx="47481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p</a:t>
                </a:r>
                <a:r>
                  <a:rPr lang="en-US" altLang="en-US" sz="1800" i="1" baseline="30000"/>
                  <a:t>0</a:t>
                </a:r>
                <a:r>
                  <a:rPr lang="en-US" altLang="en-US" sz="1800" i="1" baseline="-25000"/>
                  <a:t>x</a:t>
                </a:r>
              </a:p>
            </p:txBody>
          </p:sp>
        </p:grpSp>
        <p:sp>
          <p:nvSpPr>
            <p:cNvPr id="79893" name="Text Box 8"/>
            <p:cNvSpPr txBox="1">
              <a:spLocks noChangeArrowheads="1"/>
            </p:cNvSpPr>
            <p:nvPr/>
          </p:nvSpPr>
          <p:spPr bwMode="auto">
            <a:xfrm>
              <a:off x="4470627" y="3193596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A</a:t>
              </a:r>
            </a:p>
          </p:txBody>
        </p:sp>
      </p:grpSp>
      <p:grpSp>
        <p:nvGrpSpPr>
          <p:cNvPr id="12" name="Group 74"/>
          <p:cNvGrpSpPr>
            <a:grpSpLocks/>
          </p:cNvGrpSpPr>
          <p:nvPr/>
        </p:nvGrpSpPr>
        <p:grpSpPr bwMode="auto">
          <a:xfrm>
            <a:off x="1887538" y="2647950"/>
            <a:ext cx="2130425" cy="471488"/>
            <a:chOff x="1887079" y="2648002"/>
            <a:chExt cx="2131073" cy="470938"/>
          </a:xfrm>
        </p:grpSpPr>
        <p:grpSp>
          <p:nvGrpSpPr>
            <p:cNvPr id="79886" name="Group 84"/>
            <p:cNvGrpSpPr>
              <a:grpSpLocks/>
            </p:cNvGrpSpPr>
            <p:nvPr/>
          </p:nvGrpSpPr>
          <p:grpSpPr bwMode="auto">
            <a:xfrm>
              <a:off x="1887079" y="2749608"/>
              <a:ext cx="1848529" cy="369332"/>
              <a:chOff x="1567771" y="3039888"/>
              <a:chExt cx="1848529" cy="369332"/>
            </a:xfrm>
          </p:grpSpPr>
          <p:grpSp>
            <p:nvGrpSpPr>
              <p:cNvPr id="79888" name="Group 67"/>
              <p:cNvGrpSpPr>
                <a:grpSpLocks/>
              </p:cNvGrpSpPr>
              <p:nvPr/>
            </p:nvGrpSpPr>
            <p:grpSpPr bwMode="auto">
              <a:xfrm>
                <a:off x="1993900" y="3247182"/>
                <a:ext cx="1422400" cy="76200"/>
                <a:chOff x="1993900" y="3247182"/>
                <a:chExt cx="1422400" cy="76200"/>
              </a:xfrm>
            </p:grpSpPr>
            <p:cxnSp>
              <p:nvCxnSpPr>
                <p:cNvPr id="79890" name="Straight Connector 49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1993900" y="3289300"/>
                  <a:ext cx="1422400" cy="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9891" name="Oval 12"/>
                <p:cNvSpPr>
                  <a:spLocks noChangeArrowheads="1"/>
                </p:cNvSpPr>
                <p:nvPr/>
              </p:nvSpPr>
              <p:spPr bwMode="auto">
                <a:xfrm>
                  <a:off x="3337189" y="3247182"/>
                  <a:ext cx="76200" cy="76200"/>
                </a:xfrm>
                <a:prstGeom prst="ellipse">
                  <a:avLst/>
                </a:prstGeom>
                <a:solidFill>
                  <a:schemeClr val="tx1"/>
                </a:solidFill>
                <a:ln w="158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</p:grpSp>
          <p:sp>
            <p:nvSpPr>
              <p:cNvPr id="79889" name="Text Box 8"/>
              <p:cNvSpPr txBox="1">
                <a:spLocks noChangeArrowheads="1"/>
              </p:cNvSpPr>
              <p:nvPr/>
            </p:nvSpPr>
            <p:spPr bwMode="auto">
              <a:xfrm>
                <a:off x="1567771" y="3039888"/>
                <a:ext cx="47481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p</a:t>
                </a:r>
                <a:r>
                  <a:rPr lang="en-US" altLang="en-US" sz="1800" i="1" baseline="30000"/>
                  <a:t>1</a:t>
                </a:r>
                <a:r>
                  <a:rPr lang="en-US" altLang="en-US" sz="1800" i="1" baseline="-25000"/>
                  <a:t>x</a:t>
                </a:r>
              </a:p>
            </p:txBody>
          </p:sp>
        </p:grpSp>
        <p:sp>
          <p:nvSpPr>
            <p:cNvPr id="79887" name="Text Box 8"/>
            <p:cNvSpPr txBox="1">
              <a:spLocks noChangeArrowheads="1"/>
            </p:cNvSpPr>
            <p:nvPr/>
          </p:nvSpPr>
          <p:spPr bwMode="auto">
            <a:xfrm>
              <a:off x="3679598" y="2648002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884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9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6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Consumer Surplus</a:t>
            </a:r>
          </a:p>
        </p:txBody>
      </p:sp>
      <p:sp>
        <p:nvSpPr>
          <p:cNvPr id="2355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Using the compensated demand curve to show CV</a:t>
            </a:r>
          </a:p>
          <a:p>
            <a:pPr lvl="1"/>
            <a:r>
              <a:rPr lang="en-US" altLang="en-US" smtClean="0"/>
              <a:t>The derivative of the expenditure function with respect to 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x</a:t>
            </a:r>
            <a:r>
              <a:rPr lang="en-US" altLang="en-US" smtClean="0"/>
              <a:t> is the compensated demand function</a:t>
            </a:r>
          </a:p>
          <a:p>
            <a:endParaRPr lang="en-US" altLang="en-US" smtClean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689EC1F-A590-4233-93EE-36D3D6B707F0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graphicFrame>
        <p:nvGraphicFramePr>
          <p:cNvPr id="276484" name="Object 2"/>
          <p:cNvGraphicFramePr>
            <a:graphicFrameLocks noChangeAspect="1"/>
          </p:cNvGraphicFramePr>
          <p:nvPr/>
        </p:nvGraphicFramePr>
        <p:xfrm>
          <a:off x="1662113" y="3952875"/>
          <a:ext cx="4519612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6" name="Equation" r:id="rId3" imgW="1841400" imgH="457200" progId="Equation.DSMT4">
                  <p:embed/>
                </p:oleObj>
              </mc:Choice>
              <mc:Fallback>
                <p:oleObj name="Equation" r:id="rId3" imgW="1841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113" y="3952875"/>
                        <a:ext cx="4519612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104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Consumer Surplus</a:t>
            </a: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Using the compensated demand curve to show CV</a:t>
            </a:r>
          </a:p>
          <a:p>
            <a:pPr lvl="1"/>
            <a:r>
              <a:rPr lang="en-US" altLang="en-US" smtClean="0"/>
              <a:t>The amount of </a:t>
            </a:r>
            <a:r>
              <a:rPr lang="en-US" altLang="en-US" i="1" smtClean="0"/>
              <a:t>CV</a:t>
            </a:r>
            <a:r>
              <a:rPr lang="en-US" altLang="en-US" smtClean="0"/>
              <a:t> required: integrate across a sequence of small increments to price from 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x</a:t>
            </a:r>
            <a:r>
              <a:rPr lang="en-US" altLang="en-US" baseline="30000" smtClean="0"/>
              <a:t>0</a:t>
            </a:r>
            <a:r>
              <a:rPr lang="en-US" altLang="en-US" smtClean="0"/>
              <a:t> to 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x</a:t>
            </a:r>
            <a:r>
              <a:rPr lang="en-US" altLang="en-US" baseline="30000" smtClean="0"/>
              <a:t> </a:t>
            </a:r>
            <a:r>
              <a:rPr lang="en-US" altLang="en-US" smtClean="0"/>
              <a:t>  </a:t>
            </a:r>
          </a:p>
          <a:p>
            <a:pPr lvl="2"/>
            <a:r>
              <a:rPr lang="en-US" altLang="en-US" sz="2600" smtClean="0"/>
              <a:t>This integral is the area to the left of the compensated demand curve between </a:t>
            </a:r>
            <a:r>
              <a:rPr lang="en-US" altLang="en-US" sz="2600" i="1" smtClean="0"/>
              <a:t>p</a:t>
            </a:r>
            <a:r>
              <a:rPr lang="en-US" altLang="en-US" sz="2600" i="1" baseline="-25000" smtClean="0"/>
              <a:t>x</a:t>
            </a:r>
            <a:r>
              <a:rPr lang="en-US" altLang="en-US" sz="2600" baseline="30000" smtClean="0"/>
              <a:t>0</a:t>
            </a:r>
            <a:r>
              <a:rPr lang="en-US" altLang="en-US" sz="2600" smtClean="0"/>
              <a:t> and </a:t>
            </a:r>
            <a:r>
              <a:rPr lang="en-US" altLang="en-US" sz="2600" i="1" smtClean="0"/>
              <a:t>p</a:t>
            </a:r>
            <a:r>
              <a:rPr lang="en-US" altLang="en-US" sz="2600" i="1" baseline="-25000" smtClean="0"/>
              <a:t>x</a:t>
            </a:r>
            <a:r>
              <a:rPr lang="en-US" altLang="en-US" sz="2600" baseline="30000" smtClean="0"/>
              <a:t>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5909D40-12C6-4A23-BBEA-A40D498DC42F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graphicFrame>
        <p:nvGraphicFramePr>
          <p:cNvPr id="27750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282992"/>
              </p:ext>
            </p:extLst>
          </p:nvPr>
        </p:nvGraphicFramePr>
        <p:xfrm>
          <a:off x="952500" y="4775200"/>
          <a:ext cx="72390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42" name="Equation" r:id="rId3" imgW="3073320" imgH="533160" progId="Equation.DSMT4">
                  <p:embed/>
                </p:oleObj>
              </mc:Choice>
              <mc:Fallback>
                <p:oleObj name="Equation" r:id="rId3" imgW="307332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4775200"/>
                        <a:ext cx="72390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968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Consumer Surplus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Consumer surplus</a:t>
            </a:r>
          </a:p>
          <a:p>
            <a:pPr lvl="1"/>
            <a:r>
              <a:rPr lang="en-US" altLang="en-US" smtClean="0"/>
              <a:t>The area below the compensated demand curve and above the market price  </a:t>
            </a:r>
          </a:p>
          <a:p>
            <a:pPr lvl="1"/>
            <a:r>
              <a:rPr lang="en-US" altLang="en-US" smtClean="0"/>
              <a:t>The extra benefit the person receives by being able to make market transactions at the prevailing market price </a:t>
            </a:r>
            <a:endParaRPr lang="en-US" altLang="en-US" sz="2600" baseline="3000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DF9695-024C-4844-BC6E-55FA7A564A22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2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Consumer Surplus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Welfare changes and the Marshallian demand curve</a:t>
            </a:r>
            <a:endParaRPr lang="en-US" altLang="en-US" sz="2600" smtClean="0">
              <a:solidFill>
                <a:schemeClr val="tx1"/>
              </a:solidFill>
            </a:endParaRPr>
          </a:p>
          <a:p>
            <a:r>
              <a:rPr lang="en-US" altLang="en-US" smtClean="0"/>
              <a:t>Consumer surplus</a:t>
            </a:r>
          </a:p>
          <a:p>
            <a:pPr lvl="1"/>
            <a:r>
              <a:rPr lang="en-US" altLang="en-US" smtClean="0"/>
              <a:t>The area below the Marshallian demand curve and above price</a:t>
            </a:r>
          </a:p>
          <a:p>
            <a:pPr lvl="2"/>
            <a:r>
              <a:rPr lang="en-US" altLang="en-US" smtClean="0"/>
              <a:t>Shows what an individual would pay for the right to make voluntary transactions at this price</a:t>
            </a:r>
          </a:p>
          <a:p>
            <a:pPr lvl="1"/>
            <a:r>
              <a:rPr lang="en-US" altLang="en-US" smtClean="0"/>
              <a:t>Changes in consumer surplus measure the welfare effects of price changes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A9E202-58A8-46F9-B6BC-256B558BD7C7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6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 bwMode="auto">
          <a:xfrm>
            <a:off x="1143000" y="-1"/>
            <a:ext cx="8001000" cy="10565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5.9	Welfare Effects of Price Changes and the </a:t>
            </a: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Marshallian </a:t>
            </a:r>
            <a:r>
              <a:rPr lang="en-US" altLang="en-US" dirty="0">
                <a:solidFill>
                  <a:srgbClr val="002D56"/>
                </a:solidFill>
              </a:rPr>
              <a:t>Demand </a:t>
            </a:r>
            <a:r>
              <a:rPr lang="en-US" altLang="en-US" dirty="0" smtClean="0">
                <a:solidFill>
                  <a:srgbClr val="002D56"/>
                </a:solidFill>
              </a:rPr>
              <a:t>Curve</a:t>
            </a:r>
          </a:p>
        </p:txBody>
      </p:sp>
      <p:sp>
        <p:nvSpPr>
          <p:cNvPr id="82947" name="Text Placeholder 2"/>
          <p:cNvSpPr>
            <a:spLocks noGrp="1"/>
          </p:cNvSpPr>
          <p:nvPr>
            <p:ph sz="half" idx="1"/>
          </p:nvPr>
        </p:nvSpPr>
        <p:spPr>
          <a:xfrm>
            <a:off x="42862" y="4727616"/>
            <a:ext cx="9101137" cy="1641435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en-US" sz="1700" dirty="0"/>
              <a:t>The usual Marshallian (nominal income constant) demand curve for good x is x( </a:t>
            </a:r>
            <a:r>
              <a:rPr lang="en-US" altLang="en-US" sz="1700" dirty="0" err="1"/>
              <a:t>p</a:t>
            </a:r>
            <a:r>
              <a:rPr lang="en-US" altLang="en-US" sz="1700" baseline="-25000" dirty="0" err="1"/>
              <a:t>x</a:t>
            </a:r>
            <a:r>
              <a:rPr lang="en-US" altLang="en-US" sz="1700" dirty="0"/>
              <a:t>,…). Further, x</a:t>
            </a:r>
            <a:r>
              <a:rPr lang="en-US" altLang="en-US" sz="1700" baseline="30000" dirty="0"/>
              <a:t>c</a:t>
            </a:r>
            <a:r>
              <a:rPr lang="en-US" altLang="en-US" sz="1700" dirty="0"/>
              <a:t>(…, U</a:t>
            </a:r>
            <a:r>
              <a:rPr lang="en-US" altLang="en-US" sz="1700" baseline="-25000" dirty="0"/>
              <a:t>0</a:t>
            </a:r>
            <a:r>
              <a:rPr lang="en-US" altLang="en-US" sz="1700" dirty="0"/>
              <a:t>) and x</a:t>
            </a:r>
            <a:r>
              <a:rPr lang="en-US" altLang="en-US" sz="1700" baseline="30000" dirty="0"/>
              <a:t>c</a:t>
            </a:r>
            <a:r>
              <a:rPr lang="en-US" altLang="en-US" sz="1700" dirty="0"/>
              <a:t>(…, U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) denote the compensated demand curves associated with the utility levels experienced when p</a:t>
            </a:r>
            <a:r>
              <a:rPr lang="en-US" altLang="en-US" sz="1700" baseline="30000" dirty="0"/>
              <a:t>0</a:t>
            </a:r>
            <a:r>
              <a:rPr lang="en-US" altLang="en-US" sz="1700" baseline="-25000" dirty="0"/>
              <a:t>x</a:t>
            </a:r>
            <a:r>
              <a:rPr lang="en-US" altLang="en-US" sz="1700" dirty="0"/>
              <a:t> and p</a:t>
            </a:r>
            <a:r>
              <a:rPr lang="en-US" altLang="en-US" sz="1700" baseline="30000" dirty="0"/>
              <a:t>1</a:t>
            </a:r>
            <a:r>
              <a:rPr lang="en-US" altLang="en-US" sz="1700" baseline="-25000" dirty="0"/>
              <a:t>x</a:t>
            </a:r>
            <a:r>
              <a:rPr lang="en-US" altLang="en-US" sz="1700" dirty="0"/>
              <a:t>, respectively, prevail. The area to the left of x(</a:t>
            </a:r>
            <a:r>
              <a:rPr lang="en-US" altLang="en-US" sz="1700" dirty="0" err="1"/>
              <a:t>p</a:t>
            </a:r>
            <a:r>
              <a:rPr lang="en-US" altLang="en-US" sz="1700" baseline="-25000" dirty="0" err="1"/>
              <a:t>x</a:t>
            </a:r>
            <a:r>
              <a:rPr lang="en-US" altLang="en-US" sz="1700" dirty="0"/>
              <a:t>, …) between p</a:t>
            </a:r>
            <a:r>
              <a:rPr lang="en-US" altLang="en-US" sz="1700" baseline="30000" dirty="0"/>
              <a:t>0</a:t>
            </a:r>
            <a:r>
              <a:rPr lang="en-US" altLang="en-US" sz="1700" baseline="-25000" dirty="0"/>
              <a:t>x</a:t>
            </a:r>
            <a:r>
              <a:rPr lang="en-US" altLang="en-US" sz="1700" dirty="0"/>
              <a:t> and p</a:t>
            </a:r>
            <a:r>
              <a:rPr lang="en-US" altLang="en-US" sz="1700" baseline="30000" dirty="0"/>
              <a:t>1</a:t>
            </a:r>
            <a:r>
              <a:rPr lang="en-US" altLang="en-US" sz="1700" baseline="-25000" dirty="0"/>
              <a:t>x</a:t>
            </a:r>
            <a:r>
              <a:rPr lang="en-US" altLang="en-US" sz="1700" dirty="0"/>
              <a:t> is bounded by the similar areas to the left of the compensated demand curves. Hence for small changes in price, the area to the left of the Marshallian demand curve is a good measure of welfare loss</a:t>
            </a:r>
            <a:r>
              <a:rPr lang="en-US" altLang="en-US" sz="1700" dirty="0" smtClean="0"/>
              <a:t>.</a:t>
            </a:r>
            <a:endParaRPr lang="en-US" altLang="en-US" sz="1700" dirty="0"/>
          </a:p>
        </p:txBody>
      </p:sp>
      <p:sp>
        <p:nvSpPr>
          <p:cNvPr id="82949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F7C186-4605-4DBD-8366-13691978216E}" type="slidenum">
              <a:rPr lang="en-US" smtClean="0"/>
              <a:pPr>
                <a:defRPr/>
              </a:pPr>
              <a:t>69</a:t>
            </a:fld>
            <a:endParaRPr lang="en-US" dirty="0"/>
          </a:p>
        </p:txBody>
      </p:sp>
      <p:grpSp>
        <p:nvGrpSpPr>
          <p:cNvPr id="2" name="Group 87"/>
          <p:cNvGrpSpPr>
            <a:grpSpLocks/>
          </p:cNvGrpSpPr>
          <p:nvPr/>
        </p:nvGrpSpPr>
        <p:grpSpPr bwMode="auto">
          <a:xfrm>
            <a:off x="2112963" y="914400"/>
            <a:ext cx="4356100" cy="3797341"/>
            <a:chOff x="4559300" y="1122292"/>
            <a:chExt cx="4356100" cy="3796924"/>
          </a:xfrm>
        </p:grpSpPr>
        <p:grpSp>
          <p:nvGrpSpPr>
            <p:cNvPr id="82985" name="Group 85"/>
            <p:cNvGrpSpPr>
              <a:grpSpLocks/>
            </p:cNvGrpSpPr>
            <p:nvPr/>
          </p:nvGrpSpPr>
          <p:grpSpPr bwMode="auto">
            <a:xfrm>
              <a:off x="4991100" y="4552503"/>
              <a:ext cx="3924300" cy="366713"/>
              <a:chOff x="4991100" y="4552503"/>
              <a:chExt cx="3924300" cy="366713"/>
            </a:xfrm>
          </p:grpSpPr>
          <p:sp>
            <p:nvSpPr>
              <p:cNvPr id="82989" name="Line 6"/>
              <p:cNvSpPr>
                <a:spLocks noChangeShapeType="1"/>
              </p:cNvSpPr>
              <p:nvPr/>
            </p:nvSpPr>
            <p:spPr bwMode="auto">
              <a:xfrm>
                <a:off x="4991100" y="4572000"/>
                <a:ext cx="3505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2990" name="Text Box 10"/>
              <p:cNvSpPr txBox="1">
                <a:spLocks noChangeArrowheads="1"/>
              </p:cNvSpPr>
              <p:nvPr/>
            </p:nvSpPr>
            <p:spPr bwMode="auto">
              <a:xfrm>
                <a:off x="7448550" y="4552503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  <a:endParaRPr lang="en-US" altLang="en-US" sz="1800"/>
              </a:p>
            </p:txBody>
          </p:sp>
        </p:grpSp>
        <p:grpSp>
          <p:nvGrpSpPr>
            <p:cNvPr id="82986" name="Group 84"/>
            <p:cNvGrpSpPr>
              <a:grpSpLocks/>
            </p:cNvGrpSpPr>
            <p:nvPr/>
          </p:nvGrpSpPr>
          <p:grpSpPr bwMode="auto">
            <a:xfrm>
              <a:off x="4559300" y="1122292"/>
              <a:ext cx="431800" cy="3449708"/>
              <a:chOff x="4559300" y="1122292"/>
              <a:chExt cx="431800" cy="3449708"/>
            </a:xfrm>
          </p:grpSpPr>
          <p:sp>
            <p:nvSpPr>
              <p:cNvPr id="82987" name="Line 7"/>
              <p:cNvSpPr>
                <a:spLocks noChangeShapeType="1"/>
              </p:cNvSpPr>
              <p:nvPr/>
            </p:nvSpPr>
            <p:spPr bwMode="auto">
              <a:xfrm>
                <a:off x="4991100" y="1219200"/>
                <a:ext cx="0" cy="3352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2988" name="Text Box 11"/>
              <p:cNvSpPr txBox="1">
                <a:spLocks noChangeArrowheads="1"/>
              </p:cNvSpPr>
              <p:nvPr/>
            </p:nvSpPr>
            <p:spPr bwMode="auto">
              <a:xfrm>
                <a:off x="4559300" y="1122292"/>
                <a:ext cx="3873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 dirty="0" err="1"/>
                  <a:t>p</a:t>
                </a:r>
                <a:r>
                  <a:rPr lang="en-US" altLang="en-US" sz="1800" i="1" baseline="-25000" dirty="0" err="1"/>
                  <a:t>x</a:t>
                </a:r>
                <a:endParaRPr lang="en-US" altLang="en-US" sz="1800" baseline="-25000" dirty="0"/>
              </a:p>
            </p:txBody>
          </p:sp>
        </p:grpSp>
      </p:grpSp>
      <p:grpSp>
        <p:nvGrpSpPr>
          <p:cNvPr id="6" name="Group 79"/>
          <p:cNvGrpSpPr>
            <a:grpSpLocks/>
          </p:cNvGrpSpPr>
          <p:nvPr/>
        </p:nvGrpSpPr>
        <p:grpSpPr bwMode="auto">
          <a:xfrm>
            <a:off x="2055813" y="1970128"/>
            <a:ext cx="1552575" cy="368300"/>
            <a:chOff x="4502001" y="2177535"/>
            <a:chExt cx="1553154" cy="369332"/>
          </a:xfrm>
        </p:grpSpPr>
        <p:sp>
          <p:nvSpPr>
            <p:cNvPr id="82983" name="Line 36"/>
            <p:cNvSpPr>
              <a:spLocks noChangeShapeType="1"/>
            </p:cNvSpPr>
            <p:nvPr/>
          </p:nvSpPr>
          <p:spPr bwMode="auto">
            <a:xfrm flipH="1" flipV="1">
              <a:off x="5019854" y="2362199"/>
              <a:ext cx="1035301" cy="19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2984" name="Text Box 47"/>
            <p:cNvSpPr txBox="1">
              <a:spLocks noChangeArrowheads="1"/>
            </p:cNvSpPr>
            <p:nvPr/>
          </p:nvSpPr>
          <p:spPr bwMode="auto">
            <a:xfrm>
              <a:off x="4502001" y="2177535"/>
              <a:ext cx="6699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i="1" baseline="-25000"/>
                <a:t>x</a:t>
              </a:r>
              <a:r>
                <a:rPr lang="en-US" altLang="en-US" sz="1800" baseline="30000"/>
                <a:t>1</a:t>
              </a:r>
            </a:p>
          </p:txBody>
        </p:sp>
      </p:grpSp>
      <p:grpSp>
        <p:nvGrpSpPr>
          <p:cNvPr id="7" name="Group 81"/>
          <p:cNvGrpSpPr>
            <a:grpSpLocks/>
          </p:cNvGrpSpPr>
          <p:nvPr/>
        </p:nvGrpSpPr>
        <p:grpSpPr bwMode="auto">
          <a:xfrm>
            <a:off x="2055813" y="2800391"/>
            <a:ext cx="2516187" cy="369887"/>
            <a:chOff x="4502001" y="3110466"/>
            <a:chExt cx="2516335" cy="370367"/>
          </a:xfrm>
        </p:grpSpPr>
        <p:sp>
          <p:nvSpPr>
            <p:cNvPr id="82981" name="Line 42"/>
            <p:cNvSpPr>
              <a:spLocks noChangeShapeType="1"/>
            </p:cNvSpPr>
            <p:nvPr/>
          </p:nvSpPr>
          <p:spPr bwMode="auto">
            <a:xfrm flipH="1">
              <a:off x="4991100" y="3300823"/>
              <a:ext cx="2027236" cy="11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2982" name="Text Box 49"/>
            <p:cNvSpPr txBox="1">
              <a:spLocks noChangeArrowheads="1"/>
            </p:cNvSpPr>
            <p:nvPr/>
          </p:nvSpPr>
          <p:spPr bwMode="auto">
            <a:xfrm>
              <a:off x="4502001" y="3110466"/>
              <a:ext cx="657225" cy="370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i="1" baseline="-25000"/>
                <a:t>x</a:t>
              </a:r>
              <a:r>
                <a:rPr lang="en-US" altLang="en-US" sz="1800" baseline="30000"/>
                <a:t>0</a:t>
              </a:r>
            </a:p>
          </p:txBody>
        </p:sp>
      </p:grp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3006725" y="1644691"/>
            <a:ext cx="4054475" cy="2301875"/>
            <a:chOff x="3456" y="2064"/>
            <a:chExt cx="2554" cy="1450"/>
          </a:xfrm>
        </p:grpSpPr>
        <p:sp>
          <p:nvSpPr>
            <p:cNvPr id="82979" name="Freeform 33"/>
            <p:cNvSpPr>
              <a:spLocks/>
            </p:cNvSpPr>
            <p:nvPr/>
          </p:nvSpPr>
          <p:spPr bwMode="auto">
            <a:xfrm rot="632563">
              <a:off x="3456" y="2064"/>
              <a:ext cx="1728" cy="1104"/>
            </a:xfrm>
            <a:custGeom>
              <a:avLst/>
              <a:gdLst>
                <a:gd name="T0" fmla="*/ 0 w 1728"/>
                <a:gd name="T1" fmla="*/ 0 h 1104"/>
                <a:gd name="T2" fmla="*/ 624 w 1728"/>
                <a:gd name="T3" fmla="*/ 624 h 1104"/>
                <a:gd name="T4" fmla="*/ 1728 w 1728"/>
                <a:gd name="T5" fmla="*/ 1104 h 1104"/>
                <a:gd name="T6" fmla="*/ 0 60000 65536"/>
                <a:gd name="T7" fmla="*/ 0 60000 65536"/>
                <a:gd name="T8" fmla="*/ 0 60000 65536"/>
                <a:gd name="T9" fmla="*/ 0 w 1728"/>
                <a:gd name="T10" fmla="*/ 0 h 1104"/>
                <a:gd name="T11" fmla="*/ 1728 w 1728"/>
                <a:gd name="T12" fmla="*/ 1104 h 1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" h="1104">
                  <a:moveTo>
                    <a:pt x="0" y="0"/>
                  </a:moveTo>
                  <a:cubicBezTo>
                    <a:pt x="168" y="220"/>
                    <a:pt x="336" y="440"/>
                    <a:pt x="624" y="624"/>
                  </a:cubicBezTo>
                  <a:cubicBezTo>
                    <a:pt x="912" y="808"/>
                    <a:pt x="1320" y="956"/>
                    <a:pt x="1728" y="1104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2980" name="Text Box 46"/>
            <p:cNvSpPr txBox="1">
              <a:spLocks noChangeArrowheads="1"/>
            </p:cNvSpPr>
            <p:nvPr/>
          </p:nvSpPr>
          <p:spPr bwMode="auto">
            <a:xfrm>
              <a:off x="4988" y="3281"/>
              <a:ext cx="10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x</a:t>
              </a:r>
              <a:r>
                <a:rPr lang="en-US" altLang="en-US" sz="1800" i="1" baseline="30000" dirty="0">
                  <a:solidFill>
                    <a:srgbClr val="C00000"/>
                  </a:solidFill>
                </a:rPr>
                <a:t>c</a:t>
              </a:r>
              <a:r>
                <a:rPr lang="en-US" altLang="en-US" sz="1800" i="1" dirty="0">
                  <a:solidFill>
                    <a:srgbClr val="C00000"/>
                  </a:solidFill>
                </a:rPr>
                <a:t>(…,U</a:t>
              </a:r>
              <a:r>
                <a:rPr lang="en-US" altLang="en-US" sz="1800" i="1" baseline="-25000" dirty="0">
                  <a:solidFill>
                    <a:srgbClr val="C00000"/>
                  </a:solidFill>
                </a:rPr>
                <a:t>0</a:t>
              </a:r>
              <a:r>
                <a:rPr lang="en-US" altLang="en-US" sz="1800" i="1" dirty="0">
                  <a:solidFill>
                    <a:srgbClr val="C00000"/>
                  </a:solidFill>
                </a:rPr>
                <a:t>)</a:t>
              </a:r>
              <a:endParaRPr lang="en-US" altLang="en-US" sz="1800" baseline="300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9" name="Group 78"/>
          <p:cNvGrpSpPr>
            <a:grpSpLocks/>
          </p:cNvGrpSpPr>
          <p:nvPr/>
        </p:nvGrpSpPr>
        <p:grpSpPr bwMode="auto">
          <a:xfrm>
            <a:off x="4297363" y="2990891"/>
            <a:ext cx="479425" cy="1736725"/>
            <a:chOff x="6553200" y="3197405"/>
            <a:chExt cx="479425" cy="1737203"/>
          </a:xfrm>
        </p:grpSpPr>
        <p:sp>
          <p:nvSpPr>
            <p:cNvPr id="82977" name="Text Box 40"/>
            <p:cNvSpPr txBox="1">
              <a:spLocks noChangeArrowheads="1"/>
            </p:cNvSpPr>
            <p:nvPr/>
          </p:nvSpPr>
          <p:spPr bwMode="auto">
            <a:xfrm>
              <a:off x="6553200" y="4564991"/>
              <a:ext cx="479425" cy="3696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</a:t>
              </a:r>
              <a:r>
                <a:rPr lang="en-US" altLang="en-US" sz="1800" baseline="-25000"/>
                <a:t>0</a:t>
              </a:r>
            </a:p>
          </p:txBody>
        </p:sp>
        <p:sp>
          <p:nvSpPr>
            <p:cNvPr id="82978" name="Line 41"/>
            <p:cNvSpPr>
              <a:spLocks noChangeShapeType="1"/>
            </p:cNvSpPr>
            <p:nvPr/>
          </p:nvSpPr>
          <p:spPr bwMode="auto">
            <a:xfrm flipV="1">
              <a:off x="6799053" y="3197405"/>
              <a:ext cx="2158" cy="13872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0" name="Group 76"/>
          <p:cNvGrpSpPr>
            <a:grpSpLocks/>
          </p:cNvGrpSpPr>
          <p:nvPr/>
        </p:nvGrpSpPr>
        <p:grpSpPr bwMode="auto">
          <a:xfrm>
            <a:off x="3014663" y="2155866"/>
            <a:ext cx="479425" cy="2570162"/>
            <a:chOff x="5461000" y="2362201"/>
            <a:chExt cx="479425" cy="2572266"/>
          </a:xfrm>
        </p:grpSpPr>
        <p:sp>
          <p:nvSpPr>
            <p:cNvPr id="82975" name="Text Box 34"/>
            <p:cNvSpPr txBox="1">
              <a:spLocks noChangeArrowheads="1"/>
            </p:cNvSpPr>
            <p:nvPr/>
          </p:nvSpPr>
          <p:spPr bwMode="auto">
            <a:xfrm>
              <a:off x="5461000" y="4565135"/>
              <a:ext cx="4794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x</a:t>
              </a:r>
              <a:r>
                <a:rPr lang="en-US" altLang="en-US" sz="1800" baseline="-25000"/>
                <a:t>1</a:t>
              </a:r>
            </a:p>
          </p:txBody>
        </p:sp>
        <p:sp>
          <p:nvSpPr>
            <p:cNvPr id="82976" name="Line 35"/>
            <p:cNvSpPr>
              <a:spLocks noChangeShapeType="1"/>
            </p:cNvSpPr>
            <p:nvPr/>
          </p:nvSpPr>
          <p:spPr bwMode="auto">
            <a:xfrm flipV="1">
              <a:off x="5694153" y="2362201"/>
              <a:ext cx="0" cy="2209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1" name="Group 69"/>
          <p:cNvGrpSpPr>
            <a:grpSpLocks/>
          </p:cNvGrpSpPr>
          <p:nvPr/>
        </p:nvGrpSpPr>
        <p:grpSpPr bwMode="auto">
          <a:xfrm>
            <a:off x="2811463" y="1914566"/>
            <a:ext cx="4083050" cy="2417762"/>
            <a:chOff x="3456" y="2064"/>
            <a:chExt cx="2572" cy="1523"/>
          </a:xfrm>
        </p:grpSpPr>
        <p:sp>
          <p:nvSpPr>
            <p:cNvPr id="82973" name="Freeform 33"/>
            <p:cNvSpPr>
              <a:spLocks/>
            </p:cNvSpPr>
            <p:nvPr/>
          </p:nvSpPr>
          <p:spPr bwMode="auto">
            <a:xfrm rot="632563">
              <a:off x="3456" y="2064"/>
              <a:ext cx="1728" cy="1104"/>
            </a:xfrm>
            <a:custGeom>
              <a:avLst/>
              <a:gdLst>
                <a:gd name="T0" fmla="*/ 0 w 1728"/>
                <a:gd name="T1" fmla="*/ 0 h 1104"/>
                <a:gd name="T2" fmla="*/ 624 w 1728"/>
                <a:gd name="T3" fmla="*/ 624 h 1104"/>
                <a:gd name="T4" fmla="*/ 1728 w 1728"/>
                <a:gd name="T5" fmla="*/ 1104 h 1104"/>
                <a:gd name="T6" fmla="*/ 0 60000 65536"/>
                <a:gd name="T7" fmla="*/ 0 60000 65536"/>
                <a:gd name="T8" fmla="*/ 0 60000 65536"/>
                <a:gd name="T9" fmla="*/ 0 w 1728"/>
                <a:gd name="T10" fmla="*/ 0 h 1104"/>
                <a:gd name="T11" fmla="*/ 1728 w 1728"/>
                <a:gd name="T12" fmla="*/ 1104 h 1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8" h="1104">
                  <a:moveTo>
                    <a:pt x="0" y="0"/>
                  </a:moveTo>
                  <a:cubicBezTo>
                    <a:pt x="168" y="220"/>
                    <a:pt x="336" y="440"/>
                    <a:pt x="624" y="624"/>
                  </a:cubicBezTo>
                  <a:cubicBezTo>
                    <a:pt x="912" y="808"/>
                    <a:pt x="1320" y="956"/>
                    <a:pt x="1728" y="1104"/>
                  </a:cubicBez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2974" name="Text Box 46"/>
            <p:cNvSpPr txBox="1">
              <a:spLocks noChangeArrowheads="1"/>
            </p:cNvSpPr>
            <p:nvPr/>
          </p:nvSpPr>
          <p:spPr bwMode="auto">
            <a:xfrm>
              <a:off x="5006" y="3354"/>
              <a:ext cx="10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x</a:t>
              </a:r>
              <a:r>
                <a:rPr lang="en-US" altLang="en-US" sz="1800" i="1" baseline="30000" dirty="0">
                  <a:solidFill>
                    <a:srgbClr val="C00000"/>
                  </a:solidFill>
                </a:rPr>
                <a:t>c</a:t>
              </a:r>
              <a:r>
                <a:rPr lang="en-US" altLang="en-US" sz="1800" i="1" dirty="0">
                  <a:solidFill>
                    <a:srgbClr val="C00000"/>
                  </a:solidFill>
                </a:rPr>
                <a:t>(…,U</a:t>
              </a:r>
              <a:r>
                <a:rPr lang="en-US" altLang="en-US" sz="1800" i="1" baseline="-25000" dirty="0">
                  <a:solidFill>
                    <a:srgbClr val="C00000"/>
                  </a:solidFill>
                </a:rPr>
                <a:t>1</a:t>
              </a:r>
              <a:r>
                <a:rPr lang="en-US" altLang="en-US" sz="1800" i="1" dirty="0">
                  <a:solidFill>
                    <a:srgbClr val="C00000"/>
                  </a:solidFill>
                </a:rPr>
                <a:t>)</a:t>
              </a:r>
              <a:endParaRPr lang="en-US" altLang="en-US" sz="1800" baseline="300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2" name="Group 57"/>
          <p:cNvGrpSpPr>
            <a:grpSpLocks/>
          </p:cNvGrpSpPr>
          <p:nvPr/>
        </p:nvGrpSpPr>
        <p:grpSpPr bwMode="auto">
          <a:xfrm>
            <a:off x="2728913" y="1600241"/>
            <a:ext cx="6415087" cy="2068512"/>
            <a:chOff x="2801257" y="2162628"/>
            <a:chExt cx="6415314" cy="2067861"/>
          </a:xfrm>
        </p:grpSpPr>
        <p:sp>
          <p:nvSpPr>
            <p:cNvPr id="82971" name="Text Box 46"/>
            <p:cNvSpPr txBox="1">
              <a:spLocks noChangeArrowheads="1"/>
            </p:cNvSpPr>
            <p:nvPr/>
          </p:nvSpPr>
          <p:spPr bwMode="auto">
            <a:xfrm>
              <a:off x="6576558" y="3860601"/>
              <a:ext cx="264001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000099"/>
                  </a:solidFill>
                </a:rPr>
                <a:t>x(p</a:t>
              </a:r>
              <a:r>
                <a:rPr lang="en-US" altLang="en-US" sz="1800" i="1" baseline="-25000">
                  <a:solidFill>
                    <a:srgbClr val="000099"/>
                  </a:solidFill>
                </a:rPr>
                <a:t>x</a:t>
              </a:r>
              <a:r>
                <a:rPr lang="en-US" altLang="en-US" sz="1800" i="1">
                  <a:solidFill>
                    <a:srgbClr val="000099"/>
                  </a:solidFill>
                </a:rPr>
                <a:t>,…)</a:t>
              </a:r>
              <a:endParaRPr lang="en-US" altLang="en-US" sz="1800" baseline="30000">
                <a:solidFill>
                  <a:srgbClr val="000099"/>
                </a:solidFill>
              </a:endParaRPr>
            </a:p>
          </p:txBody>
        </p:sp>
        <p:sp>
          <p:nvSpPr>
            <p:cNvPr id="82972" name="Freeform 56"/>
            <p:cNvSpPr>
              <a:spLocks/>
            </p:cNvSpPr>
            <p:nvPr/>
          </p:nvSpPr>
          <p:spPr bwMode="auto">
            <a:xfrm>
              <a:off x="2801257" y="2162628"/>
              <a:ext cx="3556000" cy="2002972"/>
            </a:xfrm>
            <a:custGeom>
              <a:avLst/>
              <a:gdLst>
                <a:gd name="T0" fmla="*/ 0 w 4659086"/>
                <a:gd name="T1" fmla="*/ 0 h 1843314"/>
                <a:gd name="T2" fmla="*/ 2714082 w 4659086"/>
                <a:gd name="T3" fmla="*/ 2176459 h 1843314"/>
                <a:gd name="T4" fmla="*/ 0 60000 65536"/>
                <a:gd name="T5" fmla="*/ 0 60000 65536"/>
                <a:gd name="T6" fmla="*/ 0 w 4659086"/>
                <a:gd name="T7" fmla="*/ 0 h 1843314"/>
                <a:gd name="T8" fmla="*/ 4659086 w 4659086"/>
                <a:gd name="T9" fmla="*/ 1843314 h 184331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659086" h="1843314">
                  <a:moveTo>
                    <a:pt x="0" y="0"/>
                  </a:moveTo>
                  <a:cubicBezTo>
                    <a:pt x="1117601" y="1020838"/>
                    <a:pt x="2772229" y="1490133"/>
                    <a:pt x="4659086" y="1843314"/>
                  </a:cubicBezTo>
                </a:path>
              </a:pathLst>
            </a:custGeom>
            <a:noFill/>
            <a:ln w="28575" cap="flat" cmpd="sng" algn="ctr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Group 60"/>
          <p:cNvGrpSpPr>
            <a:grpSpLocks/>
          </p:cNvGrpSpPr>
          <p:nvPr/>
        </p:nvGrpSpPr>
        <p:grpSpPr bwMode="auto">
          <a:xfrm>
            <a:off x="4514850" y="2576553"/>
            <a:ext cx="454025" cy="449263"/>
            <a:chOff x="4702531" y="2917824"/>
            <a:chExt cx="452989" cy="448318"/>
          </a:xfrm>
        </p:grpSpPr>
        <p:sp>
          <p:nvSpPr>
            <p:cNvPr id="82969" name="Text Box 8"/>
            <p:cNvSpPr txBox="1">
              <a:spLocks noChangeArrowheads="1"/>
            </p:cNvSpPr>
            <p:nvPr/>
          </p:nvSpPr>
          <p:spPr bwMode="auto">
            <a:xfrm>
              <a:off x="4818970" y="2917824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A</a:t>
              </a:r>
            </a:p>
          </p:txBody>
        </p:sp>
        <p:sp>
          <p:nvSpPr>
            <p:cNvPr id="82970" name="Oval 45"/>
            <p:cNvSpPr>
              <a:spLocks noChangeArrowheads="1"/>
            </p:cNvSpPr>
            <p:nvPr/>
          </p:nvSpPr>
          <p:spPr bwMode="auto">
            <a:xfrm>
              <a:off x="4702531" y="3290001"/>
              <a:ext cx="76200" cy="76141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4" name="Group 61"/>
          <p:cNvGrpSpPr>
            <a:grpSpLocks/>
          </p:cNvGrpSpPr>
          <p:nvPr/>
        </p:nvGrpSpPr>
        <p:grpSpPr bwMode="auto">
          <a:xfrm>
            <a:off x="3582988" y="1733591"/>
            <a:ext cx="455612" cy="449262"/>
            <a:chOff x="4702531" y="2916515"/>
            <a:chExt cx="454993" cy="449627"/>
          </a:xfrm>
        </p:grpSpPr>
        <p:sp>
          <p:nvSpPr>
            <p:cNvPr id="82967" name="Text Box 8"/>
            <p:cNvSpPr txBox="1">
              <a:spLocks noChangeArrowheads="1"/>
            </p:cNvSpPr>
            <p:nvPr/>
          </p:nvSpPr>
          <p:spPr bwMode="auto">
            <a:xfrm>
              <a:off x="4818970" y="2916515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B</a:t>
              </a:r>
            </a:p>
          </p:txBody>
        </p:sp>
        <p:sp>
          <p:nvSpPr>
            <p:cNvPr id="82968" name="Oval 45"/>
            <p:cNvSpPr>
              <a:spLocks noChangeArrowheads="1"/>
            </p:cNvSpPr>
            <p:nvPr/>
          </p:nvSpPr>
          <p:spPr bwMode="auto">
            <a:xfrm>
              <a:off x="4702531" y="3290001"/>
              <a:ext cx="76200" cy="76141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5" name="Group 64"/>
          <p:cNvGrpSpPr>
            <a:grpSpLocks/>
          </p:cNvGrpSpPr>
          <p:nvPr/>
        </p:nvGrpSpPr>
        <p:grpSpPr bwMode="auto">
          <a:xfrm>
            <a:off x="2916238" y="2120941"/>
            <a:ext cx="382587" cy="396875"/>
            <a:chOff x="4395223" y="3290001"/>
            <a:chExt cx="383508" cy="397289"/>
          </a:xfrm>
        </p:grpSpPr>
        <p:sp>
          <p:nvSpPr>
            <p:cNvPr id="82965" name="Text Box 8"/>
            <p:cNvSpPr txBox="1">
              <a:spLocks noChangeArrowheads="1"/>
            </p:cNvSpPr>
            <p:nvPr/>
          </p:nvSpPr>
          <p:spPr bwMode="auto">
            <a:xfrm>
              <a:off x="4395223" y="3317958"/>
              <a:ext cx="3513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C</a:t>
              </a:r>
            </a:p>
          </p:txBody>
        </p:sp>
        <p:sp>
          <p:nvSpPr>
            <p:cNvPr id="82966" name="Oval 45"/>
            <p:cNvSpPr>
              <a:spLocks noChangeArrowheads="1"/>
            </p:cNvSpPr>
            <p:nvPr/>
          </p:nvSpPr>
          <p:spPr bwMode="auto">
            <a:xfrm>
              <a:off x="4702531" y="3290001"/>
              <a:ext cx="76200" cy="76141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6" name="Group 67"/>
          <p:cNvGrpSpPr>
            <a:grpSpLocks/>
          </p:cNvGrpSpPr>
          <p:nvPr/>
        </p:nvGrpSpPr>
        <p:grpSpPr bwMode="auto">
          <a:xfrm>
            <a:off x="3638550" y="2955966"/>
            <a:ext cx="374650" cy="401637"/>
            <a:chOff x="4404144" y="3290001"/>
            <a:chExt cx="374587" cy="401750"/>
          </a:xfrm>
        </p:grpSpPr>
        <p:sp>
          <p:nvSpPr>
            <p:cNvPr id="82963" name="Text Box 8"/>
            <p:cNvSpPr txBox="1">
              <a:spLocks noChangeArrowheads="1"/>
            </p:cNvSpPr>
            <p:nvPr/>
          </p:nvSpPr>
          <p:spPr bwMode="auto">
            <a:xfrm>
              <a:off x="4404144" y="3322419"/>
              <a:ext cx="3513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D</a:t>
              </a:r>
            </a:p>
          </p:txBody>
        </p:sp>
        <p:sp>
          <p:nvSpPr>
            <p:cNvPr id="82964" name="Oval 45"/>
            <p:cNvSpPr>
              <a:spLocks noChangeArrowheads="1"/>
            </p:cNvSpPr>
            <p:nvPr/>
          </p:nvSpPr>
          <p:spPr bwMode="auto">
            <a:xfrm>
              <a:off x="4702531" y="3290001"/>
              <a:ext cx="76200" cy="76141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593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5.6 	Welfare Loss from a Price Increase</a:t>
            </a:r>
          </a:p>
        </p:txBody>
      </p:sp>
      <p:sp>
        <p:nvSpPr>
          <p:cNvPr id="25606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9ED0AD0A-DEB8-4566-8682-078857172969}" type="slidenum">
              <a:rPr lang="en-US" smtClean="0"/>
              <a:pPr>
                <a:defRPr/>
              </a:pPr>
              <a:t>70</a:t>
            </a:fld>
            <a:endParaRPr lang="en-US" dirty="0"/>
          </a:p>
        </p:txBody>
      </p:sp>
      <p:sp>
        <p:nvSpPr>
          <p:cNvPr id="25605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Compensated demand function for </a:t>
            </a:r>
            <a:r>
              <a:rPr lang="en-US" altLang="en-US" i="1" dirty="0" smtClean="0"/>
              <a:t>x: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04800" y="2209800"/>
            <a:ext cx="8534400" cy="4191000"/>
          </a:xfrm>
        </p:spPr>
        <p:txBody>
          <a:bodyPr>
            <a:noAutofit/>
          </a:bodyPr>
          <a:lstStyle/>
          <a:p>
            <a:pPr marL="400050" eaLnBrk="0" hangingPunct="0">
              <a:buFont typeface="Arial" charset="0"/>
              <a:buChar char="•"/>
              <a:defRPr/>
            </a:pPr>
            <a:r>
              <a:rPr lang="en-US" sz="3600" kern="0" dirty="0"/>
              <a:t>The welfare cost of a price increase</a:t>
            </a:r>
          </a:p>
          <a:p>
            <a:pPr lvl="1" eaLnBrk="0" hangingPunct="0">
              <a:buFont typeface="Arial" charset="0"/>
              <a:buChar char="•"/>
              <a:defRPr/>
            </a:pPr>
            <a:r>
              <a:rPr lang="en-US" kern="0" dirty="0"/>
              <a:t>From </a:t>
            </a:r>
            <a:r>
              <a:rPr lang="en-US" i="1" kern="0" dirty="0" err="1"/>
              <a:t>p</a:t>
            </a:r>
            <a:r>
              <a:rPr lang="en-US" i="1" kern="0" baseline="-25000" dirty="0" err="1"/>
              <a:t>x</a:t>
            </a:r>
            <a:r>
              <a:rPr lang="en-US" kern="0" dirty="0"/>
              <a:t> = $1 to </a:t>
            </a:r>
            <a:r>
              <a:rPr lang="en-US" i="1" kern="0" dirty="0" err="1"/>
              <a:t>p</a:t>
            </a:r>
            <a:r>
              <a:rPr lang="en-US" i="1" kern="0" baseline="-25000" dirty="0" err="1"/>
              <a:t>x</a:t>
            </a:r>
            <a:r>
              <a:rPr lang="en-US" kern="0" dirty="0"/>
              <a:t> = $4 is given </a:t>
            </a:r>
            <a:r>
              <a:rPr lang="en-US" kern="0" dirty="0" smtClean="0"/>
              <a:t>by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1" eaLnBrk="0" hangingPunct="0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kern="0" dirty="0"/>
              <a:t>For V = 2 and </a:t>
            </a:r>
            <a:r>
              <a:rPr lang="en-US" i="1" kern="0" dirty="0" err="1"/>
              <a:t>p</a:t>
            </a:r>
            <a:r>
              <a:rPr lang="en-US" i="1" kern="0" baseline="-25000" dirty="0" err="1"/>
              <a:t>y</a:t>
            </a:r>
            <a:r>
              <a:rPr lang="en-US" kern="0" dirty="0"/>
              <a:t> = 4: </a:t>
            </a:r>
            <a:r>
              <a:rPr lang="en-US" i="1" kern="0" dirty="0"/>
              <a:t>CV </a:t>
            </a:r>
            <a:r>
              <a:rPr lang="en-US" kern="0" dirty="0"/>
              <a:t>= 2</a:t>
            </a:r>
            <a:r>
              <a:rPr lang="en-US" kern="0" dirty="0">
                <a:sym typeface="Symbol" pitchFamily="18" charset="2"/>
              </a:rPr>
              <a:t>22(</a:t>
            </a:r>
            <a:r>
              <a:rPr lang="en-US" kern="0" dirty="0"/>
              <a:t>4)</a:t>
            </a:r>
            <a:r>
              <a:rPr lang="en-US" kern="0" baseline="30000" dirty="0"/>
              <a:t>0.5</a:t>
            </a:r>
            <a:r>
              <a:rPr lang="en-US" kern="0" dirty="0"/>
              <a:t> – 2</a:t>
            </a:r>
            <a:r>
              <a:rPr lang="en-US" kern="0" dirty="0">
                <a:sym typeface="Symbol" pitchFamily="18" charset="2"/>
              </a:rPr>
              <a:t>22(</a:t>
            </a:r>
            <a:r>
              <a:rPr lang="en-US" kern="0" dirty="0"/>
              <a:t>1)</a:t>
            </a:r>
            <a:r>
              <a:rPr lang="en-US" kern="0" baseline="30000" dirty="0"/>
              <a:t>0.5</a:t>
            </a:r>
            <a:r>
              <a:rPr lang="en-US" kern="0" dirty="0"/>
              <a:t> = 8</a:t>
            </a:r>
          </a:p>
          <a:p>
            <a:pPr lvl="1" eaLnBrk="0" hangingPunct="0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kern="0" dirty="0"/>
              <a:t>If V=1 after the price increase: </a:t>
            </a:r>
            <a:r>
              <a:rPr lang="en-US" i="1" kern="0" dirty="0"/>
              <a:t>CV</a:t>
            </a:r>
            <a:r>
              <a:rPr lang="en-US" kern="0" dirty="0"/>
              <a:t> = 1</a:t>
            </a:r>
            <a:r>
              <a:rPr lang="en-US" kern="0" dirty="0">
                <a:sym typeface="Symbol" pitchFamily="18" charset="2"/>
              </a:rPr>
              <a:t>22(</a:t>
            </a:r>
            <a:r>
              <a:rPr lang="en-US" kern="0" dirty="0"/>
              <a:t>4)</a:t>
            </a:r>
            <a:r>
              <a:rPr lang="en-US" kern="0" baseline="30000" dirty="0"/>
              <a:t>0.5</a:t>
            </a:r>
            <a:r>
              <a:rPr lang="en-US" kern="0" dirty="0"/>
              <a:t> – 1</a:t>
            </a:r>
            <a:r>
              <a:rPr lang="en-US" kern="0" dirty="0">
                <a:sym typeface="Symbol" pitchFamily="18" charset="2"/>
              </a:rPr>
              <a:t>22(</a:t>
            </a:r>
            <a:r>
              <a:rPr lang="en-US" kern="0" dirty="0"/>
              <a:t>1)</a:t>
            </a:r>
            <a:r>
              <a:rPr lang="en-US" kern="0" baseline="30000" dirty="0"/>
              <a:t>0.5</a:t>
            </a:r>
            <a:r>
              <a:rPr lang="en-US" kern="0" dirty="0"/>
              <a:t> = </a:t>
            </a:r>
            <a:r>
              <a:rPr lang="en-US" kern="0" dirty="0" smtClean="0"/>
              <a:t>4</a:t>
            </a:r>
            <a:endParaRPr lang="en-US" kern="0" dirty="0"/>
          </a:p>
        </p:txBody>
      </p:sp>
      <p:graphicFrame>
        <p:nvGraphicFramePr>
          <p:cNvPr id="284676" name="Object 2"/>
          <p:cNvGraphicFramePr>
            <a:graphicFrameLocks noChangeAspect="1"/>
          </p:cNvGraphicFramePr>
          <p:nvPr/>
        </p:nvGraphicFramePr>
        <p:xfrm>
          <a:off x="3021013" y="1003300"/>
          <a:ext cx="3101975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0" name="Equation" r:id="rId3" imgW="1295280" imgH="469800" progId="Equation.DSMT4">
                  <p:embed/>
                </p:oleObj>
              </mc:Choice>
              <mc:Fallback>
                <p:oleObj name="Equation" r:id="rId3" imgW="12952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1013" y="1003300"/>
                        <a:ext cx="3101975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8" name="Object 3"/>
          <p:cNvGraphicFramePr>
            <a:graphicFrameLocks noChangeAspect="1"/>
          </p:cNvGraphicFramePr>
          <p:nvPr/>
        </p:nvGraphicFramePr>
        <p:xfrm>
          <a:off x="1854200" y="3389313"/>
          <a:ext cx="5345113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81" name="Equation" r:id="rId5" imgW="2031840" imgH="457200" progId="Equation.DSMT4">
                  <p:embed/>
                </p:oleObj>
              </mc:Choice>
              <mc:Fallback>
                <p:oleObj name="Equation" r:id="rId5" imgW="20318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3389313"/>
                        <a:ext cx="5345113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154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5.6 	Welfare Loss from a Price Increase</a:t>
            </a:r>
          </a:p>
        </p:txBody>
      </p:sp>
      <p:sp>
        <p:nvSpPr>
          <p:cNvPr id="26630" name="Footer Placeholder 3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04F090FD-0263-4B2F-BCBC-0B22461FC5AE}" type="slidenum">
              <a:rPr lang="en-US" smtClean="0"/>
              <a:pPr>
                <a:defRPr/>
              </a:pPr>
              <a:t>71</a:t>
            </a:fld>
            <a:endParaRPr lang="en-US" dirty="0"/>
          </a:p>
        </p:txBody>
      </p:sp>
      <p:sp>
        <p:nvSpPr>
          <p:cNvPr id="26629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Marshallian demand function:</a:t>
            </a:r>
          </a:p>
          <a:p>
            <a:endParaRPr lang="en-US" altLang="en-US" dirty="0"/>
          </a:p>
          <a:p>
            <a:pPr lvl="1"/>
            <a:r>
              <a:rPr lang="en-US" kern="0" dirty="0"/>
              <a:t>The welfare loss from a price increase from </a:t>
            </a:r>
            <a:r>
              <a:rPr lang="en-US" i="1" kern="0" dirty="0" err="1"/>
              <a:t>p</a:t>
            </a:r>
            <a:r>
              <a:rPr lang="en-US" i="1" kern="0" baseline="-25000" dirty="0" err="1"/>
              <a:t>x</a:t>
            </a:r>
            <a:r>
              <a:rPr lang="en-US" kern="0" dirty="0"/>
              <a:t> = $1 to </a:t>
            </a:r>
            <a:r>
              <a:rPr lang="en-US" i="1" kern="0" dirty="0" err="1"/>
              <a:t>p</a:t>
            </a:r>
            <a:r>
              <a:rPr lang="en-US" i="1" kern="0" baseline="-25000" dirty="0" err="1"/>
              <a:t>x</a:t>
            </a:r>
            <a:r>
              <a:rPr lang="en-US" kern="0" dirty="0"/>
              <a:t> = $4</a:t>
            </a:r>
            <a:r>
              <a:rPr lang="en-US" kern="0" dirty="0" smtClean="0"/>
              <a:t>:</a:t>
            </a:r>
          </a:p>
          <a:p>
            <a:pPr lvl="1"/>
            <a:endParaRPr lang="en-US" sz="3200" kern="0" dirty="0">
              <a:solidFill>
                <a:srgbClr val="000099"/>
              </a:solidFill>
            </a:endParaRPr>
          </a:p>
          <a:p>
            <a:pPr lvl="1" eaLnBrk="0" hangingPunct="0">
              <a:lnSpc>
                <a:spcPct val="90000"/>
              </a:lnSpc>
              <a:buFont typeface="Arial" charset="0"/>
              <a:buChar char="•"/>
              <a:defRPr/>
            </a:pPr>
            <a:endParaRPr lang="en-US" kern="0" dirty="0" smtClean="0"/>
          </a:p>
          <a:p>
            <a:pPr lvl="1" eaLnBrk="0" hangingPunct="0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kern="0" dirty="0" smtClean="0"/>
              <a:t>If </a:t>
            </a:r>
            <a:r>
              <a:rPr lang="en-US" kern="0" dirty="0"/>
              <a:t>income (</a:t>
            </a:r>
            <a:r>
              <a:rPr lang="en-US" i="1" kern="0" dirty="0">
                <a:latin typeface="Verdana" pitchFamily="34" charset="0"/>
              </a:rPr>
              <a:t>I</a:t>
            </a:r>
            <a:r>
              <a:rPr lang="en-US" kern="0" dirty="0"/>
              <a:t>) is equal to 8, </a:t>
            </a:r>
          </a:p>
          <a:p>
            <a:pPr lvl="1" eaLnBrk="0" hangingPunct="0">
              <a:lnSpc>
                <a:spcPct val="90000"/>
              </a:lnSpc>
              <a:buNone/>
              <a:defRPr/>
            </a:pPr>
            <a:r>
              <a:rPr lang="en-US" i="1" kern="0" dirty="0">
                <a:solidFill>
                  <a:srgbClr val="FF0000"/>
                </a:solidFill>
              </a:rPr>
              <a:t>Loss</a:t>
            </a:r>
            <a:r>
              <a:rPr lang="en-US" kern="0" baseline="-25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=</a:t>
            </a:r>
            <a:r>
              <a:rPr lang="en-US" kern="0" baseline="30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4</a:t>
            </a:r>
            <a:r>
              <a:rPr lang="en-US" kern="0" baseline="-25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ln(4)</a:t>
            </a:r>
            <a:r>
              <a:rPr lang="en-US" kern="0" baseline="30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-</a:t>
            </a:r>
            <a:r>
              <a:rPr lang="en-US" kern="0" baseline="30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4</a:t>
            </a:r>
            <a:r>
              <a:rPr lang="en-US" kern="0" baseline="-25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ln(1)</a:t>
            </a:r>
            <a:r>
              <a:rPr lang="en-US" kern="0" baseline="30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=</a:t>
            </a:r>
            <a:r>
              <a:rPr lang="en-US" kern="0" baseline="30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4</a:t>
            </a:r>
            <a:r>
              <a:rPr lang="en-US" kern="0" baseline="-25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ln(4)</a:t>
            </a:r>
            <a:r>
              <a:rPr lang="en-US" kern="0" baseline="30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=</a:t>
            </a:r>
            <a:r>
              <a:rPr lang="en-US" kern="0" baseline="30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4(1.39)</a:t>
            </a:r>
            <a:r>
              <a:rPr lang="en-US" kern="0" baseline="30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=</a:t>
            </a:r>
            <a:r>
              <a:rPr lang="en-US" kern="0" baseline="30000" dirty="0">
                <a:solidFill>
                  <a:srgbClr val="FF0000"/>
                </a:solidFill>
              </a:rPr>
              <a:t> </a:t>
            </a:r>
            <a:r>
              <a:rPr lang="en-US" kern="0" dirty="0">
                <a:solidFill>
                  <a:srgbClr val="FF0000"/>
                </a:solidFill>
              </a:rPr>
              <a:t>5.55</a:t>
            </a:r>
          </a:p>
          <a:p>
            <a:pPr lvl="2" eaLnBrk="0" hangingPunct="0">
              <a:lnSpc>
                <a:spcPct val="90000"/>
              </a:lnSpc>
              <a:buFont typeface="Arial" charset="0"/>
              <a:buChar char="•"/>
              <a:defRPr/>
            </a:pPr>
            <a:r>
              <a:rPr lang="en-US" kern="0" dirty="0"/>
              <a:t>Compromise between the two amounts computed using the compensated demand </a:t>
            </a:r>
            <a:r>
              <a:rPr lang="en-US" kern="0" dirty="0" smtClean="0"/>
              <a:t>functions</a:t>
            </a:r>
            <a:endParaRPr lang="en-US" altLang="en-US" dirty="0" smtClean="0"/>
          </a:p>
        </p:txBody>
      </p:sp>
      <p:graphicFrame>
        <p:nvGraphicFramePr>
          <p:cNvPr id="287748" name="Object 2"/>
          <p:cNvGraphicFramePr>
            <a:graphicFrameLocks noChangeAspect="1"/>
          </p:cNvGraphicFramePr>
          <p:nvPr/>
        </p:nvGraphicFramePr>
        <p:xfrm>
          <a:off x="2860675" y="1054100"/>
          <a:ext cx="315277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2" name="Equation" r:id="rId3" imgW="1333440" imgH="253800" progId="Equation.DSMT4">
                  <p:embed/>
                </p:oleObj>
              </mc:Choice>
              <mc:Fallback>
                <p:oleObj name="Equation" r:id="rId3" imgW="13334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675" y="1054100"/>
                        <a:ext cx="3152775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5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046190"/>
              </p:ext>
            </p:extLst>
          </p:nvPr>
        </p:nvGraphicFramePr>
        <p:xfrm>
          <a:off x="1590675" y="2514600"/>
          <a:ext cx="5445125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03" name="Equation" r:id="rId5" imgW="2209680" imgH="457200" progId="Equation.DSMT4">
                  <p:embed/>
                </p:oleObj>
              </mc:Choice>
              <mc:Fallback>
                <p:oleObj name="Equation" r:id="rId5" imgW="2209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2514600"/>
                        <a:ext cx="5445125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991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Revealed Preference and </a:t>
            </a:r>
            <a:br>
              <a:rPr lang="en-US" altLang="en-US" sz="3600" dirty="0" smtClean="0"/>
            </a:br>
            <a:r>
              <a:rPr lang="en-US" altLang="en-US" sz="3600" dirty="0" smtClean="0"/>
              <a:t>The Substitution Effect</a:t>
            </a:r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theory of revealed preference </a:t>
            </a:r>
          </a:p>
          <a:p>
            <a:pPr lvl="1"/>
            <a:r>
              <a:rPr lang="en-US" altLang="en-US" dirty="0" smtClean="0"/>
              <a:t>Proposed by Paul Samuelson in the late 1940s</a:t>
            </a:r>
          </a:p>
          <a:p>
            <a:pPr lvl="1"/>
            <a:r>
              <a:rPr lang="en-US" altLang="en-US" dirty="0" smtClean="0"/>
              <a:t>Defines a principle of rationality based on observed behavior </a:t>
            </a:r>
          </a:p>
          <a:p>
            <a:pPr lvl="1"/>
            <a:r>
              <a:rPr lang="en-US" altLang="en-US" dirty="0" smtClean="0"/>
              <a:t>Uses it to approximate an individual’s utility function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305418-77CC-4A32-9237-D2D1D9A4C962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9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Revealed Preference and The</a:t>
            </a:r>
            <a:br>
              <a:rPr lang="en-US" altLang="en-US" sz="3600" dirty="0" smtClean="0"/>
            </a:br>
            <a:r>
              <a:rPr lang="en-US" altLang="en-US" sz="3600" dirty="0" smtClean="0"/>
              <a:t>Substitution Effect</a:t>
            </a:r>
          </a:p>
        </p:txBody>
      </p:sp>
      <p:sp>
        <p:nvSpPr>
          <p:cNvPr id="849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Consider two bundles of goods: </a:t>
            </a:r>
            <a:r>
              <a:rPr lang="en-US" altLang="en-US" b="1" i="1" smtClean="0"/>
              <a:t>A</a:t>
            </a:r>
            <a:r>
              <a:rPr lang="en-US" altLang="en-US" smtClean="0"/>
              <a:t> and </a:t>
            </a:r>
            <a:r>
              <a:rPr lang="en-US" altLang="en-US" b="1" i="1" smtClean="0"/>
              <a:t>B</a:t>
            </a:r>
          </a:p>
          <a:p>
            <a:pPr lvl="1"/>
            <a:r>
              <a:rPr lang="en-US" altLang="en-US" smtClean="0"/>
              <a:t>If the individual can afford to purchase either bundle but chooses </a:t>
            </a:r>
            <a:r>
              <a:rPr lang="en-US" altLang="en-US" b="1" i="1" smtClean="0"/>
              <a:t>A</a:t>
            </a:r>
            <a:r>
              <a:rPr lang="en-US" altLang="en-US" smtClean="0"/>
              <a:t>, we say that </a:t>
            </a:r>
            <a:r>
              <a:rPr lang="en-US" altLang="en-US" b="1" i="1" smtClean="0"/>
              <a:t>A</a:t>
            </a:r>
            <a:r>
              <a:rPr lang="en-US" altLang="en-US" smtClean="0"/>
              <a:t> had been </a:t>
            </a:r>
            <a:r>
              <a:rPr lang="en-US" altLang="en-US" u="sng" smtClean="0"/>
              <a:t>revealed preferred</a:t>
            </a:r>
            <a:r>
              <a:rPr lang="en-US" altLang="en-US" smtClean="0"/>
              <a:t> to </a:t>
            </a:r>
            <a:r>
              <a:rPr lang="en-US" altLang="en-US" b="1" i="1" smtClean="0"/>
              <a:t>B</a:t>
            </a:r>
          </a:p>
          <a:p>
            <a:pPr lvl="1"/>
            <a:r>
              <a:rPr lang="en-US" altLang="en-US" smtClean="0"/>
              <a:t>Under any other price-income arrangement, </a:t>
            </a:r>
            <a:r>
              <a:rPr lang="en-US" altLang="en-US" b="1" i="1" smtClean="0"/>
              <a:t>B</a:t>
            </a:r>
            <a:r>
              <a:rPr lang="en-US" altLang="en-US" smtClean="0"/>
              <a:t> can never be revealed preferred to </a:t>
            </a:r>
            <a:r>
              <a:rPr lang="en-US" altLang="en-US" b="1" i="1" smtClean="0"/>
              <a:t>A</a:t>
            </a:r>
          </a:p>
          <a:p>
            <a:endParaRPr lang="en-US" alt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17FE27E-6B3F-4134-8906-C0F4D1A0B3A2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3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5.10	Demonstration of the Principle of </a:t>
            </a:r>
            <a:r>
              <a:rPr lang="en-US" altLang="en-US" dirty="0" smtClean="0"/>
              <a:t>Rationality</a:t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 </a:t>
            </a:r>
            <a:r>
              <a:rPr lang="en-US" altLang="en-US" dirty="0">
                <a:solidFill>
                  <a:srgbClr val="002D56"/>
                </a:solidFill>
              </a:rPr>
              <a:t>in the Theory of Revealed </a:t>
            </a:r>
            <a:r>
              <a:rPr lang="en-US" altLang="en-US" dirty="0" smtClean="0">
                <a:solidFill>
                  <a:srgbClr val="002D56"/>
                </a:solidFill>
              </a:rPr>
              <a:t>Preference</a:t>
            </a:r>
          </a:p>
        </p:txBody>
      </p:sp>
      <p:sp>
        <p:nvSpPr>
          <p:cNvPr id="86019" name="Text Placeholder 2"/>
          <p:cNvSpPr>
            <a:spLocks noGrp="1"/>
          </p:cNvSpPr>
          <p:nvPr>
            <p:ph sz="half" idx="1"/>
          </p:nvPr>
        </p:nvSpPr>
        <p:spPr>
          <a:xfrm>
            <a:off x="76200" y="5379079"/>
            <a:ext cx="8991599" cy="101299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With income I</a:t>
            </a:r>
            <a:r>
              <a:rPr lang="en-US" altLang="en-US" baseline="-25000" dirty="0"/>
              <a:t>1</a:t>
            </a:r>
            <a:r>
              <a:rPr lang="en-US" altLang="en-US" dirty="0"/>
              <a:t> the individual can afford both points A and B. If A is selected, then A is revealed preferred to B. It would be irrational for B to be revealed preferred to A in some other price-income configuration</a:t>
            </a:r>
            <a:r>
              <a:rPr lang="en-US" altLang="en-US" dirty="0" smtClean="0"/>
              <a:t>.</a:t>
            </a:r>
            <a:endParaRPr lang="en-US" altLang="en-US" dirty="0"/>
          </a:p>
        </p:txBody>
      </p:sp>
      <p:sp>
        <p:nvSpPr>
          <p:cNvPr id="86021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5" name="Slide Number Placeholder 4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C216983-EC03-4FD0-862B-6D11E0D28D77}" type="slidenum">
              <a:rPr lang="en-US" smtClean="0"/>
              <a:pPr>
                <a:defRPr/>
              </a:pPr>
              <a:t>74</a:t>
            </a:fld>
            <a:endParaRPr lang="en-US" dirty="0"/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955675" y="914400"/>
            <a:ext cx="6845300" cy="4284662"/>
            <a:chOff x="670200" y="1119275"/>
            <a:chExt cx="6845382" cy="4284581"/>
          </a:xfrm>
        </p:grpSpPr>
        <p:grpSp>
          <p:nvGrpSpPr>
            <p:cNvPr id="86056" name="Group 23"/>
            <p:cNvGrpSpPr>
              <a:grpSpLocks/>
            </p:cNvGrpSpPr>
            <p:nvPr/>
          </p:nvGrpSpPr>
          <p:grpSpPr bwMode="auto">
            <a:xfrm>
              <a:off x="1870350" y="5037143"/>
              <a:ext cx="5645232" cy="366713"/>
              <a:chOff x="1870350" y="5037143"/>
              <a:chExt cx="5645232" cy="366713"/>
            </a:xfrm>
          </p:grpSpPr>
          <p:sp>
            <p:nvSpPr>
              <p:cNvPr id="86060" name="Line 6"/>
              <p:cNvSpPr>
                <a:spLocks noChangeShapeType="1"/>
              </p:cNvSpPr>
              <p:nvPr/>
            </p:nvSpPr>
            <p:spPr bwMode="auto">
              <a:xfrm>
                <a:off x="1870350" y="5234075"/>
                <a:ext cx="4114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6061" name="Text Box 17"/>
              <p:cNvSpPr txBox="1">
                <a:spLocks noChangeArrowheads="1"/>
              </p:cNvSpPr>
              <p:nvPr/>
            </p:nvSpPr>
            <p:spPr bwMode="auto">
              <a:xfrm>
                <a:off x="6048732" y="5037143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  <a:endParaRPr lang="en-US" altLang="en-US" sz="1800"/>
              </a:p>
            </p:txBody>
          </p:sp>
        </p:grpSp>
        <p:grpSp>
          <p:nvGrpSpPr>
            <p:cNvPr id="86057" name="Group 22"/>
            <p:cNvGrpSpPr>
              <a:grpSpLocks/>
            </p:cNvGrpSpPr>
            <p:nvPr/>
          </p:nvGrpSpPr>
          <p:grpSpPr bwMode="auto">
            <a:xfrm>
              <a:off x="670200" y="1119275"/>
              <a:ext cx="1466850" cy="4114800"/>
              <a:chOff x="670200" y="1119275"/>
              <a:chExt cx="1466850" cy="4114800"/>
            </a:xfrm>
          </p:grpSpPr>
          <p:sp>
            <p:nvSpPr>
              <p:cNvPr id="86058" name="Line 5"/>
              <p:cNvSpPr>
                <a:spLocks noChangeShapeType="1"/>
              </p:cNvSpPr>
              <p:nvPr/>
            </p:nvSpPr>
            <p:spPr bwMode="auto">
              <a:xfrm>
                <a:off x="1870350" y="1500275"/>
                <a:ext cx="0" cy="37338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86059" name="Text Box 18"/>
              <p:cNvSpPr txBox="1">
                <a:spLocks noChangeArrowheads="1"/>
              </p:cNvSpPr>
              <p:nvPr/>
            </p:nvSpPr>
            <p:spPr bwMode="auto">
              <a:xfrm>
                <a:off x="670200" y="1119275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y</a:t>
                </a:r>
                <a:endParaRPr lang="en-US" altLang="en-US" sz="1800"/>
              </a:p>
            </p:txBody>
          </p:sp>
        </p:grpSp>
      </p:grpSp>
      <p:grpSp>
        <p:nvGrpSpPr>
          <p:cNvPr id="6" name="Group 54"/>
          <p:cNvGrpSpPr>
            <a:grpSpLocks/>
          </p:cNvGrpSpPr>
          <p:nvPr/>
        </p:nvGrpSpPr>
        <p:grpSpPr bwMode="auto">
          <a:xfrm>
            <a:off x="2155825" y="2362200"/>
            <a:ext cx="2730500" cy="2667000"/>
            <a:chOff x="1870350" y="2567075"/>
            <a:chExt cx="2731475" cy="2667000"/>
          </a:xfrm>
        </p:grpSpPr>
        <p:sp>
          <p:nvSpPr>
            <p:cNvPr id="86054" name="Line 7"/>
            <p:cNvSpPr>
              <a:spLocks noChangeShapeType="1"/>
            </p:cNvSpPr>
            <p:nvPr/>
          </p:nvSpPr>
          <p:spPr bwMode="auto">
            <a:xfrm>
              <a:off x="1870350" y="2567075"/>
              <a:ext cx="2667000" cy="2667000"/>
            </a:xfrm>
            <a:prstGeom prst="line">
              <a:avLst/>
            </a:prstGeom>
            <a:noFill/>
            <a:ln w="28575">
              <a:solidFill>
                <a:srgbClr val="394DA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6055" name="Text Box 14"/>
            <p:cNvSpPr txBox="1">
              <a:spLocks noChangeArrowheads="1"/>
            </p:cNvSpPr>
            <p:nvPr/>
          </p:nvSpPr>
          <p:spPr bwMode="auto">
            <a:xfrm>
              <a:off x="4205563" y="4684284"/>
              <a:ext cx="39626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b="1" i="1">
                  <a:solidFill>
                    <a:srgbClr val="394DA3"/>
                  </a:solidFill>
                  <a:latin typeface="Verdana" pitchFamily="34" charset="0"/>
                </a:rPr>
                <a:t>I</a:t>
              </a:r>
              <a:r>
                <a:rPr lang="en-US" altLang="en-US" sz="1800" b="1" i="1" baseline="-25000">
                  <a:solidFill>
                    <a:srgbClr val="394DA3"/>
                  </a:solidFill>
                </a:rPr>
                <a:t>1</a:t>
              </a:r>
            </a:p>
          </p:txBody>
        </p:sp>
      </p:grpSp>
      <p:grpSp>
        <p:nvGrpSpPr>
          <p:cNvPr id="7" name="Group 55"/>
          <p:cNvGrpSpPr>
            <a:grpSpLocks/>
          </p:cNvGrpSpPr>
          <p:nvPr/>
        </p:nvGrpSpPr>
        <p:grpSpPr bwMode="auto">
          <a:xfrm>
            <a:off x="2155825" y="1676400"/>
            <a:ext cx="2133600" cy="3352800"/>
            <a:chOff x="1870350" y="1881275"/>
            <a:chExt cx="2133600" cy="3352800"/>
          </a:xfrm>
        </p:grpSpPr>
        <p:sp>
          <p:nvSpPr>
            <p:cNvPr id="86052" name="Line 9"/>
            <p:cNvSpPr>
              <a:spLocks noChangeShapeType="1"/>
            </p:cNvSpPr>
            <p:nvPr/>
          </p:nvSpPr>
          <p:spPr bwMode="auto">
            <a:xfrm>
              <a:off x="1870350" y="1881275"/>
              <a:ext cx="2133600" cy="33528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86053" name="Text Box 16"/>
            <p:cNvSpPr txBox="1">
              <a:spLocks noChangeArrowheads="1"/>
            </p:cNvSpPr>
            <p:nvPr/>
          </p:nvSpPr>
          <p:spPr bwMode="auto">
            <a:xfrm>
              <a:off x="3519763" y="4836684"/>
              <a:ext cx="39626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b="1" i="1" dirty="0">
                  <a:solidFill>
                    <a:srgbClr val="C00000"/>
                  </a:solidFill>
                  <a:latin typeface="Verdana" pitchFamily="34" charset="0"/>
                </a:rPr>
                <a:t>I</a:t>
              </a:r>
              <a:r>
                <a:rPr lang="en-US" altLang="en-US" sz="1800" b="1" i="1" baseline="-25000" dirty="0">
                  <a:solidFill>
                    <a:srgbClr val="C00000"/>
                  </a:solidFill>
                </a:rPr>
                <a:t>3</a:t>
              </a:r>
            </a:p>
          </p:txBody>
        </p:sp>
      </p:grp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2155825" y="2819400"/>
            <a:ext cx="3581400" cy="2209800"/>
            <a:chOff x="864" y="2496"/>
            <a:chExt cx="2256" cy="1392"/>
          </a:xfrm>
        </p:grpSpPr>
        <p:sp>
          <p:nvSpPr>
            <p:cNvPr id="86050" name="Line 8"/>
            <p:cNvSpPr>
              <a:spLocks noChangeShapeType="1"/>
            </p:cNvSpPr>
            <p:nvPr/>
          </p:nvSpPr>
          <p:spPr bwMode="auto">
            <a:xfrm>
              <a:off x="864" y="2496"/>
              <a:ext cx="2256" cy="1392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6051" name="Text Box 15"/>
            <p:cNvSpPr txBox="1">
              <a:spLocks noChangeArrowheads="1"/>
            </p:cNvSpPr>
            <p:nvPr/>
          </p:nvSpPr>
          <p:spPr bwMode="auto">
            <a:xfrm>
              <a:off x="2623" y="3398"/>
              <a:ext cx="25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b="1" i="1">
                  <a:solidFill>
                    <a:srgbClr val="177B21"/>
                  </a:solidFill>
                  <a:latin typeface="Verdana" pitchFamily="34" charset="0"/>
                </a:rPr>
                <a:t>I</a:t>
              </a:r>
              <a:r>
                <a:rPr lang="en-US" altLang="en-US" sz="1800" b="1" i="1" baseline="-25000">
                  <a:solidFill>
                    <a:srgbClr val="177B21"/>
                  </a:solidFill>
                </a:rPr>
                <a:t>2</a:t>
              </a:r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2927350" y="2608262"/>
            <a:ext cx="334963" cy="368300"/>
            <a:chOff x="3013350" y="3418561"/>
            <a:chExt cx="335317" cy="367714"/>
          </a:xfrm>
        </p:grpSpPr>
        <p:sp>
          <p:nvSpPr>
            <p:cNvPr id="86048" name="Oval 10"/>
            <p:cNvSpPr>
              <a:spLocks noChangeArrowheads="1"/>
            </p:cNvSpPr>
            <p:nvPr/>
          </p:nvSpPr>
          <p:spPr bwMode="auto">
            <a:xfrm>
              <a:off x="3013350" y="3710075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6049" name="Text Box 12"/>
            <p:cNvSpPr txBox="1">
              <a:spLocks noChangeArrowheads="1"/>
            </p:cNvSpPr>
            <p:nvPr/>
          </p:nvSpPr>
          <p:spPr bwMode="auto">
            <a:xfrm>
              <a:off x="3016525" y="3418561"/>
              <a:ext cx="33214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b="1" i="1"/>
                <a:t>C</a:t>
              </a:r>
            </a:p>
          </p:txBody>
        </p:sp>
      </p:grpSp>
      <p:grpSp>
        <p:nvGrpSpPr>
          <p:cNvPr id="10" name="Group 53"/>
          <p:cNvGrpSpPr>
            <a:grpSpLocks/>
          </p:cNvGrpSpPr>
          <p:nvPr/>
        </p:nvGrpSpPr>
        <p:grpSpPr bwMode="auto">
          <a:xfrm>
            <a:off x="1824038" y="2667000"/>
            <a:ext cx="1119187" cy="520700"/>
            <a:chOff x="1538880" y="2871875"/>
            <a:chExt cx="1118870" cy="520432"/>
          </a:xfrm>
        </p:grpSpPr>
        <p:grpSp>
          <p:nvGrpSpPr>
            <p:cNvPr id="86042" name="Group 52"/>
            <p:cNvGrpSpPr>
              <a:grpSpLocks/>
            </p:cNvGrpSpPr>
            <p:nvPr/>
          </p:nvGrpSpPr>
          <p:grpSpPr bwMode="auto">
            <a:xfrm>
              <a:off x="2327550" y="2871875"/>
              <a:ext cx="330200" cy="381000"/>
              <a:chOff x="2327550" y="2871875"/>
              <a:chExt cx="330200" cy="381000"/>
            </a:xfrm>
          </p:grpSpPr>
          <p:sp>
            <p:nvSpPr>
              <p:cNvPr id="86046" name="Oval 11"/>
              <p:cNvSpPr>
                <a:spLocks noChangeArrowheads="1"/>
              </p:cNvSpPr>
              <p:nvPr/>
            </p:nvSpPr>
            <p:spPr bwMode="auto">
              <a:xfrm>
                <a:off x="2479950" y="3176675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6047" name="Text Box 13"/>
              <p:cNvSpPr txBox="1">
                <a:spLocks noChangeArrowheads="1"/>
              </p:cNvSpPr>
              <p:nvPr/>
            </p:nvSpPr>
            <p:spPr bwMode="auto">
              <a:xfrm>
                <a:off x="2327550" y="2871875"/>
                <a:ext cx="33020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600" b="1" i="1"/>
                  <a:t>A</a:t>
                </a:r>
              </a:p>
            </p:txBody>
          </p:sp>
        </p:grpSp>
        <p:grpSp>
          <p:nvGrpSpPr>
            <p:cNvPr id="86043" name="Group 49"/>
            <p:cNvGrpSpPr>
              <a:grpSpLocks/>
            </p:cNvGrpSpPr>
            <p:nvPr/>
          </p:nvGrpSpPr>
          <p:grpSpPr bwMode="auto">
            <a:xfrm>
              <a:off x="1538880" y="3053753"/>
              <a:ext cx="982648" cy="338554"/>
              <a:chOff x="1538880" y="3053753"/>
              <a:chExt cx="982648" cy="338554"/>
            </a:xfrm>
          </p:grpSpPr>
          <p:cxnSp>
            <p:nvCxnSpPr>
              <p:cNvPr id="86044" name="Straight Connector 31"/>
              <p:cNvCxnSpPr>
                <a:cxnSpLocks noChangeShapeType="1"/>
              </p:cNvCxnSpPr>
              <p:nvPr/>
            </p:nvCxnSpPr>
            <p:spPr bwMode="auto">
              <a:xfrm rot="10800000">
                <a:off x="1884219" y="3219450"/>
                <a:ext cx="637309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6045" name="Text Box 13"/>
              <p:cNvSpPr txBox="1">
                <a:spLocks noChangeArrowheads="1"/>
              </p:cNvSpPr>
              <p:nvPr/>
            </p:nvSpPr>
            <p:spPr bwMode="auto">
              <a:xfrm>
                <a:off x="1538880" y="3053753"/>
                <a:ext cx="36260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600" i="1"/>
                  <a:t>y</a:t>
                </a:r>
                <a:r>
                  <a:rPr lang="en-US" altLang="en-US" sz="1600" i="1" baseline="-25000"/>
                  <a:t>a</a:t>
                </a:r>
              </a:p>
            </p:txBody>
          </p:sp>
        </p:grpSp>
      </p:grpSp>
      <p:grpSp>
        <p:nvGrpSpPr>
          <p:cNvPr id="13" name="Group 51"/>
          <p:cNvGrpSpPr>
            <a:grpSpLocks/>
          </p:cNvGrpSpPr>
          <p:nvPr/>
        </p:nvGrpSpPr>
        <p:grpSpPr bwMode="auto">
          <a:xfrm>
            <a:off x="1824038" y="3214687"/>
            <a:ext cx="1808162" cy="509588"/>
            <a:chOff x="1538880" y="3419563"/>
            <a:chExt cx="1807845" cy="509954"/>
          </a:xfrm>
        </p:grpSpPr>
        <p:grpSp>
          <p:nvGrpSpPr>
            <p:cNvPr id="86036" name="Group 26"/>
            <p:cNvGrpSpPr>
              <a:grpSpLocks/>
            </p:cNvGrpSpPr>
            <p:nvPr/>
          </p:nvGrpSpPr>
          <p:grpSpPr bwMode="auto">
            <a:xfrm>
              <a:off x="3013350" y="3419563"/>
              <a:ext cx="333375" cy="366712"/>
              <a:chOff x="3013350" y="3419563"/>
              <a:chExt cx="333375" cy="366712"/>
            </a:xfrm>
          </p:grpSpPr>
          <p:sp>
            <p:nvSpPr>
              <p:cNvPr id="86040" name="Oval 10"/>
              <p:cNvSpPr>
                <a:spLocks noChangeArrowheads="1"/>
              </p:cNvSpPr>
              <p:nvPr/>
            </p:nvSpPr>
            <p:spPr bwMode="auto">
              <a:xfrm>
                <a:off x="3013350" y="3710075"/>
                <a:ext cx="76200" cy="76200"/>
              </a:xfrm>
              <a:prstGeom prst="ellipse">
                <a:avLst/>
              </a:prstGeom>
              <a:solidFill>
                <a:schemeClr val="tx1"/>
              </a:solidFill>
              <a:ln w="158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6041" name="Text Box 12"/>
              <p:cNvSpPr txBox="1">
                <a:spLocks noChangeArrowheads="1"/>
              </p:cNvSpPr>
              <p:nvPr/>
            </p:nvSpPr>
            <p:spPr bwMode="auto">
              <a:xfrm>
                <a:off x="3016525" y="3419563"/>
                <a:ext cx="33020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600" b="1" i="1"/>
                  <a:t>B</a:t>
                </a:r>
              </a:p>
            </p:txBody>
          </p:sp>
        </p:grpSp>
        <p:grpSp>
          <p:nvGrpSpPr>
            <p:cNvPr id="86037" name="Group 50"/>
            <p:cNvGrpSpPr>
              <a:grpSpLocks/>
            </p:cNvGrpSpPr>
            <p:nvPr/>
          </p:nvGrpSpPr>
          <p:grpSpPr bwMode="auto">
            <a:xfrm>
              <a:off x="1538880" y="3590963"/>
              <a:ext cx="1469463" cy="338554"/>
              <a:chOff x="1538880" y="3590963"/>
              <a:chExt cx="1469463" cy="338554"/>
            </a:xfrm>
          </p:grpSpPr>
          <p:cxnSp>
            <p:nvCxnSpPr>
              <p:cNvPr id="86038" name="Straight Connector 32"/>
              <p:cNvCxnSpPr>
                <a:cxnSpLocks noChangeShapeType="1"/>
              </p:cNvCxnSpPr>
              <p:nvPr/>
            </p:nvCxnSpPr>
            <p:spPr bwMode="auto">
              <a:xfrm rot="10800000" flipV="1">
                <a:off x="1870940" y="3759577"/>
                <a:ext cx="1137403" cy="3221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6039" name="Text Box 13"/>
              <p:cNvSpPr txBox="1">
                <a:spLocks noChangeArrowheads="1"/>
              </p:cNvSpPr>
              <p:nvPr/>
            </p:nvSpPr>
            <p:spPr bwMode="auto">
              <a:xfrm>
                <a:off x="1538880" y="3590963"/>
                <a:ext cx="36260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600" i="1"/>
                  <a:t>y</a:t>
                </a:r>
                <a:r>
                  <a:rPr lang="en-US" altLang="en-US" sz="1600" i="1" baseline="-25000"/>
                  <a:t>b</a:t>
                </a:r>
              </a:p>
            </p:txBody>
          </p:sp>
        </p:grpSp>
      </p:grpSp>
      <p:grpSp>
        <p:nvGrpSpPr>
          <p:cNvPr id="16" name="Group 48"/>
          <p:cNvGrpSpPr>
            <a:grpSpLocks/>
          </p:cNvGrpSpPr>
          <p:nvPr/>
        </p:nvGrpSpPr>
        <p:grpSpPr bwMode="auto">
          <a:xfrm>
            <a:off x="2651125" y="3003550"/>
            <a:ext cx="361950" cy="2339975"/>
            <a:chOff x="2365650" y="3208020"/>
            <a:chExt cx="362600" cy="2340747"/>
          </a:xfrm>
        </p:grpSpPr>
        <p:cxnSp>
          <p:nvCxnSpPr>
            <p:cNvPr id="86034" name="Straight Connector 38"/>
            <p:cNvCxnSpPr>
              <a:cxnSpLocks noChangeShapeType="1"/>
            </p:cNvCxnSpPr>
            <p:nvPr/>
          </p:nvCxnSpPr>
          <p:spPr bwMode="auto">
            <a:xfrm rot="16200000" flipH="1">
              <a:off x="1524000" y="4206240"/>
              <a:ext cx="2011680" cy="1524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6035" name="Text Box 13"/>
            <p:cNvSpPr txBox="1">
              <a:spLocks noChangeArrowheads="1"/>
            </p:cNvSpPr>
            <p:nvPr/>
          </p:nvSpPr>
          <p:spPr bwMode="auto">
            <a:xfrm>
              <a:off x="2365650" y="5210213"/>
              <a:ext cx="362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i="1"/>
                <a:t>x</a:t>
              </a:r>
              <a:r>
                <a:rPr lang="en-US" altLang="en-US" sz="1600" i="1" baseline="-25000"/>
                <a:t>a</a:t>
              </a:r>
            </a:p>
          </p:txBody>
        </p:sp>
      </p:grpSp>
      <p:grpSp>
        <p:nvGrpSpPr>
          <p:cNvPr id="17" name="Group 47"/>
          <p:cNvGrpSpPr>
            <a:grpSpLocks/>
          </p:cNvGrpSpPr>
          <p:nvPr/>
        </p:nvGrpSpPr>
        <p:grpSpPr bwMode="auto">
          <a:xfrm>
            <a:off x="3187700" y="3567112"/>
            <a:ext cx="363538" cy="1776413"/>
            <a:chOff x="2902860" y="3771900"/>
            <a:chExt cx="362600" cy="1776867"/>
          </a:xfrm>
        </p:grpSpPr>
        <p:cxnSp>
          <p:nvCxnSpPr>
            <p:cNvPr id="86032" name="Straight Connector 40"/>
            <p:cNvCxnSpPr>
              <a:cxnSpLocks noChangeShapeType="1"/>
            </p:cNvCxnSpPr>
            <p:nvPr/>
          </p:nvCxnSpPr>
          <p:spPr bwMode="auto">
            <a:xfrm rot="16200000" flipH="1">
              <a:off x="2335530" y="4488180"/>
              <a:ext cx="1443990" cy="1143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6033" name="Text Box 13"/>
            <p:cNvSpPr txBox="1">
              <a:spLocks noChangeArrowheads="1"/>
            </p:cNvSpPr>
            <p:nvPr/>
          </p:nvSpPr>
          <p:spPr bwMode="auto">
            <a:xfrm>
              <a:off x="2902860" y="5210213"/>
              <a:ext cx="362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i="1"/>
                <a:t>x</a:t>
              </a:r>
              <a:r>
                <a:rPr lang="en-US" altLang="en-US" sz="1600" i="1" baseline="-2500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059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 smtClean="0"/>
              <a:t>Revealed Preference and the </a:t>
            </a:r>
            <a:br>
              <a:rPr lang="en-US" altLang="en-US" sz="3600" dirty="0" smtClean="0"/>
            </a:br>
            <a:r>
              <a:rPr lang="en-US" altLang="en-US" sz="3600" dirty="0" smtClean="0"/>
              <a:t>Negativity of the Substitution Effect</a:t>
            </a:r>
          </a:p>
        </p:txBody>
      </p:sp>
      <p:sp>
        <p:nvSpPr>
          <p:cNvPr id="8704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534400" cy="5334000"/>
          </a:xfrm>
        </p:spPr>
        <p:txBody>
          <a:bodyPr>
            <a:noAutofit/>
          </a:bodyPr>
          <a:lstStyle/>
          <a:p>
            <a:r>
              <a:rPr lang="en-US" altLang="en-US" dirty="0" smtClean="0"/>
              <a:t>Suppose that an individual is indifferent between two bundles: </a:t>
            </a:r>
            <a:r>
              <a:rPr lang="en-US" altLang="en-US" i="1" dirty="0" smtClean="0"/>
              <a:t>C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D</a:t>
            </a:r>
            <a:endParaRPr lang="en-US" altLang="en-US" dirty="0" smtClean="0"/>
          </a:p>
          <a:p>
            <a:pPr lvl="2">
              <a:lnSpc>
                <a:spcPct val="130000"/>
              </a:lnSpc>
            </a:pPr>
            <a:r>
              <a:rPr lang="en-US" altLang="en-US" dirty="0" smtClean="0"/>
              <a:t>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x</a:t>
            </a:r>
            <a:r>
              <a:rPr lang="en-US" altLang="en-US" i="1" baseline="30000" dirty="0" err="1" smtClean="0"/>
              <a:t>C</a:t>
            </a:r>
            <a:r>
              <a:rPr lang="en-US" altLang="en-US" dirty="0" err="1" smtClean="0"/>
              <a:t>,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y</a:t>
            </a:r>
            <a:r>
              <a:rPr lang="en-US" altLang="en-US" i="1" baseline="30000" dirty="0" err="1" smtClean="0"/>
              <a:t>C</a:t>
            </a:r>
            <a:r>
              <a:rPr lang="en-US" altLang="en-US" dirty="0" smtClean="0"/>
              <a:t> - prices at which bundle </a:t>
            </a:r>
            <a:r>
              <a:rPr lang="en-US" altLang="en-US" i="1" dirty="0" smtClean="0"/>
              <a:t>C</a:t>
            </a:r>
            <a:r>
              <a:rPr lang="en-US" altLang="en-US" dirty="0" smtClean="0"/>
              <a:t> is chosen</a:t>
            </a:r>
          </a:p>
          <a:p>
            <a:pPr lvl="2">
              <a:lnSpc>
                <a:spcPct val="120000"/>
              </a:lnSpc>
            </a:pPr>
            <a:r>
              <a:rPr lang="en-US" altLang="en-US" i="1" dirty="0" smtClean="0"/>
              <a:t>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x</a:t>
            </a:r>
            <a:r>
              <a:rPr lang="en-US" altLang="en-US" i="1" baseline="30000" dirty="0" err="1" smtClean="0"/>
              <a:t>D</a:t>
            </a:r>
            <a:r>
              <a:rPr lang="en-US" altLang="en-US" dirty="0" err="1" smtClean="0"/>
              <a:t>,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y</a:t>
            </a:r>
            <a:r>
              <a:rPr lang="en-US" altLang="en-US" i="1" baseline="30000" dirty="0" err="1" smtClean="0"/>
              <a:t>D</a:t>
            </a:r>
            <a:r>
              <a:rPr lang="en-US" altLang="en-US" dirty="0" smtClean="0"/>
              <a:t> - prices at which bundle </a:t>
            </a:r>
            <a:r>
              <a:rPr lang="en-US" altLang="en-US" i="1" dirty="0" smtClean="0"/>
              <a:t>D</a:t>
            </a:r>
            <a:r>
              <a:rPr lang="en-US" altLang="en-US" dirty="0" smtClean="0"/>
              <a:t> is chosen</a:t>
            </a:r>
          </a:p>
          <a:p>
            <a:pPr lvl="1">
              <a:lnSpc>
                <a:spcPct val="150000"/>
              </a:lnSpc>
            </a:pPr>
            <a:r>
              <a:rPr lang="en-US" altLang="en-US" sz="3100" dirty="0" smtClean="0"/>
              <a:t>When </a:t>
            </a:r>
            <a:r>
              <a:rPr lang="en-US" altLang="en-US" sz="3100" i="1" dirty="0" smtClean="0"/>
              <a:t>C</a:t>
            </a:r>
            <a:r>
              <a:rPr lang="en-US" altLang="en-US" sz="3100" dirty="0" smtClean="0"/>
              <a:t> is chosen, </a:t>
            </a:r>
            <a:r>
              <a:rPr lang="en-US" altLang="en-US" sz="3100" i="1" dirty="0" smtClean="0"/>
              <a:t>D</a:t>
            </a:r>
            <a:r>
              <a:rPr lang="en-US" altLang="en-US" sz="3100" dirty="0" smtClean="0"/>
              <a:t> must cost at least as much as </a:t>
            </a:r>
            <a:r>
              <a:rPr lang="en-US" altLang="en-US" sz="3100" i="1" dirty="0" smtClean="0"/>
              <a:t>C: 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sz="3100" i="1" baseline="30000" dirty="0" err="1" smtClean="0">
                <a:solidFill>
                  <a:srgbClr val="FF0000"/>
                </a:solidFill>
              </a:rPr>
              <a:t>C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C</a:t>
            </a:r>
            <a:r>
              <a:rPr lang="en-US" altLang="en-US" sz="3100" dirty="0" smtClean="0">
                <a:solidFill>
                  <a:srgbClr val="FF0000"/>
                </a:solidFill>
              </a:rPr>
              <a:t> + 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sz="3100" i="1" baseline="30000" dirty="0" err="1" smtClean="0">
                <a:solidFill>
                  <a:srgbClr val="FF0000"/>
                </a:solidFill>
              </a:rPr>
              <a:t>C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C</a:t>
            </a:r>
            <a:r>
              <a:rPr lang="en-US" altLang="en-US" sz="3100" dirty="0" smtClean="0">
                <a:solidFill>
                  <a:srgbClr val="FF0000"/>
                </a:solidFill>
              </a:rPr>
              <a:t> </a:t>
            </a:r>
            <a:r>
              <a:rPr lang="en-US" altLang="en-US" sz="3100" dirty="0" smtClean="0">
                <a:solidFill>
                  <a:srgbClr val="FF0000"/>
                </a:solidFill>
                <a:cs typeface="Arial" charset="0"/>
              </a:rPr>
              <a:t>≤ 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sz="3100" i="1" baseline="30000" dirty="0" err="1" smtClean="0">
                <a:solidFill>
                  <a:srgbClr val="FF0000"/>
                </a:solidFill>
              </a:rPr>
              <a:t>C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D</a:t>
            </a:r>
            <a:r>
              <a:rPr lang="en-US" altLang="en-US" sz="3100" dirty="0" smtClean="0">
                <a:solidFill>
                  <a:srgbClr val="FF0000"/>
                </a:solidFill>
              </a:rPr>
              <a:t> + 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sz="3100" i="1" baseline="30000" dirty="0" err="1" smtClean="0">
                <a:solidFill>
                  <a:srgbClr val="FF0000"/>
                </a:solidFill>
              </a:rPr>
              <a:t>C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D</a:t>
            </a:r>
            <a:r>
              <a:rPr lang="en-US" altLang="en-US" sz="3100" dirty="0" smtClean="0">
                <a:solidFill>
                  <a:srgbClr val="FF0000"/>
                </a:solidFill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en-US" sz="3100" dirty="0" smtClean="0"/>
              <a:t>When </a:t>
            </a:r>
            <a:r>
              <a:rPr lang="en-US" altLang="en-US" sz="3100" i="1" dirty="0" smtClean="0"/>
              <a:t>D</a:t>
            </a:r>
            <a:r>
              <a:rPr lang="en-US" altLang="en-US" sz="3100" dirty="0" smtClean="0"/>
              <a:t> is chosen, </a:t>
            </a:r>
            <a:r>
              <a:rPr lang="en-US" altLang="en-US" sz="3100" i="1" dirty="0" smtClean="0"/>
              <a:t>C</a:t>
            </a:r>
            <a:r>
              <a:rPr lang="en-US" altLang="en-US" sz="3100" dirty="0" smtClean="0"/>
              <a:t> must cost at least as much as </a:t>
            </a:r>
            <a:r>
              <a:rPr lang="en-US" altLang="en-US" sz="3100" i="1" dirty="0" smtClean="0"/>
              <a:t>D: 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sz="3100" i="1" baseline="30000" dirty="0" err="1" smtClean="0">
                <a:solidFill>
                  <a:srgbClr val="FF0000"/>
                </a:solidFill>
              </a:rPr>
              <a:t>D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D</a:t>
            </a:r>
            <a:r>
              <a:rPr lang="en-US" altLang="en-US" sz="3100" dirty="0" smtClean="0">
                <a:solidFill>
                  <a:srgbClr val="FF0000"/>
                </a:solidFill>
              </a:rPr>
              <a:t> + 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sz="3100" i="1" baseline="30000" dirty="0" err="1" smtClean="0">
                <a:solidFill>
                  <a:srgbClr val="FF0000"/>
                </a:solidFill>
              </a:rPr>
              <a:t>D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D</a:t>
            </a:r>
            <a:r>
              <a:rPr lang="en-US" altLang="en-US" sz="3100" dirty="0" smtClean="0">
                <a:solidFill>
                  <a:srgbClr val="FF0000"/>
                </a:solidFill>
              </a:rPr>
              <a:t> </a:t>
            </a:r>
            <a:r>
              <a:rPr lang="en-US" altLang="en-US" sz="3100" dirty="0" smtClean="0">
                <a:solidFill>
                  <a:srgbClr val="FF0000"/>
                </a:solidFill>
                <a:cs typeface="Arial" charset="0"/>
              </a:rPr>
              <a:t>≤ 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sz="3100" i="1" baseline="30000" dirty="0" err="1" smtClean="0">
                <a:solidFill>
                  <a:srgbClr val="FF0000"/>
                </a:solidFill>
              </a:rPr>
              <a:t>D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C</a:t>
            </a:r>
            <a:r>
              <a:rPr lang="en-US" altLang="en-US" sz="3100" dirty="0" smtClean="0">
                <a:solidFill>
                  <a:srgbClr val="FF0000"/>
                </a:solidFill>
              </a:rPr>
              <a:t> + 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sz="3100" i="1" baseline="30000" dirty="0" err="1" smtClean="0">
                <a:solidFill>
                  <a:srgbClr val="FF0000"/>
                </a:solidFill>
              </a:rPr>
              <a:t>D</a:t>
            </a:r>
            <a:r>
              <a:rPr lang="en-US" altLang="en-US" sz="3100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sz="3100" i="1" baseline="-25000" dirty="0" err="1" smtClean="0">
                <a:solidFill>
                  <a:srgbClr val="FF0000"/>
                </a:solidFill>
              </a:rPr>
              <a:t>C</a:t>
            </a:r>
            <a:endParaRPr lang="en-US" altLang="en-US" sz="31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DAE433-165B-4FF1-8C42-CDA62C606C3F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990600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Revealed Preference and the </a:t>
            </a:r>
            <a:r>
              <a:rPr lang="en-US" altLang="en-US" sz="3600" dirty="0" smtClean="0"/>
              <a:t/>
            </a:r>
            <a:br>
              <a:rPr lang="en-US" altLang="en-US" sz="3600" dirty="0" smtClean="0"/>
            </a:br>
            <a:r>
              <a:rPr lang="en-US" altLang="en-US" sz="3600" dirty="0" smtClean="0"/>
              <a:t>Negativity of the Substitution Effect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 smtClean="0"/>
              <a:t>Rearranging: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30000" dirty="0" err="1" smtClean="0">
                <a:solidFill>
                  <a:srgbClr val="FF0000"/>
                </a:solidFill>
              </a:rPr>
              <a:t>C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C</a:t>
            </a:r>
            <a:r>
              <a:rPr lang="en-US" altLang="en-US" dirty="0" smtClean="0">
                <a:solidFill>
                  <a:srgbClr val="FF0000"/>
                </a:solidFill>
              </a:rPr>
              <a:t> -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D</a:t>
            </a:r>
            <a:r>
              <a:rPr lang="en-US" altLang="en-US" dirty="0" smtClean="0">
                <a:solidFill>
                  <a:srgbClr val="FF0000"/>
                </a:solidFill>
              </a:rPr>
              <a:t>) +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baseline="30000" dirty="0" err="1" smtClean="0">
                <a:solidFill>
                  <a:srgbClr val="FF0000"/>
                </a:solidFill>
              </a:rPr>
              <a:t>C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C</a:t>
            </a:r>
            <a:r>
              <a:rPr lang="en-US" altLang="en-US" dirty="0" smtClean="0">
                <a:solidFill>
                  <a:srgbClr val="FF0000"/>
                </a:solidFill>
              </a:rPr>
              <a:t> -</a:t>
            </a:r>
            <a:r>
              <a:rPr lang="en-US" altLang="en-US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D</a:t>
            </a:r>
            <a:r>
              <a:rPr lang="en-US" altLang="en-US" dirty="0" smtClean="0">
                <a:solidFill>
                  <a:srgbClr val="FF0000"/>
                </a:solidFill>
              </a:rPr>
              <a:t>) </a:t>
            </a:r>
            <a:r>
              <a:rPr lang="en-US" altLang="en-US" dirty="0" smtClean="0">
                <a:solidFill>
                  <a:srgbClr val="FF0000"/>
                </a:solidFill>
                <a:cs typeface="Arial" charset="0"/>
              </a:rPr>
              <a:t>≤ 0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dirty="0" smtClean="0">
                <a:solidFill>
                  <a:schemeClr val="tx1"/>
                </a:solidFill>
              </a:rPr>
              <a:t>and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30000" dirty="0" err="1" smtClean="0">
                <a:solidFill>
                  <a:srgbClr val="FF0000"/>
                </a:solidFill>
              </a:rPr>
              <a:t>D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D</a:t>
            </a:r>
            <a:r>
              <a:rPr lang="en-US" altLang="en-US" dirty="0" smtClean="0">
                <a:solidFill>
                  <a:srgbClr val="FF0000"/>
                </a:solidFill>
              </a:rPr>
              <a:t> -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C</a:t>
            </a:r>
            <a:r>
              <a:rPr lang="en-US" altLang="en-US" dirty="0" smtClean="0">
                <a:solidFill>
                  <a:srgbClr val="FF0000"/>
                </a:solidFill>
              </a:rPr>
              <a:t>) +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baseline="30000" dirty="0" err="1" smtClean="0">
                <a:solidFill>
                  <a:srgbClr val="FF0000"/>
                </a:solidFill>
              </a:rPr>
              <a:t>D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D</a:t>
            </a:r>
            <a:r>
              <a:rPr lang="en-US" altLang="en-US" dirty="0" smtClean="0">
                <a:solidFill>
                  <a:srgbClr val="FF0000"/>
                </a:solidFill>
              </a:rPr>
              <a:t> -</a:t>
            </a:r>
            <a:r>
              <a:rPr lang="en-US" altLang="en-US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C</a:t>
            </a:r>
            <a:r>
              <a:rPr lang="en-US" altLang="en-US" dirty="0" smtClean="0">
                <a:solidFill>
                  <a:srgbClr val="FF0000"/>
                </a:solidFill>
              </a:rPr>
              <a:t>) </a:t>
            </a:r>
            <a:r>
              <a:rPr lang="en-US" altLang="en-US" dirty="0" smtClean="0">
                <a:solidFill>
                  <a:srgbClr val="FF0000"/>
                </a:solidFill>
                <a:cs typeface="Arial" charset="0"/>
              </a:rPr>
              <a:t>≤ 0</a:t>
            </a:r>
            <a:endParaRPr lang="en-US" altLang="en-US" sz="900" dirty="0" smtClean="0">
              <a:solidFill>
                <a:srgbClr val="7B332D"/>
              </a:solidFill>
              <a:cs typeface="Arial" charset="0"/>
            </a:endParaRPr>
          </a:p>
          <a:p>
            <a:pPr lvl="1">
              <a:lnSpc>
                <a:spcPct val="120000"/>
              </a:lnSpc>
            </a:pPr>
            <a:r>
              <a:rPr lang="en-US" altLang="en-US" dirty="0" smtClean="0"/>
              <a:t>Adding these together:</a:t>
            </a:r>
            <a:endParaRPr lang="en-US" altLang="en-US" dirty="0" smtClean="0">
              <a:solidFill>
                <a:srgbClr val="006A67"/>
              </a:solidFill>
            </a:endParaRPr>
          </a:p>
          <a:p>
            <a:pPr lvl="1" algn="ctr">
              <a:lnSpc>
                <a:spcPct val="120000"/>
              </a:lnSpc>
              <a:buFontTx/>
              <a:buNone/>
            </a:pP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30000" dirty="0" err="1" smtClean="0">
                <a:solidFill>
                  <a:srgbClr val="FF0000"/>
                </a:solidFill>
              </a:rPr>
              <a:t>C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–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30000" dirty="0" err="1" smtClean="0">
                <a:solidFill>
                  <a:srgbClr val="FF0000"/>
                </a:solidFill>
              </a:rPr>
              <a:t>D</a:t>
            </a:r>
            <a:r>
              <a:rPr lang="en-US" altLang="en-US" dirty="0" smtClean="0">
                <a:solidFill>
                  <a:srgbClr val="FF0000"/>
                </a:solidFill>
              </a:rPr>
              <a:t>)(</a:t>
            </a:r>
            <a:r>
              <a:rPr lang="en-US" altLang="en-US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C</a:t>
            </a:r>
            <a:r>
              <a:rPr lang="en-US" altLang="en-US" dirty="0" smtClean="0">
                <a:solidFill>
                  <a:srgbClr val="FF0000"/>
                </a:solidFill>
              </a:rPr>
              <a:t> -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D</a:t>
            </a:r>
            <a:r>
              <a:rPr lang="en-US" altLang="en-US" dirty="0" smtClean="0">
                <a:solidFill>
                  <a:srgbClr val="FF0000"/>
                </a:solidFill>
              </a:rPr>
              <a:t>) + 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baseline="30000" dirty="0" err="1" smtClean="0">
                <a:solidFill>
                  <a:srgbClr val="FF0000"/>
                </a:solidFill>
              </a:rPr>
              <a:t>C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–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baseline="30000" dirty="0" err="1" smtClean="0">
                <a:solidFill>
                  <a:srgbClr val="FF0000"/>
                </a:solidFill>
              </a:rPr>
              <a:t>D</a:t>
            </a:r>
            <a:r>
              <a:rPr lang="en-US" altLang="en-US" dirty="0" smtClean="0">
                <a:solidFill>
                  <a:srgbClr val="FF0000"/>
                </a:solidFill>
              </a:rPr>
              <a:t>)(</a:t>
            </a:r>
            <a:r>
              <a:rPr lang="en-US" altLang="en-US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C</a:t>
            </a:r>
            <a:r>
              <a:rPr lang="en-US" altLang="en-US" dirty="0" smtClean="0">
                <a:solidFill>
                  <a:srgbClr val="FF0000"/>
                </a:solidFill>
              </a:rPr>
              <a:t> -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y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D</a:t>
            </a:r>
            <a:r>
              <a:rPr lang="en-US" altLang="en-US" dirty="0" smtClean="0">
                <a:solidFill>
                  <a:srgbClr val="FF0000"/>
                </a:solidFill>
              </a:rPr>
              <a:t>) </a:t>
            </a:r>
            <a:r>
              <a:rPr lang="en-US" altLang="en-US" dirty="0" smtClean="0">
                <a:solidFill>
                  <a:srgbClr val="FF0000"/>
                </a:solidFill>
                <a:cs typeface="Arial" charset="0"/>
              </a:rPr>
              <a:t>≤ 0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pPr lvl="1"/>
            <a:r>
              <a:rPr lang="en-US" altLang="en-US" dirty="0" smtClean="0"/>
              <a:t>Suppose that only the price of x changes (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y</a:t>
            </a:r>
            <a:r>
              <a:rPr lang="en-US" altLang="en-US" i="1" baseline="30000" dirty="0" err="1" smtClean="0"/>
              <a:t>C</a:t>
            </a:r>
            <a:r>
              <a:rPr lang="en-US" altLang="en-US" dirty="0" smtClean="0"/>
              <a:t> =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y</a:t>
            </a:r>
            <a:r>
              <a:rPr lang="en-US" altLang="en-US" i="1" baseline="30000" dirty="0" err="1" smtClean="0"/>
              <a:t>D</a:t>
            </a:r>
            <a:r>
              <a:rPr lang="en-US" altLang="en-US" dirty="0" smtClean="0"/>
              <a:t>):  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30000" dirty="0" err="1" smtClean="0">
                <a:solidFill>
                  <a:srgbClr val="FF0000"/>
                </a:solidFill>
              </a:rPr>
              <a:t>C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</a:rPr>
              <a:t>–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30000" dirty="0" err="1" smtClean="0">
                <a:solidFill>
                  <a:srgbClr val="FF0000"/>
                </a:solidFill>
              </a:rPr>
              <a:t>D</a:t>
            </a:r>
            <a:r>
              <a:rPr lang="en-US" altLang="en-US" dirty="0" smtClean="0">
                <a:solidFill>
                  <a:srgbClr val="FF0000"/>
                </a:solidFill>
              </a:rPr>
              <a:t>)(</a:t>
            </a:r>
            <a:r>
              <a:rPr lang="en-US" altLang="en-US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C</a:t>
            </a:r>
            <a:r>
              <a:rPr lang="en-US" altLang="en-US" dirty="0" smtClean="0">
                <a:solidFill>
                  <a:srgbClr val="FF0000"/>
                </a:solidFill>
              </a:rPr>
              <a:t> - </a:t>
            </a:r>
            <a:r>
              <a:rPr lang="en-US" altLang="en-US" i="1" dirty="0" err="1" smtClean="0">
                <a:solidFill>
                  <a:srgbClr val="FF0000"/>
                </a:solidFill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</a:rPr>
              <a:t>D</a:t>
            </a:r>
            <a:r>
              <a:rPr lang="en-US" altLang="en-US" dirty="0" smtClean="0">
                <a:solidFill>
                  <a:srgbClr val="FF0000"/>
                </a:solidFill>
              </a:rPr>
              <a:t>) </a:t>
            </a:r>
            <a:r>
              <a:rPr lang="en-US" altLang="en-US" dirty="0" smtClean="0">
                <a:solidFill>
                  <a:srgbClr val="FF0000"/>
                </a:solidFill>
                <a:cs typeface="Arial" charset="0"/>
              </a:rPr>
              <a:t>≤ 0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pPr lvl="2"/>
            <a:r>
              <a:rPr lang="en-US" altLang="en-US" dirty="0" smtClean="0"/>
              <a:t>Price and quantity move in opposite direction when utility is held constant</a:t>
            </a:r>
          </a:p>
          <a:p>
            <a:pPr lvl="2"/>
            <a:r>
              <a:rPr lang="en-US" altLang="en-US" dirty="0" smtClean="0"/>
              <a:t>The substitution effect is negative</a:t>
            </a:r>
          </a:p>
          <a:p>
            <a:endParaRPr lang="en-US" alt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1B33205-178C-4754-A828-6667EAF6631D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5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Demand concepts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CBFB9B8-E044-421E-9E39-03B53D6B03C4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  <p:sp>
        <p:nvSpPr>
          <p:cNvPr id="89091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Consumer price index (CPI)</a:t>
            </a:r>
          </a:p>
          <a:p>
            <a:pPr lvl="1"/>
            <a:r>
              <a:rPr lang="en-US" altLang="en-US" smtClean="0"/>
              <a:t>‘‘Market basket’’ index of the cost of living</a:t>
            </a:r>
          </a:p>
          <a:p>
            <a:pPr lvl="3"/>
            <a:r>
              <a:rPr lang="en-US" altLang="en-US" smtClean="0"/>
              <a:t>Amounts that people consume of a set of goods in some base period</a:t>
            </a:r>
          </a:p>
          <a:p>
            <a:pPr lvl="3"/>
            <a:r>
              <a:rPr lang="en-US" altLang="en-US" smtClean="0"/>
              <a:t>Then use current price data to compute the changing price of this market basket</a:t>
            </a:r>
          </a:p>
          <a:p>
            <a:pPr lvl="1"/>
            <a:r>
              <a:rPr lang="en-US" altLang="en-US" smtClean="0"/>
              <a:t>Cost of the market basket</a:t>
            </a:r>
          </a:p>
          <a:p>
            <a:pPr lvl="2">
              <a:lnSpc>
                <a:spcPct val="150000"/>
              </a:lnSpc>
            </a:pPr>
            <a:r>
              <a:rPr lang="en-US" altLang="en-US" smtClean="0"/>
              <a:t>In the base period (0), I</a:t>
            </a:r>
            <a:r>
              <a:rPr lang="en-US" altLang="en-US" baseline="-25000" smtClean="0"/>
              <a:t>0</a:t>
            </a:r>
            <a:r>
              <a:rPr lang="en-US" altLang="en-US" smtClean="0"/>
              <a:t>=p</a:t>
            </a:r>
            <a:r>
              <a:rPr lang="en-US" altLang="en-US" baseline="-25000" smtClean="0"/>
              <a:t>x</a:t>
            </a:r>
            <a:r>
              <a:rPr lang="en-US" altLang="en-US" baseline="30000" smtClean="0"/>
              <a:t>0</a:t>
            </a:r>
            <a:r>
              <a:rPr lang="en-US" altLang="en-US" smtClean="0"/>
              <a:t>x</a:t>
            </a:r>
            <a:r>
              <a:rPr lang="en-US" altLang="en-US" baseline="-25000" smtClean="0"/>
              <a:t>0</a:t>
            </a:r>
            <a:r>
              <a:rPr lang="en-US" altLang="en-US" smtClean="0"/>
              <a:t>+p</a:t>
            </a:r>
            <a:r>
              <a:rPr lang="en-US" altLang="en-US" baseline="-25000" smtClean="0"/>
              <a:t>y</a:t>
            </a:r>
            <a:r>
              <a:rPr lang="en-US" altLang="en-US" baseline="30000" smtClean="0"/>
              <a:t>0</a:t>
            </a:r>
            <a:r>
              <a:rPr lang="en-US" altLang="en-US" smtClean="0"/>
              <a:t>y</a:t>
            </a:r>
            <a:r>
              <a:rPr lang="en-US" altLang="en-US" baseline="-25000" smtClean="0"/>
              <a:t>0</a:t>
            </a:r>
            <a:endParaRPr lang="en-US" altLang="en-US" smtClean="0"/>
          </a:p>
          <a:p>
            <a:pPr lvl="2">
              <a:lnSpc>
                <a:spcPct val="150000"/>
              </a:lnSpc>
            </a:pPr>
            <a:r>
              <a:rPr lang="en-US" altLang="en-US" smtClean="0"/>
              <a:t>In period 1, I</a:t>
            </a:r>
            <a:r>
              <a:rPr lang="en-US" altLang="en-US" baseline="-25000" smtClean="0"/>
              <a:t>1</a:t>
            </a:r>
            <a:r>
              <a:rPr lang="en-US" altLang="en-US" smtClean="0"/>
              <a:t>=p</a:t>
            </a:r>
            <a:r>
              <a:rPr lang="en-US" altLang="en-US" baseline="-25000" smtClean="0"/>
              <a:t>x</a:t>
            </a:r>
            <a:r>
              <a:rPr lang="en-US" altLang="en-US" baseline="30000" smtClean="0"/>
              <a:t>1</a:t>
            </a:r>
            <a:r>
              <a:rPr lang="en-US" altLang="en-US" smtClean="0"/>
              <a:t>x</a:t>
            </a:r>
            <a:r>
              <a:rPr lang="en-US" altLang="en-US" baseline="-25000" smtClean="0"/>
              <a:t>0</a:t>
            </a:r>
            <a:r>
              <a:rPr lang="en-US" altLang="en-US" smtClean="0"/>
              <a:t>+p</a:t>
            </a:r>
            <a:r>
              <a:rPr lang="en-US" altLang="en-US" baseline="-25000" smtClean="0"/>
              <a:t>y</a:t>
            </a:r>
            <a:r>
              <a:rPr lang="en-US" altLang="en-US" baseline="30000" smtClean="0"/>
              <a:t>1</a:t>
            </a:r>
            <a:r>
              <a:rPr lang="en-US" altLang="en-US" smtClean="0"/>
              <a:t>y</a:t>
            </a:r>
            <a:r>
              <a:rPr lang="en-US" altLang="en-US" baseline="-25000" smtClean="0"/>
              <a:t>0</a:t>
            </a:r>
          </a:p>
          <a:p>
            <a:pPr lvl="1"/>
            <a:r>
              <a:rPr lang="en-US" altLang="en-US" smtClean="0"/>
              <a:t>Change in the cost of living: I</a:t>
            </a:r>
            <a:r>
              <a:rPr lang="en-US" altLang="en-US" baseline="-25000" smtClean="0"/>
              <a:t>1</a:t>
            </a:r>
            <a:r>
              <a:rPr lang="en-US" altLang="en-US" smtClean="0"/>
              <a:t>/I</a:t>
            </a:r>
            <a:r>
              <a:rPr lang="en-US" altLang="en-US" baseline="-25000" smtClean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55180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 bwMode="auto">
          <a:xfrm>
            <a:off x="1219200" y="0"/>
            <a:ext cx="79248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E5.1	Relationships among Demand </a:t>
            </a:r>
            <a:r>
              <a:rPr lang="en-US" altLang="en-US" dirty="0" smtClean="0"/>
              <a:t>Concepts</a:t>
            </a:r>
          </a:p>
        </p:txBody>
      </p:sp>
      <p:sp>
        <p:nvSpPr>
          <p:cNvPr id="90116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8E82B81-B846-4626-975A-8FF79548428B}" type="slidenum">
              <a:rPr lang="en-US" smtClean="0"/>
              <a:pPr>
                <a:defRPr/>
              </a:pPr>
              <a:t>78</a:t>
            </a:fld>
            <a:endParaRPr lang="en-US" dirty="0"/>
          </a:p>
        </p:txBody>
      </p:sp>
      <p:pic>
        <p:nvPicPr>
          <p:cNvPr id="1679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609600"/>
            <a:ext cx="6029325" cy="568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823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smtClean="0"/>
              <a:t>Expenditure functions &amp; substitution bias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6A80312-F7A0-4485-AEAC-9D6846B139F4}" type="slidenum">
              <a:rPr lang="en-US" smtClean="0"/>
              <a:pPr>
                <a:defRPr/>
              </a:pPr>
              <a:t>79</a:t>
            </a:fld>
            <a:endParaRPr lang="en-US"/>
          </a:p>
        </p:txBody>
      </p:sp>
      <p:sp>
        <p:nvSpPr>
          <p:cNvPr id="91139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Market basket price indices</a:t>
            </a:r>
          </a:p>
          <a:p>
            <a:pPr lvl="1"/>
            <a:r>
              <a:rPr lang="en-US" altLang="en-US" smtClean="0"/>
              <a:t>Suffer from ‘‘substitution bias’’</a:t>
            </a:r>
          </a:p>
          <a:p>
            <a:pPr lvl="1"/>
            <a:r>
              <a:rPr lang="en-US" altLang="en-US" smtClean="0"/>
              <a:t>Do not permit individuals to make substitutions in the market basket </a:t>
            </a:r>
          </a:p>
          <a:p>
            <a:pPr lvl="2"/>
            <a:r>
              <a:rPr lang="en-US" altLang="en-US" smtClean="0"/>
              <a:t>In response to changes in relative prices</a:t>
            </a:r>
          </a:p>
          <a:p>
            <a:pPr lvl="1"/>
            <a:r>
              <a:rPr lang="en-US" altLang="en-US" smtClean="0"/>
              <a:t>Overstate the welfare losses that people incur from increasing prices</a:t>
            </a:r>
          </a:p>
        </p:txBody>
      </p:sp>
    </p:spTree>
    <p:extLst>
      <p:ext uri="{BB962C8B-B14F-4D97-AF65-F5344CB8AC3E}">
        <p14:creationId xmlns:p14="http://schemas.microsoft.com/office/powerpoint/2010/main" val="375199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5900738" cy="495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E5.2	Substitution Bias in the </a:t>
            </a:r>
            <a:r>
              <a:rPr lang="en-US" altLang="en-US" dirty="0" smtClean="0"/>
              <a:t>CPI</a:t>
            </a:r>
          </a:p>
        </p:txBody>
      </p:sp>
      <p:sp>
        <p:nvSpPr>
          <p:cNvPr id="92163" name="Text Placeholder 2"/>
          <p:cNvSpPr>
            <a:spLocks noGrp="1"/>
          </p:cNvSpPr>
          <p:nvPr>
            <p:ph sz="half" idx="1"/>
          </p:nvPr>
        </p:nvSpPr>
        <p:spPr>
          <a:xfrm>
            <a:off x="6096000" y="1143000"/>
            <a:ext cx="2895600" cy="4525963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Initially expenditures are given by E</a:t>
            </a:r>
            <a:r>
              <a:rPr lang="en-US" altLang="en-US" baseline="-25000" dirty="0"/>
              <a:t>0</a:t>
            </a:r>
            <a:r>
              <a:rPr lang="en-US" altLang="en-US" dirty="0"/>
              <a:t>, and this individual buys x</a:t>
            </a:r>
            <a:r>
              <a:rPr lang="en-US" altLang="en-US" baseline="-25000" dirty="0"/>
              <a:t>0</a:t>
            </a:r>
            <a:r>
              <a:rPr lang="en-US" altLang="en-US" dirty="0"/>
              <a:t>, y</a:t>
            </a:r>
            <a:r>
              <a:rPr lang="en-US" altLang="en-US" baseline="-25000" dirty="0"/>
              <a:t>0</a:t>
            </a:r>
            <a:r>
              <a:rPr lang="en-US" altLang="en-US" dirty="0"/>
              <a:t>. If 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x</a:t>
            </a:r>
            <a:r>
              <a:rPr lang="en-US" altLang="en-US" dirty="0"/>
              <a:t>/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y</a:t>
            </a:r>
            <a:r>
              <a:rPr lang="en-US" altLang="en-US" dirty="0"/>
              <a:t> decreases, utility level U</a:t>
            </a:r>
            <a:r>
              <a:rPr lang="en-US" altLang="en-US" baseline="-25000" dirty="0"/>
              <a:t>0 </a:t>
            </a:r>
            <a:r>
              <a:rPr lang="en-US" altLang="en-US" dirty="0"/>
              <a:t>can be reached most cheaply by consuming x</a:t>
            </a:r>
            <a:r>
              <a:rPr lang="en-US" altLang="en-US" baseline="-25000" dirty="0"/>
              <a:t>1</a:t>
            </a:r>
            <a:r>
              <a:rPr lang="en-US" altLang="en-US" dirty="0"/>
              <a:t>, y</a:t>
            </a:r>
            <a:r>
              <a:rPr lang="en-US" altLang="en-US" baseline="-25000" dirty="0"/>
              <a:t>1</a:t>
            </a:r>
            <a:r>
              <a:rPr lang="en-US" altLang="en-US" dirty="0"/>
              <a:t> and spending E</a:t>
            </a:r>
            <a:r>
              <a:rPr lang="en-US" altLang="en-US" baseline="-25000" dirty="0"/>
              <a:t>1</a:t>
            </a:r>
            <a:r>
              <a:rPr lang="en-US" altLang="en-US" dirty="0"/>
              <a:t>. Purchasing x</a:t>
            </a:r>
            <a:r>
              <a:rPr lang="en-US" altLang="en-US" baseline="-25000" dirty="0"/>
              <a:t>0</a:t>
            </a:r>
            <a:r>
              <a:rPr lang="en-US" altLang="en-US" dirty="0"/>
              <a:t>, y</a:t>
            </a:r>
            <a:r>
              <a:rPr lang="en-US" altLang="en-US" baseline="-25000" dirty="0"/>
              <a:t>0</a:t>
            </a:r>
            <a:r>
              <a:rPr lang="en-US" altLang="en-US" dirty="0"/>
              <a:t> at the new prices would cost more than E</a:t>
            </a:r>
            <a:r>
              <a:rPr lang="en-US" altLang="en-US" baseline="-25000" dirty="0"/>
              <a:t>1</a:t>
            </a:r>
            <a:r>
              <a:rPr lang="en-US" altLang="en-US" dirty="0"/>
              <a:t>. Hence holding the consumption bundle constant imparts an upward bias to CPI-type computations.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92164" name="Footer Placeholder 4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75CF3AD-C1F4-410A-9EA8-D85D1FE254E2}" type="slidenum">
              <a:rPr lang="en-US" smtClean="0"/>
              <a:pPr>
                <a:defRPr/>
              </a:pPr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493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/>
              <a:t>Roy’s identity and new goods bias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FD67B2-0469-4DB4-921D-987CB8BB615F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  <p:sp>
        <p:nvSpPr>
          <p:cNvPr id="93187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When new goods are introduced</a:t>
            </a:r>
          </a:p>
          <a:p>
            <a:pPr lvl="1"/>
            <a:r>
              <a:rPr lang="en-US" altLang="en-US" smtClean="0"/>
              <a:t>It takes some time for them to be integrated into the CPI</a:t>
            </a:r>
          </a:p>
          <a:p>
            <a:pPr lvl="2"/>
            <a:r>
              <a:rPr lang="en-US" altLang="en-US" smtClean="0"/>
              <a:t>15 years for cell-phones</a:t>
            </a:r>
          </a:p>
          <a:p>
            <a:pPr lvl="1"/>
            <a:r>
              <a:rPr lang="en-US" altLang="en-US" smtClean="0"/>
              <a:t>Market basket indices will fail to reflect the welfare gains that people experience from using new goods</a:t>
            </a:r>
          </a:p>
        </p:txBody>
      </p:sp>
    </p:spTree>
    <p:extLst>
      <p:ext uri="{BB962C8B-B14F-4D97-AF65-F5344CB8AC3E}">
        <p14:creationId xmlns:p14="http://schemas.microsoft.com/office/powerpoint/2010/main" val="38778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Other complaints about the CPI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A95349-9971-4883-9F73-29DB66BC6E3E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  <p:sp>
        <p:nvSpPr>
          <p:cNvPr id="94211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Focus on the consequences of using incorrect prices to compute the index</a:t>
            </a:r>
          </a:p>
          <a:p>
            <a:pPr lvl="1"/>
            <a:r>
              <a:rPr lang="en-US" altLang="en-US" smtClean="0"/>
              <a:t>Better quality - people are made better off</a:t>
            </a:r>
          </a:p>
          <a:p>
            <a:pPr lvl="2"/>
            <a:r>
              <a:rPr lang="en-US" altLang="en-US" smtClean="0"/>
              <a:t>Although this may not show up in the good’s price</a:t>
            </a:r>
          </a:p>
          <a:p>
            <a:pPr lvl="1"/>
            <a:r>
              <a:rPr lang="en-US" altLang="en-US" smtClean="0"/>
              <a:t>The opening of ‘‘big box’’ retailers</a:t>
            </a:r>
          </a:p>
          <a:p>
            <a:pPr lvl="2"/>
            <a:r>
              <a:rPr lang="en-US" altLang="en-US" smtClean="0"/>
              <a:t>Reduced the prices that consumers paid for various goods</a:t>
            </a:r>
          </a:p>
          <a:p>
            <a:pPr lvl="2"/>
            <a:r>
              <a:rPr lang="en-US" altLang="en-US" smtClean="0"/>
              <a:t>Including them into the CPI took several years</a:t>
            </a:r>
          </a:p>
        </p:txBody>
      </p:sp>
    </p:spTree>
    <p:extLst>
      <p:ext uri="{BB962C8B-B14F-4D97-AF65-F5344CB8AC3E}">
        <p14:creationId xmlns:p14="http://schemas.microsoft.com/office/powerpoint/2010/main" val="132623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Exact price indices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A30CB19-9A35-4EC0-ABB3-998F483293AD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  <p:sp>
        <p:nvSpPr>
          <p:cNvPr id="95235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Two goods, x and y</a:t>
            </a:r>
          </a:p>
          <a:p>
            <a:pPr lvl="1"/>
            <a:r>
              <a:rPr lang="en-US" altLang="en-US" smtClean="0"/>
              <a:t>Expenditure function E(p</a:t>
            </a:r>
            <a:r>
              <a:rPr lang="en-US" altLang="en-US" baseline="-25000" smtClean="0"/>
              <a:t>x</a:t>
            </a:r>
            <a:r>
              <a:rPr lang="en-US" altLang="en-US" smtClean="0"/>
              <a:t>,p</a:t>
            </a:r>
            <a:r>
              <a:rPr lang="en-US" altLang="en-US" baseline="-25000" smtClean="0"/>
              <a:t>y</a:t>
            </a:r>
            <a:r>
              <a:rPr lang="en-US" altLang="en-US" smtClean="0"/>
              <a:t>,U)</a:t>
            </a:r>
          </a:p>
          <a:p>
            <a:pPr lvl="1"/>
            <a:r>
              <a:rPr lang="en-US" altLang="en-US" smtClean="0"/>
              <a:t>How cost of attaining the target utility level Ū has changed between the two periods: </a:t>
            </a:r>
          </a:p>
          <a:p>
            <a:pPr lvl="1">
              <a:lnSpc>
                <a:spcPct val="150000"/>
              </a:lnSpc>
              <a:buFont typeface="Arial" charset="0"/>
              <a:buNone/>
            </a:pPr>
            <a:r>
              <a:rPr lang="en-US" altLang="en-US" smtClean="0"/>
              <a:t>I</a:t>
            </a:r>
            <a:r>
              <a:rPr lang="en-US" altLang="en-US" baseline="-25000" smtClean="0"/>
              <a:t>1,2</a:t>
            </a:r>
            <a:r>
              <a:rPr lang="en-US" altLang="en-US" smtClean="0"/>
              <a:t>= E(p</a:t>
            </a:r>
            <a:r>
              <a:rPr lang="en-US" altLang="en-US" baseline="30000" smtClean="0"/>
              <a:t>2</a:t>
            </a:r>
            <a:r>
              <a:rPr lang="en-US" altLang="en-US" baseline="-25000" smtClean="0"/>
              <a:t>x</a:t>
            </a:r>
            <a:r>
              <a:rPr lang="en-US" altLang="en-US" smtClean="0"/>
              <a:t>,p</a:t>
            </a:r>
            <a:r>
              <a:rPr lang="en-US" altLang="en-US" baseline="30000" smtClean="0"/>
              <a:t>2</a:t>
            </a:r>
            <a:r>
              <a:rPr lang="en-US" altLang="en-US" baseline="-25000" smtClean="0"/>
              <a:t>y</a:t>
            </a:r>
            <a:r>
              <a:rPr lang="en-US" altLang="en-US" smtClean="0"/>
              <a:t>,Ū)/E(p</a:t>
            </a:r>
            <a:r>
              <a:rPr lang="en-US" altLang="en-US" baseline="30000" smtClean="0"/>
              <a:t>1</a:t>
            </a:r>
            <a:r>
              <a:rPr lang="en-US" altLang="en-US" baseline="-25000" smtClean="0"/>
              <a:t>x</a:t>
            </a:r>
            <a:r>
              <a:rPr lang="en-US" altLang="en-US" smtClean="0"/>
              <a:t>,p</a:t>
            </a:r>
            <a:r>
              <a:rPr lang="en-US" altLang="en-US" baseline="30000" smtClean="0"/>
              <a:t>1</a:t>
            </a:r>
            <a:r>
              <a:rPr lang="en-US" altLang="en-US" baseline="-25000" smtClean="0"/>
              <a:t>y</a:t>
            </a:r>
            <a:r>
              <a:rPr lang="en-US" altLang="en-US" smtClean="0"/>
              <a:t>,Ū)</a:t>
            </a:r>
          </a:p>
          <a:p>
            <a:pPr lvl="1"/>
            <a:r>
              <a:rPr lang="en-US" altLang="en-US" smtClean="0"/>
              <a:t>Cobb–Douglas utility function, U(x,y)=x</a:t>
            </a:r>
            <a:r>
              <a:rPr lang="en-US" altLang="en-US" baseline="30000" smtClean="0">
                <a:sym typeface="Symbol" pitchFamily="18" charset="2"/>
              </a:rPr>
              <a:t></a:t>
            </a:r>
            <a:r>
              <a:rPr lang="en-US" altLang="en-US" smtClean="0">
                <a:sym typeface="Symbol" pitchFamily="18" charset="2"/>
              </a:rPr>
              <a:t>y</a:t>
            </a:r>
            <a:r>
              <a:rPr lang="en-US" altLang="en-US" baseline="30000" smtClean="0">
                <a:sym typeface="Symbol" pitchFamily="18" charset="2"/>
              </a:rPr>
              <a:t>1-</a:t>
            </a:r>
          </a:p>
          <a:p>
            <a:pPr lvl="2"/>
            <a:r>
              <a:rPr lang="en-US" altLang="en-US" smtClean="0"/>
              <a:t>Expenditure function: </a:t>
            </a:r>
          </a:p>
          <a:p>
            <a:pPr lvl="2">
              <a:lnSpc>
                <a:spcPct val="150000"/>
              </a:lnSpc>
            </a:pPr>
            <a:r>
              <a:rPr lang="en-US" altLang="en-US" smtClean="0"/>
              <a:t>E(p</a:t>
            </a:r>
            <a:r>
              <a:rPr lang="en-US" altLang="en-US" baseline="-25000" smtClean="0"/>
              <a:t>x</a:t>
            </a:r>
            <a:r>
              <a:rPr lang="en-US" altLang="en-US" smtClean="0"/>
              <a:t>,p</a:t>
            </a:r>
            <a:r>
              <a:rPr lang="en-US" altLang="en-US" baseline="-25000" smtClean="0"/>
              <a:t>y</a:t>
            </a:r>
            <a:r>
              <a:rPr lang="en-US" altLang="en-US" smtClean="0"/>
              <a:t>,U)= p</a:t>
            </a:r>
            <a:r>
              <a:rPr lang="en-US" altLang="en-US" baseline="-25000" smtClean="0"/>
              <a:t>x</a:t>
            </a:r>
            <a:r>
              <a:rPr lang="en-US" altLang="en-US" baseline="30000" smtClean="0">
                <a:sym typeface="Symbol" pitchFamily="18" charset="2"/>
              </a:rPr>
              <a:t></a:t>
            </a:r>
            <a:r>
              <a:rPr lang="en-US" altLang="en-US" smtClean="0">
                <a:sym typeface="Symbol" pitchFamily="18" charset="2"/>
              </a:rPr>
              <a:t>p</a:t>
            </a:r>
            <a:r>
              <a:rPr lang="en-US" altLang="en-US" baseline="-25000" smtClean="0">
                <a:sym typeface="Symbol" pitchFamily="18" charset="2"/>
              </a:rPr>
              <a:t>y</a:t>
            </a:r>
            <a:r>
              <a:rPr lang="en-US" altLang="en-US" baseline="30000" smtClean="0">
                <a:sym typeface="Symbol" pitchFamily="18" charset="2"/>
              </a:rPr>
              <a:t>1- </a:t>
            </a:r>
            <a:r>
              <a:rPr lang="en-US" altLang="en-US" smtClean="0">
                <a:sym typeface="Symbol" pitchFamily="18" charset="2"/>
              </a:rPr>
              <a:t>U/</a:t>
            </a:r>
            <a:r>
              <a:rPr lang="en-US" altLang="en-US" baseline="30000" smtClean="0">
                <a:sym typeface="Symbol" pitchFamily="18" charset="2"/>
              </a:rPr>
              <a:t></a:t>
            </a:r>
            <a:r>
              <a:rPr lang="en-US" altLang="en-US" smtClean="0">
                <a:sym typeface="Symbol" pitchFamily="18" charset="2"/>
              </a:rPr>
              <a:t>(1-)</a:t>
            </a:r>
            <a:r>
              <a:rPr lang="en-US" altLang="en-US" baseline="30000" smtClean="0">
                <a:sym typeface="Symbol" pitchFamily="18" charset="2"/>
              </a:rPr>
              <a:t>1-</a:t>
            </a:r>
            <a:r>
              <a:rPr lang="en-US" altLang="en-US" smtClean="0"/>
              <a:t>=k p</a:t>
            </a:r>
            <a:r>
              <a:rPr lang="en-US" altLang="en-US" baseline="-25000" smtClean="0"/>
              <a:t>x</a:t>
            </a:r>
            <a:r>
              <a:rPr lang="en-US" altLang="en-US" baseline="30000" smtClean="0">
                <a:sym typeface="Symbol" pitchFamily="18" charset="2"/>
              </a:rPr>
              <a:t></a:t>
            </a:r>
            <a:r>
              <a:rPr lang="en-US" altLang="en-US" smtClean="0">
                <a:sym typeface="Symbol" pitchFamily="18" charset="2"/>
              </a:rPr>
              <a:t>p</a:t>
            </a:r>
            <a:r>
              <a:rPr lang="en-US" altLang="en-US" baseline="-25000" smtClean="0">
                <a:sym typeface="Symbol" pitchFamily="18" charset="2"/>
              </a:rPr>
              <a:t>y</a:t>
            </a:r>
            <a:r>
              <a:rPr lang="en-US" altLang="en-US" baseline="30000" smtClean="0">
                <a:sym typeface="Symbol" pitchFamily="18" charset="2"/>
              </a:rPr>
              <a:t>1- </a:t>
            </a:r>
            <a:r>
              <a:rPr lang="en-US" altLang="en-US" smtClean="0">
                <a:sym typeface="Symbol" pitchFamily="18" charset="2"/>
              </a:rPr>
              <a:t>U</a:t>
            </a:r>
          </a:p>
          <a:p>
            <a:pPr lvl="2">
              <a:lnSpc>
                <a:spcPct val="150000"/>
              </a:lnSpc>
            </a:pPr>
            <a:r>
              <a:rPr lang="en-US" altLang="en-US" smtClean="0"/>
              <a:t>I</a:t>
            </a:r>
            <a:r>
              <a:rPr lang="en-US" altLang="en-US" baseline="-25000" smtClean="0"/>
              <a:t>1,2</a:t>
            </a:r>
            <a:r>
              <a:rPr lang="en-US" altLang="en-US" smtClean="0"/>
              <a:t>= [(p</a:t>
            </a:r>
            <a:r>
              <a:rPr lang="en-US" altLang="en-US" baseline="30000" smtClean="0"/>
              <a:t>2</a:t>
            </a:r>
            <a:r>
              <a:rPr lang="en-US" altLang="en-US" baseline="-25000" smtClean="0"/>
              <a:t>x</a:t>
            </a:r>
            <a:r>
              <a:rPr lang="en-US" altLang="en-US" smtClean="0"/>
              <a:t>)</a:t>
            </a:r>
            <a:r>
              <a:rPr lang="en-US" altLang="en-US" baseline="30000" smtClean="0">
                <a:sym typeface="Symbol" pitchFamily="18" charset="2"/>
              </a:rPr>
              <a:t></a:t>
            </a:r>
            <a:r>
              <a:rPr lang="en-US" altLang="en-US" smtClean="0">
                <a:sym typeface="Symbol" pitchFamily="18" charset="2"/>
              </a:rPr>
              <a:t>(p</a:t>
            </a:r>
            <a:r>
              <a:rPr lang="en-US" altLang="en-US" baseline="30000" smtClean="0">
                <a:sym typeface="Symbol" pitchFamily="18" charset="2"/>
              </a:rPr>
              <a:t>2</a:t>
            </a:r>
            <a:r>
              <a:rPr lang="en-US" altLang="en-US" baseline="-25000" smtClean="0">
                <a:sym typeface="Symbol" pitchFamily="18" charset="2"/>
              </a:rPr>
              <a:t>y</a:t>
            </a:r>
            <a:r>
              <a:rPr lang="en-US" altLang="en-US" smtClean="0">
                <a:sym typeface="Symbol" pitchFamily="18" charset="2"/>
              </a:rPr>
              <a:t>)</a:t>
            </a:r>
            <a:r>
              <a:rPr lang="en-US" altLang="en-US" baseline="30000" smtClean="0">
                <a:sym typeface="Symbol" pitchFamily="18" charset="2"/>
              </a:rPr>
              <a:t>1- </a:t>
            </a:r>
            <a:r>
              <a:rPr lang="en-US" altLang="en-US" smtClean="0">
                <a:sym typeface="Symbol" pitchFamily="18" charset="2"/>
              </a:rPr>
              <a:t>]/[</a:t>
            </a:r>
            <a:r>
              <a:rPr lang="en-US" altLang="en-US" smtClean="0"/>
              <a:t>(p</a:t>
            </a:r>
            <a:r>
              <a:rPr lang="en-US" altLang="en-US" baseline="30000" smtClean="0"/>
              <a:t>1</a:t>
            </a:r>
            <a:r>
              <a:rPr lang="en-US" altLang="en-US" baseline="-25000" smtClean="0"/>
              <a:t>x</a:t>
            </a:r>
            <a:r>
              <a:rPr lang="en-US" altLang="en-US" smtClean="0"/>
              <a:t>)</a:t>
            </a:r>
            <a:r>
              <a:rPr lang="en-US" altLang="en-US" baseline="30000" smtClean="0">
                <a:sym typeface="Symbol" pitchFamily="18" charset="2"/>
              </a:rPr>
              <a:t></a:t>
            </a:r>
            <a:r>
              <a:rPr lang="en-US" altLang="en-US" smtClean="0">
                <a:sym typeface="Symbol" pitchFamily="18" charset="2"/>
              </a:rPr>
              <a:t>(p</a:t>
            </a:r>
            <a:r>
              <a:rPr lang="en-US" altLang="en-US" baseline="30000" smtClean="0">
                <a:sym typeface="Symbol" pitchFamily="18" charset="2"/>
              </a:rPr>
              <a:t>1</a:t>
            </a:r>
            <a:r>
              <a:rPr lang="en-US" altLang="en-US" baseline="-25000" smtClean="0">
                <a:sym typeface="Symbol" pitchFamily="18" charset="2"/>
              </a:rPr>
              <a:t>y</a:t>
            </a:r>
            <a:r>
              <a:rPr lang="en-US" altLang="en-US" smtClean="0">
                <a:sym typeface="Symbol" pitchFamily="18" charset="2"/>
              </a:rPr>
              <a:t>)</a:t>
            </a:r>
            <a:r>
              <a:rPr lang="en-US" altLang="en-US" baseline="30000" smtClean="0">
                <a:sym typeface="Symbol" pitchFamily="18" charset="2"/>
              </a:rPr>
              <a:t>1-</a:t>
            </a:r>
            <a:r>
              <a:rPr lang="en-US" altLang="en-US" smtClean="0">
                <a:sym typeface="Symbol" pitchFamily="18" charset="2"/>
              </a:rPr>
              <a:t>]</a:t>
            </a: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99995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/>
              <a:t>Development of exact price indices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985202-22B5-42A9-A522-0ECB3B0895DD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  <p:sp>
        <p:nvSpPr>
          <p:cNvPr id="27652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The almost ideal demand system</a:t>
            </a:r>
          </a:p>
          <a:p>
            <a:pPr lvl="1"/>
            <a:r>
              <a:rPr lang="en-US" altLang="en-US" smtClean="0"/>
              <a:t>Implies an exact price index (I) that takes a ‘‘Divisia’’ form</a:t>
            </a:r>
          </a:p>
          <a:p>
            <a:pPr lvl="1"/>
            <a:endParaRPr lang="en-US" altLang="en-US" smtClean="0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820738" y="2630488"/>
          <a:ext cx="7848600" cy="223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12" name="Equation" r:id="rId3" imgW="3390840" imgH="965160" progId="Equation.DSMT4">
                  <p:embed/>
                </p:oleObj>
              </mc:Choice>
              <mc:Fallback>
                <p:oleObj name="Equation" r:id="rId3" imgW="339084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2630488"/>
                        <a:ext cx="7848600" cy="223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35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p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ig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examp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extens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4823</TotalTime>
  <Words>9180</Words>
  <Application>Microsoft Office PowerPoint</Application>
  <PresentationFormat>On-screen Show (4:3)</PresentationFormat>
  <Paragraphs>752</Paragraphs>
  <Slides>84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1" baseType="lpstr">
      <vt:lpstr>chapter</vt:lpstr>
      <vt:lpstr>main</vt:lpstr>
      <vt:lpstr>figure</vt:lpstr>
      <vt:lpstr>table</vt:lpstr>
      <vt:lpstr>example</vt:lpstr>
      <vt:lpstr>extensions</vt:lpstr>
      <vt:lpstr>Equation</vt:lpstr>
      <vt:lpstr>CHAPTER    Income and   5    Substitution Effects </vt:lpstr>
      <vt:lpstr>Demand Functions</vt:lpstr>
      <vt:lpstr>Demand Functions</vt:lpstr>
      <vt:lpstr>Demand Functions</vt:lpstr>
      <vt:lpstr>5.1  Homogeneity</vt:lpstr>
      <vt:lpstr>Changes in Income</vt:lpstr>
      <vt:lpstr>Changes in Income</vt:lpstr>
      <vt:lpstr>5.1 Effect of an Increase in Income on the  Quantities of x and y Chosen</vt:lpstr>
      <vt:lpstr>5.2 An Indifference Curve Map Exhibiting   Inferiority</vt:lpstr>
      <vt:lpstr>Changes in a Good’s Price</vt:lpstr>
      <vt:lpstr>Changes in a Good’s Price</vt:lpstr>
      <vt:lpstr>Changes in a Good’s Price</vt:lpstr>
      <vt:lpstr>5.3  Demonstration of Income and Substitution  Effects of a Decrease in the Price of x</vt:lpstr>
      <vt:lpstr>5.4  Demonstration of Income and Substitution  Effects of an Increase in the Price of x </vt:lpstr>
      <vt:lpstr>Changes in a Good’s Price</vt:lpstr>
      <vt:lpstr>Changes in a Good’s Price</vt:lpstr>
      <vt:lpstr>Changes in a Good’s Price</vt:lpstr>
      <vt:lpstr>Changes in a Good’s Price</vt:lpstr>
      <vt:lpstr>Changes in a Good’s Price</vt:lpstr>
      <vt:lpstr>Changes in a Good’s Price</vt:lpstr>
      <vt:lpstr>The Individual’s Demand Curve</vt:lpstr>
      <vt:lpstr>5.5 Construction of an Individual’s Demand Curve</vt:lpstr>
      <vt:lpstr>The Individual’s Demand Curve</vt:lpstr>
      <vt:lpstr>The Individual’s Demand Curve</vt:lpstr>
      <vt:lpstr>The Individual’s Demand Curve</vt:lpstr>
      <vt:lpstr>5.2  Demand Functions and Demand Curves</vt:lpstr>
      <vt:lpstr>5.2  Demand Functions and Demand Curves</vt:lpstr>
      <vt:lpstr>Compensated (HICKSIAN) Demand  Curves and Functions</vt:lpstr>
      <vt:lpstr>Compensated (HICKSIAN) Demand  Curves and Functions</vt:lpstr>
      <vt:lpstr>Compensated (HICKSIAN) Demand  Curves and Functions</vt:lpstr>
      <vt:lpstr>5.6 Construction of a Compensated Demand  Curve</vt:lpstr>
      <vt:lpstr>Compensated (HICKSIAN) Demand  Curves and Functions</vt:lpstr>
      <vt:lpstr>Compensated (HICKSIAN) Demand  Curves and Functions</vt:lpstr>
      <vt:lpstr>5.7 Comparison of Compensated and  Uncompensated Demand Curves</vt:lpstr>
      <vt:lpstr>5.3  Compensated Demand Functions</vt:lpstr>
      <vt:lpstr>A Mathematical Development of Response to Price Changes</vt:lpstr>
      <vt:lpstr>A Mathematical Development of Response to Price Changes</vt:lpstr>
      <vt:lpstr>A Mathematical Development of Response to Price Changes</vt:lpstr>
      <vt:lpstr>A Mathematical Development of Response to Price Changes</vt:lpstr>
      <vt:lpstr>A Mathematical Development of Response to Price Changes</vt:lpstr>
      <vt:lpstr>5.4  A Slutsky Decomposition</vt:lpstr>
      <vt:lpstr>5.4  A Slutsky Decomposition</vt:lpstr>
      <vt:lpstr>Marshallian Demand Elasticities</vt:lpstr>
      <vt:lpstr>Marshallian Demand Elasticities</vt:lpstr>
      <vt:lpstr>Marshallian Demand Elasticities</vt:lpstr>
      <vt:lpstr>Price elasticity of demand</vt:lpstr>
      <vt:lpstr>Price Elasticity of Demand</vt:lpstr>
      <vt:lpstr>Compensated Price Elasticities</vt:lpstr>
      <vt:lpstr>Compensated Price Elasticities</vt:lpstr>
      <vt:lpstr>Compensated Price Elasticities</vt:lpstr>
      <vt:lpstr>Compensated Price Elasticities</vt:lpstr>
      <vt:lpstr>Relationships among Demand Elasticities</vt:lpstr>
      <vt:lpstr>Relationships among Demand Elasticities</vt:lpstr>
      <vt:lpstr>Relationships among Demand Elasticities</vt:lpstr>
      <vt:lpstr>Relationships among Demand Elasticities</vt:lpstr>
      <vt:lpstr>5.5  Demand Elasticities: The Importance of  Substitution Effects</vt:lpstr>
      <vt:lpstr>5.5  Demand Elasticities: The Importance of  Substitution Effects</vt:lpstr>
      <vt:lpstr>5.5  Demand Elasticities: The Importance of  Substitution Effects</vt:lpstr>
      <vt:lpstr>5.5  Demand Elasticities: The Importance of  Substitution Effects</vt:lpstr>
      <vt:lpstr>5.5  Demand Elasticities: The Importance of  Substitution Effects</vt:lpstr>
      <vt:lpstr>5.5  Demand Elasticities: The Importance of  Substitution Effects</vt:lpstr>
      <vt:lpstr>Consumer Surplus</vt:lpstr>
      <vt:lpstr>5.8  Showing Compensating Variation   (a) Indifference curve map</vt:lpstr>
      <vt:lpstr>5.8  Showing Compensating Variation   (b) Compensated demand curve</vt:lpstr>
      <vt:lpstr>Consumer Surplus</vt:lpstr>
      <vt:lpstr>Consumer Surplus</vt:lpstr>
      <vt:lpstr>Consumer Surplus</vt:lpstr>
      <vt:lpstr>Consumer Surplus</vt:lpstr>
      <vt:lpstr>5.9 Welfare Effects of Price Changes and the  Marshallian Demand Curve</vt:lpstr>
      <vt:lpstr>5.6  Welfare Loss from a Price Increase</vt:lpstr>
      <vt:lpstr>5.6  Welfare Loss from a Price Increase</vt:lpstr>
      <vt:lpstr>Revealed Preference and  The Substitution Effect</vt:lpstr>
      <vt:lpstr>Revealed Preference and The Substitution Effect</vt:lpstr>
      <vt:lpstr>5.10 Demonstration of the Principle of Rationality   in the Theory of Revealed Preference</vt:lpstr>
      <vt:lpstr>Revealed Preference and the  Negativity of the Substitution Effect</vt:lpstr>
      <vt:lpstr>Revealed Preference and the  Negativity of the Substitution Effect</vt:lpstr>
      <vt:lpstr>Demand concepts</vt:lpstr>
      <vt:lpstr>E5.1 Relationships among Demand Concepts</vt:lpstr>
      <vt:lpstr>Expenditure functions &amp; substitution bias</vt:lpstr>
      <vt:lpstr>E5.2 Substitution Bias in the CPI</vt:lpstr>
      <vt:lpstr>Roy’s identity and new goods bias</vt:lpstr>
      <vt:lpstr>Other complaints about the CPI</vt:lpstr>
      <vt:lpstr>Exact price indices</vt:lpstr>
      <vt:lpstr>Development of exact price indices</vt:lpstr>
    </vt:vector>
  </TitlesOfParts>
  <Company>Eastern Illinois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Andreea Chiritescu</dc:creator>
  <cp:lastModifiedBy>Andreea Chiritescu</cp:lastModifiedBy>
  <cp:revision>243</cp:revision>
  <dcterms:created xsi:type="dcterms:W3CDTF">2016-06-05T19:40:39Z</dcterms:created>
  <dcterms:modified xsi:type="dcterms:W3CDTF">2016-06-13T15:38:08Z</dcterms:modified>
</cp:coreProperties>
</file>