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5.xml" ContentType="application/vnd.openxmlformats-officedocument.theme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4" r:id="rId3"/>
    <p:sldMasterId id="2147483677" r:id="rId4"/>
    <p:sldMasterId id="2147483669" r:id="rId5"/>
    <p:sldMasterId id="2147483672" r:id="rId6"/>
  </p:sldMasterIdLst>
  <p:notesMasterIdLst>
    <p:notesMasterId r:id="rId152"/>
  </p:notesMasterIdLst>
  <p:handoutMasterIdLst>
    <p:handoutMasterId r:id="rId153"/>
  </p:handoutMasterIdLst>
  <p:sldIdLst>
    <p:sldId id="258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402" r:id="rId41"/>
    <p:sldId id="403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3" r:id="rId65"/>
    <p:sldId id="324" r:id="rId66"/>
    <p:sldId id="325" r:id="rId67"/>
    <p:sldId id="326" r:id="rId68"/>
    <p:sldId id="327" r:id="rId69"/>
    <p:sldId id="404" r:id="rId70"/>
    <p:sldId id="328" r:id="rId71"/>
    <p:sldId id="329" r:id="rId72"/>
    <p:sldId id="330" r:id="rId73"/>
    <p:sldId id="331" r:id="rId74"/>
    <p:sldId id="332" r:id="rId75"/>
    <p:sldId id="333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5" r:id="rId87"/>
    <p:sldId id="346" r:id="rId88"/>
    <p:sldId id="405" r:id="rId89"/>
    <p:sldId id="347" r:id="rId90"/>
    <p:sldId id="348" r:id="rId91"/>
    <p:sldId id="349" r:id="rId92"/>
    <p:sldId id="350" r:id="rId93"/>
    <p:sldId id="351" r:id="rId94"/>
    <p:sldId id="352" r:id="rId95"/>
    <p:sldId id="406" r:id="rId96"/>
    <p:sldId id="407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408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9" r:id="rId148"/>
    <p:sldId id="410" r:id="rId149"/>
    <p:sldId id="411" r:id="rId150"/>
    <p:sldId id="412" r:id="rId1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4" autoAdjust="0"/>
    <p:restoredTop sz="83799" autoAdjust="0"/>
  </p:normalViewPr>
  <p:slideViewPr>
    <p:cSldViewPr>
      <p:cViewPr>
        <p:scale>
          <a:sx n="70" d="100"/>
          <a:sy n="70" d="100"/>
        </p:scale>
        <p:origin x="-138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48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0364"/>
    </p:cViewPr>
  </p:sorterViewPr>
  <p:notesViewPr>
    <p:cSldViewPr>
      <p:cViewPr varScale="1">
        <p:scale>
          <a:sx n="53" d="100"/>
          <a:sy n="53" d="100"/>
        </p:scale>
        <p:origin x="-29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117" Type="http://schemas.openxmlformats.org/officeDocument/2006/relationships/slide" Target="slides/slide111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12" Type="http://schemas.openxmlformats.org/officeDocument/2006/relationships/slide" Target="slides/slide106.xml"/><Relationship Id="rId133" Type="http://schemas.openxmlformats.org/officeDocument/2006/relationships/slide" Target="slides/slide127.xml"/><Relationship Id="rId138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0.xml"/><Relationship Id="rId107" Type="http://schemas.openxmlformats.org/officeDocument/2006/relationships/slide" Target="slides/slide101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123" Type="http://schemas.openxmlformats.org/officeDocument/2006/relationships/slide" Target="slides/slide117.xml"/><Relationship Id="rId128" Type="http://schemas.openxmlformats.org/officeDocument/2006/relationships/slide" Target="slides/slide122.xml"/><Relationship Id="rId144" Type="http://schemas.openxmlformats.org/officeDocument/2006/relationships/slide" Target="slides/slide138.xml"/><Relationship Id="rId149" Type="http://schemas.openxmlformats.org/officeDocument/2006/relationships/slide" Target="slides/slide143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113" Type="http://schemas.openxmlformats.org/officeDocument/2006/relationships/slide" Target="slides/slide107.xml"/><Relationship Id="rId118" Type="http://schemas.openxmlformats.org/officeDocument/2006/relationships/slide" Target="slides/slide112.xml"/><Relationship Id="rId134" Type="http://schemas.openxmlformats.org/officeDocument/2006/relationships/slide" Target="slides/slide128.xml"/><Relationship Id="rId139" Type="http://schemas.openxmlformats.org/officeDocument/2006/relationships/slide" Target="slides/slide13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50" Type="http://schemas.openxmlformats.org/officeDocument/2006/relationships/slide" Target="slides/slide144.xml"/><Relationship Id="rId155" Type="http://schemas.openxmlformats.org/officeDocument/2006/relationships/viewProps" Target="view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08" Type="http://schemas.openxmlformats.org/officeDocument/2006/relationships/slide" Target="slides/slide102.xml"/><Relationship Id="rId124" Type="http://schemas.openxmlformats.org/officeDocument/2006/relationships/slide" Target="slides/slide118.xml"/><Relationship Id="rId129" Type="http://schemas.openxmlformats.org/officeDocument/2006/relationships/slide" Target="slides/slide123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11" Type="http://schemas.openxmlformats.org/officeDocument/2006/relationships/slide" Target="slides/slide105.xml"/><Relationship Id="rId132" Type="http://schemas.openxmlformats.org/officeDocument/2006/relationships/slide" Target="slides/slide126.xml"/><Relationship Id="rId140" Type="http://schemas.openxmlformats.org/officeDocument/2006/relationships/slide" Target="slides/slide134.xml"/><Relationship Id="rId145" Type="http://schemas.openxmlformats.org/officeDocument/2006/relationships/slide" Target="slides/slide139.xml"/><Relationship Id="rId15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Relationship Id="rId114" Type="http://schemas.openxmlformats.org/officeDocument/2006/relationships/slide" Target="slides/slide108.xml"/><Relationship Id="rId119" Type="http://schemas.openxmlformats.org/officeDocument/2006/relationships/slide" Target="slides/slide113.xml"/><Relationship Id="rId127" Type="http://schemas.openxmlformats.org/officeDocument/2006/relationships/slide" Target="slides/slide12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122" Type="http://schemas.openxmlformats.org/officeDocument/2006/relationships/slide" Target="slides/slide116.xml"/><Relationship Id="rId130" Type="http://schemas.openxmlformats.org/officeDocument/2006/relationships/slide" Target="slides/slide124.xml"/><Relationship Id="rId135" Type="http://schemas.openxmlformats.org/officeDocument/2006/relationships/slide" Target="slides/slide129.xml"/><Relationship Id="rId143" Type="http://schemas.openxmlformats.org/officeDocument/2006/relationships/slide" Target="slides/slide137.xml"/><Relationship Id="rId148" Type="http://schemas.openxmlformats.org/officeDocument/2006/relationships/slide" Target="slides/slide142.xml"/><Relationship Id="rId151" Type="http://schemas.openxmlformats.org/officeDocument/2006/relationships/slide" Target="slides/slide145.xml"/><Relationship Id="rId156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slide" Target="slides/slide10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slide" Target="slides/slide98.xml"/><Relationship Id="rId120" Type="http://schemas.openxmlformats.org/officeDocument/2006/relationships/slide" Target="slides/slide114.xml"/><Relationship Id="rId125" Type="http://schemas.openxmlformats.org/officeDocument/2006/relationships/slide" Target="slides/slide119.xml"/><Relationship Id="rId141" Type="http://schemas.openxmlformats.org/officeDocument/2006/relationships/slide" Target="slides/slide135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slide" Target="slides/slide104.xml"/><Relationship Id="rId115" Type="http://schemas.openxmlformats.org/officeDocument/2006/relationships/slide" Target="slides/slide109.xml"/><Relationship Id="rId131" Type="http://schemas.openxmlformats.org/officeDocument/2006/relationships/slide" Target="slides/slide125.xml"/><Relationship Id="rId136" Type="http://schemas.openxmlformats.org/officeDocument/2006/relationships/slide" Target="slides/slide130.xml"/><Relationship Id="rId157" Type="http://schemas.openxmlformats.org/officeDocument/2006/relationships/tableStyles" Target="tableStyles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126" Type="http://schemas.openxmlformats.org/officeDocument/2006/relationships/slide" Target="slides/slide120.xml"/><Relationship Id="rId147" Type="http://schemas.openxmlformats.org/officeDocument/2006/relationships/slide" Target="slides/slide14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121" Type="http://schemas.openxmlformats.org/officeDocument/2006/relationships/slide" Target="slides/slide115.xml"/><Relationship Id="rId142" Type="http://schemas.openxmlformats.org/officeDocument/2006/relationships/slide" Target="slides/slide136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116" Type="http://schemas.openxmlformats.org/officeDocument/2006/relationships/slide" Target="slides/slide110.xml"/><Relationship Id="rId137" Type="http://schemas.openxmlformats.org/officeDocument/2006/relationships/slide" Target="slides/slide13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4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image" Target="../media/image62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e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drawings/_rels/vmlDrawing5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image" Target="../media/image97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wmf"/><Relationship Id="rId1" Type="http://schemas.openxmlformats.org/officeDocument/2006/relationships/image" Target="../media/image99.emf"/><Relationship Id="rId4" Type="http://schemas.openxmlformats.org/officeDocument/2006/relationships/image" Target="../media/image102.w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e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image" Target="../media/image105.emf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image" Target="../media/image107.w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9.w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w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w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w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w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emf"/></Relationships>
</file>

<file path=ppt/drawings/_rels/vmlDrawing6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w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0.w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w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2.w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w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143B-620F-4987-B4C6-8DA41D14F534}" type="datetimeFigureOut">
              <a:rPr lang="en-US" smtClean="0"/>
              <a:t>6/13/2016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E537F-0D91-4DE0-B9F5-55E2B2118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92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7A522-1067-4090-8338-D2D3A24AAAF6}" type="datetimeFigureOut">
              <a:rPr lang="en-US" smtClean="0"/>
              <a:t>6/13/2016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A4D4-42B8-482F-A3F9-BD6E0B3B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1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9A4D4-42B8-482F-A3F9-BD6E0B3BC1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0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971800"/>
            <a:ext cx="9144000" cy="1676400"/>
          </a:xfrm>
          <a:prstGeom prst="rect">
            <a:avLst/>
          </a:prstGeom>
          <a:noFill/>
        </p:spPr>
        <p:txBody>
          <a:bodyPr/>
          <a:lstStyle>
            <a:lvl1pPr marL="91440">
              <a:lnSpc>
                <a:spcPct val="100000"/>
              </a:lnSpc>
              <a:spcBef>
                <a:spcPts val="600"/>
              </a:spcBef>
              <a:defRPr sz="5400" b="0"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				Master title style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-76200" y="0"/>
            <a:ext cx="9220200" cy="609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0" tIns="18288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200000"/>
              </a:lnSpc>
              <a:spcBef>
                <a:spcPct val="0"/>
              </a:spcBef>
              <a:buNone/>
              <a:defRPr sz="4400" b="0" kern="1200" baseline="30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Walter Nicholson | Christopher Snyder	 12th edition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51816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8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28194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81000" y="4114800"/>
            <a:ext cx="8534400" cy="2133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8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286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203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134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69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81000" y="3429000"/>
            <a:ext cx="8382000" cy="2743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9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64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793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Andreea\Desktop\Cengage\Nicholson 12e\cover\ch bk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800"/>
            <a:ext cx="9144000" cy="377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dreea\Desktop\Cengage\Nicholson 12e\cover\MT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184"/>
            <a:ext cx="9144000" cy="224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0"/>
            <a:ext cx="8686800" cy="457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5400" y="5562600"/>
            <a:ext cx="4038600" cy="9144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smtClean="0">
                <a:latin typeface="Arial" pitchFamily="34" charset="0"/>
              </a:rPr>
              <a:t>PowerPoint Slides prepared by: 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V. Andreea CHIRITESCU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Eastern Illinois University</a:t>
            </a:r>
            <a:endParaRPr lang="en-US" sz="16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5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lnSpc>
          <a:spcPct val="200000"/>
        </a:lnSpc>
        <a:spcBef>
          <a:spcPct val="0"/>
        </a:spcBef>
        <a:buNone/>
        <a:defRPr sz="4400" b="0" kern="1200" baseline="300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8" y="1143000"/>
            <a:ext cx="8601072" cy="5335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1"/>
            <a:ext cx="8686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pic>
        <p:nvPicPr>
          <p:cNvPr id="3074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3043235" y="3043235"/>
            <a:ext cx="6400800" cy="31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14328" y="985836"/>
            <a:ext cx="8829672" cy="15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16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6" r:id="rId2"/>
    <p:sldLayoutId id="2147483675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43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36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150" y="0"/>
            <a:ext cx="794385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0800000">
            <a:off x="1" y="5505448"/>
            <a:ext cx="9144000" cy="895351"/>
            <a:chOff x="138110" y="3505200"/>
            <a:chExt cx="9144000" cy="895351"/>
          </a:xfrm>
        </p:grpSpPr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23823" y="3519488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8386760" y="3505200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4994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85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00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033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4344" y="0"/>
            <a:ext cx="737965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764345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8229600" cy="58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8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4" r:id="rId2"/>
    <p:sldLayoutId id="2147483679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510213" y="3224211"/>
            <a:ext cx="6858001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895600" y="3095624"/>
            <a:ext cx="620077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0200" y="0"/>
            <a:ext cx="7543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33400"/>
            <a:ext cx="82296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28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7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0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6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8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9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4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41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2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9.wmf"/><Relationship Id="rId4" Type="http://schemas.openxmlformats.org/officeDocument/2006/relationships/oleObject" Target="../embeddings/oleObject32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50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51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52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53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69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60.emf"/><Relationship Id="rId4" Type="http://schemas.openxmlformats.org/officeDocument/2006/relationships/oleObject" Target="../embeddings/oleObject38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39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63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62.wmf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64.wmf"/><Relationship Id="rId4" Type="http://schemas.openxmlformats.org/officeDocument/2006/relationships/oleObject" Target="../embeddings/oleObject42.bin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65.w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5" Type="http://schemas.openxmlformats.org/officeDocument/2006/relationships/image" Target="../media/image66.emf"/><Relationship Id="rId4" Type="http://schemas.openxmlformats.org/officeDocument/2006/relationships/oleObject" Target="../embeddings/oleObject44.bin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67.emf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79.em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80.w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81.wmf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82.emf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83.emf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84.e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85.emf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5.vml"/><Relationship Id="rId4" Type="http://schemas.openxmlformats.org/officeDocument/2006/relationships/image" Target="../media/image86.e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87.e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108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88.em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89.emf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90.wmf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5" Type="http://schemas.openxmlformats.org/officeDocument/2006/relationships/image" Target="../media/image92.wmf"/><Relationship Id="rId4" Type="http://schemas.openxmlformats.org/officeDocument/2006/relationships/oleObject" Target="../embeddings/oleObject59.bin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5" Type="http://schemas.openxmlformats.org/officeDocument/2006/relationships/image" Target="../media/image93.wmf"/><Relationship Id="rId4" Type="http://schemas.openxmlformats.org/officeDocument/2006/relationships/oleObject" Target="../embeddings/oleObject60.bin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4" Type="http://schemas.openxmlformats.org/officeDocument/2006/relationships/image" Target="../media/image94.wmf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53.vml"/><Relationship Id="rId4" Type="http://schemas.openxmlformats.org/officeDocument/2006/relationships/image" Target="../media/image95.wm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4" Type="http://schemas.openxmlformats.org/officeDocument/2006/relationships/image" Target="../media/image96.wmf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98.e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97.wmf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102.wmf"/><Relationship Id="rId4" Type="http://schemas.openxmlformats.org/officeDocument/2006/relationships/image" Target="../media/image99.emf"/><Relationship Id="rId9" Type="http://schemas.openxmlformats.org/officeDocument/2006/relationships/oleObject" Target="../embeddings/oleObject69.bin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103.emf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06.e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105.emf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08.e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107.wmf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4" Type="http://schemas.openxmlformats.org/officeDocument/2006/relationships/image" Target="../media/image109.wmf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4" Type="http://schemas.openxmlformats.org/officeDocument/2006/relationships/image" Target="../media/image110.wmf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62.vml"/><Relationship Id="rId4" Type="http://schemas.openxmlformats.org/officeDocument/2006/relationships/image" Target="../media/image111.wmf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3.vml"/><Relationship Id="rId4" Type="http://schemas.openxmlformats.org/officeDocument/2006/relationships/image" Target="../media/image112.emf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4.vml"/><Relationship Id="rId4" Type="http://schemas.openxmlformats.org/officeDocument/2006/relationships/image" Target="../media/image113.wmf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65.vml"/><Relationship Id="rId4" Type="http://schemas.openxmlformats.org/officeDocument/2006/relationships/image" Target="../media/image114.wmf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6.vml"/><Relationship Id="rId4" Type="http://schemas.openxmlformats.org/officeDocument/2006/relationships/image" Target="../media/image115.wmf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7.vml"/><Relationship Id="rId4" Type="http://schemas.openxmlformats.org/officeDocument/2006/relationships/image" Target="../media/image116.emf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117.wmf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69.vml"/><Relationship Id="rId5" Type="http://schemas.openxmlformats.org/officeDocument/2006/relationships/image" Target="../media/image119.wmf"/><Relationship Id="rId4" Type="http://schemas.openxmlformats.org/officeDocument/2006/relationships/oleObject" Target="../embeddings/oleObject86.bin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0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0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0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0.vml"/><Relationship Id="rId4" Type="http://schemas.openxmlformats.org/officeDocument/2006/relationships/image" Target="../media/image120.wmf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0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0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1.vml"/><Relationship Id="rId4" Type="http://schemas.openxmlformats.org/officeDocument/2006/relationships/image" Target="../media/image121.wmf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0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2.vml"/><Relationship Id="rId4" Type="http://schemas.openxmlformats.org/officeDocument/2006/relationships/image" Target="../media/image122.wmf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0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0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3.vml"/><Relationship Id="rId4" Type="http://schemas.openxmlformats.org/officeDocument/2006/relationships/image" Target="../media/image123.wmf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4.vml"/><Relationship Id="rId4" Type="http://schemas.openxmlformats.org/officeDocument/2006/relationships/image" Target="../media/image12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CHAPTER</a:t>
            </a:r>
            <a:r>
              <a:rPr lang="en-US" b="1" baseline="0" dirty="0"/>
              <a:t> </a:t>
            </a:r>
            <a:r>
              <a:rPr lang="en-US" b="1" baseline="0" dirty="0" smtClean="0"/>
              <a:t>		Mathematics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aseline="0" dirty="0" smtClean="0"/>
              <a:t> 2</a:t>
            </a:r>
            <a:r>
              <a:rPr lang="en-US" b="1" baseline="0" dirty="0" smtClean="0"/>
              <a:t> 	 		for Microeconomics</a:t>
            </a:r>
            <a:endParaRPr lang="en-US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9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 dirty="0" smtClean="0"/>
              <a:t>Maximization of a Function of One Variable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 smtClean="0"/>
              <a:t>Economic theories assume that </a:t>
            </a:r>
          </a:p>
          <a:p>
            <a:pPr lvl="1"/>
            <a:r>
              <a:rPr lang="en-US" altLang="en-US" dirty="0" smtClean="0"/>
              <a:t>An economic agent is seeking to find the optimal value of some function</a:t>
            </a:r>
          </a:p>
          <a:p>
            <a:pPr lvl="2"/>
            <a:r>
              <a:rPr lang="en-US" altLang="en-US" dirty="0" smtClean="0"/>
              <a:t>Consumers seek to maximize utility</a:t>
            </a:r>
          </a:p>
          <a:p>
            <a:pPr lvl="2"/>
            <a:r>
              <a:rPr lang="en-US" altLang="en-US" dirty="0" smtClean="0"/>
              <a:t>Firms seek to maximize profit</a:t>
            </a:r>
          </a:p>
          <a:p>
            <a:r>
              <a:rPr lang="en-US" altLang="en-US" dirty="0" smtClean="0"/>
              <a:t>Simple example</a:t>
            </a:r>
            <a:r>
              <a:rPr lang="en-US" altLang="en-US" dirty="0"/>
              <a:t>,𝜋 = 𝑓(𝑞)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Manager of a firm wants to maximize profits</a:t>
            </a:r>
          </a:p>
          <a:p>
            <a:pPr lvl="2"/>
            <a:r>
              <a:rPr lang="en-US" altLang="en-US" dirty="0" smtClean="0"/>
              <a:t>The profits (</a:t>
            </a:r>
            <a:r>
              <a:rPr lang="el-GR" altLang="en-US" i="1" dirty="0" smtClean="0"/>
              <a:t>π</a:t>
            </a:r>
            <a:r>
              <a:rPr lang="en-US" altLang="en-US" dirty="0" smtClean="0"/>
              <a:t>) received depend only on the quantity (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) of the good sold</a:t>
            </a:r>
          </a:p>
          <a:p>
            <a:pPr>
              <a:buFontTx/>
              <a:buNone/>
            </a:pPr>
            <a:r>
              <a:rPr lang="en-US" altLang="en-US" dirty="0" smtClean="0"/>
              <a:t>	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6B0EB6-B9E4-4F88-A7FE-F20096D95C7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5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0"/>
            <a:ext cx="80010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2.1	Hypothetical Relationship between </a:t>
            </a:r>
            <a:r>
              <a:rPr lang="en-US" altLang="en-US" dirty="0" smtClean="0"/>
              <a:t>Quantity</a:t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 </a:t>
            </a:r>
            <a:r>
              <a:rPr lang="en-US" altLang="en-US" dirty="0">
                <a:solidFill>
                  <a:srgbClr val="002D56"/>
                </a:solidFill>
              </a:rPr>
              <a:t>Produced and </a:t>
            </a:r>
            <a:r>
              <a:rPr lang="en-US" altLang="en-US" dirty="0" smtClean="0">
                <a:solidFill>
                  <a:srgbClr val="002D56"/>
                </a:solidFill>
              </a:rPr>
              <a:t>Profits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4724400"/>
            <a:ext cx="8153400" cy="14017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If a manager wishes to produce the level of output that maximizes profits, then </a:t>
            </a:r>
            <a:r>
              <a:rPr lang="en-US" altLang="en-US" i="1" dirty="0"/>
              <a:t>q*</a:t>
            </a:r>
            <a:r>
              <a:rPr lang="en-US" altLang="en-US" dirty="0"/>
              <a:t> should be produced. Notice that at </a:t>
            </a:r>
            <a:r>
              <a:rPr lang="en-US" altLang="en-US" i="1" dirty="0"/>
              <a:t>q*</a:t>
            </a:r>
            <a:r>
              <a:rPr lang="en-US" altLang="en-US" dirty="0"/>
              <a:t>, dπ/</a:t>
            </a:r>
            <a:r>
              <a:rPr lang="en-US" altLang="en-US" dirty="0" err="1"/>
              <a:t>dq</a:t>
            </a:r>
            <a:r>
              <a:rPr lang="en-US" altLang="en-US" dirty="0"/>
              <a:t> = 0.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89100" name="Footer Placeholder 40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8C54A12-6101-4BA9-9AC6-DDE48515BE0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524000" y="2487613"/>
            <a:ext cx="3524250" cy="1752600"/>
            <a:chOff x="960" y="2736"/>
            <a:chExt cx="2220" cy="1104"/>
          </a:xfrm>
        </p:grpSpPr>
        <p:sp>
          <p:nvSpPr>
            <p:cNvPr id="89122" name="Freeform 9"/>
            <p:cNvSpPr>
              <a:spLocks/>
            </p:cNvSpPr>
            <p:nvPr/>
          </p:nvSpPr>
          <p:spPr bwMode="auto">
            <a:xfrm>
              <a:off x="960" y="2736"/>
              <a:ext cx="2016" cy="1104"/>
            </a:xfrm>
            <a:custGeom>
              <a:avLst/>
              <a:gdLst>
                <a:gd name="T0" fmla="*/ 0 w 2016"/>
                <a:gd name="T1" fmla="*/ 1104 h 1104"/>
                <a:gd name="T2" fmla="*/ 960 w 2016"/>
                <a:gd name="T3" fmla="*/ 0 h 1104"/>
                <a:gd name="T4" fmla="*/ 2016 w 2016"/>
                <a:gd name="T5" fmla="*/ 1104 h 1104"/>
                <a:gd name="T6" fmla="*/ 0 60000 65536"/>
                <a:gd name="T7" fmla="*/ 0 60000 65536"/>
                <a:gd name="T8" fmla="*/ 0 60000 65536"/>
                <a:gd name="T9" fmla="*/ 0 w 2016"/>
                <a:gd name="T10" fmla="*/ 0 h 1104"/>
                <a:gd name="T11" fmla="*/ 2016 w 2016"/>
                <a:gd name="T12" fmla="*/ 1104 h 1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6" h="1104">
                  <a:moveTo>
                    <a:pt x="0" y="1104"/>
                  </a:moveTo>
                  <a:cubicBezTo>
                    <a:pt x="312" y="552"/>
                    <a:pt x="624" y="0"/>
                    <a:pt x="960" y="0"/>
                  </a:cubicBezTo>
                  <a:cubicBezTo>
                    <a:pt x="1296" y="0"/>
                    <a:pt x="1656" y="552"/>
                    <a:pt x="2016" y="1104"/>
                  </a:cubicBezTo>
                </a:path>
              </a:pathLst>
            </a:custGeom>
            <a:noFill/>
            <a:ln w="28575" cap="flat" cmpd="sng">
              <a:solidFill>
                <a:srgbClr val="177B2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123" name="Text Box 12"/>
            <p:cNvSpPr txBox="1">
              <a:spLocks noChangeArrowheads="1"/>
            </p:cNvSpPr>
            <p:nvPr/>
          </p:nvSpPr>
          <p:spPr bwMode="auto">
            <a:xfrm>
              <a:off x="2544" y="2912"/>
              <a:ext cx="6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177B21"/>
                  </a:solidFill>
                  <a:sym typeface="Symbol" pitchFamily="18" charset="2"/>
                </a:rPr>
                <a:t> </a:t>
              </a:r>
              <a:r>
                <a:rPr lang="en-US" altLang="en-US" sz="1800" i="1">
                  <a:solidFill>
                    <a:srgbClr val="177B21"/>
                  </a:solidFill>
                  <a:sym typeface="Symbol" pitchFamily="18" charset="2"/>
                </a:rPr>
                <a:t> = f(q)</a:t>
              </a:r>
              <a:endParaRPr lang="en-US" altLang="en-US" sz="1800">
                <a:solidFill>
                  <a:srgbClr val="177B21"/>
                </a:solidFill>
              </a:endParaRPr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1133475" y="1725613"/>
            <a:ext cx="395288" cy="2514600"/>
            <a:chOff x="1132764" y="1725272"/>
            <a:chExt cx="395999" cy="2514600"/>
          </a:xfrm>
        </p:grpSpPr>
        <p:sp>
          <p:nvSpPr>
            <p:cNvPr id="89120" name="Line 6"/>
            <p:cNvSpPr>
              <a:spLocks noChangeShapeType="1"/>
            </p:cNvSpPr>
            <p:nvPr/>
          </p:nvSpPr>
          <p:spPr bwMode="auto">
            <a:xfrm>
              <a:off x="1524000" y="2030072"/>
              <a:ext cx="0" cy="2209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121" name="Text Box 13"/>
            <p:cNvSpPr txBox="1">
              <a:spLocks noChangeArrowheads="1"/>
            </p:cNvSpPr>
            <p:nvPr/>
          </p:nvSpPr>
          <p:spPr bwMode="auto">
            <a:xfrm>
              <a:off x="1132764" y="1725272"/>
              <a:ext cx="3959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ym typeface="Symbol" pitchFamily="18" charset="2"/>
                </a:rPr>
                <a:t></a:t>
              </a:r>
              <a:endParaRPr lang="en-US" altLang="en-US" sz="1800"/>
            </a:p>
          </p:txBody>
        </p:sp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1524000" y="4090988"/>
            <a:ext cx="4616450" cy="366712"/>
            <a:chOff x="1524000" y="4090647"/>
            <a:chExt cx="4616450" cy="366713"/>
          </a:xfrm>
        </p:grpSpPr>
        <p:sp>
          <p:nvSpPr>
            <p:cNvPr id="89118" name="Line 7"/>
            <p:cNvSpPr>
              <a:spLocks noChangeShapeType="1"/>
            </p:cNvSpPr>
            <p:nvPr/>
          </p:nvSpPr>
          <p:spPr bwMode="auto">
            <a:xfrm>
              <a:off x="1524000" y="4239872"/>
              <a:ext cx="3505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119" name="Text Box 14"/>
            <p:cNvSpPr txBox="1">
              <a:spLocks noChangeArrowheads="1"/>
            </p:cNvSpPr>
            <p:nvPr/>
          </p:nvSpPr>
          <p:spPr bwMode="auto">
            <a:xfrm>
              <a:off x="5105400" y="4090647"/>
              <a:ext cx="10350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ym typeface="Symbol" pitchFamily="18" charset="2"/>
                </a:rPr>
                <a:t>Quantity</a:t>
              </a:r>
              <a:endParaRPr lang="en-US" altLang="en-US" sz="1800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1143000" y="2386013"/>
            <a:ext cx="2141538" cy="2236787"/>
            <a:chOff x="720" y="2672"/>
            <a:chExt cx="1349" cy="1409"/>
          </a:xfrm>
        </p:grpSpPr>
        <p:sp>
          <p:nvSpPr>
            <p:cNvPr id="89114" name="Line 10"/>
            <p:cNvSpPr>
              <a:spLocks noChangeShapeType="1"/>
            </p:cNvSpPr>
            <p:nvPr/>
          </p:nvSpPr>
          <p:spPr bwMode="auto">
            <a:xfrm flipH="1">
              <a:off x="960" y="2736"/>
              <a:ext cx="96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115" name="Line 11"/>
            <p:cNvSpPr>
              <a:spLocks noChangeShapeType="1"/>
            </p:cNvSpPr>
            <p:nvPr/>
          </p:nvSpPr>
          <p:spPr bwMode="auto">
            <a:xfrm>
              <a:off x="1920" y="2736"/>
              <a:ext cx="0" cy="110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116" name="Text Box 15"/>
            <p:cNvSpPr txBox="1">
              <a:spLocks noChangeArrowheads="1"/>
            </p:cNvSpPr>
            <p:nvPr/>
          </p:nvSpPr>
          <p:spPr bwMode="auto">
            <a:xfrm>
              <a:off x="720" y="2672"/>
              <a:ext cx="2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ym typeface="Symbol" pitchFamily="18" charset="2"/>
                </a:rPr>
                <a:t>*</a:t>
              </a:r>
              <a:endParaRPr lang="en-US" altLang="en-US" sz="1800"/>
            </a:p>
          </p:txBody>
        </p:sp>
        <p:sp>
          <p:nvSpPr>
            <p:cNvPr id="89117" name="Text Box 16"/>
            <p:cNvSpPr txBox="1">
              <a:spLocks noChangeArrowheads="1"/>
            </p:cNvSpPr>
            <p:nvPr/>
          </p:nvSpPr>
          <p:spPr bwMode="auto">
            <a:xfrm>
              <a:off x="1807" y="3848"/>
              <a:ext cx="2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ym typeface="Symbol" pitchFamily="18" charset="2"/>
                </a:rPr>
                <a:t>q*</a:t>
              </a:r>
              <a:endParaRPr lang="en-US" altLang="en-US" sz="1800"/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1143000" y="2660650"/>
            <a:ext cx="1539875" cy="1944688"/>
            <a:chOff x="720" y="2880"/>
            <a:chExt cx="970" cy="1225"/>
          </a:xfrm>
        </p:grpSpPr>
        <p:sp>
          <p:nvSpPr>
            <p:cNvPr id="89110" name="Line 18"/>
            <p:cNvSpPr>
              <a:spLocks noChangeShapeType="1"/>
            </p:cNvSpPr>
            <p:nvPr/>
          </p:nvSpPr>
          <p:spPr bwMode="auto">
            <a:xfrm>
              <a:off x="960" y="2976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111" name="Line 19"/>
            <p:cNvSpPr>
              <a:spLocks noChangeShapeType="1"/>
            </p:cNvSpPr>
            <p:nvPr/>
          </p:nvSpPr>
          <p:spPr bwMode="auto">
            <a:xfrm>
              <a:off x="1536" y="2976"/>
              <a:ext cx="0" cy="8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112" name="Text Box 21"/>
            <p:cNvSpPr txBox="1">
              <a:spLocks noChangeArrowheads="1"/>
            </p:cNvSpPr>
            <p:nvPr/>
          </p:nvSpPr>
          <p:spPr bwMode="auto">
            <a:xfrm>
              <a:off x="720" y="2880"/>
              <a:ext cx="2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ym typeface="Symbol" pitchFamily="18" charset="2"/>
                </a:rPr>
                <a:t></a:t>
              </a:r>
              <a:r>
                <a:rPr lang="en-US" altLang="en-US" sz="1800" baseline="-25000">
                  <a:sym typeface="Symbol" pitchFamily="18" charset="2"/>
                </a:rPr>
                <a:t>2</a:t>
              </a:r>
              <a:endParaRPr lang="en-US" altLang="en-US" sz="1800"/>
            </a:p>
          </p:txBody>
        </p:sp>
        <p:sp>
          <p:nvSpPr>
            <p:cNvPr id="89113" name="Text Box 23"/>
            <p:cNvSpPr txBox="1">
              <a:spLocks noChangeArrowheads="1"/>
            </p:cNvSpPr>
            <p:nvPr/>
          </p:nvSpPr>
          <p:spPr bwMode="auto">
            <a:xfrm>
              <a:off x="1431" y="3872"/>
              <a:ext cx="2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 i="1">
                  <a:sym typeface="Symbol" pitchFamily="18" charset="2"/>
                </a:rPr>
                <a:t>q</a:t>
              </a:r>
              <a:r>
                <a:rPr lang="en-US" altLang="en-US" sz="1800" i="1" baseline="-25000">
                  <a:sym typeface="Symbol" pitchFamily="18" charset="2"/>
                </a:rPr>
                <a:t>2</a:t>
              </a:r>
              <a:endParaRPr lang="en-US" altLang="en-US" sz="1800" i="1"/>
            </a:p>
          </p:txBody>
        </p:sp>
      </p:grp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1172989" y="3473450"/>
            <a:ext cx="976486" cy="1131888"/>
            <a:chOff x="1172994" y="3474080"/>
            <a:chExt cx="976648" cy="1131332"/>
          </a:xfrm>
        </p:grpSpPr>
        <p:sp>
          <p:nvSpPr>
            <p:cNvPr id="89106" name="Text Box 20"/>
            <p:cNvSpPr txBox="1">
              <a:spLocks noChangeArrowheads="1"/>
            </p:cNvSpPr>
            <p:nvPr/>
          </p:nvSpPr>
          <p:spPr bwMode="auto">
            <a:xfrm>
              <a:off x="1172994" y="3474080"/>
              <a:ext cx="39626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ym typeface="Symbol" pitchFamily="18" charset="2"/>
                </a:rPr>
                <a:t></a:t>
              </a:r>
              <a:r>
                <a:rPr lang="en-US" altLang="en-US" sz="1800" baseline="-25000" dirty="0">
                  <a:sym typeface="Symbol" pitchFamily="18" charset="2"/>
                </a:rPr>
                <a:t>1</a:t>
              </a:r>
              <a:endParaRPr lang="en-US" altLang="en-US" sz="1800" dirty="0"/>
            </a:p>
          </p:txBody>
        </p:sp>
        <p:sp>
          <p:nvSpPr>
            <p:cNvPr id="89107" name="Text Box 22"/>
            <p:cNvSpPr txBox="1">
              <a:spLocks noChangeArrowheads="1"/>
            </p:cNvSpPr>
            <p:nvPr/>
          </p:nvSpPr>
          <p:spPr bwMode="auto">
            <a:xfrm>
              <a:off x="1738952" y="4236080"/>
              <a:ext cx="4106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 i="1">
                  <a:sym typeface="Symbol" pitchFamily="18" charset="2"/>
                </a:rPr>
                <a:t>q</a:t>
              </a:r>
              <a:r>
                <a:rPr lang="en-US" altLang="en-US" sz="1800" i="1" baseline="-25000">
                  <a:sym typeface="Symbol" pitchFamily="18" charset="2"/>
                </a:rPr>
                <a:t>1</a:t>
              </a:r>
              <a:endParaRPr lang="en-US" altLang="en-US" sz="1800" i="1"/>
            </a:p>
          </p:txBody>
        </p:sp>
        <p:sp>
          <p:nvSpPr>
            <p:cNvPr id="89108" name="Line 16"/>
            <p:cNvSpPr>
              <a:spLocks noChangeShapeType="1"/>
            </p:cNvSpPr>
            <p:nvPr/>
          </p:nvSpPr>
          <p:spPr bwMode="auto">
            <a:xfrm>
              <a:off x="1524000" y="3616624"/>
              <a:ext cx="381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109" name="Line 17"/>
            <p:cNvSpPr>
              <a:spLocks noChangeShapeType="1"/>
            </p:cNvSpPr>
            <p:nvPr/>
          </p:nvSpPr>
          <p:spPr bwMode="auto">
            <a:xfrm>
              <a:off x="1905000" y="3616624"/>
              <a:ext cx="0" cy="6096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1066800" y="3222625"/>
            <a:ext cx="3355975" cy="1397000"/>
            <a:chOff x="1066800" y="3221976"/>
            <a:chExt cx="3355194" cy="1397084"/>
          </a:xfrm>
        </p:grpSpPr>
        <p:sp>
          <p:nvSpPr>
            <p:cNvPr id="89102" name="Text Box 18"/>
            <p:cNvSpPr txBox="1">
              <a:spLocks noChangeArrowheads="1"/>
            </p:cNvSpPr>
            <p:nvPr/>
          </p:nvSpPr>
          <p:spPr bwMode="auto">
            <a:xfrm>
              <a:off x="1066800" y="3221976"/>
              <a:ext cx="4699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r" eaLnBrk="1" hangingPunct="1"/>
              <a:r>
                <a:rPr lang="en-US" altLang="en-US" sz="1800">
                  <a:sym typeface="Symbol" pitchFamily="18" charset="2"/>
                </a:rPr>
                <a:t></a:t>
              </a:r>
              <a:r>
                <a:rPr lang="en-US" altLang="en-US" sz="1800" baseline="-25000">
                  <a:sym typeface="Symbol" pitchFamily="18" charset="2"/>
                </a:rPr>
                <a:t>3</a:t>
              </a:r>
              <a:endParaRPr lang="en-US" altLang="en-US" sz="1800"/>
            </a:p>
          </p:txBody>
        </p:sp>
        <p:sp>
          <p:nvSpPr>
            <p:cNvPr id="89103" name="Text Box 20"/>
            <p:cNvSpPr txBox="1">
              <a:spLocks noChangeArrowheads="1"/>
            </p:cNvSpPr>
            <p:nvPr/>
          </p:nvSpPr>
          <p:spPr bwMode="auto">
            <a:xfrm>
              <a:off x="4011304" y="4249728"/>
              <a:ext cx="4106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 i="1">
                  <a:sym typeface="Symbol" pitchFamily="18" charset="2"/>
                </a:rPr>
                <a:t>q</a:t>
              </a:r>
              <a:r>
                <a:rPr lang="en-US" altLang="en-US" sz="1800" i="1" baseline="-25000">
                  <a:sym typeface="Symbol" pitchFamily="18" charset="2"/>
                </a:rPr>
                <a:t>3</a:t>
              </a:r>
              <a:endParaRPr lang="en-US" altLang="en-US" sz="1800" i="1"/>
            </a:p>
          </p:txBody>
        </p:sp>
        <p:sp>
          <p:nvSpPr>
            <p:cNvPr id="89104" name="Line 26"/>
            <p:cNvSpPr>
              <a:spLocks noChangeShapeType="1"/>
            </p:cNvSpPr>
            <p:nvPr/>
          </p:nvSpPr>
          <p:spPr bwMode="auto">
            <a:xfrm flipV="1">
              <a:off x="4191000" y="3450576"/>
              <a:ext cx="0" cy="76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105" name="Line 27"/>
            <p:cNvSpPr>
              <a:spLocks noChangeShapeType="1"/>
            </p:cNvSpPr>
            <p:nvPr/>
          </p:nvSpPr>
          <p:spPr bwMode="auto">
            <a:xfrm flipH="1">
              <a:off x="1524000" y="3450576"/>
              <a:ext cx="2667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924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/>
              <a:t>Maximization of a Function of One Variable</a:t>
            </a:r>
          </a:p>
        </p:txBody>
      </p:sp>
      <p:sp>
        <p:nvSpPr>
          <p:cNvPr id="102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Vary 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 to see where maximum profit occurs</a:t>
            </a:r>
          </a:p>
          <a:p>
            <a:pPr lvl="1"/>
            <a:r>
              <a:rPr lang="en-US" altLang="en-US" dirty="0" smtClean="0"/>
              <a:t>An increase from </a:t>
            </a:r>
            <a:r>
              <a:rPr lang="en-US" altLang="en-US" i="1" dirty="0" smtClean="0"/>
              <a:t>q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 to </a:t>
            </a:r>
            <a:r>
              <a:rPr lang="en-US" altLang="en-US" i="1" dirty="0" smtClean="0"/>
              <a:t>q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 leads to a rise in </a:t>
            </a:r>
            <a:r>
              <a:rPr lang="en-US" altLang="en-US" b="1" dirty="0" smtClean="0">
                <a:sym typeface="Symbol" pitchFamily="18" charset="2"/>
              </a:rPr>
              <a:t>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F104EF-5FCB-405F-87BD-AD08C4C19A8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2170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479829"/>
              </p:ext>
            </p:extLst>
          </p:nvPr>
        </p:nvGraphicFramePr>
        <p:xfrm>
          <a:off x="1143000" y="3200400"/>
          <a:ext cx="4465638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3" imgW="1434960" imgH="444240" progId="Equation.DSMT4">
                  <p:embed/>
                </p:oleObj>
              </mc:Choice>
              <mc:Fallback>
                <p:oleObj name="Equation" r:id="rId3" imgW="1434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00400"/>
                        <a:ext cx="4465638" cy="138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48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7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/>
              <a:t>Maximization of a Function of One Variable</a:t>
            </a:r>
          </a:p>
        </p:txBody>
      </p:sp>
      <p:sp>
        <p:nvSpPr>
          <p:cNvPr id="205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If output is increased beyond </a:t>
            </a:r>
            <a:r>
              <a:rPr lang="en-US" altLang="en-US" i="1" dirty="0" smtClean="0">
                <a:sym typeface="Symbol" pitchFamily="18" charset="2"/>
              </a:rPr>
              <a:t>q</a:t>
            </a:r>
            <a:r>
              <a:rPr lang="en-US" altLang="en-US" dirty="0" smtClean="0">
                <a:sym typeface="Symbol" pitchFamily="18" charset="2"/>
              </a:rPr>
              <a:t>*, profit will decline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An increase from 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* to </a:t>
            </a:r>
            <a:r>
              <a:rPr lang="en-US" altLang="en-US" i="1" dirty="0" smtClean="0"/>
              <a:t>q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 leads to a drop in </a:t>
            </a:r>
            <a:r>
              <a:rPr lang="en-US" altLang="en-US" b="1" dirty="0" smtClean="0">
                <a:sym typeface="Symbol" pitchFamily="18" charset="2"/>
              </a:rPr>
              <a:t></a:t>
            </a:r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EE1D92-6D4D-4A93-B97C-07E7A62A08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218113" name="Object 3"/>
          <p:cNvGraphicFramePr>
            <a:graphicFrameLocks noChangeAspect="1"/>
          </p:cNvGraphicFramePr>
          <p:nvPr/>
        </p:nvGraphicFramePr>
        <p:xfrm>
          <a:off x="1330325" y="3409950"/>
          <a:ext cx="1570038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Equation" r:id="rId3" imgW="495000" imgH="419040" progId="Equation.DSMT4">
                  <p:embed/>
                </p:oleObj>
              </mc:Choice>
              <mc:Fallback>
                <p:oleObj name="Equation" r:id="rId3" imgW="4950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325" y="3409950"/>
                        <a:ext cx="1570038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563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/>
              <a:t>Maximization of a Function of One Variable</a:t>
            </a:r>
          </a:p>
        </p:txBody>
      </p:sp>
      <p:sp>
        <p:nvSpPr>
          <p:cNvPr id="307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Derivatives</a:t>
            </a:r>
          </a:p>
          <a:p>
            <a:pPr lvl="1"/>
            <a:r>
              <a:rPr lang="en-US" altLang="en-US" dirty="0" smtClean="0"/>
              <a:t>The derivative of </a:t>
            </a:r>
            <a:r>
              <a:rPr lang="en-US" altLang="en-US" dirty="0" smtClean="0">
                <a:sym typeface="Symbol" pitchFamily="18" charset="2"/>
              </a:rPr>
              <a:t> = </a:t>
            </a:r>
            <a:r>
              <a:rPr lang="en-US" altLang="en-US" i="1" dirty="0" smtClean="0">
                <a:sym typeface="Symbol" pitchFamily="18" charset="2"/>
              </a:rPr>
              <a:t>f(q)</a:t>
            </a:r>
            <a:r>
              <a:rPr lang="en-US" altLang="en-US" dirty="0" smtClean="0"/>
              <a:t> is the limit of </a:t>
            </a:r>
            <a:r>
              <a:rPr lang="en-US" altLang="en-US" dirty="0" smtClean="0">
                <a:sym typeface="Symbol" pitchFamily="18" charset="2"/>
              </a:rPr>
              <a:t>/</a:t>
            </a:r>
            <a:r>
              <a:rPr lang="en-US" altLang="en-US" i="1" dirty="0" smtClean="0">
                <a:sym typeface="Symbol" pitchFamily="18" charset="2"/>
              </a:rPr>
              <a:t>q </a:t>
            </a:r>
            <a:r>
              <a:rPr lang="en-US" altLang="en-US" dirty="0" smtClean="0">
                <a:sym typeface="Symbol" pitchFamily="18" charset="2"/>
              </a:rPr>
              <a:t>for very small changes in</a:t>
            </a:r>
            <a:r>
              <a:rPr lang="en-US" altLang="en-US" i="1" dirty="0" smtClean="0">
                <a:sym typeface="Symbol" pitchFamily="18" charset="2"/>
              </a:rPr>
              <a:t> q </a:t>
            </a:r>
          </a:p>
          <a:p>
            <a:pPr lvl="1"/>
            <a:r>
              <a:rPr lang="en-US" altLang="en-US" dirty="0" smtClean="0"/>
              <a:t>Is the slope of the curve</a:t>
            </a:r>
          </a:p>
          <a:p>
            <a:pPr lvl="1"/>
            <a:r>
              <a:rPr lang="en-US" altLang="en-US" dirty="0" smtClean="0"/>
              <a:t>The value depends on the value of </a:t>
            </a:r>
            <a:r>
              <a:rPr lang="en-US" altLang="en-US" i="1" dirty="0" smtClean="0"/>
              <a:t>q</a:t>
            </a:r>
            <a:r>
              <a:rPr lang="en-US" altLang="en-US" i="1" baseline="-25000" dirty="0" smtClean="0"/>
              <a:t>1</a:t>
            </a:r>
            <a:r>
              <a:rPr lang="en-US" altLang="en-US" dirty="0"/>
              <a:t>  </a:t>
            </a:r>
            <a:r>
              <a:rPr lang="en-US" altLang="en-US" dirty="0" smtClean="0"/>
              <a:t>  </a:t>
            </a:r>
          </a:p>
          <a:p>
            <a:pPr lvl="1"/>
            <a:r>
              <a:rPr lang="en-US" altLang="en-US" dirty="0" smtClean="0"/>
              <a:t>The derivative of </a:t>
            </a:r>
            <a:r>
              <a:rPr lang="en-US" altLang="en-US" dirty="0">
                <a:sym typeface="Symbol" pitchFamily="18" charset="2"/>
              </a:rPr>
              <a:t> = </a:t>
            </a:r>
            <a:r>
              <a:rPr lang="en-US" altLang="en-US" i="1" dirty="0">
                <a:sym typeface="Symbol" pitchFamily="18" charset="2"/>
              </a:rPr>
              <a:t>f(q)</a:t>
            </a:r>
            <a:r>
              <a:rPr lang="en-US" altLang="en-US" dirty="0"/>
              <a:t> </a:t>
            </a:r>
            <a:r>
              <a:rPr lang="en-US" altLang="en-US" dirty="0" smtClean="0"/>
              <a:t>at the point </a:t>
            </a:r>
            <a:r>
              <a:rPr lang="en-US" altLang="en-US" i="1" dirty="0" smtClean="0"/>
              <a:t>q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 is: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422137-2084-46E7-964B-C362B1CC896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aphicFrame>
        <p:nvGraphicFramePr>
          <p:cNvPr id="21913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419259"/>
              </p:ext>
            </p:extLst>
          </p:nvPr>
        </p:nvGraphicFramePr>
        <p:xfrm>
          <a:off x="1905000" y="4953000"/>
          <a:ext cx="496411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Equation" r:id="rId3" imgW="2006280" imgH="419040" progId="Equation.DSMT4">
                  <p:embed/>
                </p:oleObj>
              </mc:Choice>
              <mc:Fallback>
                <p:oleObj name="Equation" r:id="rId3" imgW="2006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953000"/>
                        <a:ext cx="4964113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984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/>
              <a:t>Maximization of a Function of One Variable</a:t>
            </a:r>
          </a:p>
        </p:txBody>
      </p:sp>
      <p:sp>
        <p:nvSpPr>
          <p:cNvPr id="41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Value of a derivative at a point (the slope)</a:t>
            </a:r>
          </a:p>
          <a:p>
            <a:pPr lvl="1"/>
            <a:r>
              <a:rPr lang="en-US" altLang="en-US" dirty="0" smtClean="0"/>
              <a:t>The evaluation of the derivative at the point</a:t>
            </a:r>
          </a:p>
          <a:p>
            <a:pPr marL="457200" lvl="1" indent="0">
              <a:buNone/>
            </a:pPr>
            <a:r>
              <a:rPr lang="en-US" altLang="en-US" dirty="0" smtClean="0"/>
              <a:t> 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 = </a:t>
            </a:r>
            <a:r>
              <a:rPr lang="en-US" altLang="en-US" i="1" dirty="0" smtClean="0"/>
              <a:t>q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 can be denoted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944D6B-A557-48CC-BDCD-1E68D5DA109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1"/>
            <a:r>
              <a:rPr lang="en-US" dirty="0"/>
              <a:t>In our previous example</a:t>
            </a:r>
            <a:r>
              <a:rPr lang="en-US" dirty="0" smtClean="0"/>
              <a:t>,</a:t>
            </a:r>
            <a:endParaRPr lang="en-US" dirty="0"/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352397"/>
              </p:ext>
            </p:extLst>
          </p:nvPr>
        </p:nvGraphicFramePr>
        <p:xfrm>
          <a:off x="3341688" y="2857500"/>
          <a:ext cx="1260475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6" name="Equation" r:id="rId3" imgW="469800" imgH="495000" progId="Equation.DSMT4">
                  <p:embed/>
                </p:oleObj>
              </mc:Choice>
              <mc:Fallback>
                <p:oleObj name="Equation" r:id="rId3" imgW="4698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688" y="2857500"/>
                        <a:ext cx="1260475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62000" y="4991100"/>
            <a:ext cx="1905000" cy="1146175"/>
            <a:chOff x="480" y="3168"/>
            <a:chExt cx="1344" cy="816"/>
          </a:xfrm>
        </p:grpSpPr>
        <p:sp>
          <p:nvSpPr>
            <p:cNvPr id="4112" name="Rectangle 9"/>
            <p:cNvSpPr>
              <a:spLocks noChangeArrowheads="1"/>
            </p:cNvSpPr>
            <p:nvPr/>
          </p:nvSpPr>
          <p:spPr bwMode="auto">
            <a:xfrm>
              <a:off x="480" y="3168"/>
              <a:ext cx="1344" cy="816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aphicFrame>
          <p:nvGraphicFramePr>
            <p:cNvPr id="4101" name="Object 5"/>
            <p:cNvGraphicFramePr>
              <a:graphicFrameLocks noChangeAspect="1"/>
            </p:cNvGraphicFramePr>
            <p:nvPr/>
          </p:nvGraphicFramePr>
          <p:xfrm>
            <a:off x="604" y="3214"/>
            <a:ext cx="1105" cy="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87" name="Equation" r:id="rId5" imgW="711000" imgH="495000" progId="Equation.DSMT4">
                    <p:embed/>
                  </p:oleObj>
                </mc:Choice>
                <mc:Fallback>
                  <p:oleObj name="Equation" r:id="rId5" imgW="711000" imgH="495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4" y="3214"/>
                          <a:ext cx="1105" cy="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7B332D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429000" y="4991100"/>
            <a:ext cx="1828800" cy="1147763"/>
            <a:chOff x="2160" y="3168"/>
            <a:chExt cx="1344" cy="816"/>
          </a:xfrm>
        </p:grpSpPr>
        <p:sp>
          <p:nvSpPr>
            <p:cNvPr id="4111" name="Rectangle 10"/>
            <p:cNvSpPr>
              <a:spLocks noChangeArrowheads="1"/>
            </p:cNvSpPr>
            <p:nvPr/>
          </p:nvSpPr>
          <p:spPr bwMode="auto">
            <a:xfrm>
              <a:off x="2160" y="3168"/>
              <a:ext cx="1344" cy="816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aphicFrame>
          <p:nvGraphicFramePr>
            <p:cNvPr id="4100" name="Object 4"/>
            <p:cNvGraphicFramePr>
              <a:graphicFrameLocks noChangeAspect="1"/>
            </p:cNvGraphicFramePr>
            <p:nvPr/>
          </p:nvGraphicFramePr>
          <p:xfrm>
            <a:off x="2285" y="3217"/>
            <a:ext cx="1104" cy="7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88" name="Equation" r:id="rId7" imgW="711000" imgH="495000" progId="Equation.DSMT4">
                    <p:embed/>
                  </p:oleObj>
                </mc:Choice>
                <mc:Fallback>
                  <p:oleObj name="Equation" r:id="rId7" imgW="711000" imgH="495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5" y="3217"/>
                          <a:ext cx="1104" cy="7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7B332D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6019800" y="4991100"/>
            <a:ext cx="1905000" cy="1146175"/>
            <a:chOff x="3792" y="3168"/>
            <a:chExt cx="1344" cy="816"/>
          </a:xfrm>
        </p:grpSpPr>
        <p:sp>
          <p:nvSpPr>
            <p:cNvPr id="4110" name="Rectangle 11"/>
            <p:cNvSpPr>
              <a:spLocks noChangeArrowheads="1"/>
            </p:cNvSpPr>
            <p:nvPr/>
          </p:nvSpPr>
          <p:spPr bwMode="auto">
            <a:xfrm>
              <a:off x="3792" y="3168"/>
              <a:ext cx="1344" cy="816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aphicFrame>
          <p:nvGraphicFramePr>
            <p:cNvPr id="4099" name="Object 3"/>
            <p:cNvGraphicFramePr>
              <a:graphicFrameLocks noChangeAspect="1"/>
            </p:cNvGraphicFramePr>
            <p:nvPr/>
          </p:nvGraphicFramePr>
          <p:xfrm>
            <a:off x="3917" y="3224"/>
            <a:ext cx="1122" cy="7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89" name="Equation" r:id="rId9" imgW="723600" imgH="482400" progId="Equation.DSMT4">
                    <p:embed/>
                  </p:oleObj>
                </mc:Choice>
                <mc:Fallback>
                  <p:oleObj name="Equation" r:id="rId9" imgW="72360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7" y="3224"/>
                          <a:ext cx="1122" cy="7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7B332D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4313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/>
              <a:t>Maximization of a Function of One Variable</a:t>
            </a:r>
          </a:p>
        </p:txBody>
      </p:sp>
      <p:sp>
        <p:nvSpPr>
          <p:cNvPr id="51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First-order condition for a maximum</a:t>
            </a:r>
          </a:p>
          <a:p>
            <a:pPr lvl="1"/>
            <a:r>
              <a:rPr lang="en-US" altLang="en-US" dirty="0" smtClean="0"/>
              <a:t>For a function of one variable to attain its maximum value at some point, the derivative at that point must be zero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AF4032-82FC-4393-835C-ED6A44DFE1E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221184" name="Object 2"/>
          <p:cNvGraphicFramePr>
            <a:graphicFrameLocks noChangeAspect="1"/>
          </p:cNvGraphicFramePr>
          <p:nvPr/>
        </p:nvGraphicFramePr>
        <p:xfrm>
          <a:off x="1631950" y="3571875"/>
          <a:ext cx="2282825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Equation" r:id="rId3" imgW="685800" imgH="482400" progId="Equation.DSMT4">
                  <p:embed/>
                </p:oleObj>
              </mc:Choice>
              <mc:Fallback>
                <p:oleObj name="Equation" r:id="rId3" imgW="685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3571875"/>
                        <a:ext cx="2282825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434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/>
              <a:t>Maximization of a Function of One Variable</a:t>
            </a:r>
          </a:p>
        </p:txBody>
      </p:sp>
      <p:sp>
        <p:nvSpPr>
          <p:cNvPr id="614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first order condition (</a:t>
            </a:r>
            <a:r>
              <a:rPr lang="en-US" altLang="en-US" i="1" dirty="0" smtClean="0"/>
              <a:t>d</a:t>
            </a:r>
            <a:r>
              <a:rPr lang="en-US" altLang="en-US" i="1" dirty="0" smtClean="0">
                <a:sym typeface="Symbol" pitchFamily="18" charset="2"/>
              </a:rPr>
              <a:t>/</a:t>
            </a:r>
            <a:r>
              <a:rPr lang="en-US" altLang="en-US" i="1" dirty="0" err="1" smtClean="0">
                <a:sym typeface="Symbol" pitchFamily="18" charset="2"/>
              </a:rPr>
              <a:t>dq</a:t>
            </a:r>
            <a:r>
              <a:rPr lang="en-US" altLang="en-US" dirty="0" smtClean="0">
                <a:sym typeface="Symbol" pitchFamily="18" charset="2"/>
              </a:rPr>
              <a:t>) 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Is a </a:t>
            </a:r>
            <a:r>
              <a:rPr lang="en-US" altLang="en-US" u="sng" dirty="0" smtClean="0">
                <a:sym typeface="Symbol" pitchFamily="18" charset="2"/>
              </a:rPr>
              <a:t>necessary</a:t>
            </a:r>
            <a:r>
              <a:rPr lang="en-US" altLang="en-US" dirty="0" smtClean="0">
                <a:sym typeface="Symbol" pitchFamily="18" charset="2"/>
              </a:rPr>
              <a:t> condition for a maximum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But it is not a </a:t>
            </a:r>
            <a:r>
              <a:rPr lang="en-US" altLang="en-US" u="sng" dirty="0" smtClean="0">
                <a:sym typeface="Symbol" pitchFamily="18" charset="2"/>
              </a:rPr>
              <a:t>sufficient</a:t>
            </a:r>
            <a:r>
              <a:rPr lang="en-US" altLang="en-US" dirty="0" smtClean="0">
                <a:sym typeface="Symbol" pitchFamily="18" charset="2"/>
              </a:rPr>
              <a:t> condition</a:t>
            </a:r>
          </a:p>
          <a:p>
            <a:r>
              <a:rPr lang="en-US" altLang="en-US" dirty="0" smtClean="0"/>
              <a:t>The second order condition</a:t>
            </a:r>
          </a:p>
          <a:p>
            <a:pPr lvl="1"/>
            <a:r>
              <a:rPr lang="en-US" altLang="en-US" dirty="0" smtClean="0"/>
              <a:t>In order for 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* to be the optimum,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F33DF7-D3B3-4D40-802C-A3F99244860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5105400"/>
                <a:ext cx="8534400" cy="1295400"/>
              </a:xfrm>
            </p:spPr>
            <p:txBody>
              <a:bodyPr>
                <a:noAutofit/>
              </a:bodyPr>
              <a:lstStyle/>
              <a:p>
                <a:pPr lvl="1"/>
                <a:r>
                  <a:rPr lang="en-US" dirty="0"/>
                  <a:t>At q*, </a:t>
                </a:r>
                <a:r>
                  <a:rPr lang="en-US" i="1" dirty="0"/>
                  <a:t>d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/>
                      </a:rPr>
                      <m:t>𝜋</m:t>
                    </m:r>
                  </m:oMath>
                </a14:m>
                <a:r>
                  <a:rPr lang="en-US" i="1" dirty="0"/>
                  <a:t>/</a:t>
                </a:r>
                <a:r>
                  <a:rPr lang="en-US" i="1" dirty="0" err="1"/>
                  <a:t>dq</a:t>
                </a:r>
                <a:r>
                  <a:rPr lang="en-US" i="1" dirty="0"/>
                  <a:t> </a:t>
                </a:r>
                <a:r>
                  <a:rPr lang="en-US" dirty="0"/>
                  <a:t>must be decreasing </a:t>
                </a:r>
              </a:p>
              <a:p>
                <a:pPr lvl="2"/>
                <a:r>
                  <a:rPr lang="en-US" dirty="0"/>
                  <a:t>The derivative of </a:t>
                </a:r>
                <a:r>
                  <a:rPr lang="en-US" i="1" dirty="0" smtClean="0"/>
                  <a:t>d</a:t>
                </a:r>
                <a:r>
                  <a:rPr lang="el-GR" i="1" dirty="0" smtClean="0"/>
                  <a:t>π</a:t>
                </a:r>
                <a:r>
                  <a:rPr lang="en-US" i="1" dirty="0" smtClean="0"/>
                  <a:t>/</a:t>
                </a:r>
                <a:r>
                  <a:rPr lang="en-US" i="1" dirty="0" err="1" smtClean="0"/>
                  <a:t>dq</a:t>
                </a:r>
                <a:r>
                  <a:rPr lang="en-US" i="1" dirty="0" smtClean="0"/>
                  <a:t> </a:t>
                </a:r>
                <a:r>
                  <a:rPr lang="en-US" dirty="0"/>
                  <a:t>must be negative at </a:t>
                </a:r>
                <a:r>
                  <a:rPr lang="en-US" i="1" dirty="0"/>
                  <a:t>q</a:t>
                </a:r>
                <a:r>
                  <a:rPr lang="en-US" i="1" dirty="0" smtClean="0"/>
                  <a:t>*</a:t>
                </a:r>
                <a:endParaRPr lang="en-US" i="1" dirty="0"/>
              </a:p>
            </p:txBody>
          </p:sp>
        </mc:Choice>
        <mc:Fallback xmlns=""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5105400"/>
                <a:ext cx="8534400" cy="1295400"/>
              </a:xfrm>
              <a:blipFill rotWithShape="1"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967993"/>
              </p:ext>
            </p:extLst>
          </p:nvPr>
        </p:nvGraphicFramePr>
        <p:xfrm>
          <a:off x="990600" y="4059238"/>
          <a:ext cx="7058025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Equation" r:id="rId4" imgW="2628720" imgH="419040" progId="Equation.DSMT4">
                  <p:embed/>
                </p:oleObj>
              </mc:Choice>
              <mc:Fallback>
                <p:oleObj name="Equation" r:id="rId4" imgW="2628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059238"/>
                        <a:ext cx="7058025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514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2.2	Two Profit Functions That Give </a:t>
            </a:r>
            <a:r>
              <a:rPr lang="en-US" altLang="en-US" dirty="0" smtClean="0"/>
              <a:t>Misleading</a:t>
            </a:r>
            <a:br>
              <a:rPr lang="en-US" altLang="en-US" dirty="0" smtClean="0"/>
            </a:br>
            <a:r>
              <a:rPr lang="en-US" altLang="en-US" dirty="0" smtClean="0">
                <a:solidFill>
                  <a:srgbClr val="002D56"/>
                </a:solidFill>
              </a:rPr>
              <a:t> 	Results </a:t>
            </a:r>
            <a:r>
              <a:rPr lang="en-US" altLang="en-US" dirty="0">
                <a:solidFill>
                  <a:srgbClr val="002D56"/>
                </a:solidFill>
              </a:rPr>
              <a:t>If the First Derivative Rule Is </a:t>
            </a:r>
            <a:r>
              <a:rPr lang="en-US" altLang="en-US" dirty="0" smtClean="0">
                <a:solidFill>
                  <a:srgbClr val="002D56"/>
                </a:solidFill>
              </a:rPr>
              <a:t/>
            </a:r>
            <a:br>
              <a:rPr lang="en-US" altLang="en-US" dirty="0" smtClean="0">
                <a:solidFill>
                  <a:srgbClr val="002D56"/>
                </a:solidFill>
              </a:rPr>
            </a:br>
            <a:r>
              <a:rPr lang="en-US" altLang="en-US" dirty="0">
                <a:solidFill>
                  <a:srgbClr val="002D56"/>
                </a:solidFill>
              </a:rPr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Applied Uncritically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115" name="Text Placeholder 15"/>
              <p:cNvSpPr>
                <a:spLocks noGrp="1"/>
              </p:cNvSpPr>
              <p:nvPr>
                <p:ph sz="half" idx="1"/>
              </p:nvPr>
            </p:nvSpPr>
            <p:spPr>
              <a:xfrm>
                <a:off x="76200" y="4419599"/>
                <a:ext cx="9037093" cy="1981201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en-US" dirty="0" smtClean="0"/>
                  <a:t>In (a), the application of the first derivative rule would result in point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en-US" b="0" i="1" smtClean="0">
                            <a:latin typeface="Cambria Math"/>
                          </a:rPr>
                          <m:t>𝑞</m:t>
                        </m:r>
                        <m:r>
                          <a:rPr lang="en-US" altLang="en-US" b="0" i="1" baseline="-25000" smtClean="0">
                            <a:latin typeface="Cambria Math"/>
                          </a:rPr>
                          <m:t>𝑎</m:t>
                        </m:r>
                      </m:e>
                      <m:sub/>
                      <m:sup>
                        <m:r>
                          <a:rPr lang="en-US" altLang="en-US" b="0" i="1" smtClean="0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en-US" dirty="0" smtClean="0"/>
                  <a:t> being </a:t>
                </a:r>
                <a:r>
                  <a:rPr lang="en-US" altLang="en-US" dirty="0"/>
                  <a:t>chosen. This point is </a:t>
                </a:r>
                <a:r>
                  <a:rPr lang="en-US" altLang="en-US" dirty="0" smtClean="0"/>
                  <a:t>in fact </a:t>
                </a:r>
                <a:r>
                  <a:rPr lang="en-US" altLang="en-US" dirty="0"/>
                  <a:t>a point of minimum profits. </a:t>
                </a:r>
                <a:endParaRPr lang="en-US" altLang="en-US" dirty="0" smtClean="0"/>
              </a:p>
              <a:p>
                <a:pPr>
                  <a:spcBef>
                    <a:spcPct val="0"/>
                  </a:spcBef>
                </a:pPr>
                <a:r>
                  <a:rPr lang="en-US" altLang="en-US" dirty="0" smtClean="0"/>
                  <a:t>Similarly</a:t>
                </a:r>
                <a:r>
                  <a:rPr lang="en-US" altLang="en-US" dirty="0"/>
                  <a:t>, in (b), output level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en-US" i="1">
                            <a:latin typeface="Cambria Math"/>
                          </a:rPr>
                          <m:t>𝑞</m:t>
                        </m:r>
                        <m:r>
                          <a:rPr lang="en-US" altLang="en-US" b="0" i="1" baseline="-25000" smtClean="0">
                            <a:latin typeface="Cambria Math"/>
                          </a:rPr>
                          <m:t>𝑏</m:t>
                        </m:r>
                      </m:e>
                      <m:sub/>
                      <m:sup>
                        <m:r>
                          <a:rPr lang="en-US" altLang="en-US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alt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en-US" dirty="0"/>
                  <a:t>would be recommended by the </a:t>
                </a:r>
                <a:r>
                  <a:rPr lang="en-US" altLang="en-US" dirty="0" smtClean="0"/>
                  <a:t>first derivative </a:t>
                </a:r>
                <a:r>
                  <a:rPr lang="en-US" altLang="en-US" dirty="0"/>
                  <a:t>rule, but this point is inferior to all outputs greater than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en-US" i="1">
                            <a:latin typeface="Cambria Math"/>
                          </a:rPr>
                          <m:t>𝑞</m:t>
                        </m:r>
                        <m:r>
                          <a:rPr lang="en-US" altLang="en-US" i="1" baseline="-25000">
                            <a:latin typeface="Cambria Math"/>
                          </a:rPr>
                          <m:t>𝑏</m:t>
                        </m:r>
                      </m:e>
                      <m:sub/>
                      <m:sup>
                        <m:r>
                          <a:rPr lang="en-US" alt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en-US" dirty="0"/>
                  <a:t>. </a:t>
                </a:r>
                <a:endParaRPr lang="en-US" altLang="en-US" dirty="0" smtClean="0"/>
              </a:p>
              <a:p>
                <a:pPr>
                  <a:spcBef>
                    <a:spcPct val="0"/>
                  </a:spcBef>
                </a:pPr>
                <a:r>
                  <a:rPr lang="en-US" altLang="en-US" dirty="0" smtClean="0"/>
                  <a:t>This </a:t>
                </a:r>
                <a:r>
                  <a:rPr lang="en-US" altLang="en-US" dirty="0"/>
                  <a:t>demonstrates graphically </a:t>
                </a:r>
                <a:r>
                  <a:rPr lang="en-US" altLang="en-US" dirty="0" smtClean="0"/>
                  <a:t>that finding </a:t>
                </a:r>
                <a:r>
                  <a:rPr lang="en-US" altLang="en-US" dirty="0"/>
                  <a:t>a point at which the derivative is equal to 0 is a necessary, but not a </a:t>
                </a:r>
                <a:r>
                  <a:rPr lang="en-US" altLang="en-US" dirty="0" smtClean="0"/>
                  <a:t> sufficient</a:t>
                </a:r>
                <a:r>
                  <a:rPr lang="en-US" altLang="en-US" dirty="0"/>
                  <a:t>, condition for </a:t>
                </a:r>
                <a:r>
                  <a:rPr lang="en-US" altLang="en-US" dirty="0" smtClean="0"/>
                  <a:t>a function </a:t>
                </a:r>
                <a:r>
                  <a:rPr lang="en-US" altLang="en-US" dirty="0"/>
                  <a:t>to attain its maximum value.</a:t>
                </a:r>
              </a:p>
            </p:txBody>
          </p:sp>
        </mc:Choice>
        <mc:Fallback xmlns="">
          <p:sp>
            <p:nvSpPr>
              <p:cNvPr id="90115" name="Text Placeholder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6200" y="4419599"/>
                <a:ext cx="9037093" cy="1981201"/>
              </a:xfrm>
              <a:blipFill rotWithShape="1">
                <a:blip r:embed="rId2"/>
                <a:stretch>
                  <a:fillRect l="-607" t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76BFC0-74F6-42A2-9D29-294719D2615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87046" name="Freeform 6"/>
          <p:cNvSpPr>
            <a:spLocks/>
          </p:cNvSpPr>
          <p:nvPr/>
        </p:nvSpPr>
        <p:spPr bwMode="auto">
          <a:xfrm>
            <a:off x="1231900" y="2454275"/>
            <a:ext cx="2209800" cy="685800"/>
          </a:xfrm>
          <a:custGeom>
            <a:avLst/>
            <a:gdLst>
              <a:gd name="T0" fmla="*/ 0 w 1392"/>
              <a:gd name="T1" fmla="*/ 0 h 432"/>
              <a:gd name="T2" fmla="*/ 2147483647 w 1392"/>
              <a:gd name="T3" fmla="*/ 2147483647 h 432"/>
              <a:gd name="T4" fmla="*/ 2147483647 w 1392"/>
              <a:gd name="T5" fmla="*/ 0 h 432"/>
              <a:gd name="T6" fmla="*/ 0 60000 65536"/>
              <a:gd name="T7" fmla="*/ 0 60000 65536"/>
              <a:gd name="T8" fmla="*/ 0 60000 65536"/>
              <a:gd name="T9" fmla="*/ 0 w 1392"/>
              <a:gd name="T10" fmla="*/ 0 h 432"/>
              <a:gd name="T11" fmla="*/ 1392 w 1392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2" h="432">
                <a:moveTo>
                  <a:pt x="0" y="0"/>
                </a:moveTo>
                <a:cubicBezTo>
                  <a:pt x="172" y="216"/>
                  <a:pt x="344" y="432"/>
                  <a:pt x="576" y="432"/>
                </a:cubicBezTo>
                <a:cubicBezTo>
                  <a:pt x="808" y="432"/>
                  <a:pt x="1100" y="216"/>
                  <a:pt x="1392" y="0"/>
                </a:cubicBezTo>
              </a:path>
            </a:pathLst>
          </a:custGeom>
          <a:noFill/>
          <a:ln w="28575" cap="flat" cmpd="sng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546100" y="1311275"/>
            <a:ext cx="309562" cy="2667000"/>
            <a:chOff x="468560" y="1258968"/>
            <a:chExt cx="309563" cy="2667000"/>
          </a:xfrm>
        </p:grpSpPr>
        <p:sp>
          <p:nvSpPr>
            <p:cNvPr id="90141" name="Line 4"/>
            <p:cNvSpPr>
              <a:spLocks noChangeShapeType="1"/>
            </p:cNvSpPr>
            <p:nvPr/>
          </p:nvSpPr>
          <p:spPr bwMode="auto">
            <a:xfrm>
              <a:off x="773360" y="1411368"/>
              <a:ext cx="0" cy="2514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0142" name="Text Box 10"/>
            <p:cNvSpPr txBox="1">
              <a:spLocks noChangeArrowheads="1"/>
            </p:cNvSpPr>
            <p:nvPr/>
          </p:nvSpPr>
          <p:spPr bwMode="auto">
            <a:xfrm>
              <a:off x="468560" y="1258968"/>
              <a:ext cx="30956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ym typeface="Symbol" pitchFamily="18" charset="2"/>
                </a:rPr>
                <a:t></a:t>
              </a:r>
              <a:endParaRPr lang="en-US" altLang="en-US" sz="1800">
                <a:latin typeface="Times New Roman" pitchFamily="18" charset="0"/>
                <a:sym typeface="Symbol" pitchFamily="18" charset="2"/>
              </a:endParaRPr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762000" y="3978274"/>
            <a:ext cx="2987675" cy="429662"/>
            <a:chOff x="684487" y="3925967"/>
            <a:chExt cx="2986763" cy="429349"/>
          </a:xfrm>
        </p:grpSpPr>
        <p:sp>
          <p:nvSpPr>
            <p:cNvPr id="90139" name="Line 5"/>
            <p:cNvSpPr>
              <a:spLocks noChangeShapeType="1"/>
            </p:cNvSpPr>
            <p:nvPr/>
          </p:nvSpPr>
          <p:spPr bwMode="auto">
            <a:xfrm>
              <a:off x="773360" y="3925967"/>
              <a:ext cx="2897890" cy="4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0140" name="Text Box 11"/>
            <p:cNvSpPr txBox="1">
              <a:spLocks noChangeArrowheads="1"/>
            </p:cNvSpPr>
            <p:nvPr/>
          </p:nvSpPr>
          <p:spPr bwMode="auto">
            <a:xfrm>
              <a:off x="684487" y="3986253"/>
              <a:ext cx="2897891" cy="36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1800" dirty="0">
                  <a:sym typeface="Symbol" pitchFamily="18" charset="2"/>
                </a:rPr>
                <a:t>(a</a:t>
              </a:r>
              <a:r>
                <a:rPr lang="en-US" altLang="en-US" sz="1800" dirty="0" smtClean="0">
                  <a:sym typeface="Symbol" pitchFamily="18" charset="2"/>
                </a:rPr>
                <a:t>)		Quantity</a:t>
              </a:r>
              <a:endParaRPr lang="en-US" altLang="en-US" sz="1800" dirty="0">
                <a:sym typeface="Symbol" pitchFamily="18" charset="2"/>
              </a:endParaRP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38150" y="2986087"/>
            <a:ext cx="1941512" cy="1360488"/>
            <a:chOff x="700" y="3215"/>
            <a:chExt cx="1223" cy="857"/>
          </a:xfrm>
        </p:grpSpPr>
        <p:sp>
          <p:nvSpPr>
            <p:cNvPr id="90135" name="Line 7"/>
            <p:cNvSpPr>
              <a:spLocks noChangeShapeType="1"/>
            </p:cNvSpPr>
            <p:nvPr/>
          </p:nvSpPr>
          <p:spPr bwMode="auto">
            <a:xfrm flipH="1">
              <a:off x="960" y="3312"/>
              <a:ext cx="76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36" name="Line 8"/>
            <p:cNvSpPr>
              <a:spLocks noChangeShapeType="1"/>
            </p:cNvSpPr>
            <p:nvPr/>
          </p:nvSpPr>
          <p:spPr bwMode="auto">
            <a:xfrm>
              <a:off x="1728" y="3312"/>
              <a:ext cx="0" cy="52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37" name="Text Box 12"/>
            <p:cNvSpPr txBox="1">
              <a:spLocks noChangeArrowheads="1"/>
            </p:cNvSpPr>
            <p:nvPr/>
          </p:nvSpPr>
          <p:spPr bwMode="auto">
            <a:xfrm>
              <a:off x="700" y="3215"/>
              <a:ext cx="31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latin typeface="Times New Roman" pitchFamily="18" charset="0"/>
                  <a:sym typeface="Symbol" pitchFamily="18" charset="2"/>
                </a:rPr>
                <a:t></a:t>
              </a:r>
              <a:r>
                <a:rPr lang="en-US" altLang="en-US" sz="1800" baseline="-25000">
                  <a:latin typeface="Times New Roman" pitchFamily="18" charset="0"/>
                  <a:sym typeface="Symbol" pitchFamily="18" charset="2"/>
                </a:rPr>
                <a:t>a</a:t>
              </a:r>
              <a:r>
                <a:rPr lang="en-US" altLang="en-US" sz="1800">
                  <a:latin typeface="Times New Roman" pitchFamily="18" charset="0"/>
                  <a:sym typeface="Symbol" pitchFamily="18" charset="2"/>
                </a:rPr>
                <a:t>*</a:t>
              </a:r>
            </a:p>
          </p:txBody>
        </p:sp>
        <p:sp>
          <p:nvSpPr>
            <p:cNvPr id="90138" name="Text Box 13"/>
            <p:cNvSpPr txBox="1">
              <a:spLocks noChangeArrowheads="1"/>
            </p:cNvSpPr>
            <p:nvPr/>
          </p:nvSpPr>
          <p:spPr bwMode="auto">
            <a:xfrm>
              <a:off x="1616" y="3839"/>
              <a:ext cx="3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ym typeface="Symbol" pitchFamily="18" charset="2"/>
                </a:rPr>
                <a:t>q</a:t>
              </a:r>
              <a:r>
                <a:rPr lang="en-US" altLang="en-US" sz="1800" baseline="-25000">
                  <a:sym typeface="Symbol" pitchFamily="18" charset="2"/>
                </a:rPr>
                <a:t>a</a:t>
              </a:r>
              <a:r>
                <a:rPr lang="en-US" altLang="en-US" sz="1800">
                  <a:sym typeface="Symbol" pitchFamily="18" charset="2"/>
                </a:rPr>
                <a:t>*</a:t>
              </a:r>
            </a:p>
          </p:txBody>
        </p:sp>
      </p:grp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4492625" y="1300162"/>
            <a:ext cx="309562" cy="2667000"/>
            <a:chOff x="4415050" y="1247594"/>
            <a:chExt cx="309563" cy="2667000"/>
          </a:xfrm>
        </p:grpSpPr>
        <p:sp>
          <p:nvSpPr>
            <p:cNvPr id="90133" name="Line 4"/>
            <p:cNvSpPr>
              <a:spLocks noChangeShapeType="1"/>
            </p:cNvSpPr>
            <p:nvPr/>
          </p:nvSpPr>
          <p:spPr bwMode="auto">
            <a:xfrm>
              <a:off x="4719850" y="1399994"/>
              <a:ext cx="0" cy="2514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0134" name="Text Box 10"/>
            <p:cNvSpPr txBox="1">
              <a:spLocks noChangeArrowheads="1"/>
            </p:cNvSpPr>
            <p:nvPr/>
          </p:nvSpPr>
          <p:spPr bwMode="auto">
            <a:xfrm>
              <a:off x="4415050" y="1247594"/>
              <a:ext cx="30956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ym typeface="Symbol" pitchFamily="18" charset="2"/>
                </a:rPr>
                <a:t></a:t>
              </a:r>
              <a:endParaRPr lang="en-US" altLang="en-US" sz="1800">
                <a:latin typeface="Times New Roman" pitchFamily="18" charset="0"/>
                <a:sym typeface="Symbol" pitchFamily="18" charset="2"/>
              </a:endParaRPr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4729465" y="3967170"/>
            <a:ext cx="2966739" cy="452429"/>
            <a:chOff x="4651908" y="3914593"/>
            <a:chExt cx="2965832" cy="452782"/>
          </a:xfrm>
        </p:grpSpPr>
        <p:sp>
          <p:nvSpPr>
            <p:cNvPr id="90131" name="Line 5"/>
            <p:cNvSpPr>
              <a:spLocks noChangeShapeType="1"/>
            </p:cNvSpPr>
            <p:nvPr/>
          </p:nvSpPr>
          <p:spPr bwMode="auto">
            <a:xfrm>
              <a:off x="4719850" y="3914593"/>
              <a:ext cx="2897890" cy="4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0132" name="Text Box 11"/>
            <p:cNvSpPr txBox="1">
              <a:spLocks noChangeArrowheads="1"/>
            </p:cNvSpPr>
            <p:nvPr/>
          </p:nvSpPr>
          <p:spPr bwMode="auto">
            <a:xfrm>
              <a:off x="4651908" y="3997754"/>
              <a:ext cx="2889653" cy="369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1800" dirty="0">
                  <a:sym typeface="Symbol" pitchFamily="18" charset="2"/>
                </a:rPr>
                <a:t>(</a:t>
              </a:r>
              <a:r>
                <a:rPr lang="en-US" altLang="en-US" sz="1800" dirty="0" smtClean="0">
                  <a:sym typeface="Symbol" pitchFamily="18" charset="2"/>
                </a:rPr>
                <a:t>b)			Quantity</a:t>
              </a:r>
              <a:endParaRPr lang="en-US" altLang="en-US" sz="1800" dirty="0">
                <a:sym typeface="Symbol" pitchFamily="18" charset="2"/>
              </a:endParaRPr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84675" y="2974975"/>
            <a:ext cx="1941512" cy="1360487"/>
            <a:chOff x="700" y="3215"/>
            <a:chExt cx="1223" cy="857"/>
          </a:xfrm>
        </p:grpSpPr>
        <p:sp>
          <p:nvSpPr>
            <p:cNvPr id="90127" name="Line 7"/>
            <p:cNvSpPr>
              <a:spLocks noChangeShapeType="1"/>
            </p:cNvSpPr>
            <p:nvPr/>
          </p:nvSpPr>
          <p:spPr bwMode="auto">
            <a:xfrm flipH="1">
              <a:off x="960" y="3312"/>
              <a:ext cx="76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28" name="Line 8"/>
            <p:cNvSpPr>
              <a:spLocks noChangeShapeType="1"/>
            </p:cNvSpPr>
            <p:nvPr/>
          </p:nvSpPr>
          <p:spPr bwMode="auto">
            <a:xfrm>
              <a:off x="1728" y="3312"/>
              <a:ext cx="0" cy="52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29" name="Text Box 12"/>
            <p:cNvSpPr txBox="1">
              <a:spLocks noChangeArrowheads="1"/>
            </p:cNvSpPr>
            <p:nvPr/>
          </p:nvSpPr>
          <p:spPr bwMode="auto">
            <a:xfrm>
              <a:off x="700" y="3215"/>
              <a:ext cx="3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latin typeface="Times New Roman" pitchFamily="18" charset="0"/>
                  <a:sym typeface="Symbol" pitchFamily="18" charset="2"/>
                </a:rPr>
                <a:t></a:t>
              </a:r>
              <a:r>
                <a:rPr lang="en-US" altLang="en-US" sz="1800" baseline="-25000">
                  <a:latin typeface="Times New Roman" pitchFamily="18" charset="0"/>
                  <a:sym typeface="Symbol" pitchFamily="18" charset="2"/>
                </a:rPr>
                <a:t>b</a:t>
              </a:r>
              <a:r>
                <a:rPr lang="en-US" altLang="en-US" sz="1800">
                  <a:latin typeface="Times New Roman" pitchFamily="18" charset="0"/>
                  <a:sym typeface="Symbol" pitchFamily="18" charset="2"/>
                </a:rPr>
                <a:t>*</a:t>
              </a:r>
            </a:p>
          </p:txBody>
        </p:sp>
        <p:sp>
          <p:nvSpPr>
            <p:cNvPr id="90130" name="Text Box 13"/>
            <p:cNvSpPr txBox="1">
              <a:spLocks noChangeArrowheads="1"/>
            </p:cNvSpPr>
            <p:nvPr/>
          </p:nvSpPr>
          <p:spPr bwMode="auto">
            <a:xfrm>
              <a:off x="1616" y="3839"/>
              <a:ext cx="3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ym typeface="Symbol" pitchFamily="18" charset="2"/>
                </a:rPr>
                <a:t>q</a:t>
              </a:r>
              <a:r>
                <a:rPr lang="en-US" altLang="en-US" sz="1800" baseline="-25000">
                  <a:sym typeface="Symbol" pitchFamily="18" charset="2"/>
                </a:rPr>
                <a:t>b</a:t>
              </a:r>
              <a:r>
                <a:rPr lang="en-US" altLang="en-US" sz="1800">
                  <a:sym typeface="Symbol" pitchFamily="18" charset="2"/>
                </a:rPr>
                <a:t>*</a:t>
              </a:r>
            </a:p>
          </p:txBody>
        </p:sp>
      </p:grpSp>
      <p:sp>
        <p:nvSpPr>
          <p:cNvPr id="28" name="Freeform 27"/>
          <p:cNvSpPr>
            <a:spLocks/>
          </p:cNvSpPr>
          <p:nvPr/>
        </p:nvSpPr>
        <p:spPr bwMode="auto">
          <a:xfrm>
            <a:off x="4802187" y="1960562"/>
            <a:ext cx="2443163" cy="2047875"/>
          </a:xfrm>
          <a:custGeom>
            <a:avLst/>
            <a:gdLst>
              <a:gd name="T0" fmla="*/ 0 w 2442949"/>
              <a:gd name="T1" fmla="*/ 2048586 h 2047164"/>
              <a:gd name="T2" fmla="*/ 1201216 w 2442949"/>
              <a:gd name="T3" fmla="*/ 1188182 h 2047164"/>
              <a:gd name="T4" fmla="*/ 2443377 w 2442949"/>
              <a:gd name="T5" fmla="*/ 0 h 2047164"/>
              <a:gd name="T6" fmla="*/ 0 60000 65536"/>
              <a:gd name="T7" fmla="*/ 0 60000 65536"/>
              <a:gd name="T8" fmla="*/ 0 60000 65536"/>
              <a:gd name="T9" fmla="*/ 0 w 2442949"/>
              <a:gd name="T10" fmla="*/ 0 h 2047164"/>
              <a:gd name="T11" fmla="*/ 2442949 w 2442949"/>
              <a:gd name="T12" fmla="*/ 2047164 h 20471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42949" h="2047164">
                <a:moveTo>
                  <a:pt x="0" y="2047164"/>
                </a:moveTo>
                <a:cubicBezTo>
                  <a:pt x="274092" y="1651380"/>
                  <a:pt x="575481" y="1228300"/>
                  <a:pt x="1201003" y="1187356"/>
                </a:cubicBezTo>
                <a:cubicBezTo>
                  <a:pt x="1567218" y="1119117"/>
                  <a:pt x="2380397" y="900753"/>
                  <a:pt x="2442949" y="0"/>
                </a:cubicBezTo>
              </a:path>
            </a:pathLst>
          </a:custGeom>
          <a:noFill/>
          <a:ln w="28575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1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uiExpand="1" build="p"/>
      <p:bldP spid="87046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/>
              <a:t>Maximization of a Function of One Variable</a:t>
            </a:r>
          </a:p>
        </p:txBody>
      </p:sp>
      <p:sp>
        <p:nvSpPr>
          <p:cNvPr id="717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Second derivative</a:t>
            </a:r>
          </a:p>
          <a:p>
            <a:pPr lvl="1"/>
            <a:r>
              <a:rPr lang="en-US" altLang="en-US" dirty="0" smtClean="0"/>
              <a:t>The derivative of a derivative</a:t>
            </a:r>
          </a:p>
          <a:p>
            <a:pPr lvl="1"/>
            <a:r>
              <a:rPr lang="en-US" altLang="en-US" dirty="0" smtClean="0"/>
              <a:t>Can be denoted by: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1D0496D-A0E2-4657-AB90-A0AFBE5A625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657600"/>
            <a:ext cx="8534400" cy="2590800"/>
          </a:xfrm>
        </p:spPr>
        <p:txBody>
          <a:bodyPr/>
          <a:lstStyle/>
          <a:p>
            <a:r>
              <a:rPr lang="en-US" altLang="en-US" dirty="0"/>
              <a:t>The second order condition</a:t>
            </a:r>
          </a:p>
          <a:p>
            <a:pPr lvl="1"/>
            <a:r>
              <a:rPr lang="en-US" altLang="en-US" dirty="0"/>
              <a:t>To represent a (local) maximum is:</a:t>
            </a:r>
          </a:p>
          <a:p>
            <a:endParaRPr lang="en-US" dirty="0"/>
          </a:p>
        </p:txBody>
      </p:sp>
      <p:graphicFrame>
        <p:nvGraphicFramePr>
          <p:cNvPr id="22323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536198"/>
              </p:ext>
            </p:extLst>
          </p:nvPr>
        </p:nvGraphicFramePr>
        <p:xfrm>
          <a:off x="4724400" y="2286000"/>
          <a:ext cx="378777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1" name="Equation" r:id="rId3" imgW="1409400" imgH="444240" progId="Equation.DSMT4">
                  <p:embed/>
                </p:oleObj>
              </mc:Choice>
              <mc:Fallback>
                <p:oleObj name="Equation" r:id="rId3" imgW="1409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286000"/>
                        <a:ext cx="3787775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869234"/>
              </p:ext>
            </p:extLst>
          </p:nvPr>
        </p:nvGraphicFramePr>
        <p:xfrm>
          <a:off x="2552700" y="4839818"/>
          <a:ext cx="4038600" cy="1348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2" name="Equation" r:id="rId5" imgW="1514368" imgH="495328" progId="Equation.DSMT4">
                  <p:embed/>
                </p:oleObj>
              </mc:Choice>
              <mc:Fallback>
                <p:oleObj name="Equation" r:id="rId5" imgW="1514368" imgH="495328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839818"/>
                        <a:ext cx="4038600" cy="13482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688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Rules for Finding Derivatives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B6455DC-7CDB-41F6-B903-F8C09A44E15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22528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086796"/>
              </p:ext>
            </p:extLst>
          </p:nvPr>
        </p:nvGraphicFramePr>
        <p:xfrm>
          <a:off x="417513" y="1033463"/>
          <a:ext cx="5967412" cy="543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4" name="Equation" r:id="rId3" imgW="2743200" imgH="2514600" progId="Equation.DSMT4">
                  <p:embed/>
                </p:oleObj>
              </mc:Choice>
              <mc:Fallback>
                <p:oleObj name="Equation" r:id="rId3" imgW="2743200" imgH="2514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1033463"/>
                        <a:ext cx="5967412" cy="543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240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Rules for Finding Derivatives</a:t>
            </a:r>
          </a:p>
        </p:txBody>
      </p:sp>
      <p:sp>
        <p:nvSpPr>
          <p:cNvPr id="10244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534400" cy="5257800"/>
          </a:xfrm>
        </p:spPr>
        <p:txBody>
          <a:bodyPr/>
          <a:lstStyle/>
          <a:p>
            <a:r>
              <a:rPr lang="en-US" altLang="en-US" dirty="0" smtClean="0"/>
              <a:t>Suppose that </a:t>
            </a:r>
            <a:r>
              <a:rPr lang="en-US" altLang="en-US" i="1" dirty="0" smtClean="0"/>
              <a:t>f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) and </a:t>
            </a:r>
            <a:r>
              <a:rPr lang="en-US" altLang="en-US" i="1" dirty="0" smtClean="0"/>
              <a:t>g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) are two functions of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f’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) and </a:t>
            </a:r>
            <a:r>
              <a:rPr lang="en-US" altLang="en-US" i="1" dirty="0" smtClean="0"/>
              <a:t>g’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) exist, then: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74E8A51-5411-475A-86DC-F73D61ACBE5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22630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05981"/>
              </p:ext>
            </p:extLst>
          </p:nvPr>
        </p:nvGraphicFramePr>
        <p:xfrm>
          <a:off x="407988" y="2362200"/>
          <a:ext cx="8551862" cy="354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name="Equation" r:id="rId3" imgW="3733560" imgH="1549080" progId="Equation.DSMT4">
                  <p:embed/>
                </p:oleObj>
              </mc:Choice>
              <mc:Fallback>
                <p:oleObj name="Equation" r:id="rId3" imgW="3733560" imgH="1549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2362200"/>
                        <a:ext cx="8551862" cy="354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690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6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Rules for Finding Derivatives</a:t>
            </a:r>
          </a:p>
        </p:txBody>
      </p:sp>
      <p:sp>
        <p:nvSpPr>
          <p:cNvPr id="112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If </a:t>
            </a:r>
            <a:r>
              <a:rPr lang="en-US" altLang="en-US" i="1" dirty="0" smtClean="0"/>
              <a:t>y = f(x) </a:t>
            </a:r>
            <a:r>
              <a:rPr lang="en-US" altLang="en-US" dirty="0" smtClean="0"/>
              <a:t>and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= </a:t>
            </a:r>
            <a:r>
              <a:rPr lang="en-US" altLang="en-US" i="1" dirty="0" smtClean="0"/>
              <a:t>g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z</a:t>
            </a:r>
            <a:r>
              <a:rPr lang="en-US" altLang="en-US" dirty="0" smtClean="0"/>
              <a:t>) and if both </a:t>
            </a:r>
            <a:r>
              <a:rPr lang="en-US" altLang="en-US" i="1" dirty="0" smtClean="0"/>
              <a:t>f’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) and </a:t>
            </a:r>
            <a:r>
              <a:rPr lang="en-US" altLang="en-US" i="1" dirty="0" smtClean="0"/>
              <a:t>g’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) exist, then: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660820C-0AAD-475D-A125-BE1D3CC6E39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733800"/>
            <a:ext cx="8534400" cy="2514600"/>
          </a:xfrm>
        </p:spPr>
        <p:txBody>
          <a:bodyPr>
            <a:normAutofit/>
          </a:bodyPr>
          <a:lstStyle/>
          <a:p>
            <a:r>
              <a:rPr lang="en-US" dirty="0"/>
              <a:t>This is called the chain rule  </a:t>
            </a:r>
          </a:p>
          <a:p>
            <a:pPr lvl="1"/>
            <a:r>
              <a:rPr lang="en-US" dirty="0"/>
              <a:t>Allows us to study how one variable (</a:t>
            </a:r>
            <a:r>
              <a:rPr lang="en-US" i="1" dirty="0"/>
              <a:t>z</a:t>
            </a:r>
            <a:r>
              <a:rPr lang="en-US" dirty="0"/>
              <a:t>) affects another variable (</a:t>
            </a:r>
            <a:r>
              <a:rPr lang="en-US" i="1" dirty="0"/>
              <a:t>y</a:t>
            </a:r>
            <a:r>
              <a:rPr lang="en-US" dirty="0"/>
              <a:t>) through its influence on some intermediate variable (</a:t>
            </a:r>
            <a:r>
              <a:rPr lang="en-US" i="1" dirty="0"/>
              <a:t>x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096662"/>
              </p:ext>
            </p:extLst>
          </p:nvPr>
        </p:nvGraphicFramePr>
        <p:xfrm>
          <a:off x="784225" y="2378075"/>
          <a:ext cx="4637088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2" name="Equation" r:id="rId3" imgW="1638000" imgH="393480" progId="Equation.DSMT4">
                  <p:embed/>
                </p:oleObj>
              </mc:Choice>
              <mc:Fallback>
                <p:oleObj name="Equation" r:id="rId3" imgW="1638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2378075"/>
                        <a:ext cx="4637088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203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Rules for Finding Derivatives</a:t>
            </a:r>
          </a:p>
        </p:txBody>
      </p:sp>
      <p:sp>
        <p:nvSpPr>
          <p:cNvPr id="1229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Some examples of the chain rule include: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551EFD-6D35-479F-8B7E-989C4C2420A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aphicFrame>
        <p:nvGraphicFramePr>
          <p:cNvPr id="13414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72175"/>
              </p:ext>
            </p:extLst>
          </p:nvPr>
        </p:nvGraphicFramePr>
        <p:xfrm>
          <a:off x="822325" y="1970088"/>
          <a:ext cx="6834188" cy="321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5" name="Equation" r:id="rId3" imgW="2933640" imgH="1384200" progId="Equation.DSMT4">
                  <p:embed/>
                </p:oleObj>
              </mc:Choice>
              <mc:Fallback>
                <p:oleObj name="Equation" r:id="rId3" imgW="2933640" imgH="1384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1970088"/>
                        <a:ext cx="6834188" cy="321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035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	Profit Maximization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C0627A34-FE69-42D8-AD03-8EABA916642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Suppose that the relationship between profit and output is</a:t>
            </a:r>
          </a:p>
          <a:p>
            <a:pPr algn="ctr">
              <a:lnSpc>
                <a:spcPct val="110000"/>
              </a:lnSpc>
              <a:buFontTx/>
              <a:buNone/>
            </a:pPr>
            <a:r>
              <a:rPr lang="en-US" altLang="en-US" sz="2800" dirty="0" smtClean="0">
                <a:solidFill>
                  <a:srgbClr val="FF0000"/>
                </a:solidFill>
                <a:sym typeface="Symbol" pitchFamily="18" charset="2"/>
              </a:rPr>
              <a:t> = 1,000</a:t>
            </a:r>
            <a:r>
              <a:rPr lang="en-US" altLang="en-US" sz="2800" i="1" dirty="0" smtClean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altLang="en-US" sz="2800" dirty="0" smtClean="0">
                <a:solidFill>
                  <a:srgbClr val="FF0000"/>
                </a:solidFill>
                <a:sym typeface="Symbol" pitchFamily="18" charset="2"/>
              </a:rPr>
              <a:t> - 5</a:t>
            </a:r>
            <a:r>
              <a:rPr lang="en-US" altLang="en-US" sz="2800" i="1" dirty="0" smtClean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altLang="en-US" sz="2800" baseline="30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endParaRPr lang="en-US" altLang="en-US" sz="2800" dirty="0" smtClean="0">
              <a:solidFill>
                <a:srgbClr val="FF0000"/>
              </a:solidFill>
              <a:sym typeface="Symbol" pitchFamily="18" charset="2"/>
            </a:endParaRPr>
          </a:p>
          <a:p>
            <a:r>
              <a:rPr lang="en-US" altLang="en-US" dirty="0" smtClean="0"/>
              <a:t>The first order condition for a maximum is</a:t>
            </a:r>
          </a:p>
          <a:p>
            <a:pPr algn="ctr">
              <a:lnSpc>
                <a:spcPct val="110000"/>
              </a:lnSpc>
              <a:buFontTx/>
              <a:buNone/>
            </a:pPr>
            <a:r>
              <a:rPr lang="en-US" altLang="en-US" sz="2800" i="1" dirty="0" smtClean="0">
                <a:solidFill>
                  <a:srgbClr val="FF0000"/>
                </a:solidFill>
              </a:rPr>
              <a:t>d</a:t>
            </a:r>
            <a:r>
              <a:rPr lang="en-US" altLang="en-US" sz="2800" dirty="0" smtClean="0">
                <a:solidFill>
                  <a:srgbClr val="FF0000"/>
                </a:solidFill>
                <a:sym typeface="Symbol" pitchFamily="18" charset="2"/>
              </a:rPr>
              <a:t>/</a:t>
            </a:r>
            <a:r>
              <a:rPr lang="en-US" altLang="en-US" sz="2800" i="1" dirty="0" err="1" smtClean="0">
                <a:solidFill>
                  <a:srgbClr val="FF0000"/>
                </a:solidFill>
                <a:sym typeface="Symbol" pitchFamily="18" charset="2"/>
              </a:rPr>
              <a:t>dq</a:t>
            </a:r>
            <a:r>
              <a:rPr lang="en-US" altLang="en-US" sz="2800" dirty="0" smtClean="0">
                <a:solidFill>
                  <a:srgbClr val="FF0000"/>
                </a:solidFill>
                <a:sym typeface="Symbol" pitchFamily="18" charset="2"/>
              </a:rPr>
              <a:t> = 1,000 - 10</a:t>
            </a:r>
            <a:r>
              <a:rPr lang="en-US" altLang="en-US" sz="2800" i="1" dirty="0" smtClean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altLang="en-US" sz="2800" dirty="0" smtClean="0">
                <a:solidFill>
                  <a:srgbClr val="FF0000"/>
                </a:solidFill>
                <a:sym typeface="Symbol" pitchFamily="18" charset="2"/>
              </a:rPr>
              <a:t> = 0</a:t>
            </a:r>
          </a:p>
          <a:p>
            <a:pPr algn="ctr">
              <a:lnSpc>
                <a:spcPct val="110000"/>
              </a:lnSpc>
              <a:buFontTx/>
              <a:buNone/>
            </a:pPr>
            <a:r>
              <a:rPr lang="en-US" altLang="en-US" sz="2800" i="1" dirty="0" smtClean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altLang="en-US" sz="2800" dirty="0" smtClean="0">
                <a:solidFill>
                  <a:srgbClr val="FF0000"/>
                </a:solidFill>
                <a:sym typeface="Symbol" pitchFamily="18" charset="2"/>
              </a:rPr>
              <a:t>* = 100</a:t>
            </a:r>
          </a:p>
          <a:p>
            <a:r>
              <a:rPr lang="en-US" altLang="en-US" dirty="0" smtClean="0">
                <a:sym typeface="Symbol" pitchFamily="18" charset="2"/>
              </a:rPr>
              <a:t>Since the second derivative is always -10, then </a:t>
            </a:r>
            <a:r>
              <a:rPr lang="en-US" altLang="en-US" i="1" dirty="0" smtClean="0">
                <a:sym typeface="Symbol" pitchFamily="18" charset="2"/>
              </a:rPr>
              <a:t>q </a:t>
            </a:r>
            <a:r>
              <a:rPr lang="en-US" altLang="en-US" dirty="0" smtClean="0">
                <a:sym typeface="Symbol" pitchFamily="18" charset="2"/>
              </a:rPr>
              <a:t>= 100 is a </a:t>
            </a:r>
            <a:r>
              <a:rPr lang="en-US" altLang="en-US" u="sng" dirty="0" smtClean="0">
                <a:sym typeface="Symbol" pitchFamily="18" charset="2"/>
              </a:rPr>
              <a:t>global maximum</a:t>
            </a:r>
            <a:endParaRPr lang="en-US" altLang="en-US" dirty="0" smtClean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7596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Functions of Several Variables</a:t>
            </a:r>
          </a:p>
        </p:txBody>
      </p:sp>
      <p:sp>
        <p:nvSpPr>
          <p:cNvPr id="1331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Most goals of economic agents depend on several variables</a:t>
            </a:r>
          </a:p>
          <a:p>
            <a:pPr lvl="1">
              <a:lnSpc>
                <a:spcPct val="120000"/>
              </a:lnSpc>
            </a:pPr>
            <a:r>
              <a:rPr lang="en-US" altLang="en-US" dirty="0" smtClean="0"/>
              <a:t>Trade-offs must be made</a:t>
            </a:r>
          </a:p>
          <a:p>
            <a:r>
              <a:rPr lang="en-US" altLang="en-US" dirty="0" smtClean="0"/>
              <a:t>The dependence of one variable (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) on a series of other variables (</a:t>
            </a:r>
            <a:r>
              <a:rPr lang="en-US" altLang="en-US" i="1" dirty="0" smtClean="0"/>
              <a:t>x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</a:t>
            </a:r>
            <a:r>
              <a:rPr lang="en-US" altLang="en-US" i="1" dirty="0" smtClean="0"/>
              <a:t>x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,…,</a:t>
            </a:r>
            <a:r>
              <a:rPr lang="en-US" altLang="en-US" i="1" dirty="0" err="1" smtClean="0"/>
              <a:t>x</a:t>
            </a:r>
            <a:r>
              <a:rPr lang="en-US" altLang="en-US" baseline="-25000" dirty="0" err="1" smtClean="0"/>
              <a:t>n</a:t>
            </a:r>
            <a:r>
              <a:rPr lang="en-US" altLang="en-US" dirty="0" smtClean="0"/>
              <a:t>) is denoted by</a:t>
            </a:r>
          </a:p>
          <a:p>
            <a:pPr marL="0" indent="0">
              <a:buNone/>
            </a:pPr>
            <a:r>
              <a:rPr lang="en-US" altLang="en-US" dirty="0" smtClean="0"/>
              <a:t>	 </a:t>
            </a:r>
            <a:r>
              <a:rPr lang="en-US" altLang="en-US" i="1" dirty="0" smtClean="0"/>
              <a:t>y = f(x</a:t>
            </a:r>
            <a:r>
              <a:rPr lang="en-US" altLang="en-US" i="1" baseline="-25000" dirty="0" smtClean="0"/>
              <a:t>1</a:t>
            </a:r>
            <a:r>
              <a:rPr lang="en-US" altLang="en-US" i="1" dirty="0" smtClean="0"/>
              <a:t>, x</a:t>
            </a:r>
            <a:r>
              <a:rPr lang="en-US" altLang="en-US" i="1" baseline="-25000" dirty="0" smtClean="0"/>
              <a:t>2</a:t>
            </a:r>
            <a:r>
              <a:rPr lang="en-US" altLang="en-US" i="1" dirty="0" smtClean="0"/>
              <a:t>,…,</a:t>
            </a:r>
            <a:r>
              <a:rPr lang="en-US" altLang="en-US" i="1" dirty="0" err="1" smtClean="0"/>
              <a:t>x</a:t>
            </a:r>
            <a:r>
              <a:rPr lang="en-US" altLang="en-US" i="1" baseline="-25000" dirty="0" err="1" smtClean="0"/>
              <a:t>n</a:t>
            </a:r>
            <a:r>
              <a:rPr lang="en-US" altLang="en-US" i="1" dirty="0" smtClean="0"/>
              <a:t>)</a:t>
            </a:r>
          </a:p>
          <a:p>
            <a:endParaRPr lang="en-US" alt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5AE978-9A3C-4484-88E5-A070AB2C965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2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Functions of Several Variables</a:t>
            </a:r>
          </a:p>
        </p:txBody>
      </p:sp>
      <p:sp>
        <p:nvSpPr>
          <p:cNvPr id="1434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Partial derivatives</a:t>
            </a:r>
          </a:p>
          <a:p>
            <a:pPr lvl="1"/>
            <a:r>
              <a:rPr lang="en-US" altLang="en-US" dirty="0" smtClean="0"/>
              <a:t>Partial derivative of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with respect to </a:t>
            </a:r>
            <a:r>
              <a:rPr lang="en-US" altLang="en-US" i="1" dirty="0" smtClean="0"/>
              <a:t>x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:</a:t>
            </a:r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450E7F-A4F9-4154-97ED-8A973EB574E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352800"/>
            <a:ext cx="8534400" cy="2895600"/>
          </a:xfrm>
        </p:spPr>
        <p:txBody>
          <a:bodyPr/>
          <a:lstStyle/>
          <a:p>
            <a:pPr lvl="1"/>
            <a:r>
              <a:rPr lang="en-US" altLang="en-US" dirty="0"/>
              <a:t>All of the other </a:t>
            </a:r>
            <a:r>
              <a:rPr lang="en-US" altLang="en-US" i="1" dirty="0"/>
              <a:t>x’</a:t>
            </a:r>
            <a:r>
              <a:rPr lang="en-US" altLang="en-US" dirty="0"/>
              <a:t>s are held </a:t>
            </a:r>
            <a:r>
              <a:rPr lang="en-US" altLang="en-US" dirty="0" smtClean="0"/>
              <a:t>constant</a:t>
            </a:r>
          </a:p>
          <a:p>
            <a:r>
              <a:rPr lang="en-US" altLang="en-US" dirty="0" smtClean="0"/>
              <a:t>A </a:t>
            </a:r>
            <a:r>
              <a:rPr lang="en-US" altLang="en-US" dirty="0"/>
              <a:t>more formal definition </a:t>
            </a:r>
            <a:r>
              <a:rPr lang="en-US" altLang="en-US" dirty="0" smtClean="0"/>
              <a:t>is</a:t>
            </a:r>
            <a:endParaRPr lang="en-US" altLang="en-US" dirty="0"/>
          </a:p>
          <a:p>
            <a:pPr lvl="1"/>
            <a:endParaRPr lang="en-US" dirty="0"/>
          </a:p>
        </p:txBody>
      </p:sp>
      <p:graphicFrame>
        <p:nvGraphicFramePr>
          <p:cNvPr id="22937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348340"/>
              </p:ext>
            </p:extLst>
          </p:nvPr>
        </p:nvGraphicFramePr>
        <p:xfrm>
          <a:off x="2797175" y="2297113"/>
          <a:ext cx="3549650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4" name="Equation" r:id="rId3" imgW="1358640" imgH="431640" progId="Equation.DSMT4">
                  <p:embed/>
                </p:oleObj>
              </mc:Choice>
              <mc:Fallback>
                <p:oleObj name="Equation" r:id="rId3" imgW="1358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2297113"/>
                        <a:ext cx="3549650" cy="113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927186"/>
              </p:ext>
            </p:extLst>
          </p:nvPr>
        </p:nvGraphicFramePr>
        <p:xfrm>
          <a:off x="611188" y="4652963"/>
          <a:ext cx="8415337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5" name="Equation" r:id="rId5" imgW="3174840" imgH="507960" progId="Equation.DSMT4">
                  <p:embed/>
                </p:oleObj>
              </mc:Choice>
              <mc:Fallback>
                <p:oleObj name="Equation" r:id="rId5" imgW="317484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652963"/>
                        <a:ext cx="8415337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371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9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Calculating Partial Derivatives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4A46E18-7367-4E0E-9537-590ACDD2FC4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aphicFrame>
        <p:nvGraphicFramePr>
          <p:cNvPr id="614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068294"/>
              </p:ext>
            </p:extLst>
          </p:nvPr>
        </p:nvGraphicFramePr>
        <p:xfrm>
          <a:off x="550863" y="1095375"/>
          <a:ext cx="7907337" cy="522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8" name="Equation" r:id="rId3" imgW="3111480" imgH="2057400" progId="Equation.DSMT4">
                  <p:embed/>
                </p:oleObj>
              </mc:Choice>
              <mc:Fallback>
                <p:oleObj name="Equation" r:id="rId3" imgW="3111480" imgH="2057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1095375"/>
                        <a:ext cx="7907337" cy="522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6874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Functions of Several Variables</a:t>
            </a:r>
          </a:p>
        </p:txBody>
      </p:sp>
      <p:sp>
        <p:nvSpPr>
          <p:cNvPr id="9216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763000" cy="5334000"/>
          </a:xfrm>
        </p:spPr>
        <p:txBody>
          <a:bodyPr>
            <a:noAutofit/>
          </a:bodyPr>
          <a:lstStyle/>
          <a:p>
            <a:r>
              <a:rPr lang="en-US" altLang="en-US" dirty="0" smtClean="0"/>
              <a:t>Partial derivatives</a:t>
            </a:r>
          </a:p>
          <a:p>
            <a:pPr lvl="1"/>
            <a:r>
              <a:rPr lang="en-US" altLang="en-US" dirty="0" smtClean="0"/>
              <a:t>Are the mathematical expression of the </a:t>
            </a:r>
            <a:r>
              <a:rPr lang="en-US" altLang="en-US" i="1" dirty="0" smtClean="0"/>
              <a:t>ceteris paribus</a:t>
            </a:r>
            <a:r>
              <a:rPr lang="en-US" altLang="en-US" dirty="0" smtClean="0"/>
              <a:t> assumption</a:t>
            </a:r>
          </a:p>
          <a:p>
            <a:pPr lvl="2"/>
            <a:r>
              <a:rPr lang="en-US" altLang="en-US" dirty="0"/>
              <a:t>Law of demand: 𝜕𝑞/𝜕𝑝&lt;0, ceteris paribus</a:t>
            </a:r>
          </a:p>
          <a:p>
            <a:pPr lvl="1"/>
            <a:r>
              <a:rPr lang="en-US" altLang="en-US" dirty="0" smtClean="0"/>
              <a:t>Show how changes in one variable affect some outcome when other influences are held constant</a:t>
            </a:r>
          </a:p>
          <a:p>
            <a:r>
              <a:rPr lang="en-US" altLang="en-US" dirty="0" smtClean="0"/>
              <a:t>We must be concerned with units of measurement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E8E546-B730-452C-B38D-E5F57E23262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5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Functions of Several Variables</a:t>
            </a:r>
          </a:p>
        </p:txBody>
      </p:sp>
      <p:sp>
        <p:nvSpPr>
          <p:cNvPr id="1638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Elasticity</a:t>
            </a:r>
          </a:p>
          <a:p>
            <a:pPr lvl="1"/>
            <a:r>
              <a:rPr lang="en-US" altLang="en-US" dirty="0" smtClean="0"/>
              <a:t>Measures the proportional effect of a change in one variable on another</a:t>
            </a:r>
          </a:p>
          <a:p>
            <a:pPr lvl="1"/>
            <a:r>
              <a:rPr lang="en-US" altLang="en-US" dirty="0" smtClean="0"/>
              <a:t>Unit free</a:t>
            </a:r>
          </a:p>
          <a:p>
            <a:pPr lvl="1"/>
            <a:r>
              <a:rPr lang="en-US" altLang="en-US" dirty="0" smtClean="0"/>
              <a:t>Of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with respect to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is</a:t>
            </a:r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F65E286-8DB4-43DD-A437-C1F05070AC8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1372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178521"/>
              </p:ext>
            </p:extLst>
          </p:nvPr>
        </p:nvGraphicFramePr>
        <p:xfrm>
          <a:off x="792163" y="4054475"/>
          <a:ext cx="5229225" cy="224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1" name="Equation" r:id="rId3" imgW="1892160" imgH="812520" progId="Equation.DSMT4">
                  <p:embed/>
                </p:oleObj>
              </mc:Choice>
              <mc:Fallback>
                <p:oleObj name="Equation" r:id="rId3" imgW="1892160" imgH="812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4054475"/>
                        <a:ext cx="5229225" cy="224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057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2.2	Elasticity and Functional Form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20921BD0-4463-44FF-9BA4-2F91B1F4D95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For: </a:t>
            </a:r>
            <a:r>
              <a:rPr lang="en-US" altLang="en-US" dirty="0">
                <a:solidFill>
                  <a:srgbClr val="FF0000"/>
                </a:solidFill>
              </a:rPr>
              <a:t>𝑦 = 𝑎 + 𝑏𝑥 + 𝑜𝑡ℎ𝑒𝑟 𝑡𝑒𝑟𝑚𝑠</a:t>
            </a:r>
          </a:p>
          <a:p>
            <a:r>
              <a:rPr lang="en-US" altLang="en-US" dirty="0" smtClean="0"/>
              <a:t>The elasticity is: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>
              <a:buFontTx/>
              <a:buChar char="•"/>
            </a:pPr>
            <a:r>
              <a:rPr lang="en-US" altLang="en-US" i="1" dirty="0" err="1"/>
              <a:t>e</a:t>
            </a:r>
            <a:r>
              <a:rPr lang="en-US" altLang="en-US" i="1" baseline="-25000" dirty="0" err="1"/>
              <a:t>y,x</a:t>
            </a:r>
            <a:r>
              <a:rPr lang="en-US" altLang="en-US" dirty="0"/>
              <a:t> is not constant</a:t>
            </a:r>
          </a:p>
          <a:p>
            <a:pPr lvl="1">
              <a:buFontTx/>
              <a:buChar char="–"/>
            </a:pPr>
            <a:r>
              <a:rPr lang="en-US" altLang="en-US" dirty="0"/>
              <a:t>It is important to note the point at which the elasticity is to be </a:t>
            </a:r>
            <a:r>
              <a:rPr lang="en-US" altLang="en-US" dirty="0" smtClean="0"/>
              <a:t>computed</a:t>
            </a:r>
            <a:endParaRPr lang="en-US" altLang="en-US" dirty="0"/>
          </a:p>
        </p:txBody>
      </p:sp>
      <p:graphicFrame>
        <p:nvGraphicFramePr>
          <p:cNvPr id="13824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854907"/>
              </p:ext>
            </p:extLst>
          </p:nvPr>
        </p:nvGraphicFramePr>
        <p:xfrm>
          <a:off x="854075" y="1628775"/>
          <a:ext cx="5938838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7" name="Equation" r:id="rId3" imgW="2209680" imgH="419040" progId="Equation.DSMT4">
                  <p:embed/>
                </p:oleObj>
              </mc:Choice>
              <mc:Fallback>
                <p:oleObj name="Equation" r:id="rId3" imgW="2209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1628775"/>
                        <a:ext cx="5938838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6" name="Rectangle 6"/>
          <p:cNvSpPr>
            <a:spLocks noChangeArrowheads="1"/>
          </p:cNvSpPr>
          <p:nvPr/>
        </p:nvSpPr>
        <p:spPr bwMode="auto">
          <a:xfrm>
            <a:off x="796925" y="2800350"/>
            <a:ext cx="7772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3119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8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38246" grpId="0" build="p" bldLvl="2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smtClean="0"/>
              <a:t>2.2	Elasticity and Functional Form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4F853CD5-9A53-4EF9-BBC9-2B7ABAD6B3EE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For 𝑦 = 𝑎𝑥</a:t>
            </a:r>
            <a:r>
              <a:rPr lang="en-US" altLang="en-US" baseline="30000" dirty="0"/>
              <a:t>𝑏</a:t>
            </a:r>
            <a:r>
              <a:rPr lang="en-US" altLang="en-US" dirty="0"/>
              <a:t> </a:t>
            </a:r>
            <a:endParaRPr lang="en-US" altLang="en-US" sz="2800" i="1" dirty="0" smtClean="0">
              <a:solidFill>
                <a:srgbClr val="FF0000"/>
              </a:solidFill>
            </a:endParaRPr>
          </a:p>
          <a:p>
            <a:pPr lvl="1"/>
            <a:r>
              <a:rPr lang="en-US" altLang="en-US" dirty="0" smtClean="0"/>
              <a:t>The elasticity is a constant: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3048000"/>
            <a:ext cx="8382000" cy="3352800"/>
          </a:xfrm>
        </p:spPr>
        <p:txBody>
          <a:bodyPr>
            <a:normAutofit/>
          </a:bodyPr>
          <a:lstStyle/>
          <a:p>
            <a:pPr eaLnBrk="0" hangingPunct="0">
              <a:defRPr/>
            </a:pPr>
            <a:r>
              <a:rPr lang="en-US" kern="0" dirty="0">
                <a:solidFill>
                  <a:srgbClr val="000099"/>
                </a:solidFill>
              </a:rPr>
              <a:t>For </a:t>
            </a:r>
            <a:r>
              <a:rPr lang="en-US" kern="0" dirty="0">
                <a:solidFill>
                  <a:srgbClr val="FF0000"/>
                </a:solidFill>
              </a:rPr>
              <a:t>ln⁡𝑦 = ln⁡𝑎 + 𝑏 ln⁡</a:t>
            </a:r>
            <a:r>
              <a:rPr lang="en-US" kern="0" dirty="0" smtClean="0">
                <a:solidFill>
                  <a:srgbClr val="FF0000"/>
                </a:solidFill>
              </a:rPr>
              <a:t>𝑥</a:t>
            </a:r>
          </a:p>
          <a:p>
            <a:pPr lvl="1" eaLnBrk="0" hangingPunct="0">
              <a:defRPr/>
            </a:pPr>
            <a:r>
              <a:rPr lang="en-US" kern="0" dirty="0" smtClean="0"/>
              <a:t>The </a:t>
            </a:r>
            <a:r>
              <a:rPr lang="en-US" kern="0" dirty="0"/>
              <a:t>elasticity is</a:t>
            </a:r>
            <a:r>
              <a:rPr lang="en-US" kern="0" dirty="0" smtClean="0"/>
              <a:t>:</a:t>
            </a:r>
          </a:p>
          <a:p>
            <a:pPr marL="457200" lvl="1" indent="0" eaLnBrk="0" hangingPunct="0">
              <a:buNone/>
              <a:defRPr/>
            </a:pPr>
            <a:endParaRPr lang="en-US" kern="0" dirty="0"/>
          </a:p>
          <a:p>
            <a:pPr eaLnBrk="0" hangingPunct="0">
              <a:defRPr/>
            </a:pPr>
            <a:r>
              <a:rPr lang="en-US" altLang="en-US" dirty="0">
                <a:solidFill>
                  <a:srgbClr val="000099"/>
                </a:solidFill>
              </a:rPr>
              <a:t>Elasticities can be calculated through logarithmic </a:t>
            </a:r>
            <a:r>
              <a:rPr lang="en-US" altLang="en-US" dirty="0" smtClean="0">
                <a:solidFill>
                  <a:srgbClr val="000099"/>
                </a:solidFill>
              </a:rPr>
              <a:t>differentiation</a:t>
            </a:r>
            <a:endParaRPr lang="en-US" kern="0" dirty="0"/>
          </a:p>
        </p:txBody>
      </p:sp>
      <p:graphicFrame>
        <p:nvGraphicFramePr>
          <p:cNvPr id="13926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96434"/>
              </p:ext>
            </p:extLst>
          </p:nvPr>
        </p:nvGraphicFramePr>
        <p:xfrm>
          <a:off x="849313" y="1657350"/>
          <a:ext cx="5356225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0" name="Equation" r:id="rId3" imgW="1879560" imgH="419040" progId="Equation.DSMT4">
                  <p:embed/>
                </p:oleObj>
              </mc:Choice>
              <mc:Fallback>
                <p:oleObj name="Equation" r:id="rId3" imgW="1879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3" y="1657350"/>
                        <a:ext cx="5356225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644644"/>
              </p:ext>
            </p:extLst>
          </p:nvPr>
        </p:nvGraphicFramePr>
        <p:xfrm>
          <a:off x="4267200" y="3505200"/>
          <a:ext cx="2700338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1" name="Equation" r:id="rId5" imgW="1015920" imgH="393480" progId="Equation.DSMT4">
                  <p:embed/>
                </p:oleObj>
              </mc:Choice>
              <mc:Fallback>
                <p:oleObj name="Equation" r:id="rId5" imgW="1015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505200"/>
                        <a:ext cx="2700338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71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Functions of Several Variables</a:t>
            </a:r>
          </a:p>
        </p:txBody>
      </p:sp>
      <p:sp>
        <p:nvSpPr>
          <p:cNvPr id="1946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Second-order partial derivatives</a:t>
            </a:r>
          </a:p>
          <a:p>
            <a:pPr lvl="1"/>
            <a:r>
              <a:rPr lang="en-US" altLang="en-US" smtClean="0"/>
              <a:t>The partial derivative of a partial derivative</a:t>
            </a:r>
          </a:p>
          <a:p>
            <a:endParaRPr lang="en-US" alt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3072F8-B7FF-42F4-8A18-33F1B632EF5E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aphicFrame>
        <p:nvGraphicFramePr>
          <p:cNvPr id="231424" name="Object 2"/>
          <p:cNvGraphicFramePr>
            <a:graphicFrameLocks noChangeAspect="1"/>
          </p:cNvGraphicFramePr>
          <p:nvPr/>
        </p:nvGraphicFramePr>
        <p:xfrm>
          <a:off x="2633663" y="2568575"/>
          <a:ext cx="387667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2" name="Equation" r:id="rId3" imgW="1447560" imgH="469800" progId="Equation.DSMT4">
                  <p:embed/>
                </p:oleObj>
              </mc:Choice>
              <mc:Fallback>
                <p:oleObj name="Equation" r:id="rId3" imgW="14475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2568575"/>
                        <a:ext cx="3876675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397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Second-order partial derivatives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D5403FD-E624-4640-A25F-EEF1341FF7BE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aphicFrame>
        <p:nvGraphicFramePr>
          <p:cNvPr id="614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409234"/>
              </p:ext>
            </p:extLst>
          </p:nvPr>
        </p:nvGraphicFramePr>
        <p:xfrm>
          <a:off x="509587" y="1225550"/>
          <a:ext cx="6729413" cy="450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7" name="Equation" r:id="rId3" imgW="2539800" imgH="1701720" progId="Equation.DSMT4">
                  <p:embed/>
                </p:oleObj>
              </mc:Choice>
              <mc:Fallback>
                <p:oleObj name="Equation" r:id="rId3" imgW="2539800" imgH="1701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" y="1225550"/>
                        <a:ext cx="6729413" cy="450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0562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Functions of Several Variables</a:t>
            </a:r>
          </a:p>
        </p:txBody>
      </p:sp>
      <p:sp>
        <p:nvSpPr>
          <p:cNvPr id="9318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Young’s theorem</a:t>
            </a:r>
          </a:p>
          <a:p>
            <a:pPr lvl="1"/>
            <a:r>
              <a:rPr lang="en-US" altLang="en-US" dirty="0" smtClean="0"/>
              <a:t>Under general conditions</a:t>
            </a:r>
          </a:p>
          <a:p>
            <a:pPr lvl="1"/>
            <a:r>
              <a:rPr lang="en-US" altLang="en-US" dirty="0" smtClean="0"/>
              <a:t>The order in which partial differentiation is conducted to evaluate second-order partial derivatives does not matter</a:t>
            </a:r>
          </a:p>
          <a:p>
            <a:pPr>
              <a:buFontTx/>
              <a:buNone/>
            </a:pPr>
            <a:r>
              <a:rPr lang="en-US" altLang="en-US" i="1" dirty="0" smtClean="0"/>
              <a:t>	 </a:t>
            </a:r>
            <a:r>
              <a:rPr lang="en-US" altLang="en-US" i="1" dirty="0"/>
              <a:t>	</a:t>
            </a:r>
            <a:r>
              <a:rPr lang="en-US" altLang="en-US" dirty="0"/>
              <a:t>𝑓</a:t>
            </a:r>
            <a:r>
              <a:rPr lang="en-US" altLang="en-US" baseline="-25000" dirty="0"/>
              <a:t>𝑖𝑗</a:t>
            </a:r>
            <a:r>
              <a:rPr lang="en-US" altLang="en-US" dirty="0"/>
              <a:t>= </a:t>
            </a:r>
            <a:r>
              <a:rPr lang="en-US" altLang="en-US" dirty="0" smtClean="0"/>
              <a:t>𝑓</a:t>
            </a:r>
            <a:r>
              <a:rPr lang="en-US" altLang="en-US" baseline="-25000" dirty="0" smtClean="0"/>
              <a:t>𝑗𝑖</a:t>
            </a:r>
            <a:endParaRPr lang="en-US" altLang="en-US" baseline="-25000" dirty="0"/>
          </a:p>
        </p:txBody>
      </p:sp>
      <p:sp>
        <p:nvSpPr>
          <p:cNvPr id="93188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F3C0BA4-3756-41D5-A14A-A91EBA4AC6F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Functions of Several Variables</a:t>
            </a:r>
          </a:p>
        </p:txBody>
      </p:sp>
      <p:sp>
        <p:nvSpPr>
          <p:cNvPr id="9421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Uses of second-order partials</a:t>
            </a:r>
          </a:p>
          <a:p>
            <a:pPr lvl="1"/>
            <a:r>
              <a:rPr lang="en-US" altLang="en-US" dirty="0" smtClean="0"/>
              <a:t>Play an important role in many economic theories</a:t>
            </a:r>
          </a:p>
          <a:p>
            <a:pPr lvl="1"/>
            <a:r>
              <a:rPr lang="en-US" altLang="en-US" dirty="0" smtClean="0"/>
              <a:t>A variable’s own second-order partial, </a:t>
            </a:r>
            <a:r>
              <a:rPr lang="en-US" altLang="en-US" i="1" dirty="0" err="1" smtClean="0"/>
              <a:t>f</a:t>
            </a:r>
            <a:r>
              <a:rPr lang="en-US" altLang="en-US" i="1" baseline="-25000" dirty="0" err="1" smtClean="0"/>
              <a:t>ii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Shows how </a:t>
            </a:r>
            <a:r>
              <a:rPr lang="en-US" altLang="en-US" dirty="0" smtClean="0">
                <a:sym typeface="Symbol" pitchFamily="18" charset="2"/>
              </a:rPr>
              <a:t></a:t>
            </a:r>
            <a:r>
              <a:rPr lang="en-US" altLang="en-US" i="1" dirty="0" smtClean="0">
                <a:sym typeface="Symbol" pitchFamily="18" charset="2"/>
              </a:rPr>
              <a:t>y</a:t>
            </a:r>
            <a:r>
              <a:rPr lang="en-US" altLang="en-US" dirty="0" smtClean="0">
                <a:sym typeface="Symbol" pitchFamily="18" charset="2"/>
              </a:rPr>
              <a:t>/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i="1" baseline="-25000" dirty="0" smtClean="0">
                <a:sym typeface="Symbol" pitchFamily="18" charset="2"/>
              </a:rPr>
              <a:t>i</a:t>
            </a:r>
            <a:r>
              <a:rPr lang="en-US" altLang="en-US" dirty="0" smtClean="0">
                <a:sym typeface="Symbol" pitchFamily="18" charset="2"/>
              </a:rPr>
              <a:t> changes as the value of 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i="1" baseline="-25000" dirty="0" smtClean="0">
                <a:sym typeface="Symbol" pitchFamily="18" charset="2"/>
              </a:rPr>
              <a:t>i</a:t>
            </a:r>
            <a:r>
              <a:rPr lang="en-US" altLang="en-US" dirty="0" smtClean="0">
                <a:sym typeface="Symbol" pitchFamily="18" charset="2"/>
              </a:rPr>
              <a:t> increases</a:t>
            </a:r>
          </a:p>
          <a:p>
            <a:pPr lvl="2"/>
            <a:r>
              <a:rPr lang="en-US" altLang="en-US" i="1" dirty="0" err="1" smtClean="0">
                <a:sym typeface="Symbol" pitchFamily="18" charset="2"/>
              </a:rPr>
              <a:t>f</a:t>
            </a:r>
            <a:r>
              <a:rPr lang="en-US" altLang="en-US" i="1" baseline="-25000" dirty="0" err="1" smtClean="0">
                <a:sym typeface="Symbol" pitchFamily="18" charset="2"/>
              </a:rPr>
              <a:t>ii</a:t>
            </a:r>
            <a:r>
              <a:rPr lang="en-US" altLang="en-US" i="1" dirty="0" smtClean="0">
                <a:sym typeface="Symbol" pitchFamily="18" charset="2"/>
              </a:rPr>
              <a:t> &lt; 0 </a:t>
            </a:r>
            <a:r>
              <a:rPr lang="en-US" altLang="en-US" dirty="0" smtClean="0">
                <a:sym typeface="Symbol" pitchFamily="18" charset="2"/>
              </a:rPr>
              <a:t>indicates diminishing marginal effectiveness</a:t>
            </a:r>
          </a:p>
          <a:p>
            <a:pPr lvl="1"/>
            <a:r>
              <a:rPr lang="en-US" altLang="en-US" dirty="0" smtClean="0"/>
              <a:t>Cross-partial </a:t>
            </a:r>
            <a:r>
              <a:rPr lang="en-US" altLang="en-US" i="1" dirty="0" err="1"/>
              <a:t>f</a:t>
            </a:r>
            <a:r>
              <a:rPr lang="en-US" altLang="en-US" i="1" baseline="-25000" dirty="0" err="1"/>
              <a:t>ij</a:t>
            </a:r>
            <a:r>
              <a:rPr lang="en-US" altLang="en-US" dirty="0"/>
              <a:t> indicates how the marginal effectiveness of 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i</a:t>
            </a:r>
            <a:r>
              <a:rPr lang="en-US" altLang="en-US" dirty="0"/>
              <a:t> </a:t>
            </a:r>
            <a:r>
              <a:rPr lang="en-US" altLang="en-US" dirty="0" smtClean="0"/>
              <a:t>changes as </a:t>
            </a:r>
            <a:r>
              <a:rPr lang="en-US" altLang="en-US" i="1" dirty="0" err="1"/>
              <a:t>x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</a:t>
            </a:r>
            <a:r>
              <a:rPr lang="en-US" altLang="en-US" dirty="0" smtClean="0"/>
              <a:t>increases</a:t>
            </a:r>
          </a:p>
        </p:txBody>
      </p:sp>
      <p:sp>
        <p:nvSpPr>
          <p:cNvPr id="94212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F55841-AFE9-4E8D-BC72-497A3C3D9289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6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Functions of Several Variables</a:t>
            </a:r>
          </a:p>
        </p:txBody>
      </p:sp>
      <p:sp>
        <p:nvSpPr>
          <p:cNvPr id="21508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chain rule with many variables</a:t>
            </a:r>
          </a:p>
          <a:p>
            <a:pPr lvl="1"/>
            <a:r>
              <a:rPr lang="en-US" altLang="en-US" dirty="0"/>
              <a:t>𝑦 = 𝑓(𝑥</a:t>
            </a:r>
            <a:r>
              <a:rPr lang="en-US" altLang="en-US" baseline="-25000" dirty="0"/>
              <a:t>1</a:t>
            </a:r>
            <a:r>
              <a:rPr lang="en-US" altLang="en-US" dirty="0"/>
              <a:t>,𝑥</a:t>
            </a:r>
            <a:r>
              <a:rPr lang="en-US" altLang="en-US" baseline="-25000" dirty="0"/>
              <a:t>2</a:t>
            </a:r>
            <a:r>
              <a:rPr lang="en-US" altLang="en-US" dirty="0"/>
              <a:t>,𝑥</a:t>
            </a:r>
            <a:r>
              <a:rPr lang="en-US" altLang="en-US" baseline="-25000" dirty="0"/>
              <a:t>3</a:t>
            </a:r>
            <a:r>
              <a:rPr lang="en-US" altLang="en-US" dirty="0" smtClean="0"/>
              <a:t>)</a:t>
            </a:r>
          </a:p>
          <a:p>
            <a:pPr lvl="2"/>
            <a:r>
              <a:rPr lang="en-US" altLang="en-US" dirty="0" smtClean="0"/>
              <a:t>Each of these </a:t>
            </a:r>
            <a:r>
              <a:rPr lang="en-US" altLang="en-US" i="1" dirty="0" smtClean="0"/>
              <a:t>x’</a:t>
            </a:r>
            <a:r>
              <a:rPr lang="en-US" altLang="en-US" dirty="0" smtClean="0"/>
              <a:t>s is itself a function of a single parameter, </a:t>
            </a:r>
            <a:r>
              <a:rPr lang="en-US" altLang="en-US" i="1" dirty="0" smtClean="0"/>
              <a:t>a</a:t>
            </a:r>
          </a:p>
          <a:p>
            <a:pPr lvl="1"/>
            <a:r>
              <a:rPr lang="en-US" altLang="en-US" dirty="0" smtClean="0"/>
              <a:t> </a:t>
            </a:r>
            <a:r>
              <a:rPr lang="en-US" altLang="en-US" dirty="0"/>
              <a:t>𝑦 = 𝑓[𝑥</a:t>
            </a:r>
            <a:r>
              <a:rPr lang="en-US" altLang="en-US" baseline="-25000" dirty="0"/>
              <a:t>1</a:t>
            </a:r>
            <a:r>
              <a:rPr lang="en-US" altLang="en-US" dirty="0"/>
              <a:t>(𝑎),𝑥</a:t>
            </a:r>
            <a:r>
              <a:rPr lang="en-US" altLang="en-US" baseline="-25000" dirty="0"/>
              <a:t>2</a:t>
            </a:r>
            <a:r>
              <a:rPr lang="en-US" altLang="en-US" dirty="0"/>
              <a:t>(𝑎),𝑥</a:t>
            </a:r>
            <a:r>
              <a:rPr lang="en-US" altLang="en-US" baseline="-25000" dirty="0"/>
              <a:t>3</a:t>
            </a:r>
            <a:r>
              <a:rPr lang="en-US" altLang="en-US" dirty="0"/>
              <a:t>(𝑎)] </a:t>
            </a:r>
            <a:endParaRPr lang="en-US" altLang="en-US" i="1" dirty="0" smtClean="0"/>
          </a:p>
          <a:p>
            <a:pPr lvl="1"/>
            <a:r>
              <a:rPr lang="en-US" altLang="en-US" dirty="0" smtClean="0"/>
              <a:t>How a change in</a:t>
            </a:r>
            <a:r>
              <a:rPr lang="en-US" altLang="en-US" i="1" dirty="0" smtClean="0"/>
              <a:t> a </a:t>
            </a:r>
            <a:r>
              <a:rPr lang="en-US" altLang="en-US" dirty="0" smtClean="0"/>
              <a:t>affects the value of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:</a:t>
            </a:r>
            <a:endParaRPr lang="en-US" altLang="en-US" i="1" dirty="0" smtClean="0"/>
          </a:p>
        </p:txBody>
      </p:sp>
      <p:sp>
        <p:nvSpPr>
          <p:cNvPr id="21509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BFDDF0-5204-46A8-869F-27CB1E6353F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222375" y="4532313"/>
          <a:ext cx="6183313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3" name="Equation" r:id="rId3" imgW="2184120" imgH="431640" progId="Equation.DSMT4">
                  <p:embed/>
                </p:oleObj>
              </mc:Choice>
              <mc:Fallback>
                <p:oleObj name="Equation" r:id="rId3" imgW="2184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4532313"/>
                        <a:ext cx="6183313" cy="121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217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Functions of Several Variables</a:t>
            </a:r>
          </a:p>
        </p:txBody>
      </p:sp>
      <p:sp>
        <p:nvSpPr>
          <p:cNvPr id="22532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Special case</a:t>
            </a:r>
            <a:r>
              <a:rPr lang="en-US" altLang="en-US" dirty="0"/>
              <a:t>: if 𝑥</a:t>
            </a:r>
            <a:r>
              <a:rPr lang="en-US" altLang="en-US" baseline="-25000" dirty="0"/>
              <a:t>3</a:t>
            </a:r>
            <a:r>
              <a:rPr lang="en-US" altLang="en-US" dirty="0"/>
              <a:t> = 𝑎, </a:t>
            </a:r>
            <a:r>
              <a:rPr lang="en-US" altLang="en-US" dirty="0" smtClean="0"/>
              <a:t>then: </a:t>
            </a:r>
          </a:p>
          <a:p>
            <a:pPr marL="0" indent="0">
              <a:buNone/>
            </a:pPr>
            <a:r>
              <a:rPr lang="en-US" altLang="en-US" dirty="0"/>
              <a:t>	𝑦 = 𝑓[𝑥</a:t>
            </a:r>
            <a:r>
              <a:rPr lang="en-US" altLang="en-US" baseline="-25000" dirty="0"/>
              <a:t>1</a:t>
            </a:r>
            <a:r>
              <a:rPr lang="en-US" altLang="en-US" dirty="0"/>
              <a:t>(𝑎),𝑥</a:t>
            </a:r>
            <a:r>
              <a:rPr lang="en-US" altLang="en-US" baseline="-25000" dirty="0"/>
              <a:t>2</a:t>
            </a:r>
            <a:r>
              <a:rPr lang="en-US" altLang="en-US" dirty="0"/>
              <a:t>(𝑎),𝑎]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The effect of 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 on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:</a:t>
            </a:r>
          </a:p>
          <a:p>
            <a:pPr lvl="2"/>
            <a:r>
              <a:rPr lang="en-US" altLang="en-US" dirty="0" smtClean="0"/>
              <a:t>A direct effect (which is given by </a:t>
            </a:r>
            <a:r>
              <a:rPr lang="en-US" altLang="en-US" i="1" dirty="0" smtClean="0"/>
              <a:t>f</a:t>
            </a:r>
            <a:r>
              <a:rPr lang="en-US" altLang="en-US" i="1" baseline="-25000" dirty="0" smtClean="0"/>
              <a:t>a</a:t>
            </a:r>
            <a:r>
              <a:rPr lang="en-US" altLang="en-US" dirty="0" smtClean="0"/>
              <a:t>)</a:t>
            </a:r>
            <a:endParaRPr lang="en-US" altLang="en-US" baseline="-25000" dirty="0" smtClean="0"/>
          </a:p>
          <a:p>
            <a:pPr lvl="2"/>
            <a:r>
              <a:rPr lang="en-US" altLang="en-US" dirty="0" smtClean="0"/>
              <a:t>An indirect effect that operates only through the ways in which a affects the x’s</a:t>
            </a:r>
          </a:p>
        </p:txBody>
      </p:sp>
      <p:sp>
        <p:nvSpPr>
          <p:cNvPr id="22533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8C80A-7D78-45A8-A75F-E178CEAF6F7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1911490"/>
              </p:ext>
            </p:extLst>
          </p:nvPr>
        </p:nvGraphicFramePr>
        <p:xfrm>
          <a:off x="1263650" y="4725988"/>
          <a:ext cx="5213350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7" name="Equation" r:id="rId3" imgW="1841400" imgH="431640" progId="Equation.DSMT4">
                  <p:embed/>
                </p:oleObj>
              </mc:Choice>
              <mc:Fallback>
                <p:oleObj name="Equation" r:id="rId3" imgW="1841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4725988"/>
                        <a:ext cx="5213350" cy="121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50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Functions of Several Variables</a:t>
            </a:r>
          </a:p>
        </p:txBody>
      </p:sp>
      <p:sp>
        <p:nvSpPr>
          <p:cNvPr id="9523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Implicit functions</a:t>
            </a:r>
          </a:p>
          <a:p>
            <a:pPr lvl="1"/>
            <a:r>
              <a:rPr lang="en-US" altLang="en-US" dirty="0" smtClean="0"/>
              <a:t>If the value of a function is held constant</a:t>
            </a:r>
          </a:p>
          <a:p>
            <a:pPr lvl="2"/>
            <a:r>
              <a:rPr lang="en-US" altLang="en-US" dirty="0" smtClean="0"/>
              <a:t>An implicit relationship is created among the independent variables that enter into the function</a:t>
            </a:r>
          </a:p>
          <a:p>
            <a:pPr lvl="2"/>
            <a:r>
              <a:rPr lang="en-US" altLang="en-US" dirty="0" smtClean="0"/>
              <a:t>The independent variables can no longer take on any values</a:t>
            </a:r>
          </a:p>
          <a:p>
            <a:pPr lvl="3"/>
            <a:r>
              <a:rPr lang="en-US" altLang="en-US" dirty="0" smtClean="0"/>
              <a:t>But must instead take on only that set of values that result in the function’s retaining the required value</a:t>
            </a:r>
          </a:p>
        </p:txBody>
      </p:sp>
      <p:sp>
        <p:nvSpPr>
          <p:cNvPr id="95236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5680F2-DE3C-4193-9420-F1927EF789C7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0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Functions of Several Variables</a:t>
            </a:r>
          </a:p>
        </p:txBody>
      </p:sp>
      <p:sp>
        <p:nvSpPr>
          <p:cNvPr id="23556" name="Content Placeholder 3"/>
          <p:cNvSpPr>
            <a:spLocks noGrp="1"/>
          </p:cNvSpPr>
          <p:nvPr>
            <p:ph idx="1"/>
          </p:nvPr>
        </p:nvSpPr>
        <p:spPr>
          <a:xfrm>
            <a:off x="381000" y="1143000"/>
            <a:ext cx="8534400" cy="5257800"/>
          </a:xfrm>
        </p:spPr>
        <p:txBody>
          <a:bodyPr/>
          <a:lstStyle/>
          <a:p>
            <a:r>
              <a:rPr lang="en-US" altLang="en-US" dirty="0" smtClean="0"/>
              <a:t>Implicit functions </a:t>
            </a:r>
          </a:p>
          <a:p>
            <a:pPr lvl="1"/>
            <a:r>
              <a:rPr lang="en-US" altLang="en-US" dirty="0" smtClean="0"/>
              <a:t>Ability to quantify the trade-offs inherent in most economic models</a:t>
            </a:r>
          </a:p>
          <a:p>
            <a:r>
              <a:rPr lang="en-US" altLang="en-US" dirty="0" smtClean="0"/>
              <a:t> </a:t>
            </a:r>
            <a:r>
              <a:rPr lang="en-US" altLang="en-US" i="1" dirty="0" smtClean="0"/>
              <a:t>y = f(x</a:t>
            </a:r>
            <a:r>
              <a:rPr lang="en-US" altLang="en-US" i="1" baseline="-25000" dirty="0" smtClean="0"/>
              <a:t>1</a:t>
            </a:r>
            <a:r>
              <a:rPr lang="en-US" altLang="en-US" i="1" dirty="0" smtClean="0"/>
              <a:t>,x</a:t>
            </a:r>
            <a:r>
              <a:rPr lang="en-US" altLang="en-US" i="1" baseline="-25000" dirty="0" smtClean="0"/>
              <a:t>2</a:t>
            </a:r>
            <a:r>
              <a:rPr lang="en-US" altLang="en-US" i="1" dirty="0" smtClean="0"/>
              <a:t>); </a:t>
            </a:r>
            <a:r>
              <a:rPr lang="en-US" altLang="en-US" dirty="0" smtClean="0"/>
              <a:t>Implicit function: </a:t>
            </a:r>
            <a:r>
              <a:rPr lang="en-US" altLang="en-US" i="1" dirty="0" smtClean="0"/>
              <a:t>x</a:t>
            </a:r>
            <a:r>
              <a:rPr lang="en-US" altLang="en-US" i="1" baseline="-25000" dirty="0" smtClean="0"/>
              <a:t>2</a:t>
            </a:r>
            <a:r>
              <a:rPr lang="en-US" altLang="en-US" i="1" dirty="0" smtClean="0"/>
              <a:t>=g(x</a:t>
            </a:r>
            <a:r>
              <a:rPr lang="en-US" altLang="en-US" i="1" baseline="-25000" dirty="0" smtClean="0"/>
              <a:t>1</a:t>
            </a:r>
            <a:r>
              <a:rPr lang="en-US" altLang="en-US" i="1" dirty="0" smtClean="0"/>
              <a:t>)</a:t>
            </a:r>
          </a:p>
        </p:txBody>
      </p:sp>
      <p:sp>
        <p:nvSpPr>
          <p:cNvPr id="23557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1445C4-A377-4B75-9233-AC5205C7A0B2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259831"/>
              </p:ext>
            </p:extLst>
          </p:nvPr>
        </p:nvGraphicFramePr>
        <p:xfrm>
          <a:off x="696913" y="3508375"/>
          <a:ext cx="8066087" cy="289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1" name="Equation" r:id="rId3" imgW="3136680" imgH="1130040" progId="Equation.DSMT4">
                  <p:embed/>
                </p:oleObj>
              </mc:Choice>
              <mc:Fallback>
                <p:oleObj name="Equation" r:id="rId3" imgW="3136680" imgH="1130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3508375"/>
                        <a:ext cx="8066087" cy="289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84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2.3 	Using the Chain Rule</a:t>
            </a:r>
          </a:p>
        </p:txBody>
      </p:sp>
      <p:sp>
        <p:nvSpPr>
          <p:cNvPr id="96260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7DA74FE-4E3B-451A-8408-71509CB59B7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96259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A pizza fanatic</a:t>
            </a:r>
          </a:p>
          <a:p>
            <a:pPr lvl="1"/>
            <a:r>
              <a:rPr lang="en-US" altLang="en-US" dirty="0" smtClean="0"/>
              <a:t>Each week, he consumes three kinds of pizza, denoted by </a:t>
            </a:r>
            <a:r>
              <a:rPr lang="en-US" altLang="en-US" i="1" dirty="0" smtClean="0"/>
              <a:t>x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x</a:t>
            </a:r>
            <a:r>
              <a:rPr lang="en-US" altLang="en-US" i="1" baseline="-25000" dirty="0" smtClean="0"/>
              <a:t>2</a:t>
            </a:r>
            <a:r>
              <a:rPr lang="en-US" altLang="en-US" dirty="0" smtClean="0"/>
              <a:t>, and </a:t>
            </a:r>
            <a:r>
              <a:rPr lang="en-US" altLang="en-US" i="1" dirty="0" smtClean="0"/>
              <a:t>x</a:t>
            </a:r>
            <a:r>
              <a:rPr lang="en-US" altLang="en-US" i="1" baseline="-25000" dirty="0" smtClean="0"/>
              <a:t>3</a:t>
            </a:r>
            <a:r>
              <a:rPr lang="en-US" altLang="en-US" dirty="0" smtClean="0"/>
              <a:t> </a:t>
            </a:r>
          </a:p>
          <a:p>
            <a:pPr lvl="2"/>
            <a:r>
              <a:rPr lang="en-US" altLang="en-US" dirty="0" smtClean="0"/>
              <a:t>Cost of type 1 pizza is </a:t>
            </a:r>
            <a:r>
              <a:rPr lang="en-US" altLang="en-US" i="1" dirty="0" smtClean="0"/>
              <a:t>p</a:t>
            </a:r>
            <a:r>
              <a:rPr lang="en-US" altLang="en-US" dirty="0" smtClean="0"/>
              <a:t> per pie</a:t>
            </a:r>
          </a:p>
          <a:p>
            <a:pPr lvl="2"/>
            <a:r>
              <a:rPr lang="en-US" altLang="en-US" dirty="0" smtClean="0"/>
              <a:t>Cost of type 2 pizza is </a:t>
            </a:r>
            <a:r>
              <a:rPr lang="en-US" altLang="en-US" i="1" dirty="0" smtClean="0"/>
              <a:t>2p</a:t>
            </a:r>
          </a:p>
          <a:p>
            <a:pPr lvl="2"/>
            <a:r>
              <a:rPr lang="en-US" altLang="en-US" dirty="0" smtClean="0"/>
              <a:t>Cost of type 3 pizza is </a:t>
            </a:r>
            <a:r>
              <a:rPr lang="en-US" altLang="en-US" i="1" dirty="0" smtClean="0"/>
              <a:t>3p</a:t>
            </a:r>
          </a:p>
          <a:p>
            <a:pPr lvl="1"/>
            <a:r>
              <a:rPr lang="en-US" altLang="en-US" dirty="0" smtClean="0"/>
              <a:t>Allocates $30 each week to each type of pizza</a:t>
            </a:r>
          </a:p>
          <a:p>
            <a:pPr lvl="1"/>
            <a:r>
              <a:rPr lang="en-US" altLang="en-US" dirty="0" smtClean="0"/>
              <a:t>How the total number of pizzas purchased is affected by the underlying price </a:t>
            </a:r>
            <a:r>
              <a:rPr lang="en-US" altLang="en-US" i="1" dirty="0" smtClean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49872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2.3 	Using the Chain Rule</a:t>
            </a:r>
          </a:p>
        </p:txBody>
      </p:sp>
      <p:sp>
        <p:nvSpPr>
          <p:cNvPr id="24581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7B580558-ABB8-47B1-87F9-779C1ED971C4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24580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Quantity purchased of each type:</a:t>
            </a:r>
          </a:p>
          <a:p>
            <a:pPr marL="457200" lvl="1" indent="0">
              <a:buNone/>
            </a:pPr>
            <a:r>
              <a:rPr lang="en-US" altLang="en-US" dirty="0" smtClean="0"/>
              <a:t> x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=30/p; x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=30/2p; x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=30/3p</a:t>
            </a:r>
          </a:p>
          <a:p>
            <a:r>
              <a:rPr lang="en-US" altLang="en-US" dirty="0" smtClean="0"/>
              <a:t>Total pizza purchases:</a:t>
            </a:r>
          </a:p>
          <a:p>
            <a:pPr marL="457200" lvl="1" indent="0">
              <a:buNone/>
            </a:pPr>
            <a:r>
              <a:rPr lang="en-US" altLang="en-US" dirty="0" smtClean="0"/>
              <a:t> </a:t>
            </a:r>
            <a:r>
              <a:rPr lang="en-US" altLang="en-US" i="1" dirty="0" smtClean="0"/>
              <a:t>y = f[x</a:t>
            </a:r>
            <a:r>
              <a:rPr lang="en-US" altLang="en-US" i="1" baseline="-25000" dirty="0" smtClean="0"/>
              <a:t>1</a:t>
            </a:r>
            <a:r>
              <a:rPr lang="en-US" altLang="en-US" i="1" dirty="0" smtClean="0"/>
              <a:t>(p), x</a:t>
            </a:r>
            <a:r>
              <a:rPr lang="en-US" altLang="en-US" i="1" baseline="-25000" dirty="0" smtClean="0"/>
              <a:t>2</a:t>
            </a:r>
            <a:r>
              <a:rPr lang="en-US" altLang="en-US" i="1" dirty="0" smtClean="0"/>
              <a:t>(p), x</a:t>
            </a:r>
            <a:r>
              <a:rPr lang="en-US" altLang="en-US" i="1" baseline="-25000" dirty="0" smtClean="0"/>
              <a:t>3</a:t>
            </a:r>
            <a:r>
              <a:rPr lang="en-US" altLang="en-US" i="1" dirty="0" smtClean="0"/>
              <a:t>(p)] = x</a:t>
            </a:r>
            <a:r>
              <a:rPr lang="en-US" altLang="en-US" i="1" baseline="-25000" dirty="0" smtClean="0"/>
              <a:t>1</a:t>
            </a:r>
            <a:r>
              <a:rPr lang="en-US" altLang="en-US" i="1" dirty="0" smtClean="0"/>
              <a:t>(p) + x</a:t>
            </a:r>
            <a:r>
              <a:rPr lang="en-US" altLang="en-US" i="1" baseline="-25000" dirty="0" smtClean="0"/>
              <a:t>2</a:t>
            </a:r>
            <a:r>
              <a:rPr lang="en-US" altLang="en-US" i="1" dirty="0" smtClean="0"/>
              <a:t>(p) + x</a:t>
            </a:r>
            <a:r>
              <a:rPr lang="en-US" altLang="en-US" i="1" baseline="-25000" dirty="0" smtClean="0"/>
              <a:t>3</a:t>
            </a:r>
            <a:r>
              <a:rPr lang="en-US" altLang="en-US" i="1" dirty="0" smtClean="0"/>
              <a:t>(p)</a:t>
            </a:r>
          </a:p>
          <a:p>
            <a:r>
              <a:rPr lang="en-US" altLang="en-US" dirty="0" smtClean="0"/>
              <a:t>Applying the chain rule:</a:t>
            </a:r>
          </a:p>
          <a:p>
            <a:endParaRPr lang="en-US" altLang="en-US" dirty="0" smtClean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966788" y="3652838"/>
          <a:ext cx="6148387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3" name="Equation" r:id="rId3" imgW="2171520" imgH="685800" progId="Equation.DSMT4">
                  <p:embed/>
                </p:oleObj>
              </mc:Choice>
              <mc:Fallback>
                <p:oleObj name="Equation" r:id="rId3" imgW="217152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3652838"/>
                        <a:ext cx="6148387" cy="193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703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2.4    A Production Possibility Frontier—Again</a:t>
            </a:r>
          </a:p>
        </p:txBody>
      </p:sp>
      <p:sp>
        <p:nvSpPr>
          <p:cNvPr id="25605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404EC31E-3B29-48B3-857D-69C27BD29D4D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25604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A production possibility frontier for two goods of the form </a:t>
            </a:r>
          </a:p>
          <a:p>
            <a:pPr>
              <a:buFont typeface="Arial" pitchFamily="34" charset="0"/>
              <a:buNone/>
            </a:pPr>
            <a:r>
              <a:rPr lang="en-US" altLang="en-US" dirty="0" smtClean="0"/>
              <a:t>		</a:t>
            </a:r>
            <a:r>
              <a:rPr lang="en-US" altLang="en-US" i="1" dirty="0" smtClean="0"/>
              <a:t>x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+0.25</a:t>
            </a:r>
            <a:r>
              <a:rPr lang="en-US" altLang="en-US" i="1" dirty="0" smtClean="0"/>
              <a:t>y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=200</a:t>
            </a:r>
          </a:p>
          <a:p>
            <a:r>
              <a:rPr lang="en-US" altLang="en-US" dirty="0" smtClean="0"/>
              <a:t>The implicit function:</a:t>
            </a:r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222375" y="3127375"/>
          <a:ext cx="4427538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7" name="Equation" r:id="rId3" imgW="1498320" imgH="444240" progId="Equation.DSMT4">
                  <p:embed/>
                </p:oleObj>
              </mc:Choice>
              <mc:Fallback>
                <p:oleObj name="Equation" r:id="rId3" imgW="1498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3127375"/>
                        <a:ext cx="4427538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619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Functions of Several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Comparative statics analysis</a:t>
            </a:r>
          </a:p>
          <a:p>
            <a:pPr lvl="1"/>
            <a:r>
              <a:rPr lang="en-US" dirty="0"/>
              <a:t>From 𝑦=0=𝑓(</a:t>
            </a:r>
            <a:r>
              <a:rPr lang="en-US" dirty="0" smtClean="0"/>
              <a:t>𝑥</a:t>
            </a:r>
            <a:r>
              <a:rPr lang="en-US" baseline="-25000" dirty="0" smtClean="0"/>
              <a:t>1</a:t>
            </a:r>
            <a:r>
              <a:rPr lang="en-US" dirty="0"/>
              <a:t>,</a:t>
            </a:r>
            <a:r>
              <a:rPr lang="en-US" dirty="0" smtClean="0"/>
              <a:t>𝑥</a:t>
            </a:r>
            <a:r>
              <a:rPr lang="en-US" baseline="-25000" dirty="0" smtClean="0"/>
              <a:t>2</a:t>
            </a:r>
            <a:r>
              <a:rPr lang="en-US" dirty="0"/>
              <a:t>)=𝑓(</a:t>
            </a:r>
            <a:r>
              <a:rPr lang="en-US" dirty="0" smtClean="0"/>
              <a:t>𝑥</a:t>
            </a:r>
            <a:r>
              <a:rPr lang="en-US" baseline="-25000" dirty="0" smtClean="0"/>
              <a:t>1</a:t>
            </a:r>
            <a:r>
              <a:rPr lang="en-US" dirty="0"/>
              <a:t>,𝑔(</a:t>
            </a:r>
            <a:r>
              <a:rPr lang="en-US" dirty="0" smtClean="0"/>
              <a:t>𝑥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/>
              <a:t>))</a:t>
            </a:r>
            <a:endParaRPr lang="en-US" dirty="0" smtClean="0"/>
          </a:p>
          <a:p>
            <a:pPr lvl="1"/>
            <a:r>
              <a:rPr lang="en-US" dirty="0" smtClean="0"/>
              <a:t>Exogenous variable, </a:t>
            </a:r>
            <a:r>
              <a:rPr lang="en-US" dirty="0"/>
              <a:t>a </a:t>
            </a:r>
            <a:r>
              <a:rPr lang="en-US" dirty="0" smtClean="0"/>
              <a:t>, the implicit form is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		𝑓</a:t>
            </a:r>
            <a:r>
              <a:rPr lang="en-US" dirty="0">
                <a:solidFill>
                  <a:srgbClr val="FF0000"/>
                </a:solidFill>
              </a:rPr>
              <a:t>(𝑥(𝑎), 𝑎)=0</a:t>
            </a:r>
            <a:endParaRPr lang="en-US" b="0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Applying </a:t>
            </a:r>
            <a:r>
              <a:rPr lang="en-US" dirty="0"/>
              <a:t>the implicit function theorem would yield: 𝑑𝑥(𝑎)/𝑑𝑎=−</a:t>
            </a:r>
            <a:r>
              <a:rPr lang="en-US" dirty="0" smtClean="0"/>
              <a:t>𝑓</a:t>
            </a:r>
            <a:r>
              <a:rPr lang="en-US" baseline="-25000" dirty="0" smtClean="0"/>
              <a:t>𝑎</a:t>
            </a:r>
            <a:r>
              <a:rPr lang="en-US" dirty="0"/>
              <a:t>/</a:t>
            </a:r>
            <a:r>
              <a:rPr lang="en-US" dirty="0" smtClean="0"/>
              <a:t>𝑓</a:t>
            </a:r>
            <a:r>
              <a:rPr lang="en-US" baseline="-25000" dirty="0" smtClean="0"/>
              <a:t>𝑥</a:t>
            </a:r>
            <a:r>
              <a:rPr lang="en-US" dirty="0" smtClean="0"/>
              <a:t> </a:t>
            </a:r>
            <a:endParaRPr lang="en-US" b="0" dirty="0" smtClean="0"/>
          </a:p>
          <a:p>
            <a:pPr lvl="2"/>
            <a:r>
              <a:rPr lang="en-US" dirty="0"/>
              <a:t>This shows directly how changes in the exogenous variable </a:t>
            </a:r>
            <a:r>
              <a:rPr lang="en-US" i="1" dirty="0"/>
              <a:t>a</a:t>
            </a:r>
            <a:r>
              <a:rPr lang="en-US" dirty="0"/>
              <a:t> affect the endogenous variable </a:t>
            </a:r>
            <a:r>
              <a:rPr lang="en-US" i="1" dirty="0"/>
              <a:t>x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3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2.5 Comparative Statics of a Price-Taking Firm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36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/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</a:t>
                </a:r>
                <a:r>
                  <a:rPr lang="en-US" dirty="0"/>
                  <a:t>first order condition for a profit firm that takes market price as </a:t>
                </a:r>
                <a:r>
                  <a:rPr lang="en-US" dirty="0" smtClean="0"/>
                  <a:t>given:</a:t>
                </a:r>
              </a:p>
              <a:p>
                <a:pPr marL="0" indent="0">
                  <a:buNone/>
                </a:pPr>
                <a:r>
                  <a:rPr lang="en-US" dirty="0" smtClean="0"/>
                  <a:t>	𝑓</a:t>
                </a:r>
                <a:r>
                  <a:rPr lang="en-US" dirty="0"/>
                  <a:t>(𝑞(𝑝),𝑝)=𝑝−</a:t>
                </a:r>
                <a:r>
                  <a:rPr lang="en-US" dirty="0" smtClean="0"/>
                  <a:t>𝐶′ </a:t>
                </a:r>
                <a:r>
                  <a:rPr lang="en-US" dirty="0"/>
                  <a:t>(𝑞(𝑝))=0</a:t>
                </a:r>
              </a:p>
              <a:p>
                <a:r>
                  <a:rPr lang="en-US" dirty="0" smtClean="0"/>
                  <a:t>Applying </a:t>
                </a:r>
                <a:r>
                  <a:rPr lang="en-US" dirty="0"/>
                  <a:t>the Implicit Function Theorem to this expression yields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𝑑𝑞</m:t>
                              </m:r>
                              <m: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𝑑𝑝</m:t>
                          </m:r>
                        </m:den>
                      </m:f>
                      <m:r>
                        <a:rPr lang="en-US" sz="2800">
                          <a:solidFill>
                            <a:srgbClr val="FF0000"/>
                          </a:solidFill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sub>
                          </m:sSub>
                        </m:den>
                      </m:f>
                      <m:r>
                        <a:rPr lang="en-US" sz="2800">
                          <a:solidFill>
                            <a:srgbClr val="FF0000"/>
                          </a:solidFill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80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𝜕</m:t>
                                  </m:r>
                                  <m:r>
                                    <a:rPr lang="en-US" sz="280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(−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𝑞</m:t>
                                  </m:r>
                                  <m:r>
                                    <a:rPr lang="en-US" sz="280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𝜕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den>
                      </m:f>
                      <m:r>
                        <a:rPr lang="en-US" sz="280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"/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</m:den>
                      </m:f>
                      <m:r>
                        <a:rPr lang="en-US" sz="2800">
                          <a:solidFill>
                            <a:srgbClr val="FF0000"/>
                          </a:solidFill>
                          <a:latin typeface="Cambria Math"/>
                        </a:rPr>
                        <m:t>&gt;0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 rotWithShape="1">
                <a:blip r:embed="rId2"/>
                <a:stretch>
                  <a:fillRect l="-1673" t="-1351" r="-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02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400" dirty="0" smtClean="0"/>
              <a:t>Maximization of Functions of Several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8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Suppose an agent wishes to maximize</a:t>
                </a:r>
              </a:p>
              <a:p>
                <a:pPr>
                  <a:buNone/>
                </a:pPr>
                <a:r>
                  <a:rPr lang="en-US" altLang="en-US" i="1" dirty="0" smtClean="0"/>
                  <a:t>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i="1" dirty="0"/>
                      <m:t>y</m:t>
                    </m:r>
                    <m:r>
                      <m:rPr>
                        <m:nor/>
                      </m:rPr>
                      <a:rPr lang="en-US" altLang="en-US" i="1" dirty="0"/>
                      <m:t> = </m:t>
                    </m:r>
                    <m:r>
                      <m:rPr>
                        <m:nor/>
                      </m:rPr>
                      <a:rPr lang="en-US" altLang="en-US" i="1" dirty="0"/>
                      <m:t>f</m:t>
                    </m:r>
                    <m:r>
                      <m:rPr>
                        <m:nor/>
                      </m:rPr>
                      <a:rPr lang="en-US" altLang="en-US" i="1" baseline="-25000" dirty="0"/>
                      <m:t> </m:t>
                    </m:r>
                    <m:r>
                      <m:rPr>
                        <m:nor/>
                      </m:rPr>
                      <a:rPr lang="en-US" altLang="en-US" dirty="0"/>
                      <m:t>(</m:t>
                    </m:r>
                    <m:r>
                      <m:rPr>
                        <m:nor/>
                      </m:rPr>
                      <a:rPr lang="en-US" altLang="en-US" i="1" dirty="0"/>
                      <m:t>x</m:t>
                    </m:r>
                    <m:r>
                      <m:rPr>
                        <m:nor/>
                      </m:rPr>
                      <a:rPr lang="en-US" altLang="en-US" baseline="-25000" dirty="0"/>
                      <m:t>1</m:t>
                    </m:r>
                    <m:r>
                      <m:rPr>
                        <m:nor/>
                      </m:rPr>
                      <a:rPr lang="en-US" altLang="en-US" dirty="0"/>
                      <m:t>,</m:t>
                    </m:r>
                    <m:r>
                      <m:rPr>
                        <m:nor/>
                      </m:rPr>
                      <a:rPr lang="en-US" altLang="en-US" i="1" dirty="0"/>
                      <m:t>x</m:t>
                    </m:r>
                    <m:r>
                      <m:rPr>
                        <m:nor/>
                      </m:rPr>
                      <a:rPr lang="en-US" altLang="en-US" baseline="-25000" dirty="0"/>
                      <m:t>2</m:t>
                    </m:r>
                    <m:r>
                      <m:rPr>
                        <m:nor/>
                      </m:rPr>
                      <a:rPr lang="en-US" altLang="en-US" dirty="0"/>
                      <m:t>,…,</m:t>
                    </m:r>
                    <m:r>
                      <m:rPr>
                        <m:nor/>
                      </m:rPr>
                      <a:rPr lang="en-US" altLang="en-US" i="1" dirty="0"/>
                      <m:t>x</m:t>
                    </m:r>
                    <m:r>
                      <m:rPr>
                        <m:nor/>
                      </m:rPr>
                      <a:rPr lang="en-US" altLang="en-US" i="1" baseline="-25000" dirty="0"/>
                      <m:t>n</m:t>
                    </m:r>
                    <m:r>
                      <m:rPr>
                        <m:nor/>
                      </m:rPr>
                      <a:rPr lang="en-US" altLang="en-US" dirty="0"/>
                      <m:t>)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 smtClean="0"/>
                  <a:t>The change in </a:t>
                </a:r>
                <a:r>
                  <a:rPr lang="en-US" altLang="en-US" i="1" dirty="0" smtClean="0"/>
                  <a:t>y</a:t>
                </a:r>
                <a:r>
                  <a:rPr lang="en-US" altLang="en-US" dirty="0" smtClean="0"/>
                  <a:t> from a change in </a:t>
                </a:r>
                <a:r>
                  <a:rPr lang="en-US" altLang="en-US" i="1" dirty="0" smtClean="0"/>
                  <a:t>x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 (holding all other </a:t>
                </a:r>
                <a:r>
                  <a:rPr lang="en-US" altLang="en-US" i="1" dirty="0" smtClean="0"/>
                  <a:t>x</a:t>
                </a:r>
                <a:r>
                  <a:rPr lang="en-US" altLang="en-US" dirty="0" smtClean="0"/>
                  <a:t>’s constant) is</a:t>
                </a:r>
              </a:p>
              <a:p>
                <a:pPr lvl="2"/>
                <a:r>
                  <a:rPr lang="en-US" altLang="en-US" dirty="0" smtClean="0"/>
                  <a:t>Equal to the change in </a:t>
                </a:r>
                <a:r>
                  <a:rPr lang="en-US" altLang="en-US" i="1" dirty="0" smtClean="0"/>
                  <a:t>x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 times the slope (measured in the </a:t>
                </a:r>
                <a:r>
                  <a:rPr lang="en-US" altLang="en-US" i="1" dirty="0" smtClean="0"/>
                  <a:t>x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 direction)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𝑑𝑦</m:t>
                      </m:r>
                      <m:r>
                        <a:rPr lang="en-US" sz="320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𝜕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</m:num>
                        <m:den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3200" i="1">
                          <a:solidFill>
                            <a:srgbClr val="FF0000"/>
                          </a:solidFill>
                          <a:latin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320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solidFill>
                            <a:srgbClr val="FF0000"/>
                          </a:solidFill>
                          <a:latin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</a:endParaRPr>
              </a:p>
              <a:p>
                <a:pPr lvl="1"/>
                <a:endParaRPr lang="en-US" altLang="en-US" dirty="0" smtClean="0"/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2662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738AF9C-1B59-417B-BABB-060803E5C14F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6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400" dirty="0" smtClean="0"/>
              <a:t>Maximization of Functions of Several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28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First-order conditions for a maximum</a:t>
                </a:r>
              </a:p>
              <a:p>
                <a:pPr lvl="1"/>
                <a:r>
                  <a:rPr lang="en-US" altLang="en-US" dirty="0" smtClean="0"/>
                  <a:t>Necessary condition for a maximum of the function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/>
                      </a:rPr>
                      <m:t>𝑓</m:t>
                    </m:r>
                    <m:r>
                      <a:rPr lang="en-US" altLang="en-US" i="1" dirty="0">
                        <a:latin typeface="Cambria Math"/>
                      </a:rPr>
                      <m:t>(</m:t>
                    </m:r>
                    <m:r>
                      <a:rPr lang="en-US" altLang="en-US" i="1" dirty="0">
                        <a:latin typeface="Cambria Math"/>
                      </a:rPr>
                      <m:t>𝑥</m:t>
                    </m:r>
                    <m:r>
                      <a:rPr lang="en-US" altLang="en-US" i="1" baseline="-25000" dirty="0">
                        <a:latin typeface="Cambria Math"/>
                      </a:rPr>
                      <m:t>1</m:t>
                    </m:r>
                    <m:r>
                      <a:rPr lang="en-US" altLang="en-US" i="1" dirty="0">
                        <a:latin typeface="Cambria Math"/>
                      </a:rPr>
                      <m:t>,</m:t>
                    </m:r>
                    <m:r>
                      <a:rPr lang="en-US" altLang="en-US" i="1" dirty="0">
                        <a:latin typeface="Cambria Math"/>
                      </a:rPr>
                      <m:t>𝑥</m:t>
                    </m:r>
                    <m:r>
                      <a:rPr lang="en-US" altLang="en-US" i="1" baseline="-25000" dirty="0">
                        <a:latin typeface="Cambria Math"/>
                      </a:rPr>
                      <m:t>2</m:t>
                    </m:r>
                    <m:r>
                      <a:rPr lang="en-US" altLang="en-US" i="1" dirty="0">
                        <a:latin typeface="Cambria Math"/>
                      </a:rPr>
                      <m:t>,…,</m:t>
                    </m:r>
                    <m:r>
                      <a:rPr lang="en-US" altLang="en-US" i="1" dirty="0">
                        <a:latin typeface="Cambria Math"/>
                      </a:rPr>
                      <m:t>𝑥𝑛</m:t>
                    </m:r>
                    <m:r>
                      <a:rPr lang="en-US" alt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en-US" dirty="0" smtClean="0"/>
                  <a:t>is that </a:t>
                </a:r>
                <a:r>
                  <a:rPr lang="en-US" altLang="en-US" dirty="0"/>
                  <a:t>𝑑𝑦 = 0 for </a:t>
                </a:r>
                <a:r>
                  <a:rPr lang="en-US" altLang="en-US" dirty="0" smtClean="0"/>
                  <a:t>any combination of small changes in the </a:t>
                </a:r>
                <a:r>
                  <a:rPr lang="en-US" altLang="en-US" i="1" dirty="0" smtClean="0"/>
                  <a:t>x</a:t>
                </a:r>
                <a:r>
                  <a:rPr lang="en-US" altLang="en-US" dirty="0" smtClean="0"/>
                  <a:t>’s:</a:t>
                </a:r>
              </a:p>
              <a:p>
                <a:pPr>
                  <a:buFontTx/>
                  <a:buNone/>
                </a:pPr>
                <a:r>
                  <a:rPr lang="en-US" altLang="en-US" dirty="0" smtClean="0"/>
                  <a:t>		</a:t>
                </a:r>
                <a:r>
                  <a:rPr lang="en-US" altLang="en-US" dirty="0"/>
                  <a:t>𝑓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=𝑓</a:t>
                </a:r>
                <a:r>
                  <a:rPr lang="en-US" altLang="en-US" baseline="-25000" dirty="0"/>
                  <a:t>2</a:t>
                </a:r>
                <a:r>
                  <a:rPr lang="en-US" altLang="en-US" dirty="0"/>
                  <a:t>=…=𝑓</a:t>
                </a:r>
                <a:r>
                  <a:rPr lang="en-US" altLang="en-US" baseline="-25000" dirty="0"/>
                  <a:t>𝑛</a:t>
                </a:r>
                <a:r>
                  <a:rPr lang="en-US" altLang="en-US" dirty="0"/>
                  <a:t>=0</a:t>
                </a:r>
                <a:endParaRPr lang="en-US" altLang="en-US" dirty="0" smtClean="0"/>
              </a:p>
              <a:p>
                <a:pPr lvl="2"/>
                <a:r>
                  <a:rPr lang="en-US" altLang="en-US" dirty="0" smtClean="0"/>
                  <a:t>Critical point of the function</a:t>
                </a:r>
              </a:p>
              <a:p>
                <a:pPr lvl="1"/>
                <a:r>
                  <a:rPr lang="en-US" altLang="en-US" dirty="0" smtClean="0"/>
                  <a:t>Not </a:t>
                </a:r>
                <a:r>
                  <a:rPr lang="en-US" altLang="en-US" u="sng" dirty="0" smtClean="0"/>
                  <a:t>sufficient</a:t>
                </a:r>
                <a:r>
                  <a:rPr lang="en-US" altLang="en-US" dirty="0" smtClean="0"/>
                  <a:t> to ensure a maximum</a:t>
                </a:r>
              </a:p>
              <a:p>
                <a:r>
                  <a:rPr lang="en-US" altLang="en-US" dirty="0" smtClean="0"/>
                  <a:t>Second-order conditions, </a:t>
                </a:r>
                <a:r>
                  <a:rPr lang="en-US" altLang="en-US" dirty="0"/>
                  <a:t>𝑓</a:t>
                </a:r>
                <a:r>
                  <a:rPr lang="en-US" altLang="en-US" baseline="-25000" dirty="0"/>
                  <a:t>𝑖𝑖</a:t>
                </a:r>
                <a:r>
                  <a:rPr lang="en-US" altLang="en-US" dirty="0"/>
                  <a:t> &lt; </a:t>
                </a:r>
                <a:r>
                  <a:rPr lang="en-US" altLang="en-US" dirty="0" smtClean="0"/>
                  <a:t>0</a:t>
                </a:r>
              </a:p>
              <a:p>
                <a:pPr lvl="1"/>
                <a:r>
                  <a:rPr lang="en-US" altLang="en-US" sz="2900" dirty="0" smtClean="0"/>
                  <a:t>Second partial derivatives must be negative</a:t>
                </a:r>
              </a:p>
              <a:p>
                <a:endParaRPr lang="en-US" altLang="en-US" dirty="0" smtClean="0"/>
              </a:p>
              <a:p>
                <a:endParaRPr lang="en-US" altLang="en-US" dirty="0" smtClean="0"/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9728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 b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B2CC9E-9832-401F-8BFE-5B60078FB3E1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4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2.6	 Finding a Maximum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2EAE8F6-2C50-4782-AB66-87159F8F0BE6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Suppose that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is a function of </a:t>
            </a:r>
            <a:r>
              <a:rPr lang="en-US" altLang="en-US" i="1" dirty="0" smtClean="0"/>
              <a:t>x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x</a:t>
            </a:r>
            <a:r>
              <a:rPr lang="en-US" altLang="en-US" baseline="-25000" dirty="0" smtClean="0"/>
              <a:t>2</a:t>
            </a:r>
          </a:p>
          <a:p>
            <a:pPr marL="400050" lvl="1" indent="0"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𝑦 = − (𝑥</a:t>
            </a:r>
            <a:r>
              <a:rPr lang="en-US" altLang="en-US" sz="3200" baseline="-25000" dirty="0">
                <a:solidFill>
                  <a:srgbClr val="FF0000"/>
                </a:solidFill>
              </a:rPr>
              <a:t>1</a:t>
            </a:r>
            <a:r>
              <a:rPr lang="en-US" altLang="en-US" sz="3200" dirty="0">
                <a:solidFill>
                  <a:srgbClr val="FF0000"/>
                </a:solidFill>
              </a:rPr>
              <a:t> − 1)</a:t>
            </a:r>
            <a:r>
              <a:rPr lang="en-US" altLang="en-US" sz="3200" baseline="30000" dirty="0">
                <a:solidFill>
                  <a:srgbClr val="FF0000"/>
                </a:solidFill>
              </a:rPr>
              <a:t>2</a:t>
            </a:r>
            <a:r>
              <a:rPr lang="en-US" altLang="en-US" sz="3200" dirty="0">
                <a:solidFill>
                  <a:srgbClr val="FF0000"/>
                </a:solidFill>
              </a:rPr>
              <a:t> − (𝑥</a:t>
            </a:r>
            <a:r>
              <a:rPr lang="en-US" altLang="en-US" sz="3200" baseline="-25000" dirty="0">
                <a:solidFill>
                  <a:srgbClr val="FF0000"/>
                </a:solidFill>
              </a:rPr>
              <a:t>2</a:t>
            </a:r>
            <a:r>
              <a:rPr lang="en-US" altLang="en-US" sz="3200" dirty="0">
                <a:solidFill>
                  <a:srgbClr val="FF0000"/>
                </a:solidFill>
              </a:rPr>
              <a:t> − 2)</a:t>
            </a:r>
            <a:r>
              <a:rPr lang="en-US" altLang="en-US" sz="3200" baseline="30000" dirty="0">
                <a:solidFill>
                  <a:srgbClr val="FF0000"/>
                </a:solidFill>
              </a:rPr>
              <a:t>2</a:t>
            </a:r>
            <a:r>
              <a:rPr lang="en-US" altLang="en-US" sz="3200" dirty="0">
                <a:solidFill>
                  <a:srgbClr val="FF0000"/>
                </a:solidFill>
              </a:rPr>
              <a:t> + 10</a:t>
            </a:r>
          </a:p>
          <a:p>
            <a:pPr marL="400050" lvl="1" indent="0"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𝑦 = − 𝑥</a:t>
            </a:r>
            <a:r>
              <a:rPr lang="en-US" altLang="en-US" sz="3200" baseline="-25000" dirty="0">
                <a:solidFill>
                  <a:srgbClr val="FF0000"/>
                </a:solidFill>
              </a:rPr>
              <a:t>1</a:t>
            </a:r>
            <a:r>
              <a:rPr lang="en-US" altLang="en-US" sz="3200" baseline="30000" dirty="0">
                <a:solidFill>
                  <a:srgbClr val="FF0000"/>
                </a:solidFill>
              </a:rPr>
              <a:t>2</a:t>
            </a:r>
            <a:r>
              <a:rPr lang="en-US" altLang="en-US" sz="3200" dirty="0">
                <a:solidFill>
                  <a:srgbClr val="FF0000"/>
                </a:solidFill>
              </a:rPr>
              <a:t> + 2𝑥</a:t>
            </a:r>
            <a:r>
              <a:rPr lang="en-US" altLang="en-US" sz="3200" baseline="-25000" dirty="0">
                <a:solidFill>
                  <a:srgbClr val="FF0000"/>
                </a:solidFill>
              </a:rPr>
              <a:t>1</a:t>
            </a:r>
            <a:r>
              <a:rPr lang="en-US" altLang="en-US" sz="3200" dirty="0">
                <a:solidFill>
                  <a:srgbClr val="FF0000"/>
                </a:solidFill>
              </a:rPr>
              <a:t> − 𝑥</a:t>
            </a:r>
            <a:r>
              <a:rPr lang="en-US" altLang="en-US" sz="3200" baseline="-25000" dirty="0">
                <a:solidFill>
                  <a:srgbClr val="FF0000"/>
                </a:solidFill>
              </a:rPr>
              <a:t>2</a:t>
            </a:r>
            <a:r>
              <a:rPr lang="en-US" altLang="en-US" sz="3200" baseline="30000" dirty="0">
                <a:solidFill>
                  <a:srgbClr val="FF0000"/>
                </a:solidFill>
              </a:rPr>
              <a:t>2</a:t>
            </a:r>
            <a:r>
              <a:rPr lang="en-US" altLang="en-US" sz="3200" dirty="0">
                <a:solidFill>
                  <a:srgbClr val="FF0000"/>
                </a:solidFill>
              </a:rPr>
              <a:t> + 4𝑥</a:t>
            </a:r>
            <a:r>
              <a:rPr lang="en-US" altLang="en-US" sz="3200" baseline="-25000" dirty="0">
                <a:solidFill>
                  <a:srgbClr val="FF0000"/>
                </a:solidFill>
              </a:rPr>
              <a:t>2</a:t>
            </a:r>
            <a:r>
              <a:rPr lang="en-US" altLang="en-US" sz="3200" dirty="0">
                <a:solidFill>
                  <a:srgbClr val="FF0000"/>
                </a:solidFill>
              </a:rPr>
              <a:t> + 5</a:t>
            </a:r>
          </a:p>
          <a:p>
            <a:r>
              <a:rPr lang="en-US" altLang="en-US" dirty="0" smtClean="0"/>
              <a:t>First-order conditions imply that</a:t>
            </a:r>
          </a:p>
          <a:p>
            <a:pPr>
              <a:buFontTx/>
              <a:buNone/>
            </a:pPr>
            <a:endParaRPr lang="en-US" altLang="en-US" dirty="0" smtClean="0"/>
          </a:p>
          <a:p>
            <a:endParaRPr lang="en-US" altLang="en-US" dirty="0" smtClean="0"/>
          </a:p>
        </p:txBody>
      </p:sp>
      <p:graphicFrame>
        <p:nvGraphicFramePr>
          <p:cNvPr id="69636" name="Object 2"/>
          <p:cNvGraphicFramePr>
            <a:graphicFrameLocks noChangeAspect="1"/>
          </p:cNvGraphicFramePr>
          <p:nvPr/>
        </p:nvGraphicFramePr>
        <p:xfrm>
          <a:off x="604838" y="2906713"/>
          <a:ext cx="3078162" cy="236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4" name="Equation" r:id="rId3" imgW="1155600" imgH="888840" progId="Equation.DSMT4">
                  <p:embed/>
                </p:oleObj>
              </mc:Choice>
              <mc:Fallback>
                <p:oleObj name="Equation" r:id="rId3" imgW="11556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2906713"/>
                        <a:ext cx="3078162" cy="236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4418013" y="3795713"/>
            <a:ext cx="793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3200" dirty="0">
                <a:solidFill>
                  <a:srgbClr val="000099"/>
                </a:solidFill>
              </a:rPr>
              <a:t>OR</a:t>
            </a:r>
          </a:p>
        </p:txBody>
      </p:sp>
      <p:graphicFrame>
        <p:nvGraphicFramePr>
          <p:cNvPr id="69639" name="Object 3"/>
          <p:cNvGraphicFramePr>
            <a:graphicFrameLocks noChangeAspect="1"/>
          </p:cNvGraphicFramePr>
          <p:nvPr/>
        </p:nvGraphicFramePr>
        <p:xfrm>
          <a:off x="6389688" y="3363913"/>
          <a:ext cx="1100137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5" name="Equation" r:id="rId5" imgW="406080" imgH="482400" progId="Equation.DSMT4">
                  <p:embed/>
                </p:oleObj>
              </mc:Choice>
              <mc:Fallback>
                <p:oleObj name="Equation" r:id="rId5" imgW="406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9688" y="3363913"/>
                        <a:ext cx="1100137" cy="130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913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Envelope Theorem</a:t>
            </a:r>
          </a:p>
        </p:txBody>
      </p:sp>
      <p:sp>
        <p:nvSpPr>
          <p:cNvPr id="983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envelope theorem </a:t>
            </a:r>
          </a:p>
          <a:p>
            <a:pPr lvl="1"/>
            <a:r>
              <a:rPr lang="en-US" altLang="en-US" sz="3000" dirty="0" smtClean="0"/>
              <a:t>How an optimized function changes when a parameter of the function changes</a:t>
            </a:r>
          </a:p>
          <a:p>
            <a:r>
              <a:rPr lang="en-US" altLang="en-US" dirty="0" smtClean="0"/>
              <a:t>A specific example: </a:t>
            </a:r>
            <a:r>
              <a:rPr lang="en-US" altLang="en-US" dirty="0"/>
              <a:t>𝑦 = −𝑥</a:t>
            </a:r>
            <a:r>
              <a:rPr lang="en-US" altLang="en-US" baseline="30000" dirty="0"/>
              <a:t>2</a:t>
            </a:r>
            <a:r>
              <a:rPr lang="en-US" altLang="en-US" dirty="0"/>
              <a:t> + 𝑎𝑥</a:t>
            </a:r>
          </a:p>
          <a:p>
            <a:pPr lvl="1"/>
            <a:r>
              <a:rPr lang="en-US" altLang="en-US" dirty="0" smtClean="0"/>
              <a:t>Represents a family of inverted parabolas </a:t>
            </a:r>
          </a:p>
          <a:p>
            <a:pPr lvl="2"/>
            <a:r>
              <a:rPr lang="en-US" altLang="en-US" dirty="0" smtClean="0"/>
              <a:t>For different values of 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Is a function of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only</a:t>
            </a:r>
          </a:p>
          <a:p>
            <a:pPr lvl="2"/>
            <a:r>
              <a:rPr lang="en-US" altLang="en-US" dirty="0" smtClean="0"/>
              <a:t>If 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 is assigned a specific value</a:t>
            </a:r>
          </a:p>
          <a:p>
            <a:pPr lvl="2"/>
            <a:r>
              <a:rPr lang="en-US" altLang="en-US" dirty="0" smtClean="0"/>
              <a:t>Can calculate the value of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that maximizes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B7CB79-EB5A-49A1-99C1-58772A309A58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2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 bwMode="auto">
          <a:xfrm>
            <a:off x="1200150" y="0"/>
            <a:ext cx="794385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2.1	Optimal values of </a:t>
            </a:r>
            <a:r>
              <a:rPr lang="en-US" altLang="en-US" i="1" dirty="0"/>
              <a:t>y</a:t>
            </a:r>
            <a:r>
              <a:rPr lang="en-US" altLang="en-US" dirty="0"/>
              <a:t> and </a:t>
            </a:r>
            <a:r>
              <a:rPr lang="en-US" altLang="en-US" i="1" dirty="0"/>
              <a:t>x</a:t>
            </a:r>
            <a:r>
              <a:rPr lang="en-US" altLang="en-US" dirty="0"/>
              <a:t> for </a:t>
            </a:r>
            <a:r>
              <a:rPr lang="en-US" altLang="en-US" dirty="0" smtClean="0"/>
              <a:t>alternative</a:t>
            </a:r>
            <a:br>
              <a:rPr lang="en-US" altLang="en-US" dirty="0" smtClean="0"/>
            </a:b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values </a:t>
            </a:r>
            <a:r>
              <a:rPr lang="en-US" altLang="en-US" dirty="0">
                <a:solidFill>
                  <a:srgbClr val="002D56"/>
                </a:solidFill>
              </a:rPr>
              <a:t>of </a:t>
            </a:r>
            <a:r>
              <a:rPr lang="en-US" altLang="en-US" i="1" dirty="0">
                <a:solidFill>
                  <a:srgbClr val="002D56"/>
                </a:solidFill>
              </a:rPr>
              <a:t>a</a:t>
            </a:r>
            <a:r>
              <a:rPr lang="en-US" altLang="en-US" dirty="0">
                <a:solidFill>
                  <a:srgbClr val="002D56"/>
                </a:solidFill>
              </a:rPr>
              <a:t> in </a:t>
            </a:r>
            <a:r>
              <a:rPr lang="en-US" altLang="en-US" i="1" dirty="0">
                <a:solidFill>
                  <a:srgbClr val="002D56"/>
                </a:solidFill>
              </a:rPr>
              <a:t>y=-</a:t>
            </a:r>
            <a:r>
              <a:rPr lang="en-US" altLang="en-US" i="1" dirty="0" smtClean="0">
                <a:solidFill>
                  <a:srgbClr val="002D56"/>
                </a:solidFill>
              </a:rPr>
              <a:t>x</a:t>
            </a:r>
            <a:r>
              <a:rPr lang="en-US" altLang="en-US" i="1" baseline="30000" dirty="0" smtClean="0">
                <a:solidFill>
                  <a:srgbClr val="002D56"/>
                </a:solidFill>
              </a:rPr>
              <a:t>2</a:t>
            </a:r>
            <a:r>
              <a:rPr lang="en-US" altLang="en-US" i="1" dirty="0" smtClean="0">
                <a:solidFill>
                  <a:srgbClr val="002D56"/>
                </a:solidFill>
              </a:rPr>
              <a:t>+ax</a:t>
            </a:r>
          </a:p>
        </p:txBody>
      </p:sp>
      <p:sp>
        <p:nvSpPr>
          <p:cNvPr id="99333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72F983-691B-420C-B720-A8A4A3E17360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771650"/>
            <a:ext cx="8953500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471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4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841375"/>
            <a:ext cx="5326063" cy="546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5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2.3	Illustration of the Envelope </a:t>
            </a:r>
            <a:r>
              <a:rPr lang="en-US" altLang="en-US" dirty="0" smtClean="0"/>
              <a:t>Theorem</a:t>
            </a:r>
          </a:p>
        </p:txBody>
      </p:sp>
      <p:sp>
        <p:nvSpPr>
          <p:cNvPr id="100356" name="Text Placeholder 2"/>
          <p:cNvSpPr>
            <a:spLocks noGrp="1"/>
          </p:cNvSpPr>
          <p:nvPr>
            <p:ph sz="half" idx="1"/>
          </p:nvPr>
        </p:nvSpPr>
        <p:spPr>
          <a:xfrm>
            <a:off x="5791200" y="1676400"/>
            <a:ext cx="2971800" cy="4158456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envelope theorem states that the slope of the relationship between </a:t>
            </a:r>
            <a:r>
              <a:rPr lang="en-US" altLang="en-US" i="1" dirty="0"/>
              <a:t>y</a:t>
            </a:r>
            <a:r>
              <a:rPr lang="en-US" altLang="en-US" dirty="0"/>
              <a:t> (the maximum value of </a:t>
            </a:r>
            <a:r>
              <a:rPr lang="en-US" altLang="en-US" i="1" dirty="0"/>
              <a:t>y</a:t>
            </a:r>
            <a:r>
              <a:rPr lang="en-US" altLang="en-US" dirty="0"/>
              <a:t>) and the parameter </a:t>
            </a:r>
            <a:r>
              <a:rPr lang="en-US" altLang="en-US" i="1" dirty="0"/>
              <a:t>a</a:t>
            </a:r>
            <a:r>
              <a:rPr lang="en-US" altLang="en-US" dirty="0"/>
              <a:t> can be found by calculating the slope of the auxiliary relationship found by substituting the respective optimal values for x into the objective function and calculating ∂</a:t>
            </a:r>
            <a:r>
              <a:rPr lang="en-US" altLang="en-US" i="1" dirty="0"/>
              <a:t>y</a:t>
            </a:r>
            <a:r>
              <a:rPr lang="en-US" altLang="en-US" dirty="0"/>
              <a:t>/∂</a:t>
            </a:r>
            <a:r>
              <a:rPr lang="en-US" altLang="en-US" i="1" dirty="0"/>
              <a:t>a</a:t>
            </a:r>
            <a:r>
              <a:rPr lang="en-US" altLang="en-US" dirty="0"/>
              <a:t>.</a:t>
            </a:r>
          </a:p>
        </p:txBody>
      </p:sp>
      <p:sp>
        <p:nvSpPr>
          <p:cNvPr id="100358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F9F6FEA-16AB-4CD5-A863-16AA23A1A1CF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21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Envelope Theorem</a:t>
            </a:r>
          </a:p>
        </p:txBody>
      </p:sp>
      <p:sp>
        <p:nvSpPr>
          <p:cNvPr id="1013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If we are interested in how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* changes as 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 changes</a:t>
            </a:r>
          </a:p>
          <a:p>
            <a:pPr lvl="1"/>
            <a:r>
              <a:rPr lang="en-US" altLang="en-US" dirty="0" smtClean="0"/>
              <a:t>Calculate the slope of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directly (time-consuming approach)</a:t>
            </a:r>
          </a:p>
          <a:p>
            <a:pPr lvl="1"/>
            <a:r>
              <a:rPr lang="en-US" altLang="en-US" dirty="0" smtClean="0"/>
              <a:t>Hold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constant at its optimal value and calculate </a:t>
            </a:r>
            <a:r>
              <a:rPr lang="en-US" altLang="en-US" dirty="0" smtClean="0">
                <a:sym typeface="Symbol" pitchFamily="18" charset="2"/>
              </a:rPr>
              <a:t></a:t>
            </a:r>
            <a:r>
              <a:rPr lang="en-US" altLang="en-US" i="1" dirty="0" smtClean="0">
                <a:sym typeface="Symbol" pitchFamily="18" charset="2"/>
              </a:rPr>
              <a:t>y</a:t>
            </a:r>
            <a:r>
              <a:rPr lang="en-US" altLang="en-US" dirty="0" smtClean="0">
                <a:sym typeface="Symbol" pitchFamily="18" charset="2"/>
              </a:rPr>
              <a:t>/</a:t>
            </a:r>
            <a:r>
              <a:rPr lang="en-US" altLang="en-US" i="1" dirty="0" smtClean="0">
                <a:sym typeface="Symbol" pitchFamily="18" charset="2"/>
              </a:rPr>
              <a:t>a</a:t>
            </a:r>
            <a:r>
              <a:rPr lang="en-US" altLang="en-US" dirty="0" smtClean="0">
                <a:sym typeface="Symbol" pitchFamily="18" charset="2"/>
              </a:rPr>
              <a:t> directly (the envelope shortcut)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004267-3476-4429-9CCC-44ACC98F0D52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Envelope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0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Calculate the slope of </a:t>
                </a:r>
                <a:r>
                  <a:rPr lang="en-US" altLang="en-US" i="1" dirty="0" smtClean="0"/>
                  <a:t>y</a:t>
                </a:r>
                <a:r>
                  <a:rPr lang="en-US" altLang="en-US" dirty="0" smtClean="0"/>
                  <a:t> directly</a:t>
                </a:r>
              </a:p>
              <a:p>
                <a:pPr lvl="1"/>
                <a:r>
                  <a:rPr lang="en-US" altLang="en-US" dirty="0" smtClean="0"/>
                  <a:t>Must solve for the optimal value of </a:t>
                </a:r>
                <a:r>
                  <a:rPr lang="en-US" altLang="en-US" i="1" dirty="0" smtClean="0"/>
                  <a:t>x</a:t>
                </a:r>
                <a:r>
                  <a:rPr lang="en-US" altLang="en-US" dirty="0" smtClean="0"/>
                  <a:t> for any value of </a:t>
                </a:r>
                <a:r>
                  <a:rPr lang="en-US" altLang="en-US" i="1" dirty="0"/>
                  <a:t>a: </a:t>
                </a:r>
                <a:r>
                  <a:rPr lang="en-US" altLang="en-US" dirty="0"/>
                  <a:t>𝑑𝑦/</a:t>
                </a:r>
                <a:r>
                  <a:rPr lang="en-US" altLang="en-US" dirty="0" smtClean="0"/>
                  <a:t>𝑑𝑥 = − 2𝑥 + 𝑎 = 0; 𝑥</a:t>
                </a:r>
                <a:r>
                  <a:rPr lang="en-US" altLang="en-US" baseline="30000" dirty="0" smtClean="0"/>
                  <a:t>∗ </a:t>
                </a:r>
                <a:r>
                  <a:rPr lang="en-US" altLang="en-US" dirty="0" smtClean="0"/>
                  <a:t>= 𝑎</a:t>
                </a:r>
                <a:r>
                  <a:rPr lang="en-US" altLang="en-US" dirty="0"/>
                  <a:t>/2 </a:t>
                </a:r>
                <a:endParaRPr lang="en-US" altLang="en-US" dirty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1"/>
                <a:r>
                  <a:rPr lang="en-US" altLang="en-US" dirty="0" smtClean="0">
                    <a:sym typeface="Symbol" pitchFamily="18" charset="2"/>
                  </a:rPr>
                  <a:t>Substituting, we get:</a:t>
                </a:r>
              </a:p>
              <a:p>
                <a:pPr algn="ctr">
                  <a:lnSpc>
                    <a:spcPct val="12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</m:ctrlPr>
                        </m:sSupPr>
                        <m:e>
                          <m:r>
                            <a:rPr lang="en-US" altLang="en-US" sz="2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  <m:sup>
                          <m:r>
                            <a:rPr lang="en-US" altLang="en-US" sz="2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= −(</m:t>
                      </m:r>
                      <m:sSup>
                        <m:sSupPr>
                          <m:ctrlPr>
                            <a:rPr lang="en-US" alt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</m:ctrlPr>
                        </m:sSupPr>
                        <m:e>
                          <m:r>
                            <a:rPr lang="en-US" altLang="en-US" sz="2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</m:e>
                        <m:sup>
                          <m:r>
                            <a:rPr lang="en-US" alt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)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+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𝑎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(</m:t>
                      </m:r>
                      <m:sSup>
                        <m:sSupPr>
                          <m:ctrlPr>
                            <a:rPr lang="en-US" alt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</m:ctrlPr>
                        </m:sSupPr>
                        <m:e>
                          <m:r>
                            <a:rPr lang="en-US" altLang="en-US" sz="2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</m:e>
                        <m:sup>
                          <m:r>
                            <a:rPr lang="en-US" alt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) = −(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𝑎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/2)2 +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𝑎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(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𝑎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/2); </m:t>
                      </m:r>
                    </m:oMath>
                  </m:oMathPara>
                </a14:m>
                <a:endParaRPr lang="en-US" altLang="en-US" sz="28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algn="ctr">
                  <a:lnSpc>
                    <a:spcPct val="12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</m:ctrlPr>
                        </m:sSupPr>
                        <m:e>
                          <m:r>
                            <a:rPr lang="en-US" alt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  <m:sup>
                          <m:r>
                            <a:rPr lang="en-US" alt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= −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𝑎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/4 +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𝑎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/2 =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𝑎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/4</m:t>
                      </m:r>
                    </m:oMath>
                  </m:oMathPara>
                </a14:m>
                <a:endParaRPr lang="en-US" altLang="en-US" sz="28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r>
                  <a:rPr lang="en-US" altLang="en-US" dirty="0" smtClean="0"/>
                  <a:t>Therefore, 𝑑𝑦</a:t>
                </a:r>
                <a:r>
                  <a:rPr lang="en-US" altLang="en-US" baseline="30000" dirty="0" smtClean="0"/>
                  <a:t>∗</a:t>
                </a:r>
                <a:r>
                  <a:rPr lang="en-US" altLang="en-US" dirty="0"/>
                  <a:t>/𝑑𝑎 = 2𝑎/4 = 𝑎/2</a:t>
                </a:r>
                <a:endParaRPr lang="en-US" altLang="en-US" sz="28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marL="0" indent="0">
                  <a:buNone/>
                </a:pPr>
                <a:endParaRPr lang="en-US" altLang="en-US" sz="2800" dirty="0" smtClean="0">
                  <a:solidFill>
                    <a:srgbClr val="FF0000"/>
                  </a:solidFill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0240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D39746-86AE-4E8D-94B2-C54AA2C71F58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8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Envelope Theorem</a:t>
            </a:r>
          </a:p>
        </p:txBody>
      </p:sp>
      <p:sp>
        <p:nvSpPr>
          <p:cNvPr id="1034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</a:t>
            </a:r>
            <a:r>
              <a:rPr lang="en-US" altLang="en-US" dirty="0" smtClean="0">
                <a:sym typeface="Symbol" pitchFamily="18" charset="2"/>
              </a:rPr>
              <a:t>he envelope shortcut 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For small changes in </a:t>
            </a:r>
            <a:r>
              <a:rPr lang="en-US" altLang="en-US" i="1" dirty="0" smtClean="0">
                <a:sym typeface="Symbol" pitchFamily="18" charset="2"/>
              </a:rPr>
              <a:t>a</a:t>
            </a:r>
            <a:r>
              <a:rPr lang="en-US" altLang="en-US" dirty="0" smtClean="0">
                <a:sym typeface="Symbol" pitchFamily="18" charset="2"/>
              </a:rPr>
              <a:t>, </a:t>
            </a:r>
            <a:r>
              <a:rPr lang="en-US" altLang="en-US" i="1" dirty="0" err="1" smtClean="0">
                <a:sym typeface="Symbol" pitchFamily="18" charset="2"/>
              </a:rPr>
              <a:t>dy</a:t>
            </a:r>
            <a:r>
              <a:rPr lang="en-US" altLang="en-US" dirty="0" smtClean="0">
                <a:sym typeface="Symbol" pitchFamily="18" charset="2"/>
              </a:rPr>
              <a:t>*/</a:t>
            </a:r>
            <a:r>
              <a:rPr lang="en-US" altLang="en-US" i="1" dirty="0" smtClean="0">
                <a:sym typeface="Symbol" pitchFamily="18" charset="2"/>
              </a:rPr>
              <a:t>da</a:t>
            </a:r>
            <a:r>
              <a:rPr lang="en-US" altLang="en-US" dirty="0" smtClean="0">
                <a:sym typeface="Symbol" pitchFamily="18" charset="2"/>
              </a:rPr>
              <a:t> can be computed by holding 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 at its optimal value </a:t>
            </a:r>
            <a:r>
              <a:rPr lang="en-US" altLang="en-US" i="1" dirty="0" smtClean="0">
                <a:sym typeface="Symbol" pitchFamily="18" charset="2"/>
              </a:rPr>
              <a:t>(x*) </a:t>
            </a:r>
            <a:r>
              <a:rPr lang="en-US" altLang="en-US" dirty="0" smtClean="0">
                <a:sym typeface="Symbol" pitchFamily="18" charset="2"/>
              </a:rPr>
              <a:t>and calculating </a:t>
            </a:r>
            <a:r>
              <a:rPr lang="en-US" altLang="en-US" i="1" dirty="0" smtClean="0">
                <a:sym typeface="Symbol" pitchFamily="18" charset="2"/>
              </a:rPr>
              <a:t>y</a:t>
            </a:r>
            <a:r>
              <a:rPr lang="en-US" altLang="en-US" dirty="0" smtClean="0">
                <a:sym typeface="Symbol" pitchFamily="18" charset="2"/>
              </a:rPr>
              <a:t>/</a:t>
            </a:r>
            <a:r>
              <a:rPr lang="en-US" altLang="en-US" i="1" dirty="0" smtClean="0">
                <a:sym typeface="Symbol" pitchFamily="18" charset="2"/>
              </a:rPr>
              <a:t>a</a:t>
            </a:r>
            <a:r>
              <a:rPr lang="en-US" altLang="en-US" dirty="0" smtClean="0">
                <a:sym typeface="Symbol" pitchFamily="18" charset="2"/>
              </a:rPr>
              <a:t> directly from </a:t>
            </a:r>
            <a:r>
              <a:rPr lang="en-US" altLang="en-US" i="1" dirty="0" smtClean="0">
                <a:sym typeface="Symbol" pitchFamily="18" charset="2"/>
              </a:rPr>
              <a:t>y</a:t>
            </a:r>
          </a:p>
          <a:p>
            <a:pPr lvl="1">
              <a:buFont typeface="Arial" pitchFamily="34" charset="0"/>
              <a:buNone/>
            </a:pPr>
            <a:r>
              <a:rPr lang="en-US" altLang="en-US" sz="2800" i="1" dirty="0" smtClean="0">
                <a:solidFill>
                  <a:srgbClr val="FF0000"/>
                </a:solidFill>
                <a:sym typeface="Symbol" pitchFamily="18" charset="2"/>
              </a:rPr>
              <a:t>		</a:t>
            </a:r>
            <a:endParaRPr lang="en-US" altLang="en-US" dirty="0" smtClean="0">
              <a:solidFill>
                <a:srgbClr val="FF0000"/>
              </a:solidFill>
              <a:sym typeface="Symbol" pitchFamily="18" charset="2"/>
            </a:endParaRPr>
          </a:p>
          <a:p>
            <a:pPr lvl="1"/>
            <a:endParaRPr lang="en-US" altLang="en-US" dirty="0" smtClean="0">
              <a:sym typeface="Symbol" pitchFamily="18" charset="2"/>
            </a:endParaRPr>
          </a:p>
          <a:p>
            <a:endParaRPr lang="en-US" altLang="en-US" dirty="0" smtClean="0">
              <a:sym typeface="Symbol" pitchFamily="18" charset="2"/>
            </a:endParaRPr>
          </a:p>
          <a:p>
            <a:pPr lvl="1"/>
            <a:endParaRPr lang="en-US" altLang="en-US" dirty="0" smtClean="0">
              <a:sym typeface="Symbol" pitchFamily="18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CA8833-65F8-4319-AF20-D4B3D2D7DBD0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4724400"/>
                <a:ext cx="8534400" cy="152400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altLang="en-US" dirty="0" smtClean="0">
                    <a:sym typeface="Symbol" pitchFamily="18" charset="2"/>
                  </a:rPr>
                  <a:t>Holding </a:t>
                </a:r>
                <a:r>
                  <a:rPr lang="en-US" altLang="en-US" i="1" dirty="0">
                    <a:sym typeface="Symbol" pitchFamily="18" charset="2"/>
                  </a:rPr>
                  <a:t>x</a:t>
                </a:r>
                <a:r>
                  <a:rPr lang="en-US" altLang="en-US" dirty="0">
                    <a:sym typeface="Symbol" pitchFamily="18" charset="2"/>
                  </a:rPr>
                  <a:t> = </a:t>
                </a:r>
                <a:r>
                  <a:rPr lang="en-US" altLang="en-US" i="1" dirty="0">
                    <a:sym typeface="Symbol" pitchFamily="18" charset="2"/>
                  </a:rPr>
                  <a:t>x</a:t>
                </a:r>
                <a:r>
                  <a:rPr lang="en-US" altLang="en-US" dirty="0" smtClean="0">
                    <a:sym typeface="Symbol" pitchFamily="18" charset="2"/>
                  </a:rPr>
                  <a:t>*: </a:t>
                </a:r>
                <a14:m>
                  <m:oMath xmlns:m="http://schemas.openxmlformats.org/officeDocument/2006/math">
                    <m:r>
                      <a:rPr lang="en-US" altLang="en-US" sz="3200" b="0" i="0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</m:t>
                    </m:r>
                    <m:f>
                      <m:fPr>
                        <m:ctrlPr>
                          <a:rPr lang="en-US" altLang="en-US" sz="3200" i="1" dirty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</m:ctrlPr>
                      </m:fPr>
                      <m:num>
                        <m:r>
                          <a:rPr lang="en-US" altLang="en-US" sz="3200" i="1" dirty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𝑑𝑦</m:t>
                        </m:r>
                      </m:num>
                      <m:den>
                        <m:r>
                          <a:rPr lang="en-US" altLang="en-US" sz="3200" i="1" dirty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𝑑𝑎</m:t>
                        </m:r>
                      </m:den>
                    </m:f>
                    <m:r>
                      <a:rPr lang="en-US" altLang="en-US" sz="3200" i="1" dirty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= </m:t>
                    </m:r>
                    <m:sSup>
                      <m:sSupPr>
                        <m:ctrlPr>
                          <a:rPr lang="en-US" altLang="en-US" sz="3200" i="1" dirty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</m:ctrlPr>
                      </m:sSupPr>
                      <m:e>
                        <m:r>
                          <a:rPr lang="en-US" altLang="en-US" sz="3200" i="1" dirty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𝑥</m:t>
                        </m:r>
                      </m:e>
                      <m:sup>
                        <m:r>
                          <a:rPr lang="en-US" altLang="en-US" sz="3200" i="1" dirty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∗</m:t>
                        </m:r>
                      </m:sup>
                    </m:sSup>
                    <m:r>
                      <a:rPr lang="en-US" altLang="en-US" sz="3200" i="1" dirty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(</m:t>
                    </m:r>
                    <m:r>
                      <a:rPr lang="en-US" altLang="en-US" sz="3200" i="1" dirty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𝑎</m:t>
                    </m:r>
                    <m:r>
                      <a:rPr lang="en-US" altLang="en-US" sz="3200" i="1" dirty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) = </m:t>
                    </m:r>
                    <m:r>
                      <a:rPr lang="en-US" altLang="en-US" sz="3200" i="1" dirty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𝑎</m:t>
                    </m:r>
                    <m:r>
                      <a:rPr lang="en-US" altLang="en-US" sz="3200" i="1" dirty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/2</m:t>
                    </m:r>
                  </m:oMath>
                </a14:m>
                <a:endParaRPr lang="en-US" altLang="en-US" sz="3200" dirty="0">
                  <a:solidFill>
                    <a:srgbClr val="FF0000"/>
                  </a:solidFill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4724400"/>
                <a:ext cx="8534400" cy="152400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905042"/>
              </p:ext>
            </p:extLst>
          </p:nvPr>
        </p:nvGraphicFramePr>
        <p:xfrm>
          <a:off x="1227137" y="3403600"/>
          <a:ext cx="6689725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2" name="Equation" r:id="rId4" imgW="2730240" imgH="507960" progId="Equation.DSMT4">
                  <p:embed/>
                </p:oleObj>
              </mc:Choice>
              <mc:Fallback>
                <p:oleObj name="Equation" r:id="rId4" imgW="27302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27137" y="3403600"/>
                        <a:ext cx="6689725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887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Envelope Theorem</a:t>
            </a:r>
          </a:p>
        </p:txBody>
      </p:sp>
      <p:sp>
        <p:nvSpPr>
          <p:cNvPr id="2867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sym typeface="Symbol" pitchFamily="18" charset="2"/>
              </a:rPr>
              <a:t>The envelope theorem	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The change in the value of an optimized function with respect to a parameter of that function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Can be found by partially differentiating the objective function while holding 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 (or several 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’s) at its optimal value</a:t>
            </a:r>
          </a:p>
          <a:p>
            <a:endParaRPr lang="en-US" altLang="en-US" dirty="0" smtClean="0">
              <a:sym typeface="Symbol" pitchFamily="18" charset="2"/>
            </a:endParaRPr>
          </a:p>
          <a:p>
            <a:pPr lvl="1"/>
            <a:endParaRPr lang="en-US" altLang="en-US" dirty="0" smtClean="0">
              <a:sym typeface="Symbol" pitchFamily="18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6FB261-C134-49BF-A144-53F549AD8F10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graphicFrame>
        <p:nvGraphicFramePr>
          <p:cNvPr id="8294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464580"/>
              </p:ext>
            </p:extLst>
          </p:nvPr>
        </p:nvGraphicFramePr>
        <p:xfrm>
          <a:off x="1651000" y="5141912"/>
          <a:ext cx="4140200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9" name="Equation" r:id="rId3" imgW="1371600" imgH="393480" progId="Equation.DSMT4">
                  <p:embed/>
                </p:oleObj>
              </mc:Choice>
              <mc:Fallback>
                <p:oleObj name="Equation" r:id="rId3" imgW="1371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5141912"/>
                        <a:ext cx="4140200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519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Envelope Theorem</a:t>
            </a:r>
          </a:p>
        </p:txBody>
      </p:sp>
      <p:sp>
        <p:nvSpPr>
          <p:cNvPr id="1044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sym typeface="Symbol" pitchFamily="18" charset="2"/>
              </a:rPr>
              <a:t>Many-variable case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sym typeface="Symbol" pitchFamily="18" charset="2"/>
              </a:rPr>
              <a:t> y is a function of several variables </a:t>
            </a:r>
          </a:p>
          <a:p>
            <a:pPr lvl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</a:rPr>
              <a:t>		y</a:t>
            </a:r>
            <a:r>
              <a:rPr lang="en-US" altLang="en-US" dirty="0" smtClean="0">
                <a:solidFill>
                  <a:srgbClr val="FF0000"/>
                </a:solidFill>
              </a:rPr>
              <a:t> = </a:t>
            </a:r>
            <a:r>
              <a:rPr lang="en-US" altLang="en-US" i="1" dirty="0" smtClean="0">
                <a:solidFill>
                  <a:srgbClr val="FF0000"/>
                </a:solidFill>
              </a:rPr>
              <a:t>f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</a:rPr>
              <a:t>x</a:t>
            </a:r>
            <a:r>
              <a:rPr lang="en-US" alt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dirty="0" smtClean="0">
                <a:solidFill>
                  <a:srgbClr val="FF0000"/>
                </a:solidFill>
              </a:rPr>
              <a:t>,…</a:t>
            </a:r>
            <a:r>
              <a:rPr lang="en-US" altLang="en-US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a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  <a:endParaRPr lang="en-US" altLang="en-US" sz="2800" dirty="0" smtClean="0">
              <a:solidFill>
                <a:srgbClr val="7B332D"/>
              </a:solidFill>
            </a:endParaRPr>
          </a:p>
          <a:p>
            <a:pPr lvl="1"/>
            <a:r>
              <a:rPr lang="en-US" altLang="en-US" dirty="0" smtClean="0"/>
              <a:t>Finding an optimal value for </a:t>
            </a:r>
            <a:r>
              <a:rPr lang="en-US" altLang="en-US" i="1" dirty="0" smtClean="0"/>
              <a:t>y: </a:t>
            </a:r>
            <a:r>
              <a:rPr lang="en-US" altLang="en-US" dirty="0" smtClean="0"/>
              <a:t>solve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first-order equations: </a:t>
            </a:r>
          </a:p>
          <a:p>
            <a:pPr lvl="1">
              <a:buFont typeface="Arial" pitchFamily="34" charset="0"/>
              <a:buNone/>
            </a:pP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	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/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i="1" baseline="-25000" dirty="0" smtClean="0">
                <a:solidFill>
                  <a:srgbClr val="FF0000"/>
                </a:solidFill>
                <a:sym typeface="Symbol" pitchFamily="18" charset="2"/>
              </a:rPr>
              <a:t>i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= 0    (</a:t>
            </a:r>
            <a:r>
              <a:rPr lang="en-US" altLang="en-US" i="1" dirty="0" err="1" smtClean="0">
                <a:solidFill>
                  <a:srgbClr val="FF0000"/>
                </a:solidFill>
                <a:sym typeface="Symbol" pitchFamily="18" charset="2"/>
              </a:rPr>
              <a:t>i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= 1,…,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sym typeface="Symbol" pitchFamily="18" charset="2"/>
              </a:rPr>
              <a:t>Optimal values for these 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’s would be a function of </a:t>
            </a:r>
            <a:r>
              <a:rPr lang="en-US" altLang="en-US" i="1" dirty="0" smtClean="0">
                <a:sym typeface="Symbol" pitchFamily="18" charset="2"/>
              </a:rPr>
              <a:t>a</a:t>
            </a:r>
            <a:endParaRPr lang="en-US" altLang="en-US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FF0000"/>
                </a:solidFill>
                <a:sym typeface="Symbol" pitchFamily="18" charset="2"/>
              </a:rPr>
              <a:t>		x</a:t>
            </a:r>
            <a:r>
              <a:rPr lang="en-US" altLang="en-US" sz="320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altLang="en-US" sz="3200" dirty="0" smtClean="0">
                <a:solidFill>
                  <a:srgbClr val="FF0000"/>
                </a:solidFill>
                <a:sym typeface="Symbol" pitchFamily="18" charset="2"/>
              </a:rPr>
              <a:t>* = </a:t>
            </a:r>
            <a:r>
              <a:rPr lang="en-US" altLang="en-US" sz="3200" i="1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20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altLang="en-US" sz="3200" dirty="0" smtClean="0">
                <a:solidFill>
                  <a:srgbClr val="FF0000"/>
                </a:solidFill>
                <a:sym typeface="Symbol" pitchFamily="18" charset="2"/>
              </a:rPr>
              <a:t>*(</a:t>
            </a:r>
            <a:r>
              <a:rPr lang="en-US" altLang="en-US" sz="3200" i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en-US" sz="3200" dirty="0" smtClean="0">
                <a:solidFill>
                  <a:srgbClr val="FF0000"/>
                </a:solidFill>
                <a:sym typeface="Symbol" pitchFamily="18" charset="2"/>
              </a:rPr>
              <a:t>); </a:t>
            </a:r>
            <a:r>
              <a:rPr lang="en-US" altLang="en-US" sz="3200" i="1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200" baseline="-25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altLang="en-US" sz="3200" dirty="0" smtClean="0">
                <a:solidFill>
                  <a:srgbClr val="FF0000"/>
                </a:solidFill>
                <a:sym typeface="Symbol" pitchFamily="18" charset="2"/>
              </a:rPr>
              <a:t>* = </a:t>
            </a:r>
            <a:r>
              <a:rPr lang="en-US" altLang="en-US" sz="3200" i="1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200" baseline="-25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altLang="en-US" sz="3200" dirty="0" smtClean="0">
                <a:solidFill>
                  <a:srgbClr val="FF0000"/>
                </a:solidFill>
                <a:sym typeface="Symbol" pitchFamily="18" charset="2"/>
              </a:rPr>
              <a:t>*(</a:t>
            </a:r>
            <a:r>
              <a:rPr lang="en-US" altLang="en-US" sz="3200" i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en-US" sz="3200" dirty="0" smtClean="0">
                <a:solidFill>
                  <a:srgbClr val="FF0000"/>
                </a:solidFill>
                <a:sym typeface="Symbol" pitchFamily="18" charset="2"/>
              </a:rPr>
              <a:t>); …; </a:t>
            </a:r>
            <a:r>
              <a:rPr lang="en-US" altLang="en-US" sz="3200" i="1" dirty="0" err="1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200" baseline="-25000" dirty="0" err="1" smtClean="0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US" altLang="en-US" sz="3200" dirty="0" smtClean="0">
                <a:solidFill>
                  <a:srgbClr val="FF0000"/>
                </a:solidFill>
                <a:sym typeface="Symbol" pitchFamily="18" charset="2"/>
              </a:rPr>
              <a:t>* = </a:t>
            </a:r>
            <a:r>
              <a:rPr lang="en-US" altLang="en-US" sz="3200" i="1" dirty="0" err="1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200" baseline="-25000" dirty="0" err="1" smtClean="0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US" altLang="en-US" sz="3200" dirty="0" smtClean="0">
                <a:solidFill>
                  <a:srgbClr val="FF0000"/>
                </a:solidFill>
                <a:sym typeface="Symbol" pitchFamily="18" charset="2"/>
              </a:rPr>
              <a:t>*(</a:t>
            </a:r>
            <a:r>
              <a:rPr lang="en-US" altLang="en-US" sz="3200" i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en-US" sz="3200" dirty="0" smtClean="0">
                <a:solidFill>
                  <a:srgbClr val="FF0000"/>
                </a:solidFill>
                <a:sym typeface="Symbol" pitchFamily="18" charset="2"/>
              </a:rPr>
              <a:t>)</a:t>
            </a:r>
            <a:endParaRPr lang="en-US" altLang="en-US" dirty="0" smtClean="0">
              <a:solidFill>
                <a:srgbClr val="FF0000"/>
              </a:solidFill>
              <a:sym typeface="Symbol" pitchFamily="18" charset="2"/>
            </a:endParaRPr>
          </a:p>
          <a:p>
            <a:endParaRPr lang="en-US" altLang="en-US" dirty="0" smtClean="0">
              <a:sym typeface="Symbol" pitchFamily="18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75C040-8F5D-47BE-B370-A97794B7F48A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7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Envelope Theorem</a:t>
            </a:r>
          </a:p>
        </p:txBody>
      </p:sp>
      <p:sp>
        <p:nvSpPr>
          <p:cNvPr id="29700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5334000"/>
          </a:xfrm>
        </p:spPr>
        <p:txBody>
          <a:bodyPr/>
          <a:lstStyle/>
          <a:p>
            <a:r>
              <a:rPr lang="en-US" altLang="en-US" dirty="0" smtClean="0">
                <a:sym typeface="Symbol" pitchFamily="18" charset="2"/>
              </a:rPr>
              <a:t>Many-variable case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Substituting into the original objective function gives us the optimal value of </a:t>
            </a:r>
            <a:r>
              <a:rPr lang="en-US" altLang="en-US" i="1" dirty="0" smtClean="0">
                <a:sym typeface="Symbol" pitchFamily="18" charset="2"/>
              </a:rPr>
              <a:t>y</a:t>
            </a:r>
            <a:r>
              <a:rPr lang="en-US" altLang="en-US" dirty="0" smtClean="0">
                <a:sym typeface="Symbol" pitchFamily="18" charset="2"/>
              </a:rPr>
              <a:t> (say, </a:t>
            </a:r>
            <a:r>
              <a:rPr lang="en-US" altLang="en-US" i="1" dirty="0" smtClean="0">
                <a:sym typeface="Symbol" pitchFamily="18" charset="2"/>
              </a:rPr>
              <a:t>y</a:t>
            </a:r>
            <a:r>
              <a:rPr lang="en-US" altLang="en-US" dirty="0" smtClean="0">
                <a:sym typeface="Symbol" pitchFamily="18" charset="2"/>
              </a:rPr>
              <a:t>*), we get the value function: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en-US" altLang="en-US" sz="3000" i="1" dirty="0" smtClean="0">
                <a:solidFill>
                  <a:srgbClr val="FF0000"/>
                </a:solidFill>
                <a:sym typeface="Symbol" pitchFamily="18" charset="2"/>
              </a:rPr>
              <a:t>	y</a:t>
            </a:r>
            <a:r>
              <a:rPr lang="en-US" altLang="en-US" sz="3000" dirty="0" smtClean="0">
                <a:solidFill>
                  <a:srgbClr val="FF0000"/>
                </a:solidFill>
                <a:sym typeface="Symbol" pitchFamily="18" charset="2"/>
              </a:rPr>
              <a:t>* = </a:t>
            </a:r>
            <a:r>
              <a:rPr lang="en-US" altLang="en-US" sz="3000" i="1" dirty="0" smtClean="0">
                <a:solidFill>
                  <a:srgbClr val="FF0000"/>
                </a:solidFill>
                <a:sym typeface="Symbol" pitchFamily="18" charset="2"/>
              </a:rPr>
              <a:t>f </a:t>
            </a:r>
            <a:r>
              <a:rPr lang="en-US" altLang="en-US" sz="3000" dirty="0" smtClean="0">
                <a:solidFill>
                  <a:srgbClr val="FF0000"/>
                </a:solidFill>
                <a:sym typeface="Symbol" pitchFamily="18" charset="2"/>
              </a:rPr>
              <a:t>[</a:t>
            </a:r>
            <a:r>
              <a:rPr lang="en-US" altLang="en-US" sz="3000" i="1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00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altLang="en-US" sz="3000" dirty="0" smtClean="0">
                <a:solidFill>
                  <a:srgbClr val="FF0000"/>
                </a:solidFill>
                <a:sym typeface="Symbol" pitchFamily="18" charset="2"/>
              </a:rPr>
              <a:t>*(</a:t>
            </a:r>
            <a:r>
              <a:rPr lang="en-US" altLang="en-US" sz="3000" i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en-US" sz="3000" dirty="0" smtClean="0">
                <a:solidFill>
                  <a:srgbClr val="FF0000"/>
                </a:solidFill>
                <a:sym typeface="Symbol" pitchFamily="18" charset="2"/>
              </a:rPr>
              <a:t>), </a:t>
            </a:r>
            <a:r>
              <a:rPr lang="en-US" altLang="en-US" sz="3000" i="1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000" baseline="-25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altLang="en-US" sz="3000" dirty="0" smtClean="0">
                <a:solidFill>
                  <a:srgbClr val="FF0000"/>
                </a:solidFill>
                <a:sym typeface="Symbol" pitchFamily="18" charset="2"/>
              </a:rPr>
              <a:t>*(</a:t>
            </a:r>
            <a:r>
              <a:rPr lang="en-US" altLang="en-US" sz="3000" i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en-US" sz="3000" dirty="0" smtClean="0">
                <a:solidFill>
                  <a:srgbClr val="FF0000"/>
                </a:solidFill>
                <a:sym typeface="Symbol" pitchFamily="18" charset="2"/>
              </a:rPr>
              <a:t>),…,</a:t>
            </a:r>
            <a:r>
              <a:rPr lang="en-US" altLang="en-US" sz="3000" i="1" dirty="0" err="1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000" baseline="-25000" dirty="0" err="1" smtClean="0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US" altLang="en-US" sz="3000" dirty="0" smtClean="0">
                <a:solidFill>
                  <a:srgbClr val="FF0000"/>
                </a:solidFill>
                <a:sym typeface="Symbol" pitchFamily="18" charset="2"/>
              </a:rPr>
              <a:t>*(</a:t>
            </a:r>
            <a:r>
              <a:rPr lang="en-US" altLang="en-US" sz="3000" i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en-US" sz="3000" dirty="0" smtClean="0">
                <a:solidFill>
                  <a:srgbClr val="FF0000"/>
                </a:solidFill>
                <a:sym typeface="Symbol" pitchFamily="18" charset="2"/>
              </a:rPr>
              <a:t>),</a:t>
            </a:r>
            <a:r>
              <a:rPr lang="en-US" altLang="en-US" sz="3000" i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en-US" sz="3000" dirty="0" smtClean="0">
                <a:solidFill>
                  <a:srgbClr val="FF0000"/>
                </a:solidFill>
                <a:sym typeface="Symbol" pitchFamily="18" charset="2"/>
              </a:rPr>
              <a:t>]</a:t>
            </a:r>
          </a:p>
          <a:p>
            <a:pPr lvl="1">
              <a:lnSpc>
                <a:spcPct val="120000"/>
              </a:lnSpc>
            </a:pPr>
            <a:r>
              <a:rPr lang="en-US" altLang="en-US" dirty="0" smtClean="0">
                <a:sym typeface="Symbol" pitchFamily="18" charset="2"/>
              </a:rPr>
              <a:t>Differentiating yields</a:t>
            </a:r>
          </a:p>
          <a:p>
            <a:pPr>
              <a:lnSpc>
                <a:spcPct val="90000"/>
              </a:lnSpc>
            </a:pPr>
            <a:endParaRPr lang="en-US" altLang="en-US" dirty="0" smtClean="0">
              <a:solidFill>
                <a:srgbClr val="FF0000"/>
              </a:solidFill>
              <a:sym typeface="Symbol" pitchFamily="18" charset="2"/>
            </a:endParaRPr>
          </a:p>
          <a:p>
            <a:endParaRPr lang="en-US" altLang="en-US" dirty="0" smtClean="0">
              <a:sym typeface="Symbol" pitchFamily="18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FBC5C7-5C4F-4C8E-BBBB-0A659A1E44CF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graphicFrame>
        <p:nvGraphicFramePr>
          <p:cNvPr id="860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397498"/>
              </p:ext>
            </p:extLst>
          </p:nvPr>
        </p:nvGraphicFramePr>
        <p:xfrm>
          <a:off x="1143000" y="4419600"/>
          <a:ext cx="6242050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4" name="Equation" r:id="rId3" imgW="2920680" imgH="914400" progId="Equation.DSMT4">
                  <p:embed/>
                </p:oleObj>
              </mc:Choice>
              <mc:Fallback>
                <p:oleObj name="Equation" r:id="rId3" imgW="292068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19600"/>
                        <a:ext cx="6242050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365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2.7  </a:t>
            </a:r>
            <a:r>
              <a:rPr lang="en-US" altLang="en-US" dirty="0"/>
              <a:t>A Price-Taking Firm’s Supply Function</a:t>
            </a:r>
            <a:endParaRPr lang="en-US" altLang="en-US" dirty="0" smtClean="0"/>
          </a:p>
        </p:txBody>
      </p:sp>
      <p:sp>
        <p:nvSpPr>
          <p:cNvPr id="30725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0A6EAE5D-9003-4373-868B-B9A0D8E07CB5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30724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Cost function 𝐶(𝑞)=5</a:t>
            </a:r>
            <a:r>
              <a:rPr lang="en-US" altLang="en-US" dirty="0" smtClean="0"/>
              <a:t>𝑞</a:t>
            </a:r>
            <a:r>
              <a:rPr lang="en-US" altLang="en-US" baseline="30000" dirty="0" smtClean="0"/>
              <a:t>2</a:t>
            </a:r>
          </a:p>
          <a:p>
            <a:pPr lvl="1"/>
            <a:r>
              <a:rPr lang="en-US" altLang="en-US" dirty="0" smtClean="0"/>
              <a:t>First order </a:t>
            </a:r>
            <a:r>
              <a:rPr lang="en-US" altLang="en-US" dirty="0"/>
              <a:t>condition: 𝑝=</a:t>
            </a:r>
            <a:r>
              <a:rPr lang="en-US" altLang="en-US" dirty="0" smtClean="0"/>
              <a:t>𝐶′ </a:t>
            </a:r>
            <a:r>
              <a:rPr lang="en-US" altLang="en-US" dirty="0"/>
              <a:t>(𝑞)=10𝑞, we get </a:t>
            </a:r>
            <a:r>
              <a:rPr lang="en-US" altLang="en-US" dirty="0" smtClean="0"/>
              <a:t>𝑞</a:t>
            </a:r>
            <a:r>
              <a:rPr lang="en-US" altLang="en-US" baseline="30000" dirty="0" smtClean="0"/>
              <a:t>∗</a:t>
            </a:r>
            <a:r>
              <a:rPr lang="en-US" altLang="en-US" dirty="0"/>
              <a:t>=0.1𝑝</a:t>
            </a:r>
            <a:endParaRPr lang="en-US" altLang="en-US" dirty="0" smtClean="0"/>
          </a:p>
          <a:p>
            <a:r>
              <a:rPr lang="en-US" altLang="en-US" dirty="0" smtClean="0"/>
              <a:t>Alternatively: </a:t>
            </a:r>
          </a:p>
          <a:p>
            <a:pPr lvl="1"/>
            <a:r>
              <a:rPr lang="en-US" altLang="en-US" dirty="0" smtClean="0"/>
              <a:t>Profits are given </a:t>
            </a:r>
            <a:r>
              <a:rPr lang="en-US" altLang="en-US" dirty="0"/>
              <a:t>by: </a:t>
            </a:r>
            <a:r>
              <a:rPr lang="en-US" altLang="en-US" dirty="0" smtClean="0"/>
              <a:t> </a:t>
            </a:r>
            <a:r>
              <a:rPr lang="en-US" altLang="en-US" dirty="0"/>
              <a:t>𝜋(𝑝,𝑞)=𝑝𝑞−𝐶(𝑞)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Calculate the </a:t>
            </a:r>
            <a:r>
              <a:rPr lang="en-US" altLang="en-US" dirty="0"/>
              <a:t>optimal value of the firm’s </a:t>
            </a:r>
            <a:r>
              <a:rPr lang="en-US" altLang="en-US" dirty="0" smtClean="0"/>
              <a:t>profits:</a:t>
            </a:r>
          </a:p>
          <a:p>
            <a:pPr marL="57150" indent="0">
              <a:buNone/>
            </a:pPr>
            <a:r>
              <a:rPr lang="en-US" altLang="en-US" dirty="0" smtClean="0">
                <a:solidFill>
                  <a:srgbClr val="FF0000"/>
                </a:solidFill>
              </a:rPr>
              <a:t>𝜋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∗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(𝑝)=</a:t>
            </a:r>
            <a:r>
              <a:rPr lang="en-US" altLang="en-US" dirty="0" smtClean="0">
                <a:solidFill>
                  <a:srgbClr val="FF0000"/>
                </a:solidFill>
              </a:rPr>
              <a:t>𝑝𝑞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∗</a:t>
            </a:r>
            <a:r>
              <a:rPr lang="en-US" altLang="en-US" dirty="0" smtClean="0">
                <a:solidFill>
                  <a:srgbClr val="FF0000"/>
                </a:solidFill>
              </a:rPr>
              <a:t>−</a:t>
            </a:r>
            <a:r>
              <a:rPr lang="en-US" altLang="en-US" dirty="0">
                <a:solidFill>
                  <a:srgbClr val="FF0000"/>
                </a:solidFill>
              </a:rPr>
              <a:t>𝐶(</a:t>
            </a:r>
            <a:r>
              <a:rPr lang="en-US" altLang="en-US" dirty="0" smtClean="0">
                <a:solidFill>
                  <a:srgbClr val="FF0000"/>
                </a:solidFill>
              </a:rPr>
              <a:t>𝑞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∗</a:t>
            </a:r>
            <a:r>
              <a:rPr lang="en-US" altLang="en-US" dirty="0">
                <a:solidFill>
                  <a:srgbClr val="FF0000"/>
                </a:solidFill>
              </a:rPr>
              <a:t>)=𝑝(0.1𝑝)−5(0.1𝑝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2</a:t>
            </a:r>
            <a:r>
              <a:rPr lang="en-US" altLang="en-US" dirty="0">
                <a:solidFill>
                  <a:srgbClr val="FF0000"/>
                </a:solidFill>
              </a:rPr>
              <a:t>=.05</a:t>
            </a:r>
            <a:r>
              <a:rPr lang="en-US" altLang="en-US" dirty="0" smtClean="0">
                <a:solidFill>
                  <a:srgbClr val="FF0000"/>
                </a:solidFill>
              </a:rPr>
              <a:t>𝑝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2</a:t>
            </a:r>
            <a:endParaRPr lang="en-US" altLang="en-US" baseline="30000" dirty="0">
              <a:solidFill>
                <a:srgbClr val="FF0000"/>
              </a:solidFill>
            </a:endParaRPr>
          </a:p>
          <a:p>
            <a:pPr marL="57150" indent="0">
              <a:buNone/>
            </a:pPr>
            <a:endParaRPr lang="en-US" altLang="en-US" dirty="0" smtClean="0">
              <a:solidFill>
                <a:srgbClr val="FF0000"/>
              </a:solidFill>
            </a:endParaRPr>
          </a:p>
          <a:p>
            <a:pPr marL="514350" indent="-457200"/>
            <a:r>
              <a:rPr lang="en-US" altLang="en-US" dirty="0" smtClean="0"/>
              <a:t>The envelope </a:t>
            </a:r>
            <a:r>
              <a:rPr lang="en-US" altLang="en-US" dirty="0"/>
              <a:t>theorem states </a:t>
            </a:r>
            <a:r>
              <a:rPr lang="en-US" altLang="en-US" dirty="0" smtClean="0"/>
              <a:t>that</a:t>
            </a:r>
          </a:p>
          <a:p>
            <a:pPr marL="514350" indent="-457200"/>
            <a:endParaRPr lang="en-US" altLang="en-US" dirty="0" smtClean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426819"/>
              </p:ext>
            </p:extLst>
          </p:nvPr>
        </p:nvGraphicFramePr>
        <p:xfrm>
          <a:off x="1321467" y="5105400"/>
          <a:ext cx="592354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0" name="Equation" r:id="rId3" imgW="2679480" imgH="482400" progId="Equation.DSMT4">
                  <p:embed/>
                </p:oleObj>
              </mc:Choice>
              <mc:Fallback>
                <p:oleObj name="Equation" r:id="rId3" imgW="2679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1467" y="5105400"/>
                        <a:ext cx="5923548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383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Constrained Maximization</a:t>
            </a:r>
          </a:p>
        </p:txBody>
      </p:sp>
      <p:sp>
        <p:nvSpPr>
          <p:cNvPr id="1054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What if all values for the </a:t>
            </a:r>
            <a:r>
              <a:rPr lang="en-US" altLang="en-US" i="1" smtClean="0"/>
              <a:t>x</a:t>
            </a:r>
            <a:r>
              <a:rPr lang="en-US" altLang="en-US" smtClean="0"/>
              <a:t>’s are not feasible?</a:t>
            </a:r>
          </a:p>
          <a:p>
            <a:pPr lvl="1"/>
            <a:r>
              <a:rPr lang="en-US" altLang="en-US" smtClean="0"/>
              <a:t>The values of </a:t>
            </a:r>
            <a:r>
              <a:rPr lang="en-US" altLang="en-US" i="1" smtClean="0"/>
              <a:t>x</a:t>
            </a:r>
            <a:r>
              <a:rPr lang="en-US" altLang="en-US" smtClean="0"/>
              <a:t> may all have to be &gt; 0</a:t>
            </a:r>
          </a:p>
          <a:p>
            <a:pPr lvl="1"/>
            <a:r>
              <a:rPr lang="en-US" altLang="en-US" smtClean="0"/>
              <a:t>A consumer’s choices are limited by the amount of purchasing power available</a:t>
            </a:r>
          </a:p>
          <a:p>
            <a:r>
              <a:rPr lang="en-US" altLang="en-US" u="sng" smtClean="0"/>
              <a:t>Lagrange multiplier method</a:t>
            </a:r>
          </a:p>
          <a:p>
            <a:pPr lvl="1"/>
            <a:r>
              <a:rPr lang="en-US" altLang="en-US" smtClean="0"/>
              <a:t>One method used to solve constrained maximization problems</a:t>
            </a:r>
          </a:p>
          <a:p>
            <a:endParaRPr lang="en-US" alt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8B91895-82D3-438E-B418-0A5E9226F441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Lagrange Multiplier Method</a:t>
            </a:r>
          </a:p>
        </p:txBody>
      </p:sp>
      <p:sp>
        <p:nvSpPr>
          <p:cNvPr id="1064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Lagrange multiplier method</a:t>
            </a:r>
          </a:p>
          <a:p>
            <a:pPr lvl="1"/>
            <a:r>
              <a:rPr lang="en-US" altLang="en-US" dirty="0" smtClean="0"/>
              <a:t>Suppose that we wish to find the values of </a:t>
            </a:r>
            <a:r>
              <a:rPr lang="en-US" altLang="en-US" i="1" dirty="0" smtClean="0"/>
              <a:t>x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x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,…, </a:t>
            </a:r>
            <a:r>
              <a:rPr lang="en-US" altLang="en-US" i="1" dirty="0" err="1" smtClean="0"/>
              <a:t>x</a:t>
            </a:r>
            <a:r>
              <a:rPr lang="en-US" altLang="en-US" baseline="-25000" dirty="0" err="1" smtClean="0"/>
              <a:t>n</a:t>
            </a:r>
            <a:r>
              <a:rPr lang="en-US" altLang="en-US" dirty="0" smtClean="0"/>
              <a:t> that maximize: </a:t>
            </a:r>
            <a:r>
              <a:rPr lang="en-US" altLang="en-US" dirty="0">
                <a:solidFill>
                  <a:srgbClr val="FF0000"/>
                </a:solidFill>
              </a:rPr>
              <a:t>𝑦 = 𝑓(𝑥</a:t>
            </a:r>
            <a:r>
              <a:rPr lang="en-US" altLang="en-US" baseline="-25000" dirty="0">
                <a:solidFill>
                  <a:srgbClr val="FF0000"/>
                </a:solidFill>
              </a:rPr>
              <a:t>1</a:t>
            </a:r>
            <a:r>
              <a:rPr lang="en-US" altLang="en-US" dirty="0">
                <a:solidFill>
                  <a:srgbClr val="FF0000"/>
                </a:solidFill>
              </a:rPr>
              <a:t>, 𝑥</a:t>
            </a:r>
            <a:r>
              <a:rPr lang="en-US" altLang="en-US" baseline="-25000" dirty="0">
                <a:solidFill>
                  <a:srgbClr val="FF0000"/>
                </a:solidFill>
              </a:rPr>
              <a:t>2</a:t>
            </a:r>
            <a:r>
              <a:rPr lang="en-US" altLang="en-US" dirty="0">
                <a:solidFill>
                  <a:srgbClr val="FF0000"/>
                </a:solidFill>
              </a:rPr>
              <a:t>,…, 𝑥</a:t>
            </a:r>
            <a:r>
              <a:rPr lang="en-US" altLang="en-US" baseline="-25000" dirty="0">
                <a:solidFill>
                  <a:srgbClr val="FF0000"/>
                </a:solidFill>
              </a:rPr>
              <a:t>𝑛</a:t>
            </a:r>
            <a:r>
              <a:rPr lang="en-US" altLang="en-US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en-US" dirty="0" smtClean="0"/>
              <a:t>Subject to a constraint: </a:t>
            </a:r>
            <a:r>
              <a:rPr lang="en-US" altLang="en-US" dirty="0">
                <a:solidFill>
                  <a:srgbClr val="FF0000"/>
                </a:solidFill>
              </a:rPr>
              <a:t>𝑔(𝑥</a:t>
            </a:r>
            <a:r>
              <a:rPr lang="en-US" altLang="en-US" baseline="-25000" dirty="0">
                <a:solidFill>
                  <a:srgbClr val="FF0000"/>
                </a:solidFill>
              </a:rPr>
              <a:t>1</a:t>
            </a:r>
            <a:r>
              <a:rPr lang="en-US" altLang="en-US" dirty="0">
                <a:solidFill>
                  <a:srgbClr val="FF0000"/>
                </a:solidFill>
              </a:rPr>
              <a:t>, 𝑥</a:t>
            </a:r>
            <a:r>
              <a:rPr lang="en-US" altLang="en-US" baseline="-25000" dirty="0">
                <a:solidFill>
                  <a:srgbClr val="FF0000"/>
                </a:solidFill>
              </a:rPr>
              <a:t>2</a:t>
            </a:r>
            <a:r>
              <a:rPr lang="en-US" altLang="en-US" dirty="0">
                <a:solidFill>
                  <a:srgbClr val="FF0000"/>
                </a:solidFill>
              </a:rPr>
              <a:t>,…, 𝑥</a:t>
            </a:r>
            <a:r>
              <a:rPr lang="en-US" altLang="en-US" baseline="-25000" dirty="0">
                <a:solidFill>
                  <a:srgbClr val="FF0000"/>
                </a:solidFill>
              </a:rPr>
              <a:t>𝑛</a:t>
            </a:r>
            <a:r>
              <a:rPr lang="en-US" altLang="en-US" dirty="0">
                <a:solidFill>
                  <a:srgbClr val="FF0000"/>
                </a:solidFill>
              </a:rPr>
              <a:t>) = </a:t>
            </a:r>
            <a:r>
              <a:rPr lang="en-US" altLang="en-US" dirty="0" smtClean="0">
                <a:solidFill>
                  <a:srgbClr val="FF0000"/>
                </a:solidFill>
              </a:rPr>
              <a:t>0</a:t>
            </a:r>
          </a:p>
          <a:p>
            <a:r>
              <a:rPr lang="en-US" altLang="en-US" dirty="0" smtClean="0"/>
              <a:t>The Lagrangian expression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ℒ = 𝑓(𝑥</a:t>
            </a:r>
            <a:r>
              <a:rPr lang="en-US" altLang="en-US" baseline="-25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1</a:t>
            </a:r>
            <a:r>
              <a:rPr lang="en-US" altLang="en-US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, 𝑥</a:t>
            </a:r>
            <a:r>
              <a:rPr lang="en-US" altLang="en-US" baseline="-25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2</a:t>
            </a:r>
            <a:r>
              <a:rPr lang="en-US" altLang="en-US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,…, 𝑥</a:t>
            </a:r>
            <a:r>
              <a:rPr lang="en-US" altLang="en-US" baseline="-25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𝑛</a:t>
            </a:r>
            <a:r>
              <a:rPr lang="en-US" altLang="en-US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 ) + </a:t>
            </a:r>
            <a:r>
              <a:rPr lang="en-US" altLang="en-US" dirty="0">
                <a:sym typeface="Symbol" pitchFamily="18" charset="2"/>
              </a:rPr>
              <a:t> </a:t>
            </a:r>
            <a:r>
              <a:rPr lang="en-US" altLang="en-US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𝑔</a:t>
            </a:r>
            <a:r>
              <a:rPr lang="en-US" altLang="en-US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(𝑥</a:t>
            </a:r>
            <a:r>
              <a:rPr lang="en-US" altLang="en-US" baseline="-25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1</a:t>
            </a:r>
            <a:r>
              <a:rPr lang="en-US" altLang="en-US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, 𝑥</a:t>
            </a:r>
            <a:r>
              <a:rPr lang="en-US" altLang="en-US" baseline="-25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2</a:t>
            </a:r>
            <a:r>
              <a:rPr lang="en-US" altLang="en-US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,…, 𝑥</a:t>
            </a:r>
            <a:r>
              <a:rPr lang="en-US" altLang="en-US" baseline="-25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𝑛</a:t>
            </a:r>
            <a:r>
              <a:rPr lang="en-US" altLang="en-US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) 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 is called the Lagrange multiplier</a:t>
            </a:r>
          </a:p>
          <a:p>
            <a:pPr lvl="1"/>
            <a:r>
              <a:rPr lang="en-US" alt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ℒ</a:t>
            </a:r>
            <a:r>
              <a:rPr lang="en-US" altLang="en-US" dirty="0" smtClean="0">
                <a:sym typeface="Math Ext"/>
              </a:rPr>
              <a:t> </a:t>
            </a:r>
            <a:r>
              <a:rPr lang="en-US" altLang="en-US" dirty="0">
                <a:sym typeface="Math Ext"/>
              </a:rPr>
              <a:t>= 𝑓</a:t>
            </a:r>
            <a:r>
              <a:rPr lang="en-US" altLang="en-US" i="1" dirty="0">
                <a:sym typeface="Math Ext"/>
              </a:rPr>
              <a:t>, </a:t>
            </a:r>
            <a:r>
              <a:rPr lang="en-US" altLang="en-US" dirty="0" smtClean="0">
                <a:sym typeface="Math Ext"/>
              </a:rPr>
              <a:t>b</a:t>
            </a:r>
            <a:r>
              <a:rPr lang="en-US" altLang="en-US" dirty="0">
                <a:sym typeface="Symbol" pitchFamily="18" charset="2"/>
              </a:rPr>
              <a:t>ecause 𝑔(𝑥</a:t>
            </a:r>
            <a:r>
              <a:rPr lang="en-US" altLang="en-US" baseline="-25000" dirty="0">
                <a:sym typeface="Symbol" pitchFamily="18" charset="2"/>
              </a:rPr>
              <a:t>1</a:t>
            </a:r>
            <a:r>
              <a:rPr lang="en-US" altLang="en-US" dirty="0">
                <a:sym typeface="Symbol" pitchFamily="18" charset="2"/>
              </a:rPr>
              <a:t>, 𝑥</a:t>
            </a:r>
            <a:r>
              <a:rPr lang="en-US" altLang="en-US" baseline="-25000" dirty="0">
                <a:sym typeface="Symbol" pitchFamily="18" charset="2"/>
              </a:rPr>
              <a:t>2</a:t>
            </a:r>
            <a:r>
              <a:rPr lang="en-US" altLang="en-US" dirty="0">
                <a:sym typeface="Symbol" pitchFamily="18" charset="2"/>
              </a:rPr>
              <a:t>,…, 𝑥</a:t>
            </a:r>
            <a:r>
              <a:rPr lang="en-US" altLang="en-US" baseline="-25000" dirty="0">
                <a:sym typeface="Symbol" pitchFamily="18" charset="2"/>
              </a:rPr>
              <a:t>𝑛</a:t>
            </a:r>
            <a:r>
              <a:rPr lang="en-US" altLang="en-US" dirty="0">
                <a:sym typeface="Symbol" pitchFamily="18" charset="2"/>
              </a:rPr>
              <a:t>) = </a:t>
            </a:r>
            <a:r>
              <a:rPr lang="en-US" altLang="en-US" dirty="0" smtClean="0">
                <a:sym typeface="Symbol" pitchFamily="18" charset="2"/>
              </a:rPr>
              <a:t>0</a:t>
            </a:r>
            <a:endParaRPr lang="en-US" altLang="en-US" dirty="0">
              <a:sym typeface="Symbol" pitchFamily="18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2D1CF4-C77D-47BB-83DA-61B62C753DED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4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Lagrange Multiplier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2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en-US" dirty="0" smtClean="0"/>
                  <a:t>First-order conditions </a:t>
                </a:r>
              </a:p>
              <a:p>
                <a:pPr lvl="1"/>
                <a:r>
                  <a:rPr lang="en-US" altLang="en-US" dirty="0" smtClean="0"/>
                  <a:t>Conditions for a critical point for function </a:t>
                </a:r>
                <a14:m>
                  <m:oMath xmlns:m="http://schemas.openxmlformats.org/officeDocument/2006/math">
                    <m:r>
                      <a:rPr lang="en-US" altLang="en-US" b="1" i="1" dirty="0" smtClean="0">
                        <a:latin typeface="Cambria Math"/>
                        <a:ea typeface="Arial Unicode MS" pitchFamily="34" charset="-128"/>
                        <a:cs typeface="Arial Unicode MS" pitchFamily="34" charset="-128"/>
                        <a:sym typeface="Math Ext"/>
                      </a:rPr>
                      <m:t>ℒ</m:t>
                    </m:r>
                  </m:oMath>
                </a14:m>
                <a:r>
                  <a:rPr lang="en-US" altLang="en-US" dirty="0" smtClean="0"/>
                  <a:t> </a:t>
                </a:r>
              </a:p>
              <a:p>
                <a:pPr lvl="2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sz="3200" b="1" i="1" dirty="0" smtClean="0">
                          <a:solidFill>
                            <a:srgbClr val="FF0000"/>
                          </a:solidFill>
                          <a:latin typeface="Cambria Math"/>
                          <a:ea typeface="Arial Unicode MS" pitchFamily="34" charset="-128"/>
                          <a:cs typeface="Arial Unicode MS" pitchFamily="34" charset="-128"/>
                          <a:sym typeface="Math Ext"/>
                        </a:rPr>
                        <m:t>ℒ</m:t>
                      </m:r>
                      <m:r>
                        <a:rPr lang="en-US" altLang="en-US" sz="3200" b="1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 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/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1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𝑓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1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+ 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𝑔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1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0</m:t>
                      </m:r>
                    </m:oMath>
                  </m:oMathPara>
                </a14:m>
                <a:endParaRPr lang="en-US" altLang="en-US" sz="32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2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sz="3200" b="1" i="1" dirty="0" smtClean="0">
                          <a:solidFill>
                            <a:srgbClr val="FF0000"/>
                          </a:solidFill>
                          <a:latin typeface="Cambria Math"/>
                          <a:ea typeface="Arial Unicode MS" pitchFamily="34" charset="-128"/>
                          <a:cs typeface="Arial Unicode MS" pitchFamily="34" charset="-128"/>
                          <a:sym typeface="Math Ext"/>
                        </a:rPr>
                        <m:t>ℒ</m:t>
                      </m:r>
                      <m:r>
                        <a:rPr lang="en-US" altLang="en-US" sz="3200" b="1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 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/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2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𝑓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2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+ 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𝑔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2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0</m:t>
                      </m:r>
                    </m:oMath>
                  </m:oMathPara>
                </a14:m>
                <a:endParaRPr lang="en-US" altLang="en-US" sz="32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2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…</m:t>
                      </m:r>
                    </m:oMath>
                  </m:oMathPara>
                </a14:m>
                <a:endParaRPr lang="en-US" altLang="en-US" sz="32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2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sz="3200" b="1" i="1" dirty="0" smtClean="0">
                          <a:solidFill>
                            <a:srgbClr val="FF0000"/>
                          </a:solidFill>
                          <a:latin typeface="Cambria Math"/>
                          <a:ea typeface="Arial Unicode MS" pitchFamily="34" charset="-128"/>
                          <a:cs typeface="Arial Unicode MS" pitchFamily="34" charset="-128"/>
                          <a:sym typeface="Math Ext"/>
                        </a:rPr>
                        <m:t>ℒ</m:t>
                      </m:r>
                      <m:r>
                        <a:rPr lang="en-US" altLang="en-US" sz="3200" b="1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 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/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sz="3200" i="1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sz="3200" i="1" baseline="-25000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𝑛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</m:t>
                      </m:r>
                      <m:r>
                        <a:rPr lang="en-US" altLang="en-US" sz="3200" i="1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𝑓</m:t>
                      </m:r>
                      <m:r>
                        <a:rPr lang="en-US" altLang="en-US" sz="3200" i="1" baseline="-25000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𝑛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+ </m:t>
                      </m:r>
                      <m:r>
                        <a:rPr lang="en-US" altLang="en-US" sz="3200" i="1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𝑔</m:t>
                      </m:r>
                      <m:r>
                        <a:rPr lang="en-US" altLang="en-US" sz="3200" i="1" baseline="-25000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𝑛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0</m:t>
                      </m:r>
                    </m:oMath>
                  </m:oMathPara>
                </a14:m>
                <a:endParaRPr lang="en-US" altLang="en-US" sz="32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2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sz="3200" b="1" i="1" dirty="0" smtClean="0">
                          <a:solidFill>
                            <a:srgbClr val="FF0000"/>
                          </a:solidFill>
                          <a:latin typeface="Cambria Math"/>
                          <a:ea typeface="Arial Unicode MS" pitchFamily="34" charset="-128"/>
                          <a:cs typeface="Arial Unicode MS" pitchFamily="34" charset="-128"/>
                          <a:sym typeface="Math Ext"/>
                        </a:rPr>
                        <m:t>ℒ</m:t>
                      </m:r>
                      <m:r>
                        <a:rPr lang="en-US" altLang="en-US" sz="3200" b="1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 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/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 = 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𝑔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(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1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, 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2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,…, </m:t>
                      </m:r>
                      <m:r>
                        <a:rPr lang="en-US" altLang="en-US" sz="3200" i="1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sz="3200" i="1" baseline="-25000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𝑛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) = 0</m:t>
                      </m:r>
                    </m:oMath>
                  </m:oMathPara>
                </a14:m>
                <a:endParaRPr lang="en-US" altLang="en-US" sz="3200" dirty="0" smtClean="0">
                  <a:solidFill>
                    <a:srgbClr val="FF0000"/>
                  </a:solidFill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0752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8D622D-C8B3-4FA1-AEED-095A76315E73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6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Lagrange Multiplier Method</a:t>
            </a:r>
          </a:p>
        </p:txBody>
      </p:sp>
      <p:sp>
        <p:nvSpPr>
          <p:cNvPr id="1085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First-order conditions </a:t>
            </a:r>
          </a:p>
          <a:p>
            <a:pPr lvl="1"/>
            <a:r>
              <a:rPr lang="en-US" altLang="en-US" smtClean="0"/>
              <a:t>Can generally be solved for </a:t>
            </a:r>
            <a:r>
              <a:rPr lang="en-US" altLang="en-US" i="1" smtClean="0"/>
              <a:t>x</a:t>
            </a:r>
            <a:r>
              <a:rPr lang="en-US" altLang="en-US" baseline="-25000" smtClean="0"/>
              <a:t>1</a:t>
            </a:r>
            <a:r>
              <a:rPr lang="en-US" altLang="en-US" smtClean="0"/>
              <a:t>, </a:t>
            </a:r>
            <a:r>
              <a:rPr lang="en-US" altLang="en-US" i="1" smtClean="0"/>
              <a:t>x</a:t>
            </a:r>
            <a:r>
              <a:rPr lang="en-US" altLang="en-US" baseline="-25000" smtClean="0"/>
              <a:t>2</a:t>
            </a:r>
            <a:r>
              <a:rPr lang="en-US" altLang="en-US" smtClean="0"/>
              <a:t>,…, </a:t>
            </a:r>
            <a:r>
              <a:rPr lang="en-US" altLang="en-US" i="1" smtClean="0"/>
              <a:t>x</a:t>
            </a:r>
            <a:r>
              <a:rPr lang="en-US" altLang="en-US" baseline="-25000" smtClean="0"/>
              <a:t>n</a:t>
            </a:r>
            <a:r>
              <a:rPr lang="en-US" altLang="en-US" smtClean="0"/>
              <a:t> and </a:t>
            </a:r>
            <a:r>
              <a:rPr lang="en-US" altLang="en-US" smtClean="0">
                <a:sym typeface="Symbol" pitchFamily="18" charset="2"/>
              </a:rPr>
              <a:t></a:t>
            </a:r>
          </a:p>
          <a:p>
            <a:pPr lvl="1"/>
            <a:r>
              <a:rPr lang="en-US" altLang="en-US" smtClean="0">
                <a:sym typeface="Symbol" pitchFamily="18" charset="2"/>
              </a:rPr>
              <a:t>The solution will have two properties:</a:t>
            </a:r>
          </a:p>
          <a:p>
            <a:pPr lvl="2"/>
            <a:r>
              <a:rPr lang="en-US" altLang="en-US" smtClean="0">
                <a:sym typeface="Symbol" pitchFamily="18" charset="2"/>
              </a:rPr>
              <a:t>The </a:t>
            </a:r>
            <a:r>
              <a:rPr lang="en-US" altLang="en-US" i="1" smtClean="0">
                <a:sym typeface="Symbol" pitchFamily="18" charset="2"/>
              </a:rPr>
              <a:t>x</a:t>
            </a:r>
            <a:r>
              <a:rPr lang="en-US" altLang="en-US" smtClean="0">
                <a:sym typeface="Symbol" pitchFamily="18" charset="2"/>
              </a:rPr>
              <a:t>’s will obey the constraint</a:t>
            </a:r>
          </a:p>
          <a:p>
            <a:pPr lvl="2"/>
            <a:r>
              <a:rPr lang="en-US" altLang="en-US" smtClean="0">
                <a:sym typeface="Symbol" pitchFamily="18" charset="2"/>
              </a:rPr>
              <a:t>These </a:t>
            </a:r>
            <a:r>
              <a:rPr lang="en-US" altLang="en-US" i="1" smtClean="0">
                <a:sym typeface="Symbol" pitchFamily="18" charset="2"/>
              </a:rPr>
              <a:t>x</a:t>
            </a:r>
            <a:r>
              <a:rPr lang="en-US" altLang="en-US" smtClean="0">
                <a:sym typeface="Symbol" pitchFamily="18" charset="2"/>
              </a:rPr>
              <a:t>’s will make the value of </a:t>
            </a:r>
            <a:r>
              <a:rPr lang="en-US" altLang="en-US" b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Math Ext"/>
              </a:rPr>
              <a:t>ℒ</a:t>
            </a:r>
            <a:r>
              <a:rPr lang="en-US" altLang="en-US" smtClean="0">
                <a:sym typeface="Symbol" pitchFamily="18" charset="2"/>
              </a:rPr>
              <a:t> (and therefore </a:t>
            </a:r>
            <a:r>
              <a:rPr lang="en-US" altLang="en-US" i="1" smtClean="0">
                <a:sym typeface="Symbol" pitchFamily="18" charset="2"/>
              </a:rPr>
              <a:t>f</a:t>
            </a:r>
            <a:r>
              <a:rPr lang="en-US" altLang="en-US" smtClean="0">
                <a:sym typeface="Symbol" pitchFamily="18" charset="2"/>
              </a:rPr>
              <a:t>) as large as possible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C6A3BC-65C6-4AA6-B3EC-12F105C14A15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59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Lagrange Multiplier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The Lagrange multiplier (</a:t>
                </a:r>
                <a:r>
                  <a:rPr lang="en-US" altLang="en-US" dirty="0" smtClean="0">
                    <a:sym typeface="Symbol" pitchFamily="18" charset="2"/>
                  </a:rPr>
                  <a:t></a:t>
                </a:r>
                <a:r>
                  <a:rPr lang="en-US" altLang="en-US" dirty="0" smtClean="0"/>
                  <a:t>) </a:t>
                </a:r>
              </a:p>
              <a:p>
                <a:pPr lvl="1"/>
                <a:r>
                  <a:rPr lang="en-US" altLang="en-US" dirty="0" smtClean="0"/>
                  <a:t>Important economic interpretation</a:t>
                </a:r>
              </a:p>
              <a:p>
                <a:pPr lvl="1"/>
                <a:r>
                  <a:rPr lang="en-US" altLang="en-US" dirty="0" smtClean="0"/>
                  <a:t>The first-order conditions imply that</a:t>
                </a:r>
              </a:p>
              <a:p>
                <a:pPr>
                  <a:lnSpc>
                    <a:spcPct val="120000"/>
                  </a:lnSpc>
                  <a:buFontTx/>
                  <a:buNone/>
                </a:pPr>
                <a:r>
                  <a:rPr lang="en-US" altLang="en-US" sz="2800" i="1" dirty="0" smtClean="0">
                    <a:solidFill>
                      <a:srgbClr val="FF0000"/>
                    </a:solidFill>
                    <a:sym typeface="Symbol" pitchFamily="18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1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/−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𝑔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1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= 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/−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𝑔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=…= </m:t>
                    </m:r>
                    <m:r>
                      <a:rPr lang="en-US" altLang="en-US" sz="2800" i="1" dirty="0" err="1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𝑓</m:t>
                    </m:r>
                    <m:r>
                      <a:rPr lang="en-US" altLang="en-US" sz="2800" i="1" baseline="-25000" dirty="0" err="1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𝑛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/−</m:t>
                    </m:r>
                    <m:r>
                      <a:rPr lang="en-US" altLang="en-US" sz="2800" i="1" dirty="0" err="1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𝑔</m:t>
                    </m:r>
                    <m:r>
                      <a:rPr lang="en-US" altLang="en-US" sz="2800" i="1" baseline="-25000" dirty="0" err="1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𝑛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= </m:t>
                    </m:r>
                  </m:oMath>
                </a14:m>
                <a:endParaRPr lang="en-US" altLang="en-US" sz="28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2"/>
                <a:r>
                  <a:rPr lang="en-US" altLang="en-US" dirty="0" smtClean="0">
                    <a:sym typeface="Symbol" pitchFamily="18" charset="2"/>
                  </a:rPr>
                  <a:t>The numerators measure the marginal benefit of one more unit of </a:t>
                </a:r>
                <a:r>
                  <a:rPr lang="en-US" altLang="en-US" i="1" dirty="0" smtClean="0">
                    <a:sym typeface="Symbol" pitchFamily="18" charset="2"/>
                  </a:rPr>
                  <a:t>x</a:t>
                </a:r>
                <a:r>
                  <a:rPr lang="en-US" altLang="en-US" baseline="-25000" dirty="0" smtClean="0">
                    <a:sym typeface="Symbol" pitchFamily="18" charset="2"/>
                  </a:rPr>
                  <a:t>i</a:t>
                </a:r>
                <a:r>
                  <a:rPr lang="en-US" altLang="en-US" dirty="0" smtClean="0">
                    <a:sym typeface="Symbol" pitchFamily="18" charset="2"/>
                  </a:rPr>
                  <a:t> </a:t>
                </a:r>
              </a:p>
              <a:p>
                <a:pPr lvl="2"/>
                <a:r>
                  <a:rPr lang="en-US" altLang="en-US" dirty="0" smtClean="0">
                    <a:sym typeface="Symbol" pitchFamily="18" charset="2"/>
                  </a:rPr>
                  <a:t>The denominators reflect the added burden on the constraint of using more </a:t>
                </a:r>
                <a:r>
                  <a:rPr lang="en-US" altLang="en-US" i="1" dirty="0" smtClean="0">
                    <a:sym typeface="Symbol" pitchFamily="18" charset="2"/>
                  </a:rPr>
                  <a:t>x</a:t>
                </a:r>
                <a:r>
                  <a:rPr lang="en-US" altLang="en-US" baseline="-25000" dirty="0" smtClean="0">
                    <a:sym typeface="Symbol" pitchFamily="18" charset="2"/>
                  </a:rPr>
                  <a:t>i</a:t>
                </a:r>
                <a:endParaRPr lang="en-US" altLang="en-US" dirty="0" smtClean="0"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0957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882" r="-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B29965-1172-46E8-8473-A947A78B3ABA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3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Lagrange Multiplier Method</a:t>
            </a:r>
          </a:p>
        </p:txBody>
      </p:sp>
      <p:sp>
        <p:nvSpPr>
          <p:cNvPr id="3174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Lagrange multiplier (</a:t>
            </a:r>
            <a:r>
              <a:rPr lang="en-US" altLang="en-US" dirty="0" smtClean="0">
                <a:sym typeface="Symbol" pitchFamily="18" charset="2"/>
              </a:rPr>
              <a:t></a:t>
            </a:r>
            <a:r>
              <a:rPr lang="en-US" altLang="en-US" dirty="0" smtClean="0"/>
              <a:t>) </a:t>
            </a:r>
          </a:p>
          <a:p>
            <a:pPr lvl="1"/>
            <a:r>
              <a:rPr lang="en-US" altLang="en-US" dirty="0" smtClean="0"/>
              <a:t>At the optimal </a:t>
            </a:r>
            <a:r>
              <a:rPr lang="en-US" altLang="en-US" i="1" dirty="0" smtClean="0"/>
              <a:t>x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’s, the ratio of the marginal benefit to the marginal cost of </a:t>
            </a:r>
            <a:r>
              <a:rPr lang="en-US" altLang="en-US" i="1" dirty="0" smtClean="0"/>
              <a:t>x</a:t>
            </a:r>
            <a:r>
              <a:rPr lang="en-US" altLang="en-US" baseline="-25000" dirty="0" smtClean="0"/>
              <a:t>i</a:t>
            </a:r>
            <a:r>
              <a:rPr lang="en-US" altLang="en-US" dirty="0" smtClean="0"/>
              <a:t> should be the same for every </a:t>
            </a:r>
            <a:r>
              <a:rPr lang="en-US" altLang="en-US" i="1" dirty="0" smtClean="0"/>
              <a:t>x</a:t>
            </a:r>
            <a:r>
              <a:rPr lang="en-US" altLang="en-US" i="1" baseline="-25000" dirty="0" smtClean="0"/>
              <a:t>i</a:t>
            </a:r>
            <a:endParaRPr lang="en-US" altLang="en-US" dirty="0" smtClean="0"/>
          </a:p>
          <a:p>
            <a:pPr lvl="1"/>
            <a:r>
              <a:rPr lang="en-US" altLang="en-US" dirty="0" smtClean="0">
                <a:sym typeface="Symbol" pitchFamily="18" charset="2"/>
              </a:rPr>
              <a:t> is the common cost-benefit ratio for all 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i="1" baseline="-25000" dirty="0" smtClean="0">
                <a:sym typeface="Symbol" pitchFamily="18" charset="2"/>
              </a:rPr>
              <a:t>i</a:t>
            </a:r>
            <a:endParaRPr lang="en-US" altLang="en-US" dirty="0" smtClean="0">
              <a:sym typeface="Symbol" pitchFamily="18" charset="2"/>
            </a:endParaRPr>
          </a:p>
          <a:p>
            <a:endParaRPr lang="en-US" altLang="en-US" dirty="0" smtClean="0">
              <a:sym typeface="Symbol" pitchFamily="18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13D6CC-3347-4557-8029-F530C0EAE2B8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graphicFrame>
        <p:nvGraphicFramePr>
          <p:cNvPr id="94212" name="Object 2"/>
          <p:cNvGraphicFramePr>
            <a:graphicFrameLocks noChangeAspect="1"/>
          </p:cNvGraphicFramePr>
          <p:nvPr/>
        </p:nvGraphicFramePr>
        <p:xfrm>
          <a:off x="1203325" y="4108450"/>
          <a:ext cx="4416425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1" name="Equation" r:id="rId3" imgW="1625400" imgH="431640" progId="Equation.DSMT4">
                  <p:embed/>
                </p:oleObj>
              </mc:Choice>
              <mc:Fallback>
                <p:oleObj name="Equation" r:id="rId3" imgW="1625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4108450"/>
                        <a:ext cx="4416425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598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Lagrange Multiplier Method</a:t>
            </a:r>
          </a:p>
        </p:txBody>
      </p:sp>
      <p:sp>
        <p:nvSpPr>
          <p:cNvPr id="1105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Lagrange multiplier (</a:t>
            </a:r>
            <a:r>
              <a:rPr lang="en-US" altLang="en-US" dirty="0" smtClean="0">
                <a:sym typeface="Symbol" pitchFamily="18" charset="2"/>
              </a:rPr>
              <a:t></a:t>
            </a:r>
            <a:r>
              <a:rPr lang="en-US" altLang="en-US" dirty="0" smtClean="0"/>
              <a:t>) 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A high value of  indicates that </a:t>
            </a:r>
            <a:r>
              <a:rPr lang="en-US" altLang="en-US" dirty="0" smtClean="0"/>
              <a:t>each </a:t>
            </a:r>
            <a:r>
              <a:rPr lang="en-US" altLang="en-US" i="1" dirty="0" smtClean="0"/>
              <a:t>x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 has a high cost-benefit ratio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A low value of  indicates that </a:t>
            </a:r>
            <a:r>
              <a:rPr lang="en-US" altLang="en-US" dirty="0" smtClean="0"/>
              <a:t>each </a:t>
            </a:r>
            <a:r>
              <a:rPr lang="en-US" altLang="en-US" i="1" dirty="0" smtClean="0"/>
              <a:t>x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 has a low cost-benefit ratio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 = 0 implies that the constraint is not binding</a:t>
            </a:r>
          </a:p>
          <a:p>
            <a:pPr lvl="1"/>
            <a:endParaRPr lang="en-US" altLang="en-US" dirty="0" smtClean="0">
              <a:sym typeface="Symbol" pitchFamily="18" charset="2"/>
            </a:endParaRPr>
          </a:p>
          <a:p>
            <a:endParaRPr lang="en-US" altLang="en-US" dirty="0" smtClean="0">
              <a:sym typeface="Symbol" pitchFamily="18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ACD829-2032-482B-BB89-FD65AED0B4AA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6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Constrained Maximization</a:t>
            </a:r>
          </a:p>
        </p:txBody>
      </p:sp>
      <p:sp>
        <p:nvSpPr>
          <p:cNvPr id="1116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Duality</a:t>
            </a:r>
          </a:p>
          <a:p>
            <a:pPr lvl="1"/>
            <a:r>
              <a:rPr lang="en-US" altLang="en-US" dirty="0" smtClean="0"/>
              <a:t>Any constrained maximization problem has a </a:t>
            </a:r>
            <a:r>
              <a:rPr lang="en-US" altLang="en-US" u="sng" dirty="0" smtClean="0"/>
              <a:t>dual</a:t>
            </a:r>
            <a:r>
              <a:rPr lang="en-US" altLang="en-US" dirty="0" smtClean="0"/>
              <a:t> problem in constrained </a:t>
            </a:r>
            <a:r>
              <a:rPr lang="en-US" altLang="en-US" u="sng" dirty="0" smtClean="0"/>
              <a:t>minimization</a:t>
            </a:r>
            <a:r>
              <a:rPr lang="en-US" altLang="en-US" dirty="0" smtClean="0"/>
              <a:t> </a:t>
            </a:r>
          </a:p>
          <a:p>
            <a:pPr lvl="2"/>
            <a:r>
              <a:rPr lang="en-US" altLang="en-US" dirty="0" smtClean="0"/>
              <a:t>Focuses attention on the constraints in the original (primal) problem</a:t>
            </a:r>
            <a:endParaRPr lang="en-US" altLang="en-US" u="sng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4B60CA-547D-47FF-855C-6B6BC417AFD4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Constrained Maximization</a:t>
            </a:r>
          </a:p>
        </p:txBody>
      </p:sp>
      <p:sp>
        <p:nvSpPr>
          <p:cNvPr id="1126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Individuals maximize utility subject to a budget constraint</a:t>
            </a:r>
          </a:p>
          <a:p>
            <a:pPr lvl="1"/>
            <a:r>
              <a:rPr lang="en-US" altLang="en-US" smtClean="0"/>
              <a:t>Dual problem: individuals minimize the expenditure needed to achieve a given level of utility</a:t>
            </a:r>
          </a:p>
          <a:p>
            <a:r>
              <a:rPr lang="en-US" altLang="en-US" smtClean="0"/>
              <a:t>Firms minimize the cost of inputs to produce a given level of output</a:t>
            </a:r>
          </a:p>
          <a:p>
            <a:pPr lvl="1"/>
            <a:r>
              <a:rPr lang="en-US" altLang="en-US" smtClean="0"/>
              <a:t>Dual problem: firms maximize output for a given cost of inputs purchased</a:t>
            </a:r>
          </a:p>
          <a:p>
            <a:endParaRPr lang="en-US" alt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96DD262-DF8A-41D8-B2B9-45127F463296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0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2.8 	Optimal Fences and Constrained</a:t>
            </a:r>
            <a:br>
              <a:rPr lang="en-US" altLang="en-US" dirty="0" smtClean="0"/>
            </a:br>
            <a:r>
              <a:rPr lang="en-US" altLang="en-US" dirty="0" smtClean="0">
                <a:solidFill>
                  <a:srgbClr val="002D56"/>
                </a:solidFill>
              </a:rPr>
              <a:t> 	Maximization</a:t>
            </a:r>
          </a:p>
        </p:txBody>
      </p:sp>
      <p:sp>
        <p:nvSpPr>
          <p:cNvPr id="114692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6F2819C0-2B28-4045-9A37-33CB7FC325B0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  <p:sp>
        <p:nvSpPr>
          <p:cNvPr id="114691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1066800"/>
            <a:ext cx="8382000" cy="53340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A farmer had a certain length of fence (</a:t>
            </a:r>
            <a:r>
              <a:rPr lang="en-US" altLang="en-US" i="1" dirty="0" smtClean="0"/>
              <a:t>P</a:t>
            </a:r>
            <a:r>
              <a:rPr lang="en-US" altLang="en-US" dirty="0" smtClean="0"/>
              <a:t>)</a:t>
            </a:r>
          </a:p>
          <a:p>
            <a:pPr lvl="1"/>
            <a:r>
              <a:rPr lang="en-US" altLang="en-US" dirty="0" smtClean="0"/>
              <a:t>Wishes to enclose the largest possible rectangular area, with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y </a:t>
            </a:r>
            <a:r>
              <a:rPr lang="en-US" altLang="en-US" dirty="0" smtClean="0"/>
              <a:t>the lengths of the sides</a:t>
            </a:r>
            <a:endParaRPr lang="en-US" altLang="en-US" sz="1400" dirty="0" smtClean="0"/>
          </a:p>
          <a:p>
            <a:pPr lvl="1"/>
            <a:r>
              <a:rPr lang="en-US" altLang="en-US" dirty="0" smtClean="0"/>
              <a:t>Choose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to maximize the area (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 = </a:t>
            </a:r>
            <a:r>
              <a:rPr lang="en-US" altLang="en-US" i="1" dirty="0" err="1" smtClean="0"/>
              <a:t>x·y</a:t>
            </a:r>
            <a:r>
              <a:rPr lang="en-US" altLang="en-US" dirty="0" smtClean="0"/>
              <a:t>) </a:t>
            </a:r>
          </a:p>
          <a:p>
            <a:pPr lvl="1"/>
            <a:r>
              <a:rPr lang="en-US" altLang="en-US" dirty="0" smtClean="0"/>
              <a:t>Subject to the constraint that the perimeter is fixed at </a:t>
            </a:r>
            <a:r>
              <a:rPr lang="en-US" altLang="en-US" i="1" dirty="0" smtClean="0">
                <a:solidFill>
                  <a:srgbClr val="000099"/>
                </a:solidFill>
              </a:rPr>
              <a:t>P</a:t>
            </a:r>
            <a:r>
              <a:rPr lang="en-US" altLang="en-US" dirty="0" smtClean="0">
                <a:solidFill>
                  <a:srgbClr val="000099"/>
                </a:solidFill>
              </a:rPr>
              <a:t> = 2</a:t>
            </a:r>
            <a:r>
              <a:rPr lang="en-US" altLang="en-US" i="1" dirty="0" smtClean="0">
                <a:solidFill>
                  <a:srgbClr val="000099"/>
                </a:solidFill>
              </a:rPr>
              <a:t>x</a:t>
            </a:r>
            <a:r>
              <a:rPr lang="en-US" altLang="en-US" dirty="0" smtClean="0">
                <a:solidFill>
                  <a:srgbClr val="000099"/>
                </a:solidFill>
              </a:rPr>
              <a:t> + 2</a:t>
            </a:r>
            <a:r>
              <a:rPr lang="en-US" altLang="en-US" i="1" dirty="0" smtClean="0">
                <a:solidFill>
                  <a:srgbClr val="000099"/>
                </a:solidFill>
              </a:rPr>
              <a:t>y</a:t>
            </a:r>
            <a:endParaRPr lang="en-US" altLang="en-US" dirty="0" smtClean="0">
              <a:solidFill>
                <a:srgbClr val="000099"/>
              </a:solidFill>
            </a:endParaRP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6745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2.8	 Optimal Fences and Constrained</a:t>
            </a:r>
            <a:br>
              <a:rPr lang="en-US" altLang="en-US" dirty="0" smtClean="0"/>
            </a:b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Maximization</a:t>
            </a:r>
          </a:p>
        </p:txBody>
      </p:sp>
      <p:sp>
        <p:nvSpPr>
          <p:cNvPr id="115716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91C10389-4E72-422E-8C43-D03778D735A8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715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914400"/>
                <a:ext cx="8382000" cy="54864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The Lagrangian expression: </a:t>
                </a:r>
              </a:p>
              <a:p>
                <a:pPr lvl="1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ℒ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altLang="en-US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·</m:t>
                      </m:r>
                      <m:r>
                        <a:rPr lang="en-US" altLang="en-US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(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𝑃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− 2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− 2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)</m:t>
                      </m:r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r>
                  <a:rPr lang="en-US" altLang="en-US" dirty="0" smtClean="0"/>
                  <a:t>First-order conditions</a:t>
                </a:r>
              </a:p>
              <a:p>
                <a:pPr lvl="2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ℒ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/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− 2 = 0</m:t>
                      </m:r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2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ℒ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/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− 2 = 0</m:t>
                      </m:r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2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ℒ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/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 =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𝑃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− 2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− 2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0</m:t>
                      </m:r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latin typeface="Cambria Math"/>
                      </a:rPr>
                      <m:t>/2 = 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dirty="0" smtClean="0">
                        <a:latin typeface="Cambria Math"/>
                      </a:rPr>
                      <m:t>/2 = </m:t>
                    </m:r>
                  </m:oMath>
                </a14:m>
                <a:r>
                  <a:rPr lang="en-US" altLang="en-US" dirty="0" smtClean="0">
                    <a:sym typeface="Symbol" pitchFamily="18" charset="2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  <a:sym typeface="Symbol" pitchFamily="18" charset="2"/>
                      </a:rPr>
                      <m:t>𝑥</m:t>
                    </m:r>
                    <m:r>
                      <a:rPr lang="en-US" altLang="en-US" i="1" dirty="0" smtClean="0">
                        <a:latin typeface="Cambria Math"/>
                        <a:sym typeface="Symbol" pitchFamily="18" charset="2"/>
                      </a:rPr>
                      <m:t>=</m:t>
                    </m:r>
                    <m:r>
                      <a:rPr lang="en-US" altLang="en-US" i="1" dirty="0" smtClean="0">
                        <a:latin typeface="Cambria Math"/>
                        <a:sym typeface="Symbol" pitchFamily="18" charset="2"/>
                      </a:rPr>
                      <m:t>𝑦</m:t>
                    </m:r>
                  </m:oMath>
                </a14:m>
                <a:r>
                  <a:rPr lang="en-US" altLang="en-US" i="1" dirty="0" smtClean="0">
                    <a:sym typeface="Symbol" pitchFamily="18" charset="2"/>
                  </a:rPr>
                  <a:t>, </a:t>
                </a:r>
                <a:r>
                  <a:rPr lang="en-US" altLang="en-US" dirty="0" smtClean="0">
                    <a:sym typeface="Symbol" pitchFamily="18" charset="2"/>
                  </a:rPr>
                  <a:t>the field should be square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  <a:sym typeface="Symbol" pitchFamily="18" charset="2"/>
                      </a:rPr>
                      <m:t>𝑥</m:t>
                    </m:r>
                    <m:r>
                      <a:rPr lang="en-US" altLang="en-US" i="1" dirty="0" smtClean="0">
                        <a:latin typeface="Cambria Math"/>
                        <a:sym typeface="Symbol" pitchFamily="18" charset="2"/>
                      </a:rPr>
                      <m:t> = </m:t>
                    </m:r>
                    <m:r>
                      <a:rPr lang="en-US" altLang="en-US" i="1" dirty="0" smtClean="0">
                        <a:latin typeface="Cambria Math"/>
                        <a:sym typeface="Symbol" pitchFamily="18" charset="2"/>
                      </a:rPr>
                      <m:t>𝑦</m:t>
                    </m:r>
                  </m:oMath>
                </a14:m>
                <a:r>
                  <a:rPr lang="en-US" altLang="en-US" dirty="0" smtClean="0">
                    <a:sym typeface="Symbol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  <a:sym typeface="Symbol" pitchFamily="18" charset="2"/>
                      </a:rPr>
                      <m:t>𝑦</m:t>
                    </m:r>
                    <m:r>
                      <a:rPr lang="en-US" altLang="en-US" i="1" dirty="0" smtClean="0">
                        <a:latin typeface="Cambria Math"/>
                        <a:sym typeface="Symbol" pitchFamily="18" charset="2"/>
                      </a:rPr>
                      <m:t> = 2</m:t>
                    </m:r>
                  </m:oMath>
                </a14:m>
                <a:r>
                  <a:rPr lang="en-US" altLang="en-US" dirty="0" smtClean="0">
                    <a:sym typeface="Symbol" pitchFamily="18" charset="2"/>
                  </a:rPr>
                  <a:t>, then</a:t>
                </a:r>
              </a:p>
              <a:p>
                <a:pPr algn="ctr">
                  <a:lnSpc>
                    <a:spcPct val="12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𝑃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/4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𝑎𝑛𝑑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 =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𝑃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/8</m:t>
                      </m:r>
                    </m:oMath>
                  </m:oMathPara>
                </a14:m>
                <a:endParaRPr lang="en-US" altLang="en-US" sz="2800" dirty="0" smtClean="0"/>
              </a:p>
            </p:txBody>
          </p:sp>
        </mc:Choice>
        <mc:Fallback xmlns="">
          <p:sp>
            <p:nvSpPr>
              <p:cNvPr id="11571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914400"/>
                <a:ext cx="8382000" cy="5486400"/>
              </a:xfrm>
              <a:prstGeom prst="rect">
                <a:avLst/>
              </a:prstGeom>
              <a:blipFill rotWithShape="1">
                <a:blip r:embed="rId2"/>
                <a:stretch>
                  <a:fillRect l="-1673" t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34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2.8 	Optimal Fences and Constrained </a:t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Maximization</a:t>
            </a:r>
          </a:p>
        </p:txBody>
      </p:sp>
      <p:sp>
        <p:nvSpPr>
          <p:cNvPr id="116740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F13E5E86-6F60-4A59-AC25-781C646604DA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739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914400"/>
                <a:ext cx="8382000" cy="55626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/>
                  <a:t>Interpretation of the Lagrange multiplier</a:t>
                </a:r>
              </a:p>
              <a:p>
                <a:pPr lvl="1"/>
                <a:r>
                  <a:rPr lang="en-US" altLang="en-US" dirty="0" smtClean="0">
                    <a:sym typeface="Symbol" pitchFamily="18" charset="2"/>
                  </a:rPr>
                  <a:t> suggests that an extra yard of fencing would add </a:t>
                </a:r>
                <a:r>
                  <a:rPr lang="en-US" altLang="en-US" i="1" dirty="0" smtClean="0">
                    <a:sym typeface="Symbol" pitchFamily="18" charset="2"/>
                  </a:rPr>
                  <a:t>P</a:t>
                </a:r>
                <a:r>
                  <a:rPr lang="en-US" altLang="en-US" dirty="0" smtClean="0">
                    <a:sym typeface="Symbol" pitchFamily="18" charset="2"/>
                  </a:rPr>
                  <a:t>/8 to the area</a:t>
                </a:r>
              </a:p>
              <a:p>
                <a:pPr lvl="1"/>
                <a:r>
                  <a:rPr lang="en-US" altLang="en-US" dirty="0" smtClean="0">
                    <a:sym typeface="Symbol" pitchFamily="18" charset="2"/>
                  </a:rPr>
                  <a:t>Provides information about the implicit value of the constraint</a:t>
                </a:r>
              </a:p>
              <a:p>
                <a:r>
                  <a:rPr lang="en-US" altLang="en-US" dirty="0" smtClean="0">
                    <a:sym typeface="Symbol" pitchFamily="18" charset="2"/>
                  </a:rPr>
                  <a:t>Duality</a:t>
                </a:r>
              </a:p>
              <a:p>
                <a:pPr lvl="1"/>
                <a:r>
                  <a:rPr lang="en-US" altLang="en-US" dirty="0" smtClean="0">
                    <a:sym typeface="Symbol" pitchFamily="18" charset="2"/>
                  </a:rPr>
                  <a:t>Choose </a:t>
                </a:r>
                <a:r>
                  <a:rPr lang="en-US" altLang="en-US" i="1" dirty="0" smtClean="0">
                    <a:sym typeface="Symbol" pitchFamily="18" charset="2"/>
                  </a:rPr>
                  <a:t>x</a:t>
                </a:r>
                <a:r>
                  <a:rPr lang="en-US" altLang="en-US" dirty="0" smtClean="0">
                    <a:sym typeface="Symbol" pitchFamily="18" charset="2"/>
                  </a:rPr>
                  <a:t> and </a:t>
                </a:r>
                <a:r>
                  <a:rPr lang="en-US" altLang="en-US" i="1" dirty="0" smtClean="0">
                    <a:sym typeface="Symbol" pitchFamily="18" charset="2"/>
                  </a:rPr>
                  <a:t>y</a:t>
                </a:r>
                <a:r>
                  <a:rPr lang="en-US" altLang="en-US" dirty="0" smtClean="0">
                    <a:sym typeface="Symbol" pitchFamily="18" charset="2"/>
                  </a:rPr>
                  <a:t> to minimize the amount of fence required to surround the field</a:t>
                </a:r>
              </a:p>
              <a:p>
                <a:pPr algn="ctr">
                  <a:buFontTx/>
                  <a:buNone/>
                </a:pPr>
                <a:r>
                  <a:rPr lang="en-US" altLang="en-US" sz="2800" dirty="0" smtClean="0">
                    <a:solidFill>
                      <a:srgbClr val="FF0000"/>
                    </a:solidFill>
                    <a:sym typeface="Symbol" pitchFamily="18" charset="2"/>
                  </a:rPr>
                  <a:t>minimize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𝑃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= 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𝑥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+ 2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𝑦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en-US" sz="2800" dirty="0" smtClean="0">
                    <a:solidFill>
                      <a:srgbClr val="FF0000"/>
                    </a:solidFill>
                    <a:sym typeface="Symbol" pitchFamily="18" charset="2"/>
                  </a:rPr>
                  <a:t>subject to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𝐴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= </m:t>
                    </m:r>
                    <m:r>
                      <a:rPr lang="en-US" altLang="en-US" sz="2800" i="1" dirty="0" err="1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𝑥</m:t>
                    </m:r>
                    <m:r>
                      <a:rPr lang="en-US" altLang="en-US" sz="2800" i="1" dirty="0" err="1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·</m:t>
                    </m:r>
                    <m:r>
                      <a:rPr lang="en-US" altLang="en-US" sz="2800" i="1" dirty="0" err="1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𝑦</m:t>
                    </m:r>
                  </m:oMath>
                </a14:m>
                <a:endParaRPr lang="en-US" altLang="en-US" sz="2800" i="1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1"/>
                <a:r>
                  <a:rPr lang="en-US" altLang="en-US" dirty="0" smtClean="0">
                    <a:sym typeface="Symbol" pitchFamily="18" charset="2"/>
                  </a:rPr>
                  <a:t>Setting up the Lagrangian: </a:t>
                </a:r>
              </a:p>
              <a:p>
                <a:pPr lvl="1">
                  <a:buFont typeface="Arial" pitchFamily="34" charset="0"/>
                  <a:buNone/>
                </a:pPr>
                <a:r>
                  <a:rPr lang="en-US" altLang="en-US" b="1" dirty="0" smtClean="0">
                    <a:solidFill>
                      <a:srgbClr val="7B332D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  <a:sym typeface="Symbol" pitchFamily="18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en-US" b="1" i="1" dirty="0" smtClean="0">
                        <a:solidFill>
                          <a:srgbClr val="FF0000"/>
                        </a:solidFill>
                        <a:latin typeface="Cambria Math"/>
                        <a:ea typeface="Arial Unicode MS" pitchFamily="34" charset="-128"/>
                        <a:cs typeface="Arial Unicode MS" pitchFamily="34" charset="-128"/>
                      </a:rPr>
                      <m:t>ℒ</m:t>
                    </m:r>
                    <m:r>
                      <a:rPr lang="en-US" altLang="en-US" b="1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a:rPr lang="en-US" altLang="en-US" i="1" baseline="30000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𝐷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= 2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𝑥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+ 2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𝑦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+ </m:t>
                    </m:r>
                    <m:r>
                      <a:rPr lang="en-US" altLang="en-US" i="1" baseline="30000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𝐷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(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𝐴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− </m:t>
                    </m:r>
                    <m:r>
                      <a:rPr lang="en-US" altLang="en-US" i="1" dirty="0" err="1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𝑥</m:t>
                    </m:r>
                    <m:r>
                      <a:rPr lang="en-US" altLang="en-US" i="1" dirty="0" err="1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</m:t>
                    </m:r>
                    <m:r>
                      <a:rPr lang="en-US" altLang="en-US" i="1" dirty="0" err="1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𝑦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)</m:t>
                    </m:r>
                  </m:oMath>
                </a14:m>
                <a:endParaRPr lang="en-US" altLang="en-US" sz="28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11673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914400"/>
                <a:ext cx="8382000" cy="5562600"/>
              </a:xfrm>
              <a:prstGeom prst="rect">
                <a:avLst/>
              </a:prstGeom>
              <a:blipFill rotWithShape="1">
                <a:blip r:embed="rId2"/>
                <a:stretch>
                  <a:fillRect l="-1673" t="-1424" r="-2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473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2.8 	Optimal Fences and Constrained</a:t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Maximization</a:t>
            </a:r>
          </a:p>
        </p:txBody>
      </p:sp>
      <p:sp>
        <p:nvSpPr>
          <p:cNvPr id="117764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3819ECB9-60CA-4337-863E-15569ABF201D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763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1066800"/>
                <a:ext cx="8382000" cy="53340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>
                    <a:sym typeface="Symbol" pitchFamily="18" charset="2"/>
                  </a:rPr>
                  <a:t>Duality</a:t>
                </a:r>
              </a:p>
              <a:p>
                <a:pPr lvl="1"/>
                <a:r>
                  <a:rPr lang="en-US" altLang="en-US" dirty="0" smtClean="0">
                    <a:sym typeface="Symbol" pitchFamily="18" charset="2"/>
                  </a:rPr>
                  <a:t>First-order conditions:</a:t>
                </a:r>
              </a:p>
              <a:p>
                <a:pPr lvl="1">
                  <a:lnSpc>
                    <a:spcPct val="12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ℒ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 </m:t>
                      </m:r>
                      <m:r>
                        <a:rPr lang="en-US" altLang="en-US" i="1" baseline="30000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𝐷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/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2 − </m:t>
                      </m:r>
                      <m:r>
                        <a:rPr lang="en-US" altLang="en-US" i="1" baseline="30000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𝐷</m:t>
                      </m:r>
                      <m:r>
                        <a:rPr lang="en-US" altLang="en-US" i="1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·</m:t>
                      </m:r>
                      <m:r>
                        <a:rPr lang="en-US" altLang="en-US" i="1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0</m:t>
                      </m:r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1">
                  <a:lnSpc>
                    <a:spcPct val="12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ℒ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 </m:t>
                      </m:r>
                      <m:r>
                        <a:rPr lang="en-US" altLang="en-US" i="1" baseline="30000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𝐷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/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2 − </m:t>
                      </m:r>
                      <m:r>
                        <a:rPr lang="en-US" altLang="en-US" i="1" baseline="30000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𝐷</m:t>
                      </m:r>
                      <m:r>
                        <a:rPr lang="en-US" altLang="en-US" i="1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·</m:t>
                      </m:r>
                      <m:r>
                        <a:rPr lang="en-US" altLang="en-US" i="1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0</m:t>
                      </m:r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1">
                  <a:lnSpc>
                    <a:spcPct val="12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ℒ</m:t>
                      </m:r>
                      <m:r>
                        <a:rPr lang="en-US" altLang="en-US" b="1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 </m:t>
                      </m:r>
                      <m:r>
                        <a:rPr lang="en-US" altLang="en-US" i="1" baseline="30000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𝐷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Math Ext"/>
                        </a:rPr>
                        <m:t>/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</m:t>
                      </m:r>
                      <m:r>
                        <a:rPr lang="en-US" altLang="en-US" i="1" baseline="30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𝐷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𝐴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− </m:t>
                      </m:r>
                      <m:r>
                        <a:rPr lang="en-US" altLang="en-US" i="1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i="1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·</m:t>
                      </m:r>
                      <m:r>
                        <a:rPr lang="en-US" altLang="en-US" i="1" dirty="0" err="1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0</m:t>
                      </m:r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1">
                  <a:lnSpc>
                    <a:spcPct val="110000"/>
                  </a:lnSpc>
                </a:pPr>
                <a:r>
                  <a:rPr lang="en-US" altLang="en-US" dirty="0" smtClean="0">
                    <a:sym typeface="Symbol" pitchFamily="18" charset="2"/>
                  </a:rPr>
                  <a:t>Solving, we get: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𝑥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= 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𝑦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n-US" altLang="en-US" i="1" dirty="0" smtClean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</m:ctrlPr>
                      </m:radPr>
                      <m:deg/>
                      <m:e>
                        <m:r>
                          <a:rPr lang="en-US" alt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𝐴</m:t>
                        </m:r>
                      </m:e>
                    </m:rad>
                  </m:oMath>
                </a14:m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1">
                  <a:lnSpc>
                    <a:spcPct val="110000"/>
                  </a:lnSpc>
                </a:pPr>
                <a:r>
                  <a:rPr lang="en-US" altLang="en-US" dirty="0" smtClean="0">
                    <a:sym typeface="Symbol" pitchFamily="18" charset="2"/>
                  </a:rPr>
                  <a:t>The Lagrangian multiplier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</m:t>
                    </m:r>
                    <m:r>
                      <a:rPr lang="en-US" altLang="en-US" i="1" baseline="30000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𝐷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 =</m:t>
                    </m:r>
                    <m:f>
                      <m:fPr>
                        <m:ctrlPr>
                          <a:rPr lang="en-US" alt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2</m:t>
                        </m:r>
                      </m:num>
                      <m:den>
                        <m:r>
                          <a:rPr lang="en-US" alt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𝑥</m:t>
                        </m:r>
                      </m:den>
                    </m:f>
                    <m:r>
                      <a:rPr lang="en-US" altLang="en-US" b="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=</m:t>
                    </m:r>
                    <m:f>
                      <m:fPr>
                        <m:ctrlPr>
                          <a:rPr lang="en-US" alt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2</m:t>
                        </m:r>
                      </m:num>
                      <m:den>
                        <m:r>
                          <a:rPr lang="en-US" alt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den>
                    </m:f>
                    <m:r>
                      <a:rPr lang="en-US" altLang="en-US" b="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=</m:t>
                    </m:r>
                    <m:f>
                      <m:fPr>
                        <m:ctrlPr>
                          <a:rPr lang="en-US" altLang="en-US" b="0" i="1" dirty="0" smtClean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</m:ctrlPr>
                      </m:fPr>
                      <m:num>
                        <m:r>
                          <a:rPr lang="en-US" altLang="en-US" i="1" dirty="0" smtClean="0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𝐴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en-US" baseline="30000" dirty="0" smtClean="0">
                    <a:solidFill>
                      <a:srgbClr val="FF0000"/>
                    </a:solidFill>
                    <a:sym typeface="Symbol" pitchFamily="18" charset="2"/>
                  </a:rPr>
                  <a:t> </a:t>
                </a:r>
              </a:p>
              <a:p>
                <a:endParaRPr lang="en-US" altLang="en-US" sz="28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11776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1066800"/>
                <a:ext cx="8382000" cy="5334000"/>
              </a:xfrm>
              <a:prstGeom prst="rect">
                <a:avLst/>
              </a:prstGeom>
              <a:blipFill rotWithShape="1">
                <a:blip r:embed="rId2"/>
                <a:stretch>
                  <a:fillRect l="-1673" t="-1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02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066800"/>
          </a:xfrm>
        </p:spPr>
        <p:txBody>
          <a:bodyPr>
            <a:noAutofit/>
          </a:bodyPr>
          <a:lstStyle/>
          <a:p>
            <a:r>
              <a:rPr lang="en-US" altLang="en-US" sz="3400" dirty="0" smtClean="0"/>
              <a:t>Envelope Theorem in Constrained</a:t>
            </a:r>
            <a:br>
              <a:rPr lang="en-US" altLang="en-US" sz="3400" dirty="0" smtClean="0"/>
            </a:br>
            <a:r>
              <a:rPr lang="en-US" altLang="en-US" sz="3400" dirty="0" smtClean="0"/>
              <a:t>Maximization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787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>
                    <a:sym typeface="Symbol" pitchFamily="18" charset="2"/>
                  </a:rPr>
                  <a:t>Suppose that we want to maximize</a:t>
                </a:r>
              </a:p>
              <a:p>
                <a:pPr>
                  <a:buFontTx/>
                  <a:buNone/>
                </a:pPr>
                <a:r>
                  <a:rPr lang="en-US" altLang="en-US" sz="3200" i="1" dirty="0" smtClean="0">
                    <a:solidFill>
                      <a:srgbClr val="FF0000"/>
                    </a:solidFill>
                    <a:sym typeface="Symbol" pitchFamily="18" charset="2"/>
                  </a:rPr>
                  <a:t>	</a:t>
                </a:r>
                <a:r>
                  <a:rPr lang="en-US" altLang="en-US" sz="3200" dirty="0" smtClean="0">
                    <a:solidFill>
                      <a:srgbClr val="FF0000"/>
                    </a:solidFill>
                    <a:sym typeface="Symbol" pitchFamily="18" charset="2"/>
                  </a:rPr>
                  <a:t>	</a:t>
                </a:r>
                <a:r>
                  <a:rPr lang="en-US" altLang="en-US" sz="3200" dirty="0">
                    <a:solidFill>
                      <a:srgbClr val="FF0000"/>
                    </a:solidFill>
                    <a:sym typeface="Symbol" pitchFamily="18" charset="2"/>
                  </a:rPr>
                  <a:t>𝑦 = 𝑓(𝑥</a:t>
                </a:r>
                <a:r>
                  <a:rPr lang="en-US" altLang="en-US" sz="3200" baseline="-25000" dirty="0">
                    <a:solidFill>
                      <a:srgbClr val="FF0000"/>
                    </a:solidFill>
                    <a:sym typeface="Symbol" pitchFamily="18" charset="2"/>
                  </a:rPr>
                  <a:t>1</a:t>
                </a:r>
                <a:r>
                  <a:rPr lang="en-US" altLang="en-US" sz="3200" dirty="0">
                    <a:solidFill>
                      <a:srgbClr val="FF0000"/>
                    </a:solidFill>
                    <a:sym typeface="Symbol" pitchFamily="18" charset="2"/>
                  </a:rPr>
                  <a:t>,…,𝑥</a:t>
                </a:r>
                <a:r>
                  <a:rPr lang="en-US" altLang="en-US" sz="3200" baseline="-25000" dirty="0">
                    <a:solidFill>
                      <a:srgbClr val="FF0000"/>
                    </a:solidFill>
                    <a:sym typeface="Symbol" pitchFamily="18" charset="2"/>
                  </a:rPr>
                  <a:t>𝑛</a:t>
                </a:r>
                <a:r>
                  <a:rPr lang="en-US" altLang="en-US" sz="3200" dirty="0">
                    <a:solidFill>
                      <a:srgbClr val="FF0000"/>
                    </a:solidFill>
                    <a:sym typeface="Symbol" pitchFamily="18" charset="2"/>
                  </a:rPr>
                  <a:t>;𝑎)</a:t>
                </a:r>
              </a:p>
              <a:p>
                <a:pPr>
                  <a:buFontTx/>
                  <a:buNone/>
                </a:pPr>
                <a:r>
                  <a:rPr lang="en-US" altLang="en-US" dirty="0" smtClean="0">
                    <a:sym typeface="Symbol" pitchFamily="18" charset="2"/>
                  </a:rPr>
                  <a:t>	Subject to the constraint: </a:t>
                </a:r>
                <a:r>
                  <a:rPr lang="en-US" altLang="en-US" sz="3000" dirty="0">
                    <a:solidFill>
                      <a:srgbClr val="FF0000"/>
                    </a:solidFill>
                    <a:sym typeface="Symbol" pitchFamily="18" charset="2"/>
                  </a:rPr>
                  <a:t>𝑔(𝑥</a:t>
                </a:r>
                <a:r>
                  <a:rPr lang="en-US" altLang="en-US" sz="3000" baseline="-25000" dirty="0">
                    <a:solidFill>
                      <a:srgbClr val="FF0000"/>
                    </a:solidFill>
                    <a:sym typeface="Symbol" pitchFamily="18" charset="2"/>
                  </a:rPr>
                  <a:t>1</a:t>
                </a:r>
                <a:r>
                  <a:rPr lang="en-US" altLang="en-US" sz="3000" dirty="0">
                    <a:solidFill>
                      <a:srgbClr val="FF0000"/>
                    </a:solidFill>
                    <a:sym typeface="Symbol" pitchFamily="18" charset="2"/>
                  </a:rPr>
                  <a:t>,…,𝑥</a:t>
                </a:r>
                <a:r>
                  <a:rPr lang="en-US" altLang="en-US" sz="3000" baseline="-25000" dirty="0">
                    <a:solidFill>
                      <a:srgbClr val="FF0000"/>
                    </a:solidFill>
                    <a:sym typeface="Symbol" pitchFamily="18" charset="2"/>
                  </a:rPr>
                  <a:t>𝑛</a:t>
                </a:r>
                <a:r>
                  <a:rPr lang="en-US" altLang="en-US" sz="3000" dirty="0">
                    <a:solidFill>
                      <a:srgbClr val="FF0000"/>
                    </a:solidFill>
                    <a:sym typeface="Symbol" pitchFamily="18" charset="2"/>
                  </a:rPr>
                  <a:t>;𝑎) = 0 </a:t>
                </a:r>
                <a:endParaRPr lang="en-US" altLang="en-US" sz="30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r>
                  <a:rPr lang="en-US" altLang="en-US" dirty="0" smtClean="0">
                    <a:sym typeface="Symbol" pitchFamily="18" charset="2"/>
                  </a:rPr>
                  <a:t>One way to solve </a:t>
                </a:r>
              </a:p>
              <a:p>
                <a:pPr lvl="1"/>
                <a:r>
                  <a:rPr lang="en-US" altLang="en-US" dirty="0" smtClean="0">
                    <a:sym typeface="Symbol" pitchFamily="18" charset="2"/>
                  </a:rPr>
                  <a:t>Set up the Lagrangian expression </a:t>
                </a:r>
              </a:p>
              <a:p>
                <a:pPr lvl="1"/>
                <a:r>
                  <a:rPr lang="en-US" altLang="en-US" dirty="0" smtClean="0">
                    <a:sym typeface="Symbol" pitchFamily="18" charset="2"/>
                  </a:rPr>
                  <a:t>Solve the first-order conditions</a:t>
                </a:r>
              </a:p>
              <a:p>
                <a:r>
                  <a:rPr lang="en-US" altLang="en-US" dirty="0" smtClean="0">
                    <a:sym typeface="Symbol" pitchFamily="18" charset="2"/>
                  </a:rPr>
                  <a:t>The envelope theorem: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en-US" sz="28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 pitchFamily="18" charset="2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𝑑𝑎</m:t>
                          </m:r>
                        </m:den>
                      </m:f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= </m:t>
                      </m:r>
                      <m:f>
                        <m:fPr>
                          <m:ctrlPr>
                            <a:rPr lang="en-US" altLang="en-US" sz="28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  <a:sym typeface="Math Ext"/>
                            </a:rPr>
                          </m:ctrlPr>
                        </m:fPr>
                        <m:num>
                          <m:r>
                            <a:rPr lang="en-US" alt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</m:t>
                          </m:r>
                          <m:r>
                            <a:rPr lang="en-US" altLang="en-US" sz="2800" b="1" i="1" dirty="0">
                              <a:solidFill>
                                <a:srgbClr val="FF0000"/>
                              </a:solidFill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</a:rPr>
                            <m:t>ℒ</m:t>
                          </m:r>
                        </m:num>
                        <m:den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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𝑎</m:t>
                          </m:r>
                        </m:den>
                      </m:f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(</m:t>
                      </m:r>
                      <m:sSubSup>
                        <m:sSubSupPr>
                          <m:ctrlP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</m:e>
                        <m:sub/>
                        <m:sup>
                          <m:r>
                            <a:rPr lang="en-US" altLang="en-US" sz="2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∗</m:t>
                          </m:r>
                        </m:sup>
                      </m:sSubSup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,…,</m:t>
                      </m:r>
                      <m:sSubSup>
                        <m:sSubSupPr>
                          <m:ctrlPr>
                            <a:rPr lang="en-US" alt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sym typeface="Symbol" pitchFamily="18" charset="2"/>
                                </a:rPr>
                                <m:t>𝑛</m:t>
                              </m:r>
                            </m:sub>
                          </m:sSub>
                        </m:e>
                        <m:sub/>
                        <m:sup>
                          <m:r>
                            <a:rPr lang="en-US" alt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  <a:sym typeface="Symbol" pitchFamily="18" charset="2"/>
                            </a:rPr>
                            <m:t>∗</m:t>
                          </m:r>
                        </m:sup>
                      </m:sSubSup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;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𝑎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)</m:t>
                      </m:r>
                    </m:oMath>
                  </m:oMathPara>
                </a14:m>
                <a:endParaRPr lang="en-US" altLang="en-US" sz="3200" dirty="0" smtClean="0"/>
              </a:p>
            </p:txBody>
          </p:sp>
        </mc:Choice>
        <mc:Fallback xmlns="">
          <p:sp>
            <p:nvSpPr>
              <p:cNvPr id="11878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9AF137F-D4A8-48A8-85CB-B641C34E2DDB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6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344" y="0"/>
            <a:ext cx="7379656" cy="990600"/>
          </a:xfrm>
        </p:spPr>
        <p:txBody>
          <a:bodyPr/>
          <a:lstStyle/>
          <a:p>
            <a:r>
              <a:rPr lang="en-US" dirty="0"/>
              <a:t>2.9 	Optimal Fences and the Envelope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	</a:t>
            </a:r>
            <a:r>
              <a:rPr lang="en-US" dirty="0" smtClean="0">
                <a:solidFill>
                  <a:srgbClr val="002D56"/>
                </a:solidFill>
              </a:rPr>
              <a:t>Theorem</a:t>
            </a:r>
            <a:endParaRPr lang="en-US" dirty="0">
              <a:solidFill>
                <a:srgbClr val="002D56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64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990600"/>
                <a:ext cx="8534400" cy="5410200"/>
              </a:xfrm>
            </p:spPr>
            <p:txBody>
              <a:bodyPr/>
              <a:lstStyle/>
              <a:p>
                <a:r>
                  <a:rPr lang="en-US" dirty="0" smtClean="0"/>
                  <a:t>The fencing problem (example 2.8), the value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num>
                      <m:den>
                        <m:r>
                          <a:rPr lang="en-US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US">
                        <a:latin typeface="Cambria Math"/>
                      </a:rPr>
                      <m:t>⋅</m:t>
                    </m:r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num>
                      <m:den>
                        <m:r>
                          <a:rPr lang="en-US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US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𝑃</m:t>
                            </m:r>
                          </m:e>
                          <m:sup>
                            <m:r>
                              <a:rPr lang="en-US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>
                            <a:latin typeface="Cambria Math"/>
                          </a:rPr>
                          <m:t>16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The Lagrangian</a:t>
                </a:r>
                <a:r>
                  <a:rPr lang="en-US" dirty="0"/>
                  <a:t>: </a:t>
                </a:r>
                <a:r>
                  <a:rPr lang="en-US" dirty="0" smtClean="0"/>
                  <a:t>L </a:t>
                </a:r>
                <a:r>
                  <a:rPr lang="en-US" dirty="0"/>
                  <a:t>=𝑥𝑦+𝜆(𝑃−2𝑥−2𝑦)</a:t>
                </a:r>
              </a:p>
              <a:p>
                <a:pPr lvl="1"/>
                <a:r>
                  <a:rPr lang="en-US" dirty="0" smtClean="0"/>
                  <a:t>Applying envelope </a:t>
                </a:r>
                <a:r>
                  <a:rPr lang="en-US" dirty="0"/>
                  <a:t>theorem: </a:t>
                </a:r>
                <a:r>
                  <a:rPr lang="en-US" dirty="0" smtClean="0"/>
                  <a:t>𝑑𝐴</a:t>
                </a:r>
                <a:r>
                  <a:rPr lang="en-US" baseline="30000" dirty="0" smtClean="0"/>
                  <a:t>∗</a:t>
                </a:r>
                <a:r>
                  <a:rPr lang="en-US" dirty="0" smtClean="0"/>
                  <a:t>/</a:t>
                </a:r>
                <a:r>
                  <a:rPr lang="en-US" dirty="0"/>
                  <a:t>𝑑𝑃=𝑃/8=∂𝐿/∂𝑃=</a:t>
                </a:r>
                <a:r>
                  <a:rPr lang="en-US" dirty="0" smtClean="0"/>
                  <a:t>𝜆</a:t>
                </a:r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Lagrange multiplier in a constrained maximization problem 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Shows </a:t>
                </a:r>
                <a:r>
                  <a:rPr lang="en-US" dirty="0"/>
                  <a:t>the marginal gain in the objective function that can be obtained from a slight relaxation of the </a:t>
                </a:r>
                <a:r>
                  <a:rPr lang="en-US" dirty="0" smtClean="0"/>
                  <a:t>constrain</a:t>
                </a:r>
              </a:p>
            </p:txBody>
          </p:sp>
        </mc:Choice>
        <mc:Fallback xmlns=""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990600"/>
                <a:ext cx="8534400" cy="5410200"/>
              </a:xfrm>
              <a:blipFill rotWithShape="1">
                <a:blip r:embed="rId2"/>
                <a:stretch>
                  <a:fillRect l="-1643" t="-1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35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Inequality Constraints</a:t>
            </a:r>
          </a:p>
        </p:txBody>
      </p:sp>
      <p:sp>
        <p:nvSpPr>
          <p:cNvPr id="11981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Maximize</a:t>
            </a:r>
            <a:r>
              <a:rPr lang="en-US" altLang="en-US" dirty="0" smtClean="0">
                <a:solidFill>
                  <a:srgbClr val="7B332D"/>
                </a:solidFill>
              </a:rPr>
              <a:t> </a:t>
            </a:r>
            <a:r>
              <a:rPr lang="en-US" altLang="en-US" dirty="0">
                <a:solidFill>
                  <a:srgbClr val="002D56"/>
                </a:solidFill>
              </a:rPr>
              <a:t>𝑦 = 𝑓(𝑥</a:t>
            </a:r>
            <a:r>
              <a:rPr lang="en-US" altLang="en-US" baseline="-25000" dirty="0">
                <a:solidFill>
                  <a:srgbClr val="002D56"/>
                </a:solidFill>
              </a:rPr>
              <a:t>1</a:t>
            </a:r>
            <a:r>
              <a:rPr lang="en-US" altLang="en-US" dirty="0">
                <a:solidFill>
                  <a:srgbClr val="002D56"/>
                </a:solidFill>
              </a:rPr>
              <a:t>,𝑥</a:t>
            </a:r>
            <a:r>
              <a:rPr lang="en-US" altLang="en-US" baseline="-25000" dirty="0">
                <a:solidFill>
                  <a:srgbClr val="002D56"/>
                </a:solidFill>
              </a:rPr>
              <a:t>2</a:t>
            </a:r>
            <a:r>
              <a:rPr lang="en-US" altLang="en-US" dirty="0">
                <a:solidFill>
                  <a:srgbClr val="002D56"/>
                </a:solidFill>
              </a:rPr>
              <a:t>)</a:t>
            </a:r>
            <a:r>
              <a:rPr lang="en-US" altLang="en-US" dirty="0">
                <a:solidFill>
                  <a:srgbClr val="7B332D"/>
                </a:solidFill>
              </a:rPr>
              <a:t> </a:t>
            </a:r>
            <a:r>
              <a:rPr lang="en-US" altLang="en-US" dirty="0" smtClean="0">
                <a:solidFill>
                  <a:srgbClr val="7B332D"/>
                </a:solidFill>
              </a:rPr>
              <a:t> </a:t>
            </a:r>
            <a:r>
              <a:rPr lang="en-US" altLang="en-US" dirty="0" smtClean="0"/>
              <a:t>subject to</a:t>
            </a:r>
          </a:p>
          <a:p>
            <a:pPr marL="400050" lvl="1" indent="0">
              <a:buNone/>
            </a:pPr>
            <a:r>
              <a:rPr lang="en-US" altLang="en-US" dirty="0">
                <a:solidFill>
                  <a:srgbClr val="002D56"/>
                </a:solidFill>
              </a:rPr>
              <a:t>𝑔(𝑥</a:t>
            </a:r>
            <a:r>
              <a:rPr lang="en-US" altLang="en-US" baseline="-25000" dirty="0">
                <a:solidFill>
                  <a:srgbClr val="002D56"/>
                </a:solidFill>
              </a:rPr>
              <a:t>1</a:t>
            </a:r>
            <a:r>
              <a:rPr lang="en-US" altLang="en-US" dirty="0">
                <a:solidFill>
                  <a:srgbClr val="002D56"/>
                </a:solidFill>
              </a:rPr>
              <a:t>,𝑥</a:t>
            </a:r>
            <a:r>
              <a:rPr lang="en-US" altLang="en-US" baseline="-25000" dirty="0">
                <a:solidFill>
                  <a:srgbClr val="002D56"/>
                </a:solidFill>
              </a:rPr>
              <a:t>2</a:t>
            </a:r>
            <a:r>
              <a:rPr lang="en-US" altLang="en-US" dirty="0">
                <a:solidFill>
                  <a:srgbClr val="002D56"/>
                </a:solidFill>
              </a:rPr>
              <a:t>) </a:t>
            </a:r>
            <a:r>
              <a:rPr lang="en-US" altLang="en-US" dirty="0" smtClean="0">
                <a:solidFill>
                  <a:srgbClr val="002D56"/>
                </a:solidFill>
              </a:rPr>
              <a:t>≥ </a:t>
            </a:r>
            <a:r>
              <a:rPr lang="en-US" altLang="en-US" dirty="0">
                <a:solidFill>
                  <a:srgbClr val="002D56"/>
                </a:solidFill>
              </a:rPr>
              <a:t>0, 𝑥</a:t>
            </a:r>
            <a:r>
              <a:rPr lang="en-US" altLang="en-US" baseline="-25000" dirty="0">
                <a:solidFill>
                  <a:srgbClr val="002D56"/>
                </a:solidFill>
              </a:rPr>
              <a:t>1</a:t>
            </a:r>
            <a:r>
              <a:rPr lang="en-US" altLang="en-US" dirty="0">
                <a:solidFill>
                  <a:srgbClr val="002D56"/>
                </a:solidFill>
              </a:rPr>
              <a:t> </a:t>
            </a:r>
            <a:r>
              <a:rPr lang="en-US" altLang="en-US" dirty="0" smtClean="0">
                <a:solidFill>
                  <a:srgbClr val="002D56"/>
                </a:solidFill>
              </a:rPr>
              <a:t>≥ </a:t>
            </a:r>
            <a:r>
              <a:rPr lang="en-US" altLang="en-US" dirty="0">
                <a:solidFill>
                  <a:srgbClr val="002D56"/>
                </a:solidFill>
              </a:rPr>
              <a:t>0, 𝑎𝑛𝑑 𝑥</a:t>
            </a:r>
            <a:r>
              <a:rPr lang="en-US" altLang="en-US" baseline="-25000" dirty="0">
                <a:solidFill>
                  <a:srgbClr val="002D56"/>
                </a:solidFill>
              </a:rPr>
              <a:t>2</a:t>
            </a:r>
            <a:r>
              <a:rPr lang="en-US" altLang="en-US" dirty="0">
                <a:solidFill>
                  <a:srgbClr val="002D56"/>
                </a:solidFill>
              </a:rPr>
              <a:t> </a:t>
            </a:r>
            <a:r>
              <a:rPr lang="en-US" altLang="en-US" dirty="0" smtClean="0">
                <a:solidFill>
                  <a:srgbClr val="002D56"/>
                </a:solidFill>
              </a:rPr>
              <a:t>≥ </a:t>
            </a:r>
            <a:r>
              <a:rPr lang="en-US" altLang="en-US" dirty="0">
                <a:solidFill>
                  <a:srgbClr val="002D56"/>
                </a:solidFill>
              </a:rPr>
              <a:t>0</a:t>
            </a:r>
          </a:p>
          <a:p>
            <a:r>
              <a:rPr lang="en-US" altLang="en-US" dirty="0" smtClean="0"/>
              <a:t>Slack variables</a:t>
            </a:r>
          </a:p>
          <a:p>
            <a:pPr lvl="1"/>
            <a:r>
              <a:rPr lang="en-US" altLang="en-US" dirty="0" smtClean="0"/>
              <a:t>Introduce three new variables (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b</a:t>
            </a:r>
            <a:r>
              <a:rPr lang="en-US" altLang="en-US" dirty="0" smtClean="0"/>
              <a:t>, and </a:t>
            </a:r>
            <a:r>
              <a:rPr lang="en-US" altLang="en-US" i="1" dirty="0" smtClean="0"/>
              <a:t>c</a:t>
            </a:r>
            <a:r>
              <a:rPr lang="en-US" altLang="en-US" dirty="0" smtClean="0"/>
              <a:t>) that convert the inequalities into equalities</a:t>
            </a:r>
          </a:p>
          <a:p>
            <a:pPr lvl="1"/>
            <a:r>
              <a:rPr lang="en-US" altLang="en-US" dirty="0" smtClean="0"/>
              <a:t>Square these new variables  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2D56"/>
                </a:solidFill>
                <a:sym typeface="Symbol" pitchFamily="18" charset="2"/>
              </a:rPr>
              <a:t>𝑔(𝑥</a:t>
            </a:r>
            <a:r>
              <a:rPr lang="en-US" altLang="en-US" baseline="-25000" dirty="0">
                <a:solidFill>
                  <a:srgbClr val="002D56"/>
                </a:solidFill>
                <a:sym typeface="Symbol" pitchFamily="18" charset="2"/>
              </a:rPr>
              <a:t>1</a:t>
            </a:r>
            <a:r>
              <a:rPr lang="en-US" altLang="en-US" dirty="0">
                <a:solidFill>
                  <a:srgbClr val="002D56"/>
                </a:solidFill>
                <a:sym typeface="Symbol" pitchFamily="18" charset="2"/>
              </a:rPr>
              <a:t>,𝑥</a:t>
            </a:r>
            <a:r>
              <a:rPr lang="en-US" altLang="en-US" baseline="-25000" dirty="0">
                <a:solidFill>
                  <a:srgbClr val="002D56"/>
                </a:solidFill>
                <a:sym typeface="Symbol" pitchFamily="18" charset="2"/>
              </a:rPr>
              <a:t>2</a:t>
            </a:r>
            <a:r>
              <a:rPr lang="en-US" altLang="en-US" dirty="0">
                <a:solidFill>
                  <a:srgbClr val="002D56"/>
                </a:solidFill>
                <a:sym typeface="Symbol" pitchFamily="18" charset="2"/>
              </a:rPr>
              <a:t>) − 𝑎</a:t>
            </a:r>
            <a:r>
              <a:rPr lang="en-US" altLang="en-US" baseline="30000" dirty="0">
                <a:solidFill>
                  <a:srgbClr val="002D56"/>
                </a:solidFill>
                <a:sym typeface="Symbol" pitchFamily="18" charset="2"/>
              </a:rPr>
              <a:t>2</a:t>
            </a:r>
            <a:r>
              <a:rPr lang="en-US" altLang="en-US" dirty="0">
                <a:solidFill>
                  <a:srgbClr val="002D56"/>
                </a:solidFill>
                <a:sym typeface="Symbol" pitchFamily="18" charset="2"/>
              </a:rPr>
              <a:t> = 0; 𝑥</a:t>
            </a:r>
            <a:r>
              <a:rPr lang="en-US" altLang="en-US" baseline="-25000" dirty="0">
                <a:solidFill>
                  <a:srgbClr val="002D56"/>
                </a:solidFill>
                <a:sym typeface="Symbol" pitchFamily="18" charset="2"/>
              </a:rPr>
              <a:t>1</a:t>
            </a:r>
            <a:r>
              <a:rPr lang="en-US" altLang="en-US" dirty="0">
                <a:solidFill>
                  <a:srgbClr val="002D56"/>
                </a:solidFill>
                <a:sym typeface="Symbol" pitchFamily="18" charset="2"/>
              </a:rPr>
              <a:t> − 𝑏</a:t>
            </a:r>
            <a:r>
              <a:rPr lang="en-US" altLang="en-US" baseline="30000" dirty="0">
                <a:solidFill>
                  <a:srgbClr val="002D56"/>
                </a:solidFill>
                <a:sym typeface="Symbol" pitchFamily="18" charset="2"/>
              </a:rPr>
              <a:t>2</a:t>
            </a:r>
            <a:r>
              <a:rPr lang="en-US" altLang="en-US" dirty="0">
                <a:solidFill>
                  <a:srgbClr val="002D56"/>
                </a:solidFill>
                <a:sym typeface="Symbol" pitchFamily="18" charset="2"/>
              </a:rPr>
              <a:t> = 0; 𝑎𝑛𝑑 𝑥</a:t>
            </a:r>
            <a:r>
              <a:rPr lang="en-US" altLang="en-US" baseline="-25000" dirty="0">
                <a:solidFill>
                  <a:srgbClr val="002D56"/>
                </a:solidFill>
                <a:sym typeface="Symbol" pitchFamily="18" charset="2"/>
              </a:rPr>
              <a:t>2</a:t>
            </a:r>
            <a:r>
              <a:rPr lang="en-US" altLang="en-US" dirty="0">
                <a:solidFill>
                  <a:srgbClr val="002D56"/>
                </a:solidFill>
                <a:sym typeface="Symbol" pitchFamily="18" charset="2"/>
              </a:rPr>
              <a:t> − 𝑐</a:t>
            </a:r>
            <a:r>
              <a:rPr lang="en-US" altLang="en-US" baseline="30000" dirty="0">
                <a:solidFill>
                  <a:srgbClr val="002D56"/>
                </a:solidFill>
                <a:sym typeface="Symbol" pitchFamily="18" charset="2"/>
              </a:rPr>
              <a:t>2</a:t>
            </a:r>
            <a:r>
              <a:rPr lang="en-US" altLang="en-US" dirty="0">
                <a:solidFill>
                  <a:srgbClr val="002D56"/>
                </a:solidFill>
                <a:sym typeface="Symbol" pitchFamily="18" charset="2"/>
              </a:rPr>
              <a:t> = 0</a:t>
            </a:r>
          </a:p>
          <a:p>
            <a:pPr lvl="1"/>
            <a:r>
              <a:rPr lang="en-US" altLang="en-US" sz="2600" dirty="0" smtClean="0">
                <a:sym typeface="Symbol" pitchFamily="18" charset="2"/>
              </a:rPr>
              <a:t>Any solution that obeys these three equality constraints will also obey the inequality constraints</a:t>
            </a:r>
            <a:endParaRPr lang="en-US" altLang="en-US" dirty="0" smtClean="0"/>
          </a:p>
        </p:txBody>
      </p:sp>
      <p:sp>
        <p:nvSpPr>
          <p:cNvPr id="119812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3B15E8-ED01-428F-8087-333D20E4E684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2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Inequality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835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sz="2800" dirty="0" smtClean="0"/>
                  <a:t>Maximize</a:t>
                </a:r>
                <a:r>
                  <a:rPr lang="en-US" altLang="en-US" sz="2800" dirty="0" smtClean="0">
                    <a:solidFill>
                      <a:srgbClr val="7B332D"/>
                    </a:solidFill>
                  </a:rPr>
                  <a:t> </a:t>
                </a:r>
                <a:r>
                  <a:rPr lang="en-US" altLang="en-US" sz="2800" dirty="0">
                    <a:solidFill>
                      <a:srgbClr val="002D56"/>
                    </a:solidFill>
                  </a:rPr>
                  <a:t>𝑦 = 𝑓(𝑥</a:t>
                </a:r>
                <a:r>
                  <a:rPr lang="en-US" altLang="en-US" sz="2800" baseline="-25000" dirty="0">
                    <a:solidFill>
                      <a:srgbClr val="002D56"/>
                    </a:solidFill>
                  </a:rPr>
                  <a:t>1</a:t>
                </a:r>
                <a:r>
                  <a:rPr lang="en-US" altLang="en-US" sz="2800" dirty="0">
                    <a:solidFill>
                      <a:srgbClr val="002D56"/>
                    </a:solidFill>
                  </a:rPr>
                  <a:t>,𝑥</a:t>
                </a:r>
                <a:r>
                  <a:rPr lang="en-US" altLang="en-US" sz="2800" baseline="-25000" dirty="0">
                    <a:solidFill>
                      <a:srgbClr val="002D56"/>
                    </a:solidFill>
                  </a:rPr>
                  <a:t>2</a:t>
                </a:r>
                <a:r>
                  <a:rPr lang="en-US" altLang="en-US" sz="2800" dirty="0">
                    <a:solidFill>
                      <a:srgbClr val="002D56"/>
                    </a:solidFill>
                  </a:rPr>
                  <a:t>) </a:t>
                </a:r>
                <a:r>
                  <a:rPr lang="en-US" altLang="en-US" sz="2800" dirty="0" smtClean="0"/>
                  <a:t>subject to</a:t>
                </a:r>
                <a:endParaRPr lang="en-US" altLang="en-US" sz="2800" dirty="0" smtClean="0">
                  <a:solidFill>
                    <a:srgbClr val="3B4F89"/>
                  </a:solidFill>
                </a:endParaRPr>
              </a:p>
              <a:p>
                <a:pPr marL="342900" lvl="1" indent="-342900">
                  <a:lnSpc>
                    <a:spcPct val="120000"/>
                  </a:lnSpc>
                  <a:buNone/>
                </a:pPr>
                <a:r>
                  <a:rPr lang="en-US" altLang="en-US" sz="2800" i="1" dirty="0" smtClean="0">
                    <a:solidFill>
                      <a:srgbClr val="FF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𝑔</m:t>
                    </m:r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𝑥</m:t>
                    </m:r>
                    <m:r>
                      <m:rPr>
                        <m:nor/>
                      </m:rPr>
                      <a:rPr lang="en-US" altLang="en-US" sz="2800" baseline="-25000" dirty="0">
                        <a:solidFill>
                          <a:srgbClr val="002D56"/>
                        </a:solidFill>
                      </a:rPr>
                      <m:t>1</m:t>
                    </m:r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,</m:t>
                    </m:r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𝑥</m:t>
                    </m:r>
                    <m:r>
                      <m:rPr>
                        <m:nor/>
                      </m:rPr>
                      <a:rPr lang="en-US" altLang="en-US" sz="2800" baseline="-25000" dirty="0">
                        <a:solidFill>
                          <a:srgbClr val="002D56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) ≥ 0, </m:t>
                    </m:r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𝑥</m:t>
                    </m:r>
                    <m:r>
                      <m:rPr>
                        <m:nor/>
                      </m:rPr>
                      <a:rPr lang="en-US" altLang="en-US" sz="2800" baseline="-25000" dirty="0">
                        <a:solidFill>
                          <a:srgbClr val="002D56"/>
                        </a:solidFill>
                      </a:rPr>
                      <m:t>1</m:t>
                    </m:r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 ≥ 0, </m:t>
                    </m:r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𝑎𝑛𝑑</m:t>
                    </m:r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𝑥</m:t>
                    </m:r>
                    <m:r>
                      <m:rPr>
                        <m:nor/>
                      </m:rPr>
                      <a:rPr lang="en-US" altLang="en-US" sz="2800" baseline="-25000" dirty="0">
                        <a:solidFill>
                          <a:srgbClr val="002D56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altLang="en-US" sz="2800" dirty="0">
                        <a:solidFill>
                          <a:srgbClr val="002D56"/>
                        </a:solidFill>
                      </a:rPr>
                      <m:t> ≥ 0</m:t>
                    </m:r>
                  </m:oMath>
                </a14:m>
                <a:endParaRPr lang="en-US" altLang="en-US" sz="2800" dirty="0">
                  <a:solidFill>
                    <a:srgbClr val="002D56"/>
                  </a:solidFill>
                </a:endParaRPr>
              </a:p>
              <a:p>
                <a:r>
                  <a:rPr lang="en-US" altLang="en-US" sz="2800" dirty="0" smtClean="0">
                    <a:sym typeface="Symbol" pitchFamily="18" charset="2"/>
                  </a:rPr>
                  <a:t>Lagrange multipliers </a:t>
                </a:r>
              </a:p>
              <a:p>
                <a:pPr marL="0" indent="0">
                  <a:buNone/>
                </a:pPr>
                <a:r>
                  <a:rPr lang="en-US" altLang="en-US" sz="2800" b="1" dirty="0">
                    <a:solidFill>
                      <a:srgbClr val="002D56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  <a:sym typeface="Symbol" pitchFamily="18" charset="2"/>
                  </a:rPr>
                  <a:t>	</a:t>
                </a:r>
                <a:r>
                  <a:rPr lang="en-US" altLang="en-US" sz="2800" b="1" dirty="0" smtClean="0">
                    <a:solidFill>
                      <a:srgbClr val="002D56"/>
                    </a:solidFill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ℒ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 = </a:t>
                </a:r>
                <a:r>
                  <a:rPr lang="en-US" altLang="en-US" sz="2800" i="1" dirty="0" smtClean="0">
                    <a:solidFill>
                      <a:srgbClr val="002D56"/>
                    </a:solidFill>
                    <a:sym typeface="Symbol" pitchFamily="18" charset="2"/>
                  </a:rPr>
                  <a:t>f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(</a:t>
                </a:r>
                <a:r>
                  <a:rPr lang="en-US" altLang="en-US" sz="2800" i="1" dirty="0" smtClean="0">
                    <a:solidFill>
                      <a:srgbClr val="002D56"/>
                    </a:solidFill>
                    <a:sym typeface="Symbol" pitchFamily="18" charset="2"/>
                  </a:rPr>
                  <a:t>x</a:t>
                </a:r>
                <a:r>
                  <a:rPr lang="en-US" altLang="en-US" sz="2800" baseline="-25000" dirty="0" smtClean="0">
                    <a:solidFill>
                      <a:srgbClr val="002D56"/>
                    </a:solidFill>
                    <a:sym typeface="Symbol" pitchFamily="18" charset="2"/>
                  </a:rPr>
                  <a:t>1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,</a:t>
                </a:r>
                <a:r>
                  <a:rPr lang="en-US" altLang="en-US" sz="2800" i="1" dirty="0" smtClean="0">
                    <a:solidFill>
                      <a:srgbClr val="002D56"/>
                    </a:solidFill>
                    <a:sym typeface="Symbol" pitchFamily="18" charset="2"/>
                  </a:rPr>
                  <a:t>x</a:t>
                </a:r>
                <a:r>
                  <a:rPr lang="en-US" altLang="en-US" sz="2800" baseline="-25000" dirty="0" smtClean="0">
                    <a:solidFill>
                      <a:srgbClr val="002D56"/>
                    </a:solidFill>
                    <a:sym typeface="Symbol" pitchFamily="18" charset="2"/>
                  </a:rPr>
                  <a:t>2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)+ </a:t>
                </a:r>
                <a:r>
                  <a:rPr lang="en-US" altLang="en-US" sz="2800" baseline="-25000" dirty="0" smtClean="0">
                    <a:solidFill>
                      <a:srgbClr val="002D56"/>
                    </a:solidFill>
                    <a:sym typeface="Symbol" pitchFamily="18" charset="2"/>
                  </a:rPr>
                  <a:t>1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[</a:t>
                </a:r>
                <a:r>
                  <a:rPr lang="en-US" altLang="en-US" sz="2800" i="1" dirty="0" smtClean="0">
                    <a:solidFill>
                      <a:srgbClr val="002D56"/>
                    </a:solidFill>
                    <a:sym typeface="Symbol" pitchFamily="18" charset="2"/>
                  </a:rPr>
                  <a:t>g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(</a:t>
                </a:r>
                <a:r>
                  <a:rPr lang="en-US" altLang="en-US" sz="2800" i="1" dirty="0" smtClean="0">
                    <a:solidFill>
                      <a:srgbClr val="002D56"/>
                    </a:solidFill>
                    <a:sym typeface="Symbol" pitchFamily="18" charset="2"/>
                  </a:rPr>
                  <a:t>x</a:t>
                </a:r>
                <a:r>
                  <a:rPr lang="en-US" altLang="en-US" sz="2800" baseline="-25000" dirty="0" smtClean="0">
                    <a:solidFill>
                      <a:srgbClr val="002D56"/>
                    </a:solidFill>
                    <a:sym typeface="Symbol" pitchFamily="18" charset="2"/>
                  </a:rPr>
                  <a:t>1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,</a:t>
                </a:r>
                <a:r>
                  <a:rPr lang="en-US" altLang="en-US" sz="2800" i="1" dirty="0" smtClean="0">
                    <a:solidFill>
                      <a:srgbClr val="002D56"/>
                    </a:solidFill>
                    <a:sym typeface="Symbol" pitchFamily="18" charset="2"/>
                  </a:rPr>
                  <a:t>x</a:t>
                </a:r>
                <a:r>
                  <a:rPr lang="en-US" altLang="en-US" sz="2800" baseline="-25000" dirty="0" smtClean="0">
                    <a:solidFill>
                      <a:srgbClr val="002D56"/>
                    </a:solidFill>
                    <a:sym typeface="Symbol" pitchFamily="18" charset="2"/>
                  </a:rPr>
                  <a:t>2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) - </a:t>
                </a:r>
                <a:r>
                  <a:rPr lang="en-US" altLang="en-US" sz="2800" i="1" dirty="0" smtClean="0">
                    <a:solidFill>
                      <a:srgbClr val="002D56"/>
                    </a:solidFill>
                    <a:sym typeface="Symbol" pitchFamily="18" charset="2"/>
                  </a:rPr>
                  <a:t>a</a:t>
                </a:r>
                <a:r>
                  <a:rPr lang="en-US" altLang="en-US" sz="2800" baseline="30000" dirty="0" smtClean="0">
                    <a:solidFill>
                      <a:srgbClr val="002D56"/>
                    </a:solidFill>
                    <a:sym typeface="Symbol" pitchFamily="18" charset="2"/>
                  </a:rPr>
                  <a:t>2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]+</a:t>
                </a:r>
                <a:r>
                  <a:rPr lang="en-US" altLang="en-US" sz="2800" baseline="-25000" dirty="0" smtClean="0">
                    <a:solidFill>
                      <a:srgbClr val="002D56"/>
                    </a:solidFill>
                    <a:sym typeface="Symbol" pitchFamily="18" charset="2"/>
                  </a:rPr>
                  <a:t>2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[</a:t>
                </a:r>
                <a:r>
                  <a:rPr lang="en-US" altLang="en-US" sz="2800" i="1" dirty="0" smtClean="0">
                    <a:solidFill>
                      <a:srgbClr val="002D56"/>
                    </a:solidFill>
                    <a:sym typeface="Symbol" pitchFamily="18" charset="2"/>
                  </a:rPr>
                  <a:t>x</a:t>
                </a:r>
                <a:r>
                  <a:rPr lang="en-US" altLang="en-US" sz="2800" baseline="-25000" dirty="0" smtClean="0">
                    <a:solidFill>
                      <a:srgbClr val="002D56"/>
                    </a:solidFill>
                    <a:sym typeface="Symbol" pitchFamily="18" charset="2"/>
                  </a:rPr>
                  <a:t>1 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- </a:t>
                </a:r>
                <a:r>
                  <a:rPr lang="en-US" altLang="en-US" sz="2800" i="1" dirty="0" smtClean="0">
                    <a:solidFill>
                      <a:srgbClr val="002D56"/>
                    </a:solidFill>
                    <a:sym typeface="Symbol" pitchFamily="18" charset="2"/>
                  </a:rPr>
                  <a:t>b</a:t>
                </a:r>
                <a:r>
                  <a:rPr lang="en-US" altLang="en-US" sz="2800" baseline="30000" dirty="0" smtClean="0">
                    <a:solidFill>
                      <a:srgbClr val="002D56"/>
                    </a:solidFill>
                    <a:sym typeface="Symbol" pitchFamily="18" charset="2"/>
                  </a:rPr>
                  <a:t>2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]+ </a:t>
                </a:r>
                <a:r>
                  <a:rPr lang="en-US" altLang="en-US" sz="2800" baseline="-25000" dirty="0" smtClean="0">
                    <a:solidFill>
                      <a:srgbClr val="002D56"/>
                    </a:solidFill>
                    <a:sym typeface="Symbol" pitchFamily="18" charset="2"/>
                  </a:rPr>
                  <a:t>3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[</a:t>
                </a:r>
                <a:r>
                  <a:rPr lang="en-US" altLang="en-US" sz="2800" i="1" dirty="0" smtClean="0">
                    <a:solidFill>
                      <a:srgbClr val="002D56"/>
                    </a:solidFill>
                    <a:sym typeface="Symbol" pitchFamily="18" charset="2"/>
                  </a:rPr>
                  <a:t>x</a:t>
                </a:r>
                <a:r>
                  <a:rPr lang="en-US" altLang="en-US" sz="2800" baseline="-25000" dirty="0" smtClean="0">
                    <a:solidFill>
                      <a:srgbClr val="002D56"/>
                    </a:solidFill>
                    <a:sym typeface="Symbol" pitchFamily="18" charset="2"/>
                  </a:rPr>
                  <a:t>2 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- </a:t>
                </a:r>
                <a:r>
                  <a:rPr lang="en-US" altLang="en-US" sz="2800" i="1" dirty="0" smtClean="0">
                    <a:solidFill>
                      <a:srgbClr val="002D56"/>
                    </a:solidFill>
                    <a:sym typeface="Symbol" pitchFamily="18" charset="2"/>
                  </a:rPr>
                  <a:t>c</a:t>
                </a:r>
                <a:r>
                  <a:rPr lang="en-US" altLang="en-US" sz="2800" baseline="30000" dirty="0" smtClean="0">
                    <a:solidFill>
                      <a:srgbClr val="002D56"/>
                    </a:solidFill>
                    <a:sym typeface="Symbol" pitchFamily="18" charset="2"/>
                  </a:rPr>
                  <a:t>2</a:t>
                </a:r>
                <a:r>
                  <a:rPr lang="en-US" altLang="en-US" sz="2800" dirty="0" smtClean="0">
                    <a:solidFill>
                      <a:srgbClr val="002D56"/>
                    </a:solidFill>
                    <a:sym typeface="Symbol" pitchFamily="18" charset="2"/>
                  </a:rPr>
                  <a:t>]</a:t>
                </a:r>
              </a:p>
              <a:p>
                <a:pPr lvl="1"/>
                <a:r>
                  <a:rPr lang="en-US" altLang="en-US" sz="2800" dirty="0" smtClean="0">
                    <a:sym typeface="Symbol" pitchFamily="18" charset="2"/>
                  </a:rPr>
                  <a:t>There will be 8 first-order conditions</a:t>
                </a:r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120835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86" t="-2592" b="-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836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DFD359-831E-4499-BE56-F0C7EF8093C3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962400"/>
            <a:ext cx="8534400" cy="2286000"/>
          </a:xfrm>
        </p:spPr>
        <p:txBody>
          <a:bodyPr>
            <a:noAutofit/>
          </a:bodyPr>
          <a:lstStyle/>
          <a:p>
            <a:pPr marL="0" indent="0" eaLnBrk="0" hangingPunct="0">
              <a:lnSpc>
                <a:spcPct val="110000"/>
              </a:lnSpc>
              <a:buNone/>
              <a:defRPr/>
            </a:pP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sz="2800" b="1" kern="0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sz="2800" b="1" kern="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/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+ 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g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+ 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0	</a:t>
            </a:r>
            <a:r>
              <a:rPr lang="en-US" sz="2800" b="1" kern="0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sz="2800" b="1" kern="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/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-2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3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0</a:t>
            </a:r>
            <a:endParaRPr lang="en-US" sz="2800" kern="0" dirty="0">
              <a:solidFill>
                <a:srgbClr val="FF0000"/>
              </a:solidFill>
              <a:sym typeface="Symbol" pitchFamily="18" charset="2"/>
            </a:endParaRPr>
          </a:p>
          <a:p>
            <a:pPr marL="0" indent="0" eaLnBrk="0" hangingPunct="0">
              <a:lnSpc>
                <a:spcPct val="110000"/>
              </a:lnSpc>
              <a:buNone/>
              <a:defRPr/>
            </a:pP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sz="2800" b="1" kern="0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sz="2800" b="1" kern="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/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+ 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g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+ 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3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0	</a:t>
            </a:r>
            <a:r>
              <a:rPr lang="en-US" sz="2800" b="1" kern="0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sz="2800" b="1" kern="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/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g(x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,x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) - 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sz="2800" kern="0" baseline="30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=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0</a:t>
            </a:r>
            <a:endParaRPr lang="en-US" sz="2800" kern="0" dirty="0">
              <a:solidFill>
                <a:srgbClr val="FF0000"/>
              </a:solidFill>
              <a:sym typeface="Symbol" pitchFamily="18" charset="2"/>
            </a:endParaRPr>
          </a:p>
          <a:p>
            <a:pPr marL="0" indent="0" eaLnBrk="0" hangingPunct="0">
              <a:lnSpc>
                <a:spcPct val="110000"/>
              </a:lnSpc>
              <a:buNone/>
              <a:defRPr/>
            </a:pP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sz="2800" b="1" kern="0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sz="2800" b="1" kern="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/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-2a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0			</a:t>
            </a:r>
            <a:r>
              <a:rPr lang="en-US" sz="2800" b="1" kern="0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sz="2800" b="1" kern="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/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- 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sz="2800" kern="0" baseline="30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=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0</a:t>
            </a:r>
            <a:endParaRPr lang="en-US" sz="2800" kern="0" dirty="0">
              <a:solidFill>
                <a:srgbClr val="FF0000"/>
              </a:solidFill>
              <a:sym typeface="Symbol" pitchFamily="18" charset="2"/>
            </a:endParaRPr>
          </a:p>
          <a:p>
            <a:pPr marL="0" indent="0" eaLnBrk="0" hangingPunct="0">
              <a:lnSpc>
                <a:spcPct val="110000"/>
              </a:lnSpc>
              <a:buNone/>
              <a:defRPr/>
            </a:pP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sz="2800" b="1" kern="0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sz="2800" b="1" kern="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/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-2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0			</a:t>
            </a:r>
            <a:r>
              <a:rPr lang="en-US" sz="2800" b="1" kern="0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sz="2800" b="1" kern="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/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3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sz="2800" kern="0" baseline="-25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- 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lang="en-US" sz="2800" kern="0" baseline="30000" dirty="0" smtClean="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i="1" kern="0" dirty="0" smtClean="0">
                <a:solidFill>
                  <a:srgbClr val="FF0000"/>
                </a:solidFill>
                <a:sym typeface="Symbol" pitchFamily="18" charset="2"/>
              </a:rPr>
              <a:t>=</a:t>
            </a:r>
            <a:r>
              <a:rPr lang="en-US" sz="2800" kern="0" dirty="0" smtClean="0">
                <a:solidFill>
                  <a:srgbClr val="FF0000"/>
                </a:solidFill>
                <a:sym typeface="Symbol" pitchFamily="18" charset="2"/>
              </a:rPr>
              <a:t> 0</a:t>
            </a:r>
            <a:endParaRPr lang="en-US" sz="2800" kern="0" dirty="0">
              <a:solidFill>
                <a:srgbClr val="FF0000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4142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Inequality Constraints</a:t>
            </a:r>
          </a:p>
        </p:txBody>
      </p:sp>
      <p:sp>
        <p:nvSpPr>
          <p:cNvPr id="12185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Complementary slackness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According to the third condition, either </a:t>
            </a:r>
            <a:r>
              <a:rPr lang="en-US" altLang="en-US" i="1" dirty="0" smtClean="0">
                <a:sym typeface="Symbol" pitchFamily="18" charset="2"/>
              </a:rPr>
              <a:t>a</a:t>
            </a:r>
            <a:r>
              <a:rPr lang="en-US" altLang="en-US" dirty="0" smtClean="0">
                <a:sym typeface="Symbol" pitchFamily="18" charset="2"/>
              </a:rPr>
              <a:t> or </a:t>
            </a:r>
            <a:r>
              <a:rPr lang="en-US" altLang="en-US" baseline="-25000" dirty="0" smtClean="0">
                <a:sym typeface="Symbol" pitchFamily="18" charset="2"/>
              </a:rPr>
              <a:t>1</a:t>
            </a:r>
            <a:r>
              <a:rPr lang="en-US" altLang="en-US" dirty="0" smtClean="0">
                <a:sym typeface="Symbol" pitchFamily="18" charset="2"/>
              </a:rPr>
              <a:t> = 0</a:t>
            </a:r>
          </a:p>
          <a:p>
            <a:pPr lvl="2"/>
            <a:r>
              <a:rPr lang="en-US" altLang="en-US" dirty="0" smtClean="0">
                <a:sym typeface="Symbol" pitchFamily="18" charset="2"/>
              </a:rPr>
              <a:t>If </a:t>
            </a:r>
            <a:r>
              <a:rPr lang="en-US" altLang="en-US" i="1" dirty="0" smtClean="0">
                <a:sym typeface="Symbol" pitchFamily="18" charset="2"/>
              </a:rPr>
              <a:t>a </a:t>
            </a:r>
            <a:r>
              <a:rPr lang="en-US" altLang="en-US" dirty="0" smtClean="0">
                <a:sym typeface="Symbol" pitchFamily="18" charset="2"/>
              </a:rPr>
              <a:t>= 0, the constraint </a:t>
            </a:r>
            <a:r>
              <a:rPr lang="en-US" altLang="en-US" dirty="0">
                <a:sym typeface="Symbol" pitchFamily="18" charset="2"/>
              </a:rPr>
              <a:t>𝑔(𝑥</a:t>
            </a:r>
            <a:r>
              <a:rPr lang="en-US" altLang="en-US" baseline="-25000" dirty="0">
                <a:sym typeface="Symbol" pitchFamily="18" charset="2"/>
              </a:rPr>
              <a:t>1</a:t>
            </a:r>
            <a:r>
              <a:rPr lang="en-US" altLang="en-US" dirty="0">
                <a:sym typeface="Symbol" pitchFamily="18" charset="2"/>
              </a:rPr>
              <a:t>,𝑥</a:t>
            </a:r>
            <a:r>
              <a:rPr lang="en-US" altLang="en-US" baseline="-25000" dirty="0">
                <a:sym typeface="Symbol" pitchFamily="18" charset="2"/>
              </a:rPr>
              <a:t>2</a:t>
            </a:r>
            <a:r>
              <a:rPr lang="en-US" altLang="en-US" dirty="0">
                <a:sym typeface="Symbol" pitchFamily="18" charset="2"/>
              </a:rPr>
              <a:t>) holds </a:t>
            </a:r>
            <a:r>
              <a:rPr lang="en-US" altLang="en-US" dirty="0" smtClean="0">
                <a:sym typeface="Symbol" pitchFamily="18" charset="2"/>
              </a:rPr>
              <a:t>exactly</a:t>
            </a:r>
          </a:p>
          <a:p>
            <a:pPr lvl="2"/>
            <a:r>
              <a:rPr lang="en-US" altLang="en-US" dirty="0" smtClean="0">
                <a:sym typeface="Symbol" pitchFamily="18" charset="2"/>
              </a:rPr>
              <a:t>If </a:t>
            </a:r>
            <a:r>
              <a:rPr lang="en-US" altLang="en-US" baseline="-25000" dirty="0" smtClean="0">
                <a:sym typeface="Symbol" pitchFamily="18" charset="2"/>
              </a:rPr>
              <a:t>1</a:t>
            </a:r>
            <a:r>
              <a:rPr lang="en-US" altLang="en-US" dirty="0" smtClean="0">
                <a:sym typeface="Symbol" pitchFamily="18" charset="2"/>
              </a:rPr>
              <a:t> = 0, the availability of some slackness of the constraint implies that its value to the objective function is 0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Similar complementary slackness relationships also hold for 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baseline="-25000" dirty="0" smtClean="0">
                <a:sym typeface="Symbol" pitchFamily="18" charset="2"/>
              </a:rPr>
              <a:t>1</a:t>
            </a:r>
            <a:r>
              <a:rPr lang="en-US" altLang="en-US" dirty="0" smtClean="0">
                <a:sym typeface="Symbol" pitchFamily="18" charset="2"/>
              </a:rPr>
              <a:t> and 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baseline="-25000" dirty="0" smtClean="0">
                <a:sym typeface="Symbol" pitchFamily="18" charset="2"/>
              </a:rPr>
              <a:t>2</a:t>
            </a:r>
            <a:endParaRPr lang="en-US" altLang="en-US" dirty="0" smtClean="0">
              <a:sym typeface="Symbol" pitchFamily="18" charset="2"/>
            </a:endParaRPr>
          </a:p>
          <a:p>
            <a:endParaRPr lang="en-US" altLang="en-US" dirty="0" smtClean="0"/>
          </a:p>
        </p:txBody>
      </p:sp>
      <p:sp>
        <p:nvSpPr>
          <p:cNvPr id="121860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FACF47-57C6-4310-B7EA-866C4E89D665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2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Inequality Constraints</a:t>
            </a:r>
          </a:p>
        </p:txBody>
      </p:sp>
      <p:sp>
        <p:nvSpPr>
          <p:cNvPr id="12288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Complementary slackness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These results are sometimes called </a:t>
            </a:r>
            <a:r>
              <a:rPr lang="en-US" altLang="en-US" u="sng" dirty="0" smtClean="0">
                <a:sym typeface="Symbol" pitchFamily="18" charset="2"/>
              </a:rPr>
              <a:t>Kuhn-Tucker conditions</a:t>
            </a:r>
            <a:endParaRPr lang="en-US" altLang="en-US" dirty="0" smtClean="0">
              <a:sym typeface="Symbol" pitchFamily="18" charset="2"/>
            </a:endParaRPr>
          </a:p>
          <a:p>
            <a:pPr lvl="2"/>
            <a:r>
              <a:rPr lang="en-US" altLang="en-US" dirty="0" smtClean="0">
                <a:sym typeface="Symbol" pitchFamily="18" charset="2"/>
              </a:rPr>
              <a:t>Show that solutions to problems involving inequality constraints will differ from those involving equality constraints in rather simple ways</a:t>
            </a:r>
          </a:p>
          <a:p>
            <a:pPr lvl="2"/>
            <a:r>
              <a:rPr lang="en-US" altLang="en-US" dirty="0" smtClean="0">
                <a:sym typeface="Symbol" pitchFamily="18" charset="2"/>
              </a:rPr>
              <a:t>Allows us to work primarily with constraints involving equalities</a:t>
            </a:r>
          </a:p>
          <a:p>
            <a:endParaRPr lang="en-US" altLang="en-US" dirty="0" smtClean="0"/>
          </a:p>
        </p:txBody>
      </p:sp>
      <p:sp>
        <p:nvSpPr>
          <p:cNvPr id="122884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13209D-0656-41D6-98AA-D05C659467FD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6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 smtClean="0"/>
              <a:t>Second-Order Conditions and Curvature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907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219200"/>
                <a:ext cx="8763000" cy="5181600"/>
              </a:xfrm>
            </p:spPr>
            <p:txBody>
              <a:bodyPr/>
              <a:lstStyle/>
              <a:p>
                <a:r>
                  <a:rPr lang="en-US" altLang="en-US" dirty="0" smtClean="0"/>
                  <a:t>Functions of one variable,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latin typeface="Cambria Math"/>
                      </a:rPr>
                      <m:t> = </m:t>
                    </m:r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A necessary condition for a maximum:</a:t>
                </a:r>
              </a:p>
              <a:p>
                <a:pPr lvl="1">
                  <a:lnSpc>
                    <a:spcPct val="11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𝑑𝑦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/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’(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 = 0</m:t>
                      </m:r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</a:endParaRPr>
              </a:p>
              <a:p>
                <a:pPr lvl="2">
                  <a:lnSpc>
                    <a:spcPct val="110000"/>
                  </a:lnSpc>
                </a:pPr>
                <a:r>
                  <a:rPr lang="en-US" altLang="en-US" dirty="0" smtClean="0"/>
                  <a:t> </a:t>
                </a:r>
                <a:r>
                  <a:rPr lang="en-US" altLang="en-US" i="1" dirty="0" smtClean="0"/>
                  <a:t>y</a:t>
                </a:r>
                <a:r>
                  <a:rPr lang="en-US" altLang="en-US" dirty="0" smtClean="0"/>
                  <a:t> must be decreasing for movements away from it</a:t>
                </a:r>
              </a:p>
              <a:p>
                <a:pPr lvl="1"/>
                <a:r>
                  <a:rPr lang="en-US" altLang="en-US" dirty="0" smtClean="0"/>
                  <a:t>Change in </a:t>
                </a:r>
                <a:r>
                  <a:rPr lang="en-US" altLang="en-US" i="1" dirty="0" smtClean="0"/>
                  <a:t>y: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𝑑𝑦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 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’(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) 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𝑑𝑥</m:t>
                    </m:r>
                  </m:oMath>
                </a14:m>
                <a:endParaRPr lang="en-US" altLang="en-US" dirty="0" smtClean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altLang="en-US" dirty="0" smtClean="0"/>
                  <a:t>To be at a maximum, </a:t>
                </a:r>
                <a:r>
                  <a:rPr lang="en-US" altLang="en-US" i="1" dirty="0" err="1" smtClean="0"/>
                  <a:t>dy</a:t>
                </a:r>
                <a:r>
                  <a:rPr lang="en-US" altLang="en-US" dirty="0" smtClean="0"/>
                  <a:t> must be decreasing for small increases in </a:t>
                </a:r>
                <a:r>
                  <a:rPr lang="en-US" altLang="en-US" i="1" dirty="0" smtClean="0"/>
                  <a:t>x</a:t>
                </a:r>
                <a:endParaRPr lang="en-US" altLang="en-US" dirty="0" smtClean="0"/>
              </a:p>
            </p:txBody>
          </p:sp>
        </mc:Choice>
        <mc:Fallback xmlns="">
          <p:sp>
            <p:nvSpPr>
              <p:cNvPr id="123907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219200"/>
                <a:ext cx="8763000" cy="5181600"/>
              </a:xfrm>
              <a:blipFill rotWithShape="1">
                <a:blip r:embed="rId2"/>
                <a:stretch>
                  <a:fillRect l="-1740" t="-1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908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771755A-A0D3-464B-B495-88BEBBAD16F6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6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 smtClean="0"/>
              <a:t>Second-Order Conditions and Curvature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2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Functions of one variable,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latin typeface="Cambria Math"/>
                      </a:rPr>
                      <m:t> = </m:t>
                    </m:r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Second derivative of </a:t>
                </a:r>
                <a:r>
                  <a:rPr lang="en-US" altLang="en-US" i="1" dirty="0" smtClean="0"/>
                  <a:t>y</a:t>
                </a:r>
                <a:endParaRPr lang="en-US" altLang="en-US" dirty="0" smtClean="0"/>
              </a:p>
            </p:txBody>
          </p:sp>
        </mc:Choice>
        <mc:Fallback xmlns="">
          <p:sp>
            <p:nvSpPr>
              <p:cNvPr id="32772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786" t="-2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3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9BA5EBF-F4DA-4C62-A734-F15E34E1823F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3810000"/>
                <a:ext cx="8534400" cy="2362200"/>
              </a:xfrm>
            </p:spPr>
            <p:txBody>
              <a:bodyPr/>
              <a:lstStyle/>
              <a:p>
                <a:pPr lvl="2" eaLnBrk="0" hangingPunct="0">
                  <a:buSzPct val="90000"/>
                  <a:buFontTx/>
                  <a:buChar char="•"/>
                  <a:defRPr/>
                </a:pPr>
                <a:r>
                  <a:rPr lang="en-US" kern="0" dirty="0"/>
                  <a:t>Since </a:t>
                </a:r>
                <a14:m>
                  <m:oMath xmlns:m="http://schemas.openxmlformats.org/officeDocument/2006/math">
                    <m:r>
                      <a:rPr lang="en-US" i="1" kern="0" dirty="0" smtClean="0">
                        <a:latin typeface="Cambria Math"/>
                      </a:rPr>
                      <m:t>𝑑</m:t>
                    </m:r>
                    <m:r>
                      <a:rPr lang="en-US" i="1" kern="0" dirty="0" smtClean="0">
                        <a:latin typeface="Cambria Math"/>
                      </a:rPr>
                      <m:t> 2</m:t>
                    </m:r>
                    <m:r>
                      <a:rPr lang="en-US" i="1" kern="0" dirty="0">
                        <a:latin typeface="Cambria Math"/>
                      </a:rPr>
                      <m:t>𝑦</m:t>
                    </m:r>
                    <m:r>
                      <a:rPr lang="en-US" i="1" kern="0" dirty="0">
                        <a:latin typeface="Cambria Math"/>
                      </a:rPr>
                      <m:t> &lt; 0 , </m:t>
                    </m:r>
                    <m:r>
                      <a:rPr lang="en-US" i="1" kern="0" dirty="0">
                        <a:latin typeface="Cambria Math"/>
                      </a:rPr>
                      <m:t>𝑓</m:t>
                    </m:r>
                    <m:r>
                      <a:rPr lang="en-US" i="1" kern="0" dirty="0">
                        <a:latin typeface="Cambria Math"/>
                      </a:rPr>
                      <m:t> ’’(</m:t>
                    </m:r>
                    <m:r>
                      <a:rPr lang="en-US" i="1" kern="0" dirty="0">
                        <a:latin typeface="Cambria Math"/>
                      </a:rPr>
                      <m:t>𝑥</m:t>
                    </m:r>
                    <m:r>
                      <a:rPr lang="en-US" i="1" kern="0" dirty="0">
                        <a:latin typeface="Cambria Math"/>
                      </a:rPr>
                      <m:t>)</m:t>
                    </m:r>
                    <m:r>
                      <a:rPr lang="en-US" i="1" kern="0" dirty="0">
                        <a:latin typeface="Cambria Math"/>
                      </a:rPr>
                      <m:t>𝑑𝑥</m:t>
                    </m:r>
                    <m:r>
                      <a:rPr lang="en-US" i="1" kern="0" baseline="30000" dirty="0">
                        <a:latin typeface="Cambria Math"/>
                      </a:rPr>
                      <m:t>2</m:t>
                    </m:r>
                    <m:r>
                      <a:rPr lang="en-US" i="1" kern="0" dirty="0">
                        <a:latin typeface="Cambria Math"/>
                      </a:rPr>
                      <m:t> &lt; 0</m:t>
                    </m:r>
                  </m:oMath>
                </a14:m>
                <a:endParaRPr lang="en-US" kern="0" dirty="0"/>
              </a:p>
              <a:p>
                <a:pPr lvl="2" eaLnBrk="0" hangingPunct="0">
                  <a:buSzPct val="90000"/>
                  <a:buFontTx/>
                  <a:buChar char="•"/>
                  <a:defRPr/>
                </a:pPr>
                <a:r>
                  <a:rPr lang="en-US" kern="0" dirty="0"/>
                  <a:t>Since </a:t>
                </a:r>
                <a14:m>
                  <m:oMath xmlns:m="http://schemas.openxmlformats.org/officeDocument/2006/math">
                    <m:r>
                      <a:rPr lang="en-US" i="1" kern="0" dirty="0" smtClean="0">
                        <a:latin typeface="Cambria Math"/>
                      </a:rPr>
                      <m:t>𝑑𝑥</m:t>
                    </m:r>
                    <m:r>
                      <a:rPr lang="en-US" i="1" kern="0" baseline="30000" dirty="0">
                        <a:latin typeface="Cambria Math"/>
                      </a:rPr>
                      <m:t>2</m:t>
                    </m:r>
                  </m:oMath>
                </a14:m>
                <a:r>
                  <a:rPr lang="en-US" kern="0" dirty="0"/>
                  <a:t> must be &gt; 0, </a:t>
                </a:r>
                <a14:m>
                  <m:oMath xmlns:m="http://schemas.openxmlformats.org/officeDocument/2006/math">
                    <m:r>
                      <a:rPr lang="en-US" i="1" kern="0" dirty="0" smtClean="0">
                        <a:latin typeface="Cambria Math"/>
                      </a:rPr>
                      <m:t>𝑓</m:t>
                    </m:r>
                    <m:r>
                      <a:rPr lang="en-US" i="1" kern="0" dirty="0" smtClean="0">
                        <a:latin typeface="Cambria Math"/>
                      </a:rPr>
                      <m:t> ’’(</m:t>
                    </m:r>
                    <m:r>
                      <a:rPr lang="en-US" i="1" kern="0" dirty="0" smtClean="0">
                        <a:latin typeface="Cambria Math"/>
                      </a:rPr>
                      <m:t>𝑥</m:t>
                    </m:r>
                    <m:r>
                      <a:rPr lang="en-US" i="1" kern="0" dirty="0" smtClean="0">
                        <a:latin typeface="Cambria Math"/>
                      </a:rPr>
                      <m:t>) &lt; 0</m:t>
                    </m:r>
                  </m:oMath>
                </a14:m>
                <a:endParaRPr lang="en-US" kern="0" dirty="0"/>
              </a:p>
              <a:p>
                <a:pPr lvl="2" eaLnBrk="0" hangingPunct="0">
                  <a:buSzPct val="90000"/>
                  <a:buFontTx/>
                  <a:buChar char="•"/>
                  <a:defRPr/>
                </a:pPr>
                <a:r>
                  <a:rPr lang="en-US" kern="0" dirty="0"/>
                  <a:t>This means that the function </a:t>
                </a:r>
                <a:r>
                  <a:rPr lang="en-US" i="1" kern="0" dirty="0"/>
                  <a:t>f</a:t>
                </a:r>
                <a:r>
                  <a:rPr lang="en-US" kern="0" dirty="0"/>
                  <a:t> must have a concave shape at the critical </a:t>
                </a:r>
                <a:r>
                  <a:rPr lang="en-US" kern="0" dirty="0" smtClean="0"/>
                  <a:t>point</a:t>
                </a:r>
                <a:endParaRPr lang="en-US" kern="0" dirty="0"/>
              </a:p>
            </p:txBody>
          </p:sp>
        </mc:Choice>
        <mc:Fallback xmlns=""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3810000"/>
                <a:ext cx="8534400" cy="2362200"/>
              </a:xfrm>
              <a:blipFill rotWithShape="1">
                <a:blip r:embed="rId4"/>
                <a:stretch>
                  <a:fillRect t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6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656843"/>
              </p:ext>
            </p:extLst>
          </p:nvPr>
        </p:nvGraphicFramePr>
        <p:xfrm>
          <a:off x="379413" y="2514600"/>
          <a:ext cx="83962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7" name="Equation" r:id="rId5" imgW="3454200" imgH="393480" progId="Equation.DSMT4">
                  <p:embed/>
                </p:oleObj>
              </mc:Choice>
              <mc:Fallback>
                <p:oleObj name="Equation" r:id="rId5" imgW="3454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3" y="2514600"/>
                        <a:ext cx="83962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815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 smtClean="0"/>
              <a:t>Second-Order Conditions and Curvature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955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Functions of two variables,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latin typeface="Cambria Math"/>
                      </a:rPr>
                      <m:t> = </m:t>
                    </m:r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, 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First order conditions for a maximum:</a:t>
                </a:r>
              </a:p>
              <a:p>
                <a:pPr lvl="3">
                  <a:lnSpc>
                    <a:spcPct val="12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/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1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𝑓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1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0</m:t>
                      </m:r>
                    </m:oMath>
                  </m:oMathPara>
                </a14:m>
                <a:endParaRPr lang="en-US" altLang="en-US" sz="32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3">
                  <a:lnSpc>
                    <a:spcPct val="12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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𝑦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/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𝑥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2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𝑓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2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0</m:t>
                      </m:r>
                    </m:oMath>
                  </m:oMathPara>
                </a14:m>
                <a:endParaRPr lang="en-US" altLang="en-US" sz="3200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1"/>
                <a:r>
                  <a:rPr lang="en-US" altLang="en-US" i="1" dirty="0" smtClean="0"/>
                  <a:t>f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 and </a:t>
                </a:r>
                <a:r>
                  <a:rPr lang="en-US" altLang="en-US" i="1" dirty="0" smtClean="0"/>
                  <a:t>f</a:t>
                </a:r>
                <a:r>
                  <a:rPr lang="en-US" altLang="en-US" baseline="-25000" dirty="0" smtClean="0"/>
                  <a:t>2</a:t>
                </a:r>
                <a:r>
                  <a:rPr lang="en-US" altLang="en-US" dirty="0" smtClean="0"/>
                  <a:t> must be diminishing at the critical point</a:t>
                </a:r>
                <a:endParaRPr lang="en-US" altLang="en-US" sz="1800" dirty="0" smtClean="0"/>
              </a:p>
              <a:p>
                <a:pPr lvl="1"/>
                <a:r>
                  <a:rPr lang="en-US" altLang="en-US" dirty="0" smtClean="0"/>
                  <a:t>Conditions must also be placed on the cross-partial derivative (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12</m:t>
                    </m:r>
                    <m:r>
                      <a:rPr lang="en-US" altLang="en-US" i="1" dirty="0" smtClean="0">
                        <a:latin typeface="Cambria Math"/>
                      </a:rPr>
                      <m:t> = </m:t>
                    </m:r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21</m:t>
                    </m:r>
                  </m:oMath>
                </a14:m>
                <a:r>
                  <a:rPr lang="en-US" altLang="en-US" dirty="0" smtClean="0"/>
                  <a:t>)</a:t>
                </a:r>
                <a:endParaRPr lang="en-US" altLang="en-US" sz="3800" dirty="0" smtClean="0">
                  <a:sym typeface="Symbol" pitchFamily="18" charset="2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en-US" dirty="0" smtClean="0"/>
              </a:p>
            </p:txBody>
          </p:sp>
        </mc:Choice>
        <mc:Fallback xmlns="">
          <p:sp>
            <p:nvSpPr>
              <p:cNvPr id="125955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956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ED8C1A-7F06-4724-87AA-234F7D4C53C3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3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 smtClean="0"/>
              <a:t>Second-Order Conditions and Curvature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79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066800"/>
                <a:ext cx="8763000" cy="5334000"/>
              </a:xfrm>
            </p:spPr>
            <p:txBody>
              <a:bodyPr>
                <a:noAutofit/>
              </a:bodyPr>
              <a:lstStyle/>
              <a:p>
                <a:r>
                  <a:rPr lang="en-US" altLang="en-US" sz="2800" dirty="0" smtClean="0"/>
                  <a:t>The total differential of </a:t>
                </a:r>
                <a:r>
                  <a:rPr lang="en-US" altLang="en-US" sz="2800" i="1" dirty="0" smtClean="0"/>
                  <a:t>y: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solidFill>
                          <a:srgbClr val="002D56"/>
                        </a:solidFill>
                        <a:latin typeface="Cambria Math"/>
                      </a:rPr>
                      <m:t>𝑑𝑦</m:t>
                    </m:r>
                    <m:r>
                      <a:rPr lang="en-US" altLang="en-US" sz="2800" i="1" dirty="0" smtClean="0">
                        <a:solidFill>
                          <a:srgbClr val="002D56"/>
                        </a:solidFill>
                        <a:latin typeface="Cambria Math"/>
                      </a:rPr>
                      <m:t> = </m:t>
                    </m:r>
                    <m:r>
                      <a:rPr lang="en-US" altLang="en-US" sz="2800" i="1" dirty="0" smtClean="0">
                        <a:solidFill>
                          <a:srgbClr val="002D56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002D56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dirty="0" smtClean="0">
                        <a:solidFill>
                          <a:srgbClr val="002D56"/>
                        </a:solidFill>
                        <a:latin typeface="Cambria Math"/>
                      </a:rPr>
                      <m:t> </m:t>
                    </m:r>
                    <m:r>
                      <a:rPr lang="en-US" altLang="en-US" sz="2800" i="1" dirty="0" smtClean="0">
                        <a:solidFill>
                          <a:srgbClr val="002D56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sz="2800" i="1" baseline="-25000" dirty="0" smtClean="0">
                        <a:solidFill>
                          <a:srgbClr val="002D56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dirty="0" smtClean="0">
                        <a:solidFill>
                          <a:srgbClr val="002D56"/>
                        </a:solidFill>
                        <a:latin typeface="Cambria Math"/>
                      </a:rPr>
                      <m:t> + </m:t>
                    </m:r>
                    <m:r>
                      <a:rPr lang="en-US" altLang="en-US" sz="2800" i="1" dirty="0" smtClean="0">
                        <a:solidFill>
                          <a:srgbClr val="002D56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002D56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002D56"/>
                        </a:solidFill>
                        <a:latin typeface="Cambria Math"/>
                      </a:rPr>
                      <m:t> </m:t>
                    </m:r>
                    <m:r>
                      <a:rPr lang="en-US" altLang="en-US" sz="2800" i="1" dirty="0" smtClean="0">
                        <a:solidFill>
                          <a:srgbClr val="002D56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sz="2800" i="1" baseline="-25000" dirty="0" smtClean="0">
                        <a:solidFill>
                          <a:srgbClr val="002D56"/>
                        </a:solidFill>
                        <a:latin typeface="Cambria Math"/>
                      </a:rPr>
                      <m:t>2</m:t>
                    </m:r>
                  </m:oMath>
                </a14:m>
                <a:endParaRPr lang="en-US" altLang="en-US" sz="2800" i="1" baseline="-25000" dirty="0" smtClean="0">
                  <a:solidFill>
                    <a:srgbClr val="002D56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en-US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11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𝑑𝑥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+ 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12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𝑑𝑥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</m:t>
                      </m:r>
                      <m:d>
                        <m:dPr>
                          <m:ctrlP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21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𝑑𝑥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+ 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22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𝑑𝑥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altLang="en-US" sz="2800" i="1" baseline="-25000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altLang="en-US" sz="2800" baseline="30000" dirty="0" smtClean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altLang="en-US" dirty="0" smtClean="0"/>
                  <a:t>By Young’s theorem,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12</m:t>
                    </m:r>
                    <m:r>
                      <a:rPr lang="en-US" altLang="en-US" i="1" dirty="0" smtClean="0">
                        <a:latin typeface="Cambria Math"/>
                      </a:rPr>
                      <m:t>= </m:t>
                    </m:r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21</m:t>
                    </m:r>
                    <m:r>
                      <a:rPr lang="en-US" alt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en-US" dirty="0" smtClean="0"/>
                  <a:t>and </a:t>
                </a:r>
                <a:endParaRPr lang="en-US" alt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altLang="en-US" sz="2800" baseline="30000" dirty="0" smtClean="0">
                  <a:solidFill>
                    <a:srgbClr val="FF0000"/>
                  </a:solidFill>
                </a:endParaRPr>
              </a:p>
              <a:p>
                <a:pPr>
                  <a:lnSpc>
                    <a:spcPct val="12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2 </m:t>
                      </m:r>
                    </m:oMath>
                  </m:oMathPara>
                </a14:m>
                <a:endParaRPr lang="en-US" altLang="en-US" sz="2800" baseline="30000" dirty="0" smtClean="0">
                  <a:solidFill>
                    <a:srgbClr val="FF0000"/>
                  </a:solidFill>
                </a:endParaRPr>
              </a:p>
              <a:p>
                <a:pPr lvl="3">
                  <a:lnSpc>
                    <a:spcPct val="120000"/>
                  </a:lnSpc>
                </a:pPr>
                <a:r>
                  <a:rPr lang="en-US" altLang="en-US" i="1" dirty="0" smtClean="0"/>
                  <a:t>d </a:t>
                </a:r>
                <a:r>
                  <a:rPr lang="en-US" altLang="en-US" baseline="30000" dirty="0" smtClean="0"/>
                  <a:t>2</a:t>
                </a:r>
                <a:r>
                  <a:rPr lang="en-US" altLang="en-US" i="1" dirty="0" smtClean="0"/>
                  <a:t>y</a:t>
                </a:r>
                <a:r>
                  <a:rPr lang="en-US" altLang="en-US" dirty="0" smtClean="0"/>
                  <a:t> &lt; 0 for any </a:t>
                </a:r>
                <a:r>
                  <a:rPr lang="en-US" altLang="en-US" i="1" dirty="0" smtClean="0"/>
                  <a:t>dx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 and </a:t>
                </a:r>
                <a:r>
                  <a:rPr lang="en-US" altLang="en-US" i="1" dirty="0" smtClean="0"/>
                  <a:t>dx</a:t>
                </a:r>
                <a:r>
                  <a:rPr lang="en-US" altLang="en-US" baseline="-25000" dirty="0" smtClean="0"/>
                  <a:t>2</a:t>
                </a:r>
                <a:r>
                  <a:rPr lang="en-US" altLang="en-US" dirty="0" smtClean="0"/>
                  <a:t>, if </a:t>
                </a:r>
                <a:r>
                  <a:rPr lang="en-US" altLang="en-US" i="1" dirty="0" smtClean="0"/>
                  <a:t>f</a:t>
                </a:r>
                <a:r>
                  <a:rPr lang="en-US" altLang="en-US" baseline="-25000" dirty="0" smtClean="0"/>
                  <a:t>11</a:t>
                </a:r>
                <a:r>
                  <a:rPr lang="en-US" altLang="en-US" dirty="0" smtClean="0"/>
                  <a:t>&lt;0 and </a:t>
                </a:r>
                <a:r>
                  <a:rPr lang="en-US" altLang="en-US" i="1" dirty="0" smtClean="0"/>
                  <a:t>f</a:t>
                </a:r>
                <a:r>
                  <a:rPr lang="en-US" altLang="en-US" baseline="-25000" dirty="0" smtClean="0"/>
                  <a:t>22</a:t>
                </a:r>
                <a:r>
                  <a:rPr lang="en-US" altLang="en-US" dirty="0" smtClean="0"/>
                  <a:t>&lt;0 </a:t>
                </a:r>
              </a:p>
              <a:p>
                <a:pPr lvl="3">
                  <a:lnSpc>
                    <a:spcPct val="120000"/>
                  </a:lnSpc>
                </a:pPr>
                <a:r>
                  <a:rPr lang="en-US" altLang="en-US" dirty="0" smtClean="0"/>
                  <a:t>If neither </a:t>
                </a:r>
                <a:r>
                  <a:rPr lang="en-US" altLang="en-US" i="1" dirty="0" smtClean="0"/>
                  <a:t>dx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 nor </a:t>
                </a:r>
                <a:r>
                  <a:rPr lang="en-US" altLang="en-US" i="1" dirty="0" smtClean="0"/>
                  <a:t>dx</a:t>
                </a:r>
                <a:r>
                  <a:rPr lang="en-US" altLang="en-US" baseline="-25000" dirty="0" smtClean="0"/>
                  <a:t>2</a:t>
                </a:r>
                <a:r>
                  <a:rPr lang="en-US" altLang="en-US" dirty="0" smtClean="0"/>
                  <a:t> is zero, then </a:t>
                </a:r>
                <a:r>
                  <a:rPr lang="en-US" altLang="en-US" i="1" dirty="0" smtClean="0"/>
                  <a:t>d </a:t>
                </a:r>
                <a:r>
                  <a:rPr lang="en-US" altLang="en-US" i="1" baseline="30000" dirty="0" smtClean="0"/>
                  <a:t>2</a:t>
                </a:r>
                <a:r>
                  <a:rPr lang="en-US" altLang="en-US" i="1" dirty="0" smtClean="0"/>
                  <a:t>y</a:t>
                </a:r>
                <a:r>
                  <a:rPr lang="en-US" altLang="en-US" dirty="0" smtClean="0"/>
                  <a:t> &lt; 0 only if  </a:t>
                </a:r>
                <a:r>
                  <a:rPr lang="en-US" altLang="en-US" i="1" dirty="0" smtClean="0">
                    <a:solidFill>
                      <a:srgbClr val="FF0000"/>
                    </a:solidFill>
                  </a:rPr>
                  <a:t>f</a:t>
                </a:r>
                <a:r>
                  <a:rPr lang="en-US" altLang="en-US" baseline="-25000" dirty="0" smtClean="0">
                    <a:solidFill>
                      <a:srgbClr val="FF0000"/>
                    </a:solidFill>
                  </a:rPr>
                  <a:t>11</a:t>
                </a:r>
                <a:r>
                  <a:rPr lang="en-US" altLang="en-US" i="1" dirty="0" smtClean="0">
                    <a:solidFill>
                      <a:srgbClr val="FF0000"/>
                    </a:solidFill>
                  </a:rPr>
                  <a:t> f</a:t>
                </a:r>
                <a:r>
                  <a:rPr lang="en-US" altLang="en-US" baseline="-25000" dirty="0" smtClean="0">
                    <a:solidFill>
                      <a:srgbClr val="FF0000"/>
                    </a:solidFill>
                  </a:rPr>
                  <a:t>22</a:t>
                </a:r>
                <a:r>
                  <a:rPr lang="en-US" altLang="en-US" dirty="0" smtClean="0">
                    <a:solidFill>
                      <a:srgbClr val="FF0000"/>
                    </a:solidFill>
                  </a:rPr>
                  <a:t> - </a:t>
                </a:r>
                <a:r>
                  <a:rPr lang="en-US" altLang="en-US" i="1" dirty="0" smtClean="0">
                    <a:solidFill>
                      <a:srgbClr val="FF0000"/>
                    </a:solidFill>
                  </a:rPr>
                  <a:t>f</a:t>
                </a:r>
                <a:r>
                  <a:rPr lang="en-US" altLang="en-US" baseline="-25000" dirty="0" smtClean="0">
                    <a:solidFill>
                      <a:srgbClr val="FF0000"/>
                    </a:solidFill>
                  </a:rPr>
                  <a:t>12</a:t>
                </a:r>
                <a:r>
                  <a:rPr lang="en-US" altLang="en-US" i="1" baseline="3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en-US" dirty="0" smtClean="0">
                    <a:solidFill>
                      <a:srgbClr val="FF0000"/>
                    </a:solidFill>
                  </a:rPr>
                  <a:t> &gt; 0</a:t>
                </a:r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26979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066800"/>
                <a:ext cx="8763000" cy="5334000"/>
              </a:xfrm>
              <a:blipFill rotWithShape="1">
                <a:blip r:embed="rId2"/>
                <a:stretch>
                  <a:fillRect l="-1253" t="-1029" r="-1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80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0606291-3A55-4772-8690-E5DDFB543734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2.10 	Second-Order Conditions: Health status</a:t>
            </a:r>
            <a:br>
              <a:rPr lang="en-US" altLang="en-US" dirty="0" smtClean="0"/>
            </a:b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for the Last Time</a:t>
            </a:r>
          </a:p>
        </p:txBody>
      </p:sp>
      <p:sp>
        <p:nvSpPr>
          <p:cNvPr id="128004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AD1833D9-19A4-4859-BC7B-E15E4D5375BA}" type="slidenum">
              <a:rPr lang="en-US" smtClean="0"/>
              <a:pPr>
                <a:defRPr/>
              </a:pPr>
              <a:t>73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003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1219200"/>
                <a:ext cx="8382000" cy="5181600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 dirty="0" smtClean="0">
                          <a:latin typeface="Cambria Math"/>
                        </a:rPr>
                        <m:t>𝑦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 =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𝑓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(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𝑥</m:t>
                      </m:r>
                      <m:r>
                        <a:rPr lang="en-US" altLang="en-US" sz="280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,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𝑥</m:t>
                      </m:r>
                      <m:r>
                        <a:rPr lang="en-US" altLang="en-US" sz="2800" i="1" baseline="-25000" dirty="0" smtClean="0"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)= − 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𝑥</m:t>
                      </m:r>
                      <m:r>
                        <a:rPr lang="en-US" altLang="en-US" sz="280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altLang="en-US" sz="2800" i="1" baseline="30000" dirty="0" smtClean="0"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 + 2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𝑥</m:t>
                      </m:r>
                      <m:r>
                        <a:rPr lang="en-US" altLang="en-US" sz="280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 − 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𝑥</m:t>
                      </m:r>
                      <m:r>
                        <a:rPr lang="en-US" altLang="en-US" sz="2800" i="1" baseline="-25000" dirty="0" smtClean="0">
                          <a:latin typeface="Cambria Math"/>
                        </a:rPr>
                        <m:t>2</m:t>
                      </m:r>
                      <m:r>
                        <a:rPr lang="en-US" altLang="en-US" sz="2800" i="1" baseline="30000" dirty="0" smtClean="0"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 + 4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𝑥</m:t>
                      </m:r>
                      <m:r>
                        <a:rPr lang="en-US" altLang="en-US" sz="2800" i="1" baseline="-25000" dirty="0" smtClean="0"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latin typeface="Cambria Math"/>
                        </a:rPr>
                        <m:t> + 5</m:t>
                      </m:r>
                    </m:oMath>
                  </m:oMathPara>
                </a14:m>
                <a:endParaRPr lang="en-US" altLang="en-US" sz="2800" dirty="0" smtClean="0"/>
              </a:p>
              <a:p>
                <a:pPr lvl="1"/>
                <a:r>
                  <a:rPr lang="en-US" altLang="en-US" dirty="0" smtClean="0"/>
                  <a:t>First-order conditions</a:t>
                </a:r>
              </a:p>
              <a:p>
                <a:pPr lvl="2"/>
                <a:r>
                  <a:rPr lang="en-US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=−2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+2=0 </m:t>
                    </m:r>
                  </m:oMath>
                </a14:m>
                <a:r>
                  <a:rPr lang="en-US" altLang="en-US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=−2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+4=0</m:t>
                    </m:r>
                  </m:oMath>
                </a14:m>
                <a:endParaRPr lang="en-US" altLang="en-US" dirty="0" smtClean="0"/>
              </a:p>
              <a:p>
                <a:pPr lvl="2"/>
                <a:r>
                  <a:rPr lang="en-US" altLang="en-US" dirty="0" smtClean="0"/>
                  <a:t>Or: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∗=1, 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∗=2</m:t>
                    </m:r>
                  </m:oMath>
                </a14:m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Second-order partial derivatives</a:t>
                </a:r>
              </a:p>
              <a:p>
                <a:pPr lvl="2"/>
                <a:r>
                  <a:rPr lang="en-US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11</m:t>
                    </m:r>
                    <m:r>
                      <a:rPr lang="en-US" altLang="en-US" i="1" dirty="0" smtClean="0">
                        <a:latin typeface="Cambria Math"/>
                      </a:rPr>
                      <m:t>=−2</m:t>
                    </m:r>
                  </m:oMath>
                </a14:m>
                <a:endParaRPr lang="en-US" alt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 </m:t>
                    </m:r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22</m:t>
                    </m:r>
                    <m:r>
                      <a:rPr lang="en-US" altLang="en-US" i="1" dirty="0" smtClean="0">
                        <a:latin typeface="Cambria Math"/>
                      </a:rPr>
                      <m:t>=−2</m:t>
                    </m:r>
                  </m:oMath>
                </a14:m>
                <a:endParaRPr lang="en-US" alt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 </m:t>
                    </m:r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12</m:t>
                    </m:r>
                    <m:r>
                      <a:rPr lang="en-US" altLang="en-US" i="1" dirty="0" smtClean="0">
                        <a:latin typeface="Cambria Math"/>
                      </a:rPr>
                      <m:t>=0</m:t>
                    </m:r>
                  </m:oMath>
                </a14:m>
                <a:endParaRPr lang="en-US" altLang="en-US" dirty="0" smtClean="0"/>
              </a:p>
            </p:txBody>
          </p:sp>
        </mc:Choice>
        <mc:Fallback xmlns="">
          <p:sp>
            <p:nvSpPr>
              <p:cNvPr id="12800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1219200"/>
                <a:ext cx="8382000" cy="51816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414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 smtClean="0"/>
              <a:t>Second-Order Conditions and Curvature</a:t>
            </a:r>
          </a:p>
        </p:txBody>
      </p:sp>
      <p:sp>
        <p:nvSpPr>
          <p:cNvPr id="12902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Concave functions</a:t>
            </a:r>
          </a:p>
          <a:p>
            <a:pPr lvl="2"/>
            <a:r>
              <a:rPr lang="en-US" dirty="0" smtClean="0"/>
              <a:t>The own </a:t>
            </a:r>
            <a:r>
              <a:rPr lang="en-US" dirty="0"/>
              <a:t>second partial derivatives ( </a:t>
            </a:r>
            <a:r>
              <a:rPr lang="en-US" i="1" dirty="0" smtClean="0"/>
              <a:t>f</a:t>
            </a:r>
            <a:r>
              <a:rPr lang="en-US" i="1" baseline="-25000" dirty="0" smtClean="0"/>
              <a:t>11</a:t>
            </a:r>
            <a:r>
              <a:rPr lang="en-US" dirty="0" smtClean="0"/>
              <a:t> and </a:t>
            </a:r>
            <a:r>
              <a:rPr lang="en-US" i="1" dirty="0"/>
              <a:t>f</a:t>
            </a:r>
            <a:r>
              <a:rPr lang="en-US" i="1" baseline="-25000" dirty="0"/>
              <a:t>22</a:t>
            </a:r>
            <a:r>
              <a:rPr lang="en-US" dirty="0"/>
              <a:t>) be sufficiently negative </a:t>
            </a:r>
            <a:endParaRPr lang="en-US" dirty="0" smtClean="0"/>
          </a:p>
          <a:p>
            <a:pPr lvl="2"/>
            <a:r>
              <a:rPr lang="en-US" dirty="0" smtClean="0"/>
              <a:t>So </a:t>
            </a:r>
            <a:r>
              <a:rPr lang="en-US" dirty="0"/>
              <a:t>that their product </a:t>
            </a:r>
            <a:r>
              <a:rPr lang="en-US" dirty="0" smtClean="0"/>
              <a:t>will outweigh any </a:t>
            </a:r>
            <a:r>
              <a:rPr lang="en-US" dirty="0"/>
              <a:t>possible perverse effects from the cross-partial derivatives ( </a:t>
            </a:r>
            <a:r>
              <a:rPr lang="en-US" i="1" dirty="0"/>
              <a:t>f</a:t>
            </a:r>
            <a:r>
              <a:rPr lang="en-US" i="1" baseline="-25000" dirty="0"/>
              <a:t>12</a:t>
            </a:r>
            <a:r>
              <a:rPr lang="en-US" i="1" dirty="0"/>
              <a:t> </a:t>
            </a:r>
            <a:r>
              <a:rPr lang="en-US" i="1" dirty="0" smtClean="0"/>
              <a:t>= </a:t>
            </a:r>
            <a:r>
              <a:rPr lang="en-US" i="1" dirty="0"/>
              <a:t>f</a:t>
            </a:r>
            <a:r>
              <a:rPr lang="en-US" i="1" baseline="-25000" dirty="0"/>
              <a:t>21</a:t>
            </a:r>
            <a:r>
              <a:rPr lang="en-US" dirty="0" smtClean="0"/>
              <a:t>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Have the property that they always lie below any plane that is tangent to them</a:t>
            </a:r>
          </a:p>
          <a:p>
            <a:pPr lvl="2"/>
            <a:r>
              <a:rPr lang="en-US" altLang="en-US" dirty="0" smtClean="0"/>
              <a:t>The plane defined by the maximum value of the function is simply a special case of this property</a:t>
            </a:r>
          </a:p>
        </p:txBody>
      </p:sp>
      <p:sp>
        <p:nvSpPr>
          <p:cNvPr id="129028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AB46AB9-186B-4E68-941A-74BA41FD5AE0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3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 smtClean="0"/>
              <a:t>Second-Order Conditions and Curvature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051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Constrained maximization </a:t>
                </a:r>
              </a:p>
              <a:p>
                <a:pPr lvl="1"/>
                <a:r>
                  <a:rPr lang="en-US" altLang="en-US" dirty="0" smtClean="0"/>
                  <a:t>Choose </a:t>
                </a:r>
                <a:r>
                  <a:rPr lang="en-US" altLang="en-US" i="1" dirty="0" smtClean="0"/>
                  <a:t>x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 and </a:t>
                </a:r>
                <a:r>
                  <a:rPr lang="en-US" altLang="en-US" i="1" dirty="0" smtClean="0"/>
                  <a:t>x</a:t>
                </a:r>
                <a:r>
                  <a:rPr lang="en-US" altLang="en-US" baseline="-25000" dirty="0" smtClean="0"/>
                  <a:t>2</a:t>
                </a:r>
                <a:r>
                  <a:rPr lang="en-US" altLang="en-US" dirty="0" smtClean="0"/>
                  <a:t> to maximize: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 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altLang="en-US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en-US" dirty="0" smtClean="0"/>
                  <a:t>Linear constraint: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i="0" dirty="0" smtClean="0">
                        <a:solidFill>
                          <a:srgbClr val="FF0000"/>
                        </a:solidFill>
                        <a:latin typeface="Cambria Math"/>
                      </a:rPr>
                      <m:t>c</m:t>
                    </m:r>
                    <m:r>
                      <a:rPr lang="en-US" altLang="en-US" i="0" dirty="0" smtClean="0">
                        <a:solidFill>
                          <a:srgbClr val="FF0000"/>
                        </a:solidFill>
                        <a:latin typeface="Cambria Math"/>
                      </a:rPr>
                      <m:t> − </m:t>
                    </m:r>
                    <m:r>
                      <m:rPr>
                        <m:sty m:val="p"/>
                      </m:rPr>
                      <a:rPr lang="en-US" altLang="en-US" i="0" dirty="0" smtClean="0">
                        <a:solidFill>
                          <a:srgbClr val="FF0000"/>
                        </a:solidFill>
                        <a:latin typeface="Cambria Math"/>
                      </a:rPr>
                      <m:t>b</m:t>
                    </m:r>
                    <m:r>
                      <a:rPr lang="en-US" altLang="en-US" i="0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altLang="en-US" i="0" dirty="0" smtClean="0">
                        <a:solidFill>
                          <a:srgbClr val="FF0000"/>
                        </a:solidFill>
                        <a:latin typeface="Cambria Math"/>
                      </a:rPr>
                      <m:t>x</m:t>
                    </m:r>
                    <m:r>
                      <a:rPr lang="en-US" altLang="en-US" i="0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i="0" dirty="0" smtClean="0">
                        <a:solidFill>
                          <a:srgbClr val="FF0000"/>
                        </a:solidFill>
                        <a:latin typeface="Cambria Math"/>
                      </a:rPr>
                      <m:t> − </m:t>
                    </m:r>
                    <m:r>
                      <m:rPr>
                        <m:sty m:val="p"/>
                      </m:rPr>
                      <a:rPr lang="en-US" altLang="en-US" i="0" dirty="0" smtClean="0">
                        <a:solidFill>
                          <a:srgbClr val="FF0000"/>
                        </a:solidFill>
                        <a:latin typeface="Cambria Math"/>
                      </a:rPr>
                      <m:t>b</m:t>
                    </m:r>
                    <m:r>
                      <a:rPr lang="en-US" altLang="en-US" i="0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lang="en-US" altLang="en-US" i="0" dirty="0" smtClean="0">
                        <a:solidFill>
                          <a:srgbClr val="FF0000"/>
                        </a:solidFill>
                        <a:latin typeface="Cambria Math"/>
                      </a:rPr>
                      <m:t>x</m:t>
                    </m:r>
                    <m:r>
                      <a:rPr lang="en-US" altLang="en-US" i="0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i="0" dirty="0" smtClean="0">
                        <a:solidFill>
                          <a:srgbClr val="FF0000"/>
                        </a:solidFill>
                        <a:latin typeface="Cambria Math"/>
                      </a:rPr>
                      <m:t> = 0</m:t>
                    </m:r>
                  </m:oMath>
                </a14:m>
                <a:endParaRPr lang="en-US" altLang="en-US" dirty="0" smtClean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en-US" dirty="0" smtClean="0"/>
                  <a:t>Lagrangian: </a:t>
                </a:r>
                <a14:m>
                  <m:oMath xmlns:m="http://schemas.openxmlformats.org/officeDocument/2006/math">
                    <m:r>
                      <a:rPr lang="en-US" altLang="en-US" sz="2800" b="1" i="1" dirty="0" smtClean="0">
                        <a:solidFill>
                          <a:srgbClr val="FF0000"/>
                        </a:solidFill>
                        <a:latin typeface="Cambria Math"/>
                        <a:ea typeface="Arial Unicode MS" pitchFamily="34" charset="-128"/>
                        <a:cs typeface="Arial Unicode MS" pitchFamily="34" charset="-128"/>
                      </a:rPr>
                      <m:t>ℒ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 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)+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(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𝑐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altLang="en-US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en-US" dirty="0" smtClean="0"/>
                  <a:t>The first-order conditions:</a:t>
                </a:r>
              </a:p>
              <a:p>
                <a:pPr lvl="2" algn="ctr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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𝑏</m:t>
                      </m:r>
                      <m:r>
                        <a:rPr lang="en-US" altLang="en-US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1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0, </m:t>
                      </m:r>
                    </m:oMath>
                  </m:oMathPara>
                </a14:m>
                <a:endParaRPr lang="en-US" altLang="en-US" i="1" dirty="0" smtClean="0">
                  <a:solidFill>
                    <a:srgbClr val="FF0000"/>
                  </a:solidFill>
                  <a:latin typeface="Cambria Math"/>
                  <a:sym typeface="Symbol" pitchFamily="18" charset="2"/>
                </a:endParaRPr>
              </a:p>
              <a:p>
                <a:pPr lvl="2" algn="ctr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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𝑏</m:t>
                      </m:r>
                      <m:r>
                        <a:rPr lang="en-US" altLang="en-US" i="1" baseline="-25000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2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  <a:sym typeface="Symbol" pitchFamily="18" charset="2"/>
                        </a:rPr>
                        <m:t> = 0, </m:t>
                      </m:r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2" algn="ctr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altLang="en-US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altLang="en-US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</a:endParaRPr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130051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052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62D0B1-82DA-404B-9B10-72327983966F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2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 smtClean="0"/>
              <a:t>Second-Order Conditions and Curvature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075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Constrained maximization</a:t>
                </a:r>
              </a:p>
              <a:p>
                <a:pPr lvl="1"/>
                <a:r>
                  <a:rPr lang="en-US" altLang="en-US" dirty="0" smtClean="0"/>
                  <a:t>Use the “second” total differential: </a:t>
                </a:r>
              </a:p>
              <a:p>
                <a:pPr algn="ctr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altLang="en-US" sz="2800" dirty="0" smtClean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altLang="en-US" dirty="0" smtClean="0"/>
                  <a:t>Only values of </a:t>
                </a:r>
                <a:r>
                  <a:rPr lang="en-US" altLang="en-US" i="1" dirty="0" smtClean="0"/>
                  <a:t>x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 and </a:t>
                </a:r>
                <a:r>
                  <a:rPr lang="en-US" altLang="en-US" i="1" dirty="0" smtClean="0"/>
                  <a:t>x</a:t>
                </a:r>
                <a:r>
                  <a:rPr lang="en-US" altLang="en-US" baseline="-25000" dirty="0" smtClean="0"/>
                  <a:t>2</a:t>
                </a:r>
                <a:r>
                  <a:rPr lang="en-US" altLang="en-US" dirty="0" smtClean="0"/>
                  <a:t> that satisfy the constraint can be considered valid alternatives to the critical point</a:t>
                </a:r>
              </a:p>
              <a:p>
                <a:pPr lvl="1"/>
                <a:r>
                  <a:rPr lang="en-US" altLang="en-US" dirty="0" smtClean="0"/>
                  <a:t>Total differential of the constraint</a:t>
                </a:r>
              </a:p>
              <a:p>
                <a:pPr algn="ctr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= 0, </m:t>
                      </m:r>
                      <m:r>
                        <a:rPr lang="en-US" altLang="en-US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= −(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/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altLang="en-US" sz="2800" dirty="0" smtClean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altLang="en-US" dirty="0" smtClean="0"/>
                  <a:t>Allowable relative changes in </a:t>
                </a:r>
                <a:r>
                  <a:rPr lang="en-US" altLang="en-US" i="1" dirty="0" smtClean="0"/>
                  <a:t>x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 and </a:t>
                </a:r>
                <a:r>
                  <a:rPr lang="en-US" altLang="en-US" i="1" dirty="0" smtClean="0"/>
                  <a:t>x</a:t>
                </a:r>
                <a:r>
                  <a:rPr lang="en-US" altLang="en-US" baseline="-25000" dirty="0" smtClean="0"/>
                  <a:t>2</a:t>
                </a:r>
                <a:endParaRPr lang="en-US" altLang="en-US" dirty="0" smtClean="0"/>
              </a:p>
              <a:p>
                <a:endParaRPr lang="en-US" altLang="en-US" dirty="0" smtClean="0">
                  <a:solidFill>
                    <a:srgbClr val="FF0000"/>
                  </a:solidFill>
                </a:endParaRPr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131075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 r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076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C151A9-FF3F-4AB1-98F1-209E3D6A2443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4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 smtClean="0"/>
              <a:t>Second-Order Conditions and Curvature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099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Constrained maximization</a:t>
                </a:r>
              </a:p>
              <a:p>
                <a:pPr lvl="1"/>
                <a:r>
                  <a:rPr lang="en-US" altLang="en-US" dirty="0" smtClean="0"/>
                  <a:t>First-order conditions imply that </a:t>
                </a:r>
                <a:r>
                  <a:rPr lang="en-US" altLang="en-US" i="1" dirty="0" smtClean="0"/>
                  <a:t>f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/</a:t>
                </a:r>
                <a:r>
                  <a:rPr lang="en-US" altLang="en-US" i="1" dirty="0" smtClean="0"/>
                  <a:t>f</a:t>
                </a:r>
                <a:r>
                  <a:rPr lang="en-US" altLang="en-US" baseline="-25000" dirty="0" smtClean="0"/>
                  <a:t>2</a:t>
                </a:r>
                <a:r>
                  <a:rPr lang="en-US" altLang="en-US" dirty="0" smtClean="0"/>
                  <a:t> = </a:t>
                </a:r>
                <a:r>
                  <a:rPr lang="en-US" altLang="en-US" i="1" dirty="0" smtClean="0"/>
                  <a:t>b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/</a:t>
                </a:r>
                <a:r>
                  <a:rPr lang="en-US" altLang="en-US" i="1" dirty="0" smtClean="0"/>
                  <a:t>b</a:t>
                </a:r>
                <a:r>
                  <a:rPr lang="en-US" altLang="en-US" baseline="-25000" dirty="0" smtClean="0"/>
                  <a:t>2</a:t>
                </a:r>
                <a:r>
                  <a:rPr lang="en-US" altLang="en-US" dirty="0" smtClean="0"/>
                  <a:t>, we get: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 −(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/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 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</m:oMath>
                </a14:m>
                <a:endParaRPr lang="en-US" altLang="en-US" sz="2800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en-US" dirty="0" smtClean="0"/>
                  <a:t>Since: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𝑑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 2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𝑦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 = 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11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sz="2800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baseline="30000" dirty="0" smtClean="0">
                        <a:solidFill>
                          <a:srgbClr val="000099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 + 2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12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sz="2800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sz="2800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 + 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22</m:t>
                    </m:r>
                    <m:r>
                      <a:rPr lang="en-US" altLang="en-US" sz="28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sz="2800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baseline="30000" dirty="0" smtClean="0">
                        <a:solidFill>
                          <a:srgbClr val="000099"/>
                        </a:solidFill>
                        <a:latin typeface="Cambria Math"/>
                      </a:rPr>
                      <m:t>2</m:t>
                    </m:r>
                  </m:oMath>
                </a14:m>
                <a:endParaRPr lang="en-US" altLang="en-US" sz="2800" baseline="30000" dirty="0" smtClean="0">
                  <a:solidFill>
                    <a:srgbClr val="000099"/>
                  </a:solidFill>
                </a:endParaRPr>
              </a:p>
              <a:p>
                <a:pPr lvl="1"/>
                <a:r>
                  <a:rPr lang="en-US" altLang="en-US" dirty="0" smtClean="0"/>
                  <a:t>Substitute for </a:t>
                </a:r>
                <a:r>
                  <a:rPr lang="en-US" altLang="en-US" i="1" dirty="0" smtClean="0"/>
                  <a:t>dx</a:t>
                </a:r>
                <a:r>
                  <a:rPr lang="en-US" altLang="en-US" baseline="-25000" dirty="0" smtClean="0"/>
                  <a:t>2</a:t>
                </a:r>
                <a:r>
                  <a:rPr lang="en-US" altLang="en-US" dirty="0" smtClean="0"/>
                  <a:t> and get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𝑦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 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11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baseline="30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− 2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/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baseline="30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+ 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baseline="30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/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baseline="30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  <m:r>
                      <a:rPr lang="en-US" alt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sz="2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sz="2800" i="1" baseline="30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</m:oMath>
                </a14:m>
                <a:endParaRPr lang="en-US" altLang="en-US" sz="2800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en-US" dirty="0" smtClean="0"/>
                  <a:t>Combining terms and rearranging, we get</a:t>
                </a:r>
                <a:endParaRPr lang="en-US" altLang="en-US" baseline="30000" dirty="0" smtClean="0">
                  <a:solidFill>
                    <a:srgbClr val="5858D4"/>
                  </a:solidFill>
                </a:endParaRPr>
              </a:p>
              <a:p>
                <a:pPr algn="ctr">
                  <a:lnSpc>
                    <a:spcPct val="12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11 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altLang="en-US" sz="2800" i="1" baseline="30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− 2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12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+ 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22</m:t>
                          </m:r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US" altLang="en-US" sz="2800" i="1" baseline="30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2 </m:t>
                          </m:r>
                        </m:e>
                      </m:d>
                      <m:f>
                        <m:fPr>
                          <m:ctrlP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en-US" sz="2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𝑑𝑥</m:t>
                          </m:r>
                          <m:r>
                            <a:rPr lang="en-US" alt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US" altLang="en-US" sz="2800" i="1" baseline="30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US" alt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altLang="en-US" sz="2800" i="1" baseline="-25000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altLang="en-US" sz="2800" i="1" baseline="30000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altLang="en-US" sz="2800" baseline="30000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2099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 r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100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06B941-A134-44D3-993D-ACA60BCA6A7D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6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 smtClean="0"/>
              <a:t>Second-Order Conditions and Curvature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23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Constrained maximization</a:t>
                </a:r>
              </a:p>
              <a:p>
                <a:pPr lvl="1"/>
                <a:r>
                  <a:rPr lang="en-US" altLang="en-US" dirty="0" smtClean="0"/>
                  <a:t>Therefore, for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𝑑</m:t>
                    </m:r>
                    <m:r>
                      <a:rPr lang="en-US" altLang="en-US" i="1" dirty="0" smtClean="0">
                        <a:latin typeface="Cambria Math"/>
                      </a:rPr>
                      <m:t> 2</m:t>
                    </m:r>
                    <m:r>
                      <a:rPr lang="en-US" altLang="en-US" i="1" dirty="0" smtClean="0"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latin typeface="Cambria Math"/>
                      </a:rPr>
                      <m:t> &lt; 0</m:t>
                    </m:r>
                  </m:oMath>
                </a14:m>
                <a:r>
                  <a:rPr lang="en-US" altLang="en-US" dirty="0" smtClean="0"/>
                  <a:t>, it must be true that</a:t>
                </a: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11 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− 2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8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800" i="1" baseline="30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&lt; 0</m:t>
                      </m:r>
                    </m:oMath>
                  </m:oMathPara>
                </a14:m>
                <a:endParaRPr lang="en-US" altLang="en-US" sz="2800" dirty="0" smtClean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10000"/>
                  </a:lnSpc>
                </a:pPr>
                <a:r>
                  <a:rPr lang="en-US" altLang="en-US" dirty="0" smtClean="0"/>
                  <a:t>This equation characterizes a set of functions termed </a:t>
                </a:r>
                <a:r>
                  <a:rPr lang="en-US" altLang="en-US" u="sng" dirty="0" smtClean="0"/>
                  <a:t>quasi-concave functions</a:t>
                </a:r>
                <a:endParaRPr lang="en-US" altLang="en-US" dirty="0" smtClean="0"/>
              </a:p>
              <a:p>
                <a:r>
                  <a:rPr lang="en-US" altLang="en-US" dirty="0" smtClean="0"/>
                  <a:t>Quasi-concave functions</a:t>
                </a:r>
              </a:p>
              <a:p>
                <a:pPr lvl="1"/>
                <a:r>
                  <a:rPr lang="en-US" altLang="en-US" dirty="0" smtClean="0"/>
                  <a:t>Any two points within the set can be joined by a line contained completely in the set</a:t>
                </a:r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133123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 r="-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24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B9B918-7CC1-415E-88F5-D3870721B358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6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2.11 	Concave and Quasi-Concave Functions</a:t>
            </a:r>
          </a:p>
        </p:txBody>
      </p:sp>
      <p:sp>
        <p:nvSpPr>
          <p:cNvPr id="134148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86124DC-C4EA-41B0-8A0A-0763AA2557D8}" type="slidenum">
              <a:rPr lang="en-US" smtClean="0"/>
              <a:pPr>
                <a:defRPr/>
              </a:pPr>
              <a:t>79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147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 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) = (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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𝑥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2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)</m:t>
                    </m:r>
                    <m:r>
                      <a:rPr lang="en-US" altLang="en-US" i="1" baseline="30000" dirty="0" smtClean="0">
                        <a:solidFill>
                          <a:srgbClr val="FF0000"/>
                        </a:solidFill>
                        <a:latin typeface="Cambria Math"/>
                        <a:sym typeface="Symbol" pitchFamily="18" charset="2"/>
                      </a:rPr>
                      <m:t>𝑘</m:t>
                    </m:r>
                  </m:oMath>
                </a14:m>
                <a:endParaRPr lang="en-US" altLang="en-US" dirty="0" smtClean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1"/>
                <a:r>
                  <a:rPr lang="en-US" altLang="en-US" dirty="0" smtClean="0"/>
                  <a:t>Where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 &gt; 0, 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 &gt; 0</m:t>
                    </m:r>
                  </m:oMath>
                </a14:m>
                <a:r>
                  <a:rPr lang="en-US" altLang="en-US" dirty="0" smtClean="0"/>
                  <a:t>, and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𝑘</m:t>
                    </m:r>
                    <m:r>
                      <a:rPr lang="en-US" altLang="en-US" i="1" dirty="0" smtClean="0">
                        <a:latin typeface="Cambria Math"/>
                      </a:rPr>
                      <m:t> &gt; 0</m:t>
                    </m:r>
                  </m:oMath>
                </a14:m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No matter what value </a:t>
                </a:r>
                <a:r>
                  <a:rPr lang="en-US" altLang="en-US" i="1" dirty="0" smtClean="0"/>
                  <a:t>k</a:t>
                </a:r>
                <a:r>
                  <a:rPr lang="en-US" altLang="en-US" dirty="0" smtClean="0"/>
                  <a:t> takes, this function is quasi-concave</a:t>
                </a:r>
              </a:p>
              <a:p>
                <a:r>
                  <a:rPr lang="en-US" altLang="en-US" dirty="0" smtClean="0"/>
                  <a:t>Whether or not the function is concave depends on the value of </a:t>
                </a:r>
                <a:r>
                  <a:rPr lang="en-US" altLang="en-US" i="1" dirty="0" smtClean="0"/>
                  <a:t>k</a:t>
                </a:r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If </a:t>
                </a:r>
                <a:r>
                  <a:rPr lang="en-US" altLang="en-US" i="1" dirty="0" smtClean="0"/>
                  <a:t>k</a:t>
                </a:r>
                <a:r>
                  <a:rPr lang="en-US" altLang="en-US" dirty="0" smtClean="0"/>
                  <a:t> &lt; 0.5, the function is concave</a:t>
                </a:r>
              </a:p>
              <a:p>
                <a:pPr lvl="1"/>
                <a:r>
                  <a:rPr lang="en-US" altLang="en-US" dirty="0" smtClean="0"/>
                  <a:t>If </a:t>
                </a:r>
                <a:r>
                  <a:rPr lang="en-US" altLang="en-US" i="1" dirty="0" smtClean="0"/>
                  <a:t>k</a:t>
                </a:r>
                <a:r>
                  <a:rPr lang="en-US" altLang="en-US" dirty="0" smtClean="0"/>
                  <a:t> &gt; 0.5, the function is convex</a:t>
                </a:r>
              </a:p>
              <a:p>
                <a:pPr lvl="1"/>
                <a:r>
                  <a:rPr lang="en-US" altLang="en-US" dirty="0" smtClean="0"/>
                  <a:t>For points where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 = 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, </m:t>
                    </m:r>
                  </m:oMath>
                </a14:m>
                <a:endParaRPr lang="en-US" altLang="en-US" i="1" dirty="0" smtClean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/>
                        </a:rPr>
                        <m:t>𝑦</m:t>
                      </m:r>
                      <m:r>
                        <a:rPr lang="en-US" altLang="en-US" i="1" dirty="0" smtClean="0">
                          <a:latin typeface="Cambria Math"/>
                        </a:rPr>
                        <m:t> = (</m:t>
                      </m:r>
                      <m:r>
                        <a:rPr lang="en-US" altLang="en-US" i="1" dirty="0" smtClean="0">
                          <a:latin typeface="Cambria Math"/>
                        </a:rPr>
                        <m:t>𝑥</m:t>
                      </m:r>
                      <m:r>
                        <a:rPr lang="en-US" altLang="en-US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altLang="en-US" i="1" baseline="30000" dirty="0" smtClean="0">
                          <a:latin typeface="Cambria Math"/>
                        </a:rPr>
                        <m:t>2</m:t>
                      </m:r>
                      <m:r>
                        <a:rPr lang="en-US" altLang="en-US" i="1" dirty="0" smtClean="0">
                          <a:latin typeface="Cambria Math"/>
                        </a:rPr>
                        <m:t>)</m:t>
                      </m:r>
                      <m:r>
                        <a:rPr lang="en-US" altLang="en-US" i="1" baseline="30000" dirty="0" smtClean="0">
                          <a:latin typeface="Cambria Math"/>
                        </a:rPr>
                        <m:t>𝑘</m:t>
                      </m:r>
                      <m:r>
                        <a:rPr lang="en-US" altLang="en-US" i="1" dirty="0" smtClean="0">
                          <a:latin typeface="Cambria Math"/>
                        </a:rPr>
                        <m:t>= </m:t>
                      </m:r>
                      <m:r>
                        <a:rPr lang="en-US" altLang="en-US" i="1" dirty="0" smtClean="0">
                          <a:latin typeface="Cambria Math"/>
                        </a:rPr>
                        <m:t>𝑥</m:t>
                      </m:r>
                      <m:r>
                        <a:rPr lang="en-US" altLang="en-US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altLang="en-US" i="1" baseline="30000" dirty="0" smtClean="0">
                          <a:latin typeface="Cambria Math"/>
                        </a:rPr>
                        <m:t>2</m:t>
                      </m:r>
                      <m:r>
                        <a:rPr lang="en-US" altLang="en-US" i="1" baseline="30000" dirty="0" smtClean="0"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n-US" altLang="en-US" dirty="0" smtClean="0"/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134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  <a:blipFill rotWithShape="1">
                <a:blip r:embed="rId2"/>
                <a:stretch>
                  <a:fillRect l="-1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811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2.4	Concave and Quasi-Concave Functions</a:t>
            </a:r>
            <a:endParaRPr lang="en-US" altLang="en-US" dirty="0" smtClean="0"/>
          </a:p>
        </p:txBody>
      </p:sp>
      <p:sp>
        <p:nvSpPr>
          <p:cNvPr id="135171" name="Text Placeholder 2"/>
          <p:cNvSpPr>
            <a:spLocks noGrp="1"/>
          </p:cNvSpPr>
          <p:nvPr>
            <p:ph sz="half" idx="1"/>
          </p:nvPr>
        </p:nvSpPr>
        <p:spPr>
          <a:xfrm>
            <a:off x="82550" y="4800599"/>
            <a:ext cx="8832850" cy="1524001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In all three cases these functions are quasi-concave. For a fixed y, their level curves are convex. But </a:t>
            </a:r>
            <a:r>
              <a:rPr lang="en-US" altLang="en-US" dirty="0" smtClean="0"/>
              <a:t>only for </a:t>
            </a:r>
            <a:r>
              <a:rPr lang="en-US" altLang="en-US" dirty="0"/>
              <a:t>k </a:t>
            </a:r>
            <a:r>
              <a:rPr lang="en-US" altLang="en-US" dirty="0" smtClean="0"/>
              <a:t>= </a:t>
            </a:r>
            <a:r>
              <a:rPr lang="en-US" altLang="en-US" dirty="0"/>
              <a:t>0.2 is the function strictly concave. The case k </a:t>
            </a:r>
            <a:r>
              <a:rPr lang="en-US" altLang="en-US" dirty="0" smtClean="0"/>
              <a:t>= </a:t>
            </a:r>
            <a:r>
              <a:rPr lang="en-US" altLang="en-US" dirty="0"/>
              <a:t>1.0 clearly shows </a:t>
            </a:r>
            <a:r>
              <a:rPr lang="en-US" altLang="en-US" dirty="0" err="1"/>
              <a:t>nonconcavity</a:t>
            </a:r>
            <a:r>
              <a:rPr lang="en-US" altLang="en-US" dirty="0"/>
              <a:t> because </a:t>
            </a:r>
            <a:r>
              <a:rPr lang="en-US" altLang="en-US" dirty="0" smtClean="0"/>
              <a:t>the function </a:t>
            </a:r>
            <a:r>
              <a:rPr lang="en-US" altLang="en-US" dirty="0"/>
              <a:t>is not below its tangent plane.</a:t>
            </a:r>
            <a:endParaRPr lang="en-US" altLang="en-US" dirty="0" smtClean="0"/>
          </a:p>
        </p:txBody>
      </p:sp>
      <p:sp>
        <p:nvSpPr>
          <p:cNvPr id="135173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9DB7CE-D6CA-4F9E-A7C9-130867246713}" type="slidenum">
              <a:rPr lang="en-US" smtClean="0"/>
              <a:pPr>
                <a:defRPr/>
              </a:pPr>
              <a:t>80</a:t>
            </a:fld>
            <a:endParaRPr lang="en-US" dirty="0"/>
          </a:p>
        </p:txBody>
      </p:sp>
      <p:pic>
        <p:nvPicPr>
          <p:cNvPr id="1986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75" y="1169988"/>
            <a:ext cx="2695575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86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" y="1169988"/>
            <a:ext cx="266700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866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1169988"/>
            <a:ext cx="261937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125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Homogeneous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195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A function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,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,…</m:t>
                    </m:r>
                    <m:r>
                      <a:rPr lang="en-US" altLang="en-US" i="1" dirty="0" err="1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altLang="en-US" dirty="0" smtClean="0"/>
                  <a:t>is said to be </a:t>
                </a:r>
                <a:r>
                  <a:rPr lang="en-US" altLang="en-US" u="sng" dirty="0" smtClean="0"/>
                  <a:t>homogeneous of degree </a:t>
                </a:r>
                <a:r>
                  <a:rPr lang="en-US" altLang="en-US" i="1" u="sng" dirty="0" smtClean="0"/>
                  <a:t>k</a:t>
                </a:r>
                <a:r>
                  <a:rPr lang="en-US" altLang="en-US" dirty="0" smtClean="0"/>
                  <a:t> if</a:t>
                </a:r>
              </a:p>
              <a:p>
                <a:pPr algn="ctr">
                  <a:lnSpc>
                    <a:spcPct val="12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𝑡𝑥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𝑡𝑥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,…</m:t>
                      </m:r>
                      <m:r>
                        <a:rPr lang="en-US" altLang="en-US" sz="3200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𝑡𝑥</m:t>
                      </m:r>
                      <m:r>
                        <a:rPr lang="en-US" altLang="en-US" sz="3200" i="1" baseline="-25000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 = </m:t>
                      </m:r>
                      <m:r>
                        <a:rPr lang="en-US" altLang="en-US" sz="3200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en-US" sz="3200" i="1" baseline="30000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𝑘</m:t>
                      </m:r>
                      <m:r>
                        <a:rPr lang="en-US" altLang="en-US" sz="3200" i="1" baseline="30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32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,…</m:t>
                      </m:r>
                      <m:r>
                        <a:rPr lang="en-US" altLang="en-US" sz="3200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3200" i="1" baseline="-25000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32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en-US" sz="3200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en-US" dirty="0" smtClean="0"/>
                  <a:t>When </a:t>
                </a:r>
                <a:r>
                  <a:rPr lang="en-US" altLang="en-US" i="1" dirty="0" smtClean="0"/>
                  <a:t>k</a:t>
                </a:r>
                <a:r>
                  <a:rPr lang="en-US" altLang="en-US" dirty="0" smtClean="0"/>
                  <a:t> = 1, a doubling of all of its arguments doubles the value of the function itself</a:t>
                </a:r>
              </a:p>
              <a:p>
                <a:pPr lvl="1"/>
                <a:r>
                  <a:rPr lang="en-US" altLang="en-US" dirty="0" smtClean="0"/>
                  <a:t>When </a:t>
                </a:r>
                <a:r>
                  <a:rPr lang="en-US" altLang="en-US" i="1" dirty="0" smtClean="0"/>
                  <a:t>k</a:t>
                </a:r>
                <a:r>
                  <a:rPr lang="en-US" altLang="en-US" dirty="0" smtClean="0"/>
                  <a:t> = 0, a doubling of all of its arguments leaves the value of the function unchanged</a:t>
                </a:r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13619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529" r="-1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97664A-962B-4CF0-BC53-A56802B8CFF8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80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Homogeneous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219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altLang="en-US" dirty="0" smtClean="0"/>
                  <a:t>If a function is homogeneous of degree </a:t>
                </a:r>
                <a:r>
                  <a:rPr lang="en-US" altLang="en-US" i="1" dirty="0" smtClean="0"/>
                  <a:t>k</a:t>
                </a:r>
              </a:p>
              <a:p>
                <a:pPr lvl="2"/>
                <a:r>
                  <a:rPr lang="en-US" altLang="en-US" dirty="0" smtClean="0"/>
                  <a:t>The partial derivatives of the function will be homogeneous of degree </a:t>
                </a:r>
                <a:r>
                  <a:rPr lang="en-US" altLang="en-US" i="1" dirty="0" smtClean="0"/>
                  <a:t>k</a:t>
                </a:r>
                <a:r>
                  <a:rPr lang="en-US" altLang="en-US" dirty="0" smtClean="0"/>
                  <a:t>-1</a:t>
                </a:r>
              </a:p>
              <a:p>
                <a:pPr marL="914400" lvl="2" indent="0">
                  <a:buNone/>
                </a:pPr>
                <a:endParaRPr lang="en-US" altLang="en-US" dirty="0" smtClean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…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…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>
                          <a:solidFill>
                            <a:srgbClr val="FF0000"/>
                          </a:solidFill>
                          <a:latin typeface="Cambria Math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𝑡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FF0000"/>
                          </a:solidFill>
                          <a:latin typeface="Cambria Math"/>
                        </a:rPr>
                        <m:t>…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𝑡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>
                          <a:solidFill>
                            <a:srgbClr val="FF0000"/>
                          </a:solidFill>
                          <a:latin typeface="Cambria Math"/>
                        </a:rPr>
                        <m:t>)⋅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𝑘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en-US" dirty="0" smtClean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altLang="en-US" dirty="0" smtClean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  <m: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,</m:t>
                            </m:r>
                          </m:sub>
                        </m:s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…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  <m: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,</m:t>
                            </m:r>
                          </m:sub>
                        </m:s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baseline="30000" dirty="0" smtClean="0"/>
              </a:p>
            </p:txBody>
          </p:sp>
        </mc:Choice>
        <mc:Fallback xmlns="">
          <p:sp>
            <p:nvSpPr>
              <p:cNvPr id="1372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1A0313-574D-46C4-8569-FDC983E44B41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2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Homogeneous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219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altLang="en-US" u="sng" dirty="0" smtClean="0"/>
                  <a:t>Euler’s theorem</a:t>
                </a:r>
                <a:r>
                  <a:rPr lang="en-US" altLang="en-US" dirty="0" smtClean="0"/>
                  <a:t>, homogeneous function</a:t>
                </a:r>
              </a:p>
              <a:p>
                <a:pPr lvl="2"/>
                <a:r>
                  <a:rPr lang="en-US" altLang="en-US" dirty="0" smtClean="0"/>
                  <a:t>Differentiate the definition for homogeneity with respect to the proportionality factor </a:t>
                </a:r>
                <a:r>
                  <a:rPr lang="en-US" altLang="en-US" i="1" dirty="0" smtClean="0"/>
                  <a:t>t</a:t>
                </a:r>
                <a:r>
                  <a:rPr lang="en-US" altLang="en-US" dirty="0" smtClean="0"/>
                  <a:t> </a:t>
                </a:r>
              </a:p>
              <a:p>
                <a:pPr algn="ctr">
                  <a:lnSpc>
                    <a:spcPct val="15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𝑘</m:t>
                      </m:r>
                      <m:sSup>
                        <m:sSupPr>
                          <m:ctrlPr>
                            <a:rPr lang="en-US" altLang="en-US" sz="24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en-US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altLang="en-US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altLang="en-US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,…,</m:t>
                      </m:r>
                      <m:r>
                        <a:rPr lang="en-US" altLang="en-US" sz="2400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 = 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4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𝑡𝑥</m:t>
                      </m:r>
                      <m:r>
                        <a:rPr lang="en-US" altLang="en-US" sz="24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,…,</m:t>
                      </m:r>
                      <m:r>
                        <a:rPr lang="en-US" altLang="en-US" sz="2400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𝑡𝑥</m:t>
                      </m:r>
                      <m:r>
                        <a:rPr lang="en-US" altLang="en-US" sz="2400" i="1" baseline="-25000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 + … + </m:t>
                      </m:r>
                      <m:r>
                        <a:rPr lang="en-US" altLang="en-US" sz="2400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2400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400" i="1" baseline="-25000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,…,</m:t>
                      </m:r>
                      <m:r>
                        <a:rPr lang="en-US" altLang="en-US" sz="2400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en-US" sz="2400" dirty="0" smtClean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altLang="en-US" dirty="0" smtClean="0"/>
                  <a:t>There is a definite relationship between the value of the function and the values of its partial derivatives</a:t>
                </a:r>
              </a:p>
              <a:p>
                <a:pPr lvl="2"/>
                <a:r>
                  <a:rPr lang="en-US" altLang="en-US" dirty="0" smtClean="0"/>
                  <a:t>For t=1: </a:t>
                </a:r>
              </a:p>
              <a:p>
                <a:pPr marL="5143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𝑘𝑓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,…,</m:t>
                      </m:r>
                      <m:r>
                        <a:rPr lang="en-US" altLang="en-US" sz="2400" i="1" dirty="0" err="1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 err="1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 = 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400" i="1" baseline="-25000" dirty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,…,</m:t>
                      </m:r>
                      <m:r>
                        <a:rPr lang="en-US" altLang="en-US" sz="2400" i="1" dirty="0" err="1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 err="1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 + … + </m:t>
                      </m:r>
                      <m:r>
                        <a:rPr lang="en-US" altLang="en-US" sz="2400" i="1" dirty="0" err="1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 err="1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2400" i="1" dirty="0" err="1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altLang="en-US" sz="2400" i="1" baseline="-25000" dirty="0" err="1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,…,</m:t>
                      </m:r>
                      <m:r>
                        <a:rPr lang="en-US" altLang="en-US" sz="2400" i="1" dirty="0" err="1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en-US" sz="2400" i="1" baseline="-25000" dirty="0" err="1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altLang="en-US" sz="24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en-US" sz="2800" dirty="0">
                  <a:solidFill>
                    <a:srgbClr val="FF0000"/>
                  </a:solidFill>
                </a:endParaRPr>
              </a:p>
              <a:p>
                <a:pPr lvl="2"/>
                <a:endParaRPr lang="en-US" altLang="en-US" dirty="0" smtClean="0"/>
              </a:p>
              <a:p>
                <a:pPr lvl="2"/>
                <a:endParaRPr lang="en-US" altLang="en-US" dirty="0" smtClean="0"/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1372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 r="-1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1A0313-574D-46C4-8569-FDC983E44B41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92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Homogeneous Functions</a:t>
            </a:r>
          </a:p>
        </p:txBody>
      </p:sp>
      <p:sp>
        <p:nvSpPr>
          <p:cNvPr id="138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 </a:t>
            </a:r>
            <a:r>
              <a:rPr lang="en-US" altLang="en-US" u="sng" dirty="0" smtClean="0"/>
              <a:t>homothetic function</a:t>
            </a:r>
          </a:p>
          <a:p>
            <a:pPr lvl="1"/>
            <a:r>
              <a:rPr lang="en-US" altLang="en-US" dirty="0" smtClean="0"/>
              <a:t>Is one that is formed by taking a monotonic transformation of a homogeneous function</a:t>
            </a:r>
          </a:p>
          <a:p>
            <a:pPr lvl="1"/>
            <a:r>
              <a:rPr lang="en-US" altLang="en-US" dirty="0" smtClean="0"/>
              <a:t>They generally do not possess the homogeneity properties of their underlying functions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F7E1F5-E500-4D68-9C6D-3CADBF82B003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5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Homogeneous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267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Homogeneous and homothetic functions</a:t>
                </a:r>
              </a:p>
              <a:p>
                <a:pPr lvl="1"/>
                <a:r>
                  <a:rPr lang="en-US" altLang="en-US" dirty="0" smtClean="0"/>
                  <a:t>The implicit trade-offs among the variables in the function </a:t>
                </a:r>
              </a:p>
              <a:p>
                <a:pPr lvl="1"/>
                <a:r>
                  <a:rPr lang="en-US" altLang="en-US" dirty="0" smtClean="0"/>
                  <a:t>Depend only on the ratios of those variables, not on their absolute values</a:t>
                </a:r>
              </a:p>
              <a:p>
                <a:r>
                  <a:rPr lang="en-US" altLang="en-US" dirty="0" smtClean="0"/>
                  <a:t>Two-variable function,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latin typeface="Cambria Math"/>
                      </a:rPr>
                      <m:t>=</m:t>
                    </m:r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,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en-US" dirty="0" smtClean="0"/>
                  <a:t>  </a:t>
                </a:r>
              </a:p>
              <a:p>
                <a:pPr lvl="1"/>
                <a:r>
                  <a:rPr lang="en-US" altLang="en-US" dirty="0" smtClean="0"/>
                  <a:t>The implicit trade-off between </a:t>
                </a:r>
                <a:r>
                  <a:rPr lang="en-US" altLang="en-US" i="1" dirty="0" smtClean="0"/>
                  <a:t>x</a:t>
                </a:r>
                <a:r>
                  <a:rPr lang="en-US" altLang="en-US" i="1" baseline="-25000" dirty="0" smtClean="0"/>
                  <a:t>1</a:t>
                </a:r>
                <a:r>
                  <a:rPr lang="en-US" altLang="en-US" dirty="0" smtClean="0"/>
                  <a:t> and </a:t>
                </a:r>
                <a:r>
                  <a:rPr lang="en-US" altLang="en-US" i="1" dirty="0" smtClean="0"/>
                  <a:t>x</a:t>
                </a:r>
                <a:r>
                  <a:rPr lang="en-US" altLang="en-US" i="1" baseline="-25000" dirty="0" smtClean="0"/>
                  <a:t>2</a:t>
                </a:r>
                <a:r>
                  <a:rPr lang="en-US" altLang="en-US" dirty="0" smtClean="0"/>
                  <a:t> is: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/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 −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/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</m:oMath>
                </a14:m>
                <a:endParaRPr lang="en-US" altLang="en-US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en-US" i="1" dirty="0" smtClean="0"/>
                  <a:t>f</a:t>
                </a:r>
                <a:r>
                  <a:rPr lang="en-US" altLang="en-US" dirty="0" smtClean="0"/>
                  <a:t> is homogeneous of degree </a:t>
                </a:r>
                <a:r>
                  <a:rPr lang="en-US" altLang="en-US" i="1" dirty="0" smtClean="0"/>
                  <a:t>k</a:t>
                </a:r>
                <a:endParaRPr lang="en-US" altLang="en-US" dirty="0" smtClean="0"/>
              </a:p>
            </p:txBody>
          </p:sp>
        </mc:Choice>
        <mc:Fallback xmlns="">
          <p:sp>
            <p:nvSpPr>
              <p:cNvPr id="13926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 r="-1357" b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AC828A-9331-42AF-AD6E-AD6248A02058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9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Homogeneous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6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Two-variable function,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latin typeface="Cambria Math"/>
                      </a:rPr>
                      <m:t>=</m:t>
                    </m:r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,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)  </m:t>
                    </m:r>
                  </m:oMath>
                </a14:m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Its partial derivatives will be homogeneous of degree </a:t>
                </a:r>
                <a:r>
                  <a:rPr lang="en-US" altLang="en-US" i="1" dirty="0" smtClean="0"/>
                  <a:t>k-1</a:t>
                </a:r>
              </a:p>
              <a:p>
                <a:pPr lvl="1"/>
                <a:r>
                  <a:rPr lang="en-US" altLang="en-US" dirty="0" smtClean="0"/>
                  <a:t>The implicit trade-off between </a:t>
                </a:r>
                <a:r>
                  <a:rPr lang="en-US" altLang="en-US" i="1" dirty="0" smtClean="0"/>
                  <a:t>x</a:t>
                </a:r>
                <a:r>
                  <a:rPr lang="en-US" altLang="en-US" i="1" baseline="-25000" dirty="0" smtClean="0"/>
                  <a:t>1</a:t>
                </a:r>
                <a:r>
                  <a:rPr lang="en-US" altLang="en-US" dirty="0" smtClean="0"/>
                  <a:t> and </a:t>
                </a:r>
                <a:r>
                  <a:rPr lang="en-US" altLang="en-US" i="1" dirty="0" smtClean="0"/>
                  <a:t>x</a:t>
                </a:r>
                <a:r>
                  <a:rPr lang="en-US" altLang="en-US" i="1" baseline="-25000" dirty="0" smtClean="0"/>
                  <a:t>2</a:t>
                </a:r>
                <a:r>
                  <a:rPr lang="en-US" altLang="en-US" dirty="0" smtClean="0"/>
                  <a:t> is</a:t>
                </a:r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3379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786" t="-1529" r="-1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1BEB9E8-4277-4D40-8B86-1E95BC365C7B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graphicFrame>
        <p:nvGraphicFramePr>
          <p:cNvPr id="158724" name="Object 2"/>
          <p:cNvGraphicFramePr>
            <a:graphicFrameLocks noChangeAspect="1"/>
          </p:cNvGraphicFramePr>
          <p:nvPr/>
        </p:nvGraphicFramePr>
        <p:xfrm>
          <a:off x="982663" y="3330575"/>
          <a:ext cx="6261100" cy="313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9" name="Equation" r:id="rId4" imgW="2260440" imgH="1130040" progId="Equation.DSMT4">
                  <p:embed/>
                </p:oleObj>
              </mc:Choice>
              <mc:Fallback>
                <p:oleObj name="Equation" r:id="rId4" imgW="2260440" imgH="1130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3" y="3330575"/>
                        <a:ext cx="6261100" cy="313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786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2.12	 Cardinal and Ordinal Properties</a:t>
            </a:r>
          </a:p>
        </p:txBody>
      </p:sp>
      <p:sp>
        <p:nvSpPr>
          <p:cNvPr id="34822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B2F2C57-A845-4CEB-AFD9-F0E7ECFE58A2}" type="slidenum">
              <a:rPr lang="en-US" smtClean="0"/>
              <a:pPr>
                <a:defRPr/>
              </a:pPr>
              <a:t>87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0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/>
                  <a:t>Function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,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)=(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)</m:t>
                    </m:r>
                    <m:r>
                      <a:rPr lang="en-US" altLang="en-US" i="1" baseline="30000" dirty="0" smtClean="0">
                        <a:latin typeface="Cambria Math"/>
                      </a:rPr>
                      <m:t>𝑘</m:t>
                    </m:r>
                  </m:oMath>
                </a14:m>
                <a:endParaRPr lang="en-US" altLang="en-US" i="1" baseline="30000" dirty="0" smtClean="0"/>
              </a:p>
              <a:p>
                <a:pPr lvl="1"/>
                <a:r>
                  <a:rPr lang="en-US" altLang="en-US" dirty="0" smtClean="0"/>
                  <a:t>Quasi-concavity [an ordinal property] - preserved for all values of </a:t>
                </a:r>
                <a:r>
                  <a:rPr lang="en-US" altLang="en-US" i="1" dirty="0" smtClean="0"/>
                  <a:t>k</a:t>
                </a:r>
              </a:p>
              <a:p>
                <a:pPr lvl="1"/>
                <a:r>
                  <a:rPr lang="en-US" altLang="en-US" dirty="0" smtClean="0"/>
                  <a:t>Is concave [a cardinal property] - only for a narrow range of values of </a:t>
                </a:r>
                <a:r>
                  <a:rPr lang="en-US" altLang="en-US" i="1" dirty="0" smtClean="0"/>
                  <a:t>k</a:t>
                </a:r>
              </a:p>
              <a:p>
                <a:pPr lvl="2"/>
                <a:r>
                  <a:rPr lang="en-US" altLang="en-US" dirty="0" smtClean="0"/>
                  <a:t>Many monotonic transformations destroy the concavity of </a:t>
                </a:r>
                <a:r>
                  <a:rPr lang="en-US" altLang="en-US" i="1" dirty="0" smtClean="0"/>
                  <a:t>f</a:t>
                </a:r>
              </a:p>
              <a:p>
                <a:pPr lvl="1"/>
                <a:r>
                  <a:rPr lang="en-US" altLang="en-US" dirty="0" smtClean="0"/>
                  <a:t>A proportional increase in the two arguments: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𝑡𝑥</m:t>
                    </m:r>
                    <m:r>
                      <a:rPr lang="en-US" altLang="en-US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,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𝑡𝑥</m:t>
                    </m:r>
                    <m:r>
                      <a:rPr lang="en-US" altLang="en-US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)=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𝑡</m:t>
                    </m:r>
                    <m:r>
                      <a:rPr lang="en-US" altLang="en-US" i="1" baseline="30000" dirty="0" smtClean="0">
                        <a:solidFill>
                          <a:srgbClr val="000099"/>
                        </a:solidFill>
                        <a:latin typeface="Cambria Math"/>
                      </a:rPr>
                      <m:t>2</m:t>
                    </m:r>
                    <m:r>
                      <a:rPr lang="en-US" altLang="en-US" i="1" baseline="30000" dirty="0" smtClean="0">
                        <a:solidFill>
                          <a:srgbClr val="000099"/>
                        </a:solidFill>
                        <a:latin typeface="Cambria Math"/>
                      </a:rPr>
                      <m:t>𝑘</m:t>
                    </m:r>
                    <m:r>
                      <a:rPr lang="en-US" altLang="en-US" i="1" baseline="30000" dirty="0" smtClean="0">
                        <a:solidFill>
                          <a:srgbClr val="000099"/>
                        </a:solidFill>
                        <a:latin typeface="Cambria Math"/>
                      </a:rPr>
                      <m:t> 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 = 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𝑡</m:t>
                    </m:r>
                    <m:r>
                      <a:rPr lang="en-US" altLang="en-US" i="1" baseline="30000" dirty="0" smtClean="0">
                        <a:solidFill>
                          <a:srgbClr val="000099"/>
                        </a:solidFill>
                        <a:latin typeface="Cambria Math"/>
                      </a:rPr>
                      <m:t>2</m:t>
                    </m:r>
                    <m:r>
                      <a:rPr lang="en-US" altLang="en-US" i="1" baseline="30000" dirty="0" smtClean="0">
                        <a:solidFill>
                          <a:srgbClr val="000099"/>
                        </a:solidFill>
                        <a:latin typeface="Cambria Math"/>
                      </a:rPr>
                      <m:t>𝑘</m:t>
                    </m:r>
                    <m:r>
                      <a:rPr lang="en-US" altLang="en-US" i="1" baseline="30000" dirty="0" smtClean="0">
                        <a:solidFill>
                          <a:srgbClr val="000099"/>
                        </a:solidFill>
                        <a:latin typeface="Cambria Math"/>
                      </a:rPr>
                      <m:t> 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,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altLang="en-US" i="1" dirty="0" smtClean="0">
                  <a:solidFill>
                    <a:srgbClr val="000099"/>
                  </a:solidFill>
                </a:endParaRPr>
              </a:p>
              <a:p>
                <a:pPr lvl="1"/>
                <a:r>
                  <a:rPr lang="en-US" altLang="en-US" dirty="0" smtClean="0"/>
                  <a:t>Degree of homogeneity - depends on </a:t>
                </a:r>
                <a:r>
                  <a:rPr lang="en-US" altLang="en-US" i="1" dirty="0" smtClean="0"/>
                  <a:t>k</a:t>
                </a:r>
              </a:p>
              <a:p>
                <a:pPr lvl="1"/>
                <a:r>
                  <a:rPr lang="en-US" altLang="en-US" dirty="0" smtClean="0"/>
                  <a:t>Is homothetic because </a:t>
                </a:r>
              </a:p>
            </p:txBody>
          </p:sp>
        </mc:Choice>
        <mc:Fallback xmlns="">
          <p:sp>
            <p:nvSpPr>
              <p:cNvPr id="3482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  <a:blipFill rotWithShape="1">
                <a:blip r:embed="rId3"/>
                <a:stretch>
                  <a:fillRect l="-1673" t="-1247" r="-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4660900" y="5294313"/>
          <a:ext cx="423545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4" name="Equation" r:id="rId4" imgW="1815840" imgH="457200" progId="Equation.DSMT4">
                  <p:embed/>
                </p:oleObj>
              </mc:Choice>
              <mc:Fallback>
                <p:oleObj name="Equation" r:id="rId4" imgW="18158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5294313"/>
                        <a:ext cx="4235450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052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Integration</a:t>
            </a:r>
          </a:p>
        </p:txBody>
      </p:sp>
      <p:sp>
        <p:nvSpPr>
          <p:cNvPr id="3584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u="sng" smtClean="0"/>
              <a:t>Integration</a:t>
            </a:r>
            <a:r>
              <a:rPr lang="en-US" altLang="en-US" smtClean="0"/>
              <a:t> is the inverse of differentiation</a:t>
            </a:r>
          </a:p>
          <a:p>
            <a:pPr lvl="1"/>
            <a:r>
              <a:rPr lang="en-US" altLang="en-US" smtClean="0"/>
              <a:t>Let </a:t>
            </a:r>
            <a:r>
              <a:rPr lang="en-US" altLang="en-US" i="1" smtClean="0"/>
              <a:t>F</a:t>
            </a:r>
            <a:r>
              <a:rPr lang="en-US" altLang="en-US" smtClean="0"/>
              <a:t>(</a:t>
            </a:r>
            <a:r>
              <a:rPr lang="en-US" altLang="en-US" i="1" smtClean="0"/>
              <a:t>x</a:t>
            </a:r>
            <a:r>
              <a:rPr lang="en-US" altLang="en-US" smtClean="0"/>
              <a:t>) be the integral of </a:t>
            </a:r>
            <a:r>
              <a:rPr lang="en-US" altLang="en-US" i="1" smtClean="0"/>
              <a:t>f</a:t>
            </a:r>
            <a:r>
              <a:rPr lang="en-US" altLang="en-US" smtClean="0"/>
              <a:t>(</a:t>
            </a:r>
            <a:r>
              <a:rPr lang="en-US" altLang="en-US" i="1" smtClean="0"/>
              <a:t>x</a:t>
            </a:r>
            <a:r>
              <a:rPr lang="en-US" altLang="en-US" smtClean="0"/>
              <a:t>)</a:t>
            </a:r>
          </a:p>
          <a:p>
            <a:pPr lvl="1"/>
            <a:r>
              <a:rPr lang="en-US" altLang="en-US" smtClean="0"/>
              <a:t>Then </a:t>
            </a:r>
            <a:r>
              <a:rPr lang="en-US" altLang="en-US" i="1" smtClean="0"/>
              <a:t>f</a:t>
            </a:r>
            <a:r>
              <a:rPr lang="en-US" altLang="en-US" smtClean="0"/>
              <a:t>(</a:t>
            </a:r>
            <a:r>
              <a:rPr lang="en-US" altLang="en-US" i="1" smtClean="0"/>
              <a:t>x</a:t>
            </a:r>
            <a:r>
              <a:rPr lang="en-US" altLang="en-US" smtClean="0"/>
              <a:t>) is the derivative of </a:t>
            </a:r>
            <a:r>
              <a:rPr lang="en-US" altLang="en-US" i="1" smtClean="0"/>
              <a:t>F</a:t>
            </a:r>
            <a:r>
              <a:rPr lang="en-US" altLang="en-US" smtClean="0"/>
              <a:t>(</a:t>
            </a:r>
            <a:r>
              <a:rPr lang="en-US" altLang="en-US" i="1" smtClean="0"/>
              <a:t>x</a:t>
            </a:r>
            <a:r>
              <a:rPr lang="en-US" altLang="en-US" smtClean="0"/>
              <a:t>)</a:t>
            </a: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28DB16-4106-4ADF-A22C-3BE266240152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4495800"/>
            <a:ext cx="8534400" cy="1752600"/>
          </a:xfrm>
        </p:spPr>
        <p:txBody>
          <a:bodyPr/>
          <a:lstStyle/>
          <a:p>
            <a:r>
              <a:rPr lang="en-US" dirty="0"/>
              <a:t>If f(x) = x </a:t>
            </a:r>
            <a:r>
              <a:rPr lang="en-US" dirty="0" smtClean="0"/>
              <a:t>then</a:t>
            </a:r>
            <a:endParaRPr lang="en-US" dirty="0"/>
          </a:p>
        </p:txBody>
      </p:sp>
      <p:graphicFrame>
        <p:nvGraphicFramePr>
          <p:cNvPr id="17818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298448"/>
              </p:ext>
            </p:extLst>
          </p:nvPr>
        </p:nvGraphicFramePr>
        <p:xfrm>
          <a:off x="1065213" y="2790825"/>
          <a:ext cx="3497262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2" name="Equation" r:id="rId3" imgW="1396800" imgH="711000" progId="Equation.DSMT4">
                  <p:embed/>
                </p:oleObj>
              </mc:Choice>
              <mc:Fallback>
                <p:oleObj name="Equation" r:id="rId3" imgW="13968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2790825"/>
                        <a:ext cx="3497262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1081088" y="5022850"/>
          <a:ext cx="6107112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3" name="Equation" r:id="rId5" imgW="2057400" imgH="419040" progId="Equation.DSMT4">
                  <p:embed/>
                </p:oleObj>
              </mc:Choice>
              <mc:Fallback>
                <p:oleObj name="Equation" r:id="rId5" imgW="2057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5022850"/>
                        <a:ext cx="6107112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277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 build="p" bldLvl="5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Integration</a:t>
            </a:r>
          </a:p>
        </p:txBody>
      </p:sp>
      <p:sp>
        <p:nvSpPr>
          <p:cNvPr id="140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Calculation of antiderivatives</a:t>
            </a:r>
          </a:p>
          <a:p>
            <a:pPr lvl="1">
              <a:buFont typeface="Arial" pitchFamily="34" charset="0"/>
              <a:buNone/>
            </a:pPr>
            <a:r>
              <a:rPr lang="en-US" altLang="en-US" smtClean="0"/>
              <a:t>1. Creative guesswork </a:t>
            </a:r>
          </a:p>
          <a:p>
            <a:pPr lvl="2"/>
            <a:r>
              <a:rPr lang="en-US" altLang="en-US" smtClean="0"/>
              <a:t>What function will yield </a:t>
            </a:r>
            <a:r>
              <a:rPr lang="en-US" altLang="en-US" i="1" smtClean="0"/>
              <a:t>f</a:t>
            </a:r>
            <a:r>
              <a:rPr lang="en-US" altLang="en-US" smtClean="0"/>
              <a:t>(</a:t>
            </a:r>
            <a:r>
              <a:rPr lang="en-US" altLang="en-US" i="1" smtClean="0"/>
              <a:t>x</a:t>
            </a:r>
            <a:r>
              <a:rPr lang="en-US" altLang="en-US" smtClean="0"/>
              <a:t>) as its derivative?</a:t>
            </a:r>
          </a:p>
          <a:p>
            <a:pPr lvl="2"/>
            <a:r>
              <a:rPr lang="en-US" altLang="en-US" smtClean="0"/>
              <a:t>Use differentiation to check your answer</a:t>
            </a:r>
          </a:p>
          <a:p>
            <a:pPr lvl="1">
              <a:buFont typeface="Arial" pitchFamily="34" charset="0"/>
              <a:buNone/>
            </a:pPr>
            <a:r>
              <a:rPr lang="en-US" altLang="en-US" smtClean="0"/>
              <a:t>2. Change of variable </a:t>
            </a:r>
          </a:p>
          <a:p>
            <a:pPr lvl="2"/>
            <a:r>
              <a:rPr lang="en-US" altLang="en-US" smtClean="0"/>
              <a:t>Redefine variables to make the function easier to integrate </a:t>
            </a:r>
          </a:p>
          <a:p>
            <a:pPr lvl="1">
              <a:buFont typeface="Arial" pitchFamily="34" charset="0"/>
              <a:buNone/>
            </a:pPr>
            <a:r>
              <a:rPr lang="en-US" altLang="en-US" smtClean="0"/>
              <a:t>3. Integration by parts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33AB01-F3AC-4C30-8ED6-950D29FDFD55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291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219200"/>
                <a:ext cx="8534400" cy="1219200"/>
              </a:xfrm>
            </p:spPr>
            <p:txBody>
              <a:bodyPr/>
              <a:lstStyle/>
              <a:p>
                <a:pPr lvl="1">
                  <a:buFont typeface="Arial" pitchFamily="34" charset="0"/>
                  <a:buNone/>
                </a:pPr>
                <a:r>
                  <a:rPr lang="en-US" altLang="en-US" dirty="0" smtClean="0"/>
                  <a:t>1. Creative guesswork: use differentiation to show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𝐹</m:t>
                    </m:r>
                    <m:r>
                      <a:rPr lang="en-US" altLang="en-US" i="1" dirty="0" smtClean="0">
                        <a:latin typeface="Cambria Math"/>
                      </a:rPr>
                      <m:t>’(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dirty="0" smtClean="0">
                        <a:latin typeface="Cambria Math"/>
                      </a:rPr>
                      <m:t>) = </m:t>
                    </m:r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dirty="0" smtClean="0">
                        <a:latin typeface="Cambria Math"/>
                      </a:rPr>
                      <m:t>) </m:t>
                    </m:r>
                  </m:oMath>
                </a14:m>
                <a:endParaRPr lang="en-US" altLang="en-US" dirty="0" smtClean="0"/>
              </a:p>
            </p:txBody>
          </p:sp>
        </mc:Choice>
        <mc:Fallback xmlns="">
          <p:sp>
            <p:nvSpPr>
              <p:cNvPr id="14029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19200"/>
                <a:ext cx="8534400" cy="1219200"/>
              </a:xfrm>
              <a:blipFill rotWithShape="1">
                <a:blip r:embed="rId3"/>
                <a:stretch>
                  <a:fillRect t="-6500" b="-4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33AB01-F3AC-4C30-8ED6-950D29FDFD55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23501"/>
              </p:ext>
            </p:extLst>
          </p:nvPr>
        </p:nvGraphicFramePr>
        <p:xfrm>
          <a:off x="762000" y="2419349"/>
          <a:ext cx="7226060" cy="3868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78" name="Equation" r:id="rId4" imgW="3771720" imgH="2019240" progId="Equation.DSMT4">
                  <p:embed/>
                </p:oleObj>
              </mc:Choice>
              <mc:Fallback>
                <p:oleObj name="Equation" r:id="rId4" imgW="3771720" imgH="2019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2000" y="2419349"/>
                        <a:ext cx="7226060" cy="38684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033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Integration</a:t>
            </a:r>
          </a:p>
        </p:txBody>
      </p:sp>
      <p:sp>
        <p:nvSpPr>
          <p:cNvPr id="140291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838200"/>
          </a:xfrm>
        </p:spPr>
        <p:txBody>
          <a:bodyPr/>
          <a:lstStyle/>
          <a:p>
            <a:pPr lvl="1">
              <a:buFont typeface="Arial" pitchFamily="34" charset="0"/>
              <a:buNone/>
            </a:pPr>
            <a:r>
              <a:rPr lang="en-US" altLang="en-US" dirty="0" smtClean="0"/>
              <a:t>2. Change of variable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33AB01-F3AC-4C30-8ED6-950D29FDFD55}" type="slidenum">
              <a:rPr lang="en-US" smtClean="0"/>
              <a:pPr>
                <a:defRPr/>
              </a:pPr>
              <a:t>91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2865"/>
              </p:ext>
            </p:extLst>
          </p:nvPr>
        </p:nvGraphicFramePr>
        <p:xfrm>
          <a:off x="762000" y="2286000"/>
          <a:ext cx="5946422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02" name="Equation" r:id="rId3" imgW="2489040" imgH="685800" progId="Equation.DSMT4">
                  <p:embed/>
                </p:oleObj>
              </mc:Choice>
              <mc:Fallback>
                <p:oleObj name="Equation" r:id="rId3" imgW="248904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" y="2286000"/>
                        <a:ext cx="5946422" cy="163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312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8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lvl="1" indent="0">
                  <a:buNone/>
                </a:pPr>
                <a:r>
                  <a:rPr lang="en-US" altLang="en-US" dirty="0" smtClean="0"/>
                  <a:t>3. Integration by parts: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 </m:t>
                    </m:r>
                    <m:r>
                      <a:rPr lang="en-US" altLang="en-US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𝑑𝑢𝑣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 </m:t>
                    </m:r>
                    <m:r>
                      <a:rPr lang="en-US" altLang="en-US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𝑢𝑑𝑣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+ </m:t>
                    </m:r>
                    <m:r>
                      <a:rPr lang="en-US" altLang="en-US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𝑣𝑑𝑢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altLang="en-US" i="1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en-US" dirty="0" smtClean="0"/>
                  <a:t>For any two functions </a:t>
                </a:r>
                <a:r>
                  <a:rPr lang="en-US" altLang="en-US" i="1" dirty="0" smtClean="0"/>
                  <a:t>u</a:t>
                </a:r>
                <a:r>
                  <a:rPr lang="en-US" altLang="en-US" dirty="0" smtClean="0"/>
                  <a:t> and </a:t>
                </a:r>
                <a:r>
                  <a:rPr lang="en-US" altLang="en-US" i="1" dirty="0" smtClean="0"/>
                  <a:t>v</a:t>
                </a:r>
                <a:endParaRPr lang="en-US" altLang="en-US" dirty="0" smtClean="0"/>
              </a:p>
              <a:p>
                <a:pPr lvl="1" algn="ctr">
                  <a:buFontTx/>
                  <a:buNone/>
                </a:pPr>
                <a:endParaRPr lang="en-US" altLang="en-US" dirty="0" smtClean="0"/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3686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t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7F0F225-253A-47FD-BDA7-3402E8B6ABC6}" type="slidenum">
              <a:rPr lang="en-US" smtClean="0"/>
              <a:pPr>
                <a:defRPr/>
              </a:pPr>
              <a:t>92</a:t>
            </a:fld>
            <a:endParaRPr lang="en-US"/>
          </a:p>
        </p:txBody>
      </p:sp>
      <p:graphicFrame>
        <p:nvGraphicFramePr>
          <p:cNvPr id="183302" name="Object 2"/>
          <p:cNvGraphicFramePr>
            <a:graphicFrameLocks noChangeAspect="1"/>
          </p:cNvGraphicFramePr>
          <p:nvPr/>
        </p:nvGraphicFramePr>
        <p:xfrm>
          <a:off x="2168525" y="2692400"/>
          <a:ext cx="4806950" cy="179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1" name="Equation" r:id="rId4" imgW="1562040" imgH="583920" progId="Equation.DSMT4">
                  <p:embed/>
                </p:oleObj>
              </mc:Choice>
              <mc:Fallback>
                <p:oleObj name="Equation" r:id="rId4" imgW="156204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2692400"/>
                        <a:ext cx="4806950" cy="179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826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330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2" grpId="0" build="p" bldLvl="5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Integration</a:t>
            </a:r>
          </a:p>
        </p:txBody>
      </p:sp>
      <p:sp>
        <p:nvSpPr>
          <p:cNvPr id="3789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Definite integrals</a:t>
            </a:r>
          </a:p>
          <a:p>
            <a:pPr lvl="1"/>
            <a:r>
              <a:rPr lang="en-US" altLang="en-US" smtClean="0"/>
              <a:t>To sum up the area under a graph of a function over some defined interval</a:t>
            </a:r>
          </a:p>
          <a:p>
            <a:r>
              <a:rPr lang="en-US" altLang="en-US" smtClean="0"/>
              <a:t>Area under </a:t>
            </a:r>
            <a:r>
              <a:rPr lang="en-US" altLang="en-US" i="1" smtClean="0"/>
              <a:t>f(x) </a:t>
            </a:r>
            <a:r>
              <a:rPr lang="en-US" altLang="en-US" smtClean="0"/>
              <a:t>from </a:t>
            </a:r>
            <a:r>
              <a:rPr lang="en-US" altLang="en-US" i="1" smtClean="0"/>
              <a:t>x = a </a:t>
            </a:r>
            <a:r>
              <a:rPr lang="en-US" altLang="en-US" smtClean="0"/>
              <a:t>to </a:t>
            </a:r>
            <a:r>
              <a:rPr lang="en-US" altLang="en-US" i="1" smtClean="0"/>
              <a:t>x = b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E752D2-CAC3-4F8B-9DD8-E49C73F49C8F}" type="slidenum">
              <a:rPr lang="en-US" smtClean="0"/>
              <a:pPr>
                <a:defRPr/>
              </a:pPr>
              <a:t>93</a:t>
            </a:fld>
            <a:endParaRPr lang="en-US"/>
          </a:p>
        </p:txBody>
      </p:sp>
      <p:graphicFrame>
        <p:nvGraphicFramePr>
          <p:cNvPr id="185348" name="Object 2"/>
          <p:cNvGraphicFramePr>
            <a:graphicFrameLocks noChangeAspect="1"/>
          </p:cNvGraphicFramePr>
          <p:nvPr/>
        </p:nvGraphicFramePr>
        <p:xfrm>
          <a:off x="1404938" y="3514725"/>
          <a:ext cx="5280025" cy="231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4" name="Equation" r:id="rId3" imgW="1854000" imgH="812520" progId="Equation.DSMT4">
                  <p:embed/>
                </p:oleObj>
              </mc:Choice>
              <mc:Fallback>
                <p:oleObj name="Equation" r:id="rId3" imgW="1854000" imgH="812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938" y="3514725"/>
                        <a:ext cx="5280025" cy="231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964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8" grpId="0" build="p" bldLvl="5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2.5	Definite </a:t>
            </a:r>
            <a:r>
              <a:rPr lang="en-US" altLang="en-US" dirty="0"/>
              <a:t>Integrals </a:t>
            </a:r>
            <a:r>
              <a:rPr lang="en-US" altLang="en-US" dirty="0" smtClean="0"/>
              <a:t>Show the </a:t>
            </a:r>
            <a:r>
              <a:rPr lang="en-US" altLang="en-US" dirty="0"/>
              <a:t>Areas Under </a:t>
            </a:r>
            <a:r>
              <a:rPr lang="en-US" altLang="en-US" dirty="0" smtClean="0"/>
              <a:t>the</a:t>
            </a:r>
            <a:br>
              <a:rPr lang="en-US" altLang="en-US" dirty="0" smtClean="0"/>
            </a:b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Graph </a:t>
            </a:r>
            <a:r>
              <a:rPr lang="en-US" altLang="en-US" dirty="0">
                <a:solidFill>
                  <a:srgbClr val="002D56"/>
                </a:solidFill>
              </a:rPr>
              <a:t>of a Function 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141315" name="Text Placeholder 2"/>
          <p:cNvSpPr>
            <a:spLocks noGrp="1"/>
          </p:cNvSpPr>
          <p:nvPr>
            <p:ph sz="half" idx="1"/>
          </p:nvPr>
        </p:nvSpPr>
        <p:spPr>
          <a:xfrm>
            <a:off x="152400" y="5732462"/>
            <a:ext cx="8763000" cy="668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Definite integrals measure the area under a curve by summing rectangular areas as shown in the graph. The dimension of each rectangle is f(x)dx.</a:t>
            </a:r>
          </a:p>
        </p:txBody>
      </p:sp>
      <p:sp>
        <p:nvSpPr>
          <p:cNvPr id="141318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6AA97EE-56D6-4938-98B1-453EEB337A55}" type="slidenum">
              <a:rPr lang="en-US" smtClean="0"/>
              <a:pPr>
                <a:defRPr/>
              </a:pPr>
              <a:t>94</a:t>
            </a:fld>
            <a:endParaRPr lang="en-US" dirty="0"/>
          </a:p>
        </p:txBody>
      </p:sp>
      <p:pic>
        <p:nvPicPr>
          <p:cNvPr id="2068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1092200"/>
            <a:ext cx="5945188" cy="464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289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Integration</a:t>
            </a:r>
          </a:p>
        </p:txBody>
      </p:sp>
      <p:sp>
        <p:nvSpPr>
          <p:cNvPr id="3891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Fundamental theorem of calculus</a:t>
            </a:r>
          </a:p>
          <a:p>
            <a:pPr lvl="1"/>
            <a:r>
              <a:rPr lang="en-US" altLang="en-US" smtClean="0"/>
              <a:t>Directly ties together the two principal tools of calculus: derivatives and integrals</a:t>
            </a:r>
          </a:p>
          <a:p>
            <a:pPr lvl="1"/>
            <a:r>
              <a:rPr lang="en-US" altLang="en-US" smtClean="0"/>
              <a:t>Used to illustrate the distinction between ‘‘stocks’’ and ‘‘flows</a:t>
            </a: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B1767F-B8F5-4D0F-B268-16E0388D88DE}" type="slidenum">
              <a:rPr lang="en-US" smtClean="0"/>
              <a:pPr>
                <a:defRPr/>
              </a:pPr>
              <a:t>95</a:t>
            </a:fld>
            <a:endParaRPr lang="en-US"/>
          </a:p>
        </p:txBody>
      </p:sp>
      <p:graphicFrame>
        <p:nvGraphicFramePr>
          <p:cNvPr id="185348" name="Object 2"/>
          <p:cNvGraphicFramePr>
            <a:graphicFrameLocks noChangeAspect="1"/>
          </p:cNvGraphicFramePr>
          <p:nvPr/>
        </p:nvGraphicFramePr>
        <p:xfrm>
          <a:off x="1027113" y="4370388"/>
          <a:ext cx="7485062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8" name="Equation" r:id="rId3" imgW="2628720" imgH="469800" progId="Equation.DSMT4">
                  <p:embed/>
                </p:oleObj>
              </mc:Choice>
              <mc:Fallback>
                <p:oleObj name="Equation" r:id="rId3" imgW="26287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113" y="4370388"/>
                        <a:ext cx="7485062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48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8" grpId="0" build="p" bldLvl="5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2.13 	Stocks and Flows</a:t>
            </a:r>
          </a:p>
        </p:txBody>
      </p:sp>
      <p:sp>
        <p:nvSpPr>
          <p:cNvPr id="39942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042E2A7-2F6B-4AA6-8810-C8DC715F41BF}" type="slidenum">
              <a:rPr lang="en-US" smtClean="0"/>
              <a:pPr>
                <a:defRPr/>
              </a:pPr>
              <a:t>96</a:t>
            </a:fld>
            <a:endParaRPr lang="en-US" dirty="0"/>
          </a:p>
        </p:txBody>
      </p:sp>
      <p:sp>
        <p:nvSpPr>
          <p:cNvPr id="39940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Net population increase, f(t)=1,000e</a:t>
            </a:r>
            <a:r>
              <a:rPr lang="en-US" altLang="en-US" baseline="30000" dirty="0" smtClean="0"/>
              <a:t>0.02t</a:t>
            </a:r>
          </a:p>
          <a:p>
            <a:pPr lvl="1"/>
            <a:r>
              <a:rPr lang="en-US" altLang="en-US" dirty="0" smtClean="0"/>
              <a:t>“Flow” concept</a:t>
            </a:r>
          </a:p>
          <a:p>
            <a:pPr lvl="1"/>
            <a:r>
              <a:rPr lang="en-US" altLang="en-US" dirty="0" smtClean="0"/>
              <a:t>Net population change - is growing at the rate of 2 percent per year</a:t>
            </a:r>
          </a:p>
          <a:p>
            <a:pPr lvl="1"/>
            <a:r>
              <a:rPr lang="en-US" altLang="en-US" dirty="0" smtClean="0"/>
              <a:t>How much in total the population (“stock” concept) will increase over a 50 year period: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657225" y="3562350"/>
          <a:ext cx="7967663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4" name="Equation" r:id="rId3" imgW="3327120" imgH="990360" progId="Equation.DSMT4">
                  <p:embed/>
                </p:oleObj>
              </mc:Choice>
              <mc:Fallback>
                <p:oleObj name="Equation" r:id="rId3" imgW="332712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3562350"/>
                        <a:ext cx="7967663" cy="237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774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2.13 	Stocks and Flows</a:t>
            </a:r>
          </a:p>
        </p:txBody>
      </p:sp>
      <p:sp>
        <p:nvSpPr>
          <p:cNvPr id="40966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D60374E6-6AC0-4554-820D-D35233D18844}" type="slidenum">
              <a:rPr lang="en-US" smtClean="0"/>
              <a:pPr>
                <a:defRPr/>
              </a:pPr>
              <a:t>97</a:t>
            </a:fld>
            <a:endParaRPr lang="en-US" dirty="0"/>
          </a:p>
        </p:txBody>
      </p:sp>
      <p:sp>
        <p:nvSpPr>
          <p:cNvPr id="40964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Total costs: </a:t>
            </a:r>
            <a:r>
              <a:rPr lang="en-US" altLang="en-US" i="1" dirty="0" smtClean="0"/>
              <a:t>C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)=0.1</a:t>
            </a:r>
            <a:r>
              <a:rPr lang="en-US" altLang="en-US" i="1" dirty="0" smtClean="0"/>
              <a:t>q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+500</a:t>
            </a:r>
          </a:p>
          <a:p>
            <a:pPr lvl="1"/>
            <a:r>
              <a:rPr lang="en-US" altLang="en-US" dirty="0" smtClean="0"/>
              <a:t> 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 – output during some period</a:t>
            </a:r>
          </a:p>
          <a:p>
            <a:pPr lvl="1"/>
            <a:r>
              <a:rPr lang="en-US" altLang="en-US" dirty="0" smtClean="0"/>
              <a:t>Variable costs: 0.1</a:t>
            </a:r>
            <a:r>
              <a:rPr lang="en-US" altLang="en-US" i="1" dirty="0" smtClean="0"/>
              <a:t>q</a:t>
            </a:r>
            <a:r>
              <a:rPr lang="en-US" altLang="en-US" baseline="30000" dirty="0" smtClean="0"/>
              <a:t>2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Fixed costs: 500</a:t>
            </a:r>
          </a:p>
          <a:p>
            <a:pPr lvl="1"/>
            <a:r>
              <a:rPr lang="en-US" altLang="en-US" dirty="0" smtClean="0"/>
              <a:t>Marginal costs MC = </a:t>
            </a:r>
            <a:r>
              <a:rPr lang="en-US" altLang="en-US" i="1" dirty="0" err="1" smtClean="0"/>
              <a:t>dC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)/</a:t>
            </a:r>
            <a:r>
              <a:rPr lang="en-US" altLang="en-US" i="1" dirty="0" err="1" smtClean="0"/>
              <a:t>dq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= 0.2</a:t>
            </a:r>
            <a:r>
              <a:rPr lang="en-US" altLang="en-US" i="1" dirty="0" smtClean="0"/>
              <a:t>q</a:t>
            </a:r>
          </a:p>
          <a:p>
            <a:pPr lvl="1"/>
            <a:r>
              <a:rPr lang="en-US" altLang="en-US" dirty="0" smtClean="0"/>
              <a:t>Total costs for 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=100 </a:t>
            </a:r>
          </a:p>
          <a:p>
            <a:pPr lvl="2"/>
            <a:r>
              <a:rPr lang="en-US" altLang="en-US" dirty="0" smtClean="0"/>
              <a:t>Fixed cost (500) + Variable cost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354013" y="4249738"/>
          <a:ext cx="857567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9" name="Equation" r:id="rId3" imgW="3581280" imgH="507960" progId="Equation.DSMT4">
                  <p:embed/>
                </p:oleObj>
              </mc:Choice>
              <mc:Fallback>
                <p:oleObj name="Equation" r:id="rId3" imgW="35812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4249738"/>
                        <a:ext cx="857567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347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Differentiating a Definite Integral</a:t>
            </a:r>
          </a:p>
        </p:txBody>
      </p:sp>
      <p:sp>
        <p:nvSpPr>
          <p:cNvPr id="4198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Tx/>
              <a:buAutoNum type="arabicPeriod"/>
            </a:pPr>
            <a:r>
              <a:rPr lang="en-US" altLang="en-US" smtClean="0"/>
              <a:t>Differentiation with respect to the variable of integration</a:t>
            </a:r>
          </a:p>
          <a:p>
            <a:pPr marL="914400" lvl="1" indent="-514350"/>
            <a:r>
              <a:rPr lang="en-US" altLang="en-US" smtClean="0"/>
              <a:t>A definite integral has a constant value</a:t>
            </a:r>
          </a:p>
          <a:p>
            <a:pPr marL="914400" lvl="1" indent="-514350"/>
            <a:r>
              <a:rPr lang="en-US" altLang="en-US" smtClean="0"/>
              <a:t>Hence its derivative is zero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659E7C-80B4-4122-B690-7A7C8A7AFC42}" type="slidenum">
              <a:rPr lang="en-US" smtClean="0"/>
              <a:pPr>
                <a:defRPr/>
              </a:pPr>
              <a:t>98</a:t>
            </a:fld>
            <a:endParaRPr lang="en-US"/>
          </a:p>
        </p:txBody>
      </p:sp>
      <p:graphicFrame>
        <p:nvGraphicFramePr>
          <p:cNvPr id="188420" name="Object 2"/>
          <p:cNvGraphicFramePr>
            <a:graphicFrameLocks noChangeAspect="1"/>
          </p:cNvGraphicFramePr>
          <p:nvPr/>
        </p:nvGraphicFramePr>
        <p:xfrm>
          <a:off x="2273300" y="3482975"/>
          <a:ext cx="2749550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0" name="Equation" r:id="rId3" imgW="927000" imgH="647640" progId="Equation.DSMT4">
                  <p:embed/>
                </p:oleObj>
              </mc:Choice>
              <mc:Fallback>
                <p:oleObj name="Equation" r:id="rId3" imgW="92700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3482975"/>
                        <a:ext cx="2749550" cy="192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066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4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0" grpId="0" build="p" bldLvl="5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Differentiating a Definite Integral</a:t>
            </a:r>
          </a:p>
        </p:txBody>
      </p:sp>
      <p:sp>
        <p:nvSpPr>
          <p:cNvPr id="4301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Tx/>
              <a:buNone/>
            </a:pPr>
            <a:r>
              <a:rPr lang="en-US" altLang="en-US" smtClean="0"/>
              <a:t>2. Differentiation with respect to the upper bound of integration </a:t>
            </a:r>
          </a:p>
          <a:p>
            <a:pPr marL="914400" lvl="1" indent="-514350"/>
            <a:r>
              <a:rPr lang="en-US" altLang="en-US" smtClean="0"/>
              <a:t>Changing the upper bound of integration will change the value of a definite integral</a:t>
            </a:r>
          </a:p>
          <a:p>
            <a:pPr marL="514350" indent="-514350">
              <a:buFontTx/>
              <a:buNone/>
            </a:pPr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350CBA-3B11-4690-9111-CE9B472E9345}" type="slidenum">
              <a:rPr lang="en-US" smtClean="0"/>
              <a:pPr>
                <a:defRPr/>
              </a:pPr>
              <a:t>99</a:t>
            </a:fld>
            <a:endParaRPr lang="en-US"/>
          </a:p>
        </p:txBody>
      </p:sp>
      <p:graphicFrame>
        <p:nvGraphicFramePr>
          <p:cNvPr id="1894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475901"/>
              </p:ext>
            </p:extLst>
          </p:nvPr>
        </p:nvGraphicFramePr>
        <p:xfrm>
          <a:off x="627063" y="3457575"/>
          <a:ext cx="7970837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5" name="Equation" r:id="rId3" imgW="2869920" imgH="647640" progId="Equation.DSMT4">
                  <p:embed/>
                </p:oleObj>
              </mc:Choice>
              <mc:Fallback>
                <p:oleObj name="Equation" r:id="rId3" imgW="286992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3" y="3457575"/>
                        <a:ext cx="7970837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494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4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4" grpId="0" build="p" bldLvl="5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Differentiating a Definite Integral</a:t>
            </a:r>
          </a:p>
        </p:txBody>
      </p:sp>
      <p:sp>
        <p:nvSpPr>
          <p:cNvPr id="4403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Tx/>
              <a:buNone/>
            </a:pPr>
            <a:r>
              <a:rPr lang="en-US" altLang="en-US" smtClean="0"/>
              <a:t>2. Differentiation with respect to the upper bound of integration </a:t>
            </a:r>
          </a:p>
          <a:p>
            <a:pPr marL="914400" lvl="1" indent="-514350"/>
            <a:r>
              <a:rPr lang="en-US" altLang="en-US" smtClean="0"/>
              <a:t>If the upper bound of integration is a function of x,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4DCCAC4-371E-4963-BB1E-F777DEBCD64D}" type="slidenum">
              <a:rPr lang="en-US" smtClean="0"/>
              <a:pPr>
                <a:defRPr/>
              </a:pPr>
              <a:t>100</a:t>
            </a:fld>
            <a:endParaRPr lang="en-US"/>
          </a:p>
        </p:txBody>
      </p:sp>
      <p:graphicFrame>
        <p:nvGraphicFramePr>
          <p:cNvPr id="1894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391110"/>
              </p:ext>
            </p:extLst>
          </p:nvPr>
        </p:nvGraphicFramePr>
        <p:xfrm>
          <a:off x="1066799" y="3248862"/>
          <a:ext cx="6886575" cy="2994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9" name="Equation" r:id="rId3" imgW="2514600" imgH="1091880" progId="Equation.DSMT4">
                  <p:embed/>
                </p:oleObj>
              </mc:Choice>
              <mc:Fallback>
                <p:oleObj name="Equation" r:id="rId3" imgW="2514600" imgH="1091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799" y="3248862"/>
                        <a:ext cx="6886575" cy="2994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677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4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4" grpId="0" build="p" bldLvl="5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Differentiating a Definite Integral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dirty="0" smtClean="0"/>
              <a:t>3. Differentiation with respect to another relevant variable </a:t>
            </a:r>
          </a:p>
          <a:p>
            <a:pPr lvl="1">
              <a:defRPr/>
            </a:pPr>
            <a:r>
              <a:rPr lang="en-US" dirty="0" smtClean="0"/>
              <a:t>Suppose we want to integrate </a:t>
            </a:r>
            <a:r>
              <a:rPr lang="en-US" i="1" dirty="0" smtClean="0"/>
              <a:t>f</a:t>
            </a:r>
            <a:r>
              <a:rPr lang="en-US" dirty="0" smtClean="0"/>
              <a:t>(</a:t>
            </a:r>
            <a:r>
              <a:rPr lang="en-US" i="1" dirty="0" err="1" smtClean="0"/>
              <a:t>x</a:t>
            </a:r>
            <a:r>
              <a:rPr lang="en-US" dirty="0" err="1" smtClean="0"/>
              <a:t>,</a:t>
            </a:r>
            <a:r>
              <a:rPr lang="en-US" i="1" dirty="0" err="1" smtClean="0"/>
              <a:t>y</a:t>
            </a:r>
            <a:r>
              <a:rPr lang="en-US" dirty="0" smtClean="0"/>
              <a:t>) with respect to</a:t>
            </a:r>
            <a:r>
              <a:rPr lang="en-US" i="1" dirty="0" smtClean="0"/>
              <a:t> x</a:t>
            </a:r>
          </a:p>
          <a:p>
            <a:pPr lvl="2">
              <a:defRPr/>
            </a:pPr>
            <a:r>
              <a:rPr lang="en-US" dirty="0" smtClean="0"/>
              <a:t>How will this be affected by changes in </a:t>
            </a:r>
            <a:r>
              <a:rPr lang="en-US" i="1" dirty="0" smtClean="0"/>
              <a:t>y</a:t>
            </a:r>
            <a:r>
              <a:rPr lang="en-US" dirty="0" smtClean="0"/>
              <a:t>?</a:t>
            </a:r>
          </a:p>
          <a:p>
            <a:pPr marL="514350" indent="-514350">
              <a:buFontTx/>
              <a:buNone/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659E08-5E9C-431A-A6C0-537AF5B52BDE}" type="slidenum">
              <a:rPr lang="en-US" smtClean="0"/>
              <a:pPr>
                <a:defRPr/>
              </a:pPr>
              <a:t>101</a:t>
            </a:fld>
            <a:endParaRPr lang="en-US"/>
          </a:p>
        </p:txBody>
      </p:sp>
      <p:graphicFrame>
        <p:nvGraphicFramePr>
          <p:cNvPr id="190468" name="Object 2"/>
          <p:cNvGraphicFramePr>
            <a:graphicFrameLocks noChangeAspect="1"/>
          </p:cNvGraphicFramePr>
          <p:nvPr/>
        </p:nvGraphicFramePr>
        <p:xfrm>
          <a:off x="868363" y="4013200"/>
          <a:ext cx="4864100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2" name="Equation" r:id="rId3" imgW="1701720" imgH="698400" progId="Equation.DSMT4">
                  <p:embed/>
                </p:oleObj>
              </mc:Choice>
              <mc:Fallback>
                <p:oleObj name="Equation" r:id="rId3" imgW="17017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4013200"/>
                        <a:ext cx="4864100" cy="200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84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46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8" grpId="0" build="p" bldLvl="5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Dynamic Optimization</a:t>
            </a:r>
          </a:p>
        </p:txBody>
      </p:sp>
      <p:sp>
        <p:nvSpPr>
          <p:cNvPr id="142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Some optimization problems involve multiple periods</a:t>
            </a:r>
          </a:p>
          <a:p>
            <a:pPr lvl="1"/>
            <a:r>
              <a:rPr lang="en-US" altLang="en-US" smtClean="0"/>
              <a:t>Need to find the optimal time path for a variable that succeeds in optimizing some goal</a:t>
            </a:r>
          </a:p>
          <a:p>
            <a:pPr lvl="1"/>
            <a:r>
              <a:rPr lang="en-US" altLang="en-US" smtClean="0"/>
              <a:t>Decisions made in one period affect outcomes in later periods</a:t>
            </a: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4FCF02D-62CD-4C00-B158-8A05E24FEF9C}" type="slidenum">
              <a:rPr lang="en-US" smtClean="0"/>
              <a:pPr>
                <a:defRPr/>
              </a:pPr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1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Dynamic Optimization</a:t>
            </a:r>
          </a:p>
        </p:txBody>
      </p:sp>
      <p:sp>
        <p:nvSpPr>
          <p:cNvPr id="4608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Find the optimal path for </a:t>
            </a:r>
            <a:r>
              <a:rPr lang="en-US" altLang="en-US" i="1" smtClean="0"/>
              <a:t>x</a:t>
            </a:r>
            <a:r>
              <a:rPr lang="en-US" altLang="en-US" smtClean="0"/>
              <a:t>(</a:t>
            </a:r>
            <a:r>
              <a:rPr lang="en-US" altLang="en-US" i="1" smtClean="0"/>
              <a:t>t</a:t>
            </a:r>
            <a:r>
              <a:rPr lang="en-US" altLang="en-US" smtClean="0"/>
              <a:t>) </a:t>
            </a:r>
          </a:p>
          <a:p>
            <a:pPr lvl="1"/>
            <a:r>
              <a:rPr lang="en-US" altLang="en-US" smtClean="0"/>
              <a:t>Over a specified time interval [</a:t>
            </a:r>
            <a:r>
              <a:rPr lang="en-US" altLang="en-US" i="1" smtClean="0"/>
              <a:t>t</a:t>
            </a:r>
            <a:r>
              <a:rPr lang="en-US" altLang="en-US" baseline="-25000" smtClean="0"/>
              <a:t>0</a:t>
            </a:r>
            <a:r>
              <a:rPr lang="en-US" altLang="en-US" smtClean="0"/>
              <a:t>,</a:t>
            </a:r>
            <a:r>
              <a:rPr lang="en-US" altLang="en-US" i="1" smtClean="0"/>
              <a:t>t</a:t>
            </a:r>
            <a:r>
              <a:rPr lang="en-US" altLang="en-US" baseline="-25000" smtClean="0"/>
              <a:t>1</a:t>
            </a:r>
            <a:r>
              <a:rPr lang="en-US" altLang="en-US" smtClean="0"/>
              <a:t>]</a:t>
            </a:r>
          </a:p>
          <a:p>
            <a:pPr lvl="1"/>
            <a:r>
              <a:rPr lang="en-US" altLang="en-US" smtClean="0"/>
              <a:t>Changes in </a:t>
            </a:r>
            <a:r>
              <a:rPr lang="en-US" altLang="en-US" i="1" smtClean="0"/>
              <a:t>x</a:t>
            </a:r>
            <a:r>
              <a:rPr lang="en-US" altLang="en-US" smtClean="0"/>
              <a:t> are governed by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0E8800-A4A9-4BA5-8672-8A943674279F}" type="slidenum">
              <a:rPr lang="en-US" smtClean="0"/>
              <a:pPr>
                <a:defRPr/>
              </a:pPr>
              <a:t>103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4267200"/>
            <a:ext cx="8305800" cy="1981200"/>
          </a:xfrm>
        </p:spPr>
        <p:txBody>
          <a:bodyPr/>
          <a:lstStyle/>
          <a:p>
            <a:pPr lvl="2" eaLnBrk="0" hangingPunct="0">
              <a:buSzPct val="90000"/>
              <a:buFontTx/>
              <a:buChar char="•"/>
              <a:defRPr/>
            </a:pPr>
            <a:r>
              <a:rPr lang="en-US" kern="0" dirty="0"/>
              <a:t>c(t) is used to ‘‘control’’ the change in x(t</a:t>
            </a:r>
            <a:r>
              <a:rPr lang="en-US" kern="0" dirty="0" smtClean="0"/>
              <a:t>)</a:t>
            </a:r>
            <a:endParaRPr lang="en-US" kern="0" dirty="0"/>
          </a:p>
        </p:txBody>
      </p:sp>
      <p:graphicFrame>
        <p:nvGraphicFramePr>
          <p:cNvPr id="1925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474768"/>
              </p:ext>
            </p:extLst>
          </p:nvPr>
        </p:nvGraphicFramePr>
        <p:xfrm>
          <a:off x="1593850" y="2968625"/>
          <a:ext cx="4405313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7" name="Equation" r:id="rId3" imgW="1511280" imgH="419040" progId="Equation.DSMT4">
                  <p:embed/>
                </p:oleObj>
              </mc:Choice>
              <mc:Fallback>
                <p:oleObj name="Equation" r:id="rId3" imgW="1511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2968625"/>
                        <a:ext cx="4405313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2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5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92516" grpId="0" build="p" bldLvl="5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Dynamic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8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Find the optimal path for </a:t>
                </a:r>
                <a:r>
                  <a:rPr lang="en-US" altLang="en-US" i="1" dirty="0" smtClean="0"/>
                  <a:t>x</a:t>
                </a:r>
                <a:r>
                  <a:rPr lang="en-US" altLang="en-US" dirty="0" smtClean="0"/>
                  <a:t>(</a:t>
                </a:r>
                <a:r>
                  <a:rPr lang="en-US" altLang="en-US" i="1" dirty="0" smtClean="0"/>
                  <a:t>t</a:t>
                </a:r>
                <a:r>
                  <a:rPr lang="en-US" altLang="en-US" dirty="0" smtClean="0"/>
                  <a:t>) </a:t>
                </a:r>
              </a:p>
              <a:p>
                <a:pPr lvl="1"/>
                <a:r>
                  <a:rPr lang="en-US" altLang="en-US" dirty="0" smtClean="0"/>
                  <a:t>Each period: derive value from x and c from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 [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𝑡</m:t>
                    </m:r>
                    <m:r>
                      <a:rPr lang="en-US" altLang="en-US" i="1" dirty="0" smtClean="0">
                        <a:latin typeface="Cambria Math"/>
                      </a:rPr>
                      <m:t>),</m:t>
                    </m:r>
                    <m:r>
                      <a:rPr lang="en-US" altLang="en-US" i="1" dirty="0" smtClean="0">
                        <a:latin typeface="Cambria Math"/>
                      </a:rPr>
                      <m:t>𝑐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𝑡</m:t>
                    </m:r>
                    <m:r>
                      <a:rPr lang="en-US" altLang="en-US" i="1" dirty="0" smtClean="0">
                        <a:latin typeface="Cambria Math"/>
                      </a:rPr>
                      <m:t>),</m:t>
                    </m:r>
                    <m:r>
                      <a:rPr lang="en-US" altLang="en-US" i="1" dirty="0" smtClean="0">
                        <a:latin typeface="Cambria Math"/>
                      </a:rPr>
                      <m:t>𝑡</m:t>
                    </m:r>
                    <m:r>
                      <a:rPr lang="en-US" altLang="en-US" i="1" dirty="0" smtClean="0">
                        <a:latin typeface="Cambria Math"/>
                      </a:rPr>
                      <m:t>] </m:t>
                    </m:r>
                  </m:oMath>
                </a14:m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Optimize</a:t>
                </a:r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4710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786" t="-3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0C1F07C-9E7B-446F-816C-432C0ED32AEA}" type="slidenum">
              <a:rPr lang="en-US" smtClean="0"/>
              <a:pPr>
                <a:defRPr/>
              </a:pPr>
              <a:t>104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4572000"/>
                <a:ext cx="8534400" cy="1676400"/>
              </a:xfrm>
            </p:spPr>
            <p:txBody>
              <a:bodyPr/>
              <a:lstStyle/>
              <a:p>
                <a:pPr lvl="1"/>
                <a:r>
                  <a:rPr lang="en-US" altLang="en-US" dirty="0"/>
                  <a:t>There may also be endpoint constraints: </a:t>
                </a:r>
                <a:endParaRPr lang="en-US" altLang="en-US" dirty="0" smtClean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𝑡</m:t>
                    </m:r>
                    <m:r>
                      <a:rPr lang="en-US" altLang="en-US" i="1" baseline="-25000" dirty="0" smtClean="0">
                        <a:solidFill>
                          <a:srgbClr val="000099"/>
                        </a:solidFill>
                        <a:latin typeface="Cambria Math"/>
                      </a:rPr>
                      <m:t>0</m:t>
                    </m:r>
                    <m:r>
                      <a:rPr lang="en-US" altLang="en-US" i="1" dirty="0">
                        <a:solidFill>
                          <a:srgbClr val="000099"/>
                        </a:solidFill>
                        <a:latin typeface="Cambria Math"/>
                      </a:rPr>
                      <m:t>) = </m:t>
                    </m:r>
                    <m:r>
                      <a:rPr lang="en-US" altLang="en-US" i="1" dirty="0">
                        <a:solidFill>
                          <a:srgbClr val="000099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baseline="-25000" dirty="0">
                        <a:solidFill>
                          <a:srgbClr val="000099"/>
                        </a:solidFill>
                        <a:latin typeface="Cambria Math"/>
                      </a:rPr>
                      <m:t>0</m:t>
                    </m:r>
                    <m:r>
                      <a:rPr lang="en-US" altLang="en-US" i="1" dirty="0">
                        <a:solidFill>
                          <a:srgbClr val="000099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altLang="en-US" dirty="0"/>
                  <a:t>and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𝑡</m:t>
                    </m:r>
                    <m:r>
                      <a:rPr lang="en-US" altLang="en-US" i="1" baseline="-25000" dirty="0">
                        <a:solidFill>
                          <a:srgbClr val="000099"/>
                        </a:solidFill>
                        <a:latin typeface="Cambria Math"/>
                      </a:rPr>
                      <m:t>1</m:t>
                    </m:r>
                    <m:r>
                      <a:rPr lang="en-US" altLang="en-US" i="1" dirty="0">
                        <a:solidFill>
                          <a:srgbClr val="000099"/>
                        </a:solidFill>
                        <a:latin typeface="Cambria Math"/>
                      </a:rPr>
                      <m:t>) = </m:t>
                    </m:r>
                    <m:r>
                      <a:rPr lang="en-US" altLang="en-US" i="1" dirty="0">
                        <a:solidFill>
                          <a:srgbClr val="000099"/>
                        </a:solidFill>
                        <a:latin typeface="Cambria Math"/>
                      </a:rPr>
                      <m:t>𝑥</m:t>
                    </m:r>
                    <m:r>
                      <a:rPr lang="en-US" altLang="en-US" i="1" baseline="-25000" dirty="0">
                        <a:solidFill>
                          <a:srgbClr val="000099"/>
                        </a:solidFill>
                        <a:latin typeface="Cambria Math"/>
                      </a:rPr>
                      <m:t>1</m:t>
                    </m:r>
                    <m:r>
                      <a:rPr lang="en-US" altLang="en-US" i="1" dirty="0">
                        <a:solidFill>
                          <a:srgbClr val="000099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altLang="en-US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4572000"/>
                <a:ext cx="8534400" cy="1676400"/>
              </a:xfrm>
              <a:blipFill rotWithShape="1">
                <a:blip r:embed="rId4"/>
                <a:stretch>
                  <a:fillRect t="-4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2674938" y="3295650"/>
          <a:ext cx="3278187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1" name="Equation" r:id="rId5" imgW="1257120" imgH="495000" progId="Equation.DSMT4">
                  <p:embed/>
                </p:oleObj>
              </mc:Choice>
              <mc:Fallback>
                <p:oleObj name="Equation" r:id="rId5" imgW="125712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938" y="3295650"/>
                        <a:ext cx="3278187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815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 build="p" bldLvl="5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Dynamic Optimization</a:t>
            </a:r>
          </a:p>
        </p:txBody>
      </p:sp>
      <p:sp>
        <p:nvSpPr>
          <p:cNvPr id="4813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maximum principle</a:t>
            </a:r>
          </a:p>
          <a:p>
            <a:pPr lvl="1"/>
            <a:r>
              <a:rPr lang="en-US" altLang="en-US" dirty="0" smtClean="0"/>
              <a:t>At a single point in time, the decision maker must be concerned with</a:t>
            </a:r>
          </a:p>
          <a:p>
            <a:pPr lvl="2"/>
            <a:r>
              <a:rPr lang="en-US" altLang="en-US" dirty="0" smtClean="0"/>
              <a:t>The current value of the objective function</a:t>
            </a:r>
          </a:p>
          <a:p>
            <a:pPr lvl="2"/>
            <a:r>
              <a:rPr lang="en-US" altLang="en-US" dirty="0" smtClean="0"/>
              <a:t>The implied change in the value of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t</a:t>
            </a:r>
            <a:r>
              <a:rPr lang="en-US" altLang="en-US" dirty="0" smtClean="0"/>
              <a:t>) from its current value of </a:t>
            </a:r>
            <a:r>
              <a:rPr lang="en-US" altLang="en-US" dirty="0" smtClean="0">
                <a:sym typeface="Symbol" pitchFamily="18" charset="2"/>
              </a:rPr>
              <a:t>(</a:t>
            </a:r>
            <a:r>
              <a:rPr lang="en-US" altLang="en-US" i="1" dirty="0" smtClean="0">
                <a:sym typeface="Symbol" pitchFamily="18" charset="2"/>
              </a:rPr>
              <a:t>t</a:t>
            </a:r>
            <a:r>
              <a:rPr lang="en-US" altLang="en-US" dirty="0" smtClean="0">
                <a:sym typeface="Symbol" pitchFamily="18" charset="2"/>
              </a:rPr>
              <a:t>)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(</a:t>
            </a:r>
            <a:r>
              <a:rPr lang="en-US" altLang="en-US" i="1" dirty="0" smtClean="0">
                <a:sym typeface="Symbol" pitchFamily="18" charset="2"/>
              </a:rPr>
              <a:t>t</a:t>
            </a:r>
            <a:r>
              <a:rPr lang="en-US" altLang="en-US" dirty="0" smtClean="0">
                <a:sym typeface="Symbol" pitchFamily="18" charset="2"/>
              </a:rPr>
              <a:t>) given by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3DC9D3F-C3D6-4387-AB84-AE8C3CB85559}" type="slidenum">
              <a:rPr lang="en-US" smtClean="0"/>
              <a:pPr>
                <a:defRPr/>
              </a:pPr>
              <a:t>105</a:t>
            </a:fld>
            <a:endParaRPr lang="en-US"/>
          </a:p>
        </p:txBody>
      </p:sp>
      <p:graphicFrame>
        <p:nvGraphicFramePr>
          <p:cNvPr id="19456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914200"/>
              </p:ext>
            </p:extLst>
          </p:nvPr>
        </p:nvGraphicFramePr>
        <p:xfrm>
          <a:off x="941388" y="4471987"/>
          <a:ext cx="6953250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5" name="Equation" r:id="rId3" imgW="2489040" imgH="444240" progId="Equation.DSMT4">
                  <p:embed/>
                </p:oleObj>
              </mc:Choice>
              <mc:Fallback>
                <p:oleObj name="Equation" r:id="rId3" imgW="2489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388" y="4471987"/>
                        <a:ext cx="6953250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625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5" grpId="0" build="p" bldLvl="5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Dynamic Optimization</a:t>
            </a:r>
          </a:p>
        </p:txBody>
      </p:sp>
      <p:sp>
        <p:nvSpPr>
          <p:cNvPr id="4915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maximum principle</a:t>
            </a:r>
          </a:p>
          <a:p>
            <a:pPr lvl="1"/>
            <a:r>
              <a:rPr lang="en-US" altLang="en-US" smtClean="0"/>
              <a:t>At any time </a:t>
            </a:r>
            <a:r>
              <a:rPr lang="en-US" altLang="en-US" i="1" smtClean="0"/>
              <a:t>t</a:t>
            </a:r>
            <a:r>
              <a:rPr lang="en-US" altLang="en-US" smtClean="0"/>
              <a:t>, a comprehensive measure of the value of concern to the decision maker is: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2316EF-924C-4912-88FA-EFA86B6758CF}" type="slidenum">
              <a:rPr lang="en-US" smtClean="0"/>
              <a:pPr>
                <a:defRPr/>
              </a:pPr>
              <a:t>106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4343400"/>
            <a:ext cx="8534400" cy="1905000"/>
          </a:xfrm>
        </p:spPr>
        <p:txBody>
          <a:bodyPr/>
          <a:lstStyle/>
          <a:p>
            <a:pPr lvl="1"/>
            <a:r>
              <a:rPr lang="en-US" kern="0" dirty="0"/>
              <a:t>Represents both the current benefits being received and the instantaneous change in the value of </a:t>
            </a:r>
            <a:r>
              <a:rPr lang="en-US" kern="0" dirty="0" smtClean="0"/>
              <a:t>x</a:t>
            </a:r>
            <a:endParaRPr lang="en-US" kern="0" dirty="0"/>
          </a:p>
        </p:txBody>
      </p:sp>
      <p:graphicFrame>
        <p:nvGraphicFramePr>
          <p:cNvPr id="19558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57860"/>
              </p:ext>
            </p:extLst>
          </p:nvPr>
        </p:nvGraphicFramePr>
        <p:xfrm>
          <a:off x="450850" y="3198814"/>
          <a:ext cx="8464550" cy="1017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9" name="Equation" r:id="rId3" imgW="3492360" imgH="419040" progId="Equation.DSMT4">
                  <p:embed/>
                </p:oleObj>
              </mc:Choice>
              <mc:Fallback>
                <p:oleObj name="Equation" r:id="rId3" imgW="34923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3198814"/>
                        <a:ext cx="8464550" cy="1017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698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58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95588" grpId="0" build="p" bldLvl="5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Dynamic Optimization</a:t>
            </a:r>
          </a:p>
        </p:txBody>
      </p:sp>
      <p:sp>
        <p:nvSpPr>
          <p:cNvPr id="5018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maximum principle</a:t>
            </a:r>
          </a:p>
          <a:p>
            <a:pPr lvl="1"/>
            <a:r>
              <a:rPr lang="en-US" altLang="en-US" smtClean="0"/>
              <a:t>The two optimality conditions</a:t>
            </a:r>
            <a:endParaRPr lang="en-US" altLang="en-US" smtClean="0">
              <a:sym typeface="Symbol" pitchFamily="18" charset="2"/>
            </a:endParaRP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61C8BA-398B-4FAE-B5A6-9CC669899192}" type="slidenum">
              <a:rPr lang="en-US" smtClean="0"/>
              <a:pPr>
                <a:defRPr/>
              </a:pPr>
              <a:t>107</a:t>
            </a:fld>
            <a:endParaRPr lang="en-US"/>
          </a:p>
        </p:txBody>
      </p:sp>
      <p:graphicFrame>
        <p:nvGraphicFramePr>
          <p:cNvPr id="1966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887122"/>
              </p:ext>
            </p:extLst>
          </p:nvPr>
        </p:nvGraphicFramePr>
        <p:xfrm>
          <a:off x="725488" y="2314575"/>
          <a:ext cx="6910387" cy="383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88" name="Equation" r:id="rId3" imgW="2311200" imgH="1282680" progId="Equation.DSMT4">
                  <p:embed/>
                </p:oleObj>
              </mc:Choice>
              <mc:Fallback>
                <p:oleObj name="Equation" r:id="rId3" imgW="2311200" imgH="1282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2314575"/>
                        <a:ext cx="6910387" cy="383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4"/>
          <p:cNvGraphicFramePr>
            <a:graphicFrameLocks noChangeAspect="1"/>
          </p:cNvGraphicFramePr>
          <p:nvPr/>
        </p:nvGraphicFramePr>
        <p:xfrm>
          <a:off x="3390900" y="1955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89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19558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89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 build="p" bldLvl="5" autoUpdateAnimBg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Dynamic Optimization</a:t>
            </a:r>
          </a:p>
        </p:txBody>
      </p:sp>
      <p:sp>
        <p:nvSpPr>
          <p:cNvPr id="143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maximum principle</a:t>
            </a:r>
          </a:p>
          <a:p>
            <a:pPr lvl="1"/>
            <a:r>
              <a:rPr lang="en-US" altLang="en-US" smtClean="0"/>
              <a:t>The 1</a:t>
            </a:r>
            <a:r>
              <a:rPr lang="en-US" altLang="en-US" baseline="30000" smtClean="0"/>
              <a:t>st</a:t>
            </a:r>
            <a:r>
              <a:rPr lang="en-US" altLang="en-US" smtClean="0"/>
              <a:t> condition: </a:t>
            </a:r>
          </a:p>
          <a:p>
            <a:pPr lvl="2"/>
            <a:r>
              <a:rPr lang="en-US" altLang="en-US" smtClean="0">
                <a:sym typeface="Symbol" pitchFamily="18" charset="2"/>
              </a:rPr>
              <a:t>Present gains from </a:t>
            </a:r>
            <a:r>
              <a:rPr lang="en-US" altLang="en-US" i="1" smtClean="0">
                <a:sym typeface="Symbol" pitchFamily="18" charset="2"/>
              </a:rPr>
              <a:t>c</a:t>
            </a:r>
            <a:r>
              <a:rPr lang="en-US" altLang="en-US" smtClean="0">
                <a:sym typeface="Symbol" pitchFamily="18" charset="2"/>
              </a:rPr>
              <a:t> must be balanced against future costs</a:t>
            </a:r>
          </a:p>
          <a:p>
            <a:pPr lvl="1"/>
            <a:r>
              <a:rPr lang="en-US" altLang="en-US" smtClean="0">
                <a:sym typeface="Symbol" pitchFamily="18" charset="2"/>
              </a:rPr>
              <a:t>The 2</a:t>
            </a:r>
            <a:r>
              <a:rPr lang="en-US" altLang="en-US" baseline="30000" smtClean="0">
                <a:sym typeface="Symbol" pitchFamily="18" charset="2"/>
              </a:rPr>
              <a:t>nd</a:t>
            </a:r>
            <a:r>
              <a:rPr lang="en-US" altLang="en-US" smtClean="0">
                <a:sym typeface="Symbol" pitchFamily="18" charset="2"/>
              </a:rPr>
              <a:t> condition: </a:t>
            </a:r>
          </a:p>
          <a:p>
            <a:pPr lvl="2"/>
            <a:r>
              <a:rPr lang="en-US" altLang="en-US" smtClean="0">
                <a:sym typeface="Symbol" pitchFamily="18" charset="2"/>
              </a:rPr>
              <a:t>The current gain from more </a:t>
            </a:r>
            <a:r>
              <a:rPr lang="en-US" altLang="en-US" i="1" smtClean="0">
                <a:sym typeface="Symbol" pitchFamily="18" charset="2"/>
              </a:rPr>
              <a:t>x</a:t>
            </a:r>
            <a:r>
              <a:rPr lang="en-US" altLang="en-US" smtClean="0">
                <a:sym typeface="Symbol" pitchFamily="18" charset="2"/>
              </a:rPr>
              <a:t> must be weighed against the declining future value of </a:t>
            </a:r>
            <a:r>
              <a:rPr lang="en-US" altLang="en-US" i="1" smtClean="0">
                <a:sym typeface="Symbol" pitchFamily="18" charset="2"/>
              </a:rPr>
              <a:t>x</a:t>
            </a:r>
            <a:endParaRPr lang="en-US" altLang="en-US" smtClean="0">
              <a:sym typeface="Symbol" pitchFamily="18" charset="2"/>
            </a:endParaRPr>
          </a:p>
          <a:p>
            <a:pPr lvl="1"/>
            <a:endParaRPr lang="en-US" altLang="en-US" smtClean="0">
              <a:sym typeface="Symbol" pitchFamily="18" charset="2"/>
            </a:endParaRPr>
          </a:p>
          <a:p>
            <a:pPr lvl="1"/>
            <a:endParaRPr lang="en-US" altLang="en-US" smtClean="0">
              <a:sym typeface="Symbol" pitchFamily="18" charset="2"/>
            </a:endParaRP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2D467-7C09-4077-8F1E-1D3E9F1E0677}" type="slidenum">
              <a:rPr lang="en-US" smtClean="0"/>
              <a:pPr>
                <a:defRPr/>
              </a:pPr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69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2.14 	Allocating a Fixed Supply</a:t>
            </a:r>
          </a:p>
        </p:txBody>
      </p:sp>
      <p:sp>
        <p:nvSpPr>
          <p:cNvPr id="51206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BE57DCAC-99A6-4B19-90F0-5E721AB46E31}" type="slidenum">
              <a:rPr lang="en-US" smtClean="0"/>
              <a:pPr>
                <a:defRPr/>
              </a:pPr>
              <a:t>109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04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/>
                  <a:t>Inherited 1,000 bottles of wine</a:t>
                </a:r>
              </a:p>
              <a:p>
                <a:pPr lvl="1"/>
                <a:r>
                  <a:rPr lang="en-US" altLang="en-US" dirty="0" smtClean="0"/>
                  <a:t>Drink them bottles over the next 20 years</a:t>
                </a:r>
              </a:p>
              <a:p>
                <a:pPr lvl="1"/>
                <a:r>
                  <a:rPr lang="en-US" altLang="en-US" dirty="0" smtClean="0"/>
                  <a:t>Maximize the utility </a:t>
                </a:r>
              </a:p>
              <a:p>
                <a:pPr lvl="1"/>
                <a:r>
                  <a:rPr lang="en-US" altLang="en-US" dirty="0" smtClean="0"/>
                  <a:t>Utility function for wine is given by </a:t>
                </a:r>
                <a:endParaRPr lang="en-US" altLang="en-US" i="1" dirty="0" smtClean="0">
                  <a:solidFill>
                    <a:srgbClr val="000099"/>
                  </a:solidFill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𝑢</m:t>
                      </m:r>
                      <m: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)] = </m:t>
                      </m:r>
                      <m:r>
                        <m:rPr>
                          <m:sty m:val="p"/>
                        </m:rP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ln</m:t>
                      </m:r>
                      <m: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⁡</m:t>
                      </m:r>
                      <m: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en-US" dirty="0" smtClean="0">
                  <a:solidFill>
                    <a:srgbClr val="000099"/>
                  </a:solidFill>
                </a:endParaRPr>
              </a:p>
              <a:p>
                <a:pPr lvl="1"/>
                <a:r>
                  <a:rPr lang="en-US" altLang="en-US" dirty="0" smtClean="0"/>
                  <a:t>Diminishing marginal utility: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𝑢</m:t>
                    </m:r>
                    <m:r>
                      <a:rPr lang="en-US" altLang="en-US" i="1" dirty="0" smtClean="0">
                        <a:latin typeface="Cambria Math"/>
                      </a:rPr>
                      <m:t>’ &gt; 0, </m:t>
                    </m:r>
                    <m:r>
                      <a:rPr lang="en-US" altLang="en-US" i="1" dirty="0" smtClean="0">
                        <a:latin typeface="Cambria Math"/>
                      </a:rPr>
                      <m:t>𝑢</m:t>
                    </m:r>
                    <m:r>
                      <a:rPr lang="en-US" altLang="en-US" i="1" dirty="0" smtClean="0">
                        <a:latin typeface="Cambria Math"/>
                      </a:rPr>
                      <m:t>” &lt; 0</m:t>
                    </m:r>
                  </m:oMath>
                </a14:m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Maximize </a:t>
                </a:r>
              </a:p>
            </p:txBody>
          </p:sp>
        </mc:Choice>
        <mc:Fallback xmlns="">
          <p:sp>
            <p:nvSpPr>
              <p:cNvPr id="5120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  <a:blipFill rotWithShape="1">
                <a:blip r:embed="rId3"/>
                <a:stretch>
                  <a:fillRect l="-1673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485913"/>
              </p:ext>
            </p:extLst>
          </p:nvPr>
        </p:nvGraphicFramePr>
        <p:xfrm>
          <a:off x="1905000" y="4648200"/>
          <a:ext cx="4192588" cy="137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8" name="Equation" r:id="rId4" imgW="1434960" imgH="469800" progId="Equation.DSMT4">
                  <p:embed/>
                </p:oleObj>
              </mc:Choice>
              <mc:Fallback>
                <p:oleObj name="Equation" r:id="rId4" imgW="14349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648200"/>
                        <a:ext cx="4192588" cy="137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191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2.14 	Allocating a Fixed Supply</a:t>
            </a:r>
          </a:p>
        </p:txBody>
      </p:sp>
      <p:sp>
        <p:nvSpPr>
          <p:cNvPr id="52230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B43B15E-7CD9-4B4F-A4F4-9E4A1D01D5C9}" type="slidenum">
              <a:rPr lang="en-US" smtClean="0"/>
              <a:pPr>
                <a:defRPr/>
              </a:pPr>
              <a:t>110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228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/>
                  <a:t>Let x(t) = the number of bottles of wine remaining at time t</a:t>
                </a:r>
              </a:p>
              <a:p>
                <a:pPr lvl="1"/>
                <a:r>
                  <a:rPr lang="en-US" altLang="en-US" dirty="0" smtClean="0"/>
                  <a:t>Constrained by x(0) = 1,000 and x(20) = 0</a:t>
                </a:r>
              </a:p>
              <a:p>
                <a:pPr lvl="1"/>
                <a:r>
                  <a:rPr lang="en-US" altLang="en-US" dirty="0" smtClean="0"/>
                  <a:t>The differential equation determining the evolution of x(t):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𝑑𝑥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𝑡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)/</m:t>
                    </m:r>
                    <m:r>
                      <a:rPr lang="en-US" altLang="en-US" i="1" dirty="0" err="1" smtClean="0">
                        <a:solidFill>
                          <a:srgbClr val="000099"/>
                        </a:solidFill>
                        <a:latin typeface="Cambria Math"/>
                      </a:rPr>
                      <m:t>𝑑𝑡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=−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𝑐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𝑡</m:t>
                    </m:r>
                    <m:r>
                      <a:rPr lang="en-US" altLang="en-US" i="1" dirty="0" smtClean="0">
                        <a:solidFill>
                          <a:srgbClr val="000099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altLang="en-US" dirty="0" smtClean="0">
                  <a:solidFill>
                    <a:srgbClr val="000099"/>
                  </a:solidFill>
                </a:endParaRPr>
              </a:p>
              <a:p>
                <a:pPr lvl="1"/>
                <a:r>
                  <a:rPr lang="en-US" altLang="en-US" dirty="0" smtClean="0"/>
                  <a:t>The current value Hamiltonian expression </a:t>
                </a:r>
                <a:endParaRPr lang="en-US" altLang="en-US" dirty="0" smtClean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5222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  <a:blipFill rotWithShape="1">
                <a:blip r:embed="rId3"/>
                <a:stretch>
                  <a:fillRect l="-1673" t="-1351" r="-2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054100" y="3505200"/>
          <a:ext cx="6124575" cy="287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2" name="Equation" r:id="rId4" imgW="2222280" imgH="1041120" progId="Equation.DSMT4">
                  <p:embed/>
                </p:oleObj>
              </mc:Choice>
              <mc:Fallback>
                <p:oleObj name="Equation" r:id="rId4" imgW="2222280" imgH="1041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3505200"/>
                        <a:ext cx="6124575" cy="287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136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2.14 	Allocating a Fixed Supply</a:t>
            </a:r>
          </a:p>
        </p:txBody>
      </p:sp>
      <p:sp>
        <p:nvSpPr>
          <p:cNvPr id="53254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02CCB39F-ED02-4D7E-BA6D-C253D1597C9A}" type="slidenum">
              <a:rPr lang="en-US" smtClean="0"/>
              <a:pPr>
                <a:defRPr/>
              </a:pPr>
              <a:t>111</a:t>
            </a:fld>
            <a:endParaRPr lang="en-US" dirty="0"/>
          </a:p>
        </p:txBody>
      </p:sp>
      <p:sp>
        <p:nvSpPr>
          <p:cNvPr id="53252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A more complicated utility function: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711200" y="1260475"/>
          <a:ext cx="7489825" cy="440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6" name="Equation" r:id="rId3" imgW="2717640" imgH="1600200" progId="Equation.DSMT4">
                  <p:embed/>
                </p:oleObj>
              </mc:Choice>
              <mc:Fallback>
                <p:oleObj name="Equation" r:id="rId3" imgW="2717640" imgH="160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1260475"/>
                        <a:ext cx="7489825" cy="440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608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2.14 	Allocating a Fixed Supply</a:t>
            </a:r>
          </a:p>
        </p:txBody>
      </p:sp>
      <p:sp>
        <p:nvSpPr>
          <p:cNvPr id="54277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CC377527-55C7-46CB-AD80-6FD609A527BA}" type="slidenum">
              <a:rPr lang="en-US" smtClean="0"/>
              <a:pPr>
                <a:defRPr/>
              </a:pPr>
              <a:t>112</a:t>
            </a:fld>
            <a:endParaRPr lang="en-US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371475" y="758825"/>
          <a:ext cx="8189913" cy="538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0" name="Equation" r:id="rId3" imgW="2971800" imgH="1955520" progId="Equation.DSMT4">
                  <p:embed/>
                </p:oleObj>
              </mc:Choice>
              <mc:Fallback>
                <p:oleObj name="Equation" r:id="rId3" imgW="2971800" imgH="1955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" y="758825"/>
                        <a:ext cx="8189913" cy="538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93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Mathematical Statistics</a:t>
            </a:r>
          </a:p>
        </p:txBody>
      </p:sp>
      <p:sp>
        <p:nvSpPr>
          <p:cNvPr id="5530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 </a:t>
            </a:r>
            <a:r>
              <a:rPr lang="en-US" altLang="en-US" u="sng" smtClean="0"/>
              <a:t>random variable</a:t>
            </a:r>
            <a:r>
              <a:rPr lang="en-US" altLang="en-US" smtClean="0"/>
              <a:t> </a:t>
            </a:r>
          </a:p>
          <a:p>
            <a:pPr lvl="1"/>
            <a:r>
              <a:rPr lang="en-US" altLang="en-US" smtClean="0"/>
              <a:t>Describes the outcomes from an experiment subject to chance</a:t>
            </a:r>
          </a:p>
          <a:p>
            <a:pPr lvl="1"/>
            <a:r>
              <a:rPr lang="en-US" altLang="en-US" smtClean="0"/>
              <a:t>Discrete (roll of a die)</a:t>
            </a:r>
          </a:p>
          <a:p>
            <a:pPr lvl="1"/>
            <a:r>
              <a:rPr lang="en-US" altLang="en-US" smtClean="0"/>
              <a:t>Continuous (outside temperature)</a:t>
            </a:r>
          </a:p>
          <a:p>
            <a:r>
              <a:rPr lang="en-US" altLang="en-US" smtClean="0"/>
              <a:t>e.g., flipping a coin</a:t>
            </a: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34A3369-B82B-41A1-8F21-5EBC3133E65B}" type="slidenum">
              <a:rPr lang="en-US" smtClean="0"/>
              <a:pPr>
                <a:defRPr/>
              </a:pPr>
              <a:t>113</a:t>
            </a:fld>
            <a:endParaRPr lang="en-US"/>
          </a:p>
        </p:txBody>
      </p:sp>
      <p:graphicFrame>
        <p:nvGraphicFramePr>
          <p:cNvPr id="19866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23831"/>
              </p:ext>
            </p:extLst>
          </p:nvPr>
        </p:nvGraphicFramePr>
        <p:xfrm>
          <a:off x="1546225" y="4729163"/>
          <a:ext cx="3844925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6" name="Equation" r:id="rId3" imgW="1409400" imgH="457200" progId="Equation.DSMT4">
                  <p:embed/>
                </p:oleObj>
              </mc:Choice>
              <mc:Fallback>
                <p:oleObj name="Equation" r:id="rId3" imgW="1409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4729163"/>
                        <a:ext cx="3844925" cy="124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681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Mathematical Statistics</a:t>
            </a:r>
          </a:p>
        </p:txBody>
      </p:sp>
      <p:sp>
        <p:nvSpPr>
          <p:cNvPr id="5530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Discrete random variables</a:t>
            </a:r>
          </a:p>
          <a:p>
            <a:pPr lvl="1"/>
            <a:r>
              <a:rPr lang="en-US" altLang="en-US" dirty="0"/>
              <a:t>The outcomes from a random experiment </a:t>
            </a:r>
            <a:r>
              <a:rPr lang="en-US" altLang="en-US" dirty="0" smtClean="0"/>
              <a:t>are a </a:t>
            </a:r>
            <a:r>
              <a:rPr lang="en-US" altLang="en-US" dirty="0"/>
              <a:t>finite number of </a:t>
            </a:r>
            <a:r>
              <a:rPr lang="en-US" altLang="en-US" dirty="0" smtClean="0"/>
              <a:t>possibilities</a:t>
            </a:r>
          </a:p>
          <a:p>
            <a:pPr lvl="2"/>
            <a:r>
              <a:rPr lang="en-US" altLang="en-US" dirty="0" smtClean="0"/>
              <a:t>E.g.: recording </a:t>
            </a:r>
            <a:r>
              <a:rPr lang="en-US" altLang="en-US" dirty="0"/>
              <a:t>the number that comes up on </a:t>
            </a:r>
            <a:r>
              <a:rPr lang="en-US" altLang="en-US" dirty="0" smtClean="0"/>
              <a:t>a single </a:t>
            </a:r>
            <a:r>
              <a:rPr lang="en-US" altLang="en-US" dirty="0"/>
              <a:t>die </a:t>
            </a:r>
            <a:r>
              <a:rPr lang="en-US" altLang="en-US" dirty="0" smtClean="0"/>
              <a:t>(random </a:t>
            </a:r>
            <a:r>
              <a:rPr lang="en-US" altLang="en-US" dirty="0"/>
              <a:t>variable with six </a:t>
            </a:r>
            <a:r>
              <a:rPr lang="en-US" altLang="en-US" dirty="0" smtClean="0"/>
              <a:t>outcomes)</a:t>
            </a:r>
          </a:p>
          <a:p>
            <a:r>
              <a:rPr lang="en-US" altLang="en-US" dirty="0" smtClean="0"/>
              <a:t>Continuous random variable</a:t>
            </a:r>
          </a:p>
          <a:p>
            <a:pPr lvl="1"/>
            <a:r>
              <a:rPr lang="en-US" altLang="en-US" dirty="0"/>
              <a:t>The outcomes from a random experiment </a:t>
            </a:r>
            <a:r>
              <a:rPr lang="en-US" altLang="en-US" dirty="0" smtClean="0"/>
              <a:t>are a </a:t>
            </a:r>
            <a:r>
              <a:rPr lang="en-US" altLang="en-US" dirty="0"/>
              <a:t>continuum of </a:t>
            </a:r>
            <a:r>
              <a:rPr lang="en-US" altLang="en-US" dirty="0" smtClean="0"/>
              <a:t>possibilities</a:t>
            </a:r>
          </a:p>
          <a:p>
            <a:pPr lvl="2"/>
            <a:r>
              <a:rPr lang="en-US" altLang="en-US" dirty="0" smtClean="0"/>
              <a:t>E.g.: outdoors temperature tomorrow</a:t>
            </a:r>
          </a:p>
          <a:p>
            <a:pPr lvl="1"/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34A3369-B82B-41A1-8F21-5EBC3133E65B}" type="slidenum">
              <a:rPr lang="en-US" smtClean="0"/>
              <a:pPr>
                <a:defRPr/>
              </a:pPr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4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Mathematical Statistics</a:t>
            </a:r>
          </a:p>
        </p:txBody>
      </p:sp>
      <p:sp>
        <p:nvSpPr>
          <p:cNvPr id="56325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5334000"/>
          </a:xfrm>
        </p:spPr>
        <p:txBody>
          <a:bodyPr/>
          <a:lstStyle/>
          <a:p>
            <a:r>
              <a:rPr lang="en-US" altLang="en-US" u="sng" dirty="0" smtClean="0"/>
              <a:t>Probability density function</a:t>
            </a:r>
            <a:r>
              <a:rPr lang="en-US" altLang="en-US" dirty="0" smtClean="0"/>
              <a:t> (PDF) </a:t>
            </a:r>
          </a:p>
          <a:p>
            <a:pPr lvl="1"/>
            <a:r>
              <a:rPr lang="en-US" altLang="en-US" dirty="0" smtClean="0"/>
              <a:t>For any random variable </a:t>
            </a:r>
          </a:p>
          <a:p>
            <a:pPr lvl="1"/>
            <a:r>
              <a:rPr lang="en-US" altLang="en-US" dirty="0" smtClean="0"/>
              <a:t>Shows the probability that each outcome will occur</a:t>
            </a:r>
          </a:p>
          <a:p>
            <a:pPr lvl="1"/>
            <a:r>
              <a:rPr lang="en-US" altLang="en-US" dirty="0" smtClean="0"/>
              <a:t>The probabilities specified by the PDF must sum to 1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667C4F-92F8-42D6-84DB-F4E465AE7B57}" type="slidenum">
              <a:rPr lang="en-US" smtClean="0"/>
              <a:pPr>
                <a:defRPr/>
              </a:pPr>
              <a:t>115</a:t>
            </a:fld>
            <a:endParaRPr lang="en-US"/>
          </a:p>
        </p:txBody>
      </p:sp>
      <p:graphicFrame>
        <p:nvGraphicFramePr>
          <p:cNvPr id="20070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668570"/>
              </p:ext>
            </p:extLst>
          </p:nvPr>
        </p:nvGraphicFramePr>
        <p:xfrm>
          <a:off x="1050925" y="4311650"/>
          <a:ext cx="2697163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36" name="Equation" r:id="rId3" imgW="888840" imgH="660240" progId="Equation.DSMT4">
                  <p:embed/>
                </p:oleObj>
              </mc:Choice>
              <mc:Fallback>
                <p:oleObj name="Equation" r:id="rId3" imgW="88884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311650"/>
                        <a:ext cx="2697163" cy="200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09" name="Object 3"/>
          <p:cNvGraphicFramePr>
            <a:graphicFrameLocks noChangeAspect="1"/>
          </p:cNvGraphicFramePr>
          <p:nvPr/>
        </p:nvGraphicFramePr>
        <p:xfrm>
          <a:off x="4775200" y="4335463"/>
          <a:ext cx="3273425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37" name="Equation" r:id="rId5" imgW="1079280" imgH="685800" progId="Equation.DSMT4">
                  <p:embed/>
                </p:oleObj>
              </mc:Choice>
              <mc:Fallback>
                <p:oleObj name="Equation" r:id="rId5" imgW="107928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4335463"/>
                        <a:ext cx="3273425" cy="208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909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0"/>
            <a:ext cx="8001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2.6	 </a:t>
            </a:r>
            <a:r>
              <a:rPr lang="en-US" altLang="en-US" dirty="0"/>
              <a:t>Four Common Probability Density </a:t>
            </a:r>
            <a:r>
              <a:rPr lang="en-US" altLang="en-US" dirty="0" smtClean="0"/>
              <a:t>Functions</a:t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(a) Binomial </a:t>
            </a:r>
            <a:r>
              <a:rPr lang="en-US" altLang="en-US" dirty="0">
                <a:solidFill>
                  <a:srgbClr val="002D56"/>
                </a:solidFill>
              </a:rPr>
              <a:t>distribution</a:t>
            </a:r>
          </a:p>
        </p:txBody>
      </p:sp>
      <p:sp>
        <p:nvSpPr>
          <p:cNvPr id="144389" name="Footer Placeholder 17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9BDAC78-2180-45C8-9A8F-922C74AE338F}" type="slidenum">
              <a:rPr lang="en-US" smtClean="0"/>
              <a:pPr>
                <a:defRPr/>
              </a:pPr>
              <a:t>116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738188" y="1338263"/>
            <a:ext cx="7567612" cy="4268688"/>
            <a:chOff x="738188" y="1338263"/>
            <a:chExt cx="7567612" cy="4268688"/>
          </a:xfrm>
        </p:grpSpPr>
        <p:grpSp>
          <p:nvGrpSpPr>
            <p:cNvPr id="144390" name="Group 29"/>
            <p:cNvGrpSpPr>
              <a:grpSpLocks/>
            </p:cNvGrpSpPr>
            <p:nvPr/>
          </p:nvGrpSpPr>
          <p:grpSpPr bwMode="auto">
            <a:xfrm>
              <a:off x="738188" y="1338263"/>
              <a:ext cx="7567612" cy="4268688"/>
              <a:chOff x="738188" y="1338979"/>
              <a:chExt cx="7567612" cy="4267549"/>
            </a:xfrm>
          </p:grpSpPr>
          <p:grpSp>
            <p:nvGrpSpPr>
              <p:cNvPr id="144391" name="Group 28"/>
              <p:cNvGrpSpPr>
                <a:grpSpLocks/>
              </p:cNvGrpSpPr>
              <p:nvPr/>
            </p:nvGrpSpPr>
            <p:grpSpPr bwMode="auto">
              <a:xfrm>
                <a:off x="838200" y="1402479"/>
                <a:ext cx="7467600" cy="4100513"/>
                <a:chOff x="838200" y="1402479"/>
                <a:chExt cx="7467600" cy="4100513"/>
              </a:xfrm>
            </p:grpSpPr>
            <p:grpSp>
              <p:nvGrpSpPr>
                <p:cNvPr id="144408" name="Group 25"/>
                <p:cNvGrpSpPr>
                  <a:grpSpLocks/>
                </p:cNvGrpSpPr>
                <p:nvPr/>
              </p:nvGrpSpPr>
              <p:grpSpPr bwMode="auto">
                <a:xfrm>
                  <a:off x="1752600" y="5136279"/>
                  <a:ext cx="6553200" cy="366713"/>
                  <a:chOff x="1752600" y="5791200"/>
                  <a:chExt cx="6553200" cy="366713"/>
                </a:xfrm>
              </p:grpSpPr>
              <p:sp>
                <p:nvSpPr>
                  <p:cNvPr id="144412" name="Line 5"/>
                  <p:cNvSpPr>
                    <a:spLocks noChangeShapeType="1"/>
                  </p:cNvSpPr>
                  <p:nvPr/>
                </p:nvSpPr>
                <p:spPr bwMode="auto">
                  <a:xfrm>
                    <a:off x="1752600" y="5867400"/>
                    <a:ext cx="434340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413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096000" y="5791200"/>
                    <a:ext cx="2209800" cy="3667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800" i="1"/>
                      <a:t>x</a:t>
                    </a:r>
                  </a:p>
                </p:txBody>
              </p:sp>
            </p:grpSp>
            <p:grpSp>
              <p:nvGrpSpPr>
                <p:cNvPr id="144409" name="Group 24"/>
                <p:cNvGrpSpPr>
                  <a:grpSpLocks/>
                </p:cNvGrpSpPr>
                <p:nvPr/>
              </p:nvGrpSpPr>
              <p:grpSpPr bwMode="auto">
                <a:xfrm>
                  <a:off x="838200" y="1402479"/>
                  <a:ext cx="914400" cy="3810000"/>
                  <a:chOff x="838200" y="2057400"/>
                  <a:chExt cx="914400" cy="3810000"/>
                </a:xfrm>
              </p:grpSpPr>
              <p:sp>
                <p:nvSpPr>
                  <p:cNvPr id="144410" name="Line 4"/>
                  <p:cNvSpPr>
                    <a:spLocks noChangeShapeType="1"/>
                  </p:cNvSpPr>
                  <p:nvPr/>
                </p:nvSpPr>
                <p:spPr bwMode="auto">
                  <a:xfrm>
                    <a:off x="1752600" y="2209800"/>
                    <a:ext cx="0" cy="365760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411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38200" y="2057400"/>
                    <a:ext cx="844550" cy="3667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1pPr>
                    <a:lvl2pPr marL="742950" indent="-285750" eaLnBrk="0" hangingPunct="0"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2pPr>
                    <a:lvl3pPr marL="1143000" indent="-228600" eaLnBrk="0" hangingPunct="0"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3pPr>
                    <a:lvl4pPr marL="1600200" indent="-228600" eaLnBrk="0" hangingPunct="0"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4pPr>
                    <a:lvl5pPr marL="2057400" indent="-228600" eaLnBrk="0" hangingPunct="0"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 i="1"/>
                      <a:t>f</a:t>
                    </a:r>
                    <a:r>
                      <a:rPr lang="en-US" altLang="en-US" sz="1800"/>
                      <a:t>(</a:t>
                    </a:r>
                    <a:r>
                      <a:rPr lang="en-US" altLang="en-US" sz="1800" i="1"/>
                      <a:t>x</a:t>
                    </a:r>
                    <a:r>
                      <a:rPr lang="en-US" altLang="en-US" sz="1800"/>
                      <a:t>)</a:t>
                    </a:r>
                    <a:endParaRPr lang="en-US" altLang="en-US" sz="1800" i="1"/>
                  </a:p>
                </p:txBody>
              </p:sp>
            </p:grpSp>
          </p:grpSp>
          <p:sp>
            <p:nvSpPr>
              <p:cNvPr id="144392" name="Text Box 13"/>
              <p:cNvSpPr txBox="1">
                <a:spLocks noChangeArrowheads="1"/>
              </p:cNvSpPr>
              <p:nvPr/>
            </p:nvSpPr>
            <p:spPr bwMode="auto">
              <a:xfrm>
                <a:off x="1600200" y="5222004"/>
                <a:ext cx="3302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0</a:t>
                </a:r>
              </a:p>
            </p:txBody>
          </p:sp>
          <p:grpSp>
            <p:nvGrpSpPr>
              <p:cNvPr id="144393" name="Group 22"/>
              <p:cNvGrpSpPr>
                <a:grpSpLocks/>
              </p:cNvGrpSpPr>
              <p:nvPr/>
            </p:nvGrpSpPr>
            <p:grpSpPr bwMode="auto">
              <a:xfrm>
                <a:off x="738188" y="3617042"/>
                <a:ext cx="1085850" cy="366712"/>
                <a:chOff x="738188" y="4271963"/>
                <a:chExt cx="1085850" cy="366712"/>
              </a:xfrm>
            </p:grpSpPr>
            <p:sp>
              <p:nvSpPr>
                <p:cNvPr id="144406" name="Oval 18"/>
                <p:cNvSpPr>
                  <a:spLocks noChangeArrowheads="1"/>
                </p:cNvSpPr>
                <p:nvPr/>
              </p:nvSpPr>
              <p:spPr bwMode="auto">
                <a:xfrm>
                  <a:off x="1695450" y="4367213"/>
                  <a:ext cx="128588" cy="128587"/>
                </a:xfrm>
                <a:prstGeom prst="ellipse">
                  <a:avLst/>
                </a:prstGeom>
                <a:solidFill>
                  <a:schemeClr val="tx1"/>
                </a:solidFill>
                <a:ln w="158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44407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738188" y="4271963"/>
                  <a:ext cx="858837" cy="3667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r" eaLnBrk="1" hangingPunct="1"/>
                  <a:r>
                    <a:rPr lang="en-US" altLang="en-US" sz="1800" dirty="0" smtClean="0"/>
                    <a:t>p</a:t>
                  </a:r>
                  <a:endParaRPr lang="en-US" altLang="en-US" sz="1800" i="1" dirty="0"/>
                </a:p>
              </p:txBody>
            </p:sp>
          </p:grpSp>
          <p:sp>
            <p:nvSpPr>
              <p:cNvPr id="144394" name="Text Box 22"/>
              <p:cNvSpPr txBox="1">
                <a:spLocks noChangeArrowheads="1"/>
              </p:cNvSpPr>
              <p:nvPr/>
            </p:nvSpPr>
            <p:spPr bwMode="auto">
              <a:xfrm>
                <a:off x="4416425" y="1338979"/>
                <a:ext cx="21082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altLang="en-US" sz="2800" i="1" dirty="0">
                    <a:solidFill>
                      <a:srgbClr val="000099"/>
                    </a:solidFill>
                  </a:rPr>
                  <a:t>f</a:t>
                </a:r>
                <a:r>
                  <a:rPr lang="en-US" altLang="en-US" sz="2800" dirty="0">
                    <a:solidFill>
                      <a:srgbClr val="000099"/>
                    </a:solidFill>
                  </a:rPr>
                  <a:t>(</a:t>
                </a:r>
                <a:r>
                  <a:rPr lang="en-US" altLang="en-US" sz="2800" i="1" dirty="0">
                    <a:solidFill>
                      <a:srgbClr val="000099"/>
                    </a:solidFill>
                  </a:rPr>
                  <a:t>x</a:t>
                </a:r>
                <a:r>
                  <a:rPr lang="en-US" altLang="en-US" sz="2800" dirty="0">
                    <a:solidFill>
                      <a:srgbClr val="000099"/>
                    </a:solidFill>
                  </a:rPr>
                  <a:t> = 1) = </a:t>
                </a:r>
                <a:r>
                  <a:rPr lang="en-US" altLang="en-US" sz="2800" i="1" dirty="0">
                    <a:solidFill>
                      <a:srgbClr val="000099"/>
                    </a:solidFill>
                  </a:rPr>
                  <a:t>p</a:t>
                </a:r>
              </a:p>
            </p:txBody>
          </p:sp>
          <p:sp>
            <p:nvSpPr>
              <p:cNvPr id="144395" name="Text Box 23"/>
              <p:cNvSpPr txBox="1">
                <a:spLocks noChangeArrowheads="1"/>
              </p:cNvSpPr>
              <p:nvPr/>
            </p:nvSpPr>
            <p:spPr bwMode="auto">
              <a:xfrm>
                <a:off x="4416425" y="2191467"/>
                <a:ext cx="241935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altLang="en-US" sz="2800" i="1" dirty="0">
                    <a:solidFill>
                      <a:srgbClr val="000099"/>
                    </a:solidFill>
                  </a:rPr>
                  <a:t>f</a:t>
                </a:r>
                <a:r>
                  <a:rPr lang="en-US" altLang="en-US" sz="2800" dirty="0">
                    <a:solidFill>
                      <a:srgbClr val="000099"/>
                    </a:solidFill>
                  </a:rPr>
                  <a:t>(</a:t>
                </a:r>
                <a:r>
                  <a:rPr lang="en-US" altLang="en-US" sz="2800" i="1" dirty="0">
                    <a:solidFill>
                      <a:srgbClr val="000099"/>
                    </a:solidFill>
                  </a:rPr>
                  <a:t>x</a:t>
                </a:r>
                <a:r>
                  <a:rPr lang="en-US" altLang="en-US" sz="2800" dirty="0">
                    <a:solidFill>
                      <a:srgbClr val="000099"/>
                    </a:solidFill>
                  </a:rPr>
                  <a:t> = 0) = 1 - </a:t>
                </a:r>
                <a:r>
                  <a:rPr lang="en-US" altLang="en-US" sz="2800" i="1" dirty="0">
                    <a:solidFill>
                      <a:srgbClr val="000099"/>
                    </a:solidFill>
                  </a:rPr>
                  <a:t>p</a:t>
                </a:r>
              </a:p>
            </p:txBody>
          </p:sp>
          <p:sp>
            <p:nvSpPr>
              <p:cNvPr id="144396" name="Text Box 24"/>
              <p:cNvSpPr txBox="1">
                <a:spLocks noChangeArrowheads="1"/>
              </p:cNvSpPr>
              <p:nvPr/>
            </p:nvSpPr>
            <p:spPr bwMode="auto">
              <a:xfrm>
                <a:off x="4576259" y="3049184"/>
                <a:ext cx="3039481" cy="523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altLang="en-US" sz="2800" dirty="0" smtClean="0">
                    <a:solidFill>
                      <a:srgbClr val="000099"/>
                    </a:solidFill>
                  </a:rPr>
                  <a:t>Where  </a:t>
                </a:r>
                <a:r>
                  <a:rPr lang="en-US" altLang="en-US" sz="2800" dirty="0">
                    <a:solidFill>
                      <a:srgbClr val="000099"/>
                    </a:solidFill>
                  </a:rPr>
                  <a:t>0</a:t>
                </a:r>
                <a:r>
                  <a:rPr lang="en-US" altLang="en-US" sz="2800" i="1" dirty="0">
                    <a:solidFill>
                      <a:srgbClr val="000099"/>
                    </a:solidFill>
                  </a:rPr>
                  <a:t> &lt; p</a:t>
                </a:r>
                <a:r>
                  <a:rPr lang="en-US" altLang="en-US" sz="2800" dirty="0">
                    <a:solidFill>
                      <a:srgbClr val="000099"/>
                    </a:solidFill>
                  </a:rPr>
                  <a:t> &lt; 1</a:t>
                </a:r>
                <a:endParaRPr lang="en-US" altLang="en-US" sz="2800" i="1" dirty="0">
                  <a:solidFill>
                    <a:srgbClr val="000099"/>
                  </a:solidFill>
                </a:endParaRPr>
              </a:p>
            </p:txBody>
          </p:sp>
          <p:grpSp>
            <p:nvGrpSpPr>
              <p:cNvPr id="144397" name="Group 21"/>
              <p:cNvGrpSpPr>
                <a:grpSpLocks/>
              </p:cNvGrpSpPr>
              <p:nvPr/>
            </p:nvGrpSpPr>
            <p:grpSpPr bwMode="auto">
              <a:xfrm>
                <a:off x="1930400" y="5140791"/>
                <a:ext cx="1006140" cy="465737"/>
                <a:chOff x="1296737" y="5803733"/>
                <a:chExt cx="1006140" cy="465737"/>
              </a:xfrm>
            </p:grpSpPr>
            <p:sp>
              <p:nvSpPr>
                <p:cNvPr id="144404" name="Oval 14"/>
                <p:cNvSpPr>
                  <a:spLocks noChangeArrowheads="1"/>
                </p:cNvSpPr>
                <p:nvPr/>
              </p:nvSpPr>
              <p:spPr bwMode="auto">
                <a:xfrm>
                  <a:off x="2031081" y="5803733"/>
                  <a:ext cx="128587" cy="128588"/>
                </a:xfrm>
                <a:prstGeom prst="ellipse">
                  <a:avLst/>
                </a:prstGeom>
                <a:solidFill>
                  <a:schemeClr val="tx1"/>
                </a:solidFill>
                <a:ln w="158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44405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296737" y="5900237"/>
                  <a:ext cx="1006140" cy="369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r" eaLnBrk="1" hangingPunct="1"/>
                  <a:r>
                    <a:rPr lang="en-US" altLang="en-US" sz="1800" i="1" dirty="0" smtClean="0"/>
                    <a:t>E(x)=p</a:t>
                  </a:r>
                  <a:endParaRPr lang="en-US" altLang="en-US" sz="1800" i="1" dirty="0"/>
                </a:p>
              </p:txBody>
            </p:sp>
          </p:grpSp>
          <p:grpSp>
            <p:nvGrpSpPr>
              <p:cNvPr id="144398" name="Group 23"/>
              <p:cNvGrpSpPr>
                <a:grpSpLocks/>
              </p:cNvGrpSpPr>
              <p:nvPr/>
            </p:nvGrpSpPr>
            <p:grpSpPr bwMode="auto">
              <a:xfrm>
                <a:off x="1357313" y="2864567"/>
                <a:ext cx="2292350" cy="2714625"/>
                <a:chOff x="1357313" y="3519488"/>
                <a:chExt cx="2292350" cy="2714625"/>
              </a:xfrm>
            </p:grpSpPr>
            <p:sp>
              <p:nvSpPr>
                <p:cNvPr id="14439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3319463" y="5867400"/>
                  <a:ext cx="330200" cy="366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800"/>
                    <a:t>1</a:t>
                  </a:r>
                </a:p>
              </p:txBody>
            </p:sp>
            <p:sp>
              <p:nvSpPr>
                <p:cNvPr id="144400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357313" y="3519488"/>
                  <a:ext cx="330200" cy="369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800" i="1" dirty="0" smtClean="0"/>
                    <a:t>1</a:t>
                  </a:r>
                  <a:endParaRPr lang="en-US" altLang="en-US" sz="1800" i="1" dirty="0"/>
                </a:p>
              </p:txBody>
            </p:sp>
            <p:sp>
              <p:nvSpPr>
                <p:cNvPr id="144401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471863" y="3786188"/>
                  <a:ext cx="0" cy="2057400"/>
                </a:xfrm>
                <a:prstGeom prst="line">
                  <a:avLst/>
                </a:prstGeom>
                <a:noFill/>
                <a:ln w="12700">
                  <a:solidFill>
                    <a:srgbClr val="0D7D65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4402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1743075" y="3714750"/>
                  <a:ext cx="1743075" cy="0"/>
                </a:xfrm>
                <a:prstGeom prst="line">
                  <a:avLst/>
                </a:prstGeom>
                <a:noFill/>
                <a:ln w="12700">
                  <a:solidFill>
                    <a:srgbClr val="0D7D65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31" name="Oval 18"/>
            <p:cNvSpPr>
              <a:spLocks noChangeArrowheads="1"/>
            </p:cNvSpPr>
            <p:nvPr/>
          </p:nvSpPr>
          <p:spPr bwMode="auto">
            <a:xfrm>
              <a:off x="1700212" y="4300465"/>
              <a:ext cx="128588" cy="128621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" name="Text Box 19"/>
            <p:cNvSpPr txBox="1">
              <a:spLocks noChangeArrowheads="1"/>
            </p:cNvSpPr>
            <p:nvPr/>
          </p:nvSpPr>
          <p:spPr bwMode="auto">
            <a:xfrm>
              <a:off x="742950" y="4205190"/>
              <a:ext cx="858837" cy="3668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r" eaLnBrk="1" hangingPunct="1"/>
              <a:r>
                <a:rPr lang="en-US" altLang="en-US" sz="1800" dirty="0"/>
                <a:t>1 - p</a:t>
              </a:r>
              <a:endParaRPr lang="en-US" altLang="en-US" sz="1800" i="1" dirty="0"/>
            </a:p>
          </p:txBody>
        </p:sp>
        <p:sp>
          <p:nvSpPr>
            <p:cNvPr id="33" name="Oval 14"/>
            <p:cNvSpPr>
              <a:spLocks noChangeArrowheads="1"/>
            </p:cNvSpPr>
            <p:nvPr/>
          </p:nvSpPr>
          <p:spPr bwMode="auto">
            <a:xfrm>
              <a:off x="3414713" y="3733800"/>
              <a:ext cx="128587" cy="128622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" name="Line 17"/>
            <p:cNvSpPr>
              <a:spLocks noChangeShapeType="1"/>
            </p:cNvSpPr>
            <p:nvPr/>
          </p:nvSpPr>
          <p:spPr bwMode="auto">
            <a:xfrm flipH="1">
              <a:off x="1752600" y="3810000"/>
              <a:ext cx="1743075" cy="0"/>
            </a:xfrm>
            <a:prstGeom prst="line">
              <a:avLst/>
            </a:prstGeom>
            <a:noFill/>
            <a:ln w="12700">
              <a:solidFill>
                <a:srgbClr val="0D7D65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654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0"/>
            <a:ext cx="8001000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2.6 </a:t>
            </a:r>
            <a:r>
              <a:rPr lang="en-US" altLang="en-US" dirty="0"/>
              <a:t> </a:t>
            </a:r>
            <a:r>
              <a:rPr lang="en-US" altLang="en-US" dirty="0" smtClean="0"/>
              <a:t>	Four </a:t>
            </a:r>
            <a:r>
              <a:rPr lang="en-US" altLang="en-US" dirty="0"/>
              <a:t>Common Probability Density Functions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(b) Uniform </a:t>
            </a:r>
            <a:r>
              <a:rPr lang="en-US" altLang="en-US" dirty="0">
                <a:solidFill>
                  <a:srgbClr val="002D56"/>
                </a:solidFill>
              </a:rPr>
              <a:t>distribution</a:t>
            </a:r>
            <a:endParaRPr lang="en-US" altLang="en-US" dirty="0" smtClean="0"/>
          </a:p>
        </p:txBody>
      </p:sp>
      <p:sp>
        <p:nvSpPr>
          <p:cNvPr id="57353" name="Footer Placeholder 18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A49DC-1E29-47FB-A2E2-860AF4121FD1}" type="slidenum">
              <a:rPr lang="en-US" smtClean="0"/>
              <a:pPr>
                <a:defRPr/>
              </a:pPr>
              <a:t>117</a:t>
            </a:fld>
            <a:endParaRPr lang="en-US"/>
          </a:p>
        </p:txBody>
      </p:sp>
      <p:grpSp>
        <p:nvGrpSpPr>
          <p:cNvPr id="57354" name="Group 25"/>
          <p:cNvGrpSpPr>
            <a:grpSpLocks/>
          </p:cNvGrpSpPr>
          <p:nvPr/>
        </p:nvGrpSpPr>
        <p:grpSpPr bwMode="auto">
          <a:xfrm>
            <a:off x="838200" y="1522413"/>
            <a:ext cx="7351713" cy="4495800"/>
            <a:chOff x="838200" y="1521718"/>
            <a:chExt cx="7351713" cy="4496013"/>
          </a:xfrm>
        </p:grpSpPr>
        <p:graphicFrame>
          <p:nvGraphicFramePr>
            <p:cNvPr id="204819" name="Object 2"/>
            <p:cNvGraphicFramePr>
              <a:graphicFrameLocks noChangeAspect="1"/>
            </p:cNvGraphicFramePr>
            <p:nvPr/>
          </p:nvGraphicFramePr>
          <p:xfrm>
            <a:off x="4152900" y="2771080"/>
            <a:ext cx="4037013" cy="619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38" name="Equation" r:id="rId3" imgW="1663560" imgH="253800" progId="Equation.DSMT4">
                    <p:embed/>
                  </p:oleObj>
                </mc:Choice>
                <mc:Fallback>
                  <p:oleObj name="Equation" r:id="rId3" imgW="16635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2900" y="2771080"/>
                          <a:ext cx="4037013" cy="619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7355" name="Group 24"/>
            <p:cNvGrpSpPr>
              <a:grpSpLocks/>
            </p:cNvGrpSpPr>
            <p:nvPr/>
          </p:nvGrpSpPr>
          <p:grpSpPr bwMode="auto">
            <a:xfrm>
              <a:off x="838200" y="1521718"/>
              <a:ext cx="6900864" cy="4496013"/>
              <a:chOff x="838200" y="1521718"/>
              <a:chExt cx="6900864" cy="4496013"/>
            </a:xfrm>
          </p:grpSpPr>
          <p:grpSp>
            <p:nvGrpSpPr>
              <p:cNvPr id="57356" name="Group 22"/>
              <p:cNvGrpSpPr>
                <a:grpSpLocks/>
              </p:cNvGrpSpPr>
              <p:nvPr/>
            </p:nvGrpSpPr>
            <p:grpSpPr bwMode="auto">
              <a:xfrm>
                <a:off x="1752600" y="5358705"/>
                <a:ext cx="4895335" cy="366713"/>
                <a:chOff x="1752600" y="5358705"/>
                <a:chExt cx="4895335" cy="366713"/>
              </a:xfrm>
            </p:grpSpPr>
            <p:sp>
              <p:nvSpPr>
                <p:cNvPr id="57368" name="Line 4"/>
                <p:cNvSpPr>
                  <a:spLocks noChangeShapeType="1"/>
                </p:cNvSpPr>
                <p:nvPr/>
              </p:nvSpPr>
              <p:spPr bwMode="auto">
                <a:xfrm>
                  <a:off x="1752600" y="5434905"/>
                  <a:ext cx="434340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369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6096000" y="5358705"/>
                  <a:ext cx="551935" cy="366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eaLnBrk="1" hangingPunct="1"/>
                  <a:r>
                    <a:rPr lang="en-US" altLang="en-US" sz="1800" i="1"/>
                    <a:t>x</a:t>
                  </a:r>
                </a:p>
              </p:txBody>
            </p:sp>
          </p:grpSp>
          <p:grpSp>
            <p:nvGrpSpPr>
              <p:cNvPr id="57357" name="Group 23"/>
              <p:cNvGrpSpPr>
                <a:grpSpLocks/>
              </p:cNvGrpSpPr>
              <p:nvPr/>
            </p:nvGrpSpPr>
            <p:grpSpPr bwMode="auto">
              <a:xfrm>
                <a:off x="838200" y="1624905"/>
                <a:ext cx="914400" cy="3810000"/>
                <a:chOff x="838200" y="1624905"/>
                <a:chExt cx="914400" cy="3810000"/>
              </a:xfrm>
            </p:grpSpPr>
            <p:sp>
              <p:nvSpPr>
                <p:cNvPr id="57366" name="Line 3"/>
                <p:cNvSpPr>
                  <a:spLocks noChangeShapeType="1"/>
                </p:cNvSpPr>
                <p:nvPr/>
              </p:nvSpPr>
              <p:spPr bwMode="auto">
                <a:xfrm>
                  <a:off x="1752600" y="1777305"/>
                  <a:ext cx="0" cy="36576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367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838200" y="1624905"/>
                  <a:ext cx="844550" cy="366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algn="r" eaLnBrk="1" hangingPunct="1"/>
                  <a:r>
                    <a:rPr lang="en-US" altLang="en-US" sz="1800" i="1"/>
                    <a:t>f</a:t>
                  </a:r>
                  <a:r>
                    <a:rPr lang="en-US" altLang="en-US" sz="1800"/>
                    <a:t>(</a:t>
                  </a:r>
                  <a:r>
                    <a:rPr lang="en-US" altLang="en-US" sz="1800" i="1"/>
                    <a:t>x</a:t>
                  </a:r>
                  <a:r>
                    <a:rPr lang="en-US" altLang="en-US" sz="1800"/>
                    <a:t>)</a:t>
                  </a:r>
                  <a:endParaRPr lang="en-US" altLang="en-US" sz="1800" i="1"/>
                </a:p>
              </p:txBody>
            </p:sp>
          </p:grpSp>
          <p:sp>
            <p:nvSpPr>
              <p:cNvPr id="57358" name="Text Box 7"/>
              <p:cNvSpPr txBox="1">
                <a:spLocks noChangeArrowheads="1"/>
              </p:cNvSpPr>
              <p:nvPr/>
            </p:nvSpPr>
            <p:spPr bwMode="auto">
              <a:xfrm>
                <a:off x="4819650" y="5434905"/>
                <a:ext cx="3302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i="1">
                    <a:solidFill>
                      <a:srgbClr val="177B21"/>
                    </a:solidFill>
                  </a:rPr>
                  <a:t>b</a:t>
                </a:r>
              </a:p>
            </p:txBody>
          </p:sp>
          <p:sp>
            <p:nvSpPr>
              <p:cNvPr id="57359" name="Text Box 9"/>
              <p:cNvSpPr txBox="1">
                <a:spLocks noChangeArrowheads="1"/>
              </p:cNvSpPr>
              <p:nvPr/>
            </p:nvSpPr>
            <p:spPr bwMode="auto">
              <a:xfrm>
                <a:off x="2300288" y="5444430"/>
                <a:ext cx="3302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i="1">
                    <a:solidFill>
                      <a:srgbClr val="177B21"/>
                    </a:solidFill>
                  </a:rPr>
                  <a:t>a</a:t>
                </a:r>
              </a:p>
            </p:txBody>
          </p:sp>
          <p:sp>
            <p:nvSpPr>
              <p:cNvPr id="57360" name="Line 11"/>
              <p:cNvSpPr>
                <a:spLocks noChangeShapeType="1"/>
              </p:cNvSpPr>
              <p:nvPr/>
            </p:nvSpPr>
            <p:spPr bwMode="auto">
              <a:xfrm flipV="1">
                <a:off x="4972050" y="3896618"/>
                <a:ext cx="0" cy="1543050"/>
              </a:xfrm>
              <a:prstGeom prst="line">
                <a:avLst/>
              </a:prstGeom>
              <a:noFill/>
              <a:ln w="28575">
                <a:solidFill>
                  <a:srgbClr val="177B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361" name="Line 20"/>
              <p:cNvSpPr>
                <a:spLocks noChangeShapeType="1"/>
              </p:cNvSpPr>
              <p:nvPr/>
            </p:nvSpPr>
            <p:spPr bwMode="auto">
              <a:xfrm flipH="1">
                <a:off x="2500313" y="3882330"/>
                <a:ext cx="2486025" cy="0"/>
              </a:xfrm>
              <a:prstGeom prst="line">
                <a:avLst/>
              </a:prstGeom>
              <a:noFill/>
              <a:ln w="28575">
                <a:solidFill>
                  <a:srgbClr val="177B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362" name="Line 21"/>
              <p:cNvSpPr>
                <a:spLocks noChangeShapeType="1"/>
              </p:cNvSpPr>
              <p:nvPr/>
            </p:nvSpPr>
            <p:spPr bwMode="auto">
              <a:xfrm>
                <a:off x="2486025" y="3882330"/>
                <a:ext cx="0" cy="1585913"/>
              </a:xfrm>
              <a:prstGeom prst="line">
                <a:avLst/>
              </a:prstGeom>
              <a:noFill/>
              <a:ln w="28575">
                <a:solidFill>
                  <a:srgbClr val="177B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363" name="Line 22"/>
              <p:cNvSpPr>
                <a:spLocks noChangeShapeType="1"/>
              </p:cNvSpPr>
              <p:nvPr/>
            </p:nvSpPr>
            <p:spPr bwMode="auto">
              <a:xfrm flipH="1">
                <a:off x="1743075" y="3882330"/>
                <a:ext cx="757238" cy="0"/>
              </a:xfrm>
              <a:prstGeom prst="line">
                <a:avLst/>
              </a:prstGeom>
              <a:noFill/>
              <a:ln w="15875">
                <a:solidFill>
                  <a:srgbClr val="177B2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364" name="Line 23"/>
              <p:cNvSpPr>
                <a:spLocks noChangeShapeType="1"/>
              </p:cNvSpPr>
              <p:nvPr/>
            </p:nvSpPr>
            <p:spPr bwMode="auto">
              <a:xfrm>
                <a:off x="3700463" y="3896618"/>
                <a:ext cx="0" cy="1514475"/>
              </a:xfrm>
              <a:prstGeom prst="line">
                <a:avLst/>
              </a:prstGeom>
              <a:noFill/>
              <a:ln w="15875">
                <a:solidFill>
                  <a:srgbClr val="177B2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57365" name="Group 26"/>
              <p:cNvGrpSpPr>
                <a:grpSpLocks/>
              </p:cNvGrpSpPr>
              <p:nvPr/>
            </p:nvGrpSpPr>
            <p:grpSpPr bwMode="auto">
              <a:xfrm>
                <a:off x="1035051" y="1521718"/>
                <a:ext cx="6704013" cy="2605087"/>
                <a:chOff x="652" y="1231"/>
                <a:chExt cx="4223" cy="1641"/>
              </a:xfrm>
            </p:grpSpPr>
            <p:graphicFrame>
              <p:nvGraphicFramePr>
                <p:cNvPr id="57348" name="Object 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07844111"/>
                    </p:ext>
                  </p:extLst>
                </p:nvPr>
              </p:nvGraphicFramePr>
              <p:xfrm>
                <a:off x="2312" y="1231"/>
                <a:ext cx="2563" cy="6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7739" name="Equation" r:id="rId5" imgW="1676160" imgH="393480" progId="Equation.DSMT4">
                        <p:embed/>
                      </p:oleObj>
                    </mc:Choice>
                    <mc:Fallback>
                      <p:oleObj name="Equation" r:id="rId5" imgW="1676160" imgH="3934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12" y="1231"/>
                              <a:ext cx="2563" cy="60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7349" name="Object 5"/>
                <p:cNvGraphicFramePr>
                  <a:graphicFrameLocks noChangeAspect="1"/>
                </p:cNvGraphicFramePr>
                <p:nvPr/>
              </p:nvGraphicFramePr>
              <p:xfrm>
                <a:off x="652" y="2467"/>
                <a:ext cx="416" cy="4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7740" name="Equation" r:id="rId7" imgW="406080" imgH="393480" progId="Equation.DSMT4">
                        <p:embed/>
                      </p:oleObj>
                    </mc:Choice>
                    <mc:Fallback>
                      <p:oleObj name="Equation" r:id="rId7" imgW="406080" imgH="3934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52" y="2467"/>
                              <a:ext cx="416" cy="40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57347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88873612"/>
                  </p:ext>
                </p:extLst>
              </p:nvPr>
            </p:nvGraphicFramePr>
            <p:xfrm>
              <a:off x="3087688" y="5433503"/>
              <a:ext cx="1220787" cy="584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741" name="Equation" r:id="rId9" imgW="825480" imgH="393480" progId="Equation.DSMT4">
                      <p:embed/>
                    </p:oleObj>
                  </mc:Choice>
                  <mc:Fallback>
                    <p:oleObj name="Equation" r:id="rId9" imgW="82548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7688" y="5433503"/>
                            <a:ext cx="1220787" cy="584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74239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0"/>
            <a:ext cx="8001000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2.6 </a:t>
            </a:r>
            <a:r>
              <a:rPr lang="en-US" altLang="en-US" dirty="0"/>
              <a:t>Four Common Probability Density Functions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(c) Exponential </a:t>
            </a:r>
            <a:r>
              <a:rPr lang="en-US" altLang="en-US" dirty="0">
                <a:solidFill>
                  <a:srgbClr val="002D56"/>
                </a:solidFill>
              </a:rPr>
              <a:t>distribution</a:t>
            </a:r>
            <a:endParaRPr lang="en-US" altLang="en-US" dirty="0" smtClean="0"/>
          </a:p>
        </p:txBody>
      </p:sp>
      <p:sp>
        <p:nvSpPr>
          <p:cNvPr id="58375" name="Footer Placeholder 1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0E27F0-DED9-4770-B70D-9F1981BF3BD2}" type="slidenum">
              <a:rPr lang="en-US" smtClean="0"/>
              <a:pPr>
                <a:defRPr/>
              </a:pPr>
              <a:t>118</a:t>
            </a:fld>
            <a:endParaRPr lang="en-US"/>
          </a:p>
        </p:txBody>
      </p:sp>
      <p:grpSp>
        <p:nvGrpSpPr>
          <p:cNvPr id="58376" name="Group 17"/>
          <p:cNvGrpSpPr>
            <a:grpSpLocks/>
          </p:cNvGrpSpPr>
          <p:nvPr/>
        </p:nvGrpSpPr>
        <p:grpSpPr bwMode="auto">
          <a:xfrm>
            <a:off x="838200" y="1314450"/>
            <a:ext cx="7467600" cy="4521200"/>
            <a:chOff x="838200" y="1908176"/>
            <a:chExt cx="7467600" cy="4521200"/>
          </a:xfrm>
        </p:grpSpPr>
        <p:grpSp>
          <p:nvGrpSpPr>
            <p:cNvPr id="58377" name="Group 14"/>
            <p:cNvGrpSpPr>
              <a:grpSpLocks/>
            </p:cNvGrpSpPr>
            <p:nvPr/>
          </p:nvGrpSpPr>
          <p:grpSpPr bwMode="auto">
            <a:xfrm>
              <a:off x="1752600" y="5791200"/>
              <a:ext cx="6553200" cy="366713"/>
              <a:chOff x="1752600" y="5791200"/>
              <a:chExt cx="6553200" cy="366713"/>
            </a:xfrm>
          </p:grpSpPr>
          <p:sp>
            <p:nvSpPr>
              <p:cNvPr id="58386" name="Line 4"/>
              <p:cNvSpPr>
                <a:spLocks noChangeShapeType="1"/>
              </p:cNvSpPr>
              <p:nvPr/>
            </p:nvSpPr>
            <p:spPr bwMode="auto">
              <a:xfrm>
                <a:off x="1752600" y="5867400"/>
                <a:ext cx="4343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7" name="Text Box 5"/>
              <p:cNvSpPr txBox="1">
                <a:spLocks noChangeArrowheads="1"/>
              </p:cNvSpPr>
              <p:nvPr/>
            </p:nvSpPr>
            <p:spPr bwMode="auto">
              <a:xfrm>
                <a:off x="6096000" y="5791200"/>
                <a:ext cx="22098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x</a:t>
                </a:r>
              </a:p>
            </p:txBody>
          </p:sp>
        </p:grpSp>
        <p:grpSp>
          <p:nvGrpSpPr>
            <p:cNvPr id="58378" name="Group 15"/>
            <p:cNvGrpSpPr>
              <a:grpSpLocks/>
            </p:cNvGrpSpPr>
            <p:nvPr/>
          </p:nvGrpSpPr>
          <p:grpSpPr bwMode="auto">
            <a:xfrm>
              <a:off x="838200" y="2057400"/>
              <a:ext cx="914400" cy="3810000"/>
              <a:chOff x="838200" y="2057400"/>
              <a:chExt cx="914400" cy="3810000"/>
            </a:xfrm>
          </p:grpSpPr>
          <p:sp>
            <p:nvSpPr>
              <p:cNvPr id="58384" name="Line 3"/>
              <p:cNvSpPr>
                <a:spLocks noChangeShapeType="1"/>
              </p:cNvSpPr>
              <p:nvPr/>
            </p:nvSpPr>
            <p:spPr bwMode="auto">
              <a:xfrm>
                <a:off x="1752600" y="2209800"/>
                <a:ext cx="0" cy="3657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5" name="Text Box 6"/>
              <p:cNvSpPr txBox="1">
                <a:spLocks noChangeArrowheads="1"/>
              </p:cNvSpPr>
              <p:nvPr/>
            </p:nvSpPr>
            <p:spPr bwMode="auto">
              <a:xfrm>
                <a:off x="838200" y="2057400"/>
                <a:ext cx="844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r" eaLnBrk="1" hangingPunct="1"/>
                <a:r>
                  <a:rPr lang="en-US" altLang="en-US" sz="1800" i="1"/>
                  <a:t>f</a:t>
                </a:r>
                <a:r>
                  <a:rPr lang="en-US" altLang="en-US" sz="1800"/>
                  <a:t>(</a:t>
                </a:r>
                <a:r>
                  <a:rPr lang="en-US" altLang="en-US" sz="1800" i="1"/>
                  <a:t>x</a:t>
                </a:r>
                <a:r>
                  <a:rPr lang="en-US" altLang="en-US" sz="1800"/>
                  <a:t>)</a:t>
                </a:r>
                <a:endParaRPr lang="en-US" altLang="en-US" sz="1800" i="1"/>
              </a:p>
            </p:txBody>
          </p:sp>
        </p:grpSp>
        <p:grpSp>
          <p:nvGrpSpPr>
            <p:cNvPr id="58379" name="Group 23"/>
            <p:cNvGrpSpPr>
              <a:grpSpLocks/>
            </p:cNvGrpSpPr>
            <p:nvPr/>
          </p:nvGrpSpPr>
          <p:grpSpPr bwMode="auto">
            <a:xfrm>
              <a:off x="3251201" y="1908176"/>
              <a:ext cx="4310064" cy="4521200"/>
              <a:chOff x="2048" y="1202"/>
              <a:chExt cx="2715" cy="2848"/>
            </a:xfrm>
          </p:grpSpPr>
          <p:graphicFrame>
            <p:nvGraphicFramePr>
              <p:cNvPr id="58370" name="Object 2"/>
              <p:cNvGraphicFramePr>
                <a:graphicFrameLocks noChangeAspect="1"/>
              </p:cNvGraphicFramePr>
              <p:nvPr/>
            </p:nvGraphicFramePr>
            <p:xfrm>
              <a:off x="2486" y="1202"/>
              <a:ext cx="2277" cy="7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86" name="Equation" r:id="rId3" imgW="1371600" imgH="457200" progId="Equation.DSMT4">
                      <p:embed/>
                    </p:oleObj>
                  </mc:Choice>
                  <mc:Fallback>
                    <p:oleObj name="Equation" r:id="rId3" imgW="1371600" imgH="457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86" y="1202"/>
                            <a:ext cx="2277" cy="7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8383" name="Line 15"/>
              <p:cNvSpPr>
                <a:spLocks noChangeShapeType="1"/>
              </p:cNvSpPr>
              <p:nvPr/>
            </p:nvSpPr>
            <p:spPr bwMode="auto">
              <a:xfrm>
                <a:off x="2331" y="3141"/>
                <a:ext cx="0" cy="540"/>
              </a:xfrm>
              <a:prstGeom prst="line">
                <a:avLst/>
              </a:prstGeom>
              <a:noFill/>
              <a:ln w="15875">
                <a:solidFill>
                  <a:srgbClr val="177B2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58371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0474428"/>
                  </p:ext>
                </p:extLst>
              </p:nvPr>
            </p:nvGraphicFramePr>
            <p:xfrm>
              <a:off x="2048" y="3687"/>
              <a:ext cx="571" cy="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87" name="Equation" r:id="rId5" imgW="622080" imgH="393480" progId="Equation.DSMT4">
                      <p:embed/>
                    </p:oleObj>
                  </mc:Choice>
                  <mc:Fallback>
                    <p:oleObj name="Equation" r:id="rId5" imgW="62208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48" y="3687"/>
                            <a:ext cx="571" cy="3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8380" name="Group 16"/>
            <p:cNvGrpSpPr>
              <a:grpSpLocks/>
            </p:cNvGrpSpPr>
            <p:nvPr/>
          </p:nvGrpSpPr>
          <p:grpSpPr bwMode="auto">
            <a:xfrm>
              <a:off x="1376363" y="3429000"/>
              <a:ext cx="3295650" cy="1714500"/>
              <a:chOff x="1376363" y="3429000"/>
              <a:chExt cx="3295650" cy="1714500"/>
            </a:xfrm>
          </p:grpSpPr>
          <p:sp>
            <p:nvSpPr>
              <p:cNvPr id="58381" name="Freeform 21"/>
              <p:cNvSpPr>
                <a:spLocks/>
              </p:cNvSpPr>
              <p:nvPr/>
            </p:nvSpPr>
            <p:spPr bwMode="auto">
              <a:xfrm rot="225740">
                <a:off x="1728788" y="3743325"/>
                <a:ext cx="2943225" cy="1400175"/>
              </a:xfrm>
              <a:custGeom>
                <a:avLst/>
                <a:gdLst>
                  <a:gd name="T0" fmla="*/ 0 w 1854"/>
                  <a:gd name="T1" fmla="*/ 0 h 882"/>
                  <a:gd name="T2" fmla="*/ 2147483647 w 1854"/>
                  <a:gd name="T3" fmla="*/ 2147483647 h 882"/>
                  <a:gd name="T4" fmla="*/ 2147483647 w 1854"/>
                  <a:gd name="T5" fmla="*/ 2147483647 h 882"/>
                  <a:gd name="T6" fmla="*/ 0 60000 65536"/>
                  <a:gd name="T7" fmla="*/ 0 60000 65536"/>
                  <a:gd name="T8" fmla="*/ 0 60000 65536"/>
                  <a:gd name="T9" fmla="*/ 0 w 1854"/>
                  <a:gd name="T10" fmla="*/ 0 h 882"/>
                  <a:gd name="T11" fmla="*/ 1854 w 1854"/>
                  <a:gd name="T12" fmla="*/ 882 h 8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54" h="882">
                    <a:moveTo>
                      <a:pt x="0" y="0"/>
                    </a:moveTo>
                    <a:cubicBezTo>
                      <a:pt x="264" y="241"/>
                      <a:pt x="528" y="483"/>
                      <a:pt x="837" y="630"/>
                    </a:cubicBezTo>
                    <a:cubicBezTo>
                      <a:pt x="1146" y="777"/>
                      <a:pt x="1500" y="829"/>
                      <a:pt x="1854" y="882"/>
                    </a:cubicBezTo>
                  </a:path>
                </a:pathLst>
              </a:custGeom>
              <a:noFill/>
              <a:ln w="28575" cap="flat" cmpd="sng">
                <a:solidFill>
                  <a:srgbClr val="177B2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382" name="Text Box 22"/>
              <p:cNvSpPr txBox="1">
                <a:spLocks noChangeArrowheads="1"/>
              </p:cNvSpPr>
              <p:nvPr/>
            </p:nvSpPr>
            <p:spPr bwMode="auto">
              <a:xfrm>
                <a:off x="1376363" y="3429000"/>
                <a:ext cx="338137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177B21"/>
                    </a:solidFill>
                    <a:sym typeface="Symbol" pitchFamily="18" charset="2"/>
                  </a:rPr>
                  <a:t>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294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0"/>
            <a:ext cx="8001000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2.6 Four Common Probability Density Functions</a:t>
            </a:r>
            <a:br>
              <a:rPr lang="en-US" altLang="en-US" dirty="0" smtClean="0"/>
            </a:b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(d) Normal distribution</a:t>
            </a:r>
            <a:endParaRPr lang="en-US" altLang="en-US" dirty="0" smtClean="0"/>
          </a:p>
        </p:txBody>
      </p:sp>
      <p:sp>
        <p:nvSpPr>
          <p:cNvPr id="59399" name="Footer Placeholder 1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5E1324-42EB-4CF5-86A7-B972EDCE5840}" type="slidenum">
              <a:rPr lang="en-US" smtClean="0"/>
              <a:pPr>
                <a:defRPr/>
              </a:pPr>
              <a:t>119</a:t>
            </a:fld>
            <a:endParaRPr lang="en-US"/>
          </a:p>
        </p:txBody>
      </p:sp>
      <p:grpSp>
        <p:nvGrpSpPr>
          <p:cNvPr id="59400" name="Group 17"/>
          <p:cNvGrpSpPr>
            <a:grpSpLocks/>
          </p:cNvGrpSpPr>
          <p:nvPr/>
        </p:nvGrpSpPr>
        <p:grpSpPr bwMode="auto">
          <a:xfrm>
            <a:off x="263525" y="1471613"/>
            <a:ext cx="8655050" cy="4455557"/>
            <a:chOff x="250825" y="1843088"/>
            <a:chExt cx="8655050" cy="4455557"/>
          </a:xfrm>
        </p:grpSpPr>
        <p:sp>
          <p:nvSpPr>
            <p:cNvPr id="59401" name="Line 3"/>
            <p:cNvSpPr>
              <a:spLocks noChangeShapeType="1"/>
            </p:cNvSpPr>
            <p:nvPr/>
          </p:nvSpPr>
          <p:spPr bwMode="auto">
            <a:xfrm>
              <a:off x="4038600" y="2195513"/>
              <a:ext cx="0" cy="3657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2" name="Line 4"/>
            <p:cNvSpPr>
              <a:spLocks noChangeShapeType="1"/>
            </p:cNvSpPr>
            <p:nvPr/>
          </p:nvSpPr>
          <p:spPr bwMode="auto">
            <a:xfrm>
              <a:off x="1009650" y="5867400"/>
              <a:ext cx="61293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3" name="Text Box 5"/>
            <p:cNvSpPr txBox="1">
              <a:spLocks noChangeArrowheads="1"/>
            </p:cNvSpPr>
            <p:nvPr/>
          </p:nvSpPr>
          <p:spPr bwMode="auto">
            <a:xfrm>
              <a:off x="7196138" y="5819775"/>
              <a:ext cx="1709737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</a:p>
          </p:txBody>
        </p:sp>
        <p:sp>
          <p:nvSpPr>
            <p:cNvPr id="59404" name="Text Box 6"/>
            <p:cNvSpPr txBox="1">
              <a:spLocks noChangeArrowheads="1"/>
            </p:cNvSpPr>
            <p:nvPr/>
          </p:nvSpPr>
          <p:spPr bwMode="auto">
            <a:xfrm>
              <a:off x="3842823" y="1843088"/>
              <a:ext cx="8445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 i="1"/>
                <a:t>f</a:t>
              </a:r>
              <a:r>
                <a:rPr lang="en-US" altLang="en-US" sz="1800"/>
                <a:t>(</a:t>
              </a:r>
              <a:r>
                <a:rPr lang="en-US" altLang="en-US" sz="1800" i="1"/>
                <a:t>x</a:t>
              </a:r>
              <a:r>
                <a:rPr lang="en-US" altLang="en-US" sz="1800"/>
                <a:t>)</a:t>
              </a:r>
              <a:endParaRPr lang="en-US" altLang="en-US" sz="1800" i="1"/>
            </a:p>
          </p:txBody>
        </p:sp>
        <p:graphicFrame>
          <p:nvGraphicFramePr>
            <p:cNvPr id="206855" name="Object 2"/>
            <p:cNvGraphicFramePr>
              <a:graphicFrameLocks noChangeAspect="1"/>
            </p:cNvGraphicFramePr>
            <p:nvPr/>
          </p:nvGraphicFramePr>
          <p:xfrm>
            <a:off x="4974310" y="2434281"/>
            <a:ext cx="3475953" cy="12630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08" name="Equation" r:id="rId3" imgW="1155600" imgH="419040" progId="Equation.DSMT4">
                    <p:embed/>
                  </p:oleObj>
                </mc:Choice>
                <mc:Fallback>
                  <p:oleObj name="Equation" r:id="rId3" imgW="115560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4310" y="2434281"/>
                          <a:ext cx="3475953" cy="12630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5" name="Text Box 11"/>
            <p:cNvSpPr txBox="1">
              <a:spLocks noChangeArrowheads="1"/>
            </p:cNvSpPr>
            <p:nvPr/>
          </p:nvSpPr>
          <p:spPr bwMode="auto">
            <a:xfrm>
              <a:off x="3568700" y="5929313"/>
              <a:ext cx="990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sz="1800" dirty="0" smtClean="0">
                  <a:solidFill>
                    <a:srgbClr val="177B21"/>
                  </a:solidFill>
                  <a:sym typeface="Symbol" pitchFamily="18" charset="2"/>
                </a:rPr>
                <a:t>E(x) =0</a:t>
              </a:r>
              <a:endParaRPr lang="en-US" altLang="en-US" sz="1800" dirty="0">
                <a:solidFill>
                  <a:srgbClr val="177B21"/>
                </a:solidFill>
                <a:sym typeface="Symbol" pitchFamily="18" charset="2"/>
              </a:endParaRPr>
            </a:p>
          </p:txBody>
        </p:sp>
        <p:sp>
          <p:nvSpPr>
            <p:cNvPr id="59406" name="Freeform 13"/>
            <p:cNvSpPr>
              <a:spLocks/>
            </p:cNvSpPr>
            <p:nvPr/>
          </p:nvSpPr>
          <p:spPr bwMode="auto">
            <a:xfrm>
              <a:off x="1819275" y="3937000"/>
              <a:ext cx="2232025" cy="1452563"/>
            </a:xfrm>
            <a:custGeom>
              <a:avLst/>
              <a:gdLst>
                <a:gd name="T0" fmla="*/ 0 w 1032"/>
                <a:gd name="T1" fmla="*/ 2147483647 h 991"/>
                <a:gd name="T2" fmla="*/ 2147483647 w 1032"/>
                <a:gd name="T3" fmla="*/ 2147483647 h 991"/>
                <a:gd name="T4" fmla="*/ 2147483647 w 1032"/>
                <a:gd name="T5" fmla="*/ 2147483647 h 991"/>
                <a:gd name="T6" fmla="*/ 2147483647 w 1032"/>
                <a:gd name="T7" fmla="*/ 2147483647 h 991"/>
                <a:gd name="T8" fmla="*/ 2147483647 w 1032"/>
                <a:gd name="T9" fmla="*/ 2147483647 h 991"/>
                <a:gd name="T10" fmla="*/ 2147483647 w 1032"/>
                <a:gd name="T11" fmla="*/ 2147483647 h 991"/>
                <a:gd name="T12" fmla="*/ 2147483647 w 1032"/>
                <a:gd name="T13" fmla="*/ 2147483647 h 991"/>
                <a:gd name="T14" fmla="*/ 2147483647 w 1032"/>
                <a:gd name="T15" fmla="*/ 2147483647 h 991"/>
                <a:gd name="T16" fmla="*/ 2147483647 w 1032"/>
                <a:gd name="T17" fmla="*/ 2147483647 h 991"/>
                <a:gd name="T18" fmla="*/ 2147483647 w 1032"/>
                <a:gd name="T19" fmla="*/ 2147483647 h 991"/>
                <a:gd name="T20" fmla="*/ 2147483647 w 1032"/>
                <a:gd name="T21" fmla="*/ 2147483647 h 991"/>
                <a:gd name="T22" fmla="*/ 2147483647 w 1032"/>
                <a:gd name="T23" fmla="*/ 2147483647 h 991"/>
                <a:gd name="T24" fmla="*/ 2147483647 w 1032"/>
                <a:gd name="T25" fmla="*/ 2147483647 h 991"/>
                <a:gd name="T26" fmla="*/ 2147483647 w 1032"/>
                <a:gd name="T27" fmla="*/ 2147483647 h 991"/>
                <a:gd name="T28" fmla="*/ 2147483647 w 1032"/>
                <a:gd name="T29" fmla="*/ 2147483647 h 991"/>
                <a:gd name="T30" fmla="*/ 2147483647 w 1032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2"/>
                <a:gd name="T49" fmla="*/ 0 h 991"/>
                <a:gd name="T50" fmla="*/ 1032 w 1032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2" h="991">
                  <a:moveTo>
                    <a:pt x="0" y="990"/>
                  </a:moveTo>
                  <a:lnTo>
                    <a:pt x="108" y="980"/>
                  </a:lnTo>
                  <a:lnTo>
                    <a:pt x="163" y="967"/>
                  </a:lnTo>
                  <a:lnTo>
                    <a:pt x="218" y="952"/>
                  </a:lnTo>
                  <a:lnTo>
                    <a:pt x="271" y="929"/>
                  </a:lnTo>
                  <a:lnTo>
                    <a:pt x="326" y="897"/>
                  </a:lnTo>
                  <a:lnTo>
                    <a:pt x="381" y="857"/>
                  </a:lnTo>
                  <a:lnTo>
                    <a:pt x="488" y="743"/>
                  </a:lnTo>
                  <a:lnTo>
                    <a:pt x="596" y="581"/>
                  </a:lnTo>
                  <a:lnTo>
                    <a:pt x="706" y="386"/>
                  </a:lnTo>
                  <a:lnTo>
                    <a:pt x="759" y="287"/>
                  </a:lnTo>
                  <a:lnTo>
                    <a:pt x="814" y="196"/>
                  </a:lnTo>
                  <a:lnTo>
                    <a:pt x="868" y="116"/>
                  </a:lnTo>
                  <a:lnTo>
                    <a:pt x="921" y="53"/>
                  </a:lnTo>
                  <a:lnTo>
                    <a:pt x="976" y="13"/>
                  </a:lnTo>
                  <a:lnTo>
                    <a:pt x="1031" y="0"/>
                  </a:lnTo>
                </a:path>
              </a:pathLst>
            </a:custGeom>
            <a:noFill/>
            <a:ln w="50800" cap="rnd" cmpd="sng">
              <a:solidFill>
                <a:srgbClr val="177B2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7" name="Freeform 14"/>
            <p:cNvSpPr>
              <a:spLocks/>
            </p:cNvSpPr>
            <p:nvPr/>
          </p:nvSpPr>
          <p:spPr bwMode="auto">
            <a:xfrm>
              <a:off x="4029075" y="3933825"/>
              <a:ext cx="2227263" cy="1452563"/>
            </a:xfrm>
            <a:custGeom>
              <a:avLst/>
              <a:gdLst>
                <a:gd name="T0" fmla="*/ 2147483647 w 1030"/>
                <a:gd name="T1" fmla="*/ 2147483647 h 991"/>
                <a:gd name="T2" fmla="*/ 2147483647 w 1030"/>
                <a:gd name="T3" fmla="*/ 2147483647 h 991"/>
                <a:gd name="T4" fmla="*/ 2147483647 w 1030"/>
                <a:gd name="T5" fmla="*/ 2147483647 h 991"/>
                <a:gd name="T6" fmla="*/ 2147483647 w 1030"/>
                <a:gd name="T7" fmla="*/ 2147483647 h 991"/>
                <a:gd name="T8" fmla="*/ 2147483647 w 1030"/>
                <a:gd name="T9" fmla="*/ 2147483647 h 991"/>
                <a:gd name="T10" fmla="*/ 2147483647 w 1030"/>
                <a:gd name="T11" fmla="*/ 2147483647 h 991"/>
                <a:gd name="T12" fmla="*/ 2147483647 w 1030"/>
                <a:gd name="T13" fmla="*/ 2147483647 h 991"/>
                <a:gd name="T14" fmla="*/ 2147483647 w 1030"/>
                <a:gd name="T15" fmla="*/ 2147483647 h 991"/>
                <a:gd name="T16" fmla="*/ 2147483647 w 1030"/>
                <a:gd name="T17" fmla="*/ 2147483647 h 991"/>
                <a:gd name="T18" fmla="*/ 2147483647 w 1030"/>
                <a:gd name="T19" fmla="*/ 2147483647 h 991"/>
                <a:gd name="T20" fmla="*/ 2147483647 w 1030"/>
                <a:gd name="T21" fmla="*/ 2147483647 h 991"/>
                <a:gd name="T22" fmla="*/ 2147483647 w 1030"/>
                <a:gd name="T23" fmla="*/ 2147483647 h 991"/>
                <a:gd name="T24" fmla="*/ 2147483647 w 1030"/>
                <a:gd name="T25" fmla="*/ 2147483647 h 991"/>
                <a:gd name="T26" fmla="*/ 2147483647 w 1030"/>
                <a:gd name="T27" fmla="*/ 2147483647 h 991"/>
                <a:gd name="T28" fmla="*/ 2147483647 w 1030"/>
                <a:gd name="T29" fmla="*/ 2147483647 h 991"/>
                <a:gd name="T30" fmla="*/ 0 w 1030"/>
                <a:gd name="T31" fmla="*/ 0 h 9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0"/>
                <a:gd name="T49" fmla="*/ 0 h 991"/>
                <a:gd name="T50" fmla="*/ 1030 w 1030"/>
                <a:gd name="T51" fmla="*/ 991 h 9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0" h="991">
                  <a:moveTo>
                    <a:pt x="1029" y="990"/>
                  </a:moveTo>
                  <a:lnTo>
                    <a:pt x="921" y="980"/>
                  </a:lnTo>
                  <a:lnTo>
                    <a:pt x="866" y="967"/>
                  </a:lnTo>
                  <a:lnTo>
                    <a:pt x="813" y="952"/>
                  </a:lnTo>
                  <a:lnTo>
                    <a:pt x="758" y="929"/>
                  </a:lnTo>
                  <a:lnTo>
                    <a:pt x="703" y="897"/>
                  </a:lnTo>
                  <a:lnTo>
                    <a:pt x="651" y="857"/>
                  </a:lnTo>
                  <a:lnTo>
                    <a:pt x="541" y="743"/>
                  </a:lnTo>
                  <a:lnTo>
                    <a:pt x="433" y="581"/>
                  </a:lnTo>
                  <a:lnTo>
                    <a:pt x="325" y="386"/>
                  </a:lnTo>
                  <a:lnTo>
                    <a:pt x="270" y="287"/>
                  </a:lnTo>
                  <a:lnTo>
                    <a:pt x="215" y="196"/>
                  </a:lnTo>
                  <a:lnTo>
                    <a:pt x="163" y="116"/>
                  </a:lnTo>
                  <a:lnTo>
                    <a:pt x="108" y="53"/>
                  </a:lnTo>
                  <a:lnTo>
                    <a:pt x="53" y="13"/>
                  </a:lnTo>
                  <a:lnTo>
                    <a:pt x="0" y="0"/>
                  </a:lnTo>
                </a:path>
              </a:pathLst>
            </a:custGeom>
            <a:noFill/>
            <a:ln w="50800" cap="rnd" cmpd="sng">
              <a:solidFill>
                <a:srgbClr val="177B2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408" name="Group 19"/>
            <p:cNvGrpSpPr>
              <a:grpSpLocks/>
            </p:cNvGrpSpPr>
            <p:nvPr/>
          </p:nvGrpSpPr>
          <p:grpSpPr bwMode="auto">
            <a:xfrm>
              <a:off x="250825" y="3332163"/>
              <a:ext cx="3763963" cy="901700"/>
              <a:chOff x="158" y="2099"/>
              <a:chExt cx="2371" cy="568"/>
            </a:xfrm>
          </p:grpSpPr>
          <p:sp>
            <p:nvSpPr>
              <p:cNvPr id="59409" name="Line 15"/>
              <p:cNvSpPr>
                <a:spLocks noChangeShapeType="1"/>
              </p:cNvSpPr>
              <p:nvPr/>
            </p:nvSpPr>
            <p:spPr bwMode="auto">
              <a:xfrm flipH="1">
                <a:off x="1269" y="2475"/>
                <a:ext cx="1260" cy="9"/>
              </a:xfrm>
              <a:prstGeom prst="line">
                <a:avLst/>
              </a:prstGeom>
              <a:noFill/>
              <a:ln w="15875">
                <a:solidFill>
                  <a:srgbClr val="177B2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410" name="Text Box 16"/>
              <p:cNvSpPr txBox="1">
                <a:spLocks noChangeArrowheads="1"/>
              </p:cNvSpPr>
              <p:nvPr/>
            </p:nvSpPr>
            <p:spPr bwMode="auto">
              <a:xfrm>
                <a:off x="158" y="2099"/>
                <a:ext cx="112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177B21"/>
                    </a:solidFill>
                  </a:rPr>
                  <a:t>maximum value</a:t>
                </a:r>
              </a:p>
            </p:txBody>
          </p:sp>
          <p:graphicFrame>
            <p:nvGraphicFramePr>
              <p:cNvPr id="59395" name="Object 3"/>
              <p:cNvGraphicFramePr>
                <a:graphicFrameLocks noChangeAspect="1"/>
              </p:cNvGraphicFramePr>
              <p:nvPr/>
            </p:nvGraphicFramePr>
            <p:xfrm>
              <a:off x="424" y="2250"/>
              <a:ext cx="740" cy="4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709" name="Equation" r:id="rId5" imgW="723600" imgH="406080" progId="Equation.3">
                      <p:embed/>
                    </p:oleObj>
                  </mc:Choice>
                  <mc:Fallback>
                    <p:oleObj name="Equation" r:id="rId5" imgW="723600" imgH="4060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4" y="2250"/>
                            <a:ext cx="740" cy="4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195114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Mathematical Statistics</a:t>
            </a:r>
          </a:p>
        </p:txBody>
      </p:sp>
      <p:sp>
        <p:nvSpPr>
          <p:cNvPr id="6042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Expected value of a random variable </a:t>
            </a:r>
          </a:p>
          <a:p>
            <a:pPr lvl="1"/>
            <a:r>
              <a:rPr lang="en-US" altLang="en-US" smtClean="0"/>
              <a:t>The numerical value that the random variable might be expected to have, on average</a:t>
            </a:r>
          </a:p>
          <a:p>
            <a:pPr lvl="1"/>
            <a:r>
              <a:rPr lang="en-US" altLang="en-US" smtClean="0"/>
              <a:t>Measure of central tendency</a:t>
            </a:r>
          </a:p>
          <a:p>
            <a:pPr lvl="1"/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6DA919D-2984-4E2F-9F00-ECD70436D953}" type="slidenum">
              <a:rPr lang="en-US" smtClean="0"/>
              <a:pPr>
                <a:defRPr/>
              </a:pPr>
              <a:t>120</a:t>
            </a:fld>
            <a:endParaRPr lang="en-US"/>
          </a:p>
        </p:txBody>
      </p:sp>
      <p:graphicFrame>
        <p:nvGraphicFramePr>
          <p:cNvPr id="20787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932067"/>
              </p:ext>
            </p:extLst>
          </p:nvPr>
        </p:nvGraphicFramePr>
        <p:xfrm>
          <a:off x="920750" y="4225925"/>
          <a:ext cx="3278188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28" name="Equation" r:id="rId3" imgW="1180800" imgH="660240" progId="Equation.DSMT4">
                  <p:embed/>
                </p:oleObj>
              </mc:Choice>
              <mc:Fallback>
                <p:oleObj name="Equation" r:id="rId3" imgW="118080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4225925"/>
                        <a:ext cx="3278188" cy="183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7" name="Object 3"/>
          <p:cNvGraphicFramePr>
            <a:graphicFrameLocks noChangeAspect="1"/>
          </p:cNvGraphicFramePr>
          <p:nvPr/>
        </p:nvGraphicFramePr>
        <p:xfrm>
          <a:off x="5035550" y="4225925"/>
          <a:ext cx="3419475" cy="190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29" name="Equation" r:id="rId5" imgW="1231560" imgH="685800" progId="Equation.DSMT4">
                  <p:embed/>
                </p:oleObj>
              </mc:Choice>
              <mc:Fallback>
                <p:oleObj name="Equation" r:id="rId5" imgW="123156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0" y="4225925"/>
                        <a:ext cx="3419475" cy="190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412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Mathematical Statistics</a:t>
            </a:r>
          </a:p>
        </p:txBody>
      </p:sp>
      <p:sp>
        <p:nvSpPr>
          <p:cNvPr id="6144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Expected value of a random variable </a:t>
            </a:r>
          </a:p>
          <a:p>
            <a:pPr lvl="1"/>
            <a:r>
              <a:rPr lang="en-US" altLang="en-US" smtClean="0"/>
              <a:t>Extended to function of random variables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5758FB1-2702-4355-ABC4-49373AA18375}" type="slidenum">
              <a:rPr lang="en-US" smtClean="0"/>
              <a:pPr>
                <a:defRPr/>
              </a:pPr>
              <a:t>121</a:t>
            </a:fld>
            <a:endParaRPr lang="en-US"/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05058"/>
              </p:ext>
            </p:extLst>
          </p:nvPr>
        </p:nvGraphicFramePr>
        <p:xfrm>
          <a:off x="538163" y="2472707"/>
          <a:ext cx="8301037" cy="3081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7" name="Equation" r:id="rId3" imgW="3187440" imgH="1180800" progId="Equation.DSMT4">
                  <p:embed/>
                </p:oleObj>
              </mc:Choice>
              <mc:Fallback>
                <p:oleObj name="Equation" r:id="rId3" imgW="3187440" imgH="1180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2472707"/>
                        <a:ext cx="8301037" cy="3081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2076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Mathematical Statistics</a:t>
            </a:r>
          </a:p>
        </p:txBody>
      </p:sp>
      <p:sp>
        <p:nvSpPr>
          <p:cNvPr id="624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Expected value of a random variable </a:t>
            </a:r>
          </a:p>
          <a:p>
            <a:pPr lvl="1"/>
            <a:r>
              <a:rPr lang="en-US" altLang="en-US" dirty="0" smtClean="0"/>
              <a:t>Phrased in terms of the </a:t>
            </a:r>
            <a:r>
              <a:rPr lang="en-US" altLang="en-US" u="sng" dirty="0" smtClean="0"/>
              <a:t>cumulative distribution function</a:t>
            </a:r>
            <a:r>
              <a:rPr lang="en-US" altLang="en-US" dirty="0" smtClean="0"/>
              <a:t> (CDF) F(x) </a:t>
            </a:r>
          </a:p>
          <a:p>
            <a:pPr lvl="2"/>
            <a:r>
              <a:rPr lang="en-US" altLang="en-US" dirty="0" smtClean="0"/>
              <a:t>F(x) represents the probability that the random variable t is less than or equal to x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55F6D78-6AC5-4E7B-8F39-691E0831E62A}" type="slidenum">
              <a:rPr lang="en-US" smtClean="0"/>
              <a:pPr>
                <a:defRPr/>
              </a:pPr>
              <a:t>122</a:t>
            </a:fld>
            <a:endParaRPr lang="en-US"/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619109"/>
              </p:ext>
            </p:extLst>
          </p:nvPr>
        </p:nvGraphicFramePr>
        <p:xfrm>
          <a:off x="606425" y="3694113"/>
          <a:ext cx="7305675" cy="260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8" name="Equation" r:id="rId3" imgW="2641320" imgH="939600" progId="Equation.DSMT4">
                  <p:embed/>
                </p:oleObj>
              </mc:Choice>
              <mc:Fallback>
                <p:oleObj name="Equation" r:id="rId3" imgW="264132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25" y="3694113"/>
                        <a:ext cx="7305675" cy="2605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145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764344" y="0"/>
            <a:ext cx="7379656" cy="9906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 smtClean="0"/>
              <a:t>2.15   Expected Values of a Few Random 	</a:t>
            </a:r>
            <a:r>
              <a:rPr lang="en-US" dirty="0" smtClean="0">
                <a:solidFill>
                  <a:srgbClr val="002D56"/>
                </a:solidFill>
              </a:rPr>
              <a:t>Variables</a:t>
            </a:r>
            <a:endParaRPr lang="en-US" dirty="0">
              <a:solidFill>
                <a:srgbClr val="002D5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FC01A0A-9069-48A9-B7D2-3F3433B9B71B}" type="slidenum">
              <a:rPr lang="en-US" smtClean="0"/>
              <a:pPr>
                <a:defRPr/>
              </a:pPr>
              <a:t>123</a:t>
            </a:fld>
            <a:endParaRPr lang="en-US"/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88195"/>
              </p:ext>
            </p:extLst>
          </p:nvPr>
        </p:nvGraphicFramePr>
        <p:xfrm>
          <a:off x="457200" y="1137412"/>
          <a:ext cx="8153400" cy="472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6" name="Equation" r:id="rId3" imgW="2933640" imgH="1701720" progId="Equation.DSMT4">
                  <p:embed/>
                </p:oleObj>
              </mc:Choice>
              <mc:Fallback>
                <p:oleObj name="Equation" r:id="rId3" imgW="2933640" imgH="1701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37412"/>
                        <a:ext cx="8153400" cy="472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3091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Mathematical Statistics</a:t>
            </a:r>
          </a:p>
        </p:txBody>
      </p:sp>
      <p:sp>
        <p:nvSpPr>
          <p:cNvPr id="6451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Variance</a:t>
            </a:r>
          </a:p>
          <a:p>
            <a:pPr lvl="1"/>
            <a:r>
              <a:rPr lang="en-US" altLang="en-US" dirty="0" smtClean="0"/>
              <a:t>A measure of dispersion</a:t>
            </a:r>
          </a:p>
          <a:p>
            <a:pPr lvl="1"/>
            <a:r>
              <a:rPr lang="en-US" altLang="en-US" dirty="0" smtClean="0"/>
              <a:t>The expected squared deviation of a random variable from its expected value</a:t>
            </a:r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7B9B104-A42B-4F25-967A-1E9B02102CCA}" type="slidenum">
              <a:rPr lang="en-US" smtClean="0"/>
              <a:pPr>
                <a:defRPr/>
              </a:pPr>
              <a:t>124</a:t>
            </a:fld>
            <a:endParaRPr lang="en-US"/>
          </a:p>
        </p:txBody>
      </p:sp>
      <p:graphicFrame>
        <p:nvGraphicFramePr>
          <p:cNvPr id="2099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233531"/>
              </p:ext>
            </p:extLst>
          </p:nvPr>
        </p:nvGraphicFramePr>
        <p:xfrm>
          <a:off x="457200" y="3513668"/>
          <a:ext cx="8520113" cy="113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9" name="Equation" r:id="rId3" imgW="3441600" imgH="457200" progId="Equation.DSMT4">
                  <p:embed/>
                </p:oleObj>
              </mc:Choice>
              <mc:Fallback>
                <p:oleObj name="Equation" r:id="rId3" imgW="3441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13668"/>
                        <a:ext cx="8520113" cy="1132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734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Mathematical Statistics</a:t>
            </a:r>
          </a:p>
        </p:txBody>
      </p:sp>
      <p:sp>
        <p:nvSpPr>
          <p:cNvPr id="6554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Variance, </a:t>
            </a:r>
            <a:r>
              <a:rPr lang="en-US" altLang="en-US" i="1" smtClean="0"/>
              <a:t>Var(x)</a:t>
            </a:r>
          </a:p>
          <a:p>
            <a:pPr lvl="1"/>
            <a:r>
              <a:rPr lang="en-US" altLang="en-US" smtClean="0"/>
              <a:t>A measure of dispersion</a:t>
            </a:r>
          </a:p>
          <a:p>
            <a:pPr lvl="1"/>
            <a:r>
              <a:rPr lang="en-US" altLang="en-US" smtClean="0"/>
              <a:t>The expected squared deviation of a random variable from its expected value</a:t>
            </a:r>
          </a:p>
          <a:p>
            <a:r>
              <a:rPr lang="en-US" altLang="en-US" smtClean="0"/>
              <a:t>Standard deviation, </a:t>
            </a:r>
            <a:r>
              <a:rPr lang="el-GR" altLang="en-US" smtClean="0"/>
              <a:t>σ</a:t>
            </a:r>
            <a:endParaRPr lang="en-US" altLang="en-US" smtClean="0"/>
          </a:p>
          <a:p>
            <a:pPr lvl="1"/>
            <a:r>
              <a:rPr lang="en-US" altLang="en-US" smtClean="0"/>
              <a:t>The square root of the variance</a:t>
            </a: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025BE4-E7CF-4F23-A0B6-53AD6DF3ECF5}" type="slidenum">
              <a:rPr lang="en-US" smtClean="0"/>
              <a:pPr>
                <a:defRPr/>
              </a:pPr>
              <a:t>125</a:t>
            </a:fld>
            <a:endParaRPr lang="en-US"/>
          </a:p>
        </p:txBody>
      </p:sp>
      <p:graphicFrame>
        <p:nvGraphicFramePr>
          <p:cNvPr id="2099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745668"/>
              </p:ext>
            </p:extLst>
          </p:nvPr>
        </p:nvGraphicFramePr>
        <p:xfrm>
          <a:off x="533400" y="4495800"/>
          <a:ext cx="8261350" cy="185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3" name="Equation" r:id="rId3" imgW="3504960" imgH="787320" progId="Equation.DSMT4">
                  <p:embed/>
                </p:oleObj>
              </mc:Choice>
              <mc:Fallback>
                <p:oleObj name="Equation" r:id="rId3" imgW="350496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95800"/>
                        <a:ext cx="8261350" cy="185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282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2.16 	Variances and Standard Deviations for 	</a:t>
            </a:r>
            <a:r>
              <a:rPr lang="en-US" altLang="en-US" dirty="0" smtClean="0">
                <a:solidFill>
                  <a:srgbClr val="002D56"/>
                </a:solidFill>
              </a:rPr>
              <a:t>Simple Random Variables</a:t>
            </a:r>
          </a:p>
        </p:txBody>
      </p:sp>
      <p:sp>
        <p:nvSpPr>
          <p:cNvPr id="6656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B6860EFD-D573-462A-B18D-78F4664DF9D0}" type="slidenum">
              <a:rPr lang="en-US" smtClean="0"/>
              <a:pPr>
                <a:defRPr/>
              </a:pPr>
              <a:t>126</a:t>
            </a:fld>
            <a:endParaRPr lang="en-US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350800"/>
              </p:ext>
            </p:extLst>
          </p:nvPr>
        </p:nvGraphicFramePr>
        <p:xfrm>
          <a:off x="452438" y="1060450"/>
          <a:ext cx="8542337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38" name="Equation" r:id="rId3" imgW="3352680" imgH="1955520" progId="Equation.DSMT4">
                  <p:embed/>
                </p:oleObj>
              </mc:Choice>
              <mc:Fallback>
                <p:oleObj name="Equation" r:id="rId3" imgW="3352680" imgH="1955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8" y="1060450"/>
                        <a:ext cx="8542337" cy="498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342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2.16 	Variances and Standard Deviations for 	</a:t>
            </a:r>
            <a:r>
              <a:rPr lang="en-US" altLang="en-US" dirty="0" smtClean="0">
                <a:solidFill>
                  <a:srgbClr val="002D56"/>
                </a:solidFill>
              </a:rPr>
              <a:t>Simple Random Variables</a:t>
            </a:r>
          </a:p>
        </p:txBody>
      </p:sp>
      <p:sp>
        <p:nvSpPr>
          <p:cNvPr id="67590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419004CA-7209-482B-A2F3-1B2AF7D9DF2F}" type="slidenum">
              <a:rPr lang="en-US" smtClean="0"/>
              <a:pPr>
                <a:defRPr/>
              </a:pPr>
              <a:t>127</a:t>
            </a:fld>
            <a:endParaRPr lang="en-US" dirty="0"/>
          </a:p>
        </p:txBody>
      </p:sp>
      <p:sp>
        <p:nvSpPr>
          <p:cNvPr id="67588" name="Content Placeholder 6"/>
          <p:cNvSpPr>
            <a:spLocks noGrp="1"/>
          </p:cNvSpPr>
          <p:nvPr>
            <p:ph type="body" sz="quarter" idx="12"/>
          </p:nvPr>
        </p:nvSpPr>
        <p:spPr>
          <a:xfrm>
            <a:off x="381000" y="1143000"/>
            <a:ext cx="8382000" cy="52578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Standardizing the Normal</a:t>
            </a:r>
          </a:p>
          <a:p>
            <a:pPr lvl="1"/>
            <a:r>
              <a:rPr lang="en-US" altLang="en-US" dirty="0" smtClean="0"/>
              <a:t>If the random variable x has a standard Normal PDF</a:t>
            </a:r>
          </a:p>
          <a:p>
            <a:pPr lvl="2"/>
            <a:r>
              <a:rPr lang="en-US" altLang="en-US" dirty="0" smtClean="0"/>
              <a:t>It will have an expected value of 0 </a:t>
            </a:r>
          </a:p>
          <a:p>
            <a:pPr lvl="2"/>
            <a:r>
              <a:rPr lang="en-US" altLang="en-US" dirty="0" smtClean="0"/>
              <a:t>And a standard deviation of 1</a:t>
            </a:r>
          </a:p>
          <a:p>
            <a:pPr lvl="1"/>
            <a:r>
              <a:rPr lang="en-US" altLang="en-US" dirty="0" smtClean="0"/>
              <a:t>Linear transformation y =</a:t>
            </a:r>
            <a:r>
              <a:rPr lang="el-GR" altLang="en-US" dirty="0" smtClean="0"/>
              <a:t>σ</a:t>
            </a:r>
            <a:r>
              <a:rPr lang="en-US" altLang="en-US" dirty="0" smtClean="0"/>
              <a:t>x + </a:t>
            </a:r>
            <a:r>
              <a:rPr lang="el-GR" altLang="en-US" dirty="0" smtClean="0"/>
              <a:t>μ 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Used to give this random variable any desired expected value (</a:t>
            </a:r>
            <a:r>
              <a:rPr lang="el-GR" altLang="en-US" dirty="0" smtClean="0"/>
              <a:t>μ</a:t>
            </a:r>
            <a:r>
              <a:rPr lang="en-US" altLang="en-US" dirty="0" smtClean="0"/>
              <a:t>) and standard deviation (</a:t>
            </a:r>
            <a:r>
              <a:rPr lang="el-GR" altLang="en-US" dirty="0" smtClean="0"/>
              <a:t>σ</a:t>
            </a:r>
            <a:r>
              <a:rPr lang="en-US" altLang="en-US" dirty="0" smtClean="0"/>
              <a:t>)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960438" y="4900613"/>
          <a:ext cx="5230812" cy="138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2" name="Equation" r:id="rId3" imgW="1815840" imgH="482400" progId="Equation.DSMT4">
                  <p:embed/>
                </p:oleObj>
              </mc:Choice>
              <mc:Fallback>
                <p:oleObj name="Equation" r:id="rId3" imgW="18158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4900613"/>
                        <a:ext cx="5230812" cy="1389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147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Mathematical Statistics</a:t>
            </a:r>
          </a:p>
        </p:txBody>
      </p:sp>
      <p:sp>
        <p:nvSpPr>
          <p:cNvPr id="6861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Covariance</a:t>
            </a:r>
          </a:p>
          <a:p>
            <a:pPr lvl="1"/>
            <a:r>
              <a:rPr lang="en-US" altLang="en-US" dirty="0" smtClean="0"/>
              <a:t>Between two continuous random variables (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)</a:t>
            </a:r>
          </a:p>
          <a:p>
            <a:pPr lvl="1"/>
            <a:r>
              <a:rPr lang="en-US" altLang="en-US" dirty="0" smtClean="0"/>
              <a:t>Measures the direction of association between them</a:t>
            </a:r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626A10-1B29-4E67-99F5-C03D5F569990}" type="slidenum">
              <a:rPr lang="en-US" smtClean="0"/>
              <a:pPr>
                <a:defRPr/>
              </a:pPr>
              <a:t>128</a:t>
            </a:fld>
            <a:endParaRPr lang="en-US"/>
          </a:p>
        </p:txBody>
      </p:sp>
      <p:graphicFrame>
        <p:nvGraphicFramePr>
          <p:cNvPr id="2140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441718"/>
              </p:ext>
            </p:extLst>
          </p:nvPr>
        </p:nvGraphicFramePr>
        <p:xfrm>
          <a:off x="380999" y="4350151"/>
          <a:ext cx="8194675" cy="1136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85" name="Equation" r:id="rId3" imgW="3301920" imgH="457200" progId="Equation.DSMT4">
                  <p:embed/>
                </p:oleObj>
              </mc:Choice>
              <mc:Fallback>
                <p:oleObj name="Equation" r:id="rId3" imgW="33019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99" y="4350151"/>
                        <a:ext cx="8194675" cy="1136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200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Mathematical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411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Two random variables are </a:t>
                </a:r>
                <a:r>
                  <a:rPr lang="en-US" altLang="en-US" u="sng" dirty="0" smtClean="0"/>
                  <a:t>independent</a:t>
                </a:r>
              </a:p>
              <a:p>
                <a:pPr lvl="1"/>
                <a:r>
                  <a:rPr lang="en-US" altLang="en-US" dirty="0" smtClean="0"/>
                  <a:t>If the probability of any particular value of one is not affected by the particular value of the other than may occur</a:t>
                </a:r>
              </a:p>
              <a:p>
                <a:pPr lvl="1"/>
                <a:r>
                  <a:rPr lang="en-US" altLang="en-US" dirty="0" smtClean="0"/>
                  <a:t>This means that the PDF must have the property that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err="1" smtClean="0">
                        <a:latin typeface="Cambria Math"/>
                      </a:rPr>
                      <m:t>𝑥</m:t>
                    </m:r>
                    <m:r>
                      <a:rPr lang="en-US" altLang="en-US" i="1" dirty="0" err="1" smtClean="0">
                        <a:latin typeface="Cambria Math"/>
                      </a:rPr>
                      <m:t>,</m:t>
                    </m:r>
                    <m:r>
                      <a:rPr lang="en-US" altLang="en-US" i="1" dirty="0" err="1" smtClean="0"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latin typeface="Cambria Math"/>
                      </a:rPr>
                      <m:t>)=</m:t>
                    </m:r>
                    <m:r>
                      <a:rPr lang="en-US" altLang="en-US" i="1" dirty="0" smtClean="0">
                        <a:latin typeface="Cambria Math"/>
                      </a:rPr>
                      <m:t>𝑔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dirty="0" smtClean="0">
                        <a:latin typeface="Cambria Math"/>
                      </a:rPr>
                      <m:t>)·</m:t>
                    </m:r>
                    <m:r>
                      <a:rPr lang="en-US" altLang="en-US" i="1" dirty="0" smtClean="0">
                        <a:latin typeface="Cambria Math"/>
                      </a:rPr>
                      <m:t>h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altLang="en-US" i="1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𝐶𝑜𝑣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err="1" smtClean="0">
                        <a:latin typeface="Cambria Math"/>
                      </a:rPr>
                      <m:t>𝑥</m:t>
                    </m:r>
                    <m:r>
                      <a:rPr lang="en-US" altLang="en-US" i="1" dirty="0" err="1" smtClean="0">
                        <a:latin typeface="Cambria Math"/>
                      </a:rPr>
                      <m:t>,</m:t>
                    </m:r>
                    <m:r>
                      <a:rPr lang="en-US" altLang="en-US" i="1" dirty="0" err="1" smtClean="0">
                        <a:latin typeface="Cambria Math"/>
                      </a:rPr>
                      <m:t>𝑦</m:t>
                    </m:r>
                    <m:r>
                      <a:rPr lang="en-US" altLang="en-US" i="1" dirty="0" smtClean="0">
                        <a:latin typeface="Cambria Math"/>
                      </a:rPr>
                      <m:t>) = 0</m:t>
                    </m:r>
                  </m:oMath>
                </a14:m>
                <a:endParaRPr lang="en-US" altLang="en-US" i="1" dirty="0" smtClean="0"/>
              </a:p>
              <a:p>
                <a:pPr lvl="2"/>
                <a:r>
                  <a:rPr lang="en-US" altLang="en-US" dirty="0" smtClean="0"/>
                  <a:t>Not sufficient to guarantee the two variables are statistically independent</a:t>
                </a:r>
              </a:p>
              <a:p>
                <a:endParaRPr lang="en-US" altLang="en-US" dirty="0" smtClean="0"/>
              </a:p>
              <a:p>
                <a:endParaRPr lang="en-US" altLang="en-US" dirty="0" smtClean="0"/>
              </a:p>
              <a:p>
                <a:endParaRPr lang="en-US" altLang="en-US" dirty="0" smtClean="0"/>
              </a:p>
              <a:p>
                <a:endParaRPr lang="en-US" altLang="en-US" dirty="0" smtClean="0"/>
              </a:p>
            </p:txBody>
          </p:sp>
        </mc:Choice>
        <mc:Fallback xmlns="">
          <p:sp>
            <p:nvSpPr>
              <p:cNvPr id="14541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00D05AF-BAA3-42BE-8BB3-650846F32AA3}" type="slidenum">
              <a:rPr lang="en-US" smtClean="0"/>
              <a:pPr>
                <a:defRPr/>
              </a:pPr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8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Mathematical Statistics</a:t>
            </a:r>
          </a:p>
        </p:txBody>
      </p:sp>
      <p:sp>
        <p:nvSpPr>
          <p:cNvPr id="6963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If x and y are independent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B8CD259-47E0-48F1-BF5C-8E5BFD3A0AAD}" type="slidenum">
              <a:rPr lang="en-US" smtClean="0"/>
              <a:pPr>
                <a:defRPr/>
              </a:pPr>
              <a:t>130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2743200"/>
            <a:ext cx="8534400" cy="3505200"/>
          </a:xfrm>
        </p:spPr>
        <p:txBody>
          <a:bodyPr/>
          <a:lstStyle/>
          <a:p>
            <a:pPr lvl="1"/>
            <a:r>
              <a:rPr lang="en-US" dirty="0"/>
              <a:t>Sum of two random </a:t>
            </a:r>
            <a:r>
              <a:rPr lang="en-US" dirty="0" smtClean="0"/>
              <a:t>variables</a:t>
            </a:r>
            <a:endParaRPr lang="en-US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354013" y="1666875"/>
          <a:ext cx="837565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46" name="Equation" r:id="rId3" imgW="3340080" imgH="457200" progId="Equation.DSMT4">
                  <p:embed/>
                </p:oleObj>
              </mc:Choice>
              <mc:Fallback>
                <p:oleObj name="Equation" r:id="rId3" imgW="3340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1666875"/>
                        <a:ext cx="8375650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995654"/>
              </p:ext>
            </p:extLst>
          </p:nvPr>
        </p:nvGraphicFramePr>
        <p:xfrm>
          <a:off x="288925" y="3251200"/>
          <a:ext cx="7959725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47" name="Equation" r:id="rId5" imgW="3060360" imgH="1168200" progId="Equation.DSMT4">
                  <p:embed/>
                </p:oleObj>
              </mc:Choice>
              <mc:Fallback>
                <p:oleObj name="Equation" r:id="rId5" imgW="3060360" imgH="116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3251200"/>
                        <a:ext cx="7959725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307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dirty="0" smtClean="0"/>
              <a:t>Matrix algebra background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B654C3-74BC-4AF3-8A3E-5B377A1C6666}" type="slidenum">
              <a:rPr lang="en-US" smtClean="0"/>
              <a:pPr>
                <a:defRPr/>
              </a:pPr>
              <a:t>131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660" name="Content Placeholder 2"/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An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×</m:t>
                    </m:r>
                    <m:r>
                      <a:rPr lang="en-US" alt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en-US" dirty="0" smtClean="0"/>
                  <a:t> matrix, A, is a rectangular array of terms</a:t>
                </a:r>
              </a:p>
              <a:p>
                <a:pPr lvl="1"/>
                <a:r>
                  <a:rPr lang="en-US" altLang="en-US" dirty="0" smtClean="0"/>
                  <a:t>With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𝑖</m:t>
                    </m:r>
                    <m:r>
                      <a:rPr lang="en-US" altLang="en-US" i="1" dirty="0" smtClean="0">
                        <a:latin typeface="Cambria Math"/>
                      </a:rPr>
                      <m:t>=1,</m:t>
                    </m:r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en-US" dirty="0" smtClean="0"/>
                  <a:t> </a:t>
                </a:r>
              </a:p>
              <a:p>
                <a:pPr lvl="1"/>
                <a:r>
                  <a:rPr lang="en-US" altLang="en-US" dirty="0" smtClean="0"/>
                  <a:t>With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𝑗</m:t>
                    </m:r>
                    <m:r>
                      <a:rPr lang="en-US" altLang="en-US" i="1" dirty="0" smtClean="0">
                        <a:latin typeface="Cambria Math"/>
                      </a:rPr>
                      <m:t>=1,</m:t>
                    </m:r>
                    <m:r>
                      <a:rPr lang="en-US" altLang="en-US" i="1" dirty="0" smtClean="0">
                        <a:latin typeface="Cambria Math"/>
                      </a:rPr>
                      <m:t>𝑘</m:t>
                    </m:r>
                  </m:oMath>
                </a14:m>
                <a:endParaRPr lang="en-US" altLang="en-US" dirty="0" smtClean="0"/>
              </a:p>
            </p:txBody>
          </p:sp>
        </mc:Choice>
        <mc:Fallback xmlns="">
          <p:sp>
            <p:nvSpPr>
              <p:cNvPr id="7066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 rotWithShape="1">
                <a:blip r:embed="rId3"/>
                <a:stretch>
                  <a:fillRect l="-1673" t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831850" y="3513138"/>
          <a:ext cx="5643563" cy="278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33" name="Equation" r:id="rId4" imgW="1904760" imgH="939600" progId="Equation.DSMT4">
                  <p:embed/>
                </p:oleObj>
              </mc:Choice>
              <mc:Fallback>
                <p:oleObj name="Equation" r:id="rId4" imgW="190476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3513138"/>
                        <a:ext cx="5643563" cy="278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060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Matrix algebra background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BBBAD24-1078-46A8-8953-960AD96D2E77}" type="slidenum">
              <a:rPr lang="en-US" smtClean="0"/>
              <a:pPr>
                <a:defRPr/>
              </a:pPr>
              <a:t>132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435" name="Content Placeholder 2"/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en-US" sz="3300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en-US" sz="3300" i="1" dirty="0" smtClean="0">
                        <a:latin typeface="Cambria Math"/>
                      </a:rPr>
                      <m:t>𝑛</m:t>
                    </m:r>
                    <m:r>
                      <a:rPr lang="en-US" altLang="en-US" sz="3300" i="1" dirty="0" smtClean="0">
                        <a:latin typeface="Cambria Math"/>
                      </a:rPr>
                      <m:t>=</m:t>
                    </m:r>
                    <m:r>
                      <a:rPr lang="en-US" altLang="en-US" sz="33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en-US" sz="3300" dirty="0" smtClean="0"/>
                  <a:t>, A is a square matrix:  </a:t>
                </a:r>
                <a14:m>
                  <m:oMath xmlns:m="http://schemas.openxmlformats.org/officeDocument/2006/math">
                    <m:r>
                      <a:rPr lang="en-US" altLang="en-US" sz="3300" i="1" dirty="0" smtClean="0">
                        <a:latin typeface="Cambria Math"/>
                      </a:rPr>
                      <m:t>𝑎</m:t>
                    </m:r>
                    <m:r>
                      <a:rPr lang="en-US" altLang="en-US" sz="3000" i="1" baseline="-25000" dirty="0" err="1" smtClean="0">
                        <a:latin typeface="Cambria Math"/>
                      </a:rPr>
                      <m:t>𝑖𝑗</m:t>
                    </m:r>
                    <m:r>
                      <a:rPr lang="en-US" altLang="en-US" sz="3300" i="1" dirty="0" smtClean="0">
                        <a:latin typeface="Cambria Math"/>
                      </a:rPr>
                      <m:t>=</m:t>
                    </m:r>
                    <m:r>
                      <a:rPr lang="en-US" altLang="en-US" sz="3300" i="1" dirty="0" err="1" smtClean="0">
                        <a:latin typeface="Cambria Math"/>
                      </a:rPr>
                      <m:t>𝑎</m:t>
                    </m:r>
                    <m:r>
                      <a:rPr lang="en-US" altLang="en-US" sz="3000" i="1" baseline="-25000" dirty="0" err="1" smtClean="0">
                        <a:latin typeface="Cambria Math"/>
                      </a:rPr>
                      <m:t>𝑗𝑖</m:t>
                    </m:r>
                    <m:r>
                      <a:rPr lang="en-US" altLang="en-US" sz="3300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altLang="en-US" sz="3300" dirty="0" smtClean="0"/>
              </a:p>
              <a:p>
                <a:r>
                  <a:rPr lang="en-US" altLang="en-US" sz="3300" dirty="0" smtClean="0"/>
                  <a:t>Identity matrix, </a:t>
                </a:r>
                <a14:m>
                  <m:oMath xmlns:m="http://schemas.openxmlformats.org/officeDocument/2006/math">
                    <m:r>
                      <a:rPr lang="en-US" altLang="en-US" sz="3300" i="1" dirty="0" smtClean="0">
                        <a:latin typeface="Cambria Math"/>
                      </a:rPr>
                      <m:t>𝐼</m:t>
                    </m:r>
                    <m:r>
                      <a:rPr lang="en-US" altLang="en-US" sz="3300" i="1" baseline="-25000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en-US" sz="3300" dirty="0" smtClean="0"/>
                  <a:t> , is a </a:t>
                </a:r>
                <a14:m>
                  <m:oMath xmlns:m="http://schemas.openxmlformats.org/officeDocument/2006/math">
                    <m:r>
                      <a:rPr lang="en-US" altLang="en-US" sz="3300" i="1" dirty="0" smtClean="0">
                        <a:latin typeface="Cambria Math"/>
                      </a:rPr>
                      <m:t>𝑛</m:t>
                    </m:r>
                    <m:r>
                      <a:rPr lang="en-US" altLang="en-US" sz="3300" i="1" dirty="0" smtClean="0">
                        <a:latin typeface="Cambria Math"/>
                      </a:rPr>
                      <m:t>×</m:t>
                    </m:r>
                    <m:r>
                      <a:rPr lang="en-US" altLang="en-US" sz="33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en-US" sz="3300" dirty="0" smtClean="0"/>
                  <a:t> square matrix where</a:t>
                </a:r>
              </a:p>
              <a:p>
                <a:pPr lvl="1"/>
                <a:r>
                  <a:rPr lang="en-US" altLang="en-US" sz="31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sz="3100" i="1" dirty="0" smtClean="0">
                        <a:latin typeface="Cambria Math"/>
                      </a:rPr>
                      <m:t>𝑎</m:t>
                    </m:r>
                    <m:r>
                      <a:rPr lang="en-US" altLang="en-US" sz="2800" i="1" baseline="-25000" dirty="0" err="1" smtClean="0">
                        <a:latin typeface="Cambria Math"/>
                      </a:rPr>
                      <m:t>𝑖𝑗</m:t>
                    </m:r>
                    <m:r>
                      <a:rPr lang="en-US" altLang="en-US" sz="3100" i="1" dirty="0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altLang="en-US" sz="3100" i="1" dirty="0" smtClean="0"/>
                  <a:t> </a:t>
                </a:r>
                <a:r>
                  <a:rPr lang="en-US" altLang="en-US" sz="3100" dirty="0" smtClean="0"/>
                  <a:t>if</a:t>
                </a:r>
                <a:r>
                  <a:rPr lang="en-US" altLang="en-US" sz="3100" i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sz="3100" i="1" dirty="0" smtClean="0">
                        <a:latin typeface="Cambria Math"/>
                      </a:rPr>
                      <m:t>𝑖</m:t>
                    </m:r>
                    <m:r>
                      <a:rPr lang="en-US" altLang="en-US" sz="3100" i="1" dirty="0" smtClean="0">
                        <a:latin typeface="Cambria Math"/>
                      </a:rPr>
                      <m:t>=</m:t>
                    </m:r>
                    <m:r>
                      <a:rPr lang="en-US" altLang="en-US" sz="3100" i="1" dirty="0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altLang="en-US" sz="3100" i="1" dirty="0" smtClean="0"/>
                  <a:t> </a:t>
                </a:r>
                <a:r>
                  <a:rPr lang="en-US" altLang="en-US" sz="3100" dirty="0" smtClean="0"/>
                  <a:t>and</a:t>
                </a:r>
                <a:r>
                  <a:rPr lang="en-US" altLang="en-US" sz="3100" i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sz="3100" i="1" dirty="0" smtClean="0">
                        <a:latin typeface="Cambria Math"/>
                      </a:rPr>
                      <m:t>𝑎</m:t>
                    </m:r>
                    <m:r>
                      <a:rPr lang="en-US" altLang="en-US" sz="2800" i="1" baseline="-25000" dirty="0" err="1" smtClean="0">
                        <a:latin typeface="Cambria Math"/>
                      </a:rPr>
                      <m:t>𝑖𝑗</m:t>
                    </m:r>
                    <m:r>
                      <a:rPr lang="en-US" altLang="en-US" sz="31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altLang="en-US" sz="3100" i="1" dirty="0" smtClean="0"/>
                  <a:t> </a:t>
                </a:r>
                <a:r>
                  <a:rPr lang="en-US" altLang="en-US" sz="3100" dirty="0" smtClean="0"/>
                  <a:t>if</a:t>
                </a:r>
                <a:r>
                  <a:rPr lang="en-US" altLang="en-US" sz="3100" i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sz="3100" i="1" dirty="0" smtClean="0">
                        <a:latin typeface="Cambria Math"/>
                      </a:rPr>
                      <m:t>𝑖</m:t>
                    </m:r>
                    <m:r>
                      <a:rPr lang="en-US" altLang="en-US" sz="3100" i="1" dirty="0" smtClean="0">
                        <a:latin typeface="Cambria Math"/>
                      </a:rPr>
                      <m:t> ≠ </m:t>
                    </m:r>
                    <m:r>
                      <a:rPr lang="en-US" altLang="en-US" sz="3100" i="1" dirty="0" smtClean="0">
                        <a:latin typeface="Cambria Math"/>
                      </a:rPr>
                      <m:t>𝑗</m:t>
                    </m:r>
                  </m:oMath>
                </a14:m>
                <a:endParaRPr lang="en-US" altLang="en-US" sz="3100" i="1" dirty="0" smtClean="0"/>
              </a:p>
              <a:p>
                <a:r>
                  <a:rPr lang="en-US" altLang="en-US" dirty="0" smtClean="0"/>
                  <a:t>The determinant of a square matrix, |A|</a:t>
                </a:r>
              </a:p>
              <a:p>
                <a:pPr lvl="1"/>
                <a:r>
                  <a:rPr lang="en-US" altLang="en-US" dirty="0" smtClean="0"/>
                  <a:t>Is a scalar found by suitably multiplying together all the terms in the matrix</a:t>
                </a:r>
              </a:p>
              <a:p>
                <a:r>
                  <a:rPr lang="en-US" altLang="en-US" dirty="0" smtClean="0"/>
                  <a:t>The inverse of an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×</m:t>
                    </m:r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en-US" dirty="0" smtClean="0"/>
                  <a:t>matrix, A, </a:t>
                </a:r>
              </a:p>
              <a:p>
                <a:pPr lvl="1"/>
                <a:r>
                  <a:rPr lang="en-US" altLang="en-US" dirty="0" smtClean="0"/>
                  <a:t>Is another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×</m:t>
                    </m:r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en-US" dirty="0" smtClean="0"/>
                  <a:t> matrix, A</a:t>
                </a:r>
                <a:r>
                  <a:rPr lang="en-US" altLang="en-US" baseline="30000" dirty="0" smtClean="0"/>
                  <a:t>-1</a:t>
                </a:r>
                <a:r>
                  <a:rPr lang="en-US" altLang="en-US" dirty="0" smtClean="0"/>
                  <a:t>, </a:t>
                </a:r>
              </a:p>
              <a:p>
                <a:pPr lvl="1"/>
                <a:r>
                  <a:rPr lang="en-US" altLang="en-US" dirty="0" smtClean="0"/>
                  <a:t>Such that: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𝐴</m:t>
                    </m:r>
                    <m:r>
                      <a:rPr lang="en-US" altLang="en-US" i="1" dirty="0" smtClean="0">
                        <a:latin typeface="Cambria Math"/>
                      </a:rPr>
                      <m:t>×</m:t>
                    </m:r>
                    <m:r>
                      <a:rPr lang="en-US" altLang="en-US" i="1" dirty="0" smtClean="0">
                        <a:latin typeface="Cambria Math"/>
                      </a:rPr>
                      <m:t>𝐴</m:t>
                    </m:r>
                    <m:r>
                      <a:rPr lang="en-US" altLang="en-US" i="1" baseline="30000" dirty="0" smtClean="0">
                        <a:latin typeface="Cambria Math"/>
                      </a:rPr>
                      <m:t>−1</m:t>
                    </m:r>
                    <m:r>
                      <a:rPr lang="en-US" altLang="en-US" i="1" dirty="0" smtClean="0">
                        <a:latin typeface="Cambria Math"/>
                      </a:rPr>
                      <m:t>=</m:t>
                    </m:r>
                    <m:r>
                      <a:rPr lang="en-US" altLang="en-US" i="1" dirty="0" smtClean="0">
                        <a:latin typeface="Cambria Math"/>
                      </a:rPr>
                      <m:t>𝐼𝑛</m:t>
                    </m:r>
                  </m:oMath>
                </a14:m>
                <a:endParaRPr lang="en-US" altLang="en-US" dirty="0" smtClean="0"/>
              </a:p>
            </p:txBody>
          </p:sp>
        </mc:Choice>
        <mc:Fallback xmlns="">
          <p:sp>
            <p:nvSpPr>
              <p:cNvPr id="14643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 rotWithShape="1">
                <a:blip r:embed="rId2"/>
                <a:stretch>
                  <a:fillRect l="-1745" t="-1247" r="-1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84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Matrix algebra background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3FFF2E1-0D9E-458E-982F-405AF3490C49}" type="slidenum">
              <a:rPr lang="en-US" smtClean="0"/>
              <a:pPr>
                <a:defRPr/>
              </a:pPr>
              <a:t>133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459" name="Content Placeholder 2"/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altLang="en-US" sz="3200" dirty="0" smtClean="0"/>
                  <a:t>A necessary and sufficient condition for the existence of</a:t>
                </a:r>
                <a:r>
                  <a:rPr lang="en-US" altLang="en-US" dirty="0" smtClean="0"/>
                  <a:t> A</a:t>
                </a:r>
                <a:r>
                  <a:rPr lang="en-US" altLang="en-US" baseline="30000" dirty="0" smtClean="0"/>
                  <a:t>-1</a:t>
                </a:r>
                <a:r>
                  <a:rPr lang="en-US" altLang="en-US" dirty="0" smtClean="0"/>
                  <a:t> </a:t>
                </a:r>
              </a:p>
              <a:p>
                <a:pPr lvl="1"/>
                <a:r>
                  <a:rPr lang="en-US" altLang="en-US" dirty="0" smtClean="0"/>
                  <a:t>|A| ≠0</a:t>
                </a:r>
              </a:p>
              <a:p>
                <a:r>
                  <a:rPr lang="en-US" altLang="en-US" dirty="0" smtClean="0"/>
                  <a:t>The leading principal minors of an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 × </m:t>
                    </m:r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en-US" dirty="0" smtClean="0"/>
                  <a:t>square matrix A</a:t>
                </a:r>
              </a:p>
              <a:p>
                <a:pPr lvl="1"/>
                <a:r>
                  <a:rPr lang="en-US" altLang="en-US" dirty="0" smtClean="0"/>
                  <a:t>Are the series of determinants of the first p rows and columns of A</a:t>
                </a:r>
              </a:p>
              <a:p>
                <a:pPr lvl="1"/>
                <a:r>
                  <a:rPr lang="en-US" altLang="en-US" dirty="0" smtClean="0"/>
                  <a:t>Where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𝑝</m:t>
                    </m:r>
                    <m:r>
                      <a:rPr lang="en-US" altLang="en-US" i="1" dirty="0" smtClean="0">
                        <a:latin typeface="Cambria Math"/>
                      </a:rPr>
                      <m:t>=1,</m:t>
                    </m:r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</m:oMath>
                </a14:m>
                <a:endParaRPr lang="en-US" altLang="en-US" dirty="0" smtClean="0"/>
              </a:p>
            </p:txBody>
          </p:sp>
        </mc:Choice>
        <mc:Fallback xmlns="">
          <p:sp>
            <p:nvSpPr>
              <p:cNvPr id="14745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 rotWithShape="1">
                <a:blip r:embed="rId2"/>
                <a:stretch>
                  <a:fillRect l="-1673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672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Matrix algebra background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ED9720-7457-4C82-8FCD-CD4DB7295F27}" type="slidenum">
              <a:rPr lang="en-US" smtClean="0"/>
              <a:pPr>
                <a:defRPr/>
              </a:pPr>
              <a:t>134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483" name="Content Placeholder 2"/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An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 × </m:t>
                    </m:r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en-US" dirty="0" smtClean="0"/>
                  <a:t>square matrix, A, </a:t>
                </a:r>
              </a:p>
              <a:p>
                <a:pPr lvl="1"/>
                <a:r>
                  <a:rPr lang="en-US" altLang="en-US" dirty="0" smtClean="0"/>
                  <a:t>Is </a:t>
                </a:r>
                <a:r>
                  <a:rPr lang="en-US" altLang="en-US" u="sng" dirty="0" smtClean="0"/>
                  <a:t>positive definite </a:t>
                </a:r>
                <a:r>
                  <a:rPr lang="en-US" altLang="en-US" dirty="0" smtClean="0"/>
                  <a:t>if all its leading principal minors are positive</a:t>
                </a:r>
              </a:p>
              <a:p>
                <a:pPr lvl="1"/>
                <a:r>
                  <a:rPr lang="en-US" altLang="en-US" dirty="0" smtClean="0"/>
                  <a:t>Is </a:t>
                </a:r>
                <a:r>
                  <a:rPr lang="en-US" altLang="en-US" u="sng" dirty="0" smtClean="0"/>
                  <a:t>negative definite </a:t>
                </a:r>
                <a:r>
                  <a:rPr lang="en-US" altLang="en-US" dirty="0" smtClean="0"/>
                  <a:t>if its principal minors alternate in sign starting with a minus</a:t>
                </a:r>
              </a:p>
              <a:p>
                <a:r>
                  <a:rPr lang="en-US" altLang="en-US" dirty="0" smtClean="0"/>
                  <a:t>Hessian matrix</a:t>
                </a:r>
              </a:p>
              <a:p>
                <a:pPr lvl="1"/>
                <a:r>
                  <a:rPr lang="en-US" altLang="en-US" dirty="0" smtClean="0"/>
                  <a:t>Formed by all the second-order partial derivatives of a function</a:t>
                </a:r>
              </a:p>
            </p:txBody>
          </p:sp>
        </mc:Choice>
        <mc:Fallback xmlns="">
          <p:sp>
            <p:nvSpPr>
              <p:cNvPr id="14848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 rotWithShape="1">
                <a:blip r:embed="rId2"/>
                <a:stretch>
                  <a:fillRect l="-1673" t="-1247" r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42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Matrix algebra background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4EA3D27-E140-4C4D-B6A1-FE8E10962E21}" type="slidenum">
              <a:rPr lang="en-US" smtClean="0"/>
              <a:pPr>
                <a:defRPr/>
              </a:pPr>
              <a:t>135</a:t>
            </a:fld>
            <a:endParaRPr lang="en-US"/>
          </a:p>
        </p:txBody>
      </p:sp>
      <p:sp>
        <p:nvSpPr>
          <p:cNvPr id="71684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Hessian of </a:t>
            </a:r>
            <a:r>
              <a:rPr lang="en-US" altLang="en-US" i="1" smtClean="0"/>
              <a:t>f</a:t>
            </a:r>
          </a:p>
          <a:p>
            <a:pPr lvl="1"/>
            <a:r>
              <a:rPr lang="en-US" altLang="en-US" smtClean="0"/>
              <a:t>If </a:t>
            </a:r>
            <a:r>
              <a:rPr lang="en-US" altLang="en-US" i="1" smtClean="0"/>
              <a:t>f</a:t>
            </a:r>
            <a:r>
              <a:rPr lang="en-US" altLang="en-US" smtClean="0"/>
              <a:t> is a continuous and twice differentiable function of </a:t>
            </a:r>
            <a:r>
              <a:rPr lang="en-US" altLang="en-US" i="1" smtClean="0"/>
              <a:t>n</a:t>
            </a:r>
            <a:r>
              <a:rPr lang="en-US" altLang="en-US" smtClean="0"/>
              <a:t> variables </a:t>
            </a:r>
          </a:p>
        </p:txBody>
      </p:sp>
      <p:graphicFrame>
        <p:nvGraphicFramePr>
          <p:cNvPr id="176130" name="Object 2"/>
          <p:cNvGraphicFramePr>
            <a:graphicFrameLocks noChangeAspect="1"/>
          </p:cNvGraphicFramePr>
          <p:nvPr/>
        </p:nvGraphicFramePr>
        <p:xfrm>
          <a:off x="1489075" y="2970213"/>
          <a:ext cx="5267325" cy="278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6" name="Equation" r:id="rId3" imgW="1777680" imgH="939600" progId="Equation.DSMT4">
                  <p:embed/>
                </p:oleObj>
              </mc:Choice>
              <mc:Fallback>
                <p:oleObj name="Equation" r:id="rId3" imgW="177768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2970213"/>
                        <a:ext cx="5267325" cy="278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0539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Concave and convex functions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C49442-D4CF-4667-97F7-996495DEBD0C}" type="slidenum">
              <a:rPr lang="en-US" smtClean="0"/>
              <a:pPr>
                <a:defRPr/>
              </a:pPr>
              <a:t>136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507" name="Content Placeholder 2"/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A concave function</a:t>
                </a:r>
              </a:p>
              <a:p>
                <a:pPr lvl="1"/>
                <a:r>
                  <a:rPr lang="en-US" altLang="en-US" dirty="0" smtClean="0"/>
                  <a:t>Is always below (or on) any tangent to it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 ”(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0</m:t>
                    </m:r>
                    <m:r>
                      <a:rPr lang="en-US" altLang="en-US" i="1" dirty="0" smtClean="0">
                        <a:latin typeface="Cambria Math"/>
                      </a:rPr>
                      <m:t>) ≤ 0</m:t>
                    </m:r>
                  </m:oMath>
                </a14:m>
                <a:endParaRPr lang="en-US" altLang="en-US" i="1" dirty="0" smtClean="0"/>
              </a:p>
              <a:p>
                <a:pPr lvl="1"/>
                <a:r>
                  <a:rPr lang="en-US" altLang="en-US" dirty="0" smtClean="0"/>
                  <a:t>The Hessian matrix - negative definite</a:t>
                </a:r>
              </a:p>
              <a:p>
                <a:r>
                  <a:rPr lang="en-US" altLang="en-US" dirty="0" smtClean="0"/>
                  <a:t>A convex function </a:t>
                </a:r>
              </a:p>
              <a:p>
                <a:pPr lvl="1"/>
                <a:r>
                  <a:rPr lang="en-US" altLang="en-US" dirty="0" smtClean="0"/>
                  <a:t>Is always above (or on) any tangent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 ”(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0</m:t>
                    </m:r>
                    <m:r>
                      <a:rPr lang="en-US" altLang="en-US" i="1" dirty="0" smtClean="0">
                        <a:latin typeface="Cambria Math"/>
                      </a:rPr>
                      <m:t>) ≥ 0</m:t>
                    </m:r>
                  </m:oMath>
                </a14:m>
                <a:endParaRPr lang="en-US" altLang="en-US" i="1" dirty="0" smtClean="0"/>
              </a:p>
              <a:p>
                <a:pPr lvl="1"/>
                <a:r>
                  <a:rPr lang="en-US" altLang="en-US" dirty="0" smtClean="0"/>
                  <a:t>The Hessian matrix - positive definite</a:t>
                </a:r>
              </a:p>
            </p:txBody>
          </p:sp>
        </mc:Choice>
        <mc:Fallback xmlns="">
          <p:sp>
            <p:nvSpPr>
              <p:cNvPr id="14950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 rotWithShape="1">
                <a:blip r:embed="rId2"/>
                <a:stretch>
                  <a:fillRect l="-1673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62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Maximization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44CD57-23DF-44CE-8C28-C78704615DF5}" type="slidenum">
              <a:rPr lang="en-US" smtClean="0"/>
              <a:pPr>
                <a:defRPr/>
              </a:pPr>
              <a:t>137</a:t>
            </a:fld>
            <a:endParaRPr lang="en-US"/>
          </a:p>
        </p:txBody>
      </p:sp>
      <p:sp>
        <p:nvSpPr>
          <p:cNvPr id="150531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 smtClean="0"/>
              <a:t>First-order conditions </a:t>
            </a:r>
          </a:p>
          <a:p>
            <a:pPr lvl="1"/>
            <a:r>
              <a:rPr lang="en-US" altLang="en-US" dirty="0" smtClean="0"/>
              <a:t>For an unconstrained maximum of a function of many variables</a:t>
            </a:r>
          </a:p>
          <a:p>
            <a:pPr lvl="1"/>
            <a:r>
              <a:rPr lang="en-US" altLang="en-US" dirty="0" smtClean="0"/>
              <a:t>Requires finding a point at which the partial derivatives are zero</a:t>
            </a:r>
          </a:p>
          <a:p>
            <a:pPr lvl="2"/>
            <a:r>
              <a:rPr lang="en-US" altLang="en-US" dirty="0" smtClean="0"/>
              <a:t>If the function is concave it will be below its tangent plane at this point</a:t>
            </a:r>
          </a:p>
          <a:p>
            <a:pPr lvl="2"/>
            <a:r>
              <a:rPr lang="en-US" altLang="en-US" dirty="0" smtClean="0"/>
              <a:t>True maximum</a:t>
            </a:r>
          </a:p>
        </p:txBody>
      </p:sp>
    </p:spTree>
    <p:extLst>
      <p:ext uri="{BB962C8B-B14F-4D97-AF65-F5344CB8AC3E}">
        <p14:creationId xmlns:p14="http://schemas.microsoft.com/office/powerpoint/2010/main" val="82093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Constrained maxima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BB839E-86DB-4406-BDB1-5B1573CADFBC}" type="slidenum">
              <a:rPr lang="en-US" smtClean="0"/>
              <a:pPr>
                <a:defRPr/>
              </a:pPr>
              <a:t>138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555" name="Content Placeholder 2"/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Maximize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,…,</m:t>
                    </m:r>
                    <m:r>
                      <a:rPr lang="en-US" altLang="en-US" i="1" dirty="0" err="1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altLang="en-US" dirty="0" smtClean="0"/>
                  <a:t>subject to the constraint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𝑔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,…,</m:t>
                    </m:r>
                    <m:r>
                      <a:rPr lang="en-US" altLang="en-US" i="1" dirty="0" err="1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)=0</m:t>
                    </m:r>
                  </m:oMath>
                </a14:m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First-order conditions for a maximum: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𝑖</m:t>
                    </m:r>
                    <m:r>
                      <a:rPr lang="en-US" altLang="en-US" i="1" dirty="0" smtClean="0">
                        <a:latin typeface="Cambria Math"/>
                      </a:rPr>
                      <m:t>+</m:t>
                    </m:r>
                    <m:r>
                      <a:rPr lang="el-GR" altLang="en-US" i="1" dirty="0" smtClean="0">
                        <a:latin typeface="Cambria Math"/>
                      </a:rPr>
                      <m:t>𝜆</m:t>
                    </m:r>
                    <m:r>
                      <a:rPr lang="en-US" altLang="en-US" i="1" dirty="0" err="1" smtClean="0">
                        <a:latin typeface="Cambria Math"/>
                      </a:rPr>
                      <m:t>𝑔</m:t>
                    </m:r>
                    <m:r>
                      <a:rPr lang="en-US" altLang="en-US" i="1" baseline="-25000" dirty="0" err="1" smtClean="0">
                        <a:latin typeface="Cambria Math"/>
                      </a:rPr>
                      <m:t>𝑖</m:t>
                    </m:r>
                    <m:r>
                      <a:rPr lang="en-US" altLang="en-US" i="1" dirty="0" smtClean="0">
                        <a:latin typeface="Cambria Math"/>
                      </a:rPr>
                      <m:t>=0</m:t>
                    </m:r>
                  </m:oMath>
                </a14:m>
                <a:endParaRPr lang="en-US" altLang="en-US" dirty="0" smtClean="0"/>
              </a:p>
              <a:p>
                <a:pPr lvl="2"/>
                <a:r>
                  <a:rPr lang="en-US" altLang="en-US" dirty="0" smtClean="0"/>
                  <a:t>Where </a:t>
                </a:r>
                <a:r>
                  <a:rPr lang="el-GR" altLang="en-US" dirty="0" smtClean="0"/>
                  <a:t>λ</a:t>
                </a:r>
                <a:r>
                  <a:rPr lang="en-US" altLang="en-US" dirty="0" smtClean="0"/>
                  <a:t> is the Lagrange multiplier</a:t>
                </a:r>
              </a:p>
              <a:p>
                <a:pPr lvl="1"/>
                <a:r>
                  <a:rPr lang="en-US" altLang="en-US" dirty="0" smtClean="0"/>
                  <a:t>Second-order conditions for a maximum</a:t>
                </a:r>
              </a:p>
              <a:p>
                <a:pPr lvl="2"/>
                <a:r>
                  <a:rPr lang="en-US" altLang="en-US" dirty="0" smtClean="0"/>
                  <a:t>Augmented (‘‘bordered’’) Hessian,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𝐻</m:t>
                    </m:r>
                    <m:r>
                      <a:rPr lang="en-US" altLang="en-US" i="1" baseline="-25000" dirty="0" err="1" smtClean="0">
                        <a:latin typeface="Cambria Math"/>
                      </a:rPr>
                      <m:t>𝑏</m:t>
                    </m:r>
                    <m:r>
                      <a:rPr lang="en-US" altLang="en-US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alt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(−1)</m:t>
                    </m:r>
                    <m:r>
                      <a:rPr lang="en-US" altLang="en-US" i="1" dirty="0" err="1" smtClean="0">
                        <a:latin typeface="Cambria Math"/>
                      </a:rPr>
                      <m:t>𝐻</m:t>
                    </m:r>
                    <m:r>
                      <a:rPr lang="en-US" altLang="en-US" i="1" baseline="-25000" dirty="0" err="1" smtClean="0">
                        <a:latin typeface="Cambria Math"/>
                      </a:rPr>
                      <m:t>𝑏</m:t>
                    </m:r>
                    <m:r>
                      <a:rPr lang="en-US" alt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en-US" dirty="0" smtClean="0"/>
                  <a:t>must be negative definite</a:t>
                </a:r>
              </a:p>
            </p:txBody>
          </p:sp>
        </mc:Choice>
        <mc:Fallback xmlns="">
          <p:sp>
            <p:nvSpPr>
              <p:cNvPr id="15155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 rotWithShape="1">
                <a:blip r:embed="rId2"/>
                <a:stretch>
                  <a:fillRect l="-1673" t="-1247" r="-2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78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Constrained maxima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B25247-E771-45E3-A677-EDA1D11D45D6}" type="slidenum">
              <a:rPr lang="en-US" smtClean="0"/>
              <a:pPr>
                <a:defRPr/>
              </a:pPr>
              <a:t>139</a:t>
            </a:fld>
            <a:endParaRPr lang="en-US"/>
          </a:p>
        </p:txBody>
      </p:sp>
      <p:sp>
        <p:nvSpPr>
          <p:cNvPr id="72708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Augmented (‘‘bordered’’) Hessian, H</a:t>
            </a:r>
            <a:r>
              <a:rPr lang="en-US" altLang="en-US" baseline="-25000" smtClean="0"/>
              <a:t>b</a:t>
            </a:r>
            <a:r>
              <a:rPr lang="en-US" altLang="en-US" smtClean="0"/>
              <a:t> </a:t>
            </a:r>
          </a:p>
        </p:txBody>
      </p:sp>
      <p:graphicFrame>
        <p:nvGraphicFramePr>
          <p:cNvPr id="177154" name="Object 2"/>
          <p:cNvGraphicFramePr>
            <a:graphicFrameLocks noChangeAspect="1"/>
          </p:cNvGraphicFramePr>
          <p:nvPr/>
        </p:nvGraphicFramePr>
        <p:xfrm>
          <a:off x="1252538" y="1927225"/>
          <a:ext cx="5643562" cy="346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0" name="Equation" r:id="rId3" imgW="1904760" imgH="1168200" progId="Equation.DSMT4">
                  <p:embed/>
                </p:oleObj>
              </mc:Choice>
              <mc:Fallback>
                <p:oleObj name="Equation" r:id="rId3" imgW="1904760" imgH="116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1927225"/>
                        <a:ext cx="5643562" cy="346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669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Quasi-concavity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9A984F-5C68-48C6-901D-D0BE2C60829B}" type="slidenum">
              <a:rPr lang="en-US" smtClean="0"/>
              <a:pPr>
                <a:defRPr/>
              </a:pPr>
              <a:t>140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579" name="Content Placeholder 2"/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If the constraint, g, is linear;</a:t>
                </a:r>
              </a:p>
              <a:p>
                <a:pPr lvl="1">
                  <a:buFont typeface="Arial" pitchFamily="34" charset="0"/>
                  <a:buNone/>
                </a:pPr>
                <a:r>
                  <a:rPr lang="en-US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𝑔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,…,</m:t>
                    </m:r>
                    <m:r>
                      <a:rPr lang="en-US" altLang="en-US" i="1" dirty="0" err="1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)=</m:t>
                    </m:r>
                    <m:r>
                      <a:rPr lang="en-US" altLang="en-US" i="1" dirty="0" smtClean="0">
                        <a:latin typeface="Cambria Math"/>
                      </a:rPr>
                      <m:t>𝑐</m:t>
                    </m:r>
                    <m:r>
                      <a:rPr lang="en-US" altLang="en-US" i="1" dirty="0" smtClean="0">
                        <a:latin typeface="Cambria Math"/>
                      </a:rPr>
                      <m:t>−</m:t>
                    </m:r>
                    <m:r>
                      <a:rPr lang="en-US" altLang="en-US" i="1" dirty="0" smtClean="0">
                        <a:latin typeface="Cambria Math"/>
                      </a:rPr>
                      <m:t>𝑏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1</m:t>
                    </m:r>
                    <m:r>
                      <a:rPr lang="en-US" altLang="en-US" i="1" dirty="0" smtClean="0">
                        <a:latin typeface="Cambria Math"/>
                      </a:rPr>
                      <m:t>−</m:t>
                    </m:r>
                    <m:r>
                      <a:rPr lang="en-US" altLang="en-US" i="1" dirty="0" smtClean="0">
                        <a:latin typeface="Cambria Math"/>
                      </a:rPr>
                      <m:t>𝑏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2</m:t>
                    </m:r>
                    <m:r>
                      <a:rPr lang="en-US" altLang="en-US" i="1" dirty="0" smtClean="0">
                        <a:latin typeface="Cambria Math"/>
                      </a:rPr>
                      <m:t>−…−</m:t>
                    </m:r>
                    <m:r>
                      <a:rPr lang="en-US" altLang="en-US" i="1" dirty="0" err="1" smtClean="0">
                        <a:latin typeface="Cambria Math"/>
                      </a:rPr>
                      <m:t>𝑏</m:t>
                    </m:r>
                    <m:r>
                      <a:rPr lang="en-US" altLang="en-US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altLang="en-US" i="1" dirty="0" err="1" smtClean="0">
                        <a:latin typeface="Cambria Math"/>
                      </a:rPr>
                      <m:t>𝑥</m:t>
                    </m:r>
                    <m:r>
                      <a:rPr lang="en-US" altLang="en-US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=0</m:t>
                    </m:r>
                  </m:oMath>
                </a14:m>
                <a:endParaRPr lang="en-US" altLang="en-US" dirty="0" smtClean="0"/>
              </a:p>
              <a:p>
                <a:pPr lvl="2"/>
                <a:r>
                  <a:rPr lang="en-US" altLang="en-US" dirty="0" smtClean="0"/>
                  <a:t>First-order conditions for a maximum: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𝑓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𝑖</m:t>
                    </m:r>
                    <m:r>
                      <a:rPr lang="en-US" altLang="en-US" i="1" dirty="0" smtClean="0">
                        <a:latin typeface="Cambria Math"/>
                      </a:rPr>
                      <m:t>=</m:t>
                    </m:r>
                    <m:r>
                      <a:rPr lang="el-GR" altLang="en-US" i="1" dirty="0" smtClean="0">
                        <a:latin typeface="Cambria Math"/>
                      </a:rPr>
                      <m:t>𝜆</m:t>
                    </m:r>
                    <m:r>
                      <a:rPr lang="en-US" altLang="en-US" i="1" dirty="0" smtClean="0">
                        <a:latin typeface="Cambria Math"/>
                      </a:rPr>
                      <m:t>𝑏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𝑖</m:t>
                    </m:r>
                    <m:r>
                      <a:rPr lang="en-US" altLang="en-US" i="1" dirty="0" smtClean="0">
                        <a:latin typeface="Cambria Math"/>
                      </a:rPr>
                      <m:t> ; </m:t>
                    </m:r>
                    <m:r>
                      <a:rPr lang="en-US" altLang="en-US" i="1" dirty="0" err="1" smtClean="0">
                        <a:latin typeface="Cambria Math"/>
                      </a:rPr>
                      <m:t>𝑖</m:t>
                    </m:r>
                    <m:r>
                      <a:rPr lang="en-US" altLang="en-US" i="1" dirty="0" smtClean="0">
                        <a:latin typeface="Cambria Math"/>
                      </a:rPr>
                      <m:t>=1,…,</m:t>
                    </m:r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</m:oMath>
                </a14:m>
                <a:endParaRPr lang="en-US" altLang="en-US" dirty="0" smtClean="0"/>
              </a:p>
              <a:p>
                <a:pPr lvl="1"/>
                <a:r>
                  <a:rPr lang="en-US" altLang="en-US" u="sng" dirty="0" smtClean="0"/>
                  <a:t>Quasi-concave function</a:t>
                </a:r>
              </a:p>
              <a:p>
                <a:pPr lvl="2"/>
                <a:r>
                  <a:rPr lang="en-US" altLang="en-US" dirty="0" smtClean="0"/>
                  <a:t>The bordered Hessian </a:t>
                </a:r>
                <a:r>
                  <a:rPr lang="en-US" altLang="en-US" dirty="0" err="1" smtClean="0"/>
                  <a:t>H</a:t>
                </a:r>
                <a:r>
                  <a:rPr lang="en-US" altLang="en-US" baseline="-25000" dirty="0" err="1" smtClean="0"/>
                  <a:t>b</a:t>
                </a:r>
                <a:r>
                  <a:rPr lang="en-US" altLang="en-US" dirty="0" smtClean="0"/>
                  <a:t> and the matrix H’  have the same leading principal minors except for a (positive) constant of proportionality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𝐻</m:t>
                    </m:r>
                    <m:r>
                      <a:rPr lang="en-US" altLang="en-US" i="1" dirty="0" smtClean="0">
                        <a:latin typeface="Cambria Math"/>
                      </a:rPr>
                      <m:t>’</m:t>
                    </m:r>
                  </m:oMath>
                </a14:m>
                <a:r>
                  <a:rPr lang="en-US" altLang="en-US" dirty="0" smtClean="0"/>
                  <a:t> follows the same sign conventions as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𝐻</m:t>
                    </m:r>
                    <m:r>
                      <a:rPr lang="en-US" altLang="en-US" i="1" baseline="-25000" dirty="0" err="1" smtClean="0">
                        <a:latin typeface="Cambria Math"/>
                      </a:rPr>
                      <m:t>𝑏</m:t>
                    </m:r>
                  </m:oMath>
                </a14:m>
                <a:endParaRPr lang="en-US" altLang="en-US" baseline="-25000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(−1)</m:t>
                    </m:r>
                    <m:r>
                      <a:rPr lang="en-US" altLang="en-US" i="1" dirty="0" smtClean="0">
                        <a:latin typeface="Cambria Math"/>
                      </a:rPr>
                      <m:t>𝐻</m:t>
                    </m:r>
                    <m:r>
                      <a:rPr lang="en-US" altLang="en-US" i="1" dirty="0" smtClean="0">
                        <a:latin typeface="Cambria Math"/>
                      </a:rPr>
                      <m:t>’ </m:t>
                    </m:r>
                  </m:oMath>
                </a14:m>
                <a:r>
                  <a:rPr lang="en-US" altLang="en-US" dirty="0" smtClean="0"/>
                  <a:t>must be negative definite </a:t>
                </a:r>
              </a:p>
              <a:p>
                <a:pPr lvl="1"/>
                <a:endParaRPr lang="en-US" altLang="en-US" baseline="-25000" dirty="0" smtClean="0"/>
              </a:p>
            </p:txBody>
          </p:sp>
        </mc:Choice>
        <mc:Fallback xmlns="">
          <p:sp>
            <p:nvSpPr>
              <p:cNvPr id="15257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 rotWithShape="1">
                <a:blip r:embed="rId2"/>
                <a:stretch>
                  <a:fillRect l="-1673" t="-1351" r="-2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45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Quasi-concavity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3C1DDBB-8740-4526-8E6F-5C88D22A3802}" type="slidenum">
              <a:rPr lang="en-US" smtClean="0"/>
              <a:pPr>
                <a:defRPr/>
              </a:pPr>
              <a:t>141</a:t>
            </a:fld>
            <a:endParaRPr lang="en-US"/>
          </a:p>
        </p:txBody>
      </p:sp>
      <p:sp>
        <p:nvSpPr>
          <p:cNvPr id="73732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The matrix H’</a:t>
            </a:r>
          </a:p>
          <a:p>
            <a:endParaRPr lang="en-US" altLang="en-US" baseline="-25000" smtClean="0"/>
          </a:p>
        </p:txBody>
      </p:sp>
      <p:graphicFrame>
        <p:nvGraphicFramePr>
          <p:cNvPr id="178179" name="Object 3"/>
          <p:cNvGraphicFramePr>
            <a:graphicFrameLocks noChangeAspect="1"/>
          </p:cNvGraphicFramePr>
          <p:nvPr/>
        </p:nvGraphicFramePr>
        <p:xfrm>
          <a:off x="1079500" y="1643063"/>
          <a:ext cx="5049838" cy="314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4" name="Equation" r:id="rId3" imgW="1879560" imgH="1168200" progId="Equation.DSMT4">
                  <p:embed/>
                </p:oleObj>
              </mc:Choice>
              <mc:Fallback>
                <p:oleObj name="Equation" r:id="rId3" imgW="1879560" imgH="116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1643063"/>
                        <a:ext cx="5049838" cy="314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147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7543800" cy="914400"/>
          </a:xfrm>
        </p:spPr>
        <p:txBody>
          <a:bodyPr/>
          <a:lstStyle/>
          <a:p>
            <a:r>
              <a:rPr lang="en-US" dirty="0"/>
              <a:t>Comparative Statics with two </a:t>
            </a:r>
            <a:r>
              <a:rPr lang="en-US" dirty="0" smtClean="0"/>
              <a:t>endogenous</a:t>
            </a:r>
            <a:br>
              <a:rPr lang="en-US" dirty="0" smtClean="0"/>
            </a:br>
            <a:r>
              <a:rPr lang="en-US" dirty="0" smtClean="0">
                <a:solidFill>
                  <a:srgbClr val="002D56"/>
                </a:solidFill>
              </a:rPr>
              <a:t> </a:t>
            </a:r>
            <a:r>
              <a:rPr lang="en-US" dirty="0">
                <a:solidFill>
                  <a:srgbClr val="002D56"/>
                </a:solidFill>
              </a:rPr>
              <a:t>variables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142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1143000"/>
                <a:ext cx="8382000" cy="5257800"/>
              </a:xfrm>
            </p:spPr>
            <p:txBody>
              <a:bodyPr/>
              <a:lstStyle/>
              <a:p>
                <a:r>
                  <a:rPr lang="en-US" dirty="0" smtClean="0"/>
                  <a:t>Two endogenous variables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𝑎𝑛𝑑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)</m:t>
                    </m:r>
                    <m:r>
                      <a:rPr lang="en-US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a single exogenous parameter</a:t>
                </a:r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Implicit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>
                                <a:latin typeface="Cambria Math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>
                                <a:latin typeface="Cambria Math"/>
                              </a:rPr>
                              <m:t>(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  <m:r>
                              <a:rPr lang="en-US">
                                <a:latin typeface="Cambria Math"/>
                              </a:rPr>
                              <m:t>),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>
                                <a:latin typeface="Cambria Math"/>
                              </a:rPr>
                              <m:t>(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  <m:r>
                              <a:rPr lang="en-US">
                                <a:latin typeface="Cambria Math"/>
                              </a:rPr>
                              <m:t>),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  <m:r>
                              <a:rPr lang="en-US">
                                <a:latin typeface="Cambria Math"/>
                              </a:rPr>
                              <m:t>]=0</m:t>
                            </m:r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lang="en-US" i="1" smtClean="0">
                                    <a:latin typeface="Cambria Math"/>
                                  </a:rPr>
                                </m:ctrlPr>
                              </m:eqArr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>
                                    <a:latin typeface="Cambria Math"/>
                                  </a:rPr>
                                  <m:t>),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>
                                    <a:latin typeface="Cambria Math"/>
                                  </a:rPr>
                                  <m:t>),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>
                                    <a:latin typeface="Cambria Math"/>
                                  </a:rPr>
                                  <m:t>]=0</m:t>
                                </m:r>
                              </m:e>
                              <m:e/>
                            </m:eqArr>
                          </m:e>
                        </m:mr>
                      </m:m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1143000"/>
                <a:ext cx="8382000" cy="5257800"/>
              </a:xfrm>
              <a:blipFill rotWithShape="1">
                <a:blip r:embed="rId2"/>
                <a:stretch>
                  <a:fillRect l="-1673" t="-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27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7543800" cy="914400"/>
          </a:xfrm>
        </p:spPr>
        <p:txBody>
          <a:bodyPr/>
          <a:lstStyle/>
          <a:p>
            <a:r>
              <a:rPr lang="en-US" dirty="0"/>
              <a:t>Comparative Statics with two </a:t>
            </a:r>
            <a:r>
              <a:rPr lang="en-US" dirty="0" smtClean="0"/>
              <a:t>endogenous</a:t>
            </a:r>
            <a:br>
              <a:rPr lang="en-US" dirty="0" smtClean="0"/>
            </a:br>
            <a:r>
              <a:rPr lang="en-US" dirty="0" smtClean="0">
                <a:solidFill>
                  <a:srgbClr val="002D56"/>
                </a:solidFill>
              </a:rPr>
              <a:t> </a:t>
            </a:r>
            <a:r>
              <a:rPr lang="en-US" dirty="0">
                <a:solidFill>
                  <a:srgbClr val="002D56"/>
                </a:solidFill>
              </a:rPr>
              <a:t>variables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143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1143000"/>
                <a:ext cx="8382000" cy="5257800"/>
              </a:xfrm>
            </p:spPr>
            <p:txBody>
              <a:bodyPr/>
              <a:lstStyle/>
              <a:p>
                <a:r>
                  <a:rPr lang="en-US" dirty="0" smtClean="0"/>
                  <a:t>Differentiation </a:t>
                </a:r>
                <a:r>
                  <a:rPr lang="en-US" dirty="0"/>
                  <a:t>of these equilibrium equations with </a:t>
                </a:r>
                <a:r>
                  <a:rPr lang="en-US" dirty="0" smtClean="0"/>
                  <a:t>respect </a:t>
                </a:r>
                <a:r>
                  <a:rPr lang="en-US" dirty="0"/>
                  <a:t>to </a:t>
                </a:r>
                <a:r>
                  <a:rPr lang="en-US" i="1" dirty="0" smtClean="0"/>
                  <a:t>a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sup>
                            </m:sSubSup>
                            <m:f>
                              <m:f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∗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𝑑𝑎</m:t>
                                </m:r>
                              </m:den>
                            </m:f>
                            <m:r>
                              <a:rPr lang="en-US">
                                <a:latin typeface="Cambria Math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sup>
                            </m:sSubSup>
                            <m:f>
                              <m:f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∗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𝑑𝑎</m:t>
                                </m:r>
                              </m:den>
                            </m:f>
                            <m:r>
                              <a:rPr lang="en-US">
                                <a:latin typeface="Cambria Math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sup>
                            </m:sSubSup>
                            <m:r>
                              <a:rPr lang="en-US">
                                <a:latin typeface="Cambria Math"/>
                              </a:rPr>
                              <m:t>=0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  <m:f>
                              <m:f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∗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𝑑𝑎</m:t>
                                </m:r>
                              </m:den>
                            </m:f>
                            <m:r>
                              <a:rPr lang="en-US">
                                <a:latin typeface="Cambria Math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  <m:f>
                              <m:f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∗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𝑑𝑎</m:t>
                                </m:r>
                              </m:den>
                            </m:f>
                            <m:r>
                              <a:rPr lang="en-US">
                                <a:latin typeface="Cambria Math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>
                                <a:latin typeface="Cambria Math"/>
                              </a:rPr>
                              <m:t>=0</m:t>
                            </m:r>
                          </m:e>
                        </m:mr>
                      </m:m>
                    </m:oMath>
                  </m:oMathPara>
                </a14:m>
                <a:endParaRPr lang="en-US" dirty="0" smtClean="0"/>
              </a:p>
              <a:p>
                <a:pPr lvl="1"/>
                <a:r>
                  <a:rPr lang="en-US" dirty="0" smtClean="0"/>
                  <a:t>Solve </a:t>
                </a:r>
                <a:r>
                  <a:rPr lang="en-US" dirty="0"/>
                  <a:t>these simultaneous equations for the comparative static values of the </a:t>
                </a:r>
                <a:r>
                  <a:rPr lang="en-US" dirty="0" smtClean="0"/>
                  <a:t>derivatives </a:t>
                </a:r>
                <a:br>
                  <a:rPr lang="en-US" dirty="0" smtClean="0"/>
                </a:br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𝜕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/>
                        <a:ea typeface="Cambria Math"/>
                      </a:rPr>
                      <m:t>/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𝜕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𝜕</m:t>
                    </m:r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/>
                        <a:ea typeface="Cambria Math"/>
                      </a:rPr>
                      <m:t>/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𝜕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 smtClean="0"/>
                  <a:t>) that </a:t>
                </a:r>
                <a:r>
                  <a:rPr lang="en-US" dirty="0"/>
                  <a:t>show how the equilibrium values change when </a:t>
                </a:r>
                <a:r>
                  <a:rPr lang="en-US" i="1" dirty="0"/>
                  <a:t>a</a:t>
                </a:r>
                <a:r>
                  <a:rPr lang="en-US" dirty="0"/>
                  <a:t> changes</a:t>
                </a:r>
              </a:p>
            </p:txBody>
          </p:sp>
        </mc:Choice>
        <mc:Fallback xmlns=""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1143000"/>
                <a:ext cx="8382000" cy="5257800"/>
              </a:xfrm>
              <a:blipFill rotWithShape="1">
                <a:blip r:embed="rId2"/>
                <a:stretch>
                  <a:fillRect l="-1673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001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7543800" cy="914400"/>
          </a:xfrm>
        </p:spPr>
        <p:txBody>
          <a:bodyPr/>
          <a:lstStyle/>
          <a:p>
            <a:r>
              <a:rPr lang="en-US" dirty="0"/>
              <a:t>Comparative Statics with two </a:t>
            </a:r>
            <a:r>
              <a:rPr lang="en-US" dirty="0" smtClean="0"/>
              <a:t>endogenous</a:t>
            </a:r>
            <a:br>
              <a:rPr lang="en-US" dirty="0" smtClean="0"/>
            </a:br>
            <a:r>
              <a:rPr lang="en-US" dirty="0" smtClean="0">
                <a:solidFill>
                  <a:srgbClr val="002D56"/>
                </a:solidFill>
              </a:rPr>
              <a:t> </a:t>
            </a:r>
            <a:r>
              <a:rPr lang="en-US" dirty="0">
                <a:solidFill>
                  <a:srgbClr val="002D56"/>
                </a:solidFill>
              </a:rPr>
              <a:t>variables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144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81000" y="1143000"/>
            <a:ext cx="8382000" cy="1219200"/>
          </a:xfrm>
        </p:spPr>
        <p:txBody>
          <a:bodyPr/>
          <a:lstStyle/>
          <a:p>
            <a:r>
              <a:rPr lang="en-US" dirty="0" smtClean="0"/>
              <a:t>In matrix notation:</a:t>
            </a:r>
            <a:endParaRPr lang="en-US" i="1" dirty="0" smtClean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373175"/>
              </p:ext>
            </p:extLst>
          </p:nvPr>
        </p:nvGraphicFramePr>
        <p:xfrm>
          <a:off x="1371600" y="1828800"/>
          <a:ext cx="3892550" cy="424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23" name="Equation" r:id="rId3" imgW="1841400" imgH="2006280" progId="Equation.DSMT4">
                  <p:embed/>
                </p:oleObj>
              </mc:Choice>
              <mc:Fallback>
                <p:oleObj name="Equation" r:id="rId3" imgW="1841400" imgH="2006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1600" y="1828800"/>
                        <a:ext cx="3892550" cy="4241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731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7543800" cy="914400"/>
          </a:xfrm>
        </p:spPr>
        <p:txBody>
          <a:bodyPr/>
          <a:lstStyle/>
          <a:p>
            <a:r>
              <a:rPr lang="en-US" dirty="0"/>
              <a:t>Comparative Statics with two </a:t>
            </a:r>
            <a:r>
              <a:rPr lang="en-US" dirty="0" smtClean="0"/>
              <a:t>endogenous</a:t>
            </a:r>
            <a:br>
              <a:rPr lang="en-US" dirty="0" smtClean="0"/>
            </a:br>
            <a:r>
              <a:rPr lang="en-US" dirty="0" smtClean="0">
                <a:solidFill>
                  <a:srgbClr val="002D56"/>
                </a:solidFill>
              </a:rPr>
              <a:t> </a:t>
            </a:r>
            <a:r>
              <a:rPr lang="en-US" dirty="0">
                <a:solidFill>
                  <a:srgbClr val="002D56"/>
                </a:solidFill>
              </a:rPr>
              <a:t>variables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145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81000" y="914400"/>
            <a:ext cx="8534400" cy="2362200"/>
          </a:xfrm>
        </p:spPr>
        <p:txBody>
          <a:bodyPr/>
          <a:lstStyle/>
          <a:p>
            <a:r>
              <a:rPr lang="en-US" dirty="0"/>
              <a:t>Cramer’s </a:t>
            </a:r>
            <a:r>
              <a:rPr lang="en-US" dirty="0" smtClean="0"/>
              <a:t>rule</a:t>
            </a:r>
          </a:p>
          <a:p>
            <a:pPr lvl="1"/>
            <a:r>
              <a:rPr lang="en-US" dirty="0" smtClean="0"/>
              <a:t>Shows </a:t>
            </a:r>
            <a:r>
              <a:rPr lang="en-US" dirty="0"/>
              <a:t>that each of the comparative static derivatives can be solved as the ratio of two determinants </a:t>
            </a:r>
            <a:endParaRPr lang="en-US" i="1" dirty="0" smtClean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176741"/>
              </p:ext>
            </p:extLst>
          </p:nvPr>
        </p:nvGraphicFramePr>
        <p:xfrm>
          <a:off x="152400" y="3124200"/>
          <a:ext cx="8589963" cy="203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7" name="Equation" r:id="rId3" imgW="4063680" imgH="965160" progId="Equation.DSMT4">
                  <p:embed/>
                </p:oleObj>
              </mc:Choice>
              <mc:Fallback>
                <p:oleObj name="Equation" r:id="rId3" imgW="4063680" imgH="96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" y="3124200"/>
                        <a:ext cx="8589963" cy="203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672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p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ig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examp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extens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4641</TotalTime>
  <Words>15159</Words>
  <Application>Microsoft Office PowerPoint</Application>
  <PresentationFormat>On-screen Show (4:3)</PresentationFormat>
  <Paragraphs>1084</Paragraphs>
  <Slides>145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145</vt:i4>
      </vt:variant>
    </vt:vector>
  </HeadingPairs>
  <TitlesOfParts>
    <vt:vector size="152" baseType="lpstr">
      <vt:lpstr>chapter</vt:lpstr>
      <vt:lpstr>main</vt:lpstr>
      <vt:lpstr>figure</vt:lpstr>
      <vt:lpstr>table</vt:lpstr>
      <vt:lpstr>example</vt:lpstr>
      <vt:lpstr>extensions</vt:lpstr>
      <vt:lpstr>Equation</vt:lpstr>
      <vt:lpstr>CHAPTER   Mathematics  2     for Microeconomics</vt:lpstr>
      <vt:lpstr>Maximization of a Function of One Variable</vt:lpstr>
      <vt:lpstr>2.1 Hypothetical Relationship between Quantity   Produced and Profits</vt:lpstr>
      <vt:lpstr>Maximization of a Function of One Variable</vt:lpstr>
      <vt:lpstr>Maximization of a Function of One Variable</vt:lpstr>
      <vt:lpstr>Maximization of a Function of One Variable</vt:lpstr>
      <vt:lpstr>Maximization of a Function of One Variable</vt:lpstr>
      <vt:lpstr>Maximization of a Function of One Variable</vt:lpstr>
      <vt:lpstr>Maximization of a Function of One Variable</vt:lpstr>
      <vt:lpstr>2.2 Two Profit Functions That Give Misleading   Results If the First Derivative Rule Is   Applied Uncritically</vt:lpstr>
      <vt:lpstr>Maximization of a Function of One Variable</vt:lpstr>
      <vt:lpstr>Rules for Finding Derivatives</vt:lpstr>
      <vt:lpstr>Rules for Finding Derivatives</vt:lpstr>
      <vt:lpstr>Rules for Finding Derivatives</vt:lpstr>
      <vt:lpstr>Rules for Finding Derivatives</vt:lpstr>
      <vt:lpstr>2.1 Profit Maximization</vt:lpstr>
      <vt:lpstr>Functions of Several Variables</vt:lpstr>
      <vt:lpstr>Functions of Several Variables</vt:lpstr>
      <vt:lpstr>Calculating Partial Derivatives</vt:lpstr>
      <vt:lpstr>Functions of Several Variables</vt:lpstr>
      <vt:lpstr>Functions of Several Variables</vt:lpstr>
      <vt:lpstr>2.2 Elasticity and Functional Form</vt:lpstr>
      <vt:lpstr>2.2 Elasticity and Functional Form</vt:lpstr>
      <vt:lpstr>Functions of Several Variables</vt:lpstr>
      <vt:lpstr>Second-order partial derivatives</vt:lpstr>
      <vt:lpstr>Functions of Several Variables</vt:lpstr>
      <vt:lpstr>Functions of Several Variables</vt:lpstr>
      <vt:lpstr>Functions of Several Variables</vt:lpstr>
      <vt:lpstr>Functions of Several Variables</vt:lpstr>
      <vt:lpstr>Functions of Several Variables</vt:lpstr>
      <vt:lpstr>Functions of Several Variables</vt:lpstr>
      <vt:lpstr>2.3  Using the Chain Rule</vt:lpstr>
      <vt:lpstr>2.3  Using the Chain Rule</vt:lpstr>
      <vt:lpstr>2.4    A Production Possibility Frontier—Again</vt:lpstr>
      <vt:lpstr>Functions of Several Variables</vt:lpstr>
      <vt:lpstr>2.5 Comparative Statics of a Price-Taking Firm</vt:lpstr>
      <vt:lpstr>Maximization of Functions of Several Variables</vt:lpstr>
      <vt:lpstr>Maximization of Functions of Several Variables</vt:lpstr>
      <vt:lpstr>2.6  Finding a Maximum</vt:lpstr>
      <vt:lpstr>The Envelope Theorem</vt:lpstr>
      <vt:lpstr>2.1 Optimal values of y and x for alternative  values of a in y=-x2+ax</vt:lpstr>
      <vt:lpstr>2.3 Illustration of the Envelope Theorem</vt:lpstr>
      <vt:lpstr>The Envelope Theorem</vt:lpstr>
      <vt:lpstr>The Envelope Theorem</vt:lpstr>
      <vt:lpstr>The Envelope Theorem</vt:lpstr>
      <vt:lpstr>The Envelope Theorem</vt:lpstr>
      <vt:lpstr>The Envelope Theorem</vt:lpstr>
      <vt:lpstr>The Envelope Theorem</vt:lpstr>
      <vt:lpstr>2.7  A Price-Taking Firm’s Supply Function</vt:lpstr>
      <vt:lpstr>Constrained Maximization</vt:lpstr>
      <vt:lpstr>Lagrange Multiplier Method</vt:lpstr>
      <vt:lpstr>Lagrange Multiplier Method</vt:lpstr>
      <vt:lpstr>Lagrange Multiplier Method</vt:lpstr>
      <vt:lpstr>Lagrange Multiplier Method</vt:lpstr>
      <vt:lpstr>Lagrange Multiplier Method</vt:lpstr>
      <vt:lpstr>Lagrange Multiplier Method</vt:lpstr>
      <vt:lpstr>Constrained Maximization</vt:lpstr>
      <vt:lpstr>Constrained Maximization</vt:lpstr>
      <vt:lpstr>2.8  Optimal Fences and Constrained   Maximization</vt:lpstr>
      <vt:lpstr>2.8  Optimal Fences and Constrained  Maximization</vt:lpstr>
      <vt:lpstr>2.8  Optimal Fences and Constrained   Maximization</vt:lpstr>
      <vt:lpstr>2.8  Optimal Fences and Constrained  Maximization</vt:lpstr>
      <vt:lpstr>Envelope Theorem in Constrained Maximization Problems</vt:lpstr>
      <vt:lpstr>2.9  Optimal Fences and the Envelope   Theorem</vt:lpstr>
      <vt:lpstr>Inequality Constraints</vt:lpstr>
      <vt:lpstr>Inequality Constraints</vt:lpstr>
      <vt:lpstr>Inequality Constraints</vt:lpstr>
      <vt:lpstr>Inequality Constraints</vt:lpstr>
      <vt:lpstr>Second-Order Conditions and Curvature</vt:lpstr>
      <vt:lpstr>Second-Order Conditions and Curvature</vt:lpstr>
      <vt:lpstr>Second-Order Conditions and Curvature</vt:lpstr>
      <vt:lpstr>Second-Order Conditions and Curvature</vt:lpstr>
      <vt:lpstr>2.10  Second-Order Conditions: Health status  for the Last Time</vt:lpstr>
      <vt:lpstr>Second-Order Conditions and Curvature</vt:lpstr>
      <vt:lpstr>Second-Order Conditions and Curvature</vt:lpstr>
      <vt:lpstr>Second-Order Conditions and Curvature</vt:lpstr>
      <vt:lpstr>Second-Order Conditions and Curvature</vt:lpstr>
      <vt:lpstr>Second-Order Conditions and Curvature</vt:lpstr>
      <vt:lpstr>2.11  Concave and Quasi-Concave Functions</vt:lpstr>
      <vt:lpstr>2.4 Concave and Quasi-Concave Functions</vt:lpstr>
      <vt:lpstr>Homogeneous Functions</vt:lpstr>
      <vt:lpstr>Homogeneous Functions</vt:lpstr>
      <vt:lpstr>Homogeneous Functions</vt:lpstr>
      <vt:lpstr>Homogeneous Functions</vt:lpstr>
      <vt:lpstr>Homogeneous Functions</vt:lpstr>
      <vt:lpstr>Homogeneous Functions</vt:lpstr>
      <vt:lpstr>2.12  Cardinal and Ordinal Properties</vt:lpstr>
      <vt:lpstr>Integration</vt:lpstr>
      <vt:lpstr>Integration</vt:lpstr>
      <vt:lpstr>Integration</vt:lpstr>
      <vt:lpstr>Integration</vt:lpstr>
      <vt:lpstr>Integration</vt:lpstr>
      <vt:lpstr>Integration</vt:lpstr>
      <vt:lpstr>2.5 Definite Integrals Show the Areas Under the  Graph of a Function </vt:lpstr>
      <vt:lpstr>Integration</vt:lpstr>
      <vt:lpstr>2.13  Stocks and Flows</vt:lpstr>
      <vt:lpstr>2.13  Stocks and Flows</vt:lpstr>
      <vt:lpstr>Differentiating a Definite Integral</vt:lpstr>
      <vt:lpstr>Differentiating a Definite Integral</vt:lpstr>
      <vt:lpstr>Differentiating a Definite Integral</vt:lpstr>
      <vt:lpstr>Differentiating a Definite Integral</vt:lpstr>
      <vt:lpstr>Dynamic Optimization</vt:lpstr>
      <vt:lpstr>Dynamic Optimization</vt:lpstr>
      <vt:lpstr>Dynamic Optimization</vt:lpstr>
      <vt:lpstr>Dynamic Optimization</vt:lpstr>
      <vt:lpstr>Dynamic Optimization</vt:lpstr>
      <vt:lpstr>Dynamic Optimization</vt:lpstr>
      <vt:lpstr>Dynamic Optimization</vt:lpstr>
      <vt:lpstr>2.14  Allocating a Fixed Supply</vt:lpstr>
      <vt:lpstr>2.14  Allocating a Fixed Supply</vt:lpstr>
      <vt:lpstr>2.14  Allocating a Fixed Supply</vt:lpstr>
      <vt:lpstr>2.14  Allocating a Fixed Supply</vt:lpstr>
      <vt:lpstr>Mathematical Statistics</vt:lpstr>
      <vt:lpstr>Mathematical Statistics</vt:lpstr>
      <vt:lpstr>Mathematical Statistics</vt:lpstr>
      <vt:lpstr>2.6  Four Common Probability Density Functions  (a) Binomial distribution</vt:lpstr>
      <vt:lpstr>2.6   Four Common Probability Density Functions  (b) Uniform distribution</vt:lpstr>
      <vt:lpstr>2.6 Four Common Probability Density Functions  (c) Exponential distribution</vt:lpstr>
      <vt:lpstr>2.6 Four Common Probability Density Functions  (d) Normal distribution</vt:lpstr>
      <vt:lpstr>Mathematical Statistics</vt:lpstr>
      <vt:lpstr>Mathematical Statistics</vt:lpstr>
      <vt:lpstr>Mathematical Statistics</vt:lpstr>
      <vt:lpstr>2.15   Expected Values of a Few Random  Variables</vt:lpstr>
      <vt:lpstr>Mathematical Statistics</vt:lpstr>
      <vt:lpstr>Mathematical Statistics</vt:lpstr>
      <vt:lpstr>2.16  Variances and Standard Deviations for  Simple Random Variables</vt:lpstr>
      <vt:lpstr>2.16  Variances and Standard Deviations for  Simple Random Variables</vt:lpstr>
      <vt:lpstr>Mathematical Statistics</vt:lpstr>
      <vt:lpstr>Mathematical Statistics</vt:lpstr>
      <vt:lpstr>Mathematical Statistics</vt:lpstr>
      <vt:lpstr>Matrix algebra background</vt:lpstr>
      <vt:lpstr>Matrix algebra background</vt:lpstr>
      <vt:lpstr>Matrix algebra background</vt:lpstr>
      <vt:lpstr>Matrix algebra background</vt:lpstr>
      <vt:lpstr>Matrix algebra background</vt:lpstr>
      <vt:lpstr>Concave and convex functions</vt:lpstr>
      <vt:lpstr>Maximization</vt:lpstr>
      <vt:lpstr>Constrained maxima</vt:lpstr>
      <vt:lpstr>Constrained maxima</vt:lpstr>
      <vt:lpstr>Quasi-concavity</vt:lpstr>
      <vt:lpstr>Quasi-concavity</vt:lpstr>
      <vt:lpstr>Comparative Statics with two endogenous  variables</vt:lpstr>
      <vt:lpstr>Comparative Statics with two endogenous  variables</vt:lpstr>
      <vt:lpstr>Comparative Statics with two endogenous  variables</vt:lpstr>
      <vt:lpstr>Comparative Statics with two endogenous  variables</vt:lpstr>
    </vt:vector>
  </TitlesOfParts>
  <Company>Eastern Illinois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Andreea Chiritescu</dc:creator>
  <cp:lastModifiedBy>Andreea Chiritescu</cp:lastModifiedBy>
  <cp:revision>175</cp:revision>
  <dcterms:created xsi:type="dcterms:W3CDTF">2016-06-05T19:40:39Z</dcterms:created>
  <dcterms:modified xsi:type="dcterms:W3CDTF">2016-06-13T15:39:47Z</dcterms:modified>
</cp:coreProperties>
</file>