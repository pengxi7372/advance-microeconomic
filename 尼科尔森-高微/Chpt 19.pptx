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77" r:id="rId4"/>
    <p:sldMasterId id="2147483669" r:id="rId5"/>
    <p:sldMasterId id="2147483672" r:id="rId6"/>
  </p:sldMasterIdLst>
  <p:notesMasterIdLst>
    <p:notesMasterId r:id="rId95"/>
  </p:notesMasterIdLst>
  <p:handoutMasterIdLst>
    <p:handoutMasterId r:id="rId96"/>
  </p:handoutMasterIdLst>
  <p:sldIdLst>
    <p:sldId id="258" r:id="rId7"/>
    <p:sldId id="282" r:id="rId8"/>
    <p:sldId id="283" r:id="rId9"/>
    <p:sldId id="284" r:id="rId10"/>
    <p:sldId id="285" r:id="rId11"/>
    <p:sldId id="363" r:id="rId12"/>
    <p:sldId id="286" r:id="rId13"/>
    <p:sldId id="287" r:id="rId14"/>
    <p:sldId id="288" r:id="rId15"/>
    <p:sldId id="289" r:id="rId16"/>
    <p:sldId id="294" r:id="rId17"/>
    <p:sldId id="364" r:id="rId18"/>
    <p:sldId id="296" r:id="rId19"/>
    <p:sldId id="297" r:id="rId20"/>
    <p:sldId id="298" r:id="rId21"/>
    <p:sldId id="299" r:id="rId22"/>
    <p:sldId id="300" r:id="rId23"/>
    <p:sldId id="365" r:id="rId24"/>
    <p:sldId id="366" r:id="rId25"/>
    <p:sldId id="367" r:id="rId26"/>
    <p:sldId id="370" r:id="rId27"/>
    <p:sldId id="368" r:id="rId28"/>
    <p:sldId id="371" r:id="rId29"/>
    <p:sldId id="369" r:id="rId30"/>
    <p:sldId id="301" r:id="rId31"/>
    <p:sldId id="372" r:id="rId32"/>
    <p:sldId id="373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74" r:id="rId49"/>
    <p:sldId id="320" r:id="rId50"/>
    <p:sldId id="321" r:id="rId51"/>
    <p:sldId id="375" r:id="rId52"/>
    <p:sldId id="323" r:id="rId53"/>
    <p:sldId id="325" r:id="rId54"/>
    <p:sldId id="376" r:id="rId55"/>
    <p:sldId id="377" r:id="rId56"/>
    <p:sldId id="378" r:id="rId57"/>
    <p:sldId id="379" r:id="rId58"/>
    <p:sldId id="380" r:id="rId59"/>
    <p:sldId id="381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1" r:id="rId83"/>
    <p:sldId id="352" r:id="rId84"/>
    <p:sldId id="353" r:id="rId85"/>
    <p:sldId id="354" r:id="rId86"/>
    <p:sldId id="355" r:id="rId87"/>
    <p:sldId id="356" r:id="rId88"/>
    <p:sldId id="357" r:id="rId89"/>
    <p:sldId id="358" r:id="rId90"/>
    <p:sldId id="359" r:id="rId91"/>
    <p:sldId id="360" r:id="rId92"/>
    <p:sldId id="361" r:id="rId93"/>
    <p:sldId id="362" r:id="rId9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5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8" autoAdjust="0"/>
    <p:restoredTop sz="98883" autoAdjust="0"/>
  </p:normalViewPr>
  <p:slideViewPr>
    <p:cSldViewPr>
      <p:cViewPr>
        <p:scale>
          <a:sx n="60" d="100"/>
          <a:sy n="60" d="100"/>
        </p:scale>
        <p:origin x="-1314" y="-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681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97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slide" Target="slides/slide8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slide" Target="slides/slide84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100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slide" Target="slides/slide87.xml"/><Relationship Id="rId9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143B-620F-4987-B4C6-8DA41D14F534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E537F-0D91-4DE0-B9F5-55E2B2118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2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A522-1067-4090-8338-D2D3A24AAAF6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A4D4-42B8-482F-A3F9-BD6E0B3B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A4D4-42B8-482F-A3F9-BD6E0B3BC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0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971800"/>
            <a:ext cx="9144000" cy="1676400"/>
          </a:xfrm>
          <a:prstGeom prst="rect">
            <a:avLst/>
          </a:prstGeom>
          <a:noFill/>
        </p:spPr>
        <p:txBody>
          <a:bodyPr/>
          <a:lstStyle>
            <a:lvl1pPr marL="91440">
              <a:lnSpc>
                <a:spcPct val="100000"/>
              </a:lnSpc>
              <a:spcBef>
                <a:spcPts val="600"/>
              </a:spcBef>
              <a:defRPr sz="5400" b="0"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				Master title style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-76200" y="0"/>
            <a:ext cx="9220200" cy="609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18288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200000"/>
              </a:lnSpc>
              <a:spcBef>
                <a:spcPct val="0"/>
              </a:spcBef>
              <a:buNone/>
              <a:defRPr sz="4400" b="0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Walter Nicholson | Christopher Snyder	 12th edition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51816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28194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4114800"/>
            <a:ext cx="8534400" cy="2133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20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34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9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3429000"/>
            <a:ext cx="8382000" cy="2743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64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9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3352800"/>
            <a:ext cx="8305800" cy="2895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Andreea\Desktop\Cengage\Nicholson 12e\cover\ch bk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377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dreea\Desktop\Cengage\Nicholson 12e\cover\MT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184"/>
            <a:ext cx="9144000" cy="224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0"/>
            <a:ext cx="8686800" cy="457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5400" y="5562600"/>
            <a:ext cx="4038600" cy="9144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smtClean="0">
                <a:latin typeface="Arial" pitchFamily="34" charset="0"/>
              </a:rPr>
              <a:t>PowerPoint Slides prepared by: 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V. Andreea CHIRITESCU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Eastern Illinois University</a:t>
            </a:r>
            <a:endParaRPr lang="en-US" sz="1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200000"/>
        </a:lnSpc>
        <a:spcBef>
          <a:spcPct val="0"/>
        </a:spcBef>
        <a:buNone/>
        <a:defRPr sz="4400" b="0" kern="1200" baseline="300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8" y="1143000"/>
            <a:ext cx="8601072" cy="5335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1"/>
            <a:ext cx="8686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043235" y="3043235"/>
            <a:ext cx="6400800" cy="31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4328" y="985836"/>
            <a:ext cx="8829672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16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3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3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1" y="5505448"/>
            <a:ext cx="9144000" cy="895351"/>
            <a:chOff x="138110" y="3505200"/>
            <a:chExt cx="9144000" cy="895351"/>
          </a:xfrm>
        </p:grpSpPr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3823" y="3519488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8386760" y="3505200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499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8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00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033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764345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  <p:sldLayoutId id="2147483679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510213" y="3224211"/>
            <a:ext cx="6858001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895600" y="3095624"/>
            <a:ext cx="620077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33400"/>
            <a:ext cx="8229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28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5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895600"/>
            <a:ext cx="8991600" cy="1676400"/>
          </a:xfrm>
        </p:spPr>
        <p:txBody>
          <a:bodyPr/>
          <a:lstStyle/>
          <a:p>
            <a:pPr algn="l"/>
            <a:r>
              <a:rPr lang="en-US" dirty="0" smtClean="0"/>
              <a:t>CHAPTER</a:t>
            </a:r>
            <a:r>
              <a:rPr lang="en-US" b="1" baseline="0" dirty="0"/>
              <a:t> </a:t>
            </a:r>
            <a:r>
              <a:rPr lang="en-US" b="1" baseline="0" dirty="0" smtClean="0"/>
              <a:t>	</a:t>
            </a:r>
            <a:r>
              <a:rPr lang="en-US" sz="4800" b="1" baseline="0" dirty="0" smtClean="0"/>
              <a:t>  	</a:t>
            </a:r>
            <a:r>
              <a:rPr lang="en-US" sz="4800" b="1" baseline="0" dirty="0"/>
              <a:t>Externalities and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aseline="0" dirty="0" smtClean="0"/>
              <a:t> </a:t>
            </a:r>
            <a:r>
              <a:rPr lang="en-US" baseline="0" dirty="0" smtClean="0"/>
              <a:t>19</a:t>
            </a:r>
            <a:r>
              <a:rPr lang="en-US" b="1" baseline="0" dirty="0" smtClean="0"/>
              <a:t>	 		</a:t>
            </a:r>
            <a:r>
              <a:rPr lang="en-US" sz="4800" b="1" baseline="0" dirty="0" smtClean="0"/>
              <a:t>Public </a:t>
            </a:r>
            <a:r>
              <a:rPr lang="en-US" sz="4800" b="1" baseline="0" dirty="0"/>
              <a:t>Goods</a:t>
            </a:r>
            <a:endParaRPr lang="en-US" sz="44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Defining Externalities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An externality </a:t>
            </a:r>
          </a:p>
          <a:p>
            <a:pPr lvl="1"/>
            <a:r>
              <a:rPr lang="en-US" altLang="en-US" dirty="0" smtClean="0"/>
              <a:t>Occurs whenever the activities of one economic agent </a:t>
            </a:r>
          </a:p>
          <a:p>
            <a:pPr lvl="1"/>
            <a:r>
              <a:rPr lang="en-US" altLang="en-US" dirty="0" smtClean="0"/>
              <a:t>Affect the activities of another economic agent in ways that are not reflected in market transactions</a:t>
            </a:r>
          </a:p>
          <a:p>
            <a:pPr lvl="2"/>
            <a:r>
              <a:rPr lang="en-US" altLang="en-US" dirty="0" smtClean="0"/>
              <a:t>Toxic chemical discharges</a:t>
            </a:r>
          </a:p>
          <a:p>
            <a:pPr lvl="2"/>
            <a:r>
              <a:rPr lang="en-US" altLang="en-US" dirty="0" smtClean="0"/>
              <a:t>Noise from airplanes</a:t>
            </a:r>
          </a:p>
          <a:p>
            <a:pPr lvl="2"/>
            <a:r>
              <a:rPr lang="en-US" altLang="en-US" dirty="0" smtClean="0"/>
              <a:t>Litter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F340E4-A5BA-4F21-80DB-2567B0C31C7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6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Externalities in Production</a:t>
            </a:r>
            <a:endParaRPr lang="en-US" altLang="en-US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Two firms</a:t>
            </a:r>
          </a:p>
          <a:p>
            <a:pPr lvl="1"/>
            <a:r>
              <a:rPr lang="en-US" altLang="en-US" dirty="0" smtClean="0"/>
              <a:t>One producing good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the other producing good </a:t>
            </a:r>
            <a:r>
              <a:rPr lang="en-US" altLang="en-US" i="1" dirty="0" smtClean="0"/>
              <a:t>y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The production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will have an external effect on the production of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</a:t>
            </a:r>
          </a:p>
          <a:p>
            <a:pPr lvl="2"/>
            <a:r>
              <a:rPr lang="en-US" altLang="en-US" dirty="0" smtClean="0"/>
              <a:t>If the output of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depends not only on the level of inputs chosen by the firm but on the level at which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is produced</a:t>
            </a:r>
          </a:p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= f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sz="36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D8F97E-E7C2-4E88-A935-1A71EE3BB63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0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Beneficial Externalities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relationship between the two firms can be beneficial</a:t>
            </a:r>
          </a:p>
          <a:p>
            <a:pPr lvl="1"/>
            <a:r>
              <a:rPr lang="en-US" altLang="en-US" smtClean="0"/>
              <a:t>Two firms, one producing honey and the other producing apples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0688BFF-272D-4939-A8CA-7700E4AE8AD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14940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202787"/>
              </p:ext>
            </p:extLst>
          </p:nvPr>
        </p:nvGraphicFramePr>
        <p:xfrm>
          <a:off x="3823037" y="3462338"/>
          <a:ext cx="1256963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14" name="Equation" r:id="rId3" imgW="444240" imgH="393480" progId="Equation.DSMT4">
                  <p:embed/>
                </p:oleObj>
              </mc:Choice>
              <mc:Fallback>
                <p:oleObj name="Equation" r:id="rId3" imgW="444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3037" y="3462338"/>
                        <a:ext cx="1256963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547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Externalities in </a:t>
            </a:r>
            <a:r>
              <a:rPr lang="en-US" altLang="en-US" dirty="0" smtClean="0"/>
              <a:t>Consumption</a:t>
            </a:r>
            <a:endParaRPr lang="en-US" alt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Externalities </a:t>
            </a:r>
          </a:p>
          <a:p>
            <a:pPr lvl="1"/>
            <a:r>
              <a:rPr lang="en-US" altLang="en-US" dirty="0" smtClean="0"/>
              <a:t>Can also occur if the activities of an economic agent directly affect an individual’s utility</a:t>
            </a:r>
          </a:p>
          <a:p>
            <a:pPr lvl="1"/>
            <a:r>
              <a:rPr lang="en-US" altLang="en-US" dirty="0" smtClean="0"/>
              <a:t>Externalities can decrease or increase utility</a:t>
            </a:r>
          </a:p>
          <a:p>
            <a:r>
              <a:rPr lang="en-US" altLang="en-US" dirty="0" smtClean="0"/>
              <a:t>Person A’s </a:t>
            </a:r>
            <a:r>
              <a:rPr lang="en-US" altLang="en-US" dirty="0" smtClean="0"/>
              <a:t>utility 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3200" i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,…,</a:t>
            </a:r>
            <a:r>
              <a:rPr lang="en-US" altLang="en-US" sz="32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altLang="en-US" sz="32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3200" i="1" baseline="3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Depends </a:t>
            </a:r>
            <a:r>
              <a:rPr lang="en-US" altLang="en-US" dirty="0" smtClean="0"/>
              <a:t>on the utility of </a:t>
            </a:r>
            <a:r>
              <a:rPr lang="en-US" altLang="en-US" dirty="0" smtClean="0"/>
              <a:t>another (B’s)</a:t>
            </a:r>
            <a:endParaRPr lang="en-US" altLang="en-US" dirty="0" smtClean="0"/>
          </a:p>
          <a:p>
            <a:pPr lvl="2">
              <a:lnSpc>
                <a:spcPct val="150000"/>
              </a:lnSpc>
            </a:pPr>
            <a:r>
              <a:rPr lang="en-US" altLang="en-US" dirty="0" smtClean="0">
                <a:cs typeface="Times New Roman" pitchFamily="18" charset="0"/>
              </a:rPr>
              <a:t>Where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en-US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smtClean="0">
                <a:cs typeface="Times New Roman" pitchFamily="18" charset="0"/>
              </a:rPr>
              <a:t>are goods consumed by 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07BA74-DD47-4D79-A5D5-6970755CF90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7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Externalities in </a:t>
            </a:r>
            <a:r>
              <a:rPr lang="en-US" altLang="en-US" dirty="0" smtClean="0"/>
              <a:t>Consumption</a:t>
            </a:r>
            <a:endParaRPr lang="en-US" alt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Person A’s </a:t>
            </a:r>
            <a:r>
              <a:rPr lang="en-US" altLang="en-US" dirty="0" smtClean="0"/>
              <a:t>utility 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3200" i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,…,</a:t>
            </a:r>
            <a:r>
              <a:rPr lang="en-US" altLang="en-US" sz="32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altLang="en-US" sz="32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3200" i="1" baseline="3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If A is altruistic (wants B to be well off),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∂U</a:t>
            </a:r>
            <a:r>
              <a:rPr lang="en-US" altLang="en-US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/∂U</a:t>
            </a:r>
            <a:r>
              <a:rPr lang="en-US" altLang="en-US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</a:p>
          <a:p>
            <a:pPr lvl="1"/>
            <a:r>
              <a:rPr lang="en-US" altLang="en-US" dirty="0" smtClean="0">
                <a:cs typeface="Times New Roman" pitchFamily="18" charset="0"/>
              </a:rPr>
              <a:t>If A is envious of B,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∂U</a:t>
            </a:r>
            <a:r>
              <a:rPr lang="en-US" alt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/∂U</a:t>
            </a:r>
            <a:r>
              <a:rPr lang="en-US" alt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 0</a:t>
            </a:r>
          </a:p>
          <a:p>
            <a:pPr lvl="1"/>
            <a:r>
              <a:rPr lang="en-US" altLang="en-US" dirty="0" smtClean="0"/>
              <a:t>If A is indifferent to B’s welfare,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∂U</a:t>
            </a:r>
            <a:r>
              <a:rPr lang="en-US" alt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/∂U</a:t>
            </a:r>
            <a:r>
              <a:rPr lang="en-US" alt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dirty="0"/>
          </a:p>
          <a:p>
            <a:pPr lvl="1"/>
            <a:endParaRPr lang="en-US" altLang="en-US" dirty="0" smtClean="0"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07BA74-DD47-4D79-A5D5-6970755CF90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8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Externalities from </a:t>
            </a:r>
            <a:r>
              <a:rPr lang="en-US" altLang="en-US" dirty="0"/>
              <a:t>Public Goods </a:t>
            </a:r>
            <a:endParaRPr lang="en-US" altLang="en-US" dirty="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Public goods are nonexclusive</a:t>
            </a:r>
          </a:p>
          <a:p>
            <a:pPr lvl="1"/>
            <a:r>
              <a:rPr lang="en-US" altLang="en-US" smtClean="0"/>
              <a:t>Once they are produced, they provide benefits to an entire group</a:t>
            </a:r>
          </a:p>
          <a:p>
            <a:pPr lvl="1"/>
            <a:r>
              <a:rPr lang="en-US" altLang="en-US" smtClean="0"/>
              <a:t>It is impossible to restrict these benefits to the specific groups of individuals who pay for them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B2500B-0665-48B9-9C75-8F1B66964EE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7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Externalities and Allocative Inefficiency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Externalities </a:t>
            </a:r>
          </a:p>
          <a:p>
            <a:pPr lvl="1"/>
            <a:r>
              <a:rPr lang="en-US" altLang="en-US" dirty="0" smtClean="0"/>
              <a:t>Lead to inefficient allocations of resources</a:t>
            </a:r>
          </a:p>
          <a:p>
            <a:pPr lvl="2"/>
            <a:r>
              <a:rPr lang="en-US" altLang="en-US" dirty="0" smtClean="0"/>
              <a:t>Market prices do not accurately reflect the additional costs or benefits to third parties</a:t>
            </a:r>
          </a:p>
          <a:p>
            <a:r>
              <a:rPr lang="en-US" altLang="en-US" dirty="0" smtClean="0"/>
              <a:t>One individual’s utility function </a:t>
            </a:r>
            <a:r>
              <a:rPr lang="en-US" alt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utility </a:t>
            </a:r>
            <a:r>
              <a:rPr lang="en-US" alt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3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30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en-US" sz="30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sz="3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en-US" dirty="0" smtClean="0"/>
              <a:t> </a:t>
            </a:r>
            <a:r>
              <a:rPr lang="en-US" altLang="en-US" i="1" dirty="0" smtClean="0"/>
              <a:t>x </a:t>
            </a:r>
            <a:r>
              <a:rPr lang="en-US" altLang="en-US" dirty="0" smtClean="0"/>
              <a:t>and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</a:t>
            </a:r>
            <a:r>
              <a:rPr lang="en-US" altLang="en-US" dirty="0" smtClean="0"/>
              <a:t>are </a:t>
            </a:r>
            <a:r>
              <a:rPr lang="en-US" altLang="en-US" dirty="0" smtClean="0"/>
              <a:t>quantities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consumed</a:t>
            </a:r>
          </a:p>
          <a:p>
            <a:pPr lvl="1"/>
            <a:r>
              <a:rPr lang="en-US" altLang="en-US" dirty="0" smtClean="0"/>
              <a:t>Has labor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 = l</a:t>
            </a:r>
            <a:r>
              <a:rPr lang="en-US" alt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en-US" dirty="0" smtClean="0"/>
              <a:t>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is labor allocated to the production of good x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dirty="0" smtClean="0"/>
              <a:t> </a:t>
            </a:r>
            <a:r>
              <a:rPr lang="en-US" altLang="en-US" dirty="0"/>
              <a:t>is labor allocated to the production of good 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090C86-1F78-4BA9-9858-0B2AA5CE325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1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Externalities and Allocative Inefficiency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Production function for good x: 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3200" i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sz="3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dirty="0" smtClean="0"/>
              <a:t>The output of good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depends </a:t>
            </a:r>
            <a:r>
              <a:rPr lang="en-US" altLang="en-US" dirty="0" smtClean="0"/>
              <a:t>on: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Amount of </a:t>
            </a:r>
            <a:r>
              <a:rPr lang="en-US" altLang="en-US" dirty="0" smtClean="0"/>
              <a:t>labor </a:t>
            </a:r>
            <a:r>
              <a:rPr lang="en-US" altLang="en-US" dirty="0" smtClean="0"/>
              <a:t>used </a:t>
            </a:r>
            <a:r>
              <a:rPr lang="en-US" altLang="en-US" dirty="0" smtClean="0"/>
              <a:t>and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Amount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</a:t>
            </a:r>
            <a:r>
              <a:rPr lang="en-US" altLang="en-US" dirty="0" smtClean="0"/>
              <a:t>produced</a:t>
            </a:r>
          </a:p>
          <a:p>
            <a:r>
              <a:rPr lang="en-US" altLang="en-US" dirty="0" smtClean="0"/>
              <a:t>Production function for good y: 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32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3200" i="1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sz="3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altLang="en-US" dirty="0" smtClean="0"/>
              <a:t>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 smtClean="0"/>
              <a:t> </a:t>
            </a:r>
            <a:r>
              <a:rPr lang="en-US" altLang="en-US" dirty="0" smtClean="0"/>
              <a:t>&gt; 0: more </a:t>
            </a:r>
            <a:r>
              <a:rPr lang="en-US" altLang="en-US" dirty="0" smtClean="0"/>
              <a:t>labor </a:t>
            </a:r>
            <a:r>
              <a:rPr lang="en-US" altLang="en-US" dirty="0" smtClean="0"/>
              <a:t>produces more y output</a:t>
            </a:r>
          </a:p>
          <a:p>
            <a:pPr lvl="3"/>
            <a:r>
              <a:rPr lang="en-US" altLang="en-US" dirty="0" smtClean="0"/>
              <a:t>Negative externality: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</a:t>
            </a:r>
            <a:r>
              <a:rPr lang="en-US" altLang="en-US" dirty="0" smtClean="0"/>
              <a:t>&lt; </a:t>
            </a:r>
            <a:r>
              <a:rPr lang="en-US" altLang="en-US" dirty="0" smtClean="0"/>
              <a:t>0</a:t>
            </a:r>
            <a:endParaRPr lang="en-US" altLang="en-US" dirty="0"/>
          </a:p>
          <a:p>
            <a:pPr lvl="3"/>
            <a:r>
              <a:rPr lang="en-US" altLang="en-US" dirty="0" smtClean="0"/>
              <a:t>Positive externality: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/>
              <a:t> &lt; </a:t>
            </a:r>
            <a:r>
              <a:rPr lang="en-US" altLang="en-US" dirty="0" smtClean="0"/>
              <a:t>0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A11226-6DD5-40AA-B2EA-56035A6B06C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1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Finding the </a:t>
            </a:r>
            <a:r>
              <a:rPr lang="en-US" altLang="en-US" dirty="0" smtClean="0"/>
              <a:t>Efficient Allocation</a:t>
            </a:r>
            <a:endParaRPr lang="en-US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2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Maximize utility </a:t>
                </a:r>
                <a:endParaRPr lang="en-US" altLang="en-US" dirty="0" smtClean="0"/>
              </a:p>
              <a:p>
                <a:pPr algn="ctr">
                  <a:buFontTx/>
                  <a:buNone/>
                </a:pPr>
                <a:r>
                  <a:rPr lang="en-US" altLang="en-US" sz="2800" i="1" dirty="0" smtClean="0">
                    <a:latin typeface="Times New Roman" pitchFamily="18" charset="0"/>
                    <a:cs typeface="Times New Roman" pitchFamily="18" charset="0"/>
                  </a:rPr>
                  <a:t>U(x, y) = U(f(l</a:t>
                </a:r>
                <a:r>
                  <a:rPr lang="en-US" altLang="en-US" sz="2800" i="1" baseline="-25000" dirty="0" smtClean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2800" i="1" dirty="0" smtClean="0">
                    <a:latin typeface="Times New Roman" pitchFamily="18" charset="0"/>
                    <a:cs typeface="Times New Roman" pitchFamily="18" charset="0"/>
                  </a:rPr>
                  <a:t>), g(</a:t>
                </a:r>
                <a:r>
                  <a:rPr lang="en-US" altLang="en-US" sz="2800" i="1" dirty="0" err="1" smtClean="0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2800" i="1" baseline="-25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 smtClean="0">
                    <a:latin typeface="Times New Roman" pitchFamily="18" charset="0"/>
                    <a:cs typeface="Times New Roman" pitchFamily="18" charset="0"/>
                  </a:rPr>
                  <a:t>,x)) = U(f(l</a:t>
                </a:r>
                <a:r>
                  <a:rPr lang="en-US" altLang="en-US" sz="2800" i="1" baseline="-25000" dirty="0" smtClean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2800" i="1" dirty="0">
                    <a:latin typeface="Times New Roman" pitchFamily="18" charset="0"/>
                    <a:cs typeface="Times New Roman" pitchFamily="18" charset="0"/>
                  </a:rPr>
                  <a:t>), g(</a:t>
                </a:r>
                <a:r>
                  <a:rPr lang="en-US" altLang="en-US" sz="2800" i="1" dirty="0" err="1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2800" i="1" baseline="-25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altLang="en-US" sz="2800" i="1" dirty="0">
                    <a:latin typeface="Times New Roman" pitchFamily="18" charset="0"/>
                    <a:cs typeface="Times New Roman" pitchFamily="18" charset="0"/>
                  </a:rPr>
                  <a:t> f(l</a:t>
                </a:r>
                <a:r>
                  <a:rPr lang="en-US" altLang="en-US" sz="2800" i="1" baseline="-25000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2800" i="1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altLang="en-US" sz="2800" i="1" dirty="0" smtClean="0">
                    <a:latin typeface="Times New Roman" pitchFamily="18" charset="0"/>
                    <a:cs typeface="Times New Roman" pitchFamily="18" charset="0"/>
                  </a:rPr>
                  <a:t>)) </a:t>
                </a:r>
                <a:endParaRPr lang="en-US" altLang="en-US" sz="28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en-US" dirty="0" smtClean="0"/>
                  <a:t>Subject to constraint on labor endowment</a:t>
                </a:r>
              </a:p>
              <a:p>
                <a:r>
                  <a:rPr lang="en-US" altLang="en-US" sz="3200" dirty="0" smtClean="0"/>
                  <a:t>The </a:t>
                </a:r>
                <a:r>
                  <a:rPr lang="en-US" altLang="en-US" sz="3200" dirty="0" err="1" smtClean="0"/>
                  <a:t>Lagrangian</a:t>
                </a:r>
                <a:r>
                  <a:rPr lang="en-US" altLang="en-US" sz="3200" dirty="0" smtClean="0"/>
                  <a:t>: </a:t>
                </a:r>
                <a:r>
                  <a:rPr lang="en-US" altLang="en-US" sz="2800" b="1" dirty="0" smtClean="0">
                    <a:solidFill>
                      <a:schemeClr val="tx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ℒ</a:t>
                </a:r>
                <a:r>
                  <a:rPr lang="en-US" altLang="en-US" sz="28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en-US" sz="2800" dirty="0" smtClean="0">
                    <a:solidFill>
                      <a:schemeClr val="tx1"/>
                    </a:solidFill>
                  </a:rPr>
                  <a:t>= 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U(f(l</a:t>
                </a:r>
                <a:r>
                  <a:rPr lang="en-US" altLang="en-US" sz="2800" i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), g(</a:t>
                </a:r>
                <a:r>
                  <a:rPr lang="en-US" altLang="en-US" sz="2800" i="1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2800" i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f(l</a:t>
                </a:r>
                <a:r>
                  <a:rPr lang="en-US" altLang="en-US" sz="2800" i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))) </a:t>
                </a:r>
                <a:r>
                  <a:rPr lang="en-US" altLang="en-US" sz="28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+ </a:t>
                </a:r>
                <a:r>
                  <a:rPr lang="en-US" altLang="en-US" sz="28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</a:t>
                </a:r>
                <a:r>
                  <a:rPr lang="en-US" altLang="en-US" sz="2800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2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(l – l</a:t>
                </a:r>
                <a:r>
                  <a:rPr lang="en-US" altLang="en-US" sz="2800" i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en-US" sz="28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– </a:t>
                </a:r>
                <a:r>
                  <a:rPr lang="en-US" altLang="en-US" sz="28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l</a:t>
                </a:r>
                <a:r>
                  <a:rPr lang="en-US" altLang="en-US" sz="28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en-US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lang="en-US" altLang="en-US" sz="28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  </a:t>
                </a:r>
                <a:endParaRPr lang="en-US" altLang="en-US" sz="28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  <a:p>
                <a:r>
                  <a:rPr lang="en-US" altLang="en-US" sz="3200" dirty="0" smtClean="0">
                    <a:cs typeface="Times New Roman" pitchFamily="18" charset="0"/>
                    <a:sym typeface="Symbol" pitchFamily="18" charset="2"/>
                  </a:rPr>
                  <a:t>First-order conditions:</a:t>
                </a:r>
                <a:r>
                  <a:rPr lang="en-US" altLang="en-US" sz="2800" dirty="0" smtClean="0"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𝜕</m:t>
                        </m:r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𝐿</m:t>
                        </m:r>
                      </m:num>
                      <m:den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  <a:sym typeface="Symbol" pitchFamily="18" charset="2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  <a:sym typeface="Symbol" pitchFamily="18" charset="2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altLang="en-US" sz="2800" b="0" i="1" smtClean="0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𝑈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𝑙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+</m:t>
                    </m:r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𝑈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𝑙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−</m:t>
                    </m:r>
                    <m:r>
                      <a:rPr lang="en-US" altLang="en-US" sz="28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Times New Roman" pitchFamily="18" charset="0"/>
                        <a:sym typeface="Symbol" pitchFamily="18" charset="2"/>
                      </a:rPr>
                      <m:t>𝜆</m:t>
                    </m:r>
                    <m:r>
                      <a:rPr lang="en-US" altLang="en-US" sz="28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Times New Roman" pitchFamily="18" charset="0"/>
                        <a:sym typeface="Symbol" pitchFamily="18" charset="2"/>
                      </a:rPr>
                      <m:t>=0</m:t>
                    </m:r>
                  </m:oMath>
                </a14:m>
                <a:r>
                  <a:rPr lang="en-US" altLang="en-US" sz="2800" dirty="0" smtClean="0">
                    <a:solidFill>
                      <a:schemeClr val="tx1"/>
                    </a:solidFill>
                    <a:cs typeface="Times New Roman" pitchFamily="18" charset="0"/>
                    <a:sym typeface="Symbol" pitchFamily="18" charset="2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𝜕</m:t>
                        </m:r>
                        <m: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𝐿</m:t>
                        </m:r>
                      </m:num>
                      <m:den>
                        <m: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  <a:sym typeface="Symbol" pitchFamily="18" charset="2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  <a:sym typeface="Symbol" pitchFamily="18" charset="2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altLang="en-US" sz="2800" i="1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𝑈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𝑙</m:t>
                        </m:r>
                      </m:sub>
                    </m:sSub>
                    <m:r>
                      <a:rPr lang="en-US" altLang="en-US" sz="2800" i="1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−</m:t>
                    </m:r>
                    <m:r>
                      <a:rPr lang="en-US" altLang="en-US" sz="2800" i="1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Times New Roman" pitchFamily="18" charset="0"/>
                        <a:sym typeface="Symbol" pitchFamily="18" charset="2"/>
                      </a:rPr>
                      <m:t>𝜆</m:t>
                    </m:r>
                    <m:r>
                      <a:rPr lang="en-US" altLang="en-US" sz="2800" i="1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Times New Roman" pitchFamily="18" charset="0"/>
                        <a:sym typeface="Symbol" pitchFamily="18" charset="2"/>
                      </a:rPr>
                      <m:t>=0</m:t>
                    </m:r>
                  </m:oMath>
                </a14:m>
                <a:endParaRPr lang="en-US" altLang="en-US" sz="2800" dirty="0">
                  <a:solidFill>
                    <a:schemeClr val="tx1"/>
                  </a:solidFill>
                  <a:cs typeface="Times New Roman" pitchFamily="18" charset="0"/>
                  <a:sym typeface="Symbol" pitchFamily="18" charset="2"/>
                </a:endParaRPr>
              </a:p>
              <a:p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MRS = 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x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/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y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= 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g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l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/ 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f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l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– 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g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x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= RPT</a:t>
                </a:r>
                <a:endParaRPr lang="en-US" altLang="en-US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266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r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1E4E59-1486-455C-87F9-5388C35EB48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3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800" smtClean="0"/>
              <a:t>Inefficiency of the Competitive Allocation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</a:t>
            </a:r>
            <a:r>
              <a:rPr lang="en-US" altLang="en-US" dirty="0" smtClean="0"/>
              <a:t>utility-maximizing individual: 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MRS 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32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3200" i="1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32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3200" i="1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endParaRPr lang="en-US" altLang="en-US" sz="3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dirty="0" smtClean="0"/>
              <a:t>The profit-maximizing producer of </a:t>
            </a:r>
            <a:r>
              <a:rPr lang="en-US" altLang="en-US" dirty="0" smtClean="0"/>
              <a:t>x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Choose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such: </a:t>
            </a:r>
            <a:r>
              <a:rPr lang="en-US" altLang="en-US" sz="2800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800" i="1" baseline="-25000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800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800" i="1" baseline="-25000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8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= w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(wage)</a:t>
            </a:r>
          </a:p>
          <a:p>
            <a:r>
              <a:rPr lang="en-US" altLang="en-US" dirty="0"/>
              <a:t>The profit-maximizing producer of </a:t>
            </a:r>
            <a:r>
              <a:rPr lang="en-US" altLang="en-US" dirty="0" smtClean="0"/>
              <a:t>y </a:t>
            </a:r>
            <a:endParaRPr lang="en-US" altLang="en-US" dirty="0"/>
          </a:p>
          <a:p>
            <a:pPr lvl="1"/>
            <a:r>
              <a:rPr lang="en-US" altLang="en-US" dirty="0"/>
              <a:t>Choose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dirty="0" smtClean="0"/>
              <a:t> </a:t>
            </a:r>
            <a:r>
              <a:rPr lang="en-US" altLang="en-US" dirty="0"/>
              <a:t>such: </a:t>
            </a:r>
            <a:r>
              <a:rPr lang="en-US" altLang="en-US" sz="2800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800" i="1" baseline="-25000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i="1" baseline="-25000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8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28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endParaRPr lang="en-US" altLang="en-US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dirty="0" smtClean="0">
                <a:cs typeface="Times New Roman" pitchFamily="18" charset="0"/>
              </a:rPr>
              <a:t>Equilibrium condition </a:t>
            </a:r>
            <a:r>
              <a:rPr lang="en-US" altLang="en-US" dirty="0">
                <a:cs typeface="Times New Roman" pitchFamily="18" charset="0"/>
              </a:rPr>
              <a:t>for </a:t>
            </a:r>
            <a:r>
              <a:rPr lang="en-US" altLang="en-US" dirty="0" smtClean="0">
                <a:cs typeface="Times New Roman" pitchFamily="18" charset="0"/>
              </a:rPr>
              <a:t>competitive pricing: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MRS = </a:t>
            </a:r>
            <a:r>
              <a:rPr lang="en-US" altLang="en-US" i="1" dirty="0" err="1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altLang="en-US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endParaRPr lang="en-US" altLang="en-US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B33023-6B5D-43C9-BE26-71007D3941C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5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800" smtClean="0"/>
              <a:t>Inefficiency of the Competitive Allocation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cs typeface="Times New Roman" pitchFamily="18" charset="0"/>
              </a:rPr>
              <a:t>If x generates a negative externality</a:t>
            </a:r>
          </a:p>
          <a:p>
            <a:pPr lvl="1"/>
            <a:r>
              <a:rPr lang="en-US" altLang="en-US" dirty="0" smtClean="0">
                <a:cs typeface="Times New Roman" pitchFamily="18" charset="0"/>
              </a:rPr>
              <a:t>Then </a:t>
            </a:r>
            <a:r>
              <a:rPr lang="en-US" altLang="en-US" dirty="0" err="1" smtClean="0">
                <a:cs typeface="Times New Roman" pitchFamily="18" charset="0"/>
              </a:rPr>
              <a:t>g</a:t>
            </a:r>
            <a:r>
              <a:rPr lang="en-US" altLang="en-US" baseline="-25000" dirty="0" err="1" smtClean="0">
                <a:cs typeface="Times New Roman" pitchFamily="18" charset="0"/>
              </a:rPr>
              <a:t>x</a:t>
            </a:r>
            <a:r>
              <a:rPr lang="en-US" altLang="en-US" dirty="0" smtClean="0">
                <a:cs typeface="Times New Roman" pitchFamily="18" charset="0"/>
              </a:rPr>
              <a:t> &lt; 0: the competitive </a:t>
            </a:r>
            <a:r>
              <a:rPr lang="en-US" altLang="en-US" dirty="0">
                <a:cs typeface="Times New Roman" pitchFamily="18" charset="0"/>
              </a:rPr>
              <a:t>market leads to too much </a:t>
            </a:r>
            <a:r>
              <a:rPr lang="en-US" altLang="en-US" dirty="0" smtClean="0">
                <a:cs typeface="Times New Roman" pitchFamily="18" charset="0"/>
              </a:rPr>
              <a:t>x compared to the social optimum</a:t>
            </a:r>
          </a:p>
          <a:p>
            <a:r>
              <a:rPr lang="en-US" altLang="en-US" dirty="0">
                <a:cs typeface="Times New Roman" pitchFamily="18" charset="0"/>
              </a:rPr>
              <a:t>If x generates a </a:t>
            </a:r>
            <a:r>
              <a:rPr lang="en-US" altLang="en-US" dirty="0" smtClean="0">
                <a:cs typeface="Times New Roman" pitchFamily="18" charset="0"/>
              </a:rPr>
              <a:t>positive externality</a:t>
            </a:r>
            <a:endParaRPr lang="en-US" altLang="en-US" dirty="0">
              <a:cs typeface="Times New Roman" pitchFamily="18" charset="0"/>
            </a:endParaRPr>
          </a:p>
          <a:p>
            <a:pPr lvl="1"/>
            <a:r>
              <a:rPr lang="en-US" altLang="en-US" dirty="0">
                <a:cs typeface="Times New Roman" pitchFamily="18" charset="0"/>
              </a:rPr>
              <a:t>Then </a:t>
            </a:r>
            <a:r>
              <a:rPr lang="en-US" altLang="en-US" dirty="0" err="1">
                <a:cs typeface="Times New Roman" pitchFamily="18" charset="0"/>
              </a:rPr>
              <a:t>g</a:t>
            </a:r>
            <a:r>
              <a:rPr lang="en-US" altLang="en-US" baseline="-25000" dirty="0" err="1">
                <a:cs typeface="Times New Roman" pitchFamily="18" charset="0"/>
              </a:rPr>
              <a:t>x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 smtClean="0">
                <a:cs typeface="Times New Roman" pitchFamily="18" charset="0"/>
              </a:rPr>
              <a:t>&gt; 0: the </a:t>
            </a:r>
            <a:r>
              <a:rPr lang="en-US" altLang="en-US" dirty="0">
                <a:cs typeface="Times New Roman" pitchFamily="18" charset="0"/>
              </a:rPr>
              <a:t>competitive </a:t>
            </a:r>
            <a:r>
              <a:rPr lang="en-US" altLang="en-US" dirty="0" smtClean="0">
                <a:cs typeface="Times New Roman" pitchFamily="18" charset="0"/>
              </a:rPr>
              <a:t>allocation involves </a:t>
            </a:r>
            <a:r>
              <a:rPr lang="en-US" altLang="en-US" dirty="0">
                <a:cs typeface="Times New Roman" pitchFamily="18" charset="0"/>
              </a:rPr>
              <a:t>too little x </a:t>
            </a:r>
            <a:r>
              <a:rPr lang="en-US" altLang="en-US" dirty="0" smtClean="0">
                <a:cs typeface="Times New Roman" pitchFamily="18" charset="0"/>
              </a:rPr>
              <a:t> </a:t>
            </a:r>
            <a:endParaRPr lang="en-US" altLang="en-US" dirty="0">
              <a:cs typeface="Times New Roman" pitchFamily="18" charset="0"/>
            </a:endParaRPr>
          </a:p>
          <a:p>
            <a:r>
              <a:rPr lang="en-US" altLang="en-US" dirty="0" smtClean="0">
                <a:cs typeface="Times New Roman" pitchFamily="18" charset="0"/>
              </a:rPr>
              <a:t>If </a:t>
            </a:r>
            <a:r>
              <a:rPr lang="en-US" altLang="en-US" dirty="0" err="1">
                <a:cs typeface="Times New Roman" pitchFamily="18" charset="0"/>
              </a:rPr>
              <a:t>g</a:t>
            </a:r>
            <a:r>
              <a:rPr lang="en-US" altLang="en-US" baseline="-25000" dirty="0" err="1">
                <a:cs typeface="Times New Roman" pitchFamily="18" charset="0"/>
              </a:rPr>
              <a:t>x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 smtClean="0">
                <a:cs typeface="Times New Roman" pitchFamily="18" charset="0"/>
              </a:rPr>
              <a:t>= 0, no externality</a:t>
            </a:r>
          </a:p>
          <a:p>
            <a:pPr lvl="1"/>
            <a:r>
              <a:rPr lang="en-US" altLang="en-US" dirty="0" smtClean="0">
                <a:cs typeface="Times New Roman" pitchFamily="18" charset="0"/>
              </a:rPr>
              <a:t>Competitive equilibrium is efficient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B33023-6B5D-43C9-BE26-71007D3941C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19.1	 Production Externalities</a:t>
            </a:r>
          </a:p>
        </p:txBody>
      </p:sp>
      <p:sp>
        <p:nvSpPr>
          <p:cNvPr id="3379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EC091128-CC64-4EF1-A07B-25DC2EA46BA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795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Two newsprint producers </a:t>
                </a:r>
              </a:p>
              <a:p>
                <a:pPr lvl="1"/>
                <a:r>
                  <a:rPr lang="en-US" altLang="en-US" dirty="0" smtClean="0"/>
                  <a:t>Are located along a river</a:t>
                </a:r>
              </a:p>
              <a:p>
                <a:pPr lvl="1"/>
                <a:r>
                  <a:rPr lang="en-US" altLang="en-US" dirty="0" smtClean="0"/>
                  <a:t>The upstream firm has a production function:  </a:t>
                </a:r>
              </a:p>
              <a:p>
                <a:pPr algn="ctr">
                  <a:lnSpc>
                    <a:spcPct val="140000"/>
                  </a:lnSpc>
                  <a:buFontTx/>
                  <a:buNone/>
                </a:pPr>
                <a:r>
                  <a:rPr lang="en-US" altLang="en-US" sz="28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x = f(l</a:t>
                </a:r>
                <a:r>
                  <a:rPr lang="en-US" altLang="en-US" sz="2800" i="1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2,000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en-US" sz="2800" i="1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US" altLang="en-US" sz="2800" i="1" baseline="-250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rPr>
                          <m:t>x</m:t>
                        </m:r>
                      </m:e>
                    </m:rad>
                  </m:oMath>
                </a14:m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en-US" sz="28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en-US" dirty="0" smtClean="0"/>
                  <a:t>The downstream firm - similar production function</a:t>
                </a:r>
              </a:p>
              <a:p>
                <a:pPr lvl="2"/>
                <a:r>
                  <a:rPr lang="en-US" altLang="en-US" dirty="0" smtClean="0"/>
                  <a:t>Its output may be affected by chemicals that firm </a:t>
                </a:r>
                <a:r>
                  <a:rPr lang="en-US" altLang="en-US" i="1" dirty="0" smtClean="0"/>
                  <a:t>x </a:t>
                </a:r>
                <a:r>
                  <a:rPr lang="en-US" altLang="en-US" dirty="0" smtClean="0"/>
                  <a:t>pours in the river</a:t>
                </a:r>
              </a:p>
              <a:p>
                <a:pPr algn="ctr">
                  <a:lnSpc>
                    <a:spcPct val="140000"/>
                  </a:lnSpc>
                  <a:buFontTx/>
                  <a:buNone/>
                </a:pP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en-US" altLang="en-US" sz="28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g(</a:t>
                </a:r>
                <a:r>
                  <a:rPr lang="en-US" altLang="en-US" sz="2800" i="1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28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,x) =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2,000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en-US" sz="2800" i="1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US" altLang="en-US" sz="2800" i="1" baseline="-250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rPr>
                          <m:t>y</m:t>
                        </m:r>
                      </m:e>
                    </m:rad>
                  </m:oMath>
                </a14:m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·(1 + </a:t>
                </a:r>
                <a:r>
                  <a:rPr lang="el-GR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α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</a:t>
                </a:r>
                <a:endParaRPr lang="en-US" altLang="en-US" sz="28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3379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167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40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19.1	 Production Externalities</a:t>
            </a:r>
          </a:p>
        </p:txBody>
      </p:sp>
      <p:sp>
        <p:nvSpPr>
          <p:cNvPr id="205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E89AEFF1-8257-49A7-807A-195DE815959E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052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37338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en-US" dirty="0" smtClean="0"/>
              <a:t>Assume</a:t>
            </a:r>
          </a:p>
          <a:p>
            <a:pPr lvl="1"/>
            <a:r>
              <a:rPr lang="en-US" altLang="en-US" dirty="0" smtClean="0"/>
              <a:t>Newsprint sells for </a:t>
            </a:r>
            <a:r>
              <a:rPr lang="en-US" altLang="en-US" dirty="0" smtClean="0"/>
              <a:t>P = $1 </a:t>
            </a:r>
            <a:r>
              <a:rPr lang="en-US" altLang="en-US" dirty="0" smtClean="0"/>
              <a:t>per foot</a:t>
            </a:r>
          </a:p>
          <a:p>
            <a:pPr lvl="1"/>
            <a:r>
              <a:rPr lang="en-US" altLang="en-US" dirty="0" smtClean="0"/>
              <a:t>Workers earn </a:t>
            </a:r>
            <a:r>
              <a:rPr lang="en-US" altLang="en-US" dirty="0" smtClean="0"/>
              <a:t>w = $100 </a:t>
            </a:r>
            <a:r>
              <a:rPr lang="en-US" altLang="en-US" dirty="0" smtClean="0"/>
              <a:t>per day</a:t>
            </a:r>
          </a:p>
          <a:p>
            <a:r>
              <a:rPr lang="en-US" altLang="en-US" dirty="0" smtClean="0"/>
              <a:t>Firm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will maximize profits</a:t>
            </a:r>
          </a:p>
          <a:p>
            <a:pPr lvl="1"/>
            <a:r>
              <a:rPr lang="en-US" altLang="en-US" dirty="0" smtClean="0"/>
              <a:t>Setting this wage equal to the labor’s </a:t>
            </a:r>
            <a:r>
              <a:rPr lang="en-US" altLang="en-US" dirty="0" smtClean="0"/>
              <a:t>marginal revenue </a:t>
            </a:r>
            <a:r>
              <a:rPr lang="en-US" altLang="en-US" dirty="0" smtClean="0"/>
              <a:t>product</a:t>
            </a:r>
            <a:endParaRPr lang="en-US" altLang="en-US" sz="2400" dirty="0" smtClean="0">
              <a:solidFill>
                <a:srgbClr val="5858D4"/>
              </a:solidFill>
              <a:sym typeface="Symbol" pitchFamily="18" charset="2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4572000"/>
            <a:ext cx="8382000" cy="1600200"/>
          </a:xfrm>
        </p:spPr>
        <p:txBody>
          <a:bodyPr/>
          <a:lstStyle/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 </a:t>
            </a:r>
            <a:r>
              <a:rPr lang="en-US" i="1" kern="0" dirty="0" smtClean="0">
                <a:latin typeface="Times New Roman" pitchFamily="18" charset="0"/>
              </a:rPr>
              <a:t>l</a:t>
            </a:r>
            <a:r>
              <a:rPr lang="en-US" i="1" kern="0" baseline="-25000" dirty="0" smtClean="0"/>
              <a:t>x</a:t>
            </a:r>
            <a:r>
              <a:rPr lang="en-US" kern="0" dirty="0" smtClean="0"/>
              <a:t> </a:t>
            </a:r>
            <a:r>
              <a:rPr lang="en-US" kern="0" dirty="0"/>
              <a:t>= </a:t>
            </a:r>
            <a:r>
              <a:rPr lang="en-US" kern="0" dirty="0" smtClean="0"/>
              <a:t>100 </a:t>
            </a:r>
            <a:endParaRPr lang="en-US" kern="0" dirty="0"/>
          </a:p>
          <a:p>
            <a:pPr lvl="1" eaLnBrk="0" hangingPunct="0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US" kern="0" dirty="0"/>
              <a:t> If </a:t>
            </a:r>
            <a:r>
              <a:rPr lang="en-US" kern="0" dirty="0">
                <a:sym typeface="Symbol" pitchFamily="18" charset="2"/>
              </a:rPr>
              <a:t> = 0 (no externalities), </a:t>
            </a:r>
            <a:r>
              <a:rPr lang="en-US" i="1" kern="0" dirty="0" err="1" smtClean="0">
                <a:latin typeface="Times New Roman" pitchFamily="18" charset="0"/>
                <a:sym typeface="Symbol" pitchFamily="18" charset="2"/>
              </a:rPr>
              <a:t>l</a:t>
            </a:r>
            <a:r>
              <a:rPr lang="en-US" i="1" kern="0" baseline="-25000" dirty="0" err="1" smtClean="0">
                <a:sym typeface="Symbol" pitchFamily="18" charset="2"/>
              </a:rPr>
              <a:t>y</a:t>
            </a:r>
            <a:r>
              <a:rPr lang="en-US" kern="0" dirty="0" smtClean="0">
                <a:sym typeface="Symbol" pitchFamily="18" charset="2"/>
              </a:rPr>
              <a:t> </a:t>
            </a:r>
            <a:r>
              <a:rPr lang="en-US" kern="0" dirty="0">
                <a:sym typeface="Symbol" pitchFamily="18" charset="2"/>
              </a:rPr>
              <a:t>= </a:t>
            </a:r>
            <a:r>
              <a:rPr lang="en-US" kern="0" dirty="0" smtClean="0">
                <a:sym typeface="Symbol" pitchFamily="18" charset="2"/>
              </a:rPr>
              <a:t>100</a:t>
            </a:r>
            <a:endParaRPr lang="en-US" i="1" kern="0" dirty="0">
              <a:sym typeface="Symbol" pitchFamily="18" charset="2"/>
            </a:endParaRPr>
          </a:p>
          <a:p>
            <a:pPr lvl="1"/>
            <a:endParaRPr lang="en-US" dirty="0"/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51180"/>
              </p:ext>
            </p:extLst>
          </p:nvPr>
        </p:nvGraphicFramePr>
        <p:xfrm>
          <a:off x="2651125" y="3687763"/>
          <a:ext cx="34544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40" name="Equation" r:id="rId3" imgW="1511280" imgH="431640" progId="Equation.DSMT4">
                  <p:embed/>
                </p:oleObj>
              </mc:Choice>
              <mc:Fallback>
                <p:oleObj name="Equation" r:id="rId3" imgW="1511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3687763"/>
                        <a:ext cx="3454400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885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19.1	 Production Externalities</a:t>
            </a:r>
          </a:p>
        </p:txBody>
      </p:sp>
      <p:sp>
        <p:nvSpPr>
          <p:cNvPr id="3078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0EC03C4-5008-4549-B308-0D0AB38F55F8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076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en-US" dirty="0"/>
              <a:t>Effects of a negative </a:t>
            </a:r>
            <a:r>
              <a:rPr lang="en-US" altLang="en-US" dirty="0" smtClean="0"/>
              <a:t>externality (</a:t>
            </a:r>
            <a:r>
              <a:rPr lang="en-US" altLang="en-US" dirty="0" smtClean="0">
                <a:sym typeface="Symbol" pitchFamily="18" charset="2"/>
              </a:rPr>
              <a:t> &lt; 0)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Its profit-maximizing decision will be unaffected </a:t>
            </a:r>
            <a:endParaRPr lang="en-US" altLang="en-US" dirty="0" smtClean="0">
              <a:sym typeface="Symbol" pitchFamily="18" charset="2"/>
            </a:endParaRPr>
          </a:p>
          <a:p>
            <a:pPr lvl="1"/>
            <a:r>
              <a:rPr lang="en-US" altLang="en-US" dirty="0" smtClean="0">
                <a:sym typeface="Symbol" pitchFamily="18" charset="2"/>
              </a:rPr>
              <a:t>(</a:t>
            </a:r>
            <a:r>
              <a:rPr lang="en-US" altLang="en-US" i="1" dirty="0" smtClean="0">
                <a:latin typeface="Times New Roman" pitchFamily="18" charset="0"/>
              </a:rPr>
              <a:t>l</a:t>
            </a:r>
            <a:r>
              <a:rPr lang="en-US" altLang="en-US" i="1" baseline="-25000" dirty="0" smtClean="0"/>
              <a:t>x</a:t>
            </a:r>
            <a:r>
              <a:rPr lang="en-US" altLang="en-US" dirty="0" smtClean="0"/>
              <a:t> </a:t>
            </a:r>
            <a:r>
              <a:rPr lang="en-US" altLang="en-US" dirty="0" smtClean="0"/>
              <a:t>= </a:t>
            </a:r>
            <a:r>
              <a:rPr lang="en-US" altLang="en-US" dirty="0" smtClean="0"/>
              <a:t>100 and produces 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</a:t>
            </a:r>
            <a:r>
              <a:rPr lang="en-US" altLang="en-US" dirty="0" smtClean="0"/>
              <a:t>= </a:t>
            </a:r>
            <a:r>
              <a:rPr lang="en-US" altLang="en-US" dirty="0" smtClean="0"/>
              <a:t>20,000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But the marginal product of labor will be lower in firm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because of the externality</a:t>
            </a:r>
          </a:p>
          <a:p>
            <a:pPr lvl="1"/>
            <a:r>
              <a:rPr lang="en-US" altLang="en-US" dirty="0" smtClean="0"/>
              <a:t>If </a:t>
            </a:r>
            <a:r>
              <a:rPr lang="en-US" altLang="en-US" dirty="0" smtClean="0">
                <a:sym typeface="Symbol" pitchFamily="18" charset="2"/>
              </a:rPr>
              <a:t> = </a:t>
            </a:r>
            <a:r>
              <a:rPr lang="en-US" altLang="en-US" dirty="0" smtClean="0">
                <a:sym typeface="Symbol" pitchFamily="18" charset="2"/>
              </a:rPr>
              <a:t>-1/40,000, </a:t>
            </a:r>
            <a:r>
              <a:rPr lang="en-US" altLang="en-US" dirty="0" smtClean="0">
                <a:sym typeface="Symbol" pitchFamily="18" charset="2"/>
              </a:rPr>
              <a:t>firm </a:t>
            </a:r>
            <a:r>
              <a:rPr lang="en-US" altLang="en-US" i="1" dirty="0" smtClean="0">
                <a:sym typeface="Symbol" pitchFamily="18" charset="2"/>
              </a:rPr>
              <a:t>y</a:t>
            </a:r>
            <a:r>
              <a:rPr lang="en-US" altLang="en-US" dirty="0" smtClean="0">
                <a:sym typeface="Symbol" pitchFamily="18" charset="2"/>
              </a:rPr>
              <a:t> will maximize profits by</a:t>
            </a:r>
            <a:endParaRPr lang="en-US" altLang="en-US" i="1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4876800"/>
            <a:ext cx="8382000" cy="1295400"/>
          </a:xfrm>
        </p:spPr>
        <p:txBody>
          <a:bodyPr/>
          <a:lstStyle/>
          <a:p>
            <a:pPr lvl="1"/>
            <a:r>
              <a:rPr lang="en-US" kern="0" dirty="0"/>
              <a:t>Because of the externality, </a:t>
            </a:r>
            <a:r>
              <a:rPr lang="en-US" i="1" kern="0" dirty="0" err="1" smtClean="0">
                <a:latin typeface="Times New Roman" pitchFamily="18" charset="0"/>
              </a:rPr>
              <a:t>l</a:t>
            </a:r>
            <a:r>
              <a:rPr lang="en-US" i="1" kern="0" baseline="-25000" dirty="0" err="1" smtClean="0"/>
              <a:t>y</a:t>
            </a:r>
            <a:r>
              <a:rPr lang="en-US" kern="0" dirty="0" smtClean="0"/>
              <a:t> </a:t>
            </a:r>
            <a:r>
              <a:rPr lang="en-US" kern="0" dirty="0"/>
              <a:t>= </a:t>
            </a:r>
            <a:r>
              <a:rPr lang="en-US" kern="0" dirty="0" smtClean="0"/>
              <a:t>25 workers </a:t>
            </a:r>
            <a:r>
              <a:rPr lang="en-US" kern="0" dirty="0"/>
              <a:t>and </a:t>
            </a:r>
            <a:r>
              <a:rPr lang="en-US" kern="0" dirty="0" smtClean="0"/>
              <a:t>output is </a:t>
            </a:r>
            <a:r>
              <a:rPr lang="en-US" i="1" kern="0" dirty="0" smtClean="0"/>
              <a:t>y</a:t>
            </a:r>
            <a:r>
              <a:rPr lang="en-US" kern="0" dirty="0" smtClean="0"/>
              <a:t> = 5,000</a:t>
            </a:r>
            <a:endParaRPr lang="en-US" kern="0" dirty="0">
              <a:sym typeface="Symbol" pitchFamily="18" charset="2"/>
            </a:endParaRPr>
          </a:p>
          <a:p>
            <a:pPr lvl="1"/>
            <a:endParaRPr lang="en-US" dirty="0"/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414036"/>
              </p:ext>
            </p:extLst>
          </p:nvPr>
        </p:nvGraphicFramePr>
        <p:xfrm>
          <a:off x="1295400" y="3962400"/>
          <a:ext cx="5932487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263" name="Equation" r:id="rId3" imgW="2628720" imgH="444240" progId="Equation.DSMT4">
                  <p:embed/>
                </p:oleObj>
              </mc:Choice>
              <mc:Fallback>
                <p:oleObj name="Equation" r:id="rId3" imgW="2628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62400"/>
                        <a:ext cx="5932487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374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19.1	 Production Externalities</a:t>
            </a:r>
          </a:p>
        </p:txBody>
      </p:sp>
      <p:sp>
        <p:nvSpPr>
          <p:cNvPr id="3482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E64C425-85D0-4F6C-90D4-98D174615C08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819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If the two firms merge</a:t>
                </a:r>
              </a:p>
              <a:p>
                <a:pPr lvl="1"/>
                <a:r>
                  <a:rPr lang="en-US" altLang="en-US" dirty="0" smtClean="0"/>
                  <a:t>Manager - decides how to allocate the combined workforce</a:t>
                </a:r>
              </a:p>
              <a:p>
                <a:pPr lvl="1"/>
                <a:r>
                  <a:rPr lang="en-US" altLang="en-US" dirty="0" smtClean="0"/>
                  <a:t>If one worker is transferred from </a:t>
                </a:r>
                <a:r>
                  <a:rPr lang="en-US" altLang="en-US" i="1" dirty="0" smtClean="0"/>
                  <a:t>x</a:t>
                </a:r>
                <a:r>
                  <a:rPr lang="en-US" altLang="en-US" dirty="0" smtClean="0"/>
                  <a:t> to </a:t>
                </a:r>
                <a:r>
                  <a:rPr lang="en-US" altLang="en-US" i="1" dirty="0" smtClean="0"/>
                  <a:t>y</a:t>
                </a:r>
                <a:r>
                  <a:rPr lang="en-US" altLang="en-US" dirty="0" smtClean="0"/>
                  <a:t>,</a:t>
                </a:r>
              </a:p>
              <a:p>
                <a:pPr lvl="2"/>
                <a:r>
                  <a:rPr lang="en-US" altLang="en-US" dirty="0" smtClean="0"/>
                  <a:t>Output </a:t>
                </a:r>
                <a:r>
                  <a:rPr lang="en-US" altLang="en-US" dirty="0" smtClean="0"/>
                  <a:t>of </a:t>
                </a:r>
                <a:r>
                  <a:rPr lang="en-US" altLang="en-US" i="1" dirty="0" smtClean="0"/>
                  <a:t>x</a:t>
                </a:r>
                <a:r>
                  <a:rPr lang="en-US" altLang="en-US" dirty="0" smtClean="0"/>
                  <a:t> </a:t>
                </a:r>
                <a:r>
                  <a:rPr lang="en-US" altLang="en-US" dirty="0" smtClean="0"/>
                  <a:t>becomes: 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x 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= </a:t>
                </a:r>
                <a:r>
                  <a:rPr lang="en-US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2,000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radPr>
                      <m:deg/>
                      <m:e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99</m:t>
                        </m:r>
                      </m:e>
                    </m:rad>
                  </m:oMath>
                </a14:m>
                <a:r>
                  <a:rPr lang="en-US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= </a:t>
                </a:r>
                <a:r>
                  <a:rPr lang="en-US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19,900</a:t>
                </a:r>
                <a:endParaRPr lang="en-US" alt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  <a:p>
                <a:pPr lvl="2">
                  <a:lnSpc>
                    <a:spcPct val="110000"/>
                  </a:lnSpc>
                </a:pPr>
                <a:r>
                  <a:rPr lang="en-US" altLang="en-US" dirty="0" smtClean="0">
                    <a:sym typeface="Symbol" pitchFamily="18" charset="2"/>
                  </a:rPr>
                  <a:t>And output of </a:t>
                </a:r>
                <a:r>
                  <a:rPr lang="en-US" altLang="en-US" i="1" dirty="0" smtClean="0">
                    <a:sym typeface="Symbol" pitchFamily="18" charset="2"/>
                  </a:rPr>
                  <a:t>y</a:t>
                </a:r>
                <a:r>
                  <a:rPr lang="en-US" altLang="en-US" dirty="0" smtClean="0">
                    <a:sym typeface="Symbol" pitchFamily="18" charset="2"/>
                  </a:rPr>
                  <a:t> becomes</a:t>
                </a:r>
              </a:p>
              <a:p>
                <a:pPr algn="ctr">
                  <a:lnSpc>
                    <a:spcPct val="120000"/>
                  </a:lnSpc>
                  <a:buFontTx/>
                  <a:buNone/>
                </a:pP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y = 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2,000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</m:ctrlPr>
                      </m:radPr>
                      <m:deg/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  <a:sym typeface="Symbol" pitchFamily="18" charset="2"/>
                          </a:rPr>
                          <m:t>26</m:t>
                        </m:r>
                      </m:e>
                    </m:rad>
                  </m:oMath>
                </a14:m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(1-19,900/40,000)= 5,125</a:t>
                </a:r>
                <a:endParaRPr lang="en-US" altLang="en-US" sz="28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  <a:p>
                <a:pPr lvl="2"/>
                <a:r>
                  <a:rPr lang="en-US" altLang="en-US" dirty="0" smtClean="0"/>
                  <a:t>Total output increased with no change in total labor input</a:t>
                </a:r>
              </a:p>
            </p:txBody>
          </p:sp>
        </mc:Choice>
        <mc:Fallback>
          <p:sp>
            <p:nvSpPr>
              <p:cNvPr id="348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167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753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19.1	 Production Externalities</a:t>
            </a: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4794381-76D9-4DC1-8ED5-A80427A0C7B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584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Social marginal cost</a:t>
            </a:r>
          </a:p>
          <a:p>
            <a:pPr lvl="1"/>
            <a:r>
              <a:rPr lang="en-US" altLang="en-US" dirty="0" smtClean="0"/>
              <a:t>To produce </a:t>
            </a:r>
            <a:r>
              <a:rPr lang="en-US" altLang="en-US" dirty="0"/>
              <a:t>x units, the firm needs to </a:t>
            </a:r>
            <a:r>
              <a:rPr lang="en-US" altLang="en-US" dirty="0" smtClean="0"/>
              <a:t>hire </a:t>
            </a:r>
          </a:p>
          <a:p>
            <a:pPr marL="457200" lvl="1" indent="0">
              <a:buNone/>
            </a:pP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x</a:t>
            </a:r>
            <a:r>
              <a:rPr lang="en-US" altLang="en-US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/4,000,000</a:t>
            </a:r>
            <a:endParaRPr lang="en-US" altLang="en-US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smtClean="0"/>
              <a:t>Total and marginal costs are:</a:t>
            </a:r>
          </a:p>
          <a:p>
            <a:pPr marL="457200" lvl="1" indent="0">
              <a:buNone/>
            </a:pP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TC(x) =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wl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x</a:t>
            </a:r>
            <a:r>
              <a:rPr lang="en-US" altLang="en-US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/40,000</a:t>
            </a:r>
          </a:p>
          <a:p>
            <a:pPr marL="457200" lvl="1" indent="0">
              <a:buNone/>
            </a:pP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MC(x) = TC’(x) = x /20,000</a:t>
            </a:r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/>
              <a:t>additional social cost is the harm done to the downstream </a:t>
            </a:r>
            <a:r>
              <a:rPr lang="en-US" altLang="en-US" dirty="0" smtClean="0"/>
              <a:t>firm</a:t>
            </a:r>
          </a:p>
          <a:p>
            <a:pPr lvl="2"/>
            <a:r>
              <a:rPr lang="en-US" altLang="en-US" dirty="0" smtClean="0"/>
              <a:t>Can </a:t>
            </a:r>
            <a:r>
              <a:rPr lang="en-US" altLang="en-US" dirty="0"/>
              <a:t>be </a:t>
            </a:r>
            <a:r>
              <a:rPr lang="en-US" altLang="en-US" dirty="0" smtClean="0"/>
              <a:t>measured in </a:t>
            </a:r>
            <a:r>
              <a:rPr lang="en-US" altLang="en-US" dirty="0"/>
              <a:t>monetary terms by the profits it loses when x is </a:t>
            </a:r>
            <a:r>
              <a:rPr lang="en-US" altLang="en-US" dirty="0" smtClean="0"/>
              <a:t>increased</a:t>
            </a:r>
          </a:p>
          <a:p>
            <a:pPr lvl="2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3862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19.1	 Production Externalities</a:t>
            </a: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4794381-76D9-4DC1-8ED5-A80427A0C7BF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843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Computing lost profits</a:t>
                </a:r>
              </a:p>
              <a:p>
                <a:pPr lvl="1"/>
                <a:r>
                  <a:rPr lang="en-US" altLang="en-US" dirty="0" smtClean="0"/>
                  <a:t>Firm’s y profits are:  </a:t>
                </a:r>
              </a:p>
              <a:p>
                <a:pPr marL="457200" lvl="1" indent="0">
                  <a:buNone/>
                </a:pPr>
                <a:r>
                  <a:rPr lang="en-US" altLang="en-US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l-GR" altLang="en-US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en-US" i="1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en-US" i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altLang="en-US" i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wl</a:t>
                </a:r>
                <a:r>
                  <a:rPr lang="en-US" altLang="en-US" i="1" baseline="-25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2,000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en-US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·(1 + </a:t>
                </a:r>
                <a:r>
                  <a:rPr lang="el-GR" altLang="en-US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x) – 100l</a:t>
                </a:r>
                <a:r>
                  <a:rPr lang="en-US" altLang="en-US" i="1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altLang="en-US" dirty="0" smtClean="0"/>
                  <a:t>Envelope theorem: </a:t>
                </a:r>
              </a:p>
              <a:p>
                <a:pPr lvl="2"/>
                <a:endParaRPr lang="en-US" altLang="en-US" dirty="0" smtClean="0"/>
              </a:p>
            </p:txBody>
          </p:sp>
        </mc:Choice>
        <mc:Fallback>
          <p:sp>
            <p:nvSpPr>
              <p:cNvPr id="358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3"/>
                <a:stretch>
                  <a:fillRect l="-1673" t="-2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4114800"/>
            <a:ext cx="8382000" cy="2057400"/>
          </a:xfrm>
        </p:spPr>
        <p:txBody>
          <a:bodyPr/>
          <a:lstStyle/>
          <a:p>
            <a:pPr lvl="1"/>
            <a:r>
              <a:rPr lang="en-US" dirty="0" smtClean="0"/>
              <a:t>Gives the </a:t>
            </a:r>
            <a:r>
              <a:rPr lang="en-US" dirty="0"/>
              <a:t>profit gain from an increase in x; the profit loss </a:t>
            </a:r>
            <a:r>
              <a:rPr lang="en-US" dirty="0" smtClean="0"/>
              <a:t>is the </a:t>
            </a:r>
            <a:r>
              <a:rPr lang="en-US" dirty="0"/>
              <a:t>negative of this.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57189"/>
              </p:ext>
            </p:extLst>
          </p:nvPr>
        </p:nvGraphicFramePr>
        <p:xfrm>
          <a:off x="1366157" y="2895600"/>
          <a:ext cx="6411686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28" name="Equation" r:id="rId4" imgW="2895480" imgH="533160" progId="Equation.DSMT4">
                  <p:embed/>
                </p:oleObj>
              </mc:Choice>
              <mc:Fallback>
                <p:oleObj name="Equation" r:id="rId4" imgW="28954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66157" y="2895600"/>
                        <a:ext cx="6411686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989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19.1	 Production Externalities</a:t>
            </a: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4794381-76D9-4DC1-8ED5-A80427A0C7B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35843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458200" cy="58674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Computing lost profits</a:t>
            </a:r>
          </a:p>
          <a:p>
            <a:pPr lvl="1"/>
            <a:r>
              <a:rPr lang="en-US" altLang="en-US" dirty="0"/>
              <a:t>Combining the profit loss with the upstream firm’s private marginal cost </a:t>
            </a:r>
            <a:r>
              <a:rPr lang="en-US" altLang="en-US" dirty="0" smtClean="0"/>
              <a:t>gives the </a:t>
            </a:r>
            <a:r>
              <a:rPr lang="en-US" altLang="en-US" dirty="0"/>
              <a:t>comprehensive social marginal </a:t>
            </a:r>
            <a:r>
              <a:rPr lang="en-US" altLang="en-US" dirty="0" smtClean="0"/>
              <a:t>cost:</a:t>
            </a:r>
          </a:p>
          <a:p>
            <a:pPr marL="57150" indent="0">
              <a:buNone/>
            </a:pP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SMC(x) = x/20,000 – 20,000</a:t>
            </a:r>
            <a:r>
              <a:rPr lang="el-GR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 + </a:t>
            </a:r>
            <a:r>
              <a:rPr lang="el-GR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x) = 3x/80,000 + 1/2</a:t>
            </a:r>
          </a:p>
          <a:p>
            <a:pPr lvl="1"/>
            <a:r>
              <a:rPr lang="en-US" altLang="en-US" dirty="0"/>
              <a:t>Social marginal cost exceeds private </a:t>
            </a:r>
            <a:r>
              <a:rPr lang="en-US" altLang="en-US" dirty="0" smtClean="0"/>
              <a:t>marginal cost</a:t>
            </a:r>
          </a:p>
          <a:p>
            <a:pPr lvl="2"/>
            <a:r>
              <a:rPr lang="en-US" altLang="en-US" dirty="0" smtClean="0"/>
              <a:t>Leading </a:t>
            </a:r>
            <a:r>
              <a:rPr lang="en-US" altLang="en-US" dirty="0"/>
              <a:t>the upstream firm to produce too much x in the competitive outcome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726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Partial-Equilibrium Model of Externalities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Supply-demand diagram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Q </a:t>
            </a:r>
            <a:r>
              <a:rPr lang="en-US" dirty="0" smtClean="0"/>
              <a:t>= </a:t>
            </a:r>
            <a:r>
              <a:rPr lang="en-US" dirty="0"/>
              <a:t>market quantity of the good that may have an </a:t>
            </a:r>
            <a:r>
              <a:rPr lang="en-US" dirty="0" smtClean="0"/>
              <a:t>associated externality</a:t>
            </a:r>
          </a:p>
          <a:p>
            <a:pPr lvl="1"/>
            <a:r>
              <a:rPr lang="en-US" dirty="0" smtClean="0"/>
              <a:t>Private </a:t>
            </a:r>
            <a:r>
              <a:rPr lang="en-US" dirty="0"/>
              <a:t>marginal costs of </a:t>
            </a:r>
            <a:r>
              <a:rPr lang="en-US" dirty="0" smtClean="0"/>
              <a:t>production = MC(Q)</a:t>
            </a:r>
          </a:p>
          <a:p>
            <a:pPr lvl="2"/>
            <a:r>
              <a:rPr lang="en-US" dirty="0" smtClean="0"/>
              <a:t>Competitive </a:t>
            </a:r>
            <a:r>
              <a:rPr lang="en-US" dirty="0"/>
              <a:t>supply curve for the </a:t>
            </a:r>
            <a:r>
              <a:rPr lang="en-US" dirty="0" smtClean="0"/>
              <a:t>good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(inverse) demand curve is </a:t>
            </a:r>
            <a:r>
              <a:rPr lang="en-US" dirty="0" smtClean="0"/>
              <a:t>P(Q)</a:t>
            </a:r>
            <a:endParaRPr lang="en-US" dirty="0"/>
          </a:p>
          <a:p>
            <a:pPr lvl="1"/>
            <a:r>
              <a:rPr lang="en-US" dirty="0"/>
              <a:t>The competitive </a:t>
            </a:r>
            <a:r>
              <a:rPr lang="en-US" dirty="0" smtClean="0"/>
              <a:t>equilibrium: MC(Q) = P(Q), yielding </a:t>
            </a:r>
            <a:r>
              <a:rPr lang="en-US" dirty="0"/>
              <a:t>the quantity </a:t>
            </a:r>
            <a:r>
              <a:rPr lang="en-US" dirty="0" smtClean="0"/>
              <a:t>Q</a:t>
            </a:r>
            <a:r>
              <a:rPr lang="en-US" baseline="-25000" dirty="0" smtClean="0"/>
              <a:t>c</a:t>
            </a:r>
            <a:endParaRPr lang="en-US" baseline="-25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4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Partial-Equilibrium Model of Externalities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Negative externality </a:t>
            </a:r>
          </a:p>
          <a:p>
            <a:pPr lvl="1"/>
            <a:r>
              <a:rPr lang="en-US" dirty="0" smtClean="0"/>
              <a:t>Divergence between </a:t>
            </a:r>
          </a:p>
          <a:p>
            <a:pPr lvl="2"/>
            <a:r>
              <a:rPr lang="en-US" dirty="0" smtClean="0"/>
              <a:t>Private </a:t>
            </a:r>
            <a:r>
              <a:rPr lang="en-US" dirty="0"/>
              <a:t>marginal costs </a:t>
            </a:r>
            <a:r>
              <a:rPr lang="en-US" dirty="0" smtClean="0"/>
              <a:t>MC(Q) </a:t>
            </a:r>
          </a:p>
          <a:p>
            <a:pPr lvl="2"/>
            <a:r>
              <a:rPr lang="en-US" dirty="0" smtClean="0"/>
              <a:t>And </a:t>
            </a:r>
            <a:r>
              <a:rPr lang="en-US" dirty="0"/>
              <a:t>overall social marginal costs </a:t>
            </a:r>
            <a:r>
              <a:rPr lang="en-US" dirty="0" smtClean="0"/>
              <a:t>SMC(Q)</a:t>
            </a:r>
          </a:p>
          <a:p>
            <a:pPr lvl="1"/>
            <a:r>
              <a:rPr lang="en-US" dirty="0" smtClean="0"/>
              <a:t>Socially optimal output Q</a:t>
            </a:r>
            <a:r>
              <a:rPr lang="en-US" baseline="-25000" dirty="0" smtClean="0"/>
              <a:t>s</a:t>
            </a:r>
            <a:r>
              <a:rPr lang="en-US" dirty="0" smtClean="0"/>
              <a:t> &lt; Q</a:t>
            </a:r>
            <a:r>
              <a:rPr lang="en-US" baseline="-25000" dirty="0" smtClean="0"/>
              <a:t>c</a:t>
            </a:r>
            <a:endParaRPr lang="en-US" dirty="0" smtClean="0"/>
          </a:p>
          <a:p>
            <a:pPr lvl="2"/>
            <a:r>
              <a:rPr lang="en-US" dirty="0" smtClean="0"/>
              <a:t>And P</a:t>
            </a:r>
            <a:r>
              <a:rPr lang="en-US" baseline="-25000" dirty="0" smtClean="0"/>
              <a:t>s</a:t>
            </a:r>
            <a:r>
              <a:rPr lang="en-US" dirty="0" smtClean="0"/>
              <a:t> reflects all costs (and P</a:t>
            </a:r>
            <a:r>
              <a:rPr lang="en-US" baseline="-25000" dirty="0" smtClean="0"/>
              <a:t>s</a:t>
            </a:r>
            <a:r>
              <a:rPr lang="en-US" dirty="0" smtClean="0"/>
              <a:t> &gt; P</a:t>
            </a:r>
            <a:r>
              <a:rPr lang="en-US" baseline="-25000" dirty="0" smtClean="0"/>
              <a:t>c</a:t>
            </a:r>
            <a:r>
              <a:rPr lang="en-US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3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19.1 (a)Partial-Equilibrium Model of </a:t>
            </a:r>
            <a:r>
              <a:rPr lang="en-US" dirty="0"/>
              <a:t>Externalities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1200" y="914400"/>
            <a:ext cx="3124200" cy="5211763"/>
          </a:xfrm>
        </p:spPr>
        <p:txBody>
          <a:bodyPr/>
          <a:lstStyle/>
          <a:p>
            <a:r>
              <a:rPr lang="en-US" dirty="0"/>
              <a:t>The inverse demand curve for the good is given by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and private marginal costs by </a:t>
            </a:r>
            <a:r>
              <a:rPr lang="en-US" i="1" dirty="0"/>
              <a:t>MC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), </a:t>
            </a:r>
            <a:r>
              <a:rPr lang="en-US" dirty="0" smtClean="0"/>
              <a:t>which is </a:t>
            </a:r>
            <a:r>
              <a:rPr lang="en-US" dirty="0"/>
              <a:t>also the market supply curve. </a:t>
            </a:r>
            <a:endParaRPr lang="en-US" dirty="0" smtClean="0"/>
          </a:p>
          <a:p>
            <a:r>
              <a:rPr lang="en-US" dirty="0" smtClean="0"/>
              <a:t>Panel </a:t>
            </a:r>
            <a:r>
              <a:rPr lang="en-US" dirty="0"/>
              <a:t>(a) illustrates the case of a negative externality in which the </a:t>
            </a:r>
            <a:r>
              <a:rPr lang="en-US" dirty="0" smtClean="0"/>
              <a:t>good imposes </a:t>
            </a:r>
            <a:r>
              <a:rPr lang="en-US" dirty="0"/>
              <a:t>external costs on third parties. Social marginal costs </a:t>
            </a:r>
            <a:r>
              <a:rPr lang="en-US" i="1" dirty="0"/>
              <a:t>SMC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exceed </a:t>
            </a:r>
            <a:r>
              <a:rPr lang="en-US" i="1" dirty="0"/>
              <a:t>MC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by the extent </a:t>
            </a:r>
            <a:r>
              <a:rPr lang="en-US" dirty="0" smtClean="0"/>
              <a:t>of these </a:t>
            </a:r>
            <a:r>
              <a:rPr lang="en-US" dirty="0"/>
              <a:t>costs; market equilibrium quantity </a:t>
            </a:r>
            <a:r>
              <a:rPr lang="en-US" i="1" dirty="0"/>
              <a:t>Qc </a:t>
            </a:r>
            <a:r>
              <a:rPr lang="en-US" dirty="0"/>
              <a:t>exceeds the socially efficient quantity </a:t>
            </a:r>
            <a:r>
              <a:rPr lang="en-US" i="1" dirty="0"/>
              <a:t>Qs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both panels, deadweight loss </a:t>
            </a:r>
            <a:r>
              <a:rPr lang="en-US" dirty="0" smtClean="0"/>
              <a:t>from inefficient </a:t>
            </a:r>
            <a:r>
              <a:rPr lang="en-US" dirty="0"/>
              <a:t>quantity given by area of shaded region.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22</a:t>
            </a:fld>
            <a:endParaRPr lang="en-US" dirty="0"/>
          </a:p>
        </p:txBody>
      </p:sp>
      <p:pic>
        <p:nvPicPr>
          <p:cNvPr id="402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39577"/>
            <a:ext cx="5153025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386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Partial-Equilibrium Model of Externalities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Positive externality </a:t>
            </a:r>
          </a:p>
          <a:p>
            <a:pPr lvl="1"/>
            <a:r>
              <a:rPr lang="en-US" dirty="0" smtClean="0"/>
              <a:t>Divergence between </a:t>
            </a:r>
          </a:p>
          <a:p>
            <a:pPr lvl="2"/>
            <a:r>
              <a:rPr lang="en-US" dirty="0" smtClean="0"/>
              <a:t>Private </a:t>
            </a:r>
            <a:r>
              <a:rPr lang="en-US" dirty="0"/>
              <a:t>marginal </a:t>
            </a:r>
            <a:r>
              <a:rPr lang="en-US" dirty="0" smtClean="0"/>
              <a:t>benefit P(Q) </a:t>
            </a:r>
          </a:p>
          <a:p>
            <a:pPr lvl="2"/>
            <a:r>
              <a:rPr lang="en-US" dirty="0" smtClean="0"/>
              <a:t>And </a:t>
            </a:r>
            <a:r>
              <a:rPr lang="en-US" dirty="0"/>
              <a:t>overall social marginal </a:t>
            </a:r>
            <a:r>
              <a:rPr lang="en-US" dirty="0" smtClean="0"/>
              <a:t>benefit SMB(Q)</a:t>
            </a:r>
          </a:p>
          <a:p>
            <a:pPr lvl="1"/>
            <a:r>
              <a:rPr lang="en-US" dirty="0" smtClean="0"/>
              <a:t>Socially optimal output Q</a:t>
            </a:r>
            <a:r>
              <a:rPr lang="en-US" baseline="-25000" dirty="0" smtClean="0"/>
              <a:t>s</a:t>
            </a:r>
            <a:r>
              <a:rPr lang="en-US" dirty="0" smtClean="0"/>
              <a:t> &gt; Q</a:t>
            </a:r>
            <a:r>
              <a:rPr lang="en-US" baseline="-25000" dirty="0" smtClean="0"/>
              <a:t>c</a:t>
            </a:r>
            <a:endParaRPr lang="en-US" dirty="0" smtClean="0"/>
          </a:p>
          <a:p>
            <a:pPr lvl="2"/>
            <a:r>
              <a:rPr lang="en-US" dirty="0" smtClean="0"/>
              <a:t>And P</a:t>
            </a:r>
            <a:r>
              <a:rPr lang="en-US" baseline="-25000" dirty="0" smtClean="0"/>
              <a:t>s</a:t>
            </a:r>
            <a:r>
              <a:rPr lang="en-US" dirty="0" smtClean="0"/>
              <a:t> reflects all benefits (and P</a:t>
            </a:r>
            <a:r>
              <a:rPr lang="en-US" baseline="-25000" dirty="0" smtClean="0"/>
              <a:t>s</a:t>
            </a:r>
            <a:r>
              <a:rPr lang="en-US" dirty="0" smtClean="0"/>
              <a:t> &gt; P</a:t>
            </a:r>
            <a:r>
              <a:rPr lang="en-US" baseline="-25000" dirty="0" smtClean="0"/>
              <a:t>c</a:t>
            </a:r>
            <a:r>
              <a:rPr lang="en-US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3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19.1 (b)Partial-Equilibrium Model of </a:t>
            </a:r>
            <a:r>
              <a:rPr lang="en-US" dirty="0"/>
              <a:t>Externalities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0" y="1295400"/>
            <a:ext cx="2971800" cy="4830763"/>
          </a:xfrm>
        </p:spPr>
        <p:txBody>
          <a:bodyPr/>
          <a:lstStyle/>
          <a:p>
            <a:r>
              <a:rPr lang="en-US" dirty="0"/>
              <a:t>The inverse demand curve for the good is given by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and private marginal costs by </a:t>
            </a:r>
            <a:r>
              <a:rPr lang="en-US" i="1" dirty="0"/>
              <a:t>MC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), </a:t>
            </a:r>
            <a:r>
              <a:rPr lang="en-US" dirty="0" smtClean="0"/>
              <a:t>which is </a:t>
            </a:r>
            <a:r>
              <a:rPr lang="en-US" dirty="0"/>
              <a:t>also the market supply curve. </a:t>
            </a:r>
            <a:endParaRPr lang="en-US" dirty="0" smtClean="0"/>
          </a:p>
          <a:p>
            <a:r>
              <a:rPr lang="en-US" dirty="0" smtClean="0"/>
              <a:t>Panel </a:t>
            </a:r>
            <a:r>
              <a:rPr lang="en-US" dirty="0"/>
              <a:t>(b) </a:t>
            </a:r>
            <a:r>
              <a:rPr lang="en-US" dirty="0" smtClean="0"/>
              <a:t>illustrates the </a:t>
            </a:r>
            <a:r>
              <a:rPr lang="en-US" dirty="0"/>
              <a:t>case of a positive externality in which the good benefits third parties. Social marginal </a:t>
            </a:r>
            <a:r>
              <a:rPr lang="en-US" dirty="0" smtClean="0"/>
              <a:t>benefits </a:t>
            </a:r>
            <a:r>
              <a:rPr lang="en-US" i="1" dirty="0" smtClean="0"/>
              <a:t>SMB</a:t>
            </a:r>
            <a:r>
              <a:rPr lang="en-US" dirty="0" smtClean="0"/>
              <a:t>(</a:t>
            </a:r>
            <a:r>
              <a:rPr lang="en-US" i="1" dirty="0" smtClean="0"/>
              <a:t>Q</a:t>
            </a:r>
            <a:r>
              <a:rPr lang="en-US" dirty="0"/>
              <a:t>) lie above the inverse demand curve, implying </a:t>
            </a:r>
            <a:r>
              <a:rPr lang="en-US" i="1" dirty="0"/>
              <a:t>Qc </a:t>
            </a:r>
            <a:r>
              <a:rPr lang="en-US" dirty="0"/>
              <a:t>, </a:t>
            </a:r>
            <a:r>
              <a:rPr lang="en-US" i="1" dirty="0"/>
              <a:t>Qs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both panels, deadweight loss </a:t>
            </a:r>
            <a:r>
              <a:rPr lang="en-US" dirty="0" smtClean="0"/>
              <a:t>from inefficient </a:t>
            </a:r>
            <a:r>
              <a:rPr lang="en-US" dirty="0"/>
              <a:t>quantity given by area of shaded region.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24</a:t>
            </a:fld>
            <a:endParaRPr lang="en-US" dirty="0"/>
          </a:p>
        </p:txBody>
      </p:sp>
      <p:pic>
        <p:nvPicPr>
          <p:cNvPr id="403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28750"/>
            <a:ext cx="5734050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216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3600" dirty="0" smtClean="0"/>
              <a:t>Solutions to </a:t>
            </a:r>
            <a:r>
              <a:rPr lang="en-US" altLang="en-US" sz="3600" dirty="0" smtClean="0"/>
              <a:t>Negative Externality Problems</a:t>
            </a:r>
            <a:endParaRPr lang="en-US" altLang="en-US" sz="3600" dirty="0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Incentive-based solutions to the </a:t>
            </a:r>
            <a:r>
              <a:rPr lang="en-US" altLang="en-US" dirty="0"/>
              <a:t>harm from negative </a:t>
            </a:r>
            <a:r>
              <a:rPr lang="en-US" altLang="en-US" dirty="0" smtClean="0"/>
              <a:t>externalities</a:t>
            </a:r>
          </a:p>
          <a:p>
            <a:pPr lvl="1"/>
            <a:r>
              <a:rPr lang="en-US" altLang="en-US" dirty="0" smtClean="0"/>
              <a:t>Pigou: The </a:t>
            </a:r>
            <a:r>
              <a:rPr lang="en-US" altLang="en-US" dirty="0" smtClean="0"/>
              <a:t>most direct solution would be to tax the externality-creating </a:t>
            </a:r>
            <a:r>
              <a:rPr lang="en-US" altLang="en-US" dirty="0" smtClean="0"/>
              <a:t>entity</a:t>
            </a:r>
          </a:p>
          <a:p>
            <a:pPr lvl="2"/>
            <a:r>
              <a:rPr lang="en-US" altLang="en-US" dirty="0"/>
              <a:t>All incentive-based solutions to </a:t>
            </a:r>
            <a:r>
              <a:rPr lang="en-US" altLang="en-US" dirty="0" smtClean="0"/>
              <a:t>the externality </a:t>
            </a:r>
            <a:r>
              <a:rPr lang="en-US" altLang="en-US" dirty="0"/>
              <a:t>problem stem from this basic insight</a:t>
            </a:r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53582D5-69ED-4EDE-AD6B-810B60196D1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9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19.2 	</a:t>
            </a:r>
            <a:r>
              <a:rPr lang="en-US" dirty="0" err="1"/>
              <a:t>Pigovian</a:t>
            </a:r>
            <a:r>
              <a:rPr lang="en-US" dirty="0"/>
              <a:t> 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5067835"/>
            <a:ext cx="8839200" cy="1210728"/>
          </a:xfrm>
        </p:spPr>
        <p:txBody>
          <a:bodyPr/>
          <a:lstStyle/>
          <a:p>
            <a:r>
              <a:rPr lang="en-US" dirty="0"/>
              <a:t>This figure reproduces the panel from the previous figure illustrating a negative externality. A tax </a:t>
            </a:r>
            <a:r>
              <a:rPr lang="en-US" dirty="0" smtClean="0"/>
              <a:t>of amount </a:t>
            </a:r>
            <a:r>
              <a:rPr lang="en-US" i="1" dirty="0"/>
              <a:t>t </a:t>
            </a:r>
            <a:r>
              <a:rPr lang="en-US" dirty="0"/>
              <a:t>that reflects the social marginal costs above and beyond private marginal costs would </a:t>
            </a:r>
            <a:r>
              <a:rPr lang="en-US" dirty="0" smtClean="0"/>
              <a:t>achieve the </a:t>
            </a:r>
            <a:r>
              <a:rPr lang="en-US" dirty="0"/>
              <a:t>socially efficient production level </a:t>
            </a:r>
            <a:r>
              <a:rPr lang="en-US" i="1" dirty="0"/>
              <a:t>Qs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26</a:t>
            </a:fld>
            <a:endParaRPr lang="en-US" dirty="0"/>
          </a:p>
        </p:txBody>
      </p:sp>
      <p:pic>
        <p:nvPicPr>
          <p:cNvPr id="404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33400"/>
            <a:ext cx="6038850" cy="4534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731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Pigovian</a:t>
            </a:r>
            <a:r>
              <a:rPr lang="en-US" dirty="0"/>
              <a:t> T</a:t>
            </a:r>
            <a:r>
              <a:rPr lang="en-US" dirty="0" smtClean="0"/>
              <a:t>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Imposition of </a:t>
            </a:r>
            <a:r>
              <a:rPr lang="en-US" dirty="0"/>
              <a:t>a </a:t>
            </a:r>
            <a:r>
              <a:rPr lang="en-US" dirty="0" err="1"/>
              <a:t>Pigovian</a:t>
            </a:r>
            <a:r>
              <a:rPr lang="en-US" dirty="0"/>
              <a:t> </a:t>
            </a:r>
            <a:r>
              <a:rPr lang="en-US" dirty="0" smtClean="0"/>
              <a:t>tax, t </a:t>
            </a:r>
          </a:p>
          <a:p>
            <a:pPr lvl="1"/>
            <a:r>
              <a:rPr lang="en-US" dirty="0" smtClean="0"/>
              <a:t>Creates </a:t>
            </a:r>
            <a:r>
              <a:rPr lang="en-US" dirty="0"/>
              <a:t>a vertical wedge between the demand </a:t>
            </a:r>
            <a:r>
              <a:rPr lang="en-US" dirty="0" smtClean="0"/>
              <a:t>P(Q) and supply MC(Q) curves </a:t>
            </a:r>
            <a:r>
              <a:rPr lang="en-US" dirty="0"/>
              <a:t>for the </a:t>
            </a:r>
            <a:r>
              <a:rPr lang="en-US" dirty="0" smtClean="0"/>
              <a:t>good</a:t>
            </a:r>
          </a:p>
          <a:p>
            <a:pPr lvl="1"/>
            <a:r>
              <a:rPr lang="en-US" dirty="0" smtClean="0"/>
              <a:t>Reduce output from Q</a:t>
            </a:r>
            <a:r>
              <a:rPr lang="en-US" baseline="-25000" dirty="0" smtClean="0"/>
              <a:t>c</a:t>
            </a:r>
            <a:r>
              <a:rPr lang="en-US" dirty="0" smtClean="0"/>
              <a:t> to Q</a:t>
            </a:r>
            <a:r>
              <a:rPr lang="en-US" baseline="-25000" dirty="0" smtClean="0"/>
              <a:t>s</a:t>
            </a:r>
            <a:r>
              <a:rPr lang="en-US" dirty="0" smtClean="0"/>
              <a:t> </a:t>
            </a:r>
          </a:p>
          <a:p>
            <a:pPr lvl="1"/>
            <a:r>
              <a:rPr lang="en-US" dirty="0"/>
              <a:t>The tax is set to reflect the distance between private marginal costs </a:t>
            </a:r>
            <a:r>
              <a:rPr lang="en-US" dirty="0" smtClean="0"/>
              <a:t>MC(Q) and social </a:t>
            </a:r>
            <a:r>
              <a:rPr lang="en-US" dirty="0"/>
              <a:t>marginal costs </a:t>
            </a:r>
            <a:r>
              <a:rPr lang="en-US" dirty="0" smtClean="0"/>
              <a:t>SMC(Q)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4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19.2 	A </a:t>
            </a:r>
            <a:r>
              <a:rPr lang="en-US" altLang="en-US" dirty="0" err="1" smtClean="0"/>
              <a:t>Pigovian</a:t>
            </a:r>
            <a:r>
              <a:rPr lang="en-US" altLang="en-US" dirty="0" smtClean="0"/>
              <a:t> Tax on Newsprint</a:t>
            </a:r>
          </a:p>
        </p:txBody>
      </p:sp>
      <p:sp>
        <p:nvSpPr>
          <p:cNvPr id="3891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0E4E3F0-CFEB-4255-84D6-9F0E12135CBF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38915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Equilibrium without a </a:t>
            </a:r>
            <a:r>
              <a:rPr lang="en-US" altLang="en-US" dirty="0" smtClean="0"/>
              <a:t>tax</a:t>
            </a:r>
          </a:p>
          <a:p>
            <a:pPr lvl="1"/>
            <a:r>
              <a:rPr lang="en-US" altLang="en-US" dirty="0" smtClean="0"/>
              <a:t>MC(x) = x/20,000</a:t>
            </a:r>
          </a:p>
          <a:p>
            <a:pPr lvl="1"/>
            <a:r>
              <a:rPr lang="en-US" altLang="en-US" dirty="0" smtClean="0"/>
              <a:t>Maximize profit:</a:t>
            </a:r>
          </a:p>
          <a:p>
            <a:pPr lvl="2"/>
            <a:r>
              <a:rPr lang="en-US" altLang="en-US" dirty="0" smtClean="0"/>
              <a:t>P = $1 = MC(x), and x</a:t>
            </a:r>
            <a:r>
              <a:rPr lang="en-US" altLang="en-US" baseline="-25000" dirty="0" smtClean="0"/>
              <a:t>c</a:t>
            </a:r>
            <a:r>
              <a:rPr lang="en-US" altLang="en-US" dirty="0" smtClean="0"/>
              <a:t> = 20,000 (output too high to be socially efficient)</a:t>
            </a:r>
            <a:endParaRPr lang="en-US" altLang="en-US" dirty="0" smtClean="0"/>
          </a:p>
          <a:p>
            <a:r>
              <a:rPr lang="en-US" altLang="en-US" dirty="0" err="1" smtClean="0"/>
              <a:t>Pigovian</a:t>
            </a:r>
            <a:r>
              <a:rPr lang="en-US" altLang="en-US" dirty="0" smtClean="0"/>
              <a:t> tax </a:t>
            </a:r>
          </a:p>
          <a:p>
            <a:pPr lvl="1"/>
            <a:r>
              <a:rPr lang="en-US" altLang="en-US" dirty="0" smtClean="0"/>
              <a:t>Socially efficient output where P = SMC(x)</a:t>
            </a:r>
          </a:p>
          <a:p>
            <a:pPr lvl="2"/>
            <a:r>
              <a:rPr lang="en-US" altLang="en-US" dirty="0" smtClean="0"/>
              <a:t>So $1 = P = SMC = 3x/80,000 +1/2 </a:t>
            </a:r>
          </a:p>
          <a:p>
            <a:pPr lvl="2"/>
            <a:r>
              <a:rPr lang="en-US" altLang="en-US" dirty="0" smtClean="0"/>
              <a:t>Socially optimal </a:t>
            </a:r>
            <a:r>
              <a:rPr lang="en-US" altLang="en-US" dirty="0"/>
              <a:t>level of upstream </a:t>
            </a:r>
            <a:r>
              <a:rPr lang="en-US" altLang="en-US" dirty="0" smtClean="0"/>
              <a:t>output </a:t>
            </a:r>
            <a:r>
              <a:rPr lang="en-US" altLang="en-US" dirty="0" err="1" smtClean="0"/>
              <a:t>x</a:t>
            </a:r>
            <a:r>
              <a:rPr lang="en-US" altLang="en-US" baseline="-25000" dirty="0" err="1" smtClean="0"/>
              <a:t>s</a:t>
            </a:r>
            <a:r>
              <a:rPr lang="en-US" altLang="en-US" dirty="0" smtClean="0"/>
              <a:t> = 13,333</a:t>
            </a:r>
          </a:p>
          <a:p>
            <a:pPr lvl="1"/>
            <a:r>
              <a:rPr lang="en-US" altLang="en-US" dirty="0" smtClean="0"/>
              <a:t>Set t = P – MC(</a:t>
            </a:r>
            <a:r>
              <a:rPr lang="en-US" altLang="en-US" dirty="0" err="1" smtClean="0"/>
              <a:t>x</a:t>
            </a:r>
            <a:r>
              <a:rPr lang="en-US" altLang="en-US" baseline="-25000" dirty="0" err="1" smtClean="0"/>
              <a:t>s</a:t>
            </a:r>
            <a:r>
              <a:rPr lang="en-US" altLang="en-US" dirty="0" smtClean="0"/>
              <a:t>) = 1/3 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5962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800" dirty="0" smtClean="0"/>
              <a:t>Taxation in the General Equilibrium Model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 smtClean="0"/>
              <a:t>The optimal </a:t>
            </a:r>
            <a:r>
              <a:rPr lang="en-US" altLang="en-US" dirty="0" err="1" smtClean="0"/>
              <a:t>Pigouvian</a:t>
            </a:r>
            <a:r>
              <a:rPr lang="en-US" altLang="en-US" dirty="0" smtClean="0"/>
              <a:t> tax,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smtClean="0"/>
              <a:t>In our general equilibrium model </a:t>
            </a:r>
          </a:p>
          <a:p>
            <a:pPr lvl="1"/>
            <a:r>
              <a:rPr lang="en-US" altLang="en-US" dirty="0" smtClean="0"/>
              <a:t>The per-unit tax on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</a:t>
            </a:r>
          </a:p>
          <a:p>
            <a:pPr lvl="2"/>
            <a:r>
              <a:rPr lang="en-US" altLang="en-US" dirty="0" smtClean="0"/>
              <a:t>Should reflect the marginal harm that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does in reducing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output, valued at the price of good </a:t>
            </a:r>
            <a:r>
              <a:rPr lang="en-US" altLang="en-US" i="1" dirty="0" smtClean="0"/>
              <a:t>y</a:t>
            </a:r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EC0CE0-7437-4392-81FF-A5289F8CAE3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8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800" dirty="0" smtClean="0"/>
              <a:t>Taxation in the General Equilibrium Model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Proving the </a:t>
            </a:r>
            <a:r>
              <a:rPr lang="en-US" altLang="en-US" dirty="0" err="1"/>
              <a:t>Pigovian</a:t>
            </a:r>
            <a:r>
              <a:rPr lang="en-US" altLang="en-US" dirty="0"/>
              <a:t> tax is socially </a:t>
            </a:r>
            <a:r>
              <a:rPr lang="en-US" altLang="en-US" dirty="0" smtClean="0"/>
              <a:t>optimal</a:t>
            </a:r>
          </a:p>
          <a:p>
            <a:pPr lvl="1"/>
            <a:r>
              <a:rPr lang="en-US" altLang="en-US" dirty="0" smtClean="0"/>
              <a:t>Assume t is levied on consumers</a:t>
            </a:r>
          </a:p>
          <a:p>
            <a:pPr lvl="2"/>
            <a:r>
              <a:rPr lang="en-US" altLang="en-US" dirty="0" smtClean="0"/>
              <a:t>Price paid by consumers = </a:t>
            </a:r>
            <a:r>
              <a:rPr lang="en-US" altLang="en-US" dirty="0" err="1" smtClean="0"/>
              <a:t>p</a:t>
            </a:r>
            <a:r>
              <a:rPr lang="en-US" altLang="en-US" baseline="-25000" dirty="0" err="1" smtClean="0"/>
              <a:t>x</a:t>
            </a:r>
            <a:r>
              <a:rPr lang="en-US" altLang="en-US" dirty="0" smtClean="0"/>
              <a:t> + t</a:t>
            </a:r>
          </a:p>
          <a:p>
            <a:pPr lvl="2"/>
            <a:r>
              <a:rPr lang="en-US" altLang="en-US" dirty="0" smtClean="0"/>
              <a:t>Price received by firm= </a:t>
            </a:r>
            <a:r>
              <a:rPr lang="en-US" altLang="en-US" dirty="0" err="1" smtClean="0"/>
              <a:t>p</a:t>
            </a:r>
            <a:r>
              <a:rPr lang="en-US" altLang="en-US" baseline="-25000" dirty="0" err="1" smtClean="0"/>
              <a:t>x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/>
              <a:t>Consumer utility </a:t>
            </a:r>
            <a:r>
              <a:rPr lang="en-US" altLang="en-US" dirty="0" smtClean="0"/>
              <a:t>maximization: </a:t>
            </a:r>
          </a:p>
          <a:p>
            <a:pPr marL="457200" lvl="1" indent="0">
              <a:buNone/>
            </a:pPr>
            <a:r>
              <a:rPr lang="en-US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 = (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t)/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en-US" dirty="0" smtClean="0"/>
              <a:t>Condition for </a:t>
            </a:r>
            <a:r>
              <a:rPr lang="en-US" altLang="en-US" dirty="0"/>
              <a:t>competitive </a:t>
            </a:r>
            <a:r>
              <a:rPr lang="en-US" altLang="en-US" dirty="0" smtClean="0"/>
              <a:t>equilibrium with </a:t>
            </a:r>
            <a:r>
              <a:rPr lang="en-US" altLang="en-US" dirty="0"/>
              <a:t>a </a:t>
            </a:r>
            <a:r>
              <a:rPr lang="en-US" altLang="en-US" dirty="0" smtClean="0"/>
              <a:t>tax: 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 =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EBF85E-7B15-484F-9D4C-8D8C2AFB9B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9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800" dirty="0" smtClean="0"/>
              <a:t>Taxation in the General Equilibrium Model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Pigouvian tax scheme </a:t>
            </a:r>
          </a:p>
          <a:p>
            <a:pPr lvl="1"/>
            <a:r>
              <a:rPr lang="en-US" altLang="en-US" smtClean="0"/>
              <a:t>Requires that regulators have enough information to set the tax properly</a:t>
            </a:r>
          </a:p>
          <a:p>
            <a:pPr lvl="2"/>
            <a:r>
              <a:rPr lang="en-US" altLang="en-US" smtClean="0"/>
              <a:t>Need to know firm </a:t>
            </a:r>
            <a:r>
              <a:rPr lang="en-US" altLang="en-US" i="1" smtClean="0"/>
              <a:t>y</a:t>
            </a:r>
            <a:r>
              <a:rPr lang="en-US" altLang="en-US" smtClean="0"/>
              <a:t>’s production function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C2E2F30-EA50-4232-A6B8-E9BE4663EB4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8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Pollution Rights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Firm </a:t>
            </a:r>
            <a:r>
              <a:rPr lang="en-US" altLang="en-US" i="1" smtClean="0"/>
              <a:t>x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Must purchase from firm </a:t>
            </a:r>
            <a:r>
              <a:rPr lang="en-US" altLang="en-US" i="1" smtClean="0"/>
              <a:t>y</a:t>
            </a:r>
            <a:r>
              <a:rPr lang="en-US" altLang="en-US" smtClean="0"/>
              <a:t> the rights to pollute the river they share</a:t>
            </a:r>
          </a:p>
          <a:p>
            <a:pPr lvl="1"/>
            <a:r>
              <a:rPr lang="en-US" altLang="en-US" i="1" smtClean="0"/>
              <a:t>x</a:t>
            </a:r>
            <a:r>
              <a:rPr lang="en-US" altLang="en-US" smtClean="0"/>
              <a:t>’s choice to purchase these rights is identical to its output choice</a:t>
            </a:r>
          </a:p>
          <a:p>
            <a:pPr lvl="1"/>
            <a:r>
              <a:rPr lang="en-US" altLang="en-US" smtClean="0"/>
              <a:t>Net revenue per unit: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x</a:t>
            </a:r>
            <a:r>
              <a:rPr lang="en-US" altLang="en-US" smtClean="0"/>
              <a:t> – </a:t>
            </a:r>
            <a:r>
              <a:rPr lang="en-US" altLang="en-US" i="1" smtClean="0"/>
              <a:t>r</a:t>
            </a:r>
          </a:p>
          <a:p>
            <a:pPr lvl="2"/>
            <a:r>
              <a:rPr lang="en-US" altLang="en-US" smtClean="0"/>
              <a:t>Where </a:t>
            </a:r>
            <a:r>
              <a:rPr lang="en-US" altLang="en-US" i="1" smtClean="0"/>
              <a:t>r</a:t>
            </a:r>
            <a:r>
              <a:rPr lang="en-US" altLang="en-US" smtClean="0"/>
              <a:t> is the payment the firm must make to firm </a:t>
            </a:r>
            <a:r>
              <a:rPr lang="en-US" altLang="en-US" i="1" smtClean="0"/>
              <a:t>y </a:t>
            </a:r>
            <a:r>
              <a:rPr lang="en-US" altLang="en-US" smtClean="0"/>
              <a:t>for each unit of </a:t>
            </a:r>
            <a:r>
              <a:rPr lang="en-US" altLang="en-US" i="1" smtClean="0"/>
              <a:t>x</a:t>
            </a:r>
            <a:r>
              <a:rPr lang="en-US" altLang="en-US" smtClean="0"/>
              <a:t> it produces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7342C3-FECA-49A2-AADD-9772CEC3677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6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Pollution Rights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Firm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Must decide how many rights to sell firm </a:t>
            </a:r>
            <a:r>
              <a:rPr lang="en-US" altLang="en-US" i="1" dirty="0" smtClean="0"/>
              <a:t>x</a:t>
            </a:r>
          </a:p>
          <a:p>
            <a:pPr lvl="1"/>
            <a:r>
              <a:rPr lang="en-US" altLang="en-US" dirty="0" smtClean="0"/>
              <a:t>By choosing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output to maximize its profits: </a:t>
            </a:r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rx</a:t>
            </a:r>
            <a:endParaRPr lang="en-US" alt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The first-order condition for a maximum: </a:t>
            </a:r>
            <a:endParaRPr lang="en-US" altLang="en-US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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/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 r = 0  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or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 = -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endParaRPr lang="en-US" altLang="en-US" sz="2800" i="1" baseline="-25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r>
              <a:rPr lang="en-US" altLang="en-US" sz="2800" dirty="0" smtClean="0">
                <a:sym typeface="Symbol" pitchFamily="18" charset="2"/>
              </a:rPr>
              <a:t>Equilibrium </a:t>
            </a:r>
            <a:r>
              <a:rPr lang="en-US" altLang="en-US" sz="2800" dirty="0">
                <a:sym typeface="Symbol" pitchFamily="18" charset="2"/>
              </a:rPr>
              <a:t>solution to pricing in </a:t>
            </a:r>
            <a:r>
              <a:rPr lang="en-US" altLang="en-US" sz="2800" dirty="0" smtClean="0">
                <a:sym typeface="Symbol" pitchFamily="18" charset="2"/>
              </a:rPr>
              <a:t>pollution rights </a:t>
            </a:r>
            <a:r>
              <a:rPr lang="en-US" altLang="en-US" sz="2800" dirty="0">
                <a:sym typeface="Symbol" pitchFamily="18" charset="2"/>
              </a:rPr>
              <a:t>market </a:t>
            </a:r>
            <a:r>
              <a:rPr lang="en-US" altLang="en-US" sz="2800" dirty="0" smtClean="0">
                <a:sym typeface="Symbol" pitchFamily="18" charset="2"/>
              </a:rPr>
              <a:t>is identical </a:t>
            </a:r>
            <a:r>
              <a:rPr lang="en-US" altLang="en-US" sz="2800" dirty="0">
                <a:sym typeface="Symbol" pitchFamily="18" charset="2"/>
              </a:rPr>
              <a:t>to the </a:t>
            </a:r>
            <a:r>
              <a:rPr lang="en-US" altLang="en-US" sz="2800" dirty="0" err="1">
                <a:sym typeface="Symbol" pitchFamily="18" charset="2"/>
              </a:rPr>
              <a:t>Pigovian</a:t>
            </a:r>
            <a:r>
              <a:rPr lang="en-US" altLang="en-US" sz="2800" dirty="0">
                <a:sym typeface="Symbol" pitchFamily="18" charset="2"/>
              </a:rPr>
              <a:t> tax equilibrium</a:t>
            </a:r>
            <a:endParaRPr lang="en-US" altLang="en-US" sz="2800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5A551B-6655-46D2-BBDF-ABB9A691D12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7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Coase Theorem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Pollution rights equilibrium</a:t>
            </a:r>
          </a:p>
          <a:p>
            <a:pPr lvl="1"/>
            <a:r>
              <a:rPr lang="en-US" altLang="en-US" smtClean="0"/>
              <a:t>The rights are well-defined</a:t>
            </a:r>
          </a:p>
          <a:p>
            <a:pPr lvl="1"/>
            <a:r>
              <a:rPr lang="en-US" altLang="en-US" smtClean="0"/>
              <a:t>And tradable with zero transactions costs</a:t>
            </a:r>
          </a:p>
          <a:p>
            <a:r>
              <a:rPr lang="en-US" altLang="en-US" smtClean="0"/>
              <a:t>The initial assignment of rights is irrelevant</a:t>
            </a:r>
          </a:p>
          <a:p>
            <a:pPr lvl="1"/>
            <a:r>
              <a:rPr lang="en-US" altLang="en-US" smtClean="0"/>
              <a:t>Subsequent trading will always achieve the same, efficient equilibrium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9D93CC-102E-470B-B5B3-432D7C7DFE9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6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Coase Theorem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Firm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Is initially given </a:t>
            </a:r>
            <a:r>
              <a:rPr lang="en-US" altLang="en-US" i="1" dirty="0" err="1" smtClean="0"/>
              <a:t>x</a:t>
            </a:r>
            <a:r>
              <a:rPr lang="en-US" altLang="en-US" i="1" baseline="30000" dirty="0" err="1" smtClean="0"/>
              <a:t>T</a:t>
            </a:r>
            <a:r>
              <a:rPr lang="en-US" altLang="en-US" dirty="0" smtClean="0"/>
              <a:t> rights to produce (and to pollute)</a:t>
            </a:r>
          </a:p>
          <a:p>
            <a:pPr lvl="1"/>
            <a:r>
              <a:rPr lang="en-US" altLang="en-US" dirty="0" smtClean="0"/>
              <a:t>Can choose to use these for its own production or it may sell some to firm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</a:t>
            </a:r>
            <a:endParaRPr lang="en-US" altLang="en-US" i="1" dirty="0" smtClean="0"/>
          </a:p>
          <a:p>
            <a:pPr lvl="1"/>
            <a:r>
              <a:rPr lang="en-US" altLang="en-US" dirty="0" smtClean="0"/>
              <a:t>Profits: 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 r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–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-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rx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endParaRPr lang="en-US" alt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-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f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rx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endParaRPr lang="en-US" alt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FontTx/>
              <a:buNone/>
            </a:pPr>
            <a:endParaRPr lang="en-US" altLang="en-US" dirty="0" smtClean="0">
              <a:solidFill>
                <a:srgbClr val="7B332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D7A9FB-BC64-45F2-A18C-CECD4F57B460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6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Coase Theorem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Profits for firm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 </a:t>
            </a:r>
          </a:p>
          <a:p>
            <a:pPr algn="ctr">
              <a:lnSpc>
                <a:spcPct val="140000"/>
              </a:lnSpc>
              <a:buFontTx/>
              <a:buNone/>
            </a:pP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–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endParaRPr lang="en-US" alt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r>
              <a:rPr lang="en-US" altLang="en-US" dirty="0" smtClean="0"/>
              <a:t>Profit maximization </a:t>
            </a:r>
          </a:p>
          <a:p>
            <a:pPr lvl="1"/>
            <a:r>
              <a:rPr lang="en-US" altLang="en-US" dirty="0" smtClean="0"/>
              <a:t>Precisely the same solution as in the case where firm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was assigned the rights</a:t>
            </a:r>
          </a:p>
          <a:p>
            <a:pPr algn="ctr">
              <a:buFontTx/>
              <a:buNone/>
            </a:pPr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A7D46C-A2D6-478D-9EEB-85B03AF723A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7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Coase Theorem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Coase Theorem </a:t>
            </a:r>
          </a:p>
          <a:p>
            <a:pPr lvl="1"/>
            <a:r>
              <a:rPr lang="en-US" altLang="en-US" smtClean="0"/>
              <a:t>The independence of initial rights assignment </a:t>
            </a:r>
          </a:p>
          <a:p>
            <a:pPr lvl="2"/>
            <a:r>
              <a:rPr lang="en-US" altLang="en-US" smtClean="0"/>
              <a:t>In the absence of impediments to making bargains, all mutually beneficial transactions will be completed</a:t>
            </a:r>
          </a:p>
          <a:p>
            <a:pPr lvl="2"/>
            <a:r>
              <a:rPr lang="en-US" altLang="en-US" smtClean="0"/>
              <a:t>If transactions costs are involved or if information is asymmetric, initial rights assignments will matter</a:t>
            </a:r>
          </a:p>
          <a:p>
            <a:pPr algn="ctr">
              <a:buFontTx/>
              <a:buNone/>
            </a:pPr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03CEEF-F5B6-4433-BC4D-C0955D73D0A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6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Attributes of Public Goods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good is exclusive </a:t>
            </a:r>
          </a:p>
          <a:p>
            <a:pPr lvl="2"/>
            <a:r>
              <a:rPr lang="en-US" altLang="en-US" smtClean="0"/>
              <a:t>If it is relatively easy to exclude individuals from benefiting from the good once it is produced</a:t>
            </a:r>
            <a:endParaRPr lang="en-US" altLang="en-US" sz="1400" smtClean="0"/>
          </a:p>
          <a:p>
            <a:r>
              <a:rPr lang="en-US" altLang="en-US" smtClean="0"/>
              <a:t>A good is nonexclusive </a:t>
            </a:r>
          </a:p>
          <a:p>
            <a:pPr lvl="2"/>
            <a:r>
              <a:rPr lang="en-US" altLang="en-US" smtClean="0"/>
              <a:t>If it is impossible (or costly) to exclude individuals from benefiting from the good</a:t>
            </a:r>
          </a:p>
          <a:p>
            <a:r>
              <a:rPr lang="en-US" altLang="en-US" smtClean="0"/>
              <a:t>A good is nonrival </a:t>
            </a:r>
          </a:p>
          <a:p>
            <a:pPr lvl="2"/>
            <a:r>
              <a:rPr lang="en-US" altLang="en-US" smtClean="0"/>
              <a:t>If consumption of additional units of the good involves zero social marginal costs of production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1915C6-E45C-4633-9DE1-558818AF69D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6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 bwMode="auto">
          <a:xfrm>
            <a:off x="1200150" y="0"/>
            <a:ext cx="794385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19.1	Examples showing the typology of public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and </a:t>
            </a:r>
            <a:r>
              <a:rPr lang="en-US" altLang="en-US" dirty="0">
                <a:solidFill>
                  <a:srgbClr val="002D56"/>
                </a:solidFill>
              </a:rPr>
              <a:t>private </a:t>
            </a:r>
            <a:r>
              <a:rPr lang="en-US" altLang="en-US" dirty="0" smtClean="0">
                <a:solidFill>
                  <a:srgbClr val="002D56"/>
                </a:solidFill>
              </a:rPr>
              <a:t>goods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50181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BE62B35-0764-454B-89DE-B5A9F033944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pic>
        <p:nvPicPr>
          <p:cNvPr id="405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447800"/>
            <a:ext cx="8915400" cy="1901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863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Public Good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good is a </a:t>
            </a:r>
            <a:r>
              <a:rPr lang="en-US" altLang="en-US" dirty="0" smtClean="0"/>
              <a:t>(pure) </a:t>
            </a:r>
            <a:r>
              <a:rPr lang="en-US" altLang="en-US" dirty="0" smtClean="0"/>
              <a:t>public good </a:t>
            </a:r>
          </a:p>
          <a:p>
            <a:pPr lvl="1"/>
            <a:r>
              <a:rPr lang="en-US" altLang="en-US" dirty="0" smtClean="0"/>
              <a:t>If, once produced </a:t>
            </a:r>
          </a:p>
          <a:p>
            <a:pPr lvl="1"/>
            <a:r>
              <a:rPr lang="en-US" altLang="en-US" dirty="0" smtClean="0"/>
              <a:t>No one can be excluded from benefiting from its availability </a:t>
            </a:r>
          </a:p>
          <a:p>
            <a:pPr lvl="1"/>
            <a:r>
              <a:rPr lang="en-US" altLang="en-US" dirty="0" smtClean="0"/>
              <a:t>And if the good is </a:t>
            </a:r>
            <a:r>
              <a:rPr lang="en-US" altLang="en-US" dirty="0" err="1" smtClean="0"/>
              <a:t>nonrival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The marginal cost of an additional consumer is zero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88D3352-2B84-4098-B202-193136C96E5E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6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Public Goods and Resource Allocation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22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Two individuals (</a:t>
                </a:r>
                <a:r>
                  <a:rPr lang="en-US" altLang="en-US" i="1" dirty="0" smtClean="0"/>
                  <a:t>A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B</a:t>
                </a:r>
                <a:r>
                  <a:rPr lang="en-US" altLang="en-US" dirty="0" smtClean="0"/>
                  <a:t>), </a:t>
                </a:r>
                <a:r>
                  <a:rPr lang="en-US" altLang="en-US" dirty="0" smtClean="0"/>
                  <a:t>two </a:t>
                </a:r>
                <a:r>
                  <a:rPr lang="en-US" altLang="en-US" dirty="0" smtClean="0"/>
                  <a:t>goods (x, y)</a:t>
                </a:r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Utility functions: U</a:t>
                </a:r>
                <a:r>
                  <a:rPr lang="en-US" altLang="en-US" baseline="30000" dirty="0" smtClean="0"/>
                  <a:t>A</a:t>
                </a:r>
                <a:r>
                  <a:rPr lang="en-US" altLang="en-US" dirty="0" smtClean="0"/>
                  <a:t>(x, </a:t>
                </a:r>
                <a:r>
                  <a:rPr lang="en-US" altLang="en-US" dirty="0" err="1" smtClean="0"/>
                  <a:t>y</a:t>
                </a:r>
                <a:r>
                  <a:rPr lang="en-US" altLang="en-US" baseline="-25000" dirty="0" err="1" smtClean="0"/>
                  <a:t>A</a:t>
                </a:r>
                <a:r>
                  <a:rPr lang="en-US" altLang="en-US" dirty="0" smtClean="0"/>
                  <a:t>) and U</a:t>
                </a:r>
                <a:r>
                  <a:rPr lang="en-US" altLang="en-US" baseline="30000" dirty="0" smtClean="0"/>
                  <a:t>B</a:t>
                </a:r>
                <a:r>
                  <a:rPr lang="en-US" altLang="en-US" dirty="0" smtClean="0"/>
                  <a:t>(x</a:t>
                </a:r>
                <a:r>
                  <a:rPr lang="en-US" altLang="en-US" dirty="0"/>
                  <a:t>, </a:t>
                </a:r>
                <a:r>
                  <a:rPr lang="en-US" altLang="en-US" dirty="0" err="1" smtClean="0"/>
                  <a:t>y</a:t>
                </a:r>
                <a:r>
                  <a:rPr lang="en-US" altLang="en-US" baseline="-25000" dirty="0" err="1" smtClean="0"/>
                  <a:t>B</a:t>
                </a:r>
                <a:r>
                  <a:rPr lang="en-US" altLang="en-US" dirty="0" smtClean="0"/>
                  <a:t>) </a:t>
                </a:r>
              </a:p>
              <a:p>
                <a:pPr lvl="2"/>
                <a:r>
                  <a:rPr lang="en-US" altLang="en-US" dirty="0" smtClean="0"/>
                  <a:t> x, amount consumed of public good</a:t>
                </a:r>
                <a:endParaRPr lang="en-US" altLang="en-US" dirty="0" smtClean="0"/>
              </a:p>
              <a:p>
                <a:pPr lvl="2"/>
                <a:r>
                  <a:rPr lang="en-US" altLang="en-US" dirty="0" smtClean="0"/>
                  <a:t> </a:t>
                </a:r>
                <a:r>
                  <a:rPr lang="en-US" altLang="en-US" dirty="0" err="1" smtClean="0"/>
                  <a:t>y</a:t>
                </a:r>
                <a:r>
                  <a:rPr lang="en-US" altLang="en-US" baseline="-25000" dirty="0" err="1" smtClean="0"/>
                  <a:t>A</a:t>
                </a:r>
                <a:r>
                  <a:rPr lang="en-US" altLang="en-US" dirty="0" smtClean="0"/>
                  <a:t>, </a:t>
                </a:r>
                <a:r>
                  <a:rPr lang="en-US" altLang="en-US" dirty="0" err="1" smtClean="0"/>
                  <a:t>y</a:t>
                </a:r>
                <a:r>
                  <a:rPr lang="en-US" altLang="en-US" baseline="-25000" dirty="0" err="1" smtClean="0"/>
                  <a:t>B</a:t>
                </a:r>
                <a:r>
                  <a:rPr lang="en-US" altLang="en-US" dirty="0" smtClean="0"/>
                  <a:t>, amounts consumed by A, B of traditional (nonpublic) good </a:t>
                </a:r>
              </a:p>
              <a:p>
                <a:pPr lvl="1"/>
                <a:r>
                  <a:rPr lang="en-US" altLang="en-US" dirty="0" smtClean="0"/>
                  <a:t>Labor is the only input, 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dirty="0" smtClean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en-US" dirty="0" smtClean="0">
                    <a:solidFill>
                      <a:srgbClr val="C00000"/>
                    </a:solidFill>
                  </a:rPr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𝐵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en-US" dirty="0"/>
                  <a:t> </a:t>
                </a:r>
                <a:endParaRPr lang="en-US" altLang="en-US" dirty="0" smtClean="0"/>
              </a:p>
              <a:p>
                <a:pPr lvl="2"/>
                <a:r>
                  <a:rPr lang="en-US" altLang="en-US" dirty="0" smtClean="0"/>
                  <a:t>A is endowed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en-US" dirty="0" smtClean="0"/>
                  <a:t>; allocates 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US" altLang="en-US" dirty="0" smtClean="0"/>
                  <a:t> to produce x, and 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</a:t>
                </a:r>
                <a:r>
                  <a:rPr lang="en-US" altLang="en-US" dirty="0" smtClean="0"/>
                  <a:t> to produce y; so 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US" altLang="en-US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altLang="en-US" i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</a:t>
                </a:r>
                <a:r>
                  <a:rPr lang="en-US" altLang="en-US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en-US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en-US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altLang="en-US" dirty="0" smtClean="0"/>
                  <a:t>Similar for B</a:t>
                </a:r>
                <a:endParaRPr lang="en-US" altLang="en-US" dirty="0" smtClean="0"/>
              </a:p>
            </p:txBody>
          </p:sp>
        </mc:Choice>
        <mc:Fallback>
          <p:sp>
            <p:nvSpPr>
              <p:cNvPr id="522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A97BD73-D955-4A9C-B8AB-FE655804F5AE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8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Public Goods and Resource Allocation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25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Production of the </a:t>
                </a:r>
                <a:r>
                  <a:rPr lang="en-US" altLang="en-US" dirty="0" smtClean="0"/>
                  <a:t>public good </a:t>
                </a:r>
                <a:r>
                  <a:rPr lang="en-US" altLang="en-US" i="1" dirty="0" smtClean="0"/>
                  <a:t>x</a:t>
                </a:r>
                <a:r>
                  <a:rPr lang="en-US" altLang="en-US" dirty="0" smtClean="0"/>
                  <a:t> </a:t>
                </a:r>
                <a:endParaRPr lang="en-US" altLang="en-US" dirty="0" smtClean="0"/>
              </a:p>
              <a:p>
                <a:pPr marL="457200" lvl="1" indent="0">
                  <a:buNone/>
                </a:pPr>
                <a:r>
                  <a:rPr lang="en-US" altLang="en-US" dirty="0" smtClean="0"/>
                  <a:t>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f(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Bx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f(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en-US" b="0" i="1" dirty="0" smtClean="0">
                            <a:latin typeface="Cambria Math"/>
                          </a:rPr>
                          <m:t>𝑙</m:t>
                        </m:r>
                      </m:e>
                    </m:acc>
                  </m:oMath>
                </a14:m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en-US" dirty="0" smtClean="0"/>
                  <a:t>Production of the traditional good y</a:t>
                </a:r>
              </a:p>
              <a:p>
                <a:pPr marL="457200" lvl="1" indent="0">
                  <a:buNone/>
                </a:pPr>
                <a:r>
                  <a:rPr lang="en-US" altLang="en-US" dirty="0"/>
                  <a:t> </a:t>
                </a:r>
                <a:r>
                  <a:rPr lang="en-US" altLang="en-US" dirty="0" smtClean="0"/>
                  <a:t>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g(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en-US" dirty="0" smtClean="0"/>
                  <a:t>and 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g(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en-US" dirty="0" smtClean="0"/>
                  <a:t>Allocate labor to maximize A’s utility (for any given level of B’s utility,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𝑈</m:t>
                        </m:r>
                      </m:e>
                    </m:acc>
                  </m:oMath>
                </a14:m>
                <a:r>
                  <a:rPr lang="en-US" altLang="en-US" dirty="0" smtClean="0"/>
                  <a:t> )</a:t>
                </a:r>
              </a:p>
            </p:txBody>
          </p:sp>
        </mc:Choice>
        <mc:Fallback>
          <p:sp>
            <p:nvSpPr>
              <p:cNvPr id="532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r="-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1E197B-BE5F-4350-8B1A-C6EDC74EBA3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9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Public Goods and Resource Allocation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25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81000" y="1219200"/>
                <a:ext cx="8686800" cy="5181600"/>
              </a:xfrm>
            </p:spPr>
            <p:txBody>
              <a:bodyPr/>
              <a:lstStyle/>
              <a:p>
                <a:r>
                  <a:rPr lang="en-US" altLang="en-US" dirty="0" smtClean="0"/>
                  <a:t>Lagrangian: </a:t>
                </a:r>
              </a:p>
              <a:p>
                <a:pPr marL="0" indent="0">
                  <a:buNone/>
                </a:pPr>
                <a:r>
                  <a:rPr lang="en-US" altLang="en-US" sz="2800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Arial Unicode MS" pitchFamily="34" charset="-128"/>
                    <a:cs typeface="Times New Roman" panose="02020603050405020304" pitchFamily="18" charset="0"/>
                  </a:rPr>
                  <a:t>ℒ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2800" i="1" baseline="30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(f(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𝑙</m:t>
                        </m:r>
                      </m:e>
                    </m:acc>
                  </m:oMath>
                </a14:m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- </a:t>
                </a:r>
                <a:r>
                  <a:rPr lang="en-US" altLang="en-US" sz="28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Ay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- </a:t>
                </a:r>
                <a:r>
                  <a:rPr lang="en-US" altLang="en-US" sz="28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By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), g(</a:t>
                </a:r>
                <a:r>
                  <a:rPr lang="en-US" altLang="en-US" sz="28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Ay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))+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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[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2800" i="1" baseline="30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(f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en-US" sz="28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𝑙</m:t>
                        </m:r>
                      </m:e>
                    </m:acc>
                  </m:oMath>
                </a14:m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- </a:t>
                </a:r>
                <a:r>
                  <a:rPr lang="en-US" altLang="en-US" sz="2800" i="1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Ay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- </a:t>
                </a:r>
                <a:r>
                  <a:rPr lang="en-US" altLang="en-US" sz="2800" i="1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By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), 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g(</a:t>
                </a:r>
                <a:r>
                  <a:rPr lang="en-US" altLang="en-US" sz="28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28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By</a:t>
                </a:r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))-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𝑈</m:t>
                        </m:r>
                      </m:e>
                    </m:acc>
                  </m:oMath>
                </a14:m>
                <a:r>
                  <a:rPr lang="en-US" altLang="en-US" sz="28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]</a:t>
                </a:r>
              </a:p>
              <a:p>
                <a:r>
                  <a:rPr lang="en-US" altLang="en-US" sz="3200" dirty="0" smtClean="0">
                    <a:latin typeface="Times New Roman" pitchFamily="18" charset="0"/>
                    <a:cs typeface="Times New Roman" pitchFamily="18" charset="0"/>
                  </a:rPr>
                  <a:t>First-order conditions:</a:t>
                </a:r>
              </a:p>
              <a:p>
                <a:pPr marL="0" indent="0" algn="ctr">
                  <a:buNone/>
                </a:pP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∂L /∂</a:t>
                </a:r>
                <a:r>
                  <a:rPr lang="en-US" altLang="en-US" sz="32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32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Ay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-</a:t>
                </a:r>
                <a:r>
                  <a:rPr lang="en-US" altLang="en-US" sz="32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3200" i="1" baseline="30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sz="32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3200" i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f’ + </a:t>
                </a:r>
                <a:r>
                  <a:rPr lang="en-US" altLang="en-US" sz="32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3200" i="1" baseline="30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sz="32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3200" i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g’ – </a:t>
                </a:r>
                <a:r>
                  <a:rPr lang="el-GR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λ</a:t>
                </a:r>
                <a:r>
                  <a:rPr lang="en-US" altLang="en-US" sz="32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3200" i="1" baseline="30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US" altLang="en-US" sz="32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3200" i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f’ = 0</a:t>
                </a:r>
                <a:endParaRPr lang="en-US" altLang="en-US" sz="32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en-US" sz="32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∂L /∂</a:t>
                </a:r>
                <a:r>
                  <a:rPr lang="en-US" altLang="en-US" sz="32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en-US" sz="32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By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32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= -</a:t>
                </a:r>
                <a:r>
                  <a:rPr lang="en-US" altLang="en-US" sz="32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3200" i="1" baseline="30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sz="32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3200" i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en-US" sz="32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’ 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– </a:t>
                </a:r>
                <a:r>
                  <a:rPr lang="el-GR" altLang="en-US" sz="32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λ</a:t>
                </a:r>
                <a:r>
                  <a:rPr lang="en-US" altLang="en-US" sz="32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3200" i="1" baseline="30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US" altLang="en-US" sz="32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3200" i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en-US" sz="32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’ 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+ </a:t>
                </a:r>
                <a:r>
                  <a:rPr lang="el-GR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λ</a:t>
                </a:r>
                <a:r>
                  <a:rPr lang="en-US" altLang="en-US" sz="3200" i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3200" i="1" baseline="30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US" altLang="en-US" sz="3200" i="1" baseline="-25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3200" i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3200" i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g’ = </a:t>
                </a:r>
                <a:r>
                  <a:rPr lang="en-US" altLang="en-US" sz="32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  <a:p>
                <a:pPr lvl="1"/>
                <a:r>
                  <a:rPr lang="en-US" altLang="en-US" sz="3000" dirty="0" smtClean="0">
                    <a:solidFill>
                      <a:schemeClr val="tx1"/>
                    </a:solidFill>
                    <a:cs typeface="Times New Roman" pitchFamily="18" charset="0"/>
                  </a:rPr>
                  <a:t>Imply </a:t>
                </a:r>
                <a:r>
                  <a:rPr lang="en-US" altLang="en-US" sz="2800" i="1" dirty="0" err="1" smtClean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2800" i="1" baseline="30000" dirty="0" err="1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sz="2800" i="1" baseline="-25000" dirty="0" err="1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2800" i="1" baseline="-25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 smtClean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l-GR" altLang="en-US" sz="2800" i="1" dirty="0">
                    <a:latin typeface="Times New Roman" pitchFamily="18" charset="0"/>
                    <a:cs typeface="Times New Roman" pitchFamily="18" charset="0"/>
                  </a:rPr>
                  <a:t>λ</a:t>
                </a:r>
                <a:r>
                  <a:rPr lang="en-US" altLang="en-US" sz="2800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sz="2800" i="1" baseline="30000" dirty="0" err="1"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US" altLang="en-US" sz="2800" i="1" baseline="-25000" dirty="0" err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2800" i="1" baseline="-25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dirty="0" smtClean="0">
                    <a:cs typeface="Times New Roman" pitchFamily="18" charset="0"/>
                  </a:rPr>
                  <a:t>, so </a:t>
                </a:r>
                <a:r>
                  <a:rPr lang="el-GR" altLang="en-US" i="1" dirty="0">
                    <a:latin typeface="Times New Roman" pitchFamily="18" charset="0"/>
                    <a:cs typeface="Times New Roman" pitchFamily="18" charset="0"/>
                  </a:rPr>
                  <a:t>λ </a:t>
                </a:r>
                <a:r>
                  <a:rPr lang="en-US" altLang="en-US" i="1" dirty="0" smtClean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altLang="en-US" i="1" dirty="0" err="1" smtClean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i="1" baseline="30000" dirty="0" err="1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i="1" baseline="-25000" dirty="0" err="1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i="1" baseline="-25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i="1" dirty="0" smtClean="0">
                    <a:latin typeface="Times New Roman" pitchFamily="18" charset="0"/>
                    <a:cs typeface="Times New Roman" pitchFamily="18" charset="0"/>
                  </a:rPr>
                  <a:t> /</a:t>
                </a:r>
                <a:r>
                  <a:rPr lang="en-US" altLang="en-US" i="1" dirty="0" err="1" smtClean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en-US" i="1" baseline="30000" dirty="0" err="1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US" altLang="en-US" i="1" baseline="-25000" dirty="0" err="1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i="1" baseline="-25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r>
                  <a:rPr lang="en-US" altLang="en-US" sz="3400" dirty="0" smtClean="0">
                    <a:cs typeface="Times New Roman" pitchFamily="18" charset="0"/>
                  </a:rPr>
                  <a:t>Substitute </a:t>
                </a:r>
                <a:r>
                  <a:rPr lang="el-GR" altLang="en-US" sz="3400" dirty="0" smtClean="0">
                    <a:cs typeface="Times New Roman" pitchFamily="18" charset="0"/>
                  </a:rPr>
                  <a:t>λ</a:t>
                </a:r>
                <a:r>
                  <a:rPr lang="en-US" altLang="en-US" sz="3400" dirty="0" smtClean="0">
                    <a:cs typeface="Times New Roman" pitchFamily="18" charset="0"/>
                  </a:rPr>
                  <a:t> and rearrange: </a:t>
                </a:r>
              </a:p>
              <a:p>
                <a:pPr marL="0" indent="0">
                  <a:buNone/>
                </a:pPr>
                <a:r>
                  <a:rPr lang="en-US" altLang="en-US" sz="3000" i="1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U</a:t>
                </a:r>
                <a:r>
                  <a:rPr lang="en-US" altLang="en-US" sz="3000" baseline="-25000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en-US" sz="3000" i="1" baseline="30000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A</a:t>
                </a:r>
                <a:r>
                  <a:rPr lang="en-US" altLang="en-US" sz="3000" dirty="0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/</a:t>
                </a:r>
                <a:r>
                  <a:rPr lang="en-US" altLang="en-US" sz="3000" i="1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U</a:t>
                </a:r>
                <a:r>
                  <a:rPr lang="en-US" altLang="en-US" sz="3000" baseline="-25000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en-US" sz="3000" i="1" baseline="30000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A</a:t>
                </a:r>
                <a:r>
                  <a:rPr lang="en-US" altLang="en-US" sz="3000" i="1" dirty="0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en-US" sz="3000" i="1" dirty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+ </a:t>
                </a:r>
                <a:r>
                  <a:rPr lang="en-US" altLang="en-US" sz="3000" i="1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U</a:t>
                </a:r>
                <a:r>
                  <a:rPr lang="en-US" altLang="en-US" sz="3000" baseline="-25000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en-US" sz="3000" i="1" baseline="30000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B</a:t>
                </a:r>
                <a:r>
                  <a:rPr lang="en-US" altLang="en-US" sz="3000" dirty="0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/</a:t>
                </a:r>
                <a:r>
                  <a:rPr lang="en-US" altLang="en-US" sz="3000" i="1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U</a:t>
                </a:r>
                <a:r>
                  <a:rPr lang="en-US" altLang="en-US" sz="3000" baseline="-25000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en-US" sz="3000" i="1" baseline="30000" dirty="0" err="1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B</a:t>
                </a:r>
                <a:r>
                  <a:rPr lang="en-US" altLang="en-US" sz="3000" dirty="0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en-US" sz="3000" dirty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= </a:t>
                </a:r>
                <a:r>
                  <a:rPr lang="en-US" altLang="en-US" sz="3000" dirty="0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g’/</a:t>
                </a:r>
                <a:r>
                  <a:rPr lang="en-US" altLang="en-US" sz="3000" i="1" dirty="0" smtClean="0">
                    <a:solidFill>
                      <a:srgbClr val="002D56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f’</a:t>
                </a:r>
                <a:r>
                  <a:rPr lang="en-US" altLang="en-US" sz="3000" dirty="0" smtClean="0">
                    <a:solidFill>
                      <a:srgbClr val="002D56"/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en-US" sz="2800" dirty="0" smtClean="0">
                    <a:solidFill>
                      <a:schemeClr val="tx1"/>
                    </a:solidFill>
                    <a:cs typeface="Times New Roman" pitchFamily="18" charset="0"/>
                    <a:sym typeface="Symbol" pitchFamily="18" charset="2"/>
                  </a:rPr>
                  <a:t>or: </a:t>
                </a:r>
                <a:r>
                  <a:rPr lang="en-US" altLang="en-US" sz="3400" dirty="0" smtClean="0">
                    <a:solidFill>
                      <a:schemeClr val="tx1"/>
                    </a:solidFill>
                    <a:cs typeface="Times New Roman" pitchFamily="18" charset="0"/>
                  </a:rPr>
                  <a:t>MRS</a:t>
                </a:r>
                <a:r>
                  <a:rPr lang="en-US" altLang="en-US" sz="3400" baseline="30000" dirty="0" smtClean="0">
                    <a:solidFill>
                      <a:schemeClr val="tx1"/>
                    </a:solidFill>
                    <a:cs typeface="Times New Roman" pitchFamily="18" charset="0"/>
                  </a:rPr>
                  <a:t>A</a:t>
                </a:r>
                <a:r>
                  <a:rPr lang="en-US" altLang="en-US" sz="3400" dirty="0" smtClean="0">
                    <a:solidFill>
                      <a:schemeClr val="tx1"/>
                    </a:solidFill>
                    <a:cs typeface="Times New Roman" pitchFamily="18" charset="0"/>
                  </a:rPr>
                  <a:t> + MRS</a:t>
                </a:r>
                <a:r>
                  <a:rPr lang="en-US" altLang="en-US" sz="3400" baseline="30000" dirty="0" smtClean="0">
                    <a:solidFill>
                      <a:schemeClr val="tx1"/>
                    </a:solidFill>
                    <a:cs typeface="Times New Roman" pitchFamily="18" charset="0"/>
                  </a:rPr>
                  <a:t>B</a:t>
                </a:r>
                <a:r>
                  <a:rPr lang="en-US" altLang="en-US" sz="3400" dirty="0" smtClean="0">
                    <a:solidFill>
                      <a:schemeClr val="tx1"/>
                    </a:solidFill>
                    <a:cs typeface="Times New Roman" pitchFamily="18" charset="0"/>
                  </a:rPr>
                  <a:t> = RPT</a:t>
                </a:r>
                <a:endParaRPr lang="en-US" altLang="en-US" sz="3400" dirty="0">
                  <a:solidFill>
                    <a:schemeClr val="tx1"/>
                  </a:solidFill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32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19200"/>
                <a:ext cx="8686800" cy="5181600"/>
              </a:xfrm>
              <a:blipFill rotWithShape="1">
                <a:blip r:embed="rId2"/>
                <a:stretch>
                  <a:fillRect l="-1754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1E197B-BE5F-4350-8B1A-C6EDC74EBA3A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Failure of a Competitive Market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Production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in competitive markets </a:t>
            </a:r>
          </a:p>
          <a:p>
            <a:pPr lvl="1"/>
            <a:r>
              <a:rPr lang="en-US" altLang="en-US" dirty="0" smtClean="0"/>
              <a:t>Will fail to achieve this </a:t>
            </a:r>
            <a:r>
              <a:rPr lang="en-US" altLang="en-US" dirty="0" smtClean="0"/>
              <a:t>allocational goal</a:t>
            </a:r>
            <a:endParaRPr lang="en-US" altLang="en-US" dirty="0" smtClean="0"/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Each individual will equate his </a:t>
            </a:r>
            <a:r>
              <a:rPr lang="en-US" altLang="en-US" i="1" dirty="0" smtClean="0"/>
              <a:t>MRS</a:t>
            </a:r>
            <a:r>
              <a:rPr lang="en-US" altLang="en-US" dirty="0" smtClean="0"/>
              <a:t> to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x</a:t>
            </a:r>
            <a:r>
              <a:rPr lang="en-US" altLang="en-US" dirty="0" smtClean="0"/>
              <a:t>/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endParaRPr lang="en-US" altLang="en-US" dirty="0" smtClean="0"/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Profit maximization will lead to g’/</a:t>
            </a:r>
            <a:r>
              <a:rPr lang="en-US" altLang="en-US" i="1" dirty="0" smtClean="0"/>
              <a:t>f</a:t>
            </a:r>
            <a:r>
              <a:rPr lang="en-US" altLang="en-US" i="1" dirty="0" smtClean="0"/>
              <a:t>’</a:t>
            </a:r>
            <a:r>
              <a:rPr lang="en-US" altLang="en-US" dirty="0" smtClean="0"/>
              <a:t> </a:t>
            </a:r>
            <a:r>
              <a:rPr lang="en-US" altLang="en-US" dirty="0" smtClean="0"/>
              <a:t>=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x</a:t>
            </a:r>
            <a:r>
              <a:rPr lang="en-US" altLang="en-US" dirty="0" smtClean="0"/>
              <a:t>/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r>
              <a:rPr lang="en-US" altLang="en-US" dirty="0" smtClean="0"/>
              <a:t> </a:t>
            </a:r>
            <a:endParaRPr lang="en-US" altLang="en-US" dirty="0" smtClean="0"/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The </a:t>
            </a:r>
            <a:r>
              <a:rPr lang="en-US" altLang="en-US" dirty="0" smtClean="0"/>
              <a:t>price ratio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x</a:t>
            </a:r>
            <a:r>
              <a:rPr lang="en-US" altLang="en-US" dirty="0" smtClean="0"/>
              <a:t>/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r>
              <a:rPr lang="en-US" altLang="en-US" dirty="0" smtClean="0"/>
              <a:t> will be too low</a:t>
            </a:r>
          </a:p>
          <a:p>
            <a:pPr lvl="2"/>
            <a:r>
              <a:rPr lang="en-US" altLang="en-US" dirty="0" smtClean="0"/>
              <a:t>It would provide too little incentive to produce </a:t>
            </a:r>
            <a:r>
              <a:rPr lang="en-US" altLang="en-US" i="1" dirty="0" smtClean="0"/>
              <a:t>x</a:t>
            </a:r>
            <a:endParaRPr lang="en-US" altLang="en-US" i="1" baseline="-25000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369B46-1A8F-435C-954A-FFACD54FA218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0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Failure of a Competitive Market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For public goods</a:t>
            </a:r>
          </a:p>
          <a:p>
            <a:pPr lvl="1"/>
            <a:r>
              <a:rPr lang="en-US" altLang="en-US" smtClean="0"/>
              <a:t>The value of producing one more unit </a:t>
            </a:r>
          </a:p>
          <a:p>
            <a:pPr lvl="2"/>
            <a:r>
              <a:rPr lang="en-US" altLang="en-US" smtClean="0"/>
              <a:t>Is the sum of each consumer’s valuation of that output</a:t>
            </a:r>
          </a:p>
          <a:p>
            <a:pPr lvl="1"/>
            <a:r>
              <a:rPr lang="en-US" altLang="en-US" smtClean="0"/>
              <a:t>Individual demand curves should be added vertically rather than horizontally</a:t>
            </a:r>
          </a:p>
          <a:p>
            <a:pPr lvl="1"/>
            <a:r>
              <a:rPr lang="en-US" altLang="en-US" smtClean="0"/>
              <a:t>The usual market demand curve will not reflect the full marginal valuation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EA9B01-4D4A-4D56-A85F-626AE6906571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5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19.3 	Derivation of the </a:t>
            </a:r>
            <a:r>
              <a:rPr lang="en-US" dirty="0" smtClean="0"/>
              <a:t>Demand for </a:t>
            </a:r>
            <a:r>
              <a:rPr lang="en-US" dirty="0"/>
              <a:t>a Public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19825" y="1295400"/>
            <a:ext cx="2771776" cy="4830763"/>
          </a:xfrm>
        </p:spPr>
        <p:txBody>
          <a:bodyPr/>
          <a:lstStyle/>
          <a:p>
            <a:r>
              <a:rPr lang="en-US" dirty="0"/>
              <a:t>For a public good, the price individuals are willing to pay for one more unit (their “marginal valuations</a:t>
            </a:r>
            <a:r>
              <a:rPr lang="en-US" dirty="0" smtClean="0"/>
              <a:t>”) is </a:t>
            </a:r>
            <a:r>
              <a:rPr lang="en-US" dirty="0"/>
              <a:t>equal to the sum of what each individual would pay. Hence, for public goods, the demand curve must </a:t>
            </a:r>
            <a:r>
              <a:rPr lang="en-US" dirty="0" smtClean="0"/>
              <a:t>be derived </a:t>
            </a:r>
            <a:r>
              <a:rPr lang="en-US" dirty="0"/>
              <a:t>by a vertical summation rather than the horizontal summation used in the case of private goods.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46</a:t>
            </a:fld>
            <a:endParaRPr lang="en-US" dirty="0"/>
          </a:p>
        </p:txBody>
      </p:sp>
      <p:pic>
        <p:nvPicPr>
          <p:cNvPr id="406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57250"/>
            <a:ext cx="59150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89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Inefficiency of a Nash </a:t>
            </a:r>
            <a:r>
              <a:rPr lang="en-US" altLang="en-US" dirty="0" smtClean="0"/>
              <a:t>Equilibrium</a:t>
            </a:r>
            <a:endParaRPr lang="en-US" altLang="en-US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public good problem</a:t>
            </a:r>
          </a:p>
          <a:p>
            <a:pPr lvl="1"/>
            <a:r>
              <a:rPr lang="en-US" altLang="en-US" dirty="0" smtClean="0"/>
              <a:t>Competitive market fails to produce an efficient level of the public good </a:t>
            </a:r>
          </a:p>
          <a:p>
            <a:pPr lvl="1"/>
            <a:r>
              <a:rPr lang="en-US" altLang="en-US" dirty="0" smtClean="0"/>
              <a:t>Exists even with two agents behaving strategically (as </a:t>
            </a:r>
            <a:r>
              <a:rPr lang="en-US" altLang="en-US" dirty="0"/>
              <a:t>long as they act independently 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Tends </a:t>
            </a:r>
            <a:r>
              <a:rPr lang="en-US" altLang="en-US" dirty="0"/>
              <a:t>to get worse as the number of </a:t>
            </a:r>
            <a:r>
              <a:rPr lang="en-US" altLang="en-US" dirty="0" smtClean="0"/>
              <a:t>agents increases </a:t>
            </a:r>
          </a:p>
          <a:p>
            <a:pPr lvl="1"/>
            <a:r>
              <a:rPr lang="en-US" altLang="en-US" dirty="0" smtClean="0"/>
              <a:t>Free-rider problem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B0A6A3-8EA7-4CAE-991A-DEA83E4114F9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6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19.3 	</a:t>
            </a:r>
            <a:r>
              <a:rPr lang="en-US" altLang="en-US" dirty="0"/>
              <a:t>The Roommates Dilemma</a:t>
            </a:r>
            <a:endParaRPr lang="en-US" altLang="en-US" dirty="0" smtClean="0">
              <a:solidFill>
                <a:srgbClr val="000099"/>
              </a:solidFill>
            </a:endParaRPr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85EB40-6CBD-41EF-AC00-655129A872AA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6144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Two </a:t>
            </a:r>
            <a:r>
              <a:rPr lang="en-US" altLang="en-US" dirty="0" smtClean="0"/>
              <a:t>roommates, A and B, </a:t>
            </a:r>
            <a:r>
              <a:rPr lang="en-US" altLang="en-US" dirty="0" smtClean="0"/>
              <a:t>with identical preferences</a:t>
            </a:r>
          </a:p>
          <a:p>
            <a:pPr lvl="1"/>
            <a:r>
              <a:rPr lang="en-US" altLang="en-US" dirty="0" smtClean="0"/>
              <a:t>Derive utility from </a:t>
            </a:r>
            <a:r>
              <a:rPr lang="en-US" altLang="en-US" dirty="0"/>
              <a:t>the cleanliness of their room and the </a:t>
            </a:r>
            <a:r>
              <a:rPr lang="en-US" altLang="en-US" dirty="0" smtClean="0"/>
              <a:t>knowledge gained </a:t>
            </a:r>
            <a:r>
              <a:rPr lang="en-US" altLang="en-US" dirty="0"/>
              <a:t>from economics texts </a:t>
            </a:r>
            <a:r>
              <a:rPr lang="en-US" altLang="en-US" dirty="0" smtClean="0"/>
              <a:t>read</a:t>
            </a:r>
          </a:p>
          <a:p>
            <a:pPr lvl="1"/>
            <a:r>
              <a:rPr lang="en-US" altLang="en-US" dirty="0" smtClean="0"/>
              <a:t>Utility </a:t>
            </a:r>
            <a:r>
              <a:rPr lang="en-US" altLang="en-US" dirty="0" smtClean="0"/>
              <a:t>function </a:t>
            </a:r>
            <a:r>
              <a:rPr lang="en-US" altLang="en-US" dirty="0" smtClean="0"/>
              <a:t>for A: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800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8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800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1/3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1/3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 </a:t>
            </a:r>
            <a:r>
              <a:rPr lang="en-US" altLang="en-US" dirty="0" err="1" smtClean="0"/>
              <a:t>y</a:t>
            </a:r>
            <a:r>
              <a:rPr lang="en-US" altLang="en-US" baseline="-25000" dirty="0" err="1" smtClean="0"/>
              <a:t>A</a:t>
            </a:r>
            <a:r>
              <a:rPr lang="en-US" altLang="en-US" dirty="0" smtClean="0"/>
              <a:t> </a:t>
            </a:r>
            <a:r>
              <a:rPr lang="en-US" altLang="en-US" dirty="0"/>
              <a:t>is the number of hours A spends </a:t>
            </a:r>
            <a:r>
              <a:rPr lang="en-US" altLang="en-US" dirty="0" smtClean="0"/>
              <a:t>reading (private good)</a:t>
            </a:r>
          </a:p>
          <a:p>
            <a:pPr lvl="2"/>
            <a:r>
              <a:rPr lang="en-US" altLang="en-US" dirty="0" smtClean="0"/>
              <a:t>  </a:t>
            </a:r>
            <a:r>
              <a:rPr lang="en-US" altLang="en-US" dirty="0"/>
              <a:t>x </a:t>
            </a:r>
            <a:r>
              <a:rPr lang="en-US" altLang="en-US" dirty="0" smtClean="0"/>
              <a:t>=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A</a:t>
            </a:r>
            <a:r>
              <a:rPr lang="en-US" altLang="en-US" dirty="0"/>
              <a:t> </a:t>
            </a:r>
            <a:r>
              <a:rPr lang="en-US" altLang="en-US" dirty="0" smtClean="0"/>
              <a:t>+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B</a:t>
            </a:r>
            <a:r>
              <a:rPr lang="en-US" altLang="en-US" dirty="0"/>
              <a:t> is the sum across </a:t>
            </a:r>
            <a:r>
              <a:rPr lang="en-US" altLang="en-US" dirty="0" smtClean="0"/>
              <a:t>roommates of </a:t>
            </a:r>
            <a:r>
              <a:rPr lang="en-US" altLang="en-US" dirty="0"/>
              <a:t>the hours spent </a:t>
            </a:r>
            <a:r>
              <a:rPr lang="en-US" altLang="en-US" dirty="0" smtClean="0"/>
              <a:t>cleaning (public good)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23925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19.3 	</a:t>
            </a:r>
            <a:r>
              <a:rPr lang="en-US" altLang="en-US" dirty="0"/>
              <a:t>The Roommates Dilemma</a:t>
            </a:r>
            <a:endParaRPr lang="en-US" altLang="en-US" dirty="0" smtClean="0">
              <a:solidFill>
                <a:srgbClr val="000099"/>
              </a:solidFill>
            </a:endParaRPr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85EB40-6CBD-41EF-AC00-655129A872AA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6144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If the </a:t>
            </a:r>
            <a:r>
              <a:rPr lang="en-US" altLang="en-US" dirty="0"/>
              <a:t>roommates make their </a:t>
            </a:r>
            <a:r>
              <a:rPr lang="en-US" altLang="en-US" dirty="0" smtClean="0"/>
              <a:t>consumptions decisions independently</a:t>
            </a:r>
          </a:p>
          <a:p>
            <a:pPr lvl="1"/>
            <a:r>
              <a:rPr lang="en-US" altLang="en-US" dirty="0"/>
              <a:t>Nash equilibrium in which roommates play mutual best </a:t>
            </a:r>
            <a:r>
              <a:rPr lang="en-US" altLang="en-US" dirty="0" smtClean="0"/>
              <a:t>responses</a:t>
            </a:r>
          </a:p>
          <a:p>
            <a:pPr lvl="1"/>
            <a:r>
              <a:rPr lang="en-US" altLang="en-US" dirty="0" smtClean="0"/>
              <a:t>Roommate A maximizes </a:t>
            </a:r>
            <a:r>
              <a:rPr lang="en-US" altLang="en-US" dirty="0"/>
              <a:t>utility 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2/3</a:t>
            </a:r>
            <a:endParaRPr lang="en-US" altLang="en-US" i="1" baseline="30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en-US" dirty="0" smtClean="0"/>
              <a:t>Subject to </a:t>
            </a:r>
            <a:r>
              <a:rPr lang="en-US" altLang="en-US" dirty="0"/>
              <a:t>the (time) budget constraint 10 </a:t>
            </a:r>
            <a:r>
              <a:rPr lang="en-US" altLang="en-US" dirty="0" smtClean="0"/>
              <a:t>= </a:t>
            </a:r>
            <a:r>
              <a:rPr lang="en-US" altLang="en-US" dirty="0" err="1" smtClean="0"/>
              <a:t>x</a:t>
            </a:r>
            <a:r>
              <a:rPr lang="en-US" altLang="en-US" baseline="-25000" dirty="0" err="1" smtClean="0"/>
              <a:t>A</a:t>
            </a:r>
            <a:r>
              <a:rPr lang="en-US" altLang="en-US" dirty="0" smtClean="0"/>
              <a:t> + </a:t>
            </a:r>
            <a:r>
              <a:rPr lang="en-US" altLang="en-US" dirty="0" err="1" smtClean="0"/>
              <a:t>y</a:t>
            </a:r>
            <a:r>
              <a:rPr lang="en-US" altLang="en-US" baseline="-25000" dirty="0" err="1" smtClean="0"/>
              <a:t>A</a:t>
            </a:r>
            <a:endParaRPr lang="en-US" altLang="en-US" dirty="0"/>
          </a:p>
          <a:p>
            <a:pPr lvl="1"/>
            <a:r>
              <a:rPr lang="en-US" altLang="en-US" dirty="0" err="1" smtClean="0"/>
              <a:t>Lagrangian</a:t>
            </a:r>
            <a:r>
              <a:rPr lang="en-US" altLang="en-US" dirty="0" smtClean="0"/>
              <a:t>: </a:t>
            </a:r>
          </a:p>
          <a:p>
            <a:pPr marL="457200" lvl="1" indent="0" algn="ctr">
              <a:buNone/>
            </a:pPr>
            <a:r>
              <a:rPr lang="en-US" altLang="en-US" sz="32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</a:t>
            </a:r>
            <a:r>
              <a:rPr lang="en-US" altLang="en-US" sz="3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3200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3200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3200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2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3200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r>
              <a:rPr lang="en-US" altLang="en-US" sz="32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3200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200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2/3</a:t>
            </a:r>
            <a:r>
              <a:rPr lang="en-US" altLang="en-US" sz="32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altLang="en-US" sz="32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32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 – </a:t>
            </a:r>
            <a:r>
              <a:rPr lang="en-US" altLang="en-US" sz="3200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3200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2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3200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3200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3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00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19.3 	</a:t>
            </a:r>
            <a:r>
              <a:rPr lang="en-US" altLang="en-US" dirty="0"/>
              <a:t>The Roommates Dilemma</a:t>
            </a:r>
            <a:endParaRPr lang="en-US" altLang="en-US" dirty="0" smtClean="0">
              <a:solidFill>
                <a:srgbClr val="000099"/>
              </a:solidFill>
            </a:endParaRPr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85EB40-6CBD-41EF-AC00-655129A872AA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43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If the </a:t>
                </a:r>
                <a:r>
                  <a:rPr lang="en-US" altLang="en-US" dirty="0"/>
                  <a:t>roommates make their </a:t>
                </a:r>
                <a:r>
                  <a:rPr lang="en-US" altLang="en-US" dirty="0" smtClean="0"/>
                  <a:t>consumptions decisions independently</a:t>
                </a:r>
              </a:p>
              <a:p>
                <a:pPr lvl="1"/>
                <a:r>
                  <a:rPr lang="en-US" altLang="en-US" dirty="0" smtClean="0"/>
                  <a:t>First-order conditions: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320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en-US" sz="32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en-US" sz="320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US" altLang="en-US" sz="3200" i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3200" i="1" baseline="-250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den>
                    </m:f>
                    <m:r>
                      <a:rPr lang="en-US" altLang="en-US" sz="3200" b="0" i="1" smtClean="0">
                        <a:solidFill>
                          <a:srgbClr val="C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32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32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2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en-US" sz="3200" b="0" i="1" smtClean="0">
                        <a:solidFill>
                          <a:srgbClr val="C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en-US" sz="3200" i="1" dirty="0" smtClean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3200" i="1" baseline="-25000" dirty="0" smtClean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en-US" sz="32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3200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3200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-2/3</a:t>
                </a:r>
                <a:r>
                  <a:rPr lang="en-US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sz="3200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3200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2/3</a:t>
                </a:r>
                <a:r>
                  <a:rPr lang="en-US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l-GR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US" altLang="en-US" sz="3200" i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3200" b="0" i="1" baseline="-25000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den>
                    </m:f>
                    <m:r>
                      <a:rPr lang="en-US" altLang="en-US" sz="3200" i="1">
                        <a:solidFill>
                          <a:srgbClr val="C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32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en-US" sz="3200" i="1">
                        <a:solidFill>
                          <a:srgbClr val="C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en-US" sz="3200" i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3200" i="1" baseline="-25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en-US" sz="32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en-US" sz="32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3200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3200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1/3</a:t>
                </a:r>
                <a:r>
                  <a:rPr lang="en-US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sz="3200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3200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-1/3</a:t>
                </a:r>
                <a:r>
                  <a:rPr lang="en-US" altLang="en-US" sz="32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el-GR" altLang="en-US" sz="32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altLang="en-US" sz="32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pPr lvl="1"/>
                <a:r>
                  <a:rPr lang="en-US" altLang="en-US" sz="3200" dirty="0" smtClean="0">
                    <a:cs typeface="Times New Roman" panose="02020603050405020304" pitchFamily="18" charset="0"/>
                  </a:rPr>
                  <a:t>Solving: 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2(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:r>
                  <a:rPr lang="en-US" altLang="en-US" sz="3200" dirty="0" smtClean="0">
                    <a:cs typeface="Times New Roman" panose="02020603050405020304" pitchFamily="18" charset="0"/>
                  </a:rPr>
                  <a:t>Substituting: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10=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+y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+2(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)=3x</a:t>
                </a:r>
                <a:r>
                  <a:rPr lang="en-US" altLang="en-US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+ 2x</a:t>
                </a:r>
                <a:r>
                  <a:rPr lang="en-US" altLang="en-US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altLang="en-US" sz="3200" dirty="0" smtClean="0">
                    <a:cs typeface="Times New Roman" panose="02020603050405020304" pitchFamily="18" charset="0"/>
                  </a:rPr>
                  <a:t>Symmetric equilibrium: </a:t>
                </a:r>
              </a:p>
              <a:p>
                <a:pPr marL="457200" lvl="1" indent="0">
                  <a:buNone/>
                </a:pP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*=</a:t>
                </a:r>
                <a:r>
                  <a:rPr lang="en-US" altLang="en-US" sz="3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3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*=2, and U</a:t>
                </a:r>
                <a:r>
                  <a:rPr lang="en-US" altLang="en-US" sz="3200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A*</a:t>
                </a:r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U</a:t>
                </a:r>
                <a:r>
                  <a:rPr lang="en-US" altLang="en-US" sz="3200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B*</a:t>
                </a:r>
                <a14:m>
                  <m:oMath xmlns:m="http://schemas.openxmlformats.org/officeDocument/2006/math">
                    <m:r>
                      <a:rPr lang="en-US" altLang="en-US" sz="3200" i="1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altLang="en-US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6.3</a:t>
                </a:r>
                <a:endParaRPr lang="en-US" alt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en-US" sz="3200" dirty="0" smtClean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4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167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831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19.3 	</a:t>
            </a:r>
            <a:r>
              <a:rPr lang="en-US" altLang="en-US" dirty="0"/>
              <a:t>The Roommates Dilemma</a:t>
            </a:r>
            <a:endParaRPr lang="en-US" altLang="en-US" dirty="0" smtClean="0">
              <a:solidFill>
                <a:srgbClr val="000099"/>
              </a:solidFill>
            </a:endParaRPr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85EB40-6CBD-41EF-AC00-655129A872AA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43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Efficient allocation</a:t>
                </a:r>
              </a:p>
              <a:p>
                <a:pPr lvl="1"/>
                <a:r>
                  <a:rPr lang="en-US" altLang="en-US" dirty="0" smtClean="0">
                    <a:cs typeface="Times New Roman" panose="02020603050405020304" pitchFamily="18" charset="0"/>
                  </a:rPr>
                  <a:t>The sum </a:t>
                </a:r>
                <a:r>
                  <a:rPr lang="en-US" altLang="en-US" dirty="0">
                    <a:cs typeface="Times New Roman" panose="02020603050405020304" pitchFamily="18" charset="0"/>
                  </a:rPr>
                  <a:t>of each person’s MRS equals the price </a:t>
                </a:r>
                <a:r>
                  <a:rPr lang="en-US" altLang="en-US" dirty="0" smtClean="0">
                    <a:cs typeface="Times New Roman" panose="02020603050405020304" pitchFamily="18" charset="0"/>
                  </a:rPr>
                  <a:t>ratio:  </a:t>
                </a:r>
                <a:r>
                  <a:rPr lang="en-US" altLang="en-US" sz="28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MRS</a:t>
                </a:r>
                <a:r>
                  <a:rPr lang="en-US" altLang="en-US" sz="2800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en-US" sz="280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altLang="en-US" sz="280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  <m:sup/>
                            </m:sSubSup>
                          </m:e>
                          <m:sub/>
                          <m:sup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altLang="en-US" i="1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en-US" i="1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sub>
                              <m:sup/>
                            </m:sSubSup>
                          </m:e>
                          <m:sub/>
                          <m:sup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p>
                        </m:sSubSup>
                      </m:den>
                    </m:f>
                    <m:r>
                      <a:rPr lang="en-US" altLang="en-US" sz="2800" b="0" i="1" smtClean="0">
                        <a:solidFill>
                          <a:srgbClr val="C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1/3</m:t>
                            </m:r>
                          </m:e>
                        </m:d>
                        <m:sSup>
                          <m:sSupPr>
                            <m:ctrlP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−2/3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  <m:sub/>
                          <m:sup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2/3</m:t>
                            </m:r>
                          </m:sup>
                        </m:sSubSup>
                      </m:num>
                      <m:den>
                        <m:d>
                          <m:d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2/3</m:t>
                            </m:r>
                          </m:e>
                        </m:d>
                        <m:sSup>
                          <m:sSup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en-US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/3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en-US" i="1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en-US" i="1">
                                    <a:solidFill>
                                      <a:srgbClr val="C0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  <m:sub/>
                          <m:sup>
                            <m:r>
                              <a:rPr lang="en-US" altLang="en-US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−1</m:t>
                            </m:r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/3</m:t>
                            </m:r>
                          </m:sup>
                        </m:sSubSup>
                      </m:den>
                    </m:f>
                    <m:r>
                      <a:rPr lang="en-US" altLang="en-US" sz="2800" b="0" i="1" smtClean="0">
                        <a:solidFill>
                          <a:srgbClr val="C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altLang="en-US" sz="2800" b="0" i="1" smtClean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en-US" sz="2800" dirty="0" smtClean="0"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dirty="0" smtClean="0">
                    <a:cs typeface="Times New Roman" panose="02020603050405020304" pitchFamily="18" charset="0"/>
                  </a:rPr>
                  <a:t>Condition for efficiency: </a:t>
                </a:r>
              </a:p>
              <a:p>
                <a:pPr marL="457200" lvl="1" indent="0" algn="ctr">
                  <a:buNone/>
                </a:pP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MRS</a:t>
                </a:r>
                <a:r>
                  <a:rPr lang="en-US" altLang="en-US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MRS</a:t>
                </a:r>
                <a:r>
                  <a:rPr lang="en-US" altLang="en-US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endParaRPr lang="en-US" altLang="en-US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dirty="0" smtClean="0">
                    <a:cs typeface="Times New Roman" panose="02020603050405020304" pitchFamily="18" charset="0"/>
                  </a:rPr>
                  <a:t>So,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2x</a:t>
                </a:r>
              </a:p>
              <a:p>
                <a:pPr lvl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Substituting into the combined budget constraint </a:t>
                </a:r>
                <a:r>
                  <a:rPr lang="en-US" altLang="en-US" sz="28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 = x + </a:t>
                </a:r>
                <a:r>
                  <a:rPr lang="en-US" altLang="en-US" i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-250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en-US" i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-250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dirty="0" smtClean="0">
                    <a:cs typeface="Times New Roman" panose="02020603050405020304" pitchFamily="18" charset="0"/>
                  </a:rPr>
                  <a:t>yields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 = x + 2x</a:t>
                </a:r>
              </a:p>
              <a:p>
                <a:pPr lvl="2"/>
                <a:r>
                  <a:rPr lang="en-US" altLang="en-US" dirty="0" smtClean="0">
                    <a:cs typeface="Times New Roman" panose="02020603050405020304" pitchFamily="18" charset="0"/>
                  </a:rPr>
                  <a:t> 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x** = 20/3, 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** = 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** = 10/3, 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** = 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** = 20/3, and U</a:t>
                </a:r>
                <a:r>
                  <a:rPr lang="en-US" altLang="en-US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A**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U</a:t>
                </a:r>
                <a:r>
                  <a:rPr lang="en-US" altLang="en-US" i="1" baseline="30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B**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6.7  </a:t>
                </a:r>
                <a:endParaRPr lang="en-US" altLang="en-US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4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167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280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19.3 	</a:t>
            </a:r>
            <a:r>
              <a:rPr lang="en-US" altLang="en-US" dirty="0"/>
              <a:t>The Roommates Dilemma</a:t>
            </a:r>
            <a:endParaRPr lang="en-US" altLang="en-US" dirty="0" smtClean="0">
              <a:solidFill>
                <a:srgbClr val="000099"/>
              </a:solidFill>
            </a:endParaRPr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85EB40-6CBD-41EF-AC00-655129A872AA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p:sp>
        <p:nvSpPr>
          <p:cNvPr id="6144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Comparison:</a:t>
            </a:r>
          </a:p>
          <a:p>
            <a:pPr lvl="1"/>
            <a:r>
              <a:rPr lang="en-US" altLang="en-US" dirty="0"/>
              <a:t>The Nash </a:t>
            </a:r>
            <a:r>
              <a:rPr lang="en-US" altLang="en-US" dirty="0" smtClean="0"/>
              <a:t>equilibrium: too </a:t>
            </a:r>
            <a:r>
              <a:rPr lang="en-US" altLang="en-US" dirty="0"/>
              <a:t>little cleaning, 2 hours each, compared to </a:t>
            </a:r>
            <a:r>
              <a:rPr lang="en-US" altLang="en-US" dirty="0" smtClean="0"/>
              <a:t>the 3.3 </a:t>
            </a:r>
            <a:r>
              <a:rPr lang="en-US" altLang="en-US" dirty="0"/>
              <a:t>hours each in the efficient </a:t>
            </a:r>
            <a:r>
              <a:rPr lang="en-US" altLang="en-US" dirty="0" smtClean="0"/>
              <a:t>allocation</a:t>
            </a:r>
          </a:p>
          <a:p>
            <a:pPr lvl="1"/>
            <a:r>
              <a:rPr lang="en-US" altLang="en-US" dirty="0" smtClean="0"/>
              <a:t>Prisoners </a:t>
            </a:r>
            <a:r>
              <a:rPr lang="en-US" altLang="en-US" dirty="0"/>
              <a:t>Dilemma: The Nash equilibrium (both fink</a:t>
            </a:r>
            <a:r>
              <a:rPr lang="en-US" altLang="en-US" dirty="0" smtClean="0"/>
              <a:t>) is </a:t>
            </a:r>
            <a:r>
              <a:rPr lang="en-US" altLang="en-US" dirty="0"/>
              <a:t>Pareto dominated by another outcome (both remain </a:t>
            </a:r>
            <a:r>
              <a:rPr lang="en-US" altLang="en-US" dirty="0" smtClean="0"/>
              <a:t>silent)</a:t>
            </a:r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6947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19.3 	</a:t>
            </a:r>
            <a:r>
              <a:rPr lang="en-US" altLang="en-US" dirty="0"/>
              <a:t>The Roommates Dilemma</a:t>
            </a:r>
            <a:endParaRPr lang="en-US" altLang="en-US" dirty="0" smtClean="0">
              <a:solidFill>
                <a:srgbClr val="000099"/>
              </a:solidFill>
            </a:endParaRPr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85EB40-6CBD-41EF-AC00-655129A872AA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sp>
        <p:nvSpPr>
          <p:cNvPr id="6144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Generalization to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 smtClean="0"/>
              <a:t> roommates</a:t>
            </a:r>
          </a:p>
          <a:p>
            <a:pPr lvl="1"/>
            <a:r>
              <a:rPr lang="en-US" altLang="en-US" dirty="0" smtClean="0"/>
              <a:t>Roommate A maximizes utility 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(n-1)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2/3</a:t>
            </a:r>
            <a:r>
              <a:rPr lang="en-US" altLang="en-US" dirty="0" smtClean="0"/>
              <a:t>,</a:t>
            </a:r>
          </a:p>
          <a:p>
            <a:pPr lvl="2"/>
            <a:r>
              <a:rPr lang="en-US" altLang="en-US" dirty="0" smtClean="0"/>
              <a:t>Subject to budget constraint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=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smtClean="0"/>
              <a:t>Nash equilibrium: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2x </a:t>
            </a:r>
          </a:p>
          <a:p>
            <a:pPr lvl="1"/>
            <a:r>
              <a:rPr lang="en-US" altLang="en-US" dirty="0" smtClean="0"/>
              <a:t>Symmetric equilibrium with n roommates: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x*=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nx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lvl="1"/>
            <a:r>
              <a:rPr lang="en-US" altLang="en-US" dirty="0" smtClean="0"/>
              <a:t>Substitute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*=2x*=2nx</a:t>
            </a:r>
            <a:r>
              <a:rPr lang="en-US" alt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dirty="0" smtClean="0"/>
              <a:t>into the budget constraint: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= 10/(2n + 1)</a:t>
            </a:r>
          </a:p>
          <a:p>
            <a:pPr lvl="1"/>
            <a:r>
              <a:rPr lang="en-US" altLang="en-US" dirty="0" smtClean="0"/>
              <a:t>As n increases, each roommate provides no cleaning (free-rider problem)</a:t>
            </a:r>
          </a:p>
          <a:p>
            <a:pPr lvl="1"/>
            <a:r>
              <a:rPr lang="en-US" altLang="en-US" dirty="0"/>
              <a:t>The efficient amount of cleaning </a:t>
            </a:r>
            <a:r>
              <a:rPr lang="en-US" altLang="en-US" dirty="0" smtClean="0"/>
              <a:t>satisfies: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n·MRS</a:t>
            </a:r>
            <a:r>
              <a:rPr lang="en-US" altLang="en-US" i="1" baseline="30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n·y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/2x = 1</a:t>
            </a:r>
          </a:p>
        </p:txBody>
      </p:sp>
    </p:spTree>
    <p:extLst>
      <p:ext uri="{BB962C8B-B14F-4D97-AF65-F5344CB8AC3E}">
        <p14:creationId xmlns:p14="http://schemas.microsoft.com/office/powerpoint/2010/main" val="71419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19.3 	</a:t>
            </a:r>
            <a:r>
              <a:rPr lang="en-US" altLang="en-US" dirty="0"/>
              <a:t>The Roommates Dilemma</a:t>
            </a:r>
            <a:endParaRPr lang="en-US" altLang="en-US" dirty="0" smtClean="0">
              <a:solidFill>
                <a:srgbClr val="000099"/>
              </a:solidFill>
            </a:endParaRPr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85EB40-6CBD-41EF-AC00-655129A872AA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sp>
        <p:nvSpPr>
          <p:cNvPr id="6144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Generalization to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 smtClean="0"/>
              <a:t> roommates</a:t>
            </a:r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/>
              <a:t>efficient amount of cleaning </a:t>
            </a:r>
            <a:r>
              <a:rPr lang="en-US" altLang="en-US" dirty="0" smtClean="0"/>
              <a:t>satisfies: 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n·MRS</a:t>
            </a:r>
            <a:r>
              <a:rPr lang="en-US" altLang="en-US" i="1" baseline="30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n·y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/2x = 1 </a:t>
            </a:r>
          </a:p>
          <a:p>
            <a:pPr lvl="1"/>
            <a:r>
              <a:rPr lang="en-US" altLang="en-US" dirty="0" smtClean="0">
                <a:cs typeface="Times New Roman" panose="02020603050405020304" pitchFamily="18" charset="0"/>
              </a:rPr>
              <a:t>Symmetry: the </a:t>
            </a:r>
            <a:r>
              <a:rPr lang="en-US" altLang="en-US" dirty="0">
                <a:cs typeface="Times New Roman" panose="02020603050405020304" pitchFamily="18" charset="0"/>
              </a:rPr>
              <a:t>sum of the MRS across roommates </a:t>
            </a:r>
            <a:r>
              <a:rPr lang="en-US" altLang="en-US" dirty="0" smtClean="0">
                <a:cs typeface="Times New Roman" panose="02020603050405020304" pitchFamily="18" charset="0"/>
              </a:rPr>
              <a:t>equals </a:t>
            </a:r>
            <a:r>
              <a:rPr lang="en-US" altLang="en-US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n·MRS</a:t>
            </a:r>
            <a:r>
              <a:rPr lang="en-US" altLang="en-US" i="1" baseline="30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dirty="0" smtClean="0">
              <a:cs typeface="Times New Roman" panose="02020603050405020304" pitchFamily="18" charset="0"/>
            </a:endParaRPr>
          </a:p>
          <a:p>
            <a:pPr lvl="1"/>
            <a:r>
              <a:rPr lang="en-US" altLang="en-US" dirty="0" smtClean="0">
                <a:cs typeface="Times New Roman" panose="02020603050405020304" pitchFamily="18" charset="0"/>
              </a:rPr>
              <a:t>So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** = 2x**</a:t>
            </a:r>
          </a:p>
          <a:p>
            <a:pPr lvl="1"/>
            <a:r>
              <a:rPr lang="en-US" altLang="en-US" dirty="0">
                <a:cs typeface="Times New Roman" panose="02020603050405020304" pitchFamily="18" charset="0"/>
              </a:rPr>
              <a:t>Substituting into the combined budget </a:t>
            </a:r>
            <a:r>
              <a:rPr lang="en-US" altLang="en-US" dirty="0" smtClean="0">
                <a:cs typeface="Times New Roman" panose="02020603050405020304" pitchFamily="18" charset="0"/>
              </a:rPr>
              <a:t>constraint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10n = x** +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** = 3x**</a:t>
            </a:r>
          </a:p>
          <a:p>
            <a:pPr lvl="1"/>
            <a:r>
              <a:rPr lang="en-US" altLang="en-US" dirty="0" smtClean="0">
                <a:cs typeface="Times New Roman" panose="02020603050405020304" pitchFamily="18" charset="0"/>
              </a:rPr>
              <a:t>So: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x** = 10n/3,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** = 10/3</a:t>
            </a:r>
          </a:p>
          <a:p>
            <a:pPr lvl="1"/>
            <a:r>
              <a:rPr lang="en-US" altLang="en-US" dirty="0" smtClean="0">
                <a:cs typeface="Times New Roman" panose="02020603050405020304" pitchFamily="18" charset="0"/>
              </a:rPr>
              <a:t>No surprise if </a:t>
            </a:r>
            <a:r>
              <a:rPr lang="en-US" altLang="en-US" dirty="0">
                <a:cs typeface="Times New Roman" panose="02020603050405020304" pitchFamily="18" charset="0"/>
              </a:rPr>
              <a:t>a big </a:t>
            </a:r>
            <a:r>
              <a:rPr lang="en-US" altLang="en-US" dirty="0" smtClean="0">
                <a:cs typeface="Times New Roman" panose="02020603050405020304" pitchFamily="18" charset="0"/>
              </a:rPr>
              <a:t>group </a:t>
            </a:r>
            <a:r>
              <a:rPr lang="en-US" altLang="en-US" dirty="0">
                <a:cs typeface="Times New Roman" panose="02020603050405020304" pitchFamily="18" charset="0"/>
              </a:rPr>
              <a:t>lives in messy conditions even though a </a:t>
            </a:r>
            <a:r>
              <a:rPr lang="en-US" altLang="en-US" dirty="0" smtClean="0">
                <a:cs typeface="Times New Roman" panose="02020603050405020304" pitchFamily="18" charset="0"/>
              </a:rPr>
              <a:t>small amount </a:t>
            </a:r>
            <a:r>
              <a:rPr lang="en-US" altLang="en-US" dirty="0">
                <a:cs typeface="Times New Roman" panose="02020603050405020304" pitchFamily="18" charset="0"/>
              </a:rPr>
              <a:t>of effort from each would be enough to make the place </a:t>
            </a:r>
            <a:r>
              <a:rPr lang="en-US" altLang="en-US" dirty="0" smtClean="0">
                <a:cs typeface="Times New Roman" panose="02020603050405020304" pitchFamily="18" charset="0"/>
              </a:rPr>
              <a:t>sparkle</a:t>
            </a:r>
          </a:p>
        </p:txBody>
      </p:sp>
    </p:spTree>
    <p:extLst>
      <p:ext uri="{BB962C8B-B14F-4D97-AF65-F5344CB8AC3E}">
        <p14:creationId xmlns:p14="http://schemas.microsoft.com/office/powerpoint/2010/main" val="13560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Lindahl Pricing of Public Goods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/>
          <a:lstStyle/>
          <a:p>
            <a:r>
              <a:rPr lang="en-US" altLang="en-US" dirty="0" smtClean="0"/>
              <a:t>Swedish economist E. </a:t>
            </a:r>
            <a:r>
              <a:rPr lang="en-US" altLang="en-US" dirty="0" err="1" smtClean="0"/>
              <a:t>Lindahl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Suggested that individuals might be willing to be taxed for public goods </a:t>
            </a:r>
          </a:p>
          <a:p>
            <a:pPr lvl="2"/>
            <a:r>
              <a:rPr lang="en-US" altLang="en-US" dirty="0" smtClean="0"/>
              <a:t>If they knew that others were being taxed</a:t>
            </a:r>
          </a:p>
          <a:p>
            <a:pPr lvl="1"/>
            <a:r>
              <a:rPr lang="en-US" altLang="en-US" dirty="0" smtClean="0"/>
              <a:t>Assumed that each individual </a:t>
            </a:r>
          </a:p>
          <a:p>
            <a:pPr lvl="2"/>
            <a:r>
              <a:rPr lang="en-US" altLang="en-US" dirty="0" smtClean="0"/>
              <a:t>Would be presented by the government with the proportion of a public good’s cost he was expected to pay </a:t>
            </a:r>
          </a:p>
          <a:p>
            <a:pPr lvl="2"/>
            <a:r>
              <a:rPr lang="en-US" altLang="en-US" dirty="0" smtClean="0"/>
              <a:t>And then reply (honestly) with the level of public good he would prefer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C27ACC-B95D-4D48-87D0-DB861F9D367D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6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Lindahl Pricing of Public Goods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51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81000" y="1143000"/>
                <a:ext cx="8534400" cy="5257800"/>
              </a:xfrm>
            </p:spPr>
            <p:txBody>
              <a:bodyPr/>
              <a:lstStyle/>
              <a:p>
                <a:r>
                  <a:rPr lang="en-US" altLang="en-US" dirty="0" smtClean="0"/>
                  <a:t>Individual </a:t>
                </a:r>
                <a:r>
                  <a:rPr lang="en-US" altLang="en-US" i="1" dirty="0" smtClean="0"/>
                  <a:t>A</a:t>
                </a:r>
                <a:r>
                  <a:rPr lang="en-US" altLang="en-US" dirty="0" smtClean="0"/>
                  <a:t> </a:t>
                </a:r>
              </a:p>
              <a:p>
                <a:pPr lvl="1"/>
                <a:r>
                  <a:rPr lang="en-US" altLang="en-US" dirty="0" smtClean="0"/>
                  <a:t>Quoted a specific percentage (</a:t>
                </a:r>
                <a:r>
                  <a:rPr lang="en-US" altLang="en-US" dirty="0" smtClean="0">
                    <a:sym typeface="Symbol" pitchFamily="18" charset="2"/>
                  </a:rPr>
                  <a:t></a:t>
                </a:r>
                <a:r>
                  <a:rPr lang="en-US" altLang="en-US" i="1" baseline="-25000" dirty="0" smtClean="0">
                    <a:sym typeface="Symbol" pitchFamily="18" charset="2"/>
                  </a:rPr>
                  <a:t>A</a:t>
                </a:r>
                <a:r>
                  <a:rPr lang="en-US" altLang="en-US" dirty="0" smtClean="0">
                    <a:sym typeface="Symbol" pitchFamily="18" charset="2"/>
                  </a:rPr>
                  <a:t>)</a:t>
                </a: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Asked the level of a public good (</a:t>
                </a:r>
                <a:r>
                  <a:rPr lang="en-US" altLang="en-US" i="1" dirty="0" smtClean="0">
                    <a:sym typeface="Symbol" pitchFamily="18" charset="2"/>
                  </a:rPr>
                  <a:t>x</a:t>
                </a:r>
                <a:r>
                  <a:rPr lang="en-US" altLang="en-US" dirty="0" smtClean="0">
                    <a:sym typeface="Symbol" pitchFamily="18" charset="2"/>
                  </a:rPr>
                  <a:t>) he would want </a:t>
                </a: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Choose the level of </a:t>
                </a:r>
                <a:r>
                  <a:rPr lang="en-US" altLang="en-US" i="1" dirty="0" smtClean="0">
                    <a:sym typeface="Symbol" pitchFamily="18" charset="2"/>
                  </a:rPr>
                  <a:t>x</a:t>
                </a:r>
                <a:r>
                  <a:rPr lang="en-US" altLang="en-US" dirty="0" smtClean="0">
                    <a:sym typeface="Symbol" pitchFamily="18" charset="2"/>
                  </a:rPr>
                  <a:t> </a:t>
                </a:r>
                <a:r>
                  <a:rPr lang="en-US" altLang="en-US" dirty="0" smtClean="0">
                    <a:sym typeface="Symbol" pitchFamily="18" charset="2"/>
                  </a:rPr>
                  <a:t>that maximizes</a:t>
                </a:r>
                <a:endParaRPr lang="en-US" altLang="en-US" dirty="0" smtClean="0">
                  <a:sym typeface="Symbol" pitchFamily="18" charset="2"/>
                </a:endParaRPr>
              </a:p>
              <a:p>
                <a:pPr>
                  <a:lnSpc>
                    <a:spcPct val="110000"/>
                  </a:lnSpc>
                  <a:buFontTx/>
                  <a:buNone/>
                </a:pP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		U</a:t>
                </a:r>
                <a:r>
                  <a:rPr lang="en-US" altLang="en-US" sz="2800" i="1" baseline="30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, g(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sz="280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𝐴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- 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</a:t>
                </a:r>
                <a:r>
                  <a:rPr lang="en-US" altLang="en-US" sz="2800" i="1" baseline="-25000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A</a:t>
                </a:r>
                <a:r>
                  <a:rPr lang="en-US" altLang="en-US" sz="2800" i="1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f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en-US" sz="2800" baseline="30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-1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)))</a:t>
                </a:r>
                <a:endParaRPr lang="en-US" altLang="en-US" sz="28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  <a:p>
                <a:pPr lvl="2"/>
                <a:r>
                  <a:rPr lang="en-US" altLang="en-US" dirty="0" smtClean="0"/>
                  <a:t>First-order condition: 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baseline="30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l-GR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en-US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i="1" baseline="30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’(1/f’) = 0   or 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MRS</a:t>
                </a:r>
                <a:r>
                  <a:rPr lang="en-US" altLang="en-US" i="1" baseline="30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A</a:t>
                </a:r>
                <a:r>
                  <a:rPr lang="en-US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= </a:t>
                </a:r>
                <a:r>
                  <a:rPr lang="en-US" altLang="en-US" i="1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A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g’</a:t>
                </a:r>
                <a:r>
                  <a:rPr lang="en-US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/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f</a:t>
                </a:r>
                <a:r>
                  <a:rPr lang="en-US" altLang="en-US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’</a:t>
                </a:r>
                <a:endParaRPr lang="en-US" altLang="en-US" sz="18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  <a:p>
                <a:r>
                  <a:rPr lang="en-US" altLang="en-US" dirty="0" smtClean="0">
                    <a:sym typeface="Symbol" pitchFamily="18" charset="2"/>
                  </a:rPr>
                  <a:t>Individual </a:t>
                </a:r>
                <a:r>
                  <a:rPr lang="en-US" altLang="en-US" i="1" dirty="0" smtClean="0">
                    <a:sym typeface="Symbol" pitchFamily="18" charset="2"/>
                  </a:rPr>
                  <a:t>B</a:t>
                </a:r>
                <a:r>
                  <a:rPr lang="en-US" altLang="en-US" dirty="0" smtClean="0">
                    <a:sym typeface="Symbol" pitchFamily="18" charset="2"/>
                  </a:rPr>
                  <a:t> </a:t>
                </a:r>
                <a:r>
                  <a:rPr lang="en-US" altLang="en-US" dirty="0" smtClean="0">
                    <a:sym typeface="Symbol" pitchFamily="18" charset="2"/>
                  </a:rPr>
                  <a:t>: 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MRS</a:t>
                </a:r>
                <a:r>
                  <a:rPr lang="en-US" altLang="en-US" sz="2800" i="1" baseline="30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B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= </a:t>
                </a:r>
                <a:r>
                  <a:rPr lang="en-US" altLang="en-US" sz="2800" i="1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B</a:t>
                </a:r>
                <a:r>
                  <a:rPr lang="en-US" altLang="en-US" sz="2800" i="1" baseline="30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RPT</a:t>
                </a:r>
                <a:endParaRPr lang="en-US" altLang="en-US" sz="2800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en-US" i="1" dirty="0" smtClean="0">
                  <a:solidFill>
                    <a:srgbClr val="FF0000"/>
                  </a:solidFill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645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43000"/>
                <a:ext cx="8534400" cy="5257800"/>
              </a:xfrm>
              <a:blipFill rotWithShape="1">
                <a:blip r:embed="rId2"/>
                <a:stretch>
                  <a:fillRect l="-1786" t="-1624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F47123D-96BA-4175-AF30-A55FE32E9BAE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8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Lindahl Pricing of Public Goods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Equilibrium </a:t>
            </a:r>
          </a:p>
          <a:p>
            <a:pPr lvl="1"/>
            <a:r>
              <a:rPr lang="en-US" altLang="en-US" dirty="0" smtClean="0"/>
              <a:t>Occurs when 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1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The level of public goods expenditure favored by the two individuals </a:t>
            </a:r>
          </a:p>
          <a:p>
            <a:pPr lvl="2"/>
            <a:r>
              <a:rPr lang="en-US" altLang="en-US" dirty="0" smtClean="0">
                <a:sym typeface="Symbol" pitchFamily="18" charset="2"/>
              </a:rPr>
              <a:t>Precisely generates enough tax contributions to pay for it</a:t>
            </a:r>
          </a:p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MRS</a:t>
            </a:r>
            <a:r>
              <a:rPr lang="en-US" altLang="en-US" sz="2800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MRS</a:t>
            </a:r>
            <a:r>
              <a:rPr lang="en-US" altLang="en-US" sz="2800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(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)RPT = RPT</a:t>
            </a:r>
            <a:endParaRPr lang="en-US" altLang="en-US" sz="2800" i="1" baseline="30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8FE08A-A694-465F-8A4D-382BEFFCDB0B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0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19.4 </a:t>
            </a:r>
            <a:r>
              <a:rPr lang="en-US" altLang="en-US" dirty="0" err="1" smtClean="0"/>
              <a:t>Lindahl</a:t>
            </a:r>
            <a:r>
              <a:rPr lang="en-US" altLang="en-US" dirty="0" smtClean="0"/>
              <a:t> Solution for the Roommates</a:t>
            </a:r>
          </a:p>
        </p:txBody>
      </p:sp>
      <p:sp>
        <p:nvSpPr>
          <p:cNvPr id="6656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D362E77B-7DDD-44C3-915E-43086C4645F6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sp>
        <p:nvSpPr>
          <p:cNvPr id="6656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‘‘The government’’ </a:t>
            </a:r>
          </a:p>
          <a:p>
            <a:pPr lvl="1"/>
            <a:r>
              <a:rPr lang="en-US" altLang="en-US" dirty="0" smtClean="0"/>
              <a:t>Each roommate </a:t>
            </a:r>
            <a:r>
              <a:rPr lang="en-US" altLang="en-US" dirty="0" smtClean="0"/>
              <a:t>should </a:t>
            </a:r>
            <a:r>
              <a:rPr lang="en-US" altLang="en-US" dirty="0"/>
              <a:t>contribute half the total cleaning </a:t>
            </a:r>
            <a:r>
              <a:rPr lang="en-US" altLang="en-US" dirty="0" smtClean="0"/>
              <a:t>effort</a:t>
            </a:r>
          </a:p>
          <a:p>
            <a:pPr lvl="2"/>
            <a:r>
              <a:rPr lang="en-US" altLang="en-US" dirty="0" smtClean="0"/>
              <a:t>Each </a:t>
            </a:r>
            <a:r>
              <a:rPr lang="en-US" altLang="en-US" dirty="0"/>
              <a:t>would face an </a:t>
            </a:r>
            <a:r>
              <a:rPr lang="en-US" altLang="en-US" dirty="0" smtClean="0"/>
              <a:t>effective price </a:t>
            </a:r>
            <a:r>
              <a:rPr lang="en-US" altLang="en-US" dirty="0"/>
              <a:t>per hour of total cleaning of a half hour of personal </a:t>
            </a:r>
            <a:r>
              <a:rPr lang="en-US" altLang="en-US" dirty="0" smtClean="0"/>
              <a:t>effort</a:t>
            </a:r>
          </a:p>
          <a:p>
            <a:r>
              <a:rPr lang="en-US" altLang="en-US" dirty="0" smtClean="0"/>
              <a:t>Solution</a:t>
            </a:r>
            <a:r>
              <a:rPr lang="en-US" altLang="en-US" dirty="0" smtClean="0"/>
              <a:t>:</a:t>
            </a:r>
          </a:p>
          <a:p>
            <a:pPr lvl="1">
              <a:buFont typeface="Arial" charset="0"/>
              <a:buNone/>
            </a:pPr>
            <a:r>
              <a:rPr lang="en-US" altLang="en-US" dirty="0" smtClean="0"/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**=20/3,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**=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**=20/3 </a:t>
            </a:r>
          </a:p>
          <a:p>
            <a:pPr lvl="1"/>
            <a:r>
              <a:rPr lang="en-US" altLang="en-US" dirty="0" smtClean="0">
                <a:cs typeface="Times New Roman" pitchFamily="18" charset="0"/>
              </a:rPr>
              <a:t>Efficient solution</a:t>
            </a:r>
          </a:p>
          <a:p>
            <a:pPr lvl="1"/>
            <a:r>
              <a:rPr lang="en-US" altLang="en-US" dirty="0" smtClean="0"/>
              <a:t>Works </a:t>
            </a:r>
            <a:r>
              <a:rPr lang="en-US" altLang="en-US" dirty="0"/>
              <a:t>if the government knows enough about the roommates’ preferences </a:t>
            </a:r>
            <a:r>
              <a:rPr lang="en-US" altLang="en-US" dirty="0" smtClean="0"/>
              <a:t>that it </a:t>
            </a:r>
            <a:r>
              <a:rPr lang="en-US" altLang="en-US" dirty="0"/>
              <a:t>can set the payment shares in advance and stick to them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56184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900" smtClean="0"/>
              <a:t>Shortcomings of the Lindahl Solution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incentive to be a free rider is very strong</a:t>
            </a:r>
          </a:p>
          <a:p>
            <a:pPr lvl="1"/>
            <a:r>
              <a:rPr lang="en-US" altLang="en-US" dirty="0" smtClean="0"/>
              <a:t>Difficult to envision how the information necessary to compute equilibrium </a:t>
            </a:r>
            <a:r>
              <a:rPr lang="en-US" altLang="en-US" dirty="0" err="1" smtClean="0"/>
              <a:t>Lindahl</a:t>
            </a:r>
            <a:r>
              <a:rPr lang="en-US" altLang="en-US" dirty="0" smtClean="0"/>
              <a:t> shares might be </a:t>
            </a:r>
            <a:r>
              <a:rPr lang="en-US" altLang="en-US" dirty="0" smtClean="0"/>
              <a:t>obtained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Individuals </a:t>
            </a:r>
            <a:r>
              <a:rPr lang="en-US" altLang="en-US" dirty="0"/>
              <a:t>know their tax shares will be </a:t>
            </a:r>
            <a:r>
              <a:rPr lang="en-US" altLang="en-US" dirty="0" smtClean="0"/>
              <a:t>based on </a:t>
            </a:r>
            <a:r>
              <a:rPr lang="en-US" altLang="en-US" dirty="0"/>
              <a:t>their reported demands for public </a:t>
            </a:r>
            <a:r>
              <a:rPr lang="en-US" altLang="en-US" dirty="0" smtClean="0"/>
              <a:t>goods</a:t>
            </a:r>
          </a:p>
          <a:p>
            <a:pPr lvl="2"/>
            <a:r>
              <a:rPr lang="en-US" altLang="en-US" dirty="0" smtClean="0"/>
              <a:t>Incentive </a:t>
            </a:r>
            <a:r>
              <a:rPr lang="en-US" altLang="en-US" dirty="0"/>
              <a:t>to understate </a:t>
            </a:r>
            <a:r>
              <a:rPr lang="en-US" altLang="en-US" dirty="0" smtClean="0"/>
              <a:t>their true preferences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032BF1-F2A5-4977-9B9F-E54A2D35B328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4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2800" dirty="0" smtClean="0"/>
              <a:t>19.5	 The Relationship between Environmental 	</a:t>
            </a:r>
            <a:r>
              <a:rPr lang="en-US" altLang="en-US" sz="2800" dirty="0" smtClean="0">
                <a:solidFill>
                  <a:srgbClr val="002D56"/>
                </a:solidFill>
              </a:rPr>
              <a:t>Externalities and Public Goods Production</a:t>
            </a:r>
          </a:p>
        </p:txBody>
      </p:sp>
      <p:sp>
        <p:nvSpPr>
          <p:cNvPr id="68613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D5DE5EC-2165-44D6-8608-3BEE80A5A1C7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  <p:sp>
        <p:nvSpPr>
          <p:cNvPr id="68611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1066800"/>
            <a:ext cx="8382000" cy="53340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single representative person </a:t>
            </a:r>
          </a:p>
          <a:p>
            <a:pPr lvl="1"/>
            <a:r>
              <a:rPr lang="en-US" altLang="en-US" dirty="0" smtClean="0"/>
              <a:t>Utility function</a:t>
            </a:r>
          </a:p>
          <a:p>
            <a:pPr lvl="1" algn="ctr">
              <a:buFont typeface="Arial" charset="0"/>
              <a:buNone/>
            </a:pPr>
            <a:r>
              <a:rPr lang="en-US" altLang="en-US" dirty="0" smtClean="0"/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utility = U(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x,y,l,g,c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x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0.3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0.2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0.2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altLang="en-US" dirty="0" smtClean="0"/>
              <a:t> g = public </a:t>
            </a:r>
            <a:r>
              <a:rPr lang="en-US" altLang="en-US" dirty="0" smtClean="0"/>
              <a:t>goods, </a:t>
            </a:r>
            <a:r>
              <a:rPr lang="en-US" altLang="en-US" dirty="0" err="1" smtClean="0"/>
              <a:t>innitially</a:t>
            </a:r>
            <a:r>
              <a:rPr lang="en-US" altLang="en-US" dirty="0" smtClean="0"/>
              <a:t> financed by a tax on labor; production requires capital and labor input: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 = k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altLang="en-US" dirty="0" smtClean="0"/>
              <a:t> c = clean air</a:t>
            </a:r>
          </a:p>
          <a:p>
            <a:pPr lvl="1"/>
            <a:r>
              <a:rPr lang="en-US" altLang="en-US" dirty="0" smtClean="0"/>
              <a:t>There is an externality in the production of good y, so: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 = 10 – 0.2y</a:t>
            </a:r>
          </a:p>
          <a:p>
            <a:r>
              <a:rPr lang="en-US" altLang="en-US" dirty="0" smtClean="0"/>
              <a:t>Goal: allocate resources to maximize utility </a:t>
            </a:r>
          </a:p>
        </p:txBody>
      </p:sp>
    </p:spTree>
    <p:extLst>
      <p:ext uri="{BB962C8B-B14F-4D97-AF65-F5344CB8AC3E}">
        <p14:creationId xmlns:p14="http://schemas.microsoft.com/office/powerpoint/2010/main" val="32707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2800" dirty="0" smtClean="0"/>
              <a:t>19.5	 The Relationship between Environmental 	</a:t>
            </a:r>
            <a:r>
              <a:rPr lang="en-US" altLang="en-US" sz="2800" dirty="0" smtClean="0">
                <a:solidFill>
                  <a:srgbClr val="002D56"/>
                </a:solidFill>
              </a:rPr>
              <a:t>Externalities and Public Goods Production</a:t>
            </a:r>
          </a:p>
        </p:txBody>
      </p:sp>
      <p:sp>
        <p:nvSpPr>
          <p:cNvPr id="6963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D927832-D68A-4AD1-AF38-5EE292E65D67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sp>
        <p:nvSpPr>
          <p:cNvPr id="69635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90600"/>
            <a:ext cx="8382000" cy="54102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Base case: Optimal public goods production with no </a:t>
            </a:r>
            <a:r>
              <a:rPr lang="en-US" altLang="en-US" dirty="0" err="1" smtClean="0"/>
              <a:t>Pigovian</a:t>
            </a:r>
            <a:r>
              <a:rPr lang="en-US" altLang="en-US" dirty="0" smtClean="0"/>
              <a:t> tax</a:t>
            </a:r>
          </a:p>
          <a:p>
            <a:pPr lvl="1"/>
            <a:r>
              <a:rPr lang="en-US" altLang="en-US" dirty="0" smtClean="0"/>
              <a:t>Optimal level of public goods production requires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 = 2.93 </a:t>
            </a:r>
          </a:p>
          <a:p>
            <a:pPr lvl="2"/>
            <a:r>
              <a:rPr lang="en-US" altLang="en-US" dirty="0" smtClean="0"/>
              <a:t>And this is financed by a tax rate of 0.25 on labor</a:t>
            </a:r>
          </a:p>
          <a:p>
            <a:pPr lvl="1"/>
            <a:r>
              <a:rPr lang="en-US" altLang="en-US" dirty="0" smtClean="0"/>
              <a:t>Output of good y is 29.7</a:t>
            </a:r>
          </a:p>
          <a:p>
            <a:pPr lvl="1"/>
            <a:r>
              <a:rPr lang="en-US" altLang="en-US" dirty="0" smtClean="0"/>
              <a:t>Quantity of clean air is 4.06</a:t>
            </a:r>
          </a:p>
          <a:p>
            <a:pPr lvl="1"/>
            <a:r>
              <a:rPr lang="en-US" altLang="en-US" dirty="0" smtClean="0"/>
              <a:t>Utility is </a:t>
            </a:r>
            <a:r>
              <a:rPr lang="en-US" altLang="en-US" i="1" dirty="0" smtClean="0"/>
              <a:t>U</a:t>
            </a:r>
            <a:r>
              <a:rPr lang="en-US" altLang="en-US" dirty="0" smtClean="0"/>
              <a:t> = 19.34	</a:t>
            </a:r>
          </a:p>
          <a:p>
            <a:pPr lvl="2"/>
            <a:r>
              <a:rPr lang="en-US" altLang="en-US" dirty="0" smtClean="0"/>
              <a:t>Highest utility that can be obtained in this situation without regulating the externality</a:t>
            </a:r>
          </a:p>
        </p:txBody>
      </p:sp>
    </p:spTree>
    <p:extLst>
      <p:ext uri="{BB962C8B-B14F-4D97-AF65-F5344CB8AC3E}">
        <p14:creationId xmlns:p14="http://schemas.microsoft.com/office/powerpoint/2010/main" val="184141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2800" dirty="0" smtClean="0"/>
              <a:t>19.5	 The Relationship between Environmental 	</a:t>
            </a:r>
            <a:r>
              <a:rPr lang="en-US" altLang="en-US" sz="2800" dirty="0" smtClean="0">
                <a:solidFill>
                  <a:srgbClr val="002D56"/>
                </a:solidFill>
              </a:rPr>
              <a:t>Externalities and Public Goods Production</a:t>
            </a:r>
          </a:p>
        </p:txBody>
      </p:sp>
      <p:sp>
        <p:nvSpPr>
          <p:cNvPr id="7066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DC929201-DB8E-4355-859F-73B1BC6FD79F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sp>
        <p:nvSpPr>
          <p:cNvPr id="70659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1143000"/>
            <a:ext cx="8382000" cy="52578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</a:t>
            </a:r>
            <a:r>
              <a:rPr lang="en-US" altLang="en-US" dirty="0" err="1" smtClean="0"/>
              <a:t>Pigovian</a:t>
            </a:r>
            <a:r>
              <a:rPr lang="en-US" altLang="en-US" dirty="0" smtClean="0"/>
              <a:t> tax</a:t>
            </a:r>
          </a:p>
          <a:p>
            <a:pPr lvl="1"/>
            <a:r>
              <a:rPr lang="en-US" altLang="en-US" dirty="0" smtClean="0"/>
              <a:t>With a tax rate of 0.1</a:t>
            </a:r>
          </a:p>
          <a:p>
            <a:pPr lvl="1"/>
            <a:r>
              <a:rPr lang="en-US" altLang="en-US" dirty="0" smtClean="0"/>
              <a:t>Output of good y is reduced to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= </a:t>
            </a:r>
            <a:r>
              <a:rPr lang="en-US" altLang="en-US" dirty="0" smtClean="0"/>
              <a:t>27.4; 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 = 4.52</a:t>
            </a:r>
          </a:p>
          <a:p>
            <a:pPr lvl="1"/>
            <a:r>
              <a:rPr lang="en-US" altLang="en-US" dirty="0" smtClean="0"/>
              <a:t>Revenue generated is used to expand public goods production to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 = 3.77</a:t>
            </a:r>
          </a:p>
          <a:p>
            <a:pPr lvl="1"/>
            <a:r>
              <a:rPr lang="en-US" altLang="en-US" dirty="0" smtClean="0"/>
              <a:t>Utility is increased to </a:t>
            </a:r>
            <a:r>
              <a:rPr lang="en-US" altLang="en-US" i="1" dirty="0" smtClean="0"/>
              <a:t>U</a:t>
            </a:r>
            <a:r>
              <a:rPr lang="en-US" altLang="en-US" dirty="0" smtClean="0"/>
              <a:t> = </a:t>
            </a:r>
            <a:r>
              <a:rPr lang="en-US" altLang="en-US" dirty="0" smtClean="0"/>
              <a:t>19.38</a:t>
            </a:r>
          </a:p>
          <a:p>
            <a:pPr lvl="1"/>
            <a:r>
              <a:rPr lang="en-US" altLang="en-US" dirty="0" smtClean="0"/>
              <a:t>Carefully </a:t>
            </a:r>
            <a:r>
              <a:rPr lang="en-US" altLang="en-US" dirty="0"/>
              <a:t>specifying how the </a:t>
            </a:r>
            <a:r>
              <a:rPr lang="en-US" altLang="en-US" dirty="0" smtClean="0"/>
              <a:t>revenue generated </a:t>
            </a:r>
            <a:r>
              <a:rPr lang="en-US" altLang="en-US" dirty="0"/>
              <a:t>by the </a:t>
            </a:r>
            <a:r>
              <a:rPr lang="en-US" altLang="en-US" dirty="0" err="1"/>
              <a:t>Pigovian</a:t>
            </a:r>
            <a:r>
              <a:rPr lang="en-US" altLang="en-US" dirty="0"/>
              <a:t> tax is used, a general equilibrium model permits a more </a:t>
            </a:r>
            <a:r>
              <a:rPr lang="en-US" altLang="en-US" dirty="0" smtClean="0"/>
              <a:t>complete statement </a:t>
            </a:r>
            <a:r>
              <a:rPr lang="en-US" altLang="en-US" dirty="0"/>
              <a:t>of welfare effects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4354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2800" dirty="0" smtClean="0"/>
              <a:t>19.5	 The Relationship between Environmental 	</a:t>
            </a:r>
            <a:r>
              <a:rPr lang="en-US" altLang="en-US" sz="2800" dirty="0" smtClean="0">
                <a:solidFill>
                  <a:srgbClr val="002D56"/>
                </a:solidFill>
              </a:rPr>
              <a:t>Externalities and Public Goods Production</a:t>
            </a:r>
          </a:p>
        </p:txBody>
      </p:sp>
      <p:sp>
        <p:nvSpPr>
          <p:cNvPr id="7168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690111B-818E-4774-B91C-2E27FE29936B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sp>
        <p:nvSpPr>
          <p:cNvPr id="71683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1447800"/>
            <a:ext cx="8382000" cy="49530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The ‘‘double dividend’’ of environmental taxes</a:t>
            </a:r>
          </a:p>
          <a:p>
            <a:pPr lvl="1"/>
            <a:r>
              <a:rPr lang="en-US" altLang="en-US" dirty="0" smtClean="0"/>
              <a:t>Optimality can be achieved by reducing the labor tax to 0.20 </a:t>
            </a:r>
          </a:p>
          <a:p>
            <a:pPr lvl="1"/>
            <a:r>
              <a:rPr lang="en-US" altLang="en-US" dirty="0" smtClean="0"/>
              <a:t>Public goods production to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 = 3.31</a:t>
            </a:r>
          </a:p>
          <a:p>
            <a:pPr lvl="1"/>
            <a:r>
              <a:rPr lang="en-US" altLang="en-US" dirty="0" smtClean="0"/>
              <a:t>Utility expands even further to </a:t>
            </a:r>
            <a:r>
              <a:rPr lang="en-US" altLang="en-US" i="1" dirty="0" smtClean="0"/>
              <a:t>U</a:t>
            </a:r>
            <a:r>
              <a:rPr lang="en-US" altLang="en-US" dirty="0" smtClean="0"/>
              <a:t> = </a:t>
            </a:r>
            <a:r>
              <a:rPr lang="en-US" altLang="en-US" dirty="0" smtClean="0"/>
              <a:t>19.43; 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 = </a:t>
            </a:r>
            <a:r>
              <a:rPr lang="en-US" altLang="en-US" dirty="0" smtClean="0"/>
              <a:t>4.40</a:t>
            </a:r>
          </a:p>
          <a:p>
            <a:pPr lvl="1"/>
            <a:r>
              <a:rPr lang="en-US" altLang="en-US" dirty="0" smtClean="0"/>
              <a:t>These </a:t>
            </a:r>
            <a:r>
              <a:rPr lang="en-US" altLang="en-US" dirty="0"/>
              <a:t>taxes reduce </a:t>
            </a:r>
            <a:r>
              <a:rPr lang="en-US" altLang="en-US" dirty="0" smtClean="0"/>
              <a:t>externalities relative </a:t>
            </a:r>
            <a:r>
              <a:rPr lang="en-US" altLang="en-US" dirty="0"/>
              <a:t>to the untaxed situation 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But </a:t>
            </a:r>
            <a:r>
              <a:rPr lang="en-US" altLang="en-US" dirty="0"/>
              <a:t>also the extra </a:t>
            </a:r>
            <a:r>
              <a:rPr lang="en-US" altLang="en-US" dirty="0" smtClean="0"/>
              <a:t>governmental revenue </a:t>
            </a:r>
            <a:r>
              <a:rPr lang="en-US" altLang="en-US" dirty="0"/>
              <a:t>made available thereby may permit the reduction of other distorting taxes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3521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Voting and Resource Allocation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Voting</a:t>
            </a:r>
          </a:p>
          <a:p>
            <a:pPr lvl="1"/>
            <a:r>
              <a:rPr lang="en-US" altLang="en-US" smtClean="0"/>
              <a:t>Used as a social decision process in many institutions</a:t>
            </a:r>
          </a:p>
          <a:p>
            <a:r>
              <a:rPr lang="en-US" altLang="en-US" smtClean="0"/>
              <a:t>Direct voting </a:t>
            </a:r>
          </a:p>
          <a:p>
            <a:pPr lvl="1"/>
            <a:r>
              <a:rPr lang="en-US" altLang="en-US" smtClean="0"/>
              <a:t>Used in many cases from statewide referenda to smaller groups and clubs</a:t>
            </a:r>
          </a:p>
          <a:p>
            <a:r>
              <a:rPr lang="en-US" altLang="en-US" smtClean="0"/>
              <a:t>In other cases</a:t>
            </a:r>
          </a:p>
          <a:p>
            <a:pPr lvl="1"/>
            <a:r>
              <a:rPr lang="en-US" altLang="en-US" smtClean="0"/>
              <a:t>Societies have found it more convenient to use a representative form of government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A3CF9D-8F66-4698-9E1A-867E06064F49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7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Majority Rule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Assume</a:t>
            </a:r>
          </a:p>
          <a:p>
            <a:pPr lvl="1"/>
            <a:r>
              <a:rPr lang="en-US" altLang="en-US" smtClean="0"/>
              <a:t>Decisions will be made by majority rule</a:t>
            </a:r>
          </a:p>
          <a:p>
            <a:r>
              <a:rPr lang="en-US" altLang="en-US" smtClean="0"/>
              <a:t>Peculiarity of majority rule voting systems</a:t>
            </a:r>
          </a:p>
          <a:p>
            <a:pPr lvl="1"/>
            <a:r>
              <a:rPr lang="en-US" altLang="en-US" smtClean="0"/>
              <a:t>They may not arrive at an equilibrium but instead may cycle among alternative options</a:t>
            </a:r>
          </a:p>
          <a:p>
            <a:pPr lvl="1"/>
            <a:r>
              <a:rPr lang="en-US" altLang="en-US" smtClean="0"/>
              <a:t>The paradox of voting </a:t>
            </a:r>
          </a:p>
          <a:p>
            <a:pPr lvl="1"/>
            <a:r>
              <a:rPr lang="en-US" altLang="en-US" smtClean="0"/>
              <a:t>Condorcet’s paradox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CA10B57-67D5-40D6-A3BE-7C38C5DAD705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2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Paradox of Voting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Suppose there are three voters</a:t>
            </a:r>
          </a:p>
          <a:p>
            <a:pPr lvl="1"/>
            <a:r>
              <a:rPr lang="en-US" altLang="en-US" smtClean="0"/>
              <a:t>Smith, Jones, and Fudd</a:t>
            </a:r>
          </a:p>
          <a:p>
            <a:pPr lvl="1"/>
            <a:r>
              <a:rPr lang="en-US" altLang="en-US" smtClean="0"/>
              <a:t>Choosing among three policy options</a:t>
            </a:r>
          </a:p>
          <a:p>
            <a:pPr lvl="1"/>
            <a:r>
              <a:rPr lang="en-US" altLang="en-US" smtClean="0"/>
              <a:t>Assume that these policy options represent three levels of spending on a particular public good</a:t>
            </a:r>
          </a:p>
          <a:p>
            <a:pPr lvl="2"/>
            <a:r>
              <a:rPr lang="en-US" altLang="en-US" smtClean="0"/>
              <a:t>(</a:t>
            </a:r>
            <a:r>
              <a:rPr lang="en-US" altLang="en-US" i="1" smtClean="0"/>
              <a:t>A</a:t>
            </a:r>
            <a:r>
              <a:rPr lang="en-US" altLang="en-US" smtClean="0"/>
              <a:t>) low, (</a:t>
            </a:r>
            <a:r>
              <a:rPr lang="en-US" altLang="en-US" i="1" smtClean="0"/>
              <a:t>B</a:t>
            </a:r>
            <a:r>
              <a:rPr lang="en-US" altLang="en-US" smtClean="0"/>
              <a:t>) medium, and (</a:t>
            </a:r>
            <a:r>
              <a:rPr lang="en-US" altLang="en-US" i="1" smtClean="0"/>
              <a:t>C</a:t>
            </a:r>
            <a:r>
              <a:rPr lang="en-US" altLang="en-US" smtClean="0"/>
              <a:t>) high</a:t>
            </a:r>
          </a:p>
          <a:p>
            <a:pPr lvl="1"/>
            <a:r>
              <a:rPr lang="en-US" altLang="en-US" smtClean="0"/>
              <a:t>Condorcet’s paradox would arise even without this ordering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A07A4E-CC92-4BD9-926E-BDAFA69F56AE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7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19.2	Preferences that produce the paradox of 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voting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75781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D254F2-B9A0-425D-A4E2-FD8914145AF1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  <p:pic>
        <p:nvPicPr>
          <p:cNvPr id="407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62" y="1752600"/>
            <a:ext cx="8560676" cy="2540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568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Paradox of Voting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Consider a vote between </a:t>
            </a:r>
            <a:r>
              <a:rPr lang="en-US" altLang="en-US" i="1" smtClean="0"/>
              <a:t>A</a:t>
            </a:r>
            <a:r>
              <a:rPr lang="en-US" altLang="en-US" smtClean="0"/>
              <a:t> and </a:t>
            </a:r>
            <a:r>
              <a:rPr lang="en-US" altLang="en-US" i="1" smtClean="0"/>
              <a:t>B</a:t>
            </a:r>
            <a:endParaRPr lang="en-US" altLang="en-US" smtClean="0"/>
          </a:p>
          <a:p>
            <a:pPr lvl="1"/>
            <a:r>
              <a:rPr lang="en-US" altLang="en-US" i="1" smtClean="0"/>
              <a:t>A</a:t>
            </a:r>
            <a:r>
              <a:rPr lang="en-US" altLang="en-US" smtClean="0"/>
              <a:t> would win</a:t>
            </a:r>
          </a:p>
          <a:p>
            <a:r>
              <a:rPr lang="en-US" altLang="en-US" smtClean="0"/>
              <a:t>In a vote between </a:t>
            </a:r>
            <a:r>
              <a:rPr lang="en-US" altLang="en-US" i="1" smtClean="0"/>
              <a:t>A</a:t>
            </a:r>
            <a:r>
              <a:rPr lang="en-US" altLang="en-US" smtClean="0"/>
              <a:t> and </a:t>
            </a:r>
            <a:r>
              <a:rPr lang="en-US" altLang="en-US" i="1" smtClean="0"/>
              <a:t>C</a:t>
            </a:r>
            <a:endParaRPr lang="en-US" altLang="en-US" smtClean="0"/>
          </a:p>
          <a:p>
            <a:pPr lvl="1"/>
            <a:r>
              <a:rPr lang="en-US" altLang="en-US" i="1" smtClean="0"/>
              <a:t>C</a:t>
            </a:r>
            <a:r>
              <a:rPr lang="en-US" altLang="en-US" smtClean="0"/>
              <a:t> would win</a:t>
            </a:r>
          </a:p>
          <a:p>
            <a:r>
              <a:rPr lang="en-US" altLang="en-US" smtClean="0"/>
              <a:t>In a vote between </a:t>
            </a:r>
            <a:r>
              <a:rPr lang="en-US" altLang="en-US" i="1" smtClean="0"/>
              <a:t>B</a:t>
            </a:r>
            <a:r>
              <a:rPr lang="en-US" altLang="en-US" smtClean="0"/>
              <a:t> and </a:t>
            </a:r>
            <a:r>
              <a:rPr lang="en-US" altLang="en-US" i="1" smtClean="0"/>
              <a:t>C</a:t>
            </a:r>
            <a:endParaRPr lang="en-US" altLang="en-US" smtClean="0"/>
          </a:p>
          <a:p>
            <a:pPr lvl="1"/>
            <a:r>
              <a:rPr lang="en-US" altLang="en-US" i="1" smtClean="0"/>
              <a:t>B</a:t>
            </a:r>
            <a:r>
              <a:rPr lang="en-US" altLang="en-US" smtClean="0"/>
              <a:t> would win</a:t>
            </a:r>
          </a:p>
          <a:p>
            <a:r>
              <a:rPr lang="en-US" altLang="en-US" smtClean="0"/>
              <a:t>No equilibrium will ever be reached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CB11B4-DBA9-40FA-B33C-7A9C0773EFD7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9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Single-Peaked Preferences </a:t>
            </a:r>
            <a:endParaRPr lang="en-US" altLang="en-US" dirty="0" smtClean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Equilibrium voting outcomes </a:t>
            </a:r>
          </a:p>
          <a:p>
            <a:pPr lvl="1"/>
            <a:r>
              <a:rPr lang="en-US" altLang="en-US" dirty="0" smtClean="0"/>
              <a:t>Always occur in cases where the issue being voted upon is one-dimensional and where voter preferences are “single-peaked”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25304EA-C9B2-4FE6-B0CC-8EFC032FFECB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2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447800"/>
            <a:ext cx="6562725" cy="464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0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19.3	Single-Peaked Preferences and the Median 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Voter Theorem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78851" name="Text Placeholder 2"/>
          <p:cNvSpPr>
            <a:spLocks noGrp="1"/>
          </p:cNvSpPr>
          <p:nvPr>
            <p:ph sz="half" idx="1"/>
          </p:nvPr>
        </p:nvSpPr>
        <p:spPr>
          <a:xfrm>
            <a:off x="152400" y="1571624"/>
            <a:ext cx="2362200" cy="45259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This figure illustrates the preferences in Table 19.2. Smith’s and Jones’s preferences are single peaked, but </a:t>
            </a:r>
            <a:r>
              <a:rPr lang="en-US" altLang="en-US" dirty="0" err="1"/>
              <a:t>Fudd’s</a:t>
            </a:r>
            <a:r>
              <a:rPr lang="en-US" altLang="en-US" dirty="0"/>
              <a:t> have two local peaks and these yield the voting paradox. If </a:t>
            </a:r>
            <a:r>
              <a:rPr lang="en-US" altLang="en-US" dirty="0" err="1"/>
              <a:t>Fudd’s</a:t>
            </a:r>
            <a:r>
              <a:rPr lang="en-US" altLang="en-US" dirty="0"/>
              <a:t> preferences had instead been single peaked (the dashed line), then option B would have been chosen as the preferred choice of the median voter (Jones).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8854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FBF2E9-E46F-4097-BE0C-F650EBFAAAE6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0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Median Voter Theorem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With the altered preferences of Fudd</a:t>
            </a:r>
          </a:p>
          <a:p>
            <a:pPr lvl="1"/>
            <a:r>
              <a:rPr lang="en-US" altLang="en-US" i="1" smtClean="0"/>
              <a:t>B</a:t>
            </a:r>
            <a:r>
              <a:rPr lang="en-US" altLang="en-US" smtClean="0"/>
              <a:t> will be chosen because it is the preferred choice of the median voter (Jones)</a:t>
            </a:r>
          </a:p>
          <a:p>
            <a:pPr lvl="1"/>
            <a:r>
              <a:rPr lang="en-US" altLang="en-US" smtClean="0"/>
              <a:t>Jones’s preferences are between the preferences of Smith and the revised preferences of Fudd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5C159-83AC-4E32-9F62-1CA0A6FF949B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9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Median Voter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median voter </a:t>
            </a:r>
          </a:p>
          <a:p>
            <a:pPr lvl="1"/>
            <a:r>
              <a:rPr lang="en-US" altLang="en-US" smtClean="0"/>
              <a:t>If choices are unidimensional and preferences are single-peaked</a:t>
            </a:r>
          </a:p>
          <a:p>
            <a:pPr lvl="1"/>
            <a:r>
              <a:rPr lang="en-US" altLang="en-US" smtClean="0"/>
              <a:t>Majority rule will result in the selection of the project that is most favored by the median voter</a:t>
            </a:r>
          </a:p>
          <a:p>
            <a:pPr lvl="1"/>
            <a:r>
              <a:rPr lang="en-US" altLang="en-US" smtClean="0"/>
              <a:t>That voter’s preferences will determine what public choices are made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377C3E-2B88-426B-96A0-BD1994EE990C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3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Simple Political Model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community</a:t>
            </a:r>
          </a:p>
          <a:p>
            <a:pPr lvl="1"/>
            <a:r>
              <a:rPr lang="en-US" altLang="en-US" dirty="0" smtClean="0"/>
              <a:t>Large number of voters (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), each </a:t>
            </a:r>
            <a:r>
              <a:rPr lang="en-US" altLang="en-US" dirty="0" smtClean="0"/>
              <a:t>with income of </a:t>
            </a:r>
            <a:r>
              <a:rPr lang="en-US" altLang="en-US" i="1" dirty="0" err="1" smtClean="0"/>
              <a:t>y</a:t>
            </a:r>
            <a:r>
              <a:rPr lang="en-US" altLang="en-US" i="1" baseline="-25000" dirty="0" err="1" smtClean="0"/>
              <a:t>i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Utility of each voter depends on </a:t>
            </a:r>
          </a:p>
          <a:p>
            <a:pPr lvl="2"/>
            <a:r>
              <a:rPr lang="en-US" altLang="en-US" dirty="0" smtClean="0"/>
              <a:t>His consumption of a private good (</a:t>
            </a:r>
            <a:r>
              <a:rPr lang="en-US" altLang="en-US" i="1" dirty="0" smtClean="0"/>
              <a:t>c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) </a:t>
            </a:r>
          </a:p>
          <a:p>
            <a:pPr lvl="2"/>
            <a:r>
              <a:rPr lang="en-US" altLang="en-US" dirty="0" smtClean="0"/>
              <a:t>And of a public good (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) according </a:t>
            </a:r>
            <a:r>
              <a:rPr lang="en-US" altLang="en-US" dirty="0" smtClean="0"/>
              <a:t>to additive utility function</a:t>
            </a:r>
            <a:endParaRPr lang="en-US" altLang="en-US" dirty="0" smtClean="0"/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2800" dirty="0" smtClean="0">
                <a:solidFill>
                  <a:srgbClr val="FF0000"/>
                </a:solidFill>
              </a:rPr>
              <a:t>utility of person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c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en-US" dirty="0" smtClean="0"/>
              <a:t>Where </a:t>
            </a:r>
            <a:r>
              <a:rPr lang="en-US" altLang="en-US" i="1" dirty="0" err="1" smtClean="0"/>
              <a:t>f</a:t>
            </a:r>
            <a:r>
              <a:rPr lang="en-US" altLang="en-US" i="1" baseline="-25000" dirty="0" err="1" smtClean="0"/>
              <a:t>g</a:t>
            </a:r>
            <a:r>
              <a:rPr lang="en-US" altLang="en-US" dirty="0" smtClean="0"/>
              <a:t> &gt; 0 and </a:t>
            </a:r>
            <a:r>
              <a:rPr lang="en-US" altLang="en-US" i="1" dirty="0" err="1" smtClean="0"/>
              <a:t>f</a:t>
            </a:r>
            <a:r>
              <a:rPr lang="en-US" altLang="en-US" i="1" baseline="-25000" dirty="0" err="1" smtClean="0"/>
              <a:t>gc</a:t>
            </a:r>
            <a:r>
              <a:rPr lang="en-US" altLang="en-US" dirty="0" smtClean="0"/>
              <a:t> &lt; 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7225A2-A35C-4DE1-9B99-632746C878F8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5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 Simple Political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Each </a:t>
                </a:r>
                <a:r>
                  <a:rPr lang="en-US" altLang="en-US" dirty="0" smtClean="0"/>
                  <a:t>voter must pay taxes to finance </a:t>
                </a:r>
                <a:r>
                  <a:rPr lang="en-US" altLang="en-US" i="1" dirty="0" smtClean="0"/>
                  <a:t>g</a:t>
                </a:r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Taxes are proportional to income and are imposed at a rate of </a:t>
                </a:r>
                <a:r>
                  <a:rPr lang="en-US" altLang="en-US" i="1" dirty="0" smtClean="0"/>
                  <a:t>t</a:t>
                </a:r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Each person’s budget constraint </a:t>
                </a:r>
                <a:r>
                  <a:rPr lang="en-US" altLang="en-US" dirty="0" smtClean="0"/>
                  <a:t>is: 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en-US" sz="2800" i="1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(1-</a:t>
                </a:r>
                <a:r>
                  <a:rPr lang="en-US" altLang="en-US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altLang="en-US" sz="28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altLang="en-US" sz="2800" i="1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en-US" sz="2800" i="1" baseline="-25000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en-US" dirty="0" smtClean="0"/>
                  <a:t>The government </a:t>
                </a:r>
                <a:r>
                  <a:rPr lang="en-US" altLang="en-US" dirty="0" smtClean="0"/>
                  <a:t>is bound by a </a:t>
                </a:r>
                <a:r>
                  <a:rPr lang="en-US" altLang="en-US" dirty="0" smtClean="0"/>
                  <a:t>budget </a:t>
                </a:r>
                <a:r>
                  <a:rPr lang="en-US" altLang="en-US" dirty="0" smtClean="0"/>
                  <a:t>constraint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/>
                      </a:rPr>
                      <m:t> </m:t>
                    </m:r>
                    <m:r>
                      <a:rPr lang="en-US" sz="2800" i="1" smtClean="0">
                        <a:solidFill>
                          <a:srgbClr val="C00000"/>
                        </a:solidFill>
                      </a:rPr>
                      <m:t>𝑔</m:t>
                    </m:r>
                    <m:r>
                      <a:rPr lang="en-US" sz="2800">
                        <a:solidFill>
                          <a:srgbClr val="C00000"/>
                        </a:solidFill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>
                            <a:solidFill>
                              <a:srgbClr val="C00000"/>
                            </a:solidFill>
                          </a:rPr>
                        </m:ctrlPr>
                      </m:naryPr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𝑖</m:t>
                        </m:r>
                        <m:r>
                          <a:rPr lang="en-US" sz="2800">
                            <a:solidFill>
                              <a:srgbClr val="C00000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𝑛</m:t>
                        </m:r>
                      </m:sup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𝑡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800">
                        <a:solidFill>
                          <a:srgbClr val="C00000"/>
                        </a:solidFill>
                      </a:rPr>
                      <m:t>=</m:t>
                    </m:r>
                    <m:r>
                      <a:rPr lang="en-US" sz="2800" i="1">
                        <a:solidFill>
                          <a:srgbClr val="C00000"/>
                        </a:solidFill>
                      </a:rPr>
                      <m:t>𝑡𝑛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C00000"/>
                            </a:solidFill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𝑦</m:t>
                        </m:r>
                      </m:e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𝐴</m:t>
                        </m:r>
                      </m:sup>
                    </m:sSup>
                  </m:oMath>
                </a14:m>
                <a:endParaRPr lang="en-US" altLang="en-US" dirty="0" smtClean="0"/>
              </a:p>
              <a:p>
                <a:endParaRPr lang="en-US" altLang="en-US" dirty="0" smtClean="0"/>
              </a:p>
            </p:txBody>
          </p:sp>
        </mc:Choice>
        <mc:Fallback>
          <p:sp>
            <p:nvSpPr>
              <p:cNvPr id="614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7805F2C-7B9A-47C0-AAB4-0045AABC1933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7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Simple Political Model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 smtClean="0"/>
              <a:t>Utility function of individual </a:t>
            </a:r>
            <a:r>
              <a:rPr lang="en-US" altLang="en-US" i="1" dirty="0" smtClean="0"/>
              <a:t>i</a:t>
            </a:r>
            <a:r>
              <a:rPr lang="en-US" altLang="en-US" dirty="0" smtClean="0"/>
              <a:t>: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[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)]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altLang="en-US" dirty="0" smtClean="0"/>
              <a:t>Utility maximization occurs when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dU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sz="2800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0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2800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)]</a:t>
            </a:r>
          </a:p>
          <a:p>
            <a:pPr lvl="2"/>
            <a:r>
              <a:rPr lang="en-US" altLang="en-US" dirty="0" smtClean="0"/>
              <a:t>Desired spending on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 is inversely related to income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DFFD9E-2F6E-47E9-9201-53097178CD10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2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Simple Political Model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median voter equilibrium </a:t>
            </a:r>
          </a:p>
          <a:p>
            <a:pPr lvl="1"/>
            <a:r>
              <a:rPr lang="en-US" altLang="en-US" dirty="0" smtClean="0"/>
              <a:t>If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 is determined through majority rule, its level will be that level favored by the median voter</a:t>
            </a:r>
          </a:p>
          <a:p>
            <a:pPr lvl="1"/>
            <a:r>
              <a:rPr lang="en-US" altLang="en-US" dirty="0" smtClean="0"/>
              <a:t>Voters’ preferences </a:t>
            </a:r>
            <a:r>
              <a:rPr lang="en-US" altLang="en-US" dirty="0" err="1" smtClean="0"/>
              <a:t>allign</a:t>
            </a:r>
            <a:r>
              <a:rPr lang="en-US" altLang="en-US" dirty="0" smtClean="0"/>
              <a:t> exactly with income</a:t>
            </a:r>
          </a:p>
          <a:p>
            <a:pPr lvl="2"/>
            <a:r>
              <a:rPr lang="en-US" altLang="en-US" dirty="0" smtClean="0"/>
              <a:t>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 will be set at the level preferred by the voter with the median level of income (</a:t>
            </a:r>
            <a:r>
              <a:rPr lang="en-US" altLang="en-US" i="1" dirty="0" err="1" smtClean="0"/>
              <a:t>y</a:t>
            </a:r>
            <a:r>
              <a:rPr lang="en-US" altLang="en-US" i="1" baseline="30000" dirty="0" err="1" smtClean="0"/>
              <a:t>m</a:t>
            </a:r>
            <a:r>
              <a:rPr lang="en-US" altLang="en-US" dirty="0" smtClean="0"/>
              <a:t>)</a:t>
            </a:r>
          </a:p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f</a:t>
            </a:r>
            <a:r>
              <a:rPr lang="en-US" altLang="en-US" sz="32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3200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2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/(</a:t>
            </a:r>
            <a:r>
              <a:rPr lang="en-US" altLang="en-US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ny</a:t>
            </a:r>
            <a:r>
              <a:rPr lang="en-US" altLang="en-US" sz="32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)] = 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32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en-US" sz="3200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[(1/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altLang="en-US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2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2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)]</a:t>
            </a:r>
            <a:endParaRPr lang="en-US" altLang="en-US" sz="36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0BE008B-EC96-4384-A15C-391A5C8C76E7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Simple Political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81000" y="1219200"/>
                <a:ext cx="8763000" cy="5181600"/>
              </a:xfrm>
            </p:spPr>
            <p:txBody>
              <a:bodyPr>
                <a:noAutofit/>
              </a:bodyPr>
              <a:lstStyle/>
              <a:p>
                <a:r>
                  <a:rPr lang="en-US" altLang="en-US" dirty="0" smtClean="0"/>
                  <a:t>Optimality of the median voter result</a:t>
                </a:r>
              </a:p>
              <a:p>
                <a:pPr lvl="1"/>
                <a:r>
                  <a:rPr lang="en-US" altLang="en-US" sz="3000" dirty="0" smtClean="0"/>
                  <a:t>Utilitarian social welfare criterion</a:t>
                </a:r>
              </a:p>
              <a:p>
                <a:pPr lvl="1"/>
                <a:r>
                  <a:rPr lang="en-US" altLang="en-US" sz="3000" dirty="0" smtClean="0"/>
                  <a:t> </a:t>
                </a:r>
                <a:r>
                  <a:rPr lang="en-US" altLang="en-US" sz="3000" i="1" dirty="0" smtClean="0"/>
                  <a:t>g</a:t>
                </a:r>
                <a:r>
                  <a:rPr lang="en-US" altLang="en-US" sz="3000" dirty="0" smtClean="0"/>
                  <a:t> would be chosen so as to maximize the sum of utilities</a:t>
                </a:r>
                <a:r>
                  <a:rPr lang="en-US" altLang="en-US" sz="3000" dirty="0" smtClean="0"/>
                  <a:t>: </a:t>
                </a:r>
                <a:endParaRPr lang="en-US" sz="3000" i="1" dirty="0" smtClean="0"/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</a:rPr>
                        <m:t>𝑆𝑊</m:t>
                      </m:r>
                      <m:r>
                        <a:rPr lang="en-US" sz="2000">
                          <a:solidFill>
                            <a:srgbClr val="C00000"/>
                          </a:solidFill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>
                              <a:solidFill>
                                <a:srgbClr val="C00000"/>
                              </a:solidFill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rgbClr val="C00000"/>
                              </a:solidFill>
                            </a:rPr>
                            <m:t>𝑖</m:t>
                          </m:r>
                          <m:r>
                            <a:rPr lang="en-US" sz="2000">
                              <a:solidFill>
                                <a:srgbClr val="C00000"/>
                              </a:solidFill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>
                          <a:solidFill>
                            <a:srgbClr val="C00000"/>
                          </a:solidFill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00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[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𝐴</m:t>
                                  </m:r>
                                </m:sup>
                              </m:sSup>
                              <m:r>
                                <a:rPr lang="en-US" sz="200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𝐴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𝑔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]</m:t>
                          </m:r>
                        </m:e>
                      </m:nary>
                      <m:r>
                        <a:rPr lang="en-US" sz="2000" b="0" i="0" smtClean="0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</a:rPr>
                        <m:t>𝑛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</a:rPr>
                            <m:t>𝐴</m:t>
                          </m:r>
                        </m:sup>
                      </m:sSup>
                      <m:r>
                        <a:rPr lang="en-US" sz="2000">
                          <a:solidFill>
                            <a:srgbClr val="C00000"/>
                          </a:solidFill>
                        </a:rPr>
                        <m:t>−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</a:rPr>
                        <m:t>𝑔</m:t>
                      </m:r>
                      <m:r>
                        <a:rPr lang="en-US" sz="2000">
                          <a:solidFill>
                            <a:srgbClr val="C00000"/>
                          </a:solidFill>
                        </a:rPr>
                        <m:t>+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</a:rPr>
                        <m:t>𝑛𝑓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</a:rPr>
                            <m:t>𝑔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  </m:t>
                      </m:r>
                    </m:oMath>
                  </m:oMathPara>
                </a14:m>
                <a:endParaRPr lang="en-US" sz="2400" b="0" dirty="0" smtClean="0">
                  <a:solidFill>
                    <a:srgbClr val="C00000"/>
                  </a:solidFill>
                </a:endParaRPr>
              </a:p>
              <a:p>
                <a:pPr lvl="1" eaLnBrk="0" hangingPunct="0">
                  <a:buSzPct val="90000"/>
                  <a:defRPr/>
                </a:pPr>
                <a:r>
                  <a:rPr lang="en-US" sz="3000" kern="0" dirty="0"/>
                  <a:t>The optimal choice for </a:t>
                </a:r>
                <a:r>
                  <a:rPr lang="en-US" sz="3000" i="1" kern="0" dirty="0"/>
                  <a:t>g</a:t>
                </a:r>
                <a:r>
                  <a:rPr lang="en-US" sz="3000" kern="0" dirty="0"/>
                  <a:t> then is </a:t>
                </a:r>
                <a:endParaRPr lang="en-US" sz="3000" kern="0" dirty="0" smtClean="0"/>
              </a:p>
              <a:p>
                <a:pPr marL="914400" lvl="2" indent="0" eaLnBrk="0" hangingPunct="0">
                  <a:buSzPct val="90000"/>
                  <a:buNone/>
                  <a:defRPr/>
                </a:pPr>
                <a:r>
                  <a:rPr lang="en-US" sz="2800" i="1" kern="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g</a:t>
                </a:r>
                <a:r>
                  <a:rPr lang="en-US" sz="2800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* = </a:t>
                </a:r>
                <a:r>
                  <a:rPr lang="en-US" sz="2800" i="1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sz="2800" i="1" kern="0" baseline="-25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g</a:t>
                </a:r>
                <a:r>
                  <a:rPr lang="en-US" sz="2800" kern="0" baseline="30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-1</a:t>
                </a:r>
                <a:r>
                  <a:rPr lang="en-US" sz="2800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(1/</a:t>
                </a:r>
                <a:r>
                  <a:rPr lang="en-US" sz="2800" i="1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800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) = </a:t>
                </a:r>
                <a:r>
                  <a:rPr lang="en-US" sz="2800" i="1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sz="2800" i="1" kern="0" baseline="-25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g</a:t>
                </a:r>
                <a:r>
                  <a:rPr lang="en-US" sz="2800" kern="0" baseline="30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-1</a:t>
                </a:r>
                <a:r>
                  <a:rPr lang="en-US" sz="2800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[(1/</a:t>
                </a:r>
                <a:r>
                  <a:rPr lang="en-US" sz="2800" i="1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800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)(</a:t>
                </a:r>
                <a:r>
                  <a:rPr lang="en-US" sz="2800" i="1" kern="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800" i="1" kern="0" baseline="3000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sz="2800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n-US" sz="2800" i="1" kern="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800" i="1" kern="0" baseline="3000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sz="2800" kern="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)]</a:t>
                </a:r>
              </a:p>
              <a:p>
                <a:pPr lvl="2" eaLnBrk="0" hangingPunct="0">
                  <a:buSzPct val="90000"/>
                  <a:buFontTx/>
                  <a:buChar char="•"/>
                  <a:defRPr/>
                </a:pPr>
                <a:r>
                  <a:rPr lang="en-US" kern="0" dirty="0" smtClean="0"/>
                  <a:t>Level </a:t>
                </a:r>
                <a:r>
                  <a:rPr lang="en-US" kern="0" dirty="0"/>
                  <a:t>of </a:t>
                </a:r>
                <a:r>
                  <a:rPr lang="en-US" i="1" kern="0" dirty="0"/>
                  <a:t>g</a:t>
                </a:r>
                <a:r>
                  <a:rPr lang="en-US" kern="0" dirty="0"/>
                  <a:t> favored by the voter with average </a:t>
                </a:r>
                <a:r>
                  <a:rPr lang="en-US" kern="0" dirty="0" smtClean="0"/>
                  <a:t>income</a:t>
                </a:r>
                <a:endParaRPr lang="en-US" dirty="0" smtClean="0"/>
              </a:p>
              <a:p>
                <a:pPr lvl="2"/>
                <a:endParaRPr lang="en-US" altLang="en-US" dirty="0" smtClean="0"/>
              </a:p>
            </p:txBody>
          </p:sp>
        </mc:Choice>
        <mc:Fallback>
          <p:sp>
            <p:nvSpPr>
              <p:cNvPr id="717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19200"/>
                <a:ext cx="8763000" cy="5181600"/>
              </a:xfrm>
              <a:blipFill rotWithShape="1">
                <a:blip r:embed="rId2"/>
                <a:stretch>
                  <a:fillRect l="-1740" t="-1647" b="-4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F9C14-31C9-47D2-8B47-5FEEB6A9C1A6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sp>
        <p:nvSpPr>
          <p:cNvPr id="7175" name="Rectangle 5"/>
          <p:cNvSpPr>
            <a:spLocks noChangeArrowheads="1"/>
          </p:cNvSpPr>
          <p:nvPr/>
        </p:nvSpPr>
        <p:spPr bwMode="auto">
          <a:xfrm>
            <a:off x="685800" y="4343400"/>
            <a:ext cx="7772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endParaRPr lang="en-US" altLang="en-US" sz="3200">
              <a:solidFill>
                <a:srgbClr val="7B332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6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19.6 	Voting for Redistributive Taxation</a:t>
            </a:r>
          </a:p>
        </p:txBody>
      </p:sp>
      <p:sp>
        <p:nvSpPr>
          <p:cNvPr id="8499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CB92FF39-B955-4F94-B95F-1F30014ED013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  <p:sp>
        <p:nvSpPr>
          <p:cNvPr id="84995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Voters </a:t>
            </a:r>
          </a:p>
          <a:p>
            <a:pPr lvl="1"/>
            <a:r>
              <a:rPr lang="en-US" altLang="en-US" dirty="0" smtClean="0"/>
              <a:t>Considering a lump-sum transfer to be paid to every person</a:t>
            </a:r>
          </a:p>
          <a:p>
            <a:pPr lvl="2"/>
            <a:r>
              <a:rPr lang="en-US" altLang="en-US" dirty="0" smtClean="0"/>
              <a:t>And financed through proportional taxation</a:t>
            </a:r>
          </a:p>
          <a:p>
            <a:pPr lvl="1"/>
            <a:r>
              <a:rPr lang="en-US" altLang="en-US" dirty="0" smtClean="0"/>
              <a:t>Per-person transfer, </a:t>
            </a:r>
            <a:r>
              <a:rPr lang="en-US" altLang="en-US" i="1" dirty="0" smtClean="0"/>
              <a:t>b</a:t>
            </a:r>
          </a:p>
          <a:p>
            <a:pPr lvl="1"/>
            <a:r>
              <a:rPr lang="en-US" altLang="en-US" dirty="0" smtClean="0"/>
              <a:t>Each individual’s utility: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b</a:t>
            </a:r>
            <a:endParaRPr lang="en-US" alt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dirty="0" smtClean="0"/>
              <a:t>Government’s budget constraint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nb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tny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 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altLang="en-US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dirty="0" smtClean="0">
                <a:solidFill>
                  <a:srgbClr val="002D56"/>
                </a:solidFill>
              </a:rPr>
              <a:t>For a voter </a:t>
            </a:r>
            <a:r>
              <a:rPr lang="en-US" altLang="en-US" dirty="0">
                <a:solidFill>
                  <a:srgbClr val="002D56"/>
                </a:solidFill>
              </a:rPr>
              <a:t>whose income is greater than </a:t>
            </a:r>
            <a:r>
              <a:rPr lang="en-US" altLang="en-US" dirty="0" smtClean="0">
                <a:solidFill>
                  <a:srgbClr val="002D56"/>
                </a:solidFill>
              </a:rPr>
              <a:t>average</a:t>
            </a:r>
          </a:p>
          <a:p>
            <a:pPr lvl="1"/>
            <a:r>
              <a:rPr lang="en-US" altLang="en-US" dirty="0" smtClean="0"/>
              <a:t>Utility </a:t>
            </a:r>
            <a:r>
              <a:rPr lang="en-US" altLang="en-US" dirty="0" smtClean="0"/>
              <a:t>is maximized by choosing </a:t>
            </a:r>
            <a:r>
              <a:rPr lang="en-US" altLang="en-US" i="1" dirty="0" smtClean="0"/>
              <a:t>b</a:t>
            </a:r>
            <a:r>
              <a:rPr lang="en-US" altLang="en-US" dirty="0" smtClean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280601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19.6 	Voting for Redistributive Taxation</a:t>
            </a:r>
          </a:p>
        </p:txBody>
      </p:sp>
      <p:sp>
        <p:nvSpPr>
          <p:cNvPr id="8602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5ACDE85-1427-458B-B9E6-1FF7419EDF2D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  <p:sp>
        <p:nvSpPr>
          <p:cNvPr id="86019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Any voter with </a:t>
            </a:r>
            <a:r>
              <a:rPr lang="en-US" altLang="en-US" dirty="0" smtClean="0"/>
              <a:t>less </a:t>
            </a:r>
            <a:r>
              <a:rPr lang="en-US" altLang="en-US" dirty="0"/>
              <a:t>than average income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Will choose </a:t>
            </a:r>
            <a:r>
              <a:rPr lang="en-US" altLang="en-US" i="1" dirty="0" smtClean="0"/>
              <a:t>t</a:t>
            </a:r>
            <a:r>
              <a:rPr lang="en-US" altLang="en-US" dirty="0" smtClean="0"/>
              <a:t> = 1 and </a:t>
            </a:r>
            <a:r>
              <a:rPr lang="en-US" altLang="en-US" i="1" dirty="0" smtClean="0"/>
              <a:t>b</a:t>
            </a:r>
            <a:r>
              <a:rPr lang="en-US" altLang="en-US" dirty="0" smtClean="0"/>
              <a:t> = </a:t>
            </a:r>
            <a:r>
              <a:rPr lang="en-US" altLang="en-US" i="1" dirty="0" err="1" smtClean="0"/>
              <a:t>y</a:t>
            </a:r>
            <a:r>
              <a:rPr lang="en-US" altLang="en-US" i="1" baseline="30000" dirty="0" err="1" smtClean="0"/>
              <a:t>A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Would fully equalize incomes</a:t>
            </a:r>
            <a:endParaRPr lang="en-US" altLang="en-US" i="1" baseline="30000" dirty="0" smtClean="0"/>
          </a:p>
          <a:p>
            <a:r>
              <a:rPr lang="en-US" altLang="en-US" dirty="0" smtClean="0"/>
              <a:t>Each </a:t>
            </a:r>
            <a:r>
              <a:rPr lang="en-US" altLang="en-US" dirty="0" smtClean="0"/>
              <a:t>individual’s income - two components</a:t>
            </a:r>
          </a:p>
          <a:p>
            <a:pPr lvl="1"/>
            <a:r>
              <a:rPr lang="en-US" altLang="en-US" dirty="0" smtClean="0"/>
              <a:t>One responsive to tax rates [</a:t>
            </a:r>
            <a:r>
              <a:rPr lang="en-US" altLang="en-US" i="1" dirty="0" err="1" smtClean="0"/>
              <a:t>y</a:t>
            </a:r>
            <a:r>
              <a:rPr lang="en-US" altLang="en-US" i="1" baseline="-25000" dirty="0" err="1" smtClean="0"/>
              <a:t>i</a:t>
            </a:r>
            <a:r>
              <a:rPr lang="en-US" altLang="en-US" i="1" baseline="-25000" dirty="0" smtClean="0"/>
              <a:t> 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t</a:t>
            </a:r>
            <a:r>
              <a:rPr lang="en-US" altLang="en-US" dirty="0" smtClean="0"/>
              <a:t>)]</a:t>
            </a:r>
          </a:p>
          <a:p>
            <a:pPr lvl="1"/>
            <a:r>
              <a:rPr lang="en-US" altLang="en-US" dirty="0" smtClean="0"/>
              <a:t>One not responsive (</a:t>
            </a:r>
            <a:r>
              <a:rPr lang="en-US" altLang="en-US" i="1" dirty="0" err="1" smtClean="0"/>
              <a:t>n</a:t>
            </a:r>
            <a:r>
              <a:rPr lang="en-US" altLang="en-US" i="1" baseline="-25000" dirty="0" err="1" smtClean="0"/>
              <a:t>i</a:t>
            </a:r>
            <a:r>
              <a:rPr lang="en-US" altLang="en-US" dirty="0" smtClean="0"/>
              <a:t>)</a:t>
            </a:r>
          </a:p>
          <a:p>
            <a:r>
              <a:rPr lang="en-US" altLang="en-US" dirty="0" smtClean="0"/>
              <a:t>Assume </a:t>
            </a:r>
          </a:p>
          <a:p>
            <a:pPr lvl="1"/>
            <a:r>
              <a:rPr lang="en-US" altLang="en-US" dirty="0" smtClean="0"/>
              <a:t>Average of </a:t>
            </a:r>
            <a:r>
              <a:rPr lang="en-US" altLang="en-US" i="1" dirty="0" err="1" smtClean="0"/>
              <a:t>n</a:t>
            </a:r>
            <a:r>
              <a:rPr lang="en-US" altLang="en-US" i="1" baseline="-25000" dirty="0" err="1" smtClean="0"/>
              <a:t>i</a:t>
            </a:r>
            <a:r>
              <a:rPr lang="en-US" altLang="en-US" dirty="0" smtClean="0"/>
              <a:t> is zero, but its distribution is skewed right so </a:t>
            </a:r>
            <a:r>
              <a:rPr lang="en-US" altLang="en-US" i="1" dirty="0" smtClean="0"/>
              <a:t>n</a:t>
            </a:r>
            <a:r>
              <a:rPr lang="en-US" altLang="en-US" i="1" baseline="-25000" dirty="0" smtClean="0"/>
              <a:t>m</a:t>
            </a:r>
            <a:r>
              <a:rPr lang="en-US" altLang="en-US" dirty="0" smtClean="0"/>
              <a:t> &lt; 0</a:t>
            </a:r>
            <a:endParaRPr lang="en-US" altLang="en-US" i="1" baseline="30000" dirty="0" smtClean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210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19.6 	Voting for Redistributive Taxation</a:t>
            </a:r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028C509-6E3C-47B8-A10E-02441ABB49E6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  <p:sp>
        <p:nvSpPr>
          <p:cNvPr id="8704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Utility: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(1-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)[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 +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alt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dirty="0" smtClean="0"/>
              <a:t>The individual’s first-order condition for a maximum in his choice of </a:t>
            </a:r>
            <a:r>
              <a:rPr lang="en-US" altLang="en-US" i="1" dirty="0" smtClean="0"/>
              <a:t>t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:</a:t>
            </a:r>
          </a:p>
          <a:p>
            <a:pPr algn="ctr">
              <a:buFontTx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dU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dt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t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dt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0</a:t>
            </a:r>
          </a:p>
          <a:p>
            <a:pPr algn="ctr">
              <a:buFontTx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dt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altLang="en-US" dirty="0" smtClean="0"/>
              <a:t>Under majority rule, the equilibrium condition will be</a:t>
            </a:r>
          </a:p>
          <a:p>
            <a:pPr algn="ctr"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=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/(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dy</a:t>
            </a:r>
            <a:r>
              <a:rPr lang="en-US" altLang="en-US" sz="2800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dt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sz="2800" i="1" baseline="30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en-US" dirty="0" smtClean="0"/>
              <a:t>Positive rate of taxation 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3746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Groves Mechanism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534400" cy="3886200"/>
          </a:xfrm>
        </p:spPr>
        <p:txBody>
          <a:bodyPr/>
          <a:lstStyle/>
          <a:p>
            <a:r>
              <a:rPr lang="en-US" altLang="en-US" dirty="0" smtClean="0"/>
              <a:t>There are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individuals in a group</a:t>
            </a:r>
          </a:p>
          <a:p>
            <a:pPr lvl="1"/>
            <a:r>
              <a:rPr lang="en-US" altLang="en-US" dirty="0" smtClean="0"/>
              <a:t>Each has a private and unobservable valuation </a:t>
            </a:r>
            <a:r>
              <a:rPr lang="en-US" altLang="en-US" dirty="0" smtClean="0"/>
              <a:t>(</a:t>
            </a:r>
            <a:r>
              <a:rPr lang="el-GR" altLang="en-US" dirty="0" smtClean="0"/>
              <a:t>ν</a:t>
            </a:r>
            <a:r>
              <a:rPr lang="en-US" altLang="en-US" i="1" baseline="-25000" dirty="0" err="1" smtClean="0"/>
              <a:t>i</a:t>
            </a:r>
            <a:r>
              <a:rPr lang="en-US" altLang="en-US" dirty="0" smtClean="0"/>
              <a:t>) for a proposed taxation-expenditure project</a:t>
            </a:r>
          </a:p>
          <a:p>
            <a:r>
              <a:rPr lang="en-US" altLang="en-US" dirty="0" smtClean="0"/>
              <a:t>The government </a:t>
            </a:r>
          </a:p>
          <a:p>
            <a:pPr lvl="1"/>
            <a:r>
              <a:rPr lang="en-US" altLang="en-US" dirty="0" smtClean="0"/>
              <a:t>If undertaken, the project will provide each person with a transfer given by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69A420-056E-410E-BFF8-14056FEB2853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5791200"/>
                <a:ext cx="8534400" cy="685800"/>
              </a:xfrm>
            </p:spPr>
            <p:txBody>
              <a:bodyPr/>
              <a:lstStyle/>
              <a:p>
                <a:pPr lvl="2"/>
                <a:r>
                  <a:rPr lang="en-US" kern="0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l-GR" i="1" kern="0" dirty="0">
                            <a:latin typeface="Cambria Math"/>
                          </a:rPr>
                        </m:ctrlPr>
                      </m:accPr>
                      <m:e>
                        <m:r>
                          <a:rPr lang="el-GR" i="1" kern="0" dirty="0">
                            <a:latin typeface="Cambria Math"/>
                            <a:ea typeface="Cambria Math"/>
                          </a:rPr>
                          <m:t>𝜈</m:t>
                        </m:r>
                      </m:e>
                    </m:acc>
                  </m:oMath>
                </a14:m>
                <a:r>
                  <a:rPr lang="en-US" i="1" kern="0" baseline="-25000" dirty="0"/>
                  <a:t>j</a:t>
                </a:r>
                <a:r>
                  <a:rPr lang="en-US" kern="0" dirty="0"/>
                  <a:t> </a:t>
                </a:r>
                <a:r>
                  <a:rPr lang="en-US" kern="0" dirty="0"/>
                  <a:t>is valuation reported by person </a:t>
                </a:r>
                <a:r>
                  <a:rPr lang="en-US" kern="0" dirty="0" smtClean="0"/>
                  <a:t>j</a:t>
                </a:r>
                <a:endParaRPr lang="en-US" kern="0" dirty="0"/>
              </a:p>
            </p:txBody>
          </p:sp>
        </mc:Choice>
        <mc:Fallback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5791200"/>
                <a:ext cx="8534400" cy="685800"/>
              </a:xfrm>
              <a:blipFill rotWithShape="1">
                <a:blip r:embed="rId3"/>
                <a:stretch>
                  <a:fillRect t="-7965" b="-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344576"/>
              </p:ext>
            </p:extLst>
          </p:nvPr>
        </p:nvGraphicFramePr>
        <p:xfrm>
          <a:off x="3205163" y="4986337"/>
          <a:ext cx="15240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3" name="Equation" r:id="rId4" imgW="634680" imgH="368280" progId="Equation.DSMT4">
                  <p:embed/>
                </p:oleObj>
              </mc:Choice>
              <mc:Fallback>
                <p:oleObj name="Equation" r:id="rId4" imgW="6346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4986337"/>
                        <a:ext cx="15240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720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Groves Mechanism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2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The problem for voter </a:t>
                </a:r>
                <a:r>
                  <a:rPr lang="en-US" altLang="en-US" i="1" dirty="0" err="1" smtClean="0"/>
                  <a:t>i</a:t>
                </a:r>
                <a:r>
                  <a:rPr lang="en-US" altLang="en-US" dirty="0" smtClean="0"/>
                  <a:t> </a:t>
                </a:r>
              </a:p>
              <a:p>
                <a:pPr lvl="1"/>
                <a:r>
                  <a:rPr lang="en-US" altLang="en-US" dirty="0" smtClean="0"/>
                  <a:t>Choose his or her reported net valuation so as to maximize </a:t>
                </a:r>
                <a:r>
                  <a:rPr lang="en-US" altLang="en-US" dirty="0" smtClean="0"/>
                  <a:t>utility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a:rPr lang="en-US" sz="2800">
                        <a:solidFill>
                          <a:srgbClr val="C00000"/>
                        </a:solidFill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𝜈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𝑖</m:t>
                        </m:r>
                      </m:sub>
                    </m:sSub>
                    <m:r>
                      <a:rPr lang="en-US" sz="2800">
                        <a:solidFill>
                          <a:srgbClr val="C00000"/>
                        </a:solidFill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𝑖</m:t>
                        </m:r>
                      </m:sub>
                    </m:sSub>
                    <m:r>
                      <a:rPr lang="en-US" sz="2800">
                        <a:solidFill>
                          <a:srgbClr val="C00000"/>
                        </a:solidFill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𝜈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𝑖</m:t>
                        </m:r>
                      </m:sub>
                    </m:sSub>
                    <m:r>
                      <a:rPr lang="en-US" sz="2800">
                        <a:solidFill>
                          <a:srgbClr val="C00000"/>
                        </a:solidFill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sz="2800" i="1">
                            <a:solidFill>
                              <a:srgbClr val="C00000"/>
                            </a:solidFill>
                          </a:rPr>
                        </m:ctrlPr>
                      </m:naryPr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𝑗</m:t>
                        </m:r>
                        <m:r>
                          <a:rPr lang="en-US" sz="2800">
                            <a:solidFill>
                              <a:srgbClr val="C00000"/>
                            </a:solidFill>
                          </a:rPr>
                          <m:t>≠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800" i="1">
                                    <a:solidFill>
                                      <a:srgbClr val="C00000"/>
                                    </a:solidFill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</a:rPr>
                                  <m:t>𝜈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/>
                      </a:rPr>
                      <m:t>  </m:t>
                    </m:r>
                  </m:oMath>
                </a14:m>
                <a:endParaRPr lang="en-US" sz="2800" b="0" dirty="0" smtClean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altLang="en-US" sz="3000" dirty="0" smtClean="0"/>
                  <a:t>Project will be undertaken only if: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30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30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en-US" sz="30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en-US" sz="30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acc>
                          <m:accPr>
                            <m:chr m:val="̃"/>
                            <m:ctrlPr>
                              <a:rPr lang="en-US" altLang="en-US" sz="300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en-US" sz="300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300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lang="en-US" alt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nary>
                    <m:r>
                      <a:rPr lang="en-US" altLang="en-US" sz="300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en-US" sz="3000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en-US" altLang="en-US" sz="3000" dirty="0" smtClean="0">
                    <a:solidFill>
                      <a:srgbClr val="C00000"/>
                    </a:solidFill>
                  </a:rPr>
                  <a:t> </a:t>
                </a:r>
                <a:endParaRPr lang="en-US" altLang="en-US" sz="3000" dirty="0" smtClean="0"/>
              </a:p>
              <a:p>
                <a:pPr lvl="1"/>
                <a:r>
                  <a:rPr lang="en-US" altLang="en-US" sz="3000" dirty="0" smtClean="0"/>
                  <a:t>Each person - project </a:t>
                </a:r>
                <a:r>
                  <a:rPr lang="en-US" altLang="en-US" sz="3000" dirty="0"/>
                  <a:t>to be undertaken only if it increases </a:t>
                </a:r>
                <a:r>
                  <a:rPr lang="en-US" altLang="en-US" sz="3000" dirty="0" smtClean="0"/>
                  <a:t>utility: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𝜈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80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sz="2800">
                            <a:solidFill>
                              <a:srgbClr val="C00000"/>
                            </a:solidFill>
                            <a:latin typeface="Cambria Math"/>
                          </a:rPr>
                          <m:t>≠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𝜈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/>
                      </a:rPr>
                      <m:t>&gt;0</m:t>
                    </m:r>
                  </m:oMath>
                </a14:m>
                <a:r>
                  <a:rPr lang="en-US" altLang="en-US" sz="2800" dirty="0" smtClean="0">
                    <a:solidFill>
                      <a:srgbClr val="C00000"/>
                    </a:solidFill>
                  </a:rPr>
                  <a:t> </a:t>
                </a:r>
              </a:p>
              <a:p>
                <a:pPr lvl="1"/>
                <a:r>
                  <a:rPr lang="en-US" altLang="en-US" sz="2800" dirty="0" smtClean="0"/>
                  <a:t>Utility-maximizing strategy </a:t>
                </a:r>
                <a:r>
                  <a:rPr lang="en-US" altLang="en-US" sz="2800" dirty="0"/>
                  <a:t>is to </a:t>
                </a:r>
                <a:r>
                  <a:rPr lang="en-US" altLang="en-US" sz="2800" dirty="0" smtClean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𝜈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800" dirty="0" smtClean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𝜈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altLang="en-US" sz="2800" dirty="0" smtClean="0"/>
              </a:p>
            </p:txBody>
          </p:sp>
        </mc:Choice>
        <mc:Fallback>
          <p:sp>
            <p:nvSpPr>
              <p:cNvPr id="922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r="-2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9B0BE1-61E6-4C16-A1CB-0EB67B7BAC3F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Clarke Mechanism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Clarke Mechanism</a:t>
            </a:r>
          </a:p>
          <a:p>
            <a:pPr lvl="1"/>
            <a:r>
              <a:rPr lang="en-US" altLang="en-US" smtClean="0"/>
              <a:t>Ask individuals about their net valuation of a public project</a:t>
            </a:r>
          </a:p>
          <a:p>
            <a:pPr lvl="1"/>
            <a:r>
              <a:rPr lang="en-US" altLang="en-US" smtClean="0"/>
              <a:t>Focuses on “pivotal voters”</a:t>
            </a:r>
          </a:p>
          <a:p>
            <a:pPr lvl="2"/>
            <a:r>
              <a:rPr lang="en-US" altLang="en-US" smtClean="0"/>
              <a:t>Those whose valuations can change the overall evaluation from positive to negative of vice versa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C81E34-F08E-42B5-97FC-BF32205B137A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8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Clarke Mechanism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Clarke mechanism </a:t>
            </a:r>
          </a:p>
          <a:p>
            <a:pPr lvl="1"/>
            <a:r>
              <a:rPr lang="en-US" altLang="en-US" smtClean="0"/>
              <a:t>For the pivotal voters </a:t>
            </a:r>
          </a:p>
          <a:p>
            <a:pPr lvl="2"/>
            <a:r>
              <a:rPr lang="en-US" altLang="en-US" smtClean="0"/>
              <a:t>Incorporates a Pigouvian-like tax (or transfer) to encourage truth telling</a:t>
            </a:r>
          </a:p>
          <a:p>
            <a:pPr lvl="1"/>
            <a:r>
              <a:rPr lang="en-US" altLang="en-US" smtClean="0"/>
              <a:t>For all other voters</a:t>
            </a:r>
          </a:p>
          <a:p>
            <a:pPr lvl="2"/>
            <a:r>
              <a:rPr lang="en-US" altLang="en-US" smtClean="0"/>
              <a:t>There are no special transfers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F5B6AB1-A50C-45F9-8B41-66DD5555DF02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4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Pollution Abatement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A7F49C-9A0F-4448-BE62-2AB53DAF3A8A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sp>
        <p:nvSpPr>
          <p:cNvPr id="90115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Two firms, A and B</a:t>
            </a:r>
          </a:p>
          <a:p>
            <a:pPr lvl="1"/>
            <a:r>
              <a:rPr lang="en-US" altLang="en-US" smtClean="0"/>
              <a:t>Their output levels, </a:t>
            </a:r>
            <a:r>
              <a:rPr lang="en-US" altLang="en-US" i="1" smtClean="0"/>
              <a:t>q</a:t>
            </a:r>
            <a:r>
              <a:rPr lang="en-US" altLang="en-US" i="1" baseline="-25000" smtClean="0"/>
              <a:t>A</a:t>
            </a:r>
            <a:r>
              <a:rPr lang="en-US" altLang="en-US" smtClean="0"/>
              <a:t> and </a:t>
            </a:r>
            <a:r>
              <a:rPr lang="en-US" altLang="en-US" i="1" smtClean="0"/>
              <a:t>q</a:t>
            </a:r>
            <a:r>
              <a:rPr lang="en-US" altLang="en-US" i="1" baseline="-25000" smtClean="0"/>
              <a:t>B</a:t>
            </a:r>
            <a:r>
              <a:rPr lang="en-US" altLang="en-US" smtClean="0"/>
              <a:t>, are fixed </a:t>
            </a:r>
          </a:p>
          <a:p>
            <a:pPr lvl="1"/>
            <a:r>
              <a:rPr lang="en-US" altLang="en-US" smtClean="0"/>
              <a:t>Emission by-products, </a:t>
            </a:r>
            <a:r>
              <a:rPr lang="en-US" altLang="en-US" i="1" smtClean="0"/>
              <a:t>e</a:t>
            </a:r>
            <a:r>
              <a:rPr lang="en-US" altLang="en-US" i="1" baseline="-25000" smtClean="0"/>
              <a:t>A</a:t>
            </a:r>
            <a:r>
              <a:rPr lang="en-US" altLang="en-US" smtClean="0"/>
              <a:t> and </a:t>
            </a:r>
            <a:r>
              <a:rPr lang="en-US" altLang="en-US" i="1" smtClean="0"/>
              <a:t>e</a:t>
            </a:r>
            <a:r>
              <a:rPr lang="en-US" altLang="en-US" i="1" baseline="-25000" smtClean="0"/>
              <a:t>B</a:t>
            </a:r>
            <a:r>
              <a:rPr lang="en-US" altLang="en-US" baseline="-25000" smtClean="0"/>
              <a:t> 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The physical amounts of these emissions can be abated using inputs </a:t>
            </a:r>
            <a:r>
              <a:rPr lang="en-US" altLang="en-US" i="1" smtClean="0"/>
              <a:t>z</a:t>
            </a:r>
            <a:r>
              <a:rPr lang="en-US" altLang="en-US" i="1" baseline="-25000" smtClean="0"/>
              <a:t>A</a:t>
            </a:r>
            <a:r>
              <a:rPr lang="en-US" altLang="en-US" smtClean="0"/>
              <a:t> and </a:t>
            </a:r>
            <a:r>
              <a:rPr lang="en-US" altLang="en-US" i="1" smtClean="0"/>
              <a:t>z</a:t>
            </a:r>
            <a:r>
              <a:rPr lang="en-US" altLang="en-US" i="1" baseline="-25000" smtClean="0"/>
              <a:t>B</a:t>
            </a:r>
            <a:r>
              <a:rPr lang="en-US" altLang="en-US" smtClean="0"/>
              <a:t> </a:t>
            </a:r>
          </a:p>
          <a:p>
            <a:pPr lvl="2"/>
            <a:r>
              <a:rPr lang="en-US" altLang="en-US" smtClean="0"/>
              <a:t>Which cost </a:t>
            </a:r>
            <a:r>
              <a:rPr lang="en-US" altLang="en-US" i="1" smtClean="0"/>
              <a:t>p</a:t>
            </a:r>
            <a:r>
              <a:rPr lang="en-US" altLang="en-US" smtClean="0"/>
              <a:t> per unit</a:t>
            </a:r>
          </a:p>
          <a:p>
            <a:r>
              <a:rPr lang="en-US" altLang="en-US" smtClean="0"/>
              <a:t>Resulting levels of emissions are given by</a:t>
            </a:r>
          </a:p>
          <a:p>
            <a:pPr algn="ctr">
              <a:buFontTx/>
              <a:buNone/>
            </a:pPr>
            <a:r>
              <a:rPr lang="en-US" altLang="en-US" smtClean="0"/>
              <a:t> 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800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altLang="en-US" sz="2800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,z</a:t>
            </a:r>
            <a:r>
              <a:rPr lang="en-US" altLang="en-US" sz="2800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e</a:t>
            </a:r>
            <a:r>
              <a:rPr lang="en-US" altLang="en-US" sz="2800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en-US" sz="2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en-US" sz="28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800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altLang="en-US" sz="2800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,z</a:t>
            </a:r>
            <a:r>
              <a:rPr lang="en-US" altLang="en-US" sz="2800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e</a:t>
            </a:r>
            <a:r>
              <a:rPr lang="en-US" altLang="en-US" sz="2800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800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2"/>
            <a:r>
              <a:rPr lang="en-US" altLang="en-US" smtClean="0"/>
              <a:t>Where, for each firm, </a:t>
            </a:r>
            <a:r>
              <a:rPr lang="en-US" altLang="en-US" i="1" smtClean="0"/>
              <a:t>f</a:t>
            </a:r>
            <a:r>
              <a:rPr lang="en-US" altLang="en-US" baseline="-25000" smtClean="0"/>
              <a:t>1</a:t>
            </a:r>
            <a:r>
              <a:rPr lang="en-US" altLang="en-US" smtClean="0"/>
              <a:t> &gt; 0 and </a:t>
            </a:r>
            <a:r>
              <a:rPr lang="en-US" altLang="en-US" i="1" smtClean="0"/>
              <a:t>f</a:t>
            </a:r>
            <a:r>
              <a:rPr lang="en-US" altLang="en-US" baseline="-25000" smtClean="0"/>
              <a:t>2</a:t>
            </a:r>
            <a:r>
              <a:rPr lang="en-US" altLang="en-US" smtClean="0"/>
              <a:t> &lt; 0</a:t>
            </a:r>
          </a:p>
        </p:txBody>
      </p:sp>
    </p:spTree>
    <p:extLst>
      <p:ext uri="{BB962C8B-B14F-4D97-AF65-F5344CB8AC3E}">
        <p14:creationId xmlns:p14="http://schemas.microsoft.com/office/powerpoint/2010/main" val="2388231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Pollution Abatement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32FB5B-7BAA-4275-9C17-631F9CCBFAE6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91139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Optimal abatement</a:t>
            </a:r>
          </a:p>
          <a:p>
            <a:pPr lvl="1"/>
            <a:r>
              <a:rPr lang="en-US" altLang="en-US" smtClean="0"/>
              <a:t>Regulatory agency: e* = maximum allowable level of emissions </a:t>
            </a:r>
          </a:p>
          <a:p>
            <a:pPr lvl="1"/>
            <a:r>
              <a:rPr lang="en-US" altLang="en-US" smtClean="0"/>
              <a:t> e* would be achieved at minimal cost:</a:t>
            </a:r>
          </a:p>
          <a:p>
            <a:pPr lvl="2"/>
            <a:r>
              <a:rPr lang="en-US" altLang="en-US" smtClean="0"/>
              <a:t>Lagrangian: </a:t>
            </a:r>
            <a:r>
              <a:rPr lang="en-US" altLang="en-US" b="1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smtClean="0">
                <a:solidFill>
                  <a:srgbClr val="FF0000"/>
                </a:solidFill>
              </a:rPr>
              <a:t> = 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pz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pz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l-GR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(f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– e*)</a:t>
            </a:r>
            <a:endParaRPr lang="en-US" altLang="en-US" i="1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altLang="en-US" smtClean="0"/>
              <a:t>First order conditions: </a:t>
            </a:r>
          </a:p>
          <a:p>
            <a:pPr lvl="2" algn="ctr">
              <a:buFontTx/>
              <a:buNone/>
            </a:pP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+ </a:t>
            </a:r>
            <a:r>
              <a:rPr lang="el-GR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=0  </a:t>
            </a:r>
            <a:r>
              <a:rPr lang="en-US" altLang="en-US" smtClean="0">
                <a:cs typeface="Arial" charset="0"/>
              </a:rPr>
              <a:t>and</a:t>
            </a:r>
            <a:r>
              <a:rPr lang="en-US" altLang="en-US" smtClean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+ </a:t>
            </a:r>
            <a:r>
              <a:rPr lang="el-GR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=0 </a:t>
            </a:r>
          </a:p>
          <a:p>
            <a:pPr lvl="2"/>
            <a:r>
              <a:rPr lang="en-US" altLang="en-US" smtClean="0">
                <a:cs typeface="Arial" charset="0"/>
              </a:rPr>
              <a:t>We have: </a:t>
            </a:r>
            <a:r>
              <a:rPr lang="el-GR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-p/f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-p/f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lvl="3"/>
            <a:r>
              <a:rPr lang="en-US" altLang="en-US" smtClean="0"/>
              <a:t>Cost-minimizing abatement is achieved when the marginal cost of abatement  is the same for each firm</a:t>
            </a:r>
          </a:p>
        </p:txBody>
      </p:sp>
    </p:spTree>
    <p:extLst>
      <p:ext uri="{BB962C8B-B14F-4D97-AF65-F5344CB8AC3E}">
        <p14:creationId xmlns:p14="http://schemas.microsoft.com/office/powerpoint/2010/main" val="1936474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Pollution Abatement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735E6DF-381D-4BF5-BD8F-8429021F8B56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sp>
        <p:nvSpPr>
          <p:cNvPr id="92163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Emission taxes</a:t>
            </a:r>
          </a:p>
          <a:p>
            <a:pPr lvl="1"/>
            <a:r>
              <a:rPr lang="en-US" altLang="en-US" smtClean="0"/>
              <a:t>The optimal solution </a:t>
            </a:r>
            <a:r>
              <a:rPr lang="el-GR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-p/f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-p/f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mtClean="0"/>
              <a:t> can be achieved </a:t>
            </a:r>
          </a:p>
          <a:p>
            <a:pPr lvl="2"/>
            <a:r>
              <a:rPr lang="en-US" altLang="en-US" smtClean="0"/>
              <a:t>By imposing an emission tax (t) equal to </a:t>
            </a:r>
            <a:r>
              <a:rPr lang="el-GR" altLang="en-US" smtClean="0">
                <a:cs typeface="Arial" charset="0"/>
              </a:rPr>
              <a:t>λ</a:t>
            </a:r>
            <a:r>
              <a:rPr lang="en-US" altLang="en-US" smtClean="0"/>
              <a:t> on each firm</a:t>
            </a:r>
          </a:p>
          <a:p>
            <a:pPr lvl="1"/>
            <a:r>
              <a:rPr lang="en-US" altLang="en-US" smtClean="0"/>
              <a:t>Each firm seeks to minimize: 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pz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tf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,z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1"/>
            <a:r>
              <a:rPr lang="en-US" altLang="en-US" smtClean="0"/>
              <a:t>Efficient solution: 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 = -p/f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-p/f</a:t>
            </a:r>
            <a:r>
              <a:rPr lang="en-US" altLang="en-US" i="1" baseline="-25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4749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Pollution Abatement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73C22F-0854-4AEF-8F41-932749596B2E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sp>
        <p:nvSpPr>
          <p:cNvPr id="93187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 smtClean="0"/>
              <a:t>Tradable permits</a:t>
            </a:r>
          </a:p>
          <a:p>
            <a:pPr lvl="1"/>
            <a:r>
              <a:rPr lang="en-US" altLang="en-US" dirty="0" smtClean="0"/>
              <a:t>Regulatory agency - set the number of permits (</a:t>
            </a:r>
            <a:r>
              <a:rPr lang="en-US" altLang="en-US" i="1" dirty="0" smtClean="0"/>
              <a:t>s*</a:t>
            </a:r>
            <a:r>
              <a:rPr lang="en-US" altLang="en-US" dirty="0" smtClean="0"/>
              <a:t>) equal to </a:t>
            </a:r>
            <a:r>
              <a:rPr lang="en-US" altLang="en-US" i="1" dirty="0" smtClean="0"/>
              <a:t>e*</a:t>
            </a:r>
          </a:p>
          <a:p>
            <a:pPr lvl="2"/>
            <a:r>
              <a:rPr lang="en-US" altLang="en-US" dirty="0" smtClean="0"/>
              <a:t>Allocate these permits among firms,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+s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s*</a:t>
            </a:r>
            <a:endParaRPr lang="en-US" alt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en-US" dirty="0" smtClean="0"/>
              <a:t>Each firm - buy or sell any number of permits desired</a:t>
            </a:r>
          </a:p>
          <a:p>
            <a:pPr lvl="2"/>
            <a:r>
              <a:rPr lang="en-US" altLang="en-US" dirty="0" smtClean="0"/>
              <a:t>Ensure: emissions = number of permits</a:t>
            </a:r>
          </a:p>
          <a:p>
            <a:pPr lvl="1"/>
            <a:r>
              <a:rPr lang="en-US" altLang="en-US" dirty="0" smtClean="0"/>
              <a:t>Market price of permits,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s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Each firm’s problem: minimize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pz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-s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1"/>
            <a:r>
              <a:rPr lang="en-US" altLang="en-US" dirty="0" smtClean="0"/>
              <a:t>Solution: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t = </a:t>
            </a:r>
            <a:r>
              <a:rPr lang="el-GR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464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p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ig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xamp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extens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13860</TotalTime>
  <Words>10265</Words>
  <Application>Microsoft Office PowerPoint</Application>
  <PresentationFormat>On-screen Show (4:3)</PresentationFormat>
  <Paragraphs>740</Paragraphs>
  <Slides>88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5" baseType="lpstr">
      <vt:lpstr>chapter</vt:lpstr>
      <vt:lpstr>main</vt:lpstr>
      <vt:lpstr>figure</vt:lpstr>
      <vt:lpstr>table</vt:lpstr>
      <vt:lpstr>example</vt:lpstr>
      <vt:lpstr>extensions</vt:lpstr>
      <vt:lpstr>MathType 6.0 Equation</vt:lpstr>
      <vt:lpstr>CHAPTER     Externalities and  19    Public Goods</vt:lpstr>
      <vt:lpstr>Defining Externalities</vt:lpstr>
      <vt:lpstr>Externalities in Production</vt:lpstr>
      <vt:lpstr>Beneficial Externalities</vt:lpstr>
      <vt:lpstr>Externalities in Consumption</vt:lpstr>
      <vt:lpstr>Externalities in Consumption</vt:lpstr>
      <vt:lpstr>Externalities from Public Goods </vt:lpstr>
      <vt:lpstr>Externalities and Allocative Inefficiency</vt:lpstr>
      <vt:lpstr>Externalities and Allocative Inefficiency</vt:lpstr>
      <vt:lpstr>Finding the Efficient Allocation</vt:lpstr>
      <vt:lpstr>Inefficiency of the Competitive Allocation</vt:lpstr>
      <vt:lpstr>Inefficiency of the Competitive Allocation</vt:lpstr>
      <vt:lpstr>19.1  Production Externalities</vt:lpstr>
      <vt:lpstr>19.1  Production Externalities</vt:lpstr>
      <vt:lpstr>19.1  Production Externalities</vt:lpstr>
      <vt:lpstr>19.1  Production Externalities</vt:lpstr>
      <vt:lpstr>19.1  Production Externalities</vt:lpstr>
      <vt:lpstr>19.1  Production Externalities</vt:lpstr>
      <vt:lpstr>19.1  Production Externalities</vt:lpstr>
      <vt:lpstr>Partial-Equilibrium Model of Externalities</vt:lpstr>
      <vt:lpstr>Partial-Equilibrium Model of Externalities</vt:lpstr>
      <vt:lpstr>19.1 (a)Partial-Equilibrium Model of Externalities</vt:lpstr>
      <vt:lpstr>Partial-Equilibrium Model of Externalities</vt:lpstr>
      <vt:lpstr>19.1 (b)Partial-Equilibrium Model of Externalities</vt:lpstr>
      <vt:lpstr>Solutions to Negative Externality Problems</vt:lpstr>
      <vt:lpstr>19.2  Pigovian Tax</vt:lpstr>
      <vt:lpstr>Pigovian Tax</vt:lpstr>
      <vt:lpstr>19.2  A Pigovian Tax on Newsprint</vt:lpstr>
      <vt:lpstr>Taxation in the General Equilibrium Model</vt:lpstr>
      <vt:lpstr>Taxation in the General Equilibrium Model</vt:lpstr>
      <vt:lpstr>Taxation in the General Equilibrium Model</vt:lpstr>
      <vt:lpstr>Pollution Rights</vt:lpstr>
      <vt:lpstr>Pollution Rights</vt:lpstr>
      <vt:lpstr>The Coase Theorem</vt:lpstr>
      <vt:lpstr>The Coase Theorem</vt:lpstr>
      <vt:lpstr>The Coase Theorem</vt:lpstr>
      <vt:lpstr>The Coase Theorem</vt:lpstr>
      <vt:lpstr>Attributes of Public Goods</vt:lpstr>
      <vt:lpstr>19.1 Examples showing the typology of public   and private goods</vt:lpstr>
      <vt:lpstr>Public Good</vt:lpstr>
      <vt:lpstr>Public Goods and Resource Allocation</vt:lpstr>
      <vt:lpstr>Public Goods and Resource Allocation</vt:lpstr>
      <vt:lpstr>Public Goods and Resource Allocation</vt:lpstr>
      <vt:lpstr>Failure of a Competitive Market</vt:lpstr>
      <vt:lpstr>Failure of a Competitive Market</vt:lpstr>
      <vt:lpstr>19.3  Derivation of the Demand for a Public Good</vt:lpstr>
      <vt:lpstr>Inefficiency of a Nash Equilibrium</vt:lpstr>
      <vt:lpstr>19.3  The Roommates Dilemma</vt:lpstr>
      <vt:lpstr>19.3  The Roommates Dilemma</vt:lpstr>
      <vt:lpstr>19.3  The Roommates Dilemma</vt:lpstr>
      <vt:lpstr>19.3  The Roommates Dilemma</vt:lpstr>
      <vt:lpstr>19.3  The Roommates Dilemma</vt:lpstr>
      <vt:lpstr>19.3  The Roommates Dilemma</vt:lpstr>
      <vt:lpstr>19.3  The Roommates Dilemma</vt:lpstr>
      <vt:lpstr>Lindahl Pricing of Public Goods</vt:lpstr>
      <vt:lpstr>Lindahl Pricing of Public Goods</vt:lpstr>
      <vt:lpstr>Lindahl Pricing of Public Goods</vt:lpstr>
      <vt:lpstr>19.4 Lindahl Solution for the Roommates</vt:lpstr>
      <vt:lpstr>Shortcomings of the Lindahl Solution</vt:lpstr>
      <vt:lpstr>19.5  The Relationship between Environmental  Externalities and Public Goods Production</vt:lpstr>
      <vt:lpstr>19.5  The Relationship between Environmental  Externalities and Public Goods Production</vt:lpstr>
      <vt:lpstr>19.5  The Relationship between Environmental  Externalities and Public Goods Production</vt:lpstr>
      <vt:lpstr>19.5  The Relationship between Environmental  Externalities and Public Goods Production</vt:lpstr>
      <vt:lpstr>Voting and Resource Allocation</vt:lpstr>
      <vt:lpstr>Majority Rule</vt:lpstr>
      <vt:lpstr>The Paradox of Voting</vt:lpstr>
      <vt:lpstr>19.2 Preferences that produce the paradox of  voting</vt:lpstr>
      <vt:lpstr>The Paradox of Voting</vt:lpstr>
      <vt:lpstr>Single-Peaked Preferences </vt:lpstr>
      <vt:lpstr>19.3 Single-Peaked Preferences and the Median  Voter Theorem</vt:lpstr>
      <vt:lpstr>The Median Voter Theorem</vt:lpstr>
      <vt:lpstr>The Median Voter</vt:lpstr>
      <vt:lpstr>A Simple Political Model</vt:lpstr>
      <vt:lpstr>A Simple Political Model</vt:lpstr>
      <vt:lpstr>A Simple Political Model</vt:lpstr>
      <vt:lpstr>A Simple Political Model</vt:lpstr>
      <vt:lpstr>A Simple Political Model</vt:lpstr>
      <vt:lpstr>19.6  Voting for Redistributive Taxation</vt:lpstr>
      <vt:lpstr>19.6  Voting for Redistributive Taxation</vt:lpstr>
      <vt:lpstr>19.6  Voting for Redistributive Taxation</vt:lpstr>
      <vt:lpstr>The Groves Mechanism</vt:lpstr>
      <vt:lpstr>The Groves Mechanism</vt:lpstr>
      <vt:lpstr>The Clarke Mechanism</vt:lpstr>
      <vt:lpstr>The Clarke Mechanism</vt:lpstr>
      <vt:lpstr>Pollution Abatement</vt:lpstr>
      <vt:lpstr>Pollution Abatement</vt:lpstr>
      <vt:lpstr>Pollution Abatement</vt:lpstr>
      <vt:lpstr>Pollution Abatement</vt:lpstr>
    </vt:vector>
  </TitlesOfParts>
  <Company>Eastern Illinois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Andreea Chiritescu</dc:creator>
  <cp:lastModifiedBy>Andreea Chiritescu</cp:lastModifiedBy>
  <cp:revision>889</cp:revision>
  <dcterms:created xsi:type="dcterms:W3CDTF">2016-06-05T19:40:39Z</dcterms:created>
  <dcterms:modified xsi:type="dcterms:W3CDTF">2016-06-24T16:57:32Z</dcterms:modified>
</cp:coreProperties>
</file>