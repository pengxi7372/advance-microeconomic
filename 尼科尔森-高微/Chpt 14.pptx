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slideLayouts/slideLayout4.xml" ContentType="application/vnd.openxmlformats-officedocument.presentationml.slideLayout+xml"/>
  <Override PartName="/ppt/theme/theme3.xml" ContentType="application/vnd.openxmlformats-officedocument.theme+xml"/>
  <Override PartName="/ppt/slideLayouts/slideLayout5.xml" ContentType="application/vnd.openxmlformats-officedocument.presentationml.slideLayout+xml"/>
  <Override PartName="/ppt/theme/theme4.xml" ContentType="application/vnd.openxmlformats-officedocument.theme+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5.xml" ContentType="application/vnd.openxmlformats-officedocument.them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64" r:id="rId3"/>
    <p:sldMasterId id="2147483677" r:id="rId4"/>
    <p:sldMasterId id="2147483669" r:id="rId5"/>
    <p:sldMasterId id="2147483672" r:id="rId6"/>
  </p:sldMasterIdLst>
  <p:notesMasterIdLst>
    <p:notesMasterId r:id="rId71"/>
  </p:notesMasterIdLst>
  <p:handoutMasterIdLst>
    <p:handoutMasterId r:id="rId72"/>
  </p:handoutMasterIdLst>
  <p:sldIdLst>
    <p:sldId id="258" r:id="rId7"/>
    <p:sldId id="277" r:id="rId8"/>
    <p:sldId id="278" r:id="rId9"/>
    <p:sldId id="279" r:id="rId10"/>
    <p:sldId id="280" r:id="rId11"/>
    <p:sldId id="281" r:id="rId12"/>
    <p:sldId id="282" r:id="rId13"/>
    <p:sldId id="334" r:id="rId14"/>
    <p:sldId id="283" r:id="rId15"/>
    <p:sldId id="284" r:id="rId16"/>
    <p:sldId id="285" r:id="rId17"/>
    <p:sldId id="286" r:id="rId18"/>
    <p:sldId id="287" r:id="rId19"/>
    <p:sldId id="288" r:id="rId20"/>
    <p:sldId id="289" r:id="rId21"/>
    <p:sldId id="290" r:id="rId22"/>
    <p:sldId id="291" r:id="rId23"/>
    <p:sldId id="292" r:id="rId24"/>
    <p:sldId id="293" r:id="rId25"/>
    <p:sldId id="294" r:id="rId26"/>
    <p:sldId id="295" r:id="rId27"/>
    <p:sldId id="296" r:id="rId28"/>
    <p:sldId id="297" r:id="rId29"/>
    <p:sldId id="298" r:id="rId30"/>
    <p:sldId id="299" r:id="rId31"/>
    <p:sldId id="335" r:id="rId32"/>
    <p:sldId id="336" r:id="rId33"/>
    <p:sldId id="300" r:id="rId34"/>
    <p:sldId id="301" r:id="rId35"/>
    <p:sldId id="302" r:id="rId36"/>
    <p:sldId id="303" r:id="rId37"/>
    <p:sldId id="304" r:id="rId38"/>
    <p:sldId id="306" r:id="rId39"/>
    <p:sldId id="307" r:id="rId40"/>
    <p:sldId id="308" r:id="rId41"/>
    <p:sldId id="309" r:id="rId42"/>
    <p:sldId id="310" r:id="rId43"/>
    <p:sldId id="311" r:id="rId44"/>
    <p:sldId id="337" r:id="rId45"/>
    <p:sldId id="312" r:id="rId46"/>
    <p:sldId id="313" r:id="rId47"/>
    <p:sldId id="338" r:id="rId48"/>
    <p:sldId id="314" r:id="rId49"/>
    <p:sldId id="315" r:id="rId50"/>
    <p:sldId id="316" r:id="rId51"/>
    <p:sldId id="317" r:id="rId52"/>
    <p:sldId id="318" r:id="rId53"/>
    <p:sldId id="319" r:id="rId54"/>
    <p:sldId id="320" r:id="rId55"/>
    <p:sldId id="340" r:id="rId56"/>
    <p:sldId id="321" r:id="rId57"/>
    <p:sldId id="322" r:id="rId58"/>
    <p:sldId id="323" r:id="rId59"/>
    <p:sldId id="341" r:id="rId60"/>
    <p:sldId id="324" r:id="rId61"/>
    <p:sldId id="325" r:id="rId62"/>
    <p:sldId id="326" r:id="rId63"/>
    <p:sldId id="327" r:id="rId64"/>
    <p:sldId id="328" r:id="rId65"/>
    <p:sldId id="329" r:id="rId66"/>
    <p:sldId id="330" r:id="rId67"/>
    <p:sldId id="331" r:id="rId68"/>
    <p:sldId id="332" r:id="rId69"/>
    <p:sldId id="333" r:id="rId7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600"/>
    <a:srgbClr val="002D5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4" autoAdjust="0"/>
    <p:restoredTop sz="98883" autoAdjust="0"/>
  </p:normalViewPr>
  <p:slideViewPr>
    <p:cSldViewPr>
      <p:cViewPr>
        <p:scale>
          <a:sx n="70" d="100"/>
          <a:sy n="70" d="100"/>
        </p:scale>
        <p:origin x="-828" y="-84"/>
      </p:cViewPr>
      <p:guideLst>
        <p:guide orient="horz" pos="2160"/>
        <p:guide pos="2880"/>
      </p:guideLst>
    </p:cSldViewPr>
  </p:slideViewPr>
  <p:outlineViewPr>
    <p:cViewPr>
      <p:scale>
        <a:sx n="33" d="100"/>
        <a:sy n="33" d="100"/>
      </p:scale>
      <p:origin x="0" y="23490"/>
    </p:cViewPr>
  </p:outlineViewPr>
  <p:notesTextViewPr>
    <p:cViewPr>
      <p:scale>
        <a:sx n="1" d="1"/>
        <a:sy n="1" d="1"/>
      </p:scale>
      <p:origin x="0" y="0"/>
    </p:cViewPr>
  </p:notesTextViewPr>
  <p:sorterViewPr>
    <p:cViewPr>
      <p:scale>
        <a:sx n="100" d="100"/>
        <a:sy n="100" d="100"/>
      </p:scale>
      <p:origin x="0" y="0"/>
    </p:cViewPr>
  </p:sorterViewPr>
  <p:notesViewPr>
    <p:cSldViewPr>
      <p:cViewPr varScale="1">
        <p:scale>
          <a:sx n="53" d="100"/>
          <a:sy n="53" d="100"/>
        </p:scale>
        <p:origin x="-2952"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slide" Target="slides/slide41.xml"/><Relationship Id="rId50" Type="http://schemas.openxmlformats.org/officeDocument/2006/relationships/slide" Target="slides/slide44.xml"/><Relationship Id="rId55" Type="http://schemas.openxmlformats.org/officeDocument/2006/relationships/slide" Target="slides/slide49.xml"/><Relationship Id="rId63" Type="http://schemas.openxmlformats.org/officeDocument/2006/relationships/slide" Target="slides/slide57.xml"/><Relationship Id="rId68" Type="http://schemas.openxmlformats.org/officeDocument/2006/relationships/slide" Target="slides/slide62.xml"/><Relationship Id="rId76" Type="http://schemas.openxmlformats.org/officeDocument/2006/relationships/tableStyles" Target="tableStyles.xml"/><Relationship Id="rId7" Type="http://schemas.openxmlformats.org/officeDocument/2006/relationships/slide" Target="slides/slide1.xml"/><Relationship Id="rId71"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slide" Target="slides/slide47.xml"/><Relationship Id="rId58" Type="http://schemas.openxmlformats.org/officeDocument/2006/relationships/slide" Target="slides/slide52.xml"/><Relationship Id="rId66" Type="http://schemas.openxmlformats.org/officeDocument/2006/relationships/slide" Target="slides/slide60.xml"/><Relationship Id="rId74" Type="http://schemas.openxmlformats.org/officeDocument/2006/relationships/viewProps" Target="viewProps.xml"/><Relationship Id="rId5" Type="http://schemas.openxmlformats.org/officeDocument/2006/relationships/slideMaster" Target="slideMasters/slideMaster5.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slide" Target="slides/slide51.xml"/><Relationship Id="rId61" Type="http://schemas.openxmlformats.org/officeDocument/2006/relationships/slide" Target="slides/slide55.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slide" Target="slides/slide54.xml"/><Relationship Id="rId65" Type="http://schemas.openxmlformats.org/officeDocument/2006/relationships/slide" Target="slides/slide59.xml"/><Relationship Id="rId73"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slide" Target="slides/slide50.xml"/><Relationship Id="rId64" Type="http://schemas.openxmlformats.org/officeDocument/2006/relationships/slide" Target="slides/slide58.xml"/><Relationship Id="rId69" Type="http://schemas.openxmlformats.org/officeDocument/2006/relationships/slide" Target="slides/slide63.xml"/><Relationship Id="rId8" Type="http://schemas.openxmlformats.org/officeDocument/2006/relationships/slide" Target="slides/slide2.xml"/><Relationship Id="rId51" Type="http://schemas.openxmlformats.org/officeDocument/2006/relationships/slide" Target="slides/slide45.xml"/><Relationship Id="rId72" Type="http://schemas.openxmlformats.org/officeDocument/2006/relationships/handoutMaster" Target="handoutMasters/handoutMaster1.xml"/><Relationship Id="rId3" Type="http://schemas.openxmlformats.org/officeDocument/2006/relationships/slideMaster" Target="slideMasters/slideMaster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slide" Target="slides/slide53.xml"/><Relationship Id="rId67" Type="http://schemas.openxmlformats.org/officeDocument/2006/relationships/slide" Target="slides/slide61.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slide" Target="slides/slide48.xml"/><Relationship Id="rId62" Type="http://schemas.openxmlformats.org/officeDocument/2006/relationships/slide" Target="slides/slide56.xml"/><Relationship Id="rId70" Type="http://schemas.openxmlformats.org/officeDocument/2006/relationships/slide" Target="slides/slide64.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Master" Target="slideMasters/slideMaster6.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14.emf"/><Relationship Id="rId1" Type="http://schemas.openxmlformats.org/officeDocument/2006/relationships/image" Target="../media/image13.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image" Target="../media/image17.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9.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0.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22.wmf"/><Relationship Id="rId1" Type="http://schemas.openxmlformats.org/officeDocument/2006/relationships/image" Target="../media/image21.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3.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5.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6.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7.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8.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D4C3143B-620F-4987-B4C6-8DA41D14F534}" type="datetimeFigureOut">
              <a:rPr lang="en-US" smtClean="0"/>
              <a:t>6/21/2016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FC9E537F-0D91-4DE0-B9F5-55E2B2118790}" type="slidenum">
              <a:rPr lang="en-US" smtClean="0"/>
              <a:t>‹#›</a:t>
            </a:fld>
            <a:endParaRPr lang="en-US"/>
          </a:p>
        </p:txBody>
      </p:sp>
    </p:spTree>
    <p:extLst>
      <p:ext uri="{BB962C8B-B14F-4D97-AF65-F5344CB8AC3E}">
        <p14:creationId xmlns:p14="http://schemas.microsoft.com/office/powerpoint/2010/main" val="67559226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8B7A522-1067-4090-8338-D2D3A24AAAF6}" type="datetimeFigureOut">
              <a:rPr lang="en-US" smtClean="0"/>
              <a:t>6/21/2016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F19A4D4-42B8-482F-A3F9-BD6E0B3BC1CB}" type="slidenum">
              <a:rPr lang="en-US" smtClean="0"/>
              <a:t>‹#›</a:t>
            </a:fld>
            <a:endParaRPr lang="en-US"/>
          </a:p>
        </p:txBody>
      </p:sp>
    </p:spTree>
    <p:extLst>
      <p:ext uri="{BB962C8B-B14F-4D97-AF65-F5344CB8AC3E}">
        <p14:creationId xmlns:p14="http://schemas.microsoft.com/office/powerpoint/2010/main" val="19818132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F19A4D4-42B8-482F-A3F9-BD6E0B3BC1CB}" type="slidenum">
              <a:rPr lang="en-US" smtClean="0"/>
              <a:t>1</a:t>
            </a:fld>
            <a:endParaRPr lang="en-US"/>
          </a:p>
        </p:txBody>
      </p:sp>
    </p:spTree>
    <p:extLst>
      <p:ext uri="{BB962C8B-B14F-4D97-AF65-F5344CB8AC3E}">
        <p14:creationId xmlns:p14="http://schemas.microsoft.com/office/powerpoint/2010/main" val="308500184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0" y="2971800"/>
            <a:ext cx="9144000" cy="1676400"/>
          </a:xfrm>
          <a:prstGeom prst="rect">
            <a:avLst/>
          </a:prstGeom>
          <a:noFill/>
        </p:spPr>
        <p:txBody>
          <a:bodyPr/>
          <a:lstStyle>
            <a:lvl1pPr marL="91440">
              <a:lnSpc>
                <a:spcPct val="100000"/>
              </a:lnSpc>
              <a:spcBef>
                <a:spcPts val="600"/>
              </a:spcBef>
              <a:defRPr sz="5400" b="0">
                <a:solidFill>
                  <a:srgbClr val="002D56"/>
                </a:solidFill>
              </a:defRPr>
            </a:lvl1pPr>
          </a:lstStyle>
          <a:p>
            <a:r>
              <a:rPr lang="en-US" dirty="0" smtClean="0"/>
              <a:t>CLICK TO EDIT				Master title style</a:t>
            </a:r>
            <a:endParaRPr lang="en-US" dirty="0"/>
          </a:p>
        </p:txBody>
      </p:sp>
      <p:sp>
        <p:nvSpPr>
          <p:cNvPr id="8" name="Title Placeholder 1"/>
          <p:cNvSpPr txBox="1">
            <a:spLocks/>
          </p:cNvSpPr>
          <p:nvPr userDrawn="1"/>
        </p:nvSpPr>
        <p:spPr>
          <a:xfrm>
            <a:off x="-76200" y="0"/>
            <a:ext cx="9220200" cy="609600"/>
          </a:xfrm>
          <a:prstGeom prst="rect">
            <a:avLst/>
          </a:prstGeom>
          <a:blipFill>
            <a:blip r:embed="rId2"/>
            <a:stretch>
              <a:fillRect/>
            </a:stretch>
          </a:blipFill>
        </p:spPr>
        <p:txBody>
          <a:bodyPr vert="horz" lIns="0" tIns="182880" rIns="0" bIns="45720" rtlCol="0" anchor="ctr">
            <a:noAutofit/>
          </a:bodyPr>
          <a:lstStyle>
            <a:lvl1pPr algn="ctr" defTabSz="914400" rtl="0" eaLnBrk="1" latinLnBrk="0" hangingPunct="1">
              <a:lnSpc>
                <a:spcPct val="200000"/>
              </a:lnSpc>
              <a:spcBef>
                <a:spcPct val="0"/>
              </a:spcBef>
              <a:buNone/>
              <a:defRPr sz="4400" b="0" kern="1200" baseline="30000">
                <a:solidFill>
                  <a:schemeClr val="bg1"/>
                </a:solidFill>
                <a:latin typeface="+mj-lt"/>
                <a:ea typeface="+mj-ea"/>
                <a:cs typeface="+mj-cs"/>
              </a:defRPr>
            </a:lvl1pPr>
          </a:lstStyle>
          <a:p>
            <a:r>
              <a:rPr lang="en-US" dirty="0" smtClean="0"/>
              <a:t>Walter Nicholson | Christopher Snyder	 12th edition</a:t>
            </a:r>
            <a:endParaRPr lang="en-US" dirty="0"/>
          </a:p>
        </p:txBody>
      </p:sp>
      <p:sp>
        <p:nvSpPr>
          <p:cNvPr id="9" name="Footer Placeholder 8"/>
          <p:cNvSpPr>
            <a:spLocks noGrp="1"/>
          </p:cNvSpPr>
          <p:nvPr>
            <p:ph type="ftr" sz="quarter" idx="10"/>
          </p:nvPr>
        </p:nvSpPr>
        <p:spPr/>
        <p:txBody>
          <a:body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10" name="Slide Number Placeholder 9"/>
          <p:cNvSpPr>
            <a:spLocks noGrp="1"/>
          </p:cNvSpPr>
          <p:nvPr>
            <p:ph type="sldNum" sz="quarter" idx="11"/>
          </p:nvPr>
        </p:nvSpPr>
        <p:spPr/>
        <p:txBody>
          <a:bodyPr/>
          <a:lstStyle/>
          <a:p>
            <a:fld id="{DF079196-2514-49FB-B48C-98AEBE754E63}" type="slidenum">
              <a:rPr lang="en-US" smtClean="0"/>
              <a:t>‹#›</a:t>
            </a:fld>
            <a:endParaRPr lang="en-US"/>
          </a:p>
        </p:txBody>
      </p:sp>
    </p:spTree>
    <p:extLst>
      <p:ext uri="{BB962C8B-B14F-4D97-AF65-F5344CB8AC3E}">
        <p14:creationId xmlns:p14="http://schemas.microsoft.com/office/powerpoint/2010/main" val="38421878"/>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04800" y="0"/>
            <a:ext cx="8610600" cy="1143000"/>
          </a:xfrm>
        </p:spPr>
        <p:txBody>
          <a:bodyPr/>
          <a:lstStyle>
            <a:lvl1pPr>
              <a:defRPr>
                <a:solidFill>
                  <a:srgbClr val="002D56"/>
                </a:solidFill>
              </a:defRPr>
            </a:lvl1pPr>
          </a:lstStyle>
          <a:p>
            <a:r>
              <a:rPr lang="en-US" dirty="0" smtClean="0"/>
              <a:t>Click to edit Master title style</a:t>
            </a:r>
            <a:endParaRPr lang="en-US" dirty="0"/>
          </a:p>
        </p:txBody>
      </p:sp>
      <p:sp>
        <p:nvSpPr>
          <p:cNvPr id="3" name="Content Placeholder 2"/>
          <p:cNvSpPr>
            <a:spLocks noGrp="1"/>
          </p:cNvSpPr>
          <p:nvPr>
            <p:ph idx="1"/>
          </p:nvPr>
        </p:nvSpPr>
        <p:spPr>
          <a:xfrm>
            <a:off x="381000" y="1219200"/>
            <a:ext cx="8534400" cy="5181600"/>
          </a:xfrm>
        </p:spPr>
        <p:txBody>
          <a:bodyPr>
            <a:noAutofit/>
          </a:bodyPr>
          <a:lstStyle>
            <a:lvl1pPr>
              <a:defRPr>
                <a:solidFill>
                  <a:srgbClr val="C00000"/>
                </a:solidFill>
              </a:defRPr>
            </a:lvl1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Footer Placeholder 6"/>
          <p:cNvSpPr>
            <a:spLocks noGrp="1"/>
          </p:cNvSpPr>
          <p:nvPr>
            <p:ph type="ftr" sz="quarter" idx="10"/>
          </p:nvPr>
        </p:nvSpPr>
        <p:spPr/>
        <p:txBody>
          <a:body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8" name="Slide Number Placeholder 7"/>
          <p:cNvSpPr>
            <a:spLocks noGrp="1"/>
          </p:cNvSpPr>
          <p:nvPr>
            <p:ph type="sldNum" sz="quarter" idx="11"/>
          </p:nvPr>
        </p:nvSpPr>
        <p:spPr/>
        <p:txBody>
          <a:bodyPr/>
          <a:lstStyle/>
          <a:p>
            <a:fld id="{720B335A-255B-4303-A333-FBB711D61B6F}" type="slidenum">
              <a:rPr lang="en-US" smtClean="0"/>
              <a:t>‹#›</a:t>
            </a:fld>
            <a:endParaRPr lang="en-US"/>
          </a:p>
        </p:txBody>
      </p:sp>
    </p:spTree>
    <p:extLst>
      <p:ext uri="{BB962C8B-B14F-4D97-AF65-F5344CB8AC3E}">
        <p14:creationId xmlns:p14="http://schemas.microsoft.com/office/powerpoint/2010/main" val="3338480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04800" y="0"/>
            <a:ext cx="8610600" cy="1143000"/>
          </a:xfrm>
        </p:spPr>
        <p:txBody>
          <a:bodyPr/>
          <a:lstStyle>
            <a:lvl1pPr>
              <a:defRPr>
                <a:solidFill>
                  <a:srgbClr val="002D56"/>
                </a:solidFill>
              </a:defRPr>
            </a:lvl1pPr>
          </a:lstStyle>
          <a:p>
            <a:r>
              <a:rPr lang="en-US" dirty="0" smtClean="0"/>
              <a:t>Click to edit Master title style</a:t>
            </a:r>
            <a:endParaRPr lang="en-US" dirty="0"/>
          </a:p>
        </p:txBody>
      </p:sp>
      <p:sp>
        <p:nvSpPr>
          <p:cNvPr id="3" name="Content Placeholder 2"/>
          <p:cNvSpPr>
            <a:spLocks noGrp="1"/>
          </p:cNvSpPr>
          <p:nvPr>
            <p:ph idx="1"/>
          </p:nvPr>
        </p:nvSpPr>
        <p:spPr>
          <a:xfrm>
            <a:off x="381000" y="1219200"/>
            <a:ext cx="8534400" cy="2819400"/>
          </a:xfrm>
        </p:spPr>
        <p:txBody>
          <a:bodyPr>
            <a:noAutofit/>
          </a:bodyPr>
          <a:lstStyle>
            <a:lvl1pPr>
              <a:defRPr>
                <a:solidFill>
                  <a:srgbClr val="C00000"/>
                </a:solidFill>
              </a:defRPr>
            </a:lvl1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Footer Placeholder 6"/>
          <p:cNvSpPr>
            <a:spLocks noGrp="1"/>
          </p:cNvSpPr>
          <p:nvPr>
            <p:ph type="ftr" sz="quarter" idx="10"/>
          </p:nvPr>
        </p:nvSpPr>
        <p:spPr/>
        <p:txBody>
          <a:body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8" name="Slide Number Placeholder 7"/>
          <p:cNvSpPr>
            <a:spLocks noGrp="1"/>
          </p:cNvSpPr>
          <p:nvPr>
            <p:ph type="sldNum" sz="quarter" idx="11"/>
          </p:nvPr>
        </p:nvSpPr>
        <p:spPr/>
        <p:txBody>
          <a:bodyPr/>
          <a:lstStyle/>
          <a:p>
            <a:fld id="{720B335A-255B-4303-A333-FBB711D61B6F}" type="slidenum">
              <a:rPr lang="en-US" smtClean="0"/>
              <a:t>‹#›</a:t>
            </a:fld>
            <a:endParaRPr lang="en-US"/>
          </a:p>
        </p:txBody>
      </p:sp>
      <p:sp>
        <p:nvSpPr>
          <p:cNvPr id="5" name="Text Placeholder 4"/>
          <p:cNvSpPr>
            <a:spLocks noGrp="1"/>
          </p:cNvSpPr>
          <p:nvPr>
            <p:ph type="body" sz="quarter" idx="12"/>
          </p:nvPr>
        </p:nvSpPr>
        <p:spPr>
          <a:xfrm>
            <a:off x="381000" y="4114800"/>
            <a:ext cx="8534400" cy="2133600"/>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5904859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left)">
                                      <p:cBhvr>
                                        <p:cTn id="15" dur="500"/>
                                        <p:tgtEl>
                                          <p:spTgt spid="3">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wipe(left)">
                                      <p:cBhvr>
                                        <p:cTn id="19" dur="500"/>
                                        <p:tgtEl>
                                          <p:spTgt spid="3">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left)">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500"/>
                        <p:tgtEl>
                          <p:spTgt spid="3"/>
                        </p:tgtEl>
                      </p:cBhvr>
                    </p:animEffect>
                  </p:childTnLst>
                </p:cTn>
              </p:par>
            </p:tnLst>
          </p:tmpl>
        </p:tmplLst>
      </p:bldP>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sz="half" idx="1"/>
          </p:nvPr>
        </p:nvSpPr>
        <p:spPr>
          <a:xfrm>
            <a:off x="457200" y="1600200"/>
            <a:ext cx="2971800" cy="4525963"/>
          </a:xfrm>
          <a:prstGeom prst="rect">
            <a:avLst/>
          </a:prstGeom>
        </p:spPr>
        <p:txBody>
          <a:bodyPr/>
          <a:lstStyle>
            <a:lvl1pPr marL="0" indent="0">
              <a:buNone/>
              <a:defRPr sz="1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smtClean="0"/>
              <a:t>Click to edit Master text styles</a:t>
            </a:r>
            <a:endParaRPr lang="en-US" dirty="0"/>
          </a:p>
        </p:txBody>
      </p:sp>
      <p:sp>
        <p:nvSpPr>
          <p:cNvPr id="8" name="Footer Placeholder 7"/>
          <p:cNvSpPr>
            <a:spLocks noGrp="1"/>
          </p:cNvSpPr>
          <p:nvPr>
            <p:ph type="ftr" sz="quarter" idx="10"/>
          </p:nvPr>
        </p:nvSpPr>
        <p:spPr/>
        <p:txBody>
          <a:body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9" name="Slide Number Placeholder 8"/>
          <p:cNvSpPr>
            <a:spLocks noGrp="1"/>
          </p:cNvSpPr>
          <p:nvPr>
            <p:ph type="sldNum" sz="quarter" idx="11"/>
          </p:nvPr>
        </p:nvSpPr>
        <p:spPr/>
        <p:txBody>
          <a:bodyPr/>
          <a:lstStyle/>
          <a:p>
            <a:fld id="{F2BCF9F2-1022-4C47-AC3A-FA21E418CE18}" type="slidenum">
              <a:rPr lang="en-US" smtClean="0"/>
              <a:t>‹#›</a:t>
            </a:fld>
            <a:endParaRPr lang="en-US" dirty="0"/>
          </a:p>
        </p:txBody>
      </p:sp>
    </p:spTree>
    <p:extLst>
      <p:ext uri="{BB962C8B-B14F-4D97-AF65-F5344CB8AC3E}">
        <p14:creationId xmlns:p14="http://schemas.microsoft.com/office/powerpoint/2010/main" val="1343820344"/>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sz="half" idx="1"/>
          </p:nvPr>
        </p:nvSpPr>
        <p:spPr>
          <a:xfrm>
            <a:off x="457200" y="1600200"/>
            <a:ext cx="2971800" cy="4525963"/>
          </a:xfrm>
          <a:prstGeom prst="rect">
            <a:avLst/>
          </a:prstGeom>
        </p:spPr>
        <p:txBody>
          <a:bodyPr/>
          <a:lstStyle>
            <a:lvl1pPr marL="0" indent="0">
              <a:buNone/>
              <a:defRPr sz="1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smtClean="0"/>
              <a:t>Click to edit Master text styles</a:t>
            </a:r>
            <a:endParaRPr lang="en-US" dirty="0"/>
          </a:p>
        </p:txBody>
      </p:sp>
      <p:sp>
        <p:nvSpPr>
          <p:cNvPr id="8" name="Footer Placeholder 7"/>
          <p:cNvSpPr>
            <a:spLocks noGrp="1"/>
          </p:cNvSpPr>
          <p:nvPr>
            <p:ph type="ftr" sz="quarter" idx="10"/>
          </p:nvPr>
        </p:nvSpPr>
        <p:spPr/>
        <p:txBody>
          <a:body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9" name="Slide Number Placeholder 8"/>
          <p:cNvSpPr>
            <a:spLocks noGrp="1"/>
          </p:cNvSpPr>
          <p:nvPr>
            <p:ph type="sldNum" sz="quarter" idx="11"/>
          </p:nvPr>
        </p:nvSpPr>
        <p:spPr/>
        <p:txBody>
          <a:bodyPr/>
          <a:lstStyle/>
          <a:p>
            <a:fld id="{F2BCF9F2-1022-4C47-AC3A-FA21E418CE18}" type="slidenum">
              <a:rPr lang="en-US" smtClean="0"/>
              <a:t>‹#›</a:t>
            </a:fld>
            <a:endParaRPr lang="en-US" dirty="0"/>
          </a:p>
        </p:txBody>
      </p:sp>
    </p:spTree>
    <p:extLst>
      <p:ext uri="{BB962C8B-B14F-4D97-AF65-F5344CB8AC3E}">
        <p14:creationId xmlns:p14="http://schemas.microsoft.com/office/powerpoint/2010/main" val="1615134138"/>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Footer Placeholder 2"/>
          <p:cNvSpPr>
            <a:spLocks noGrp="1"/>
          </p:cNvSpPr>
          <p:nvPr>
            <p:ph type="ftr" sz="quarter" idx="10"/>
          </p:nvPr>
        </p:nvSpPr>
        <p:spPr/>
        <p:txBody>
          <a:bodyPr/>
          <a:lstStyle/>
          <a:p>
            <a:r>
              <a:rPr lang="en-US" dirty="0"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4" name="Slide Number Placeholder 3"/>
          <p:cNvSpPr>
            <a:spLocks noGrp="1"/>
          </p:cNvSpPr>
          <p:nvPr>
            <p:ph type="sldNum" sz="quarter" idx="11"/>
          </p:nvPr>
        </p:nvSpPr>
        <p:spPr/>
        <p:txBody>
          <a:bodyPr/>
          <a:lstStyle/>
          <a:p>
            <a:fld id="{F2BCF9F2-1022-4C47-AC3A-FA21E418CE18}" type="slidenum">
              <a:rPr lang="en-US" smtClean="0"/>
              <a:t>‹#›</a:t>
            </a:fld>
            <a:endParaRPr lang="en-US" dirty="0"/>
          </a:p>
        </p:txBody>
      </p:sp>
      <p:sp>
        <p:nvSpPr>
          <p:cNvPr id="6" name="Text Placeholder 5"/>
          <p:cNvSpPr>
            <a:spLocks noGrp="1"/>
          </p:cNvSpPr>
          <p:nvPr>
            <p:ph type="body" sz="quarter" idx="12"/>
          </p:nvPr>
        </p:nvSpPr>
        <p:spPr>
          <a:xfrm>
            <a:off x="381000" y="533400"/>
            <a:ext cx="8382000" cy="5867400"/>
          </a:xfrm>
          <a:prstGeom prst="rect">
            <a:avLst/>
          </a:prstGeom>
        </p:spPr>
        <p:txBody>
          <a:bodyPr>
            <a:noAutofit/>
          </a:bodyPr>
          <a:lstStyle>
            <a:lvl1pPr>
              <a:defRPr>
                <a:solidFill>
                  <a:srgbClr val="002060"/>
                </a:solidFill>
              </a:defRPr>
            </a:lvl1pPr>
            <a:lvl3pPr>
              <a:defRPr sz="2800"/>
            </a:lvl3pPr>
            <a:lvl4pPr>
              <a:defRPr sz="2800"/>
            </a:lvl4pPr>
            <a:lvl5pPr>
              <a:defRPr sz="28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995695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left)">
                                      <p:cBhvr>
                                        <p:cTn id="7" dur="500"/>
                                        <p:tgtEl>
                                          <p:spTgt spid="6">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animEffect transition="in" filter="wipe(left)">
                                      <p:cBhvr>
                                        <p:cTn id="11" dur="500"/>
                                        <p:tgtEl>
                                          <p:spTgt spid="6">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animEffect transition="in" filter="wipe(left)">
                                      <p:cBhvr>
                                        <p:cTn id="15" dur="500"/>
                                        <p:tgtEl>
                                          <p:spTgt spid="6">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animEffect transition="in" filter="wipe(left)">
                                      <p:cBhvr>
                                        <p:cTn id="19" dur="500"/>
                                        <p:tgtEl>
                                          <p:spTgt spid="6">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animEffect transition="in" filter="wipe(left)">
                                      <p:cBhvr>
                                        <p:cTn id="23"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Lst>
      </p:bldP>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Footer Placeholder 2"/>
          <p:cNvSpPr>
            <a:spLocks noGrp="1"/>
          </p:cNvSpPr>
          <p:nvPr>
            <p:ph type="ftr" sz="quarter" idx="10"/>
          </p:nvPr>
        </p:nvSpPr>
        <p:spPr/>
        <p:txBody>
          <a:bodyPr/>
          <a:lstStyle/>
          <a:p>
            <a:r>
              <a:rPr lang="en-US" dirty="0"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4" name="Slide Number Placeholder 3"/>
          <p:cNvSpPr>
            <a:spLocks noGrp="1"/>
          </p:cNvSpPr>
          <p:nvPr>
            <p:ph type="sldNum" sz="quarter" idx="11"/>
          </p:nvPr>
        </p:nvSpPr>
        <p:spPr/>
        <p:txBody>
          <a:bodyPr/>
          <a:lstStyle/>
          <a:p>
            <a:fld id="{F2BCF9F2-1022-4C47-AC3A-FA21E418CE18}" type="slidenum">
              <a:rPr lang="en-US" smtClean="0"/>
              <a:t>‹#›</a:t>
            </a:fld>
            <a:endParaRPr lang="en-US" dirty="0"/>
          </a:p>
        </p:txBody>
      </p:sp>
      <p:sp>
        <p:nvSpPr>
          <p:cNvPr id="6" name="Text Placeholder 5"/>
          <p:cNvSpPr>
            <a:spLocks noGrp="1"/>
          </p:cNvSpPr>
          <p:nvPr>
            <p:ph type="body" sz="quarter" idx="12"/>
          </p:nvPr>
        </p:nvSpPr>
        <p:spPr>
          <a:xfrm>
            <a:off x="381000" y="533400"/>
            <a:ext cx="8382000" cy="2667000"/>
          </a:xfrm>
          <a:prstGeom prst="rect">
            <a:avLst/>
          </a:prstGeom>
        </p:spPr>
        <p:txBody>
          <a:bodyPr/>
          <a:lstStyle>
            <a:lvl1pPr>
              <a:defRPr>
                <a:solidFill>
                  <a:srgbClr val="002060"/>
                </a:solidFill>
              </a:defRPr>
            </a:lvl1pPr>
            <a:lvl3pPr>
              <a:defRPr sz="2800"/>
            </a:lvl3pPr>
            <a:lvl4pPr>
              <a:defRPr sz="2800"/>
            </a:lvl4pPr>
            <a:lvl5pPr>
              <a:defRPr sz="28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Text Placeholder 6"/>
          <p:cNvSpPr>
            <a:spLocks noGrp="1"/>
          </p:cNvSpPr>
          <p:nvPr>
            <p:ph type="body" sz="quarter" idx="13"/>
          </p:nvPr>
        </p:nvSpPr>
        <p:spPr>
          <a:xfrm>
            <a:off x="381000" y="3429000"/>
            <a:ext cx="8382000" cy="2743200"/>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2919192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left)">
                                      <p:cBhvr>
                                        <p:cTn id="7" dur="500"/>
                                        <p:tgtEl>
                                          <p:spTgt spid="6">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animEffect transition="in" filter="wipe(left)">
                                      <p:cBhvr>
                                        <p:cTn id="11" dur="500"/>
                                        <p:tgtEl>
                                          <p:spTgt spid="6">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animEffect transition="in" filter="wipe(left)">
                                      <p:cBhvr>
                                        <p:cTn id="15" dur="500"/>
                                        <p:tgtEl>
                                          <p:spTgt spid="6">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animEffect transition="in" filter="wipe(left)">
                                      <p:cBhvr>
                                        <p:cTn id="19" dur="500"/>
                                        <p:tgtEl>
                                          <p:spTgt spid="6">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animEffect transition="in" filter="wipe(left)">
                                      <p:cBhvr>
                                        <p:cTn id="23"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Lst>
      </p:bldP>
    </p:bld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Footer Placeholder 2"/>
          <p:cNvSpPr>
            <a:spLocks noGrp="1"/>
          </p:cNvSpPr>
          <p:nvPr>
            <p:ph type="ftr" sz="quarter" idx="10"/>
          </p:nvPr>
        </p:nvSpPr>
        <p:spPr/>
        <p:txBody>
          <a:bodyPr/>
          <a:lstStyle/>
          <a:p>
            <a:r>
              <a:rPr lang="en-US" dirty="0"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4" name="Slide Number Placeholder 3"/>
          <p:cNvSpPr>
            <a:spLocks noGrp="1"/>
          </p:cNvSpPr>
          <p:nvPr>
            <p:ph type="sldNum" sz="quarter" idx="11"/>
          </p:nvPr>
        </p:nvSpPr>
        <p:spPr/>
        <p:txBody>
          <a:bodyPr/>
          <a:lstStyle/>
          <a:p>
            <a:fld id="{F2BCF9F2-1022-4C47-AC3A-FA21E418CE18}" type="slidenum">
              <a:rPr lang="en-US" smtClean="0"/>
              <a:t>‹#›</a:t>
            </a:fld>
            <a:endParaRPr lang="en-US" dirty="0"/>
          </a:p>
        </p:txBody>
      </p:sp>
    </p:spTree>
    <p:extLst>
      <p:ext uri="{BB962C8B-B14F-4D97-AF65-F5344CB8AC3E}">
        <p14:creationId xmlns:p14="http://schemas.microsoft.com/office/powerpoint/2010/main" val="3595564253"/>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Footer Placeholder 2"/>
          <p:cNvSpPr>
            <a:spLocks noGrp="1"/>
          </p:cNvSpPr>
          <p:nvPr>
            <p:ph type="ftr" sz="quarter" idx="10"/>
          </p:nvPr>
        </p:nvSpPr>
        <p:spPr/>
        <p:txBody>
          <a:bodyPr/>
          <a:lstStyle>
            <a:lvl1pPr>
              <a:defRPr>
                <a:latin typeface="+mn-lt"/>
              </a:defRPr>
            </a:lvl1p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4" name="Slide Number Placeholder 3"/>
          <p:cNvSpPr>
            <a:spLocks noGrp="1"/>
          </p:cNvSpPr>
          <p:nvPr>
            <p:ph type="sldNum" sz="quarter" idx="11"/>
          </p:nvPr>
        </p:nvSpPr>
        <p:spPr/>
        <p:txBody>
          <a:bodyPr/>
          <a:lstStyle/>
          <a:p>
            <a:fld id="{F2BCF9F2-1022-4C47-AC3A-FA21E418CE18}" type="slidenum">
              <a:rPr lang="en-US" smtClean="0"/>
              <a:t>‹#›</a:t>
            </a:fld>
            <a:endParaRPr lang="en-US" dirty="0"/>
          </a:p>
        </p:txBody>
      </p:sp>
      <p:sp>
        <p:nvSpPr>
          <p:cNvPr id="6" name="Text Placeholder 5"/>
          <p:cNvSpPr>
            <a:spLocks noGrp="1"/>
          </p:cNvSpPr>
          <p:nvPr>
            <p:ph type="body" sz="quarter" idx="12"/>
          </p:nvPr>
        </p:nvSpPr>
        <p:spPr>
          <a:xfrm>
            <a:off x="381000" y="533400"/>
            <a:ext cx="8382000" cy="5867400"/>
          </a:xfrm>
          <a:prstGeom prst="rect">
            <a:avLst/>
          </a:prstGeom>
        </p:spPr>
        <p:txBody>
          <a:bodyPr>
            <a:noAutofit/>
          </a:bodyPr>
          <a:lstStyle>
            <a:lvl1pPr>
              <a:defRPr>
                <a:solidFill>
                  <a:srgbClr val="002060"/>
                </a:solidFill>
              </a:defRPr>
            </a:lvl1pPr>
            <a:lvl3pPr>
              <a:defRPr sz="2800"/>
            </a:lvl3pPr>
            <a:lvl4pPr>
              <a:defRPr sz="2800"/>
            </a:lvl4pPr>
            <a:lvl5pPr>
              <a:defRPr sz="28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1407939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left)">
                                      <p:cBhvr>
                                        <p:cTn id="7" dur="500"/>
                                        <p:tgtEl>
                                          <p:spTgt spid="6">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animEffect transition="in" filter="wipe(left)">
                                      <p:cBhvr>
                                        <p:cTn id="11" dur="500"/>
                                        <p:tgtEl>
                                          <p:spTgt spid="6">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animEffect transition="in" filter="wipe(left)">
                                      <p:cBhvr>
                                        <p:cTn id="15" dur="500"/>
                                        <p:tgtEl>
                                          <p:spTgt spid="6">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animEffect transition="in" filter="wipe(left)">
                                      <p:cBhvr>
                                        <p:cTn id="19" dur="500"/>
                                        <p:tgtEl>
                                          <p:spTgt spid="6">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animEffect transition="in" filter="wipe(left)">
                                      <p:cBhvr>
                                        <p:cTn id="23"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Lst>
      </p:bldP>
    </p:bld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Footer Placeholder 2"/>
          <p:cNvSpPr>
            <a:spLocks noGrp="1"/>
          </p:cNvSpPr>
          <p:nvPr>
            <p:ph type="ftr" sz="quarter" idx="10"/>
          </p:nvPr>
        </p:nvSpPr>
        <p:spPr/>
        <p:txBody>
          <a:bodyPr/>
          <a:lstStyle>
            <a:lvl1pPr>
              <a:defRPr>
                <a:latin typeface="+mn-lt"/>
              </a:defRPr>
            </a:lvl1p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4" name="Slide Number Placeholder 3"/>
          <p:cNvSpPr>
            <a:spLocks noGrp="1"/>
          </p:cNvSpPr>
          <p:nvPr>
            <p:ph type="sldNum" sz="quarter" idx="11"/>
          </p:nvPr>
        </p:nvSpPr>
        <p:spPr/>
        <p:txBody>
          <a:bodyPr/>
          <a:lstStyle/>
          <a:p>
            <a:fld id="{F2BCF9F2-1022-4C47-AC3A-FA21E418CE18}" type="slidenum">
              <a:rPr lang="en-US" smtClean="0"/>
              <a:t>‹#›</a:t>
            </a:fld>
            <a:endParaRPr lang="en-US" dirty="0"/>
          </a:p>
        </p:txBody>
      </p:sp>
      <p:sp>
        <p:nvSpPr>
          <p:cNvPr id="6" name="Text Placeholder 5"/>
          <p:cNvSpPr>
            <a:spLocks noGrp="1"/>
          </p:cNvSpPr>
          <p:nvPr>
            <p:ph type="body" sz="quarter" idx="12"/>
          </p:nvPr>
        </p:nvSpPr>
        <p:spPr>
          <a:xfrm>
            <a:off x="381000" y="533400"/>
            <a:ext cx="8382000" cy="2667000"/>
          </a:xfrm>
          <a:prstGeom prst="rect">
            <a:avLst/>
          </a:prstGeom>
        </p:spPr>
        <p:txBody>
          <a:bodyPr>
            <a:noAutofit/>
          </a:bodyPr>
          <a:lstStyle>
            <a:lvl1pPr>
              <a:defRPr>
                <a:solidFill>
                  <a:srgbClr val="002060"/>
                </a:solidFill>
              </a:defRPr>
            </a:lvl1pPr>
            <a:lvl3pPr>
              <a:defRPr sz="2800"/>
            </a:lvl3pPr>
            <a:lvl4pPr>
              <a:defRPr sz="2800"/>
            </a:lvl4pPr>
            <a:lvl5pPr>
              <a:defRPr sz="28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Text Placeholder 6"/>
          <p:cNvSpPr>
            <a:spLocks noGrp="1"/>
          </p:cNvSpPr>
          <p:nvPr>
            <p:ph type="body" sz="quarter" idx="13"/>
          </p:nvPr>
        </p:nvSpPr>
        <p:spPr>
          <a:xfrm>
            <a:off x="457200" y="3352800"/>
            <a:ext cx="8305800" cy="2895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787490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left)">
                                      <p:cBhvr>
                                        <p:cTn id="7" dur="500"/>
                                        <p:tgtEl>
                                          <p:spTgt spid="6">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animEffect transition="in" filter="wipe(left)">
                                      <p:cBhvr>
                                        <p:cTn id="11" dur="500"/>
                                        <p:tgtEl>
                                          <p:spTgt spid="6">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animEffect transition="in" filter="wipe(left)">
                                      <p:cBhvr>
                                        <p:cTn id="15" dur="500"/>
                                        <p:tgtEl>
                                          <p:spTgt spid="6">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animEffect transition="in" filter="wipe(left)">
                                      <p:cBhvr>
                                        <p:cTn id="19" dur="500"/>
                                        <p:tgtEl>
                                          <p:spTgt spid="6">
                                            <p:txEl>
                                              <p:pRg st="3" end="3"/>
                                            </p:txEl>
                                          </p:spTgt>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animEffect transition="in" filter="wipe(left)">
                                      <p:cBhvr>
                                        <p:cTn id="23"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2">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3">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4">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 lvl="5">
            <p:tnLst>
              <p:par>
                <p:cTn presetID="22" presetClass="entr" presetSubtype="8" fill="hold" nodeType="after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wipe(left)">
                      <p:cBhvr>
                        <p:cTn dur="500"/>
                        <p:tgtEl>
                          <p:spTgt spid="6"/>
                        </p:tgtEl>
                      </p:cBhvr>
                    </p:animEffect>
                  </p:childTnLst>
                </p:cTn>
              </p:par>
            </p:tnLst>
          </p:tmpl>
        </p:tmplLst>
      </p:bldP>
    </p:bldLst>
  </p:timing>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4" Type="http://schemas.openxmlformats.org/officeDocument/2006/relationships/image" Target="../media/image4.png"/></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theme" Target="../theme/theme3.xml"/><Relationship Id="rId1" Type="http://schemas.openxmlformats.org/officeDocument/2006/relationships/slideLayout" Target="../slideLayouts/slideLayout4.xml"/><Relationship Id="rId5" Type="http://schemas.openxmlformats.org/officeDocument/2006/relationships/image" Target="../media/image7.png"/><Relationship Id="rId4" Type="http://schemas.openxmlformats.org/officeDocument/2006/relationships/image" Target="../media/image6.png"/></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theme" Target="../theme/theme4.xml"/><Relationship Id="rId1" Type="http://schemas.openxmlformats.org/officeDocument/2006/relationships/slideLayout" Target="../slideLayouts/slideLayout5.xml"/><Relationship Id="rId5" Type="http://schemas.openxmlformats.org/officeDocument/2006/relationships/image" Target="../media/image8.png"/><Relationship Id="rId4" Type="http://schemas.openxmlformats.org/officeDocument/2006/relationships/image" Target="../media/image6.png"/></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8.xml"/><Relationship Id="rId7" Type="http://schemas.openxmlformats.org/officeDocument/2006/relationships/image" Target="../media/image10.png"/><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image" Target="../media/image6.png"/><Relationship Id="rId5" Type="http://schemas.openxmlformats.org/officeDocument/2006/relationships/image" Target="../media/image9.png"/><Relationship Id="rId4"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3" Type="http://schemas.openxmlformats.org/officeDocument/2006/relationships/theme" Target="../theme/theme6.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9.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028" name="Picture 4" descr="C:\Users\Andreea\Desktop\Cengage\Nicholson 12e\cover\ch bkg.png"/>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2590800"/>
            <a:ext cx="9144000" cy="3779959"/>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descr="C:\Users\Andreea\Desktop\Cengage\Nicholson 12e\cover\MT.png"/>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0" y="516184"/>
            <a:ext cx="9144000" cy="2243731"/>
          </a:xfrm>
          <a:prstGeom prst="rect">
            <a:avLst/>
          </a:prstGeom>
          <a:noFill/>
          <a:extLst>
            <a:ext uri="{909E8E84-426E-40DD-AFC4-6F175D3DCCD1}">
              <a14:hiddenFill xmlns:a14="http://schemas.microsoft.com/office/drawing/2010/main">
                <a:solidFill>
                  <a:srgbClr val="FFFFFF"/>
                </a:solidFill>
              </a14:hiddenFill>
            </a:ext>
          </a:extLst>
        </p:spPr>
      </p:pic>
      <p:sp>
        <p:nvSpPr>
          <p:cNvPr id="5" name="Footer Placeholder 4"/>
          <p:cNvSpPr>
            <a:spLocks noGrp="1"/>
          </p:cNvSpPr>
          <p:nvPr>
            <p:ph type="ftr" sz="quarter" idx="3"/>
          </p:nvPr>
        </p:nvSpPr>
        <p:spPr>
          <a:xfrm>
            <a:off x="0" y="6400800"/>
            <a:ext cx="8686800" cy="457201"/>
          </a:xfrm>
          <a:prstGeom prst="rect">
            <a:avLst/>
          </a:prstGeom>
        </p:spPr>
        <p:txBody>
          <a:bodyPr vert="horz" lIns="91440" tIns="45720" rIns="91440" bIns="45720" rtlCol="0" anchor="ctr"/>
          <a:lstStyle>
            <a:lvl1pPr algn="l">
              <a:defRPr sz="1100">
                <a:solidFill>
                  <a:schemeClr val="tx1"/>
                </a:solidFill>
              </a:defRPr>
            </a:lvl1pPr>
          </a:lstStyle>
          <a:p>
            <a:r>
              <a:rPr lang="en-US" dirty="0"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6" name="Slide Number Placeholder 5"/>
          <p:cNvSpPr>
            <a:spLocks noGrp="1"/>
          </p:cNvSpPr>
          <p:nvPr>
            <p:ph type="sldNum" sz="quarter" idx="4"/>
          </p:nvPr>
        </p:nvSpPr>
        <p:spPr>
          <a:xfrm>
            <a:off x="8686800" y="6492875"/>
            <a:ext cx="457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F079196-2514-49FB-B48C-98AEBE754E63}" type="slidenum">
              <a:rPr lang="en-US" smtClean="0"/>
              <a:t>‹#›</a:t>
            </a:fld>
            <a:endParaRPr lang="en-US"/>
          </a:p>
        </p:txBody>
      </p:sp>
      <p:sp>
        <p:nvSpPr>
          <p:cNvPr id="7" name="Subtitle 2"/>
          <p:cNvSpPr txBox="1">
            <a:spLocks/>
          </p:cNvSpPr>
          <p:nvPr userDrawn="1"/>
        </p:nvSpPr>
        <p:spPr>
          <a:xfrm>
            <a:off x="5105400" y="5562600"/>
            <a:ext cx="4038600" cy="914400"/>
          </a:xfrm>
          <a:prstGeom prst="rect">
            <a:avLst/>
          </a:prstGeom>
        </p:spPr>
        <p:txBody>
          <a:bodyPr/>
          <a:lstStyle>
            <a:lvl1pPr marL="0" indent="0" algn="ctr" defTabSz="914400" rtl="0" eaLnBrk="1" latinLnBrk="0" hangingPunct="1">
              <a:lnSpc>
                <a:spcPct val="80000"/>
              </a:lnSpc>
              <a:spcBef>
                <a:spcPct val="20000"/>
              </a:spcBef>
              <a:buFont typeface="Arial" panose="020B0604020202020204" pitchFamily="34" charset="0"/>
              <a:buNone/>
              <a:defRPr sz="3200" kern="1200">
                <a:solidFill>
                  <a:schemeClr val="tx1"/>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defRPr/>
            </a:pPr>
            <a:r>
              <a:rPr lang="en-US" sz="1600" smtClean="0">
                <a:latin typeface="Arial" pitchFamily="34" charset="0"/>
              </a:rPr>
              <a:t>PowerPoint Slides prepared by: </a:t>
            </a:r>
          </a:p>
          <a:p>
            <a:pPr>
              <a:defRPr/>
            </a:pPr>
            <a:r>
              <a:rPr lang="en-US" sz="1600" smtClean="0">
                <a:latin typeface="Arial" pitchFamily="34" charset="0"/>
              </a:rPr>
              <a:t>V. Andreea CHIRITESCU</a:t>
            </a:r>
          </a:p>
          <a:p>
            <a:pPr>
              <a:defRPr/>
            </a:pPr>
            <a:r>
              <a:rPr lang="en-US" sz="1600" smtClean="0">
                <a:latin typeface="Arial" pitchFamily="34" charset="0"/>
              </a:rPr>
              <a:t>Eastern Illinois University</a:t>
            </a:r>
            <a:endParaRPr lang="en-US" sz="1600" dirty="0">
              <a:latin typeface="Arial" pitchFamily="34" charset="0"/>
            </a:endParaRPr>
          </a:p>
        </p:txBody>
      </p:sp>
    </p:spTree>
    <p:extLst>
      <p:ext uri="{BB962C8B-B14F-4D97-AF65-F5344CB8AC3E}">
        <p14:creationId xmlns:p14="http://schemas.microsoft.com/office/powerpoint/2010/main" val="2146056027"/>
      </p:ext>
    </p:extLst>
  </p:cSld>
  <p:clrMap bg1="lt1" tx1="dk1" bg2="lt2" tx2="dk2" accent1="accent1" accent2="accent2" accent3="accent3" accent4="accent4" accent5="accent5" accent6="accent6" hlink="hlink" folHlink="folHlink"/>
  <p:sldLayoutIdLst>
    <p:sldLayoutId id="2147483649" r:id="rId1"/>
  </p:sldLayoutIdLst>
  <p:timing>
    <p:tnLst>
      <p:par>
        <p:cTn id="1" dur="indefinite" restart="never" nodeType="tmRoot"/>
      </p:par>
    </p:tnLst>
  </p:timing>
  <p:hf hdr="0" dt="0"/>
  <p:txStyles>
    <p:titleStyle>
      <a:lvl1pPr algn="ctr" defTabSz="914400" rtl="0" eaLnBrk="1" latinLnBrk="0" hangingPunct="1">
        <a:lnSpc>
          <a:spcPct val="200000"/>
        </a:lnSpc>
        <a:spcBef>
          <a:spcPct val="0"/>
        </a:spcBef>
        <a:buNone/>
        <a:defRPr sz="4400" b="0" kern="1200" baseline="300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0"/>
            <a:ext cx="8229600" cy="106680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314328" y="1143000"/>
            <a:ext cx="8601072" cy="5335589"/>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Footer Placeholder 4"/>
          <p:cNvSpPr>
            <a:spLocks noGrp="1"/>
          </p:cNvSpPr>
          <p:nvPr>
            <p:ph type="ftr" sz="quarter" idx="3"/>
          </p:nvPr>
        </p:nvSpPr>
        <p:spPr>
          <a:xfrm>
            <a:off x="0" y="6400801"/>
            <a:ext cx="8686800" cy="457200"/>
          </a:xfrm>
          <a:prstGeom prst="rect">
            <a:avLst/>
          </a:prstGeom>
        </p:spPr>
        <p:txBody>
          <a:bodyPr vert="horz" lIns="91440" tIns="45720" rIns="91440" bIns="45720" rtlCol="0" anchor="ctr"/>
          <a:lstStyle>
            <a:lvl1pPr algn="l">
              <a:defRPr sz="1100">
                <a:solidFill>
                  <a:schemeClr val="tx1"/>
                </a:solidFill>
              </a:defRPr>
            </a:lvl1p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6" name="Slide Number Placeholder 5"/>
          <p:cNvSpPr>
            <a:spLocks noGrp="1"/>
          </p:cNvSpPr>
          <p:nvPr>
            <p:ph type="sldNum" sz="quarter" idx="4"/>
          </p:nvPr>
        </p:nvSpPr>
        <p:spPr>
          <a:xfrm>
            <a:off x="8686800" y="6492875"/>
            <a:ext cx="457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20B335A-255B-4303-A333-FBB711D61B6F}" type="slidenum">
              <a:rPr lang="en-US" smtClean="0"/>
              <a:t>‹#›</a:t>
            </a:fld>
            <a:endParaRPr lang="en-US"/>
          </a:p>
        </p:txBody>
      </p:sp>
      <p:pic>
        <p:nvPicPr>
          <p:cNvPr id="3074" name="Picture 2" descr="C:\Users\Andreea\Desktop\Cengage\Nicholson 12e\cover\red.png"/>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rot="16200000">
            <a:off x="-3043235" y="3043235"/>
            <a:ext cx="6400800" cy="314327"/>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 descr="C:\Users\Andreea\Desktop\Cengage\Nicholson 12e\cover\red.png"/>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rot="10800000">
            <a:off x="314328" y="985836"/>
            <a:ext cx="8829672" cy="1571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33163784"/>
      </p:ext>
    </p:extLst>
  </p:cSld>
  <p:clrMap bg1="lt1" tx1="dk1" bg2="lt2" tx2="dk2" accent1="accent1" accent2="accent2" accent3="accent3" accent4="accent4" accent5="accent5" accent6="accent6" hlink="hlink" folHlink="folHlink"/>
  <p:sldLayoutIdLst>
    <p:sldLayoutId id="2147483662" r:id="rId1"/>
    <p:sldLayoutId id="2147483676" r:id="rId2"/>
  </p:sldLayoutIdLst>
  <p:timing>
    <p:tnLst>
      <p:par>
        <p:cTn id="1" dur="indefinite" restart="never" nodeType="tmRoot"/>
      </p:par>
    </p:tnLst>
  </p:timing>
  <p:hf hdr="0" dt="0"/>
  <p:txStyles>
    <p:titleStyle>
      <a:lvl1pPr algn="ctr" defTabSz="914400" rtl="0" eaLnBrk="1" latinLnBrk="0" hangingPunct="1">
        <a:spcBef>
          <a:spcPct val="0"/>
        </a:spcBef>
        <a:buNone/>
        <a:defRPr sz="40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400" kern="1200">
          <a:solidFill>
            <a:srgbClr val="C00000"/>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4098" name="Picture 2"/>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rot="5400000">
            <a:off x="-14287" y="471488"/>
            <a:ext cx="895350" cy="866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099" name="Picture 3"/>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rot="10800000">
            <a:off x="8248650" y="457200"/>
            <a:ext cx="895350" cy="866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101" name="Picture 5"/>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 y="0"/>
            <a:ext cx="9144001" cy="4797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Placeholder 1"/>
          <p:cNvSpPr>
            <a:spLocks noGrp="1"/>
          </p:cNvSpPr>
          <p:nvPr>
            <p:ph type="title"/>
          </p:nvPr>
        </p:nvSpPr>
        <p:spPr>
          <a:xfrm>
            <a:off x="1143000" y="0"/>
            <a:ext cx="8001000" cy="457200"/>
          </a:xfrm>
          <a:prstGeom prst="rect">
            <a:avLst/>
          </a:prstGeom>
        </p:spPr>
        <p:txBody>
          <a:bodyPr vert="horz" lIns="91440" tIns="45720" rIns="91440" bIns="45720" rtlCol="0" anchor="ctr">
            <a:noAutofit/>
          </a:bodyPr>
          <a:lstStyle/>
          <a:p>
            <a:r>
              <a:rPr lang="en-US" dirty="0" smtClean="0"/>
              <a:t>Click to edit Master title style</a:t>
            </a:r>
            <a:endParaRPr lang="en-US" dirty="0"/>
          </a:p>
        </p:txBody>
      </p:sp>
      <p:sp>
        <p:nvSpPr>
          <p:cNvPr id="5" name="Footer Placeholder 4"/>
          <p:cNvSpPr>
            <a:spLocks noGrp="1"/>
          </p:cNvSpPr>
          <p:nvPr>
            <p:ph type="ftr" sz="quarter" idx="3"/>
          </p:nvPr>
        </p:nvSpPr>
        <p:spPr>
          <a:xfrm>
            <a:off x="-1" y="6400801"/>
            <a:ext cx="8696325" cy="457200"/>
          </a:xfrm>
          <a:prstGeom prst="rect">
            <a:avLst/>
          </a:prstGeom>
        </p:spPr>
        <p:txBody>
          <a:bodyPr vert="horz" lIns="91440" tIns="45720" rIns="91440" bIns="45720" rtlCol="0" anchor="ctr"/>
          <a:lstStyle>
            <a:lvl1pPr algn="l">
              <a:defRPr sz="1100">
                <a:solidFill>
                  <a:schemeClr val="tx1"/>
                </a:solidFill>
              </a:defRPr>
            </a:lvl1p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6" name="Slide Number Placeholder 5"/>
          <p:cNvSpPr>
            <a:spLocks noGrp="1"/>
          </p:cNvSpPr>
          <p:nvPr>
            <p:ph type="sldNum" sz="quarter" idx="4"/>
          </p:nvPr>
        </p:nvSpPr>
        <p:spPr>
          <a:xfrm>
            <a:off x="8696324" y="6492875"/>
            <a:ext cx="447675"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2BCF9F2-1022-4C47-AC3A-FA21E418CE18}" type="slidenum">
              <a:rPr lang="en-US" smtClean="0"/>
              <a:t>‹#›</a:t>
            </a:fld>
            <a:endParaRPr lang="en-US" dirty="0"/>
          </a:p>
        </p:txBody>
      </p:sp>
      <p:pic>
        <p:nvPicPr>
          <p:cNvPr id="4100" name="Picture 4"/>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1" y="0"/>
            <a:ext cx="1143001" cy="4797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712366463"/>
      </p:ext>
    </p:extLst>
  </p:cSld>
  <p:clrMap bg1="lt1" tx1="dk1" bg2="lt2" tx2="dk2" accent1="accent1" accent2="accent2" accent3="accent3" accent4="accent4" accent5="accent5" accent6="accent6" hlink="hlink" folHlink="folHlink"/>
  <p:sldLayoutIdLst>
    <p:sldLayoutId id="2147483668" r:id="rId1"/>
  </p:sldLayoutIdLst>
  <p:timing>
    <p:tnLst>
      <p:par>
        <p:cTn id="1" dur="indefinite" restart="never" nodeType="tmRoot"/>
      </p:par>
    </p:tnLst>
  </p:timing>
  <p:hf hdr="0" dt="0"/>
  <p:txStyles>
    <p:titleStyle>
      <a:lvl1pPr algn="l" defTabSz="914400" rtl="0" eaLnBrk="1" latinLnBrk="0" hangingPunct="1">
        <a:spcBef>
          <a:spcPct val="0"/>
        </a:spcBef>
        <a:buNone/>
        <a:defRPr sz="3000" kern="12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4098" name="Picture 2"/>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rot="5400000">
            <a:off x="-14287" y="471488"/>
            <a:ext cx="895350" cy="866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099" name="Picture 3"/>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rot="10800000">
            <a:off x="8248650" y="457200"/>
            <a:ext cx="895350" cy="866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101" name="Picture 5"/>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1" y="0"/>
            <a:ext cx="9144001" cy="4797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Placeholder 1"/>
          <p:cNvSpPr>
            <a:spLocks noGrp="1"/>
          </p:cNvSpPr>
          <p:nvPr>
            <p:ph type="title"/>
          </p:nvPr>
        </p:nvSpPr>
        <p:spPr>
          <a:xfrm>
            <a:off x="1200150" y="0"/>
            <a:ext cx="7943850" cy="457200"/>
          </a:xfrm>
          <a:prstGeom prst="rect">
            <a:avLst/>
          </a:prstGeom>
        </p:spPr>
        <p:txBody>
          <a:bodyPr vert="horz" lIns="91440" tIns="45720" rIns="91440" bIns="45720" rtlCol="0" anchor="ctr">
            <a:noAutofit/>
          </a:bodyPr>
          <a:lstStyle/>
          <a:p>
            <a:r>
              <a:rPr lang="en-US" dirty="0" smtClean="0"/>
              <a:t>Click to edit Master title style</a:t>
            </a:r>
            <a:endParaRPr lang="en-US" dirty="0"/>
          </a:p>
        </p:txBody>
      </p:sp>
      <p:sp>
        <p:nvSpPr>
          <p:cNvPr id="5" name="Footer Placeholder 4"/>
          <p:cNvSpPr>
            <a:spLocks noGrp="1"/>
          </p:cNvSpPr>
          <p:nvPr>
            <p:ph type="ftr" sz="quarter" idx="3"/>
          </p:nvPr>
        </p:nvSpPr>
        <p:spPr>
          <a:xfrm>
            <a:off x="-1" y="6400801"/>
            <a:ext cx="8696325" cy="457200"/>
          </a:xfrm>
          <a:prstGeom prst="rect">
            <a:avLst/>
          </a:prstGeom>
        </p:spPr>
        <p:txBody>
          <a:bodyPr vert="horz" lIns="91440" tIns="45720" rIns="91440" bIns="45720" rtlCol="0" anchor="ctr"/>
          <a:lstStyle>
            <a:lvl1pPr algn="l">
              <a:defRPr sz="1100">
                <a:solidFill>
                  <a:schemeClr val="tx1"/>
                </a:solidFill>
              </a:defRPr>
            </a:lvl1p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6" name="Slide Number Placeholder 5"/>
          <p:cNvSpPr>
            <a:spLocks noGrp="1"/>
          </p:cNvSpPr>
          <p:nvPr>
            <p:ph type="sldNum" sz="quarter" idx="4"/>
          </p:nvPr>
        </p:nvSpPr>
        <p:spPr>
          <a:xfrm>
            <a:off x="8696324" y="6492875"/>
            <a:ext cx="447675"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2BCF9F2-1022-4C47-AC3A-FA21E418CE18}" type="slidenum">
              <a:rPr lang="en-US" smtClean="0"/>
              <a:t>‹#›</a:t>
            </a:fld>
            <a:endParaRPr lang="en-US" dirty="0"/>
          </a:p>
        </p:txBody>
      </p:sp>
      <p:grpSp>
        <p:nvGrpSpPr>
          <p:cNvPr id="3" name="Group 2"/>
          <p:cNvGrpSpPr/>
          <p:nvPr userDrawn="1"/>
        </p:nvGrpSpPr>
        <p:grpSpPr>
          <a:xfrm rot="10800000">
            <a:off x="1" y="5505448"/>
            <a:ext cx="9144000" cy="895351"/>
            <a:chOff x="138110" y="3505200"/>
            <a:chExt cx="9144000" cy="895351"/>
          </a:xfrm>
        </p:grpSpPr>
        <p:pic>
          <p:nvPicPr>
            <p:cNvPr id="9" name="Picture 2"/>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rot="5400000">
              <a:off x="123823" y="3519488"/>
              <a:ext cx="895350" cy="866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 name="Picture 3"/>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rot="10800000">
              <a:off x="8386760" y="3505200"/>
              <a:ext cx="895350" cy="866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84994" name="Picture 2"/>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0" y="0"/>
            <a:ext cx="120015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275858699"/>
      </p:ext>
    </p:extLst>
  </p:cSld>
  <p:clrMap bg1="lt1" tx1="dk1" bg2="lt2" tx2="dk2" accent1="accent1" accent2="accent2" accent3="accent3" accent4="accent4" accent5="accent5" accent6="accent6" hlink="hlink" folHlink="folHlink"/>
  <p:sldLayoutIdLst>
    <p:sldLayoutId id="2147483678" r:id="rId1"/>
  </p:sldLayoutIdLst>
  <p:timing>
    <p:tnLst>
      <p:par>
        <p:cTn id="1" dur="indefinite" restart="never" nodeType="tmRoot"/>
      </p:par>
    </p:tnLst>
  </p:timing>
  <p:hf hdr="0" dt="0"/>
  <p:txStyles>
    <p:titleStyle>
      <a:lvl1pPr algn="l" defTabSz="914400" rtl="0" eaLnBrk="1" latinLnBrk="0" hangingPunct="1">
        <a:spcBef>
          <a:spcPct val="0"/>
        </a:spcBef>
        <a:buNone/>
        <a:defRPr sz="3000" kern="12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2" name="Picture 3"/>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rot="5400000">
            <a:off x="5700712" y="3414712"/>
            <a:ext cx="6477000" cy="409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3" name="Picture 3"/>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rot="5400000">
            <a:off x="-3033712" y="3414712"/>
            <a:ext cx="6477000" cy="409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101" name="Picture 5"/>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1" y="0"/>
            <a:ext cx="9144001" cy="4797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Placeholder 1"/>
          <p:cNvSpPr>
            <a:spLocks noGrp="1"/>
          </p:cNvSpPr>
          <p:nvPr>
            <p:ph type="title"/>
          </p:nvPr>
        </p:nvSpPr>
        <p:spPr>
          <a:xfrm>
            <a:off x="1764344" y="0"/>
            <a:ext cx="7379656" cy="457200"/>
          </a:xfrm>
          <a:prstGeom prst="rect">
            <a:avLst/>
          </a:prstGeom>
        </p:spPr>
        <p:txBody>
          <a:bodyPr vert="horz" lIns="91440" tIns="45720" rIns="91440" bIns="45720" rtlCol="0" anchor="ctr">
            <a:noAutofit/>
          </a:bodyPr>
          <a:lstStyle/>
          <a:p>
            <a:r>
              <a:rPr lang="en-US" dirty="0" smtClean="0"/>
              <a:t>Click to edit Master title style</a:t>
            </a:r>
            <a:endParaRPr lang="en-US" dirty="0"/>
          </a:p>
        </p:txBody>
      </p:sp>
      <p:sp>
        <p:nvSpPr>
          <p:cNvPr id="5" name="Footer Placeholder 4"/>
          <p:cNvSpPr>
            <a:spLocks noGrp="1"/>
          </p:cNvSpPr>
          <p:nvPr>
            <p:ph type="ftr" sz="quarter" idx="3"/>
          </p:nvPr>
        </p:nvSpPr>
        <p:spPr>
          <a:xfrm>
            <a:off x="-1" y="6400801"/>
            <a:ext cx="8696325" cy="457200"/>
          </a:xfrm>
          <a:prstGeom prst="rect">
            <a:avLst/>
          </a:prstGeom>
        </p:spPr>
        <p:txBody>
          <a:bodyPr vert="horz" lIns="91440" tIns="45720" rIns="91440" bIns="45720" rtlCol="0" anchor="ctr"/>
          <a:lstStyle>
            <a:lvl1pPr algn="l">
              <a:defRPr sz="1100">
                <a:solidFill>
                  <a:schemeClr val="tx1"/>
                </a:solidFill>
              </a:defRPr>
            </a:lvl1p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6" name="Slide Number Placeholder 5"/>
          <p:cNvSpPr>
            <a:spLocks noGrp="1"/>
          </p:cNvSpPr>
          <p:nvPr>
            <p:ph type="sldNum" sz="quarter" idx="4"/>
          </p:nvPr>
        </p:nvSpPr>
        <p:spPr>
          <a:xfrm>
            <a:off x="8696324" y="6492875"/>
            <a:ext cx="447675"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2BCF9F2-1022-4C47-AC3A-FA21E418CE18}" type="slidenum">
              <a:rPr lang="en-US" smtClean="0"/>
              <a:t>‹#›</a:t>
            </a:fld>
            <a:endParaRPr lang="en-US" dirty="0"/>
          </a:p>
        </p:txBody>
      </p:sp>
      <p:pic>
        <p:nvPicPr>
          <p:cNvPr id="5122" name="Picture 2"/>
          <p:cNvPicPr>
            <a:picLocks noChangeAspect="1" noChangeArrowheads="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1" y="0"/>
            <a:ext cx="1764345" cy="4797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 Placeholder 2"/>
          <p:cNvSpPr>
            <a:spLocks noGrp="1"/>
          </p:cNvSpPr>
          <p:nvPr>
            <p:ph type="body" idx="1"/>
          </p:nvPr>
        </p:nvSpPr>
        <p:spPr>
          <a:xfrm>
            <a:off x="457200" y="609600"/>
            <a:ext cx="8229600" cy="5867400"/>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453884566"/>
      </p:ext>
    </p:extLst>
  </p:cSld>
  <p:clrMap bg1="lt1" tx1="dk1" bg2="lt2" tx2="dk2" accent1="accent1" accent2="accent2" accent3="accent3" accent4="accent4" accent5="accent5" accent6="accent6" hlink="hlink" folHlink="folHlink"/>
  <p:sldLayoutIdLst>
    <p:sldLayoutId id="2147483671" r:id="rId1"/>
    <p:sldLayoutId id="2147483674" r:id="rId2"/>
    <p:sldLayoutId id="2147483679" r:id="rId3"/>
  </p:sldLayoutIdLst>
  <p:timing>
    <p:tnLst>
      <p:par>
        <p:cTn id="1" dur="indefinite" restart="never" nodeType="tmRoot"/>
      </p:par>
    </p:tnLst>
  </p:timing>
  <p:hf hdr="0" dt="0"/>
  <p:txStyles>
    <p:titleStyle>
      <a:lvl1pPr algn="l" defTabSz="914400" rtl="0" eaLnBrk="1" latinLnBrk="0" hangingPunct="1">
        <a:spcBef>
          <a:spcPct val="0"/>
        </a:spcBef>
        <a:buNone/>
        <a:defRPr sz="3000" kern="12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rgbClr val="C00000"/>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0" name="Picture 3"/>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rot="16200000">
            <a:off x="5510213" y="3224211"/>
            <a:ext cx="6858001" cy="409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3" name="Picture 3"/>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rot="16200000">
            <a:off x="-2895600" y="3095624"/>
            <a:ext cx="6200777" cy="409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147" name="Picture 3"/>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0" y="0"/>
            <a:ext cx="9144000" cy="4619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Placeholder 1"/>
          <p:cNvSpPr>
            <a:spLocks noGrp="1"/>
          </p:cNvSpPr>
          <p:nvPr>
            <p:ph type="title"/>
          </p:nvPr>
        </p:nvSpPr>
        <p:spPr>
          <a:xfrm>
            <a:off x="1600200" y="0"/>
            <a:ext cx="7543800" cy="457200"/>
          </a:xfrm>
          <a:prstGeom prst="rect">
            <a:avLst/>
          </a:prstGeom>
        </p:spPr>
        <p:txBody>
          <a:bodyPr vert="horz" lIns="91440" tIns="45720" rIns="91440" bIns="45720" rtlCol="0" anchor="ctr">
            <a:noAutofit/>
          </a:bodyPr>
          <a:lstStyle/>
          <a:p>
            <a:r>
              <a:rPr lang="en-US" dirty="0" smtClean="0"/>
              <a:t>Click to edit Master title style</a:t>
            </a:r>
            <a:endParaRPr lang="en-US" dirty="0"/>
          </a:p>
        </p:txBody>
      </p:sp>
      <p:sp>
        <p:nvSpPr>
          <p:cNvPr id="5" name="Footer Placeholder 4"/>
          <p:cNvSpPr>
            <a:spLocks noGrp="1"/>
          </p:cNvSpPr>
          <p:nvPr>
            <p:ph type="ftr" sz="quarter" idx="3"/>
          </p:nvPr>
        </p:nvSpPr>
        <p:spPr>
          <a:xfrm>
            <a:off x="-1" y="6400801"/>
            <a:ext cx="8696325" cy="457200"/>
          </a:xfrm>
          <a:prstGeom prst="rect">
            <a:avLst/>
          </a:prstGeom>
        </p:spPr>
        <p:txBody>
          <a:bodyPr vert="horz" lIns="91440" tIns="45720" rIns="91440" bIns="45720" rtlCol="0" anchor="ctr"/>
          <a:lstStyle>
            <a:lvl1pPr algn="l">
              <a:defRPr sz="1100">
                <a:solidFill>
                  <a:schemeClr val="tx1"/>
                </a:solidFill>
                <a:latin typeface="+mn-lt"/>
              </a:defRPr>
            </a:lvl1p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6" name="Slide Number Placeholder 5"/>
          <p:cNvSpPr>
            <a:spLocks noGrp="1"/>
          </p:cNvSpPr>
          <p:nvPr>
            <p:ph type="sldNum" sz="quarter" idx="4"/>
          </p:nvPr>
        </p:nvSpPr>
        <p:spPr>
          <a:xfrm>
            <a:off x="8696324" y="6492875"/>
            <a:ext cx="447675"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2BCF9F2-1022-4C47-AC3A-FA21E418CE18}" type="slidenum">
              <a:rPr lang="en-US" smtClean="0"/>
              <a:t>‹#›</a:t>
            </a:fld>
            <a:endParaRPr lang="en-US" dirty="0"/>
          </a:p>
        </p:txBody>
      </p:sp>
      <p:sp>
        <p:nvSpPr>
          <p:cNvPr id="3" name="Text Placeholder 2"/>
          <p:cNvSpPr>
            <a:spLocks noGrp="1"/>
          </p:cNvSpPr>
          <p:nvPr>
            <p:ph type="body" idx="1"/>
          </p:nvPr>
        </p:nvSpPr>
        <p:spPr>
          <a:xfrm>
            <a:off x="457200" y="533400"/>
            <a:ext cx="8229600" cy="5943600"/>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pic>
        <p:nvPicPr>
          <p:cNvPr id="6146" name="Picture 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0" y="0"/>
            <a:ext cx="1724025" cy="400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75283110"/>
      </p:ext>
    </p:extLst>
  </p:cSld>
  <p:clrMap bg1="lt1" tx1="dk1" bg2="lt2" tx2="dk2" accent1="accent1" accent2="accent2" accent3="accent3" accent4="accent4" accent5="accent5" accent6="accent6" hlink="hlink" folHlink="folHlink"/>
  <p:sldLayoutIdLst>
    <p:sldLayoutId id="2147483673" r:id="rId1"/>
    <p:sldLayoutId id="2147483689" r:id="rId2"/>
  </p:sldLayoutIdLst>
  <p:timing>
    <p:tnLst>
      <p:par>
        <p:cTn id="1" dur="indefinite" restart="never" nodeType="tmRoot"/>
      </p:par>
    </p:tnLst>
  </p:timing>
  <p:hf hdr="0" dt="0"/>
  <p:txStyles>
    <p:titleStyle>
      <a:lvl1pPr algn="ctr" defTabSz="914400" rtl="0" eaLnBrk="1" latinLnBrk="0" hangingPunct="1">
        <a:spcBef>
          <a:spcPct val="0"/>
        </a:spcBef>
        <a:buNone/>
        <a:defRPr sz="3000" kern="12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rgbClr val="C00000"/>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8" Type="http://schemas.openxmlformats.org/officeDocument/2006/relationships/image" Target="../media/image15.e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image" Target="../media/image14.emf"/><Relationship Id="rId5" Type="http://schemas.openxmlformats.org/officeDocument/2006/relationships/oleObject" Target="../embeddings/oleObject2.bin"/><Relationship Id="rId4" Type="http://schemas.openxmlformats.org/officeDocument/2006/relationships/image" Target="../media/image13.emf"/></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7.xml"/><Relationship Id="rId1" Type="http://schemas.openxmlformats.org/officeDocument/2006/relationships/vmlDrawing" Target="../drawings/vmlDrawing2.vml"/><Relationship Id="rId4" Type="http://schemas.openxmlformats.org/officeDocument/2006/relationships/image" Target="../media/image16.emf"/></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image" Target="../media/image18.emf"/><Relationship Id="rId5" Type="http://schemas.openxmlformats.org/officeDocument/2006/relationships/oleObject" Target="../embeddings/oleObject6.bin"/><Relationship Id="rId4" Type="http://schemas.openxmlformats.org/officeDocument/2006/relationships/image" Target="../media/image17.emf"/></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19.wmf"/></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3.xml"/><Relationship Id="rId1" Type="http://schemas.openxmlformats.org/officeDocument/2006/relationships/vmlDrawing" Target="../drawings/vmlDrawing5.vml"/><Relationship Id="rId4" Type="http://schemas.openxmlformats.org/officeDocument/2006/relationships/image" Target="../media/image20.wmf"/></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3.xml"/><Relationship Id="rId1" Type="http://schemas.openxmlformats.org/officeDocument/2006/relationships/vmlDrawing" Target="../drawings/vmlDrawing6.vml"/><Relationship Id="rId6" Type="http://schemas.openxmlformats.org/officeDocument/2006/relationships/image" Target="../media/image22.wmf"/><Relationship Id="rId5" Type="http://schemas.openxmlformats.org/officeDocument/2006/relationships/oleObject" Target="../embeddings/oleObject10.bin"/><Relationship Id="rId4" Type="http://schemas.openxmlformats.org/officeDocument/2006/relationships/image" Target="../media/image21.wmf"/></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2.xml"/><Relationship Id="rId1" Type="http://schemas.openxmlformats.org/officeDocument/2006/relationships/vmlDrawing" Target="../drawings/vmlDrawing7.vml"/><Relationship Id="rId4" Type="http://schemas.openxmlformats.org/officeDocument/2006/relationships/image" Target="../media/image23.wmf"/></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7.xml"/><Relationship Id="rId1" Type="http://schemas.openxmlformats.org/officeDocument/2006/relationships/vmlDrawing" Target="../drawings/vmlDrawing8.vml"/><Relationship Id="rId4" Type="http://schemas.openxmlformats.org/officeDocument/2006/relationships/image" Target="../media/image24.emf"/></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3.xml"/><Relationship Id="rId1" Type="http://schemas.openxmlformats.org/officeDocument/2006/relationships/vmlDrawing" Target="../drawings/vmlDrawing9.vml"/><Relationship Id="rId4" Type="http://schemas.openxmlformats.org/officeDocument/2006/relationships/image" Target="../media/image25.emf"/></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3.xml"/><Relationship Id="rId1" Type="http://schemas.openxmlformats.org/officeDocument/2006/relationships/vmlDrawing" Target="../drawings/vmlDrawing10.vml"/><Relationship Id="rId4" Type="http://schemas.openxmlformats.org/officeDocument/2006/relationships/image" Target="../media/image26.emf"/></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2.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9.xml"/><Relationship Id="rId1" Type="http://schemas.openxmlformats.org/officeDocument/2006/relationships/vmlDrawing" Target="../drawings/vmlDrawing11.vml"/><Relationship Id="rId4" Type="http://schemas.openxmlformats.org/officeDocument/2006/relationships/image" Target="../media/image27.wmf"/></Relationships>
</file>

<file path=ppt/slides/_rels/slide63.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9.xml"/><Relationship Id="rId1" Type="http://schemas.openxmlformats.org/officeDocument/2006/relationships/vmlDrawing" Target="../drawings/vmlDrawing12.vml"/><Relationship Id="rId4" Type="http://schemas.openxmlformats.org/officeDocument/2006/relationships/image" Target="../media/image28.wmf"/></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 y="2895600"/>
            <a:ext cx="8991600" cy="1676400"/>
          </a:xfrm>
        </p:spPr>
        <p:txBody>
          <a:bodyPr/>
          <a:lstStyle/>
          <a:p>
            <a:pPr algn="l"/>
            <a:r>
              <a:rPr lang="en-US" dirty="0" smtClean="0"/>
              <a:t>CHAPTER</a:t>
            </a:r>
            <a:r>
              <a:rPr lang="en-US" b="1" baseline="0" dirty="0"/>
              <a:t> </a:t>
            </a:r>
            <a:r>
              <a:rPr lang="en-US" b="1" baseline="0" dirty="0" smtClean="0"/>
              <a:t>	</a:t>
            </a:r>
            <a:r>
              <a:rPr lang="en-US" sz="4800" b="1" baseline="0" dirty="0" smtClean="0"/>
              <a:t>  </a:t>
            </a:r>
            <a:r>
              <a:rPr lang="en-US" dirty="0" smtClean="0"/>
              <a:t/>
            </a:r>
            <a:br>
              <a:rPr lang="en-US" dirty="0" smtClean="0"/>
            </a:br>
            <a:r>
              <a:rPr lang="en-US" baseline="0" dirty="0" smtClean="0"/>
              <a:t> 14</a:t>
            </a:r>
            <a:r>
              <a:rPr lang="en-US" b="1" baseline="0" dirty="0" smtClean="0"/>
              <a:t>	 		</a:t>
            </a:r>
            <a:r>
              <a:rPr lang="en-US" sz="4800" b="1" baseline="0" dirty="0"/>
              <a:t>Monopoly</a:t>
            </a:r>
            <a:endParaRPr lang="en-US" sz="4400" b="1" dirty="0"/>
          </a:p>
        </p:txBody>
      </p:sp>
      <p:sp>
        <p:nvSpPr>
          <p:cNvPr id="3" name="Footer Placeholder 2"/>
          <p:cNvSpPr>
            <a:spLocks noGrp="1"/>
          </p:cNvSpPr>
          <p:nvPr>
            <p:ph type="ftr" sz="quarter" idx="10"/>
          </p:nvPr>
        </p:nvSpPr>
        <p:spPr/>
        <p:txBody>
          <a:body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4" name="Slide Number Placeholder 3"/>
          <p:cNvSpPr>
            <a:spLocks noGrp="1"/>
          </p:cNvSpPr>
          <p:nvPr>
            <p:ph type="sldNum" sz="quarter" idx="11"/>
          </p:nvPr>
        </p:nvSpPr>
        <p:spPr/>
        <p:txBody>
          <a:bodyPr/>
          <a:lstStyle/>
          <a:p>
            <a:fld id="{DF079196-2514-49FB-B48C-98AEBE754E63}" type="slidenum">
              <a:rPr lang="en-US" smtClean="0"/>
              <a:t>1</a:t>
            </a:fld>
            <a:endParaRPr lang="en-US"/>
          </a:p>
        </p:txBody>
      </p:sp>
    </p:spTree>
    <p:extLst>
      <p:ext uri="{BB962C8B-B14F-4D97-AF65-F5344CB8AC3E}">
        <p14:creationId xmlns:p14="http://schemas.microsoft.com/office/powerpoint/2010/main" val="366019238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r>
              <a:rPr lang="en-US" altLang="en-US" smtClean="0"/>
              <a:t>Barriers to Entry</a:t>
            </a:r>
          </a:p>
        </p:txBody>
      </p:sp>
      <p:sp>
        <p:nvSpPr>
          <p:cNvPr id="24579" name="Rectangle 3"/>
          <p:cNvSpPr>
            <a:spLocks noGrp="1" noChangeArrowheads="1"/>
          </p:cNvSpPr>
          <p:nvPr>
            <p:ph idx="1"/>
          </p:nvPr>
        </p:nvSpPr>
        <p:spPr/>
        <p:txBody>
          <a:bodyPr/>
          <a:lstStyle/>
          <a:p>
            <a:r>
              <a:rPr lang="en-US" altLang="en-US" smtClean="0"/>
              <a:t>Monopoly </a:t>
            </a:r>
          </a:p>
          <a:p>
            <a:pPr lvl="1"/>
            <a:r>
              <a:rPr lang="en-US" altLang="en-US" smtClean="0"/>
              <a:t>A single supplier to a market</a:t>
            </a:r>
          </a:p>
          <a:p>
            <a:pPr lvl="1"/>
            <a:r>
              <a:rPr lang="en-US" altLang="en-US" smtClean="0"/>
              <a:t>May choose to produce at any point on the market demand curve</a:t>
            </a:r>
          </a:p>
          <a:p>
            <a:r>
              <a:rPr lang="en-US" altLang="en-US" smtClean="0"/>
              <a:t>Barriers to entry </a:t>
            </a:r>
          </a:p>
          <a:p>
            <a:pPr lvl="1"/>
            <a:r>
              <a:rPr lang="en-US" altLang="en-US" smtClean="0"/>
              <a:t>The source of all monopoly power</a:t>
            </a:r>
          </a:p>
          <a:p>
            <a:pPr lvl="2"/>
            <a:r>
              <a:rPr lang="en-US" altLang="en-US" smtClean="0"/>
              <a:t>Technical barriers</a:t>
            </a:r>
          </a:p>
          <a:p>
            <a:pPr lvl="2"/>
            <a:r>
              <a:rPr lang="en-US" altLang="en-US" smtClean="0"/>
              <a:t>Legal barriers</a:t>
            </a:r>
          </a:p>
          <a:p>
            <a:endParaRPr lang="en-US" altLang="en-US" smtClean="0"/>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D7451131-4991-4FFB-BBB5-6627389F2DAD}" type="slidenum">
              <a:rPr lang="en-US" smtClean="0"/>
              <a:pPr>
                <a:defRPr/>
              </a:pPr>
              <a:t>2</a:t>
            </a:fld>
            <a:endParaRPr lang="en-US"/>
          </a:p>
        </p:txBody>
      </p:sp>
    </p:spTree>
    <p:extLst>
      <p:ext uri="{BB962C8B-B14F-4D97-AF65-F5344CB8AC3E}">
        <p14:creationId xmlns:p14="http://schemas.microsoft.com/office/powerpoint/2010/main" val="181508760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r>
              <a:rPr lang="en-US" altLang="en-US" smtClean="0"/>
              <a:t>Technical Barriers to Entry</a:t>
            </a:r>
          </a:p>
        </p:txBody>
      </p:sp>
      <p:sp>
        <p:nvSpPr>
          <p:cNvPr id="25603" name="Rectangle 3"/>
          <p:cNvSpPr>
            <a:spLocks noGrp="1" noChangeArrowheads="1"/>
          </p:cNvSpPr>
          <p:nvPr>
            <p:ph idx="1"/>
          </p:nvPr>
        </p:nvSpPr>
        <p:spPr/>
        <p:txBody>
          <a:bodyPr/>
          <a:lstStyle/>
          <a:p>
            <a:r>
              <a:rPr lang="en-US" altLang="en-US" dirty="0" smtClean="0"/>
              <a:t>Production may exhibit decreasing marginal and average costs over a wide range of output levels</a:t>
            </a:r>
          </a:p>
          <a:p>
            <a:pPr lvl="1"/>
            <a:r>
              <a:rPr lang="en-US" altLang="en-US" dirty="0" smtClean="0"/>
              <a:t>Relatively large-scale firms are low-cost producers</a:t>
            </a:r>
          </a:p>
          <a:p>
            <a:pPr lvl="2"/>
            <a:r>
              <a:rPr lang="en-US" altLang="en-US" dirty="0" smtClean="0"/>
              <a:t>Firms may find it profitable to drive others out of the industry by cutting prices</a:t>
            </a:r>
          </a:p>
          <a:p>
            <a:pPr lvl="2"/>
            <a:r>
              <a:rPr lang="en-US" altLang="en-US" dirty="0" smtClean="0"/>
              <a:t>Natural monopoly</a:t>
            </a:r>
          </a:p>
          <a:p>
            <a:pPr lvl="2"/>
            <a:r>
              <a:rPr lang="en-US" altLang="en-US" dirty="0" smtClean="0"/>
              <a:t>Once the monopoly is established, entry of new firms will be difficult</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CA75997B-BF18-4775-A912-5AC7B2E11927}" type="slidenum">
              <a:rPr lang="en-US" smtClean="0"/>
              <a:pPr>
                <a:defRPr/>
              </a:pPr>
              <a:t>3</a:t>
            </a:fld>
            <a:endParaRPr lang="en-US"/>
          </a:p>
        </p:txBody>
      </p:sp>
    </p:spTree>
    <p:extLst>
      <p:ext uri="{BB962C8B-B14F-4D97-AF65-F5344CB8AC3E}">
        <p14:creationId xmlns:p14="http://schemas.microsoft.com/office/powerpoint/2010/main" val="198983213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r>
              <a:rPr lang="en-US" altLang="en-US" smtClean="0"/>
              <a:t>Technical Barriers to Entry</a:t>
            </a:r>
          </a:p>
        </p:txBody>
      </p:sp>
      <p:sp>
        <p:nvSpPr>
          <p:cNvPr id="26627" name="Rectangle 3"/>
          <p:cNvSpPr>
            <a:spLocks noGrp="1" noChangeArrowheads="1"/>
          </p:cNvSpPr>
          <p:nvPr>
            <p:ph idx="1"/>
          </p:nvPr>
        </p:nvSpPr>
        <p:spPr/>
        <p:txBody>
          <a:bodyPr/>
          <a:lstStyle/>
          <a:p>
            <a:r>
              <a:rPr lang="en-US" altLang="en-US" smtClean="0"/>
              <a:t>Special knowledge of a low-cost productive technique</a:t>
            </a:r>
          </a:p>
          <a:p>
            <a:pPr lvl="1"/>
            <a:r>
              <a:rPr lang="en-US" altLang="en-US" smtClean="0"/>
              <a:t>It may be difficult to keep this knowledge out of the hands of other firms</a:t>
            </a:r>
          </a:p>
          <a:p>
            <a:r>
              <a:rPr lang="en-US" altLang="en-US" smtClean="0"/>
              <a:t>Ownership of unique resources </a:t>
            </a:r>
          </a:p>
          <a:p>
            <a:pPr lvl="1"/>
            <a:r>
              <a:rPr lang="en-US" altLang="en-US" smtClean="0"/>
              <a:t>Lasting basis for maintaining a monopoly</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D3D63B96-6040-4676-B94F-C8A7B85C6D26}" type="slidenum">
              <a:rPr lang="en-US" smtClean="0"/>
              <a:pPr>
                <a:defRPr/>
              </a:pPr>
              <a:t>4</a:t>
            </a:fld>
            <a:endParaRPr lang="en-US"/>
          </a:p>
        </p:txBody>
      </p:sp>
    </p:spTree>
    <p:extLst>
      <p:ext uri="{BB962C8B-B14F-4D97-AF65-F5344CB8AC3E}">
        <p14:creationId xmlns:p14="http://schemas.microsoft.com/office/powerpoint/2010/main" val="18287618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r>
              <a:rPr lang="en-US" altLang="en-US" smtClean="0"/>
              <a:t>Legal Barriers to Entry</a:t>
            </a:r>
          </a:p>
        </p:txBody>
      </p:sp>
      <p:sp>
        <p:nvSpPr>
          <p:cNvPr id="27651" name="Rectangle 3"/>
          <p:cNvSpPr>
            <a:spLocks noGrp="1" noChangeArrowheads="1"/>
          </p:cNvSpPr>
          <p:nvPr>
            <p:ph idx="1"/>
          </p:nvPr>
        </p:nvSpPr>
        <p:spPr/>
        <p:txBody>
          <a:bodyPr/>
          <a:lstStyle/>
          <a:p>
            <a:r>
              <a:rPr lang="en-US" altLang="en-US" smtClean="0"/>
              <a:t>Many pure monopolies are created as a matter of law</a:t>
            </a:r>
          </a:p>
          <a:p>
            <a:pPr lvl="1"/>
            <a:r>
              <a:rPr lang="en-US" altLang="en-US" smtClean="0"/>
              <a:t>Patents - the basic technology for a product is assigned to one firm</a:t>
            </a:r>
          </a:p>
          <a:p>
            <a:pPr lvl="1"/>
            <a:r>
              <a:rPr lang="en-US" altLang="en-US" smtClean="0"/>
              <a:t>The government may award a firm an exclusive franchise to serve a market</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6EA0E414-0A90-45A1-B0D9-A92ED00C7121}" type="slidenum">
              <a:rPr lang="en-US" smtClean="0"/>
              <a:pPr>
                <a:defRPr/>
              </a:pPr>
              <a:t>5</a:t>
            </a:fld>
            <a:endParaRPr lang="en-US"/>
          </a:p>
        </p:txBody>
      </p:sp>
    </p:spTree>
    <p:extLst>
      <p:ext uri="{BB962C8B-B14F-4D97-AF65-F5344CB8AC3E}">
        <p14:creationId xmlns:p14="http://schemas.microsoft.com/office/powerpoint/2010/main" val="221410471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r>
              <a:rPr lang="en-US" altLang="en-US" smtClean="0"/>
              <a:t>Creation of Barriers to Entry</a:t>
            </a:r>
          </a:p>
        </p:txBody>
      </p:sp>
      <p:sp>
        <p:nvSpPr>
          <p:cNvPr id="28675" name="Rectangle 3"/>
          <p:cNvSpPr>
            <a:spLocks noGrp="1" noChangeArrowheads="1"/>
          </p:cNvSpPr>
          <p:nvPr>
            <p:ph idx="1"/>
          </p:nvPr>
        </p:nvSpPr>
        <p:spPr/>
        <p:txBody>
          <a:bodyPr/>
          <a:lstStyle/>
          <a:p>
            <a:r>
              <a:rPr lang="en-US" altLang="en-US" smtClean="0"/>
              <a:t>Some barriers to entry result from actions taken by the firm</a:t>
            </a:r>
          </a:p>
          <a:p>
            <a:pPr lvl="1"/>
            <a:r>
              <a:rPr lang="en-US" altLang="en-US" smtClean="0"/>
              <a:t>Research and development of new products or technologies</a:t>
            </a:r>
          </a:p>
          <a:p>
            <a:pPr lvl="1"/>
            <a:r>
              <a:rPr lang="en-US" altLang="en-US" smtClean="0"/>
              <a:t>Purchase of unique resources</a:t>
            </a:r>
          </a:p>
          <a:p>
            <a:pPr lvl="1"/>
            <a:r>
              <a:rPr lang="en-US" altLang="en-US" smtClean="0"/>
              <a:t>Lobbying efforts to gain monopoly power</a:t>
            </a:r>
          </a:p>
          <a:p>
            <a:pPr lvl="1"/>
            <a:r>
              <a:rPr lang="en-US" altLang="en-US" smtClean="0"/>
              <a:t>May involve real resource costs</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8EBAB253-6F19-47B9-A3DB-DD445EB0A7FB}" type="slidenum">
              <a:rPr lang="en-US" smtClean="0"/>
              <a:pPr>
                <a:defRPr/>
              </a:pPr>
              <a:t>6</a:t>
            </a:fld>
            <a:endParaRPr lang="en-US"/>
          </a:p>
        </p:txBody>
      </p:sp>
    </p:spTree>
    <p:extLst>
      <p:ext uri="{BB962C8B-B14F-4D97-AF65-F5344CB8AC3E}">
        <p14:creationId xmlns:p14="http://schemas.microsoft.com/office/powerpoint/2010/main" val="118345119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r>
              <a:rPr lang="en-US" altLang="en-US" dirty="0" smtClean="0"/>
              <a:t>Profit Maximization</a:t>
            </a:r>
          </a:p>
        </p:txBody>
      </p:sp>
      <mc:AlternateContent xmlns:mc="http://schemas.openxmlformats.org/markup-compatibility/2006" xmlns:a14="http://schemas.microsoft.com/office/drawing/2010/main">
        <mc:Choice Requires="a14">
          <p:sp>
            <p:nvSpPr>
              <p:cNvPr id="29699" name="Rectangle 3"/>
              <p:cNvSpPr>
                <a:spLocks noGrp="1" noChangeArrowheads="1"/>
              </p:cNvSpPr>
              <p:nvPr>
                <p:ph idx="1"/>
              </p:nvPr>
            </p:nvSpPr>
            <p:spPr/>
            <p:txBody>
              <a:bodyPr/>
              <a:lstStyle/>
              <a:p>
                <a:r>
                  <a:rPr lang="en-US" altLang="en-US" dirty="0" smtClean="0"/>
                  <a:t>Maximize profits </a:t>
                </a:r>
              </a:p>
              <a:p>
                <a:pPr marL="0" indent="0">
                  <a:buNone/>
                </a:pPr>
                <a:r>
                  <a:rPr lang="en-US" altLang="en-US" sz="3200" i="1" dirty="0">
                    <a:latin typeface="Times New Roman" panose="02020603050405020304" pitchFamily="18" charset="0"/>
                    <a:cs typeface="Times New Roman" panose="02020603050405020304" pitchFamily="18" charset="0"/>
                  </a:rPr>
                  <a:t>	</a:t>
                </a:r>
                <a:r>
                  <a:rPr lang="el-GR" altLang="en-US" sz="3200" i="1" dirty="0" smtClean="0">
                    <a:latin typeface="Times New Roman" panose="02020603050405020304" pitchFamily="18" charset="0"/>
                    <a:cs typeface="Times New Roman" panose="02020603050405020304" pitchFamily="18" charset="0"/>
                  </a:rPr>
                  <a:t>π</a:t>
                </a:r>
                <a:r>
                  <a:rPr lang="en-US" altLang="en-US" sz="3200" i="1" dirty="0" smtClean="0">
                    <a:latin typeface="Times New Roman" panose="02020603050405020304" pitchFamily="18" charset="0"/>
                    <a:cs typeface="Times New Roman" panose="02020603050405020304" pitchFamily="18" charset="0"/>
                  </a:rPr>
                  <a:t>(Q)=R(Q) – C(Q) = P(Q)Q – C(Q)</a:t>
                </a:r>
              </a:p>
              <a:p>
                <a:pPr lvl="2"/>
                <a:r>
                  <a:rPr lang="en-US" altLang="en-US" i="1" dirty="0" smtClean="0">
                    <a:latin typeface="Times New Roman" panose="02020603050405020304" pitchFamily="18" charset="0"/>
                    <a:cs typeface="Times New Roman" panose="02020603050405020304" pitchFamily="18" charset="0"/>
                  </a:rPr>
                  <a:t>Q</a:t>
                </a:r>
                <a:r>
                  <a:rPr lang="en-US" altLang="en-US" dirty="0" smtClean="0"/>
                  <a:t> = monopolists’ output = entire market output</a:t>
                </a:r>
              </a:p>
              <a:p>
                <a:pPr lvl="2"/>
                <a:r>
                  <a:rPr lang="en-US" altLang="en-US" i="1" dirty="0" smtClean="0">
                    <a:latin typeface="Times New Roman" panose="02020603050405020304" pitchFamily="18" charset="0"/>
                    <a:cs typeface="Times New Roman" panose="02020603050405020304" pitchFamily="18" charset="0"/>
                  </a:rPr>
                  <a:t>P(Q)</a:t>
                </a:r>
                <a:r>
                  <a:rPr lang="en-US" altLang="en-US" dirty="0" smtClean="0"/>
                  <a:t> = monopolists’ inverse demand = entire market demand</a:t>
                </a:r>
              </a:p>
              <a:p>
                <a:pPr lvl="2"/>
                <a:r>
                  <a:rPr lang="en-US" altLang="en-US" dirty="0" smtClean="0"/>
                  <a:t>Produce that output level for which marginal revenue </a:t>
                </a:r>
                <a:r>
                  <a:rPr lang="en-US" altLang="en-US" i="1" dirty="0" smtClean="0">
                    <a:latin typeface="Times New Roman" panose="02020603050405020304" pitchFamily="18" charset="0"/>
                    <a:cs typeface="Times New Roman" panose="02020603050405020304" pitchFamily="18" charset="0"/>
                  </a:rPr>
                  <a:t>MR(Q)</a:t>
                </a:r>
                <a:r>
                  <a:rPr lang="en-US" altLang="en-US" dirty="0" smtClean="0"/>
                  <a:t> is equal to marginal cost </a:t>
                </a:r>
                <a:r>
                  <a:rPr lang="en-US" altLang="en-US" i="1" dirty="0" smtClean="0">
                    <a:latin typeface="Times New Roman" panose="02020603050405020304" pitchFamily="18" charset="0"/>
                    <a:cs typeface="Times New Roman" panose="02020603050405020304" pitchFamily="18" charset="0"/>
                  </a:rPr>
                  <a:t>MC(Q)</a:t>
                </a:r>
              </a:p>
              <a:p>
                <a:pPr lvl="2"/>
                <a:r>
                  <a:rPr lang="en-US" altLang="en-US" dirty="0" smtClean="0">
                    <a:cs typeface="Times New Roman" panose="02020603050405020304" pitchFamily="18" charset="0"/>
                  </a:rPr>
                  <a:t>First order condition:</a:t>
                </a:r>
                <a:endParaRPr lang="en-US" altLang="en-US" dirty="0">
                  <a:cs typeface="Times New Roman" panose="02020603050405020304" pitchFamily="18" charset="0"/>
                </a:endParaRPr>
              </a:p>
              <a:p>
                <a:pPr marL="914400" lvl="2" indent="0">
                  <a:buNone/>
                </a:pPr>
                <a14:m>
                  <m:oMathPara xmlns:m="http://schemas.openxmlformats.org/officeDocument/2006/math">
                    <m:oMathParaPr>
                      <m:jc m:val="centerGroup"/>
                    </m:oMathParaPr>
                    <m:oMath xmlns:m="http://schemas.openxmlformats.org/officeDocument/2006/math">
                      <m:sSup>
                        <m:sSupPr>
                          <m:ctrlPr>
                            <a:rPr lang="en-US" altLang="en-US" b="0" i="1" smtClean="0">
                              <a:solidFill>
                                <a:srgbClr val="C00000"/>
                              </a:solidFill>
                              <a:latin typeface="Cambria Math"/>
                              <a:ea typeface="Cambria Math"/>
                              <a:cs typeface="Times New Roman" panose="02020603050405020304" pitchFamily="18" charset="0"/>
                            </a:rPr>
                          </m:ctrlPr>
                        </m:sSupPr>
                        <m:e>
                          <m:r>
                            <a:rPr lang="en-US" altLang="en-US" i="1" smtClean="0">
                              <a:solidFill>
                                <a:srgbClr val="C00000"/>
                              </a:solidFill>
                              <a:latin typeface="Cambria Math"/>
                              <a:ea typeface="Cambria Math"/>
                              <a:cs typeface="Times New Roman" panose="02020603050405020304" pitchFamily="18" charset="0"/>
                            </a:rPr>
                            <m:t>𝜋</m:t>
                          </m:r>
                        </m:e>
                        <m:sup>
                          <m:r>
                            <a:rPr lang="en-US" altLang="en-US" b="0" i="1" smtClean="0">
                              <a:solidFill>
                                <a:srgbClr val="C00000"/>
                              </a:solidFill>
                              <a:latin typeface="Cambria Math"/>
                              <a:ea typeface="Cambria Math"/>
                              <a:cs typeface="Times New Roman" panose="02020603050405020304" pitchFamily="18" charset="0"/>
                            </a:rPr>
                            <m:t>′</m:t>
                          </m:r>
                        </m:sup>
                      </m:sSup>
                      <m:d>
                        <m:dPr>
                          <m:ctrlPr>
                            <a:rPr lang="en-US" altLang="en-US" b="0" i="1" smtClean="0">
                              <a:solidFill>
                                <a:srgbClr val="C00000"/>
                              </a:solidFill>
                              <a:latin typeface="Cambria Math"/>
                              <a:ea typeface="Cambria Math"/>
                              <a:cs typeface="Times New Roman" panose="02020603050405020304" pitchFamily="18" charset="0"/>
                            </a:rPr>
                          </m:ctrlPr>
                        </m:dPr>
                        <m:e>
                          <m:r>
                            <a:rPr lang="en-US" altLang="en-US" b="0" i="1" smtClean="0">
                              <a:solidFill>
                                <a:srgbClr val="C00000"/>
                              </a:solidFill>
                              <a:latin typeface="Cambria Math"/>
                              <a:ea typeface="Cambria Math"/>
                              <a:cs typeface="Times New Roman" panose="02020603050405020304" pitchFamily="18" charset="0"/>
                            </a:rPr>
                            <m:t>𝑄</m:t>
                          </m:r>
                        </m:e>
                      </m:d>
                      <m:r>
                        <a:rPr lang="en-US" altLang="en-US" b="0" i="1" smtClean="0">
                          <a:solidFill>
                            <a:srgbClr val="C00000"/>
                          </a:solidFill>
                          <a:latin typeface="Cambria Math"/>
                          <a:ea typeface="Cambria Math"/>
                          <a:cs typeface="Times New Roman" panose="02020603050405020304" pitchFamily="18" charset="0"/>
                        </a:rPr>
                        <m:t>=</m:t>
                      </m:r>
                      <m:f>
                        <m:fPr>
                          <m:ctrlPr>
                            <a:rPr lang="en-US" altLang="en-US" b="0" i="1" smtClean="0">
                              <a:solidFill>
                                <a:srgbClr val="C00000"/>
                              </a:solidFill>
                              <a:latin typeface="Cambria Math"/>
                              <a:ea typeface="Cambria Math"/>
                              <a:cs typeface="Times New Roman" panose="02020603050405020304" pitchFamily="18" charset="0"/>
                            </a:rPr>
                          </m:ctrlPr>
                        </m:fPr>
                        <m:num>
                          <m:r>
                            <a:rPr lang="en-US" altLang="en-US" b="0" i="1" smtClean="0">
                              <a:solidFill>
                                <a:srgbClr val="C00000"/>
                              </a:solidFill>
                              <a:latin typeface="Cambria Math"/>
                              <a:ea typeface="Cambria Math"/>
                              <a:cs typeface="Times New Roman" panose="02020603050405020304" pitchFamily="18" charset="0"/>
                            </a:rPr>
                            <m:t>𝑑𝑅</m:t>
                          </m:r>
                        </m:num>
                        <m:den>
                          <m:r>
                            <a:rPr lang="en-US" altLang="en-US" b="0" i="1" smtClean="0">
                              <a:solidFill>
                                <a:srgbClr val="C00000"/>
                              </a:solidFill>
                              <a:latin typeface="Cambria Math"/>
                              <a:ea typeface="Cambria Math"/>
                              <a:cs typeface="Times New Roman" panose="02020603050405020304" pitchFamily="18" charset="0"/>
                            </a:rPr>
                            <m:t>𝑑𝑄</m:t>
                          </m:r>
                        </m:den>
                      </m:f>
                      <m:r>
                        <a:rPr lang="en-US" altLang="en-US" b="0" i="1" smtClean="0">
                          <a:solidFill>
                            <a:srgbClr val="C00000"/>
                          </a:solidFill>
                          <a:latin typeface="Cambria Math"/>
                          <a:ea typeface="Cambria Math"/>
                          <a:cs typeface="Times New Roman" panose="02020603050405020304" pitchFamily="18" charset="0"/>
                        </a:rPr>
                        <m:t>−</m:t>
                      </m:r>
                      <m:f>
                        <m:fPr>
                          <m:ctrlPr>
                            <a:rPr lang="en-US" altLang="en-US" b="0" i="1" smtClean="0">
                              <a:solidFill>
                                <a:srgbClr val="C00000"/>
                              </a:solidFill>
                              <a:latin typeface="Cambria Math"/>
                              <a:ea typeface="Cambria Math"/>
                              <a:cs typeface="Times New Roman" panose="02020603050405020304" pitchFamily="18" charset="0"/>
                            </a:rPr>
                          </m:ctrlPr>
                        </m:fPr>
                        <m:num>
                          <m:r>
                            <a:rPr lang="en-US" altLang="en-US" b="0" i="1" smtClean="0">
                              <a:solidFill>
                                <a:srgbClr val="C00000"/>
                              </a:solidFill>
                              <a:latin typeface="Cambria Math"/>
                              <a:ea typeface="Cambria Math"/>
                              <a:cs typeface="Times New Roman" panose="02020603050405020304" pitchFamily="18" charset="0"/>
                            </a:rPr>
                            <m:t>𝑑𝐶</m:t>
                          </m:r>
                        </m:num>
                        <m:den>
                          <m:r>
                            <a:rPr lang="en-US" altLang="en-US" b="0" i="1" smtClean="0">
                              <a:solidFill>
                                <a:srgbClr val="C00000"/>
                              </a:solidFill>
                              <a:latin typeface="Cambria Math"/>
                              <a:ea typeface="Cambria Math"/>
                              <a:cs typeface="Times New Roman" panose="02020603050405020304" pitchFamily="18" charset="0"/>
                            </a:rPr>
                            <m:t>𝑑𝑄</m:t>
                          </m:r>
                        </m:den>
                      </m:f>
                      <m:r>
                        <a:rPr lang="en-US" altLang="en-US" b="0" i="1" smtClean="0">
                          <a:solidFill>
                            <a:srgbClr val="C00000"/>
                          </a:solidFill>
                          <a:latin typeface="Cambria Math"/>
                          <a:ea typeface="Cambria Math"/>
                          <a:cs typeface="Times New Roman" panose="02020603050405020304" pitchFamily="18" charset="0"/>
                        </a:rPr>
                        <m:t>=</m:t>
                      </m:r>
                      <m:r>
                        <a:rPr lang="en-US" altLang="en-US" b="0" i="1" smtClean="0">
                          <a:solidFill>
                            <a:srgbClr val="C00000"/>
                          </a:solidFill>
                          <a:latin typeface="Cambria Math"/>
                          <a:ea typeface="Cambria Math"/>
                          <a:cs typeface="Times New Roman" panose="02020603050405020304" pitchFamily="18" charset="0"/>
                        </a:rPr>
                        <m:t>𝑀𝑅</m:t>
                      </m:r>
                      <m:d>
                        <m:dPr>
                          <m:ctrlPr>
                            <a:rPr lang="en-US" altLang="en-US" b="0" i="1" smtClean="0">
                              <a:solidFill>
                                <a:srgbClr val="C00000"/>
                              </a:solidFill>
                              <a:latin typeface="Cambria Math"/>
                              <a:ea typeface="Cambria Math"/>
                              <a:cs typeface="Times New Roman" panose="02020603050405020304" pitchFamily="18" charset="0"/>
                            </a:rPr>
                          </m:ctrlPr>
                        </m:dPr>
                        <m:e>
                          <m:r>
                            <a:rPr lang="en-US" altLang="en-US" b="0" i="1" smtClean="0">
                              <a:solidFill>
                                <a:srgbClr val="C00000"/>
                              </a:solidFill>
                              <a:latin typeface="Cambria Math"/>
                              <a:ea typeface="Cambria Math"/>
                              <a:cs typeface="Times New Roman" panose="02020603050405020304" pitchFamily="18" charset="0"/>
                            </a:rPr>
                            <m:t>𝑄</m:t>
                          </m:r>
                        </m:e>
                      </m:d>
                      <m:r>
                        <a:rPr lang="en-US" altLang="en-US" b="0" i="1" smtClean="0">
                          <a:solidFill>
                            <a:srgbClr val="C00000"/>
                          </a:solidFill>
                          <a:latin typeface="Cambria Math"/>
                          <a:ea typeface="Cambria Math"/>
                          <a:cs typeface="Times New Roman" panose="02020603050405020304" pitchFamily="18" charset="0"/>
                        </a:rPr>
                        <m:t>−</m:t>
                      </m:r>
                      <m:r>
                        <a:rPr lang="en-US" altLang="en-US" b="0" i="1" smtClean="0">
                          <a:solidFill>
                            <a:srgbClr val="C00000"/>
                          </a:solidFill>
                          <a:latin typeface="Cambria Math"/>
                          <a:ea typeface="Cambria Math"/>
                          <a:cs typeface="Times New Roman" panose="02020603050405020304" pitchFamily="18" charset="0"/>
                        </a:rPr>
                        <m:t>𝑀𝐶</m:t>
                      </m:r>
                      <m:d>
                        <m:dPr>
                          <m:ctrlPr>
                            <a:rPr lang="en-US" altLang="en-US" b="0" i="1" smtClean="0">
                              <a:solidFill>
                                <a:srgbClr val="C00000"/>
                              </a:solidFill>
                              <a:latin typeface="Cambria Math"/>
                              <a:ea typeface="Cambria Math"/>
                              <a:cs typeface="Times New Roman" panose="02020603050405020304" pitchFamily="18" charset="0"/>
                            </a:rPr>
                          </m:ctrlPr>
                        </m:dPr>
                        <m:e>
                          <m:r>
                            <a:rPr lang="en-US" altLang="en-US" b="0" i="1" smtClean="0">
                              <a:solidFill>
                                <a:srgbClr val="C00000"/>
                              </a:solidFill>
                              <a:latin typeface="Cambria Math"/>
                              <a:ea typeface="Cambria Math"/>
                              <a:cs typeface="Times New Roman" panose="02020603050405020304" pitchFamily="18" charset="0"/>
                            </a:rPr>
                            <m:t>𝑄</m:t>
                          </m:r>
                        </m:e>
                      </m:d>
                      <m:r>
                        <a:rPr lang="en-US" altLang="en-US" b="0" i="1" smtClean="0">
                          <a:solidFill>
                            <a:srgbClr val="C00000"/>
                          </a:solidFill>
                          <a:latin typeface="Cambria Math"/>
                          <a:ea typeface="Cambria Math"/>
                          <a:cs typeface="Times New Roman" panose="02020603050405020304" pitchFamily="18" charset="0"/>
                        </a:rPr>
                        <m:t>=0</m:t>
                      </m:r>
                    </m:oMath>
                  </m:oMathPara>
                </a14:m>
                <a:endParaRPr lang="en-US" altLang="en-US" dirty="0" smtClean="0">
                  <a:solidFill>
                    <a:srgbClr val="C00000"/>
                  </a:solidFill>
                  <a:cs typeface="Times New Roman" panose="02020603050405020304" pitchFamily="18" charset="0"/>
                </a:endParaRPr>
              </a:p>
            </p:txBody>
          </p:sp>
        </mc:Choice>
        <mc:Fallback xmlns="">
          <p:sp>
            <p:nvSpPr>
              <p:cNvPr id="29699" name="Rectangle 3"/>
              <p:cNvSpPr>
                <a:spLocks noGrp="1" noRot="1" noChangeAspect="1" noMove="1" noResize="1" noEditPoints="1" noAdjustHandles="1" noChangeArrowheads="1" noChangeShapeType="1" noTextEdit="1"/>
              </p:cNvSpPr>
              <p:nvPr>
                <p:ph idx="1"/>
              </p:nvPr>
            </p:nvSpPr>
            <p:spPr>
              <a:blipFill rotWithShape="1">
                <a:blip r:embed="rId2"/>
                <a:stretch>
                  <a:fillRect l="-1786" t="-1647"/>
                </a:stretch>
              </a:blipFill>
            </p:spPr>
            <p:txBody>
              <a:bodyPr/>
              <a:lstStyle/>
              <a:p>
                <a:r>
                  <a:rPr lang="en-US">
                    <a:noFill/>
                  </a:rPr>
                  <a:t> </a:t>
                </a:r>
              </a:p>
            </p:txBody>
          </p:sp>
        </mc:Fallback>
      </mc:AlternateContent>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545E43DB-1650-4015-875C-60096194C905}" type="slidenum">
              <a:rPr lang="en-US" smtClean="0"/>
              <a:pPr>
                <a:defRPr/>
              </a:pPr>
              <a:t>7</a:t>
            </a:fld>
            <a:endParaRPr lang="en-US"/>
          </a:p>
        </p:txBody>
      </p:sp>
    </p:spTree>
    <p:extLst>
      <p:ext uri="{BB962C8B-B14F-4D97-AF65-F5344CB8AC3E}">
        <p14:creationId xmlns:p14="http://schemas.microsoft.com/office/powerpoint/2010/main" val="233574306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r>
              <a:rPr lang="en-US" altLang="en-US" smtClean="0"/>
              <a:t>Profit Maximization</a:t>
            </a:r>
          </a:p>
        </p:txBody>
      </p:sp>
      <p:sp>
        <p:nvSpPr>
          <p:cNvPr id="29699" name="Rectangle 3"/>
          <p:cNvSpPr>
            <a:spLocks noGrp="1" noChangeArrowheads="1"/>
          </p:cNvSpPr>
          <p:nvPr>
            <p:ph idx="1"/>
          </p:nvPr>
        </p:nvSpPr>
        <p:spPr/>
        <p:txBody>
          <a:bodyPr/>
          <a:lstStyle/>
          <a:p>
            <a:r>
              <a:rPr lang="en-US" altLang="en-US" dirty="0" smtClean="0"/>
              <a:t>The monopoly</a:t>
            </a:r>
          </a:p>
          <a:p>
            <a:pPr lvl="1"/>
            <a:r>
              <a:rPr lang="en-US" altLang="en-US" dirty="0" smtClean="0"/>
              <a:t>Faces a negatively sloped market demand curve: </a:t>
            </a:r>
            <a:r>
              <a:rPr lang="en-US" altLang="en-US" i="1" dirty="0" smtClean="0">
                <a:latin typeface="Times New Roman" panose="02020603050405020304" pitchFamily="18" charset="0"/>
                <a:cs typeface="Times New Roman" panose="02020603050405020304" pitchFamily="18" charset="0"/>
              </a:rPr>
              <a:t>P’(Q) &lt; 0</a:t>
            </a:r>
          </a:p>
          <a:p>
            <a:pPr lvl="1"/>
            <a:r>
              <a:rPr lang="en-US" altLang="en-US" dirty="0" smtClean="0"/>
              <a:t>Marginal revenue &lt; market price: </a:t>
            </a:r>
          </a:p>
          <a:p>
            <a:pPr marL="457200" lvl="1" indent="0">
              <a:buNone/>
            </a:pPr>
            <a:r>
              <a:rPr lang="en-US" altLang="en-US" i="1" dirty="0">
                <a:solidFill>
                  <a:srgbClr val="C00000"/>
                </a:solidFill>
                <a:latin typeface="Times New Roman" panose="02020603050405020304" pitchFamily="18" charset="0"/>
                <a:cs typeface="Times New Roman" panose="02020603050405020304" pitchFamily="18" charset="0"/>
              </a:rPr>
              <a:t>	</a:t>
            </a:r>
            <a:r>
              <a:rPr lang="en-US" altLang="en-US" i="1" dirty="0" smtClean="0">
                <a:solidFill>
                  <a:srgbClr val="C00000"/>
                </a:solidFill>
                <a:latin typeface="Times New Roman" panose="02020603050405020304" pitchFamily="18" charset="0"/>
                <a:cs typeface="Times New Roman" panose="02020603050405020304" pitchFamily="18" charset="0"/>
              </a:rPr>
              <a:t>MR(Q) = P(Q)+QP’(Q) &lt; P(Q)</a:t>
            </a:r>
          </a:p>
          <a:p>
            <a:pPr lvl="1"/>
            <a:r>
              <a:rPr lang="en-US" altLang="en-US" dirty="0" smtClean="0"/>
              <a:t>To sell an additional unit, the monopoly must lower its price on all units</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545E43DB-1650-4015-875C-60096194C905}" type="slidenum">
              <a:rPr lang="en-US" smtClean="0"/>
              <a:pPr>
                <a:defRPr/>
              </a:pPr>
              <a:t>8</a:t>
            </a:fld>
            <a:endParaRPr lang="en-US"/>
          </a:p>
        </p:txBody>
      </p:sp>
    </p:spTree>
    <p:extLst>
      <p:ext uri="{BB962C8B-B14F-4D97-AF65-F5344CB8AC3E}">
        <p14:creationId xmlns:p14="http://schemas.microsoft.com/office/powerpoint/2010/main" val="393491143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bwMode="auto">
          <a:xfrm>
            <a:off x="1143000" y="0"/>
            <a:ext cx="8001000" cy="1092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14.1	Profit </a:t>
            </a:r>
            <a:r>
              <a:rPr lang="en-US" altLang="en-US" dirty="0"/>
              <a:t>Maximization and Price Determination </a:t>
            </a:r>
            <a:r>
              <a:rPr lang="en-US" altLang="en-US" dirty="0" smtClean="0"/>
              <a:t/>
            </a:r>
            <a:br>
              <a:rPr lang="en-US" altLang="en-US" dirty="0" smtClean="0"/>
            </a:br>
            <a:r>
              <a:rPr lang="en-US" altLang="en-US" dirty="0"/>
              <a:t>	</a:t>
            </a:r>
            <a:r>
              <a:rPr lang="en-US" altLang="en-US" dirty="0" smtClean="0">
                <a:solidFill>
                  <a:srgbClr val="002D56"/>
                </a:solidFill>
              </a:rPr>
              <a:t>for </a:t>
            </a:r>
            <a:r>
              <a:rPr lang="en-US" altLang="en-US" dirty="0">
                <a:solidFill>
                  <a:srgbClr val="002D56"/>
                </a:solidFill>
              </a:rPr>
              <a:t>a </a:t>
            </a:r>
            <a:r>
              <a:rPr lang="en-US" altLang="en-US" dirty="0" smtClean="0">
                <a:solidFill>
                  <a:srgbClr val="002D56"/>
                </a:solidFill>
              </a:rPr>
              <a:t>Monopoly</a:t>
            </a:r>
            <a:r>
              <a:rPr lang="en-US" altLang="en-US" dirty="0">
                <a:solidFill>
                  <a:srgbClr val="002D56"/>
                </a:solidFill>
              </a:rPr>
              <a:t>	</a:t>
            </a:r>
            <a:endParaRPr lang="en-US" altLang="en-US" dirty="0" smtClean="0">
              <a:solidFill>
                <a:srgbClr val="002D56"/>
              </a:solidFill>
            </a:endParaRPr>
          </a:p>
        </p:txBody>
      </p:sp>
      <p:sp>
        <p:nvSpPr>
          <p:cNvPr id="30723" name="Text Placeholder 2"/>
          <p:cNvSpPr>
            <a:spLocks noGrp="1"/>
          </p:cNvSpPr>
          <p:nvPr>
            <p:ph sz="half" idx="1"/>
          </p:nvPr>
        </p:nvSpPr>
        <p:spPr>
          <a:xfrm>
            <a:off x="228600" y="5030788"/>
            <a:ext cx="8686800" cy="1293812"/>
          </a:xfrm>
        </p:spPr>
        <p:txBody>
          <a:bodyPr>
            <a:normAutofit/>
          </a:bodyPr>
          <a:lstStyle/>
          <a:p>
            <a:pPr>
              <a:spcBef>
                <a:spcPct val="0"/>
              </a:spcBef>
            </a:pPr>
            <a:r>
              <a:rPr lang="en-US" altLang="en-US" dirty="0"/>
              <a:t>A profit-maximizing monopolist produces that quantity for which marginal revenue is equal to marginal cost. In the diagram this quantity is given by </a:t>
            </a:r>
            <a:r>
              <a:rPr lang="en-US" altLang="en-US" dirty="0" err="1" smtClean="0"/>
              <a:t>Q</a:t>
            </a:r>
            <a:r>
              <a:rPr lang="en-US" altLang="en-US" baseline="-25000" dirty="0" err="1" smtClean="0"/>
              <a:t>m</a:t>
            </a:r>
            <a:r>
              <a:rPr lang="en-US" altLang="en-US" dirty="0" smtClean="0"/>
              <a:t>, </a:t>
            </a:r>
            <a:r>
              <a:rPr lang="en-US" altLang="en-US" dirty="0"/>
              <a:t>which will yield a price of </a:t>
            </a:r>
            <a:r>
              <a:rPr lang="en-US" altLang="en-US" baseline="-25000" dirty="0" smtClean="0"/>
              <a:t>Pm</a:t>
            </a:r>
            <a:r>
              <a:rPr lang="en-US" altLang="en-US" dirty="0" smtClean="0"/>
              <a:t> </a:t>
            </a:r>
            <a:r>
              <a:rPr lang="en-US" altLang="en-US" dirty="0"/>
              <a:t>in the market. Monopoly profits can be read as the rectangle of </a:t>
            </a:r>
            <a:r>
              <a:rPr lang="en-US" altLang="en-US" dirty="0" err="1" smtClean="0"/>
              <a:t>P</a:t>
            </a:r>
            <a:r>
              <a:rPr lang="en-US" altLang="en-US" baseline="-25000" dirty="0" err="1" smtClean="0"/>
              <a:t>m</a:t>
            </a:r>
            <a:r>
              <a:rPr lang="en-US" altLang="en-US" dirty="0" err="1" smtClean="0"/>
              <a:t>ABAC</a:t>
            </a:r>
            <a:r>
              <a:rPr lang="en-US" altLang="en-US" baseline="-25000" dirty="0" err="1" smtClean="0"/>
              <a:t>m</a:t>
            </a:r>
            <a:r>
              <a:rPr lang="en-US" altLang="en-US" dirty="0" smtClean="0"/>
              <a:t>.</a:t>
            </a:r>
            <a:endParaRPr lang="en-US" altLang="en-US" dirty="0"/>
          </a:p>
          <a:p>
            <a:pPr>
              <a:spcBef>
                <a:spcPct val="0"/>
              </a:spcBef>
            </a:pPr>
            <a:endParaRPr lang="en-US" altLang="en-US" dirty="0" smtClean="0"/>
          </a:p>
        </p:txBody>
      </p:sp>
      <p:sp>
        <p:nvSpPr>
          <p:cNvPr id="30726" name="Footer Placeholder 5"/>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5" name="Slide Number Placeholder 4"/>
          <p:cNvSpPr>
            <a:spLocks noGrp="1"/>
          </p:cNvSpPr>
          <p:nvPr>
            <p:ph type="sldNum" sz="quarter" idx="11"/>
          </p:nvPr>
        </p:nvSpPr>
        <p:spPr/>
        <p:txBody>
          <a:bodyPr/>
          <a:lstStyle/>
          <a:p>
            <a:pPr>
              <a:defRPr/>
            </a:pPr>
            <a:fld id="{EF7E722B-BF59-49D3-8409-856176215AB4}" type="slidenum">
              <a:rPr lang="en-US" smtClean="0"/>
              <a:pPr>
                <a:defRPr/>
              </a:pPr>
              <a:t>9</a:t>
            </a:fld>
            <a:endParaRPr lang="en-US" dirty="0"/>
          </a:p>
        </p:txBody>
      </p:sp>
      <p:grpSp>
        <p:nvGrpSpPr>
          <p:cNvPr id="7" name="Group 35"/>
          <p:cNvGrpSpPr>
            <a:grpSpLocks/>
          </p:cNvGrpSpPr>
          <p:nvPr/>
        </p:nvGrpSpPr>
        <p:grpSpPr bwMode="auto">
          <a:xfrm>
            <a:off x="1668463" y="2836862"/>
            <a:ext cx="1905000" cy="515937"/>
            <a:chOff x="1668483" y="2837482"/>
            <a:chExt cx="1905000" cy="515937"/>
          </a:xfrm>
        </p:grpSpPr>
        <p:sp>
          <p:nvSpPr>
            <p:cNvPr id="30759" name="Line 22"/>
            <p:cNvSpPr>
              <a:spLocks noChangeShapeType="1"/>
            </p:cNvSpPr>
            <p:nvPr/>
          </p:nvSpPr>
          <p:spPr bwMode="auto">
            <a:xfrm flipH="1">
              <a:off x="2430483" y="3022271"/>
              <a:ext cx="1143000" cy="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760" name="Text Box 23"/>
            <p:cNvSpPr txBox="1">
              <a:spLocks noChangeArrowheads="1"/>
            </p:cNvSpPr>
            <p:nvPr/>
          </p:nvSpPr>
          <p:spPr bwMode="auto">
            <a:xfrm>
              <a:off x="1668483" y="2837482"/>
              <a:ext cx="693738" cy="515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dirty="0" err="1" smtClean="0"/>
                <a:t>AC</a:t>
              </a:r>
              <a:r>
                <a:rPr lang="en-US" altLang="en-US" sz="1800" i="1" baseline="-25000" dirty="0" err="1" smtClean="0"/>
                <a:t>m</a:t>
              </a:r>
              <a:endParaRPr lang="en-US" altLang="en-US" sz="1800" i="1" baseline="-25000" dirty="0"/>
            </a:p>
          </p:txBody>
        </p:sp>
      </p:grpSp>
      <p:grpSp>
        <p:nvGrpSpPr>
          <p:cNvPr id="22" name="Group 28"/>
          <p:cNvGrpSpPr>
            <a:grpSpLocks/>
          </p:cNvGrpSpPr>
          <p:nvPr/>
        </p:nvGrpSpPr>
        <p:grpSpPr bwMode="auto">
          <a:xfrm>
            <a:off x="2659063" y="2092325"/>
            <a:ext cx="3894137" cy="1035050"/>
            <a:chOff x="2659083" y="2091995"/>
            <a:chExt cx="3894137" cy="1035050"/>
          </a:xfrm>
        </p:grpSpPr>
        <p:sp>
          <p:nvSpPr>
            <p:cNvPr id="30757" name="Freeform 10"/>
            <p:cNvSpPr>
              <a:spLocks/>
            </p:cNvSpPr>
            <p:nvPr/>
          </p:nvSpPr>
          <p:spPr bwMode="auto">
            <a:xfrm>
              <a:off x="2659083" y="2352345"/>
              <a:ext cx="3048000" cy="774700"/>
            </a:xfrm>
            <a:custGeom>
              <a:avLst/>
              <a:gdLst>
                <a:gd name="T0" fmla="*/ 0 w 1920"/>
                <a:gd name="T1" fmla="*/ 0 h 488"/>
                <a:gd name="T2" fmla="*/ 1295400 w 1920"/>
                <a:gd name="T3" fmla="*/ 762000 h 488"/>
                <a:gd name="T4" fmla="*/ 3048000 w 1920"/>
                <a:gd name="T5" fmla="*/ 76200 h 488"/>
                <a:gd name="T6" fmla="*/ 0 60000 65536"/>
                <a:gd name="T7" fmla="*/ 0 60000 65536"/>
                <a:gd name="T8" fmla="*/ 0 60000 65536"/>
                <a:gd name="T9" fmla="*/ 0 w 1920"/>
                <a:gd name="T10" fmla="*/ 0 h 488"/>
                <a:gd name="T11" fmla="*/ 1920 w 1920"/>
                <a:gd name="T12" fmla="*/ 488 h 488"/>
              </a:gdLst>
              <a:ahLst/>
              <a:cxnLst>
                <a:cxn ang="T6">
                  <a:pos x="T0" y="T1"/>
                </a:cxn>
                <a:cxn ang="T7">
                  <a:pos x="T2" y="T3"/>
                </a:cxn>
                <a:cxn ang="T8">
                  <a:pos x="T4" y="T5"/>
                </a:cxn>
              </a:cxnLst>
              <a:rect l="T9" t="T10" r="T11" b="T12"/>
              <a:pathLst>
                <a:path w="1920" h="488">
                  <a:moveTo>
                    <a:pt x="0" y="0"/>
                  </a:moveTo>
                  <a:cubicBezTo>
                    <a:pt x="248" y="236"/>
                    <a:pt x="496" y="472"/>
                    <a:pt x="816" y="480"/>
                  </a:cubicBezTo>
                  <a:cubicBezTo>
                    <a:pt x="1136" y="488"/>
                    <a:pt x="1528" y="268"/>
                    <a:pt x="1920" y="48"/>
                  </a:cubicBezTo>
                </a:path>
              </a:pathLst>
            </a:custGeom>
            <a:noFill/>
            <a:ln w="38100" cap="flat" cmpd="sng">
              <a:solidFill>
                <a:srgbClr val="177B2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0758" name="Text Box 11"/>
            <p:cNvSpPr txBox="1">
              <a:spLocks noChangeArrowheads="1"/>
            </p:cNvSpPr>
            <p:nvPr/>
          </p:nvSpPr>
          <p:spPr bwMode="auto">
            <a:xfrm>
              <a:off x="5691208" y="2091995"/>
              <a:ext cx="8620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dirty="0" smtClean="0">
                  <a:solidFill>
                    <a:srgbClr val="177B21"/>
                  </a:solidFill>
                </a:rPr>
                <a:t>AC(Q)</a:t>
              </a:r>
              <a:endParaRPr lang="en-US" altLang="en-US" sz="1800" i="1" dirty="0">
                <a:solidFill>
                  <a:srgbClr val="177B21"/>
                </a:solidFill>
              </a:endParaRPr>
            </a:p>
          </p:txBody>
        </p:sp>
      </p:grpSp>
      <p:grpSp>
        <p:nvGrpSpPr>
          <p:cNvPr id="25" name="Group 30"/>
          <p:cNvGrpSpPr>
            <a:grpSpLocks/>
          </p:cNvGrpSpPr>
          <p:nvPr/>
        </p:nvGrpSpPr>
        <p:grpSpPr bwMode="auto">
          <a:xfrm>
            <a:off x="2963863" y="1041400"/>
            <a:ext cx="2625725" cy="2971800"/>
            <a:chOff x="2963883" y="1041070"/>
            <a:chExt cx="2625726" cy="2971800"/>
          </a:xfrm>
        </p:grpSpPr>
        <p:sp>
          <p:nvSpPr>
            <p:cNvPr id="30755" name="Freeform 9"/>
            <p:cNvSpPr>
              <a:spLocks/>
            </p:cNvSpPr>
            <p:nvPr/>
          </p:nvSpPr>
          <p:spPr bwMode="auto">
            <a:xfrm>
              <a:off x="2963883" y="1345870"/>
              <a:ext cx="1828800" cy="2667000"/>
            </a:xfrm>
            <a:custGeom>
              <a:avLst/>
              <a:gdLst>
                <a:gd name="T0" fmla="*/ 0 w 1152"/>
                <a:gd name="T1" fmla="*/ 2667000 h 1680"/>
                <a:gd name="T2" fmla="*/ 1066800 w 1152"/>
                <a:gd name="T3" fmla="*/ 1752600 h 1680"/>
                <a:gd name="T4" fmla="*/ 1828800 w 1152"/>
                <a:gd name="T5" fmla="*/ 0 h 1680"/>
                <a:gd name="T6" fmla="*/ 0 60000 65536"/>
                <a:gd name="T7" fmla="*/ 0 60000 65536"/>
                <a:gd name="T8" fmla="*/ 0 60000 65536"/>
                <a:gd name="T9" fmla="*/ 0 w 1152"/>
                <a:gd name="T10" fmla="*/ 0 h 1680"/>
                <a:gd name="T11" fmla="*/ 1152 w 1152"/>
                <a:gd name="T12" fmla="*/ 1680 h 1680"/>
              </a:gdLst>
              <a:ahLst/>
              <a:cxnLst>
                <a:cxn ang="T6">
                  <a:pos x="T0" y="T1"/>
                </a:cxn>
                <a:cxn ang="T7">
                  <a:pos x="T2" y="T3"/>
                </a:cxn>
                <a:cxn ang="T8">
                  <a:pos x="T4" y="T5"/>
                </a:cxn>
              </a:cxnLst>
              <a:rect l="T9" t="T10" r="T11" b="T12"/>
              <a:pathLst>
                <a:path w="1152" h="1680">
                  <a:moveTo>
                    <a:pt x="0" y="1680"/>
                  </a:moveTo>
                  <a:cubicBezTo>
                    <a:pt x="240" y="1532"/>
                    <a:pt x="480" y="1384"/>
                    <a:pt x="672" y="1104"/>
                  </a:cubicBezTo>
                  <a:cubicBezTo>
                    <a:pt x="864" y="824"/>
                    <a:pt x="1008" y="412"/>
                    <a:pt x="1152" y="0"/>
                  </a:cubicBezTo>
                </a:path>
              </a:pathLst>
            </a:custGeom>
            <a:noFill/>
            <a:ln w="38100" cap="flat" cmpd="sng">
              <a:solidFill>
                <a:srgbClr val="5D0D8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0756" name="Text Box 12"/>
            <p:cNvSpPr txBox="1">
              <a:spLocks noChangeArrowheads="1"/>
            </p:cNvSpPr>
            <p:nvPr/>
          </p:nvSpPr>
          <p:spPr bwMode="auto">
            <a:xfrm>
              <a:off x="4716483" y="1041070"/>
              <a:ext cx="873126"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dirty="0" smtClean="0">
                  <a:solidFill>
                    <a:srgbClr val="5D0D8F"/>
                  </a:solidFill>
                </a:rPr>
                <a:t>MC(Q)</a:t>
              </a:r>
              <a:endParaRPr lang="en-US" altLang="en-US" sz="1800" i="1" dirty="0">
                <a:solidFill>
                  <a:srgbClr val="5D0D8F"/>
                </a:solidFill>
              </a:endParaRPr>
            </a:p>
          </p:txBody>
        </p:sp>
      </p:grpSp>
      <p:grpSp>
        <p:nvGrpSpPr>
          <p:cNvPr id="28" name="Group 32"/>
          <p:cNvGrpSpPr>
            <a:grpSpLocks/>
          </p:cNvGrpSpPr>
          <p:nvPr/>
        </p:nvGrpSpPr>
        <p:grpSpPr bwMode="auto">
          <a:xfrm>
            <a:off x="2770188" y="1498600"/>
            <a:ext cx="3622675" cy="3225800"/>
            <a:chOff x="2735283" y="1498270"/>
            <a:chExt cx="3622675" cy="3225800"/>
          </a:xfrm>
        </p:grpSpPr>
        <p:sp>
          <p:nvSpPr>
            <p:cNvPr id="30753" name="Line 7"/>
            <p:cNvSpPr>
              <a:spLocks noChangeShapeType="1"/>
            </p:cNvSpPr>
            <p:nvPr/>
          </p:nvSpPr>
          <p:spPr bwMode="auto">
            <a:xfrm>
              <a:off x="2735283" y="1498270"/>
              <a:ext cx="2819400" cy="2819400"/>
            </a:xfrm>
            <a:prstGeom prst="line">
              <a:avLst/>
            </a:prstGeom>
            <a:noFill/>
            <a:ln w="38100">
              <a:solidFill>
                <a:srgbClr val="C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754" name="Text Box 13"/>
            <p:cNvSpPr txBox="1">
              <a:spLocks noChangeArrowheads="1"/>
            </p:cNvSpPr>
            <p:nvPr/>
          </p:nvSpPr>
          <p:spPr bwMode="auto">
            <a:xfrm>
              <a:off x="5554682" y="4163682"/>
              <a:ext cx="803276" cy="56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dirty="0" smtClean="0">
                  <a:solidFill>
                    <a:srgbClr val="C00000"/>
                  </a:solidFill>
                </a:rPr>
                <a:t>P(Q)</a:t>
              </a:r>
              <a:endParaRPr lang="en-US" altLang="en-US" sz="1800" i="1" dirty="0">
                <a:solidFill>
                  <a:srgbClr val="C00000"/>
                </a:solidFill>
              </a:endParaRPr>
            </a:p>
          </p:txBody>
        </p:sp>
      </p:grpSp>
      <p:grpSp>
        <p:nvGrpSpPr>
          <p:cNvPr id="29" name="Group 33"/>
          <p:cNvGrpSpPr>
            <a:grpSpLocks/>
          </p:cNvGrpSpPr>
          <p:nvPr/>
        </p:nvGrpSpPr>
        <p:grpSpPr bwMode="auto">
          <a:xfrm>
            <a:off x="2811463" y="1727200"/>
            <a:ext cx="1981199" cy="2851150"/>
            <a:chOff x="2811483" y="1726870"/>
            <a:chExt cx="1981200" cy="2851150"/>
          </a:xfrm>
        </p:grpSpPr>
        <p:sp>
          <p:nvSpPr>
            <p:cNvPr id="30751" name="Line 8"/>
            <p:cNvSpPr>
              <a:spLocks noChangeShapeType="1"/>
            </p:cNvSpPr>
            <p:nvPr/>
          </p:nvSpPr>
          <p:spPr bwMode="auto">
            <a:xfrm>
              <a:off x="2811483" y="1726870"/>
              <a:ext cx="1143000" cy="2743200"/>
            </a:xfrm>
            <a:prstGeom prst="line">
              <a:avLst/>
            </a:prstGeom>
            <a:noFill/>
            <a:ln w="38100">
              <a:solidFill>
                <a:srgbClr val="C00000"/>
              </a:solidFill>
              <a:round/>
              <a:headEnd/>
              <a:tailEnd/>
            </a:ln>
            <a:extLst>
              <a:ext uri="{909E8E84-426E-40DD-AFC4-6F175D3DCCD1}">
                <a14:hiddenFill xmlns:a14="http://schemas.microsoft.com/office/drawing/2010/main">
                  <a:noFill/>
                </a14:hiddenFill>
              </a:ext>
            </a:extLst>
          </p:spPr>
          <p:txBody>
            <a:bodyPr anchor="ctr"/>
            <a:lstStyle/>
            <a:p>
              <a:endParaRPr lang="en-US"/>
            </a:p>
          </p:txBody>
        </p:sp>
        <p:sp>
          <p:nvSpPr>
            <p:cNvPr id="30752" name="Text Box 14"/>
            <p:cNvSpPr txBox="1">
              <a:spLocks noChangeArrowheads="1"/>
            </p:cNvSpPr>
            <p:nvPr/>
          </p:nvSpPr>
          <p:spPr bwMode="auto">
            <a:xfrm>
              <a:off x="4030683" y="4163682"/>
              <a:ext cx="762000" cy="414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dirty="0" smtClean="0">
                  <a:solidFill>
                    <a:srgbClr val="C00000"/>
                  </a:solidFill>
                </a:rPr>
                <a:t>MR(Q)</a:t>
              </a:r>
              <a:endParaRPr lang="en-US" altLang="en-US" sz="1800" i="1" dirty="0">
                <a:solidFill>
                  <a:srgbClr val="C00000"/>
                </a:solidFill>
              </a:endParaRPr>
            </a:p>
          </p:txBody>
        </p:sp>
      </p:grpSp>
      <p:grpSp>
        <p:nvGrpSpPr>
          <p:cNvPr id="30" name="Group 43"/>
          <p:cNvGrpSpPr>
            <a:grpSpLocks/>
          </p:cNvGrpSpPr>
          <p:nvPr/>
        </p:nvGrpSpPr>
        <p:grpSpPr bwMode="auto">
          <a:xfrm>
            <a:off x="1668463" y="1092200"/>
            <a:ext cx="5951536" cy="3823494"/>
            <a:chOff x="1668483" y="1091870"/>
            <a:chExt cx="5951536" cy="3823494"/>
          </a:xfrm>
        </p:grpSpPr>
        <p:grpSp>
          <p:nvGrpSpPr>
            <p:cNvPr id="30745" name="Group 29"/>
            <p:cNvGrpSpPr>
              <a:grpSpLocks/>
            </p:cNvGrpSpPr>
            <p:nvPr/>
          </p:nvGrpSpPr>
          <p:grpSpPr bwMode="auto">
            <a:xfrm>
              <a:off x="2430483" y="4573258"/>
              <a:ext cx="5189536" cy="342106"/>
              <a:chOff x="2430483" y="4573258"/>
              <a:chExt cx="5189536" cy="342106"/>
            </a:xfrm>
          </p:grpSpPr>
          <p:sp>
            <p:nvSpPr>
              <p:cNvPr id="30749" name="Line 6"/>
              <p:cNvSpPr>
                <a:spLocks noChangeShapeType="1"/>
              </p:cNvSpPr>
              <p:nvPr/>
            </p:nvSpPr>
            <p:spPr bwMode="auto">
              <a:xfrm>
                <a:off x="2430483" y="4698670"/>
                <a:ext cx="39624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750" name="Text Box 15"/>
              <p:cNvSpPr txBox="1">
                <a:spLocks noChangeArrowheads="1"/>
              </p:cNvSpPr>
              <p:nvPr/>
            </p:nvSpPr>
            <p:spPr bwMode="auto">
              <a:xfrm>
                <a:off x="6392882" y="4573258"/>
                <a:ext cx="1227137" cy="342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dirty="0" smtClean="0"/>
                  <a:t>Quantity, Q</a:t>
                </a:r>
                <a:endParaRPr lang="en-US" altLang="en-US" sz="1800" dirty="0"/>
              </a:p>
            </p:txBody>
          </p:sp>
        </p:grpSp>
        <p:grpSp>
          <p:nvGrpSpPr>
            <p:cNvPr id="30746" name="Group 31"/>
            <p:cNvGrpSpPr>
              <a:grpSpLocks/>
            </p:cNvGrpSpPr>
            <p:nvPr/>
          </p:nvGrpSpPr>
          <p:grpSpPr bwMode="auto">
            <a:xfrm>
              <a:off x="1668483" y="1091870"/>
              <a:ext cx="762000" cy="3606800"/>
              <a:chOff x="1668483" y="1091870"/>
              <a:chExt cx="762000" cy="3606800"/>
            </a:xfrm>
          </p:grpSpPr>
          <p:sp>
            <p:nvSpPr>
              <p:cNvPr id="30747" name="Line 5"/>
              <p:cNvSpPr>
                <a:spLocks noChangeShapeType="1"/>
              </p:cNvSpPr>
              <p:nvPr/>
            </p:nvSpPr>
            <p:spPr bwMode="auto">
              <a:xfrm>
                <a:off x="2430483" y="1345870"/>
                <a:ext cx="0" cy="33528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748" name="Text Box 16"/>
              <p:cNvSpPr txBox="1">
                <a:spLocks noChangeArrowheads="1"/>
              </p:cNvSpPr>
              <p:nvPr/>
            </p:nvSpPr>
            <p:spPr bwMode="auto">
              <a:xfrm>
                <a:off x="1668483" y="1091870"/>
                <a:ext cx="5889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t>Price</a:t>
                </a:r>
              </a:p>
            </p:txBody>
          </p:sp>
        </p:grpSp>
      </p:grpSp>
      <p:grpSp>
        <p:nvGrpSpPr>
          <p:cNvPr id="33" name="Group 36"/>
          <p:cNvGrpSpPr>
            <a:grpSpLocks/>
          </p:cNvGrpSpPr>
          <p:nvPr/>
        </p:nvGrpSpPr>
        <p:grpSpPr bwMode="auto">
          <a:xfrm>
            <a:off x="3430588" y="2292350"/>
            <a:ext cx="600074" cy="2813050"/>
            <a:chOff x="3406793" y="2292020"/>
            <a:chExt cx="600074" cy="2813050"/>
          </a:xfrm>
        </p:grpSpPr>
        <p:sp>
          <p:nvSpPr>
            <p:cNvPr id="30743" name="Line 17"/>
            <p:cNvSpPr>
              <a:spLocks noChangeShapeType="1"/>
            </p:cNvSpPr>
            <p:nvPr/>
          </p:nvSpPr>
          <p:spPr bwMode="auto">
            <a:xfrm>
              <a:off x="3575068" y="2292020"/>
              <a:ext cx="0" cy="236220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nchor="ctr"/>
            <a:lstStyle/>
            <a:p>
              <a:endParaRPr lang="en-US"/>
            </a:p>
          </p:txBody>
        </p:sp>
        <p:sp>
          <p:nvSpPr>
            <p:cNvPr id="30744" name="Text Box 20"/>
            <p:cNvSpPr txBox="1">
              <a:spLocks noChangeArrowheads="1"/>
            </p:cNvSpPr>
            <p:nvPr/>
          </p:nvSpPr>
          <p:spPr bwMode="auto">
            <a:xfrm>
              <a:off x="3406793" y="4725658"/>
              <a:ext cx="600074" cy="379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dirty="0" err="1" smtClean="0"/>
                <a:t>Q</a:t>
              </a:r>
              <a:r>
                <a:rPr lang="en-US" altLang="en-US" sz="1800" i="1" baseline="-25000" dirty="0" err="1" smtClean="0"/>
                <a:t>m</a:t>
              </a:r>
              <a:endParaRPr lang="en-US" altLang="en-US" sz="1800" i="1" baseline="-25000" dirty="0"/>
            </a:p>
          </p:txBody>
        </p:sp>
      </p:grpSp>
      <p:grpSp>
        <p:nvGrpSpPr>
          <p:cNvPr id="34" name="Group 34"/>
          <p:cNvGrpSpPr>
            <a:grpSpLocks/>
          </p:cNvGrpSpPr>
          <p:nvPr/>
        </p:nvGrpSpPr>
        <p:grpSpPr bwMode="auto">
          <a:xfrm>
            <a:off x="1824831" y="2057400"/>
            <a:ext cx="1748632" cy="492125"/>
            <a:chOff x="1824851" y="2080883"/>
            <a:chExt cx="1748632" cy="492125"/>
          </a:xfrm>
        </p:grpSpPr>
        <p:sp>
          <p:nvSpPr>
            <p:cNvPr id="30741" name="Line 19"/>
            <p:cNvSpPr>
              <a:spLocks noChangeShapeType="1"/>
            </p:cNvSpPr>
            <p:nvPr/>
          </p:nvSpPr>
          <p:spPr bwMode="auto">
            <a:xfrm flipH="1">
              <a:off x="2430483" y="2336471"/>
              <a:ext cx="1143000" cy="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742" name="Text Box 21"/>
            <p:cNvSpPr txBox="1">
              <a:spLocks noChangeArrowheads="1"/>
            </p:cNvSpPr>
            <p:nvPr/>
          </p:nvSpPr>
          <p:spPr bwMode="auto">
            <a:xfrm>
              <a:off x="1824851" y="2080883"/>
              <a:ext cx="537369"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dirty="0" smtClean="0"/>
                <a:t>P</a:t>
              </a:r>
              <a:r>
                <a:rPr lang="en-US" altLang="en-US" sz="1800" i="1" baseline="-25000" dirty="0" smtClean="0"/>
                <a:t>m</a:t>
              </a:r>
              <a:endParaRPr lang="en-US" altLang="en-US" sz="1800" i="1" baseline="-25000" dirty="0"/>
            </a:p>
          </p:txBody>
        </p:sp>
      </p:grpSp>
      <p:grpSp>
        <p:nvGrpSpPr>
          <p:cNvPr id="35" name="Group 56"/>
          <p:cNvGrpSpPr>
            <a:grpSpLocks/>
          </p:cNvGrpSpPr>
          <p:nvPr/>
        </p:nvGrpSpPr>
        <p:grpSpPr bwMode="auto">
          <a:xfrm>
            <a:off x="3565525" y="2686050"/>
            <a:ext cx="415925" cy="381000"/>
            <a:chOff x="4906435" y="3576187"/>
            <a:chExt cx="415873" cy="382334"/>
          </a:xfrm>
        </p:grpSpPr>
        <p:sp>
          <p:nvSpPr>
            <p:cNvPr id="30739" name="Text Box 23"/>
            <p:cNvSpPr txBox="1">
              <a:spLocks noChangeArrowheads="1"/>
            </p:cNvSpPr>
            <p:nvPr/>
          </p:nvSpPr>
          <p:spPr bwMode="auto">
            <a:xfrm>
              <a:off x="4936545" y="3576187"/>
              <a:ext cx="3857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dirty="0" smtClean="0"/>
                <a:t>B</a:t>
              </a:r>
              <a:endParaRPr lang="en-US" altLang="en-US" sz="1800" i="1" dirty="0"/>
            </a:p>
          </p:txBody>
        </p:sp>
        <p:sp>
          <p:nvSpPr>
            <p:cNvPr id="30740" name="Oval 9"/>
            <p:cNvSpPr>
              <a:spLocks noChangeArrowheads="1"/>
            </p:cNvSpPr>
            <p:nvPr/>
          </p:nvSpPr>
          <p:spPr bwMode="auto">
            <a:xfrm>
              <a:off x="4906435" y="3882215"/>
              <a:ext cx="76382" cy="76306"/>
            </a:xfrm>
            <a:prstGeom prst="ellipse">
              <a:avLst/>
            </a:prstGeom>
            <a:solidFill>
              <a:schemeClr val="tx1"/>
            </a:solidFill>
            <a:ln w="15875">
              <a:solidFill>
                <a:schemeClr val="tx1"/>
              </a:solidFill>
              <a:round/>
              <a:headEnd/>
              <a:tailEnd/>
            </a:ln>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grpSp>
      <p:grpSp>
        <p:nvGrpSpPr>
          <p:cNvPr id="36" name="Group 56"/>
          <p:cNvGrpSpPr>
            <a:grpSpLocks/>
          </p:cNvGrpSpPr>
          <p:nvPr/>
        </p:nvGrpSpPr>
        <p:grpSpPr bwMode="auto">
          <a:xfrm>
            <a:off x="3562350" y="1993900"/>
            <a:ext cx="428625" cy="358775"/>
            <a:chOff x="4906435" y="3599937"/>
            <a:chExt cx="427747" cy="358584"/>
          </a:xfrm>
        </p:grpSpPr>
        <p:sp>
          <p:nvSpPr>
            <p:cNvPr id="30737" name="Text Box 23"/>
            <p:cNvSpPr txBox="1">
              <a:spLocks noChangeArrowheads="1"/>
            </p:cNvSpPr>
            <p:nvPr/>
          </p:nvSpPr>
          <p:spPr bwMode="auto">
            <a:xfrm>
              <a:off x="4948419" y="3599937"/>
              <a:ext cx="3857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dirty="0" smtClean="0"/>
                <a:t>A</a:t>
              </a:r>
              <a:endParaRPr lang="en-US" altLang="en-US" sz="1800" i="1" dirty="0"/>
            </a:p>
          </p:txBody>
        </p:sp>
        <p:sp>
          <p:nvSpPr>
            <p:cNvPr id="30738" name="Oval 9"/>
            <p:cNvSpPr>
              <a:spLocks noChangeArrowheads="1"/>
            </p:cNvSpPr>
            <p:nvPr/>
          </p:nvSpPr>
          <p:spPr bwMode="auto">
            <a:xfrm>
              <a:off x="4906435" y="3882215"/>
              <a:ext cx="76382" cy="76306"/>
            </a:xfrm>
            <a:prstGeom prst="ellipse">
              <a:avLst/>
            </a:prstGeom>
            <a:solidFill>
              <a:schemeClr val="tx1"/>
            </a:solidFill>
            <a:ln w="15875">
              <a:solidFill>
                <a:schemeClr val="tx1"/>
              </a:solidFill>
              <a:round/>
              <a:headEnd/>
              <a:tailEnd/>
            </a:ln>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grpSp>
    </p:spTree>
    <p:extLst>
      <p:ext uri="{BB962C8B-B14F-4D97-AF65-F5344CB8AC3E}">
        <p14:creationId xmlns:p14="http://schemas.microsoft.com/office/powerpoint/2010/main" val="222418292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wipe(left)">
                                      <p:cBhvr>
                                        <p:cTn id="7" dur="500"/>
                                        <p:tgtEl>
                                          <p:spTgt spid="30"/>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22"/>
                                        </p:tgtEl>
                                        <p:attrNameLst>
                                          <p:attrName>style.visibility</p:attrName>
                                        </p:attrNameLst>
                                      </p:cBhvr>
                                      <p:to>
                                        <p:strVal val="visible"/>
                                      </p:to>
                                    </p:set>
                                    <p:animEffect transition="in" filter="wipe(left)">
                                      <p:cBhvr>
                                        <p:cTn id="11" dur="500"/>
                                        <p:tgtEl>
                                          <p:spTgt spid="22"/>
                                        </p:tgtEl>
                                      </p:cBhvr>
                                    </p:animEffect>
                                  </p:childTnLst>
                                </p:cTn>
                              </p:par>
                            </p:childTnLst>
                          </p:cTn>
                        </p:par>
                        <p:par>
                          <p:cTn id="12" fill="hold" nodeType="afterGroup">
                            <p:stCondLst>
                              <p:cond delay="1000"/>
                            </p:stCondLst>
                            <p:childTnLst>
                              <p:par>
                                <p:cTn id="13" presetID="22" presetClass="entr" presetSubtype="8" fill="hold" nodeType="after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wipe(left)">
                                      <p:cBhvr>
                                        <p:cTn id="15" dur="500"/>
                                        <p:tgtEl>
                                          <p:spTgt spid="25"/>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nodeType="clickEffect">
                                  <p:stCondLst>
                                    <p:cond delay="0"/>
                                  </p:stCondLst>
                                  <p:childTnLst>
                                    <p:set>
                                      <p:cBhvr>
                                        <p:cTn id="19" dur="1" fill="hold">
                                          <p:stCondLst>
                                            <p:cond delay="0"/>
                                          </p:stCondLst>
                                        </p:cTn>
                                        <p:tgtEl>
                                          <p:spTgt spid="28"/>
                                        </p:tgtEl>
                                        <p:attrNameLst>
                                          <p:attrName>style.visibility</p:attrName>
                                        </p:attrNameLst>
                                      </p:cBhvr>
                                      <p:to>
                                        <p:strVal val="visible"/>
                                      </p:to>
                                    </p:set>
                                    <p:animEffect transition="in" filter="wipe(left)">
                                      <p:cBhvr>
                                        <p:cTn id="20" dur="500"/>
                                        <p:tgtEl>
                                          <p:spTgt spid="28"/>
                                        </p:tgtEl>
                                      </p:cBhvr>
                                    </p:animEffect>
                                  </p:childTnLst>
                                </p:cTn>
                              </p:par>
                            </p:childTnLst>
                          </p:cTn>
                        </p:par>
                        <p:par>
                          <p:cTn id="21" fill="hold" nodeType="afterGroup">
                            <p:stCondLst>
                              <p:cond delay="500"/>
                            </p:stCondLst>
                            <p:childTnLst>
                              <p:par>
                                <p:cTn id="22" presetID="22" presetClass="entr" presetSubtype="8" fill="hold" nodeType="after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wipe(left)">
                                      <p:cBhvr>
                                        <p:cTn id="24" dur="500"/>
                                        <p:tgtEl>
                                          <p:spTgt spid="29"/>
                                        </p:tgtEl>
                                      </p:cBhvr>
                                    </p:animEffect>
                                  </p:childTnLst>
                                </p:cTn>
                              </p:par>
                            </p:childTnLst>
                          </p:cTn>
                        </p:par>
                        <p:par>
                          <p:cTn id="25" fill="hold" nodeType="afterGroup">
                            <p:stCondLst>
                              <p:cond delay="1000"/>
                            </p:stCondLst>
                            <p:childTnLst>
                              <p:par>
                                <p:cTn id="26" presetID="22" presetClass="entr" presetSubtype="1" fill="hold" nodeType="afterEffect">
                                  <p:stCondLst>
                                    <p:cond delay="0"/>
                                  </p:stCondLst>
                                  <p:childTnLst>
                                    <p:set>
                                      <p:cBhvr>
                                        <p:cTn id="27" dur="1" fill="hold">
                                          <p:stCondLst>
                                            <p:cond delay="0"/>
                                          </p:stCondLst>
                                        </p:cTn>
                                        <p:tgtEl>
                                          <p:spTgt spid="33"/>
                                        </p:tgtEl>
                                        <p:attrNameLst>
                                          <p:attrName>style.visibility</p:attrName>
                                        </p:attrNameLst>
                                      </p:cBhvr>
                                      <p:to>
                                        <p:strVal val="visible"/>
                                      </p:to>
                                    </p:set>
                                    <p:animEffect transition="in" filter="wipe(up)">
                                      <p:cBhvr>
                                        <p:cTn id="28" dur="500"/>
                                        <p:tgtEl>
                                          <p:spTgt spid="33"/>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nodeType="clickEffect">
                                  <p:stCondLst>
                                    <p:cond delay="0"/>
                                  </p:stCondLst>
                                  <p:childTnLst>
                                    <p:set>
                                      <p:cBhvr>
                                        <p:cTn id="32" dur="1" fill="hold">
                                          <p:stCondLst>
                                            <p:cond delay="0"/>
                                          </p:stCondLst>
                                        </p:cTn>
                                        <p:tgtEl>
                                          <p:spTgt spid="36"/>
                                        </p:tgtEl>
                                        <p:attrNameLst>
                                          <p:attrName>style.visibility</p:attrName>
                                        </p:attrNameLst>
                                      </p:cBhvr>
                                      <p:to>
                                        <p:strVal val="visible"/>
                                      </p:to>
                                    </p:set>
                                    <p:animEffect transition="in" filter="wipe(left)">
                                      <p:cBhvr>
                                        <p:cTn id="33" dur="500"/>
                                        <p:tgtEl>
                                          <p:spTgt spid="36"/>
                                        </p:tgtEl>
                                      </p:cBhvr>
                                    </p:animEffect>
                                  </p:childTnLst>
                                </p:cTn>
                              </p:par>
                            </p:childTnLst>
                          </p:cTn>
                        </p:par>
                        <p:par>
                          <p:cTn id="34" fill="hold" nodeType="afterGroup">
                            <p:stCondLst>
                              <p:cond delay="500"/>
                            </p:stCondLst>
                            <p:childTnLst>
                              <p:par>
                                <p:cTn id="35" presetID="22" presetClass="entr" presetSubtype="8" fill="hold" nodeType="afterEffect">
                                  <p:stCondLst>
                                    <p:cond delay="0"/>
                                  </p:stCondLst>
                                  <p:childTnLst>
                                    <p:set>
                                      <p:cBhvr>
                                        <p:cTn id="36" dur="1" fill="hold">
                                          <p:stCondLst>
                                            <p:cond delay="0"/>
                                          </p:stCondLst>
                                        </p:cTn>
                                        <p:tgtEl>
                                          <p:spTgt spid="34"/>
                                        </p:tgtEl>
                                        <p:attrNameLst>
                                          <p:attrName>style.visibility</p:attrName>
                                        </p:attrNameLst>
                                      </p:cBhvr>
                                      <p:to>
                                        <p:strVal val="visible"/>
                                      </p:to>
                                    </p:set>
                                    <p:animEffect transition="in" filter="wipe(left)">
                                      <p:cBhvr>
                                        <p:cTn id="37" dur="500"/>
                                        <p:tgtEl>
                                          <p:spTgt spid="34"/>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35"/>
                                        </p:tgtEl>
                                        <p:attrNameLst>
                                          <p:attrName>style.visibility</p:attrName>
                                        </p:attrNameLst>
                                      </p:cBhvr>
                                      <p:to>
                                        <p:strVal val="visible"/>
                                      </p:to>
                                    </p:set>
                                    <p:animEffect transition="in" filter="wipe(left)">
                                      <p:cBhvr>
                                        <p:cTn id="42" dur="500"/>
                                        <p:tgtEl>
                                          <p:spTgt spid="35"/>
                                        </p:tgtEl>
                                      </p:cBhvr>
                                    </p:animEffect>
                                  </p:childTnLst>
                                </p:cTn>
                              </p:par>
                            </p:childTnLst>
                          </p:cTn>
                        </p:par>
                        <p:par>
                          <p:cTn id="43" fill="hold" nodeType="afterGroup">
                            <p:stCondLst>
                              <p:cond delay="500"/>
                            </p:stCondLst>
                            <p:childTnLst>
                              <p:par>
                                <p:cTn id="44" presetID="22" presetClass="entr" presetSubtype="8" fill="hold" nodeType="afterEffect">
                                  <p:stCondLst>
                                    <p:cond delay="0"/>
                                  </p:stCondLst>
                                  <p:childTnLst>
                                    <p:set>
                                      <p:cBhvr>
                                        <p:cTn id="45" dur="1" fill="hold">
                                          <p:stCondLst>
                                            <p:cond delay="0"/>
                                          </p:stCondLst>
                                        </p:cTn>
                                        <p:tgtEl>
                                          <p:spTgt spid="7"/>
                                        </p:tgtEl>
                                        <p:attrNameLst>
                                          <p:attrName>style.visibility</p:attrName>
                                        </p:attrNameLst>
                                      </p:cBhvr>
                                      <p:to>
                                        <p:strVal val="visible"/>
                                      </p:to>
                                    </p:set>
                                    <p:animEffect transition="in" filter="wipe(left)">
                                      <p:cBhvr>
                                        <p:cTn id="46" dur="500"/>
                                        <p:tgtEl>
                                          <p:spTgt spid="7"/>
                                        </p:tgtEl>
                                      </p:cBhvr>
                                    </p:animEffect>
                                  </p:childTnLst>
                                </p:cTn>
                              </p:par>
                            </p:childTnLst>
                          </p:cTn>
                        </p:par>
                        <p:par>
                          <p:cTn id="47" fill="hold">
                            <p:stCondLst>
                              <p:cond delay="1000"/>
                            </p:stCondLst>
                            <p:childTnLst>
                              <p:par>
                                <p:cTn id="48" presetID="22" presetClass="entr" presetSubtype="8" fill="hold" grpId="0" nodeType="afterEffect">
                                  <p:stCondLst>
                                    <p:cond delay="0"/>
                                  </p:stCondLst>
                                  <p:childTnLst>
                                    <p:set>
                                      <p:cBhvr>
                                        <p:cTn id="49" dur="1" fill="hold">
                                          <p:stCondLst>
                                            <p:cond delay="0"/>
                                          </p:stCondLst>
                                        </p:cTn>
                                        <p:tgtEl>
                                          <p:spTgt spid="30723">
                                            <p:txEl>
                                              <p:pRg st="0" end="0"/>
                                            </p:txEl>
                                          </p:spTgt>
                                        </p:tgtEl>
                                        <p:attrNameLst>
                                          <p:attrName>style.visibility</p:attrName>
                                        </p:attrNameLst>
                                      </p:cBhvr>
                                      <p:to>
                                        <p:strVal val="visible"/>
                                      </p:to>
                                    </p:set>
                                    <p:animEffect transition="in" filter="wipe(left)">
                                      <p:cBhvr>
                                        <p:cTn id="50" dur="500"/>
                                        <p:tgtEl>
                                          <p:spTgt spid="3072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en-US" altLang="en-US" smtClean="0"/>
              <a:t>Profit Maximization</a:t>
            </a:r>
          </a:p>
        </p:txBody>
      </p:sp>
      <p:sp>
        <p:nvSpPr>
          <p:cNvPr id="31747" name="Rectangle 3"/>
          <p:cNvSpPr>
            <a:spLocks noGrp="1" noChangeArrowheads="1"/>
          </p:cNvSpPr>
          <p:nvPr>
            <p:ph idx="1"/>
          </p:nvPr>
        </p:nvSpPr>
        <p:spPr/>
        <p:txBody>
          <a:bodyPr/>
          <a:lstStyle/>
          <a:p>
            <a:r>
              <a:rPr lang="en-US" altLang="en-US" dirty="0" smtClean="0"/>
              <a:t>Optimization principle</a:t>
            </a:r>
          </a:p>
          <a:p>
            <a:pPr lvl="1"/>
            <a:r>
              <a:rPr lang="en-US" altLang="en-US" dirty="0" smtClean="0"/>
              <a:t>A monopolist will choose to produce that output for which MR(Q) = MC(Q)</a:t>
            </a:r>
          </a:p>
          <a:p>
            <a:pPr lvl="1"/>
            <a:r>
              <a:rPr lang="en-US" altLang="en-US" dirty="0" smtClean="0"/>
              <a:t>Because the monopolist faces a downward-sloping demand curve</a:t>
            </a:r>
          </a:p>
          <a:p>
            <a:pPr lvl="2"/>
            <a:r>
              <a:rPr lang="en-US" altLang="en-US" dirty="0" smtClean="0"/>
              <a:t>P &gt; MR(Q) and P &gt; MC(Q)</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51C763B6-7151-4667-8018-BE80B053EB6C}" type="slidenum">
              <a:rPr lang="en-US" smtClean="0"/>
              <a:pPr>
                <a:defRPr/>
              </a:pPr>
              <a:t>10</a:t>
            </a:fld>
            <a:endParaRPr lang="en-US"/>
          </a:p>
        </p:txBody>
      </p:sp>
    </p:spTree>
    <p:extLst>
      <p:ext uri="{BB962C8B-B14F-4D97-AF65-F5344CB8AC3E}">
        <p14:creationId xmlns:p14="http://schemas.microsoft.com/office/powerpoint/2010/main" val="221402406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p:txBody>
          <a:bodyPr/>
          <a:lstStyle/>
          <a:p>
            <a:r>
              <a:rPr lang="en-US" altLang="en-US" dirty="0" smtClean="0"/>
              <a:t>The Inverse Elasticity Rule</a:t>
            </a:r>
          </a:p>
        </p:txBody>
      </p:sp>
      <mc:AlternateContent xmlns:mc="http://schemas.openxmlformats.org/markup-compatibility/2006" xmlns:a14="http://schemas.microsoft.com/office/drawing/2010/main">
        <mc:Choice Requires="a14">
          <p:sp>
            <p:nvSpPr>
              <p:cNvPr id="1028" name="Rectangle 3"/>
              <p:cNvSpPr>
                <a:spLocks noGrp="1" noChangeArrowheads="1"/>
              </p:cNvSpPr>
              <p:nvPr>
                <p:ph idx="1"/>
              </p:nvPr>
            </p:nvSpPr>
            <p:spPr/>
            <p:txBody>
              <a:bodyPr/>
              <a:lstStyle/>
              <a:p>
                <a:r>
                  <a:rPr lang="en-US" altLang="en-US" dirty="0" smtClean="0"/>
                  <a:t>The gap between a firm’s price and its marginal cost, in percentage terms (the Lerner index) </a:t>
                </a:r>
              </a:p>
              <a:p>
                <a:pPr lvl="1"/>
                <a:r>
                  <a:rPr lang="en-US" altLang="en-US" dirty="0" smtClean="0"/>
                  <a:t>Is inversely related to the price elasticity of demand facing the firm</a:t>
                </a:r>
              </a:p>
              <a:p>
                <a:pPr marL="457200" lvl="1" indent="0">
                  <a:buNone/>
                </a:pPr>
                <a14:m>
                  <m:oMathPara xmlns:m="http://schemas.openxmlformats.org/officeDocument/2006/math">
                    <m:oMathParaPr>
                      <m:jc m:val="centerGroup"/>
                    </m:oMathParaPr>
                    <m:oMath xmlns:m="http://schemas.openxmlformats.org/officeDocument/2006/math">
                      <m:f>
                        <m:fPr>
                          <m:ctrlPr>
                            <a:rPr lang="en-US" altLang="en-US" i="1" smtClean="0">
                              <a:solidFill>
                                <a:srgbClr val="C00000"/>
                              </a:solidFill>
                              <a:latin typeface="Cambria Math"/>
                            </a:rPr>
                          </m:ctrlPr>
                        </m:fPr>
                        <m:num>
                          <m:sSub>
                            <m:sSubPr>
                              <m:ctrlPr>
                                <a:rPr lang="en-US" altLang="en-US" b="0" i="1" smtClean="0">
                                  <a:solidFill>
                                    <a:srgbClr val="C00000"/>
                                  </a:solidFill>
                                  <a:latin typeface="Cambria Math"/>
                                </a:rPr>
                              </m:ctrlPr>
                            </m:sSubPr>
                            <m:e>
                              <m:r>
                                <a:rPr lang="en-US" altLang="en-US" b="0" i="1" smtClean="0">
                                  <a:solidFill>
                                    <a:srgbClr val="C00000"/>
                                  </a:solidFill>
                                  <a:latin typeface="Cambria Math"/>
                                </a:rPr>
                                <m:t>𝑃</m:t>
                              </m:r>
                            </m:e>
                            <m:sub>
                              <m:r>
                                <a:rPr lang="en-US" altLang="en-US" b="0" i="1" smtClean="0">
                                  <a:solidFill>
                                    <a:srgbClr val="C00000"/>
                                  </a:solidFill>
                                  <a:latin typeface="Cambria Math"/>
                                </a:rPr>
                                <m:t>𝑚</m:t>
                              </m:r>
                            </m:sub>
                          </m:sSub>
                          <m:r>
                            <a:rPr lang="en-US" altLang="en-US" b="0" i="1" smtClean="0">
                              <a:solidFill>
                                <a:srgbClr val="C00000"/>
                              </a:solidFill>
                              <a:latin typeface="Cambria Math"/>
                            </a:rPr>
                            <m:t>−</m:t>
                          </m:r>
                          <m:r>
                            <a:rPr lang="en-US" altLang="en-US" b="0" i="1" smtClean="0">
                              <a:solidFill>
                                <a:srgbClr val="C00000"/>
                              </a:solidFill>
                              <a:latin typeface="Cambria Math"/>
                            </a:rPr>
                            <m:t>𝑀𝐶</m:t>
                          </m:r>
                        </m:num>
                        <m:den>
                          <m:sSub>
                            <m:sSubPr>
                              <m:ctrlPr>
                                <a:rPr lang="en-US" altLang="en-US" i="1">
                                  <a:solidFill>
                                    <a:srgbClr val="C00000"/>
                                  </a:solidFill>
                                  <a:latin typeface="Cambria Math"/>
                                </a:rPr>
                              </m:ctrlPr>
                            </m:sSubPr>
                            <m:e>
                              <m:r>
                                <a:rPr lang="en-US" altLang="en-US" i="1">
                                  <a:solidFill>
                                    <a:srgbClr val="C00000"/>
                                  </a:solidFill>
                                  <a:latin typeface="Cambria Math"/>
                                </a:rPr>
                                <m:t>𝑃</m:t>
                              </m:r>
                            </m:e>
                            <m:sub>
                              <m:r>
                                <a:rPr lang="en-US" altLang="en-US" i="1">
                                  <a:solidFill>
                                    <a:srgbClr val="C00000"/>
                                  </a:solidFill>
                                  <a:latin typeface="Cambria Math"/>
                                </a:rPr>
                                <m:t>𝑚</m:t>
                              </m:r>
                            </m:sub>
                          </m:sSub>
                        </m:den>
                      </m:f>
                      <m:r>
                        <a:rPr lang="en-US" altLang="en-US" b="0" i="1" smtClean="0">
                          <a:solidFill>
                            <a:srgbClr val="C00000"/>
                          </a:solidFill>
                          <a:latin typeface="Cambria Math"/>
                        </a:rPr>
                        <m:t>=</m:t>
                      </m:r>
                      <m:r>
                        <a:rPr lang="en-US" altLang="en-US" b="0" i="0" smtClean="0">
                          <a:solidFill>
                            <a:srgbClr val="C00000"/>
                          </a:solidFill>
                          <a:latin typeface="Cambria Math"/>
                        </a:rPr>
                        <m:t>−</m:t>
                      </m:r>
                      <m:f>
                        <m:fPr>
                          <m:ctrlPr>
                            <a:rPr lang="en-US" altLang="en-US" b="0" i="1" smtClean="0">
                              <a:solidFill>
                                <a:srgbClr val="C00000"/>
                              </a:solidFill>
                              <a:latin typeface="Cambria Math"/>
                            </a:rPr>
                          </m:ctrlPr>
                        </m:fPr>
                        <m:num>
                          <m:r>
                            <a:rPr lang="en-US" altLang="en-US" b="0" i="1" smtClean="0">
                              <a:solidFill>
                                <a:srgbClr val="C00000"/>
                              </a:solidFill>
                              <a:latin typeface="Cambria Math"/>
                            </a:rPr>
                            <m:t>1</m:t>
                          </m:r>
                        </m:num>
                        <m:den>
                          <m:sSub>
                            <m:sSubPr>
                              <m:ctrlPr>
                                <a:rPr lang="en-US" altLang="en-US" b="0" i="1" smtClean="0">
                                  <a:solidFill>
                                    <a:srgbClr val="C00000"/>
                                  </a:solidFill>
                                  <a:latin typeface="Cambria Math"/>
                                </a:rPr>
                              </m:ctrlPr>
                            </m:sSubPr>
                            <m:e>
                              <m:r>
                                <a:rPr lang="en-US" altLang="en-US" b="0" i="1" smtClean="0">
                                  <a:solidFill>
                                    <a:srgbClr val="C00000"/>
                                  </a:solidFill>
                                  <a:latin typeface="Cambria Math"/>
                                </a:rPr>
                                <m:t>𝑒</m:t>
                              </m:r>
                            </m:e>
                            <m:sub>
                              <m:r>
                                <a:rPr lang="en-US" altLang="en-US" b="0" i="1" smtClean="0">
                                  <a:solidFill>
                                    <a:srgbClr val="C00000"/>
                                  </a:solidFill>
                                  <a:latin typeface="Cambria Math"/>
                                </a:rPr>
                                <m:t>𝐷</m:t>
                              </m:r>
                              <m:r>
                                <a:rPr lang="en-US" altLang="en-US" b="0" i="1" smtClean="0">
                                  <a:solidFill>
                                    <a:srgbClr val="C00000"/>
                                  </a:solidFill>
                                  <a:latin typeface="Cambria Math"/>
                                </a:rPr>
                                <m:t>,</m:t>
                              </m:r>
                              <m:r>
                                <a:rPr lang="en-US" altLang="en-US" b="0" i="1" smtClean="0">
                                  <a:solidFill>
                                    <a:srgbClr val="C00000"/>
                                  </a:solidFill>
                                  <a:latin typeface="Cambria Math"/>
                                </a:rPr>
                                <m:t>𝑃</m:t>
                              </m:r>
                            </m:sub>
                          </m:sSub>
                        </m:den>
                      </m:f>
                    </m:oMath>
                  </m:oMathPara>
                </a14:m>
                <a:endParaRPr lang="en-US" altLang="en-US" dirty="0" smtClean="0">
                  <a:solidFill>
                    <a:srgbClr val="C00000"/>
                  </a:solidFill>
                </a:endParaRPr>
              </a:p>
            </p:txBody>
          </p:sp>
        </mc:Choice>
        <mc:Fallback xmlns="">
          <p:sp>
            <p:nvSpPr>
              <p:cNvPr id="1028" name="Rectangle 3"/>
              <p:cNvSpPr>
                <a:spLocks noGrp="1" noRot="1" noChangeAspect="1" noMove="1" noResize="1" noEditPoints="1" noAdjustHandles="1" noChangeArrowheads="1" noChangeShapeType="1" noTextEdit="1"/>
              </p:cNvSpPr>
              <p:nvPr>
                <p:ph idx="1"/>
              </p:nvPr>
            </p:nvSpPr>
            <p:spPr>
              <a:blipFill rotWithShape="1">
                <a:blip r:embed="rId2"/>
                <a:stretch>
                  <a:fillRect l="-1786" t="-3024" b="-31749"/>
                </a:stretch>
              </a:blipFill>
            </p:spPr>
            <p:txBody>
              <a:bodyPr/>
              <a:lstStyle/>
              <a:p>
                <a:r>
                  <a:rPr lang="en-US">
                    <a:noFill/>
                  </a:rPr>
                  <a:t> </a:t>
                </a:r>
              </a:p>
            </p:txBody>
          </p:sp>
        </mc:Fallback>
      </mc:AlternateContent>
      <p:sp>
        <p:nvSpPr>
          <p:cNvPr id="7" name="Footer Placeholder 6"/>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6" name="Slide Number Placeholder 5"/>
          <p:cNvSpPr>
            <a:spLocks noGrp="1"/>
          </p:cNvSpPr>
          <p:nvPr>
            <p:ph type="sldNum" sz="quarter" idx="11"/>
          </p:nvPr>
        </p:nvSpPr>
        <p:spPr/>
        <p:txBody>
          <a:bodyPr/>
          <a:lstStyle/>
          <a:p>
            <a:pPr>
              <a:defRPr/>
            </a:pPr>
            <a:fld id="{9F12473E-617D-41B5-9CBF-76E60ACE947F}" type="slidenum">
              <a:rPr lang="en-US" smtClean="0"/>
              <a:pPr>
                <a:defRPr/>
              </a:pPr>
              <a:t>11</a:t>
            </a:fld>
            <a:endParaRPr lang="en-US"/>
          </a:p>
        </p:txBody>
      </p:sp>
      <p:sp>
        <p:nvSpPr>
          <p:cNvPr id="2" name="Text Placeholder 1"/>
          <p:cNvSpPr>
            <a:spLocks noGrp="1"/>
          </p:cNvSpPr>
          <p:nvPr>
            <p:ph type="body" sz="quarter" idx="12"/>
          </p:nvPr>
        </p:nvSpPr>
        <p:spPr>
          <a:xfrm>
            <a:off x="381000" y="5029200"/>
            <a:ext cx="8534400" cy="1295400"/>
          </a:xfrm>
        </p:spPr>
        <p:txBody>
          <a:bodyPr/>
          <a:lstStyle/>
          <a:p>
            <a:pPr lvl="1"/>
            <a:r>
              <a:rPr lang="en-US" kern="0" dirty="0"/>
              <a:t>Where </a:t>
            </a:r>
            <a:r>
              <a:rPr lang="en-US" i="1" kern="0" dirty="0" err="1" smtClean="0"/>
              <a:t>e</a:t>
            </a:r>
            <a:r>
              <a:rPr lang="en-US" i="1" kern="0" baseline="-25000" dirty="0" err="1" smtClean="0"/>
              <a:t>D,P</a:t>
            </a:r>
            <a:r>
              <a:rPr lang="en-US" kern="0" dirty="0" smtClean="0"/>
              <a:t> </a:t>
            </a:r>
            <a:r>
              <a:rPr lang="en-US" kern="0" dirty="0"/>
              <a:t>is the elasticity of demand for the entire market</a:t>
            </a:r>
          </a:p>
          <a:p>
            <a:pPr marL="457200" lvl="1" indent="0">
              <a:buNone/>
            </a:pPr>
            <a:endParaRPr lang="en-US" dirty="0"/>
          </a:p>
        </p:txBody>
      </p:sp>
    </p:spTree>
    <p:extLst>
      <p:ext uri="{BB962C8B-B14F-4D97-AF65-F5344CB8AC3E}">
        <p14:creationId xmlns:p14="http://schemas.microsoft.com/office/powerpoint/2010/main" val="70678277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r>
              <a:rPr lang="en-US" altLang="en-US" smtClean="0"/>
              <a:t>The Inverse Elasticity Rule</a:t>
            </a:r>
          </a:p>
        </p:txBody>
      </p:sp>
      <p:sp>
        <p:nvSpPr>
          <p:cNvPr id="32771" name="Rectangle 3"/>
          <p:cNvSpPr>
            <a:spLocks noGrp="1" noChangeArrowheads="1"/>
          </p:cNvSpPr>
          <p:nvPr>
            <p:ph idx="1"/>
          </p:nvPr>
        </p:nvSpPr>
        <p:spPr/>
        <p:txBody>
          <a:bodyPr/>
          <a:lstStyle/>
          <a:p>
            <a:r>
              <a:rPr lang="en-US" altLang="en-US" dirty="0" smtClean="0"/>
              <a:t>General conclusions about monopoly pricing</a:t>
            </a:r>
          </a:p>
          <a:p>
            <a:pPr lvl="1"/>
            <a:r>
              <a:rPr lang="en-US" altLang="en-US" dirty="0" smtClean="0"/>
              <a:t>A monopoly will choose to operate only in regions where the market demand curve is elastic, </a:t>
            </a:r>
            <a:r>
              <a:rPr lang="en-US" altLang="en-US" i="1" dirty="0" err="1" smtClean="0"/>
              <a:t>e</a:t>
            </a:r>
            <a:r>
              <a:rPr lang="en-US" altLang="en-US" i="1" baseline="-25000" dirty="0" err="1" smtClean="0"/>
              <a:t>D,P</a:t>
            </a:r>
            <a:r>
              <a:rPr lang="en-US" altLang="en-US" dirty="0" smtClean="0"/>
              <a:t> &lt; -1</a:t>
            </a:r>
          </a:p>
          <a:p>
            <a:pPr lvl="1"/>
            <a:r>
              <a:rPr lang="en-US" altLang="en-US" dirty="0" smtClean="0"/>
              <a:t>The firm’s “markup” over marginal cost depends inversely on the elasticity of market demand</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85997521-8AB5-4B0B-BE71-773062B7520E}" type="slidenum">
              <a:rPr lang="en-US" smtClean="0"/>
              <a:pPr>
                <a:defRPr/>
              </a:pPr>
              <a:t>12</a:t>
            </a:fld>
            <a:endParaRPr lang="en-US"/>
          </a:p>
        </p:txBody>
      </p:sp>
    </p:spTree>
    <p:extLst>
      <p:ext uri="{BB962C8B-B14F-4D97-AF65-F5344CB8AC3E}">
        <p14:creationId xmlns:p14="http://schemas.microsoft.com/office/powerpoint/2010/main" val="325963185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r>
              <a:rPr lang="en-US" altLang="en-US" smtClean="0"/>
              <a:t>Monopoly Profits</a:t>
            </a:r>
          </a:p>
        </p:txBody>
      </p:sp>
      <p:sp>
        <p:nvSpPr>
          <p:cNvPr id="33795" name="Rectangle 3"/>
          <p:cNvSpPr>
            <a:spLocks noGrp="1" noChangeArrowheads="1"/>
          </p:cNvSpPr>
          <p:nvPr>
            <p:ph idx="1"/>
          </p:nvPr>
        </p:nvSpPr>
        <p:spPr/>
        <p:txBody>
          <a:bodyPr/>
          <a:lstStyle/>
          <a:p>
            <a:r>
              <a:rPr lang="en-US" altLang="en-US" dirty="0" smtClean="0"/>
              <a:t>Monopoly profits </a:t>
            </a:r>
          </a:p>
          <a:p>
            <a:pPr lvl="1"/>
            <a:r>
              <a:rPr lang="en-US" altLang="en-US" dirty="0" smtClean="0"/>
              <a:t>Will be positive as long as </a:t>
            </a:r>
            <a:r>
              <a:rPr lang="en-US" altLang="en-US" i="1" dirty="0" smtClean="0"/>
              <a:t>P</a:t>
            </a:r>
            <a:r>
              <a:rPr lang="en-US" altLang="en-US" i="1" baseline="-25000" dirty="0" smtClean="0"/>
              <a:t>m</a:t>
            </a:r>
            <a:r>
              <a:rPr lang="en-US" altLang="en-US" dirty="0" smtClean="0"/>
              <a:t> &gt; </a:t>
            </a:r>
            <a:r>
              <a:rPr lang="en-US" altLang="en-US" i="1" dirty="0" err="1" smtClean="0"/>
              <a:t>AC</a:t>
            </a:r>
            <a:r>
              <a:rPr lang="en-US" altLang="en-US" i="1" baseline="-25000" dirty="0" err="1" smtClean="0"/>
              <a:t>m</a:t>
            </a:r>
            <a:endParaRPr lang="en-US" altLang="en-US" i="1" dirty="0" smtClean="0"/>
          </a:p>
          <a:p>
            <a:pPr lvl="1"/>
            <a:r>
              <a:rPr lang="en-US" altLang="en-US" dirty="0" smtClean="0"/>
              <a:t>Can continue into the long run because entry is not possible</a:t>
            </a:r>
          </a:p>
          <a:p>
            <a:pPr lvl="2"/>
            <a:r>
              <a:rPr lang="en-US" altLang="en-US" dirty="0" smtClean="0"/>
              <a:t>Monopoly rents - the return to the factor that forms the basis of the monopoly</a:t>
            </a:r>
          </a:p>
          <a:p>
            <a:pPr lvl="1"/>
            <a:r>
              <a:rPr lang="en-US" altLang="en-US" dirty="0" smtClean="0"/>
              <a:t>The size of monopoly profits in the long run </a:t>
            </a:r>
          </a:p>
          <a:p>
            <a:pPr lvl="2"/>
            <a:r>
              <a:rPr lang="en-US" altLang="en-US" dirty="0" smtClean="0"/>
              <a:t>Depend on the relationship between average costs and market demand for the product</a:t>
            </a:r>
          </a:p>
          <a:p>
            <a:endParaRPr lang="en-US" altLang="en-US" dirty="0" smtClean="0"/>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DC7FAE38-8808-4D98-81E2-3D64C4ED1CE8}" type="slidenum">
              <a:rPr lang="en-US" smtClean="0"/>
              <a:pPr>
                <a:defRPr/>
              </a:pPr>
              <a:t>13</a:t>
            </a:fld>
            <a:endParaRPr lang="en-US"/>
          </a:p>
        </p:txBody>
      </p:sp>
    </p:spTree>
    <p:extLst>
      <p:ext uri="{BB962C8B-B14F-4D97-AF65-F5344CB8AC3E}">
        <p14:creationId xmlns:p14="http://schemas.microsoft.com/office/powerpoint/2010/main" val="74142571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bwMode="auto">
          <a:xfrm>
            <a:off x="1143000" y="-1"/>
            <a:ext cx="8001000" cy="8858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sz="2800" dirty="0"/>
              <a:t>14.2	Monopoly Profits Depend on the Relationship </a:t>
            </a:r>
            <a:r>
              <a:rPr lang="en-US" altLang="en-US" sz="2800" dirty="0">
                <a:solidFill>
                  <a:srgbClr val="002D56"/>
                </a:solidFill>
              </a:rPr>
              <a:t>between the Demand and Average Cost </a:t>
            </a:r>
            <a:r>
              <a:rPr lang="en-US" altLang="en-US" sz="2800" dirty="0" smtClean="0">
                <a:solidFill>
                  <a:srgbClr val="002D56"/>
                </a:solidFill>
              </a:rPr>
              <a:t>Curves</a:t>
            </a:r>
          </a:p>
        </p:txBody>
      </p:sp>
      <p:sp>
        <p:nvSpPr>
          <p:cNvPr id="34819" name="Text Placeholder 2"/>
          <p:cNvSpPr>
            <a:spLocks noGrp="1"/>
          </p:cNvSpPr>
          <p:nvPr>
            <p:ph sz="half" idx="1"/>
          </p:nvPr>
        </p:nvSpPr>
        <p:spPr>
          <a:xfrm>
            <a:off x="72886" y="5029200"/>
            <a:ext cx="9071114" cy="1371600"/>
          </a:xfrm>
        </p:spPr>
        <p:txBody>
          <a:bodyPr>
            <a:noAutofit/>
          </a:bodyPr>
          <a:lstStyle/>
          <a:p>
            <a:pPr>
              <a:spcBef>
                <a:spcPct val="0"/>
              </a:spcBef>
            </a:pPr>
            <a:r>
              <a:rPr lang="en-US" altLang="en-US" sz="1700" dirty="0"/>
              <a:t>Both monopolies in this figure are equally ‘‘strong’’ if by this we mean they produce similar divergences between market price and marginal cost. However, because of the location of the demand and average cost curves, it turns out that the monopoly in (a) earns high profits, whereas that in (b) earns no profits. Consequently, the size of profits is not a measure of the strength of a monopoly</a:t>
            </a:r>
            <a:r>
              <a:rPr lang="en-US" altLang="en-US" sz="1700" dirty="0" smtClean="0"/>
              <a:t>.</a:t>
            </a:r>
            <a:endParaRPr lang="en-US" altLang="en-US" sz="1700" dirty="0"/>
          </a:p>
        </p:txBody>
      </p:sp>
      <p:sp>
        <p:nvSpPr>
          <p:cNvPr id="34822" name="Footer Placeholder 5"/>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5" name="Slide Number Placeholder 4"/>
          <p:cNvSpPr>
            <a:spLocks noGrp="1"/>
          </p:cNvSpPr>
          <p:nvPr>
            <p:ph type="sldNum" sz="quarter" idx="11"/>
          </p:nvPr>
        </p:nvSpPr>
        <p:spPr/>
        <p:txBody>
          <a:bodyPr/>
          <a:lstStyle/>
          <a:p>
            <a:pPr>
              <a:defRPr/>
            </a:pPr>
            <a:fld id="{1A68BC51-4844-4EA7-B968-BC2064C984FF}" type="slidenum">
              <a:rPr lang="en-US" smtClean="0"/>
              <a:pPr>
                <a:defRPr/>
              </a:pPr>
              <a:t>14</a:t>
            </a:fld>
            <a:endParaRPr lang="en-US" dirty="0"/>
          </a:p>
        </p:txBody>
      </p:sp>
      <p:grpSp>
        <p:nvGrpSpPr>
          <p:cNvPr id="43" name="Group 52"/>
          <p:cNvGrpSpPr>
            <a:grpSpLocks/>
          </p:cNvGrpSpPr>
          <p:nvPr/>
        </p:nvGrpSpPr>
        <p:grpSpPr bwMode="auto">
          <a:xfrm>
            <a:off x="1433512" y="969962"/>
            <a:ext cx="1066799" cy="2987675"/>
            <a:chOff x="1144075" y="1581356"/>
            <a:chExt cx="1066800" cy="2987675"/>
          </a:xfrm>
        </p:grpSpPr>
        <p:sp>
          <p:nvSpPr>
            <p:cNvPr id="34879" name="Freeform 7"/>
            <p:cNvSpPr>
              <a:spLocks/>
            </p:cNvSpPr>
            <p:nvPr/>
          </p:nvSpPr>
          <p:spPr bwMode="auto">
            <a:xfrm>
              <a:off x="1144075" y="1749631"/>
              <a:ext cx="1066800" cy="2819400"/>
            </a:xfrm>
            <a:custGeom>
              <a:avLst/>
              <a:gdLst>
                <a:gd name="T0" fmla="*/ 0 w 672"/>
                <a:gd name="T1" fmla="*/ 2819400 h 1776"/>
                <a:gd name="T2" fmla="*/ 609600 w 672"/>
                <a:gd name="T3" fmla="*/ 1828800 h 1776"/>
                <a:gd name="T4" fmla="*/ 1066800 w 672"/>
                <a:gd name="T5" fmla="*/ 0 h 1776"/>
                <a:gd name="T6" fmla="*/ 0 60000 65536"/>
                <a:gd name="T7" fmla="*/ 0 60000 65536"/>
                <a:gd name="T8" fmla="*/ 0 60000 65536"/>
                <a:gd name="T9" fmla="*/ 0 w 672"/>
                <a:gd name="T10" fmla="*/ 0 h 1776"/>
                <a:gd name="T11" fmla="*/ 672 w 672"/>
                <a:gd name="T12" fmla="*/ 1776 h 1776"/>
              </a:gdLst>
              <a:ahLst/>
              <a:cxnLst>
                <a:cxn ang="T6">
                  <a:pos x="T0" y="T1"/>
                </a:cxn>
                <a:cxn ang="T7">
                  <a:pos x="T2" y="T3"/>
                </a:cxn>
                <a:cxn ang="T8">
                  <a:pos x="T4" y="T5"/>
                </a:cxn>
              </a:cxnLst>
              <a:rect l="T9" t="T10" r="T11" b="T12"/>
              <a:pathLst>
                <a:path w="672" h="1776">
                  <a:moveTo>
                    <a:pt x="0" y="1776"/>
                  </a:moveTo>
                  <a:cubicBezTo>
                    <a:pt x="136" y="1612"/>
                    <a:pt x="272" y="1448"/>
                    <a:pt x="384" y="1152"/>
                  </a:cubicBezTo>
                  <a:cubicBezTo>
                    <a:pt x="496" y="856"/>
                    <a:pt x="584" y="428"/>
                    <a:pt x="672" y="0"/>
                  </a:cubicBezTo>
                </a:path>
              </a:pathLst>
            </a:custGeom>
            <a:noFill/>
            <a:ln w="28575" cap="flat" cmpd="sng">
              <a:solidFill>
                <a:srgbClr val="5D0D8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4880" name="Text Box 11"/>
            <p:cNvSpPr txBox="1">
              <a:spLocks noChangeArrowheads="1"/>
            </p:cNvSpPr>
            <p:nvPr/>
          </p:nvSpPr>
          <p:spPr bwMode="auto">
            <a:xfrm>
              <a:off x="1670556" y="1581356"/>
              <a:ext cx="5000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dirty="0">
                  <a:solidFill>
                    <a:srgbClr val="5D0D8F"/>
                  </a:solidFill>
                </a:rPr>
                <a:t>MC</a:t>
              </a:r>
            </a:p>
          </p:txBody>
        </p:sp>
      </p:grpSp>
      <p:grpSp>
        <p:nvGrpSpPr>
          <p:cNvPr id="44" name="Group 53"/>
          <p:cNvGrpSpPr>
            <a:grpSpLocks/>
          </p:cNvGrpSpPr>
          <p:nvPr/>
        </p:nvGrpSpPr>
        <p:grpSpPr bwMode="auto">
          <a:xfrm>
            <a:off x="1204912" y="1687512"/>
            <a:ext cx="2193925" cy="1343025"/>
            <a:chOff x="915475" y="2298906"/>
            <a:chExt cx="2193925" cy="1343025"/>
          </a:xfrm>
        </p:grpSpPr>
        <p:sp>
          <p:nvSpPr>
            <p:cNvPr id="34877" name="Freeform 8"/>
            <p:cNvSpPr>
              <a:spLocks/>
            </p:cNvSpPr>
            <p:nvPr/>
          </p:nvSpPr>
          <p:spPr bwMode="auto">
            <a:xfrm>
              <a:off x="915475" y="2664031"/>
              <a:ext cx="1981200" cy="977900"/>
            </a:xfrm>
            <a:custGeom>
              <a:avLst/>
              <a:gdLst>
                <a:gd name="T0" fmla="*/ 0 w 1248"/>
                <a:gd name="T1" fmla="*/ 381000 h 616"/>
                <a:gd name="T2" fmla="*/ 914400 w 1248"/>
                <a:gd name="T3" fmla="*/ 914400 h 616"/>
                <a:gd name="T4" fmla="*/ 1981200 w 1248"/>
                <a:gd name="T5" fmla="*/ 0 h 616"/>
                <a:gd name="T6" fmla="*/ 0 60000 65536"/>
                <a:gd name="T7" fmla="*/ 0 60000 65536"/>
                <a:gd name="T8" fmla="*/ 0 60000 65536"/>
                <a:gd name="T9" fmla="*/ 0 w 1248"/>
                <a:gd name="T10" fmla="*/ 0 h 616"/>
                <a:gd name="T11" fmla="*/ 1248 w 1248"/>
                <a:gd name="T12" fmla="*/ 616 h 616"/>
              </a:gdLst>
              <a:ahLst/>
              <a:cxnLst>
                <a:cxn ang="T6">
                  <a:pos x="T0" y="T1"/>
                </a:cxn>
                <a:cxn ang="T7">
                  <a:pos x="T2" y="T3"/>
                </a:cxn>
                <a:cxn ang="T8">
                  <a:pos x="T4" y="T5"/>
                </a:cxn>
              </a:cxnLst>
              <a:rect l="T9" t="T10" r="T11" b="T12"/>
              <a:pathLst>
                <a:path w="1248" h="616">
                  <a:moveTo>
                    <a:pt x="0" y="240"/>
                  </a:moveTo>
                  <a:cubicBezTo>
                    <a:pt x="184" y="428"/>
                    <a:pt x="368" y="616"/>
                    <a:pt x="576" y="576"/>
                  </a:cubicBezTo>
                  <a:cubicBezTo>
                    <a:pt x="784" y="536"/>
                    <a:pt x="1016" y="268"/>
                    <a:pt x="1248" y="0"/>
                  </a:cubicBezTo>
                </a:path>
              </a:pathLst>
            </a:custGeom>
            <a:noFill/>
            <a:ln w="28575" cap="flat" cmpd="sng">
              <a:solidFill>
                <a:srgbClr val="177B2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4878" name="Text Box 12"/>
            <p:cNvSpPr txBox="1">
              <a:spLocks noChangeArrowheads="1"/>
            </p:cNvSpPr>
            <p:nvPr/>
          </p:nvSpPr>
          <p:spPr bwMode="auto">
            <a:xfrm>
              <a:off x="2668075" y="2298906"/>
              <a:ext cx="4413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a:solidFill>
                    <a:srgbClr val="177B21"/>
                  </a:solidFill>
                </a:rPr>
                <a:t>AC</a:t>
              </a:r>
            </a:p>
          </p:txBody>
        </p:sp>
      </p:grpSp>
      <p:grpSp>
        <p:nvGrpSpPr>
          <p:cNvPr id="47" name="Group 51"/>
          <p:cNvGrpSpPr>
            <a:grpSpLocks/>
          </p:cNvGrpSpPr>
          <p:nvPr/>
        </p:nvGrpSpPr>
        <p:grpSpPr bwMode="auto">
          <a:xfrm>
            <a:off x="1204912" y="1824037"/>
            <a:ext cx="1643062" cy="2470150"/>
            <a:chOff x="915475" y="2435431"/>
            <a:chExt cx="1643063" cy="2470150"/>
          </a:xfrm>
        </p:grpSpPr>
        <p:sp>
          <p:nvSpPr>
            <p:cNvPr id="34875" name="Line 6"/>
            <p:cNvSpPr>
              <a:spLocks noChangeShapeType="1"/>
            </p:cNvSpPr>
            <p:nvPr/>
          </p:nvSpPr>
          <p:spPr bwMode="auto">
            <a:xfrm>
              <a:off x="915475" y="2435431"/>
              <a:ext cx="1143000" cy="2362200"/>
            </a:xfrm>
            <a:prstGeom prst="line">
              <a:avLst/>
            </a:prstGeom>
            <a:noFill/>
            <a:ln w="28575">
              <a:solidFill>
                <a:srgbClr val="C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876" name="Text Box 13"/>
            <p:cNvSpPr txBox="1">
              <a:spLocks noChangeArrowheads="1"/>
            </p:cNvSpPr>
            <p:nvPr/>
          </p:nvSpPr>
          <p:spPr bwMode="auto">
            <a:xfrm>
              <a:off x="2058475" y="4569031"/>
              <a:ext cx="5000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dirty="0">
                  <a:solidFill>
                    <a:srgbClr val="C00000"/>
                  </a:solidFill>
                </a:rPr>
                <a:t>MR</a:t>
              </a:r>
            </a:p>
          </p:txBody>
        </p:sp>
      </p:grpSp>
      <p:grpSp>
        <p:nvGrpSpPr>
          <p:cNvPr id="48" name="Group 50"/>
          <p:cNvGrpSpPr>
            <a:grpSpLocks/>
          </p:cNvGrpSpPr>
          <p:nvPr/>
        </p:nvGrpSpPr>
        <p:grpSpPr bwMode="auto">
          <a:xfrm>
            <a:off x="1204912" y="1443037"/>
            <a:ext cx="2692400" cy="2698750"/>
            <a:chOff x="915475" y="2054431"/>
            <a:chExt cx="2692400" cy="2698750"/>
          </a:xfrm>
        </p:grpSpPr>
        <p:sp>
          <p:nvSpPr>
            <p:cNvPr id="34873" name="Line 5"/>
            <p:cNvSpPr>
              <a:spLocks noChangeShapeType="1"/>
            </p:cNvSpPr>
            <p:nvPr/>
          </p:nvSpPr>
          <p:spPr bwMode="auto">
            <a:xfrm>
              <a:off x="915475" y="2054431"/>
              <a:ext cx="2438400" cy="2438400"/>
            </a:xfrm>
            <a:prstGeom prst="line">
              <a:avLst/>
            </a:prstGeom>
            <a:noFill/>
            <a:ln w="28575">
              <a:solidFill>
                <a:srgbClr val="C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874" name="Text Box 14"/>
            <p:cNvSpPr txBox="1">
              <a:spLocks noChangeArrowheads="1"/>
            </p:cNvSpPr>
            <p:nvPr/>
          </p:nvSpPr>
          <p:spPr bwMode="auto">
            <a:xfrm>
              <a:off x="3277675" y="4416631"/>
              <a:ext cx="330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dirty="0">
                  <a:solidFill>
                    <a:srgbClr val="C00000"/>
                  </a:solidFill>
                </a:rPr>
                <a:t>D</a:t>
              </a:r>
            </a:p>
          </p:txBody>
        </p:sp>
      </p:grpSp>
      <p:grpSp>
        <p:nvGrpSpPr>
          <p:cNvPr id="49" name="Group 59"/>
          <p:cNvGrpSpPr>
            <a:grpSpLocks/>
          </p:cNvGrpSpPr>
          <p:nvPr/>
        </p:nvGrpSpPr>
        <p:grpSpPr bwMode="auto">
          <a:xfrm>
            <a:off x="5899149" y="909847"/>
            <a:ext cx="1066799" cy="2971590"/>
            <a:chOff x="5716075" y="1521241"/>
            <a:chExt cx="1066800" cy="2971590"/>
          </a:xfrm>
        </p:grpSpPr>
        <p:sp>
          <p:nvSpPr>
            <p:cNvPr id="34871" name="Freeform 19"/>
            <p:cNvSpPr>
              <a:spLocks/>
            </p:cNvSpPr>
            <p:nvPr/>
          </p:nvSpPr>
          <p:spPr bwMode="auto">
            <a:xfrm>
              <a:off x="5716075" y="1673431"/>
              <a:ext cx="1066800" cy="2819400"/>
            </a:xfrm>
            <a:custGeom>
              <a:avLst/>
              <a:gdLst>
                <a:gd name="T0" fmla="*/ 0 w 672"/>
                <a:gd name="T1" fmla="*/ 2819400 h 1776"/>
                <a:gd name="T2" fmla="*/ 609600 w 672"/>
                <a:gd name="T3" fmla="*/ 1828800 h 1776"/>
                <a:gd name="T4" fmla="*/ 1066800 w 672"/>
                <a:gd name="T5" fmla="*/ 0 h 1776"/>
                <a:gd name="T6" fmla="*/ 0 60000 65536"/>
                <a:gd name="T7" fmla="*/ 0 60000 65536"/>
                <a:gd name="T8" fmla="*/ 0 60000 65536"/>
                <a:gd name="T9" fmla="*/ 0 w 672"/>
                <a:gd name="T10" fmla="*/ 0 h 1776"/>
                <a:gd name="T11" fmla="*/ 672 w 672"/>
                <a:gd name="T12" fmla="*/ 1776 h 1776"/>
              </a:gdLst>
              <a:ahLst/>
              <a:cxnLst>
                <a:cxn ang="T6">
                  <a:pos x="T0" y="T1"/>
                </a:cxn>
                <a:cxn ang="T7">
                  <a:pos x="T2" y="T3"/>
                </a:cxn>
                <a:cxn ang="T8">
                  <a:pos x="T4" y="T5"/>
                </a:cxn>
              </a:cxnLst>
              <a:rect l="T9" t="T10" r="T11" b="T12"/>
              <a:pathLst>
                <a:path w="672" h="1776">
                  <a:moveTo>
                    <a:pt x="0" y="1776"/>
                  </a:moveTo>
                  <a:cubicBezTo>
                    <a:pt x="136" y="1612"/>
                    <a:pt x="272" y="1448"/>
                    <a:pt x="384" y="1152"/>
                  </a:cubicBezTo>
                  <a:cubicBezTo>
                    <a:pt x="496" y="856"/>
                    <a:pt x="584" y="428"/>
                    <a:pt x="672" y="0"/>
                  </a:cubicBezTo>
                </a:path>
              </a:pathLst>
            </a:custGeom>
            <a:noFill/>
            <a:ln w="28575" cap="flat" cmpd="sng">
              <a:solidFill>
                <a:srgbClr val="5D0D8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4872" name="Text Box 23"/>
            <p:cNvSpPr txBox="1">
              <a:spLocks noChangeArrowheads="1"/>
            </p:cNvSpPr>
            <p:nvPr/>
          </p:nvSpPr>
          <p:spPr bwMode="auto">
            <a:xfrm>
              <a:off x="6214550" y="1521241"/>
              <a:ext cx="5000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dirty="0">
                  <a:solidFill>
                    <a:srgbClr val="5D0D8F"/>
                  </a:solidFill>
                </a:rPr>
                <a:t>MC</a:t>
              </a:r>
            </a:p>
          </p:txBody>
        </p:sp>
      </p:grpSp>
      <p:grpSp>
        <p:nvGrpSpPr>
          <p:cNvPr id="50" name="Group 60"/>
          <p:cNvGrpSpPr>
            <a:grpSpLocks/>
          </p:cNvGrpSpPr>
          <p:nvPr/>
        </p:nvGrpSpPr>
        <p:grpSpPr bwMode="auto">
          <a:xfrm>
            <a:off x="5962650" y="1138237"/>
            <a:ext cx="2247446" cy="1130300"/>
            <a:chOff x="5792275" y="1749631"/>
            <a:chExt cx="2247446" cy="1130300"/>
          </a:xfrm>
        </p:grpSpPr>
        <p:sp>
          <p:nvSpPr>
            <p:cNvPr id="34869" name="Freeform 20"/>
            <p:cNvSpPr>
              <a:spLocks/>
            </p:cNvSpPr>
            <p:nvPr/>
          </p:nvSpPr>
          <p:spPr bwMode="auto">
            <a:xfrm>
              <a:off x="5792275" y="1749631"/>
              <a:ext cx="1828800" cy="1130300"/>
            </a:xfrm>
            <a:custGeom>
              <a:avLst/>
              <a:gdLst>
                <a:gd name="T0" fmla="*/ 0 w 1248"/>
                <a:gd name="T1" fmla="*/ 440377 h 616"/>
                <a:gd name="T2" fmla="*/ 844062 w 1248"/>
                <a:gd name="T3" fmla="*/ 1056904 h 616"/>
                <a:gd name="T4" fmla="*/ 1828800 w 1248"/>
                <a:gd name="T5" fmla="*/ 0 h 616"/>
                <a:gd name="T6" fmla="*/ 0 60000 65536"/>
                <a:gd name="T7" fmla="*/ 0 60000 65536"/>
                <a:gd name="T8" fmla="*/ 0 60000 65536"/>
                <a:gd name="T9" fmla="*/ 0 w 1248"/>
                <a:gd name="T10" fmla="*/ 0 h 616"/>
                <a:gd name="T11" fmla="*/ 1248 w 1248"/>
                <a:gd name="T12" fmla="*/ 616 h 616"/>
              </a:gdLst>
              <a:ahLst/>
              <a:cxnLst>
                <a:cxn ang="T6">
                  <a:pos x="T0" y="T1"/>
                </a:cxn>
                <a:cxn ang="T7">
                  <a:pos x="T2" y="T3"/>
                </a:cxn>
                <a:cxn ang="T8">
                  <a:pos x="T4" y="T5"/>
                </a:cxn>
              </a:cxnLst>
              <a:rect l="T9" t="T10" r="T11" b="T12"/>
              <a:pathLst>
                <a:path w="1248" h="616">
                  <a:moveTo>
                    <a:pt x="0" y="240"/>
                  </a:moveTo>
                  <a:cubicBezTo>
                    <a:pt x="184" y="428"/>
                    <a:pt x="368" y="616"/>
                    <a:pt x="576" y="576"/>
                  </a:cubicBezTo>
                  <a:cubicBezTo>
                    <a:pt x="784" y="536"/>
                    <a:pt x="1016" y="268"/>
                    <a:pt x="1248" y="0"/>
                  </a:cubicBezTo>
                </a:path>
              </a:pathLst>
            </a:custGeom>
            <a:noFill/>
            <a:ln w="28575" cap="flat" cmpd="sng">
              <a:solidFill>
                <a:srgbClr val="177B2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34870" name="Text Box 24"/>
            <p:cNvSpPr txBox="1">
              <a:spLocks noChangeArrowheads="1"/>
            </p:cNvSpPr>
            <p:nvPr/>
          </p:nvSpPr>
          <p:spPr bwMode="auto">
            <a:xfrm>
              <a:off x="7598396" y="1765506"/>
              <a:ext cx="4413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dirty="0">
                  <a:solidFill>
                    <a:srgbClr val="177B21"/>
                  </a:solidFill>
                </a:rPr>
                <a:t>AC</a:t>
              </a:r>
            </a:p>
          </p:txBody>
        </p:sp>
      </p:grpSp>
      <p:grpSp>
        <p:nvGrpSpPr>
          <p:cNvPr id="51" name="Group 62"/>
          <p:cNvGrpSpPr>
            <a:grpSpLocks/>
          </p:cNvGrpSpPr>
          <p:nvPr/>
        </p:nvGrpSpPr>
        <p:grpSpPr bwMode="auto">
          <a:xfrm>
            <a:off x="5670550" y="1747837"/>
            <a:ext cx="1643062" cy="2470150"/>
            <a:chOff x="5487475" y="2359231"/>
            <a:chExt cx="1643063" cy="2470150"/>
          </a:xfrm>
        </p:grpSpPr>
        <p:sp>
          <p:nvSpPr>
            <p:cNvPr id="34867" name="Line 18"/>
            <p:cNvSpPr>
              <a:spLocks noChangeShapeType="1"/>
            </p:cNvSpPr>
            <p:nvPr/>
          </p:nvSpPr>
          <p:spPr bwMode="auto">
            <a:xfrm>
              <a:off x="5487475" y="2359231"/>
              <a:ext cx="1143000" cy="2362200"/>
            </a:xfrm>
            <a:prstGeom prst="line">
              <a:avLst/>
            </a:prstGeom>
            <a:noFill/>
            <a:ln w="28575">
              <a:solidFill>
                <a:srgbClr val="C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868" name="Text Box 25"/>
            <p:cNvSpPr txBox="1">
              <a:spLocks noChangeArrowheads="1"/>
            </p:cNvSpPr>
            <p:nvPr/>
          </p:nvSpPr>
          <p:spPr bwMode="auto">
            <a:xfrm>
              <a:off x="6630475" y="4492831"/>
              <a:ext cx="5000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dirty="0">
                  <a:solidFill>
                    <a:srgbClr val="C00000"/>
                  </a:solidFill>
                </a:rPr>
                <a:t>MR</a:t>
              </a:r>
            </a:p>
          </p:txBody>
        </p:sp>
      </p:grpSp>
      <p:grpSp>
        <p:nvGrpSpPr>
          <p:cNvPr id="52" name="Group 61"/>
          <p:cNvGrpSpPr>
            <a:grpSpLocks/>
          </p:cNvGrpSpPr>
          <p:nvPr/>
        </p:nvGrpSpPr>
        <p:grpSpPr bwMode="auto">
          <a:xfrm>
            <a:off x="5670550" y="1366837"/>
            <a:ext cx="2787650" cy="2759074"/>
            <a:chOff x="5487475" y="1978231"/>
            <a:chExt cx="2787650" cy="2759074"/>
          </a:xfrm>
        </p:grpSpPr>
        <p:sp>
          <p:nvSpPr>
            <p:cNvPr id="34865" name="Line 17"/>
            <p:cNvSpPr>
              <a:spLocks noChangeShapeType="1"/>
            </p:cNvSpPr>
            <p:nvPr/>
          </p:nvSpPr>
          <p:spPr bwMode="auto">
            <a:xfrm>
              <a:off x="5487475" y="1978231"/>
              <a:ext cx="2438400" cy="2438400"/>
            </a:xfrm>
            <a:prstGeom prst="line">
              <a:avLst/>
            </a:prstGeom>
            <a:noFill/>
            <a:ln w="28575">
              <a:solidFill>
                <a:srgbClr val="C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866" name="Text Box 26"/>
            <p:cNvSpPr txBox="1">
              <a:spLocks noChangeArrowheads="1"/>
            </p:cNvSpPr>
            <p:nvPr/>
          </p:nvSpPr>
          <p:spPr bwMode="auto">
            <a:xfrm>
              <a:off x="7849675" y="4340430"/>
              <a:ext cx="4254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dirty="0">
                  <a:solidFill>
                    <a:srgbClr val="C00000"/>
                  </a:solidFill>
                </a:rPr>
                <a:t>D</a:t>
              </a:r>
            </a:p>
          </p:txBody>
        </p:sp>
      </p:grpSp>
      <p:grpSp>
        <p:nvGrpSpPr>
          <p:cNvPr id="53" name="Group 63"/>
          <p:cNvGrpSpPr>
            <a:grpSpLocks/>
          </p:cNvGrpSpPr>
          <p:nvPr/>
        </p:nvGrpSpPr>
        <p:grpSpPr bwMode="auto">
          <a:xfrm>
            <a:off x="193674" y="811543"/>
            <a:ext cx="4560888" cy="4217657"/>
            <a:chOff x="-95763" y="1244824"/>
            <a:chExt cx="4560888" cy="4217830"/>
          </a:xfrm>
        </p:grpSpPr>
        <p:grpSp>
          <p:nvGrpSpPr>
            <p:cNvPr id="34858" name="Group 49"/>
            <p:cNvGrpSpPr>
              <a:grpSpLocks/>
            </p:cNvGrpSpPr>
            <p:nvPr/>
          </p:nvGrpSpPr>
          <p:grpSpPr bwMode="auto">
            <a:xfrm>
              <a:off x="610675" y="4771906"/>
              <a:ext cx="3854450" cy="366713"/>
              <a:chOff x="610675" y="4950031"/>
              <a:chExt cx="3854450" cy="366713"/>
            </a:xfrm>
          </p:grpSpPr>
          <p:sp>
            <p:nvSpPr>
              <p:cNvPr id="34863" name="Line 4"/>
              <p:cNvSpPr>
                <a:spLocks noChangeShapeType="1"/>
              </p:cNvSpPr>
              <p:nvPr/>
            </p:nvSpPr>
            <p:spPr bwMode="auto">
              <a:xfrm>
                <a:off x="610675" y="4950031"/>
                <a:ext cx="34290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864" name="Text Box 9"/>
              <p:cNvSpPr txBox="1">
                <a:spLocks noChangeArrowheads="1"/>
              </p:cNvSpPr>
              <p:nvPr/>
            </p:nvSpPr>
            <p:spPr bwMode="auto">
              <a:xfrm>
                <a:off x="3430075" y="4950031"/>
                <a:ext cx="10350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t>Quantity</a:t>
                </a:r>
              </a:p>
            </p:txBody>
          </p:sp>
        </p:grpSp>
        <p:grpSp>
          <p:nvGrpSpPr>
            <p:cNvPr id="34859" name="Group 48"/>
            <p:cNvGrpSpPr>
              <a:grpSpLocks/>
            </p:cNvGrpSpPr>
            <p:nvPr/>
          </p:nvGrpSpPr>
          <p:grpSpPr bwMode="auto">
            <a:xfrm>
              <a:off x="-95763" y="1244824"/>
              <a:ext cx="706438" cy="3527082"/>
              <a:chOff x="-95763" y="1422949"/>
              <a:chExt cx="706438" cy="3527082"/>
            </a:xfrm>
          </p:grpSpPr>
          <p:sp>
            <p:nvSpPr>
              <p:cNvPr id="34861" name="Line 3"/>
              <p:cNvSpPr>
                <a:spLocks noChangeShapeType="1"/>
              </p:cNvSpPr>
              <p:nvPr/>
            </p:nvSpPr>
            <p:spPr bwMode="auto">
              <a:xfrm>
                <a:off x="610675" y="1521031"/>
                <a:ext cx="0" cy="3429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862" name="Text Box 10"/>
              <p:cNvSpPr txBox="1">
                <a:spLocks noChangeArrowheads="1"/>
              </p:cNvSpPr>
              <p:nvPr/>
            </p:nvSpPr>
            <p:spPr bwMode="auto">
              <a:xfrm>
                <a:off x="-95763" y="1422949"/>
                <a:ext cx="7048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dirty="0"/>
                  <a:t>Price</a:t>
                </a:r>
              </a:p>
            </p:txBody>
          </p:sp>
        </p:grpSp>
        <p:sp>
          <p:nvSpPr>
            <p:cNvPr id="34860" name="Text Box 33"/>
            <p:cNvSpPr txBox="1">
              <a:spLocks noChangeArrowheads="1"/>
            </p:cNvSpPr>
            <p:nvPr/>
          </p:nvSpPr>
          <p:spPr bwMode="auto">
            <a:xfrm>
              <a:off x="502810" y="5005454"/>
              <a:ext cx="3487301"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dirty="0">
                  <a:solidFill>
                    <a:srgbClr val="002D56"/>
                  </a:solidFill>
                </a:rPr>
                <a:t>(a) Monopoly with large profits</a:t>
              </a:r>
            </a:p>
          </p:txBody>
        </p:sp>
      </p:grpSp>
      <p:grpSp>
        <p:nvGrpSpPr>
          <p:cNvPr id="56" name="Group 64"/>
          <p:cNvGrpSpPr>
            <a:grpSpLocks/>
          </p:cNvGrpSpPr>
          <p:nvPr/>
        </p:nvGrpSpPr>
        <p:grpSpPr bwMode="auto">
          <a:xfrm>
            <a:off x="4632325" y="818363"/>
            <a:ext cx="4587875" cy="4210837"/>
            <a:chOff x="4449250" y="1251647"/>
            <a:chExt cx="4587875" cy="4211007"/>
          </a:xfrm>
        </p:grpSpPr>
        <p:grpSp>
          <p:nvGrpSpPr>
            <p:cNvPr id="34851" name="Group 57"/>
            <p:cNvGrpSpPr>
              <a:grpSpLocks/>
            </p:cNvGrpSpPr>
            <p:nvPr/>
          </p:nvGrpSpPr>
          <p:grpSpPr bwMode="auto">
            <a:xfrm>
              <a:off x="5182675" y="4695706"/>
              <a:ext cx="3854450" cy="366713"/>
              <a:chOff x="5182675" y="4873831"/>
              <a:chExt cx="3854450" cy="366713"/>
            </a:xfrm>
          </p:grpSpPr>
          <p:sp>
            <p:nvSpPr>
              <p:cNvPr id="34856" name="Line 16"/>
              <p:cNvSpPr>
                <a:spLocks noChangeShapeType="1"/>
              </p:cNvSpPr>
              <p:nvPr/>
            </p:nvSpPr>
            <p:spPr bwMode="auto">
              <a:xfrm>
                <a:off x="5182675" y="4873831"/>
                <a:ext cx="34290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857" name="Text Box 21"/>
              <p:cNvSpPr txBox="1">
                <a:spLocks noChangeArrowheads="1"/>
              </p:cNvSpPr>
              <p:nvPr/>
            </p:nvSpPr>
            <p:spPr bwMode="auto">
              <a:xfrm>
                <a:off x="8002075" y="4873831"/>
                <a:ext cx="10350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t>Quantity</a:t>
                </a:r>
              </a:p>
            </p:txBody>
          </p:sp>
        </p:grpSp>
        <p:grpSp>
          <p:nvGrpSpPr>
            <p:cNvPr id="34852" name="Group 56"/>
            <p:cNvGrpSpPr>
              <a:grpSpLocks/>
            </p:cNvGrpSpPr>
            <p:nvPr/>
          </p:nvGrpSpPr>
          <p:grpSpPr bwMode="auto">
            <a:xfrm>
              <a:off x="4449250" y="1251647"/>
              <a:ext cx="733425" cy="3444059"/>
              <a:chOff x="4449250" y="1429772"/>
              <a:chExt cx="733425" cy="3444059"/>
            </a:xfrm>
          </p:grpSpPr>
          <p:sp>
            <p:nvSpPr>
              <p:cNvPr id="34854" name="Line 15"/>
              <p:cNvSpPr>
                <a:spLocks noChangeShapeType="1"/>
              </p:cNvSpPr>
              <p:nvPr/>
            </p:nvSpPr>
            <p:spPr bwMode="auto">
              <a:xfrm>
                <a:off x="5182675" y="1444831"/>
                <a:ext cx="0" cy="3429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855" name="Text Box 22"/>
              <p:cNvSpPr txBox="1">
                <a:spLocks noChangeArrowheads="1"/>
              </p:cNvSpPr>
              <p:nvPr/>
            </p:nvSpPr>
            <p:spPr bwMode="auto">
              <a:xfrm>
                <a:off x="4449250" y="1429772"/>
                <a:ext cx="7048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dirty="0"/>
                  <a:t>Price</a:t>
                </a:r>
              </a:p>
            </p:txBody>
          </p:sp>
        </p:grpSp>
        <p:sp>
          <p:nvSpPr>
            <p:cNvPr id="34853" name="Text Box 34"/>
            <p:cNvSpPr txBox="1">
              <a:spLocks noChangeArrowheads="1"/>
            </p:cNvSpPr>
            <p:nvPr/>
          </p:nvSpPr>
          <p:spPr bwMode="auto">
            <a:xfrm>
              <a:off x="5149028" y="5005454"/>
              <a:ext cx="3056821"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dirty="0">
                  <a:solidFill>
                    <a:srgbClr val="002D56"/>
                  </a:solidFill>
                </a:rPr>
                <a:t>(b) Zero-profit monopoly</a:t>
              </a:r>
            </a:p>
          </p:txBody>
        </p:sp>
      </p:grpSp>
      <p:grpSp>
        <p:nvGrpSpPr>
          <p:cNvPr id="59" name="Group 54"/>
          <p:cNvGrpSpPr>
            <a:grpSpLocks/>
          </p:cNvGrpSpPr>
          <p:nvPr/>
        </p:nvGrpSpPr>
        <p:grpSpPr bwMode="auto">
          <a:xfrm>
            <a:off x="193674" y="2830512"/>
            <a:ext cx="1697038" cy="304800"/>
            <a:chOff x="-94910" y="3441906"/>
            <a:chExt cx="1696185" cy="304800"/>
          </a:xfrm>
        </p:grpSpPr>
        <p:sp>
          <p:nvSpPr>
            <p:cNvPr id="34849" name="Line 31"/>
            <p:cNvSpPr>
              <a:spLocks noChangeShapeType="1"/>
            </p:cNvSpPr>
            <p:nvPr/>
          </p:nvSpPr>
          <p:spPr bwMode="auto">
            <a:xfrm flipH="1">
              <a:off x="610675" y="3578431"/>
              <a:ext cx="990600" cy="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850" name="Text Box 37"/>
            <p:cNvSpPr txBox="1">
              <a:spLocks noChangeArrowheads="1"/>
            </p:cNvSpPr>
            <p:nvPr/>
          </p:nvSpPr>
          <p:spPr bwMode="auto">
            <a:xfrm>
              <a:off x="-94910" y="3441906"/>
              <a:ext cx="61421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algn="r" eaLnBrk="1" hangingPunct="1"/>
              <a:r>
                <a:rPr lang="en-US" altLang="en-US" sz="1800" i="1" dirty="0" err="1" smtClean="0"/>
                <a:t>AC</a:t>
              </a:r>
              <a:r>
                <a:rPr lang="en-US" altLang="en-US" sz="1800" i="1" baseline="-25000" dirty="0" err="1" smtClean="0"/>
                <a:t>m</a:t>
              </a:r>
              <a:endParaRPr lang="en-US" altLang="en-US" sz="1800" i="1" dirty="0"/>
            </a:p>
          </p:txBody>
        </p:sp>
      </p:grpSp>
      <p:grpSp>
        <p:nvGrpSpPr>
          <p:cNvPr id="60" name="Group 55"/>
          <p:cNvGrpSpPr>
            <a:grpSpLocks/>
          </p:cNvGrpSpPr>
          <p:nvPr/>
        </p:nvGrpSpPr>
        <p:grpSpPr bwMode="auto">
          <a:xfrm>
            <a:off x="1738312" y="2128837"/>
            <a:ext cx="392112" cy="2530475"/>
            <a:chOff x="1448875" y="2740231"/>
            <a:chExt cx="392113" cy="2530475"/>
          </a:xfrm>
        </p:grpSpPr>
        <p:sp>
          <p:nvSpPr>
            <p:cNvPr id="34847" name="Line 29"/>
            <p:cNvSpPr>
              <a:spLocks noChangeShapeType="1"/>
            </p:cNvSpPr>
            <p:nvPr/>
          </p:nvSpPr>
          <p:spPr bwMode="auto">
            <a:xfrm flipV="1">
              <a:off x="1601275" y="2740231"/>
              <a:ext cx="0" cy="220980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nchor="ctr"/>
            <a:lstStyle/>
            <a:p>
              <a:endParaRPr lang="en-US"/>
            </a:p>
          </p:txBody>
        </p:sp>
        <p:sp>
          <p:nvSpPr>
            <p:cNvPr id="34848" name="Text Box 38"/>
            <p:cNvSpPr txBox="1">
              <a:spLocks noChangeArrowheads="1"/>
            </p:cNvSpPr>
            <p:nvPr/>
          </p:nvSpPr>
          <p:spPr bwMode="auto">
            <a:xfrm>
              <a:off x="1448875" y="4965906"/>
              <a:ext cx="39211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dirty="0" err="1" smtClean="0"/>
                <a:t>Q</a:t>
              </a:r>
              <a:r>
                <a:rPr lang="en-US" altLang="en-US" sz="1800" i="1" baseline="-25000" dirty="0" err="1" smtClean="0"/>
                <a:t>m</a:t>
              </a:r>
              <a:endParaRPr lang="en-US" altLang="en-US" sz="1800" i="1" dirty="0"/>
            </a:p>
          </p:txBody>
        </p:sp>
      </p:grpSp>
      <p:grpSp>
        <p:nvGrpSpPr>
          <p:cNvPr id="61" name="Group 58"/>
          <p:cNvGrpSpPr>
            <a:grpSpLocks/>
          </p:cNvGrpSpPr>
          <p:nvPr/>
        </p:nvGrpSpPr>
        <p:grpSpPr bwMode="auto">
          <a:xfrm>
            <a:off x="6215062" y="2052637"/>
            <a:ext cx="392113" cy="2530475"/>
            <a:chOff x="6020875" y="2664031"/>
            <a:chExt cx="392113" cy="2530475"/>
          </a:xfrm>
        </p:grpSpPr>
        <p:sp>
          <p:nvSpPr>
            <p:cNvPr id="34845" name="Line 27"/>
            <p:cNvSpPr>
              <a:spLocks noChangeShapeType="1"/>
            </p:cNvSpPr>
            <p:nvPr/>
          </p:nvSpPr>
          <p:spPr bwMode="auto">
            <a:xfrm flipV="1">
              <a:off x="6173275" y="2664031"/>
              <a:ext cx="0" cy="220980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nchor="ctr"/>
            <a:lstStyle/>
            <a:p>
              <a:endParaRPr lang="en-US"/>
            </a:p>
          </p:txBody>
        </p:sp>
        <p:sp>
          <p:nvSpPr>
            <p:cNvPr id="34846" name="Text Box 39"/>
            <p:cNvSpPr txBox="1">
              <a:spLocks noChangeArrowheads="1"/>
            </p:cNvSpPr>
            <p:nvPr/>
          </p:nvSpPr>
          <p:spPr bwMode="auto">
            <a:xfrm>
              <a:off x="6020875" y="4889706"/>
              <a:ext cx="39211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dirty="0" err="1" smtClean="0"/>
                <a:t>Q</a:t>
              </a:r>
              <a:r>
                <a:rPr lang="en-US" altLang="en-US" sz="1800" i="1" baseline="-25000" dirty="0" err="1" smtClean="0"/>
                <a:t>m</a:t>
              </a:r>
              <a:endParaRPr lang="en-US" altLang="en-US" sz="1800" i="1" dirty="0"/>
            </a:p>
          </p:txBody>
        </p:sp>
      </p:grpSp>
      <p:grpSp>
        <p:nvGrpSpPr>
          <p:cNvPr id="62" name="Group 46"/>
          <p:cNvGrpSpPr>
            <a:grpSpLocks/>
          </p:cNvGrpSpPr>
          <p:nvPr/>
        </p:nvGrpSpPr>
        <p:grpSpPr bwMode="auto">
          <a:xfrm>
            <a:off x="451946" y="1849581"/>
            <a:ext cx="1472103" cy="479425"/>
            <a:chOff x="162515" y="2460975"/>
            <a:chExt cx="1473148" cy="479425"/>
          </a:xfrm>
        </p:grpSpPr>
        <p:sp>
          <p:nvSpPr>
            <p:cNvPr id="34842" name="Line 30"/>
            <p:cNvSpPr>
              <a:spLocks noChangeShapeType="1"/>
            </p:cNvSpPr>
            <p:nvPr/>
          </p:nvSpPr>
          <p:spPr bwMode="auto">
            <a:xfrm flipH="1">
              <a:off x="610675" y="2740231"/>
              <a:ext cx="990600" cy="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843" name="Text Box 35"/>
            <p:cNvSpPr txBox="1">
              <a:spLocks noChangeArrowheads="1"/>
            </p:cNvSpPr>
            <p:nvPr/>
          </p:nvSpPr>
          <p:spPr bwMode="auto">
            <a:xfrm>
              <a:off x="162515" y="2460975"/>
              <a:ext cx="622477"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dirty="0" smtClean="0"/>
                <a:t>P</a:t>
              </a:r>
              <a:r>
                <a:rPr lang="en-US" altLang="en-US" sz="1800" i="1" baseline="-25000" dirty="0" smtClean="0"/>
                <a:t>m</a:t>
              </a:r>
              <a:endParaRPr lang="en-US" altLang="en-US" sz="1800" i="1" dirty="0"/>
            </a:p>
          </p:txBody>
        </p:sp>
        <p:sp>
          <p:nvSpPr>
            <p:cNvPr id="34844" name="Oval 9"/>
            <p:cNvSpPr>
              <a:spLocks noChangeArrowheads="1"/>
            </p:cNvSpPr>
            <p:nvPr/>
          </p:nvSpPr>
          <p:spPr bwMode="auto">
            <a:xfrm>
              <a:off x="1559271" y="2700688"/>
              <a:ext cx="76392" cy="76306"/>
            </a:xfrm>
            <a:prstGeom prst="ellipse">
              <a:avLst/>
            </a:prstGeom>
            <a:solidFill>
              <a:schemeClr val="tx1"/>
            </a:solidFill>
            <a:ln w="15875">
              <a:solidFill>
                <a:schemeClr val="tx1"/>
              </a:solidFill>
              <a:round/>
              <a:headEnd/>
              <a:tailEnd/>
            </a:ln>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grpSp>
      <p:grpSp>
        <p:nvGrpSpPr>
          <p:cNvPr id="63" name="Group 65"/>
          <p:cNvGrpSpPr>
            <a:grpSpLocks/>
          </p:cNvGrpSpPr>
          <p:nvPr/>
        </p:nvGrpSpPr>
        <p:grpSpPr bwMode="auto">
          <a:xfrm>
            <a:off x="4237037" y="1916111"/>
            <a:ext cx="2160588" cy="352425"/>
            <a:chOff x="4053733" y="2349380"/>
            <a:chExt cx="2161682" cy="352425"/>
          </a:xfrm>
        </p:grpSpPr>
        <p:sp>
          <p:nvSpPr>
            <p:cNvPr id="34838" name="Text Box 36"/>
            <p:cNvSpPr txBox="1">
              <a:spLocks noChangeArrowheads="1"/>
            </p:cNvSpPr>
            <p:nvPr/>
          </p:nvSpPr>
          <p:spPr bwMode="auto">
            <a:xfrm>
              <a:off x="4053733" y="2349380"/>
              <a:ext cx="1064742"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dirty="0" smtClean="0"/>
                <a:t>P</a:t>
              </a:r>
              <a:r>
                <a:rPr lang="en-US" altLang="en-US" sz="1800" i="1" baseline="-25000" dirty="0" smtClean="0"/>
                <a:t>m</a:t>
              </a:r>
              <a:r>
                <a:rPr lang="en-US" altLang="en-US" sz="1800" dirty="0" smtClean="0"/>
                <a:t>=</a:t>
              </a:r>
              <a:r>
                <a:rPr lang="en-US" altLang="en-US" sz="1800" i="1" dirty="0" err="1" smtClean="0"/>
                <a:t>AC</a:t>
              </a:r>
              <a:r>
                <a:rPr lang="en-US" altLang="en-US" sz="1800" i="1" baseline="-25000" dirty="0" err="1" smtClean="0"/>
                <a:t>m</a:t>
              </a:r>
              <a:endParaRPr lang="en-US" altLang="en-US" sz="1800" i="1" dirty="0"/>
            </a:p>
          </p:txBody>
        </p:sp>
        <p:grpSp>
          <p:nvGrpSpPr>
            <p:cNvPr id="34839" name="Group 47"/>
            <p:cNvGrpSpPr>
              <a:grpSpLocks/>
            </p:cNvGrpSpPr>
            <p:nvPr/>
          </p:nvGrpSpPr>
          <p:grpSpPr bwMode="auto">
            <a:xfrm>
              <a:off x="5189516" y="2438989"/>
              <a:ext cx="1025899" cy="76306"/>
              <a:chOff x="5189516" y="2617114"/>
              <a:chExt cx="1025899" cy="76306"/>
            </a:xfrm>
          </p:grpSpPr>
          <p:sp>
            <p:nvSpPr>
              <p:cNvPr id="34840" name="Line 28"/>
              <p:cNvSpPr>
                <a:spLocks noChangeShapeType="1"/>
              </p:cNvSpPr>
              <p:nvPr/>
            </p:nvSpPr>
            <p:spPr bwMode="auto">
              <a:xfrm flipH="1" flipV="1">
                <a:off x="5189516" y="2660073"/>
                <a:ext cx="983758" cy="3958"/>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841" name="Oval 9"/>
              <p:cNvSpPr>
                <a:spLocks noChangeArrowheads="1"/>
              </p:cNvSpPr>
              <p:nvPr/>
            </p:nvSpPr>
            <p:spPr bwMode="auto">
              <a:xfrm>
                <a:off x="6139023" y="2617114"/>
                <a:ext cx="76392" cy="76306"/>
              </a:xfrm>
              <a:prstGeom prst="ellipse">
                <a:avLst/>
              </a:prstGeom>
              <a:solidFill>
                <a:schemeClr val="tx1"/>
              </a:solidFill>
              <a:ln w="15875">
                <a:solidFill>
                  <a:schemeClr val="tx1"/>
                </a:solidFill>
                <a:round/>
                <a:headEnd/>
                <a:tailEnd/>
              </a:ln>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grpSp>
      </p:grpSp>
    </p:spTree>
    <p:extLst>
      <p:ext uri="{BB962C8B-B14F-4D97-AF65-F5344CB8AC3E}">
        <p14:creationId xmlns:p14="http://schemas.microsoft.com/office/powerpoint/2010/main" val="178670172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53"/>
                                        </p:tgtEl>
                                        <p:attrNameLst>
                                          <p:attrName>style.visibility</p:attrName>
                                        </p:attrNameLst>
                                      </p:cBhvr>
                                      <p:to>
                                        <p:strVal val="visible"/>
                                      </p:to>
                                    </p:set>
                                    <p:animEffect transition="in" filter="wipe(left)">
                                      <p:cBhvr>
                                        <p:cTn id="7" dur="500"/>
                                        <p:tgtEl>
                                          <p:spTgt spid="53"/>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44"/>
                                        </p:tgtEl>
                                        <p:attrNameLst>
                                          <p:attrName>style.visibility</p:attrName>
                                        </p:attrNameLst>
                                      </p:cBhvr>
                                      <p:to>
                                        <p:strVal val="visible"/>
                                      </p:to>
                                    </p:set>
                                    <p:animEffect transition="in" filter="wipe(left)">
                                      <p:cBhvr>
                                        <p:cTn id="11" dur="500"/>
                                        <p:tgtEl>
                                          <p:spTgt spid="44"/>
                                        </p:tgtEl>
                                      </p:cBhvr>
                                    </p:animEffect>
                                  </p:childTnLst>
                                </p:cTn>
                              </p:par>
                            </p:childTnLst>
                          </p:cTn>
                        </p:par>
                        <p:par>
                          <p:cTn id="12" fill="hold" nodeType="afterGroup">
                            <p:stCondLst>
                              <p:cond delay="1000"/>
                            </p:stCondLst>
                            <p:childTnLst>
                              <p:par>
                                <p:cTn id="13" presetID="22" presetClass="entr" presetSubtype="8" fill="hold" nodeType="afterEffect">
                                  <p:stCondLst>
                                    <p:cond delay="0"/>
                                  </p:stCondLst>
                                  <p:childTnLst>
                                    <p:set>
                                      <p:cBhvr>
                                        <p:cTn id="14" dur="1" fill="hold">
                                          <p:stCondLst>
                                            <p:cond delay="0"/>
                                          </p:stCondLst>
                                        </p:cTn>
                                        <p:tgtEl>
                                          <p:spTgt spid="43"/>
                                        </p:tgtEl>
                                        <p:attrNameLst>
                                          <p:attrName>style.visibility</p:attrName>
                                        </p:attrNameLst>
                                      </p:cBhvr>
                                      <p:to>
                                        <p:strVal val="visible"/>
                                      </p:to>
                                    </p:set>
                                    <p:animEffect transition="in" filter="wipe(left)">
                                      <p:cBhvr>
                                        <p:cTn id="15" dur="500"/>
                                        <p:tgtEl>
                                          <p:spTgt spid="43"/>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nodeType="clickEffect">
                                  <p:stCondLst>
                                    <p:cond delay="0"/>
                                  </p:stCondLst>
                                  <p:childTnLst>
                                    <p:set>
                                      <p:cBhvr>
                                        <p:cTn id="19" dur="1" fill="hold">
                                          <p:stCondLst>
                                            <p:cond delay="0"/>
                                          </p:stCondLst>
                                        </p:cTn>
                                        <p:tgtEl>
                                          <p:spTgt spid="48"/>
                                        </p:tgtEl>
                                        <p:attrNameLst>
                                          <p:attrName>style.visibility</p:attrName>
                                        </p:attrNameLst>
                                      </p:cBhvr>
                                      <p:to>
                                        <p:strVal val="visible"/>
                                      </p:to>
                                    </p:set>
                                    <p:animEffect transition="in" filter="wipe(left)">
                                      <p:cBhvr>
                                        <p:cTn id="20" dur="500"/>
                                        <p:tgtEl>
                                          <p:spTgt spid="48"/>
                                        </p:tgtEl>
                                      </p:cBhvr>
                                    </p:animEffect>
                                  </p:childTnLst>
                                </p:cTn>
                              </p:par>
                            </p:childTnLst>
                          </p:cTn>
                        </p:par>
                        <p:par>
                          <p:cTn id="21" fill="hold" nodeType="afterGroup">
                            <p:stCondLst>
                              <p:cond delay="500"/>
                            </p:stCondLst>
                            <p:childTnLst>
                              <p:par>
                                <p:cTn id="22" presetID="22" presetClass="entr" presetSubtype="8" fill="hold" nodeType="afterEffect">
                                  <p:stCondLst>
                                    <p:cond delay="0"/>
                                  </p:stCondLst>
                                  <p:childTnLst>
                                    <p:set>
                                      <p:cBhvr>
                                        <p:cTn id="23" dur="1" fill="hold">
                                          <p:stCondLst>
                                            <p:cond delay="0"/>
                                          </p:stCondLst>
                                        </p:cTn>
                                        <p:tgtEl>
                                          <p:spTgt spid="47"/>
                                        </p:tgtEl>
                                        <p:attrNameLst>
                                          <p:attrName>style.visibility</p:attrName>
                                        </p:attrNameLst>
                                      </p:cBhvr>
                                      <p:to>
                                        <p:strVal val="visible"/>
                                      </p:to>
                                    </p:set>
                                    <p:animEffect transition="in" filter="wipe(left)">
                                      <p:cBhvr>
                                        <p:cTn id="24" dur="500"/>
                                        <p:tgtEl>
                                          <p:spTgt spid="47"/>
                                        </p:tgtEl>
                                      </p:cBhvr>
                                    </p:animEffect>
                                  </p:childTnLst>
                                </p:cTn>
                              </p:par>
                            </p:childTnLst>
                          </p:cTn>
                        </p:par>
                        <p:par>
                          <p:cTn id="25" fill="hold" nodeType="afterGroup">
                            <p:stCondLst>
                              <p:cond delay="1000"/>
                            </p:stCondLst>
                            <p:childTnLst>
                              <p:par>
                                <p:cTn id="26" presetID="22" presetClass="entr" presetSubtype="1" fill="hold" nodeType="afterEffect">
                                  <p:stCondLst>
                                    <p:cond delay="0"/>
                                  </p:stCondLst>
                                  <p:childTnLst>
                                    <p:set>
                                      <p:cBhvr>
                                        <p:cTn id="27" dur="1" fill="hold">
                                          <p:stCondLst>
                                            <p:cond delay="0"/>
                                          </p:stCondLst>
                                        </p:cTn>
                                        <p:tgtEl>
                                          <p:spTgt spid="60"/>
                                        </p:tgtEl>
                                        <p:attrNameLst>
                                          <p:attrName>style.visibility</p:attrName>
                                        </p:attrNameLst>
                                      </p:cBhvr>
                                      <p:to>
                                        <p:strVal val="visible"/>
                                      </p:to>
                                    </p:set>
                                    <p:animEffect transition="in" filter="wipe(up)">
                                      <p:cBhvr>
                                        <p:cTn id="28" dur="500"/>
                                        <p:tgtEl>
                                          <p:spTgt spid="60"/>
                                        </p:tgtEl>
                                      </p:cBhvr>
                                    </p:animEffect>
                                  </p:childTnLst>
                                </p:cTn>
                              </p:par>
                            </p:childTnLst>
                          </p:cTn>
                        </p:par>
                        <p:par>
                          <p:cTn id="29" fill="hold" nodeType="afterGroup">
                            <p:stCondLst>
                              <p:cond delay="1500"/>
                            </p:stCondLst>
                            <p:childTnLst>
                              <p:par>
                                <p:cTn id="30" presetID="22" presetClass="entr" presetSubtype="8" fill="hold" nodeType="afterEffect">
                                  <p:stCondLst>
                                    <p:cond delay="0"/>
                                  </p:stCondLst>
                                  <p:childTnLst>
                                    <p:set>
                                      <p:cBhvr>
                                        <p:cTn id="31" dur="1" fill="hold">
                                          <p:stCondLst>
                                            <p:cond delay="0"/>
                                          </p:stCondLst>
                                        </p:cTn>
                                        <p:tgtEl>
                                          <p:spTgt spid="62"/>
                                        </p:tgtEl>
                                        <p:attrNameLst>
                                          <p:attrName>style.visibility</p:attrName>
                                        </p:attrNameLst>
                                      </p:cBhvr>
                                      <p:to>
                                        <p:strVal val="visible"/>
                                      </p:to>
                                    </p:set>
                                    <p:animEffect transition="in" filter="wipe(left)">
                                      <p:cBhvr>
                                        <p:cTn id="32" dur="500"/>
                                        <p:tgtEl>
                                          <p:spTgt spid="62"/>
                                        </p:tgtEl>
                                      </p:cBhvr>
                                    </p:animEffect>
                                  </p:childTnLst>
                                </p:cTn>
                              </p:par>
                            </p:childTnLst>
                          </p:cTn>
                        </p:par>
                        <p:par>
                          <p:cTn id="33" fill="hold" nodeType="afterGroup">
                            <p:stCondLst>
                              <p:cond delay="2000"/>
                            </p:stCondLst>
                            <p:childTnLst>
                              <p:par>
                                <p:cTn id="34" presetID="22" presetClass="entr" presetSubtype="8" fill="hold" nodeType="afterEffect">
                                  <p:stCondLst>
                                    <p:cond delay="0"/>
                                  </p:stCondLst>
                                  <p:childTnLst>
                                    <p:set>
                                      <p:cBhvr>
                                        <p:cTn id="35" dur="1" fill="hold">
                                          <p:stCondLst>
                                            <p:cond delay="0"/>
                                          </p:stCondLst>
                                        </p:cTn>
                                        <p:tgtEl>
                                          <p:spTgt spid="59"/>
                                        </p:tgtEl>
                                        <p:attrNameLst>
                                          <p:attrName>style.visibility</p:attrName>
                                        </p:attrNameLst>
                                      </p:cBhvr>
                                      <p:to>
                                        <p:strVal val="visible"/>
                                      </p:to>
                                    </p:set>
                                    <p:animEffect transition="in" filter="wipe(left)">
                                      <p:cBhvr>
                                        <p:cTn id="36" dur="500"/>
                                        <p:tgtEl>
                                          <p:spTgt spid="59"/>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56"/>
                                        </p:tgtEl>
                                        <p:attrNameLst>
                                          <p:attrName>style.visibility</p:attrName>
                                        </p:attrNameLst>
                                      </p:cBhvr>
                                      <p:to>
                                        <p:strVal val="visible"/>
                                      </p:to>
                                    </p:set>
                                    <p:animEffect transition="in" filter="wipe(left)">
                                      <p:cBhvr>
                                        <p:cTn id="41" dur="500"/>
                                        <p:tgtEl>
                                          <p:spTgt spid="56"/>
                                        </p:tgtEl>
                                      </p:cBhvr>
                                    </p:animEffect>
                                  </p:childTnLst>
                                </p:cTn>
                              </p:par>
                            </p:childTnLst>
                          </p:cTn>
                        </p:par>
                        <p:par>
                          <p:cTn id="42" fill="hold" nodeType="afterGroup">
                            <p:stCondLst>
                              <p:cond delay="500"/>
                            </p:stCondLst>
                            <p:childTnLst>
                              <p:par>
                                <p:cTn id="43" presetID="22" presetClass="entr" presetSubtype="8" fill="hold" nodeType="afterEffect">
                                  <p:stCondLst>
                                    <p:cond delay="0"/>
                                  </p:stCondLst>
                                  <p:childTnLst>
                                    <p:set>
                                      <p:cBhvr>
                                        <p:cTn id="44" dur="1" fill="hold">
                                          <p:stCondLst>
                                            <p:cond delay="0"/>
                                          </p:stCondLst>
                                        </p:cTn>
                                        <p:tgtEl>
                                          <p:spTgt spid="50"/>
                                        </p:tgtEl>
                                        <p:attrNameLst>
                                          <p:attrName>style.visibility</p:attrName>
                                        </p:attrNameLst>
                                      </p:cBhvr>
                                      <p:to>
                                        <p:strVal val="visible"/>
                                      </p:to>
                                    </p:set>
                                    <p:animEffect transition="in" filter="wipe(left)">
                                      <p:cBhvr>
                                        <p:cTn id="45" dur="500"/>
                                        <p:tgtEl>
                                          <p:spTgt spid="50"/>
                                        </p:tgtEl>
                                      </p:cBhvr>
                                    </p:animEffect>
                                  </p:childTnLst>
                                </p:cTn>
                              </p:par>
                            </p:childTnLst>
                          </p:cTn>
                        </p:par>
                        <p:par>
                          <p:cTn id="46" fill="hold" nodeType="afterGroup">
                            <p:stCondLst>
                              <p:cond delay="1000"/>
                            </p:stCondLst>
                            <p:childTnLst>
                              <p:par>
                                <p:cTn id="47" presetID="22" presetClass="entr" presetSubtype="8" fill="hold" nodeType="afterEffect">
                                  <p:stCondLst>
                                    <p:cond delay="0"/>
                                  </p:stCondLst>
                                  <p:childTnLst>
                                    <p:set>
                                      <p:cBhvr>
                                        <p:cTn id="48" dur="1" fill="hold">
                                          <p:stCondLst>
                                            <p:cond delay="0"/>
                                          </p:stCondLst>
                                        </p:cTn>
                                        <p:tgtEl>
                                          <p:spTgt spid="49"/>
                                        </p:tgtEl>
                                        <p:attrNameLst>
                                          <p:attrName>style.visibility</p:attrName>
                                        </p:attrNameLst>
                                      </p:cBhvr>
                                      <p:to>
                                        <p:strVal val="visible"/>
                                      </p:to>
                                    </p:set>
                                    <p:animEffect transition="in" filter="wipe(left)">
                                      <p:cBhvr>
                                        <p:cTn id="49" dur="500"/>
                                        <p:tgtEl>
                                          <p:spTgt spid="49"/>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nodeType="clickEffect">
                                  <p:stCondLst>
                                    <p:cond delay="0"/>
                                  </p:stCondLst>
                                  <p:childTnLst>
                                    <p:set>
                                      <p:cBhvr>
                                        <p:cTn id="53" dur="1" fill="hold">
                                          <p:stCondLst>
                                            <p:cond delay="0"/>
                                          </p:stCondLst>
                                        </p:cTn>
                                        <p:tgtEl>
                                          <p:spTgt spid="52"/>
                                        </p:tgtEl>
                                        <p:attrNameLst>
                                          <p:attrName>style.visibility</p:attrName>
                                        </p:attrNameLst>
                                      </p:cBhvr>
                                      <p:to>
                                        <p:strVal val="visible"/>
                                      </p:to>
                                    </p:set>
                                    <p:animEffect transition="in" filter="wipe(left)">
                                      <p:cBhvr>
                                        <p:cTn id="54" dur="500"/>
                                        <p:tgtEl>
                                          <p:spTgt spid="52"/>
                                        </p:tgtEl>
                                      </p:cBhvr>
                                    </p:animEffect>
                                  </p:childTnLst>
                                </p:cTn>
                              </p:par>
                            </p:childTnLst>
                          </p:cTn>
                        </p:par>
                        <p:par>
                          <p:cTn id="55" fill="hold" nodeType="afterGroup">
                            <p:stCondLst>
                              <p:cond delay="500"/>
                            </p:stCondLst>
                            <p:childTnLst>
                              <p:par>
                                <p:cTn id="56" presetID="22" presetClass="entr" presetSubtype="8" fill="hold" nodeType="afterEffect">
                                  <p:stCondLst>
                                    <p:cond delay="0"/>
                                  </p:stCondLst>
                                  <p:childTnLst>
                                    <p:set>
                                      <p:cBhvr>
                                        <p:cTn id="57" dur="1" fill="hold">
                                          <p:stCondLst>
                                            <p:cond delay="0"/>
                                          </p:stCondLst>
                                        </p:cTn>
                                        <p:tgtEl>
                                          <p:spTgt spid="51"/>
                                        </p:tgtEl>
                                        <p:attrNameLst>
                                          <p:attrName>style.visibility</p:attrName>
                                        </p:attrNameLst>
                                      </p:cBhvr>
                                      <p:to>
                                        <p:strVal val="visible"/>
                                      </p:to>
                                    </p:set>
                                    <p:animEffect transition="in" filter="wipe(left)">
                                      <p:cBhvr>
                                        <p:cTn id="58" dur="500"/>
                                        <p:tgtEl>
                                          <p:spTgt spid="51"/>
                                        </p:tgtEl>
                                      </p:cBhvr>
                                    </p:animEffect>
                                  </p:childTnLst>
                                </p:cTn>
                              </p:par>
                            </p:childTnLst>
                          </p:cTn>
                        </p:par>
                        <p:par>
                          <p:cTn id="59" fill="hold" nodeType="afterGroup">
                            <p:stCondLst>
                              <p:cond delay="1000"/>
                            </p:stCondLst>
                            <p:childTnLst>
                              <p:par>
                                <p:cTn id="60" presetID="22" presetClass="entr" presetSubtype="1" fill="hold" nodeType="afterEffect">
                                  <p:stCondLst>
                                    <p:cond delay="0"/>
                                  </p:stCondLst>
                                  <p:childTnLst>
                                    <p:set>
                                      <p:cBhvr>
                                        <p:cTn id="61" dur="1" fill="hold">
                                          <p:stCondLst>
                                            <p:cond delay="0"/>
                                          </p:stCondLst>
                                        </p:cTn>
                                        <p:tgtEl>
                                          <p:spTgt spid="61"/>
                                        </p:tgtEl>
                                        <p:attrNameLst>
                                          <p:attrName>style.visibility</p:attrName>
                                        </p:attrNameLst>
                                      </p:cBhvr>
                                      <p:to>
                                        <p:strVal val="visible"/>
                                      </p:to>
                                    </p:set>
                                    <p:animEffect transition="in" filter="wipe(up)">
                                      <p:cBhvr>
                                        <p:cTn id="62" dur="500"/>
                                        <p:tgtEl>
                                          <p:spTgt spid="61"/>
                                        </p:tgtEl>
                                      </p:cBhvr>
                                    </p:animEffect>
                                  </p:childTnLst>
                                </p:cTn>
                              </p:par>
                            </p:childTnLst>
                          </p:cTn>
                        </p:par>
                        <p:par>
                          <p:cTn id="63" fill="hold" nodeType="afterGroup">
                            <p:stCondLst>
                              <p:cond delay="1500"/>
                            </p:stCondLst>
                            <p:childTnLst>
                              <p:par>
                                <p:cTn id="64" presetID="22" presetClass="entr" presetSubtype="8" fill="hold" nodeType="afterEffect">
                                  <p:stCondLst>
                                    <p:cond delay="0"/>
                                  </p:stCondLst>
                                  <p:childTnLst>
                                    <p:set>
                                      <p:cBhvr>
                                        <p:cTn id="65" dur="1" fill="hold">
                                          <p:stCondLst>
                                            <p:cond delay="0"/>
                                          </p:stCondLst>
                                        </p:cTn>
                                        <p:tgtEl>
                                          <p:spTgt spid="63"/>
                                        </p:tgtEl>
                                        <p:attrNameLst>
                                          <p:attrName>style.visibility</p:attrName>
                                        </p:attrNameLst>
                                      </p:cBhvr>
                                      <p:to>
                                        <p:strVal val="visible"/>
                                      </p:to>
                                    </p:set>
                                    <p:animEffect transition="in" filter="wipe(left)">
                                      <p:cBhvr>
                                        <p:cTn id="66" dur="500"/>
                                        <p:tgtEl>
                                          <p:spTgt spid="63"/>
                                        </p:tgtEl>
                                      </p:cBhvr>
                                    </p:animEffect>
                                  </p:childTnLst>
                                </p:cTn>
                              </p:par>
                            </p:childTnLst>
                          </p:cTn>
                        </p:par>
                        <p:par>
                          <p:cTn id="67" fill="hold">
                            <p:stCondLst>
                              <p:cond delay="2000"/>
                            </p:stCondLst>
                            <p:childTnLst>
                              <p:par>
                                <p:cTn id="68" presetID="22" presetClass="entr" presetSubtype="8" fill="hold" grpId="0" nodeType="afterEffect">
                                  <p:stCondLst>
                                    <p:cond delay="0"/>
                                  </p:stCondLst>
                                  <p:childTnLst>
                                    <p:set>
                                      <p:cBhvr>
                                        <p:cTn id="69" dur="1" fill="hold">
                                          <p:stCondLst>
                                            <p:cond delay="0"/>
                                          </p:stCondLst>
                                        </p:cTn>
                                        <p:tgtEl>
                                          <p:spTgt spid="34819">
                                            <p:txEl>
                                              <p:pRg st="0" end="0"/>
                                            </p:txEl>
                                          </p:spTgt>
                                        </p:tgtEl>
                                        <p:attrNameLst>
                                          <p:attrName>style.visibility</p:attrName>
                                        </p:attrNameLst>
                                      </p:cBhvr>
                                      <p:to>
                                        <p:strVal val="visible"/>
                                      </p:to>
                                    </p:set>
                                    <p:animEffect transition="in" filter="wipe(left)">
                                      <p:cBhvr>
                                        <p:cTn id="70" dur="500"/>
                                        <p:tgtEl>
                                          <p:spTgt spid="3481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9"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r>
              <a:rPr lang="en-US" altLang="en-US" smtClean="0"/>
              <a:t>There is No Monopoly Supply Curve</a:t>
            </a:r>
          </a:p>
        </p:txBody>
      </p:sp>
      <p:sp>
        <p:nvSpPr>
          <p:cNvPr id="35843" name="Rectangle 3"/>
          <p:cNvSpPr>
            <a:spLocks noGrp="1" noChangeArrowheads="1"/>
          </p:cNvSpPr>
          <p:nvPr>
            <p:ph idx="1"/>
          </p:nvPr>
        </p:nvSpPr>
        <p:spPr/>
        <p:txBody>
          <a:bodyPr/>
          <a:lstStyle/>
          <a:p>
            <a:r>
              <a:rPr lang="en-US" altLang="en-US" smtClean="0"/>
              <a:t>With a fixed market demand curve</a:t>
            </a:r>
          </a:p>
          <a:p>
            <a:pPr lvl="1"/>
            <a:r>
              <a:rPr lang="en-US" altLang="en-US" smtClean="0"/>
              <a:t>The supply “curve” for a monopolist will only be one point</a:t>
            </a:r>
          </a:p>
          <a:p>
            <a:pPr lvl="2"/>
            <a:r>
              <a:rPr lang="en-US" altLang="en-US" smtClean="0"/>
              <a:t>The price-output combination where </a:t>
            </a:r>
            <a:r>
              <a:rPr lang="en-US" altLang="en-US" i="1" smtClean="0"/>
              <a:t>MR = MC</a:t>
            </a:r>
            <a:endParaRPr lang="en-US" altLang="en-US" smtClean="0"/>
          </a:p>
          <a:p>
            <a:r>
              <a:rPr lang="en-US" altLang="en-US" smtClean="0"/>
              <a:t>If demand shifts</a:t>
            </a:r>
          </a:p>
          <a:p>
            <a:pPr lvl="1"/>
            <a:r>
              <a:rPr lang="en-US" altLang="en-US" smtClean="0"/>
              <a:t>The marginal revenue curve shifts</a:t>
            </a:r>
          </a:p>
          <a:p>
            <a:pPr lvl="1"/>
            <a:r>
              <a:rPr lang="en-US" altLang="en-US" smtClean="0"/>
              <a:t>And a new profit-maximizing output will be chosen</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AC36F230-B10E-4E55-A9DC-F9A11307F79C}" type="slidenum">
              <a:rPr lang="en-US" smtClean="0"/>
              <a:pPr>
                <a:defRPr/>
              </a:pPr>
              <a:t>15</a:t>
            </a:fld>
            <a:endParaRPr lang="en-US"/>
          </a:p>
        </p:txBody>
      </p:sp>
    </p:spTree>
    <p:extLst>
      <p:ext uri="{BB962C8B-B14F-4D97-AF65-F5344CB8AC3E}">
        <p14:creationId xmlns:p14="http://schemas.microsoft.com/office/powerpoint/2010/main" val="184915602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14.1 	Calculating Monopoly Output</a:t>
            </a:r>
          </a:p>
        </p:txBody>
      </p:sp>
      <p:sp>
        <p:nvSpPr>
          <p:cNvPr id="36869"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4" name="Slide Number Placeholder 3"/>
          <p:cNvSpPr>
            <a:spLocks noGrp="1"/>
          </p:cNvSpPr>
          <p:nvPr>
            <p:ph type="sldNum" sz="quarter" idx="11"/>
          </p:nvPr>
        </p:nvSpPr>
        <p:spPr>
          <a:prstGeom prst="rect">
            <a:avLst/>
          </a:prstGeom>
        </p:spPr>
        <p:txBody>
          <a:bodyPr/>
          <a:lstStyle/>
          <a:p>
            <a:pPr>
              <a:defRPr/>
            </a:pPr>
            <a:fld id="{06CF64C6-5ADA-47D2-A035-BEEF10E6A213}" type="slidenum">
              <a:rPr lang="en-US" smtClean="0"/>
              <a:pPr>
                <a:defRPr/>
              </a:pPr>
              <a:t>16</a:t>
            </a:fld>
            <a:endParaRPr lang="en-US" dirty="0"/>
          </a:p>
        </p:txBody>
      </p:sp>
      <p:sp>
        <p:nvSpPr>
          <p:cNvPr id="36867" name="Content Placeholder 2"/>
          <p:cNvSpPr>
            <a:spLocks noGrp="1"/>
          </p:cNvSpPr>
          <p:nvPr>
            <p:ph type="body" sz="quarter" idx="12"/>
          </p:nvPr>
        </p:nvSpPr>
        <p:spPr>
          <a:prstGeom prst="rect">
            <a:avLst/>
          </a:prstGeom>
        </p:spPr>
        <p:txBody>
          <a:bodyPr/>
          <a:lstStyle/>
          <a:p>
            <a:r>
              <a:rPr lang="en-US" altLang="en-US" dirty="0" smtClean="0"/>
              <a:t>Market for Frisbees</a:t>
            </a:r>
          </a:p>
          <a:p>
            <a:pPr lvl="1"/>
            <a:r>
              <a:rPr lang="en-US" altLang="en-US" dirty="0" smtClean="0"/>
              <a:t>Linear demand curve:</a:t>
            </a:r>
          </a:p>
          <a:p>
            <a:pPr algn="ctr">
              <a:buFontTx/>
              <a:buNone/>
            </a:pPr>
            <a:r>
              <a:rPr lang="en-US" altLang="en-US" sz="2800" i="1" dirty="0" smtClean="0">
                <a:solidFill>
                  <a:srgbClr val="FF0000"/>
                </a:solidFill>
              </a:rPr>
              <a:t>Q</a:t>
            </a:r>
            <a:r>
              <a:rPr lang="en-US" altLang="en-US" sz="2800" dirty="0" smtClean="0">
                <a:solidFill>
                  <a:srgbClr val="FF0000"/>
                </a:solidFill>
              </a:rPr>
              <a:t> = 2,000 - 20</a:t>
            </a:r>
            <a:r>
              <a:rPr lang="en-US" altLang="en-US" sz="2800" i="1" dirty="0" smtClean="0">
                <a:solidFill>
                  <a:srgbClr val="FF0000"/>
                </a:solidFill>
              </a:rPr>
              <a:t>P </a:t>
            </a:r>
            <a:r>
              <a:rPr lang="en-US" altLang="en-US" sz="2800" dirty="0" smtClean="0">
                <a:solidFill>
                  <a:srgbClr val="FF0000"/>
                </a:solidFill>
              </a:rPr>
              <a:t>   </a:t>
            </a:r>
            <a:r>
              <a:rPr lang="en-US" altLang="en-US" sz="2800" dirty="0" smtClean="0"/>
              <a:t>or     </a:t>
            </a:r>
            <a:r>
              <a:rPr lang="en-US" altLang="en-US" sz="2800" i="1" dirty="0" smtClean="0">
                <a:solidFill>
                  <a:srgbClr val="FF0000"/>
                </a:solidFill>
              </a:rPr>
              <a:t>P</a:t>
            </a:r>
            <a:r>
              <a:rPr lang="en-US" altLang="en-US" sz="2800" dirty="0" smtClean="0">
                <a:solidFill>
                  <a:srgbClr val="FF0000"/>
                </a:solidFill>
              </a:rPr>
              <a:t> = 100 - </a:t>
            </a:r>
            <a:r>
              <a:rPr lang="en-US" altLang="en-US" sz="2800" i="1" dirty="0" smtClean="0">
                <a:solidFill>
                  <a:srgbClr val="FF0000"/>
                </a:solidFill>
              </a:rPr>
              <a:t>Q</a:t>
            </a:r>
            <a:r>
              <a:rPr lang="en-US" altLang="en-US" sz="2800" dirty="0" smtClean="0">
                <a:solidFill>
                  <a:srgbClr val="FF0000"/>
                </a:solidFill>
              </a:rPr>
              <a:t>/20</a:t>
            </a:r>
          </a:p>
          <a:p>
            <a:pPr lvl="1"/>
            <a:r>
              <a:rPr lang="en-US" altLang="en-US" dirty="0" smtClean="0"/>
              <a:t>The total costs of a monopoly Frisbee producer:</a:t>
            </a:r>
          </a:p>
          <a:p>
            <a:pPr algn="ctr">
              <a:buFontTx/>
              <a:buNone/>
            </a:pPr>
            <a:r>
              <a:rPr lang="en-US" altLang="en-US" sz="2800" i="1" dirty="0" smtClean="0">
                <a:solidFill>
                  <a:srgbClr val="FF0000"/>
                </a:solidFill>
              </a:rPr>
              <a:t>C</a:t>
            </a:r>
            <a:r>
              <a:rPr lang="en-US" altLang="en-US" sz="2800" dirty="0" smtClean="0">
                <a:solidFill>
                  <a:srgbClr val="FF0000"/>
                </a:solidFill>
              </a:rPr>
              <a:t>(</a:t>
            </a:r>
            <a:r>
              <a:rPr lang="en-US" altLang="en-US" sz="2800" i="1" dirty="0" smtClean="0">
                <a:solidFill>
                  <a:srgbClr val="FF0000"/>
                </a:solidFill>
              </a:rPr>
              <a:t>Q</a:t>
            </a:r>
            <a:r>
              <a:rPr lang="en-US" altLang="en-US" sz="2800" dirty="0" smtClean="0">
                <a:solidFill>
                  <a:srgbClr val="FF0000"/>
                </a:solidFill>
              </a:rPr>
              <a:t>) = 0.05</a:t>
            </a:r>
            <a:r>
              <a:rPr lang="en-US" altLang="en-US" sz="2800" i="1" dirty="0" smtClean="0">
                <a:solidFill>
                  <a:srgbClr val="FF0000"/>
                </a:solidFill>
              </a:rPr>
              <a:t>Q</a:t>
            </a:r>
            <a:r>
              <a:rPr lang="en-US" altLang="en-US" sz="2800" baseline="30000" dirty="0" smtClean="0">
                <a:solidFill>
                  <a:srgbClr val="FF0000"/>
                </a:solidFill>
              </a:rPr>
              <a:t>2</a:t>
            </a:r>
            <a:r>
              <a:rPr lang="en-US" altLang="en-US" sz="2800" dirty="0" smtClean="0">
                <a:solidFill>
                  <a:srgbClr val="FF0000"/>
                </a:solidFill>
              </a:rPr>
              <a:t> + 10,000</a:t>
            </a:r>
          </a:p>
          <a:p>
            <a:pPr lvl="1"/>
            <a:r>
              <a:rPr lang="en-US" altLang="en-US" dirty="0" smtClean="0"/>
              <a:t>Maximize profits - choose the output for which </a:t>
            </a:r>
            <a:r>
              <a:rPr lang="en-US" altLang="en-US" i="1" dirty="0" smtClean="0"/>
              <a:t>MR = MC</a:t>
            </a:r>
            <a:endParaRPr lang="en-US" altLang="en-US" dirty="0" smtClean="0"/>
          </a:p>
          <a:p>
            <a:pPr lvl="1"/>
            <a:r>
              <a:rPr lang="en-US" altLang="en-US" dirty="0" smtClean="0"/>
              <a:t>Total revenue: </a:t>
            </a:r>
            <a:r>
              <a:rPr lang="en-US" altLang="en-US" i="1" dirty="0" smtClean="0">
                <a:solidFill>
                  <a:srgbClr val="FF0000"/>
                </a:solidFill>
              </a:rPr>
              <a:t>TR</a:t>
            </a:r>
            <a:r>
              <a:rPr lang="en-US" altLang="en-US" dirty="0" smtClean="0">
                <a:solidFill>
                  <a:srgbClr val="FF0000"/>
                </a:solidFill>
              </a:rPr>
              <a:t> = </a:t>
            </a:r>
            <a:r>
              <a:rPr lang="en-US" altLang="en-US" i="1" dirty="0" smtClean="0">
                <a:solidFill>
                  <a:srgbClr val="FF0000"/>
                </a:solidFill>
              </a:rPr>
              <a:t>P</a:t>
            </a:r>
            <a:r>
              <a:rPr lang="en-US" altLang="en-US" i="1" dirty="0" smtClean="0">
                <a:solidFill>
                  <a:srgbClr val="FF0000"/>
                </a:solidFill>
                <a:sym typeface="Symbol" pitchFamily="18" charset="2"/>
              </a:rPr>
              <a:t>Q =</a:t>
            </a:r>
            <a:r>
              <a:rPr lang="en-US" altLang="en-US" dirty="0" smtClean="0">
                <a:solidFill>
                  <a:srgbClr val="FF0000"/>
                </a:solidFill>
                <a:sym typeface="Symbol" pitchFamily="18" charset="2"/>
              </a:rPr>
              <a:t> 100</a:t>
            </a:r>
            <a:r>
              <a:rPr lang="en-US" altLang="en-US" i="1" dirty="0" smtClean="0">
                <a:solidFill>
                  <a:srgbClr val="FF0000"/>
                </a:solidFill>
                <a:sym typeface="Symbol" pitchFamily="18" charset="2"/>
              </a:rPr>
              <a:t>Q</a:t>
            </a:r>
            <a:r>
              <a:rPr lang="en-US" altLang="en-US" dirty="0" smtClean="0">
                <a:solidFill>
                  <a:srgbClr val="FF0000"/>
                </a:solidFill>
                <a:sym typeface="Symbol" pitchFamily="18" charset="2"/>
              </a:rPr>
              <a:t> - </a:t>
            </a:r>
            <a:r>
              <a:rPr lang="en-US" altLang="en-US" i="1" dirty="0" smtClean="0">
                <a:solidFill>
                  <a:srgbClr val="FF0000"/>
                </a:solidFill>
                <a:sym typeface="Symbol" pitchFamily="18" charset="2"/>
              </a:rPr>
              <a:t>Q</a:t>
            </a:r>
            <a:r>
              <a:rPr lang="en-US" altLang="en-US" baseline="30000" dirty="0" smtClean="0">
                <a:solidFill>
                  <a:srgbClr val="FF0000"/>
                </a:solidFill>
                <a:sym typeface="Symbol" pitchFamily="18" charset="2"/>
              </a:rPr>
              <a:t>2</a:t>
            </a:r>
            <a:r>
              <a:rPr lang="en-US" altLang="en-US" dirty="0" smtClean="0">
                <a:solidFill>
                  <a:srgbClr val="FF0000"/>
                </a:solidFill>
                <a:sym typeface="Symbol" pitchFamily="18" charset="2"/>
              </a:rPr>
              <a:t>/20</a:t>
            </a:r>
          </a:p>
          <a:p>
            <a:pPr lvl="1"/>
            <a:r>
              <a:rPr lang="en-US" altLang="en-US" dirty="0" smtClean="0"/>
              <a:t>Marginal revenue: </a:t>
            </a:r>
            <a:r>
              <a:rPr lang="en-US" altLang="en-US" i="1" dirty="0" smtClean="0">
                <a:solidFill>
                  <a:srgbClr val="FF0000"/>
                </a:solidFill>
              </a:rPr>
              <a:t>MR</a:t>
            </a:r>
            <a:r>
              <a:rPr lang="en-US" altLang="en-US" dirty="0" smtClean="0">
                <a:solidFill>
                  <a:srgbClr val="FF0000"/>
                </a:solidFill>
              </a:rPr>
              <a:t> = 100 - </a:t>
            </a:r>
            <a:r>
              <a:rPr lang="en-US" altLang="en-US" i="1" dirty="0" smtClean="0">
                <a:solidFill>
                  <a:srgbClr val="FF0000"/>
                </a:solidFill>
              </a:rPr>
              <a:t>Q</a:t>
            </a:r>
            <a:r>
              <a:rPr lang="en-US" altLang="en-US" dirty="0" smtClean="0">
                <a:solidFill>
                  <a:srgbClr val="FF0000"/>
                </a:solidFill>
              </a:rPr>
              <a:t>/10</a:t>
            </a:r>
          </a:p>
          <a:p>
            <a:pPr lvl="1"/>
            <a:r>
              <a:rPr lang="en-US" altLang="en-US" dirty="0" smtClean="0"/>
              <a:t>Marginal cost: </a:t>
            </a:r>
            <a:r>
              <a:rPr lang="en-US" altLang="en-US" i="1" dirty="0" smtClean="0">
                <a:solidFill>
                  <a:srgbClr val="FF0000"/>
                </a:solidFill>
              </a:rPr>
              <a:t>MC</a:t>
            </a:r>
            <a:r>
              <a:rPr lang="en-US" altLang="en-US" dirty="0" smtClean="0">
                <a:solidFill>
                  <a:srgbClr val="FF0000"/>
                </a:solidFill>
              </a:rPr>
              <a:t> = 0.1</a:t>
            </a:r>
            <a:r>
              <a:rPr lang="en-US" altLang="en-US" i="1" dirty="0" smtClean="0">
                <a:solidFill>
                  <a:srgbClr val="FF0000"/>
                </a:solidFill>
              </a:rPr>
              <a:t>Q</a:t>
            </a:r>
            <a:endParaRPr lang="en-US" altLang="en-US" dirty="0" smtClean="0">
              <a:solidFill>
                <a:srgbClr val="FF0000"/>
              </a:solidFill>
            </a:endParaRPr>
          </a:p>
          <a:p>
            <a:endParaRPr lang="en-US" altLang="en-US" dirty="0" smtClean="0">
              <a:solidFill>
                <a:srgbClr val="7B332D"/>
              </a:solidFill>
            </a:endParaRPr>
          </a:p>
          <a:p>
            <a:endParaRPr lang="en-US" altLang="en-US" dirty="0" smtClean="0"/>
          </a:p>
        </p:txBody>
      </p:sp>
    </p:spTree>
    <p:extLst>
      <p:ext uri="{BB962C8B-B14F-4D97-AF65-F5344CB8AC3E}">
        <p14:creationId xmlns:p14="http://schemas.microsoft.com/office/powerpoint/2010/main" val="102661989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14.1 	Calculating Monopoly Output</a:t>
            </a:r>
          </a:p>
        </p:txBody>
      </p:sp>
      <p:sp>
        <p:nvSpPr>
          <p:cNvPr id="37893"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4" name="Slide Number Placeholder 3"/>
          <p:cNvSpPr>
            <a:spLocks noGrp="1"/>
          </p:cNvSpPr>
          <p:nvPr>
            <p:ph type="sldNum" sz="quarter" idx="11"/>
          </p:nvPr>
        </p:nvSpPr>
        <p:spPr>
          <a:prstGeom prst="rect">
            <a:avLst/>
          </a:prstGeom>
        </p:spPr>
        <p:txBody>
          <a:bodyPr/>
          <a:lstStyle/>
          <a:p>
            <a:pPr>
              <a:defRPr/>
            </a:pPr>
            <a:fld id="{73742DB5-12F6-454B-9319-C3D1A98D16C1}" type="slidenum">
              <a:rPr lang="en-US" smtClean="0"/>
              <a:pPr>
                <a:defRPr/>
              </a:pPr>
              <a:t>17</a:t>
            </a:fld>
            <a:endParaRPr lang="en-US" dirty="0"/>
          </a:p>
        </p:txBody>
      </p:sp>
      <p:sp>
        <p:nvSpPr>
          <p:cNvPr id="37891" name="Content Placeholder 2"/>
          <p:cNvSpPr>
            <a:spLocks noGrp="1"/>
          </p:cNvSpPr>
          <p:nvPr>
            <p:ph type="body" sz="quarter" idx="12"/>
          </p:nvPr>
        </p:nvSpPr>
        <p:spPr>
          <a:prstGeom prst="rect">
            <a:avLst/>
          </a:prstGeom>
        </p:spPr>
        <p:txBody>
          <a:bodyPr/>
          <a:lstStyle/>
          <a:p>
            <a:r>
              <a:rPr lang="en-US" altLang="en-US" i="1" dirty="0" smtClean="0"/>
              <a:t>MR = MC</a:t>
            </a:r>
            <a:endParaRPr lang="en-US" altLang="en-US" dirty="0" smtClean="0"/>
          </a:p>
          <a:p>
            <a:pPr lvl="1">
              <a:lnSpc>
                <a:spcPct val="110000"/>
              </a:lnSpc>
            </a:pPr>
            <a:r>
              <a:rPr lang="en-US" altLang="en-US" i="1" dirty="0" err="1" smtClean="0"/>
              <a:t>Q</a:t>
            </a:r>
            <a:r>
              <a:rPr lang="en-US" altLang="en-US" i="1" baseline="-25000" dirty="0" err="1" smtClean="0"/>
              <a:t>m</a:t>
            </a:r>
            <a:r>
              <a:rPr lang="en-US" altLang="en-US" dirty="0" smtClean="0"/>
              <a:t> = 500		</a:t>
            </a:r>
          </a:p>
          <a:p>
            <a:pPr lvl="1">
              <a:lnSpc>
                <a:spcPct val="110000"/>
              </a:lnSpc>
            </a:pPr>
            <a:r>
              <a:rPr lang="en-US" altLang="en-US" i="1" dirty="0" smtClean="0"/>
              <a:t>P</a:t>
            </a:r>
            <a:r>
              <a:rPr lang="en-US" altLang="en-US" i="1" baseline="-25000" dirty="0" smtClean="0"/>
              <a:t>m</a:t>
            </a:r>
            <a:r>
              <a:rPr lang="en-US" altLang="en-US" dirty="0" smtClean="0"/>
              <a:t> = 75</a:t>
            </a:r>
          </a:p>
          <a:p>
            <a:pPr lvl="1">
              <a:lnSpc>
                <a:spcPct val="110000"/>
              </a:lnSpc>
            </a:pPr>
            <a:r>
              <a:rPr lang="en-US" altLang="en-US" i="1" dirty="0" smtClean="0"/>
              <a:t>C</a:t>
            </a:r>
            <a:r>
              <a:rPr lang="en-US" altLang="en-US" dirty="0" smtClean="0"/>
              <a:t>(</a:t>
            </a:r>
            <a:r>
              <a:rPr lang="en-US" altLang="en-US" i="1" dirty="0" smtClean="0"/>
              <a:t>Q</a:t>
            </a:r>
            <a:r>
              <a:rPr lang="en-US" altLang="en-US" dirty="0" smtClean="0"/>
              <a:t>) = 22,500</a:t>
            </a:r>
          </a:p>
          <a:p>
            <a:pPr lvl="1">
              <a:lnSpc>
                <a:spcPct val="110000"/>
              </a:lnSpc>
            </a:pPr>
            <a:r>
              <a:rPr lang="en-US" altLang="en-US" i="1" dirty="0" err="1" smtClean="0"/>
              <a:t>AC</a:t>
            </a:r>
            <a:r>
              <a:rPr lang="en-US" altLang="en-US" i="1" baseline="-25000" dirty="0" err="1" smtClean="0"/>
              <a:t>m</a:t>
            </a:r>
            <a:r>
              <a:rPr lang="en-US" altLang="en-US" dirty="0" smtClean="0"/>
              <a:t> = 45</a:t>
            </a:r>
          </a:p>
          <a:p>
            <a:pPr lvl="1">
              <a:lnSpc>
                <a:spcPct val="110000"/>
              </a:lnSpc>
            </a:pPr>
            <a:r>
              <a:rPr lang="en-US" altLang="en-US" dirty="0" smtClean="0">
                <a:sym typeface="Symbol" pitchFamily="18" charset="2"/>
              </a:rPr>
              <a:t></a:t>
            </a:r>
            <a:r>
              <a:rPr lang="en-US" altLang="en-US" baseline="-25000" dirty="0" smtClean="0">
                <a:sym typeface="Symbol" pitchFamily="18" charset="2"/>
              </a:rPr>
              <a:t>m</a:t>
            </a:r>
            <a:r>
              <a:rPr lang="en-US" altLang="en-US" dirty="0" smtClean="0">
                <a:sym typeface="Symbol" pitchFamily="18" charset="2"/>
              </a:rPr>
              <a:t> = (</a:t>
            </a:r>
            <a:r>
              <a:rPr lang="en-US" altLang="en-US" i="1" dirty="0" smtClean="0">
                <a:sym typeface="Symbol" pitchFamily="18" charset="2"/>
              </a:rPr>
              <a:t>P</a:t>
            </a:r>
            <a:r>
              <a:rPr lang="en-US" altLang="en-US" i="1" baseline="-25000" dirty="0" smtClean="0">
                <a:sym typeface="Symbol" pitchFamily="18" charset="2"/>
              </a:rPr>
              <a:t>m</a:t>
            </a:r>
            <a:r>
              <a:rPr lang="en-US" altLang="en-US" dirty="0" smtClean="0">
                <a:sym typeface="Symbol" pitchFamily="18" charset="2"/>
              </a:rPr>
              <a:t> – </a:t>
            </a:r>
            <a:r>
              <a:rPr lang="en-US" altLang="en-US" i="1" dirty="0" err="1" smtClean="0">
                <a:sym typeface="Symbol" pitchFamily="18" charset="2"/>
              </a:rPr>
              <a:t>AC</a:t>
            </a:r>
            <a:r>
              <a:rPr lang="en-US" altLang="en-US" i="1" baseline="-25000" dirty="0" err="1" smtClean="0">
                <a:sym typeface="Symbol" pitchFamily="18" charset="2"/>
              </a:rPr>
              <a:t>m</a:t>
            </a:r>
            <a:r>
              <a:rPr lang="en-US" altLang="en-US" dirty="0" smtClean="0">
                <a:sym typeface="Symbol" pitchFamily="18" charset="2"/>
              </a:rPr>
              <a:t>)</a:t>
            </a:r>
            <a:r>
              <a:rPr lang="en-US" altLang="en-US" i="1" dirty="0" err="1" smtClean="0">
                <a:sym typeface="Symbol" pitchFamily="18" charset="2"/>
              </a:rPr>
              <a:t>Q</a:t>
            </a:r>
            <a:r>
              <a:rPr lang="en-US" altLang="en-US" i="1" baseline="-25000" dirty="0" err="1" smtClean="0">
                <a:sym typeface="Symbol" pitchFamily="18" charset="2"/>
              </a:rPr>
              <a:t>m</a:t>
            </a:r>
            <a:r>
              <a:rPr lang="en-US" altLang="en-US" dirty="0" smtClean="0">
                <a:sym typeface="Symbol" pitchFamily="18" charset="2"/>
              </a:rPr>
              <a:t> = 15,000</a:t>
            </a:r>
            <a:endParaRPr lang="en-US" altLang="en-US" dirty="0" smtClean="0"/>
          </a:p>
          <a:p>
            <a:endParaRPr lang="en-US" altLang="en-US" dirty="0" smtClean="0">
              <a:solidFill>
                <a:srgbClr val="7B332D"/>
              </a:solidFill>
            </a:endParaRPr>
          </a:p>
          <a:p>
            <a:endParaRPr lang="en-US" altLang="en-US" dirty="0" smtClean="0"/>
          </a:p>
        </p:txBody>
      </p:sp>
    </p:spTree>
    <p:extLst>
      <p:ext uri="{BB962C8B-B14F-4D97-AF65-F5344CB8AC3E}">
        <p14:creationId xmlns:p14="http://schemas.microsoft.com/office/powerpoint/2010/main" val="352505421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14.2 	Monopoly with Simple Demand Curves</a:t>
            </a:r>
          </a:p>
        </p:txBody>
      </p:sp>
      <p:sp>
        <p:nvSpPr>
          <p:cNvPr id="38917"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4" name="Slide Number Placeholder 3"/>
          <p:cNvSpPr>
            <a:spLocks noGrp="1"/>
          </p:cNvSpPr>
          <p:nvPr>
            <p:ph type="sldNum" sz="quarter" idx="11"/>
          </p:nvPr>
        </p:nvSpPr>
        <p:spPr>
          <a:prstGeom prst="rect">
            <a:avLst/>
          </a:prstGeom>
        </p:spPr>
        <p:txBody>
          <a:bodyPr/>
          <a:lstStyle/>
          <a:p>
            <a:pPr>
              <a:defRPr/>
            </a:pPr>
            <a:fld id="{F82C3D0A-8447-4F03-9A17-EC9A20B07A03}" type="slidenum">
              <a:rPr lang="en-US" smtClean="0"/>
              <a:pPr>
                <a:defRPr/>
              </a:pPr>
              <a:t>18</a:t>
            </a:fld>
            <a:endParaRPr lang="en-US" dirty="0"/>
          </a:p>
        </p:txBody>
      </p:sp>
      <p:sp>
        <p:nvSpPr>
          <p:cNvPr id="38915" name="Content Placeholder 2"/>
          <p:cNvSpPr>
            <a:spLocks noGrp="1"/>
          </p:cNvSpPr>
          <p:nvPr>
            <p:ph type="body" sz="quarter" idx="12"/>
          </p:nvPr>
        </p:nvSpPr>
        <p:spPr>
          <a:prstGeom prst="rect">
            <a:avLst/>
          </a:prstGeom>
        </p:spPr>
        <p:txBody>
          <a:bodyPr/>
          <a:lstStyle/>
          <a:p>
            <a:r>
              <a:rPr lang="en-US" altLang="en-US" dirty="0" smtClean="0"/>
              <a:t>The inverse demand function facing the monopoly is linear: </a:t>
            </a:r>
            <a:r>
              <a:rPr lang="en-US" altLang="en-US" sz="2800" i="1" dirty="0" smtClean="0">
                <a:solidFill>
                  <a:srgbClr val="FF0000"/>
                </a:solidFill>
                <a:latin typeface="Times New Roman" panose="02020603050405020304" pitchFamily="18" charset="0"/>
                <a:cs typeface="Times New Roman" panose="02020603050405020304" pitchFamily="18" charset="0"/>
              </a:rPr>
              <a:t>P</a:t>
            </a:r>
            <a:r>
              <a:rPr lang="en-US" altLang="en-US" sz="2800" dirty="0" smtClean="0">
                <a:solidFill>
                  <a:srgbClr val="FF0000"/>
                </a:solidFill>
                <a:latin typeface="Times New Roman" panose="02020603050405020304" pitchFamily="18" charset="0"/>
                <a:cs typeface="Times New Roman" panose="02020603050405020304" pitchFamily="18" charset="0"/>
              </a:rPr>
              <a:t> = </a:t>
            </a:r>
            <a:r>
              <a:rPr lang="en-US" altLang="en-US" sz="2800" i="1" dirty="0" smtClean="0">
                <a:solidFill>
                  <a:srgbClr val="FF0000"/>
                </a:solidFill>
                <a:latin typeface="Times New Roman" panose="02020603050405020304" pitchFamily="18" charset="0"/>
                <a:cs typeface="Times New Roman" panose="02020603050405020304" pitchFamily="18" charset="0"/>
              </a:rPr>
              <a:t>a</a:t>
            </a:r>
            <a:r>
              <a:rPr lang="en-US" altLang="en-US" sz="2800" dirty="0" smtClean="0">
                <a:solidFill>
                  <a:srgbClr val="FF0000"/>
                </a:solidFill>
                <a:latin typeface="Times New Roman" panose="02020603050405020304" pitchFamily="18" charset="0"/>
                <a:cs typeface="Times New Roman" panose="02020603050405020304" pitchFamily="18" charset="0"/>
              </a:rPr>
              <a:t> – </a:t>
            </a:r>
            <a:r>
              <a:rPr lang="en-US" altLang="en-US" sz="2800" i="1" dirty="0" err="1" smtClean="0">
                <a:solidFill>
                  <a:srgbClr val="FF0000"/>
                </a:solidFill>
                <a:latin typeface="Times New Roman" panose="02020603050405020304" pitchFamily="18" charset="0"/>
                <a:cs typeface="Times New Roman" panose="02020603050405020304" pitchFamily="18" charset="0"/>
              </a:rPr>
              <a:t>bQ</a:t>
            </a:r>
            <a:endParaRPr lang="en-US" altLang="en-US" sz="2800" dirty="0" smtClean="0">
              <a:solidFill>
                <a:srgbClr val="FF0000"/>
              </a:solidFill>
              <a:latin typeface="Times New Roman" panose="02020603050405020304" pitchFamily="18" charset="0"/>
              <a:cs typeface="Times New Roman" panose="02020603050405020304" pitchFamily="18" charset="0"/>
            </a:endParaRPr>
          </a:p>
          <a:p>
            <a:pPr lvl="2">
              <a:buFont typeface="Arial" charset="0"/>
              <a:buNone/>
            </a:pPr>
            <a:r>
              <a:rPr lang="en-US" altLang="en-US" dirty="0" smtClean="0">
                <a:solidFill>
                  <a:srgbClr val="FF0000"/>
                </a:solidFill>
              </a:rPr>
              <a:t>Revenue is</a:t>
            </a:r>
            <a:r>
              <a:rPr lang="en-US" altLang="en-US" i="1" dirty="0" smtClean="0">
                <a:solidFill>
                  <a:srgbClr val="FF0000"/>
                </a:solidFill>
              </a:rPr>
              <a:t> </a:t>
            </a:r>
            <a:r>
              <a:rPr lang="en-US" altLang="en-US" i="1" dirty="0" smtClean="0">
                <a:solidFill>
                  <a:srgbClr val="FF0000"/>
                </a:solidFill>
                <a:latin typeface="Times New Roman" panose="02020603050405020304" pitchFamily="18" charset="0"/>
                <a:cs typeface="Times New Roman" panose="02020603050405020304" pitchFamily="18" charset="0"/>
              </a:rPr>
              <a:t>PQ</a:t>
            </a:r>
            <a:r>
              <a:rPr lang="en-US" altLang="en-US" dirty="0" smtClean="0">
                <a:solidFill>
                  <a:srgbClr val="FF0000"/>
                </a:solidFill>
                <a:latin typeface="Times New Roman" panose="02020603050405020304" pitchFamily="18" charset="0"/>
                <a:cs typeface="Times New Roman" panose="02020603050405020304" pitchFamily="18" charset="0"/>
              </a:rPr>
              <a:t> =</a:t>
            </a:r>
            <a:r>
              <a:rPr lang="en-US" altLang="en-US" i="1" dirty="0" smtClean="0">
                <a:solidFill>
                  <a:srgbClr val="FF0000"/>
                </a:solidFill>
                <a:latin typeface="Times New Roman" panose="02020603050405020304" pitchFamily="18" charset="0"/>
                <a:cs typeface="Times New Roman" panose="02020603050405020304" pitchFamily="18" charset="0"/>
              </a:rPr>
              <a:t> </a:t>
            </a:r>
            <a:r>
              <a:rPr lang="en-US" altLang="en-US" i="1" dirty="0" err="1" smtClean="0">
                <a:solidFill>
                  <a:srgbClr val="FF0000"/>
                </a:solidFill>
                <a:latin typeface="Times New Roman" panose="02020603050405020304" pitchFamily="18" charset="0"/>
                <a:cs typeface="Times New Roman" panose="02020603050405020304" pitchFamily="18" charset="0"/>
              </a:rPr>
              <a:t>aQ</a:t>
            </a:r>
            <a:r>
              <a:rPr lang="en-US" altLang="en-US" i="1" dirty="0" smtClean="0">
                <a:solidFill>
                  <a:srgbClr val="FF0000"/>
                </a:solidFill>
                <a:latin typeface="Times New Roman" panose="02020603050405020304" pitchFamily="18" charset="0"/>
                <a:cs typeface="Times New Roman" panose="02020603050405020304" pitchFamily="18" charset="0"/>
              </a:rPr>
              <a:t> – bQ</a:t>
            </a:r>
            <a:r>
              <a:rPr lang="en-US" altLang="en-US" baseline="30000" dirty="0" smtClean="0">
                <a:solidFill>
                  <a:srgbClr val="FF0000"/>
                </a:solidFill>
                <a:latin typeface="Times New Roman" panose="02020603050405020304" pitchFamily="18" charset="0"/>
                <a:cs typeface="Times New Roman" panose="02020603050405020304" pitchFamily="18" charset="0"/>
              </a:rPr>
              <a:t>2</a:t>
            </a:r>
            <a:endParaRPr lang="en-US" altLang="en-US" dirty="0" smtClean="0">
              <a:solidFill>
                <a:srgbClr val="FF0000"/>
              </a:solidFill>
              <a:latin typeface="Times New Roman" panose="02020603050405020304" pitchFamily="18" charset="0"/>
              <a:cs typeface="Times New Roman" panose="02020603050405020304" pitchFamily="18" charset="0"/>
            </a:endParaRPr>
          </a:p>
          <a:p>
            <a:pPr lvl="2">
              <a:buFont typeface="Arial" charset="0"/>
              <a:buNone/>
            </a:pPr>
            <a:r>
              <a:rPr lang="en-US" altLang="en-US" i="1" dirty="0" smtClean="0">
                <a:solidFill>
                  <a:srgbClr val="FF0000"/>
                </a:solidFill>
                <a:latin typeface="Times New Roman" panose="02020603050405020304" pitchFamily="18" charset="0"/>
                <a:cs typeface="Times New Roman" panose="02020603050405020304" pitchFamily="18" charset="0"/>
              </a:rPr>
              <a:t>MR = a – </a:t>
            </a:r>
            <a:r>
              <a:rPr lang="en-US" altLang="en-US" dirty="0" smtClean="0">
                <a:solidFill>
                  <a:srgbClr val="FF0000"/>
                </a:solidFill>
                <a:latin typeface="Times New Roman" panose="02020603050405020304" pitchFamily="18" charset="0"/>
                <a:cs typeface="Times New Roman" panose="02020603050405020304" pitchFamily="18" charset="0"/>
              </a:rPr>
              <a:t>2</a:t>
            </a:r>
            <a:r>
              <a:rPr lang="en-US" altLang="en-US" i="1" dirty="0" smtClean="0">
                <a:solidFill>
                  <a:srgbClr val="FF0000"/>
                </a:solidFill>
                <a:latin typeface="Times New Roman" panose="02020603050405020304" pitchFamily="18" charset="0"/>
                <a:cs typeface="Times New Roman" panose="02020603050405020304" pitchFamily="18" charset="0"/>
              </a:rPr>
              <a:t>bQ</a:t>
            </a:r>
          </a:p>
          <a:p>
            <a:pPr lvl="1"/>
            <a:r>
              <a:rPr lang="en-US" altLang="en-US" dirty="0" smtClean="0"/>
              <a:t>Profit maximization: MR = MC</a:t>
            </a:r>
          </a:p>
          <a:p>
            <a:pPr lvl="2" algn="ctr">
              <a:buFont typeface="Arial" charset="0"/>
              <a:buNone/>
            </a:pPr>
            <a:r>
              <a:rPr lang="en-US" altLang="en-US" i="1" dirty="0" smtClean="0">
                <a:solidFill>
                  <a:srgbClr val="FF0000"/>
                </a:solidFill>
                <a:latin typeface="Times New Roman" panose="02020603050405020304" pitchFamily="18" charset="0"/>
                <a:cs typeface="Times New Roman" panose="02020603050405020304" pitchFamily="18" charset="0"/>
              </a:rPr>
              <a:t>MR = a – </a:t>
            </a:r>
            <a:r>
              <a:rPr lang="en-US" altLang="en-US" dirty="0" smtClean="0">
                <a:solidFill>
                  <a:srgbClr val="FF0000"/>
                </a:solidFill>
                <a:latin typeface="Times New Roman" panose="02020603050405020304" pitchFamily="18" charset="0"/>
                <a:cs typeface="Times New Roman" panose="02020603050405020304" pitchFamily="18" charset="0"/>
              </a:rPr>
              <a:t>2</a:t>
            </a:r>
            <a:r>
              <a:rPr lang="en-US" altLang="en-US" i="1" dirty="0" smtClean="0">
                <a:solidFill>
                  <a:srgbClr val="FF0000"/>
                </a:solidFill>
                <a:latin typeface="Times New Roman" panose="02020603050405020304" pitchFamily="18" charset="0"/>
                <a:cs typeface="Times New Roman" panose="02020603050405020304" pitchFamily="18" charset="0"/>
              </a:rPr>
              <a:t>bQ = MC = c</a:t>
            </a:r>
          </a:p>
          <a:p>
            <a:pPr lvl="1" algn="ctr">
              <a:buFont typeface="Arial" charset="0"/>
              <a:buNone/>
            </a:pPr>
            <a:r>
              <a:rPr lang="en-US" altLang="en-US" i="1" dirty="0" err="1" smtClean="0">
                <a:solidFill>
                  <a:srgbClr val="FF0000"/>
                </a:solidFill>
                <a:latin typeface="Times New Roman" panose="02020603050405020304" pitchFamily="18" charset="0"/>
                <a:cs typeface="Times New Roman" panose="02020603050405020304" pitchFamily="18" charset="0"/>
              </a:rPr>
              <a:t>Q</a:t>
            </a:r>
            <a:r>
              <a:rPr lang="en-US" altLang="en-US" i="1" baseline="-25000" dirty="0" err="1" smtClean="0">
                <a:solidFill>
                  <a:srgbClr val="FF0000"/>
                </a:solidFill>
                <a:latin typeface="Times New Roman" panose="02020603050405020304" pitchFamily="18" charset="0"/>
                <a:cs typeface="Times New Roman" panose="02020603050405020304" pitchFamily="18" charset="0"/>
              </a:rPr>
              <a:t>m</a:t>
            </a:r>
            <a:r>
              <a:rPr lang="en-US" altLang="en-US" i="1" dirty="0" smtClean="0">
                <a:solidFill>
                  <a:srgbClr val="FF0000"/>
                </a:solidFill>
                <a:latin typeface="Times New Roman" panose="02020603050405020304" pitchFamily="18" charset="0"/>
                <a:cs typeface="Times New Roman" panose="02020603050405020304" pitchFamily="18" charset="0"/>
              </a:rPr>
              <a:t> = </a:t>
            </a:r>
            <a:r>
              <a:rPr lang="en-US" altLang="en-US" dirty="0" smtClean="0">
                <a:solidFill>
                  <a:srgbClr val="FF0000"/>
                </a:solidFill>
                <a:latin typeface="Times New Roman" panose="02020603050405020304" pitchFamily="18" charset="0"/>
                <a:cs typeface="Times New Roman" panose="02020603050405020304" pitchFamily="18" charset="0"/>
              </a:rPr>
              <a:t>(</a:t>
            </a:r>
            <a:r>
              <a:rPr lang="en-US" altLang="en-US" i="1" dirty="0" smtClean="0">
                <a:solidFill>
                  <a:srgbClr val="FF0000"/>
                </a:solidFill>
                <a:latin typeface="Times New Roman" panose="02020603050405020304" pitchFamily="18" charset="0"/>
                <a:cs typeface="Times New Roman" panose="02020603050405020304" pitchFamily="18" charset="0"/>
              </a:rPr>
              <a:t>a – c</a:t>
            </a:r>
            <a:r>
              <a:rPr lang="en-US" altLang="en-US" dirty="0" smtClean="0">
                <a:solidFill>
                  <a:srgbClr val="FF0000"/>
                </a:solidFill>
                <a:latin typeface="Times New Roman" panose="02020603050405020304" pitchFamily="18" charset="0"/>
                <a:cs typeface="Times New Roman" panose="02020603050405020304" pitchFamily="18" charset="0"/>
              </a:rPr>
              <a:t>)/2</a:t>
            </a:r>
            <a:r>
              <a:rPr lang="en-US" altLang="en-US" i="1" dirty="0" smtClean="0">
                <a:solidFill>
                  <a:srgbClr val="FF0000"/>
                </a:solidFill>
                <a:latin typeface="Times New Roman" panose="02020603050405020304" pitchFamily="18" charset="0"/>
                <a:cs typeface="Times New Roman" panose="02020603050405020304" pitchFamily="18" charset="0"/>
              </a:rPr>
              <a:t>b</a:t>
            </a:r>
            <a:endParaRPr lang="en-US" altLang="en-US" dirty="0" smtClean="0">
              <a:solidFill>
                <a:srgbClr val="FF0000"/>
              </a:solidFill>
              <a:latin typeface="Times New Roman" panose="02020603050405020304" pitchFamily="18" charset="0"/>
              <a:cs typeface="Times New Roman" panose="02020603050405020304" pitchFamily="18" charset="0"/>
            </a:endParaRPr>
          </a:p>
          <a:p>
            <a:pPr lvl="1" algn="ctr">
              <a:buFont typeface="Arial" charset="0"/>
              <a:buNone/>
            </a:pPr>
            <a:r>
              <a:rPr lang="en-US" altLang="en-US" i="1" dirty="0" smtClean="0">
                <a:solidFill>
                  <a:srgbClr val="FF0000"/>
                </a:solidFill>
                <a:latin typeface="Times New Roman" panose="02020603050405020304" pitchFamily="18" charset="0"/>
                <a:cs typeface="Times New Roman" panose="02020603050405020304" pitchFamily="18" charset="0"/>
              </a:rPr>
              <a:t>P</a:t>
            </a:r>
            <a:r>
              <a:rPr lang="en-US" altLang="en-US" i="1" baseline="-25000" dirty="0" smtClean="0">
                <a:solidFill>
                  <a:srgbClr val="FF0000"/>
                </a:solidFill>
                <a:latin typeface="Times New Roman" panose="02020603050405020304" pitchFamily="18" charset="0"/>
                <a:cs typeface="Times New Roman" panose="02020603050405020304" pitchFamily="18" charset="0"/>
              </a:rPr>
              <a:t>m</a:t>
            </a:r>
            <a:r>
              <a:rPr lang="en-US" altLang="en-US" i="1" dirty="0" smtClean="0">
                <a:solidFill>
                  <a:srgbClr val="FF0000"/>
                </a:solidFill>
                <a:latin typeface="Times New Roman" panose="02020603050405020304" pitchFamily="18" charset="0"/>
                <a:cs typeface="Times New Roman" panose="02020603050405020304" pitchFamily="18" charset="0"/>
              </a:rPr>
              <a:t> = a – </a:t>
            </a:r>
            <a:r>
              <a:rPr lang="en-US" altLang="en-US" i="1" dirty="0" err="1" smtClean="0">
                <a:solidFill>
                  <a:srgbClr val="FF0000"/>
                </a:solidFill>
                <a:latin typeface="Times New Roman" panose="02020603050405020304" pitchFamily="18" charset="0"/>
                <a:cs typeface="Times New Roman" panose="02020603050405020304" pitchFamily="18" charset="0"/>
              </a:rPr>
              <a:t>bQ</a:t>
            </a:r>
            <a:r>
              <a:rPr lang="en-US" altLang="en-US" i="1" baseline="-25000" dirty="0" err="1" smtClean="0">
                <a:solidFill>
                  <a:srgbClr val="FF0000"/>
                </a:solidFill>
                <a:latin typeface="Times New Roman" panose="02020603050405020304" pitchFamily="18" charset="0"/>
                <a:cs typeface="Times New Roman" panose="02020603050405020304" pitchFamily="18" charset="0"/>
              </a:rPr>
              <a:t>m</a:t>
            </a:r>
            <a:r>
              <a:rPr lang="en-US" altLang="en-US" i="1" dirty="0" smtClean="0">
                <a:solidFill>
                  <a:srgbClr val="FF0000"/>
                </a:solidFill>
                <a:latin typeface="Times New Roman" panose="02020603050405020304" pitchFamily="18" charset="0"/>
                <a:cs typeface="Times New Roman" panose="02020603050405020304" pitchFamily="18" charset="0"/>
              </a:rPr>
              <a:t> = a – </a:t>
            </a:r>
            <a:r>
              <a:rPr lang="en-US" altLang="en-US" dirty="0" smtClean="0">
                <a:solidFill>
                  <a:srgbClr val="FF0000"/>
                </a:solidFill>
                <a:latin typeface="Times New Roman" panose="02020603050405020304" pitchFamily="18" charset="0"/>
                <a:cs typeface="Times New Roman" panose="02020603050405020304" pitchFamily="18" charset="0"/>
              </a:rPr>
              <a:t>(</a:t>
            </a:r>
            <a:r>
              <a:rPr lang="en-US" altLang="en-US" i="1" dirty="0" smtClean="0">
                <a:solidFill>
                  <a:srgbClr val="FF0000"/>
                </a:solidFill>
                <a:latin typeface="Times New Roman" panose="02020603050405020304" pitchFamily="18" charset="0"/>
                <a:cs typeface="Times New Roman" panose="02020603050405020304" pitchFamily="18" charset="0"/>
              </a:rPr>
              <a:t>a – c</a:t>
            </a:r>
            <a:r>
              <a:rPr lang="en-US" altLang="en-US" dirty="0" smtClean="0">
                <a:solidFill>
                  <a:srgbClr val="FF0000"/>
                </a:solidFill>
                <a:latin typeface="Times New Roman" panose="02020603050405020304" pitchFamily="18" charset="0"/>
                <a:cs typeface="Times New Roman" panose="02020603050405020304" pitchFamily="18" charset="0"/>
              </a:rPr>
              <a:t>)/2 = (</a:t>
            </a:r>
            <a:r>
              <a:rPr lang="en-US" altLang="en-US" i="1" dirty="0" smtClean="0">
                <a:solidFill>
                  <a:srgbClr val="FF0000"/>
                </a:solidFill>
                <a:latin typeface="Times New Roman" panose="02020603050405020304" pitchFamily="18" charset="0"/>
                <a:cs typeface="Times New Roman" panose="02020603050405020304" pitchFamily="18" charset="0"/>
              </a:rPr>
              <a:t>a + c</a:t>
            </a:r>
            <a:r>
              <a:rPr lang="en-US" altLang="en-US" dirty="0" smtClean="0">
                <a:solidFill>
                  <a:srgbClr val="FF0000"/>
                </a:solidFill>
                <a:latin typeface="Times New Roman" panose="02020603050405020304" pitchFamily="18" charset="0"/>
                <a:cs typeface="Times New Roman" panose="02020603050405020304" pitchFamily="18" charset="0"/>
              </a:rPr>
              <a:t>)/2</a:t>
            </a:r>
            <a:endParaRPr lang="en-US" altLang="en-US" i="1" dirty="0" smtClean="0">
              <a:solidFill>
                <a:srgbClr val="FF0000"/>
              </a:solidFill>
              <a:latin typeface="Times New Roman" panose="02020603050405020304" pitchFamily="18" charset="0"/>
              <a:cs typeface="Times New Roman" panose="02020603050405020304" pitchFamily="18" charset="0"/>
            </a:endParaRPr>
          </a:p>
          <a:p>
            <a:endParaRPr lang="en-US" altLang="en-US" dirty="0" smtClean="0">
              <a:solidFill>
                <a:srgbClr val="7B332D"/>
              </a:solidFill>
            </a:endParaRPr>
          </a:p>
          <a:p>
            <a:endParaRPr lang="en-US" altLang="en-US" dirty="0" smtClean="0"/>
          </a:p>
        </p:txBody>
      </p:sp>
    </p:spTree>
    <p:extLst>
      <p:ext uri="{BB962C8B-B14F-4D97-AF65-F5344CB8AC3E}">
        <p14:creationId xmlns:p14="http://schemas.microsoft.com/office/powerpoint/2010/main" val="395012964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14.2 	Monopoly with Simple Demand Curves</a:t>
            </a:r>
          </a:p>
        </p:txBody>
      </p:sp>
      <p:sp>
        <p:nvSpPr>
          <p:cNvPr id="39941"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4" name="Slide Number Placeholder 3"/>
          <p:cNvSpPr>
            <a:spLocks noGrp="1"/>
          </p:cNvSpPr>
          <p:nvPr>
            <p:ph type="sldNum" sz="quarter" idx="11"/>
          </p:nvPr>
        </p:nvSpPr>
        <p:spPr>
          <a:prstGeom prst="rect">
            <a:avLst/>
          </a:prstGeom>
        </p:spPr>
        <p:txBody>
          <a:bodyPr/>
          <a:lstStyle/>
          <a:p>
            <a:pPr>
              <a:defRPr/>
            </a:pPr>
            <a:fld id="{C03FB678-067C-446F-B3B2-7ECDE8441538}" type="slidenum">
              <a:rPr lang="en-US" smtClean="0"/>
              <a:pPr>
                <a:defRPr/>
              </a:pPr>
              <a:t>19</a:t>
            </a:fld>
            <a:endParaRPr lang="en-US" dirty="0"/>
          </a:p>
        </p:txBody>
      </p:sp>
      <p:sp>
        <p:nvSpPr>
          <p:cNvPr id="39939" name="Content Placeholder 2"/>
          <p:cNvSpPr>
            <a:spLocks noGrp="1"/>
          </p:cNvSpPr>
          <p:nvPr>
            <p:ph type="body" sz="quarter" idx="12"/>
          </p:nvPr>
        </p:nvSpPr>
        <p:spPr>
          <a:prstGeom prst="rect">
            <a:avLst/>
          </a:prstGeom>
        </p:spPr>
        <p:txBody>
          <a:bodyPr/>
          <a:lstStyle/>
          <a:p>
            <a:r>
              <a:rPr lang="en-US" altLang="en-US" dirty="0" smtClean="0"/>
              <a:t>Constant elasticity demand function, </a:t>
            </a:r>
            <a:r>
              <a:rPr lang="en-US" altLang="en-US" sz="2800" i="1" dirty="0" smtClean="0">
                <a:solidFill>
                  <a:srgbClr val="FF0000"/>
                </a:solidFill>
                <a:latin typeface="Times New Roman" panose="02020603050405020304" pitchFamily="18" charset="0"/>
                <a:cs typeface="Times New Roman" panose="02020603050405020304" pitchFamily="18" charset="0"/>
              </a:rPr>
              <a:t>Q = </a:t>
            </a:r>
            <a:r>
              <a:rPr lang="en-US" altLang="en-US" sz="2800" i="1" dirty="0" err="1" smtClean="0">
                <a:solidFill>
                  <a:srgbClr val="FF0000"/>
                </a:solidFill>
                <a:latin typeface="Times New Roman" panose="02020603050405020304" pitchFamily="18" charset="0"/>
                <a:cs typeface="Times New Roman" panose="02020603050405020304" pitchFamily="18" charset="0"/>
              </a:rPr>
              <a:t>aP</a:t>
            </a:r>
            <a:r>
              <a:rPr lang="en-US" altLang="en-US" sz="2800" i="1" baseline="30000" dirty="0" err="1" smtClean="0">
                <a:solidFill>
                  <a:srgbClr val="FF0000"/>
                </a:solidFill>
                <a:latin typeface="Times New Roman" panose="02020603050405020304" pitchFamily="18" charset="0"/>
                <a:cs typeface="Times New Roman" panose="02020603050405020304" pitchFamily="18" charset="0"/>
              </a:rPr>
              <a:t>e</a:t>
            </a:r>
            <a:endParaRPr lang="en-US" altLang="en-US" sz="2800" i="1" dirty="0" smtClean="0">
              <a:solidFill>
                <a:srgbClr val="FF0000"/>
              </a:solidFill>
              <a:latin typeface="Times New Roman" panose="02020603050405020304" pitchFamily="18" charset="0"/>
              <a:cs typeface="Times New Roman" panose="02020603050405020304" pitchFamily="18" charset="0"/>
            </a:endParaRPr>
          </a:p>
          <a:p>
            <a:pPr algn="ctr">
              <a:buFontTx/>
              <a:buNone/>
            </a:pPr>
            <a:r>
              <a:rPr lang="en-US" altLang="en-US" sz="2800" i="1" dirty="0" smtClean="0">
                <a:solidFill>
                  <a:srgbClr val="FF0000"/>
                </a:solidFill>
                <a:latin typeface="Times New Roman" panose="02020603050405020304" pitchFamily="18" charset="0"/>
                <a:cs typeface="Times New Roman" panose="02020603050405020304" pitchFamily="18" charset="0"/>
              </a:rPr>
              <a:t>MR = P</a:t>
            </a:r>
            <a:r>
              <a:rPr lang="en-US" altLang="en-US" sz="2800" dirty="0" smtClean="0">
                <a:solidFill>
                  <a:srgbClr val="FF0000"/>
                </a:solidFill>
                <a:latin typeface="Times New Roman" panose="02020603050405020304" pitchFamily="18" charset="0"/>
                <a:cs typeface="Times New Roman" panose="02020603050405020304" pitchFamily="18" charset="0"/>
              </a:rPr>
              <a:t>(1 </a:t>
            </a:r>
            <a:r>
              <a:rPr lang="en-US" altLang="en-US" sz="2800" i="1" dirty="0" smtClean="0">
                <a:solidFill>
                  <a:srgbClr val="FF0000"/>
                </a:solidFill>
                <a:latin typeface="Times New Roman" panose="02020603050405020304" pitchFamily="18" charset="0"/>
                <a:cs typeface="Times New Roman" panose="02020603050405020304" pitchFamily="18" charset="0"/>
              </a:rPr>
              <a:t>+ </a:t>
            </a:r>
            <a:r>
              <a:rPr lang="en-US" altLang="en-US" sz="2800" dirty="0" smtClean="0">
                <a:solidFill>
                  <a:srgbClr val="FF0000"/>
                </a:solidFill>
                <a:latin typeface="Times New Roman" panose="02020603050405020304" pitchFamily="18" charset="0"/>
                <a:cs typeface="Times New Roman" panose="02020603050405020304" pitchFamily="18" charset="0"/>
              </a:rPr>
              <a:t>1/</a:t>
            </a:r>
            <a:r>
              <a:rPr lang="en-US" altLang="en-US" sz="2800" i="1" dirty="0" smtClean="0">
                <a:solidFill>
                  <a:srgbClr val="FF0000"/>
                </a:solidFill>
                <a:latin typeface="Times New Roman" panose="02020603050405020304" pitchFamily="18" charset="0"/>
                <a:cs typeface="Times New Roman" panose="02020603050405020304" pitchFamily="18" charset="0"/>
              </a:rPr>
              <a:t>e</a:t>
            </a:r>
            <a:r>
              <a:rPr lang="en-US" altLang="en-US" sz="2800" dirty="0" smtClean="0">
                <a:solidFill>
                  <a:srgbClr val="FF0000"/>
                </a:solidFill>
                <a:latin typeface="Times New Roman" panose="02020603050405020304" pitchFamily="18" charset="0"/>
                <a:cs typeface="Times New Roman" panose="02020603050405020304" pitchFamily="18" charset="0"/>
              </a:rPr>
              <a:t>)</a:t>
            </a:r>
          </a:p>
          <a:p>
            <a:pPr lvl="1"/>
            <a:r>
              <a:rPr lang="en-US" altLang="en-US" dirty="0" smtClean="0"/>
              <a:t>Profit maximization</a:t>
            </a:r>
          </a:p>
          <a:p>
            <a:pPr algn="ctr">
              <a:buFontTx/>
              <a:buNone/>
            </a:pPr>
            <a:r>
              <a:rPr lang="en-US" altLang="en-US" sz="2800" i="1" dirty="0" smtClean="0">
                <a:solidFill>
                  <a:srgbClr val="FF0000"/>
                </a:solidFill>
                <a:latin typeface="Times New Roman" panose="02020603050405020304" pitchFamily="18" charset="0"/>
                <a:cs typeface="Times New Roman" panose="02020603050405020304" pitchFamily="18" charset="0"/>
              </a:rPr>
              <a:t>MR = P</a:t>
            </a:r>
            <a:r>
              <a:rPr lang="en-US" altLang="en-US" sz="2800" dirty="0" smtClean="0">
                <a:solidFill>
                  <a:srgbClr val="FF0000"/>
                </a:solidFill>
                <a:latin typeface="Times New Roman" panose="02020603050405020304" pitchFamily="18" charset="0"/>
                <a:cs typeface="Times New Roman" panose="02020603050405020304" pitchFamily="18" charset="0"/>
              </a:rPr>
              <a:t>(1 </a:t>
            </a:r>
            <a:r>
              <a:rPr lang="en-US" altLang="en-US" sz="2800" i="1" dirty="0" smtClean="0">
                <a:solidFill>
                  <a:srgbClr val="FF0000"/>
                </a:solidFill>
                <a:latin typeface="Times New Roman" panose="02020603050405020304" pitchFamily="18" charset="0"/>
                <a:cs typeface="Times New Roman" panose="02020603050405020304" pitchFamily="18" charset="0"/>
              </a:rPr>
              <a:t>+ </a:t>
            </a:r>
            <a:r>
              <a:rPr lang="en-US" altLang="en-US" sz="2800" dirty="0" smtClean="0">
                <a:solidFill>
                  <a:srgbClr val="FF0000"/>
                </a:solidFill>
                <a:latin typeface="Times New Roman" panose="02020603050405020304" pitchFamily="18" charset="0"/>
                <a:cs typeface="Times New Roman" panose="02020603050405020304" pitchFamily="18" charset="0"/>
              </a:rPr>
              <a:t>1/</a:t>
            </a:r>
            <a:r>
              <a:rPr lang="en-US" altLang="en-US" sz="2800" i="1" dirty="0" smtClean="0">
                <a:solidFill>
                  <a:srgbClr val="FF0000"/>
                </a:solidFill>
                <a:latin typeface="Times New Roman" panose="02020603050405020304" pitchFamily="18" charset="0"/>
                <a:cs typeface="Times New Roman" panose="02020603050405020304" pitchFamily="18" charset="0"/>
              </a:rPr>
              <a:t>e</a:t>
            </a:r>
            <a:r>
              <a:rPr lang="en-US" altLang="en-US" sz="2800" dirty="0" smtClean="0">
                <a:solidFill>
                  <a:srgbClr val="FF0000"/>
                </a:solidFill>
                <a:latin typeface="Times New Roman" panose="02020603050405020304" pitchFamily="18" charset="0"/>
                <a:cs typeface="Times New Roman" panose="02020603050405020304" pitchFamily="18" charset="0"/>
              </a:rPr>
              <a:t>) = </a:t>
            </a:r>
            <a:r>
              <a:rPr lang="en-US" altLang="en-US" sz="2800" i="1" dirty="0" smtClean="0">
                <a:solidFill>
                  <a:srgbClr val="FF0000"/>
                </a:solidFill>
                <a:latin typeface="Times New Roman" panose="02020603050405020304" pitchFamily="18" charset="0"/>
                <a:cs typeface="Times New Roman" panose="02020603050405020304" pitchFamily="18" charset="0"/>
              </a:rPr>
              <a:t>c</a:t>
            </a:r>
          </a:p>
          <a:p>
            <a:pPr algn="ctr">
              <a:buFontTx/>
              <a:buNone/>
            </a:pPr>
            <a:r>
              <a:rPr lang="en-US" altLang="en-US" sz="2800" i="1" dirty="0" smtClean="0">
                <a:solidFill>
                  <a:srgbClr val="FF0000"/>
                </a:solidFill>
                <a:latin typeface="Times New Roman" panose="02020603050405020304" pitchFamily="18" charset="0"/>
                <a:cs typeface="Times New Roman" panose="02020603050405020304" pitchFamily="18" charset="0"/>
              </a:rPr>
              <a:t>P</a:t>
            </a:r>
            <a:r>
              <a:rPr lang="en-US" altLang="en-US" sz="2800" i="1" baseline="-25000" dirty="0" smtClean="0">
                <a:solidFill>
                  <a:srgbClr val="FF0000"/>
                </a:solidFill>
                <a:latin typeface="Times New Roman" panose="02020603050405020304" pitchFamily="18" charset="0"/>
                <a:cs typeface="Times New Roman" panose="02020603050405020304" pitchFamily="18" charset="0"/>
              </a:rPr>
              <a:t>m</a:t>
            </a:r>
            <a:r>
              <a:rPr lang="en-US" altLang="en-US" sz="2800" i="1" dirty="0" smtClean="0">
                <a:solidFill>
                  <a:srgbClr val="FF0000"/>
                </a:solidFill>
                <a:latin typeface="Times New Roman" panose="02020603050405020304" pitchFamily="18" charset="0"/>
                <a:cs typeface="Times New Roman" panose="02020603050405020304" pitchFamily="18" charset="0"/>
              </a:rPr>
              <a:t> = c</a:t>
            </a:r>
            <a:r>
              <a:rPr lang="en-US" altLang="en-US" sz="2800" dirty="0" smtClean="0">
                <a:solidFill>
                  <a:srgbClr val="FF0000"/>
                </a:solidFill>
                <a:latin typeface="Times New Roman" panose="02020603050405020304" pitchFamily="18" charset="0"/>
                <a:cs typeface="Times New Roman" panose="02020603050405020304" pitchFamily="18" charset="0"/>
              </a:rPr>
              <a:t>(</a:t>
            </a:r>
            <a:r>
              <a:rPr lang="en-US" altLang="en-US" sz="2800" i="1" dirty="0" smtClean="0">
                <a:solidFill>
                  <a:srgbClr val="FF0000"/>
                </a:solidFill>
                <a:latin typeface="Times New Roman" panose="02020603050405020304" pitchFamily="18" charset="0"/>
                <a:cs typeface="Times New Roman" panose="02020603050405020304" pitchFamily="18" charset="0"/>
              </a:rPr>
              <a:t>e</a:t>
            </a:r>
            <a:r>
              <a:rPr lang="en-US" altLang="en-US" sz="2800" dirty="0" smtClean="0">
                <a:solidFill>
                  <a:srgbClr val="FF0000"/>
                </a:solidFill>
                <a:latin typeface="Times New Roman" panose="02020603050405020304" pitchFamily="18" charset="0"/>
                <a:cs typeface="Times New Roman" panose="02020603050405020304" pitchFamily="18" charset="0"/>
              </a:rPr>
              <a:t>/(1 + </a:t>
            </a:r>
            <a:r>
              <a:rPr lang="en-US" altLang="en-US" sz="2800" i="1" dirty="0" smtClean="0">
                <a:solidFill>
                  <a:srgbClr val="FF0000"/>
                </a:solidFill>
                <a:latin typeface="Times New Roman" panose="02020603050405020304" pitchFamily="18" charset="0"/>
                <a:cs typeface="Times New Roman" panose="02020603050405020304" pitchFamily="18" charset="0"/>
              </a:rPr>
              <a:t>e</a:t>
            </a:r>
            <a:r>
              <a:rPr lang="en-US" altLang="en-US" sz="2800" dirty="0" smtClean="0">
                <a:solidFill>
                  <a:srgbClr val="FF0000"/>
                </a:solidFill>
                <a:latin typeface="Times New Roman" panose="02020603050405020304" pitchFamily="18" charset="0"/>
                <a:cs typeface="Times New Roman" panose="02020603050405020304" pitchFamily="18" charset="0"/>
              </a:rPr>
              <a:t>)</a:t>
            </a:r>
          </a:p>
          <a:p>
            <a:pPr lvl="1"/>
            <a:r>
              <a:rPr lang="en-US" altLang="en-US" dirty="0" smtClean="0"/>
              <a:t>Because </a:t>
            </a:r>
            <a:r>
              <a:rPr lang="en-US" altLang="en-US" i="1" dirty="0" smtClean="0"/>
              <a:t>e</a:t>
            </a:r>
            <a:r>
              <a:rPr lang="en-US" altLang="en-US" dirty="0" smtClean="0"/>
              <a:t> &lt; -1 for profit maximization, </a:t>
            </a:r>
            <a:r>
              <a:rPr lang="en-US" altLang="en-US" i="1" dirty="0" smtClean="0"/>
              <a:t>P </a:t>
            </a:r>
            <a:r>
              <a:rPr lang="en-US" altLang="en-US" dirty="0" smtClean="0"/>
              <a:t>&gt; </a:t>
            </a:r>
            <a:r>
              <a:rPr lang="en-US" altLang="en-US" i="1" dirty="0" smtClean="0"/>
              <a:t>MC</a:t>
            </a:r>
            <a:endParaRPr lang="en-US" altLang="en-US" dirty="0" smtClean="0"/>
          </a:p>
          <a:p>
            <a:pPr lvl="2"/>
            <a:r>
              <a:rPr lang="en-US" altLang="en-US" dirty="0" smtClean="0"/>
              <a:t>The gap will be larger the closer </a:t>
            </a:r>
            <a:r>
              <a:rPr lang="en-US" altLang="en-US" i="1" dirty="0" smtClean="0"/>
              <a:t>e</a:t>
            </a:r>
            <a:r>
              <a:rPr lang="en-US" altLang="en-US" dirty="0" smtClean="0"/>
              <a:t> is to -1</a:t>
            </a:r>
          </a:p>
          <a:p>
            <a:endParaRPr lang="en-US" altLang="en-US" dirty="0" smtClean="0">
              <a:solidFill>
                <a:srgbClr val="7B332D"/>
              </a:solidFill>
            </a:endParaRPr>
          </a:p>
          <a:p>
            <a:endParaRPr lang="en-US" altLang="en-US" dirty="0" smtClean="0"/>
          </a:p>
        </p:txBody>
      </p:sp>
    </p:spTree>
    <p:extLst>
      <p:ext uri="{BB962C8B-B14F-4D97-AF65-F5344CB8AC3E}">
        <p14:creationId xmlns:p14="http://schemas.microsoft.com/office/powerpoint/2010/main" val="55718676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304800" y="0"/>
            <a:ext cx="8839200" cy="1143000"/>
          </a:xfrm>
        </p:spPr>
        <p:txBody>
          <a:bodyPr>
            <a:normAutofit/>
          </a:bodyPr>
          <a:lstStyle/>
          <a:p>
            <a:pPr>
              <a:lnSpc>
                <a:spcPct val="90000"/>
              </a:lnSpc>
            </a:pPr>
            <a:r>
              <a:rPr lang="en-US" altLang="en-US" sz="3800" dirty="0" smtClean="0"/>
              <a:t>Misallocated Resources Under Monopoly</a:t>
            </a:r>
          </a:p>
        </p:txBody>
      </p:sp>
      <p:sp>
        <p:nvSpPr>
          <p:cNvPr id="40963" name="Rectangle 3"/>
          <p:cNvSpPr>
            <a:spLocks noGrp="1" noChangeArrowheads="1"/>
          </p:cNvSpPr>
          <p:nvPr>
            <p:ph idx="1"/>
          </p:nvPr>
        </p:nvSpPr>
        <p:spPr/>
        <p:txBody>
          <a:bodyPr/>
          <a:lstStyle/>
          <a:p>
            <a:r>
              <a:rPr lang="en-US" altLang="en-US" dirty="0" err="1" smtClean="0"/>
              <a:t>Allocational</a:t>
            </a:r>
            <a:r>
              <a:rPr lang="en-US" altLang="en-US" dirty="0" smtClean="0"/>
              <a:t> effect of a monopoly</a:t>
            </a:r>
          </a:p>
          <a:p>
            <a:pPr lvl="1"/>
            <a:r>
              <a:rPr lang="en-US" altLang="en-US" dirty="0" smtClean="0"/>
              <a:t>Perfectly competitive, constant-cost industry as a basis of comparison</a:t>
            </a:r>
          </a:p>
          <a:p>
            <a:pPr lvl="2"/>
            <a:r>
              <a:rPr lang="en-US" altLang="en-US" dirty="0" smtClean="0"/>
              <a:t>The industry’s long-run supply curve is infinitely elastic </a:t>
            </a:r>
          </a:p>
          <a:p>
            <a:pPr lvl="3"/>
            <a:r>
              <a:rPr lang="en-US" altLang="en-US" dirty="0" smtClean="0"/>
              <a:t>Price equal to both marginal and average cost</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97C817D1-CD72-4BC0-B2E3-BCD8DF393D1C}" type="slidenum">
              <a:rPr lang="en-US" smtClean="0"/>
              <a:pPr>
                <a:defRPr/>
              </a:pPr>
              <a:t>20</a:t>
            </a:fld>
            <a:endParaRPr lang="en-US"/>
          </a:p>
        </p:txBody>
      </p:sp>
    </p:spTree>
    <p:extLst>
      <p:ext uri="{BB962C8B-B14F-4D97-AF65-F5344CB8AC3E}">
        <p14:creationId xmlns:p14="http://schemas.microsoft.com/office/powerpoint/2010/main" val="13743198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4"/>
          <p:cNvGrpSpPr>
            <a:grpSpLocks/>
          </p:cNvGrpSpPr>
          <p:nvPr/>
        </p:nvGrpSpPr>
        <p:grpSpPr bwMode="auto">
          <a:xfrm>
            <a:off x="2636837" y="2908299"/>
            <a:ext cx="3459163" cy="1347787"/>
            <a:chOff x="3968151" y="2214114"/>
            <a:chExt cx="3459192" cy="1348595"/>
          </a:xfrm>
        </p:grpSpPr>
        <p:sp>
          <p:nvSpPr>
            <p:cNvPr id="79" name="Freeform 78"/>
            <p:cNvSpPr/>
            <p:nvPr/>
          </p:nvSpPr>
          <p:spPr bwMode="auto">
            <a:xfrm>
              <a:off x="3968151" y="2268121"/>
              <a:ext cx="673106" cy="1294588"/>
            </a:xfrm>
            <a:custGeom>
              <a:avLst/>
              <a:gdLst>
                <a:gd name="connsiteX0" fmla="*/ 0 w 672860"/>
                <a:gd name="connsiteY0" fmla="*/ 0 h 1293962"/>
                <a:gd name="connsiteX1" fmla="*/ 672860 w 672860"/>
                <a:gd name="connsiteY1" fmla="*/ 439947 h 1293962"/>
                <a:gd name="connsiteX2" fmla="*/ 8626 w 672860"/>
                <a:gd name="connsiteY2" fmla="*/ 1293962 h 1293962"/>
                <a:gd name="connsiteX3" fmla="*/ 0 w 672860"/>
                <a:gd name="connsiteY3" fmla="*/ 0 h 1293962"/>
              </a:gdLst>
              <a:ahLst/>
              <a:cxnLst>
                <a:cxn ang="0">
                  <a:pos x="connsiteX0" y="connsiteY0"/>
                </a:cxn>
                <a:cxn ang="0">
                  <a:pos x="connsiteX1" y="connsiteY1"/>
                </a:cxn>
                <a:cxn ang="0">
                  <a:pos x="connsiteX2" y="connsiteY2"/>
                </a:cxn>
                <a:cxn ang="0">
                  <a:pos x="connsiteX3" y="connsiteY3"/>
                </a:cxn>
              </a:cxnLst>
              <a:rect l="l" t="t" r="r" b="b"/>
              <a:pathLst>
                <a:path w="672860" h="1293962">
                  <a:moveTo>
                    <a:pt x="0" y="0"/>
                  </a:moveTo>
                  <a:lnTo>
                    <a:pt x="672860" y="439947"/>
                  </a:lnTo>
                  <a:lnTo>
                    <a:pt x="8626" y="1293962"/>
                  </a:lnTo>
                  <a:cubicBezTo>
                    <a:pt x="5751" y="862641"/>
                    <a:pt x="2875" y="431321"/>
                    <a:pt x="0" y="0"/>
                  </a:cubicBezTo>
                  <a:close/>
                </a:path>
              </a:pathLst>
            </a:custGeom>
            <a:solidFill>
              <a:schemeClr val="accent1">
                <a:lumMod val="75000"/>
              </a:schemeClr>
            </a:solidFill>
            <a:ln w="9525" cap="flat" cmpd="sng" algn="ctr">
              <a:solidFill>
                <a:schemeClr val="accent1">
                  <a:lumMod val="75000"/>
                </a:schemeClr>
              </a:solidFill>
              <a:prstDash val="solid"/>
              <a:round/>
              <a:headEnd type="none" w="med" len="med"/>
              <a:tailEnd type="none" w="med" len="med"/>
            </a:ln>
            <a:effectLst/>
          </p:spPr>
          <p:txBody>
            <a:bodyPr wrap="none" anchor="ctr"/>
            <a:lstStyle/>
            <a:p>
              <a:pPr marL="342900" indent="-342900" algn="ctr">
                <a:spcBef>
                  <a:spcPct val="20000"/>
                </a:spcBef>
                <a:buFontTx/>
                <a:buChar char="•"/>
                <a:defRPr/>
              </a:pPr>
              <a:endParaRPr lang="en-US">
                <a:latin typeface="Arial" pitchFamily="34" charset="0"/>
              </a:endParaRPr>
            </a:p>
          </p:txBody>
        </p:sp>
        <p:grpSp>
          <p:nvGrpSpPr>
            <p:cNvPr id="42051" name="Group 83"/>
            <p:cNvGrpSpPr>
              <a:grpSpLocks/>
            </p:cNvGrpSpPr>
            <p:nvPr/>
          </p:nvGrpSpPr>
          <p:grpSpPr bwMode="auto">
            <a:xfrm>
              <a:off x="4387975" y="2214114"/>
              <a:ext cx="3039368" cy="638355"/>
              <a:chOff x="4387975" y="2214114"/>
              <a:chExt cx="3039368" cy="638355"/>
            </a:xfrm>
          </p:grpSpPr>
          <p:sp>
            <p:nvSpPr>
              <p:cNvPr id="42052" name="TextBox 79"/>
              <p:cNvSpPr txBox="1">
                <a:spLocks noChangeArrowheads="1"/>
              </p:cNvSpPr>
              <p:nvPr/>
            </p:nvSpPr>
            <p:spPr bwMode="auto">
              <a:xfrm>
                <a:off x="5512279" y="2214114"/>
                <a:ext cx="191506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600">
                    <a:solidFill>
                      <a:srgbClr val="000099"/>
                    </a:solidFill>
                  </a:rPr>
                  <a:t>Deadweight loss</a:t>
                </a:r>
              </a:p>
            </p:txBody>
          </p:sp>
          <p:cxnSp>
            <p:nvCxnSpPr>
              <p:cNvPr id="42053" name="Straight Arrow Connector 80"/>
              <p:cNvCxnSpPr>
                <a:cxnSpLocks noChangeShapeType="1"/>
              </p:cNvCxnSpPr>
              <p:nvPr/>
            </p:nvCxnSpPr>
            <p:spPr bwMode="auto">
              <a:xfrm rot="10800000" flipV="1">
                <a:off x="4387975" y="2400643"/>
                <a:ext cx="1124305" cy="451826"/>
              </a:xfrm>
              <a:prstGeom prst="straightConnector1">
                <a:avLst/>
              </a:prstGeom>
              <a:noFill/>
              <a:ln w="9525" algn="ctr">
                <a:solidFill>
                  <a:srgbClr val="000099"/>
                </a:solidFill>
                <a:round/>
                <a:headEnd/>
                <a:tailEnd type="triangle" w="med" len="med"/>
              </a:ln>
              <a:extLst>
                <a:ext uri="{909E8E84-426E-40DD-AFC4-6F175D3DCCD1}">
                  <a14:hiddenFill xmlns:a14="http://schemas.microsoft.com/office/drawing/2010/main">
                    <a:noFill/>
                  </a14:hiddenFill>
                </a:ext>
              </a:extLst>
            </p:spPr>
          </p:cxnSp>
        </p:grpSp>
      </p:grpSp>
      <p:grpSp>
        <p:nvGrpSpPr>
          <p:cNvPr id="11" name="Group 74"/>
          <p:cNvGrpSpPr>
            <a:grpSpLocks/>
          </p:cNvGrpSpPr>
          <p:nvPr/>
        </p:nvGrpSpPr>
        <p:grpSpPr bwMode="auto">
          <a:xfrm>
            <a:off x="2636837" y="3402011"/>
            <a:ext cx="2914650" cy="2182813"/>
            <a:chOff x="3968151" y="2708694"/>
            <a:chExt cx="2915729" cy="2182483"/>
          </a:xfrm>
        </p:grpSpPr>
        <p:grpSp>
          <p:nvGrpSpPr>
            <p:cNvPr id="42046" name="Group 71"/>
            <p:cNvGrpSpPr>
              <a:grpSpLocks/>
            </p:cNvGrpSpPr>
            <p:nvPr/>
          </p:nvGrpSpPr>
          <p:grpSpPr bwMode="auto">
            <a:xfrm>
              <a:off x="3968151" y="2708694"/>
              <a:ext cx="2915729" cy="2182483"/>
              <a:chOff x="3968151" y="2708694"/>
              <a:chExt cx="2915729" cy="2182483"/>
            </a:xfrm>
          </p:grpSpPr>
          <p:sp>
            <p:nvSpPr>
              <p:cNvPr id="42048" name="TextBox 68"/>
              <p:cNvSpPr txBox="1">
                <a:spLocks noChangeArrowheads="1"/>
              </p:cNvSpPr>
              <p:nvPr/>
            </p:nvSpPr>
            <p:spPr bwMode="auto">
              <a:xfrm>
                <a:off x="4951564" y="4258573"/>
                <a:ext cx="193231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600">
                    <a:solidFill>
                      <a:srgbClr val="000099"/>
                    </a:solidFill>
                  </a:rPr>
                  <a:t>Value of</a:t>
                </a:r>
              </a:p>
              <a:p>
                <a:pPr eaLnBrk="1" hangingPunct="1"/>
                <a:r>
                  <a:rPr lang="en-US" altLang="en-US" sz="1600">
                    <a:solidFill>
                      <a:srgbClr val="000099"/>
                    </a:solidFill>
                  </a:rPr>
                  <a:t>transferred inputs</a:t>
                </a:r>
              </a:p>
            </p:txBody>
          </p:sp>
          <p:sp>
            <p:nvSpPr>
              <p:cNvPr id="71" name="Freeform 70"/>
              <p:cNvSpPr/>
              <p:nvPr/>
            </p:nvSpPr>
            <p:spPr bwMode="auto">
              <a:xfrm>
                <a:off x="3968151" y="2708694"/>
                <a:ext cx="673349" cy="2182483"/>
              </a:xfrm>
              <a:custGeom>
                <a:avLst/>
                <a:gdLst>
                  <a:gd name="connsiteX0" fmla="*/ 0 w 672860"/>
                  <a:gd name="connsiteY0" fmla="*/ 845389 h 2182483"/>
                  <a:gd name="connsiteX1" fmla="*/ 672860 w 672860"/>
                  <a:gd name="connsiteY1" fmla="*/ 0 h 2182483"/>
                  <a:gd name="connsiteX2" fmla="*/ 672860 w 672860"/>
                  <a:gd name="connsiteY2" fmla="*/ 2182483 h 2182483"/>
                  <a:gd name="connsiteX3" fmla="*/ 8626 w 672860"/>
                  <a:gd name="connsiteY3" fmla="*/ 2182483 h 2182483"/>
                  <a:gd name="connsiteX4" fmla="*/ 0 w 672860"/>
                  <a:gd name="connsiteY4" fmla="*/ 845389 h 21824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2860" h="2182483">
                    <a:moveTo>
                      <a:pt x="0" y="845389"/>
                    </a:moveTo>
                    <a:lnTo>
                      <a:pt x="672860" y="0"/>
                    </a:lnTo>
                    <a:lnTo>
                      <a:pt x="672860" y="2182483"/>
                    </a:lnTo>
                    <a:lnTo>
                      <a:pt x="8626" y="2182483"/>
                    </a:lnTo>
                    <a:cubicBezTo>
                      <a:pt x="5751" y="1736785"/>
                      <a:pt x="2875" y="1291087"/>
                      <a:pt x="0" y="845389"/>
                    </a:cubicBezTo>
                    <a:close/>
                  </a:path>
                </a:pathLst>
              </a:custGeom>
              <a:solidFill>
                <a:schemeClr val="accent2">
                  <a:lumMod val="20000"/>
                  <a:lumOff val="80000"/>
                </a:schemeClr>
              </a:solidFill>
              <a:ln w="9525" cap="flat" cmpd="sng" algn="ctr">
                <a:solidFill>
                  <a:schemeClr val="accent2">
                    <a:lumMod val="20000"/>
                    <a:lumOff val="80000"/>
                  </a:schemeClr>
                </a:solidFill>
                <a:prstDash val="solid"/>
                <a:round/>
                <a:headEnd type="none" w="med" len="med"/>
                <a:tailEnd type="none" w="med" len="med"/>
              </a:ln>
              <a:effectLst/>
            </p:spPr>
            <p:txBody>
              <a:bodyPr wrap="none" anchor="ctr"/>
              <a:lstStyle/>
              <a:p>
                <a:pPr marL="342900" indent="-342900" algn="ctr">
                  <a:spcBef>
                    <a:spcPct val="20000"/>
                  </a:spcBef>
                  <a:buFontTx/>
                  <a:buChar char="•"/>
                  <a:defRPr/>
                </a:pPr>
                <a:endParaRPr lang="en-US">
                  <a:latin typeface="Arial" pitchFamily="34" charset="0"/>
                </a:endParaRPr>
              </a:p>
            </p:txBody>
          </p:sp>
        </p:grpSp>
        <p:cxnSp>
          <p:nvCxnSpPr>
            <p:cNvPr id="42047" name="Straight Arrow Connector 73"/>
            <p:cNvCxnSpPr>
              <a:cxnSpLocks noChangeShapeType="1"/>
            </p:cNvCxnSpPr>
            <p:nvPr/>
          </p:nvCxnSpPr>
          <p:spPr bwMode="auto">
            <a:xfrm rot="10800000">
              <a:off x="4474240" y="4180938"/>
              <a:ext cx="511829" cy="227161"/>
            </a:xfrm>
            <a:prstGeom prst="straightConnector1">
              <a:avLst/>
            </a:prstGeom>
            <a:noFill/>
            <a:ln w="9525" algn="ctr">
              <a:solidFill>
                <a:srgbClr val="000099"/>
              </a:solidFill>
              <a:round/>
              <a:headEnd/>
              <a:tailEnd type="triangle" w="med" len="med"/>
            </a:ln>
            <a:extLst>
              <a:ext uri="{909E8E84-426E-40DD-AFC4-6F175D3DCCD1}">
                <a14:hiddenFill xmlns:a14="http://schemas.microsoft.com/office/drawing/2010/main">
                  <a:noFill/>
                </a14:hiddenFill>
              </a:ext>
            </a:extLst>
          </p:spPr>
        </p:cxnSp>
      </p:grpSp>
      <p:grpSp>
        <p:nvGrpSpPr>
          <p:cNvPr id="21" name="Group 64"/>
          <p:cNvGrpSpPr>
            <a:grpSpLocks/>
          </p:cNvGrpSpPr>
          <p:nvPr/>
        </p:nvGrpSpPr>
        <p:grpSpPr bwMode="auto">
          <a:xfrm>
            <a:off x="1049337" y="1711324"/>
            <a:ext cx="2352675" cy="1708150"/>
            <a:chOff x="2380891" y="1017917"/>
            <a:chExt cx="2352964" cy="1708030"/>
          </a:xfrm>
        </p:grpSpPr>
        <p:sp>
          <p:nvSpPr>
            <p:cNvPr id="60" name="Rectangle 59"/>
            <p:cNvSpPr/>
            <p:nvPr/>
          </p:nvSpPr>
          <p:spPr bwMode="auto">
            <a:xfrm>
              <a:off x="2380891" y="2276716"/>
              <a:ext cx="1587695" cy="449231"/>
            </a:xfrm>
            <a:prstGeom prst="rect">
              <a:avLst/>
            </a:prstGeom>
            <a:solidFill>
              <a:schemeClr val="accent2">
                <a:lumMod val="20000"/>
                <a:lumOff val="80000"/>
              </a:schemeClr>
            </a:solidFill>
            <a:ln w="9525" cap="flat" cmpd="sng" algn="ctr">
              <a:solidFill>
                <a:schemeClr val="accent2">
                  <a:lumMod val="20000"/>
                  <a:lumOff val="80000"/>
                </a:schemeClr>
              </a:solidFill>
              <a:prstDash val="solid"/>
              <a:round/>
              <a:headEnd type="none" w="med" len="med"/>
              <a:tailEnd type="none" w="med" len="med"/>
            </a:ln>
            <a:effectLst/>
          </p:spPr>
          <p:txBody>
            <a:bodyPr wrap="none" anchor="ctr"/>
            <a:lstStyle/>
            <a:p>
              <a:pPr marL="342900" indent="-342900" algn="ctr">
                <a:spcBef>
                  <a:spcPct val="20000"/>
                </a:spcBef>
                <a:buFontTx/>
                <a:buChar char="•"/>
                <a:defRPr/>
              </a:pPr>
              <a:endParaRPr lang="en-US">
                <a:latin typeface="Arial" pitchFamily="34" charset="0"/>
              </a:endParaRPr>
            </a:p>
          </p:txBody>
        </p:sp>
        <p:grpSp>
          <p:nvGrpSpPr>
            <p:cNvPr id="42043" name="Group 63"/>
            <p:cNvGrpSpPr>
              <a:grpSpLocks/>
            </p:cNvGrpSpPr>
            <p:nvPr/>
          </p:nvGrpSpPr>
          <p:grpSpPr bwMode="auto">
            <a:xfrm>
              <a:off x="2915729" y="1017917"/>
              <a:ext cx="1818126" cy="1431986"/>
              <a:chOff x="2915729" y="1017917"/>
              <a:chExt cx="1818126" cy="1431986"/>
            </a:xfrm>
          </p:grpSpPr>
          <p:sp>
            <p:nvSpPr>
              <p:cNvPr id="42044" name="TextBox 60"/>
              <p:cNvSpPr txBox="1">
                <a:spLocks noChangeArrowheads="1"/>
              </p:cNvSpPr>
              <p:nvPr/>
            </p:nvSpPr>
            <p:spPr bwMode="auto">
              <a:xfrm>
                <a:off x="2915729" y="1017917"/>
                <a:ext cx="181812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600">
                    <a:solidFill>
                      <a:srgbClr val="000099"/>
                    </a:solidFill>
                  </a:rPr>
                  <a:t>Transfer from</a:t>
                </a:r>
              </a:p>
              <a:p>
                <a:pPr eaLnBrk="1" hangingPunct="1"/>
                <a:r>
                  <a:rPr lang="en-US" altLang="en-US" sz="1600">
                    <a:solidFill>
                      <a:srgbClr val="000099"/>
                    </a:solidFill>
                  </a:rPr>
                  <a:t>consumers to firm</a:t>
                </a:r>
              </a:p>
            </p:txBody>
          </p:sp>
          <p:cxnSp>
            <p:nvCxnSpPr>
              <p:cNvPr id="42045" name="Straight Arrow Connector 62"/>
              <p:cNvCxnSpPr>
                <a:cxnSpLocks noChangeShapeType="1"/>
              </p:cNvCxnSpPr>
              <p:nvPr/>
            </p:nvCxnSpPr>
            <p:spPr bwMode="auto">
              <a:xfrm rot="5400000">
                <a:off x="2639685" y="1923694"/>
                <a:ext cx="879892" cy="172526"/>
              </a:xfrm>
              <a:prstGeom prst="straightConnector1">
                <a:avLst/>
              </a:prstGeom>
              <a:noFill/>
              <a:ln w="9525" algn="ctr">
                <a:solidFill>
                  <a:srgbClr val="000099"/>
                </a:solidFill>
                <a:round/>
                <a:headEnd/>
                <a:tailEnd type="triangle" w="med" len="med"/>
              </a:ln>
              <a:extLst>
                <a:ext uri="{909E8E84-426E-40DD-AFC4-6F175D3DCCD1}">
                  <a14:hiddenFill xmlns:a14="http://schemas.microsoft.com/office/drawing/2010/main">
                    <a:noFill/>
                  </a14:hiddenFill>
                </a:ext>
              </a:extLst>
            </p:spPr>
          </p:cxnSp>
        </p:grpSp>
      </p:grpSp>
      <p:sp>
        <p:nvSpPr>
          <p:cNvPr id="41989"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a:t>14.3	</a:t>
            </a:r>
            <a:r>
              <a:rPr lang="en-US" altLang="en-US" dirty="0" err="1"/>
              <a:t>Allocational</a:t>
            </a:r>
            <a:r>
              <a:rPr lang="en-US" altLang="en-US" dirty="0"/>
              <a:t> and Distributional Effects of </a:t>
            </a:r>
            <a:r>
              <a:rPr lang="en-US" altLang="en-US" dirty="0" smtClean="0"/>
              <a:t/>
            </a:r>
            <a:br>
              <a:rPr lang="en-US" altLang="en-US" dirty="0" smtClean="0"/>
            </a:br>
            <a:r>
              <a:rPr lang="en-US" altLang="en-US" dirty="0" smtClean="0"/>
              <a:t>			</a:t>
            </a:r>
            <a:r>
              <a:rPr lang="en-US" altLang="en-US" dirty="0" smtClean="0">
                <a:solidFill>
                  <a:srgbClr val="002D56"/>
                </a:solidFill>
              </a:rPr>
              <a:t>Monopoly</a:t>
            </a:r>
          </a:p>
        </p:txBody>
      </p:sp>
      <p:sp>
        <p:nvSpPr>
          <p:cNvPr id="41990" name="Text Placeholder 2"/>
          <p:cNvSpPr>
            <a:spLocks noGrp="1"/>
          </p:cNvSpPr>
          <p:nvPr>
            <p:ph sz="half" idx="1"/>
          </p:nvPr>
        </p:nvSpPr>
        <p:spPr>
          <a:xfrm>
            <a:off x="6096000" y="2007441"/>
            <a:ext cx="2819400" cy="4303165"/>
          </a:xfrm>
        </p:spPr>
        <p:txBody>
          <a:bodyPr>
            <a:normAutofit/>
          </a:bodyPr>
          <a:lstStyle/>
          <a:p>
            <a:pPr>
              <a:spcBef>
                <a:spcPct val="0"/>
              </a:spcBef>
            </a:pPr>
            <a:r>
              <a:rPr lang="en-US" altLang="en-US" dirty="0"/>
              <a:t>Monopolization of this previously competitive market would cause output to be reduced from Q</a:t>
            </a:r>
            <a:r>
              <a:rPr lang="en-US" altLang="en-US" baseline="-25000" dirty="0"/>
              <a:t>c</a:t>
            </a:r>
            <a:r>
              <a:rPr lang="en-US" altLang="en-US" dirty="0"/>
              <a:t> to </a:t>
            </a:r>
            <a:r>
              <a:rPr lang="en-US" altLang="en-US" dirty="0" err="1"/>
              <a:t>Q</a:t>
            </a:r>
            <a:r>
              <a:rPr lang="en-US" altLang="en-US" baseline="-25000" dirty="0" err="1"/>
              <a:t>m</a:t>
            </a:r>
            <a:r>
              <a:rPr lang="en-US" altLang="en-US" dirty="0"/>
              <a:t>. Productive inputs worth </a:t>
            </a:r>
            <a:r>
              <a:rPr lang="en-US" altLang="en-US" dirty="0" err="1"/>
              <a:t>FEQ</a:t>
            </a:r>
            <a:r>
              <a:rPr lang="en-US" altLang="en-US" baseline="-25000" dirty="0" err="1"/>
              <a:t>c</a:t>
            </a:r>
            <a:r>
              <a:rPr lang="en-US" altLang="en-US" dirty="0" err="1"/>
              <a:t>Q</a:t>
            </a:r>
            <a:r>
              <a:rPr lang="en-US" altLang="en-US" baseline="-25000" dirty="0" err="1"/>
              <a:t>m</a:t>
            </a:r>
            <a:r>
              <a:rPr lang="en-US" altLang="en-US" dirty="0"/>
              <a:t> are reallocated to the production of other goods. Consumer surplus equal to </a:t>
            </a:r>
            <a:r>
              <a:rPr lang="en-US" altLang="en-US" dirty="0" err="1"/>
              <a:t>P</a:t>
            </a:r>
            <a:r>
              <a:rPr lang="en-US" altLang="en-US" baseline="-25000" dirty="0" err="1"/>
              <a:t>m</a:t>
            </a:r>
            <a:r>
              <a:rPr lang="en-US" altLang="en-US" dirty="0" err="1"/>
              <a:t>BCP</a:t>
            </a:r>
            <a:r>
              <a:rPr lang="en-US" altLang="en-US" baseline="-25000" dirty="0" err="1"/>
              <a:t>c</a:t>
            </a:r>
            <a:r>
              <a:rPr lang="en-US" altLang="en-US" dirty="0"/>
              <a:t> is transferred into monopoly profits. Deadweight loss is given by BEF</a:t>
            </a:r>
            <a:r>
              <a:rPr lang="en-US" altLang="en-US" dirty="0" smtClean="0"/>
              <a:t>.</a:t>
            </a:r>
            <a:endParaRPr lang="en-US" altLang="en-US" dirty="0"/>
          </a:p>
        </p:txBody>
      </p:sp>
      <p:sp>
        <p:nvSpPr>
          <p:cNvPr id="41993" name="Footer Placeholder 5"/>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5" name="Slide Number Placeholder 4"/>
          <p:cNvSpPr>
            <a:spLocks noGrp="1"/>
          </p:cNvSpPr>
          <p:nvPr>
            <p:ph type="sldNum" sz="quarter" idx="11"/>
          </p:nvPr>
        </p:nvSpPr>
        <p:spPr/>
        <p:txBody>
          <a:bodyPr/>
          <a:lstStyle/>
          <a:p>
            <a:pPr>
              <a:defRPr/>
            </a:pPr>
            <a:fld id="{29C96E97-A7FA-41DD-9167-6A54C0E235FB}" type="slidenum">
              <a:rPr lang="en-US" smtClean="0"/>
              <a:pPr>
                <a:defRPr/>
              </a:pPr>
              <a:t>21</a:t>
            </a:fld>
            <a:endParaRPr lang="en-US" dirty="0"/>
          </a:p>
        </p:txBody>
      </p:sp>
      <p:grpSp>
        <p:nvGrpSpPr>
          <p:cNvPr id="30" name="Group 58"/>
          <p:cNvGrpSpPr>
            <a:grpSpLocks/>
          </p:cNvGrpSpPr>
          <p:nvPr/>
        </p:nvGrpSpPr>
        <p:grpSpPr bwMode="auto">
          <a:xfrm>
            <a:off x="235641" y="1640753"/>
            <a:ext cx="5646046" cy="4379047"/>
            <a:chOff x="1567905" y="947222"/>
            <a:chExt cx="5646231" cy="4379336"/>
          </a:xfrm>
        </p:grpSpPr>
        <p:grpSp>
          <p:nvGrpSpPr>
            <p:cNvPr id="42036" name="Group 57"/>
            <p:cNvGrpSpPr>
              <a:grpSpLocks/>
            </p:cNvGrpSpPr>
            <p:nvPr/>
          </p:nvGrpSpPr>
          <p:grpSpPr bwMode="auto">
            <a:xfrm>
              <a:off x="2384961" y="4915395"/>
              <a:ext cx="4829175" cy="411163"/>
              <a:chOff x="2384961" y="4915395"/>
              <a:chExt cx="4829175" cy="411163"/>
            </a:xfrm>
          </p:grpSpPr>
          <p:sp>
            <p:nvSpPr>
              <p:cNvPr id="42040" name="Line 4"/>
              <p:cNvSpPr>
                <a:spLocks noChangeShapeType="1"/>
              </p:cNvSpPr>
              <p:nvPr/>
            </p:nvSpPr>
            <p:spPr bwMode="auto">
              <a:xfrm>
                <a:off x="2384961" y="4915395"/>
                <a:ext cx="39624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en-US"/>
              </a:p>
            </p:txBody>
          </p:sp>
          <p:sp>
            <p:nvSpPr>
              <p:cNvPr id="42041" name="Text Box 8"/>
              <p:cNvSpPr txBox="1">
                <a:spLocks noChangeArrowheads="1"/>
              </p:cNvSpPr>
              <p:nvPr/>
            </p:nvSpPr>
            <p:spPr bwMode="auto">
              <a:xfrm>
                <a:off x="6179086" y="4959845"/>
                <a:ext cx="10350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t>Quantity</a:t>
                </a:r>
              </a:p>
            </p:txBody>
          </p:sp>
        </p:grpSp>
        <p:grpSp>
          <p:nvGrpSpPr>
            <p:cNvPr id="42037" name="Group 54"/>
            <p:cNvGrpSpPr>
              <a:grpSpLocks/>
            </p:cNvGrpSpPr>
            <p:nvPr/>
          </p:nvGrpSpPr>
          <p:grpSpPr bwMode="auto">
            <a:xfrm>
              <a:off x="1567905" y="947222"/>
              <a:ext cx="817056" cy="3968173"/>
              <a:chOff x="1567905" y="947222"/>
              <a:chExt cx="817056" cy="3968173"/>
            </a:xfrm>
          </p:grpSpPr>
          <p:sp>
            <p:nvSpPr>
              <p:cNvPr id="42038" name="Line 3"/>
              <p:cNvSpPr>
                <a:spLocks noChangeShapeType="1"/>
              </p:cNvSpPr>
              <p:nvPr/>
            </p:nvSpPr>
            <p:spPr bwMode="auto">
              <a:xfrm>
                <a:off x="2379643" y="1101687"/>
                <a:ext cx="5318" cy="381370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039" name="Text Box 9"/>
              <p:cNvSpPr txBox="1">
                <a:spLocks noChangeArrowheads="1"/>
              </p:cNvSpPr>
              <p:nvPr/>
            </p:nvSpPr>
            <p:spPr bwMode="auto">
              <a:xfrm>
                <a:off x="1567905" y="947222"/>
                <a:ext cx="7048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dirty="0"/>
                  <a:t>Price</a:t>
                </a:r>
              </a:p>
            </p:txBody>
          </p:sp>
        </p:grpSp>
      </p:grpSp>
      <p:grpSp>
        <p:nvGrpSpPr>
          <p:cNvPr id="33" name="Group 31"/>
          <p:cNvGrpSpPr>
            <a:grpSpLocks/>
          </p:cNvGrpSpPr>
          <p:nvPr/>
        </p:nvGrpSpPr>
        <p:grpSpPr bwMode="auto">
          <a:xfrm>
            <a:off x="3148012" y="3382961"/>
            <a:ext cx="392113" cy="2546350"/>
            <a:chOff x="4479790" y="2689721"/>
            <a:chExt cx="392113" cy="2546351"/>
          </a:xfrm>
        </p:grpSpPr>
        <p:sp>
          <p:nvSpPr>
            <p:cNvPr id="42034" name="Line 14"/>
            <p:cNvSpPr>
              <a:spLocks noChangeShapeType="1"/>
            </p:cNvSpPr>
            <p:nvPr/>
          </p:nvSpPr>
          <p:spPr bwMode="auto">
            <a:xfrm>
              <a:off x="4630603" y="2689721"/>
              <a:ext cx="1588" cy="2225676"/>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035" name="Text Box 15"/>
            <p:cNvSpPr txBox="1">
              <a:spLocks noChangeArrowheads="1"/>
            </p:cNvSpPr>
            <p:nvPr/>
          </p:nvSpPr>
          <p:spPr bwMode="auto">
            <a:xfrm>
              <a:off x="4479790" y="4931272"/>
              <a:ext cx="39211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a:t>Q</a:t>
              </a:r>
              <a:r>
                <a:rPr lang="en-US" altLang="en-US" sz="1800" i="1" baseline="-25000"/>
                <a:t>c</a:t>
              </a:r>
              <a:endParaRPr lang="en-US" altLang="en-US" sz="1800" baseline="-25000"/>
            </a:p>
          </p:txBody>
        </p:sp>
      </p:grpSp>
      <p:grpSp>
        <p:nvGrpSpPr>
          <p:cNvPr id="34" name="Group 32"/>
          <p:cNvGrpSpPr>
            <a:grpSpLocks/>
          </p:cNvGrpSpPr>
          <p:nvPr/>
        </p:nvGrpSpPr>
        <p:grpSpPr bwMode="auto">
          <a:xfrm>
            <a:off x="2408237" y="2960686"/>
            <a:ext cx="461963" cy="2968625"/>
            <a:chOff x="3146961" y="2267284"/>
            <a:chExt cx="461963" cy="2968786"/>
          </a:xfrm>
        </p:grpSpPr>
        <p:sp>
          <p:nvSpPr>
            <p:cNvPr id="42032" name="Line 17"/>
            <p:cNvSpPr>
              <a:spLocks noChangeShapeType="1"/>
            </p:cNvSpPr>
            <p:nvPr/>
          </p:nvSpPr>
          <p:spPr bwMode="auto">
            <a:xfrm>
              <a:off x="3374230" y="2267284"/>
              <a:ext cx="1331" cy="2648111"/>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nchor="ctr"/>
            <a:lstStyle/>
            <a:p>
              <a:endParaRPr lang="en-US"/>
            </a:p>
          </p:txBody>
        </p:sp>
        <p:sp>
          <p:nvSpPr>
            <p:cNvPr id="42033" name="Text Box 18"/>
            <p:cNvSpPr txBox="1">
              <a:spLocks noChangeArrowheads="1"/>
            </p:cNvSpPr>
            <p:nvPr/>
          </p:nvSpPr>
          <p:spPr bwMode="auto">
            <a:xfrm>
              <a:off x="3146961" y="4931270"/>
              <a:ext cx="4619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a:t>Q</a:t>
              </a:r>
              <a:r>
                <a:rPr lang="en-US" altLang="en-US" sz="1800" i="1" baseline="-25000"/>
                <a:t>m</a:t>
              </a:r>
              <a:endParaRPr lang="en-US" altLang="en-US" sz="1800" baseline="-25000"/>
            </a:p>
          </p:txBody>
        </p:sp>
      </p:grpSp>
      <p:grpSp>
        <p:nvGrpSpPr>
          <p:cNvPr id="36" name="Group 33"/>
          <p:cNvGrpSpPr>
            <a:grpSpLocks/>
          </p:cNvGrpSpPr>
          <p:nvPr/>
        </p:nvGrpSpPr>
        <p:grpSpPr bwMode="auto">
          <a:xfrm>
            <a:off x="595312" y="2832099"/>
            <a:ext cx="2039938" cy="304800"/>
            <a:chOff x="1927761" y="2416670"/>
            <a:chExt cx="2039986" cy="304800"/>
          </a:xfrm>
        </p:grpSpPr>
        <p:sp>
          <p:nvSpPr>
            <p:cNvPr id="42030" name="Line 20"/>
            <p:cNvSpPr>
              <a:spLocks noChangeShapeType="1"/>
            </p:cNvSpPr>
            <p:nvPr/>
          </p:nvSpPr>
          <p:spPr bwMode="auto">
            <a:xfrm flipH="1">
              <a:off x="2384961" y="2550695"/>
              <a:ext cx="1582786" cy="250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031" name="Text Box 21"/>
            <p:cNvSpPr txBox="1">
              <a:spLocks noChangeArrowheads="1"/>
            </p:cNvSpPr>
            <p:nvPr/>
          </p:nvSpPr>
          <p:spPr bwMode="auto">
            <a:xfrm>
              <a:off x="1927761" y="2416670"/>
              <a:ext cx="44291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a:t>P</a:t>
              </a:r>
              <a:r>
                <a:rPr lang="en-US" altLang="en-US" sz="1800" i="1" baseline="-25000"/>
                <a:t>m</a:t>
              </a:r>
              <a:endParaRPr lang="en-US" altLang="en-US" sz="1800" baseline="-25000"/>
            </a:p>
          </p:txBody>
        </p:sp>
      </p:grpSp>
      <p:grpSp>
        <p:nvGrpSpPr>
          <p:cNvPr id="37" name="Group 29"/>
          <p:cNvGrpSpPr>
            <a:grpSpLocks/>
          </p:cNvGrpSpPr>
          <p:nvPr/>
        </p:nvGrpSpPr>
        <p:grpSpPr bwMode="auto">
          <a:xfrm>
            <a:off x="1076325" y="2224086"/>
            <a:ext cx="2428875" cy="3175000"/>
            <a:chOff x="2408714" y="1529937"/>
            <a:chExt cx="2427695" cy="3174754"/>
          </a:xfrm>
        </p:grpSpPr>
        <p:sp>
          <p:nvSpPr>
            <p:cNvPr id="42028" name="Text Box 12"/>
            <p:cNvSpPr txBox="1">
              <a:spLocks noChangeArrowheads="1"/>
            </p:cNvSpPr>
            <p:nvPr/>
          </p:nvSpPr>
          <p:spPr bwMode="auto">
            <a:xfrm>
              <a:off x="4054823" y="4368141"/>
              <a:ext cx="781586"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dirty="0" smtClean="0">
                  <a:solidFill>
                    <a:srgbClr val="C00000"/>
                  </a:solidFill>
                </a:rPr>
                <a:t>MR(Q)</a:t>
              </a:r>
              <a:endParaRPr lang="en-US" altLang="en-US" sz="1800" dirty="0">
                <a:solidFill>
                  <a:srgbClr val="C00000"/>
                </a:solidFill>
              </a:endParaRPr>
            </a:p>
          </p:txBody>
        </p:sp>
        <p:sp>
          <p:nvSpPr>
            <p:cNvPr id="42029" name="Freeform 28"/>
            <p:cNvSpPr>
              <a:spLocks/>
            </p:cNvSpPr>
            <p:nvPr/>
          </p:nvSpPr>
          <p:spPr bwMode="auto">
            <a:xfrm>
              <a:off x="2408714" y="1529937"/>
              <a:ext cx="1937655" cy="2804558"/>
            </a:xfrm>
            <a:custGeom>
              <a:avLst/>
              <a:gdLst>
                <a:gd name="T0" fmla="*/ 0 w 3681351"/>
                <a:gd name="T1" fmla="*/ 0 h 2470068"/>
                <a:gd name="T2" fmla="*/ 1937655 w 3681351"/>
                <a:gd name="T3" fmla="*/ 2804558 h 2470068"/>
                <a:gd name="T4" fmla="*/ 0 60000 65536"/>
                <a:gd name="T5" fmla="*/ 0 60000 65536"/>
              </a:gdLst>
              <a:ahLst/>
              <a:cxnLst>
                <a:cxn ang="T4">
                  <a:pos x="T0" y="T1"/>
                </a:cxn>
                <a:cxn ang="T5">
                  <a:pos x="T2" y="T3"/>
                </a:cxn>
              </a:cxnLst>
              <a:rect l="0" t="0" r="r" b="b"/>
              <a:pathLst>
                <a:path w="3681351" h="2470068">
                  <a:moveTo>
                    <a:pt x="0" y="0"/>
                  </a:moveTo>
                  <a:cubicBezTo>
                    <a:pt x="1761506" y="680852"/>
                    <a:pt x="2715491" y="1468582"/>
                    <a:pt x="3681351" y="2470068"/>
                  </a:cubicBezTo>
                </a:path>
              </a:pathLst>
            </a:custGeom>
            <a:noFill/>
            <a:ln w="28575" cap="flat" cmpd="sng" algn="ctr">
              <a:solidFill>
                <a:srgbClr val="C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40" name="Group 35"/>
          <p:cNvGrpSpPr>
            <a:grpSpLocks/>
          </p:cNvGrpSpPr>
          <p:nvPr/>
        </p:nvGrpSpPr>
        <p:grpSpPr bwMode="auto">
          <a:xfrm>
            <a:off x="633412" y="3294061"/>
            <a:ext cx="2625725" cy="304800"/>
            <a:chOff x="1965190" y="2599874"/>
            <a:chExt cx="2625524" cy="304800"/>
          </a:xfrm>
        </p:grpSpPr>
        <p:sp>
          <p:nvSpPr>
            <p:cNvPr id="42026" name="Text Box 19"/>
            <p:cNvSpPr txBox="1">
              <a:spLocks noChangeArrowheads="1"/>
            </p:cNvSpPr>
            <p:nvPr/>
          </p:nvSpPr>
          <p:spPr bwMode="auto">
            <a:xfrm>
              <a:off x="1965190" y="2599874"/>
              <a:ext cx="3730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a:t>P</a:t>
              </a:r>
              <a:r>
                <a:rPr lang="en-US" altLang="en-US" sz="1800" i="1" baseline="-25000"/>
                <a:t>c</a:t>
              </a:r>
              <a:endParaRPr lang="en-US" altLang="en-US" sz="1800" baseline="-25000"/>
            </a:p>
          </p:txBody>
        </p:sp>
        <p:sp>
          <p:nvSpPr>
            <p:cNvPr id="42027" name="Line 20"/>
            <p:cNvSpPr>
              <a:spLocks noChangeShapeType="1"/>
            </p:cNvSpPr>
            <p:nvPr/>
          </p:nvSpPr>
          <p:spPr bwMode="auto">
            <a:xfrm flipH="1">
              <a:off x="2390274" y="2713807"/>
              <a:ext cx="2200440" cy="18698"/>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43" name="Group 56"/>
          <p:cNvGrpSpPr>
            <a:grpSpLocks/>
          </p:cNvGrpSpPr>
          <p:nvPr/>
        </p:nvGrpSpPr>
        <p:grpSpPr bwMode="auto">
          <a:xfrm>
            <a:off x="641350" y="2254249"/>
            <a:ext cx="4076700" cy="3359150"/>
            <a:chOff x="1972725" y="1560060"/>
            <a:chExt cx="4076557" cy="3360283"/>
          </a:xfrm>
        </p:grpSpPr>
        <p:grpSp>
          <p:nvGrpSpPr>
            <p:cNvPr id="42020" name="Group 26"/>
            <p:cNvGrpSpPr>
              <a:grpSpLocks/>
            </p:cNvGrpSpPr>
            <p:nvPr/>
          </p:nvGrpSpPr>
          <p:grpSpPr bwMode="auto">
            <a:xfrm>
              <a:off x="2375065" y="1560060"/>
              <a:ext cx="3674217" cy="3360283"/>
              <a:chOff x="2375065" y="1560060"/>
              <a:chExt cx="3674217" cy="3360283"/>
            </a:xfrm>
          </p:grpSpPr>
          <p:sp>
            <p:nvSpPr>
              <p:cNvPr id="42024" name="Text Box 10"/>
              <p:cNvSpPr txBox="1">
                <a:spLocks noChangeArrowheads="1"/>
              </p:cNvSpPr>
              <p:nvPr/>
            </p:nvSpPr>
            <p:spPr bwMode="auto">
              <a:xfrm>
                <a:off x="5138057" y="1560060"/>
                <a:ext cx="9112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dirty="0" smtClean="0">
                    <a:solidFill>
                      <a:srgbClr val="5D0D8F"/>
                    </a:solidFill>
                  </a:rPr>
                  <a:t>MC(Q)</a:t>
                </a:r>
                <a:endParaRPr lang="en-US" altLang="en-US" sz="1800" dirty="0">
                  <a:solidFill>
                    <a:srgbClr val="5D0D8F"/>
                  </a:solidFill>
                </a:endParaRPr>
              </a:p>
            </p:txBody>
          </p:sp>
          <p:sp>
            <p:nvSpPr>
              <p:cNvPr id="42025" name="Freeform 25"/>
              <p:cNvSpPr>
                <a:spLocks/>
              </p:cNvSpPr>
              <p:nvPr/>
            </p:nvSpPr>
            <p:spPr bwMode="auto">
              <a:xfrm>
                <a:off x="2375065" y="1923803"/>
                <a:ext cx="2814452" cy="2996540"/>
              </a:xfrm>
              <a:custGeom>
                <a:avLst/>
                <a:gdLst>
                  <a:gd name="T0" fmla="*/ 0 w 3087584"/>
                  <a:gd name="T1" fmla="*/ 2094286 h 3602181"/>
                  <a:gd name="T2" fmla="*/ 746912 w 3087584"/>
                  <a:gd name="T3" fmla="*/ 2440040 h 3602181"/>
                  <a:gd name="T4" fmla="*/ 2814452 w 3087584"/>
                  <a:gd name="T5" fmla="*/ 0 h 3602181"/>
                  <a:gd name="T6" fmla="*/ 0 60000 65536"/>
                  <a:gd name="T7" fmla="*/ 0 60000 65536"/>
                  <a:gd name="T8" fmla="*/ 0 60000 65536"/>
                </a:gdLst>
                <a:ahLst/>
                <a:cxnLst>
                  <a:cxn ang="T6">
                    <a:pos x="T0" y="T1"/>
                  </a:cxn>
                  <a:cxn ang="T7">
                    <a:pos x="T2" y="T3"/>
                  </a:cxn>
                  <a:cxn ang="T8">
                    <a:pos x="T4" y="T5"/>
                  </a:cxn>
                </a:cxnLst>
                <a:rect l="0" t="0" r="r" b="b"/>
                <a:pathLst>
                  <a:path w="3087584" h="3602181">
                    <a:moveTo>
                      <a:pt x="0" y="2517569"/>
                    </a:moveTo>
                    <a:cubicBezTo>
                      <a:pt x="35625" y="2513610"/>
                      <a:pt x="11875" y="3602181"/>
                      <a:pt x="819397" y="2933204"/>
                    </a:cubicBezTo>
                    <a:cubicBezTo>
                      <a:pt x="1670462" y="2343397"/>
                      <a:pt x="2770908" y="447304"/>
                      <a:pt x="3087584" y="0"/>
                    </a:cubicBezTo>
                  </a:path>
                </a:pathLst>
              </a:custGeom>
              <a:noFill/>
              <a:ln w="28575" cap="flat" cmpd="sng" algn="ctr">
                <a:solidFill>
                  <a:srgbClr val="5D0D8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42021" name="Group 56"/>
            <p:cNvGrpSpPr>
              <a:grpSpLocks/>
            </p:cNvGrpSpPr>
            <p:nvPr/>
          </p:nvGrpSpPr>
          <p:grpSpPr bwMode="auto">
            <a:xfrm>
              <a:off x="1972725" y="3766546"/>
              <a:ext cx="442027" cy="336550"/>
              <a:chOff x="4540845" y="3677055"/>
              <a:chExt cx="441972" cy="336550"/>
            </a:xfrm>
          </p:grpSpPr>
          <p:sp>
            <p:nvSpPr>
              <p:cNvPr id="42022" name="Text Box 23"/>
              <p:cNvSpPr txBox="1">
                <a:spLocks noChangeArrowheads="1"/>
              </p:cNvSpPr>
              <p:nvPr/>
            </p:nvSpPr>
            <p:spPr bwMode="auto">
              <a:xfrm>
                <a:off x="4540845" y="3677055"/>
                <a:ext cx="3857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a:t>G</a:t>
                </a:r>
              </a:p>
            </p:txBody>
          </p:sp>
          <p:sp>
            <p:nvSpPr>
              <p:cNvPr id="42023" name="Oval 9"/>
              <p:cNvSpPr>
                <a:spLocks noChangeArrowheads="1"/>
              </p:cNvSpPr>
              <p:nvPr/>
            </p:nvSpPr>
            <p:spPr bwMode="auto">
              <a:xfrm>
                <a:off x="4906435" y="3882215"/>
                <a:ext cx="76382" cy="76306"/>
              </a:xfrm>
              <a:prstGeom prst="ellipse">
                <a:avLst/>
              </a:prstGeom>
              <a:solidFill>
                <a:schemeClr val="tx1"/>
              </a:solidFill>
              <a:ln w="15875">
                <a:solidFill>
                  <a:schemeClr val="tx1"/>
                </a:solidFill>
                <a:round/>
                <a:headEnd/>
                <a:tailEnd/>
              </a:ln>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grpSp>
      </p:grpSp>
      <p:grpSp>
        <p:nvGrpSpPr>
          <p:cNvPr id="52" name="Group 56"/>
          <p:cNvGrpSpPr>
            <a:grpSpLocks/>
          </p:cNvGrpSpPr>
          <p:nvPr/>
        </p:nvGrpSpPr>
        <p:grpSpPr bwMode="auto">
          <a:xfrm>
            <a:off x="2268537" y="3384549"/>
            <a:ext cx="409575" cy="350837"/>
            <a:chOff x="4573891" y="3882215"/>
            <a:chExt cx="408926" cy="351728"/>
          </a:xfrm>
        </p:grpSpPr>
        <p:sp>
          <p:nvSpPr>
            <p:cNvPr id="42018" name="Text Box 23"/>
            <p:cNvSpPr txBox="1">
              <a:spLocks noChangeArrowheads="1"/>
            </p:cNvSpPr>
            <p:nvPr/>
          </p:nvSpPr>
          <p:spPr bwMode="auto">
            <a:xfrm>
              <a:off x="4573891" y="3897393"/>
              <a:ext cx="3857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a:t>C</a:t>
              </a:r>
            </a:p>
          </p:txBody>
        </p:sp>
        <p:sp>
          <p:nvSpPr>
            <p:cNvPr id="42019" name="Oval 9"/>
            <p:cNvSpPr>
              <a:spLocks noChangeArrowheads="1"/>
            </p:cNvSpPr>
            <p:nvPr/>
          </p:nvSpPr>
          <p:spPr bwMode="auto">
            <a:xfrm>
              <a:off x="4906435" y="3882215"/>
              <a:ext cx="76382" cy="76306"/>
            </a:xfrm>
            <a:prstGeom prst="ellipse">
              <a:avLst/>
            </a:prstGeom>
            <a:solidFill>
              <a:schemeClr val="tx1"/>
            </a:solidFill>
            <a:ln w="15875">
              <a:solidFill>
                <a:schemeClr val="tx1"/>
              </a:solidFill>
              <a:round/>
              <a:headEnd/>
              <a:tailEnd/>
            </a:ln>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grpSp>
      <p:grpSp>
        <p:nvGrpSpPr>
          <p:cNvPr id="55" name="Group 56"/>
          <p:cNvGrpSpPr>
            <a:grpSpLocks/>
          </p:cNvGrpSpPr>
          <p:nvPr/>
        </p:nvGrpSpPr>
        <p:grpSpPr bwMode="auto">
          <a:xfrm>
            <a:off x="2217737" y="4014786"/>
            <a:ext cx="463550" cy="336550"/>
            <a:chOff x="4518814" y="3688072"/>
            <a:chExt cx="464003" cy="336550"/>
          </a:xfrm>
        </p:grpSpPr>
        <p:sp>
          <p:nvSpPr>
            <p:cNvPr id="42016" name="Text Box 23"/>
            <p:cNvSpPr txBox="1">
              <a:spLocks noChangeArrowheads="1"/>
            </p:cNvSpPr>
            <p:nvPr/>
          </p:nvSpPr>
          <p:spPr bwMode="auto">
            <a:xfrm>
              <a:off x="4518814" y="3688072"/>
              <a:ext cx="3857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a:t>F</a:t>
              </a:r>
            </a:p>
          </p:txBody>
        </p:sp>
        <p:sp>
          <p:nvSpPr>
            <p:cNvPr id="42017" name="Oval 9"/>
            <p:cNvSpPr>
              <a:spLocks noChangeArrowheads="1"/>
            </p:cNvSpPr>
            <p:nvPr/>
          </p:nvSpPr>
          <p:spPr bwMode="auto">
            <a:xfrm>
              <a:off x="4906435" y="3882215"/>
              <a:ext cx="76382" cy="76306"/>
            </a:xfrm>
            <a:prstGeom prst="ellipse">
              <a:avLst/>
            </a:prstGeom>
            <a:solidFill>
              <a:schemeClr val="tx1"/>
            </a:solidFill>
            <a:ln w="15875">
              <a:solidFill>
                <a:schemeClr val="tx1"/>
              </a:solidFill>
              <a:round/>
              <a:headEnd/>
              <a:tailEnd/>
            </a:ln>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grpSp>
      <p:grpSp>
        <p:nvGrpSpPr>
          <p:cNvPr id="56" name="Group 55"/>
          <p:cNvGrpSpPr>
            <a:grpSpLocks/>
          </p:cNvGrpSpPr>
          <p:nvPr/>
        </p:nvGrpSpPr>
        <p:grpSpPr bwMode="auto">
          <a:xfrm>
            <a:off x="655637" y="1995486"/>
            <a:ext cx="4429125" cy="2827338"/>
            <a:chOff x="1987408" y="1302439"/>
            <a:chExt cx="4429045" cy="2826243"/>
          </a:xfrm>
        </p:grpSpPr>
        <p:grpSp>
          <p:nvGrpSpPr>
            <p:cNvPr id="42010" name="Group 30"/>
            <p:cNvGrpSpPr>
              <a:grpSpLocks/>
            </p:cNvGrpSpPr>
            <p:nvPr/>
          </p:nvGrpSpPr>
          <p:grpSpPr bwMode="auto">
            <a:xfrm>
              <a:off x="2375065" y="1508166"/>
              <a:ext cx="4041388" cy="2620516"/>
              <a:chOff x="2375065" y="1508166"/>
              <a:chExt cx="4041388" cy="2620516"/>
            </a:xfrm>
          </p:grpSpPr>
          <p:sp>
            <p:nvSpPr>
              <p:cNvPr id="42014" name="Text Box 11"/>
              <p:cNvSpPr txBox="1">
                <a:spLocks noChangeArrowheads="1"/>
              </p:cNvSpPr>
              <p:nvPr/>
            </p:nvSpPr>
            <p:spPr bwMode="auto">
              <a:xfrm>
                <a:off x="6086253" y="3792132"/>
                <a:ext cx="330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dirty="0" smtClean="0">
                    <a:solidFill>
                      <a:srgbClr val="C00000"/>
                    </a:solidFill>
                  </a:rPr>
                  <a:t>P(Q)</a:t>
                </a:r>
                <a:endParaRPr lang="en-US" altLang="en-US" sz="1800" dirty="0">
                  <a:solidFill>
                    <a:srgbClr val="C00000"/>
                  </a:solidFill>
                </a:endParaRPr>
              </a:p>
            </p:txBody>
          </p:sp>
          <p:sp>
            <p:nvSpPr>
              <p:cNvPr id="42015" name="Freeform 27"/>
              <p:cNvSpPr>
                <a:spLocks/>
              </p:cNvSpPr>
              <p:nvPr/>
            </p:nvSpPr>
            <p:spPr bwMode="auto">
              <a:xfrm>
                <a:off x="2375065" y="1508166"/>
                <a:ext cx="3681351" cy="2470068"/>
              </a:xfrm>
              <a:custGeom>
                <a:avLst/>
                <a:gdLst>
                  <a:gd name="T0" fmla="*/ 0 w 3681351"/>
                  <a:gd name="T1" fmla="*/ 0 h 2470068"/>
                  <a:gd name="T2" fmla="*/ 3681351 w 3681351"/>
                  <a:gd name="T3" fmla="*/ 2470068 h 2470068"/>
                  <a:gd name="T4" fmla="*/ 0 60000 65536"/>
                  <a:gd name="T5" fmla="*/ 0 60000 65536"/>
                </a:gdLst>
                <a:ahLst/>
                <a:cxnLst>
                  <a:cxn ang="T4">
                    <a:pos x="T0" y="T1"/>
                  </a:cxn>
                  <a:cxn ang="T5">
                    <a:pos x="T2" y="T3"/>
                  </a:cxn>
                </a:cxnLst>
                <a:rect l="0" t="0" r="r" b="b"/>
                <a:pathLst>
                  <a:path w="3681351" h="2470068">
                    <a:moveTo>
                      <a:pt x="0" y="0"/>
                    </a:moveTo>
                    <a:cubicBezTo>
                      <a:pt x="1761506" y="680852"/>
                      <a:pt x="2715491" y="1468582"/>
                      <a:pt x="3681351" y="2470068"/>
                    </a:cubicBezTo>
                  </a:path>
                </a:pathLst>
              </a:custGeom>
              <a:noFill/>
              <a:ln w="28575" cap="flat" cmpd="sng" algn="ctr">
                <a:solidFill>
                  <a:srgbClr val="C00000"/>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nvGrpSpPr>
            <p:cNvPr id="42011" name="Group 56"/>
            <p:cNvGrpSpPr>
              <a:grpSpLocks/>
            </p:cNvGrpSpPr>
            <p:nvPr/>
          </p:nvGrpSpPr>
          <p:grpSpPr bwMode="auto">
            <a:xfrm>
              <a:off x="1987408" y="1302439"/>
              <a:ext cx="431009" cy="336550"/>
              <a:chOff x="4551861" y="3710106"/>
              <a:chExt cx="430956" cy="336550"/>
            </a:xfrm>
          </p:grpSpPr>
          <p:sp>
            <p:nvSpPr>
              <p:cNvPr id="42012" name="Text Box 23"/>
              <p:cNvSpPr txBox="1">
                <a:spLocks noChangeArrowheads="1"/>
              </p:cNvSpPr>
              <p:nvPr/>
            </p:nvSpPr>
            <p:spPr bwMode="auto">
              <a:xfrm>
                <a:off x="4551861" y="3710106"/>
                <a:ext cx="3857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a:t>A</a:t>
                </a:r>
              </a:p>
            </p:txBody>
          </p:sp>
          <p:sp>
            <p:nvSpPr>
              <p:cNvPr id="42013" name="Oval 9"/>
              <p:cNvSpPr>
                <a:spLocks noChangeArrowheads="1"/>
              </p:cNvSpPr>
              <p:nvPr/>
            </p:nvSpPr>
            <p:spPr bwMode="auto">
              <a:xfrm>
                <a:off x="4906435" y="3882215"/>
                <a:ext cx="76382" cy="76306"/>
              </a:xfrm>
              <a:prstGeom prst="ellipse">
                <a:avLst/>
              </a:prstGeom>
              <a:solidFill>
                <a:schemeClr val="tx1"/>
              </a:solidFill>
              <a:ln w="15875">
                <a:solidFill>
                  <a:schemeClr val="tx1"/>
                </a:solidFill>
                <a:round/>
                <a:headEnd/>
                <a:tailEnd/>
              </a:ln>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grpSp>
      </p:grpSp>
      <p:grpSp>
        <p:nvGrpSpPr>
          <p:cNvPr id="59" name="Group 56"/>
          <p:cNvGrpSpPr>
            <a:grpSpLocks/>
          </p:cNvGrpSpPr>
          <p:nvPr/>
        </p:nvGrpSpPr>
        <p:grpSpPr bwMode="auto">
          <a:xfrm>
            <a:off x="2597150" y="2584449"/>
            <a:ext cx="428625" cy="412750"/>
            <a:chOff x="4906435" y="3544853"/>
            <a:chExt cx="427747" cy="413668"/>
          </a:xfrm>
        </p:grpSpPr>
        <p:sp>
          <p:nvSpPr>
            <p:cNvPr id="42008" name="Text Box 23"/>
            <p:cNvSpPr txBox="1">
              <a:spLocks noChangeArrowheads="1"/>
            </p:cNvSpPr>
            <p:nvPr/>
          </p:nvSpPr>
          <p:spPr bwMode="auto">
            <a:xfrm>
              <a:off x="4948419" y="3544853"/>
              <a:ext cx="3857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a:t>B</a:t>
              </a:r>
            </a:p>
          </p:txBody>
        </p:sp>
        <p:sp>
          <p:nvSpPr>
            <p:cNvPr id="42009" name="Oval 9"/>
            <p:cNvSpPr>
              <a:spLocks noChangeArrowheads="1"/>
            </p:cNvSpPr>
            <p:nvPr/>
          </p:nvSpPr>
          <p:spPr bwMode="auto">
            <a:xfrm>
              <a:off x="4906435" y="3882215"/>
              <a:ext cx="76382" cy="76306"/>
            </a:xfrm>
            <a:prstGeom prst="ellipse">
              <a:avLst/>
            </a:prstGeom>
            <a:solidFill>
              <a:schemeClr val="tx1"/>
            </a:solidFill>
            <a:ln w="15875">
              <a:solidFill>
                <a:schemeClr val="tx1"/>
              </a:solidFill>
              <a:round/>
              <a:headEnd/>
              <a:tailEnd/>
            </a:ln>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grpSp>
      <p:grpSp>
        <p:nvGrpSpPr>
          <p:cNvPr id="62" name="Group 56"/>
          <p:cNvGrpSpPr>
            <a:grpSpLocks/>
          </p:cNvGrpSpPr>
          <p:nvPr/>
        </p:nvGrpSpPr>
        <p:grpSpPr bwMode="auto">
          <a:xfrm>
            <a:off x="3119437" y="2989261"/>
            <a:ext cx="385763" cy="454025"/>
            <a:chOff x="4764385" y="3504528"/>
            <a:chExt cx="385764" cy="453993"/>
          </a:xfrm>
        </p:grpSpPr>
        <p:sp>
          <p:nvSpPr>
            <p:cNvPr id="42006" name="Text Box 23"/>
            <p:cNvSpPr txBox="1">
              <a:spLocks noChangeArrowheads="1"/>
            </p:cNvSpPr>
            <p:nvPr/>
          </p:nvSpPr>
          <p:spPr bwMode="auto">
            <a:xfrm>
              <a:off x="4764385" y="3504528"/>
              <a:ext cx="385764"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a:t>E</a:t>
              </a:r>
            </a:p>
          </p:txBody>
        </p:sp>
        <p:sp>
          <p:nvSpPr>
            <p:cNvPr id="42007" name="Oval 9"/>
            <p:cNvSpPr>
              <a:spLocks noChangeArrowheads="1"/>
            </p:cNvSpPr>
            <p:nvPr/>
          </p:nvSpPr>
          <p:spPr bwMode="auto">
            <a:xfrm>
              <a:off x="4906435" y="3882215"/>
              <a:ext cx="76382" cy="76306"/>
            </a:xfrm>
            <a:prstGeom prst="ellipse">
              <a:avLst/>
            </a:prstGeom>
            <a:solidFill>
              <a:schemeClr val="tx1"/>
            </a:solidFill>
            <a:ln w="15875">
              <a:solidFill>
                <a:schemeClr val="tx1"/>
              </a:solidFill>
              <a:round/>
              <a:headEnd/>
              <a:tailEnd/>
            </a:ln>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grpSp>
    </p:spTree>
    <p:extLst>
      <p:ext uri="{BB962C8B-B14F-4D97-AF65-F5344CB8AC3E}">
        <p14:creationId xmlns:p14="http://schemas.microsoft.com/office/powerpoint/2010/main" val="95423378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wipe(left)">
                                      <p:cBhvr>
                                        <p:cTn id="7" dur="500"/>
                                        <p:tgtEl>
                                          <p:spTgt spid="30"/>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56"/>
                                        </p:tgtEl>
                                        <p:attrNameLst>
                                          <p:attrName>style.visibility</p:attrName>
                                        </p:attrNameLst>
                                      </p:cBhvr>
                                      <p:to>
                                        <p:strVal val="visible"/>
                                      </p:to>
                                    </p:set>
                                    <p:animEffect transition="in" filter="wipe(left)">
                                      <p:cBhvr>
                                        <p:cTn id="11" dur="500"/>
                                        <p:tgtEl>
                                          <p:spTgt spid="56"/>
                                        </p:tgtEl>
                                      </p:cBhvr>
                                    </p:animEffect>
                                  </p:childTnLst>
                                </p:cTn>
                              </p:par>
                            </p:childTnLst>
                          </p:cTn>
                        </p:par>
                        <p:par>
                          <p:cTn id="12" fill="hold" nodeType="afterGroup">
                            <p:stCondLst>
                              <p:cond delay="1000"/>
                            </p:stCondLst>
                            <p:childTnLst>
                              <p:par>
                                <p:cTn id="13" presetID="22" presetClass="entr" presetSubtype="8" fill="hold" nodeType="afterEffect">
                                  <p:stCondLst>
                                    <p:cond delay="0"/>
                                  </p:stCondLst>
                                  <p:childTnLst>
                                    <p:set>
                                      <p:cBhvr>
                                        <p:cTn id="14" dur="1" fill="hold">
                                          <p:stCondLst>
                                            <p:cond delay="0"/>
                                          </p:stCondLst>
                                        </p:cTn>
                                        <p:tgtEl>
                                          <p:spTgt spid="37"/>
                                        </p:tgtEl>
                                        <p:attrNameLst>
                                          <p:attrName>style.visibility</p:attrName>
                                        </p:attrNameLst>
                                      </p:cBhvr>
                                      <p:to>
                                        <p:strVal val="visible"/>
                                      </p:to>
                                    </p:set>
                                    <p:animEffect transition="in" filter="wipe(left)">
                                      <p:cBhvr>
                                        <p:cTn id="15" dur="500"/>
                                        <p:tgtEl>
                                          <p:spTgt spid="37"/>
                                        </p:tgtEl>
                                      </p:cBhvr>
                                    </p:animEffect>
                                  </p:childTnLst>
                                </p:cTn>
                              </p:par>
                            </p:childTnLst>
                          </p:cTn>
                        </p:par>
                        <p:par>
                          <p:cTn id="16" fill="hold" nodeType="afterGroup">
                            <p:stCondLst>
                              <p:cond delay="1500"/>
                            </p:stCondLst>
                            <p:childTnLst>
                              <p:par>
                                <p:cTn id="17" presetID="22" presetClass="entr" presetSubtype="8" fill="hold" nodeType="afterEffect">
                                  <p:stCondLst>
                                    <p:cond delay="0"/>
                                  </p:stCondLst>
                                  <p:childTnLst>
                                    <p:set>
                                      <p:cBhvr>
                                        <p:cTn id="18" dur="1" fill="hold">
                                          <p:stCondLst>
                                            <p:cond delay="0"/>
                                          </p:stCondLst>
                                        </p:cTn>
                                        <p:tgtEl>
                                          <p:spTgt spid="43"/>
                                        </p:tgtEl>
                                        <p:attrNameLst>
                                          <p:attrName>style.visibility</p:attrName>
                                        </p:attrNameLst>
                                      </p:cBhvr>
                                      <p:to>
                                        <p:strVal val="visible"/>
                                      </p:to>
                                    </p:set>
                                    <p:animEffect transition="in" filter="wipe(left)">
                                      <p:cBhvr>
                                        <p:cTn id="19" dur="500"/>
                                        <p:tgtEl>
                                          <p:spTgt spid="43"/>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8" fill="hold" nodeType="clickEffect">
                                  <p:stCondLst>
                                    <p:cond delay="0"/>
                                  </p:stCondLst>
                                  <p:childTnLst>
                                    <p:set>
                                      <p:cBhvr>
                                        <p:cTn id="23" dur="1" fill="hold">
                                          <p:stCondLst>
                                            <p:cond delay="0"/>
                                          </p:stCondLst>
                                        </p:cTn>
                                        <p:tgtEl>
                                          <p:spTgt spid="62"/>
                                        </p:tgtEl>
                                        <p:attrNameLst>
                                          <p:attrName>style.visibility</p:attrName>
                                        </p:attrNameLst>
                                      </p:cBhvr>
                                      <p:to>
                                        <p:strVal val="visible"/>
                                      </p:to>
                                    </p:set>
                                    <p:animEffect transition="in" filter="wipe(left)">
                                      <p:cBhvr>
                                        <p:cTn id="24" dur="500"/>
                                        <p:tgtEl>
                                          <p:spTgt spid="62"/>
                                        </p:tgtEl>
                                      </p:cBhvr>
                                    </p:animEffect>
                                  </p:childTnLst>
                                </p:cTn>
                              </p:par>
                            </p:childTnLst>
                          </p:cTn>
                        </p:par>
                        <p:par>
                          <p:cTn id="25" fill="hold" nodeType="afterGroup">
                            <p:stCondLst>
                              <p:cond delay="500"/>
                            </p:stCondLst>
                            <p:childTnLst>
                              <p:par>
                                <p:cTn id="26" presetID="22" presetClass="entr" presetSubtype="8" fill="hold" nodeType="afterEffect">
                                  <p:stCondLst>
                                    <p:cond delay="0"/>
                                  </p:stCondLst>
                                  <p:childTnLst>
                                    <p:set>
                                      <p:cBhvr>
                                        <p:cTn id="27" dur="1" fill="hold">
                                          <p:stCondLst>
                                            <p:cond delay="0"/>
                                          </p:stCondLst>
                                        </p:cTn>
                                        <p:tgtEl>
                                          <p:spTgt spid="40"/>
                                        </p:tgtEl>
                                        <p:attrNameLst>
                                          <p:attrName>style.visibility</p:attrName>
                                        </p:attrNameLst>
                                      </p:cBhvr>
                                      <p:to>
                                        <p:strVal val="visible"/>
                                      </p:to>
                                    </p:set>
                                    <p:animEffect transition="in" filter="wipe(left)">
                                      <p:cBhvr>
                                        <p:cTn id="28" dur="500"/>
                                        <p:tgtEl>
                                          <p:spTgt spid="40"/>
                                        </p:tgtEl>
                                      </p:cBhvr>
                                    </p:animEffect>
                                  </p:childTnLst>
                                </p:cTn>
                              </p:par>
                            </p:childTnLst>
                          </p:cTn>
                        </p:par>
                        <p:par>
                          <p:cTn id="29" fill="hold" nodeType="afterGroup">
                            <p:stCondLst>
                              <p:cond delay="1000"/>
                            </p:stCondLst>
                            <p:childTnLst>
                              <p:par>
                                <p:cTn id="30" presetID="22" presetClass="entr" presetSubtype="1" fill="hold" nodeType="afterEffect">
                                  <p:stCondLst>
                                    <p:cond delay="0"/>
                                  </p:stCondLst>
                                  <p:childTnLst>
                                    <p:set>
                                      <p:cBhvr>
                                        <p:cTn id="31" dur="1" fill="hold">
                                          <p:stCondLst>
                                            <p:cond delay="0"/>
                                          </p:stCondLst>
                                        </p:cTn>
                                        <p:tgtEl>
                                          <p:spTgt spid="33"/>
                                        </p:tgtEl>
                                        <p:attrNameLst>
                                          <p:attrName>style.visibility</p:attrName>
                                        </p:attrNameLst>
                                      </p:cBhvr>
                                      <p:to>
                                        <p:strVal val="visible"/>
                                      </p:to>
                                    </p:set>
                                    <p:animEffect transition="in" filter="wipe(up)">
                                      <p:cBhvr>
                                        <p:cTn id="32" dur="500"/>
                                        <p:tgtEl>
                                          <p:spTgt spid="3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55"/>
                                        </p:tgtEl>
                                        <p:attrNameLst>
                                          <p:attrName>style.visibility</p:attrName>
                                        </p:attrNameLst>
                                      </p:cBhvr>
                                      <p:to>
                                        <p:strVal val="visible"/>
                                      </p:to>
                                    </p:set>
                                    <p:animEffect transition="in" filter="wipe(left)">
                                      <p:cBhvr>
                                        <p:cTn id="37" dur="500"/>
                                        <p:tgtEl>
                                          <p:spTgt spid="55"/>
                                        </p:tgtEl>
                                      </p:cBhvr>
                                    </p:animEffect>
                                  </p:childTnLst>
                                </p:cTn>
                              </p:par>
                            </p:childTnLst>
                          </p:cTn>
                        </p:par>
                        <p:par>
                          <p:cTn id="38" fill="hold" nodeType="afterGroup">
                            <p:stCondLst>
                              <p:cond delay="500"/>
                            </p:stCondLst>
                            <p:childTnLst>
                              <p:par>
                                <p:cTn id="39" presetID="22" presetClass="entr" presetSubtype="1" fill="hold" nodeType="afterEffect">
                                  <p:stCondLst>
                                    <p:cond delay="0"/>
                                  </p:stCondLst>
                                  <p:childTnLst>
                                    <p:set>
                                      <p:cBhvr>
                                        <p:cTn id="40" dur="1" fill="hold">
                                          <p:stCondLst>
                                            <p:cond delay="0"/>
                                          </p:stCondLst>
                                        </p:cTn>
                                        <p:tgtEl>
                                          <p:spTgt spid="34"/>
                                        </p:tgtEl>
                                        <p:attrNameLst>
                                          <p:attrName>style.visibility</p:attrName>
                                        </p:attrNameLst>
                                      </p:cBhvr>
                                      <p:to>
                                        <p:strVal val="visible"/>
                                      </p:to>
                                    </p:set>
                                    <p:animEffect transition="in" filter="wipe(up)">
                                      <p:cBhvr>
                                        <p:cTn id="41" dur="500"/>
                                        <p:tgtEl>
                                          <p:spTgt spid="34"/>
                                        </p:tgtEl>
                                      </p:cBhvr>
                                    </p:animEffect>
                                  </p:childTnLst>
                                </p:cTn>
                              </p:par>
                            </p:childTnLst>
                          </p:cTn>
                        </p:par>
                        <p:par>
                          <p:cTn id="42" fill="hold" nodeType="afterGroup">
                            <p:stCondLst>
                              <p:cond delay="1000"/>
                            </p:stCondLst>
                            <p:childTnLst>
                              <p:par>
                                <p:cTn id="43" presetID="22" presetClass="entr" presetSubtype="8" fill="hold" nodeType="afterEffect">
                                  <p:stCondLst>
                                    <p:cond delay="0"/>
                                  </p:stCondLst>
                                  <p:childTnLst>
                                    <p:set>
                                      <p:cBhvr>
                                        <p:cTn id="44" dur="1" fill="hold">
                                          <p:stCondLst>
                                            <p:cond delay="0"/>
                                          </p:stCondLst>
                                        </p:cTn>
                                        <p:tgtEl>
                                          <p:spTgt spid="59"/>
                                        </p:tgtEl>
                                        <p:attrNameLst>
                                          <p:attrName>style.visibility</p:attrName>
                                        </p:attrNameLst>
                                      </p:cBhvr>
                                      <p:to>
                                        <p:strVal val="visible"/>
                                      </p:to>
                                    </p:set>
                                    <p:animEffect transition="in" filter="wipe(left)">
                                      <p:cBhvr>
                                        <p:cTn id="45" dur="500"/>
                                        <p:tgtEl>
                                          <p:spTgt spid="59"/>
                                        </p:tgtEl>
                                      </p:cBhvr>
                                    </p:animEffect>
                                  </p:childTnLst>
                                </p:cTn>
                              </p:par>
                            </p:childTnLst>
                          </p:cTn>
                        </p:par>
                        <p:par>
                          <p:cTn id="46" fill="hold" nodeType="afterGroup">
                            <p:stCondLst>
                              <p:cond delay="1500"/>
                            </p:stCondLst>
                            <p:childTnLst>
                              <p:par>
                                <p:cTn id="47" presetID="22" presetClass="entr" presetSubtype="8" fill="hold" nodeType="afterEffect">
                                  <p:stCondLst>
                                    <p:cond delay="0"/>
                                  </p:stCondLst>
                                  <p:childTnLst>
                                    <p:set>
                                      <p:cBhvr>
                                        <p:cTn id="48" dur="1" fill="hold">
                                          <p:stCondLst>
                                            <p:cond delay="0"/>
                                          </p:stCondLst>
                                        </p:cTn>
                                        <p:tgtEl>
                                          <p:spTgt spid="36"/>
                                        </p:tgtEl>
                                        <p:attrNameLst>
                                          <p:attrName>style.visibility</p:attrName>
                                        </p:attrNameLst>
                                      </p:cBhvr>
                                      <p:to>
                                        <p:strVal val="visible"/>
                                      </p:to>
                                    </p:set>
                                    <p:animEffect transition="in" filter="wipe(left)">
                                      <p:cBhvr>
                                        <p:cTn id="49" dur="500"/>
                                        <p:tgtEl>
                                          <p:spTgt spid="36"/>
                                        </p:tgtEl>
                                      </p:cBhvr>
                                    </p:animEffect>
                                  </p:childTnLst>
                                </p:cTn>
                              </p:par>
                            </p:childTnLst>
                          </p:cTn>
                        </p:par>
                        <p:par>
                          <p:cTn id="50" fill="hold" nodeType="afterGroup">
                            <p:stCondLst>
                              <p:cond delay="2000"/>
                            </p:stCondLst>
                            <p:childTnLst>
                              <p:par>
                                <p:cTn id="51" presetID="22" presetClass="entr" presetSubtype="8" fill="hold" nodeType="afterEffect">
                                  <p:stCondLst>
                                    <p:cond delay="0"/>
                                  </p:stCondLst>
                                  <p:childTnLst>
                                    <p:set>
                                      <p:cBhvr>
                                        <p:cTn id="52" dur="1" fill="hold">
                                          <p:stCondLst>
                                            <p:cond delay="0"/>
                                          </p:stCondLst>
                                        </p:cTn>
                                        <p:tgtEl>
                                          <p:spTgt spid="52"/>
                                        </p:tgtEl>
                                        <p:attrNameLst>
                                          <p:attrName>style.visibility</p:attrName>
                                        </p:attrNameLst>
                                      </p:cBhvr>
                                      <p:to>
                                        <p:strVal val="visible"/>
                                      </p:to>
                                    </p:set>
                                    <p:animEffect transition="in" filter="wipe(left)">
                                      <p:cBhvr>
                                        <p:cTn id="53" dur="500"/>
                                        <p:tgtEl>
                                          <p:spTgt spid="52"/>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8" fill="hold" nodeType="click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left)">
                                      <p:cBhvr>
                                        <p:cTn id="58" dur="500"/>
                                        <p:tgtEl>
                                          <p:spTgt spid="21"/>
                                        </p:tgtEl>
                                      </p:cBhvr>
                                    </p:animEffect>
                                  </p:childTnLst>
                                </p:cTn>
                              </p:par>
                            </p:childTnLst>
                          </p:cTn>
                        </p:par>
                        <p:par>
                          <p:cTn id="59" fill="hold" nodeType="afterGroup">
                            <p:stCondLst>
                              <p:cond delay="500"/>
                            </p:stCondLst>
                            <p:childTnLst>
                              <p:par>
                                <p:cTn id="60" presetID="22" presetClass="entr" presetSubtype="8" fill="hold" nodeType="afterEffect">
                                  <p:stCondLst>
                                    <p:cond delay="0"/>
                                  </p:stCondLst>
                                  <p:childTnLst>
                                    <p:set>
                                      <p:cBhvr>
                                        <p:cTn id="61" dur="1" fill="hold">
                                          <p:stCondLst>
                                            <p:cond delay="0"/>
                                          </p:stCondLst>
                                        </p:cTn>
                                        <p:tgtEl>
                                          <p:spTgt spid="11"/>
                                        </p:tgtEl>
                                        <p:attrNameLst>
                                          <p:attrName>style.visibility</p:attrName>
                                        </p:attrNameLst>
                                      </p:cBhvr>
                                      <p:to>
                                        <p:strVal val="visible"/>
                                      </p:to>
                                    </p:set>
                                    <p:animEffect transition="in" filter="wipe(left)">
                                      <p:cBhvr>
                                        <p:cTn id="62" dur="500"/>
                                        <p:tgtEl>
                                          <p:spTgt spid="11"/>
                                        </p:tgtEl>
                                      </p:cBhvr>
                                    </p:animEffect>
                                  </p:childTnLst>
                                </p:cTn>
                              </p:par>
                            </p:childTnLst>
                          </p:cTn>
                        </p:par>
                        <p:par>
                          <p:cTn id="63" fill="hold" nodeType="afterGroup">
                            <p:stCondLst>
                              <p:cond delay="1000"/>
                            </p:stCondLst>
                            <p:childTnLst>
                              <p:par>
                                <p:cTn id="64" presetID="22" presetClass="entr" presetSubtype="8" fill="hold" nodeType="afterEffect">
                                  <p:stCondLst>
                                    <p:cond delay="0"/>
                                  </p:stCondLst>
                                  <p:childTnLst>
                                    <p:set>
                                      <p:cBhvr>
                                        <p:cTn id="65" dur="1" fill="hold">
                                          <p:stCondLst>
                                            <p:cond delay="0"/>
                                          </p:stCondLst>
                                        </p:cTn>
                                        <p:tgtEl>
                                          <p:spTgt spid="9"/>
                                        </p:tgtEl>
                                        <p:attrNameLst>
                                          <p:attrName>style.visibility</p:attrName>
                                        </p:attrNameLst>
                                      </p:cBhvr>
                                      <p:to>
                                        <p:strVal val="visible"/>
                                      </p:to>
                                    </p:set>
                                    <p:animEffect transition="in" filter="wipe(left)">
                                      <p:cBhvr>
                                        <p:cTn id="66" dur="500"/>
                                        <p:tgtEl>
                                          <p:spTgt spid="9"/>
                                        </p:tgtEl>
                                      </p:cBhvr>
                                    </p:animEffect>
                                  </p:childTnLst>
                                </p:cTn>
                              </p:par>
                            </p:childTnLst>
                          </p:cTn>
                        </p:par>
                        <p:par>
                          <p:cTn id="67" fill="hold">
                            <p:stCondLst>
                              <p:cond delay="1500"/>
                            </p:stCondLst>
                            <p:childTnLst>
                              <p:par>
                                <p:cTn id="68" presetID="22" presetClass="entr" presetSubtype="8" fill="hold" grpId="0" nodeType="afterEffect">
                                  <p:stCondLst>
                                    <p:cond delay="0"/>
                                  </p:stCondLst>
                                  <p:childTnLst>
                                    <p:set>
                                      <p:cBhvr>
                                        <p:cTn id="69" dur="1" fill="hold">
                                          <p:stCondLst>
                                            <p:cond delay="0"/>
                                          </p:stCondLst>
                                        </p:cTn>
                                        <p:tgtEl>
                                          <p:spTgt spid="41990">
                                            <p:txEl>
                                              <p:pRg st="0" end="0"/>
                                            </p:txEl>
                                          </p:spTgt>
                                        </p:tgtEl>
                                        <p:attrNameLst>
                                          <p:attrName>style.visibility</p:attrName>
                                        </p:attrNameLst>
                                      </p:cBhvr>
                                      <p:to>
                                        <p:strVal val="visible"/>
                                      </p:to>
                                    </p:set>
                                    <p:animEffect transition="in" filter="wipe(left)">
                                      <p:cBhvr>
                                        <p:cTn id="70" dur="500"/>
                                        <p:tgtEl>
                                          <p:spTgt spid="4199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90"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14.3 	Welfare Losses and Elasticity</a:t>
            </a:r>
          </a:p>
        </p:txBody>
      </p:sp>
      <p:sp>
        <p:nvSpPr>
          <p:cNvPr id="2054"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4" name="Slide Number Placeholder 3"/>
          <p:cNvSpPr>
            <a:spLocks noGrp="1"/>
          </p:cNvSpPr>
          <p:nvPr>
            <p:ph type="sldNum" sz="quarter" idx="11"/>
          </p:nvPr>
        </p:nvSpPr>
        <p:spPr>
          <a:prstGeom prst="rect">
            <a:avLst/>
          </a:prstGeom>
        </p:spPr>
        <p:txBody>
          <a:bodyPr/>
          <a:lstStyle/>
          <a:p>
            <a:pPr>
              <a:defRPr/>
            </a:pPr>
            <a:fld id="{A976135D-C8C3-47F2-A654-AE2F30035077}" type="slidenum">
              <a:rPr lang="en-US" smtClean="0"/>
              <a:pPr>
                <a:defRPr/>
              </a:pPr>
              <a:t>22</a:t>
            </a:fld>
            <a:endParaRPr lang="en-US" dirty="0"/>
          </a:p>
        </p:txBody>
      </p:sp>
      <mc:AlternateContent xmlns:mc="http://schemas.openxmlformats.org/markup-compatibility/2006" xmlns:a14="http://schemas.microsoft.com/office/drawing/2010/main">
        <mc:Choice Requires="a14">
          <p:sp>
            <p:nvSpPr>
              <p:cNvPr id="2052" name="Content Placeholder 2"/>
              <p:cNvSpPr>
                <a:spLocks noGrp="1"/>
              </p:cNvSpPr>
              <p:nvPr>
                <p:ph type="body" sz="quarter" idx="12"/>
              </p:nvPr>
            </p:nvSpPr>
            <p:spPr>
              <a:prstGeom prst="rect">
                <a:avLst/>
              </a:prstGeom>
            </p:spPr>
            <p:txBody>
              <a:bodyPr/>
              <a:lstStyle/>
              <a:p>
                <a:r>
                  <a:rPr lang="en-US" altLang="en-US" dirty="0" smtClean="0"/>
                  <a:t>Monopoly </a:t>
                </a:r>
              </a:p>
              <a:p>
                <a:pPr lvl="1"/>
                <a:r>
                  <a:rPr lang="en-US" altLang="en-US" dirty="0" smtClean="0"/>
                  <a:t>With Marginal cost = Average cost = constant (c)</a:t>
                </a:r>
              </a:p>
              <a:p>
                <a:pPr lvl="1"/>
                <a:r>
                  <a:rPr lang="en-US" altLang="en-US" dirty="0" smtClean="0"/>
                  <a:t>Compensated demand curve has a constant elasticity, </a:t>
                </a:r>
                <a:r>
                  <a:rPr lang="en-US" altLang="en-US" i="1" dirty="0" smtClean="0">
                    <a:solidFill>
                      <a:srgbClr val="FF0000"/>
                    </a:solidFill>
                    <a:latin typeface="Times New Roman" panose="02020603050405020304" pitchFamily="18" charset="0"/>
                    <a:cs typeface="Times New Roman" panose="02020603050405020304" pitchFamily="18" charset="0"/>
                  </a:rPr>
                  <a:t>Q</a:t>
                </a:r>
                <a:r>
                  <a:rPr lang="en-US" altLang="en-US" dirty="0" smtClean="0">
                    <a:solidFill>
                      <a:srgbClr val="FF0000"/>
                    </a:solidFill>
                    <a:latin typeface="Times New Roman" panose="02020603050405020304" pitchFamily="18" charset="0"/>
                    <a:cs typeface="Times New Roman" panose="02020603050405020304" pitchFamily="18" charset="0"/>
                  </a:rPr>
                  <a:t> = </a:t>
                </a:r>
                <a:r>
                  <a:rPr lang="en-US" altLang="en-US" i="1" dirty="0" err="1" smtClean="0">
                    <a:solidFill>
                      <a:srgbClr val="FF0000"/>
                    </a:solidFill>
                    <a:latin typeface="Times New Roman" panose="02020603050405020304" pitchFamily="18" charset="0"/>
                    <a:cs typeface="Times New Roman" panose="02020603050405020304" pitchFamily="18" charset="0"/>
                  </a:rPr>
                  <a:t>P</a:t>
                </a:r>
                <a:r>
                  <a:rPr lang="en-US" altLang="en-US" i="1" baseline="30000" dirty="0" err="1" smtClean="0">
                    <a:solidFill>
                      <a:srgbClr val="FF0000"/>
                    </a:solidFill>
                    <a:latin typeface="Times New Roman" panose="02020603050405020304" pitchFamily="18" charset="0"/>
                    <a:cs typeface="Times New Roman" panose="02020603050405020304" pitchFamily="18" charset="0"/>
                  </a:rPr>
                  <a:t>e</a:t>
                </a:r>
                <a:endParaRPr lang="en-US" altLang="en-US" dirty="0" smtClean="0">
                  <a:solidFill>
                    <a:srgbClr val="FF0000"/>
                  </a:solidFill>
                  <a:latin typeface="Times New Roman" panose="02020603050405020304" pitchFamily="18" charset="0"/>
                  <a:cs typeface="Times New Roman" panose="02020603050405020304" pitchFamily="18" charset="0"/>
                </a:endParaRPr>
              </a:p>
              <a:p>
                <a:pPr lvl="2">
                  <a:lnSpc>
                    <a:spcPct val="110000"/>
                  </a:lnSpc>
                </a:pPr>
                <a:r>
                  <a:rPr lang="en-US" altLang="en-US" dirty="0" smtClean="0"/>
                  <a:t> </a:t>
                </a:r>
                <a:r>
                  <a:rPr lang="en-US" altLang="en-US" i="1" dirty="0" smtClean="0"/>
                  <a:t>e</a:t>
                </a:r>
                <a:r>
                  <a:rPr lang="en-US" altLang="en-US" dirty="0" smtClean="0"/>
                  <a:t> is the price elasticity of demand (</a:t>
                </a:r>
                <a:r>
                  <a:rPr lang="en-US" altLang="en-US" i="1" dirty="0" smtClean="0"/>
                  <a:t>e</a:t>
                </a:r>
                <a:r>
                  <a:rPr lang="en-US" altLang="en-US" dirty="0" smtClean="0"/>
                  <a:t> &lt; -1)</a:t>
                </a:r>
              </a:p>
              <a:p>
                <a:pPr lvl="1"/>
                <a:r>
                  <a:rPr lang="en-US" altLang="en-US" dirty="0" smtClean="0"/>
                  <a:t>The competitive price, </a:t>
                </a:r>
                <a:r>
                  <a:rPr lang="en-US" altLang="en-US" i="1" dirty="0" smtClean="0">
                    <a:solidFill>
                      <a:srgbClr val="FF0000"/>
                    </a:solidFill>
                    <a:latin typeface="Times New Roman" panose="02020603050405020304" pitchFamily="18" charset="0"/>
                    <a:cs typeface="Times New Roman" panose="02020603050405020304" pitchFamily="18" charset="0"/>
                  </a:rPr>
                  <a:t>P</a:t>
                </a:r>
                <a:r>
                  <a:rPr lang="en-US" altLang="en-US" i="1" baseline="-25000" dirty="0" smtClean="0">
                    <a:solidFill>
                      <a:srgbClr val="FF0000"/>
                    </a:solidFill>
                    <a:latin typeface="Times New Roman" panose="02020603050405020304" pitchFamily="18" charset="0"/>
                    <a:cs typeface="Times New Roman" panose="02020603050405020304" pitchFamily="18" charset="0"/>
                  </a:rPr>
                  <a:t>c</a:t>
                </a:r>
                <a:r>
                  <a:rPr lang="en-US" altLang="en-US" dirty="0" smtClean="0">
                    <a:solidFill>
                      <a:srgbClr val="FF0000"/>
                    </a:solidFill>
                    <a:latin typeface="Times New Roman" panose="02020603050405020304" pitchFamily="18" charset="0"/>
                    <a:cs typeface="Times New Roman" panose="02020603050405020304" pitchFamily="18" charset="0"/>
                  </a:rPr>
                  <a:t> = </a:t>
                </a:r>
                <a:r>
                  <a:rPr lang="en-US" altLang="en-US" i="1" dirty="0" smtClean="0">
                    <a:solidFill>
                      <a:srgbClr val="FF0000"/>
                    </a:solidFill>
                    <a:latin typeface="Times New Roman" panose="02020603050405020304" pitchFamily="18" charset="0"/>
                    <a:cs typeface="Times New Roman" panose="02020603050405020304" pitchFamily="18" charset="0"/>
                  </a:rPr>
                  <a:t>c</a:t>
                </a:r>
                <a:endParaRPr lang="en-US" altLang="en-US" dirty="0" smtClean="0">
                  <a:solidFill>
                    <a:srgbClr val="FF0000"/>
                  </a:solidFill>
                  <a:latin typeface="Times New Roman" panose="02020603050405020304" pitchFamily="18" charset="0"/>
                  <a:cs typeface="Times New Roman" panose="02020603050405020304" pitchFamily="18" charset="0"/>
                </a:endParaRPr>
              </a:p>
              <a:p>
                <a:pPr lvl="1">
                  <a:lnSpc>
                    <a:spcPct val="120000"/>
                  </a:lnSpc>
                </a:pPr>
                <a:r>
                  <a:rPr lang="en-US" altLang="en-US" dirty="0" smtClean="0"/>
                  <a:t>The monopoly price: </a:t>
                </a:r>
                <a14:m>
                  <m:oMath xmlns:m="http://schemas.openxmlformats.org/officeDocument/2006/math">
                    <m:sSub>
                      <m:sSubPr>
                        <m:ctrlPr>
                          <a:rPr lang="en-US" altLang="en-US" sz="3600" b="0" i="1" smtClean="0">
                            <a:solidFill>
                              <a:srgbClr val="C00000"/>
                            </a:solidFill>
                            <a:latin typeface="Cambria Math"/>
                          </a:rPr>
                        </m:ctrlPr>
                      </m:sSubPr>
                      <m:e>
                        <m:r>
                          <a:rPr lang="en-US" altLang="en-US" sz="3600" b="0" i="1" smtClean="0">
                            <a:solidFill>
                              <a:srgbClr val="C00000"/>
                            </a:solidFill>
                            <a:latin typeface="Cambria Math"/>
                          </a:rPr>
                          <m:t>𝑃</m:t>
                        </m:r>
                      </m:e>
                      <m:sub>
                        <m:r>
                          <a:rPr lang="en-US" altLang="en-US" sz="3600" b="0" i="1" smtClean="0">
                            <a:solidFill>
                              <a:srgbClr val="C00000"/>
                            </a:solidFill>
                            <a:latin typeface="Cambria Math"/>
                          </a:rPr>
                          <m:t>𝑚</m:t>
                        </m:r>
                      </m:sub>
                    </m:sSub>
                    <m:r>
                      <a:rPr lang="en-US" altLang="en-US" sz="3600" b="0" i="1" smtClean="0">
                        <a:solidFill>
                          <a:srgbClr val="C00000"/>
                        </a:solidFill>
                        <a:latin typeface="Cambria Math"/>
                      </a:rPr>
                      <m:t>=</m:t>
                    </m:r>
                    <m:f>
                      <m:fPr>
                        <m:ctrlPr>
                          <a:rPr lang="en-US" altLang="en-US" sz="3600" b="0" i="1" smtClean="0">
                            <a:solidFill>
                              <a:srgbClr val="C00000"/>
                            </a:solidFill>
                            <a:latin typeface="Cambria Math"/>
                          </a:rPr>
                        </m:ctrlPr>
                      </m:fPr>
                      <m:num>
                        <m:r>
                          <a:rPr lang="en-US" altLang="en-US" sz="3600" b="0" i="1" smtClean="0">
                            <a:solidFill>
                              <a:srgbClr val="C00000"/>
                            </a:solidFill>
                            <a:latin typeface="Cambria Math"/>
                          </a:rPr>
                          <m:t>𝑐</m:t>
                        </m:r>
                      </m:num>
                      <m:den>
                        <m:r>
                          <a:rPr lang="en-US" altLang="en-US" sz="3600" b="0" i="1" smtClean="0">
                            <a:solidFill>
                              <a:srgbClr val="C00000"/>
                            </a:solidFill>
                            <a:latin typeface="Cambria Math"/>
                          </a:rPr>
                          <m:t>1+</m:t>
                        </m:r>
                        <m:f>
                          <m:fPr>
                            <m:ctrlPr>
                              <a:rPr lang="en-US" altLang="en-US" sz="3600" b="0" i="1" smtClean="0">
                                <a:solidFill>
                                  <a:srgbClr val="C00000"/>
                                </a:solidFill>
                                <a:latin typeface="Cambria Math"/>
                              </a:rPr>
                            </m:ctrlPr>
                          </m:fPr>
                          <m:num>
                            <m:r>
                              <a:rPr lang="en-US" altLang="en-US" sz="3600" b="0" i="1" smtClean="0">
                                <a:solidFill>
                                  <a:srgbClr val="C00000"/>
                                </a:solidFill>
                                <a:latin typeface="Cambria Math"/>
                              </a:rPr>
                              <m:t>1</m:t>
                            </m:r>
                          </m:num>
                          <m:den>
                            <m:r>
                              <a:rPr lang="en-US" altLang="en-US" sz="3600" b="0" i="1" smtClean="0">
                                <a:solidFill>
                                  <a:srgbClr val="C00000"/>
                                </a:solidFill>
                                <a:latin typeface="Cambria Math"/>
                              </a:rPr>
                              <m:t>𝑒</m:t>
                            </m:r>
                          </m:den>
                        </m:f>
                      </m:den>
                    </m:f>
                  </m:oMath>
                </a14:m>
                <a:endParaRPr lang="en-US" altLang="en-US" dirty="0" smtClean="0"/>
              </a:p>
            </p:txBody>
          </p:sp>
        </mc:Choice>
        <mc:Fallback xmlns="">
          <p:sp>
            <p:nvSpPr>
              <p:cNvPr id="2052" name="Content Placeholder 2"/>
              <p:cNvSpPr>
                <a:spLocks noGrp="1" noRot="1" noChangeAspect="1" noMove="1" noResize="1" noEditPoints="1" noAdjustHandles="1" noChangeArrowheads="1" noChangeShapeType="1" noTextEdit="1"/>
              </p:cNvSpPr>
              <p:nvPr>
                <p:ph type="body" sz="quarter" idx="12"/>
              </p:nvPr>
            </p:nvSpPr>
            <p:spPr>
              <a:prstGeom prst="rect">
                <a:avLst/>
              </a:prstGeom>
              <a:blipFill rotWithShape="1">
                <a:blip r:embed="rId2"/>
                <a:stretch>
                  <a:fillRect l="-1673" t="-1351"/>
                </a:stretch>
              </a:blipFill>
            </p:spPr>
            <p:txBody>
              <a:bodyPr/>
              <a:lstStyle/>
              <a:p>
                <a:r>
                  <a:rPr lang="en-US">
                    <a:noFill/>
                  </a:rPr>
                  <a:t> </a:t>
                </a:r>
              </a:p>
            </p:txBody>
          </p:sp>
        </mc:Fallback>
      </mc:AlternateContent>
    </p:spTree>
    <p:extLst>
      <p:ext uri="{BB962C8B-B14F-4D97-AF65-F5344CB8AC3E}">
        <p14:creationId xmlns:p14="http://schemas.microsoft.com/office/powerpoint/2010/main" val="397965436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7"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14.3 	Welfare Losses and Elasticity</a:t>
            </a:r>
          </a:p>
        </p:txBody>
      </p:sp>
      <p:sp>
        <p:nvSpPr>
          <p:cNvPr id="3080"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4" name="Slide Number Placeholder 3"/>
          <p:cNvSpPr>
            <a:spLocks noGrp="1"/>
          </p:cNvSpPr>
          <p:nvPr>
            <p:ph type="sldNum" sz="quarter" idx="11"/>
          </p:nvPr>
        </p:nvSpPr>
        <p:spPr>
          <a:prstGeom prst="rect">
            <a:avLst/>
          </a:prstGeom>
        </p:spPr>
        <p:txBody>
          <a:bodyPr/>
          <a:lstStyle/>
          <a:p>
            <a:pPr>
              <a:defRPr/>
            </a:pPr>
            <a:fld id="{4E64BC5E-9867-431C-BB86-7A57EC5C2F08}" type="slidenum">
              <a:rPr lang="en-US" smtClean="0"/>
              <a:pPr>
                <a:defRPr/>
              </a:pPr>
              <a:t>23</a:t>
            </a:fld>
            <a:endParaRPr lang="en-US" dirty="0"/>
          </a:p>
        </p:txBody>
      </p:sp>
      <p:sp>
        <p:nvSpPr>
          <p:cNvPr id="3078" name="Content Placeholder 2"/>
          <p:cNvSpPr>
            <a:spLocks noGrp="1"/>
          </p:cNvSpPr>
          <p:nvPr>
            <p:ph type="body" sz="quarter" idx="12"/>
          </p:nvPr>
        </p:nvSpPr>
        <p:spPr>
          <a:prstGeom prst="rect">
            <a:avLst/>
          </a:prstGeom>
        </p:spPr>
        <p:txBody>
          <a:bodyPr/>
          <a:lstStyle/>
          <a:p>
            <a:r>
              <a:rPr lang="en-US" altLang="en-US" sz="3100" dirty="0" smtClean="0"/>
              <a:t>Consumer surplus associated with a price (</a:t>
            </a:r>
            <a:r>
              <a:rPr lang="en-US" altLang="en-US" sz="3100" i="1" dirty="0" smtClean="0"/>
              <a:t>P</a:t>
            </a:r>
            <a:r>
              <a:rPr lang="en-US" altLang="en-US" sz="3100" baseline="-25000" dirty="0" smtClean="0"/>
              <a:t>0</a:t>
            </a:r>
            <a:r>
              <a:rPr lang="en-US" altLang="en-US" sz="3100" dirty="0" smtClean="0"/>
              <a:t>)</a:t>
            </a:r>
          </a:p>
        </p:txBody>
      </p:sp>
      <p:sp>
        <p:nvSpPr>
          <p:cNvPr id="2" name="Text Placeholder 1"/>
          <p:cNvSpPr>
            <a:spLocks noGrp="1"/>
          </p:cNvSpPr>
          <p:nvPr>
            <p:ph type="body" sz="quarter" idx="13"/>
          </p:nvPr>
        </p:nvSpPr>
        <p:spPr>
          <a:xfrm>
            <a:off x="381000" y="2362200"/>
            <a:ext cx="8382000" cy="3810000"/>
          </a:xfrm>
        </p:spPr>
        <p:txBody>
          <a:bodyPr/>
          <a:lstStyle/>
          <a:p>
            <a:pPr lvl="1" eaLnBrk="0" hangingPunct="0">
              <a:buFont typeface="Arial" charset="0"/>
              <a:buChar char="•"/>
              <a:defRPr/>
            </a:pPr>
            <a:r>
              <a:rPr lang="en-US" kern="0" dirty="0"/>
              <a:t>Under perfect </a:t>
            </a:r>
            <a:r>
              <a:rPr lang="en-US" kern="0" dirty="0" smtClean="0"/>
              <a:t>competition:</a:t>
            </a:r>
          </a:p>
          <a:p>
            <a:pPr lvl="1" eaLnBrk="0" hangingPunct="0">
              <a:buFont typeface="Arial" charset="0"/>
              <a:buChar char="•"/>
              <a:defRPr/>
            </a:pPr>
            <a:endParaRPr lang="en-US" kern="0" dirty="0"/>
          </a:p>
          <a:p>
            <a:pPr lvl="1" eaLnBrk="0" hangingPunct="0">
              <a:buFont typeface="Arial" charset="0"/>
              <a:buChar char="•"/>
              <a:defRPr/>
            </a:pPr>
            <a:endParaRPr lang="en-US" kern="0" dirty="0"/>
          </a:p>
          <a:p>
            <a:pPr lvl="1" eaLnBrk="0" hangingPunct="0">
              <a:buFont typeface="Arial" charset="0"/>
              <a:buChar char="•"/>
              <a:defRPr/>
            </a:pPr>
            <a:r>
              <a:rPr lang="en-US" kern="0" dirty="0"/>
              <a:t>Under </a:t>
            </a:r>
            <a:r>
              <a:rPr lang="en-US" kern="0" dirty="0" smtClean="0"/>
              <a:t>monopoly:</a:t>
            </a:r>
            <a:endParaRPr lang="en-US" kern="0" dirty="0"/>
          </a:p>
          <a:p>
            <a:pPr lvl="1"/>
            <a:endParaRPr lang="en-US" dirty="0"/>
          </a:p>
        </p:txBody>
      </p:sp>
      <p:graphicFrame>
        <p:nvGraphicFramePr>
          <p:cNvPr id="1092612" name="Object 2"/>
          <p:cNvGraphicFramePr>
            <a:graphicFrameLocks noChangeAspect="1"/>
          </p:cNvGraphicFramePr>
          <p:nvPr>
            <p:extLst>
              <p:ext uri="{D42A27DB-BD31-4B8C-83A1-F6EECF244321}">
                <p14:modId xmlns:p14="http://schemas.microsoft.com/office/powerpoint/2010/main" val="1383034450"/>
              </p:ext>
            </p:extLst>
          </p:nvPr>
        </p:nvGraphicFramePr>
        <p:xfrm>
          <a:off x="1293813" y="1066800"/>
          <a:ext cx="6556375" cy="1250950"/>
        </p:xfrm>
        <a:graphic>
          <a:graphicData uri="http://schemas.openxmlformats.org/presentationml/2006/ole">
            <mc:AlternateContent xmlns:mc="http://schemas.openxmlformats.org/markup-compatibility/2006">
              <mc:Choice xmlns:v="urn:schemas-microsoft-com:vml" Requires="v">
                <p:oleObj spid="_x0000_s304178" name="Equation" r:id="rId3" imgW="2781000" imgH="533160" progId="Equation.DSMT4">
                  <p:embed/>
                </p:oleObj>
              </mc:Choice>
              <mc:Fallback>
                <p:oleObj name="Equation" r:id="rId3" imgW="2781000" imgH="53316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3813" y="1066800"/>
                        <a:ext cx="6556375" cy="1250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93636" name="Object 2"/>
          <p:cNvGraphicFramePr>
            <a:graphicFrameLocks noChangeAspect="1"/>
          </p:cNvGraphicFramePr>
          <p:nvPr/>
        </p:nvGraphicFramePr>
        <p:xfrm>
          <a:off x="3614738" y="2889250"/>
          <a:ext cx="1916112" cy="987425"/>
        </p:xfrm>
        <a:graphic>
          <a:graphicData uri="http://schemas.openxmlformats.org/presentationml/2006/ole">
            <mc:AlternateContent xmlns:mc="http://schemas.openxmlformats.org/markup-compatibility/2006">
              <mc:Choice xmlns:v="urn:schemas-microsoft-com:vml" Requires="v">
                <p:oleObj spid="_x0000_s304179" name="Equation" r:id="rId5" imgW="812520" imgH="419040" progId="Equation.DSMT4">
                  <p:embed/>
                </p:oleObj>
              </mc:Choice>
              <mc:Fallback>
                <p:oleObj name="Equation" r:id="rId5" imgW="812520" imgH="41904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14738" y="2889250"/>
                        <a:ext cx="1916112" cy="987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93637" name="Object 3"/>
          <p:cNvGraphicFramePr>
            <a:graphicFrameLocks noChangeAspect="1"/>
          </p:cNvGraphicFramePr>
          <p:nvPr/>
        </p:nvGraphicFramePr>
        <p:xfrm>
          <a:off x="3090863" y="4511675"/>
          <a:ext cx="2962275" cy="1582738"/>
        </p:xfrm>
        <a:graphic>
          <a:graphicData uri="http://schemas.openxmlformats.org/presentationml/2006/ole">
            <mc:AlternateContent xmlns:mc="http://schemas.openxmlformats.org/markup-compatibility/2006">
              <mc:Choice xmlns:v="urn:schemas-microsoft-com:vml" Requires="v">
                <p:oleObj spid="_x0000_s304180" name="Equation" r:id="rId7" imgW="1257120" imgH="672840" progId="Equation.DSMT4">
                  <p:embed/>
                </p:oleObj>
              </mc:Choice>
              <mc:Fallback>
                <p:oleObj name="Equation" r:id="rId7" imgW="1257120" imgH="672840"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90863" y="4511675"/>
                        <a:ext cx="2962275" cy="15827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01978671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1092612"/>
                                        </p:tgtEl>
                                        <p:attrNameLst>
                                          <p:attrName>style.visibility</p:attrName>
                                        </p:attrNameLst>
                                      </p:cBhvr>
                                      <p:to>
                                        <p:strVal val="visible"/>
                                      </p:to>
                                    </p:set>
                                    <p:animEffect transition="in" filter="wipe(left)">
                                      <p:cBhvr>
                                        <p:cTn id="7" dur="500"/>
                                        <p:tgtEl>
                                          <p:spTgt spid="109261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animEffect transition="in" filter="wipe(left)">
                                      <p:cBhvr>
                                        <p:cTn id="11" dur="500"/>
                                        <p:tgtEl>
                                          <p:spTgt spid="2">
                                            <p:txEl>
                                              <p:pRg st="0" end="0"/>
                                            </p:txEl>
                                          </p:spTgt>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1093636"/>
                                        </p:tgtEl>
                                        <p:attrNameLst>
                                          <p:attrName>style.visibility</p:attrName>
                                        </p:attrNameLst>
                                      </p:cBhvr>
                                      <p:to>
                                        <p:strVal val="visible"/>
                                      </p:to>
                                    </p:set>
                                    <p:animEffect transition="in" filter="wipe(left)">
                                      <p:cBhvr>
                                        <p:cTn id="15" dur="500"/>
                                        <p:tgtEl>
                                          <p:spTgt spid="1093636"/>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animEffect transition="in" filter="wipe(left)">
                                      <p:cBhvr>
                                        <p:cTn id="19" dur="500"/>
                                        <p:tgtEl>
                                          <p:spTgt spid="2">
                                            <p:txEl>
                                              <p:pRg st="3" end="3"/>
                                            </p:txEl>
                                          </p:spTgt>
                                        </p:tgtEl>
                                      </p:cBhvr>
                                    </p:animEffect>
                                  </p:childTnLst>
                                </p:cTn>
                              </p:par>
                            </p:childTnLst>
                          </p:cTn>
                        </p:par>
                        <p:par>
                          <p:cTn id="20" fill="hold">
                            <p:stCondLst>
                              <p:cond delay="2000"/>
                            </p:stCondLst>
                            <p:childTnLst>
                              <p:par>
                                <p:cTn id="21" presetID="22" presetClass="entr" presetSubtype="8" fill="hold" nodeType="afterEffect">
                                  <p:stCondLst>
                                    <p:cond delay="0"/>
                                  </p:stCondLst>
                                  <p:childTnLst>
                                    <p:set>
                                      <p:cBhvr>
                                        <p:cTn id="22" dur="1" fill="hold">
                                          <p:stCondLst>
                                            <p:cond delay="0"/>
                                          </p:stCondLst>
                                        </p:cTn>
                                        <p:tgtEl>
                                          <p:spTgt spid="1093637"/>
                                        </p:tgtEl>
                                        <p:attrNameLst>
                                          <p:attrName>style.visibility</p:attrName>
                                        </p:attrNameLst>
                                      </p:cBhvr>
                                      <p:to>
                                        <p:strVal val="visible"/>
                                      </p:to>
                                    </p:set>
                                    <p:animEffect transition="in" filter="wipe(left)">
                                      <p:cBhvr>
                                        <p:cTn id="23" dur="500"/>
                                        <p:tgtEl>
                                          <p:spTgt spid="10936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14.3 	Welfare Losses and Elasticity</a:t>
            </a:r>
          </a:p>
        </p:txBody>
      </p:sp>
      <p:sp>
        <p:nvSpPr>
          <p:cNvPr id="4102"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4" name="Slide Number Placeholder 3"/>
          <p:cNvSpPr>
            <a:spLocks noGrp="1"/>
          </p:cNvSpPr>
          <p:nvPr>
            <p:ph type="sldNum" sz="quarter" idx="11"/>
          </p:nvPr>
        </p:nvSpPr>
        <p:spPr>
          <a:prstGeom prst="rect">
            <a:avLst/>
          </a:prstGeom>
        </p:spPr>
        <p:txBody>
          <a:bodyPr/>
          <a:lstStyle/>
          <a:p>
            <a:pPr>
              <a:defRPr/>
            </a:pPr>
            <a:fld id="{9DF1D327-EA3A-4A41-96F8-63C72658BFB2}" type="slidenum">
              <a:rPr lang="en-US" smtClean="0"/>
              <a:pPr>
                <a:defRPr/>
              </a:pPr>
              <a:t>24</a:t>
            </a:fld>
            <a:endParaRPr lang="en-US" dirty="0"/>
          </a:p>
        </p:txBody>
      </p:sp>
      <p:sp>
        <p:nvSpPr>
          <p:cNvPr id="4100" name="Content Placeholder 2"/>
          <p:cNvSpPr>
            <a:spLocks noGrp="1"/>
          </p:cNvSpPr>
          <p:nvPr>
            <p:ph type="body" sz="quarter" idx="12"/>
          </p:nvPr>
        </p:nvSpPr>
        <p:spPr>
          <a:prstGeom prst="rect">
            <a:avLst/>
          </a:prstGeom>
        </p:spPr>
        <p:txBody>
          <a:bodyPr/>
          <a:lstStyle/>
          <a:p>
            <a:r>
              <a:rPr lang="en-US" altLang="en-US" smtClean="0"/>
              <a:t>Consumer surplus ratio</a:t>
            </a:r>
          </a:p>
        </p:txBody>
      </p:sp>
      <p:sp>
        <p:nvSpPr>
          <p:cNvPr id="2" name="Text Placeholder 1"/>
          <p:cNvSpPr>
            <a:spLocks noGrp="1"/>
          </p:cNvSpPr>
          <p:nvPr>
            <p:ph type="body" sz="quarter" idx="13"/>
          </p:nvPr>
        </p:nvSpPr>
        <p:spPr>
          <a:xfrm>
            <a:off x="381000" y="2895600"/>
            <a:ext cx="8382000" cy="3276600"/>
          </a:xfrm>
        </p:spPr>
        <p:txBody>
          <a:bodyPr/>
          <a:lstStyle/>
          <a:p>
            <a:pPr lvl="1" eaLnBrk="0" hangingPunct="0">
              <a:buFontTx/>
              <a:buChar char="•"/>
              <a:defRPr/>
            </a:pPr>
            <a:r>
              <a:rPr lang="en-US" kern="0" dirty="0"/>
              <a:t>If </a:t>
            </a:r>
            <a:r>
              <a:rPr lang="en-US" i="1" kern="0" dirty="0"/>
              <a:t>e</a:t>
            </a:r>
            <a:r>
              <a:rPr lang="en-US" kern="0" dirty="0"/>
              <a:t> = -2, this ratio is ½</a:t>
            </a:r>
          </a:p>
          <a:p>
            <a:pPr lvl="2" eaLnBrk="0" hangingPunct="0">
              <a:buFontTx/>
              <a:buChar char="–"/>
              <a:defRPr/>
            </a:pPr>
            <a:r>
              <a:rPr lang="en-US" sz="2800" kern="0" dirty="0"/>
              <a:t>Consumer surplus under monopoly is half what it is under perfect competition</a:t>
            </a:r>
          </a:p>
          <a:p>
            <a:pPr lvl="1"/>
            <a:endParaRPr lang="en-US" dirty="0"/>
          </a:p>
        </p:txBody>
      </p:sp>
      <p:graphicFrame>
        <p:nvGraphicFramePr>
          <p:cNvPr id="1094661" name="Object 2"/>
          <p:cNvGraphicFramePr>
            <a:graphicFrameLocks noChangeAspect="1"/>
          </p:cNvGraphicFramePr>
          <p:nvPr/>
        </p:nvGraphicFramePr>
        <p:xfrm>
          <a:off x="2225675" y="1241425"/>
          <a:ext cx="2909888" cy="1292225"/>
        </p:xfrm>
        <a:graphic>
          <a:graphicData uri="http://schemas.openxmlformats.org/presentationml/2006/ole">
            <mc:AlternateContent xmlns:mc="http://schemas.openxmlformats.org/markup-compatibility/2006">
              <mc:Choice xmlns:v="urn:schemas-microsoft-com:vml" Requires="v">
                <p:oleObj spid="_x0000_s305168" name="Equation" r:id="rId3" imgW="1143000" imgH="507960" progId="Equation.DSMT4">
                  <p:embed/>
                </p:oleObj>
              </mc:Choice>
              <mc:Fallback>
                <p:oleObj name="Equation" r:id="rId3" imgW="1143000" imgH="50796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25675" y="1241425"/>
                        <a:ext cx="2909888" cy="1292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08939700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1094661"/>
                                        </p:tgtEl>
                                        <p:attrNameLst>
                                          <p:attrName>style.visibility</p:attrName>
                                        </p:attrNameLst>
                                      </p:cBhvr>
                                      <p:to>
                                        <p:strVal val="visible"/>
                                      </p:to>
                                    </p:set>
                                    <p:animEffect transition="in" filter="wipe(left)">
                                      <p:cBhvr>
                                        <p:cTn id="7" dur="500"/>
                                        <p:tgtEl>
                                          <p:spTgt spid="1094661"/>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animEffect transition="in" filter="wipe(left)">
                                      <p:cBhvr>
                                        <p:cTn id="11" dur="500"/>
                                        <p:tgtEl>
                                          <p:spTgt spid="2">
                                            <p:txEl>
                                              <p:pRg st="0" end="0"/>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animEffect transition="in" filter="wipe(left)">
                                      <p:cBhvr>
                                        <p:cTn id="15"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14.3 	Welfare Losses and Elasticity</a:t>
            </a:r>
          </a:p>
        </p:txBody>
      </p:sp>
      <p:sp>
        <p:nvSpPr>
          <p:cNvPr id="5127"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4" name="Slide Number Placeholder 3"/>
          <p:cNvSpPr>
            <a:spLocks noGrp="1"/>
          </p:cNvSpPr>
          <p:nvPr>
            <p:ph type="sldNum" sz="quarter" idx="11"/>
          </p:nvPr>
        </p:nvSpPr>
        <p:spPr>
          <a:prstGeom prst="rect">
            <a:avLst/>
          </a:prstGeom>
        </p:spPr>
        <p:txBody>
          <a:bodyPr/>
          <a:lstStyle/>
          <a:p>
            <a:pPr>
              <a:defRPr/>
            </a:pPr>
            <a:fld id="{389C6EEE-F36B-472D-A22B-B69774D1C0C1}" type="slidenum">
              <a:rPr lang="en-US" smtClean="0"/>
              <a:pPr>
                <a:defRPr/>
              </a:pPr>
              <a:t>25</a:t>
            </a:fld>
            <a:endParaRPr lang="en-US" dirty="0"/>
          </a:p>
        </p:txBody>
      </p:sp>
      <p:sp>
        <p:nvSpPr>
          <p:cNvPr id="5125" name="Content Placeholder 2"/>
          <p:cNvSpPr>
            <a:spLocks noGrp="1"/>
          </p:cNvSpPr>
          <p:nvPr>
            <p:ph type="body" sz="quarter" idx="12"/>
          </p:nvPr>
        </p:nvSpPr>
        <p:spPr>
          <a:prstGeom prst="rect">
            <a:avLst/>
          </a:prstGeom>
        </p:spPr>
        <p:txBody>
          <a:bodyPr/>
          <a:lstStyle/>
          <a:p>
            <a:r>
              <a:rPr lang="en-US" altLang="en-US" smtClean="0"/>
              <a:t>Monopoly profits</a:t>
            </a:r>
            <a:endParaRPr lang="en-US" altLang="en-US" smtClean="0">
              <a:solidFill>
                <a:srgbClr val="394DA3"/>
              </a:solidFill>
            </a:endParaRPr>
          </a:p>
        </p:txBody>
      </p:sp>
      <p:sp>
        <p:nvSpPr>
          <p:cNvPr id="2" name="Text Placeholder 1"/>
          <p:cNvSpPr>
            <a:spLocks noGrp="1"/>
          </p:cNvSpPr>
          <p:nvPr>
            <p:ph type="body" sz="quarter" idx="13"/>
          </p:nvPr>
        </p:nvSpPr>
        <p:spPr>
          <a:xfrm>
            <a:off x="381000" y="2438400"/>
            <a:ext cx="8382000" cy="3733800"/>
          </a:xfrm>
        </p:spPr>
        <p:txBody>
          <a:bodyPr/>
          <a:lstStyle/>
          <a:p>
            <a:pPr eaLnBrk="0" hangingPunct="0">
              <a:buFont typeface="Arial" charset="0"/>
              <a:buChar char="•"/>
              <a:defRPr/>
            </a:pPr>
            <a:r>
              <a:rPr lang="en-US" kern="0" dirty="0">
                <a:solidFill>
                  <a:srgbClr val="002D56"/>
                </a:solidFill>
              </a:rPr>
              <a:t>Transfer from consumer surplus into monopoly </a:t>
            </a:r>
            <a:r>
              <a:rPr lang="en-US" kern="0" dirty="0" smtClean="0">
                <a:solidFill>
                  <a:srgbClr val="002D56"/>
                </a:solidFill>
              </a:rPr>
              <a:t>profits:</a:t>
            </a:r>
          </a:p>
          <a:p>
            <a:pPr eaLnBrk="0" hangingPunct="0">
              <a:buFont typeface="Arial" charset="0"/>
              <a:buChar char="•"/>
              <a:defRPr/>
            </a:pPr>
            <a:endParaRPr lang="en-US" kern="0" dirty="0">
              <a:solidFill>
                <a:srgbClr val="002D56"/>
              </a:solidFill>
            </a:endParaRPr>
          </a:p>
          <a:p>
            <a:pPr eaLnBrk="0" hangingPunct="0">
              <a:buFont typeface="Arial" charset="0"/>
              <a:buChar char="•"/>
              <a:defRPr/>
            </a:pPr>
            <a:endParaRPr lang="en-US" kern="0" dirty="0">
              <a:solidFill>
                <a:srgbClr val="002D56"/>
              </a:solidFill>
            </a:endParaRPr>
          </a:p>
          <a:p>
            <a:pPr marL="800100" lvl="1" indent="-342900" eaLnBrk="0" hangingPunct="0">
              <a:buFont typeface="Arial" charset="0"/>
              <a:buChar char="•"/>
              <a:defRPr/>
            </a:pPr>
            <a:r>
              <a:rPr lang="en-US" sz="3200" kern="0" dirty="0"/>
              <a:t>If </a:t>
            </a:r>
            <a:r>
              <a:rPr lang="en-US" sz="3200" i="1" kern="0" dirty="0"/>
              <a:t>e</a:t>
            </a:r>
            <a:r>
              <a:rPr lang="en-US" sz="3200" kern="0" dirty="0"/>
              <a:t> = -2, this ratio is ¼</a:t>
            </a:r>
          </a:p>
          <a:p>
            <a:endParaRPr lang="en-US" dirty="0"/>
          </a:p>
        </p:txBody>
      </p:sp>
      <p:graphicFrame>
        <p:nvGraphicFramePr>
          <p:cNvPr id="1095684" name="Object 2"/>
          <p:cNvGraphicFramePr>
            <a:graphicFrameLocks noChangeAspect="1"/>
          </p:cNvGraphicFramePr>
          <p:nvPr/>
        </p:nvGraphicFramePr>
        <p:xfrm>
          <a:off x="2012950" y="1120775"/>
          <a:ext cx="5119688" cy="1193800"/>
        </p:xfrm>
        <a:graphic>
          <a:graphicData uri="http://schemas.openxmlformats.org/presentationml/2006/ole">
            <mc:AlternateContent xmlns:mc="http://schemas.openxmlformats.org/markup-compatibility/2006">
              <mc:Choice xmlns:v="urn:schemas-microsoft-com:vml" Requires="v">
                <p:oleObj spid="_x0000_s306206" name="Equation" r:id="rId3" imgW="2171520" imgH="507960" progId="Equation.DSMT4">
                  <p:embed/>
                </p:oleObj>
              </mc:Choice>
              <mc:Fallback>
                <p:oleObj name="Equation" r:id="rId3" imgW="2171520" imgH="50796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12950" y="1120775"/>
                        <a:ext cx="5119688" cy="1193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96709" name="Object 2"/>
          <p:cNvGraphicFramePr>
            <a:graphicFrameLocks noChangeAspect="1"/>
          </p:cNvGraphicFramePr>
          <p:nvPr/>
        </p:nvGraphicFramePr>
        <p:xfrm>
          <a:off x="1554163" y="3481388"/>
          <a:ext cx="5180012" cy="1193800"/>
        </p:xfrm>
        <a:graphic>
          <a:graphicData uri="http://schemas.openxmlformats.org/presentationml/2006/ole">
            <mc:AlternateContent xmlns:mc="http://schemas.openxmlformats.org/markup-compatibility/2006">
              <mc:Choice xmlns:v="urn:schemas-microsoft-com:vml" Requires="v">
                <p:oleObj spid="_x0000_s306207" name="Equation" r:id="rId5" imgW="2197080" imgH="507960" progId="Equation.DSMT4">
                  <p:embed/>
                </p:oleObj>
              </mc:Choice>
              <mc:Fallback>
                <p:oleObj name="Equation" r:id="rId5" imgW="2197080" imgH="50796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54163" y="3481388"/>
                        <a:ext cx="5180012" cy="1193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95200045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1095684"/>
                                        </p:tgtEl>
                                        <p:attrNameLst>
                                          <p:attrName>style.visibility</p:attrName>
                                        </p:attrNameLst>
                                      </p:cBhvr>
                                      <p:to>
                                        <p:strVal val="visible"/>
                                      </p:to>
                                    </p:set>
                                    <p:animEffect transition="in" filter="wipe(left)">
                                      <p:cBhvr>
                                        <p:cTn id="7" dur="500"/>
                                        <p:tgtEl>
                                          <p:spTgt spid="1095684"/>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animEffect transition="in" filter="wipe(left)">
                                      <p:cBhvr>
                                        <p:cTn id="11" dur="500"/>
                                        <p:tgtEl>
                                          <p:spTgt spid="2">
                                            <p:txEl>
                                              <p:pRg st="0" end="0"/>
                                            </p:txEl>
                                          </p:spTgt>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1096709"/>
                                        </p:tgtEl>
                                        <p:attrNameLst>
                                          <p:attrName>style.visibility</p:attrName>
                                        </p:attrNameLst>
                                      </p:cBhvr>
                                      <p:to>
                                        <p:strVal val="visible"/>
                                      </p:to>
                                    </p:set>
                                    <p:animEffect transition="in" filter="wipe(left)">
                                      <p:cBhvr>
                                        <p:cTn id="15" dur="500"/>
                                        <p:tgtEl>
                                          <p:spTgt spid="1096709"/>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animEffect transition="in" filter="wipe(left)">
                                      <p:cBhvr>
                                        <p:cTn id="19"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0"/>
            <a:ext cx="8839200" cy="1143000"/>
          </a:xfrm>
        </p:spPr>
        <p:txBody>
          <a:bodyPr>
            <a:normAutofit/>
          </a:bodyPr>
          <a:lstStyle/>
          <a:p>
            <a:r>
              <a:rPr lang="en-US" sz="3800" dirty="0" smtClean="0"/>
              <a:t>Comparative Statics Analysis Of Monopoly</a:t>
            </a:r>
            <a:endParaRPr lang="en-US" sz="3800" dirty="0"/>
          </a:p>
        </p:txBody>
      </p:sp>
      <p:sp>
        <p:nvSpPr>
          <p:cNvPr id="3" name="Content Placeholder 2"/>
          <p:cNvSpPr>
            <a:spLocks noGrp="1"/>
          </p:cNvSpPr>
          <p:nvPr>
            <p:ph idx="1"/>
          </p:nvPr>
        </p:nvSpPr>
        <p:spPr/>
        <p:txBody>
          <a:bodyPr/>
          <a:lstStyle/>
          <a:p>
            <a:r>
              <a:rPr lang="en-US" dirty="0" smtClean="0"/>
              <a:t>Prove that </a:t>
            </a:r>
            <a:r>
              <a:rPr lang="en-US" dirty="0"/>
              <a:t>a monopolist reduces its output in response to an upward shift in its </a:t>
            </a:r>
            <a:r>
              <a:rPr lang="en-US" dirty="0" smtClean="0"/>
              <a:t>MC curve</a:t>
            </a:r>
          </a:p>
          <a:p>
            <a:pPr lvl="1"/>
            <a:r>
              <a:rPr lang="en-US" dirty="0" smtClean="0"/>
              <a:t>Marginal cost: </a:t>
            </a:r>
            <a:r>
              <a:rPr lang="en-US" i="1" dirty="0" smtClean="0">
                <a:latin typeface="Times New Roman" panose="02020603050405020304" pitchFamily="18" charset="0"/>
                <a:cs typeface="Times New Roman" panose="02020603050405020304" pitchFamily="18" charset="0"/>
              </a:rPr>
              <a:t>MC(Q,</a:t>
            </a:r>
            <a:r>
              <a:rPr lang="el-GR" i="1" dirty="0" smtClean="0">
                <a:latin typeface="Times New Roman" panose="02020603050405020304" pitchFamily="18" charset="0"/>
                <a:cs typeface="Times New Roman" panose="02020603050405020304" pitchFamily="18" charset="0"/>
              </a:rPr>
              <a:t>γ</a:t>
            </a:r>
            <a:r>
              <a:rPr lang="en-US" i="1" dirty="0" smtClean="0">
                <a:latin typeface="Times New Roman" panose="02020603050405020304" pitchFamily="18" charset="0"/>
                <a:cs typeface="Times New Roman" panose="02020603050405020304" pitchFamily="18" charset="0"/>
              </a:rPr>
              <a:t>)</a:t>
            </a:r>
          </a:p>
          <a:p>
            <a:pPr lvl="2"/>
            <a:r>
              <a:rPr lang="en-US" dirty="0" smtClean="0"/>
              <a:t>Where </a:t>
            </a:r>
            <a:r>
              <a:rPr lang="el-GR" i="1" dirty="0" smtClean="0">
                <a:latin typeface="Times New Roman" panose="02020603050405020304" pitchFamily="18" charset="0"/>
                <a:cs typeface="Times New Roman" panose="02020603050405020304" pitchFamily="18" charset="0"/>
              </a:rPr>
              <a:t>γ</a:t>
            </a:r>
            <a:r>
              <a:rPr lang="en-US" dirty="0" smtClean="0"/>
              <a:t> is some factor shifting the curve up: </a:t>
            </a:r>
            <a:r>
              <a:rPr lang="en-US" i="1" dirty="0" smtClean="0">
                <a:latin typeface="Times New Roman" panose="02020603050405020304" pitchFamily="18" charset="0"/>
                <a:cs typeface="Times New Roman" panose="02020603050405020304" pitchFamily="18" charset="0"/>
              </a:rPr>
              <a:t>∂MC/∂</a:t>
            </a:r>
            <a:r>
              <a:rPr lang="el-GR" i="1" dirty="0" smtClean="0">
                <a:latin typeface="Times New Roman" panose="02020603050405020304" pitchFamily="18" charset="0"/>
                <a:cs typeface="Times New Roman" panose="02020603050405020304" pitchFamily="18" charset="0"/>
              </a:rPr>
              <a:t>γ</a:t>
            </a:r>
            <a:r>
              <a:rPr lang="en-US" i="1" dirty="0" smtClean="0">
                <a:latin typeface="Times New Roman" panose="02020603050405020304" pitchFamily="18" charset="0"/>
                <a:cs typeface="Times New Roman" panose="02020603050405020304" pitchFamily="18" charset="0"/>
              </a:rPr>
              <a:t>&gt;0</a:t>
            </a:r>
          </a:p>
          <a:p>
            <a:pPr lvl="1"/>
            <a:r>
              <a:rPr lang="en-US" dirty="0" smtClean="0"/>
              <a:t>First-order condition: </a:t>
            </a:r>
            <a:r>
              <a:rPr lang="en-US" i="1" dirty="0" smtClean="0">
                <a:latin typeface="Times New Roman" panose="02020603050405020304" pitchFamily="18" charset="0"/>
                <a:cs typeface="Times New Roman" panose="02020603050405020304" pitchFamily="18" charset="0"/>
              </a:rPr>
              <a:t>MR(Q) – MC(Q,</a:t>
            </a:r>
            <a:r>
              <a:rPr lang="el-GR" i="1" dirty="0" smtClean="0">
                <a:latin typeface="Times New Roman" panose="02020603050405020304" pitchFamily="18" charset="0"/>
                <a:cs typeface="Times New Roman" panose="02020603050405020304" pitchFamily="18" charset="0"/>
              </a:rPr>
              <a:t>γ</a:t>
            </a:r>
            <a:r>
              <a:rPr lang="en-US" i="1" dirty="0" smtClean="0">
                <a:latin typeface="Times New Roman" panose="02020603050405020304" pitchFamily="18" charset="0"/>
                <a:cs typeface="Times New Roman" panose="02020603050405020304" pitchFamily="18" charset="0"/>
              </a:rPr>
              <a:t>)=0</a:t>
            </a:r>
          </a:p>
          <a:p>
            <a:pPr lvl="1"/>
            <a:r>
              <a:rPr lang="en-US" dirty="0" smtClean="0"/>
              <a:t>Total differentiating:</a:t>
            </a:r>
            <a:endParaRPr lang="en-US" dirty="0"/>
          </a:p>
        </p:txBody>
      </p:sp>
      <p:sp>
        <p:nvSpPr>
          <p:cNvPr id="4" name="Footer Placeholder 3"/>
          <p:cNvSpPr>
            <a:spLocks noGrp="1"/>
          </p:cNvSpPr>
          <p:nvPr>
            <p:ph type="ftr" sz="quarter" idx="10"/>
          </p:nvPr>
        </p:nvSpPr>
        <p:spPr/>
        <p:txBody>
          <a:body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5" name="Slide Number Placeholder 4"/>
          <p:cNvSpPr>
            <a:spLocks noGrp="1"/>
          </p:cNvSpPr>
          <p:nvPr>
            <p:ph type="sldNum" sz="quarter" idx="11"/>
          </p:nvPr>
        </p:nvSpPr>
        <p:spPr/>
        <p:txBody>
          <a:bodyPr/>
          <a:lstStyle/>
          <a:p>
            <a:fld id="{720B335A-255B-4303-A333-FBB711D61B6F}" type="slidenum">
              <a:rPr lang="en-US" smtClean="0"/>
              <a:t>26</a:t>
            </a:fld>
            <a:endParaRPr lang="en-US"/>
          </a:p>
        </p:txBody>
      </p:sp>
      <p:graphicFrame>
        <p:nvGraphicFramePr>
          <p:cNvPr id="6" name="Object 5"/>
          <p:cNvGraphicFramePr>
            <a:graphicFrameLocks noChangeAspect="1"/>
          </p:cNvGraphicFramePr>
          <p:nvPr>
            <p:extLst>
              <p:ext uri="{D42A27DB-BD31-4B8C-83A1-F6EECF244321}">
                <p14:modId xmlns:p14="http://schemas.microsoft.com/office/powerpoint/2010/main" val="1233093322"/>
              </p:ext>
            </p:extLst>
          </p:nvPr>
        </p:nvGraphicFramePr>
        <p:xfrm>
          <a:off x="1143000" y="5105400"/>
          <a:ext cx="6521824" cy="1143000"/>
        </p:xfrm>
        <a:graphic>
          <a:graphicData uri="http://schemas.openxmlformats.org/presentationml/2006/ole">
            <mc:AlternateContent xmlns:mc="http://schemas.openxmlformats.org/markup-compatibility/2006">
              <mc:Choice xmlns:v="urn:schemas-microsoft-com:vml" Requires="v">
                <p:oleObj spid="_x0000_s316428" name="Equation" r:id="rId3" imgW="2463480" imgH="431640" progId="Equation.DSMT4">
                  <p:embed/>
                </p:oleObj>
              </mc:Choice>
              <mc:Fallback>
                <p:oleObj name="Equation" r:id="rId3" imgW="2463480" imgH="431640" progId="Equation.DSMT4">
                  <p:embed/>
                  <p:pic>
                    <p:nvPicPr>
                      <p:cNvPr id="0" name=""/>
                      <p:cNvPicPr/>
                      <p:nvPr/>
                    </p:nvPicPr>
                    <p:blipFill>
                      <a:blip r:embed="rId4"/>
                      <a:stretch>
                        <a:fillRect/>
                      </a:stretch>
                    </p:blipFill>
                    <p:spPr>
                      <a:xfrm>
                        <a:off x="1143000" y="5105400"/>
                        <a:ext cx="6521824" cy="1143000"/>
                      </a:xfrm>
                      <a:prstGeom prst="rect">
                        <a:avLst/>
                      </a:prstGeom>
                    </p:spPr>
                  </p:pic>
                </p:oleObj>
              </mc:Fallback>
            </mc:AlternateContent>
          </a:graphicData>
        </a:graphic>
      </p:graphicFrame>
    </p:spTree>
    <p:extLst>
      <p:ext uri="{BB962C8B-B14F-4D97-AF65-F5344CB8AC3E}">
        <p14:creationId xmlns:p14="http://schemas.microsoft.com/office/powerpoint/2010/main" val="2588187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800" dirty="0" smtClean="0"/>
              <a:t>Comparative Statics Analysis Of Monopoly</a:t>
            </a:r>
            <a:endParaRPr lang="en-US" sz="3800" dirty="0"/>
          </a:p>
        </p:txBody>
      </p:sp>
      <p:sp>
        <p:nvSpPr>
          <p:cNvPr id="3" name="Content Placeholder 2"/>
          <p:cNvSpPr>
            <a:spLocks noGrp="1"/>
          </p:cNvSpPr>
          <p:nvPr>
            <p:ph idx="1"/>
          </p:nvPr>
        </p:nvSpPr>
        <p:spPr/>
        <p:txBody>
          <a:bodyPr/>
          <a:lstStyle/>
          <a:p>
            <a:pPr lvl="1"/>
            <a:r>
              <a:rPr lang="en-US" dirty="0" smtClean="0"/>
              <a:t>Solving: </a:t>
            </a:r>
          </a:p>
        </p:txBody>
      </p:sp>
      <p:sp>
        <p:nvSpPr>
          <p:cNvPr id="4" name="Footer Placeholder 3"/>
          <p:cNvSpPr>
            <a:spLocks noGrp="1"/>
          </p:cNvSpPr>
          <p:nvPr>
            <p:ph type="ftr" sz="quarter" idx="10"/>
          </p:nvPr>
        </p:nvSpPr>
        <p:spPr/>
        <p:txBody>
          <a:body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5" name="Slide Number Placeholder 4"/>
          <p:cNvSpPr>
            <a:spLocks noGrp="1"/>
          </p:cNvSpPr>
          <p:nvPr>
            <p:ph type="sldNum" sz="quarter" idx="11"/>
          </p:nvPr>
        </p:nvSpPr>
        <p:spPr/>
        <p:txBody>
          <a:bodyPr/>
          <a:lstStyle/>
          <a:p>
            <a:fld id="{720B335A-255B-4303-A333-FBB711D61B6F}" type="slidenum">
              <a:rPr lang="en-US" smtClean="0"/>
              <a:t>27</a:t>
            </a:fld>
            <a:endParaRPr lang="en-US"/>
          </a:p>
        </p:txBody>
      </p:sp>
      <p:sp>
        <p:nvSpPr>
          <p:cNvPr id="7" name="Text Placeholder 6"/>
          <p:cNvSpPr>
            <a:spLocks noGrp="1"/>
          </p:cNvSpPr>
          <p:nvPr>
            <p:ph type="body" sz="quarter" idx="12"/>
          </p:nvPr>
        </p:nvSpPr>
        <p:spPr>
          <a:xfrm>
            <a:off x="381000" y="3200400"/>
            <a:ext cx="8534400" cy="3048000"/>
          </a:xfrm>
        </p:spPr>
        <p:txBody>
          <a:bodyPr/>
          <a:lstStyle/>
          <a:p>
            <a:pPr lvl="1"/>
            <a:r>
              <a:rPr lang="en-US" dirty="0" smtClean="0"/>
              <a:t>An </a:t>
            </a:r>
            <a:r>
              <a:rPr lang="en-US" dirty="0"/>
              <a:t>increase in the marginal cost shifter reduces monopoly </a:t>
            </a:r>
            <a:r>
              <a:rPr lang="en-US" dirty="0" smtClean="0"/>
              <a:t>output: </a:t>
            </a:r>
            <a:r>
              <a:rPr lang="en-US" i="1" dirty="0" err="1" smtClean="0">
                <a:latin typeface="Times New Roman" panose="02020603050405020304" pitchFamily="18" charset="0"/>
                <a:cs typeface="Times New Roman" panose="02020603050405020304" pitchFamily="18" charset="0"/>
              </a:rPr>
              <a:t>dQ</a:t>
            </a:r>
            <a:r>
              <a:rPr lang="en-US" i="1" baseline="-25000" dirty="0" err="1" smtClean="0">
                <a:latin typeface="Times New Roman" panose="02020603050405020304" pitchFamily="18" charset="0"/>
                <a:cs typeface="Times New Roman" panose="02020603050405020304" pitchFamily="18" charset="0"/>
              </a:rPr>
              <a:t>m</a:t>
            </a:r>
            <a:r>
              <a:rPr lang="en-US" i="1" dirty="0" smtClean="0">
                <a:latin typeface="Times New Roman" panose="02020603050405020304" pitchFamily="18" charset="0"/>
                <a:cs typeface="Times New Roman" panose="02020603050405020304" pitchFamily="18" charset="0"/>
              </a:rPr>
              <a:t>/d</a:t>
            </a:r>
            <a:r>
              <a:rPr lang="el-GR" i="1" dirty="0" smtClean="0">
                <a:latin typeface="Times New Roman" panose="02020603050405020304" pitchFamily="18" charset="0"/>
                <a:cs typeface="Times New Roman" panose="02020603050405020304" pitchFamily="18" charset="0"/>
              </a:rPr>
              <a:t>γ</a:t>
            </a:r>
            <a:r>
              <a:rPr lang="en-US" i="1" dirty="0" smtClean="0">
                <a:latin typeface="Times New Roman" panose="02020603050405020304" pitchFamily="18" charset="0"/>
                <a:cs typeface="Times New Roman" panose="02020603050405020304" pitchFamily="18" charset="0"/>
              </a:rPr>
              <a:t> &lt; 0</a:t>
            </a:r>
            <a:endParaRPr lang="en-US" i="1" dirty="0">
              <a:latin typeface="Times New Roman" panose="02020603050405020304" pitchFamily="18" charset="0"/>
              <a:cs typeface="Times New Roman" panose="02020603050405020304" pitchFamily="18" charset="0"/>
            </a:endParaRPr>
          </a:p>
        </p:txBody>
      </p:sp>
      <p:graphicFrame>
        <p:nvGraphicFramePr>
          <p:cNvPr id="6" name="Object 5"/>
          <p:cNvGraphicFramePr>
            <a:graphicFrameLocks noChangeAspect="1"/>
          </p:cNvGraphicFramePr>
          <p:nvPr>
            <p:extLst>
              <p:ext uri="{D42A27DB-BD31-4B8C-83A1-F6EECF244321}">
                <p14:modId xmlns:p14="http://schemas.microsoft.com/office/powerpoint/2010/main" val="1560278739"/>
              </p:ext>
            </p:extLst>
          </p:nvPr>
        </p:nvGraphicFramePr>
        <p:xfrm>
          <a:off x="1701800" y="1981200"/>
          <a:ext cx="4640263" cy="1143000"/>
        </p:xfrm>
        <a:graphic>
          <a:graphicData uri="http://schemas.openxmlformats.org/presentationml/2006/ole">
            <mc:AlternateContent xmlns:mc="http://schemas.openxmlformats.org/markup-compatibility/2006">
              <mc:Choice xmlns:v="urn:schemas-microsoft-com:vml" Requires="v">
                <p:oleObj spid="_x0000_s317468" name="Equation" r:id="rId3" imgW="1752480" imgH="431640" progId="Equation.DSMT4">
                  <p:embed/>
                </p:oleObj>
              </mc:Choice>
              <mc:Fallback>
                <p:oleObj name="Equation" r:id="rId3" imgW="1752480" imgH="431640" progId="Equation.DSMT4">
                  <p:embed/>
                  <p:pic>
                    <p:nvPicPr>
                      <p:cNvPr id="0" name="Object 5"/>
                      <p:cNvPicPr>
                        <a:picLocks noChangeAspect="1" noChangeArrowheads="1"/>
                      </p:cNvPicPr>
                      <p:nvPr/>
                    </p:nvPicPr>
                    <p:blipFill>
                      <a:blip r:embed="rId4"/>
                      <a:srcRect/>
                      <a:stretch>
                        <a:fillRect/>
                      </a:stretch>
                    </p:blipFill>
                    <p:spPr bwMode="auto">
                      <a:xfrm>
                        <a:off x="1701800" y="1981200"/>
                        <a:ext cx="464026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3805693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animEffect transition="in" filter="wipe(left)">
                                      <p:cBhvr>
                                        <p:cTn id="11"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r>
              <a:rPr lang="en-US" altLang="en-US" dirty="0" smtClean="0"/>
              <a:t>Monopoly Product Quality</a:t>
            </a:r>
          </a:p>
        </p:txBody>
      </p:sp>
      <p:sp>
        <p:nvSpPr>
          <p:cNvPr id="43011" name="Rectangle 3"/>
          <p:cNvSpPr>
            <a:spLocks noGrp="1" noChangeArrowheads="1"/>
          </p:cNvSpPr>
          <p:nvPr>
            <p:ph idx="1"/>
          </p:nvPr>
        </p:nvSpPr>
        <p:spPr/>
        <p:txBody>
          <a:bodyPr/>
          <a:lstStyle/>
          <a:p>
            <a:r>
              <a:rPr lang="en-US" altLang="en-US" smtClean="0"/>
              <a:t>Market power </a:t>
            </a:r>
          </a:p>
          <a:p>
            <a:pPr lvl="1"/>
            <a:r>
              <a:rPr lang="en-US" altLang="en-US" smtClean="0"/>
              <a:t>May be exercised along dimensions other than the market price</a:t>
            </a:r>
          </a:p>
          <a:p>
            <a:pPr lvl="1"/>
            <a:r>
              <a:rPr lang="en-US" altLang="en-US" smtClean="0"/>
              <a:t>Type, quality, or diversity of goods</a:t>
            </a:r>
          </a:p>
          <a:p>
            <a:r>
              <a:rPr lang="en-US" altLang="en-US" smtClean="0"/>
              <a:t>Higher-quality or lower-quality than competitive firms?</a:t>
            </a:r>
          </a:p>
          <a:p>
            <a:pPr lvl="1"/>
            <a:r>
              <a:rPr lang="en-US" altLang="en-US" smtClean="0"/>
              <a:t>Depends on demand and the firm’s costs</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488B40C6-AFCB-4901-96B4-C67D12CFB648}" type="slidenum">
              <a:rPr lang="en-US" smtClean="0"/>
              <a:pPr>
                <a:defRPr/>
              </a:pPr>
              <a:t>28</a:t>
            </a:fld>
            <a:endParaRPr lang="en-US"/>
          </a:p>
        </p:txBody>
      </p:sp>
    </p:spTree>
    <p:extLst>
      <p:ext uri="{BB962C8B-B14F-4D97-AF65-F5344CB8AC3E}">
        <p14:creationId xmlns:p14="http://schemas.microsoft.com/office/powerpoint/2010/main" val="2474209402"/>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p:cNvSpPr>
            <a:spLocks noGrp="1"/>
          </p:cNvSpPr>
          <p:nvPr>
            <p:ph type="title"/>
          </p:nvPr>
        </p:nvSpPr>
        <p:spPr/>
        <p:txBody>
          <a:bodyPr/>
          <a:lstStyle/>
          <a:p>
            <a:r>
              <a:rPr lang="en-US" altLang="en-US" dirty="0"/>
              <a:t>Monopoly Product Quality</a:t>
            </a:r>
            <a:endParaRPr lang="en-US" altLang="en-US" dirty="0" smtClean="0"/>
          </a:p>
        </p:txBody>
      </p:sp>
      <p:sp>
        <p:nvSpPr>
          <p:cNvPr id="44035" name="Content Placeholder 2"/>
          <p:cNvSpPr>
            <a:spLocks noGrp="1"/>
          </p:cNvSpPr>
          <p:nvPr>
            <p:ph idx="1"/>
          </p:nvPr>
        </p:nvSpPr>
        <p:spPr/>
        <p:txBody>
          <a:bodyPr/>
          <a:lstStyle/>
          <a:p>
            <a:r>
              <a:rPr lang="en-US" altLang="en-US" dirty="0" smtClean="0"/>
              <a:t>Consumers’ willingness to pay for a good of quality </a:t>
            </a:r>
            <a:r>
              <a:rPr lang="en-US" altLang="en-US" i="1" dirty="0" smtClean="0"/>
              <a:t>X</a:t>
            </a:r>
            <a:r>
              <a:rPr lang="en-US" altLang="en-US" dirty="0" smtClean="0"/>
              <a:t> </a:t>
            </a:r>
          </a:p>
          <a:p>
            <a:pPr lvl="1"/>
            <a:r>
              <a:rPr lang="en-US" altLang="en-US" dirty="0" smtClean="0"/>
              <a:t>Given by the inverse demand function </a:t>
            </a:r>
            <a:r>
              <a:rPr lang="en-US" altLang="en-US" sz="2800" i="1" dirty="0" smtClean="0">
                <a:latin typeface="Times New Roman" panose="02020603050405020304" pitchFamily="18" charset="0"/>
                <a:cs typeface="Times New Roman" panose="02020603050405020304" pitchFamily="18" charset="0"/>
              </a:rPr>
              <a:t>P</a:t>
            </a:r>
            <a:r>
              <a:rPr lang="en-US" altLang="en-US" sz="2800" dirty="0" smtClean="0">
                <a:latin typeface="Times New Roman" panose="02020603050405020304" pitchFamily="18" charset="0"/>
                <a:cs typeface="Times New Roman" panose="02020603050405020304" pitchFamily="18" charset="0"/>
              </a:rPr>
              <a:t>(</a:t>
            </a:r>
            <a:r>
              <a:rPr lang="en-US" altLang="en-US" sz="2800" i="1" dirty="0" smtClean="0">
                <a:latin typeface="Times New Roman" panose="02020603050405020304" pitchFamily="18" charset="0"/>
                <a:cs typeface="Times New Roman" panose="02020603050405020304" pitchFamily="18" charset="0"/>
              </a:rPr>
              <a:t>Q</a:t>
            </a:r>
            <a:r>
              <a:rPr lang="en-US" altLang="en-US" sz="2800" dirty="0" smtClean="0">
                <a:latin typeface="Times New Roman" panose="02020603050405020304" pitchFamily="18" charset="0"/>
                <a:cs typeface="Times New Roman" panose="02020603050405020304" pitchFamily="18" charset="0"/>
              </a:rPr>
              <a:t>,</a:t>
            </a:r>
            <a:r>
              <a:rPr lang="en-US" altLang="en-US" sz="2800" i="1" dirty="0" smtClean="0">
                <a:latin typeface="Times New Roman" panose="02020603050405020304" pitchFamily="18" charset="0"/>
                <a:cs typeface="Times New Roman" panose="02020603050405020304" pitchFamily="18" charset="0"/>
              </a:rPr>
              <a:t>X</a:t>
            </a:r>
            <a:r>
              <a:rPr lang="en-US" altLang="en-US" sz="2800" dirty="0" smtClean="0">
                <a:latin typeface="Times New Roman" panose="02020603050405020304" pitchFamily="18" charset="0"/>
                <a:cs typeface="Times New Roman" panose="02020603050405020304" pitchFamily="18" charset="0"/>
              </a:rPr>
              <a:t>)</a:t>
            </a:r>
            <a:r>
              <a:rPr lang="en-US" altLang="en-US" dirty="0" smtClean="0"/>
              <a:t> where </a:t>
            </a:r>
            <a:r>
              <a:rPr lang="en-US" altLang="en-US" sz="3200" dirty="0" smtClean="0">
                <a:solidFill>
                  <a:srgbClr val="FF0000"/>
                </a:solidFill>
                <a:latin typeface="Times New Roman" panose="02020603050405020304" pitchFamily="18" charset="0"/>
                <a:cs typeface="Times New Roman" panose="02020603050405020304" pitchFamily="18" charset="0"/>
                <a:sym typeface="Symbol" pitchFamily="18" charset="2"/>
              </a:rPr>
              <a:t></a:t>
            </a:r>
            <a:r>
              <a:rPr lang="en-US" altLang="en-US" sz="3200" i="1" dirty="0" smtClean="0">
                <a:solidFill>
                  <a:srgbClr val="FF0000"/>
                </a:solidFill>
                <a:latin typeface="Times New Roman" panose="02020603050405020304" pitchFamily="18" charset="0"/>
                <a:cs typeface="Times New Roman" panose="02020603050405020304" pitchFamily="18" charset="0"/>
                <a:sym typeface="Symbol" pitchFamily="18" charset="2"/>
              </a:rPr>
              <a:t>P</a:t>
            </a:r>
            <a:r>
              <a:rPr lang="en-US" altLang="en-US" sz="3200" dirty="0" smtClean="0">
                <a:solidFill>
                  <a:srgbClr val="FF0000"/>
                </a:solidFill>
                <a:latin typeface="Times New Roman" panose="02020603050405020304" pitchFamily="18" charset="0"/>
                <a:cs typeface="Times New Roman" panose="02020603050405020304" pitchFamily="18" charset="0"/>
                <a:sym typeface="Symbol" pitchFamily="18" charset="2"/>
              </a:rPr>
              <a:t>/</a:t>
            </a:r>
            <a:r>
              <a:rPr lang="en-US" altLang="en-US" sz="3200" i="1" dirty="0" smtClean="0">
                <a:solidFill>
                  <a:srgbClr val="FF0000"/>
                </a:solidFill>
                <a:latin typeface="Times New Roman" panose="02020603050405020304" pitchFamily="18" charset="0"/>
                <a:cs typeface="Times New Roman" panose="02020603050405020304" pitchFamily="18" charset="0"/>
                <a:sym typeface="Symbol" pitchFamily="18" charset="2"/>
              </a:rPr>
              <a:t>Q = P</a:t>
            </a:r>
            <a:r>
              <a:rPr lang="en-US" altLang="en-US" sz="3200" i="1" baseline="-25000" dirty="0" smtClean="0">
                <a:solidFill>
                  <a:srgbClr val="FF0000"/>
                </a:solidFill>
                <a:latin typeface="Times New Roman" panose="02020603050405020304" pitchFamily="18" charset="0"/>
                <a:cs typeface="Times New Roman" panose="02020603050405020304" pitchFamily="18" charset="0"/>
                <a:sym typeface="Symbol" pitchFamily="18" charset="2"/>
              </a:rPr>
              <a:t>Q</a:t>
            </a:r>
            <a:r>
              <a:rPr lang="en-US" altLang="en-US" sz="3200" dirty="0" smtClean="0">
                <a:solidFill>
                  <a:srgbClr val="FF0000"/>
                </a:solidFill>
                <a:latin typeface="Times New Roman" panose="02020603050405020304" pitchFamily="18" charset="0"/>
                <a:cs typeface="Times New Roman" panose="02020603050405020304" pitchFamily="18" charset="0"/>
                <a:sym typeface="Symbol" pitchFamily="18" charset="2"/>
              </a:rPr>
              <a:t> &lt; 0 </a:t>
            </a:r>
            <a:r>
              <a:rPr lang="en-US" altLang="en-US" sz="3200" dirty="0" smtClean="0">
                <a:solidFill>
                  <a:srgbClr val="FF0000"/>
                </a:solidFill>
                <a:sym typeface="Symbol" pitchFamily="18" charset="2"/>
              </a:rPr>
              <a:t>and </a:t>
            </a:r>
            <a:r>
              <a:rPr lang="en-US" altLang="en-US" sz="3200" dirty="0" smtClean="0">
                <a:solidFill>
                  <a:srgbClr val="FF0000"/>
                </a:solidFill>
                <a:latin typeface="Times New Roman" panose="02020603050405020304" pitchFamily="18" charset="0"/>
                <a:cs typeface="Times New Roman" panose="02020603050405020304" pitchFamily="18" charset="0"/>
                <a:sym typeface="Symbol" pitchFamily="18" charset="2"/>
              </a:rPr>
              <a:t></a:t>
            </a:r>
            <a:r>
              <a:rPr lang="en-US" altLang="en-US" sz="3200" i="1" dirty="0" smtClean="0">
                <a:solidFill>
                  <a:srgbClr val="FF0000"/>
                </a:solidFill>
                <a:latin typeface="Times New Roman" panose="02020603050405020304" pitchFamily="18" charset="0"/>
                <a:cs typeface="Times New Roman" panose="02020603050405020304" pitchFamily="18" charset="0"/>
                <a:sym typeface="Symbol" pitchFamily="18" charset="2"/>
              </a:rPr>
              <a:t>P</a:t>
            </a:r>
            <a:r>
              <a:rPr lang="en-US" altLang="en-US" sz="3200" dirty="0" smtClean="0">
                <a:solidFill>
                  <a:srgbClr val="FF0000"/>
                </a:solidFill>
                <a:latin typeface="Times New Roman" panose="02020603050405020304" pitchFamily="18" charset="0"/>
                <a:cs typeface="Times New Roman" panose="02020603050405020304" pitchFamily="18" charset="0"/>
                <a:sym typeface="Symbol" pitchFamily="18" charset="2"/>
              </a:rPr>
              <a:t>/</a:t>
            </a:r>
            <a:r>
              <a:rPr lang="en-US" altLang="en-US" sz="3200" i="1" dirty="0" smtClean="0">
                <a:solidFill>
                  <a:srgbClr val="FF0000"/>
                </a:solidFill>
                <a:latin typeface="Times New Roman" panose="02020603050405020304" pitchFamily="18" charset="0"/>
                <a:cs typeface="Times New Roman" panose="02020603050405020304" pitchFamily="18" charset="0"/>
                <a:sym typeface="Symbol" pitchFamily="18" charset="2"/>
              </a:rPr>
              <a:t>X = P</a:t>
            </a:r>
            <a:r>
              <a:rPr lang="en-US" altLang="en-US" sz="3200" i="1" baseline="-25000" dirty="0" smtClean="0">
                <a:solidFill>
                  <a:srgbClr val="FF0000"/>
                </a:solidFill>
                <a:latin typeface="Times New Roman" panose="02020603050405020304" pitchFamily="18" charset="0"/>
                <a:cs typeface="Times New Roman" panose="02020603050405020304" pitchFamily="18" charset="0"/>
                <a:sym typeface="Symbol" pitchFamily="18" charset="2"/>
              </a:rPr>
              <a:t>X</a:t>
            </a:r>
            <a:r>
              <a:rPr lang="en-US" altLang="en-US" sz="3200" dirty="0" smtClean="0">
                <a:solidFill>
                  <a:srgbClr val="FF0000"/>
                </a:solidFill>
                <a:latin typeface="Times New Roman" panose="02020603050405020304" pitchFamily="18" charset="0"/>
                <a:cs typeface="Times New Roman" panose="02020603050405020304" pitchFamily="18" charset="0"/>
                <a:sym typeface="Symbol" pitchFamily="18" charset="2"/>
              </a:rPr>
              <a:t> &gt; 0</a:t>
            </a:r>
          </a:p>
          <a:p>
            <a:r>
              <a:rPr lang="en-US" altLang="en-US" dirty="0" smtClean="0">
                <a:sym typeface="Symbol" pitchFamily="18" charset="2"/>
              </a:rPr>
              <a:t>Costs of producing Q and X is given by </a:t>
            </a:r>
            <a:r>
              <a:rPr lang="en-US" altLang="en-US" sz="3200" i="1" dirty="0" smtClean="0">
                <a:latin typeface="Times New Roman" panose="02020603050405020304" pitchFamily="18" charset="0"/>
                <a:cs typeface="Times New Roman" panose="02020603050405020304" pitchFamily="18" charset="0"/>
                <a:sym typeface="Symbol" pitchFamily="18" charset="2"/>
              </a:rPr>
              <a:t>C</a:t>
            </a:r>
            <a:r>
              <a:rPr lang="en-US" altLang="en-US" sz="3200" dirty="0" smtClean="0">
                <a:latin typeface="Times New Roman" panose="02020603050405020304" pitchFamily="18" charset="0"/>
                <a:cs typeface="Times New Roman" panose="02020603050405020304" pitchFamily="18" charset="0"/>
                <a:sym typeface="Symbol" pitchFamily="18" charset="2"/>
              </a:rPr>
              <a:t>(</a:t>
            </a:r>
            <a:r>
              <a:rPr lang="en-US" altLang="en-US" sz="3200" i="1" dirty="0" smtClean="0">
                <a:latin typeface="Times New Roman" panose="02020603050405020304" pitchFamily="18" charset="0"/>
                <a:cs typeface="Times New Roman" panose="02020603050405020304" pitchFamily="18" charset="0"/>
                <a:sym typeface="Symbol" pitchFamily="18" charset="2"/>
              </a:rPr>
              <a:t>Q</a:t>
            </a:r>
            <a:r>
              <a:rPr lang="en-US" altLang="en-US" sz="3200" dirty="0" smtClean="0">
                <a:latin typeface="Times New Roman" panose="02020603050405020304" pitchFamily="18" charset="0"/>
                <a:cs typeface="Times New Roman" panose="02020603050405020304" pitchFamily="18" charset="0"/>
                <a:sym typeface="Symbol" pitchFamily="18" charset="2"/>
              </a:rPr>
              <a:t>,</a:t>
            </a:r>
            <a:r>
              <a:rPr lang="en-US" altLang="en-US" sz="3200" i="1" dirty="0" smtClean="0">
                <a:latin typeface="Times New Roman" panose="02020603050405020304" pitchFamily="18" charset="0"/>
                <a:cs typeface="Times New Roman" panose="02020603050405020304" pitchFamily="18" charset="0"/>
                <a:sym typeface="Symbol" pitchFamily="18" charset="2"/>
              </a:rPr>
              <a:t>X</a:t>
            </a:r>
            <a:r>
              <a:rPr lang="en-US" altLang="en-US" sz="3200" dirty="0" smtClean="0">
                <a:latin typeface="Times New Roman" panose="02020603050405020304" pitchFamily="18" charset="0"/>
                <a:cs typeface="Times New Roman" panose="02020603050405020304" pitchFamily="18" charset="0"/>
                <a:sym typeface="Symbol" pitchFamily="18" charset="2"/>
              </a:rPr>
              <a:t>)</a:t>
            </a:r>
            <a:endParaRPr lang="en-US" altLang="en-US" dirty="0" smtClean="0">
              <a:latin typeface="Times New Roman" panose="02020603050405020304" pitchFamily="18" charset="0"/>
              <a:cs typeface="Times New Roman" panose="02020603050405020304" pitchFamily="18" charset="0"/>
              <a:sym typeface="Symbol" pitchFamily="18" charset="2"/>
            </a:endParaRPr>
          </a:p>
          <a:p>
            <a:pPr lvl="1"/>
            <a:r>
              <a:rPr lang="en-US" altLang="en-US" dirty="0" smtClean="0">
                <a:sym typeface="Symbol" pitchFamily="18" charset="2"/>
              </a:rPr>
              <a:t>With </a:t>
            </a:r>
            <a:r>
              <a:rPr lang="en-US" altLang="en-US" dirty="0" smtClean="0">
                <a:solidFill>
                  <a:srgbClr val="FF0000"/>
                </a:solidFill>
                <a:latin typeface="Times New Roman" panose="02020603050405020304" pitchFamily="18" charset="0"/>
                <a:cs typeface="Times New Roman" panose="02020603050405020304" pitchFamily="18" charset="0"/>
                <a:sym typeface="Symbol" pitchFamily="18" charset="2"/>
              </a:rPr>
              <a:t>C/</a:t>
            </a:r>
            <a:r>
              <a:rPr lang="en-US" altLang="en-US" dirty="0">
                <a:solidFill>
                  <a:srgbClr val="FF0000"/>
                </a:solidFill>
                <a:latin typeface="Times New Roman" panose="02020603050405020304" pitchFamily="18" charset="0"/>
                <a:cs typeface="Times New Roman" panose="02020603050405020304" pitchFamily="18" charset="0"/>
                <a:sym typeface="Symbol" pitchFamily="18" charset="2"/>
              </a:rPr>
              <a:t></a:t>
            </a:r>
            <a:r>
              <a:rPr lang="en-US" altLang="en-US" i="1" dirty="0">
                <a:solidFill>
                  <a:srgbClr val="FF0000"/>
                </a:solidFill>
                <a:latin typeface="Times New Roman" panose="02020603050405020304" pitchFamily="18" charset="0"/>
                <a:cs typeface="Times New Roman" panose="02020603050405020304" pitchFamily="18" charset="0"/>
                <a:sym typeface="Symbol" pitchFamily="18" charset="2"/>
              </a:rPr>
              <a:t>Q = </a:t>
            </a:r>
            <a:r>
              <a:rPr lang="en-US" altLang="en-US" i="1" dirty="0" smtClean="0">
                <a:solidFill>
                  <a:srgbClr val="FF0000"/>
                </a:solidFill>
                <a:latin typeface="Times New Roman" panose="02020603050405020304" pitchFamily="18" charset="0"/>
                <a:cs typeface="Times New Roman" panose="02020603050405020304" pitchFamily="18" charset="0"/>
                <a:sym typeface="Symbol" pitchFamily="18" charset="2"/>
              </a:rPr>
              <a:t>C</a:t>
            </a:r>
            <a:r>
              <a:rPr lang="en-US" altLang="en-US" i="1" baseline="-25000" dirty="0" smtClean="0">
                <a:solidFill>
                  <a:srgbClr val="FF0000"/>
                </a:solidFill>
                <a:latin typeface="Times New Roman" panose="02020603050405020304" pitchFamily="18" charset="0"/>
                <a:cs typeface="Times New Roman" panose="02020603050405020304" pitchFamily="18" charset="0"/>
                <a:sym typeface="Symbol" pitchFamily="18" charset="2"/>
              </a:rPr>
              <a:t>Q</a:t>
            </a:r>
            <a:r>
              <a:rPr lang="en-US" altLang="en-US" dirty="0" smtClean="0">
                <a:solidFill>
                  <a:srgbClr val="FF0000"/>
                </a:solidFill>
                <a:latin typeface="Times New Roman" panose="02020603050405020304" pitchFamily="18" charset="0"/>
                <a:cs typeface="Times New Roman" panose="02020603050405020304" pitchFamily="18" charset="0"/>
                <a:sym typeface="Symbol" pitchFamily="18" charset="2"/>
              </a:rPr>
              <a:t> &gt; </a:t>
            </a:r>
            <a:r>
              <a:rPr lang="en-US" altLang="en-US" dirty="0">
                <a:solidFill>
                  <a:srgbClr val="FF0000"/>
                </a:solidFill>
                <a:latin typeface="Times New Roman" panose="02020603050405020304" pitchFamily="18" charset="0"/>
                <a:cs typeface="Times New Roman" panose="02020603050405020304" pitchFamily="18" charset="0"/>
                <a:sym typeface="Symbol" pitchFamily="18" charset="2"/>
              </a:rPr>
              <a:t>0 </a:t>
            </a:r>
            <a:r>
              <a:rPr lang="en-US" altLang="en-US" dirty="0" smtClean="0">
                <a:solidFill>
                  <a:srgbClr val="FF0000"/>
                </a:solidFill>
                <a:sym typeface="Symbol" pitchFamily="18" charset="2"/>
              </a:rPr>
              <a:t>and </a:t>
            </a:r>
            <a:r>
              <a:rPr lang="en-US" altLang="en-US" dirty="0" smtClean="0">
                <a:solidFill>
                  <a:srgbClr val="FF0000"/>
                </a:solidFill>
                <a:latin typeface="Times New Roman" panose="02020603050405020304" pitchFamily="18" charset="0"/>
                <a:cs typeface="Times New Roman" panose="02020603050405020304" pitchFamily="18" charset="0"/>
                <a:sym typeface="Symbol" pitchFamily="18" charset="2"/>
              </a:rPr>
              <a:t>C/</a:t>
            </a:r>
            <a:r>
              <a:rPr lang="en-US" altLang="en-US" dirty="0">
                <a:solidFill>
                  <a:srgbClr val="FF0000"/>
                </a:solidFill>
                <a:latin typeface="Times New Roman" panose="02020603050405020304" pitchFamily="18" charset="0"/>
                <a:cs typeface="Times New Roman" panose="02020603050405020304" pitchFamily="18" charset="0"/>
                <a:sym typeface="Symbol" pitchFamily="18" charset="2"/>
              </a:rPr>
              <a:t></a:t>
            </a:r>
            <a:r>
              <a:rPr lang="en-US" altLang="en-US" i="1" dirty="0">
                <a:solidFill>
                  <a:srgbClr val="FF0000"/>
                </a:solidFill>
                <a:latin typeface="Times New Roman" panose="02020603050405020304" pitchFamily="18" charset="0"/>
                <a:cs typeface="Times New Roman" panose="02020603050405020304" pitchFamily="18" charset="0"/>
                <a:sym typeface="Symbol" pitchFamily="18" charset="2"/>
              </a:rPr>
              <a:t>X = </a:t>
            </a:r>
            <a:r>
              <a:rPr lang="en-US" altLang="en-US" i="1" dirty="0" smtClean="0">
                <a:solidFill>
                  <a:srgbClr val="FF0000"/>
                </a:solidFill>
                <a:latin typeface="Times New Roman" panose="02020603050405020304" pitchFamily="18" charset="0"/>
                <a:cs typeface="Times New Roman" panose="02020603050405020304" pitchFamily="18" charset="0"/>
                <a:sym typeface="Symbol" pitchFamily="18" charset="2"/>
              </a:rPr>
              <a:t>C</a:t>
            </a:r>
            <a:r>
              <a:rPr lang="en-US" altLang="en-US" i="1" baseline="-25000" dirty="0" smtClean="0">
                <a:solidFill>
                  <a:srgbClr val="FF0000"/>
                </a:solidFill>
                <a:latin typeface="Times New Roman" panose="02020603050405020304" pitchFamily="18" charset="0"/>
                <a:cs typeface="Times New Roman" panose="02020603050405020304" pitchFamily="18" charset="0"/>
                <a:sym typeface="Symbol" pitchFamily="18" charset="2"/>
              </a:rPr>
              <a:t>X</a:t>
            </a:r>
            <a:r>
              <a:rPr lang="en-US" altLang="en-US" dirty="0" smtClean="0">
                <a:solidFill>
                  <a:srgbClr val="FF0000"/>
                </a:solidFill>
                <a:latin typeface="Times New Roman" panose="02020603050405020304" pitchFamily="18" charset="0"/>
                <a:cs typeface="Times New Roman" panose="02020603050405020304" pitchFamily="18" charset="0"/>
                <a:sym typeface="Symbol" pitchFamily="18" charset="2"/>
              </a:rPr>
              <a:t> </a:t>
            </a:r>
            <a:r>
              <a:rPr lang="en-US" altLang="en-US" dirty="0">
                <a:solidFill>
                  <a:srgbClr val="FF0000"/>
                </a:solidFill>
                <a:latin typeface="Times New Roman" panose="02020603050405020304" pitchFamily="18" charset="0"/>
                <a:cs typeface="Times New Roman" panose="02020603050405020304" pitchFamily="18" charset="0"/>
                <a:sym typeface="Symbol" pitchFamily="18" charset="2"/>
              </a:rPr>
              <a:t>&gt; </a:t>
            </a:r>
            <a:r>
              <a:rPr lang="en-US" altLang="en-US" dirty="0" smtClean="0">
                <a:solidFill>
                  <a:srgbClr val="FF0000"/>
                </a:solidFill>
                <a:latin typeface="Times New Roman" panose="02020603050405020304" pitchFamily="18" charset="0"/>
                <a:cs typeface="Times New Roman" panose="02020603050405020304" pitchFamily="18" charset="0"/>
                <a:sym typeface="Symbol" pitchFamily="18" charset="2"/>
              </a:rPr>
              <a:t>0</a:t>
            </a:r>
            <a:endParaRPr lang="en-US" altLang="en-US" dirty="0" smtClean="0">
              <a:latin typeface="Times New Roman" panose="02020603050405020304" pitchFamily="18" charset="0"/>
              <a:cs typeface="Times New Roman" panose="02020603050405020304" pitchFamily="18" charset="0"/>
              <a:sym typeface="Symbol" pitchFamily="18" charset="2"/>
            </a:endParaRPr>
          </a:p>
          <a:p>
            <a:r>
              <a:rPr lang="en-US" altLang="en-US" dirty="0" smtClean="0">
                <a:sym typeface="Symbol" pitchFamily="18" charset="2"/>
              </a:rPr>
              <a:t>Maximize: </a:t>
            </a:r>
            <a:r>
              <a:rPr lang="en-US" altLang="en-US" sz="3200" dirty="0" smtClean="0">
                <a:solidFill>
                  <a:srgbClr val="FF0000"/>
                </a:solidFill>
                <a:latin typeface="Times New Roman" panose="02020603050405020304" pitchFamily="18" charset="0"/>
                <a:cs typeface="Times New Roman" panose="02020603050405020304" pitchFamily="18" charset="0"/>
                <a:sym typeface="Symbol" pitchFamily="18" charset="2"/>
              </a:rPr>
              <a:t> = </a:t>
            </a:r>
            <a:r>
              <a:rPr lang="en-US" altLang="en-US" sz="3200" i="1" dirty="0" smtClean="0">
                <a:solidFill>
                  <a:srgbClr val="FF0000"/>
                </a:solidFill>
                <a:latin typeface="Times New Roman" panose="02020603050405020304" pitchFamily="18" charset="0"/>
                <a:cs typeface="Times New Roman" panose="02020603050405020304" pitchFamily="18" charset="0"/>
                <a:sym typeface="Symbol" pitchFamily="18" charset="2"/>
              </a:rPr>
              <a:t>P</a:t>
            </a:r>
            <a:r>
              <a:rPr lang="en-US" altLang="en-US" sz="3200" dirty="0" smtClean="0">
                <a:solidFill>
                  <a:srgbClr val="FF0000"/>
                </a:solidFill>
                <a:latin typeface="Times New Roman" panose="02020603050405020304" pitchFamily="18" charset="0"/>
                <a:cs typeface="Times New Roman" panose="02020603050405020304" pitchFamily="18" charset="0"/>
                <a:sym typeface="Symbol" pitchFamily="18" charset="2"/>
              </a:rPr>
              <a:t>(</a:t>
            </a:r>
            <a:r>
              <a:rPr lang="en-US" altLang="en-US" sz="3200" i="1" dirty="0" smtClean="0">
                <a:solidFill>
                  <a:srgbClr val="FF0000"/>
                </a:solidFill>
                <a:latin typeface="Times New Roman" panose="02020603050405020304" pitchFamily="18" charset="0"/>
                <a:cs typeface="Times New Roman" panose="02020603050405020304" pitchFamily="18" charset="0"/>
                <a:sym typeface="Symbol" pitchFamily="18" charset="2"/>
              </a:rPr>
              <a:t>Q</a:t>
            </a:r>
            <a:r>
              <a:rPr lang="en-US" altLang="en-US" sz="3200" dirty="0" smtClean="0">
                <a:solidFill>
                  <a:srgbClr val="FF0000"/>
                </a:solidFill>
                <a:latin typeface="Times New Roman" panose="02020603050405020304" pitchFamily="18" charset="0"/>
                <a:cs typeface="Times New Roman" panose="02020603050405020304" pitchFamily="18" charset="0"/>
                <a:sym typeface="Symbol" pitchFamily="18" charset="2"/>
              </a:rPr>
              <a:t>,</a:t>
            </a:r>
            <a:r>
              <a:rPr lang="en-US" altLang="en-US" sz="3200" i="1" dirty="0" smtClean="0">
                <a:solidFill>
                  <a:srgbClr val="FF0000"/>
                </a:solidFill>
                <a:latin typeface="Times New Roman" panose="02020603050405020304" pitchFamily="18" charset="0"/>
                <a:cs typeface="Times New Roman" panose="02020603050405020304" pitchFamily="18" charset="0"/>
                <a:sym typeface="Symbol" pitchFamily="18" charset="2"/>
              </a:rPr>
              <a:t>X</a:t>
            </a:r>
            <a:r>
              <a:rPr lang="en-US" altLang="en-US" sz="3200" dirty="0" smtClean="0">
                <a:solidFill>
                  <a:srgbClr val="FF0000"/>
                </a:solidFill>
                <a:latin typeface="Times New Roman" panose="02020603050405020304" pitchFamily="18" charset="0"/>
                <a:cs typeface="Times New Roman" panose="02020603050405020304" pitchFamily="18" charset="0"/>
                <a:sym typeface="Symbol" pitchFamily="18" charset="2"/>
              </a:rPr>
              <a:t>)</a:t>
            </a:r>
            <a:r>
              <a:rPr lang="en-US" altLang="en-US" sz="3200" i="1" dirty="0" smtClean="0">
                <a:solidFill>
                  <a:srgbClr val="FF0000"/>
                </a:solidFill>
                <a:latin typeface="Times New Roman" panose="02020603050405020304" pitchFamily="18" charset="0"/>
                <a:cs typeface="Times New Roman" panose="02020603050405020304" pitchFamily="18" charset="0"/>
                <a:sym typeface="Symbol" pitchFamily="18" charset="2"/>
              </a:rPr>
              <a:t>Q</a:t>
            </a:r>
            <a:r>
              <a:rPr lang="en-US" altLang="en-US" sz="3200" dirty="0" smtClean="0">
                <a:solidFill>
                  <a:srgbClr val="FF0000"/>
                </a:solidFill>
                <a:latin typeface="Times New Roman" panose="02020603050405020304" pitchFamily="18" charset="0"/>
                <a:cs typeface="Times New Roman" panose="02020603050405020304" pitchFamily="18" charset="0"/>
                <a:sym typeface="Symbol" pitchFamily="18" charset="2"/>
              </a:rPr>
              <a:t> - </a:t>
            </a:r>
            <a:r>
              <a:rPr lang="en-US" altLang="en-US" sz="3200" i="1" dirty="0" smtClean="0">
                <a:solidFill>
                  <a:srgbClr val="FF0000"/>
                </a:solidFill>
                <a:latin typeface="Times New Roman" panose="02020603050405020304" pitchFamily="18" charset="0"/>
                <a:cs typeface="Times New Roman" panose="02020603050405020304" pitchFamily="18" charset="0"/>
                <a:sym typeface="Symbol" pitchFamily="18" charset="2"/>
              </a:rPr>
              <a:t>C</a:t>
            </a:r>
            <a:r>
              <a:rPr lang="en-US" altLang="en-US" sz="3200" dirty="0" smtClean="0">
                <a:solidFill>
                  <a:srgbClr val="FF0000"/>
                </a:solidFill>
                <a:latin typeface="Times New Roman" panose="02020603050405020304" pitchFamily="18" charset="0"/>
                <a:cs typeface="Times New Roman" panose="02020603050405020304" pitchFamily="18" charset="0"/>
                <a:sym typeface="Symbol" pitchFamily="18" charset="2"/>
              </a:rPr>
              <a:t>(</a:t>
            </a:r>
            <a:r>
              <a:rPr lang="en-US" altLang="en-US" sz="3200" i="1" dirty="0" smtClean="0">
                <a:solidFill>
                  <a:srgbClr val="FF0000"/>
                </a:solidFill>
                <a:latin typeface="Times New Roman" panose="02020603050405020304" pitchFamily="18" charset="0"/>
                <a:cs typeface="Times New Roman" panose="02020603050405020304" pitchFamily="18" charset="0"/>
                <a:sym typeface="Symbol" pitchFamily="18" charset="2"/>
              </a:rPr>
              <a:t>Q</a:t>
            </a:r>
            <a:r>
              <a:rPr lang="en-US" altLang="en-US" sz="3200" dirty="0" smtClean="0">
                <a:solidFill>
                  <a:srgbClr val="FF0000"/>
                </a:solidFill>
                <a:latin typeface="Times New Roman" panose="02020603050405020304" pitchFamily="18" charset="0"/>
                <a:cs typeface="Times New Roman" panose="02020603050405020304" pitchFamily="18" charset="0"/>
                <a:sym typeface="Symbol" pitchFamily="18" charset="2"/>
              </a:rPr>
              <a:t>,</a:t>
            </a:r>
            <a:r>
              <a:rPr lang="en-US" altLang="en-US" sz="3200" i="1" dirty="0" smtClean="0">
                <a:solidFill>
                  <a:srgbClr val="FF0000"/>
                </a:solidFill>
                <a:latin typeface="Times New Roman" panose="02020603050405020304" pitchFamily="18" charset="0"/>
                <a:cs typeface="Times New Roman" panose="02020603050405020304" pitchFamily="18" charset="0"/>
                <a:sym typeface="Symbol" pitchFamily="18" charset="2"/>
              </a:rPr>
              <a:t>X</a:t>
            </a:r>
            <a:r>
              <a:rPr lang="en-US" altLang="en-US" sz="3200" dirty="0" smtClean="0">
                <a:solidFill>
                  <a:srgbClr val="FF0000"/>
                </a:solidFill>
                <a:latin typeface="Times New Roman" panose="02020603050405020304" pitchFamily="18" charset="0"/>
                <a:cs typeface="Times New Roman" panose="02020603050405020304" pitchFamily="18" charset="0"/>
                <a:sym typeface="Symbol" pitchFamily="18" charset="2"/>
              </a:rPr>
              <a:t>)</a:t>
            </a:r>
          </a:p>
          <a:p>
            <a:pPr lvl="1"/>
            <a:r>
              <a:rPr lang="en-US" altLang="en-US" sz="3000" dirty="0" smtClean="0">
                <a:sym typeface="Symbol" pitchFamily="18" charset="2"/>
              </a:rPr>
              <a:t>Finding optimal output </a:t>
            </a:r>
            <a:r>
              <a:rPr lang="en-US" altLang="en-US" sz="3000" i="1" dirty="0" err="1" smtClean="0">
                <a:latin typeface="Times New Roman" panose="02020603050405020304" pitchFamily="18" charset="0"/>
                <a:cs typeface="Times New Roman" panose="02020603050405020304" pitchFamily="18" charset="0"/>
                <a:sym typeface="Symbol" pitchFamily="18" charset="2"/>
              </a:rPr>
              <a:t>Q</a:t>
            </a:r>
            <a:r>
              <a:rPr lang="en-US" altLang="en-US" sz="3000" i="1" baseline="-25000" dirty="0" err="1" smtClean="0">
                <a:latin typeface="Times New Roman" panose="02020603050405020304" pitchFamily="18" charset="0"/>
                <a:cs typeface="Times New Roman" panose="02020603050405020304" pitchFamily="18" charset="0"/>
                <a:sym typeface="Symbol" pitchFamily="18" charset="2"/>
              </a:rPr>
              <a:t>m</a:t>
            </a:r>
            <a:r>
              <a:rPr lang="en-US" altLang="en-US" sz="3000" dirty="0" smtClean="0">
                <a:sym typeface="Symbol" pitchFamily="18" charset="2"/>
              </a:rPr>
              <a:t> and quality </a:t>
            </a:r>
            <a:r>
              <a:rPr lang="en-US" altLang="en-US" sz="3000" i="1" dirty="0" err="1" smtClean="0">
                <a:latin typeface="Times New Roman" panose="02020603050405020304" pitchFamily="18" charset="0"/>
                <a:cs typeface="Times New Roman" panose="02020603050405020304" pitchFamily="18" charset="0"/>
                <a:sym typeface="Symbol" pitchFamily="18" charset="2"/>
              </a:rPr>
              <a:t>X</a:t>
            </a:r>
            <a:r>
              <a:rPr lang="en-US" altLang="en-US" sz="3000" i="1" baseline="-25000" dirty="0" err="1" smtClean="0">
                <a:latin typeface="Times New Roman" panose="02020603050405020304" pitchFamily="18" charset="0"/>
                <a:cs typeface="Times New Roman" panose="02020603050405020304" pitchFamily="18" charset="0"/>
                <a:sym typeface="Symbol" pitchFamily="18" charset="2"/>
              </a:rPr>
              <a:t>m</a:t>
            </a:r>
            <a:endParaRPr lang="en-US" altLang="en-US" sz="3000" i="1" baseline="-25000" dirty="0" smtClean="0">
              <a:latin typeface="Times New Roman" panose="02020603050405020304" pitchFamily="18" charset="0"/>
              <a:cs typeface="Times New Roman" panose="02020603050405020304" pitchFamily="18" charset="0"/>
              <a:sym typeface="Symbol" pitchFamily="18" charset="2"/>
            </a:endParaRP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3D5DF255-F666-421D-875F-725B67D08835}" type="slidenum">
              <a:rPr lang="en-US" smtClean="0"/>
              <a:pPr>
                <a:defRPr/>
              </a:pPr>
              <a:t>29</a:t>
            </a:fld>
            <a:endParaRPr lang="en-US"/>
          </a:p>
        </p:txBody>
      </p:sp>
    </p:spTree>
    <p:extLst>
      <p:ext uri="{BB962C8B-B14F-4D97-AF65-F5344CB8AC3E}">
        <p14:creationId xmlns:p14="http://schemas.microsoft.com/office/powerpoint/2010/main" val="149445863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Title 1"/>
          <p:cNvSpPr>
            <a:spLocks noGrp="1"/>
          </p:cNvSpPr>
          <p:nvPr>
            <p:ph type="title"/>
          </p:nvPr>
        </p:nvSpPr>
        <p:spPr/>
        <p:txBody>
          <a:bodyPr/>
          <a:lstStyle/>
          <a:p>
            <a:r>
              <a:rPr lang="en-US" altLang="en-US" dirty="0"/>
              <a:t>Monopoly Product Quality</a:t>
            </a:r>
            <a:endParaRPr lang="en-US" altLang="en-US" dirty="0" smtClean="0"/>
          </a:p>
        </p:txBody>
      </p:sp>
      <p:sp>
        <p:nvSpPr>
          <p:cNvPr id="6149" name="Content Placeholder 2"/>
          <p:cNvSpPr>
            <a:spLocks noGrp="1"/>
          </p:cNvSpPr>
          <p:nvPr>
            <p:ph idx="1"/>
          </p:nvPr>
        </p:nvSpPr>
        <p:spPr/>
        <p:txBody>
          <a:bodyPr/>
          <a:lstStyle/>
          <a:p>
            <a:r>
              <a:rPr lang="en-US" altLang="en-US" dirty="0" smtClean="0"/>
              <a:t>First-order condition:</a:t>
            </a:r>
            <a:endParaRPr lang="en-US" altLang="en-US" i="1" dirty="0" smtClean="0">
              <a:sym typeface="Symbol" pitchFamily="18" charset="2"/>
            </a:endParaRP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C0583D2E-1C6C-4D80-BA21-0EFEBBF22051}" type="slidenum">
              <a:rPr lang="en-US" smtClean="0"/>
              <a:pPr>
                <a:defRPr/>
              </a:pPr>
              <a:t>30</a:t>
            </a:fld>
            <a:endParaRPr lang="en-US"/>
          </a:p>
        </p:txBody>
      </p:sp>
      <p:sp>
        <p:nvSpPr>
          <p:cNvPr id="2" name="Text Placeholder 1"/>
          <p:cNvSpPr>
            <a:spLocks noGrp="1"/>
          </p:cNvSpPr>
          <p:nvPr>
            <p:ph type="body" sz="quarter" idx="12"/>
          </p:nvPr>
        </p:nvSpPr>
        <p:spPr>
          <a:xfrm>
            <a:off x="381000" y="2895600"/>
            <a:ext cx="8534400" cy="3352800"/>
          </a:xfrm>
        </p:spPr>
        <p:txBody>
          <a:bodyPr/>
          <a:lstStyle/>
          <a:p>
            <a:pPr eaLnBrk="0" hangingPunct="0">
              <a:buFontTx/>
              <a:buChar char="•"/>
              <a:defRPr/>
            </a:pPr>
            <a:r>
              <a:rPr lang="en-US" kern="0" dirty="0">
                <a:solidFill>
                  <a:srgbClr val="002D56"/>
                </a:solidFill>
              </a:rPr>
              <a:t>Level of product quality chosen under competitive conditions</a:t>
            </a:r>
          </a:p>
          <a:p>
            <a:pPr lvl="1" eaLnBrk="0" hangingPunct="0">
              <a:buFont typeface="Arial" charset="0"/>
              <a:buChar char="–"/>
              <a:defRPr/>
            </a:pPr>
            <a:r>
              <a:rPr lang="en-US" kern="0" dirty="0"/>
              <a:t>Is the one that maximizes net social welfare</a:t>
            </a:r>
            <a:endParaRPr lang="en-US" i="1" kern="0" dirty="0">
              <a:sym typeface="Symbol" pitchFamily="18" charset="2"/>
            </a:endParaRPr>
          </a:p>
          <a:p>
            <a:pPr marL="0" indent="0">
              <a:buNone/>
            </a:pPr>
            <a:endParaRPr lang="en-US" dirty="0"/>
          </a:p>
        </p:txBody>
      </p:sp>
      <p:graphicFrame>
        <p:nvGraphicFramePr>
          <p:cNvPr id="1099780" name="Object 2"/>
          <p:cNvGraphicFramePr>
            <a:graphicFrameLocks noChangeAspect="1"/>
          </p:cNvGraphicFramePr>
          <p:nvPr>
            <p:extLst>
              <p:ext uri="{D42A27DB-BD31-4B8C-83A1-F6EECF244321}">
                <p14:modId xmlns:p14="http://schemas.microsoft.com/office/powerpoint/2010/main" val="3712775431"/>
              </p:ext>
            </p:extLst>
          </p:nvPr>
        </p:nvGraphicFramePr>
        <p:xfrm>
          <a:off x="1524000" y="1905000"/>
          <a:ext cx="5299075" cy="900112"/>
        </p:xfrm>
        <a:graphic>
          <a:graphicData uri="http://schemas.openxmlformats.org/presentationml/2006/ole">
            <mc:AlternateContent xmlns:mc="http://schemas.openxmlformats.org/markup-compatibility/2006">
              <mc:Choice xmlns:v="urn:schemas-microsoft-com:vml" Requires="v">
                <p:oleObj spid="_x0000_s307234" name="Equation" r:id="rId3" imgW="2311200" imgH="393480" progId="Equation.DSMT4">
                  <p:embed/>
                </p:oleObj>
              </mc:Choice>
              <mc:Fallback>
                <p:oleObj name="Equation" r:id="rId3" imgW="2311200" imgH="393480" progId="Equation.DSMT4">
                  <p:embed/>
                  <p:pic>
                    <p:nvPicPr>
                      <p:cNvPr id="0" name=""/>
                      <p:cNvPicPr>
                        <a:picLocks noChangeAspect="1" noChangeArrowheads="1"/>
                      </p:cNvPicPr>
                      <p:nvPr/>
                    </p:nvPicPr>
                    <p:blipFill>
                      <a:blip r:embed="rId4"/>
                      <a:srcRect/>
                      <a:stretch>
                        <a:fillRect/>
                      </a:stretch>
                    </p:blipFill>
                    <p:spPr bwMode="auto">
                      <a:xfrm>
                        <a:off x="1524000" y="1905000"/>
                        <a:ext cx="5299075" cy="900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00804" name="Object 2"/>
          <p:cNvGraphicFramePr>
            <a:graphicFrameLocks noChangeAspect="1"/>
          </p:cNvGraphicFramePr>
          <p:nvPr>
            <p:extLst>
              <p:ext uri="{D42A27DB-BD31-4B8C-83A1-F6EECF244321}">
                <p14:modId xmlns:p14="http://schemas.microsoft.com/office/powerpoint/2010/main" val="1514711976"/>
              </p:ext>
            </p:extLst>
          </p:nvPr>
        </p:nvGraphicFramePr>
        <p:xfrm>
          <a:off x="533400" y="4724400"/>
          <a:ext cx="8415337" cy="1514475"/>
        </p:xfrm>
        <a:graphic>
          <a:graphicData uri="http://schemas.openxmlformats.org/presentationml/2006/ole">
            <mc:AlternateContent xmlns:mc="http://schemas.openxmlformats.org/markup-compatibility/2006">
              <mc:Choice xmlns:v="urn:schemas-microsoft-com:vml" Requires="v">
                <p:oleObj spid="_x0000_s307235" name="Equation" r:id="rId5" imgW="3670200" imgH="660240" progId="Equation.DSMT4">
                  <p:embed/>
                </p:oleObj>
              </mc:Choice>
              <mc:Fallback>
                <p:oleObj name="Equation" r:id="rId5" imgW="3670200" imgH="660240" progId="Equation.DSMT4">
                  <p:embed/>
                  <p:pic>
                    <p:nvPicPr>
                      <p:cNvPr id="0" name=""/>
                      <p:cNvPicPr>
                        <a:picLocks noChangeAspect="1" noChangeArrowheads="1"/>
                      </p:cNvPicPr>
                      <p:nvPr/>
                    </p:nvPicPr>
                    <p:blipFill>
                      <a:blip r:embed="rId6"/>
                      <a:srcRect/>
                      <a:stretch>
                        <a:fillRect/>
                      </a:stretch>
                    </p:blipFill>
                    <p:spPr bwMode="auto">
                      <a:xfrm>
                        <a:off x="533400" y="4724400"/>
                        <a:ext cx="8415337" cy="1514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53784323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1099780"/>
                                        </p:tgtEl>
                                        <p:attrNameLst>
                                          <p:attrName>style.visibility</p:attrName>
                                        </p:attrNameLst>
                                      </p:cBhvr>
                                      <p:to>
                                        <p:strVal val="visible"/>
                                      </p:to>
                                    </p:set>
                                    <p:animEffect transition="in" filter="wipe(left)">
                                      <p:cBhvr>
                                        <p:cTn id="7" dur="500"/>
                                        <p:tgtEl>
                                          <p:spTgt spid="1099780"/>
                                        </p:tgtEl>
                                      </p:cBhvr>
                                    </p:animEffect>
                                  </p:childTnLst>
                                </p:cTn>
                              </p:par>
                            </p:childTnLst>
                          </p:cTn>
                        </p:par>
                        <p:par>
                          <p:cTn id="8" fill="hold">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animEffect transition="in" filter="wipe(left)">
                                      <p:cBhvr>
                                        <p:cTn id="11" dur="500"/>
                                        <p:tgtEl>
                                          <p:spTgt spid="2">
                                            <p:txEl>
                                              <p:pRg st="0" end="0"/>
                                            </p:txEl>
                                          </p:spTgt>
                                        </p:tgtEl>
                                      </p:cBhvr>
                                    </p:animEffect>
                                  </p:childTnLst>
                                </p:cTn>
                              </p:par>
                            </p:childTnLst>
                          </p:cTn>
                        </p:par>
                        <p:par>
                          <p:cTn id="12" fill="hold">
                            <p:stCondLst>
                              <p:cond delay="1500"/>
                            </p:stCondLst>
                            <p:childTnLst>
                              <p:par>
                                <p:cTn id="13" presetID="22" presetClass="entr" presetSubtype="8" fill="hold" grpId="0" nodeType="after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animEffect transition="in" filter="wipe(left)">
                                      <p:cBhvr>
                                        <p:cTn id="15" dur="500"/>
                                        <p:tgtEl>
                                          <p:spTgt spid="2">
                                            <p:txEl>
                                              <p:pRg st="1" end="1"/>
                                            </p:txEl>
                                          </p:spTgt>
                                        </p:tgtEl>
                                      </p:cBhvr>
                                    </p:animEffect>
                                  </p:childTnLst>
                                </p:cTn>
                              </p:par>
                            </p:childTnLst>
                          </p:cTn>
                        </p:par>
                        <p:par>
                          <p:cTn id="16" fill="hold">
                            <p:stCondLst>
                              <p:cond delay="2000"/>
                            </p:stCondLst>
                            <p:childTnLst>
                              <p:par>
                                <p:cTn id="17" presetID="22" presetClass="entr" presetSubtype="8" fill="hold" nodeType="afterEffect">
                                  <p:stCondLst>
                                    <p:cond delay="0"/>
                                  </p:stCondLst>
                                  <p:childTnLst>
                                    <p:set>
                                      <p:cBhvr>
                                        <p:cTn id="18" dur="1" fill="hold">
                                          <p:stCondLst>
                                            <p:cond delay="0"/>
                                          </p:stCondLst>
                                        </p:cTn>
                                        <p:tgtEl>
                                          <p:spTgt spid="1100804"/>
                                        </p:tgtEl>
                                        <p:attrNameLst>
                                          <p:attrName>style.visibility</p:attrName>
                                        </p:attrNameLst>
                                      </p:cBhvr>
                                      <p:to>
                                        <p:strVal val="visible"/>
                                      </p:to>
                                    </p:set>
                                    <p:animEffect transition="in" filter="wipe(left)">
                                      <p:cBhvr>
                                        <p:cTn id="19" dur="500"/>
                                        <p:tgtEl>
                                          <p:spTgt spid="11008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Title 1"/>
          <p:cNvSpPr>
            <a:spLocks noGrp="1"/>
          </p:cNvSpPr>
          <p:nvPr>
            <p:ph type="title"/>
          </p:nvPr>
        </p:nvSpPr>
        <p:spPr/>
        <p:txBody>
          <a:bodyPr/>
          <a:lstStyle/>
          <a:p>
            <a:r>
              <a:rPr lang="en-US" altLang="en-US" dirty="0"/>
              <a:t>Monopoly Product Quality</a:t>
            </a:r>
            <a:endParaRPr lang="en-US" altLang="en-US" dirty="0" smtClean="0"/>
          </a:p>
        </p:txBody>
      </p:sp>
      <p:sp>
        <p:nvSpPr>
          <p:cNvPr id="7172" name="Content Placeholder 2"/>
          <p:cNvSpPr>
            <a:spLocks noGrp="1"/>
          </p:cNvSpPr>
          <p:nvPr>
            <p:ph idx="1"/>
          </p:nvPr>
        </p:nvSpPr>
        <p:spPr/>
        <p:txBody>
          <a:bodyPr/>
          <a:lstStyle/>
          <a:p>
            <a:r>
              <a:rPr lang="en-US" altLang="en-US" smtClean="0"/>
              <a:t>Differentiation with respect to X </a:t>
            </a:r>
          </a:p>
          <a:p>
            <a:pPr lvl="1"/>
            <a:r>
              <a:rPr lang="en-US" altLang="en-US" smtClean="0"/>
              <a:t>Yields the first-order condition for a maximum</a:t>
            </a:r>
            <a:endParaRPr lang="en-US" altLang="en-US" i="1" smtClean="0">
              <a:sym typeface="Symbol" pitchFamily="18" charset="2"/>
            </a:endParaRP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5CA35409-9B74-4E49-8395-C4697F20DC1A}" type="slidenum">
              <a:rPr lang="en-US" smtClean="0"/>
              <a:pPr>
                <a:defRPr/>
              </a:pPr>
              <a:t>31</a:t>
            </a:fld>
            <a:endParaRPr lang="en-US"/>
          </a:p>
        </p:txBody>
      </p:sp>
      <p:graphicFrame>
        <p:nvGraphicFramePr>
          <p:cNvPr id="1100809" name="Object 3"/>
          <p:cNvGraphicFramePr>
            <a:graphicFrameLocks noChangeAspect="1"/>
          </p:cNvGraphicFramePr>
          <p:nvPr>
            <p:extLst>
              <p:ext uri="{D42A27DB-BD31-4B8C-83A1-F6EECF244321}">
                <p14:modId xmlns:p14="http://schemas.microsoft.com/office/powerpoint/2010/main" val="358554667"/>
              </p:ext>
            </p:extLst>
          </p:nvPr>
        </p:nvGraphicFramePr>
        <p:xfrm>
          <a:off x="1219200" y="3048000"/>
          <a:ext cx="6289675" cy="960437"/>
        </p:xfrm>
        <a:graphic>
          <a:graphicData uri="http://schemas.openxmlformats.org/presentationml/2006/ole">
            <mc:AlternateContent xmlns:mc="http://schemas.openxmlformats.org/markup-compatibility/2006">
              <mc:Choice xmlns:v="urn:schemas-microsoft-com:vml" Requires="v">
                <p:oleObj spid="_x0000_s308241" name="Equation" r:id="rId3" imgW="2565360" imgH="393480" progId="Equation.DSMT4">
                  <p:embed/>
                </p:oleObj>
              </mc:Choice>
              <mc:Fallback>
                <p:oleObj name="Equation" r:id="rId3" imgW="2565360" imgH="393480" progId="Equation.DSMT4">
                  <p:embed/>
                  <p:pic>
                    <p:nvPicPr>
                      <p:cNvPr id="0" name=""/>
                      <p:cNvPicPr>
                        <a:picLocks noChangeAspect="1" noChangeArrowheads="1"/>
                      </p:cNvPicPr>
                      <p:nvPr/>
                    </p:nvPicPr>
                    <p:blipFill>
                      <a:blip r:embed="rId4"/>
                      <a:srcRect/>
                      <a:stretch>
                        <a:fillRect/>
                      </a:stretch>
                    </p:blipFill>
                    <p:spPr bwMode="auto">
                      <a:xfrm>
                        <a:off x="1219200" y="3048000"/>
                        <a:ext cx="6289675" cy="960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89043351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1100809"/>
                                        </p:tgtEl>
                                        <p:attrNameLst>
                                          <p:attrName>style.visibility</p:attrName>
                                        </p:attrNameLst>
                                      </p:cBhvr>
                                      <p:to>
                                        <p:strVal val="visible"/>
                                      </p:to>
                                    </p:set>
                                    <p:animEffect transition="in" filter="wipe(left)">
                                      <p:cBhvr>
                                        <p:cTn id="7" dur="500"/>
                                        <p:tgtEl>
                                          <p:spTgt spid="11008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p:cNvSpPr>
            <a:spLocks noGrp="1"/>
          </p:cNvSpPr>
          <p:nvPr>
            <p:ph type="title"/>
          </p:nvPr>
        </p:nvSpPr>
        <p:spPr/>
        <p:txBody>
          <a:bodyPr/>
          <a:lstStyle/>
          <a:p>
            <a:r>
              <a:rPr lang="en-US" altLang="en-US" dirty="0"/>
              <a:t>Monopoly Product Quality</a:t>
            </a:r>
            <a:endParaRPr lang="en-US" altLang="en-US" dirty="0" smtClean="0"/>
          </a:p>
        </p:txBody>
      </p:sp>
      <p:sp>
        <p:nvSpPr>
          <p:cNvPr id="45059" name="Content Placeholder 2"/>
          <p:cNvSpPr>
            <a:spLocks noGrp="1"/>
          </p:cNvSpPr>
          <p:nvPr>
            <p:ph idx="1"/>
          </p:nvPr>
        </p:nvSpPr>
        <p:spPr/>
        <p:txBody>
          <a:bodyPr/>
          <a:lstStyle/>
          <a:p>
            <a:r>
              <a:rPr lang="en-US" altLang="en-US" dirty="0" smtClean="0"/>
              <a:t>Quality choice, monopolist</a:t>
            </a:r>
          </a:p>
          <a:p>
            <a:pPr lvl="1"/>
            <a:r>
              <a:rPr lang="en-US" altLang="en-US" dirty="0" smtClean="0"/>
              <a:t>Marginal consumer’s </a:t>
            </a:r>
            <a:r>
              <a:rPr lang="en-US" altLang="en-US" dirty="0"/>
              <a:t>valuation of </a:t>
            </a:r>
            <a:r>
              <a:rPr lang="en-US" altLang="en-US" dirty="0" smtClean="0"/>
              <a:t>quality</a:t>
            </a:r>
          </a:p>
          <a:p>
            <a:pPr lvl="2"/>
            <a:r>
              <a:rPr lang="en-US" altLang="en-US" dirty="0" smtClean="0"/>
              <a:t>Increasing </a:t>
            </a:r>
            <a:r>
              <a:rPr lang="en-US" altLang="en-US" dirty="0"/>
              <a:t>the attractiveness of the product to the marginal </a:t>
            </a:r>
            <a:r>
              <a:rPr lang="en-US" altLang="en-US" dirty="0" smtClean="0"/>
              <a:t>consumer:  </a:t>
            </a:r>
            <a:r>
              <a:rPr lang="en-US" altLang="en-US" dirty="0"/>
              <a:t>increases </a:t>
            </a:r>
            <a:r>
              <a:rPr lang="en-US" altLang="en-US" dirty="0" smtClean="0"/>
              <a:t>sales</a:t>
            </a:r>
          </a:p>
          <a:p>
            <a:r>
              <a:rPr lang="en-US" altLang="en-US" dirty="0" smtClean="0"/>
              <a:t>Quality choice, social planner</a:t>
            </a:r>
          </a:p>
          <a:p>
            <a:pPr lvl="1"/>
            <a:r>
              <a:rPr lang="en-US" altLang="en-US" dirty="0" smtClean="0"/>
              <a:t>Maximizes consumer </a:t>
            </a:r>
            <a:r>
              <a:rPr lang="en-US" altLang="en-US" dirty="0"/>
              <a:t>surplus across all </a:t>
            </a:r>
            <a:r>
              <a:rPr lang="en-US" altLang="en-US" dirty="0" smtClean="0"/>
              <a:t>buyers</a:t>
            </a:r>
          </a:p>
          <a:p>
            <a:pPr lvl="2"/>
            <a:r>
              <a:rPr lang="en-US" altLang="en-US" dirty="0" smtClean="0"/>
              <a:t>Equivalent to </a:t>
            </a:r>
            <a:r>
              <a:rPr lang="en-US" altLang="en-US" dirty="0"/>
              <a:t>maximizing the average consumer surplus across buyers</a:t>
            </a:r>
            <a:endParaRPr lang="en-US" altLang="en-US" dirty="0" smtClean="0"/>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1F5D1313-5578-4879-8CF7-B26BE338F897}" type="slidenum">
              <a:rPr lang="en-US" smtClean="0"/>
              <a:pPr>
                <a:defRPr/>
              </a:pPr>
              <a:t>32</a:t>
            </a:fld>
            <a:endParaRPr lang="en-US"/>
          </a:p>
        </p:txBody>
      </p:sp>
    </p:spTree>
    <p:extLst>
      <p:ext uri="{BB962C8B-B14F-4D97-AF65-F5344CB8AC3E}">
        <p14:creationId xmlns:p14="http://schemas.microsoft.com/office/powerpoint/2010/main" val="364346900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p:cNvSpPr>
            <a:spLocks noGrp="1"/>
          </p:cNvSpPr>
          <p:nvPr>
            <p:ph type="title"/>
          </p:nvPr>
        </p:nvSpPr>
        <p:spPr/>
        <p:txBody>
          <a:bodyPr/>
          <a:lstStyle/>
          <a:p>
            <a:r>
              <a:rPr lang="en-US" altLang="en-US" dirty="0" smtClean="0"/>
              <a:t>Product Durability</a:t>
            </a:r>
          </a:p>
        </p:txBody>
      </p:sp>
      <p:sp>
        <p:nvSpPr>
          <p:cNvPr id="47107" name="Content Placeholder 2"/>
          <p:cNvSpPr>
            <a:spLocks noGrp="1"/>
          </p:cNvSpPr>
          <p:nvPr>
            <p:ph idx="1"/>
          </p:nvPr>
        </p:nvSpPr>
        <p:spPr/>
        <p:txBody>
          <a:bodyPr/>
          <a:lstStyle/>
          <a:p>
            <a:r>
              <a:rPr lang="en-US" altLang="en-US" sz="3200" dirty="0" smtClean="0"/>
              <a:t>Durable goods</a:t>
            </a:r>
          </a:p>
          <a:p>
            <a:pPr lvl="1"/>
            <a:r>
              <a:rPr lang="en-US" altLang="en-US" sz="3000" dirty="0" smtClean="0"/>
              <a:t>Goods that provide services to their owners over several periods</a:t>
            </a:r>
          </a:p>
          <a:p>
            <a:r>
              <a:rPr lang="en-US" altLang="en-US" sz="3200" dirty="0" smtClean="0"/>
              <a:t>Swan’s independence assumption </a:t>
            </a:r>
          </a:p>
          <a:p>
            <a:pPr lvl="1"/>
            <a:r>
              <a:rPr lang="en-US" altLang="en-US" sz="3000" dirty="0" smtClean="0"/>
              <a:t>Demand for durable goods - demand for a flow of services over several periods</a:t>
            </a:r>
          </a:p>
          <a:p>
            <a:pPr lvl="2"/>
            <a:r>
              <a:rPr lang="en-US" altLang="en-US" dirty="0" smtClean="0"/>
              <a:t>Minimize the cost of providing this flow to consumers</a:t>
            </a:r>
          </a:p>
          <a:p>
            <a:pPr lvl="1"/>
            <a:r>
              <a:rPr lang="en-US" altLang="en-US" sz="3000" dirty="0" smtClean="0"/>
              <a:t>Output decisions - treated independently from decisions about product durability</a:t>
            </a:r>
            <a:endParaRPr lang="en-US" altLang="en-US" sz="3000" i="1" dirty="0" smtClean="0">
              <a:sym typeface="Symbol" pitchFamily="18" charset="2"/>
            </a:endParaRP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29DA1C28-3FCD-4011-A737-0AEB4DA69D44}" type="slidenum">
              <a:rPr lang="en-US" smtClean="0"/>
              <a:pPr>
                <a:defRPr/>
              </a:pPr>
              <a:t>33</a:t>
            </a:fld>
            <a:endParaRPr lang="en-US"/>
          </a:p>
        </p:txBody>
      </p:sp>
    </p:spTree>
    <p:extLst>
      <p:ext uri="{BB962C8B-B14F-4D97-AF65-F5344CB8AC3E}">
        <p14:creationId xmlns:p14="http://schemas.microsoft.com/office/powerpoint/2010/main" val="228631375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r>
              <a:rPr lang="en-US" altLang="en-US" smtClean="0"/>
              <a:t>Price Discrimination</a:t>
            </a:r>
          </a:p>
        </p:txBody>
      </p:sp>
      <p:sp>
        <p:nvSpPr>
          <p:cNvPr id="48131" name="Rectangle 3"/>
          <p:cNvSpPr>
            <a:spLocks noGrp="1" noChangeArrowheads="1"/>
          </p:cNvSpPr>
          <p:nvPr>
            <p:ph idx="1"/>
          </p:nvPr>
        </p:nvSpPr>
        <p:spPr>
          <a:xfrm>
            <a:off x="381000" y="1066800"/>
            <a:ext cx="8534400" cy="5334000"/>
          </a:xfrm>
        </p:spPr>
        <p:txBody>
          <a:bodyPr/>
          <a:lstStyle/>
          <a:p>
            <a:r>
              <a:rPr lang="en-US" altLang="en-US" dirty="0" smtClean="0"/>
              <a:t>Price discrimination</a:t>
            </a:r>
          </a:p>
          <a:p>
            <a:pPr lvl="1"/>
            <a:r>
              <a:rPr lang="en-US" altLang="en-US" dirty="0" smtClean="0"/>
              <a:t>Sell otherwise identical units of output at different prices</a:t>
            </a:r>
          </a:p>
          <a:p>
            <a:pPr lvl="2"/>
            <a:r>
              <a:rPr lang="en-US" altLang="en-US" dirty="0" smtClean="0"/>
              <a:t>Whether it is feasible depends on the inability of buyers to practice arbitrage</a:t>
            </a:r>
          </a:p>
          <a:p>
            <a:r>
              <a:rPr lang="en-US" altLang="en-US" dirty="0" smtClean="0"/>
              <a:t>Perfect price discrimination</a:t>
            </a:r>
          </a:p>
          <a:p>
            <a:pPr lvl="1"/>
            <a:r>
              <a:rPr lang="en-US" altLang="en-US" dirty="0" smtClean="0"/>
              <a:t>Charge each buyer the maximum price he would be willing to pay for the good</a:t>
            </a:r>
          </a:p>
          <a:p>
            <a:pPr lvl="2"/>
            <a:r>
              <a:rPr lang="en-US" altLang="en-US" dirty="0" smtClean="0"/>
              <a:t>Extracts all consumer surplus</a:t>
            </a:r>
          </a:p>
          <a:p>
            <a:pPr lvl="2"/>
            <a:r>
              <a:rPr lang="en-US" altLang="en-US" dirty="0" smtClean="0"/>
              <a:t>No deadweight loss</a:t>
            </a:r>
          </a:p>
          <a:p>
            <a:endParaRPr lang="en-US" altLang="en-US" dirty="0" smtClean="0"/>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6DB8374B-9323-4A8E-A7EE-51337802F61E}" type="slidenum">
              <a:rPr lang="en-US" smtClean="0"/>
              <a:pPr>
                <a:defRPr/>
              </a:pPr>
              <a:t>34</a:t>
            </a:fld>
            <a:endParaRPr lang="en-US"/>
          </a:p>
        </p:txBody>
      </p:sp>
    </p:spTree>
    <p:extLst>
      <p:ext uri="{BB962C8B-B14F-4D97-AF65-F5344CB8AC3E}">
        <p14:creationId xmlns:p14="http://schemas.microsoft.com/office/powerpoint/2010/main" val="2407473678"/>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31" descr="30%"/>
          <p:cNvSpPr>
            <a:spLocks noChangeArrowheads="1"/>
          </p:cNvSpPr>
          <p:nvPr/>
        </p:nvSpPr>
        <p:spPr bwMode="auto">
          <a:xfrm>
            <a:off x="1447800" y="1858963"/>
            <a:ext cx="381000" cy="3124200"/>
          </a:xfrm>
          <a:prstGeom prst="rect">
            <a:avLst/>
          </a:prstGeom>
          <a:solidFill>
            <a:schemeClr val="accent1">
              <a:lumMod val="75000"/>
            </a:schemeClr>
          </a:solidFill>
          <a:ln w="12700">
            <a:solidFill>
              <a:srgbClr val="000099"/>
            </a:solidFill>
            <a:miter lim="800000"/>
            <a:headEnd/>
            <a:tailEnd/>
          </a:ln>
        </p:spPr>
        <p:txBody>
          <a:bodyPr wrap="none" anchor="ctr"/>
          <a:lstStyle/>
          <a:p>
            <a:pPr>
              <a:defRPr/>
            </a:pPr>
            <a:endParaRPr lang="en-US" sz="1800"/>
          </a:p>
        </p:txBody>
      </p:sp>
      <p:sp>
        <p:nvSpPr>
          <p:cNvPr id="49155"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a:t>14.4	Perfect Price </a:t>
            </a:r>
            <a:r>
              <a:rPr lang="en-US" altLang="en-US" dirty="0" smtClean="0"/>
              <a:t>Discrimination</a:t>
            </a:r>
          </a:p>
        </p:txBody>
      </p:sp>
      <p:sp>
        <p:nvSpPr>
          <p:cNvPr id="49156" name="Text Placeholder 2"/>
          <p:cNvSpPr>
            <a:spLocks noGrp="1"/>
          </p:cNvSpPr>
          <p:nvPr>
            <p:ph sz="half" idx="1"/>
          </p:nvPr>
        </p:nvSpPr>
        <p:spPr>
          <a:xfrm>
            <a:off x="6172200" y="1600200"/>
            <a:ext cx="2819400" cy="4525963"/>
          </a:xfrm>
        </p:spPr>
        <p:txBody>
          <a:bodyPr>
            <a:normAutofit/>
          </a:bodyPr>
          <a:lstStyle/>
          <a:p>
            <a:pPr>
              <a:spcBef>
                <a:spcPct val="0"/>
              </a:spcBef>
            </a:pPr>
            <a:r>
              <a:rPr lang="en-US" altLang="en-US" dirty="0"/>
              <a:t>Under perfect price discrimination, the monopoly charges a different price to each buyer. It sells Q</a:t>
            </a:r>
            <a:r>
              <a:rPr lang="en-US" altLang="en-US" baseline="-25000" dirty="0"/>
              <a:t>1</a:t>
            </a:r>
            <a:r>
              <a:rPr lang="en-US" altLang="en-US" dirty="0"/>
              <a:t> units at P</a:t>
            </a:r>
            <a:r>
              <a:rPr lang="en-US" altLang="en-US" baseline="-25000" dirty="0"/>
              <a:t>1</a:t>
            </a:r>
            <a:r>
              <a:rPr lang="en-US" altLang="en-US" dirty="0"/>
              <a:t>, Q</a:t>
            </a:r>
            <a:r>
              <a:rPr lang="en-US" altLang="en-US" baseline="-25000" dirty="0"/>
              <a:t>2</a:t>
            </a:r>
            <a:r>
              <a:rPr lang="en-US" altLang="en-US" dirty="0"/>
              <a:t> - Q</a:t>
            </a:r>
            <a:r>
              <a:rPr lang="en-US" altLang="en-US" baseline="-25000" dirty="0"/>
              <a:t>1</a:t>
            </a:r>
            <a:r>
              <a:rPr lang="en-US" altLang="en-US" dirty="0"/>
              <a:t> units at P</a:t>
            </a:r>
            <a:r>
              <a:rPr lang="en-US" altLang="en-US" baseline="-25000" dirty="0"/>
              <a:t>2</a:t>
            </a:r>
            <a:r>
              <a:rPr lang="en-US" altLang="en-US" dirty="0"/>
              <a:t>, and so forth. In this case the firm will produce Q*, and total revenues will be </a:t>
            </a:r>
            <a:r>
              <a:rPr lang="en-US" altLang="en-US" dirty="0" smtClean="0"/>
              <a:t>AEQ*0</a:t>
            </a:r>
            <a:r>
              <a:rPr lang="en-US" altLang="en-US" dirty="0"/>
              <a:t>.</a:t>
            </a:r>
          </a:p>
          <a:p>
            <a:pPr>
              <a:spcBef>
                <a:spcPct val="0"/>
              </a:spcBef>
            </a:pPr>
            <a:endParaRPr lang="en-US" altLang="en-US" dirty="0" smtClean="0"/>
          </a:p>
        </p:txBody>
      </p:sp>
      <p:sp>
        <p:nvSpPr>
          <p:cNvPr id="49159" name="Footer Placeholder 5"/>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5" name="Slide Number Placeholder 4"/>
          <p:cNvSpPr>
            <a:spLocks noGrp="1"/>
          </p:cNvSpPr>
          <p:nvPr>
            <p:ph type="sldNum" sz="quarter" idx="11"/>
          </p:nvPr>
        </p:nvSpPr>
        <p:spPr/>
        <p:txBody>
          <a:bodyPr/>
          <a:lstStyle/>
          <a:p>
            <a:pPr>
              <a:defRPr/>
            </a:pPr>
            <a:fld id="{43035716-F468-4C87-B4EE-A8FCF0DB9C57}" type="slidenum">
              <a:rPr lang="en-US" smtClean="0"/>
              <a:pPr>
                <a:defRPr/>
              </a:pPr>
              <a:t>35</a:t>
            </a:fld>
            <a:endParaRPr lang="en-US" dirty="0"/>
          </a:p>
        </p:txBody>
      </p:sp>
      <p:sp>
        <p:nvSpPr>
          <p:cNvPr id="8" name="Rectangle 37" descr="40%"/>
          <p:cNvSpPr>
            <a:spLocks noChangeArrowheads="1"/>
          </p:cNvSpPr>
          <p:nvPr/>
        </p:nvSpPr>
        <p:spPr bwMode="auto">
          <a:xfrm>
            <a:off x="2209800" y="2339975"/>
            <a:ext cx="381000" cy="2628900"/>
          </a:xfrm>
          <a:prstGeom prst="rect">
            <a:avLst/>
          </a:prstGeom>
          <a:solidFill>
            <a:schemeClr val="accent1">
              <a:lumMod val="75000"/>
            </a:schemeClr>
          </a:solidFill>
          <a:ln w="12700">
            <a:solidFill>
              <a:srgbClr val="000099"/>
            </a:solidFill>
            <a:miter lim="800000"/>
            <a:headEnd/>
            <a:tailEnd/>
          </a:ln>
        </p:spPr>
        <p:txBody>
          <a:bodyPr wrap="none" anchor="ctr"/>
          <a:lstStyle/>
          <a:p>
            <a:pPr>
              <a:defRPr/>
            </a:pPr>
            <a:endParaRPr lang="en-US" sz="1800"/>
          </a:p>
        </p:txBody>
      </p:sp>
      <p:sp>
        <p:nvSpPr>
          <p:cNvPr id="9" name="Rectangle 38" descr="40%"/>
          <p:cNvSpPr>
            <a:spLocks noChangeArrowheads="1"/>
          </p:cNvSpPr>
          <p:nvPr/>
        </p:nvSpPr>
        <p:spPr bwMode="auto">
          <a:xfrm>
            <a:off x="2590800" y="2576513"/>
            <a:ext cx="381000" cy="2392362"/>
          </a:xfrm>
          <a:prstGeom prst="rect">
            <a:avLst/>
          </a:prstGeom>
          <a:solidFill>
            <a:schemeClr val="accent2">
              <a:lumMod val="20000"/>
              <a:lumOff val="80000"/>
            </a:schemeClr>
          </a:solidFill>
          <a:ln w="12700">
            <a:solidFill>
              <a:srgbClr val="000099"/>
            </a:solidFill>
            <a:miter lim="800000"/>
            <a:headEnd/>
            <a:tailEnd/>
          </a:ln>
        </p:spPr>
        <p:txBody>
          <a:bodyPr wrap="none" anchor="ctr"/>
          <a:lstStyle/>
          <a:p>
            <a:pPr>
              <a:defRPr/>
            </a:pPr>
            <a:endParaRPr lang="en-US" sz="1800"/>
          </a:p>
        </p:txBody>
      </p:sp>
      <p:sp>
        <p:nvSpPr>
          <p:cNvPr id="10" name="Rectangle 39" descr="40%"/>
          <p:cNvSpPr>
            <a:spLocks noChangeArrowheads="1"/>
          </p:cNvSpPr>
          <p:nvPr/>
        </p:nvSpPr>
        <p:spPr bwMode="auto">
          <a:xfrm>
            <a:off x="2971800" y="2835275"/>
            <a:ext cx="381000" cy="2133600"/>
          </a:xfrm>
          <a:prstGeom prst="rect">
            <a:avLst/>
          </a:prstGeom>
          <a:solidFill>
            <a:schemeClr val="accent1">
              <a:lumMod val="75000"/>
            </a:schemeClr>
          </a:solidFill>
          <a:ln w="12700">
            <a:solidFill>
              <a:srgbClr val="000099"/>
            </a:solidFill>
            <a:miter lim="800000"/>
            <a:headEnd/>
            <a:tailEnd/>
          </a:ln>
        </p:spPr>
        <p:txBody>
          <a:bodyPr anchor="ctr"/>
          <a:lstStyle/>
          <a:p>
            <a:pPr>
              <a:defRPr/>
            </a:pPr>
            <a:endParaRPr lang="en-US" sz="1800"/>
          </a:p>
        </p:txBody>
      </p:sp>
      <p:sp>
        <p:nvSpPr>
          <p:cNvPr id="17" name="Rectangle 34" descr="75%"/>
          <p:cNvSpPr>
            <a:spLocks noChangeArrowheads="1"/>
          </p:cNvSpPr>
          <p:nvPr/>
        </p:nvSpPr>
        <p:spPr bwMode="auto">
          <a:xfrm>
            <a:off x="1828800" y="2087563"/>
            <a:ext cx="381000" cy="2895600"/>
          </a:xfrm>
          <a:prstGeom prst="rect">
            <a:avLst/>
          </a:prstGeom>
          <a:solidFill>
            <a:schemeClr val="accent2">
              <a:lumMod val="20000"/>
              <a:lumOff val="80000"/>
            </a:schemeClr>
          </a:solidFill>
          <a:ln w="12700">
            <a:solidFill>
              <a:srgbClr val="000099"/>
            </a:solidFill>
            <a:miter lim="800000"/>
            <a:headEnd/>
            <a:tailEnd/>
          </a:ln>
        </p:spPr>
        <p:txBody>
          <a:bodyPr anchor="ctr"/>
          <a:lstStyle/>
          <a:p>
            <a:pPr>
              <a:defRPr/>
            </a:pPr>
            <a:endParaRPr lang="en-US" sz="1800"/>
          </a:p>
        </p:txBody>
      </p:sp>
      <p:grpSp>
        <p:nvGrpSpPr>
          <p:cNvPr id="7" name="Group 31"/>
          <p:cNvGrpSpPr>
            <a:grpSpLocks/>
          </p:cNvGrpSpPr>
          <p:nvPr/>
        </p:nvGrpSpPr>
        <p:grpSpPr bwMode="auto">
          <a:xfrm>
            <a:off x="914400" y="2916238"/>
            <a:ext cx="2819400" cy="304800"/>
            <a:chOff x="1706880" y="2713355"/>
            <a:chExt cx="2818624" cy="304800"/>
          </a:xfrm>
        </p:grpSpPr>
        <p:sp>
          <p:nvSpPr>
            <p:cNvPr id="49196" name="Text Box 28"/>
            <p:cNvSpPr txBox="1">
              <a:spLocks noChangeArrowheads="1"/>
            </p:cNvSpPr>
            <p:nvPr/>
          </p:nvSpPr>
          <p:spPr bwMode="auto">
            <a:xfrm>
              <a:off x="1706880" y="2713355"/>
              <a:ext cx="4603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a:solidFill>
                    <a:srgbClr val="3B4F89"/>
                  </a:solidFill>
                </a:rPr>
                <a:t>MC</a:t>
              </a:r>
            </a:p>
          </p:txBody>
        </p:sp>
        <p:sp>
          <p:nvSpPr>
            <p:cNvPr id="49197" name="Line 41"/>
            <p:cNvSpPr>
              <a:spLocks noChangeShapeType="1"/>
            </p:cNvSpPr>
            <p:nvPr/>
          </p:nvSpPr>
          <p:spPr bwMode="auto">
            <a:xfrm flipH="1">
              <a:off x="2240279" y="2860368"/>
              <a:ext cx="2285225" cy="3800"/>
            </a:xfrm>
            <a:prstGeom prst="line">
              <a:avLst/>
            </a:prstGeom>
            <a:noFill/>
            <a:ln w="28575">
              <a:solidFill>
                <a:srgbClr val="470F3E"/>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1" name="Group 40"/>
          <p:cNvGrpSpPr>
            <a:grpSpLocks/>
          </p:cNvGrpSpPr>
          <p:nvPr/>
        </p:nvGrpSpPr>
        <p:grpSpPr bwMode="auto">
          <a:xfrm>
            <a:off x="1066800" y="2009775"/>
            <a:ext cx="1136650" cy="304800"/>
            <a:chOff x="1859280" y="2010302"/>
            <a:chExt cx="1136962" cy="304800"/>
          </a:xfrm>
        </p:grpSpPr>
        <p:sp>
          <p:nvSpPr>
            <p:cNvPr id="49194" name="Text Box 25"/>
            <p:cNvSpPr txBox="1">
              <a:spLocks noChangeArrowheads="1"/>
            </p:cNvSpPr>
            <p:nvPr/>
          </p:nvSpPr>
          <p:spPr bwMode="auto">
            <a:xfrm>
              <a:off x="1859280" y="2010302"/>
              <a:ext cx="36671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a:t>P</a:t>
              </a:r>
              <a:r>
                <a:rPr lang="en-US" altLang="en-US" sz="1800" baseline="-25000"/>
                <a:t>2</a:t>
              </a:r>
              <a:endParaRPr lang="en-US" altLang="en-US" sz="1800" i="1"/>
            </a:p>
          </p:txBody>
        </p:sp>
        <p:sp>
          <p:nvSpPr>
            <p:cNvPr id="49195" name="Line 20"/>
            <p:cNvSpPr>
              <a:spLocks noChangeShapeType="1"/>
            </p:cNvSpPr>
            <p:nvPr/>
          </p:nvSpPr>
          <p:spPr bwMode="auto">
            <a:xfrm flipH="1">
              <a:off x="2226810" y="2087592"/>
              <a:ext cx="769432" cy="3528"/>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5" name="Group 34"/>
          <p:cNvGrpSpPr>
            <a:grpSpLocks/>
          </p:cNvGrpSpPr>
          <p:nvPr/>
        </p:nvGrpSpPr>
        <p:grpSpPr bwMode="auto">
          <a:xfrm>
            <a:off x="1646237" y="1857375"/>
            <a:ext cx="385763" cy="3446463"/>
            <a:chOff x="2438400" y="1857555"/>
            <a:chExt cx="385763" cy="3446600"/>
          </a:xfrm>
        </p:grpSpPr>
        <p:sp>
          <p:nvSpPr>
            <p:cNvPr id="49192" name="Text Box 19"/>
            <p:cNvSpPr txBox="1">
              <a:spLocks noChangeArrowheads="1"/>
            </p:cNvSpPr>
            <p:nvPr/>
          </p:nvSpPr>
          <p:spPr bwMode="auto">
            <a:xfrm>
              <a:off x="2438400" y="4999355"/>
              <a:ext cx="3857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a:t>Q</a:t>
              </a:r>
              <a:r>
                <a:rPr lang="en-US" altLang="en-US" sz="1800" baseline="-25000"/>
                <a:t>1</a:t>
              </a:r>
              <a:endParaRPr lang="en-US" altLang="en-US" sz="1800" i="1"/>
            </a:p>
          </p:txBody>
        </p:sp>
        <p:sp>
          <p:nvSpPr>
            <p:cNvPr id="49193" name="Line 14"/>
            <p:cNvSpPr>
              <a:spLocks noChangeShapeType="1"/>
            </p:cNvSpPr>
            <p:nvPr/>
          </p:nvSpPr>
          <p:spPr bwMode="auto">
            <a:xfrm flipH="1">
              <a:off x="2625112" y="1857555"/>
              <a:ext cx="3069" cy="3121104"/>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27" name="Group 39"/>
          <p:cNvGrpSpPr>
            <a:grpSpLocks/>
          </p:cNvGrpSpPr>
          <p:nvPr/>
        </p:nvGrpSpPr>
        <p:grpSpPr bwMode="auto">
          <a:xfrm>
            <a:off x="1066800" y="1682750"/>
            <a:ext cx="763587" cy="304800"/>
            <a:chOff x="1859280" y="1682498"/>
            <a:chExt cx="763150" cy="304800"/>
          </a:xfrm>
        </p:grpSpPr>
        <p:sp>
          <p:nvSpPr>
            <p:cNvPr id="49190" name="Text Box 24"/>
            <p:cNvSpPr txBox="1">
              <a:spLocks noChangeArrowheads="1"/>
            </p:cNvSpPr>
            <p:nvPr/>
          </p:nvSpPr>
          <p:spPr bwMode="auto">
            <a:xfrm>
              <a:off x="1859280" y="1682498"/>
              <a:ext cx="36671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a:t>P</a:t>
              </a:r>
              <a:r>
                <a:rPr lang="en-US" altLang="en-US" sz="1800" baseline="-25000"/>
                <a:t>1</a:t>
              </a:r>
              <a:endParaRPr lang="en-US" altLang="en-US" sz="1800" i="1"/>
            </a:p>
          </p:txBody>
        </p:sp>
        <p:sp>
          <p:nvSpPr>
            <p:cNvPr id="49191" name="Line 20"/>
            <p:cNvSpPr>
              <a:spLocks noChangeShapeType="1"/>
            </p:cNvSpPr>
            <p:nvPr/>
          </p:nvSpPr>
          <p:spPr bwMode="auto">
            <a:xfrm flipH="1">
              <a:off x="2226810" y="1857555"/>
              <a:ext cx="395620" cy="652"/>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32" name="Group 46"/>
          <p:cNvGrpSpPr>
            <a:grpSpLocks/>
          </p:cNvGrpSpPr>
          <p:nvPr/>
        </p:nvGrpSpPr>
        <p:grpSpPr bwMode="auto">
          <a:xfrm>
            <a:off x="1079500" y="1352550"/>
            <a:ext cx="4864100" cy="3067050"/>
            <a:chOff x="1871980" y="1352868"/>
            <a:chExt cx="4864100" cy="3067050"/>
          </a:xfrm>
        </p:grpSpPr>
        <p:grpSp>
          <p:nvGrpSpPr>
            <p:cNvPr id="49186" name="Group 41"/>
            <p:cNvGrpSpPr>
              <a:grpSpLocks/>
            </p:cNvGrpSpPr>
            <p:nvPr/>
          </p:nvGrpSpPr>
          <p:grpSpPr bwMode="auto">
            <a:xfrm>
              <a:off x="2254370" y="1598762"/>
              <a:ext cx="4481710" cy="2821156"/>
              <a:chOff x="2254370" y="1598762"/>
              <a:chExt cx="4481710" cy="2821156"/>
            </a:xfrm>
          </p:grpSpPr>
          <p:sp>
            <p:nvSpPr>
              <p:cNvPr id="49188" name="Line 7"/>
              <p:cNvSpPr>
                <a:spLocks noChangeShapeType="1"/>
              </p:cNvSpPr>
              <p:nvPr/>
            </p:nvSpPr>
            <p:spPr bwMode="auto">
              <a:xfrm>
                <a:off x="2254370" y="1598762"/>
                <a:ext cx="3853420" cy="2470318"/>
              </a:xfrm>
              <a:prstGeom prst="line">
                <a:avLst/>
              </a:prstGeom>
              <a:noFill/>
              <a:ln w="28575">
                <a:solidFill>
                  <a:srgbClr val="177B2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9189" name="Text Box 8"/>
              <p:cNvSpPr txBox="1">
                <a:spLocks noChangeArrowheads="1"/>
              </p:cNvSpPr>
              <p:nvPr/>
            </p:nvSpPr>
            <p:spPr bwMode="auto">
              <a:xfrm>
                <a:off x="6050280" y="3930968"/>
                <a:ext cx="68580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dirty="0" smtClean="0">
                    <a:solidFill>
                      <a:srgbClr val="177B21"/>
                    </a:solidFill>
                  </a:rPr>
                  <a:t>P(Q)</a:t>
                </a:r>
                <a:endParaRPr lang="en-US" altLang="en-US" sz="1800" i="1" dirty="0">
                  <a:solidFill>
                    <a:srgbClr val="177B21"/>
                  </a:solidFill>
                </a:endParaRPr>
              </a:p>
            </p:txBody>
          </p:sp>
        </p:grpSp>
        <p:sp>
          <p:nvSpPr>
            <p:cNvPr id="49187" name="Text Box 8"/>
            <p:cNvSpPr txBox="1">
              <a:spLocks noChangeArrowheads="1"/>
            </p:cNvSpPr>
            <p:nvPr/>
          </p:nvSpPr>
          <p:spPr bwMode="auto">
            <a:xfrm>
              <a:off x="1871980" y="1352868"/>
              <a:ext cx="330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dirty="0" smtClean="0"/>
                <a:t>A</a:t>
              </a:r>
              <a:endParaRPr lang="en-US" altLang="en-US" sz="1800" i="1" dirty="0"/>
            </a:p>
          </p:txBody>
        </p:sp>
      </p:grpSp>
      <p:sp>
        <p:nvSpPr>
          <p:cNvPr id="48" name="Rectangle 38" descr="40%"/>
          <p:cNvSpPr>
            <a:spLocks noChangeArrowheads="1"/>
          </p:cNvSpPr>
          <p:nvPr/>
        </p:nvSpPr>
        <p:spPr bwMode="auto">
          <a:xfrm>
            <a:off x="3357562" y="3079750"/>
            <a:ext cx="381000" cy="1889125"/>
          </a:xfrm>
          <a:prstGeom prst="rect">
            <a:avLst/>
          </a:prstGeom>
          <a:solidFill>
            <a:schemeClr val="accent2">
              <a:lumMod val="20000"/>
              <a:lumOff val="80000"/>
            </a:schemeClr>
          </a:solidFill>
          <a:ln w="12700">
            <a:solidFill>
              <a:srgbClr val="000099"/>
            </a:solidFill>
            <a:miter lim="800000"/>
            <a:headEnd/>
            <a:tailEnd/>
          </a:ln>
        </p:spPr>
        <p:txBody>
          <a:bodyPr wrap="none" anchor="ctr"/>
          <a:lstStyle/>
          <a:p>
            <a:pPr>
              <a:defRPr/>
            </a:pPr>
            <a:endParaRPr lang="en-US" sz="1800"/>
          </a:p>
        </p:txBody>
      </p:sp>
      <p:grpSp>
        <p:nvGrpSpPr>
          <p:cNvPr id="36" name="Group 37"/>
          <p:cNvGrpSpPr>
            <a:grpSpLocks/>
          </p:cNvGrpSpPr>
          <p:nvPr/>
        </p:nvGrpSpPr>
        <p:grpSpPr bwMode="auto">
          <a:xfrm>
            <a:off x="3522662" y="3059113"/>
            <a:ext cx="385763" cy="2254250"/>
            <a:chOff x="3932207" y="3058331"/>
            <a:chExt cx="385763" cy="2254451"/>
          </a:xfrm>
        </p:grpSpPr>
        <p:sp>
          <p:nvSpPr>
            <p:cNvPr id="49184" name="Line 14"/>
            <p:cNvSpPr>
              <a:spLocks noChangeShapeType="1"/>
            </p:cNvSpPr>
            <p:nvPr/>
          </p:nvSpPr>
          <p:spPr bwMode="auto">
            <a:xfrm>
              <a:off x="4153552" y="3058331"/>
              <a:ext cx="1305" cy="1926077"/>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9185" name="Text Box 21"/>
            <p:cNvSpPr txBox="1">
              <a:spLocks noChangeArrowheads="1"/>
            </p:cNvSpPr>
            <p:nvPr/>
          </p:nvSpPr>
          <p:spPr bwMode="auto">
            <a:xfrm>
              <a:off x="3932207" y="5007982"/>
              <a:ext cx="3857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a:t>Q*</a:t>
              </a:r>
            </a:p>
          </p:txBody>
        </p:sp>
      </p:grpSp>
      <p:grpSp>
        <p:nvGrpSpPr>
          <p:cNvPr id="38" name="Group 56"/>
          <p:cNvGrpSpPr>
            <a:grpSpLocks/>
          </p:cNvGrpSpPr>
          <p:nvPr/>
        </p:nvGrpSpPr>
        <p:grpSpPr bwMode="auto">
          <a:xfrm>
            <a:off x="3557587" y="2647950"/>
            <a:ext cx="385763" cy="454025"/>
            <a:chOff x="4764385" y="3504528"/>
            <a:chExt cx="385764" cy="453993"/>
          </a:xfrm>
        </p:grpSpPr>
        <p:sp>
          <p:nvSpPr>
            <p:cNvPr id="49182" name="Oval 9"/>
            <p:cNvSpPr>
              <a:spLocks noChangeArrowheads="1"/>
            </p:cNvSpPr>
            <p:nvPr/>
          </p:nvSpPr>
          <p:spPr bwMode="auto">
            <a:xfrm>
              <a:off x="4906435" y="3882215"/>
              <a:ext cx="76382" cy="76306"/>
            </a:xfrm>
            <a:prstGeom prst="ellipse">
              <a:avLst/>
            </a:prstGeom>
            <a:solidFill>
              <a:schemeClr val="tx1"/>
            </a:solidFill>
            <a:ln w="15875">
              <a:solidFill>
                <a:schemeClr val="tx1"/>
              </a:solidFill>
              <a:round/>
              <a:headEnd/>
              <a:tailEnd/>
            </a:ln>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sp>
          <p:nvSpPr>
            <p:cNvPr id="49183" name="Text Box 23"/>
            <p:cNvSpPr txBox="1">
              <a:spLocks noChangeArrowheads="1"/>
            </p:cNvSpPr>
            <p:nvPr/>
          </p:nvSpPr>
          <p:spPr bwMode="auto">
            <a:xfrm>
              <a:off x="4764385" y="3504528"/>
              <a:ext cx="385764"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a:t>E</a:t>
              </a:r>
            </a:p>
          </p:txBody>
        </p:sp>
      </p:grpSp>
      <p:grpSp>
        <p:nvGrpSpPr>
          <p:cNvPr id="40" name="Group 35"/>
          <p:cNvGrpSpPr>
            <a:grpSpLocks/>
          </p:cNvGrpSpPr>
          <p:nvPr/>
        </p:nvGrpSpPr>
        <p:grpSpPr bwMode="auto">
          <a:xfrm>
            <a:off x="2022475" y="2087563"/>
            <a:ext cx="385762" cy="3216275"/>
            <a:chOff x="2819400" y="2087592"/>
            <a:chExt cx="385763" cy="3216563"/>
          </a:xfrm>
        </p:grpSpPr>
        <p:sp>
          <p:nvSpPr>
            <p:cNvPr id="49180" name="Text Box 21"/>
            <p:cNvSpPr txBox="1">
              <a:spLocks noChangeArrowheads="1"/>
            </p:cNvSpPr>
            <p:nvPr/>
          </p:nvSpPr>
          <p:spPr bwMode="auto">
            <a:xfrm>
              <a:off x="2819400" y="4999355"/>
              <a:ext cx="3857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a:t>Q</a:t>
              </a:r>
              <a:r>
                <a:rPr lang="en-US" altLang="en-US" sz="1800" baseline="-25000"/>
                <a:t>2</a:t>
              </a:r>
              <a:endParaRPr lang="en-US" altLang="en-US" sz="1800" i="1"/>
            </a:p>
          </p:txBody>
        </p:sp>
        <p:sp>
          <p:nvSpPr>
            <p:cNvPr id="49181" name="Line 14"/>
            <p:cNvSpPr>
              <a:spLocks noChangeShapeType="1"/>
            </p:cNvSpPr>
            <p:nvPr/>
          </p:nvSpPr>
          <p:spPr bwMode="auto">
            <a:xfrm>
              <a:off x="2996242" y="2087592"/>
              <a:ext cx="5557" cy="2911195"/>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41" name="Group 44"/>
          <p:cNvGrpSpPr>
            <a:grpSpLocks/>
          </p:cNvGrpSpPr>
          <p:nvPr/>
        </p:nvGrpSpPr>
        <p:grpSpPr bwMode="auto">
          <a:xfrm>
            <a:off x="977900" y="931863"/>
            <a:ext cx="5619750" cy="4189412"/>
            <a:chOff x="1770380" y="932180"/>
            <a:chExt cx="5619750" cy="4189413"/>
          </a:xfrm>
        </p:grpSpPr>
        <p:grpSp>
          <p:nvGrpSpPr>
            <p:cNvPr id="49174" name="Group 43"/>
            <p:cNvGrpSpPr>
              <a:grpSpLocks/>
            </p:cNvGrpSpPr>
            <p:nvPr/>
          </p:nvGrpSpPr>
          <p:grpSpPr bwMode="auto">
            <a:xfrm>
              <a:off x="2240280" y="4754880"/>
              <a:ext cx="5149850" cy="366713"/>
              <a:chOff x="2240280" y="4754880"/>
              <a:chExt cx="5149850" cy="366713"/>
            </a:xfrm>
          </p:grpSpPr>
          <p:sp>
            <p:nvSpPr>
              <p:cNvPr id="49178" name="Line 4"/>
              <p:cNvSpPr>
                <a:spLocks noChangeShapeType="1"/>
              </p:cNvSpPr>
              <p:nvPr/>
            </p:nvSpPr>
            <p:spPr bwMode="auto">
              <a:xfrm>
                <a:off x="2240280" y="4983480"/>
                <a:ext cx="41148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9179" name="Text Box 5"/>
              <p:cNvSpPr txBox="1">
                <a:spLocks noChangeArrowheads="1"/>
              </p:cNvSpPr>
              <p:nvPr/>
            </p:nvSpPr>
            <p:spPr bwMode="auto">
              <a:xfrm>
                <a:off x="6355080" y="4754880"/>
                <a:ext cx="10350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t>Quantity</a:t>
                </a:r>
              </a:p>
            </p:txBody>
          </p:sp>
        </p:grpSp>
        <p:grpSp>
          <p:nvGrpSpPr>
            <p:cNvPr id="49175" name="Group 42"/>
            <p:cNvGrpSpPr>
              <a:grpSpLocks/>
            </p:cNvGrpSpPr>
            <p:nvPr/>
          </p:nvGrpSpPr>
          <p:grpSpPr bwMode="auto">
            <a:xfrm>
              <a:off x="1770380" y="932180"/>
              <a:ext cx="704850" cy="4051300"/>
              <a:chOff x="1770380" y="932180"/>
              <a:chExt cx="704850" cy="4051300"/>
            </a:xfrm>
          </p:grpSpPr>
          <p:sp>
            <p:nvSpPr>
              <p:cNvPr id="49176" name="Line 3"/>
              <p:cNvSpPr>
                <a:spLocks noChangeShapeType="1"/>
              </p:cNvSpPr>
              <p:nvPr/>
            </p:nvSpPr>
            <p:spPr bwMode="auto">
              <a:xfrm>
                <a:off x="2240280" y="1249680"/>
                <a:ext cx="0" cy="37338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9177" name="Text Box 6"/>
              <p:cNvSpPr txBox="1">
                <a:spLocks noChangeArrowheads="1"/>
              </p:cNvSpPr>
              <p:nvPr/>
            </p:nvSpPr>
            <p:spPr bwMode="auto">
              <a:xfrm>
                <a:off x="1770380" y="932180"/>
                <a:ext cx="7048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t>Price</a:t>
                </a:r>
              </a:p>
            </p:txBody>
          </p:sp>
        </p:grpSp>
      </p:grpSp>
    </p:spTree>
    <p:extLst>
      <p:ext uri="{BB962C8B-B14F-4D97-AF65-F5344CB8AC3E}">
        <p14:creationId xmlns:p14="http://schemas.microsoft.com/office/powerpoint/2010/main" val="33799536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wipe(left)">
                                      <p:cBhvr>
                                        <p:cTn id="7" dur="500"/>
                                        <p:tgtEl>
                                          <p:spTgt spid="41"/>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32"/>
                                        </p:tgtEl>
                                        <p:attrNameLst>
                                          <p:attrName>style.visibility</p:attrName>
                                        </p:attrNameLst>
                                      </p:cBhvr>
                                      <p:to>
                                        <p:strVal val="visible"/>
                                      </p:to>
                                    </p:set>
                                    <p:animEffect transition="in" filter="wipe(left)">
                                      <p:cBhvr>
                                        <p:cTn id="11" dur="500"/>
                                        <p:tgtEl>
                                          <p:spTgt spid="32"/>
                                        </p:tgtEl>
                                      </p:cBhvr>
                                    </p:animEffect>
                                  </p:childTnLst>
                                </p:cTn>
                              </p:par>
                            </p:childTnLst>
                          </p:cTn>
                        </p:par>
                        <p:par>
                          <p:cTn id="12" fill="hold" nodeType="afterGroup">
                            <p:stCondLst>
                              <p:cond delay="1000"/>
                            </p:stCondLst>
                            <p:childTnLst>
                              <p:par>
                                <p:cTn id="13" presetID="22" presetClass="entr" presetSubtype="8" fill="hold"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left)">
                                      <p:cBhvr>
                                        <p:cTn id="15" dur="500"/>
                                        <p:tgtEl>
                                          <p:spTgt spid="7"/>
                                        </p:tgtEl>
                                      </p:cBhvr>
                                    </p:animEffect>
                                  </p:childTnLst>
                                </p:cTn>
                              </p:par>
                            </p:childTnLst>
                          </p:cTn>
                        </p:par>
                        <p:par>
                          <p:cTn id="16" fill="hold" nodeType="afterGroup">
                            <p:stCondLst>
                              <p:cond delay="1500"/>
                            </p:stCondLst>
                            <p:childTnLst>
                              <p:par>
                                <p:cTn id="17" presetID="22" presetClass="entr" presetSubtype="8" fill="hold" nodeType="afterEffect">
                                  <p:stCondLst>
                                    <p:cond delay="0"/>
                                  </p:stCondLst>
                                  <p:childTnLst>
                                    <p:set>
                                      <p:cBhvr>
                                        <p:cTn id="18" dur="1" fill="hold">
                                          <p:stCondLst>
                                            <p:cond delay="0"/>
                                          </p:stCondLst>
                                        </p:cTn>
                                        <p:tgtEl>
                                          <p:spTgt spid="38"/>
                                        </p:tgtEl>
                                        <p:attrNameLst>
                                          <p:attrName>style.visibility</p:attrName>
                                        </p:attrNameLst>
                                      </p:cBhvr>
                                      <p:to>
                                        <p:strVal val="visible"/>
                                      </p:to>
                                    </p:set>
                                    <p:animEffect transition="in" filter="wipe(left)">
                                      <p:cBhvr>
                                        <p:cTn id="19" dur="500"/>
                                        <p:tgtEl>
                                          <p:spTgt spid="38"/>
                                        </p:tgtEl>
                                      </p:cBhvr>
                                    </p:animEffect>
                                  </p:childTnLst>
                                </p:cTn>
                              </p:par>
                            </p:childTnLst>
                          </p:cTn>
                        </p:par>
                        <p:par>
                          <p:cTn id="20" fill="hold" nodeType="afterGroup">
                            <p:stCondLst>
                              <p:cond delay="2000"/>
                            </p:stCondLst>
                            <p:childTnLst>
                              <p:par>
                                <p:cTn id="21" presetID="22" presetClass="entr" presetSubtype="1" fill="hold" nodeType="afterEffect">
                                  <p:stCondLst>
                                    <p:cond delay="0"/>
                                  </p:stCondLst>
                                  <p:childTnLst>
                                    <p:set>
                                      <p:cBhvr>
                                        <p:cTn id="22" dur="1" fill="hold">
                                          <p:stCondLst>
                                            <p:cond delay="0"/>
                                          </p:stCondLst>
                                        </p:cTn>
                                        <p:tgtEl>
                                          <p:spTgt spid="36"/>
                                        </p:tgtEl>
                                        <p:attrNameLst>
                                          <p:attrName>style.visibility</p:attrName>
                                        </p:attrNameLst>
                                      </p:cBhvr>
                                      <p:to>
                                        <p:strVal val="visible"/>
                                      </p:to>
                                    </p:set>
                                    <p:animEffect transition="in" filter="wipe(up)">
                                      <p:cBhvr>
                                        <p:cTn id="23" dur="500"/>
                                        <p:tgtEl>
                                          <p:spTgt spid="36"/>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nodeType="click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wipe(left)">
                                      <p:cBhvr>
                                        <p:cTn id="28" dur="500"/>
                                        <p:tgtEl>
                                          <p:spTgt spid="27"/>
                                        </p:tgtEl>
                                      </p:cBhvr>
                                    </p:animEffect>
                                  </p:childTnLst>
                                </p:cTn>
                              </p:par>
                            </p:childTnLst>
                          </p:cTn>
                        </p:par>
                        <p:par>
                          <p:cTn id="29" fill="hold" nodeType="afterGroup">
                            <p:stCondLst>
                              <p:cond delay="500"/>
                            </p:stCondLst>
                            <p:childTnLst>
                              <p:par>
                                <p:cTn id="30" presetID="22" presetClass="entr" presetSubtype="1" fill="hold" nodeType="after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wipe(up)">
                                      <p:cBhvr>
                                        <p:cTn id="32" dur="500"/>
                                        <p:tgtEl>
                                          <p:spTgt spid="15"/>
                                        </p:tgtEl>
                                      </p:cBhvr>
                                    </p:animEffect>
                                  </p:childTnLst>
                                </p:cTn>
                              </p:par>
                            </p:childTnLst>
                          </p:cTn>
                        </p:par>
                        <p:par>
                          <p:cTn id="33" fill="hold" nodeType="afterGroup">
                            <p:stCondLst>
                              <p:cond delay="1000"/>
                            </p:stCondLst>
                            <p:childTnLst>
                              <p:par>
                                <p:cTn id="34" presetID="22" presetClass="entr" presetSubtype="1" fill="hold" grpId="0" nodeType="after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wipe(up)">
                                      <p:cBhvr>
                                        <p:cTn id="36" dur="500"/>
                                        <p:tgtEl>
                                          <p:spTgt spid="13"/>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wipe(left)">
                                      <p:cBhvr>
                                        <p:cTn id="41" dur="500"/>
                                        <p:tgtEl>
                                          <p:spTgt spid="11"/>
                                        </p:tgtEl>
                                      </p:cBhvr>
                                    </p:animEffect>
                                  </p:childTnLst>
                                </p:cTn>
                              </p:par>
                            </p:childTnLst>
                          </p:cTn>
                        </p:par>
                        <p:par>
                          <p:cTn id="42" fill="hold" nodeType="afterGroup">
                            <p:stCondLst>
                              <p:cond delay="500"/>
                            </p:stCondLst>
                            <p:childTnLst>
                              <p:par>
                                <p:cTn id="43" presetID="22" presetClass="entr" presetSubtype="1" fill="hold" nodeType="afterEffect">
                                  <p:stCondLst>
                                    <p:cond delay="0"/>
                                  </p:stCondLst>
                                  <p:childTnLst>
                                    <p:set>
                                      <p:cBhvr>
                                        <p:cTn id="44" dur="1" fill="hold">
                                          <p:stCondLst>
                                            <p:cond delay="0"/>
                                          </p:stCondLst>
                                        </p:cTn>
                                        <p:tgtEl>
                                          <p:spTgt spid="40"/>
                                        </p:tgtEl>
                                        <p:attrNameLst>
                                          <p:attrName>style.visibility</p:attrName>
                                        </p:attrNameLst>
                                      </p:cBhvr>
                                      <p:to>
                                        <p:strVal val="visible"/>
                                      </p:to>
                                    </p:set>
                                    <p:animEffect transition="in" filter="wipe(up)">
                                      <p:cBhvr>
                                        <p:cTn id="45" dur="500"/>
                                        <p:tgtEl>
                                          <p:spTgt spid="40"/>
                                        </p:tgtEl>
                                      </p:cBhvr>
                                    </p:animEffect>
                                  </p:childTnLst>
                                </p:cTn>
                              </p:par>
                            </p:childTnLst>
                          </p:cTn>
                        </p:par>
                        <p:par>
                          <p:cTn id="46" fill="hold" nodeType="afterGroup">
                            <p:stCondLst>
                              <p:cond delay="1000"/>
                            </p:stCondLst>
                            <p:childTnLst>
                              <p:par>
                                <p:cTn id="47" presetID="22" presetClass="entr" presetSubtype="1" fill="hold" grpId="0" nodeType="after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wipe(up)">
                                      <p:cBhvr>
                                        <p:cTn id="49" dur="500"/>
                                        <p:tgtEl>
                                          <p:spTgt spid="17"/>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1" fill="hold" grpId="0" nodeType="clickEffect">
                                  <p:stCondLst>
                                    <p:cond delay="0"/>
                                  </p:stCondLst>
                                  <p:childTnLst>
                                    <p:set>
                                      <p:cBhvr>
                                        <p:cTn id="53" dur="1" fill="hold">
                                          <p:stCondLst>
                                            <p:cond delay="0"/>
                                          </p:stCondLst>
                                        </p:cTn>
                                        <p:tgtEl>
                                          <p:spTgt spid="8"/>
                                        </p:tgtEl>
                                        <p:attrNameLst>
                                          <p:attrName>style.visibility</p:attrName>
                                        </p:attrNameLst>
                                      </p:cBhvr>
                                      <p:to>
                                        <p:strVal val="visible"/>
                                      </p:to>
                                    </p:set>
                                    <p:animEffect transition="in" filter="wipe(up)">
                                      <p:cBhvr>
                                        <p:cTn id="54" dur="500"/>
                                        <p:tgtEl>
                                          <p:spTgt spid="8"/>
                                        </p:tgtEl>
                                      </p:cBhvr>
                                    </p:animEffect>
                                  </p:childTnLst>
                                </p:cTn>
                              </p:par>
                            </p:childTnLst>
                          </p:cTn>
                        </p:par>
                        <p:par>
                          <p:cTn id="55" fill="hold" nodeType="afterGroup">
                            <p:stCondLst>
                              <p:cond delay="500"/>
                            </p:stCondLst>
                            <p:childTnLst>
                              <p:par>
                                <p:cTn id="56" presetID="22" presetClass="entr" presetSubtype="1" fill="hold" grpId="0" nodeType="afterEffect">
                                  <p:stCondLst>
                                    <p:cond delay="0"/>
                                  </p:stCondLst>
                                  <p:childTnLst>
                                    <p:set>
                                      <p:cBhvr>
                                        <p:cTn id="57" dur="1" fill="hold">
                                          <p:stCondLst>
                                            <p:cond delay="0"/>
                                          </p:stCondLst>
                                        </p:cTn>
                                        <p:tgtEl>
                                          <p:spTgt spid="9"/>
                                        </p:tgtEl>
                                        <p:attrNameLst>
                                          <p:attrName>style.visibility</p:attrName>
                                        </p:attrNameLst>
                                      </p:cBhvr>
                                      <p:to>
                                        <p:strVal val="visible"/>
                                      </p:to>
                                    </p:set>
                                    <p:animEffect transition="in" filter="wipe(up)">
                                      <p:cBhvr>
                                        <p:cTn id="58" dur="500"/>
                                        <p:tgtEl>
                                          <p:spTgt spid="9"/>
                                        </p:tgtEl>
                                      </p:cBhvr>
                                    </p:animEffect>
                                  </p:childTnLst>
                                </p:cTn>
                              </p:par>
                            </p:childTnLst>
                          </p:cTn>
                        </p:par>
                        <p:par>
                          <p:cTn id="59" fill="hold" nodeType="afterGroup">
                            <p:stCondLst>
                              <p:cond delay="1000"/>
                            </p:stCondLst>
                            <p:childTnLst>
                              <p:par>
                                <p:cTn id="60" presetID="22" presetClass="entr" presetSubtype="1" fill="hold" grpId="0" nodeType="afterEffect">
                                  <p:stCondLst>
                                    <p:cond delay="0"/>
                                  </p:stCondLst>
                                  <p:childTnLst>
                                    <p:set>
                                      <p:cBhvr>
                                        <p:cTn id="61" dur="1" fill="hold">
                                          <p:stCondLst>
                                            <p:cond delay="0"/>
                                          </p:stCondLst>
                                        </p:cTn>
                                        <p:tgtEl>
                                          <p:spTgt spid="10"/>
                                        </p:tgtEl>
                                        <p:attrNameLst>
                                          <p:attrName>style.visibility</p:attrName>
                                        </p:attrNameLst>
                                      </p:cBhvr>
                                      <p:to>
                                        <p:strVal val="visible"/>
                                      </p:to>
                                    </p:set>
                                    <p:animEffect transition="in" filter="wipe(up)">
                                      <p:cBhvr>
                                        <p:cTn id="62" dur="500"/>
                                        <p:tgtEl>
                                          <p:spTgt spid="10"/>
                                        </p:tgtEl>
                                      </p:cBhvr>
                                    </p:animEffect>
                                  </p:childTnLst>
                                </p:cTn>
                              </p:par>
                            </p:childTnLst>
                          </p:cTn>
                        </p:par>
                        <p:par>
                          <p:cTn id="63" fill="hold" nodeType="afterGroup">
                            <p:stCondLst>
                              <p:cond delay="1500"/>
                            </p:stCondLst>
                            <p:childTnLst>
                              <p:par>
                                <p:cTn id="64" presetID="22" presetClass="entr" presetSubtype="1" fill="hold" grpId="0" nodeType="afterEffect">
                                  <p:stCondLst>
                                    <p:cond delay="0"/>
                                  </p:stCondLst>
                                  <p:childTnLst>
                                    <p:set>
                                      <p:cBhvr>
                                        <p:cTn id="65" dur="1" fill="hold">
                                          <p:stCondLst>
                                            <p:cond delay="0"/>
                                          </p:stCondLst>
                                        </p:cTn>
                                        <p:tgtEl>
                                          <p:spTgt spid="48"/>
                                        </p:tgtEl>
                                        <p:attrNameLst>
                                          <p:attrName>style.visibility</p:attrName>
                                        </p:attrNameLst>
                                      </p:cBhvr>
                                      <p:to>
                                        <p:strVal val="visible"/>
                                      </p:to>
                                    </p:set>
                                    <p:animEffect transition="in" filter="wipe(up)">
                                      <p:cBhvr>
                                        <p:cTn id="66" dur="500"/>
                                        <p:tgtEl>
                                          <p:spTgt spid="48"/>
                                        </p:tgtEl>
                                      </p:cBhvr>
                                    </p:animEffect>
                                  </p:childTnLst>
                                </p:cTn>
                              </p:par>
                            </p:childTnLst>
                          </p:cTn>
                        </p:par>
                        <p:par>
                          <p:cTn id="67" fill="hold">
                            <p:stCondLst>
                              <p:cond delay="2000"/>
                            </p:stCondLst>
                            <p:childTnLst>
                              <p:par>
                                <p:cTn id="68" presetID="22" presetClass="entr" presetSubtype="8" fill="hold" grpId="0" nodeType="afterEffect">
                                  <p:stCondLst>
                                    <p:cond delay="0"/>
                                  </p:stCondLst>
                                  <p:childTnLst>
                                    <p:set>
                                      <p:cBhvr>
                                        <p:cTn id="69" dur="1" fill="hold">
                                          <p:stCondLst>
                                            <p:cond delay="0"/>
                                          </p:stCondLst>
                                        </p:cTn>
                                        <p:tgtEl>
                                          <p:spTgt spid="49156">
                                            <p:txEl>
                                              <p:pRg st="0" end="0"/>
                                            </p:txEl>
                                          </p:spTgt>
                                        </p:tgtEl>
                                        <p:attrNameLst>
                                          <p:attrName>style.visibility</p:attrName>
                                        </p:attrNameLst>
                                      </p:cBhvr>
                                      <p:to>
                                        <p:strVal val="visible"/>
                                      </p:to>
                                    </p:set>
                                    <p:animEffect transition="in" filter="wipe(left)">
                                      <p:cBhvr>
                                        <p:cTn id="70" dur="500"/>
                                        <p:tgtEl>
                                          <p:spTgt spid="4915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49156" grpId="0" build="p"/>
      <p:bldP spid="8" grpId="0" animBg="1"/>
      <p:bldP spid="9" grpId="0" animBg="1"/>
      <p:bldP spid="10" grpId="0" animBg="1"/>
      <p:bldP spid="17" grpId="0" animBg="1"/>
      <p:bldP spid="4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14.4 	Perfect Price Discrimination</a:t>
            </a:r>
          </a:p>
        </p:txBody>
      </p:sp>
      <p:sp>
        <p:nvSpPr>
          <p:cNvPr id="8198"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4" name="Slide Number Placeholder 3"/>
          <p:cNvSpPr>
            <a:spLocks noGrp="1"/>
          </p:cNvSpPr>
          <p:nvPr>
            <p:ph type="sldNum" sz="quarter" idx="11"/>
          </p:nvPr>
        </p:nvSpPr>
        <p:spPr>
          <a:prstGeom prst="rect">
            <a:avLst/>
          </a:prstGeom>
        </p:spPr>
        <p:txBody>
          <a:bodyPr/>
          <a:lstStyle/>
          <a:p>
            <a:pPr>
              <a:defRPr/>
            </a:pPr>
            <a:fld id="{0B9A225E-2125-4D94-95E5-8F6131DA4594}" type="slidenum">
              <a:rPr lang="en-US" smtClean="0"/>
              <a:pPr>
                <a:defRPr/>
              </a:pPr>
              <a:t>36</a:t>
            </a:fld>
            <a:endParaRPr lang="en-US" dirty="0"/>
          </a:p>
        </p:txBody>
      </p:sp>
      <p:sp>
        <p:nvSpPr>
          <p:cNvPr id="8196" name="Content Placeholder 2"/>
          <p:cNvSpPr>
            <a:spLocks noGrp="1"/>
          </p:cNvSpPr>
          <p:nvPr>
            <p:ph type="body" sz="quarter" idx="12"/>
          </p:nvPr>
        </p:nvSpPr>
        <p:spPr>
          <a:xfrm>
            <a:off x="381000" y="533400"/>
            <a:ext cx="8382000" cy="3581400"/>
          </a:xfrm>
          <a:prstGeom prst="rect">
            <a:avLst/>
          </a:prstGeom>
        </p:spPr>
        <p:txBody>
          <a:bodyPr>
            <a:normAutofit/>
          </a:bodyPr>
          <a:lstStyle/>
          <a:p>
            <a:r>
              <a:rPr lang="en-US" altLang="en-US" dirty="0" smtClean="0"/>
              <a:t>Frisbee manufacturer</a:t>
            </a:r>
          </a:p>
          <a:p>
            <a:r>
              <a:rPr lang="en-US" altLang="en-US" dirty="0" smtClean="0"/>
              <a:t>Perfect price discrimination</a:t>
            </a:r>
          </a:p>
          <a:p>
            <a:pPr lvl="1"/>
            <a:r>
              <a:rPr lang="en-US" altLang="en-US" dirty="0" smtClean="0"/>
              <a:t>The firm will want to produce the quantity at which price is exactly equal to marginal cost</a:t>
            </a:r>
          </a:p>
          <a:p>
            <a:pPr lvl="1" algn="ctr">
              <a:buFont typeface="Arial" charset="0"/>
              <a:buNone/>
            </a:pPr>
            <a:r>
              <a:rPr lang="en-US" altLang="en-US" i="1" dirty="0" smtClean="0">
                <a:solidFill>
                  <a:srgbClr val="FF0000"/>
                </a:solidFill>
              </a:rPr>
              <a:t>P</a:t>
            </a:r>
            <a:r>
              <a:rPr lang="en-US" altLang="en-US" dirty="0" smtClean="0">
                <a:solidFill>
                  <a:srgbClr val="FF0000"/>
                </a:solidFill>
              </a:rPr>
              <a:t> = 100 - </a:t>
            </a:r>
            <a:r>
              <a:rPr lang="en-US" altLang="en-US" i="1" dirty="0" smtClean="0">
                <a:solidFill>
                  <a:srgbClr val="FF0000"/>
                </a:solidFill>
              </a:rPr>
              <a:t>Q</a:t>
            </a:r>
            <a:r>
              <a:rPr lang="en-US" altLang="en-US" dirty="0" smtClean="0">
                <a:solidFill>
                  <a:srgbClr val="FF0000"/>
                </a:solidFill>
              </a:rPr>
              <a:t>/20 = </a:t>
            </a:r>
            <a:r>
              <a:rPr lang="en-US" altLang="en-US" i="1" dirty="0" smtClean="0">
                <a:solidFill>
                  <a:srgbClr val="FF0000"/>
                </a:solidFill>
              </a:rPr>
              <a:t>MC</a:t>
            </a:r>
            <a:r>
              <a:rPr lang="en-US" altLang="en-US" dirty="0" smtClean="0">
                <a:solidFill>
                  <a:srgbClr val="FF0000"/>
                </a:solidFill>
              </a:rPr>
              <a:t> = 0.1</a:t>
            </a:r>
            <a:r>
              <a:rPr lang="en-US" altLang="en-US" i="1" dirty="0" smtClean="0">
                <a:solidFill>
                  <a:srgbClr val="FF0000"/>
                </a:solidFill>
              </a:rPr>
              <a:t>Q, </a:t>
            </a:r>
            <a:r>
              <a:rPr lang="en-US" altLang="en-US" dirty="0" smtClean="0"/>
              <a:t>so</a:t>
            </a:r>
            <a:r>
              <a:rPr lang="en-US" altLang="en-US" i="1" dirty="0" smtClean="0">
                <a:solidFill>
                  <a:srgbClr val="FF0000"/>
                </a:solidFill>
              </a:rPr>
              <a:t> Q</a:t>
            </a:r>
            <a:r>
              <a:rPr lang="en-US" altLang="en-US" dirty="0" smtClean="0">
                <a:solidFill>
                  <a:srgbClr val="FF0000"/>
                </a:solidFill>
              </a:rPr>
              <a:t>* = 666</a:t>
            </a:r>
          </a:p>
          <a:p>
            <a:pPr lvl="1"/>
            <a:r>
              <a:rPr lang="en-US" altLang="en-US" dirty="0" smtClean="0"/>
              <a:t>Total revenue and total costs will be</a:t>
            </a:r>
          </a:p>
        </p:txBody>
      </p:sp>
      <p:sp>
        <p:nvSpPr>
          <p:cNvPr id="2" name="Text Placeholder 1"/>
          <p:cNvSpPr>
            <a:spLocks noGrp="1"/>
          </p:cNvSpPr>
          <p:nvPr>
            <p:ph type="body" sz="quarter" idx="13"/>
          </p:nvPr>
        </p:nvSpPr>
        <p:spPr>
          <a:xfrm>
            <a:off x="381000" y="5334000"/>
            <a:ext cx="8382000" cy="838200"/>
          </a:xfrm>
        </p:spPr>
        <p:txBody>
          <a:bodyPr/>
          <a:lstStyle/>
          <a:p>
            <a:pPr lvl="1"/>
            <a:r>
              <a:rPr lang="en-US" kern="0" dirty="0"/>
              <a:t>Profit is much larger (23,333 &gt; 15,000)</a:t>
            </a:r>
          </a:p>
          <a:p>
            <a:pPr marL="457200" lvl="1" indent="0">
              <a:buNone/>
            </a:pPr>
            <a:endParaRPr lang="en-US" dirty="0"/>
          </a:p>
        </p:txBody>
      </p:sp>
      <p:graphicFrame>
        <p:nvGraphicFramePr>
          <p:cNvPr id="1108996" name="Object 2"/>
          <p:cNvGraphicFramePr>
            <a:graphicFrameLocks noChangeAspect="1"/>
          </p:cNvGraphicFramePr>
          <p:nvPr/>
        </p:nvGraphicFramePr>
        <p:xfrm>
          <a:off x="1508125" y="3571875"/>
          <a:ext cx="6127750" cy="1819275"/>
        </p:xfrm>
        <a:graphic>
          <a:graphicData uri="http://schemas.openxmlformats.org/presentationml/2006/ole">
            <mc:AlternateContent xmlns:mc="http://schemas.openxmlformats.org/markup-compatibility/2006">
              <mc:Choice xmlns:v="urn:schemas-microsoft-com:vml" Requires="v">
                <p:oleObj spid="_x0000_s309266" name="Equation" r:id="rId3" imgW="2565360" imgH="761760" progId="Equation.DSMT4">
                  <p:embed/>
                </p:oleObj>
              </mc:Choice>
              <mc:Fallback>
                <p:oleObj name="Equation" r:id="rId3" imgW="2565360" imgH="76176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8125" y="3571875"/>
                        <a:ext cx="6127750" cy="1819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33249007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1108996"/>
                                        </p:tgtEl>
                                        <p:attrNameLst>
                                          <p:attrName>style.visibility</p:attrName>
                                        </p:attrNameLst>
                                      </p:cBhvr>
                                      <p:to>
                                        <p:strVal val="visible"/>
                                      </p:to>
                                    </p:set>
                                    <p:animEffect transition="in" filter="wipe(left)">
                                      <p:cBhvr>
                                        <p:cTn id="7" dur="500"/>
                                        <p:tgtEl>
                                          <p:spTgt spid="1108996"/>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animEffect transition="in" filter="wipe(left)">
                                      <p:cBhvr>
                                        <p:cTn id="11"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lstStyle/>
          <a:p>
            <a:r>
              <a:rPr lang="en-US" altLang="en-US" dirty="0" smtClean="0"/>
              <a:t>Segmented Markets</a:t>
            </a:r>
          </a:p>
        </p:txBody>
      </p:sp>
      <p:sp>
        <p:nvSpPr>
          <p:cNvPr id="50179" name="Rectangle 3"/>
          <p:cNvSpPr>
            <a:spLocks noGrp="1" noChangeArrowheads="1"/>
          </p:cNvSpPr>
          <p:nvPr>
            <p:ph idx="1"/>
          </p:nvPr>
        </p:nvSpPr>
        <p:spPr>
          <a:xfrm>
            <a:off x="381000" y="1143000"/>
            <a:ext cx="8534400" cy="5257800"/>
          </a:xfrm>
        </p:spPr>
        <p:txBody>
          <a:bodyPr/>
          <a:lstStyle/>
          <a:p>
            <a:r>
              <a:rPr lang="en-US" altLang="en-US" dirty="0" smtClean="0"/>
              <a:t>Perfect price discrimination </a:t>
            </a:r>
          </a:p>
          <a:p>
            <a:pPr lvl="1"/>
            <a:r>
              <a:rPr lang="en-US" altLang="en-US" dirty="0" smtClean="0"/>
              <a:t>Requires the monopolist to know the demand function for each potential buyer</a:t>
            </a:r>
          </a:p>
          <a:p>
            <a:r>
              <a:rPr lang="en-US" altLang="en-US" dirty="0" smtClean="0"/>
              <a:t>Price discrimination across segmented markets</a:t>
            </a:r>
          </a:p>
          <a:p>
            <a:pPr lvl="1"/>
            <a:r>
              <a:rPr lang="en-US" altLang="en-US" dirty="0" smtClean="0"/>
              <a:t>Monopoly can </a:t>
            </a:r>
            <a:r>
              <a:rPr lang="en-US" altLang="en-US" dirty="0" err="1" smtClean="0"/>
              <a:t>sement</a:t>
            </a:r>
            <a:r>
              <a:rPr lang="en-US" altLang="en-US" dirty="0" smtClean="0"/>
              <a:t> its buyers into a few identifiable markets</a:t>
            </a:r>
          </a:p>
          <a:p>
            <a:pPr lvl="1"/>
            <a:r>
              <a:rPr lang="en-US" altLang="en-US" dirty="0" smtClean="0"/>
              <a:t>Can follow a different pricing policy in each market</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95208C95-0F55-4D2E-9439-BA490444E6A2}" type="slidenum">
              <a:rPr lang="en-US" smtClean="0"/>
              <a:pPr>
                <a:defRPr/>
              </a:pPr>
              <a:t>37</a:t>
            </a:fld>
            <a:endParaRPr lang="en-US"/>
          </a:p>
        </p:txBody>
      </p:sp>
    </p:spTree>
    <p:extLst>
      <p:ext uri="{BB962C8B-B14F-4D97-AF65-F5344CB8AC3E}">
        <p14:creationId xmlns:p14="http://schemas.microsoft.com/office/powerpoint/2010/main" val="1850735573"/>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
          <p:cNvSpPr>
            <a:spLocks noGrp="1" noChangeArrowheads="1"/>
          </p:cNvSpPr>
          <p:nvPr>
            <p:ph type="title"/>
          </p:nvPr>
        </p:nvSpPr>
        <p:spPr/>
        <p:txBody>
          <a:bodyPr/>
          <a:lstStyle/>
          <a:p>
            <a:r>
              <a:rPr lang="en-US" altLang="en-US" dirty="0"/>
              <a:t>Segmented Markets</a:t>
            </a:r>
            <a:endParaRPr lang="en-US" altLang="en-US" dirty="0" smtClean="0"/>
          </a:p>
        </p:txBody>
      </p:sp>
      <p:sp>
        <p:nvSpPr>
          <p:cNvPr id="9220" name="Rectangle 3"/>
          <p:cNvSpPr>
            <a:spLocks noGrp="1" noChangeArrowheads="1"/>
          </p:cNvSpPr>
          <p:nvPr>
            <p:ph idx="1"/>
          </p:nvPr>
        </p:nvSpPr>
        <p:spPr>
          <a:xfrm>
            <a:off x="381000" y="1219200"/>
            <a:ext cx="8534400" cy="3810000"/>
          </a:xfrm>
        </p:spPr>
        <p:txBody>
          <a:bodyPr/>
          <a:lstStyle/>
          <a:p>
            <a:r>
              <a:rPr lang="en-US" altLang="en-US" dirty="0"/>
              <a:t>Price </a:t>
            </a:r>
            <a:r>
              <a:rPr lang="en-US" altLang="en-US" dirty="0" smtClean="0"/>
              <a:t>discrimination, </a:t>
            </a:r>
            <a:r>
              <a:rPr lang="en-US" altLang="en-US" dirty="0"/>
              <a:t>segmented markets</a:t>
            </a:r>
          </a:p>
          <a:p>
            <a:pPr lvl="1"/>
            <a:r>
              <a:rPr lang="en-US" altLang="en-US" sz="3000" dirty="0" smtClean="0"/>
              <a:t>Knowing the price elasticities of demand in these markets</a:t>
            </a:r>
          </a:p>
          <a:p>
            <a:pPr lvl="1"/>
            <a:r>
              <a:rPr lang="en-US" altLang="en-US" sz="3000" dirty="0" smtClean="0"/>
              <a:t>Set a price in each market according to the inverse elasticity rule</a:t>
            </a:r>
          </a:p>
          <a:p>
            <a:pPr lvl="2"/>
            <a:r>
              <a:rPr lang="en-US" altLang="en-US" dirty="0" smtClean="0"/>
              <a:t>Assuming that marginal cost is the same in all markets</a:t>
            </a:r>
          </a:p>
        </p:txBody>
      </p:sp>
      <p:sp>
        <p:nvSpPr>
          <p:cNvPr id="6" name="Footer Placeholder 5"/>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5" name="Slide Number Placeholder 4"/>
          <p:cNvSpPr>
            <a:spLocks noGrp="1"/>
          </p:cNvSpPr>
          <p:nvPr>
            <p:ph type="sldNum" sz="quarter" idx="11"/>
          </p:nvPr>
        </p:nvSpPr>
        <p:spPr/>
        <p:txBody>
          <a:bodyPr/>
          <a:lstStyle/>
          <a:p>
            <a:pPr>
              <a:defRPr/>
            </a:pPr>
            <a:fld id="{A60515C6-EB94-403F-AF44-0AB2BCD5694B}" type="slidenum">
              <a:rPr lang="en-US" smtClean="0"/>
              <a:pPr>
                <a:defRPr/>
              </a:pPr>
              <a:t>38</a:t>
            </a:fld>
            <a:endParaRPr lang="en-US"/>
          </a:p>
        </p:txBody>
      </p:sp>
      <p:sp>
        <p:nvSpPr>
          <p:cNvPr id="2" name="Text Placeholder 1"/>
          <p:cNvSpPr>
            <a:spLocks noGrp="1"/>
          </p:cNvSpPr>
          <p:nvPr>
            <p:ph type="body" sz="quarter" idx="12"/>
          </p:nvPr>
        </p:nvSpPr>
        <p:spPr>
          <a:xfrm>
            <a:off x="381000" y="5410200"/>
            <a:ext cx="8534400" cy="838200"/>
          </a:xfrm>
        </p:spPr>
        <p:txBody>
          <a:bodyPr>
            <a:noAutofit/>
          </a:bodyPr>
          <a:lstStyle/>
          <a:p>
            <a:pPr lvl="1"/>
            <a:r>
              <a:rPr lang="en-US" sz="2800" kern="0" dirty="0"/>
              <a:t>The profit-maximizing price will be higher in markets where demand is less </a:t>
            </a:r>
            <a:r>
              <a:rPr lang="en-US" sz="2800" kern="0" dirty="0" smtClean="0"/>
              <a:t>elastic</a:t>
            </a:r>
            <a:endParaRPr lang="en-US" sz="2800" kern="0" dirty="0"/>
          </a:p>
        </p:txBody>
      </p:sp>
      <p:graphicFrame>
        <p:nvGraphicFramePr>
          <p:cNvPr id="1134596" name="Object 2"/>
          <p:cNvGraphicFramePr>
            <a:graphicFrameLocks noChangeAspect="1"/>
          </p:cNvGraphicFramePr>
          <p:nvPr>
            <p:extLst>
              <p:ext uri="{D42A27DB-BD31-4B8C-83A1-F6EECF244321}">
                <p14:modId xmlns:p14="http://schemas.microsoft.com/office/powerpoint/2010/main" val="4218865909"/>
              </p:ext>
            </p:extLst>
          </p:nvPr>
        </p:nvGraphicFramePr>
        <p:xfrm>
          <a:off x="2133600" y="4611688"/>
          <a:ext cx="5018088" cy="948033"/>
        </p:xfrm>
        <a:graphic>
          <a:graphicData uri="http://schemas.openxmlformats.org/presentationml/2006/ole">
            <mc:AlternateContent xmlns:mc="http://schemas.openxmlformats.org/markup-compatibility/2006">
              <mc:Choice xmlns:v="urn:schemas-microsoft-com:vml" Requires="v">
                <p:oleObj spid="_x0000_s310290" name="Equation" r:id="rId3" imgW="2489040" imgH="469800" progId="Equation.DSMT4">
                  <p:embed/>
                </p:oleObj>
              </mc:Choice>
              <mc:Fallback>
                <p:oleObj name="Equation" r:id="rId3" imgW="2489040" imgH="4698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33600" y="4611688"/>
                        <a:ext cx="5018088" cy="948033"/>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8168881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1134596"/>
                                        </p:tgtEl>
                                        <p:attrNameLst>
                                          <p:attrName>style.visibility</p:attrName>
                                        </p:attrNameLst>
                                      </p:cBhvr>
                                      <p:to>
                                        <p:strVal val="visible"/>
                                      </p:to>
                                    </p:set>
                                    <p:animEffect transition="in" filter="wipe(left)">
                                      <p:cBhvr>
                                        <p:cTn id="7" dur="500"/>
                                        <p:tgtEl>
                                          <p:spTgt spid="1134596"/>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animEffect transition="in" filter="wipe(left)">
                                      <p:cBhvr>
                                        <p:cTn id="11"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
          <p:cNvSpPr>
            <a:spLocks noGrp="1" noChangeArrowheads="1"/>
          </p:cNvSpPr>
          <p:nvPr>
            <p:ph type="title"/>
          </p:nvPr>
        </p:nvSpPr>
        <p:spPr/>
        <p:txBody>
          <a:bodyPr/>
          <a:lstStyle/>
          <a:p>
            <a:r>
              <a:rPr lang="en-US" altLang="en-US" dirty="0"/>
              <a:t>Segmented Markets</a:t>
            </a:r>
            <a:endParaRPr lang="en-US" altLang="en-US" dirty="0" smtClean="0"/>
          </a:p>
        </p:txBody>
      </p:sp>
      <p:sp>
        <p:nvSpPr>
          <p:cNvPr id="9220" name="Rectangle 3"/>
          <p:cNvSpPr>
            <a:spLocks noGrp="1" noChangeArrowheads="1"/>
          </p:cNvSpPr>
          <p:nvPr>
            <p:ph idx="1"/>
          </p:nvPr>
        </p:nvSpPr>
        <p:spPr/>
        <p:txBody>
          <a:bodyPr/>
          <a:lstStyle/>
          <a:p>
            <a:r>
              <a:rPr lang="en-US" altLang="en-US" dirty="0" smtClean="0"/>
              <a:t>Ambiguous welfare consequences</a:t>
            </a:r>
          </a:p>
          <a:p>
            <a:pPr lvl="1"/>
            <a:r>
              <a:rPr lang="en-US" altLang="en-US" dirty="0" smtClean="0"/>
              <a:t>If </a:t>
            </a:r>
            <a:r>
              <a:rPr lang="en-US" altLang="en-US" dirty="0"/>
              <a:t>total amount sold in the two markets </a:t>
            </a:r>
            <a:r>
              <a:rPr lang="en-US" altLang="en-US" dirty="0" smtClean="0"/>
              <a:t>under </a:t>
            </a:r>
            <a:r>
              <a:rPr lang="en-US" altLang="en-US" dirty="0"/>
              <a:t>price discrimination </a:t>
            </a:r>
            <a:r>
              <a:rPr lang="en-US" altLang="en-US" dirty="0" smtClean="0"/>
              <a:t>= quantity sold under a </a:t>
            </a:r>
            <a:r>
              <a:rPr lang="en-US" altLang="en-US" dirty="0"/>
              <a:t>single </a:t>
            </a:r>
            <a:r>
              <a:rPr lang="en-US" altLang="en-US" dirty="0" smtClean="0"/>
              <a:t>price</a:t>
            </a:r>
          </a:p>
          <a:p>
            <a:pPr lvl="2"/>
            <a:r>
              <a:rPr lang="en-US" altLang="en-US" dirty="0" smtClean="0"/>
              <a:t>Higher welfare under </a:t>
            </a:r>
            <a:r>
              <a:rPr lang="en-US" altLang="en-US" dirty="0"/>
              <a:t>single </a:t>
            </a:r>
            <a:r>
              <a:rPr lang="en-US" altLang="en-US" dirty="0" smtClean="0"/>
              <a:t>price </a:t>
            </a:r>
          </a:p>
          <a:p>
            <a:pPr lvl="1"/>
            <a:r>
              <a:rPr lang="en-US" altLang="en-US" dirty="0" smtClean="0"/>
              <a:t>Price </a:t>
            </a:r>
            <a:r>
              <a:rPr lang="en-US" altLang="en-US" dirty="0"/>
              <a:t>discrimination can in some cases increase total output sold across the </a:t>
            </a:r>
            <a:r>
              <a:rPr lang="en-US" altLang="en-US" dirty="0" smtClean="0"/>
              <a:t>markets</a:t>
            </a:r>
          </a:p>
          <a:p>
            <a:pPr lvl="2"/>
            <a:r>
              <a:rPr lang="en-US" altLang="en-US" dirty="0" smtClean="0"/>
              <a:t>Higher welfare under price discrimination</a:t>
            </a:r>
          </a:p>
        </p:txBody>
      </p:sp>
      <p:sp>
        <p:nvSpPr>
          <p:cNvPr id="6" name="Footer Placeholder 5"/>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5" name="Slide Number Placeholder 4"/>
          <p:cNvSpPr>
            <a:spLocks noGrp="1"/>
          </p:cNvSpPr>
          <p:nvPr>
            <p:ph type="sldNum" sz="quarter" idx="11"/>
          </p:nvPr>
        </p:nvSpPr>
        <p:spPr/>
        <p:txBody>
          <a:bodyPr/>
          <a:lstStyle/>
          <a:p>
            <a:pPr>
              <a:defRPr/>
            </a:pPr>
            <a:fld id="{A60515C6-EB94-403F-AF44-0AB2BCD5694B}" type="slidenum">
              <a:rPr lang="en-US" smtClean="0"/>
              <a:pPr>
                <a:defRPr/>
              </a:pPr>
              <a:t>39</a:t>
            </a:fld>
            <a:endParaRPr lang="en-US"/>
          </a:p>
        </p:txBody>
      </p:sp>
    </p:spTree>
    <p:extLst>
      <p:ext uri="{BB962C8B-B14F-4D97-AF65-F5344CB8AC3E}">
        <p14:creationId xmlns:p14="http://schemas.microsoft.com/office/powerpoint/2010/main" val="776744261"/>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p:cNvSpPr>
            <a:spLocks noGrp="1"/>
          </p:cNvSpPr>
          <p:nvPr>
            <p:ph type="title"/>
          </p:nvPr>
        </p:nvSpPr>
        <p:spPr bwMode="auto">
          <a:xfrm>
            <a:off x="1143000" y="0"/>
            <a:ext cx="8001000" cy="990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a:t>14.5	</a:t>
            </a:r>
            <a:r>
              <a:rPr lang="en-US" altLang="en-US" dirty="0" smtClean="0"/>
              <a:t>Price Discrimination across Segmented </a:t>
            </a:r>
            <a:br>
              <a:rPr lang="en-US" altLang="en-US" dirty="0" smtClean="0"/>
            </a:br>
            <a:r>
              <a:rPr lang="en-US" altLang="en-US" dirty="0"/>
              <a:t>	</a:t>
            </a:r>
            <a:r>
              <a:rPr lang="en-US" altLang="en-US" dirty="0" smtClean="0">
                <a:solidFill>
                  <a:srgbClr val="002D56"/>
                </a:solidFill>
              </a:rPr>
              <a:t>Markets</a:t>
            </a:r>
          </a:p>
        </p:txBody>
      </p:sp>
      <p:sp>
        <p:nvSpPr>
          <p:cNvPr id="51203" name="Text Placeholder 2"/>
          <p:cNvSpPr>
            <a:spLocks noGrp="1"/>
          </p:cNvSpPr>
          <p:nvPr>
            <p:ph sz="half" idx="1"/>
          </p:nvPr>
        </p:nvSpPr>
        <p:spPr>
          <a:xfrm>
            <a:off x="457200" y="4876800"/>
            <a:ext cx="8229600" cy="1249363"/>
          </a:xfrm>
        </p:spPr>
        <p:txBody>
          <a:bodyPr>
            <a:normAutofit/>
          </a:bodyPr>
          <a:lstStyle/>
          <a:p>
            <a:pPr>
              <a:spcBef>
                <a:spcPct val="0"/>
              </a:spcBef>
            </a:pPr>
            <a:r>
              <a:rPr lang="en-US" altLang="en-US" dirty="0"/>
              <a:t>If two markets are separate, then a monopolist can maximize profits by selling its product at different prices in the two markets. This would entail choosing that output for which MC=MR in each of the markets. The diagram shows that the market with a less elastic demand curve will be charged the higher price by the price discriminator.</a:t>
            </a:r>
          </a:p>
          <a:p>
            <a:pPr>
              <a:spcBef>
                <a:spcPct val="0"/>
              </a:spcBef>
            </a:pPr>
            <a:endParaRPr lang="en-US" altLang="en-US" dirty="0" smtClean="0"/>
          </a:p>
        </p:txBody>
      </p:sp>
      <p:sp>
        <p:nvSpPr>
          <p:cNvPr id="51206" name="Footer Placeholder 5"/>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5" name="Slide Number Placeholder 4"/>
          <p:cNvSpPr>
            <a:spLocks noGrp="1"/>
          </p:cNvSpPr>
          <p:nvPr>
            <p:ph type="sldNum" sz="quarter" idx="11"/>
          </p:nvPr>
        </p:nvSpPr>
        <p:spPr/>
        <p:txBody>
          <a:bodyPr/>
          <a:lstStyle/>
          <a:p>
            <a:pPr>
              <a:defRPr/>
            </a:pPr>
            <a:fld id="{24E131F9-AE73-4D1D-AD3F-F69F7A0B7A17}" type="slidenum">
              <a:rPr lang="en-US" smtClean="0"/>
              <a:pPr>
                <a:defRPr/>
              </a:pPr>
              <a:t>40</a:t>
            </a:fld>
            <a:endParaRPr lang="en-US" dirty="0"/>
          </a:p>
        </p:txBody>
      </p:sp>
      <p:grpSp>
        <p:nvGrpSpPr>
          <p:cNvPr id="32" name="Group 42"/>
          <p:cNvGrpSpPr>
            <a:grpSpLocks/>
          </p:cNvGrpSpPr>
          <p:nvPr/>
        </p:nvGrpSpPr>
        <p:grpSpPr bwMode="auto">
          <a:xfrm>
            <a:off x="735013" y="928688"/>
            <a:ext cx="7543800" cy="3795712"/>
            <a:chOff x="734868" y="1208323"/>
            <a:chExt cx="7543800" cy="3795713"/>
          </a:xfrm>
        </p:grpSpPr>
        <p:grpSp>
          <p:nvGrpSpPr>
            <p:cNvPr id="51236" name="Group 32"/>
            <p:cNvGrpSpPr>
              <a:grpSpLocks/>
            </p:cNvGrpSpPr>
            <p:nvPr/>
          </p:nvGrpSpPr>
          <p:grpSpPr bwMode="auto">
            <a:xfrm>
              <a:off x="734868" y="4637323"/>
              <a:ext cx="7543800" cy="366713"/>
              <a:chOff x="734868" y="4637323"/>
              <a:chExt cx="7543800" cy="366713"/>
            </a:xfrm>
          </p:grpSpPr>
          <p:sp>
            <p:nvSpPr>
              <p:cNvPr id="51241" name="Line 4"/>
              <p:cNvSpPr>
                <a:spLocks noChangeShapeType="1"/>
              </p:cNvSpPr>
              <p:nvPr/>
            </p:nvSpPr>
            <p:spPr bwMode="auto">
              <a:xfrm>
                <a:off x="1427018" y="4637323"/>
                <a:ext cx="58674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en-US"/>
              </a:p>
            </p:txBody>
          </p:sp>
          <p:sp>
            <p:nvSpPr>
              <p:cNvPr id="51242" name="Text Box 5"/>
              <p:cNvSpPr txBox="1">
                <a:spLocks noChangeArrowheads="1"/>
              </p:cNvSpPr>
              <p:nvPr/>
            </p:nvSpPr>
            <p:spPr bwMode="auto">
              <a:xfrm>
                <a:off x="6049818" y="4637323"/>
                <a:ext cx="22288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t>Quantity in Market 2</a:t>
                </a:r>
              </a:p>
            </p:txBody>
          </p:sp>
          <p:sp>
            <p:nvSpPr>
              <p:cNvPr id="51243" name="Text Box 6"/>
              <p:cNvSpPr txBox="1">
                <a:spLocks noChangeArrowheads="1"/>
              </p:cNvSpPr>
              <p:nvPr/>
            </p:nvSpPr>
            <p:spPr bwMode="auto">
              <a:xfrm>
                <a:off x="734868" y="4637323"/>
                <a:ext cx="22288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t>Quantity in Market 1</a:t>
                </a:r>
              </a:p>
            </p:txBody>
          </p:sp>
        </p:grpSp>
        <p:grpSp>
          <p:nvGrpSpPr>
            <p:cNvPr id="51237" name="Group 31"/>
            <p:cNvGrpSpPr>
              <a:grpSpLocks/>
            </p:cNvGrpSpPr>
            <p:nvPr/>
          </p:nvGrpSpPr>
          <p:grpSpPr bwMode="auto">
            <a:xfrm>
              <a:off x="4036868" y="1208323"/>
              <a:ext cx="704850" cy="3784600"/>
              <a:chOff x="4036868" y="1208323"/>
              <a:chExt cx="704850" cy="3784600"/>
            </a:xfrm>
          </p:grpSpPr>
          <p:sp>
            <p:nvSpPr>
              <p:cNvPr id="51238" name="Line 3"/>
              <p:cNvSpPr>
                <a:spLocks noChangeShapeType="1"/>
              </p:cNvSpPr>
              <p:nvPr/>
            </p:nvSpPr>
            <p:spPr bwMode="auto">
              <a:xfrm>
                <a:off x="4398818" y="1589323"/>
                <a:ext cx="0" cy="3048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239" name="Text Box 7"/>
              <p:cNvSpPr txBox="1">
                <a:spLocks noChangeArrowheads="1"/>
              </p:cNvSpPr>
              <p:nvPr/>
            </p:nvSpPr>
            <p:spPr bwMode="auto">
              <a:xfrm>
                <a:off x="4036868" y="1208323"/>
                <a:ext cx="7048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dirty="0"/>
                  <a:t>Price</a:t>
                </a:r>
              </a:p>
            </p:txBody>
          </p:sp>
          <p:sp>
            <p:nvSpPr>
              <p:cNvPr id="51240" name="Text Box 8"/>
              <p:cNvSpPr txBox="1">
                <a:spLocks noChangeArrowheads="1"/>
              </p:cNvSpPr>
              <p:nvPr/>
            </p:nvSpPr>
            <p:spPr bwMode="auto">
              <a:xfrm>
                <a:off x="4260706" y="4688123"/>
                <a:ext cx="282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t>0</a:t>
                </a:r>
              </a:p>
            </p:txBody>
          </p:sp>
        </p:grpSp>
      </p:grpSp>
      <p:grpSp>
        <p:nvGrpSpPr>
          <p:cNvPr id="35" name="Group 37"/>
          <p:cNvGrpSpPr>
            <a:grpSpLocks/>
          </p:cNvGrpSpPr>
          <p:nvPr/>
        </p:nvGrpSpPr>
        <p:grpSpPr bwMode="auto">
          <a:xfrm>
            <a:off x="4779964" y="2300288"/>
            <a:ext cx="3144837" cy="1905000"/>
            <a:chOff x="4779818" y="2579923"/>
            <a:chExt cx="3145163" cy="1905000"/>
          </a:xfrm>
        </p:grpSpPr>
        <p:sp>
          <p:nvSpPr>
            <p:cNvPr id="51234" name="Line 9"/>
            <p:cNvSpPr>
              <a:spLocks noChangeShapeType="1"/>
            </p:cNvSpPr>
            <p:nvPr/>
          </p:nvSpPr>
          <p:spPr bwMode="auto">
            <a:xfrm>
              <a:off x="4779818" y="2579923"/>
              <a:ext cx="2286000" cy="1524000"/>
            </a:xfrm>
            <a:prstGeom prst="line">
              <a:avLst/>
            </a:prstGeom>
            <a:noFill/>
            <a:ln w="28575">
              <a:solidFill>
                <a:srgbClr val="7030A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235" name="Text Box 14"/>
            <p:cNvSpPr txBox="1">
              <a:spLocks noChangeArrowheads="1"/>
            </p:cNvSpPr>
            <p:nvPr/>
          </p:nvSpPr>
          <p:spPr bwMode="auto">
            <a:xfrm>
              <a:off x="7065818" y="3951523"/>
              <a:ext cx="859163"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dirty="0" smtClean="0">
                  <a:solidFill>
                    <a:srgbClr val="5D0D8F"/>
                  </a:solidFill>
                </a:rPr>
                <a:t>P</a:t>
              </a:r>
              <a:r>
                <a:rPr lang="en-US" altLang="en-US" sz="1800" i="1" baseline="-25000" dirty="0" smtClean="0">
                  <a:solidFill>
                    <a:srgbClr val="5D0D8F"/>
                  </a:solidFill>
                </a:rPr>
                <a:t>2</a:t>
              </a:r>
              <a:r>
                <a:rPr lang="en-US" altLang="en-US" sz="1800" i="1" dirty="0" smtClean="0">
                  <a:solidFill>
                    <a:srgbClr val="5D0D8F"/>
                  </a:solidFill>
                </a:rPr>
                <a:t>(Q</a:t>
              </a:r>
              <a:r>
                <a:rPr lang="en-US" altLang="en-US" sz="1800" i="1" baseline="-25000" dirty="0" smtClean="0">
                  <a:solidFill>
                    <a:srgbClr val="5D0D8F"/>
                  </a:solidFill>
                </a:rPr>
                <a:t>2</a:t>
              </a:r>
              <a:r>
                <a:rPr lang="en-US" altLang="en-US" sz="1800" i="1" dirty="0" smtClean="0">
                  <a:solidFill>
                    <a:srgbClr val="5D0D8F"/>
                  </a:solidFill>
                </a:rPr>
                <a:t>)</a:t>
              </a:r>
              <a:endParaRPr lang="en-US" altLang="en-US" sz="1800" i="1" baseline="-25000" dirty="0">
                <a:solidFill>
                  <a:srgbClr val="5D0D8F"/>
                </a:solidFill>
              </a:endParaRPr>
            </a:p>
          </p:txBody>
        </p:sp>
      </p:grpSp>
      <p:grpSp>
        <p:nvGrpSpPr>
          <p:cNvPr id="36" name="Group 33"/>
          <p:cNvGrpSpPr>
            <a:grpSpLocks/>
          </p:cNvGrpSpPr>
          <p:nvPr/>
        </p:nvGrpSpPr>
        <p:grpSpPr bwMode="auto">
          <a:xfrm>
            <a:off x="1579563" y="1538288"/>
            <a:ext cx="1905000" cy="2667000"/>
            <a:chOff x="1579417" y="1817923"/>
            <a:chExt cx="1905001" cy="2667000"/>
          </a:xfrm>
        </p:grpSpPr>
        <p:sp>
          <p:nvSpPr>
            <p:cNvPr id="51232" name="Line 11"/>
            <p:cNvSpPr>
              <a:spLocks noChangeShapeType="1"/>
            </p:cNvSpPr>
            <p:nvPr/>
          </p:nvSpPr>
          <p:spPr bwMode="auto">
            <a:xfrm flipH="1">
              <a:off x="2189018" y="1817923"/>
              <a:ext cx="1295400" cy="2362200"/>
            </a:xfrm>
            <a:prstGeom prst="line">
              <a:avLst/>
            </a:prstGeom>
            <a:noFill/>
            <a:ln w="28575">
              <a:solidFill>
                <a:srgbClr val="7030A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233" name="Text Box 15"/>
            <p:cNvSpPr txBox="1">
              <a:spLocks noChangeArrowheads="1"/>
            </p:cNvSpPr>
            <p:nvPr/>
          </p:nvSpPr>
          <p:spPr bwMode="auto">
            <a:xfrm>
              <a:off x="1579417" y="4164248"/>
              <a:ext cx="760021"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dirty="0" smtClean="0">
                  <a:solidFill>
                    <a:srgbClr val="5D0D8F"/>
                  </a:solidFill>
                </a:rPr>
                <a:t>P</a:t>
              </a:r>
              <a:r>
                <a:rPr lang="en-US" altLang="en-US" sz="1800" i="1" baseline="-25000" dirty="0" smtClean="0">
                  <a:solidFill>
                    <a:srgbClr val="5D0D8F"/>
                  </a:solidFill>
                </a:rPr>
                <a:t>1</a:t>
              </a:r>
              <a:r>
                <a:rPr lang="en-US" altLang="en-US" sz="1800" i="1" dirty="0" smtClean="0">
                  <a:solidFill>
                    <a:srgbClr val="5D0D8F"/>
                  </a:solidFill>
                </a:rPr>
                <a:t>(Q</a:t>
              </a:r>
              <a:r>
                <a:rPr lang="en-US" altLang="en-US" sz="1800" i="1" baseline="-25000" dirty="0" smtClean="0">
                  <a:solidFill>
                    <a:srgbClr val="5D0D8F"/>
                  </a:solidFill>
                </a:rPr>
                <a:t>1</a:t>
              </a:r>
              <a:r>
                <a:rPr lang="en-US" altLang="en-US" sz="1800" i="1" dirty="0" smtClean="0">
                  <a:solidFill>
                    <a:srgbClr val="5D0D8F"/>
                  </a:solidFill>
                </a:rPr>
                <a:t>)</a:t>
              </a:r>
              <a:endParaRPr lang="en-US" altLang="en-US" sz="1800" i="1" baseline="-25000" dirty="0">
                <a:solidFill>
                  <a:srgbClr val="5D0D8F"/>
                </a:solidFill>
              </a:endParaRPr>
            </a:p>
          </p:txBody>
        </p:sp>
      </p:grpSp>
      <p:grpSp>
        <p:nvGrpSpPr>
          <p:cNvPr id="37" name="Group 36"/>
          <p:cNvGrpSpPr>
            <a:grpSpLocks/>
          </p:cNvGrpSpPr>
          <p:nvPr/>
        </p:nvGrpSpPr>
        <p:grpSpPr bwMode="auto">
          <a:xfrm>
            <a:off x="4779963" y="2681288"/>
            <a:ext cx="2001837" cy="1676398"/>
            <a:chOff x="4779818" y="2960923"/>
            <a:chExt cx="2001862" cy="1676398"/>
          </a:xfrm>
        </p:grpSpPr>
        <p:sp>
          <p:nvSpPr>
            <p:cNvPr id="51230" name="Line 10"/>
            <p:cNvSpPr>
              <a:spLocks noChangeShapeType="1"/>
            </p:cNvSpPr>
            <p:nvPr/>
          </p:nvSpPr>
          <p:spPr bwMode="auto">
            <a:xfrm>
              <a:off x="4779818" y="2960923"/>
              <a:ext cx="1066800" cy="1371600"/>
            </a:xfrm>
            <a:prstGeom prst="line">
              <a:avLst/>
            </a:prstGeom>
            <a:noFill/>
            <a:ln w="28575">
              <a:solidFill>
                <a:srgbClr val="7030A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231" name="Text Box 16"/>
            <p:cNvSpPr txBox="1">
              <a:spLocks noChangeArrowheads="1"/>
            </p:cNvSpPr>
            <p:nvPr/>
          </p:nvSpPr>
          <p:spPr bwMode="auto">
            <a:xfrm>
              <a:off x="5762481" y="4180122"/>
              <a:ext cx="1019199" cy="457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dirty="0" smtClean="0">
                  <a:solidFill>
                    <a:srgbClr val="5D0D8F"/>
                  </a:solidFill>
                </a:rPr>
                <a:t>MR</a:t>
              </a:r>
              <a:r>
                <a:rPr lang="en-US" altLang="en-US" sz="1800" i="1" baseline="-25000" dirty="0" smtClean="0">
                  <a:solidFill>
                    <a:srgbClr val="5D0D8F"/>
                  </a:solidFill>
                </a:rPr>
                <a:t>2</a:t>
              </a:r>
              <a:r>
                <a:rPr lang="en-US" altLang="en-US" sz="1800" i="1" dirty="0" smtClean="0">
                  <a:solidFill>
                    <a:srgbClr val="5D0D8F"/>
                  </a:solidFill>
                </a:rPr>
                <a:t>(Q</a:t>
              </a:r>
              <a:r>
                <a:rPr lang="en-US" altLang="en-US" sz="1800" i="1" baseline="-25000" dirty="0" smtClean="0">
                  <a:solidFill>
                    <a:srgbClr val="5D0D8F"/>
                  </a:solidFill>
                </a:rPr>
                <a:t>2</a:t>
              </a:r>
              <a:r>
                <a:rPr lang="en-US" altLang="en-US" sz="1800" i="1" dirty="0" smtClean="0">
                  <a:solidFill>
                    <a:srgbClr val="5D0D8F"/>
                  </a:solidFill>
                </a:rPr>
                <a:t>)</a:t>
              </a:r>
              <a:endParaRPr lang="en-US" altLang="en-US" sz="1800" i="1" baseline="-25000" dirty="0">
                <a:solidFill>
                  <a:srgbClr val="5D0D8F"/>
                </a:solidFill>
              </a:endParaRPr>
            </a:p>
          </p:txBody>
        </p:sp>
      </p:grpSp>
      <p:grpSp>
        <p:nvGrpSpPr>
          <p:cNvPr id="38" name="Group 35"/>
          <p:cNvGrpSpPr>
            <a:grpSpLocks/>
          </p:cNvGrpSpPr>
          <p:nvPr/>
        </p:nvGrpSpPr>
        <p:grpSpPr bwMode="auto">
          <a:xfrm>
            <a:off x="2438400" y="1843088"/>
            <a:ext cx="1350963" cy="2590800"/>
            <a:chOff x="2438255" y="2122723"/>
            <a:chExt cx="1350963" cy="2590800"/>
          </a:xfrm>
        </p:grpSpPr>
        <p:sp>
          <p:nvSpPr>
            <p:cNvPr id="51228" name="Line 12"/>
            <p:cNvSpPr>
              <a:spLocks noChangeShapeType="1"/>
            </p:cNvSpPr>
            <p:nvPr/>
          </p:nvSpPr>
          <p:spPr bwMode="auto">
            <a:xfrm flipH="1">
              <a:off x="3103418" y="2122723"/>
              <a:ext cx="685800" cy="2133600"/>
            </a:xfrm>
            <a:prstGeom prst="line">
              <a:avLst/>
            </a:prstGeom>
            <a:noFill/>
            <a:ln w="28575">
              <a:solidFill>
                <a:srgbClr val="7030A0"/>
              </a:solidFill>
              <a:round/>
              <a:headEnd/>
              <a:tailEnd/>
            </a:ln>
            <a:extLst>
              <a:ext uri="{909E8E84-426E-40DD-AFC4-6F175D3DCCD1}">
                <a14:hiddenFill xmlns:a14="http://schemas.microsoft.com/office/drawing/2010/main">
                  <a:noFill/>
                </a14:hiddenFill>
              </a:ext>
            </a:extLst>
          </p:spPr>
          <p:txBody>
            <a:bodyPr anchor="ctr"/>
            <a:lstStyle/>
            <a:p>
              <a:endParaRPr lang="en-US"/>
            </a:p>
          </p:txBody>
        </p:sp>
        <p:sp>
          <p:nvSpPr>
            <p:cNvPr id="51229" name="Text Box 17"/>
            <p:cNvSpPr txBox="1">
              <a:spLocks noChangeArrowheads="1"/>
            </p:cNvSpPr>
            <p:nvPr/>
          </p:nvSpPr>
          <p:spPr bwMode="auto">
            <a:xfrm>
              <a:off x="2438255" y="4256324"/>
              <a:ext cx="1011237" cy="457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dirty="0" smtClean="0">
                  <a:solidFill>
                    <a:srgbClr val="5D0D8F"/>
                  </a:solidFill>
                </a:rPr>
                <a:t>MR</a:t>
              </a:r>
              <a:r>
                <a:rPr lang="en-US" altLang="en-US" sz="1800" i="1" baseline="-25000" dirty="0" smtClean="0">
                  <a:solidFill>
                    <a:srgbClr val="5D0D8F"/>
                  </a:solidFill>
                </a:rPr>
                <a:t>1</a:t>
              </a:r>
              <a:r>
                <a:rPr lang="en-US" altLang="en-US" sz="1800" i="1" dirty="0" smtClean="0">
                  <a:solidFill>
                    <a:srgbClr val="5D0D8F"/>
                  </a:solidFill>
                </a:rPr>
                <a:t>(Q</a:t>
              </a:r>
              <a:r>
                <a:rPr lang="en-US" altLang="en-US" sz="1800" i="1" baseline="-25000" dirty="0" smtClean="0">
                  <a:solidFill>
                    <a:srgbClr val="5D0D8F"/>
                  </a:solidFill>
                </a:rPr>
                <a:t>1</a:t>
              </a:r>
              <a:r>
                <a:rPr lang="en-US" altLang="en-US" sz="1800" i="1" dirty="0">
                  <a:solidFill>
                    <a:srgbClr val="5D0D8F"/>
                  </a:solidFill>
                </a:rPr>
                <a:t>)</a:t>
              </a:r>
              <a:endParaRPr lang="en-US" altLang="en-US" sz="1800" i="1" baseline="-25000" dirty="0">
                <a:solidFill>
                  <a:srgbClr val="5D0D8F"/>
                </a:solidFill>
              </a:endParaRPr>
            </a:p>
            <a:p>
              <a:pPr eaLnBrk="1" hangingPunct="1"/>
              <a:endParaRPr lang="en-US" altLang="en-US" sz="1800" i="1" baseline="-25000" dirty="0">
                <a:solidFill>
                  <a:srgbClr val="5D0D8F"/>
                </a:solidFill>
              </a:endParaRPr>
            </a:p>
          </p:txBody>
        </p:sp>
      </p:grpSp>
      <p:grpSp>
        <p:nvGrpSpPr>
          <p:cNvPr id="39" name="Group 34"/>
          <p:cNvGrpSpPr>
            <a:grpSpLocks/>
          </p:cNvGrpSpPr>
          <p:nvPr/>
        </p:nvGrpSpPr>
        <p:grpSpPr bwMode="auto">
          <a:xfrm>
            <a:off x="1122363" y="2833688"/>
            <a:ext cx="6291262" cy="336550"/>
            <a:chOff x="1122218" y="3113323"/>
            <a:chExt cx="6291263" cy="336550"/>
          </a:xfrm>
        </p:grpSpPr>
        <p:sp>
          <p:nvSpPr>
            <p:cNvPr id="51225" name="Line 13"/>
            <p:cNvSpPr>
              <a:spLocks noChangeShapeType="1"/>
            </p:cNvSpPr>
            <p:nvPr/>
          </p:nvSpPr>
          <p:spPr bwMode="auto">
            <a:xfrm>
              <a:off x="1579418" y="3265723"/>
              <a:ext cx="5334000" cy="0"/>
            </a:xfrm>
            <a:prstGeom prst="line">
              <a:avLst/>
            </a:prstGeom>
            <a:noFill/>
            <a:ln w="28575">
              <a:solidFill>
                <a:srgbClr val="0066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226" name="Text Box 18"/>
            <p:cNvSpPr txBox="1">
              <a:spLocks noChangeArrowheads="1"/>
            </p:cNvSpPr>
            <p:nvPr/>
          </p:nvSpPr>
          <p:spPr bwMode="auto">
            <a:xfrm>
              <a:off x="6913418" y="3113323"/>
              <a:ext cx="5000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a:solidFill>
                    <a:srgbClr val="177B21"/>
                  </a:solidFill>
                </a:rPr>
                <a:t>MC</a:t>
              </a:r>
            </a:p>
          </p:txBody>
        </p:sp>
        <p:sp>
          <p:nvSpPr>
            <p:cNvPr id="51227" name="Text Box 19"/>
            <p:cNvSpPr txBox="1">
              <a:spLocks noChangeArrowheads="1"/>
            </p:cNvSpPr>
            <p:nvPr/>
          </p:nvSpPr>
          <p:spPr bwMode="auto">
            <a:xfrm>
              <a:off x="1122218" y="3113323"/>
              <a:ext cx="5000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a:solidFill>
                    <a:srgbClr val="177B21"/>
                  </a:solidFill>
                </a:rPr>
                <a:t>MC</a:t>
              </a:r>
            </a:p>
          </p:txBody>
        </p:sp>
      </p:grpSp>
      <p:grpSp>
        <p:nvGrpSpPr>
          <p:cNvPr id="40" name="Group 38"/>
          <p:cNvGrpSpPr>
            <a:grpSpLocks/>
          </p:cNvGrpSpPr>
          <p:nvPr/>
        </p:nvGrpSpPr>
        <p:grpSpPr bwMode="auto">
          <a:xfrm>
            <a:off x="4802188" y="2452688"/>
            <a:ext cx="455612" cy="2236787"/>
            <a:chOff x="4802043" y="2732323"/>
            <a:chExt cx="455613" cy="2236788"/>
          </a:xfrm>
        </p:grpSpPr>
        <p:sp>
          <p:nvSpPr>
            <p:cNvPr id="51223" name="Line 21"/>
            <p:cNvSpPr>
              <a:spLocks noChangeShapeType="1"/>
            </p:cNvSpPr>
            <p:nvPr/>
          </p:nvSpPr>
          <p:spPr bwMode="auto">
            <a:xfrm>
              <a:off x="5008418" y="2732323"/>
              <a:ext cx="0" cy="190500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nchor="ctr"/>
            <a:lstStyle/>
            <a:p>
              <a:endParaRPr lang="en-US"/>
            </a:p>
          </p:txBody>
        </p:sp>
        <p:sp>
          <p:nvSpPr>
            <p:cNvPr id="51224" name="Text Box 23"/>
            <p:cNvSpPr txBox="1">
              <a:spLocks noChangeArrowheads="1"/>
            </p:cNvSpPr>
            <p:nvPr/>
          </p:nvSpPr>
          <p:spPr bwMode="auto">
            <a:xfrm>
              <a:off x="4802043" y="4664311"/>
              <a:ext cx="45561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a:t>Q</a:t>
              </a:r>
              <a:r>
                <a:rPr lang="en-US" altLang="en-US" sz="1800" baseline="-25000"/>
                <a:t>2</a:t>
              </a:r>
              <a:r>
                <a:rPr lang="en-US" altLang="en-US" sz="1800"/>
                <a:t>*</a:t>
              </a:r>
              <a:endParaRPr lang="en-US" altLang="en-US" sz="1800" i="1"/>
            </a:p>
          </p:txBody>
        </p:sp>
      </p:grpSp>
      <p:grpSp>
        <p:nvGrpSpPr>
          <p:cNvPr id="41" name="Group 41"/>
          <p:cNvGrpSpPr>
            <a:grpSpLocks/>
          </p:cNvGrpSpPr>
          <p:nvPr/>
        </p:nvGrpSpPr>
        <p:grpSpPr bwMode="auto">
          <a:xfrm>
            <a:off x="3903661" y="2327274"/>
            <a:ext cx="1104901" cy="392113"/>
            <a:chOff x="3903518" y="2606910"/>
            <a:chExt cx="1104900" cy="392113"/>
          </a:xfrm>
        </p:grpSpPr>
        <p:sp>
          <p:nvSpPr>
            <p:cNvPr id="51221" name="Line 22"/>
            <p:cNvSpPr>
              <a:spLocks noChangeShapeType="1"/>
            </p:cNvSpPr>
            <p:nvPr/>
          </p:nvSpPr>
          <p:spPr bwMode="auto">
            <a:xfrm flipH="1">
              <a:off x="4398818" y="2732323"/>
              <a:ext cx="609600" cy="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222" name="Text Box 24"/>
            <p:cNvSpPr txBox="1">
              <a:spLocks noChangeArrowheads="1"/>
            </p:cNvSpPr>
            <p:nvPr/>
          </p:nvSpPr>
          <p:spPr bwMode="auto">
            <a:xfrm>
              <a:off x="3903518" y="2606910"/>
              <a:ext cx="511174" cy="392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algn="r" eaLnBrk="1" hangingPunct="1"/>
              <a:r>
                <a:rPr lang="en-US" altLang="en-US" sz="1800" i="1" dirty="0" smtClean="0"/>
                <a:t>P</a:t>
              </a:r>
              <a:r>
                <a:rPr lang="en-US" altLang="en-US" sz="1800" i="1" baseline="30000" dirty="0" smtClean="0"/>
                <a:t>*</a:t>
              </a:r>
              <a:r>
                <a:rPr lang="en-US" altLang="en-US" sz="1800" baseline="-25000" dirty="0" smtClean="0"/>
                <a:t>2</a:t>
              </a:r>
              <a:endParaRPr lang="en-US" altLang="en-US" sz="1800" i="1" dirty="0"/>
            </a:p>
          </p:txBody>
        </p:sp>
      </p:grpSp>
      <p:grpSp>
        <p:nvGrpSpPr>
          <p:cNvPr id="42" name="Group 39"/>
          <p:cNvGrpSpPr>
            <a:grpSpLocks/>
          </p:cNvGrpSpPr>
          <p:nvPr/>
        </p:nvGrpSpPr>
        <p:grpSpPr bwMode="auto">
          <a:xfrm>
            <a:off x="3201988" y="1690688"/>
            <a:ext cx="455612" cy="2998787"/>
            <a:chOff x="3201843" y="1970323"/>
            <a:chExt cx="455613" cy="2998788"/>
          </a:xfrm>
        </p:grpSpPr>
        <p:sp>
          <p:nvSpPr>
            <p:cNvPr id="51219" name="Line 26"/>
            <p:cNvSpPr>
              <a:spLocks noChangeShapeType="1"/>
            </p:cNvSpPr>
            <p:nvPr/>
          </p:nvSpPr>
          <p:spPr bwMode="auto">
            <a:xfrm>
              <a:off x="3408218" y="1970323"/>
              <a:ext cx="0" cy="266700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nchor="ctr"/>
            <a:lstStyle/>
            <a:p>
              <a:endParaRPr lang="en-US"/>
            </a:p>
          </p:txBody>
        </p:sp>
        <p:sp>
          <p:nvSpPr>
            <p:cNvPr id="51220" name="Text Box 28"/>
            <p:cNvSpPr txBox="1">
              <a:spLocks noChangeArrowheads="1"/>
            </p:cNvSpPr>
            <p:nvPr/>
          </p:nvSpPr>
          <p:spPr bwMode="auto">
            <a:xfrm>
              <a:off x="3201843" y="4664311"/>
              <a:ext cx="45561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a:t>Q</a:t>
              </a:r>
              <a:r>
                <a:rPr lang="en-US" altLang="en-US" sz="1800" baseline="-25000"/>
                <a:t>1</a:t>
              </a:r>
              <a:r>
                <a:rPr lang="en-US" altLang="en-US" sz="1800"/>
                <a:t>*</a:t>
              </a:r>
              <a:endParaRPr lang="en-US" altLang="en-US" sz="1800" i="1"/>
            </a:p>
          </p:txBody>
        </p:sp>
      </p:grpSp>
      <p:grpSp>
        <p:nvGrpSpPr>
          <p:cNvPr id="43" name="Group 40"/>
          <p:cNvGrpSpPr>
            <a:grpSpLocks/>
          </p:cNvGrpSpPr>
          <p:nvPr/>
        </p:nvGrpSpPr>
        <p:grpSpPr bwMode="auto">
          <a:xfrm>
            <a:off x="3408363" y="1565274"/>
            <a:ext cx="1600200" cy="430213"/>
            <a:chOff x="3408218" y="1844910"/>
            <a:chExt cx="1600201" cy="430213"/>
          </a:xfrm>
        </p:grpSpPr>
        <p:sp>
          <p:nvSpPr>
            <p:cNvPr id="51217" name="Line 27"/>
            <p:cNvSpPr>
              <a:spLocks noChangeShapeType="1"/>
            </p:cNvSpPr>
            <p:nvPr/>
          </p:nvSpPr>
          <p:spPr bwMode="auto">
            <a:xfrm>
              <a:off x="3408218" y="1970323"/>
              <a:ext cx="990600" cy="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218" name="Text Box 29"/>
            <p:cNvSpPr txBox="1">
              <a:spLocks noChangeArrowheads="1"/>
            </p:cNvSpPr>
            <p:nvPr/>
          </p:nvSpPr>
          <p:spPr bwMode="auto">
            <a:xfrm>
              <a:off x="4398818" y="1844910"/>
              <a:ext cx="609601"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dirty="0" smtClean="0"/>
                <a:t>P</a:t>
              </a:r>
              <a:r>
                <a:rPr lang="en-US" altLang="en-US" sz="1800" i="1" baseline="30000" dirty="0" smtClean="0"/>
                <a:t>*</a:t>
              </a:r>
              <a:r>
                <a:rPr lang="en-US" altLang="en-US" sz="1800" baseline="-25000" dirty="0" smtClean="0"/>
                <a:t>1</a:t>
              </a:r>
              <a:endParaRPr lang="en-US" altLang="en-US" sz="1800" i="1" dirty="0"/>
            </a:p>
          </p:txBody>
        </p:sp>
      </p:grpSp>
    </p:spTree>
    <p:extLst>
      <p:ext uri="{BB962C8B-B14F-4D97-AF65-F5344CB8AC3E}">
        <p14:creationId xmlns:p14="http://schemas.microsoft.com/office/powerpoint/2010/main" val="315314090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wipe(left)">
                                      <p:cBhvr>
                                        <p:cTn id="7" dur="500"/>
                                        <p:tgtEl>
                                          <p:spTgt spid="32"/>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36"/>
                                        </p:tgtEl>
                                        <p:attrNameLst>
                                          <p:attrName>style.visibility</p:attrName>
                                        </p:attrNameLst>
                                      </p:cBhvr>
                                      <p:to>
                                        <p:strVal val="visible"/>
                                      </p:to>
                                    </p:set>
                                    <p:animEffect transition="in" filter="wipe(left)">
                                      <p:cBhvr>
                                        <p:cTn id="11" dur="500"/>
                                        <p:tgtEl>
                                          <p:spTgt spid="36"/>
                                        </p:tgtEl>
                                      </p:cBhvr>
                                    </p:animEffect>
                                  </p:childTnLst>
                                </p:cTn>
                              </p:par>
                            </p:childTnLst>
                          </p:cTn>
                        </p:par>
                        <p:par>
                          <p:cTn id="12" fill="hold" nodeType="afterGroup">
                            <p:stCondLst>
                              <p:cond delay="1000"/>
                            </p:stCondLst>
                            <p:childTnLst>
                              <p:par>
                                <p:cTn id="13" presetID="22" presetClass="entr" presetSubtype="8" fill="hold" nodeType="afterEffect">
                                  <p:stCondLst>
                                    <p:cond delay="0"/>
                                  </p:stCondLst>
                                  <p:childTnLst>
                                    <p:set>
                                      <p:cBhvr>
                                        <p:cTn id="14" dur="1" fill="hold">
                                          <p:stCondLst>
                                            <p:cond delay="0"/>
                                          </p:stCondLst>
                                        </p:cTn>
                                        <p:tgtEl>
                                          <p:spTgt spid="38"/>
                                        </p:tgtEl>
                                        <p:attrNameLst>
                                          <p:attrName>style.visibility</p:attrName>
                                        </p:attrNameLst>
                                      </p:cBhvr>
                                      <p:to>
                                        <p:strVal val="visible"/>
                                      </p:to>
                                    </p:set>
                                    <p:animEffect transition="in" filter="wipe(left)">
                                      <p:cBhvr>
                                        <p:cTn id="15" dur="500"/>
                                        <p:tgtEl>
                                          <p:spTgt spid="38"/>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nodeType="clickEffect">
                                  <p:stCondLst>
                                    <p:cond delay="0"/>
                                  </p:stCondLst>
                                  <p:childTnLst>
                                    <p:set>
                                      <p:cBhvr>
                                        <p:cTn id="19" dur="1" fill="hold">
                                          <p:stCondLst>
                                            <p:cond delay="0"/>
                                          </p:stCondLst>
                                        </p:cTn>
                                        <p:tgtEl>
                                          <p:spTgt spid="35"/>
                                        </p:tgtEl>
                                        <p:attrNameLst>
                                          <p:attrName>style.visibility</p:attrName>
                                        </p:attrNameLst>
                                      </p:cBhvr>
                                      <p:to>
                                        <p:strVal val="visible"/>
                                      </p:to>
                                    </p:set>
                                    <p:animEffect transition="in" filter="wipe(left)">
                                      <p:cBhvr>
                                        <p:cTn id="20" dur="500"/>
                                        <p:tgtEl>
                                          <p:spTgt spid="35"/>
                                        </p:tgtEl>
                                      </p:cBhvr>
                                    </p:animEffect>
                                  </p:childTnLst>
                                </p:cTn>
                              </p:par>
                            </p:childTnLst>
                          </p:cTn>
                        </p:par>
                        <p:par>
                          <p:cTn id="21" fill="hold" nodeType="afterGroup">
                            <p:stCondLst>
                              <p:cond delay="500"/>
                            </p:stCondLst>
                            <p:childTnLst>
                              <p:par>
                                <p:cTn id="22" presetID="22" presetClass="entr" presetSubtype="8" fill="hold" nodeType="afterEffect">
                                  <p:stCondLst>
                                    <p:cond delay="0"/>
                                  </p:stCondLst>
                                  <p:childTnLst>
                                    <p:set>
                                      <p:cBhvr>
                                        <p:cTn id="23" dur="1" fill="hold">
                                          <p:stCondLst>
                                            <p:cond delay="0"/>
                                          </p:stCondLst>
                                        </p:cTn>
                                        <p:tgtEl>
                                          <p:spTgt spid="37"/>
                                        </p:tgtEl>
                                        <p:attrNameLst>
                                          <p:attrName>style.visibility</p:attrName>
                                        </p:attrNameLst>
                                      </p:cBhvr>
                                      <p:to>
                                        <p:strVal val="visible"/>
                                      </p:to>
                                    </p:set>
                                    <p:animEffect transition="in" filter="wipe(left)">
                                      <p:cBhvr>
                                        <p:cTn id="24" dur="500"/>
                                        <p:tgtEl>
                                          <p:spTgt spid="37"/>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nodeType="clickEffect">
                                  <p:stCondLst>
                                    <p:cond delay="0"/>
                                  </p:stCondLst>
                                  <p:childTnLst>
                                    <p:set>
                                      <p:cBhvr>
                                        <p:cTn id="28" dur="1" fill="hold">
                                          <p:stCondLst>
                                            <p:cond delay="0"/>
                                          </p:stCondLst>
                                        </p:cTn>
                                        <p:tgtEl>
                                          <p:spTgt spid="39"/>
                                        </p:tgtEl>
                                        <p:attrNameLst>
                                          <p:attrName>style.visibility</p:attrName>
                                        </p:attrNameLst>
                                      </p:cBhvr>
                                      <p:to>
                                        <p:strVal val="visible"/>
                                      </p:to>
                                    </p:set>
                                    <p:animEffect transition="in" filter="wipe(left)">
                                      <p:cBhvr>
                                        <p:cTn id="29" dur="500"/>
                                        <p:tgtEl>
                                          <p:spTgt spid="39"/>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1" fill="hold" nodeType="clickEffect">
                                  <p:stCondLst>
                                    <p:cond delay="0"/>
                                  </p:stCondLst>
                                  <p:childTnLst>
                                    <p:set>
                                      <p:cBhvr>
                                        <p:cTn id="33" dur="1" fill="hold">
                                          <p:stCondLst>
                                            <p:cond delay="0"/>
                                          </p:stCondLst>
                                        </p:cTn>
                                        <p:tgtEl>
                                          <p:spTgt spid="42"/>
                                        </p:tgtEl>
                                        <p:attrNameLst>
                                          <p:attrName>style.visibility</p:attrName>
                                        </p:attrNameLst>
                                      </p:cBhvr>
                                      <p:to>
                                        <p:strVal val="visible"/>
                                      </p:to>
                                    </p:set>
                                    <p:animEffect transition="in" filter="wipe(up)">
                                      <p:cBhvr>
                                        <p:cTn id="34" dur="500"/>
                                        <p:tgtEl>
                                          <p:spTgt spid="42"/>
                                        </p:tgtEl>
                                      </p:cBhvr>
                                    </p:animEffect>
                                  </p:childTnLst>
                                </p:cTn>
                              </p:par>
                            </p:childTnLst>
                          </p:cTn>
                        </p:par>
                        <p:par>
                          <p:cTn id="35" fill="hold" nodeType="afterGroup">
                            <p:stCondLst>
                              <p:cond delay="500"/>
                            </p:stCondLst>
                            <p:childTnLst>
                              <p:par>
                                <p:cTn id="36" presetID="22" presetClass="entr" presetSubtype="8" fill="hold" nodeType="afterEffect">
                                  <p:stCondLst>
                                    <p:cond delay="0"/>
                                  </p:stCondLst>
                                  <p:childTnLst>
                                    <p:set>
                                      <p:cBhvr>
                                        <p:cTn id="37" dur="1" fill="hold">
                                          <p:stCondLst>
                                            <p:cond delay="0"/>
                                          </p:stCondLst>
                                        </p:cTn>
                                        <p:tgtEl>
                                          <p:spTgt spid="43"/>
                                        </p:tgtEl>
                                        <p:attrNameLst>
                                          <p:attrName>style.visibility</p:attrName>
                                        </p:attrNameLst>
                                      </p:cBhvr>
                                      <p:to>
                                        <p:strVal val="visible"/>
                                      </p:to>
                                    </p:set>
                                    <p:animEffect transition="in" filter="wipe(left)">
                                      <p:cBhvr>
                                        <p:cTn id="38" dur="500"/>
                                        <p:tgtEl>
                                          <p:spTgt spid="43"/>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1" fill="hold" nodeType="clickEffect">
                                  <p:stCondLst>
                                    <p:cond delay="0"/>
                                  </p:stCondLst>
                                  <p:childTnLst>
                                    <p:set>
                                      <p:cBhvr>
                                        <p:cTn id="42" dur="1" fill="hold">
                                          <p:stCondLst>
                                            <p:cond delay="0"/>
                                          </p:stCondLst>
                                        </p:cTn>
                                        <p:tgtEl>
                                          <p:spTgt spid="40"/>
                                        </p:tgtEl>
                                        <p:attrNameLst>
                                          <p:attrName>style.visibility</p:attrName>
                                        </p:attrNameLst>
                                      </p:cBhvr>
                                      <p:to>
                                        <p:strVal val="visible"/>
                                      </p:to>
                                    </p:set>
                                    <p:animEffect transition="in" filter="wipe(up)">
                                      <p:cBhvr>
                                        <p:cTn id="43" dur="500"/>
                                        <p:tgtEl>
                                          <p:spTgt spid="40"/>
                                        </p:tgtEl>
                                      </p:cBhvr>
                                    </p:animEffect>
                                  </p:childTnLst>
                                </p:cTn>
                              </p:par>
                            </p:childTnLst>
                          </p:cTn>
                        </p:par>
                        <p:par>
                          <p:cTn id="44" fill="hold" nodeType="afterGroup">
                            <p:stCondLst>
                              <p:cond delay="500"/>
                            </p:stCondLst>
                            <p:childTnLst>
                              <p:par>
                                <p:cTn id="45" presetID="22" presetClass="entr" presetSubtype="8" fill="hold" nodeType="afterEffect">
                                  <p:stCondLst>
                                    <p:cond delay="0"/>
                                  </p:stCondLst>
                                  <p:childTnLst>
                                    <p:set>
                                      <p:cBhvr>
                                        <p:cTn id="46" dur="1" fill="hold">
                                          <p:stCondLst>
                                            <p:cond delay="0"/>
                                          </p:stCondLst>
                                        </p:cTn>
                                        <p:tgtEl>
                                          <p:spTgt spid="41"/>
                                        </p:tgtEl>
                                        <p:attrNameLst>
                                          <p:attrName>style.visibility</p:attrName>
                                        </p:attrNameLst>
                                      </p:cBhvr>
                                      <p:to>
                                        <p:strVal val="visible"/>
                                      </p:to>
                                    </p:set>
                                    <p:animEffect transition="in" filter="wipe(left)">
                                      <p:cBhvr>
                                        <p:cTn id="47" dur="500"/>
                                        <p:tgtEl>
                                          <p:spTgt spid="41"/>
                                        </p:tgtEl>
                                      </p:cBhvr>
                                    </p:animEffect>
                                  </p:childTnLst>
                                </p:cTn>
                              </p:par>
                            </p:childTnLst>
                          </p:cTn>
                        </p:par>
                        <p:par>
                          <p:cTn id="48" fill="hold">
                            <p:stCondLst>
                              <p:cond delay="1000"/>
                            </p:stCondLst>
                            <p:childTnLst>
                              <p:par>
                                <p:cTn id="49" presetID="22" presetClass="entr" presetSubtype="8" fill="hold" grpId="0" nodeType="afterEffect">
                                  <p:stCondLst>
                                    <p:cond delay="0"/>
                                  </p:stCondLst>
                                  <p:childTnLst>
                                    <p:set>
                                      <p:cBhvr>
                                        <p:cTn id="50" dur="1" fill="hold">
                                          <p:stCondLst>
                                            <p:cond delay="0"/>
                                          </p:stCondLst>
                                        </p:cTn>
                                        <p:tgtEl>
                                          <p:spTgt spid="51203">
                                            <p:txEl>
                                              <p:pRg st="0" end="0"/>
                                            </p:txEl>
                                          </p:spTgt>
                                        </p:tgtEl>
                                        <p:attrNameLst>
                                          <p:attrName>style.visibility</p:attrName>
                                        </p:attrNameLst>
                                      </p:cBhvr>
                                      <p:to>
                                        <p:strVal val="visible"/>
                                      </p:to>
                                    </p:set>
                                    <p:animEffect transition="in" filter="wipe(left)">
                                      <p:cBhvr>
                                        <p:cTn id="51" dur="500"/>
                                        <p:tgtEl>
                                          <p:spTgt spid="5120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3"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p:cNvSpPr>
            <a:spLocks noGrp="1"/>
          </p:cNvSpPr>
          <p:nvPr>
            <p:ph type="title"/>
          </p:nvPr>
        </p:nvSpPr>
        <p:spPr bwMode="auto">
          <a:xfrm>
            <a:off x="1764344" y="0"/>
            <a:ext cx="7379656" cy="11430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p>
            <a:r>
              <a:rPr lang="en-US" altLang="en-US" dirty="0" smtClean="0"/>
              <a:t>14.5 	Price Discrimination across Segmented </a:t>
            </a:r>
            <a:br>
              <a:rPr lang="en-US" altLang="en-US" dirty="0" smtClean="0"/>
            </a:br>
            <a:r>
              <a:rPr lang="en-US" altLang="en-US" dirty="0"/>
              <a:t>	</a:t>
            </a:r>
            <a:r>
              <a:rPr lang="en-US" altLang="en-US" dirty="0" smtClean="0">
                <a:solidFill>
                  <a:srgbClr val="002D56"/>
                </a:solidFill>
              </a:rPr>
              <a:t>Markets</a:t>
            </a:r>
          </a:p>
        </p:txBody>
      </p:sp>
      <p:sp>
        <p:nvSpPr>
          <p:cNvPr id="52229"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4" name="Slide Number Placeholder 3"/>
          <p:cNvSpPr>
            <a:spLocks noGrp="1"/>
          </p:cNvSpPr>
          <p:nvPr>
            <p:ph type="sldNum" sz="quarter" idx="11"/>
          </p:nvPr>
        </p:nvSpPr>
        <p:spPr>
          <a:prstGeom prst="rect">
            <a:avLst/>
          </a:prstGeom>
        </p:spPr>
        <p:txBody>
          <a:bodyPr/>
          <a:lstStyle/>
          <a:p>
            <a:pPr>
              <a:defRPr/>
            </a:pPr>
            <a:fld id="{6238D967-BEA8-4C5C-B048-DC30BF7BBD5C}" type="slidenum">
              <a:rPr lang="en-US" smtClean="0"/>
              <a:pPr>
                <a:defRPr/>
              </a:pPr>
              <a:t>41</a:t>
            </a:fld>
            <a:endParaRPr lang="en-US" dirty="0"/>
          </a:p>
        </p:txBody>
      </p:sp>
      <p:sp>
        <p:nvSpPr>
          <p:cNvPr id="52227" name="Content Placeholder 2"/>
          <p:cNvSpPr>
            <a:spLocks noGrp="1"/>
          </p:cNvSpPr>
          <p:nvPr>
            <p:ph type="body" sz="quarter" idx="12"/>
          </p:nvPr>
        </p:nvSpPr>
        <p:spPr>
          <a:xfrm>
            <a:off x="381000" y="1295400"/>
            <a:ext cx="8382000" cy="5105400"/>
          </a:xfrm>
          <a:prstGeom prst="rect">
            <a:avLst/>
          </a:prstGeom>
        </p:spPr>
        <p:txBody>
          <a:bodyPr/>
          <a:lstStyle/>
          <a:p>
            <a:r>
              <a:rPr lang="en-US" altLang="en-US" dirty="0" smtClean="0"/>
              <a:t>Inverse demand curves in two separated markets: </a:t>
            </a:r>
            <a:r>
              <a:rPr lang="en-US" altLang="en-US" sz="2800" i="1" dirty="0" smtClean="0">
                <a:solidFill>
                  <a:srgbClr val="FF0000"/>
                </a:solidFill>
              </a:rPr>
              <a:t>P</a:t>
            </a:r>
            <a:r>
              <a:rPr lang="en-US" altLang="en-US" sz="2800" baseline="-25000" dirty="0" smtClean="0">
                <a:solidFill>
                  <a:srgbClr val="FF0000"/>
                </a:solidFill>
              </a:rPr>
              <a:t>1</a:t>
            </a:r>
            <a:r>
              <a:rPr lang="en-US" altLang="en-US" sz="2800" dirty="0" smtClean="0">
                <a:solidFill>
                  <a:srgbClr val="FF0000"/>
                </a:solidFill>
              </a:rPr>
              <a:t> = 24 – </a:t>
            </a:r>
            <a:r>
              <a:rPr lang="en-US" altLang="en-US" sz="2800" i="1" dirty="0" smtClean="0">
                <a:solidFill>
                  <a:srgbClr val="FF0000"/>
                </a:solidFill>
              </a:rPr>
              <a:t>Q</a:t>
            </a:r>
            <a:r>
              <a:rPr lang="en-US" altLang="en-US" sz="2800" baseline="-25000" dirty="0" smtClean="0">
                <a:solidFill>
                  <a:srgbClr val="FF0000"/>
                </a:solidFill>
              </a:rPr>
              <a:t>1 </a:t>
            </a:r>
            <a:r>
              <a:rPr lang="en-US" altLang="en-US" sz="2800" dirty="0" smtClean="0">
                <a:solidFill>
                  <a:srgbClr val="FF0000"/>
                </a:solidFill>
              </a:rPr>
              <a:t> </a:t>
            </a:r>
            <a:r>
              <a:rPr lang="en-US" altLang="en-US" sz="2800" dirty="0" smtClean="0"/>
              <a:t>and</a:t>
            </a:r>
            <a:r>
              <a:rPr lang="en-US" altLang="en-US" sz="2800" dirty="0" smtClean="0">
                <a:solidFill>
                  <a:srgbClr val="FF0000"/>
                </a:solidFill>
              </a:rPr>
              <a:t>  </a:t>
            </a:r>
            <a:r>
              <a:rPr lang="en-US" altLang="en-US" sz="2800" i="1" dirty="0" smtClean="0">
                <a:solidFill>
                  <a:srgbClr val="FF0000"/>
                </a:solidFill>
              </a:rPr>
              <a:t>P</a:t>
            </a:r>
            <a:r>
              <a:rPr lang="en-US" altLang="en-US" sz="2800" baseline="-25000" dirty="0" smtClean="0">
                <a:solidFill>
                  <a:srgbClr val="FF0000"/>
                </a:solidFill>
              </a:rPr>
              <a:t>2</a:t>
            </a:r>
            <a:r>
              <a:rPr lang="en-US" altLang="en-US" sz="2800" dirty="0" smtClean="0">
                <a:solidFill>
                  <a:srgbClr val="FF0000"/>
                </a:solidFill>
              </a:rPr>
              <a:t> = 12 – 0.5</a:t>
            </a:r>
            <a:r>
              <a:rPr lang="en-US" altLang="en-US" sz="2800" i="1" dirty="0" smtClean="0">
                <a:solidFill>
                  <a:srgbClr val="FF0000"/>
                </a:solidFill>
              </a:rPr>
              <a:t>Q</a:t>
            </a:r>
            <a:r>
              <a:rPr lang="en-US" altLang="en-US" sz="2800" baseline="-25000" dirty="0" smtClean="0">
                <a:solidFill>
                  <a:srgbClr val="FF0000"/>
                </a:solidFill>
              </a:rPr>
              <a:t>2</a:t>
            </a:r>
            <a:endParaRPr lang="en-US" altLang="en-US" sz="2800" dirty="0" smtClean="0">
              <a:solidFill>
                <a:srgbClr val="FF0000"/>
              </a:solidFill>
            </a:endParaRPr>
          </a:p>
          <a:p>
            <a:pPr lvl="1"/>
            <a:r>
              <a:rPr lang="en-US" altLang="en-US" dirty="0" smtClean="0"/>
              <a:t>For </a:t>
            </a:r>
            <a:r>
              <a:rPr lang="en-US" altLang="en-US" i="1" dirty="0" smtClean="0"/>
              <a:t>MC</a:t>
            </a:r>
            <a:r>
              <a:rPr lang="en-US" altLang="en-US" dirty="0" smtClean="0"/>
              <a:t> = 6</a:t>
            </a:r>
          </a:p>
          <a:p>
            <a:pPr lvl="1"/>
            <a:r>
              <a:rPr lang="en-US" altLang="en-US" dirty="0" smtClean="0"/>
              <a:t>Profit maximization:</a:t>
            </a:r>
          </a:p>
          <a:p>
            <a:pPr algn="ctr">
              <a:buFontTx/>
              <a:buNone/>
            </a:pPr>
            <a:r>
              <a:rPr lang="en-US" altLang="en-US" sz="2800" i="1" dirty="0" smtClean="0">
                <a:solidFill>
                  <a:srgbClr val="FF0000"/>
                </a:solidFill>
              </a:rPr>
              <a:t>MR</a:t>
            </a:r>
            <a:r>
              <a:rPr lang="en-US" altLang="en-US" sz="2800" baseline="-25000" dirty="0" smtClean="0">
                <a:solidFill>
                  <a:srgbClr val="FF0000"/>
                </a:solidFill>
              </a:rPr>
              <a:t>1</a:t>
            </a:r>
            <a:r>
              <a:rPr lang="en-US" altLang="en-US" sz="2800" dirty="0" smtClean="0">
                <a:solidFill>
                  <a:srgbClr val="FF0000"/>
                </a:solidFill>
              </a:rPr>
              <a:t> = 24 – 2</a:t>
            </a:r>
            <a:r>
              <a:rPr lang="en-US" altLang="en-US" sz="2800" i="1" dirty="0" smtClean="0">
                <a:solidFill>
                  <a:srgbClr val="FF0000"/>
                </a:solidFill>
              </a:rPr>
              <a:t>Q</a:t>
            </a:r>
            <a:r>
              <a:rPr lang="en-US" altLang="en-US" sz="2800" baseline="-25000" dirty="0" smtClean="0">
                <a:solidFill>
                  <a:srgbClr val="FF0000"/>
                </a:solidFill>
              </a:rPr>
              <a:t>1</a:t>
            </a:r>
            <a:r>
              <a:rPr lang="en-US" altLang="en-US" sz="2800" dirty="0" smtClean="0">
                <a:solidFill>
                  <a:srgbClr val="FF0000"/>
                </a:solidFill>
              </a:rPr>
              <a:t> = 6 = </a:t>
            </a:r>
            <a:r>
              <a:rPr lang="en-US" altLang="en-US" sz="2800" i="1" dirty="0" smtClean="0">
                <a:solidFill>
                  <a:srgbClr val="FF0000"/>
                </a:solidFill>
              </a:rPr>
              <a:t>MR</a:t>
            </a:r>
            <a:r>
              <a:rPr lang="en-US" altLang="en-US" sz="2800" baseline="-25000" dirty="0" smtClean="0">
                <a:solidFill>
                  <a:srgbClr val="FF0000"/>
                </a:solidFill>
              </a:rPr>
              <a:t>2</a:t>
            </a:r>
            <a:r>
              <a:rPr lang="en-US" altLang="en-US" sz="2800" dirty="0" smtClean="0">
                <a:solidFill>
                  <a:srgbClr val="FF0000"/>
                </a:solidFill>
              </a:rPr>
              <a:t> = 12 – </a:t>
            </a:r>
            <a:r>
              <a:rPr lang="en-US" altLang="en-US" sz="2800" i="1" dirty="0" smtClean="0">
                <a:solidFill>
                  <a:srgbClr val="FF0000"/>
                </a:solidFill>
              </a:rPr>
              <a:t>Q</a:t>
            </a:r>
            <a:r>
              <a:rPr lang="en-US" altLang="en-US" sz="2800" baseline="-25000" dirty="0" smtClean="0">
                <a:solidFill>
                  <a:srgbClr val="FF0000"/>
                </a:solidFill>
              </a:rPr>
              <a:t>2</a:t>
            </a:r>
          </a:p>
          <a:p>
            <a:pPr lvl="1"/>
            <a:r>
              <a:rPr lang="en-US" altLang="en-US" dirty="0" smtClean="0"/>
              <a:t>Optimal choices and prices are</a:t>
            </a:r>
          </a:p>
          <a:p>
            <a:pPr algn="ctr">
              <a:lnSpc>
                <a:spcPct val="110000"/>
              </a:lnSpc>
              <a:buFontTx/>
              <a:buNone/>
            </a:pPr>
            <a:r>
              <a:rPr lang="en-US" altLang="en-US" sz="2800" i="1" dirty="0" smtClean="0">
                <a:solidFill>
                  <a:srgbClr val="FF0000"/>
                </a:solidFill>
              </a:rPr>
              <a:t>Q</a:t>
            </a:r>
            <a:r>
              <a:rPr lang="en-US" altLang="en-US" sz="2800" baseline="-25000" dirty="0" smtClean="0">
                <a:solidFill>
                  <a:srgbClr val="FF0000"/>
                </a:solidFill>
              </a:rPr>
              <a:t>1</a:t>
            </a:r>
            <a:r>
              <a:rPr lang="en-US" altLang="en-US" sz="2800" dirty="0" smtClean="0">
                <a:solidFill>
                  <a:srgbClr val="FF0000"/>
                </a:solidFill>
              </a:rPr>
              <a:t>* = 9,  </a:t>
            </a:r>
            <a:r>
              <a:rPr lang="en-US" altLang="en-US" sz="2800" i="1" dirty="0" smtClean="0">
                <a:solidFill>
                  <a:srgbClr val="FF0000"/>
                </a:solidFill>
              </a:rPr>
              <a:t>P</a:t>
            </a:r>
            <a:r>
              <a:rPr lang="en-US" altLang="en-US" sz="2800" baseline="-25000" dirty="0" smtClean="0">
                <a:solidFill>
                  <a:srgbClr val="FF0000"/>
                </a:solidFill>
              </a:rPr>
              <a:t>1</a:t>
            </a:r>
            <a:r>
              <a:rPr lang="en-US" altLang="en-US" sz="2800" dirty="0" smtClean="0">
                <a:solidFill>
                  <a:srgbClr val="FF0000"/>
                </a:solidFill>
              </a:rPr>
              <a:t>* = 15 and </a:t>
            </a:r>
            <a:r>
              <a:rPr lang="en-US" altLang="en-US" sz="2800" i="1" dirty="0" smtClean="0">
                <a:solidFill>
                  <a:srgbClr val="FF0000"/>
                </a:solidFill>
              </a:rPr>
              <a:t>Q</a:t>
            </a:r>
            <a:r>
              <a:rPr lang="en-US" altLang="en-US" sz="2800" baseline="-25000" dirty="0" smtClean="0">
                <a:solidFill>
                  <a:srgbClr val="FF0000"/>
                </a:solidFill>
              </a:rPr>
              <a:t>2</a:t>
            </a:r>
            <a:r>
              <a:rPr lang="en-US" altLang="en-US" sz="2800" dirty="0" smtClean="0">
                <a:solidFill>
                  <a:srgbClr val="FF0000"/>
                </a:solidFill>
              </a:rPr>
              <a:t>* = 6,  </a:t>
            </a:r>
            <a:r>
              <a:rPr lang="en-US" altLang="en-US" sz="2800" i="1" dirty="0" smtClean="0">
                <a:solidFill>
                  <a:srgbClr val="FF0000"/>
                </a:solidFill>
              </a:rPr>
              <a:t>P</a:t>
            </a:r>
            <a:r>
              <a:rPr lang="en-US" altLang="en-US" sz="2800" baseline="-25000" dirty="0" smtClean="0">
                <a:solidFill>
                  <a:srgbClr val="FF0000"/>
                </a:solidFill>
              </a:rPr>
              <a:t>2</a:t>
            </a:r>
            <a:r>
              <a:rPr lang="en-US" altLang="en-US" sz="2800" dirty="0" smtClean="0">
                <a:solidFill>
                  <a:srgbClr val="FF0000"/>
                </a:solidFill>
              </a:rPr>
              <a:t>* = 9</a:t>
            </a:r>
          </a:p>
          <a:p>
            <a:pPr lvl="1"/>
            <a:r>
              <a:rPr lang="en-US" altLang="en-US" dirty="0" smtClean="0"/>
              <a:t>Profits for the monopoly are</a:t>
            </a:r>
          </a:p>
          <a:p>
            <a:pPr algn="ctr">
              <a:buFontTx/>
              <a:buNone/>
            </a:pPr>
            <a:r>
              <a:rPr lang="en-US" altLang="en-US" sz="2800" dirty="0" smtClean="0">
                <a:solidFill>
                  <a:srgbClr val="FF0000"/>
                </a:solidFill>
                <a:sym typeface="Symbol" pitchFamily="18" charset="2"/>
              </a:rPr>
              <a:t></a:t>
            </a:r>
            <a:r>
              <a:rPr lang="en-US" altLang="en-US" sz="2800" dirty="0" smtClean="0">
                <a:solidFill>
                  <a:srgbClr val="FF0000"/>
                </a:solidFill>
              </a:rPr>
              <a:t> = (</a:t>
            </a:r>
            <a:r>
              <a:rPr lang="en-US" altLang="en-US" sz="2800" i="1" dirty="0" smtClean="0">
                <a:solidFill>
                  <a:srgbClr val="FF0000"/>
                </a:solidFill>
              </a:rPr>
              <a:t>P</a:t>
            </a:r>
            <a:r>
              <a:rPr lang="en-US" altLang="en-US" sz="2800" baseline="-25000" dirty="0" smtClean="0">
                <a:solidFill>
                  <a:srgbClr val="FF0000"/>
                </a:solidFill>
              </a:rPr>
              <a:t>1</a:t>
            </a:r>
            <a:r>
              <a:rPr lang="en-US" altLang="en-US" sz="2800" dirty="0" smtClean="0">
                <a:solidFill>
                  <a:srgbClr val="FF0000"/>
                </a:solidFill>
              </a:rPr>
              <a:t> - 6)</a:t>
            </a:r>
            <a:r>
              <a:rPr lang="en-US" altLang="en-US" sz="2800" i="1" dirty="0" smtClean="0">
                <a:solidFill>
                  <a:srgbClr val="FF0000"/>
                </a:solidFill>
              </a:rPr>
              <a:t>Q</a:t>
            </a:r>
            <a:r>
              <a:rPr lang="en-US" altLang="en-US" sz="2800" baseline="-25000" dirty="0" smtClean="0">
                <a:solidFill>
                  <a:srgbClr val="FF0000"/>
                </a:solidFill>
              </a:rPr>
              <a:t>1</a:t>
            </a:r>
            <a:r>
              <a:rPr lang="en-US" altLang="en-US" sz="2800" dirty="0" smtClean="0">
                <a:solidFill>
                  <a:srgbClr val="FF0000"/>
                </a:solidFill>
              </a:rPr>
              <a:t> + (</a:t>
            </a:r>
            <a:r>
              <a:rPr lang="en-US" altLang="en-US" sz="2800" i="1" dirty="0" smtClean="0">
                <a:solidFill>
                  <a:srgbClr val="FF0000"/>
                </a:solidFill>
              </a:rPr>
              <a:t>P</a:t>
            </a:r>
            <a:r>
              <a:rPr lang="en-US" altLang="en-US" sz="2800" baseline="-25000" dirty="0" smtClean="0">
                <a:solidFill>
                  <a:srgbClr val="FF0000"/>
                </a:solidFill>
              </a:rPr>
              <a:t>2</a:t>
            </a:r>
            <a:r>
              <a:rPr lang="en-US" altLang="en-US" sz="2800" dirty="0" smtClean="0">
                <a:solidFill>
                  <a:srgbClr val="FF0000"/>
                </a:solidFill>
              </a:rPr>
              <a:t> - 6)</a:t>
            </a:r>
            <a:r>
              <a:rPr lang="en-US" altLang="en-US" sz="2800" i="1" dirty="0" smtClean="0">
                <a:solidFill>
                  <a:srgbClr val="FF0000"/>
                </a:solidFill>
              </a:rPr>
              <a:t>Q</a:t>
            </a:r>
            <a:r>
              <a:rPr lang="en-US" altLang="en-US" sz="2800" baseline="-25000" dirty="0" smtClean="0">
                <a:solidFill>
                  <a:srgbClr val="FF0000"/>
                </a:solidFill>
              </a:rPr>
              <a:t>2</a:t>
            </a:r>
            <a:r>
              <a:rPr lang="en-US" altLang="en-US" sz="2800" dirty="0" smtClean="0">
                <a:solidFill>
                  <a:srgbClr val="FF0000"/>
                </a:solidFill>
              </a:rPr>
              <a:t> = 81 + 18 = 99</a:t>
            </a:r>
            <a:endParaRPr lang="en-US" altLang="en-US" sz="2800" i="1" dirty="0" smtClean="0">
              <a:solidFill>
                <a:srgbClr val="FF0000"/>
              </a:solidFill>
            </a:endParaRPr>
          </a:p>
          <a:p>
            <a:endParaRPr lang="en-US" altLang="en-US" sz="2800" i="1" dirty="0" smtClean="0">
              <a:solidFill>
                <a:srgbClr val="7B332D"/>
              </a:solidFill>
            </a:endParaRPr>
          </a:p>
          <a:p>
            <a:endParaRPr lang="en-US" altLang="en-US" sz="2800" dirty="0" smtClean="0"/>
          </a:p>
        </p:txBody>
      </p:sp>
    </p:spTree>
    <p:extLst>
      <p:ext uri="{BB962C8B-B14F-4D97-AF65-F5344CB8AC3E}">
        <p14:creationId xmlns:p14="http://schemas.microsoft.com/office/powerpoint/2010/main" val="1683212420"/>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0"/>
            <a:ext cx="8001000" cy="990600"/>
          </a:xfrm>
        </p:spPr>
        <p:txBody>
          <a:bodyPr/>
          <a:lstStyle/>
          <a:p>
            <a:r>
              <a:rPr lang="en-US" dirty="0" smtClean="0"/>
              <a:t>14.6	</a:t>
            </a:r>
            <a:r>
              <a:rPr lang="en-US" dirty="0" smtClean="0"/>
              <a:t>Scale Drawing of the Two Widget Markets</a:t>
            </a:r>
            <a:br>
              <a:rPr lang="en-US" dirty="0" smtClean="0"/>
            </a:br>
            <a:r>
              <a:rPr lang="en-US" dirty="0" smtClean="0"/>
              <a:t>	</a:t>
            </a:r>
            <a:r>
              <a:rPr lang="en-US" dirty="0" smtClean="0">
                <a:solidFill>
                  <a:srgbClr val="002D56"/>
                </a:solidFill>
              </a:rPr>
              <a:t>In Numerical Example</a:t>
            </a:r>
            <a:endParaRPr lang="en-US" dirty="0">
              <a:solidFill>
                <a:srgbClr val="002D56"/>
              </a:solidFill>
            </a:endParaRPr>
          </a:p>
        </p:txBody>
      </p:sp>
      <p:sp>
        <p:nvSpPr>
          <p:cNvPr id="3" name="Content Placeholder 2"/>
          <p:cNvSpPr>
            <a:spLocks noGrp="1"/>
          </p:cNvSpPr>
          <p:nvPr>
            <p:ph sz="half" idx="1"/>
          </p:nvPr>
        </p:nvSpPr>
        <p:spPr>
          <a:xfrm>
            <a:off x="76200" y="5486400"/>
            <a:ext cx="8991600" cy="914400"/>
          </a:xfrm>
        </p:spPr>
        <p:txBody>
          <a:bodyPr>
            <a:noAutofit/>
          </a:bodyPr>
          <a:lstStyle/>
          <a:p>
            <a:r>
              <a:rPr lang="en-US" dirty="0"/>
              <a:t>This figure provides a graphical representation of </a:t>
            </a:r>
            <a:r>
              <a:rPr lang="en-US" dirty="0" smtClean="0"/>
              <a:t>third-degree price </a:t>
            </a:r>
            <a:r>
              <a:rPr lang="en-US" dirty="0"/>
              <a:t>discrimination as in Figure 14.5 but for the special </a:t>
            </a:r>
            <a:r>
              <a:rPr lang="en-US" dirty="0" smtClean="0"/>
              <a:t>case of </a:t>
            </a:r>
            <a:r>
              <a:rPr lang="en-US" dirty="0"/>
              <a:t>the widget markets in the present numerical example.  </a:t>
            </a:r>
            <a:r>
              <a:rPr lang="en-US" dirty="0" smtClean="0"/>
              <a:t>Provides the </a:t>
            </a:r>
            <a:r>
              <a:rPr lang="en-US" dirty="0"/>
              <a:t>numbers needed to compute shaded deadweight-loss triangles.</a:t>
            </a:r>
          </a:p>
          <a:p>
            <a:endParaRPr lang="en-US" dirty="0"/>
          </a:p>
        </p:txBody>
      </p:sp>
      <p:sp>
        <p:nvSpPr>
          <p:cNvPr id="4" name="Footer Placeholder 3"/>
          <p:cNvSpPr>
            <a:spLocks noGrp="1"/>
          </p:cNvSpPr>
          <p:nvPr>
            <p:ph type="ftr" sz="quarter" idx="10"/>
          </p:nvPr>
        </p:nvSpPr>
        <p:spPr/>
        <p:txBody>
          <a:body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5" name="Slide Number Placeholder 4"/>
          <p:cNvSpPr>
            <a:spLocks noGrp="1"/>
          </p:cNvSpPr>
          <p:nvPr>
            <p:ph type="sldNum" sz="quarter" idx="11"/>
          </p:nvPr>
        </p:nvSpPr>
        <p:spPr/>
        <p:txBody>
          <a:bodyPr/>
          <a:lstStyle/>
          <a:p>
            <a:fld id="{F2BCF9F2-1022-4C47-AC3A-FA21E418CE18}" type="slidenum">
              <a:rPr lang="en-US" smtClean="0"/>
              <a:t>42</a:t>
            </a:fld>
            <a:endParaRPr lang="en-US" dirty="0"/>
          </a:p>
        </p:txBody>
      </p:sp>
      <p:grpSp>
        <p:nvGrpSpPr>
          <p:cNvPr id="63" name="Group 62"/>
          <p:cNvGrpSpPr/>
          <p:nvPr/>
        </p:nvGrpSpPr>
        <p:grpSpPr>
          <a:xfrm>
            <a:off x="0" y="914400"/>
            <a:ext cx="8686800" cy="4688067"/>
            <a:chOff x="0" y="914400"/>
            <a:chExt cx="8686800" cy="4688067"/>
          </a:xfrm>
        </p:grpSpPr>
        <p:grpSp>
          <p:nvGrpSpPr>
            <p:cNvPr id="59" name="Group 58"/>
            <p:cNvGrpSpPr/>
            <p:nvPr/>
          </p:nvGrpSpPr>
          <p:grpSpPr>
            <a:xfrm>
              <a:off x="0" y="4929735"/>
              <a:ext cx="8686800" cy="672732"/>
              <a:chOff x="0" y="4929735"/>
              <a:chExt cx="8686800" cy="672732"/>
            </a:xfrm>
          </p:grpSpPr>
          <p:sp>
            <p:nvSpPr>
              <p:cNvPr id="8" name="TextBox 7"/>
              <p:cNvSpPr txBox="1"/>
              <p:nvPr/>
            </p:nvSpPr>
            <p:spPr>
              <a:xfrm>
                <a:off x="4442090" y="4929735"/>
                <a:ext cx="312906" cy="369332"/>
              </a:xfrm>
              <a:prstGeom prst="rect">
                <a:avLst/>
              </a:prstGeom>
              <a:noFill/>
            </p:spPr>
            <p:txBody>
              <a:bodyPr wrap="none" rtlCol="0">
                <a:spAutoFit/>
              </a:bodyPr>
              <a:lstStyle/>
              <a:p>
                <a:r>
                  <a:rPr lang="en-US" dirty="0" smtClean="0">
                    <a:latin typeface="Arial" panose="020B0604020202020204" pitchFamily="34" charset="0"/>
                    <a:cs typeface="Arial" pitchFamily="34" charset="0"/>
                  </a:rPr>
                  <a:t>0</a:t>
                </a:r>
                <a:endParaRPr lang="en-US" dirty="0">
                  <a:latin typeface="Arial" pitchFamily="34" charset="0"/>
                  <a:cs typeface="Arial" pitchFamily="34" charset="0"/>
                </a:endParaRPr>
              </a:p>
            </p:txBody>
          </p:sp>
          <p:grpSp>
            <p:nvGrpSpPr>
              <p:cNvPr id="46" name="Group 45"/>
              <p:cNvGrpSpPr/>
              <p:nvPr/>
            </p:nvGrpSpPr>
            <p:grpSpPr>
              <a:xfrm>
                <a:off x="0" y="4943641"/>
                <a:ext cx="8686800" cy="658826"/>
                <a:chOff x="0" y="5063775"/>
                <a:chExt cx="8686800" cy="658826"/>
              </a:xfrm>
            </p:grpSpPr>
            <p:sp>
              <p:nvSpPr>
                <p:cNvPr id="12" name="TextBox 11"/>
                <p:cNvSpPr txBox="1"/>
                <p:nvPr/>
              </p:nvSpPr>
              <p:spPr>
                <a:xfrm>
                  <a:off x="7360796" y="5076270"/>
                  <a:ext cx="1326004" cy="646331"/>
                </a:xfrm>
                <a:prstGeom prst="rect">
                  <a:avLst/>
                </a:prstGeom>
                <a:noFill/>
              </p:spPr>
              <p:txBody>
                <a:bodyPr wrap="none" rtlCol="0">
                  <a:spAutoFit/>
                </a:bodyPr>
                <a:lstStyle/>
                <a:p>
                  <a:r>
                    <a:rPr lang="en-US" dirty="0" smtClean="0">
                      <a:latin typeface="Arial" panose="020B0604020202020204" pitchFamily="34" charset="0"/>
                      <a:cs typeface="Arial" pitchFamily="34" charset="0"/>
                    </a:rPr>
                    <a:t>Quantity </a:t>
                  </a:r>
                  <a:endParaRPr lang="en-US" dirty="0" smtClean="0">
                    <a:latin typeface="Arial" panose="020B0604020202020204" pitchFamily="34" charset="0"/>
                    <a:cs typeface="Arial" pitchFamily="34" charset="0"/>
                  </a:endParaRPr>
                </a:p>
                <a:p>
                  <a:r>
                    <a:rPr lang="en-US" dirty="0" smtClean="0">
                      <a:latin typeface="Arial" panose="020B0604020202020204" pitchFamily="34" charset="0"/>
                      <a:cs typeface="Arial" pitchFamily="34" charset="0"/>
                    </a:rPr>
                    <a:t>in </a:t>
                  </a:r>
                  <a:r>
                    <a:rPr lang="en-US" dirty="0" smtClean="0">
                      <a:latin typeface="Arial" panose="020B0604020202020204" pitchFamily="34" charset="0"/>
                      <a:cs typeface="Arial" pitchFamily="34" charset="0"/>
                    </a:rPr>
                    <a:t>market 2</a:t>
                  </a:r>
                  <a:endParaRPr lang="en-US" dirty="0">
                    <a:latin typeface="Arial" pitchFamily="34" charset="0"/>
                    <a:cs typeface="Arial" pitchFamily="34" charset="0"/>
                  </a:endParaRPr>
                </a:p>
              </p:txBody>
            </p:sp>
            <p:cxnSp>
              <p:nvCxnSpPr>
                <p:cNvPr id="16" name="Straight Connector 15"/>
                <p:cNvCxnSpPr/>
                <p:nvPr/>
              </p:nvCxnSpPr>
              <p:spPr>
                <a:xfrm rot="5400000">
                  <a:off x="2589621" y="3084764"/>
                  <a:ext cx="1" cy="396475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rot="5400000">
                  <a:off x="6559281" y="3081398"/>
                  <a:ext cx="1" cy="396475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0" y="5076270"/>
                  <a:ext cx="1933247" cy="646331"/>
                </a:xfrm>
                <a:prstGeom prst="rect">
                  <a:avLst/>
                </a:prstGeom>
                <a:noFill/>
              </p:spPr>
              <p:txBody>
                <a:bodyPr wrap="square" rtlCol="0">
                  <a:spAutoFit/>
                </a:bodyPr>
                <a:lstStyle/>
                <a:p>
                  <a:r>
                    <a:rPr lang="en-US" dirty="0" smtClean="0">
                      <a:latin typeface="Arial" pitchFamily="34" charset="0"/>
                      <a:cs typeface="Arial" pitchFamily="34" charset="0"/>
                    </a:rPr>
                    <a:t>Quantity </a:t>
                  </a:r>
                  <a:endParaRPr lang="en-US" dirty="0" smtClean="0">
                    <a:latin typeface="Arial" pitchFamily="34" charset="0"/>
                    <a:cs typeface="Arial" pitchFamily="34" charset="0"/>
                  </a:endParaRPr>
                </a:p>
                <a:p>
                  <a:r>
                    <a:rPr lang="en-US" dirty="0" smtClean="0">
                      <a:latin typeface="Arial" pitchFamily="34" charset="0"/>
                      <a:cs typeface="Arial" pitchFamily="34" charset="0"/>
                    </a:rPr>
                    <a:t>in market 1</a:t>
                  </a:r>
                  <a:endParaRPr lang="en-US" dirty="0">
                    <a:latin typeface="Arial" pitchFamily="34" charset="0"/>
                    <a:cs typeface="Arial" pitchFamily="34" charset="0"/>
                  </a:endParaRPr>
                </a:p>
              </p:txBody>
            </p:sp>
          </p:grpSp>
        </p:grpSp>
        <p:grpSp>
          <p:nvGrpSpPr>
            <p:cNvPr id="62" name="Group 61"/>
            <p:cNvGrpSpPr/>
            <p:nvPr/>
          </p:nvGrpSpPr>
          <p:grpSpPr>
            <a:xfrm>
              <a:off x="3778350" y="914400"/>
              <a:ext cx="793649" cy="4034510"/>
              <a:chOff x="3778350" y="914400"/>
              <a:chExt cx="793649" cy="4034510"/>
            </a:xfrm>
          </p:grpSpPr>
          <p:cxnSp>
            <p:nvCxnSpPr>
              <p:cNvPr id="10" name="Straight Connector 9"/>
              <p:cNvCxnSpPr/>
              <p:nvPr/>
            </p:nvCxnSpPr>
            <p:spPr>
              <a:xfrm>
                <a:off x="4571998" y="984154"/>
                <a:ext cx="1" cy="396475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3778350" y="914400"/>
                <a:ext cx="710451" cy="369332"/>
              </a:xfrm>
              <a:prstGeom prst="rect">
                <a:avLst/>
              </a:prstGeom>
              <a:noFill/>
            </p:spPr>
            <p:txBody>
              <a:bodyPr wrap="none" rtlCol="0">
                <a:spAutoFit/>
              </a:bodyPr>
              <a:lstStyle/>
              <a:p>
                <a:r>
                  <a:rPr lang="en-US" dirty="0" smtClean="0">
                    <a:latin typeface="Arial" panose="020B0604020202020204" pitchFamily="34" charset="0"/>
                    <a:cs typeface="Arial" pitchFamily="34" charset="0"/>
                  </a:rPr>
                  <a:t>Price</a:t>
                </a:r>
                <a:endParaRPr lang="en-US" dirty="0">
                  <a:latin typeface="Arial" pitchFamily="34" charset="0"/>
                  <a:cs typeface="Arial" pitchFamily="34" charset="0"/>
                </a:endParaRPr>
              </a:p>
            </p:txBody>
          </p:sp>
        </p:grpSp>
      </p:grpSp>
      <p:sp>
        <p:nvSpPr>
          <p:cNvPr id="24" name="Rectangle 23"/>
          <p:cNvSpPr/>
          <p:nvPr/>
        </p:nvSpPr>
        <p:spPr>
          <a:xfrm>
            <a:off x="4413672" y="3912644"/>
            <a:ext cx="137153" cy="2769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grpSp>
        <p:nvGrpSpPr>
          <p:cNvPr id="54" name="Group 53"/>
          <p:cNvGrpSpPr/>
          <p:nvPr/>
        </p:nvGrpSpPr>
        <p:grpSpPr>
          <a:xfrm>
            <a:off x="685800" y="3891128"/>
            <a:ext cx="7221072" cy="390848"/>
            <a:chOff x="685800" y="4011262"/>
            <a:chExt cx="7221072" cy="390848"/>
          </a:xfrm>
        </p:grpSpPr>
        <p:grpSp>
          <p:nvGrpSpPr>
            <p:cNvPr id="45" name="Group 44"/>
            <p:cNvGrpSpPr/>
            <p:nvPr/>
          </p:nvGrpSpPr>
          <p:grpSpPr>
            <a:xfrm>
              <a:off x="685800" y="4011262"/>
              <a:ext cx="7221072" cy="369332"/>
              <a:chOff x="685800" y="4011262"/>
              <a:chExt cx="7221072" cy="369332"/>
            </a:xfrm>
          </p:grpSpPr>
          <p:sp>
            <p:nvSpPr>
              <p:cNvPr id="9" name="TextBox 8"/>
              <p:cNvSpPr txBox="1"/>
              <p:nvPr/>
            </p:nvSpPr>
            <p:spPr>
              <a:xfrm>
                <a:off x="685800" y="4011262"/>
                <a:ext cx="543739" cy="369332"/>
              </a:xfrm>
              <a:prstGeom prst="rect">
                <a:avLst/>
              </a:prstGeom>
              <a:noFill/>
            </p:spPr>
            <p:txBody>
              <a:bodyPr wrap="none" rtlCol="0">
                <a:spAutoFit/>
              </a:bodyPr>
              <a:lstStyle/>
              <a:p>
                <a:r>
                  <a:rPr lang="en-US" i="1" dirty="0" smtClean="0">
                    <a:solidFill>
                      <a:srgbClr val="006600"/>
                    </a:solidFill>
                    <a:latin typeface="Arial" panose="020B0604020202020204" pitchFamily="34" charset="0"/>
                    <a:cs typeface="Arial" pitchFamily="34" charset="0"/>
                  </a:rPr>
                  <a:t>MC</a:t>
                </a:r>
                <a:endParaRPr lang="en-US" baseline="-25000" dirty="0">
                  <a:solidFill>
                    <a:srgbClr val="006600"/>
                  </a:solidFill>
                  <a:latin typeface="Arial" pitchFamily="34" charset="0"/>
                  <a:cs typeface="Arial" pitchFamily="34" charset="0"/>
                </a:endParaRPr>
              </a:p>
            </p:txBody>
          </p:sp>
          <p:cxnSp>
            <p:nvCxnSpPr>
              <p:cNvPr id="23" name="Straight Connector 22"/>
              <p:cNvCxnSpPr/>
              <p:nvPr/>
            </p:nvCxnSpPr>
            <p:spPr>
              <a:xfrm flipH="1" flipV="1">
                <a:off x="1194099" y="4155576"/>
                <a:ext cx="6712773" cy="2044"/>
              </a:xfrm>
              <a:prstGeom prst="line">
                <a:avLst/>
              </a:prstGeom>
              <a:ln w="28575">
                <a:solidFill>
                  <a:srgbClr val="006600"/>
                </a:solidFill>
              </a:ln>
            </p:spPr>
            <p:style>
              <a:lnRef idx="1">
                <a:schemeClr val="accent1"/>
              </a:lnRef>
              <a:fillRef idx="0">
                <a:schemeClr val="accent1"/>
              </a:fillRef>
              <a:effectRef idx="0">
                <a:schemeClr val="accent1"/>
              </a:effectRef>
              <a:fontRef idx="minor">
                <a:schemeClr val="tx1"/>
              </a:fontRef>
            </p:style>
          </p:cxnSp>
        </p:grpSp>
        <p:sp>
          <p:nvSpPr>
            <p:cNvPr id="25" name="TextBox 24"/>
            <p:cNvSpPr txBox="1"/>
            <p:nvPr/>
          </p:nvSpPr>
          <p:spPr>
            <a:xfrm>
              <a:off x="4243040" y="4032778"/>
              <a:ext cx="312906" cy="369332"/>
            </a:xfrm>
            <a:prstGeom prst="rect">
              <a:avLst/>
            </a:prstGeom>
            <a:solidFill>
              <a:schemeClr val="bg1"/>
            </a:solidFill>
          </p:spPr>
          <p:txBody>
            <a:bodyPr wrap="none" rtlCol="0">
              <a:spAutoFit/>
            </a:bodyPr>
            <a:lstStyle/>
            <a:p>
              <a:r>
                <a:rPr lang="en-US" dirty="0" smtClean="0">
                  <a:latin typeface="Arial" panose="020B0604020202020204" pitchFamily="34" charset="0"/>
                  <a:cs typeface="Arial" pitchFamily="34" charset="0"/>
                </a:rPr>
                <a:t>6</a:t>
              </a:r>
              <a:endParaRPr lang="en-US" dirty="0">
                <a:latin typeface="Arial" pitchFamily="34" charset="0"/>
                <a:cs typeface="Arial" pitchFamily="34" charset="0"/>
              </a:endParaRPr>
            </a:p>
          </p:txBody>
        </p:sp>
      </p:grpSp>
      <p:grpSp>
        <p:nvGrpSpPr>
          <p:cNvPr id="58" name="Group 57"/>
          <p:cNvGrpSpPr/>
          <p:nvPr/>
        </p:nvGrpSpPr>
        <p:grpSpPr>
          <a:xfrm>
            <a:off x="2214638" y="1319007"/>
            <a:ext cx="2362265" cy="3526210"/>
            <a:chOff x="2214638" y="1439141"/>
            <a:chExt cx="2362265" cy="3526210"/>
          </a:xfrm>
        </p:grpSpPr>
        <p:cxnSp>
          <p:nvCxnSpPr>
            <p:cNvPr id="21" name="Straight Connector 20"/>
            <p:cNvCxnSpPr/>
            <p:nvPr/>
          </p:nvCxnSpPr>
          <p:spPr>
            <a:xfrm flipV="1">
              <a:off x="2971090" y="1439141"/>
              <a:ext cx="1605813" cy="3160860"/>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2214638" y="4596019"/>
              <a:ext cx="1047082" cy="369332"/>
            </a:xfrm>
            <a:prstGeom prst="rect">
              <a:avLst/>
            </a:prstGeom>
            <a:noFill/>
          </p:spPr>
          <p:txBody>
            <a:bodyPr wrap="none" rtlCol="0">
              <a:spAutoFit/>
            </a:bodyPr>
            <a:lstStyle/>
            <a:p>
              <a:r>
                <a:rPr lang="en-US" i="1" dirty="0" smtClean="0">
                  <a:solidFill>
                    <a:srgbClr val="7030A0"/>
                  </a:solidFill>
                  <a:latin typeface="Arial" panose="020B0604020202020204" pitchFamily="34" charset="0"/>
                  <a:cs typeface="Arial" pitchFamily="34" charset="0"/>
                </a:rPr>
                <a:t>MR</a:t>
              </a:r>
              <a:r>
                <a:rPr lang="en-US" baseline="-25000" dirty="0" smtClean="0">
                  <a:solidFill>
                    <a:srgbClr val="7030A0"/>
                  </a:solidFill>
                  <a:latin typeface="Arial" pitchFamily="34" charset="0"/>
                  <a:cs typeface="Arial" pitchFamily="34" charset="0"/>
                </a:rPr>
                <a:t>1</a:t>
              </a:r>
              <a:r>
                <a:rPr lang="en-US" dirty="0" smtClean="0">
                  <a:solidFill>
                    <a:srgbClr val="7030A0"/>
                  </a:solidFill>
                  <a:latin typeface="Arial" pitchFamily="34" charset="0"/>
                  <a:cs typeface="Arial" pitchFamily="34" charset="0"/>
                </a:rPr>
                <a:t>(</a:t>
              </a:r>
              <a:r>
                <a:rPr lang="en-US" i="1" dirty="0" smtClean="0">
                  <a:solidFill>
                    <a:srgbClr val="7030A0"/>
                  </a:solidFill>
                  <a:latin typeface="Arial" pitchFamily="34" charset="0"/>
                  <a:cs typeface="Arial" pitchFamily="34" charset="0"/>
                </a:rPr>
                <a:t>Q</a:t>
              </a:r>
              <a:r>
                <a:rPr lang="en-US" baseline="-25000" dirty="0" smtClean="0">
                  <a:solidFill>
                    <a:srgbClr val="7030A0"/>
                  </a:solidFill>
                  <a:latin typeface="Arial" pitchFamily="34" charset="0"/>
                  <a:cs typeface="Arial" pitchFamily="34" charset="0"/>
                </a:rPr>
                <a:t>1</a:t>
              </a:r>
              <a:r>
                <a:rPr lang="en-US" dirty="0" smtClean="0">
                  <a:solidFill>
                    <a:srgbClr val="7030A0"/>
                  </a:solidFill>
                  <a:latin typeface="Arial" pitchFamily="34" charset="0"/>
                  <a:cs typeface="Arial" pitchFamily="34" charset="0"/>
                </a:rPr>
                <a:t>)</a:t>
              </a:r>
              <a:endParaRPr lang="en-US" baseline="-25000" dirty="0">
                <a:solidFill>
                  <a:srgbClr val="7030A0"/>
                </a:solidFill>
                <a:latin typeface="Arial" pitchFamily="34" charset="0"/>
                <a:cs typeface="Arial" pitchFamily="34" charset="0"/>
              </a:endParaRPr>
            </a:p>
          </p:txBody>
        </p:sp>
      </p:grpSp>
      <p:grpSp>
        <p:nvGrpSpPr>
          <p:cNvPr id="56" name="Group 55"/>
          <p:cNvGrpSpPr/>
          <p:nvPr/>
        </p:nvGrpSpPr>
        <p:grpSpPr>
          <a:xfrm>
            <a:off x="3070963" y="2645951"/>
            <a:ext cx="312906" cy="2653116"/>
            <a:chOff x="3070963" y="2766085"/>
            <a:chExt cx="312906" cy="2653116"/>
          </a:xfrm>
        </p:grpSpPr>
        <p:cxnSp>
          <p:nvCxnSpPr>
            <p:cNvPr id="14" name="Straight Connector 13"/>
            <p:cNvCxnSpPr/>
            <p:nvPr/>
          </p:nvCxnSpPr>
          <p:spPr>
            <a:xfrm>
              <a:off x="3195018" y="2766085"/>
              <a:ext cx="0" cy="2310185"/>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3070963" y="5049869"/>
              <a:ext cx="312906" cy="369332"/>
            </a:xfrm>
            <a:prstGeom prst="rect">
              <a:avLst/>
            </a:prstGeom>
            <a:noFill/>
          </p:spPr>
          <p:txBody>
            <a:bodyPr wrap="none" rtlCol="0">
              <a:spAutoFit/>
            </a:bodyPr>
            <a:lstStyle/>
            <a:p>
              <a:r>
                <a:rPr lang="en-US" dirty="0">
                  <a:latin typeface="Arial" panose="020B0604020202020204" pitchFamily="34" charset="0"/>
                  <a:cs typeface="Arial" pitchFamily="34" charset="0"/>
                </a:rPr>
                <a:t>9</a:t>
              </a:r>
            </a:p>
          </p:txBody>
        </p:sp>
      </p:grpSp>
      <p:grpSp>
        <p:nvGrpSpPr>
          <p:cNvPr id="52" name="Group 51"/>
          <p:cNvGrpSpPr/>
          <p:nvPr/>
        </p:nvGrpSpPr>
        <p:grpSpPr>
          <a:xfrm>
            <a:off x="5356728" y="3578584"/>
            <a:ext cx="312906" cy="1720483"/>
            <a:chOff x="5356728" y="3698718"/>
            <a:chExt cx="312906" cy="1720483"/>
          </a:xfrm>
        </p:grpSpPr>
        <p:cxnSp>
          <p:nvCxnSpPr>
            <p:cNvPr id="29" name="Straight Connector 28"/>
            <p:cNvCxnSpPr/>
            <p:nvPr/>
          </p:nvCxnSpPr>
          <p:spPr>
            <a:xfrm>
              <a:off x="5491541" y="3698718"/>
              <a:ext cx="0" cy="1368425"/>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5356728" y="5049869"/>
              <a:ext cx="312906" cy="369332"/>
            </a:xfrm>
            <a:prstGeom prst="rect">
              <a:avLst/>
            </a:prstGeom>
            <a:noFill/>
          </p:spPr>
          <p:txBody>
            <a:bodyPr wrap="none" rtlCol="0">
              <a:spAutoFit/>
            </a:bodyPr>
            <a:lstStyle/>
            <a:p>
              <a:r>
                <a:rPr lang="en-US" dirty="0" smtClean="0">
                  <a:latin typeface="Arial" panose="020B0604020202020204" pitchFamily="34" charset="0"/>
                  <a:cs typeface="Arial" pitchFamily="34" charset="0"/>
                </a:rPr>
                <a:t>6</a:t>
              </a:r>
              <a:endParaRPr lang="en-US" dirty="0">
                <a:latin typeface="Arial" pitchFamily="34" charset="0"/>
                <a:cs typeface="Arial" pitchFamily="34" charset="0"/>
              </a:endParaRPr>
            </a:p>
          </p:txBody>
        </p:sp>
      </p:grpSp>
      <p:grpSp>
        <p:nvGrpSpPr>
          <p:cNvPr id="55" name="Group 54"/>
          <p:cNvGrpSpPr/>
          <p:nvPr/>
        </p:nvGrpSpPr>
        <p:grpSpPr>
          <a:xfrm>
            <a:off x="1633955" y="4054790"/>
            <a:ext cx="441146" cy="1244277"/>
            <a:chOff x="1633955" y="4174924"/>
            <a:chExt cx="441146" cy="1244277"/>
          </a:xfrm>
        </p:grpSpPr>
        <p:cxnSp>
          <p:nvCxnSpPr>
            <p:cNvPr id="33" name="Straight Connector 32"/>
            <p:cNvCxnSpPr/>
            <p:nvPr/>
          </p:nvCxnSpPr>
          <p:spPr>
            <a:xfrm>
              <a:off x="1811247" y="4174924"/>
              <a:ext cx="0" cy="888853"/>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1633955" y="5049869"/>
              <a:ext cx="441146" cy="369332"/>
            </a:xfrm>
            <a:prstGeom prst="rect">
              <a:avLst/>
            </a:prstGeom>
            <a:noFill/>
          </p:spPr>
          <p:txBody>
            <a:bodyPr wrap="none" rtlCol="0">
              <a:spAutoFit/>
            </a:bodyPr>
            <a:lstStyle/>
            <a:p>
              <a:r>
                <a:rPr lang="en-US" dirty="0" smtClean="0">
                  <a:latin typeface="Arial" panose="020B0604020202020204" pitchFamily="34" charset="0"/>
                  <a:cs typeface="Arial" pitchFamily="34" charset="0"/>
                </a:rPr>
                <a:t>18</a:t>
              </a:r>
              <a:endParaRPr lang="en-US" dirty="0">
                <a:latin typeface="Arial" pitchFamily="34" charset="0"/>
                <a:cs typeface="Arial" pitchFamily="34" charset="0"/>
              </a:endParaRPr>
            </a:p>
          </p:txBody>
        </p:sp>
      </p:grpSp>
      <p:grpSp>
        <p:nvGrpSpPr>
          <p:cNvPr id="53" name="Group 52"/>
          <p:cNvGrpSpPr/>
          <p:nvPr/>
        </p:nvGrpSpPr>
        <p:grpSpPr>
          <a:xfrm>
            <a:off x="6228887" y="4035442"/>
            <a:ext cx="441146" cy="1263625"/>
            <a:chOff x="6228887" y="4155576"/>
            <a:chExt cx="441146" cy="1263625"/>
          </a:xfrm>
        </p:grpSpPr>
        <p:cxnSp>
          <p:nvCxnSpPr>
            <p:cNvPr id="35" name="Straight Connector 34"/>
            <p:cNvCxnSpPr/>
            <p:nvPr/>
          </p:nvCxnSpPr>
          <p:spPr>
            <a:xfrm>
              <a:off x="6406179" y="4155576"/>
              <a:ext cx="0" cy="888853"/>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6" name="TextBox 35"/>
            <p:cNvSpPr txBox="1"/>
            <p:nvPr/>
          </p:nvSpPr>
          <p:spPr>
            <a:xfrm>
              <a:off x="6228887" y="5049869"/>
              <a:ext cx="441146" cy="369332"/>
            </a:xfrm>
            <a:prstGeom prst="rect">
              <a:avLst/>
            </a:prstGeom>
            <a:noFill/>
          </p:spPr>
          <p:txBody>
            <a:bodyPr wrap="none" rtlCol="0">
              <a:spAutoFit/>
            </a:bodyPr>
            <a:lstStyle/>
            <a:p>
              <a:r>
                <a:rPr lang="en-US" dirty="0" smtClean="0">
                  <a:latin typeface="Arial" panose="020B0604020202020204" pitchFamily="34" charset="0"/>
                  <a:cs typeface="Arial" pitchFamily="34" charset="0"/>
                </a:rPr>
                <a:t>12</a:t>
              </a:r>
              <a:endParaRPr lang="en-US" dirty="0">
                <a:latin typeface="Arial" pitchFamily="34" charset="0"/>
                <a:cs typeface="Arial" pitchFamily="34" charset="0"/>
              </a:endParaRPr>
            </a:p>
          </p:txBody>
        </p:sp>
      </p:grpSp>
      <p:grpSp>
        <p:nvGrpSpPr>
          <p:cNvPr id="57" name="Group 56"/>
          <p:cNvGrpSpPr/>
          <p:nvPr/>
        </p:nvGrpSpPr>
        <p:grpSpPr>
          <a:xfrm>
            <a:off x="4576906" y="3131326"/>
            <a:ext cx="2001566" cy="1692063"/>
            <a:chOff x="4576906" y="3251460"/>
            <a:chExt cx="2001566" cy="1692063"/>
          </a:xfrm>
        </p:grpSpPr>
        <p:cxnSp>
          <p:nvCxnSpPr>
            <p:cNvPr id="22" name="Straight Connector 21"/>
            <p:cNvCxnSpPr/>
            <p:nvPr/>
          </p:nvCxnSpPr>
          <p:spPr>
            <a:xfrm flipH="1" flipV="1">
              <a:off x="4576906" y="3251460"/>
              <a:ext cx="1310016" cy="1322732"/>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a:off x="5531390" y="4574191"/>
              <a:ext cx="1047082" cy="369332"/>
            </a:xfrm>
            <a:prstGeom prst="rect">
              <a:avLst/>
            </a:prstGeom>
            <a:noFill/>
          </p:spPr>
          <p:txBody>
            <a:bodyPr wrap="none" rtlCol="0">
              <a:spAutoFit/>
            </a:bodyPr>
            <a:lstStyle/>
            <a:p>
              <a:r>
                <a:rPr lang="en-US" i="1" dirty="0" smtClean="0">
                  <a:solidFill>
                    <a:srgbClr val="7030A0"/>
                  </a:solidFill>
                  <a:latin typeface="Arial" panose="020B0604020202020204" pitchFamily="34" charset="0"/>
                  <a:cs typeface="Arial" pitchFamily="34" charset="0"/>
                </a:rPr>
                <a:t>MR</a:t>
              </a:r>
              <a:r>
                <a:rPr lang="en-US" baseline="-25000" dirty="0" smtClean="0">
                  <a:solidFill>
                    <a:srgbClr val="7030A0"/>
                  </a:solidFill>
                  <a:latin typeface="Arial" pitchFamily="34" charset="0"/>
                  <a:cs typeface="Arial" pitchFamily="34" charset="0"/>
                </a:rPr>
                <a:t>2</a:t>
              </a:r>
              <a:r>
                <a:rPr lang="en-US" dirty="0" smtClean="0">
                  <a:solidFill>
                    <a:srgbClr val="7030A0"/>
                  </a:solidFill>
                  <a:latin typeface="Arial" pitchFamily="34" charset="0"/>
                  <a:cs typeface="Arial" pitchFamily="34" charset="0"/>
                </a:rPr>
                <a:t>(</a:t>
              </a:r>
              <a:r>
                <a:rPr lang="en-US" i="1" dirty="0" smtClean="0">
                  <a:solidFill>
                    <a:srgbClr val="7030A0"/>
                  </a:solidFill>
                  <a:latin typeface="Arial" pitchFamily="34" charset="0"/>
                  <a:cs typeface="Arial" pitchFamily="34" charset="0"/>
                </a:rPr>
                <a:t>Q</a:t>
              </a:r>
              <a:r>
                <a:rPr lang="en-US" baseline="-25000" dirty="0">
                  <a:solidFill>
                    <a:srgbClr val="7030A0"/>
                  </a:solidFill>
                  <a:latin typeface="Arial" pitchFamily="34" charset="0"/>
                  <a:cs typeface="Arial" pitchFamily="34" charset="0"/>
                </a:rPr>
                <a:t>2</a:t>
              </a:r>
              <a:r>
                <a:rPr lang="en-US" dirty="0" smtClean="0">
                  <a:solidFill>
                    <a:srgbClr val="7030A0"/>
                  </a:solidFill>
                  <a:latin typeface="Arial" pitchFamily="34" charset="0"/>
                  <a:cs typeface="Arial" pitchFamily="34" charset="0"/>
                </a:rPr>
                <a:t>)</a:t>
              </a:r>
              <a:endParaRPr lang="en-US" baseline="-25000" dirty="0">
                <a:solidFill>
                  <a:srgbClr val="7030A0"/>
                </a:solidFill>
                <a:latin typeface="Arial" pitchFamily="34" charset="0"/>
                <a:cs typeface="Arial" pitchFamily="34" charset="0"/>
              </a:endParaRPr>
            </a:p>
          </p:txBody>
        </p:sp>
      </p:grpSp>
      <p:grpSp>
        <p:nvGrpSpPr>
          <p:cNvPr id="60" name="Group 59"/>
          <p:cNvGrpSpPr/>
          <p:nvPr/>
        </p:nvGrpSpPr>
        <p:grpSpPr>
          <a:xfrm>
            <a:off x="1828800" y="2694740"/>
            <a:ext cx="1375379" cy="1330036"/>
            <a:chOff x="1828800" y="2694740"/>
            <a:chExt cx="1375379" cy="1330036"/>
          </a:xfrm>
        </p:grpSpPr>
        <p:sp>
          <p:nvSpPr>
            <p:cNvPr id="7" name="Freeform 6"/>
            <p:cNvSpPr/>
            <p:nvPr/>
          </p:nvSpPr>
          <p:spPr>
            <a:xfrm>
              <a:off x="1828800" y="2694740"/>
              <a:ext cx="1375379" cy="1330036"/>
            </a:xfrm>
            <a:custGeom>
              <a:avLst/>
              <a:gdLst>
                <a:gd name="connsiteX0" fmla="*/ 1375379 w 1375379"/>
                <a:gd name="connsiteY0" fmla="*/ 1330036 h 1330036"/>
                <a:gd name="connsiteX1" fmla="*/ 1375379 w 1375379"/>
                <a:gd name="connsiteY1" fmla="*/ 0 h 1330036"/>
                <a:gd name="connsiteX2" fmla="*/ 0 w 1375379"/>
                <a:gd name="connsiteY2" fmla="*/ 1330036 h 1330036"/>
                <a:gd name="connsiteX3" fmla="*/ 1375379 w 1375379"/>
                <a:gd name="connsiteY3" fmla="*/ 1330036 h 1330036"/>
              </a:gdLst>
              <a:ahLst/>
              <a:cxnLst>
                <a:cxn ang="0">
                  <a:pos x="connsiteX0" y="connsiteY0"/>
                </a:cxn>
                <a:cxn ang="0">
                  <a:pos x="connsiteX1" y="connsiteY1"/>
                </a:cxn>
                <a:cxn ang="0">
                  <a:pos x="connsiteX2" y="connsiteY2"/>
                </a:cxn>
                <a:cxn ang="0">
                  <a:pos x="connsiteX3" y="connsiteY3"/>
                </a:cxn>
              </a:cxnLst>
              <a:rect l="l" t="t" r="r" b="b"/>
              <a:pathLst>
                <a:path w="1375379" h="1330036">
                  <a:moveTo>
                    <a:pt x="1375379" y="1330036"/>
                  </a:moveTo>
                  <a:lnTo>
                    <a:pt x="1375379" y="0"/>
                  </a:lnTo>
                  <a:lnTo>
                    <a:pt x="0" y="1330036"/>
                  </a:lnTo>
                  <a:lnTo>
                    <a:pt x="1375379" y="1330036"/>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40" name="TextBox 39"/>
            <p:cNvSpPr txBox="1"/>
            <p:nvPr/>
          </p:nvSpPr>
          <p:spPr>
            <a:xfrm>
              <a:off x="2471239" y="3505402"/>
              <a:ext cx="654346" cy="369332"/>
            </a:xfrm>
            <a:prstGeom prst="rect">
              <a:avLst/>
            </a:prstGeom>
            <a:noFill/>
          </p:spPr>
          <p:txBody>
            <a:bodyPr wrap="none" rtlCol="0">
              <a:spAutoFit/>
            </a:bodyPr>
            <a:lstStyle/>
            <a:p>
              <a:r>
                <a:rPr lang="en-US" i="1" dirty="0" smtClean="0">
                  <a:latin typeface="Arial" panose="020B0604020202020204" pitchFamily="34" charset="0"/>
                  <a:cs typeface="Arial" pitchFamily="34" charset="0"/>
                </a:rPr>
                <a:t>DW</a:t>
              </a:r>
              <a:r>
                <a:rPr lang="en-US" baseline="-25000" dirty="0" smtClean="0">
                  <a:latin typeface="Arial" pitchFamily="34" charset="0"/>
                  <a:cs typeface="Arial" pitchFamily="34" charset="0"/>
                </a:rPr>
                <a:t>1</a:t>
              </a:r>
              <a:endParaRPr lang="en-US" baseline="-25000" dirty="0">
                <a:latin typeface="Arial" pitchFamily="34" charset="0"/>
                <a:cs typeface="Arial" pitchFamily="34" charset="0"/>
              </a:endParaRPr>
            </a:p>
          </p:txBody>
        </p:sp>
      </p:grpSp>
      <p:grpSp>
        <p:nvGrpSpPr>
          <p:cNvPr id="61" name="Group 60"/>
          <p:cNvGrpSpPr/>
          <p:nvPr/>
        </p:nvGrpSpPr>
        <p:grpSpPr>
          <a:xfrm>
            <a:off x="5495136" y="3594026"/>
            <a:ext cx="890550" cy="530090"/>
            <a:chOff x="5495136" y="3594026"/>
            <a:chExt cx="890550" cy="530090"/>
          </a:xfrm>
        </p:grpSpPr>
        <p:sp>
          <p:nvSpPr>
            <p:cNvPr id="6" name="Freeform 5"/>
            <p:cNvSpPr/>
            <p:nvPr/>
          </p:nvSpPr>
          <p:spPr>
            <a:xfrm>
              <a:off x="5501514" y="3594026"/>
              <a:ext cx="884172" cy="438307"/>
            </a:xfrm>
            <a:custGeom>
              <a:avLst/>
              <a:gdLst>
                <a:gd name="connsiteX0" fmla="*/ 0 w 884172"/>
                <a:gd name="connsiteY0" fmla="*/ 0 h 438307"/>
                <a:gd name="connsiteX1" fmla="*/ 0 w 884172"/>
                <a:gd name="connsiteY1" fmla="*/ 438307 h 438307"/>
                <a:gd name="connsiteX2" fmla="*/ 884172 w 884172"/>
                <a:gd name="connsiteY2" fmla="*/ 430750 h 438307"/>
                <a:gd name="connsiteX3" fmla="*/ 0 w 884172"/>
                <a:gd name="connsiteY3" fmla="*/ 0 h 438307"/>
              </a:gdLst>
              <a:ahLst/>
              <a:cxnLst>
                <a:cxn ang="0">
                  <a:pos x="connsiteX0" y="connsiteY0"/>
                </a:cxn>
                <a:cxn ang="0">
                  <a:pos x="connsiteX1" y="connsiteY1"/>
                </a:cxn>
                <a:cxn ang="0">
                  <a:pos x="connsiteX2" y="connsiteY2"/>
                </a:cxn>
                <a:cxn ang="0">
                  <a:pos x="connsiteX3" y="connsiteY3"/>
                </a:cxn>
              </a:cxnLst>
              <a:rect l="l" t="t" r="r" b="b"/>
              <a:pathLst>
                <a:path w="884172" h="438307">
                  <a:moveTo>
                    <a:pt x="0" y="0"/>
                  </a:moveTo>
                  <a:lnTo>
                    <a:pt x="0" y="438307"/>
                  </a:lnTo>
                  <a:lnTo>
                    <a:pt x="884172" y="430750"/>
                  </a:lnTo>
                  <a:lnTo>
                    <a:pt x="0" y="0"/>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41" name="TextBox 40"/>
            <p:cNvSpPr txBox="1"/>
            <p:nvPr/>
          </p:nvSpPr>
          <p:spPr>
            <a:xfrm>
              <a:off x="5495136" y="3754784"/>
              <a:ext cx="654346" cy="369332"/>
            </a:xfrm>
            <a:prstGeom prst="rect">
              <a:avLst/>
            </a:prstGeom>
            <a:noFill/>
          </p:spPr>
          <p:txBody>
            <a:bodyPr wrap="none" rtlCol="0">
              <a:spAutoFit/>
            </a:bodyPr>
            <a:lstStyle/>
            <a:p>
              <a:r>
                <a:rPr lang="en-US" i="1" dirty="0" smtClean="0">
                  <a:latin typeface="Arial" panose="020B0604020202020204" pitchFamily="34" charset="0"/>
                  <a:cs typeface="Arial" pitchFamily="34" charset="0"/>
                </a:rPr>
                <a:t>DW</a:t>
              </a:r>
              <a:r>
                <a:rPr lang="en-US" baseline="-25000" dirty="0">
                  <a:latin typeface="Arial" pitchFamily="34" charset="0"/>
                  <a:cs typeface="Arial" pitchFamily="34" charset="0"/>
                </a:rPr>
                <a:t>2</a:t>
              </a:r>
            </a:p>
          </p:txBody>
        </p:sp>
      </p:grpSp>
      <p:grpSp>
        <p:nvGrpSpPr>
          <p:cNvPr id="48" name="Group 47"/>
          <p:cNvGrpSpPr/>
          <p:nvPr/>
        </p:nvGrpSpPr>
        <p:grpSpPr>
          <a:xfrm>
            <a:off x="830266" y="1099066"/>
            <a:ext cx="4198934" cy="3724324"/>
            <a:chOff x="830266" y="1219200"/>
            <a:chExt cx="4198934" cy="3724324"/>
          </a:xfrm>
        </p:grpSpPr>
        <p:cxnSp>
          <p:nvCxnSpPr>
            <p:cNvPr id="11" name="Straight Connector 10"/>
            <p:cNvCxnSpPr/>
            <p:nvPr/>
          </p:nvCxnSpPr>
          <p:spPr>
            <a:xfrm flipV="1">
              <a:off x="1382936" y="1439141"/>
              <a:ext cx="3189064" cy="3160861"/>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830266" y="4574192"/>
              <a:ext cx="841897" cy="369332"/>
            </a:xfrm>
            <a:prstGeom prst="rect">
              <a:avLst/>
            </a:prstGeom>
            <a:noFill/>
          </p:spPr>
          <p:txBody>
            <a:bodyPr wrap="none" rtlCol="0">
              <a:spAutoFit/>
            </a:bodyPr>
            <a:lstStyle/>
            <a:p>
              <a:r>
                <a:rPr lang="en-US" i="1" dirty="0" smtClean="0">
                  <a:solidFill>
                    <a:srgbClr val="7030A0"/>
                  </a:solidFill>
                  <a:latin typeface="Arial" panose="020B0604020202020204" pitchFamily="34" charset="0"/>
                  <a:cs typeface="Arial" pitchFamily="34" charset="0"/>
                </a:rPr>
                <a:t>P</a:t>
              </a:r>
              <a:r>
                <a:rPr lang="en-US" baseline="-25000" dirty="0" smtClean="0">
                  <a:solidFill>
                    <a:srgbClr val="7030A0"/>
                  </a:solidFill>
                  <a:latin typeface="Arial" pitchFamily="34" charset="0"/>
                  <a:cs typeface="Arial" pitchFamily="34" charset="0"/>
                </a:rPr>
                <a:t>1</a:t>
              </a:r>
              <a:r>
                <a:rPr lang="en-US" dirty="0" smtClean="0">
                  <a:solidFill>
                    <a:srgbClr val="7030A0"/>
                  </a:solidFill>
                  <a:latin typeface="Arial" pitchFamily="34" charset="0"/>
                  <a:cs typeface="Arial" pitchFamily="34" charset="0"/>
                </a:rPr>
                <a:t>(</a:t>
              </a:r>
              <a:r>
                <a:rPr lang="en-US" i="1" dirty="0" smtClean="0">
                  <a:solidFill>
                    <a:srgbClr val="7030A0"/>
                  </a:solidFill>
                  <a:latin typeface="Arial" pitchFamily="34" charset="0"/>
                  <a:cs typeface="Arial" pitchFamily="34" charset="0"/>
                </a:rPr>
                <a:t>Q</a:t>
              </a:r>
              <a:r>
                <a:rPr lang="en-US" baseline="-25000" dirty="0" smtClean="0">
                  <a:solidFill>
                    <a:srgbClr val="7030A0"/>
                  </a:solidFill>
                  <a:latin typeface="Arial" pitchFamily="34" charset="0"/>
                  <a:cs typeface="Arial" pitchFamily="34" charset="0"/>
                </a:rPr>
                <a:t>1</a:t>
              </a:r>
              <a:r>
                <a:rPr lang="en-US" dirty="0" smtClean="0">
                  <a:solidFill>
                    <a:srgbClr val="7030A0"/>
                  </a:solidFill>
                  <a:latin typeface="Arial" pitchFamily="34" charset="0"/>
                  <a:cs typeface="Arial" pitchFamily="34" charset="0"/>
                </a:rPr>
                <a:t>)</a:t>
              </a:r>
              <a:endParaRPr lang="en-US" baseline="-25000" dirty="0">
                <a:solidFill>
                  <a:srgbClr val="7030A0"/>
                </a:solidFill>
                <a:latin typeface="Arial" pitchFamily="34" charset="0"/>
                <a:cs typeface="Arial" pitchFamily="34" charset="0"/>
              </a:endParaRPr>
            </a:p>
          </p:txBody>
        </p:sp>
        <p:sp>
          <p:nvSpPr>
            <p:cNvPr id="43" name="TextBox 42"/>
            <p:cNvSpPr txBox="1"/>
            <p:nvPr/>
          </p:nvSpPr>
          <p:spPr>
            <a:xfrm>
              <a:off x="4588054" y="1219200"/>
              <a:ext cx="441146" cy="369332"/>
            </a:xfrm>
            <a:prstGeom prst="rect">
              <a:avLst/>
            </a:prstGeom>
            <a:noFill/>
          </p:spPr>
          <p:txBody>
            <a:bodyPr wrap="none" rtlCol="0">
              <a:spAutoFit/>
            </a:bodyPr>
            <a:lstStyle/>
            <a:p>
              <a:r>
                <a:rPr lang="en-US" dirty="0" smtClean="0">
                  <a:latin typeface="Arial" panose="020B0604020202020204" pitchFamily="34" charset="0"/>
                  <a:cs typeface="Arial" pitchFamily="34" charset="0"/>
                </a:rPr>
                <a:t>24</a:t>
              </a:r>
              <a:endParaRPr lang="en-US" dirty="0">
                <a:latin typeface="Arial" pitchFamily="34" charset="0"/>
                <a:cs typeface="Arial" pitchFamily="34" charset="0"/>
              </a:endParaRPr>
            </a:p>
          </p:txBody>
        </p:sp>
      </p:grpSp>
      <p:grpSp>
        <p:nvGrpSpPr>
          <p:cNvPr id="49" name="Group 48"/>
          <p:cNvGrpSpPr/>
          <p:nvPr/>
        </p:nvGrpSpPr>
        <p:grpSpPr>
          <a:xfrm>
            <a:off x="4097278" y="2968255"/>
            <a:ext cx="4104408" cy="1830564"/>
            <a:chOff x="4114800" y="3112960"/>
            <a:chExt cx="4104408" cy="1830564"/>
          </a:xfrm>
        </p:grpSpPr>
        <p:cxnSp>
          <p:nvCxnSpPr>
            <p:cNvPr id="20" name="Straight Connector 19"/>
            <p:cNvCxnSpPr/>
            <p:nvPr/>
          </p:nvCxnSpPr>
          <p:spPr>
            <a:xfrm flipH="1" flipV="1">
              <a:off x="4572001" y="3251460"/>
              <a:ext cx="2858210" cy="1407498"/>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sp>
          <p:nvSpPr>
            <p:cNvPr id="37" name="TextBox 36"/>
            <p:cNvSpPr txBox="1"/>
            <p:nvPr/>
          </p:nvSpPr>
          <p:spPr>
            <a:xfrm>
              <a:off x="7377311" y="4574192"/>
              <a:ext cx="841897" cy="369332"/>
            </a:xfrm>
            <a:prstGeom prst="rect">
              <a:avLst/>
            </a:prstGeom>
            <a:noFill/>
          </p:spPr>
          <p:txBody>
            <a:bodyPr wrap="none" rtlCol="0">
              <a:spAutoFit/>
            </a:bodyPr>
            <a:lstStyle/>
            <a:p>
              <a:r>
                <a:rPr lang="en-US" i="1" dirty="0" smtClean="0">
                  <a:solidFill>
                    <a:srgbClr val="7030A0"/>
                  </a:solidFill>
                  <a:latin typeface="Arial" panose="020B0604020202020204" pitchFamily="34" charset="0"/>
                  <a:cs typeface="Arial" pitchFamily="34" charset="0"/>
                </a:rPr>
                <a:t>P</a:t>
              </a:r>
              <a:r>
                <a:rPr lang="en-US" baseline="-25000" dirty="0" smtClean="0">
                  <a:solidFill>
                    <a:srgbClr val="7030A0"/>
                  </a:solidFill>
                  <a:latin typeface="Arial" pitchFamily="34" charset="0"/>
                  <a:cs typeface="Arial" pitchFamily="34" charset="0"/>
                </a:rPr>
                <a:t>2</a:t>
              </a:r>
              <a:r>
                <a:rPr lang="en-US" dirty="0" smtClean="0">
                  <a:solidFill>
                    <a:srgbClr val="7030A0"/>
                  </a:solidFill>
                  <a:latin typeface="Arial" pitchFamily="34" charset="0"/>
                  <a:cs typeface="Arial" pitchFamily="34" charset="0"/>
                </a:rPr>
                <a:t>(</a:t>
              </a:r>
              <a:r>
                <a:rPr lang="en-US" i="1" dirty="0" smtClean="0">
                  <a:solidFill>
                    <a:srgbClr val="7030A0"/>
                  </a:solidFill>
                  <a:latin typeface="Arial" pitchFamily="34" charset="0"/>
                  <a:cs typeface="Arial" pitchFamily="34" charset="0"/>
                </a:rPr>
                <a:t>Q</a:t>
              </a:r>
              <a:r>
                <a:rPr lang="en-US" baseline="-25000" dirty="0">
                  <a:solidFill>
                    <a:srgbClr val="7030A0"/>
                  </a:solidFill>
                  <a:latin typeface="Arial" pitchFamily="34" charset="0"/>
                  <a:cs typeface="Arial" pitchFamily="34" charset="0"/>
                </a:rPr>
                <a:t>2</a:t>
              </a:r>
              <a:r>
                <a:rPr lang="en-US" dirty="0" smtClean="0">
                  <a:solidFill>
                    <a:srgbClr val="7030A0"/>
                  </a:solidFill>
                  <a:latin typeface="Arial" pitchFamily="34" charset="0"/>
                  <a:cs typeface="Arial" pitchFamily="34" charset="0"/>
                </a:rPr>
                <a:t>)</a:t>
              </a:r>
              <a:endParaRPr lang="en-US" baseline="-25000" dirty="0">
                <a:solidFill>
                  <a:srgbClr val="7030A0"/>
                </a:solidFill>
                <a:latin typeface="Arial" pitchFamily="34" charset="0"/>
                <a:cs typeface="Arial" pitchFamily="34" charset="0"/>
              </a:endParaRPr>
            </a:p>
          </p:txBody>
        </p:sp>
        <p:sp>
          <p:nvSpPr>
            <p:cNvPr id="44" name="TextBox 43"/>
            <p:cNvSpPr txBox="1"/>
            <p:nvPr/>
          </p:nvSpPr>
          <p:spPr>
            <a:xfrm>
              <a:off x="4114800" y="3112960"/>
              <a:ext cx="441146" cy="369332"/>
            </a:xfrm>
            <a:prstGeom prst="rect">
              <a:avLst/>
            </a:prstGeom>
            <a:noFill/>
          </p:spPr>
          <p:txBody>
            <a:bodyPr wrap="none" rtlCol="0">
              <a:spAutoFit/>
            </a:bodyPr>
            <a:lstStyle/>
            <a:p>
              <a:r>
                <a:rPr lang="en-US" dirty="0" smtClean="0">
                  <a:latin typeface="Arial" panose="020B0604020202020204" pitchFamily="34" charset="0"/>
                  <a:cs typeface="Arial" pitchFamily="34" charset="0"/>
                </a:rPr>
                <a:t>12</a:t>
              </a:r>
              <a:endParaRPr lang="en-US" dirty="0">
                <a:latin typeface="Arial" pitchFamily="34" charset="0"/>
                <a:cs typeface="Arial" pitchFamily="34" charset="0"/>
              </a:endParaRPr>
            </a:p>
          </p:txBody>
        </p:sp>
      </p:grpSp>
      <p:grpSp>
        <p:nvGrpSpPr>
          <p:cNvPr id="47" name="Group 46"/>
          <p:cNvGrpSpPr/>
          <p:nvPr/>
        </p:nvGrpSpPr>
        <p:grpSpPr>
          <a:xfrm>
            <a:off x="3039711" y="2388407"/>
            <a:ext cx="1953284" cy="584775"/>
            <a:chOff x="3075916" y="2483716"/>
            <a:chExt cx="1953284" cy="584775"/>
          </a:xfrm>
        </p:grpSpPr>
        <p:sp>
          <p:nvSpPr>
            <p:cNvPr id="13" name="TextBox 12"/>
            <p:cNvSpPr txBox="1"/>
            <p:nvPr/>
          </p:nvSpPr>
          <p:spPr>
            <a:xfrm>
              <a:off x="3075916" y="2483716"/>
              <a:ext cx="328936" cy="584775"/>
            </a:xfrm>
            <a:prstGeom prst="rect">
              <a:avLst/>
            </a:prstGeom>
            <a:noFill/>
          </p:spPr>
          <p:txBody>
            <a:bodyPr wrap="none" rtlCol="0">
              <a:spAutoFit/>
            </a:bodyPr>
            <a:lstStyle/>
            <a:p>
              <a:r>
                <a:rPr lang="en-US" sz="3200" dirty="0" smtClean="0">
                  <a:latin typeface="Arial" panose="020B0604020202020204" pitchFamily="34" charset="0"/>
                  <a:cs typeface="Arial" panose="020B0604020202020204" pitchFamily="34" charset="0"/>
                </a:rPr>
                <a:t>•</a:t>
              </a:r>
              <a:endParaRPr lang="en-US" sz="3200" dirty="0">
                <a:latin typeface="Arial" panose="020B0604020202020204" pitchFamily="34" charset="0"/>
                <a:cs typeface="Arial" panose="020B0604020202020204" pitchFamily="34" charset="0"/>
              </a:endParaRPr>
            </a:p>
          </p:txBody>
        </p:sp>
        <p:cxnSp>
          <p:nvCxnSpPr>
            <p:cNvPr id="15" name="Straight Connector 14"/>
            <p:cNvCxnSpPr/>
            <p:nvPr/>
          </p:nvCxnSpPr>
          <p:spPr>
            <a:xfrm flipH="1">
              <a:off x="3205777" y="2780044"/>
              <a:ext cx="1355465"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42" name="TextBox 41"/>
            <p:cNvSpPr txBox="1"/>
            <p:nvPr/>
          </p:nvSpPr>
          <p:spPr>
            <a:xfrm>
              <a:off x="4588054" y="2590800"/>
              <a:ext cx="441146" cy="369332"/>
            </a:xfrm>
            <a:prstGeom prst="rect">
              <a:avLst/>
            </a:prstGeom>
            <a:noFill/>
          </p:spPr>
          <p:txBody>
            <a:bodyPr wrap="none" rtlCol="0">
              <a:spAutoFit/>
            </a:bodyPr>
            <a:lstStyle/>
            <a:p>
              <a:r>
                <a:rPr lang="en-US" dirty="0" smtClean="0">
                  <a:latin typeface="Arial" panose="020B0604020202020204" pitchFamily="34" charset="0"/>
                  <a:cs typeface="Arial" pitchFamily="34" charset="0"/>
                </a:rPr>
                <a:t>15</a:t>
              </a:r>
              <a:endParaRPr lang="en-US" dirty="0">
                <a:latin typeface="Arial" pitchFamily="34" charset="0"/>
                <a:cs typeface="Arial" pitchFamily="34" charset="0"/>
              </a:endParaRPr>
            </a:p>
          </p:txBody>
        </p:sp>
      </p:grpSp>
      <p:grpSp>
        <p:nvGrpSpPr>
          <p:cNvPr id="51" name="Group 50"/>
          <p:cNvGrpSpPr/>
          <p:nvPr/>
        </p:nvGrpSpPr>
        <p:grpSpPr>
          <a:xfrm>
            <a:off x="4243040" y="3224641"/>
            <a:ext cx="1599957" cy="707886"/>
            <a:chOff x="4243040" y="3344775"/>
            <a:chExt cx="1599957" cy="707886"/>
          </a:xfrm>
        </p:grpSpPr>
        <p:cxnSp>
          <p:nvCxnSpPr>
            <p:cNvPr id="31" name="Straight Connector 30"/>
            <p:cNvCxnSpPr/>
            <p:nvPr/>
          </p:nvCxnSpPr>
          <p:spPr>
            <a:xfrm flipH="1">
              <a:off x="4572000" y="3698718"/>
              <a:ext cx="919542"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2" name="TextBox 31"/>
            <p:cNvSpPr txBox="1"/>
            <p:nvPr/>
          </p:nvSpPr>
          <p:spPr>
            <a:xfrm>
              <a:off x="4243040" y="3516868"/>
              <a:ext cx="312906" cy="369332"/>
            </a:xfrm>
            <a:prstGeom prst="rect">
              <a:avLst/>
            </a:prstGeom>
            <a:noFill/>
          </p:spPr>
          <p:txBody>
            <a:bodyPr wrap="none" rtlCol="0">
              <a:spAutoFit/>
            </a:bodyPr>
            <a:lstStyle/>
            <a:p>
              <a:r>
                <a:rPr lang="en-US" dirty="0" smtClean="0">
                  <a:latin typeface="Arial" panose="020B0604020202020204" pitchFamily="34" charset="0"/>
                  <a:cs typeface="Arial" pitchFamily="34" charset="0"/>
                </a:rPr>
                <a:t>9</a:t>
              </a:r>
              <a:endParaRPr lang="en-US" dirty="0">
                <a:latin typeface="Arial" pitchFamily="34" charset="0"/>
                <a:cs typeface="Arial" pitchFamily="34" charset="0"/>
              </a:endParaRPr>
            </a:p>
          </p:txBody>
        </p:sp>
        <p:sp>
          <p:nvSpPr>
            <p:cNvPr id="39" name="TextBox 38"/>
            <p:cNvSpPr txBox="1"/>
            <p:nvPr/>
          </p:nvSpPr>
          <p:spPr>
            <a:xfrm>
              <a:off x="5330058" y="3344775"/>
              <a:ext cx="512939" cy="707886"/>
            </a:xfrm>
            <a:prstGeom prst="rect">
              <a:avLst/>
            </a:prstGeom>
            <a:noFill/>
          </p:spPr>
          <p:txBody>
            <a:bodyPr wrap="square" rtlCol="0">
              <a:spAutoFit/>
            </a:bodyPr>
            <a:lstStyle/>
            <a:p>
              <a:r>
                <a:rPr lang="en-US" sz="4000" dirty="0" smtClean="0">
                  <a:latin typeface="Arial" panose="020B0604020202020204" pitchFamily="34" charset="0"/>
                  <a:cs typeface="Arial" panose="020B0604020202020204" pitchFamily="34" charset="0"/>
                </a:rPr>
                <a:t>•</a:t>
              </a:r>
              <a:endParaRPr lang="en-US" sz="4000" dirty="0">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2794593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63"/>
                                        </p:tgtEl>
                                        <p:attrNameLst>
                                          <p:attrName>style.visibility</p:attrName>
                                        </p:attrNameLst>
                                      </p:cBhvr>
                                      <p:to>
                                        <p:strVal val="visible"/>
                                      </p:to>
                                    </p:set>
                                    <p:animEffect transition="in" filter="wipe(left)">
                                      <p:cBhvr>
                                        <p:cTn id="7" dur="500"/>
                                        <p:tgtEl>
                                          <p:spTgt spid="63"/>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54"/>
                                        </p:tgtEl>
                                        <p:attrNameLst>
                                          <p:attrName>style.visibility</p:attrName>
                                        </p:attrNameLst>
                                      </p:cBhvr>
                                      <p:to>
                                        <p:strVal val="visible"/>
                                      </p:to>
                                    </p:set>
                                    <p:animEffect transition="in" filter="wipe(left)">
                                      <p:cBhvr>
                                        <p:cTn id="11" dur="500"/>
                                        <p:tgtEl>
                                          <p:spTgt spid="54"/>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48"/>
                                        </p:tgtEl>
                                        <p:attrNameLst>
                                          <p:attrName>style.visibility</p:attrName>
                                        </p:attrNameLst>
                                      </p:cBhvr>
                                      <p:to>
                                        <p:strVal val="visible"/>
                                      </p:to>
                                    </p:set>
                                    <p:animEffect transition="in" filter="wipe(left)">
                                      <p:cBhvr>
                                        <p:cTn id="15" dur="500"/>
                                        <p:tgtEl>
                                          <p:spTgt spid="48"/>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58"/>
                                        </p:tgtEl>
                                        <p:attrNameLst>
                                          <p:attrName>style.visibility</p:attrName>
                                        </p:attrNameLst>
                                      </p:cBhvr>
                                      <p:to>
                                        <p:strVal val="visible"/>
                                      </p:to>
                                    </p:set>
                                    <p:animEffect transition="in" filter="wipe(left)">
                                      <p:cBhvr>
                                        <p:cTn id="19" dur="500"/>
                                        <p:tgtEl>
                                          <p:spTgt spid="58"/>
                                        </p:tgtEl>
                                      </p:cBhvr>
                                    </p:animEffect>
                                  </p:childTnLst>
                                </p:cTn>
                              </p:par>
                            </p:childTnLst>
                          </p:cTn>
                        </p:par>
                        <p:par>
                          <p:cTn id="20" fill="hold">
                            <p:stCondLst>
                              <p:cond delay="2000"/>
                            </p:stCondLst>
                            <p:childTnLst>
                              <p:par>
                                <p:cTn id="21" presetID="22" presetClass="entr" presetSubtype="1" fill="hold" nodeType="afterEffect">
                                  <p:stCondLst>
                                    <p:cond delay="0"/>
                                  </p:stCondLst>
                                  <p:childTnLst>
                                    <p:set>
                                      <p:cBhvr>
                                        <p:cTn id="22" dur="1" fill="hold">
                                          <p:stCondLst>
                                            <p:cond delay="0"/>
                                          </p:stCondLst>
                                        </p:cTn>
                                        <p:tgtEl>
                                          <p:spTgt spid="56"/>
                                        </p:tgtEl>
                                        <p:attrNameLst>
                                          <p:attrName>style.visibility</p:attrName>
                                        </p:attrNameLst>
                                      </p:cBhvr>
                                      <p:to>
                                        <p:strVal val="visible"/>
                                      </p:to>
                                    </p:set>
                                    <p:animEffect transition="in" filter="wipe(up)">
                                      <p:cBhvr>
                                        <p:cTn id="23" dur="500"/>
                                        <p:tgtEl>
                                          <p:spTgt spid="56"/>
                                        </p:tgtEl>
                                      </p:cBhvr>
                                    </p:animEffect>
                                  </p:childTnLst>
                                </p:cTn>
                              </p:par>
                            </p:childTnLst>
                          </p:cTn>
                        </p:par>
                        <p:par>
                          <p:cTn id="24" fill="hold">
                            <p:stCondLst>
                              <p:cond delay="2500"/>
                            </p:stCondLst>
                            <p:childTnLst>
                              <p:par>
                                <p:cTn id="25" presetID="22" presetClass="entr" presetSubtype="8" fill="hold" nodeType="afterEffect">
                                  <p:stCondLst>
                                    <p:cond delay="0"/>
                                  </p:stCondLst>
                                  <p:childTnLst>
                                    <p:set>
                                      <p:cBhvr>
                                        <p:cTn id="26" dur="1" fill="hold">
                                          <p:stCondLst>
                                            <p:cond delay="0"/>
                                          </p:stCondLst>
                                        </p:cTn>
                                        <p:tgtEl>
                                          <p:spTgt spid="47"/>
                                        </p:tgtEl>
                                        <p:attrNameLst>
                                          <p:attrName>style.visibility</p:attrName>
                                        </p:attrNameLst>
                                      </p:cBhvr>
                                      <p:to>
                                        <p:strVal val="visible"/>
                                      </p:to>
                                    </p:set>
                                    <p:animEffect transition="in" filter="wipe(left)">
                                      <p:cBhvr>
                                        <p:cTn id="27" dur="500"/>
                                        <p:tgtEl>
                                          <p:spTgt spid="47"/>
                                        </p:tgtEl>
                                      </p:cBhvr>
                                    </p:animEffect>
                                  </p:childTnLst>
                                </p:cTn>
                              </p:par>
                            </p:childTnLst>
                          </p:cTn>
                        </p:par>
                        <p:par>
                          <p:cTn id="28" fill="hold">
                            <p:stCondLst>
                              <p:cond delay="3000"/>
                            </p:stCondLst>
                            <p:childTnLst>
                              <p:par>
                                <p:cTn id="29" presetID="22" presetClass="entr" presetSubtype="1" fill="hold" nodeType="afterEffect">
                                  <p:stCondLst>
                                    <p:cond delay="0"/>
                                  </p:stCondLst>
                                  <p:childTnLst>
                                    <p:set>
                                      <p:cBhvr>
                                        <p:cTn id="30" dur="1" fill="hold">
                                          <p:stCondLst>
                                            <p:cond delay="0"/>
                                          </p:stCondLst>
                                        </p:cTn>
                                        <p:tgtEl>
                                          <p:spTgt spid="55"/>
                                        </p:tgtEl>
                                        <p:attrNameLst>
                                          <p:attrName>style.visibility</p:attrName>
                                        </p:attrNameLst>
                                      </p:cBhvr>
                                      <p:to>
                                        <p:strVal val="visible"/>
                                      </p:to>
                                    </p:set>
                                    <p:animEffect transition="in" filter="wipe(up)">
                                      <p:cBhvr>
                                        <p:cTn id="31" dur="500"/>
                                        <p:tgtEl>
                                          <p:spTgt spid="55"/>
                                        </p:tgtEl>
                                      </p:cBhvr>
                                    </p:animEffect>
                                  </p:childTnLst>
                                </p:cTn>
                              </p:par>
                            </p:childTnLst>
                          </p:cTn>
                        </p:par>
                        <p:par>
                          <p:cTn id="32" fill="hold">
                            <p:stCondLst>
                              <p:cond delay="3500"/>
                            </p:stCondLst>
                            <p:childTnLst>
                              <p:par>
                                <p:cTn id="33" presetID="22" presetClass="entr" presetSubtype="8" fill="hold" nodeType="afterEffect">
                                  <p:stCondLst>
                                    <p:cond delay="0"/>
                                  </p:stCondLst>
                                  <p:childTnLst>
                                    <p:set>
                                      <p:cBhvr>
                                        <p:cTn id="34" dur="1" fill="hold">
                                          <p:stCondLst>
                                            <p:cond delay="0"/>
                                          </p:stCondLst>
                                        </p:cTn>
                                        <p:tgtEl>
                                          <p:spTgt spid="60"/>
                                        </p:tgtEl>
                                        <p:attrNameLst>
                                          <p:attrName>style.visibility</p:attrName>
                                        </p:attrNameLst>
                                      </p:cBhvr>
                                      <p:to>
                                        <p:strVal val="visible"/>
                                      </p:to>
                                    </p:set>
                                    <p:animEffect transition="in" filter="wipe(left)">
                                      <p:cBhvr>
                                        <p:cTn id="35" dur="500"/>
                                        <p:tgtEl>
                                          <p:spTgt spid="60"/>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49"/>
                                        </p:tgtEl>
                                        <p:attrNameLst>
                                          <p:attrName>style.visibility</p:attrName>
                                        </p:attrNameLst>
                                      </p:cBhvr>
                                      <p:to>
                                        <p:strVal val="visible"/>
                                      </p:to>
                                    </p:set>
                                    <p:animEffect transition="in" filter="wipe(left)">
                                      <p:cBhvr>
                                        <p:cTn id="40" dur="500"/>
                                        <p:tgtEl>
                                          <p:spTgt spid="49"/>
                                        </p:tgtEl>
                                      </p:cBhvr>
                                    </p:animEffect>
                                  </p:childTnLst>
                                </p:cTn>
                              </p:par>
                            </p:childTnLst>
                          </p:cTn>
                        </p:par>
                        <p:par>
                          <p:cTn id="41" fill="hold">
                            <p:stCondLst>
                              <p:cond delay="500"/>
                            </p:stCondLst>
                            <p:childTnLst>
                              <p:par>
                                <p:cTn id="42" presetID="22" presetClass="entr" presetSubtype="8" fill="hold" nodeType="afterEffect">
                                  <p:stCondLst>
                                    <p:cond delay="0"/>
                                  </p:stCondLst>
                                  <p:childTnLst>
                                    <p:set>
                                      <p:cBhvr>
                                        <p:cTn id="43" dur="1" fill="hold">
                                          <p:stCondLst>
                                            <p:cond delay="0"/>
                                          </p:stCondLst>
                                        </p:cTn>
                                        <p:tgtEl>
                                          <p:spTgt spid="57"/>
                                        </p:tgtEl>
                                        <p:attrNameLst>
                                          <p:attrName>style.visibility</p:attrName>
                                        </p:attrNameLst>
                                      </p:cBhvr>
                                      <p:to>
                                        <p:strVal val="visible"/>
                                      </p:to>
                                    </p:set>
                                    <p:animEffect transition="in" filter="wipe(left)">
                                      <p:cBhvr>
                                        <p:cTn id="44" dur="500"/>
                                        <p:tgtEl>
                                          <p:spTgt spid="57"/>
                                        </p:tgtEl>
                                      </p:cBhvr>
                                    </p:animEffect>
                                  </p:childTnLst>
                                </p:cTn>
                              </p:par>
                            </p:childTnLst>
                          </p:cTn>
                        </p:par>
                        <p:par>
                          <p:cTn id="45" fill="hold">
                            <p:stCondLst>
                              <p:cond delay="1000"/>
                            </p:stCondLst>
                            <p:childTnLst>
                              <p:par>
                                <p:cTn id="46" presetID="22" presetClass="entr" presetSubtype="1" fill="hold" nodeType="afterEffect">
                                  <p:stCondLst>
                                    <p:cond delay="0"/>
                                  </p:stCondLst>
                                  <p:childTnLst>
                                    <p:set>
                                      <p:cBhvr>
                                        <p:cTn id="47" dur="1" fill="hold">
                                          <p:stCondLst>
                                            <p:cond delay="0"/>
                                          </p:stCondLst>
                                        </p:cTn>
                                        <p:tgtEl>
                                          <p:spTgt spid="52"/>
                                        </p:tgtEl>
                                        <p:attrNameLst>
                                          <p:attrName>style.visibility</p:attrName>
                                        </p:attrNameLst>
                                      </p:cBhvr>
                                      <p:to>
                                        <p:strVal val="visible"/>
                                      </p:to>
                                    </p:set>
                                    <p:animEffect transition="in" filter="wipe(up)">
                                      <p:cBhvr>
                                        <p:cTn id="48" dur="500"/>
                                        <p:tgtEl>
                                          <p:spTgt spid="52"/>
                                        </p:tgtEl>
                                      </p:cBhvr>
                                    </p:animEffect>
                                  </p:childTnLst>
                                </p:cTn>
                              </p:par>
                            </p:childTnLst>
                          </p:cTn>
                        </p:par>
                        <p:par>
                          <p:cTn id="49" fill="hold">
                            <p:stCondLst>
                              <p:cond delay="1500"/>
                            </p:stCondLst>
                            <p:childTnLst>
                              <p:par>
                                <p:cTn id="50" presetID="22" presetClass="entr" presetSubtype="8" fill="hold" nodeType="afterEffect">
                                  <p:stCondLst>
                                    <p:cond delay="0"/>
                                  </p:stCondLst>
                                  <p:childTnLst>
                                    <p:set>
                                      <p:cBhvr>
                                        <p:cTn id="51" dur="1" fill="hold">
                                          <p:stCondLst>
                                            <p:cond delay="0"/>
                                          </p:stCondLst>
                                        </p:cTn>
                                        <p:tgtEl>
                                          <p:spTgt spid="51"/>
                                        </p:tgtEl>
                                        <p:attrNameLst>
                                          <p:attrName>style.visibility</p:attrName>
                                        </p:attrNameLst>
                                      </p:cBhvr>
                                      <p:to>
                                        <p:strVal val="visible"/>
                                      </p:to>
                                    </p:set>
                                    <p:animEffect transition="in" filter="wipe(left)">
                                      <p:cBhvr>
                                        <p:cTn id="52" dur="500"/>
                                        <p:tgtEl>
                                          <p:spTgt spid="51"/>
                                        </p:tgtEl>
                                      </p:cBhvr>
                                    </p:animEffect>
                                  </p:childTnLst>
                                </p:cTn>
                              </p:par>
                            </p:childTnLst>
                          </p:cTn>
                        </p:par>
                        <p:par>
                          <p:cTn id="53" fill="hold">
                            <p:stCondLst>
                              <p:cond delay="2000"/>
                            </p:stCondLst>
                            <p:childTnLst>
                              <p:par>
                                <p:cTn id="54" presetID="22" presetClass="entr" presetSubtype="1" fill="hold" nodeType="afterEffect">
                                  <p:stCondLst>
                                    <p:cond delay="0"/>
                                  </p:stCondLst>
                                  <p:childTnLst>
                                    <p:set>
                                      <p:cBhvr>
                                        <p:cTn id="55" dur="1" fill="hold">
                                          <p:stCondLst>
                                            <p:cond delay="0"/>
                                          </p:stCondLst>
                                        </p:cTn>
                                        <p:tgtEl>
                                          <p:spTgt spid="53"/>
                                        </p:tgtEl>
                                        <p:attrNameLst>
                                          <p:attrName>style.visibility</p:attrName>
                                        </p:attrNameLst>
                                      </p:cBhvr>
                                      <p:to>
                                        <p:strVal val="visible"/>
                                      </p:to>
                                    </p:set>
                                    <p:animEffect transition="in" filter="wipe(up)">
                                      <p:cBhvr>
                                        <p:cTn id="56" dur="500"/>
                                        <p:tgtEl>
                                          <p:spTgt spid="53"/>
                                        </p:tgtEl>
                                      </p:cBhvr>
                                    </p:animEffect>
                                  </p:childTnLst>
                                </p:cTn>
                              </p:par>
                            </p:childTnLst>
                          </p:cTn>
                        </p:par>
                        <p:par>
                          <p:cTn id="57" fill="hold">
                            <p:stCondLst>
                              <p:cond delay="2500"/>
                            </p:stCondLst>
                            <p:childTnLst>
                              <p:par>
                                <p:cTn id="58" presetID="22" presetClass="entr" presetSubtype="8" fill="hold" grpId="0" nodeType="afterEffect">
                                  <p:stCondLst>
                                    <p:cond delay="0"/>
                                  </p:stCondLst>
                                  <p:childTnLst>
                                    <p:set>
                                      <p:cBhvr>
                                        <p:cTn id="59" dur="1" fill="hold">
                                          <p:stCondLst>
                                            <p:cond delay="0"/>
                                          </p:stCondLst>
                                        </p:cTn>
                                        <p:tgtEl>
                                          <p:spTgt spid="3">
                                            <p:txEl>
                                              <p:pRg st="0" end="0"/>
                                            </p:txEl>
                                          </p:spTgt>
                                        </p:tgtEl>
                                        <p:attrNameLst>
                                          <p:attrName>style.visibility</p:attrName>
                                        </p:attrNameLst>
                                      </p:cBhvr>
                                      <p:to>
                                        <p:strVal val="visible"/>
                                      </p:to>
                                    </p:set>
                                    <p:animEffect transition="in" filter="wipe(left)">
                                      <p:cBhvr>
                                        <p:cTn id="60" dur="500"/>
                                        <p:tgtEl>
                                          <p:spTgt spid="3">
                                            <p:txEl>
                                              <p:pRg st="0" end="0"/>
                                            </p:txEl>
                                          </p:spTgt>
                                        </p:tgtEl>
                                      </p:cBhvr>
                                    </p:animEffect>
                                  </p:childTnLst>
                                </p:cTn>
                              </p:par>
                            </p:childTnLst>
                          </p:cTn>
                        </p:par>
                        <p:par>
                          <p:cTn id="61" fill="hold">
                            <p:stCondLst>
                              <p:cond delay="3500"/>
                            </p:stCondLst>
                            <p:childTnLst>
                              <p:par>
                                <p:cTn id="62" presetID="22" presetClass="entr" presetSubtype="8" fill="hold" nodeType="afterEffect">
                                  <p:stCondLst>
                                    <p:cond delay="0"/>
                                  </p:stCondLst>
                                  <p:childTnLst>
                                    <p:set>
                                      <p:cBhvr>
                                        <p:cTn id="63" dur="1" fill="hold">
                                          <p:stCondLst>
                                            <p:cond delay="0"/>
                                          </p:stCondLst>
                                        </p:cTn>
                                        <p:tgtEl>
                                          <p:spTgt spid="61"/>
                                        </p:tgtEl>
                                        <p:attrNameLst>
                                          <p:attrName>style.visibility</p:attrName>
                                        </p:attrNameLst>
                                      </p:cBhvr>
                                      <p:to>
                                        <p:strVal val="visible"/>
                                      </p:to>
                                    </p:set>
                                    <p:animEffect transition="in" filter="wipe(left)">
                                      <p:cBhvr>
                                        <p:cTn id="64" dur="5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p:cNvSpPr>
            <a:spLocks noGrp="1"/>
          </p:cNvSpPr>
          <p:nvPr>
            <p:ph type="title"/>
          </p:nvPr>
        </p:nvSpPr>
        <p:spPr bwMode="auto">
          <a:xfrm>
            <a:off x="1764344" y="0"/>
            <a:ext cx="7379656" cy="1219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p>
            <a:r>
              <a:rPr lang="en-US" altLang="en-US" dirty="0" smtClean="0"/>
              <a:t>14.5 	</a:t>
            </a:r>
            <a:r>
              <a:rPr lang="en-US" altLang="en-US" dirty="0"/>
              <a:t>Price Discrimination across Segmented </a:t>
            </a:r>
            <a:br>
              <a:rPr lang="en-US" altLang="en-US" dirty="0"/>
            </a:br>
            <a:r>
              <a:rPr lang="en-US" altLang="en-US" dirty="0"/>
              <a:t>	</a:t>
            </a:r>
            <a:r>
              <a:rPr lang="en-US" altLang="en-US" dirty="0">
                <a:solidFill>
                  <a:srgbClr val="002D56"/>
                </a:solidFill>
              </a:rPr>
              <a:t>Markets</a:t>
            </a:r>
            <a:endParaRPr lang="en-US" altLang="en-US" dirty="0" smtClean="0"/>
          </a:p>
        </p:txBody>
      </p:sp>
      <p:sp>
        <p:nvSpPr>
          <p:cNvPr id="53253"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4" name="Slide Number Placeholder 3"/>
          <p:cNvSpPr>
            <a:spLocks noGrp="1"/>
          </p:cNvSpPr>
          <p:nvPr>
            <p:ph type="sldNum" sz="quarter" idx="11"/>
          </p:nvPr>
        </p:nvSpPr>
        <p:spPr>
          <a:prstGeom prst="rect">
            <a:avLst/>
          </a:prstGeom>
        </p:spPr>
        <p:txBody>
          <a:bodyPr/>
          <a:lstStyle/>
          <a:p>
            <a:pPr>
              <a:defRPr/>
            </a:pPr>
            <a:fld id="{BA44A4BD-BA7E-4D30-A1F1-82A8E8DD1F1B}" type="slidenum">
              <a:rPr lang="en-US" smtClean="0"/>
              <a:pPr>
                <a:defRPr/>
              </a:pPr>
              <a:t>43</a:t>
            </a:fld>
            <a:endParaRPr lang="en-US" dirty="0"/>
          </a:p>
        </p:txBody>
      </p:sp>
      <p:sp>
        <p:nvSpPr>
          <p:cNvPr id="53251" name="Content Placeholder 2"/>
          <p:cNvSpPr>
            <a:spLocks noGrp="1"/>
          </p:cNvSpPr>
          <p:nvPr>
            <p:ph type="body" sz="quarter" idx="12"/>
          </p:nvPr>
        </p:nvSpPr>
        <p:spPr>
          <a:xfrm>
            <a:off x="381000" y="914400"/>
            <a:ext cx="8382000" cy="5486400"/>
          </a:xfrm>
          <a:prstGeom prst="rect">
            <a:avLst/>
          </a:prstGeom>
        </p:spPr>
        <p:txBody>
          <a:bodyPr/>
          <a:lstStyle/>
          <a:p>
            <a:r>
              <a:rPr lang="en-US" altLang="en-US" dirty="0" smtClean="0"/>
              <a:t>Calculate the deadweight losses, c</a:t>
            </a:r>
            <a:r>
              <a:rPr lang="en-US" altLang="en-US" sz="2700" dirty="0" smtClean="0"/>
              <a:t>ompetitive output</a:t>
            </a:r>
          </a:p>
          <a:p>
            <a:pPr algn="ctr">
              <a:lnSpc>
                <a:spcPct val="140000"/>
              </a:lnSpc>
              <a:buFontTx/>
              <a:buNone/>
            </a:pPr>
            <a:r>
              <a:rPr lang="en-US" altLang="en-US" sz="2800" i="1" dirty="0" smtClean="0">
                <a:solidFill>
                  <a:srgbClr val="FF0000"/>
                </a:solidFill>
                <a:latin typeface="Times New Roman" panose="02020603050405020304" pitchFamily="18" charset="0"/>
                <a:cs typeface="Times New Roman" panose="02020603050405020304" pitchFamily="18" charset="0"/>
              </a:rPr>
              <a:t>DW = DW</a:t>
            </a:r>
            <a:r>
              <a:rPr lang="en-US" altLang="en-US" sz="2800" i="1" baseline="-25000" dirty="0" smtClean="0">
                <a:solidFill>
                  <a:srgbClr val="FF0000"/>
                </a:solidFill>
                <a:latin typeface="Times New Roman" panose="02020603050405020304" pitchFamily="18" charset="0"/>
                <a:cs typeface="Times New Roman" panose="02020603050405020304" pitchFamily="18" charset="0"/>
              </a:rPr>
              <a:t>1</a:t>
            </a:r>
            <a:r>
              <a:rPr lang="en-US" altLang="en-US" sz="2800" i="1" dirty="0" smtClean="0">
                <a:solidFill>
                  <a:srgbClr val="FF0000"/>
                </a:solidFill>
                <a:latin typeface="Times New Roman" panose="02020603050405020304" pitchFamily="18" charset="0"/>
                <a:cs typeface="Times New Roman" panose="02020603050405020304" pitchFamily="18" charset="0"/>
              </a:rPr>
              <a:t> + </a:t>
            </a:r>
            <a:r>
              <a:rPr lang="en-US" altLang="en-US" sz="2800" i="1" dirty="0">
                <a:solidFill>
                  <a:srgbClr val="FF0000"/>
                </a:solidFill>
                <a:latin typeface="Times New Roman" panose="02020603050405020304" pitchFamily="18" charset="0"/>
                <a:cs typeface="Times New Roman" panose="02020603050405020304" pitchFamily="18" charset="0"/>
              </a:rPr>
              <a:t>DW</a:t>
            </a:r>
            <a:r>
              <a:rPr lang="en-US" altLang="en-US" sz="2800" i="1" baseline="-25000" dirty="0">
                <a:solidFill>
                  <a:srgbClr val="FF0000"/>
                </a:solidFill>
                <a:latin typeface="Times New Roman" panose="02020603050405020304" pitchFamily="18" charset="0"/>
                <a:cs typeface="Times New Roman" panose="02020603050405020304" pitchFamily="18" charset="0"/>
              </a:rPr>
              <a:t>2</a:t>
            </a:r>
            <a:r>
              <a:rPr lang="en-US" altLang="en-US" sz="2800" i="1" dirty="0">
                <a:solidFill>
                  <a:srgbClr val="FF0000"/>
                </a:solidFill>
                <a:latin typeface="Times New Roman" panose="02020603050405020304" pitchFamily="18" charset="0"/>
                <a:cs typeface="Times New Roman" panose="02020603050405020304" pitchFamily="18" charset="0"/>
              </a:rPr>
              <a:t> </a:t>
            </a:r>
            <a:r>
              <a:rPr lang="en-US" altLang="en-US" sz="2800" i="1" dirty="0" smtClean="0">
                <a:solidFill>
                  <a:srgbClr val="FF0000"/>
                </a:solidFill>
                <a:latin typeface="Times New Roman" panose="02020603050405020304" pitchFamily="18" charset="0"/>
                <a:cs typeface="Times New Roman" panose="02020603050405020304" pitchFamily="18" charset="0"/>
              </a:rPr>
              <a:t>=</a:t>
            </a:r>
          </a:p>
          <a:p>
            <a:pPr algn="ctr">
              <a:lnSpc>
                <a:spcPct val="140000"/>
              </a:lnSpc>
              <a:buFontTx/>
              <a:buNone/>
            </a:pPr>
            <a:r>
              <a:rPr lang="en-US" altLang="en-US" sz="2800" i="1" dirty="0">
                <a:solidFill>
                  <a:srgbClr val="FF0000"/>
                </a:solidFill>
                <a:latin typeface="Times New Roman" panose="02020603050405020304" pitchFamily="18" charset="0"/>
                <a:cs typeface="Times New Roman" panose="02020603050405020304" pitchFamily="18" charset="0"/>
              </a:rPr>
              <a:t>=</a:t>
            </a:r>
            <a:r>
              <a:rPr lang="en-US" altLang="en-US" sz="2800" i="1" dirty="0" smtClean="0">
                <a:solidFill>
                  <a:srgbClr val="FF0000"/>
                </a:solidFill>
                <a:latin typeface="Times New Roman" panose="02020603050405020304" pitchFamily="18" charset="0"/>
                <a:cs typeface="Times New Roman" panose="02020603050405020304" pitchFamily="18" charset="0"/>
              </a:rPr>
              <a:t> 0.5(15-6)(18-9) + 0.5(9-6)(12-6) = 40.5+9</a:t>
            </a:r>
          </a:p>
          <a:p>
            <a:r>
              <a:rPr lang="en-US" altLang="en-US" dirty="0" smtClean="0"/>
              <a:t>If this monopoly were constrained to charge a single price</a:t>
            </a:r>
          </a:p>
          <a:p>
            <a:pPr lvl="1"/>
            <a:r>
              <a:rPr lang="en-US" altLang="en-US" dirty="0" smtClean="0"/>
              <a:t>Set P = 15 and sell only in the first market</a:t>
            </a:r>
          </a:p>
          <a:p>
            <a:r>
              <a:rPr lang="en-US" altLang="en-US" dirty="0" smtClean="0"/>
              <a:t>Deadweight loss increases</a:t>
            </a:r>
          </a:p>
          <a:p>
            <a:pPr lvl="1" algn="ctr">
              <a:buFontTx/>
              <a:buNone/>
            </a:pPr>
            <a:r>
              <a:rPr lang="en-US" altLang="en-US" i="1" dirty="0" smtClean="0">
                <a:solidFill>
                  <a:srgbClr val="FF0000"/>
                </a:solidFill>
                <a:latin typeface="Times New Roman" panose="02020603050405020304" pitchFamily="18" charset="0"/>
                <a:cs typeface="Times New Roman" panose="02020603050405020304" pitchFamily="18" charset="0"/>
              </a:rPr>
              <a:t>DW = DW</a:t>
            </a:r>
            <a:r>
              <a:rPr lang="en-US" altLang="en-US" baseline="-25000" dirty="0" smtClean="0">
                <a:solidFill>
                  <a:srgbClr val="FF0000"/>
                </a:solidFill>
                <a:latin typeface="Times New Roman" panose="02020603050405020304" pitchFamily="18" charset="0"/>
                <a:cs typeface="Times New Roman" panose="02020603050405020304" pitchFamily="18" charset="0"/>
              </a:rPr>
              <a:t>1</a:t>
            </a:r>
            <a:r>
              <a:rPr lang="en-US" altLang="en-US" i="1" dirty="0" smtClean="0">
                <a:solidFill>
                  <a:srgbClr val="FF0000"/>
                </a:solidFill>
                <a:latin typeface="Times New Roman" panose="02020603050405020304" pitchFamily="18" charset="0"/>
                <a:cs typeface="Times New Roman" panose="02020603050405020304" pitchFamily="18" charset="0"/>
              </a:rPr>
              <a:t> + DW</a:t>
            </a:r>
            <a:r>
              <a:rPr lang="en-US" altLang="en-US" baseline="-25000" dirty="0" smtClean="0">
                <a:solidFill>
                  <a:srgbClr val="FF0000"/>
                </a:solidFill>
                <a:latin typeface="Times New Roman" panose="02020603050405020304" pitchFamily="18" charset="0"/>
                <a:cs typeface="Times New Roman" panose="02020603050405020304" pitchFamily="18" charset="0"/>
              </a:rPr>
              <a:t>2</a:t>
            </a:r>
            <a:r>
              <a:rPr lang="en-US" altLang="en-US" i="1" dirty="0" smtClean="0">
                <a:solidFill>
                  <a:srgbClr val="FF0000"/>
                </a:solidFill>
                <a:latin typeface="Times New Roman" panose="02020603050405020304" pitchFamily="18" charset="0"/>
                <a:cs typeface="Times New Roman" panose="02020603050405020304" pitchFamily="18" charset="0"/>
              </a:rPr>
              <a:t> = </a:t>
            </a:r>
            <a:r>
              <a:rPr lang="en-US" altLang="en-US" dirty="0" smtClean="0">
                <a:solidFill>
                  <a:srgbClr val="FF0000"/>
                </a:solidFill>
                <a:latin typeface="Times New Roman" panose="02020603050405020304" pitchFamily="18" charset="0"/>
                <a:cs typeface="Times New Roman" panose="02020603050405020304" pitchFamily="18" charset="0"/>
              </a:rPr>
              <a:t>40.5 + 0.5(12 – 6)(12 – 0)</a:t>
            </a:r>
          </a:p>
          <a:p>
            <a:pPr lvl="1" algn="ctr">
              <a:buFontTx/>
              <a:buNone/>
            </a:pPr>
            <a:r>
              <a:rPr lang="en-US" altLang="en-US" i="1" dirty="0" smtClean="0">
                <a:solidFill>
                  <a:srgbClr val="FF0000"/>
                </a:solidFill>
                <a:latin typeface="Times New Roman" panose="02020603050405020304" pitchFamily="18" charset="0"/>
                <a:cs typeface="Times New Roman" panose="02020603050405020304" pitchFamily="18" charset="0"/>
              </a:rPr>
              <a:t>DW = </a:t>
            </a:r>
            <a:r>
              <a:rPr lang="en-US" altLang="en-US" dirty="0" smtClean="0">
                <a:solidFill>
                  <a:srgbClr val="FF0000"/>
                </a:solidFill>
                <a:latin typeface="Times New Roman" panose="02020603050405020304" pitchFamily="18" charset="0"/>
                <a:cs typeface="Times New Roman" panose="02020603050405020304" pitchFamily="18" charset="0"/>
              </a:rPr>
              <a:t>40.5 + 36 = 76.5</a:t>
            </a:r>
            <a:endParaRPr lang="en-US" altLang="en-US" i="1" dirty="0" smtClean="0">
              <a:solidFill>
                <a:srgbClr val="FF0000"/>
              </a:solidFill>
              <a:latin typeface="Times New Roman" panose="02020603050405020304" pitchFamily="18" charset="0"/>
              <a:cs typeface="Times New Roman" panose="02020603050405020304" pitchFamily="18" charset="0"/>
            </a:endParaRPr>
          </a:p>
          <a:p>
            <a:endParaRPr lang="en-US" altLang="en-US" sz="2800" i="1" dirty="0" smtClean="0">
              <a:solidFill>
                <a:srgbClr val="7B332D"/>
              </a:solidFill>
            </a:endParaRPr>
          </a:p>
          <a:p>
            <a:endParaRPr lang="en-US" altLang="en-US" sz="2800" dirty="0" smtClean="0"/>
          </a:p>
        </p:txBody>
      </p:sp>
    </p:spTree>
    <p:extLst>
      <p:ext uri="{BB962C8B-B14F-4D97-AF65-F5344CB8AC3E}">
        <p14:creationId xmlns:p14="http://schemas.microsoft.com/office/powerpoint/2010/main" val="3219600811"/>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p:cNvSpPr>
            <a:spLocks noGrp="1"/>
          </p:cNvSpPr>
          <p:nvPr>
            <p:ph type="title"/>
          </p:nvPr>
        </p:nvSpPr>
        <p:spPr>
          <a:xfrm>
            <a:off x="304800" y="0"/>
            <a:ext cx="8839200" cy="990600"/>
          </a:xfrm>
        </p:spPr>
        <p:txBody>
          <a:bodyPr>
            <a:noAutofit/>
          </a:bodyPr>
          <a:lstStyle/>
          <a:p>
            <a:r>
              <a:rPr lang="en-US" altLang="en-US" sz="3500" dirty="0" smtClean="0"/>
              <a:t>Price Discrimination Through Non-Uniform  Schedules</a:t>
            </a:r>
          </a:p>
        </p:txBody>
      </p:sp>
      <p:sp>
        <p:nvSpPr>
          <p:cNvPr id="54275" name="Content Placeholder 2"/>
          <p:cNvSpPr>
            <a:spLocks noGrp="1"/>
          </p:cNvSpPr>
          <p:nvPr>
            <p:ph idx="1"/>
          </p:nvPr>
        </p:nvSpPr>
        <p:spPr/>
        <p:txBody>
          <a:bodyPr/>
          <a:lstStyle/>
          <a:p>
            <a:r>
              <a:rPr lang="en-US" altLang="en-US" dirty="0" smtClean="0"/>
              <a:t>Monopoly</a:t>
            </a:r>
          </a:p>
          <a:p>
            <a:pPr lvl="1"/>
            <a:r>
              <a:rPr lang="en-US" altLang="en-US" dirty="0" smtClean="0"/>
              <a:t>Choose a price schedule that provides incentives for demanders to separate themselves</a:t>
            </a:r>
          </a:p>
          <a:p>
            <a:pPr lvl="2"/>
            <a:r>
              <a:rPr lang="en-US" altLang="en-US" dirty="0" smtClean="0"/>
              <a:t>Depending on how much they wish to buy</a:t>
            </a:r>
          </a:p>
          <a:p>
            <a:pPr lvl="1"/>
            <a:r>
              <a:rPr lang="en-US" altLang="en-US" dirty="0" smtClean="0"/>
              <a:t>Quantity discounts, minimum purchase requirements or ‘‘cover’’ charges, and tie-in sales</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48E4C851-438D-441E-B6CA-3E2995C93BF7}" type="slidenum">
              <a:rPr lang="en-US" smtClean="0"/>
              <a:pPr>
                <a:defRPr/>
              </a:pPr>
              <a:t>44</a:t>
            </a:fld>
            <a:endParaRPr lang="en-US"/>
          </a:p>
        </p:txBody>
      </p:sp>
    </p:spTree>
    <p:extLst>
      <p:ext uri="{BB962C8B-B14F-4D97-AF65-F5344CB8AC3E}">
        <p14:creationId xmlns:p14="http://schemas.microsoft.com/office/powerpoint/2010/main" val="7978950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r>
              <a:rPr lang="en-US" altLang="en-US" smtClean="0"/>
              <a:t>Two-Part Tariffs</a:t>
            </a:r>
          </a:p>
        </p:txBody>
      </p:sp>
      <p:sp>
        <p:nvSpPr>
          <p:cNvPr id="55299" name="Rectangle 3"/>
          <p:cNvSpPr>
            <a:spLocks noGrp="1" noChangeArrowheads="1"/>
          </p:cNvSpPr>
          <p:nvPr>
            <p:ph idx="1"/>
          </p:nvPr>
        </p:nvSpPr>
        <p:spPr/>
        <p:txBody>
          <a:bodyPr/>
          <a:lstStyle/>
          <a:p>
            <a:pPr>
              <a:lnSpc>
                <a:spcPct val="90000"/>
              </a:lnSpc>
            </a:pPr>
            <a:r>
              <a:rPr lang="en-US" altLang="en-US" dirty="0" smtClean="0"/>
              <a:t>Linear two-part tariff</a:t>
            </a:r>
          </a:p>
          <a:p>
            <a:pPr lvl="1">
              <a:lnSpc>
                <a:spcPct val="90000"/>
              </a:lnSpc>
            </a:pPr>
            <a:r>
              <a:rPr lang="en-US" altLang="en-US" dirty="0" smtClean="0"/>
              <a:t>Buyers must pay a fixed fee for the right to consume a good </a:t>
            </a:r>
          </a:p>
          <a:p>
            <a:pPr lvl="1">
              <a:lnSpc>
                <a:spcPct val="90000"/>
              </a:lnSpc>
            </a:pPr>
            <a:r>
              <a:rPr lang="en-US" altLang="en-US" dirty="0" smtClean="0"/>
              <a:t>And a uniform price for each unit consumed</a:t>
            </a:r>
            <a:endParaRPr lang="en-US" altLang="en-US" sz="1200" dirty="0" smtClean="0"/>
          </a:p>
          <a:p>
            <a:pPr algn="ctr">
              <a:lnSpc>
                <a:spcPct val="110000"/>
              </a:lnSpc>
              <a:buFontTx/>
              <a:buNone/>
            </a:pPr>
            <a:r>
              <a:rPr lang="en-US" altLang="en-US" sz="2800" i="1" dirty="0" smtClean="0">
                <a:solidFill>
                  <a:srgbClr val="FF0000"/>
                </a:solidFill>
                <a:latin typeface="Times New Roman" panose="02020603050405020304" pitchFamily="18" charset="0"/>
                <a:cs typeface="Times New Roman" panose="02020603050405020304" pitchFamily="18" charset="0"/>
              </a:rPr>
              <a:t>T</a:t>
            </a:r>
            <a:r>
              <a:rPr lang="en-US" altLang="en-US" sz="2800" dirty="0" smtClean="0">
                <a:solidFill>
                  <a:srgbClr val="FF0000"/>
                </a:solidFill>
                <a:latin typeface="Times New Roman" panose="02020603050405020304" pitchFamily="18" charset="0"/>
                <a:cs typeface="Times New Roman" panose="02020603050405020304" pitchFamily="18" charset="0"/>
              </a:rPr>
              <a:t>(</a:t>
            </a:r>
            <a:r>
              <a:rPr lang="en-US" altLang="en-US" sz="2800" i="1" dirty="0" smtClean="0">
                <a:solidFill>
                  <a:srgbClr val="FF0000"/>
                </a:solidFill>
                <a:latin typeface="Times New Roman" panose="02020603050405020304" pitchFamily="18" charset="0"/>
                <a:cs typeface="Times New Roman" panose="02020603050405020304" pitchFamily="18" charset="0"/>
              </a:rPr>
              <a:t>q</a:t>
            </a:r>
            <a:r>
              <a:rPr lang="en-US" altLang="en-US" sz="2800" dirty="0" smtClean="0">
                <a:solidFill>
                  <a:srgbClr val="FF0000"/>
                </a:solidFill>
                <a:latin typeface="Times New Roman" panose="02020603050405020304" pitchFamily="18" charset="0"/>
                <a:cs typeface="Times New Roman" panose="02020603050405020304" pitchFamily="18" charset="0"/>
              </a:rPr>
              <a:t>) = </a:t>
            </a:r>
            <a:r>
              <a:rPr lang="en-US" altLang="en-US" sz="2800" i="1" dirty="0" smtClean="0">
                <a:solidFill>
                  <a:srgbClr val="FF0000"/>
                </a:solidFill>
                <a:latin typeface="Times New Roman" panose="02020603050405020304" pitchFamily="18" charset="0"/>
                <a:cs typeface="Times New Roman" panose="02020603050405020304" pitchFamily="18" charset="0"/>
              </a:rPr>
              <a:t>a</a:t>
            </a:r>
            <a:r>
              <a:rPr lang="en-US" altLang="en-US" sz="2800" dirty="0" smtClean="0">
                <a:solidFill>
                  <a:srgbClr val="FF0000"/>
                </a:solidFill>
                <a:latin typeface="Times New Roman" panose="02020603050405020304" pitchFamily="18" charset="0"/>
                <a:cs typeface="Times New Roman" panose="02020603050405020304" pitchFamily="18" charset="0"/>
              </a:rPr>
              <a:t> + </a:t>
            </a:r>
            <a:r>
              <a:rPr lang="en-US" altLang="en-US" sz="2800" i="1" dirty="0" err="1" smtClean="0">
                <a:solidFill>
                  <a:srgbClr val="FF0000"/>
                </a:solidFill>
                <a:latin typeface="Times New Roman" panose="02020603050405020304" pitchFamily="18" charset="0"/>
                <a:cs typeface="Times New Roman" panose="02020603050405020304" pitchFamily="18" charset="0"/>
              </a:rPr>
              <a:t>pq</a:t>
            </a:r>
            <a:endParaRPr lang="en-US" altLang="en-US" sz="2800" i="1" dirty="0" smtClean="0">
              <a:solidFill>
                <a:srgbClr val="FF0000"/>
              </a:solidFill>
              <a:latin typeface="Times New Roman" panose="02020603050405020304" pitchFamily="18" charset="0"/>
              <a:cs typeface="Times New Roman" panose="02020603050405020304" pitchFamily="18" charset="0"/>
            </a:endParaRPr>
          </a:p>
          <a:p>
            <a:pPr algn="ctr">
              <a:lnSpc>
                <a:spcPct val="110000"/>
              </a:lnSpc>
              <a:buFontTx/>
              <a:buNone/>
            </a:pPr>
            <a:endParaRPr lang="en-US" altLang="en-US" sz="1000" dirty="0" smtClean="0">
              <a:solidFill>
                <a:srgbClr val="7B332D"/>
              </a:solidFill>
            </a:endParaRPr>
          </a:p>
          <a:p>
            <a:pPr>
              <a:lnSpc>
                <a:spcPct val="90000"/>
              </a:lnSpc>
            </a:pPr>
            <a:r>
              <a:rPr lang="en-US" altLang="en-US" dirty="0" smtClean="0"/>
              <a:t>Monopolist’s goal</a:t>
            </a:r>
          </a:p>
          <a:p>
            <a:pPr lvl="1">
              <a:lnSpc>
                <a:spcPct val="90000"/>
              </a:lnSpc>
            </a:pPr>
            <a:r>
              <a:rPr lang="en-US" altLang="en-US" dirty="0" smtClean="0"/>
              <a:t>Choose </a:t>
            </a:r>
            <a:r>
              <a:rPr lang="en-US" altLang="en-US" i="1" dirty="0" smtClean="0"/>
              <a:t>a</a:t>
            </a:r>
            <a:r>
              <a:rPr lang="en-US" altLang="en-US" dirty="0" smtClean="0"/>
              <a:t> and </a:t>
            </a:r>
            <a:r>
              <a:rPr lang="en-US" altLang="en-US" i="1" dirty="0" smtClean="0"/>
              <a:t>p</a:t>
            </a:r>
            <a:r>
              <a:rPr lang="en-US" altLang="en-US" dirty="0" smtClean="0"/>
              <a:t> to maximize profits</a:t>
            </a:r>
          </a:p>
          <a:p>
            <a:pPr lvl="1">
              <a:lnSpc>
                <a:spcPct val="90000"/>
              </a:lnSpc>
            </a:pPr>
            <a:r>
              <a:rPr lang="en-US" altLang="en-US" dirty="0" smtClean="0"/>
              <a:t>Given the demand for the product</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87BF2384-93B1-4B1F-B6BE-57F947A0DC28}" type="slidenum">
              <a:rPr lang="en-US" smtClean="0"/>
              <a:pPr>
                <a:defRPr/>
              </a:pPr>
              <a:t>45</a:t>
            </a:fld>
            <a:endParaRPr lang="en-US"/>
          </a:p>
        </p:txBody>
      </p:sp>
    </p:spTree>
    <p:extLst>
      <p:ext uri="{BB962C8B-B14F-4D97-AF65-F5344CB8AC3E}">
        <p14:creationId xmlns:p14="http://schemas.microsoft.com/office/powerpoint/2010/main" val="622496385"/>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2"/>
          <p:cNvSpPr>
            <a:spLocks noGrp="1" noChangeArrowheads="1"/>
          </p:cNvSpPr>
          <p:nvPr>
            <p:ph type="title"/>
          </p:nvPr>
        </p:nvSpPr>
        <p:spPr/>
        <p:txBody>
          <a:bodyPr/>
          <a:lstStyle/>
          <a:p>
            <a:r>
              <a:rPr lang="en-US" altLang="en-US" smtClean="0"/>
              <a:t>Two-Part Tariffs</a:t>
            </a:r>
          </a:p>
        </p:txBody>
      </p:sp>
      <p:sp>
        <p:nvSpPr>
          <p:cNvPr id="10244" name="Rectangle 3"/>
          <p:cNvSpPr>
            <a:spLocks noGrp="1" noChangeArrowheads="1"/>
          </p:cNvSpPr>
          <p:nvPr>
            <p:ph idx="1"/>
          </p:nvPr>
        </p:nvSpPr>
        <p:spPr/>
        <p:txBody>
          <a:bodyPr/>
          <a:lstStyle/>
          <a:p>
            <a:r>
              <a:rPr lang="en-US" altLang="en-US" smtClean="0"/>
              <a:t>Average price paid by any demander:</a:t>
            </a:r>
          </a:p>
        </p:txBody>
      </p:sp>
      <p:sp>
        <p:nvSpPr>
          <p:cNvPr id="6" name="Footer Placeholder 5"/>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5" name="Slide Number Placeholder 4"/>
          <p:cNvSpPr>
            <a:spLocks noGrp="1"/>
          </p:cNvSpPr>
          <p:nvPr>
            <p:ph type="sldNum" sz="quarter" idx="11"/>
          </p:nvPr>
        </p:nvSpPr>
        <p:spPr/>
        <p:txBody>
          <a:bodyPr/>
          <a:lstStyle/>
          <a:p>
            <a:pPr>
              <a:defRPr/>
            </a:pPr>
            <a:fld id="{831A51E7-1AAF-404C-97B2-F1D2B16096A7}" type="slidenum">
              <a:rPr lang="en-US" smtClean="0"/>
              <a:pPr>
                <a:defRPr/>
              </a:pPr>
              <a:t>46</a:t>
            </a:fld>
            <a:endParaRPr lang="en-US"/>
          </a:p>
        </p:txBody>
      </p:sp>
      <p:sp>
        <p:nvSpPr>
          <p:cNvPr id="2" name="Text Placeholder 1"/>
          <p:cNvSpPr>
            <a:spLocks noGrp="1"/>
          </p:cNvSpPr>
          <p:nvPr>
            <p:ph type="body" sz="quarter" idx="12"/>
          </p:nvPr>
        </p:nvSpPr>
        <p:spPr>
          <a:xfrm>
            <a:off x="381000" y="2971800"/>
            <a:ext cx="8534400" cy="3276600"/>
          </a:xfrm>
        </p:spPr>
        <p:txBody>
          <a:bodyPr>
            <a:normAutofit/>
          </a:bodyPr>
          <a:lstStyle/>
          <a:p>
            <a:r>
              <a:rPr lang="en-US" dirty="0"/>
              <a:t>The two-part tariff</a:t>
            </a:r>
          </a:p>
          <a:p>
            <a:pPr lvl="1"/>
            <a:r>
              <a:rPr lang="en-US" dirty="0"/>
              <a:t>Feasible if resale can be prevented </a:t>
            </a:r>
          </a:p>
          <a:p>
            <a:pPr lvl="1"/>
            <a:r>
              <a:rPr lang="en-US" dirty="0"/>
              <a:t>Between those who pay a low price and those who pay a high </a:t>
            </a:r>
            <a:r>
              <a:rPr lang="en-US" dirty="0" smtClean="0"/>
              <a:t>price</a:t>
            </a:r>
            <a:endParaRPr lang="en-US" dirty="0"/>
          </a:p>
        </p:txBody>
      </p:sp>
      <p:graphicFrame>
        <p:nvGraphicFramePr>
          <p:cNvPr id="1126405" name="Object 2"/>
          <p:cNvGraphicFramePr>
            <a:graphicFrameLocks noChangeAspect="1"/>
          </p:cNvGraphicFramePr>
          <p:nvPr>
            <p:extLst>
              <p:ext uri="{D42A27DB-BD31-4B8C-83A1-F6EECF244321}">
                <p14:modId xmlns:p14="http://schemas.microsoft.com/office/powerpoint/2010/main" val="3247472295"/>
              </p:ext>
            </p:extLst>
          </p:nvPr>
        </p:nvGraphicFramePr>
        <p:xfrm>
          <a:off x="3489325" y="1827212"/>
          <a:ext cx="2165350" cy="992188"/>
        </p:xfrm>
        <a:graphic>
          <a:graphicData uri="http://schemas.openxmlformats.org/presentationml/2006/ole">
            <mc:AlternateContent xmlns:mc="http://schemas.openxmlformats.org/markup-compatibility/2006">
              <mc:Choice xmlns:v="urn:schemas-microsoft-com:vml" Requires="v">
                <p:oleObj spid="_x0000_s311312" name="Equation" r:id="rId3" imgW="914400" imgH="419040" progId="Equation.DSMT4">
                  <p:embed/>
                </p:oleObj>
              </mc:Choice>
              <mc:Fallback>
                <p:oleObj name="Equation" r:id="rId3" imgW="914400" imgH="41904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89325" y="1827212"/>
                        <a:ext cx="2165350" cy="992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83353315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1126405"/>
                                        </p:tgtEl>
                                        <p:attrNameLst>
                                          <p:attrName>style.visibility</p:attrName>
                                        </p:attrNameLst>
                                      </p:cBhvr>
                                      <p:to>
                                        <p:strVal val="visible"/>
                                      </p:to>
                                    </p:set>
                                    <p:animEffect transition="in" filter="wipe(left)">
                                      <p:cBhvr>
                                        <p:cTn id="7" dur="500"/>
                                        <p:tgtEl>
                                          <p:spTgt spid="1126405"/>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animEffect transition="in" filter="wipe(left)">
                                      <p:cBhvr>
                                        <p:cTn id="11" dur="500"/>
                                        <p:tgtEl>
                                          <p:spTgt spid="2">
                                            <p:txEl>
                                              <p:pRg st="0" end="0"/>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animEffect transition="in" filter="wipe(left)">
                                      <p:cBhvr>
                                        <p:cTn id="15" dur="500"/>
                                        <p:tgtEl>
                                          <p:spTgt spid="2">
                                            <p:txEl>
                                              <p:pRg st="1" end="1"/>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Effect transition="in" filter="wipe(left)">
                                      <p:cBhvr>
                                        <p:cTn id="19"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r>
              <a:rPr lang="en-US" altLang="en-US" smtClean="0"/>
              <a:t>Two-Part Tariffs</a:t>
            </a:r>
          </a:p>
        </p:txBody>
      </p:sp>
      <p:sp>
        <p:nvSpPr>
          <p:cNvPr id="56323" name="Rectangle 3"/>
          <p:cNvSpPr>
            <a:spLocks noGrp="1" noChangeArrowheads="1"/>
          </p:cNvSpPr>
          <p:nvPr>
            <p:ph idx="1"/>
          </p:nvPr>
        </p:nvSpPr>
        <p:spPr/>
        <p:txBody>
          <a:bodyPr/>
          <a:lstStyle/>
          <a:p>
            <a:r>
              <a:rPr lang="en-US" altLang="en-US" dirty="0" smtClean="0"/>
              <a:t>Profit maximization</a:t>
            </a:r>
          </a:p>
          <a:p>
            <a:pPr lvl="1"/>
            <a:r>
              <a:rPr lang="en-US" altLang="en-US" dirty="0" smtClean="0"/>
              <a:t>Set </a:t>
            </a:r>
            <a:r>
              <a:rPr lang="en-US" altLang="en-US" i="1" dirty="0" smtClean="0">
                <a:latin typeface="Times New Roman" panose="02020603050405020304" pitchFamily="18" charset="0"/>
                <a:cs typeface="Times New Roman" panose="02020603050405020304" pitchFamily="18" charset="0"/>
              </a:rPr>
              <a:t>p</a:t>
            </a:r>
            <a:r>
              <a:rPr lang="en-US" altLang="en-US" dirty="0" smtClean="0">
                <a:latin typeface="Times New Roman" panose="02020603050405020304" pitchFamily="18" charset="0"/>
                <a:cs typeface="Times New Roman" panose="02020603050405020304" pitchFamily="18" charset="0"/>
              </a:rPr>
              <a:t> = </a:t>
            </a:r>
            <a:r>
              <a:rPr lang="en-US" altLang="en-US" i="1" dirty="0" smtClean="0">
                <a:latin typeface="Times New Roman" panose="02020603050405020304" pitchFamily="18" charset="0"/>
                <a:cs typeface="Times New Roman" panose="02020603050405020304" pitchFamily="18" charset="0"/>
              </a:rPr>
              <a:t>MC</a:t>
            </a:r>
            <a:r>
              <a:rPr lang="en-US" altLang="en-US" dirty="0" smtClean="0">
                <a:latin typeface="Times New Roman" panose="02020603050405020304" pitchFamily="18" charset="0"/>
                <a:cs typeface="Times New Roman" panose="02020603050405020304" pitchFamily="18" charset="0"/>
              </a:rPr>
              <a:t> </a:t>
            </a:r>
            <a:r>
              <a:rPr lang="en-US" altLang="en-US" dirty="0" smtClean="0"/>
              <a:t>and then set </a:t>
            </a:r>
            <a:r>
              <a:rPr lang="en-US" altLang="en-US" i="1" dirty="0" smtClean="0">
                <a:latin typeface="Times New Roman" panose="02020603050405020304" pitchFamily="18" charset="0"/>
                <a:cs typeface="Times New Roman" panose="02020603050405020304" pitchFamily="18" charset="0"/>
              </a:rPr>
              <a:t>a</a:t>
            </a:r>
            <a:r>
              <a:rPr lang="en-US" altLang="en-US" dirty="0" smtClean="0"/>
              <a:t> equal to the consumer surplus of the least eager buyer</a:t>
            </a:r>
          </a:p>
          <a:p>
            <a:pPr lvl="2"/>
            <a:r>
              <a:rPr lang="en-US" altLang="en-US" dirty="0" smtClean="0"/>
              <a:t>This might not be the most profitable approach</a:t>
            </a:r>
          </a:p>
          <a:p>
            <a:pPr lvl="1"/>
            <a:r>
              <a:rPr lang="en-US" altLang="en-US" dirty="0" smtClean="0"/>
              <a:t>In general, optimal pricing schedules will depend on a variety of contingencies</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8093E73A-995C-4092-B70B-8D57F9F42865}" type="slidenum">
              <a:rPr lang="en-US" smtClean="0"/>
              <a:pPr>
                <a:defRPr/>
              </a:pPr>
              <a:t>47</a:t>
            </a:fld>
            <a:endParaRPr lang="en-US"/>
          </a:p>
        </p:txBody>
      </p:sp>
    </p:spTree>
    <p:extLst>
      <p:ext uri="{BB962C8B-B14F-4D97-AF65-F5344CB8AC3E}">
        <p14:creationId xmlns:p14="http://schemas.microsoft.com/office/powerpoint/2010/main" val="2808580160"/>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14.6 	Two-Part Tariffs</a:t>
            </a:r>
          </a:p>
        </p:txBody>
      </p:sp>
      <p:sp>
        <p:nvSpPr>
          <p:cNvPr id="57349"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4" name="Slide Number Placeholder 3"/>
          <p:cNvSpPr>
            <a:spLocks noGrp="1"/>
          </p:cNvSpPr>
          <p:nvPr>
            <p:ph type="sldNum" sz="quarter" idx="11"/>
          </p:nvPr>
        </p:nvSpPr>
        <p:spPr>
          <a:prstGeom prst="rect">
            <a:avLst/>
          </a:prstGeom>
        </p:spPr>
        <p:txBody>
          <a:bodyPr/>
          <a:lstStyle/>
          <a:p>
            <a:pPr>
              <a:defRPr/>
            </a:pPr>
            <a:fld id="{A5D6D745-9676-42D1-8FA1-3A03C0C71F7E}" type="slidenum">
              <a:rPr lang="en-US" smtClean="0"/>
              <a:pPr>
                <a:defRPr/>
              </a:pPr>
              <a:t>48</a:t>
            </a:fld>
            <a:endParaRPr lang="en-US" dirty="0"/>
          </a:p>
        </p:txBody>
      </p:sp>
      <p:sp>
        <p:nvSpPr>
          <p:cNvPr id="57347" name="Content Placeholder 2"/>
          <p:cNvSpPr>
            <a:spLocks noGrp="1"/>
          </p:cNvSpPr>
          <p:nvPr>
            <p:ph type="body" sz="quarter" idx="12"/>
          </p:nvPr>
        </p:nvSpPr>
        <p:spPr>
          <a:prstGeom prst="rect">
            <a:avLst/>
          </a:prstGeom>
        </p:spPr>
        <p:txBody>
          <a:bodyPr/>
          <a:lstStyle/>
          <a:p>
            <a:r>
              <a:rPr lang="en-US" altLang="en-US" dirty="0" smtClean="0"/>
              <a:t>Two different buyers with the demand functions: </a:t>
            </a:r>
            <a:r>
              <a:rPr lang="en-US" altLang="en-US" sz="2800" i="1" dirty="0" smtClean="0">
                <a:solidFill>
                  <a:srgbClr val="FF0000"/>
                </a:solidFill>
                <a:latin typeface="Times New Roman" panose="02020603050405020304" pitchFamily="18" charset="0"/>
                <a:cs typeface="Times New Roman" panose="02020603050405020304" pitchFamily="18" charset="0"/>
              </a:rPr>
              <a:t>q</a:t>
            </a:r>
            <a:r>
              <a:rPr lang="en-US" altLang="en-US" sz="2800" baseline="-25000" dirty="0" smtClean="0">
                <a:solidFill>
                  <a:srgbClr val="FF0000"/>
                </a:solidFill>
                <a:latin typeface="Times New Roman" panose="02020603050405020304" pitchFamily="18" charset="0"/>
                <a:cs typeface="Times New Roman" panose="02020603050405020304" pitchFamily="18" charset="0"/>
              </a:rPr>
              <a:t>1</a:t>
            </a:r>
            <a:r>
              <a:rPr lang="en-US" altLang="en-US" sz="2800" dirty="0" smtClean="0">
                <a:solidFill>
                  <a:srgbClr val="FF0000"/>
                </a:solidFill>
                <a:latin typeface="Times New Roman" panose="02020603050405020304" pitchFamily="18" charset="0"/>
                <a:cs typeface="Times New Roman" panose="02020603050405020304" pitchFamily="18" charset="0"/>
              </a:rPr>
              <a:t> = 24 - </a:t>
            </a:r>
            <a:r>
              <a:rPr lang="en-US" altLang="en-US" sz="2800" i="1" dirty="0" smtClean="0">
                <a:solidFill>
                  <a:srgbClr val="FF0000"/>
                </a:solidFill>
                <a:latin typeface="Times New Roman" panose="02020603050405020304" pitchFamily="18" charset="0"/>
                <a:cs typeface="Times New Roman" panose="02020603050405020304" pitchFamily="18" charset="0"/>
              </a:rPr>
              <a:t>p</a:t>
            </a:r>
            <a:r>
              <a:rPr lang="en-US" altLang="en-US" sz="2800" baseline="-25000" dirty="0" smtClean="0">
                <a:solidFill>
                  <a:srgbClr val="FF0000"/>
                </a:solidFill>
                <a:latin typeface="Times New Roman" panose="02020603050405020304" pitchFamily="18" charset="0"/>
                <a:cs typeface="Times New Roman" panose="02020603050405020304" pitchFamily="18" charset="0"/>
              </a:rPr>
              <a:t>1</a:t>
            </a:r>
            <a:r>
              <a:rPr lang="en-US" altLang="en-US" sz="2800" dirty="0" smtClean="0">
                <a:solidFill>
                  <a:srgbClr val="FF0000"/>
                </a:solidFill>
              </a:rPr>
              <a:t>, </a:t>
            </a:r>
            <a:r>
              <a:rPr lang="en-US" altLang="en-US" sz="2800" dirty="0" smtClean="0"/>
              <a:t>and</a:t>
            </a:r>
            <a:r>
              <a:rPr lang="en-US" altLang="en-US" sz="2800" dirty="0" smtClean="0">
                <a:solidFill>
                  <a:srgbClr val="FF0000"/>
                </a:solidFill>
              </a:rPr>
              <a:t> </a:t>
            </a:r>
            <a:r>
              <a:rPr lang="en-US" altLang="en-US" sz="2800" i="1" dirty="0" smtClean="0">
                <a:solidFill>
                  <a:srgbClr val="FF0000"/>
                </a:solidFill>
                <a:latin typeface="Times New Roman" panose="02020603050405020304" pitchFamily="18" charset="0"/>
                <a:cs typeface="Times New Roman" panose="02020603050405020304" pitchFamily="18" charset="0"/>
              </a:rPr>
              <a:t>q</a:t>
            </a:r>
            <a:r>
              <a:rPr lang="en-US" altLang="en-US" sz="2800" baseline="-25000" dirty="0" smtClean="0">
                <a:solidFill>
                  <a:srgbClr val="FF0000"/>
                </a:solidFill>
                <a:latin typeface="Times New Roman" panose="02020603050405020304" pitchFamily="18" charset="0"/>
                <a:cs typeface="Times New Roman" panose="02020603050405020304" pitchFamily="18" charset="0"/>
              </a:rPr>
              <a:t>2</a:t>
            </a:r>
            <a:r>
              <a:rPr lang="en-US" altLang="en-US" sz="2800" dirty="0" smtClean="0">
                <a:solidFill>
                  <a:srgbClr val="FF0000"/>
                </a:solidFill>
                <a:latin typeface="Times New Roman" panose="02020603050405020304" pitchFamily="18" charset="0"/>
                <a:cs typeface="Times New Roman" panose="02020603050405020304" pitchFamily="18" charset="0"/>
              </a:rPr>
              <a:t> = 24 - 2</a:t>
            </a:r>
            <a:r>
              <a:rPr lang="en-US" altLang="en-US" sz="2800" i="1" dirty="0" smtClean="0">
                <a:solidFill>
                  <a:srgbClr val="FF0000"/>
                </a:solidFill>
                <a:latin typeface="Times New Roman" panose="02020603050405020304" pitchFamily="18" charset="0"/>
                <a:cs typeface="Times New Roman" panose="02020603050405020304" pitchFamily="18" charset="0"/>
              </a:rPr>
              <a:t>p</a:t>
            </a:r>
            <a:r>
              <a:rPr lang="en-US" altLang="en-US" sz="2800" baseline="-25000" dirty="0" smtClean="0">
                <a:solidFill>
                  <a:srgbClr val="FF0000"/>
                </a:solidFill>
                <a:latin typeface="Times New Roman" panose="02020603050405020304" pitchFamily="18" charset="0"/>
                <a:cs typeface="Times New Roman" panose="02020603050405020304" pitchFamily="18" charset="0"/>
              </a:rPr>
              <a:t>2</a:t>
            </a:r>
            <a:endParaRPr lang="en-US" altLang="en-US" sz="2800" dirty="0" smtClean="0">
              <a:solidFill>
                <a:srgbClr val="FF0000"/>
              </a:solidFill>
              <a:latin typeface="Times New Roman" panose="02020603050405020304" pitchFamily="18" charset="0"/>
              <a:cs typeface="Times New Roman" panose="02020603050405020304" pitchFamily="18" charset="0"/>
            </a:endParaRPr>
          </a:p>
          <a:p>
            <a:pPr lvl="1"/>
            <a:r>
              <a:rPr lang="en-US" altLang="en-US" dirty="0" smtClean="0"/>
              <a:t>If </a:t>
            </a:r>
            <a:r>
              <a:rPr lang="en-US" altLang="en-US" i="1" dirty="0" smtClean="0"/>
              <a:t>MC</a:t>
            </a:r>
            <a:r>
              <a:rPr lang="en-US" altLang="en-US" dirty="0" smtClean="0"/>
              <a:t> = 6</a:t>
            </a:r>
          </a:p>
          <a:p>
            <a:r>
              <a:rPr lang="en-US" altLang="en-US" dirty="0" smtClean="0"/>
              <a:t>Two-part tariff: </a:t>
            </a:r>
          </a:p>
          <a:p>
            <a:pPr lvl="1"/>
            <a:r>
              <a:rPr lang="en-US" altLang="en-US" dirty="0" smtClean="0"/>
              <a:t>Set </a:t>
            </a:r>
            <a:r>
              <a:rPr lang="en-US" altLang="en-US" i="1" dirty="0" smtClean="0"/>
              <a:t>p</a:t>
            </a:r>
            <a:r>
              <a:rPr lang="en-US" altLang="en-US" baseline="-25000" dirty="0" smtClean="0"/>
              <a:t>1</a:t>
            </a:r>
            <a:r>
              <a:rPr lang="en-US" altLang="en-US" dirty="0" smtClean="0"/>
              <a:t> = </a:t>
            </a:r>
            <a:r>
              <a:rPr lang="en-US" altLang="en-US" i="1" dirty="0" smtClean="0"/>
              <a:t>p</a:t>
            </a:r>
            <a:r>
              <a:rPr lang="en-US" altLang="en-US" baseline="-25000" dirty="0" smtClean="0"/>
              <a:t>2</a:t>
            </a:r>
            <a:r>
              <a:rPr lang="en-US" altLang="en-US" dirty="0" smtClean="0"/>
              <a:t> = </a:t>
            </a:r>
            <a:r>
              <a:rPr lang="en-US" altLang="en-US" i="1" dirty="0" smtClean="0"/>
              <a:t>MC</a:t>
            </a:r>
            <a:r>
              <a:rPr lang="en-US" altLang="en-US" dirty="0" smtClean="0"/>
              <a:t> = 6, so </a:t>
            </a:r>
            <a:r>
              <a:rPr lang="en-US" altLang="en-US" i="1" dirty="0" smtClean="0">
                <a:solidFill>
                  <a:srgbClr val="FF0000"/>
                </a:solidFill>
              </a:rPr>
              <a:t>q</a:t>
            </a:r>
            <a:r>
              <a:rPr lang="en-US" altLang="en-US" baseline="-25000" dirty="0" smtClean="0">
                <a:solidFill>
                  <a:srgbClr val="FF0000"/>
                </a:solidFill>
              </a:rPr>
              <a:t>1</a:t>
            </a:r>
            <a:r>
              <a:rPr lang="en-US" altLang="en-US" dirty="0" smtClean="0">
                <a:solidFill>
                  <a:srgbClr val="FF0000"/>
                </a:solidFill>
              </a:rPr>
              <a:t> = 18 </a:t>
            </a:r>
            <a:r>
              <a:rPr lang="en-US" altLang="en-US" dirty="0" smtClean="0"/>
              <a:t>and </a:t>
            </a:r>
            <a:r>
              <a:rPr lang="en-US" altLang="en-US" i="1" dirty="0" smtClean="0">
                <a:solidFill>
                  <a:srgbClr val="FF0000"/>
                </a:solidFill>
              </a:rPr>
              <a:t>q</a:t>
            </a:r>
            <a:r>
              <a:rPr lang="en-US" altLang="en-US" baseline="-25000" dirty="0" smtClean="0">
                <a:solidFill>
                  <a:srgbClr val="FF0000"/>
                </a:solidFill>
              </a:rPr>
              <a:t>2</a:t>
            </a:r>
            <a:r>
              <a:rPr lang="en-US" altLang="en-US" dirty="0" smtClean="0">
                <a:solidFill>
                  <a:srgbClr val="FF0000"/>
                </a:solidFill>
              </a:rPr>
              <a:t> = 12</a:t>
            </a:r>
          </a:p>
          <a:p>
            <a:pPr lvl="1"/>
            <a:r>
              <a:rPr lang="en-US" altLang="en-US" dirty="0" smtClean="0"/>
              <a:t>Demander 2 obtains consumer surplus of 36</a:t>
            </a:r>
          </a:p>
          <a:p>
            <a:pPr lvl="2"/>
            <a:r>
              <a:rPr lang="en-US" altLang="en-US" dirty="0" smtClean="0"/>
              <a:t>Maximum entry fee that can be charged without causing this buyer to leave the market</a:t>
            </a:r>
          </a:p>
          <a:p>
            <a:pPr lvl="1"/>
            <a:r>
              <a:rPr lang="en-US" altLang="en-US" dirty="0" smtClean="0"/>
              <a:t>The two-part tariff: </a:t>
            </a:r>
            <a:r>
              <a:rPr lang="en-US" altLang="en-US" i="1" dirty="0" smtClean="0">
                <a:solidFill>
                  <a:srgbClr val="FF0000"/>
                </a:solidFill>
              </a:rPr>
              <a:t>T</a:t>
            </a:r>
            <a:r>
              <a:rPr lang="en-US" altLang="en-US" dirty="0" smtClean="0">
                <a:solidFill>
                  <a:srgbClr val="FF0000"/>
                </a:solidFill>
              </a:rPr>
              <a:t>(</a:t>
            </a:r>
            <a:r>
              <a:rPr lang="en-US" altLang="en-US" i="1" dirty="0" smtClean="0">
                <a:solidFill>
                  <a:srgbClr val="FF0000"/>
                </a:solidFill>
              </a:rPr>
              <a:t>q</a:t>
            </a:r>
            <a:r>
              <a:rPr lang="en-US" altLang="en-US" dirty="0" smtClean="0">
                <a:solidFill>
                  <a:srgbClr val="FF0000"/>
                </a:solidFill>
              </a:rPr>
              <a:t>) = 36 + 6</a:t>
            </a:r>
            <a:r>
              <a:rPr lang="en-US" altLang="en-US" i="1" dirty="0" smtClean="0">
                <a:solidFill>
                  <a:srgbClr val="FF0000"/>
                </a:solidFill>
              </a:rPr>
              <a:t>q</a:t>
            </a:r>
          </a:p>
          <a:p>
            <a:pPr lvl="1"/>
            <a:r>
              <a:rPr lang="en-US" altLang="en-US" dirty="0" smtClean="0"/>
              <a:t>Profits for the firm: </a:t>
            </a:r>
          </a:p>
          <a:p>
            <a:pPr lvl="1">
              <a:buFont typeface="Arial" charset="0"/>
              <a:buNone/>
            </a:pPr>
            <a:r>
              <a:rPr lang="en-US" altLang="en-US" dirty="0" smtClean="0">
                <a:solidFill>
                  <a:srgbClr val="FF0000"/>
                </a:solidFill>
                <a:latin typeface="Times New Roman" panose="02020603050405020304" pitchFamily="18" charset="0"/>
                <a:cs typeface="Times New Roman" panose="02020603050405020304" pitchFamily="18" charset="0"/>
                <a:sym typeface="Symbol" pitchFamily="18" charset="2"/>
              </a:rPr>
              <a:t> = </a:t>
            </a:r>
            <a:r>
              <a:rPr lang="en-US" altLang="en-US" i="1" dirty="0" smtClean="0">
                <a:solidFill>
                  <a:srgbClr val="FF0000"/>
                </a:solidFill>
                <a:latin typeface="Times New Roman" panose="02020603050405020304" pitchFamily="18" charset="0"/>
                <a:cs typeface="Times New Roman" panose="02020603050405020304" pitchFamily="18" charset="0"/>
                <a:sym typeface="Symbol" pitchFamily="18" charset="2"/>
              </a:rPr>
              <a:t>T</a:t>
            </a:r>
            <a:r>
              <a:rPr lang="en-US" altLang="en-US" dirty="0" smtClean="0">
                <a:solidFill>
                  <a:srgbClr val="FF0000"/>
                </a:solidFill>
                <a:latin typeface="Times New Roman" panose="02020603050405020304" pitchFamily="18" charset="0"/>
                <a:cs typeface="Times New Roman" panose="02020603050405020304" pitchFamily="18" charset="0"/>
                <a:sym typeface="Symbol" pitchFamily="18" charset="2"/>
              </a:rPr>
              <a:t>(</a:t>
            </a:r>
            <a:r>
              <a:rPr lang="en-US" altLang="en-US" i="1" dirty="0" smtClean="0">
                <a:solidFill>
                  <a:srgbClr val="FF0000"/>
                </a:solidFill>
                <a:latin typeface="Times New Roman" panose="02020603050405020304" pitchFamily="18" charset="0"/>
                <a:cs typeface="Times New Roman" panose="02020603050405020304" pitchFamily="18" charset="0"/>
                <a:sym typeface="Symbol" pitchFamily="18" charset="2"/>
              </a:rPr>
              <a:t>q</a:t>
            </a:r>
            <a:r>
              <a:rPr lang="en-US" altLang="en-US" baseline="-25000" dirty="0" smtClean="0">
                <a:solidFill>
                  <a:srgbClr val="FF0000"/>
                </a:solidFill>
                <a:latin typeface="Times New Roman" panose="02020603050405020304" pitchFamily="18" charset="0"/>
                <a:cs typeface="Times New Roman" panose="02020603050405020304" pitchFamily="18" charset="0"/>
                <a:sym typeface="Symbol" pitchFamily="18" charset="2"/>
              </a:rPr>
              <a:t>1</a:t>
            </a:r>
            <a:r>
              <a:rPr lang="en-US" altLang="en-US" dirty="0" smtClean="0">
                <a:solidFill>
                  <a:srgbClr val="FF0000"/>
                </a:solidFill>
                <a:latin typeface="Times New Roman" panose="02020603050405020304" pitchFamily="18" charset="0"/>
                <a:cs typeface="Times New Roman" panose="02020603050405020304" pitchFamily="18" charset="0"/>
                <a:sym typeface="Symbol" pitchFamily="18" charset="2"/>
              </a:rPr>
              <a:t>) + </a:t>
            </a:r>
            <a:r>
              <a:rPr lang="en-US" altLang="en-US" i="1" dirty="0" smtClean="0">
                <a:solidFill>
                  <a:srgbClr val="FF0000"/>
                </a:solidFill>
                <a:latin typeface="Times New Roman" panose="02020603050405020304" pitchFamily="18" charset="0"/>
                <a:cs typeface="Times New Roman" panose="02020603050405020304" pitchFamily="18" charset="0"/>
                <a:sym typeface="Symbol" pitchFamily="18" charset="2"/>
              </a:rPr>
              <a:t>T</a:t>
            </a:r>
            <a:r>
              <a:rPr lang="en-US" altLang="en-US" dirty="0" smtClean="0">
                <a:solidFill>
                  <a:srgbClr val="FF0000"/>
                </a:solidFill>
                <a:latin typeface="Times New Roman" panose="02020603050405020304" pitchFamily="18" charset="0"/>
                <a:cs typeface="Times New Roman" panose="02020603050405020304" pitchFamily="18" charset="0"/>
                <a:sym typeface="Symbol" pitchFamily="18" charset="2"/>
              </a:rPr>
              <a:t>(</a:t>
            </a:r>
            <a:r>
              <a:rPr lang="en-US" altLang="en-US" i="1" dirty="0" smtClean="0">
                <a:solidFill>
                  <a:srgbClr val="FF0000"/>
                </a:solidFill>
                <a:latin typeface="Times New Roman" panose="02020603050405020304" pitchFamily="18" charset="0"/>
                <a:cs typeface="Times New Roman" panose="02020603050405020304" pitchFamily="18" charset="0"/>
                <a:sym typeface="Symbol" pitchFamily="18" charset="2"/>
              </a:rPr>
              <a:t>q</a:t>
            </a:r>
            <a:r>
              <a:rPr lang="en-US" altLang="en-US" baseline="-25000" dirty="0" smtClean="0">
                <a:solidFill>
                  <a:srgbClr val="FF0000"/>
                </a:solidFill>
                <a:latin typeface="Times New Roman" panose="02020603050405020304" pitchFamily="18" charset="0"/>
                <a:cs typeface="Times New Roman" panose="02020603050405020304" pitchFamily="18" charset="0"/>
                <a:sym typeface="Symbol" pitchFamily="18" charset="2"/>
              </a:rPr>
              <a:t>2</a:t>
            </a:r>
            <a:r>
              <a:rPr lang="en-US" altLang="en-US" dirty="0" smtClean="0">
                <a:solidFill>
                  <a:srgbClr val="FF0000"/>
                </a:solidFill>
                <a:latin typeface="Times New Roman" panose="02020603050405020304" pitchFamily="18" charset="0"/>
                <a:cs typeface="Times New Roman" panose="02020603050405020304" pitchFamily="18" charset="0"/>
                <a:sym typeface="Symbol" pitchFamily="18" charset="2"/>
              </a:rPr>
              <a:t>) – </a:t>
            </a:r>
            <a:r>
              <a:rPr lang="en-US" altLang="en-US" i="1" dirty="0" smtClean="0">
                <a:solidFill>
                  <a:srgbClr val="FF0000"/>
                </a:solidFill>
                <a:latin typeface="Times New Roman" panose="02020603050405020304" pitchFamily="18" charset="0"/>
                <a:cs typeface="Times New Roman" panose="02020603050405020304" pitchFamily="18" charset="0"/>
                <a:sym typeface="Symbol" pitchFamily="18" charset="2"/>
              </a:rPr>
              <a:t>AC</a:t>
            </a:r>
            <a:r>
              <a:rPr lang="en-US" altLang="en-US" dirty="0" smtClean="0">
                <a:solidFill>
                  <a:srgbClr val="FF0000"/>
                </a:solidFill>
                <a:latin typeface="Times New Roman" panose="02020603050405020304" pitchFamily="18" charset="0"/>
                <a:cs typeface="Times New Roman" panose="02020603050405020304" pitchFamily="18" charset="0"/>
                <a:sym typeface="Symbol" pitchFamily="18" charset="2"/>
              </a:rPr>
              <a:t>(</a:t>
            </a:r>
            <a:r>
              <a:rPr lang="en-US" altLang="en-US" i="1" dirty="0" smtClean="0">
                <a:solidFill>
                  <a:srgbClr val="FF0000"/>
                </a:solidFill>
                <a:latin typeface="Times New Roman" panose="02020603050405020304" pitchFamily="18" charset="0"/>
                <a:cs typeface="Times New Roman" panose="02020603050405020304" pitchFamily="18" charset="0"/>
                <a:sym typeface="Symbol" pitchFamily="18" charset="2"/>
              </a:rPr>
              <a:t>q</a:t>
            </a:r>
            <a:r>
              <a:rPr lang="en-US" altLang="en-US" baseline="-25000" dirty="0" smtClean="0">
                <a:solidFill>
                  <a:srgbClr val="FF0000"/>
                </a:solidFill>
                <a:latin typeface="Times New Roman" panose="02020603050405020304" pitchFamily="18" charset="0"/>
                <a:cs typeface="Times New Roman" panose="02020603050405020304" pitchFamily="18" charset="0"/>
                <a:sym typeface="Symbol" pitchFamily="18" charset="2"/>
              </a:rPr>
              <a:t>1</a:t>
            </a:r>
            <a:r>
              <a:rPr lang="en-US" altLang="en-US" dirty="0" smtClean="0">
                <a:solidFill>
                  <a:srgbClr val="FF0000"/>
                </a:solidFill>
                <a:latin typeface="Times New Roman" panose="02020603050405020304" pitchFamily="18" charset="0"/>
                <a:cs typeface="Times New Roman" panose="02020603050405020304" pitchFamily="18" charset="0"/>
                <a:sym typeface="Symbol" pitchFamily="18" charset="2"/>
              </a:rPr>
              <a:t> + </a:t>
            </a:r>
            <a:r>
              <a:rPr lang="en-US" altLang="en-US" i="1" dirty="0" smtClean="0">
                <a:solidFill>
                  <a:srgbClr val="FF0000"/>
                </a:solidFill>
                <a:latin typeface="Times New Roman" panose="02020603050405020304" pitchFamily="18" charset="0"/>
                <a:cs typeface="Times New Roman" panose="02020603050405020304" pitchFamily="18" charset="0"/>
                <a:sym typeface="Symbol" pitchFamily="18" charset="2"/>
              </a:rPr>
              <a:t>q</a:t>
            </a:r>
            <a:r>
              <a:rPr lang="en-US" altLang="en-US" baseline="-25000" dirty="0" smtClean="0">
                <a:solidFill>
                  <a:srgbClr val="FF0000"/>
                </a:solidFill>
                <a:latin typeface="Times New Roman" panose="02020603050405020304" pitchFamily="18" charset="0"/>
                <a:cs typeface="Times New Roman" panose="02020603050405020304" pitchFamily="18" charset="0"/>
                <a:sym typeface="Symbol" pitchFamily="18" charset="2"/>
              </a:rPr>
              <a:t>2</a:t>
            </a:r>
            <a:r>
              <a:rPr lang="en-US" altLang="en-US" dirty="0" smtClean="0">
                <a:solidFill>
                  <a:srgbClr val="FF0000"/>
                </a:solidFill>
                <a:latin typeface="Times New Roman" panose="02020603050405020304" pitchFamily="18" charset="0"/>
                <a:cs typeface="Times New Roman" panose="02020603050405020304" pitchFamily="18" charset="0"/>
                <a:sym typeface="Symbol" pitchFamily="18" charset="2"/>
              </a:rPr>
              <a:t>) = 72</a:t>
            </a:r>
          </a:p>
          <a:p>
            <a:endParaRPr lang="en-US" altLang="en-US" dirty="0" smtClean="0">
              <a:solidFill>
                <a:srgbClr val="7B332D"/>
              </a:solidFill>
            </a:endParaRPr>
          </a:p>
          <a:p>
            <a:endParaRPr lang="en-US" altLang="en-US" dirty="0" smtClean="0">
              <a:solidFill>
                <a:srgbClr val="FF0000"/>
              </a:solidFill>
            </a:endParaRPr>
          </a:p>
        </p:txBody>
      </p:sp>
    </p:spTree>
    <p:extLst>
      <p:ext uri="{BB962C8B-B14F-4D97-AF65-F5344CB8AC3E}">
        <p14:creationId xmlns:p14="http://schemas.microsoft.com/office/powerpoint/2010/main" val="801740476"/>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p:cNvSpPr>
            <a:spLocks noGrp="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14.6 	Two-Part Tariffs</a:t>
            </a:r>
          </a:p>
        </p:txBody>
      </p:sp>
      <p:sp>
        <p:nvSpPr>
          <p:cNvPr id="58373" name="Footer Placeholder 4"/>
          <p:cNvSpPr>
            <a:spLocks noGrp="1"/>
          </p:cNvSpPr>
          <p:nvPr>
            <p:ph type="ftr" sz="quarter" idx="10"/>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4" name="Slide Number Placeholder 3"/>
          <p:cNvSpPr>
            <a:spLocks noGrp="1"/>
          </p:cNvSpPr>
          <p:nvPr>
            <p:ph type="sldNum" sz="quarter" idx="11"/>
          </p:nvPr>
        </p:nvSpPr>
        <p:spPr>
          <a:prstGeom prst="rect">
            <a:avLst/>
          </a:prstGeom>
        </p:spPr>
        <p:txBody>
          <a:bodyPr/>
          <a:lstStyle/>
          <a:p>
            <a:pPr>
              <a:defRPr/>
            </a:pPr>
            <a:fld id="{8BB9EF40-501D-48D4-BE85-CA74178E95CA}" type="slidenum">
              <a:rPr lang="en-US" smtClean="0"/>
              <a:pPr>
                <a:defRPr/>
              </a:pPr>
              <a:t>49</a:t>
            </a:fld>
            <a:endParaRPr lang="en-US" dirty="0"/>
          </a:p>
        </p:txBody>
      </p:sp>
      <p:sp>
        <p:nvSpPr>
          <p:cNvPr id="58371" name="Content Placeholder 2"/>
          <p:cNvSpPr>
            <a:spLocks noGrp="1"/>
          </p:cNvSpPr>
          <p:nvPr>
            <p:ph type="body" sz="quarter" idx="12"/>
          </p:nvPr>
        </p:nvSpPr>
        <p:spPr>
          <a:prstGeom prst="rect">
            <a:avLst/>
          </a:prstGeom>
        </p:spPr>
        <p:txBody>
          <a:bodyPr/>
          <a:lstStyle/>
          <a:p>
            <a:r>
              <a:rPr lang="en-US" altLang="en-US" dirty="0" smtClean="0"/>
              <a:t>The optimal two-part tariff</a:t>
            </a:r>
          </a:p>
          <a:p>
            <a:pPr lvl="1"/>
            <a:r>
              <a:rPr lang="en-US" altLang="en-US" dirty="0" smtClean="0"/>
              <a:t>Total profits: </a:t>
            </a:r>
            <a:r>
              <a:rPr lang="en-US" altLang="en-US" i="1" dirty="0" smtClean="0">
                <a:solidFill>
                  <a:srgbClr val="FF0000"/>
                </a:solidFill>
                <a:latin typeface="Times New Roman" panose="02020603050405020304" pitchFamily="18" charset="0"/>
                <a:cs typeface="Times New Roman" panose="02020603050405020304" pitchFamily="18" charset="0"/>
                <a:sym typeface="Symbol" pitchFamily="18" charset="2"/>
              </a:rPr>
              <a:t></a:t>
            </a:r>
            <a:r>
              <a:rPr lang="en-US" altLang="en-US" i="1" dirty="0" smtClean="0">
                <a:solidFill>
                  <a:srgbClr val="FF0000"/>
                </a:solidFill>
                <a:latin typeface="Times New Roman" panose="02020603050405020304" pitchFamily="18" charset="0"/>
                <a:cs typeface="Times New Roman" panose="02020603050405020304" pitchFamily="18" charset="0"/>
              </a:rPr>
              <a:t> =2a + (p - MC)(q</a:t>
            </a:r>
            <a:r>
              <a:rPr lang="en-US" altLang="en-US" i="1" baseline="-25000" dirty="0" smtClean="0">
                <a:solidFill>
                  <a:srgbClr val="FF0000"/>
                </a:solidFill>
                <a:latin typeface="Times New Roman" panose="02020603050405020304" pitchFamily="18" charset="0"/>
                <a:cs typeface="Times New Roman" panose="02020603050405020304" pitchFamily="18" charset="0"/>
              </a:rPr>
              <a:t>1</a:t>
            </a:r>
            <a:r>
              <a:rPr lang="en-US" altLang="en-US" i="1" dirty="0" smtClean="0">
                <a:solidFill>
                  <a:srgbClr val="FF0000"/>
                </a:solidFill>
                <a:latin typeface="Times New Roman" panose="02020603050405020304" pitchFamily="18" charset="0"/>
                <a:cs typeface="Times New Roman" panose="02020603050405020304" pitchFamily="18" charset="0"/>
              </a:rPr>
              <a:t> + q</a:t>
            </a:r>
            <a:r>
              <a:rPr lang="en-US" altLang="en-US" i="1" baseline="-25000" dirty="0" smtClean="0">
                <a:solidFill>
                  <a:srgbClr val="FF0000"/>
                </a:solidFill>
                <a:latin typeface="Times New Roman" panose="02020603050405020304" pitchFamily="18" charset="0"/>
                <a:cs typeface="Times New Roman" panose="02020603050405020304" pitchFamily="18" charset="0"/>
              </a:rPr>
              <a:t>2</a:t>
            </a:r>
            <a:r>
              <a:rPr lang="en-US" altLang="en-US" i="1" dirty="0" smtClean="0">
                <a:solidFill>
                  <a:srgbClr val="FF0000"/>
                </a:solidFill>
                <a:latin typeface="Times New Roman" panose="02020603050405020304" pitchFamily="18" charset="0"/>
                <a:cs typeface="Times New Roman" panose="02020603050405020304" pitchFamily="18" charset="0"/>
              </a:rPr>
              <a:t>)</a:t>
            </a:r>
          </a:p>
          <a:p>
            <a:pPr lvl="1"/>
            <a:r>
              <a:rPr lang="en-US" altLang="en-US" dirty="0" smtClean="0"/>
              <a:t>The entry fee, </a:t>
            </a:r>
            <a:r>
              <a:rPr lang="en-US" altLang="en-US" i="1" dirty="0" smtClean="0">
                <a:solidFill>
                  <a:srgbClr val="FF0000"/>
                </a:solidFill>
              </a:rPr>
              <a:t>a</a:t>
            </a:r>
            <a:r>
              <a:rPr lang="en-US" altLang="en-US" dirty="0" smtClean="0"/>
              <a:t>, must equal the consumer surplus obtained by person 2</a:t>
            </a:r>
          </a:p>
          <a:p>
            <a:r>
              <a:rPr lang="en-US" altLang="en-US" i="1" dirty="0" smtClean="0">
                <a:solidFill>
                  <a:srgbClr val="FF0000"/>
                </a:solidFill>
                <a:latin typeface="Times New Roman" panose="02020603050405020304" pitchFamily="18" charset="0"/>
                <a:cs typeface="Times New Roman" panose="02020603050405020304" pitchFamily="18" charset="0"/>
                <a:sym typeface="Symbol" pitchFamily="18" charset="2"/>
              </a:rPr>
              <a:t></a:t>
            </a:r>
            <a:r>
              <a:rPr lang="en-US" altLang="en-US" i="1" dirty="0" smtClean="0">
                <a:solidFill>
                  <a:srgbClr val="FF0000"/>
                </a:solidFill>
                <a:latin typeface="Times New Roman" panose="02020603050405020304" pitchFamily="18" charset="0"/>
                <a:cs typeface="Times New Roman" panose="02020603050405020304" pitchFamily="18" charset="0"/>
              </a:rPr>
              <a:t> =0.5 ·2 q</a:t>
            </a:r>
            <a:r>
              <a:rPr lang="en-US" altLang="en-US" i="1" baseline="-25000" dirty="0" smtClean="0">
                <a:solidFill>
                  <a:srgbClr val="FF0000"/>
                </a:solidFill>
                <a:latin typeface="Times New Roman" panose="02020603050405020304" pitchFamily="18" charset="0"/>
                <a:cs typeface="Times New Roman" panose="02020603050405020304" pitchFamily="18" charset="0"/>
              </a:rPr>
              <a:t>2</a:t>
            </a:r>
            <a:r>
              <a:rPr lang="en-US" altLang="en-US" i="1" dirty="0" smtClean="0">
                <a:solidFill>
                  <a:srgbClr val="FF0000"/>
                </a:solidFill>
                <a:latin typeface="Times New Roman" panose="02020603050405020304" pitchFamily="18" charset="0"/>
                <a:cs typeface="Times New Roman" panose="02020603050405020304" pitchFamily="18" charset="0"/>
              </a:rPr>
              <a:t>(12-p) + (p - 6)(q</a:t>
            </a:r>
            <a:r>
              <a:rPr lang="en-US" altLang="en-US" i="1" baseline="-25000" dirty="0" smtClean="0">
                <a:solidFill>
                  <a:srgbClr val="FF0000"/>
                </a:solidFill>
                <a:latin typeface="Times New Roman" panose="02020603050405020304" pitchFamily="18" charset="0"/>
                <a:cs typeface="Times New Roman" panose="02020603050405020304" pitchFamily="18" charset="0"/>
              </a:rPr>
              <a:t>1</a:t>
            </a:r>
            <a:r>
              <a:rPr lang="en-US" altLang="en-US" i="1" dirty="0" smtClean="0">
                <a:solidFill>
                  <a:srgbClr val="FF0000"/>
                </a:solidFill>
                <a:latin typeface="Times New Roman" panose="02020603050405020304" pitchFamily="18" charset="0"/>
                <a:cs typeface="Times New Roman" panose="02020603050405020304" pitchFamily="18" charset="0"/>
              </a:rPr>
              <a:t> + q</a:t>
            </a:r>
            <a:r>
              <a:rPr lang="en-US" altLang="en-US" i="1" baseline="-25000" dirty="0" smtClean="0">
                <a:solidFill>
                  <a:srgbClr val="FF0000"/>
                </a:solidFill>
                <a:latin typeface="Times New Roman" panose="02020603050405020304" pitchFamily="18" charset="0"/>
                <a:cs typeface="Times New Roman" panose="02020603050405020304" pitchFamily="18" charset="0"/>
              </a:rPr>
              <a:t>2</a:t>
            </a:r>
            <a:r>
              <a:rPr lang="en-US" altLang="en-US" i="1" dirty="0" smtClean="0">
                <a:solidFill>
                  <a:srgbClr val="FF0000"/>
                </a:solidFill>
                <a:latin typeface="Times New Roman" panose="02020603050405020304" pitchFamily="18" charset="0"/>
                <a:cs typeface="Times New Roman" panose="02020603050405020304" pitchFamily="18" charset="0"/>
              </a:rPr>
              <a:t>) </a:t>
            </a:r>
          </a:p>
          <a:p>
            <a:pPr lvl="1"/>
            <a:r>
              <a:rPr lang="en-US" altLang="en-US" dirty="0" smtClean="0"/>
              <a:t>Maximize profits: </a:t>
            </a:r>
            <a:r>
              <a:rPr lang="en-US" altLang="en-US" i="1" dirty="0" smtClean="0">
                <a:solidFill>
                  <a:srgbClr val="FF0000"/>
                </a:solidFill>
              </a:rPr>
              <a:t>p = 9 </a:t>
            </a:r>
            <a:r>
              <a:rPr lang="en-US" altLang="en-US" dirty="0" smtClean="0"/>
              <a:t>and </a:t>
            </a:r>
            <a:r>
              <a:rPr lang="en-US" altLang="en-US" i="1" dirty="0" smtClean="0">
                <a:solidFill>
                  <a:srgbClr val="FF0000"/>
                </a:solidFill>
              </a:rPr>
              <a:t>a = 9</a:t>
            </a:r>
          </a:p>
          <a:p>
            <a:pPr lvl="1"/>
            <a:r>
              <a:rPr lang="en-US" altLang="en-US" dirty="0" smtClean="0"/>
              <a:t>Optimal tariff is </a:t>
            </a:r>
            <a:r>
              <a:rPr lang="en-US" altLang="en-US" i="1" dirty="0" smtClean="0"/>
              <a:t>T(q) = 9 + 9q</a:t>
            </a:r>
          </a:p>
          <a:p>
            <a:pPr lvl="2"/>
            <a:r>
              <a:rPr lang="en-US" altLang="en-US" i="1" dirty="0" smtClean="0"/>
              <a:t>q</a:t>
            </a:r>
            <a:r>
              <a:rPr lang="en-US" altLang="en-US" i="1" baseline="-25000" dirty="0" smtClean="0"/>
              <a:t>1</a:t>
            </a:r>
            <a:r>
              <a:rPr lang="en-US" altLang="en-US" i="1" dirty="0" smtClean="0"/>
              <a:t> = 15 </a:t>
            </a:r>
            <a:r>
              <a:rPr lang="en-US" altLang="en-US" dirty="0" smtClean="0"/>
              <a:t>and </a:t>
            </a:r>
            <a:r>
              <a:rPr lang="en-US" altLang="en-US" i="1" dirty="0" smtClean="0"/>
              <a:t>q</a:t>
            </a:r>
            <a:r>
              <a:rPr lang="en-US" altLang="en-US" i="1" baseline="-25000" dirty="0" smtClean="0"/>
              <a:t>2</a:t>
            </a:r>
            <a:r>
              <a:rPr lang="en-US" altLang="en-US" i="1" dirty="0" smtClean="0"/>
              <a:t> = 6</a:t>
            </a:r>
          </a:p>
          <a:p>
            <a:pPr lvl="2"/>
            <a:r>
              <a:rPr lang="en-US" altLang="en-US" dirty="0" smtClean="0"/>
              <a:t>Monopolist’s profits = 81</a:t>
            </a:r>
            <a:endParaRPr lang="en-US" altLang="en-US" dirty="0" smtClean="0">
              <a:solidFill>
                <a:srgbClr val="FF0000"/>
              </a:solidFill>
            </a:endParaRPr>
          </a:p>
        </p:txBody>
      </p:sp>
    </p:spTree>
    <p:extLst>
      <p:ext uri="{BB962C8B-B14F-4D97-AF65-F5344CB8AC3E}">
        <p14:creationId xmlns:p14="http://schemas.microsoft.com/office/powerpoint/2010/main" val="2161082462"/>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0"/>
            <a:ext cx="8839200" cy="990600"/>
          </a:xfrm>
        </p:spPr>
        <p:txBody>
          <a:bodyPr>
            <a:noAutofit/>
          </a:bodyPr>
          <a:lstStyle/>
          <a:p>
            <a:r>
              <a:rPr lang="en-US" sz="3500" dirty="0" smtClean="0"/>
              <a:t>Dynamic Price Discrimination and the Coase Conjecture</a:t>
            </a:r>
            <a:endParaRPr lang="en-US" sz="3500" dirty="0"/>
          </a:p>
        </p:txBody>
      </p:sp>
      <p:sp>
        <p:nvSpPr>
          <p:cNvPr id="3" name="Content Placeholder 2"/>
          <p:cNvSpPr>
            <a:spLocks noGrp="1"/>
          </p:cNvSpPr>
          <p:nvPr>
            <p:ph idx="1"/>
          </p:nvPr>
        </p:nvSpPr>
        <p:spPr/>
        <p:txBody>
          <a:bodyPr/>
          <a:lstStyle/>
          <a:p>
            <a:r>
              <a:rPr lang="en-US" dirty="0" smtClean="0"/>
              <a:t>Intertemporal price discrimination </a:t>
            </a:r>
          </a:p>
          <a:p>
            <a:pPr lvl="1"/>
            <a:r>
              <a:rPr lang="en-US" dirty="0" smtClean="0"/>
              <a:t>Using </a:t>
            </a:r>
            <a:r>
              <a:rPr lang="en-US" dirty="0"/>
              <a:t>time as a device to extract much of the surplus from each type of </a:t>
            </a:r>
            <a:r>
              <a:rPr lang="en-US" dirty="0" smtClean="0"/>
              <a:t>consumer</a:t>
            </a:r>
            <a:endParaRPr lang="en-US" dirty="0"/>
          </a:p>
          <a:p>
            <a:pPr lvl="1"/>
            <a:r>
              <a:rPr lang="en-US" dirty="0" smtClean="0"/>
              <a:t>May </a:t>
            </a:r>
            <a:r>
              <a:rPr lang="en-US" dirty="0"/>
              <a:t>not help the </a:t>
            </a:r>
            <a:r>
              <a:rPr lang="en-US" dirty="0" smtClean="0"/>
              <a:t>monopolist</a:t>
            </a:r>
          </a:p>
          <a:p>
            <a:pPr lvl="2"/>
            <a:r>
              <a:rPr lang="en-US" dirty="0" smtClean="0"/>
              <a:t>High-value </a:t>
            </a:r>
            <a:r>
              <a:rPr lang="en-US" dirty="0"/>
              <a:t>consumers can wait to buy at the lower </a:t>
            </a:r>
            <a:r>
              <a:rPr lang="en-US" dirty="0" smtClean="0"/>
              <a:t>prices</a:t>
            </a:r>
          </a:p>
          <a:p>
            <a:pPr lvl="2"/>
            <a:r>
              <a:rPr lang="en-US" dirty="0" smtClean="0"/>
              <a:t>Ronald Coase: a </a:t>
            </a:r>
            <a:r>
              <a:rPr lang="en-US" dirty="0"/>
              <a:t>declining price path raises for a monopolist selling a durable </a:t>
            </a:r>
            <a:r>
              <a:rPr lang="en-US" dirty="0" smtClean="0"/>
              <a:t>good</a:t>
            </a:r>
          </a:p>
        </p:txBody>
      </p:sp>
      <p:sp>
        <p:nvSpPr>
          <p:cNvPr id="4" name="Footer Placeholder 3"/>
          <p:cNvSpPr>
            <a:spLocks noGrp="1"/>
          </p:cNvSpPr>
          <p:nvPr>
            <p:ph type="ftr" sz="quarter" idx="10"/>
          </p:nvPr>
        </p:nvSpPr>
        <p:spPr/>
        <p:txBody>
          <a:bodyPr/>
          <a:lstStyle/>
          <a:p>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dirty="0"/>
          </a:p>
        </p:txBody>
      </p:sp>
      <p:sp>
        <p:nvSpPr>
          <p:cNvPr id="5" name="Slide Number Placeholder 4"/>
          <p:cNvSpPr>
            <a:spLocks noGrp="1"/>
          </p:cNvSpPr>
          <p:nvPr>
            <p:ph type="sldNum" sz="quarter" idx="11"/>
          </p:nvPr>
        </p:nvSpPr>
        <p:spPr/>
        <p:txBody>
          <a:bodyPr/>
          <a:lstStyle/>
          <a:p>
            <a:fld id="{720B335A-255B-4303-A333-FBB711D61B6F}" type="slidenum">
              <a:rPr lang="en-US" smtClean="0"/>
              <a:t>50</a:t>
            </a:fld>
            <a:endParaRPr lang="en-US"/>
          </a:p>
        </p:txBody>
      </p:sp>
    </p:spTree>
    <p:extLst>
      <p:ext uri="{BB962C8B-B14F-4D97-AF65-F5344CB8AC3E}">
        <p14:creationId xmlns:p14="http://schemas.microsoft.com/office/powerpoint/2010/main" val="1555142582"/>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p:txBody>
          <a:bodyPr/>
          <a:lstStyle/>
          <a:p>
            <a:r>
              <a:rPr lang="en-US" altLang="en-US" smtClean="0"/>
              <a:t>Regulation of Monopoly</a:t>
            </a:r>
          </a:p>
        </p:txBody>
      </p:sp>
      <p:sp>
        <p:nvSpPr>
          <p:cNvPr id="59395" name="Rectangle 3"/>
          <p:cNvSpPr>
            <a:spLocks noGrp="1" noChangeArrowheads="1"/>
          </p:cNvSpPr>
          <p:nvPr>
            <p:ph idx="1"/>
          </p:nvPr>
        </p:nvSpPr>
        <p:spPr/>
        <p:txBody>
          <a:bodyPr/>
          <a:lstStyle/>
          <a:p>
            <a:r>
              <a:rPr lang="en-US" altLang="en-US" smtClean="0"/>
              <a:t>Highly regulated monopolies</a:t>
            </a:r>
          </a:p>
          <a:p>
            <a:pPr lvl="1"/>
            <a:r>
              <a:rPr lang="en-US" altLang="en-US" smtClean="0"/>
              <a:t>Natural monopolies: utility, communications, and transportation industries  </a:t>
            </a:r>
          </a:p>
          <a:p>
            <a:r>
              <a:rPr lang="en-US" altLang="en-US" smtClean="0"/>
              <a:t>Marginal cost pricing</a:t>
            </a:r>
          </a:p>
          <a:p>
            <a:pPr lvl="1"/>
            <a:r>
              <a:rPr lang="en-US" altLang="en-US" smtClean="0"/>
              <a:t>Will cause a natural monopoly to operate at a loss</a:t>
            </a:r>
          </a:p>
          <a:p>
            <a:pPr lvl="2"/>
            <a:r>
              <a:rPr lang="en-US" altLang="en-US" smtClean="0"/>
              <a:t>Natural monopolies exhibit declining average costs over a wide range of output</a:t>
            </a:r>
          </a:p>
          <a:p>
            <a:endParaRPr lang="en-US" altLang="en-US" smtClean="0"/>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2401A66B-7CFE-421D-88A0-EF175FE87D91}" type="slidenum">
              <a:rPr lang="en-US" smtClean="0"/>
              <a:pPr>
                <a:defRPr/>
              </a:pPr>
              <a:t>51</a:t>
            </a:fld>
            <a:endParaRPr lang="en-US"/>
          </a:p>
        </p:txBody>
      </p:sp>
    </p:spTree>
    <p:extLst>
      <p:ext uri="{BB962C8B-B14F-4D97-AF65-F5344CB8AC3E}">
        <p14:creationId xmlns:p14="http://schemas.microsoft.com/office/powerpoint/2010/main" val="4066295177"/>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le 1"/>
          <p:cNvSpPr>
            <a:spLocks noGrp="1"/>
          </p:cNvSpPr>
          <p:nvPr>
            <p:ph type="title"/>
          </p:nvPr>
        </p:nvSpPr>
        <p:spPr bwMode="auto">
          <a:xfrm>
            <a:off x="1143000" y="-1"/>
            <a:ext cx="8001000" cy="10064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a:t>14.7	Price Regulation for a Decreasing Cost </a:t>
            </a:r>
            <a:r>
              <a:rPr lang="en-US" altLang="en-US" dirty="0" smtClean="0"/>
              <a:t/>
            </a:r>
            <a:br>
              <a:rPr lang="en-US" altLang="en-US" dirty="0" smtClean="0"/>
            </a:br>
            <a:r>
              <a:rPr lang="en-US" altLang="en-US" dirty="0"/>
              <a:t>	</a:t>
            </a:r>
            <a:r>
              <a:rPr lang="en-US" altLang="en-US" dirty="0" smtClean="0">
                <a:solidFill>
                  <a:srgbClr val="002D56"/>
                </a:solidFill>
              </a:rPr>
              <a:t>Monopoly</a:t>
            </a:r>
          </a:p>
        </p:txBody>
      </p:sp>
      <p:sp>
        <p:nvSpPr>
          <p:cNvPr id="60419" name="Text Placeholder 2"/>
          <p:cNvSpPr>
            <a:spLocks noGrp="1"/>
          </p:cNvSpPr>
          <p:nvPr>
            <p:ph sz="half" idx="1"/>
          </p:nvPr>
        </p:nvSpPr>
        <p:spPr>
          <a:xfrm>
            <a:off x="342900" y="5029200"/>
            <a:ext cx="8458200" cy="1295399"/>
          </a:xfrm>
        </p:spPr>
        <p:txBody>
          <a:bodyPr>
            <a:normAutofit/>
          </a:bodyPr>
          <a:lstStyle/>
          <a:p>
            <a:pPr>
              <a:spcBef>
                <a:spcPct val="0"/>
              </a:spcBef>
            </a:pPr>
            <a:r>
              <a:rPr lang="en-US" altLang="en-US" dirty="0"/>
              <a:t>Because natural monopolies exhibit decreasing average costs, marginal costs decrease below average costs. Consequently, enforcing a policy of marginal cost pricing will entail operating at a loss. A price of P</a:t>
            </a:r>
            <a:r>
              <a:rPr lang="en-US" altLang="en-US" baseline="-25000" dirty="0"/>
              <a:t>R</a:t>
            </a:r>
            <a:r>
              <a:rPr lang="en-US" altLang="en-US" dirty="0"/>
              <a:t>, for example, will achieve the goal of marginal cost pricing but will necessitate an operating loss of GFEP</a:t>
            </a:r>
            <a:r>
              <a:rPr lang="en-US" altLang="en-US" baseline="-25000" dirty="0"/>
              <a:t>R</a:t>
            </a:r>
            <a:r>
              <a:rPr lang="en-US" altLang="en-US" dirty="0"/>
              <a:t>.</a:t>
            </a:r>
          </a:p>
          <a:p>
            <a:pPr>
              <a:spcBef>
                <a:spcPct val="0"/>
              </a:spcBef>
            </a:pPr>
            <a:endParaRPr lang="en-US" altLang="en-US" dirty="0" smtClean="0"/>
          </a:p>
        </p:txBody>
      </p:sp>
      <p:sp>
        <p:nvSpPr>
          <p:cNvPr id="60422" name="Footer Placeholder 5"/>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5" name="Slide Number Placeholder 4"/>
          <p:cNvSpPr>
            <a:spLocks noGrp="1"/>
          </p:cNvSpPr>
          <p:nvPr>
            <p:ph type="sldNum" sz="quarter" idx="11"/>
          </p:nvPr>
        </p:nvSpPr>
        <p:spPr/>
        <p:txBody>
          <a:bodyPr/>
          <a:lstStyle/>
          <a:p>
            <a:pPr>
              <a:defRPr/>
            </a:pPr>
            <a:fld id="{8327884C-808D-45BB-817B-0D28E588F92B}" type="slidenum">
              <a:rPr lang="en-US" smtClean="0"/>
              <a:pPr>
                <a:defRPr/>
              </a:pPr>
              <a:t>52</a:t>
            </a:fld>
            <a:endParaRPr lang="en-US" dirty="0"/>
          </a:p>
        </p:txBody>
      </p:sp>
      <p:grpSp>
        <p:nvGrpSpPr>
          <p:cNvPr id="15" name="Group 57"/>
          <p:cNvGrpSpPr>
            <a:grpSpLocks/>
          </p:cNvGrpSpPr>
          <p:nvPr/>
        </p:nvGrpSpPr>
        <p:grpSpPr bwMode="auto">
          <a:xfrm>
            <a:off x="1336675" y="976313"/>
            <a:ext cx="5591175" cy="3756025"/>
            <a:chOff x="1335974" y="976745"/>
            <a:chExt cx="5591175" cy="3756025"/>
          </a:xfrm>
        </p:grpSpPr>
        <p:grpSp>
          <p:nvGrpSpPr>
            <p:cNvPr id="60466" name="Group 37"/>
            <p:cNvGrpSpPr>
              <a:grpSpLocks/>
            </p:cNvGrpSpPr>
            <p:nvPr/>
          </p:nvGrpSpPr>
          <p:grpSpPr bwMode="auto">
            <a:xfrm>
              <a:off x="2097974" y="4366058"/>
              <a:ext cx="4829175" cy="366712"/>
              <a:chOff x="2097974" y="4366058"/>
              <a:chExt cx="4829175" cy="366712"/>
            </a:xfrm>
          </p:grpSpPr>
          <p:sp>
            <p:nvSpPr>
              <p:cNvPr id="60470" name="Line 4"/>
              <p:cNvSpPr>
                <a:spLocks noChangeShapeType="1"/>
              </p:cNvSpPr>
              <p:nvPr/>
            </p:nvSpPr>
            <p:spPr bwMode="auto">
              <a:xfrm>
                <a:off x="2097974" y="4558145"/>
                <a:ext cx="38100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0471" name="Text Box 5"/>
              <p:cNvSpPr txBox="1">
                <a:spLocks noChangeArrowheads="1"/>
              </p:cNvSpPr>
              <p:nvPr/>
            </p:nvSpPr>
            <p:spPr bwMode="auto">
              <a:xfrm>
                <a:off x="5892099" y="4366058"/>
                <a:ext cx="10350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t>Quantity</a:t>
                </a:r>
              </a:p>
            </p:txBody>
          </p:sp>
        </p:grpSp>
        <p:grpSp>
          <p:nvGrpSpPr>
            <p:cNvPr id="60467" name="Group 38"/>
            <p:cNvGrpSpPr>
              <a:grpSpLocks/>
            </p:cNvGrpSpPr>
            <p:nvPr/>
          </p:nvGrpSpPr>
          <p:grpSpPr bwMode="auto">
            <a:xfrm>
              <a:off x="1335974" y="976745"/>
              <a:ext cx="762000" cy="3581400"/>
              <a:chOff x="1335974" y="976745"/>
              <a:chExt cx="762000" cy="3581400"/>
            </a:xfrm>
          </p:grpSpPr>
          <p:sp>
            <p:nvSpPr>
              <p:cNvPr id="60468" name="Line 3"/>
              <p:cNvSpPr>
                <a:spLocks noChangeShapeType="1"/>
              </p:cNvSpPr>
              <p:nvPr/>
            </p:nvSpPr>
            <p:spPr bwMode="auto">
              <a:xfrm>
                <a:off x="2097974" y="1281545"/>
                <a:ext cx="0" cy="32766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0469" name="Text Box 6"/>
              <p:cNvSpPr txBox="1">
                <a:spLocks noChangeArrowheads="1"/>
              </p:cNvSpPr>
              <p:nvPr/>
            </p:nvSpPr>
            <p:spPr bwMode="auto">
              <a:xfrm>
                <a:off x="1335974" y="976745"/>
                <a:ext cx="7048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t>Price</a:t>
                </a:r>
              </a:p>
            </p:txBody>
          </p:sp>
        </p:grpSp>
      </p:grpSp>
      <p:grpSp>
        <p:nvGrpSpPr>
          <p:cNvPr id="34" name="Group 33"/>
          <p:cNvGrpSpPr>
            <a:grpSpLocks/>
          </p:cNvGrpSpPr>
          <p:nvPr/>
        </p:nvGrpSpPr>
        <p:grpSpPr bwMode="auto">
          <a:xfrm>
            <a:off x="2930525" y="1006475"/>
            <a:ext cx="2616200" cy="3460750"/>
            <a:chOff x="2859974" y="1433945"/>
            <a:chExt cx="2616200" cy="3460750"/>
          </a:xfrm>
        </p:grpSpPr>
        <p:sp>
          <p:nvSpPr>
            <p:cNvPr id="60464" name="Line 7"/>
            <p:cNvSpPr>
              <a:spLocks noChangeShapeType="1"/>
            </p:cNvSpPr>
            <p:nvPr/>
          </p:nvSpPr>
          <p:spPr bwMode="auto">
            <a:xfrm>
              <a:off x="2859974" y="1433945"/>
              <a:ext cx="2362200" cy="3124200"/>
            </a:xfrm>
            <a:prstGeom prst="line">
              <a:avLst/>
            </a:prstGeom>
            <a:noFill/>
            <a:ln w="28575">
              <a:solidFill>
                <a:srgbClr val="C00000"/>
              </a:solidFill>
              <a:round/>
              <a:headEnd/>
              <a:tailEnd/>
            </a:ln>
            <a:extLst>
              <a:ext uri="{909E8E84-426E-40DD-AFC4-6F175D3DCCD1}">
                <a14:hiddenFill xmlns:a14="http://schemas.microsoft.com/office/drawing/2010/main">
                  <a:noFill/>
                </a14:hiddenFill>
              </a:ext>
            </a:extLst>
          </p:spPr>
          <p:txBody>
            <a:bodyPr anchor="ctr"/>
            <a:lstStyle/>
            <a:p>
              <a:endParaRPr lang="en-US"/>
            </a:p>
          </p:txBody>
        </p:sp>
        <p:sp>
          <p:nvSpPr>
            <p:cNvPr id="60465" name="Text Box 9"/>
            <p:cNvSpPr txBox="1">
              <a:spLocks noChangeArrowheads="1"/>
            </p:cNvSpPr>
            <p:nvPr/>
          </p:nvSpPr>
          <p:spPr bwMode="auto">
            <a:xfrm>
              <a:off x="5145974" y="4558145"/>
              <a:ext cx="3302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dirty="0">
                  <a:solidFill>
                    <a:srgbClr val="C00000"/>
                  </a:solidFill>
                </a:rPr>
                <a:t>D</a:t>
              </a:r>
            </a:p>
          </p:txBody>
        </p:sp>
      </p:grpSp>
      <p:grpSp>
        <p:nvGrpSpPr>
          <p:cNvPr id="35" name="Group 34"/>
          <p:cNvGrpSpPr>
            <a:grpSpLocks/>
          </p:cNvGrpSpPr>
          <p:nvPr/>
        </p:nvGrpSpPr>
        <p:grpSpPr bwMode="auto">
          <a:xfrm>
            <a:off x="2778125" y="1158875"/>
            <a:ext cx="1768475" cy="3189288"/>
            <a:chOff x="2707574" y="1586345"/>
            <a:chExt cx="1767754" cy="3188607"/>
          </a:xfrm>
        </p:grpSpPr>
        <p:sp>
          <p:nvSpPr>
            <p:cNvPr id="60462" name="Line 8"/>
            <p:cNvSpPr>
              <a:spLocks noChangeShapeType="1"/>
            </p:cNvSpPr>
            <p:nvPr/>
          </p:nvSpPr>
          <p:spPr bwMode="auto">
            <a:xfrm>
              <a:off x="2707574" y="1586345"/>
              <a:ext cx="1219200" cy="2819400"/>
            </a:xfrm>
            <a:prstGeom prst="line">
              <a:avLst/>
            </a:prstGeom>
            <a:noFill/>
            <a:ln w="28575">
              <a:solidFill>
                <a:srgbClr val="C00000"/>
              </a:solidFill>
              <a:round/>
              <a:headEnd/>
              <a:tailEnd/>
            </a:ln>
            <a:extLst>
              <a:ext uri="{909E8E84-426E-40DD-AFC4-6F175D3DCCD1}">
                <a14:hiddenFill xmlns:a14="http://schemas.microsoft.com/office/drawing/2010/main">
                  <a:noFill/>
                </a14:hiddenFill>
              </a:ext>
            </a:extLst>
          </p:spPr>
          <p:txBody>
            <a:bodyPr anchor="ctr"/>
            <a:lstStyle/>
            <a:p>
              <a:endParaRPr lang="en-US"/>
            </a:p>
          </p:txBody>
        </p:sp>
        <p:sp>
          <p:nvSpPr>
            <p:cNvPr id="60463" name="Text Box 10"/>
            <p:cNvSpPr txBox="1">
              <a:spLocks noChangeArrowheads="1"/>
            </p:cNvSpPr>
            <p:nvPr/>
          </p:nvSpPr>
          <p:spPr bwMode="auto">
            <a:xfrm>
              <a:off x="3975265" y="4438402"/>
              <a:ext cx="5000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dirty="0">
                  <a:solidFill>
                    <a:srgbClr val="C00000"/>
                  </a:solidFill>
                </a:rPr>
                <a:t>MR</a:t>
              </a:r>
            </a:p>
          </p:txBody>
        </p:sp>
      </p:grpSp>
      <p:grpSp>
        <p:nvGrpSpPr>
          <p:cNvPr id="36" name="Group 35"/>
          <p:cNvGrpSpPr>
            <a:grpSpLocks/>
          </p:cNvGrpSpPr>
          <p:nvPr/>
        </p:nvGrpSpPr>
        <p:grpSpPr bwMode="auto">
          <a:xfrm>
            <a:off x="2625725" y="1006475"/>
            <a:ext cx="3829050" cy="2851150"/>
            <a:chOff x="2555174" y="1433945"/>
            <a:chExt cx="3829050" cy="2851150"/>
          </a:xfrm>
        </p:grpSpPr>
        <p:sp>
          <p:nvSpPr>
            <p:cNvPr id="60460" name="Freeform 12"/>
            <p:cNvSpPr>
              <a:spLocks/>
            </p:cNvSpPr>
            <p:nvPr/>
          </p:nvSpPr>
          <p:spPr bwMode="auto">
            <a:xfrm>
              <a:off x="2555174" y="1433945"/>
              <a:ext cx="3352800" cy="2667000"/>
            </a:xfrm>
            <a:custGeom>
              <a:avLst/>
              <a:gdLst>
                <a:gd name="T0" fmla="*/ 0 w 2016"/>
                <a:gd name="T1" fmla="*/ 0 h 1680"/>
                <a:gd name="T2" fmla="*/ 1117600 w 2016"/>
                <a:gd name="T3" fmla="*/ 1828800 h 1680"/>
                <a:gd name="T4" fmla="*/ 3352800 w 2016"/>
                <a:gd name="T5" fmla="*/ 2667000 h 1680"/>
                <a:gd name="T6" fmla="*/ 0 60000 65536"/>
                <a:gd name="T7" fmla="*/ 0 60000 65536"/>
                <a:gd name="T8" fmla="*/ 0 60000 65536"/>
                <a:gd name="T9" fmla="*/ 0 w 2016"/>
                <a:gd name="T10" fmla="*/ 0 h 1680"/>
                <a:gd name="T11" fmla="*/ 2016 w 2016"/>
                <a:gd name="T12" fmla="*/ 1680 h 1680"/>
              </a:gdLst>
              <a:ahLst/>
              <a:cxnLst>
                <a:cxn ang="T6">
                  <a:pos x="T0" y="T1"/>
                </a:cxn>
                <a:cxn ang="T7">
                  <a:pos x="T2" y="T3"/>
                </a:cxn>
                <a:cxn ang="T8">
                  <a:pos x="T4" y="T5"/>
                </a:cxn>
              </a:cxnLst>
              <a:rect l="T9" t="T10" r="T11" b="T12"/>
              <a:pathLst>
                <a:path w="2016" h="1680">
                  <a:moveTo>
                    <a:pt x="0" y="0"/>
                  </a:moveTo>
                  <a:cubicBezTo>
                    <a:pt x="168" y="436"/>
                    <a:pt x="336" y="872"/>
                    <a:pt x="672" y="1152"/>
                  </a:cubicBezTo>
                  <a:cubicBezTo>
                    <a:pt x="1008" y="1432"/>
                    <a:pt x="1512" y="1556"/>
                    <a:pt x="2016" y="1680"/>
                  </a:cubicBezTo>
                </a:path>
              </a:pathLst>
            </a:custGeom>
            <a:noFill/>
            <a:ln w="28575" cap="flat" cmpd="sng">
              <a:solidFill>
                <a:srgbClr val="177B2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60461" name="Text Box 14"/>
            <p:cNvSpPr txBox="1">
              <a:spLocks noChangeArrowheads="1"/>
            </p:cNvSpPr>
            <p:nvPr/>
          </p:nvSpPr>
          <p:spPr bwMode="auto">
            <a:xfrm>
              <a:off x="5907974" y="3948545"/>
              <a:ext cx="4762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a:solidFill>
                    <a:srgbClr val="177B21"/>
                  </a:solidFill>
                </a:rPr>
                <a:t>AC</a:t>
              </a:r>
            </a:p>
          </p:txBody>
        </p:sp>
      </p:grpSp>
      <p:grpSp>
        <p:nvGrpSpPr>
          <p:cNvPr id="37" name="Group 36"/>
          <p:cNvGrpSpPr>
            <a:grpSpLocks/>
          </p:cNvGrpSpPr>
          <p:nvPr/>
        </p:nvGrpSpPr>
        <p:grpSpPr bwMode="auto">
          <a:xfrm>
            <a:off x="2473325" y="2301875"/>
            <a:ext cx="3471863" cy="1784350"/>
            <a:chOff x="2402774" y="2729345"/>
            <a:chExt cx="3471863" cy="1784350"/>
          </a:xfrm>
        </p:grpSpPr>
        <p:sp>
          <p:nvSpPr>
            <p:cNvPr id="60458" name="Freeform 13"/>
            <p:cNvSpPr>
              <a:spLocks/>
            </p:cNvSpPr>
            <p:nvPr/>
          </p:nvSpPr>
          <p:spPr bwMode="auto">
            <a:xfrm>
              <a:off x="2402774" y="2729345"/>
              <a:ext cx="2971800" cy="1676400"/>
            </a:xfrm>
            <a:custGeom>
              <a:avLst/>
              <a:gdLst>
                <a:gd name="T0" fmla="*/ 0 w 1680"/>
                <a:gd name="T1" fmla="*/ 0 h 1104"/>
                <a:gd name="T2" fmla="*/ 1018903 w 1680"/>
                <a:gd name="T3" fmla="*/ 1311965 h 1104"/>
                <a:gd name="T4" fmla="*/ 2971800 w 1680"/>
                <a:gd name="T5" fmla="*/ 1676400 h 1104"/>
                <a:gd name="T6" fmla="*/ 0 60000 65536"/>
                <a:gd name="T7" fmla="*/ 0 60000 65536"/>
                <a:gd name="T8" fmla="*/ 0 60000 65536"/>
                <a:gd name="T9" fmla="*/ 0 w 1680"/>
                <a:gd name="T10" fmla="*/ 0 h 1104"/>
                <a:gd name="T11" fmla="*/ 1680 w 1680"/>
                <a:gd name="T12" fmla="*/ 1104 h 1104"/>
              </a:gdLst>
              <a:ahLst/>
              <a:cxnLst>
                <a:cxn ang="T6">
                  <a:pos x="T0" y="T1"/>
                </a:cxn>
                <a:cxn ang="T7">
                  <a:pos x="T2" y="T3"/>
                </a:cxn>
                <a:cxn ang="T8">
                  <a:pos x="T4" y="T5"/>
                </a:cxn>
              </a:cxnLst>
              <a:rect l="T9" t="T10" r="T11" b="T12"/>
              <a:pathLst>
                <a:path w="1680" h="1104">
                  <a:moveTo>
                    <a:pt x="0" y="0"/>
                  </a:moveTo>
                  <a:cubicBezTo>
                    <a:pt x="148" y="340"/>
                    <a:pt x="296" y="680"/>
                    <a:pt x="576" y="864"/>
                  </a:cubicBezTo>
                  <a:cubicBezTo>
                    <a:pt x="856" y="1048"/>
                    <a:pt x="1268" y="1076"/>
                    <a:pt x="1680" y="1104"/>
                  </a:cubicBezTo>
                </a:path>
              </a:pathLst>
            </a:custGeom>
            <a:noFill/>
            <a:ln w="28575" cap="flat" cmpd="sng">
              <a:solidFill>
                <a:srgbClr val="5D0D8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60459" name="Text Box 15"/>
            <p:cNvSpPr txBox="1">
              <a:spLocks noChangeArrowheads="1"/>
            </p:cNvSpPr>
            <p:nvPr/>
          </p:nvSpPr>
          <p:spPr bwMode="auto">
            <a:xfrm>
              <a:off x="5374574" y="4177145"/>
              <a:ext cx="5000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a:solidFill>
                    <a:srgbClr val="5D0D8F"/>
                  </a:solidFill>
                </a:rPr>
                <a:t>MC</a:t>
              </a:r>
            </a:p>
          </p:txBody>
        </p:sp>
      </p:grpSp>
      <p:grpSp>
        <p:nvGrpSpPr>
          <p:cNvPr id="38" name="Group 43"/>
          <p:cNvGrpSpPr>
            <a:grpSpLocks/>
          </p:cNvGrpSpPr>
          <p:nvPr/>
        </p:nvGrpSpPr>
        <p:grpSpPr bwMode="auto">
          <a:xfrm>
            <a:off x="1681163" y="2774950"/>
            <a:ext cx="2170112" cy="304800"/>
            <a:chOff x="1681349" y="3213533"/>
            <a:chExt cx="2169225" cy="304800"/>
          </a:xfrm>
        </p:grpSpPr>
        <p:sp>
          <p:nvSpPr>
            <p:cNvPr id="60456" name="Line 20"/>
            <p:cNvSpPr>
              <a:spLocks noChangeShapeType="1"/>
            </p:cNvSpPr>
            <p:nvPr/>
          </p:nvSpPr>
          <p:spPr bwMode="auto">
            <a:xfrm flipH="1">
              <a:off x="2097974" y="3415145"/>
              <a:ext cx="1752600" cy="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0457" name="Text Box 23"/>
            <p:cNvSpPr txBox="1">
              <a:spLocks noChangeArrowheads="1"/>
            </p:cNvSpPr>
            <p:nvPr/>
          </p:nvSpPr>
          <p:spPr bwMode="auto">
            <a:xfrm>
              <a:off x="1681349" y="3213533"/>
              <a:ext cx="37623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a:t>C</a:t>
              </a:r>
            </a:p>
          </p:txBody>
        </p:sp>
      </p:grpSp>
      <p:grpSp>
        <p:nvGrpSpPr>
          <p:cNvPr id="39" name="Group 44"/>
          <p:cNvGrpSpPr>
            <a:grpSpLocks/>
          </p:cNvGrpSpPr>
          <p:nvPr/>
        </p:nvGrpSpPr>
        <p:grpSpPr bwMode="auto">
          <a:xfrm>
            <a:off x="1681163" y="2176463"/>
            <a:ext cx="2170112" cy="304800"/>
            <a:chOff x="1681349" y="2568307"/>
            <a:chExt cx="2169225" cy="304800"/>
          </a:xfrm>
        </p:grpSpPr>
        <p:sp>
          <p:nvSpPr>
            <p:cNvPr id="60454" name="Line 19"/>
            <p:cNvSpPr>
              <a:spLocks noChangeShapeType="1"/>
            </p:cNvSpPr>
            <p:nvPr/>
          </p:nvSpPr>
          <p:spPr bwMode="auto">
            <a:xfrm flipH="1">
              <a:off x="2097974" y="2729345"/>
              <a:ext cx="1752600" cy="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0455" name="Text Box 21"/>
            <p:cNvSpPr txBox="1">
              <a:spLocks noChangeArrowheads="1"/>
            </p:cNvSpPr>
            <p:nvPr/>
          </p:nvSpPr>
          <p:spPr bwMode="auto">
            <a:xfrm>
              <a:off x="1681349" y="2568307"/>
              <a:ext cx="36671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a:t>P</a:t>
              </a:r>
              <a:r>
                <a:rPr lang="en-US" altLang="en-US" sz="1800" baseline="-25000"/>
                <a:t>A</a:t>
              </a:r>
              <a:endParaRPr lang="en-US" altLang="en-US" sz="1800" i="1"/>
            </a:p>
          </p:txBody>
        </p:sp>
      </p:grpSp>
      <p:grpSp>
        <p:nvGrpSpPr>
          <p:cNvPr id="40" name="Group 39"/>
          <p:cNvGrpSpPr>
            <a:grpSpLocks/>
          </p:cNvGrpSpPr>
          <p:nvPr/>
        </p:nvGrpSpPr>
        <p:grpSpPr bwMode="auto">
          <a:xfrm>
            <a:off x="3681413" y="2351088"/>
            <a:ext cx="385762" cy="2538412"/>
            <a:chOff x="3621974" y="2351314"/>
            <a:chExt cx="385763" cy="2538618"/>
          </a:xfrm>
        </p:grpSpPr>
        <p:sp>
          <p:nvSpPr>
            <p:cNvPr id="60452" name="Line 18"/>
            <p:cNvSpPr>
              <a:spLocks noChangeShapeType="1"/>
            </p:cNvSpPr>
            <p:nvPr/>
          </p:nvSpPr>
          <p:spPr bwMode="auto">
            <a:xfrm flipV="1">
              <a:off x="3850574" y="2351314"/>
              <a:ext cx="8908" cy="2206831"/>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nchor="ctr"/>
            <a:lstStyle/>
            <a:p>
              <a:endParaRPr lang="en-US"/>
            </a:p>
          </p:txBody>
        </p:sp>
        <p:sp>
          <p:nvSpPr>
            <p:cNvPr id="60453" name="Text Box 22"/>
            <p:cNvSpPr txBox="1">
              <a:spLocks noChangeArrowheads="1"/>
            </p:cNvSpPr>
            <p:nvPr/>
          </p:nvSpPr>
          <p:spPr bwMode="auto">
            <a:xfrm>
              <a:off x="3621974" y="4585132"/>
              <a:ext cx="3857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a:t>Q</a:t>
              </a:r>
              <a:r>
                <a:rPr lang="en-US" altLang="en-US" sz="1800" baseline="-25000"/>
                <a:t>A</a:t>
              </a:r>
              <a:endParaRPr lang="en-US" altLang="en-US" sz="1800" i="1"/>
            </a:p>
          </p:txBody>
        </p:sp>
      </p:grpSp>
      <p:grpSp>
        <p:nvGrpSpPr>
          <p:cNvPr id="41" name="Group 42"/>
          <p:cNvGrpSpPr>
            <a:grpSpLocks/>
          </p:cNvGrpSpPr>
          <p:nvPr/>
        </p:nvGrpSpPr>
        <p:grpSpPr bwMode="auto">
          <a:xfrm>
            <a:off x="1681163" y="3305175"/>
            <a:ext cx="3479800" cy="304800"/>
            <a:chOff x="1681349" y="3699433"/>
            <a:chExt cx="3479047" cy="304800"/>
          </a:xfrm>
        </p:grpSpPr>
        <p:sp>
          <p:nvSpPr>
            <p:cNvPr id="60450" name="Line 30"/>
            <p:cNvSpPr>
              <a:spLocks noChangeShapeType="1"/>
            </p:cNvSpPr>
            <p:nvPr/>
          </p:nvSpPr>
          <p:spPr bwMode="auto">
            <a:xfrm flipH="1">
              <a:off x="2097973" y="3869233"/>
              <a:ext cx="3062423" cy="3112"/>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nchor="ctr"/>
            <a:lstStyle/>
            <a:p>
              <a:endParaRPr lang="en-US"/>
            </a:p>
          </p:txBody>
        </p:sp>
        <p:sp>
          <p:nvSpPr>
            <p:cNvPr id="60451" name="Text Box 32"/>
            <p:cNvSpPr txBox="1">
              <a:spLocks noChangeArrowheads="1"/>
            </p:cNvSpPr>
            <p:nvPr/>
          </p:nvSpPr>
          <p:spPr bwMode="auto">
            <a:xfrm>
              <a:off x="1681349" y="3699433"/>
              <a:ext cx="37623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a:t>G</a:t>
              </a:r>
            </a:p>
          </p:txBody>
        </p:sp>
      </p:grpSp>
      <p:grpSp>
        <p:nvGrpSpPr>
          <p:cNvPr id="42" name="Group 41"/>
          <p:cNvGrpSpPr>
            <a:grpSpLocks/>
          </p:cNvGrpSpPr>
          <p:nvPr/>
        </p:nvGrpSpPr>
        <p:grpSpPr bwMode="auto">
          <a:xfrm>
            <a:off x="1681163" y="3803650"/>
            <a:ext cx="3503612" cy="304800"/>
            <a:chOff x="1681349" y="4232835"/>
            <a:chExt cx="3502901" cy="304800"/>
          </a:xfrm>
        </p:grpSpPr>
        <p:sp>
          <p:nvSpPr>
            <p:cNvPr id="60448" name="Text Box 28"/>
            <p:cNvSpPr txBox="1">
              <a:spLocks noChangeArrowheads="1"/>
            </p:cNvSpPr>
            <p:nvPr/>
          </p:nvSpPr>
          <p:spPr bwMode="auto">
            <a:xfrm>
              <a:off x="1681349" y="4232835"/>
              <a:ext cx="36671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a:t>P</a:t>
              </a:r>
              <a:r>
                <a:rPr lang="en-US" altLang="en-US" sz="1800" baseline="-25000"/>
                <a:t>R</a:t>
              </a:r>
              <a:endParaRPr lang="en-US" altLang="en-US" sz="1800" i="1"/>
            </a:p>
          </p:txBody>
        </p:sp>
        <p:sp>
          <p:nvSpPr>
            <p:cNvPr id="60449" name="Line 29"/>
            <p:cNvSpPr>
              <a:spLocks noChangeShapeType="1"/>
            </p:cNvSpPr>
            <p:nvPr/>
          </p:nvSpPr>
          <p:spPr bwMode="auto">
            <a:xfrm flipH="1">
              <a:off x="2097974" y="4397071"/>
              <a:ext cx="3086276" cy="8676"/>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43" name="Group 40"/>
          <p:cNvGrpSpPr>
            <a:grpSpLocks/>
          </p:cNvGrpSpPr>
          <p:nvPr/>
        </p:nvGrpSpPr>
        <p:grpSpPr bwMode="auto">
          <a:xfrm>
            <a:off x="4959350" y="3492500"/>
            <a:ext cx="385763" cy="1397000"/>
            <a:chOff x="4841174" y="3492136"/>
            <a:chExt cx="385763" cy="1397799"/>
          </a:xfrm>
        </p:grpSpPr>
        <p:sp>
          <p:nvSpPr>
            <p:cNvPr id="60446" name="Line 26"/>
            <p:cNvSpPr>
              <a:spLocks noChangeShapeType="1"/>
            </p:cNvSpPr>
            <p:nvPr/>
          </p:nvSpPr>
          <p:spPr bwMode="auto">
            <a:xfrm flipH="1" flipV="1">
              <a:off x="5057044" y="3492136"/>
              <a:ext cx="12730" cy="1066006"/>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nchor="ctr"/>
            <a:lstStyle/>
            <a:p>
              <a:endParaRPr lang="en-US"/>
            </a:p>
          </p:txBody>
        </p:sp>
        <p:sp>
          <p:nvSpPr>
            <p:cNvPr id="60447" name="Text Box 31"/>
            <p:cNvSpPr txBox="1">
              <a:spLocks noChangeArrowheads="1"/>
            </p:cNvSpPr>
            <p:nvPr/>
          </p:nvSpPr>
          <p:spPr bwMode="auto">
            <a:xfrm>
              <a:off x="4841174" y="4585135"/>
              <a:ext cx="3857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a:t>Q</a:t>
              </a:r>
              <a:r>
                <a:rPr lang="en-US" altLang="en-US" sz="1800" baseline="-25000"/>
                <a:t>R</a:t>
              </a:r>
              <a:endParaRPr lang="en-US" altLang="en-US" sz="1800" i="1"/>
            </a:p>
          </p:txBody>
        </p:sp>
      </p:grpSp>
      <p:grpSp>
        <p:nvGrpSpPr>
          <p:cNvPr id="44" name="Group 56"/>
          <p:cNvGrpSpPr>
            <a:grpSpLocks/>
          </p:cNvGrpSpPr>
          <p:nvPr/>
        </p:nvGrpSpPr>
        <p:grpSpPr bwMode="auto">
          <a:xfrm>
            <a:off x="5132388" y="3132138"/>
            <a:ext cx="433387" cy="382587"/>
            <a:chOff x="4906435" y="3575780"/>
            <a:chExt cx="433696" cy="382741"/>
          </a:xfrm>
        </p:grpSpPr>
        <p:sp>
          <p:nvSpPr>
            <p:cNvPr id="60444" name="Oval 9"/>
            <p:cNvSpPr>
              <a:spLocks noChangeArrowheads="1"/>
            </p:cNvSpPr>
            <p:nvPr/>
          </p:nvSpPr>
          <p:spPr bwMode="auto">
            <a:xfrm>
              <a:off x="4906435" y="3882215"/>
              <a:ext cx="76382" cy="76306"/>
            </a:xfrm>
            <a:prstGeom prst="ellipse">
              <a:avLst/>
            </a:prstGeom>
            <a:solidFill>
              <a:schemeClr val="tx1"/>
            </a:solidFill>
            <a:ln w="15875">
              <a:solidFill>
                <a:schemeClr val="tx1"/>
              </a:solidFill>
              <a:round/>
              <a:headEnd/>
              <a:tailEnd/>
            </a:ln>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sp>
          <p:nvSpPr>
            <p:cNvPr id="60445" name="Text Box 23"/>
            <p:cNvSpPr txBox="1">
              <a:spLocks noChangeArrowheads="1"/>
            </p:cNvSpPr>
            <p:nvPr/>
          </p:nvSpPr>
          <p:spPr bwMode="auto">
            <a:xfrm>
              <a:off x="4954367" y="3575780"/>
              <a:ext cx="385764"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a:t>F</a:t>
              </a:r>
            </a:p>
          </p:txBody>
        </p:sp>
      </p:grpSp>
      <p:grpSp>
        <p:nvGrpSpPr>
          <p:cNvPr id="45" name="Group 56"/>
          <p:cNvGrpSpPr>
            <a:grpSpLocks/>
          </p:cNvGrpSpPr>
          <p:nvPr/>
        </p:nvGrpSpPr>
        <p:grpSpPr bwMode="auto">
          <a:xfrm>
            <a:off x="3884613" y="2633663"/>
            <a:ext cx="433387" cy="371475"/>
            <a:chOff x="4906435" y="3587655"/>
            <a:chExt cx="433675" cy="370866"/>
          </a:xfrm>
        </p:grpSpPr>
        <p:sp>
          <p:nvSpPr>
            <p:cNvPr id="60442" name="Oval 9"/>
            <p:cNvSpPr>
              <a:spLocks noChangeArrowheads="1"/>
            </p:cNvSpPr>
            <p:nvPr/>
          </p:nvSpPr>
          <p:spPr bwMode="auto">
            <a:xfrm>
              <a:off x="4906435" y="3882215"/>
              <a:ext cx="76382" cy="76306"/>
            </a:xfrm>
            <a:prstGeom prst="ellipse">
              <a:avLst/>
            </a:prstGeom>
            <a:solidFill>
              <a:schemeClr val="tx1"/>
            </a:solidFill>
            <a:ln w="15875">
              <a:solidFill>
                <a:schemeClr val="tx1"/>
              </a:solidFill>
              <a:round/>
              <a:headEnd/>
              <a:tailEnd/>
            </a:ln>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sp>
          <p:nvSpPr>
            <p:cNvPr id="60443" name="Text Box 23"/>
            <p:cNvSpPr txBox="1">
              <a:spLocks noChangeArrowheads="1"/>
            </p:cNvSpPr>
            <p:nvPr/>
          </p:nvSpPr>
          <p:spPr bwMode="auto">
            <a:xfrm>
              <a:off x="4954347" y="3587655"/>
              <a:ext cx="3857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a:t>B</a:t>
              </a:r>
            </a:p>
          </p:txBody>
        </p:sp>
      </p:grpSp>
      <p:grpSp>
        <p:nvGrpSpPr>
          <p:cNvPr id="46" name="Group 56"/>
          <p:cNvGrpSpPr>
            <a:grpSpLocks/>
          </p:cNvGrpSpPr>
          <p:nvPr/>
        </p:nvGrpSpPr>
        <p:grpSpPr bwMode="auto">
          <a:xfrm>
            <a:off x="3894138" y="1943100"/>
            <a:ext cx="481012" cy="406400"/>
            <a:chOff x="4906435" y="3552029"/>
            <a:chExt cx="481192" cy="406492"/>
          </a:xfrm>
        </p:grpSpPr>
        <p:sp>
          <p:nvSpPr>
            <p:cNvPr id="60440" name="Oval 9"/>
            <p:cNvSpPr>
              <a:spLocks noChangeArrowheads="1"/>
            </p:cNvSpPr>
            <p:nvPr/>
          </p:nvSpPr>
          <p:spPr bwMode="auto">
            <a:xfrm>
              <a:off x="4906435" y="3882215"/>
              <a:ext cx="76382" cy="76306"/>
            </a:xfrm>
            <a:prstGeom prst="ellipse">
              <a:avLst/>
            </a:prstGeom>
            <a:solidFill>
              <a:schemeClr val="tx1"/>
            </a:solidFill>
            <a:ln w="15875">
              <a:solidFill>
                <a:schemeClr val="tx1"/>
              </a:solidFill>
              <a:round/>
              <a:headEnd/>
              <a:tailEnd/>
            </a:ln>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sp>
          <p:nvSpPr>
            <p:cNvPr id="60441" name="Text Box 23"/>
            <p:cNvSpPr txBox="1">
              <a:spLocks noChangeArrowheads="1"/>
            </p:cNvSpPr>
            <p:nvPr/>
          </p:nvSpPr>
          <p:spPr bwMode="auto">
            <a:xfrm>
              <a:off x="5001863" y="3552029"/>
              <a:ext cx="385764"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a:t>A</a:t>
              </a:r>
            </a:p>
          </p:txBody>
        </p:sp>
      </p:grpSp>
      <p:grpSp>
        <p:nvGrpSpPr>
          <p:cNvPr id="49" name="Group 56"/>
          <p:cNvGrpSpPr>
            <a:grpSpLocks/>
          </p:cNvGrpSpPr>
          <p:nvPr/>
        </p:nvGrpSpPr>
        <p:grpSpPr bwMode="auto">
          <a:xfrm>
            <a:off x="4799013" y="3925888"/>
            <a:ext cx="420687" cy="385762"/>
            <a:chOff x="4562530" y="3882215"/>
            <a:chExt cx="420287" cy="386375"/>
          </a:xfrm>
        </p:grpSpPr>
        <p:sp>
          <p:nvSpPr>
            <p:cNvPr id="60438" name="Oval 9"/>
            <p:cNvSpPr>
              <a:spLocks noChangeArrowheads="1"/>
            </p:cNvSpPr>
            <p:nvPr/>
          </p:nvSpPr>
          <p:spPr bwMode="auto">
            <a:xfrm>
              <a:off x="4906435" y="3882215"/>
              <a:ext cx="76382" cy="76306"/>
            </a:xfrm>
            <a:prstGeom prst="ellipse">
              <a:avLst/>
            </a:prstGeom>
            <a:solidFill>
              <a:schemeClr val="tx1"/>
            </a:solidFill>
            <a:ln w="15875">
              <a:solidFill>
                <a:schemeClr val="tx1"/>
              </a:solidFill>
              <a:round/>
              <a:headEnd/>
              <a:tailEnd/>
            </a:ln>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sp>
          <p:nvSpPr>
            <p:cNvPr id="60439" name="Text Box 23"/>
            <p:cNvSpPr txBox="1">
              <a:spLocks noChangeArrowheads="1"/>
            </p:cNvSpPr>
            <p:nvPr/>
          </p:nvSpPr>
          <p:spPr bwMode="auto">
            <a:xfrm>
              <a:off x="4562530" y="3932040"/>
              <a:ext cx="385764"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a:t>E</a:t>
              </a:r>
            </a:p>
          </p:txBody>
        </p:sp>
      </p:grpSp>
    </p:spTree>
    <p:extLst>
      <p:ext uri="{BB962C8B-B14F-4D97-AF65-F5344CB8AC3E}">
        <p14:creationId xmlns:p14="http://schemas.microsoft.com/office/powerpoint/2010/main" val="422473429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500"/>
                                        <p:tgtEl>
                                          <p:spTgt spid="15"/>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left)">
                                      <p:cBhvr>
                                        <p:cTn id="11" dur="500"/>
                                        <p:tgtEl>
                                          <p:spTgt spid="34"/>
                                        </p:tgtEl>
                                      </p:cBhvr>
                                    </p:animEffect>
                                  </p:childTnLst>
                                </p:cTn>
                              </p:par>
                            </p:childTnLst>
                          </p:cTn>
                        </p:par>
                        <p:par>
                          <p:cTn id="12" fill="hold" nodeType="afterGroup">
                            <p:stCondLst>
                              <p:cond delay="1000"/>
                            </p:stCondLst>
                            <p:childTnLst>
                              <p:par>
                                <p:cTn id="13" presetID="22" presetClass="entr" presetSubtype="8" fill="hold" nodeType="afterEffect">
                                  <p:stCondLst>
                                    <p:cond delay="0"/>
                                  </p:stCondLst>
                                  <p:childTnLst>
                                    <p:set>
                                      <p:cBhvr>
                                        <p:cTn id="14" dur="1" fill="hold">
                                          <p:stCondLst>
                                            <p:cond delay="0"/>
                                          </p:stCondLst>
                                        </p:cTn>
                                        <p:tgtEl>
                                          <p:spTgt spid="35"/>
                                        </p:tgtEl>
                                        <p:attrNameLst>
                                          <p:attrName>style.visibility</p:attrName>
                                        </p:attrNameLst>
                                      </p:cBhvr>
                                      <p:to>
                                        <p:strVal val="visible"/>
                                      </p:to>
                                    </p:set>
                                    <p:animEffect transition="in" filter="wipe(left)">
                                      <p:cBhvr>
                                        <p:cTn id="15" dur="500"/>
                                        <p:tgtEl>
                                          <p:spTgt spid="35"/>
                                        </p:tgtEl>
                                      </p:cBhvr>
                                    </p:animEffect>
                                  </p:childTnLst>
                                </p:cTn>
                              </p:par>
                            </p:childTnLst>
                          </p:cTn>
                        </p:par>
                        <p:par>
                          <p:cTn id="16" fill="hold" nodeType="afterGroup">
                            <p:stCondLst>
                              <p:cond delay="1500"/>
                            </p:stCondLst>
                            <p:childTnLst>
                              <p:par>
                                <p:cTn id="17" presetID="22" presetClass="entr" presetSubtype="8" fill="hold" nodeType="afterEffect">
                                  <p:stCondLst>
                                    <p:cond delay="0"/>
                                  </p:stCondLst>
                                  <p:childTnLst>
                                    <p:set>
                                      <p:cBhvr>
                                        <p:cTn id="18" dur="1" fill="hold">
                                          <p:stCondLst>
                                            <p:cond delay="0"/>
                                          </p:stCondLst>
                                        </p:cTn>
                                        <p:tgtEl>
                                          <p:spTgt spid="36"/>
                                        </p:tgtEl>
                                        <p:attrNameLst>
                                          <p:attrName>style.visibility</p:attrName>
                                        </p:attrNameLst>
                                      </p:cBhvr>
                                      <p:to>
                                        <p:strVal val="visible"/>
                                      </p:to>
                                    </p:set>
                                    <p:animEffect transition="in" filter="wipe(left)">
                                      <p:cBhvr>
                                        <p:cTn id="19" dur="500"/>
                                        <p:tgtEl>
                                          <p:spTgt spid="36"/>
                                        </p:tgtEl>
                                      </p:cBhvr>
                                    </p:animEffect>
                                  </p:childTnLst>
                                </p:cTn>
                              </p:par>
                            </p:childTnLst>
                          </p:cTn>
                        </p:par>
                        <p:par>
                          <p:cTn id="20" fill="hold" nodeType="afterGroup">
                            <p:stCondLst>
                              <p:cond delay="2000"/>
                            </p:stCondLst>
                            <p:childTnLst>
                              <p:par>
                                <p:cTn id="21" presetID="22" presetClass="entr" presetSubtype="8" fill="hold" nodeType="afterEffect">
                                  <p:stCondLst>
                                    <p:cond delay="0"/>
                                  </p:stCondLst>
                                  <p:childTnLst>
                                    <p:set>
                                      <p:cBhvr>
                                        <p:cTn id="22" dur="1" fill="hold">
                                          <p:stCondLst>
                                            <p:cond delay="0"/>
                                          </p:stCondLst>
                                        </p:cTn>
                                        <p:tgtEl>
                                          <p:spTgt spid="37"/>
                                        </p:tgtEl>
                                        <p:attrNameLst>
                                          <p:attrName>style.visibility</p:attrName>
                                        </p:attrNameLst>
                                      </p:cBhvr>
                                      <p:to>
                                        <p:strVal val="visible"/>
                                      </p:to>
                                    </p:set>
                                    <p:animEffect transition="in" filter="wipe(left)">
                                      <p:cBhvr>
                                        <p:cTn id="23" dur="500"/>
                                        <p:tgtEl>
                                          <p:spTgt spid="37"/>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1" fill="hold" nodeType="clickEffect">
                                  <p:stCondLst>
                                    <p:cond delay="0"/>
                                  </p:stCondLst>
                                  <p:childTnLst>
                                    <p:set>
                                      <p:cBhvr>
                                        <p:cTn id="27" dur="1" fill="hold">
                                          <p:stCondLst>
                                            <p:cond delay="0"/>
                                          </p:stCondLst>
                                        </p:cTn>
                                        <p:tgtEl>
                                          <p:spTgt spid="40"/>
                                        </p:tgtEl>
                                        <p:attrNameLst>
                                          <p:attrName>style.visibility</p:attrName>
                                        </p:attrNameLst>
                                      </p:cBhvr>
                                      <p:to>
                                        <p:strVal val="visible"/>
                                      </p:to>
                                    </p:set>
                                    <p:animEffect transition="in" filter="wipe(up)">
                                      <p:cBhvr>
                                        <p:cTn id="28" dur="500"/>
                                        <p:tgtEl>
                                          <p:spTgt spid="40"/>
                                        </p:tgtEl>
                                      </p:cBhvr>
                                    </p:animEffect>
                                  </p:childTnLst>
                                </p:cTn>
                              </p:par>
                            </p:childTnLst>
                          </p:cTn>
                        </p:par>
                        <p:par>
                          <p:cTn id="29" fill="hold" nodeType="afterGroup">
                            <p:stCondLst>
                              <p:cond delay="500"/>
                            </p:stCondLst>
                            <p:childTnLst>
                              <p:par>
                                <p:cTn id="30" presetID="22" presetClass="entr" presetSubtype="8" fill="hold" nodeType="afterEffect">
                                  <p:stCondLst>
                                    <p:cond delay="0"/>
                                  </p:stCondLst>
                                  <p:childTnLst>
                                    <p:set>
                                      <p:cBhvr>
                                        <p:cTn id="31" dur="1" fill="hold">
                                          <p:stCondLst>
                                            <p:cond delay="0"/>
                                          </p:stCondLst>
                                        </p:cTn>
                                        <p:tgtEl>
                                          <p:spTgt spid="46"/>
                                        </p:tgtEl>
                                        <p:attrNameLst>
                                          <p:attrName>style.visibility</p:attrName>
                                        </p:attrNameLst>
                                      </p:cBhvr>
                                      <p:to>
                                        <p:strVal val="visible"/>
                                      </p:to>
                                    </p:set>
                                    <p:animEffect transition="in" filter="wipe(left)">
                                      <p:cBhvr>
                                        <p:cTn id="32" dur="500"/>
                                        <p:tgtEl>
                                          <p:spTgt spid="46"/>
                                        </p:tgtEl>
                                      </p:cBhvr>
                                    </p:animEffect>
                                  </p:childTnLst>
                                </p:cTn>
                              </p:par>
                            </p:childTnLst>
                          </p:cTn>
                        </p:par>
                        <p:par>
                          <p:cTn id="33" fill="hold" nodeType="afterGroup">
                            <p:stCondLst>
                              <p:cond delay="1000"/>
                            </p:stCondLst>
                            <p:childTnLst>
                              <p:par>
                                <p:cTn id="34" presetID="22" presetClass="entr" presetSubtype="8" fill="hold" nodeType="afterEffect">
                                  <p:stCondLst>
                                    <p:cond delay="0"/>
                                  </p:stCondLst>
                                  <p:childTnLst>
                                    <p:set>
                                      <p:cBhvr>
                                        <p:cTn id="35" dur="1" fill="hold">
                                          <p:stCondLst>
                                            <p:cond delay="0"/>
                                          </p:stCondLst>
                                        </p:cTn>
                                        <p:tgtEl>
                                          <p:spTgt spid="39"/>
                                        </p:tgtEl>
                                        <p:attrNameLst>
                                          <p:attrName>style.visibility</p:attrName>
                                        </p:attrNameLst>
                                      </p:cBhvr>
                                      <p:to>
                                        <p:strVal val="visible"/>
                                      </p:to>
                                    </p:set>
                                    <p:animEffect transition="in" filter="wipe(left)">
                                      <p:cBhvr>
                                        <p:cTn id="36" dur="500"/>
                                        <p:tgtEl>
                                          <p:spTgt spid="39"/>
                                        </p:tgtEl>
                                      </p:cBhvr>
                                    </p:animEffect>
                                  </p:childTnLst>
                                </p:cTn>
                              </p:par>
                            </p:childTnLst>
                          </p:cTn>
                        </p:par>
                        <p:par>
                          <p:cTn id="37" fill="hold" nodeType="afterGroup">
                            <p:stCondLst>
                              <p:cond delay="1500"/>
                            </p:stCondLst>
                            <p:childTnLst>
                              <p:par>
                                <p:cTn id="38" presetID="22" presetClass="entr" presetSubtype="8" fill="hold" nodeType="afterEffect">
                                  <p:stCondLst>
                                    <p:cond delay="0"/>
                                  </p:stCondLst>
                                  <p:childTnLst>
                                    <p:set>
                                      <p:cBhvr>
                                        <p:cTn id="39" dur="1" fill="hold">
                                          <p:stCondLst>
                                            <p:cond delay="0"/>
                                          </p:stCondLst>
                                        </p:cTn>
                                        <p:tgtEl>
                                          <p:spTgt spid="38"/>
                                        </p:tgtEl>
                                        <p:attrNameLst>
                                          <p:attrName>style.visibility</p:attrName>
                                        </p:attrNameLst>
                                      </p:cBhvr>
                                      <p:to>
                                        <p:strVal val="visible"/>
                                      </p:to>
                                    </p:set>
                                    <p:animEffect transition="in" filter="wipe(left)">
                                      <p:cBhvr>
                                        <p:cTn id="40" dur="500"/>
                                        <p:tgtEl>
                                          <p:spTgt spid="38"/>
                                        </p:tgtEl>
                                      </p:cBhvr>
                                    </p:animEffect>
                                  </p:childTnLst>
                                </p:cTn>
                              </p:par>
                            </p:childTnLst>
                          </p:cTn>
                        </p:par>
                        <p:par>
                          <p:cTn id="41" fill="hold" nodeType="afterGroup">
                            <p:stCondLst>
                              <p:cond delay="2000"/>
                            </p:stCondLst>
                            <p:childTnLst>
                              <p:par>
                                <p:cTn id="42" presetID="22" presetClass="entr" presetSubtype="8" fill="hold" nodeType="afterEffect">
                                  <p:stCondLst>
                                    <p:cond delay="0"/>
                                  </p:stCondLst>
                                  <p:childTnLst>
                                    <p:set>
                                      <p:cBhvr>
                                        <p:cTn id="43" dur="1" fill="hold">
                                          <p:stCondLst>
                                            <p:cond delay="0"/>
                                          </p:stCondLst>
                                        </p:cTn>
                                        <p:tgtEl>
                                          <p:spTgt spid="45"/>
                                        </p:tgtEl>
                                        <p:attrNameLst>
                                          <p:attrName>style.visibility</p:attrName>
                                        </p:attrNameLst>
                                      </p:cBhvr>
                                      <p:to>
                                        <p:strVal val="visible"/>
                                      </p:to>
                                    </p:set>
                                    <p:animEffect transition="in" filter="wipe(left)">
                                      <p:cBhvr>
                                        <p:cTn id="44" dur="500"/>
                                        <p:tgtEl>
                                          <p:spTgt spid="45"/>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nodeType="clickEffect">
                                  <p:stCondLst>
                                    <p:cond delay="0"/>
                                  </p:stCondLst>
                                  <p:childTnLst>
                                    <p:set>
                                      <p:cBhvr>
                                        <p:cTn id="48" dur="1" fill="hold">
                                          <p:stCondLst>
                                            <p:cond delay="0"/>
                                          </p:stCondLst>
                                        </p:cTn>
                                        <p:tgtEl>
                                          <p:spTgt spid="49"/>
                                        </p:tgtEl>
                                        <p:attrNameLst>
                                          <p:attrName>style.visibility</p:attrName>
                                        </p:attrNameLst>
                                      </p:cBhvr>
                                      <p:to>
                                        <p:strVal val="visible"/>
                                      </p:to>
                                    </p:set>
                                    <p:animEffect transition="in" filter="wipe(left)">
                                      <p:cBhvr>
                                        <p:cTn id="49" dur="500"/>
                                        <p:tgtEl>
                                          <p:spTgt spid="49"/>
                                        </p:tgtEl>
                                      </p:cBhvr>
                                    </p:animEffect>
                                  </p:childTnLst>
                                </p:cTn>
                              </p:par>
                            </p:childTnLst>
                          </p:cTn>
                        </p:par>
                        <p:par>
                          <p:cTn id="50" fill="hold" nodeType="afterGroup">
                            <p:stCondLst>
                              <p:cond delay="500"/>
                            </p:stCondLst>
                            <p:childTnLst>
                              <p:par>
                                <p:cTn id="51" presetID="22" presetClass="entr" presetSubtype="1" fill="hold" nodeType="afterEffect">
                                  <p:stCondLst>
                                    <p:cond delay="0"/>
                                  </p:stCondLst>
                                  <p:childTnLst>
                                    <p:set>
                                      <p:cBhvr>
                                        <p:cTn id="52" dur="1" fill="hold">
                                          <p:stCondLst>
                                            <p:cond delay="0"/>
                                          </p:stCondLst>
                                        </p:cTn>
                                        <p:tgtEl>
                                          <p:spTgt spid="43"/>
                                        </p:tgtEl>
                                        <p:attrNameLst>
                                          <p:attrName>style.visibility</p:attrName>
                                        </p:attrNameLst>
                                      </p:cBhvr>
                                      <p:to>
                                        <p:strVal val="visible"/>
                                      </p:to>
                                    </p:set>
                                    <p:animEffect transition="in" filter="wipe(up)">
                                      <p:cBhvr>
                                        <p:cTn id="53" dur="500"/>
                                        <p:tgtEl>
                                          <p:spTgt spid="43"/>
                                        </p:tgtEl>
                                      </p:cBhvr>
                                    </p:animEffect>
                                  </p:childTnLst>
                                </p:cTn>
                              </p:par>
                            </p:childTnLst>
                          </p:cTn>
                        </p:par>
                        <p:par>
                          <p:cTn id="54" fill="hold" nodeType="afterGroup">
                            <p:stCondLst>
                              <p:cond delay="1000"/>
                            </p:stCondLst>
                            <p:childTnLst>
                              <p:par>
                                <p:cTn id="55" presetID="22" presetClass="entr" presetSubtype="8" fill="hold" nodeType="afterEffect">
                                  <p:stCondLst>
                                    <p:cond delay="0"/>
                                  </p:stCondLst>
                                  <p:childTnLst>
                                    <p:set>
                                      <p:cBhvr>
                                        <p:cTn id="56" dur="1" fill="hold">
                                          <p:stCondLst>
                                            <p:cond delay="0"/>
                                          </p:stCondLst>
                                        </p:cTn>
                                        <p:tgtEl>
                                          <p:spTgt spid="42"/>
                                        </p:tgtEl>
                                        <p:attrNameLst>
                                          <p:attrName>style.visibility</p:attrName>
                                        </p:attrNameLst>
                                      </p:cBhvr>
                                      <p:to>
                                        <p:strVal val="visible"/>
                                      </p:to>
                                    </p:set>
                                    <p:animEffect transition="in" filter="wipe(left)">
                                      <p:cBhvr>
                                        <p:cTn id="57" dur="500"/>
                                        <p:tgtEl>
                                          <p:spTgt spid="42"/>
                                        </p:tgtEl>
                                      </p:cBhvr>
                                    </p:animEffect>
                                  </p:childTnLst>
                                </p:cTn>
                              </p:par>
                            </p:childTnLst>
                          </p:cTn>
                        </p:par>
                        <p:par>
                          <p:cTn id="58" fill="hold" nodeType="afterGroup">
                            <p:stCondLst>
                              <p:cond delay="1500"/>
                            </p:stCondLst>
                            <p:childTnLst>
                              <p:par>
                                <p:cTn id="59" presetID="22" presetClass="entr" presetSubtype="8" fill="hold" nodeType="afterEffect">
                                  <p:stCondLst>
                                    <p:cond delay="0"/>
                                  </p:stCondLst>
                                  <p:childTnLst>
                                    <p:set>
                                      <p:cBhvr>
                                        <p:cTn id="60" dur="1" fill="hold">
                                          <p:stCondLst>
                                            <p:cond delay="0"/>
                                          </p:stCondLst>
                                        </p:cTn>
                                        <p:tgtEl>
                                          <p:spTgt spid="44"/>
                                        </p:tgtEl>
                                        <p:attrNameLst>
                                          <p:attrName>style.visibility</p:attrName>
                                        </p:attrNameLst>
                                      </p:cBhvr>
                                      <p:to>
                                        <p:strVal val="visible"/>
                                      </p:to>
                                    </p:set>
                                    <p:animEffect transition="in" filter="wipe(left)">
                                      <p:cBhvr>
                                        <p:cTn id="61" dur="500"/>
                                        <p:tgtEl>
                                          <p:spTgt spid="44"/>
                                        </p:tgtEl>
                                      </p:cBhvr>
                                    </p:animEffect>
                                  </p:childTnLst>
                                </p:cTn>
                              </p:par>
                            </p:childTnLst>
                          </p:cTn>
                        </p:par>
                        <p:par>
                          <p:cTn id="62" fill="hold" nodeType="afterGroup">
                            <p:stCondLst>
                              <p:cond delay="2000"/>
                            </p:stCondLst>
                            <p:childTnLst>
                              <p:par>
                                <p:cTn id="63" presetID="22" presetClass="entr" presetSubtype="8" fill="hold" nodeType="afterEffect">
                                  <p:stCondLst>
                                    <p:cond delay="0"/>
                                  </p:stCondLst>
                                  <p:childTnLst>
                                    <p:set>
                                      <p:cBhvr>
                                        <p:cTn id="64" dur="1" fill="hold">
                                          <p:stCondLst>
                                            <p:cond delay="0"/>
                                          </p:stCondLst>
                                        </p:cTn>
                                        <p:tgtEl>
                                          <p:spTgt spid="41"/>
                                        </p:tgtEl>
                                        <p:attrNameLst>
                                          <p:attrName>style.visibility</p:attrName>
                                        </p:attrNameLst>
                                      </p:cBhvr>
                                      <p:to>
                                        <p:strVal val="visible"/>
                                      </p:to>
                                    </p:set>
                                    <p:animEffect transition="in" filter="wipe(left)">
                                      <p:cBhvr>
                                        <p:cTn id="65" dur="500"/>
                                        <p:tgtEl>
                                          <p:spTgt spid="41"/>
                                        </p:tgtEl>
                                      </p:cBhvr>
                                    </p:animEffect>
                                  </p:childTnLst>
                                </p:cTn>
                              </p:par>
                            </p:childTnLst>
                          </p:cTn>
                        </p:par>
                        <p:par>
                          <p:cTn id="66" fill="hold">
                            <p:stCondLst>
                              <p:cond delay="2500"/>
                            </p:stCondLst>
                            <p:childTnLst>
                              <p:par>
                                <p:cTn id="67" presetID="22" presetClass="entr" presetSubtype="8" fill="hold" grpId="0" nodeType="afterEffect">
                                  <p:stCondLst>
                                    <p:cond delay="0"/>
                                  </p:stCondLst>
                                  <p:childTnLst>
                                    <p:set>
                                      <p:cBhvr>
                                        <p:cTn id="68" dur="1" fill="hold">
                                          <p:stCondLst>
                                            <p:cond delay="0"/>
                                          </p:stCondLst>
                                        </p:cTn>
                                        <p:tgtEl>
                                          <p:spTgt spid="60419">
                                            <p:txEl>
                                              <p:pRg st="0" end="0"/>
                                            </p:txEl>
                                          </p:spTgt>
                                        </p:tgtEl>
                                        <p:attrNameLst>
                                          <p:attrName>style.visibility</p:attrName>
                                        </p:attrNameLst>
                                      </p:cBhvr>
                                      <p:to>
                                        <p:strVal val="visible"/>
                                      </p:to>
                                    </p:set>
                                    <p:animEffect transition="in" filter="wipe(left)">
                                      <p:cBhvr>
                                        <p:cTn id="69" dur="500"/>
                                        <p:tgtEl>
                                          <p:spTgt spid="6041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19"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p:txBody>
          <a:bodyPr/>
          <a:lstStyle/>
          <a:p>
            <a:r>
              <a:rPr lang="en-US" altLang="en-US" smtClean="0"/>
              <a:t>Regulation of Monopoly</a:t>
            </a:r>
          </a:p>
        </p:txBody>
      </p:sp>
      <p:sp>
        <p:nvSpPr>
          <p:cNvPr id="61443" name="Rectangle 3"/>
          <p:cNvSpPr>
            <a:spLocks noGrp="1" noChangeArrowheads="1"/>
          </p:cNvSpPr>
          <p:nvPr>
            <p:ph idx="1"/>
          </p:nvPr>
        </p:nvSpPr>
        <p:spPr/>
        <p:txBody>
          <a:bodyPr/>
          <a:lstStyle/>
          <a:p>
            <a:r>
              <a:rPr lang="en-US" altLang="en-US" dirty="0" err="1" smtClean="0"/>
              <a:t>Multiprice</a:t>
            </a:r>
            <a:r>
              <a:rPr lang="en-US" altLang="en-US" dirty="0" smtClean="0"/>
              <a:t> system (two-tier pricing)</a:t>
            </a:r>
          </a:p>
          <a:p>
            <a:pPr lvl="1"/>
            <a:r>
              <a:rPr lang="en-US" altLang="en-US" dirty="0" smtClean="0"/>
              <a:t>Charge some users a high price</a:t>
            </a:r>
          </a:p>
          <a:p>
            <a:pPr lvl="1"/>
            <a:r>
              <a:rPr lang="en-US" altLang="en-US" dirty="0" smtClean="0"/>
              <a:t>Maintain a low price for marginal users </a:t>
            </a:r>
          </a:p>
          <a:p>
            <a:r>
              <a:rPr lang="en-US" altLang="en-US" dirty="0" smtClean="0"/>
              <a:t>Rate of return regulation</a:t>
            </a:r>
          </a:p>
          <a:p>
            <a:pPr lvl="1"/>
            <a:r>
              <a:rPr lang="en-US" altLang="en-US" dirty="0" smtClean="0"/>
              <a:t>Allow the monopoly to charge a price above marginal cost</a:t>
            </a:r>
          </a:p>
          <a:p>
            <a:pPr lvl="1"/>
            <a:r>
              <a:rPr lang="en-US" altLang="en-US" dirty="0" smtClean="0"/>
              <a:t>That is sufficient to earn a “fair” rate of return on investment</a:t>
            </a:r>
          </a:p>
          <a:p>
            <a:endParaRPr lang="en-US" altLang="en-US" dirty="0" smtClean="0"/>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4E66CDAD-4B22-4813-B230-C6BDFCC0C0AA}" type="slidenum">
              <a:rPr lang="en-US" smtClean="0"/>
              <a:pPr>
                <a:defRPr/>
              </a:pPr>
              <a:t>53</a:t>
            </a:fld>
            <a:endParaRPr lang="en-US"/>
          </a:p>
        </p:txBody>
      </p:sp>
    </p:spTree>
    <p:extLst>
      <p:ext uri="{BB962C8B-B14F-4D97-AF65-F5344CB8AC3E}">
        <p14:creationId xmlns:p14="http://schemas.microsoft.com/office/powerpoint/2010/main" val="3426870180"/>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le 1"/>
          <p:cNvSpPr>
            <a:spLocks noGrp="1"/>
          </p:cNvSpPr>
          <p:nvPr>
            <p:ph type="title"/>
          </p:nvPr>
        </p:nvSpPr>
        <p:spPr bwMode="auto">
          <a:xfrm>
            <a:off x="1143000" y="-1"/>
            <a:ext cx="8001000" cy="10064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r>
              <a:rPr lang="en-US" altLang="en-US" dirty="0" smtClean="0"/>
              <a:t>14.8</a:t>
            </a:r>
            <a:r>
              <a:rPr lang="en-US" altLang="en-US" dirty="0"/>
              <a:t>	</a:t>
            </a:r>
            <a:r>
              <a:rPr lang="en-US" altLang="en-US" dirty="0" smtClean="0"/>
              <a:t>Two-Tier Pricing Schedule</a:t>
            </a:r>
            <a:endParaRPr lang="en-US" altLang="en-US" dirty="0" smtClean="0">
              <a:solidFill>
                <a:srgbClr val="002D56"/>
              </a:solidFill>
            </a:endParaRPr>
          </a:p>
        </p:txBody>
      </p:sp>
      <p:sp>
        <p:nvSpPr>
          <p:cNvPr id="60419" name="Text Placeholder 2"/>
          <p:cNvSpPr>
            <a:spLocks noGrp="1"/>
          </p:cNvSpPr>
          <p:nvPr>
            <p:ph sz="half" idx="1"/>
          </p:nvPr>
        </p:nvSpPr>
        <p:spPr>
          <a:xfrm>
            <a:off x="342900" y="5105400"/>
            <a:ext cx="8458200" cy="1219199"/>
          </a:xfrm>
        </p:spPr>
        <p:txBody>
          <a:bodyPr>
            <a:normAutofit/>
          </a:bodyPr>
          <a:lstStyle/>
          <a:p>
            <a:pPr>
              <a:spcBef>
                <a:spcPct val="0"/>
              </a:spcBef>
            </a:pPr>
            <a:r>
              <a:rPr lang="en-US" altLang="en-US" dirty="0" smtClean="0"/>
              <a:t>By charging a high price (P</a:t>
            </a:r>
            <a:r>
              <a:rPr lang="en-US" altLang="en-US" baseline="-25000" dirty="0" smtClean="0"/>
              <a:t>1</a:t>
            </a:r>
            <a:r>
              <a:rPr lang="en-US" altLang="en-US" dirty="0" smtClean="0"/>
              <a:t>) to some users and a low piece (P</a:t>
            </a:r>
            <a:r>
              <a:rPr lang="en-US" altLang="en-US" baseline="-25000" dirty="0" smtClean="0"/>
              <a:t>2</a:t>
            </a:r>
            <a:r>
              <a:rPr lang="en-US" altLang="en-US" dirty="0" smtClean="0"/>
              <a:t>) to others, it may be possible for a regulatory commission to (1) enforce marginal cost pricing and (2) create a situation where the profits from one class of users (P</a:t>
            </a:r>
            <a:r>
              <a:rPr lang="en-US" altLang="en-US" baseline="-25000" dirty="0" smtClean="0"/>
              <a:t>1</a:t>
            </a:r>
            <a:r>
              <a:rPr lang="en-US" altLang="en-US" dirty="0" smtClean="0"/>
              <a:t>DBA) subsidize the losses of the other class (BFEC)</a:t>
            </a:r>
            <a:endParaRPr lang="en-US" altLang="en-US" dirty="0"/>
          </a:p>
          <a:p>
            <a:pPr>
              <a:spcBef>
                <a:spcPct val="0"/>
              </a:spcBef>
            </a:pPr>
            <a:endParaRPr lang="en-US" altLang="en-US" dirty="0" smtClean="0"/>
          </a:p>
        </p:txBody>
      </p:sp>
      <p:sp>
        <p:nvSpPr>
          <p:cNvPr id="60422" name="Footer Placeholder 5"/>
          <p:cNvSpPr>
            <a:spLocks noGrp="1"/>
          </p:cNvSpPr>
          <p:nvPr>
            <p:ph type="ftr"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100" dirty="0" smtClean="0">
                <a:latin typeface="+mn-lt"/>
              </a:rPr>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p>
        </p:txBody>
      </p:sp>
      <p:sp>
        <p:nvSpPr>
          <p:cNvPr id="5" name="Slide Number Placeholder 4"/>
          <p:cNvSpPr>
            <a:spLocks noGrp="1"/>
          </p:cNvSpPr>
          <p:nvPr>
            <p:ph type="sldNum" sz="quarter" idx="11"/>
          </p:nvPr>
        </p:nvSpPr>
        <p:spPr/>
        <p:txBody>
          <a:bodyPr/>
          <a:lstStyle/>
          <a:p>
            <a:pPr>
              <a:defRPr/>
            </a:pPr>
            <a:fld id="{8327884C-808D-45BB-817B-0D28E588F92B}" type="slidenum">
              <a:rPr lang="en-US" smtClean="0"/>
              <a:pPr>
                <a:defRPr/>
              </a:pPr>
              <a:t>54</a:t>
            </a:fld>
            <a:endParaRPr lang="en-US" dirty="0"/>
          </a:p>
        </p:txBody>
      </p:sp>
      <p:grpSp>
        <p:nvGrpSpPr>
          <p:cNvPr id="15" name="Group 57"/>
          <p:cNvGrpSpPr>
            <a:grpSpLocks/>
          </p:cNvGrpSpPr>
          <p:nvPr/>
        </p:nvGrpSpPr>
        <p:grpSpPr bwMode="auto">
          <a:xfrm>
            <a:off x="1336675" y="976313"/>
            <a:ext cx="7807325" cy="4318073"/>
            <a:chOff x="1335974" y="976745"/>
            <a:chExt cx="7807325" cy="4318073"/>
          </a:xfrm>
        </p:grpSpPr>
        <p:grpSp>
          <p:nvGrpSpPr>
            <p:cNvPr id="60466" name="Group 37"/>
            <p:cNvGrpSpPr>
              <a:grpSpLocks/>
            </p:cNvGrpSpPr>
            <p:nvPr/>
          </p:nvGrpSpPr>
          <p:grpSpPr bwMode="auto">
            <a:xfrm>
              <a:off x="2097973" y="4558145"/>
              <a:ext cx="7045326" cy="736673"/>
              <a:chOff x="2097973" y="4558145"/>
              <a:chExt cx="7045326" cy="736673"/>
            </a:xfrm>
          </p:grpSpPr>
          <p:sp>
            <p:nvSpPr>
              <p:cNvPr id="60470" name="Line 4"/>
              <p:cNvSpPr>
                <a:spLocks noChangeShapeType="1"/>
              </p:cNvSpPr>
              <p:nvPr/>
            </p:nvSpPr>
            <p:spPr bwMode="auto">
              <a:xfrm>
                <a:off x="2097973" y="4558145"/>
                <a:ext cx="5978525"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0471" name="Text Box 5"/>
              <p:cNvSpPr txBox="1">
                <a:spLocks noChangeArrowheads="1"/>
              </p:cNvSpPr>
              <p:nvPr/>
            </p:nvSpPr>
            <p:spPr bwMode="auto">
              <a:xfrm>
                <a:off x="7748909" y="4590762"/>
                <a:ext cx="1394390" cy="704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dirty="0" smtClean="0"/>
                  <a:t>Quantity </a:t>
                </a:r>
              </a:p>
              <a:p>
                <a:pPr eaLnBrk="1" hangingPunct="1"/>
                <a:r>
                  <a:rPr lang="en-US" altLang="en-US" sz="1800" dirty="0" smtClean="0"/>
                  <a:t>per period</a:t>
                </a:r>
                <a:endParaRPr lang="en-US" altLang="en-US" sz="1800" dirty="0"/>
              </a:p>
            </p:txBody>
          </p:sp>
        </p:grpSp>
        <p:grpSp>
          <p:nvGrpSpPr>
            <p:cNvPr id="60467" name="Group 38"/>
            <p:cNvGrpSpPr>
              <a:grpSpLocks/>
            </p:cNvGrpSpPr>
            <p:nvPr/>
          </p:nvGrpSpPr>
          <p:grpSpPr bwMode="auto">
            <a:xfrm>
              <a:off x="1335974" y="976745"/>
              <a:ext cx="762000" cy="3581400"/>
              <a:chOff x="1335974" y="976745"/>
              <a:chExt cx="762000" cy="3581400"/>
            </a:xfrm>
          </p:grpSpPr>
          <p:sp>
            <p:nvSpPr>
              <p:cNvPr id="60468" name="Line 3"/>
              <p:cNvSpPr>
                <a:spLocks noChangeShapeType="1"/>
              </p:cNvSpPr>
              <p:nvPr/>
            </p:nvSpPr>
            <p:spPr bwMode="auto">
              <a:xfrm>
                <a:off x="2097974" y="1281545"/>
                <a:ext cx="0" cy="32766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0469" name="Text Box 6"/>
              <p:cNvSpPr txBox="1">
                <a:spLocks noChangeArrowheads="1"/>
              </p:cNvSpPr>
              <p:nvPr/>
            </p:nvSpPr>
            <p:spPr bwMode="auto">
              <a:xfrm>
                <a:off x="1335974" y="976745"/>
                <a:ext cx="7048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a:t>Price</a:t>
                </a:r>
              </a:p>
            </p:txBody>
          </p:sp>
        </p:grpSp>
      </p:grpSp>
      <p:grpSp>
        <p:nvGrpSpPr>
          <p:cNvPr id="34" name="Group 33"/>
          <p:cNvGrpSpPr>
            <a:grpSpLocks/>
          </p:cNvGrpSpPr>
          <p:nvPr/>
        </p:nvGrpSpPr>
        <p:grpSpPr bwMode="auto">
          <a:xfrm>
            <a:off x="2437039" y="1456811"/>
            <a:ext cx="5244305" cy="2926277"/>
            <a:chOff x="2366488" y="1884281"/>
            <a:chExt cx="5244305" cy="2926277"/>
          </a:xfrm>
        </p:grpSpPr>
        <p:sp>
          <p:nvSpPr>
            <p:cNvPr id="60464" name="Line 7"/>
            <p:cNvSpPr>
              <a:spLocks noChangeShapeType="1"/>
            </p:cNvSpPr>
            <p:nvPr/>
          </p:nvSpPr>
          <p:spPr bwMode="auto">
            <a:xfrm>
              <a:off x="2366488" y="1884281"/>
              <a:ext cx="4765674" cy="2619641"/>
            </a:xfrm>
            <a:prstGeom prst="line">
              <a:avLst/>
            </a:prstGeom>
            <a:noFill/>
            <a:ln w="28575">
              <a:solidFill>
                <a:srgbClr val="C00000"/>
              </a:solidFill>
              <a:round/>
              <a:headEnd/>
              <a:tailEnd/>
            </a:ln>
            <a:extLst>
              <a:ext uri="{909E8E84-426E-40DD-AFC4-6F175D3DCCD1}">
                <a14:hiddenFill xmlns:a14="http://schemas.microsoft.com/office/drawing/2010/main">
                  <a:noFill/>
                </a14:hiddenFill>
              </a:ext>
            </a:extLst>
          </p:spPr>
          <p:txBody>
            <a:bodyPr anchor="ctr"/>
            <a:lstStyle/>
            <a:p>
              <a:endParaRPr lang="en-US"/>
            </a:p>
          </p:txBody>
        </p:sp>
        <p:sp>
          <p:nvSpPr>
            <p:cNvPr id="60465" name="Text Box 9"/>
            <p:cNvSpPr txBox="1">
              <a:spLocks noChangeArrowheads="1"/>
            </p:cNvSpPr>
            <p:nvPr/>
          </p:nvSpPr>
          <p:spPr bwMode="auto">
            <a:xfrm>
              <a:off x="7132162" y="4383520"/>
              <a:ext cx="478631"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dirty="0">
                  <a:solidFill>
                    <a:srgbClr val="C00000"/>
                  </a:solidFill>
                </a:rPr>
                <a:t>D</a:t>
              </a:r>
            </a:p>
          </p:txBody>
        </p:sp>
      </p:grpSp>
      <p:grpSp>
        <p:nvGrpSpPr>
          <p:cNvPr id="36" name="Group 35"/>
          <p:cNvGrpSpPr>
            <a:grpSpLocks/>
          </p:cNvGrpSpPr>
          <p:nvPr/>
        </p:nvGrpSpPr>
        <p:grpSpPr bwMode="auto">
          <a:xfrm>
            <a:off x="2286000" y="1371600"/>
            <a:ext cx="6197600" cy="2201801"/>
            <a:chOff x="2215449" y="2027669"/>
            <a:chExt cx="6197600" cy="2201801"/>
          </a:xfrm>
        </p:grpSpPr>
        <p:sp>
          <p:nvSpPr>
            <p:cNvPr id="60460" name="Freeform 12"/>
            <p:cNvSpPr>
              <a:spLocks/>
            </p:cNvSpPr>
            <p:nvPr/>
          </p:nvSpPr>
          <p:spPr bwMode="auto">
            <a:xfrm>
              <a:off x="2215449" y="2027669"/>
              <a:ext cx="5638799" cy="2073275"/>
            </a:xfrm>
            <a:custGeom>
              <a:avLst/>
              <a:gdLst>
                <a:gd name="T0" fmla="*/ 0 w 2016"/>
                <a:gd name="T1" fmla="*/ 0 h 1680"/>
                <a:gd name="T2" fmla="*/ 1117600 w 2016"/>
                <a:gd name="T3" fmla="*/ 1828800 h 1680"/>
                <a:gd name="T4" fmla="*/ 3352800 w 2016"/>
                <a:gd name="T5" fmla="*/ 2667000 h 1680"/>
                <a:gd name="T6" fmla="*/ 0 60000 65536"/>
                <a:gd name="T7" fmla="*/ 0 60000 65536"/>
                <a:gd name="T8" fmla="*/ 0 60000 65536"/>
                <a:gd name="T9" fmla="*/ 0 w 2016"/>
                <a:gd name="T10" fmla="*/ 0 h 1680"/>
                <a:gd name="T11" fmla="*/ 2016 w 2016"/>
                <a:gd name="T12" fmla="*/ 1680 h 1680"/>
              </a:gdLst>
              <a:ahLst/>
              <a:cxnLst>
                <a:cxn ang="T6">
                  <a:pos x="T0" y="T1"/>
                </a:cxn>
                <a:cxn ang="T7">
                  <a:pos x="T2" y="T3"/>
                </a:cxn>
                <a:cxn ang="T8">
                  <a:pos x="T4" y="T5"/>
                </a:cxn>
              </a:cxnLst>
              <a:rect l="T9" t="T10" r="T11" b="T12"/>
              <a:pathLst>
                <a:path w="2016" h="1680">
                  <a:moveTo>
                    <a:pt x="0" y="0"/>
                  </a:moveTo>
                  <a:cubicBezTo>
                    <a:pt x="168" y="436"/>
                    <a:pt x="336" y="872"/>
                    <a:pt x="672" y="1152"/>
                  </a:cubicBezTo>
                  <a:cubicBezTo>
                    <a:pt x="1008" y="1432"/>
                    <a:pt x="1512" y="1556"/>
                    <a:pt x="2016" y="1680"/>
                  </a:cubicBezTo>
                </a:path>
              </a:pathLst>
            </a:custGeom>
            <a:noFill/>
            <a:ln w="28575" cap="flat" cmpd="sng">
              <a:solidFill>
                <a:srgbClr val="177B2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60461" name="Text Box 14"/>
            <p:cNvSpPr txBox="1">
              <a:spLocks noChangeArrowheads="1"/>
            </p:cNvSpPr>
            <p:nvPr/>
          </p:nvSpPr>
          <p:spPr bwMode="auto">
            <a:xfrm>
              <a:off x="7936799" y="3892920"/>
              <a:ext cx="4762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dirty="0">
                  <a:solidFill>
                    <a:srgbClr val="177B21"/>
                  </a:solidFill>
                </a:rPr>
                <a:t>AC</a:t>
              </a:r>
            </a:p>
          </p:txBody>
        </p:sp>
      </p:grpSp>
      <p:grpSp>
        <p:nvGrpSpPr>
          <p:cNvPr id="37" name="Group 36"/>
          <p:cNvGrpSpPr>
            <a:grpSpLocks/>
          </p:cNvGrpSpPr>
          <p:nvPr/>
        </p:nvGrpSpPr>
        <p:grpSpPr bwMode="auto">
          <a:xfrm>
            <a:off x="2473324" y="2073276"/>
            <a:ext cx="5796529" cy="1942852"/>
            <a:chOff x="2402773" y="2729345"/>
            <a:chExt cx="5796529" cy="1942852"/>
          </a:xfrm>
        </p:grpSpPr>
        <p:sp>
          <p:nvSpPr>
            <p:cNvPr id="60458" name="Freeform 13"/>
            <p:cNvSpPr>
              <a:spLocks/>
            </p:cNvSpPr>
            <p:nvPr/>
          </p:nvSpPr>
          <p:spPr bwMode="auto">
            <a:xfrm>
              <a:off x="2402773" y="2729345"/>
              <a:ext cx="5208019" cy="1784350"/>
            </a:xfrm>
            <a:custGeom>
              <a:avLst/>
              <a:gdLst>
                <a:gd name="T0" fmla="*/ 0 w 1680"/>
                <a:gd name="T1" fmla="*/ 0 h 1104"/>
                <a:gd name="T2" fmla="*/ 1018903 w 1680"/>
                <a:gd name="T3" fmla="*/ 1311965 h 1104"/>
                <a:gd name="T4" fmla="*/ 2971800 w 1680"/>
                <a:gd name="T5" fmla="*/ 1676400 h 1104"/>
                <a:gd name="T6" fmla="*/ 0 60000 65536"/>
                <a:gd name="T7" fmla="*/ 0 60000 65536"/>
                <a:gd name="T8" fmla="*/ 0 60000 65536"/>
                <a:gd name="T9" fmla="*/ 0 w 1680"/>
                <a:gd name="T10" fmla="*/ 0 h 1104"/>
                <a:gd name="T11" fmla="*/ 1680 w 1680"/>
                <a:gd name="T12" fmla="*/ 1104 h 1104"/>
              </a:gdLst>
              <a:ahLst/>
              <a:cxnLst>
                <a:cxn ang="T6">
                  <a:pos x="T0" y="T1"/>
                </a:cxn>
                <a:cxn ang="T7">
                  <a:pos x="T2" y="T3"/>
                </a:cxn>
                <a:cxn ang="T8">
                  <a:pos x="T4" y="T5"/>
                </a:cxn>
              </a:cxnLst>
              <a:rect l="T9" t="T10" r="T11" b="T12"/>
              <a:pathLst>
                <a:path w="1680" h="1104">
                  <a:moveTo>
                    <a:pt x="0" y="0"/>
                  </a:moveTo>
                  <a:cubicBezTo>
                    <a:pt x="148" y="340"/>
                    <a:pt x="296" y="680"/>
                    <a:pt x="576" y="864"/>
                  </a:cubicBezTo>
                  <a:cubicBezTo>
                    <a:pt x="856" y="1048"/>
                    <a:pt x="1268" y="1076"/>
                    <a:pt x="1680" y="1104"/>
                  </a:cubicBezTo>
                </a:path>
              </a:pathLst>
            </a:custGeom>
            <a:noFill/>
            <a:ln w="28575" cap="flat" cmpd="sng">
              <a:solidFill>
                <a:srgbClr val="5D0D8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60459" name="Text Box 15"/>
            <p:cNvSpPr txBox="1">
              <a:spLocks noChangeArrowheads="1"/>
            </p:cNvSpPr>
            <p:nvPr/>
          </p:nvSpPr>
          <p:spPr bwMode="auto">
            <a:xfrm>
              <a:off x="7699239" y="4335647"/>
              <a:ext cx="5000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dirty="0">
                  <a:solidFill>
                    <a:srgbClr val="5D0D8F"/>
                  </a:solidFill>
                </a:rPr>
                <a:t>MC</a:t>
              </a:r>
            </a:p>
          </p:txBody>
        </p:sp>
      </p:grpSp>
      <p:grpSp>
        <p:nvGrpSpPr>
          <p:cNvPr id="39" name="Group 44"/>
          <p:cNvGrpSpPr>
            <a:grpSpLocks/>
          </p:cNvGrpSpPr>
          <p:nvPr/>
        </p:nvGrpSpPr>
        <p:grpSpPr bwMode="auto">
          <a:xfrm>
            <a:off x="1658618" y="2255837"/>
            <a:ext cx="2524201" cy="304800"/>
            <a:chOff x="1681349" y="2568307"/>
            <a:chExt cx="2523169" cy="304800"/>
          </a:xfrm>
        </p:grpSpPr>
        <p:sp>
          <p:nvSpPr>
            <p:cNvPr id="60454" name="Line 19"/>
            <p:cNvSpPr>
              <a:spLocks noChangeShapeType="1"/>
            </p:cNvSpPr>
            <p:nvPr/>
          </p:nvSpPr>
          <p:spPr bwMode="auto">
            <a:xfrm flipH="1">
              <a:off x="2097973" y="2720707"/>
              <a:ext cx="2106545" cy="8638"/>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0455" name="Text Box 21"/>
            <p:cNvSpPr txBox="1">
              <a:spLocks noChangeArrowheads="1"/>
            </p:cNvSpPr>
            <p:nvPr/>
          </p:nvSpPr>
          <p:spPr bwMode="auto">
            <a:xfrm>
              <a:off x="1681349" y="2568307"/>
              <a:ext cx="36671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dirty="0" smtClean="0"/>
                <a:t>P</a:t>
              </a:r>
              <a:r>
                <a:rPr lang="en-US" altLang="en-US" sz="1800" baseline="-25000" dirty="0" smtClean="0"/>
                <a:t>1</a:t>
              </a:r>
              <a:endParaRPr lang="en-US" altLang="en-US" sz="1800" i="1" dirty="0"/>
            </a:p>
          </p:txBody>
        </p:sp>
      </p:grpSp>
      <p:grpSp>
        <p:nvGrpSpPr>
          <p:cNvPr id="40" name="Group 39"/>
          <p:cNvGrpSpPr>
            <a:grpSpLocks/>
          </p:cNvGrpSpPr>
          <p:nvPr/>
        </p:nvGrpSpPr>
        <p:grpSpPr bwMode="auto">
          <a:xfrm>
            <a:off x="3957638" y="2351088"/>
            <a:ext cx="385762" cy="2538412"/>
            <a:chOff x="3621974" y="2351314"/>
            <a:chExt cx="385763" cy="2538618"/>
          </a:xfrm>
        </p:grpSpPr>
        <p:sp>
          <p:nvSpPr>
            <p:cNvPr id="60452" name="Line 18"/>
            <p:cNvSpPr>
              <a:spLocks noChangeShapeType="1"/>
            </p:cNvSpPr>
            <p:nvPr/>
          </p:nvSpPr>
          <p:spPr bwMode="auto">
            <a:xfrm flipV="1">
              <a:off x="3850574" y="2351314"/>
              <a:ext cx="8908" cy="2206831"/>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nchor="ctr"/>
            <a:lstStyle/>
            <a:p>
              <a:endParaRPr lang="en-US"/>
            </a:p>
          </p:txBody>
        </p:sp>
        <p:sp>
          <p:nvSpPr>
            <p:cNvPr id="60453" name="Text Box 22"/>
            <p:cNvSpPr txBox="1">
              <a:spLocks noChangeArrowheads="1"/>
            </p:cNvSpPr>
            <p:nvPr/>
          </p:nvSpPr>
          <p:spPr bwMode="auto">
            <a:xfrm>
              <a:off x="3621974" y="4585132"/>
              <a:ext cx="3857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dirty="0" smtClean="0"/>
                <a:t>Q</a:t>
              </a:r>
              <a:r>
                <a:rPr lang="en-US" altLang="en-US" sz="1800" baseline="-25000" dirty="0" smtClean="0"/>
                <a:t>1</a:t>
              </a:r>
              <a:endParaRPr lang="en-US" altLang="en-US" sz="1800" i="1" dirty="0"/>
            </a:p>
          </p:txBody>
        </p:sp>
      </p:grpSp>
      <p:grpSp>
        <p:nvGrpSpPr>
          <p:cNvPr id="41" name="Group 42"/>
          <p:cNvGrpSpPr>
            <a:grpSpLocks/>
          </p:cNvGrpSpPr>
          <p:nvPr/>
        </p:nvGrpSpPr>
        <p:grpSpPr bwMode="auto">
          <a:xfrm>
            <a:off x="1706426" y="3149614"/>
            <a:ext cx="5105768" cy="304800"/>
            <a:chOff x="1681349" y="3699433"/>
            <a:chExt cx="5104663" cy="304800"/>
          </a:xfrm>
        </p:grpSpPr>
        <p:sp>
          <p:nvSpPr>
            <p:cNvPr id="60450" name="Line 30"/>
            <p:cNvSpPr>
              <a:spLocks noChangeShapeType="1"/>
            </p:cNvSpPr>
            <p:nvPr/>
          </p:nvSpPr>
          <p:spPr bwMode="auto">
            <a:xfrm flipH="1">
              <a:off x="2097973" y="3872345"/>
              <a:ext cx="4688039" cy="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nchor="ctr"/>
            <a:lstStyle/>
            <a:p>
              <a:endParaRPr lang="en-US"/>
            </a:p>
          </p:txBody>
        </p:sp>
        <p:sp>
          <p:nvSpPr>
            <p:cNvPr id="60451" name="Text Box 32"/>
            <p:cNvSpPr txBox="1">
              <a:spLocks noChangeArrowheads="1"/>
            </p:cNvSpPr>
            <p:nvPr/>
          </p:nvSpPr>
          <p:spPr bwMode="auto">
            <a:xfrm>
              <a:off x="1681349" y="3699433"/>
              <a:ext cx="37623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dirty="0" smtClean="0"/>
                <a:t>A</a:t>
              </a:r>
              <a:endParaRPr lang="en-US" altLang="en-US" sz="1800" i="1" dirty="0"/>
            </a:p>
          </p:txBody>
        </p:sp>
      </p:grpSp>
      <p:grpSp>
        <p:nvGrpSpPr>
          <p:cNvPr id="42" name="Group 41"/>
          <p:cNvGrpSpPr>
            <a:grpSpLocks/>
          </p:cNvGrpSpPr>
          <p:nvPr/>
        </p:nvGrpSpPr>
        <p:grpSpPr bwMode="auto">
          <a:xfrm>
            <a:off x="1689021" y="3610709"/>
            <a:ext cx="5086413" cy="304800"/>
            <a:chOff x="1681349" y="4232835"/>
            <a:chExt cx="5085381" cy="304800"/>
          </a:xfrm>
        </p:grpSpPr>
        <p:sp>
          <p:nvSpPr>
            <p:cNvPr id="60448" name="Text Box 28"/>
            <p:cNvSpPr txBox="1">
              <a:spLocks noChangeArrowheads="1"/>
            </p:cNvSpPr>
            <p:nvPr/>
          </p:nvSpPr>
          <p:spPr bwMode="auto">
            <a:xfrm>
              <a:off x="1681349" y="4232835"/>
              <a:ext cx="36671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dirty="0" smtClean="0"/>
                <a:t>P</a:t>
              </a:r>
              <a:r>
                <a:rPr lang="en-US" altLang="en-US" sz="1800" baseline="-25000" dirty="0" smtClean="0"/>
                <a:t>2</a:t>
              </a:r>
              <a:endParaRPr lang="en-US" altLang="en-US" sz="1800" i="1" dirty="0"/>
            </a:p>
          </p:txBody>
        </p:sp>
        <p:sp>
          <p:nvSpPr>
            <p:cNvPr id="60449" name="Line 29"/>
            <p:cNvSpPr>
              <a:spLocks noChangeShapeType="1"/>
            </p:cNvSpPr>
            <p:nvPr/>
          </p:nvSpPr>
          <p:spPr bwMode="auto">
            <a:xfrm flipH="1" flipV="1">
              <a:off x="2097974" y="4405747"/>
              <a:ext cx="4668756" cy="39566"/>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43" name="Group 40"/>
          <p:cNvGrpSpPr>
            <a:grpSpLocks/>
          </p:cNvGrpSpPr>
          <p:nvPr/>
        </p:nvGrpSpPr>
        <p:grpSpPr bwMode="auto">
          <a:xfrm>
            <a:off x="6585734" y="3236852"/>
            <a:ext cx="385763" cy="1645456"/>
            <a:chOff x="6467558" y="3236341"/>
            <a:chExt cx="385763" cy="1646397"/>
          </a:xfrm>
        </p:grpSpPr>
        <p:sp>
          <p:nvSpPr>
            <p:cNvPr id="60446" name="Line 26"/>
            <p:cNvSpPr>
              <a:spLocks noChangeShapeType="1"/>
            </p:cNvSpPr>
            <p:nvPr/>
          </p:nvSpPr>
          <p:spPr bwMode="auto">
            <a:xfrm flipH="1" flipV="1">
              <a:off x="6657258" y="3236341"/>
              <a:ext cx="6365" cy="1321802"/>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nchor="ctr"/>
            <a:lstStyle/>
            <a:p>
              <a:endParaRPr lang="en-US"/>
            </a:p>
          </p:txBody>
        </p:sp>
        <p:sp>
          <p:nvSpPr>
            <p:cNvPr id="60447" name="Text Box 31"/>
            <p:cNvSpPr txBox="1">
              <a:spLocks noChangeArrowheads="1"/>
            </p:cNvSpPr>
            <p:nvPr/>
          </p:nvSpPr>
          <p:spPr bwMode="auto">
            <a:xfrm>
              <a:off x="6467558" y="4577938"/>
              <a:ext cx="3857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dirty="0" smtClean="0"/>
                <a:t>Q</a:t>
              </a:r>
              <a:r>
                <a:rPr lang="en-US" altLang="en-US" sz="1800" baseline="-25000" dirty="0" smtClean="0"/>
                <a:t>2</a:t>
              </a:r>
              <a:endParaRPr lang="en-US" altLang="en-US" sz="1800" i="1" dirty="0"/>
            </a:p>
          </p:txBody>
        </p:sp>
      </p:grpSp>
      <p:grpSp>
        <p:nvGrpSpPr>
          <p:cNvPr id="44" name="Group 56"/>
          <p:cNvGrpSpPr>
            <a:grpSpLocks/>
          </p:cNvGrpSpPr>
          <p:nvPr/>
        </p:nvGrpSpPr>
        <p:grpSpPr bwMode="auto">
          <a:xfrm>
            <a:off x="6729413" y="2971800"/>
            <a:ext cx="433387" cy="382587"/>
            <a:chOff x="4906435" y="3575780"/>
            <a:chExt cx="433696" cy="382741"/>
          </a:xfrm>
        </p:grpSpPr>
        <p:sp>
          <p:nvSpPr>
            <p:cNvPr id="60444" name="Oval 9"/>
            <p:cNvSpPr>
              <a:spLocks noChangeArrowheads="1"/>
            </p:cNvSpPr>
            <p:nvPr/>
          </p:nvSpPr>
          <p:spPr bwMode="auto">
            <a:xfrm>
              <a:off x="4906435" y="3882215"/>
              <a:ext cx="76382" cy="76306"/>
            </a:xfrm>
            <a:prstGeom prst="ellipse">
              <a:avLst/>
            </a:prstGeom>
            <a:solidFill>
              <a:schemeClr val="tx1"/>
            </a:solidFill>
            <a:ln w="15875">
              <a:solidFill>
                <a:schemeClr val="tx1"/>
              </a:solidFill>
              <a:round/>
              <a:headEnd/>
              <a:tailEnd/>
            </a:ln>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sp>
          <p:nvSpPr>
            <p:cNvPr id="60445" name="Text Box 23"/>
            <p:cNvSpPr txBox="1">
              <a:spLocks noChangeArrowheads="1"/>
            </p:cNvSpPr>
            <p:nvPr/>
          </p:nvSpPr>
          <p:spPr bwMode="auto">
            <a:xfrm>
              <a:off x="4954367" y="3575780"/>
              <a:ext cx="385764"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a:t>F</a:t>
              </a:r>
            </a:p>
          </p:txBody>
        </p:sp>
      </p:grpSp>
      <p:sp>
        <p:nvSpPr>
          <p:cNvPr id="60443" name="Text Box 23"/>
          <p:cNvSpPr txBox="1">
            <a:spLocks noChangeArrowheads="1"/>
          </p:cNvSpPr>
          <p:nvPr/>
        </p:nvSpPr>
        <p:spPr bwMode="auto">
          <a:xfrm>
            <a:off x="4114800" y="3015697"/>
            <a:ext cx="385507" cy="337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dirty="0"/>
              <a:t>B</a:t>
            </a:r>
          </a:p>
        </p:txBody>
      </p:sp>
      <p:grpSp>
        <p:nvGrpSpPr>
          <p:cNvPr id="46" name="Group 56"/>
          <p:cNvGrpSpPr>
            <a:grpSpLocks/>
          </p:cNvGrpSpPr>
          <p:nvPr/>
        </p:nvGrpSpPr>
        <p:grpSpPr bwMode="auto">
          <a:xfrm>
            <a:off x="4167188" y="2032000"/>
            <a:ext cx="481012" cy="406400"/>
            <a:chOff x="4906435" y="3552029"/>
            <a:chExt cx="481192" cy="406492"/>
          </a:xfrm>
        </p:grpSpPr>
        <p:sp>
          <p:nvSpPr>
            <p:cNvPr id="60440" name="Oval 9"/>
            <p:cNvSpPr>
              <a:spLocks noChangeArrowheads="1"/>
            </p:cNvSpPr>
            <p:nvPr/>
          </p:nvSpPr>
          <p:spPr bwMode="auto">
            <a:xfrm>
              <a:off x="4906435" y="3882215"/>
              <a:ext cx="76382" cy="76306"/>
            </a:xfrm>
            <a:prstGeom prst="ellipse">
              <a:avLst/>
            </a:prstGeom>
            <a:solidFill>
              <a:schemeClr val="tx1"/>
            </a:solidFill>
            <a:ln w="15875">
              <a:solidFill>
                <a:schemeClr val="tx1"/>
              </a:solidFill>
              <a:round/>
              <a:headEnd/>
              <a:tailEnd/>
            </a:ln>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sp>
          <p:nvSpPr>
            <p:cNvPr id="60441" name="Text Box 23"/>
            <p:cNvSpPr txBox="1">
              <a:spLocks noChangeArrowheads="1"/>
            </p:cNvSpPr>
            <p:nvPr/>
          </p:nvSpPr>
          <p:spPr bwMode="auto">
            <a:xfrm>
              <a:off x="5001863" y="3552029"/>
              <a:ext cx="385764"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dirty="0" smtClean="0"/>
                <a:t>D</a:t>
              </a:r>
              <a:endParaRPr lang="en-US" altLang="en-US" sz="1800" i="1" dirty="0"/>
            </a:p>
          </p:txBody>
        </p:sp>
      </p:grpSp>
      <p:grpSp>
        <p:nvGrpSpPr>
          <p:cNvPr id="49" name="Group 56"/>
          <p:cNvGrpSpPr>
            <a:grpSpLocks/>
          </p:cNvGrpSpPr>
          <p:nvPr/>
        </p:nvGrpSpPr>
        <p:grpSpPr bwMode="auto">
          <a:xfrm>
            <a:off x="6400800" y="3805238"/>
            <a:ext cx="420687" cy="385762"/>
            <a:chOff x="4562530" y="3882215"/>
            <a:chExt cx="420287" cy="386375"/>
          </a:xfrm>
        </p:grpSpPr>
        <p:sp>
          <p:nvSpPr>
            <p:cNvPr id="60438" name="Oval 9"/>
            <p:cNvSpPr>
              <a:spLocks noChangeArrowheads="1"/>
            </p:cNvSpPr>
            <p:nvPr/>
          </p:nvSpPr>
          <p:spPr bwMode="auto">
            <a:xfrm>
              <a:off x="4906435" y="3882215"/>
              <a:ext cx="76382" cy="76306"/>
            </a:xfrm>
            <a:prstGeom prst="ellipse">
              <a:avLst/>
            </a:prstGeom>
            <a:solidFill>
              <a:schemeClr val="tx1"/>
            </a:solidFill>
            <a:ln w="15875">
              <a:solidFill>
                <a:schemeClr val="tx1"/>
              </a:solidFill>
              <a:round/>
              <a:headEnd/>
              <a:tailEnd/>
            </a:ln>
          </p:spPr>
          <p:txBody>
            <a:bodyPr anchor="ctr">
              <a:spAutoFit/>
            </a:bodyPr>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endParaRPr lang="en-US" altLang="en-US"/>
            </a:p>
          </p:txBody>
        </p:sp>
        <p:sp>
          <p:nvSpPr>
            <p:cNvPr id="60439" name="Text Box 23"/>
            <p:cNvSpPr txBox="1">
              <a:spLocks noChangeArrowheads="1"/>
            </p:cNvSpPr>
            <p:nvPr/>
          </p:nvSpPr>
          <p:spPr bwMode="auto">
            <a:xfrm>
              <a:off x="4562530" y="3932040"/>
              <a:ext cx="385764"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a:t>E</a:t>
              </a:r>
            </a:p>
          </p:txBody>
        </p:sp>
      </p:grpSp>
      <p:sp>
        <p:nvSpPr>
          <p:cNvPr id="55" name="Text Box 23"/>
          <p:cNvSpPr txBox="1">
            <a:spLocks noChangeArrowheads="1"/>
          </p:cNvSpPr>
          <p:nvPr/>
        </p:nvSpPr>
        <p:spPr bwMode="auto">
          <a:xfrm>
            <a:off x="3773977" y="3783621"/>
            <a:ext cx="385507" cy="337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lstStyle>
            <a:lvl1pPr eaLnBrk="0" hangingPunct="0">
              <a:defRPr sz="3400">
                <a:solidFill>
                  <a:schemeClr val="tx1"/>
                </a:solidFill>
                <a:latin typeface="Arial" charset="0"/>
                <a:cs typeface="Arial" charset="0"/>
              </a:defRPr>
            </a:lvl1pPr>
            <a:lvl2pPr marL="742950" indent="-285750" eaLnBrk="0" hangingPunct="0">
              <a:defRPr sz="3400">
                <a:solidFill>
                  <a:schemeClr val="tx1"/>
                </a:solidFill>
                <a:latin typeface="Arial" charset="0"/>
                <a:cs typeface="Arial" charset="0"/>
              </a:defRPr>
            </a:lvl2pPr>
            <a:lvl3pPr marL="1143000" indent="-228600" eaLnBrk="0" hangingPunct="0">
              <a:defRPr sz="3400">
                <a:solidFill>
                  <a:schemeClr val="tx1"/>
                </a:solidFill>
                <a:latin typeface="Arial" charset="0"/>
                <a:cs typeface="Arial" charset="0"/>
              </a:defRPr>
            </a:lvl3pPr>
            <a:lvl4pPr marL="1600200" indent="-228600" eaLnBrk="0" hangingPunct="0">
              <a:defRPr sz="3400">
                <a:solidFill>
                  <a:schemeClr val="tx1"/>
                </a:solidFill>
                <a:latin typeface="Arial" charset="0"/>
                <a:cs typeface="Arial" charset="0"/>
              </a:defRPr>
            </a:lvl4pPr>
            <a:lvl5pPr marL="2057400" indent="-228600" eaLnBrk="0" hangingPunct="0">
              <a:defRPr sz="3400">
                <a:solidFill>
                  <a:schemeClr val="tx1"/>
                </a:solidFill>
                <a:latin typeface="Arial" charset="0"/>
                <a:cs typeface="Arial" charset="0"/>
              </a:defRPr>
            </a:lvl5pPr>
            <a:lvl6pPr marL="2514600" indent="-228600" eaLnBrk="0" fontAlgn="base" hangingPunct="0">
              <a:spcBef>
                <a:spcPct val="0"/>
              </a:spcBef>
              <a:spcAft>
                <a:spcPct val="0"/>
              </a:spcAft>
              <a:defRPr sz="3400">
                <a:solidFill>
                  <a:schemeClr val="tx1"/>
                </a:solidFill>
                <a:latin typeface="Arial" charset="0"/>
                <a:cs typeface="Arial" charset="0"/>
              </a:defRPr>
            </a:lvl6pPr>
            <a:lvl7pPr marL="2971800" indent="-228600" eaLnBrk="0" fontAlgn="base" hangingPunct="0">
              <a:spcBef>
                <a:spcPct val="0"/>
              </a:spcBef>
              <a:spcAft>
                <a:spcPct val="0"/>
              </a:spcAft>
              <a:defRPr sz="3400">
                <a:solidFill>
                  <a:schemeClr val="tx1"/>
                </a:solidFill>
                <a:latin typeface="Arial" charset="0"/>
                <a:cs typeface="Arial" charset="0"/>
              </a:defRPr>
            </a:lvl7pPr>
            <a:lvl8pPr marL="3429000" indent="-228600" eaLnBrk="0" fontAlgn="base" hangingPunct="0">
              <a:spcBef>
                <a:spcPct val="0"/>
              </a:spcBef>
              <a:spcAft>
                <a:spcPct val="0"/>
              </a:spcAft>
              <a:defRPr sz="3400">
                <a:solidFill>
                  <a:schemeClr val="tx1"/>
                </a:solidFill>
                <a:latin typeface="Arial" charset="0"/>
                <a:cs typeface="Arial" charset="0"/>
              </a:defRPr>
            </a:lvl8pPr>
            <a:lvl9pPr marL="3886200" indent="-228600" eaLnBrk="0" fontAlgn="base" hangingPunct="0">
              <a:spcBef>
                <a:spcPct val="0"/>
              </a:spcBef>
              <a:spcAft>
                <a:spcPct val="0"/>
              </a:spcAft>
              <a:defRPr sz="3400">
                <a:solidFill>
                  <a:schemeClr val="tx1"/>
                </a:solidFill>
                <a:latin typeface="Arial" charset="0"/>
                <a:cs typeface="Arial" charset="0"/>
              </a:defRPr>
            </a:lvl9pPr>
          </a:lstStyle>
          <a:p>
            <a:pPr eaLnBrk="1" hangingPunct="1"/>
            <a:r>
              <a:rPr lang="en-US" altLang="en-US" sz="1800" i="1" dirty="0" smtClean="0"/>
              <a:t>C</a:t>
            </a:r>
            <a:endParaRPr lang="en-US" altLang="en-US" sz="1800" i="1" dirty="0"/>
          </a:p>
        </p:txBody>
      </p:sp>
    </p:spTree>
    <p:extLst>
      <p:ext uri="{BB962C8B-B14F-4D97-AF65-F5344CB8AC3E}">
        <p14:creationId xmlns:p14="http://schemas.microsoft.com/office/powerpoint/2010/main" val="34467203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500"/>
                                        <p:tgtEl>
                                          <p:spTgt spid="15"/>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left)">
                                      <p:cBhvr>
                                        <p:cTn id="11" dur="500"/>
                                        <p:tgtEl>
                                          <p:spTgt spid="34"/>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36"/>
                                        </p:tgtEl>
                                        <p:attrNameLst>
                                          <p:attrName>style.visibility</p:attrName>
                                        </p:attrNameLst>
                                      </p:cBhvr>
                                      <p:to>
                                        <p:strVal val="visible"/>
                                      </p:to>
                                    </p:set>
                                    <p:animEffect transition="in" filter="wipe(left)">
                                      <p:cBhvr>
                                        <p:cTn id="15" dur="500"/>
                                        <p:tgtEl>
                                          <p:spTgt spid="36"/>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37"/>
                                        </p:tgtEl>
                                        <p:attrNameLst>
                                          <p:attrName>style.visibility</p:attrName>
                                        </p:attrNameLst>
                                      </p:cBhvr>
                                      <p:to>
                                        <p:strVal val="visible"/>
                                      </p:to>
                                    </p:set>
                                    <p:animEffect transition="in" filter="wipe(left)">
                                      <p:cBhvr>
                                        <p:cTn id="19" dur="500"/>
                                        <p:tgtEl>
                                          <p:spTgt spid="37"/>
                                        </p:tgtEl>
                                      </p:cBhvr>
                                    </p:animEffect>
                                  </p:childTnLst>
                                </p:cTn>
                              </p:par>
                            </p:childTnLst>
                          </p:cTn>
                        </p:par>
                        <p:par>
                          <p:cTn id="20" fill="hold">
                            <p:stCondLst>
                              <p:cond delay="2000"/>
                            </p:stCondLst>
                            <p:childTnLst>
                              <p:par>
                                <p:cTn id="21" presetID="22" presetClass="entr" presetSubtype="8" fill="hold" nodeType="afterEffect">
                                  <p:stCondLst>
                                    <p:cond delay="0"/>
                                  </p:stCondLst>
                                  <p:childTnLst>
                                    <p:set>
                                      <p:cBhvr>
                                        <p:cTn id="22" dur="1" fill="hold">
                                          <p:stCondLst>
                                            <p:cond delay="0"/>
                                          </p:stCondLst>
                                        </p:cTn>
                                        <p:tgtEl>
                                          <p:spTgt spid="39"/>
                                        </p:tgtEl>
                                        <p:attrNameLst>
                                          <p:attrName>style.visibility</p:attrName>
                                        </p:attrNameLst>
                                      </p:cBhvr>
                                      <p:to>
                                        <p:strVal val="visible"/>
                                      </p:to>
                                    </p:set>
                                    <p:animEffect transition="in" filter="wipe(left)">
                                      <p:cBhvr>
                                        <p:cTn id="23" dur="500"/>
                                        <p:tgtEl>
                                          <p:spTgt spid="39"/>
                                        </p:tgtEl>
                                      </p:cBhvr>
                                    </p:animEffect>
                                  </p:childTnLst>
                                </p:cTn>
                              </p:par>
                            </p:childTnLst>
                          </p:cTn>
                        </p:par>
                        <p:par>
                          <p:cTn id="24" fill="hold">
                            <p:stCondLst>
                              <p:cond delay="2500"/>
                            </p:stCondLst>
                            <p:childTnLst>
                              <p:par>
                                <p:cTn id="25" presetID="22" presetClass="entr" presetSubtype="8" fill="hold" nodeType="afterEffect">
                                  <p:stCondLst>
                                    <p:cond delay="0"/>
                                  </p:stCondLst>
                                  <p:childTnLst>
                                    <p:set>
                                      <p:cBhvr>
                                        <p:cTn id="26" dur="1" fill="hold">
                                          <p:stCondLst>
                                            <p:cond delay="0"/>
                                          </p:stCondLst>
                                        </p:cTn>
                                        <p:tgtEl>
                                          <p:spTgt spid="46"/>
                                        </p:tgtEl>
                                        <p:attrNameLst>
                                          <p:attrName>style.visibility</p:attrName>
                                        </p:attrNameLst>
                                      </p:cBhvr>
                                      <p:to>
                                        <p:strVal val="visible"/>
                                      </p:to>
                                    </p:set>
                                    <p:animEffect transition="in" filter="wipe(left)">
                                      <p:cBhvr>
                                        <p:cTn id="27" dur="500"/>
                                        <p:tgtEl>
                                          <p:spTgt spid="46"/>
                                        </p:tgtEl>
                                      </p:cBhvr>
                                    </p:animEffect>
                                  </p:childTnLst>
                                </p:cTn>
                              </p:par>
                            </p:childTnLst>
                          </p:cTn>
                        </p:par>
                        <p:par>
                          <p:cTn id="28" fill="hold">
                            <p:stCondLst>
                              <p:cond delay="3000"/>
                            </p:stCondLst>
                            <p:childTnLst>
                              <p:par>
                                <p:cTn id="29" presetID="22" presetClass="entr" presetSubtype="1" fill="hold" nodeType="afterEffect">
                                  <p:stCondLst>
                                    <p:cond delay="0"/>
                                  </p:stCondLst>
                                  <p:childTnLst>
                                    <p:set>
                                      <p:cBhvr>
                                        <p:cTn id="30" dur="1" fill="hold">
                                          <p:stCondLst>
                                            <p:cond delay="0"/>
                                          </p:stCondLst>
                                        </p:cTn>
                                        <p:tgtEl>
                                          <p:spTgt spid="40"/>
                                        </p:tgtEl>
                                        <p:attrNameLst>
                                          <p:attrName>style.visibility</p:attrName>
                                        </p:attrNameLst>
                                      </p:cBhvr>
                                      <p:to>
                                        <p:strVal val="visible"/>
                                      </p:to>
                                    </p:set>
                                    <p:animEffect transition="in" filter="wipe(up)">
                                      <p:cBhvr>
                                        <p:cTn id="31" dur="500"/>
                                        <p:tgtEl>
                                          <p:spTgt spid="40"/>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49"/>
                                        </p:tgtEl>
                                        <p:attrNameLst>
                                          <p:attrName>style.visibility</p:attrName>
                                        </p:attrNameLst>
                                      </p:cBhvr>
                                      <p:to>
                                        <p:strVal val="visible"/>
                                      </p:to>
                                    </p:set>
                                    <p:animEffect transition="in" filter="wipe(left)">
                                      <p:cBhvr>
                                        <p:cTn id="36" dur="500"/>
                                        <p:tgtEl>
                                          <p:spTgt spid="49"/>
                                        </p:tgtEl>
                                      </p:cBhvr>
                                    </p:animEffect>
                                  </p:childTnLst>
                                </p:cTn>
                              </p:par>
                            </p:childTnLst>
                          </p:cTn>
                        </p:par>
                        <p:par>
                          <p:cTn id="37" fill="hold">
                            <p:stCondLst>
                              <p:cond delay="500"/>
                            </p:stCondLst>
                            <p:childTnLst>
                              <p:par>
                                <p:cTn id="38" presetID="22" presetClass="entr" presetSubtype="1" fill="hold" nodeType="afterEffect">
                                  <p:stCondLst>
                                    <p:cond delay="0"/>
                                  </p:stCondLst>
                                  <p:childTnLst>
                                    <p:set>
                                      <p:cBhvr>
                                        <p:cTn id="39" dur="1" fill="hold">
                                          <p:stCondLst>
                                            <p:cond delay="0"/>
                                          </p:stCondLst>
                                        </p:cTn>
                                        <p:tgtEl>
                                          <p:spTgt spid="43"/>
                                        </p:tgtEl>
                                        <p:attrNameLst>
                                          <p:attrName>style.visibility</p:attrName>
                                        </p:attrNameLst>
                                      </p:cBhvr>
                                      <p:to>
                                        <p:strVal val="visible"/>
                                      </p:to>
                                    </p:set>
                                    <p:animEffect transition="in" filter="wipe(up)">
                                      <p:cBhvr>
                                        <p:cTn id="40" dur="500"/>
                                        <p:tgtEl>
                                          <p:spTgt spid="43"/>
                                        </p:tgtEl>
                                      </p:cBhvr>
                                    </p:animEffect>
                                  </p:childTnLst>
                                </p:cTn>
                              </p:par>
                            </p:childTnLst>
                          </p:cTn>
                        </p:par>
                        <p:par>
                          <p:cTn id="41" fill="hold">
                            <p:stCondLst>
                              <p:cond delay="1000"/>
                            </p:stCondLst>
                            <p:childTnLst>
                              <p:par>
                                <p:cTn id="42" presetID="22" presetClass="entr" presetSubtype="8" fill="hold" nodeType="afterEffect">
                                  <p:stCondLst>
                                    <p:cond delay="0"/>
                                  </p:stCondLst>
                                  <p:childTnLst>
                                    <p:set>
                                      <p:cBhvr>
                                        <p:cTn id="43" dur="1" fill="hold">
                                          <p:stCondLst>
                                            <p:cond delay="0"/>
                                          </p:stCondLst>
                                        </p:cTn>
                                        <p:tgtEl>
                                          <p:spTgt spid="42"/>
                                        </p:tgtEl>
                                        <p:attrNameLst>
                                          <p:attrName>style.visibility</p:attrName>
                                        </p:attrNameLst>
                                      </p:cBhvr>
                                      <p:to>
                                        <p:strVal val="visible"/>
                                      </p:to>
                                    </p:set>
                                    <p:animEffect transition="in" filter="wipe(left)">
                                      <p:cBhvr>
                                        <p:cTn id="44" dur="500"/>
                                        <p:tgtEl>
                                          <p:spTgt spid="42"/>
                                        </p:tgtEl>
                                      </p:cBhvr>
                                    </p:animEffect>
                                  </p:childTnLst>
                                </p:cTn>
                              </p:par>
                            </p:childTnLst>
                          </p:cTn>
                        </p:par>
                        <p:par>
                          <p:cTn id="45" fill="hold">
                            <p:stCondLst>
                              <p:cond delay="1500"/>
                            </p:stCondLst>
                            <p:childTnLst>
                              <p:par>
                                <p:cTn id="46" presetID="22" presetClass="entr" presetSubtype="8" fill="hold" nodeType="afterEffect">
                                  <p:stCondLst>
                                    <p:cond delay="0"/>
                                  </p:stCondLst>
                                  <p:childTnLst>
                                    <p:set>
                                      <p:cBhvr>
                                        <p:cTn id="47" dur="1" fill="hold">
                                          <p:stCondLst>
                                            <p:cond delay="0"/>
                                          </p:stCondLst>
                                        </p:cTn>
                                        <p:tgtEl>
                                          <p:spTgt spid="44"/>
                                        </p:tgtEl>
                                        <p:attrNameLst>
                                          <p:attrName>style.visibility</p:attrName>
                                        </p:attrNameLst>
                                      </p:cBhvr>
                                      <p:to>
                                        <p:strVal val="visible"/>
                                      </p:to>
                                    </p:set>
                                    <p:animEffect transition="in" filter="wipe(left)">
                                      <p:cBhvr>
                                        <p:cTn id="48" dur="500"/>
                                        <p:tgtEl>
                                          <p:spTgt spid="44"/>
                                        </p:tgtEl>
                                      </p:cBhvr>
                                    </p:animEffect>
                                  </p:childTnLst>
                                </p:cTn>
                              </p:par>
                            </p:childTnLst>
                          </p:cTn>
                        </p:par>
                        <p:par>
                          <p:cTn id="49" fill="hold">
                            <p:stCondLst>
                              <p:cond delay="2000"/>
                            </p:stCondLst>
                            <p:childTnLst>
                              <p:par>
                                <p:cTn id="50" presetID="22" presetClass="entr" presetSubtype="8" fill="hold" nodeType="afterEffect">
                                  <p:stCondLst>
                                    <p:cond delay="0"/>
                                  </p:stCondLst>
                                  <p:childTnLst>
                                    <p:set>
                                      <p:cBhvr>
                                        <p:cTn id="51" dur="1" fill="hold">
                                          <p:stCondLst>
                                            <p:cond delay="0"/>
                                          </p:stCondLst>
                                        </p:cTn>
                                        <p:tgtEl>
                                          <p:spTgt spid="41"/>
                                        </p:tgtEl>
                                        <p:attrNameLst>
                                          <p:attrName>style.visibility</p:attrName>
                                        </p:attrNameLst>
                                      </p:cBhvr>
                                      <p:to>
                                        <p:strVal val="visible"/>
                                      </p:to>
                                    </p:set>
                                    <p:animEffect transition="in" filter="wipe(left)">
                                      <p:cBhvr>
                                        <p:cTn id="52" dur="500"/>
                                        <p:tgtEl>
                                          <p:spTgt spid="41"/>
                                        </p:tgtEl>
                                      </p:cBhvr>
                                    </p:animEffect>
                                  </p:childTnLst>
                                </p:cTn>
                              </p:par>
                            </p:childTnLst>
                          </p:cTn>
                        </p:par>
                        <p:par>
                          <p:cTn id="53" fill="hold">
                            <p:stCondLst>
                              <p:cond delay="2500"/>
                            </p:stCondLst>
                            <p:childTnLst>
                              <p:par>
                                <p:cTn id="54" presetID="22" presetClass="entr" presetSubtype="8" fill="hold" grpId="0" nodeType="afterEffect">
                                  <p:stCondLst>
                                    <p:cond delay="0"/>
                                  </p:stCondLst>
                                  <p:childTnLst>
                                    <p:set>
                                      <p:cBhvr>
                                        <p:cTn id="55" dur="1" fill="hold">
                                          <p:stCondLst>
                                            <p:cond delay="0"/>
                                          </p:stCondLst>
                                        </p:cTn>
                                        <p:tgtEl>
                                          <p:spTgt spid="60443"/>
                                        </p:tgtEl>
                                        <p:attrNameLst>
                                          <p:attrName>style.visibility</p:attrName>
                                        </p:attrNameLst>
                                      </p:cBhvr>
                                      <p:to>
                                        <p:strVal val="visible"/>
                                      </p:to>
                                    </p:set>
                                    <p:animEffect transition="in" filter="wipe(left)">
                                      <p:cBhvr>
                                        <p:cTn id="56" dur="500"/>
                                        <p:tgtEl>
                                          <p:spTgt spid="60443"/>
                                        </p:tgtEl>
                                      </p:cBhvr>
                                    </p:animEffect>
                                  </p:childTnLst>
                                </p:cTn>
                              </p:par>
                            </p:childTnLst>
                          </p:cTn>
                        </p:par>
                        <p:par>
                          <p:cTn id="57" fill="hold">
                            <p:stCondLst>
                              <p:cond delay="3000"/>
                            </p:stCondLst>
                            <p:childTnLst>
                              <p:par>
                                <p:cTn id="58" presetID="22" presetClass="entr" presetSubtype="8" fill="hold" grpId="0" nodeType="afterEffect">
                                  <p:stCondLst>
                                    <p:cond delay="0"/>
                                  </p:stCondLst>
                                  <p:childTnLst>
                                    <p:set>
                                      <p:cBhvr>
                                        <p:cTn id="59" dur="1" fill="hold">
                                          <p:stCondLst>
                                            <p:cond delay="0"/>
                                          </p:stCondLst>
                                        </p:cTn>
                                        <p:tgtEl>
                                          <p:spTgt spid="55"/>
                                        </p:tgtEl>
                                        <p:attrNameLst>
                                          <p:attrName>style.visibility</p:attrName>
                                        </p:attrNameLst>
                                      </p:cBhvr>
                                      <p:to>
                                        <p:strVal val="visible"/>
                                      </p:to>
                                    </p:set>
                                    <p:animEffect transition="in" filter="wipe(left)">
                                      <p:cBhvr>
                                        <p:cTn id="60" dur="500"/>
                                        <p:tgtEl>
                                          <p:spTgt spid="55"/>
                                        </p:tgtEl>
                                      </p:cBhvr>
                                    </p:animEffect>
                                  </p:childTnLst>
                                </p:cTn>
                              </p:par>
                            </p:childTnLst>
                          </p:cTn>
                        </p:par>
                        <p:par>
                          <p:cTn id="61" fill="hold">
                            <p:stCondLst>
                              <p:cond delay="3500"/>
                            </p:stCondLst>
                            <p:childTnLst>
                              <p:par>
                                <p:cTn id="62" presetID="22" presetClass="entr" presetSubtype="8" fill="hold" grpId="0" nodeType="afterEffect">
                                  <p:stCondLst>
                                    <p:cond delay="0"/>
                                  </p:stCondLst>
                                  <p:childTnLst>
                                    <p:set>
                                      <p:cBhvr>
                                        <p:cTn id="63" dur="1" fill="hold">
                                          <p:stCondLst>
                                            <p:cond delay="0"/>
                                          </p:stCondLst>
                                        </p:cTn>
                                        <p:tgtEl>
                                          <p:spTgt spid="60419">
                                            <p:txEl>
                                              <p:pRg st="0" end="0"/>
                                            </p:txEl>
                                          </p:spTgt>
                                        </p:tgtEl>
                                        <p:attrNameLst>
                                          <p:attrName>style.visibility</p:attrName>
                                        </p:attrNameLst>
                                      </p:cBhvr>
                                      <p:to>
                                        <p:strVal val="visible"/>
                                      </p:to>
                                    </p:set>
                                    <p:animEffect transition="in" filter="wipe(left)">
                                      <p:cBhvr>
                                        <p:cTn id="64" dur="500"/>
                                        <p:tgtEl>
                                          <p:spTgt spid="6041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19" grpId="0" build="p"/>
      <p:bldP spid="60443" grpId="0"/>
      <p:bldP spid="55"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p:cNvSpPr>
            <a:spLocks noGrp="1" noChangeArrowheads="1"/>
          </p:cNvSpPr>
          <p:nvPr>
            <p:ph type="title"/>
          </p:nvPr>
        </p:nvSpPr>
        <p:spPr/>
        <p:txBody>
          <a:bodyPr/>
          <a:lstStyle/>
          <a:p>
            <a:r>
              <a:rPr lang="en-US" altLang="en-US" dirty="0" smtClean="0"/>
              <a:t>Regulation of Monopoly</a:t>
            </a:r>
          </a:p>
        </p:txBody>
      </p:sp>
      <mc:AlternateContent xmlns:mc="http://schemas.openxmlformats.org/markup-compatibility/2006" xmlns:a14="http://schemas.microsoft.com/office/drawing/2010/main">
        <mc:Choice Requires="a14">
          <p:sp>
            <p:nvSpPr>
              <p:cNvPr id="11268" name="Rectangle 3"/>
              <p:cNvSpPr>
                <a:spLocks noGrp="1" noChangeArrowheads="1"/>
              </p:cNvSpPr>
              <p:nvPr>
                <p:ph idx="1"/>
              </p:nvPr>
            </p:nvSpPr>
            <p:spPr/>
            <p:txBody>
              <a:bodyPr/>
              <a:lstStyle/>
              <a:p>
                <a:r>
                  <a:rPr lang="en-US" altLang="en-US" dirty="0" smtClean="0"/>
                  <a:t>Production function of a regulated utility</a:t>
                </a:r>
              </a:p>
              <a:p>
                <a:pPr algn="ctr">
                  <a:buFontTx/>
                  <a:buNone/>
                </a:pPr>
                <a:r>
                  <a:rPr lang="en-US" altLang="en-US" sz="2800" i="1" dirty="0" smtClean="0">
                    <a:solidFill>
                      <a:srgbClr val="FF0000"/>
                    </a:solidFill>
                    <a:latin typeface="Times New Roman" pitchFamily="18" charset="0"/>
                    <a:cs typeface="Times New Roman" pitchFamily="18" charset="0"/>
                  </a:rPr>
                  <a:t>q</a:t>
                </a:r>
                <a:r>
                  <a:rPr lang="en-US" altLang="en-US" sz="2800" dirty="0" smtClean="0">
                    <a:solidFill>
                      <a:srgbClr val="FF0000"/>
                    </a:solidFill>
                    <a:latin typeface="Times New Roman" pitchFamily="18" charset="0"/>
                    <a:cs typeface="Times New Roman" pitchFamily="18" charset="0"/>
                  </a:rPr>
                  <a:t> = </a:t>
                </a:r>
                <a:r>
                  <a:rPr lang="en-US" altLang="en-US" sz="2800" i="1" dirty="0" smtClean="0">
                    <a:solidFill>
                      <a:srgbClr val="FF0000"/>
                    </a:solidFill>
                    <a:latin typeface="Times New Roman" pitchFamily="18" charset="0"/>
                    <a:cs typeface="Times New Roman" pitchFamily="18" charset="0"/>
                  </a:rPr>
                  <a:t>f</a:t>
                </a:r>
                <a:r>
                  <a:rPr lang="en-US" altLang="en-US" sz="2800" i="1" baseline="-25000" dirty="0" smtClean="0">
                    <a:solidFill>
                      <a:srgbClr val="FF0000"/>
                    </a:solidFill>
                    <a:latin typeface="Times New Roman" pitchFamily="18" charset="0"/>
                    <a:cs typeface="Times New Roman" pitchFamily="18" charset="0"/>
                  </a:rPr>
                  <a:t> </a:t>
                </a:r>
                <a:r>
                  <a:rPr lang="en-US" altLang="en-US" sz="2800" dirty="0" smtClean="0">
                    <a:solidFill>
                      <a:srgbClr val="FF0000"/>
                    </a:solidFill>
                    <a:latin typeface="Times New Roman" pitchFamily="18" charset="0"/>
                    <a:cs typeface="Times New Roman" pitchFamily="18" charset="0"/>
                  </a:rPr>
                  <a:t>(</a:t>
                </a:r>
                <a:r>
                  <a:rPr lang="en-US" altLang="en-US" sz="2800" i="1" dirty="0" err="1" smtClean="0">
                    <a:solidFill>
                      <a:srgbClr val="FF0000"/>
                    </a:solidFill>
                    <a:latin typeface="Times New Roman" pitchFamily="18" charset="0"/>
                    <a:cs typeface="Times New Roman" pitchFamily="18" charset="0"/>
                  </a:rPr>
                  <a:t>k</a:t>
                </a:r>
                <a:r>
                  <a:rPr lang="en-US" altLang="en-US" sz="2800" dirty="0" err="1" smtClean="0">
                    <a:solidFill>
                      <a:srgbClr val="FF0000"/>
                    </a:solidFill>
                    <a:latin typeface="Times New Roman" pitchFamily="18" charset="0"/>
                    <a:cs typeface="Times New Roman" pitchFamily="18" charset="0"/>
                  </a:rPr>
                  <a:t>,</a:t>
                </a:r>
                <a:r>
                  <a:rPr lang="en-US" altLang="en-US" sz="2800" i="1" dirty="0" err="1" smtClean="0">
                    <a:solidFill>
                      <a:srgbClr val="FF0000"/>
                    </a:solidFill>
                    <a:latin typeface="Times New Roman" pitchFamily="18" charset="0"/>
                    <a:cs typeface="Times New Roman" pitchFamily="18" charset="0"/>
                  </a:rPr>
                  <a:t>l</a:t>
                </a:r>
                <a:r>
                  <a:rPr lang="en-US" altLang="en-US" sz="2800" dirty="0" smtClean="0">
                    <a:solidFill>
                      <a:srgbClr val="FF0000"/>
                    </a:solidFill>
                    <a:latin typeface="Times New Roman" pitchFamily="18" charset="0"/>
                    <a:cs typeface="Times New Roman" pitchFamily="18" charset="0"/>
                  </a:rPr>
                  <a:t>)</a:t>
                </a:r>
              </a:p>
              <a:p>
                <a:pPr lvl="1"/>
                <a:r>
                  <a:rPr lang="en-US" altLang="en-US" dirty="0" smtClean="0"/>
                  <a:t>Actual rate of return on capital:</a:t>
                </a:r>
              </a:p>
              <a:p>
                <a:pPr marL="457200" lvl="1" indent="0">
                  <a:buNone/>
                </a:pPr>
                <a14:m>
                  <m:oMathPara xmlns:m="http://schemas.openxmlformats.org/officeDocument/2006/math">
                    <m:oMathParaPr>
                      <m:jc m:val="centerGroup"/>
                    </m:oMathParaPr>
                    <m:oMath xmlns:m="http://schemas.openxmlformats.org/officeDocument/2006/math">
                      <m:r>
                        <a:rPr lang="en-US" altLang="en-US" b="0" i="1" smtClean="0">
                          <a:solidFill>
                            <a:srgbClr val="C00000"/>
                          </a:solidFill>
                          <a:latin typeface="Cambria Math"/>
                        </a:rPr>
                        <m:t>𝑠</m:t>
                      </m:r>
                      <m:r>
                        <a:rPr lang="en-US" altLang="en-US" b="0" i="1" smtClean="0">
                          <a:solidFill>
                            <a:srgbClr val="C00000"/>
                          </a:solidFill>
                          <a:latin typeface="Cambria Math"/>
                        </a:rPr>
                        <m:t>=</m:t>
                      </m:r>
                      <m:f>
                        <m:fPr>
                          <m:ctrlPr>
                            <a:rPr lang="en-US" altLang="en-US" b="0" i="1" smtClean="0">
                              <a:solidFill>
                                <a:srgbClr val="C00000"/>
                              </a:solidFill>
                              <a:latin typeface="Cambria Math"/>
                            </a:rPr>
                          </m:ctrlPr>
                        </m:fPr>
                        <m:num>
                          <m:r>
                            <a:rPr lang="en-US" altLang="en-US" b="0" i="1" smtClean="0">
                              <a:solidFill>
                                <a:srgbClr val="C00000"/>
                              </a:solidFill>
                              <a:latin typeface="Cambria Math"/>
                            </a:rPr>
                            <m:t>𝑝𝑓</m:t>
                          </m:r>
                          <m:d>
                            <m:dPr>
                              <m:ctrlPr>
                                <a:rPr lang="en-US" altLang="en-US" b="0" i="1" smtClean="0">
                                  <a:solidFill>
                                    <a:srgbClr val="C00000"/>
                                  </a:solidFill>
                                  <a:latin typeface="Cambria Math"/>
                                </a:rPr>
                              </m:ctrlPr>
                            </m:dPr>
                            <m:e>
                              <m:r>
                                <a:rPr lang="en-US" altLang="en-US" b="0" i="1" smtClean="0">
                                  <a:solidFill>
                                    <a:srgbClr val="C00000"/>
                                  </a:solidFill>
                                  <a:latin typeface="Cambria Math"/>
                                </a:rPr>
                                <m:t>𝑘</m:t>
                              </m:r>
                              <m:r>
                                <a:rPr lang="en-US" altLang="en-US" b="0" i="1" smtClean="0">
                                  <a:solidFill>
                                    <a:srgbClr val="C00000"/>
                                  </a:solidFill>
                                  <a:latin typeface="Cambria Math"/>
                                </a:rPr>
                                <m:t>,</m:t>
                              </m:r>
                              <m:r>
                                <a:rPr lang="en-US" altLang="en-US" b="0" i="1" smtClean="0">
                                  <a:solidFill>
                                    <a:srgbClr val="C00000"/>
                                  </a:solidFill>
                                  <a:latin typeface="Cambria Math"/>
                                </a:rPr>
                                <m:t>𝑙</m:t>
                              </m:r>
                            </m:e>
                          </m:d>
                          <m:r>
                            <a:rPr lang="en-US" altLang="en-US" b="0" i="1" smtClean="0">
                              <a:solidFill>
                                <a:srgbClr val="C00000"/>
                              </a:solidFill>
                              <a:latin typeface="Cambria Math"/>
                            </a:rPr>
                            <m:t>−</m:t>
                          </m:r>
                          <m:r>
                            <a:rPr lang="en-US" altLang="en-US" b="0" i="1" smtClean="0">
                              <a:solidFill>
                                <a:srgbClr val="C00000"/>
                              </a:solidFill>
                              <a:latin typeface="Cambria Math"/>
                            </a:rPr>
                            <m:t>𝑤𝑙</m:t>
                          </m:r>
                        </m:num>
                        <m:den>
                          <m:r>
                            <a:rPr lang="en-US" altLang="en-US" b="0" i="1" smtClean="0">
                              <a:solidFill>
                                <a:srgbClr val="C00000"/>
                              </a:solidFill>
                              <a:latin typeface="Cambria Math"/>
                            </a:rPr>
                            <m:t>𝑘</m:t>
                          </m:r>
                        </m:den>
                      </m:f>
                    </m:oMath>
                  </m:oMathPara>
                </a14:m>
                <a:endParaRPr lang="en-US" altLang="en-US" dirty="0" smtClean="0"/>
              </a:p>
            </p:txBody>
          </p:sp>
        </mc:Choice>
        <mc:Fallback xmlns="">
          <p:sp>
            <p:nvSpPr>
              <p:cNvPr id="11268" name="Rectangle 3"/>
              <p:cNvSpPr>
                <a:spLocks noGrp="1" noRot="1" noChangeAspect="1" noMove="1" noResize="1" noEditPoints="1" noAdjustHandles="1" noChangeArrowheads="1" noChangeShapeType="1" noTextEdit="1"/>
              </p:cNvSpPr>
              <p:nvPr>
                <p:ph idx="1"/>
              </p:nvPr>
            </p:nvSpPr>
            <p:spPr>
              <a:blipFill rotWithShape="1">
                <a:blip r:embed="rId2"/>
                <a:stretch>
                  <a:fillRect l="-1786" t="-3024"/>
                </a:stretch>
              </a:blipFill>
            </p:spPr>
            <p:txBody>
              <a:bodyPr/>
              <a:lstStyle/>
              <a:p>
                <a:r>
                  <a:rPr lang="en-US">
                    <a:noFill/>
                  </a:rPr>
                  <a:t> </a:t>
                </a:r>
              </a:p>
            </p:txBody>
          </p:sp>
        </mc:Fallback>
      </mc:AlternateContent>
      <p:sp>
        <p:nvSpPr>
          <p:cNvPr id="6" name="Footer Placeholder 5"/>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5" name="Slide Number Placeholder 4"/>
          <p:cNvSpPr>
            <a:spLocks noGrp="1"/>
          </p:cNvSpPr>
          <p:nvPr>
            <p:ph type="sldNum" sz="quarter" idx="11"/>
          </p:nvPr>
        </p:nvSpPr>
        <p:spPr/>
        <p:txBody>
          <a:bodyPr/>
          <a:lstStyle/>
          <a:p>
            <a:pPr>
              <a:defRPr/>
            </a:pPr>
            <a:fld id="{97AF2849-10C2-4633-B3C5-C8F750A19B40}" type="slidenum">
              <a:rPr lang="en-US" smtClean="0"/>
              <a:pPr>
                <a:defRPr/>
              </a:pPr>
              <a:t>55</a:t>
            </a:fld>
            <a:endParaRPr lang="en-US"/>
          </a:p>
        </p:txBody>
      </p:sp>
      <mc:AlternateContent xmlns:mc="http://schemas.openxmlformats.org/markup-compatibility/2006" xmlns:a14="http://schemas.microsoft.com/office/drawing/2010/main">
        <mc:Choice Requires="a14">
          <p:sp>
            <p:nvSpPr>
              <p:cNvPr id="2" name="Text Placeholder 1"/>
              <p:cNvSpPr>
                <a:spLocks noGrp="1"/>
              </p:cNvSpPr>
              <p:nvPr>
                <p:ph type="body" sz="quarter" idx="12"/>
              </p:nvPr>
            </p:nvSpPr>
            <p:spPr>
              <a:xfrm>
                <a:off x="381000" y="3810000"/>
                <a:ext cx="8534400" cy="2438400"/>
              </a:xfrm>
            </p:spPr>
            <p:txBody>
              <a:bodyPr/>
              <a:lstStyle/>
              <a:p>
                <a:pPr lvl="1" eaLnBrk="0" hangingPunct="0">
                  <a:buFont typeface="Arial" charset="0"/>
                  <a:buChar char="–"/>
                  <a:defRPr/>
                </a:pPr>
                <a:r>
                  <a:rPr lang="en-US" i="1" kern="0" dirty="0" smtClean="0"/>
                  <a:t>s = </a:t>
                </a:r>
                <a14:m>
                  <m:oMath xmlns:m="http://schemas.openxmlformats.org/officeDocument/2006/math">
                    <m:acc>
                      <m:accPr>
                        <m:chr m:val="̅"/>
                        <m:ctrlPr>
                          <a:rPr lang="en-US" altLang="en-US" i="1" dirty="0">
                            <a:solidFill>
                              <a:srgbClr val="FF0000"/>
                            </a:solidFill>
                            <a:latin typeface="Cambria Math"/>
                            <a:cs typeface="Times New Roman" pitchFamily="18" charset="0"/>
                            <a:sym typeface="Symbol" pitchFamily="18" charset="2"/>
                          </a:rPr>
                        </m:ctrlPr>
                      </m:accPr>
                      <m:e>
                        <m:r>
                          <a:rPr lang="en-US" altLang="en-US" i="1" dirty="0">
                            <a:solidFill>
                              <a:srgbClr val="FF0000"/>
                            </a:solidFill>
                            <a:latin typeface="Cambria Math"/>
                            <a:cs typeface="Times New Roman" pitchFamily="18" charset="0"/>
                            <a:sym typeface="Symbol" pitchFamily="18" charset="2"/>
                          </a:rPr>
                          <m:t>𝑠</m:t>
                        </m:r>
                      </m:e>
                    </m:acc>
                  </m:oMath>
                </a14:m>
                <a:r>
                  <a:rPr lang="en-US" kern="0" dirty="0"/>
                  <a:t> (constrained by regulation)</a:t>
                </a:r>
              </a:p>
              <a:p>
                <a:pPr lvl="1" eaLnBrk="0" hangingPunct="0">
                  <a:buFont typeface="Arial" charset="0"/>
                  <a:buChar char="–"/>
                  <a:defRPr/>
                </a:pPr>
                <a:r>
                  <a:rPr lang="en-US" kern="0" dirty="0"/>
                  <a:t>Maximize profits</a:t>
                </a:r>
              </a:p>
              <a:p>
                <a:pPr algn="ctr" eaLnBrk="0" hangingPunct="0">
                  <a:buNone/>
                  <a:defRPr/>
                </a:pPr>
                <a:r>
                  <a:rPr lang="en-US" sz="2800" kern="0" dirty="0">
                    <a:solidFill>
                      <a:srgbClr val="FF0000"/>
                    </a:solidFill>
                    <a:latin typeface="Times New Roman" pitchFamily="18" charset="0"/>
                    <a:cs typeface="Times New Roman" pitchFamily="18" charset="0"/>
                    <a:sym typeface="Symbol" pitchFamily="18" charset="2"/>
                  </a:rPr>
                  <a:t> = </a:t>
                </a:r>
                <a:r>
                  <a:rPr lang="en-US" sz="2800" i="1" kern="0" dirty="0">
                    <a:solidFill>
                      <a:srgbClr val="FF0000"/>
                    </a:solidFill>
                    <a:latin typeface="Times New Roman" pitchFamily="18" charset="0"/>
                    <a:cs typeface="Times New Roman" pitchFamily="18" charset="0"/>
                    <a:sym typeface="Symbol" pitchFamily="18" charset="2"/>
                  </a:rPr>
                  <a:t>pf</a:t>
                </a:r>
                <a:r>
                  <a:rPr lang="en-US" sz="2800" i="1" kern="0" baseline="-25000" dirty="0">
                    <a:solidFill>
                      <a:srgbClr val="FF0000"/>
                    </a:solidFill>
                    <a:latin typeface="Times New Roman" pitchFamily="18" charset="0"/>
                    <a:cs typeface="Times New Roman" pitchFamily="18" charset="0"/>
                    <a:sym typeface="Symbol" pitchFamily="18" charset="2"/>
                  </a:rPr>
                  <a:t> </a:t>
                </a:r>
                <a:r>
                  <a:rPr lang="en-US" sz="2800" kern="0" dirty="0">
                    <a:solidFill>
                      <a:srgbClr val="FF0000"/>
                    </a:solidFill>
                    <a:latin typeface="Times New Roman" pitchFamily="18" charset="0"/>
                    <a:cs typeface="Times New Roman" pitchFamily="18" charset="0"/>
                    <a:sym typeface="Symbol" pitchFamily="18" charset="2"/>
                  </a:rPr>
                  <a:t>(</a:t>
                </a:r>
                <a:r>
                  <a:rPr lang="en-US" sz="2800" i="1" kern="0" dirty="0" err="1">
                    <a:solidFill>
                      <a:srgbClr val="FF0000"/>
                    </a:solidFill>
                    <a:latin typeface="Times New Roman" pitchFamily="18" charset="0"/>
                    <a:cs typeface="Times New Roman" pitchFamily="18" charset="0"/>
                    <a:sym typeface="Symbol" pitchFamily="18" charset="2"/>
                  </a:rPr>
                  <a:t>k</a:t>
                </a:r>
                <a:r>
                  <a:rPr lang="en-US" sz="2800" kern="0" dirty="0" err="1">
                    <a:solidFill>
                      <a:srgbClr val="FF0000"/>
                    </a:solidFill>
                    <a:latin typeface="Times New Roman" pitchFamily="18" charset="0"/>
                    <a:cs typeface="Times New Roman" pitchFamily="18" charset="0"/>
                    <a:sym typeface="Symbol" pitchFamily="18" charset="2"/>
                  </a:rPr>
                  <a:t>,</a:t>
                </a:r>
                <a:r>
                  <a:rPr lang="en-US" sz="2800" i="1" kern="0" dirty="0" err="1">
                    <a:solidFill>
                      <a:srgbClr val="FF0000"/>
                    </a:solidFill>
                    <a:latin typeface="Times New Roman" pitchFamily="18" charset="0"/>
                    <a:cs typeface="Times New Roman" pitchFamily="18" charset="0"/>
                    <a:sym typeface="Symbol" pitchFamily="18" charset="2"/>
                  </a:rPr>
                  <a:t>l</a:t>
                </a:r>
                <a:r>
                  <a:rPr lang="en-US" sz="2800" kern="0" dirty="0">
                    <a:solidFill>
                      <a:srgbClr val="FF0000"/>
                    </a:solidFill>
                    <a:latin typeface="Times New Roman" pitchFamily="18" charset="0"/>
                    <a:cs typeface="Times New Roman" pitchFamily="18" charset="0"/>
                    <a:sym typeface="Symbol" pitchFamily="18" charset="2"/>
                  </a:rPr>
                  <a:t>) – </a:t>
                </a:r>
                <a:r>
                  <a:rPr lang="en-US" sz="2800" i="1" kern="0" dirty="0" err="1">
                    <a:solidFill>
                      <a:srgbClr val="FF0000"/>
                    </a:solidFill>
                    <a:latin typeface="Times New Roman" pitchFamily="18" charset="0"/>
                    <a:cs typeface="Times New Roman" pitchFamily="18" charset="0"/>
                    <a:sym typeface="Symbol" pitchFamily="18" charset="2"/>
                  </a:rPr>
                  <a:t>wl</a:t>
                </a:r>
                <a:r>
                  <a:rPr lang="en-US" sz="2800" kern="0" dirty="0">
                    <a:solidFill>
                      <a:srgbClr val="FF0000"/>
                    </a:solidFill>
                    <a:latin typeface="Times New Roman" pitchFamily="18" charset="0"/>
                    <a:cs typeface="Times New Roman" pitchFamily="18" charset="0"/>
                    <a:sym typeface="Symbol" pitchFamily="18" charset="2"/>
                  </a:rPr>
                  <a:t> – </a:t>
                </a:r>
                <a:r>
                  <a:rPr lang="en-US" sz="2800" i="1" kern="0" dirty="0" err="1">
                    <a:solidFill>
                      <a:srgbClr val="FF0000"/>
                    </a:solidFill>
                    <a:latin typeface="Times New Roman" pitchFamily="18" charset="0"/>
                    <a:cs typeface="Times New Roman" pitchFamily="18" charset="0"/>
                    <a:sym typeface="Symbol" pitchFamily="18" charset="2"/>
                  </a:rPr>
                  <a:t>vk</a:t>
                </a:r>
                <a:endParaRPr lang="en-US" sz="2800" kern="0" dirty="0">
                  <a:solidFill>
                    <a:srgbClr val="FF0000"/>
                  </a:solidFill>
                  <a:latin typeface="Times New Roman" pitchFamily="18" charset="0"/>
                  <a:cs typeface="Times New Roman" pitchFamily="18" charset="0"/>
                  <a:sym typeface="Symbol" pitchFamily="18" charset="2"/>
                </a:endParaRPr>
              </a:p>
              <a:p>
                <a:pPr lvl="2" eaLnBrk="0" hangingPunct="0">
                  <a:buSzPct val="90000"/>
                  <a:buFontTx/>
                  <a:buChar char="•"/>
                  <a:defRPr/>
                </a:pPr>
                <a:r>
                  <a:rPr lang="en-US" kern="0" dirty="0">
                    <a:sym typeface="Symbol" pitchFamily="18" charset="2"/>
                  </a:rPr>
                  <a:t>Subject to </a:t>
                </a:r>
                <a:r>
                  <a:rPr lang="en-US" i="1" kern="0" dirty="0">
                    <a:sym typeface="Symbol" pitchFamily="18" charset="2"/>
                  </a:rPr>
                  <a:t>s = </a:t>
                </a:r>
                <a14:m>
                  <m:oMath xmlns:m="http://schemas.openxmlformats.org/officeDocument/2006/math">
                    <m:acc>
                      <m:accPr>
                        <m:chr m:val="̅"/>
                        <m:ctrlPr>
                          <a:rPr lang="en-US" i="1" kern="0" dirty="0" smtClean="0">
                            <a:latin typeface="Cambria Math"/>
                            <a:sym typeface="Symbol" pitchFamily="18" charset="2"/>
                          </a:rPr>
                        </m:ctrlPr>
                      </m:accPr>
                      <m:e>
                        <m:r>
                          <a:rPr lang="en-US" b="0" i="1" kern="0" dirty="0" smtClean="0">
                            <a:latin typeface="Cambria Math"/>
                            <a:sym typeface="Symbol" pitchFamily="18" charset="2"/>
                          </a:rPr>
                          <m:t>𝑠</m:t>
                        </m:r>
                      </m:e>
                    </m:acc>
                  </m:oMath>
                </a14:m>
                <a:endParaRPr lang="en-US" kern="0" dirty="0"/>
              </a:p>
            </p:txBody>
          </p:sp>
        </mc:Choice>
        <mc:Fallback xmlns="">
          <p:sp>
            <p:nvSpPr>
              <p:cNvPr id="2" name="Text Placeholder 1"/>
              <p:cNvSpPr>
                <a:spLocks noGrp="1" noRot="1" noChangeAspect="1" noMove="1" noResize="1" noEditPoints="1" noAdjustHandles="1" noChangeArrowheads="1" noChangeShapeType="1" noTextEdit="1"/>
              </p:cNvSpPr>
              <p:nvPr>
                <p:ph type="body" sz="quarter" idx="12"/>
              </p:nvPr>
            </p:nvSpPr>
            <p:spPr>
              <a:xfrm>
                <a:off x="381000" y="3810000"/>
                <a:ext cx="8534400" cy="2438400"/>
              </a:xfrm>
              <a:blipFill rotWithShape="1">
                <a:blip r:embed="rId3"/>
                <a:stretch>
                  <a:fillRect t="-3000"/>
                </a:stretch>
              </a:blipFill>
            </p:spPr>
            <p:txBody>
              <a:bodyPr/>
              <a:lstStyle/>
              <a:p>
                <a:r>
                  <a:rPr lang="en-US">
                    <a:noFill/>
                  </a:rPr>
                  <a:t> </a:t>
                </a:r>
              </a:p>
            </p:txBody>
          </p:sp>
        </mc:Fallback>
      </mc:AlternateContent>
    </p:spTree>
    <p:extLst>
      <p:ext uri="{BB962C8B-B14F-4D97-AF65-F5344CB8AC3E}">
        <p14:creationId xmlns:p14="http://schemas.microsoft.com/office/powerpoint/2010/main" val="98063075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animEffect transition="in" filter="wipe(left)">
                                      <p:cBhvr>
                                        <p:cTn id="11" dur="500"/>
                                        <p:tgtEl>
                                          <p:spTgt spid="2">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animEffect transition="in" filter="wipe(left)">
                                      <p:cBhvr>
                                        <p:cTn id="15" dur="500"/>
                                        <p:tgtEl>
                                          <p:spTgt spid="2">
                                            <p:txEl>
                                              <p:pRg st="2" end="2"/>
                                            </p:txEl>
                                          </p:spTgt>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animEffect transition="in" filter="wipe(left)">
                                      <p:cBhvr>
                                        <p:cTn id="19"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p:txBody>
          <a:bodyPr/>
          <a:lstStyle/>
          <a:p>
            <a:r>
              <a:rPr lang="en-US" altLang="en-US" dirty="0" smtClean="0"/>
              <a:t>Regulation of Monopoly</a:t>
            </a:r>
          </a:p>
        </p:txBody>
      </p:sp>
      <mc:AlternateContent xmlns:mc="http://schemas.openxmlformats.org/markup-compatibility/2006" xmlns:a14="http://schemas.microsoft.com/office/drawing/2010/main">
        <mc:Choice Requires="a14">
          <p:sp>
            <p:nvSpPr>
              <p:cNvPr id="62467" name="Rectangle 3"/>
              <p:cNvSpPr>
                <a:spLocks noGrp="1" noChangeArrowheads="1"/>
              </p:cNvSpPr>
              <p:nvPr>
                <p:ph idx="1"/>
              </p:nvPr>
            </p:nvSpPr>
            <p:spPr/>
            <p:txBody>
              <a:bodyPr/>
              <a:lstStyle/>
              <a:p>
                <a:r>
                  <a:rPr lang="en-US" altLang="en-US" dirty="0" smtClean="0">
                    <a:sym typeface="Symbol" pitchFamily="18" charset="2"/>
                  </a:rPr>
                  <a:t>The </a:t>
                </a:r>
                <a:r>
                  <a:rPr lang="en-US" altLang="en-US" dirty="0" err="1" smtClean="0">
                    <a:sym typeface="Symbol" pitchFamily="18" charset="2"/>
                  </a:rPr>
                  <a:t>Lagrangian</a:t>
                </a:r>
                <a:r>
                  <a:rPr lang="en-US" altLang="en-US" dirty="0" smtClean="0">
                    <a:sym typeface="Symbol" pitchFamily="18" charset="2"/>
                  </a:rPr>
                  <a:t> for this problem is</a:t>
                </a:r>
              </a:p>
              <a:p>
                <a:pPr algn="ctr">
                  <a:lnSpc>
                    <a:spcPct val="110000"/>
                  </a:lnSpc>
                  <a:buFontTx/>
                  <a:buNone/>
                </a:pPr>
                <a:r>
                  <a:rPr lang="en-US" altLang="en-US" sz="2800" b="1" dirty="0" smtClean="0">
                    <a:solidFill>
                      <a:srgbClr val="FF0000"/>
                    </a:solidFill>
                    <a:latin typeface="Arial Unicode MS" pitchFamily="34" charset="-128"/>
                    <a:ea typeface="Arial Unicode MS" pitchFamily="34" charset="-128"/>
                    <a:cs typeface="Arial Unicode MS" pitchFamily="34" charset="-128"/>
                    <a:sym typeface="Symbol" pitchFamily="18" charset="2"/>
                  </a:rPr>
                  <a:t>ℒ</a:t>
                </a:r>
                <a:r>
                  <a:rPr lang="en-US" altLang="en-US" sz="2800" dirty="0" smtClean="0">
                    <a:solidFill>
                      <a:srgbClr val="FF0000"/>
                    </a:solidFill>
                    <a:sym typeface="Symbol" pitchFamily="18" charset="2"/>
                  </a:rPr>
                  <a:t>  = </a:t>
                </a:r>
                <a:r>
                  <a:rPr lang="en-US" altLang="en-US" sz="2800" i="1" dirty="0" smtClean="0">
                    <a:solidFill>
                      <a:srgbClr val="FF0000"/>
                    </a:solidFill>
                    <a:latin typeface="Times New Roman" pitchFamily="18" charset="0"/>
                    <a:cs typeface="Times New Roman" pitchFamily="18" charset="0"/>
                    <a:sym typeface="Symbol" pitchFamily="18" charset="2"/>
                  </a:rPr>
                  <a:t>pf</a:t>
                </a:r>
                <a:r>
                  <a:rPr lang="en-US" altLang="en-US" sz="2800" i="1" baseline="-25000" dirty="0" smtClean="0">
                    <a:solidFill>
                      <a:srgbClr val="FF0000"/>
                    </a:solidFill>
                    <a:latin typeface="Times New Roman" pitchFamily="18" charset="0"/>
                    <a:cs typeface="Times New Roman" pitchFamily="18" charset="0"/>
                    <a:sym typeface="Symbol" pitchFamily="18" charset="2"/>
                  </a:rPr>
                  <a:t> </a:t>
                </a:r>
                <a:r>
                  <a:rPr lang="en-US" altLang="en-US" sz="2800" dirty="0" smtClean="0">
                    <a:solidFill>
                      <a:srgbClr val="FF0000"/>
                    </a:solidFill>
                    <a:latin typeface="Times New Roman" pitchFamily="18" charset="0"/>
                    <a:cs typeface="Times New Roman" pitchFamily="18" charset="0"/>
                    <a:sym typeface="Symbol" pitchFamily="18" charset="2"/>
                  </a:rPr>
                  <a:t>(</a:t>
                </a:r>
                <a:r>
                  <a:rPr lang="en-US" altLang="en-US" sz="2800" i="1" dirty="0" err="1" smtClean="0">
                    <a:solidFill>
                      <a:srgbClr val="FF0000"/>
                    </a:solidFill>
                    <a:latin typeface="Times New Roman" pitchFamily="18" charset="0"/>
                    <a:cs typeface="Times New Roman" pitchFamily="18" charset="0"/>
                    <a:sym typeface="Symbol" pitchFamily="18" charset="2"/>
                  </a:rPr>
                  <a:t>k</a:t>
                </a:r>
                <a:r>
                  <a:rPr lang="en-US" altLang="en-US" sz="2800" dirty="0" err="1" smtClean="0">
                    <a:solidFill>
                      <a:srgbClr val="FF0000"/>
                    </a:solidFill>
                    <a:latin typeface="Times New Roman" pitchFamily="18" charset="0"/>
                    <a:cs typeface="Times New Roman" pitchFamily="18" charset="0"/>
                    <a:sym typeface="Symbol" pitchFamily="18" charset="2"/>
                  </a:rPr>
                  <a:t>,</a:t>
                </a:r>
                <a:r>
                  <a:rPr lang="en-US" altLang="en-US" sz="2800" i="1" dirty="0" err="1" smtClean="0">
                    <a:solidFill>
                      <a:srgbClr val="FF0000"/>
                    </a:solidFill>
                    <a:latin typeface="Times New Roman" pitchFamily="18" charset="0"/>
                    <a:cs typeface="Times New Roman" pitchFamily="18" charset="0"/>
                    <a:sym typeface="Symbol" pitchFamily="18" charset="2"/>
                  </a:rPr>
                  <a:t>l</a:t>
                </a:r>
                <a:r>
                  <a:rPr lang="en-US" altLang="en-US" sz="2800" dirty="0" smtClean="0">
                    <a:solidFill>
                      <a:srgbClr val="FF0000"/>
                    </a:solidFill>
                    <a:latin typeface="Times New Roman" pitchFamily="18" charset="0"/>
                    <a:cs typeface="Times New Roman" pitchFamily="18" charset="0"/>
                    <a:sym typeface="Symbol" pitchFamily="18" charset="2"/>
                  </a:rPr>
                  <a:t>) – </a:t>
                </a:r>
                <a:r>
                  <a:rPr lang="en-US" altLang="en-US" sz="2800" i="1" dirty="0" err="1" smtClean="0">
                    <a:solidFill>
                      <a:srgbClr val="FF0000"/>
                    </a:solidFill>
                    <a:latin typeface="Times New Roman" pitchFamily="18" charset="0"/>
                    <a:cs typeface="Times New Roman" pitchFamily="18" charset="0"/>
                    <a:sym typeface="Symbol" pitchFamily="18" charset="2"/>
                  </a:rPr>
                  <a:t>wl</a:t>
                </a:r>
                <a:r>
                  <a:rPr lang="en-US" altLang="en-US" sz="2800" dirty="0" smtClean="0">
                    <a:solidFill>
                      <a:srgbClr val="FF0000"/>
                    </a:solidFill>
                    <a:latin typeface="Times New Roman" pitchFamily="18" charset="0"/>
                    <a:cs typeface="Times New Roman" pitchFamily="18" charset="0"/>
                    <a:sym typeface="Symbol" pitchFamily="18" charset="2"/>
                  </a:rPr>
                  <a:t> – </a:t>
                </a:r>
                <a:r>
                  <a:rPr lang="en-US" altLang="en-US" sz="2800" i="1" dirty="0" err="1" smtClean="0">
                    <a:solidFill>
                      <a:srgbClr val="FF0000"/>
                    </a:solidFill>
                    <a:latin typeface="Times New Roman" pitchFamily="18" charset="0"/>
                    <a:cs typeface="Times New Roman" pitchFamily="18" charset="0"/>
                    <a:sym typeface="Symbol" pitchFamily="18" charset="2"/>
                  </a:rPr>
                  <a:t>vk</a:t>
                </a:r>
                <a:r>
                  <a:rPr lang="en-US" altLang="en-US" sz="2800" dirty="0" smtClean="0">
                    <a:solidFill>
                      <a:srgbClr val="FF0000"/>
                    </a:solidFill>
                    <a:latin typeface="Times New Roman" pitchFamily="18" charset="0"/>
                    <a:cs typeface="Times New Roman" pitchFamily="18" charset="0"/>
                    <a:sym typeface="Symbol" pitchFamily="18" charset="2"/>
                  </a:rPr>
                  <a:t> + [</a:t>
                </a:r>
                <a:r>
                  <a:rPr lang="en-US" altLang="en-US" sz="2800" i="1" dirty="0" err="1" smtClean="0">
                    <a:solidFill>
                      <a:srgbClr val="FF0000"/>
                    </a:solidFill>
                    <a:latin typeface="Times New Roman" pitchFamily="18" charset="0"/>
                    <a:cs typeface="Times New Roman" pitchFamily="18" charset="0"/>
                    <a:sym typeface="Symbol" pitchFamily="18" charset="2"/>
                  </a:rPr>
                  <a:t>wl</a:t>
                </a:r>
                <a:r>
                  <a:rPr lang="en-US" altLang="en-US" sz="2800" dirty="0" smtClean="0">
                    <a:solidFill>
                      <a:srgbClr val="FF0000"/>
                    </a:solidFill>
                    <a:latin typeface="Times New Roman" pitchFamily="18" charset="0"/>
                    <a:cs typeface="Times New Roman" pitchFamily="18" charset="0"/>
                    <a:sym typeface="Symbol" pitchFamily="18" charset="2"/>
                  </a:rPr>
                  <a:t> + </a:t>
                </a:r>
                <a14:m>
                  <m:oMath xmlns:m="http://schemas.openxmlformats.org/officeDocument/2006/math">
                    <m:acc>
                      <m:accPr>
                        <m:chr m:val="̅"/>
                        <m:ctrlPr>
                          <a:rPr lang="en-US" altLang="en-US" sz="2800" i="1" dirty="0" smtClean="0">
                            <a:solidFill>
                              <a:srgbClr val="FF0000"/>
                            </a:solidFill>
                            <a:latin typeface="Cambria Math"/>
                            <a:cs typeface="Times New Roman" pitchFamily="18" charset="0"/>
                            <a:sym typeface="Symbol" pitchFamily="18" charset="2"/>
                          </a:rPr>
                        </m:ctrlPr>
                      </m:accPr>
                      <m:e>
                        <m:r>
                          <a:rPr lang="en-US" altLang="en-US" sz="2800" b="0" i="1" dirty="0" smtClean="0">
                            <a:solidFill>
                              <a:srgbClr val="FF0000"/>
                            </a:solidFill>
                            <a:latin typeface="Cambria Math"/>
                            <a:cs typeface="Times New Roman" pitchFamily="18" charset="0"/>
                            <a:sym typeface="Symbol" pitchFamily="18" charset="2"/>
                          </a:rPr>
                          <m:t>𝑠</m:t>
                        </m:r>
                      </m:e>
                    </m:acc>
                  </m:oMath>
                </a14:m>
                <a:r>
                  <a:rPr lang="en-US" altLang="en-US" sz="2800" i="1" dirty="0" smtClean="0">
                    <a:solidFill>
                      <a:srgbClr val="FF0000"/>
                    </a:solidFill>
                    <a:latin typeface="Times New Roman" pitchFamily="18" charset="0"/>
                    <a:cs typeface="Times New Roman" pitchFamily="18" charset="0"/>
                    <a:sym typeface="Symbol" pitchFamily="18" charset="2"/>
                  </a:rPr>
                  <a:t>k</a:t>
                </a:r>
                <a:r>
                  <a:rPr lang="en-US" altLang="en-US" sz="2800" dirty="0" smtClean="0">
                    <a:solidFill>
                      <a:srgbClr val="FF0000"/>
                    </a:solidFill>
                    <a:latin typeface="Times New Roman" pitchFamily="18" charset="0"/>
                    <a:cs typeface="Times New Roman" pitchFamily="18" charset="0"/>
                    <a:sym typeface="Symbol" pitchFamily="18" charset="2"/>
                  </a:rPr>
                  <a:t> – </a:t>
                </a:r>
                <a:r>
                  <a:rPr lang="en-US" altLang="en-US" sz="2800" i="1" dirty="0" smtClean="0">
                    <a:solidFill>
                      <a:srgbClr val="FF0000"/>
                    </a:solidFill>
                    <a:latin typeface="Times New Roman" pitchFamily="18" charset="0"/>
                    <a:cs typeface="Times New Roman" pitchFamily="18" charset="0"/>
                    <a:sym typeface="Symbol" pitchFamily="18" charset="2"/>
                  </a:rPr>
                  <a:t>pf</a:t>
                </a:r>
                <a:r>
                  <a:rPr lang="en-US" altLang="en-US" sz="2800" i="1" baseline="-25000" dirty="0" smtClean="0">
                    <a:solidFill>
                      <a:srgbClr val="FF0000"/>
                    </a:solidFill>
                    <a:latin typeface="Times New Roman" pitchFamily="18" charset="0"/>
                    <a:cs typeface="Times New Roman" pitchFamily="18" charset="0"/>
                    <a:sym typeface="Symbol" pitchFamily="18" charset="2"/>
                  </a:rPr>
                  <a:t> </a:t>
                </a:r>
                <a:r>
                  <a:rPr lang="en-US" altLang="en-US" sz="2800" dirty="0" smtClean="0">
                    <a:solidFill>
                      <a:srgbClr val="FF0000"/>
                    </a:solidFill>
                    <a:latin typeface="Times New Roman" pitchFamily="18" charset="0"/>
                    <a:cs typeface="Times New Roman" pitchFamily="18" charset="0"/>
                    <a:sym typeface="Symbol" pitchFamily="18" charset="2"/>
                  </a:rPr>
                  <a:t>(</a:t>
                </a:r>
                <a:r>
                  <a:rPr lang="en-US" altLang="en-US" sz="2800" i="1" dirty="0" err="1" smtClean="0">
                    <a:solidFill>
                      <a:srgbClr val="FF0000"/>
                    </a:solidFill>
                    <a:latin typeface="Times New Roman" pitchFamily="18" charset="0"/>
                    <a:cs typeface="Times New Roman" pitchFamily="18" charset="0"/>
                    <a:sym typeface="Symbol" pitchFamily="18" charset="2"/>
                  </a:rPr>
                  <a:t>k</a:t>
                </a:r>
                <a:r>
                  <a:rPr lang="en-US" altLang="en-US" sz="2800" dirty="0" err="1" smtClean="0">
                    <a:solidFill>
                      <a:srgbClr val="FF0000"/>
                    </a:solidFill>
                    <a:latin typeface="Times New Roman" pitchFamily="18" charset="0"/>
                    <a:cs typeface="Times New Roman" pitchFamily="18" charset="0"/>
                    <a:sym typeface="Symbol" pitchFamily="18" charset="2"/>
                  </a:rPr>
                  <a:t>,</a:t>
                </a:r>
                <a:r>
                  <a:rPr lang="en-US" altLang="en-US" sz="2800" i="1" dirty="0" err="1" smtClean="0">
                    <a:solidFill>
                      <a:srgbClr val="FF0000"/>
                    </a:solidFill>
                    <a:latin typeface="Times New Roman" pitchFamily="18" charset="0"/>
                    <a:cs typeface="Times New Roman" pitchFamily="18" charset="0"/>
                    <a:sym typeface="Symbol" pitchFamily="18" charset="2"/>
                  </a:rPr>
                  <a:t>l</a:t>
                </a:r>
                <a:r>
                  <a:rPr lang="en-US" altLang="en-US" sz="2800" dirty="0" smtClean="0">
                    <a:solidFill>
                      <a:srgbClr val="FF0000"/>
                    </a:solidFill>
                    <a:latin typeface="Times New Roman" pitchFamily="18" charset="0"/>
                    <a:cs typeface="Times New Roman" pitchFamily="18" charset="0"/>
                    <a:sym typeface="Symbol" pitchFamily="18" charset="2"/>
                  </a:rPr>
                  <a:t>)]</a:t>
                </a:r>
              </a:p>
              <a:p>
                <a:pPr lvl="1"/>
                <a:r>
                  <a:rPr lang="en-US" altLang="en-US" dirty="0" smtClean="0"/>
                  <a:t>If </a:t>
                </a:r>
                <a:r>
                  <a:rPr lang="en-US" altLang="en-US" dirty="0" smtClean="0">
                    <a:sym typeface="Symbol" pitchFamily="18" charset="2"/>
                  </a:rPr>
                  <a:t>=0, regulation is ineffective and the monopoly behaves like any profit-maximizing firm</a:t>
                </a:r>
              </a:p>
              <a:p>
                <a:pPr lvl="1"/>
                <a:r>
                  <a:rPr lang="en-US" altLang="en-US" dirty="0" smtClean="0"/>
                  <a:t>If </a:t>
                </a:r>
                <a:r>
                  <a:rPr lang="en-US" altLang="en-US" dirty="0" smtClean="0">
                    <a:sym typeface="Symbol" pitchFamily="18" charset="2"/>
                  </a:rPr>
                  <a:t>=1, the </a:t>
                </a:r>
                <a:r>
                  <a:rPr lang="en-US" altLang="en-US" dirty="0" err="1" smtClean="0">
                    <a:sym typeface="Symbol" pitchFamily="18" charset="2"/>
                  </a:rPr>
                  <a:t>Lagrangian</a:t>
                </a:r>
                <a:r>
                  <a:rPr lang="en-US" altLang="en-US" dirty="0" smtClean="0">
                    <a:sym typeface="Symbol" pitchFamily="18" charset="2"/>
                  </a:rPr>
                  <a:t> reduces to</a:t>
                </a:r>
              </a:p>
              <a:p>
                <a:pPr algn="ctr">
                  <a:buFontTx/>
                  <a:buNone/>
                </a:pPr>
                <a:r>
                  <a:rPr lang="en-US" altLang="en-US" sz="2800" b="1" dirty="0" smtClean="0">
                    <a:solidFill>
                      <a:srgbClr val="FF0000"/>
                    </a:solidFill>
                    <a:latin typeface="Arial Unicode MS" pitchFamily="34" charset="-128"/>
                    <a:ea typeface="Arial Unicode MS" pitchFamily="34" charset="-128"/>
                    <a:cs typeface="Arial Unicode MS" pitchFamily="34" charset="-128"/>
                    <a:sym typeface="Symbol" pitchFamily="18" charset="2"/>
                  </a:rPr>
                  <a:t>ℒ </a:t>
                </a:r>
                <a:r>
                  <a:rPr lang="en-US" altLang="en-US" sz="2800" dirty="0" smtClean="0">
                    <a:solidFill>
                      <a:srgbClr val="FF0000"/>
                    </a:solidFill>
                    <a:sym typeface="Symbol" pitchFamily="18" charset="2"/>
                  </a:rPr>
                  <a:t> = </a:t>
                </a:r>
                <a:r>
                  <a:rPr lang="en-US" altLang="en-US" sz="2800" dirty="0" smtClean="0">
                    <a:solidFill>
                      <a:srgbClr val="FF0000"/>
                    </a:solidFill>
                    <a:latin typeface="Times New Roman" pitchFamily="18" charset="0"/>
                    <a:cs typeface="Times New Roman" pitchFamily="18" charset="0"/>
                    <a:sym typeface="Symbol" pitchFamily="18" charset="2"/>
                  </a:rPr>
                  <a:t>(</a:t>
                </a:r>
                <a14:m>
                  <m:oMath xmlns:m="http://schemas.openxmlformats.org/officeDocument/2006/math">
                    <m:acc>
                      <m:accPr>
                        <m:chr m:val="̅"/>
                        <m:ctrlPr>
                          <a:rPr lang="en-US" altLang="en-US" sz="2800" i="1" dirty="0">
                            <a:solidFill>
                              <a:srgbClr val="FF0000"/>
                            </a:solidFill>
                            <a:latin typeface="Cambria Math"/>
                            <a:cs typeface="Times New Roman" pitchFamily="18" charset="0"/>
                            <a:sym typeface="Symbol" pitchFamily="18" charset="2"/>
                          </a:rPr>
                        </m:ctrlPr>
                      </m:accPr>
                      <m:e>
                        <m:r>
                          <a:rPr lang="en-US" altLang="en-US" sz="2800" i="1" dirty="0">
                            <a:solidFill>
                              <a:srgbClr val="FF0000"/>
                            </a:solidFill>
                            <a:latin typeface="Cambria Math"/>
                            <a:cs typeface="Times New Roman" pitchFamily="18" charset="0"/>
                            <a:sym typeface="Symbol" pitchFamily="18" charset="2"/>
                          </a:rPr>
                          <m:t>𝑠</m:t>
                        </m:r>
                      </m:e>
                    </m:acc>
                  </m:oMath>
                </a14:m>
                <a:r>
                  <a:rPr lang="en-US" altLang="en-US" sz="2800" dirty="0" smtClean="0">
                    <a:solidFill>
                      <a:srgbClr val="FF0000"/>
                    </a:solidFill>
                    <a:latin typeface="Times New Roman" pitchFamily="18" charset="0"/>
                    <a:cs typeface="Times New Roman" pitchFamily="18" charset="0"/>
                    <a:sym typeface="Symbol" pitchFamily="18" charset="2"/>
                  </a:rPr>
                  <a:t> – </a:t>
                </a:r>
                <a:r>
                  <a:rPr lang="en-US" altLang="en-US" sz="2800" i="1" dirty="0" smtClean="0">
                    <a:solidFill>
                      <a:srgbClr val="FF0000"/>
                    </a:solidFill>
                    <a:latin typeface="Times New Roman" pitchFamily="18" charset="0"/>
                    <a:cs typeface="Times New Roman" pitchFamily="18" charset="0"/>
                    <a:sym typeface="Symbol" pitchFamily="18" charset="2"/>
                  </a:rPr>
                  <a:t>v</a:t>
                </a:r>
                <a:r>
                  <a:rPr lang="en-US" altLang="en-US" sz="2800" dirty="0" smtClean="0">
                    <a:solidFill>
                      <a:srgbClr val="FF0000"/>
                    </a:solidFill>
                    <a:latin typeface="Times New Roman" pitchFamily="18" charset="0"/>
                    <a:cs typeface="Times New Roman" pitchFamily="18" charset="0"/>
                    <a:sym typeface="Symbol" pitchFamily="18" charset="2"/>
                  </a:rPr>
                  <a:t>)</a:t>
                </a:r>
                <a:r>
                  <a:rPr lang="en-US" altLang="en-US" sz="2800" i="1" dirty="0" smtClean="0">
                    <a:solidFill>
                      <a:srgbClr val="FF0000"/>
                    </a:solidFill>
                    <a:latin typeface="Times New Roman" pitchFamily="18" charset="0"/>
                    <a:cs typeface="Times New Roman" pitchFamily="18" charset="0"/>
                    <a:sym typeface="Symbol" pitchFamily="18" charset="2"/>
                  </a:rPr>
                  <a:t>k</a:t>
                </a:r>
                <a:endParaRPr lang="en-US" altLang="en-US" sz="2800" dirty="0" smtClean="0">
                  <a:solidFill>
                    <a:srgbClr val="FF0000"/>
                  </a:solidFill>
                  <a:latin typeface="Times New Roman" pitchFamily="18" charset="0"/>
                  <a:cs typeface="Times New Roman" pitchFamily="18" charset="0"/>
                  <a:sym typeface="Symbol" pitchFamily="18" charset="2"/>
                </a:endParaRPr>
              </a:p>
              <a:p>
                <a:pPr lvl="2"/>
                <a:r>
                  <a:rPr lang="en-US" altLang="en-US" dirty="0" smtClean="0">
                    <a:sym typeface="Symbol" pitchFamily="18" charset="2"/>
                  </a:rPr>
                  <a:t>The monopoly will hire infinite amounts of capital if </a:t>
                </a:r>
                <a14:m>
                  <m:oMath xmlns:m="http://schemas.openxmlformats.org/officeDocument/2006/math">
                    <m:acc>
                      <m:accPr>
                        <m:chr m:val="̅"/>
                        <m:ctrlPr>
                          <a:rPr lang="en-US" altLang="en-US" i="1" dirty="0">
                            <a:solidFill>
                              <a:srgbClr val="FF0000"/>
                            </a:solidFill>
                            <a:latin typeface="Cambria Math"/>
                            <a:cs typeface="Times New Roman" pitchFamily="18" charset="0"/>
                            <a:sym typeface="Symbol" pitchFamily="18" charset="2"/>
                          </a:rPr>
                        </m:ctrlPr>
                      </m:accPr>
                      <m:e>
                        <m:r>
                          <a:rPr lang="en-US" altLang="en-US" i="1" dirty="0">
                            <a:solidFill>
                              <a:srgbClr val="FF0000"/>
                            </a:solidFill>
                            <a:latin typeface="Cambria Math"/>
                            <a:cs typeface="Times New Roman" pitchFamily="18" charset="0"/>
                            <a:sym typeface="Symbol" pitchFamily="18" charset="2"/>
                          </a:rPr>
                          <m:t>𝑠</m:t>
                        </m:r>
                      </m:e>
                    </m:acc>
                    <m:r>
                      <a:rPr lang="en-US" altLang="en-US" i="1" dirty="0">
                        <a:solidFill>
                          <a:srgbClr val="FF0000"/>
                        </a:solidFill>
                        <a:latin typeface="Cambria Math"/>
                        <a:cs typeface="Times New Roman" pitchFamily="18" charset="0"/>
                        <a:sym typeface="Symbol" pitchFamily="18" charset="2"/>
                      </a:rPr>
                      <m:t> </m:t>
                    </m:r>
                  </m:oMath>
                </a14:m>
                <a:r>
                  <a:rPr lang="en-US" altLang="en-US" dirty="0" smtClean="0">
                    <a:sym typeface="Symbol" pitchFamily="18" charset="2"/>
                  </a:rPr>
                  <a:t>&gt;</a:t>
                </a:r>
                <a:r>
                  <a:rPr lang="en-US" altLang="en-US" i="1" dirty="0" smtClean="0">
                    <a:sym typeface="Symbol" pitchFamily="18" charset="2"/>
                  </a:rPr>
                  <a:t>v</a:t>
                </a:r>
                <a:endParaRPr lang="en-US" altLang="en-US" dirty="0" smtClean="0">
                  <a:sym typeface="Symbol" pitchFamily="18" charset="2"/>
                </a:endParaRPr>
              </a:p>
            </p:txBody>
          </p:sp>
        </mc:Choice>
        <mc:Fallback xmlns="">
          <p:sp>
            <p:nvSpPr>
              <p:cNvPr id="62467" name="Rectangle 3"/>
              <p:cNvSpPr>
                <a:spLocks noGrp="1" noRot="1" noChangeAspect="1" noMove="1" noResize="1" noEditPoints="1" noAdjustHandles="1" noChangeArrowheads="1" noChangeShapeType="1" noTextEdit="1"/>
              </p:cNvSpPr>
              <p:nvPr>
                <p:ph idx="1"/>
              </p:nvPr>
            </p:nvSpPr>
            <p:spPr>
              <a:blipFill rotWithShape="1">
                <a:blip r:embed="rId2"/>
                <a:stretch>
                  <a:fillRect l="-1786" t="-1647" r="-1857"/>
                </a:stretch>
              </a:blipFill>
            </p:spPr>
            <p:txBody>
              <a:bodyPr/>
              <a:lstStyle/>
              <a:p>
                <a:r>
                  <a:rPr lang="en-US">
                    <a:noFill/>
                  </a:rPr>
                  <a:t> </a:t>
                </a:r>
              </a:p>
            </p:txBody>
          </p:sp>
        </mc:Fallback>
      </mc:AlternateContent>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0B09D4C0-BA63-4DF5-BE5F-3DD1341F6B7A}" type="slidenum">
              <a:rPr lang="en-US" smtClean="0"/>
              <a:pPr>
                <a:defRPr/>
              </a:pPr>
              <a:t>56</a:t>
            </a:fld>
            <a:endParaRPr lang="en-US"/>
          </a:p>
        </p:txBody>
      </p:sp>
    </p:spTree>
    <p:extLst>
      <p:ext uri="{BB962C8B-B14F-4D97-AF65-F5344CB8AC3E}">
        <p14:creationId xmlns:p14="http://schemas.microsoft.com/office/powerpoint/2010/main" val="2759521794"/>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p:txBody>
          <a:bodyPr/>
          <a:lstStyle/>
          <a:p>
            <a:r>
              <a:rPr lang="en-US" altLang="en-US" dirty="0" smtClean="0"/>
              <a:t>Regulation of Monopoly</a:t>
            </a:r>
          </a:p>
        </p:txBody>
      </p:sp>
      <mc:AlternateContent xmlns:mc="http://schemas.openxmlformats.org/markup-compatibility/2006" xmlns:a14="http://schemas.microsoft.com/office/drawing/2010/main">
        <mc:Choice Requires="a14">
          <p:sp>
            <p:nvSpPr>
              <p:cNvPr id="63491" name="Rectangle 3"/>
              <p:cNvSpPr>
                <a:spLocks noGrp="1" noChangeArrowheads="1"/>
              </p:cNvSpPr>
              <p:nvPr>
                <p:ph idx="1"/>
              </p:nvPr>
            </p:nvSpPr>
            <p:spPr>
              <a:xfrm>
                <a:off x="381000" y="1066800"/>
                <a:ext cx="8534400" cy="5334000"/>
              </a:xfrm>
            </p:spPr>
            <p:txBody>
              <a:bodyPr/>
              <a:lstStyle/>
              <a:p>
                <a:r>
                  <a:rPr lang="en-US" altLang="en-US" sz="3200" dirty="0" smtClean="0"/>
                  <a:t>Therefore, 0&lt;</a:t>
                </a:r>
                <a:r>
                  <a:rPr lang="en-US" altLang="en-US" sz="3200" dirty="0" smtClean="0">
                    <a:sym typeface="Symbol" pitchFamily="18" charset="2"/>
                  </a:rPr>
                  <a:t>&lt;1 </a:t>
                </a:r>
              </a:p>
              <a:p>
                <a:pPr lvl="1"/>
                <a:r>
                  <a:rPr lang="en-US" altLang="en-US" sz="3000" dirty="0" smtClean="0">
                    <a:sym typeface="Symbol" pitchFamily="18" charset="2"/>
                  </a:rPr>
                  <a:t>The first-order conditions:</a:t>
                </a:r>
              </a:p>
              <a:p>
                <a:pPr algn="ctr">
                  <a:lnSpc>
                    <a:spcPct val="150000"/>
                  </a:lnSpc>
                  <a:buFontTx/>
                  <a:buNone/>
                </a:pPr>
                <a:r>
                  <a:rPr lang="en-US" altLang="en-US" sz="2800" dirty="0" smtClean="0">
                    <a:solidFill>
                      <a:srgbClr val="FF0000"/>
                    </a:solidFill>
                    <a:latin typeface="Times New Roman" panose="02020603050405020304" pitchFamily="18" charset="0"/>
                    <a:cs typeface="Times New Roman" panose="02020603050405020304" pitchFamily="18" charset="0"/>
                    <a:sym typeface="Symbol" pitchFamily="18" charset="2"/>
                  </a:rPr>
                  <a:t></a:t>
                </a:r>
                <a:r>
                  <a:rPr lang="en-US" altLang="en-US" sz="2800" b="1" dirty="0" smtClean="0">
                    <a:solidFill>
                      <a:srgbClr val="FF0000"/>
                    </a:solidFill>
                    <a:latin typeface="Times New Roman" panose="02020603050405020304" pitchFamily="18" charset="0"/>
                    <a:ea typeface="Arial Unicode MS" pitchFamily="34" charset="-128"/>
                    <a:cs typeface="Times New Roman" panose="02020603050405020304" pitchFamily="18" charset="0"/>
                    <a:sym typeface="Math Ext" pitchFamily="2" charset="2"/>
                  </a:rPr>
                  <a:t>ℒ</a:t>
                </a:r>
                <a:r>
                  <a:rPr lang="en-US" altLang="en-US" sz="2800" b="1" dirty="0" smtClean="0">
                    <a:solidFill>
                      <a:srgbClr val="FF0000"/>
                    </a:solidFill>
                    <a:latin typeface="Times New Roman" panose="02020603050405020304" pitchFamily="18" charset="0"/>
                    <a:cs typeface="Times New Roman" panose="02020603050405020304" pitchFamily="18" charset="0"/>
                    <a:sym typeface="Math Ext" pitchFamily="2" charset="2"/>
                  </a:rPr>
                  <a:t> </a:t>
                </a:r>
                <a:r>
                  <a:rPr lang="en-US" altLang="en-US" sz="2800" dirty="0" smtClean="0">
                    <a:solidFill>
                      <a:srgbClr val="FF0000"/>
                    </a:solidFill>
                    <a:latin typeface="Times New Roman" pitchFamily="18" charset="0"/>
                    <a:cs typeface="Times New Roman" pitchFamily="18" charset="0"/>
                    <a:sym typeface="Math Ext" pitchFamily="2" charset="2"/>
                  </a:rPr>
                  <a:t>/</a:t>
                </a:r>
                <a:r>
                  <a:rPr lang="en-US" altLang="en-US" sz="2800" dirty="0" smtClean="0">
                    <a:solidFill>
                      <a:srgbClr val="FF0000"/>
                    </a:solidFill>
                    <a:latin typeface="Times New Roman" pitchFamily="18" charset="0"/>
                    <a:cs typeface="Times New Roman" pitchFamily="18" charset="0"/>
                    <a:sym typeface="Symbol" pitchFamily="18" charset="2"/>
                  </a:rPr>
                  <a:t></a:t>
                </a:r>
                <a:r>
                  <a:rPr lang="en-US" altLang="en-US" sz="2800" i="1" dirty="0" smtClean="0">
                    <a:solidFill>
                      <a:srgbClr val="FF0000"/>
                    </a:solidFill>
                    <a:latin typeface="Times New Roman" pitchFamily="18" charset="0"/>
                    <a:cs typeface="Times New Roman" pitchFamily="18" charset="0"/>
                    <a:sym typeface="Symbol" pitchFamily="18" charset="2"/>
                  </a:rPr>
                  <a:t>l</a:t>
                </a:r>
                <a:r>
                  <a:rPr lang="en-US" altLang="en-US" sz="2800" dirty="0" smtClean="0">
                    <a:solidFill>
                      <a:srgbClr val="FF0000"/>
                    </a:solidFill>
                    <a:latin typeface="Times New Roman" pitchFamily="18" charset="0"/>
                    <a:cs typeface="Times New Roman" pitchFamily="18" charset="0"/>
                    <a:sym typeface="Symbol" pitchFamily="18" charset="2"/>
                  </a:rPr>
                  <a:t> = </a:t>
                </a:r>
                <a:r>
                  <a:rPr lang="en-US" altLang="en-US" sz="2800" i="1" dirty="0" err="1" smtClean="0">
                    <a:solidFill>
                      <a:srgbClr val="FF0000"/>
                    </a:solidFill>
                    <a:latin typeface="Times New Roman" pitchFamily="18" charset="0"/>
                    <a:cs typeface="Times New Roman" pitchFamily="18" charset="0"/>
                    <a:sym typeface="Symbol" pitchFamily="18" charset="2"/>
                  </a:rPr>
                  <a:t>pf</a:t>
                </a:r>
                <a:r>
                  <a:rPr lang="en-US" altLang="en-US" sz="2800" i="1" baseline="-25000" dirty="0" err="1" smtClean="0">
                    <a:solidFill>
                      <a:srgbClr val="FF0000"/>
                    </a:solidFill>
                    <a:latin typeface="Times New Roman" pitchFamily="18" charset="0"/>
                    <a:cs typeface="Times New Roman" pitchFamily="18" charset="0"/>
                    <a:sym typeface="Symbol" pitchFamily="18" charset="2"/>
                  </a:rPr>
                  <a:t>l</a:t>
                </a:r>
                <a:r>
                  <a:rPr lang="en-US" altLang="en-US" sz="2800" dirty="0" smtClean="0">
                    <a:solidFill>
                      <a:srgbClr val="FF0000"/>
                    </a:solidFill>
                    <a:latin typeface="Times New Roman" pitchFamily="18" charset="0"/>
                    <a:cs typeface="Times New Roman" pitchFamily="18" charset="0"/>
                    <a:sym typeface="Symbol" pitchFamily="18" charset="2"/>
                  </a:rPr>
                  <a:t> – </a:t>
                </a:r>
                <a:r>
                  <a:rPr lang="en-US" altLang="en-US" sz="2800" i="1" dirty="0" smtClean="0">
                    <a:solidFill>
                      <a:srgbClr val="FF0000"/>
                    </a:solidFill>
                    <a:latin typeface="Times New Roman" pitchFamily="18" charset="0"/>
                    <a:cs typeface="Times New Roman" pitchFamily="18" charset="0"/>
                    <a:sym typeface="Symbol" pitchFamily="18" charset="2"/>
                  </a:rPr>
                  <a:t>w +</a:t>
                </a:r>
                <a:r>
                  <a:rPr lang="en-US" altLang="en-US" sz="2800" dirty="0" smtClean="0">
                    <a:solidFill>
                      <a:srgbClr val="FF0000"/>
                    </a:solidFill>
                    <a:latin typeface="Times New Roman" pitchFamily="18" charset="0"/>
                    <a:cs typeface="Times New Roman" pitchFamily="18" charset="0"/>
                    <a:sym typeface="Symbol" pitchFamily="18" charset="2"/>
                  </a:rPr>
                  <a:t> (</a:t>
                </a:r>
                <a:r>
                  <a:rPr lang="en-US" altLang="en-US" sz="2800" i="1" dirty="0" smtClean="0">
                    <a:solidFill>
                      <a:srgbClr val="FF0000"/>
                    </a:solidFill>
                    <a:latin typeface="Times New Roman" pitchFamily="18" charset="0"/>
                    <a:cs typeface="Times New Roman" pitchFamily="18" charset="0"/>
                    <a:sym typeface="Symbol" pitchFamily="18" charset="2"/>
                  </a:rPr>
                  <a:t>w – </a:t>
                </a:r>
                <a:r>
                  <a:rPr lang="en-US" altLang="en-US" sz="2800" i="1" dirty="0" err="1" smtClean="0">
                    <a:solidFill>
                      <a:srgbClr val="FF0000"/>
                    </a:solidFill>
                    <a:latin typeface="Times New Roman" pitchFamily="18" charset="0"/>
                    <a:cs typeface="Times New Roman" pitchFamily="18" charset="0"/>
                    <a:sym typeface="Symbol" pitchFamily="18" charset="2"/>
                  </a:rPr>
                  <a:t>pf</a:t>
                </a:r>
                <a:r>
                  <a:rPr lang="en-US" altLang="en-US" sz="2800" i="1" baseline="-25000" dirty="0" err="1" smtClean="0">
                    <a:solidFill>
                      <a:srgbClr val="FF0000"/>
                    </a:solidFill>
                    <a:latin typeface="Times New Roman" pitchFamily="18" charset="0"/>
                    <a:cs typeface="Times New Roman" pitchFamily="18" charset="0"/>
                    <a:sym typeface="Symbol" pitchFamily="18" charset="2"/>
                  </a:rPr>
                  <a:t>l</a:t>
                </a:r>
                <a:r>
                  <a:rPr lang="en-US" altLang="en-US" sz="2800" dirty="0" smtClean="0">
                    <a:solidFill>
                      <a:srgbClr val="FF0000"/>
                    </a:solidFill>
                    <a:latin typeface="Times New Roman" pitchFamily="18" charset="0"/>
                    <a:cs typeface="Times New Roman" pitchFamily="18" charset="0"/>
                    <a:sym typeface="Symbol" pitchFamily="18" charset="2"/>
                  </a:rPr>
                  <a:t>) = 0</a:t>
                </a:r>
              </a:p>
              <a:p>
                <a:pPr algn="ctr">
                  <a:lnSpc>
                    <a:spcPct val="150000"/>
                  </a:lnSpc>
                  <a:spcBef>
                    <a:spcPct val="0"/>
                  </a:spcBef>
                  <a:buFontTx/>
                  <a:buNone/>
                </a:pPr>
                <a:r>
                  <a:rPr lang="en-US" altLang="en-US" sz="2800" dirty="0" smtClean="0">
                    <a:solidFill>
                      <a:srgbClr val="FF0000"/>
                    </a:solidFill>
                    <a:latin typeface="Times New Roman" pitchFamily="18" charset="0"/>
                    <a:cs typeface="Times New Roman" pitchFamily="18" charset="0"/>
                    <a:sym typeface="Symbol" pitchFamily="18" charset="2"/>
                  </a:rPr>
                  <a:t></a:t>
                </a:r>
                <a:r>
                  <a:rPr lang="en-US" altLang="en-US" sz="2800" b="1" dirty="0" smtClean="0">
                    <a:solidFill>
                      <a:srgbClr val="FF0000"/>
                    </a:solidFill>
                    <a:latin typeface="Times New Roman" panose="02020603050405020304" pitchFamily="18" charset="0"/>
                    <a:ea typeface="Arial Unicode MS" pitchFamily="34" charset="-128"/>
                    <a:cs typeface="Times New Roman" panose="02020603050405020304" pitchFamily="18" charset="0"/>
                    <a:sym typeface="Math Ext" pitchFamily="2" charset="2"/>
                  </a:rPr>
                  <a:t>ℒ</a:t>
                </a:r>
                <a:r>
                  <a:rPr lang="en-US" altLang="en-US" sz="2800" b="1" dirty="0" smtClean="0">
                    <a:solidFill>
                      <a:srgbClr val="FF0000"/>
                    </a:solidFill>
                    <a:latin typeface="Times New Roman" panose="02020603050405020304" pitchFamily="18" charset="0"/>
                    <a:cs typeface="Times New Roman" panose="02020603050405020304" pitchFamily="18" charset="0"/>
                    <a:sym typeface="Math Ext" pitchFamily="2" charset="2"/>
                  </a:rPr>
                  <a:t> </a:t>
                </a:r>
                <a:r>
                  <a:rPr lang="en-US" altLang="en-US" sz="2800" dirty="0" smtClean="0">
                    <a:solidFill>
                      <a:srgbClr val="FF0000"/>
                    </a:solidFill>
                    <a:latin typeface="Times New Roman" pitchFamily="18" charset="0"/>
                    <a:cs typeface="Times New Roman" pitchFamily="18" charset="0"/>
                    <a:sym typeface="Math Ext" pitchFamily="2" charset="2"/>
                  </a:rPr>
                  <a:t>/</a:t>
                </a:r>
                <a:r>
                  <a:rPr lang="en-US" altLang="en-US" sz="2800" dirty="0" smtClean="0">
                    <a:solidFill>
                      <a:srgbClr val="FF0000"/>
                    </a:solidFill>
                    <a:latin typeface="Times New Roman" pitchFamily="18" charset="0"/>
                    <a:cs typeface="Times New Roman" pitchFamily="18" charset="0"/>
                    <a:sym typeface="Symbol" pitchFamily="18" charset="2"/>
                  </a:rPr>
                  <a:t></a:t>
                </a:r>
                <a:r>
                  <a:rPr lang="en-US" altLang="en-US" sz="2800" i="1" dirty="0" smtClean="0">
                    <a:solidFill>
                      <a:srgbClr val="FF0000"/>
                    </a:solidFill>
                    <a:latin typeface="Times New Roman" pitchFamily="18" charset="0"/>
                    <a:cs typeface="Times New Roman" pitchFamily="18" charset="0"/>
                    <a:sym typeface="Symbol" pitchFamily="18" charset="2"/>
                  </a:rPr>
                  <a:t>k</a:t>
                </a:r>
                <a:r>
                  <a:rPr lang="en-US" altLang="en-US" sz="2800" dirty="0" smtClean="0">
                    <a:solidFill>
                      <a:srgbClr val="FF0000"/>
                    </a:solidFill>
                    <a:latin typeface="Times New Roman" pitchFamily="18" charset="0"/>
                    <a:cs typeface="Times New Roman" pitchFamily="18" charset="0"/>
                    <a:sym typeface="Symbol" pitchFamily="18" charset="2"/>
                  </a:rPr>
                  <a:t> = </a:t>
                </a:r>
                <a:r>
                  <a:rPr lang="en-US" altLang="en-US" sz="2800" i="1" dirty="0" err="1" smtClean="0">
                    <a:solidFill>
                      <a:srgbClr val="FF0000"/>
                    </a:solidFill>
                    <a:latin typeface="Times New Roman" pitchFamily="18" charset="0"/>
                    <a:cs typeface="Times New Roman" pitchFamily="18" charset="0"/>
                    <a:sym typeface="Symbol" pitchFamily="18" charset="2"/>
                  </a:rPr>
                  <a:t>pf</a:t>
                </a:r>
                <a:r>
                  <a:rPr lang="en-US" altLang="en-US" sz="2800" i="1" baseline="-25000" dirty="0" err="1" smtClean="0">
                    <a:solidFill>
                      <a:srgbClr val="FF0000"/>
                    </a:solidFill>
                    <a:latin typeface="Times New Roman" pitchFamily="18" charset="0"/>
                    <a:cs typeface="Times New Roman" pitchFamily="18" charset="0"/>
                    <a:sym typeface="Symbol" pitchFamily="18" charset="2"/>
                  </a:rPr>
                  <a:t>k</a:t>
                </a:r>
                <a:r>
                  <a:rPr lang="en-US" altLang="en-US" sz="2800" dirty="0" smtClean="0">
                    <a:solidFill>
                      <a:srgbClr val="FF0000"/>
                    </a:solidFill>
                    <a:latin typeface="Times New Roman" pitchFamily="18" charset="0"/>
                    <a:cs typeface="Times New Roman" pitchFamily="18" charset="0"/>
                    <a:sym typeface="Symbol" pitchFamily="18" charset="2"/>
                  </a:rPr>
                  <a:t> – </a:t>
                </a:r>
                <a:r>
                  <a:rPr lang="en-US" altLang="en-US" sz="2800" i="1" dirty="0" smtClean="0">
                    <a:solidFill>
                      <a:srgbClr val="FF0000"/>
                    </a:solidFill>
                    <a:latin typeface="Times New Roman" pitchFamily="18" charset="0"/>
                    <a:cs typeface="Times New Roman" pitchFamily="18" charset="0"/>
                    <a:sym typeface="Symbol" pitchFamily="18" charset="2"/>
                  </a:rPr>
                  <a:t>v +</a:t>
                </a:r>
                <a:r>
                  <a:rPr lang="en-US" altLang="en-US" sz="2800" dirty="0" smtClean="0">
                    <a:solidFill>
                      <a:srgbClr val="FF0000"/>
                    </a:solidFill>
                    <a:latin typeface="Times New Roman" pitchFamily="18" charset="0"/>
                    <a:cs typeface="Times New Roman" pitchFamily="18" charset="0"/>
                    <a:sym typeface="Symbol" pitchFamily="18" charset="2"/>
                  </a:rPr>
                  <a:t> (</a:t>
                </a:r>
                <a14:m>
                  <m:oMath xmlns:m="http://schemas.openxmlformats.org/officeDocument/2006/math">
                    <m:acc>
                      <m:accPr>
                        <m:chr m:val="̅"/>
                        <m:ctrlPr>
                          <a:rPr lang="en-US" altLang="en-US" sz="2800" i="1" dirty="0">
                            <a:solidFill>
                              <a:srgbClr val="FF0000"/>
                            </a:solidFill>
                            <a:latin typeface="Cambria Math"/>
                            <a:cs typeface="Times New Roman" pitchFamily="18" charset="0"/>
                            <a:sym typeface="Symbol" pitchFamily="18" charset="2"/>
                          </a:rPr>
                        </m:ctrlPr>
                      </m:accPr>
                      <m:e>
                        <m:r>
                          <a:rPr lang="en-US" altLang="en-US" sz="2800" i="1" dirty="0">
                            <a:solidFill>
                              <a:srgbClr val="FF0000"/>
                            </a:solidFill>
                            <a:latin typeface="Cambria Math"/>
                            <a:cs typeface="Times New Roman" pitchFamily="18" charset="0"/>
                            <a:sym typeface="Symbol" pitchFamily="18" charset="2"/>
                          </a:rPr>
                          <m:t>𝑠</m:t>
                        </m:r>
                      </m:e>
                    </m:acc>
                  </m:oMath>
                </a14:m>
                <a:r>
                  <a:rPr lang="en-US" altLang="en-US" sz="2800" i="1" dirty="0" smtClean="0">
                    <a:solidFill>
                      <a:srgbClr val="FF0000"/>
                    </a:solidFill>
                    <a:latin typeface="Times New Roman" pitchFamily="18" charset="0"/>
                    <a:cs typeface="Times New Roman" pitchFamily="18" charset="0"/>
                    <a:sym typeface="Symbol" pitchFamily="18" charset="2"/>
                  </a:rPr>
                  <a:t> – </a:t>
                </a:r>
                <a:r>
                  <a:rPr lang="en-US" altLang="en-US" sz="2800" i="1" dirty="0" err="1" smtClean="0">
                    <a:solidFill>
                      <a:srgbClr val="FF0000"/>
                    </a:solidFill>
                    <a:latin typeface="Times New Roman" pitchFamily="18" charset="0"/>
                    <a:cs typeface="Times New Roman" pitchFamily="18" charset="0"/>
                    <a:sym typeface="Symbol" pitchFamily="18" charset="2"/>
                  </a:rPr>
                  <a:t>pf</a:t>
                </a:r>
                <a:r>
                  <a:rPr lang="en-US" altLang="en-US" sz="2800" i="1" baseline="-25000" dirty="0" err="1" smtClean="0">
                    <a:solidFill>
                      <a:srgbClr val="FF0000"/>
                    </a:solidFill>
                    <a:latin typeface="Times New Roman" pitchFamily="18" charset="0"/>
                    <a:cs typeface="Times New Roman" pitchFamily="18" charset="0"/>
                    <a:sym typeface="Symbol" pitchFamily="18" charset="2"/>
                  </a:rPr>
                  <a:t>k</a:t>
                </a:r>
                <a:r>
                  <a:rPr lang="en-US" altLang="en-US" sz="2800" dirty="0" smtClean="0">
                    <a:solidFill>
                      <a:srgbClr val="FF0000"/>
                    </a:solidFill>
                    <a:latin typeface="Times New Roman" pitchFamily="18" charset="0"/>
                    <a:cs typeface="Times New Roman" pitchFamily="18" charset="0"/>
                    <a:sym typeface="Symbol" pitchFamily="18" charset="2"/>
                  </a:rPr>
                  <a:t>) = 0</a:t>
                </a:r>
              </a:p>
              <a:p>
                <a:pPr algn="ctr">
                  <a:lnSpc>
                    <a:spcPct val="150000"/>
                  </a:lnSpc>
                  <a:spcBef>
                    <a:spcPct val="0"/>
                  </a:spcBef>
                  <a:buFontTx/>
                  <a:buNone/>
                </a:pPr>
                <a:r>
                  <a:rPr lang="en-US" altLang="en-US" sz="2800" dirty="0" smtClean="0">
                    <a:solidFill>
                      <a:srgbClr val="FF0000"/>
                    </a:solidFill>
                    <a:latin typeface="Times New Roman" pitchFamily="18" charset="0"/>
                    <a:cs typeface="Times New Roman" pitchFamily="18" charset="0"/>
                    <a:sym typeface="Symbol" pitchFamily="18" charset="2"/>
                  </a:rPr>
                  <a:t></a:t>
                </a:r>
                <a:r>
                  <a:rPr lang="en-US" altLang="en-US" sz="2800" b="1" dirty="0" smtClean="0">
                    <a:solidFill>
                      <a:srgbClr val="FF0000"/>
                    </a:solidFill>
                    <a:latin typeface="Times New Roman" panose="02020603050405020304" pitchFamily="18" charset="0"/>
                    <a:ea typeface="Arial Unicode MS" pitchFamily="34" charset="-128"/>
                    <a:cs typeface="Times New Roman" panose="02020603050405020304" pitchFamily="18" charset="0"/>
                    <a:sym typeface="Math Ext" pitchFamily="2" charset="2"/>
                  </a:rPr>
                  <a:t>ℒ</a:t>
                </a:r>
                <a:r>
                  <a:rPr lang="en-US" altLang="en-US" sz="2800" b="1" dirty="0" smtClean="0">
                    <a:solidFill>
                      <a:srgbClr val="FF0000"/>
                    </a:solidFill>
                    <a:latin typeface="Times New Roman" panose="02020603050405020304" pitchFamily="18" charset="0"/>
                    <a:cs typeface="Times New Roman" panose="02020603050405020304" pitchFamily="18" charset="0"/>
                    <a:sym typeface="Math Ext" pitchFamily="2" charset="2"/>
                  </a:rPr>
                  <a:t> </a:t>
                </a:r>
                <a:r>
                  <a:rPr lang="en-US" altLang="en-US" sz="2800" dirty="0" smtClean="0">
                    <a:solidFill>
                      <a:srgbClr val="FF0000"/>
                    </a:solidFill>
                    <a:latin typeface="Times New Roman" pitchFamily="18" charset="0"/>
                    <a:cs typeface="Times New Roman" pitchFamily="18" charset="0"/>
                    <a:sym typeface="Math Ext" pitchFamily="2" charset="2"/>
                  </a:rPr>
                  <a:t>/</a:t>
                </a:r>
                <a:r>
                  <a:rPr lang="en-US" altLang="en-US" sz="2800" dirty="0" smtClean="0">
                    <a:solidFill>
                      <a:srgbClr val="FF0000"/>
                    </a:solidFill>
                    <a:latin typeface="Times New Roman" pitchFamily="18" charset="0"/>
                    <a:cs typeface="Times New Roman" pitchFamily="18" charset="0"/>
                    <a:sym typeface="Symbol" pitchFamily="18" charset="2"/>
                  </a:rPr>
                  <a:t></a:t>
                </a:r>
                <a:r>
                  <a:rPr lang="en-US" altLang="en-US" sz="2800" i="1" dirty="0" smtClean="0">
                    <a:solidFill>
                      <a:srgbClr val="FF0000"/>
                    </a:solidFill>
                    <a:latin typeface="Times New Roman" pitchFamily="18" charset="0"/>
                    <a:cs typeface="Times New Roman" pitchFamily="18" charset="0"/>
                    <a:sym typeface="Symbol" pitchFamily="18" charset="2"/>
                  </a:rPr>
                  <a:t></a:t>
                </a:r>
                <a:r>
                  <a:rPr lang="en-US" altLang="en-US" sz="2800" dirty="0" smtClean="0">
                    <a:solidFill>
                      <a:srgbClr val="FF0000"/>
                    </a:solidFill>
                    <a:latin typeface="Times New Roman" pitchFamily="18" charset="0"/>
                    <a:cs typeface="Times New Roman" pitchFamily="18" charset="0"/>
                    <a:sym typeface="Symbol" pitchFamily="18" charset="2"/>
                  </a:rPr>
                  <a:t> = </a:t>
                </a:r>
                <a:r>
                  <a:rPr lang="en-US" altLang="en-US" sz="2800" i="1" dirty="0" err="1" smtClean="0">
                    <a:solidFill>
                      <a:srgbClr val="FF0000"/>
                    </a:solidFill>
                    <a:latin typeface="Times New Roman" pitchFamily="18" charset="0"/>
                    <a:cs typeface="Times New Roman" pitchFamily="18" charset="0"/>
                    <a:sym typeface="Symbol" pitchFamily="18" charset="2"/>
                  </a:rPr>
                  <a:t>wl</a:t>
                </a:r>
                <a:r>
                  <a:rPr lang="en-US" altLang="en-US" sz="2800" dirty="0" smtClean="0">
                    <a:solidFill>
                      <a:srgbClr val="FF0000"/>
                    </a:solidFill>
                    <a:latin typeface="Times New Roman" pitchFamily="18" charset="0"/>
                    <a:cs typeface="Times New Roman" pitchFamily="18" charset="0"/>
                    <a:sym typeface="Symbol" pitchFamily="18" charset="2"/>
                  </a:rPr>
                  <a:t> + </a:t>
                </a:r>
                <a14:m>
                  <m:oMath xmlns:m="http://schemas.openxmlformats.org/officeDocument/2006/math">
                    <m:acc>
                      <m:accPr>
                        <m:chr m:val="̅"/>
                        <m:ctrlPr>
                          <a:rPr lang="en-US" altLang="en-US" sz="2800" i="1" dirty="0">
                            <a:solidFill>
                              <a:srgbClr val="FF0000"/>
                            </a:solidFill>
                            <a:latin typeface="Cambria Math"/>
                            <a:cs typeface="Times New Roman" pitchFamily="18" charset="0"/>
                            <a:sym typeface="Symbol" pitchFamily="18" charset="2"/>
                          </a:rPr>
                        </m:ctrlPr>
                      </m:accPr>
                      <m:e>
                        <m:r>
                          <a:rPr lang="en-US" altLang="en-US" sz="2800" i="1" dirty="0">
                            <a:solidFill>
                              <a:srgbClr val="FF0000"/>
                            </a:solidFill>
                            <a:latin typeface="Cambria Math"/>
                            <a:cs typeface="Times New Roman" pitchFamily="18" charset="0"/>
                            <a:sym typeface="Symbol" pitchFamily="18" charset="2"/>
                          </a:rPr>
                          <m:t>𝑠</m:t>
                        </m:r>
                      </m:e>
                    </m:acc>
                    <m:r>
                      <a:rPr lang="en-US" altLang="en-US" sz="2800" i="1" dirty="0">
                        <a:solidFill>
                          <a:srgbClr val="FF0000"/>
                        </a:solidFill>
                        <a:latin typeface="Cambria Math"/>
                        <a:cs typeface="Times New Roman" pitchFamily="18" charset="0"/>
                        <a:sym typeface="Symbol" pitchFamily="18" charset="2"/>
                      </a:rPr>
                      <m:t> </m:t>
                    </m:r>
                  </m:oMath>
                </a14:m>
                <a:r>
                  <a:rPr lang="en-US" altLang="en-US" sz="2800" i="1" dirty="0" smtClean="0">
                    <a:solidFill>
                      <a:srgbClr val="FF0000"/>
                    </a:solidFill>
                    <a:latin typeface="Times New Roman" pitchFamily="18" charset="0"/>
                    <a:cs typeface="Times New Roman" pitchFamily="18" charset="0"/>
                    <a:sym typeface="Symbol" pitchFamily="18" charset="2"/>
                  </a:rPr>
                  <a:t>k</a:t>
                </a:r>
                <a:r>
                  <a:rPr lang="en-US" altLang="en-US" sz="2800" dirty="0" smtClean="0">
                    <a:solidFill>
                      <a:srgbClr val="FF0000"/>
                    </a:solidFill>
                    <a:latin typeface="Times New Roman" pitchFamily="18" charset="0"/>
                    <a:cs typeface="Times New Roman" pitchFamily="18" charset="0"/>
                    <a:sym typeface="Symbol" pitchFamily="18" charset="2"/>
                  </a:rPr>
                  <a:t> – </a:t>
                </a:r>
                <a:r>
                  <a:rPr lang="en-US" altLang="en-US" sz="2800" i="1" dirty="0" smtClean="0">
                    <a:solidFill>
                      <a:srgbClr val="FF0000"/>
                    </a:solidFill>
                    <a:latin typeface="Times New Roman" pitchFamily="18" charset="0"/>
                    <a:cs typeface="Times New Roman" pitchFamily="18" charset="0"/>
                    <a:sym typeface="Symbol" pitchFamily="18" charset="2"/>
                  </a:rPr>
                  <a:t>pf</a:t>
                </a:r>
                <a:r>
                  <a:rPr lang="en-US" altLang="en-US" sz="2800" i="1" baseline="-25000" dirty="0" smtClean="0">
                    <a:solidFill>
                      <a:srgbClr val="FF0000"/>
                    </a:solidFill>
                    <a:latin typeface="Times New Roman" pitchFamily="18" charset="0"/>
                    <a:cs typeface="Times New Roman" pitchFamily="18" charset="0"/>
                    <a:sym typeface="Symbol" pitchFamily="18" charset="2"/>
                  </a:rPr>
                  <a:t> </a:t>
                </a:r>
                <a:r>
                  <a:rPr lang="en-US" altLang="en-US" sz="2800" dirty="0" smtClean="0">
                    <a:solidFill>
                      <a:srgbClr val="FF0000"/>
                    </a:solidFill>
                    <a:latin typeface="Times New Roman" pitchFamily="18" charset="0"/>
                    <a:cs typeface="Times New Roman" pitchFamily="18" charset="0"/>
                    <a:sym typeface="Symbol" pitchFamily="18" charset="2"/>
                  </a:rPr>
                  <a:t>(</a:t>
                </a:r>
                <a:r>
                  <a:rPr lang="en-US" altLang="en-US" sz="2800" i="1" dirty="0" err="1" smtClean="0">
                    <a:solidFill>
                      <a:srgbClr val="FF0000"/>
                    </a:solidFill>
                    <a:latin typeface="Times New Roman" pitchFamily="18" charset="0"/>
                    <a:cs typeface="Times New Roman" pitchFamily="18" charset="0"/>
                    <a:sym typeface="Symbol" pitchFamily="18" charset="2"/>
                  </a:rPr>
                  <a:t>k</a:t>
                </a:r>
                <a:r>
                  <a:rPr lang="en-US" altLang="en-US" sz="2800" dirty="0" err="1" smtClean="0">
                    <a:solidFill>
                      <a:srgbClr val="FF0000"/>
                    </a:solidFill>
                    <a:latin typeface="Times New Roman" pitchFamily="18" charset="0"/>
                    <a:cs typeface="Times New Roman" pitchFamily="18" charset="0"/>
                    <a:sym typeface="Symbol" pitchFamily="18" charset="2"/>
                  </a:rPr>
                  <a:t>,</a:t>
                </a:r>
                <a:r>
                  <a:rPr lang="en-US" altLang="en-US" sz="2800" i="1" dirty="0" err="1" smtClean="0">
                    <a:solidFill>
                      <a:srgbClr val="FF0000"/>
                    </a:solidFill>
                    <a:latin typeface="Times New Roman" pitchFamily="18" charset="0"/>
                    <a:cs typeface="Times New Roman" pitchFamily="18" charset="0"/>
                    <a:sym typeface="Symbol" pitchFamily="18" charset="2"/>
                  </a:rPr>
                  <a:t>l</a:t>
                </a:r>
                <a:r>
                  <a:rPr lang="en-US" altLang="en-US" sz="2800" dirty="0" smtClean="0">
                    <a:solidFill>
                      <a:srgbClr val="FF0000"/>
                    </a:solidFill>
                    <a:latin typeface="Times New Roman" pitchFamily="18" charset="0"/>
                    <a:cs typeface="Times New Roman" pitchFamily="18" charset="0"/>
                    <a:sym typeface="Symbol" pitchFamily="18" charset="2"/>
                  </a:rPr>
                  <a:t>) = 0</a:t>
                </a:r>
              </a:p>
              <a:p>
                <a:pPr lvl="1"/>
                <a:r>
                  <a:rPr lang="en-US" altLang="en-US" sz="3000" dirty="0" smtClean="0"/>
                  <a:t>Because </a:t>
                </a:r>
                <a14:m>
                  <m:oMath xmlns:m="http://schemas.openxmlformats.org/officeDocument/2006/math">
                    <m:acc>
                      <m:accPr>
                        <m:chr m:val="̅"/>
                        <m:ctrlPr>
                          <a:rPr lang="en-US" altLang="en-US" sz="2800" i="1" dirty="0">
                            <a:solidFill>
                              <a:srgbClr val="FF0000"/>
                            </a:solidFill>
                            <a:latin typeface="Cambria Math"/>
                            <a:cs typeface="Times New Roman" pitchFamily="18" charset="0"/>
                            <a:sym typeface="Symbol" pitchFamily="18" charset="2"/>
                          </a:rPr>
                        </m:ctrlPr>
                      </m:accPr>
                      <m:e>
                        <m:r>
                          <a:rPr lang="en-US" altLang="en-US" sz="2800" i="1" dirty="0">
                            <a:solidFill>
                              <a:srgbClr val="FF0000"/>
                            </a:solidFill>
                            <a:latin typeface="Cambria Math"/>
                            <a:cs typeface="Times New Roman" pitchFamily="18" charset="0"/>
                            <a:sym typeface="Symbol" pitchFamily="18" charset="2"/>
                          </a:rPr>
                          <m:t>𝑠</m:t>
                        </m:r>
                      </m:e>
                    </m:acc>
                    <m:r>
                      <a:rPr lang="en-US" altLang="en-US" sz="2800" i="1" dirty="0">
                        <a:solidFill>
                          <a:srgbClr val="FF0000"/>
                        </a:solidFill>
                        <a:latin typeface="Cambria Math"/>
                        <a:cs typeface="Times New Roman" pitchFamily="18" charset="0"/>
                        <a:sym typeface="Symbol" pitchFamily="18" charset="2"/>
                      </a:rPr>
                      <m:t> </m:t>
                    </m:r>
                  </m:oMath>
                </a14:m>
                <a:r>
                  <a:rPr lang="en-US" altLang="en-US" sz="3000" dirty="0" smtClean="0"/>
                  <a:t>&gt;</a:t>
                </a:r>
                <a:r>
                  <a:rPr lang="en-US" altLang="en-US" sz="3000" i="1" dirty="0" smtClean="0"/>
                  <a:t>v</a:t>
                </a:r>
                <a:r>
                  <a:rPr lang="en-US" altLang="en-US" sz="3000" dirty="0" smtClean="0"/>
                  <a:t> and </a:t>
                </a:r>
                <a:r>
                  <a:rPr lang="en-US" altLang="en-US" sz="3000" dirty="0" smtClean="0">
                    <a:sym typeface="Symbol" pitchFamily="18" charset="2"/>
                  </a:rPr>
                  <a:t>&lt;1: </a:t>
                </a:r>
                <a:r>
                  <a:rPr lang="en-US" altLang="en-US" sz="3000" i="1" dirty="0" err="1" smtClean="0">
                    <a:solidFill>
                      <a:srgbClr val="FF0000"/>
                    </a:solidFill>
                    <a:latin typeface="Times New Roman" pitchFamily="18" charset="0"/>
                    <a:cs typeface="Times New Roman" pitchFamily="18" charset="0"/>
                    <a:sym typeface="Symbol" pitchFamily="18" charset="2"/>
                  </a:rPr>
                  <a:t>pf</a:t>
                </a:r>
                <a:r>
                  <a:rPr lang="en-US" altLang="en-US" sz="3000" i="1" baseline="-25000" dirty="0" err="1" smtClean="0">
                    <a:solidFill>
                      <a:srgbClr val="FF0000"/>
                    </a:solidFill>
                    <a:latin typeface="Times New Roman" pitchFamily="18" charset="0"/>
                    <a:cs typeface="Times New Roman" pitchFamily="18" charset="0"/>
                    <a:sym typeface="Symbol" pitchFamily="18" charset="2"/>
                  </a:rPr>
                  <a:t>k</a:t>
                </a:r>
                <a:r>
                  <a:rPr lang="en-US" altLang="en-US" sz="3000" dirty="0" smtClean="0">
                    <a:solidFill>
                      <a:srgbClr val="FF0000"/>
                    </a:solidFill>
                    <a:latin typeface="Times New Roman" pitchFamily="18" charset="0"/>
                    <a:cs typeface="Times New Roman" pitchFamily="18" charset="0"/>
                    <a:sym typeface="Symbol" pitchFamily="18" charset="2"/>
                  </a:rPr>
                  <a:t> &lt; </a:t>
                </a:r>
                <a:r>
                  <a:rPr lang="en-US" altLang="en-US" sz="3000" i="1" dirty="0" smtClean="0">
                    <a:solidFill>
                      <a:srgbClr val="FF0000"/>
                    </a:solidFill>
                    <a:latin typeface="Times New Roman" pitchFamily="18" charset="0"/>
                    <a:cs typeface="Times New Roman" pitchFamily="18" charset="0"/>
                    <a:sym typeface="Symbol" pitchFamily="18" charset="2"/>
                  </a:rPr>
                  <a:t>v</a:t>
                </a:r>
                <a:endParaRPr lang="en-US" altLang="en-US" sz="3000" dirty="0" smtClean="0">
                  <a:solidFill>
                    <a:srgbClr val="FF0000"/>
                  </a:solidFill>
                  <a:latin typeface="Times New Roman" pitchFamily="18" charset="0"/>
                  <a:cs typeface="Times New Roman" pitchFamily="18" charset="0"/>
                  <a:sym typeface="Symbol" pitchFamily="18" charset="2"/>
                </a:endParaRPr>
              </a:p>
              <a:p>
                <a:pPr lvl="2"/>
                <a:r>
                  <a:rPr lang="en-US" altLang="en-US" dirty="0" smtClean="0">
                    <a:sym typeface="Symbol" pitchFamily="18" charset="2"/>
                  </a:rPr>
                  <a:t>The firm will hire more capital than it would under unregulated conditions: achieve a lower marginal productivity of capital</a:t>
                </a:r>
              </a:p>
              <a:p>
                <a:pPr>
                  <a:lnSpc>
                    <a:spcPct val="150000"/>
                  </a:lnSpc>
                  <a:spcBef>
                    <a:spcPct val="0"/>
                  </a:spcBef>
                </a:pPr>
                <a:endParaRPr lang="en-US" altLang="en-US" sz="2800" dirty="0" smtClean="0">
                  <a:solidFill>
                    <a:srgbClr val="FF0000"/>
                  </a:solidFill>
                  <a:latin typeface="Times New Roman" pitchFamily="18" charset="0"/>
                  <a:cs typeface="Times New Roman" pitchFamily="18" charset="0"/>
                  <a:sym typeface="Symbol" pitchFamily="18" charset="2"/>
                </a:endParaRPr>
              </a:p>
            </p:txBody>
          </p:sp>
        </mc:Choice>
        <mc:Fallback xmlns="">
          <p:sp>
            <p:nvSpPr>
              <p:cNvPr id="63491" name="Rectangle 3"/>
              <p:cNvSpPr>
                <a:spLocks noGrp="1" noRot="1" noChangeAspect="1" noMove="1" noResize="1" noEditPoints="1" noAdjustHandles="1" noChangeArrowheads="1" noChangeShapeType="1" noTextEdit="1"/>
              </p:cNvSpPr>
              <p:nvPr>
                <p:ph idx="1"/>
              </p:nvPr>
            </p:nvSpPr>
            <p:spPr>
              <a:xfrm>
                <a:off x="381000" y="1066800"/>
                <a:ext cx="8534400" cy="5334000"/>
              </a:xfrm>
              <a:blipFill rotWithShape="1">
                <a:blip r:embed="rId2"/>
                <a:stretch>
                  <a:fillRect l="-1643" t="-1714"/>
                </a:stretch>
              </a:blipFill>
            </p:spPr>
            <p:txBody>
              <a:bodyPr/>
              <a:lstStyle/>
              <a:p>
                <a:r>
                  <a:rPr lang="en-US">
                    <a:noFill/>
                  </a:rPr>
                  <a:t> </a:t>
                </a:r>
              </a:p>
            </p:txBody>
          </p:sp>
        </mc:Fallback>
      </mc:AlternateContent>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0ADAE349-8520-42FC-98F4-880CA1B794B7}" type="slidenum">
              <a:rPr lang="en-US" smtClean="0"/>
              <a:pPr>
                <a:defRPr/>
              </a:pPr>
              <a:t>57</a:t>
            </a:fld>
            <a:endParaRPr lang="en-US"/>
          </a:p>
        </p:txBody>
      </p:sp>
    </p:spTree>
    <p:extLst>
      <p:ext uri="{BB962C8B-B14F-4D97-AF65-F5344CB8AC3E}">
        <p14:creationId xmlns:p14="http://schemas.microsoft.com/office/powerpoint/2010/main" val="1393938272"/>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p:txBody>
          <a:bodyPr/>
          <a:lstStyle/>
          <a:p>
            <a:r>
              <a:rPr lang="en-US" altLang="en-US" dirty="0" smtClean="0"/>
              <a:t>Dynamic Views of Monopoly</a:t>
            </a:r>
          </a:p>
        </p:txBody>
      </p:sp>
      <p:sp>
        <p:nvSpPr>
          <p:cNvPr id="64515" name="Rectangle 3"/>
          <p:cNvSpPr>
            <a:spLocks noGrp="1" noChangeArrowheads="1"/>
          </p:cNvSpPr>
          <p:nvPr>
            <p:ph idx="1"/>
          </p:nvPr>
        </p:nvSpPr>
        <p:spPr/>
        <p:txBody>
          <a:bodyPr/>
          <a:lstStyle/>
          <a:p>
            <a:r>
              <a:rPr lang="en-US" altLang="en-US" dirty="0" smtClean="0"/>
              <a:t>Monopoly profits </a:t>
            </a:r>
          </a:p>
          <a:p>
            <a:pPr lvl="1"/>
            <a:r>
              <a:rPr lang="en-US" altLang="en-US" dirty="0" smtClean="0"/>
              <a:t>Beneficial role in the process of economic development</a:t>
            </a:r>
          </a:p>
          <a:p>
            <a:pPr lvl="1"/>
            <a:r>
              <a:rPr lang="en-US" altLang="en-US" dirty="0" smtClean="0"/>
              <a:t>Provide funds that can be invested in research and development</a:t>
            </a:r>
          </a:p>
          <a:p>
            <a:pPr lvl="1"/>
            <a:r>
              <a:rPr lang="en-US" altLang="en-US" dirty="0" smtClean="0"/>
              <a:t>Provides an incentive to keep one step ahead of potential competitors</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9BCF654F-A27D-4020-A551-7AB04C7FB380}" type="slidenum">
              <a:rPr lang="en-US" smtClean="0"/>
              <a:pPr>
                <a:defRPr/>
              </a:pPr>
              <a:t>58</a:t>
            </a:fld>
            <a:endParaRPr lang="en-US"/>
          </a:p>
        </p:txBody>
      </p:sp>
    </p:spTree>
    <p:extLst>
      <p:ext uri="{BB962C8B-B14F-4D97-AF65-F5344CB8AC3E}">
        <p14:creationId xmlns:p14="http://schemas.microsoft.com/office/powerpoint/2010/main" val="1168391586"/>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itle 1"/>
          <p:cNvSpPr>
            <a:spLocks noGrp="1"/>
          </p:cNvSpPr>
          <p:nvPr>
            <p:ph type="title"/>
          </p:nvPr>
        </p:nvSpPr>
        <p:spPr/>
        <p:txBody>
          <a:bodyPr/>
          <a:lstStyle/>
          <a:p>
            <a:r>
              <a:rPr lang="en-US" altLang="en-US" smtClean="0"/>
              <a:t>Optimal linear two-part tariffs</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095F3A70-ADD6-4B8E-AAC6-92D399D4D920}" type="slidenum">
              <a:rPr lang="en-US" smtClean="0"/>
              <a:pPr>
                <a:defRPr/>
              </a:pPr>
              <a:t>59</a:t>
            </a:fld>
            <a:endParaRPr lang="en-US"/>
          </a:p>
        </p:txBody>
      </p:sp>
      <p:sp>
        <p:nvSpPr>
          <p:cNvPr id="65539" name="Content Placeholder 2"/>
          <p:cNvSpPr>
            <a:spLocks noGrp="1"/>
          </p:cNvSpPr>
          <p:nvPr>
            <p:ph type="body" sz="quarter" idx="12"/>
          </p:nvPr>
        </p:nvSpPr>
        <p:spPr/>
        <p:txBody>
          <a:bodyPr/>
          <a:lstStyle/>
          <a:p>
            <a:r>
              <a:rPr lang="en-US" altLang="en-US" smtClean="0"/>
              <a:t>Valuation function: </a:t>
            </a:r>
            <a:r>
              <a:rPr lang="en-US" altLang="en-US" sz="3200" i="1" smtClean="0">
                <a:solidFill>
                  <a:srgbClr val="FF0000"/>
                </a:solidFill>
                <a:latin typeface="Times New Roman" pitchFamily="18" charset="0"/>
                <a:cs typeface="Times New Roman" pitchFamily="18" charset="0"/>
              </a:rPr>
              <a:t>v</a:t>
            </a:r>
            <a:r>
              <a:rPr lang="en-US" altLang="en-US" sz="3200" i="1" baseline="-25000" smtClean="0">
                <a:solidFill>
                  <a:srgbClr val="FF0000"/>
                </a:solidFill>
                <a:latin typeface="Times New Roman" pitchFamily="18" charset="0"/>
                <a:cs typeface="Times New Roman" pitchFamily="18" charset="0"/>
              </a:rPr>
              <a:t>i</a:t>
            </a:r>
            <a:r>
              <a:rPr lang="en-US" altLang="en-US" sz="3200" i="1" smtClean="0">
                <a:solidFill>
                  <a:srgbClr val="FF0000"/>
                </a:solidFill>
                <a:latin typeface="Times New Roman" pitchFamily="18" charset="0"/>
                <a:cs typeface="Times New Roman" pitchFamily="18" charset="0"/>
              </a:rPr>
              <a:t>(q) = p</a:t>
            </a:r>
            <a:r>
              <a:rPr lang="en-US" altLang="en-US" sz="3200" i="1" baseline="-25000" smtClean="0">
                <a:solidFill>
                  <a:srgbClr val="FF0000"/>
                </a:solidFill>
                <a:latin typeface="Times New Roman" pitchFamily="18" charset="0"/>
                <a:cs typeface="Times New Roman" pitchFamily="18" charset="0"/>
              </a:rPr>
              <a:t>i</a:t>
            </a:r>
            <a:r>
              <a:rPr lang="en-US" altLang="en-US" sz="3200" i="1" smtClean="0">
                <a:solidFill>
                  <a:srgbClr val="FF0000"/>
                </a:solidFill>
                <a:latin typeface="Times New Roman" pitchFamily="18" charset="0"/>
                <a:cs typeface="Times New Roman" pitchFamily="18" charset="0"/>
              </a:rPr>
              <a:t>(q)·q + s</a:t>
            </a:r>
            <a:r>
              <a:rPr lang="en-US" altLang="en-US" sz="3200" i="1" baseline="-25000" smtClean="0">
                <a:solidFill>
                  <a:srgbClr val="FF0000"/>
                </a:solidFill>
                <a:latin typeface="Times New Roman" pitchFamily="18" charset="0"/>
                <a:cs typeface="Times New Roman" pitchFamily="18" charset="0"/>
              </a:rPr>
              <a:t>i</a:t>
            </a:r>
            <a:r>
              <a:rPr lang="en-US" altLang="en-US" sz="3200" i="1" smtClean="0">
                <a:solidFill>
                  <a:srgbClr val="FF0000"/>
                </a:solidFill>
                <a:latin typeface="Times New Roman" pitchFamily="18" charset="0"/>
                <a:cs typeface="Times New Roman" pitchFamily="18" charset="0"/>
              </a:rPr>
              <a:t> </a:t>
            </a:r>
          </a:p>
          <a:p>
            <a:pPr lvl="1"/>
            <a:r>
              <a:rPr lang="en-US" altLang="en-US" smtClean="0"/>
              <a:t> </a:t>
            </a:r>
            <a:r>
              <a:rPr lang="en-US" altLang="en-US" i="1" smtClean="0"/>
              <a:t>p</a:t>
            </a:r>
            <a:r>
              <a:rPr lang="en-US" altLang="en-US" i="1" baseline="-25000" smtClean="0"/>
              <a:t>i</a:t>
            </a:r>
            <a:r>
              <a:rPr lang="en-US" altLang="en-US" i="1" smtClean="0"/>
              <a:t>(q)</a:t>
            </a:r>
            <a:r>
              <a:rPr lang="en-US" altLang="en-US" smtClean="0"/>
              <a:t> - the inverse demand function for individual i </a:t>
            </a:r>
          </a:p>
          <a:p>
            <a:pPr lvl="1"/>
            <a:r>
              <a:rPr lang="en-US" altLang="en-US" smtClean="0"/>
              <a:t> </a:t>
            </a:r>
            <a:r>
              <a:rPr lang="en-US" altLang="en-US" i="1" smtClean="0"/>
              <a:t>s</a:t>
            </a:r>
            <a:r>
              <a:rPr lang="en-US" altLang="en-US" i="1" baseline="-25000" smtClean="0"/>
              <a:t>i</a:t>
            </a:r>
            <a:r>
              <a:rPr lang="en-US" altLang="en-US" smtClean="0"/>
              <a:t> - consumer surplus</a:t>
            </a:r>
          </a:p>
          <a:p>
            <a:pPr lvl="1"/>
            <a:r>
              <a:rPr lang="en-US" altLang="en-US" smtClean="0"/>
              <a:t> </a:t>
            </a:r>
            <a:r>
              <a:rPr lang="en-US" altLang="en-US" i="1" smtClean="0"/>
              <a:t>v</a:t>
            </a:r>
            <a:r>
              <a:rPr lang="en-US" altLang="en-US" i="1" baseline="-25000" smtClean="0"/>
              <a:t>i</a:t>
            </a:r>
            <a:r>
              <a:rPr lang="en-US" altLang="en-US" smtClean="0"/>
              <a:t> - total value to individual </a:t>
            </a:r>
            <a:r>
              <a:rPr lang="en-US" altLang="en-US" i="1" smtClean="0"/>
              <a:t>i</a:t>
            </a:r>
            <a:r>
              <a:rPr lang="en-US" altLang="en-US" smtClean="0"/>
              <a:t> of undertaking transactions of amount </a:t>
            </a:r>
            <a:r>
              <a:rPr lang="en-US" altLang="en-US" i="1" smtClean="0"/>
              <a:t>q</a:t>
            </a:r>
          </a:p>
          <a:p>
            <a:pPr lvl="2"/>
            <a:r>
              <a:rPr lang="en-US" altLang="en-US" smtClean="0"/>
              <a:t>Includes total spending on the good plus the value of consumer surplus obtained</a:t>
            </a:r>
          </a:p>
        </p:txBody>
      </p:sp>
    </p:spTree>
    <p:extLst>
      <p:ext uri="{BB962C8B-B14F-4D97-AF65-F5344CB8AC3E}">
        <p14:creationId xmlns:p14="http://schemas.microsoft.com/office/powerpoint/2010/main" val="257732358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itle 1"/>
          <p:cNvSpPr>
            <a:spLocks noGrp="1"/>
          </p:cNvSpPr>
          <p:nvPr>
            <p:ph type="title"/>
          </p:nvPr>
        </p:nvSpPr>
        <p:spPr/>
        <p:txBody>
          <a:bodyPr/>
          <a:lstStyle/>
          <a:p>
            <a:r>
              <a:rPr lang="en-US" altLang="en-US" smtClean="0"/>
              <a:t>Optimal linear two-part tariffs</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C6DDBC62-E494-4DF5-A8AC-C7A8474FBFFB}" type="slidenum">
              <a:rPr lang="en-US" smtClean="0"/>
              <a:pPr>
                <a:defRPr/>
              </a:pPr>
              <a:t>60</a:t>
            </a:fld>
            <a:endParaRPr lang="en-US"/>
          </a:p>
        </p:txBody>
      </p:sp>
      <p:sp>
        <p:nvSpPr>
          <p:cNvPr id="66563" name="Content Placeholder 2"/>
          <p:cNvSpPr>
            <a:spLocks noGrp="1"/>
          </p:cNvSpPr>
          <p:nvPr>
            <p:ph type="body" sz="quarter" idx="12"/>
          </p:nvPr>
        </p:nvSpPr>
        <p:spPr/>
        <p:txBody>
          <a:bodyPr/>
          <a:lstStyle/>
          <a:p>
            <a:r>
              <a:rPr lang="en-US" altLang="en-US" smtClean="0"/>
              <a:t>Assume </a:t>
            </a:r>
          </a:p>
          <a:p>
            <a:pPr lvl="1"/>
            <a:r>
              <a:rPr lang="en-US" altLang="en-US" smtClean="0"/>
              <a:t>There are only two demanders (or homogeneous groups of demanders)</a:t>
            </a:r>
          </a:p>
          <a:p>
            <a:pPr lvl="1"/>
            <a:r>
              <a:rPr lang="en-US" altLang="en-US" smtClean="0"/>
              <a:t>Person 1 has stronger preferences for this good than person 2: </a:t>
            </a:r>
            <a:r>
              <a:rPr lang="en-US" altLang="en-US" i="1" smtClean="0">
                <a:solidFill>
                  <a:srgbClr val="FF0000"/>
                </a:solidFill>
                <a:latin typeface="Times New Roman" pitchFamily="18" charset="0"/>
                <a:cs typeface="Times New Roman" pitchFamily="18" charset="0"/>
              </a:rPr>
              <a:t>v</a:t>
            </a:r>
            <a:r>
              <a:rPr lang="en-US" altLang="en-US" i="1" baseline="-25000" smtClean="0">
                <a:solidFill>
                  <a:srgbClr val="FF0000"/>
                </a:solidFill>
                <a:latin typeface="Times New Roman" pitchFamily="18" charset="0"/>
                <a:cs typeface="Times New Roman" pitchFamily="18" charset="0"/>
              </a:rPr>
              <a:t>1</a:t>
            </a:r>
            <a:r>
              <a:rPr lang="en-US" altLang="en-US" i="1" smtClean="0">
                <a:solidFill>
                  <a:srgbClr val="FF0000"/>
                </a:solidFill>
                <a:latin typeface="Times New Roman" pitchFamily="18" charset="0"/>
                <a:cs typeface="Times New Roman" pitchFamily="18" charset="0"/>
              </a:rPr>
              <a:t>(q) &gt; v</a:t>
            </a:r>
            <a:r>
              <a:rPr lang="en-US" altLang="en-US" i="1" baseline="-25000" smtClean="0">
                <a:solidFill>
                  <a:srgbClr val="FF0000"/>
                </a:solidFill>
                <a:latin typeface="Times New Roman" pitchFamily="18" charset="0"/>
                <a:cs typeface="Times New Roman" pitchFamily="18" charset="0"/>
              </a:rPr>
              <a:t>2</a:t>
            </a:r>
            <a:r>
              <a:rPr lang="en-US" altLang="en-US" i="1" smtClean="0">
                <a:solidFill>
                  <a:srgbClr val="FF0000"/>
                </a:solidFill>
                <a:latin typeface="Times New Roman" pitchFamily="18" charset="0"/>
                <a:cs typeface="Times New Roman" pitchFamily="18" charset="0"/>
              </a:rPr>
              <a:t>(q) </a:t>
            </a:r>
          </a:p>
          <a:p>
            <a:pPr lvl="2"/>
            <a:r>
              <a:rPr lang="en-US" altLang="en-US" smtClean="0">
                <a:cs typeface="Times New Roman" pitchFamily="18" charset="0"/>
              </a:rPr>
              <a:t>For all values of </a:t>
            </a:r>
            <a:r>
              <a:rPr lang="en-US" altLang="en-US" i="1" smtClean="0">
                <a:cs typeface="Times New Roman" pitchFamily="18" charset="0"/>
              </a:rPr>
              <a:t>q</a:t>
            </a:r>
          </a:p>
        </p:txBody>
      </p:sp>
    </p:spTree>
    <p:extLst>
      <p:ext uri="{BB962C8B-B14F-4D97-AF65-F5344CB8AC3E}">
        <p14:creationId xmlns:p14="http://schemas.microsoft.com/office/powerpoint/2010/main" val="234625590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itle 1"/>
          <p:cNvSpPr>
            <a:spLocks noGrp="1"/>
          </p:cNvSpPr>
          <p:nvPr>
            <p:ph type="title"/>
          </p:nvPr>
        </p:nvSpPr>
        <p:spPr/>
        <p:txBody>
          <a:bodyPr/>
          <a:lstStyle/>
          <a:p>
            <a:r>
              <a:rPr lang="en-US" altLang="en-US" smtClean="0"/>
              <a:t>Optimal linear two-part tariffs</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BD85B42F-B012-4752-BC77-B8C3A8CA4E86}" type="slidenum">
              <a:rPr lang="en-US" smtClean="0"/>
              <a:pPr>
                <a:defRPr/>
              </a:pPr>
              <a:t>61</a:t>
            </a:fld>
            <a:endParaRPr lang="en-US"/>
          </a:p>
        </p:txBody>
      </p:sp>
      <p:sp>
        <p:nvSpPr>
          <p:cNvPr id="67587" name="Content Placeholder 2"/>
          <p:cNvSpPr>
            <a:spLocks noGrp="1"/>
          </p:cNvSpPr>
          <p:nvPr>
            <p:ph type="body" sz="quarter" idx="12"/>
          </p:nvPr>
        </p:nvSpPr>
        <p:spPr/>
        <p:txBody>
          <a:bodyPr/>
          <a:lstStyle/>
          <a:p>
            <a:r>
              <a:rPr lang="en-US" altLang="en-US" smtClean="0"/>
              <a:t>The monopolist</a:t>
            </a:r>
          </a:p>
          <a:p>
            <a:pPr lvl="1"/>
            <a:r>
              <a:rPr lang="en-US" altLang="en-US" smtClean="0"/>
              <a:t>Constant marginal costs, c</a:t>
            </a:r>
          </a:p>
          <a:p>
            <a:pPr lvl="1"/>
            <a:r>
              <a:rPr lang="en-US" altLang="en-US" smtClean="0"/>
              <a:t>Chooses a tariff (revenue) schedule, T(q)</a:t>
            </a:r>
          </a:p>
          <a:p>
            <a:pPr lvl="2"/>
            <a:r>
              <a:rPr lang="en-US" altLang="en-US" smtClean="0"/>
              <a:t>Maximizes profits</a:t>
            </a:r>
          </a:p>
          <a:p>
            <a:pPr lvl="1"/>
            <a:r>
              <a:rPr lang="en-US" altLang="en-US" smtClean="0">
                <a:cs typeface="Times New Roman" pitchFamily="18" charset="0"/>
              </a:rPr>
              <a:t>Profits:   </a:t>
            </a:r>
            <a:r>
              <a:rPr lang="el-GR" altLang="en-US" i="1" smtClean="0">
                <a:solidFill>
                  <a:srgbClr val="FF0000"/>
                </a:solidFill>
                <a:latin typeface="Times New Roman" pitchFamily="18" charset="0"/>
                <a:cs typeface="Times New Roman" pitchFamily="18" charset="0"/>
              </a:rPr>
              <a:t>π</a:t>
            </a:r>
            <a:r>
              <a:rPr lang="en-US" altLang="en-US" i="1" smtClean="0">
                <a:solidFill>
                  <a:srgbClr val="FF0000"/>
                </a:solidFill>
                <a:latin typeface="Times New Roman" pitchFamily="18" charset="0"/>
                <a:cs typeface="Times New Roman" pitchFamily="18" charset="0"/>
              </a:rPr>
              <a:t> = T(q</a:t>
            </a:r>
            <a:r>
              <a:rPr lang="en-US" altLang="en-US" i="1" baseline="-25000" smtClean="0">
                <a:solidFill>
                  <a:srgbClr val="FF0000"/>
                </a:solidFill>
                <a:latin typeface="Times New Roman" pitchFamily="18" charset="0"/>
                <a:cs typeface="Times New Roman" pitchFamily="18" charset="0"/>
              </a:rPr>
              <a:t>1</a:t>
            </a:r>
            <a:r>
              <a:rPr lang="en-US" altLang="en-US" i="1" smtClean="0">
                <a:solidFill>
                  <a:srgbClr val="FF0000"/>
                </a:solidFill>
                <a:latin typeface="Times New Roman" pitchFamily="18" charset="0"/>
                <a:cs typeface="Times New Roman" pitchFamily="18" charset="0"/>
              </a:rPr>
              <a:t>) + T(q</a:t>
            </a:r>
            <a:r>
              <a:rPr lang="en-US" altLang="en-US" i="1" baseline="-25000" smtClean="0">
                <a:solidFill>
                  <a:srgbClr val="FF0000"/>
                </a:solidFill>
                <a:latin typeface="Times New Roman" pitchFamily="18" charset="0"/>
                <a:cs typeface="Times New Roman" pitchFamily="18" charset="0"/>
              </a:rPr>
              <a:t>2</a:t>
            </a:r>
            <a:r>
              <a:rPr lang="en-US" altLang="en-US" i="1" smtClean="0">
                <a:solidFill>
                  <a:srgbClr val="FF0000"/>
                </a:solidFill>
                <a:latin typeface="Times New Roman" pitchFamily="18" charset="0"/>
                <a:cs typeface="Times New Roman" pitchFamily="18" charset="0"/>
              </a:rPr>
              <a:t>) – c(q</a:t>
            </a:r>
            <a:r>
              <a:rPr lang="en-US" altLang="en-US" i="1" baseline="-25000" smtClean="0">
                <a:solidFill>
                  <a:srgbClr val="FF0000"/>
                </a:solidFill>
                <a:latin typeface="Times New Roman" pitchFamily="18" charset="0"/>
                <a:cs typeface="Times New Roman" pitchFamily="18" charset="0"/>
              </a:rPr>
              <a:t>1</a:t>
            </a:r>
            <a:r>
              <a:rPr lang="en-US" altLang="en-US" i="1" smtClean="0">
                <a:solidFill>
                  <a:srgbClr val="FF0000"/>
                </a:solidFill>
                <a:latin typeface="Times New Roman" pitchFamily="18" charset="0"/>
                <a:cs typeface="Times New Roman" pitchFamily="18" charset="0"/>
              </a:rPr>
              <a:t> + q</a:t>
            </a:r>
            <a:r>
              <a:rPr lang="en-US" altLang="en-US" i="1" baseline="-25000" smtClean="0">
                <a:solidFill>
                  <a:srgbClr val="FF0000"/>
                </a:solidFill>
                <a:latin typeface="Times New Roman" pitchFamily="18" charset="0"/>
                <a:cs typeface="Times New Roman" pitchFamily="18" charset="0"/>
              </a:rPr>
              <a:t>2</a:t>
            </a:r>
            <a:r>
              <a:rPr lang="en-US" altLang="en-US" i="1" smtClean="0">
                <a:solidFill>
                  <a:srgbClr val="FF0000"/>
                </a:solidFill>
                <a:latin typeface="Times New Roman" pitchFamily="18" charset="0"/>
                <a:cs typeface="Times New Roman" pitchFamily="18" charset="0"/>
              </a:rPr>
              <a:t>)</a:t>
            </a:r>
          </a:p>
          <a:p>
            <a:pPr lvl="1"/>
            <a:r>
              <a:rPr lang="en-US" altLang="en-US" smtClean="0"/>
              <a:t>Faces two constraints – to differentiate among consumers</a:t>
            </a:r>
          </a:p>
          <a:p>
            <a:pPr lvl="2"/>
            <a:r>
              <a:rPr lang="en-US" altLang="en-US" i="1" smtClean="0">
                <a:solidFill>
                  <a:srgbClr val="FF0000"/>
                </a:solidFill>
                <a:latin typeface="Times New Roman" pitchFamily="18" charset="0"/>
                <a:cs typeface="Times New Roman" pitchFamily="18" charset="0"/>
              </a:rPr>
              <a:t> v</a:t>
            </a:r>
            <a:r>
              <a:rPr lang="en-US" altLang="en-US" i="1" baseline="-25000" smtClean="0">
                <a:solidFill>
                  <a:srgbClr val="FF0000"/>
                </a:solidFill>
                <a:latin typeface="Times New Roman" pitchFamily="18" charset="0"/>
                <a:cs typeface="Times New Roman" pitchFamily="18" charset="0"/>
              </a:rPr>
              <a:t>2</a:t>
            </a:r>
            <a:r>
              <a:rPr lang="en-US" altLang="en-US" i="1" smtClean="0">
                <a:solidFill>
                  <a:srgbClr val="FF0000"/>
                </a:solidFill>
                <a:latin typeface="Times New Roman" pitchFamily="18" charset="0"/>
                <a:cs typeface="Times New Roman" pitchFamily="18" charset="0"/>
              </a:rPr>
              <a:t>(q</a:t>
            </a:r>
            <a:r>
              <a:rPr lang="en-US" altLang="en-US" i="1" baseline="-25000" smtClean="0">
                <a:solidFill>
                  <a:srgbClr val="FF0000"/>
                </a:solidFill>
                <a:latin typeface="Times New Roman" pitchFamily="18" charset="0"/>
                <a:cs typeface="Times New Roman" pitchFamily="18" charset="0"/>
              </a:rPr>
              <a:t>2</a:t>
            </a:r>
            <a:r>
              <a:rPr lang="en-US" altLang="en-US" i="1" smtClean="0">
                <a:solidFill>
                  <a:srgbClr val="FF0000"/>
                </a:solidFill>
                <a:latin typeface="Times New Roman" pitchFamily="18" charset="0"/>
                <a:cs typeface="Times New Roman" pitchFamily="18" charset="0"/>
              </a:rPr>
              <a:t>) – T(q</a:t>
            </a:r>
            <a:r>
              <a:rPr lang="en-US" altLang="en-US" i="1" baseline="-25000" smtClean="0">
                <a:solidFill>
                  <a:srgbClr val="FF0000"/>
                </a:solidFill>
                <a:latin typeface="Times New Roman" pitchFamily="18" charset="0"/>
                <a:cs typeface="Times New Roman" pitchFamily="18" charset="0"/>
              </a:rPr>
              <a:t>2</a:t>
            </a:r>
            <a:r>
              <a:rPr lang="en-US" altLang="en-US" i="1" smtClean="0">
                <a:solidFill>
                  <a:srgbClr val="FF0000"/>
                </a:solidFill>
                <a:latin typeface="Times New Roman" pitchFamily="18" charset="0"/>
                <a:cs typeface="Times New Roman" pitchFamily="18" charset="0"/>
              </a:rPr>
              <a:t>) </a:t>
            </a:r>
            <a:r>
              <a:rPr lang="en-US" altLang="en-US" i="1" smtClean="0">
                <a:solidFill>
                  <a:srgbClr val="FF0000"/>
                </a:solidFill>
                <a:cs typeface="Arial" charset="0"/>
              </a:rPr>
              <a:t>≥ 0 </a:t>
            </a:r>
          </a:p>
          <a:p>
            <a:pPr lvl="2"/>
            <a:r>
              <a:rPr lang="en-US" altLang="en-US" i="1" smtClean="0">
                <a:solidFill>
                  <a:srgbClr val="FF0000"/>
                </a:solidFill>
                <a:latin typeface="Times New Roman" pitchFamily="18" charset="0"/>
                <a:cs typeface="Times New Roman" pitchFamily="18" charset="0"/>
              </a:rPr>
              <a:t> v</a:t>
            </a:r>
            <a:r>
              <a:rPr lang="en-US" altLang="en-US" i="1" baseline="-25000" smtClean="0">
                <a:solidFill>
                  <a:srgbClr val="FF0000"/>
                </a:solidFill>
                <a:latin typeface="Times New Roman" pitchFamily="18" charset="0"/>
                <a:cs typeface="Times New Roman" pitchFamily="18" charset="0"/>
              </a:rPr>
              <a:t>1</a:t>
            </a:r>
            <a:r>
              <a:rPr lang="en-US" altLang="en-US" i="1" smtClean="0">
                <a:solidFill>
                  <a:srgbClr val="FF0000"/>
                </a:solidFill>
                <a:latin typeface="Times New Roman" pitchFamily="18" charset="0"/>
                <a:cs typeface="Times New Roman" pitchFamily="18" charset="0"/>
              </a:rPr>
              <a:t>(q</a:t>
            </a:r>
            <a:r>
              <a:rPr lang="en-US" altLang="en-US" i="1" baseline="-25000" smtClean="0">
                <a:solidFill>
                  <a:srgbClr val="FF0000"/>
                </a:solidFill>
                <a:latin typeface="Times New Roman" pitchFamily="18" charset="0"/>
                <a:cs typeface="Times New Roman" pitchFamily="18" charset="0"/>
              </a:rPr>
              <a:t>1</a:t>
            </a:r>
            <a:r>
              <a:rPr lang="en-US" altLang="en-US" i="1" smtClean="0">
                <a:solidFill>
                  <a:srgbClr val="FF0000"/>
                </a:solidFill>
                <a:latin typeface="Times New Roman" pitchFamily="18" charset="0"/>
                <a:cs typeface="Times New Roman" pitchFamily="18" charset="0"/>
              </a:rPr>
              <a:t>) – T(q</a:t>
            </a:r>
            <a:r>
              <a:rPr lang="en-US" altLang="en-US" i="1" baseline="-25000" smtClean="0">
                <a:solidFill>
                  <a:srgbClr val="FF0000"/>
                </a:solidFill>
                <a:latin typeface="Times New Roman" pitchFamily="18" charset="0"/>
                <a:cs typeface="Times New Roman" pitchFamily="18" charset="0"/>
              </a:rPr>
              <a:t>1</a:t>
            </a:r>
            <a:r>
              <a:rPr lang="en-US" altLang="en-US" i="1" smtClean="0">
                <a:solidFill>
                  <a:srgbClr val="FF0000"/>
                </a:solidFill>
                <a:latin typeface="Times New Roman" pitchFamily="18" charset="0"/>
                <a:cs typeface="Times New Roman" pitchFamily="18" charset="0"/>
              </a:rPr>
              <a:t>) </a:t>
            </a:r>
            <a:r>
              <a:rPr lang="en-US" altLang="en-US" i="1" smtClean="0">
                <a:solidFill>
                  <a:srgbClr val="FF0000"/>
                </a:solidFill>
                <a:cs typeface="Arial" charset="0"/>
              </a:rPr>
              <a:t>≥</a:t>
            </a:r>
            <a:r>
              <a:rPr lang="en-US" altLang="en-US" i="1" smtClean="0">
                <a:solidFill>
                  <a:srgbClr val="FF0000"/>
                </a:solidFill>
                <a:latin typeface="Times New Roman" pitchFamily="18" charset="0"/>
                <a:cs typeface="Times New Roman" pitchFamily="18" charset="0"/>
              </a:rPr>
              <a:t> v</a:t>
            </a:r>
            <a:r>
              <a:rPr lang="en-US" altLang="en-US" i="1" baseline="-25000" smtClean="0">
                <a:solidFill>
                  <a:srgbClr val="FF0000"/>
                </a:solidFill>
                <a:latin typeface="Times New Roman" pitchFamily="18" charset="0"/>
                <a:cs typeface="Times New Roman" pitchFamily="18" charset="0"/>
              </a:rPr>
              <a:t>1</a:t>
            </a:r>
            <a:r>
              <a:rPr lang="en-US" altLang="en-US" i="1" smtClean="0">
                <a:solidFill>
                  <a:srgbClr val="FF0000"/>
                </a:solidFill>
                <a:latin typeface="Times New Roman" pitchFamily="18" charset="0"/>
                <a:cs typeface="Times New Roman" pitchFamily="18" charset="0"/>
              </a:rPr>
              <a:t>(q</a:t>
            </a:r>
            <a:r>
              <a:rPr lang="en-US" altLang="en-US" i="1" baseline="-25000" smtClean="0">
                <a:solidFill>
                  <a:srgbClr val="FF0000"/>
                </a:solidFill>
                <a:latin typeface="Times New Roman" pitchFamily="18" charset="0"/>
                <a:cs typeface="Times New Roman" pitchFamily="18" charset="0"/>
              </a:rPr>
              <a:t>2</a:t>
            </a:r>
            <a:r>
              <a:rPr lang="en-US" altLang="en-US" i="1" smtClean="0">
                <a:solidFill>
                  <a:srgbClr val="FF0000"/>
                </a:solidFill>
                <a:latin typeface="Times New Roman" pitchFamily="18" charset="0"/>
                <a:cs typeface="Times New Roman" pitchFamily="18" charset="0"/>
              </a:rPr>
              <a:t>) – T(q</a:t>
            </a:r>
            <a:r>
              <a:rPr lang="en-US" altLang="en-US" i="1" baseline="-25000" smtClean="0">
                <a:solidFill>
                  <a:srgbClr val="FF0000"/>
                </a:solidFill>
                <a:latin typeface="Times New Roman" pitchFamily="18" charset="0"/>
                <a:cs typeface="Times New Roman" pitchFamily="18" charset="0"/>
              </a:rPr>
              <a:t>2</a:t>
            </a:r>
            <a:r>
              <a:rPr lang="en-US" altLang="en-US" i="1" smtClean="0">
                <a:solidFill>
                  <a:srgbClr val="FF0000"/>
                </a:solidFill>
                <a:latin typeface="Times New Roman" pitchFamily="18" charset="0"/>
                <a:cs typeface="Times New Roman" pitchFamily="18" charset="0"/>
              </a:rPr>
              <a:t>) </a:t>
            </a:r>
          </a:p>
        </p:txBody>
      </p:sp>
    </p:spTree>
    <p:extLst>
      <p:ext uri="{BB962C8B-B14F-4D97-AF65-F5344CB8AC3E}">
        <p14:creationId xmlns:p14="http://schemas.microsoft.com/office/powerpoint/2010/main" val="342631751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Title 1"/>
          <p:cNvSpPr>
            <a:spLocks noGrp="1"/>
          </p:cNvSpPr>
          <p:nvPr>
            <p:ph type="title"/>
          </p:nvPr>
        </p:nvSpPr>
        <p:spPr/>
        <p:txBody>
          <a:bodyPr/>
          <a:lstStyle/>
          <a:p>
            <a:r>
              <a:rPr lang="en-US" altLang="en-US" smtClean="0"/>
              <a:t>Pareto superiority </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3E724D34-ED23-4E3D-8249-42A7061FC481}" type="slidenum">
              <a:rPr lang="en-US" smtClean="0"/>
              <a:pPr>
                <a:defRPr/>
              </a:pPr>
              <a:t>62</a:t>
            </a:fld>
            <a:endParaRPr lang="en-US"/>
          </a:p>
        </p:txBody>
      </p:sp>
      <p:sp>
        <p:nvSpPr>
          <p:cNvPr id="12292" name="Content Placeholder 2"/>
          <p:cNvSpPr>
            <a:spLocks noGrp="1"/>
          </p:cNvSpPr>
          <p:nvPr>
            <p:ph type="body" sz="quarter" idx="12"/>
          </p:nvPr>
        </p:nvSpPr>
        <p:spPr/>
        <p:txBody>
          <a:bodyPr/>
          <a:lstStyle/>
          <a:p>
            <a:r>
              <a:rPr lang="en-US" altLang="en-US" dirty="0" smtClean="0"/>
              <a:t>Monopolist’s profit maximizing price, </a:t>
            </a:r>
            <a:r>
              <a:rPr lang="en-US" altLang="en-US" i="1" dirty="0" err="1" smtClean="0"/>
              <a:t>p</a:t>
            </a:r>
            <a:r>
              <a:rPr lang="en-US" altLang="en-US" i="1" baseline="-25000" dirty="0" err="1" smtClean="0"/>
              <a:t>M</a:t>
            </a:r>
            <a:endParaRPr lang="en-US" altLang="en-US" i="1" baseline="-25000" dirty="0" smtClean="0"/>
          </a:p>
          <a:p>
            <a:pPr lvl="1"/>
            <a:r>
              <a:rPr lang="en-US" altLang="en-US" dirty="0" smtClean="0"/>
              <a:t>Person 2 consumes </a:t>
            </a:r>
            <a:r>
              <a:rPr lang="en-US" altLang="en-US" i="1" dirty="0" smtClean="0"/>
              <a:t>q</a:t>
            </a:r>
            <a:r>
              <a:rPr lang="en-US" altLang="en-US" i="1" baseline="-25000" dirty="0" smtClean="0"/>
              <a:t>2</a:t>
            </a:r>
            <a:r>
              <a:rPr lang="en-US" altLang="en-US" i="1" baseline="30000" dirty="0" smtClean="0"/>
              <a:t>M</a:t>
            </a:r>
            <a:r>
              <a:rPr lang="en-US" altLang="en-US" dirty="0" smtClean="0"/>
              <a:t> </a:t>
            </a:r>
          </a:p>
          <a:p>
            <a:pPr lvl="2"/>
            <a:r>
              <a:rPr lang="en-US" altLang="en-US" dirty="0" smtClean="0"/>
              <a:t>Receives a net value from this consumption:  </a:t>
            </a:r>
            <a:r>
              <a:rPr lang="en-US" altLang="en-US" i="1" dirty="0" smtClean="0">
                <a:solidFill>
                  <a:srgbClr val="FF0000"/>
                </a:solidFill>
                <a:latin typeface="Times New Roman" panose="02020603050405020304" pitchFamily="18" charset="0"/>
                <a:cs typeface="Times New Roman" panose="02020603050405020304" pitchFamily="18" charset="0"/>
              </a:rPr>
              <a:t>v</a:t>
            </a:r>
            <a:r>
              <a:rPr lang="en-US" altLang="en-US" i="1" baseline="-25000" dirty="0" smtClean="0">
                <a:solidFill>
                  <a:srgbClr val="FF0000"/>
                </a:solidFill>
                <a:latin typeface="Times New Roman" panose="02020603050405020304" pitchFamily="18" charset="0"/>
                <a:cs typeface="Times New Roman" panose="02020603050405020304" pitchFamily="18" charset="0"/>
              </a:rPr>
              <a:t>2</a:t>
            </a:r>
            <a:r>
              <a:rPr lang="en-US" altLang="en-US" i="1" dirty="0" smtClean="0">
                <a:solidFill>
                  <a:srgbClr val="FF0000"/>
                </a:solidFill>
                <a:latin typeface="Times New Roman" panose="02020603050405020304" pitchFamily="18" charset="0"/>
                <a:cs typeface="Times New Roman" panose="02020603050405020304" pitchFamily="18" charset="0"/>
              </a:rPr>
              <a:t>(q</a:t>
            </a:r>
            <a:r>
              <a:rPr lang="en-US" altLang="en-US" i="1" baseline="-25000" dirty="0" smtClean="0">
                <a:solidFill>
                  <a:srgbClr val="FF0000"/>
                </a:solidFill>
                <a:latin typeface="Times New Roman" panose="02020603050405020304" pitchFamily="18" charset="0"/>
                <a:cs typeface="Times New Roman" panose="02020603050405020304" pitchFamily="18" charset="0"/>
              </a:rPr>
              <a:t>2</a:t>
            </a:r>
            <a:r>
              <a:rPr lang="en-US" altLang="en-US" i="1" baseline="30000" dirty="0" smtClean="0">
                <a:solidFill>
                  <a:srgbClr val="FF0000"/>
                </a:solidFill>
                <a:latin typeface="Times New Roman" panose="02020603050405020304" pitchFamily="18" charset="0"/>
                <a:cs typeface="Times New Roman" panose="02020603050405020304" pitchFamily="18" charset="0"/>
              </a:rPr>
              <a:t>M</a:t>
            </a:r>
            <a:r>
              <a:rPr lang="en-US" altLang="en-US" i="1" dirty="0" smtClean="0">
                <a:solidFill>
                  <a:srgbClr val="FF0000"/>
                </a:solidFill>
                <a:latin typeface="Times New Roman" panose="02020603050405020304" pitchFamily="18" charset="0"/>
                <a:cs typeface="Times New Roman" panose="02020603050405020304" pitchFamily="18" charset="0"/>
              </a:rPr>
              <a:t>) – p</a:t>
            </a:r>
            <a:r>
              <a:rPr lang="en-US" altLang="en-US" i="1" baseline="-25000" dirty="0" smtClean="0">
                <a:solidFill>
                  <a:srgbClr val="FF0000"/>
                </a:solidFill>
                <a:latin typeface="Times New Roman" panose="02020603050405020304" pitchFamily="18" charset="0"/>
                <a:cs typeface="Times New Roman" panose="02020603050405020304" pitchFamily="18" charset="0"/>
              </a:rPr>
              <a:t>M</a:t>
            </a:r>
            <a:r>
              <a:rPr lang="en-US" altLang="en-US" i="1" dirty="0" smtClean="0">
                <a:solidFill>
                  <a:srgbClr val="FF0000"/>
                </a:solidFill>
                <a:latin typeface="Times New Roman" panose="02020603050405020304" pitchFamily="18" charset="0"/>
                <a:cs typeface="Times New Roman" panose="02020603050405020304" pitchFamily="18" charset="0"/>
              </a:rPr>
              <a:t>q</a:t>
            </a:r>
            <a:r>
              <a:rPr lang="en-US" altLang="en-US" i="1" baseline="-25000" dirty="0" smtClean="0">
                <a:solidFill>
                  <a:srgbClr val="FF0000"/>
                </a:solidFill>
                <a:latin typeface="Times New Roman" panose="02020603050405020304" pitchFamily="18" charset="0"/>
                <a:cs typeface="Times New Roman" panose="02020603050405020304" pitchFamily="18" charset="0"/>
              </a:rPr>
              <a:t>2</a:t>
            </a:r>
            <a:r>
              <a:rPr lang="en-US" altLang="en-US" i="1" baseline="30000" dirty="0" smtClean="0">
                <a:solidFill>
                  <a:srgbClr val="FF0000"/>
                </a:solidFill>
                <a:latin typeface="Times New Roman" panose="02020603050405020304" pitchFamily="18" charset="0"/>
                <a:cs typeface="Times New Roman" panose="02020603050405020304" pitchFamily="18" charset="0"/>
              </a:rPr>
              <a:t>M</a:t>
            </a:r>
            <a:r>
              <a:rPr lang="en-US" altLang="en-US" i="1" dirty="0" smtClean="0">
                <a:solidFill>
                  <a:srgbClr val="FF0000"/>
                </a:solidFill>
                <a:latin typeface="Times New Roman" panose="02020603050405020304" pitchFamily="18" charset="0"/>
                <a:cs typeface="Times New Roman" panose="02020603050405020304" pitchFamily="18" charset="0"/>
              </a:rPr>
              <a:t>  </a:t>
            </a:r>
          </a:p>
          <a:p>
            <a:pPr lvl="1"/>
            <a:r>
              <a:rPr lang="en-US" altLang="en-US" dirty="0" smtClean="0"/>
              <a:t>Increased profits with a tariff schedule </a:t>
            </a:r>
          </a:p>
        </p:txBody>
      </p:sp>
      <p:graphicFrame>
        <p:nvGraphicFramePr>
          <p:cNvPr id="7" name="Object 3"/>
          <p:cNvGraphicFramePr>
            <a:graphicFrameLocks noChangeAspect="1"/>
          </p:cNvGraphicFramePr>
          <p:nvPr/>
        </p:nvGraphicFramePr>
        <p:xfrm>
          <a:off x="1735138" y="3540125"/>
          <a:ext cx="4221162" cy="1665288"/>
        </p:xfrm>
        <a:graphic>
          <a:graphicData uri="http://schemas.openxmlformats.org/presentationml/2006/ole">
            <mc:AlternateContent xmlns:mc="http://schemas.openxmlformats.org/markup-compatibility/2006">
              <mc:Choice xmlns:v="urn:schemas-microsoft-com:vml" Requires="v">
                <p:oleObj spid="_x0000_s313360" name="Equation" r:id="rId3" imgW="1866600" imgH="736560" progId="Equation.DSMT4">
                  <p:embed/>
                </p:oleObj>
              </mc:Choice>
              <mc:Fallback>
                <p:oleObj name="Equation" r:id="rId3" imgW="1866600" imgH="73656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35138" y="3540125"/>
                        <a:ext cx="4221162" cy="1665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27021363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Title 1"/>
          <p:cNvSpPr>
            <a:spLocks noGrp="1"/>
          </p:cNvSpPr>
          <p:nvPr>
            <p:ph type="title"/>
          </p:nvPr>
        </p:nvSpPr>
        <p:spPr/>
        <p:txBody>
          <a:bodyPr/>
          <a:lstStyle/>
          <a:p>
            <a:r>
              <a:rPr lang="en-US" altLang="en-US" smtClean="0"/>
              <a:t>Pareto superiority </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E05F1817-4D6F-4113-ADFF-EAF7BE0B38F5}" type="slidenum">
              <a:rPr lang="en-US" smtClean="0"/>
              <a:pPr>
                <a:defRPr/>
              </a:pPr>
              <a:t>63</a:t>
            </a:fld>
            <a:endParaRPr lang="en-US"/>
          </a:p>
        </p:txBody>
      </p:sp>
      <p:sp>
        <p:nvSpPr>
          <p:cNvPr id="13316" name="Content Placeholder 2"/>
          <p:cNvSpPr>
            <a:spLocks noGrp="1"/>
          </p:cNvSpPr>
          <p:nvPr>
            <p:ph type="body" sz="quarter" idx="12"/>
          </p:nvPr>
        </p:nvSpPr>
        <p:spPr/>
        <p:txBody>
          <a:bodyPr/>
          <a:lstStyle/>
          <a:p>
            <a:pPr lvl="1"/>
            <a:r>
              <a:rPr lang="en-US" altLang="en-US" smtClean="0"/>
              <a:t>Monopoly’s profits: </a:t>
            </a:r>
            <a:endParaRPr lang="en-US" altLang="en-US" smtClean="0">
              <a:solidFill>
                <a:srgbClr val="FF0000"/>
              </a:solidFill>
            </a:endParaRPr>
          </a:p>
          <a:p>
            <a:pPr lvl="1"/>
            <a:endParaRPr lang="en-US" altLang="en-US" smtClean="0"/>
          </a:p>
        </p:txBody>
      </p:sp>
      <p:graphicFrame>
        <p:nvGraphicFramePr>
          <p:cNvPr id="100356" name="Object 3"/>
          <p:cNvGraphicFramePr>
            <a:graphicFrameLocks noChangeAspect="1"/>
          </p:cNvGraphicFramePr>
          <p:nvPr/>
        </p:nvGraphicFramePr>
        <p:xfrm>
          <a:off x="995363" y="1570038"/>
          <a:ext cx="5792787" cy="1819275"/>
        </p:xfrm>
        <a:graphic>
          <a:graphicData uri="http://schemas.openxmlformats.org/presentationml/2006/ole">
            <mc:AlternateContent xmlns:mc="http://schemas.openxmlformats.org/markup-compatibility/2006">
              <mc:Choice xmlns:v="urn:schemas-microsoft-com:vml" Requires="v">
                <p:oleObj spid="_x0000_s314383" name="Equation" r:id="rId3" imgW="2349360" imgH="736560" progId="Equation.DSMT4">
                  <p:embed/>
                </p:oleObj>
              </mc:Choice>
              <mc:Fallback>
                <p:oleObj name="Equation" r:id="rId3" imgW="2349360" imgH="73656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5363" y="1570038"/>
                        <a:ext cx="5792787" cy="1819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4606627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100356"/>
                                        </p:tgtEl>
                                        <p:attrNameLst>
                                          <p:attrName>style.visibility</p:attrName>
                                        </p:attrNameLst>
                                      </p:cBhvr>
                                      <p:to>
                                        <p:strVal val="visible"/>
                                      </p:to>
                                    </p:set>
                                    <p:animEffect transition="in" filter="wipe(left)">
                                      <p:cBhvr>
                                        <p:cTn id="7" dur="500"/>
                                        <p:tgtEl>
                                          <p:spTgt spid="1003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itle 1"/>
          <p:cNvSpPr>
            <a:spLocks noGrp="1"/>
          </p:cNvSpPr>
          <p:nvPr>
            <p:ph type="title"/>
          </p:nvPr>
        </p:nvSpPr>
        <p:spPr/>
        <p:txBody>
          <a:bodyPr/>
          <a:lstStyle/>
          <a:p>
            <a:r>
              <a:rPr lang="en-US" altLang="en-US" smtClean="0"/>
              <a:t>Tied sales</a:t>
            </a:r>
          </a:p>
        </p:txBody>
      </p:sp>
      <p:sp>
        <p:nvSpPr>
          <p:cNvPr id="5" name="Footer Placeholder 4"/>
          <p:cNvSpPr>
            <a:spLocks noGrp="1"/>
          </p:cNvSpPr>
          <p:nvPr>
            <p:ph type="ftr" sz="quarter" idx="10"/>
          </p:nvPr>
        </p:nvSpPr>
        <p:spPr/>
        <p:txBody>
          <a:bodyPr/>
          <a:lstStyle/>
          <a:p>
            <a:pPr>
              <a:defRPr/>
            </a:pPr>
            <a:r>
              <a:rPr lang="en-US" smtClean="0"/>
              <a:t>© 2017 Cengage Learning®. May not be scanned, copied or duplicated, or posted to a publicly accessible website, in whole or in part, except for use as permitted in a license distributed with a certain product or service or otherwise on a password-protected website or school-approved learning management system for classroom use.</a:t>
            </a:r>
            <a:endParaRPr lang="en-US">
              <a:cs typeface="+mn-cs"/>
            </a:endParaRPr>
          </a:p>
        </p:txBody>
      </p:sp>
      <p:sp>
        <p:nvSpPr>
          <p:cNvPr id="4" name="Slide Number Placeholder 3"/>
          <p:cNvSpPr>
            <a:spLocks noGrp="1"/>
          </p:cNvSpPr>
          <p:nvPr>
            <p:ph type="sldNum" sz="quarter" idx="11"/>
          </p:nvPr>
        </p:nvSpPr>
        <p:spPr/>
        <p:txBody>
          <a:bodyPr/>
          <a:lstStyle/>
          <a:p>
            <a:pPr>
              <a:defRPr/>
            </a:pPr>
            <a:fld id="{B463822D-277C-4C4F-AB3F-8785D64A81D5}" type="slidenum">
              <a:rPr lang="en-US" smtClean="0"/>
              <a:pPr>
                <a:defRPr/>
              </a:pPr>
              <a:t>64</a:t>
            </a:fld>
            <a:endParaRPr lang="en-US"/>
          </a:p>
        </p:txBody>
      </p:sp>
      <p:sp>
        <p:nvSpPr>
          <p:cNvPr id="68611" name="Content Placeholder 2"/>
          <p:cNvSpPr>
            <a:spLocks noGrp="1"/>
          </p:cNvSpPr>
          <p:nvPr>
            <p:ph type="body" sz="quarter" idx="12"/>
          </p:nvPr>
        </p:nvSpPr>
        <p:spPr/>
        <p:txBody>
          <a:bodyPr/>
          <a:lstStyle/>
          <a:p>
            <a:r>
              <a:rPr lang="en-US" altLang="en-US" smtClean="0"/>
              <a:t>Tied sales</a:t>
            </a:r>
          </a:p>
          <a:p>
            <a:pPr lvl="1"/>
            <a:r>
              <a:rPr lang="en-US" altLang="en-US" smtClean="0"/>
              <a:t>A monopoly will market two goods together</a:t>
            </a:r>
          </a:p>
          <a:p>
            <a:pPr lvl="2"/>
            <a:r>
              <a:rPr lang="en-US" altLang="en-US" smtClean="0"/>
              <a:t>Situation poses a number of possibilities for discriminatory pricing schemes</a:t>
            </a:r>
          </a:p>
          <a:p>
            <a:r>
              <a:rPr lang="en-US" altLang="en-US" smtClean="0"/>
              <a:t>Market segmentation</a:t>
            </a:r>
          </a:p>
          <a:p>
            <a:pPr lvl="1"/>
            <a:r>
              <a:rPr lang="en-US" altLang="en-US" smtClean="0"/>
              <a:t>Achieved through quality variation</a:t>
            </a:r>
          </a:p>
          <a:p>
            <a:pPr lvl="1"/>
            <a:r>
              <a:rPr lang="en-US" altLang="en-US" smtClean="0"/>
              <a:t>Significant transfer from consumer surplus to firms</a:t>
            </a:r>
          </a:p>
        </p:txBody>
      </p:sp>
    </p:spTree>
    <p:extLst>
      <p:ext uri="{BB962C8B-B14F-4D97-AF65-F5344CB8AC3E}">
        <p14:creationId xmlns:p14="http://schemas.microsoft.com/office/powerpoint/2010/main" val="20051685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theme/theme1.xml><?xml version="1.0" encoding="utf-8"?>
<a:theme xmlns:a="http://schemas.openxmlformats.org/drawingml/2006/main" name="chapt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mai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figur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tabl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exampl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extension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9631</TotalTime>
  <Words>7012</Words>
  <Application>Microsoft Office PowerPoint</Application>
  <PresentationFormat>On-screen Show (4:3)</PresentationFormat>
  <Paragraphs>628</Paragraphs>
  <Slides>64</Slides>
  <Notes>1</Notes>
  <HiddenSlides>0</HiddenSlides>
  <MMClips>0</MMClips>
  <ScaleCrop>false</ScaleCrop>
  <HeadingPairs>
    <vt:vector size="6" baseType="variant">
      <vt:variant>
        <vt:lpstr>Theme</vt:lpstr>
      </vt:variant>
      <vt:variant>
        <vt:i4>6</vt:i4>
      </vt:variant>
      <vt:variant>
        <vt:lpstr>Embedded OLE Servers</vt:lpstr>
      </vt:variant>
      <vt:variant>
        <vt:i4>1</vt:i4>
      </vt:variant>
      <vt:variant>
        <vt:lpstr>Slide Titles</vt:lpstr>
      </vt:variant>
      <vt:variant>
        <vt:i4>64</vt:i4>
      </vt:variant>
    </vt:vector>
  </HeadingPairs>
  <TitlesOfParts>
    <vt:vector size="71" baseType="lpstr">
      <vt:lpstr>chapter</vt:lpstr>
      <vt:lpstr>main</vt:lpstr>
      <vt:lpstr>figure</vt:lpstr>
      <vt:lpstr>table</vt:lpstr>
      <vt:lpstr>example</vt:lpstr>
      <vt:lpstr>extensions</vt:lpstr>
      <vt:lpstr>Equation</vt:lpstr>
      <vt:lpstr>CHAPTER      14    Monopoly</vt:lpstr>
      <vt:lpstr>Barriers to Entry</vt:lpstr>
      <vt:lpstr>Technical Barriers to Entry</vt:lpstr>
      <vt:lpstr>Technical Barriers to Entry</vt:lpstr>
      <vt:lpstr>Legal Barriers to Entry</vt:lpstr>
      <vt:lpstr>Creation of Barriers to Entry</vt:lpstr>
      <vt:lpstr>Profit Maximization</vt:lpstr>
      <vt:lpstr>Profit Maximization</vt:lpstr>
      <vt:lpstr>14.1 Profit Maximization and Price Determination   for a Monopoly </vt:lpstr>
      <vt:lpstr>Profit Maximization</vt:lpstr>
      <vt:lpstr>The Inverse Elasticity Rule</vt:lpstr>
      <vt:lpstr>The Inverse Elasticity Rule</vt:lpstr>
      <vt:lpstr>Monopoly Profits</vt:lpstr>
      <vt:lpstr>14.2 Monopoly Profits Depend on the Relationship between the Demand and Average Cost Curves</vt:lpstr>
      <vt:lpstr>There is No Monopoly Supply Curve</vt:lpstr>
      <vt:lpstr>14.1  Calculating Monopoly Output</vt:lpstr>
      <vt:lpstr>14.1  Calculating Monopoly Output</vt:lpstr>
      <vt:lpstr>14.2  Monopoly with Simple Demand Curves</vt:lpstr>
      <vt:lpstr>14.2  Monopoly with Simple Demand Curves</vt:lpstr>
      <vt:lpstr>Misallocated Resources Under Monopoly</vt:lpstr>
      <vt:lpstr>14.3 Allocational and Distributional Effects of     Monopoly</vt:lpstr>
      <vt:lpstr>14.3  Welfare Losses and Elasticity</vt:lpstr>
      <vt:lpstr>14.3  Welfare Losses and Elasticity</vt:lpstr>
      <vt:lpstr>14.3  Welfare Losses and Elasticity</vt:lpstr>
      <vt:lpstr>14.3  Welfare Losses and Elasticity</vt:lpstr>
      <vt:lpstr>Comparative Statics Analysis Of Monopoly</vt:lpstr>
      <vt:lpstr>Comparative Statics Analysis Of Monopoly</vt:lpstr>
      <vt:lpstr>Monopoly Product Quality</vt:lpstr>
      <vt:lpstr>Monopoly Product Quality</vt:lpstr>
      <vt:lpstr>Monopoly Product Quality</vt:lpstr>
      <vt:lpstr>Monopoly Product Quality</vt:lpstr>
      <vt:lpstr>Monopoly Product Quality</vt:lpstr>
      <vt:lpstr>Product Durability</vt:lpstr>
      <vt:lpstr>Price Discrimination</vt:lpstr>
      <vt:lpstr>14.4 Perfect Price Discrimination</vt:lpstr>
      <vt:lpstr>14.4  Perfect Price Discrimination</vt:lpstr>
      <vt:lpstr>Segmented Markets</vt:lpstr>
      <vt:lpstr>Segmented Markets</vt:lpstr>
      <vt:lpstr>Segmented Markets</vt:lpstr>
      <vt:lpstr>14.5 Price Discrimination across Segmented   Markets</vt:lpstr>
      <vt:lpstr>14.5  Price Discrimination across Segmented   Markets</vt:lpstr>
      <vt:lpstr>14.6 Scale Drawing of the Two Widget Markets  In Numerical Example</vt:lpstr>
      <vt:lpstr>14.5  Price Discrimination across Segmented   Markets</vt:lpstr>
      <vt:lpstr>Price Discrimination Through Non-Uniform  Schedules</vt:lpstr>
      <vt:lpstr>Two-Part Tariffs</vt:lpstr>
      <vt:lpstr>Two-Part Tariffs</vt:lpstr>
      <vt:lpstr>Two-Part Tariffs</vt:lpstr>
      <vt:lpstr>14.6  Two-Part Tariffs</vt:lpstr>
      <vt:lpstr>14.6  Two-Part Tariffs</vt:lpstr>
      <vt:lpstr>Dynamic Price Discrimination and the Coase Conjecture</vt:lpstr>
      <vt:lpstr>Regulation of Monopoly</vt:lpstr>
      <vt:lpstr>14.7 Price Regulation for a Decreasing Cost   Monopoly</vt:lpstr>
      <vt:lpstr>Regulation of Monopoly</vt:lpstr>
      <vt:lpstr>14.8 Two-Tier Pricing Schedule</vt:lpstr>
      <vt:lpstr>Regulation of Monopoly</vt:lpstr>
      <vt:lpstr>Regulation of Monopoly</vt:lpstr>
      <vt:lpstr>Regulation of Monopoly</vt:lpstr>
      <vt:lpstr>Dynamic Views of Monopoly</vt:lpstr>
      <vt:lpstr>Optimal linear two-part tariffs</vt:lpstr>
      <vt:lpstr>Optimal linear two-part tariffs</vt:lpstr>
      <vt:lpstr>Optimal linear two-part tariffs</vt:lpstr>
      <vt:lpstr>Pareto superiority </vt:lpstr>
      <vt:lpstr>Pareto superiority </vt:lpstr>
      <vt:lpstr>Tied sales</vt:lpstr>
    </vt:vector>
  </TitlesOfParts>
  <Company>Eastern Illinois University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Andreea Chiritescu</dc:creator>
  <cp:lastModifiedBy>Andreea Chiritescu</cp:lastModifiedBy>
  <cp:revision>598</cp:revision>
  <dcterms:created xsi:type="dcterms:W3CDTF">2016-06-05T19:40:39Z</dcterms:created>
  <dcterms:modified xsi:type="dcterms:W3CDTF">2016-06-21T19:54:46Z</dcterms:modified>
</cp:coreProperties>
</file>