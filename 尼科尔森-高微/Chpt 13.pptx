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theme/theme4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4" r:id="rId3"/>
    <p:sldMasterId id="2147483677" r:id="rId4"/>
    <p:sldMasterId id="2147483669" r:id="rId5"/>
    <p:sldMasterId id="2147483672" r:id="rId6"/>
  </p:sldMasterIdLst>
  <p:notesMasterIdLst>
    <p:notesMasterId r:id="rId95"/>
  </p:notesMasterIdLst>
  <p:handoutMasterIdLst>
    <p:handoutMasterId r:id="rId96"/>
  </p:handoutMasterIdLst>
  <p:sldIdLst>
    <p:sldId id="258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  <p:sldId id="286" r:id="rId18"/>
    <p:sldId id="287" r:id="rId19"/>
    <p:sldId id="360" r:id="rId20"/>
    <p:sldId id="361" r:id="rId21"/>
    <p:sldId id="362" r:id="rId22"/>
    <p:sldId id="363" r:id="rId23"/>
    <p:sldId id="364" r:id="rId24"/>
    <p:sldId id="365" r:id="rId25"/>
    <p:sldId id="291" r:id="rId26"/>
    <p:sldId id="292" r:id="rId27"/>
    <p:sldId id="293" r:id="rId28"/>
    <p:sldId id="294" r:id="rId29"/>
    <p:sldId id="295" r:id="rId30"/>
    <p:sldId id="296" r:id="rId31"/>
    <p:sldId id="297" r:id="rId32"/>
    <p:sldId id="298" r:id="rId33"/>
    <p:sldId id="299" r:id="rId34"/>
    <p:sldId id="300" r:id="rId35"/>
    <p:sldId id="301" r:id="rId36"/>
    <p:sldId id="302" r:id="rId37"/>
    <p:sldId id="303" r:id="rId38"/>
    <p:sldId id="304" r:id="rId39"/>
    <p:sldId id="305" r:id="rId40"/>
    <p:sldId id="306" r:id="rId41"/>
    <p:sldId id="307" r:id="rId42"/>
    <p:sldId id="308" r:id="rId43"/>
    <p:sldId id="309" r:id="rId44"/>
    <p:sldId id="310" r:id="rId45"/>
    <p:sldId id="311" r:id="rId46"/>
    <p:sldId id="312" r:id="rId47"/>
    <p:sldId id="313" r:id="rId48"/>
    <p:sldId id="314" r:id="rId49"/>
    <p:sldId id="315" r:id="rId50"/>
    <p:sldId id="316" r:id="rId51"/>
    <p:sldId id="317" r:id="rId52"/>
    <p:sldId id="318" r:id="rId53"/>
    <p:sldId id="319" r:id="rId54"/>
    <p:sldId id="320" r:id="rId55"/>
    <p:sldId id="321" r:id="rId56"/>
    <p:sldId id="322" r:id="rId57"/>
    <p:sldId id="323" r:id="rId58"/>
    <p:sldId id="324" r:id="rId59"/>
    <p:sldId id="325" r:id="rId60"/>
    <p:sldId id="326" r:id="rId61"/>
    <p:sldId id="327" r:id="rId62"/>
    <p:sldId id="328" r:id="rId63"/>
    <p:sldId id="329" r:id="rId64"/>
    <p:sldId id="330" r:id="rId65"/>
    <p:sldId id="331" r:id="rId66"/>
    <p:sldId id="332" r:id="rId67"/>
    <p:sldId id="333" r:id="rId68"/>
    <p:sldId id="334" r:id="rId69"/>
    <p:sldId id="335" r:id="rId70"/>
    <p:sldId id="336" r:id="rId71"/>
    <p:sldId id="337" r:id="rId72"/>
    <p:sldId id="338" r:id="rId73"/>
    <p:sldId id="339" r:id="rId74"/>
    <p:sldId id="340" r:id="rId75"/>
    <p:sldId id="341" r:id="rId76"/>
    <p:sldId id="342" r:id="rId77"/>
    <p:sldId id="343" r:id="rId78"/>
    <p:sldId id="344" r:id="rId79"/>
    <p:sldId id="345" r:id="rId80"/>
    <p:sldId id="346" r:id="rId81"/>
    <p:sldId id="347" r:id="rId82"/>
    <p:sldId id="348" r:id="rId83"/>
    <p:sldId id="349" r:id="rId84"/>
    <p:sldId id="350" r:id="rId85"/>
    <p:sldId id="351" r:id="rId86"/>
    <p:sldId id="352" r:id="rId87"/>
    <p:sldId id="353" r:id="rId88"/>
    <p:sldId id="354" r:id="rId89"/>
    <p:sldId id="355" r:id="rId90"/>
    <p:sldId id="356" r:id="rId91"/>
    <p:sldId id="357" r:id="rId92"/>
    <p:sldId id="358" r:id="rId93"/>
    <p:sldId id="359" r:id="rId9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D56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4" autoAdjust="0"/>
    <p:restoredTop sz="98883" autoAdjust="0"/>
  </p:normalViewPr>
  <p:slideViewPr>
    <p:cSldViewPr>
      <p:cViewPr>
        <p:scale>
          <a:sx n="66" d="100"/>
          <a:sy n="66" d="100"/>
        </p:scale>
        <p:origin x="-948" y="-1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23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95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0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slide" Target="slides/slide49.xml"/><Relationship Id="rId63" Type="http://schemas.openxmlformats.org/officeDocument/2006/relationships/slide" Target="slides/slide57.xml"/><Relationship Id="rId68" Type="http://schemas.openxmlformats.org/officeDocument/2006/relationships/slide" Target="slides/slide62.xml"/><Relationship Id="rId76" Type="http://schemas.openxmlformats.org/officeDocument/2006/relationships/slide" Target="slides/slide70.xml"/><Relationship Id="rId84" Type="http://schemas.openxmlformats.org/officeDocument/2006/relationships/slide" Target="slides/slide78.xml"/><Relationship Id="rId89" Type="http://schemas.openxmlformats.org/officeDocument/2006/relationships/slide" Target="slides/slide83.xml"/><Relationship Id="rId97" Type="http://schemas.openxmlformats.org/officeDocument/2006/relationships/presProps" Target="presProps.xml"/><Relationship Id="rId7" Type="http://schemas.openxmlformats.org/officeDocument/2006/relationships/slide" Target="slides/slide1.xml"/><Relationship Id="rId71" Type="http://schemas.openxmlformats.org/officeDocument/2006/relationships/slide" Target="slides/slide65.xml"/><Relationship Id="rId92" Type="http://schemas.openxmlformats.org/officeDocument/2006/relationships/slide" Target="slides/slide8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slide" Target="slides/slide47.xml"/><Relationship Id="rId58" Type="http://schemas.openxmlformats.org/officeDocument/2006/relationships/slide" Target="slides/slide52.xml"/><Relationship Id="rId66" Type="http://schemas.openxmlformats.org/officeDocument/2006/relationships/slide" Target="slides/slide60.xml"/><Relationship Id="rId74" Type="http://schemas.openxmlformats.org/officeDocument/2006/relationships/slide" Target="slides/slide68.xml"/><Relationship Id="rId79" Type="http://schemas.openxmlformats.org/officeDocument/2006/relationships/slide" Target="slides/slide73.xml"/><Relationship Id="rId87" Type="http://schemas.openxmlformats.org/officeDocument/2006/relationships/slide" Target="slides/slide81.xml"/><Relationship Id="rId5" Type="http://schemas.openxmlformats.org/officeDocument/2006/relationships/slideMaster" Target="slideMasters/slideMaster5.xml"/><Relationship Id="rId61" Type="http://schemas.openxmlformats.org/officeDocument/2006/relationships/slide" Target="slides/slide55.xml"/><Relationship Id="rId82" Type="http://schemas.openxmlformats.org/officeDocument/2006/relationships/slide" Target="slides/slide76.xml"/><Relationship Id="rId90" Type="http://schemas.openxmlformats.org/officeDocument/2006/relationships/slide" Target="slides/slide84.xml"/><Relationship Id="rId95" Type="http://schemas.openxmlformats.org/officeDocument/2006/relationships/notesMaster" Target="notesMasters/notesMaster1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slide" Target="slides/slide50.xml"/><Relationship Id="rId64" Type="http://schemas.openxmlformats.org/officeDocument/2006/relationships/slide" Target="slides/slide58.xml"/><Relationship Id="rId69" Type="http://schemas.openxmlformats.org/officeDocument/2006/relationships/slide" Target="slides/slide63.xml"/><Relationship Id="rId77" Type="http://schemas.openxmlformats.org/officeDocument/2006/relationships/slide" Target="slides/slide71.xml"/><Relationship Id="rId100" Type="http://schemas.openxmlformats.org/officeDocument/2006/relationships/tableStyles" Target="tableStyle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72" Type="http://schemas.openxmlformats.org/officeDocument/2006/relationships/slide" Target="slides/slide66.xml"/><Relationship Id="rId80" Type="http://schemas.openxmlformats.org/officeDocument/2006/relationships/slide" Target="slides/slide74.xml"/><Relationship Id="rId85" Type="http://schemas.openxmlformats.org/officeDocument/2006/relationships/slide" Target="slides/slide79.xml"/><Relationship Id="rId93" Type="http://schemas.openxmlformats.org/officeDocument/2006/relationships/slide" Target="slides/slide87.xml"/><Relationship Id="rId9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slide" Target="slides/slide53.xml"/><Relationship Id="rId67" Type="http://schemas.openxmlformats.org/officeDocument/2006/relationships/slide" Target="slides/slide61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slide" Target="slides/slide48.xml"/><Relationship Id="rId62" Type="http://schemas.openxmlformats.org/officeDocument/2006/relationships/slide" Target="slides/slide56.xml"/><Relationship Id="rId70" Type="http://schemas.openxmlformats.org/officeDocument/2006/relationships/slide" Target="slides/slide64.xml"/><Relationship Id="rId75" Type="http://schemas.openxmlformats.org/officeDocument/2006/relationships/slide" Target="slides/slide69.xml"/><Relationship Id="rId83" Type="http://schemas.openxmlformats.org/officeDocument/2006/relationships/slide" Target="slides/slide77.xml"/><Relationship Id="rId88" Type="http://schemas.openxmlformats.org/officeDocument/2006/relationships/slide" Target="slides/slide82.xml"/><Relationship Id="rId91" Type="http://schemas.openxmlformats.org/officeDocument/2006/relationships/slide" Target="slides/slide85.xml"/><Relationship Id="rId96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slide" Target="slides/slide51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openxmlformats.org/officeDocument/2006/relationships/slide" Target="slides/slide54.xml"/><Relationship Id="rId65" Type="http://schemas.openxmlformats.org/officeDocument/2006/relationships/slide" Target="slides/slide59.xml"/><Relationship Id="rId73" Type="http://schemas.openxmlformats.org/officeDocument/2006/relationships/slide" Target="slides/slide67.xml"/><Relationship Id="rId78" Type="http://schemas.openxmlformats.org/officeDocument/2006/relationships/slide" Target="slides/slide72.xml"/><Relationship Id="rId81" Type="http://schemas.openxmlformats.org/officeDocument/2006/relationships/slide" Target="slides/slide75.xml"/><Relationship Id="rId86" Type="http://schemas.openxmlformats.org/officeDocument/2006/relationships/slide" Target="slides/slide80.xml"/><Relationship Id="rId94" Type="http://schemas.openxmlformats.org/officeDocument/2006/relationships/slide" Target="slides/slide88.xml"/><Relationship Id="rId9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9" Type="http://schemas.openxmlformats.org/officeDocument/2006/relationships/slide" Target="slides/slide3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image" Target="../media/image2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2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4.w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6.w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7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3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2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emf"/></Relationships>
</file>

<file path=ppt/drawings/_rels/vmlDrawing26.vml.rels><?xml version="1.0" encoding="UTF-8" standalone="yes"?>
<Relationships xmlns="http://schemas.openxmlformats.org/package/2006/relationships"><Relationship Id="rId2" Type="http://schemas.openxmlformats.org/officeDocument/2006/relationships/image" Target="../media/image53.emf"/><Relationship Id="rId1" Type="http://schemas.openxmlformats.org/officeDocument/2006/relationships/image" Target="../media/image5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C3143B-620F-4987-B4C6-8DA41D14F534}" type="datetimeFigureOut">
              <a:rPr lang="en-US" smtClean="0"/>
              <a:t>6/18/2016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9E537F-0D91-4DE0-B9F5-55E2B21187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5922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B7A522-1067-4090-8338-D2D3A24AAAF6}" type="datetimeFigureOut">
              <a:rPr lang="en-US" smtClean="0"/>
              <a:t>6/18/2016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19A4D4-42B8-482F-A3F9-BD6E0B3BC1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813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19A4D4-42B8-482F-A3F9-BD6E0B3BC1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018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0" y="2971800"/>
            <a:ext cx="9144000" cy="1676400"/>
          </a:xfrm>
          <a:prstGeom prst="rect">
            <a:avLst/>
          </a:prstGeom>
          <a:noFill/>
        </p:spPr>
        <p:txBody>
          <a:bodyPr/>
          <a:lstStyle>
            <a:lvl1pPr marL="91440">
              <a:lnSpc>
                <a:spcPct val="100000"/>
              </a:lnSpc>
              <a:spcBef>
                <a:spcPts val="600"/>
              </a:spcBef>
              <a:defRPr sz="5400" b="0"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				Master title style</a:t>
            </a:r>
            <a:endParaRPr lang="en-US" dirty="0"/>
          </a:p>
        </p:txBody>
      </p:sp>
      <p:sp>
        <p:nvSpPr>
          <p:cNvPr id="8" name="Title Placeholder 1"/>
          <p:cNvSpPr txBox="1">
            <a:spLocks/>
          </p:cNvSpPr>
          <p:nvPr userDrawn="1"/>
        </p:nvSpPr>
        <p:spPr>
          <a:xfrm>
            <a:off x="-76200" y="0"/>
            <a:ext cx="9220200" cy="6096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vert="horz" lIns="0" tIns="182880" rIns="0" bIns="45720" rtlCol="0" anchor="ctr">
            <a:noAutofit/>
          </a:bodyPr>
          <a:lstStyle>
            <a:lvl1pPr algn="ctr" defTabSz="914400" rtl="0" eaLnBrk="1" latinLnBrk="0" hangingPunct="1">
              <a:lnSpc>
                <a:spcPct val="200000"/>
              </a:lnSpc>
              <a:spcBef>
                <a:spcPct val="0"/>
              </a:spcBef>
              <a:buNone/>
              <a:defRPr sz="4400" b="0" kern="1200" baseline="300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Walter Nicholson | Christopher Snyder	 12th edition</a:t>
            </a:r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18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51816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0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610600" cy="1143000"/>
          </a:xfrm>
        </p:spPr>
        <p:txBody>
          <a:bodyPr/>
          <a:lstStyle>
            <a:lvl1pPr>
              <a:defRPr>
                <a:solidFill>
                  <a:srgbClr val="002D56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8534400" cy="2819400"/>
          </a:xfrm>
        </p:spPr>
        <p:txBody>
          <a:bodyPr>
            <a:no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381000" y="4114800"/>
            <a:ext cx="8534400" cy="21336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4859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8203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2971800" cy="45259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1341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5695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381000" y="3429000"/>
            <a:ext cx="8382000" cy="2743200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192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55642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58674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0793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381000" y="533400"/>
            <a:ext cx="8382000" cy="2667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>
                <a:solidFill>
                  <a:srgbClr val="002060"/>
                </a:solidFill>
              </a:defRPr>
            </a:lvl1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457200" y="3352800"/>
            <a:ext cx="8305800" cy="2895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490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theme" Target="../theme/theme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C:\Users\Andreea\Desktop\Cengage\Nicholson 12e\cover\ch bk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0800"/>
            <a:ext cx="9144000" cy="3779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Andreea\Desktop\Cengage\Nicholson 12e\cover\MT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6184"/>
            <a:ext cx="9144000" cy="224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0"/>
            <a:ext cx="8686800" cy="457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079196-2514-49FB-B48C-98AEBE754E6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ubtitle 2"/>
          <p:cNvSpPr txBox="1">
            <a:spLocks/>
          </p:cNvSpPr>
          <p:nvPr userDrawn="1"/>
        </p:nvSpPr>
        <p:spPr>
          <a:xfrm>
            <a:off x="5105400" y="5562600"/>
            <a:ext cx="4038600" cy="914400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0" hangingPunct="1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600" smtClean="0">
                <a:latin typeface="Arial" pitchFamily="34" charset="0"/>
              </a:rPr>
              <a:t>PowerPoint Slides prepared by: 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V. Andreea CHIRITESCU</a:t>
            </a:r>
          </a:p>
          <a:p>
            <a:pPr>
              <a:defRPr/>
            </a:pPr>
            <a:r>
              <a:rPr lang="en-US" sz="1600" smtClean="0">
                <a:latin typeface="Arial" pitchFamily="34" charset="0"/>
              </a:rPr>
              <a:t>Eastern Illinois University</a:t>
            </a:r>
            <a:endParaRPr lang="en-US" sz="1600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605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lnSpc>
          <a:spcPct val="200000"/>
        </a:lnSpc>
        <a:spcBef>
          <a:spcPct val="0"/>
        </a:spcBef>
        <a:buNone/>
        <a:defRPr sz="4400" b="0" kern="1200" baseline="300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8" y="1143000"/>
            <a:ext cx="8601072" cy="53355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0" y="6400801"/>
            <a:ext cx="8686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86800" y="6492875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B335A-255B-4303-A333-FBB711D61B6F}" type="slidenum">
              <a:rPr lang="en-US" smtClean="0"/>
              <a:t>‹#›</a:t>
            </a:fld>
            <a:endParaRPr lang="en-US"/>
          </a:p>
        </p:txBody>
      </p:sp>
      <p:pic>
        <p:nvPicPr>
          <p:cNvPr id="3074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3043235" y="3043235"/>
            <a:ext cx="6400800" cy="3143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C:\Users\Andreea\Desktop\Cengage\Nicholson 12e\cover\red.png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14328" y="985836"/>
            <a:ext cx="8829672" cy="15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163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6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4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0"/>
            <a:ext cx="80010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4100" name="Picture 4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3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236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14287" y="471488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8248650" y="457200"/>
            <a:ext cx="895350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00150" y="0"/>
            <a:ext cx="794385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 rot="10800000">
            <a:off x="1" y="5505448"/>
            <a:ext cx="9144000" cy="895351"/>
            <a:chOff x="138110" y="3505200"/>
            <a:chExt cx="9144000" cy="895351"/>
          </a:xfrm>
        </p:grpSpPr>
        <p:pic>
          <p:nvPicPr>
            <p:cNvPr id="9" name="Picture 2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123823" y="3519488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/>
            <p:cNvPicPr>
              <a:picLocks noChangeAspect="1" noChangeArrowheads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8386760" y="3505200"/>
              <a:ext cx="895350" cy="866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84994" name="Picture 2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00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75858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0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033712" y="3414712"/>
            <a:ext cx="64770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144001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64344" y="0"/>
            <a:ext cx="7379656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764345" cy="47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609600"/>
            <a:ext cx="8229600" cy="5867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45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4" r:id="rId2"/>
    <p:sldLayoutId id="2147483679" r:id="rId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510213" y="3224211"/>
            <a:ext cx="6858001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-2895600" y="3095624"/>
            <a:ext cx="6200777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00200" y="0"/>
            <a:ext cx="75438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-1" y="6400801"/>
            <a:ext cx="8696325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96324" y="6492875"/>
            <a:ext cx="4476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BCF9F2-1022-4C47-AC3A-FA21E418CE1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7240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75283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89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914400" rtl="0" eaLnBrk="1" latinLnBrk="0" hangingPunct="1"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rgbClr val="C00000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5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8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9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4" Type="http://schemas.openxmlformats.org/officeDocument/2006/relationships/image" Target="../media/image2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1.w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23.w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4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5.e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9.e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28.wmf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30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31.w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32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4" Type="http://schemas.openxmlformats.org/officeDocument/2006/relationships/image" Target="../media/image34.wmf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4" Type="http://schemas.openxmlformats.org/officeDocument/2006/relationships/image" Target="../media/image35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6.w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4" Type="http://schemas.openxmlformats.org/officeDocument/2006/relationships/image" Target="../media/image37.w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41.w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0.vml"/><Relationship Id="rId4" Type="http://schemas.openxmlformats.org/officeDocument/2006/relationships/image" Target="../media/image43.wmf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4" Type="http://schemas.openxmlformats.org/officeDocument/2006/relationships/image" Target="../media/image44.wmf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4" Type="http://schemas.openxmlformats.org/officeDocument/2006/relationships/image" Target="../media/image45.w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47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46.wmf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49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48.wmf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5.vml"/><Relationship Id="rId4" Type="http://schemas.openxmlformats.org/officeDocument/2006/relationships/image" Target="../media/image51.emf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2.emf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" y="2895600"/>
            <a:ext cx="8991600" cy="1676400"/>
          </a:xfrm>
        </p:spPr>
        <p:txBody>
          <a:bodyPr/>
          <a:lstStyle/>
          <a:p>
            <a:pPr algn="l"/>
            <a:r>
              <a:rPr lang="en-US" dirty="0" smtClean="0"/>
              <a:t>CHAPTER</a:t>
            </a:r>
            <a:r>
              <a:rPr lang="en-US" b="1" baseline="0" dirty="0"/>
              <a:t> </a:t>
            </a:r>
            <a:r>
              <a:rPr lang="en-US" b="1" baseline="0" dirty="0" smtClean="0"/>
              <a:t>	</a:t>
            </a:r>
            <a:r>
              <a:rPr lang="en-US" sz="4800" b="1" baseline="0" dirty="0" smtClean="0"/>
              <a:t> </a:t>
            </a:r>
            <a:r>
              <a:rPr lang="en-US" sz="4800" b="1" baseline="0" dirty="0" smtClean="0"/>
              <a:t>General Equilibrium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baseline="0" dirty="0" smtClean="0"/>
              <a:t> </a:t>
            </a:r>
            <a:r>
              <a:rPr lang="en-US" baseline="0" dirty="0" smtClean="0"/>
              <a:t>13</a:t>
            </a:r>
            <a:r>
              <a:rPr lang="en-US" b="1" baseline="0" dirty="0" smtClean="0"/>
              <a:t>	 		</a:t>
            </a:r>
            <a:r>
              <a:rPr lang="en-US" sz="4800" b="1" baseline="0" dirty="0" smtClean="0"/>
              <a:t>and Welfare</a:t>
            </a:r>
            <a:endParaRPr lang="en-US" sz="4400" b="1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F079196-2514-49FB-B48C-98AEBE754E6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192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Perfectly Competitive Price System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Assume that all markets are perfectly </a:t>
            </a:r>
            <a:r>
              <a:rPr lang="en-US" altLang="en-US" dirty="0" smtClean="0"/>
              <a:t>competitive price system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There is some large number of homogeneous goods in the economy</a:t>
            </a:r>
          </a:p>
          <a:p>
            <a:pPr lvl="1"/>
            <a:r>
              <a:rPr lang="en-US" altLang="en-US" dirty="0" smtClean="0"/>
              <a:t>Each good has an equilibrium price</a:t>
            </a:r>
          </a:p>
          <a:p>
            <a:pPr lvl="1"/>
            <a:r>
              <a:rPr lang="en-US" altLang="en-US" dirty="0" smtClean="0"/>
              <a:t>There are no transaction or transportation costs</a:t>
            </a:r>
          </a:p>
          <a:p>
            <a:pPr lvl="1"/>
            <a:r>
              <a:rPr lang="en-US" altLang="en-US" dirty="0" smtClean="0"/>
              <a:t>Individuals and firms have perfect information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5E0C64-8346-4CC0-8EFF-E4DDC22BED69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0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Law of One Price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8534400" cy="5334000"/>
          </a:xfrm>
        </p:spPr>
        <p:txBody>
          <a:bodyPr/>
          <a:lstStyle/>
          <a:p>
            <a:r>
              <a:rPr lang="en-US" altLang="en-US" dirty="0" smtClean="0"/>
              <a:t>A homogeneous good </a:t>
            </a:r>
          </a:p>
          <a:p>
            <a:pPr lvl="1"/>
            <a:r>
              <a:rPr lang="en-US" altLang="en-US" sz="3000" dirty="0" smtClean="0"/>
              <a:t>Trades at the same price no matter who buys it or who sells it</a:t>
            </a:r>
          </a:p>
          <a:p>
            <a:r>
              <a:rPr lang="en-US" altLang="en-US" dirty="0" smtClean="0"/>
              <a:t>If one good traded at two different prices</a:t>
            </a:r>
          </a:p>
          <a:p>
            <a:pPr lvl="1"/>
            <a:r>
              <a:rPr lang="en-US" altLang="en-US" sz="3000" dirty="0" smtClean="0"/>
              <a:t>Demanders would rush to buy the good where it was cheaper </a:t>
            </a:r>
          </a:p>
          <a:p>
            <a:pPr lvl="1"/>
            <a:r>
              <a:rPr lang="en-US" altLang="en-US" sz="3000" dirty="0" smtClean="0"/>
              <a:t>And firms would try to sell their output where the price was higher</a:t>
            </a:r>
          </a:p>
          <a:p>
            <a:pPr lvl="2"/>
            <a:r>
              <a:rPr lang="en-US" altLang="en-US" dirty="0" smtClean="0"/>
              <a:t>These actions would tend to equalize the price of the good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6566BEA-2A75-4AC2-BD75-02C28DA01715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958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en-US" altLang="en-US" smtClean="0"/>
              <a:t>Behavioral Assumptions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altLang="en-US" dirty="0" smtClean="0"/>
              <a:t>There are a large number of people buying any one good</a:t>
            </a:r>
          </a:p>
          <a:p>
            <a:pPr lvl="1"/>
            <a:r>
              <a:rPr lang="en-US" altLang="en-US" dirty="0" smtClean="0"/>
              <a:t>Each person takes all prices as given and seeks to maximize utility given his budget constraint</a:t>
            </a:r>
          </a:p>
          <a:p>
            <a:pPr marL="514350" indent="-514350">
              <a:buFontTx/>
              <a:buAutoNum type="arabicPeriod"/>
            </a:pPr>
            <a:r>
              <a:rPr lang="en-US" altLang="en-US" dirty="0" smtClean="0"/>
              <a:t>There are a large number of firms producing each good</a:t>
            </a:r>
          </a:p>
          <a:p>
            <a:pPr lvl="1"/>
            <a:r>
              <a:rPr lang="en-US" altLang="en-US" dirty="0" smtClean="0"/>
              <a:t>Each firm takes all prices as given and attempts to maximize profits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88AAB4B-FB1E-45AD-B0F9-BEB77C46E5AE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201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General </a:t>
            </a:r>
            <a:r>
              <a:rPr lang="en-US" altLang="en-US" dirty="0" smtClean="0"/>
              <a:t>Equilibrium</a:t>
            </a:r>
            <a:endParaRPr lang="en-US" altLang="en-US" dirty="0" smtClean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Assumptions</a:t>
            </a:r>
          </a:p>
          <a:p>
            <a:pPr lvl="1"/>
            <a:r>
              <a:rPr lang="en-US" altLang="en-US" dirty="0" smtClean="0"/>
              <a:t>There are only two goods,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endParaRPr lang="en-US" altLang="en-US" dirty="0" smtClean="0"/>
          </a:p>
          <a:p>
            <a:r>
              <a:rPr lang="en-US" altLang="en-US" dirty="0" smtClean="0"/>
              <a:t>Demand: all </a:t>
            </a:r>
            <a:r>
              <a:rPr lang="en-US" altLang="en-US" dirty="0" smtClean="0"/>
              <a:t>individuals have identical preferences</a:t>
            </a:r>
          </a:p>
          <a:p>
            <a:pPr lvl="1"/>
            <a:r>
              <a:rPr lang="en-US" altLang="en-US" dirty="0" smtClean="0"/>
              <a:t>Represented by an indifference </a:t>
            </a:r>
            <a:r>
              <a:rPr lang="en-US" altLang="en-US" dirty="0" smtClean="0"/>
              <a:t>map defined over the quantities of the two goods</a:t>
            </a:r>
            <a:endParaRPr lang="en-US" altLang="en-US" dirty="0" smtClean="0"/>
          </a:p>
          <a:p>
            <a:r>
              <a:rPr lang="en-US" altLang="en-US" dirty="0" smtClean="0"/>
              <a:t>Supply: production </a:t>
            </a:r>
            <a:r>
              <a:rPr lang="en-US" altLang="en-US" dirty="0" smtClean="0"/>
              <a:t>possibility curve </a:t>
            </a:r>
          </a:p>
          <a:p>
            <a:pPr lvl="1"/>
            <a:r>
              <a:rPr lang="en-US" altLang="en-US" dirty="0" smtClean="0"/>
              <a:t>Can be used to show how outputs and inputs are related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406405A-9662-404E-B617-76B91362A2F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042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Edgeworth Box </a:t>
            </a:r>
            <a:r>
              <a:rPr lang="en-US" altLang="en-US" dirty="0" smtClean="0"/>
              <a:t>Diagram for Production</a:t>
            </a:r>
            <a:endParaRPr lang="en-US" altLang="en-US" dirty="0" smtClean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Production possibility curve for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Amounts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 are fixed</a:t>
            </a:r>
          </a:p>
          <a:p>
            <a:r>
              <a:rPr lang="en-US" altLang="en-US" dirty="0" smtClean="0"/>
              <a:t>An Edgeworth box </a:t>
            </a:r>
          </a:p>
          <a:p>
            <a:pPr lvl="1"/>
            <a:r>
              <a:rPr lang="en-US" altLang="en-US" dirty="0" smtClean="0"/>
              <a:t>Shows every possible way the existing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</a:rPr>
              <a:t>l</a:t>
            </a:r>
            <a:r>
              <a:rPr lang="en-US" altLang="en-US" dirty="0" smtClean="0"/>
              <a:t> might be used to produce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/>
              <a:t>Any point in the box represents a fully employed allocation of the available resources to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A371434-265E-471F-B80D-311F1ADCA06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458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6834421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8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13.1	Construction of an Edgeworth Box Diagram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for Production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39939" name="Text Placeholder 2"/>
          <p:cNvSpPr>
            <a:spLocks noGrp="1"/>
          </p:cNvSpPr>
          <p:nvPr>
            <p:ph sz="half" idx="1"/>
          </p:nvPr>
        </p:nvSpPr>
        <p:spPr>
          <a:xfrm>
            <a:off x="76200" y="1295400"/>
            <a:ext cx="2133600" cy="49831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sz="1700" dirty="0"/>
              <a:t>The dimensions of this diagram are given by the total quantities of labor and capital available. Quantities of these resources devoted to x production are measured from origin O</a:t>
            </a:r>
            <a:r>
              <a:rPr lang="en-US" altLang="en-US" sz="1700" baseline="-25000" dirty="0"/>
              <a:t>x</a:t>
            </a:r>
            <a:r>
              <a:rPr lang="en-US" altLang="en-US" sz="1700" dirty="0"/>
              <a:t>; quantities devoted to y are measured from O</a:t>
            </a:r>
            <a:r>
              <a:rPr lang="en-US" altLang="en-US" sz="1700" baseline="-25000" dirty="0"/>
              <a:t>y</a:t>
            </a:r>
            <a:r>
              <a:rPr lang="en-US" altLang="en-US" sz="1700" dirty="0"/>
              <a:t>. Any point in the box represents a fully employed allocation of the available resources to the two goods.</a:t>
            </a:r>
          </a:p>
          <a:p>
            <a:pPr>
              <a:spcBef>
                <a:spcPct val="0"/>
              </a:spcBef>
            </a:pPr>
            <a:endParaRPr lang="en-US" altLang="en-US" sz="1700" dirty="0" smtClean="0"/>
          </a:p>
        </p:txBody>
      </p:sp>
      <p:sp>
        <p:nvSpPr>
          <p:cNvPr id="39942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496FC25-D5DF-41B9-BE96-5D3EEE859FD6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253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6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9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9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 smtClean="0"/>
              <a:t>Efficient Allocations</a:t>
            </a:r>
            <a:endParaRPr lang="en-US" altLang="en-US" dirty="0" smtClean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Many allocations in the Edgeworth box </a:t>
            </a:r>
          </a:p>
          <a:p>
            <a:pPr lvl="1"/>
            <a:r>
              <a:rPr lang="en-US" altLang="en-US" dirty="0" smtClean="0"/>
              <a:t>Are technically inefficient</a:t>
            </a:r>
          </a:p>
          <a:p>
            <a:pPr lvl="2"/>
            <a:r>
              <a:rPr lang="en-US" altLang="en-US" dirty="0" smtClean="0"/>
              <a:t>It is possible to produce more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more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by shifting capital and labor around</a:t>
            </a:r>
          </a:p>
          <a:p>
            <a:r>
              <a:rPr lang="en-US" altLang="en-US" dirty="0" smtClean="0"/>
              <a:t>Assume: competitive markets will not exhibit inefficient input choices</a:t>
            </a:r>
          </a:p>
          <a:p>
            <a:r>
              <a:rPr lang="en-US" altLang="en-US" dirty="0" smtClean="0"/>
              <a:t>We want to find the </a:t>
            </a:r>
            <a:r>
              <a:rPr lang="en-US" altLang="en-US" u="sng" dirty="0" smtClean="0"/>
              <a:t>efficient allocations</a:t>
            </a:r>
          </a:p>
          <a:p>
            <a:pPr lvl="1"/>
            <a:r>
              <a:rPr lang="en-US" altLang="en-US" dirty="0" smtClean="0"/>
              <a:t>They illustrate the actual production outcomes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32B74B8-EC56-4801-9E1A-180A0FB2C0C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44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Efficient Allocations</a:t>
            </a:r>
            <a:endParaRPr lang="en-US" altLang="en-US" dirty="0" smtClean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Isoquant maps for the two goods</a:t>
            </a:r>
          </a:p>
          <a:p>
            <a:pPr lvl="1"/>
            <a:r>
              <a:rPr lang="en-US" altLang="en-US" dirty="0" smtClean="0"/>
              <a:t>The isoquant map for good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uses </a:t>
            </a:r>
            <a:r>
              <a:rPr lang="en-US" altLang="en-US" i="1" dirty="0" smtClean="0"/>
              <a:t>O</a:t>
            </a:r>
            <a:r>
              <a:rPr lang="en-US" altLang="en-US" i="1" baseline="-25000" dirty="0" smtClean="0"/>
              <a:t>x</a:t>
            </a:r>
            <a:r>
              <a:rPr lang="en-US" altLang="en-US" dirty="0" smtClean="0"/>
              <a:t> as the origin</a:t>
            </a:r>
          </a:p>
          <a:p>
            <a:pPr lvl="1"/>
            <a:r>
              <a:rPr lang="en-US" altLang="en-US" dirty="0" smtClean="0"/>
              <a:t>The isoquant map for good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uses </a:t>
            </a:r>
            <a:r>
              <a:rPr lang="en-US" altLang="en-US" i="1" dirty="0" smtClean="0"/>
              <a:t>O</a:t>
            </a:r>
            <a:r>
              <a:rPr lang="en-US" altLang="en-US" i="1" baseline="-25000" dirty="0" smtClean="0"/>
              <a:t>y</a:t>
            </a:r>
            <a:r>
              <a:rPr lang="en-US" altLang="en-US" dirty="0" smtClean="0"/>
              <a:t> as the origin</a:t>
            </a:r>
          </a:p>
          <a:p>
            <a:r>
              <a:rPr lang="en-US" altLang="en-US" dirty="0" smtClean="0"/>
              <a:t>Efficient allocations </a:t>
            </a:r>
          </a:p>
          <a:p>
            <a:pPr lvl="1"/>
            <a:r>
              <a:rPr lang="en-US" altLang="en-US" dirty="0" smtClean="0"/>
              <a:t>Will occur where the isoquants are tangent to one another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8C72C64-661F-4406-8ACB-AE31F8A47AEF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52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975" y="1387475"/>
            <a:ext cx="6270625" cy="463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0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13.2	Edgeworth Box Diagram of Efficiency in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 smtClean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Production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43011" name="Text Placeholder 2"/>
          <p:cNvSpPr>
            <a:spLocks noGrp="1"/>
          </p:cNvSpPr>
          <p:nvPr>
            <p:ph sz="half" idx="1"/>
          </p:nvPr>
        </p:nvSpPr>
        <p:spPr>
          <a:xfrm>
            <a:off x="0" y="1600200"/>
            <a:ext cx="2895600" cy="4525963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This diagram adds production isoquants for x and y to Figure 13.1. It then shows technically efficient ways to allocate the fixed amounts of k and l between the production of the two outputs. The line joining O</a:t>
            </a:r>
            <a:r>
              <a:rPr lang="en-US" altLang="en-US" baseline="-25000" dirty="0"/>
              <a:t>x</a:t>
            </a:r>
            <a:r>
              <a:rPr lang="en-US" altLang="en-US" dirty="0"/>
              <a:t> and O</a:t>
            </a:r>
            <a:r>
              <a:rPr lang="en-US" altLang="en-US" baseline="-25000" dirty="0"/>
              <a:t>y</a:t>
            </a:r>
            <a:r>
              <a:rPr lang="en-US" altLang="en-US" dirty="0"/>
              <a:t> is the locus of these efficient points. Along this line, the RTS (of l for k) in the production of good x is equal to the RTS in the production of y.</a:t>
            </a:r>
          </a:p>
        </p:txBody>
      </p:sp>
      <p:sp>
        <p:nvSpPr>
          <p:cNvPr id="4301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4FFF674-B990-4669-9332-FECD35A0F3E1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387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Production Possibility Frontier</a:t>
            </a:r>
          </a:p>
        </p:txBody>
      </p:sp>
      <p:sp>
        <p:nvSpPr>
          <p:cNvPr id="440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locus of efficient points </a:t>
            </a:r>
          </a:p>
          <a:p>
            <a:pPr lvl="1"/>
            <a:r>
              <a:rPr lang="en-US" altLang="en-US" smtClean="0"/>
              <a:t>Shows the maximum output of </a:t>
            </a:r>
            <a:r>
              <a:rPr lang="en-US" altLang="en-US" i="1" smtClean="0"/>
              <a:t>y</a:t>
            </a:r>
            <a:r>
              <a:rPr lang="en-US" altLang="en-US" smtClean="0"/>
              <a:t> that can be produced for any level of </a:t>
            </a:r>
            <a:r>
              <a:rPr lang="en-US" altLang="en-US" i="1" smtClean="0"/>
              <a:t>x</a:t>
            </a:r>
          </a:p>
          <a:p>
            <a:pPr lvl="1"/>
            <a:r>
              <a:rPr lang="en-US" altLang="en-US" smtClean="0"/>
              <a:t>Use this information to construct a production possibility frontier</a:t>
            </a:r>
          </a:p>
          <a:p>
            <a:pPr lvl="2"/>
            <a:r>
              <a:rPr lang="en-US" altLang="en-US" smtClean="0"/>
              <a:t>Shows the alternative outputs of </a:t>
            </a:r>
            <a:r>
              <a:rPr lang="en-US" altLang="en-US" i="1" smtClean="0"/>
              <a:t>x</a:t>
            </a:r>
            <a:r>
              <a:rPr lang="en-US" altLang="en-US" smtClean="0"/>
              <a:t> and </a:t>
            </a:r>
            <a:r>
              <a:rPr lang="en-US" altLang="en-US" i="1" smtClean="0"/>
              <a:t>y</a:t>
            </a:r>
            <a:r>
              <a:rPr lang="en-US" altLang="en-US" smtClean="0"/>
              <a:t> that can be produced with the fixed capital and labor inputs that are employed efficiently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10855B8-B67B-4E1D-BD00-42107AC6A10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73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Freeform 64"/>
          <p:cNvSpPr>
            <a:spLocks/>
          </p:cNvSpPr>
          <p:nvPr/>
        </p:nvSpPr>
        <p:spPr bwMode="auto">
          <a:xfrm>
            <a:off x="4059237" y="1824038"/>
            <a:ext cx="739775" cy="544512"/>
          </a:xfrm>
          <a:custGeom>
            <a:avLst/>
            <a:gdLst>
              <a:gd name="T0" fmla="*/ 0 w 739303"/>
              <a:gd name="T1" fmla="*/ 0 h 544749"/>
              <a:gd name="T2" fmla="*/ 0 w 739303"/>
              <a:gd name="T3" fmla="*/ 539885 h 544749"/>
              <a:gd name="T4" fmla="*/ 739303 w 739303"/>
              <a:gd name="T5" fmla="*/ 544749 h 544749"/>
              <a:gd name="T6" fmla="*/ 603115 w 739303"/>
              <a:gd name="T7" fmla="*/ 413426 h 544749"/>
              <a:gd name="T8" fmla="*/ 447473 w 739303"/>
              <a:gd name="T9" fmla="*/ 277238 h 544749"/>
              <a:gd name="T10" fmla="*/ 321013 w 739303"/>
              <a:gd name="T11" fmla="*/ 184826 h 544749"/>
              <a:gd name="T12" fmla="*/ 170234 w 739303"/>
              <a:gd name="T13" fmla="*/ 92413 h 544749"/>
              <a:gd name="T14" fmla="*/ 0 w 739303"/>
              <a:gd name="T15" fmla="*/ 0 h 544749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739303" h="544749">
                <a:moveTo>
                  <a:pt x="0" y="0"/>
                </a:moveTo>
                <a:lnTo>
                  <a:pt x="0" y="539885"/>
                </a:lnTo>
                <a:lnTo>
                  <a:pt x="739303" y="544749"/>
                </a:lnTo>
                <a:lnTo>
                  <a:pt x="603115" y="413426"/>
                </a:lnTo>
                <a:lnTo>
                  <a:pt x="447473" y="277238"/>
                </a:lnTo>
                <a:lnTo>
                  <a:pt x="321013" y="184826"/>
                </a:lnTo>
                <a:lnTo>
                  <a:pt x="170234" y="92413"/>
                </a:lnTo>
                <a:lnTo>
                  <a:pt x="0" y="0"/>
                </a:lnTo>
                <a:close/>
              </a:path>
            </a:pathLst>
          </a:custGeom>
          <a:solidFill>
            <a:srgbClr val="FF99FF"/>
          </a:solidFill>
          <a:ln w="9525" cap="flat" cmpd="sng" algn="ctr">
            <a:solidFill>
              <a:srgbClr val="FF99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059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13.3	Production Possibility </a:t>
            </a:r>
            <a:r>
              <a:rPr lang="en-US" altLang="en-US" dirty="0" smtClean="0"/>
              <a:t>Frontier</a:t>
            </a:r>
            <a:endParaRPr lang="en-US" altLang="en-US" dirty="0" smtClean="0"/>
          </a:p>
        </p:txBody>
      </p:sp>
      <p:sp>
        <p:nvSpPr>
          <p:cNvPr id="45060" name="Text Placeholder 2"/>
          <p:cNvSpPr>
            <a:spLocks noGrp="1"/>
          </p:cNvSpPr>
          <p:nvPr>
            <p:ph sz="half" idx="1"/>
          </p:nvPr>
        </p:nvSpPr>
        <p:spPr>
          <a:xfrm>
            <a:off x="152400" y="4800600"/>
            <a:ext cx="8839200" cy="1524000"/>
          </a:xfrm>
        </p:spPr>
        <p:txBody>
          <a:bodyPr>
            <a:no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The production possibility frontier shows the alternative combinations of x and y that can be efficiently produced by a firm with fixed resources. The curve can be derived from Figure 13.2 by varying inputs between the production of x and y while maintaining the conditions for efficiency. The negative of the slope of the production possibility curve is called the rate of product transformation (RPT).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5063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2AD97A-81C7-46A7-90F0-41D41D1848DB}" type="slidenum">
              <a:rPr lang="en-US" smtClean="0"/>
              <a:pPr>
                <a:defRPr/>
              </a:pPr>
              <a:t>12</a:t>
            </a:fld>
            <a:endParaRPr lang="en-US" dirty="0"/>
          </a:p>
        </p:txBody>
      </p:sp>
      <p:grpSp>
        <p:nvGrpSpPr>
          <p:cNvPr id="19" name="Group 44"/>
          <p:cNvGrpSpPr>
            <a:grpSpLocks/>
          </p:cNvGrpSpPr>
          <p:nvPr/>
        </p:nvGrpSpPr>
        <p:grpSpPr bwMode="auto">
          <a:xfrm>
            <a:off x="1149349" y="813933"/>
            <a:ext cx="7613651" cy="3740605"/>
            <a:chOff x="621144" y="1299832"/>
            <a:chExt cx="7613651" cy="3740605"/>
          </a:xfrm>
        </p:grpSpPr>
        <p:grpSp>
          <p:nvGrpSpPr>
            <p:cNvPr id="45108" name="Group 34"/>
            <p:cNvGrpSpPr>
              <a:grpSpLocks/>
            </p:cNvGrpSpPr>
            <p:nvPr/>
          </p:nvGrpSpPr>
          <p:grpSpPr bwMode="auto">
            <a:xfrm>
              <a:off x="2272145" y="4673724"/>
              <a:ext cx="5962650" cy="366713"/>
              <a:chOff x="2272145" y="4673724"/>
              <a:chExt cx="5962650" cy="366713"/>
            </a:xfrm>
          </p:grpSpPr>
          <p:sp>
            <p:nvSpPr>
              <p:cNvPr id="45112" name="Line 6"/>
              <p:cNvSpPr>
                <a:spLocks noChangeShapeType="1"/>
              </p:cNvSpPr>
              <p:nvPr/>
            </p:nvSpPr>
            <p:spPr bwMode="auto">
              <a:xfrm>
                <a:off x="2272145" y="4829299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3" name="Text Box 7"/>
              <p:cNvSpPr txBox="1">
                <a:spLocks noChangeArrowheads="1"/>
              </p:cNvSpPr>
              <p:nvPr/>
            </p:nvSpPr>
            <p:spPr bwMode="auto">
              <a:xfrm>
                <a:off x="6767945" y="4673724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</a:p>
            </p:txBody>
          </p:sp>
        </p:grpSp>
        <p:grpSp>
          <p:nvGrpSpPr>
            <p:cNvPr id="45109" name="Group 33"/>
            <p:cNvGrpSpPr>
              <a:grpSpLocks/>
            </p:cNvGrpSpPr>
            <p:nvPr/>
          </p:nvGrpSpPr>
          <p:grpSpPr bwMode="auto">
            <a:xfrm>
              <a:off x="621144" y="1299832"/>
              <a:ext cx="1651001" cy="3529467"/>
              <a:chOff x="621144" y="1299832"/>
              <a:chExt cx="1651001" cy="3529467"/>
            </a:xfrm>
          </p:grpSpPr>
          <p:sp>
            <p:nvSpPr>
              <p:cNvPr id="45110" name="Line 5"/>
              <p:cNvSpPr>
                <a:spLocks noChangeShapeType="1"/>
              </p:cNvSpPr>
              <p:nvPr/>
            </p:nvSpPr>
            <p:spPr bwMode="auto">
              <a:xfrm>
                <a:off x="2272145" y="1324099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111" name="Text Box 8"/>
              <p:cNvSpPr txBox="1">
                <a:spLocks noChangeArrowheads="1"/>
              </p:cNvSpPr>
              <p:nvPr/>
            </p:nvSpPr>
            <p:spPr bwMode="auto">
              <a:xfrm>
                <a:off x="621144" y="1299832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Quantity of </a:t>
                </a:r>
                <a:r>
                  <a:rPr lang="en-US" altLang="en-US" sz="1800" i="1" dirty="0"/>
                  <a:t>y</a:t>
                </a:r>
              </a:p>
            </p:txBody>
          </p:sp>
        </p:grpSp>
      </p:grpSp>
      <p:grpSp>
        <p:nvGrpSpPr>
          <p:cNvPr id="22" name="Group 41"/>
          <p:cNvGrpSpPr>
            <a:grpSpLocks/>
          </p:cNvGrpSpPr>
          <p:nvPr/>
        </p:nvGrpSpPr>
        <p:grpSpPr bwMode="auto">
          <a:xfrm>
            <a:off x="2443162" y="3303588"/>
            <a:ext cx="3024188" cy="304800"/>
            <a:chOff x="1914958" y="3789487"/>
            <a:chExt cx="3024187" cy="304800"/>
          </a:xfrm>
        </p:grpSpPr>
        <p:sp>
          <p:nvSpPr>
            <p:cNvPr id="45106" name="Line 21"/>
            <p:cNvSpPr>
              <a:spLocks noChangeShapeType="1"/>
            </p:cNvSpPr>
            <p:nvPr/>
          </p:nvSpPr>
          <p:spPr bwMode="auto">
            <a:xfrm>
              <a:off x="2272145" y="3914899"/>
              <a:ext cx="2667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107" name="Text Box 28"/>
            <p:cNvSpPr txBox="1">
              <a:spLocks noChangeArrowheads="1"/>
            </p:cNvSpPr>
            <p:nvPr/>
          </p:nvSpPr>
          <p:spPr bwMode="auto">
            <a:xfrm>
              <a:off x="1914958" y="37894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</p:grpSp>
      <p:grpSp>
        <p:nvGrpSpPr>
          <p:cNvPr id="34" name="Group 42"/>
          <p:cNvGrpSpPr>
            <a:grpSpLocks/>
          </p:cNvGrpSpPr>
          <p:nvPr/>
        </p:nvGrpSpPr>
        <p:grpSpPr bwMode="auto">
          <a:xfrm>
            <a:off x="2443162" y="2236788"/>
            <a:ext cx="2338388" cy="304800"/>
            <a:chOff x="1914958" y="2722687"/>
            <a:chExt cx="2338387" cy="304800"/>
          </a:xfrm>
        </p:grpSpPr>
        <p:sp>
          <p:nvSpPr>
            <p:cNvPr id="45104" name="Line 19"/>
            <p:cNvSpPr>
              <a:spLocks noChangeShapeType="1"/>
            </p:cNvSpPr>
            <p:nvPr/>
          </p:nvSpPr>
          <p:spPr bwMode="auto">
            <a:xfrm flipH="1">
              <a:off x="2272145" y="2848099"/>
              <a:ext cx="1981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105" name="Text Box 29"/>
            <p:cNvSpPr txBox="1">
              <a:spLocks noChangeArrowheads="1"/>
            </p:cNvSpPr>
            <p:nvPr/>
          </p:nvSpPr>
          <p:spPr bwMode="auto">
            <a:xfrm>
              <a:off x="1914958" y="27226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2</a:t>
              </a:r>
              <a:endParaRPr lang="en-US" altLang="en-US" sz="1800" i="1"/>
            </a:p>
          </p:txBody>
        </p:sp>
      </p:grpSp>
      <p:grpSp>
        <p:nvGrpSpPr>
          <p:cNvPr id="35" name="Group 43"/>
          <p:cNvGrpSpPr>
            <a:grpSpLocks/>
          </p:cNvGrpSpPr>
          <p:nvPr/>
        </p:nvGrpSpPr>
        <p:grpSpPr bwMode="auto">
          <a:xfrm>
            <a:off x="2443162" y="1703388"/>
            <a:ext cx="1576388" cy="304800"/>
            <a:chOff x="1914958" y="2189287"/>
            <a:chExt cx="1576387" cy="304800"/>
          </a:xfrm>
        </p:grpSpPr>
        <p:sp>
          <p:nvSpPr>
            <p:cNvPr id="45102" name="Line 17"/>
            <p:cNvSpPr>
              <a:spLocks noChangeShapeType="1"/>
            </p:cNvSpPr>
            <p:nvPr/>
          </p:nvSpPr>
          <p:spPr bwMode="auto">
            <a:xfrm flipH="1">
              <a:off x="2272145" y="2314699"/>
              <a:ext cx="12192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103" name="Text Box 30"/>
            <p:cNvSpPr txBox="1">
              <a:spLocks noChangeArrowheads="1"/>
            </p:cNvSpPr>
            <p:nvPr/>
          </p:nvSpPr>
          <p:spPr bwMode="auto">
            <a:xfrm>
              <a:off x="1914958" y="21892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3</a:t>
              </a:r>
              <a:endParaRPr lang="en-US" altLang="en-US" sz="1800" i="1"/>
            </a:p>
          </p:txBody>
        </p:sp>
      </p:grpSp>
      <p:grpSp>
        <p:nvGrpSpPr>
          <p:cNvPr id="36" name="Group 36"/>
          <p:cNvGrpSpPr>
            <a:grpSpLocks/>
          </p:cNvGrpSpPr>
          <p:nvPr/>
        </p:nvGrpSpPr>
        <p:grpSpPr bwMode="auto">
          <a:xfrm>
            <a:off x="2443162" y="1450975"/>
            <a:ext cx="890588" cy="304800"/>
            <a:chOff x="1914958" y="1936937"/>
            <a:chExt cx="890587" cy="304800"/>
          </a:xfrm>
        </p:grpSpPr>
        <p:sp>
          <p:nvSpPr>
            <p:cNvPr id="45100" name="Line 15"/>
            <p:cNvSpPr>
              <a:spLocks noChangeShapeType="1"/>
            </p:cNvSpPr>
            <p:nvPr/>
          </p:nvSpPr>
          <p:spPr bwMode="auto">
            <a:xfrm flipH="1">
              <a:off x="2272145" y="2062349"/>
              <a:ext cx="5334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101" name="Text Box 31"/>
            <p:cNvSpPr txBox="1">
              <a:spLocks noChangeArrowheads="1"/>
            </p:cNvSpPr>
            <p:nvPr/>
          </p:nvSpPr>
          <p:spPr bwMode="auto">
            <a:xfrm>
              <a:off x="1914958" y="193693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4</a:t>
              </a:r>
              <a:endParaRPr lang="en-US" altLang="en-US" sz="1800" i="1"/>
            </a:p>
          </p:txBody>
        </p:sp>
      </p:grpSp>
      <p:grpSp>
        <p:nvGrpSpPr>
          <p:cNvPr id="37" name="Group 37"/>
          <p:cNvGrpSpPr>
            <a:grpSpLocks/>
          </p:cNvGrpSpPr>
          <p:nvPr/>
        </p:nvGrpSpPr>
        <p:grpSpPr bwMode="auto">
          <a:xfrm>
            <a:off x="3128962" y="1600200"/>
            <a:ext cx="346075" cy="3074988"/>
            <a:chOff x="2600758" y="2086099"/>
            <a:chExt cx="346075" cy="3074988"/>
          </a:xfrm>
        </p:grpSpPr>
        <p:sp>
          <p:nvSpPr>
            <p:cNvPr id="45098" name="Line 14"/>
            <p:cNvSpPr>
              <a:spLocks noChangeShapeType="1"/>
            </p:cNvSpPr>
            <p:nvPr/>
          </p:nvSpPr>
          <p:spPr bwMode="auto">
            <a:xfrm>
              <a:off x="2805545" y="2086099"/>
              <a:ext cx="0" cy="2743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099" name="Text Box 32"/>
            <p:cNvSpPr txBox="1">
              <a:spLocks noChangeArrowheads="1"/>
            </p:cNvSpPr>
            <p:nvPr/>
          </p:nvSpPr>
          <p:spPr bwMode="auto">
            <a:xfrm>
              <a:off x="2600758" y="48562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</p:grpSp>
      <p:grpSp>
        <p:nvGrpSpPr>
          <p:cNvPr id="38" name="Group 38"/>
          <p:cNvGrpSpPr>
            <a:grpSpLocks/>
          </p:cNvGrpSpPr>
          <p:nvPr/>
        </p:nvGrpSpPr>
        <p:grpSpPr bwMode="auto">
          <a:xfrm>
            <a:off x="3927475" y="1828800"/>
            <a:ext cx="346075" cy="2846388"/>
            <a:chOff x="3362758" y="2314699"/>
            <a:chExt cx="346075" cy="2846388"/>
          </a:xfrm>
        </p:grpSpPr>
        <p:sp>
          <p:nvSpPr>
            <p:cNvPr id="45096" name="Line 16"/>
            <p:cNvSpPr>
              <a:spLocks noChangeShapeType="1"/>
            </p:cNvSpPr>
            <p:nvPr/>
          </p:nvSpPr>
          <p:spPr bwMode="auto">
            <a:xfrm>
              <a:off x="3491345" y="2314699"/>
              <a:ext cx="0" cy="25146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097" name="Text Box 33"/>
            <p:cNvSpPr txBox="1">
              <a:spLocks noChangeArrowheads="1"/>
            </p:cNvSpPr>
            <p:nvPr/>
          </p:nvSpPr>
          <p:spPr bwMode="auto">
            <a:xfrm>
              <a:off x="3362758" y="48562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2</a:t>
              </a:r>
              <a:endParaRPr lang="en-US" altLang="en-US" sz="1800" i="1"/>
            </a:p>
          </p:txBody>
        </p:sp>
      </p:grpSp>
      <p:grpSp>
        <p:nvGrpSpPr>
          <p:cNvPr id="39" name="Group 39"/>
          <p:cNvGrpSpPr>
            <a:grpSpLocks/>
          </p:cNvGrpSpPr>
          <p:nvPr/>
        </p:nvGrpSpPr>
        <p:grpSpPr bwMode="auto">
          <a:xfrm>
            <a:off x="4600575" y="2362200"/>
            <a:ext cx="346075" cy="2312988"/>
            <a:chOff x="4048558" y="2848099"/>
            <a:chExt cx="346075" cy="2312988"/>
          </a:xfrm>
        </p:grpSpPr>
        <p:sp>
          <p:nvSpPr>
            <p:cNvPr id="45094" name="Line 18"/>
            <p:cNvSpPr>
              <a:spLocks noChangeShapeType="1"/>
            </p:cNvSpPr>
            <p:nvPr/>
          </p:nvSpPr>
          <p:spPr bwMode="auto">
            <a:xfrm>
              <a:off x="4253345" y="2848099"/>
              <a:ext cx="0" cy="1981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095" name="Text Box 34"/>
            <p:cNvSpPr txBox="1">
              <a:spLocks noChangeArrowheads="1"/>
            </p:cNvSpPr>
            <p:nvPr/>
          </p:nvSpPr>
          <p:spPr bwMode="auto">
            <a:xfrm>
              <a:off x="4048558" y="48562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3</a:t>
              </a:r>
              <a:endParaRPr lang="en-US" altLang="en-US" sz="1800" i="1"/>
            </a:p>
          </p:txBody>
        </p:sp>
      </p:grpSp>
      <p:grpSp>
        <p:nvGrpSpPr>
          <p:cNvPr id="40" name="Group 40"/>
          <p:cNvGrpSpPr>
            <a:grpSpLocks/>
          </p:cNvGrpSpPr>
          <p:nvPr/>
        </p:nvGrpSpPr>
        <p:grpSpPr bwMode="auto">
          <a:xfrm>
            <a:off x="5262562" y="3429000"/>
            <a:ext cx="346075" cy="1246188"/>
            <a:chOff x="4734358" y="3914899"/>
            <a:chExt cx="346075" cy="1246188"/>
          </a:xfrm>
        </p:grpSpPr>
        <p:sp>
          <p:nvSpPr>
            <p:cNvPr id="45092" name="Line 22"/>
            <p:cNvSpPr>
              <a:spLocks noChangeShapeType="1"/>
            </p:cNvSpPr>
            <p:nvPr/>
          </p:nvSpPr>
          <p:spPr bwMode="auto">
            <a:xfrm>
              <a:off x="4939145" y="3914899"/>
              <a:ext cx="0" cy="914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45093" name="Text Box 35"/>
            <p:cNvSpPr txBox="1">
              <a:spLocks noChangeArrowheads="1"/>
            </p:cNvSpPr>
            <p:nvPr/>
          </p:nvSpPr>
          <p:spPr bwMode="auto">
            <a:xfrm>
              <a:off x="4734358" y="4856287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4</a:t>
              </a:r>
              <a:endParaRPr lang="en-US" altLang="en-US" sz="1800" i="1"/>
            </a:p>
          </p:txBody>
        </p:sp>
      </p:grpSp>
      <p:grpSp>
        <p:nvGrpSpPr>
          <p:cNvPr id="41" name="Group 35"/>
          <p:cNvGrpSpPr>
            <a:grpSpLocks/>
          </p:cNvGrpSpPr>
          <p:nvPr/>
        </p:nvGrpSpPr>
        <p:grpSpPr bwMode="auto">
          <a:xfrm>
            <a:off x="2351087" y="1184275"/>
            <a:ext cx="3602038" cy="3495675"/>
            <a:chOff x="1822883" y="1669474"/>
            <a:chExt cx="3602037" cy="3496375"/>
          </a:xfrm>
        </p:grpSpPr>
        <p:sp>
          <p:nvSpPr>
            <p:cNvPr id="45089" name="Text Box 36"/>
            <p:cNvSpPr txBox="1">
              <a:spLocks noChangeArrowheads="1"/>
            </p:cNvSpPr>
            <p:nvPr/>
          </p:nvSpPr>
          <p:spPr bwMode="auto">
            <a:xfrm>
              <a:off x="1822883" y="1669474"/>
              <a:ext cx="4206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O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x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90" name="Text Box 37"/>
            <p:cNvSpPr txBox="1">
              <a:spLocks noChangeArrowheads="1"/>
            </p:cNvSpPr>
            <p:nvPr/>
          </p:nvSpPr>
          <p:spPr bwMode="auto">
            <a:xfrm>
              <a:off x="5004233" y="4829299"/>
              <a:ext cx="4206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O</a:t>
              </a:r>
              <a:r>
                <a:rPr lang="en-US" altLang="en-US" sz="1800" i="1" baseline="-25000" dirty="0">
                  <a:solidFill>
                    <a:srgbClr val="C00000"/>
                  </a:solidFill>
                </a:rPr>
                <a:t>y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91" name="Arc 40"/>
            <p:cNvSpPr>
              <a:spLocks/>
            </p:cNvSpPr>
            <p:nvPr/>
          </p:nvSpPr>
          <p:spPr bwMode="auto">
            <a:xfrm>
              <a:off x="2272145" y="2009899"/>
              <a:ext cx="2819400" cy="2819400"/>
            </a:xfrm>
            <a:custGeom>
              <a:avLst/>
              <a:gdLst>
                <a:gd name="T0" fmla="*/ 0 w 21600"/>
                <a:gd name="T1" fmla="*/ 0 h 21600"/>
                <a:gd name="T2" fmla="*/ 2819400 w 21600"/>
                <a:gd name="T3" fmla="*/ 2819400 h 21600"/>
                <a:gd name="T4" fmla="*/ 0 w 21600"/>
                <a:gd name="T5" fmla="*/ 281940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42" name="Group 53"/>
          <p:cNvGrpSpPr>
            <a:grpSpLocks/>
          </p:cNvGrpSpPr>
          <p:nvPr/>
        </p:nvGrpSpPr>
        <p:grpSpPr bwMode="auto">
          <a:xfrm>
            <a:off x="3260725" y="1220788"/>
            <a:ext cx="385762" cy="393700"/>
            <a:chOff x="2731695" y="1706812"/>
            <a:chExt cx="385763" cy="393726"/>
          </a:xfrm>
        </p:grpSpPr>
        <p:sp>
          <p:nvSpPr>
            <p:cNvPr id="45087" name="Text Box 27"/>
            <p:cNvSpPr txBox="1">
              <a:spLocks noChangeArrowheads="1"/>
            </p:cNvSpPr>
            <p:nvPr/>
          </p:nvSpPr>
          <p:spPr bwMode="auto">
            <a:xfrm>
              <a:off x="2731695" y="1706812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P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1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88" name="Oval 9"/>
            <p:cNvSpPr>
              <a:spLocks noChangeArrowheads="1"/>
            </p:cNvSpPr>
            <p:nvPr/>
          </p:nvSpPr>
          <p:spPr bwMode="auto">
            <a:xfrm>
              <a:off x="2776078" y="2024232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3" name="Group 55"/>
          <p:cNvGrpSpPr>
            <a:grpSpLocks/>
          </p:cNvGrpSpPr>
          <p:nvPr/>
        </p:nvGrpSpPr>
        <p:grpSpPr bwMode="auto">
          <a:xfrm>
            <a:off x="4772025" y="2071688"/>
            <a:ext cx="417512" cy="336550"/>
            <a:chOff x="4243334" y="2556887"/>
            <a:chExt cx="416924" cy="336550"/>
          </a:xfrm>
        </p:grpSpPr>
        <p:sp>
          <p:nvSpPr>
            <p:cNvPr id="45085" name="Text Box 24"/>
            <p:cNvSpPr txBox="1">
              <a:spLocks noChangeArrowheads="1"/>
            </p:cNvSpPr>
            <p:nvPr/>
          </p:nvSpPr>
          <p:spPr bwMode="auto">
            <a:xfrm>
              <a:off x="4274495" y="2556887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P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3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86" name="Oval 9"/>
            <p:cNvSpPr>
              <a:spLocks noChangeArrowheads="1"/>
            </p:cNvSpPr>
            <p:nvPr/>
          </p:nvSpPr>
          <p:spPr bwMode="auto">
            <a:xfrm>
              <a:off x="4243334" y="2815415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4" name="Group 56"/>
          <p:cNvGrpSpPr>
            <a:grpSpLocks/>
          </p:cNvGrpSpPr>
          <p:nvPr/>
        </p:nvGrpSpPr>
        <p:grpSpPr bwMode="auto">
          <a:xfrm>
            <a:off x="5435600" y="3173413"/>
            <a:ext cx="415925" cy="336550"/>
            <a:chOff x="4906435" y="3659312"/>
            <a:chExt cx="415873" cy="336550"/>
          </a:xfrm>
        </p:grpSpPr>
        <p:sp>
          <p:nvSpPr>
            <p:cNvPr id="45083" name="Text Box 23"/>
            <p:cNvSpPr txBox="1">
              <a:spLocks noChangeArrowheads="1"/>
            </p:cNvSpPr>
            <p:nvPr/>
          </p:nvSpPr>
          <p:spPr bwMode="auto">
            <a:xfrm>
              <a:off x="4936545" y="3659312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P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4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84" name="Oval 9"/>
            <p:cNvSpPr>
              <a:spLocks noChangeArrowheads="1"/>
            </p:cNvSpPr>
            <p:nvPr/>
          </p:nvSpPr>
          <p:spPr bwMode="auto">
            <a:xfrm>
              <a:off x="4906435" y="3882215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5" name="Group 57"/>
          <p:cNvGrpSpPr>
            <a:grpSpLocks/>
          </p:cNvGrpSpPr>
          <p:nvPr/>
        </p:nvGrpSpPr>
        <p:grpSpPr bwMode="auto">
          <a:xfrm>
            <a:off x="4005262" y="1473200"/>
            <a:ext cx="385763" cy="390525"/>
            <a:chOff x="3476870" y="1959162"/>
            <a:chExt cx="385763" cy="391052"/>
          </a:xfrm>
        </p:grpSpPr>
        <p:sp>
          <p:nvSpPr>
            <p:cNvPr id="45081" name="Text Box 26"/>
            <p:cNvSpPr txBox="1">
              <a:spLocks noChangeArrowheads="1"/>
            </p:cNvSpPr>
            <p:nvPr/>
          </p:nvSpPr>
          <p:spPr bwMode="auto">
            <a:xfrm>
              <a:off x="3476870" y="1959162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P</a:t>
              </a:r>
              <a:r>
                <a:rPr lang="en-US" altLang="en-US" sz="1800" baseline="-25000" dirty="0">
                  <a:solidFill>
                    <a:srgbClr val="C00000"/>
                  </a:solidFill>
                </a:rPr>
                <a:t>2</a:t>
              </a:r>
              <a:endParaRPr lang="en-US" altLang="en-US" sz="1800" i="1" dirty="0">
                <a:solidFill>
                  <a:srgbClr val="C00000"/>
                </a:solidFill>
              </a:endParaRPr>
            </a:p>
          </p:txBody>
        </p:sp>
        <p:sp>
          <p:nvSpPr>
            <p:cNvPr id="45082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47" name="Group 60"/>
          <p:cNvGrpSpPr>
            <a:grpSpLocks/>
          </p:cNvGrpSpPr>
          <p:nvPr/>
        </p:nvGrpSpPr>
        <p:grpSpPr bwMode="auto">
          <a:xfrm>
            <a:off x="3662362" y="2000250"/>
            <a:ext cx="441325" cy="390525"/>
            <a:chOff x="3121810" y="1959162"/>
            <a:chExt cx="442390" cy="391052"/>
          </a:xfrm>
        </p:grpSpPr>
        <p:sp>
          <p:nvSpPr>
            <p:cNvPr id="45079" name="Text Box 26"/>
            <p:cNvSpPr txBox="1">
              <a:spLocks noChangeArrowheads="1"/>
            </p:cNvSpPr>
            <p:nvPr/>
          </p:nvSpPr>
          <p:spPr bwMode="auto">
            <a:xfrm>
              <a:off x="3121810" y="1959162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A</a:t>
              </a:r>
            </a:p>
          </p:txBody>
        </p:sp>
        <p:sp>
          <p:nvSpPr>
            <p:cNvPr id="45080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016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450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45060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Rate of Product Transformation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3200" dirty="0" smtClean="0"/>
              <a:t>Rate of product transformation (</a:t>
            </a:r>
            <a:r>
              <a:rPr lang="en-US" altLang="en-US" sz="3200" i="1" dirty="0" smtClean="0"/>
              <a:t>RPT</a:t>
            </a:r>
            <a:r>
              <a:rPr lang="en-US" altLang="en-US" sz="3200" dirty="0" smtClean="0"/>
              <a:t>) between two outputs</a:t>
            </a:r>
          </a:p>
          <a:p>
            <a:pPr lvl="1"/>
            <a:r>
              <a:rPr lang="en-US" altLang="en-US" sz="2800" dirty="0" smtClean="0"/>
              <a:t>The negative of the slope of the production possibility frontier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84360B2-015C-4E25-95FF-B6C9D9B66910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4800600"/>
            <a:ext cx="8534400" cy="1447800"/>
          </a:xfrm>
        </p:spPr>
        <p:txBody>
          <a:bodyPr>
            <a:noAutofit/>
          </a:bodyPr>
          <a:lstStyle/>
          <a:p>
            <a:pPr lvl="2"/>
            <a:r>
              <a:rPr lang="en-US" dirty="0"/>
              <a:t>Shows how x can be technically traded for y </a:t>
            </a:r>
          </a:p>
          <a:p>
            <a:pPr lvl="2"/>
            <a:r>
              <a:rPr lang="en-US" dirty="0"/>
              <a:t>While continuing to keep the available productive inputs efficiently </a:t>
            </a:r>
            <a:r>
              <a:rPr lang="en-US" dirty="0" smtClean="0"/>
              <a:t>employed</a:t>
            </a:r>
            <a:endParaRPr lang="en-US" dirty="0"/>
          </a:p>
        </p:txBody>
      </p:sp>
      <p:graphicFrame>
        <p:nvGraphicFramePr>
          <p:cNvPr id="8816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137718"/>
              </p:ext>
            </p:extLst>
          </p:nvPr>
        </p:nvGraphicFramePr>
        <p:xfrm>
          <a:off x="1468438" y="2876550"/>
          <a:ext cx="6207125" cy="192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3422" name="Equation" r:id="rId3" imgW="2857320" imgH="888840" progId="Equation.DSMT4">
                  <p:embed/>
                </p:oleObj>
              </mc:Choice>
              <mc:Fallback>
                <p:oleObj name="Equation" r:id="rId3" imgW="285732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8438" y="2876550"/>
                        <a:ext cx="6207125" cy="192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0068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8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 smtClean="0"/>
              <a:t>Production functions for goods x and y are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 smtClean="0"/>
              <a:t> and 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,l</a:t>
            </a:r>
            <a:r>
              <a:rPr 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dirty="0" err="1" smtClean="0"/>
              <a:t>Lagrangian</a:t>
            </a:r>
            <a:r>
              <a:rPr lang="en-US" dirty="0" smtClean="0"/>
              <a:t> (production possibilities frontier)</a:t>
            </a:r>
          </a:p>
          <a:p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14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9752619"/>
              </p:ext>
            </p:extLst>
          </p:nvPr>
        </p:nvGraphicFramePr>
        <p:xfrm>
          <a:off x="1221465" y="2889250"/>
          <a:ext cx="6707602" cy="351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994" name="Equation" r:id="rId3" imgW="3225600" imgH="1688760" progId="Equation.DSMT4">
                  <p:embed/>
                </p:oleObj>
              </mc:Choice>
              <mc:Fallback>
                <p:oleObj name="Equation" r:id="rId3" imgW="3225600" imgH="1688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21465" y="2889250"/>
                        <a:ext cx="6707602" cy="3511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44569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For an </a:t>
            </a:r>
            <a:r>
              <a:rPr lang="en-US" dirty="0"/>
              <a:t>efficient allocation of </a:t>
            </a:r>
            <a:r>
              <a:rPr lang="en-US" dirty="0" smtClean="0"/>
              <a:t>resources</a:t>
            </a:r>
          </a:p>
          <a:p>
            <a:pPr lvl="1"/>
            <a:r>
              <a:rPr lang="en-US" dirty="0" smtClean="0"/>
              <a:t>The </a:t>
            </a:r>
            <a:r>
              <a:rPr lang="en-US" dirty="0"/>
              <a:t>RTS between the two inputs in y production must equal the RTS in x production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6670434"/>
              </p:ext>
            </p:extLst>
          </p:nvPr>
        </p:nvGraphicFramePr>
        <p:xfrm>
          <a:off x="2513603" y="3657601"/>
          <a:ext cx="3053760" cy="146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9017" name="Equation" r:id="rId3" imgW="952200" imgH="457200" progId="Equation.DSMT4">
                  <p:embed/>
                </p:oleObj>
              </mc:Choice>
              <mc:Fallback>
                <p:oleObj name="Equation" r:id="rId3" imgW="95220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13603" y="3657601"/>
                        <a:ext cx="3053760" cy="14620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30909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Rate of product transformation, RPT </a:t>
            </a:r>
          </a:p>
          <a:p>
            <a:pPr lvl="2"/>
            <a:r>
              <a:rPr lang="en-US" dirty="0" smtClean="0"/>
              <a:t>Given by the </a:t>
            </a:r>
            <a:r>
              <a:rPr lang="en-US" dirty="0"/>
              <a:t>ratios of the marginal productivities of both </a:t>
            </a:r>
            <a:r>
              <a:rPr lang="en-US" i="1" dirty="0" smtClean="0"/>
              <a:t>l</a:t>
            </a:r>
            <a:r>
              <a:rPr lang="en-US" dirty="0" smtClean="0"/>
              <a:t> </a:t>
            </a:r>
            <a:r>
              <a:rPr lang="en-US" dirty="0"/>
              <a:t>and </a:t>
            </a:r>
            <a:r>
              <a:rPr lang="en-US" i="1" dirty="0" smtClean="0"/>
              <a:t>k</a:t>
            </a:r>
            <a:r>
              <a:rPr lang="en-US" dirty="0" smtClean="0"/>
              <a:t>  </a:t>
            </a:r>
            <a:r>
              <a:rPr lang="en-US" dirty="0"/>
              <a:t>in the production of y and </a:t>
            </a:r>
            <a:r>
              <a:rPr lang="en-US" dirty="0" smtClean="0"/>
              <a:t>x </a:t>
            </a:r>
          </a:p>
          <a:p>
            <a:pPr lvl="1"/>
            <a:r>
              <a:rPr lang="en-US" sz="2800" dirty="0" smtClean="0"/>
              <a:t>Value function (from the optimization problem) yields optimal y output: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560660"/>
              </p:ext>
            </p:extLst>
          </p:nvPr>
        </p:nvGraphicFramePr>
        <p:xfrm>
          <a:off x="1524000" y="3657600"/>
          <a:ext cx="4217016" cy="26424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0041" name="Equation" r:id="rId3" imgW="2184120" imgH="1371600" progId="Equation.DSMT4">
                  <p:embed/>
                </p:oleObj>
              </mc:Choice>
              <mc:Fallback>
                <p:oleObj name="Equation" r:id="rId3" imgW="2184120" imgH="1371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3657600"/>
                        <a:ext cx="4217016" cy="26424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0118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Diminishing returns</a:t>
            </a:r>
          </a:p>
          <a:p>
            <a:pPr lvl="1"/>
            <a:r>
              <a:rPr lang="en-US" dirty="0" smtClean="0"/>
              <a:t>The RPT </a:t>
            </a:r>
            <a:r>
              <a:rPr lang="en-US" dirty="0"/>
              <a:t>will increase as production is reallocated toward greater x output.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17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0051657"/>
              </p:ext>
            </p:extLst>
          </p:nvPr>
        </p:nvGraphicFramePr>
        <p:xfrm>
          <a:off x="1524000" y="3276600"/>
          <a:ext cx="3776757" cy="147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1065" name="Equation" r:id="rId3" imgW="1206360" imgH="469800" progId="Equation.DSMT4">
                  <p:embed/>
                </p:oleObj>
              </mc:Choice>
              <mc:Fallback>
                <p:oleObj name="Equation" r:id="rId3" imgW="120636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24000" y="3276600"/>
                        <a:ext cx="3776757" cy="147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39520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Factors intensities</a:t>
            </a:r>
          </a:p>
          <a:p>
            <a:pPr lvl="1"/>
            <a:r>
              <a:rPr lang="en-US" dirty="0" smtClean="0"/>
              <a:t>From figure </a:t>
            </a:r>
            <a:r>
              <a:rPr lang="en-US" dirty="0"/>
              <a:t>13.2: </a:t>
            </a:r>
            <a:endParaRPr lang="en-US" dirty="0" smtClean="0"/>
          </a:p>
          <a:p>
            <a:pPr lvl="2"/>
            <a:r>
              <a:rPr lang="en-US" dirty="0" smtClean="0"/>
              <a:t>When </a:t>
            </a:r>
            <a:r>
              <a:rPr lang="en-US" dirty="0"/>
              <a:t>the inputs are efficiently </a:t>
            </a:r>
            <a:r>
              <a:rPr lang="en-US" dirty="0" smtClean="0"/>
              <a:t>allocated</a:t>
            </a:r>
          </a:p>
          <a:p>
            <a:pPr lvl="2"/>
            <a:r>
              <a:rPr lang="en-US" dirty="0" smtClean="0"/>
              <a:t>Production </a:t>
            </a:r>
            <a:r>
              <a:rPr lang="en-US" dirty="0"/>
              <a:t>of good x will be “capital intensive” </a:t>
            </a:r>
            <a:endParaRPr lang="en-US" dirty="0" smtClean="0"/>
          </a:p>
          <a:p>
            <a:pPr lvl="3"/>
            <a:r>
              <a:rPr lang="en-US" dirty="0" smtClean="0"/>
              <a:t>The </a:t>
            </a:r>
            <a:r>
              <a:rPr lang="en-US" dirty="0"/>
              <a:t>ratio of capital to labor input will be higher in the production of good x than it is in the production of good y </a:t>
            </a:r>
            <a:endParaRPr lang="en-US" dirty="0" smtClean="0"/>
          </a:p>
          <a:p>
            <a:pPr lvl="1"/>
            <a:r>
              <a:rPr lang="en-US" dirty="0" smtClean="0"/>
              <a:t>With constant </a:t>
            </a:r>
            <a:r>
              <a:rPr lang="en-US" dirty="0"/>
              <a:t>returns to </a:t>
            </a:r>
            <a:r>
              <a:rPr lang="en-US" dirty="0" smtClean="0"/>
              <a:t>scale: </a:t>
            </a:r>
            <a:r>
              <a:rPr lang="en-US" dirty="0"/>
              <a:t>production possibility frontier will be </a:t>
            </a:r>
            <a:r>
              <a:rPr lang="en-US" dirty="0" smtClean="0"/>
              <a:t>concave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42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Mathematical Derivation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Non-homogeneous </a:t>
            </a:r>
            <a:r>
              <a:rPr lang="en-US" dirty="0" smtClean="0"/>
              <a:t>inputs</a:t>
            </a:r>
          </a:p>
          <a:p>
            <a:pPr lvl="1"/>
            <a:r>
              <a:rPr lang="en-US" dirty="0"/>
              <a:t>Some inputs may be quite efficient in producing some goods, but not in producing </a:t>
            </a:r>
            <a:r>
              <a:rPr lang="en-US" dirty="0" smtClean="0"/>
              <a:t>others</a:t>
            </a:r>
          </a:p>
          <a:p>
            <a:pPr lvl="2"/>
            <a:r>
              <a:rPr lang="en-US" dirty="0" smtClean="0"/>
              <a:t>Another reason </a:t>
            </a:r>
            <a:r>
              <a:rPr lang="en-US" dirty="0"/>
              <a:t>for believing that production possibility frontiers are concave</a:t>
            </a:r>
            <a:endParaRPr lang="en-US" dirty="0" smtClean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20B335A-255B-4303-A333-FBB711D61B6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872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Opportunity </a:t>
            </a:r>
            <a:r>
              <a:rPr lang="en-US" altLang="en-US" dirty="0" smtClean="0"/>
              <a:t>Cost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Production possibility frontier </a:t>
            </a:r>
          </a:p>
          <a:p>
            <a:pPr lvl="1"/>
            <a:r>
              <a:rPr lang="en-US" altLang="en-US" smtClean="0"/>
              <a:t>Demonstrates that there are many possible efficient combinations of two goods</a:t>
            </a:r>
          </a:p>
          <a:p>
            <a:r>
              <a:rPr lang="en-US" altLang="en-US" smtClean="0"/>
              <a:t>Opportunity cost</a:t>
            </a:r>
          </a:p>
          <a:p>
            <a:pPr lvl="1"/>
            <a:r>
              <a:rPr lang="en-US" altLang="en-US" smtClean="0"/>
              <a:t>Producing more of one good necessitates lowering the production of the other good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03925EC-CFEE-4C60-AA32-5BB45D921A2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852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Opportunity Cost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opportunity cost of one more unit of </a:t>
            </a:r>
            <a:r>
              <a:rPr lang="en-US" altLang="en-US" i="1" smtClean="0"/>
              <a:t>x</a:t>
            </a:r>
          </a:p>
          <a:p>
            <a:pPr lvl="1"/>
            <a:r>
              <a:rPr lang="en-US" altLang="en-US" smtClean="0"/>
              <a:t>Is the reduction in </a:t>
            </a:r>
            <a:r>
              <a:rPr lang="en-US" altLang="en-US" i="1" smtClean="0"/>
              <a:t>y</a:t>
            </a:r>
            <a:r>
              <a:rPr lang="en-US" altLang="en-US" smtClean="0"/>
              <a:t> that this entails</a:t>
            </a:r>
          </a:p>
          <a:p>
            <a:pPr lvl="1"/>
            <a:r>
              <a:rPr lang="en-US" altLang="en-US" smtClean="0"/>
              <a:t>Best measured as the </a:t>
            </a:r>
            <a:r>
              <a:rPr lang="en-US" altLang="en-US" i="1" smtClean="0"/>
              <a:t>RPT</a:t>
            </a:r>
            <a:r>
              <a:rPr lang="en-US" altLang="en-US" smtClean="0"/>
              <a:t> (of </a:t>
            </a:r>
            <a:r>
              <a:rPr lang="en-US" altLang="en-US" i="1" smtClean="0"/>
              <a:t>x</a:t>
            </a:r>
            <a:r>
              <a:rPr lang="en-US" altLang="en-US" smtClean="0"/>
              <a:t> for </a:t>
            </a:r>
            <a:r>
              <a:rPr lang="en-US" altLang="en-US" i="1" smtClean="0"/>
              <a:t>y</a:t>
            </a:r>
            <a:r>
              <a:rPr lang="en-US" altLang="en-US" smtClean="0"/>
              <a:t>) </a:t>
            </a:r>
          </a:p>
          <a:p>
            <a:pPr lvl="2"/>
            <a:r>
              <a:rPr lang="en-US" altLang="en-US" smtClean="0"/>
              <a:t>At the prevailing point on the production possibility frontier</a:t>
            </a:r>
          </a:p>
          <a:p>
            <a:pPr lvl="2"/>
            <a:r>
              <a:rPr lang="en-US" altLang="en-US" smtClean="0"/>
              <a:t>Rises as more </a:t>
            </a:r>
            <a:r>
              <a:rPr lang="en-US" altLang="en-US" i="1" smtClean="0"/>
              <a:t>x</a:t>
            </a:r>
            <a:r>
              <a:rPr lang="en-US" altLang="en-US" smtClean="0"/>
              <a:t> is produced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9EFD5C4-858E-4C7C-9DDE-60AB74BE0F2A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9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13.1 	Concavity of the Production Possibility 	</a:t>
            </a:r>
            <a:r>
              <a:rPr lang="en-US" altLang="en-US" dirty="0" smtClean="0">
                <a:solidFill>
                  <a:srgbClr val="002D56"/>
                </a:solidFill>
              </a:rPr>
              <a:t>Frontier</a:t>
            </a:r>
          </a:p>
        </p:txBody>
      </p:sp>
      <p:sp>
        <p:nvSpPr>
          <p:cNvPr id="307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2F98C94-6CA7-4A10-B53C-3970CAF5947C}" type="slidenum">
              <a:rPr lang="en-US" smtClean="0"/>
              <a:pPr>
                <a:defRPr/>
              </a:pPr>
              <a:t>22</a:t>
            </a:fld>
            <a:endParaRPr lang="en-US" dirty="0"/>
          </a:p>
        </p:txBody>
      </p:sp>
      <p:sp>
        <p:nvSpPr>
          <p:cNvPr id="3077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838200"/>
            <a:ext cx="8382000" cy="4191000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en-US" dirty="0" smtClean="0"/>
              <a:t>Production of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Depends only on labor </a:t>
            </a:r>
          </a:p>
          <a:p>
            <a:pPr lvl="1"/>
            <a:r>
              <a:rPr lang="en-US" altLang="en-US" dirty="0" smtClean="0"/>
              <a:t>Production functions</a:t>
            </a:r>
            <a:r>
              <a:rPr lang="en-US" altLang="en-US" dirty="0" smtClean="0"/>
              <a:t>: 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x=f(l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)=l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y=f(</a:t>
            </a:r>
            <a:r>
              <a:rPr lang="en-US" altLang="en-US" i="1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altLang="en-US" i="1" baseline="-25000" dirty="0" err="1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)=l</a:t>
            </a:r>
            <a:r>
              <a:rPr lang="en-US" altLang="en-US" i="1" baseline="-25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30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altLang="en-US" i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eaLnBrk="0" hangingPunct="0">
              <a:lnSpc>
                <a:spcPct val="150000"/>
              </a:lnSpc>
              <a:defRPr/>
            </a:pPr>
            <a:r>
              <a:rPr lang="en-US" kern="0" dirty="0" smtClean="0"/>
              <a:t>Total </a:t>
            </a:r>
            <a:r>
              <a:rPr lang="en-US" kern="0" dirty="0"/>
              <a:t>labor supply = 100, </a:t>
            </a:r>
            <a:r>
              <a:rPr lang="en-US" i="1" kern="0" dirty="0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i="1" kern="0" baseline="-25000" dirty="0">
                <a:solidFill>
                  <a:srgbClr val="FF0000"/>
                </a:solidFill>
              </a:rPr>
              <a:t>x</a:t>
            </a:r>
            <a:r>
              <a:rPr lang="en-US" kern="0" dirty="0">
                <a:solidFill>
                  <a:srgbClr val="FF0000"/>
                </a:solidFill>
              </a:rPr>
              <a:t> + </a:t>
            </a:r>
            <a:r>
              <a:rPr lang="en-US" i="1" kern="0" dirty="0" err="1">
                <a:solidFill>
                  <a:srgbClr val="FF0000"/>
                </a:solidFill>
                <a:latin typeface="Times New Roman" pitchFamily="18" charset="0"/>
              </a:rPr>
              <a:t>l</a:t>
            </a:r>
            <a:r>
              <a:rPr lang="en-US" i="1" kern="0" baseline="-25000" dirty="0" err="1">
                <a:solidFill>
                  <a:srgbClr val="FF0000"/>
                </a:solidFill>
              </a:rPr>
              <a:t>y</a:t>
            </a:r>
            <a:r>
              <a:rPr lang="en-US" kern="0" dirty="0">
                <a:solidFill>
                  <a:srgbClr val="FF0000"/>
                </a:solidFill>
              </a:rPr>
              <a:t> = 100</a:t>
            </a:r>
          </a:p>
          <a:p>
            <a:pPr lvl="1" eaLnBrk="0" hangingPunct="0">
              <a:lnSpc>
                <a:spcPct val="80000"/>
              </a:lnSpc>
              <a:defRPr/>
            </a:pPr>
            <a:r>
              <a:rPr lang="en-US" kern="0" dirty="0"/>
              <a:t>The production possibility frontier: </a:t>
            </a:r>
          </a:p>
          <a:p>
            <a:pPr marL="457200" lvl="1" indent="0" algn="ctr" eaLnBrk="0" hangingPunct="0">
              <a:buNone/>
              <a:defRPr/>
            </a:pP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kern="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kern="0" baseline="30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100</a:t>
            </a:r>
            <a:r>
              <a:rPr lang="en-US" kern="0" dirty="0"/>
              <a:t>	for </a:t>
            </a:r>
            <a:r>
              <a:rPr lang="en-US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 0</a:t>
            </a:r>
          </a:p>
          <a:p>
            <a:pPr lvl="1" eaLnBrk="0" hangingPunct="0">
              <a:defRPr/>
            </a:pPr>
            <a:r>
              <a:rPr lang="en-US" kern="0" dirty="0"/>
              <a:t>The </a:t>
            </a:r>
            <a:r>
              <a:rPr lang="en-US" i="1" kern="0" dirty="0"/>
              <a:t>RPT</a:t>
            </a:r>
            <a:r>
              <a:rPr lang="en-US" kern="0" dirty="0"/>
              <a:t> can be calculated:</a:t>
            </a:r>
          </a:p>
          <a:p>
            <a:pPr lvl="1"/>
            <a:endParaRPr lang="en-US" altLang="en-US" dirty="0" smtClean="0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5715000"/>
            <a:ext cx="8382000" cy="685800"/>
          </a:xfrm>
        </p:spPr>
        <p:txBody>
          <a:bodyPr>
            <a:normAutofit/>
          </a:bodyPr>
          <a:lstStyle/>
          <a:p>
            <a:pPr lvl="1"/>
            <a:r>
              <a:rPr lang="en-US" kern="0" dirty="0"/>
              <a:t>Concave</a:t>
            </a:r>
            <a:endParaRPr lang="en-US" dirty="0"/>
          </a:p>
        </p:txBody>
      </p:sp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2225675" y="4651375"/>
          <a:ext cx="4694238" cy="115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5476" name="Equation" r:id="rId3" imgW="2057400" imgH="507960" progId="Equation.DSMT4">
                  <p:embed/>
                </p:oleObj>
              </mc:Choice>
              <mc:Fallback>
                <p:oleObj name="Equation" r:id="rId3" imgW="2057400" imgH="5079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25675" y="4651375"/>
                        <a:ext cx="4694238" cy="1155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72103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4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13.1 	Concavity of the Production Possibility 	</a:t>
            </a:r>
            <a:r>
              <a:rPr lang="en-US" altLang="en-US" dirty="0" smtClean="0">
                <a:solidFill>
                  <a:srgbClr val="002D56"/>
                </a:solidFill>
              </a:rPr>
              <a:t>Frontier</a:t>
            </a:r>
          </a:p>
        </p:txBody>
      </p:sp>
      <p:sp>
        <p:nvSpPr>
          <p:cNvPr id="410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9D68EE6-2C59-4135-87B4-25B01DB7BDC8}" type="slidenum">
              <a:rPr lang="en-US" smtClean="0"/>
              <a:pPr>
                <a:defRPr/>
              </a:pPr>
              <a:t>23</a:t>
            </a:fld>
            <a:endParaRPr lang="en-US" dirty="0"/>
          </a:p>
        </p:txBody>
      </p:sp>
      <p:sp>
        <p:nvSpPr>
          <p:cNvPr id="4101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14400"/>
            <a:ext cx="8382000" cy="22860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Two goods are produced under constant returns to scale:</a:t>
            </a:r>
            <a:endParaRPr lang="en-US" altLang="en-US" sz="2800" dirty="0" smtClean="0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2590800"/>
            <a:ext cx="8382000" cy="3581400"/>
          </a:xfrm>
        </p:spPr>
        <p:txBody>
          <a:bodyPr/>
          <a:lstStyle/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Total labor and capital are </a:t>
            </a:r>
            <a:r>
              <a:rPr lang="en-US" kern="0" dirty="0" smtClean="0"/>
              <a:t>constrained by: </a:t>
            </a:r>
            <a:endParaRPr lang="en-US" kern="0" dirty="0"/>
          </a:p>
          <a:p>
            <a:pPr algn="ctr" eaLnBrk="0" hangingPunct="0">
              <a:lnSpc>
                <a:spcPct val="150000"/>
              </a:lnSpc>
              <a:buNone/>
              <a:defRPr/>
            </a:pPr>
            <a:r>
              <a:rPr lang="en-US" sz="2800" kern="0" dirty="0"/>
              <a:t> </a:t>
            </a:r>
            <a:r>
              <a:rPr lang="en-US" sz="2800" i="1" kern="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i="1" kern="0" baseline="-25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i="1" kern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i="1" kern="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sz="2800" i="1" kern="0" baseline="-25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i="1" kern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= 100</a:t>
            </a:r>
            <a:r>
              <a:rPr lang="en-US" sz="2800" kern="0" dirty="0"/>
              <a:t>, and </a:t>
            </a:r>
            <a:r>
              <a:rPr lang="en-US" sz="2800" i="1" kern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i="1" kern="0" baseline="-25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sz="2800" i="1" kern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sz="2800" i="1" kern="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sz="2800" i="1" kern="0" baseline="-25000" dirty="0" err="1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sz="2800" i="1" kern="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800" i="1" kern="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100</a:t>
            </a:r>
            <a:endParaRPr lang="en-US" sz="2800" i="1" kern="0" dirty="0">
              <a:solidFill>
                <a:srgbClr val="000099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1336675" y="1928813"/>
          <a:ext cx="6470650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4" name="Equation" r:id="rId3" imgW="2908080" imgH="253800" progId="Equation.DSMT4">
                  <p:embed/>
                </p:oleObj>
              </mc:Choice>
              <mc:Fallback>
                <p:oleObj name="Equation" r:id="rId3" imgW="2908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6675" y="1928813"/>
                        <a:ext cx="6470650" cy="565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777196"/>
              </p:ext>
            </p:extLst>
          </p:nvPr>
        </p:nvGraphicFramePr>
        <p:xfrm>
          <a:off x="1778000" y="3775075"/>
          <a:ext cx="5588000" cy="2625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505" name="Equation" r:id="rId5" imgW="2539800" imgH="1193760" progId="Equation.DSMT4">
                  <p:embed/>
                </p:oleObj>
              </mc:Choice>
              <mc:Fallback>
                <p:oleObj name="Equation" r:id="rId5" imgW="2539800" imgH="11937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8000" y="3775075"/>
                        <a:ext cx="5588000" cy="2625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6374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14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13.1 	Concavity of the Production Possibility 	</a:t>
            </a:r>
            <a:r>
              <a:rPr lang="en-US" altLang="en-US" dirty="0" smtClean="0">
                <a:solidFill>
                  <a:srgbClr val="002D56"/>
                </a:solidFill>
              </a:rPr>
              <a:t>Frontier</a:t>
            </a:r>
          </a:p>
        </p:txBody>
      </p:sp>
      <p:sp>
        <p:nvSpPr>
          <p:cNvPr id="5126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0971296-5CC8-43EC-AF63-104B95562BDE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sp>
        <p:nvSpPr>
          <p:cNvPr id="5124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066800"/>
            <a:ext cx="8382000" cy="53340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Capital-labor ratios:</a:t>
            </a:r>
            <a:endParaRPr lang="en-US" altLang="en-US" sz="2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12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438000"/>
              </p:ext>
            </p:extLst>
          </p:nvPr>
        </p:nvGraphicFramePr>
        <p:xfrm>
          <a:off x="739775" y="1655762"/>
          <a:ext cx="5138738" cy="3678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518" name="Equation" r:id="rId3" imgW="1917360" imgH="1371600" progId="Equation.DSMT4">
                  <p:embed/>
                </p:oleObj>
              </mc:Choice>
              <mc:Fallback>
                <p:oleObj name="Equation" r:id="rId3" imgW="1917360" imgH="1371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9775" y="1655762"/>
                        <a:ext cx="5138738" cy="3678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1448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dirty="0" smtClean="0"/>
              <a:t>13.1 	Concavity of the Production Possibility 	</a:t>
            </a:r>
            <a:r>
              <a:rPr lang="en-US" altLang="en-US" dirty="0" smtClean="0">
                <a:solidFill>
                  <a:srgbClr val="002D56"/>
                </a:solidFill>
              </a:rPr>
              <a:t>Frontier</a:t>
            </a:r>
          </a:p>
        </p:txBody>
      </p:sp>
      <p:sp>
        <p:nvSpPr>
          <p:cNvPr id="6150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36DE2A8-8F88-445E-9786-992FB86A3949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6148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219200"/>
            <a:ext cx="8382000" cy="5181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Production possibility frontier in terms of the share of labor devoted to x production:</a:t>
            </a:r>
            <a:endParaRPr lang="en-US" altLang="en-US" sz="2800" dirty="0" smtClean="0">
              <a:solidFill>
                <a:schemeClr val="tx1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8972327"/>
              </p:ext>
            </p:extLst>
          </p:nvPr>
        </p:nvGraphicFramePr>
        <p:xfrm>
          <a:off x="592138" y="2386012"/>
          <a:ext cx="7959725" cy="2338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8541" name="Equation" r:id="rId3" imgW="3200400" imgH="939600" progId="Equation.DSMT4">
                  <p:embed/>
                </p:oleObj>
              </mc:Choice>
              <mc:Fallback>
                <p:oleObj name="Equation" r:id="rId3" imgW="3200400" imgH="939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2138" y="2386012"/>
                        <a:ext cx="7959725" cy="2338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80683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4100" smtClean="0"/>
              <a:t>Determination of Equilibrium Prices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Determination of equilibrium prices</a:t>
            </a:r>
          </a:p>
          <a:p>
            <a:pPr lvl="1"/>
            <a:r>
              <a:rPr lang="en-US" altLang="en-US" smtClean="0"/>
              <a:t>From the production possibility frontier along with a set of indifference curves </a:t>
            </a:r>
          </a:p>
          <a:p>
            <a:r>
              <a:rPr lang="en-US" altLang="en-US" smtClean="0"/>
              <a:t>The indifference curves </a:t>
            </a:r>
          </a:p>
          <a:p>
            <a:pPr lvl="1"/>
            <a:r>
              <a:rPr lang="en-US" altLang="en-US" smtClean="0"/>
              <a:t>Represent individuals’ preferences for the two goods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A6AA931-585B-41E0-A898-3A0D0C4B2DF8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874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13.4	Determination of Equilibrium </a:t>
            </a:r>
            <a:r>
              <a:rPr lang="en-US" altLang="en-US" dirty="0" smtClean="0"/>
              <a:t>Prices</a:t>
            </a:r>
            <a:endParaRPr lang="en-US" altLang="en-US" dirty="0" smtClean="0"/>
          </a:p>
        </p:txBody>
      </p:sp>
      <p:sp>
        <p:nvSpPr>
          <p:cNvPr id="7173" name="Text Placeholder 2"/>
          <p:cNvSpPr>
            <a:spLocks noGrp="1"/>
          </p:cNvSpPr>
          <p:nvPr>
            <p:ph sz="half" idx="1"/>
          </p:nvPr>
        </p:nvSpPr>
        <p:spPr>
          <a:xfrm>
            <a:off x="0" y="4613276"/>
            <a:ext cx="9067800" cy="175830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With a price ratio given by 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x</a:t>
            </a:r>
            <a:r>
              <a:rPr lang="en-US" altLang="en-US" dirty="0"/>
              <a:t>/</a:t>
            </a:r>
            <a:r>
              <a:rPr lang="en-US" altLang="en-US" dirty="0" err="1"/>
              <a:t>p</a:t>
            </a:r>
            <a:r>
              <a:rPr lang="en-US" altLang="en-US" baseline="-25000" dirty="0" err="1"/>
              <a:t>y</a:t>
            </a:r>
            <a:r>
              <a:rPr lang="en-US" altLang="en-US" dirty="0"/>
              <a:t>, firms will produce x</a:t>
            </a:r>
            <a:r>
              <a:rPr lang="en-US" altLang="en-US" baseline="-25000" dirty="0"/>
              <a:t>1</a:t>
            </a:r>
            <a:r>
              <a:rPr lang="en-US" altLang="en-US" dirty="0"/>
              <a:t>, y</a:t>
            </a:r>
            <a:r>
              <a:rPr lang="en-US" altLang="en-US" baseline="-25000" dirty="0"/>
              <a:t>1</a:t>
            </a:r>
            <a:r>
              <a:rPr lang="en-US" altLang="en-US" dirty="0"/>
              <a:t>; society’s budget constraint will be given by line C. With this budget constraint, individuals demand x’</a:t>
            </a:r>
            <a:r>
              <a:rPr lang="en-US" altLang="en-US" baseline="-25000" dirty="0"/>
              <a:t>1</a:t>
            </a:r>
            <a:r>
              <a:rPr lang="en-US" altLang="en-US" dirty="0"/>
              <a:t> and y’</a:t>
            </a:r>
            <a:r>
              <a:rPr lang="en-US" altLang="en-US" baseline="-25000" dirty="0"/>
              <a:t>1</a:t>
            </a:r>
            <a:r>
              <a:rPr lang="en-US" altLang="en-US" dirty="0"/>
              <a:t>; that is, there is an excess demand for good x and an excess supply of good y. The workings of the market will move these prices toward their equilibrium levels p*</a:t>
            </a:r>
            <a:r>
              <a:rPr lang="en-US" altLang="en-US" baseline="-25000" dirty="0"/>
              <a:t>x</a:t>
            </a:r>
            <a:r>
              <a:rPr lang="en-US" altLang="en-US" dirty="0"/>
              <a:t> , p*</a:t>
            </a:r>
            <a:r>
              <a:rPr lang="en-US" altLang="en-US" baseline="-25000" dirty="0"/>
              <a:t>y</a:t>
            </a:r>
            <a:r>
              <a:rPr lang="en-US" altLang="en-US" dirty="0"/>
              <a:t> . At those prices, society’s budget constraint will be given by line C, and supply and demand will be in equilibrium. The combination x*, y* of goods will be </a:t>
            </a:r>
            <a:r>
              <a:rPr lang="en-US" altLang="en-US" dirty="0" smtClean="0"/>
              <a:t>chosen</a:t>
            </a:r>
            <a:r>
              <a:rPr lang="en-US" altLang="en-US" dirty="0"/>
              <a:t>.</a:t>
            </a:r>
          </a:p>
        </p:txBody>
      </p:sp>
      <p:sp>
        <p:nvSpPr>
          <p:cNvPr id="717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5970A1B-1814-4F9E-8DFE-BAA22AE45C61}" type="slidenum">
              <a:rPr lang="en-US" smtClean="0"/>
              <a:pPr>
                <a:defRPr/>
              </a:pPr>
              <a:t>27</a:t>
            </a:fld>
            <a:endParaRPr lang="en-US" dirty="0"/>
          </a:p>
        </p:txBody>
      </p:sp>
      <p:grpSp>
        <p:nvGrpSpPr>
          <p:cNvPr id="32" name="Group 62"/>
          <p:cNvGrpSpPr>
            <a:grpSpLocks/>
          </p:cNvGrpSpPr>
          <p:nvPr/>
        </p:nvGrpSpPr>
        <p:grpSpPr bwMode="auto">
          <a:xfrm>
            <a:off x="392567" y="771156"/>
            <a:ext cx="7581446" cy="3748457"/>
            <a:chOff x="392093" y="1167287"/>
            <a:chExt cx="7581446" cy="3748457"/>
          </a:xfrm>
        </p:grpSpPr>
        <p:grpSp>
          <p:nvGrpSpPr>
            <p:cNvPr id="7228" name="Group 61"/>
            <p:cNvGrpSpPr>
              <a:grpSpLocks/>
            </p:cNvGrpSpPr>
            <p:nvPr/>
          </p:nvGrpSpPr>
          <p:grpSpPr bwMode="auto">
            <a:xfrm>
              <a:off x="2010889" y="4549031"/>
              <a:ext cx="5962650" cy="366713"/>
              <a:chOff x="2010889" y="4549031"/>
              <a:chExt cx="5962650" cy="366713"/>
            </a:xfrm>
          </p:grpSpPr>
          <p:sp>
            <p:nvSpPr>
              <p:cNvPr id="7232" name="Line 4"/>
              <p:cNvSpPr>
                <a:spLocks noChangeShapeType="1"/>
              </p:cNvSpPr>
              <p:nvPr/>
            </p:nvSpPr>
            <p:spPr bwMode="auto">
              <a:xfrm>
                <a:off x="2010889" y="4704606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3" name="Text Box 5"/>
              <p:cNvSpPr txBox="1">
                <a:spLocks noChangeArrowheads="1"/>
              </p:cNvSpPr>
              <p:nvPr/>
            </p:nvSpPr>
            <p:spPr bwMode="auto">
              <a:xfrm>
                <a:off x="6506689" y="4549031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</a:p>
            </p:txBody>
          </p:sp>
        </p:grpSp>
        <p:grpSp>
          <p:nvGrpSpPr>
            <p:cNvPr id="7229" name="Group 60"/>
            <p:cNvGrpSpPr>
              <a:grpSpLocks/>
            </p:cNvGrpSpPr>
            <p:nvPr/>
          </p:nvGrpSpPr>
          <p:grpSpPr bwMode="auto">
            <a:xfrm>
              <a:off x="392093" y="1167287"/>
              <a:ext cx="1618796" cy="3537319"/>
              <a:chOff x="392093" y="1167287"/>
              <a:chExt cx="1618796" cy="3537319"/>
            </a:xfrm>
          </p:grpSpPr>
          <p:sp>
            <p:nvSpPr>
              <p:cNvPr id="7230" name="Line 3"/>
              <p:cNvSpPr>
                <a:spLocks noChangeShapeType="1"/>
              </p:cNvSpPr>
              <p:nvPr/>
            </p:nvSpPr>
            <p:spPr bwMode="auto">
              <a:xfrm>
                <a:off x="2010889" y="1199406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7231" name="Text Box 6"/>
              <p:cNvSpPr txBox="1">
                <a:spLocks noChangeArrowheads="1"/>
              </p:cNvSpPr>
              <p:nvPr/>
            </p:nvSpPr>
            <p:spPr bwMode="auto">
              <a:xfrm>
                <a:off x="392093" y="1167287"/>
                <a:ext cx="160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dirty="0"/>
                  <a:t>Quantity of </a:t>
                </a:r>
                <a:r>
                  <a:rPr lang="en-US" altLang="en-US" sz="1800" i="1" dirty="0"/>
                  <a:t>y</a:t>
                </a:r>
              </a:p>
            </p:txBody>
          </p:sp>
        </p:grpSp>
      </p:grpSp>
      <p:grpSp>
        <p:nvGrpSpPr>
          <p:cNvPr id="44" name="Group 46"/>
          <p:cNvGrpSpPr>
            <a:grpSpLocks/>
          </p:cNvGrpSpPr>
          <p:nvPr/>
        </p:nvGrpSpPr>
        <p:grpSpPr bwMode="auto">
          <a:xfrm>
            <a:off x="2468563" y="955675"/>
            <a:ext cx="3505200" cy="3019425"/>
            <a:chOff x="2468089" y="1351806"/>
            <a:chExt cx="3505900" cy="3020375"/>
          </a:xfrm>
        </p:grpSpPr>
        <p:sp>
          <p:nvSpPr>
            <p:cNvPr id="7226" name="Freeform 12"/>
            <p:cNvSpPr>
              <a:spLocks/>
            </p:cNvSpPr>
            <p:nvPr/>
          </p:nvSpPr>
          <p:spPr bwMode="auto">
            <a:xfrm>
              <a:off x="2468089" y="1351806"/>
              <a:ext cx="3124200" cy="28956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27" name="Text Box 15"/>
            <p:cNvSpPr txBox="1">
              <a:spLocks noChangeArrowheads="1"/>
            </p:cNvSpPr>
            <p:nvPr/>
          </p:nvSpPr>
          <p:spPr bwMode="auto">
            <a:xfrm>
              <a:off x="5566002" y="4035631"/>
              <a:ext cx="407987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45" name="Group 45"/>
          <p:cNvGrpSpPr>
            <a:grpSpLocks/>
          </p:cNvGrpSpPr>
          <p:nvPr/>
        </p:nvGrpSpPr>
        <p:grpSpPr bwMode="auto">
          <a:xfrm>
            <a:off x="2925763" y="574675"/>
            <a:ext cx="3379787" cy="2927350"/>
            <a:chOff x="2925289" y="970806"/>
            <a:chExt cx="3379788" cy="2927350"/>
          </a:xfrm>
        </p:grpSpPr>
        <p:sp>
          <p:nvSpPr>
            <p:cNvPr id="7224" name="Freeform 10"/>
            <p:cNvSpPr>
              <a:spLocks/>
            </p:cNvSpPr>
            <p:nvPr/>
          </p:nvSpPr>
          <p:spPr bwMode="auto">
            <a:xfrm>
              <a:off x="2925289" y="970806"/>
              <a:ext cx="3048000" cy="27432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25" name="Text Box 16"/>
            <p:cNvSpPr txBox="1">
              <a:spLocks noChangeArrowheads="1"/>
            </p:cNvSpPr>
            <p:nvPr/>
          </p:nvSpPr>
          <p:spPr bwMode="auto">
            <a:xfrm>
              <a:off x="5897089" y="3561606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46" name="Group 44"/>
          <p:cNvGrpSpPr>
            <a:grpSpLocks/>
          </p:cNvGrpSpPr>
          <p:nvPr/>
        </p:nvGrpSpPr>
        <p:grpSpPr bwMode="auto">
          <a:xfrm>
            <a:off x="3230563" y="574675"/>
            <a:ext cx="3379787" cy="2622550"/>
            <a:chOff x="3230089" y="970806"/>
            <a:chExt cx="3379788" cy="2622550"/>
          </a:xfrm>
        </p:grpSpPr>
        <p:sp>
          <p:nvSpPr>
            <p:cNvPr id="7222" name="Freeform 11"/>
            <p:cNvSpPr>
              <a:spLocks/>
            </p:cNvSpPr>
            <p:nvPr/>
          </p:nvSpPr>
          <p:spPr bwMode="auto">
            <a:xfrm>
              <a:off x="3230089" y="970806"/>
              <a:ext cx="3048000" cy="25146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23" name="Text Box 17"/>
            <p:cNvSpPr txBox="1">
              <a:spLocks noChangeArrowheads="1"/>
            </p:cNvSpPr>
            <p:nvPr/>
          </p:nvSpPr>
          <p:spPr bwMode="auto">
            <a:xfrm>
              <a:off x="6201889" y="3256806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3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47" name="Group 49"/>
          <p:cNvGrpSpPr>
            <a:grpSpLocks/>
          </p:cNvGrpSpPr>
          <p:nvPr/>
        </p:nvGrpSpPr>
        <p:grpSpPr bwMode="auto">
          <a:xfrm>
            <a:off x="1970088" y="900113"/>
            <a:ext cx="4905375" cy="2601912"/>
            <a:chOff x="1970314" y="1297381"/>
            <a:chExt cx="4904675" cy="2600775"/>
          </a:xfrm>
        </p:grpSpPr>
        <p:grpSp>
          <p:nvGrpSpPr>
            <p:cNvPr id="7218" name="Group 47"/>
            <p:cNvGrpSpPr>
              <a:grpSpLocks/>
            </p:cNvGrpSpPr>
            <p:nvPr/>
          </p:nvGrpSpPr>
          <p:grpSpPr bwMode="auto">
            <a:xfrm>
              <a:off x="2163289" y="1656606"/>
              <a:ext cx="4711700" cy="2241550"/>
              <a:chOff x="2163289" y="1656606"/>
              <a:chExt cx="4711700" cy="2241550"/>
            </a:xfrm>
          </p:grpSpPr>
          <p:sp>
            <p:nvSpPr>
              <p:cNvPr id="7220" name="Line 13"/>
              <p:cNvSpPr>
                <a:spLocks noChangeShapeType="1"/>
              </p:cNvSpPr>
              <p:nvPr/>
            </p:nvSpPr>
            <p:spPr bwMode="auto">
              <a:xfrm>
                <a:off x="2163289" y="1656606"/>
                <a:ext cx="4419600" cy="2057400"/>
              </a:xfrm>
              <a:prstGeom prst="line">
                <a:avLst/>
              </a:prstGeom>
              <a:noFill/>
              <a:ln w="28575">
                <a:solidFill>
                  <a:srgbClr val="DC00D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/>
              <a:lstStyle/>
              <a:p>
                <a:endParaRPr lang="en-US"/>
              </a:p>
            </p:txBody>
          </p:sp>
          <p:sp>
            <p:nvSpPr>
              <p:cNvPr id="7221" name="Text Box 19"/>
              <p:cNvSpPr txBox="1">
                <a:spLocks noChangeArrowheads="1"/>
              </p:cNvSpPr>
              <p:nvPr/>
            </p:nvSpPr>
            <p:spPr bwMode="auto">
              <a:xfrm>
                <a:off x="6544789" y="3561606"/>
                <a:ext cx="330200" cy="336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 i="1">
                    <a:solidFill>
                      <a:srgbClr val="DC00DC"/>
                    </a:solidFill>
                  </a:rPr>
                  <a:t>C</a:t>
                </a:r>
                <a:endParaRPr lang="en-US" altLang="en-US" sz="1800">
                  <a:solidFill>
                    <a:srgbClr val="DC00DC"/>
                  </a:solidFill>
                </a:endParaRPr>
              </a:p>
            </p:txBody>
          </p:sp>
        </p:grpSp>
        <p:sp>
          <p:nvSpPr>
            <p:cNvPr id="7219" name="Text Box 20"/>
            <p:cNvSpPr txBox="1">
              <a:spLocks noChangeArrowheads="1"/>
            </p:cNvSpPr>
            <p:nvPr/>
          </p:nvSpPr>
          <p:spPr bwMode="auto">
            <a:xfrm>
              <a:off x="1970314" y="1297381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DC00DC"/>
                  </a:solidFill>
                </a:rPr>
                <a:t>C</a:t>
              </a:r>
              <a:endParaRPr lang="en-US" altLang="en-US" sz="1800">
                <a:solidFill>
                  <a:srgbClr val="DC00DC"/>
                </a:solidFill>
              </a:endParaRPr>
            </a:p>
          </p:txBody>
        </p:sp>
      </p:grpSp>
      <p:grpSp>
        <p:nvGrpSpPr>
          <p:cNvPr id="49" name="Group 63"/>
          <p:cNvGrpSpPr>
            <a:grpSpLocks/>
          </p:cNvGrpSpPr>
          <p:nvPr/>
        </p:nvGrpSpPr>
        <p:grpSpPr bwMode="auto">
          <a:xfrm>
            <a:off x="1566863" y="1592263"/>
            <a:ext cx="1587500" cy="304800"/>
            <a:chOff x="1567544" y="1988394"/>
            <a:chExt cx="1586345" cy="304800"/>
          </a:xfrm>
        </p:grpSpPr>
        <p:sp>
          <p:nvSpPr>
            <p:cNvPr id="7216" name="Text Box 7"/>
            <p:cNvSpPr txBox="1">
              <a:spLocks noChangeArrowheads="1"/>
            </p:cNvSpPr>
            <p:nvPr/>
          </p:nvSpPr>
          <p:spPr bwMode="auto">
            <a:xfrm>
              <a:off x="1567544" y="1988394"/>
              <a:ext cx="43223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  <p:sp>
          <p:nvSpPr>
            <p:cNvPr id="7217" name="Line 22"/>
            <p:cNvSpPr>
              <a:spLocks noChangeShapeType="1"/>
            </p:cNvSpPr>
            <p:nvPr/>
          </p:nvSpPr>
          <p:spPr bwMode="auto">
            <a:xfrm flipH="1">
              <a:off x="2010889" y="2113806"/>
              <a:ext cx="1143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7183" name="Text Box 23"/>
          <p:cNvSpPr txBox="1">
            <a:spLocks noChangeArrowheads="1"/>
          </p:cNvSpPr>
          <p:nvPr/>
        </p:nvSpPr>
        <p:spPr bwMode="auto">
          <a:xfrm>
            <a:off x="4830763" y="7270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i="1"/>
          </a:p>
        </p:txBody>
      </p:sp>
      <p:grpSp>
        <p:nvGrpSpPr>
          <p:cNvPr id="50" name="Group 43"/>
          <p:cNvGrpSpPr>
            <a:grpSpLocks/>
          </p:cNvGrpSpPr>
          <p:nvPr/>
        </p:nvGrpSpPr>
        <p:grpSpPr bwMode="auto">
          <a:xfrm>
            <a:off x="6583363" y="3394075"/>
            <a:ext cx="1360487" cy="754063"/>
            <a:chOff x="6582889" y="3790206"/>
            <a:chExt cx="1361703" cy="754063"/>
          </a:xfrm>
        </p:grpSpPr>
        <p:graphicFrame>
          <p:nvGraphicFramePr>
            <p:cNvPr id="7170" name="Object 2"/>
            <p:cNvGraphicFramePr>
              <a:graphicFrameLocks noChangeAspect="1"/>
            </p:cNvGraphicFramePr>
            <p:nvPr/>
          </p:nvGraphicFramePr>
          <p:xfrm>
            <a:off x="6673377" y="3890167"/>
            <a:ext cx="1271215" cy="654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578" name="Equation" r:id="rId3" imgW="863280" imgH="444240" progId="Equation.3">
                    <p:embed/>
                  </p:oleObj>
                </mc:Choice>
                <mc:Fallback>
                  <p:oleObj name="Equation" r:id="rId3" imgW="863280" imgH="4442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73377" y="3890167"/>
                          <a:ext cx="1271215" cy="65410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15" name="Line 25"/>
            <p:cNvSpPr>
              <a:spLocks noChangeShapeType="1"/>
            </p:cNvSpPr>
            <p:nvPr/>
          </p:nvSpPr>
          <p:spPr bwMode="auto">
            <a:xfrm flipH="1" flipV="1">
              <a:off x="6582889" y="3790206"/>
              <a:ext cx="76200" cy="381000"/>
            </a:xfrm>
            <a:prstGeom prst="line">
              <a:avLst/>
            </a:prstGeom>
            <a:noFill/>
            <a:ln w="12700">
              <a:solidFill>
                <a:srgbClr val="DC00D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53" name="Group 65"/>
          <p:cNvGrpSpPr>
            <a:grpSpLocks/>
          </p:cNvGrpSpPr>
          <p:nvPr/>
        </p:nvGrpSpPr>
        <p:grpSpPr bwMode="auto">
          <a:xfrm>
            <a:off x="1520825" y="2506663"/>
            <a:ext cx="3538538" cy="304800"/>
            <a:chOff x="1520042" y="2902794"/>
            <a:chExt cx="3538847" cy="304800"/>
          </a:xfrm>
        </p:grpSpPr>
        <p:sp>
          <p:nvSpPr>
            <p:cNvPr id="7213" name="Line 27"/>
            <p:cNvSpPr>
              <a:spLocks noChangeShapeType="1"/>
            </p:cNvSpPr>
            <p:nvPr/>
          </p:nvSpPr>
          <p:spPr bwMode="auto">
            <a:xfrm flipH="1">
              <a:off x="2010889" y="3028206"/>
              <a:ext cx="30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4" name="Text Box 29"/>
            <p:cNvSpPr txBox="1">
              <a:spLocks noChangeArrowheads="1"/>
            </p:cNvSpPr>
            <p:nvPr/>
          </p:nvSpPr>
          <p:spPr bwMode="auto">
            <a:xfrm>
              <a:off x="1520042" y="2902794"/>
              <a:ext cx="50513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1</a:t>
              </a:r>
              <a:r>
                <a:rPr lang="en-US" altLang="en-US" sz="1800"/>
                <a:t>’</a:t>
              </a:r>
              <a:endParaRPr lang="en-US" altLang="en-US" sz="1800" i="1"/>
            </a:p>
          </p:txBody>
        </p:sp>
      </p:grpSp>
      <p:grpSp>
        <p:nvGrpSpPr>
          <p:cNvPr id="54" name="Group 64"/>
          <p:cNvGrpSpPr>
            <a:grpSpLocks/>
          </p:cNvGrpSpPr>
          <p:nvPr/>
        </p:nvGrpSpPr>
        <p:grpSpPr bwMode="auto">
          <a:xfrm>
            <a:off x="1484313" y="2098675"/>
            <a:ext cx="2466975" cy="304800"/>
            <a:chOff x="1484417" y="2494806"/>
            <a:chExt cx="2466397" cy="304800"/>
          </a:xfrm>
        </p:grpSpPr>
        <p:sp>
          <p:nvSpPr>
            <p:cNvPr id="7211" name="Line 31"/>
            <p:cNvSpPr>
              <a:spLocks noChangeShapeType="1"/>
            </p:cNvSpPr>
            <p:nvPr/>
          </p:nvSpPr>
          <p:spPr bwMode="auto">
            <a:xfrm flipH="1">
              <a:off x="2045814" y="2647206"/>
              <a:ext cx="1905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2" name="Text Box 32"/>
            <p:cNvSpPr txBox="1">
              <a:spLocks noChangeArrowheads="1"/>
            </p:cNvSpPr>
            <p:nvPr/>
          </p:nvSpPr>
          <p:spPr bwMode="auto">
            <a:xfrm>
              <a:off x="1484417" y="2494806"/>
              <a:ext cx="56139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/>
                <a:t>*</a:t>
              </a:r>
              <a:endParaRPr lang="en-US" altLang="en-US" sz="1800" i="1"/>
            </a:p>
          </p:txBody>
        </p:sp>
      </p:grpSp>
      <p:grpSp>
        <p:nvGrpSpPr>
          <p:cNvPr id="59" name="Group 66"/>
          <p:cNvGrpSpPr>
            <a:grpSpLocks/>
          </p:cNvGrpSpPr>
          <p:nvPr/>
        </p:nvGrpSpPr>
        <p:grpSpPr bwMode="auto">
          <a:xfrm>
            <a:off x="3722688" y="2251075"/>
            <a:ext cx="671512" cy="2362200"/>
            <a:chOff x="3722214" y="2647206"/>
            <a:chExt cx="671656" cy="2362200"/>
          </a:xfrm>
        </p:grpSpPr>
        <p:sp>
          <p:nvSpPr>
            <p:cNvPr id="7209" name="Line 30"/>
            <p:cNvSpPr>
              <a:spLocks noChangeShapeType="1"/>
            </p:cNvSpPr>
            <p:nvPr/>
          </p:nvSpPr>
          <p:spPr bwMode="auto">
            <a:xfrm>
              <a:off x="3950814" y="2647206"/>
              <a:ext cx="0" cy="2057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210" name="Text Box 33"/>
            <p:cNvSpPr txBox="1">
              <a:spLocks noChangeArrowheads="1"/>
            </p:cNvSpPr>
            <p:nvPr/>
          </p:nvSpPr>
          <p:spPr bwMode="auto">
            <a:xfrm>
              <a:off x="3722214" y="4704606"/>
              <a:ext cx="671656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/>
                <a:t>*</a:t>
              </a:r>
              <a:endParaRPr lang="en-US" altLang="en-US" sz="1800" i="1"/>
            </a:p>
          </p:txBody>
        </p:sp>
      </p:grpSp>
      <p:grpSp>
        <p:nvGrpSpPr>
          <p:cNvPr id="60" name="Group 48"/>
          <p:cNvGrpSpPr>
            <a:grpSpLocks/>
          </p:cNvGrpSpPr>
          <p:nvPr/>
        </p:nvGrpSpPr>
        <p:grpSpPr bwMode="auto">
          <a:xfrm>
            <a:off x="2468563" y="577774"/>
            <a:ext cx="3609975" cy="3762451"/>
            <a:chOff x="2468089" y="974749"/>
            <a:chExt cx="3609975" cy="3761607"/>
          </a:xfrm>
        </p:grpSpPr>
        <p:sp>
          <p:nvSpPr>
            <p:cNvPr id="7206" name="Line 39"/>
            <p:cNvSpPr>
              <a:spLocks noChangeShapeType="1"/>
            </p:cNvSpPr>
            <p:nvPr/>
          </p:nvSpPr>
          <p:spPr bwMode="auto">
            <a:xfrm>
              <a:off x="2468089" y="1123206"/>
              <a:ext cx="3268663" cy="33528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07" name="Text Box 40"/>
            <p:cNvSpPr txBox="1">
              <a:spLocks noChangeArrowheads="1"/>
            </p:cNvSpPr>
            <p:nvPr/>
          </p:nvSpPr>
          <p:spPr bwMode="auto">
            <a:xfrm>
              <a:off x="5668489" y="4399806"/>
              <a:ext cx="409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C</a:t>
              </a:r>
              <a:r>
                <a:rPr lang="en-US" altLang="en-US" sz="1800" dirty="0">
                  <a:solidFill>
                    <a:srgbClr val="C00000"/>
                  </a:solidFill>
                </a:rPr>
                <a:t>*</a:t>
              </a:r>
            </a:p>
          </p:txBody>
        </p:sp>
        <p:sp>
          <p:nvSpPr>
            <p:cNvPr id="7208" name="Text Box 41"/>
            <p:cNvSpPr txBox="1">
              <a:spLocks noChangeArrowheads="1"/>
            </p:cNvSpPr>
            <p:nvPr/>
          </p:nvSpPr>
          <p:spPr bwMode="auto">
            <a:xfrm>
              <a:off x="2485551" y="974749"/>
              <a:ext cx="4095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 dirty="0">
                  <a:solidFill>
                    <a:srgbClr val="C00000"/>
                  </a:solidFill>
                </a:rPr>
                <a:t>C</a:t>
              </a:r>
              <a:r>
                <a:rPr lang="en-US" altLang="en-US" sz="1800" dirty="0">
                  <a:solidFill>
                    <a:srgbClr val="C00000"/>
                  </a:solidFill>
                </a:rPr>
                <a:t>*</a:t>
              </a:r>
            </a:p>
          </p:txBody>
        </p:sp>
      </p:grpSp>
      <p:grpSp>
        <p:nvGrpSpPr>
          <p:cNvPr id="61" name="Group 42"/>
          <p:cNvGrpSpPr>
            <a:grpSpLocks/>
          </p:cNvGrpSpPr>
          <p:nvPr/>
        </p:nvGrpSpPr>
        <p:grpSpPr bwMode="auto">
          <a:xfrm>
            <a:off x="2879725" y="604837"/>
            <a:ext cx="2378075" cy="842963"/>
            <a:chOff x="2720438" y="777764"/>
            <a:chExt cx="2378138" cy="842706"/>
          </a:xfrm>
        </p:grpSpPr>
        <p:graphicFrame>
          <p:nvGraphicFramePr>
            <p:cNvPr id="7171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41108115"/>
                </p:ext>
              </p:extLst>
            </p:nvPr>
          </p:nvGraphicFramePr>
          <p:xfrm>
            <a:off x="3695189" y="777764"/>
            <a:ext cx="1403387" cy="8427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79579" name="Equation" r:id="rId5" imgW="927000" imgH="558720" progId="Equation.DSMT4">
                    <p:embed/>
                  </p:oleObj>
                </mc:Choice>
                <mc:Fallback>
                  <p:oleObj name="Equation" r:id="rId5" imgW="927000" imgH="55872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95189" y="777764"/>
                          <a:ext cx="1403387" cy="84270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3B823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205" name="Line 43"/>
            <p:cNvSpPr>
              <a:spLocks noChangeShapeType="1"/>
            </p:cNvSpPr>
            <p:nvPr/>
          </p:nvSpPr>
          <p:spPr bwMode="auto">
            <a:xfrm flipH="1">
              <a:off x="2720438" y="1104405"/>
              <a:ext cx="972787" cy="126792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62" name="Group 52"/>
          <p:cNvGrpSpPr>
            <a:grpSpLocks/>
          </p:cNvGrpSpPr>
          <p:nvPr/>
        </p:nvGrpSpPr>
        <p:grpSpPr bwMode="auto">
          <a:xfrm>
            <a:off x="1658938" y="1266825"/>
            <a:ext cx="3171825" cy="3041650"/>
            <a:chOff x="1659576" y="1663537"/>
            <a:chExt cx="3170713" cy="3041069"/>
          </a:xfrm>
        </p:grpSpPr>
        <p:sp>
          <p:nvSpPr>
            <p:cNvPr id="7202" name="Arc 14"/>
            <p:cNvSpPr>
              <a:spLocks/>
            </p:cNvSpPr>
            <p:nvPr/>
          </p:nvSpPr>
          <p:spPr bwMode="auto">
            <a:xfrm>
              <a:off x="2010889" y="1885206"/>
              <a:ext cx="2819400" cy="2819400"/>
            </a:xfrm>
            <a:custGeom>
              <a:avLst/>
              <a:gdLst>
                <a:gd name="T0" fmla="*/ 0 w 21600"/>
                <a:gd name="T1" fmla="*/ 0 h 21600"/>
                <a:gd name="T2" fmla="*/ 2819400 w 21600"/>
                <a:gd name="T3" fmla="*/ 2819400 h 21600"/>
                <a:gd name="T4" fmla="*/ 0 w 21600"/>
                <a:gd name="T5" fmla="*/ 281940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28575">
              <a:solidFill>
                <a:srgbClr val="177B2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7203" name="Text Box 20"/>
            <p:cNvSpPr txBox="1">
              <a:spLocks noChangeArrowheads="1"/>
            </p:cNvSpPr>
            <p:nvPr/>
          </p:nvSpPr>
          <p:spPr bwMode="auto">
            <a:xfrm>
              <a:off x="1659576" y="1663537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177B21"/>
                  </a:solidFill>
                </a:rPr>
                <a:t>P</a:t>
              </a:r>
              <a:endParaRPr lang="en-US" altLang="en-US" sz="1800">
                <a:solidFill>
                  <a:srgbClr val="177B21"/>
                </a:solidFill>
              </a:endParaRPr>
            </a:p>
          </p:txBody>
        </p:sp>
        <p:sp>
          <p:nvSpPr>
            <p:cNvPr id="7204" name="Text Box 20"/>
            <p:cNvSpPr txBox="1">
              <a:spLocks noChangeArrowheads="1"/>
            </p:cNvSpPr>
            <p:nvPr/>
          </p:nvSpPr>
          <p:spPr bwMode="auto">
            <a:xfrm>
              <a:off x="4400797" y="4333506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177B21"/>
                  </a:solidFill>
                </a:rPr>
                <a:t>P</a:t>
              </a:r>
              <a:endParaRPr lang="en-US" altLang="en-US" sz="1800">
                <a:solidFill>
                  <a:srgbClr val="177B21"/>
                </a:solidFill>
              </a:endParaRPr>
            </a:p>
          </p:txBody>
        </p:sp>
      </p:grpSp>
      <p:grpSp>
        <p:nvGrpSpPr>
          <p:cNvPr id="63" name="Group 53"/>
          <p:cNvGrpSpPr>
            <a:grpSpLocks/>
          </p:cNvGrpSpPr>
          <p:nvPr/>
        </p:nvGrpSpPr>
        <p:grpSpPr bwMode="auto">
          <a:xfrm>
            <a:off x="3584575" y="2225675"/>
            <a:ext cx="406400" cy="342900"/>
            <a:chOff x="3157436" y="2273908"/>
            <a:chExt cx="406764" cy="342438"/>
          </a:xfrm>
        </p:grpSpPr>
        <p:sp>
          <p:nvSpPr>
            <p:cNvPr id="7200" name="Text Box 26"/>
            <p:cNvSpPr txBox="1">
              <a:spLocks noChangeArrowheads="1"/>
            </p:cNvSpPr>
            <p:nvPr/>
          </p:nvSpPr>
          <p:spPr bwMode="auto">
            <a:xfrm>
              <a:off x="3157436" y="2279796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E</a:t>
              </a:r>
            </a:p>
          </p:txBody>
        </p:sp>
        <p:sp>
          <p:nvSpPr>
            <p:cNvPr id="7201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4" name="Group 59"/>
          <p:cNvGrpSpPr>
            <a:grpSpLocks/>
          </p:cNvGrpSpPr>
          <p:nvPr/>
        </p:nvGrpSpPr>
        <p:grpSpPr bwMode="auto">
          <a:xfrm>
            <a:off x="2925763" y="1666875"/>
            <a:ext cx="446087" cy="2946400"/>
            <a:chOff x="2925289" y="2064374"/>
            <a:chExt cx="447303" cy="2945032"/>
          </a:xfrm>
        </p:grpSpPr>
        <p:sp>
          <p:nvSpPr>
            <p:cNvPr id="7197" name="Text Box 8"/>
            <p:cNvSpPr txBox="1">
              <a:spLocks noChangeArrowheads="1"/>
            </p:cNvSpPr>
            <p:nvPr/>
          </p:nvSpPr>
          <p:spPr bwMode="auto">
            <a:xfrm>
              <a:off x="2925289" y="4704606"/>
              <a:ext cx="44730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  <p:sp>
          <p:nvSpPr>
            <p:cNvPr id="7198" name="Line 21"/>
            <p:cNvSpPr>
              <a:spLocks noChangeShapeType="1"/>
            </p:cNvSpPr>
            <p:nvPr/>
          </p:nvSpPr>
          <p:spPr bwMode="auto">
            <a:xfrm>
              <a:off x="3153889" y="2113806"/>
              <a:ext cx="0" cy="2590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9" name="Oval 9"/>
            <p:cNvSpPr>
              <a:spLocks noChangeArrowheads="1"/>
            </p:cNvSpPr>
            <p:nvPr/>
          </p:nvSpPr>
          <p:spPr bwMode="auto">
            <a:xfrm>
              <a:off x="3107396" y="2064374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65" name="Group 58"/>
          <p:cNvGrpSpPr>
            <a:grpSpLocks/>
          </p:cNvGrpSpPr>
          <p:nvPr/>
        </p:nvGrpSpPr>
        <p:grpSpPr bwMode="auto">
          <a:xfrm>
            <a:off x="4814888" y="2590800"/>
            <a:ext cx="487362" cy="2022475"/>
            <a:chOff x="4814455" y="2988189"/>
            <a:chExt cx="487322" cy="2021217"/>
          </a:xfrm>
        </p:grpSpPr>
        <p:sp>
          <p:nvSpPr>
            <p:cNvPr id="7194" name="Line 26"/>
            <p:cNvSpPr>
              <a:spLocks noChangeShapeType="1"/>
            </p:cNvSpPr>
            <p:nvPr/>
          </p:nvSpPr>
          <p:spPr bwMode="auto">
            <a:xfrm>
              <a:off x="5084465" y="3028206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195" name="Text Box 28"/>
            <p:cNvSpPr txBox="1">
              <a:spLocks noChangeArrowheads="1"/>
            </p:cNvSpPr>
            <p:nvPr/>
          </p:nvSpPr>
          <p:spPr bwMode="auto">
            <a:xfrm>
              <a:off x="4814455" y="4704606"/>
              <a:ext cx="487322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1</a:t>
              </a:r>
              <a:r>
                <a:rPr lang="en-US" altLang="en-US" sz="1800"/>
                <a:t>’</a:t>
              </a:r>
              <a:endParaRPr lang="en-US" altLang="en-US" sz="1800" i="1"/>
            </a:p>
          </p:txBody>
        </p:sp>
        <p:sp>
          <p:nvSpPr>
            <p:cNvPr id="7196" name="Oval 9"/>
            <p:cNvSpPr>
              <a:spLocks noChangeArrowheads="1"/>
            </p:cNvSpPr>
            <p:nvPr/>
          </p:nvSpPr>
          <p:spPr bwMode="auto">
            <a:xfrm>
              <a:off x="5047563" y="2988189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43327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0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71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Comparative Statics Analysis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equilibrium price ratio</a:t>
            </a:r>
          </a:p>
          <a:p>
            <a:pPr lvl="1"/>
            <a:r>
              <a:rPr lang="en-US" altLang="en-US" dirty="0" smtClean="0"/>
              <a:t>Will tend to persist until either preferences or production technologies change</a:t>
            </a:r>
          </a:p>
          <a:p>
            <a:r>
              <a:rPr lang="en-US" altLang="en-US" dirty="0" smtClean="0"/>
              <a:t>If preferences were to shift toward good </a:t>
            </a:r>
            <a:r>
              <a:rPr lang="en-US" altLang="en-US" i="1" dirty="0" smtClean="0"/>
              <a:t>x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/>
              <a:t>would rise </a:t>
            </a:r>
          </a:p>
          <a:p>
            <a:pPr lvl="1"/>
            <a:r>
              <a:rPr lang="en-US" altLang="en-US" dirty="0" smtClean="0"/>
              <a:t>And more </a:t>
            </a:r>
            <a:r>
              <a:rPr lang="en-US" altLang="en-US" i="1" dirty="0" smtClean="0"/>
              <a:t>x</a:t>
            </a:r>
            <a:r>
              <a:rPr lang="en-US" altLang="en-US" dirty="0" smtClean="0"/>
              <a:t> and less </a:t>
            </a:r>
            <a:r>
              <a:rPr lang="en-US" altLang="en-US" i="1" dirty="0" smtClean="0"/>
              <a:t>y</a:t>
            </a:r>
            <a:r>
              <a:rPr lang="en-US" altLang="en-US" dirty="0" smtClean="0"/>
              <a:t> would be produced</a:t>
            </a:r>
          </a:p>
          <a:p>
            <a:pPr lvl="1"/>
            <a:r>
              <a:rPr lang="en-US" altLang="en-US" dirty="0" smtClean="0"/>
              <a:t>Move in a clockwise direction along the production possibility frontier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0920DB-B808-4A28-8AD3-1A3EF76EA6E0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86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Comparative Statics Analysis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Technical progress in </a:t>
            </a:r>
            <a:r>
              <a:rPr lang="en-US" altLang="en-US" dirty="0" smtClean="0"/>
              <a:t>production </a:t>
            </a:r>
            <a:r>
              <a:rPr lang="en-US" altLang="en-US" dirty="0" smtClean="0"/>
              <a:t>of good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</a:t>
            </a:r>
          </a:p>
          <a:p>
            <a:pPr lvl="1"/>
            <a:r>
              <a:rPr lang="en-US" altLang="en-US" dirty="0" smtClean="0"/>
              <a:t>Will shift the production possibility curve outward</a:t>
            </a:r>
          </a:p>
          <a:p>
            <a:pPr lvl="1"/>
            <a:r>
              <a:rPr lang="en-US" altLang="en-US" dirty="0" smtClean="0"/>
              <a:t>This will lower the relative price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alt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altLang="en-US" dirty="0" smtClean="0"/>
              <a:t>More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will be consumed</a:t>
            </a:r>
          </a:p>
          <a:p>
            <a:pPr lvl="2"/>
            <a:r>
              <a:rPr lang="en-US" altLang="en-US" dirty="0" smtClean="0"/>
              <a:t>If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is a normal good</a:t>
            </a:r>
          </a:p>
          <a:p>
            <a:pPr lvl="1"/>
            <a:r>
              <a:rPr lang="en-US" altLang="en-US" dirty="0" smtClean="0"/>
              <a:t>The effect on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/>
              <a:t> is ambiguous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54EDEB-769E-4FB0-A8A8-B16B5E3ACD3E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758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13.5	Effects of Technical Progress in x </a:t>
            </a:r>
            <a:r>
              <a:rPr lang="en-US" altLang="en-US" dirty="0" smtClean="0"/>
              <a:t>Production</a:t>
            </a:r>
            <a:endParaRPr lang="en-US" altLang="en-US" dirty="0" smtClean="0"/>
          </a:p>
        </p:txBody>
      </p:sp>
      <p:sp>
        <p:nvSpPr>
          <p:cNvPr id="53251" name="Text Placeholder 2"/>
          <p:cNvSpPr>
            <a:spLocks noGrp="1"/>
          </p:cNvSpPr>
          <p:nvPr>
            <p:ph sz="half" idx="1"/>
          </p:nvPr>
        </p:nvSpPr>
        <p:spPr>
          <a:xfrm>
            <a:off x="0" y="5060950"/>
            <a:ext cx="9144000" cy="1187450"/>
          </a:xfrm>
        </p:spPr>
        <p:txBody>
          <a:bodyPr>
            <a:normAutofit lnSpcReduction="10000"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Technical advances that lower marginal costs of x production will shift the production possibility frontier. This will generally create income and substitution effects that cause the quantity of x produced to increase (assuming x is a normal good). Effects on the production of y are ambiguous because income and substitution effects work in opposite directions.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325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3BF561A-5D53-44D0-9477-918138BF7983}" type="slidenum">
              <a:rPr lang="en-US" smtClean="0"/>
              <a:pPr>
                <a:defRPr/>
              </a:pPr>
              <a:t>30</a:t>
            </a:fld>
            <a:endParaRPr lang="en-US" dirty="0"/>
          </a:p>
        </p:txBody>
      </p:sp>
      <p:grpSp>
        <p:nvGrpSpPr>
          <p:cNvPr id="7" name="Group 6"/>
          <p:cNvGrpSpPr>
            <a:grpSpLocks/>
          </p:cNvGrpSpPr>
          <p:nvPr/>
        </p:nvGrpSpPr>
        <p:grpSpPr bwMode="auto">
          <a:xfrm>
            <a:off x="895350" y="685800"/>
            <a:ext cx="7105650" cy="4097338"/>
            <a:chOff x="867889" y="818406"/>
            <a:chExt cx="7105650" cy="4097338"/>
          </a:xfrm>
        </p:grpSpPr>
        <p:grpSp>
          <p:nvGrpSpPr>
            <p:cNvPr id="53285" name="Group 61"/>
            <p:cNvGrpSpPr>
              <a:grpSpLocks/>
            </p:cNvGrpSpPr>
            <p:nvPr/>
          </p:nvGrpSpPr>
          <p:grpSpPr bwMode="auto">
            <a:xfrm>
              <a:off x="2010889" y="4549031"/>
              <a:ext cx="5962650" cy="366713"/>
              <a:chOff x="2010889" y="4549031"/>
              <a:chExt cx="5962650" cy="366713"/>
            </a:xfrm>
          </p:grpSpPr>
          <p:sp>
            <p:nvSpPr>
              <p:cNvPr id="53289" name="Line 4"/>
              <p:cNvSpPr>
                <a:spLocks noChangeShapeType="1"/>
              </p:cNvSpPr>
              <p:nvPr/>
            </p:nvSpPr>
            <p:spPr bwMode="auto">
              <a:xfrm>
                <a:off x="2010889" y="4704606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90" name="Text Box 5"/>
              <p:cNvSpPr txBox="1">
                <a:spLocks noChangeArrowheads="1"/>
              </p:cNvSpPr>
              <p:nvPr/>
            </p:nvSpPr>
            <p:spPr bwMode="auto">
              <a:xfrm>
                <a:off x="6506689" y="4549031"/>
                <a:ext cx="14668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x</a:t>
                </a:r>
              </a:p>
            </p:txBody>
          </p:sp>
        </p:grpSp>
        <p:grpSp>
          <p:nvGrpSpPr>
            <p:cNvPr id="53286" name="Group 60"/>
            <p:cNvGrpSpPr>
              <a:grpSpLocks/>
            </p:cNvGrpSpPr>
            <p:nvPr/>
          </p:nvGrpSpPr>
          <p:grpSpPr bwMode="auto">
            <a:xfrm>
              <a:off x="867889" y="818406"/>
              <a:ext cx="1606550" cy="3886200"/>
              <a:chOff x="867889" y="818406"/>
              <a:chExt cx="1606550" cy="3886200"/>
            </a:xfrm>
          </p:grpSpPr>
          <p:sp>
            <p:nvSpPr>
              <p:cNvPr id="53287" name="Line 3"/>
              <p:cNvSpPr>
                <a:spLocks noChangeShapeType="1"/>
              </p:cNvSpPr>
              <p:nvPr/>
            </p:nvSpPr>
            <p:spPr bwMode="auto">
              <a:xfrm>
                <a:off x="2010889" y="1199406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288" name="Text Box 6"/>
              <p:cNvSpPr txBox="1">
                <a:spLocks noChangeArrowheads="1"/>
              </p:cNvSpPr>
              <p:nvPr/>
            </p:nvSpPr>
            <p:spPr bwMode="auto">
              <a:xfrm>
                <a:off x="867889" y="818406"/>
                <a:ext cx="1606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</a:t>
                </a:r>
                <a:r>
                  <a:rPr lang="en-US" altLang="en-US" sz="1800" i="1"/>
                  <a:t>y</a:t>
                </a:r>
              </a:p>
            </p:txBody>
          </p:sp>
        </p:grpSp>
      </p:grpSp>
      <p:grpSp>
        <p:nvGrpSpPr>
          <p:cNvPr id="14" name="Group 16"/>
          <p:cNvGrpSpPr>
            <a:grpSpLocks/>
          </p:cNvGrpSpPr>
          <p:nvPr/>
        </p:nvGrpSpPr>
        <p:grpSpPr bwMode="auto">
          <a:xfrm>
            <a:off x="2938462" y="838200"/>
            <a:ext cx="3379788" cy="2927350"/>
            <a:chOff x="2925289" y="970806"/>
            <a:chExt cx="3379788" cy="2927350"/>
          </a:xfrm>
        </p:grpSpPr>
        <p:sp>
          <p:nvSpPr>
            <p:cNvPr id="53283" name="Freeform 10"/>
            <p:cNvSpPr>
              <a:spLocks/>
            </p:cNvSpPr>
            <p:nvPr/>
          </p:nvSpPr>
          <p:spPr bwMode="auto">
            <a:xfrm>
              <a:off x="2925289" y="970806"/>
              <a:ext cx="3048000" cy="27432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3284" name="Text Box 16"/>
            <p:cNvSpPr txBox="1">
              <a:spLocks noChangeArrowheads="1"/>
            </p:cNvSpPr>
            <p:nvPr/>
          </p:nvSpPr>
          <p:spPr bwMode="auto">
            <a:xfrm>
              <a:off x="5897089" y="3561606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0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3248025" y="973138"/>
            <a:ext cx="2870200" cy="1997075"/>
            <a:chOff x="3739491" y="1596790"/>
            <a:chExt cx="2870386" cy="1996566"/>
          </a:xfrm>
        </p:grpSpPr>
        <p:sp>
          <p:nvSpPr>
            <p:cNvPr id="53281" name="Freeform 11"/>
            <p:cNvSpPr>
              <a:spLocks/>
            </p:cNvSpPr>
            <p:nvPr/>
          </p:nvSpPr>
          <p:spPr bwMode="auto">
            <a:xfrm>
              <a:off x="3739491" y="1596790"/>
              <a:ext cx="2538598" cy="1888615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53282" name="Text Box 17"/>
            <p:cNvSpPr txBox="1">
              <a:spLocks noChangeArrowheads="1"/>
            </p:cNvSpPr>
            <p:nvPr/>
          </p:nvSpPr>
          <p:spPr bwMode="auto">
            <a:xfrm>
              <a:off x="6201889" y="3256806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sp>
        <p:nvSpPr>
          <p:cNvPr id="26" name="Line 13"/>
          <p:cNvSpPr>
            <a:spLocks noChangeShapeType="1"/>
          </p:cNvSpPr>
          <p:nvPr/>
        </p:nvSpPr>
        <p:spPr bwMode="auto">
          <a:xfrm>
            <a:off x="2770187" y="1465263"/>
            <a:ext cx="3479800" cy="1814512"/>
          </a:xfrm>
          <a:prstGeom prst="line">
            <a:avLst/>
          </a:prstGeom>
          <a:noFill/>
          <a:ln w="28575">
            <a:solidFill>
              <a:srgbClr val="DC00D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16" name="Group 27"/>
          <p:cNvGrpSpPr>
            <a:grpSpLocks/>
          </p:cNvGrpSpPr>
          <p:nvPr/>
        </p:nvGrpSpPr>
        <p:grpSpPr bwMode="auto">
          <a:xfrm>
            <a:off x="1593850" y="2047875"/>
            <a:ext cx="2814637" cy="304800"/>
            <a:chOff x="1512952" y="1865562"/>
            <a:chExt cx="2813387" cy="304800"/>
          </a:xfrm>
        </p:grpSpPr>
        <p:sp>
          <p:nvSpPr>
            <p:cNvPr id="53279" name="Text Box 7"/>
            <p:cNvSpPr txBox="1">
              <a:spLocks noChangeArrowheads="1"/>
            </p:cNvSpPr>
            <p:nvPr/>
          </p:nvSpPr>
          <p:spPr bwMode="auto">
            <a:xfrm>
              <a:off x="1512952" y="1865562"/>
              <a:ext cx="432234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  <p:sp>
          <p:nvSpPr>
            <p:cNvPr id="53280" name="Line 22"/>
            <p:cNvSpPr>
              <a:spLocks noChangeShapeType="1"/>
            </p:cNvSpPr>
            <p:nvPr/>
          </p:nvSpPr>
          <p:spPr bwMode="auto">
            <a:xfrm flipH="1" flipV="1">
              <a:off x="2010888" y="2113806"/>
              <a:ext cx="2315451" cy="159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3260" name="Text Box 23"/>
          <p:cNvSpPr txBox="1">
            <a:spLocks noChangeArrowheads="1"/>
          </p:cNvSpPr>
          <p:nvPr/>
        </p:nvSpPr>
        <p:spPr bwMode="auto">
          <a:xfrm>
            <a:off x="4857750" y="990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i="1"/>
          </a:p>
        </p:txBody>
      </p:sp>
      <p:grpSp>
        <p:nvGrpSpPr>
          <p:cNvPr id="17" name="Group 37"/>
          <p:cNvGrpSpPr>
            <a:grpSpLocks/>
          </p:cNvGrpSpPr>
          <p:nvPr/>
        </p:nvGrpSpPr>
        <p:grpSpPr bwMode="auto">
          <a:xfrm>
            <a:off x="1582737" y="2362200"/>
            <a:ext cx="2395538" cy="385763"/>
            <a:chOff x="1555845" y="2494806"/>
            <a:chExt cx="2394969" cy="384868"/>
          </a:xfrm>
        </p:grpSpPr>
        <p:sp>
          <p:nvSpPr>
            <p:cNvPr id="53277" name="Line 31"/>
            <p:cNvSpPr>
              <a:spLocks noChangeShapeType="1"/>
            </p:cNvSpPr>
            <p:nvPr/>
          </p:nvSpPr>
          <p:spPr bwMode="auto">
            <a:xfrm flipH="1">
              <a:off x="2045814" y="2647206"/>
              <a:ext cx="1905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8" name="Text Box 32"/>
            <p:cNvSpPr txBox="1">
              <a:spLocks noChangeArrowheads="1"/>
            </p:cNvSpPr>
            <p:nvPr/>
          </p:nvSpPr>
          <p:spPr bwMode="auto">
            <a:xfrm>
              <a:off x="1555845" y="2494806"/>
              <a:ext cx="489969" cy="3848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i="1" baseline="-25000"/>
                <a:t>0</a:t>
              </a:r>
            </a:p>
          </p:txBody>
        </p:sp>
      </p:grpSp>
      <p:grpSp>
        <p:nvGrpSpPr>
          <p:cNvPr id="20" name="Group 40"/>
          <p:cNvGrpSpPr>
            <a:grpSpLocks/>
          </p:cNvGrpSpPr>
          <p:nvPr/>
        </p:nvGrpSpPr>
        <p:grpSpPr bwMode="auto">
          <a:xfrm>
            <a:off x="3749675" y="2514600"/>
            <a:ext cx="671512" cy="2362200"/>
            <a:chOff x="3722214" y="2647206"/>
            <a:chExt cx="671656" cy="2362200"/>
          </a:xfrm>
        </p:grpSpPr>
        <p:sp>
          <p:nvSpPr>
            <p:cNvPr id="53275" name="Line 30"/>
            <p:cNvSpPr>
              <a:spLocks noChangeShapeType="1"/>
            </p:cNvSpPr>
            <p:nvPr/>
          </p:nvSpPr>
          <p:spPr bwMode="auto">
            <a:xfrm>
              <a:off x="3950814" y="2647206"/>
              <a:ext cx="0" cy="2057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53276" name="Text Box 33"/>
            <p:cNvSpPr txBox="1">
              <a:spLocks noChangeArrowheads="1"/>
            </p:cNvSpPr>
            <p:nvPr/>
          </p:nvSpPr>
          <p:spPr bwMode="auto">
            <a:xfrm>
              <a:off x="3722214" y="4704606"/>
              <a:ext cx="671656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i="1" baseline="-25000"/>
                <a:t>0</a:t>
              </a:r>
            </a:p>
          </p:txBody>
        </p:sp>
      </p:grpSp>
      <p:sp>
        <p:nvSpPr>
          <p:cNvPr id="45" name="Line 39"/>
          <p:cNvSpPr>
            <a:spLocks noChangeShapeType="1"/>
          </p:cNvSpPr>
          <p:nvPr/>
        </p:nvSpPr>
        <p:spPr bwMode="auto">
          <a:xfrm>
            <a:off x="2495550" y="990600"/>
            <a:ext cx="3268662" cy="3352800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2" name="Arc 14"/>
          <p:cNvSpPr>
            <a:spLocks/>
          </p:cNvSpPr>
          <p:nvPr/>
        </p:nvSpPr>
        <p:spPr bwMode="auto">
          <a:xfrm>
            <a:off x="2038350" y="1752600"/>
            <a:ext cx="2819400" cy="2819400"/>
          </a:xfrm>
          <a:custGeom>
            <a:avLst/>
            <a:gdLst>
              <a:gd name="T0" fmla="*/ 0 w 21600"/>
              <a:gd name="T1" fmla="*/ 0 h 21600"/>
              <a:gd name="T2" fmla="*/ 2819400 w 21600"/>
              <a:gd name="T3" fmla="*/ 2819400 h 21600"/>
              <a:gd name="T4" fmla="*/ 0 w 21600"/>
              <a:gd name="T5" fmla="*/ 28194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177B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23" name="Group 54"/>
          <p:cNvGrpSpPr>
            <a:grpSpLocks/>
          </p:cNvGrpSpPr>
          <p:nvPr/>
        </p:nvGrpSpPr>
        <p:grpSpPr bwMode="auto">
          <a:xfrm>
            <a:off x="3611562" y="2490788"/>
            <a:ext cx="406400" cy="342900"/>
            <a:chOff x="3157436" y="2273908"/>
            <a:chExt cx="406764" cy="342438"/>
          </a:xfrm>
        </p:grpSpPr>
        <p:sp>
          <p:nvSpPr>
            <p:cNvPr id="53273" name="Text Box 26"/>
            <p:cNvSpPr txBox="1">
              <a:spLocks noChangeArrowheads="1"/>
            </p:cNvSpPr>
            <p:nvPr/>
          </p:nvSpPr>
          <p:spPr bwMode="auto">
            <a:xfrm>
              <a:off x="3157436" y="2279796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E</a:t>
              </a:r>
              <a:r>
                <a:rPr lang="en-US" altLang="en-US" sz="1800" i="1" baseline="-25000"/>
                <a:t>0</a:t>
              </a:r>
            </a:p>
          </p:txBody>
        </p:sp>
        <p:sp>
          <p:nvSpPr>
            <p:cNvPr id="53274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24" name="Group 57"/>
          <p:cNvGrpSpPr>
            <a:grpSpLocks/>
          </p:cNvGrpSpPr>
          <p:nvPr/>
        </p:nvGrpSpPr>
        <p:grpSpPr bwMode="auto">
          <a:xfrm>
            <a:off x="4152900" y="2284413"/>
            <a:ext cx="447675" cy="2592387"/>
            <a:chOff x="2925289" y="2415650"/>
            <a:chExt cx="447303" cy="2593756"/>
          </a:xfrm>
        </p:grpSpPr>
        <p:sp>
          <p:nvSpPr>
            <p:cNvPr id="53271" name="Text Box 8"/>
            <p:cNvSpPr txBox="1">
              <a:spLocks noChangeArrowheads="1"/>
            </p:cNvSpPr>
            <p:nvPr/>
          </p:nvSpPr>
          <p:spPr bwMode="auto">
            <a:xfrm>
              <a:off x="2925289" y="4704606"/>
              <a:ext cx="44730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1</a:t>
              </a:r>
              <a:endParaRPr lang="en-US" altLang="en-US" sz="1800" i="1"/>
            </a:p>
          </p:txBody>
        </p:sp>
        <p:sp>
          <p:nvSpPr>
            <p:cNvPr id="53272" name="Line 21"/>
            <p:cNvSpPr>
              <a:spLocks noChangeShapeType="1"/>
            </p:cNvSpPr>
            <p:nvPr/>
          </p:nvSpPr>
          <p:spPr bwMode="auto">
            <a:xfrm>
              <a:off x="3152612" y="2415650"/>
              <a:ext cx="1277" cy="2288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66" name="Arc 14"/>
          <p:cNvSpPr>
            <a:spLocks/>
          </p:cNvSpPr>
          <p:nvPr/>
        </p:nvSpPr>
        <p:spPr bwMode="auto">
          <a:xfrm>
            <a:off x="2054225" y="1741488"/>
            <a:ext cx="3827462" cy="2808287"/>
          </a:xfrm>
          <a:custGeom>
            <a:avLst/>
            <a:gdLst>
              <a:gd name="T0" fmla="*/ 0 w 21600"/>
              <a:gd name="T1" fmla="*/ 0 h 21600"/>
              <a:gd name="T2" fmla="*/ 3828081 w 21600"/>
              <a:gd name="T3" fmla="*/ 2807349 h 21600"/>
              <a:gd name="T4" fmla="*/ 0 w 21600"/>
              <a:gd name="T5" fmla="*/ 2807349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177B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25" name="Group 66"/>
          <p:cNvGrpSpPr>
            <a:grpSpLocks/>
          </p:cNvGrpSpPr>
          <p:nvPr/>
        </p:nvGrpSpPr>
        <p:grpSpPr bwMode="auto">
          <a:xfrm>
            <a:off x="4340225" y="1966913"/>
            <a:ext cx="423862" cy="369887"/>
            <a:chOff x="3487818" y="1979545"/>
            <a:chExt cx="423870" cy="370669"/>
          </a:xfrm>
        </p:grpSpPr>
        <p:sp>
          <p:nvSpPr>
            <p:cNvPr id="53269" name="Text Box 26"/>
            <p:cNvSpPr txBox="1">
              <a:spLocks noChangeArrowheads="1"/>
            </p:cNvSpPr>
            <p:nvPr/>
          </p:nvSpPr>
          <p:spPr bwMode="auto">
            <a:xfrm>
              <a:off x="3525925" y="1979545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E</a:t>
              </a:r>
              <a:r>
                <a:rPr lang="en-US" altLang="en-US" sz="1800" i="1" baseline="-25000"/>
                <a:t>1</a:t>
              </a:r>
            </a:p>
          </p:txBody>
        </p:sp>
        <p:sp>
          <p:nvSpPr>
            <p:cNvPr id="53270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30919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3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1" grpId="0" build="p"/>
      <p:bldP spid="26" grpId="0" animBg="1"/>
      <p:bldP spid="45" grpId="0" animBg="1"/>
      <p:bldP spid="52" grpId="0" animBg="1"/>
      <p:bldP spid="6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it-IT" altLang="en-US" dirty="0" smtClean="0"/>
              <a:t>13.2	 Comparative Statics in a General 	</a:t>
            </a:r>
            <a:r>
              <a:rPr lang="it-IT" altLang="en-US" dirty="0" smtClean="0">
                <a:solidFill>
                  <a:srgbClr val="002D56"/>
                </a:solidFill>
              </a:rPr>
              <a:t>Equilibrium Model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4277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9495C7A9-B23A-4F12-A1F9-D1F8AAE3B356}" type="slidenum">
              <a:rPr lang="en-US" smtClean="0"/>
              <a:pPr>
                <a:defRPr/>
              </a:pPr>
              <a:t>31</a:t>
            </a:fld>
            <a:endParaRPr lang="en-US" dirty="0"/>
          </a:p>
        </p:txBody>
      </p:sp>
      <p:sp>
        <p:nvSpPr>
          <p:cNvPr id="54275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990600"/>
            <a:ext cx="8382000" cy="54102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Production possibility frontier: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100</a:t>
            </a:r>
          </a:p>
          <a:p>
            <a:r>
              <a:rPr lang="en-US" altLang="en-US" dirty="0" smtClean="0"/>
              <a:t>Utility function: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endParaRPr lang="en-US" altLang="en-US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altLang="en-US" dirty="0" smtClean="0"/>
              <a:t>Demand functions: 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x(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0.5I/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endParaRPr lang="en-US" altLang="en-US" sz="3000" i="1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altLang="en-US" sz="3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		</a:t>
            </a:r>
            <a:r>
              <a:rPr lang="en-US" altLang="en-US" sz="3000" dirty="0" smtClean="0"/>
              <a:t>and 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 = y(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,I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0.5I/</a:t>
            </a:r>
            <a:r>
              <a:rPr lang="en-US" altLang="en-US" sz="3000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sz="30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sz="30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altLang="en-US" dirty="0" smtClean="0"/>
              <a:t>Base-case equilibrium </a:t>
            </a:r>
          </a:p>
          <a:p>
            <a:pPr lvl="1"/>
            <a:r>
              <a:rPr lang="en-US" altLang="en-US" dirty="0" smtClean="0"/>
              <a:t>Profit maximization by firms: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MC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MC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RPT = x/y</a:t>
            </a:r>
            <a:r>
              <a:rPr lang="en-US" altLang="en-US" dirty="0" smtClean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Utility-maximizing demand :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y/x</a:t>
            </a:r>
            <a:endParaRPr lang="en-US" altLang="en-US" dirty="0" smtClean="0"/>
          </a:p>
          <a:p>
            <a:pPr lvl="1">
              <a:lnSpc>
                <a:spcPct val="150000"/>
              </a:lnSpc>
            </a:pP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x*=y*=7.07  </a:t>
            </a:r>
            <a:r>
              <a:rPr lang="en-US" altLang="en-US" dirty="0" smtClean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=1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4154312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it-IT" altLang="en-US" dirty="0" smtClean="0"/>
              <a:t>13.2	 Comparative Statics in a General 	</a:t>
            </a:r>
            <a:r>
              <a:rPr lang="it-IT" altLang="en-US" dirty="0" smtClean="0">
                <a:solidFill>
                  <a:srgbClr val="002D56"/>
                </a:solidFill>
              </a:rPr>
              <a:t>Equilibrium Model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530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6473055-D899-4496-A952-AC43C44B2972}" type="slidenum">
              <a:rPr lang="en-US" smtClean="0"/>
              <a:pPr>
                <a:defRPr/>
              </a:pPr>
              <a:t>32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299" name="Content Placeholder 2"/>
              <p:cNvSpPr>
                <a:spLocks noGrp="1"/>
              </p:cNvSpPr>
              <p:nvPr>
                <p:ph type="body" sz="quarter" idx="12"/>
              </p:nvPr>
            </p:nvSpPr>
            <p:spPr>
              <a:xfrm>
                <a:off x="381000" y="1295400"/>
                <a:ext cx="8382000" cy="51054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en-US" altLang="en-US" dirty="0" smtClean="0"/>
                  <a:t>The budget constraint: total income = labor income + profits</a:t>
                </a:r>
              </a:p>
              <a:p>
                <a:pPr lvl="1"/>
                <a:r>
                  <a:rPr lang="en-US" altLang="en-US" dirty="0" smtClean="0"/>
                  <a:t>Consider all prices in terms of the wage rate,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</a:p>
              <a:p>
                <a:pPr lvl="1"/>
                <a:r>
                  <a:rPr lang="en-US" altLang="en-US" dirty="0" smtClean="0"/>
                  <a:t>Total labor income =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100w</a:t>
                </a:r>
              </a:p>
              <a:p>
                <a:pPr lvl="1"/>
                <a:r>
                  <a:rPr lang="en-US" altLang="en-US" dirty="0" smtClean="0"/>
                  <a:t>Total cost </a:t>
                </a:r>
                <a:r>
                  <a:rPr lang="en-US" altLang="en-US" dirty="0"/>
                  <a:t>function for firm </a:t>
                </a:r>
                <a:r>
                  <a:rPr lang="en-US" altLang="en-US" i="1" dirty="0"/>
                  <a:t>x: 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C(</a:t>
                </a:r>
                <a:r>
                  <a:rPr lang="en-US" altLang="en-US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w,x</a:t>
                </a:r>
                <a:r>
                  <a:rPr lang="en-US" alt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=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wl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wx</a:t>
                </a:r>
                <a:r>
                  <a:rPr lang="en-US" altLang="en-US" i="1" baseline="30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 altLang="en-US" i="1" baseline="30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 smtClean="0"/>
                  <a:t>So, 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MC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=2wx=2w</a:t>
                </a:r>
                <a14:m>
                  <m:oMath xmlns:m="http://schemas.openxmlformats.org/officeDocument/2006/math">
                    <m:r>
                      <a:rPr lang="en-US" altLang="en-US" i="1" smtClean="0">
                        <a:latin typeface="Cambria Math"/>
                        <a:ea typeface="Cambria Math"/>
                      </a:rPr>
                      <m:t>√</m:t>
                    </m:r>
                    <m:r>
                      <a:rPr lang="en-US" altLang="en-US" b="0" i="1" smtClean="0">
                        <a:latin typeface="Cambria Math"/>
                        <a:ea typeface="Cambria Math"/>
                      </a:rPr>
                      <m:t>50</m:t>
                    </m:r>
                  </m:oMath>
                </a14:m>
                <a:endParaRPr lang="en-US" altLang="en-US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altLang="en-US" dirty="0" smtClean="0"/>
                  <a:t>Profit </a:t>
                </a:r>
                <a:r>
                  <a:rPr lang="en-US" altLang="en-US" dirty="0" smtClean="0"/>
                  <a:t>for firm 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l-GR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π</a:t>
                </a:r>
                <a:r>
                  <a:rPr lang="en-US" altLang="en-US" i="1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(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-AC</a:t>
                </a:r>
                <a:r>
                  <a:rPr lang="en-US" altLang="en-US" i="1" baseline="-250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)x = 50w</a:t>
                </a:r>
              </a:p>
              <a:p>
                <a:pPr lvl="1"/>
                <a:r>
                  <a:rPr lang="en-US" altLang="en-US" i="1" dirty="0" smtClean="0"/>
                  <a:t>total income = labor income + profits = 100w+2(50w)=</a:t>
                </a:r>
                <a:r>
                  <a:rPr lang="en-US" altLang="en-US" i="1" dirty="0" smtClean="0"/>
                  <a:t>200w</a:t>
                </a:r>
                <a:endParaRPr lang="en-US" altLang="en-US" i="1" dirty="0" smtClean="0"/>
              </a:p>
            </p:txBody>
          </p:sp>
        </mc:Choice>
        <mc:Fallback>
          <p:sp>
            <p:nvSpPr>
              <p:cNvPr id="55299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2"/>
              </p:nvPr>
            </p:nvSpPr>
            <p:spPr>
              <a:xfrm>
                <a:off x="381000" y="1295400"/>
                <a:ext cx="8382000" cy="5105400"/>
              </a:xfrm>
              <a:prstGeom prst="rect">
                <a:avLst/>
              </a:prstGeom>
              <a:blipFill rotWithShape="1">
                <a:blip r:embed="rId2"/>
                <a:stretch>
                  <a:fillRect l="-1673" t="-15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236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990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it-IT" altLang="en-US" dirty="0" smtClean="0"/>
              <a:t>13.2	 Comparative Statics in a General 	</a:t>
            </a:r>
            <a:r>
              <a:rPr lang="it-IT" altLang="en-US" dirty="0" smtClean="0">
                <a:solidFill>
                  <a:srgbClr val="002D56"/>
                </a:solidFill>
              </a:rPr>
              <a:t>Equilibrium Model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632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DABFEB23-F1A4-43F8-B5AF-BC0933626BE4}" type="slidenum">
              <a:rPr lang="en-US" smtClean="0"/>
              <a:pPr>
                <a:defRPr/>
              </a:pPr>
              <a:t>33</a:t>
            </a:fld>
            <a:endParaRPr lang="en-US" dirty="0"/>
          </a:p>
        </p:txBody>
      </p:sp>
      <p:sp>
        <p:nvSpPr>
          <p:cNvPr id="56323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143000"/>
            <a:ext cx="8382000" cy="52578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shift in supply </a:t>
            </a:r>
          </a:p>
          <a:p>
            <a:pPr lvl="1"/>
            <a:r>
              <a:rPr lang="en-US" altLang="en-US" dirty="0" smtClean="0"/>
              <a:t>Technical improvement in x production</a:t>
            </a:r>
          </a:p>
          <a:p>
            <a:pPr lvl="1"/>
            <a:r>
              <a:rPr lang="en-US" altLang="en-US" dirty="0" smtClean="0"/>
              <a:t>New production function, 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= 2l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 </a:t>
            </a:r>
          </a:p>
          <a:p>
            <a:pPr lvl="1"/>
            <a:r>
              <a:rPr lang="en-US" altLang="en-US" dirty="0" smtClean="0"/>
              <a:t>Production possibility frontier: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/4+y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=100</a:t>
            </a:r>
          </a:p>
          <a:p>
            <a:pPr lvl="1"/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RPT = x/4y</a:t>
            </a:r>
          </a:p>
          <a:p>
            <a:pPr lvl="1">
              <a:lnSpc>
                <a:spcPct val="150000"/>
              </a:lnSpc>
            </a:pPr>
            <a:r>
              <a:rPr lang="en-US" altLang="en-US" dirty="0" smtClean="0"/>
              <a:t>Equilibrium: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x*=2(50)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, y*=(50)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1/2</a:t>
            </a:r>
            <a:endParaRPr lang="en-US" altLang="en-US" i="1" baseline="30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8406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 bwMode="auto">
          <a:xfrm>
            <a:off x="1764344" y="0"/>
            <a:ext cx="7379656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it-IT" altLang="en-US" dirty="0" smtClean="0"/>
              <a:t>13.2	 Comparative Statics in a General 	</a:t>
            </a:r>
            <a:r>
              <a:rPr lang="it-IT" altLang="en-US" dirty="0" smtClean="0">
                <a:solidFill>
                  <a:srgbClr val="002D56"/>
                </a:solidFill>
              </a:rPr>
              <a:t>Equilibrium Model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5734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235A5CBE-E3C6-43C6-B68B-5F66D413F748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7347" name="Content Placeholder 2"/>
          <p:cNvSpPr>
            <a:spLocks noGrp="1"/>
          </p:cNvSpPr>
          <p:nvPr>
            <p:ph type="body" sz="quarter" idx="12"/>
          </p:nvPr>
        </p:nvSpPr>
        <p:spPr>
          <a:xfrm>
            <a:off x="381000" y="1219200"/>
            <a:ext cx="8382000" cy="5181600"/>
          </a:xfrm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shift in demand </a:t>
            </a:r>
          </a:p>
          <a:p>
            <a:pPr lvl="1"/>
            <a:r>
              <a:rPr lang="en-US" altLang="en-US" dirty="0" smtClean="0"/>
              <a:t>Consumer preferences were to switch to favor good y , </a:t>
            </a:r>
            <a:r>
              <a:rPr lang="en-US" alt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U(</a:t>
            </a:r>
            <a:r>
              <a:rPr lang="en-US" altLang="en-US" i="1" dirty="0" err="1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x,y</a:t>
            </a:r>
            <a:r>
              <a:rPr lang="en-US" alt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)=x</a:t>
            </a:r>
            <a:r>
              <a:rPr lang="en-US" altLang="en-US" i="1" baseline="30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0.1</a:t>
            </a:r>
            <a:r>
              <a:rPr lang="en-US" alt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30000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0.9</a:t>
            </a:r>
            <a:r>
              <a:rPr lang="en-US" altLang="en-US" i="1" dirty="0" smtClean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dirty="0" smtClean="0"/>
              <a:t>Demand functions: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= 0.1I/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; y = 0.9I/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/>
            <a:r>
              <a:rPr lang="en-US" altLang="en-US" dirty="0" smtClean="0"/>
              <a:t>Equilibrium: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x*=(10)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, y*=3(10)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0.5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= 1/3</a:t>
            </a:r>
            <a:endParaRPr lang="en-US" altLang="en-US" i="1" baseline="30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73040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Corn Laws Debate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High tariffs on grain imports </a:t>
            </a:r>
          </a:p>
          <a:p>
            <a:pPr lvl="1"/>
            <a:r>
              <a:rPr lang="en-US" altLang="en-US" smtClean="0"/>
              <a:t>Imposed by the British government after the Napoleonic wars</a:t>
            </a:r>
          </a:p>
          <a:p>
            <a:r>
              <a:rPr lang="en-US" altLang="en-US" smtClean="0"/>
              <a:t>Economists debated the effects of these “corn laws” between 1829 and 1845</a:t>
            </a:r>
          </a:p>
          <a:p>
            <a:pPr lvl="1"/>
            <a:r>
              <a:rPr lang="en-US" altLang="en-US" smtClean="0"/>
              <a:t>What effect would the elimination of these tariffs have on factor prices?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7D5E773-1C07-4C0C-B8ED-65745EDFFDA0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967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13.6	Analysis of the Corn Laws </a:t>
            </a:r>
            <a:r>
              <a:rPr lang="en-US" altLang="en-US" dirty="0" smtClean="0"/>
              <a:t>Debate</a:t>
            </a:r>
            <a:endParaRPr lang="en-US" altLang="en-US" dirty="0" smtClean="0"/>
          </a:p>
        </p:txBody>
      </p:sp>
      <p:sp>
        <p:nvSpPr>
          <p:cNvPr id="8197" name="Text Placeholder 2"/>
          <p:cNvSpPr>
            <a:spLocks noGrp="1"/>
          </p:cNvSpPr>
          <p:nvPr>
            <p:ph sz="half" idx="1"/>
          </p:nvPr>
        </p:nvSpPr>
        <p:spPr>
          <a:xfrm>
            <a:off x="0" y="5181600"/>
            <a:ext cx="9144000" cy="1143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Reduction of tariff barriers on grain would cause production to be reallocated from point E to point A; consumption would be reallocated from E to B. If grain production is relatively capital intensive, the relative price of capital would decrease as a result of these reallocations.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200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2FBE072-A04A-46BA-A956-36ECC1169FB8}" type="slidenum">
              <a:rPr lang="en-US" smtClean="0"/>
              <a:pPr>
                <a:defRPr/>
              </a:pPr>
              <a:t>36</a:t>
            </a:fld>
            <a:endParaRPr lang="en-US" dirty="0"/>
          </a:p>
        </p:txBody>
      </p:sp>
      <p:grpSp>
        <p:nvGrpSpPr>
          <p:cNvPr id="32" name="Group 62"/>
          <p:cNvGrpSpPr>
            <a:grpSpLocks/>
          </p:cNvGrpSpPr>
          <p:nvPr/>
        </p:nvGrpSpPr>
        <p:grpSpPr bwMode="auto">
          <a:xfrm>
            <a:off x="588963" y="685800"/>
            <a:ext cx="8355012" cy="4192587"/>
            <a:chOff x="589128" y="868904"/>
            <a:chExt cx="8354610" cy="4191735"/>
          </a:xfrm>
        </p:grpSpPr>
        <p:grpSp>
          <p:nvGrpSpPr>
            <p:cNvPr id="8243" name="Group 60"/>
            <p:cNvGrpSpPr>
              <a:grpSpLocks/>
            </p:cNvGrpSpPr>
            <p:nvPr/>
          </p:nvGrpSpPr>
          <p:grpSpPr bwMode="auto">
            <a:xfrm>
              <a:off x="2206388" y="4693926"/>
              <a:ext cx="6737350" cy="366713"/>
              <a:chOff x="2206388" y="4693926"/>
              <a:chExt cx="6737350" cy="366713"/>
            </a:xfrm>
          </p:grpSpPr>
          <p:sp>
            <p:nvSpPr>
              <p:cNvPr id="8247" name="Line 4"/>
              <p:cNvSpPr>
                <a:spLocks noChangeShapeType="1"/>
              </p:cNvSpPr>
              <p:nvPr/>
            </p:nvSpPr>
            <p:spPr bwMode="auto">
              <a:xfrm>
                <a:off x="2206388" y="4849501"/>
                <a:ext cx="4495800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8" name="Text Box 5"/>
              <p:cNvSpPr txBox="1">
                <a:spLocks noChangeArrowheads="1"/>
              </p:cNvSpPr>
              <p:nvPr/>
            </p:nvSpPr>
            <p:spPr bwMode="auto">
              <a:xfrm>
                <a:off x="6702188" y="4693926"/>
                <a:ext cx="224155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Grain (</a:t>
                </a:r>
                <a:r>
                  <a:rPr lang="en-US" altLang="en-US" sz="1800" i="1"/>
                  <a:t>x</a:t>
                </a:r>
                <a:r>
                  <a:rPr lang="en-US" altLang="en-US" sz="1800"/>
                  <a:t>)</a:t>
                </a:r>
              </a:p>
            </p:txBody>
          </p:sp>
        </p:grpSp>
        <p:grpSp>
          <p:nvGrpSpPr>
            <p:cNvPr id="8244" name="Group 61"/>
            <p:cNvGrpSpPr>
              <a:grpSpLocks/>
            </p:cNvGrpSpPr>
            <p:nvPr/>
          </p:nvGrpSpPr>
          <p:grpSpPr bwMode="auto">
            <a:xfrm>
              <a:off x="589128" y="868904"/>
              <a:ext cx="1752600" cy="3980597"/>
              <a:chOff x="589128" y="868904"/>
              <a:chExt cx="1752600" cy="3980597"/>
            </a:xfrm>
          </p:grpSpPr>
          <p:sp>
            <p:nvSpPr>
              <p:cNvPr id="8245" name="Line 3"/>
              <p:cNvSpPr>
                <a:spLocks noChangeShapeType="1"/>
              </p:cNvSpPr>
              <p:nvPr/>
            </p:nvSpPr>
            <p:spPr bwMode="auto">
              <a:xfrm>
                <a:off x="2206388" y="1344301"/>
                <a:ext cx="0" cy="3505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246" name="Text Box 6"/>
              <p:cNvSpPr txBox="1">
                <a:spLocks noChangeArrowheads="1"/>
              </p:cNvSpPr>
              <p:nvPr/>
            </p:nvSpPr>
            <p:spPr bwMode="auto">
              <a:xfrm>
                <a:off x="589128" y="868904"/>
                <a:ext cx="1752600" cy="9159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400"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altLang="en-US" sz="1800"/>
                  <a:t>Quantity of manufactured goods (</a:t>
                </a:r>
                <a:r>
                  <a:rPr lang="en-US" altLang="en-US" sz="1800" i="1"/>
                  <a:t>y</a:t>
                </a:r>
                <a:r>
                  <a:rPr lang="en-US" altLang="en-US" sz="1800"/>
                  <a:t>)</a:t>
                </a:r>
                <a:endParaRPr lang="en-US" altLang="en-US" sz="1800" i="1"/>
              </a:p>
            </p:txBody>
          </p:sp>
        </p:grpSp>
      </p:grpSp>
      <p:sp>
        <p:nvSpPr>
          <p:cNvPr id="15" name="Arc 12"/>
          <p:cNvSpPr>
            <a:spLocks/>
          </p:cNvSpPr>
          <p:nvPr/>
        </p:nvSpPr>
        <p:spPr bwMode="auto">
          <a:xfrm>
            <a:off x="2206625" y="1847850"/>
            <a:ext cx="2819400" cy="2819400"/>
          </a:xfrm>
          <a:custGeom>
            <a:avLst/>
            <a:gdLst>
              <a:gd name="T0" fmla="*/ 0 w 21600"/>
              <a:gd name="T1" fmla="*/ 0 h 21600"/>
              <a:gd name="T2" fmla="*/ 2819400 w 21600"/>
              <a:gd name="T3" fmla="*/ 2819400 h 21600"/>
              <a:gd name="T4" fmla="*/ 0 w 21600"/>
              <a:gd name="T5" fmla="*/ 2819400 h 21600"/>
              <a:gd name="T6" fmla="*/ 0 60000 65536"/>
              <a:gd name="T7" fmla="*/ 0 60000 65536"/>
              <a:gd name="T8" fmla="*/ 0 60000 65536"/>
              <a:gd name="T9" fmla="*/ 0 w 21600"/>
              <a:gd name="T10" fmla="*/ 0 h 21600"/>
              <a:gd name="T11" fmla="*/ 21600 w 21600"/>
              <a:gd name="T12" fmla="*/ 21600 h 216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16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</a:path>
              <a:path w="21600" h="216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lnTo>
                  <a:pt x="0" y="21600"/>
                </a:lnTo>
                <a:close/>
              </a:path>
            </a:pathLst>
          </a:custGeom>
          <a:noFill/>
          <a:ln w="28575">
            <a:solidFill>
              <a:srgbClr val="177B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35" name="Group 44"/>
          <p:cNvGrpSpPr>
            <a:grpSpLocks/>
          </p:cNvGrpSpPr>
          <p:nvPr/>
        </p:nvGrpSpPr>
        <p:grpSpPr bwMode="auto">
          <a:xfrm>
            <a:off x="3121025" y="933450"/>
            <a:ext cx="3379788" cy="2927350"/>
            <a:chOff x="3120788" y="1115701"/>
            <a:chExt cx="3379788" cy="2927350"/>
          </a:xfrm>
        </p:grpSpPr>
        <p:sp>
          <p:nvSpPr>
            <p:cNvPr id="8241" name="Freeform 10"/>
            <p:cNvSpPr>
              <a:spLocks/>
            </p:cNvSpPr>
            <p:nvPr/>
          </p:nvSpPr>
          <p:spPr bwMode="auto">
            <a:xfrm>
              <a:off x="3120788" y="1115701"/>
              <a:ext cx="3048000" cy="27432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8242" name="Text Box 13"/>
            <p:cNvSpPr txBox="1">
              <a:spLocks noChangeArrowheads="1"/>
            </p:cNvSpPr>
            <p:nvPr/>
          </p:nvSpPr>
          <p:spPr bwMode="auto">
            <a:xfrm>
              <a:off x="6092588" y="3706501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1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grpSp>
        <p:nvGrpSpPr>
          <p:cNvPr id="36" name="Group 43"/>
          <p:cNvGrpSpPr>
            <a:grpSpLocks/>
          </p:cNvGrpSpPr>
          <p:nvPr/>
        </p:nvGrpSpPr>
        <p:grpSpPr bwMode="auto">
          <a:xfrm>
            <a:off x="3425825" y="933450"/>
            <a:ext cx="3379788" cy="2622550"/>
            <a:chOff x="3425588" y="1115701"/>
            <a:chExt cx="3379788" cy="2622550"/>
          </a:xfrm>
        </p:grpSpPr>
        <p:sp>
          <p:nvSpPr>
            <p:cNvPr id="8239" name="Freeform 11"/>
            <p:cNvSpPr>
              <a:spLocks/>
            </p:cNvSpPr>
            <p:nvPr/>
          </p:nvSpPr>
          <p:spPr bwMode="auto">
            <a:xfrm>
              <a:off x="3425588" y="1115701"/>
              <a:ext cx="3048000" cy="2514600"/>
            </a:xfrm>
            <a:custGeom>
              <a:avLst/>
              <a:gdLst>
                <a:gd name="T0" fmla="*/ 0 w 1968"/>
                <a:gd name="T1" fmla="*/ 0 h 1824"/>
                <a:gd name="T2" fmla="*/ 720 w 1968"/>
                <a:gd name="T3" fmla="*/ 1152 h 1824"/>
                <a:gd name="T4" fmla="*/ 1968 w 1968"/>
                <a:gd name="T5" fmla="*/ 1824 h 1824"/>
                <a:gd name="T6" fmla="*/ 0 60000 65536"/>
                <a:gd name="T7" fmla="*/ 0 60000 65536"/>
                <a:gd name="T8" fmla="*/ 0 60000 65536"/>
                <a:gd name="T9" fmla="*/ 0 w 1968"/>
                <a:gd name="T10" fmla="*/ 0 h 1824"/>
                <a:gd name="T11" fmla="*/ 1968 w 1968"/>
                <a:gd name="T12" fmla="*/ 1824 h 18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8" h="1824">
                  <a:moveTo>
                    <a:pt x="0" y="0"/>
                  </a:moveTo>
                  <a:cubicBezTo>
                    <a:pt x="196" y="424"/>
                    <a:pt x="392" y="848"/>
                    <a:pt x="720" y="1152"/>
                  </a:cubicBezTo>
                  <a:cubicBezTo>
                    <a:pt x="1048" y="1456"/>
                    <a:pt x="1508" y="1640"/>
                    <a:pt x="1968" y="1824"/>
                  </a:cubicBezTo>
                </a:path>
              </a:pathLst>
            </a:custGeom>
            <a:noFill/>
            <a:ln w="28575" cap="flat" cmpd="sng">
              <a:solidFill>
                <a:srgbClr val="5D0D8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sp>
          <p:nvSpPr>
            <p:cNvPr id="8240" name="Text Box 14"/>
            <p:cNvSpPr txBox="1">
              <a:spLocks noChangeArrowheads="1"/>
            </p:cNvSpPr>
            <p:nvPr/>
          </p:nvSpPr>
          <p:spPr bwMode="auto">
            <a:xfrm>
              <a:off x="6397388" y="3401701"/>
              <a:ext cx="407988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>
                  <a:solidFill>
                    <a:srgbClr val="5D0D8F"/>
                  </a:solidFill>
                </a:rPr>
                <a:t>U</a:t>
              </a:r>
              <a:r>
                <a:rPr lang="en-US" altLang="en-US" sz="1800" baseline="-25000">
                  <a:solidFill>
                    <a:srgbClr val="5D0D8F"/>
                  </a:solidFill>
                </a:rPr>
                <a:t>2</a:t>
              </a:r>
              <a:endParaRPr lang="en-US" altLang="en-US" sz="1800">
                <a:solidFill>
                  <a:srgbClr val="5D0D8F"/>
                </a:solidFill>
              </a:endParaRPr>
            </a:p>
          </p:txBody>
        </p:sp>
      </p:grpSp>
      <p:sp>
        <p:nvSpPr>
          <p:cNvPr id="8205" name="Text Box 15"/>
          <p:cNvSpPr txBox="1">
            <a:spLocks noChangeArrowheads="1"/>
          </p:cNvSpPr>
          <p:nvPr/>
        </p:nvSpPr>
        <p:spPr bwMode="auto">
          <a:xfrm>
            <a:off x="5026025" y="154305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/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800" i="1"/>
          </a:p>
        </p:txBody>
      </p:sp>
      <p:grpSp>
        <p:nvGrpSpPr>
          <p:cNvPr id="37" name="Group 56"/>
          <p:cNvGrpSpPr>
            <a:grpSpLocks/>
          </p:cNvGrpSpPr>
          <p:nvPr/>
        </p:nvGrpSpPr>
        <p:grpSpPr bwMode="auto">
          <a:xfrm>
            <a:off x="5051425" y="2990850"/>
            <a:ext cx="476250" cy="2008187"/>
            <a:chOff x="5051188" y="3173101"/>
            <a:chExt cx="476003" cy="2008188"/>
          </a:xfrm>
        </p:grpSpPr>
        <p:sp>
          <p:nvSpPr>
            <p:cNvPr id="8237" name="Text Box 17"/>
            <p:cNvSpPr txBox="1">
              <a:spLocks noChangeArrowheads="1"/>
            </p:cNvSpPr>
            <p:nvPr/>
          </p:nvSpPr>
          <p:spPr bwMode="auto">
            <a:xfrm>
              <a:off x="5051188" y="4876489"/>
              <a:ext cx="476003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B</a:t>
              </a:r>
              <a:endParaRPr lang="en-US" altLang="en-US" sz="1800" i="1"/>
            </a:p>
          </p:txBody>
        </p:sp>
        <p:sp>
          <p:nvSpPr>
            <p:cNvPr id="8238" name="Line 19"/>
            <p:cNvSpPr>
              <a:spLocks noChangeShapeType="1"/>
            </p:cNvSpPr>
            <p:nvPr/>
          </p:nvSpPr>
          <p:spPr bwMode="auto">
            <a:xfrm>
              <a:off x="5271383" y="3173101"/>
              <a:ext cx="0" cy="1676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38" name="Group 55"/>
          <p:cNvGrpSpPr>
            <a:grpSpLocks/>
          </p:cNvGrpSpPr>
          <p:nvPr/>
        </p:nvGrpSpPr>
        <p:grpSpPr bwMode="auto">
          <a:xfrm>
            <a:off x="3983038" y="2609850"/>
            <a:ext cx="346075" cy="2389187"/>
            <a:chOff x="3982966" y="2792101"/>
            <a:chExt cx="346075" cy="2389188"/>
          </a:xfrm>
        </p:grpSpPr>
        <p:sp>
          <p:nvSpPr>
            <p:cNvPr id="8235" name="Text Box 8"/>
            <p:cNvSpPr txBox="1">
              <a:spLocks noChangeArrowheads="1"/>
            </p:cNvSpPr>
            <p:nvPr/>
          </p:nvSpPr>
          <p:spPr bwMode="auto">
            <a:xfrm>
              <a:off x="3982966" y="4876489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E</a:t>
              </a:r>
              <a:endParaRPr lang="en-US" altLang="en-US" sz="1800" i="1"/>
            </a:p>
          </p:txBody>
        </p:sp>
        <p:sp>
          <p:nvSpPr>
            <p:cNvPr id="8236" name="Line 20"/>
            <p:cNvSpPr>
              <a:spLocks noChangeShapeType="1"/>
            </p:cNvSpPr>
            <p:nvPr/>
          </p:nvSpPr>
          <p:spPr bwMode="auto">
            <a:xfrm>
              <a:off x="4158974" y="2792101"/>
              <a:ext cx="0" cy="2057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39" name="Group 58"/>
          <p:cNvGrpSpPr>
            <a:grpSpLocks/>
          </p:cNvGrpSpPr>
          <p:nvPr/>
        </p:nvGrpSpPr>
        <p:grpSpPr bwMode="auto">
          <a:xfrm>
            <a:off x="1851025" y="2484437"/>
            <a:ext cx="2260600" cy="304800"/>
            <a:chOff x="1850788" y="2666689"/>
            <a:chExt cx="2260600" cy="304800"/>
          </a:xfrm>
        </p:grpSpPr>
        <p:sp>
          <p:nvSpPr>
            <p:cNvPr id="8233" name="Text Box 18"/>
            <p:cNvSpPr txBox="1">
              <a:spLocks noChangeArrowheads="1"/>
            </p:cNvSpPr>
            <p:nvPr/>
          </p:nvSpPr>
          <p:spPr bwMode="auto">
            <a:xfrm>
              <a:off x="1850788" y="2666689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E</a:t>
              </a:r>
              <a:endParaRPr lang="en-US" altLang="en-US" sz="1800" i="1"/>
            </a:p>
          </p:txBody>
        </p:sp>
        <p:sp>
          <p:nvSpPr>
            <p:cNvPr id="8234" name="Line 21"/>
            <p:cNvSpPr>
              <a:spLocks noChangeShapeType="1"/>
            </p:cNvSpPr>
            <p:nvPr/>
          </p:nvSpPr>
          <p:spPr bwMode="auto">
            <a:xfrm flipH="1">
              <a:off x="2206388" y="2792101"/>
              <a:ext cx="1905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3" name="Group 57"/>
          <p:cNvGrpSpPr>
            <a:grpSpLocks/>
          </p:cNvGrpSpPr>
          <p:nvPr/>
        </p:nvGrpSpPr>
        <p:grpSpPr bwMode="auto">
          <a:xfrm>
            <a:off x="1851025" y="2865437"/>
            <a:ext cx="3403600" cy="304800"/>
            <a:chOff x="1850788" y="3047689"/>
            <a:chExt cx="3403600" cy="304800"/>
          </a:xfrm>
        </p:grpSpPr>
        <p:sp>
          <p:nvSpPr>
            <p:cNvPr id="8231" name="Text Box 7"/>
            <p:cNvSpPr txBox="1">
              <a:spLocks noChangeArrowheads="1"/>
            </p:cNvSpPr>
            <p:nvPr/>
          </p:nvSpPr>
          <p:spPr bwMode="auto">
            <a:xfrm>
              <a:off x="1850788" y="3047689"/>
              <a:ext cx="346075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B</a:t>
              </a:r>
              <a:endParaRPr lang="en-US" altLang="en-US" sz="1800" i="1"/>
            </a:p>
          </p:txBody>
        </p:sp>
        <p:sp>
          <p:nvSpPr>
            <p:cNvPr id="8232" name="Line 22"/>
            <p:cNvSpPr>
              <a:spLocks noChangeShapeType="1"/>
            </p:cNvSpPr>
            <p:nvPr/>
          </p:nvSpPr>
          <p:spPr bwMode="auto">
            <a:xfrm flipH="1">
              <a:off x="2206388" y="3173101"/>
              <a:ext cx="3048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</p:grpSp>
      <p:grpSp>
        <p:nvGrpSpPr>
          <p:cNvPr id="44" name="Group 42"/>
          <p:cNvGrpSpPr>
            <a:grpSpLocks/>
          </p:cNvGrpSpPr>
          <p:nvPr/>
        </p:nvGrpSpPr>
        <p:grpSpPr bwMode="auto">
          <a:xfrm>
            <a:off x="2587625" y="1695450"/>
            <a:ext cx="6224588" cy="1980743"/>
            <a:chOff x="2587388" y="1877701"/>
            <a:chExt cx="6225438" cy="1981200"/>
          </a:xfrm>
        </p:grpSpPr>
        <p:sp>
          <p:nvSpPr>
            <p:cNvPr id="8229" name="Line 23"/>
            <p:cNvSpPr>
              <a:spLocks noChangeShapeType="1"/>
            </p:cNvSpPr>
            <p:nvPr/>
          </p:nvSpPr>
          <p:spPr bwMode="auto">
            <a:xfrm>
              <a:off x="2587388" y="1877701"/>
              <a:ext cx="4114800" cy="1981200"/>
            </a:xfrm>
            <a:prstGeom prst="line">
              <a:avLst/>
            </a:prstGeom>
            <a:noFill/>
            <a:ln w="28575">
              <a:solidFill>
                <a:srgbClr val="C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/>
            <a:lstStyle/>
            <a:p>
              <a:endParaRPr lang="en-US"/>
            </a:p>
          </p:txBody>
        </p:sp>
        <p:graphicFrame>
          <p:nvGraphicFramePr>
            <p:cNvPr id="8194" name="Object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8759126"/>
                </p:ext>
              </p:extLst>
            </p:nvPr>
          </p:nvGraphicFramePr>
          <p:xfrm>
            <a:off x="7355302" y="3154346"/>
            <a:ext cx="1457524" cy="7018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02" name="Equation" r:id="rId3" imgW="952200" imgH="457200" progId="Equation.DSMT4">
                    <p:embed/>
                  </p:oleObj>
                </mc:Choice>
                <mc:Fallback>
                  <p:oleObj name="Equation" r:id="rId3" imgW="952200" imgH="45720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355302" y="3154346"/>
                          <a:ext cx="1457524" cy="7018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30" name="Line 25"/>
            <p:cNvSpPr>
              <a:spLocks noChangeShapeType="1"/>
            </p:cNvSpPr>
            <p:nvPr/>
          </p:nvSpPr>
          <p:spPr bwMode="auto">
            <a:xfrm flipH="1">
              <a:off x="6702187" y="3617523"/>
              <a:ext cx="681251" cy="168319"/>
            </a:xfrm>
            <a:prstGeom prst="line">
              <a:avLst/>
            </a:prstGeom>
            <a:noFill/>
            <a:ln w="12700">
              <a:solidFill>
                <a:srgbClr val="C0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5" name="Group 54"/>
          <p:cNvGrpSpPr>
            <a:grpSpLocks/>
          </p:cNvGrpSpPr>
          <p:nvPr/>
        </p:nvGrpSpPr>
        <p:grpSpPr bwMode="auto">
          <a:xfrm>
            <a:off x="3138488" y="2076450"/>
            <a:ext cx="395287" cy="2922587"/>
            <a:chOff x="3137783" y="2258701"/>
            <a:chExt cx="395288" cy="2922588"/>
          </a:xfrm>
        </p:grpSpPr>
        <p:sp>
          <p:nvSpPr>
            <p:cNvPr id="8227" name="Line 26"/>
            <p:cNvSpPr>
              <a:spLocks noChangeShapeType="1"/>
            </p:cNvSpPr>
            <p:nvPr/>
          </p:nvSpPr>
          <p:spPr bwMode="auto">
            <a:xfrm>
              <a:off x="3349388" y="2258701"/>
              <a:ext cx="0" cy="2590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8" name="Text Box 28"/>
            <p:cNvSpPr txBox="1">
              <a:spLocks noChangeArrowheads="1"/>
            </p:cNvSpPr>
            <p:nvPr/>
          </p:nvSpPr>
          <p:spPr bwMode="auto">
            <a:xfrm>
              <a:off x="3137783" y="4876489"/>
              <a:ext cx="3952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x</a:t>
              </a:r>
              <a:r>
                <a:rPr lang="en-US" altLang="en-US" sz="1800" baseline="-25000"/>
                <a:t>A</a:t>
              </a:r>
              <a:endParaRPr lang="en-US" altLang="en-US" sz="1800" i="1"/>
            </a:p>
          </p:txBody>
        </p:sp>
      </p:grpSp>
      <p:grpSp>
        <p:nvGrpSpPr>
          <p:cNvPr id="46" name="Group 59"/>
          <p:cNvGrpSpPr>
            <a:grpSpLocks/>
          </p:cNvGrpSpPr>
          <p:nvPr/>
        </p:nvGrpSpPr>
        <p:grpSpPr bwMode="auto">
          <a:xfrm>
            <a:off x="1825625" y="1951037"/>
            <a:ext cx="1524000" cy="304800"/>
            <a:chOff x="1825388" y="2133289"/>
            <a:chExt cx="1524000" cy="304800"/>
          </a:xfrm>
        </p:grpSpPr>
        <p:sp>
          <p:nvSpPr>
            <p:cNvPr id="8225" name="Line 27"/>
            <p:cNvSpPr>
              <a:spLocks noChangeShapeType="1"/>
            </p:cNvSpPr>
            <p:nvPr/>
          </p:nvSpPr>
          <p:spPr bwMode="auto">
            <a:xfrm flipH="1">
              <a:off x="2206388" y="2258701"/>
              <a:ext cx="11430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226" name="Text Box 29"/>
            <p:cNvSpPr txBox="1">
              <a:spLocks noChangeArrowheads="1"/>
            </p:cNvSpPr>
            <p:nvPr/>
          </p:nvSpPr>
          <p:spPr bwMode="auto">
            <a:xfrm>
              <a:off x="1825388" y="2133289"/>
              <a:ext cx="395288" cy="304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y</a:t>
              </a:r>
              <a:r>
                <a:rPr lang="en-US" altLang="en-US" sz="1800" baseline="-25000"/>
                <a:t>A</a:t>
              </a:r>
              <a:endParaRPr lang="en-US" altLang="en-US" sz="1800" i="1"/>
            </a:p>
          </p:txBody>
        </p:sp>
      </p:grpSp>
      <p:grpSp>
        <p:nvGrpSpPr>
          <p:cNvPr id="49" name="Group 35"/>
          <p:cNvGrpSpPr>
            <a:grpSpLocks/>
          </p:cNvGrpSpPr>
          <p:nvPr/>
        </p:nvGrpSpPr>
        <p:grpSpPr bwMode="auto">
          <a:xfrm>
            <a:off x="2670175" y="754062"/>
            <a:ext cx="2895600" cy="3095625"/>
            <a:chOff x="1296" y="1218"/>
            <a:chExt cx="1824" cy="1950"/>
          </a:xfrm>
        </p:grpSpPr>
        <p:sp>
          <p:nvSpPr>
            <p:cNvPr id="8223" name="Line 30"/>
            <p:cNvSpPr>
              <a:spLocks noChangeShapeType="1"/>
            </p:cNvSpPr>
            <p:nvPr/>
          </p:nvSpPr>
          <p:spPr bwMode="auto">
            <a:xfrm>
              <a:off x="1296" y="1584"/>
              <a:ext cx="1824" cy="1584"/>
            </a:xfrm>
            <a:prstGeom prst="line">
              <a:avLst/>
            </a:prstGeom>
            <a:noFill/>
            <a:ln w="28575">
              <a:solidFill>
                <a:srgbClr val="DC00D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graphicFrame>
          <p:nvGraphicFramePr>
            <p:cNvPr id="8195" name="Object 3"/>
            <p:cNvGraphicFramePr>
              <a:graphicFrameLocks noChangeAspect="1"/>
            </p:cNvGraphicFramePr>
            <p:nvPr/>
          </p:nvGraphicFramePr>
          <p:xfrm>
            <a:off x="2262" y="1218"/>
            <a:ext cx="791" cy="4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80603" name="Equation" r:id="rId5" imgW="876240" imgH="495000" progId="Equation.3">
                    <p:embed/>
                  </p:oleObj>
                </mc:Choice>
                <mc:Fallback>
                  <p:oleObj name="Equation" r:id="rId5" imgW="876240" imgH="4950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218"/>
                          <a:ext cx="791" cy="4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224" name="Line 33"/>
            <p:cNvSpPr>
              <a:spLocks noChangeShapeType="1"/>
            </p:cNvSpPr>
            <p:nvPr/>
          </p:nvSpPr>
          <p:spPr bwMode="auto">
            <a:xfrm flipH="1">
              <a:off x="1383" y="1427"/>
              <a:ext cx="784" cy="173"/>
            </a:xfrm>
            <a:prstGeom prst="line">
              <a:avLst/>
            </a:prstGeom>
            <a:noFill/>
            <a:ln w="12700">
              <a:solidFill>
                <a:srgbClr val="DC00D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2" name="Group 45"/>
          <p:cNvGrpSpPr>
            <a:grpSpLocks/>
          </p:cNvGrpSpPr>
          <p:nvPr/>
        </p:nvGrpSpPr>
        <p:grpSpPr bwMode="auto">
          <a:xfrm>
            <a:off x="3825875" y="2557462"/>
            <a:ext cx="385763" cy="336550"/>
            <a:chOff x="3198379" y="2252500"/>
            <a:chExt cx="385763" cy="336550"/>
          </a:xfrm>
        </p:grpSpPr>
        <p:sp>
          <p:nvSpPr>
            <p:cNvPr id="8221" name="Text Box 26"/>
            <p:cNvSpPr txBox="1">
              <a:spLocks noChangeArrowheads="1"/>
            </p:cNvSpPr>
            <p:nvPr/>
          </p:nvSpPr>
          <p:spPr bwMode="auto">
            <a:xfrm>
              <a:off x="3198379" y="2252500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E</a:t>
              </a:r>
              <a:endParaRPr lang="en-US" altLang="en-US" sz="1800" i="1" baseline="-25000"/>
            </a:p>
          </p:txBody>
        </p:sp>
        <p:sp>
          <p:nvSpPr>
            <p:cNvPr id="8222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5" name="Group 48"/>
          <p:cNvGrpSpPr>
            <a:grpSpLocks/>
          </p:cNvGrpSpPr>
          <p:nvPr/>
        </p:nvGrpSpPr>
        <p:grpSpPr bwMode="auto">
          <a:xfrm>
            <a:off x="5229225" y="2641600"/>
            <a:ext cx="423863" cy="371475"/>
            <a:chOff x="3487818" y="1979545"/>
            <a:chExt cx="423870" cy="370669"/>
          </a:xfrm>
        </p:grpSpPr>
        <p:sp>
          <p:nvSpPr>
            <p:cNvPr id="8219" name="Text Box 26"/>
            <p:cNvSpPr txBox="1">
              <a:spLocks noChangeArrowheads="1"/>
            </p:cNvSpPr>
            <p:nvPr/>
          </p:nvSpPr>
          <p:spPr bwMode="auto">
            <a:xfrm>
              <a:off x="3525925" y="1979545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B</a:t>
              </a:r>
              <a:endParaRPr lang="en-US" altLang="en-US" sz="1800" i="1" baseline="-25000"/>
            </a:p>
          </p:txBody>
        </p:sp>
        <p:sp>
          <p:nvSpPr>
            <p:cNvPr id="8220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  <p:grpSp>
        <p:nvGrpSpPr>
          <p:cNvPr id="56" name="Group 51"/>
          <p:cNvGrpSpPr>
            <a:grpSpLocks/>
          </p:cNvGrpSpPr>
          <p:nvPr/>
        </p:nvGrpSpPr>
        <p:grpSpPr bwMode="auto">
          <a:xfrm>
            <a:off x="2963863" y="2036762"/>
            <a:ext cx="433387" cy="357188"/>
            <a:chOff x="3130140" y="2273908"/>
            <a:chExt cx="434060" cy="356086"/>
          </a:xfrm>
        </p:grpSpPr>
        <p:sp>
          <p:nvSpPr>
            <p:cNvPr id="8217" name="Text Box 26"/>
            <p:cNvSpPr txBox="1">
              <a:spLocks noChangeArrowheads="1"/>
            </p:cNvSpPr>
            <p:nvPr/>
          </p:nvSpPr>
          <p:spPr bwMode="auto">
            <a:xfrm>
              <a:off x="3130140" y="2293444"/>
              <a:ext cx="38576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/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altLang="en-US" sz="1800" i="1"/>
                <a:t>A</a:t>
              </a:r>
              <a:endParaRPr lang="en-US" altLang="en-US" sz="1800" i="1" baseline="-25000"/>
            </a:p>
          </p:txBody>
        </p:sp>
        <p:sp>
          <p:nvSpPr>
            <p:cNvPr id="8218" name="Oval 9"/>
            <p:cNvSpPr>
              <a:spLocks noChangeArrowheads="1"/>
            </p:cNvSpPr>
            <p:nvPr/>
          </p:nvSpPr>
          <p:spPr bwMode="auto">
            <a:xfrm>
              <a:off x="3487818" y="2273908"/>
              <a:ext cx="76382" cy="76306"/>
            </a:xfrm>
            <a:prstGeom prst="ellipse">
              <a:avLst/>
            </a:prstGeom>
            <a:solidFill>
              <a:schemeClr val="tx1"/>
            </a:solidFill>
            <a:ln w="15875">
              <a:solidFill>
                <a:schemeClr val="tx1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>
              <a:lvl1pPr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400"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endParaRPr lang="en-US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5022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81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 build="p"/>
      <p:bldP spid="1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The Corn Laws Debate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Use an Edgeworth box diagram</a:t>
            </a:r>
          </a:p>
          <a:p>
            <a:pPr lvl="1"/>
            <a:r>
              <a:rPr lang="en-US" altLang="en-US" smtClean="0"/>
              <a:t>To see the effects of tariff reduction on the use of labor and capital</a:t>
            </a:r>
          </a:p>
          <a:p>
            <a:r>
              <a:rPr lang="en-US" altLang="en-US" smtClean="0"/>
              <a:t>If the corn laws were repealed</a:t>
            </a:r>
          </a:p>
          <a:p>
            <a:pPr lvl="1"/>
            <a:r>
              <a:rPr lang="en-US" altLang="en-US" smtClean="0"/>
              <a:t>An increase in the production of manufactured goods</a:t>
            </a:r>
          </a:p>
          <a:p>
            <a:pPr lvl="1"/>
            <a:r>
              <a:rPr lang="en-US" altLang="en-US" smtClean="0"/>
              <a:t>A decline in the production of grain</a:t>
            </a:r>
          </a:p>
          <a:p>
            <a:pPr lvl="1"/>
            <a:r>
              <a:rPr lang="en-US" altLang="en-US" smtClean="0"/>
              <a:t>Harmful to capital owners</a:t>
            </a:r>
          </a:p>
          <a:p>
            <a:pPr lvl="1"/>
            <a:r>
              <a:rPr lang="en-US" altLang="en-US" smtClean="0"/>
              <a:t>Helpful to laborers</a:t>
            </a:r>
          </a:p>
          <a:p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FE419FF-ABB5-4559-B33C-2E6BCA7C9935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25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mtClean="0"/>
              <a:t>Political Support for Trade Policies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Trade policies </a:t>
            </a:r>
          </a:p>
          <a:p>
            <a:pPr lvl="1"/>
            <a:r>
              <a:rPr lang="en-US" altLang="en-US" smtClean="0"/>
              <a:t>May affect the relative incomes of various factors of production</a:t>
            </a:r>
          </a:p>
          <a:p>
            <a:r>
              <a:rPr lang="en-US" altLang="en-US" smtClean="0"/>
              <a:t>In the U.S.</a:t>
            </a:r>
          </a:p>
          <a:p>
            <a:pPr lvl="1"/>
            <a:r>
              <a:rPr lang="en-US" altLang="en-US" smtClean="0"/>
              <a:t>Exports tend to be intensive in their use of skilled labor</a:t>
            </a:r>
          </a:p>
          <a:p>
            <a:pPr lvl="1"/>
            <a:r>
              <a:rPr lang="en-US" altLang="en-US" smtClean="0"/>
              <a:t>Imports tend to be intensive in their use of unskilled labor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5EDDF01-F556-4A8C-A32C-19AB026D3F4E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62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Mathematical Model of Exchange</a:t>
            </a:r>
          </a:p>
        </p:txBody>
      </p:sp>
      <p:sp>
        <p:nvSpPr>
          <p:cNvPr id="6144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 vector</a:t>
            </a:r>
          </a:p>
          <a:p>
            <a:pPr lvl="1"/>
            <a:r>
              <a:rPr lang="en-US" altLang="en-US" smtClean="0"/>
              <a:t>An ordered array of variables</a:t>
            </a:r>
          </a:p>
          <a:p>
            <a:pPr lvl="2"/>
            <a:r>
              <a:rPr lang="en-US" altLang="en-US" smtClean="0"/>
              <a:t>Which each may take on specific values</a:t>
            </a:r>
          </a:p>
          <a:p>
            <a:r>
              <a:rPr lang="en-US" altLang="en-US" smtClean="0"/>
              <a:t>Convention</a:t>
            </a:r>
          </a:p>
          <a:p>
            <a:pPr lvl="1"/>
            <a:r>
              <a:rPr lang="en-US" altLang="en-US" smtClean="0"/>
              <a:t>The vectors we use are column vectors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059D7BC-B72B-4050-814A-F731EE67F602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248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Mathematical Model of Exchange</a:t>
            </a:r>
          </a:p>
        </p:txBody>
      </p:sp>
      <p:sp>
        <p:nvSpPr>
          <p:cNvPr id="9220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610600" cy="5334000"/>
          </a:xfrm>
        </p:spPr>
        <p:txBody>
          <a:bodyPr/>
          <a:lstStyle/>
          <a:p>
            <a:r>
              <a:rPr lang="en-US" altLang="en-US" dirty="0" smtClean="0"/>
              <a:t>Model of exchange</a:t>
            </a:r>
          </a:p>
          <a:p>
            <a:pPr lvl="1"/>
            <a:r>
              <a:rPr lang="en-US" altLang="en-US" dirty="0" smtClean="0"/>
              <a:t>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goods and </a:t>
            </a:r>
            <a:r>
              <a:rPr lang="en-US" altLang="en-US" i="1" dirty="0" smtClean="0"/>
              <a:t>m</a:t>
            </a:r>
            <a:r>
              <a:rPr lang="en-US" altLang="en-US" dirty="0" smtClean="0"/>
              <a:t> individuals</a:t>
            </a:r>
          </a:p>
          <a:p>
            <a:pPr lvl="1"/>
            <a:r>
              <a:rPr lang="en-US" altLang="en-US" dirty="0" smtClean="0"/>
              <a:t>Each individual gains utility from the vector of goods he or she </a:t>
            </a:r>
            <a:r>
              <a:rPr lang="en-US" altLang="en-US" dirty="0" smtClean="0"/>
              <a:t>consumes: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dirty="0" smtClean="0"/>
              <a:t>,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1. . .m</a:t>
            </a:r>
          </a:p>
          <a:p>
            <a:pPr lvl="1"/>
            <a:r>
              <a:rPr lang="en-US" altLang="en-US" dirty="0" smtClean="0"/>
              <a:t>Individuals are price-takers</a:t>
            </a:r>
          </a:p>
          <a:p>
            <a:pPr lvl="2"/>
            <a:r>
              <a:rPr lang="en-US" altLang="en-US" dirty="0" smtClean="0"/>
              <a:t>Face a price vector (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) that specifies the market price for each of the n goods </a:t>
            </a:r>
          </a:p>
          <a:p>
            <a:pPr lvl="1"/>
            <a:r>
              <a:rPr lang="en-US" altLang="en-US" dirty="0" smtClean="0"/>
              <a:t>Individuals also possess initial endowments of the goods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9E083BB-23BA-4699-B1A0-6F1167C55B81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0653968"/>
              </p:ext>
            </p:extLst>
          </p:nvPr>
        </p:nvGraphicFramePr>
        <p:xfrm>
          <a:off x="2971800" y="5257800"/>
          <a:ext cx="568325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1612" name="Equation" r:id="rId3" imgW="177480" imgH="203040" progId="Equation.DSMT4">
                  <p:embed/>
                </p:oleObj>
              </mc:Choice>
              <mc:Fallback>
                <p:oleObj name="Equation" r:id="rId3" imgW="1774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5257800"/>
                        <a:ext cx="568325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80334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Mathematical Model of Exchange</a:t>
            </a:r>
          </a:p>
        </p:txBody>
      </p:sp>
      <p:sp>
        <p:nvSpPr>
          <p:cNvPr id="1024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Model of exchange</a:t>
            </a:r>
          </a:p>
          <a:p>
            <a:pPr lvl="1"/>
            <a:r>
              <a:rPr lang="en-US" altLang="en-US" smtClean="0"/>
              <a:t>Each individual seeks to maximize utility</a:t>
            </a:r>
          </a:p>
          <a:p>
            <a:pPr lvl="1"/>
            <a:r>
              <a:rPr lang="en-US" altLang="en-US" smtClean="0"/>
              <a:t>Each individual is bound by a budget constraint </a:t>
            </a:r>
          </a:p>
          <a:p>
            <a:pPr lvl="2"/>
            <a:r>
              <a:rPr lang="en-US" altLang="en-US" smtClean="0"/>
              <a:t>Total amount spent on consumption = Total value of his or her endowment</a:t>
            </a:r>
          </a:p>
          <a:p>
            <a:pPr lvl="2"/>
            <a:endParaRPr lang="en-US" altLang="en-US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91028B-34AF-4C4B-8C9D-FACF61702FD7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graphicFrame>
        <p:nvGraphicFramePr>
          <p:cNvPr id="73731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3061589"/>
              </p:ext>
            </p:extLst>
          </p:nvPr>
        </p:nvGraphicFramePr>
        <p:xfrm>
          <a:off x="2743200" y="4648200"/>
          <a:ext cx="2030412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2636" name="Equation" r:id="rId3" imgW="634680" imgH="228600" progId="Equation.DSMT4">
                  <p:embed/>
                </p:oleObj>
              </mc:Choice>
              <mc:Fallback>
                <p:oleObj name="Equation" r:id="rId3" imgW="6346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648200"/>
                        <a:ext cx="2030412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558575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A Mathematical Model of Exchange</a:t>
            </a:r>
          </a:p>
        </p:txBody>
      </p:sp>
      <p:sp>
        <p:nvSpPr>
          <p:cNvPr id="1126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Set of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individual demand </a:t>
            </a:r>
            <a:r>
              <a:rPr lang="en-US" altLang="en-US" dirty="0" smtClean="0"/>
              <a:t>functions</a:t>
            </a:r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3A9CDE2-8897-40F4-B2A3-6B5AFF52E2C6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2514600"/>
            <a:ext cx="8534400" cy="3733800"/>
          </a:xfrm>
        </p:spPr>
        <p:txBody>
          <a:bodyPr>
            <a:normAutofit/>
          </a:bodyPr>
          <a:lstStyle/>
          <a:p>
            <a:pPr lvl="1"/>
            <a:r>
              <a:rPr lang="en-US" altLang="en-US" dirty="0"/>
              <a:t>One for each good</a:t>
            </a:r>
          </a:p>
          <a:p>
            <a:pPr lvl="1"/>
            <a:r>
              <a:rPr lang="en-US" altLang="en-US" dirty="0"/>
              <a:t>In which quantities demanded depend on all prices and income</a:t>
            </a:r>
          </a:p>
          <a:p>
            <a:pPr lvl="1"/>
            <a:r>
              <a:rPr lang="en-US" altLang="en-US" dirty="0"/>
              <a:t>Continuous</a:t>
            </a:r>
          </a:p>
          <a:p>
            <a:pPr lvl="1"/>
            <a:r>
              <a:rPr lang="en-US" altLang="en-US" dirty="0"/>
              <a:t>Homogeneous of degree 0 in all prices and income</a:t>
            </a:r>
          </a:p>
          <a:p>
            <a:pPr lvl="1"/>
            <a:endParaRPr lang="en-US" dirty="0"/>
          </a:p>
        </p:txBody>
      </p:sp>
      <p:graphicFrame>
        <p:nvGraphicFramePr>
          <p:cNvPr id="73731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90098644"/>
              </p:ext>
            </p:extLst>
          </p:nvPr>
        </p:nvGraphicFramePr>
        <p:xfrm>
          <a:off x="990600" y="1828800"/>
          <a:ext cx="2151063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66" name="Equation" r:id="rId3" imgW="672840" imgH="228600" progId="Equation.DSMT4">
                  <p:embed/>
                </p:oleObj>
              </mc:Choice>
              <mc:Fallback>
                <p:oleObj name="Equation" r:id="rId3" imgW="6728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1828800"/>
                        <a:ext cx="2151063" cy="731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8786435"/>
              </p:ext>
            </p:extLst>
          </p:nvPr>
        </p:nvGraphicFramePr>
        <p:xfrm>
          <a:off x="2743200" y="5334000"/>
          <a:ext cx="4829175" cy="731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3667" name="Equation" r:id="rId5" imgW="1511280" imgH="228600" progId="Equation.DSMT4">
                  <p:embed/>
                </p:oleObj>
              </mc:Choice>
              <mc:Fallback>
                <p:oleObj name="Equation" r:id="rId5" imgW="1511280" imgH="2286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5334000"/>
                        <a:ext cx="4829175" cy="731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1807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Equilibrium and Walras’ Law</a:t>
            </a:r>
          </a:p>
        </p:txBody>
      </p:sp>
      <p:sp>
        <p:nvSpPr>
          <p:cNvPr id="12292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534400" cy="3505200"/>
          </a:xfrm>
        </p:spPr>
        <p:txBody>
          <a:bodyPr/>
          <a:lstStyle/>
          <a:p>
            <a:r>
              <a:rPr lang="en-US" altLang="en-US" dirty="0" smtClean="0"/>
              <a:t>Equilibrium</a:t>
            </a:r>
          </a:p>
          <a:p>
            <a:pPr lvl="1"/>
            <a:r>
              <a:rPr lang="en-US" altLang="en-US" dirty="0" smtClean="0"/>
              <a:t>Total quantities of each good demanded = Total endowment of each good available</a:t>
            </a:r>
          </a:p>
          <a:p>
            <a:r>
              <a:rPr lang="en-US" altLang="en-US" dirty="0" err="1" smtClean="0"/>
              <a:t>Walrasian</a:t>
            </a:r>
            <a:r>
              <a:rPr lang="en-US" altLang="en-US" dirty="0" smtClean="0"/>
              <a:t> equilibrium</a:t>
            </a:r>
          </a:p>
          <a:p>
            <a:pPr lvl="1"/>
            <a:r>
              <a:rPr lang="en-US" altLang="en-US" dirty="0" smtClean="0"/>
              <a:t>Is an allocation of resources and an associated price vector, </a:t>
            </a:r>
            <a:r>
              <a:rPr lang="en-US" altLang="en-US" i="1" dirty="0" smtClean="0"/>
              <a:t>p*</a:t>
            </a:r>
            <a:r>
              <a:rPr lang="en-US" altLang="en-US" dirty="0" smtClean="0"/>
              <a:t>, such that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B6026DF-1406-4B91-A3D6-47780D62226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5334000"/>
            <a:ext cx="8534400" cy="1066800"/>
          </a:xfrm>
        </p:spPr>
        <p:txBody>
          <a:bodyPr>
            <a:normAutofit/>
          </a:bodyPr>
          <a:lstStyle/>
          <a:p>
            <a:pPr lvl="2"/>
            <a:r>
              <a:rPr lang="en-US" kern="0" dirty="0"/>
              <a:t>Where the summation is taken over the </a:t>
            </a:r>
            <a:r>
              <a:rPr lang="en-US" i="1" kern="0" dirty="0"/>
              <a:t>m</a:t>
            </a:r>
            <a:r>
              <a:rPr lang="en-US" kern="0" dirty="0"/>
              <a:t> individuals in this exchange </a:t>
            </a:r>
            <a:r>
              <a:rPr lang="en-US" kern="0" dirty="0" smtClean="0"/>
              <a:t>economy</a:t>
            </a:r>
            <a:endParaRPr lang="en-US" kern="0" dirty="0"/>
          </a:p>
        </p:txBody>
      </p:sp>
      <p:graphicFrame>
        <p:nvGraphicFramePr>
          <p:cNvPr id="73731" name="Object 2"/>
          <p:cNvGraphicFramePr>
            <a:graphicFrameLocks noChangeAspect="1"/>
          </p:cNvGraphicFramePr>
          <p:nvPr/>
        </p:nvGraphicFramePr>
        <p:xfrm>
          <a:off x="1797050" y="4257675"/>
          <a:ext cx="402113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4684" name="Equation" r:id="rId3" imgW="1523880" imgH="431640" progId="Equation.DSMT4">
                  <p:embed/>
                </p:oleObj>
              </mc:Choice>
              <mc:Fallback>
                <p:oleObj name="Equation" r:id="rId3" imgW="152388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97050" y="4257675"/>
                        <a:ext cx="4021138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161211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3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Equilibrium and Walras’ Law</a:t>
            </a:r>
          </a:p>
        </p:txBody>
      </p:sp>
      <p:sp>
        <p:nvSpPr>
          <p:cNvPr id="1331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Walrasian equilibrium</a:t>
            </a:r>
          </a:p>
          <a:p>
            <a:pPr lvl="1"/>
            <a:r>
              <a:rPr lang="en-US" altLang="en-US" smtClean="0"/>
              <a:t>In equilibrium demand equals supply in each market</a:t>
            </a:r>
          </a:p>
          <a:p>
            <a:r>
              <a:rPr lang="en-US" altLang="en-US" smtClean="0"/>
              <a:t>Walras’ law </a:t>
            </a:r>
          </a:p>
          <a:p>
            <a:pPr lvl="1"/>
            <a:r>
              <a:rPr lang="en-US" altLang="en-US" smtClean="0"/>
              <a:t>The value of all quantities demanded must equal the value of all endowments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FFDA96-286B-486E-AFE2-F7DDA8A67387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graphicFrame>
        <p:nvGraphicFramePr>
          <p:cNvPr id="76803" name="Object 3"/>
          <p:cNvGraphicFramePr>
            <a:graphicFrameLocks noChangeAspect="1"/>
          </p:cNvGraphicFramePr>
          <p:nvPr/>
        </p:nvGraphicFramePr>
        <p:xfrm>
          <a:off x="1196975" y="4613275"/>
          <a:ext cx="6669088" cy="1141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5707" name="Equation" r:id="rId3" imgW="2527200" imgH="431640" progId="Equation.DSMT4">
                  <p:embed/>
                </p:oleObj>
              </mc:Choice>
              <mc:Fallback>
                <p:oleObj name="Equation" r:id="rId3" imgW="2527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6975" y="4613275"/>
                        <a:ext cx="6669088" cy="1141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4694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6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</a:t>
            </a:r>
            <a:r>
              <a:rPr lang="en-US" altLang="en-US" sz="3500" dirty="0" smtClean="0"/>
              <a:t>equilibrium 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1434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An arbitrary set of </a:t>
            </a:r>
            <a:r>
              <a:rPr lang="en-US" altLang="en-US" i="1" dirty="0" smtClean="0"/>
              <a:t>n</a:t>
            </a:r>
            <a:r>
              <a:rPr lang="en-US" altLang="en-US" dirty="0" smtClean="0"/>
              <a:t> non-negative prices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p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 . .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/>
            <a:r>
              <a:rPr lang="en-US" altLang="en-US" dirty="0" smtClean="0"/>
              <a:t>Normalize these to form a new set of prices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77A842-FDB9-4CC8-AE01-D705979A5C76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046163" y="3243263"/>
          <a:ext cx="5853112" cy="2587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6733" name="Equation" r:id="rId3" imgW="2527200" imgH="1117440" progId="Equation.DSMT4">
                  <p:embed/>
                </p:oleObj>
              </mc:Choice>
              <mc:Fallback>
                <p:oleObj name="Equation" r:id="rId3" imgW="2527200" imgH="11174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163" y="3243263"/>
                        <a:ext cx="5853112" cy="2587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241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equilibrium </a:t>
            </a:r>
            <a:r>
              <a:rPr lang="en-US" altLang="en-US" sz="3500" dirty="0" smtClean="0"/>
              <a:t>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6246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Assume</a:t>
            </a:r>
          </a:p>
          <a:p>
            <a:pPr lvl="1"/>
            <a:r>
              <a:rPr lang="en-US" altLang="en-US" dirty="0" smtClean="0"/>
              <a:t>The price vectors we use (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) have all been normalized</a:t>
            </a:r>
          </a:p>
          <a:p>
            <a:r>
              <a:rPr lang="en-US" altLang="en-US" dirty="0" smtClean="0"/>
              <a:t>Proving the existence of equilibrium prices</a:t>
            </a:r>
          </a:p>
          <a:p>
            <a:pPr lvl="1"/>
            <a:r>
              <a:rPr lang="en-US" altLang="en-US" dirty="0" smtClean="0"/>
              <a:t>Showing that there will always exist a price vector </a:t>
            </a:r>
            <a:r>
              <a:rPr lang="en-US" altLang="en-US" i="1" dirty="0" smtClean="0"/>
              <a:t>p</a:t>
            </a:r>
            <a:r>
              <a:rPr lang="en-US" altLang="en-US" dirty="0" smtClean="0"/>
              <a:t> that achieves equilibrium in all markets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C49D8D6-A44F-4BC8-956D-CB3255314D54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9149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equilibrium </a:t>
            </a:r>
            <a:r>
              <a:rPr lang="en-US" altLang="en-US" sz="3500" dirty="0" smtClean="0"/>
              <a:t>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1536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Existence of equilibrium prices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01E7312-FF03-4B6D-BE95-FE738B4FCBE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>
            <a:noAutofit/>
          </a:bodyPr>
          <a:lstStyle/>
          <a:p>
            <a:pPr lvl="1" eaLnBrk="0" hangingPunct="0">
              <a:buFont typeface="Arial" charset="0"/>
              <a:buChar char="–"/>
              <a:defRPr/>
            </a:pPr>
            <a:r>
              <a:rPr lang="en-US" sz="3000" i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z(p)</a:t>
            </a:r>
            <a:r>
              <a:rPr lang="en-US" sz="3000" kern="0" dirty="0"/>
              <a:t> - shorthand way of recording the ‘‘excess demands’’ for goods at a particular set of prices</a:t>
            </a:r>
          </a:p>
          <a:p>
            <a:pPr lvl="2" eaLnBrk="0" hangingPunct="0">
              <a:buSzPct val="90000"/>
              <a:buFontTx/>
              <a:buChar char="•"/>
              <a:defRPr/>
            </a:pPr>
            <a:r>
              <a:rPr lang="en-US" sz="3000" kern="0" dirty="0"/>
              <a:t>In equilibrium, excess demand is zero in all </a:t>
            </a:r>
            <a:r>
              <a:rPr lang="en-US" sz="3000" kern="0" dirty="0" smtClean="0"/>
              <a:t>markets</a:t>
            </a:r>
            <a:endParaRPr lang="en-US" sz="3000" kern="0" dirty="0"/>
          </a:p>
        </p:txBody>
      </p:sp>
      <p:graphicFrame>
        <p:nvGraphicFramePr>
          <p:cNvPr id="78851" name="Object 2"/>
          <p:cNvGraphicFramePr>
            <a:graphicFrameLocks noChangeAspect="1"/>
          </p:cNvGraphicFramePr>
          <p:nvPr/>
        </p:nvGraphicFramePr>
        <p:xfrm>
          <a:off x="1071563" y="1657350"/>
          <a:ext cx="7000875" cy="228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756" name="Equation" r:id="rId3" imgW="2654280" imgH="863280" progId="Equation.DSMT4">
                  <p:embed/>
                </p:oleObj>
              </mc:Choice>
              <mc:Fallback>
                <p:oleObj name="Equation" r:id="rId3" imgW="2654280" imgH="8632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1563" y="1657350"/>
                        <a:ext cx="7000875" cy="228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17694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</a:t>
            </a:r>
            <a:r>
              <a:rPr lang="en-US" altLang="en-US" sz="3500" dirty="0" smtClean="0"/>
              <a:t>equilibrium 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6349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/>
              <a:t>Brouwer’s</a:t>
            </a:r>
            <a:r>
              <a:rPr lang="en-US" altLang="en-US" dirty="0" smtClean="0"/>
              <a:t> fixed point theorem</a:t>
            </a:r>
          </a:p>
          <a:p>
            <a:pPr lvl="1"/>
            <a:r>
              <a:rPr lang="en-US" altLang="en-US" dirty="0" smtClean="0"/>
              <a:t>Any continuous function from a closed compact set onto itself </a:t>
            </a:r>
          </a:p>
          <a:p>
            <a:pPr lvl="2"/>
            <a:r>
              <a:rPr lang="en-US" altLang="en-US" dirty="0" smtClean="0"/>
              <a:t>In the present case, from the ‘‘unit simplex’’ onto itself</a:t>
            </a:r>
          </a:p>
          <a:p>
            <a:pPr lvl="1"/>
            <a:r>
              <a:rPr lang="en-US" altLang="en-US" dirty="0" smtClean="0"/>
              <a:t>Will have a ‘‘fixed point’’ such that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x=f(x)</a:t>
            </a:r>
          </a:p>
          <a:p>
            <a:pPr lvl="1"/>
            <a:endParaRPr lang="en-US" altLang="en-US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D6E506-01A2-4C9F-B8F8-8BEFA01CE8F3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686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284288"/>
            <a:ext cx="5721350" cy="458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514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13.7	A Graphical Illustration of </a:t>
            </a:r>
            <a:r>
              <a:rPr lang="en-US" altLang="en-US" dirty="0" err="1"/>
              <a:t>Brouwer’s</a:t>
            </a:r>
            <a:r>
              <a:rPr lang="en-US" altLang="en-US" dirty="0"/>
              <a:t> Fixed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Point Theorem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64515" name="Text Placeholder 2"/>
          <p:cNvSpPr>
            <a:spLocks noGrp="1"/>
          </p:cNvSpPr>
          <p:nvPr>
            <p:ph sz="half" idx="1"/>
          </p:nvPr>
        </p:nvSpPr>
        <p:spPr>
          <a:xfrm>
            <a:off x="6096000" y="2667000"/>
            <a:ext cx="2449286" cy="26670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Because any continuous function must cross the 45 line somewhere in the unit square, this function must have a point for which f (x*) = x*. This point is called a fixed point.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451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05645D-1771-4F4C-A5F5-D8213FF3B764}" type="slidenum">
              <a:rPr lang="en-US" smtClean="0"/>
              <a:pPr>
                <a:defRPr/>
              </a:pPr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45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45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5" grpId="0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equilibrium </a:t>
            </a:r>
            <a:r>
              <a:rPr lang="en-US" altLang="en-US" sz="3500" dirty="0" smtClean="0"/>
              <a:t>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6553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New set of prices,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=f(p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)=p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+kz(p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pPr lvl="2"/>
            <a:r>
              <a:rPr lang="en-US" altLang="en-US" dirty="0" smtClean="0"/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en-US" i="1" dirty="0" smtClean="0"/>
              <a:t> </a:t>
            </a:r>
            <a:r>
              <a:rPr lang="en-US" altLang="en-US" dirty="0" smtClean="0"/>
              <a:t>– arbitrary set of prices</a:t>
            </a:r>
          </a:p>
          <a:p>
            <a:pPr lvl="2"/>
            <a:r>
              <a:rPr lang="en-US" altLang="en-US" dirty="0" smtClean="0"/>
              <a:t>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 smtClean="0"/>
              <a:t> – </a:t>
            </a:r>
            <a:r>
              <a:rPr lang="en-US" altLang="en-US" dirty="0" smtClean="0"/>
              <a:t>small positive </a:t>
            </a:r>
            <a:r>
              <a:rPr lang="en-US" altLang="en-US" dirty="0" smtClean="0"/>
              <a:t>constant </a:t>
            </a:r>
          </a:p>
          <a:p>
            <a:pPr lvl="1"/>
            <a:r>
              <a:rPr lang="en-US" altLang="en-US" dirty="0" smtClean="0"/>
              <a:t>Continuous function</a:t>
            </a:r>
          </a:p>
          <a:p>
            <a:pPr lvl="1"/>
            <a:r>
              <a:rPr lang="en-US" altLang="en-US" dirty="0" smtClean="0"/>
              <a:t>Will map one set of normalized prices into another</a:t>
            </a:r>
          </a:p>
          <a:p>
            <a:pPr lvl="1"/>
            <a:r>
              <a:rPr lang="en-US" altLang="en-US" dirty="0" smtClean="0"/>
              <a:t>Meet the conditions of the </a:t>
            </a:r>
            <a:r>
              <a:rPr lang="en-US" altLang="en-US" dirty="0" err="1" smtClean="0"/>
              <a:t>Brouwer’s</a:t>
            </a:r>
            <a:r>
              <a:rPr lang="en-US" altLang="en-US" dirty="0" smtClean="0"/>
              <a:t> fixed point theorem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BB02497-8BA6-4374-91E4-DF7071BB7E3A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9084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</a:t>
            </a:r>
            <a:r>
              <a:rPr lang="en-US" altLang="en-US" sz="3500" dirty="0" smtClean="0"/>
              <a:t>equilibrium 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665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Walras</a:t>
            </a:r>
            <a:r>
              <a:rPr lang="en-US" altLang="en-US" dirty="0" smtClean="0"/>
              <a:t> proof of equilibrium price</a:t>
            </a:r>
          </a:p>
          <a:p>
            <a:pPr lvl="1"/>
            <a:r>
              <a:rPr lang="en-US" altLang="en-US" dirty="0" smtClean="0"/>
              <a:t>Let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p*</a:t>
            </a:r>
            <a:r>
              <a:rPr lang="en-US" altLang="en-US" dirty="0" smtClean="0"/>
              <a:t> be the fixed point identified by </a:t>
            </a:r>
            <a:r>
              <a:rPr lang="en-US" altLang="en-US" dirty="0" err="1" smtClean="0"/>
              <a:t>Brouwer’s</a:t>
            </a:r>
            <a:r>
              <a:rPr lang="en-US" altLang="en-US" dirty="0" smtClean="0"/>
              <a:t> theorem for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=f(p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)=p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+kz(p</a:t>
            </a:r>
            <a:r>
              <a:rPr lang="en-US" altLang="en-US" i="1" baseline="-25000" dirty="0" smtClean="0"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) </a:t>
            </a:r>
          </a:p>
          <a:p>
            <a:pPr lvl="1"/>
            <a:r>
              <a:rPr lang="en-US" altLang="en-US" dirty="0" smtClean="0"/>
              <a:t>So,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p*=f(p*)=p*+</a:t>
            </a:r>
            <a:r>
              <a:rPr lang="en-US" altLang="en-US" i="1" dirty="0" err="1" smtClean="0">
                <a:latin typeface="Times New Roman" pitchFamily="18" charset="0"/>
                <a:cs typeface="Times New Roman" pitchFamily="18" charset="0"/>
              </a:rPr>
              <a:t>kz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(p*)  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We have: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z(p) = 0</a:t>
            </a:r>
          </a:p>
          <a:p>
            <a:pPr lvl="1"/>
            <a:r>
              <a:rPr lang="en-US" altLang="en-US" dirty="0" smtClean="0"/>
              <a:t>Thus,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p*</a:t>
            </a:r>
            <a:r>
              <a:rPr lang="en-US" altLang="en-US" dirty="0" smtClean="0"/>
              <a:t> is an equilibrium price vector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2692241-B792-45F1-97C3-59A20846553F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247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11430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Existence of equilibrium </a:t>
            </a:r>
            <a:r>
              <a:rPr lang="en-US" altLang="en-US" sz="3500" dirty="0" smtClean="0"/>
              <a:t>in </a:t>
            </a:r>
            <a:r>
              <a:rPr lang="en-US" altLang="en-US" sz="3500" dirty="0" smtClean="0"/>
              <a:t>the exchange model</a:t>
            </a:r>
          </a:p>
        </p:txBody>
      </p:sp>
      <p:sp>
        <p:nvSpPr>
          <p:cNvPr id="675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The </a:t>
            </a:r>
            <a:r>
              <a:rPr lang="en-US" altLang="en-US" dirty="0" err="1" smtClean="0"/>
              <a:t>Walras</a:t>
            </a:r>
            <a:r>
              <a:rPr lang="en-US" altLang="en-US" dirty="0" smtClean="0"/>
              <a:t> proof </a:t>
            </a:r>
          </a:p>
          <a:p>
            <a:pPr lvl="1"/>
            <a:r>
              <a:rPr lang="en-US" altLang="en-US" dirty="0" smtClean="0"/>
              <a:t>Uses a number of assumptions about economic behavior </a:t>
            </a:r>
          </a:p>
          <a:p>
            <a:pPr lvl="2"/>
            <a:r>
              <a:rPr lang="en-US" altLang="en-US" dirty="0" smtClean="0"/>
              <a:t>Price-taking by all parties</a:t>
            </a:r>
          </a:p>
          <a:p>
            <a:pPr lvl="2"/>
            <a:r>
              <a:rPr lang="en-US" altLang="en-US" dirty="0" smtClean="0"/>
              <a:t>Homogeneity of demand functions</a:t>
            </a:r>
          </a:p>
          <a:p>
            <a:pPr lvl="2"/>
            <a:r>
              <a:rPr lang="en-US" altLang="en-US" dirty="0" smtClean="0"/>
              <a:t>Continuity of demand functions</a:t>
            </a:r>
          </a:p>
          <a:p>
            <a:pPr lvl="2"/>
            <a:r>
              <a:rPr lang="en-US" altLang="en-US" dirty="0" smtClean="0"/>
              <a:t>Presence of budget constraints and </a:t>
            </a:r>
            <a:r>
              <a:rPr lang="en-US" altLang="en-US" dirty="0" err="1" smtClean="0"/>
              <a:t>Walras</a:t>
            </a:r>
            <a:r>
              <a:rPr lang="en-US" altLang="en-US" dirty="0" smtClean="0"/>
              <a:t>’ law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06AAA50-08EE-4ED6-ACD4-9E410285DDF3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78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First Theorem of Welfare Economics</a:t>
            </a:r>
          </a:p>
        </p:txBody>
      </p:sp>
      <p:sp>
        <p:nvSpPr>
          <p:cNvPr id="6861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Pareto efficient allocation</a:t>
            </a:r>
          </a:p>
          <a:p>
            <a:pPr lvl="1"/>
            <a:r>
              <a:rPr lang="en-US" altLang="en-US" smtClean="0"/>
              <a:t>An allocation of the available goods in an exchange economy is efficient </a:t>
            </a:r>
          </a:p>
          <a:p>
            <a:pPr lvl="1"/>
            <a:r>
              <a:rPr lang="en-US" altLang="en-US" smtClean="0"/>
              <a:t>If it is not possible to devise an alternative allocation in which at least one person is better off and no one is worse off</a:t>
            </a:r>
          </a:p>
          <a:p>
            <a:r>
              <a:rPr lang="en-US" altLang="en-US" smtClean="0"/>
              <a:t>First theorem of welfare economics</a:t>
            </a:r>
          </a:p>
          <a:p>
            <a:pPr lvl="1"/>
            <a:r>
              <a:rPr lang="en-US" altLang="en-US" smtClean="0"/>
              <a:t>Every Walrasian equilibrium is Pareto efficient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4F18C08-E1B4-4598-B2CA-9DD22287D4D9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7020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13.8	The First Theorem of Welfare </a:t>
            </a:r>
            <a:r>
              <a:rPr lang="en-US" altLang="en-US" dirty="0" smtClean="0"/>
              <a:t>Economics</a:t>
            </a:r>
            <a:endParaRPr lang="en-US" altLang="en-US" dirty="0" smtClean="0"/>
          </a:p>
        </p:txBody>
      </p:sp>
      <p:sp>
        <p:nvSpPr>
          <p:cNvPr id="69635" name="Text Placeholder 2"/>
          <p:cNvSpPr>
            <a:spLocks noGrp="1"/>
          </p:cNvSpPr>
          <p:nvPr>
            <p:ph sz="half" idx="1"/>
          </p:nvPr>
        </p:nvSpPr>
        <p:spPr>
          <a:xfrm>
            <a:off x="152400" y="5257800"/>
            <a:ext cx="8839200" cy="9144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With initial endowments at point E, individuals trade along the price line PP until they reach point E*. This equilibrium is Pareto efficient.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9638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5889736-6B09-4669-AE37-C7FA5C7F6413}" type="slidenum">
              <a:rPr lang="en-US" smtClean="0"/>
              <a:pPr>
                <a:defRPr/>
              </a:pPr>
              <a:t>54</a:t>
            </a:fld>
            <a:endParaRPr lang="en-US" dirty="0"/>
          </a:p>
        </p:txBody>
      </p:sp>
      <p:pic>
        <p:nvPicPr>
          <p:cNvPr id="829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3963" y="457200"/>
            <a:ext cx="6696075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8333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uild="p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Second Theorem of Welfare Economics</a:t>
            </a:r>
          </a:p>
        </p:txBody>
      </p:sp>
      <p:sp>
        <p:nvSpPr>
          <p:cNvPr id="7065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second theorem of welfare economics </a:t>
            </a:r>
          </a:p>
          <a:p>
            <a:pPr lvl="1"/>
            <a:r>
              <a:rPr lang="en-US" altLang="en-US" smtClean="0"/>
              <a:t>For any Pareto optimal allocation of resources </a:t>
            </a:r>
          </a:p>
          <a:p>
            <a:pPr lvl="1"/>
            <a:r>
              <a:rPr lang="en-US" altLang="en-US" smtClean="0"/>
              <a:t>There exists a set of initial endowments and a related price vector </a:t>
            </a:r>
          </a:p>
          <a:p>
            <a:pPr lvl="1"/>
            <a:r>
              <a:rPr lang="en-US" altLang="en-US" smtClean="0"/>
              <a:t>Such that this allocation is also a Walrasian equilibrium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CDAAFA-069D-40BC-8745-A48E1361184D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66295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13.9	The Second Theorem of Welfare </a:t>
            </a:r>
            <a:r>
              <a:rPr lang="en-US" altLang="en-US" dirty="0" smtClean="0"/>
              <a:t>Economics</a:t>
            </a:r>
            <a:endParaRPr lang="en-US" altLang="en-US" dirty="0" smtClean="0"/>
          </a:p>
        </p:txBody>
      </p:sp>
      <p:sp>
        <p:nvSpPr>
          <p:cNvPr id="71683" name="Text Placeholder 2"/>
          <p:cNvSpPr>
            <a:spLocks noGrp="1"/>
          </p:cNvSpPr>
          <p:nvPr>
            <p:ph sz="half" idx="1"/>
          </p:nvPr>
        </p:nvSpPr>
        <p:spPr>
          <a:xfrm>
            <a:off x="76200" y="5381625"/>
            <a:ext cx="8991600" cy="1095375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If allocation Q* is regarded as socially optimal, this allocation can be supported by any initial endowments on the price line P’P’. To move from E to, say, Q would require transfers of initial endowments.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1686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CD10B36-49C3-4DBA-82E9-305D20C5E24D}" type="slidenum">
              <a:rPr lang="en-US" smtClean="0"/>
              <a:pPr>
                <a:defRPr/>
              </a:pPr>
              <a:t>56</a:t>
            </a:fld>
            <a:endParaRPr lang="en-US" dirty="0"/>
          </a:p>
        </p:txBody>
      </p:sp>
      <p:cxnSp>
        <p:nvCxnSpPr>
          <p:cNvPr id="8" name="Straight Connector 7"/>
          <p:cNvCxnSpPr>
            <a:cxnSpLocks noChangeShapeType="1"/>
          </p:cNvCxnSpPr>
          <p:nvPr/>
        </p:nvCxnSpPr>
        <p:spPr bwMode="auto">
          <a:xfrm>
            <a:off x="5638800" y="5715000"/>
            <a:ext cx="153987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39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350" y="533400"/>
            <a:ext cx="7188200" cy="477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868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683" grpId="0" build="p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13.3	 A Two-Person Exchange Economy</a:t>
            </a:r>
          </a:p>
        </p:txBody>
      </p:sp>
      <p:sp>
        <p:nvSpPr>
          <p:cNvPr id="7270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A9CD309-68A9-4D71-B642-DBDDF22537E8}" type="slidenum">
              <a:rPr lang="en-US" smtClean="0"/>
              <a:pPr>
                <a:defRPr/>
              </a:pPr>
              <a:t>57</a:t>
            </a:fld>
            <a:endParaRPr lang="en-US" dirty="0"/>
          </a:p>
        </p:txBody>
      </p:sp>
      <p:sp>
        <p:nvSpPr>
          <p:cNvPr id="7270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 simple two-person, two-good exchange economy</a:t>
            </a:r>
          </a:p>
          <a:p>
            <a:pPr lvl="1"/>
            <a:r>
              <a:rPr lang="en-US" altLang="en-US" dirty="0" smtClean="0"/>
              <a:t>Total quantities of the goods are fixed: 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 = y = 1,000</a:t>
            </a:r>
          </a:p>
          <a:p>
            <a:pPr lvl="1"/>
            <a:r>
              <a:rPr lang="en-US" altLang="en-US" dirty="0" smtClean="0"/>
              <a:t>Utility functions: 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2/3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dirty="0" smtClean="0"/>
              <a:t>and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2/3 </a:t>
            </a:r>
          </a:p>
          <a:p>
            <a:pPr lvl="1"/>
            <a:r>
              <a:rPr lang="en-US" altLang="en-US" dirty="0" err="1" smtClean="0"/>
              <a:t>Lagrangian</a:t>
            </a:r>
            <a:r>
              <a:rPr lang="en-US" altLang="en-US" dirty="0" smtClean="0"/>
              <a:t> expression</a:t>
            </a:r>
          </a:p>
          <a:p>
            <a:pPr lvl="1" algn="ctr">
              <a:buFont typeface="Arial" charset="0"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Times New Roman" pitchFamily="18" charset="0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+</a:t>
            </a:r>
            <a:r>
              <a:rPr lang="el-GR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(1,000-x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,1,000-y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)-Ū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</a:p>
          <a:p>
            <a:pPr lvl="1" algn="ctr">
              <a:buFont typeface="Arial" charset="0"/>
              <a:buNone/>
            </a:pP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ea typeface="Arial Unicode MS" pitchFamily="34" charset="-128"/>
                <a:cs typeface="Arial Unicode MS" pitchFamily="34" charset="-128"/>
              </a:rPr>
              <a:t>ℒ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,y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 =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2/3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</a:t>
            </a:r>
            <a:r>
              <a:rPr lang="el-GR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λ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[(1,000-x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1/3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(1,000-y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2/3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-Ū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]</a:t>
            </a:r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altLang="en-US" dirty="0" smtClean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5330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13.3	 A Two-Person Exchange Economy</a:t>
            </a:r>
          </a:p>
        </p:txBody>
      </p:sp>
      <p:sp>
        <p:nvSpPr>
          <p:cNvPr id="16391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FAC9F6A-BF76-453F-A552-BD0A2A0225DF}" type="slidenum">
              <a:rPr lang="en-US" smtClean="0"/>
              <a:pPr>
                <a:defRPr/>
              </a:pPr>
              <a:t>58</a:t>
            </a:fld>
            <a:endParaRPr lang="en-US" dirty="0"/>
          </a:p>
        </p:txBody>
      </p:sp>
      <p:sp>
        <p:nvSpPr>
          <p:cNvPr id="16389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 lvl="1"/>
            <a:r>
              <a:rPr lang="en-US" altLang="en-US" smtClean="0"/>
              <a:t>First order conditions:</a:t>
            </a:r>
            <a:endParaRPr lang="en-US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3810000"/>
            <a:ext cx="8382000" cy="2362200"/>
          </a:xfrm>
        </p:spPr>
        <p:txBody>
          <a:bodyPr/>
          <a:lstStyle/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We get</a:t>
            </a:r>
            <a:r>
              <a:rPr lang="en-US" kern="0" dirty="0" smtClean="0"/>
              <a:t>:</a:t>
            </a:r>
          </a:p>
          <a:p>
            <a:pPr lvl="1" eaLnBrk="0" hangingPunct="0">
              <a:buFont typeface="Arial" charset="0"/>
              <a:buChar char="•"/>
              <a:defRPr/>
            </a:pPr>
            <a:endParaRPr lang="en-US" kern="0" dirty="0"/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This equation allows us to identify all the Pareto optimal allocations in this exchange economy</a:t>
            </a:r>
            <a:endParaRPr lang="en-US" kern="0" dirty="0">
              <a:latin typeface="Times New Roman" pitchFamily="18" charset="0"/>
              <a:cs typeface="Times New Roman" pitchFamily="18" charset="0"/>
            </a:endParaRPr>
          </a:p>
          <a:p>
            <a:pPr marL="457200" lvl="1" indent="0" eaLnBrk="0" hangingPunct="0">
              <a:buNone/>
              <a:defRPr/>
            </a:pPr>
            <a:endParaRPr lang="en-US" kern="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7" name="Object 3"/>
          <p:cNvGraphicFramePr>
            <a:graphicFrameLocks noChangeAspect="1"/>
          </p:cNvGraphicFramePr>
          <p:nvPr/>
        </p:nvGraphicFramePr>
        <p:xfrm>
          <a:off x="1568450" y="1023938"/>
          <a:ext cx="6008688" cy="2489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92" name="Equation" r:id="rId3" imgW="2514600" imgH="1041120" progId="Equation.DSMT4">
                  <p:embed/>
                </p:oleObj>
              </mc:Choice>
              <mc:Fallback>
                <p:oleObj name="Equation" r:id="rId3" imgW="2514600" imgH="1041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8450" y="1023938"/>
                        <a:ext cx="6008688" cy="2489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056029"/>
              </p:ext>
            </p:extLst>
          </p:nvPr>
        </p:nvGraphicFramePr>
        <p:xfrm>
          <a:off x="2971800" y="3810000"/>
          <a:ext cx="3521075" cy="1031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8793" name="Equation" r:id="rId5" imgW="1473120" imgH="431640" progId="Equation.DSMT4">
                  <p:embed/>
                </p:oleObj>
              </mc:Choice>
              <mc:Fallback>
                <p:oleObj name="Equation" r:id="rId5" imgW="147312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3810000"/>
                        <a:ext cx="3521075" cy="1031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85351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13.3	 A Two-Person Exchange Economy</a:t>
            </a:r>
          </a:p>
        </p:txBody>
      </p:sp>
      <p:sp>
        <p:nvSpPr>
          <p:cNvPr id="1741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67D10AF-BA8F-4E1E-B8F1-B16BDD116EC1}" type="slidenum">
              <a:rPr lang="en-US" smtClean="0"/>
              <a:pPr>
                <a:defRPr/>
              </a:pPr>
              <a:t>59</a:t>
            </a:fld>
            <a:endParaRPr lang="en-US" dirty="0"/>
          </a:p>
        </p:txBody>
      </p:sp>
      <p:sp>
        <p:nvSpPr>
          <p:cNvPr id="1741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Equilibrium price ratio</a:t>
            </a:r>
          </a:p>
          <a:p>
            <a:pPr lvl="1"/>
            <a:r>
              <a:rPr lang="en-US" altLang="en-US" smtClean="0"/>
              <a:t>We need to know the marginal rate of substitution</a:t>
            </a:r>
            <a:endParaRPr lang="en-US" altLang="en-US" smtClean="0">
              <a:cs typeface="Times New Roman" pitchFamily="18" charset="0"/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4419600"/>
            <a:ext cx="8382000" cy="1752600"/>
          </a:xfrm>
        </p:spPr>
        <p:txBody>
          <a:bodyPr/>
          <a:lstStyle/>
          <a:p>
            <a:pPr lvl="1"/>
            <a:r>
              <a:rPr lang="en-US" kern="0" dirty="0"/>
              <a:t>Therefore </a:t>
            </a:r>
            <a:r>
              <a:rPr lang="en-US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kern="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i="1" kern="0" baseline="-250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i="1" kern="0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0.8</a:t>
            </a:r>
            <a:endParaRPr lang="en-US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US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125538" y="2198688"/>
          <a:ext cx="4843462" cy="208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9805" name="Equation" r:id="rId3" imgW="2070000" imgH="888840" progId="Equation.DSMT4">
                  <p:embed/>
                </p:oleObj>
              </mc:Choice>
              <mc:Fallback>
                <p:oleObj name="Equation" r:id="rId3" imgW="2070000" imgH="8888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5538" y="2198688"/>
                        <a:ext cx="4843462" cy="2081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38293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Social Welfare Functions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Social welfare function </a:t>
            </a:r>
          </a:p>
          <a:p>
            <a:pPr lvl="1"/>
            <a:r>
              <a:rPr lang="en-US" altLang="en-US" dirty="0" smtClean="0"/>
              <a:t>Is a hypothetical scheme for ranking potential allocations of resources based on the utility they provide to individuals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Social welfare = SW[U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(x</a:t>
            </a:r>
            <a:r>
              <a:rPr lang="en-US" altLang="en-US" i="1" baseline="30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), …, U</a:t>
            </a:r>
            <a:r>
              <a:rPr lang="en-US" altLang="en-US" i="1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i="1" baseline="30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)]</a:t>
            </a:r>
          </a:p>
          <a:p>
            <a:pPr lvl="1"/>
            <a:r>
              <a:rPr lang="en-US" altLang="en-US" dirty="0" smtClean="0"/>
              <a:t>Choose allocations of goods among the m individuals in the economy in a way that maximizes </a:t>
            </a:r>
            <a:r>
              <a:rPr lang="en-US" altLang="en-US" i="1" dirty="0" smtClean="0"/>
              <a:t>SW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76EEE26-EE9E-4F83-8B7D-12BD2EBA2633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698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Social Welfare Functions</a:t>
            </a:r>
          </a:p>
        </p:txBody>
      </p:sp>
      <p:sp>
        <p:nvSpPr>
          <p:cNvPr id="1843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For the social welfare function: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6F4DAFB-08D2-4F3E-BB58-438232929895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2895600"/>
            <a:ext cx="8534400" cy="3352800"/>
          </a:xfrm>
        </p:spPr>
        <p:txBody>
          <a:bodyPr/>
          <a:lstStyle/>
          <a:p>
            <a:pPr eaLnBrk="0" hangingPunct="0">
              <a:buFontTx/>
              <a:buChar char="•"/>
              <a:defRPr/>
            </a:pPr>
            <a:r>
              <a:rPr lang="en-US" sz="3200" kern="0" dirty="0">
                <a:solidFill>
                  <a:srgbClr val="002D56"/>
                </a:solidFill>
              </a:rPr>
              <a:t>For </a:t>
            </a:r>
            <a:r>
              <a:rPr lang="en-US" sz="3200" kern="0" dirty="0">
                <a:solidFill>
                  <a:srgbClr val="002D5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R=1</a:t>
            </a:r>
            <a:r>
              <a:rPr lang="en-US" sz="3200" kern="0" dirty="0">
                <a:solidFill>
                  <a:srgbClr val="002D56"/>
                </a:solidFill>
              </a:rPr>
              <a:t>: 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SW(U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, 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,…,U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) = 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+U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3200" i="1" kern="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+…+U</a:t>
            </a:r>
            <a:r>
              <a:rPr lang="en-US" sz="3200" i="1" kern="0" baseline="-25000" dirty="0">
                <a:solidFill>
                  <a:srgbClr val="002D56"/>
                </a:solidFill>
                <a:latin typeface="Times New Roman" pitchFamily="18" charset="0"/>
                <a:cs typeface="Times New Roman" pitchFamily="18" charset="0"/>
              </a:rPr>
              <a:t>m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Utilitarian function </a:t>
            </a: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Social welfare is judged by the aggregate sum of utility with no regard for how utility  is distributed among the members of society </a:t>
            </a:r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860425" y="1676400"/>
          <a:ext cx="7091363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0829" name="Equation" r:id="rId3" imgW="3174840" imgH="419040" progId="Equation.DSMT4">
                  <p:embed/>
                </p:oleObj>
              </mc:Choice>
              <mc:Fallback>
                <p:oleObj name="Equation" r:id="rId3" imgW="3174840" imgH="419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1676400"/>
                        <a:ext cx="7091363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18040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Social Welfare Functions</a:t>
            </a:r>
          </a:p>
        </p:txBody>
      </p:sp>
      <p:sp>
        <p:nvSpPr>
          <p:cNvPr id="747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For R= - </a:t>
            </a:r>
            <a:r>
              <a:rPr lang="en-US" altLang="en-US" dirty="0" smtClean="0">
                <a:cs typeface="Arial" charset="0"/>
              </a:rPr>
              <a:t>∞:</a:t>
            </a:r>
            <a:r>
              <a:rPr lang="en-US" altLang="en-US" dirty="0" smtClean="0"/>
              <a:t> </a:t>
            </a:r>
          </a:p>
          <a:p>
            <a:pPr algn="ctr">
              <a:buFontTx/>
              <a:buNone/>
            </a:pP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SW(U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, 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,…,U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) =Min[U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, 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,…,U</a:t>
            </a:r>
            <a:r>
              <a:rPr lang="en-US" altLang="en-US" sz="3200" i="1" baseline="-25000" dirty="0" smtClean="0"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altLang="en-US" sz="3200" i="1" dirty="0" smtClean="0">
                <a:latin typeface="Times New Roman" pitchFamily="18" charset="0"/>
                <a:cs typeface="Times New Roman" pitchFamily="18" charset="0"/>
              </a:rPr>
              <a:t>]</a:t>
            </a:r>
            <a:endParaRPr lang="en-US" altLang="en-US" sz="3200" i="1" baseline="-25000" dirty="0" smtClean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altLang="en-US" dirty="0" err="1" smtClean="0"/>
              <a:t>Maximin</a:t>
            </a:r>
            <a:r>
              <a:rPr lang="en-US" altLang="en-US" dirty="0" smtClean="0"/>
              <a:t> function </a:t>
            </a:r>
          </a:p>
          <a:p>
            <a:pPr lvl="1"/>
            <a:r>
              <a:rPr lang="en-US" altLang="en-US" dirty="0" smtClean="0"/>
              <a:t>Focuses on the worse-off person in any allocation and chooses that allocation for which this person has the highest utility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D9849C9-E9F5-4534-BB6B-EA5C67520F5A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06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</a:t>
            </a:r>
            <a:r>
              <a:rPr lang="en-US" altLang="en-US" sz="3500" dirty="0" smtClean="0"/>
              <a:t>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“Goods”</a:t>
            </a:r>
          </a:p>
          <a:p>
            <a:pPr lvl="1"/>
            <a:r>
              <a:rPr lang="en-US" altLang="en-US" smtClean="0"/>
              <a:t>Includes factors of production </a:t>
            </a:r>
          </a:p>
          <a:p>
            <a:pPr lvl="2"/>
            <a:r>
              <a:rPr lang="en-US" altLang="en-US" smtClean="0"/>
              <a:t>Whose prices also will be determined within the general equilibrium model</a:t>
            </a:r>
          </a:p>
          <a:p>
            <a:r>
              <a:rPr lang="en-US" altLang="en-US" smtClean="0"/>
              <a:t>Labor supply</a:t>
            </a:r>
          </a:p>
          <a:p>
            <a:pPr lvl="1"/>
            <a:r>
              <a:rPr lang="en-US" altLang="en-US" smtClean="0"/>
              <a:t>Individuals are endowed with a certain number of potential labor hours</a:t>
            </a:r>
          </a:p>
          <a:p>
            <a:pPr lvl="2"/>
            <a:r>
              <a:rPr lang="en-US" altLang="en-US" smtClean="0"/>
              <a:t>Work or leisure</a:t>
            </a:r>
          </a:p>
          <a:p>
            <a:pPr lvl="2"/>
            <a:r>
              <a:rPr lang="en-US" altLang="en-US" smtClean="0"/>
              <a:t>Maximize utility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68502B-86B9-4395-A6B1-7B3E47168C4B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957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Firms (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/>
              <a:t> ) involved in production</a:t>
            </a:r>
          </a:p>
          <a:p>
            <a:pPr lvl="1"/>
            <a:r>
              <a:rPr lang="en-US" altLang="en-US" dirty="0" smtClean="0"/>
              <a:t>Bound by a production function</a:t>
            </a:r>
          </a:p>
          <a:p>
            <a:pPr lvl="1"/>
            <a:r>
              <a:rPr lang="en-US" altLang="en-US" dirty="0" smtClean="0"/>
              <a:t>Convention</a:t>
            </a:r>
          </a:p>
          <a:p>
            <a:pPr lvl="2"/>
            <a:r>
              <a:rPr lang="en-US" altLang="en-US" dirty="0" smtClean="0"/>
              <a:t>Outputs of the firm take a positive sign</a:t>
            </a:r>
          </a:p>
          <a:p>
            <a:pPr lvl="2"/>
            <a:r>
              <a:rPr lang="en-US" altLang="en-US" dirty="0" smtClean="0"/>
              <a:t>Inputs take a negative sign</a:t>
            </a:r>
          </a:p>
          <a:p>
            <a:pPr lvl="1"/>
            <a:r>
              <a:rPr lang="en-US" altLang="en-US" dirty="0" smtClean="0"/>
              <a:t>Each firm’s production plan</a:t>
            </a:r>
          </a:p>
          <a:p>
            <a:pPr lvl="2"/>
            <a:r>
              <a:rPr lang="en-US" altLang="en-US" dirty="0" smtClean="0"/>
              <a:t>An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en-US" sz="3000" dirty="0" smtClean="0">
                <a:latin typeface="Times New Roman" pitchFamily="18" charset="0"/>
                <a:cs typeface="Times New Roman" pitchFamily="18" charset="0"/>
              </a:rPr>
              <a:t>x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 smtClean="0"/>
              <a:t>column vector, 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baseline="30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(j = 1 . . . r), </a:t>
            </a:r>
            <a:r>
              <a:rPr lang="en-US" altLang="en-US" dirty="0" smtClean="0"/>
              <a:t>which contains both positive and negative entries</a:t>
            </a:r>
          </a:p>
          <a:p>
            <a:pPr lvl="1"/>
            <a:r>
              <a:rPr lang="en-US" altLang="en-US" dirty="0" smtClean="0"/>
              <a:t>Maximize profits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484EDC5-94AB-41BD-A851-15A1B4D58C33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3838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9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19460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Production functions </a:t>
            </a:r>
          </a:p>
          <a:p>
            <a:pPr lvl="1"/>
            <a:r>
              <a:rPr lang="en-US" altLang="en-US" smtClean="0"/>
              <a:t>Assumed to be sufficiently convex to ensure a unique profit maximum for any set of output and input prices</a:t>
            </a:r>
          </a:p>
          <a:p>
            <a:r>
              <a:rPr lang="en-US" altLang="en-US" smtClean="0"/>
              <a:t>Profits: 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000B1B5-DC72-4CDC-87DA-ECCACA31B276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2303463" y="3892550"/>
          <a:ext cx="4537075" cy="1176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1852" name="Equation" r:id="rId3" imgW="2057400" imgH="533160" progId="Equation.DSMT4">
                  <p:embed/>
                </p:oleObj>
              </mc:Choice>
              <mc:Fallback>
                <p:oleObj name="Equation" r:id="rId3" imgW="2057400" imgH="53316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463" y="3892550"/>
                        <a:ext cx="4537075" cy="1176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700737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2048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altLang="en-US" dirty="0" smtClean="0"/>
              <a:t>Each individual owns a predefined share, </a:t>
            </a:r>
            <a:r>
              <a:rPr lang="en-US" altLang="en-US" i="1" dirty="0" err="1" smtClean="0"/>
              <a:t>s</a:t>
            </a:r>
            <a:r>
              <a:rPr lang="en-US" altLang="en-US" i="1" baseline="-25000" dirty="0" err="1" smtClean="0"/>
              <a:t>i</a:t>
            </a:r>
            <a:r>
              <a:rPr lang="en-US" altLang="en-US" dirty="0" smtClean="0"/>
              <a:t>, of the profits of all firms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A94F09E-11F2-412B-A671-8D46FF48A8E6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2362200"/>
            <a:ext cx="8534400" cy="3886200"/>
          </a:xfrm>
        </p:spPr>
        <p:txBody>
          <a:bodyPr/>
          <a:lstStyle/>
          <a:p>
            <a:pPr lvl="1"/>
            <a:r>
              <a:rPr lang="en-US" kern="0" dirty="0"/>
              <a:t>Each individual’s budget </a:t>
            </a:r>
            <a:r>
              <a:rPr lang="en-US" kern="0" dirty="0" smtClean="0"/>
              <a:t>constraint</a:t>
            </a:r>
            <a:r>
              <a:rPr lang="en-US" dirty="0" smtClean="0"/>
              <a:t>:</a:t>
            </a:r>
            <a:endParaRPr lang="en-US" kern="0" dirty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8893055"/>
              </p:ext>
            </p:extLst>
          </p:nvPr>
        </p:nvGraphicFramePr>
        <p:xfrm>
          <a:off x="5029200" y="1524000"/>
          <a:ext cx="117633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6" name="Equation" r:id="rId3" imgW="533160" imgH="431640" progId="Equation.DSMT4">
                  <p:embed/>
                </p:oleObj>
              </mc:Choice>
              <mc:Fallback>
                <p:oleObj name="Equation" r:id="rId3" imgW="53316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9200" y="1524000"/>
                        <a:ext cx="117633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01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808652"/>
              </p:ext>
            </p:extLst>
          </p:nvPr>
        </p:nvGraphicFramePr>
        <p:xfrm>
          <a:off x="927100" y="2924175"/>
          <a:ext cx="7988300" cy="3186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2887" name="Equation" r:id="rId5" imgW="3504960" imgH="1396800" progId="Equation.DSMT4">
                  <p:embed/>
                </p:oleObj>
              </mc:Choice>
              <mc:Fallback>
                <p:oleObj name="Equation" r:id="rId5" imgW="3504960" imgH="1396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7100" y="2924175"/>
                        <a:ext cx="7988300" cy="3186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41114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8" name="Title 1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2150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 smtClean="0"/>
              <a:t>Walrasian</a:t>
            </a:r>
            <a:r>
              <a:rPr lang="en-US" altLang="en-US" dirty="0" smtClean="0"/>
              <a:t> equilibrium price vector (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p*</a:t>
            </a:r>
            <a:r>
              <a:rPr lang="en-US" altLang="en-US" dirty="0" smtClean="0"/>
              <a:t>)</a:t>
            </a:r>
          </a:p>
          <a:p>
            <a:pPr lvl="1"/>
            <a:r>
              <a:rPr lang="en-US" altLang="en-US" dirty="0" smtClean="0"/>
              <a:t>A set of prices at which demand equals supply in all markets simultaneously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B86D17C-0BF4-4BC6-9FE5-7A26EA4433BC}" type="slidenum">
              <a:rPr lang="en-US" smtClean="0"/>
              <a:pPr>
                <a:defRPr/>
              </a:pPr>
              <a:t>67</a:t>
            </a:fld>
            <a:endParaRPr lang="en-US"/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>
          <a:xfrm>
            <a:off x="381000" y="3505200"/>
            <a:ext cx="8534400" cy="2743200"/>
          </a:xfrm>
        </p:spPr>
        <p:txBody>
          <a:bodyPr>
            <a:normAutofit lnSpcReduction="10000"/>
          </a:bodyPr>
          <a:lstStyle/>
          <a:p>
            <a:pPr eaLnBrk="0" hangingPunct="0">
              <a:buFontTx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Excess demand </a:t>
            </a:r>
            <a:r>
              <a:rPr lang="en-US" kern="0" dirty="0" smtClean="0">
                <a:solidFill>
                  <a:srgbClr val="002D56"/>
                </a:solidFill>
              </a:rPr>
              <a:t>functions</a:t>
            </a:r>
          </a:p>
          <a:p>
            <a:pPr eaLnBrk="0" hangingPunct="0">
              <a:buFontTx/>
              <a:buChar char="•"/>
              <a:defRPr/>
            </a:pPr>
            <a:endParaRPr lang="en-US" kern="0" dirty="0">
              <a:solidFill>
                <a:srgbClr val="000099"/>
              </a:solidFill>
            </a:endParaRPr>
          </a:p>
          <a:p>
            <a:pPr lvl="1" eaLnBrk="0" hangingPunct="0">
              <a:buFont typeface="Arial" charset="0"/>
              <a:buChar char="–"/>
              <a:defRPr/>
            </a:pPr>
            <a:r>
              <a:rPr lang="en-US" kern="0" dirty="0"/>
              <a:t>Are homogeneous of degree 0 in prices</a:t>
            </a:r>
          </a:p>
          <a:p>
            <a:pPr lvl="2" eaLnBrk="0" hangingPunct="0">
              <a:buSzPct val="90000"/>
              <a:buFontTx/>
              <a:buChar char="•"/>
              <a:defRPr/>
            </a:pPr>
            <a:r>
              <a:rPr lang="en-US" kern="0" dirty="0"/>
              <a:t>Any price vector for which 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z(p*) = 0 </a:t>
            </a:r>
            <a:r>
              <a:rPr lang="en-US" kern="0" dirty="0"/>
              <a:t>will also have the property that 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z(</a:t>
            </a:r>
            <a:r>
              <a:rPr lang="en-US" i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tp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*) = 0 </a:t>
            </a:r>
            <a:r>
              <a:rPr lang="en-US" kern="0" dirty="0"/>
              <a:t>and </a:t>
            </a:r>
            <a:r>
              <a:rPr lang="en-US" i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 &gt; </a:t>
            </a:r>
            <a:r>
              <a:rPr lang="en-US" i="1" kern="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en-US" i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1138" name="Object 2"/>
          <p:cNvGraphicFramePr>
            <a:graphicFrameLocks noChangeAspect="1"/>
          </p:cNvGraphicFramePr>
          <p:nvPr/>
        </p:nvGraphicFramePr>
        <p:xfrm>
          <a:off x="1479550" y="2808288"/>
          <a:ext cx="315595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910" name="Equation" r:id="rId3" imgW="1143000" imgH="203040" progId="Equation.DSMT4">
                  <p:embed/>
                </p:oleObj>
              </mc:Choice>
              <mc:Fallback>
                <p:oleObj name="Equation" r:id="rId3" imgW="114300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9550" y="2808288"/>
                        <a:ext cx="315595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1139" name="Object 3"/>
          <p:cNvGraphicFramePr>
            <a:graphicFrameLocks noChangeAspect="1"/>
          </p:cNvGraphicFramePr>
          <p:nvPr/>
        </p:nvGraphicFramePr>
        <p:xfrm>
          <a:off x="1284288" y="4013200"/>
          <a:ext cx="4875212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3911" name="Equation" r:id="rId5" imgW="1765080" imgH="253800" progId="Equation.DSMT4">
                  <p:embed/>
                </p:oleObj>
              </mc:Choice>
              <mc:Fallback>
                <p:oleObj name="Equation" r:id="rId5" imgW="176508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4288" y="4013200"/>
                        <a:ext cx="4875212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38361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4"/>
          <p:cNvSpPr>
            <a:spLocks noGrp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A Mathematical Model </a:t>
            </a:r>
            <a:r>
              <a:rPr lang="en-US" altLang="en-US" sz="3500" dirty="0" smtClean="0"/>
              <a:t>of Production </a:t>
            </a:r>
            <a:r>
              <a:rPr lang="en-US" altLang="en-US" sz="3500" dirty="0" smtClean="0"/>
              <a:t>and Exchange</a:t>
            </a:r>
          </a:p>
        </p:txBody>
      </p:sp>
      <p:sp>
        <p:nvSpPr>
          <p:cNvPr id="77827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Welfare economics in the Walrasian model with production</a:t>
            </a:r>
          </a:p>
          <a:p>
            <a:pPr lvl="1"/>
            <a:r>
              <a:rPr lang="en-US" altLang="en-US" smtClean="0"/>
              <a:t>Feasible allocations of resources</a:t>
            </a:r>
          </a:p>
          <a:p>
            <a:pPr lvl="2"/>
            <a:r>
              <a:rPr lang="en-US" altLang="en-US" smtClean="0"/>
              <a:t>Any point on the production possibility frontier</a:t>
            </a:r>
          </a:p>
          <a:p>
            <a:pPr lvl="1"/>
            <a:r>
              <a:rPr lang="en-US" altLang="en-US" smtClean="0"/>
              <a:t>The first theorem of welfare economics continues to hold</a:t>
            </a:r>
          </a:p>
          <a:p>
            <a:pPr lvl="2"/>
            <a:r>
              <a:rPr lang="en-US" altLang="en-US" smtClean="0"/>
              <a:t>The general social welfare implications - are far from clear</a:t>
            </a:r>
          </a:p>
        </p:txBody>
      </p:sp>
      <p:sp>
        <p:nvSpPr>
          <p:cNvPr id="77829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3A7EF1-7FB2-4388-9C26-F592E5F38F32}" type="slidenum">
              <a:rPr lang="en-US" smtClean="0"/>
              <a:pPr>
                <a:defRPr/>
              </a:pPr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876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90600"/>
            <a:ext cx="57150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850" name="Title 1"/>
          <p:cNvSpPr>
            <a:spLocks noGrp="1"/>
          </p:cNvSpPr>
          <p:nvPr>
            <p:ph type="title"/>
          </p:nvPr>
        </p:nvSpPr>
        <p:spPr bwMode="auto">
          <a:xfrm>
            <a:off x="1143000" y="0"/>
            <a:ext cx="8001000" cy="1066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/>
              <a:t>13.10	Production Increases the Number of </a:t>
            </a:r>
            <a:r>
              <a:rPr lang="en-US" altLang="en-US" dirty="0" smtClean="0"/>
              <a:t/>
            </a:r>
            <a:br>
              <a:rPr lang="en-US" altLang="en-US" dirty="0" smtClean="0"/>
            </a:br>
            <a:r>
              <a:rPr lang="en-US" altLang="en-US" dirty="0"/>
              <a:t>	</a:t>
            </a:r>
            <a:r>
              <a:rPr lang="en-US" altLang="en-US" dirty="0" smtClean="0">
                <a:solidFill>
                  <a:srgbClr val="002D56"/>
                </a:solidFill>
              </a:rPr>
              <a:t>Feasible Allocations</a:t>
            </a:r>
            <a:endParaRPr lang="en-US" altLang="en-US" dirty="0" smtClean="0">
              <a:solidFill>
                <a:srgbClr val="002D56"/>
              </a:solidFill>
            </a:endParaRPr>
          </a:p>
        </p:txBody>
      </p:sp>
      <p:sp>
        <p:nvSpPr>
          <p:cNvPr id="78851" name="Text Placeholder 2"/>
          <p:cNvSpPr>
            <a:spLocks noGrp="1"/>
          </p:cNvSpPr>
          <p:nvPr>
            <p:ph sz="half" idx="1"/>
          </p:nvPr>
        </p:nvSpPr>
        <p:spPr>
          <a:xfrm>
            <a:off x="5715000" y="1600201"/>
            <a:ext cx="3200400" cy="2209800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altLang="en-US" dirty="0"/>
              <a:t>Any point on the production possibility frontier PP can serve as the dimensions of an Edgeworth exchange box.</a:t>
            </a:r>
          </a:p>
          <a:p>
            <a:pPr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8854" name="Footer Placeholder 5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1A18174-9E53-4FC0-B35B-4D1695420F33}" type="slidenum">
              <a:rPr lang="en-US" smtClean="0"/>
              <a:pPr>
                <a:defRPr/>
              </a:pPr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387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8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851" grpId="0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smtClean="0"/>
              <a:t>Computable General Equilibrium Models</a:t>
            </a:r>
          </a:p>
        </p:txBody>
      </p:sp>
      <p:sp>
        <p:nvSpPr>
          <p:cNvPr id="79875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Two advances - rapid development of general equilibrium models in recent years</a:t>
            </a:r>
          </a:p>
          <a:p>
            <a:pPr lvl="1"/>
            <a:r>
              <a:rPr lang="en-US" altLang="en-US" smtClean="0"/>
              <a:t>The theory has been generalized to include many features of real-world economies</a:t>
            </a:r>
          </a:p>
          <a:p>
            <a:pPr lvl="1"/>
            <a:r>
              <a:rPr lang="en-US" altLang="en-US" smtClean="0"/>
              <a:t>Expanding computer capacity has made it possible to study more complex models</a:t>
            </a:r>
          </a:p>
          <a:p>
            <a:endParaRPr lang="en-US" altLang="en-US" smtClean="0"/>
          </a:p>
        </p:txBody>
      </p:sp>
      <p:sp>
        <p:nvSpPr>
          <p:cNvPr id="79877" name="Footer Placeholder 2"/>
          <p:cNvSpPr>
            <a:spLocks noGrp="1"/>
          </p:cNvSpPr>
          <p:nvPr>
            <p:ph type="ftr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EC6C0A3-EA73-4D96-87CF-0522CB172CBF}" type="slidenum">
              <a:rPr lang="en-US" smtClean="0"/>
              <a:pPr>
                <a:defRPr/>
              </a:pPr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6208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Structure of General Equilibrium Models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Specification of general equilibrium models </a:t>
            </a:r>
          </a:p>
          <a:p>
            <a:pPr lvl="1"/>
            <a:r>
              <a:rPr lang="en-US" altLang="en-US" smtClean="0"/>
              <a:t>Starts by defining the number of goods to be included in the model</a:t>
            </a:r>
          </a:p>
          <a:p>
            <a:pPr lvl="1"/>
            <a:r>
              <a:rPr lang="en-US" altLang="en-US" smtClean="0"/>
              <a:t>The goal of the model:</a:t>
            </a:r>
          </a:p>
          <a:p>
            <a:pPr lvl="2"/>
            <a:r>
              <a:rPr lang="en-US" altLang="en-US" smtClean="0"/>
              <a:t>To solve for the equilibrium prices for these goods and how they may change when conditions change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73162C4-7087-429E-BF36-6917EA5CF5B3}" type="slidenum">
              <a:rPr lang="en-US" smtClean="0"/>
              <a:pPr>
                <a:defRPr/>
              </a:pPr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662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smtClean="0"/>
              <a:t>Structure of General Equilibrium Models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 technology of firms </a:t>
            </a:r>
          </a:p>
          <a:p>
            <a:pPr lvl="1"/>
            <a:r>
              <a:rPr lang="en-US" altLang="en-US" smtClean="0"/>
              <a:t>Specified by production functions</a:t>
            </a:r>
          </a:p>
          <a:p>
            <a:r>
              <a:rPr lang="en-US" altLang="en-US" smtClean="0"/>
              <a:t>Demand </a:t>
            </a:r>
          </a:p>
          <a:p>
            <a:pPr lvl="1"/>
            <a:r>
              <a:rPr lang="en-US" altLang="en-US" smtClean="0"/>
              <a:t>Specified by defining utility functions for various households</a:t>
            </a:r>
          </a:p>
          <a:p>
            <a:r>
              <a:rPr lang="en-US" altLang="en-US" smtClean="0"/>
              <a:t>The model </a:t>
            </a:r>
          </a:p>
          <a:p>
            <a:pPr lvl="1"/>
            <a:r>
              <a:rPr lang="en-US" altLang="en-US" smtClean="0"/>
              <a:t>Must also specify how the government operates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06D257B7-946D-44D5-8843-44C819814737}" type="slidenum">
              <a:rPr lang="en-US" smtClean="0"/>
              <a:pPr>
                <a:defRPr/>
              </a:pPr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718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Solving General Equilibrium Models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Model - solved for equilibrium prices and quantities</a:t>
            </a:r>
          </a:p>
          <a:p>
            <a:pPr lvl="1"/>
            <a:r>
              <a:rPr lang="en-US" altLang="en-US" smtClean="0"/>
              <a:t>Finding the solution may be difficult</a:t>
            </a:r>
          </a:p>
          <a:p>
            <a:pPr lvl="1"/>
            <a:r>
              <a:rPr lang="en-US" altLang="en-US" smtClean="0"/>
              <a:t>Models are generally solved on a computer using an algorithm developed by Scarf in the 1970s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ED8DD5F-38D7-4FFE-868D-FAA5EDE4A5D6}" type="slidenum">
              <a:rPr lang="en-US" smtClean="0"/>
              <a:pPr>
                <a:defRPr/>
              </a:pPr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910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Economic Insights from </a:t>
            </a:r>
            <a:r>
              <a:rPr lang="en-US" altLang="en-US" sz="3500" dirty="0" smtClean="0"/>
              <a:t>General </a:t>
            </a:r>
            <a:r>
              <a:rPr lang="en-US" altLang="en-US" sz="3500" dirty="0" smtClean="0"/>
              <a:t>Equilibrium Models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All prices are endogenous in economic models</a:t>
            </a:r>
          </a:p>
          <a:p>
            <a:pPr lvl="1"/>
            <a:r>
              <a:rPr lang="en-US" altLang="en-US" smtClean="0"/>
              <a:t>Exogenous elements are preferences and productive technologies</a:t>
            </a:r>
          </a:p>
          <a:p>
            <a:r>
              <a:rPr lang="en-US" altLang="en-US" smtClean="0"/>
              <a:t>All firms and productive inputs are owned by households</a:t>
            </a:r>
          </a:p>
          <a:p>
            <a:pPr lvl="1"/>
            <a:r>
              <a:rPr lang="en-US" altLang="en-US" smtClean="0"/>
              <a:t>All income ultimately accrues to households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E3246D2-A110-4253-BA5D-6959576554C2}" type="slidenum">
              <a:rPr lang="en-US" smtClean="0"/>
              <a:pPr>
                <a:defRPr/>
              </a:pPr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80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Economic Insights from </a:t>
            </a:r>
            <a:r>
              <a:rPr lang="en-US" altLang="en-US" sz="3500" dirty="0" smtClean="0"/>
              <a:t> General </a:t>
            </a:r>
            <a:r>
              <a:rPr lang="en-US" altLang="en-US" sz="3500" dirty="0" smtClean="0"/>
              <a:t>Equilibrium Models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Any model with a government sector </a:t>
            </a:r>
          </a:p>
          <a:p>
            <a:pPr lvl="1"/>
            <a:r>
              <a:rPr lang="en-US" altLang="en-US" smtClean="0"/>
              <a:t>Is incomplete if it does not specify how tax receipts are used</a:t>
            </a:r>
          </a:p>
          <a:p>
            <a:r>
              <a:rPr lang="en-US" altLang="en-US" smtClean="0"/>
              <a:t>The “bottom line” in any policy evaluation</a:t>
            </a:r>
          </a:p>
          <a:p>
            <a:pPr lvl="1"/>
            <a:r>
              <a:rPr lang="en-US" altLang="en-US" smtClean="0"/>
              <a:t>Is the utility of households</a:t>
            </a:r>
          </a:p>
          <a:p>
            <a:pPr lvl="1"/>
            <a:r>
              <a:rPr lang="en-US" altLang="en-US" smtClean="0"/>
              <a:t>Firms and governments are only intermediaries in this accounting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B2563AE3-76B8-4E6C-BA3A-D14DC2EA2667}" type="slidenum">
              <a:rPr lang="en-US" smtClean="0"/>
              <a:pPr>
                <a:defRPr/>
              </a:pPr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138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0"/>
            <a:ext cx="8839200" cy="990600"/>
          </a:xfrm>
        </p:spPr>
        <p:txBody>
          <a:bodyPr>
            <a:noAutofit/>
          </a:bodyPr>
          <a:lstStyle/>
          <a:p>
            <a:r>
              <a:rPr lang="en-US" altLang="en-US" sz="3500" dirty="0" smtClean="0"/>
              <a:t>Economic Insights from </a:t>
            </a:r>
            <a:r>
              <a:rPr lang="en-US" altLang="en-US" sz="3500" dirty="0" smtClean="0"/>
              <a:t> General </a:t>
            </a:r>
            <a:r>
              <a:rPr lang="en-US" altLang="en-US" sz="3500" dirty="0" smtClean="0"/>
              <a:t>Equilibrium Models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All taxes distort economic decisions along some dimension</a:t>
            </a:r>
          </a:p>
          <a:p>
            <a:pPr lvl="1"/>
            <a:r>
              <a:rPr lang="en-US" altLang="en-US" smtClean="0"/>
              <a:t>The welfare costs of the distortions must be weighed against the benefits of such taxes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85949A9C-8763-4A8A-BCED-2C098D78069A}" type="slidenum">
              <a:rPr lang="en-US" smtClean="0"/>
              <a:pPr>
                <a:defRPr/>
              </a:pPr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053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13.4 	A Simple General Equilibrium Model</a:t>
            </a:r>
          </a:p>
        </p:txBody>
      </p:sp>
      <p:sp>
        <p:nvSpPr>
          <p:cNvPr id="22534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6B8C118D-CDD6-45A5-B27B-B7317FA9E222}" type="slidenum">
              <a:rPr lang="en-US" smtClean="0"/>
              <a:pPr>
                <a:defRPr/>
              </a:pPr>
              <a:t>77</a:t>
            </a:fld>
            <a:endParaRPr lang="en-US" dirty="0"/>
          </a:p>
        </p:txBody>
      </p:sp>
      <p:sp>
        <p:nvSpPr>
          <p:cNvPr id="22532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Assume: </a:t>
            </a:r>
          </a:p>
          <a:p>
            <a:pPr lvl="1"/>
            <a:r>
              <a:rPr lang="en-US" altLang="en-US" dirty="0" smtClean="0"/>
              <a:t>Two households, two consumer goods (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/>
              <a:t>), and two inputs (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dirty="0" smtClean="0"/>
              <a:t>)</a:t>
            </a:r>
          </a:p>
          <a:p>
            <a:r>
              <a:rPr lang="en-US" altLang="en-US" dirty="0" smtClean="0"/>
              <a:t>Households</a:t>
            </a:r>
          </a:p>
          <a:p>
            <a:pPr lvl="1"/>
            <a:r>
              <a:rPr lang="en-US" altLang="en-US" dirty="0" smtClean="0"/>
              <a:t>Each has an endowment of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dirty="0" smtClean="0"/>
              <a:t> and </a:t>
            </a:r>
            <a:r>
              <a:rPr lang="en-US" altLang="en-US" i="1" dirty="0" smtClean="0">
                <a:latin typeface="Times New Roman" pitchFamily="18" charset="0"/>
                <a:cs typeface="Times New Roman" pitchFamily="18" charset="0"/>
              </a:rPr>
              <a:t>l</a:t>
            </a:r>
            <a:endParaRPr lang="en-US" altLang="en-US" dirty="0" smtClean="0">
              <a:cs typeface="Arial" charset="0"/>
            </a:endParaRPr>
          </a:p>
          <a:p>
            <a:pPr lvl="1"/>
            <a:r>
              <a:rPr lang="en-US" altLang="en-US" dirty="0" smtClean="0">
                <a:cs typeface="Arial" charset="0"/>
              </a:rPr>
              <a:t>Obtain utility from consuming 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y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dirty="0" smtClean="0">
                <a:cs typeface="Arial" charset="0"/>
              </a:rPr>
              <a:t>and leisure (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itchFamily="18" charset="0"/>
              </a:rPr>
              <a:t>l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>
                <a:cs typeface="Arial" charset="0"/>
              </a:rPr>
              <a:t>)</a:t>
            </a:r>
            <a:endParaRPr lang="en-US" altLang="en-US" dirty="0" smtClean="0"/>
          </a:p>
          <a:p>
            <a:pPr lvl="1"/>
            <a:r>
              <a:rPr lang="en-US" altLang="en-US" dirty="0" smtClean="0"/>
              <a:t>Simple Cobb-Douglas utility functions</a:t>
            </a:r>
          </a:p>
          <a:p>
            <a:pPr>
              <a:buFont typeface="Arial" charset="0"/>
              <a:buNone/>
            </a:pPr>
            <a:endParaRPr lang="en-US" altLang="en-US" dirty="0" smtClean="0"/>
          </a:p>
          <a:p>
            <a:endParaRPr lang="en-US" altLang="en-US" dirty="0" smtClean="0"/>
          </a:p>
        </p:txBody>
      </p:sp>
      <p:graphicFrame>
        <p:nvGraphicFramePr>
          <p:cNvPr id="6" name="Object 2"/>
          <p:cNvGraphicFramePr>
            <a:graphicFrameLocks noChangeAspect="1"/>
          </p:cNvGraphicFramePr>
          <p:nvPr/>
        </p:nvGraphicFramePr>
        <p:xfrm>
          <a:off x="1831975" y="4348163"/>
          <a:ext cx="5480050" cy="668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4925" name="Equation" r:id="rId3" imgW="2082600" imgH="253800" progId="Equation.DSMT4">
                  <p:embed/>
                </p:oleObj>
              </mc:Choice>
              <mc:Fallback>
                <p:oleObj name="Equation" r:id="rId3" imgW="208260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1975" y="4348163"/>
                        <a:ext cx="5480050" cy="668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04508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13.4 	A Simple General Equilibrium Model</a:t>
            </a:r>
          </a:p>
        </p:txBody>
      </p:sp>
      <p:sp>
        <p:nvSpPr>
          <p:cNvPr id="2355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ED556D09-A936-4C3E-B930-2469B5FA9ECE}" type="slidenum">
              <a:rPr lang="en-US" smtClean="0"/>
              <a:pPr>
                <a:defRPr/>
              </a:pPr>
              <a:t>78</a:t>
            </a:fld>
            <a:endParaRPr lang="en-US" dirty="0"/>
          </a:p>
        </p:txBody>
      </p:sp>
      <p:sp>
        <p:nvSpPr>
          <p:cNvPr id="2355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smtClean="0"/>
              <a:t>Production of </a:t>
            </a:r>
            <a:r>
              <a:rPr lang="en-US" altLang="en-US" i="1" smtClean="0"/>
              <a:t>x</a:t>
            </a:r>
            <a:r>
              <a:rPr lang="en-US" altLang="en-US" smtClean="0"/>
              <a:t> and </a:t>
            </a:r>
            <a:r>
              <a:rPr lang="en-US" altLang="en-US" i="1" smtClean="0"/>
              <a:t>y  </a:t>
            </a:r>
          </a:p>
          <a:p>
            <a:pPr lvl="1"/>
            <a:r>
              <a:rPr lang="en-US" altLang="en-US" smtClean="0"/>
              <a:t>Cobb-Douglas technologies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381000" y="2057400"/>
            <a:ext cx="8382000" cy="4114800"/>
          </a:xfrm>
        </p:spPr>
        <p:txBody>
          <a:bodyPr/>
          <a:lstStyle/>
          <a:p>
            <a:pPr eaLnBrk="0" hangingPunct="0">
              <a:buFont typeface="Arial" charset="0"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Initial </a:t>
            </a:r>
            <a:r>
              <a:rPr lang="en-US" kern="0" dirty="0" smtClean="0">
                <a:solidFill>
                  <a:srgbClr val="002D56"/>
                </a:solidFill>
              </a:rPr>
              <a:t>endowments</a:t>
            </a:r>
          </a:p>
          <a:p>
            <a:pPr eaLnBrk="0" hangingPunct="0">
              <a:buFont typeface="Arial" charset="0"/>
              <a:buChar char="•"/>
              <a:defRPr/>
            </a:pPr>
            <a:endParaRPr lang="en-US" kern="0" dirty="0" smtClean="0">
              <a:solidFill>
                <a:srgbClr val="002D56"/>
              </a:solidFill>
            </a:endParaRPr>
          </a:p>
          <a:p>
            <a:pPr eaLnBrk="0" hangingPunct="0">
              <a:buFont typeface="Arial" charset="0"/>
              <a:buChar char="•"/>
              <a:defRPr/>
            </a:pPr>
            <a:endParaRPr lang="en-US" sz="2800" kern="0" dirty="0">
              <a:solidFill>
                <a:srgbClr val="002D56"/>
              </a:solidFill>
            </a:endParaRPr>
          </a:p>
          <a:p>
            <a:pPr eaLnBrk="0" hangingPunct="0">
              <a:buFont typeface="Arial" charset="0"/>
              <a:buChar char="•"/>
              <a:defRPr/>
            </a:pPr>
            <a:r>
              <a:rPr lang="en-US" kern="0" dirty="0">
                <a:solidFill>
                  <a:srgbClr val="002D56"/>
                </a:solidFill>
              </a:rPr>
              <a:t>Model without government</a:t>
            </a:r>
          </a:p>
          <a:p>
            <a:pPr lvl="1" eaLnBrk="0" hangingPunct="0">
              <a:buFont typeface="Arial" charset="0"/>
              <a:buChar char="•"/>
              <a:defRPr/>
            </a:pPr>
            <a:r>
              <a:rPr lang="en-US" kern="0" dirty="0"/>
              <a:t>Solution will be four equilibrium prices</a:t>
            </a:r>
          </a:p>
          <a:p>
            <a:endParaRPr lang="en-US" dirty="0"/>
          </a:p>
        </p:txBody>
      </p:sp>
      <p:graphicFrame>
        <p:nvGraphicFramePr>
          <p:cNvPr id="9" name="Object 3"/>
          <p:cNvGraphicFramePr>
            <a:graphicFrameLocks noChangeAspect="1"/>
          </p:cNvGraphicFramePr>
          <p:nvPr/>
        </p:nvGraphicFramePr>
        <p:xfrm>
          <a:off x="2200275" y="1593850"/>
          <a:ext cx="4116388" cy="704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60" name="Equation" r:id="rId3" imgW="1485720" imgH="253800" progId="Equation.DSMT4">
                  <p:embed/>
                </p:oleObj>
              </mc:Choice>
              <mc:Fallback>
                <p:oleObj name="Equation" r:id="rId3" imgW="1485720" imgH="253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0275" y="1593850"/>
                        <a:ext cx="4116388" cy="704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2" name="Object 4"/>
          <p:cNvGraphicFramePr>
            <a:graphicFrameLocks noChangeAspect="1"/>
          </p:cNvGraphicFramePr>
          <p:nvPr/>
        </p:nvGraphicFramePr>
        <p:xfrm>
          <a:off x="3067050" y="2671763"/>
          <a:ext cx="3009900" cy="1146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5961" name="Equation" r:id="rId5" imgW="1269720" imgH="482400" progId="Equation.DSMT4">
                  <p:embed/>
                </p:oleObj>
              </mc:Choice>
              <mc:Fallback>
                <p:oleObj name="Equation" r:id="rId5" imgW="126972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7050" y="2671763"/>
                        <a:ext cx="3009900" cy="1146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154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9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 smtClean="0"/>
              <a:t>13.4 	A Simple General Equilibrium Model</a:t>
            </a:r>
          </a:p>
        </p:txBody>
      </p:sp>
      <p:sp>
        <p:nvSpPr>
          <p:cNvPr id="87045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7B1BE1BF-B4DE-4914-87E3-9B6E8AAA3C72}" type="slidenum">
              <a:rPr lang="en-US" smtClean="0"/>
              <a:pPr>
                <a:defRPr/>
              </a:pPr>
              <a:t>79</a:t>
            </a:fld>
            <a:endParaRPr lang="en-US" dirty="0"/>
          </a:p>
        </p:txBody>
      </p:sp>
      <p:sp>
        <p:nvSpPr>
          <p:cNvPr id="87043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Price normalization scheme</a:t>
            </a:r>
          </a:p>
          <a:p>
            <a:pPr algn="ctr">
              <a:lnSpc>
                <a:spcPct val="150000"/>
              </a:lnSpc>
              <a:buFontTx/>
              <a:buNone/>
            </a:pPr>
            <a:r>
              <a:rPr lang="en-US" alt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800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800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r>
              <a:rPr lang="en-US" altLang="en-US" dirty="0" smtClean="0"/>
              <a:t>Solving for these prices yields</a:t>
            </a:r>
          </a:p>
          <a:p>
            <a:pPr lvl="1" algn="ctr">
              <a:lnSpc>
                <a:spcPct val="150000"/>
              </a:lnSpc>
              <a:buFont typeface="Arial" charset="0"/>
              <a:buNone/>
            </a:pP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0.363;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0.253;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0.136;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0.248</a:t>
            </a:r>
          </a:p>
          <a:p>
            <a:r>
              <a:rPr lang="en-US" altLang="en-US" dirty="0" smtClean="0"/>
              <a:t>Total production: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23.7; </a:t>
            </a:r>
            <a:r>
              <a:rPr lang="en-US" altLang="en-US" sz="2800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8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25.1</a:t>
            </a:r>
          </a:p>
          <a:p>
            <a:r>
              <a:rPr lang="en-US" altLang="en-US" dirty="0" smtClean="0"/>
              <a:t>Utility-maximizing choices for household 1: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15.7;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9.2;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13.5</a:t>
            </a:r>
          </a:p>
          <a:p>
            <a:r>
              <a:rPr lang="en-US" altLang="en-US" dirty="0" smtClean="0"/>
              <a:t>Utility-maximizing choices for household 2: 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8.1;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11.6;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5.9;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8.75</a:t>
            </a:r>
            <a:endParaRPr lang="en-US" altLang="en-US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56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13.5	 The Excess Burden of a Tax</a:t>
            </a:r>
          </a:p>
        </p:txBody>
      </p:sp>
      <p:sp>
        <p:nvSpPr>
          <p:cNvPr id="88069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F7C3216A-ADC6-4CF1-9BEE-578FB671E8A8}" type="slidenum">
              <a:rPr lang="en-US" smtClean="0"/>
              <a:pPr>
                <a:defRPr/>
              </a:pPr>
              <a:t>80</a:t>
            </a:fld>
            <a:endParaRPr lang="en-US" dirty="0"/>
          </a:p>
        </p:txBody>
      </p:sp>
      <p:sp>
        <p:nvSpPr>
          <p:cNvPr id="88067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The government </a:t>
            </a:r>
          </a:p>
          <a:p>
            <a:pPr lvl="1"/>
            <a:r>
              <a:rPr lang="en-US" altLang="en-US" dirty="0" smtClean="0"/>
              <a:t>Imposes an ad valorem tax of 0.4 on good x</a:t>
            </a:r>
          </a:p>
          <a:p>
            <a:pPr lvl="2"/>
            <a:r>
              <a:rPr lang="en-US" altLang="en-US" dirty="0" smtClean="0"/>
              <a:t>Wedge between what demanders pay for this good 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 (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lvl="2"/>
            <a:r>
              <a:rPr lang="en-US" altLang="en-US" dirty="0" smtClean="0"/>
              <a:t>And what suppliers receive for the good </a:t>
            </a:r>
            <a:endParaRPr lang="en-US" altLang="en-US" dirty="0" smtClean="0"/>
          </a:p>
          <a:p>
            <a:pPr marL="914400" lvl="2" indent="0">
              <a:buNone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p’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(1 – t)</a:t>
            </a:r>
            <a:r>
              <a:rPr lang="en-US" altLang="en-US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0.6p</a:t>
            </a:r>
            <a:r>
              <a:rPr lang="en-US" altLang="en-US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r>
              <a:rPr lang="en-US" altLang="en-US" dirty="0" smtClean="0"/>
              <a:t>Revenues generated by this tax</a:t>
            </a:r>
          </a:p>
          <a:p>
            <a:pPr lvl="1"/>
            <a:r>
              <a:rPr lang="en-US" altLang="en-US" dirty="0" smtClean="0"/>
              <a:t>Rebated to the households in a 50–50 split</a:t>
            </a:r>
          </a:p>
          <a:p>
            <a:r>
              <a:rPr lang="en-US" altLang="en-US" dirty="0" smtClean="0"/>
              <a:t>New equilibrium prices</a:t>
            </a:r>
          </a:p>
          <a:p>
            <a:pPr lvl="1" algn="ctr">
              <a:lnSpc>
                <a:spcPct val="150000"/>
              </a:lnSpc>
              <a:buFont typeface="Arial" charset="0"/>
              <a:buNone/>
            </a:pP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0.472;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0.218;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0.121;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0.188</a:t>
            </a:r>
          </a:p>
          <a:p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32963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r>
              <a:rPr lang="en-US" altLang="en-US" dirty="0" smtClean="0"/>
              <a:t>13.5	 The Excess Burden of a Tax</a:t>
            </a:r>
          </a:p>
        </p:txBody>
      </p:sp>
      <p:sp>
        <p:nvSpPr>
          <p:cNvPr id="89093" name="Footer Placeholder 4"/>
          <p:cNvSpPr>
            <a:spLocks noGrp="1"/>
          </p:cNvSpPr>
          <p:nvPr>
            <p:ph type="ftr" sz="quarter" idx="10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altLang="en-US" sz="1100" dirty="0" smtClean="0">
                <a:latin typeface="+mn-lt"/>
              </a:rPr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 altLang="en-US" sz="1100" dirty="0" smtClean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140C7B5E-D33A-4710-B548-1D23203340A8}" type="slidenum">
              <a:rPr lang="en-US" smtClean="0"/>
              <a:pPr>
                <a:defRPr/>
              </a:pPr>
              <a:t>81</a:t>
            </a:fld>
            <a:endParaRPr lang="en-US" dirty="0"/>
          </a:p>
        </p:txBody>
      </p:sp>
      <p:sp>
        <p:nvSpPr>
          <p:cNvPr id="89091" name="Content Placeholder 2"/>
          <p:cNvSpPr>
            <a:spLocks noGrp="1"/>
          </p:cNvSpPr>
          <p:nvPr>
            <p:ph type="body" sz="quarter" idx="12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 smtClean="0"/>
              <a:t>Total production: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17.9;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28.8</a:t>
            </a:r>
          </a:p>
          <a:p>
            <a:pPr lvl="1"/>
            <a:r>
              <a:rPr lang="en-US" altLang="en-US" dirty="0" smtClean="0"/>
              <a:t>Allocation of resources has shifted significantly toward y production</a:t>
            </a:r>
          </a:p>
          <a:p>
            <a:r>
              <a:rPr lang="en-US" altLang="en-US" dirty="0" smtClean="0"/>
              <a:t>Utility-maximizing choices for household 1: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11.6;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15.2;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11.8;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12.7</a:t>
            </a:r>
          </a:p>
          <a:p>
            <a:pPr lvl="2"/>
            <a:r>
              <a:rPr lang="en-US" altLang="en-US" dirty="0" smtClean="0"/>
              <a:t>Worse off </a:t>
            </a:r>
          </a:p>
          <a:p>
            <a:r>
              <a:rPr lang="en-US" altLang="en-US" dirty="0" smtClean="0"/>
              <a:t>Utility-maximizing choices for household 2: </a:t>
            </a:r>
          </a:p>
          <a:p>
            <a:pPr lvl="1" algn="ctr">
              <a:buFont typeface="Arial" charset="0"/>
              <a:buNone/>
            </a:pP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6.3;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13.6; </a:t>
            </a:r>
            <a:r>
              <a:rPr lang="en-US" altLang="en-US" i="1" dirty="0" err="1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altLang="en-US" i="1" baseline="-25000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7.9; </a:t>
            </a:r>
            <a:r>
              <a:rPr lang="en-US" altLang="en-US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altLang="en-US" baseline="-25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8.96</a:t>
            </a:r>
          </a:p>
          <a:p>
            <a:pPr lvl="2"/>
            <a:r>
              <a:rPr lang="en-US" altLang="en-US" dirty="0" smtClean="0"/>
              <a:t>Better off</a:t>
            </a:r>
          </a:p>
        </p:txBody>
      </p:sp>
    </p:spTree>
    <p:extLst>
      <p:ext uri="{BB962C8B-B14F-4D97-AF65-F5344CB8AC3E}">
        <p14:creationId xmlns:p14="http://schemas.microsoft.com/office/powerpoint/2010/main" val="3701247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100" smtClean="0"/>
              <a:t>Computable general equilibrium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194D4E6-9520-4890-8064-733630A56C7F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9011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General methodology - Computable general equilibrium (CGE) models </a:t>
            </a:r>
          </a:p>
          <a:p>
            <a:pPr lvl="1"/>
            <a:r>
              <a:rPr lang="en-US" altLang="en-US" dirty="0" smtClean="0"/>
              <a:t>Assume various forms for production and utility functions</a:t>
            </a:r>
          </a:p>
          <a:p>
            <a:pPr lvl="1"/>
            <a:r>
              <a:rPr lang="en-US" altLang="en-US" dirty="0" smtClean="0"/>
              <a:t>Choose particular parameters of those functions based on empirical evidence</a:t>
            </a:r>
          </a:p>
          <a:p>
            <a:pPr lvl="1"/>
            <a:r>
              <a:rPr lang="en-US" altLang="en-US" dirty="0" smtClean="0"/>
              <a:t>Generate general equilibrium solutions</a:t>
            </a:r>
          </a:p>
          <a:p>
            <a:pPr lvl="2"/>
            <a:r>
              <a:rPr lang="en-US" altLang="en-US" dirty="0" smtClean="0"/>
              <a:t>Then compare with real-world data</a:t>
            </a:r>
          </a:p>
        </p:txBody>
      </p:sp>
    </p:spTree>
    <p:extLst>
      <p:ext uri="{BB962C8B-B14F-4D97-AF65-F5344CB8AC3E}">
        <p14:creationId xmlns:p14="http://schemas.microsoft.com/office/powerpoint/2010/main" val="1867139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100" smtClean="0"/>
              <a:t>Computable general equilibrium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AF3FBCF-4607-44F6-A0A5-0A888D063018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9113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General methodology - Computable general equilibrium (CGE) models </a:t>
            </a:r>
          </a:p>
          <a:p>
            <a:pPr lvl="1"/>
            <a:r>
              <a:rPr lang="en-US" altLang="en-US" smtClean="0"/>
              <a:t>‘‘Calibrate’’ the models to reflect reality</a:t>
            </a:r>
          </a:p>
          <a:p>
            <a:pPr lvl="1"/>
            <a:r>
              <a:rPr lang="en-US" altLang="en-US" smtClean="0"/>
              <a:t>Vary various policy elements in the models </a:t>
            </a:r>
          </a:p>
          <a:p>
            <a:pPr lvl="2"/>
            <a:r>
              <a:rPr lang="en-US" altLang="en-US" smtClean="0"/>
              <a:t>Provide general equilibrium estimates of the overall impact of those policy changes</a:t>
            </a:r>
          </a:p>
        </p:txBody>
      </p:sp>
    </p:spTree>
    <p:extLst>
      <p:ext uri="{BB962C8B-B14F-4D97-AF65-F5344CB8AC3E}">
        <p14:creationId xmlns:p14="http://schemas.microsoft.com/office/powerpoint/2010/main" val="29058339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Trade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41768EE5-7460-4F46-89F0-C0AEC9D6BA7E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92163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The impact of trade barriers</a:t>
            </a:r>
          </a:p>
          <a:p>
            <a:pPr lvl="1"/>
            <a:r>
              <a:rPr lang="en-US" altLang="en-US" smtClean="0"/>
              <a:t>Necessary to introduce a large degree of product differentiation into individuals’ utility functions</a:t>
            </a:r>
          </a:p>
          <a:p>
            <a:pPr lvl="1"/>
            <a:r>
              <a:rPr lang="en-US" altLang="en-US" smtClean="0"/>
              <a:t>Incorporate increasing returns-to-scale technologies into their production sectors</a:t>
            </a:r>
          </a:p>
          <a:p>
            <a:pPr lvl="2"/>
            <a:r>
              <a:rPr lang="en-US" altLang="en-US" smtClean="0"/>
              <a:t>Capture one of the primary advantages of trade for smaller economies</a:t>
            </a:r>
          </a:p>
          <a:p>
            <a:r>
              <a:rPr lang="en-US" altLang="en-US" smtClean="0"/>
              <a:t>Impact of the North American Free Trade Agreement (NAFTA)</a:t>
            </a:r>
          </a:p>
        </p:txBody>
      </p:sp>
    </p:spTree>
    <p:extLst>
      <p:ext uri="{BB962C8B-B14F-4D97-AF65-F5344CB8AC3E}">
        <p14:creationId xmlns:p14="http://schemas.microsoft.com/office/powerpoint/2010/main" val="521891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Tax and transfer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F6C7DBA0-C470-49D8-91E6-F4C87960BA51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93187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dirty="0" smtClean="0"/>
              <a:t>Evaluate potential changes in a nation’s tax and transfer policies</a:t>
            </a:r>
          </a:p>
          <a:p>
            <a:pPr lvl="1"/>
            <a:r>
              <a:rPr lang="en-US" altLang="en-US" dirty="0" smtClean="0"/>
              <a:t>Considerable care must be taken in modeling the factor supply side</a:t>
            </a:r>
          </a:p>
          <a:p>
            <a:r>
              <a:rPr lang="en-US" altLang="en-US" dirty="0" smtClean="0"/>
              <a:t>The Dutch Micro Macro Model to Analyze the Institutional Context (</a:t>
            </a:r>
            <a:r>
              <a:rPr lang="en-US" altLang="en-US" dirty="0" smtClean="0"/>
              <a:t>MIMIC model)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3670340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Environmental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5FD695-07BA-4C1B-BB9F-8422B344FE70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94211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Understanding the ways in which environmental policies may affect the economy</a:t>
            </a:r>
          </a:p>
          <a:p>
            <a:pPr lvl="1"/>
            <a:r>
              <a:rPr lang="en-US" altLang="en-US" smtClean="0"/>
              <a:t>Production of pollutants - major side effect of the other economic activities</a:t>
            </a:r>
          </a:p>
          <a:p>
            <a:pPr lvl="1"/>
            <a:r>
              <a:rPr lang="en-US" altLang="en-US" smtClean="0"/>
              <a:t>Specify environmental goals in terms of a given reduction in these pollutants</a:t>
            </a:r>
          </a:p>
          <a:p>
            <a:pPr lvl="2"/>
            <a:r>
              <a:rPr lang="en-US" altLang="en-US" smtClean="0"/>
              <a:t>Economic costs of various strategies</a:t>
            </a:r>
          </a:p>
          <a:p>
            <a:pPr lvl="1"/>
            <a:r>
              <a:rPr lang="en-US" altLang="en-US" smtClean="0"/>
              <a:t>Study the impact of environmental policies on income distribution</a:t>
            </a:r>
          </a:p>
        </p:txBody>
      </p:sp>
    </p:spTree>
    <p:extLst>
      <p:ext uri="{BB962C8B-B14F-4D97-AF65-F5344CB8AC3E}">
        <p14:creationId xmlns:p14="http://schemas.microsoft.com/office/powerpoint/2010/main" val="35326513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Environmental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E2C4670-6E96-4373-846E-82FFB64F6998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95235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Assessing CO</a:t>
            </a:r>
            <a:r>
              <a:rPr lang="en-US" altLang="en-US" baseline="-25000" smtClean="0"/>
              <a:t>2</a:t>
            </a:r>
            <a:r>
              <a:rPr lang="en-US" altLang="en-US" smtClean="0"/>
              <a:t> reduction strategies</a:t>
            </a:r>
          </a:p>
          <a:p>
            <a:pPr lvl="1"/>
            <a:r>
              <a:rPr lang="en-US" altLang="en-US" smtClean="0"/>
              <a:t>The General Equilibrium Environmental (GREEN) model</a:t>
            </a:r>
          </a:p>
          <a:p>
            <a:pPr lvl="2"/>
            <a:r>
              <a:rPr lang="en-US" altLang="en-US" smtClean="0"/>
              <a:t>Developed by the Organization for Economic Co-operation and Development (OECD)</a:t>
            </a:r>
          </a:p>
        </p:txBody>
      </p:sp>
    </p:spTree>
    <p:extLst>
      <p:ext uri="{BB962C8B-B14F-4D97-AF65-F5344CB8AC3E}">
        <p14:creationId xmlns:p14="http://schemas.microsoft.com/office/powerpoint/2010/main" val="770924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Regional and urban models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© 2017 Cengage Learning®. May not be scanned, copied or duplicated, or posted to a publicly accessible website, in whole or in part, except for use as permitted in a license distributed with a certain product or service or otherwise on a password-protected website or school-approved learning management system for classroom use.</a:t>
            </a:r>
            <a:endParaRPr lang="en-US"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54C140-13F7-4E84-BFF9-38B5CE3C09AC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96259" name="Content Placeholder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en-US" smtClean="0"/>
              <a:t>To examine economic issues that have important spatial dimensions</a:t>
            </a:r>
          </a:p>
          <a:p>
            <a:pPr lvl="1"/>
            <a:r>
              <a:rPr lang="en-US" altLang="en-US" smtClean="0"/>
              <a:t>Widely used to examine the local impact of major changes in government spending policies</a:t>
            </a:r>
          </a:p>
        </p:txBody>
      </p:sp>
    </p:spTree>
    <p:extLst>
      <p:ext uri="{BB962C8B-B14F-4D97-AF65-F5344CB8AC3E}">
        <p14:creationId xmlns:p14="http://schemas.microsoft.com/office/powerpoint/2010/main" val="3910318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hap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a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figur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ab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examp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extension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9459</TotalTime>
  <Words>9037</Words>
  <Application>Microsoft Office PowerPoint</Application>
  <PresentationFormat>On-screen Show (4:3)</PresentationFormat>
  <Paragraphs>694</Paragraphs>
  <Slides>88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6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88</vt:i4>
      </vt:variant>
    </vt:vector>
  </HeadingPairs>
  <TitlesOfParts>
    <vt:vector size="96" baseType="lpstr">
      <vt:lpstr>chapter</vt:lpstr>
      <vt:lpstr>main</vt:lpstr>
      <vt:lpstr>figure</vt:lpstr>
      <vt:lpstr>table</vt:lpstr>
      <vt:lpstr>example</vt:lpstr>
      <vt:lpstr>extensions</vt:lpstr>
      <vt:lpstr>MathType 6.0 Equation</vt:lpstr>
      <vt:lpstr>Microsoft Equation 3.0</vt:lpstr>
      <vt:lpstr>CHAPTER   General Equilibrium  13    and Welfare</vt:lpstr>
      <vt:lpstr>Perfectly Competitive Price System</vt:lpstr>
      <vt:lpstr>Law of One Price</vt:lpstr>
      <vt:lpstr>Behavioral Assumptions</vt:lpstr>
      <vt:lpstr>General Equilibrium</vt:lpstr>
      <vt:lpstr>Edgeworth Box Diagram for Production</vt:lpstr>
      <vt:lpstr>13.1 Construction of an Edgeworth Box Diagram   for Production</vt:lpstr>
      <vt:lpstr>Efficient Allocations</vt:lpstr>
      <vt:lpstr>Efficient Allocations</vt:lpstr>
      <vt:lpstr>13.2 Edgeworth Box Diagram of Efficiency in   Production</vt:lpstr>
      <vt:lpstr>Production Possibility Frontier</vt:lpstr>
      <vt:lpstr>13.3 Production Possibility Frontier</vt:lpstr>
      <vt:lpstr>Rate of Product Transformation</vt:lpstr>
      <vt:lpstr>A Mathematical Derivation</vt:lpstr>
      <vt:lpstr>A Mathematical Derivation</vt:lpstr>
      <vt:lpstr>A Mathematical Derivation</vt:lpstr>
      <vt:lpstr>A Mathematical Derivation</vt:lpstr>
      <vt:lpstr>A Mathematical Derivation</vt:lpstr>
      <vt:lpstr>A Mathematical Derivation</vt:lpstr>
      <vt:lpstr>Opportunity Cost</vt:lpstr>
      <vt:lpstr>Opportunity Cost</vt:lpstr>
      <vt:lpstr>13.1  Concavity of the Production Possibility  Frontier</vt:lpstr>
      <vt:lpstr>13.1  Concavity of the Production Possibility  Frontier</vt:lpstr>
      <vt:lpstr>13.1  Concavity of the Production Possibility  Frontier</vt:lpstr>
      <vt:lpstr>13.1  Concavity of the Production Possibility  Frontier</vt:lpstr>
      <vt:lpstr>Determination of Equilibrium Prices</vt:lpstr>
      <vt:lpstr>13.4 Determination of Equilibrium Prices</vt:lpstr>
      <vt:lpstr>Comparative Statics Analysis</vt:lpstr>
      <vt:lpstr>Comparative Statics Analysis</vt:lpstr>
      <vt:lpstr>13.5 Effects of Technical Progress in x Production</vt:lpstr>
      <vt:lpstr>13.2  Comparative Statics in a General  Equilibrium Model</vt:lpstr>
      <vt:lpstr>13.2  Comparative Statics in a General  Equilibrium Model</vt:lpstr>
      <vt:lpstr>13.2  Comparative Statics in a General  Equilibrium Model</vt:lpstr>
      <vt:lpstr>13.2  Comparative Statics in a General  Equilibrium Model</vt:lpstr>
      <vt:lpstr>The Corn Laws Debate</vt:lpstr>
      <vt:lpstr>13.6 Analysis of the Corn Laws Debate</vt:lpstr>
      <vt:lpstr>The Corn Laws Debate</vt:lpstr>
      <vt:lpstr>Political Support for Trade Policies</vt:lpstr>
      <vt:lpstr>A Mathematical Model of Exchange</vt:lpstr>
      <vt:lpstr>A Mathematical Model of Exchange</vt:lpstr>
      <vt:lpstr>A Mathematical Model of Exchange</vt:lpstr>
      <vt:lpstr>A Mathematical Model of Exchange</vt:lpstr>
      <vt:lpstr>Equilibrium and Walras’ Law</vt:lpstr>
      <vt:lpstr>Equilibrium and Walras’ Law</vt:lpstr>
      <vt:lpstr>Existence of equilibrium in the exchange model</vt:lpstr>
      <vt:lpstr>Existence of equilibrium in the exchange model</vt:lpstr>
      <vt:lpstr>Existence of equilibrium in the exchange model</vt:lpstr>
      <vt:lpstr>Existence of equilibrium in the exchange model</vt:lpstr>
      <vt:lpstr>13.7 A Graphical Illustration of Brouwer’s Fixed   Point Theorem</vt:lpstr>
      <vt:lpstr>Existence of equilibrium in the exchange model</vt:lpstr>
      <vt:lpstr>Existence of equilibrium in the exchange model</vt:lpstr>
      <vt:lpstr>Existence of equilibrium in the exchange model</vt:lpstr>
      <vt:lpstr>First Theorem of Welfare Economics</vt:lpstr>
      <vt:lpstr>13.8 The First Theorem of Welfare Economics</vt:lpstr>
      <vt:lpstr>Second Theorem of Welfare Economics</vt:lpstr>
      <vt:lpstr>13.9 The Second Theorem of Welfare Economics</vt:lpstr>
      <vt:lpstr>13.3  A Two-Person Exchange Economy</vt:lpstr>
      <vt:lpstr>13.3  A Two-Person Exchange Economy</vt:lpstr>
      <vt:lpstr>13.3  A Two-Person Exchange Economy</vt:lpstr>
      <vt:lpstr>Social Welfare Functions</vt:lpstr>
      <vt:lpstr>Social Welfare Functions</vt:lpstr>
      <vt:lpstr>Social Welfare Functions</vt:lpstr>
      <vt:lpstr>A Mathematical Model of Production and Exchange</vt:lpstr>
      <vt:lpstr>A Mathematical Model of Production and Exchange</vt:lpstr>
      <vt:lpstr>A Mathematical Model of Production and Exchange</vt:lpstr>
      <vt:lpstr>A Mathematical Model of Production and Exchange</vt:lpstr>
      <vt:lpstr>A Mathematical Model of Production and Exchange</vt:lpstr>
      <vt:lpstr>A Mathematical Model of Production and Exchange</vt:lpstr>
      <vt:lpstr>13.10 Production Increases the Number of   Feasible Allocations</vt:lpstr>
      <vt:lpstr>Computable General Equilibrium Models</vt:lpstr>
      <vt:lpstr>Structure of General Equilibrium Models</vt:lpstr>
      <vt:lpstr>Structure of General Equilibrium Models</vt:lpstr>
      <vt:lpstr>Solving General Equilibrium Models</vt:lpstr>
      <vt:lpstr>Economic Insights from General Equilibrium Models</vt:lpstr>
      <vt:lpstr>Economic Insights from  General Equilibrium Models</vt:lpstr>
      <vt:lpstr>Economic Insights from  General Equilibrium Models</vt:lpstr>
      <vt:lpstr>13.4  A Simple General Equilibrium Model</vt:lpstr>
      <vt:lpstr>13.4  A Simple General Equilibrium Model</vt:lpstr>
      <vt:lpstr>13.4  A Simple General Equilibrium Model</vt:lpstr>
      <vt:lpstr>13.5  The Excess Burden of a Tax</vt:lpstr>
      <vt:lpstr>13.5  The Excess Burden of a Tax</vt:lpstr>
      <vt:lpstr>Computable general equilibrium models</vt:lpstr>
      <vt:lpstr>Computable general equilibrium models</vt:lpstr>
      <vt:lpstr>Trade models</vt:lpstr>
      <vt:lpstr>Tax and transfer models</vt:lpstr>
      <vt:lpstr>Environmental models</vt:lpstr>
      <vt:lpstr>Environmental models</vt:lpstr>
      <vt:lpstr>Regional and urban models</vt:lpstr>
    </vt:vector>
  </TitlesOfParts>
  <Company>Eastern Illinois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Andreea Chiritescu</dc:creator>
  <cp:lastModifiedBy>Andreea Chiritescu</cp:lastModifiedBy>
  <cp:revision>542</cp:revision>
  <dcterms:created xsi:type="dcterms:W3CDTF">2016-06-05T19:40:39Z</dcterms:created>
  <dcterms:modified xsi:type="dcterms:W3CDTF">2016-06-20T22:41:57Z</dcterms:modified>
</cp:coreProperties>
</file>