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117"/>
  </p:notesMasterIdLst>
  <p:handoutMasterIdLst>
    <p:handoutMasterId r:id="rId118"/>
  </p:handoutMasterIdLst>
  <p:sldIdLst>
    <p:sldId id="258" r:id="rId7"/>
    <p:sldId id="278" r:id="rId8"/>
    <p:sldId id="279" r:id="rId9"/>
    <p:sldId id="280" r:id="rId10"/>
    <p:sldId id="281" r:id="rId11"/>
    <p:sldId id="282" r:id="rId12"/>
    <p:sldId id="283" r:id="rId13"/>
    <p:sldId id="382"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83" r:id="rId44"/>
    <p:sldId id="384" r:id="rId45"/>
    <p:sldId id="313" r:id="rId46"/>
    <p:sldId id="314" r:id="rId47"/>
    <p:sldId id="315" r:id="rId48"/>
    <p:sldId id="316" r:id="rId49"/>
    <p:sldId id="317" r:id="rId50"/>
    <p:sldId id="318" r:id="rId51"/>
    <p:sldId id="319" r:id="rId52"/>
    <p:sldId id="320" r:id="rId53"/>
    <p:sldId id="321" r:id="rId54"/>
    <p:sldId id="322" r:id="rId55"/>
    <p:sldId id="323" r:id="rId56"/>
    <p:sldId id="385"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86" r:id="rId91"/>
    <p:sldId id="357" r:id="rId92"/>
    <p:sldId id="358" r:id="rId93"/>
    <p:sldId id="359" r:id="rId94"/>
    <p:sldId id="360" r:id="rId95"/>
    <p:sldId id="361" r:id="rId96"/>
    <p:sldId id="362" r:id="rId97"/>
    <p:sldId id="363" r:id="rId98"/>
    <p:sldId id="364" r:id="rId99"/>
    <p:sldId id="365"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 id="381" r:id="rId1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8883" autoAdjust="0"/>
  </p:normalViewPr>
  <p:slideViewPr>
    <p:cSldViewPr>
      <p:cViewPr>
        <p:scale>
          <a:sx n="70" d="100"/>
          <a:sy n="70" d="100"/>
        </p:scale>
        <p:origin x="-828" y="-48"/>
      </p:cViewPr>
      <p:guideLst>
        <p:guide orient="horz" pos="2160"/>
        <p:guide pos="2880"/>
      </p:guideLst>
    </p:cSldViewPr>
  </p:slideViewPr>
  <p:outlineViewPr>
    <p:cViewPr>
      <p:scale>
        <a:sx n="33" d="100"/>
        <a:sy n="33" d="100"/>
      </p:scale>
      <p:origin x="0" y="2349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notesMaster" Target="notesMasters/notesMaster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slide" Target="slides/slide89.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13" Type="http://schemas.openxmlformats.org/officeDocument/2006/relationships/slide" Target="slides/slide107.xml"/><Relationship Id="rId11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slide" Target="slides/slide102.xml"/><Relationship Id="rId116" Type="http://schemas.openxmlformats.org/officeDocument/2006/relationships/slide" Target="slides/slide11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11" Type="http://schemas.openxmlformats.org/officeDocument/2006/relationships/slide" Target="slides/slide10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slide" Target="slides/slide108.xml"/><Relationship Id="rId119"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6/21/2016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6/21/2016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6.emf"/><Relationship Id="rId5" Type="http://schemas.openxmlformats.org/officeDocument/2006/relationships/oleObject" Target="../embeddings/oleObject2.bin"/><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2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3.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5.wmf"/><Relationship Id="rId5" Type="http://schemas.openxmlformats.org/officeDocument/2006/relationships/oleObject" Target="../embeddings/oleObject9.bin"/><Relationship Id="rId4" Type="http://schemas.openxmlformats.org/officeDocument/2006/relationships/image" Target="../media/image24.wmf"/></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9.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1.emf"/><Relationship Id="rId5" Type="http://schemas.openxmlformats.org/officeDocument/2006/relationships/oleObject" Target="../embeddings/oleObject13.bin"/><Relationship Id="rId4" Type="http://schemas.openxmlformats.org/officeDocument/2006/relationships/image" Target="../media/image30.emf"/></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3.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34.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6.emf"/><Relationship Id="rId5" Type="http://schemas.openxmlformats.org/officeDocument/2006/relationships/oleObject" Target="../embeddings/oleObject17.bin"/><Relationship Id="rId4" Type="http://schemas.openxmlformats.org/officeDocument/2006/relationships/image" Target="../media/image35.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37.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9.wmf"/><Relationship Id="rId5" Type="http://schemas.openxmlformats.org/officeDocument/2006/relationships/oleObject" Target="../embeddings/oleObject20.bin"/><Relationship Id="rId4" Type="http://schemas.openxmlformats.org/officeDocument/2006/relationships/image" Target="../media/image38.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3.xml"/><Relationship Id="rId1" Type="http://schemas.openxmlformats.org/officeDocument/2006/relationships/vmlDrawing" Target="../drawings/vmlDrawing14.vml"/><Relationship Id="rId4" Type="http://schemas.openxmlformats.org/officeDocument/2006/relationships/image" Target="../media/image40.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2.emf"/><Relationship Id="rId5" Type="http://schemas.openxmlformats.org/officeDocument/2006/relationships/oleObject" Target="../embeddings/oleObject23.bin"/><Relationship Id="rId4" Type="http://schemas.openxmlformats.org/officeDocument/2006/relationships/image" Target="../media/image41.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16.vml"/><Relationship Id="rId4" Type="http://schemas.openxmlformats.org/officeDocument/2006/relationships/image" Target="../media/image43.emf"/></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6.xml"/><Relationship Id="rId1" Type="http://schemas.openxmlformats.org/officeDocument/2006/relationships/vmlDrawing" Target="../drawings/vmlDrawing17.vml"/><Relationship Id="rId4" Type="http://schemas.openxmlformats.org/officeDocument/2006/relationships/image" Target="../media/image46.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47.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vmlDrawing" Target="../drawings/vmlDrawing19.vml"/><Relationship Id="rId4" Type="http://schemas.openxmlformats.org/officeDocument/2006/relationships/image" Target="../media/image49.wmf"/></Relationships>
</file>

<file path=ppt/slides/_rels/slide8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51.wmf"/><Relationship Id="rId5" Type="http://schemas.openxmlformats.org/officeDocument/2006/relationships/oleObject" Target="../embeddings/oleObject29.bin"/><Relationship Id="rId4" Type="http://schemas.openxmlformats.org/officeDocument/2006/relationships/image" Target="../media/image50.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4.wmf"/><Relationship Id="rId5" Type="http://schemas.openxmlformats.org/officeDocument/2006/relationships/oleObject" Target="../embeddings/oleObject32.bin"/><Relationship Id="rId4" Type="http://schemas.openxmlformats.org/officeDocument/2006/relationships/image" Target="../media/image53.wmf"/></Relationships>
</file>

<file path=ppt/slides/_rels/slide9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0.xml"/><Relationship Id="rId1" Type="http://schemas.openxmlformats.org/officeDocument/2006/relationships/vmlDrawing" Target="../drawings/vmlDrawing22.vml"/><Relationship Id="rId4" Type="http://schemas.openxmlformats.org/officeDocument/2006/relationships/image" Target="../media/image56.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9.xml"/><Relationship Id="rId1" Type="http://schemas.openxmlformats.org/officeDocument/2006/relationships/vmlDrawing" Target="../drawings/vmlDrawing23.vml"/><Relationship Id="rId4" Type="http://schemas.openxmlformats.org/officeDocument/2006/relationships/image" Target="../media/image57.wm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sz="4800" b="1" baseline="0" dirty="0" smtClean="0"/>
              <a:t>	</a:t>
            </a:r>
            <a:r>
              <a:rPr lang="en-US" b="1" baseline="0" dirty="0"/>
              <a:t> Imperfect </a:t>
            </a:r>
            <a:r>
              <a:rPr lang="en-US" dirty="0" smtClean="0"/>
              <a:t/>
            </a:r>
            <a:br>
              <a:rPr lang="en-US" dirty="0" smtClean="0"/>
            </a:br>
            <a:r>
              <a:rPr lang="en-US" baseline="0" dirty="0" smtClean="0"/>
              <a:t> </a:t>
            </a:r>
            <a:r>
              <a:rPr lang="en-US" baseline="0" dirty="0" smtClean="0"/>
              <a:t>15</a:t>
            </a:r>
            <a:r>
              <a:rPr lang="en-US" b="1" baseline="0" dirty="0" smtClean="0"/>
              <a:t>	 		</a:t>
            </a:r>
            <a:r>
              <a:rPr lang="en-US" sz="4800" b="1" baseline="0" dirty="0" smtClean="0"/>
              <a:t>Competition</a:t>
            </a:r>
            <a:r>
              <a:rPr lang="en-US" sz="4800" b="1" baseline="0" dirty="0"/>
              <a:t/>
            </a:r>
            <a:br>
              <a:rPr lang="en-US" sz="4800" b="1" baseline="0" dirty="0"/>
            </a:br>
            <a:endParaRPr lang="en-US" sz="44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z="3800" smtClean="0"/>
              <a:t>Short-Run Decisions: Pricing And Output</a:t>
            </a:r>
          </a:p>
        </p:txBody>
      </p:sp>
      <p:sp>
        <p:nvSpPr>
          <p:cNvPr id="35843" name="Content Placeholder 2"/>
          <p:cNvSpPr>
            <a:spLocks noGrp="1"/>
          </p:cNvSpPr>
          <p:nvPr>
            <p:ph idx="1"/>
          </p:nvPr>
        </p:nvSpPr>
        <p:spPr/>
        <p:txBody>
          <a:bodyPr/>
          <a:lstStyle/>
          <a:p>
            <a:r>
              <a:rPr lang="en-US" altLang="en-US" smtClean="0"/>
              <a:t>Oligopoly</a:t>
            </a:r>
          </a:p>
          <a:p>
            <a:pPr lvl="1"/>
            <a:r>
              <a:rPr lang="en-US" altLang="en-US" smtClean="0"/>
              <a:t>A market with relatively few firms but more than one</a:t>
            </a:r>
          </a:p>
          <a:p>
            <a:pPr lvl="1"/>
            <a:r>
              <a:rPr lang="en-US" altLang="en-US" smtClean="0"/>
              <a:t>Possibility of strategic interaction among firms</a:t>
            </a:r>
          </a:p>
          <a:p>
            <a:pPr lvl="1"/>
            <a:r>
              <a:rPr lang="en-US" altLang="en-US" smtClean="0"/>
              <a:t>Difficult to predict exactly the possible outcomes for price and output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DF80F28-8901-4CDC-B15A-98BEEF16A78D}" type="slidenum">
              <a:rPr lang="en-US" smtClean="0"/>
              <a:pPr>
                <a:defRPr/>
              </a:pPr>
              <a:t>2</a:t>
            </a:fld>
            <a:endParaRPr lang="en-US"/>
          </a:p>
        </p:txBody>
      </p:sp>
    </p:spTree>
    <p:extLst>
      <p:ext uri="{BB962C8B-B14F-4D97-AF65-F5344CB8AC3E}">
        <p14:creationId xmlns:p14="http://schemas.microsoft.com/office/powerpoint/2010/main" val="10270455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nSpc>
                <a:spcPct val="80000"/>
              </a:lnSpc>
            </a:pPr>
            <a:r>
              <a:rPr lang="en-US" altLang="en-US" sz="3800" smtClean="0"/>
              <a:t>Short-Run Decisions: Pricing &amp; Output</a:t>
            </a:r>
          </a:p>
        </p:txBody>
      </p:sp>
      <p:sp>
        <p:nvSpPr>
          <p:cNvPr id="36867" name="Rectangle 3"/>
          <p:cNvSpPr>
            <a:spLocks noGrp="1" noChangeArrowheads="1"/>
          </p:cNvSpPr>
          <p:nvPr>
            <p:ph idx="1"/>
          </p:nvPr>
        </p:nvSpPr>
        <p:spPr/>
        <p:txBody>
          <a:bodyPr/>
          <a:lstStyle/>
          <a:p>
            <a:r>
              <a:rPr lang="en-US" altLang="en-US" smtClean="0"/>
              <a:t>Bertrand model</a:t>
            </a:r>
          </a:p>
          <a:p>
            <a:pPr lvl="1"/>
            <a:r>
              <a:rPr lang="en-US" altLang="en-US" smtClean="0"/>
              <a:t>Two identical firms choosing prices simultaneously for identical products</a:t>
            </a:r>
          </a:p>
          <a:p>
            <a:pPr lvl="2"/>
            <a:r>
              <a:rPr lang="en-US" altLang="en-US" smtClean="0"/>
              <a:t>Situation similar to perfect competition</a:t>
            </a:r>
          </a:p>
          <a:p>
            <a:r>
              <a:rPr lang="en-US" altLang="en-US" smtClean="0"/>
              <a:t>Cartel model</a:t>
            </a:r>
          </a:p>
          <a:p>
            <a:pPr lvl="1"/>
            <a:r>
              <a:rPr lang="en-US" altLang="en-US" smtClean="0"/>
              <a:t>Firms act as a group - Monopoly outcome</a:t>
            </a:r>
          </a:p>
          <a:p>
            <a:r>
              <a:rPr lang="en-US" altLang="en-US" smtClean="0"/>
              <a:t>Cournot model</a:t>
            </a:r>
          </a:p>
          <a:p>
            <a:pPr lvl="1"/>
            <a:r>
              <a:rPr lang="en-US" altLang="en-US" smtClean="0"/>
              <a:t>Firms set quantities rather than prices</a:t>
            </a:r>
          </a:p>
          <a:p>
            <a:pPr lvl="2"/>
            <a:r>
              <a:rPr lang="en-US" altLang="en-US" smtClean="0"/>
              <a:t>Between the Bertrand and the cartel models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B32CF50-D73D-4BAC-968D-EF576B884FD4}" type="slidenum">
              <a:rPr lang="en-US" smtClean="0"/>
              <a:pPr>
                <a:defRPr/>
              </a:pPr>
              <a:t>3</a:t>
            </a:fld>
            <a:endParaRPr lang="en-US"/>
          </a:p>
        </p:txBody>
      </p:sp>
    </p:spTree>
    <p:extLst>
      <p:ext uri="{BB962C8B-B14F-4D97-AF65-F5344CB8AC3E}">
        <p14:creationId xmlns:p14="http://schemas.microsoft.com/office/powerpoint/2010/main" val="1725580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57"/>
          <p:cNvGrpSpPr>
            <a:grpSpLocks/>
          </p:cNvGrpSpPr>
          <p:nvPr/>
        </p:nvGrpSpPr>
        <p:grpSpPr bwMode="auto">
          <a:xfrm>
            <a:off x="2413000" y="3209925"/>
            <a:ext cx="635000" cy="558800"/>
            <a:chOff x="4194021" y="2598821"/>
            <a:chExt cx="634653" cy="559080"/>
          </a:xfrm>
        </p:grpSpPr>
        <p:sp>
          <p:nvSpPr>
            <p:cNvPr id="54" name="Isosceles Triangle 53"/>
            <p:cNvSpPr/>
            <p:nvPr/>
          </p:nvSpPr>
          <p:spPr bwMode="auto">
            <a:xfrm>
              <a:off x="4194021" y="2598821"/>
              <a:ext cx="634653" cy="519372"/>
            </a:xfrm>
            <a:prstGeom prst="triangle">
              <a:avLst>
                <a:gd name="adj" fmla="val 0"/>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37945" name="TextBox 52"/>
            <p:cNvSpPr txBox="1">
              <a:spLocks noChangeArrowheads="1"/>
            </p:cNvSpPr>
            <p:nvPr/>
          </p:nvSpPr>
          <p:spPr bwMode="auto">
            <a:xfrm>
              <a:off x="4229136" y="2788569"/>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3</a:t>
              </a:r>
            </a:p>
          </p:txBody>
        </p:sp>
      </p:grpSp>
      <p:grpSp>
        <p:nvGrpSpPr>
          <p:cNvPr id="19" name="Group 56"/>
          <p:cNvGrpSpPr>
            <a:grpSpLocks/>
          </p:cNvGrpSpPr>
          <p:nvPr/>
        </p:nvGrpSpPr>
        <p:grpSpPr bwMode="auto">
          <a:xfrm>
            <a:off x="1844675" y="3189287"/>
            <a:ext cx="569913" cy="541338"/>
            <a:chOff x="3625516" y="2578768"/>
            <a:chExt cx="569495" cy="541421"/>
          </a:xfrm>
        </p:grpSpPr>
        <p:sp>
          <p:nvSpPr>
            <p:cNvPr id="55" name="Rectangle 54"/>
            <p:cNvSpPr/>
            <p:nvPr/>
          </p:nvSpPr>
          <p:spPr bwMode="auto">
            <a:xfrm>
              <a:off x="3625516" y="2578768"/>
              <a:ext cx="569495" cy="541421"/>
            </a:xfrm>
            <a:prstGeom prst="rect">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37943" name="TextBox 51"/>
            <p:cNvSpPr txBox="1">
              <a:spLocks noChangeArrowheads="1"/>
            </p:cNvSpPr>
            <p:nvPr/>
          </p:nvSpPr>
          <p:spPr bwMode="auto">
            <a:xfrm>
              <a:off x="3704949" y="269189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2</a:t>
              </a:r>
            </a:p>
          </p:txBody>
        </p:sp>
      </p:grpSp>
      <p:grpSp>
        <p:nvGrpSpPr>
          <p:cNvPr id="26" name="Group 55"/>
          <p:cNvGrpSpPr>
            <a:grpSpLocks/>
          </p:cNvGrpSpPr>
          <p:nvPr/>
        </p:nvGrpSpPr>
        <p:grpSpPr bwMode="auto">
          <a:xfrm>
            <a:off x="1801813" y="2736850"/>
            <a:ext cx="585787" cy="498475"/>
            <a:chOff x="3582696" y="2125683"/>
            <a:chExt cx="585543" cy="499045"/>
          </a:xfrm>
        </p:grpSpPr>
        <p:sp>
          <p:nvSpPr>
            <p:cNvPr id="50" name="Isosceles Triangle 49"/>
            <p:cNvSpPr/>
            <p:nvPr/>
          </p:nvSpPr>
          <p:spPr bwMode="auto">
            <a:xfrm>
              <a:off x="3622366" y="2125683"/>
              <a:ext cx="545873" cy="451366"/>
            </a:xfrm>
            <a:prstGeom prst="triangle">
              <a:avLst>
                <a:gd name="adj" fmla="val 0"/>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sp>
          <p:nvSpPr>
            <p:cNvPr id="37941" name="TextBox 50"/>
            <p:cNvSpPr txBox="1">
              <a:spLocks noChangeArrowheads="1"/>
            </p:cNvSpPr>
            <p:nvPr/>
          </p:nvSpPr>
          <p:spPr bwMode="auto">
            <a:xfrm>
              <a:off x="3582696" y="225539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000099"/>
                  </a:solidFill>
                </a:rPr>
                <a:t>1</a:t>
              </a:r>
            </a:p>
          </p:txBody>
        </p:sp>
      </p:grpSp>
      <p:sp>
        <p:nvSpPr>
          <p:cNvPr id="37893" name="Title 1"/>
          <p:cNvSpPr>
            <a:spLocks noGrp="1"/>
          </p:cNvSpPr>
          <p:nvPr>
            <p:ph type="title"/>
          </p:nvPr>
        </p:nvSpPr>
        <p:spPr bwMode="auto">
          <a:xfrm>
            <a:off x="1143000" y="0"/>
            <a:ext cx="8001000" cy="1010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15.1	Pricing and Output under Imperfect </a:t>
            </a:r>
            <a:r>
              <a:rPr lang="en-US" altLang="en-US" dirty="0" smtClean="0"/>
              <a:t/>
            </a:r>
            <a:br>
              <a:rPr lang="en-US" altLang="en-US" dirty="0" smtClean="0"/>
            </a:br>
            <a:r>
              <a:rPr lang="en-US" altLang="en-US" dirty="0"/>
              <a:t>	</a:t>
            </a:r>
            <a:r>
              <a:rPr lang="en-US" altLang="en-US" dirty="0" smtClean="0">
                <a:solidFill>
                  <a:srgbClr val="002D56"/>
                </a:solidFill>
              </a:rPr>
              <a:t>Competition</a:t>
            </a:r>
            <a:endParaRPr lang="en-US" altLang="en-US" dirty="0" smtClean="0">
              <a:solidFill>
                <a:srgbClr val="002D56"/>
              </a:solidFill>
            </a:endParaRPr>
          </a:p>
        </p:txBody>
      </p:sp>
      <p:sp>
        <p:nvSpPr>
          <p:cNvPr id="37894" name="Text Placeholder 2"/>
          <p:cNvSpPr>
            <a:spLocks noGrp="1"/>
          </p:cNvSpPr>
          <p:nvPr>
            <p:ph sz="half" idx="1"/>
          </p:nvPr>
        </p:nvSpPr>
        <p:spPr>
          <a:xfrm>
            <a:off x="5340350" y="914400"/>
            <a:ext cx="3575050" cy="5410200"/>
          </a:xfrm>
        </p:spPr>
        <p:txBody>
          <a:bodyPr>
            <a:normAutofit lnSpcReduction="10000"/>
          </a:bodyPr>
          <a:lstStyle/>
          <a:p>
            <a:pPr>
              <a:spcBef>
                <a:spcPct val="0"/>
              </a:spcBef>
            </a:pPr>
            <a:r>
              <a:rPr lang="en-US" altLang="en-US" dirty="0"/>
              <a:t>Market equilibrium under imperfect competition can occur at many points on the demand curve. In the figure, which assumes that marginal costs are constant over all output ranges, the equilibrium of the Bertrand game occurs at point C, also corresponding to the perfectly competitive outcome. The perfect cartel outcome occurs at point M, also corresponding to the monopoly outcome. Many solutions may occur between points M and C, depending on the specific assumptions made about how firms compete. For example, the equilibrium of the </a:t>
            </a:r>
            <a:r>
              <a:rPr lang="en-US" altLang="en-US" dirty="0" err="1"/>
              <a:t>Cournot</a:t>
            </a:r>
            <a:r>
              <a:rPr lang="en-US" altLang="en-US" dirty="0"/>
              <a:t> game might occur at a point such as A. The deadweight loss given by the shaded triangle increases as one moves from point C to M.</a:t>
            </a:r>
          </a:p>
          <a:p>
            <a:pPr>
              <a:spcBef>
                <a:spcPct val="0"/>
              </a:spcBef>
            </a:pPr>
            <a:endParaRPr lang="en-US" altLang="en-US" dirty="0" smtClean="0"/>
          </a:p>
        </p:txBody>
      </p:sp>
      <p:sp>
        <p:nvSpPr>
          <p:cNvPr id="37897"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447391C8-78BB-4AA6-AA11-AA50D8C6F84F}" type="slidenum">
              <a:rPr lang="en-US" smtClean="0"/>
              <a:pPr>
                <a:defRPr/>
              </a:pPr>
              <a:t>4</a:t>
            </a:fld>
            <a:endParaRPr lang="en-US" dirty="0"/>
          </a:p>
        </p:txBody>
      </p:sp>
      <p:grpSp>
        <p:nvGrpSpPr>
          <p:cNvPr id="27" name="Group 58"/>
          <p:cNvGrpSpPr>
            <a:grpSpLocks/>
          </p:cNvGrpSpPr>
          <p:nvPr/>
        </p:nvGrpSpPr>
        <p:grpSpPr bwMode="auto">
          <a:xfrm>
            <a:off x="76200" y="1438275"/>
            <a:ext cx="5264150" cy="4048125"/>
            <a:chOff x="1857930" y="827308"/>
            <a:chExt cx="5263625" cy="4047988"/>
          </a:xfrm>
        </p:grpSpPr>
        <p:grpSp>
          <p:nvGrpSpPr>
            <p:cNvPr id="37934" name="Group 26"/>
            <p:cNvGrpSpPr>
              <a:grpSpLocks/>
            </p:cNvGrpSpPr>
            <p:nvPr/>
          </p:nvGrpSpPr>
          <p:grpSpPr bwMode="auto">
            <a:xfrm>
              <a:off x="2601130" y="4499758"/>
              <a:ext cx="4520425" cy="375538"/>
              <a:chOff x="2601130" y="4499758"/>
              <a:chExt cx="4520425" cy="375538"/>
            </a:xfrm>
          </p:grpSpPr>
          <p:sp>
            <p:nvSpPr>
              <p:cNvPr id="37938" name="Line 5"/>
              <p:cNvSpPr>
                <a:spLocks noChangeShapeType="1"/>
              </p:cNvSpPr>
              <p:nvPr/>
            </p:nvSpPr>
            <p:spPr bwMode="auto">
              <a:xfrm>
                <a:off x="2601130" y="4499758"/>
                <a:ext cx="396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39" name="Text Box 9"/>
              <p:cNvSpPr txBox="1">
                <a:spLocks noChangeArrowheads="1"/>
              </p:cNvSpPr>
              <p:nvPr/>
            </p:nvSpPr>
            <p:spPr bwMode="auto">
              <a:xfrm>
                <a:off x="6086505" y="4508583"/>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37935" name="Group 25"/>
            <p:cNvGrpSpPr>
              <a:grpSpLocks/>
            </p:cNvGrpSpPr>
            <p:nvPr/>
          </p:nvGrpSpPr>
          <p:grpSpPr bwMode="auto">
            <a:xfrm>
              <a:off x="1857930" y="827308"/>
              <a:ext cx="743200" cy="3672450"/>
              <a:chOff x="1857930" y="827308"/>
              <a:chExt cx="743200" cy="3672450"/>
            </a:xfrm>
          </p:grpSpPr>
          <p:sp>
            <p:nvSpPr>
              <p:cNvPr id="37936" name="Line 4"/>
              <p:cNvSpPr>
                <a:spLocks noChangeShapeType="1"/>
              </p:cNvSpPr>
              <p:nvPr/>
            </p:nvSpPr>
            <p:spPr bwMode="auto">
              <a:xfrm>
                <a:off x="2601130" y="994558"/>
                <a:ext cx="0" cy="3505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37" name="Text Box 10"/>
              <p:cNvSpPr txBox="1">
                <a:spLocks noChangeArrowheads="1"/>
              </p:cNvSpPr>
              <p:nvPr/>
            </p:nvSpPr>
            <p:spPr bwMode="auto">
              <a:xfrm>
                <a:off x="1857930" y="827308"/>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30" name="Group 31"/>
          <p:cNvGrpSpPr>
            <a:grpSpLocks/>
          </p:cNvGrpSpPr>
          <p:nvPr/>
        </p:nvGrpSpPr>
        <p:grpSpPr bwMode="auto">
          <a:xfrm>
            <a:off x="2922588" y="3738562"/>
            <a:ext cx="474662" cy="1725613"/>
            <a:chOff x="4644242" y="3128158"/>
            <a:chExt cx="474810" cy="1724541"/>
          </a:xfrm>
        </p:grpSpPr>
        <p:sp>
          <p:nvSpPr>
            <p:cNvPr id="37932" name="Line 14"/>
            <p:cNvSpPr>
              <a:spLocks noChangeShapeType="1"/>
            </p:cNvSpPr>
            <p:nvPr/>
          </p:nvSpPr>
          <p:spPr bwMode="auto">
            <a:xfrm>
              <a:off x="4796642" y="3128158"/>
              <a:ext cx="0" cy="1371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33" name="Text Box 15"/>
            <p:cNvSpPr txBox="1">
              <a:spLocks noChangeArrowheads="1"/>
            </p:cNvSpPr>
            <p:nvPr/>
          </p:nvSpPr>
          <p:spPr bwMode="auto">
            <a:xfrm>
              <a:off x="4644242" y="4483367"/>
              <a:ext cx="4748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i="1" baseline="-25000"/>
                <a:t>C</a:t>
              </a:r>
              <a:endParaRPr lang="en-US" altLang="en-US" sz="1800" baseline="-25000"/>
            </a:p>
          </p:txBody>
        </p:sp>
      </p:grpSp>
      <p:grpSp>
        <p:nvGrpSpPr>
          <p:cNvPr id="31" name="Group 32"/>
          <p:cNvGrpSpPr>
            <a:grpSpLocks/>
          </p:cNvGrpSpPr>
          <p:nvPr/>
        </p:nvGrpSpPr>
        <p:grpSpPr bwMode="auto">
          <a:xfrm>
            <a:off x="349250" y="3508375"/>
            <a:ext cx="4378325" cy="431800"/>
            <a:chOff x="2129642" y="2897455"/>
            <a:chExt cx="4378903" cy="431244"/>
          </a:xfrm>
        </p:grpSpPr>
        <p:grpSp>
          <p:nvGrpSpPr>
            <p:cNvPr id="37928" name="Group 27"/>
            <p:cNvGrpSpPr>
              <a:grpSpLocks/>
            </p:cNvGrpSpPr>
            <p:nvPr/>
          </p:nvGrpSpPr>
          <p:grpSpPr bwMode="auto">
            <a:xfrm>
              <a:off x="2601130" y="2897455"/>
              <a:ext cx="3907415" cy="369332"/>
              <a:chOff x="2601130" y="2897455"/>
              <a:chExt cx="3907415" cy="369332"/>
            </a:xfrm>
          </p:grpSpPr>
          <p:sp>
            <p:nvSpPr>
              <p:cNvPr id="37930" name="Line 8"/>
              <p:cNvSpPr>
                <a:spLocks noChangeShapeType="1"/>
              </p:cNvSpPr>
              <p:nvPr/>
            </p:nvSpPr>
            <p:spPr bwMode="auto">
              <a:xfrm>
                <a:off x="2601130" y="3128158"/>
                <a:ext cx="2895600" cy="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31" name="Text Box 11"/>
              <p:cNvSpPr txBox="1">
                <a:spLocks noChangeArrowheads="1"/>
              </p:cNvSpPr>
              <p:nvPr/>
            </p:nvSpPr>
            <p:spPr bwMode="auto">
              <a:xfrm>
                <a:off x="5496730" y="2897455"/>
                <a:ext cx="10118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MC=AC</a:t>
                </a:r>
                <a:endParaRPr lang="en-US" altLang="en-US" sz="1800">
                  <a:solidFill>
                    <a:srgbClr val="177B21"/>
                  </a:solidFill>
                </a:endParaRPr>
              </a:p>
            </p:txBody>
          </p:sp>
        </p:grpSp>
        <p:sp>
          <p:nvSpPr>
            <p:cNvPr id="37929" name="Text Box 16"/>
            <p:cNvSpPr txBox="1">
              <a:spLocks noChangeArrowheads="1"/>
            </p:cNvSpPr>
            <p:nvPr/>
          </p:nvSpPr>
          <p:spPr bwMode="auto">
            <a:xfrm>
              <a:off x="2129642" y="2959367"/>
              <a:ext cx="4491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i="1" baseline="-25000"/>
                <a:t>C</a:t>
              </a:r>
              <a:endParaRPr lang="en-US" altLang="en-US" sz="1800" baseline="-25000"/>
            </a:p>
          </p:txBody>
        </p:sp>
      </p:grpSp>
      <p:grpSp>
        <p:nvGrpSpPr>
          <p:cNvPr id="33" name="Group 30"/>
          <p:cNvGrpSpPr>
            <a:grpSpLocks/>
          </p:cNvGrpSpPr>
          <p:nvPr/>
        </p:nvGrpSpPr>
        <p:grpSpPr bwMode="auto">
          <a:xfrm>
            <a:off x="1617663" y="2747962"/>
            <a:ext cx="492125" cy="2716213"/>
            <a:chOff x="3363130" y="2137558"/>
            <a:chExt cx="492443" cy="2715141"/>
          </a:xfrm>
        </p:grpSpPr>
        <p:sp>
          <p:nvSpPr>
            <p:cNvPr id="37926" name="Line 19"/>
            <p:cNvSpPr>
              <a:spLocks noChangeShapeType="1"/>
            </p:cNvSpPr>
            <p:nvPr/>
          </p:nvSpPr>
          <p:spPr bwMode="auto">
            <a:xfrm>
              <a:off x="3591730" y="2137558"/>
              <a:ext cx="0" cy="2362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27" name="Text Box 20"/>
            <p:cNvSpPr txBox="1">
              <a:spLocks noChangeArrowheads="1"/>
            </p:cNvSpPr>
            <p:nvPr/>
          </p:nvSpPr>
          <p:spPr bwMode="auto">
            <a:xfrm>
              <a:off x="3363130" y="4483367"/>
              <a:ext cx="4924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i="1" baseline="-25000"/>
                <a:t>M</a:t>
              </a:r>
              <a:endParaRPr lang="en-US" altLang="en-US" sz="1800" baseline="-25000"/>
            </a:p>
          </p:txBody>
        </p:sp>
      </p:grpSp>
      <p:grpSp>
        <p:nvGrpSpPr>
          <p:cNvPr id="34" name="Group 33"/>
          <p:cNvGrpSpPr>
            <a:grpSpLocks/>
          </p:cNvGrpSpPr>
          <p:nvPr/>
        </p:nvGrpSpPr>
        <p:grpSpPr bwMode="auto">
          <a:xfrm>
            <a:off x="363538" y="2568575"/>
            <a:ext cx="1447800" cy="368300"/>
            <a:chOff x="2143930" y="1968767"/>
            <a:chExt cx="1447800" cy="369332"/>
          </a:xfrm>
        </p:grpSpPr>
        <p:sp>
          <p:nvSpPr>
            <p:cNvPr id="37924" name="Line 21"/>
            <p:cNvSpPr>
              <a:spLocks noChangeShapeType="1"/>
            </p:cNvSpPr>
            <p:nvPr/>
          </p:nvSpPr>
          <p:spPr bwMode="auto">
            <a:xfrm flipH="1">
              <a:off x="2601130" y="2137558"/>
              <a:ext cx="990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25" name="Text Box 22"/>
            <p:cNvSpPr txBox="1">
              <a:spLocks noChangeArrowheads="1"/>
            </p:cNvSpPr>
            <p:nvPr/>
          </p:nvSpPr>
          <p:spPr bwMode="auto">
            <a:xfrm>
              <a:off x="2143930" y="1968767"/>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i="1" baseline="-25000"/>
                <a:t>M</a:t>
              </a:r>
              <a:endParaRPr lang="en-US" altLang="en-US" sz="1800" baseline="-25000"/>
            </a:p>
          </p:txBody>
        </p:sp>
      </p:grpSp>
      <p:grpSp>
        <p:nvGrpSpPr>
          <p:cNvPr id="35" name="Group 28"/>
          <p:cNvGrpSpPr>
            <a:grpSpLocks/>
          </p:cNvGrpSpPr>
          <p:nvPr/>
        </p:nvGrpSpPr>
        <p:grpSpPr bwMode="auto">
          <a:xfrm>
            <a:off x="820738" y="1909762"/>
            <a:ext cx="3571875" cy="2968625"/>
            <a:chOff x="2601130" y="1299358"/>
            <a:chExt cx="3573115" cy="2967491"/>
          </a:xfrm>
        </p:grpSpPr>
        <p:sp>
          <p:nvSpPr>
            <p:cNvPr id="37922" name="Line 6"/>
            <p:cNvSpPr>
              <a:spLocks noChangeShapeType="1"/>
            </p:cNvSpPr>
            <p:nvPr/>
          </p:nvSpPr>
          <p:spPr bwMode="auto">
            <a:xfrm>
              <a:off x="2601130" y="1299358"/>
              <a:ext cx="3276600" cy="26670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23" name="Text Box 25"/>
            <p:cNvSpPr txBox="1">
              <a:spLocks noChangeArrowheads="1"/>
            </p:cNvSpPr>
            <p:nvPr/>
          </p:nvSpPr>
          <p:spPr bwMode="auto">
            <a:xfrm>
              <a:off x="5822867" y="3897517"/>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D</a:t>
              </a:r>
              <a:endParaRPr lang="en-US" altLang="en-US" sz="1800" dirty="0">
                <a:solidFill>
                  <a:srgbClr val="C00000"/>
                </a:solidFill>
              </a:endParaRPr>
            </a:p>
          </p:txBody>
        </p:sp>
      </p:grpSp>
      <p:grpSp>
        <p:nvGrpSpPr>
          <p:cNvPr id="38" name="Group 29"/>
          <p:cNvGrpSpPr>
            <a:grpSpLocks/>
          </p:cNvGrpSpPr>
          <p:nvPr/>
        </p:nvGrpSpPr>
        <p:grpSpPr bwMode="auto">
          <a:xfrm>
            <a:off x="820738" y="1909762"/>
            <a:ext cx="2128837" cy="3173413"/>
            <a:chOff x="2601130" y="1299358"/>
            <a:chExt cx="2129651" cy="3172341"/>
          </a:xfrm>
        </p:grpSpPr>
        <p:sp>
          <p:nvSpPr>
            <p:cNvPr id="37920" name="Line 7"/>
            <p:cNvSpPr>
              <a:spLocks noChangeShapeType="1"/>
            </p:cNvSpPr>
            <p:nvPr/>
          </p:nvSpPr>
          <p:spPr bwMode="auto">
            <a:xfrm>
              <a:off x="2601130" y="1299358"/>
              <a:ext cx="1600200" cy="28956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7921" name="Text Box 26"/>
            <p:cNvSpPr txBox="1">
              <a:spLocks noChangeArrowheads="1"/>
            </p:cNvSpPr>
            <p:nvPr/>
          </p:nvSpPr>
          <p:spPr bwMode="auto">
            <a:xfrm>
              <a:off x="4187042" y="4102367"/>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MR</a:t>
              </a:r>
              <a:endParaRPr lang="en-US" altLang="en-US" sz="1800" dirty="0">
                <a:solidFill>
                  <a:srgbClr val="C00000"/>
                </a:solidFill>
              </a:endParaRPr>
            </a:p>
          </p:txBody>
        </p:sp>
      </p:grpSp>
      <p:grpSp>
        <p:nvGrpSpPr>
          <p:cNvPr id="41" name="Group 34"/>
          <p:cNvGrpSpPr>
            <a:grpSpLocks/>
          </p:cNvGrpSpPr>
          <p:nvPr/>
        </p:nvGrpSpPr>
        <p:grpSpPr bwMode="auto">
          <a:xfrm>
            <a:off x="2185988" y="3187700"/>
            <a:ext cx="466725" cy="2276475"/>
            <a:chOff x="3363130" y="2576944"/>
            <a:chExt cx="466794" cy="2275755"/>
          </a:xfrm>
        </p:grpSpPr>
        <p:sp>
          <p:nvSpPr>
            <p:cNvPr id="37918" name="Line 19"/>
            <p:cNvSpPr>
              <a:spLocks noChangeShapeType="1"/>
            </p:cNvSpPr>
            <p:nvPr/>
          </p:nvSpPr>
          <p:spPr bwMode="auto">
            <a:xfrm>
              <a:off x="3588340" y="2576944"/>
              <a:ext cx="3390" cy="19228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19" name="Text Box 20"/>
            <p:cNvSpPr txBox="1">
              <a:spLocks noChangeArrowheads="1"/>
            </p:cNvSpPr>
            <p:nvPr/>
          </p:nvSpPr>
          <p:spPr bwMode="auto">
            <a:xfrm>
              <a:off x="3363130" y="4483367"/>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i="1" baseline="-25000"/>
                <a:t>A</a:t>
              </a:r>
              <a:endParaRPr lang="en-US" altLang="en-US" sz="1800" baseline="-25000"/>
            </a:p>
          </p:txBody>
        </p:sp>
      </p:grpSp>
      <p:grpSp>
        <p:nvGrpSpPr>
          <p:cNvPr id="44" name="Group 37"/>
          <p:cNvGrpSpPr>
            <a:grpSpLocks/>
          </p:cNvGrpSpPr>
          <p:nvPr/>
        </p:nvGrpSpPr>
        <p:grpSpPr bwMode="auto">
          <a:xfrm>
            <a:off x="363538" y="3017837"/>
            <a:ext cx="2047875" cy="368300"/>
            <a:chOff x="2143930" y="1968767"/>
            <a:chExt cx="2048060" cy="369332"/>
          </a:xfrm>
        </p:grpSpPr>
        <p:sp>
          <p:nvSpPr>
            <p:cNvPr id="37916" name="Line 21"/>
            <p:cNvSpPr>
              <a:spLocks noChangeShapeType="1"/>
            </p:cNvSpPr>
            <p:nvPr/>
          </p:nvSpPr>
          <p:spPr bwMode="auto">
            <a:xfrm flipH="1" flipV="1">
              <a:off x="2606040" y="2138160"/>
              <a:ext cx="1585950" cy="138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7917" name="Text Box 22"/>
            <p:cNvSpPr txBox="1">
              <a:spLocks noChangeArrowheads="1"/>
            </p:cNvSpPr>
            <p:nvPr/>
          </p:nvSpPr>
          <p:spPr bwMode="auto">
            <a:xfrm>
              <a:off x="2143930" y="1968767"/>
              <a:ext cx="4240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i="1" baseline="-25000"/>
                <a:t>A</a:t>
              </a:r>
              <a:endParaRPr lang="en-US" altLang="en-US" sz="1800" baseline="-25000"/>
            </a:p>
          </p:txBody>
        </p:sp>
      </p:grpSp>
      <p:grpSp>
        <p:nvGrpSpPr>
          <p:cNvPr id="47" name="Group 56"/>
          <p:cNvGrpSpPr>
            <a:grpSpLocks/>
          </p:cNvGrpSpPr>
          <p:nvPr/>
        </p:nvGrpSpPr>
        <p:grpSpPr bwMode="auto">
          <a:xfrm>
            <a:off x="2366963" y="2846387"/>
            <a:ext cx="415925" cy="381000"/>
            <a:chOff x="4906435" y="3576187"/>
            <a:chExt cx="415873" cy="382334"/>
          </a:xfrm>
        </p:grpSpPr>
        <p:sp>
          <p:nvSpPr>
            <p:cNvPr id="37914" name="Text Box 23"/>
            <p:cNvSpPr txBox="1">
              <a:spLocks noChangeArrowheads="1"/>
            </p:cNvSpPr>
            <p:nvPr/>
          </p:nvSpPr>
          <p:spPr bwMode="auto">
            <a:xfrm>
              <a:off x="4936545" y="3576187"/>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A</a:t>
              </a:r>
            </a:p>
          </p:txBody>
        </p:sp>
        <p:sp>
          <p:nvSpPr>
            <p:cNvPr id="37915"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6" name="Group 56"/>
          <p:cNvGrpSpPr>
            <a:grpSpLocks/>
          </p:cNvGrpSpPr>
          <p:nvPr/>
        </p:nvGrpSpPr>
        <p:grpSpPr bwMode="auto">
          <a:xfrm>
            <a:off x="1806575" y="2397125"/>
            <a:ext cx="415925" cy="381000"/>
            <a:chOff x="4906435" y="3576187"/>
            <a:chExt cx="415873" cy="382334"/>
          </a:xfrm>
        </p:grpSpPr>
        <p:sp>
          <p:nvSpPr>
            <p:cNvPr id="37912" name="Text Box 23"/>
            <p:cNvSpPr txBox="1">
              <a:spLocks noChangeArrowheads="1"/>
            </p:cNvSpPr>
            <p:nvPr/>
          </p:nvSpPr>
          <p:spPr bwMode="auto">
            <a:xfrm>
              <a:off x="4936545" y="3576187"/>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M</a:t>
              </a:r>
            </a:p>
          </p:txBody>
        </p:sp>
        <p:sp>
          <p:nvSpPr>
            <p:cNvPr id="37913"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7" name="Group 56"/>
          <p:cNvGrpSpPr>
            <a:grpSpLocks/>
          </p:cNvGrpSpPr>
          <p:nvPr/>
        </p:nvGrpSpPr>
        <p:grpSpPr bwMode="auto">
          <a:xfrm>
            <a:off x="3040063" y="3392487"/>
            <a:ext cx="415925" cy="381000"/>
            <a:chOff x="4906435" y="3576187"/>
            <a:chExt cx="415873" cy="382334"/>
          </a:xfrm>
        </p:grpSpPr>
        <p:sp>
          <p:nvSpPr>
            <p:cNvPr id="37910" name="Text Box 23"/>
            <p:cNvSpPr txBox="1">
              <a:spLocks noChangeArrowheads="1"/>
            </p:cNvSpPr>
            <p:nvPr/>
          </p:nvSpPr>
          <p:spPr bwMode="auto">
            <a:xfrm>
              <a:off x="4936545" y="3576187"/>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C</a:t>
              </a:r>
            </a:p>
          </p:txBody>
        </p:sp>
        <p:sp>
          <p:nvSpPr>
            <p:cNvPr id="37911"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2829377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
                                        <p:tgtEl>
                                          <p:spTgt spid="3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left)">
                                      <p:cBhvr>
                                        <p:cTn id="23" dur="500"/>
                                        <p:tgtEl>
                                          <p:spTgt spid="57"/>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up)">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up)">
                                      <p:cBhvr>
                                        <p:cTn id="32" dur="500"/>
                                        <p:tgtEl>
                                          <p:spTgt spid="33"/>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wipe(left)">
                                      <p:cBhvr>
                                        <p:cTn id="36" dur="500"/>
                                        <p:tgtEl>
                                          <p:spTgt spid="56"/>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500"/>
                                        <p:tgtEl>
                                          <p:spTgt spid="34"/>
                                        </p:tgtEl>
                                      </p:cBhvr>
                                    </p:animEffect>
                                  </p:childTnLst>
                                </p:cTn>
                              </p:par>
                            </p:childTnLst>
                          </p:cTn>
                        </p:par>
                        <p:par>
                          <p:cTn id="41" fill="hold" nodeType="afterGroup">
                            <p:stCondLst>
                              <p:cond delay="1500"/>
                            </p:stCondLst>
                            <p:childTnLst>
                              <p:par>
                                <p:cTn id="42" presetID="22" presetClass="entr" presetSubtype="8" fill="hold" nodeType="after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wipe(left)">
                                      <p:cBhvr>
                                        <p:cTn id="44" dur="500"/>
                                        <p:tgtEl>
                                          <p:spTgt spid="44"/>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left)">
                                      <p:cBhvr>
                                        <p:cTn id="48" dur="500"/>
                                        <p:tgtEl>
                                          <p:spTgt spid="47"/>
                                        </p:tgtEl>
                                      </p:cBhvr>
                                    </p:animEffect>
                                  </p:childTnLst>
                                </p:cTn>
                              </p:par>
                            </p:childTnLst>
                          </p:cTn>
                        </p:par>
                        <p:par>
                          <p:cTn id="49" fill="hold" nodeType="afterGroup">
                            <p:stCondLst>
                              <p:cond delay="2500"/>
                            </p:stCondLst>
                            <p:childTnLst>
                              <p:par>
                                <p:cTn id="50" presetID="22" presetClass="entr" presetSubtype="1" fill="hold"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up)">
                                      <p:cBhvr>
                                        <p:cTn id="52" dur="500"/>
                                        <p:tgtEl>
                                          <p:spTgt spid="41"/>
                                        </p:tgtEl>
                                      </p:cBhvr>
                                    </p:animEffect>
                                  </p:childTnLst>
                                </p:cTn>
                              </p:par>
                            </p:childTnLst>
                          </p:cTn>
                        </p:par>
                        <p:par>
                          <p:cTn id="53" fill="hold" nodeType="afterGroup">
                            <p:stCondLst>
                              <p:cond delay="3000"/>
                            </p:stCondLst>
                            <p:childTnLst>
                              <p:par>
                                <p:cTn id="54" presetID="22" presetClass="entr" presetSubtype="8" fill="hold"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cTn>
                              </p:par>
                            </p:childTnLst>
                          </p:cTn>
                        </p:par>
                        <p:par>
                          <p:cTn id="57" fill="hold" nodeType="afterGroup">
                            <p:stCondLst>
                              <p:cond delay="3500"/>
                            </p:stCondLst>
                            <p:childTnLst>
                              <p:par>
                                <p:cTn id="58" presetID="22" presetClass="entr" presetSubtype="8" fill="hold"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childTnLst>
                          </p:cTn>
                        </p:par>
                        <p:par>
                          <p:cTn id="61" fill="hold" nodeType="afterGroup">
                            <p:stCondLst>
                              <p:cond delay="4000"/>
                            </p:stCondLst>
                            <p:childTnLst>
                              <p:par>
                                <p:cTn id="62" presetID="22" presetClass="entr" presetSubtype="8" fill="hold"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childTnLst>
                          </p:cTn>
                        </p:par>
                        <p:par>
                          <p:cTn id="65" fill="hold">
                            <p:stCondLst>
                              <p:cond delay="4500"/>
                            </p:stCondLst>
                            <p:childTnLst>
                              <p:par>
                                <p:cTn id="66" presetID="22" presetClass="entr" presetSubtype="8" fill="hold" grpId="0" nodeType="afterEffect">
                                  <p:stCondLst>
                                    <p:cond delay="0"/>
                                  </p:stCondLst>
                                  <p:childTnLst>
                                    <p:set>
                                      <p:cBhvr>
                                        <p:cTn id="67" dur="1" fill="hold">
                                          <p:stCondLst>
                                            <p:cond delay="0"/>
                                          </p:stCondLst>
                                        </p:cTn>
                                        <p:tgtEl>
                                          <p:spTgt spid="37894">
                                            <p:txEl>
                                              <p:pRg st="0" end="0"/>
                                            </p:txEl>
                                          </p:spTgt>
                                        </p:tgtEl>
                                        <p:attrNameLst>
                                          <p:attrName>style.visibility</p:attrName>
                                        </p:attrNameLst>
                                      </p:cBhvr>
                                      <p:to>
                                        <p:strVal val="visible"/>
                                      </p:to>
                                    </p:set>
                                    <p:animEffect transition="in" filter="wipe(left)">
                                      <p:cBhvr>
                                        <p:cTn id="68" dur="500"/>
                                        <p:tgtEl>
                                          <p:spTgt spid="3789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Bertrand Model</a:t>
            </a:r>
          </a:p>
        </p:txBody>
      </p:sp>
      <p:sp>
        <p:nvSpPr>
          <p:cNvPr id="38915" name="Rectangle 3"/>
          <p:cNvSpPr>
            <a:spLocks noGrp="1" noChangeArrowheads="1"/>
          </p:cNvSpPr>
          <p:nvPr>
            <p:ph idx="1"/>
          </p:nvPr>
        </p:nvSpPr>
        <p:spPr/>
        <p:txBody>
          <a:bodyPr/>
          <a:lstStyle/>
          <a:p>
            <a:r>
              <a:rPr lang="en-US" altLang="en-US" dirty="0" smtClean="0"/>
              <a:t>Two identical firms </a:t>
            </a:r>
          </a:p>
          <a:p>
            <a:pPr lvl="1"/>
            <a:r>
              <a:rPr lang="en-US" altLang="en-US" dirty="0" smtClean="0"/>
              <a:t>Producing identical products at a constant </a:t>
            </a:r>
            <a:endParaRPr lang="en-US" altLang="en-US" dirty="0" smtClean="0"/>
          </a:p>
          <a:p>
            <a:pPr marL="457200" lvl="1" indent="0">
              <a:buNone/>
            </a:pPr>
            <a:r>
              <a:rPr lang="en-US" altLang="en-US" i="1" dirty="0" smtClean="0"/>
              <a:t>MC = AC </a:t>
            </a:r>
            <a:r>
              <a:rPr lang="en-US" altLang="en-US" i="1" dirty="0" smtClean="0"/>
              <a:t>= c</a:t>
            </a:r>
            <a:endParaRPr lang="en-US" altLang="en-US" dirty="0" smtClean="0"/>
          </a:p>
          <a:p>
            <a:pPr lvl="1"/>
            <a:r>
              <a:rPr lang="en-US" altLang="en-US" dirty="0" smtClean="0"/>
              <a:t>Choose prices </a:t>
            </a:r>
            <a:r>
              <a:rPr lang="en-US" altLang="en-US" i="1" dirty="0" smtClean="0"/>
              <a:t>p</a:t>
            </a:r>
            <a:r>
              <a:rPr lang="en-US" altLang="en-US" baseline="-25000" dirty="0" smtClean="0"/>
              <a:t>1</a:t>
            </a:r>
            <a:r>
              <a:rPr lang="en-US" altLang="en-US" dirty="0" smtClean="0"/>
              <a:t> and </a:t>
            </a:r>
            <a:r>
              <a:rPr lang="en-US" altLang="en-US" i="1" dirty="0" smtClean="0"/>
              <a:t>p</a:t>
            </a:r>
            <a:r>
              <a:rPr lang="en-US" altLang="en-US" baseline="-25000" dirty="0" smtClean="0"/>
              <a:t>2</a:t>
            </a:r>
            <a:r>
              <a:rPr lang="en-US" altLang="en-US" dirty="0" smtClean="0"/>
              <a:t> simultaneously</a:t>
            </a:r>
          </a:p>
          <a:p>
            <a:pPr lvl="2"/>
            <a:r>
              <a:rPr lang="en-US" altLang="en-US" dirty="0" smtClean="0"/>
              <a:t>Single period of competition</a:t>
            </a:r>
          </a:p>
          <a:p>
            <a:pPr lvl="1"/>
            <a:r>
              <a:rPr lang="en-US" altLang="en-US" dirty="0" smtClean="0"/>
              <a:t>Sales</a:t>
            </a:r>
          </a:p>
          <a:p>
            <a:pPr lvl="2"/>
            <a:r>
              <a:rPr lang="en-US" altLang="en-US" dirty="0" smtClean="0"/>
              <a:t>All sales go to the firm with the lowest price</a:t>
            </a:r>
          </a:p>
          <a:p>
            <a:pPr lvl="2"/>
            <a:r>
              <a:rPr lang="en-US" altLang="en-US" dirty="0" smtClean="0"/>
              <a:t>Sales are split evenly if </a:t>
            </a:r>
            <a:r>
              <a:rPr lang="en-US" altLang="en-US" i="1" dirty="0" smtClean="0"/>
              <a:t>p</a:t>
            </a:r>
            <a:r>
              <a:rPr lang="en-US" altLang="en-US" baseline="-25000" dirty="0" smtClean="0"/>
              <a:t>1</a:t>
            </a:r>
            <a:r>
              <a:rPr lang="en-US" altLang="en-US" dirty="0" smtClean="0"/>
              <a:t> = </a:t>
            </a:r>
            <a:r>
              <a:rPr lang="en-US" altLang="en-US" i="1" dirty="0" smtClean="0"/>
              <a:t>p</a:t>
            </a:r>
            <a:r>
              <a:rPr lang="en-US" altLang="en-US" baseline="-25000" dirty="0" smtClean="0"/>
              <a:t>2</a:t>
            </a:r>
            <a:r>
              <a:rPr lang="en-US" altLang="en-US" dirty="0" smtClean="0"/>
              <a:t> </a:t>
            </a:r>
            <a:endParaRPr lang="en-US" altLang="en-US" dirty="0" smtClean="0"/>
          </a:p>
          <a:p>
            <a:pPr lvl="1"/>
            <a:r>
              <a:rPr lang="en-US" altLang="en-US" dirty="0" smtClean="0"/>
              <a:t>Market demand </a:t>
            </a:r>
            <a:r>
              <a:rPr lang="en-US" altLang="en-US" i="1" dirty="0" smtClean="0"/>
              <a:t>D(p)</a:t>
            </a:r>
            <a:endParaRPr lang="en-US" altLang="en-US" i="1"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A39322A-E13A-4A80-ABE6-66684223C81D}" type="slidenum">
              <a:rPr lang="en-US" smtClean="0"/>
              <a:pPr>
                <a:defRPr/>
              </a:pPr>
              <a:t>5</a:t>
            </a:fld>
            <a:endParaRPr lang="en-US"/>
          </a:p>
        </p:txBody>
      </p:sp>
    </p:spTree>
    <p:extLst>
      <p:ext uri="{BB962C8B-B14F-4D97-AF65-F5344CB8AC3E}">
        <p14:creationId xmlns:p14="http://schemas.microsoft.com/office/powerpoint/2010/main" val="16551947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mtClean="0"/>
              <a:t>Nash Equilibrium of the Bertrand Model</a:t>
            </a:r>
          </a:p>
        </p:txBody>
      </p:sp>
      <mc:AlternateContent xmlns:mc="http://schemas.openxmlformats.org/markup-compatibility/2006">
        <mc:Choice xmlns:a14="http://schemas.microsoft.com/office/drawing/2010/main" Requires="a14">
          <p:sp>
            <p:nvSpPr>
              <p:cNvPr id="39939" name="Rectangle 3"/>
              <p:cNvSpPr>
                <a:spLocks noGrp="1" noChangeArrowheads="1"/>
              </p:cNvSpPr>
              <p:nvPr>
                <p:ph idx="1"/>
              </p:nvPr>
            </p:nvSpPr>
            <p:spPr/>
            <p:txBody>
              <a:bodyPr/>
              <a:lstStyle/>
              <a:p>
                <a:r>
                  <a:rPr lang="en-US" altLang="en-US" dirty="0" smtClean="0"/>
                  <a:t>Pure-strategy Nash equilibrium: </a:t>
                </a:r>
                <a:r>
                  <a:rPr lang="en-US" altLang="en-US" i="1" dirty="0" smtClean="0">
                    <a:solidFill>
                      <a:srgbClr val="FF0000"/>
                    </a:solidFill>
                  </a:rPr>
                  <a:t>p</a:t>
                </a:r>
                <a:r>
                  <a:rPr lang="en-US" altLang="en-US" baseline="-25000" dirty="0" smtClean="0">
                    <a:solidFill>
                      <a:srgbClr val="FF0000"/>
                    </a:solidFill>
                  </a:rPr>
                  <a:t>1</a:t>
                </a:r>
                <a:r>
                  <a:rPr lang="en-US" altLang="en-US" baseline="30000" dirty="0" smtClean="0">
                    <a:solidFill>
                      <a:srgbClr val="FF0000"/>
                    </a:solidFill>
                  </a:rPr>
                  <a:t>*</a:t>
                </a:r>
                <a:r>
                  <a:rPr lang="en-US" altLang="en-US" dirty="0" smtClean="0">
                    <a:solidFill>
                      <a:srgbClr val="FF0000"/>
                    </a:solidFill>
                  </a:rPr>
                  <a:t>=</a:t>
                </a:r>
                <a:r>
                  <a:rPr lang="en-US" altLang="en-US" i="1" dirty="0" smtClean="0">
                    <a:solidFill>
                      <a:srgbClr val="FF0000"/>
                    </a:solidFill>
                  </a:rPr>
                  <a:t>p</a:t>
                </a:r>
                <a:r>
                  <a:rPr lang="en-US" altLang="en-US" baseline="-25000" dirty="0" smtClean="0">
                    <a:solidFill>
                      <a:srgbClr val="FF0000"/>
                    </a:solidFill>
                  </a:rPr>
                  <a:t>2</a:t>
                </a:r>
                <a:r>
                  <a:rPr lang="en-US" altLang="en-US" baseline="30000" dirty="0" smtClean="0">
                    <a:solidFill>
                      <a:srgbClr val="FF0000"/>
                    </a:solidFill>
                  </a:rPr>
                  <a:t>*</a:t>
                </a:r>
                <a:r>
                  <a:rPr lang="en-US" altLang="en-US" dirty="0" smtClean="0">
                    <a:solidFill>
                      <a:srgbClr val="FF0000"/>
                    </a:solidFill>
                  </a:rPr>
                  <a:t>=</a:t>
                </a:r>
                <a:r>
                  <a:rPr lang="en-US" altLang="en-US" i="1" dirty="0" smtClean="0">
                    <a:solidFill>
                      <a:srgbClr val="FF0000"/>
                    </a:solidFill>
                  </a:rPr>
                  <a:t>c</a:t>
                </a:r>
                <a:endParaRPr lang="en-US" altLang="en-US" dirty="0" smtClean="0">
                  <a:solidFill>
                    <a:srgbClr val="FF0000"/>
                  </a:solidFill>
                </a:endParaRPr>
              </a:p>
              <a:p>
                <a:pPr lvl="1"/>
                <a:r>
                  <a:rPr lang="en-US" altLang="en-US" sz="3000" dirty="0" smtClean="0"/>
                  <a:t>Both firms are playing a best response to each other</a:t>
                </a:r>
              </a:p>
              <a:p>
                <a:pPr lvl="2"/>
                <a:r>
                  <a:rPr lang="en-US" altLang="en-US" dirty="0" smtClean="0"/>
                  <a:t>Neither firm has an incentive to deviate to some other strategy</a:t>
                </a:r>
              </a:p>
              <a:p>
                <a:r>
                  <a:rPr lang="en-US" altLang="en-US" dirty="0" smtClean="0"/>
                  <a:t>Assume </a:t>
                </a:r>
                <a:r>
                  <a:rPr lang="en-US" altLang="en-US" i="1" dirty="0" smtClean="0"/>
                  <a:t>p</a:t>
                </a:r>
                <a:r>
                  <a:rPr lang="en-US" altLang="en-US" i="1" baseline="-25000" dirty="0" smtClean="0"/>
                  <a:t>1</a:t>
                </a:r>
                <a:r>
                  <a:rPr lang="en-US" altLang="en-US" dirty="0" smtClean="0"/>
                  <a:t> </a:t>
                </a:r>
                <a14:m>
                  <m:oMath xmlns:m="http://schemas.openxmlformats.org/officeDocument/2006/math">
                    <m:r>
                      <a:rPr lang="en-US" altLang="en-US" i="1" smtClean="0">
                        <a:latin typeface="Cambria Math"/>
                        <a:ea typeface="Cambria Math"/>
                      </a:rPr>
                      <m:t>≤</m:t>
                    </m:r>
                  </m:oMath>
                </a14:m>
                <a:r>
                  <a:rPr lang="en-US" altLang="en-US" dirty="0" smtClean="0"/>
                  <a:t> </a:t>
                </a:r>
                <a:r>
                  <a:rPr lang="en-US" altLang="en-US" i="1" dirty="0" smtClean="0"/>
                  <a:t>p</a:t>
                </a:r>
                <a:r>
                  <a:rPr lang="en-US" altLang="en-US" i="1" baseline="-25000" dirty="0" smtClean="0"/>
                  <a:t>2</a:t>
                </a:r>
              </a:p>
              <a:p>
                <a:r>
                  <a:rPr lang="en-US" altLang="en-US" sz="3200" dirty="0" smtClean="0"/>
                  <a:t>If </a:t>
                </a:r>
                <a:r>
                  <a:rPr lang="en-US" altLang="en-US" sz="3200" i="1" dirty="0" smtClean="0"/>
                  <a:t>c</a:t>
                </a:r>
                <a:r>
                  <a:rPr lang="en-US" altLang="en-US" sz="3200" dirty="0" smtClean="0"/>
                  <a:t> &gt; </a:t>
                </a:r>
                <a:r>
                  <a:rPr lang="en-US" altLang="en-US" sz="3200" i="1" dirty="0" smtClean="0"/>
                  <a:t>p</a:t>
                </a:r>
                <a:r>
                  <a:rPr lang="en-US" altLang="en-US" sz="3200" baseline="-25000" dirty="0" smtClean="0"/>
                  <a:t>1</a:t>
                </a:r>
                <a:r>
                  <a:rPr lang="en-US" altLang="en-US" sz="3200" dirty="0" smtClean="0"/>
                  <a:t>: not a Nash equilibrium </a:t>
                </a:r>
                <a:endParaRPr lang="en-US" altLang="en-US" sz="3200" dirty="0" smtClean="0"/>
              </a:p>
              <a:p>
                <a:pPr lvl="2"/>
                <a:r>
                  <a:rPr lang="en-US" altLang="en-US" dirty="0"/>
                  <a:t>Firm </a:t>
                </a:r>
                <a:r>
                  <a:rPr lang="en-US" altLang="en-US" dirty="0" smtClean="0"/>
                  <a:t>1: </a:t>
                </a:r>
                <a:r>
                  <a:rPr lang="en-US" altLang="en-US" dirty="0"/>
                  <a:t>negative margin </a:t>
                </a:r>
                <a:r>
                  <a:rPr lang="en-US" altLang="en-US" dirty="0" smtClean="0"/>
                  <a:t>p</a:t>
                </a:r>
                <a:r>
                  <a:rPr lang="en-US" altLang="en-US" baseline="-25000" dirty="0" smtClean="0"/>
                  <a:t>1</a:t>
                </a:r>
                <a:r>
                  <a:rPr lang="en-US" altLang="en-US" dirty="0" smtClean="0"/>
                  <a:t> - </a:t>
                </a:r>
                <a:r>
                  <a:rPr lang="en-US" altLang="en-US" dirty="0"/>
                  <a:t>c on every unit it </a:t>
                </a:r>
                <a:r>
                  <a:rPr lang="en-US" altLang="en-US" dirty="0" smtClean="0"/>
                  <a:t>sells; it </a:t>
                </a:r>
                <a:r>
                  <a:rPr lang="en-US" altLang="en-US" dirty="0"/>
                  <a:t>could earn higher profit </a:t>
                </a:r>
                <a:r>
                  <a:rPr lang="en-US" altLang="en-US" dirty="0" smtClean="0"/>
                  <a:t>by increasing the price</a:t>
                </a:r>
                <a:endParaRPr lang="en-US" altLang="en-US" dirty="0" smtClean="0"/>
              </a:p>
            </p:txBody>
          </p:sp>
        </mc:Choice>
        <mc:Fallback>
          <p:sp>
            <p:nvSpPr>
              <p:cNvPr id="39939"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214" b="-2353"/>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6A90468-0CD1-4B22-BED4-A5E370F38A7F}" type="slidenum">
              <a:rPr lang="en-US" smtClean="0"/>
              <a:pPr>
                <a:defRPr/>
              </a:pPr>
              <a:t>6</a:t>
            </a:fld>
            <a:endParaRPr lang="en-US"/>
          </a:p>
        </p:txBody>
      </p:sp>
    </p:spTree>
    <p:extLst>
      <p:ext uri="{BB962C8B-B14F-4D97-AF65-F5344CB8AC3E}">
        <p14:creationId xmlns:p14="http://schemas.microsoft.com/office/powerpoint/2010/main" val="17422159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smtClean="0"/>
              <a:t>Nash Equilibrium of the Bertrand Model</a:t>
            </a:r>
          </a:p>
        </p:txBody>
      </p:sp>
      <p:sp>
        <p:nvSpPr>
          <p:cNvPr id="40963" name="Rectangle 3"/>
          <p:cNvSpPr>
            <a:spLocks noGrp="1" noChangeArrowheads="1"/>
          </p:cNvSpPr>
          <p:nvPr>
            <p:ph idx="1"/>
          </p:nvPr>
        </p:nvSpPr>
        <p:spPr/>
        <p:txBody>
          <a:bodyPr/>
          <a:lstStyle/>
          <a:p>
            <a:r>
              <a:rPr lang="en-US" altLang="en-US" dirty="0" smtClean="0"/>
              <a:t>If </a:t>
            </a:r>
            <a:r>
              <a:rPr lang="en-US" altLang="en-US" dirty="0" smtClean="0"/>
              <a:t>c &lt; </a:t>
            </a:r>
            <a:r>
              <a:rPr lang="en-US" altLang="en-US" i="1" dirty="0" smtClean="0"/>
              <a:t>p</a:t>
            </a:r>
            <a:r>
              <a:rPr lang="en-US" altLang="en-US" baseline="-25000" dirty="0" smtClean="0"/>
              <a:t>1</a:t>
            </a:r>
            <a:r>
              <a:rPr lang="en-US" altLang="en-US" dirty="0" smtClean="0"/>
              <a:t> : not a Nash equilibrium</a:t>
            </a:r>
            <a:endParaRPr lang="en-US" altLang="en-US" i="1" dirty="0" smtClean="0"/>
          </a:p>
          <a:p>
            <a:pPr lvl="1"/>
            <a:r>
              <a:rPr lang="en-US" altLang="en-US" dirty="0"/>
              <a:t>Firm 2 could capture </a:t>
            </a:r>
            <a:r>
              <a:rPr lang="en-US" altLang="en-US" dirty="0" smtClean="0"/>
              <a:t>all the </a:t>
            </a:r>
            <a:r>
              <a:rPr lang="en-US" altLang="en-US" dirty="0"/>
              <a:t>market demand by undercutting firm 1’s price by a tiny </a:t>
            </a:r>
            <a:r>
              <a:rPr lang="en-US" altLang="en-US" dirty="0" smtClean="0"/>
              <a:t>amount</a:t>
            </a:r>
          </a:p>
          <a:p>
            <a:r>
              <a:rPr lang="en-US" altLang="en-US" dirty="0" smtClean="0"/>
              <a:t>If </a:t>
            </a:r>
            <a:r>
              <a:rPr lang="en-US" altLang="en-US" i="1" dirty="0" smtClean="0"/>
              <a:t>c = p</a:t>
            </a:r>
            <a:r>
              <a:rPr lang="en-US" altLang="en-US" i="1" baseline="-25000" dirty="0" smtClean="0"/>
              <a:t>1</a:t>
            </a:r>
            <a:r>
              <a:rPr lang="en-US" altLang="en-US" i="1" dirty="0" smtClean="0"/>
              <a:t> &lt; p</a:t>
            </a:r>
            <a:r>
              <a:rPr lang="en-US" altLang="en-US" i="1" baseline="-25000" dirty="0" smtClean="0"/>
              <a:t>2</a:t>
            </a:r>
            <a:r>
              <a:rPr lang="en-US" altLang="en-US" dirty="0" smtClean="0"/>
              <a:t>: not a Nash equilibrium</a:t>
            </a:r>
          </a:p>
          <a:p>
            <a:pPr lvl="1"/>
            <a:r>
              <a:rPr lang="en-US" altLang="en-US" dirty="0"/>
              <a:t>Firm 1 earns zero profit here but could earn positive profit by </a:t>
            </a:r>
            <a:r>
              <a:rPr lang="en-US" altLang="en-US" dirty="0" smtClean="0"/>
              <a:t>deviating to </a:t>
            </a:r>
            <a:r>
              <a:rPr lang="en-US" altLang="en-US" dirty="0"/>
              <a:t>a price slightly above </a:t>
            </a:r>
            <a:r>
              <a:rPr lang="en-US" altLang="en-US" i="1" dirty="0"/>
              <a:t>c</a:t>
            </a:r>
            <a:r>
              <a:rPr lang="en-US" altLang="en-US" dirty="0"/>
              <a:t> but still below </a:t>
            </a:r>
            <a:r>
              <a:rPr lang="en-US" altLang="en-US" i="1" dirty="0" smtClean="0"/>
              <a:t>p</a:t>
            </a:r>
            <a:r>
              <a:rPr lang="en-US" altLang="en-US" i="1" baseline="-25000" dirty="0" smtClean="0"/>
              <a:t>2</a:t>
            </a:r>
            <a:endParaRPr lang="en-US" altLang="en-US" i="1"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F1B7216-1511-4812-8EFB-4C9466A7DC38}" type="slidenum">
              <a:rPr lang="en-US" smtClean="0"/>
              <a:pPr>
                <a:defRPr/>
              </a:pPr>
              <a:t>7</a:t>
            </a:fld>
            <a:endParaRPr lang="en-US"/>
          </a:p>
        </p:txBody>
      </p:sp>
    </p:spTree>
    <p:extLst>
      <p:ext uri="{BB962C8B-B14F-4D97-AF65-F5344CB8AC3E}">
        <p14:creationId xmlns:p14="http://schemas.microsoft.com/office/powerpoint/2010/main" val="27666710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smtClean="0"/>
              <a:t>Nash Equilibrium of the Bertrand Model</a:t>
            </a:r>
          </a:p>
        </p:txBody>
      </p:sp>
      <p:sp>
        <p:nvSpPr>
          <p:cNvPr id="40963" name="Rectangle 3"/>
          <p:cNvSpPr>
            <a:spLocks noGrp="1" noChangeArrowheads="1"/>
          </p:cNvSpPr>
          <p:nvPr>
            <p:ph idx="1"/>
          </p:nvPr>
        </p:nvSpPr>
        <p:spPr/>
        <p:txBody>
          <a:bodyPr/>
          <a:lstStyle/>
          <a:p>
            <a:r>
              <a:rPr lang="en-US" altLang="en-US" dirty="0" smtClean="0"/>
              <a:t>For </a:t>
            </a:r>
            <a:r>
              <a:rPr lang="en-US" altLang="en-US" dirty="0" smtClean="0"/>
              <a:t>any number of firms </a:t>
            </a:r>
            <a:r>
              <a:rPr lang="en-US" altLang="en-US" i="1" dirty="0" smtClean="0"/>
              <a:t>n</a:t>
            </a:r>
            <a:r>
              <a:rPr lang="en-US" altLang="en-US" dirty="0" smtClean="0"/>
              <a:t> </a:t>
            </a:r>
            <a:r>
              <a:rPr lang="en-US" altLang="en-US" dirty="0" smtClean="0">
                <a:sym typeface="Symbol" pitchFamily="18" charset="2"/>
              </a:rPr>
              <a:t> 2</a:t>
            </a:r>
            <a:endParaRPr lang="en-US" altLang="en-US" dirty="0" smtClean="0"/>
          </a:p>
          <a:p>
            <a:pPr lvl="1"/>
            <a:r>
              <a:rPr lang="en-US" altLang="en-US" dirty="0" smtClean="0"/>
              <a:t>The same result</a:t>
            </a:r>
            <a:endParaRPr lang="en-US" altLang="en-US" dirty="0" smtClean="0">
              <a:sym typeface="Symbol" pitchFamily="18" charset="2"/>
            </a:endParaRPr>
          </a:p>
          <a:p>
            <a:pPr lvl="1"/>
            <a:r>
              <a:rPr lang="en-US" altLang="en-US" dirty="0" smtClean="0">
                <a:sym typeface="Symbol" pitchFamily="18" charset="2"/>
              </a:rPr>
              <a:t>Nash equilibrium of the </a:t>
            </a:r>
            <a:r>
              <a:rPr lang="en-US" altLang="en-US" i="1" dirty="0" smtClean="0">
                <a:sym typeface="Symbol" pitchFamily="18" charset="2"/>
              </a:rPr>
              <a:t>n</a:t>
            </a:r>
            <a:r>
              <a:rPr lang="en-US" altLang="en-US" dirty="0" smtClean="0">
                <a:sym typeface="Symbol" pitchFamily="18" charset="2"/>
              </a:rPr>
              <a:t>-firm Bertrand game is </a:t>
            </a:r>
            <a:r>
              <a:rPr lang="en-US" altLang="en-US" i="1" dirty="0" smtClean="0"/>
              <a:t>p</a:t>
            </a:r>
            <a:r>
              <a:rPr lang="en-US" altLang="en-US" baseline="-25000" dirty="0" smtClean="0"/>
              <a:t>1</a:t>
            </a:r>
            <a:r>
              <a:rPr lang="en-US" altLang="en-US" baseline="30000" dirty="0" smtClean="0"/>
              <a:t>*</a:t>
            </a:r>
            <a:r>
              <a:rPr lang="en-US" altLang="en-US" dirty="0" smtClean="0"/>
              <a:t> = </a:t>
            </a:r>
            <a:r>
              <a:rPr lang="en-US" altLang="en-US" i="1" dirty="0" smtClean="0"/>
              <a:t>p</a:t>
            </a:r>
            <a:r>
              <a:rPr lang="en-US" altLang="en-US" baseline="-25000" dirty="0" smtClean="0"/>
              <a:t>2</a:t>
            </a:r>
            <a:r>
              <a:rPr lang="en-US" altLang="en-US" baseline="30000" dirty="0" smtClean="0"/>
              <a:t>*</a:t>
            </a:r>
            <a:r>
              <a:rPr lang="en-US" altLang="en-US" dirty="0" smtClean="0"/>
              <a:t> = … = </a:t>
            </a:r>
            <a:r>
              <a:rPr lang="en-US" altLang="en-US" i="1" dirty="0" err="1" smtClean="0"/>
              <a:t>p</a:t>
            </a:r>
            <a:r>
              <a:rPr lang="en-US" altLang="en-US" i="1" baseline="-25000" dirty="0" err="1" smtClean="0"/>
              <a:t>n</a:t>
            </a:r>
            <a:r>
              <a:rPr lang="en-US" altLang="en-US" i="1" baseline="30000" dirty="0" smtClean="0"/>
              <a:t>*</a:t>
            </a:r>
            <a:r>
              <a:rPr lang="en-US" altLang="en-US" dirty="0" smtClean="0"/>
              <a:t>= </a:t>
            </a:r>
            <a:r>
              <a:rPr lang="en-US" altLang="en-US" i="1" dirty="0" smtClean="0"/>
              <a:t>c</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F1B7216-1511-4812-8EFB-4C9466A7DC38}" type="slidenum">
              <a:rPr lang="en-US" smtClean="0"/>
              <a:pPr>
                <a:defRPr/>
              </a:pPr>
              <a:t>8</a:t>
            </a:fld>
            <a:endParaRPr lang="en-US"/>
          </a:p>
        </p:txBody>
      </p:sp>
    </p:spTree>
    <p:extLst>
      <p:ext uri="{BB962C8B-B14F-4D97-AF65-F5344CB8AC3E}">
        <p14:creationId xmlns:p14="http://schemas.microsoft.com/office/powerpoint/2010/main" val="36042360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smtClean="0"/>
              <a:t>Bertrand Paradox</a:t>
            </a:r>
          </a:p>
        </p:txBody>
      </p:sp>
      <p:sp>
        <p:nvSpPr>
          <p:cNvPr id="41987" name="Rectangle 3"/>
          <p:cNvSpPr>
            <a:spLocks noGrp="1" noChangeArrowheads="1"/>
          </p:cNvSpPr>
          <p:nvPr>
            <p:ph idx="1"/>
          </p:nvPr>
        </p:nvSpPr>
        <p:spPr/>
        <p:txBody>
          <a:bodyPr/>
          <a:lstStyle/>
          <a:p>
            <a:r>
              <a:rPr lang="en-US" altLang="en-US" smtClean="0"/>
              <a:t>The Bertrand paradox </a:t>
            </a:r>
          </a:p>
          <a:p>
            <a:pPr lvl="1"/>
            <a:r>
              <a:rPr lang="en-US" altLang="en-US" smtClean="0"/>
              <a:t>The Nash equilibrium of the Bertrand model is the same as the perfectly competitive outcome</a:t>
            </a:r>
          </a:p>
          <a:p>
            <a:pPr lvl="2"/>
            <a:r>
              <a:rPr lang="en-US" altLang="en-US" smtClean="0"/>
              <a:t>Price is set to marginal cost</a:t>
            </a:r>
          </a:p>
          <a:p>
            <a:pPr lvl="2"/>
            <a:r>
              <a:rPr lang="en-US" altLang="en-US" smtClean="0"/>
              <a:t>Firms earn zero profit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3C57A98-BFF7-4791-9757-647DE6D823EC}" type="slidenum">
              <a:rPr lang="en-US" smtClean="0"/>
              <a:pPr>
                <a:defRPr/>
              </a:pPr>
              <a:t>9</a:t>
            </a:fld>
            <a:endParaRPr lang="en-US"/>
          </a:p>
        </p:txBody>
      </p:sp>
    </p:spTree>
    <p:extLst>
      <p:ext uri="{BB962C8B-B14F-4D97-AF65-F5344CB8AC3E}">
        <p14:creationId xmlns:p14="http://schemas.microsoft.com/office/powerpoint/2010/main" val="1104683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Cournot Model</a:t>
            </a:r>
          </a:p>
        </p:txBody>
      </p:sp>
      <p:sp>
        <p:nvSpPr>
          <p:cNvPr id="43011" name="Rectangle 3"/>
          <p:cNvSpPr>
            <a:spLocks noGrp="1" noChangeArrowheads="1"/>
          </p:cNvSpPr>
          <p:nvPr>
            <p:ph idx="1"/>
          </p:nvPr>
        </p:nvSpPr>
        <p:spPr/>
        <p:txBody>
          <a:bodyPr/>
          <a:lstStyle/>
          <a:p>
            <a:r>
              <a:rPr lang="en-US" altLang="en-US" dirty="0" smtClean="0"/>
              <a:t>Firms</a:t>
            </a:r>
          </a:p>
          <a:p>
            <a:pPr lvl="1"/>
            <a:r>
              <a:rPr lang="en-US" altLang="en-US" dirty="0" smtClean="0"/>
              <a:t>Each firm chooses its output </a:t>
            </a:r>
            <a:r>
              <a:rPr lang="en-US" altLang="en-US" i="1" dirty="0" smtClean="0"/>
              <a:t>q</a:t>
            </a:r>
            <a:r>
              <a:rPr lang="en-US" altLang="en-US" i="1" baseline="-25000" dirty="0" smtClean="0"/>
              <a:t>i</a:t>
            </a:r>
            <a:r>
              <a:rPr lang="en-US" altLang="en-US" dirty="0" smtClean="0"/>
              <a:t> of an identical product simultaneously</a:t>
            </a:r>
          </a:p>
          <a:p>
            <a:r>
              <a:rPr lang="en-US" altLang="en-US" dirty="0" smtClean="0"/>
              <a:t>Total industry output: </a:t>
            </a:r>
            <a:r>
              <a:rPr lang="en-US" altLang="en-US" sz="3200" i="1" dirty="0" smtClean="0"/>
              <a:t>Q = q</a:t>
            </a:r>
            <a:r>
              <a:rPr lang="en-US" altLang="en-US" sz="3200" baseline="-25000" dirty="0" smtClean="0"/>
              <a:t>1</a:t>
            </a:r>
            <a:r>
              <a:rPr lang="en-US" altLang="en-US" sz="3200" dirty="0" smtClean="0"/>
              <a:t> + </a:t>
            </a:r>
            <a:r>
              <a:rPr lang="en-US" altLang="en-US" sz="3200" i="1" dirty="0" smtClean="0"/>
              <a:t>q</a:t>
            </a:r>
            <a:r>
              <a:rPr lang="en-US" altLang="en-US" sz="3200" baseline="-25000" dirty="0" smtClean="0"/>
              <a:t>2</a:t>
            </a:r>
            <a:r>
              <a:rPr lang="en-US" altLang="en-US" sz="3200" dirty="0" smtClean="0"/>
              <a:t> +…+ </a:t>
            </a:r>
            <a:r>
              <a:rPr lang="en-US" altLang="en-US" sz="3200" i="1" dirty="0" err="1" smtClean="0"/>
              <a:t>q</a:t>
            </a:r>
            <a:r>
              <a:rPr lang="en-US" altLang="en-US" sz="3200" i="1" baseline="-25000" dirty="0" err="1" smtClean="0"/>
              <a:t>n</a:t>
            </a:r>
            <a:r>
              <a:rPr lang="en-US" altLang="en-US" sz="3200" dirty="0" smtClean="0"/>
              <a:t> </a:t>
            </a:r>
          </a:p>
          <a:p>
            <a:pPr lvl="1"/>
            <a:r>
              <a:rPr lang="en-US" altLang="en-US" dirty="0" smtClean="0"/>
              <a:t>Determines the market price </a:t>
            </a:r>
            <a:r>
              <a:rPr lang="en-US" altLang="en-US" i="1" dirty="0" smtClean="0"/>
              <a:t>P</a:t>
            </a:r>
            <a:r>
              <a:rPr lang="en-US" altLang="en-US" dirty="0" smtClean="0"/>
              <a:t>(</a:t>
            </a:r>
            <a:r>
              <a:rPr lang="en-US" altLang="en-US" i="1" dirty="0" smtClean="0"/>
              <a:t>Q</a:t>
            </a:r>
            <a:r>
              <a:rPr lang="en-US" altLang="en-US" dirty="0" smtClean="0"/>
              <a:t>)</a:t>
            </a:r>
          </a:p>
          <a:p>
            <a:r>
              <a:rPr lang="en-US" altLang="en-US" i="1" dirty="0" smtClean="0"/>
              <a:t>P</a:t>
            </a:r>
            <a:r>
              <a:rPr lang="en-US" altLang="en-US" dirty="0" smtClean="0"/>
              <a:t>(</a:t>
            </a:r>
            <a:r>
              <a:rPr lang="en-US" altLang="en-US" i="1" dirty="0" smtClean="0"/>
              <a:t>Q</a:t>
            </a:r>
            <a:r>
              <a:rPr lang="en-US" altLang="en-US" dirty="0" smtClean="0"/>
              <a:t>) </a:t>
            </a:r>
          </a:p>
          <a:p>
            <a:pPr lvl="1"/>
            <a:r>
              <a:rPr lang="en-US" altLang="en-US" dirty="0" smtClean="0"/>
              <a:t>Is the inverse demand curve corresponding to the market demand </a:t>
            </a:r>
            <a:r>
              <a:rPr lang="en-US" altLang="en-US" dirty="0" smtClean="0"/>
              <a:t>curve </a:t>
            </a:r>
            <a:r>
              <a:rPr lang="en-US" altLang="en-US" i="1" dirty="0" smtClean="0"/>
              <a:t>Q = D(P)</a:t>
            </a:r>
          </a:p>
          <a:p>
            <a:pPr lvl="2"/>
            <a:r>
              <a:rPr lang="en-US" altLang="en-US" dirty="0" smtClean="0"/>
              <a:t>Both downward sloping: </a:t>
            </a:r>
            <a:r>
              <a:rPr lang="en-US" altLang="en-US" i="1" dirty="0" smtClean="0"/>
              <a:t>P’(Q) &lt; 0</a:t>
            </a:r>
            <a:endParaRPr lang="en-US" altLang="en-US" i="1"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E7C66AD-4D77-48E5-B7E0-5B7D89A62677}" type="slidenum">
              <a:rPr lang="en-US" smtClean="0"/>
              <a:pPr>
                <a:defRPr/>
              </a:pPr>
              <a:t>10</a:t>
            </a:fld>
            <a:endParaRPr lang="en-US"/>
          </a:p>
        </p:txBody>
      </p:sp>
    </p:spTree>
    <p:extLst>
      <p:ext uri="{BB962C8B-B14F-4D97-AF65-F5344CB8AC3E}">
        <p14:creationId xmlns:p14="http://schemas.microsoft.com/office/powerpoint/2010/main" val="29457365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smtClean="0"/>
              <a:t>Cournot Model</a:t>
            </a:r>
          </a:p>
        </p:txBody>
      </p:sp>
      <mc:AlternateContent xmlns:mc="http://schemas.openxmlformats.org/markup-compatibility/2006">
        <mc:Choice xmlns:a14="http://schemas.microsoft.com/office/drawing/2010/main" Requires="a14">
          <p:sp>
            <p:nvSpPr>
              <p:cNvPr id="1028" name="Rectangle 3"/>
              <p:cNvSpPr>
                <a:spLocks noGrp="1" noChangeArrowheads="1"/>
              </p:cNvSpPr>
              <p:nvPr>
                <p:ph idx="1"/>
              </p:nvPr>
            </p:nvSpPr>
            <p:spPr/>
            <p:txBody>
              <a:bodyPr/>
              <a:lstStyle/>
              <a:p>
                <a:r>
                  <a:rPr lang="en-US" altLang="en-US" dirty="0" smtClean="0"/>
                  <a:t>Firm’s I profits = total revenue – total cost</a:t>
                </a:r>
              </a:p>
              <a:p>
                <a:pPr marL="0" indent="0" algn="ctr">
                  <a:buNone/>
                </a:pPr>
                <a:r>
                  <a:rPr lang="en-US" altLang="en-US" dirty="0" smtClean="0"/>
                  <a:t> </a:t>
                </a:r>
                <a:r>
                  <a:rPr lang="el-GR" altLang="en-US" i="1" dirty="0" smtClean="0">
                    <a:latin typeface="Times New Roman" panose="02020603050405020304" pitchFamily="18" charset="0"/>
                    <a:cs typeface="Times New Roman" panose="02020603050405020304" pitchFamily="18" charset="0"/>
                  </a:rPr>
                  <a:t>π</a:t>
                </a:r>
                <a:r>
                  <a:rPr lang="en-US" altLang="en-US" i="1" baseline="-25000" dirty="0" err="1" smtClean="0">
                    <a:latin typeface="Times New Roman" panose="02020603050405020304" pitchFamily="18" charset="0"/>
                    <a:cs typeface="Times New Roman" panose="02020603050405020304" pitchFamily="18" charset="0"/>
                  </a:rPr>
                  <a:t>i</a:t>
                </a:r>
                <a:r>
                  <a:rPr lang="en-US" altLang="en-US" i="1" dirty="0" smtClean="0">
                    <a:latin typeface="Times New Roman" panose="02020603050405020304" pitchFamily="18" charset="0"/>
                    <a:cs typeface="Times New Roman" panose="02020603050405020304" pitchFamily="18" charset="0"/>
                  </a:rPr>
                  <a:t> = P(Q)q</a:t>
                </a:r>
                <a:r>
                  <a:rPr lang="en-US" altLang="en-US" i="1" baseline="-25000" dirty="0" smtClean="0">
                    <a:latin typeface="Times New Roman" panose="02020603050405020304" pitchFamily="18" charset="0"/>
                    <a:cs typeface="Times New Roman" panose="02020603050405020304" pitchFamily="18" charset="0"/>
                  </a:rPr>
                  <a:t>i</a:t>
                </a:r>
                <a:r>
                  <a:rPr lang="en-US" altLang="en-US" i="1" dirty="0" smtClean="0">
                    <a:latin typeface="Times New Roman" panose="02020603050405020304" pitchFamily="18" charset="0"/>
                    <a:cs typeface="Times New Roman" panose="02020603050405020304" pitchFamily="18" charset="0"/>
                  </a:rPr>
                  <a:t> – C</a:t>
                </a:r>
                <a:r>
                  <a:rPr lang="en-US" altLang="en-US" i="1" baseline="-25000" dirty="0" smtClean="0">
                    <a:latin typeface="Times New Roman" panose="02020603050405020304" pitchFamily="18" charset="0"/>
                    <a:cs typeface="Times New Roman" panose="02020603050405020304" pitchFamily="18" charset="0"/>
                  </a:rPr>
                  <a:t>i</a:t>
                </a:r>
                <a:r>
                  <a:rPr lang="en-US" altLang="en-US" i="1" dirty="0" smtClean="0">
                    <a:latin typeface="Times New Roman" panose="02020603050405020304" pitchFamily="18" charset="0"/>
                    <a:cs typeface="Times New Roman" panose="02020603050405020304" pitchFamily="18" charset="0"/>
                  </a:rPr>
                  <a:t>(q</a:t>
                </a:r>
                <a:r>
                  <a:rPr lang="en-US" altLang="en-US" i="1" baseline="-25000" dirty="0" smtClean="0">
                    <a:latin typeface="Times New Roman" panose="02020603050405020304" pitchFamily="18" charset="0"/>
                    <a:cs typeface="Times New Roman" panose="02020603050405020304" pitchFamily="18" charset="0"/>
                  </a:rPr>
                  <a:t>i</a:t>
                </a:r>
                <a:r>
                  <a:rPr lang="en-US" altLang="en-US" i="1" dirty="0" smtClean="0">
                    <a:latin typeface="Times New Roman" panose="02020603050405020304" pitchFamily="18" charset="0"/>
                    <a:cs typeface="Times New Roman" panose="02020603050405020304" pitchFamily="18" charset="0"/>
                  </a:rPr>
                  <a:t>)</a:t>
                </a:r>
                <a:endParaRPr lang="en-US" altLang="en-US" i="1" dirty="0" smtClean="0">
                  <a:latin typeface="Times New Roman" panose="02020603050405020304" pitchFamily="18" charset="0"/>
                  <a:cs typeface="Times New Roman" panose="02020603050405020304" pitchFamily="18" charset="0"/>
                </a:endParaRPr>
              </a:p>
              <a:p>
                <a:r>
                  <a:rPr lang="en-US" altLang="en-US" dirty="0" smtClean="0"/>
                  <a:t>First-order </a:t>
                </a:r>
                <a:r>
                  <a:rPr lang="en-US" altLang="en-US" dirty="0" smtClean="0"/>
                  <a:t>conditions for profit maximization</a:t>
                </a:r>
                <a:r>
                  <a:rPr lang="en-US" altLang="en-US" dirty="0" smtClean="0"/>
                  <a:t>:</a:t>
                </a:r>
              </a:p>
              <a:p>
                <a:pPr marL="0" indent="0">
                  <a:buNone/>
                </a:pPr>
                <a14:m>
                  <m:oMathPara xmlns:m="http://schemas.openxmlformats.org/officeDocument/2006/math">
                    <m:oMathParaPr>
                      <m:jc m:val="centerGroup"/>
                    </m:oMathParaPr>
                    <m:oMath xmlns:m="http://schemas.openxmlformats.org/officeDocument/2006/math">
                      <m:f>
                        <m:fPr>
                          <m:ctrlPr>
                            <a:rPr lang="en-US" altLang="en-US" i="1" smtClean="0">
                              <a:latin typeface="Cambria Math"/>
                              <a:sym typeface="Symbol" pitchFamily="18" charset="2"/>
                            </a:rPr>
                          </m:ctrlPr>
                        </m:fPr>
                        <m:num>
                          <m:r>
                            <a:rPr lang="en-US" altLang="en-US" i="1" smtClean="0">
                              <a:latin typeface="Cambria Math"/>
                              <a:sym typeface="Symbol" pitchFamily="18" charset="2"/>
                            </a:rPr>
                            <m:t>𝜕</m:t>
                          </m:r>
                          <m:sSub>
                            <m:sSubPr>
                              <m:ctrlPr>
                                <a:rPr lang="en-US" altLang="en-US" i="1" smtClean="0">
                                  <a:latin typeface="Cambria Math"/>
                                  <a:sym typeface="Symbol" pitchFamily="18" charset="2"/>
                                </a:rPr>
                              </m:ctrlPr>
                            </m:sSubPr>
                            <m:e>
                              <m:r>
                                <a:rPr lang="en-US" altLang="en-US" i="1" smtClean="0">
                                  <a:latin typeface="Cambria Math"/>
                                  <a:ea typeface="Cambria Math"/>
                                  <a:sym typeface="Symbol" pitchFamily="18" charset="2"/>
                                </a:rPr>
                                <m:t>𝜋</m:t>
                              </m:r>
                            </m:e>
                            <m:sub>
                              <m:r>
                                <a:rPr lang="en-US" altLang="en-US" b="0" i="1" smtClean="0">
                                  <a:latin typeface="Cambria Math"/>
                                  <a:sym typeface="Symbol" pitchFamily="18" charset="2"/>
                                </a:rPr>
                                <m:t>𝑖</m:t>
                              </m:r>
                            </m:sub>
                          </m:sSub>
                        </m:num>
                        <m:den>
                          <m:r>
                            <a:rPr lang="en-US" altLang="en-US" i="1" smtClean="0">
                              <a:latin typeface="Cambria Math"/>
                              <a:sym typeface="Symbol" pitchFamily="18" charset="2"/>
                            </a:rPr>
                            <m:t>𝜕</m:t>
                          </m:r>
                          <m:sSub>
                            <m:sSubPr>
                              <m:ctrlPr>
                                <a:rPr lang="en-US" altLang="en-US" i="1" smtClean="0">
                                  <a:latin typeface="Cambria Math"/>
                                  <a:sym typeface="Symbol" pitchFamily="18" charset="2"/>
                                </a:rPr>
                              </m:ctrlPr>
                            </m:sSubPr>
                            <m:e>
                              <m:r>
                                <a:rPr lang="en-US" altLang="en-US" b="0" i="1" smtClean="0">
                                  <a:latin typeface="Cambria Math"/>
                                  <a:sym typeface="Symbol" pitchFamily="18" charset="2"/>
                                </a:rPr>
                                <m:t>𝑞</m:t>
                              </m:r>
                            </m:e>
                            <m:sub>
                              <m:r>
                                <a:rPr lang="en-US" altLang="en-US" b="0" i="1" smtClean="0">
                                  <a:latin typeface="Cambria Math"/>
                                  <a:sym typeface="Symbol" pitchFamily="18" charset="2"/>
                                </a:rPr>
                                <m:t>𝑖</m:t>
                              </m:r>
                            </m:sub>
                          </m:sSub>
                        </m:den>
                      </m:f>
                      <m:r>
                        <a:rPr lang="en-US" altLang="en-US" b="0" i="1" smtClean="0">
                          <a:latin typeface="Cambria Math"/>
                          <a:sym typeface="Symbol" pitchFamily="18" charset="2"/>
                        </a:rPr>
                        <m:t>=</m:t>
                      </m:r>
                      <m:groupChr>
                        <m:groupChrPr>
                          <m:chr m:val="⏟"/>
                          <m:ctrlPr>
                            <a:rPr lang="en-US" altLang="en-US" b="0" i="1" smtClean="0">
                              <a:latin typeface="Cambria Math"/>
                              <a:sym typeface="Symbol" pitchFamily="18" charset="2"/>
                            </a:rPr>
                          </m:ctrlPr>
                        </m:groupChrPr>
                        <m:e>
                          <m:r>
                            <a:rPr lang="en-US" altLang="en-US" i="1">
                              <a:latin typeface="Cambria Math"/>
                              <a:sym typeface="Symbol" pitchFamily="18" charset="2"/>
                            </a:rPr>
                            <m:t>𝑃</m:t>
                          </m:r>
                          <m:d>
                            <m:dPr>
                              <m:ctrlPr>
                                <a:rPr lang="en-US" altLang="en-US" i="1">
                                  <a:latin typeface="Cambria Math"/>
                                  <a:sym typeface="Symbol" pitchFamily="18" charset="2"/>
                                </a:rPr>
                              </m:ctrlPr>
                            </m:dPr>
                            <m:e>
                              <m:r>
                                <a:rPr lang="en-US" altLang="en-US" i="1">
                                  <a:latin typeface="Cambria Math"/>
                                  <a:sym typeface="Symbol" pitchFamily="18" charset="2"/>
                                </a:rPr>
                                <m:t>𝑄</m:t>
                              </m:r>
                            </m:e>
                          </m:d>
                          <m:r>
                            <a:rPr lang="en-US" altLang="en-US" i="1">
                              <a:latin typeface="Cambria Math"/>
                              <a:sym typeface="Symbol" pitchFamily="18" charset="2"/>
                            </a:rPr>
                            <m:t>+</m:t>
                          </m:r>
                          <m:sSup>
                            <m:sSupPr>
                              <m:ctrlPr>
                                <a:rPr lang="en-US" altLang="en-US" i="1">
                                  <a:latin typeface="Cambria Math"/>
                                  <a:sym typeface="Symbol" pitchFamily="18" charset="2"/>
                                </a:rPr>
                              </m:ctrlPr>
                            </m:sSupPr>
                            <m:e>
                              <m:r>
                                <a:rPr lang="en-US" altLang="en-US" i="1">
                                  <a:latin typeface="Cambria Math"/>
                                  <a:sym typeface="Symbol" pitchFamily="18" charset="2"/>
                                </a:rPr>
                                <m:t>𝑃</m:t>
                              </m:r>
                            </m:e>
                            <m:sup>
                              <m:r>
                                <a:rPr lang="en-US" altLang="en-US" i="1">
                                  <a:latin typeface="Cambria Math"/>
                                  <a:sym typeface="Symbol" pitchFamily="18" charset="2"/>
                                </a:rPr>
                                <m:t>′</m:t>
                              </m:r>
                            </m:sup>
                          </m:sSup>
                          <m:d>
                            <m:dPr>
                              <m:ctrlPr>
                                <a:rPr lang="en-US" altLang="en-US" i="1">
                                  <a:latin typeface="Cambria Math"/>
                                  <a:sym typeface="Symbol" pitchFamily="18" charset="2"/>
                                </a:rPr>
                              </m:ctrlPr>
                            </m:dPr>
                            <m:e>
                              <m:r>
                                <a:rPr lang="en-US" altLang="en-US" i="1">
                                  <a:latin typeface="Cambria Math"/>
                                  <a:sym typeface="Symbol" pitchFamily="18" charset="2"/>
                                </a:rPr>
                                <m:t>𝑄</m:t>
                              </m:r>
                            </m:e>
                          </m:d>
                          <m:sSub>
                            <m:sSubPr>
                              <m:ctrlPr>
                                <a:rPr lang="en-US" altLang="en-US" i="1">
                                  <a:latin typeface="Cambria Math"/>
                                  <a:sym typeface="Symbol" pitchFamily="18" charset="2"/>
                                </a:rPr>
                              </m:ctrlPr>
                            </m:sSubPr>
                            <m:e>
                              <m:r>
                                <a:rPr lang="en-US" altLang="en-US" i="1">
                                  <a:latin typeface="Cambria Math"/>
                                  <a:sym typeface="Symbol" pitchFamily="18" charset="2"/>
                                </a:rPr>
                                <m:t>𝑞</m:t>
                              </m:r>
                            </m:e>
                            <m:sub>
                              <m:r>
                                <a:rPr lang="en-US" altLang="en-US" i="1">
                                  <a:latin typeface="Cambria Math"/>
                                  <a:sym typeface="Symbol" pitchFamily="18" charset="2"/>
                                </a:rPr>
                                <m:t>𝑖</m:t>
                              </m:r>
                            </m:sub>
                          </m:sSub>
                        </m:e>
                      </m:groupChr>
                      <m:sSub>
                        <m:sSubPr>
                          <m:ctrlPr>
                            <a:rPr lang="en-US" altLang="en-US" b="0" i="1" smtClean="0">
                              <a:latin typeface="Cambria Math"/>
                              <a:sym typeface="Symbol" pitchFamily="18" charset="2"/>
                            </a:rPr>
                          </m:ctrlPr>
                        </m:sSubPr>
                        <m:e>
                          <m:r>
                            <a:rPr lang="en-US" altLang="en-US" b="0" i="1" smtClean="0">
                              <a:latin typeface="Cambria Math"/>
                              <a:sym typeface="Symbol" pitchFamily="18" charset="2"/>
                            </a:rPr>
                            <m:t>−</m:t>
                          </m:r>
                          <m:groupChr>
                            <m:groupChrPr>
                              <m:chr m:val="⏟"/>
                              <m:ctrlPr>
                                <a:rPr lang="en-US" altLang="en-US" b="0" i="1" smtClean="0">
                                  <a:latin typeface="Cambria Math"/>
                                  <a:sym typeface="Symbol" pitchFamily="18" charset="2"/>
                                </a:rPr>
                              </m:ctrlPr>
                            </m:groupChrPr>
                            <m:e>
                              <m:sSub>
                                <m:sSubPr>
                                  <m:ctrlPr>
                                    <a:rPr lang="en-US" altLang="en-US" i="1">
                                      <a:latin typeface="Cambria Math"/>
                                      <a:sym typeface="Symbol" pitchFamily="18" charset="2"/>
                                    </a:rPr>
                                  </m:ctrlPr>
                                </m:sSubPr>
                                <m:e>
                                  <m:sSup>
                                    <m:sSupPr>
                                      <m:ctrlPr>
                                        <a:rPr lang="en-US" altLang="en-US" i="1">
                                          <a:latin typeface="Cambria Math"/>
                                          <a:sym typeface="Symbol" pitchFamily="18" charset="2"/>
                                        </a:rPr>
                                      </m:ctrlPr>
                                    </m:sSupPr>
                                    <m:e>
                                      <m:r>
                                        <a:rPr lang="en-US" altLang="en-US" i="1">
                                          <a:latin typeface="Cambria Math"/>
                                          <a:sym typeface="Symbol" pitchFamily="18" charset="2"/>
                                        </a:rPr>
                                        <m:t>𝐶</m:t>
                                      </m:r>
                                    </m:e>
                                    <m:sup>
                                      <m:r>
                                        <a:rPr lang="en-US" altLang="en-US" i="1">
                                          <a:latin typeface="Cambria Math"/>
                                          <a:sym typeface="Symbol" pitchFamily="18" charset="2"/>
                                        </a:rPr>
                                        <m:t>′</m:t>
                                      </m:r>
                                    </m:sup>
                                  </m:sSup>
                                </m:e>
                                <m:sub>
                                  <m:r>
                                    <a:rPr lang="en-US" altLang="en-US" i="1">
                                      <a:latin typeface="Cambria Math"/>
                                      <a:sym typeface="Symbol" pitchFamily="18" charset="2"/>
                                    </a:rPr>
                                    <m:t>𝑖</m:t>
                                  </m:r>
                                </m:sub>
                              </m:sSub>
                              <m:d>
                                <m:dPr>
                                  <m:ctrlPr>
                                    <a:rPr lang="en-US" altLang="en-US" i="1">
                                      <a:latin typeface="Cambria Math"/>
                                      <a:sym typeface="Symbol" pitchFamily="18" charset="2"/>
                                    </a:rPr>
                                  </m:ctrlPr>
                                </m:dPr>
                                <m:e>
                                  <m:sSub>
                                    <m:sSubPr>
                                      <m:ctrlPr>
                                        <a:rPr lang="en-US" altLang="en-US" i="1">
                                          <a:latin typeface="Cambria Math"/>
                                          <a:sym typeface="Symbol" pitchFamily="18" charset="2"/>
                                        </a:rPr>
                                      </m:ctrlPr>
                                    </m:sSubPr>
                                    <m:e>
                                      <m:r>
                                        <a:rPr lang="en-US" altLang="en-US" i="1">
                                          <a:latin typeface="Cambria Math"/>
                                          <a:sym typeface="Symbol" pitchFamily="18" charset="2"/>
                                        </a:rPr>
                                        <m:t>𝑞</m:t>
                                      </m:r>
                                    </m:e>
                                    <m:sub>
                                      <m:r>
                                        <a:rPr lang="en-US" altLang="en-US" i="1">
                                          <a:latin typeface="Cambria Math"/>
                                          <a:sym typeface="Symbol" pitchFamily="18" charset="2"/>
                                        </a:rPr>
                                        <m:t>𝑖</m:t>
                                      </m:r>
                                    </m:sub>
                                  </m:sSub>
                                </m:e>
                              </m:d>
                            </m:e>
                          </m:groupChr>
                        </m:e>
                        <m:sub/>
                      </m:sSub>
                      <m:r>
                        <a:rPr lang="en-US" altLang="en-US" b="0" i="1" smtClean="0">
                          <a:latin typeface="Cambria Math"/>
                          <a:sym typeface="Symbol" pitchFamily="18" charset="2"/>
                        </a:rPr>
                        <m:t>=0</m:t>
                      </m:r>
                    </m:oMath>
                  </m:oMathPara>
                </a14:m>
                <a:endParaRPr lang="en-US" altLang="en-US" b="0" dirty="0" smtClean="0">
                  <a:sym typeface="Symbol" pitchFamily="18" charset="2"/>
                </a:endParaRPr>
              </a:p>
              <a:p>
                <a:pPr marL="0" indent="0">
                  <a:buNone/>
                </a:pPr>
                <a:r>
                  <a:rPr lang="en-US" kern="0" dirty="0" smtClean="0"/>
                  <a:t>			    MR		  MC</a:t>
                </a:r>
              </a:p>
              <a:p>
                <a:pPr lvl="1"/>
                <a:r>
                  <a:rPr lang="en-US" kern="0" dirty="0" smtClean="0"/>
                  <a:t>Maximize </a:t>
                </a:r>
                <a:r>
                  <a:rPr lang="en-US" kern="0" dirty="0"/>
                  <a:t>profit where </a:t>
                </a:r>
                <a:r>
                  <a:rPr lang="en-US" i="1" kern="0" dirty="0" err="1"/>
                  <a:t>MR</a:t>
                </a:r>
                <a:r>
                  <a:rPr lang="en-US" i="1" kern="0" baseline="-25000" dirty="0" err="1"/>
                  <a:t>i</a:t>
                </a:r>
                <a:r>
                  <a:rPr lang="en-US" i="1" kern="0" baseline="-25000" dirty="0"/>
                  <a:t> </a:t>
                </a:r>
                <a:r>
                  <a:rPr lang="en-US" i="1" kern="0" dirty="0"/>
                  <a:t>= </a:t>
                </a:r>
                <a:r>
                  <a:rPr lang="en-US" i="1" kern="0" dirty="0" err="1"/>
                  <a:t>MC</a:t>
                </a:r>
                <a:r>
                  <a:rPr lang="en-US" i="1" kern="0" baseline="-25000" dirty="0" err="1"/>
                  <a:t>i</a:t>
                </a:r>
                <a:endParaRPr lang="en-US" kern="0" dirty="0">
                  <a:sym typeface="Symbol" pitchFamily="18" charset="2"/>
                </a:endParaRPr>
              </a:p>
              <a:p>
                <a:pPr lvl="1"/>
                <a:endParaRPr lang="en-US" altLang="en-US" dirty="0" smtClean="0">
                  <a:sym typeface="Symbol" pitchFamily="18" charset="2"/>
                </a:endParaRPr>
              </a:p>
            </p:txBody>
          </p:sp>
        </mc:Choice>
        <mc:Fallback>
          <p:sp>
            <p:nvSpPr>
              <p:cNvPr id="1028"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1714"/>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07ADA80-96C9-401C-A99A-49A6230854E1}" type="slidenum">
              <a:rPr lang="en-US" smtClean="0"/>
              <a:pPr>
                <a:defRPr/>
              </a:pPr>
              <a:t>11</a:t>
            </a:fld>
            <a:endParaRPr lang="en-US"/>
          </a:p>
        </p:txBody>
      </p:sp>
    </p:spTree>
    <p:extLst>
      <p:ext uri="{BB962C8B-B14F-4D97-AF65-F5344CB8AC3E}">
        <p14:creationId xmlns:p14="http://schemas.microsoft.com/office/powerpoint/2010/main" val="26818217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Cournot Model</a:t>
            </a:r>
          </a:p>
        </p:txBody>
      </p:sp>
      <p:sp>
        <p:nvSpPr>
          <p:cNvPr id="44035" name="Rectangle 3"/>
          <p:cNvSpPr>
            <a:spLocks noGrp="1" noChangeArrowheads="1"/>
          </p:cNvSpPr>
          <p:nvPr>
            <p:ph idx="1"/>
          </p:nvPr>
        </p:nvSpPr>
        <p:spPr/>
        <p:txBody>
          <a:bodyPr/>
          <a:lstStyle/>
          <a:p>
            <a:r>
              <a:rPr lang="en-US" altLang="en-US" smtClean="0"/>
              <a:t>Price </a:t>
            </a:r>
          </a:p>
          <a:p>
            <a:pPr lvl="1"/>
            <a:r>
              <a:rPr lang="en-US" altLang="en-US" smtClean="0"/>
              <a:t>Exceeds marginal cost by </a:t>
            </a:r>
            <a:r>
              <a:rPr lang="en-US" altLang="en-US" i="1" smtClean="0">
                <a:solidFill>
                  <a:srgbClr val="FF0000"/>
                </a:solidFill>
              </a:rPr>
              <a:t>P’(Q)q</a:t>
            </a:r>
            <a:r>
              <a:rPr lang="en-US" altLang="en-US" i="1" baseline="-25000" smtClean="0">
                <a:solidFill>
                  <a:srgbClr val="FF0000"/>
                </a:solidFill>
              </a:rPr>
              <a:t>i</a:t>
            </a:r>
          </a:p>
          <a:p>
            <a:r>
              <a:rPr lang="en-US" altLang="en-US" smtClean="0"/>
              <a:t>Industry profits </a:t>
            </a:r>
          </a:p>
          <a:p>
            <a:pPr lvl="1"/>
            <a:r>
              <a:rPr lang="en-US" altLang="en-US" smtClean="0"/>
              <a:t>Lower than in the cartel model</a:t>
            </a:r>
          </a:p>
          <a:p>
            <a:r>
              <a:rPr lang="en-US" altLang="en-US" smtClean="0"/>
              <a:t>Social welfare</a:t>
            </a:r>
          </a:p>
          <a:p>
            <a:pPr lvl="1"/>
            <a:r>
              <a:rPr lang="en-US" altLang="en-US" smtClean="0"/>
              <a:t>Greater in the Cournot model than in the cartel situation</a:t>
            </a:r>
            <a:endParaRPr lang="en-US" altLang="en-US" smtClean="0">
              <a:sym typeface="Symbol" pitchFamily="18" charset="2"/>
            </a:endParaRPr>
          </a:p>
          <a:p>
            <a:endParaRPr lang="en-US" altLang="en-US" smtClean="0">
              <a:sym typeface="Symbol" pitchFamily="18" charset="2"/>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977062D9-3947-4945-9688-EBCE0795FA25}" type="slidenum">
              <a:rPr lang="en-US" smtClean="0"/>
              <a:pPr>
                <a:defRPr/>
              </a:pPr>
              <a:t>12</a:t>
            </a:fld>
            <a:endParaRPr lang="en-US"/>
          </a:p>
        </p:txBody>
      </p:sp>
    </p:spTree>
    <p:extLst>
      <p:ext uri="{BB962C8B-B14F-4D97-AF65-F5344CB8AC3E}">
        <p14:creationId xmlns:p14="http://schemas.microsoft.com/office/powerpoint/2010/main" val="1764980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r>
              <a:rPr lang="en-US" altLang="en-US" smtClean="0"/>
              <a:t>Cartel Model</a:t>
            </a:r>
          </a:p>
        </p:txBody>
      </p:sp>
      <p:sp>
        <p:nvSpPr>
          <p:cNvPr id="2054" name="Rectangle 3"/>
          <p:cNvSpPr>
            <a:spLocks noGrp="1" noChangeArrowheads="1"/>
          </p:cNvSpPr>
          <p:nvPr>
            <p:ph idx="1"/>
          </p:nvPr>
        </p:nvSpPr>
        <p:spPr/>
        <p:txBody>
          <a:bodyPr/>
          <a:lstStyle/>
          <a:p>
            <a:r>
              <a:rPr lang="en-US" altLang="en-US" smtClean="0"/>
              <a:t>Each firm chooses </a:t>
            </a:r>
            <a:r>
              <a:rPr lang="en-US" altLang="en-US" i="1" smtClean="0"/>
              <a:t>q</a:t>
            </a:r>
            <a:r>
              <a:rPr lang="en-US" altLang="en-US" i="1" baseline="-25000" smtClean="0"/>
              <a:t>i</a:t>
            </a:r>
            <a:r>
              <a:rPr lang="en-US" altLang="en-US" smtClean="0"/>
              <a:t> for each firm </a:t>
            </a:r>
          </a:p>
          <a:p>
            <a:pPr lvl="1"/>
            <a:r>
              <a:rPr lang="en-US" altLang="en-US" smtClean="0"/>
              <a:t>So as to maximize total industry profits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D7C0C9A4-50A1-49C2-B8D2-9550A2B7379F}" type="slidenum">
              <a:rPr lang="en-US" smtClean="0"/>
              <a:pPr>
                <a:defRPr/>
              </a:pPr>
              <a:t>13</a:t>
            </a:fld>
            <a:endParaRPr lang="en-US"/>
          </a:p>
        </p:txBody>
      </p:sp>
      <p:sp>
        <p:nvSpPr>
          <p:cNvPr id="2" name="Text Placeholder 1"/>
          <p:cNvSpPr>
            <a:spLocks noGrp="1"/>
          </p:cNvSpPr>
          <p:nvPr>
            <p:ph type="body" sz="quarter" idx="12"/>
          </p:nvPr>
        </p:nvSpPr>
        <p:spPr>
          <a:xfrm>
            <a:off x="381000" y="3124200"/>
            <a:ext cx="8534400" cy="3124200"/>
          </a:xfrm>
        </p:spPr>
        <p:txBody>
          <a:bodyPr>
            <a:normAutofit/>
          </a:bodyPr>
          <a:lstStyle/>
          <a:p>
            <a:pPr marL="800100" lvl="1" indent="-342900" eaLnBrk="0" hangingPunct="0">
              <a:buFontTx/>
              <a:buChar char="•"/>
              <a:defRPr/>
            </a:pPr>
            <a:r>
              <a:rPr lang="en-US" kern="0" dirty="0"/>
              <a:t>First-order conditions for a maximum</a:t>
            </a:r>
            <a:r>
              <a:rPr lang="en-US" kern="0" dirty="0" smtClean="0"/>
              <a:t>:</a:t>
            </a:r>
          </a:p>
          <a:p>
            <a:pPr marL="3943350" lvl="8" indent="-342900" eaLnBrk="0" hangingPunct="0">
              <a:buFontTx/>
              <a:buChar char="•"/>
              <a:defRPr/>
            </a:pPr>
            <a:endParaRPr lang="en-US" kern="0" dirty="0" smtClean="0"/>
          </a:p>
          <a:p>
            <a:pPr marL="3943350" lvl="8" indent="-342900" eaLnBrk="0" hangingPunct="0">
              <a:buFontTx/>
              <a:buChar char="•"/>
              <a:defRPr/>
            </a:pPr>
            <a:endParaRPr lang="en-US" kern="0" dirty="0"/>
          </a:p>
          <a:p>
            <a:pPr marL="3943350" lvl="8" indent="-342900" eaLnBrk="0" hangingPunct="0">
              <a:buFontTx/>
              <a:buChar char="•"/>
              <a:defRPr/>
            </a:pPr>
            <a:endParaRPr lang="en-US" kern="0" dirty="0"/>
          </a:p>
          <a:p>
            <a:pPr marL="800100" lvl="1" indent="-342900" eaLnBrk="0" hangingPunct="0">
              <a:buFontTx/>
              <a:buChar char="•"/>
              <a:defRPr/>
            </a:pPr>
            <a:r>
              <a:rPr lang="en-US" kern="0" dirty="0"/>
              <a:t>Same result as </a:t>
            </a:r>
            <a:r>
              <a:rPr lang="en-US" kern="0" dirty="0" err="1"/>
              <a:t>Cournot</a:t>
            </a:r>
            <a:r>
              <a:rPr lang="en-US" kern="0" dirty="0"/>
              <a:t>, except that price exceeds marginal cost </a:t>
            </a:r>
            <a:r>
              <a:rPr lang="en-US" kern="0" dirty="0" smtClean="0"/>
              <a:t>by</a:t>
            </a:r>
            <a:endParaRPr lang="en-US" kern="0" dirty="0"/>
          </a:p>
        </p:txBody>
      </p:sp>
      <p:graphicFrame>
        <p:nvGraphicFramePr>
          <p:cNvPr id="1150980" name="Object 2"/>
          <p:cNvGraphicFramePr>
            <a:graphicFrameLocks noChangeAspect="1"/>
          </p:cNvGraphicFramePr>
          <p:nvPr>
            <p:extLst>
              <p:ext uri="{D42A27DB-BD31-4B8C-83A1-F6EECF244321}">
                <p14:modId xmlns:p14="http://schemas.microsoft.com/office/powerpoint/2010/main" val="3009728978"/>
              </p:ext>
            </p:extLst>
          </p:nvPr>
        </p:nvGraphicFramePr>
        <p:xfrm>
          <a:off x="2062162" y="2260600"/>
          <a:ext cx="5019675" cy="1016000"/>
        </p:xfrm>
        <a:graphic>
          <a:graphicData uri="http://schemas.openxmlformats.org/presentationml/2006/ole">
            <mc:AlternateContent xmlns:mc="http://schemas.openxmlformats.org/markup-compatibility/2006">
              <mc:Choice xmlns:v="urn:schemas-microsoft-com:vml" Requires="v">
                <p:oleObj spid="_x0000_s319523" name="Equation" r:id="rId3" imgW="2197080" imgH="444240" progId="Equation.DSMT4">
                  <p:embed/>
                </p:oleObj>
              </mc:Choice>
              <mc:Fallback>
                <p:oleObj name="Equation" r:id="rId3" imgW="219708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162" y="2260600"/>
                        <a:ext cx="5019675"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1" name="Object 3"/>
          <p:cNvGraphicFramePr>
            <a:graphicFrameLocks noChangeAspect="1"/>
          </p:cNvGraphicFramePr>
          <p:nvPr>
            <p:extLst>
              <p:ext uri="{D42A27DB-BD31-4B8C-83A1-F6EECF244321}">
                <p14:modId xmlns:p14="http://schemas.microsoft.com/office/powerpoint/2010/main" val="4084431113"/>
              </p:ext>
            </p:extLst>
          </p:nvPr>
        </p:nvGraphicFramePr>
        <p:xfrm>
          <a:off x="1249362" y="3697287"/>
          <a:ext cx="6645275" cy="1103313"/>
        </p:xfrm>
        <a:graphic>
          <a:graphicData uri="http://schemas.openxmlformats.org/presentationml/2006/ole">
            <mc:AlternateContent xmlns:mc="http://schemas.openxmlformats.org/markup-compatibility/2006">
              <mc:Choice xmlns:v="urn:schemas-microsoft-com:vml" Requires="v">
                <p:oleObj spid="_x0000_s319524" name="Equation" r:id="rId5" imgW="2908080" imgH="482400" progId="Equation.DSMT4">
                  <p:embed/>
                </p:oleObj>
              </mc:Choice>
              <mc:Fallback>
                <p:oleObj name="Equation" r:id="rId5" imgW="2908080" imgH="4824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9362" y="3697287"/>
                        <a:ext cx="6645275"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3" name="Object 5"/>
          <p:cNvGraphicFramePr>
            <a:graphicFrameLocks noChangeAspect="1"/>
          </p:cNvGraphicFramePr>
          <p:nvPr>
            <p:extLst>
              <p:ext uri="{D42A27DB-BD31-4B8C-83A1-F6EECF244321}">
                <p14:modId xmlns:p14="http://schemas.microsoft.com/office/powerpoint/2010/main" val="1238148605"/>
              </p:ext>
            </p:extLst>
          </p:nvPr>
        </p:nvGraphicFramePr>
        <p:xfrm>
          <a:off x="5486400" y="5181600"/>
          <a:ext cx="3308350" cy="1016000"/>
        </p:xfrm>
        <a:graphic>
          <a:graphicData uri="http://schemas.openxmlformats.org/presentationml/2006/ole">
            <mc:AlternateContent xmlns:mc="http://schemas.openxmlformats.org/markup-compatibility/2006">
              <mc:Choice xmlns:v="urn:schemas-microsoft-com:vml" Requires="v">
                <p:oleObj spid="_x0000_s319525" name="Equation" r:id="rId7" imgW="1447560" imgH="444240" progId="Equation.DSMT4">
                  <p:embed/>
                </p:oleObj>
              </mc:Choice>
              <mc:Fallback>
                <p:oleObj name="Equation" r:id="rId7" imgW="144756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5181600"/>
                        <a:ext cx="330835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78195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50980"/>
                                        </p:tgtEl>
                                        <p:attrNameLst>
                                          <p:attrName>style.visibility</p:attrName>
                                        </p:attrNameLst>
                                      </p:cBhvr>
                                      <p:to>
                                        <p:strVal val="visible"/>
                                      </p:to>
                                    </p:set>
                                    <p:animEffect transition="in" filter="wipe(left)">
                                      <p:cBhvr>
                                        <p:cTn id="7" dur="500"/>
                                        <p:tgtEl>
                                          <p:spTgt spid="115098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2771"/>
                                        </p:tgtEl>
                                        <p:attrNameLst>
                                          <p:attrName>style.visibility</p:attrName>
                                        </p:attrNameLst>
                                      </p:cBhvr>
                                      <p:to>
                                        <p:strVal val="visible"/>
                                      </p:to>
                                    </p:set>
                                    <p:animEffect transition="in" filter="wipe(left)">
                                      <p:cBhvr>
                                        <p:cTn id="15" dur="500"/>
                                        <p:tgtEl>
                                          <p:spTgt spid="3277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left)">
                                      <p:cBhvr>
                                        <p:cTn id="18" dur="500"/>
                                        <p:tgtEl>
                                          <p:spTgt spid="2">
                                            <p:txEl>
                                              <p:pRg st="4" end="4"/>
                                            </p:txEl>
                                          </p:spTgt>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32773"/>
                                        </p:tgtEl>
                                        <p:attrNameLst>
                                          <p:attrName>style.visibility</p:attrName>
                                        </p:attrNameLst>
                                      </p:cBhvr>
                                      <p:to>
                                        <p:strVal val="visible"/>
                                      </p:to>
                                    </p:set>
                                    <p:animEffect transition="in" filter="wipe(left)">
                                      <p:cBhvr>
                                        <p:cTn id="22" dur="500"/>
                                        <p:tgtEl>
                                          <p:spTgt spid="32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 	Natural-Spring Duopoly</a:t>
            </a:r>
          </a:p>
        </p:txBody>
      </p:sp>
      <p:sp>
        <p:nvSpPr>
          <p:cNvPr id="4506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3F5F28BD-3237-4243-ABB5-BC08FD6B51BC}" type="slidenum">
              <a:rPr lang="en-US" smtClean="0"/>
              <a:pPr>
                <a:defRPr/>
              </a:pPr>
              <a:t>14</a:t>
            </a:fld>
            <a:endParaRPr lang="en-US" dirty="0"/>
          </a:p>
        </p:txBody>
      </p:sp>
      <p:sp>
        <p:nvSpPr>
          <p:cNvPr id="45059" name="Content Placeholder 2"/>
          <p:cNvSpPr>
            <a:spLocks noGrp="1"/>
          </p:cNvSpPr>
          <p:nvPr>
            <p:ph type="body" sz="quarter" idx="12"/>
          </p:nvPr>
        </p:nvSpPr>
        <p:spPr>
          <a:prstGeom prst="rect">
            <a:avLst/>
          </a:prstGeom>
        </p:spPr>
        <p:txBody>
          <a:bodyPr/>
          <a:lstStyle/>
          <a:p>
            <a:r>
              <a:rPr lang="en-US" altLang="en-US" dirty="0" smtClean="0"/>
              <a:t>Two owners of natural springs</a:t>
            </a:r>
          </a:p>
          <a:p>
            <a:pPr lvl="1"/>
            <a:r>
              <a:rPr lang="en-US" altLang="en-US" dirty="0" smtClean="0">
                <a:sym typeface="Symbol" pitchFamily="18" charset="2"/>
              </a:rPr>
              <a:t>Firm’s cost of pumping and bottling </a:t>
            </a:r>
            <a:r>
              <a:rPr lang="en-US" altLang="en-US" i="1" dirty="0" smtClean="0">
                <a:sym typeface="Symbol" pitchFamily="18" charset="2"/>
              </a:rPr>
              <a:t>q</a:t>
            </a:r>
            <a:r>
              <a:rPr lang="en-US" altLang="en-US" i="1" baseline="-25000" dirty="0" smtClean="0">
                <a:sym typeface="Symbol" pitchFamily="18" charset="2"/>
              </a:rPr>
              <a:t>i</a:t>
            </a:r>
            <a:r>
              <a:rPr lang="en-US" altLang="en-US" dirty="0" smtClean="0">
                <a:sym typeface="Symbol" pitchFamily="18" charset="2"/>
              </a:rPr>
              <a:t> liters is </a:t>
            </a:r>
            <a:r>
              <a:rPr lang="en-US" altLang="en-US" i="1" dirty="0" smtClean="0">
                <a:sym typeface="Symbol" pitchFamily="18" charset="2"/>
              </a:rPr>
              <a:t>C</a:t>
            </a:r>
            <a:r>
              <a:rPr lang="en-US" altLang="en-US" i="1" baseline="-25000" dirty="0" smtClean="0">
                <a:sym typeface="Symbol" pitchFamily="18" charset="2"/>
              </a:rPr>
              <a:t>i</a:t>
            </a:r>
            <a:r>
              <a:rPr lang="en-US" altLang="en-US" dirty="0" smtClean="0">
                <a:sym typeface="Symbol" pitchFamily="18" charset="2"/>
              </a:rPr>
              <a:t>(</a:t>
            </a:r>
            <a:r>
              <a:rPr lang="en-US" altLang="en-US" i="1" dirty="0" smtClean="0">
                <a:sym typeface="Symbol" pitchFamily="18" charset="2"/>
              </a:rPr>
              <a:t>q</a:t>
            </a:r>
            <a:r>
              <a:rPr lang="en-US" altLang="en-US" i="1" baseline="-25000" dirty="0" smtClean="0">
                <a:sym typeface="Symbol" pitchFamily="18" charset="2"/>
              </a:rPr>
              <a:t>i</a:t>
            </a:r>
            <a:r>
              <a:rPr lang="en-US" altLang="en-US" i="1" dirty="0" smtClean="0">
                <a:sym typeface="Symbol" pitchFamily="18" charset="2"/>
              </a:rPr>
              <a:t>) = </a:t>
            </a:r>
            <a:r>
              <a:rPr lang="en-US" altLang="en-US" i="1" dirty="0" err="1" smtClean="0">
                <a:sym typeface="Symbol" pitchFamily="18" charset="2"/>
              </a:rPr>
              <a:t>cq</a:t>
            </a:r>
            <a:r>
              <a:rPr lang="en-US" altLang="en-US" i="1" baseline="-25000" dirty="0" err="1" smtClean="0">
                <a:sym typeface="Symbol" pitchFamily="18" charset="2"/>
              </a:rPr>
              <a:t>i</a:t>
            </a:r>
            <a:endParaRPr lang="en-US" altLang="en-US" dirty="0" smtClean="0">
              <a:sym typeface="Symbol" pitchFamily="18" charset="2"/>
            </a:endParaRPr>
          </a:p>
          <a:p>
            <a:pPr lvl="1"/>
            <a:r>
              <a:rPr lang="en-US" altLang="en-US" dirty="0" smtClean="0">
                <a:sym typeface="Symbol" pitchFamily="18" charset="2"/>
              </a:rPr>
              <a:t>Each firm has to decide how much water to supply to the market</a:t>
            </a:r>
          </a:p>
          <a:p>
            <a:r>
              <a:rPr lang="en-US" altLang="en-US" dirty="0" smtClean="0">
                <a:sym typeface="Symbol" pitchFamily="18" charset="2"/>
              </a:rPr>
              <a:t>The inverse demand function, </a:t>
            </a:r>
            <a:r>
              <a:rPr lang="en-US" altLang="en-US" sz="2800" i="1" dirty="0" smtClean="0">
                <a:solidFill>
                  <a:srgbClr val="FF0000"/>
                </a:solidFill>
                <a:sym typeface="Symbol" pitchFamily="18" charset="2"/>
              </a:rPr>
              <a:t>P</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a – Q </a:t>
            </a:r>
            <a:endParaRPr lang="en-US" altLang="en-US" sz="2800" i="1" dirty="0" smtClean="0">
              <a:solidFill>
                <a:srgbClr val="FF0000"/>
              </a:solidFill>
              <a:sym typeface="Symbol" pitchFamily="18" charset="2"/>
            </a:endParaRPr>
          </a:p>
          <a:p>
            <a:pPr lvl="1"/>
            <a:r>
              <a:rPr lang="en-US" altLang="en-US" sz="2400" i="1" dirty="0">
                <a:solidFill>
                  <a:srgbClr val="FF0000"/>
                </a:solidFill>
                <a:sym typeface="Symbol" pitchFamily="18" charset="2"/>
              </a:rPr>
              <a:t> </a:t>
            </a:r>
            <a:r>
              <a:rPr lang="en-US" altLang="en-US" i="1" dirty="0" smtClean="0">
                <a:solidFill>
                  <a:srgbClr val="FF0000"/>
                </a:solidFill>
                <a:sym typeface="Symbol" pitchFamily="18" charset="2"/>
              </a:rPr>
              <a:t>a </a:t>
            </a:r>
            <a:r>
              <a:rPr lang="en-US" altLang="en-US" dirty="0" smtClean="0">
                <a:solidFill>
                  <a:srgbClr val="FF0000"/>
                </a:solidFill>
                <a:sym typeface="Symbol" pitchFamily="18" charset="2"/>
              </a:rPr>
              <a:t>is demand intercept and </a:t>
            </a:r>
            <a:r>
              <a:rPr lang="en-US" altLang="en-US" i="1" dirty="0" smtClean="0">
                <a:solidFill>
                  <a:srgbClr val="FF0000"/>
                </a:solidFill>
                <a:sym typeface="Symbol" pitchFamily="18" charset="2"/>
              </a:rPr>
              <a:t>Q = q</a:t>
            </a:r>
            <a:r>
              <a:rPr lang="en-US" altLang="en-US" i="1" baseline="-25000" dirty="0" smtClean="0">
                <a:solidFill>
                  <a:srgbClr val="FF0000"/>
                </a:solidFill>
                <a:sym typeface="Symbol" pitchFamily="18" charset="2"/>
              </a:rPr>
              <a:t>1</a:t>
            </a:r>
            <a:r>
              <a:rPr lang="en-US" altLang="en-US" i="1" dirty="0" smtClean="0">
                <a:solidFill>
                  <a:srgbClr val="FF0000"/>
                </a:solidFill>
                <a:sym typeface="Symbol" pitchFamily="18" charset="2"/>
              </a:rPr>
              <a:t> + q</a:t>
            </a:r>
            <a:r>
              <a:rPr lang="en-US" altLang="en-US" i="1" baseline="-25000" dirty="0" smtClean="0">
                <a:solidFill>
                  <a:srgbClr val="FF0000"/>
                </a:solidFill>
                <a:sym typeface="Symbol" pitchFamily="18" charset="2"/>
              </a:rPr>
              <a:t>2</a:t>
            </a:r>
            <a:endParaRPr lang="en-US" altLang="en-US" i="1" baseline="-25000" dirty="0" smtClean="0">
              <a:solidFill>
                <a:srgbClr val="FF0000"/>
              </a:solidFill>
              <a:sym typeface="Symbol" pitchFamily="18" charset="2"/>
            </a:endParaRPr>
          </a:p>
          <a:p>
            <a:r>
              <a:rPr lang="en-US" altLang="en-US" dirty="0" smtClean="0"/>
              <a:t>Bertrand model</a:t>
            </a:r>
          </a:p>
          <a:p>
            <a:pPr lvl="1"/>
            <a:r>
              <a:rPr lang="en-US" altLang="en-US" dirty="0" smtClean="0"/>
              <a:t>The two firms set price equal to marginal cost</a:t>
            </a:r>
          </a:p>
          <a:p>
            <a:pPr lvl="2">
              <a:buFont typeface="Arial" charset="0"/>
              <a:buNone/>
            </a:pPr>
            <a:r>
              <a:rPr lang="en-US" altLang="en-US" dirty="0" smtClean="0">
                <a:solidFill>
                  <a:srgbClr val="FF0000"/>
                </a:solidFill>
                <a:sym typeface="Symbol" pitchFamily="18" charset="2"/>
              </a:rPr>
              <a:t>Market price = </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  </a:t>
            </a:r>
            <a:r>
              <a:rPr lang="en-US" altLang="en-US" dirty="0" smtClean="0">
                <a:solidFill>
                  <a:srgbClr val="FF0000"/>
                </a:solidFill>
                <a:sym typeface="Symbol" pitchFamily="18" charset="2"/>
              </a:rPr>
              <a:t>total output = </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 = a – c</a:t>
            </a:r>
            <a:endParaRPr lang="en-US" altLang="en-US" dirty="0" smtClean="0">
              <a:solidFill>
                <a:srgbClr val="FF0000"/>
              </a:solidFill>
              <a:sym typeface="Symbol" pitchFamily="18" charset="2"/>
            </a:endParaRPr>
          </a:p>
          <a:p>
            <a:pPr lvl="2">
              <a:buFont typeface="Arial" charset="0"/>
              <a:buNone/>
            </a:pPr>
            <a:r>
              <a:rPr lang="en-US" altLang="en-US" dirty="0" smtClean="0">
                <a:solidFill>
                  <a:srgbClr val="FF0000"/>
                </a:solidFill>
                <a:sym typeface="Symbol" pitchFamily="18" charset="2"/>
              </a:rPr>
              <a:t>*</a:t>
            </a:r>
            <a:r>
              <a:rPr lang="en-US" altLang="en-US" i="1" baseline="-25000" dirty="0" err="1" smtClean="0">
                <a:solidFill>
                  <a:srgbClr val="FF0000"/>
                </a:solidFill>
                <a:sym typeface="Symbol" pitchFamily="18" charset="2"/>
              </a:rPr>
              <a:t>i</a:t>
            </a:r>
            <a:r>
              <a:rPr lang="en-US" altLang="en-US" dirty="0" smtClean="0">
                <a:solidFill>
                  <a:srgbClr val="FF0000"/>
                </a:solidFill>
                <a:sym typeface="Symbol" pitchFamily="18" charset="2"/>
              </a:rPr>
              <a:t> = 0;  total profit for all firms = * = 0</a:t>
            </a:r>
          </a:p>
        </p:txBody>
      </p:sp>
    </p:spTree>
    <p:extLst>
      <p:ext uri="{BB962C8B-B14F-4D97-AF65-F5344CB8AC3E}">
        <p14:creationId xmlns:p14="http://schemas.microsoft.com/office/powerpoint/2010/main" val="37212133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 	Natural-Spring Duopoly</a:t>
            </a:r>
          </a:p>
        </p:txBody>
      </p:sp>
      <p:sp>
        <p:nvSpPr>
          <p:cNvPr id="307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D8F3209-50BC-469C-92D3-72C1E3DDFEBC}" type="slidenum">
              <a:rPr lang="en-US" smtClean="0"/>
              <a:pPr>
                <a:defRPr/>
              </a:pPr>
              <a:t>15</a:t>
            </a:fld>
            <a:endParaRPr lang="en-US" dirty="0"/>
          </a:p>
        </p:txBody>
      </p:sp>
      <p:sp>
        <p:nvSpPr>
          <p:cNvPr id="3076" name="Content Placeholder 2"/>
          <p:cNvSpPr>
            <a:spLocks noGrp="1"/>
          </p:cNvSpPr>
          <p:nvPr>
            <p:ph type="body" sz="quarter" idx="12"/>
          </p:nvPr>
        </p:nvSpPr>
        <p:spPr>
          <a:prstGeom prst="rect">
            <a:avLst/>
          </a:prstGeom>
        </p:spPr>
        <p:txBody>
          <a:bodyPr/>
          <a:lstStyle/>
          <a:p>
            <a:r>
              <a:rPr lang="en-US" altLang="en-US" dirty="0" err="1" smtClean="0"/>
              <a:t>Cournot</a:t>
            </a:r>
            <a:r>
              <a:rPr lang="en-US" altLang="en-US" dirty="0" smtClean="0"/>
              <a:t> model</a:t>
            </a:r>
          </a:p>
          <a:p>
            <a:pPr lvl="1">
              <a:buFont typeface="Arial" charset="0"/>
              <a:buNone/>
            </a:pPr>
            <a:r>
              <a:rPr lang="en-US" altLang="en-US" dirty="0" smtClean="0">
                <a:solidFill>
                  <a:srgbClr val="FF0000"/>
                </a:solidFill>
                <a:sym typeface="Symbol" pitchFamily="18" charset="2"/>
              </a:rPr>
              <a:t></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a</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endParaRPr lang="en-US" altLang="en-US" dirty="0" smtClean="0">
              <a:solidFill>
                <a:srgbClr val="FF0000"/>
              </a:solidFill>
              <a:sym typeface="Symbol" pitchFamily="18" charset="2"/>
            </a:endParaRPr>
          </a:p>
          <a:p>
            <a:pPr lvl="1">
              <a:buFont typeface="Arial" charset="0"/>
              <a:buNone/>
            </a:pPr>
            <a:r>
              <a:rPr lang="en-US" altLang="en-US" dirty="0" smtClean="0">
                <a:solidFill>
                  <a:srgbClr val="FF0000"/>
                </a:solidFill>
                <a:sym typeface="Symbol" pitchFamily="18" charset="2"/>
              </a:rPr>
              <a:t></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cq</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a</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2</a:t>
            </a:r>
            <a:endParaRPr lang="en-US" altLang="en-US" dirty="0" smtClean="0">
              <a:solidFill>
                <a:srgbClr val="FF0000"/>
              </a:solidFill>
              <a:sym typeface="Symbol" pitchFamily="18" charset="2"/>
            </a:endParaRPr>
          </a:p>
        </p:txBody>
      </p:sp>
      <p:sp>
        <p:nvSpPr>
          <p:cNvPr id="2" name="Text Placeholder 1"/>
          <p:cNvSpPr>
            <a:spLocks noGrp="1"/>
          </p:cNvSpPr>
          <p:nvPr>
            <p:ph type="body" sz="quarter" idx="13"/>
          </p:nvPr>
        </p:nvSpPr>
        <p:spPr>
          <a:xfrm>
            <a:off x="381000" y="3352800"/>
            <a:ext cx="8382000" cy="2819400"/>
          </a:xfrm>
        </p:spPr>
        <p:txBody>
          <a:bodyPr/>
          <a:lstStyle/>
          <a:p>
            <a:pPr eaLnBrk="0" hangingPunct="0">
              <a:buFont typeface="Arial" charset="0"/>
              <a:buChar char="•"/>
              <a:defRPr/>
            </a:pPr>
            <a:r>
              <a:rPr lang="en-US" kern="0" dirty="0">
                <a:solidFill>
                  <a:srgbClr val="002D56"/>
                </a:solidFill>
              </a:rPr>
              <a:t>The Nash equilibrium</a:t>
            </a:r>
          </a:p>
          <a:p>
            <a:pPr lvl="1" eaLnBrk="0" hangingPunct="0">
              <a:buNone/>
              <a:defRPr/>
            </a:pPr>
            <a:r>
              <a:rPr lang="en-US" i="1" kern="0" dirty="0">
                <a:solidFill>
                  <a:srgbClr val="FF0000"/>
                </a:solidFill>
                <a:sym typeface="Symbol" pitchFamily="18" charset="2"/>
              </a:rPr>
              <a:t>q</a:t>
            </a:r>
            <a:r>
              <a:rPr lang="en-US" kern="0" baseline="-25000" dirty="0">
                <a:solidFill>
                  <a:srgbClr val="FF0000"/>
                </a:solidFill>
                <a:sym typeface="Symbol" pitchFamily="18" charset="2"/>
              </a:rPr>
              <a:t>1</a:t>
            </a:r>
            <a:r>
              <a:rPr lang="en-US" kern="0" dirty="0">
                <a:solidFill>
                  <a:srgbClr val="FF0000"/>
                </a:solidFill>
                <a:sym typeface="Symbol" pitchFamily="18" charset="2"/>
              </a:rPr>
              <a:t>* = </a:t>
            </a:r>
            <a:r>
              <a:rPr lang="en-US" i="1" kern="0" dirty="0">
                <a:solidFill>
                  <a:srgbClr val="FF0000"/>
                </a:solidFill>
                <a:sym typeface="Symbol" pitchFamily="18" charset="2"/>
              </a:rPr>
              <a:t>q</a:t>
            </a:r>
            <a:r>
              <a:rPr lang="en-US" kern="0" baseline="-25000" dirty="0">
                <a:solidFill>
                  <a:srgbClr val="FF0000"/>
                </a:solidFill>
                <a:sym typeface="Symbol" pitchFamily="18" charset="2"/>
              </a:rPr>
              <a:t>2</a:t>
            </a:r>
            <a:r>
              <a:rPr lang="en-US" kern="0" dirty="0">
                <a:solidFill>
                  <a:srgbClr val="FF0000"/>
                </a:solidFill>
                <a:sym typeface="Symbol" pitchFamily="18" charset="2"/>
              </a:rPr>
              <a:t>* = (</a:t>
            </a:r>
            <a:r>
              <a:rPr lang="en-US" i="1" kern="0" dirty="0">
                <a:solidFill>
                  <a:srgbClr val="FF0000"/>
                </a:solidFill>
                <a:sym typeface="Symbol" pitchFamily="18" charset="2"/>
              </a:rPr>
              <a:t>a – c</a:t>
            </a:r>
            <a:r>
              <a:rPr lang="en-US" kern="0" dirty="0">
                <a:solidFill>
                  <a:srgbClr val="FF0000"/>
                </a:solidFill>
                <a:sym typeface="Symbol" pitchFamily="18" charset="2"/>
              </a:rPr>
              <a:t>)/3</a:t>
            </a:r>
          </a:p>
          <a:p>
            <a:pPr lvl="1" eaLnBrk="0" hangingPunct="0">
              <a:buNone/>
              <a:defRPr/>
            </a:pPr>
            <a:r>
              <a:rPr lang="en-US" kern="0" dirty="0">
                <a:solidFill>
                  <a:srgbClr val="FF0000"/>
                </a:solidFill>
                <a:sym typeface="Symbol" pitchFamily="18" charset="2"/>
              </a:rPr>
              <a:t>total output = </a:t>
            </a:r>
            <a:r>
              <a:rPr lang="en-US" i="1" kern="0" dirty="0">
                <a:solidFill>
                  <a:srgbClr val="FF0000"/>
                </a:solidFill>
                <a:sym typeface="Symbol" pitchFamily="18" charset="2"/>
              </a:rPr>
              <a:t>Q</a:t>
            </a:r>
            <a:r>
              <a:rPr lang="en-US" kern="0" dirty="0">
                <a:solidFill>
                  <a:srgbClr val="FF0000"/>
                </a:solidFill>
                <a:sym typeface="Symbol" pitchFamily="18" charset="2"/>
              </a:rPr>
              <a:t>* = (2/3)(</a:t>
            </a:r>
            <a:r>
              <a:rPr lang="en-US" i="1" kern="0" dirty="0">
                <a:solidFill>
                  <a:srgbClr val="FF0000"/>
                </a:solidFill>
                <a:sym typeface="Symbol" pitchFamily="18" charset="2"/>
              </a:rPr>
              <a:t>a – c</a:t>
            </a:r>
            <a:r>
              <a:rPr lang="en-US" kern="0" dirty="0">
                <a:solidFill>
                  <a:srgbClr val="FF0000"/>
                </a:solidFill>
                <a:sym typeface="Symbol" pitchFamily="18" charset="2"/>
              </a:rPr>
              <a:t>)</a:t>
            </a:r>
          </a:p>
          <a:p>
            <a:pPr lvl="1" eaLnBrk="0" hangingPunct="0">
              <a:buNone/>
              <a:defRPr/>
            </a:pPr>
            <a:r>
              <a:rPr lang="en-US" i="1" kern="0" dirty="0">
                <a:solidFill>
                  <a:srgbClr val="FF0000"/>
                </a:solidFill>
                <a:sym typeface="Symbol" pitchFamily="18" charset="2"/>
              </a:rPr>
              <a:t>P</a:t>
            </a:r>
            <a:r>
              <a:rPr lang="en-US" kern="0" dirty="0">
                <a:solidFill>
                  <a:srgbClr val="FF0000"/>
                </a:solidFill>
                <a:sym typeface="Symbol" pitchFamily="18" charset="2"/>
              </a:rPr>
              <a:t>* = (</a:t>
            </a:r>
            <a:r>
              <a:rPr lang="en-US" i="1" kern="0" dirty="0">
                <a:solidFill>
                  <a:srgbClr val="FF0000"/>
                </a:solidFill>
                <a:sym typeface="Symbol" pitchFamily="18" charset="2"/>
              </a:rPr>
              <a:t>a + </a:t>
            </a:r>
            <a:r>
              <a:rPr lang="en-US" kern="0" dirty="0">
                <a:solidFill>
                  <a:srgbClr val="FF0000"/>
                </a:solidFill>
                <a:sym typeface="Symbol" pitchFamily="18" charset="2"/>
              </a:rPr>
              <a:t>2</a:t>
            </a:r>
            <a:r>
              <a:rPr lang="en-US" i="1" kern="0" dirty="0">
                <a:solidFill>
                  <a:srgbClr val="FF0000"/>
                </a:solidFill>
                <a:sym typeface="Symbol" pitchFamily="18" charset="2"/>
              </a:rPr>
              <a:t>c</a:t>
            </a:r>
            <a:r>
              <a:rPr lang="en-US" kern="0" dirty="0">
                <a:solidFill>
                  <a:srgbClr val="FF0000"/>
                </a:solidFill>
                <a:sym typeface="Symbol" pitchFamily="18" charset="2"/>
              </a:rPr>
              <a:t>)/3;   </a:t>
            </a:r>
            <a:r>
              <a:rPr lang="en-US" kern="0" baseline="-25000" dirty="0">
                <a:solidFill>
                  <a:srgbClr val="FF0000"/>
                </a:solidFill>
                <a:sym typeface="Symbol" pitchFamily="18" charset="2"/>
              </a:rPr>
              <a:t>1</a:t>
            </a:r>
            <a:r>
              <a:rPr lang="en-US" kern="0" dirty="0">
                <a:solidFill>
                  <a:srgbClr val="FF0000"/>
                </a:solidFill>
                <a:sym typeface="Symbol" pitchFamily="18" charset="2"/>
              </a:rPr>
              <a:t>* = </a:t>
            </a:r>
            <a:r>
              <a:rPr lang="en-US" kern="0" baseline="-25000" dirty="0">
                <a:solidFill>
                  <a:srgbClr val="FF0000"/>
                </a:solidFill>
                <a:sym typeface="Symbol" pitchFamily="18" charset="2"/>
              </a:rPr>
              <a:t>2</a:t>
            </a:r>
            <a:r>
              <a:rPr lang="en-US" kern="0" dirty="0">
                <a:solidFill>
                  <a:srgbClr val="FF0000"/>
                </a:solidFill>
                <a:sym typeface="Symbol" pitchFamily="18" charset="2"/>
              </a:rPr>
              <a:t>* = (1/9)(</a:t>
            </a:r>
            <a:r>
              <a:rPr lang="en-US" i="1" kern="0" dirty="0">
                <a:solidFill>
                  <a:srgbClr val="FF0000"/>
                </a:solidFill>
                <a:sym typeface="Symbol" pitchFamily="18" charset="2"/>
              </a:rPr>
              <a:t>a</a:t>
            </a:r>
            <a:r>
              <a:rPr lang="en-US" kern="0" dirty="0">
                <a:solidFill>
                  <a:srgbClr val="FF0000"/>
                </a:solidFill>
                <a:sym typeface="Symbol" pitchFamily="18" charset="2"/>
              </a:rPr>
              <a:t> – c)</a:t>
            </a:r>
            <a:r>
              <a:rPr lang="en-US" kern="0" baseline="30000" dirty="0">
                <a:solidFill>
                  <a:srgbClr val="FF0000"/>
                </a:solidFill>
                <a:sym typeface="Symbol" pitchFamily="18" charset="2"/>
              </a:rPr>
              <a:t>2</a:t>
            </a:r>
            <a:endParaRPr lang="en-US" kern="0" dirty="0">
              <a:solidFill>
                <a:srgbClr val="FF0000"/>
              </a:solidFill>
              <a:sym typeface="Symbol" pitchFamily="18" charset="2"/>
            </a:endParaRPr>
          </a:p>
          <a:p>
            <a:pPr lvl="1" eaLnBrk="0" hangingPunct="0">
              <a:buNone/>
              <a:defRPr/>
            </a:pPr>
            <a:r>
              <a:rPr lang="en-US" kern="0" dirty="0">
                <a:solidFill>
                  <a:srgbClr val="FF0000"/>
                </a:solidFill>
                <a:sym typeface="Symbol" pitchFamily="18" charset="2"/>
              </a:rPr>
              <a:t>total profit for all firms = * = </a:t>
            </a:r>
            <a:r>
              <a:rPr lang="en-US" altLang="en-US" dirty="0">
                <a:solidFill>
                  <a:srgbClr val="FF0000"/>
                </a:solidFill>
                <a:sym typeface="Symbol" pitchFamily="18" charset="2"/>
              </a:rPr>
              <a:t></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a:t>
            </a:r>
            <a:r>
              <a:rPr lang="en-US" altLang="en-US" baseline="-25000" dirty="0" smtClean="0">
                <a:solidFill>
                  <a:srgbClr val="FF0000"/>
                </a:solidFill>
                <a:sym typeface="Symbol" pitchFamily="18" charset="2"/>
              </a:rPr>
              <a:t> </a:t>
            </a:r>
            <a:r>
              <a:rPr lang="en-US" kern="0" dirty="0" smtClean="0">
                <a:solidFill>
                  <a:srgbClr val="FF0000"/>
                </a:solidFill>
                <a:sym typeface="Symbol" pitchFamily="18" charset="2"/>
              </a:rPr>
              <a:t>+</a:t>
            </a:r>
            <a:r>
              <a:rPr lang="en-US" altLang="en-US" dirty="0">
                <a:solidFill>
                  <a:srgbClr val="FF0000"/>
                </a:solidFill>
                <a:sym typeface="Symbol" pitchFamily="18" charset="2"/>
              </a:rPr>
              <a:t> </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a:t>
            </a:r>
            <a:r>
              <a:rPr lang="en-US" kern="0" dirty="0" smtClean="0">
                <a:solidFill>
                  <a:srgbClr val="FF0000"/>
                </a:solidFill>
                <a:sym typeface="Symbol" pitchFamily="18" charset="2"/>
              </a:rPr>
              <a:t> =(</a:t>
            </a:r>
            <a:r>
              <a:rPr lang="en-US" kern="0" dirty="0">
                <a:solidFill>
                  <a:srgbClr val="FF0000"/>
                </a:solidFill>
                <a:sym typeface="Symbol" pitchFamily="18" charset="2"/>
              </a:rPr>
              <a:t>2/9)(</a:t>
            </a:r>
            <a:r>
              <a:rPr lang="en-US" i="1" kern="0" dirty="0">
                <a:solidFill>
                  <a:srgbClr val="FF0000"/>
                </a:solidFill>
                <a:sym typeface="Symbol" pitchFamily="18" charset="2"/>
              </a:rPr>
              <a:t>a</a:t>
            </a:r>
            <a:r>
              <a:rPr lang="en-US" kern="0" dirty="0">
                <a:solidFill>
                  <a:srgbClr val="FF0000"/>
                </a:solidFill>
                <a:sym typeface="Symbol" pitchFamily="18" charset="2"/>
              </a:rPr>
              <a:t> – </a:t>
            </a:r>
            <a:r>
              <a:rPr lang="en-US" i="1" kern="0" dirty="0" smtClean="0">
                <a:solidFill>
                  <a:srgbClr val="FF0000"/>
                </a:solidFill>
                <a:sym typeface="Symbol" pitchFamily="18" charset="2"/>
              </a:rPr>
              <a:t>c</a:t>
            </a:r>
            <a:r>
              <a:rPr lang="en-US" kern="0" dirty="0" smtClean="0">
                <a:solidFill>
                  <a:srgbClr val="FF0000"/>
                </a:solidFill>
                <a:sym typeface="Symbol" pitchFamily="18" charset="2"/>
              </a:rPr>
              <a:t>)</a:t>
            </a:r>
            <a:r>
              <a:rPr lang="en-US" kern="0" baseline="30000" dirty="0" smtClean="0">
                <a:solidFill>
                  <a:srgbClr val="FF0000"/>
                </a:solidFill>
                <a:sym typeface="Symbol" pitchFamily="18" charset="2"/>
              </a:rPr>
              <a:t>2</a:t>
            </a:r>
            <a:endParaRPr lang="en-US" kern="0" dirty="0">
              <a:solidFill>
                <a:srgbClr val="FF0000"/>
              </a:solidFill>
              <a:sym typeface="Symbol" pitchFamily="18" charset="2"/>
            </a:endParaRPr>
          </a:p>
        </p:txBody>
      </p:sp>
      <p:graphicFrame>
        <p:nvGraphicFramePr>
          <p:cNvPr id="52226" name="Object 2"/>
          <p:cNvGraphicFramePr>
            <a:graphicFrameLocks noChangeAspect="1"/>
          </p:cNvGraphicFramePr>
          <p:nvPr/>
        </p:nvGraphicFramePr>
        <p:xfrm>
          <a:off x="766763" y="2203450"/>
          <a:ext cx="5078412" cy="900113"/>
        </p:xfrm>
        <a:graphic>
          <a:graphicData uri="http://schemas.openxmlformats.org/presentationml/2006/ole">
            <mc:AlternateContent xmlns:mc="http://schemas.openxmlformats.org/markup-compatibility/2006">
              <mc:Choice xmlns:v="urn:schemas-microsoft-com:vml" Requires="v">
                <p:oleObj spid="_x0000_s320524" name="Equation" r:id="rId3" imgW="2222280" imgH="393480" progId="Equation.DSMT4">
                  <p:embed/>
                </p:oleObj>
              </mc:Choice>
              <mc:Fallback>
                <p:oleObj name="Equation" r:id="rId3" imgW="222228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3" y="2203450"/>
                        <a:ext cx="5078412"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25973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 	Natural-Spring Duopoly</a:t>
            </a:r>
          </a:p>
        </p:txBody>
      </p:sp>
      <p:sp>
        <p:nvSpPr>
          <p:cNvPr id="410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32CEF653-1BE7-4A67-881E-121BC8327F23}" type="slidenum">
              <a:rPr lang="en-US" smtClean="0"/>
              <a:pPr>
                <a:defRPr/>
              </a:pPr>
              <a:t>16</a:t>
            </a:fld>
            <a:endParaRPr lang="en-US" dirty="0"/>
          </a:p>
        </p:txBody>
      </p:sp>
      <p:sp>
        <p:nvSpPr>
          <p:cNvPr id="4100" name="Content Placeholder 2"/>
          <p:cNvSpPr>
            <a:spLocks noGrp="1"/>
          </p:cNvSpPr>
          <p:nvPr>
            <p:ph type="body" sz="quarter" idx="12"/>
          </p:nvPr>
        </p:nvSpPr>
        <p:spPr>
          <a:prstGeom prst="rect">
            <a:avLst/>
          </a:prstGeom>
        </p:spPr>
        <p:txBody>
          <a:bodyPr/>
          <a:lstStyle/>
          <a:p>
            <a:r>
              <a:rPr lang="en-US" altLang="en-US" dirty="0" smtClean="0"/>
              <a:t>Perfect cartel</a:t>
            </a:r>
          </a:p>
          <a:p>
            <a:pPr lvl="1"/>
            <a:r>
              <a:rPr lang="en-US" altLang="en-US" dirty="0" smtClean="0"/>
              <a:t>Objective function - involves joint profits</a:t>
            </a:r>
          </a:p>
          <a:p>
            <a:pPr algn="ctr">
              <a:buFontTx/>
              <a:buNone/>
            </a:pPr>
            <a:r>
              <a:rPr lang="en-US" altLang="en-US" sz="2800" dirty="0" smtClean="0">
                <a:solidFill>
                  <a:srgbClr val="FF0000"/>
                </a:solidFill>
                <a:sym typeface="Symbol" pitchFamily="18" charset="2"/>
              </a:rPr>
              <a:t></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 + </a:t>
            </a:r>
            <a:r>
              <a:rPr lang="en-US" altLang="en-US" sz="2800" baseline="-25000" dirty="0" smtClean="0">
                <a:solidFill>
                  <a:srgbClr val="FF0000"/>
                </a:solidFill>
                <a:sym typeface="Symbol" pitchFamily="18" charset="2"/>
              </a:rPr>
              <a:t>2</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a</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2</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c</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a</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1</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2</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c</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q</a:t>
            </a:r>
            <a:r>
              <a:rPr lang="en-US" altLang="en-US" sz="2800" baseline="-25000" dirty="0" smtClean="0">
                <a:solidFill>
                  <a:srgbClr val="FF0000"/>
                </a:solidFill>
                <a:sym typeface="Symbol" pitchFamily="18" charset="2"/>
              </a:rPr>
              <a:t>2</a:t>
            </a:r>
            <a:r>
              <a:rPr lang="en-US" altLang="en-US" sz="2800" dirty="0" smtClean="0">
                <a:solidFill>
                  <a:srgbClr val="FF0000"/>
                </a:solidFill>
                <a:sym typeface="Symbol" pitchFamily="18" charset="2"/>
              </a:rPr>
              <a:t> </a:t>
            </a:r>
          </a:p>
          <a:p>
            <a:pPr lvl="1"/>
            <a:r>
              <a:rPr lang="en-US" altLang="en-US" dirty="0" smtClean="0">
                <a:sym typeface="Symbol" pitchFamily="18" charset="2"/>
              </a:rPr>
              <a:t>First-order conditions for a maximum:</a:t>
            </a:r>
            <a:endParaRPr lang="en-US" altLang="en-US" dirty="0" smtClean="0">
              <a:solidFill>
                <a:srgbClr val="FF0000"/>
              </a:solidFill>
              <a:sym typeface="Symbol" pitchFamily="18" charset="2"/>
            </a:endParaRPr>
          </a:p>
        </p:txBody>
      </p:sp>
      <p:sp>
        <p:nvSpPr>
          <p:cNvPr id="2" name="Text Placeholder 1"/>
          <p:cNvSpPr>
            <a:spLocks noGrp="1"/>
          </p:cNvSpPr>
          <p:nvPr>
            <p:ph type="body" sz="quarter" idx="13"/>
          </p:nvPr>
        </p:nvSpPr>
        <p:spPr>
          <a:xfrm>
            <a:off x="381000" y="3810000"/>
            <a:ext cx="8382000" cy="2362200"/>
          </a:xfrm>
        </p:spPr>
        <p:txBody>
          <a:bodyPr/>
          <a:lstStyle/>
          <a:p>
            <a:pPr lvl="1" eaLnBrk="0" hangingPunct="0">
              <a:lnSpc>
                <a:spcPct val="120000"/>
              </a:lnSpc>
              <a:buNone/>
              <a:defRPr/>
            </a:pPr>
            <a:r>
              <a:rPr lang="en-US" kern="0" dirty="0">
                <a:solidFill>
                  <a:srgbClr val="FF0000"/>
                </a:solidFill>
              </a:rPr>
              <a:t>total output </a:t>
            </a:r>
            <a:r>
              <a:rPr lang="en-US" kern="0" dirty="0" smtClean="0">
                <a:solidFill>
                  <a:srgbClr val="FF0000"/>
                </a:solidFill>
              </a:rPr>
              <a:t>=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a:t>
            </a:r>
            <a:r>
              <a:rPr lang="en-US" altLang="en-US" i="1" dirty="0">
                <a:solidFill>
                  <a:srgbClr val="FF0000"/>
                </a:solidFill>
                <a:sym typeface="Symbol" pitchFamily="18" charset="2"/>
              </a:rPr>
              <a:t> </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a:t>
            </a:r>
            <a:r>
              <a:rPr lang="en-US" kern="0" dirty="0" smtClean="0">
                <a:solidFill>
                  <a:srgbClr val="FF0000"/>
                </a:solidFill>
              </a:rPr>
              <a:t> </a:t>
            </a:r>
            <a:r>
              <a:rPr lang="en-US" i="1" kern="0" dirty="0">
                <a:solidFill>
                  <a:srgbClr val="FF0000"/>
                </a:solidFill>
              </a:rPr>
              <a:t>Q</a:t>
            </a:r>
            <a:r>
              <a:rPr lang="en-US" kern="0" dirty="0">
                <a:solidFill>
                  <a:srgbClr val="FF0000"/>
                </a:solidFill>
              </a:rPr>
              <a:t>* = (1/2)(</a:t>
            </a:r>
            <a:r>
              <a:rPr lang="en-US" i="1" kern="0" dirty="0">
                <a:solidFill>
                  <a:srgbClr val="FF0000"/>
                </a:solidFill>
              </a:rPr>
              <a:t>a – c</a:t>
            </a:r>
            <a:r>
              <a:rPr lang="en-US" kern="0" dirty="0">
                <a:solidFill>
                  <a:srgbClr val="FF0000"/>
                </a:solidFill>
              </a:rPr>
              <a:t>)</a:t>
            </a:r>
          </a:p>
          <a:p>
            <a:pPr lvl="1" eaLnBrk="0" hangingPunct="0">
              <a:lnSpc>
                <a:spcPct val="120000"/>
              </a:lnSpc>
              <a:buNone/>
              <a:defRPr/>
            </a:pPr>
            <a:r>
              <a:rPr lang="en-US" i="1" kern="0" dirty="0">
                <a:solidFill>
                  <a:srgbClr val="FF0000"/>
                </a:solidFill>
              </a:rPr>
              <a:t>P</a:t>
            </a:r>
            <a:r>
              <a:rPr lang="en-US" kern="0" dirty="0">
                <a:solidFill>
                  <a:srgbClr val="FF0000"/>
                </a:solidFill>
              </a:rPr>
              <a:t>* = (1/2)(</a:t>
            </a:r>
            <a:r>
              <a:rPr lang="en-US" i="1" kern="0" dirty="0">
                <a:solidFill>
                  <a:srgbClr val="FF0000"/>
                </a:solidFill>
              </a:rPr>
              <a:t>a + c</a:t>
            </a:r>
            <a:r>
              <a:rPr lang="en-US" kern="0" dirty="0">
                <a:solidFill>
                  <a:srgbClr val="FF0000"/>
                </a:solidFill>
              </a:rPr>
              <a:t>)</a:t>
            </a:r>
          </a:p>
          <a:p>
            <a:pPr lvl="1" eaLnBrk="0" hangingPunct="0">
              <a:lnSpc>
                <a:spcPct val="120000"/>
              </a:lnSpc>
              <a:buNone/>
              <a:defRPr/>
            </a:pPr>
            <a:r>
              <a:rPr lang="en-US" kern="0" dirty="0">
                <a:solidFill>
                  <a:srgbClr val="FF0000"/>
                </a:solidFill>
              </a:rPr>
              <a:t>total cartel profit = </a:t>
            </a:r>
            <a:r>
              <a:rPr lang="en-US" kern="0" dirty="0">
                <a:solidFill>
                  <a:srgbClr val="FF0000"/>
                </a:solidFill>
                <a:sym typeface="Symbol" pitchFamily="18" charset="2"/>
              </a:rPr>
              <a:t>* = (1/4)(</a:t>
            </a:r>
            <a:r>
              <a:rPr lang="en-US" i="1" kern="0" dirty="0">
                <a:solidFill>
                  <a:srgbClr val="FF0000"/>
                </a:solidFill>
                <a:sym typeface="Symbol" pitchFamily="18" charset="2"/>
              </a:rPr>
              <a:t>a</a:t>
            </a:r>
            <a:r>
              <a:rPr lang="en-US" kern="0" dirty="0">
                <a:solidFill>
                  <a:srgbClr val="FF0000"/>
                </a:solidFill>
                <a:sym typeface="Symbol" pitchFamily="18" charset="2"/>
              </a:rPr>
              <a:t> – </a:t>
            </a:r>
            <a:r>
              <a:rPr lang="en-US" i="1" kern="0" dirty="0">
                <a:solidFill>
                  <a:srgbClr val="FF0000"/>
                </a:solidFill>
                <a:sym typeface="Symbol" pitchFamily="18" charset="2"/>
              </a:rPr>
              <a:t>c</a:t>
            </a:r>
            <a:r>
              <a:rPr lang="en-US" kern="0" dirty="0">
                <a:solidFill>
                  <a:srgbClr val="FF0000"/>
                </a:solidFill>
                <a:sym typeface="Symbol" pitchFamily="18" charset="2"/>
              </a:rPr>
              <a:t>)</a:t>
            </a:r>
            <a:r>
              <a:rPr lang="en-US" kern="0" baseline="30000" dirty="0">
                <a:solidFill>
                  <a:srgbClr val="FF0000"/>
                </a:solidFill>
                <a:sym typeface="Symbol" pitchFamily="18" charset="2"/>
              </a:rPr>
              <a:t>2</a:t>
            </a:r>
            <a:endParaRPr lang="en-US" kern="0" dirty="0">
              <a:solidFill>
                <a:srgbClr val="FF0000"/>
              </a:solidFill>
              <a:sym typeface="Symbol" pitchFamily="18" charset="2"/>
            </a:endParaRPr>
          </a:p>
        </p:txBody>
      </p:sp>
      <p:graphicFrame>
        <p:nvGraphicFramePr>
          <p:cNvPr id="54275" name="Object 3"/>
          <p:cNvGraphicFramePr>
            <a:graphicFrameLocks noChangeAspect="1"/>
          </p:cNvGraphicFramePr>
          <p:nvPr/>
        </p:nvGraphicFramePr>
        <p:xfrm>
          <a:off x="828675" y="2770188"/>
          <a:ext cx="7080250" cy="987425"/>
        </p:xfrm>
        <a:graphic>
          <a:graphicData uri="http://schemas.openxmlformats.org/presentationml/2006/ole">
            <mc:AlternateContent xmlns:mc="http://schemas.openxmlformats.org/markup-compatibility/2006">
              <mc:Choice xmlns:v="urn:schemas-microsoft-com:vml" Requires="v">
                <p:oleObj spid="_x0000_s321549" name="Equation" r:id="rId3" imgW="3098520" imgH="431640" progId="Equation.DSMT4">
                  <p:embed/>
                </p:oleObj>
              </mc:Choice>
              <mc:Fallback>
                <p:oleObj name="Equation" r:id="rId3" imgW="30985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75" y="2770188"/>
                        <a:ext cx="7080250"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15596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wipe(left)">
                                      <p:cBhvr>
                                        <p:cTn id="7" dur="500"/>
                                        <p:tgtEl>
                                          <p:spTgt spid="5427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15.2 	</a:t>
            </a:r>
            <a:r>
              <a:rPr lang="en-US" altLang="en-US" dirty="0" err="1" smtClean="0"/>
              <a:t>Cournot</a:t>
            </a:r>
            <a:r>
              <a:rPr lang="en-US" altLang="en-US" dirty="0" smtClean="0"/>
              <a:t> Best-Response Diagrams</a:t>
            </a:r>
          </a:p>
        </p:txBody>
      </p:sp>
      <p:sp>
        <p:nvSpPr>
          <p:cNvPr id="4608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588A78A-3FA9-4AA2-B98E-16101C8F4AAD}" type="slidenum">
              <a:rPr lang="en-US" smtClean="0"/>
              <a:pPr>
                <a:defRPr/>
              </a:pPr>
              <a:t>17</a:t>
            </a:fld>
            <a:endParaRPr lang="en-US" dirty="0"/>
          </a:p>
        </p:txBody>
      </p:sp>
      <p:sp>
        <p:nvSpPr>
          <p:cNvPr id="46083" name="Content Placeholder 2"/>
          <p:cNvSpPr>
            <a:spLocks noGrp="1"/>
          </p:cNvSpPr>
          <p:nvPr>
            <p:ph type="body" sz="quarter" idx="12"/>
          </p:nvPr>
        </p:nvSpPr>
        <p:spPr>
          <a:prstGeom prst="rect">
            <a:avLst/>
          </a:prstGeom>
        </p:spPr>
        <p:txBody>
          <a:bodyPr/>
          <a:lstStyle/>
          <a:p>
            <a:r>
              <a:rPr lang="en-US" altLang="en-US" smtClean="0"/>
              <a:t>Solve for the Nash equilibrium using graphical methods</a:t>
            </a:r>
          </a:p>
          <a:p>
            <a:pPr lvl="1"/>
            <a:r>
              <a:rPr lang="en-US" altLang="en-US" smtClean="0"/>
              <a:t>Graph the intercepts of the best-response functions</a:t>
            </a:r>
          </a:p>
          <a:p>
            <a:pPr lvl="1"/>
            <a:r>
              <a:rPr lang="en-US" altLang="en-US" smtClean="0"/>
              <a:t>Intersection between the best responses is the Nash equilibrium</a:t>
            </a:r>
          </a:p>
          <a:p>
            <a:r>
              <a:rPr lang="en-US" altLang="en-US" smtClean="0"/>
              <a:t>An isoprofit curve for firm 1 </a:t>
            </a:r>
          </a:p>
          <a:p>
            <a:pPr lvl="1"/>
            <a:r>
              <a:rPr lang="en-US" altLang="en-US" smtClean="0"/>
              <a:t>Is the locus of quantity pairs providing it with the same profit level</a:t>
            </a:r>
          </a:p>
        </p:txBody>
      </p:sp>
    </p:spTree>
    <p:extLst>
      <p:ext uri="{BB962C8B-B14F-4D97-AF65-F5344CB8AC3E}">
        <p14:creationId xmlns:p14="http://schemas.microsoft.com/office/powerpoint/2010/main" val="8906880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15.2	Best-Response Diagram for </a:t>
            </a:r>
            <a:r>
              <a:rPr lang="en-US" altLang="en-US" dirty="0" err="1"/>
              <a:t>Cournot</a:t>
            </a:r>
            <a:r>
              <a:rPr lang="en-US" altLang="en-US" dirty="0"/>
              <a:t> </a:t>
            </a:r>
            <a:r>
              <a:rPr lang="en-US" altLang="en-US" dirty="0" smtClean="0"/>
              <a:t>Duopoly</a:t>
            </a:r>
            <a:endParaRPr lang="en-US" altLang="en-US" dirty="0" smtClean="0"/>
          </a:p>
        </p:txBody>
      </p:sp>
      <p:sp>
        <p:nvSpPr>
          <p:cNvPr id="47107" name="Text Placeholder 2"/>
          <p:cNvSpPr>
            <a:spLocks noGrp="1"/>
          </p:cNvSpPr>
          <p:nvPr>
            <p:ph sz="half" idx="1"/>
          </p:nvPr>
        </p:nvSpPr>
        <p:spPr>
          <a:xfrm>
            <a:off x="5734050" y="1981200"/>
            <a:ext cx="3181350" cy="4144963"/>
          </a:xfrm>
        </p:spPr>
        <p:txBody>
          <a:bodyPr>
            <a:normAutofit/>
          </a:bodyPr>
          <a:lstStyle/>
          <a:p>
            <a:pPr>
              <a:spcBef>
                <a:spcPct val="0"/>
              </a:spcBef>
            </a:pPr>
            <a:r>
              <a:rPr lang="en-US" altLang="en-US" dirty="0"/>
              <a:t>Firms’ best responses are drawn as thick lines; their intersection (E) is the Nash equilibrium of the </a:t>
            </a:r>
            <a:r>
              <a:rPr lang="en-US" altLang="en-US" dirty="0" err="1"/>
              <a:t>Cournot</a:t>
            </a:r>
            <a:r>
              <a:rPr lang="en-US" altLang="en-US" dirty="0"/>
              <a:t> game. </a:t>
            </a:r>
            <a:r>
              <a:rPr lang="en-US" altLang="en-US" dirty="0" err="1"/>
              <a:t>Isoprofit</a:t>
            </a:r>
            <a:r>
              <a:rPr lang="en-US" altLang="en-US" dirty="0"/>
              <a:t> curves for firm 1 increase until point M is reached, which is the monopoly outcome for firm 1.</a:t>
            </a:r>
          </a:p>
          <a:p>
            <a:pPr>
              <a:spcBef>
                <a:spcPct val="0"/>
              </a:spcBef>
            </a:pPr>
            <a:endParaRPr lang="en-US" altLang="en-US" dirty="0" smtClean="0"/>
          </a:p>
        </p:txBody>
      </p:sp>
      <p:sp>
        <p:nvSpPr>
          <p:cNvPr id="4711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2FBA489D-5D3D-43D5-9F75-5E485BF4AAC8}" type="slidenum">
              <a:rPr lang="en-US" smtClean="0"/>
              <a:pPr>
                <a:defRPr/>
              </a:pPr>
              <a:t>18</a:t>
            </a:fld>
            <a:endParaRPr lang="en-US" dirty="0"/>
          </a:p>
        </p:txBody>
      </p:sp>
      <p:pic>
        <p:nvPicPr>
          <p:cNvPr id="343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0"/>
            <a:ext cx="5353050" cy="5006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832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3042"/>
                                        </p:tgtEl>
                                        <p:attrNameLst>
                                          <p:attrName>style.visibility</p:attrName>
                                        </p:attrNameLst>
                                      </p:cBhvr>
                                      <p:to>
                                        <p:strVal val="visible"/>
                                      </p:to>
                                    </p:set>
                                    <p:animEffect transition="in" filter="wipe(left)">
                                      <p:cBhvr>
                                        <p:cTn id="7" dur="500"/>
                                        <p:tgtEl>
                                          <p:spTgt spid="34304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107">
                                            <p:txEl>
                                              <p:pRg st="0" end="0"/>
                                            </p:txEl>
                                          </p:spTgt>
                                        </p:tgtEl>
                                        <p:attrNameLst>
                                          <p:attrName>style.visibility</p:attrName>
                                        </p:attrNameLst>
                                      </p:cBhvr>
                                      <p:to>
                                        <p:strVal val="visible"/>
                                      </p:to>
                                    </p:set>
                                    <p:animEffect transition="in" filter="wipe(left)">
                                      <p:cBhvr>
                                        <p:cTn id="11" dur="500"/>
                                        <p:tgtEl>
                                          <p:spTgt spid="471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C:\Documents and Settings\user\My Documents\Andreea\Nicholson_ Snyder\pic\f15--3--.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758826"/>
            <a:ext cx="7543800" cy="4361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15.3	Shifting </a:t>
            </a:r>
            <a:r>
              <a:rPr lang="en-US" altLang="en-US" dirty="0" err="1"/>
              <a:t>Cournot</a:t>
            </a:r>
            <a:r>
              <a:rPr lang="en-US" altLang="en-US" dirty="0"/>
              <a:t> Best </a:t>
            </a:r>
            <a:r>
              <a:rPr lang="en-US" altLang="en-US" dirty="0" smtClean="0"/>
              <a:t>Responses</a:t>
            </a:r>
            <a:endParaRPr lang="en-US" altLang="en-US" dirty="0" smtClean="0"/>
          </a:p>
        </p:txBody>
      </p:sp>
      <p:sp>
        <p:nvSpPr>
          <p:cNvPr id="48131" name="Text Placeholder 2"/>
          <p:cNvSpPr>
            <a:spLocks noGrp="1"/>
          </p:cNvSpPr>
          <p:nvPr>
            <p:ph sz="half" idx="1"/>
          </p:nvPr>
        </p:nvSpPr>
        <p:spPr>
          <a:xfrm>
            <a:off x="6824" y="5120220"/>
            <a:ext cx="9137176" cy="1234543"/>
          </a:xfrm>
        </p:spPr>
        <p:txBody>
          <a:bodyPr>
            <a:normAutofit/>
          </a:bodyPr>
          <a:lstStyle/>
          <a:p>
            <a:pPr>
              <a:spcBef>
                <a:spcPct val="0"/>
              </a:spcBef>
            </a:pPr>
            <a:r>
              <a:rPr lang="en-US" altLang="en-US" dirty="0"/>
              <a:t>Firms’ initial best responses are drawn as solid lines, resulting in a Nash equilibrium at point E’. Panel (a) depicts an increase in both firms’ marginal costs, shifting their best responses—now given by the dashed lines—inward. The new intersection point, and thus the new equilibrium, is point E’’. Panel (b) depicts an increase in just firm 1’s marginal cost</a:t>
            </a:r>
            <a:r>
              <a:rPr lang="en-US" altLang="en-US" dirty="0" smtClean="0"/>
              <a:t>.</a:t>
            </a:r>
            <a:endParaRPr lang="en-US" altLang="en-US" dirty="0"/>
          </a:p>
        </p:txBody>
      </p:sp>
      <p:sp>
        <p:nvSpPr>
          <p:cNvPr id="48133"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F01E356-FC7B-47F9-A453-76E85299A426}" type="slidenum">
              <a:rPr lang="en-US" smtClean="0"/>
              <a:pPr>
                <a:defRPr/>
              </a:pPr>
              <a:t>19</a:t>
            </a:fld>
            <a:endParaRPr lang="en-US" dirty="0"/>
          </a:p>
        </p:txBody>
      </p:sp>
    </p:spTree>
    <p:extLst>
      <p:ext uri="{BB962C8B-B14F-4D97-AF65-F5344CB8AC3E}">
        <p14:creationId xmlns:p14="http://schemas.microsoft.com/office/powerpoint/2010/main" val="3452493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500"/>
                                        <p:tgtEl>
                                          <p:spTgt spid="563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8131">
                                            <p:txEl>
                                              <p:pRg st="0" end="0"/>
                                            </p:txEl>
                                          </p:spTgt>
                                        </p:tgtEl>
                                        <p:attrNameLst>
                                          <p:attrName>style.visibility</p:attrName>
                                        </p:attrNameLst>
                                      </p:cBhvr>
                                      <p:to>
                                        <p:strVal val="visible"/>
                                      </p:to>
                                    </p:set>
                                    <p:animEffect transition="in" filter="wipe(left)">
                                      <p:cBhvr>
                                        <p:cTn id="11" dur="500"/>
                                        <p:tgtEl>
                                          <p:spTgt spid="481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nSpc>
                <a:spcPct val="80000"/>
              </a:lnSpc>
            </a:pPr>
            <a:r>
              <a:rPr lang="en-US" altLang="en-US" smtClean="0"/>
              <a:t>Varying the Number of Cournot Firms</a:t>
            </a:r>
          </a:p>
        </p:txBody>
      </p:sp>
      <p:sp>
        <p:nvSpPr>
          <p:cNvPr id="49155" name="Rectangle 3"/>
          <p:cNvSpPr>
            <a:spLocks noGrp="1" noChangeArrowheads="1"/>
          </p:cNvSpPr>
          <p:nvPr>
            <p:ph idx="1"/>
          </p:nvPr>
        </p:nvSpPr>
        <p:spPr/>
        <p:txBody>
          <a:bodyPr/>
          <a:lstStyle/>
          <a:p>
            <a:r>
              <a:rPr lang="en-US" altLang="en-US" dirty="0" smtClean="0"/>
              <a:t>The </a:t>
            </a:r>
            <a:r>
              <a:rPr lang="en-US" altLang="en-US" dirty="0" err="1" smtClean="0"/>
              <a:t>Cournot</a:t>
            </a:r>
            <a:r>
              <a:rPr lang="en-US" altLang="en-US" dirty="0" smtClean="0"/>
              <a:t> model </a:t>
            </a:r>
          </a:p>
          <a:p>
            <a:pPr lvl="1"/>
            <a:r>
              <a:rPr lang="en-US" altLang="en-US" dirty="0" smtClean="0"/>
              <a:t>Can represent the whole range of outcomes by varying the number of firms</a:t>
            </a:r>
          </a:p>
          <a:p>
            <a:pPr lvl="1"/>
            <a:r>
              <a:rPr lang="en-US" altLang="en-US" i="1" dirty="0" smtClean="0"/>
              <a:t>n</a:t>
            </a:r>
            <a:r>
              <a:rPr lang="en-US" altLang="en-US" dirty="0" smtClean="0"/>
              <a:t> = </a:t>
            </a:r>
            <a:r>
              <a:rPr lang="en-US" altLang="en-US" dirty="0" smtClean="0">
                <a:sym typeface="Symbol" pitchFamily="18" charset="2"/>
              </a:rPr>
              <a:t>  perfect competition</a:t>
            </a:r>
          </a:p>
          <a:p>
            <a:pPr lvl="1"/>
            <a:r>
              <a:rPr lang="en-US" altLang="en-US" i="1" dirty="0" smtClean="0">
                <a:sym typeface="Symbol" pitchFamily="18" charset="2"/>
              </a:rPr>
              <a:t>n</a:t>
            </a:r>
            <a:r>
              <a:rPr lang="en-US" altLang="en-US" dirty="0" smtClean="0">
                <a:sym typeface="Symbol" pitchFamily="18" charset="2"/>
              </a:rPr>
              <a:t> = 1  perfect cartel / </a:t>
            </a:r>
            <a:r>
              <a:rPr lang="en-US" altLang="en-US" dirty="0" smtClean="0">
                <a:sym typeface="Symbol" pitchFamily="18" charset="2"/>
              </a:rPr>
              <a:t>monopoly</a:t>
            </a:r>
          </a:p>
          <a:p>
            <a:r>
              <a:rPr lang="en-US" altLang="en-US" i="1" dirty="0">
                <a:sym typeface="Symbol" pitchFamily="18" charset="2"/>
              </a:rPr>
              <a:t> </a:t>
            </a:r>
            <a:r>
              <a:rPr lang="en-US" altLang="en-US" i="1" dirty="0" smtClean="0">
                <a:sym typeface="Symbol" pitchFamily="18" charset="2"/>
              </a:rPr>
              <a:t>n </a:t>
            </a:r>
            <a:r>
              <a:rPr lang="en-US" altLang="en-US" dirty="0" smtClean="0">
                <a:sym typeface="Symbol" pitchFamily="18" charset="2"/>
              </a:rPr>
              <a:t>identical firms</a:t>
            </a:r>
          </a:p>
          <a:p>
            <a:pPr lvl="1"/>
            <a:r>
              <a:rPr lang="en-US" altLang="en-US" dirty="0" smtClean="0">
                <a:sym typeface="Symbol" pitchFamily="18" charset="2"/>
              </a:rPr>
              <a:t>Same cost function </a:t>
            </a:r>
            <a:r>
              <a:rPr lang="en-US" altLang="en-US" i="1" dirty="0" smtClean="0">
                <a:sym typeface="Symbol" pitchFamily="18" charset="2"/>
              </a:rPr>
              <a:t>C(q</a:t>
            </a:r>
            <a:r>
              <a:rPr lang="en-US" altLang="en-US" i="1" baseline="-25000" dirty="0" smtClean="0">
                <a:sym typeface="Symbol" pitchFamily="18" charset="2"/>
              </a:rPr>
              <a:t>i</a:t>
            </a:r>
            <a:r>
              <a:rPr lang="en-US" altLang="en-US" i="1" dirty="0" smtClean="0">
                <a:sym typeface="Symbol" pitchFamily="18" charset="2"/>
              </a:rPr>
              <a:t>)</a:t>
            </a:r>
          </a:p>
          <a:p>
            <a:pPr lvl="1"/>
            <a:r>
              <a:rPr lang="en-US" altLang="en-US" dirty="0"/>
              <a:t>In </a:t>
            </a:r>
            <a:r>
              <a:rPr lang="en-US" altLang="en-US" dirty="0" smtClean="0"/>
              <a:t>equilibrium, each produces </a:t>
            </a:r>
            <a:r>
              <a:rPr lang="en-US" altLang="en-US" i="1" dirty="0"/>
              <a:t>q</a:t>
            </a:r>
            <a:r>
              <a:rPr lang="en-US" altLang="en-US" i="1" baseline="-25000" dirty="0"/>
              <a:t>i</a:t>
            </a:r>
            <a:r>
              <a:rPr lang="en-US" altLang="en-US" dirty="0"/>
              <a:t> = </a:t>
            </a:r>
            <a:r>
              <a:rPr lang="en-US" altLang="en-US" i="1" dirty="0">
                <a:sym typeface="Symbol" pitchFamily="18" charset="2"/>
              </a:rPr>
              <a:t>Q</a:t>
            </a:r>
            <a:r>
              <a:rPr lang="en-US" altLang="en-US" dirty="0">
                <a:sym typeface="Symbol" pitchFamily="18" charset="2"/>
              </a:rPr>
              <a:t>/</a:t>
            </a:r>
            <a:r>
              <a:rPr lang="en-US" altLang="en-US" i="1" dirty="0">
                <a:sym typeface="Symbol" pitchFamily="18" charset="2"/>
              </a:rPr>
              <a:t>n</a:t>
            </a:r>
          </a:p>
          <a:p>
            <a:endParaRPr lang="en-US" altLang="en-US" i="1"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563F624-F73C-4DE8-BFD9-EA8427447E56}" type="slidenum">
              <a:rPr lang="en-US" smtClean="0"/>
              <a:pPr>
                <a:defRPr/>
              </a:pPr>
              <a:t>20</a:t>
            </a:fld>
            <a:endParaRPr lang="en-US"/>
          </a:p>
        </p:txBody>
      </p:sp>
    </p:spTree>
    <p:extLst>
      <p:ext uri="{BB962C8B-B14F-4D97-AF65-F5344CB8AC3E}">
        <p14:creationId xmlns:p14="http://schemas.microsoft.com/office/powerpoint/2010/main" val="10383497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lnSpc>
                <a:spcPct val="80000"/>
              </a:lnSpc>
            </a:pPr>
            <a:r>
              <a:rPr lang="en-US" altLang="en-US" sz="3900" smtClean="0"/>
              <a:t>Varying the Number of Cournot Firms</a:t>
            </a:r>
          </a:p>
        </p:txBody>
      </p:sp>
      <p:sp>
        <p:nvSpPr>
          <p:cNvPr id="50179" name="Rectangle 3"/>
          <p:cNvSpPr>
            <a:spLocks noGrp="1" noChangeArrowheads="1"/>
          </p:cNvSpPr>
          <p:nvPr>
            <p:ph idx="1"/>
          </p:nvPr>
        </p:nvSpPr>
        <p:spPr/>
        <p:txBody>
          <a:bodyPr/>
          <a:lstStyle/>
          <a:p>
            <a:r>
              <a:rPr lang="en-US" altLang="en-US" dirty="0" smtClean="0">
                <a:sym typeface="Symbol" pitchFamily="18" charset="2"/>
              </a:rPr>
              <a:t>Difference </a:t>
            </a:r>
            <a:r>
              <a:rPr lang="en-US" altLang="en-US" dirty="0" smtClean="0">
                <a:sym typeface="Symbol" pitchFamily="18" charset="2"/>
              </a:rPr>
              <a:t>between price and marginal cost: </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n</a:t>
            </a:r>
          </a:p>
          <a:p>
            <a:pPr lvl="1"/>
            <a:r>
              <a:rPr lang="en-US" altLang="en-US" sz="3000" dirty="0">
                <a:sym typeface="Symbol" pitchFamily="18" charset="2"/>
              </a:rPr>
              <a:t>The wedge term disappears as </a:t>
            </a:r>
            <a:r>
              <a:rPr lang="en-US" altLang="en-US" sz="3000" i="1" dirty="0">
                <a:sym typeface="Symbol" pitchFamily="18" charset="2"/>
              </a:rPr>
              <a:t>n</a:t>
            </a:r>
            <a:r>
              <a:rPr lang="en-US" altLang="en-US" sz="3000" dirty="0">
                <a:sym typeface="Symbol" pitchFamily="18" charset="2"/>
              </a:rPr>
              <a:t> grows large; </a:t>
            </a:r>
            <a:r>
              <a:rPr lang="en-US" altLang="en-US" sz="3000" dirty="0" smtClean="0">
                <a:sym typeface="Symbol" pitchFamily="18" charset="2"/>
              </a:rPr>
              <a:t>firms become </a:t>
            </a:r>
            <a:r>
              <a:rPr lang="en-US" altLang="en-US" sz="3000" dirty="0">
                <a:sym typeface="Symbol" pitchFamily="18" charset="2"/>
              </a:rPr>
              <a:t>infinitesimally </a:t>
            </a:r>
            <a:r>
              <a:rPr lang="en-US" altLang="en-US" sz="3000" dirty="0" smtClean="0">
                <a:sym typeface="Symbol" pitchFamily="18" charset="2"/>
              </a:rPr>
              <a:t>small – price takers</a:t>
            </a:r>
          </a:p>
          <a:p>
            <a:pPr lvl="2"/>
            <a:r>
              <a:rPr lang="en-US" altLang="en-US" dirty="0" smtClean="0">
                <a:sym typeface="Symbol" pitchFamily="18" charset="2"/>
              </a:rPr>
              <a:t>Price </a:t>
            </a:r>
            <a:r>
              <a:rPr lang="en-US" altLang="en-US" dirty="0">
                <a:sym typeface="Symbol" pitchFamily="18" charset="2"/>
              </a:rPr>
              <a:t>approaches marginal cost </a:t>
            </a:r>
            <a:endParaRPr lang="en-US" altLang="en-US" dirty="0" smtClean="0">
              <a:sym typeface="Symbol" pitchFamily="18" charset="2"/>
            </a:endParaRPr>
          </a:p>
          <a:p>
            <a:pPr lvl="2"/>
            <a:r>
              <a:rPr lang="en-US" altLang="en-US" dirty="0" smtClean="0">
                <a:sym typeface="Symbol" pitchFamily="18" charset="2"/>
              </a:rPr>
              <a:t>Market outcome approaches </a:t>
            </a:r>
            <a:r>
              <a:rPr lang="en-US" altLang="en-US" dirty="0">
                <a:sym typeface="Symbol" pitchFamily="18" charset="2"/>
              </a:rPr>
              <a:t>the perfectly competitive </a:t>
            </a:r>
            <a:r>
              <a:rPr lang="en-US" altLang="en-US" dirty="0" smtClean="0">
                <a:sym typeface="Symbol" pitchFamily="18" charset="2"/>
              </a:rPr>
              <a:t>one</a:t>
            </a:r>
          </a:p>
          <a:p>
            <a:pPr lvl="1"/>
            <a:r>
              <a:rPr lang="en-US" altLang="en-US" dirty="0" smtClean="0">
                <a:sym typeface="Symbol" pitchFamily="18" charset="2"/>
              </a:rPr>
              <a:t>As </a:t>
            </a:r>
            <a:r>
              <a:rPr lang="en-US" altLang="en-US" dirty="0">
                <a:sym typeface="Symbol" pitchFamily="18" charset="2"/>
              </a:rPr>
              <a:t>n decreases to </a:t>
            </a:r>
            <a:r>
              <a:rPr lang="en-US" altLang="en-US" dirty="0" smtClean="0">
                <a:sym typeface="Symbol" pitchFamily="18" charset="2"/>
              </a:rPr>
              <a:t>1: </a:t>
            </a:r>
            <a:r>
              <a:rPr lang="en-US" altLang="en-US" dirty="0">
                <a:sym typeface="Symbol" pitchFamily="18" charset="2"/>
              </a:rPr>
              <a:t>the </a:t>
            </a:r>
            <a:r>
              <a:rPr lang="en-US" altLang="en-US" dirty="0" err="1">
                <a:sym typeface="Symbol" pitchFamily="18" charset="2"/>
              </a:rPr>
              <a:t>Cournot</a:t>
            </a:r>
            <a:r>
              <a:rPr lang="en-US" altLang="en-US" dirty="0">
                <a:sym typeface="Symbol" pitchFamily="18" charset="2"/>
              </a:rPr>
              <a:t> outcome approaches that of a perfect </a:t>
            </a:r>
            <a:r>
              <a:rPr lang="en-US" altLang="en-US" dirty="0" smtClean="0">
                <a:sym typeface="Symbol" pitchFamily="18" charset="2"/>
              </a:rPr>
              <a:t>cartel</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F74D560-AA12-4CEA-9628-2EC19ABCDE8E}" type="slidenum">
              <a:rPr lang="en-US" smtClean="0"/>
              <a:pPr>
                <a:defRPr/>
              </a:pPr>
              <a:t>21</a:t>
            </a:fld>
            <a:endParaRPr lang="en-US"/>
          </a:p>
        </p:txBody>
      </p:sp>
    </p:spTree>
    <p:extLst>
      <p:ext uri="{BB962C8B-B14F-4D97-AF65-F5344CB8AC3E}">
        <p14:creationId xmlns:p14="http://schemas.microsoft.com/office/powerpoint/2010/main" val="39355326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15.3	 Natural-Spring Oligopoly</a:t>
            </a:r>
          </a:p>
        </p:txBody>
      </p:sp>
      <p:sp>
        <p:nvSpPr>
          <p:cNvPr id="5120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422FA654-37B1-4B3C-98C2-B87F5AD3A6E8}" type="slidenum">
              <a:rPr lang="en-US" smtClean="0"/>
              <a:pPr>
                <a:defRPr/>
              </a:pPr>
              <a:t>22</a:t>
            </a:fld>
            <a:endParaRPr lang="en-US" dirty="0"/>
          </a:p>
        </p:txBody>
      </p:sp>
      <p:sp>
        <p:nvSpPr>
          <p:cNvPr id="51203" name="Content Placeholder 2"/>
          <p:cNvSpPr>
            <a:spLocks noGrp="1"/>
          </p:cNvSpPr>
          <p:nvPr>
            <p:ph type="body" sz="quarter" idx="12"/>
          </p:nvPr>
        </p:nvSpPr>
        <p:spPr>
          <a:prstGeom prst="rect">
            <a:avLst/>
          </a:prstGeom>
        </p:spPr>
        <p:txBody>
          <a:bodyPr/>
          <a:lstStyle/>
          <a:p>
            <a:r>
              <a:rPr lang="en-US" altLang="en-US" smtClean="0"/>
              <a:t>A variable number </a:t>
            </a:r>
            <a:r>
              <a:rPr lang="en-US" altLang="en-US" i="1" smtClean="0"/>
              <a:t>n</a:t>
            </a:r>
            <a:r>
              <a:rPr lang="en-US" altLang="en-US" smtClean="0"/>
              <a:t> of firms</a:t>
            </a:r>
          </a:p>
          <a:p>
            <a:pPr lvl="1"/>
            <a:r>
              <a:rPr lang="en-US" altLang="en-US" smtClean="0"/>
              <a:t>The profit of firm </a:t>
            </a:r>
            <a:r>
              <a:rPr lang="en-US" altLang="en-US" i="1" smtClean="0"/>
              <a:t>i</a:t>
            </a:r>
            <a:r>
              <a:rPr lang="en-US" altLang="en-US" smtClean="0"/>
              <a:t>:</a:t>
            </a:r>
          </a:p>
          <a:p>
            <a:pPr algn="ctr">
              <a:buFont typeface="Arial" charset="0"/>
              <a:buNone/>
            </a:pPr>
            <a:r>
              <a:rPr lang="en-US" altLang="en-US" smtClean="0">
                <a:cs typeface="Arial" charset="0"/>
              </a:rPr>
              <a:t> </a:t>
            </a:r>
            <a:r>
              <a:rPr lang="el-GR" altLang="en-US" sz="2800" i="1" smtClean="0">
                <a:solidFill>
                  <a:srgbClr val="FF0000"/>
                </a:solidFill>
                <a:cs typeface="Arial" charset="0"/>
              </a:rPr>
              <a:t>π</a:t>
            </a:r>
            <a:r>
              <a:rPr lang="en-US" altLang="en-US" sz="2800" i="1" baseline="-25000" smtClean="0">
                <a:solidFill>
                  <a:srgbClr val="FF0000"/>
                </a:solidFill>
                <a:cs typeface="Arial" charset="0"/>
              </a:rPr>
              <a:t>i</a:t>
            </a:r>
            <a:r>
              <a:rPr lang="en-US" altLang="en-US" sz="2800" i="1" smtClean="0">
                <a:solidFill>
                  <a:srgbClr val="FF0000"/>
                </a:solidFill>
                <a:cs typeface="Arial" charset="0"/>
              </a:rPr>
              <a:t> = P(Q)q</a:t>
            </a:r>
            <a:r>
              <a:rPr lang="en-US" altLang="en-US" sz="2800" i="1" baseline="-25000" smtClean="0">
                <a:solidFill>
                  <a:srgbClr val="FF0000"/>
                </a:solidFill>
                <a:cs typeface="Arial" charset="0"/>
              </a:rPr>
              <a:t>i</a:t>
            </a:r>
            <a:r>
              <a:rPr lang="en-US" altLang="en-US" sz="2800" i="1" smtClean="0">
                <a:solidFill>
                  <a:srgbClr val="FF0000"/>
                </a:solidFill>
                <a:cs typeface="Arial" charset="0"/>
              </a:rPr>
              <a:t> – cq</a:t>
            </a:r>
            <a:r>
              <a:rPr lang="en-US" altLang="en-US" sz="2800" i="1" baseline="-25000" smtClean="0">
                <a:solidFill>
                  <a:srgbClr val="FF0000"/>
                </a:solidFill>
                <a:cs typeface="Arial" charset="0"/>
              </a:rPr>
              <a:t>i</a:t>
            </a:r>
            <a:r>
              <a:rPr lang="en-US" altLang="en-US" sz="2800" i="1" smtClean="0">
                <a:solidFill>
                  <a:srgbClr val="FF0000"/>
                </a:solidFill>
                <a:cs typeface="Arial" charset="0"/>
              </a:rPr>
              <a:t> = (a – q</a:t>
            </a:r>
            <a:r>
              <a:rPr lang="en-US" altLang="en-US" sz="2800" i="1" baseline="-25000" smtClean="0">
                <a:solidFill>
                  <a:srgbClr val="FF0000"/>
                </a:solidFill>
                <a:cs typeface="Arial" charset="0"/>
              </a:rPr>
              <a:t>i</a:t>
            </a:r>
            <a:r>
              <a:rPr lang="en-US" altLang="en-US" sz="2800" i="1" smtClean="0">
                <a:solidFill>
                  <a:srgbClr val="FF0000"/>
                </a:solidFill>
                <a:cs typeface="Arial" charset="0"/>
              </a:rPr>
              <a:t> – Q</a:t>
            </a:r>
            <a:r>
              <a:rPr lang="en-US" altLang="en-US" sz="2800" i="1" baseline="-25000" smtClean="0">
                <a:solidFill>
                  <a:srgbClr val="FF0000"/>
                </a:solidFill>
                <a:cs typeface="Arial" charset="0"/>
              </a:rPr>
              <a:t>-i</a:t>
            </a:r>
            <a:r>
              <a:rPr lang="en-US" altLang="en-US" sz="2800" i="1" smtClean="0">
                <a:solidFill>
                  <a:srgbClr val="FF0000"/>
                </a:solidFill>
                <a:cs typeface="Arial" charset="0"/>
              </a:rPr>
              <a:t> - c)q</a:t>
            </a:r>
            <a:r>
              <a:rPr lang="en-US" altLang="en-US" sz="2800" i="1" baseline="-25000" smtClean="0">
                <a:solidFill>
                  <a:srgbClr val="FF0000"/>
                </a:solidFill>
                <a:cs typeface="Arial" charset="0"/>
              </a:rPr>
              <a:t>i</a:t>
            </a:r>
            <a:endParaRPr lang="en-US" altLang="en-US" sz="2800" i="1" baseline="-25000" smtClean="0">
              <a:solidFill>
                <a:srgbClr val="FF0000"/>
              </a:solidFill>
            </a:endParaRPr>
          </a:p>
          <a:p>
            <a:pPr lvl="1"/>
            <a:r>
              <a:rPr lang="en-US" altLang="en-US" smtClean="0"/>
              <a:t>Total output </a:t>
            </a:r>
            <a:r>
              <a:rPr lang="en-US" altLang="en-US" i="1" smtClean="0">
                <a:solidFill>
                  <a:srgbClr val="FF0000"/>
                </a:solidFill>
              </a:rPr>
              <a:t>Q = q</a:t>
            </a:r>
            <a:r>
              <a:rPr lang="en-US" altLang="en-US" i="1" baseline="-25000" smtClean="0">
                <a:solidFill>
                  <a:srgbClr val="FF0000"/>
                </a:solidFill>
              </a:rPr>
              <a:t>i</a:t>
            </a:r>
            <a:r>
              <a:rPr lang="en-US" altLang="en-US" i="1" smtClean="0">
                <a:solidFill>
                  <a:srgbClr val="FF0000"/>
                </a:solidFill>
              </a:rPr>
              <a:t> + Q</a:t>
            </a:r>
            <a:r>
              <a:rPr lang="en-US" altLang="en-US" i="1" baseline="-25000" smtClean="0">
                <a:solidFill>
                  <a:srgbClr val="FF0000"/>
                </a:solidFill>
              </a:rPr>
              <a:t>-i</a:t>
            </a:r>
            <a:r>
              <a:rPr lang="en-US" altLang="en-US" i="1" smtClean="0"/>
              <a:t> </a:t>
            </a:r>
          </a:p>
          <a:p>
            <a:pPr lvl="3"/>
            <a:r>
              <a:rPr lang="en-US" altLang="en-US" smtClean="0"/>
              <a:t>Where </a:t>
            </a:r>
            <a:r>
              <a:rPr lang="en-US" altLang="en-US" i="1" smtClean="0"/>
              <a:t>Q</a:t>
            </a:r>
            <a:r>
              <a:rPr lang="en-US" altLang="en-US" i="1" baseline="-25000" smtClean="0"/>
              <a:t>-i</a:t>
            </a:r>
            <a:r>
              <a:rPr lang="en-US" altLang="en-US" i="1" smtClean="0"/>
              <a:t> = Q - q</a:t>
            </a:r>
            <a:r>
              <a:rPr lang="en-US" altLang="en-US" i="1" baseline="-25000" smtClean="0"/>
              <a:t>i</a:t>
            </a:r>
            <a:r>
              <a:rPr lang="en-US" altLang="en-US" i="1" smtClean="0"/>
              <a:t> </a:t>
            </a:r>
            <a:r>
              <a:rPr lang="en-US" altLang="en-US" smtClean="0"/>
              <a:t>output of all firms except for </a:t>
            </a:r>
            <a:r>
              <a:rPr lang="en-US" altLang="en-US" i="1" smtClean="0"/>
              <a:t>i</a:t>
            </a:r>
            <a:r>
              <a:rPr lang="en-US" altLang="en-US" smtClean="0"/>
              <a:t>  </a:t>
            </a:r>
          </a:p>
          <a:p>
            <a:r>
              <a:rPr lang="en-US" altLang="en-US" smtClean="0"/>
              <a:t>First-order conditions </a:t>
            </a:r>
          </a:p>
          <a:p>
            <a:pPr lvl="1"/>
            <a:r>
              <a:rPr lang="en-US" altLang="en-US" i="1" smtClean="0">
                <a:solidFill>
                  <a:srgbClr val="FF0000"/>
                </a:solidFill>
                <a:cs typeface="Arial" charset="0"/>
              </a:rPr>
              <a:t>∂</a:t>
            </a:r>
            <a:r>
              <a:rPr lang="el-GR" altLang="en-US" i="1" smtClean="0">
                <a:solidFill>
                  <a:srgbClr val="FF0000"/>
                </a:solidFill>
                <a:cs typeface="Arial" charset="0"/>
              </a:rPr>
              <a:t>π</a:t>
            </a:r>
            <a:r>
              <a:rPr lang="en-US" altLang="en-US" i="1" baseline="-25000" smtClean="0">
                <a:solidFill>
                  <a:srgbClr val="FF0000"/>
                </a:solidFill>
                <a:cs typeface="Arial" charset="0"/>
              </a:rPr>
              <a:t>i</a:t>
            </a:r>
            <a:r>
              <a:rPr lang="en-US" altLang="en-US" i="1" smtClean="0">
                <a:solidFill>
                  <a:srgbClr val="FF0000"/>
                </a:solidFill>
                <a:cs typeface="Arial" charset="0"/>
              </a:rPr>
              <a:t> /∂q</a:t>
            </a:r>
            <a:r>
              <a:rPr lang="en-US" altLang="en-US" i="1" baseline="-25000" smtClean="0">
                <a:solidFill>
                  <a:srgbClr val="FF0000"/>
                </a:solidFill>
                <a:cs typeface="Arial" charset="0"/>
              </a:rPr>
              <a:t>i </a:t>
            </a:r>
            <a:r>
              <a:rPr lang="en-US" altLang="en-US" i="1" smtClean="0">
                <a:solidFill>
                  <a:srgbClr val="FF0000"/>
                </a:solidFill>
                <a:cs typeface="Arial" charset="0"/>
              </a:rPr>
              <a:t>= a – 2</a:t>
            </a:r>
            <a:r>
              <a:rPr lang="en-US" altLang="en-US" i="1" smtClean="0">
                <a:solidFill>
                  <a:srgbClr val="FF0000"/>
                </a:solidFill>
              </a:rPr>
              <a:t>q</a:t>
            </a:r>
            <a:r>
              <a:rPr lang="en-US" altLang="en-US" i="1" baseline="-25000" smtClean="0">
                <a:solidFill>
                  <a:srgbClr val="FF0000"/>
                </a:solidFill>
              </a:rPr>
              <a:t>i</a:t>
            </a:r>
            <a:r>
              <a:rPr lang="en-US" altLang="en-US" i="1" smtClean="0">
                <a:solidFill>
                  <a:srgbClr val="FF0000"/>
                </a:solidFill>
              </a:rPr>
              <a:t> </a:t>
            </a:r>
            <a:r>
              <a:rPr lang="en-US" altLang="en-US" i="1" smtClean="0">
                <a:solidFill>
                  <a:srgbClr val="FF0000"/>
                </a:solidFill>
                <a:cs typeface="Arial" charset="0"/>
              </a:rPr>
              <a:t>– Q</a:t>
            </a:r>
            <a:r>
              <a:rPr lang="en-US" altLang="en-US" i="1" baseline="-25000" smtClean="0">
                <a:solidFill>
                  <a:srgbClr val="FF0000"/>
                </a:solidFill>
                <a:cs typeface="Arial" charset="0"/>
              </a:rPr>
              <a:t>-i</a:t>
            </a:r>
            <a:r>
              <a:rPr lang="en-US" altLang="en-US" i="1" smtClean="0">
                <a:solidFill>
                  <a:srgbClr val="FF0000"/>
                </a:solidFill>
                <a:cs typeface="Arial" charset="0"/>
              </a:rPr>
              <a:t> – c = 0 </a:t>
            </a:r>
          </a:p>
          <a:p>
            <a:r>
              <a:rPr lang="en-US" altLang="en-US" smtClean="0">
                <a:cs typeface="Arial" charset="0"/>
              </a:rPr>
              <a:t>Symmetry: </a:t>
            </a:r>
          </a:p>
          <a:p>
            <a:pPr lvl="1"/>
            <a:r>
              <a:rPr lang="en-US" altLang="en-US" i="1" smtClean="0">
                <a:solidFill>
                  <a:srgbClr val="FF0000"/>
                </a:solidFill>
                <a:cs typeface="Arial" charset="0"/>
              </a:rPr>
              <a:t>Q</a:t>
            </a:r>
            <a:r>
              <a:rPr lang="en-US" altLang="en-US" i="1" baseline="-25000" smtClean="0">
                <a:solidFill>
                  <a:srgbClr val="FF0000"/>
                </a:solidFill>
                <a:cs typeface="Arial" charset="0"/>
              </a:rPr>
              <a:t>-i</a:t>
            </a:r>
            <a:r>
              <a:rPr lang="en-US" altLang="en-US" i="1" smtClean="0">
                <a:solidFill>
                  <a:srgbClr val="FF0000"/>
                </a:solidFill>
                <a:cs typeface="Arial" charset="0"/>
              </a:rPr>
              <a:t>* = Q* - q</a:t>
            </a:r>
            <a:r>
              <a:rPr lang="en-US" altLang="en-US" i="1" baseline="-25000" smtClean="0">
                <a:solidFill>
                  <a:srgbClr val="FF0000"/>
                </a:solidFill>
                <a:cs typeface="Arial" charset="0"/>
              </a:rPr>
              <a:t>i</a:t>
            </a:r>
            <a:r>
              <a:rPr lang="en-US" altLang="en-US" i="1" smtClean="0">
                <a:solidFill>
                  <a:srgbClr val="FF0000"/>
                </a:solidFill>
                <a:cs typeface="Arial" charset="0"/>
              </a:rPr>
              <a:t>* = n q</a:t>
            </a:r>
            <a:r>
              <a:rPr lang="en-US" altLang="en-US" i="1" baseline="-25000" smtClean="0">
                <a:solidFill>
                  <a:srgbClr val="FF0000"/>
                </a:solidFill>
                <a:cs typeface="Arial" charset="0"/>
              </a:rPr>
              <a:t>i</a:t>
            </a:r>
            <a:r>
              <a:rPr lang="en-US" altLang="en-US" i="1" smtClean="0">
                <a:solidFill>
                  <a:srgbClr val="FF0000"/>
                </a:solidFill>
                <a:cs typeface="Arial" charset="0"/>
              </a:rPr>
              <a:t>* - q</a:t>
            </a:r>
            <a:r>
              <a:rPr lang="en-US" altLang="en-US" i="1" baseline="-25000" smtClean="0">
                <a:solidFill>
                  <a:srgbClr val="FF0000"/>
                </a:solidFill>
                <a:cs typeface="Arial" charset="0"/>
              </a:rPr>
              <a:t>i</a:t>
            </a:r>
            <a:r>
              <a:rPr lang="en-US" altLang="en-US" i="1" smtClean="0">
                <a:solidFill>
                  <a:srgbClr val="FF0000"/>
                </a:solidFill>
                <a:cs typeface="Arial" charset="0"/>
              </a:rPr>
              <a:t>* = (n-1) q</a:t>
            </a:r>
            <a:r>
              <a:rPr lang="en-US" altLang="en-US" i="1" baseline="-25000" smtClean="0">
                <a:solidFill>
                  <a:srgbClr val="FF0000"/>
                </a:solidFill>
                <a:cs typeface="Arial" charset="0"/>
              </a:rPr>
              <a:t>i</a:t>
            </a:r>
            <a:r>
              <a:rPr lang="en-US" altLang="en-US" i="1" smtClean="0">
                <a:solidFill>
                  <a:srgbClr val="FF0000"/>
                </a:solidFill>
                <a:cs typeface="Arial" charset="0"/>
              </a:rPr>
              <a:t>* </a:t>
            </a:r>
            <a:endParaRPr lang="en-US" altLang="en-US" smtClean="0">
              <a:solidFill>
                <a:srgbClr val="FF0000"/>
              </a:solidFill>
            </a:endParaRPr>
          </a:p>
        </p:txBody>
      </p:sp>
    </p:spTree>
    <p:extLst>
      <p:ext uri="{BB962C8B-B14F-4D97-AF65-F5344CB8AC3E}">
        <p14:creationId xmlns:p14="http://schemas.microsoft.com/office/powerpoint/2010/main" val="14503424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15.3	 Natural-Spring Oligopoly</a:t>
            </a:r>
          </a:p>
        </p:txBody>
      </p:sp>
      <p:sp>
        <p:nvSpPr>
          <p:cNvPr id="512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C6FA4913-0761-4E72-9628-57480F405DFC}" type="slidenum">
              <a:rPr lang="en-US" smtClean="0"/>
              <a:pPr>
                <a:defRPr/>
              </a:pPr>
              <a:t>23</a:t>
            </a:fld>
            <a:endParaRPr lang="en-US" dirty="0"/>
          </a:p>
        </p:txBody>
      </p:sp>
      <p:sp>
        <p:nvSpPr>
          <p:cNvPr id="5124" name="Content Placeholder 2"/>
          <p:cNvSpPr>
            <a:spLocks noGrp="1"/>
          </p:cNvSpPr>
          <p:nvPr>
            <p:ph type="body" sz="quarter" idx="12"/>
          </p:nvPr>
        </p:nvSpPr>
        <p:spPr>
          <a:prstGeom prst="rect">
            <a:avLst/>
          </a:prstGeom>
        </p:spPr>
        <p:txBody>
          <a:bodyPr/>
          <a:lstStyle/>
          <a:p>
            <a:pPr lvl="1"/>
            <a:endParaRPr lang="en-US" altLang="en-US" i="1" dirty="0" smtClean="0">
              <a:solidFill>
                <a:srgbClr val="FF0000"/>
              </a:solidFill>
              <a:cs typeface="Arial" charset="0"/>
            </a:endParaRPr>
          </a:p>
          <a:p>
            <a:pPr lvl="1"/>
            <a:r>
              <a:rPr lang="en-US" altLang="en-US" i="1" dirty="0" smtClean="0">
                <a:solidFill>
                  <a:srgbClr val="FF0000"/>
                </a:solidFill>
                <a:cs typeface="Arial" charset="0"/>
              </a:rPr>
              <a:t>q</a:t>
            </a:r>
            <a:r>
              <a:rPr lang="en-US" altLang="en-US" i="1" baseline="-25000" dirty="0" smtClean="0">
                <a:solidFill>
                  <a:srgbClr val="FF0000"/>
                </a:solidFill>
                <a:cs typeface="Arial" charset="0"/>
              </a:rPr>
              <a:t>i</a:t>
            </a:r>
            <a:r>
              <a:rPr lang="en-US" altLang="en-US" i="1" dirty="0" smtClean="0">
                <a:solidFill>
                  <a:srgbClr val="FF0000"/>
                </a:solidFill>
                <a:cs typeface="Arial" charset="0"/>
              </a:rPr>
              <a:t>* = (a-c)/(n+1)</a:t>
            </a:r>
          </a:p>
          <a:p>
            <a:endParaRPr lang="en-US" altLang="en-US" dirty="0" smtClean="0">
              <a:cs typeface="Arial"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2447590598"/>
              </p:ext>
            </p:extLst>
          </p:nvPr>
        </p:nvGraphicFramePr>
        <p:xfrm>
          <a:off x="804863" y="1601788"/>
          <a:ext cx="4849812" cy="3079750"/>
        </p:xfrm>
        <a:graphic>
          <a:graphicData uri="http://schemas.openxmlformats.org/presentationml/2006/ole">
            <mc:AlternateContent xmlns:mc="http://schemas.openxmlformats.org/markup-compatibility/2006">
              <mc:Choice xmlns:v="urn:schemas-microsoft-com:vml" Requires="v">
                <p:oleObj spid="_x0000_s322572" name="Equation" r:id="rId3" imgW="2158920" imgH="1371600" progId="Equation.DSMT4">
                  <p:embed/>
                </p:oleObj>
              </mc:Choice>
              <mc:Fallback>
                <p:oleObj name="Equation" r:id="rId3" imgW="2158920" imgH="1371600" progId="Equation.DSMT4">
                  <p:embed/>
                  <p:pic>
                    <p:nvPicPr>
                      <p:cNvPr id="0" name=""/>
                      <p:cNvPicPr>
                        <a:picLocks noChangeAspect="1" noChangeArrowheads="1"/>
                      </p:cNvPicPr>
                      <p:nvPr/>
                    </p:nvPicPr>
                    <p:blipFill>
                      <a:blip r:embed="rId4"/>
                      <a:srcRect/>
                      <a:stretch>
                        <a:fillRect/>
                      </a:stretch>
                    </p:blipFill>
                    <p:spPr bwMode="auto">
                      <a:xfrm>
                        <a:off x="804863" y="1601788"/>
                        <a:ext cx="4849812" cy="307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42688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mtClean="0"/>
              <a:t>Prices or Quantities?</a:t>
            </a:r>
          </a:p>
        </p:txBody>
      </p:sp>
      <p:sp>
        <p:nvSpPr>
          <p:cNvPr id="52227" name="Rectangle 3"/>
          <p:cNvSpPr>
            <a:spLocks noGrp="1" noChangeArrowheads="1"/>
          </p:cNvSpPr>
          <p:nvPr>
            <p:ph idx="1"/>
          </p:nvPr>
        </p:nvSpPr>
        <p:spPr/>
        <p:txBody>
          <a:bodyPr/>
          <a:lstStyle/>
          <a:p>
            <a:r>
              <a:rPr lang="en-US" altLang="en-US" smtClean="0"/>
              <a:t>Bertrand model - price competition</a:t>
            </a:r>
          </a:p>
          <a:p>
            <a:pPr lvl="1"/>
            <a:r>
              <a:rPr lang="en-US" altLang="en-US" smtClean="0"/>
              <a:t>Discontinuous jump from monopoly to perfect competition if just two firms enter</a:t>
            </a:r>
          </a:p>
          <a:p>
            <a:pPr lvl="1"/>
            <a:r>
              <a:rPr lang="en-US" altLang="en-US" smtClean="0"/>
              <a:t>Additional entry beyond two has no additional effect on the market outcome</a:t>
            </a:r>
          </a:p>
          <a:p>
            <a:r>
              <a:rPr lang="en-US" altLang="en-US" smtClean="0"/>
              <a:t>Cournot model - quantity competition</a:t>
            </a:r>
          </a:p>
          <a:p>
            <a:pPr lvl="1"/>
            <a:r>
              <a:rPr lang="en-US" altLang="en-US" smtClean="0"/>
              <a:t>Industry grows more competitive as the number </a:t>
            </a:r>
            <a:r>
              <a:rPr lang="en-US" altLang="en-US" i="1" smtClean="0"/>
              <a:t>n</a:t>
            </a:r>
            <a:r>
              <a:rPr lang="en-US" altLang="en-US" smtClean="0"/>
              <a:t> of firms entering the market increases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BACF84D-80AD-4E40-8208-4D07C15899A2}" type="slidenum">
              <a:rPr lang="en-US" smtClean="0"/>
              <a:pPr>
                <a:defRPr/>
              </a:pPr>
              <a:t>24</a:t>
            </a:fld>
            <a:endParaRPr lang="en-US"/>
          </a:p>
        </p:txBody>
      </p:sp>
    </p:spTree>
    <p:extLst>
      <p:ext uri="{BB962C8B-B14F-4D97-AF65-F5344CB8AC3E}">
        <p14:creationId xmlns:p14="http://schemas.microsoft.com/office/powerpoint/2010/main" val="15661761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smtClean="0"/>
              <a:t>Capacity Constraints</a:t>
            </a:r>
          </a:p>
        </p:txBody>
      </p:sp>
      <p:sp>
        <p:nvSpPr>
          <p:cNvPr id="53251" name="Rectangle 3"/>
          <p:cNvSpPr>
            <a:spLocks noGrp="1" noChangeArrowheads="1"/>
          </p:cNvSpPr>
          <p:nvPr>
            <p:ph idx="1"/>
          </p:nvPr>
        </p:nvSpPr>
        <p:spPr/>
        <p:txBody>
          <a:bodyPr/>
          <a:lstStyle/>
          <a:p>
            <a:r>
              <a:rPr lang="en-US" altLang="en-US" smtClean="0"/>
              <a:t>For the Bertrand model to generate the Bertrand paradox</a:t>
            </a:r>
          </a:p>
          <a:p>
            <a:pPr lvl="1"/>
            <a:r>
              <a:rPr lang="en-US" altLang="en-US" smtClean="0"/>
              <a:t>Firms must have unlimited capacity</a:t>
            </a:r>
          </a:p>
          <a:p>
            <a:pPr lvl="1"/>
            <a:r>
              <a:rPr lang="en-US" altLang="en-US" smtClean="0"/>
              <a:t>More realistically, firms may not have an unlimited ability to meet all demand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E06173C-FA87-46DF-809F-1E869233EDB9}" type="slidenum">
              <a:rPr lang="en-US" smtClean="0"/>
              <a:pPr>
                <a:defRPr/>
              </a:pPr>
              <a:t>25</a:t>
            </a:fld>
            <a:endParaRPr lang="en-US"/>
          </a:p>
        </p:txBody>
      </p:sp>
    </p:spTree>
    <p:extLst>
      <p:ext uri="{BB962C8B-B14F-4D97-AF65-F5344CB8AC3E}">
        <p14:creationId xmlns:p14="http://schemas.microsoft.com/office/powerpoint/2010/main" val="41012908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smtClean="0"/>
              <a:t>Capacity Constraints</a:t>
            </a:r>
          </a:p>
        </p:txBody>
      </p:sp>
      <p:sp>
        <p:nvSpPr>
          <p:cNvPr id="54275" name="Rectangle 3"/>
          <p:cNvSpPr>
            <a:spLocks noGrp="1" noChangeArrowheads="1"/>
          </p:cNvSpPr>
          <p:nvPr>
            <p:ph idx="1"/>
          </p:nvPr>
        </p:nvSpPr>
        <p:spPr/>
        <p:txBody>
          <a:bodyPr/>
          <a:lstStyle/>
          <a:p>
            <a:r>
              <a:rPr lang="en-US" altLang="en-US" dirty="0" smtClean="0"/>
              <a:t>Two-stage game</a:t>
            </a:r>
          </a:p>
          <a:p>
            <a:pPr lvl="1"/>
            <a:r>
              <a:rPr lang="en-US" altLang="en-US" sz="3000" dirty="0" smtClean="0"/>
              <a:t>Firms build capacity in the first stage</a:t>
            </a:r>
          </a:p>
          <a:p>
            <a:pPr lvl="1"/>
            <a:r>
              <a:rPr lang="en-US" altLang="en-US" sz="3000" dirty="0" smtClean="0"/>
              <a:t>Firms choose prices </a:t>
            </a:r>
            <a:r>
              <a:rPr lang="en-US" altLang="en-US" sz="3000" i="1" dirty="0" smtClean="0"/>
              <a:t>p</a:t>
            </a:r>
            <a:r>
              <a:rPr lang="en-US" altLang="en-US" sz="3000" baseline="-25000" dirty="0" smtClean="0"/>
              <a:t>1</a:t>
            </a:r>
            <a:r>
              <a:rPr lang="en-US" altLang="en-US" sz="3000" dirty="0" smtClean="0"/>
              <a:t> and </a:t>
            </a:r>
            <a:r>
              <a:rPr lang="en-US" altLang="en-US" sz="3000" i="1" dirty="0" smtClean="0"/>
              <a:t>p</a:t>
            </a:r>
            <a:r>
              <a:rPr lang="en-US" altLang="en-US" sz="3000" baseline="-25000" dirty="0" smtClean="0"/>
              <a:t>2</a:t>
            </a:r>
            <a:r>
              <a:rPr lang="en-US" altLang="en-US" sz="3000" dirty="0" smtClean="0"/>
              <a:t> in the second stage</a:t>
            </a:r>
          </a:p>
          <a:p>
            <a:pPr lvl="1"/>
            <a:r>
              <a:rPr lang="en-US" altLang="en-US" sz="3000" dirty="0" smtClean="0"/>
              <a:t>Sales of firms cannot exceed the capacity chosen in the first stage</a:t>
            </a:r>
          </a:p>
          <a:p>
            <a:pPr lvl="1"/>
            <a:r>
              <a:rPr lang="en-US" altLang="en-US" sz="3000" dirty="0" smtClean="0"/>
              <a:t>If the cost of building capacity is sufficiently high</a:t>
            </a:r>
          </a:p>
          <a:p>
            <a:pPr lvl="2"/>
            <a:r>
              <a:rPr lang="en-US" altLang="en-US" dirty="0" smtClean="0"/>
              <a:t>Equilibrium - the same as the Nash equilibrium of the </a:t>
            </a:r>
            <a:r>
              <a:rPr lang="en-US" altLang="en-US" dirty="0" err="1" smtClean="0"/>
              <a:t>Cournot</a:t>
            </a:r>
            <a:r>
              <a:rPr lang="en-US" altLang="en-US" dirty="0" smtClean="0"/>
              <a:t> model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9EDE2A6-C99F-4D70-B047-5F20777D37C6}" type="slidenum">
              <a:rPr lang="en-US" smtClean="0"/>
              <a:pPr>
                <a:defRPr/>
              </a:pPr>
              <a:t>26</a:t>
            </a:fld>
            <a:endParaRPr lang="en-US"/>
          </a:p>
        </p:txBody>
      </p:sp>
    </p:spTree>
    <p:extLst>
      <p:ext uri="{BB962C8B-B14F-4D97-AF65-F5344CB8AC3E}">
        <p14:creationId xmlns:p14="http://schemas.microsoft.com/office/powerpoint/2010/main" val="25544171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smtClean="0"/>
              <a:t>Product Differentiation</a:t>
            </a:r>
          </a:p>
        </p:txBody>
      </p:sp>
      <p:sp>
        <p:nvSpPr>
          <p:cNvPr id="55299" name="Rectangle 3"/>
          <p:cNvSpPr>
            <a:spLocks noGrp="1" noChangeArrowheads="1"/>
          </p:cNvSpPr>
          <p:nvPr>
            <p:ph idx="1"/>
          </p:nvPr>
        </p:nvSpPr>
        <p:spPr/>
        <p:txBody>
          <a:bodyPr/>
          <a:lstStyle/>
          <a:p>
            <a:r>
              <a:rPr lang="en-US" altLang="en-US" smtClean="0"/>
              <a:t>To avoid the Bertrand paradox</a:t>
            </a:r>
          </a:p>
          <a:p>
            <a:pPr lvl="1"/>
            <a:r>
              <a:rPr lang="en-US" altLang="en-US" smtClean="0"/>
              <a:t>Assume that firms produce differentiated products</a:t>
            </a:r>
          </a:p>
          <a:p>
            <a:r>
              <a:rPr lang="en-US" altLang="en-US" smtClean="0"/>
              <a:t>Market </a:t>
            </a:r>
          </a:p>
          <a:p>
            <a:pPr lvl="1"/>
            <a:r>
              <a:rPr lang="en-US" altLang="en-US" smtClean="0"/>
              <a:t>A group of closely related products </a:t>
            </a:r>
          </a:p>
          <a:p>
            <a:pPr lvl="2"/>
            <a:r>
              <a:rPr lang="en-US" altLang="en-US" smtClean="0"/>
              <a:t>That are more substitutable among each other</a:t>
            </a:r>
          </a:p>
          <a:p>
            <a:pPr lvl="3"/>
            <a:r>
              <a:rPr lang="en-US" altLang="en-US" smtClean="0"/>
              <a:t>As measured by cross-price elasticities</a:t>
            </a:r>
          </a:p>
          <a:p>
            <a:pPr lvl="2"/>
            <a:r>
              <a:rPr lang="en-US" altLang="en-US" smtClean="0"/>
              <a:t>Than with goods outside the group</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5296F3A-C4C5-44E6-96D3-CCCE64577D4A}" type="slidenum">
              <a:rPr lang="en-US" smtClean="0"/>
              <a:pPr>
                <a:defRPr/>
              </a:pPr>
              <a:t>27</a:t>
            </a:fld>
            <a:endParaRPr lang="en-US"/>
          </a:p>
        </p:txBody>
      </p:sp>
    </p:spTree>
    <p:extLst>
      <p:ext uri="{BB962C8B-B14F-4D97-AF65-F5344CB8AC3E}">
        <p14:creationId xmlns:p14="http://schemas.microsoft.com/office/powerpoint/2010/main" val="17462480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04800" y="0"/>
            <a:ext cx="8839200" cy="990600"/>
          </a:xfrm>
        </p:spPr>
        <p:txBody>
          <a:bodyPr>
            <a:noAutofit/>
          </a:bodyPr>
          <a:lstStyle/>
          <a:p>
            <a:r>
              <a:rPr lang="en-US" altLang="en-US" sz="3500" dirty="0" smtClean="0"/>
              <a:t>Bertrand competition </a:t>
            </a:r>
            <a:br>
              <a:rPr lang="en-US" altLang="en-US" sz="3500" dirty="0" smtClean="0"/>
            </a:br>
            <a:r>
              <a:rPr lang="en-US" altLang="en-US" sz="3500" dirty="0" smtClean="0"/>
              <a:t>with differentiated products</a:t>
            </a:r>
          </a:p>
        </p:txBody>
      </p:sp>
      <p:sp>
        <p:nvSpPr>
          <p:cNvPr id="56323" name="Rectangle 3"/>
          <p:cNvSpPr>
            <a:spLocks noGrp="1" noChangeArrowheads="1"/>
          </p:cNvSpPr>
          <p:nvPr>
            <p:ph idx="1"/>
          </p:nvPr>
        </p:nvSpPr>
        <p:spPr/>
        <p:txBody>
          <a:bodyPr/>
          <a:lstStyle/>
          <a:p>
            <a:r>
              <a:rPr lang="en-US" altLang="en-US" dirty="0" smtClean="0"/>
              <a:t>There are </a:t>
            </a:r>
            <a:r>
              <a:rPr lang="en-US" altLang="en-US" i="1" dirty="0" smtClean="0"/>
              <a:t>n</a:t>
            </a:r>
            <a:r>
              <a:rPr lang="en-US" altLang="en-US" dirty="0" smtClean="0"/>
              <a:t> firms competing in a particular market</a:t>
            </a:r>
          </a:p>
          <a:p>
            <a:pPr lvl="1"/>
            <a:r>
              <a:rPr lang="en-US" altLang="en-US" dirty="0" smtClean="0"/>
              <a:t>Each product has its own attributes, </a:t>
            </a:r>
            <a:r>
              <a:rPr lang="en-US" altLang="en-US" i="1" dirty="0" err="1" smtClean="0"/>
              <a:t>a</a:t>
            </a:r>
            <a:r>
              <a:rPr lang="en-US" altLang="en-US" i="1" baseline="-25000" dirty="0" err="1" smtClean="0"/>
              <a:t>i</a:t>
            </a:r>
            <a:endParaRPr lang="en-US" altLang="en-US" dirty="0" smtClean="0"/>
          </a:p>
          <a:p>
            <a:r>
              <a:rPr lang="en-US" altLang="en-US" dirty="0" smtClean="0"/>
              <a:t>The product’s attributes affect its demand</a:t>
            </a:r>
          </a:p>
          <a:p>
            <a:pPr algn="ctr">
              <a:lnSpc>
                <a:spcPct val="130000"/>
              </a:lnSpc>
              <a:buFontTx/>
              <a:buNone/>
            </a:pPr>
            <a:r>
              <a:rPr lang="en-US" altLang="en-US" sz="2800" i="1" dirty="0" smtClean="0">
                <a:solidFill>
                  <a:srgbClr val="FF0000"/>
                </a:solidFill>
              </a:rPr>
              <a:t>q</a:t>
            </a:r>
            <a:r>
              <a:rPr lang="en-US" altLang="en-US" sz="2800" i="1" baseline="-25000" dirty="0" smtClean="0">
                <a:solidFill>
                  <a:srgbClr val="FF0000"/>
                </a:solidFill>
              </a:rPr>
              <a:t>i</a:t>
            </a:r>
            <a:r>
              <a:rPr lang="en-US" altLang="en-US" sz="2800" dirty="0" smtClean="0">
                <a:solidFill>
                  <a:srgbClr val="FF0000"/>
                </a:solidFill>
              </a:rPr>
              <a:t>(</a:t>
            </a:r>
            <a:r>
              <a:rPr lang="en-US" altLang="en-US" sz="2800" i="1" dirty="0" smtClean="0">
                <a:solidFill>
                  <a:srgbClr val="FF0000"/>
                </a:solidFill>
              </a:rPr>
              <a:t>p</a:t>
            </a:r>
            <a:r>
              <a:rPr lang="en-US" altLang="en-US" sz="2800" i="1" baseline="-25000" dirty="0" smtClean="0">
                <a:solidFill>
                  <a:srgbClr val="FF0000"/>
                </a:solidFill>
              </a:rPr>
              <a:t>i</a:t>
            </a:r>
            <a:r>
              <a:rPr lang="en-US" altLang="en-US" sz="2800" dirty="0" smtClean="0">
                <a:solidFill>
                  <a:srgbClr val="FF0000"/>
                </a:solidFill>
              </a:rPr>
              <a:t>,</a:t>
            </a:r>
            <a:r>
              <a:rPr lang="en-US" altLang="en-US" sz="2800" i="1" baseline="-25000" dirty="0" smtClean="0">
                <a:solidFill>
                  <a:srgbClr val="FF0000"/>
                </a:solidFill>
              </a:rPr>
              <a:t> </a:t>
            </a:r>
            <a:r>
              <a:rPr lang="en-US" altLang="en-US" sz="2800" i="1" dirty="0" smtClean="0">
                <a:solidFill>
                  <a:srgbClr val="FF0000"/>
                </a:solidFill>
              </a:rPr>
              <a:t>P</a:t>
            </a:r>
            <a:r>
              <a:rPr lang="en-US" altLang="en-US" sz="2800" i="1" baseline="-25000" dirty="0" smtClean="0">
                <a:solidFill>
                  <a:srgbClr val="FF0000"/>
                </a:solidFill>
              </a:rPr>
              <a:t>-</a:t>
            </a:r>
            <a:r>
              <a:rPr lang="en-US" altLang="en-US" sz="2800" i="1" baseline="-25000" dirty="0" err="1" smtClean="0">
                <a:solidFill>
                  <a:srgbClr val="FF0000"/>
                </a:solidFill>
              </a:rPr>
              <a:t>i</a:t>
            </a:r>
            <a:r>
              <a:rPr lang="en-US" altLang="en-US" sz="2800" dirty="0" smtClean="0">
                <a:solidFill>
                  <a:srgbClr val="FF0000"/>
                </a:solidFill>
              </a:rPr>
              <a:t>,</a:t>
            </a:r>
            <a:r>
              <a:rPr lang="en-US" altLang="en-US" sz="2800" baseline="-25000" dirty="0" smtClean="0">
                <a:solidFill>
                  <a:srgbClr val="FF0000"/>
                </a:solidFill>
              </a:rPr>
              <a:t> </a:t>
            </a:r>
            <a:r>
              <a:rPr lang="en-US" altLang="en-US" sz="2800" i="1" dirty="0" err="1" smtClean="0">
                <a:solidFill>
                  <a:srgbClr val="FF0000"/>
                </a:solidFill>
              </a:rPr>
              <a:t>a</a:t>
            </a:r>
            <a:r>
              <a:rPr lang="en-US" altLang="en-US" sz="2800" i="1" baseline="-25000" dirty="0" err="1" smtClean="0">
                <a:solidFill>
                  <a:srgbClr val="FF0000"/>
                </a:solidFill>
              </a:rPr>
              <a:t>i</a:t>
            </a:r>
            <a:r>
              <a:rPr lang="en-US" altLang="en-US" sz="2800" dirty="0" smtClean="0">
                <a:solidFill>
                  <a:srgbClr val="FF0000"/>
                </a:solidFill>
              </a:rPr>
              <a:t>,</a:t>
            </a:r>
            <a:r>
              <a:rPr lang="en-US" altLang="en-US" sz="2800" baseline="-25000" dirty="0" smtClean="0">
                <a:solidFill>
                  <a:srgbClr val="FF0000"/>
                </a:solidFill>
              </a:rPr>
              <a:t> </a:t>
            </a:r>
            <a:r>
              <a:rPr lang="en-US" altLang="en-US" sz="2800" i="1" dirty="0" smtClean="0">
                <a:solidFill>
                  <a:srgbClr val="FF0000"/>
                </a:solidFill>
              </a:rPr>
              <a:t>A</a:t>
            </a:r>
            <a:r>
              <a:rPr lang="en-US" altLang="en-US" sz="2800" i="1" baseline="-25000" dirty="0" smtClean="0">
                <a:solidFill>
                  <a:srgbClr val="FF0000"/>
                </a:solidFill>
              </a:rPr>
              <a:t>-</a:t>
            </a:r>
            <a:r>
              <a:rPr lang="en-US" altLang="en-US" sz="2800" i="1" baseline="-25000" dirty="0" err="1" smtClean="0">
                <a:solidFill>
                  <a:srgbClr val="FF0000"/>
                </a:solidFill>
              </a:rPr>
              <a:t>i</a:t>
            </a:r>
            <a:r>
              <a:rPr lang="en-US" altLang="en-US" sz="2800" dirty="0" smtClean="0">
                <a:solidFill>
                  <a:srgbClr val="FF0000"/>
                </a:solidFill>
              </a:rPr>
              <a:t>)</a:t>
            </a:r>
          </a:p>
          <a:p>
            <a:pPr lvl="1"/>
            <a:r>
              <a:rPr lang="en-US" altLang="en-US" dirty="0" smtClean="0"/>
              <a:t>Where </a:t>
            </a:r>
            <a:r>
              <a:rPr lang="en-US" altLang="en-US" i="1" dirty="0" smtClean="0"/>
              <a:t>P</a:t>
            </a:r>
            <a:r>
              <a:rPr lang="en-US" altLang="en-US" i="1" baseline="-25000" dirty="0" smtClean="0"/>
              <a:t>-</a:t>
            </a:r>
            <a:r>
              <a:rPr lang="en-US" altLang="en-US" i="1" baseline="-25000" dirty="0" err="1" smtClean="0"/>
              <a:t>i</a:t>
            </a:r>
            <a:r>
              <a:rPr lang="en-US" altLang="en-US" dirty="0" smtClean="0"/>
              <a:t> </a:t>
            </a:r>
            <a:r>
              <a:rPr lang="en-US" altLang="en-US" dirty="0" smtClean="0"/>
              <a:t>is a list of all other firms’ prices</a:t>
            </a:r>
          </a:p>
          <a:p>
            <a:pPr lvl="1"/>
            <a:r>
              <a:rPr lang="en-US" altLang="en-US" dirty="0" smtClean="0"/>
              <a:t>And </a:t>
            </a:r>
            <a:r>
              <a:rPr lang="en-US" altLang="en-US" i="1" dirty="0" smtClean="0"/>
              <a:t>A</a:t>
            </a:r>
            <a:r>
              <a:rPr lang="en-US" altLang="en-US" i="1" baseline="-25000" dirty="0" smtClean="0"/>
              <a:t>-</a:t>
            </a:r>
            <a:r>
              <a:rPr lang="en-US" altLang="en-US" i="1" baseline="-25000" dirty="0" err="1" smtClean="0"/>
              <a:t>i</a:t>
            </a:r>
            <a:r>
              <a:rPr lang="en-US" altLang="en-US" dirty="0" smtClean="0"/>
              <a:t> is a list of the attributes of other firms’ products</a:t>
            </a:r>
          </a:p>
          <a:p>
            <a:pPr algn="ctr">
              <a:buFontTx/>
              <a:buNone/>
            </a:pPr>
            <a:endParaRPr lang="en-US" altLang="en-US" sz="2800" i="1"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5FD446F-7BDA-40F1-BBA1-32F2B9E9A84A}" type="slidenum">
              <a:rPr lang="en-US" smtClean="0"/>
              <a:pPr>
                <a:defRPr/>
              </a:pPr>
              <a:t>28</a:t>
            </a:fld>
            <a:endParaRPr lang="en-US"/>
          </a:p>
        </p:txBody>
      </p:sp>
    </p:spTree>
    <p:extLst>
      <p:ext uri="{BB962C8B-B14F-4D97-AF65-F5344CB8AC3E}">
        <p14:creationId xmlns:p14="http://schemas.microsoft.com/office/powerpoint/2010/main" val="18513756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04800" y="0"/>
            <a:ext cx="8839200" cy="990600"/>
          </a:xfrm>
        </p:spPr>
        <p:txBody>
          <a:bodyPr>
            <a:noAutofit/>
          </a:bodyPr>
          <a:lstStyle/>
          <a:p>
            <a:r>
              <a:rPr lang="en-US" altLang="en-US" sz="3500" dirty="0" smtClean="0"/>
              <a:t>Bertrand competition </a:t>
            </a:r>
            <a:br>
              <a:rPr lang="en-US" altLang="en-US" sz="3500" dirty="0" smtClean="0"/>
            </a:br>
            <a:r>
              <a:rPr lang="en-US" altLang="en-US" sz="3500" dirty="0" smtClean="0"/>
              <a:t>with differentiated products</a:t>
            </a:r>
          </a:p>
        </p:txBody>
      </p:sp>
      <p:sp>
        <p:nvSpPr>
          <p:cNvPr id="6148" name="Rectangle 3"/>
          <p:cNvSpPr>
            <a:spLocks noGrp="1" noChangeArrowheads="1"/>
          </p:cNvSpPr>
          <p:nvPr>
            <p:ph idx="1"/>
          </p:nvPr>
        </p:nvSpPr>
        <p:spPr/>
        <p:txBody>
          <a:bodyPr/>
          <a:lstStyle/>
          <a:p>
            <a:r>
              <a:rPr lang="en-US" altLang="en-US" dirty="0" smtClean="0">
                <a:sym typeface="Symbol" pitchFamily="18" charset="2"/>
              </a:rPr>
              <a:t>Firm </a:t>
            </a:r>
            <a:r>
              <a:rPr lang="en-US" altLang="en-US" i="1" dirty="0" smtClean="0">
                <a:sym typeface="Symbol" pitchFamily="18" charset="2"/>
              </a:rPr>
              <a:t>i</a:t>
            </a:r>
            <a:r>
              <a:rPr lang="en-US" altLang="en-US" dirty="0" smtClean="0">
                <a:sym typeface="Symbol" pitchFamily="18" charset="2"/>
              </a:rPr>
              <a:t>’s </a:t>
            </a:r>
            <a:endParaRPr lang="en-US" altLang="en-US" dirty="0" smtClean="0">
              <a:sym typeface="Symbol" pitchFamily="18" charset="2"/>
            </a:endParaRPr>
          </a:p>
          <a:p>
            <a:pPr lvl="1"/>
            <a:r>
              <a:rPr lang="en-US" altLang="en-US" dirty="0" smtClean="0">
                <a:sym typeface="Symbol" pitchFamily="18" charset="2"/>
              </a:rPr>
              <a:t>Total </a:t>
            </a:r>
            <a:r>
              <a:rPr lang="en-US" altLang="en-US" dirty="0" smtClean="0">
                <a:sym typeface="Symbol" pitchFamily="18" charset="2"/>
              </a:rPr>
              <a:t>cost: </a:t>
            </a:r>
            <a:r>
              <a:rPr lang="en-US" altLang="en-US" sz="2600" i="1" dirty="0" smtClean="0">
                <a:solidFill>
                  <a:srgbClr val="FF0000"/>
                </a:solidFill>
                <a:sym typeface="Symbol" pitchFamily="18" charset="2"/>
              </a:rPr>
              <a:t>C</a:t>
            </a:r>
            <a:r>
              <a:rPr lang="en-US" altLang="en-US" sz="2600" i="1" baseline="-25000" dirty="0" smtClean="0">
                <a:solidFill>
                  <a:srgbClr val="FF0000"/>
                </a:solidFill>
                <a:sym typeface="Symbol" pitchFamily="18" charset="2"/>
              </a:rPr>
              <a:t>i</a:t>
            </a:r>
            <a:r>
              <a:rPr lang="en-US" altLang="en-US" sz="2600" dirty="0" smtClean="0">
                <a:solidFill>
                  <a:srgbClr val="FF0000"/>
                </a:solidFill>
                <a:sym typeface="Symbol" pitchFamily="18" charset="2"/>
              </a:rPr>
              <a:t>(</a:t>
            </a:r>
            <a:r>
              <a:rPr lang="en-US" altLang="en-US" sz="2600" i="1" dirty="0" smtClean="0">
                <a:solidFill>
                  <a:srgbClr val="FF0000"/>
                </a:solidFill>
                <a:sym typeface="Symbol" pitchFamily="18" charset="2"/>
              </a:rPr>
              <a:t>q</a:t>
            </a:r>
            <a:r>
              <a:rPr lang="en-US" altLang="en-US" sz="2600" i="1" baseline="-25000" dirty="0" smtClean="0">
                <a:solidFill>
                  <a:srgbClr val="FF0000"/>
                </a:solidFill>
                <a:sym typeface="Symbol" pitchFamily="18" charset="2"/>
              </a:rPr>
              <a:t>i</a:t>
            </a:r>
            <a:r>
              <a:rPr lang="en-US" altLang="en-US" sz="2600" dirty="0" smtClean="0">
                <a:solidFill>
                  <a:srgbClr val="FF0000"/>
                </a:solidFill>
                <a:sym typeface="Symbol" pitchFamily="18" charset="2"/>
              </a:rPr>
              <a:t>,</a:t>
            </a:r>
            <a:r>
              <a:rPr lang="en-US" altLang="en-US" sz="2600" baseline="-25000" dirty="0" smtClean="0">
                <a:solidFill>
                  <a:srgbClr val="FF0000"/>
                </a:solidFill>
                <a:sym typeface="Symbol" pitchFamily="18" charset="2"/>
              </a:rPr>
              <a:t> </a:t>
            </a:r>
            <a:r>
              <a:rPr lang="en-US" altLang="en-US" sz="2600" i="1" dirty="0" err="1" smtClean="0">
                <a:solidFill>
                  <a:srgbClr val="FF0000"/>
                </a:solidFill>
                <a:sym typeface="Symbol" pitchFamily="18" charset="2"/>
              </a:rPr>
              <a:t>a</a:t>
            </a:r>
            <a:r>
              <a:rPr lang="en-US" altLang="en-US" sz="2600" i="1" baseline="-25000" dirty="0" err="1" smtClean="0">
                <a:solidFill>
                  <a:srgbClr val="FF0000"/>
                </a:solidFill>
                <a:sym typeface="Symbol" pitchFamily="18" charset="2"/>
              </a:rPr>
              <a:t>i</a:t>
            </a:r>
            <a:r>
              <a:rPr lang="en-US" altLang="en-US" sz="2600" dirty="0" smtClean="0">
                <a:solidFill>
                  <a:srgbClr val="FF0000"/>
                </a:solidFill>
                <a:sym typeface="Symbol" pitchFamily="18" charset="2"/>
              </a:rPr>
              <a:t>)</a:t>
            </a:r>
          </a:p>
          <a:p>
            <a:pPr lvl="1"/>
            <a:r>
              <a:rPr lang="en-US" altLang="en-US" dirty="0" smtClean="0">
                <a:sym typeface="Symbol" pitchFamily="18" charset="2"/>
              </a:rPr>
              <a:t>Profit</a:t>
            </a:r>
            <a:r>
              <a:rPr lang="en-US" altLang="en-US" dirty="0" smtClean="0">
                <a:sym typeface="Symbol" pitchFamily="18" charset="2"/>
              </a:rPr>
              <a:t>: </a:t>
            </a:r>
            <a:r>
              <a:rPr lang="en-US" altLang="en-US" sz="2600" dirty="0" smtClean="0">
                <a:solidFill>
                  <a:srgbClr val="FF0000"/>
                </a:solidFill>
                <a:sym typeface="Symbol" pitchFamily="18" charset="2"/>
              </a:rPr>
              <a:t></a:t>
            </a:r>
            <a:r>
              <a:rPr lang="en-US" altLang="en-US" sz="2600" i="1" baseline="-25000" dirty="0" err="1" smtClean="0">
                <a:solidFill>
                  <a:srgbClr val="FF0000"/>
                </a:solidFill>
                <a:sym typeface="Symbol" pitchFamily="18" charset="2"/>
              </a:rPr>
              <a:t>i</a:t>
            </a:r>
            <a:r>
              <a:rPr lang="en-US" altLang="en-US" sz="2600" dirty="0" smtClean="0">
                <a:solidFill>
                  <a:srgbClr val="FF0000"/>
                </a:solidFill>
                <a:sym typeface="Symbol" pitchFamily="18" charset="2"/>
              </a:rPr>
              <a:t> = </a:t>
            </a:r>
            <a:r>
              <a:rPr lang="en-US" altLang="en-US" sz="2600" i="1" dirty="0" err="1" smtClean="0">
                <a:solidFill>
                  <a:srgbClr val="FF0000"/>
                </a:solidFill>
                <a:sym typeface="Symbol" pitchFamily="18" charset="2"/>
              </a:rPr>
              <a:t>p</a:t>
            </a:r>
            <a:r>
              <a:rPr lang="en-US" altLang="en-US" sz="2600" i="1" baseline="-25000" dirty="0" err="1" smtClean="0">
                <a:solidFill>
                  <a:srgbClr val="FF0000"/>
                </a:solidFill>
                <a:sym typeface="Symbol" pitchFamily="18" charset="2"/>
              </a:rPr>
              <a:t>i</a:t>
            </a:r>
            <a:r>
              <a:rPr lang="en-US" altLang="en-US" sz="2600" i="1" dirty="0" err="1" smtClean="0">
                <a:solidFill>
                  <a:srgbClr val="FF0000"/>
                </a:solidFill>
                <a:sym typeface="Symbol" pitchFamily="18" charset="2"/>
              </a:rPr>
              <a:t>q</a:t>
            </a:r>
            <a:r>
              <a:rPr lang="en-US" altLang="en-US" sz="2600" i="1" baseline="-25000" dirty="0" err="1" smtClean="0">
                <a:solidFill>
                  <a:srgbClr val="FF0000"/>
                </a:solidFill>
                <a:sym typeface="Symbol" pitchFamily="18" charset="2"/>
              </a:rPr>
              <a:t>i</a:t>
            </a:r>
            <a:r>
              <a:rPr lang="en-US" altLang="en-US" sz="2600" i="1" dirty="0" smtClean="0">
                <a:solidFill>
                  <a:srgbClr val="FF0000"/>
                </a:solidFill>
                <a:sym typeface="Symbol" pitchFamily="18" charset="2"/>
              </a:rPr>
              <a:t> – C</a:t>
            </a:r>
            <a:r>
              <a:rPr lang="en-US" altLang="en-US" sz="2600" i="1" baseline="-25000" dirty="0" smtClean="0">
                <a:solidFill>
                  <a:srgbClr val="FF0000"/>
                </a:solidFill>
                <a:sym typeface="Symbol" pitchFamily="18" charset="2"/>
              </a:rPr>
              <a:t>i</a:t>
            </a:r>
            <a:r>
              <a:rPr lang="en-US" altLang="en-US" sz="2600" dirty="0" smtClean="0">
                <a:solidFill>
                  <a:srgbClr val="FF0000"/>
                </a:solidFill>
                <a:sym typeface="Symbol" pitchFamily="18" charset="2"/>
              </a:rPr>
              <a:t>(</a:t>
            </a:r>
            <a:r>
              <a:rPr lang="en-US" altLang="en-US" sz="2600" i="1" dirty="0" smtClean="0">
                <a:solidFill>
                  <a:srgbClr val="FF0000"/>
                </a:solidFill>
                <a:sym typeface="Symbol" pitchFamily="18" charset="2"/>
              </a:rPr>
              <a:t>q</a:t>
            </a:r>
            <a:r>
              <a:rPr lang="en-US" altLang="en-US" sz="2600" i="1" baseline="-25000" dirty="0" smtClean="0">
                <a:solidFill>
                  <a:srgbClr val="FF0000"/>
                </a:solidFill>
                <a:sym typeface="Symbol" pitchFamily="18" charset="2"/>
              </a:rPr>
              <a:t>i</a:t>
            </a:r>
            <a:r>
              <a:rPr lang="en-US" altLang="en-US" sz="2600" dirty="0" smtClean="0">
                <a:solidFill>
                  <a:srgbClr val="FF0000"/>
                </a:solidFill>
                <a:sym typeface="Symbol" pitchFamily="18" charset="2"/>
              </a:rPr>
              <a:t>,</a:t>
            </a:r>
            <a:r>
              <a:rPr lang="en-US" altLang="en-US" sz="2600" baseline="-25000" dirty="0" smtClean="0">
                <a:solidFill>
                  <a:srgbClr val="FF0000"/>
                </a:solidFill>
                <a:sym typeface="Symbol" pitchFamily="18" charset="2"/>
              </a:rPr>
              <a:t> </a:t>
            </a:r>
            <a:r>
              <a:rPr lang="en-US" altLang="en-US" sz="2600" i="1" dirty="0" err="1" smtClean="0">
                <a:solidFill>
                  <a:srgbClr val="FF0000"/>
                </a:solidFill>
                <a:sym typeface="Symbol" pitchFamily="18" charset="2"/>
              </a:rPr>
              <a:t>a</a:t>
            </a:r>
            <a:r>
              <a:rPr lang="en-US" altLang="en-US" sz="2600" i="1" baseline="-25000" dirty="0" err="1" smtClean="0">
                <a:solidFill>
                  <a:srgbClr val="FF0000"/>
                </a:solidFill>
                <a:sym typeface="Symbol" pitchFamily="18" charset="2"/>
              </a:rPr>
              <a:t>i</a:t>
            </a:r>
            <a:r>
              <a:rPr lang="en-US" altLang="en-US" sz="2600" dirty="0" smtClean="0">
                <a:solidFill>
                  <a:srgbClr val="FF0000"/>
                </a:solidFill>
                <a:sym typeface="Symbol" pitchFamily="18" charset="2"/>
              </a:rPr>
              <a:t>)</a:t>
            </a:r>
          </a:p>
          <a:p>
            <a:r>
              <a:rPr lang="en-US" altLang="en-US" dirty="0" smtClean="0">
                <a:sym typeface="Symbol" pitchFamily="18" charset="2"/>
              </a:rPr>
              <a:t>First-order conditions for a maximum:</a:t>
            </a:r>
          </a:p>
          <a:p>
            <a:endParaRPr lang="en-US" altLang="en-US" sz="2800" dirty="0" smtClean="0">
              <a:solidFill>
                <a:srgbClr val="7B332D"/>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FB08D2D-92BE-4C7F-A71C-567C84D86D1F}" type="slidenum">
              <a:rPr lang="en-US" smtClean="0"/>
              <a:pPr>
                <a:defRPr/>
              </a:pPr>
              <a:t>29</a:t>
            </a:fld>
            <a:endParaRPr lang="en-US"/>
          </a:p>
        </p:txBody>
      </p:sp>
      <p:graphicFrame>
        <p:nvGraphicFramePr>
          <p:cNvPr id="58370" name="Object 2"/>
          <p:cNvGraphicFramePr>
            <a:graphicFrameLocks noChangeAspect="1"/>
          </p:cNvGraphicFramePr>
          <p:nvPr>
            <p:extLst>
              <p:ext uri="{D42A27DB-BD31-4B8C-83A1-F6EECF244321}">
                <p14:modId xmlns:p14="http://schemas.microsoft.com/office/powerpoint/2010/main" val="581763724"/>
              </p:ext>
            </p:extLst>
          </p:nvPr>
        </p:nvGraphicFramePr>
        <p:xfrm>
          <a:off x="1228725" y="3679825"/>
          <a:ext cx="5432425" cy="2263775"/>
        </p:xfrm>
        <a:graphic>
          <a:graphicData uri="http://schemas.openxmlformats.org/presentationml/2006/ole">
            <mc:AlternateContent xmlns:mc="http://schemas.openxmlformats.org/markup-compatibility/2006">
              <mc:Choice xmlns:v="urn:schemas-microsoft-com:vml" Requires="v">
                <p:oleObj spid="_x0000_s323596" name="Equation" r:id="rId3" imgW="2133360" imgH="888840" progId="Equation.DSMT4">
                  <p:embed/>
                </p:oleObj>
              </mc:Choice>
              <mc:Fallback>
                <p:oleObj name="Equation" r:id="rId3" imgW="2133360" imgH="888840" progId="Equation.DSMT4">
                  <p:embed/>
                  <p:pic>
                    <p:nvPicPr>
                      <p:cNvPr id="0" name=""/>
                      <p:cNvPicPr>
                        <a:picLocks noChangeAspect="1" noChangeArrowheads="1"/>
                      </p:cNvPicPr>
                      <p:nvPr/>
                    </p:nvPicPr>
                    <p:blipFill>
                      <a:blip r:embed="rId4"/>
                      <a:srcRect/>
                      <a:stretch>
                        <a:fillRect/>
                      </a:stretch>
                    </p:blipFill>
                    <p:spPr bwMode="auto">
                      <a:xfrm>
                        <a:off x="1228725" y="3679825"/>
                        <a:ext cx="5432425" cy="226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31971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wipe(left)">
                                      <p:cBhvr>
                                        <p:cTn id="7" dur="5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04800" y="0"/>
            <a:ext cx="8839200" cy="990600"/>
          </a:xfrm>
        </p:spPr>
        <p:txBody>
          <a:bodyPr>
            <a:noAutofit/>
          </a:bodyPr>
          <a:lstStyle/>
          <a:p>
            <a:r>
              <a:rPr lang="en-US" altLang="en-US" sz="3500" dirty="0" smtClean="0"/>
              <a:t>Bertrand competition </a:t>
            </a:r>
            <a:br>
              <a:rPr lang="en-US" altLang="en-US" sz="3500" dirty="0" smtClean="0"/>
            </a:br>
            <a:r>
              <a:rPr lang="en-US" altLang="en-US" sz="3500" dirty="0" smtClean="0"/>
              <a:t>with differentiated products</a:t>
            </a:r>
          </a:p>
        </p:txBody>
      </p:sp>
      <p:sp>
        <p:nvSpPr>
          <p:cNvPr id="57347" name="Rectangle 3"/>
          <p:cNvSpPr>
            <a:spLocks noGrp="1" noChangeArrowheads="1"/>
          </p:cNvSpPr>
          <p:nvPr>
            <p:ph idx="1"/>
          </p:nvPr>
        </p:nvSpPr>
        <p:spPr/>
        <p:txBody>
          <a:bodyPr/>
          <a:lstStyle/>
          <a:p>
            <a:r>
              <a:rPr lang="en-US" altLang="en-US" smtClean="0">
                <a:sym typeface="Symbol" pitchFamily="18" charset="2"/>
              </a:rPr>
              <a:t>Profit-maximizing level of output</a:t>
            </a:r>
          </a:p>
          <a:p>
            <a:pPr lvl="1"/>
            <a:r>
              <a:rPr lang="en-US" altLang="en-US" smtClean="0">
                <a:sym typeface="Symbol" pitchFamily="18" charset="2"/>
              </a:rPr>
              <a:t>Marginal revenue is equal to marginal cost</a:t>
            </a:r>
          </a:p>
          <a:p>
            <a:r>
              <a:rPr lang="en-US" altLang="en-US" smtClean="0">
                <a:sym typeface="Symbol" pitchFamily="18" charset="2"/>
              </a:rPr>
              <a:t>Additional differentiation activities </a:t>
            </a:r>
          </a:p>
          <a:p>
            <a:pPr lvl="1"/>
            <a:r>
              <a:rPr lang="en-US" altLang="en-US" smtClean="0">
                <a:sym typeface="Symbol" pitchFamily="18" charset="2"/>
              </a:rPr>
              <a:t>Should be pursued up to the point at which the additional revenues they generate are equal to their marginal costs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2608261-6355-49AF-A87B-324F85FE6537}" type="slidenum">
              <a:rPr lang="en-US" smtClean="0"/>
              <a:pPr>
                <a:defRPr/>
              </a:pPr>
              <a:t>30</a:t>
            </a:fld>
            <a:endParaRPr lang="en-US"/>
          </a:p>
        </p:txBody>
      </p:sp>
    </p:spTree>
    <p:extLst>
      <p:ext uri="{BB962C8B-B14F-4D97-AF65-F5344CB8AC3E}">
        <p14:creationId xmlns:p14="http://schemas.microsoft.com/office/powerpoint/2010/main" val="35444507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15.4 	Toothpaste as a Differentiated Product</a:t>
            </a:r>
          </a:p>
        </p:txBody>
      </p:sp>
      <p:sp>
        <p:nvSpPr>
          <p:cNvPr id="583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B40973DD-1962-4C30-B30E-CDBD3C22A7B8}" type="slidenum">
              <a:rPr lang="en-US" smtClean="0"/>
              <a:pPr>
                <a:defRPr/>
              </a:pPr>
              <a:t>31</a:t>
            </a:fld>
            <a:endParaRPr lang="en-US" dirty="0"/>
          </a:p>
        </p:txBody>
      </p:sp>
      <p:sp>
        <p:nvSpPr>
          <p:cNvPr id="58371" name="Content Placeholder 2"/>
          <p:cNvSpPr>
            <a:spLocks noGrp="1"/>
          </p:cNvSpPr>
          <p:nvPr>
            <p:ph type="body" sz="quarter" idx="12"/>
          </p:nvPr>
        </p:nvSpPr>
        <p:spPr>
          <a:prstGeom prst="rect">
            <a:avLst/>
          </a:prstGeom>
        </p:spPr>
        <p:txBody>
          <a:bodyPr/>
          <a:lstStyle/>
          <a:p>
            <a:r>
              <a:rPr lang="en-US" altLang="en-US" dirty="0" smtClean="0"/>
              <a:t>Two firms produce toothpaste</a:t>
            </a:r>
          </a:p>
          <a:p>
            <a:pPr lvl="1"/>
            <a:r>
              <a:rPr lang="en-US" altLang="en-US" dirty="0" smtClean="0"/>
              <a:t>One a green gel and the other a white paste</a:t>
            </a:r>
          </a:p>
          <a:p>
            <a:pPr lvl="1"/>
            <a:r>
              <a:rPr lang="en-US" altLang="en-US" dirty="0" smtClean="0"/>
              <a:t>Suppose that production is costless</a:t>
            </a:r>
          </a:p>
          <a:p>
            <a:r>
              <a:rPr lang="en-US" altLang="en-US" dirty="0" smtClean="0"/>
              <a:t>Demand for product </a:t>
            </a:r>
            <a:r>
              <a:rPr lang="en-US" altLang="en-US" i="1" dirty="0" err="1" smtClean="0"/>
              <a:t>i</a:t>
            </a:r>
            <a:r>
              <a:rPr lang="en-US" altLang="en-US" dirty="0" smtClean="0"/>
              <a:t>, </a:t>
            </a:r>
            <a:r>
              <a:rPr lang="en-US" altLang="en-US" sz="2800" i="1" dirty="0" smtClean="0">
                <a:solidFill>
                  <a:srgbClr val="FF0000"/>
                </a:solidFill>
              </a:rPr>
              <a:t>q</a:t>
            </a:r>
            <a:r>
              <a:rPr lang="en-US" altLang="en-US" sz="2800" i="1" baseline="-25000" dirty="0" smtClean="0">
                <a:solidFill>
                  <a:srgbClr val="FF0000"/>
                </a:solidFill>
              </a:rPr>
              <a:t>i</a:t>
            </a:r>
            <a:r>
              <a:rPr lang="en-US" altLang="en-US" sz="2800" i="1" dirty="0" smtClean="0">
                <a:solidFill>
                  <a:srgbClr val="FF0000"/>
                </a:solidFill>
              </a:rPr>
              <a:t> = </a:t>
            </a:r>
            <a:r>
              <a:rPr lang="en-US" altLang="en-US" sz="2800" i="1" dirty="0" err="1" smtClean="0">
                <a:solidFill>
                  <a:srgbClr val="FF0000"/>
                </a:solidFill>
              </a:rPr>
              <a:t>a</a:t>
            </a:r>
            <a:r>
              <a:rPr lang="en-US" altLang="en-US" sz="2800" i="1" baseline="-25000" dirty="0" err="1" smtClean="0">
                <a:solidFill>
                  <a:srgbClr val="FF0000"/>
                </a:solidFill>
              </a:rPr>
              <a:t>i</a:t>
            </a:r>
            <a:r>
              <a:rPr lang="en-US" altLang="en-US" sz="2800" i="1" dirty="0" smtClean="0">
                <a:solidFill>
                  <a:srgbClr val="FF0000"/>
                </a:solidFill>
              </a:rPr>
              <a:t> – p</a:t>
            </a:r>
            <a:r>
              <a:rPr lang="en-US" altLang="en-US" sz="2800" i="1" baseline="-25000" dirty="0" smtClean="0">
                <a:solidFill>
                  <a:srgbClr val="FF0000"/>
                </a:solidFill>
              </a:rPr>
              <a:t>i</a:t>
            </a:r>
            <a:r>
              <a:rPr lang="en-US" altLang="en-US" sz="2800" i="1"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j</a:t>
            </a:r>
            <a:r>
              <a:rPr lang="en-US" altLang="en-US" sz="2800" dirty="0" smtClean="0">
                <a:solidFill>
                  <a:srgbClr val="FF0000"/>
                </a:solidFill>
              </a:rPr>
              <a:t>/</a:t>
            </a:r>
            <a:r>
              <a:rPr lang="en-US" altLang="en-US" sz="2800" i="1" dirty="0" smtClean="0">
                <a:solidFill>
                  <a:srgbClr val="FF0000"/>
                </a:solidFill>
              </a:rPr>
              <a:t>2 </a:t>
            </a:r>
          </a:p>
          <a:p>
            <a:pPr lvl="1"/>
            <a:r>
              <a:rPr lang="en-US" altLang="en-US" dirty="0" smtClean="0"/>
              <a:t>The goods are gross substitutes</a:t>
            </a:r>
          </a:p>
          <a:p>
            <a:r>
              <a:rPr lang="en-US" altLang="en-US" dirty="0" smtClean="0"/>
              <a:t>Firm </a:t>
            </a:r>
            <a:r>
              <a:rPr lang="en-US" altLang="en-US" i="1" dirty="0" smtClean="0"/>
              <a:t>i’</a:t>
            </a:r>
            <a:r>
              <a:rPr lang="en-US" altLang="en-US" dirty="0" smtClean="0"/>
              <a:t>s profit:</a:t>
            </a:r>
            <a:r>
              <a:rPr lang="en-US" altLang="en-US" dirty="0" smtClean="0">
                <a:solidFill>
                  <a:srgbClr val="FF0000"/>
                </a:solidFill>
              </a:rPr>
              <a:t> </a:t>
            </a:r>
            <a:r>
              <a:rPr lang="el-GR" altLang="en-US" sz="2800" i="1" dirty="0" smtClean="0">
                <a:solidFill>
                  <a:srgbClr val="FF0000"/>
                </a:solidFill>
                <a:cs typeface="Arial" charset="0"/>
              </a:rPr>
              <a:t>π</a:t>
            </a:r>
            <a:r>
              <a:rPr lang="en-US" altLang="en-US" sz="2800" i="1" baseline="-25000" dirty="0" err="1" smtClean="0">
                <a:solidFill>
                  <a:srgbClr val="FF0000"/>
                </a:solidFill>
                <a:cs typeface="Arial" charset="0"/>
              </a:rPr>
              <a:t>i</a:t>
            </a:r>
            <a:r>
              <a:rPr lang="en-US" altLang="en-US" sz="2800" i="1" dirty="0" smtClean="0">
                <a:solidFill>
                  <a:srgbClr val="FF0000"/>
                </a:solidFill>
                <a:cs typeface="Arial" charset="0"/>
              </a:rPr>
              <a:t> = </a:t>
            </a:r>
            <a:r>
              <a:rPr lang="en-US" altLang="en-US" sz="2800" i="1" dirty="0" err="1" smtClean="0">
                <a:solidFill>
                  <a:srgbClr val="FF0000"/>
                </a:solidFill>
                <a:cs typeface="Arial" charset="0"/>
              </a:rPr>
              <a:t>p</a:t>
            </a:r>
            <a:r>
              <a:rPr lang="en-US" altLang="en-US" sz="2800" i="1" baseline="-25000" dirty="0" err="1" smtClean="0">
                <a:solidFill>
                  <a:srgbClr val="FF0000"/>
                </a:solidFill>
                <a:cs typeface="Arial" charset="0"/>
              </a:rPr>
              <a:t>i</a:t>
            </a:r>
            <a:r>
              <a:rPr lang="en-US" altLang="en-US" sz="2800" i="1" dirty="0" err="1" smtClean="0">
                <a:solidFill>
                  <a:srgbClr val="FF0000"/>
                </a:solidFill>
                <a:cs typeface="Arial" charset="0"/>
              </a:rPr>
              <a:t>q</a:t>
            </a:r>
            <a:r>
              <a:rPr lang="en-US" altLang="en-US" sz="2800" i="1" baseline="-25000" dirty="0" err="1" smtClean="0">
                <a:solidFill>
                  <a:srgbClr val="FF0000"/>
                </a:solidFill>
                <a:cs typeface="Arial" charset="0"/>
              </a:rPr>
              <a:t>i</a:t>
            </a:r>
            <a:r>
              <a:rPr lang="en-US" altLang="en-US" sz="2800" i="1" dirty="0" smtClean="0">
                <a:solidFill>
                  <a:srgbClr val="FF0000"/>
                </a:solidFill>
                <a:cs typeface="Arial" charset="0"/>
              </a:rPr>
              <a:t> – C</a:t>
            </a:r>
            <a:r>
              <a:rPr lang="en-US" altLang="en-US" sz="2800" i="1" baseline="-25000" dirty="0" smtClean="0">
                <a:solidFill>
                  <a:srgbClr val="FF0000"/>
                </a:solidFill>
                <a:cs typeface="Arial" charset="0"/>
              </a:rPr>
              <a:t>i</a:t>
            </a:r>
            <a:r>
              <a:rPr lang="en-US" altLang="en-US" sz="2800" i="1" dirty="0" smtClean="0">
                <a:solidFill>
                  <a:srgbClr val="FF0000"/>
                </a:solidFill>
                <a:cs typeface="Arial" charset="0"/>
              </a:rPr>
              <a:t>(q</a:t>
            </a:r>
            <a:r>
              <a:rPr lang="en-US" altLang="en-US" sz="2800" i="1" baseline="-25000" dirty="0" smtClean="0">
                <a:solidFill>
                  <a:srgbClr val="FF0000"/>
                </a:solidFill>
                <a:cs typeface="Arial" charset="0"/>
              </a:rPr>
              <a:t>i</a:t>
            </a:r>
            <a:r>
              <a:rPr lang="en-US" altLang="en-US" sz="2800" i="1" dirty="0" smtClean="0">
                <a:solidFill>
                  <a:srgbClr val="FF0000"/>
                </a:solidFill>
                <a:cs typeface="Arial" charset="0"/>
              </a:rPr>
              <a:t>) = p</a:t>
            </a:r>
            <a:r>
              <a:rPr lang="en-US" altLang="en-US" sz="2800" i="1" baseline="-25000" dirty="0" smtClean="0">
                <a:solidFill>
                  <a:srgbClr val="FF0000"/>
                </a:solidFill>
                <a:cs typeface="Arial" charset="0"/>
              </a:rPr>
              <a:t>i</a:t>
            </a:r>
            <a:r>
              <a:rPr lang="en-US" altLang="en-US" sz="2800" i="1" dirty="0" smtClean="0">
                <a:solidFill>
                  <a:srgbClr val="FF0000"/>
                </a:solidFill>
                <a:cs typeface="Arial" charset="0"/>
              </a:rPr>
              <a:t>(</a:t>
            </a:r>
            <a:r>
              <a:rPr lang="en-US" altLang="en-US" sz="2800" i="1" dirty="0" err="1" smtClean="0">
                <a:solidFill>
                  <a:srgbClr val="FF0000"/>
                </a:solidFill>
              </a:rPr>
              <a:t>a</a:t>
            </a:r>
            <a:r>
              <a:rPr lang="en-US" altLang="en-US" sz="2800" i="1" baseline="-25000" dirty="0" err="1" smtClean="0">
                <a:solidFill>
                  <a:srgbClr val="FF0000"/>
                </a:solidFill>
              </a:rPr>
              <a:t>i</a:t>
            </a:r>
            <a:r>
              <a:rPr lang="en-US" altLang="en-US" sz="2800" i="1" dirty="0" smtClean="0">
                <a:solidFill>
                  <a:srgbClr val="FF0000"/>
                </a:solidFill>
              </a:rPr>
              <a:t> – p</a:t>
            </a:r>
            <a:r>
              <a:rPr lang="en-US" altLang="en-US" sz="2800" i="1" baseline="-25000" dirty="0" smtClean="0">
                <a:solidFill>
                  <a:srgbClr val="FF0000"/>
                </a:solidFill>
              </a:rPr>
              <a:t>i</a:t>
            </a:r>
            <a:r>
              <a:rPr lang="en-US" altLang="en-US" sz="2800" i="1"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j</a:t>
            </a:r>
            <a:r>
              <a:rPr lang="en-US" altLang="en-US" sz="2800" dirty="0" smtClean="0">
                <a:solidFill>
                  <a:srgbClr val="FF0000"/>
                </a:solidFill>
              </a:rPr>
              <a:t>/</a:t>
            </a:r>
            <a:r>
              <a:rPr lang="en-US" altLang="en-US" sz="2800" i="1" dirty="0" smtClean="0">
                <a:solidFill>
                  <a:srgbClr val="FF0000"/>
                </a:solidFill>
              </a:rPr>
              <a:t>2</a:t>
            </a:r>
            <a:r>
              <a:rPr lang="en-US" altLang="en-US" sz="2800" i="1" dirty="0" smtClean="0">
                <a:solidFill>
                  <a:srgbClr val="FF0000"/>
                </a:solidFill>
                <a:cs typeface="Arial" charset="0"/>
              </a:rPr>
              <a:t>)</a:t>
            </a:r>
          </a:p>
          <a:p>
            <a:pPr lvl="1"/>
            <a:r>
              <a:rPr lang="en-US" altLang="en-US" dirty="0" smtClean="0">
                <a:cs typeface="Arial" charset="0"/>
              </a:rPr>
              <a:t>Where</a:t>
            </a:r>
            <a:r>
              <a:rPr lang="en-US" altLang="en-US" dirty="0" smtClean="0">
                <a:solidFill>
                  <a:srgbClr val="FF0000"/>
                </a:solidFill>
                <a:cs typeface="Arial" charset="0"/>
              </a:rPr>
              <a:t> </a:t>
            </a:r>
            <a:r>
              <a:rPr lang="en-US" altLang="en-US" i="1" dirty="0" smtClean="0">
                <a:solidFill>
                  <a:srgbClr val="FF0000"/>
                </a:solidFill>
                <a:cs typeface="Arial" charset="0"/>
              </a:rPr>
              <a:t>C</a:t>
            </a:r>
            <a:r>
              <a:rPr lang="en-US" altLang="en-US" i="1" baseline="-25000" dirty="0" smtClean="0">
                <a:solidFill>
                  <a:srgbClr val="FF0000"/>
                </a:solidFill>
                <a:cs typeface="Arial" charset="0"/>
              </a:rPr>
              <a:t>i</a:t>
            </a:r>
            <a:r>
              <a:rPr lang="en-US" altLang="en-US" i="1" dirty="0" smtClean="0">
                <a:solidFill>
                  <a:srgbClr val="FF0000"/>
                </a:solidFill>
                <a:cs typeface="Arial" charset="0"/>
              </a:rPr>
              <a:t>(q</a:t>
            </a:r>
            <a:r>
              <a:rPr lang="en-US" altLang="en-US" i="1" baseline="-25000" dirty="0" smtClean="0">
                <a:solidFill>
                  <a:srgbClr val="FF0000"/>
                </a:solidFill>
                <a:cs typeface="Arial" charset="0"/>
              </a:rPr>
              <a:t>i</a:t>
            </a:r>
            <a:r>
              <a:rPr lang="en-US" altLang="en-US" i="1" dirty="0" smtClean="0">
                <a:solidFill>
                  <a:srgbClr val="FF0000"/>
                </a:solidFill>
                <a:cs typeface="Arial" charset="0"/>
              </a:rPr>
              <a:t>) = 0 </a:t>
            </a:r>
          </a:p>
          <a:p>
            <a:pPr lvl="1"/>
            <a:r>
              <a:rPr lang="en-US" altLang="en-US" dirty="0" smtClean="0"/>
              <a:t>First-order condition for profit maximization</a:t>
            </a:r>
          </a:p>
          <a:p>
            <a:pPr algn="ctr">
              <a:buFont typeface="Arial" charset="0"/>
              <a:buNone/>
            </a:pPr>
            <a:r>
              <a:rPr lang="en-US" altLang="en-US" sz="2800" dirty="0" smtClean="0">
                <a:solidFill>
                  <a:srgbClr val="FF0000"/>
                </a:solidFill>
                <a:cs typeface="Arial" charset="0"/>
              </a:rPr>
              <a:t>∂</a:t>
            </a:r>
            <a:r>
              <a:rPr lang="el-GR" altLang="en-US" sz="2800" i="1" dirty="0" smtClean="0">
                <a:solidFill>
                  <a:srgbClr val="FF0000"/>
                </a:solidFill>
                <a:cs typeface="Arial" charset="0"/>
              </a:rPr>
              <a:t>π</a:t>
            </a:r>
            <a:r>
              <a:rPr lang="en-US" altLang="en-US" sz="2800" i="1" baseline="-25000" dirty="0" err="1" smtClean="0">
                <a:solidFill>
                  <a:srgbClr val="FF0000"/>
                </a:solidFill>
                <a:cs typeface="Arial" charset="0"/>
              </a:rPr>
              <a:t>i</a:t>
            </a:r>
            <a:r>
              <a:rPr lang="en-US" altLang="en-US" sz="2800" i="1" baseline="-25000" dirty="0" smtClean="0">
                <a:solidFill>
                  <a:srgbClr val="FF0000"/>
                </a:solidFill>
                <a:cs typeface="Arial" charset="0"/>
              </a:rPr>
              <a:t> </a:t>
            </a:r>
            <a:r>
              <a:rPr lang="en-US" altLang="en-US" sz="2800" dirty="0" smtClean="0">
                <a:solidFill>
                  <a:srgbClr val="FF0000"/>
                </a:solidFill>
                <a:cs typeface="Arial" charset="0"/>
              </a:rPr>
              <a:t>/∂</a:t>
            </a:r>
            <a:r>
              <a:rPr lang="en-US" altLang="en-US" sz="2800" i="1" dirty="0" smtClean="0">
                <a:solidFill>
                  <a:srgbClr val="FF0000"/>
                </a:solidFill>
                <a:cs typeface="Arial" charset="0"/>
              </a:rPr>
              <a:t>p</a:t>
            </a:r>
            <a:r>
              <a:rPr lang="en-US" altLang="en-US" sz="2800" i="1" baseline="-25000" dirty="0" smtClean="0">
                <a:solidFill>
                  <a:srgbClr val="FF0000"/>
                </a:solidFill>
                <a:cs typeface="Arial" charset="0"/>
              </a:rPr>
              <a:t>i</a:t>
            </a:r>
            <a:r>
              <a:rPr lang="en-US" altLang="en-US" sz="2800" i="1" dirty="0" smtClean="0">
                <a:solidFill>
                  <a:srgbClr val="FF0000"/>
                </a:solidFill>
                <a:cs typeface="Arial" charset="0"/>
              </a:rPr>
              <a:t> = </a:t>
            </a:r>
            <a:r>
              <a:rPr lang="en-US" altLang="en-US" sz="2800" i="1" dirty="0" err="1" smtClean="0">
                <a:solidFill>
                  <a:srgbClr val="FF0000"/>
                </a:solidFill>
              </a:rPr>
              <a:t>a</a:t>
            </a:r>
            <a:r>
              <a:rPr lang="en-US" altLang="en-US" sz="2800" i="1" baseline="-25000" dirty="0" err="1" smtClean="0">
                <a:solidFill>
                  <a:srgbClr val="FF0000"/>
                </a:solidFill>
              </a:rPr>
              <a:t>i</a:t>
            </a:r>
            <a:r>
              <a:rPr lang="en-US" altLang="en-US" sz="2800" i="1" dirty="0" smtClean="0">
                <a:solidFill>
                  <a:srgbClr val="FF0000"/>
                </a:solidFill>
              </a:rPr>
              <a:t> – </a:t>
            </a:r>
            <a:r>
              <a:rPr lang="en-US" altLang="en-US" sz="2800" i="1" dirty="0" smtClean="0">
                <a:solidFill>
                  <a:srgbClr val="FF0000"/>
                </a:solidFill>
              </a:rPr>
              <a:t>2p</a:t>
            </a:r>
            <a:r>
              <a:rPr lang="en-US" altLang="en-US" sz="2800" i="1" baseline="-25000" dirty="0" smtClean="0">
                <a:solidFill>
                  <a:srgbClr val="FF0000"/>
                </a:solidFill>
              </a:rPr>
              <a:t>i</a:t>
            </a:r>
            <a:r>
              <a:rPr lang="en-US" altLang="en-US" sz="2800" i="1" dirty="0" smtClean="0">
                <a:solidFill>
                  <a:srgbClr val="FF0000"/>
                </a:solidFill>
              </a:rPr>
              <a:t> </a:t>
            </a:r>
            <a:r>
              <a:rPr lang="en-US" altLang="en-US" sz="2800" i="1" dirty="0" smtClean="0">
                <a:solidFill>
                  <a:srgbClr val="FF0000"/>
                </a:solidFill>
              </a:rPr>
              <a:t>+ </a:t>
            </a:r>
            <a:r>
              <a:rPr lang="en-US" altLang="en-US" sz="2800" i="1" dirty="0" err="1" smtClean="0">
                <a:solidFill>
                  <a:srgbClr val="FF0000"/>
                </a:solidFill>
              </a:rPr>
              <a:t>p</a:t>
            </a:r>
            <a:r>
              <a:rPr lang="en-US" altLang="en-US" sz="2800" i="1" baseline="-25000" dirty="0" err="1" smtClean="0">
                <a:solidFill>
                  <a:srgbClr val="FF0000"/>
                </a:solidFill>
              </a:rPr>
              <a:t>j</a:t>
            </a:r>
            <a:r>
              <a:rPr lang="en-US" altLang="en-US" sz="2800" i="1" baseline="-25000" dirty="0" smtClean="0">
                <a:solidFill>
                  <a:srgbClr val="FF0000"/>
                </a:solidFill>
              </a:rPr>
              <a:t> </a:t>
            </a:r>
            <a:r>
              <a:rPr lang="en-US" altLang="en-US" sz="2800" dirty="0" smtClean="0">
                <a:solidFill>
                  <a:srgbClr val="FF0000"/>
                </a:solidFill>
              </a:rPr>
              <a:t>/</a:t>
            </a:r>
            <a:r>
              <a:rPr lang="en-US" altLang="en-US" sz="2800" i="1" dirty="0" smtClean="0">
                <a:solidFill>
                  <a:srgbClr val="FF0000"/>
                </a:solidFill>
              </a:rPr>
              <a:t>2 =0</a:t>
            </a:r>
            <a:endParaRPr lang="en-US" altLang="en-US" sz="2800" dirty="0" smtClean="0">
              <a:solidFill>
                <a:srgbClr val="FF0000"/>
              </a:solidFill>
              <a:cs typeface="Arial" charset="0"/>
            </a:endParaRPr>
          </a:p>
          <a:p>
            <a:endParaRPr lang="en-US" altLang="en-US" i="1" dirty="0" smtClean="0"/>
          </a:p>
        </p:txBody>
      </p:sp>
    </p:spTree>
    <p:extLst>
      <p:ext uri="{BB962C8B-B14F-4D97-AF65-F5344CB8AC3E}">
        <p14:creationId xmlns:p14="http://schemas.microsoft.com/office/powerpoint/2010/main" val="18323536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15.4 	Toothpaste as a Differentiated Product</a:t>
            </a:r>
          </a:p>
        </p:txBody>
      </p:sp>
      <p:sp>
        <p:nvSpPr>
          <p:cNvPr id="717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3C63089-9B07-4F24-B51D-5CE1F9F8DF24}" type="slidenum">
              <a:rPr lang="en-US" smtClean="0"/>
              <a:pPr>
                <a:defRPr/>
              </a:pPr>
              <a:t>32</a:t>
            </a:fld>
            <a:endParaRPr lang="en-US" dirty="0"/>
          </a:p>
        </p:txBody>
      </p:sp>
      <p:sp>
        <p:nvSpPr>
          <p:cNvPr id="7174" name="Content Placeholder 2"/>
          <p:cNvSpPr>
            <a:spLocks noGrp="1"/>
          </p:cNvSpPr>
          <p:nvPr>
            <p:ph type="body" sz="quarter" idx="12"/>
          </p:nvPr>
        </p:nvSpPr>
        <p:spPr>
          <a:prstGeom prst="rect">
            <a:avLst/>
          </a:prstGeom>
        </p:spPr>
        <p:txBody>
          <a:bodyPr/>
          <a:lstStyle/>
          <a:p>
            <a:r>
              <a:rPr lang="en-US" altLang="en-US" smtClean="0"/>
              <a:t>Best-response functions</a:t>
            </a:r>
            <a:endParaRPr lang="en-US" altLang="en-US" i="1" smtClean="0"/>
          </a:p>
        </p:txBody>
      </p:sp>
      <p:sp>
        <p:nvSpPr>
          <p:cNvPr id="2" name="Text Placeholder 1"/>
          <p:cNvSpPr>
            <a:spLocks noGrp="1"/>
          </p:cNvSpPr>
          <p:nvPr>
            <p:ph type="body" sz="quarter" idx="13"/>
          </p:nvPr>
        </p:nvSpPr>
        <p:spPr>
          <a:xfrm>
            <a:off x="381000" y="2057400"/>
            <a:ext cx="8382000" cy="2590800"/>
          </a:xfrm>
        </p:spPr>
        <p:txBody>
          <a:bodyPr/>
          <a:lstStyle/>
          <a:p>
            <a:pPr eaLnBrk="0" hangingPunct="0">
              <a:buFont typeface="Arial" charset="0"/>
              <a:buChar char="•"/>
              <a:defRPr/>
            </a:pPr>
            <a:r>
              <a:rPr lang="en-US" kern="0" dirty="0">
                <a:solidFill>
                  <a:srgbClr val="002D56"/>
                </a:solidFill>
              </a:rPr>
              <a:t>Nash equilibrium </a:t>
            </a:r>
            <a:r>
              <a:rPr lang="en-US" kern="0" dirty="0" smtClean="0">
                <a:solidFill>
                  <a:srgbClr val="002D56"/>
                </a:solidFill>
              </a:rPr>
              <a:t>prices</a:t>
            </a:r>
          </a:p>
          <a:p>
            <a:pPr eaLnBrk="0" hangingPunct="0">
              <a:buFont typeface="Arial" charset="0"/>
              <a:buChar char="•"/>
              <a:defRPr/>
            </a:pPr>
            <a:endParaRPr lang="en-US" kern="0" dirty="0">
              <a:solidFill>
                <a:srgbClr val="002D56"/>
              </a:solidFill>
            </a:endParaRPr>
          </a:p>
          <a:p>
            <a:pPr eaLnBrk="0" hangingPunct="0">
              <a:buFont typeface="Arial" charset="0"/>
              <a:buChar char="•"/>
              <a:defRPr/>
            </a:pPr>
            <a:endParaRPr lang="en-US" kern="0" dirty="0">
              <a:solidFill>
                <a:srgbClr val="002D56"/>
              </a:solidFill>
            </a:endParaRPr>
          </a:p>
          <a:p>
            <a:pPr eaLnBrk="0" hangingPunct="0">
              <a:buFont typeface="Arial" charset="0"/>
              <a:buChar char="•"/>
              <a:defRPr/>
            </a:pPr>
            <a:r>
              <a:rPr lang="en-US" kern="0" dirty="0">
                <a:solidFill>
                  <a:srgbClr val="002D56"/>
                </a:solidFill>
              </a:rPr>
              <a:t>Profits</a:t>
            </a:r>
            <a:endParaRPr lang="en-US" i="1" kern="0" dirty="0">
              <a:solidFill>
                <a:srgbClr val="002D56"/>
              </a:solidFill>
            </a:endParaRPr>
          </a:p>
          <a:p>
            <a:endParaRPr lang="en-US" dirty="0"/>
          </a:p>
        </p:txBody>
      </p:sp>
      <p:graphicFrame>
        <p:nvGraphicFramePr>
          <p:cNvPr id="6" name="Object 2"/>
          <p:cNvGraphicFramePr>
            <a:graphicFrameLocks noChangeAspect="1"/>
          </p:cNvGraphicFramePr>
          <p:nvPr/>
        </p:nvGraphicFramePr>
        <p:xfrm>
          <a:off x="2111375" y="1108075"/>
          <a:ext cx="4921250" cy="939800"/>
        </p:xfrm>
        <a:graphic>
          <a:graphicData uri="http://schemas.openxmlformats.org/presentationml/2006/ole">
            <mc:AlternateContent xmlns:mc="http://schemas.openxmlformats.org/markup-compatibility/2006">
              <mc:Choice xmlns:v="urn:schemas-microsoft-com:vml" Requires="v">
                <p:oleObj spid="_x0000_s324640" name="Equation" r:id="rId3" imgW="2260440" imgH="431640" progId="Equation.DSMT4">
                  <p:embed/>
                </p:oleObj>
              </mc:Choice>
              <mc:Fallback>
                <p:oleObj name="Equation" r:id="rId3" imgW="22604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75" y="1108075"/>
                        <a:ext cx="492125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5" name="Object 3"/>
          <p:cNvGraphicFramePr>
            <a:graphicFrameLocks noChangeAspect="1"/>
          </p:cNvGraphicFramePr>
          <p:nvPr/>
        </p:nvGraphicFramePr>
        <p:xfrm>
          <a:off x="2111375" y="2979738"/>
          <a:ext cx="2349500" cy="858837"/>
        </p:xfrm>
        <a:graphic>
          <a:graphicData uri="http://schemas.openxmlformats.org/presentationml/2006/ole">
            <mc:AlternateContent xmlns:mc="http://schemas.openxmlformats.org/markup-compatibility/2006">
              <mc:Choice xmlns:v="urn:schemas-microsoft-com:vml" Requires="v">
                <p:oleObj spid="_x0000_s324641" name="Equation" r:id="rId5" imgW="1079280" imgH="393480" progId="Equation.DSMT4">
                  <p:embed/>
                </p:oleObj>
              </mc:Choice>
              <mc:Fallback>
                <p:oleObj name="Equation" r:id="rId5" imgW="107928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1375" y="2979738"/>
                        <a:ext cx="2349500"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7" name="Object 5"/>
          <p:cNvGraphicFramePr>
            <a:graphicFrameLocks noChangeAspect="1"/>
          </p:cNvGraphicFramePr>
          <p:nvPr/>
        </p:nvGraphicFramePr>
        <p:xfrm>
          <a:off x="2111375" y="4656138"/>
          <a:ext cx="2817813" cy="1023937"/>
        </p:xfrm>
        <a:graphic>
          <a:graphicData uri="http://schemas.openxmlformats.org/presentationml/2006/ole">
            <mc:AlternateContent xmlns:mc="http://schemas.openxmlformats.org/markup-compatibility/2006">
              <mc:Choice xmlns:v="urn:schemas-microsoft-com:vml" Requires="v">
                <p:oleObj spid="_x0000_s324642" name="Equation" r:id="rId7" imgW="1295280" imgH="469800" progId="Equation.DSMT4">
                  <p:embed/>
                </p:oleObj>
              </mc:Choice>
              <mc:Fallback>
                <p:oleObj name="Equation" r:id="rId7" imgW="1295280" imgH="469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1375" y="4656138"/>
                        <a:ext cx="2817813"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97616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9395"/>
                                        </p:tgtEl>
                                        <p:attrNameLst>
                                          <p:attrName>style.visibility</p:attrName>
                                        </p:attrNameLst>
                                      </p:cBhvr>
                                      <p:to>
                                        <p:strVal val="visible"/>
                                      </p:to>
                                    </p:set>
                                    <p:animEffect transition="in" filter="wipe(left)">
                                      <p:cBhvr>
                                        <p:cTn id="15" dur="500"/>
                                        <p:tgtEl>
                                          <p:spTgt spid="5939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59397"/>
                                        </p:tgtEl>
                                        <p:attrNameLst>
                                          <p:attrName>style.visibility</p:attrName>
                                        </p:attrNameLst>
                                      </p:cBhvr>
                                      <p:to>
                                        <p:strVal val="visible"/>
                                      </p:to>
                                    </p:set>
                                    <p:animEffect transition="in" filter="wipe(left)">
                                      <p:cBhvr>
                                        <p:cTn id="23" dur="5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15.4	Best Responses for Bertrand Model with </a:t>
            </a:r>
            <a:r>
              <a:rPr lang="en-US" altLang="en-US" dirty="0" smtClean="0"/>
              <a:t/>
            </a:r>
            <a:br>
              <a:rPr lang="en-US" altLang="en-US" dirty="0" smtClean="0"/>
            </a:br>
            <a:r>
              <a:rPr lang="en-US" altLang="en-US" dirty="0"/>
              <a:t>	</a:t>
            </a:r>
            <a:r>
              <a:rPr lang="en-US" altLang="en-US" dirty="0" smtClean="0">
                <a:solidFill>
                  <a:srgbClr val="002D56"/>
                </a:solidFill>
              </a:rPr>
              <a:t>Differentiated Products</a:t>
            </a:r>
            <a:endParaRPr lang="en-US" altLang="en-US" dirty="0" smtClean="0">
              <a:solidFill>
                <a:srgbClr val="002D56"/>
              </a:solidFill>
            </a:endParaRPr>
          </a:p>
        </p:txBody>
      </p:sp>
      <p:sp>
        <p:nvSpPr>
          <p:cNvPr id="59395" name="Text Placeholder 2"/>
          <p:cNvSpPr>
            <a:spLocks noGrp="1"/>
          </p:cNvSpPr>
          <p:nvPr>
            <p:ph sz="half" idx="1"/>
          </p:nvPr>
        </p:nvSpPr>
        <p:spPr>
          <a:xfrm>
            <a:off x="6172200" y="1600200"/>
            <a:ext cx="2438400" cy="4525963"/>
          </a:xfrm>
        </p:spPr>
        <p:txBody>
          <a:bodyPr>
            <a:normAutofit/>
          </a:bodyPr>
          <a:lstStyle/>
          <a:p>
            <a:pPr>
              <a:spcBef>
                <a:spcPct val="0"/>
              </a:spcBef>
            </a:pPr>
            <a:r>
              <a:rPr lang="en-US" altLang="en-US" dirty="0"/>
              <a:t>Firm’ best responses are drawn as thick lines; their intersection (E) is the Nash equilibrium. </a:t>
            </a:r>
            <a:r>
              <a:rPr lang="en-US" altLang="en-US" dirty="0" err="1"/>
              <a:t>Isoprofit</a:t>
            </a:r>
            <a:r>
              <a:rPr lang="en-US" altLang="en-US" dirty="0"/>
              <a:t> curves for firm 1 increase moving out along firm 1’s best-response function.</a:t>
            </a:r>
          </a:p>
          <a:p>
            <a:pPr>
              <a:spcBef>
                <a:spcPct val="0"/>
              </a:spcBef>
            </a:pPr>
            <a:endParaRPr lang="en-US" altLang="en-US" dirty="0" smtClean="0"/>
          </a:p>
        </p:txBody>
      </p:sp>
      <p:sp>
        <p:nvSpPr>
          <p:cNvPr id="5939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5DEA2891-6817-4485-AA74-0482B8AA80E7}" type="slidenum">
              <a:rPr lang="en-US" smtClean="0"/>
              <a:pPr>
                <a:defRPr/>
              </a:pPr>
              <a:t>33</a:t>
            </a:fld>
            <a:endParaRPr lang="en-US" dirty="0"/>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4873625"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4739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9395">
                                            <p:txEl>
                                              <p:pRg st="0" end="0"/>
                                            </p:txEl>
                                          </p:spTgt>
                                        </p:tgtEl>
                                        <p:attrNameLst>
                                          <p:attrName>style.visibility</p:attrName>
                                        </p:attrNameLst>
                                      </p:cBhvr>
                                      <p:to>
                                        <p:strVal val="visible"/>
                                      </p:to>
                                    </p:set>
                                    <p:animEffect transition="in" filter="wipe(left)">
                                      <p:cBhvr>
                                        <p:cTn id="11" dur="500"/>
                                        <p:tgtEl>
                                          <p:spTgt spid="59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15.5 	</a:t>
            </a:r>
            <a:r>
              <a:rPr lang="en-US" altLang="en-US" dirty="0" err="1" smtClean="0"/>
              <a:t>Hotelling’s</a:t>
            </a:r>
            <a:r>
              <a:rPr lang="en-US" altLang="en-US" dirty="0" smtClean="0"/>
              <a:t> Beach</a:t>
            </a:r>
          </a:p>
        </p:txBody>
      </p:sp>
      <p:sp>
        <p:nvSpPr>
          <p:cNvPr id="6042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3E9F2AB-142A-496A-BC54-02F73E5C954C}" type="slidenum">
              <a:rPr lang="en-US" smtClean="0"/>
              <a:pPr>
                <a:defRPr/>
              </a:pPr>
              <a:t>34</a:t>
            </a:fld>
            <a:endParaRPr lang="en-US" dirty="0"/>
          </a:p>
        </p:txBody>
      </p:sp>
      <p:sp>
        <p:nvSpPr>
          <p:cNvPr id="60419" name="Content Placeholder 2"/>
          <p:cNvSpPr>
            <a:spLocks noGrp="1"/>
          </p:cNvSpPr>
          <p:nvPr>
            <p:ph type="body" sz="quarter" idx="12"/>
          </p:nvPr>
        </p:nvSpPr>
        <p:spPr>
          <a:prstGeom prst="rect">
            <a:avLst/>
          </a:prstGeom>
        </p:spPr>
        <p:txBody>
          <a:bodyPr/>
          <a:lstStyle/>
          <a:p>
            <a:r>
              <a:rPr lang="en-US" altLang="en-US" dirty="0" smtClean="0"/>
              <a:t>Ice cream stands located on a beach</a:t>
            </a:r>
          </a:p>
          <a:p>
            <a:pPr lvl="1"/>
            <a:r>
              <a:rPr lang="en-US" altLang="en-US" dirty="0" smtClean="0"/>
              <a:t>Demanders are located uniformly along the beach</a:t>
            </a:r>
          </a:p>
          <a:p>
            <a:pPr lvl="2"/>
            <a:r>
              <a:rPr lang="en-US" altLang="en-US" dirty="0" smtClean="0"/>
              <a:t>One at each unit of beach</a:t>
            </a:r>
          </a:p>
          <a:p>
            <a:pPr lvl="1"/>
            <a:r>
              <a:rPr lang="en-US" altLang="en-US" dirty="0" smtClean="0"/>
              <a:t>Ice cream cones are costless to produce </a:t>
            </a:r>
          </a:p>
          <a:p>
            <a:pPr lvl="1"/>
            <a:r>
              <a:rPr lang="en-US" altLang="en-US" dirty="0" smtClean="0"/>
              <a:t>But carrying them back to one’s place on the beach results in a cost of </a:t>
            </a:r>
            <a:r>
              <a:rPr lang="en-US" altLang="en-US" i="1" dirty="0" smtClean="0"/>
              <a:t>td</a:t>
            </a:r>
            <a:r>
              <a:rPr lang="en-US" altLang="en-US" i="1" baseline="30000" dirty="0" smtClean="0"/>
              <a:t> </a:t>
            </a:r>
            <a:r>
              <a:rPr lang="en-US" altLang="en-US" baseline="30000" dirty="0" smtClean="0"/>
              <a:t>2</a:t>
            </a:r>
            <a:endParaRPr lang="en-US" altLang="en-US" dirty="0" smtClean="0"/>
          </a:p>
          <a:p>
            <a:pPr lvl="2"/>
            <a:r>
              <a:rPr lang="en-US" altLang="en-US" i="1" dirty="0" smtClean="0"/>
              <a:t>t</a:t>
            </a:r>
            <a:r>
              <a:rPr lang="en-US" altLang="en-US" dirty="0" smtClean="0"/>
              <a:t> = temperature</a:t>
            </a:r>
          </a:p>
          <a:p>
            <a:pPr lvl="2"/>
            <a:r>
              <a:rPr lang="en-US" altLang="en-US" i="1" dirty="0" smtClean="0"/>
              <a:t>d</a:t>
            </a:r>
            <a:r>
              <a:rPr lang="en-US" altLang="en-US" dirty="0" smtClean="0"/>
              <a:t> = distance</a:t>
            </a:r>
            <a:endParaRPr lang="en-US" altLang="en-US" i="1" dirty="0" smtClean="0"/>
          </a:p>
          <a:p>
            <a:endParaRPr lang="en-US" altLang="en-US" dirty="0" smtClean="0"/>
          </a:p>
        </p:txBody>
      </p:sp>
    </p:spTree>
    <p:extLst>
      <p:ext uri="{BB962C8B-B14F-4D97-AF65-F5344CB8AC3E}">
        <p14:creationId xmlns:p14="http://schemas.microsoft.com/office/powerpoint/2010/main" val="1700415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15.5	</a:t>
            </a:r>
            <a:r>
              <a:rPr lang="en-US" altLang="en-US" dirty="0" err="1"/>
              <a:t>Hotelling’s</a:t>
            </a:r>
            <a:r>
              <a:rPr lang="en-US" altLang="en-US" dirty="0"/>
              <a:t> </a:t>
            </a:r>
            <a:r>
              <a:rPr lang="en-US" altLang="en-US" dirty="0" smtClean="0"/>
              <a:t>Beach</a:t>
            </a:r>
            <a:endParaRPr lang="en-US" altLang="en-US" dirty="0" smtClean="0"/>
          </a:p>
        </p:txBody>
      </p:sp>
      <p:sp>
        <p:nvSpPr>
          <p:cNvPr id="61443" name="Text Placeholder 2"/>
          <p:cNvSpPr>
            <a:spLocks noGrp="1"/>
          </p:cNvSpPr>
          <p:nvPr>
            <p:ph sz="half" idx="1"/>
          </p:nvPr>
        </p:nvSpPr>
        <p:spPr>
          <a:xfrm>
            <a:off x="457200" y="3505200"/>
            <a:ext cx="8229600" cy="1063626"/>
          </a:xfrm>
        </p:spPr>
        <p:txBody>
          <a:bodyPr>
            <a:normAutofit/>
          </a:bodyPr>
          <a:lstStyle/>
          <a:p>
            <a:pPr>
              <a:spcBef>
                <a:spcPct val="0"/>
              </a:spcBef>
            </a:pPr>
            <a:r>
              <a:rPr lang="en-US" altLang="en-US" dirty="0"/>
              <a:t>Ice cream stands A and B are located at points a and b along a beach of length L. The consumer who is indifferent between buying from the two stands is located at x. Consumers to the left of x buy from A and to the right buy from B.</a:t>
            </a:r>
          </a:p>
          <a:p>
            <a:pPr>
              <a:spcBef>
                <a:spcPct val="0"/>
              </a:spcBef>
            </a:pPr>
            <a:endParaRPr lang="en-US" altLang="en-US" dirty="0" smtClean="0"/>
          </a:p>
        </p:txBody>
      </p:sp>
      <p:sp>
        <p:nvSpPr>
          <p:cNvPr id="614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28FBD3B-E626-4635-B804-229D957FD20F}" type="slidenum">
              <a:rPr lang="en-US" smtClean="0"/>
              <a:pPr>
                <a:defRPr/>
              </a:pPr>
              <a:t>35</a:t>
            </a:fld>
            <a:endParaRPr lang="en-US"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913" y="1600200"/>
            <a:ext cx="67341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0975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43">
                                            <p:txEl>
                                              <p:pRg st="0" end="0"/>
                                            </p:txEl>
                                          </p:spTgt>
                                        </p:tgtEl>
                                        <p:attrNameLst>
                                          <p:attrName>style.visibility</p:attrName>
                                        </p:attrNameLst>
                                      </p:cBhvr>
                                      <p:to>
                                        <p:strVal val="visible"/>
                                      </p:to>
                                    </p:set>
                                    <p:animEffect transition="in" filter="wipe(left)">
                                      <p:cBhvr>
                                        <p:cTn id="11" dur="500"/>
                                        <p:tgtEl>
                                          <p:spTgt spid="614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15.5 	</a:t>
            </a:r>
            <a:r>
              <a:rPr lang="en-US" altLang="en-US" dirty="0" err="1" smtClean="0"/>
              <a:t>Hotelling’s</a:t>
            </a:r>
            <a:r>
              <a:rPr lang="en-US" altLang="en-US" dirty="0" smtClean="0"/>
              <a:t> Beach</a:t>
            </a:r>
          </a:p>
        </p:txBody>
      </p:sp>
      <p:sp>
        <p:nvSpPr>
          <p:cNvPr id="819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109E980-765B-43B1-A315-4FEB8158B901}" type="slidenum">
              <a:rPr lang="en-US" smtClean="0"/>
              <a:pPr>
                <a:defRPr/>
              </a:pPr>
              <a:t>36</a:t>
            </a:fld>
            <a:endParaRPr lang="en-US" dirty="0"/>
          </a:p>
        </p:txBody>
      </p:sp>
      <p:sp>
        <p:nvSpPr>
          <p:cNvPr id="8196" name="Content Placeholder 2"/>
          <p:cNvSpPr>
            <a:spLocks noGrp="1"/>
          </p:cNvSpPr>
          <p:nvPr>
            <p:ph type="body" sz="quarter" idx="12"/>
          </p:nvPr>
        </p:nvSpPr>
        <p:spPr>
          <a:xfrm>
            <a:off x="381000" y="533400"/>
            <a:ext cx="8382000" cy="3505200"/>
          </a:xfrm>
          <a:prstGeom prst="rect">
            <a:avLst/>
          </a:prstGeom>
        </p:spPr>
        <p:txBody>
          <a:bodyPr>
            <a:normAutofit/>
          </a:bodyPr>
          <a:lstStyle/>
          <a:p>
            <a:r>
              <a:rPr lang="en-US" altLang="en-US" dirty="0" smtClean="0"/>
              <a:t>A person located at point </a:t>
            </a:r>
            <a:r>
              <a:rPr lang="en-US" altLang="en-US" i="1" dirty="0" smtClean="0"/>
              <a:t>x</a:t>
            </a:r>
            <a:r>
              <a:rPr lang="en-US" altLang="en-US" dirty="0" smtClean="0"/>
              <a:t> will be indifferent between stands </a:t>
            </a:r>
            <a:r>
              <a:rPr lang="en-US" altLang="en-US" i="1" dirty="0" smtClean="0"/>
              <a:t>A</a:t>
            </a:r>
            <a:r>
              <a:rPr lang="en-US" altLang="en-US" dirty="0" smtClean="0"/>
              <a:t> and </a:t>
            </a:r>
            <a:r>
              <a:rPr lang="en-US" altLang="en-US" i="1" dirty="0" smtClean="0"/>
              <a:t>B</a:t>
            </a:r>
            <a:r>
              <a:rPr lang="en-US" altLang="en-US" dirty="0" smtClean="0"/>
              <a:t> if</a:t>
            </a:r>
          </a:p>
          <a:p>
            <a:pPr algn="ctr">
              <a:lnSpc>
                <a:spcPct val="130000"/>
              </a:lnSpc>
              <a:buFontTx/>
              <a:buNone/>
            </a:pPr>
            <a:r>
              <a:rPr lang="en-US" altLang="en-US" sz="2800" i="1" dirty="0" err="1" smtClean="0">
                <a:solidFill>
                  <a:srgbClr val="FF0000"/>
                </a:solidFill>
              </a:rPr>
              <a:t>p</a:t>
            </a:r>
            <a:r>
              <a:rPr lang="en-US" altLang="en-US" sz="2800" i="1" baseline="-25000" dirty="0" err="1" smtClean="0">
                <a:solidFill>
                  <a:srgbClr val="FF0000"/>
                </a:solidFill>
              </a:rPr>
              <a:t>A</a:t>
            </a:r>
            <a:r>
              <a:rPr lang="en-US" altLang="en-US" sz="2800" dirty="0" smtClean="0">
                <a:solidFill>
                  <a:srgbClr val="FF0000"/>
                </a:solidFill>
              </a:rPr>
              <a:t> + </a:t>
            </a:r>
            <a:r>
              <a:rPr lang="en-US" altLang="en-US" sz="2800" i="1" dirty="0" smtClean="0">
                <a:solidFill>
                  <a:srgbClr val="FF0000"/>
                </a:solidFill>
              </a:rPr>
              <a:t>t</a:t>
            </a:r>
            <a:r>
              <a:rPr lang="en-US" altLang="en-US" sz="2800" dirty="0" smtClean="0">
                <a:solidFill>
                  <a:srgbClr val="FF0000"/>
                </a:solidFill>
              </a:rPr>
              <a:t>(</a:t>
            </a:r>
            <a:r>
              <a:rPr lang="en-US" altLang="en-US" sz="2800" i="1" dirty="0" smtClean="0">
                <a:solidFill>
                  <a:srgbClr val="FF0000"/>
                </a:solidFill>
              </a:rPr>
              <a:t>x – a</a:t>
            </a:r>
            <a:r>
              <a:rPr lang="en-US" altLang="en-US" sz="2800" dirty="0" smtClean="0">
                <a:solidFill>
                  <a:srgbClr val="FF0000"/>
                </a:solidFill>
              </a:rPr>
              <a:t>)</a:t>
            </a:r>
            <a:r>
              <a:rPr lang="en-US" altLang="en-US" sz="2800" baseline="30000" dirty="0" smtClean="0">
                <a:solidFill>
                  <a:srgbClr val="FF0000"/>
                </a:solidFill>
              </a:rPr>
              <a:t>2</a:t>
            </a:r>
            <a:r>
              <a:rPr lang="en-US" altLang="en-US" sz="2800" dirty="0" smtClean="0">
                <a:solidFill>
                  <a:srgbClr val="FF0000"/>
                </a:solidFill>
              </a:rPr>
              <a:t> = </a:t>
            </a:r>
            <a:r>
              <a:rPr lang="en-US" altLang="en-US" sz="2800" i="1" dirty="0" err="1" smtClean="0">
                <a:solidFill>
                  <a:srgbClr val="FF0000"/>
                </a:solidFill>
              </a:rPr>
              <a:t>p</a:t>
            </a:r>
            <a:r>
              <a:rPr lang="en-US" altLang="en-US" sz="2800" i="1" baseline="-25000" dirty="0" err="1" smtClean="0">
                <a:solidFill>
                  <a:srgbClr val="FF0000"/>
                </a:solidFill>
              </a:rPr>
              <a:t>B</a:t>
            </a:r>
            <a:r>
              <a:rPr lang="en-US" altLang="en-US" sz="2800" dirty="0" smtClean="0">
                <a:solidFill>
                  <a:srgbClr val="FF0000"/>
                </a:solidFill>
              </a:rPr>
              <a:t> + </a:t>
            </a:r>
            <a:r>
              <a:rPr lang="en-US" altLang="en-US" sz="2800" i="1" dirty="0" smtClean="0">
                <a:solidFill>
                  <a:srgbClr val="FF0000"/>
                </a:solidFill>
              </a:rPr>
              <a:t>t</a:t>
            </a:r>
            <a:r>
              <a:rPr lang="en-US" altLang="en-US" sz="2800" dirty="0" smtClean="0">
                <a:solidFill>
                  <a:srgbClr val="FF0000"/>
                </a:solidFill>
              </a:rPr>
              <a:t>(</a:t>
            </a:r>
            <a:r>
              <a:rPr lang="en-US" altLang="en-US" sz="2800" i="1" dirty="0" smtClean="0">
                <a:solidFill>
                  <a:srgbClr val="FF0000"/>
                </a:solidFill>
              </a:rPr>
              <a:t>b – x</a:t>
            </a:r>
            <a:r>
              <a:rPr lang="en-US" altLang="en-US" sz="2800" dirty="0" smtClean="0">
                <a:solidFill>
                  <a:srgbClr val="FF0000"/>
                </a:solidFill>
              </a:rPr>
              <a:t>)</a:t>
            </a:r>
            <a:r>
              <a:rPr lang="en-US" altLang="en-US" sz="2800" baseline="30000" dirty="0" smtClean="0">
                <a:solidFill>
                  <a:srgbClr val="FF0000"/>
                </a:solidFill>
              </a:rPr>
              <a:t>2</a:t>
            </a:r>
            <a:endParaRPr lang="en-US" altLang="en-US" sz="2800" i="1" dirty="0" smtClean="0">
              <a:solidFill>
                <a:srgbClr val="FF0000"/>
              </a:solidFill>
            </a:endParaRPr>
          </a:p>
          <a:p>
            <a:pPr lvl="1"/>
            <a:r>
              <a:rPr lang="en-US" altLang="en-US" dirty="0" smtClean="0"/>
              <a:t>Where </a:t>
            </a:r>
            <a:r>
              <a:rPr lang="en-US" altLang="en-US" i="1" dirty="0" err="1" smtClean="0"/>
              <a:t>p</a:t>
            </a:r>
            <a:r>
              <a:rPr lang="en-US" altLang="en-US" i="1" baseline="-25000" dirty="0" err="1" smtClean="0"/>
              <a:t>A</a:t>
            </a:r>
            <a:r>
              <a:rPr lang="en-US" altLang="en-US" dirty="0" smtClean="0"/>
              <a:t> and </a:t>
            </a:r>
            <a:r>
              <a:rPr lang="en-US" altLang="en-US" i="1" dirty="0" err="1" smtClean="0"/>
              <a:t>p</a:t>
            </a:r>
            <a:r>
              <a:rPr lang="en-US" altLang="en-US" i="1" baseline="-25000" dirty="0" err="1" smtClean="0"/>
              <a:t>B</a:t>
            </a:r>
            <a:r>
              <a:rPr lang="en-US" altLang="en-US" dirty="0" smtClean="0"/>
              <a:t> are the prices charged by each stand</a:t>
            </a:r>
          </a:p>
          <a:p>
            <a:r>
              <a:rPr lang="en-US" altLang="en-US" dirty="0" smtClean="0"/>
              <a:t>Solving for </a:t>
            </a:r>
            <a:r>
              <a:rPr lang="en-US" altLang="en-US" i="1" dirty="0" smtClean="0"/>
              <a:t>x</a:t>
            </a:r>
            <a:r>
              <a:rPr lang="en-US" altLang="en-US" dirty="0" smtClean="0"/>
              <a:t> we get</a:t>
            </a:r>
          </a:p>
        </p:txBody>
      </p:sp>
      <p:sp>
        <p:nvSpPr>
          <p:cNvPr id="2" name="Text Placeholder 1"/>
          <p:cNvSpPr>
            <a:spLocks noGrp="1"/>
          </p:cNvSpPr>
          <p:nvPr>
            <p:ph type="body" sz="quarter" idx="13"/>
          </p:nvPr>
        </p:nvSpPr>
        <p:spPr>
          <a:xfrm>
            <a:off x="381000" y="4953000"/>
            <a:ext cx="8382000" cy="1219200"/>
          </a:xfrm>
        </p:spPr>
        <p:txBody>
          <a:bodyPr>
            <a:normAutofit fontScale="92500"/>
          </a:bodyPr>
          <a:lstStyle/>
          <a:p>
            <a:pPr lvl="1"/>
            <a:r>
              <a:rPr lang="en-US" kern="0" dirty="0"/>
              <a:t>If the two stands charge an equal price, the indifferent consumer is located midway between </a:t>
            </a:r>
            <a:r>
              <a:rPr lang="en-US" i="1" kern="0" dirty="0"/>
              <a:t>a</a:t>
            </a:r>
            <a:r>
              <a:rPr lang="en-US" kern="0" dirty="0"/>
              <a:t> and </a:t>
            </a:r>
            <a:r>
              <a:rPr lang="en-US" i="1" kern="0" dirty="0"/>
              <a:t>b</a:t>
            </a:r>
            <a:endParaRPr lang="en-US" sz="3200" kern="0" dirty="0">
              <a:solidFill>
                <a:srgbClr val="000099"/>
              </a:solidFill>
            </a:endParaRPr>
          </a:p>
          <a:p>
            <a:pPr lvl="1"/>
            <a:endParaRPr lang="en-US" dirty="0"/>
          </a:p>
        </p:txBody>
      </p:sp>
      <p:graphicFrame>
        <p:nvGraphicFramePr>
          <p:cNvPr id="62466" name="Object 2"/>
          <p:cNvGraphicFramePr>
            <a:graphicFrameLocks noChangeAspect="1"/>
          </p:cNvGraphicFramePr>
          <p:nvPr/>
        </p:nvGraphicFramePr>
        <p:xfrm>
          <a:off x="2320925" y="3881438"/>
          <a:ext cx="2957513" cy="1035050"/>
        </p:xfrm>
        <a:graphic>
          <a:graphicData uri="http://schemas.openxmlformats.org/presentationml/2006/ole">
            <mc:AlternateContent xmlns:mc="http://schemas.openxmlformats.org/markup-compatibility/2006">
              <mc:Choice xmlns:v="urn:schemas-microsoft-com:vml" Requires="v">
                <p:oleObj spid="_x0000_s325645" name="Equation" r:id="rId3" imgW="1269720" imgH="419040" progId="Equation.DSMT4">
                  <p:embed/>
                </p:oleObj>
              </mc:Choice>
              <mc:Fallback>
                <p:oleObj name="Equation" r:id="rId3" imgW="12697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0925" y="3881438"/>
                        <a:ext cx="2957513"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506331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500"/>
                                        <p:tgtEl>
                                          <p:spTgt spid="6246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15.5 	</a:t>
            </a:r>
            <a:r>
              <a:rPr lang="en-US" altLang="en-US" dirty="0" err="1" smtClean="0"/>
              <a:t>Hotelling’s</a:t>
            </a:r>
            <a:r>
              <a:rPr lang="en-US" altLang="en-US" dirty="0" smtClean="0"/>
              <a:t> Beach</a:t>
            </a:r>
          </a:p>
        </p:txBody>
      </p:sp>
      <p:sp>
        <p:nvSpPr>
          <p:cNvPr id="922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56C7FBC-9B9D-4121-8039-5F8C73A93B22}" type="slidenum">
              <a:rPr lang="en-US" smtClean="0"/>
              <a:pPr>
                <a:defRPr/>
              </a:pPr>
              <a:t>37</a:t>
            </a:fld>
            <a:endParaRPr lang="en-US" dirty="0"/>
          </a:p>
        </p:txBody>
      </p:sp>
      <p:sp>
        <p:nvSpPr>
          <p:cNvPr id="9221" name="Content Placeholder 2"/>
          <p:cNvSpPr>
            <a:spLocks noGrp="1"/>
          </p:cNvSpPr>
          <p:nvPr>
            <p:ph type="body" sz="quarter" idx="12"/>
          </p:nvPr>
        </p:nvSpPr>
        <p:spPr>
          <a:prstGeom prst="rect">
            <a:avLst/>
          </a:prstGeom>
        </p:spPr>
        <p:txBody>
          <a:bodyPr/>
          <a:lstStyle/>
          <a:p>
            <a:r>
              <a:rPr lang="en-US" altLang="en-US" smtClean="0"/>
              <a:t>The Nash equilibrium prices:</a:t>
            </a:r>
          </a:p>
        </p:txBody>
      </p:sp>
      <p:sp>
        <p:nvSpPr>
          <p:cNvPr id="2" name="Text Placeholder 1"/>
          <p:cNvSpPr>
            <a:spLocks noGrp="1"/>
          </p:cNvSpPr>
          <p:nvPr>
            <p:ph type="body" sz="quarter" idx="13"/>
          </p:nvPr>
        </p:nvSpPr>
        <p:spPr>
          <a:xfrm>
            <a:off x="381000" y="3352800"/>
            <a:ext cx="8382000" cy="2819400"/>
          </a:xfrm>
        </p:spPr>
        <p:txBody>
          <a:bodyPr/>
          <a:lstStyle/>
          <a:p>
            <a:r>
              <a:rPr lang="en-US" kern="0" dirty="0">
                <a:solidFill>
                  <a:srgbClr val="002D56"/>
                </a:solidFill>
              </a:rPr>
              <a:t>Profits for the two firms:</a:t>
            </a:r>
          </a:p>
          <a:p>
            <a:endParaRPr lang="en-US" dirty="0"/>
          </a:p>
        </p:txBody>
      </p:sp>
      <p:graphicFrame>
        <p:nvGraphicFramePr>
          <p:cNvPr id="63491" name="Object 3"/>
          <p:cNvGraphicFramePr>
            <a:graphicFrameLocks noChangeAspect="1"/>
          </p:cNvGraphicFramePr>
          <p:nvPr/>
        </p:nvGraphicFramePr>
        <p:xfrm>
          <a:off x="2409825" y="1130300"/>
          <a:ext cx="4325938" cy="1762125"/>
        </p:xfrm>
        <a:graphic>
          <a:graphicData uri="http://schemas.openxmlformats.org/presentationml/2006/ole">
            <mc:AlternateContent xmlns:mc="http://schemas.openxmlformats.org/markup-compatibility/2006">
              <mc:Choice xmlns:v="urn:schemas-microsoft-com:vml" Requires="v">
                <p:oleObj spid="_x0000_s326682" name="Equation" r:id="rId3" imgW="1993680" imgH="812520" progId="Equation.DSMT4">
                  <p:embed/>
                </p:oleObj>
              </mc:Choice>
              <mc:Fallback>
                <p:oleObj name="Equation" r:id="rId3" imgW="1993680" imgH="8125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9825" y="1130300"/>
                        <a:ext cx="4325938" cy="176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3" name="Object 5"/>
          <p:cNvGraphicFramePr>
            <a:graphicFrameLocks noChangeAspect="1"/>
          </p:cNvGraphicFramePr>
          <p:nvPr/>
        </p:nvGraphicFramePr>
        <p:xfrm>
          <a:off x="2292350" y="4043363"/>
          <a:ext cx="4559300" cy="1779587"/>
        </p:xfrm>
        <a:graphic>
          <a:graphicData uri="http://schemas.openxmlformats.org/presentationml/2006/ole">
            <mc:AlternateContent xmlns:mc="http://schemas.openxmlformats.org/markup-compatibility/2006">
              <mc:Choice xmlns:v="urn:schemas-microsoft-com:vml" Requires="v">
                <p:oleObj spid="_x0000_s326683" name="Equation" r:id="rId5" imgW="2082600" imgH="812520" progId="Equation.DSMT4">
                  <p:embed/>
                </p:oleObj>
              </mc:Choice>
              <mc:Fallback>
                <p:oleObj name="Equation" r:id="rId5" imgW="2082600" imgH="8125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2350" y="4043363"/>
                        <a:ext cx="4559300" cy="177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64258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wipe(left)">
                                      <p:cBhvr>
                                        <p:cTn id="7" dur="500"/>
                                        <p:tgtEl>
                                          <p:spTgt spid="6349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3493"/>
                                        </p:tgtEl>
                                        <p:attrNameLst>
                                          <p:attrName>style.visibility</p:attrName>
                                        </p:attrNameLst>
                                      </p:cBhvr>
                                      <p:to>
                                        <p:strVal val="visible"/>
                                      </p:to>
                                    </p:set>
                                    <p:animEffect transition="in" filter="wipe(left)">
                                      <p:cBhvr>
                                        <p:cTn id="15" dur="5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15.5 	</a:t>
            </a:r>
            <a:r>
              <a:rPr lang="en-US" altLang="en-US" dirty="0" err="1" smtClean="0"/>
              <a:t>Hotelling’s</a:t>
            </a:r>
            <a:r>
              <a:rPr lang="en-US" altLang="en-US" dirty="0" smtClean="0"/>
              <a:t> Beach</a:t>
            </a:r>
          </a:p>
        </p:txBody>
      </p:sp>
      <p:sp>
        <p:nvSpPr>
          <p:cNvPr id="922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56C7FBC-9B9D-4121-8039-5F8C73A93B22}" type="slidenum">
              <a:rPr lang="en-US" smtClean="0"/>
              <a:pPr>
                <a:defRPr/>
              </a:pPr>
              <a:t>38</a:t>
            </a:fld>
            <a:endParaRPr lang="en-US" dirty="0"/>
          </a:p>
        </p:txBody>
      </p:sp>
      <mc:AlternateContent xmlns:mc="http://schemas.openxmlformats.org/markup-compatibility/2006">
        <mc:Choice xmlns:a14="http://schemas.microsoft.com/office/drawing/2010/main" Requires="a14">
          <p:sp>
            <p:nvSpPr>
              <p:cNvPr id="9221" name="Content Placeholder 2"/>
              <p:cNvSpPr>
                <a:spLocks noGrp="1"/>
              </p:cNvSpPr>
              <p:nvPr>
                <p:ph type="body" sz="quarter" idx="12"/>
              </p:nvPr>
            </p:nvSpPr>
            <p:spPr>
              <a:prstGeom prst="rect">
                <a:avLst/>
              </a:prstGeom>
            </p:spPr>
            <p:txBody>
              <a:bodyPr>
                <a:noAutofit/>
              </a:bodyPr>
              <a:lstStyle/>
              <a:p>
                <a:r>
                  <a:rPr lang="en-US" altLang="en-US" sz="3000" dirty="0" smtClean="0"/>
                  <a:t>Consumers 0 to x buy from A; the remaining L-x consumers buy from B. Their demands:</a:t>
                </a:r>
              </a:p>
              <a:p>
                <a:pPr marL="0" indent="0" algn="ctr">
                  <a:buNone/>
                </a:pPr>
                <a14:m>
                  <m:oMath xmlns:m="http://schemas.openxmlformats.org/officeDocument/2006/math">
                    <m:sSub>
                      <m:sSubPr>
                        <m:ctrlPr>
                          <a:rPr lang="en-US" altLang="en-US" sz="2800" b="0" i="1" smtClean="0">
                            <a:solidFill>
                              <a:srgbClr val="C00000"/>
                            </a:solidFill>
                            <a:latin typeface="Cambria Math"/>
                          </a:rPr>
                        </m:ctrlPr>
                      </m:sSubPr>
                      <m:e>
                        <m:r>
                          <a:rPr lang="en-US" altLang="en-US" sz="2800" b="0" i="1" smtClean="0">
                            <a:solidFill>
                              <a:srgbClr val="C00000"/>
                            </a:solidFill>
                            <a:latin typeface="Cambria Math"/>
                          </a:rPr>
                          <m:t>𝑞</m:t>
                        </m:r>
                      </m:e>
                      <m:sub>
                        <m:r>
                          <a:rPr lang="en-US" altLang="en-US" sz="2800" b="0" i="1" smtClean="0">
                            <a:solidFill>
                              <a:srgbClr val="C00000"/>
                            </a:solidFill>
                            <a:latin typeface="Cambria Math"/>
                          </a:rPr>
                          <m:t>𝐴</m:t>
                        </m:r>
                      </m:sub>
                    </m:sSub>
                    <m:r>
                      <a:rPr lang="en-US" altLang="en-US" sz="2800" b="0" i="1" smtClean="0">
                        <a:solidFill>
                          <a:srgbClr val="C00000"/>
                        </a:solidFill>
                        <a:latin typeface="Cambria Math"/>
                      </a:rPr>
                      <m:t>(</m:t>
                    </m:r>
                    <m:sSub>
                      <m:sSubPr>
                        <m:ctrlPr>
                          <a:rPr lang="en-US" altLang="en-US" sz="2800" b="0" i="1" smtClean="0">
                            <a:solidFill>
                              <a:srgbClr val="C00000"/>
                            </a:solidFill>
                            <a:latin typeface="Cambria Math"/>
                          </a:rPr>
                        </m:ctrlPr>
                      </m:sSubPr>
                      <m:e>
                        <m:r>
                          <a:rPr lang="en-US" altLang="en-US" sz="2800" b="0" i="1" smtClean="0">
                            <a:solidFill>
                              <a:srgbClr val="C00000"/>
                            </a:solidFill>
                            <a:latin typeface="Cambria Math"/>
                          </a:rPr>
                          <m:t>𝑝</m:t>
                        </m:r>
                      </m:e>
                      <m:sub>
                        <m:r>
                          <a:rPr lang="en-US" altLang="en-US" sz="2800" b="0" i="1" smtClean="0">
                            <a:solidFill>
                              <a:srgbClr val="C00000"/>
                            </a:solidFill>
                            <a:latin typeface="Cambria Math"/>
                          </a:rPr>
                          <m:t>𝐵</m:t>
                        </m:r>
                      </m:sub>
                    </m:sSub>
                    <m:r>
                      <a:rPr lang="en-US" altLang="en-US" sz="2800" b="0" i="1" smtClean="0">
                        <a:solidFill>
                          <a:srgbClr val="C00000"/>
                        </a:solidFill>
                        <a:latin typeface="Cambria Math"/>
                      </a:rPr>
                      <m:t>,</m:t>
                    </m:r>
                  </m:oMath>
                </a14:m>
                <a:r>
                  <a:rPr lang="en-US" altLang="en-US" sz="2800" dirty="0">
                    <a:solidFill>
                      <a:srgbClr val="C00000"/>
                    </a:solidFill>
                  </a:rPr>
                  <a:t> </a:t>
                </a:r>
                <a14:m>
                  <m:oMath xmlns:m="http://schemas.openxmlformats.org/officeDocument/2006/math">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b="0" i="1" smtClean="0">
                            <a:solidFill>
                              <a:srgbClr val="C00000"/>
                            </a:solidFill>
                            <a:latin typeface="Cambria Math"/>
                          </a:rPr>
                          <m:t>𝐴</m:t>
                        </m:r>
                      </m:sub>
                    </m:sSub>
                    <m:r>
                      <a:rPr lang="en-US" altLang="en-US" sz="2800" b="0" i="1" smtClean="0">
                        <a:solidFill>
                          <a:srgbClr val="C00000"/>
                        </a:solidFill>
                        <a:latin typeface="Cambria Math"/>
                      </a:rPr>
                      <m:t>, </m:t>
                    </m:r>
                    <m:r>
                      <a:rPr lang="en-US" altLang="en-US" sz="2800" b="0" i="1" smtClean="0">
                        <a:solidFill>
                          <a:srgbClr val="C00000"/>
                        </a:solidFill>
                        <a:latin typeface="Cambria Math"/>
                      </a:rPr>
                      <m:t>𝑎</m:t>
                    </m:r>
                    <m:r>
                      <a:rPr lang="en-US" altLang="en-US" sz="2800" b="0" i="1" smtClean="0">
                        <a:solidFill>
                          <a:srgbClr val="C00000"/>
                        </a:solidFill>
                        <a:latin typeface="Cambria Math"/>
                      </a:rPr>
                      <m:t>, </m:t>
                    </m:r>
                    <m:r>
                      <a:rPr lang="en-US" altLang="en-US" sz="2800" b="0" i="1" smtClean="0">
                        <a:solidFill>
                          <a:srgbClr val="C00000"/>
                        </a:solidFill>
                        <a:latin typeface="Cambria Math"/>
                      </a:rPr>
                      <m:t>𝑏</m:t>
                    </m:r>
                    <m:r>
                      <a:rPr lang="en-US" altLang="en-US" sz="2800" b="0" i="1" smtClean="0">
                        <a:solidFill>
                          <a:srgbClr val="C00000"/>
                        </a:solidFill>
                        <a:latin typeface="Cambria Math"/>
                      </a:rPr>
                      <m:t>)=</m:t>
                    </m:r>
                    <m:r>
                      <a:rPr lang="en-US" altLang="en-US" sz="2800" b="0" i="1" smtClean="0">
                        <a:solidFill>
                          <a:srgbClr val="C00000"/>
                        </a:solidFill>
                        <a:latin typeface="Cambria Math"/>
                      </a:rPr>
                      <m:t>𝑥</m:t>
                    </m:r>
                    <m:r>
                      <a:rPr lang="en-US" altLang="en-US" sz="2800" b="0" i="1" smtClean="0">
                        <a:solidFill>
                          <a:srgbClr val="C00000"/>
                        </a:solidFill>
                        <a:latin typeface="Cambria Math"/>
                      </a:rPr>
                      <m:t>=</m:t>
                    </m:r>
                    <m:f>
                      <m:fPr>
                        <m:ctrlPr>
                          <a:rPr lang="en-US" altLang="en-US" sz="2800" b="0" i="1" smtClean="0">
                            <a:solidFill>
                              <a:srgbClr val="C00000"/>
                            </a:solidFill>
                            <a:latin typeface="Cambria Math"/>
                          </a:rPr>
                        </m:ctrlPr>
                      </m:fPr>
                      <m:num>
                        <m:r>
                          <a:rPr lang="en-US" altLang="en-US" sz="2800" b="0" i="1" smtClean="0">
                            <a:solidFill>
                              <a:srgbClr val="C00000"/>
                            </a:solidFill>
                            <a:latin typeface="Cambria Math"/>
                          </a:rPr>
                          <m:t>𝑏</m:t>
                        </m:r>
                        <m:r>
                          <a:rPr lang="en-US" altLang="en-US" sz="2800" b="0" i="1" smtClean="0">
                            <a:solidFill>
                              <a:srgbClr val="C00000"/>
                            </a:solidFill>
                            <a:latin typeface="Cambria Math"/>
                          </a:rPr>
                          <m:t>+</m:t>
                        </m:r>
                        <m:r>
                          <a:rPr lang="en-US" altLang="en-US" sz="2800" b="0" i="1" smtClean="0">
                            <a:solidFill>
                              <a:srgbClr val="C00000"/>
                            </a:solidFill>
                            <a:latin typeface="Cambria Math"/>
                          </a:rPr>
                          <m:t>𝑎</m:t>
                        </m:r>
                      </m:num>
                      <m:den>
                        <m:r>
                          <a:rPr lang="en-US" altLang="en-US" sz="2800" b="0" i="1" smtClean="0">
                            <a:solidFill>
                              <a:srgbClr val="C00000"/>
                            </a:solidFill>
                            <a:latin typeface="Cambria Math"/>
                          </a:rPr>
                          <m:t>2</m:t>
                        </m:r>
                      </m:den>
                    </m:f>
                    <m:r>
                      <a:rPr lang="en-US" altLang="en-US" sz="2800" b="0" i="1" smtClean="0">
                        <a:solidFill>
                          <a:srgbClr val="C00000"/>
                        </a:solidFill>
                        <a:latin typeface="Cambria Math"/>
                      </a:rPr>
                      <m:t>+</m:t>
                    </m:r>
                    <m:f>
                      <m:fPr>
                        <m:ctrlPr>
                          <a:rPr lang="en-US" altLang="en-US" sz="2800" b="0" i="1" smtClean="0">
                            <a:solidFill>
                              <a:srgbClr val="C00000"/>
                            </a:solidFill>
                            <a:latin typeface="Cambria Math"/>
                          </a:rPr>
                        </m:ctrlPr>
                      </m:fPr>
                      <m:num>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i="1">
                                <a:solidFill>
                                  <a:srgbClr val="C00000"/>
                                </a:solidFill>
                                <a:latin typeface="Cambria Math"/>
                              </a:rPr>
                              <m:t>𝐵</m:t>
                            </m:r>
                          </m:sub>
                        </m:sSub>
                        <m:r>
                          <a:rPr lang="en-US" altLang="en-US" sz="2800" b="0" i="1" smtClean="0">
                            <a:solidFill>
                              <a:srgbClr val="C00000"/>
                            </a:solidFill>
                            <a:latin typeface="Cambria Math"/>
                          </a:rPr>
                          <m:t>−</m:t>
                        </m:r>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b="0" i="1" smtClean="0">
                                <a:solidFill>
                                  <a:srgbClr val="C00000"/>
                                </a:solidFill>
                                <a:latin typeface="Cambria Math"/>
                              </a:rPr>
                              <m:t>𝐴</m:t>
                            </m:r>
                          </m:sub>
                        </m:sSub>
                      </m:num>
                      <m:den>
                        <m:r>
                          <a:rPr lang="en-US" altLang="en-US" sz="2800" b="0" i="1" smtClean="0">
                            <a:solidFill>
                              <a:srgbClr val="C00000"/>
                            </a:solidFill>
                            <a:latin typeface="Cambria Math"/>
                          </a:rPr>
                          <m:t>2</m:t>
                        </m:r>
                        <m:r>
                          <a:rPr lang="en-US" altLang="en-US" sz="2800" b="0" i="1" smtClean="0">
                            <a:solidFill>
                              <a:srgbClr val="C00000"/>
                            </a:solidFill>
                            <a:latin typeface="Cambria Math"/>
                          </a:rPr>
                          <m:t>𝑡</m:t>
                        </m:r>
                        <m:r>
                          <a:rPr lang="en-US" altLang="en-US" sz="2800" b="0" i="1" smtClean="0">
                            <a:solidFill>
                              <a:srgbClr val="C00000"/>
                            </a:solidFill>
                            <a:latin typeface="Cambria Math"/>
                          </a:rPr>
                          <m:t>(</m:t>
                        </m:r>
                        <m:r>
                          <a:rPr lang="en-US" altLang="en-US" sz="2800" b="0" i="1" smtClean="0">
                            <a:solidFill>
                              <a:srgbClr val="C00000"/>
                            </a:solidFill>
                            <a:latin typeface="Cambria Math"/>
                          </a:rPr>
                          <m:t>𝑏</m:t>
                        </m:r>
                        <m:r>
                          <a:rPr lang="en-US" altLang="en-US" sz="2800" b="0" i="1" smtClean="0">
                            <a:solidFill>
                              <a:srgbClr val="C00000"/>
                            </a:solidFill>
                            <a:latin typeface="Cambria Math"/>
                          </a:rPr>
                          <m:t>−</m:t>
                        </m:r>
                        <m:r>
                          <a:rPr lang="en-US" altLang="en-US" sz="2800" b="0" i="1" smtClean="0">
                            <a:solidFill>
                              <a:srgbClr val="C00000"/>
                            </a:solidFill>
                            <a:latin typeface="Cambria Math"/>
                          </a:rPr>
                          <m:t>𝑎</m:t>
                        </m:r>
                        <m:r>
                          <a:rPr lang="en-US" altLang="en-US" sz="2800" b="0" i="1" smtClean="0">
                            <a:solidFill>
                              <a:srgbClr val="C00000"/>
                            </a:solidFill>
                            <a:latin typeface="Cambria Math"/>
                          </a:rPr>
                          <m:t>)</m:t>
                        </m:r>
                      </m:den>
                    </m:f>
                  </m:oMath>
                </a14:m>
                <a:endParaRPr lang="en-US" altLang="en-US" sz="2800" b="0" dirty="0" smtClean="0">
                  <a:solidFill>
                    <a:srgbClr val="C00000"/>
                  </a:solidFill>
                </a:endParaRPr>
              </a:p>
              <a:p>
                <a:pPr marL="0" indent="0" algn="ctr">
                  <a:buNone/>
                </a:pPr>
                <a14:m>
                  <m:oMath xmlns:m="http://schemas.openxmlformats.org/officeDocument/2006/math">
                    <m:sSub>
                      <m:sSubPr>
                        <m:ctrlPr>
                          <a:rPr lang="en-US" altLang="en-US" sz="2800" i="1">
                            <a:solidFill>
                              <a:srgbClr val="C00000"/>
                            </a:solidFill>
                            <a:latin typeface="Cambria Math"/>
                          </a:rPr>
                        </m:ctrlPr>
                      </m:sSubPr>
                      <m:e>
                        <m:r>
                          <a:rPr lang="en-US" altLang="en-US" sz="2800" i="1">
                            <a:solidFill>
                              <a:srgbClr val="C00000"/>
                            </a:solidFill>
                            <a:latin typeface="Cambria Math"/>
                          </a:rPr>
                          <m:t>𝑞</m:t>
                        </m:r>
                      </m:e>
                      <m:sub>
                        <m:r>
                          <a:rPr lang="en-US" altLang="en-US" sz="2800" b="0" i="1" smtClean="0">
                            <a:solidFill>
                              <a:srgbClr val="C00000"/>
                            </a:solidFill>
                            <a:latin typeface="Cambria Math"/>
                          </a:rPr>
                          <m:t>𝐵</m:t>
                        </m:r>
                      </m:sub>
                    </m:sSub>
                    <m:r>
                      <a:rPr lang="en-US" altLang="en-US" sz="2800" i="1">
                        <a:solidFill>
                          <a:srgbClr val="C00000"/>
                        </a:solidFill>
                        <a:latin typeface="Cambria Math"/>
                      </a:rPr>
                      <m:t>(</m:t>
                    </m:r>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i="1">
                            <a:solidFill>
                              <a:srgbClr val="C00000"/>
                            </a:solidFill>
                            <a:latin typeface="Cambria Math"/>
                          </a:rPr>
                          <m:t>𝐵</m:t>
                        </m:r>
                      </m:sub>
                    </m:sSub>
                    <m:r>
                      <a:rPr lang="en-US" altLang="en-US" sz="2800" i="1">
                        <a:solidFill>
                          <a:srgbClr val="C00000"/>
                        </a:solidFill>
                        <a:latin typeface="Cambria Math"/>
                      </a:rPr>
                      <m:t>,</m:t>
                    </m:r>
                  </m:oMath>
                </a14:m>
                <a:r>
                  <a:rPr lang="en-US" altLang="en-US" sz="2800" dirty="0">
                    <a:solidFill>
                      <a:srgbClr val="C00000"/>
                    </a:solidFill>
                  </a:rPr>
                  <a:t> </a:t>
                </a:r>
                <a14:m>
                  <m:oMath xmlns:m="http://schemas.openxmlformats.org/officeDocument/2006/math">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i="1">
                            <a:solidFill>
                              <a:srgbClr val="C00000"/>
                            </a:solidFill>
                            <a:latin typeface="Cambria Math"/>
                          </a:rPr>
                          <m:t>𝐴</m:t>
                        </m:r>
                      </m:sub>
                    </m:sSub>
                    <m:r>
                      <a:rPr lang="en-US" altLang="en-US" sz="2800" i="1">
                        <a:solidFill>
                          <a:srgbClr val="C00000"/>
                        </a:solidFill>
                        <a:latin typeface="Cambria Math"/>
                      </a:rPr>
                      <m:t>, </m:t>
                    </m:r>
                    <m:r>
                      <a:rPr lang="en-US" altLang="en-US" sz="2800" b="0" i="1" smtClean="0">
                        <a:solidFill>
                          <a:srgbClr val="C00000"/>
                        </a:solidFill>
                        <a:latin typeface="Cambria Math"/>
                      </a:rPr>
                      <m:t>𝑏</m:t>
                    </m:r>
                    <m:r>
                      <a:rPr lang="en-US" altLang="en-US" sz="2800" i="1">
                        <a:solidFill>
                          <a:srgbClr val="C00000"/>
                        </a:solidFill>
                        <a:latin typeface="Cambria Math"/>
                      </a:rPr>
                      <m:t>, </m:t>
                    </m:r>
                    <m:r>
                      <a:rPr lang="en-US" altLang="en-US" sz="2800" b="0" i="1" smtClean="0">
                        <a:solidFill>
                          <a:srgbClr val="C00000"/>
                        </a:solidFill>
                        <a:latin typeface="Cambria Math"/>
                      </a:rPr>
                      <m:t>𝑎</m:t>
                    </m:r>
                    <m:r>
                      <a:rPr lang="en-US" altLang="en-US" sz="2800" i="1">
                        <a:solidFill>
                          <a:srgbClr val="C00000"/>
                        </a:solidFill>
                        <a:latin typeface="Cambria Math"/>
                      </a:rPr>
                      <m:t>)=</m:t>
                    </m:r>
                    <m:r>
                      <a:rPr lang="en-US" altLang="en-US" sz="2800" b="0" i="1" smtClean="0">
                        <a:solidFill>
                          <a:srgbClr val="C00000"/>
                        </a:solidFill>
                        <a:latin typeface="Cambria Math"/>
                      </a:rPr>
                      <m:t>𝐿</m:t>
                    </m:r>
                    <m:r>
                      <a:rPr lang="en-US" altLang="en-US" sz="2800" b="0" i="1" smtClean="0">
                        <a:solidFill>
                          <a:srgbClr val="C00000"/>
                        </a:solidFill>
                        <a:latin typeface="Cambria Math"/>
                      </a:rPr>
                      <m:t>−</m:t>
                    </m:r>
                    <m:r>
                      <a:rPr lang="en-US" altLang="en-US" sz="2800" i="1">
                        <a:solidFill>
                          <a:srgbClr val="C00000"/>
                        </a:solidFill>
                        <a:latin typeface="Cambria Math"/>
                      </a:rPr>
                      <m:t>𝑥</m:t>
                    </m:r>
                    <m:r>
                      <a:rPr lang="en-US" altLang="en-US" sz="2800" i="1">
                        <a:solidFill>
                          <a:srgbClr val="C00000"/>
                        </a:solidFill>
                        <a:latin typeface="Cambria Math"/>
                      </a:rPr>
                      <m:t>=</m:t>
                    </m:r>
                    <m:r>
                      <a:rPr lang="en-US" altLang="en-US" sz="2800" b="0" i="1" smtClean="0">
                        <a:solidFill>
                          <a:srgbClr val="C00000"/>
                        </a:solidFill>
                        <a:latin typeface="Cambria Math"/>
                      </a:rPr>
                      <m:t>𝐿</m:t>
                    </m:r>
                    <m:r>
                      <a:rPr lang="en-US" altLang="en-US" sz="2800" b="0" i="1" smtClean="0">
                        <a:solidFill>
                          <a:srgbClr val="C00000"/>
                        </a:solidFill>
                        <a:latin typeface="Cambria Math"/>
                      </a:rPr>
                      <m:t>−</m:t>
                    </m:r>
                    <m:f>
                      <m:fPr>
                        <m:ctrlPr>
                          <a:rPr lang="en-US" altLang="en-US" sz="2800" i="1">
                            <a:solidFill>
                              <a:srgbClr val="C00000"/>
                            </a:solidFill>
                            <a:latin typeface="Cambria Math"/>
                          </a:rPr>
                        </m:ctrlPr>
                      </m:fPr>
                      <m:num>
                        <m:r>
                          <a:rPr lang="en-US" altLang="en-US" sz="2800" i="1">
                            <a:solidFill>
                              <a:srgbClr val="C00000"/>
                            </a:solidFill>
                            <a:latin typeface="Cambria Math"/>
                          </a:rPr>
                          <m:t>𝑏</m:t>
                        </m:r>
                        <m:r>
                          <a:rPr lang="en-US" altLang="en-US" sz="2800" i="1">
                            <a:solidFill>
                              <a:srgbClr val="C00000"/>
                            </a:solidFill>
                            <a:latin typeface="Cambria Math"/>
                          </a:rPr>
                          <m:t>+</m:t>
                        </m:r>
                        <m:r>
                          <a:rPr lang="en-US" altLang="en-US" sz="2800" i="1">
                            <a:solidFill>
                              <a:srgbClr val="C00000"/>
                            </a:solidFill>
                            <a:latin typeface="Cambria Math"/>
                          </a:rPr>
                          <m:t>𝑎</m:t>
                        </m:r>
                      </m:num>
                      <m:den>
                        <m:r>
                          <a:rPr lang="en-US" altLang="en-US" sz="2800" i="1">
                            <a:solidFill>
                              <a:srgbClr val="C00000"/>
                            </a:solidFill>
                            <a:latin typeface="Cambria Math"/>
                          </a:rPr>
                          <m:t>2</m:t>
                        </m:r>
                      </m:den>
                    </m:f>
                    <m:r>
                      <a:rPr lang="en-US" altLang="en-US" sz="2800" b="0" i="1" smtClean="0">
                        <a:solidFill>
                          <a:srgbClr val="C00000"/>
                        </a:solidFill>
                        <a:latin typeface="Cambria Math"/>
                      </a:rPr>
                      <m:t>+</m:t>
                    </m:r>
                    <m:f>
                      <m:fPr>
                        <m:ctrlPr>
                          <a:rPr lang="en-US" altLang="en-US" sz="2800" i="1">
                            <a:solidFill>
                              <a:srgbClr val="C00000"/>
                            </a:solidFill>
                            <a:latin typeface="Cambria Math"/>
                          </a:rPr>
                        </m:ctrlPr>
                      </m:fPr>
                      <m:num>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b="0" i="1" smtClean="0">
                                <a:solidFill>
                                  <a:srgbClr val="C00000"/>
                                </a:solidFill>
                                <a:latin typeface="Cambria Math"/>
                              </a:rPr>
                              <m:t>𝐴</m:t>
                            </m:r>
                          </m:sub>
                        </m:sSub>
                        <m:r>
                          <a:rPr lang="en-US" altLang="en-US" sz="2800" i="1">
                            <a:solidFill>
                              <a:srgbClr val="C00000"/>
                            </a:solidFill>
                            <a:latin typeface="Cambria Math"/>
                          </a:rPr>
                          <m:t>−</m:t>
                        </m:r>
                        <m:sSub>
                          <m:sSubPr>
                            <m:ctrlPr>
                              <a:rPr lang="en-US" altLang="en-US" sz="2800" i="1">
                                <a:solidFill>
                                  <a:srgbClr val="C00000"/>
                                </a:solidFill>
                                <a:latin typeface="Cambria Math"/>
                              </a:rPr>
                            </m:ctrlPr>
                          </m:sSubPr>
                          <m:e>
                            <m:r>
                              <a:rPr lang="en-US" altLang="en-US" sz="2800" i="1">
                                <a:solidFill>
                                  <a:srgbClr val="C00000"/>
                                </a:solidFill>
                                <a:latin typeface="Cambria Math"/>
                              </a:rPr>
                              <m:t>𝑝</m:t>
                            </m:r>
                          </m:e>
                          <m:sub>
                            <m:r>
                              <a:rPr lang="en-US" altLang="en-US" sz="2800" b="0" i="1" smtClean="0">
                                <a:solidFill>
                                  <a:srgbClr val="C00000"/>
                                </a:solidFill>
                                <a:latin typeface="Cambria Math"/>
                              </a:rPr>
                              <m:t>𝐵</m:t>
                            </m:r>
                          </m:sub>
                        </m:sSub>
                      </m:num>
                      <m:den>
                        <m:r>
                          <a:rPr lang="en-US" altLang="en-US" sz="2800" i="1">
                            <a:solidFill>
                              <a:srgbClr val="C00000"/>
                            </a:solidFill>
                            <a:latin typeface="Cambria Math"/>
                          </a:rPr>
                          <m:t>2</m:t>
                        </m:r>
                        <m:r>
                          <a:rPr lang="en-US" altLang="en-US" sz="2800" i="1">
                            <a:solidFill>
                              <a:srgbClr val="C00000"/>
                            </a:solidFill>
                            <a:latin typeface="Cambria Math"/>
                          </a:rPr>
                          <m:t>𝑡</m:t>
                        </m:r>
                        <m:r>
                          <a:rPr lang="en-US" altLang="en-US" sz="2800" i="1">
                            <a:solidFill>
                              <a:srgbClr val="C00000"/>
                            </a:solidFill>
                            <a:latin typeface="Cambria Math"/>
                          </a:rPr>
                          <m:t>(</m:t>
                        </m:r>
                        <m:r>
                          <a:rPr lang="en-US" altLang="en-US" sz="2800" i="1">
                            <a:solidFill>
                              <a:srgbClr val="C00000"/>
                            </a:solidFill>
                            <a:latin typeface="Cambria Math"/>
                          </a:rPr>
                          <m:t>𝑏</m:t>
                        </m:r>
                        <m:r>
                          <a:rPr lang="en-US" altLang="en-US" sz="2800" i="1">
                            <a:solidFill>
                              <a:srgbClr val="C00000"/>
                            </a:solidFill>
                            <a:latin typeface="Cambria Math"/>
                          </a:rPr>
                          <m:t>−</m:t>
                        </m:r>
                        <m:r>
                          <a:rPr lang="en-US" altLang="en-US" sz="2800" i="1">
                            <a:solidFill>
                              <a:srgbClr val="C00000"/>
                            </a:solidFill>
                            <a:latin typeface="Cambria Math"/>
                          </a:rPr>
                          <m:t>𝑎</m:t>
                        </m:r>
                        <m:r>
                          <a:rPr lang="en-US" altLang="en-US" sz="2800" i="1">
                            <a:solidFill>
                              <a:srgbClr val="C00000"/>
                            </a:solidFill>
                            <a:latin typeface="Cambria Math"/>
                          </a:rPr>
                          <m:t>)</m:t>
                        </m:r>
                      </m:den>
                    </m:f>
                  </m:oMath>
                </a14:m>
                <a:endParaRPr lang="en-US" altLang="en-US" sz="2800" dirty="0">
                  <a:solidFill>
                    <a:srgbClr val="C00000"/>
                  </a:solidFill>
                </a:endParaRPr>
              </a:p>
              <a:p>
                <a:r>
                  <a:rPr lang="en-US" altLang="en-US" sz="3000" dirty="0" smtClean="0"/>
                  <a:t>Nash equilibrium:</a:t>
                </a:r>
              </a:p>
              <a:p>
                <a:pPr marL="0" indent="0">
                  <a:buNone/>
                </a:pPr>
                <a14:m>
                  <m:oMath xmlns:m="http://schemas.openxmlformats.org/officeDocument/2006/math">
                    <m:sSubSup>
                      <m:sSubSupPr>
                        <m:ctrlPr>
                          <a:rPr lang="en-US" altLang="en-US" sz="2400" i="1" smtClean="0">
                            <a:solidFill>
                              <a:srgbClr val="C00000"/>
                            </a:solidFill>
                            <a:latin typeface="Cambria Math"/>
                          </a:rPr>
                        </m:ctrlPr>
                      </m:sSubSupPr>
                      <m:e>
                        <m:sSup>
                          <m:sSupPr>
                            <m:ctrlPr>
                              <a:rPr lang="en-US" altLang="en-US" sz="2400" i="1">
                                <a:solidFill>
                                  <a:srgbClr val="C00000"/>
                                </a:solidFill>
                                <a:latin typeface="Cambria Math"/>
                              </a:rPr>
                            </m:ctrlPr>
                          </m:sSupPr>
                          <m:e>
                            <m:r>
                              <a:rPr lang="en-US" altLang="en-US" sz="2400" i="1">
                                <a:solidFill>
                                  <a:srgbClr val="C00000"/>
                                </a:solidFill>
                                <a:latin typeface="Cambria Math"/>
                              </a:rPr>
                              <m:t>𝑝</m:t>
                            </m:r>
                          </m:e>
                          <m:sup>
                            <m:r>
                              <a:rPr lang="en-US" altLang="en-US" sz="2400" i="1">
                                <a:solidFill>
                                  <a:srgbClr val="C00000"/>
                                </a:solidFill>
                                <a:latin typeface="Cambria Math"/>
                              </a:rPr>
                              <m:t>∗</m:t>
                            </m:r>
                          </m:sup>
                        </m:sSup>
                      </m:e>
                      <m:sub>
                        <m:r>
                          <a:rPr lang="en-US" altLang="en-US" sz="2400" b="0" i="1" smtClean="0">
                            <a:solidFill>
                              <a:srgbClr val="C00000"/>
                            </a:solidFill>
                            <a:latin typeface="Cambria Math"/>
                          </a:rPr>
                          <m:t>𝐴</m:t>
                        </m:r>
                      </m:sub>
                      <m:sup/>
                    </m:sSubSup>
                    <m:r>
                      <a:rPr lang="en-US" altLang="en-US" sz="2400" b="0" i="0" smtClean="0">
                        <a:solidFill>
                          <a:srgbClr val="C00000"/>
                        </a:solidFill>
                        <a:latin typeface="Cambria Math"/>
                      </a:rPr>
                      <m:t>=</m:t>
                    </m:r>
                    <m:f>
                      <m:fPr>
                        <m:ctrlPr>
                          <a:rPr lang="en-US" altLang="en-US" sz="2400" b="0" i="1" smtClean="0">
                            <a:solidFill>
                              <a:srgbClr val="C00000"/>
                            </a:solidFill>
                            <a:latin typeface="Cambria Math"/>
                          </a:rPr>
                        </m:ctrlPr>
                      </m:fPr>
                      <m:num>
                        <m:r>
                          <a:rPr lang="en-US" altLang="en-US" sz="2400" b="0" i="1" smtClean="0">
                            <a:solidFill>
                              <a:srgbClr val="C00000"/>
                            </a:solidFill>
                            <a:latin typeface="Cambria Math"/>
                          </a:rPr>
                          <m:t>𝑡</m:t>
                        </m:r>
                      </m:num>
                      <m:den>
                        <m:r>
                          <a:rPr lang="en-US" altLang="en-US" sz="2400" b="0" i="1" smtClean="0">
                            <a:solidFill>
                              <a:srgbClr val="C00000"/>
                            </a:solidFill>
                            <a:latin typeface="Cambria Math"/>
                          </a:rPr>
                          <m:t>3</m:t>
                        </m:r>
                      </m:den>
                    </m:f>
                    <m:d>
                      <m:dPr>
                        <m:ctrlPr>
                          <a:rPr lang="en-US" altLang="en-US" sz="2400" b="0" i="1" smtClean="0">
                            <a:solidFill>
                              <a:srgbClr val="C00000"/>
                            </a:solidFill>
                            <a:latin typeface="Cambria Math"/>
                          </a:rPr>
                        </m:ctrlPr>
                      </m:dPr>
                      <m:e>
                        <m:r>
                          <a:rPr lang="en-US" altLang="en-US" sz="2400" b="0" i="1" smtClean="0">
                            <a:solidFill>
                              <a:srgbClr val="C00000"/>
                            </a:solidFill>
                            <a:latin typeface="Cambria Math"/>
                          </a:rPr>
                          <m:t>𝑏</m:t>
                        </m:r>
                        <m:r>
                          <a:rPr lang="en-US" altLang="en-US" sz="2400" b="0" i="1" smtClean="0">
                            <a:solidFill>
                              <a:srgbClr val="C00000"/>
                            </a:solidFill>
                            <a:latin typeface="Cambria Math"/>
                          </a:rPr>
                          <m:t>−</m:t>
                        </m:r>
                        <m:r>
                          <a:rPr lang="en-US" altLang="en-US" sz="2400" b="0" i="1" smtClean="0">
                            <a:solidFill>
                              <a:srgbClr val="C00000"/>
                            </a:solidFill>
                            <a:latin typeface="Cambria Math"/>
                          </a:rPr>
                          <m:t>𝑎</m:t>
                        </m:r>
                      </m:e>
                    </m:d>
                    <m:d>
                      <m:dPr>
                        <m:ctrlPr>
                          <a:rPr lang="en-US" altLang="en-US" sz="2400" b="0" i="1" smtClean="0">
                            <a:solidFill>
                              <a:srgbClr val="C00000"/>
                            </a:solidFill>
                            <a:latin typeface="Cambria Math"/>
                          </a:rPr>
                        </m:ctrlPr>
                      </m:dPr>
                      <m:e>
                        <m:r>
                          <a:rPr lang="en-US" altLang="en-US" sz="2400" b="0" i="1" smtClean="0">
                            <a:solidFill>
                              <a:srgbClr val="C00000"/>
                            </a:solidFill>
                            <a:latin typeface="Cambria Math"/>
                          </a:rPr>
                          <m:t>2</m:t>
                        </m:r>
                        <m:r>
                          <a:rPr lang="en-US" altLang="en-US" sz="2400" b="0" i="1" smtClean="0">
                            <a:solidFill>
                              <a:srgbClr val="C00000"/>
                            </a:solidFill>
                            <a:latin typeface="Cambria Math"/>
                          </a:rPr>
                          <m:t>𝐿</m:t>
                        </m:r>
                        <m:r>
                          <a:rPr lang="en-US" altLang="en-US" sz="2400" b="0" i="1" smtClean="0">
                            <a:solidFill>
                              <a:srgbClr val="C00000"/>
                            </a:solidFill>
                            <a:latin typeface="Cambria Math"/>
                          </a:rPr>
                          <m:t>+</m:t>
                        </m:r>
                        <m:r>
                          <a:rPr lang="en-US" altLang="en-US" sz="2400" b="0" i="1" smtClean="0">
                            <a:solidFill>
                              <a:srgbClr val="C00000"/>
                            </a:solidFill>
                            <a:latin typeface="Cambria Math"/>
                          </a:rPr>
                          <m:t>𝑎</m:t>
                        </m:r>
                        <m:r>
                          <a:rPr lang="en-US" altLang="en-US" sz="2400" b="0" i="1" smtClean="0">
                            <a:solidFill>
                              <a:srgbClr val="C00000"/>
                            </a:solidFill>
                            <a:latin typeface="Cambria Math"/>
                          </a:rPr>
                          <m:t>+</m:t>
                        </m:r>
                        <m:r>
                          <a:rPr lang="en-US" altLang="en-US" sz="2400" b="0" i="1" smtClean="0">
                            <a:solidFill>
                              <a:srgbClr val="C00000"/>
                            </a:solidFill>
                            <a:latin typeface="Cambria Math"/>
                          </a:rPr>
                          <m:t>𝑏</m:t>
                        </m:r>
                      </m:e>
                    </m:d>
                  </m:oMath>
                </a14:m>
                <a:r>
                  <a:rPr lang="en-US" altLang="en-US" sz="2400" b="0" dirty="0" smtClean="0">
                    <a:solidFill>
                      <a:srgbClr val="C00000"/>
                    </a:solidFill>
                  </a:rPr>
                  <a:t> </a:t>
                </a:r>
                <a:r>
                  <a:rPr lang="en-US" altLang="en-US" sz="2400" b="0" dirty="0" smtClean="0">
                    <a:solidFill>
                      <a:schemeClr val="tx1"/>
                    </a:solidFill>
                  </a:rPr>
                  <a:t>and</a:t>
                </a:r>
                <a:r>
                  <a:rPr lang="en-US" altLang="en-US" sz="2400" b="0" dirty="0" smtClean="0">
                    <a:solidFill>
                      <a:srgbClr val="C00000"/>
                    </a:solidFill>
                  </a:rPr>
                  <a:t>   </a:t>
                </a:r>
                <a14:m>
                  <m:oMath xmlns:m="http://schemas.openxmlformats.org/officeDocument/2006/math">
                    <m:sSubSup>
                      <m:sSubSupPr>
                        <m:ctrlPr>
                          <a:rPr lang="en-US" altLang="en-US" sz="2400" i="1">
                            <a:solidFill>
                              <a:srgbClr val="C00000"/>
                            </a:solidFill>
                            <a:latin typeface="Cambria Math"/>
                          </a:rPr>
                        </m:ctrlPr>
                      </m:sSubSupPr>
                      <m:e>
                        <m:sSup>
                          <m:sSupPr>
                            <m:ctrlPr>
                              <a:rPr lang="en-US" altLang="en-US" sz="2400" i="1">
                                <a:solidFill>
                                  <a:srgbClr val="C00000"/>
                                </a:solidFill>
                                <a:latin typeface="Cambria Math"/>
                              </a:rPr>
                            </m:ctrlPr>
                          </m:sSupPr>
                          <m:e>
                            <m:r>
                              <a:rPr lang="en-US" altLang="en-US" sz="2400" i="1">
                                <a:solidFill>
                                  <a:srgbClr val="C00000"/>
                                </a:solidFill>
                                <a:latin typeface="Cambria Math"/>
                              </a:rPr>
                              <m:t>𝑝</m:t>
                            </m:r>
                          </m:e>
                          <m:sup>
                            <m:r>
                              <a:rPr lang="en-US" altLang="en-US" sz="2400" i="1">
                                <a:solidFill>
                                  <a:srgbClr val="C00000"/>
                                </a:solidFill>
                                <a:latin typeface="Cambria Math"/>
                              </a:rPr>
                              <m:t>∗</m:t>
                            </m:r>
                          </m:sup>
                        </m:sSup>
                      </m:e>
                      <m:sub>
                        <m:r>
                          <a:rPr lang="en-US" altLang="en-US" sz="2400" b="0" i="1" smtClean="0">
                            <a:solidFill>
                              <a:srgbClr val="C00000"/>
                            </a:solidFill>
                            <a:latin typeface="Cambria Math"/>
                          </a:rPr>
                          <m:t>𝐵</m:t>
                        </m:r>
                      </m:sub>
                      <m:sup/>
                    </m:sSubSup>
                    <m:r>
                      <a:rPr lang="en-US" altLang="en-US" sz="2400">
                        <a:solidFill>
                          <a:srgbClr val="C00000"/>
                        </a:solidFill>
                        <a:latin typeface="Cambria Math"/>
                      </a:rPr>
                      <m:t>=</m:t>
                    </m:r>
                    <m:f>
                      <m:fPr>
                        <m:ctrlPr>
                          <a:rPr lang="en-US" altLang="en-US" sz="2400" i="1">
                            <a:solidFill>
                              <a:srgbClr val="C00000"/>
                            </a:solidFill>
                            <a:latin typeface="Cambria Math"/>
                          </a:rPr>
                        </m:ctrlPr>
                      </m:fPr>
                      <m:num>
                        <m:r>
                          <a:rPr lang="en-US" altLang="en-US" sz="2400" i="1">
                            <a:solidFill>
                              <a:srgbClr val="C00000"/>
                            </a:solidFill>
                            <a:latin typeface="Cambria Math"/>
                          </a:rPr>
                          <m:t>𝑡</m:t>
                        </m:r>
                      </m:num>
                      <m:den>
                        <m:r>
                          <a:rPr lang="en-US" altLang="en-US" sz="2400" i="1">
                            <a:solidFill>
                              <a:srgbClr val="C00000"/>
                            </a:solidFill>
                            <a:latin typeface="Cambria Math"/>
                          </a:rPr>
                          <m:t>3</m:t>
                        </m:r>
                      </m:den>
                    </m:f>
                    <m:d>
                      <m:dPr>
                        <m:ctrlPr>
                          <a:rPr lang="en-US" altLang="en-US" sz="2400" i="1">
                            <a:solidFill>
                              <a:srgbClr val="C00000"/>
                            </a:solidFill>
                            <a:latin typeface="Cambria Math"/>
                          </a:rPr>
                        </m:ctrlPr>
                      </m:dPr>
                      <m:e>
                        <m:r>
                          <a:rPr lang="en-US" altLang="en-US" sz="2400" i="1">
                            <a:solidFill>
                              <a:srgbClr val="C00000"/>
                            </a:solidFill>
                            <a:latin typeface="Cambria Math"/>
                          </a:rPr>
                          <m:t>𝑏</m:t>
                        </m:r>
                        <m:r>
                          <a:rPr lang="en-US" altLang="en-US" sz="2400" i="1">
                            <a:solidFill>
                              <a:srgbClr val="C00000"/>
                            </a:solidFill>
                            <a:latin typeface="Cambria Math"/>
                          </a:rPr>
                          <m:t>−</m:t>
                        </m:r>
                        <m:r>
                          <a:rPr lang="en-US" altLang="en-US" sz="2400" i="1">
                            <a:solidFill>
                              <a:srgbClr val="C00000"/>
                            </a:solidFill>
                            <a:latin typeface="Cambria Math"/>
                          </a:rPr>
                          <m:t>𝑎</m:t>
                        </m:r>
                      </m:e>
                    </m:d>
                    <m:d>
                      <m:dPr>
                        <m:ctrlPr>
                          <a:rPr lang="en-US" altLang="en-US" sz="2400" i="1">
                            <a:solidFill>
                              <a:srgbClr val="C00000"/>
                            </a:solidFill>
                            <a:latin typeface="Cambria Math"/>
                          </a:rPr>
                        </m:ctrlPr>
                      </m:dPr>
                      <m:e>
                        <m:r>
                          <a:rPr lang="en-US" altLang="en-US" sz="2400" b="0" i="1" smtClean="0">
                            <a:solidFill>
                              <a:srgbClr val="C00000"/>
                            </a:solidFill>
                            <a:latin typeface="Cambria Math"/>
                          </a:rPr>
                          <m:t>4</m:t>
                        </m:r>
                        <m:r>
                          <a:rPr lang="en-US" altLang="en-US" sz="2400" i="1">
                            <a:solidFill>
                              <a:srgbClr val="C00000"/>
                            </a:solidFill>
                            <a:latin typeface="Cambria Math"/>
                          </a:rPr>
                          <m:t>𝐿</m:t>
                        </m:r>
                        <m:r>
                          <a:rPr lang="en-US" altLang="en-US" sz="2400" b="0" i="1" smtClean="0">
                            <a:solidFill>
                              <a:srgbClr val="C00000"/>
                            </a:solidFill>
                            <a:latin typeface="Cambria Math"/>
                          </a:rPr>
                          <m:t>−</m:t>
                        </m:r>
                        <m:r>
                          <a:rPr lang="en-US" altLang="en-US" sz="2400" i="1">
                            <a:solidFill>
                              <a:srgbClr val="C00000"/>
                            </a:solidFill>
                            <a:latin typeface="Cambria Math"/>
                          </a:rPr>
                          <m:t>𝑎</m:t>
                        </m:r>
                        <m:r>
                          <a:rPr lang="en-US" altLang="en-US" sz="2400" b="0" i="1" smtClean="0">
                            <a:solidFill>
                              <a:srgbClr val="C00000"/>
                            </a:solidFill>
                            <a:latin typeface="Cambria Math"/>
                          </a:rPr>
                          <m:t>−</m:t>
                        </m:r>
                        <m:r>
                          <a:rPr lang="en-US" altLang="en-US" sz="2400" i="1">
                            <a:solidFill>
                              <a:srgbClr val="C00000"/>
                            </a:solidFill>
                            <a:latin typeface="Cambria Math"/>
                          </a:rPr>
                          <m:t>𝑏</m:t>
                        </m:r>
                      </m:e>
                    </m:d>
                  </m:oMath>
                </a14:m>
                <a:endParaRPr lang="en-US" altLang="en-US" sz="2400" b="0" dirty="0" smtClean="0">
                  <a:solidFill>
                    <a:srgbClr val="C00000"/>
                  </a:solidFill>
                </a:endParaRPr>
              </a:p>
              <a:p>
                <a:r>
                  <a:rPr lang="en-US" altLang="en-US" sz="3000" dirty="0" smtClean="0"/>
                  <a:t>Equilibrium profits:</a:t>
                </a:r>
              </a:p>
              <a:p>
                <a:pPr marL="0" indent="0" algn="ctr">
                  <a:buNone/>
                </a:pPr>
                <a14:m>
                  <m:oMathPara xmlns:m="http://schemas.openxmlformats.org/officeDocument/2006/math">
                    <m:oMathParaPr>
                      <m:jc m:val="centerGroup"/>
                    </m:oMathParaPr>
                    <m:oMath xmlns:m="http://schemas.openxmlformats.org/officeDocument/2006/math">
                      <m:sSubSup>
                        <m:sSubSupPr>
                          <m:ctrlPr>
                            <a:rPr lang="en-US" altLang="en-US" sz="2600" i="1">
                              <a:solidFill>
                                <a:srgbClr val="C00000"/>
                              </a:solidFill>
                              <a:latin typeface="Cambria Math"/>
                            </a:rPr>
                          </m:ctrlPr>
                        </m:sSubSupPr>
                        <m:e>
                          <m:sSup>
                            <m:sSupPr>
                              <m:ctrlPr>
                                <a:rPr lang="en-US" altLang="en-US" sz="2600" i="1">
                                  <a:solidFill>
                                    <a:srgbClr val="C00000"/>
                                  </a:solidFill>
                                  <a:latin typeface="Cambria Math"/>
                                </a:rPr>
                              </m:ctrlPr>
                            </m:sSupPr>
                            <m:e>
                              <m:r>
                                <m:rPr>
                                  <m:sty m:val="p"/>
                                </m:rPr>
                                <a:rPr lang="el-GR" altLang="en-US" sz="2600" i="1" smtClean="0">
                                  <a:solidFill>
                                    <a:srgbClr val="C00000"/>
                                  </a:solidFill>
                                  <a:latin typeface="Cambria Math"/>
                                </a:rPr>
                                <m:t>π</m:t>
                              </m:r>
                            </m:e>
                            <m:sup>
                              <m:r>
                                <a:rPr lang="en-US" altLang="en-US" sz="2600" i="1">
                                  <a:solidFill>
                                    <a:srgbClr val="C00000"/>
                                  </a:solidFill>
                                  <a:latin typeface="Cambria Math"/>
                                </a:rPr>
                                <m:t>∗</m:t>
                              </m:r>
                            </m:sup>
                          </m:sSup>
                        </m:e>
                        <m:sub>
                          <m:r>
                            <a:rPr lang="en-US" altLang="en-US" sz="2600" i="1">
                              <a:solidFill>
                                <a:srgbClr val="C00000"/>
                              </a:solidFill>
                              <a:latin typeface="Cambria Math"/>
                            </a:rPr>
                            <m:t>𝐴</m:t>
                          </m:r>
                        </m:sub>
                        <m:sup/>
                      </m:sSubSup>
                      <m:r>
                        <a:rPr lang="en-US" altLang="en-US" sz="2600">
                          <a:solidFill>
                            <a:srgbClr val="C00000"/>
                          </a:solidFill>
                          <a:latin typeface="Cambria Math"/>
                        </a:rPr>
                        <m:t>=</m:t>
                      </m:r>
                      <m:f>
                        <m:fPr>
                          <m:ctrlPr>
                            <a:rPr lang="en-US" altLang="en-US" sz="2600" i="1">
                              <a:solidFill>
                                <a:srgbClr val="C00000"/>
                              </a:solidFill>
                              <a:latin typeface="Cambria Math"/>
                            </a:rPr>
                          </m:ctrlPr>
                        </m:fPr>
                        <m:num>
                          <m:r>
                            <a:rPr lang="en-US" altLang="en-US" sz="2600" i="1">
                              <a:solidFill>
                                <a:srgbClr val="C00000"/>
                              </a:solidFill>
                              <a:latin typeface="Cambria Math"/>
                            </a:rPr>
                            <m:t>𝑡</m:t>
                          </m:r>
                        </m:num>
                        <m:den>
                          <m:r>
                            <a:rPr lang="en-US" altLang="en-US" sz="2600" b="0" i="1" smtClean="0">
                              <a:solidFill>
                                <a:srgbClr val="C00000"/>
                              </a:solidFill>
                              <a:latin typeface="Cambria Math"/>
                            </a:rPr>
                            <m:t>18</m:t>
                          </m:r>
                        </m:den>
                      </m:f>
                      <m:d>
                        <m:dPr>
                          <m:ctrlPr>
                            <a:rPr lang="en-US" altLang="en-US" sz="2600" i="1" smtClean="0">
                              <a:solidFill>
                                <a:srgbClr val="C00000"/>
                              </a:solidFill>
                              <a:latin typeface="Cambria Math"/>
                            </a:rPr>
                          </m:ctrlPr>
                        </m:dPr>
                        <m:e>
                          <m:r>
                            <a:rPr lang="en-US" altLang="en-US" sz="2600" i="1">
                              <a:solidFill>
                                <a:srgbClr val="C00000"/>
                              </a:solidFill>
                              <a:latin typeface="Cambria Math"/>
                            </a:rPr>
                            <m:t>𝑏</m:t>
                          </m:r>
                          <m:r>
                            <a:rPr lang="en-US" altLang="en-US" sz="2600" i="1">
                              <a:solidFill>
                                <a:srgbClr val="C00000"/>
                              </a:solidFill>
                              <a:latin typeface="Cambria Math"/>
                            </a:rPr>
                            <m:t>−</m:t>
                          </m:r>
                          <m:r>
                            <a:rPr lang="en-US" altLang="en-US" sz="2600" i="1">
                              <a:solidFill>
                                <a:srgbClr val="C00000"/>
                              </a:solidFill>
                              <a:latin typeface="Cambria Math"/>
                            </a:rPr>
                            <m:t>𝑎</m:t>
                          </m:r>
                        </m:e>
                      </m:d>
                      <m:sSup>
                        <m:sSupPr>
                          <m:ctrlPr>
                            <a:rPr lang="en-US" altLang="en-US" sz="2600" i="1" dirty="0" smtClean="0">
                              <a:solidFill>
                                <a:srgbClr val="C00000"/>
                              </a:solidFill>
                              <a:latin typeface="Cambria Math"/>
                            </a:rPr>
                          </m:ctrlPr>
                        </m:sSupPr>
                        <m:e>
                          <m:r>
                            <a:rPr lang="en-US" altLang="en-US" sz="2600" b="0" i="1" dirty="0" smtClean="0">
                              <a:solidFill>
                                <a:srgbClr val="C00000"/>
                              </a:solidFill>
                              <a:latin typeface="Cambria Math"/>
                            </a:rPr>
                            <m:t> </m:t>
                          </m:r>
                          <m:d>
                            <m:dPr>
                              <m:ctrlPr>
                                <a:rPr lang="en-US" altLang="en-US" sz="2600" i="1">
                                  <a:solidFill>
                                    <a:srgbClr val="C00000"/>
                                  </a:solidFill>
                                  <a:latin typeface="Cambria Math"/>
                                </a:rPr>
                              </m:ctrlPr>
                            </m:dPr>
                            <m:e>
                              <m:r>
                                <a:rPr lang="en-US" altLang="en-US" sz="2600" i="1">
                                  <a:solidFill>
                                    <a:srgbClr val="C00000"/>
                                  </a:solidFill>
                                  <a:latin typeface="Cambria Math"/>
                                </a:rPr>
                                <m:t>2</m:t>
                              </m:r>
                              <m:r>
                                <a:rPr lang="en-US" altLang="en-US" sz="2600" i="1">
                                  <a:solidFill>
                                    <a:srgbClr val="C00000"/>
                                  </a:solidFill>
                                  <a:latin typeface="Cambria Math"/>
                                </a:rPr>
                                <m:t>𝐿</m:t>
                              </m:r>
                              <m:r>
                                <a:rPr lang="en-US" altLang="en-US" sz="2600" i="1">
                                  <a:solidFill>
                                    <a:srgbClr val="C00000"/>
                                  </a:solidFill>
                                  <a:latin typeface="Cambria Math"/>
                                </a:rPr>
                                <m:t>+</m:t>
                              </m:r>
                              <m:r>
                                <a:rPr lang="en-US" altLang="en-US" sz="2600" i="1">
                                  <a:solidFill>
                                    <a:srgbClr val="C00000"/>
                                  </a:solidFill>
                                  <a:latin typeface="Cambria Math"/>
                                </a:rPr>
                                <m:t>𝑎</m:t>
                              </m:r>
                              <m:r>
                                <a:rPr lang="en-US" altLang="en-US" sz="2600" i="1">
                                  <a:solidFill>
                                    <a:srgbClr val="C00000"/>
                                  </a:solidFill>
                                  <a:latin typeface="Cambria Math"/>
                                </a:rPr>
                                <m:t>+</m:t>
                              </m:r>
                              <m:r>
                                <a:rPr lang="en-US" altLang="en-US" sz="2600" i="1">
                                  <a:solidFill>
                                    <a:srgbClr val="C00000"/>
                                  </a:solidFill>
                                  <a:latin typeface="Cambria Math"/>
                                </a:rPr>
                                <m:t>𝑏</m:t>
                              </m:r>
                            </m:e>
                          </m:d>
                        </m:e>
                        <m:sup>
                          <m:r>
                            <a:rPr lang="en-US" altLang="en-US" sz="2600" b="0" i="1" dirty="0" smtClean="0">
                              <a:solidFill>
                                <a:srgbClr val="C00000"/>
                              </a:solidFill>
                              <a:latin typeface="Cambria Math"/>
                            </a:rPr>
                            <m:t>2</m:t>
                          </m:r>
                        </m:sup>
                      </m:sSup>
                    </m:oMath>
                  </m:oMathPara>
                </a14:m>
                <a:endParaRPr lang="en-US" altLang="en-US" sz="2600" i="1" dirty="0" smtClean="0">
                  <a:solidFill>
                    <a:srgbClr val="C00000"/>
                  </a:solidFill>
                  <a:latin typeface="Cambria Math"/>
                </a:endParaRPr>
              </a:p>
              <a:p>
                <a:pPr marL="0" indent="0" algn="ctr">
                  <a:buNone/>
                </a:pPr>
                <a14:m>
                  <m:oMathPara xmlns:m="http://schemas.openxmlformats.org/officeDocument/2006/math">
                    <m:oMathParaPr>
                      <m:jc m:val="centerGroup"/>
                    </m:oMathParaPr>
                    <m:oMath xmlns:m="http://schemas.openxmlformats.org/officeDocument/2006/math">
                      <m:sSubSup>
                        <m:sSubSupPr>
                          <m:ctrlPr>
                            <a:rPr lang="en-US" altLang="en-US" sz="2600" i="1">
                              <a:solidFill>
                                <a:srgbClr val="C00000"/>
                              </a:solidFill>
                              <a:latin typeface="Cambria Math"/>
                            </a:rPr>
                          </m:ctrlPr>
                        </m:sSubSupPr>
                        <m:e>
                          <m:sSup>
                            <m:sSupPr>
                              <m:ctrlPr>
                                <a:rPr lang="en-US" altLang="en-US" sz="2600" i="1">
                                  <a:solidFill>
                                    <a:srgbClr val="C00000"/>
                                  </a:solidFill>
                                  <a:latin typeface="Cambria Math"/>
                                </a:rPr>
                              </m:ctrlPr>
                            </m:sSupPr>
                            <m:e>
                              <m:r>
                                <m:rPr>
                                  <m:sty m:val="p"/>
                                </m:rPr>
                                <a:rPr lang="el-GR" altLang="en-US" sz="2600" i="1" smtClean="0">
                                  <a:solidFill>
                                    <a:srgbClr val="C00000"/>
                                  </a:solidFill>
                                  <a:latin typeface="Cambria Math"/>
                                </a:rPr>
                                <m:t>π</m:t>
                              </m:r>
                            </m:e>
                            <m:sup>
                              <m:r>
                                <a:rPr lang="en-US" altLang="en-US" sz="2600" i="1">
                                  <a:solidFill>
                                    <a:srgbClr val="C00000"/>
                                  </a:solidFill>
                                  <a:latin typeface="Cambria Math"/>
                                </a:rPr>
                                <m:t>∗</m:t>
                              </m:r>
                            </m:sup>
                          </m:sSup>
                        </m:e>
                        <m:sub>
                          <m:r>
                            <a:rPr lang="en-US" altLang="en-US" sz="2600" i="1">
                              <a:solidFill>
                                <a:srgbClr val="C00000"/>
                              </a:solidFill>
                              <a:latin typeface="Cambria Math"/>
                            </a:rPr>
                            <m:t>𝐵</m:t>
                          </m:r>
                        </m:sub>
                        <m:sup/>
                      </m:sSubSup>
                      <m:r>
                        <a:rPr lang="en-US" altLang="en-US" sz="2600">
                          <a:solidFill>
                            <a:srgbClr val="C00000"/>
                          </a:solidFill>
                          <a:latin typeface="Cambria Math"/>
                        </a:rPr>
                        <m:t>=</m:t>
                      </m:r>
                      <m:f>
                        <m:fPr>
                          <m:ctrlPr>
                            <a:rPr lang="en-US" altLang="en-US" sz="2600" i="1">
                              <a:solidFill>
                                <a:srgbClr val="C00000"/>
                              </a:solidFill>
                              <a:latin typeface="Cambria Math"/>
                            </a:rPr>
                          </m:ctrlPr>
                        </m:fPr>
                        <m:num>
                          <m:r>
                            <a:rPr lang="en-US" altLang="en-US" sz="2600" i="1">
                              <a:solidFill>
                                <a:srgbClr val="C00000"/>
                              </a:solidFill>
                              <a:latin typeface="Cambria Math"/>
                            </a:rPr>
                            <m:t>𝑡</m:t>
                          </m:r>
                        </m:num>
                        <m:den>
                          <m:r>
                            <a:rPr lang="en-US" altLang="en-US" sz="2600" b="0" i="1" smtClean="0">
                              <a:solidFill>
                                <a:srgbClr val="C00000"/>
                              </a:solidFill>
                              <a:latin typeface="Cambria Math"/>
                            </a:rPr>
                            <m:t>18</m:t>
                          </m:r>
                        </m:den>
                      </m:f>
                      <m:d>
                        <m:dPr>
                          <m:ctrlPr>
                            <a:rPr lang="en-US" altLang="en-US" sz="2600" i="1">
                              <a:solidFill>
                                <a:srgbClr val="C00000"/>
                              </a:solidFill>
                              <a:latin typeface="Cambria Math"/>
                            </a:rPr>
                          </m:ctrlPr>
                        </m:dPr>
                        <m:e>
                          <m:r>
                            <a:rPr lang="en-US" altLang="en-US" sz="2600" i="1">
                              <a:solidFill>
                                <a:srgbClr val="C00000"/>
                              </a:solidFill>
                              <a:latin typeface="Cambria Math"/>
                            </a:rPr>
                            <m:t>𝑏</m:t>
                          </m:r>
                          <m:r>
                            <a:rPr lang="en-US" altLang="en-US" sz="2600" i="1">
                              <a:solidFill>
                                <a:srgbClr val="C00000"/>
                              </a:solidFill>
                              <a:latin typeface="Cambria Math"/>
                            </a:rPr>
                            <m:t>−</m:t>
                          </m:r>
                          <m:r>
                            <a:rPr lang="en-US" altLang="en-US" sz="2600" i="1">
                              <a:solidFill>
                                <a:srgbClr val="C00000"/>
                              </a:solidFill>
                              <a:latin typeface="Cambria Math"/>
                            </a:rPr>
                            <m:t>𝑎</m:t>
                          </m:r>
                        </m:e>
                      </m:d>
                      <m:sSup>
                        <m:sSupPr>
                          <m:ctrlPr>
                            <a:rPr lang="en-US" altLang="en-US" sz="2600" i="1" dirty="0">
                              <a:solidFill>
                                <a:srgbClr val="C00000"/>
                              </a:solidFill>
                              <a:latin typeface="Cambria Math"/>
                            </a:rPr>
                          </m:ctrlPr>
                        </m:sSupPr>
                        <m:e>
                          <m:r>
                            <a:rPr lang="en-US" altLang="en-US" sz="2600" i="1" dirty="0">
                              <a:solidFill>
                                <a:srgbClr val="C00000"/>
                              </a:solidFill>
                              <a:latin typeface="Cambria Math"/>
                            </a:rPr>
                            <m:t> </m:t>
                          </m:r>
                          <m:d>
                            <m:dPr>
                              <m:ctrlPr>
                                <a:rPr lang="en-US" altLang="en-US" sz="2600" i="1">
                                  <a:solidFill>
                                    <a:srgbClr val="C00000"/>
                                  </a:solidFill>
                                  <a:latin typeface="Cambria Math"/>
                                </a:rPr>
                              </m:ctrlPr>
                            </m:dPr>
                            <m:e>
                              <m:r>
                                <a:rPr lang="en-US" altLang="en-US" sz="2600" b="0" i="1" smtClean="0">
                                  <a:solidFill>
                                    <a:srgbClr val="C00000"/>
                                  </a:solidFill>
                                  <a:latin typeface="Cambria Math"/>
                                </a:rPr>
                                <m:t>4</m:t>
                              </m:r>
                              <m:r>
                                <a:rPr lang="en-US" altLang="en-US" sz="2600" i="1">
                                  <a:solidFill>
                                    <a:srgbClr val="C00000"/>
                                  </a:solidFill>
                                  <a:latin typeface="Cambria Math"/>
                                </a:rPr>
                                <m:t>𝐿</m:t>
                              </m:r>
                              <m:r>
                                <a:rPr lang="en-US" altLang="en-US" sz="2600" b="0" i="1" smtClean="0">
                                  <a:solidFill>
                                    <a:srgbClr val="C00000"/>
                                  </a:solidFill>
                                  <a:latin typeface="Cambria Math"/>
                                </a:rPr>
                                <m:t>−</m:t>
                              </m:r>
                              <m:r>
                                <a:rPr lang="en-US" altLang="en-US" sz="2600" i="1">
                                  <a:solidFill>
                                    <a:srgbClr val="C00000"/>
                                  </a:solidFill>
                                  <a:latin typeface="Cambria Math"/>
                                </a:rPr>
                                <m:t>𝑎</m:t>
                              </m:r>
                              <m:r>
                                <a:rPr lang="en-US" altLang="en-US" sz="2600" b="0" i="1" smtClean="0">
                                  <a:solidFill>
                                    <a:srgbClr val="C00000"/>
                                  </a:solidFill>
                                  <a:latin typeface="Cambria Math"/>
                                </a:rPr>
                                <m:t>−</m:t>
                              </m:r>
                              <m:r>
                                <a:rPr lang="en-US" altLang="en-US" sz="2600" i="1">
                                  <a:solidFill>
                                    <a:srgbClr val="C00000"/>
                                  </a:solidFill>
                                  <a:latin typeface="Cambria Math"/>
                                </a:rPr>
                                <m:t>𝑏</m:t>
                              </m:r>
                            </m:e>
                          </m:d>
                        </m:e>
                        <m:sup>
                          <m:r>
                            <a:rPr lang="en-US" altLang="en-US" sz="2600" i="1" dirty="0">
                              <a:solidFill>
                                <a:srgbClr val="C00000"/>
                              </a:solidFill>
                              <a:latin typeface="Cambria Math"/>
                            </a:rPr>
                            <m:t>2</m:t>
                          </m:r>
                        </m:sup>
                      </m:sSup>
                    </m:oMath>
                  </m:oMathPara>
                </a14:m>
                <a:endParaRPr lang="en-US" altLang="en-US" sz="2600" dirty="0">
                  <a:solidFill>
                    <a:srgbClr val="C00000"/>
                  </a:solidFill>
                </a:endParaRPr>
              </a:p>
              <a:p>
                <a:pPr marL="0" indent="0">
                  <a:buNone/>
                </a:pPr>
                <a:endParaRPr lang="en-US" altLang="en-US" dirty="0" smtClean="0"/>
              </a:p>
            </p:txBody>
          </p:sp>
        </mc:Choice>
        <mc:Fallback>
          <p:sp>
            <p:nvSpPr>
              <p:cNvPr id="9221" name="Content Placeholder 2"/>
              <p:cNvSpPr>
                <a:spLocks noGrp="1" noRot="1" noChangeAspect="1" noMove="1" noResize="1" noEditPoints="1" noAdjustHandles="1" noChangeArrowheads="1" noChangeShapeType="1" noTextEdit="1"/>
              </p:cNvSpPr>
              <p:nvPr>
                <p:ph type="body" sz="quarter" idx="12"/>
              </p:nvPr>
            </p:nvSpPr>
            <p:spPr>
              <a:prstGeom prst="rect">
                <a:avLst/>
              </a:prstGeom>
              <a:blipFill rotWithShape="1">
                <a:blip r:embed="rId2"/>
                <a:stretch>
                  <a:fillRect l="-1527" t="-1247"/>
                </a:stretch>
              </a:blipFill>
            </p:spPr>
            <p:txBody>
              <a:bodyPr/>
              <a:lstStyle/>
              <a:p>
                <a:r>
                  <a:rPr lang="en-US">
                    <a:noFill/>
                  </a:rPr>
                  <a:t> </a:t>
                </a:r>
              </a:p>
            </p:txBody>
          </p:sp>
        </mc:Fallback>
      </mc:AlternateContent>
    </p:spTree>
    <p:extLst>
      <p:ext uri="{BB962C8B-B14F-4D97-AF65-F5344CB8AC3E}">
        <p14:creationId xmlns:p14="http://schemas.microsoft.com/office/powerpoint/2010/main" val="19879816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Consumer </a:t>
            </a:r>
            <a:r>
              <a:rPr lang="en-US" dirty="0" smtClean="0"/>
              <a:t>Search and Price Dispersion</a:t>
            </a:r>
            <a:endParaRPr lang="en-US" dirty="0"/>
          </a:p>
        </p:txBody>
      </p:sp>
      <p:sp>
        <p:nvSpPr>
          <p:cNvPr id="3" name="Content Placeholder 2"/>
          <p:cNvSpPr>
            <a:spLocks noGrp="1"/>
          </p:cNvSpPr>
          <p:nvPr>
            <p:ph idx="1"/>
          </p:nvPr>
        </p:nvSpPr>
        <p:spPr/>
        <p:txBody>
          <a:bodyPr/>
          <a:lstStyle/>
          <a:p>
            <a:r>
              <a:rPr lang="en-US" dirty="0" err="1"/>
              <a:t>Hotelling’s</a:t>
            </a:r>
            <a:r>
              <a:rPr lang="en-US" dirty="0"/>
              <a:t> model </a:t>
            </a:r>
            <a:endParaRPr lang="en-US" dirty="0" smtClean="0"/>
          </a:p>
          <a:p>
            <a:pPr lvl="1"/>
            <a:r>
              <a:rPr lang="en-US" dirty="0" smtClean="0"/>
              <a:t>It is possible that </a:t>
            </a:r>
            <a:r>
              <a:rPr lang="en-US" dirty="0"/>
              <a:t>competitors </a:t>
            </a:r>
            <a:r>
              <a:rPr lang="en-US" dirty="0" smtClean="0"/>
              <a:t>may have </a:t>
            </a:r>
            <a:r>
              <a:rPr lang="en-US" dirty="0"/>
              <a:t>some ability to charge prices above marginal cost and earn positive profits </a:t>
            </a:r>
            <a:endParaRPr lang="en-US" dirty="0" smtClean="0"/>
          </a:p>
          <a:p>
            <a:pPr lvl="2"/>
            <a:r>
              <a:rPr lang="en-US" dirty="0" smtClean="0"/>
              <a:t>Even if the </a:t>
            </a:r>
            <a:r>
              <a:rPr lang="en-US" dirty="0"/>
              <a:t>physical characteristics of the goods they sell are </a:t>
            </a:r>
            <a:r>
              <a:rPr lang="en-US" dirty="0" smtClean="0"/>
              <a:t>identical</a:t>
            </a:r>
          </a:p>
          <a:p>
            <a:r>
              <a:rPr lang="en-US" dirty="0" smtClean="0"/>
              <a:t>Assume demanders face a search cost</a:t>
            </a:r>
          </a:p>
          <a:p>
            <a:pPr lvl="1"/>
            <a:r>
              <a:rPr lang="en-US" dirty="0" smtClean="0"/>
              <a:t>Stores avoid </a:t>
            </a:r>
            <a:r>
              <a:rPr lang="en-US" dirty="0"/>
              <a:t>the Bertrand </a:t>
            </a:r>
            <a:r>
              <a:rPr lang="en-US" dirty="0" smtClean="0"/>
              <a:t>paradox</a:t>
            </a:r>
          </a:p>
          <a:p>
            <a:pPr lvl="1"/>
            <a:r>
              <a:rPr lang="en-US" dirty="0" smtClean="0"/>
              <a:t>All stores charge monopoly price</a:t>
            </a:r>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39</a:t>
            </a:fld>
            <a:endParaRPr lang="en-US"/>
          </a:p>
        </p:txBody>
      </p:sp>
    </p:spTree>
    <p:extLst>
      <p:ext uri="{BB962C8B-B14F-4D97-AF65-F5344CB8AC3E}">
        <p14:creationId xmlns:p14="http://schemas.microsoft.com/office/powerpoint/2010/main" val="36466734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smtClean="0"/>
              <a:t>Tacit Collusion</a:t>
            </a:r>
          </a:p>
        </p:txBody>
      </p:sp>
      <p:sp>
        <p:nvSpPr>
          <p:cNvPr id="62467" name="Rectangle 3"/>
          <p:cNvSpPr>
            <a:spLocks noGrp="1" noChangeArrowheads="1"/>
          </p:cNvSpPr>
          <p:nvPr>
            <p:ph idx="1"/>
          </p:nvPr>
        </p:nvSpPr>
        <p:spPr/>
        <p:txBody>
          <a:bodyPr/>
          <a:lstStyle/>
          <a:p>
            <a:r>
              <a:rPr lang="en-US" altLang="en-US" dirty="0" smtClean="0"/>
              <a:t>Tacit collusion</a:t>
            </a:r>
          </a:p>
          <a:p>
            <a:pPr lvl="1"/>
            <a:r>
              <a:rPr lang="en-US" altLang="en-US" sz="3000" dirty="0" smtClean="0"/>
              <a:t>Is not the same as an explicit cartel</a:t>
            </a:r>
          </a:p>
          <a:p>
            <a:pPr lvl="1"/>
            <a:r>
              <a:rPr lang="en-US" altLang="en-US" sz="3000" dirty="0" smtClean="0"/>
              <a:t>Can only be enforced through punishments internal to the market</a:t>
            </a:r>
          </a:p>
          <a:p>
            <a:r>
              <a:rPr lang="en-US" altLang="en-US" dirty="0" smtClean="0"/>
              <a:t>Repeating the stage game </a:t>
            </a:r>
            <a:r>
              <a:rPr lang="en-US" altLang="en-US" i="1" dirty="0" smtClean="0"/>
              <a:t>T</a:t>
            </a:r>
            <a:r>
              <a:rPr lang="en-US" altLang="en-US" dirty="0" smtClean="0"/>
              <a:t> times does not change the outcome</a:t>
            </a:r>
          </a:p>
          <a:p>
            <a:pPr lvl="1"/>
            <a:r>
              <a:rPr lang="en-US" altLang="en-US" sz="3000" dirty="0" smtClean="0"/>
              <a:t>The only subgame perfect equilibrium is to repeat the stage-game Nash equilibrium in each of the </a:t>
            </a:r>
            <a:r>
              <a:rPr lang="en-US" altLang="en-US" sz="3000" i="1" dirty="0" smtClean="0"/>
              <a:t>T</a:t>
            </a:r>
            <a:r>
              <a:rPr lang="en-US" altLang="en-US" sz="3000" dirty="0" smtClean="0"/>
              <a:t> </a:t>
            </a:r>
            <a:r>
              <a:rPr lang="en-US" altLang="en-US" sz="3000" dirty="0" smtClean="0"/>
              <a:t>periods: </a:t>
            </a:r>
            <a:r>
              <a:rPr lang="en-US" altLang="en-US" dirty="0" smtClean="0"/>
              <a:t>Marginal </a:t>
            </a:r>
            <a:r>
              <a:rPr lang="en-US" altLang="en-US" dirty="0" smtClean="0"/>
              <a:t>cost pricing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1D7B481-DF10-4F9B-A667-8E0AB31A055B}" type="slidenum">
              <a:rPr lang="en-US" smtClean="0"/>
              <a:pPr>
                <a:defRPr/>
              </a:pPr>
              <a:t>40</a:t>
            </a:fld>
            <a:endParaRPr lang="en-US"/>
          </a:p>
        </p:txBody>
      </p:sp>
    </p:spTree>
    <p:extLst>
      <p:ext uri="{BB962C8B-B14F-4D97-AF65-F5344CB8AC3E}">
        <p14:creationId xmlns:p14="http://schemas.microsoft.com/office/powerpoint/2010/main" val="41497248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smtClean="0"/>
              <a:t>Tacit Collusion</a:t>
            </a:r>
          </a:p>
        </p:txBody>
      </p:sp>
      <p:sp>
        <p:nvSpPr>
          <p:cNvPr id="63491" name="Rectangle 3"/>
          <p:cNvSpPr>
            <a:spLocks noGrp="1" noChangeArrowheads="1"/>
          </p:cNvSpPr>
          <p:nvPr>
            <p:ph idx="1"/>
          </p:nvPr>
        </p:nvSpPr>
        <p:spPr/>
        <p:txBody>
          <a:bodyPr/>
          <a:lstStyle/>
          <a:p>
            <a:r>
              <a:rPr lang="en-US" altLang="en-US" smtClean="0"/>
              <a:t>If the stage game is repeated infinitely, the folk theorem applies</a:t>
            </a:r>
          </a:p>
          <a:p>
            <a:pPr lvl="1"/>
            <a:r>
              <a:rPr lang="en-US" altLang="en-US" smtClean="0"/>
              <a:t>Any feasible and individually rational payoff </a:t>
            </a:r>
          </a:p>
          <a:p>
            <a:pPr lvl="1"/>
            <a:r>
              <a:rPr lang="en-US" altLang="en-US" smtClean="0"/>
              <a:t>Can be sustained each period as long as the discount factor (</a:t>
            </a:r>
            <a:r>
              <a:rPr lang="en-US" altLang="en-US" smtClean="0">
                <a:sym typeface="Symbol" pitchFamily="18" charset="2"/>
              </a:rPr>
              <a:t>) is close enough to 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9E23C5A-91E3-4337-996C-9B1B4CE8F3DD}" type="slidenum">
              <a:rPr lang="en-US" smtClean="0"/>
              <a:pPr>
                <a:defRPr/>
              </a:pPr>
              <a:t>41</a:t>
            </a:fld>
            <a:endParaRPr lang="en-US"/>
          </a:p>
        </p:txBody>
      </p:sp>
    </p:spTree>
    <p:extLst>
      <p:ext uri="{BB962C8B-B14F-4D97-AF65-F5344CB8AC3E}">
        <p14:creationId xmlns:p14="http://schemas.microsoft.com/office/powerpoint/2010/main" val="22808609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smtClean="0"/>
              <a:t>Tacit Collusion</a:t>
            </a:r>
          </a:p>
        </p:txBody>
      </p:sp>
      <p:sp>
        <p:nvSpPr>
          <p:cNvPr id="10244" name="Rectangle 3"/>
          <p:cNvSpPr>
            <a:spLocks noGrp="1" noChangeArrowheads="1"/>
          </p:cNvSpPr>
          <p:nvPr>
            <p:ph idx="1"/>
          </p:nvPr>
        </p:nvSpPr>
        <p:spPr/>
        <p:txBody>
          <a:bodyPr/>
          <a:lstStyle/>
          <a:p>
            <a:r>
              <a:rPr lang="en-US" altLang="en-US" smtClean="0"/>
              <a:t>Two firms in a duopoly </a:t>
            </a:r>
          </a:p>
          <a:p>
            <a:pPr lvl="1"/>
            <a:r>
              <a:rPr lang="en-US" altLang="en-US" smtClean="0"/>
              <a:t>Agree to tacitly collude to sustain the monopoly price by using a grim trigger strategy</a:t>
            </a:r>
          </a:p>
          <a:p>
            <a:pPr lvl="1"/>
            <a:r>
              <a:rPr lang="en-US" altLang="en-US" smtClean="0"/>
              <a:t>Successful tacit collusion provides the profit stream</a:t>
            </a:r>
            <a:endParaRPr lang="en-US" altLang="en-US" smtClean="0">
              <a:sym typeface="Symbol" pitchFamily="18" charset="2"/>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E97D8FA2-9F96-4C71-9C50-80ABC2D5FAC2}" type="slidenum">
              <a:rPr lang="en-US" smtClean="0"/>
              <a:pPr>
                <a:defRPr/>
              </a:pPr>
              <a:t>42</a:t>
            </a:fld>
            <a:endParaRPr lang="en-US"/>
          </a:p>
        </p:txBody>
      </p:sp>
      <p:graphicFrame>
        <p:nvGraphicFramePr>
          <p:cNvPr id="1263620" name="Object 2"/>
          <p:cNvGraphicFramePr>
            <a:graphicFrameLocks noChangeAspect="1"/>
          </p:cNvGraphicFramePr>
          <p:nvPr/>
        </p:nvGraphicFramePr>
        <p:xfrm>
          <a:off x="1150938" y="4460875"/>
          <a:ext cx="6324600" cy="863600"/>
        </p:xfrm>
        <a:graphic>
          <a:graphicData uri="http://schemas.openxmlformats.org/presentationml/2006/ole">
            <mc:AlternateContent xmlns:mc="http://schemas.openxmlformats.org/markup-compatibility/2006">
              <mc:Choice xmlns:v="urn:schemas-microsoft-com:vml" Requires="v">
                <p:oleObj spid="_x0000_s327691" name="Equation" r:id="rId3" imgW="3162240" imgH="431640" progId="Equation.DSMT4">
                  <p:embed/>
                </p:oleObj>
              </mc:Choice>
              <mc:Fallback>
                <p:oleObj name="Equation" r:id="rId3" imgW="31622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4460875"/>
                        <a:ext cx="6324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65791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63620"/>
                                        </p:tgtEl>
                                        <p:attrNameLst>
                                          <p:attrName>style.visibility</p:attrName>
                                        </p:attrNameLst>
                                      </p:cBhvr>
                                      <p:to>
                                        <p:strVal val="visible"/>
                                      </p:to>
                                    </p:set>
                                    <p:animEffect transition="in" filter="wipe(left)">
                                      <p:cBhvr>
                                        <p:cTn id="7" dur="500"/>
                                        <p:tgtEl>
                                          <p:spTgt spid="126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en-US" smtClean="0"/>
              <a:t>Tacit Collusion</a:t>
            </a:r>
          </a:p>
        </p:txBody>
      </p:sp>
      <p:sp>
        <p:nvSpPr>
          <p:cNvPr id="64515" name="Rectangle 3"/>
          <p:cNvSpPr>
            <a:spLocks noGrp="1" noChangeArrowheads="1"/>
          </p:cNvSpPr>
          <p:nvPr>
            <p:ph idx="1"/>
          </p:nvPr>
        </p:nvSpPr>
        <p:spPr/>
        <p:txBody>
          <a:bodyPr/>
          <a:lstStyle/>
          <a:p>
            <a:r>
              <a:rPr lang="en-US" altLang="en-US" dirty="0" smtClean="0">
                <a:sym typeface="Symbol" pitchFamily="18" charset="2"/>
              </a:rPr>
              <a:t>If a firm deviates</a:t>
            </a:r>
          </a:p>
          <a:p>
            <a:pPr lvl="1"/>
            <a:r>
              <a:rPr lang="en-US" altLang="en-US" dirty="0" smtClean="0">
                <a:sym typeface="Symbol" pitchFamily="18" charset="2"/>
              </a:rPr>
              <a:t>It will earn all of the monopoly profit for itself in the current period</a:t>
            </a:r>
          </a:p>
          <a:p>
            <a:pPr lvl="1"/>
            <a:r>
              <a:rPr lang="en-US" altLang="en-US" dirty="0" smtClean="0">
                <a:sym typeface="Symbol" pitchFamily="18" charset="2"/>
              </a:rPr>
              <a:t>The deviation will trigger the grim strategy of marginal cost pricing for all future periods</a:t>
            </a:r>
          </a:p>
          <a:p>
            <a:pPr lvl="1"/>
            <a:r>
              <a:rPr lang="en-US" altLang="en-US" dirty="0" smtClean="0">
                <a:sym typeface="Symbol" pitchFamily="18" charset="2"/>
              </a:rPr>
              <a:t>The stream of profits from deviating is </a:t>
            </a:r>
            <a:endParaRPr lang="en-US" altLang="en-US" dirty="0" smtClean="0">
              <a:sym typeface="Symbol" pitchFamily="18" charset="2"/>
            </a:endParaRPr>
          </a:p>
          <a:p>
            <a:pPr marL="457200" lvl="1" indent="0">
              <a:buNone/>
            </a:pPr>
            <a:r>
              <a:rPr lang="en-US" altLang="en-US" i="1" dirty="0">
                <a:solidFill>
                  <a:srgbClr val="FF0000"/>
                </a:solidFill>
                <a:sym typeface="Symbol" pitchFamily="18" charset="2"/>
              </a:rPr>
              <a:t>	</a:t>
            </a:r>
            <a:r>
              <a:rPr lang="en-US" altLang="en-US" i="1" dirty="0" err="1" smtClean="0">
                <a:solidFill>
                  <a:srgbClr val="FF0000"/>
                </a:solidFill>
                <a:sym typeface="Symbol" pitchFamily="18" charset="2"/>
              </a:rPr>
              <a:t>V</a:t>
            </a:r>
            <a:r>
              <a:rPr lang="en-US" altLang="en-US" i="1" baseline="30000" dirty="0" err="1" smtClean="0">
                <a:solidFill>
                  <a:srgbClr val="FF0000"/>
                </a:solidFill>
                <a:sym typeface="Symbol" pitchFamily="18" charset="2"/>
              </a:rPr>
              <a:t>deviate</a:t>
            </a:r>
            <a:r>
              <a:rPr lang="en-US" altLang="en-US" dirty="0" smtClean="0">
                <a:solidFill>
                  <a:srgbClr val="FF0000"/>
                </a:solidFill>
                <a:sym typeface="Symbol" pitchFamily="18" charset="2"/>
              </a:rPr>
              <a:t> </a:t>
            </a:r>
            <a:r>
              <a:rPr lang="en-US" altLang="en-US" dirty="0" smtClean="0">
                <a:solidFill>
                  <a:srgbClr val="FF0000"/>
                </a:solidFill>
                <a:sym typeface="Symbol" pitchFamily="18" charset="2"/>
              </a:rPr>
              <a:t>= </a:t>
            </a:r>
            <a:r>
              <a:rPr lang="en-US" altLang="en-US" i="1" baseline="-25000" dirty="0" smtClean="0">
                <a:solidFill>
                  <a:srgbClr val="FF0000"/>
                </a:solidFill>
                <a:sym typeface="Symbol" pitchFamily="18" charset="2"/>
              </a:rPr>
              <a:t>M</a:t>
            </a:r>
            <a:endParaRPr lang="en-US" altLang="en-US"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041F544-54B0-4E68-970A-E17F10B36CD5}" type="slidenum">
              <a:rPr lang="en-US" smtClean="0"/>
              <a:pPr>
                <a:defRPr/>
              </a:pPr>
              <a:t>43</a:t>
            </a:fld>
            <a:endParaRPr lang="en-US"/>
          </a:p>
        </p:txBody>
      </p:sp>
    </p:spTree>
    <p:extLst>
      <p:ext uri="{BB962C8B-B14F-4D97-AF65-F5344CB8AC3E}">
        <p14:creationId xmlns:p14="http://schemas.microsoft.com/office/powerpoint/2010/main" val="13487189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en-US" altLang="en-US" smtClean="0"/>
              <a:t>Tacit Collusion</a:t>
            </a:r>
          </a:p>
        </p:txBody>
      </p:sp>
      <p:sp>
        <p:nvSpPr>
          <p:cNvPr id="11268" name="Rectangle 3"/>
          <p:cNvSpPr>
            <a:spLocks noGrp="1" noChangeArrowheads="1"/>
          </p:cNvSpPr>
          <p:nvPr>
            <p:ph idx="1"/>
          </p:nvPr>
        </p:nvSpPr>
        <p:spPr/>
        <p:txBody>
          <a:bodyPr/>
          <a:lstStyle/>
          <a:p>
            <a:r>
              <a:rPr lang="en-US" altLang="en-US" smtClean="0">
                <a:sym typeface="Symbol" pitchFamily="18" charset="2"/>
              </a:rPr>
              <a:t>For deviation not to be profitable</a:t>
            </a:r>
          </a:p>
          <a:p>
            <a:pPr lvl="1"/>
            <a:r>
              <a:rPr lang="en-US" altLang="en-US" smtClean="0">
                <a:sym typeface="Symbol" pitchFamily="18" charset="2"/>
              </a:rPr>
              <a:t>It must be that </a:t>
            </a:r>
            <a:r>
              <a:rPr lang="en-US" altLang="en-US" i="1" smtClean="0">
                <a:solidFill>
                  <a:srgbClr val="FF0000"/>
                </a:solidFill>
                <a:sym typeface="Symbol" pitchFamily="18" charset="2"/>
              </a:rPr>
              <a:t>V</a:t>
            </a:r>
            <a:r>
              <a:rPr lang="en-US" altLang="en-US" i="1" baseline="30000" smtClean="0">
                <a:solidFill>
                  <a:srgbClr val="FF0000"/>
                </a:solidFill>
                <a:sym typeface="Symbol" pitchFamily="18" charset="2"/>
              </a:rPr>
              <a:t>collude</a:t>
            </a:r>
            <a:r>
              <a:rPr lang="en-US" altLang="en-US" smtClean="0">
                <a:solidFill>
                  <a:srgbClr val="FF0000"/>
                </a:solidFill>
                <a:sym typeface="Symbol" pitchFamily="18" charset="2"/>
              </a:rPr>
              <a:t>  </a:t>
            </a:r>
            <a:r>
              <a:rPr lang="en-US" altLang="en-US" i="1" smtClean="0">
                <a:solidFill>
                  <a:srgbClr val="FF0000"/>
                </a:solidFill>
                <a:sym typeface="Symbol" pitchFamily="18" charset="2"/>
              </a:rPr>
              <a:t>V</a:t>
            </a:r>
            <a:r>
              <a:rPr lang="en-US" altLang="en-US" i="1" baseline="30000" smtClean="0">
                <a:solidFill>
                  <a:srgbClr val="FF0000"/>
                </a:solidFill>
                <a:sym typeface="Symbol" pitchFamily="18" charset="2"/>
              </a:rPr>
              <a:t>deviate</a:t>
            </a:r>
            <a:endParaRPr lang="en-US" altLang="en-US" b="1" smtClean="0">
              <a:sym typeface="Symbol" pitchFamily="18" charset="2"/>
            </a:endParaRP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50A9B2CD-A52E-4BD0-8D60-C087DFF9D255}" type="slidenum">
              <a:rPr lang="en-US" smtClean="0"/>
              <a:pPr>
                <a:defRPr/>
              </a:pPr>
              <a:t>44</a:t>
            </a:fld>
            <a:endParaRPr lang="en-US"/>
          </a:p>
        </p:txBody>
      </p:sp>
      <p:sp>
        <p:nvSpPr>
          <p:cNvPr id="2" name="Text Placeholder 1"/>
          <p:cNvSpPr>
            <a:spLocks noGrp="1"/>
          </p:cNvSpPr>
          <p:nvPr>
            <p:ph type="body" sz="quarter" idx="12"/>
          </p:nvPr>
        </p:nvSpPr>
        <p:spPr>
          <a:xfrm>
            <a:off x="381000" y="3352800"/>
            <a:ext cx="8534400" cy="3048000"/>
          </a:xfrm>
        </p:spPr>
        <p:txBody>
          <a:bodyPr>
            <a:normAutofit/>
          </a:bodyPr>
          <a:lstStyle/>
          <a:p>
            <a:pPr eaLnBrk="0" hangingPunct="0">
              <a:buFontTx/>
              <a:buChar char="•"/>
              <a:defRPr/>
            </a:pPr>
            <a:r>
              <a:rPr lang="en-US" kern="0" dirty="0"/>
              <a:t>To prevent deviation</a:t>
            </a:r>
          </a:p>
          <a:p>
            <a:pPr lvl="1" eaLnBrk="0" hangingPunct="0">
              <a:buFont typeface="Arial" charset="0"/>
              <a:buChar char="–"/>
              <a:defRPr/>
            </a:pPr>
            <a:r>
              <a:rPr lang="en-US" kern="0" dirty="0"/>
              <a:t>Firms must value the future enough that:</a:t>
            </a:r>
          </a:p>
          <a:p>
            <a:pPr lvl="2" eaLnBrk="0" hangingPunct="0">
              <a:buSzPct val="90000"/>
              <a:buFontTx/>
              <a:buChar char="•"/>
              <a:defRPr/>
            </a:pPr>
            <a:r>
              <a:rPr lang="en-US" sz="2600" kern="0" dirty="0"/>
              <a:t>The threat of losing profits by reverting to the one-period Nash equilibrium </a:t>
            </a:r>
          </a:p>
          <a:p>
            <a:pPr lvl="2" eaLnBrk="0" hangingPunct="0">
              <a:buSzPct val="90000"/>
              <a:buFontTx/>
              <a:buChar char="•"/>
              <a:defRPr/>
            </a:pPr>
            <a:r>
              <a:rPr lang="en-US" sz="2600" kern="0" dirty="0"/>
              <a:t>Outweighs the benefit of undercutting and taking the whole monopoly profit in the present </a:t>
            </a:r>
            <a:r>
              <a:rPr lang="en-US" sz="2600" kern="0" dirty="0" smtClean="0"/>
              <a:t>period</a:t>
            </a:r>
            <a:endParaRPr lang="en-US" sz="2600" b="1" kern="0" dirty="0">
              <a:sym typeface="Symbol" pitchFamily="18" charset="2"/>
            </a:endParaRPr>
          </a:p>
        </p:txBody>
      </p:sp>
      <p:graphicFrame>
        <p:nvGraphicFramePr>
          <p:cNvPr id="1265668" name="Object 2"/>
          <p:cNvGraphicFramePr>
            <a:graphicFrameLocks noChangeAspect="1"/>
          </p:cNvGraphicFramePr>
          <p:nvPr>
            <p:extLst>
              <p:ext uri="{D42A27DB-BD31-4B8C-83A1-F6EECF244321}">
                <p14:modId xmlns:p14="http://schemas.microsoft.com/office/powerpoint/2010/main" val="1022275276"/>
              </p:ext>
            </p:extLst>
          </p:nvPr>
        </p:nvGraphicFramePr>
        <p:xfrm>
          <a:off x="2357438" y="2482850"/>
          <a:ext cx="4429125" cy="946150"/>
        </p:xfrm>
        <a:graphic>
          <a:graphicData uri="http://schemas.openxmlformats.org/presentationml/2006/ole">
            <mc:AlternateContent xmlns:mc="http://schemas.openxmlformats.org/markup-compatibility/2006">
              <mc:Choice xmlns:v="urn:schemas-microsoft-com:vml" Requires="v">
                <p:oleObj spid="_x0000_s328716" name="Equation" r:id="rId3" imgW="2019240" imgH="431640" progId="Equation.DSMT4">
                  <p:embed/>
                </p:oleObj>
              </mc:Choice>
              <mc:Fallback>
                <p:oleObj name="Equation" r:id="rId3" imgW="20192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2482850"/>
                        <a:ext cx="4429125"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04266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65668"/>
                                        </p:tgtEl>
                                        <p:attrNameLst>
                                          <p:attrName>style.visibility</p:attrName>
                                        </p:attrNameLst>
                                      </p:cBhvr>
                                      <p:to>
                                        <p:strVal val="visible"/>
                                      </p:to>
                                    </p:set>
                                    <p:animEffect transition="in" filter="wipe(left)">
                                      <p:cBhvr>
                                        <p:cTn id="7" dur="500"/>
                                        <p:tgtEl>
                                          <p:spTgt spid="126566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15.6 	Tacit Collusion in a Bertrand Model</a:t>
            </a:r>
          </a:p>
        </p:txBody>
      </p:sp>
      <p:sp>
        <p:nvSpPr>
          <p:cNvPr id="655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9202BF8A-5833-43D5-988C-59EEB75ECCB2}" type="slidenum">
              <a:rPr lang="en-US" smtClean="0"/>
              <a:pPr>
                <a:defRPr/>
              </a:pPr>
              <a:t>45</a:t>
            </a:fld>
            <a:endParaRPr lang="en-US" dirty="0"/>
          </a:p>
        </p:txBody>
      </p:sp>
      <p:sp>
        <p:nvSpPr>
          <p:cNvPr id="65539" name="Content Placeholder 2"/>
          <p:cNvSpPr>
            <a:spLocks noGrp="1"/>
          </p:cNvSpPr>
          <p:nvPr>
            <p:ph type="body" sz="quarter" idx="12"/>
          </p:nvPr>
        </p:nvSpPr>
        <p:spPr>
          <a:prstGeom prst="rect">
            <a:avLst/>
          </a:prstGeom>
        </p:spPr>
        <p:txBody>
          <a:bodyPr/>
          <a:lstStyle/>
          <a:p>
            <a:r>
              <a:rPr lang="en-US" altLang="en-US" dirty="0" smtClean="0"/>
              <a:t>Only 2 firms produce a medical device</a:t>
            </a:r>
          </a:p>
          <a:p>
            <a:pPr lvl="1"/>
            <a:r>
              <a:rPr lang="en-US" altLang="en-US" dirty="0" smtClean="0"/>
              <a:t>That is produced at constant average and marginal cost of $10</a:t>
            </a:r>
            <a:endParaRPr lang="en-US" altLang="en-US" sz="1600" dirty="0" smtClean="0"/>
          </a:p>
          <a:p>
            <a:r>
              <a:rPr lang="en-US" altLang="en-US" dirty="0" smtClean="0"/>
              <a:t>Demand for the device, </a:t>
            </a: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 = 5,000 – 100</a:t>
            </a:r>
            <a:r>
              <a:rPr lang="en-US" altLang="en-US" sz="2800" i="1" dirty="0" smtClean="0">
                <a:solidFill>
                  <a:srgbClr val="FF0000"/>
                </a:solidFill>
                <a:sym typeface="Symbol" pitchFamily="18" charset="2"/>
              </a:rPr>
              <a:t>P</a:t>
            </a:r>
          </a:p>
          <a:p>
            <a:r>
              <a:rPr lang="en-US" altLang="en-US" dirty="0" smtClean="0"/>
              <a:t>If the Bertrand game is played in a single period</a:t>
            </a:r>
          </a:p>
          <a:p>
            <a:pPr lvl="1"/>
            <a:r>
              <a:rPr lang="en-US" altLang="en-US" dirty="0" smtClean="0"/>
              <a:t>Each firm will charge $10 </a:t>
            </a:r>
          </a:p>
          <a:p>
            <a:pPr lvl="1"/>
            <a:r>
              <a:rPr lang="en-US" altLang="en-US" dirty="0" smtClean="0"/>
              <a:t>A total of 4,000 devices will be sold</a:t>
            </a:r>
          </a:p>
          <a:p>
            <a:pPr lvl="1"/>
            <a:r>
              <a:rPr lang="en-US" altLang="en-US" dirty="0" smtClean="0"/>
              <a:t>At the monopoly price, each firm would earn a profit of $20,000</a:t>
            </a:r>
            <a:endParaRPr lang="en-US" altLang="en-US" sz="2000" i="1" dirty="0" smtClean="0">
              <a:solidFill>
                <a:srgbClr val="7B332D"/>
              </a:solidFill>
              <a:sym typeface="Symbol" pitchFamily="18" charset="2"/>
            </a:endParaRPr>
          </a:p>
        </p:txBody>
      </p:sp>
    </p:spTree>
    <p:extLst>
      <p:ext uri="{BB962C8B-B14F-4D97-AF65-F5344CB8AC3E}">
        <p14:creationId xmlns:p14="http://schemas.microsoft.com/office/powerpoint/2010/main" val="13362917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15.6 	Tacit Collusion in a Bertrand Model</a:t>
            </a:r>
          </a:p>
        </p:txBody>
      </p:sp>
      <p:sp>
        <p:nvSpPr>
          <p:cNvPr id="1229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A3865210-4FAB-4C05-A574-B270B8E6DD52}" type="slidenum">
              <a:rPr lang="en-US" smtClean="0"/>
              <a:pPr>
                <a:defRPr/>
              </a:pPr>
              <a:t>46</a:t>
            </a:fld>
            <a:endParaRPr lang="en-US" dirty="0"/>
          </a:p>
        </p:txBody>
      </p:sp>
      <p:sp>
        <p:nvSpPr>
          <p:cNvPr id="12293" name="Content Placeholder 2"/>
          <p:cNvSpPr>
            <a:spLocks noGrp="1"/>
          </p:cNvSpPr>
          <p:nvPr>
            <p:ph type="body" sz="quarter" idx="12"/>
          </p:nvPr>
        </p:nvSpPr>
        <p:spPr>
          <a:prstGeom prst="rect">
            <a:avLst/>
          </a:prstGeom>
        </p:spPr>
        <p:txBody>
          <a:bodyPr/>
          <a:lstStyle/>
          <a:p>
            <a:r>
              <a:rPr lang="en-US" altLang="en-US" smtClean="0"/>
              <a:t>Collusion at the monopoly price is sustainable if</a:t>
            </a:r>
            <a:endParaRPr lang="en-US" altLang="en-US" sz="2400" i="1" smtClean="0">
              <a:solidFill>
                <a:srgbClr val="7B332D"/>
              </a:solidFill>
              <a:sym typeface="Symbol" pitchFamily="18" charset="2"/>
            </a:endParaRPr>
          </a:p>
        </p:txBody>
      </p:sp>
      <p:sp>
        <p:nvSpPr>
          <p:cNvPr id="2" name="Text Placeholder 1"/>
          <p:cNvSpPr>
            <a:spLocks noGrp="1"/>
          </p:cNvSpPr>
          <p:nvPr>
            <p:ph type="body" sz="quarter" idx="13"/>
          </p:nvPr>
        </p:nvSpPr>
        <p:spPr>
          <a:xfrm>
            <a:off x="381000" y="2209800"/>
            <a:ext cx="8382000" cy="3962400"/>
          </a:xfrm>
        </p:spPr>
        <p:txBody>
          <a:bodyPr/>
          <a:lstStyle/>
          <a:p>
            <a:pPr eaLnBrk="0" hangingPunct="0">
              <a:lnSpc>
                <a:spcPct val="90000"/>
              </a:lnSpc>
              <a:buFont typeface="Arial" charset="0"/>
              <a:buChar char="•"/>
              <a:defRPr/>
            </a:pPr>
            <a:r>
              <a:rPr lang="en-US" kern="0" dirty="0">
                <a:solidFill>
                  <a:srgbClr val="002D56"/>
                </a:solidFill>
              </a:rPr>
              <a:t>Now, suppose there are </a:t>
            </a:r>
            <a:r>
              <a:rPr lang="en-US" i="1" kern="0" dirty="0">
                <a:solidFill>
                  <a:srgbClr val="002D56"/>
                </a:solidFill>
              </a:rPr>
              <a:t>n</a:t>
            </a:r>
            <a:r>
              <a:rPr lang="en-US" kern="0" dirty="0">
                <a:solidFill>
                  <a:srgbClr val="002D56"/>
                </a:solidFill>
              </a:rPr>
              <a:t> </a:t>
            </a:r>
            <a:r>
              <a:rPr lang="en-US" kern="0" dirty="0" smtClean="0">
                <a:solidFill>
                  <a:srgbClr val="002D56"/>
                </a:solidFill>
              </a:rPr>
              <a:t>firms, Bertrand oligopoly</a:t>
            </a:r>
            <a:endParaRPr lang="en-US" kern="0" dirty="0">
              <a:solidFill>
                <a:srgbClr val="002D56"/>
              </a:solidFill>
            </a:endParaRPr>
          </a:p>
          <a:p>
            <a:pPr lvl="1" eaLnBrk="0" hangingPunct="0">
              <a:lnSpc>
                <a:spcPct val="90000"/>
              </a:lnSpc>
              <a:buFont typeface="Arial" charset="0"/>
              <a:buChar char="•"/>
              <a:defRPr/>
            </a:pPr>
            <a:r>
              <a:rPr lang="en-US" kern="0" dirty="0"/>
              <a:t>Monopoly profit is $40,000, but each firm’s share is 40,000/</a:t>
            </a:r>
            <a:r>
              <a:rPr lang="en-US" i="1" kern="0" dirty="0"/>
              <a:t>n</a:t>
            </a:r>
            <a:endParaRPr lang="en-US" kern="0" dirty="0"/>
          </a:p>
          <a:p>
            <a:pPr lvl="1" eaLnBrk="0" hangingPunct="0">
              <a:lnSpc>
                <a:spcPct val="90000"/>
              </a:lnSpc>
              <a:buFont typeface="Arial" charset="0"/>
              <a:buChar char="•"/>
              <a:defRPr/>
            </a:pPr>
            <a:r>
              <a:rPr lang="en-US" i="1" kern="0" dirty="0">
                <a:sym typeface="Symbol" pitchFamily="18" charset="2"/>
              </a:rPr>
              <a:t>n</a:t>
            </a:r>
            <a:r>
              <a:rPr lang="en-US" kern="0" dirty="0">
                <a:sym typeface="Symbol" pitchFamily="18" charset="2"/>
              </a:rPr>
              <a:t> firms can successfully collude on the monopoly price </a:t>
            </a:r>
            <a:r>
              <a:rPr lang="en-US" kern="0" dirty="0" smtClean="0">
                <a:sym typeface="Symbol" pitchFamily="18" charset="2"/>
              </a:rPr>
              <a:t>if</a:t>
            </a:r>
            <a:endParaRPr lang="en-US" sz="2400" i="1" kern="0" dirty="0">
              <a:solidFill>
                <a:srgbClr val="7B332D"/>
              </a:solidFill>
              <a:sym typeface="Symbol" pitchFamily="18" charset="2"/>
            </a:endParaRPr>
          </a:p>
        </p:txBody>
      </p:sp>
      <p:graphicFrame>
        <p:nvGraphicFramePr>
          <p:cNvPr id="64514" name="Object 2"/>
          <p:cNvGraphicFramePr>
            <a:graphicFrameLocks noChangeAspect="1"/>
          </p:cNvGraphicFramePr>
          <p:nvPr>
            <p:extLst>
              <p:ext uri="{D42A27DB-BD31-4B8C-83A1-F6EECF244321}">
                <p14:modId xmlns:p14="http://schemas.microsoft.com/office/powerpoint/2010/main" val="36194289"/>
              </p:ext>
            </p:extLst>
          </p:nvPr>
        </p:nvGraphicFramePr>
        <p:xfrm>
          <a:off x="2095500" y="1295400"/>
          <a:ext cx="4953000" cy="911225"/>
        </p:xfrm>
        <a:graphic>
          <a:graphicData uri="http://schemas.openxmlformats.org/presentationml/2006/ole">
            <mc:AlternateContent xmlns:mc="http://schemas.openxmlformats.org/markup-compatibility/2006">
              <mc:Choice xmlns:v="urn:schemas-microsoft-com:vml" Requires="v">
                <p:oleObj spid="_x0000_s329754" name="Equation" r:id="rId3" imgW="2349360" imgH="431640" progId="Equation.DSMT4">
                  <p:embed/>
                </p:oleObj>
              </mc:Choice>
              <mc:Fallback>
                <p:oleObj name="Equation" r:id="rId3" imgW="234936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0" y="1295400"/>
                        <a:ext cx="495300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7" name="Object 5"/>
          <p:cNvGraphicFramePr>
            <a:graphicFrameLocks noChangeAspect="1"/>
          </p:cNvGraphicFramePr>
          <p:nvPr/>
        </p:nvGraphicFramePr>
        <p:xfrm>
          <a:off x="1912938" y="5168900"/>
          <a:ext cx="5318125" cy="966788"/>
        </p:xfrm>
        <a:graphic>
          <a:graphicData uri="http://schemas.openxmlformats.org/presentationml/2006/ole">
            <mc:AlternateContent xmlns:mc="http://schemas.openxmlformats.org/markup-compatibility/2006">
              <mc:Choice xmlns:v="urn:schemas-microsoft-com:vml" Requires="v">
                <p:oleObj spid="_x0000_s329755" name="Equation" r:id="rId5" imgW="2374560" imgH="431640" progId="Equation.DSMT4">
                  <p:embed/>
                </p:oleObj>
              </mc:Choice>
              <mc:Fallback>
                <p:oleObj name="Equation" r:id="rId5" imgW="2374560" imgH="431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2938" y="5168900"/>
                        <a:ext cx="5318125"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287550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left)">
                                      <p:cBhvr>
                                        <p:cTn id="7" dur="500"/>
                                        <p:tgtEl>
                                          <p:spTgt spid="6451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64517"/>
                                        </p:tgtEl>
                                        <p:attrNameLst>
                                          <p:attrName>style.visibility</p:attrName>
                                        </p:attrNameLst>
                                      </p:cBhvr>
                                      <p:to>
                                        <p:strVal val="visible"/>
                                      </p:to>
                                    </p:set>
                                    <p:animEffect transition="in" filter="wipe(left)">
                                      <p:cBhvr>
                                        <p:cTn id="23" dur="5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15.7 	Tacit Collusion in a </a:t>
            </a:r>
            <a:r>
              <a:rPr lang="en-US" altLang="en-US" dirty="0" err="1" smtClean="0"/>
              <a:t>Cournot</a:t>
            </a:r>
            <a:r>
              <a:rPr lang="en-US" altLang="en-US" dirty="0" smtClean="0"/>
              <a:t> Model</a:t>
            </a:r>
          </a:p>
        </p:txBody>
      </p:sp>
      <p:sp>
        <p:nvSpPr>
          <p:cNvPr id="1331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1C38828-1F29-43C9-81B2-EA45A70A75BC}" type="slidenum">
              <a:rPr lang="en-US" smtClean="0"/>
              <a:pPr>
                <a:defRPr/>
              </a:pPr>
              <a:t>47</a:t>
            </a:fld>
            <a:endParaRPr lang="en-US" dirty="0"/>
          </a:p>
        </p:txBody>
      </p:sp>
      <p:sp>
        <p:nvSpPr>
          <p:cNvPr id="13316" name="Content Placeholder 2"/>
          <p:cNvSpPr>
            <a:spLocks noGrp="1"/>
          </p:cNvSpPr>
          <p:nvPr>
            <p:ph type="body" sz="quarter" idx="12"/>
          </p:nvPr>
        </p:nvSpPr>
        <p:spPr>
          <a:prstGeom prst="rect">
            <a:avLst/>
          </a:prstGeom>
        </p:spPr>
        <p:txBody>
          <a:bodyPr/>
          <a:lstStyle/>
          <a:p>
            <a:r>
              <a:rPr lang="en-US" altLang="en-US" smtClean="0"/>
              <a:t>Two firms producing medical devices</a:t>
            </a:r>
          </a:p>
          <a:p>
            <a:pPr lvl="1"/>
            <a:r>
              <a:rPr lang="en-US" altLang="en-US" smtClean="0"/>
              <a:t>Each period they now engage in quantity (Cournot) competition</a:t>
            </a:r>
          </a:p>
          <a:p>
            <a:pPr lvl="1"/>
            <a:r>
              <a:rPr lang="en-US" altLang="en-US" smtClean="0"/>
              <a:t>Monopoly outcome in a period</a:t>
            </a:r>
          </a:p>
          <a:p>
            <a:pPr lvl="2"/>
            <a:r>
              <a:rPr lang="en-US" altLang="en-US" smtClean="0"/>
              <a:t>Firms need to produce 1,000 each</a:t>
            </a:r>
          </a:p>
          <a:p>
            <a:pPr lvl="2"/>
            <a:r>
              <a:rPr lang="en-US" altLang="en-US" smtClean="0"/>
              <a:t>Price = $30</a:t>
            </a:r>
          </a:p>
          <a:p>
            <a:pPr lvl="2"/>
            <a:r>
              <a:rPr lang="en-US" altLang="en-US" smtClean="0"/>
              <a:t>Total profits = $40,000</a:t>
            </a:r>
          </a:p>
          <a:p>
            <a:pPr lvl="2"/>
            <a:r>
              <a:rPr lang="en-US" altLang="en-US" smtClean="0"/>
              <a:t>Firm profits = $20,000</a:t>
            </a:r>
          </a:p>
          <a:p>
            <a:pPr lvl="2"/>
            <a:r>
              <a:rPr lang="en-US" altLang="en-US" smtClean="0"/>
              <a:t>Present discounted value of the stream of these collusive profits: </a:t>
            </a:r>
          </a:p>
        </p:txBody>
      </p:sp>
      <p:graphicFrame>
        <p:nvGraphicFramePr>
          <p:cNvPr id="6" name="Object 2"/>
          <p:cNvGraphicFramePr>
            <a:graphicFrameLocks noChangeAspect="1"/>
          </p:cNvGraphicFramePr>
          <p:nvPr/>
        </p:nvGraphicFramePr>
        <p:xfrm>
          <a:off x="1992313" y="5484813"/>
          <a:ext cx="3082925" cy="903287"/>
        </p:xfrm>
        <a:graphic>
          <a:graphicData uri="http://schemas.openxmlformats.org/presentationml/2006/ole">
            <mc:AlternateContent xmlns:mc="http://schemas.openxmlformats.org/markup-compatibility/2006">
              <mc:Choice xmlns:v="urn:schemas-microsoft-com:vml" Requires="v">
                <p:oleObj spid="_x0000_s330765" name="Equation" r:id="rId3" imgW="1473120" imgH="431640" progId="Equation.DSMT4">
                  <p:embed/>
                </p:oleObj>
              </mc:Choice>
              <mc:Fallback>
                <p:oleObj name="Equation" r:id="rId3" imgW="14731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3" y="5484813"/>
                        <a:ext cx="3082925"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1399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15.7 	Tacit Collusion in a </a:t>
            </a:r>
            <a:r>
              <a:rPr lang="en-US" altLang="en-US" dirty="0" err="1" smtClean="0"/>
              <a:t>Cournot</a:t>
            </a:r>
            <a:r>
              <a:rPr lang="en-US" altLang="en-US" dirty="0" smtClean="0"/>
              <a:t> Model</a:t>
            </a:r>
          </a:p>
        </p:txBody>
      </p:sp>
      <p:sp>
        <p:nvSpPr>
          <p:cNvPr id="665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A5E978A3-DE8F-4B91-8C85-F317352CC52A}" type="slidenum">
              <a:rPr lang="en-US" smtClean="0"/>
              <a:pPr>
                <a:defRPr/>
              </a:pPr>
              <a:t>48</a:t>
            </a:fld>
            <a:endParaRPr lang="en-US" dirty="0"/>
          </a:p>
        </p:txBody>
      </p:sp>
      <p:sp>
        <p:nvSpPr>
          <p:cNvPr id="66563" name="Content Placeholder 2"/>
          <p:cNvSpPr>
            <a:spLocks noGrp="1"/>
          </p:cNvSpPr>
          <p:nvPr>
            <p:ph type="body" sz="quarter" idx="12"/>
          </p:nvPr>
        </p:nvSpPr>
        <p:spPr>
          <a:prstGeom prst="rect">
            <a:avLst/>
          </a:prstGeom>
        </p:spPr>
        <p:txBody>
          <a:bodyPr/>
          <a:lstStyle/>
          <a:p>
            <a:r>
              <a:rPr lang="en-US" altLang="en-US" smtClean="0"/>
              <a:t>If the inverse demand is P = 50 – Q/100</a:t>
            </a:r>
          </a:p>
          <a:p>
            <a:pPr lvl="1"/>
            <a:r>
              <a:rPr lang="en-US" altLang="en-US" smtClean="0"/>
              <a:t>Firm 1’s profit: </a:t>
            </a:r>
            <a:r>
              <a:rPr lang="el-GR" altLang="en-US" i="1" smtClean="0">
                <a:cs typeface="Arial" charset="0"/>
              </a:rPr>
              <a:t>π</a:t>
            </a:r>
            <a:r>
              <a:rPr lang="en-US" altLang="en-US" i="1" baseline="-25000" smtClean="0">
                <a:cs typeface="Arial" charset="0"/>
              </a:rPr>
              <a:t>1</a:t>
            </a:r>
            <a:r>
              <a:rPr lang="en-US" altLang="en-US" i="1" smtClean="0">
                <a:cs typeface="Arial" charset="0"/>
              </a:rPr>
              <a:t> = Pq</a:t>
            </a:r>
            <a:r>
              <a:rPr lang="en-US" altLang="en-US" i="1" baseline="-25000" smtClean="0">
                <a:cs typeface="Arial" charset="0"/>
              </a:rPr>
              <a:t>1</a:t>
            </a:r>
            <a:r>
              <a:rPr lang="en-US" altLang="en-US" i="1" smtClean="0">
                <a:cs typeface="Arial" charset="0"/>
              </a:rPr>
              <a:t> – cq</a:t>
            </a:r>
            <a:r>
              <a:rPr lang="en-US" altLang="en-US" i="1" baseline="-25000" smtClean="0">
                <a:cs typeface="Arial" charset="0"/>
              </a:rPr>
              <a:t>1</a:t>
            </a:r>
            <a:r>
              <a:rPr lang="en-US" altLang="en-US" i="1" smtClean="0">
                <a:cs typeface="Arial" charset="0"/>
              </a:rPr>
              <a:t> = q</a:t>
            </a:r>
            <a:r>
              <a:rPr lang="en-US" altLang="en-US" i="1" baseline="-25000" smtClean="0">
                <a:cs typeface="Arial" charset="0"/>
              </a:rPr>
              <a:t>1</a:t>
            </a:r>
            <a:r>
              <a:rPr lang="en-US" altLang="en-US" i="1" smtClean="0">
                <a:cs typeface="Arial" charset="0"/>
              </a:rPr>
              <a:t>[40-(q</a:t>
            </a:r>
            <a:r>
              <a:rPr lang="en-US" altLang="en-US" i="1" baseline="-25000" smtClean="0">
                <a:cs typeface="Arial" charset="0"/>
              </a:rPr>
              <a:t>1</a:t>
            </a:r>
            <a:r>
              <a:rPr lang="en-US" altLang="en-US" i="1" smtClean="0">
                <a:cs typeface="Arial" charset="0"/>
              </a:rPr>
              <a:t>+q</a:t>
            </a:r>
            <a:r>
              <a:rPr lang="en-US" altLang="en-US" i="1" baseline="-25000" smtClean="0">
                <a:cs typeface="Arial" charset="0"/>
              </a:rPr>
              <a:t>2</a:t>
            </a:r>
            <a:r>
              <a:rPr lang="en-US" altLang="en-US" i="1" smtClean="0">
                <a:cs typeface="Arial" charset="0"/>
              </a:rPr>
              <a:t>)/100]</a:t>
            </a:r>
            <a:r>
              <a:rPr lang="en-US" altLang="en-US" i="1" smtClean="0"/>
              <a:t> </a:t>
            </a:r>
          </a:p>
          <a:p>
            <a:pPr lvl="1"/>
            <a:r>
              <a:rPr lang="en-US" altLang="en-US" smtClean="0"/>
              <a:t>Best-response function: </a:t>
            </a:r>
            <a:r>
              <a:rPr lang="en-US" altLang="en-US" i="1" smtClean="0"/>
              <a:t>q</a:t>
            </a:r>
            <a:r>
              <a:rPr lang="en-US" altLang="en-US" i="1" baseline="-25000" smtClean="0"/>
              <a:t>1</a:t>
            </a:r>
            <a:r>
              <a:rPr lang="en-US" altLang="en-US" i="1" smtClean="0"/>
              <a:t>=2,000-q</a:t>
            </a:r>
            <a:r>
              <a:rPr lang="en-US" altLang="en-US" i="1" baseline="-25000" smtClean="0"/>
              <a:t>2</a:t>
            </a:r>
            <a:r>
              <a:rPr lang="en-US" altLang="en-US" smtClean="0"/>
              <a:t>/</a:t>
            </a:r>
            <a:r>
              <a:rPr lang="en-US" altLang="en-US" i="1" smtClean="0"/>
              <a:t>2</a:t>
            </a:r>
          </a:p>
          <a:p>
            <a:r>
              <a:rPr lang="en-US" altLang="en-US" smtClean="0"/>
              <a:t>Firm 1’s optimal deviation </a:t>
            </a:r>
          </a:p>
          <a:p>
            <a:pPr lvl="1"/>
            <a:r>
              <a:rPr lang="en-US" altLang="en-US" smtClean="0"/>
              <a:t>When firm 2 produces 1,000 units</a:t>
            </a:r>
          </a:p>
          <a:p>
            <a:pPr lvl="1"/>
            <a:r>
              <a:rPr lang="en-US" altLang="en-US" smtClean="0"/>
              <a:t>Is to increase its output from 1,000 to 1,500</a:t>
            </a:r>
          </a:p>
          <a:p>
            <a:pPr lvl="1"/>
            <a:r>
              <a:rPr lang="en-US" altLang="en-US" smtClean="0"/>
              <a:t>Firm 1 earns $22,500 in the period in which it deviates</a:t>
            </a:r>
          </a:p>
        </p:txBody>
      </p:sp>
    </p:spTree>
    <p:extLst>
      <p:ext uri="{BB962C8B-B14F-4D97-AF65-F5344CB8AC3E}">
        <p14:creationId xmlns:p14="http://schemas.microsoft.com/office/powerpoint/2010/main" val="37505837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15.7 	Tacit Collusion in a </a:t>
            </a:r>
            <a:r>
              <a:rPr lang="en-US" altLang="en-US" dirty="0" err="1" smtClean="0"/>
              <a:t>Cournot</a:t>
            </a:r>
            <a:r>
              <a:rPr lang="en-US" altLang="en-US" dirty="0" smtClean="0"/>
              <a:t> Model</a:t>
            </a:r>
          </a:p>
        </p:txBody>
      </p:sp>
      <p:sp>
        <p:nvSpPr>
          <p:cNvPr id="1434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AFA4F060-C458-40B8-9A90-472342AE8A04}" type="slidenum">
              <a:rPr lang="en-US" smtClean="0"/>
              <a:pPr>
                <a:defRPr/>
              </a:pPr>
              <a:t>49</a:t>
            </a:fld>
            <a:endParaRPr lang="en-US" dirty="0"/>
          </a:p>
        </p:txBody>
      </p:sp>
      <p:sp>
        <p:nvSpPr>
          <p:cNvPr id="14341" name="Content Placeholder 2"/>
          <p:cNvSpPr>
            <a:spLocks noGrp="1"/>
          </p:cNvSpPr>
          <p:nvPr>
            <p:ph type="body" sz="quarter" idx="12"/>
          </p:nvPr>
        </p:nvSpPr>
        <p:spPr>
          <a:xfrm>
            <a:off x="381000" y="533400"/>
            <a:ext cx="8382000" cy="3657600"/>
          </a:xfrm>
          <a:prstGeom prst="rect">
            <a:avLst/>
          </a:prstGeom>
        </p:spPr>
        <p:txBody>
          <a:bodyPr>
            <a:normAutofit/>
          </a:bodyPr>
          <a:lstStyle/>
          <a:p>
            <a:r>
              <a:rPr lang="en-US" altLang="en-US" dirty="0" smtClean="0"/>
              <a:t>Trigger strategies: reverting to the Nash equilibrium of the stage game</a:t>
            </a:r>
          </a:p>
          <a:p>
            <a:pPr lvl="1"/>
            <a:r>
              <a:rPr lang="en-US" altLang="en-US" dirty="0" smtClean="0"/>
              <a:t>Nash equilibrium outputs: </a:t>
            </a:r>
            <a:r>
              <a:rPr lang="en-US" altLang="en-US" i="1" dirty="0" smtClean="0"/>
              <a:t>q</a:t>
            </a:r>
            <a:r>
              <a:rPr lang="en-US" altLang="en-US" i="1" baseline="-25000" dirty="0" smtClean="0"/>
              <a:t>1</a:t>
            </a:r>
            <a:r>
              <a:rPr lang="en-US" altLang="en-US" i="1" dirty="0" smtClean="0"/>
              <a:t>*=q</a:t>
            </a:r>
            <a:r>
              <a:rPr lang="en-US" altLang="en-US" i="1" baseline="-25000" dirty="0" smtClean="0"/>
              <a:t>2</a:t>
            </a:r>
            <a:r>
              <a:rPr lang="en-US" altLang="en-US" i="1" dirty="0" smtClean="0"/>
              <a:t>*=4,000/3</a:t>
            </a:r>
          </a:p>
          <a:p>
            <a:pPr lvl="1"/>
            <a:r>
              <a:rPr lang="en-US" altLang="en-US" dirty="0" smtClean="0"/>
              <a:t>Profits: </a:t>
            </a:r>
            <a:r>
              <a:rPr lang="el-GR" altLang="en-US" i="1" dirty="0" smtClean="0">
                <a:cs typeface="Arial" charset="0"/>
              </a:rPr>
              <a:t>π</a:t>
            </a:r>
            <a:r>
              <a:rPr lang="en-US" altLang="en-US" i="1" baseline="-25000" dirty="0" smtClean="0">
                <a:cs typeface="Arial" charset="0"/>
              </a:rPr>
              <a:t>1</a:t>
            </a:r>
            <a:r>
              <a:rPr lang="en-US" altLang="en-US" i="1" dirty="0" smtClean="0">
                <a:cs typeface="Arial" charset="0"/>
              </a:rPr>
              <a:t>*=</a:t>
            </a:r>
            <a:r>
              <a:rPr lang="el-GR" altLang="en-US" i="1" dirty="0" smtClean="0">
                <a:cs typeface="Arial" charset="0"/>
              </a:rPr>
              <a:t>π</a:t>
            </a:r>
            <a:r>
              <a:rPr lang="en-US" altLang="en-US" i="1" baseline="-25000" dirty="0" smtClean="0">
                <a:cs typeface="Arial" charset="0"/>
              </a:rPr>
              <a:t>2</a:t>
            </a:r>
            <a:r>
              <a:rPr lang="en-US" altLang="en-US" i="1" dirty="0" smtClean="0">
                <a:cs typeface="Arial" charset="0"/>
              </a:rPr>
              <a:t>*=</a:t>
            </a:r>
            <a:r>
              <a:rPr lang="en-US" altLang="en-US" i="1" dirty="0" smtClean="0"/>
              <a:t> $17,778</a:t>
            </a:r>
          </a:p>
          <a:p>
            <a:pPr lvl="1"/>
            <a:r>
              <a:rPr lang="en-US" altLang="en-US" dirty="0" smtClean="0"/>
              <a:t>Firm 1’s present discounted value of the stream of profits from deviation</a:t>
            </a:r>
          </a:p>
        </p:txBody>
      </p:sp>
      <p:sp>
        <p:nvSpPr>
          <p:cNvPr id="2" name="Text Placeholder 1"/>
          <p:cNvSpPr>
            <a:spLocks noGrp="1"/>
          </p:cNvSpPr>
          <p:nvPr>
            <p:ph type="body" sz="quarter" idx="13"/>
          </p:nvPr>
        </p:nvSpPr>
        <p:spPr>
          <a:xfrm>
            <a:off x="381000" y="4724400"/>
            <a:ext cx="8382000" cy="1447800"/>
          </a:xfrm>
        </p:spPr>
        <p:txBody>
          <a:bodyPr/>
          <a:lstStyle/>
          <a:p>
            <a:pPr lvl="1"/>
            <a:r>
              <a:rPr lang="en-US" kern="0" dirty="0"/>
              <a:t>We have </a:t>
            </a:r>
          </a:p>
        </p:txBody>
      </p:sp>
      <p:graphicFrame>
        <p:nvGraphicFramePr>
          <p:cNvPr id="6" name="Object 2"/>
          <p:cNvGraphicFramePr>
            <a:graphicFrameLocks noChangeAspect="1"/>
          </p:cNvGraphicFramePr>
          <p:nvPr>
            <p:extLst>
              <p:ext uri="{D42A27DB-BD31-4B8C-83A1-F6EECF244321}">
                <p14:modId xmlns:p14="http://schemas.microsoft.com/office/powerpoint/2010/main" val="2768444095"/>
              </p:ext>
            </p:extLst>
          </p:nvPr>
        </p:nvGraphicFramePr>
        <p:xfrm>
          <a:off x="1649413" y="3714750"/>
          <a:ext cx="5489575" cy="1085850"/>
        </p:xfrm>
        <a:graphic>
          <a:graphicData uri="http://schemas.openxmlformats.org/presentationml/2006/ole">
            <mc:AlternateContent xmlns:mc="http://schemas.openxmlformats.org/markup-compatibility/2006">
              <mc:Choice xmlns:v="urn:schemas-microsoft-com:vml" Requires="v">
                <p:oleObj spid="_x0000_s331800" name="Equation" r:id="rId3" imgW="2184120" imgH="431640" progId="Equation.DSMT4">
                  <p:embed/>
                </p:oleObj>
              </mc:Choice>
              <mc:Fallback>
                <p:oleObj name="Equation" r:id="rId3" imgW="21841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9413" y="3714750"/>
                        <a:ext cx="548957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7" name="Object 3"/>
          <p:cNvGraphicFramePr>
            <a:graphicFrameLocks noChangeAspect="1"/>
          </p:cNvGraphicFramePr>
          <p:nvPr/>
        </p:nvGraphicFramePr>
        <p:xfrm>
          <a:off x="1703388" y="5370513"/>
          <a:ext cx="4926012" cy="506412"/>
        </p:xfrm>
        <a:graphic>
          <a:graphicData uri="http://schemas.openxmlformats.org/presentationml/2006/ole">
            <mc:AlternateContent xmlns:mc="http://schemas.openxmlformats.org/markup-compatibility/2006">
              <mc:Choice xmlns:v="urn:schemas-microsoft-com:vml" Requires="v">
                <p:oleObj spid="_x0000_s331801" name="Equation" r:id="rId5" imgW="1981080" imgH="203040" progId="Equation.DSMT4">
                  <p:embed/>
                </p:oleObj>
              </mc:Choice>
              <mc:Fallback>
                <p:oleObj name="Equation" r:id="rId5" imgW="198108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3388" y="5370513"/>
                        <a:ext cx="4926012"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023610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7587"/>
                                        </p:tgtEl>
                                        <p:attrNameLst>
                                          <p:attrName>style.visibility</p:attrName>
                                        </p:attrNameLst>
                                      </p:cBhvr>
                                      <p:to>
                                        <p:strVal val="visible"/>
                                      </p:to>
                                    </p:set>
                                    <p:animEffect transition="in" filter="wipe(left)">
                                      <p:cBhvr>
                                        <p:cTn id="15" dur="500"/>
                                        <p:tgtEl>
                                          <p:spTgt spid="6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04800" y="0"/>
            <a:ext cx="8839200" cy="990600"/>
          </a:xfrm>
        </p:spPr>
        <p:txBody>
          <a:bodyPr>
            <a:noAutofit/>
          </a:bodyPr>
          <a:lstStyle/>
          <a:p>
            <a:r>
              <a:rPr lang="en-US" altLang="en-US" sz="3500" dirty="0" smtClean="0"/>
              <a:t>Longer-Run Decisions: </a:t>
            </a:r>
            <a:br>
              <a:rPr lang="en-US" altLang="en-US" sz="3500" dirty="0" smtClean="0"/>
            </a:br>
            <a:r>
              <a:rPr lang="en-US" altLang="en-US" sz="3500" dirty="0" smtClean="0"/>
              <a:t>Investment, Entry, </a:t>
            </a:r>
            <a:r>
              <a:rPr lang="en-US" altLang="en-US" sz="3500" dirty="0" smtClean="0"/>
              <a:t>and </a:t>
            </a:r>
            <a:r>
              <a:rPr lang="en-US" altLang="en-US" sz="3500" dirty="0" smtClean="0"/>
              <a:t>Exit</a:t>
            </a:r>
          </a:p>
        </p:txBody>
      </p:sp>
      <p:sp>
        <p:nvSpPr>
          <p:cNvPr id="67587" name="Rectangle 3"/>
          <p:cNvSpPr>
            <a:spLocks noGrp="1" noChangeArrowheads="1"/>
          </p:cNvSpPr>
          <p:nvPr>
            <p:ph idx="1"/>
          </p:nvPr>
        </p:nvSpPr>
        <p:spPr/>
        <p:txBody>
          <a:bodyPr/>
          <a:lstStyle/>
          <a:p>
            <a:r>
              <a:rPr lang="en-US" altLang="en-US" smtClean="0"/>
              <a:t>When making long-run decisions</a:t>
            </a:r>
          </a:p>
          <a:p>
            <a:pPr lvl="1"/>
            <a:r>
              <a:rPr lang="en-US" altLang="en-US" smtClean="0"/>
              <a:t>An oligopolist must consider how rivals will respond</a:t>
            </a:r>
          </a:p>
          <a:p>
            <a:pPr lvl="1"/>
            <a:r>
              <a:rPr lang="en-US" altLang="en-US" smtClean="0"/>
              <a:t>How easy it is to reverse a decision once it has been made</a:t>
            </a:r>
          </a:p>
          <a:p>
            <a:pPr lvl="1"/>
            <a:r>
              <a:rPr lang="en-US" altLang="en-US" smtClean="0"/>
              <a:t>Value flexibility and reversibility</a:t>
            </a:r>
          </a:p>
          <a:p>
            <a:pPr lvl="1"/>
            <a:r>
              <a:rPr lang="en-US" altLang="en-US" smtClean="0"/>
              <a:t>Value commitment</a:t>
            </a:r>
          </a:p>
          <a:p>
            <a:pPr lvl="2"/>
            <a:r>
              <a:rPr lang="en-US" altLang="en-US" smtClean="0"/>
              <a:t>Firm can gain first-mover advantage</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59E909F-D8FA-4955-B565-AC110467AEB1}" type="slidenum">
              <a:rPr lang="en-US" smtClean="0"/>
              <a:pPr>
                <a:defRPr/>
              </a:pPr>
              <a:t>50</a:t>
            </a:fld>
            <a:endParaRPr lang="en-US"/>
          </a:p>
        </p:txBody>
      </p:sp>
    </p:spTree>
    <p:extLst>
      <p:ext uri="{BB962C8B-B14F-4D97-AF65-F5344CB8AC3E}">
        <p14:creationId xmlns:p14="http://schemas.microsoft.com/office/powerpoint/2010/main" val="57825189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Flexibility </a:t>
            </a:r>
            <a:r>
              <a:rPr lang="en-US" dirty="0" smtClean="0"/>
              <a:t>Versus Commitment</a:t>
            </a:r>
            <a:endParaRPr lang="en-US" dirty="0"/>
          </a:p>
        </p:txBody>
      </p:sp>
      <p:sp>
        <p:nvSpPr>
          <p:cNvPr id="3" name="Content Placeholder 2"/>
          <p:cNvSpPr>
            <a:spLocks noGrp="1"/>
          </p:cNvSpPr>
          <p:nvPr>
            <p:ph idx="1"/>
          </p:nvPr>
        </p:nvSpPr>
        <p:spPr/>
        <p:txBody>
          <a:bodyPr/>
          <a:lstStyle/>
          <a:p>
            <a:r>
              <a:rPr lang="en-US" dirty="0" smtClean="0"/>
              <a:t>How easy it </a:t>
            </a:r>
            <a:r>
              <a:rPr lang="en-US" dirty="0"/>
              <a:t>is to reverse a decision once it has been </a:t>
            </a:r>
            <a:r>
              <a:rPr lang="en-US" dirty="0" smtClean="0"/>
              <a:t>made?</a:t>
            </a:r>
          </a:p>
          <a:p>
            <a:pPr lvl="1"/>
            <a:r>
              <a:rPr lang="en-US" dirty="0"/>
              <a:t>Absent strategic </a:t>
            </a:r>
            <a:r>
              <a:rPr lang="en-US" dirty="0" smtClean="0"/>
              <a:t>considerations (monopolist) a </a:t>
            </a:r>
            <a:r>
              <a:rPr lang="en-US" dirty="0"/>
              <a:t>firm would always value flexibility and </a:t>
            </a:r>
            <a:r>
              <a:rPr lang="en-US" dirty="0" smtClean="0"/>
              <a:t>reversibility</a:t>
            </a:r>
          </a:p>
          <a:p>
            <a:pPr lvl="1"/>
            <a:r>
              <a:rPr lang="en-US" dirty="0" smtClean="0"/>
              <a:t>The strategic </a:t>
            </a:r>
            <a:r>
              <a:rPr lang="en-US" dirty="0"/>
              <a:t>considerations that arise in an oligopoly setting may lead </a:t>
            </a:r>
            <a:r>
              <a:rPr lang="en-US" dirty="0" smtClean="0"/>
              <a:t>a firm </a:t>
            </a:r>
            <a:r>
              <a:rPr lang="en-US" dirty="0"/>
              <a:t>to prefer its decision be irreversible</a:t>
            </a:r>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51</a:t>
            </a:fld>
            <a:endParaRPr lang="en-US"/>
          </a:p>
        </p:txBody>
      </p:sp>
    </p:spTree>
    <p:extLst>
      <p:ext uri="{BB962C8B-B14F-4D97-AF65-F5344CB8AC3E}">
        <p14:creationId xmlns:p14="http://schemas.microsoft.com/office/powerpoint/2010/main" val="28522487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en-US" dirty="0" smtClean="0"/>
              <a:t>Sunk </a:t>
            </a:r>
            <a:r>
              <a:rPr lang="en-US" altLang="en-US" dirty="0" smtClean="0"/>
              <a:t>Costs</a:t>
            </a:r>
            <a:endParaRPr lang="en-US" altLang="en-US" dirty="0" smtClean="0"/>
          </a:p>
        </p:txBody>
      </p:sp>
      <p:sp>
        <p:nvSpPr>
          <p:cNvPr id="68611" name="Rectangle 3"/>
          <p:cNvSpPr>
            <a:spLocks noGrp="1" noChangeArrowheads="1"/>
          </p:cNvSpPr>
          <p:nvPr>
            <p:ph idx="1"/>
          </p:nvPr>
        </p:nvSpPr>
        <p:spPr/>
        <p:txBody>
          <a:bodyPr/>
          <a:lstStyle/>
          <a:p>
            <a:r>
              <a:rPr lang="en-US" altLang="en-US" smtClean="0"/>
              <a:t>Sunk costs </a:t>
            </a:r>
          </a:p>
          <a:p>
            <a:pPr lvl="1"/>
            <a:r>
              <a:rPr lang="en-US" altLang="en-US" smtClean="0"/>
              <a:t>Expenditure on an investment that cannot be reversed and has no resale value</a:t>
            </a:r>
          </a:p>
          <a:p>
            <a:pPr lvl="1"/>
            <a:r>
              <a:rPr lang="en-US" altLang="en-US" smtClean="0"/>
              <a:t>Allow the firm to produce in the market but have no residual value if the firm leaves the market</a:t>
            </a:r>
          </a:p>
          <a:p>
            <a:pPr lvl="1"/>
            <a:r>
              <a:rPr lang="en-US" altLang="en-US" smtClean="0"/>
              <a:t>Could include expenditures on unique types of equipment or job-specific training of workers</a:t>
            </a:r>
            <a:endParaRPr lang="en-US" altLang="en-US" u="sng"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2B1F35F-2489-42D3-B02E-77806A07B36A}" type="slidenum">
              <a:rPr lang="en-US" smtClean="0"/>
              <a:pPr>
                <a:defRPr/>
              </a:pPr>
              <a:t>52</a:t>
            </a:fld>
            <a:endParaRPr lang="en-US"/>
          </a:p>
        </p:txBody>
      </p:sp>
    </p:spTree>
    <p:extLst>
      <p:ext uri="{BB962C8B-B14F-4D97-AF65-F5344CB8AC3E}">
        <p14:creationId xmlns:p14="http://schemas.microsoft.com/office/powerpoint/2010/main" val="29900975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04800" y="0"/>
            <a:ext cx="8839200" cy="1143000"/>
          </a:xfrm>
        </p:spPr>
        <p:txBody>
          <a:bodyPr>
            <a:noAutofit/>
          </a:bodyPr>
          <a:lstStyle/>
          <a:p>
            <a:pPr>
              <a:lnSpc>
                <a:spcPct val="90000"/>
              </a:lnSpc>
            </a:pPr>
            <a:r>
              <a:rPr lang="en-US" altLang="en-US" sz="3600" dirty="0" smtClean="0"/>
              <a:t>First-Mover Advantage </a:t>
            </a:r>
            <a:br>
              <a:rPr lang="en-US" altLang="en-US" sz="3600" dirty="0" smtClean="0"/>
            </a:br>
            <a:r>
              <a:rPr lang="en-US" altLang="en-US" sz="3600" dirty="0" smtClean="0"/>
              <a:t>in the </a:t>
            </a:r>
            <a:r>
              <a:rPr lang="en-US" altLang="en-US" sz="3600" dirty="0" err="1" smtClean="0"/>
              <a:t>Stackelberg</a:t>
            </a:r>
            <a:r>
              <a:rPr lang="en-US" altLang="en-US" sz="3600" dirty="0" smtClean="0"/>
              <a:t> Model</a:t>
            </a:r>
          </a:p>
        </p:txBody>
      </p:sp>
      <p:sp>
        <p:nvSpPr>
          <p:cNvPr id="69635" name="Rectangle 3"/>
          <p:cNvSpPr>
            <a:spLocks noGrp="1" noChangeArrowheads="1"/>
          </p:cNvSpPr>
          <p:nvPr>
            <p:ph idx="1"/>
          </p:nvPr>
        </p:nvSpPr>
        <p:spPr/>
        <p:txBody>
          <a:bodyPr/>
          <a:lstStyle/>
          <a:p>
            <a:r>
              <a:rPr lang="en-US" altLang="en-US" dirty="0" smtClean="0"/>
              <a:t>Similar to the duopoly version of the </a:t>
            </a:r>
            <a:r>
              <a:rPr lang="en-US" altLang="en-US" dirty="0" err="1" smtClean="0"/>
              <a:t>Cournot</a:t>
            </a:r>
            <a:r>
              <a:rPr lang="en-US" altLang="en-US" dirty="0" smtClean="0"/>
              <a:t> model </a:t>
            </a:r>
          </a:p>
          <a:p>
            <a:pPr lvl="1"/>
            <a:r>
              <a:rPr lang="en-US" altLang="en-US" dirty="0" smtClean="0"/>
              <a:t>Except firms move sequentially</a:t>
            </a:r>
          </a:p>
          <a:p>
            <a:pPr lvl="1"/>
            <a:r>
              <a:rPr lang="en-US" altLang="en-US" dirty="0" smtClean="0"/>
              <a:t>Firm 1 (the leader) chooses </a:t>
            </a:r>
            <a:r>
              <a:rPr lang="en-US" altLang="en-US" i="1" dirty="0" smtClean="0"/>
              <a:t>q</a:t>
            </a:r>
            <a:r>
              <a:rPr lang="en-US" altLang="en-US" baseline="-25000" dirty="0" smtClean="0"/>
              <a:t>1</a:t>
            </a:r>
            <a:r>
              <a:rPr lang="en-US" altLang="en-US" dirty="0" smtClean="0"/>
              <a:t> first</a:t>
            </a:r>
          </a:p>
          <a:p>
            <a:pPr lvl="1"/>
            <a:r>
              <a:rPr lang="en-US" altLang="en-US" dirty="0" smtClean="0"/>
              <a:t>Firm 2 (the follower) chooses </a:t>
            </a:r>
            <a:r>
              <a:rPr lang="en-US" altLang="en-US" i="1" dirty="0" smtClean="0"/>
              <a:t>q</a:t>
            </a:r>
            <a:r>
              <a:rPr lang="en-US" altLang="en-US" baseline="-25000" dirty="0" smtClean="0"/>
              <a:t>2</a:t>
            </a:r>
            <a:r>
              <a:rPr lang="en-US" altLang="en-US" dirty="0" smtClean="0"/>
              <a:t> after seeing </a:t>
            </a:r>
            <a:r>
              <a:rPr lang="en-US" altLang="en-US" i="1" dirty="0" smtClean="0"/>
              <a:t>q</a:t>
            </a:r>
            <a:r>
              <a:rPr lang="en-US" altLang="en-US" baseline="-25000" dirty="0" smtClean="0"/>
              <a:t>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4816865-B520-4140-8ABF-ED550C036EA4}" type="slidenum">
              <a:rPr lang="en-US" smtClean="0"/>
              <a:pPr>
                <a:defRPr/>
              </a:pPr>
              <a:t>53</a:t>
            </a:fld>
            <a:endParaRPr lang="en-US"/>
          </a:p>
        </p:txBody>
      </p:sp>
    </p:spTree>
    <p:extLst>
      <p:ext uri="{BB962C8B-B14F-4D97-AF65-F5344CB8AC3E}">
        <p14:creationId xmlns:p14="http://schemas.microsoft.com/office/powerpoint/2010/main" val="1686528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4800" y="0"/>
            <a:ext cx="8839200" cy="1143000"/>
          </a:xfrm>
        </p:spPr>
        <p:txBody>
          <a:bodyPr>
            <a:noAutofit/>
          </a:bodyPr>
          <a:lstStyle/>
          <a:p>
            <a:pPr>
              <a:lnSpc>
                <a:spcPct val="90000"/>
              </a:lnSpc>
            </a:pPr>
            <a:r>
              <a:rPr lang="en-US" altLang="en-US" sz="3600" dirty="0" smtClean="0"/>
              <a:t>First-Mover Advantage </a:t>
            </a:r>
            <a:br>
              <a:rPr lang="en-US" altLang="en-US" sz="3600" dirty="0" smtClean="0"/>
            </a:br>
            <a:r>
              <a:rPr lang="en-US" altLang="en-US" sz="3600" dirty="0" smtClean="0"/>
              <a:t>in the </a:t>
            </a:r>
            <a:r>
              <a:rPr lang="en-US" altLang="en-US" sz="3600" dirty="0" err="1" smtClean="0"/>
              <a:t>Stackelberg</a:t>
            </a:r>
            <a:r>
              <a:rPr lang="en-US" altLang="en-US" sz="3600" dirty="0" smtClean="0"/>
              <a:t> Model</a:t>
            </a:r>
          </a:p>
        </p:txBody>
      </p:sp>
      <p:sp>
        <p:nvSpPr>
          <p:cNvPr id="70659" name="Rectangle 3"/>
          <p:cNvSpPr>
            <a:spLocks noGrp="1" noChangeArrowheads="1"/>
          </p:cNvSpPr>
          <p:nvPr>
            <p:ph idx="1"/>
          </p:nvPr>
        </p:nvSpPr>
        <p:spPr/>
        <p:txBody>
          <a:bodyPr/>
          <a:lstStyle/>
          <a:p>
            <a:r>
              <a:rPr lang="en-US" altLang="en-US" dirty="0" smtClean="0"/>
              <a:t>Solve the model by backward induction</a:t>
            </a:r>
          </a:p>
          <a:p>
            <a:pPr lvl="1"/>
            <a:r>
              <a:rPr lang="en-US" altLang="en-US" dirty="0" smtClean="0"/>
              <a:t>Begin with output of the follower (</a:t>
            </a:r>
            <a:r>
              <a:rPr lang="en-US" altLang="en-US" i="1" dirty="0" smtClean="0"/>
              <a:t>q</a:t>
            </a:r>
            <a:r>
              <a:rPr lang="en-US" altLang="en-US" baseline="-25000" dirty="0" smtClean="0"/>
              <a:t>2</a:t>
            </a:r>
            <a:r>
              <a:rPr lang="en-US" altLang="en-US" dirty="0" smtClean="0"/>
              <a:t>)</a:t>
            </a:r>
          </a:p>
          <a:p>
            <a:pPr lvl="2"/>
            <a:r>
              <a:rPr lang="en-US" altLang="en-US" dirty="0" smtClean="0"/>
              <a:t>This results in a best-response function for firm 2 [</a:t>
            </a:r>
            <a:r>
              <a:rPr lang="en-US" altLang="en-US" i="1" dirty="0" smtClean="0"/>
              <a:t>BR</a:t>
            </a:r>
            <a:r>
              <a:rPr lang="en-US" altLang="en-US" i="1" baseline="-25000" dirty="0" smtClean="0"/>
              <a:t>2</a:t>
            </a:r>
            <a:r>
              <a:rPr lang="en-US" altLang="en-US" dirty="0" smtClean="0"/>
              <a:t>(</a:t>
            </a:r>
            <a:r>
              <a:rPr lang="en-US" altLang="en-US" i="1" dirty="0" smtClean="0"/>
              <a:t>q</a:t>
            </a:r>
            <a:r>
              <a:rPr lang="en-US" altLang="en-US" baseline="-25000" dirty="0" smtClean="0"/>
              <a:t>1</a:t>
            </a:r>
            <a:r>
              <a:rPr lang="en-US" altLang="en-US" dirty="0" smtClean="0"/>
              <a:t>)]</a:t>
            </a:r>
          </a:p>
          <a:p>
            <a:pPr lvl="1"/>
            <a:r>
              <a:rPr lang="en-US" altLang="en-US" dirty="0" smtClean="0"/>
              <a:t>Substitute </a:t>
            </a:r>
            <a:r>
              <a:rPr lang="en-US" altLang="en-US" i="1" dirty="0" smtClean="0"/>
              <a:t>BR</a:t>
            </a:r>
            <a:r>
              <a:rPr lang="en-US" altLang="en-US" i="1" baseline="-25000" dirty="0" smtClean="0"/>
              <a:t>2</a:t>
            </a:r>
            <a:r>
              <a:rPr lang="en-US" altLang="en-US" dirty="0" smtClean="0"/>
              <a:t>(</a:t>
            </a:r>
            <a:r>
              <a:rPr lang="en-US" altLang="en-US" i="1" dirty="0" smtClean="0"/>
              <a:t>q</a:t>
            </a:r>
            <a:r>
              <a:rPr lang="en-US" altLang="en-US" baseline="-25000" dirty="0" smtClean="0"/>
              <a:t>1</a:t>
            </a:r>
            <a:r>
              <a:rPr lang="en-US" altLang="en-US" dirty="0" smtClean="0"/>
              <a:t>) into Firm 1’s profit function</a:t>
            </a:r>
          </a:p>
          <a:p>
            <a:pPr lvl="1" algn="ctr">
              <a:buFontTx/>
              <a:buNone/>
            </a:pPr>
            <a:r>
              <a:rPr lang="en-US" altLang="en-US" dirty="0" smtClean="0">
                <a:solidFill>
                  <a:srgbClr val="FF0000"/>
                </a:solidFill>
                <a:sym typeface="Symbol" pitchFamily="18" charset="2"/>
              </a:rPr>
              <a:t></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P</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BR</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q</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a:t>
            </a:r>
          </a:p>
          <a:p>
            <a:pPr lvl="1"/>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D4B6AF6-E62D-43F0-9C33-17B88077A900}" type="slidenum">
              <a:rPr lang="en-US" smtClean="0"/>
              <a:pPr>
                <a:defRPr/>
              </a:pPr>
              <a:t>54</a:t>
            </a:fld>
            <a:endParaRPr lang="en-US"/>
          </a:p>
        </p:txBody>
      </p:sp>
    </p:spTree>
    <p:extLst>
      <p:ext uri="{BB962C8B-B14F-4D97-AF65-F5344CB8AC3E}">
        <p14:creationId xmlns:p14="http://schemas.microsoft.com/office/powerpoint/2010/main" val="271023660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304800" y="0"/>
            <a:ext cx="8839200" cy="1143000"/>
          </a:xfrm>
        </p:spPr>
        <p:txBody>
          <a:bodyPr>
            <a:noAutofit/>
          </a:bodyPr>
          <a:lstStyle/>
          <a:p>
            <a:pPr>
              <a:lnSpc>
                <a:spcPct val="90000"/>
              </a:lnSpc>
            </a:pPr>
            <a:r>
              <a:rPr lang="en-US" altLang="en-US" sz="3600" dirty="0" smtClean="0"/>
              <a:t>First-Mover Advantage </a:t>
            </a:r>
            <a:br>
              <a:rPr lang="en-US" altLang="en-US" sz="3600" dirty="0" smtClean="0"/>
            </a:br>
            <a:r>
              <a:rPr lang="en-US" altLang="en-US" sz="3600" dirty="0" smtClean="0"/>
              <a:t>in the </a:t>
            </a:r>
            <a:r>
              <a:rPr lang="en-US" altLang="en-US" sz="3600" dirty="0" err="1" smtClean="0"/>
              <a:t>Stackelberg</a:t>
            </a:r>
            <a:r>
              <a:rPr lang="en-US" altLang="en-US" sz="3600" dirty="0" smtClean="0"/>
              <a:t> Model</a:t>
            </a:r>
          </a:p>
        </p:txBody>
      </p:sp>
      <p:sp>
        <p:nvSpPr>
          <p:cNvPr id="15364" name="Rectangle 3"/>
          <p:cNvSpPr>
            <a:spLocks noGrp="1" noChangeArrowheads="1"/>
          </p:cNvSpPr>
          <p:nvPr>
            <p:ph idx="1"/>
          </p:nvPr>
        </p:nvSpPr>
        <p:spPr/>
        <p:txBody>
          <a:bodyPr/>
          <a:lstStyle/>
          <a:p>
            <a:r>
              <a:rPr lang="en-US" altLang="en-US" smtClean="0"/>
              <a:t>First-order condition: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2CC8102-D2A2-467A-AC41-1AEDA5EC1B2D}" type="slidenum">
              <a:rPr lang="en-US" smtClean="0"/>
              <a:pPr>
                <a:defRPr/>
              </a:pPr>
              <a:t>55</a:t>
            </a:fld>
            <a:endParaRPr lang="en-US"/>
          </a:p>
        </p:txBody>
      </p:sp>
      <p:sp>
        <p:nvSpPr>
          <p:cNvPr id="3" name="Text Placeholder 2"/>
          <p:cNvSpPr>
            <a:spLocks noGrp="1"/>
          </p:cNvSpPr>
          <p:nvPr>
            <p:ph type="body" sz="quarter" idx="12"/>
          </p:nvPr>
        </p:nvSpPr>
        <p:spPr/>
        <p:txBody>
          <a:bodyPr/>
          <a:lstStyle/>
          <a:p>
            <a:pPr lvl="1"/>
            <a:r>
              <a:rPr lang="en-US" kern="0" dirty="0" smtClean="0">
                <a:sym typeface="Symbol" pitchFamily="18" charset="2"/>
              </a:rPr>
              <a:t>This is </a:t>
            </a:r>
            <a:r>
              <a:rPr lang="en-US" kern="0" dirty="0">
                <a:sym typeface="Symbol" pitchFamily="18" charset="2"/>
              </a:rPr>
              <a:t>the same FOC as in the </a:t>
            </a:r>
            <a:r>
              <a:rPr lang="en-US" kern="0" dirty="0" err="1">
                <a:sym typeface="Symbol" pitchFamily="18" charset="2"/>
              </a:rPr>
              <a:t>Cournot</a:t>
            </a:r>
            <a:r>
              <a:rPr lang="en-US" kern="0" dirty="0">
                <a:sym typeface="Symbol" pitchFamily="18" charset="2"/>
              </a:rPr>
              <a:t> model except for the addition of the strategic effect of Firm 1’s output on Firm 2 (</a:t>
            </a:r>
            <a:r>
              <a:rPr lang="en-US" i="1" kern="0" dirty="0">
                <a:sym typeface="Symbol" pitchFamily="18" charset="2"/>
              </a:rPr>
              <a:t>S</a:t>
            </a:r>
            <a:r>
              <a:rPr lang="en-US" kern="0" dirty="0" smtClean="0">
                <a:sym typeface="Symbol" pitchFamily="18" charset="2"/>
              </a:rPr>
              <a:t>)</a:t>
            </a:r>
            <a:endParaRPr lang="en-US" kern="0" dirty="0">
              <a:sym typeface="Symbol" pitchFamily="18" charset="2"/>
            </a:endParaRPr>
          </a:p>
        </p:txBody>
      </p:sp>
      <p:grpSp>
        <p:nvGrpSpPr>
          <p:cNvPr id="2" name="Group 9"/>
          <p:cNvGrpSpPr>
            <a:grpSpLocks/>
          </p:cNvGrpSpPr>
          <p:nvPr/>
        </p:nvGrpSpPr>
        <p:grpSpPr bwMode="auto">
          <a:xfrm>
            <a:off x="638175" y="1936750"/>
            <a:ext cx="7623175" cy="1416050"/>
            <a:chOff x="638175" y="1785938"/>
            <a:chExt cx="7623175" cy="1416684"/>
          </a:xfrm>
        </p:grpSpPr>
        <p:graphicFrame>
          <p:nvGraphicFramePr>
            <p:cNvPr id="15362" name="Object 2"/>
            <p:cNvGraphicFramePr>
              <a:graphicFrameLocks noChangeAspect="1"/>
            </p:cNvGraphicFramePr>
            <p:nvPr/>
          </p:nvGraphicFramePr>
          <p:xfrm>
            <a:off x="638175" y="1785938"/>
            <a:ext cx="7623175" cy="949325"/>
          </p:xfrm>
          <a:graphic>
            <a:graphicData uri="http://schemas.openxmlformats.org/presentationml/2006/ole">
              <mc:AlternateContent xmlns:mc="http://schemas.openxmlformats.org/markup-compatibility/2006">
                <mc:Choice xmlns:v="urn:schemas-microsoft-com:vml" Requires="v">
                  <p:oleObj spid="_x0000_s332812" name="Equation" r:id="rId3" imgW="3466800" imgH="431640" progId="Equation.DSMT4">
                    <p:embed/>
                  </p:oleObj>
                </mc:Choice>
                <mc:Fallback>
                  <p:oleObj name="Equation" r:id="rId3" imgW="346680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1785938"/>
                          <a:ext cx="7623175"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69" name="Group 6"/>
            <p:cNvGrpSpPr>
              <a:grpSpLocks/>
            </p:cNvGrpSpPr>
            <p:nvPr/>
          </p:nvGrpSpPr>
          <p:grpSpPr bwMode="auto">
            <a:xfrm>
              <a:off x="4122960" y="2485867"/>
              <a:ext cx="2257425" cy="716755"/>
              <a:chOff x="4147344" y="3388075"/>
              <a:chExt cx="2257425" cy="716755"/>
            </a:xfrm>
          </p:grpSpPr>
          <p:sp>
            <p:nvSpPr>
              <p:cNvPr id="15370" name="AutoShape 5"/>
              <p:cNvSpPr>
                <a:spLocks/>
              </p:cNvSpPr>
              <p:nvPr/>
            </p:nvSpPr>
            <p:spPr bwMode="auto">
              <a:xfrm rot="-5400000">
                <a:off x="5106988" y="2428431"/>
                <a:ext cx="338137" cy="2257425"/>
              </a:xfrm>
              <a:prstGeom prst="leftBrace">
                <a:avLst>
                  <a:gd name="adj1" fmla="val 55634"/>
                  <a:gd name="adj2" fmla="val 50000"/>
                </a:avLst>
              </a:pr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15371" name="Text Box 6"/>
              <p:cNvSpPr txBox="1">
                <a:spLocks noChangeArrowheads="1"/>
              </p:cNvSpPr>
              <p:nvPr/>
            </p:nvSpPr>
            <p:spPr bwMode="auto">
              <a:xfrm>
                <a:off x="5089526" y="373811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a:solidFill>
                      <a:srgbClr val="177B21"/>
                    </a:solidFill>
                  </a:rPr>
                  <a:t>S</a:t>
                </a:r>
              </a:p>
            </p:txBody>
          </p:sp>
        </p:grpSp>
      </p:grpSp>
    </p:spTree>
    <p:extLst>
      <p:ext uri="{BB962C8B-B14F-4D97-AF65-F5344CB8AC3E}">
        <p14:creationId xmlns:p14="http://schemas.microsoft.com/office/powerpoint/2010/main" val="921563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04800" y="0"/>
            <a:ext cx="8839200" cy="1143000"/>
          </a:xfrm>
        </p:spPr>
        <p:txBody>
          <a:bodyPr>
            <a:noAutofit/>
          </a:bodyPr>
          <a:lstStyle/>
          <a:p>
            <a:pPr>
              <a:lnSpc>
                <a:spcPct val="90000"/>
              </a:lnSpc>
            </a:pPr>
            <a:r>
              <a:rPr lang="en-US" altLang="en-US" sz="3600" dirty="0" smtClean="0"/>
              <a:t>First-Mover Advantage </a:t>
            </a:r>
            <a:br>
              <a:rPr lang="en-US" altLang="en-US" sz="3600" dirty="0" smtClean="0"/>
            </a:br>
            <a:r>
              <a:rPr lang="en-US" altLang="en-US" sz="3600" dirty="0" smtClean="0"/>
              <a:t>in the </a:t>
            </a:r>
            <a:r>
              <a:rPr lang="en-US" altLang="en-US" sz="3600" dirty="0" err="1" smtClean="0"/>
              <a:t>Stackelberg</a:t>
            </a:r>
            <a:r>
              <a:rPr lang="en-US" altLang="en-US" sz="3600" dirty="0" smtClean="0"/>
              <a:t> Model</a:t>
            </a:r>
          </a:p>
        </p:txBody>
      </p:sp>
      <p:sp>
        <p:nvSpPr>
          <p:cNvPr id="71683" name="Rectangle 3"/>
          <p:cNvSpPr>
            <a:spLocks noGrp="1" noChangeArrowheads="1"/>
          </p:cNvSpPr>
          <p:nvPr>
            <p:ph idx="1"/>
          </p:nvPr>
        </p:nvSpPr>
        <p:spPr/>
        <p:txBody>
          <a:bodyPr/>
          <a:lstStyle/>
          <a:p>
            <a:r>
              <a:rPr lang="en-US" altLang="en-US" smtClean="0"/>
              <a:t>The strategic effect </a:t>
            </a:r>
          </a:p>
          <a:p>
            <a:pPr lvl="1"/>
            <a:r>
              <a:rPr lang="en-US" altLang="en-US" smtClean="0"/>
              <a:t>Will lead Firm 1 to produce more than it would have in a Cournot model</a:t>
            </a:r>
          </a:p>
          <a:p>
            <a:pPr lvl="1"/>
            <a:r>
              <a:rPr lang="en-US" altLang="en-US" smtClean="0">
                <a:sym typeface="Symbol" pitchFamily="18" charset="2"/>
              </a:rPr>
              <a:t>This leads Firm 2 to lower output</a:t>
            </a:r>
          </a:p>
          <a:p>
            <a:pPr lvl="1"/>
            <a:r>
              <a:rPr lang="en-US" altLang="en-US" smtClean="0">
                <a:sym typeface="Symbol" pitchFamily="18" charset="2"/>
              </a:rPr>
              <a:t>If Firm 2 lowers output, the market price will rise, increasing Firm 1’s revenue from existing sales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09F711A-FEE9-49B9-81DA-3C2589042A42}" type="slidenum">
              <a:rPr lang="en-US" smtClean="0"/>
              <a:pPr>
                <a:defRPr/>
              </a:pPr>
              <a:t>56</a:t>
            </a:fld>
            <a:endParaRPr lang="en-US"/>
          </a:p>
        </p:txBody>
      </p:sp>
    </p:spTree>
    <p:extLst>
      <p:ext uri="{BB962C8B-B14F-4D97-AF65-F5344CB8AC3E}">
        <p14:creationId xmlns:p14="http://schemas.microsoft.com/office/powerpoint/2010/main" val="304419695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04800" y="0"/>
            <a:ext cx="8839200" cy="1143000"/>
          </a:xfrm>
        </p:spPr>
        <p:txBody>
          <a:bodyPr>
            <a:normAutofit/>
          </a:bodyPr>
          <a:lstStyle/>
          <a:p>
            <a:pPr>
              <a:lnSpc>
                <a:spcPct val="90000"/>
              </a:lnSpc>
            </a:pPr>
            <a:r>
              <a:rPr lang="en-US" altLang="en-US" sz="3600" dirty="0" smtClean="0"/>
              <a:t>First-Mover Advantage </a:t>
            </a:r>
            <a:br>
              <a:rPr lang="en-US" altLang="en-US" sz="3600" dirty="0" smtClean="0"/>
            </a:br>
            <a:r>
              <a:rPr lang="en-US" altLang="en-US" sz="3600" dirty="0" smtClean="0"/>
              <a:t>in the </a:t>
            </a:r>
            <a:r>
              <a:rPr lang="en-US" altLang="en-US" sz="3600" dirty="0" err="1" smtClean="0"/>
              <a:t>Stackelberg</a:t>
            </a:r>
            <a:r>
              <a:rPr lang="en-US" altLang="en-US" sz="3600" dirty="0" smtClean="0"/>
              <a:t> Model</a:t>
            </a:r>
          </a:p>
        </p:txBody>
      </p:sp>
      <p:sp>
        <p:nvSpPr>
          <p:cNvPr id="72707" name="Rectangle 3"/>
          <p:cNvSpPr>
            <a:spLocks noGrp="1" noChangeArrowheads="1"/>
          </p:cNvSpPr>
          <p:nvPr>
            <p:ph idx="1"/>
          </p:nvPr>
        </p:nvSpPr>
        <p:spPr/>
        <p:txBody>
          <a:bodyPr/>
          <a:lstStyle/>
          <a:p>
            <a:r>
              <a:rPr lang="en-US" altLang="en-US" smtClean="0"/>
              <a:t>The strategic effect would not occur if</a:t>
            </a:r>
          </a:p>
          <a:p>
            <a:pPr lvl="1"/>
            <a:r>
              <a:rPr lang="en-US" altLang="en-US" smtClean="0"/>
              <a:t>The leader’s output was unobservable to the follower</a:t>
            </a:r>
          </a:p>
          <a:p>
            <a:pPr lvl="1"/>
            <a:r>
              <a:rPr lang="en-US" altLang="en-US" smtClean="0"/>
              <a:t>The leader could reverse its output choice in secret</a:t>
            </a:r>
          </a:p>
          <a:p>
            <a:r>
              <a:rPr lang="en-US" altLang="en-US" smtClean="0">
                <a:sym typeface="Symbol" pitchFamily="18" charset="2"/>
              </a:rPr>
              <a:t>The leader </a:t>
            </a:r>
          </a:p>
          <a:p>
            <a:pPr lvl="1"/>
            <a:r>
              <a:rPr lang="en-US" altLang="en-US" smtClean="0">
                <a:sym typeface="Symbol" pitchFamily="18" charset="2"/>
              </a:rPr>
              <a:t>Must be able to commit or else firms are back in the Cournot game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15D0E2F-BF4C-410C-BA51-C6044D8E927E}" type="slidenum">
              <a:rPr lang="en-US" smtClean="0"/>
              <a:pPr>
                <a:defRPr/>
              </a:pPr>
              <a:t>57</a:t>
            </a:fld>
            <a:endParaRPr lang="en-US"/>
          </a:p>
        </p:txBody>
      </p:sp>
    </p:spTree>
    <p:extLst>
      <p:ext uri="{BB962C8B-B14F-4D97-AF65-F5344CB8AC3E}">
        <p14:creationId xmlns:p14="http://schemas.microsoft.com/office/powerpoint/2010/main" val="42161592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15.8 	</a:t>
            </a:r>
            <a:r>
              <a:rPr lang="en-US" altLang="en-US" dirty="0" err="1" smtClean="0"/>
              <a:t>Stackelberg</a:t>
            </a:r>
            <a:r>
              <a:rPr lang="en-US" altLang="en-US" dirty="0" smtClean="0"/>
              <a:t> Springs</a:t>
            </a:r>
          </a:p>
        </p:txBody>
      </p:sp>
      <p:sp>
        <p:nvSpPr>
          <p:cNvPr id="1639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505D7388-8468-40D9-9C72-7FC703421B42}" type="slidenum">
              <a:rPr lang="en-US" smtClean="0"/>
              <a:pPr>
                <a:defRPr/>
              </a:pPr>
              <a:t>58</a:t>
            </a:fld>
            <a:endParaRPr lang="en-US" dirty="0"/>
          </a:p>
        </p:txBody>
      </p:sp>
      <p:sp>
        <p:nvSpPr>
          <p:cNvPr id="16389" name="Content Placeholder 2"/>
          <p:cNvSpPr>
            <a:spLocks noGrp="1"/>
          </p:cNvSpPr>
          <p:nvPr>
            <p:ph type="body" sz="quarter" idx="12"/>
          </p:nvPr>
        </p:nvSpPr>
        <p:spPr>
          <a:prstGeom prst="rect">
            <a:avLst/>
          </a:prstGeom>
        </p:spPr>
        <p:txBody>
          <a:bodyPr/>
          <a:lstStyle/>
          <a:p>
            <a:r>
              <a:rPr lang="en-US" altLang="en-US" smtClean="0"/>
              <a:t>Natural springs duopoly</a:t>
            </a:r>
          </a:p>
          <a:p>
            <a:pPr lvl="1"/>
            <a:r>
              <a:rPr lang="en-US" altLang="en-US" smtClean="0"/>
              <a:t>Choose output levels sequentially</a:t>
            </a:r>
          </a:p>
          <a:p>
            <a:pPr lvl="1"/>
            <a:r>
              <a:rPr lang="en-US" altLang="en-US" smtClean="0"/>
              <a:t>Firm 1 is assumed to be the leader</a:t>
            </a:r>
          </a:p>
          <a:p>
            <a:pPr lvl="1"/>
            <a:r>
              <a:rPr lang="en-US" altLang="en-US" smtClean="0"/>
              <a:t>Firm 2 is assumed to be the follower</a:t>
            </a:r>
          </a:p>
          <a:p>
            <a:pPr lvl="1"/>
            <a:r>
              <a:rPr lang="en-US" altLang="en-US" smtClean="0"/>
              <a:t>Firm 2’s best-response function:</a:t>
            </a:r>
          </a:p>
        </p:txBody>
      </p:sp>
      <p:sp>
        <p:nvSpPr>
          <p:cNvPr id="2" name="Text Placeholder 1"/>
          <p:cNvSpPr>
            <a:spLocks noGrp="1"/>
          </p:cNvSpPr>
          <p:nvPr>
            <p:ph type="body" sz="quarter" idx="13"/>
          </p:nvPr>
        </p:nvSpPr>
        <p:spPr>
          <a:xfrm>
            <a:off x="381000" y="4267200"/>
            <a:ext cx="8382000" cy="1905000"/>
          </a:xfrm>
        </p:spPr>
        <p:txBody>
          <a:bodyPr/>
          <a:lstStyle/>
          <a:p>
            <a:pPr lvl="1"/>
            <a:r>
              <a:rPr lang="en-US" kern="0" dirty="0"/>
              <a:t>Firm 1’s profit function:</a:t>
            </a:r>
          </a:p>
          <a:p>
            <a:pPr marL="457200" lvl="1" indent="0">
              <a:buNone/>
            </a:pPr>
            <a:endParaRPr lang="en-US" dirty="0"/>
          </a:p>
        </p:txBody>
      </p:sp>
      <p:graphicFrame>
        <p:nvGraphicFramePr>
          <p:cNvPr id="70658" name="Object 2"/>
          <p:cNvGraphicFramePr>
            <a:graphicFrameLocks noChangeAspect="1"/>
          </p:cNvGraphicFramePr>
          <p:nvPr/>
        </p:nvGraphicFramePr>
        <p:xfrm>
          <a:off x="3511550" y="3305175"/>
          <a:ext cx="2120900" cy="925513"/>
        </p:xfrm>
        <a:graphic>
          <a:graphicData uri="http://schemas.openxmlformats.org/presentationml/2006/ole">
            <mc:AlternateContent xmlns:mc="http://schemas.openxmlformats.org/markup-compatibility/2006">
              <mc:Choice xmlns:v="urn:schemas-microsoft-com:vml" Requires="v">
                <p:oleObj spid="_x0000_s333848" name="Equation" r:id="rId3" imgW="901440" imgH="393480" progId="Equation.DSMT4">
                  <p:embed/>
                </p:oleObj>
              </mc:Choice>
              <mc:Fallback>
                <p:oleObj name="Equation" r:id="rId3" imgW="90144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550" y="3305175"/>
                        <a:ext cx="2120900" cy="92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9" name="Object 3"/>
          <p:cNvGraphicFramePr>
            <a:graphicFrameLocks noChangeAspect="1"/>
          </p:cNvGraphicFramePr>
          <p:nvPr/>
        </p:nvGraphicFramePr>
        <p:xfrm>
          <a:off x="1222375" y="4908550"/>
          <a:ext cx="6700838" cy="1004888"/>
        </p:xfrm>
        <a:graphic>
          <a:graphicData uri="http://schemas.openxmlformats.org/presentationml/2006/ole">
            <mc:AlternateContent xmlns:mc="http://schemas.openxmlformats.org/markup-compatibility/2006">
              <mc:Choice xmlns:v="urn:schemas-microsoft-com:vml" Requires="v">
                <p:oleObj spid="_x0000_s333849" name="Equation" r:id="rId5" imgW="3047760" imgH="457200" progId="Equation.DSMT4">
                  <p:embed/>
                </p:oleObj>
              </mc:Choice>
              <mc:Fallback>
                <p:oleObj name="Equation" r:id="rId5" imgW="304776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2375" y="4908550"/>
                        <a:ext cx="6700838"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115013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wipe(left)">
                                      <p:cBhvr>
                                        <p:cTn id="7" dur="500"/>
                                        <p:tgtEl>
                                          <p:spTgt spid="7065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0659"/>
                                        </p:tgtEl>
                                        <p:attrNameLst>
                                          <p:attrName>style.visibility</p:attrName>
                                        </p:attrNameLst>
                                      </p:cBhvr>
                                      <p:to>
                                        <p:strVal val="visible"/>
                                      </p:to>
                                    </p:set>
                                    <p:animEffect transition="in" filter="wipe(left)">
                                      <p:cBhvr>
                                        <p:cTn id="15" dur="500"/>
                                        <p:tgtEl>
                                          <p:spTgt spid="70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mtClean="0"/>
              <a:t>15.8 	Stackelberg Springs</a:t>
            </a:r>
          </a:p>
        </p:txBody>
      </p:sp>
      <p:sp>
        <p:nvSpPr>
          <p:cNvPr id="1741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79A7354D-AFB5-4E12-AFF8-15A062BAA096}" type="slidenum">
              <a:rPr lang="en-US" smtClean="0"/>
              <a:pPr>
                <a:defRPr/>
              </a:pPr>
              <a:t>59</a:t>
            </a:fld>
            <a:endParaRPr lang="en-US" dirty="0"/>
          </a:p>
        </p:txBody>
      </p:sp>
      <p:sp>
        <p:nvSpPr>
          <p:cNvPr id="17412" name="Content Placeholder 2"/>
          <p:cNvSpPr>
            <a:spLocks noGrp="1"/>
          </p:cNvSpPr>
          <p:nvPr>
            <p:ph type="body" sz="quarter" idx="12"/>
          </p:nvPr>
        </p:nvSpPr>
        <p:spPr>
          <a:prstGeom prst="rect">
            <a:avLst/>
          </a:prstGeom>
        </p:spPr>
        <p:txBody>
          <a:bodyPr/>
          <a:lstStyle/>
          <a:p>
            <a:r>
              <a:rPr lang="en-US" altLang="en-US" smtClean="0"/>
              <a:t>Natural springs duopoly</a:t>
            </a:r>
          </a:p>
          <a:p>
            <a:pPr lvl="1"/>
            <a:r>
              <a:rPr lang="en-US" altLang="en-US" smtClean="0"/>
              <a:t>First-order condition:</a:t>
            </a:r>
          </a:p>
        </p:txBody>
      </p:sp>
      <p:graphicFrame>
        <p:nvGraphicFramePr>
          <p:cNvPr id="71684" name="Object 4"/>
          <p:cNvGraphicFramePr>
            <a:graphicFrameLocks noChangeAspect="1"/>
          </p:cNvGraphicFramePr>
          <p:nvPr/>
        </p:nvGraphicFramePr>
        <p:xfrm>
          <a:off x="1235075" y="1687513"/>
          <a:ext cx="5567363" cy="3109912"/>
        </p:xfrm>
        <a:graphic>
          <a:graphicData uri="http://schemas.openxmlformats.org/presentationml/2006/ole">
            <mc:AlternateContent xmlns:mc="http://schemas.openxmlformats.org/markup-compatibility/2006">
              <mc:Choice xmlns:v="urn:schemas-microsoft-com:vml" Requires="v">
                <p:oleObj spid="_x0000_s334860" name="Equation" r:id="rId3" imgW="2273040" imgH="1269720" progId="Equation.DSMT4">
                  <p:embed/>
                </p:oleObj>
              </mc:Choice>
              <mc:Fallback>
                <p:oleObj name="Equation" r:id="rId3" imgW="2273040" imgH="12697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5075" y="1687513"/>
                        <a:ext cx="5567363" cy="310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18738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wipe(left)">
                                      <p:cBhvr>
                                        <p:cTn id="7" dur="5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15.6	</a:t>
            </a:r>
            <a:r>
              <a:rPr lang="en-US" altLang="en-US" dirty="0" err="1"/>
              <a:t>Stackelberg</a:t>
            </a:r>
            <a:r>
              <a:rPr lang="en-US" altLang="en-US" dirty="0"/>
              <a:t> </a:t>
            </a:r>
            <a:r>
              <a:rPr lang="en-US" altLang="en-US" dirty="0" smtClean="0"/>
              <a:t>Game</a:t>
            </a:r>
            <a:endParaRPr lang="en-US" altLang="en-US" dirty="0" smtClean="0"/>
          </a:p>
        </p:txBody>
      </p:sp>
      <p:sp>
        <p:nvSpPr>
          <p:cNvPr id="73731" name="Text Placeholder 2"/>
          <p:cNvSpPr>
            <a:spLocks noGrp="1"/>
          </p:cNvSpPr>
          <p:nvPr>
            <p:ph sz="half" idx="1"/>
          </p:nvPr>
        </p:nvSpPr>
        <p:spPr>
          <a:xfrm>
            <a:off x="5486400" y="914400"/>
            <a:ext cx="3346450" cy="5440363"/>
          </a:xfrm>
        </p:spPr>
        <p:txBody>
          <a:bodyPr>
            <a:normAutofit/>
          </a:bodyPr>
          <a:lstStyle/>
          <a:p>
            <a:pPr>
              <a:spcBef>
                <a:spcPct val="0"/>
              </a:spcBef>
            </a:pPr>
            <a:r>
              <a:rPr lang="en-US" altLang="en-US" dirty="0"/>
              <a:t>Best-response functions from the </a:t>
            </a:r>
            <a:r>
              <a:rPr lang="en-US" altLang="en-US" dirty="0" err="1"/>
              <a:t>Cournot</a:t>
            </a:r>
            <a:r>
              <a:rPr lang="en-US" altLang="en-US" dirty="0"/>
              <a:t> game are drawn as thick lines. Frown-shaped curves are firm 1’s </a:t>
            </a:r>
            <a:r>
              <a:rPr lang="en-US" altLang="en-US" dirty="0" err="1"/>
              <a:t>isoprofits</a:t>
            </a:r>
            <a:r>
              <a:rPr lang="en-US" altLang="en-US" dirty="0"/>
              <a:t>. Point C is the Nash equilibrium of the </a:t>
            </a:r>
            <a:r>
              <a:rPr lang="en-US" altLang="en-US" dirty="0" err="1"/>
              <a:t>Cournot</a:t>
            </a:r>
            <a:r>
              <a:rPr lang="en-US" altLang="en-US" dirty="0"/>
              <a:t> game (invoking simultaneous output choices). The </a:t>
            </a:r>
            <a:r>
              <a:rPr lang="en-US" altLang="en-US" dirty="0" err="1"/>
              <a:t>Stackelberg</a:t>
            </a:r>
            <a:r>
              <a:rPr lang="en-US" altLang="en-US" dirty="0"/>
              <a:t> equilibrium is point S, the point at which the highest </a:t>
            </a:r>
            <a:r>
              <a:rPr lang="en-US" altLang="en-US" dirty="0" err="1"/>
              <a:t>isoprofit</a:t>
            </a:r>
            <a:r>
              <a:rPr lang="en-US" altLang="en-US" dirty="0"/>
              <a:t> for firm 1 is reached on firm 2’s best-response function. At S, firm 1’s </a:t>
            </a:r>
            <a:r>
              <a:rPr lang="en-US" altLang="en-US" dirty="0" err="1"/>
              <a:t>isoprofit</a:t>
            </a:r>
            <a:r>
              <a:rPr lang="en-US" altLang="en-US" dirty="0"/>
              <a:t> is tangent to firm 2’s best-response function. If firm 1 cannot commit to its output, then the outcome function unravels, following the dotted line from S back to C.</a:t>
            </a:r>
          </a:p>
          <a:p>
            <a:pPr>
              <a:spcBef>
                <a:spcPct val="0"/>
              </a:spcBef>
            </a:pPr>
            <a:endParaRPr lang="en-US" altLang="en-US" dirty="0" smtClean="0"/>
          </a:p>
        </p:txBody>
      </p:sp>
      <p:sp>
        <p:nvSpPr>
          <p:cNvPr id="7373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6B1E2BD9-81D2-48B0-8C2A-0BE8FC9D2B2F}" type="slidenum">
              <a:rPr lang="en-US" smtClean="0"/>
              <a:pPr>
                <a:defRPr/>
              </a:pPr>
              <a:t>60</a:t>
            </a:fld>
            <a:endParaRPr lang="en-US" dirty="0"/>
          </a:p>
        </p:txBody>
      </p:sp>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90600"/>
            <a:ext cx="5340350"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4746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left)">
                                      <p:cBhvr>
                                        <p:cTn id="7" dur="500"/>
                                        <p:tgtEl>
                                          <p:spTgt spid="727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731">
                                            <p:txEl>
                                              <p:pRg st="0" end="0"/>
                                            </p:txEl>
                                          </p:spTgt>
                                        </p:tgtEl>
                                        <p:attrNameLst>
                                          <p:attrName>style.visibility</p:attrName>
                                        </p:attrNameLst>
                                      </p:cBhvr>
                                      <p:to>
                                        <p:strVal val="visible"/>
                                      </p:to>
                                    </p:set>
                                    <p:animEffect transition="in" filter="wipe(left)">
                                      <p:cBhvr>
                                        <p:cTn id="11" dur="500"/>
                                        <p:tgtEl>
                                          <p:spTgt spid="737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en-US" smtClean="0"/>
              <a:t>Contrast with Price Leadership</a:t>
            </a:r>
          </a:p>
        </p:txBody>
      </p:sp>
      <p:sp>
        <p:nvSpPr>
          <p:cNvPr id="74755" name="Rectangle 3"/>
          <p:cNvSpPr>
            <a:spLocks noGrp="1" noChangeArrowheads="1"/>
          </p:cNvSpPr>
          <p:nvPr>
            <p:ph idx="1"/>
          </p:nvPr>
        </p:nvSpPr>
        <p:spPr/>
        <p:txBody>
          <a:bodyPr/>
          <a:lstStyle/>
          <a:p>
            <a:r>
              <a:rPr lang="en-US" altLang="en-US" smtClean="0"/>
              <a:t>In the Stackelberg game, the leader uses a “top dog” strategy</a:t>
            </a:r>
          </a:p>
          <a:p>
            <a:pPr lvl="1"/>
            <a:r>
              <a:rPr lang="en-US" altLang="en-US" smtClean="0"/>
              <a:t>Aggressively overproduces to force the follower to scale back production</a:t>
            </a:r>
          </a:p>
          <a:p>
            <a:pPr lvl="1"/>
            <a:r>
              <a:rPr lang="en-US" altLang="en-US" smtClean="0"/>
              <a:t>The leader earns more (than it would in the Cournot game), while the follower earns less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A38BBCF-AC9B-4BAF-9CF5-6FA5A19F83EB}" type="slidenum">
              <a:rPr lang="en-US" smtClean="0"/>
              <a:pPr>
                <a:defRPr/>
              </a:pPr>
              <a:t>61</a:t>
            </a:fld>
            <a:endParaRPr lang="en-US"/>
          </a:p>
        </p:txBody>
      </p:sp>
    </p:spTree>
    <p:extLst>
      <p:ext uri="{BB962C8B-B14F-4D97-AF65-F5344CB8AC3E}">
        <p14:creationId xmlns:p14="http://schemas.microsoft.com/office/powerpoint/2010/main" val="74963844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smtClean="0"/>
              <a:t>Contrast with Price Leadership</a:t>
            </a:r>
          </a:p>
        </p:txBody>
      </p:sp>
      <p:sp>
        <p:nvSpPr>
          <p:cNvPr id="75779" name="Rectangle 3"/>
          <p:cNvSpPr>
            <a:spLocks noGrp="1" noChangeArrowheads="1"/>
          </p:cNvSpPr>
          <p:nvPr>
            <p:ph idx="1"/>
          </p:nvPr>
        </p:nvSpPr>
        <p:spPr/>
        <p:txBody>
          <a:bodyPr/>
          <a:lstStyle/>
          <a:p>
            <a:r>
              <a:rPr lang="en-US" altLang="en-US" smtClean="0"/>
              <a:t>The leader could follow a “puppy dog” strategy</a:t>
            </a:r>
          </a:p>
          <a:p>
            <a:pPr lvl="1"/>
            <a:r>
              <a:rPr lang="en-US" altLang="en-US" smtClean="0"/>
              <a:t>Increases its price, producing less output than in a simultaneous-move game</a:t>
            </a:r>
          </a:p>
          <a:p>
            <a:pPr lvl="1"/>
            <a:r>
              <a:rPr lang="en-US" altLang="en-US" smtClean="0"/>
              <a:t>Acts less aggressively, leading its rival to compete less aggressively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459A90A-26A2-47CB-B37B-3EAD9BBB15B8}" type="slidenum">
              <a:rPr lang="en-US" smtClean="0"/>
              <a:pPr>
                <a:defRPr/>
              </a:pPr>
              <a:t>62</a:t>
            </a:fld>
            <a:endParaRPr lang="en-US"/>
          </a:p>
        </p:txBody>
      </p:sp>
    </p:spTree>
    <p:extLst>
      <p:ext uri="{BB962C8B-B14F-4D97-AF65-F5344CB8AC3E}">
        <p14:creationId xmlns:p14="http://schemas.microsoft.com/office/powerpoint/2010/main" val="323807440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smtClean="0"/>
              <a:t>Contrast with Price Leadership</a:t>
            </a:r>
          </a:p>
        </p:txBody>
      </p:sp>
      <p:sp>
        <p:nvSpPr>
          <p:cNvPr id="76803" name="Rectangle 3"/>
          <p:cNvSpPr>
            <a:spLocks noGrp="1" noChangeArrowheads="1"/>
          </p:cNvSpPr>
          <p:nvPr>
            <p:ph idx="1"/>
          </p:nvPr>
        </p:nvSpPr>
        <p:spPr/>
        <p:txBody>
          <a:bodyPr/>
          <a:lstStyle/>
          <a:p>
            <a:r>
              <a:rPr lang="en-US" altLang="en-US" smtClean="0"/>
              <a:t>Difference between these two games:</a:t>
            </a:r>
          </a:p>
          <a:p>
            <a:pPr lvl="1"/>
            <a:r>
              <a:rPr lang="en-US" altLang="en-US" smtClean="0"/>
              <a:t>The slopes of the best-response functions differ</a:t>
            </a:r>
          </a:p>
          <a:p>
            <a:pPr lvl="2"/>
            <a:r>
              <a:rPr lang="en-US" altLang="en-US" smtClean="0"/>
              <a:t>“top dog” strategy leads to a downward-sloping best-response function for Firm 2</a:t>
            </a:r>
          </a:p>
          <a:p>
            <a:pPr lvl="2"/>
            <a:r>
              <a:rPr lang="en-US" altLang="en-US" smtClean="0"/>
              <a:t>“puppy dog” strategy leads to an upward-sloping best-response function for Firm 2</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5A6BE07-37CE-4B2A-8541-DF246C4F6013}" type="slidenum">
              <a:rPr lang="en-US" smtClean="0"/>
              <a:pPr>
                <a:defRPr/>
              </a:pPr>
              <a:t>63</a:t>
            </a:fld>
            <a:endParaRPr lang="en-US"/>
          </a:p>
        </p:txBody>
      </p:sp>
    </p:spTree>
    <p:extLst>
      <p:ext uri="{BB962C8B-B14F-4D97-AF65-F5344CB8AC3E}">
        <p14:creationId xmlns:p14="http://schemas.microsoft.com/office/powerpoint/2010/main" val="128870924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15.9	 Price-Leadership Game</a:t>
            </a:r>
          </a:p>
        </p:txBody>
      </p:sp>
      <p:sp>
        <p:nvSpPr>
          <p:cNvPr id="7782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FA32DC4A-F49C-4CBD-9E42-6AF72E703A72}" type="slidenum">
              <a:rPr lang="en-US" smtClean="0"/>
              <a:pPr>
                <a:defRPr/>
              </a:pPr>
              <a:t>64</a:t>
            </a:fld>
            <a:endParaRPr lang="en-US" dirty="0"/>
          </a:p>
        </p:txBody>
      </p:sp>
      <p:sp>
        <p:nvSpPr>
          <p:cNvPr id="77827" name="Content Placeholder 2"/>
          <p:cNvSpPr>
            <a:spLocks noGrp="1"/>
          </p:cNvSpPr>
          <p:nvPr>
            <p:ph type="body" sz="quarter" idx="12"/>
          </p:nvPr>
        </p:nvSpPr>
        <p:spPr>
          <a:prstGeom prst="rect">
            <a:avLst/>
          </a:prstGeom>
        </p:spPr>
        <p:txBody>
          <a:bodyPr/>
          <a:lstStyle/>
          <a:p>
            <a:r>
              <a:rPr lang="en-US" altLang="en-US" dirty="0" smtClean="0"/>
              <a:t>Two firms </a:t>
            </a:r>
          </a:p>
          <a:p>
            <a:pPr lvl="1"/>
            <a:r>
              <a:rPr lang="en-US" altLang="en-US" dirty="0" smtClean="0"/>
              <a:t>Chose price for differentiated toothpaste brands</a:t>
            </a:r>
          </a:p>
          <a:p>
            <a:pPr lvl="2"/>
            <a:r>
              <a:rPr lang="en-US" altLang="en-US" dirty="0" smtClean="0"/>
              <a:t>Firm 1 chooses price before firm 2</a:t>
            </a:r>
          </a:p>
          <a:p>
            <a:pPr lvl="1"/>
            <a:r>
              <a:rPr lang="en-US" altLang="en-US" dirty="0" smtClean="0"/>
              <a:t>Assume </a:t>
            </a:r>
            <a:r>
              <a:rPr lang="en-US" altLang="en-US" i="1" dirty="0" smtClean="0"/>
              <a:t>a</a:t>
            </a:r>
            <a:r>
              <a:rPr lang="en-US" altLang="en-US" i="1" baseline="-25000" dirty="0" smtClean="0"/>
              <a:t>1</a:t>
            </a:r>
            <a:r>
              <a:rPr lang="en-US" altLang="en-US" i="1" dirty="0" smtClean="0"/>
              <a:t> = a</a:t>
            </a:r>
            <a:r>
              <a:rPr lang="en-US" altLang="en-US" i="1" baseline="-25000" dirty="0" smtClean="0"/>
              <a:t>2</a:t>
            </a:r>
            <a:r>
              <a:rPr lang="en-US" altLang="en-US" dirty="0" smtClean="0"/>
              <a:t> = 1 and </a:t>
            </a:r>
            <a:r>
              <a:rPr lang="en-US" altLang="en-US" i="1" dirty="0" smtClean="0"/>
              <a:t>c</a:t>
            </a:r>
            <a:r>
              <a:rPr lang="en-US" altLang="en-US" dirty="0" smtClean="0"/>
              <a:t> = 0</a:t>
            </a:r>
          </a:p>
          <a:p>
            <a:pPr lvl="1"/>
            <a:r>
              <a:rPr lang="en-US" altLang="en-US" dirty="0" smtClean="0"/>
              <a:t>Firm 2’s best response to its rival’s choice p</a:t>
            </a:r>
            <a:r>
              <a:rPr lang="en-US" altLang="en-US" baseline="-25000" dirty="0" smtClean="0"/>
              <a:t>1</a:t>
            </a:r>
            <a:r>
              <a:rPr lang="en-US" altLang="en-US" dirty="0" smtClean="0"/>
              <a:t>:</a:t>
            </a:r>
          </a:p>
          <a:p>
            <a:pPr lvl="1" algn="ctr">
              <a:buFont typeface="Arial" charset="0"/>
              <a:buNone/>
            </a:pPr>
            <a:r>
              <a:rPr lang="en-US" altLang="en-US" dirty="0" smtClean="0"/>
              <a:t> </a:t>
            </a:r>
            <a:r>
              <a:rPr lang="en-US" altLang="en-US" i="1" dirty="0" smtClean="0">
                <a:solidFill>
                  <a:srgbClr val="FF0000"/>
                </a:solidFill>
              </a:rPr>
              <a:t>p</a:t>
            </a:r>
            <a:r>
              <a:rPr lang="en-US" altLang="en-US" i="1" baseline="-25000" dirty="0" smtClean="0">
                <a:solidFill>
                  <a:srgbClr val="FF0000"/>
                </a:solidFill>
              </a:rPr>
              <a:t>2</a:t>
            </a:r>
            <a:r>
              <a:rPr lang="en-US" altLang="en-US" dirty="0" smtClean="0">
                <a:solidFill>
                  <a:srgbClr val="FF0000"/>
                </a:solidFill>
              </a:rPr>
              <a:t> = ½ + </a:t>
            </a:r>
            <a:r>
              <a:rPr lang="en-US" altLang="en-US" i="1" dirty="0" smtClean="0">
                <a:solidFill>
                  <a:srgbClr val="FF0000"/>
                </a:solidFill>
              </a:rPr>
              <a:t>p</a:t>
            </a:r>
            <a:r>
              <a:rPr lang="en-US" altLang="en-US" i="1" baseline="-25000" dirty="0" smtClean="0">
                <a:solidFill>
                  <a:srgbClr val="FF0000"/>
                </a:solidFill>
              </a:rPr>
              <a:t>1</a:t>
            </a:r>
            <a:r>
              <a:rPr lang="en-US" altLang="en-US" dirty="0" smtClean="0">
                <a:solidFill>
                  <a:srgbClr val="FF0000"/>
                </a:solidFill>
              </a:rPr>
              <a:t>/4 </a:t>
            </a:r>
          </a:p>
          <a:p>
            <a:pPr lvl="1"/>
            <a:r>
              <a:rPr lang="en-US" altLang="en-US" dirty="0" smtClean="0"/>
              <a:t>Firm 1’s profit:  </a:t>
            </a:r>
            <a:r>
              <a:rPr lang="el-GR" altLang="en-US" i="1" dirty="0" smtClean="0">
                <a:solidFill>
                  <a:srgbClr val="FF0000"/>
                </a:solidFill>
                <a:cs typeface="Arial" charset="0"/>
              </a:rPr>
              <a:t>π</a:t>
            </a:r>
            <a:r>
              <a:rPr lang="en-US" altLang="en-US" i="1" baseline="-25000" dirty="0" smtClean="0">
                <a:solidFill>
                  <a:srgbClr val="FF0000"/>
                </a:solidFill>
                <a:cs typeface="Arial" charset="0"/>
              </a:rPr>
              <a:t>1</a:t>
            </a:r>
            <a:r>
              <a:rPr lang="en-US" altLang="en-US" i="1" dirty="0" smtClean="0">
                <a:solidFill>
                  <a:srgbClr val="FF0000"/>
                </a:solidFill>
                <a:cs typeface="Arial" charset="0"/>
              </a:rPr>
              <a:t>=(p</a:t>
            </a:r>
            <a:r>
              <a:rPr lang="en-US" altLang="en-US" i="1" baseline="-25000" dirty="0" smtClean="0">
                <a:solidFill>
                  <a:srgbClr val="FF0000"/>
                </a:solidFill>
                <a:cs typeface="Arial" charset="0"/>
              </a:rPr>
              <a:t>1</a:t>
            </a:r>
            <a:r>
              <a:rPr lang="en-US" altLang="en-US" dirty="0" smtClean="0">
                <a:solidFill>
                  <a:srgbClr val="FF0000"/>
                </a:solidFill>
                <a:cs typeface="Arial" charset="0"/>
              </a:rPr>
              <a:t>/8</a:t>
            </a:r>
            <a:r>
              <a:rPr lang="en-US" altLang="en-US" i="1" dirty="0" smtClean="0">
                <a:solidFill>
                  <a:srgbClr val="FF0000"/>
                </a:solidFill>
                <a:cs typeface="Arial" charset="0"/>
              </a:rPr>
              <a:t>)(</a:t>
            </a:r>
            <a:r>
              <a:rPr lang="en-US" altLang="en-US" dirty="0" smtClean="0">
                <a:solidFill>
                  <a:srgbClr val="FF0000"/>
                </a:solidFill>
                <a:cs typeface="Arial" charset="0"/>
              </a:rPr>
              <a:t>10-7</a:t>
            </a:r>
            <a:r>
              <a:rPr lang="en-US" altLang="en-US" i="1" dirty="0" smtClean="0">
                <a:solidFill>
                  <a:srgbClr val="FF0000"/>
                </a:solidFill>
                <a:cs typeface="Arial" charset="0"/>
              </a:rPr>
              <a:t>p</a:t>
            </a:r>
            <a:r>
              <a:rPr lang="en-US" altLang="en-US" i="1" baseline="-25000" dirty="0" smtClean="0">
                <a:solidFill>
                  <a:srgbClr val="FF0000"/>
                </a:solidFill>
                <a:cs typeface="Arial" charset="0"/>
              </a:rPr>
              <a:t>1</a:t>
            </a:r>
            <a:r>
              <a:rPr lang="en-US" altLang="en-US" i="1" dirty="0" smtClean="0">
                <a:solidFill>
                  <a:srgbClr val="FF0000"/>
                </a:solidFill>
                <a:cs typeface="Arial" charset="0"/>
              </a:rPr>
              <a:t>)</a:t>
            </a:r>
          </a:p>
          <a:p>
            <a:pPr lvl="1" algn="ctr">
              <a:buFont typeface="Arial" charset="0"/>
              <a:buNone/>
            </a:pPr>
            <a:r>
              <a:rPr lang="en-US" altLang="en-US" dirty="0" smtClean="0">
                <a:cs typeface="Arial" charset="0"/>
              </a:rPr>
              <a:t> </a:t>
            </a:r>
            <a:r>
              <a:rPr lang="en-US" altLang="en-US" i="1" dirty="0" smtClean="0">
                <a:solidFill>
                  <a:srgbClr val="FF0000"/>
                </a:solidFill>
                <a:cs typeface="Arial" charset="0"/>
              </a:rPr>
              <a:t>p</a:t>
            </a:r>
            <a:r>
              <a:rPr lang="en-US" altLang="en-US" i="1" baseline="-25000" dirty="0" smtClean="0">
                <a:solidFill>
                  <a:srgbClr val="FF0000"/>
                </a:solidFill>
                <a:cs typeface="Arial" charset="0"/>
              </a:rPr>
              <a:t>1</a:t>
            </a:r>
            <a:r>
              <a:rPr lang="en-US" altLang="en-US" i="1" dirty="0" smtClean="0">
                <a:solidFill>
                  <a:srgbClr val="FF0000"/>
                </a:solidFill>
                <a:cs typeface="Arial" charset="0"/>
              </a:rPr>
              <a:t>*</a:t>
            </a:r>
            <a:r>
              <a:rPr lang="en-US" altLang="en-US" dirty="0" smtClean="0">
                <a:solidFill>
                  <a:srgbClr val="FF0000"/>
                </a:solidFill>
                <a:cs typeface="Arial" charset="0"/>
              </a:rPr>
              <a:t> = 0.714, </a:t>
            </a:r>
            <a:r>
              <a:rPr lang="en-US" altLang="en-US" i="1" dirty="0" smtClean="0">
                <a:solidFill>
                  <a:srgbClr val="FF0000"/>
                </a:solidFill>
                <a:cs typeface="Arial" charset="0"/>
              </a:rPr>
              <a:t>p</a:t>
            </a:r>
            <a:r>
              <a:rPr lang="en-US" altLang="en-US" i="1" baseline="-25000" dirty="0" smtClean="0">
                <a:solidFill>
                  <a:srgbClr val="FF0000"/>
                </a:solidFill>
                <a:cs typeface="Arial" charset="0"/>
              </a:rPr>
              <a:t>2</a:t>
            </a:r>
            <a:r>
              <a:rPr lang="en-US" altLang="en-US" i="1" dirty="0" smtClean="0">
                <a:solidFill>
                  <a:srgbClr val="FF0000"/>
                </a:solidFill>
                <a:cs typeface="Arial" charset="0"/>
              </a:rPr>
              <a:t>*</a:t>
            </a:r>
            <a:r>
              <a:rPr lang="en-US" altLang="en-US" dirty="0" smtClean="0">
                <a:solidFill>
                  <a:srgbClr val="FF0000"/>
                </a:solidFill>
                <a:cs typeface="Arial" charset="0"/>
              </a:rPr>
              <a:t> = 0.679, </a:t>
            </a:r>
            <a:r>
              <a:rPr lang="el-GR" altLang="en-US" i="1" dirty="0" smtClean="0">
                <a:solidFill>
                  <a:srgbClr val="FF0000"/>
                </a:solidFill>
                <a:cs typeface="Arial" charset="0"/>
              </a:rPr>
              <a:t>π</a:t>
            </a:r>
            <a:r>
              <a:rPr lang="en-US" altLang="en-US" i="1" baseline="-25000" dirty="0" smtClean="0">
                <a:solidFill>
                  <a:srgbClr val="FF0000"/>
                </a:solidFill>
                <a:cs typeface="Arial" charset="0"/>
              </a:rPr>
              <a:t>1</a:t>
            </a:r>
            <a:r>
              <a:rPr lang="en-US" altLang="en-US" i="1" dirty="0" smtClean="0">
                <a:solidFill>
                  <a:srgbClr val="FF0000"/>
                </a:solidFill>
                <a:cs typeface="Arial" charset="0"/>
              </a:rPr>
              <a:t>*</a:t>
            </a:r>
            <a:r>
              <a:rPr lang="en-US" altLang="en-US" dirty="0" smtClean="0">
                <a:solidFill>
                  <a:srgbClr val="FF0000"/>
                </a:solidFill>
                <a:cs typeface="Arial" charset="0"/>
              </a:rPr>
              <a:t> = 0.44, </a:t>
            </a:r>
            <a:r>
              <a:rPr lang="el-GR" altLang="en-US" i="1" dirty="0" smtClean="0">
                <a:solidFill>
                  <a:srgbClr val="FF0000"/>
                </a:solidFill>
                <a:cs typeface="Arial" charset="0"/>
              </a:rPr>
              <a:t>π</a:t>
            </a:r>
            <a:r>
              <a:rPr lang="en-US" altLang="en-US" i="1" baseline="-25000" dirty="0" smtClean="0">
                <a:solidFill>
                  <a:srgbClr val="FF0000"/>
                </a:solidFill>
                <a:cs typeface="Arial" charset="0"/>
              </a:rPr>
              <a:t>2</a:t>
            </a:r>
            <a:r>
              <a:rPr lang="en-US" altLang="en-US" i="1" dirty="0" smtClean="0">
                <a:solidFill>
                  <a:srgbClr val="FF0000"/>
                </a:solidFill>
                <a:cs typeface="Arial" charset="0"/>
              </a:rPr>
              <a:t>*</a:t>
            </a:r>
            <a:r>
              <a:rPr lang="en-US" altLang="en-US" dirty="0" smtClean="0">
                <a:solidFill>
                  <a:srgbClr val="FF0000"/>
                </a:solidFill>
                <a:cs typeface="Arial" charset="0"/>
              </a:rPr>
              <a:t> = 0.46</a:t>
            </a:r>
          </a:p>
          <a:p>
            <a:pPr lvl="1"/>
            <a:r>
              <a:rPr lang="en-US" altLang="en-US" dirty="0" smtClean="0"/>
              <a:t>Both firms’ prices and profits are higher than in the simultaneous game</a:t>
            </a:r>
          </a:p>
          <a:p>
            <a:pPr lvl="2"/>
            <a:r>
              <a:rPr lang="en-US" altLang="en-US" dirty="0" smtClean="0"/>
              <a:t>The follower earns even more than the leader</a:t>
            </a:r>
          </a:p>
        </p:txBody>
      </p:sp>
    </p:spTree>
    <p:extLst>
      <p:ext uri="{BB962C8B-B14F-4D97-AF65-F5344CB8AC3E}">
        <p14:creationId xmlns:p14="http://schemas.microsoft.com/office/powerpoint/2010/main" val="107679703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15.7	Price-Leadership </a:t>
            </a:r>
            <a:r>
              <a:rPr lang="en-US" altLang="en-US" dirty="0" smtClean="0"/>
              <a:t>Game</a:t>
            </a:r>
            <a:endParaRPr lang="en-US" altLang="en-US" dirty="0" smtClean="0"/>
          </a:p>
        </p:txBody>
      </p:sp>
      <p:sp>
        <p:nvSpPr>
          <p:cNvPr id="78851" name="Text Placeholder 2"/>
          <p:cNvSpPr>
            <a:spLocks noGrp="1"/>
          </p:cNvSpPr>
          <p:nvPr>
            <p:ph sz="half" idx="1"/>
          </p:nvPr>
        </p:nvSpPr>
        <p:spPr>
          <a:xfrm>
            <a:off x="5334000" y="1600200"/>
            <a:ext cx="3733800" cy="4525963"/>
          </a:xfrm>
        </p:spPr>
        <p:txBody>
          <a:bodyPr>
            <a:normAutofit/>
          </a:bodyPr>
          <a:lstStyle/>
          <a:p>
            <a:pPr>
              <a:spcBef>
                <a:spcPct val="0"/>
              </a:spcBef>
            </a:pPr>
            <a:r>
              <a:rPr lang="en-US" altLang="en-US" dirty="0"/>
              <a:t>Thick lines are best-response functions from the game in which firms choose prices for differentiated products. U-shaped curves are firm 1’s </a:t>
            </a:r>
            <a:r>
              <a:rPr lang="en-US" altLang="en-US" dirty="0" err="1"/>
              <a:t>isoprofits</a:t>
            </a:r>
            <a:r>
              <a:rPr lang="en-US" altLang="en-US" dirty="0"/>
              <a:t>. Point B is the Nash equilibrium of the simultaneous game, and L is the subgame-perfect equilibrium of the sequential game in which firm 1 moves first. At L, firm 1’s </a:t>
            </a:r>
            <a:r>
              <a:rPr lang="en-US" altLang="en-US" dirty="0" err="1"/>
              <a:t>isoprofit</a:t>
            </a:r>
            <a:r>
              <a:rPr lang="en-US" altLang="en-US" dirty="0"/>
              <a:t> is tangent to firm 2’s best response.</a:t>
            </a:r>
          </a:p>
          <a:p>
            <a:pPr>
              <a:spcBef>
                <a:spcPct val="0"/>
              </a:spcBef>
            </a:pPr>
            <a:endParaRPr lang="en-US" altLang="en-US" dirty="0" smtClean="0"/>
          </a:p>
        </p:txBody>
      </p:sp>
      <p:sp>
        <p:nvSpPr>
          <p:cNvPr id="7885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CB94CA35-0C51-41F3-8799-DDABB22F8C47}" type="slidenum">
              <a:rPr lang="en-US" smtClean="0"/>
              <a:pPr>
                <a:defRPr/>
              </a:pPr>
              <a:t>65</a:t>
            </a:fld>
            <a:endParaRPr lang="en-US" dirty="0"/>
          </a:p>
        </p:txBody>
      </p:sp>
      <p:pic>
        <p:nvPicPr>
          <p:cNvPr id="737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4930775"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362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wipe(left)">
                                      <p:cBhvr>
                                        <p:cTn id="7" dur="500"/>
                                        <p:tgtEl>
                                          <p:spTgt spid="7373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8851">
                                            <p:txEl>
                                              <p:pRg st="0" end="0"/>
                                            </p:txEl>
                                          </p:spTgt>
                                        </p:tgtEl>
                                        <p:attrNameLst>
                                          <p:attrName>style.visibility</p:attrName>
                                        </p:attrNameLst>
                                      </p:cBhvr>
                                      <p:to>
                                        <p:strVal val="visible"/>
                                      </p:to>
                                    </p:set>
                                    <p:animEffect transition="in" filter="wipe(left)">
                                      <p:cBhvr>
                                        <p:cTn id="11" dur="500"/>
                                        <p:tgtEl>
                                          <p:spTgt spid="788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en-US" smtClean="0"/>
              <a:t>Strategic Entry Deterrence</a:t>
            </a:r>
          </a:p>
        </p:txBody>
      </p:sp>
      <p:sp>
        <p:nvSpPr>
          <p:cNvPr id="79875" name="Rectangle 3"/>
          <p:cNvSpPr>
            <a:spLocks noGrp="1" noChangeArrowheads="1"/>
          </p:cNvSpPr>
          <p:nvPr>
            <p:ph idx="1"/>
          </p:nvPr>
        </p:nvSpPr>
        <p:spPr/>
        <p:txBody>
          <a:bodyPr/>
          <a:lstStyle/>
          <a:p>
            <a:r>
              <a:rPr lang="en-US" altLang="en-US" dirty="0" smtClean="0"/>
              <a:t>First-mover advantages</a:t>
            </a:r>
          </a:p>
          <a:p>
            <a:pPr lvl="1"/>
            <a:r>
              <a:rPr lang="en-US" altLang="en-US" dirty="0" smtClean="0"/>
              <a:t>May be large enough to deter all entry by rivals</a:t>
            </a:r>
          </a:p>
          <a:p>
            <a:pPr lvl="1"/>
            <a:r>
              <a:rPr lang="en-US" altLang="en-US" dirty="0" smtClean="0"/>
              <a:t>It may not be in the firm’s best interest to create that large a capacity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AA4F6BD-C45A-4FE8-9165-6303A6DF5235}" type="slidenum">
              <a:rPr lang="en-US" smtClean="0"/>
              <a:pPr>
                <a:defRPr/>
              </a:pPr>
              <a:t>66</a:t>
            </a:fld>
            <a:endParaRPr lang="en-US"/>
          </a:p>
        </p:txBody>
      </p:sp>
    </p:spTree>
    <p:extLst>
      <p:ext uri="{BB962C8B-B14F-4D97-AF65-F5344CB8AC3E}">
        <p14:creationId xmlns:p14="http://schemas.microsoft.com/office/powerpoint/2010/main" val="274298583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15.10      Deterring Entry of a Natural Spring</a:t>
            </a:r>
            <a:endParaRPr lang="en-US" altLang="en-US" dirty="0" smtClean="0"/>
          </a:p>
        </p:txBody>
      </p:sp>
      <p:sp>
        <p:nvSpPr>
          <p:cNvPr id="8090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3BAD1593-52B1-4375-B5B2-8C2DB9226BBE}" type="slidenum">
              <a:rPr lang="en-US" smtClean="0"/>
              <a:pPr>
                <a:defRPr/>
              </a:pPr>
              <a:t>67</a:t>
            </a:fld>
            <a:endParaRPr lang="en-US" dirty="0"/>
          </a:p>
        </p:txBody>
      </p:sp>
      <p:sp>
        <p:nvSpPr>
          <p:cNvPr id="80899" name="Content Placeholder 2"/>
          <p:cNvSpPr>
            <a:spLocks noGrp="1"/>
          </p:cNvSpPr>
          <p:nvPr>
            <p:ph type="body" sz="quarter" idx="12"/>
          </p:nvPr>
        </p:nvSpPr>
        <p:spPr>
          <a:prstGeom prst="rect">
            <a:avLst/>
          </a:prstGeom>
        </p:spPr>
        <p:txBody>
          <a:bodyPr/>
          <a:lstStyle/>
          <a:p>
            <a:r>
              <a:rPr lang="en-US" altLang="en-US" dirty="0" smtClean="0"/>
              <a:t>Add an entry stage to the </a:t>
            </a:r>
            <a:r>
              <a:rPr lang="en-US" altLang="en-US" dirty="0" err="1" smtClean="0"/>
              <a:t>Stackelberg</a:t>
            </a:r>
            <a:r>
              <a:rPr lang="en-US" altLang="en-US" dirty="0" smtClean="0"/>
              <a:t> Natural Springs example</a:t>
            </a:r>
          </a:p>
          <a:p>
            <a:pPr lvl="1"/>
            <a:r>
              <a:rPr lang="en-US" altLang="en-US" dirty="0" smtClean="0"/>
              <a:t>Firm 2 must decide whether to enter the market after seeing Firm 1’s output level</a:t>
            </a:r>
          </a:p>
          <a:p>
            <a:pPr lvl="1"/>
            <a:r>
              <a:rPr lang="en-US" altLang="en-US" dirty="0" smtClean="0"/>
              <a:t>Entry for Firm 2 requires a sunk cost, </a:t>
            </a:r>
            <a:r>
              <a:rPr lang="en-US" altLang="en-US" i="1" dirty="0" smtClean="0"/>
              <a:t>K</a:t>
            </a:r>
            <a:r>
              <a:rPr lang="en-US" altLang="en-US" baseline="-25000" dirty="0" smtClean="0"/>
              <a:t>2</a:t>
            </a:r>
            <a:endParaRPr lang="en-US" altLang="en-US" dirty="0" smtClean="0"/>
          </a:p>
          <a:p>
            <a:pPr lvl="2"/>
            <a:r>
              <a:rPr lang="en-US" altLang="en-US" dirty="0" smtClean="0"/>
              <a:t>Firm 1 incurred sunk cost before the start of the game</a:t>
            </a:r>
          </a:p>
          <a:p>
            <a:pPr lvl="1"/>
            <a:r>
              <a:rPr lang="en-US" altLang="en-US" dirty="0" smtClean="0"/>
              <a:t>Assume </a:t>
            </a:r>
            <a:r>
              <a:rPr lang="en-US" altLang="en-US" i="1" dirty="0" smtClean="0"/>
              <a:t>a</a:t>
            </a:r>
            <a:r>
              <a:rPr lang="en-US" altLang="en-US" dirty="0" smtClean="0"/>
              <a:t> = 120 and </a:t>
            </a:r>
            <a:r>
              <a:rPr lang="en-US" altLang="en-US" i="1" dirty="0" smtClean="0"/>
              <a:t>c</a:t>
            </a:r>
            <a:r>
              <a:rPr lang="en-US" altLang="en-US" dirty="0" smtClean="0"/>
              <a:t> = 0</a:t>
            </a:r>
          </a:p>
          <a:p>
            <a:r>
              <a:rPr lang="en-US" altLang="en-US" dirty="0" smtClean="0"/>
              <a:t>Calculate Firm 1’s profit if it accommodates entry</a:t>
            </a:r>
          </a:p>
          <a:p>
            <a:pPr lvl="1" algn="ctr">
              <a:buFontTx/>
              <a:buNone/>
            </a:pPr>
            <a:r>
              <a:rPr lang="en-US" altLang="en-US" i="1" dirty="0" smtClean="0">
                <a:solidFill>
                  <a:srgbClr val="FF0000"/>
                </a:solidFill>
              </a:rPr>
              <a:t>q</a:t>
            </a:r>
            <a:r>
              <a:rPr lang="en-US" altLang="en-US" baseline="-25000" dirty="0" smtClean="0">
                <a:solidFill>
                  <a:srgbClr val="FF0000"/>
                </a:solidFill>
              </a:rPr>
              <a:t>1</a:t>
            </a:r>
            <a:r>
              <a:rPr lang="en-US" altLang="en-US" i="1" baseline="30000" dirty="0" smtClean="0">
                <a:solidFill>
                  <a:srgbClr val="FF0000"/>
                </a:solidFill>
              </a:rPr>
              <a:t>acc</a:t>
            </a:r>
            <a:r>
              <a:rPr lang="en-US" altLang="en-US" dirty="0" smtClean="0">
                <a:solidFill>
                  <a:srgbClr val="FF0000"/>
                </a:solidFill>
              </a:rPr>
              <a:t> = (</a:t>
            </a:r>
            <a:r>
              <a:rPr lang="en-US" altLang="en-US" i="1" dirty="0" smtClean="0">
                <a:solidFill>
                  <a:srgbClr val="FF0000"/>
                </a:solidFill>
              </a:rPr>
              <a:t>a – c</a:t>
            </a:r>
            <a:r>
              <a:rPr lang="en-US" altLang="en-US" dirty="0" smtClean="0">
                <a:solidFill>
                  <a:srgbClr val="FF0000"/>
                </a:solidFill>
              </a:rPr>
              <a:t>)/2 = 60; </a:t>
            </a:r>
            <a:r>
              <a:rPr lang="en-US" altLang="en-US" dirty="0" smtClean="0">
                <a:solidFill>
                  <a:srgbClr val="FF0000"/>
                </a:solidFill>
                <a:sym typeface="Symbol" pitchFamily="18" charset="2"/>
              </a:rPr>
              <a:t></a:t>
            </a:r>
            <a:r>
              <a:rPr lang="en-US" altLang="en-US" baseline="-25000" dirty="0" smtClean="0">
                <a:solidFill>
                  <a:srgbClr val="FF0000"/>
                </a:solidFill>
                <a:sym typeface="Symbol" pitchFamily="18" charset="2"/>
              </a:rPr>
              <a:t>1</a:t>
            </a:r>
            <a:r>
              <a:rPr lang="en-US" altLang="en-US" i="1" baseline="30000" dirty="0" smtClean="0">
                <a:solidFill>
                  <a:srgbClr val="FF0000"/>
                </a:solidFill>
                <a:sym typeface="Symbol" pitchFamily="18" charset="2"/>
              </a:rPr>
              <a:t>acc</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a – c</a:t>
            </a:r>
            <a:r>
              <a:rPr lang="en-US" altLang="en-US" dirty="0" smtClean="0">
                <a:solidFill>
                  <a:srgbClr val="FF0000"/>
                </a:solidFill>
                <a:sym typeface="Symbol" pitchFamily="18" charset="2"/>
              </a:rPr>
              <a:t>)</a:t>
            </a:r>
            <a:r>
              <a:rPr lang="en-US" altLang="en-US" baseline="30000" dirty="0" smtClean="0">
                <a:solidFill>
                  <a:srgbClr val="FF0000"/>
                </a:solidFill>
                <a:sym typeface="Symbol" pitchFamily="18" charset="2"/>
              </a:rPr>
              <a:t>2</a:t>
            </a:r>
            <a:r>
              <a:rPr lang="en-US" altLang="en-US" dirty="0" smtClean="0">
                <a:solidFill>
                  <a:srgbClr val="FF0000"/>
                </a:solidFill>
                <a:sym typeface="Symbol" pitchFamily="18" charset="2"/>
              </a:rPr>
              <a:t>/8 = 1,800</a:t>
            </a:r>
            <a:endParaRPr lang="en-US" altLang="en-US" i="1" dirty="0" smtClean="0">
              <a:solidFill>
                <a:srgbClr val="FF0000"/>
              </a:solidFill>
              <a:sym typeface="Symbol" pitchFamily="18" charset="2"/>
            </a:endParaRPr>
          </a:p>
        </p:txBody>
      </p:sp>
    </p:spTree>
    <p:extLst>
      <p:ext uri="{BB962C8B-B14F-4D97-AF65-F5344CB8AC3E}">
        <p14:creationId xmlns:p14="http://schemas.microsoft.com/office/powerpoint/2010/main" val="7386761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15.10      Deterring Entry of a Natural Spring</a:t>
            </a:r>
            <a:endParaRPr lang="en-US" altLang="en-US" dirty="0" smtClean="0"/>
          </a:p>
        </p:txBody>
      </p:sp>
      <p:sp>
        <p:nvSpPr>
          <p:cNvPr id="1843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5ADBF350-EB3D-458D-9FB7-345D2AA93488}" type="slidenum">
              <a:rPr lang="en-US" smtClean="0"/>
              <a:pPr>
                <a:defRPr/>
              </a:pPr>
              <a:t>68</a:t>
            </a:fld>
            <a:endParaRPr lang="en-US" dirty="0"/>
          </a:p>
        </p:txBody>
      </p:sp>
      <p:sp>
        <p:nvSpPr>
          <p:cNvPr id="18436" name="Content Placeholder 2"/>
          <p:cNvSpPr>
            <a:spLocks noGrp="1"/>
          </p:cNvSpPr>
          <p:nvPr>
            <p:ph type="body" sz="quarter" idx="12"/>
          </p:nvPr>
        </p:nvSpPr>
        <p:spPr>
          <a:prstGeom prst="rect">
            <a:avLst/>
          </a:prstGeom>
        </p:spPr>
        <p:txBody>
          <a:bodyPr/>
          <a:lstStyle/>
          <a:p>
            <a:r>
              <a:rPr lang="en-US" altLang="en-US" dirty="0" smtClean="0"/>
              <a:t>Compute Firm 1’s profit if it deters entry</a:t>
            </a:r>
          </a:p>
          <a:p>
            <a:pPr lvl="1"/>
            <a:r>
              <a:rPr lang="en-US" altLang="en-US" dirty="0" smtClean="0">
                <a:sym typeface="Symbol" pitchFamily="18" charset="2"/>
              </a:rPr>
              <a:t>Firm 1 needs to produce and amount high enough that Firm 2 cannot earn enough profit to cover sunk cost</a:t>
            </a:r>
          </a:p>
          <a:p>
            <a:r>
              <a:rPr lang="en-US" altLang="en-US" dirty="0" smtClean="0"/>
              <a:t>Firm 2’s best-response function:</a:t>
            </a:r>
          </a:p>
          <a:p>
            <a:pPr algn="ctr">
              <a:buFontTx/>
              <a:buNone/>
            </a:pP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(120 – </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)/2</a:t>
            </a:r>
          </a:p>
          <a:p>
            <a:r>
              <a:rPr lang="en-US" altLang="en-US" dirty="0" smtClean="0"/>
              <a:t>Firm 2’s profit function: </a:t>
            </a:r>
          </a:p>
          <a:p>
            <a:endParaRPr lang="en-US" altLang="en-US" dirty="0" smtClean="0"/>
          </a:p>
          <a:p>
            <a:endParaRPr lang="en-US" altLang="en-US" dirty="0" smtClean="0"/>
          </a:p>
        </p:txBody>
      </p:sp>
      <p:graphicFrame>
        <p:nvGraphicFramePr>
          <p:cNvPr id="74754" name="Object 2"/>
          <p:cNvGraphicFramePr>
            <a:graphicFrameLocks noChangeAspect="1"/>
          </p:cNvGraphicFramePr>
          <p:nvPr/>
        </p:nvGraphicFramePr>
        <p:xfrm>
          <a:off x="2817813" y="4346575"/>
          <a:ext cx="3155950" cy="1116013"/>
        </p:xfrm>
        <a:graphic>
          <a:graphicData uri="http://schemas.openxmlformats.org/presentationml/2006/ole">
            <mc:AlternateContent xmlns:mc="http://schemas.openxmlformats.org/markup-compatibility/2006">
              <mc:Choice xmlns:v="urn:schemas-microsoft-com:vml" Requires="v">
                <p:oleObj spid="_x0000_s335885" name="Equation" r:id="rId3" imgW="1434960" imgH="507960" progId="Equation.DSMT4">
                  <p:embed/>
                </p:oleObj>
              </mc:Choice>
              <mc:Fallback>
                <p:oleObj name="Equation" r:id="rId3" imgW="1434960" imgH="507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7813" y="4346575"/>
                        <a:ext cx="3155950" cy="1116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7105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wipe(left)">
                                      <p:cBhvr>
                                        <p:cTn id="7" dur="500"/>
                                        <p:tgtEl>
                                          <p:spTgt spid="74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15.10 </a:t>
            </a:r>
            <a:r>
              <a:rPr lang="en-US" altLang="en-US" dirty="0" smtClean="0"/>
              <a:t>     Deterring </a:t>
            </a:r>
            <a:r>
              <a:rPr lang="en-US" altLang="en-US" dirty="0" smtClean="0"/>
              <a:t>Entry of a Natural Spring</a:t>
            </a:r>
          </a:p>
        </p:txBody>
      </p:sp>
      <p:sp>
        <p:nvSpPr>
          <p:cNvPr id="1946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1C9736D7-209E-4A59-B258-8B48DA776A69}" type="slidenum">
              <a:rPr lang="en-US" smtClean="0"/>
              <a:pPr>
                <a:defRPr/>
              </a:pPr>
              <a:t>69</a:t>
            </a:fld>
            <a:endParaRPr lang="en-US" dirty="0"/>
          </a:p>
        </p:txBody>
      </p:sp>
      <p:sp>
        <p:nvSpPr>
          <p:cNvPr id="19460" name="Content Placeholder 2"/>
          <p:cNvSpPr>
            <a:spLocks noGrp="1"/>
          </p:cNvSpPr>
          <p:nvPr>
            <p:ph type="body" sz="quarter" idx="12"/>
          </p:nvPr>
        </p:nvSpPr>
        <p:spPr>
          <a:prstGeom prst="rect">
            <a:avLst/>
          </a:prstGeom>
        </p:spPr>
        <p:txBody>
          <a:bodyPr/>
          <a:lstStyle/>
          <a:p>
            <a:r>
              <a:rPr lang="en-US" altLang="en-US" smtClean="0"/>
              <a:t>Setting Firm 2’s profit to zero yields:</a:t>
            </a:r>
          </a:p>
        </p:txBody>
      </p:sp>
      <p:sp>
        <p:nvSpPr>
          <p:cNvPr id="2" name="Text Placeholder 1"/>
          <p:cNvSpPr>
            <a:spLocks noGrp="1"/>
          </p:cNvSpPr>
          <p:nvPr>
            <p:ph type="body" sz="quarter" idx="13"/>
          </p:nvPr>
        </p:nvSpPr>
        <p:spPr/>
        <p:txBody>
          <a:bodyPr/>
          <a:lstStyle/>
          <a:p>
            <a:pPr eaLnBrk="0" hangingPunct="0">
              <a:buFont typeface="Arial" charset="0"/>
              <a:buChar char="•"/>
              <a:defRPr/>
            </a:pPr>
            <a:r>
              <a:rPr lang="en-US" kern="0" dirty="0">
                <a:solidFill>
                  <a:srgbClr val="002D56"/>
                </a:solidFill>
              </a:rPr>
              <a:t>Compare </a:t>
            </a:r>
            <a:r>
              <a:rPr lang="en-US" kern="0" dirty="0">
                <a:solidFill>
                  <a:srgbClr val="002D56"/>
                </a:solidFill>
                <a:sym typeface="Symbol" pitchFamily="18" charset="2"/>
              </a:rPr>
              <a:t></a:t>
            </a:r>
            <a:r>
              <a:rPr lang="en-US" kern="0" baseline="-25000" dirty="0">
                <a:solidFill>
                  <a:srgbClr val="002D56"/>
                </a:solidFill>
                <a:sym typeface="Symbol" pitchFamily="18" charset="2"/>
              </a:rPr>
              <a:t>1</a:t>
            </a:r>
            <a:r>
              <a:rPr lang="en-US" i="1" kern="0" baseline="30000" dirty="0">
                <a:solidFill>
                  <a:srgbClr val="002D56"/>
                </a:solidFill>
                <a:sym typeface="Symbol" pitchFamily="18" charset="2"/>
              </a:rPr>
              <a:t>acc</a:t>
            </a:r>
            <a:r>
              <a:rPr lang="en-US" kern="0" dirty="0">
                <a:solidFill>
                  <a:srgbClr val="002D56"/>
                </a:solidFill>
                <a:sym typeface="Symbol" pitchFamily="18" charset="2"/>
              </a:rPr>
              <a:t> with </a:t>
            </a:r>
            <a:r>
              <a:rPr lang="en-US" kern="0" baseline="-25000" dirty="0">
                <a:solidFill>
                  <a:srgbClr val="002D56"/>
                </a:solidFill>
                <a:sym typeface="Symbol" pitchFamily="18" charset="2"/>
              </a:rPr>
              <a:t>1</a:t>
            </a:r>
            <a:r>
              <a:rPr lang="en-US" i="1" kern="0" baseline="30000" dirty="0">
                <a:solidFill>
                  <a:srgbClr val="002D56"/>
                </a:solidFill>
                <a:sym typeface="Symbol" pitchFamily="18" charset="2"/>
              </a:rPr>
              <a:t>det</a:t>
            </a:r>
            <a:r>
              <a:rPr lang="en-US" kern="0" dirty="0">
                <a:solidFill>
                  <a:srgbClr val="002D56"/>
                </a:solidFill>
                <a:sym typeface="Symbol" pitchFamily="18" charset="2"/>
              </a:rPr>
              <a:t> </a:t>
            </a:r>
          </a:p>
          <a:p>
            <a:pPr lvl="1" eaLnBrk="0" hangingPunct="0">
              <a:buFont typeface="Arial" charset="0"/>
              <a:buChar char="•"/>
              <a:defRPr/>
            </a:pPr>
            <a:r>
              <a:rPr lang="en-US" kern="0" dirty="0">
                <a:sym typeface="Symbol" pitchFamily="18" charset="2"/>
              </a:rPr>
              <a:t>The level of </a:t>
            </a:r>
            <a:r>
              <a:rPr lang="en-US" i="1" kern="0" dirty="0">
                <a:sym typeface="Symbol" pitchFamily="18" charset="2"/>
              </a:rPr>
              <a:t>K</a:t>
            </a:r>
            <a:r>
              <a:rPr lang="en-US" kern="0" baseline="-25000" dirty="0">
                <a:sym typeface="Symbol" pitchFamily="18" charset="2"/>
              </a:rPr>
              <a:t>2</a:t>
            </a:r>
            <a:r>
              <a:rPr lang="en-US" kern="0" dirty="0">
                <a:sym typeface="Symbol" pitchFamily="18" charset="2"/>
              </a:rPr>
              <a:t> at which the firm would be indifferent is </a:t>
            </a:r>
            <a:r>
              <a:rPr lang="en-US" i="1" kern="0" dirty="0">
                <a:sym typeface="Symbol" pitchFamily="18" charset="2"/>
              </a:rPr>
              <a:t>K</a:t>
            </a:r>
            <a:r>
              <a:rPr lang="en-US" kern="0" baseline="-25000" dirty="0">
                <a:sym typeface="Symbol" pitchFamily="18" charset="2"/>
              </a:rPr>
              <a:t>2</a:t>
            </a:r>
            <a:r>
              <a:rPr lang="en-US" kern="0" dirty="0">
                <a:sym typeface="Symbol" pitchFamily="18" charset="2"/>
              </a:rPr>
              <a:t> = 77</a:t>
            </a:r>
          </a:p>
          <a:p>
            <a:pPr lvl="1" eaLnBrk="0" hangingPunct="0">
              <a:buFont typeface="Arial" charset="0"/>
              <a:buChar char="•"/>
              <a:defRPr/>
            </a:pPr>
            <a:r>
              <a:rPr lang="en-US" kern="0" dirty="0">
                <a:sym typeface="Symbol" pitchFamily="18" charset="2"/>
              </a:rPr>
              <a:t>If </a:t>
            </a:r>
            <a:r>
              <a:rPr lang="en-US" i="1" kern="0" dirty="0">
                <a:sym typeface="Symbol" pitchFamily="18" charset="2"/>
              </a:rPr>
              <a:t>K</a:t>
            </a:r>
            <a:r>
              <a:rPr lang="en-US" kern="0" baseline="-25000" dirty="0">
                <a:sym typeface="Symbol" pitchFamily="18" charset="2"/>
              </a:rPr>
              <a:t>2</a:t>
            </a:r>
            <a:r>
              <a:rPr lang="en-US" kern="0" dirty="0">
                <a:sym typeface="Symbol" pitchFamily="18" charset="2"/>
              </a:rPr>
              <a:t> &lt; 77, entry is cheap and Firm 1 would have to increase its output to 102 to deter </a:t>
            </a:r>
            <a:r>
              <a:rPr lang="en-US" kern="0" dirty="0" smtClean="0">
                <a:sym typeface="Symbol" pitchFamily="18" charset="2"/>
              </a:rPr>
              <a:t>entry</a:t>
            </a:r>
            <a:endParaRPr lang="en-US" kern="0" dirty="0">
              <a:sym typeface="Symbol" pitchFamily="18" charset="2"/>
            </a:endParaRPr>
          </a:p>
        </p:txBody>
      </p:sp>
      <p:graphicFrame>
        <p:nvGraphicFramePr>
          <p:cNvPr id="75779" name="Object 3"/>
          <p:cNvGraphicFramePr>
            <a:graphicFrameLocks noChangeAspect="1"/>
          </p:cNvGraphicFramePr>
          <p:nvPr/>
        </p:nvGraphicFramePr>
        <p:xfrm>
          <a:off x="2233613" y="1358900"/>
          <a:ext cx="3810000" cy="1262063"/>
        </p:xfrm>
        <a:graphic>
          <a:graphicData uri="http://schemas.openxmlformats.org/presentationml/2006/ole">
            <mc:AlternateContent xmlns:mc="http://schemas.openxmlformats.org/markup-compatibility/2006">
              <mc:Choice xmlns:v="urn:schemas-microsoft-com:vml" Requires="v">
                <p:oleObj spid="_x0000_s336910" name="Equation" r:id="rId3" imgW="1612800" imgH="533160" progId="Equation.DSMT4">
                  <p:embed/>
                </p:oleObj>
              </mc:Choice>
              <mc:Fallback>
                <p:oleObj name="Equation" r:id="rId3" imgW="1612800" imgH="5331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613" y="1358900"/>
                        <a:ext cx="3810000"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32228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wipe(left)">
                                      <p:cBhvr>
                                        <p:cTn id="7" dur="500"/>
                                        <p:tgtEl>
                                          <p:spTgt spid="7577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lnSpc>
                <a:spcPct val="90000"/>
              </a:lnSpc>
            </a:pPr>
            <a:r>
              <a:rPr lang="en-US" altLang="en-US" smtClean="0"/>
              <a:t>Signaling</a:t>
            </a:r>
          </a:p>
        </p:txBody>
      </p:sp>
      <p:sp>
        <p:nvSpPr>
          <p:cNvPr id="81923" name="Rectangle 3"/>
          <p:cNvSpPr>
            <a:spLocks noGrp="1" noChangeArrowheads="1"/>
          </p:cNvSpPr>
          <p:nvPr>
            <p:ph idx="1"/>
          </p:nvPr>
        </p:nvSpPr>
        <p:spPr/>
        <p:txBody>
          <a:bodyPr/>
          <a:lstStyle/>
          <a:p>
            <a:r>
              <a:rPr lang="en-US" altLang="en-US" dirty="0" smtClean="0"/>
              <a:t>The ability to signal is another first-mover advantage</a:t>
            </a:r>
          </a:p>
          <a:p>
            <a:pPr lvl="1"/>
            <a:r>
              <a:rPr lang="en-US" altLang="en-US" dirty="0" smtClean="0"/>
              <a:t>If a second mover has incomplete information about the market</a:t>
            </a:r>
          </a:p>
          <a:p>
            <a:pPr lvl="2"/>
            <a:r>
              <a:rPr lang="en-US" altLang="en-US" dirty="0" smtClean="0"/>
              <a:t>It may try to watch the first-mover to learn about market conditions</a:t>
            </a:r>
          </a:p>
          <a:p>
            <a:pPr lvl="1"/>
            <a:r>
              <a:rPr lang="en-US" altLang="en-US" dirty="0" smtClean="0"/>
              <a:t>The first mover may distort its actions to manipulate what the second mover learns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6B67C3A-6246-4DBA-8CFE-5D843209801D}" type="slidenum">
              <a:rPr lang="en-US" smtClean="0"/>
              <a:pPr>
                <a:defRPr/>
              </a:pPr>
              <a:t>70</a:t>
            </a:fld>
            <a:endParaRPr lang="en-US"/>
          </a:p>
        </p:txBody>
      </p:sp>
    </p:spTree>
    <p:extLst>
      <p:ext uri="{BB962C8B-B14F-4D97-AF65-F5344CB8AC3E}">
        <p14:creationId xmlns:p14="http://schemas.microsoft.com/office/powerpoint/2010/main" val="3381739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a:lnSpc>
                <a:spcPct val="90000"/>
              </a:lnSpc>
            </a:pPr>
            <a:r>
              <a:rPr lang="en-US" altLang="en-US" smtClean="0"/>
              <a:t>Entry-Deterrence Model</a:t>
            </a:r>
          </a:p>
        </p:txBody>
      </p:sp>
      <p:sp>
        <p:nvSpPr>
          <p:cNvPr id="82947" name="Rectangle 3"/>
          <p:cNvSpPr>
            <a:spLocks noGrp="1" noChangeArrowheads="1"/>
          </p:cNvSpPr>
          <p:nvPr>
            <p:ph idx="1"/>
          </p:nvPr>
        </p:nvSpPr>
        <p:spPr/>
        <p:txBody>
          <a:bodyPr/>
          <a:lstStyle/>
          <a:p>
            <a:r>
              <a:rPr lang="en-US" altLang="en-US" dirty="0" smtClean="0"/>
              <a:t>A game where two firms choose a price for their differentiated products</a:t>
            </a:r>
          </a:p>
          <a:p>
            <a:pPr lvl="1"/>
            <a:r>
              <a:rPr lang="en-US" altLang="en-US" dirty="0" smtClean="0"/>
              <a:t>Firm 1 is a first mover</a:t>
            </a:r>
          </a:p>
          <a:p>
            <a:pPr lvl="1"/>
            <a:r>
              <a:rPr lang="en-US" altLang="en-US" dirty="0" smtClean="0"/>
              <a:t>Firm 2 is a second mover</a:t>
            </a:r>
          </a:p>
          <a:p>
            <a:r>
              <a:rPr lang="en-US" altLang="en-US" dirty="0" smtClean="0"/>
              <a:t>Firm 1 has private information about its marginal costs</a:t>
            </a:r>
          </a:p>
          <a:p>
            <a:pPr lvl="1"/>
            <a:r>
              <a:rPr lang="en-US" altLang="en-US" sz="3000" dirty="0" smtClean="0"/>
              <a:t>High costs with a probability of </a:t>
            </a:r>
            <a:r>
              <a:rPr lang="en-US" altLang="en-US" sz="3000" i="1" dirty="0" err="1" smtClean="0"/>
              <a:t>Pr</a:t>
            </a:r>
            <a:r>
              <a:rPr lang="en-US" altLang="en-US" sz="3000" dirty="0" smtClean="0"/>
              <a:t>(</a:t>
            </a:r>
            <a:r>
              <a:rPr lang="en-US" altLang="en-US" sz="3000" i="1" dirty="0" smtClean="0"/>
              <a:t>H</a:t>
            </a:r>
            <a:r>
              <a:rPr lang="en-US" altLang="en-US" sz="3000" dirty="0" smtClean="0"/>
              <a:t>)</a:t>
            </a:r>
          </a:p>
          <a:p>
            <a:pPr lvl="1"/>
            <a:r>
              <a:rPr lang="en-US" altLang="en-US" sz="3000" dirty="0" smtClean="0"/>
              <a:t>Low costs with a probability of </a:t>
            </a:r>
            <a:endParaRPr lang="en-US" altLang="en-US" sz="3000" dirty="0" smtClean="0"/>
          </a:p>
          <a:p>
            <a:pPr marL="457200" lvl="1" indent="0">
              <a:buNone/>
            </a:pPr>
            <a:r>
              <a:rPr lang="en-US" altLang="en-US" i="1" dirty="0"/>
              <a:t>	</a:t>
            </a:r>
            <a:r>
              <a:rPr lang="en-US" altLang="en-US" sz="3000" i="1" dirty="0" err="1" smtClean="0"/>
              <a:t>Pr</a:t>
            </a:r>
            <a:r>
              <a:rPr lang="en-US" altLang="en-US" sz="3000" dirty="0" smtClean="0"/>
              <a:t>(</a:t>
            </a:r>
            <a:r>
              <a:rPr lang="en-US" altLang="en-US" sz="3000" i="1" dirty="0" smtClean="0"/>
              <a:t>L</a:t>
            </a:r>
            <a:r>
              <a:rPr lang="en-US" altLang="en-US" sz="3000" dirty="0" smtClean="0"/>
              <a:t>) = 1 – </a:t>
            </a:r>
            <a:r>
              <a:rPr lang="en-US" altLang="en-US" sz="3000" i="1" dirty="0" err="1" smtClean="0"/>
              <a:t>Pr</a:t>
            </a:r>
            <a:r>
              <a:rPr lang="en-US" altLang="en-US" sz="3000" dirty="0" smtClean="0"/>
              <a:t>(</a:t>
            </a:r>
            <a:r>
              <a:rPr lang="en-US" altLang="en-US" sz="3000" i="1" dirty="0" smtClean="0"/>
              <a:t>H</a:t>
            </a:r>
            <a:r>
              <a:rPr lang="en-US" altLang="en-US" sz="3000" dirty="0" smtClean="0"/>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1EC231F-BBF6-4288-B2E1-2627FCBE84A0}" type="slidenum">
              <a:rPr lang="en-US" smtClean="0"/>
              <a:pPr>
                <a:defRPr/>
              </a:pPr>
              <a:t>71</a:t>
            </a:fld>
            <a:endParaRPr lang="en-US"/>
          </a:p>
        </p:txBody>
      </p:sp>
    </p:spTree>
    <p:extLst>
      <p:ext uri="{BB962C8B-B14F-4D97-AF65-F5344CB8AC3E}">
        <p14:creationId xmlns:p14="http://schemas.microsoft.com/office/powerpoint/2010/main" val="97719607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a:lnSpc>
                <a:spcPct val="90000"/>
              </a:lnSpc>
            </a:pPr>
            <a:r>
              <a:rPr lang="en-US" altLang="en-US" smtClean="0"/>
              <a:t>Entry-Deterrence Model</a:t>
            </a:r>
          </a:p>
        </p:txBody>
      </p:sp>
      <p:sp>
        <p:nvSpPr>
          <p:cNvPr id="83971" name="Rectangle 3"/>
          <p:cNvSpPr>
            <a:spLocks noGrp="1" noChangeArrowheads="1"/>
          </p:cNvSpPr>
          <p:nvPr>
            <p:ph idx="1"/>
          </p:nvPr>
        </p:nvSpPr>
        <p:spPr/>
        <p:txBody>
          <a:bodyPr/>
          <a:lstStyle/>
          <a:p>
            <a:r>
              <a:rPr lang="en-US" altLang="en-US" smtClean="0"/>
              <a:t>In period 1, Firm 1 serves the market alone</a:t>
            </a:r>
          </a:p>
          <a:p>
            <a:pPr lvl="1"/>
            <a:r>
              <a:rPr lang="en-US" altLang="en-US" smtClean="0"/>
              <a:t>At the end of the period, Firm 2 observes </a:t>
            </a:r>
            <a:r>
              <a:rPr lang="en-US" altLang="en-US" i="1" smtClean="0"/>
              <a:t>p</a:t>
            </a:r>
            <a:r>
              <a:rPr lang="en-US" altLang="en-US" baseline="-25000" smtClean="0"/>
              <a:t>1</a:t>
            </a:r>
            <a:r>
              <a:rPr lang="en-US" altLang="en-US" smtClean="0"/>
              <a:t> and considers entry</a:t>
            </a:r>
          </a:p>
          <a:p>
            <a:r>
              <a:rPr lang="en-US" altLang="en-US" smtClean="0"/>
              <a:t>If Firm 2 enters</a:t>
            </a:r>
          </a:p>
          <a:p>
            <a:pPr lvl="1"/>
            <a:r>
              <a:rPr lang="en-US" altLang="en-US" smtClean="0"/>
              <a:t>It faces a sunk cost of </a:t>
            </a:r>
            <a:r>
              <a:rPr lang="en-US" altLang="en-US" i="1" smtClean="0"/>
              <a:t>K</a:t>
            </a:r>
            <a:r>
              <a:rPr lang="en-US" altLang="en-US" baseline="-25000" smtClean="0"/>
              <a:t>2</a:t>
            </a:r>
            <a:r>
              <a:rPr lang="en-US" altLang="en-US" smtClean="0"/>
              <a:t> </a:t>
            </a:r>
          </a:p>
          <a:p>
            <a:pPr lvl="1"/>
            <a:r>
              <a:rPr lang="en-US" altLang="en-US" smtClean="0"/>
              <a:t>Learns the true nature of Firm 1’s costs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9453DB1-0C36-4F38-9175-5CD2884896D4}" type="slidenum">
              <a:rPr lang="en-US" smtClean="0"/>
              <a:pPr>
                <a:defRPr/>
              </a:pPr>
              <a:t>72</a:t>
            </a:fld>
            <a:endParaRPr lang="en-US"/>
          </a:p>
        </p:txBody>
      </p:sp>
    </p:spTree>
    <p:extLst>
      <p:ext uri="{BB962C8B-B14F-4D97-AF65-F5344CB8AC3E}">
        <p14:creationId xmlns:p14="http://schemas.microsoft.com/office/powerpoint/2010/main" val="234160957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a:lnSpc>
                <a:spcPct val="90000"/>
              </a:lnSpc>
            </a:pPr>
            <a:r>
              <a:rPr lang="en-US" altLang="en-US" smtClean="0"/>
              <a:t>Entry-Deterrence Model</a:t>
            </a:r>
          </a:p>
        </p:txBody>
      </p:sp>
      <p:sp>
        <p:nvSpPr>
          <p:cNvPr id="84995" name="Rectangle 3"/>
          <p:cNvSpPr>
            <a:spLocks noGrp="1" noChangeArrowheads="1"/>
          </p:cNvSpPr>
          <p:nvPr>
            <p:ph idx="1"/>
          </p:nvPr>
        </p:nvSpPr>
        <p:spPr/>
        <p:txBody>
          <a:bodyPr/>
          <a:lstStyle/>
          <a:p>
            <a:r>
              <a:rPr lang="en-US" altLang="en-US" smtClean="0"/>
              <a:t>The firms then behave as duopolists in the second period</a:t>
            </a:r>
          </a:p>
          <a:p>
            <a:pPr lvl="1"/>
            <a:r>
              <a:rPr lang="en-US" altLang="en-US" smtClean="0"/>
              <a:t>Choosing prices for differentiated products</a:t>
            </a:r>
          </a:p>
          <a:p>
            <a:r>
              <a:rPr lang="en-US" altLang="en-US" smtClean="0"/>
              <a:t>If Firm 2 does not enter</a:t>
            </a:r>
          </a:p>
          <a:p>
            <a:pPr lvl="1"/>
            <a:r>
              <a:rPr lang="en-US" altLang="en-US" smtClean="0"/>
              <a:t>It obtains a payoff of zero</a:t>
            </a:r>
          </a:p>
          <a:p>
            <a:pPr lvl="1"/>
            <a:r>
              <a:rPr lang="en-US" altLang="en-US" smtClean="0"/>
              <a:t>Firm 1 serves the market alone</a:t>
            </a:r>
          </a:p>
          <a:p>
            <a:r>
              <a:rPr lang="en-US" altLang="en-US" smtClean="0"/>
              <a:t>Assume there is no discounting between periods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5DB388E-B4CE-4CEF-8AC8-1F800A7B96ED}" type="slidenum">
              <a:rPr lang="en-US" smtClean="0"/>
              <a:pPr>
                <a:defRPr/>
              </a:pPr>
              <a:t>73</a:t>
            </a:fld>
            <a:endParaRPr lang="en-US"/>
          </a:p>
        </p:txBody>
      </p:sp>
    </p:spTree>
    <p:extLst>
      <p:ext uri="{BB962C8B-B14F-4D97-AF65-F5344CB8AC3E}">
        <p14:creationId xmlns:p14="http://schemas.microsoft.com/office/powerpoint/2010/main" val="59789861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a:lnSpc>
                <a:spcPct val="90000"/>
              </a:lnSpc>
            </a:pPr>
            <a:r>
              <a:rPr lang="en-US" altLang="en-US" smtClean="0"/>
              <a:t>Entry-Deterrence Model</a:t>
            </a:r>
          </a:p>
        </p:txBody>
      </p:sp>
      <p:sp>
        <p:nvSpPr>
          <p:cNvPr id="86019" name="Rectangle 3"/>
          <p:cNvSpPr>
            <a:spLocks noGrp="1" noChangeArrowheads="1"/>
          </p:cNvSpPr>
          <p:nvPr>
            <p:ph idx="1"/>
          </p:nvPr>
        </p:nvSpPr>
        <p:spPr/>
        <p:txBody>
          <a:bodyPr/>
          <a:lstStyle/>
          <a:p>
            <a:r>
              <a:rPr lang="en-US" altLang="en-US" dirty="0" smtClean="0"/>
              <a:t> </a:t>
            </a:r>
            <a:r>
              <a:rPr lang="en-US" altLang="en-US" i="1" dirty="0" err="1" smtClean="0"/>
              <a:t>D</a:t>
            </a:r>
            <a:r>
              <a:rPr lang="en-US" altLang="en-US" i="1" baseline="-25000" dirty="0" err="1" smtClean="0"/>
              <a:t>i</a:t>
            </a:r>
            <a:r>
              <a:rPr lang="en-US" altLang="en-US" i="1" baseline="30000" dirty="0" err="1" smtClean="0"/>
              <a:t>t</a:t>
            </a:r>
            <a:r>
              <a:rPr lang="en-US" altLang="en-US" dirty="0" smtClean="0"/>
              <a:t> </a:t>
            </a:r>
          </a:p>
          <a:p>
            <a:pPr lvl="1"/>
            <a:r>
              <a:rPr lang="en-US" altLang="en-US" sz="3000" dirty="0" smtClean="0"/>
              <a:t>Duopoly profit for firm </a:t>
            </a:r>
            <a:r>
              <a:rPr lang="en-US" altLang="en-US" sz="3000" i="1" dirty="0" err="1" smtClean="0"/>
              <a:t>i</a:t>
            </a:r>
            <a:r>
              <a:rPr lang="en-US" altLang="en-US" sz="3000" dirty="0" smtClean="0"/>
              <a:t> if Firm 1 is of type </a:t>
            </a:r>
            <a:r>
              <a:rPr lang="en-US" altLang="en-US" sz="3000" i="1" dirty="0" smtClean="0"/>
              <a:t>t</a:t>
            </a:r>
            <a:r>
              <a:rPr lang="en-US" altLang="en-US" sz="3000" dirty="0" smtClean="0"/>
              <a:t> (low-cost, high-cost)</a:t>
            </a:r>
          </a:p>
          <a:p>
            <a:r>
              <a:rPr lang="en-US" altLang="en-US" dirty="0" smtClean="0"/>
              <a:t>Assume that </a:t>
            </a:r>
            <a:r>
              <a:rPr lang="en-US" altLang="en-US" i="1" dirty="0" smtClean="0"/>
              <a:t>D</a:t>
            </a:r>
            <a:r>
              <a:rPr lang="en-US" altLang="en-US" baseline="-25000" dirty="0" smtClean="0"/>
              <a:t>2</a:t>
            </a:r>
            <a:r>
              <a:rPr lang="en-US" altLang="en-US" i="1" baseline="30000" dirty="0" smtClean="0"/>
              <a:t>L</a:t>
            </a:r>
            <a:r>
              <a:rPr lang="en-US" altLang="en-US" dirty="0" smtClean="0"/>
              <a:t> &lt; </a:t>
            </a:r>
            <a:r>
              <a:rPr lang="en-US" altLang="en-US" i="1" dirty="0" smtClean="0"/>
              <a:t>K</a:t>
            </a:r>
            <a:r>
              <a:rPr lang="en-US" altLang="en-US" baseline="-25000" dirty="0" smtClean="0"/>
              <a:t>2</a:t>
            </a:r>
            <a:r>
              <a:rPr lang="en-US" altLang="en-US" dirty="0" smtClean="0"/>
              <a:t> &lt; </a:t>
            </a:r>
            <a:r>
              <a:rPr lang="en-US" altLang="en-US" i="1" dirty="0" smtClean="0"/>
              <a:t>D</a:t>
            </a:r>
            <a:r>
              <a:rPr lang="en-US" altLang="en-US" baseline="-25000" dirty="0" smtClean="0"/>
              <a:t>2</a:t>
            </a:r>
            <a:r>
              <a:rPr lang="en-US" altLang="en-US" i="1" baseline="30000" dirty="0" smtClean="0"/>
              <a:t>H</a:t>
            </a:r>
            <a:endParaRPr lang="en-US" altLang="en-US" dirty="0" smtClean="0"/>
          </a:p>
          <a:p>
            <a:pPr lvl="1"/>
            <a:r>
              <a:rPr lang="en-US" altLang="en-US" dirty="0" smtClean="0"/>
              <a:t>Firm 2 earns more than its entry cost only if Firm 1 is high-cost</a:t>
            </a:r>
          </a:p>
          <a:p>
            <a:r>
              <a:rPr lang="en-US" altLang="en-US" dirty="0" smtClean="0"/>
              <a:t>If Firm 1 is low cost, it has only one relevant action</a:t>
            </a:r>
          </a:p>
          <a:p>
            <a:pPr lvl="1"/>
            <a:r>
              <a:rPr lang="en-US" altLang="en-US" dirty="0" smtClean="0"/>
              <a:t>Setting the monopoly price (</a:t>
            </a:r>
            <a:r>
              <a:rPr lang="en-US" altLang="en-US" i="1" dirty="0" smtClean="0"/>
              <a:t>p</a:t>
            </a:r>
            <a:r>
              <a:rPr lang="en-US" altLang="en-US" baseline="-25000" dirty="0" smtClean="0"/>
              <a:t>1</a:t>
            </a:r>
            <a:r>
              <a:rPr lang="en-US" altLang="en-US" i="1" baseline="30000" dirty="0" smtClean="0"/>
              <a:t>L</a:t>
            </a:r>
            <a:r>
              <a:rPr lang="en-US" altLang="en-US" dirty="0" smtClean="0"/>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2E969DD-C978-4E20-8562-FCD96E9FC62A}" type="slidenum">
              <a:rPr lang="en-US" smtClean="0"/>
              <a:pPr>
                <a:defRPr/>
              </a:pPr>
              <a:t>74</a:t>
            </a:fld>
            <a:endParaRPr lang="en-US"/>
          </a:p>
        </p:txBody>
      </p:sp>
    </p:spTree>
    <p:extLst>
      <p:ext uri="{BB962C8B-B14F-4D97-AF65-F5344CB8AC3E}">
        <p14:creationId xmlns:p14="http://schemas.microsoft.com/office/powerpoint/2010/main" val="131672454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lnSpc>
                <a:spcPct val="90000"/>
              </a:lnSpc>
            </a:pPr>
            <a:r>
              <a:rPr lang="en-US" altLang="en-US" smtClean="0"/>
              <a:t>Entry-Deterrence Model</a:t>
            </a:r>
          </a:p>
        </p:txBody>
      </p:sp>
      <p:sp>
        <p:nvSpPr>
          <p:cNvPr id="87043" name="Rectangle 3"/>
          <p:cNvSpPr>
            <a:spLocks noGrp="1" noChangeArrowheads="1"/>
          </p:cNvSpPr>
          <p:nvPr>
            <p:ph idx="1"/>
          </p:nvPr>
        </p:nvSpPr>
        <p:spPr/>
        <p:txBody>
          <a:bodyPr/>
          <a:lstStyle/>
          <a:p>
            <a:r>
              <a:rPr lang="en-US" altLang="en-US" smtClean="0"/>
              <a:t>If Firm 1 is high cost</a:t>
            </a:r>
          </a:p>
          <a:p>
            <a:pPr lvl="1"/>
            <a:r>
              <a:rPr lang="en-US" altLang="en-US" smtClean="0"/>
              <a:t>Set the monopoly price associated with its type (</a:t>
            </a:r>
            <a:r>
              <a:rPr lang="en-US" altLang="en-US" i="1" smtClean="0"/>
              <a:t>p</a:t>
            </a:r>
            <a:r>
              <a:rPr lang="en-US" altLang="en-US" baseline="-25000" smtClean="0"/>
              <a:t>1</a:t>
            </a:r>
            <a:r>
              <a:rPr lang="en-US" altLang="en-US" i="1" baseline="30000" smtClean="0"/>
              <a:t>H</a:t>
            </a:r>
            <a:r>
              <a:rPr lang="en-US" altLang="en-US" smtClean="0"/>
              <a:t>)</a:t>
            </a:r>
          </a:p>
          <a:p>
            <a:pPr lvl="1"/>
            <a:r>
              <a:rPr lang="en-US" altLang="en-US" smtClean="0"/>
              <a:t>Or: choose the same price as the low-cost type (</a:t>
            </a:r>
            <a:r>
              <a:rPr lang="en-US" altLang="en-US" i="1" smtClean="0"/>
              <a:t>p</a:t>
            </a:r>
            <a:r>
              <a:rPr lang="en-US" altLang="en-US" baseline="-25000" smtClean="0"/>
              <a:t>1</a:t>
            </a:r>
            <a:r>
              <a:rPr lang="en-US" altLang="en-US" i="1" baseline="30000" smtClean="0"/>
              <a:t>L</a:t>
            </a:r>
            <a:r>
              <a:rPr lang="en-US" altLang="en-US" smtClean="0"/>
              <a:t>)</a:t>
            </a:r>
          </a:p>
          <a:p>
            <a:r>
              <a:rPr lang="en-US" altLang="en-US" i="1" smtClean="0"/>
              <a:t>M</a:t>
            </a:r>
            <a:r>
              <a:rPr lang="en-US" altLang="en-US" baseline="-25000" smtClean="0"/>
              <a:t>1</a:t>
            </a:r>
            <a:r>
              <a:rPr lang="en-US" altLang="en-US" i="1" baseline="30000" smtClean="0"/>
              <a:t>t</a:t>
            </a:r>
            <a:r>
              <a:rPr lang="en-US" altLang="en-US" smtClean="0"/>
              <a:t> </a:t>
            </a:r>
            <a:r>
              <a:rPr lang="en-US" altLang="en-US" sz="3200" smtClean="0">
                <a:solidFill>
                  <a:schemeClr val="tx1"/>
                </a:solidFill>
              </a:rPr>
              <a:t>- Firm 1’s monopoly profit if it is of type </a:t>
            </a:r>
            <a:r>
              <a:rPr lang="en-US" altLang="en-US" sz="3200" i="1" smtClean="0">
                <a:solidFill>
                  <a:schemeClr val="tx1"/>
                </a:solidFill>
              </a:rPr>
              <a:t>t</a:t>
            </a:r>
            <a:endParaRPr lang="en-US" altLang="en-US" sz="3200" smtClean="0">
              <a:solidFill>
                <a:schemeClr val="tx1"/>
              </a:solidFill>
            </a:endParaRPr>
          </a:p>
          <a:p>
            <a:r>
              <a:rPr lang="en-US" altLang="en-US" i="1" smtClean="0"/>
              <a:t>R</a:t>
            </a:r>
            <a:r>
              <a:rPr lang="en-US" altLang="en-US" smtClean="0"/>
              <a:t> </a:t>
            </a:r>
          </a:p>
          <a:p>
            <a:pPr lvl="1"/>
            <a:r>
              <a:rPr lang="en-US" altLang="en-US" smtClean="0"/>
              <a:t>Loss in Firm 1’s profit if it is high-cost, but chooses </a:t>
            </a:r>
            <a:r>
              <a:rPr lang="en-US" altLang="en-US" i="1" smtClean="0"/>
              <a:t>p</a:t>
            </a:r>
            <a:r>
              <a:rPr lang="en-US" altLang="en-US" baseline="-25000" smtClean="0"/>
              <a:t>1</a:t>
            </a:r>
            <a:r>
              <a:rPr lang="en-US" altLang="en-US" i="1" baseline="30000" smtClean="0"/>
              <a:t>L</a:t>
            </a: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CE06AF2-F3F5-4EDF-ABC6-A3B2F81F58E3}" type="slidenum">
              <a:rPr lang="en-US" smtClean="0"/>
              <a:pPr>
                <a:defRPr/>
              </a:pPr>
              <a:t>75</a:t>
            </a:fld>
            <a:endParaRPr lang="en-US"/>
          </a:p>
        </p:txBody>
      </p:sp>
    </p:spTree>
    <p:extLst>
      <p:ext uri="{BB962C8B-B14F-4D97-AF65-F5344CB8AC3E}">
        <p14:creationId xmlns:p14="http://schemas.microsoft.com/office/powerpoint/2010/main" val="83349630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15.8	Signaling for Entry </a:t>
            </a:r>
            <a:r>
              <a:rPr lang="en-US" altLang="en-US" dirty="0" smtClean="0"/>
              <a:t>Deterrence</a:t>
            </a:r>
            <a:endParaRPr lang="en-US" altLang="en-US" dirty="0" smtClean="0"/>
          </a:p>
        </p:txBody>
      </p:sp>
      <p:sp>
        <p:nvSpPr>
          <p:cNvPr id="88067" name="Text Placeholder 2"/>
          <p:cNvSpPr>
            <a:spLocks noGrp="1"/>
          </p:cNvSpPr>
          <p:nvPr>
            <p:ph sz="half" idx="1"/>
          </p:nvPr>
        </p:nvSpPr>
        <p:spPr>
          <a:xfrm>
            <a:off x="6172200" y="1600200"/>
            <a:ext cx="2971800" cy="4525963"/>
          </a:xfrm>
        </p:spPr>
        <p:txBody>
          <a:bodyPr>
            <a:normAutofit/>
          </a:bodyPr>
          <a:lstStyle/>
          <a:p>
            <a:pPr>
              <a:spcBef>
                <a:spcPct val="0"/>
              </a:spcBef>
            </a:pPr>
            <a:r>
              <a:rPr lang="en-US" altLang="en-US" dirty="0"/>
              <a:t>Firm 1 signals its private information about its cost (high H or low L) through the price it sets in the first period. Firm 2 observes firm 1’s price and then decides whether to enter. If firm 2 enters, the firms compete as duopolists; otherwise, firm 1 operates alone on the market again in the second period. Firm 2 earns positive profit if and only if it enters against a high cost rival.</a:t>
            </a:r>
          </a:p>
          <a:p>
            <a:pPr>
              <a:spcBef>
                <a:spcPct val="0"/>
              </a:spcBef>
            </a:pPr>
            <a:endParaRPr lang="en-US" altLang="en-US" dirty="0" smtClean="0"/>
          </a:p>
        </p:txBody>
      </p:sp>
      <p:sp>
        <p:nvSpPr>
          <p:cNvPr id="8807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E5FEC0FA-369D-4AAA-A2C5-A43A5602FBA8}" type="slidenum">
              <a:rPr lang="en-US" smtClean="0"/>
              <a:pPr>
                <a:defRPr/>
              </a:pPr>
              <a:t>76</a:t>
            </a:fld>
            <a:endParaRPr lang="en-US" dirty="0"/>
          </a:p>
        </p:txBody>
      </p:sp>
      <p:pic>
        <p:nvPicPr>
          <p:cNvPr id="768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7" y="762000"/>
            <a:ext cx="5846763" cy="552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7704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6802"/>
                                        </p:tgtEl>
                                        <p:attrNameLst>
                                          <p:attrName>style.visibility</p:attrName>
                                        </p:attrNameLst>
                                      </p:cBhvr>
                                      <p:to>
                                        <p:strVal val="visible"/>
                                      </p:to>
                                    </p:set>
                                    <p:animEffect transition="in" filter="wipe(left)">
                                      <p:cBhvr>
                                        <p:cTn id="7" dur="500"/>
                                        <p:tgtEl>
                                          <p:spTgt spid="7680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8067">
                                            <p:txEl>
                                              <p:pRg st="0" end="0"/>
                                            </p:txEl>
                                          </p:spTgt>
                                        </p:tgtEl>
                                        <p:attrNameLst>
                                          <p:attrName>style.visibility</p:attrName>
                                        </p:attrNameLst>
                                      </p:cBhvr>
                                      <p:to>
                                        <p:strVal val="visible"/>
                                      </p:to>
                                    </p:set>
                                    <p:animEffect transition="in" filter="wipe(left)">
                                      <p:cBhvr>
                                        <p:cTn id="11" dur="500"/>
                                        <p:tgtEl>
                                          <p:spTgt spid="880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smtClean="0"/>
              <a:t>Separating Equilibrium</a:t>
            </a:r>
          </a:p>
        </p:txBody>
      </p:sp>
      <p:sp>
        <p:nvSpPr>
          <p:cNvPr id="89091" name="Rectangle 3"/>
          <p:cNvSpPr>
            <a:spLocks noGrp="1" noChangeArrowheads="1"/>
          </p:cNvSpPr>
          <p:nvPr>
            <p:ph idx="1"/>
          </p:nvPr>
        </p:nvSpPr>
        <p:spPr/>
        <p:txBody>
          <a:bodyPr/>
          <a:lstStyle/>
          <a:p>
            <a:r>
              <a:rPr lang="en-US" altLang="en-US" dirty="0" smtClean="0"/>
              <a:t>In a separating equilibrium</a:t>
            </a:r>
          </a:p>
          <a:p>
            <a:pPr lvl="1"/>
            <a:r>
              <a:rPr lang="en-US" altLang="en-US" dirty="0" smtClean="0"/>
              <a:t>The different types of the first-mover must choose different actions</a:t>
            </a:r>
          </a:p>
          <a:p>
            <a:r>
              <a:rPr lang="en-US" altLang="en-US" dirty="0" smtClean="0"/>
              <a:t>There is only one possibility for Firm 1</a:t>
            </a:r>
          </a:p>
          <a:p>
            <a:pPr lvl="1"/>
            <a:r>
              <a:rPr lang="en-US" altLang="en-US" dirty="0" smtClean="0"/>
              <a:t>The low-cost type chooses </a:t>
            </a:r>
            <a:r>
              <a:rPr lang="en-US" altLang="en-US" i="1" dirty="0" smtClean="0"/>
              <a:t>p</a:t>
            </a:r>
            <a:r>
              <a:rPr lang="en-US" altLang="en-US" baseline="-25000" dirty="0" smtClean="0"/>
              <a:t>1</a:t>
            </a:r>
            <a:r>
              <a:rPr lang="en-US" altLang="en-US" i="1" baseline="30000" dirty="0" smtClean="0"/>
              <a:t>L</a:t>
            </a:r>
            <a:endParaRPr lang="en-US" altLang="en-US" dirty="0" smtClean="0"/>
          </a:p>
          <a:p>
            <a:pPr lvl="1"/>
            <a:r>
              <a:rPr lang="en-US" altLang="en-US" dirty="0" smtClean="0"/>
              <a:t>The high-cost type chooses </a:t>
            </a:r>
            <a:r>
              <a:rPr lang="en-US" altLang="en-US" i="1" dirty="0" smtClean="0"/>
              <a:t>p</a:t>
            </a:r>
            <a:r>
              <a:rPr lang="en-US" altLang="en-US" baseline="-25000" dirty="0" smtClean="0"/>
              <a:t>1</a:t>
            </a:r>
            <a:r>
              <a:rPr lang="en-US" altLang="en-US" i="1" baseline="30000" dirty="0" smtClean="0"/>
              <a:t>H</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EC3A5FA-C3A5-4EBA-B07D-115BBD6280AB}" type="slidenum">
              <a:rPr lang="en-US" smtClean="0"/>
              <a:pPr>
                <a:defRPr/>
              </a:pPr>
              <a:t>77</a:t>
            </a:fld>
            <a:endParaRPr lang="en-US"/>
          </a:p>
        </p:txBody>
      </p:sp>
    </p:spTree>
    <p:extLst>
      <p:ext uri="{BB962C8B-B14F-4D97-AF65-F5344CB8AC3E}">
        <p14:creationId xmlns:p14="http://schemas.microsoft.com/office/powerpoint/2010/main" val="187853236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smtClean="0"/>
              <a:t>Separating Equilibrium</a:t>
            </a:r>
          </a:p>
        </p:txBody>
      </p:sp>
      <p:sp>
        <p:nvSpPr>
          <p:cNvPr id="90115" name="Rectangle 3"/>
          <p:cNvSpPr>
            <a:spLocks noGrp="1" noChangeArrowheads="1"/>
          </p:cNvSpPr>
          <p:nvPr>
            <p:ph idx="1"/>
          </p:nvPr>
        </p:nvSpPr>
        <p:spPr/>
        <p:txBody>
          <a:bodyPr/>
          <a:lstStyle/>
          <a:p>
            <a:pPr lvl="1"/>
            <a:endParaRPr lang="en-US" altLang="en-US" sz="1000" i="1" baseline="30000" dirty="0" smtClean="0"/>
          </a:p>
          <a:p>
            <a:r>
              <a:rPr lang="en-US" altLang="en-US" dirty="0" smtClean="0"/>
              <a:t>Firm 2 sees Firm 1’s actions</a:t>
            </a:r>
          </a:p>
          <a:p>
            <a:pPr lvl="1"/>
            <a:r>
              <a:rPr lang="en-US" altLang="en-US" dirty="0" smtClean="0"/>
              <a:t>Stays out is firm 1 charges </a:t>
            </a:r>
            <a:r>
              <a:rPr lang="en-US" altLang="en-US" i="1" dirty="0" smtClean="0"/>
              <a:t>p</a:t>
            </a:r>
            <a:r>
              <a:rPr lang="en-US" altLang="en-US" baseline="-25000" dirty="0" smtClean="0"/>
              <a:t>1</a:t>
            </a:r>
            <a:r>
              <a:rPr lang="en-US" altLang="en-US" i="1" baseline="30000" dirty="0" smtClean="0"/>
              <a:t>L</a:t>
            </a:r>
            <a:endParaRPr lang="en-US" altLang="en-US" dirty="0" smtClean="0"/>
          </a:p>
          <a:p>
            <a:pPr lvl="1"/>
            <a:r>
              <a:rPr lang="en-US" altLang="en-US" dirty="0" smtClean="0"/>
              <a:t>Enters if Firm 1 charges </a:t>
            </a:r>
            <a:r>
              <a:rPr lang="en-US" altLang="en-US" i="1" dirty="0" smtClean="0"/>
              <a:t>p</a:t>
            </a:r>
            <a:r>
              <a:rPr lang="en-US" altLang="en-US" baseline="-25000" dirty="0" smtClean="0"/>
              <a:t>1</a:t>
            </a:r>
            <a:r>
              <a:rPr lang="en-US" altLang="en-US" i="1" baseline="30000" dirty="0" smtClean="0"/>
              <a:t>H</a:t>
            </a:r>
          </a:p>
          <a:p>
            <a:r>
              <a:rPr lang="en-US" altLang="en-US" dirty="0" smtClean="0"/>
              <a:t>Would a high-cost Firm 1 prefer to charge a price of </a:t>
            </a:r>
            <a:r>
              <a:rPr lang="en-US" altLang="en-US" i="1" dirty="0" smtClean="0"/>
              <a:t>p</a:t>
            </a:r>
            <a:r>
              <a:rPr lang="en-US" altLang="en-US" baseline="-25000" dirty="0" smtClean="0"/>
              <a:t>1</a:t>
            </a:r>
            <a:r>
              <a:rPr lang="en-US" altLang="en-US" i="1" baseline="30000" dirty="0" smtClean="0"/>
              <a:t>L</a:t>
            </a:r>
            <a:r>
              <a:rPr lang="en-US" altLang="en-US" dirty="0" smtClean="0"/>
              <a:t>?</a:t>
            </a:r>
          </a:p>
          <a:p>
            <a:pPr lvl="1"/>
            <a:r>
              <a:rPr lang="en-US" altLang="en-US" dirty="0" smtClean="0"/>
              <a:t>Only if: </a:t>
            </a:r>
            <a:r>
              <a:rPr lang="en-US" altLang="en-US" i="1" dirty="0" smtClean="0">
                <a:solidFill>
                  <a:srgbClr val="FF0000"/>
                </a:solidFill>
              </a:rPr>
              <a:t>R</a:t>
            </a:r>
            <a:r>
              <a:rPr lang="en-US" altLang="en-US" dirty="0" smtClean="0">
                <a:solidFill>
                  <a:srgbClr val="FF0000"/>
                </a:solidFill>
              </a:rPr>
              <a:t> &lt; </a:t>
            </a:r>
            <a:r>
              <a:rPr lang="en-US" altLang="en-US" i="1" dirty="0" smtClean="0">
                <a:solidFill>
                  <a:srgbClr val="FF0000"/>
                </a:solidFill>
              </a:rPr>
              <a:t>M</a:t>
            </a:r>
            <a:r>
              <a:rPr lang="en-US" altLang="en-US" baseline="-25000" dirty="0" smtClean="0">
                <a:solidFill>
                  <a:srgbClr val="FF0000"/>
                </a:solidFill>
              </a:rPr>
              <a:t>1</a:t>
            </a:r>
            <a:r>
              <a:rPr lang="en-US" altLang="en-US" i="1" baseline="30000" dirty="0" smtClean="0">
                <a:solidFill>
                  <a:srgbClr val="FF0000"/>
                </a:solidFill>
              </a:rPr>
              <a:t>H</a:t>
            </a:r>
            <a:r>
              <a:rPr lang="en-US" altLang="en-US" dirty="0" smtClean="0">
                <a:solidFill>
                  <a:srgbClr val="FF0000"/>
                </a:solidFill>
              </a:rPr>
              <a:t> – </a:t>
            </a:r>
            <a:r>
              <a:rPr lang="en-US" altLang="en-US" i="1" dirty="0" smtClean="0">
                <a:solidFill>
                  <a:srgbClr val="FF0000"/>
                </a:solidFill>
              </a:rPr>
              <a:t>D</a:t>
            </a:r>
            <a:r>
              <a:rPr lang="en-US" altLang="en-US" baseline="-25000" dirty="0" smtClean="0">
                <a:solidFill>
                  <a:srgbClr val="FF0000"/>
                </a:solidFill>
              </a:rPr>
              <a:t>1</a:t>
            </a:r>
            <a:r>
              <a:rPr lang="en-US" altLang="en-US" i="1" baseline="30000" dirty="0" smtClean="0">
                <a:solidFill>
                  <a:srgbClr val="FF0000"/>
                </a:solidFill>
              </a:rPr>
              <a:t>H</a:t>
            </a:r>
            <a:endParaRPr lang="en-US" altLang="en-US" i="1" dirty="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B7E39B6-4F6F-4FCD-9174-885D2BA90FA8}" type="slidenum">
              <a:rPr lang="en-US" smtClean="0"/>
              <a:pPr>
                <a:defRPr/>
              </a:pPr>
              <a:t>78</a:t>
            </a:fld>
            <a:endParaRPr lang="en-US"/>
          </a:p>
        </p:txBody>
      </p:sp>
    </p:spTree>
    <p:extLst>
      <p:ext uri="{BB962C8B-B14F-4D97-AF65-F5344CB8AC3E}">
        <p14:creationId xmlns:p14="http://schemas.microsoft.com/office/powerpoint/2010/main" val="376581705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smtClean="0"/>
              <a:t>Pooling Equilibrium</a:t>
            </a:r>
          </a:p>
        </p:txBody>
      </p:sp>
      <p:sp>
        <p:nvSpPr>
          <p:cNvPr id="91139" name="Rectangle 3"/>
          <p:cNvSpPr>
            <a:spLocks noGrp="1" noChangeArrowheads="1"/>
          </p:cNvSpPr>
          <p:nvPr>
            <p:ph idx="1"/>
          </p:nvPr>
        </p:nvSpPr>
        <p:spPr/>
        <p:txBody>
          <a:bodyPr/>
          <a:lstStyle/>
          <a:p>
            <a:r>
              <a:rPr lang="en-US" altLang="en-US" smtClean="0"/>
              <a:t>If </a:t>
            </a:r>
            <a:r>
              <a:rPr lang="en-US" altLang="en-US" i="1" smtClean="0"/>
              <a:t>R</a:t>
            </a:r>
            <a:r>
              <a:rPr lang="en-US" altLang="en-US" smtClean="0"/>
              <a:t> &lt; </a:t>
            </a:r>
            <a:r>
              <a:rPr lang="en-US" altLang="en-US" i="1" smtClean="0"/>
              <a:t>M</a:t>
            </a:r>
            <a:r>
              <a:rPr lang="en-US" altLang="en-US" baseline="-25000" smtClean="0"/>
              <a:t>1</a:t>
            </a:r>
            <a:r>
              <a:rPr lang="en-US" altLang="en-US" i="1" baseline="30000" smtClean="0"/>
              <a:t>H</a:t>
            </a:r>
            <a:r>
              <a:rPr lang="en-US" altLang="en-US" smtClean="0"/>
              <a:t> – </a:t>
            </a:r>
            <a:r>
              <a:rPr lang="en-US" altLang="en-US" i="1" smtClean="0"/>
              <a:t>D</a:t>
            </a:r>
            <a:r>
              <a:rPr lang="en-US" altLang="en-US" baseline="-25000" smtClean="0"/>
              <a:t>1</a:t>
            </a:r>
            <a:r>
              <a:rPr lang="en-US" altLang="en-US" i="1" baseline="30000" smtClean="0"/>
              <a:t>H</a:t>
            </a:r>
            <a:endParaRPr lang="en-US" altLang="en-US" smtClean="0"/>
          </a:p>
          <a:p>
            <a:pPr lvl="1"/>
            <a:r>
              <a:rPr lang="en-US" altLang="en-US" smtClean="0"/>
              <a:t>The high type would like to pool with the low type if pooling deters entry</a:t>
            </a:r>
          </a:p>
          <a:p>
            <a:pPr lvl="1"/>
            <a:r>
              <a:rPr lang="en-US" altLang="en-US" smtClean="0"/>
              <a:t>Pooling deters entry if Firm 2’s prior belief that Firm 1 is the high type is low enough that Firm 2’s expected payoff from entering is less than zero</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CDB81E6-56C1-4D41-B194-5BC2D09C243C}" type="slidenum">
              <a:rPr lang="en-US" smtClean="0"/>
              <a:pPr>
                <a:defRPr/>
              </a:pPr>
              <a:t>79</a:t>
            </a:fld>
            <a:endParaRPr lang="en-US"/>
          </a:p>
        </p:txBody>
      </p:sp>
    </p:spTree>
    <p:extLst>
      <p:ext uri="{BB962C8B-B14F-4D97-AF65-F5344CB8AC3E}">
        <p14:creationId xmlns:p14="http://schemas.microsoft.com/office/powerpoint/2010/main" val="401039158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en-US" smtClean="0"/>
              <a:t>Predatory Pricing</a:t>
            </a:r>
          </a:p>
        </p:txBody>
      </p:sp>
      <p:sp>
        <p:nvSpPr>
          <p:cNvPr id="92163" name="Rectangle 3"/>
          <p:cNvSpPr>
            <a:spLocks noGrp="1" noChangeArrowheads="1"/>
          </p:cNvSpPr>
          <p:nvPr>
            <p:ph idx="1"/>
          </p:nvPr>
        </p:nvSpPr>
        <p:spPr/>
        <p:txBody>
          <a:bodyPr/>
          <a:lstStyle/>
          <a:p>
            <a:r>
              <a:rPr lang="en-US" altLang="en-US" smtClean="0"/>
              <a:t>Predatory pricing 	</a:t>
            </a:r>
          </a:p>
          <a:p>
            <a:pPr lvl="1"/>
            <a:r>
              <a:rPr lang="en-US" altLang="en-US" smtClean="0"/>
              <a:t>Charging an artificially low price </a:t>
            </a:r>
          </a:p>
          <a:p>
            <a:pPr lvl="2"/>
            <a:r>
              <a:rPr lang="en-US" altLang="en-US" smtClean="0"/>
              <a:t>To prevent potential rivals from entering </a:t>
            </a:r>
          </a:p>
          <a:p>
            <a:pPr lvl="2"/>
            <a:r>
              <a:rPr lang="en-US" altLang="en-US" smtClean="0"/>
              <a:t>To force existing rivals to exit</a:t>
            </a:r>
          </a:p>
          <a:p>
            <a:pPr lvl="1"/>
            <a:r>
              <a:rPr lang="en-US" altLang="en-US" smtClean="0"/>
              <a:t>May be explained by the incomplete-information model of entry deterrence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2AB7AAE-F0C1-4208-AFCB-2759CD20FD14}" type="slidenum">
              <a:rPr lang="en-US" smtClean="0"/>
              <a:pPr>
                <a:defRPr/>
              </a:pPr>
              <a:t>80</a:t>
            </a:fld>
            <a:endParaRPr lang="en-US"/>
          </a:p>
        </p:txBody>
      </p:sp>
    </p:spTree>
    <p:extLst>
      <p:ext uri="{BB962C8B-B14F-4D97-AF65-F5344CB8AC3E}">
        <p14:creationId xmlns:p14="http://schemas.microsoft.com/office/powerpoint/2010/main" val="124593627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smtClean="0"/>
              <a:t>How Many Firms Enter?</a:t>
            </a:r>
          </a:p>
        </p:txBody>
      </p:sp>
      <p:sp>
        <p:nvSpPr>
          <p:cNvPr id="93187" name="Content Placeholder 2"/>
          <p:cNvSpPr>
            <a:spLocks noGrp="1"/>
          </p:cNvSpPr>
          <p:nvPr>
            <p:ph idx="1"/>
          </p:nvPr>
        </p:nvSpPr>
        <p:spPr/>
        <p:txBody>
          <a:bodyPr/>
          <a:lstStyle/>
          <a:p>
            <a:r>
              <a:rPr lang="en-US" altLang="en-US" smtClean="0"/>
              <a:t>In order for a market to be oligopolistic, there must be barriers to entry</a:t>
            </a:r>
          </a:p>
          <a:p>
            <a:pPr lvl="1"/>
            <a:r>
              <a:rPr lang="en-US" altLang="en-US" smtClean="0"/>
              <a:t>Sunk cost to enter</a:t>
            </a:r>
          </a:p>
          <a:p>
            <a:pPr lvl="1"/>
            <a:r>
              <a:rPr lang="en-US" altLang="en-US" smtClean="0"/>
              <a:t>Government intervention (patents, licensing)</a:t>
            </a:r>
          </a:p>
          <a:p>
            <a:pPr lvl="1"/>
            <a:r>
              <a:rPr lang="en-US" altLang="en-US" smtClean="0"/>
              <a:t>Search costs faced by consumers</a:t>
            </a:r>
          </a:p>
          <a:p>
            <a:pPr lvl="1"/>
            <a:r>
              <a:rPr lang="en-US" altLang="en-US" smtClean="0"/>
              <a:t>Product differentiation (brand loyalty)</a:t>
            </a:r>
          </a:p>
          <a:p>
            <a:pPr lvl="1"/>
            <a:r>
              <a:rPr lang="en-US" altLang="en-US" smtClean="0"/>
              <a:t>Entry deterrence by existing firms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80A8BA6-B55A-4C26-A163-8F37F851E8AD}" type="slidenum">
              <a:rPr lang="en-US" smtClean="0"/>
              <a:pPr>
                <a:defRPr/>
              </a:pPr>
              <a:t>81</a:t>
            </a:fld>
            <a:endParaRPr lang="en-US"/>
          </a:p>
        </p:txBody>
      </p:sp>
    </p:spTree>
    <p:extLst>
      <p:ext uri="{BB962C8B-B14F-4D97-AF65-F5344CB8AC3E}">
        <p14:creationId xmlns:p14="http://schemas.microsoft.com/office/powerpoint/2010/main" val="4151058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smtClean="0"/>
              <a:t>How Many Firms Enter?</a:t>
            </a:r>
          </a:p>
        </p:txBody>
      </p:sp>
      <p:sp>
        <p:nvSpPr>
          <p:cNvPr id="94211" name="Content Placeholder 2"/>
          <p:cNvSpPr>
            <a:spLocks noGrp="1"/>
          </p:cNvSpPr>
          <p:nvPr>
            <p:ph idx="1"/>
          </p:nvPr>
        </p:nvSpPr>
        <p:spPr/>
        <p:txBody>
          <a:bodyPr/>
          <a:lstStyle/>
          <a:p>
            <a:r>
              <a:rPr lang="en-US" altLang="en-US" smtClean="0"/>
              <a:t>Long-run equilibrium</a:t>
            </a:r>
          </a:p>
          <a:p>
            <a:pPr lvl="1"/>
            <a:r>
              <a:rPr lang="en-US" altLang="en-US" smtClean="0"/>
              <a:t>Large number of symmetric firms that are potential entrants into a market</a:t>
            </a:r>
          </a:p>
          <a:p>
            <a:pPr lvl="2"/>
            <a:r>
              <a:rPr lang="en-US" altLang="en-US" smtClean="0"/>
              <a:t>Make the decision simultaneously</a:t>
            </a:r>
          </a:p>
          <a:p>
            <a:pPr lvl="1"/>
            <a:r>
              <a:rPr lang="en-US" altLang="en-US" smtClean="0"/>
              <a:t>Entry requires a sunk cost, </a:t>
            </a:r>
            <a:r>
              <a:rPr lang="en-US" altLang="en-US" i="1" smtClean="0"/>
              <a:t>K</a:t>
            </a:r>
            <a:endParaRPr lang="en-US" altLang="en-US" smtClean="0"/>
          </a:p>
          <a:p>
            <a:pPr lvl="1"/>
            <a:r>
              <a:rPr lang="en-US" altLang="en-US" smtClean="0"/>
              <a:t> </a:t>
            </a:r>
            <a:r>
              <a:rPr lang="en-US" altLang="en-US" i="1" smtClean="0"/>
              <a:t>n</a:t>
            </a:r>
            <a:r>
              <a:rPr lang="en-US" altLang="en-US" smtClean="0"/>
              <a:t> =  number of firms that decide to enter</a:t>
            </a:r>
          </a:p>
          <a:p>
            <a:pPr lvl="1"/>
            <a:r>
              <a:rPr lang="en-US" altLang="en-US" smtClean="0"/>
              <a:t> </a:t>
            </a:r>
            <a:r>
              <a:rPr lang="en-US" altLang="en-US" i="1" smtClean="0"/>
              <a:t>g</a:t>
            </a:r>
            <a:r>
              <a:rPr lang="en-US" altLang="en-US" smtClean="0"/>
              <a:t>(</a:t>
            </a:r>
            <a:r>
              <a:rPr lang="en-US" altLang="en-US" i="1" smtClean="0"/>
              <a:t>n</a:t>
            </a:r>
            <a:r>
              <a:rPr lang="en-US" altLang="en-US" smtClean="0"/>
              <a:t>) = profit earned by a firm (not including sunk cost)</a:t>
            </a:r>
          </a:p>
          <a:p>
            <a:pPr lvl="2"/>
            <a:r>
              <a:rPr lang="en-US" altLang="en-US" smtClean="0"/>
              <a:t>Expect </a:t>
            </a:r>
            <a:r>
              <a:rPr lang="en-US" altLang="en-US" i="1" smtClean="0"/>
              <a:t>g</a:t>
            </a:r>
            <a:r>
              <a:rPr lang="en-US" altLang="en-US" smtClean="0"/>
              <a:t>’(</a:t>
            </a:r>
            <a:r>
              <a:rPr lang="en-US" altLang="en-US" i="1" smtClean="0"/>
              <a:t>n</a:t>
            </a:r>
            <a:r>
              <a:rPr lang="en-US" altLang="en-US" smtClean="0"/>
              <a:t>) &lt; 0</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33F1574-5019-4298-8672-09478E3CB581}" type="slidenum">
              <a:rPr lang="en-US" smtClean="0"/>
              <a:pPr>
                <a:defRPr/>
              </a:pPr>
              <a:t>82</a:t>
            </a:fld>
            <a:endParaRPr lang="en-US"/>
          </a:p>
        </p:txBody>
      </p:sp>
    </p:spTree>
    <p:extLst>
      <p:ext uri="{BB962C8B-B14F-4D97-AF65-F5344CB8AC3E}">
        <p14:creationId xmlns:p14="http://schemas.microsoft.com/office/powerpoint/2010/main" val="8092404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smtClean="0"/>
              <a:t>How Many Firms Enter?</a:t>
            </a:r>
          </a:p>
        </p:txBody>
      </p:sp>
      <p:sp>
        <p:nvSpPr>
          <p:cNvPr id="95235" name="Content Placeholder 2"/>
          <p:cNvSpPr>
            <a:spLocks noGrp="1"/>
          </p:cNvSpPr>
          <p:nvPr>
            <p:ph idx="1"/>
          </p:nvPr>
        </p:nvSpPr>
        <p:spPr/>
        <p:txBody>
          <a:bodyPr/>
          <a:lstStyle/>
          <a:p>
            <a:r>
              <a:rPr lang="en-US" altLang="en-US" dirty="0" smtClean="0"/>
              <a:t>Long-run equilibrium</a:t>
            </a:r>
          </a:p>
          <a:p>
            <a:pPr lvl="1"/>
            <a:r>
              <a:rPr lang="en-US" altLang="en-US" dirty="0" smtClean="0"/>
              <a:t>The sub-game perfect equilibrium number of firms (</a:t>
            </a:r>
            <a:r>
              <a:rPr lang="en-US" altLang="en-US" i="1" dirty="0" smtClean="0"/>
              <a:t>n</a:t>
            </a:r>
            <a:r>
              <a:rPr lang="en-US" altLang="en-US" dirty="0" smtClean="0"/>
              <a:t>*) will satisfy two conditions</a:t>
            </a:r>
          </a:p>
          <a:p>
            <a:pPr lvl="2"/>
            <a:r>
              <a:rPr lang="en-US" altLang="en-US" dirty="0" smtClean="0"/>
              <a:t>They earn enough to cover their entry costs</a:t>
            </a:r>
          </a:p>
          <a:p>
            <a:pPr lvl="3"/>
            <a:r>
              <a:rPr lang="en-US" altLang="en-US" i="1" dirty="0" smtClean="0"/>
              <a:t>g</a:t>
            </a:r>
            <a:r>
              <a:rPr lang="en-US" altLang="en-US" dirty="0" smtClean="0"/>
              <a:t>(</a:t>
            </a:r>
            <a:r>
              <a:rPr lang="en-US" altLang="en-US" i="1" dirty="0" smtClean="0"/>
              <a:t>n</a:t>
            </a:r>
            <a:r>
              <a:rPr lang="en-US" altLang="en-US" dirty="0" smtClean="0"/>
              <a:t>*) </a:t>
            </a:r>
            <a:r>
              <a:rPr lang="en-US" altLang="en-US" dirty="0" smtClean="0">
                <a:sym typeface="Symbol" pitchFamily="18" charset="2"/>
              </a:rPr>
              <a:t> </a:t>
            </a:r>
            <a:r>
              <a:rPr lang="en-US" altLang="en-US" i="1" dirty="0" smtClean="0">
                <a:sym typeface="Symbol" pitchFamily="18" charset="2"/>
              </a:rPr>
              <a:t>K</a:t>
            </a:r>
            <a:endParaRPr lang="en-US" altLang="en-US" dirty="0" smtClean="0">
              <a:sym typeface="Symbol" pitchFamily="18" charset="2"/>
            </a:endParaRPr>
          </a:p>
          <a:p>
            <a:pPr lvl="2"/>
            <a:r>
              <a:rPr lang="en-US" altLang="en-US" dirty="0" smtClean="0">
                <a:sym typeface="Symbol" pitchFamily="18" charset="2"/>
              </a:rPr>
              <a:t>An additional firm cannot cover its entry cost</a:t>
            </a:r>
          </a:p>
          <a:p>
            <a:pPr lvl="3"/>
            <a:r>
              <a:rPr lang="en-US" altLang="en-US" i="1" dirty="0" smtClean="0">
                <a:sym typeface="Symbol" pitchFamily="18" charset="2"/>
              </a:rPr>
              <a:t>g</a:t>
            </a:r>
            <a:r>
              <a:rPr lang="en-US" altLang="en-US" dirty="0" smtClean="0">
                <a:sym typeface="Symbol" pitchFamily="18" charset="2"/>
              </a:rPr>
              <a:t>(</a:t>
            </a:r>
            <a:r>
              <a:rPr lang="en-US" altLang="en-US" i="1" dirty="0" smtClean="0">
                <a:sym typeface="Symbol" pitchFamily="18" charset="2"/>
              </a:rPr>
              <a:t>n</a:t>
            </a:r>
            <a:r>
              <a:rPr lang="en-US" altLang="en-US" dirty="0" smtClean="0">
                <a:sym typeface="Symbol" pitchFamily="18" charset="2"/>
              </a:rPr>
              <a:t>*+1) </a:t>
            </a:r>
            <a:r>
              <a:rPr lang="en-US" altLang="en-US" dirty="0" smtClean="0">
                <a:sym typeface="Symbol" pitchFamily="18" charset="2"/>
              </a:rPr>
              <a:t>≤ </a:t>
            </a:r>
            <a:r>
              <a:rPr lang="en-US" altLang="en-US" i="1" dirty="0" smtClean="0">
                <a:sym typeface="Symbol" pitchFamily="18" charset="2"/>
              </a:rPr>
              <a:t>K</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C5CAD96-090C-43A0-9C4B-75D8480FED09}" type="slidenum">
              <a:rPr lang="en-US" smtClean="0"/>
              <a:pPr>
                <a:defRPr/>
              </a:pPr>
              <a:t>83</a:t>
            </a:fld>
            <a:endParaRPr lang="en-US"/>
          </a:p>
        </p:txBody>
      </p:sp>
    </p:spTree>
    <p:extLst>
      <p:ext uri="{BB962C8B-B14F-4D97-AF65-F5344CB8AC3E}">
        <p14:creationId xmlns:p14="http://schemas.microsoft.com/office/powerpoint/2010/main" val="8458174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r>
              <a:rPr lang="en-US" altLang="en-US" smtClean="0"/>
              <a:t>How Many Firms Enter?</a:t>
            </a:r>
          </a:p>
        </p:txBody>
      </p:sp>
      <p:sp>
        <p:nvSpPr>
          <p:cNvPr id="96259" name="Content Placeholder 2"/>
          <p:cNvSpPr>
            <a:spLocks noGrp="1"/>
          </p:cNvSpPr>
          <p:nvPr>
            <p:ph idx="1"/>
          </p:nvPr>
        </p:nvSpPr>
        <p:spPr/>
        <p:txBody>
          <a:bodyPr/>
          <a:lstStyle/>
          <a:p>
            <a:r>
              <a:rPr lang="en-US" altLang="en-US" dirty="0" smtClean="0"/>
              <a:t>Is the long-run equilibrium efficient?</a:t>
            </a:r>
          </a:p>
          <a:p>
            <a:pPr lvl="1"/>
            <a:r>
              <a:rPr lang="en-US" altLang="en-US" dirty="0" smtClean="0"/>
              <a:t>A benevolent social planner would choose </a:t>
            </a:r>
            <a:r>
              <a:rPr lang="en-US" altLang="en-US" i="1" dirty="0" smtClean="0"/>
              <a:t>n</a:t>
            </a:r>
            <a:r>
              <a:rPr lang="en-US" altLang="en-US" dirty="0" smtClean="0"/>
              <a:t> to maximize: </a:t>
            </a:r>
            <a:r>
              <a:rPr lang="en-US" altLang="en-US" i="1" dirty="0" smtClean="0">
                <a:solidFill>
                  <a:srgbClr val="FF0000"/>
                </a:solidFill>
                <a:sym typeface="Symbol" pitchFamily="18" charset="2"/>
              </a:rPr>
              <a:t>CS</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n</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ng</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n</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nK</a:t>
            </a:r>
            <a:endParaRPr lang="en-US" altLang="en-US" dirty="0" smtClean="0">
              <a:solidFill>
                <a:srgbClr val="FF0000"/>
              </a:solidFill>
              <a:sym typeface="Symbol" pitchFamily="18" charset="2"/>
            </a:endParaRPr>
          </a:p>
          <a:p>
            <a:pPr lvl="2"/>
            <a:r>
              <a:rPr lang="en-US" altLang="en-US" i="1" dirty="0" smtClean="0">
                <a:sym typeface="Symbol" pitchFamily="18" charset="2"/>
              </a:rPr>
              <a:t>CS</a:t>
            </a:r>
            <a:r>
              <a:rPr lang="en-US" altLang="en-US" dirty="0" smtClean="0">
                <a:sym typeface="Symbol" pitchFamily="18" charset="2"/>
              </a:rPr>
              <a:t>(</a:t>
            </a:r>
            <a:r>
              <a:rPr lang="en-US" altLang="en-US" i="1" dirty="0" smtClean="0">
                <a:sym typeface="Symbol" pitchFamily="18" charset="2"/>
              </a:rPr>
              <a:t>n</a:t>
            </a:r>
            <a:r>
              <a:rPr lang="en-US" altLang="en-US" dirty="0" smtClean="0">
                <a:sym typeface="Symbol" pitchFamily="18" charset="2"/>
              </a:rPr>
              <a:t>) is equilibrium consumer surplus</a:t>
            </a:r>
          </a:p>
          <a:p>
            <a:pPr lvl="2"/>
            <a:r>
              <a:rPr lang="en-US" altLang="en-US" i="1" dirty="0" smtClean="0">
                <a:sym typeface="Symbol" pitchFamily="18" charset="2"/>
              </a:rPr>
              <a:t>ng</a:t>
            </a:r>
            <a:r>
              <a:rPr lang="en-US" altLang="en-US" dirty="0" smtClean="0">
                <a:sym typeface="Symbol" pitchFamily="18" charset="2"/>
              </a:rPr>
              <a:t>(</a:t>
            </a:r>
            <a:r>
              <a:rPr lang="en-US" altLang="en-US" i="1" dirty="0" smtClean="0">
                <a:sym typeface="Symbol" pitchFamily="18" charset="2"/>
              </a:rPr>
              <a:t>n</a:t>
            </a:r>
            <a:r>
              <a:rPr lang="en-US" altLang="en-US" dirty="0" smtClean="0">
                <a:sym typeface="Symbol" pitchFamily="18" charset="2"/>
              </a:rPr>
              <a:t>) is equilibrium gross profits</a:t>
            </a:r>
          </a:p>
          <a:p>
            <a:pPr lvl="2"/>
            <a:r>
              <a:rPr lang="en-US" altLang="en-US" i="1" dirty="0" err="1" smtClean="0">
                <a:sym typeface="Symbol" pitchFamily="18" charset="2"/>
              </a:rPr>
              <a:t>nK</a:t>
            </a:r>
            <a:r>
              <a:rPr lang="en-US" altLang="en-US" dirty="0" smtClean="0">
                <a:sym typeface="Symbol" pitchFamily="18" charset="2"/>
              </a:rPr>
              <a:t> is total expenditure on sunk entry </a:t>
            </a:r>
            <a:r>
              <a:rPr lang="en-US" altLang="en-US" dirty="0" smtClean="0">
                <a:sym typeface="Symbol" pitchFamily="18" charset="2"/>
              </a:rPr>
              <a:t>costs</a:t>
            </a:r>
            <a:endParaRPr lang="en-US" altLang="en-US" i="1"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7EFF56A-CBD4-411A-A404-04B63DE5D8C4}" type="slidenum">
              <a:rPr lang="en-US" smtClean="0"/>
              <a:pPr>
                <a:defRPr/>
              </a:pPr>
              <a:t>84</a:t>
            </a:fld>
            <a:endParaRPr lang="en-US"/>
          </a:p>
        </p:txBody>
      </p:sp>
    </p:spTree>
    <p:extLst>
      <p:ext uri="{BB962C8B-B14F-4D97-AF65-F5344CB8AC3E}">
        <p14:creationId xmlns:p14="http://schemas.microsoft.com/office/powerpoint/2010/main" val="5257690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r>
              <a:rPr lang="en-US" altLang="en-US" smtClean="0"/>
              <a:t>How Many Firms Enter?</a:t>
            </a:r>
          </a:p>
        </p:txBody>
      </p:sp>
      <p:sp>
        <p:nvSpPr>
          <p:cNvPr id="96259" name="Content Placeholder 2"/>
          <p:cNvSpPr>
            <a:spLocks noGrp="1"/>
          </p:cNvSpPr>
          <p:nvPr>
            <p:ph idx="1"/>
          </p:nvPr>
        </p:nvSpPr>
        <p:spPr/>
        <p:txBody>
          <a:bodyPr/>
          <a:lstStyle/>
          <a:p>
            <a:r>
              <a:rPr lang="en-US" altLang="en-US" dirty="0" smtClean="0"/>
              <a:t>Long-run </a:t>
            </a:r>
            <a:r>
              <a:rPr lang="en-US" altLang="en-US" dirty="0" smtClean="0"/>
              <a:t>equilibrium number of firms (</a:t>
            </a:r>
            <a:r>
              <a:rPr lang="en-US" altLang="en-US" i="1" dirty="0" smtClean="0"/>
              <a:t>n</a:t>
            </a:r>
            <a:r>
              <a:rPr lang="en-US" altLang="en-US" dirty="0" smtClean="0"/>
              <a:t>*) </a:t>
            </a:r>
          </a:p>
          <a:p>
            <a:pPr lvl="1"/>
            <a:r>
              <a:rPr lang="en-US" altLang="en-US" dirty="0" smtClean="0"/>
              <a:t>May be greater or less than the social optimum (</a:t>
            </a:r>
            <a:r>
              <a:rPr lang="en-US" altLang="en-US" i="1" dirty="0" smtClean="0"/>
              <a:t>n</a:t>
            </a:r>
            <a:r>
              <a:rPr lang="en-US" altLang="en-US" dirty="0" smtClean="0"/>
              <a:t>**) depending on two effects</a:t>
            </a:r>
          </a:p>
          <a:p>
            <a:pPr lvl="2"/>
            <a:r>
              <a:rPr lang="en-US" altLang="en-US" dirty="0" smtClean="0">
                <a:sym typeface="Symbol" pitchFamily="18" charset="2"/>
              </a:rPr>
              <a:t>The </a:t>
            </a:r>
            <a:r>
              <a:rPr lang="en-US" altLang="en-US" dirty="0" err="1" smtClean="0">
                <a:sym typeface="Symbol" pitchFamily="18" charset="2"/>
              </a:rPr>
              <a:t>appropriability</a:t>
            </a:r>
            <a:r>
              <a:rPr lang="en-US" altLang="en-US" dirty="0" smtClean="0">
                <a:sym typeface="Symbol" pitchFamily="18" charset="2"/>
              </a:rPr>
              <a:t> effect</a:t>
            </a:r>
          </a:p>
          <a:p>
            <a:pPr lvl="2"/>
            <a:r>
              <a:rPr lang="en-US" altLang="en-US" dirty="0" smtClean="0">
                <a:sym typeface="Symbol" pitchFamily="18" charset="2"/>
              </a:rPr>
              <a:t>The business-stealing effect</a:t>
            </a:r>
          </a:p>
          <a:p>
            <a:endParaRPr lang="en-US" altLang="en-US" dirty="0" smtClean="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7EFF56A-CBD4-411A-A404-04B63DE5D8C4}" type="slidenum">
              <a:rPr lang="en-US" smtClean="0"/>
              <a:pPr>
                <a:defRPr/>
              </a:pPr>
              <a:t>85</a:t>
            </a:fld>
            <a:endParaRPr lang="en-US"/>
          </a:p>
        </p:txBody>
      </p:sp>
    </p:spTree>
    <p:extLst>
      <p:ext uri="{BB962C8B-B14F-4D97-AF65-F5344CB8AC3E}">
        <p14:creationId xmlns:p14="http://schemas.microsoft.com/office/powerpoint/2010/main" val="39238730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smtClean="0"/>
              <a:t>How Many Firms Enter?</a:t>
            </a:r>
          </a:p>
        </p:txBody>
      </p:sp>
      <p:sp>
        <p:nvSpPr>
          <p:cNvPr id="97283" name="Content Placeholder 2"/>
          <p:cNvSpPr>
            <a:spLocks noGrp="1"/>
          </p:cNvSpPr>
          <p:nvPr>
            <p:ph idx="1"/>
          </p:nvPr>
        </p:nvSpPr>
        <p:spPr/>
        <p:txBody>
          <a:bodyPr/>
          <a:lstStyle/>
          <a:p>
            <a:r>
              <a:rPr lang="en-US" altLang="en-US" smtClean="0"/>
              <a:t>The appropriability effect</a:t>
            </a:r>
          </a:p>
          <a:p>
            <a:pPr lvl="1"/>
            <a:r>
              <a:rPr lang="en-US" altLang="en-US" smtClean="0">
                <a:sym typeface="Symbol" pitchFamily="18" charset="2"/>
              </a:rPr>
              <a:t>The social planner takes account of increased consumer surplus from lower prices</a:t>
            </a:r>
          </a:p>
          <a:p>
            <a:pPr lvl="1"/>
            <a:r>
              <a:rPr lang="en-US" altLang="en-US" smtClean="0">
                <a:sym typeface="Symbol" pitchFamily="18" charset="2"/>
              </a:rPr>
              <a:t>Firms do not</a:t>
            </a:r>
          </a:p>
          <a:p>
            <a:pPr lvl="1"/>
            <a:r>
              <a:rPr lang="en-US" altLang="en-US" smtClean="0">
                <a:sym typeface="Symbol" pitchFamily="18" charset="2"/>
              </a:rPr>
              <a:t>This implies that </a:t>
            </a:r>
            <a:r>
              <a:rPr lang="en-US" altLang="en-US" i="1" smtClean="0">
                <a:sym typeface="Symbol" pitchFamily="18" charset="2"/>
              </a:rPr>
              <a:t>n</a:t>
            </a:r>
            <a:r>
              <a:rPr lang="en-US" altLang="en-US" smtClean="0">
                <a:sym typeface="Symbol" pitchFamily="18" charset="2"/>
              </a:rPr>
              <a:t>** &gt; </a:t>
            </a:r>
            <a:r>
              <a:rPr lang="en-US" altLang="en-US" i="1" smtClean="0">
                <a:sym typeface="Symbol" pitchFamily="18" charset="2"/>
              </a:rPr>
              <a:t>n</a:t>
            </a:r>
            <a:r>
              <a:rPr lang="en-US" altLang="en-US" smtClean="0">
                <a:sym typeface="Symbol" pitchFamily="18" charset="2"/>
              </a:rPr>
              <a:t>*</a:t>
            </a:r>
          </a:p>
          <a:p>
            <a:endParaRPr lang="en-US" altLang="en-US" smtClean="0"/>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F8B23E8-ACF6-43F1-AAC3-353FE24389FF}" type="slidenum">
              <a:rPr lang="en-US" smtClean="0"/>
              <a:pPr>
                <a:defRPr/>
              </a:pPr>
              <a:t>86</a:t>
            </a:fld>
            <a:endParaRPr lang="en-US"/>
          </a:p>
        </p:txBody>
      </p:sp>
    </p:spTree>
    <p:extLst>
      <p:ext uri="{BB962C8B-B14F-4D97-AF65-F5344CB8AC3E}">
        <p14:creationId xmlns:p14="http://schemas.microsoft.com/office/powerpoint/2010/main" val="22026114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lstStyle/>
          <a:p>
            <a:r>
              <a:rPr lang="en-US" altLang="en-US" smtClean="0"/>
              <a:t>How Many Firms Enter?</a:t>
            </a:r>
          </a:p>
        </p:txBody>
      </p:sp>
      <p:sp>
        <p:nvSpPr>
          <p:cNvPr id="98307" name="Content Placeholder 2"/>
          <p:cNvSpPr>
            <a:spLocks noGrp="1"/>
          </p:cNvSpPr>
          <p:nvPr>
            <p:ph idx="1"/>
          </p:nvPr>
        </p:nvSpPr>
        <p:spPr/>
        <p:txBody>
          <a:bodyPr/>
          <a:lstStyle/>
          <a:p>
            <a:r>
              <a:rPr lang="en-US" altLang="en-US" smtClean="0"/>
              <a:t>The business-stealing effect</a:t>
            </a:r>
          </a:p>
          <a:p>
            <a:pPr lvl="1"/>
            <a:r>
              <a:rPr lang="en-US" altLang="en-US" smtClean="0">
                <a:sym typeface="Symbol" pitchFamily="18" charset="2"/>
              </a:rPr>
              <a:t>Entry causes the profits of existing firms to fall</a:t>
            </a:r>
          </a:p>
          <a:p>
            <a:pPr lvl="1"/>
            <a:r>
              <a:rPr lang="en-US" altLang="en-US" smtClean="0">
                <a:sym typeface="Symbol" pitchFamily="18" charset="2"/>
              </a:rPr>
              <a:t>The marginal firm does not consider the drop in other firms’ profits when making its entry decision (the social planner would)</a:t>
            </a:r>
          </a:p>
          <a:p>
            <a:pPr lvl="1"/>
            <a:r>
              <a:rPr lang="en-US" altLang="en-US" smtClean="0">
                <a:sym typeface="Symbol" pitchFamily="18" charset="2"/>
              </a:rPr>
              <a:t>This implies that </a:t>
            </a:r>
            <a:r>
              <a:rPr lang="en-US" altLang="en-US" i="1" smtClean="0">
                <a:sym typeface="Symbol" pitchFamily="18" charset="2"/>
              </a:rPr>
              <a:t>n</a:t>
            </a:r>
            <a:r>
              <a:rPr lang="en-US" altLang="en-US" smtClean="0">
                <a:sym typeface="Symbol" pitchFamily="18" charset="2"/>
              </a:rPr>
              <a:t>* &gt; </a:t>
            </a:r>
            <a:r>
              <a:rPr lang="en-US" altLang="en-US" i="1" smtClean="0">
                <a:sym typeface="Symbol" pitchFamily="18" charset="2"/>
              </a:rPr>
              <a:t>n</a:t>
            </a:r>
            <a:r>
              <a:rPr lang="en-US" altLang="en-US" smtClean="0">
                <a:sym typeface="Symbol" pitchFamily="18" charset="2"/>
              </a:rPr>
              <a:t>**</a:t>
            </a:r>
          </a:p>
          <a:p>
            <a:endParaRPr lang="en-US" altLang="en-US" smtClean="0"/>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4054F70-4B43-41F0-81E3-44E320CBE6E4}" type="slidenum">
              <a:rPr lang="en-US" smtClean="0"/>
              <a:pPr>
                <a:defRPr/>
              </a:pPr>
              <a:t>87</a:t>
            </a:fld>
            <a:endParaRPr lang="en-US"/>
          </a:p>
        </p:txBody>
      </p:sp>
    </p:spTree>
    <p:extLst>
      <p:ext uri="{BB962C8B-B14F-4D97-AF65-F5344CB8AC3E}">
        <p14:creationId xmlns:p14="http://schemas.microsoft.com/office/powerpoint/2010/main" val="6036275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15.11 	</a:t>
            </a:r>
            <a:r>
              <a:rPr lang="en-US" altLang="en-US" dirty="0" err="1" smtClean="0"/>
              <a:t>Cournot</a:t>
            </a:r>
            <a:r>
              <a:rPr lang="en-US" altLang="en-US" dirty="0" smtClean="0"/>
              <a:t> in the Long Run</a:t>
            </a:r>
          </a:p>
        </p:txBody>
      </p:sp>
      <p:sp>
        <p:nvSpPr>
          <p:cNvPr id="2048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3CCCBB3D-2CD0-49CF-A919-FD32496B6FA4}" type="slidenum">
              <a:rPr lang="en-US" smtClean="0"/>
              <a:pPr>
                <a:defRPr/>
              </a:pPr>
              <a:t>88</a:t>
            </a:fld>
            <a:endParaRPr lang="en-US" dirty="0"/>
          </a:p>
        </p:txBody>
      </p:sp>
      <p:sp>
        <p:nvSpPr>
          <p:cNvPr id="20484" name="Content Placeholder 2"/>
          <p:cNvSpPr>
            <a:spLocks noGrp="1"/>
          </p:cNvSpPr>
          <p:nvPr>
            <p:ph type="body" sz="quarter" idx="12"/>
          </p:nvPr>
        </p:nvSpPr>
        <p:spPr>
          <a:prstGeom prst="rect">
            <a:avLst/>
          </a:prstGeom>
        </p:spPr>
        <p:txBody>
          <a:bodyPr/>
          <a:lstStyle/>
          <a:p>
            <a:r>
              <a:rPr lang="en-US" altLang="en-US" dirty="0" smtClean="0"/>
              <a:t>Determine the long-run equilibrium number of firms in the market</a:t>
            </a:r>
          </a:p>
          <a:p>
            <a:pPr lvl="1"/>
            <a:r>
              <a:rPr lang="en-US" altLang="en-US" i="1" dirty="0" smtClean="0"/>
              <a:t>K</a:t>
            </a:r>
            <a:r>
              <a:rPr lang="en-US" altLang="en-US" dirty="0" smtClean="0"/>
              <a:t> - sunk cost a firm must pay to enter the market in an initial entry stage</a:t>
            </a:r>
          </a:p>
          <a:p>
            <a:pPr lvl="1"/>
            <a:r>
              <a:rPr lang="en-US" altLang="en-US" dirty="0" smtClean="0"/>
              <a:t>One period of </a:t>
            </a:r>
            <a:r>
              <a:rPr lang="en-US" altLang="en-US" dirty="0" err="1" smtClean="0"/>
              <a:t>Cournot</a:t>
            </a:r>
            <a:r>
              <a:rPr lang="en-US" altLang="en-US" dirty="0" smtClean="0"/>
              <a:t> competition after entry</a:t>
            </a:r>
          </a:p>
          <a:p>
            <a:pPr lvl="1"/>
            <a:r>
              <a:rPr lang="en-US" altLang="en-US" dirty="0" smtClean="0"/>
              <a:t>Assume that </a:t>
            </a:r>
            <a:r>
              <a:rPr lang="en-US" altLang="en-US" i="1" dirty="0" smtClean="0"/>
              <a:t>a</a:t>
            </a:r>
            <a:r>
              <a:rPr lang="en-US" altLang="en-US" dirty="0" smtClean="0"/>
              <a:t> = 1 and </a:t>
            </a:r>
            <a:r>
              <a:rPr lang="en-US" altLang="en-US" i="1" dirty="0" smtClean="0"/>
              <a:t>c</a:t>
            </a:r>
            <a:r>
              <a:rPr lang="en-US" altLang="en-US" dirty="0" smtClean="0"/>
              <a:t> = 0</a:t>
            </a:r>
          </a:p>
          <a:p>
            <a:pPr lvl="1"/>
            <a:r>
              <a:rPr lang="en-US" altLang="en-US" dirty="0" smtClean="0"/>
              <a:t>Individual firm’s gross profit: </a:t>
            </a:r>
            <a:r>
              <a:rPr lang="en-US" altLang="en-US" i="1" dirty="0" smtClean="0"/>
              <a:t>g(n) = [1/(n+1)]</a:t>
            </a:r>
            <a:r>
              <a:rPr lang="en-US" altLang="en-US" i="1" baseline="30000" dirty="0" smtClean="0"/>
              <a:t>2</a:t>
            </a:r>
            <a:r>
              <a:rPr lang="en-US" altLang="en-US" i="1" dirty="0" smtClean="0"/>
              <a:t> </a:t>
            </a:r>
          </a:p>
          <a:p>
            <a:r>
              <a:rPr lang="en-US" altLang="en-US" dirty="0" smtClean="0"/>
              <a:t>Long-run equilibrium number of firms </a:t>
            </a:r>
          </a:p>
          <a:p>
            <a:pPr lvl="1"/>
            <a:r>
              <a:rPr lang="en-US" altLang="en-US" dirty="0" smtClean="0"/>
              <a:t>Is the greatest integer </a:t>
            </a:r>
            <a:r>
              <a:rPr lang="en-US" altLang="en-US" i="1" dirty="0" smtClean="0"/>
              <a:t>n*</a:t>
            </a:r>
            <a:r>
              <a:rPr lang="en-US" altLang="en-US" dirty="0" smtClean="0"/>
              <a:t> satisfying </a:t>
            </a:r>
            <a:r>
              <a:rPr lang="en-US" altLang="en-US" i="1" dirty="0" smtClean="0"/>
              <a:t>g (n) </a:t>
            </a:r>
            <a:r>
              <a:rPr lang="en-US" altLang="en-US" i="1" dirty="0" smtClean="0">
                <a:cs typeface="Arial" charset="0"/>
              </a:rPr>
              <a:t>≥</a:t>
            </a:r>
            <a:r>
              <a:rPr lang="en-US" altLang="en-US" i="1" dirty="0" smtClean="0"/>
              <a:t> K</a:t>
            </a:r>
          </a:p>
        </p:txBody>
      </p:sp>
      <p:graphicFrame>
        <p:nvGraphicFramePr>
          <p:cNvPr id="6" name="Object 2"/>
          <p:cNvGraphicFramePr>
            <a:graphicFrameLocks noChangeAspect="1"/>
          </p:cNvGraphicFramePr>
          <p:nvPr/>
        </p:nvGraphicFramePr>
        <p:xfrm>
          <a:off x="3813175" y="5381625"/>
          <a:ext cx="1517650" cy="808038"/>
        </p:xfrm>
        <a:graphic>
          <a:graphicData uri="http://schemas.openxmlformats.org/presentationml/2006/ole">
            <mc:AlternateContent xmlns:mc="http://schemas.openxmlformats.org/markup-compatibility/2006">
              <mc:Choice xmlns:v="urn:schemas-microsoft-com:vml" Requires="v">
                <p:oleObj spid="_x0000_s337933" name="Equation" r:id="rId3" imgW="787320" imgH="419040" progId="Equation.DSMT4">
                  <p:embed/>
                </p:oleObj>
              </mc:Choice>
              <mc:Fallback>
                <p:oleObj name="Equation" r:id="rId3" imgW="7873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3175" y="5381625"/>
                        <a:ext cx="1517650"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85699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15.11 	</a:t>
            </a:r>
            <a:r>
              <a:rPr lang="en-US" altLang="en-US" dirty="0" err="1" smtClean="0"/>
              <a:t>Cournot</a:t>
            </a:r>
            <a:r>
              <a:rPr lang="en-US" altLang="en-US" dirty="0" smtClean="0"/>
              <a:t> in the Long Run</a:t>
            </a:r>
          </a:p>
        </p:txBody>
      </p:sp>
      <p:sp>
        <p:nvSpPr>
          <p:cNvPr id="2151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39892F24-D721-4678-868A-239A6AE90F75}" type="slidenum">
              <a:rPr lang="en-US" smtClean="0"/>
              <a:pPr>
                <a:defRPr/>
              </a:pPr>
              <a:t>89</a:t>
            </a:fld>
            <a:endParaRPr lang="en-US" dirty="0"/>
          </a:p>
        </p:txBody>
      </p:sp>
      <p:sp>
        <p:nvSpPr>
          <p:cNvPr id="21510" name="Content Placeholder 2"/>
          <p:cNvSpPr>
            <a:spLocks noGrp="1"/>
          </p:cNvSpPr>
          <p:nvPr>
            <p:ph type="body" sz="quarter" idx="12"/>
          </p:nvPr>
        </p:nvSpPr>
        <p:spPr>
          <a:prstGeom prst="rect">
            <a:avLst/>
          </a:prstGeom>
        </p:spPr>
        <p:txBody>
          <a:bodyPr/>
          <a:lstStyle/>
          <a:p>
            <a:r>
              <a:rPr lang="en-US" altLang="en-US" smtClean="0"/>
              <a:t>Social planner’s problem</a:t>
            </a:r>
          </a:p>
          <a:p>
            <a:pPr lvl="1"/>
            <a:r>
              <a:rPr lang="en-US" altLang="en-US" smtClean="0"/>
              <a:t>Consumer surplus</a:t>
            </a:r>
          </a:p>
        </p:txBody>
      </p:sp>
      <p:sp>
        <p:nvSpPr>
          <p:cNvPr id="2" name="Text Placeholder 1"/>
          <p:cNvSpPr>
            <a:spLocks noGrp="1"/>
          </p:cNvSpPr>
          <p:nvPr>
            <p:ph type="body" sz="quarter" idx="13"/>
          </p:nvPr>
        </p:nvSpPr>
        <p:spPr>
          <a:xfrm>
            <a:off x="381000" y="2667000"/>
            <a:ext cx="8382000" cy="3505200"/>
          </a:xfrm>
        </p:spPr>
        <p:txBody>
          <a:bodyPr/>
          <a:lstStyle/>
          <a:p>
            <a:pPr lvl="1" eaLnBrk="0" hangingPunct="0">
              <a:buFont typeface="Arial" charset="0"/>
              <a:buChar char="•"/>
              <a:defRPr/>
            </a:pPr>
            <a:r>
              <a:rPr lang="en-US" kern="0" dirty="0"/>
              <a:t>Total profits for all </a:t>
            </a:r>
            <a:r>
              <a:rPr lang="en-US" kern="0" dirty="0" smtClean="0"/>
              <a:t>firms</a:t>
            </a:r>
          </a:p>
          <a:p>
            <a:pPr lvl="1" eaLnBrk="0" hangingPunct="0">
              <a:buFont typeface="Arial" charset="0"/>
              <a:buChar char="•"/>
              <a:defRPr/>
            </a:pPr>
            <a:endParaRPr lang="en-US" kern="0" dirty="0"/>
          </a:p>
          <a:p>
            <a:pPr lvl="1" eaLnBrk="0" hangingPunct="0">
              <a:buFont typeface="Arial" charset="0"/>
              <a:buChar char="•"/>
              <a:defRPr/>
            </a:pPr>
            <a:endParaRPr lang="en-US" kern="0" dirty="0"/>
          </a:p>
          <a:p>
            <a:pPr lvl="1" eaLnBrk="0" hangingPunct="0">
              <a:buFont typeface="Arial" charset="0"/>
              <a:buChar char="•"/>
              <a:defRPr/>
            </a:pPr>
            <a:r>
              <a:rPr lang="en-US" kern="0" dirty="0"/>
              <a:t>Social planner’s objective function</a:t>
            </a:r>
          </a:p>
          <a:p>
            <a:pPr lvl="1"/>
            <a:endParaRPr lang="en-US" dirty="0"/>
          </a:p>
        </p:txBody>
      </p:sp>
      <p:graphicFrame>
        <p:nvGraphicFramePr>
          <p:cNvPr id="7" name="Object 3"/>
          <p:cNvGraphicFramePr>
            <a:graphicFrameLocks noChangeAspect="1"/>
          </p:cNvGraphicFramePr>
          <p:nvPr/>
        </p:nvGraphicFramePr>
        <p:xfrm>
          <a:off x="2214563" y="1625600"/>
          <a:ext cx="4714875" cy="922338"/>
        </p:xfrm>
        <a:graphic>
          <a:graphicData uri="http://schemas.openxmlformats.org/presentationml/2006/ole">
            <mc:AlternateContent xmlns:mc="http://schemas.openxmlformats.org/markup-compatibility/2006">
              <mc:Choice xmlns:v="urn:schemas-microsoft-com:vml" Requires="v">
                <p:oleObj spid="_x0000_s338979" name="Equation" r:id="rId3" imgW="2273040" imgH="444240" progId="Equation.DSMT4">
                  <p:embed/>
                </p:oleObj>
              </mc:Choice>
              <mc:Fallback>
                <p:oleObj name="Equation" r:id="rId3" imgW="227304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3" y="1625600"/>
                        <a:ext cx="4714875" cy="92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2" name="Object 4"/>
          <p:cNvGraphicFramePr>
            <a:graphicFrameLocks noChangeAspect="1"/>
          </p:cNvGraphicFramePr>
          <p:nvPr/>
        </p:nvGraphicFramePr>
        <p:xfrm>
          <a:off x="2565400" y="3206750"/>
          <a:ext cx="3609975" cy="868363"/>
        </p:xfrm>
        <a:graphic>
          <a:graphicData uri="http://schemas.openxmlformats.org/presentationml/2006/ole">
            <mc:AlternateContent xmlns:mc="http://schemas.openxmlformats.org/markup-compatibility/2006">
              <mc:Choice xmlns:v="urn:schemas-microsoft-com:vml" Requires="v">
                <p:oleObj spid="_x0000_s338980" name="Equation" r:id="rId5" imgW="1739880" imgH="419040" progId="Equation.DSMT4">
                  <p:embed/>
                </p:oleObj>
              </mc:Choice>
              <mc:Fallback>
                <p:oleObj name="Equation" r:id="rId5" imgW="173988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5400" y="3206750"/>
                        <a:ext cx="3609975"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3" name="Object 5"/>
          <p:cNvGraphicFramePr>
            <a:graphicFrameLocks noChangeAspect="1"/>
          </p:cNvGraphicFramePr>
          <p:nvPr/>
        </p:nvGraphicFramePr>
        <p:xfrm>
          <a:off x="2857500" y="4735513"/>
          <a:ext cx="3109913" cy="920750"/>
        </p:xfrm>
        <a:graphic>
          <a:graphicData uri="http://schemas.openxmlformats.org/presentationml/2006/ole">
            <mc:AlternateContent xmlns:mc="http://schemas.openxmlformats.org/markup-compatibility/2006">
              <mc:Choice xmlns:v="urn:schemas-microsoft-com:vml" Requires="v">
                <p:oleObj spid="_x0000_s338981" name="Equation" r:id="rId7" imgW="1498320" imgH="444240" progId="Equation.DSMT4">
                  <p:embed/>
                </p:oleObj>
              </mc:Choice>
              <mc:Fallback>
                <p:oleObj name="Equation" r:id="rId7" imgW="149832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7500" y="4735513"/>
                        <a:ext cx="3109913"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04717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78852"/>
                                        </p:tgtEl>
                                        <p:attrNameLst>
                                          <p:attrName>style.visibility</p:attrName>
                                        </p:attrNameLst>
                                      </p:cBhvr>
                                      <p:to>
                                        <p:strVal val="visible"/>
                                      </p:to>
                                    </p:set>
                                    <p:animEffect transition="in" filter="wipe(left)">
                                      <p:cBhvr>
                                        <p:cTn id="15" dur="500"/>
                                        <p:tgtEl>
                                          <p:spTgt spid="78852"/>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78853"/>
                                        </p:tgtEl>
                                        <p:attrNameLst>
                                          <p:attrName>style.visibility</p:attrName>
                                        </p:attrNameLst>
                                      </p:cBhvr>
                                      <p:to>
                                        <p:strVal val="visible"/>
                                      </p:to>
                                    </p:set>
                                    <p:animEffect transition="in" filter="wipe(left)">
                                      <p:cBhvr>
                                        <p:cTn id="23" dur="500"/>
                                        <p:tgtEl>
                                          <p:spTgt spid="7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15.11 	</a:t>
            </a:r>
            <a:r>
              <a:rPr lang="en-US" altLang="en-US" dirty="0" err="1" smtClean="0"/>
              <a:t>Cournot</a:t>
            </a:r>
            <a:r>
              <a:rPr lang="en-US" altLang="en-US" dirty="0" smtClean="0"/>
              <a:t> in the Long Run</a:t>
            </a:r>
          </a:p>
        </p:txBody>
      </p:sp>
      <p:sp>
        <p:nvSpPr>
          <p:cNvPr id="2253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5693DB08-84F1-468B-9A92-7517E2C0A904}" type="slidenum">
              <a:rPr lang="en-US" smtClean="0"/>
              <a:pPr>
                <a:defRPr/>
              </a:pPr>
              <a:t>90</a:t>
            </a:fld>
            <a:endParaRPr lang="en-US" dirty="0"/>
          </a:p>
        </p:txBody>
      </p:sp>
      <p:sp>
        <p:nvSpPr>
          <p:cNvPr id="22533" name="Content Placeholder 2"/>
          <p:cNvSpPr>
            <a:spLocks noGrp="1"/>
          </p:cNvSpPr>
          <p:nvPr>
            <p:ph type="body" sz="quarter" idx="12"/>
          </p:nvPr>
        </p:nvSpPr>
        <p:spPr>
          <a:prstGeom prst="rect">
            <a:avLst/>
          </a:prstGeom>
        </p:spPr>
        <p:txBody>
          <a:bodyPr/>
          <a:lstStyle/>
          <a:p>
            <a:r>
              <a:rPr lang="en-US" altLang="en-US" smtClean="0"/>
              <a:t>Social planner’s problem</a:t>
            </a:r>
          </a:p>
          <a:p>
            <a:pPr lvl="1"/>
            <a:r>
              <a:rPr lang="en-US" altLang="en-US" smtClean="0"/>
              <a:t>First-order condition with respect to n</a:t>
            </a:r>
          </a:p>
        </p:txBody>
      </p:sp>
      <p:sp>
        <p:nvSpPr>
          <p:cNvPr id="2" name="Text Placeholder 1"/>
          <p:cNvSpPr>
            <a:spLocks noGrp="1"/>
          </p:cNvSpPr>
          <p:nvPr>
            <p:ph type="body" sz="quarter" idx="13"/>
          </p:nvPr>
        </p:nvSpPr>
        <p:spPr>
          <a:xfrm>
            <a:off x="381000" y="2667000"/>
            <a:ext cx="8382000" cy="3505200"/>
          </a:xfrm>
        </p:spPr>
        <p:txBody>
          <a:bodyPr/>
          <a:lstStyle/>
          <a:p>
            <a:pPr lvl="1"/>
            <a:r>
              <a:rPr lang="en-US" kern="0" dirty="0"/>
              <a:t>Optimal number of firms for a social </a:t>
            </a:r>
            <a:r>
              <a:rPr lang="en-US" kern="0" dirty="0" smtClean="0"/>
              <a:t>planner</a:t>
            </a:r>
            <a:endParaRPr lang="en-US" kern="0" dirty="0"/>
          </a:p>
        </p:txBody>
      </p:sp>
      <p:graphicFrame>
        <p:nvGraphicFramePr>
          <p:cNvPr id="9" name="Object 5"/>
          <p:cNvGraphicFramePr>
            <a:graphicFrameLocks noChangeAspect="1"/>
          </p:cNvGraphicFramePr>
          <p:nvPr/>
        </p:nvGraphicFramePr>
        <p:xfrm>
          <a:off x="2289175" y="1733550"/>
          <a:ext cx="2759075" cy="628650"/>
        </p:xfrm>
        <a:graphic>
          <a:graphicData uri="http://schemas.openxmlformats.org/presentationml/2006/ole">
            <mc:AlternateContent xmlns:mc="http://schemas.openxmlformats.org/markup-compatibility/2006">
              <mc:Choice xmlns:v="urn:schemas-microsoft-com:vml" Requires="v">
                <p:oleObj spid="_x0000_s339992" name="Equation" r:id="rId3" imgW="1002960" imgH="228600" progId="Equation.DSMT4">
                  <p:embed/>
                </p:oleObj>
              </mc:Choice>
              <mc:Fallback>
                <p:oleObj name="Equation" r:id="rId3" imgW="100296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9175" y="1733550"/>
                        <a:ext cx="2759075"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8" name="Object 6"/>
          <p:cNvGraphicFramePr>
            <a:graphicFrameLocks noChangeAspect="1"/>
          </p:cNvGraphicFramePr>
          <p:nvPr/>
        </p:nvGraphicFramePr>
        <p:xfrm>
          <a:off x="2508250" y="3268663"/>
          <a:ext cx="2479675" cy="1082675"/>
        </p:xfrm>
        <a:graphic>
          <a:graphicData uri="http://schemas.openxmlformats.org/presentationml/2006/ole">
            <mc:AlternateContent xmlns:mc="http://schemas.openxmlformats.org/markup-compatibility/2006">
              <mc:Choice xmlns:v="urn:schemas-microsoft-com:vml" Requires="v">
                <p:oleObj spid="_x0000_s339993" name="Equation" r:id="rId5" imgW="901440" imgH="393480" progId="Equation.DSMT4">
                  <p:embed/>
                </p:oleObj>
              </mc:Choice>
              <mc:Fallback>
                <p:oleObj name="Equation" r:id="rId5" imgW="90144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0" y="3268663"/>
                        <a:ext cx="247967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46220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9878"/>
                                        </p:tgtEl>
                                        <p:attrNameLst>
                                          <p:attrName>style.visibility</p:attrName>
                                        </p:attrNameLst>
                                      </p:cBhvr>
                                      <p:to>
                                        <p:strVal val="visible"/>
                                      </p:to>
                                    </p:set>
                                    <p:animEffect transition="in" filter="wipe(left)">
                                      <p:cBhvr>
                                        <p:cTn id="15" dur="500"/>
                                        <p:tgtEl>
                                          <p:spTgt spid="7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15.9	Profit and Consumer Surplus in </a:t>
            </a:r>
            <a:r>
              <a:rPr lang="en-US" altLang="en-US" dirty="0" smtClean="0"/>
              <a:t/>
            </a:r>
            <a:br>
              <a:rPr lang="en-US" altLang="en-US" dirty="0" smtClean="0"/>
            </a:br>
            <a:r>
              <a:rPr lang="en-US" altLang="en-US" dirty="0"/>
              <a:t>	</a:t>
            </a:r>
            <a:r>
              <a:rPr lang="en-US" altLang="en-US" dirty="0" smtClean="0">
                <a:solidFill>
                  <a:srgbClr val="002D56"/>
                </a:solidFill>
              </a:rPr>
              <a:t>Example 15.11</a:t>
            </a:r>
            <a:endParaRPr lang="en-US" altLang="en-US" dirty="0" smtClean="0">
              <a:solidFill>
                <a:srgbClr val="002D56"/>
              </a:solidFill>
            </a:endParaRPr>
          </a:p>
        </p:txBody>
      </p:sp>
      <p:sp>
        <p:nvSpPr>
          <p:cNvPr id="99331" name="Text Placeholder 2"/>
          <p:cNvSpPr>
            <a:spLocks noGrp="1"/>
          </p:cNvSpPr>
          <p:nvPr>
            <p:ph sz="half" idx="1"/>
          </p:nvPr>
        </p:nvSpPr>
        <p:spPr>
          <a:xfrm>
            <a:off x="6172200" y="1600200"/>
            <a:ext cx="2743200" cy="4525963"/>
          </a:xfrm>
        </p:spPr>
        <p:txBody>
          <a:bodyPr>
            <a:normAutofit/>
          </a:bodyPr>
          <a:lstStyle/>
          <a:p>
            <a:pPr>
              <a:spcBef>
                <a:spcPct val="0"/>
              </a:spcBef>
            </a:pPr>
            <a:r>
              <a:rPr lang="en-US" altLang="en-US" dirty="0"/>
              <a:t>Equilibrium for n firms drawn for the demand and cost assumptions in Example 15.11. Consumer surplus, CS(n), is the area of the shaded triangle. Total profits ng(n) for all firms (gross of sunk costs) is the area of the shaded rectangle.</a:t>
            </a:r>
          </a:p>
          <a:p>
            <a:pPr>
              <a:spcBef>
                <a:spcPct val="0"/>
              </a:spcBef>
            </a:pPr>
            <a:endParaRPr lang="en-US" altLang="en-US" dirty="0" smtClean="0"/>
          </a:p>
        </p:txBody>
      </p:sp>
      <p:sp>
        <p:nvSpPr>
          <p:cNvPr id="99333"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366BCCA4-DF3D-4D80-A249-D11F43FA6E31}" type="slidenum">
              <a:rPr lang="en-US" smtClean="0"/>
              <a:pPr>
                <a:defRPr/>
              </a:pPr>
              <a:t>91</a:t>
            </a:fld>
            <a:endParaRPr lang="en-US" dirty="0"/>
          </a:p>
        </p:txBody>
      </p:sp>
      <p:pic>
        <p:nvPicPr>
          <p:cNvPr id="808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58547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6593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wipe(left)">
                                      <p:cBhvr>
                                        <p:cTn id="7" dur="500"/>
                                        <p:tgtEl>
                                          <p:spTgt spid="808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331">
                                            <p:txEl>
                                              <p:pRg st="0" end="0"/>
                                            </p:txEl>
                                          </p:spTgt>
                                        </p:tgtEl>
                                        <p:attrNameLst>
                                          <p:attrName>style.visibility</p:attrName>
                                        </p:attrNameLst>
                                      </p:cBhvr>
                                      <p:to>
                                        <p:strVal val="visible"/>
                                      </p:to>
                                    </p:set>
                                    <p:animEffect transition="in" filter="wipe(left)">
                                      <p:cBhvr>
                                        <p:cTn id="11" dur="500"/>
                                        <p:tgtEl>
                                          <p:spTgt spid="993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smtClean="0"/>
              <a:t>Feedback Effect</a:t>
            </a:r>
          </a:p>
        </p:txBody>
      </p:sp>
      <p:sp>
        <p:nvSpPr>
          <p:cNvPr id="100355" name="Rectangle 3"/>
          <p:cNvSpPr>
            <a:spLocks noGrp="1" noChangeArrowheads="1"/>
          </p:cNvSpPr>
          <p:nvPr>
            <p:ph idx="1"/>
          </p:nvPr>
        </p:nvSpPr>
        <p:spPr/>
        <p:txBody>
          <a:bodyPr/>
          <a:lstStyle/>
          <a:p>
            <a:r>
              <a:rPr lang="en-US" altLang="en-US" smtClean="0"/>
              <a:t>Feedback effect</a:t>
            </a:r>
          </a:p>
          <a:p>
            <a:pPr lvl="1"/>
            <a:r>
              <a:rPr lang="en-US" altLang="en-US" smtClean="0"/>
              <a:t>The more profitable a market is for a given number of firms</a:t>
            </a:r>
          </a:p>
          <a:p>
            <a:pPr lvl="1"/>
            <a:r>
              <a:rPr lang="en-US" altLang="en-US" smtClean="0"/>
              <a:t>The more firms will enter the market</a:t>
            </a:r>
          </a:p>
          <a:p>
            <a:pPr lvl="1"/>
            <a:r>
              <a:rPr lang="en-US" altLang="en-US" smtClean="0"/>
              <a:t>Making the market more competitive and less profitable than it would be if the number of firms was fixed</a:t>
            </a:r>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9731949-7458-410D-A5A3-529D496E96BA}" type="slidenum">
              <a:rPr lang="en-US" smtClean="0"/>
              <a:pPr>
                <a:defRPr/>
              </a:pPr>
              <a:t>92</a:t>
            </a:fld>
            <a:endParaRPr lang="en-US"/>
          </a:p>
        </p:txBody>
      </p:sp>
    </p:spTree>
    <p:extLst>
      <p:ext uri="{BB962C8B-B14F-4D97-AF65-F5344CB8AC3E}">
        <p14:creationId xmlns:p14="http://schemas.microsoft.com/office/powerpoint/2010/main" val="239123934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en-US" dirty="0" smtClean="0"/>
              <a:t>Monopoly on Innovation</a:t>
            </a:r>
            <a:endParaRPr lang="en-US" altLang="en-US" dirty="0" smtClean="0"/>
          </a:p>
        </p:txBody>
      </p:sp>
      <p:sp>
        <p:nvSpPr>
          <p:cNvPr id="101379" name="Rectangle 3"/>
          <p:cNvSpPr>
            <a:spLocks noGrp="1" noChangeArrowheads="1"/>
          </p:cNvSpPr>
          <p:nvPr>
            <p:ph idx="1"/>
          </p:nvPr>
        </p:nvSpPr>
        <p:spPr/>
        <p:txBody>
          <a:bodyPr/>
          <a:lstStyle/>
          <a:p>
            <a:r>
              <a:rPr lang="en-US" altLang="en-US" dirty="0" smtClean="0"/>
              <a:t>Product innovations</a:t>
            </a:r>
          </a:p>
          <a:p>
            <a:pPr lvl="1"/>
            <a:r>
              <a:rPr lang="en-US" altLang="en-US" dirty="0" smtClean="0"/>
              <a:t>The invention of a product that did not exist before</a:t>
            </a:r>
          </a:p>
          <a:p>
            <a:r>
              <a:rPr lang="en-US" altLang="en-US" dirty="0" smtClean="0"/>
              <a:t>Process innovations</a:t>
            </a:r>
          </a:p>
          <a:p>
            <a:pPr lvl="1"/>
            <a:r>
              <a:rPr lang="en-US" altLang="en-US" dirty="0" smtClean="0"/>
              <a:t>Reduce the cost of producing existing products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224A411-7D9B-4EFE-8331-2F368A0DF054}" type="slidenum">
              <a:rPr lang="en-US" smtClean="0"/>
              <a:pPr>
                <a:defRPr/>
              </a:pPr>
              <a:t>93</a:t>
            </a:fld>
            <a:endParaRPr lang="en-US"/>
          </a:p>
        </p:txBody>
      </p:sp>
    </p:spTree>
    <p:extLst>
      <p:ext uri="{BB962C8B-B14F-4D97-AF65-F5344CB8AC3E}">
        <p14:creationId xmlns:p14="http://schemas.microsoft.com/office/powerpoint/2010/main" val="224584831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smtClean="0"/>
              <a:t>Monopoly on Innovation</a:t>
            </a:r>
          </a:p>
        </p:txBody>
      </p:sp>
      <p:sp>
        <p:nvSpPr>
          <p:cNvPr id="102403" name="Rectangle 3"/>
          <p:cNvSpPr>
            <a:spLocks noGrp="1" noChangeArrowheads="1"/>
          </p:cNvSpPr>
          <p:nvPr>
            <p:ph idx="1"/>
          </p:nvPr>
        </p:nvSpPr>
        <p:spPr/>
        <p:txBody>
          <a:bodyPr/>
          <a:lstStyle/>
          <a:p>
            <a:r>
              <a:rPr lang="en-US" altLang="en-US" smtClean="0"/>
              <a:t>The dissipation effect</a:t>
            </a:r>
          </a:p>
          <a:p>
            <a:pPr lvl="1"/>
            <a:r>
              <a:rPr lang="en-US" altLang="en-US" smtClean="0"/>
              <a:t>Competition dissipates some of the profit from innovation </a:t>
            </a:r>
          </a:p>
          <a:p>
            <a:pPr lvl="2"/>
            <a:r>
              <a:rPr lang="en-US" altLang="en-US" smtClean="0"/>
              <a:t>And thus reduces the incentives to innovate</a:t>
            </a:r>
          </a:p>
          <a:p>
            <a:r>
              <a:rPr lang="en-US" altLang="en-US" smtClean="0"/>
              <a:t>The replacement effect</a:t>
            </a:r>
          </a:p>
          <a:p>
            <a:pPr lvl="1"/>
            <a:r>
              <a:rPr lang="en-US" altLang="en-US" smtClean="0"/>
              <a:t>Firms gain less in incremental profit </a:t>
            </a:r>
          </a:p>
          <a:p>
            <a:pPr lvl="2"/>
            <a:r>
              <a:rPr lang="en-US" altLang="en-US" smtClean="0"/>
              <a:t>And thus have less incentive to innovate if the new product replaces an existing product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3E8393A-8D9D-4092-B574-72E12AE31104}" type="slidenum">
              <a:rPr lang="en-US" smtClean="0"/>
              <a:pPr>
                <a:defRPr/>
              </a:pPr>
              <a:t>94</a:t>
            </a:fld>
            <a:endParaRPr lang="en-US"/>
          </a:p>
        </p:txBody>
      </p:sp>
    </p:spTree>
    <p:extLst>
      <p:ext uri="{BB962C8B-B14F-4D97-AF65-F5344CB8AC3E}">
        <p14:creationId xmlns:p14="http://schemas.microsoft.com/office/powerpoint/2010/main" val="161657087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smtClean="0"/>
              <a:t>Competition for Innovation</a:t>
            </a:r>
          </a:p>
        </p:txBody>
      </p:sp>
      <p:sp>
        <p:nvSpPr>
          <p:cNvPr id="103427" name="Rectangle 3"/>
          <p:cNvSpPr>
            <a:spLocks noGrp="1" noChangeArrowheads="1"/>
          </p:cNvSpPr>
          <p:nvPr>
            <p:ph idx="1"/>
          </p:nvPr>
        </p:nvSpPr>
        <p:spPr/>
        <p:txBody>
          <a:bodyPr/>
          <a:lstStyle/>
          <a:p>
            <a:r>
              <a:rPr lang="en-US" altLang="en-US" smtClean="0"/>
              <a:t>New firms </a:t>
            </a:r>
          </a:p>
          <a:p>
            <a:pPr lvl="1"/>
            <a:r>
              <a:rPr lang="en-US" altLang="en-US" smtClean="0"/>
              <a:t>Are not always more innovative than existing ones</a:t>
            </a:r>
          </a:p>
          <a:p>
            <a:pPr lvl="1"/>
            <a:r>
              <a:rPr lang="en-US" altLang="en-US" smtClean="0"/>
              <a:t>The dissipation effect may counteract the replacement effect</a:t>
            </a:r>
          </a:p>
          <a:p>
            <a:r>
              <a:rPr lang="en-US" altLang="en-US" smtClean="0"/>
              <a:t>Dominant firms </a:t>
            </a:r>
          </a:p>
          <a:p>
            <a:pPr lvl="1"/>
            <a:r>
              <a:rPr lang="en-US" altLang="en-US" smtClean="0"/>
              <a:t>Apply for “sleeping patents” to prevent entry</a:t>
            </a:r>
          </a:p>
          <a:p>
            <a:pPr lvl="2"/>
            <a:r>
              <a:rPr lang="en-US" altLang="en-US" smtClean="0"/>
              <a:t>Patents that are never implemented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DCD6A6F-C21A-458C-BE65-AC97056F21A1}" type="slidenum">
              <a:rPr lang="en-US" smtClean="0"/>
              <a:pPr>
                <a:defRPr/>
              </a:pPr>
              <a:t>95</a:t>
            </a:fld>
            <a:endParaRPr lang="en-US"/>
          </a:p>
        </p:txBody>
      </p:sp>
    </p:spTree>
    <p:extLst>
      <p:ext uri="{BB962C8B-B14F-4D97-AF65-F5344CB8AC3E}">
        <p14:creationId xmlns:p14="http://schemas.microsoft.com/office/powerpoint/2010/main" val="149147545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p:txBody>
          <a:bodyPr/>
          <a:lstStyle/>
          <a:p>
            <a:r>
              <a:rPr lang="en-US" altLang="en-US" sz="3200" smtClean="0"/>
              <a:t>Strategic substitutes and complements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DC526DC-7D52-4F16-84E1-8832871F1242}" type="slidenum">
              <a:rPr lang="en-US" smtClean="0"/>
              <a:pPr>
                <a:defRPr/>
              </a:pPr>
              <a:t>96</a:t>
            </a:fld>
            <a:endParaRPr lang="en-US"/>
          </a:p>
        </p:txBody>
      </p:sp>
      <p:sp>
        <p:nvSpPr>
          <p:cNvPr id="104451" name="Content Placeholder 2"/>
          <p:cNvSpPr>
            <a:spLocks noGrp="1"/>
          </p:cNvSpPr>
          <p:nvPr>
            <p:ph type="body" sz="quarter" idx="12"/>
          </p:nvPr>
        </p:nvSpPr>
        <p:spPr/>
        <p:txBody>
          <a:bodyPr/>
          <a:lstStyle/>
          <a:p>
            <a:r>
              <a:rPr lang="en-US" altLang="en-US" dirty="0" smtClean="0"/>
              <a:t>Firms’ actions are strategic substitutes </a:t>
            </a:r>
          </a:p>
          <a:p>
            <a:pPr lvl="1"/>
            <a:r>
              <a:rPr lang="en-US" altLang="en-US" dirty="0" smtClean="0"/>
              <a:t>If an increase in the level of the action by one firm </a:t>
            </a:r>
          </a:p>
          <a:p>
            <a:pPr lvl="1"/>
            <a:r>
              <a:rPr lang="en-US" altLang="en-US" dirty="0" smtClean="0"/>
              <a:t>Is met by a decrease in that action by its rival</a:t>
            </a:r>
          </a:p>
          <a:p>
            <a:r>
              <a:rPr lang="en-US" altLang="en-US" dirty="0" smtClean="0"/>
              <a:t>Actions are strategic complements </a:t>
            </a:r>
          </a:p>
          <a:p>
            <a:pPr lvl="1"/>
            <a:r>
              <a:rPr lang="en-US" altLang="en-US" dirty="0" smtClean="0"/>
              <a:t>If an increase in an action by one firm </a:t>
            </a:r>
          </a:p>
          <a:p>
            <a:pPr lvl="1"/>
            <a:r>
              <a:rPr lang="en-US" altLang="en-US" dirty="0" smtClean="0"/>
              <a:t>Is met by an increase in that action by its rival</a:t>
            </a:r>
          </a:p>
        </p:txBody>
      </p:sp>
    </p:spTree>
    <p:extLst>
      <p:ext uri="{BB962C8B-B14F-4D97-AF65-F5344CB8AC3E}">
        <p14:creationId xmlns:p14="http://schemas.microsoft.com/office/powerpoint/2010/main" val="13265251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r>
              <a:rPr lang="en-US" altLang="en-US" smtClean="0"/>
              <a:t>Nash Equilibrium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5A18DC4-AEF0-4BA4-8DC1-DC51863F3157}" type="slidenum">
              <a:rPr lang="en-US" smtClean="0"/>
              <a:pPr>
                <a:defRPr/>
              </a:pPr>
              <a:t>97</a:t>
            </a:fld>
            <a:endParaRPr lang="en-US"/>
          </a:p>
        </p:txBody>
      </p:sp>
      <p:sp>
        <p:nvSpPr>
          <p:cNvPr id="105475" name="Content Placeholder 2"/>
          <p:cNvSpPr>
            <a:spLocks noGrp="1"/>
          </p:cNvSpPr>
          <p:nvPr>
            <p:ph type="body" sz="quarter" idx="12"/>
          </p:nvPr>
        </p:nvSpPr>
        <p:spPr/>
        <p:txBody>
          <a:bodyPr/>
          <a:lstStyle/>
          <a:p>
            <a:r>
              <a:rPr lang="en-US" altLang="en-US" smtClean="0"/>
              <a:t>Firm 1</a:t>
            </a:r>
          </a:p>
          <a:p>
            <a:pPr lvl="1"/>
            <a:r>
              <a:rPr lang="en-US" altLang="en-US" smtClean="0"/>
              <a:t>Profit, </a:t>
            </a:r>
            <a:r>
              <a:rPr lang="el-GR" altLang="en-US" i="1" smtClean="0">
                <a:cs typeface="Arial" charset="0"/>
              </a:rPr>
              <a:t>π</a:t>
            </a:r>
            <a:r>
              <a:rPr lang="en-US" altLang="en-US" i="1" baseline="-25000" smtClean="0"/>
              <a:t>1</a:t>
            </a:r>
            <a:r>
              <a:rPr lang="en-US" altLang="en-US" i="1" smtClean="0"/>
              <a:t>(a</a:t>
            </a:r>
            <a:r>
              <a:rPr lang="en-US" altLang="en-US" i="1" baseline="-25000" smtClean="0"/>
              <a:t>1</a:t>
            </a:r>
            <a:r>
              <a:rPr lang="en-US" altLang="en-US" i="1" smtClean="0"/>
              <a:t>,a</a:t>
            </a:r>
            <a:r>
              <a:rPr lang="en-US" altLang="en-US" i="1" baseline="-25000" smtClean="0"/>
              <a:t>2</a:t>
            </a:r>
            <a:r>
              <a:rPr lang="en-US" altLang="en-US" i="1" smtClean="0"/>
              <a:t>)</a:t>
            </a:r>
          </a:p>
          <a:p>
            <a:pPr lvl="1"/>
            <a:r>
              <a:rPr lang="en-US" altLang="en-US" smtClean="0"/>
              <a:t>Best-response function </a:t>
            </a:r>
            <a:r>
              <a:rPr lang="en-US" altLang="en-US" i="1" smtClean="0"/>
              <a:t>BR</a:t>
            </a:r>
            <a:r>
              <a:rPr lang="en-US" altLang="en-US" i="1" baseline="-25000" smtClean="0"/>
              <a:t>1</a:t>
            </a:r>
            <a:r>
              <a:rPr lang="en-US" altLang="en-US" i="1" smtClean="0"/>
              <a:t>(a</a:t>
            </a:r>
            <a:r>
              <a:rPr lang="en-US" altLang="en-US" i="1" baseline="-25000" smtClean="0"/>
              <a:t>2</a:t>
            </a:r>
            <a:r>
              <a:rPr lang="en-US" altLang="en-US" i="1" smtClean="0"/>
              <a:t>)</a:t>
            </a:r>
          </a:p>
          <a:p>
            <a:r>
              <a:rPr lang="en-US" altLang="en-US" smtClean="0"/>
              <a:t>Firm 2</a:t>
            </a:r>
          </a:p>
          <a:p>
            <a:pPr lvl="1"/>
            <a:r>
              <a:rPr lang="en-US" altLang="en-US" smtClean="0"/>
              <a:t>Profit, </a:t>
            </a:r>
            <a:r>
              <a:rPr lang="el-GR" altLang="en-US" i="1" smtClean="0">
                <a:cs typeface="Arial" charset="0"/>
              </a:rPr>
              <a:t>π</a:t>
            </a:r>
            <a:r>
              <a:rPr lang="en-US" altLang="en-US" i="1" baseline="-25000" smtClean="0"/>
              <a:t>2</a:t>
            </a:r>
            <a:r>
              <a:rPr lang="en-US" altLang="en-US" i="1" smtClean="0"/>
              <a:t>(a</a:t>
            </a:r>
            <a:r>
              <a:rPr lang="en-US" altLang="en-US" i="1" baseline="-25000" smtClean="0"/>
              <a:t>1</a:t>
            </a:r>
            <a:r>
              <a:rPr lang="en-US" altLang="en-US" i="1" smtClean="0"/>
              <a:t>,a</a:t>
            </a:r>
            <a:r>
              <a:rPr lang="en-US" altLang="en-US" i="1" baseline="-25000" smtClean="0"/>
              <a:t>2</a:t>
            </a:r>
            <a:r>
              <a:rPr lang="en-US" altLang="en-US" i="1" smtClean="0"/>
              <a:t>)</a:t>
            </a:r>
          </a:p>
          <a:p>
            <a:pPr lvl="1"/>
            <a:r>
              <a:rPr lang="en-US" altLang="en-US" smtClean="0"/>
              <a:t>Best-response function </a:t>
            </a:r>
            <a:r>
              <a:rPr lang="en-US" altLang="en-US" i="1" smtClean="0"/>
              <a:t>BR</a:t>
            </a:r>
            <a:r>
              <a:rPr lang="en-US" altLang="en-US" i="1" baseline="-25000" smtClean="0"/>
              <a:t>2</a:t>
            </a:r>
            <a:r>
              <a:rPr lang="en-US" altLang="en-US" i="1" smtClean="0"/>
              <a:t>(a</a:t>
            </a:r>
            <a:r>
              <a:rPr lang="en-US" altLang="en-US" i="1" baseline="-25000" smtClean="0"/>
              <a:t>1</a:t>
            </a:r>
            <a:r>
              <a:rPr lang="en-US" altLang="en-US" i="1" smtClean="0"/>
              <a:t>)</a:t>
            </a:r>
          </a:p>
          <a:p>
            <a:r>
              <a:rPr lang="en-US" altLang="en-US" smtClean="0"/>
              <a:t>Nash equilibrium, (</a:t>
            </a:r>
            <a:r>
              <a:rPr lang="en-US" altLang="en-US" i="1" smtClean="0"/>
              <a:t>a</a:t>
            </a:r>
            <a:r>
              <a:rPr lang="en-US" altLang="en-US" i="1" baseline="-25000" smtClean="0"/>
              <a:t>1</a:t>
            </a:r>
            <a:r>
              <a:rPr lang="en-US" altLang="en-US" i="1" smtClean="0"/>
              <a:t>*,a</a:t>
            </a:r>
            <a:r>
              <a:rPr lang="en-US" altLang="en-US" i="1" baseline="-25000" smtClean="0"/>
              <a:t>2</a:t>
            </a:r>
            <a:r>
              <a:rPr lang="en-US" altLang="en-US" i="1" smtClean="0"/>
              <a:t>*)</a:t>
            </a:r>
          </a:p>
          <a:p>
            <a:pPr lvl="1"/>
            <a:r>
              <a:rPr lang="en-US" altLang="en-US" smtClean="0"/>
              <a:t>Such that </a:t>
            </a:r>
            <a:r>
              <a:rPr lang="en-US" altLang="en-US" i="1" smtClean="0"/>
              <a:t>a</a:t>
            </a:r>
            <a:r>
              <a:rPr lang="en-US" altLang="en-US" i="1" baseline="-25000" smtClean="0"/>
              <a:t>1</a:t>
            </a:r>
            <a:r>
              <a:rPr lang="en-US" altLang="en-US" i="1" smtClean="0"/>
              <a:t>* = BR</a:t>
            </a:r>
            <a:r>
              <a:rPr lang="en-US" altLang="en-US" i="1" baseline="-25000" smtClean="0"/>
              <a:t>1</a:t>
            </a:r>
            <a:r>
              <a:rPr lang="en-US" altLang="en-US" i="1" smtClean="0"/>
              <a:t>(a</a:t>
            </a:r>
            <a:r>
              <a:rPr lang="en-US" altLang="en-US" i="1" baseline="-25000" smtClean="0"/>
              <a:t>2</a:t>
            </a:r>
            <a:r>
              <a:rPr lang="en-US" altLang="en-US" i="1" smtClean="0"/>
              <a:t>*) </a:t>
            </a:r>
            <a:r>
              <a:rPr lang="en-US" altLang="en-US" smtClean="0"/>
              <a:t>and </a:t>
            </a:r>
            <a:r>
              <a:rPr lang="en-US" altLang="en-US" i="1" smtClean="0"/>
              <a:t>a</a:t>
            </a:r>
            <a:r>
              <a:rPr lang="en-US" altLang="en-US" i="1" baseline="-25000" smtClean="0"/>
              <a:t>2</a:t>
            </a:r>
            <a:r>
              <a:rPr lang="en-US" altLang="en-US" i="1" smtClean="0"/>
              <a:t>* = BR</a:t>
            </a:r>
            <a:r>
              <a:rPr lang="en-US" altLang="en-US" i="1" baseline="-25000" smtClean="0"/>
              <a:t>2</a:t>
            </a:r>
            <a:r>
              <a:rPr lang="en-US" altLang="en-US" i="1" smtClean="0"/>
              <a:t>(a</a:t>
            </a:r>
            <a:r>
              <a:rPr lang="en-US" altLang="en-US" i="1" baseline="-25000" smtClean="0"/>
              <a:t>1</a:t>
            </a:r>
            <a:r>
              <a:rPr lang="en-US" altLang="en-US" i="1" smtClean="0"/>
              <a:t>*)</a:t>
            </a:r>
          </a:p>
        </p:txBody>
      </p:sp>
    </p:spTree>
    <p:extLst>
      <p:ext uri="{BB962C8B-B14F-4D97-AF65-F5344CB8AC3E}">
        <p14:creationId xmlns:p14="http://schemas.microsoft.com/office/powerpoint/2010/main" val="2203712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r>
              <a:rPr lang="en-US" altLang="en-US" sz="3200" smtClean="0"/>
              <a:t>Best-response functions in more detail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5DDC2D0-1A5F-4AA7-BA9D-27806D65A7E2}" type="slidenum">
              <a:rPr lang="en-US" smtClean="0"/>
              <a:pPr>
                <a:defRPr/>
              </a:pPr>
              <a:t>98</a:t>
            </a:fld>
            <a:endParaRPr lang="en-US"/>
          </a:p>
        </p:txBody>
      </p:sp>
      <p:sp>
        <p:nvSpPr>
          <p:cNvPr id="106499" name="Content Placeholder 2"/>
          <p:cNvSpPr>
            <a:spLocks noGrp="1"/>
          </p:cNvSpPr>
          <p:nvPr>
            <p:ph type="body" sz="quarter" idx="12"/>
          </p:nvPr>
        </p:nvSpPr>
        <p:spPr/>
        <p:txBody>
          <a:bodyPr/>
          <a:lstStyle/>
          <a:p>
            <a:pPr lvl="1"/>
            <a:r>
              <a:rPr lang="en-US" altLang="en-US" smtClean="0"/>
              <a:t>First-order condition for firm 1’s action choice: </a:t>
            </a:r>
            <a:r>
              <a:rPr lang="el-GR" altLang="en-US" i="1" smtClean="0">
                <a:cs typeface="Arial" charset="0"/>
              </a:rPr>
              <a:t>π</a:t>
            </a:r>
            <a:r>
              <a:rPr lang="en-US" altLang="en-US" i="1" baseline="-25000" smtClean="0">
                <a:cs typeface="Arial" charset="0"/>
              </a:rPr>
              <a:t>1</a:t>
            </a:r>
            <a:r>
              <a:rPr lang="en-US" altLang="en-US" i="1" baseline="30000" smtClean="0">
                <a:cs typeface="Arial" charset="0"/>
              </a:rPr>
              <a:t>1</a:t>
            </a:r>
            <a:r>
              <a:rPr lang="en-US" altLang="en-US" i="1" smtClean="0">
                <a:cs typeface="Arial" charset="0"/>
              </a:rPr>
              <a:t>(a</a:t>
            </a:r>
            <a:r>
              <a:rPr lang="en-US" altLang="en-US" i="1" baseline="-25000" smtClean="0">
                <a:cs typeface="Arial" charset="0"/>
              </a:rPr>
              <a:t>1</a:t>
            </a:r>
            <a:r>
              <a:rPr lang="en-US" altLang="en-US" i="1" smtClean="0">
                <a:cs typeface="Arial" charset="0"/>
              </a:rPr>
              <a:t>,a</a:t>
            </a:r>
            <a:r>
              <a:rPr lang="en-US" altLang="en-US" i="1" baseline="-25000" smtClean="0">
                <a:cs typeface="Arial" charset="0"/>
              </a:rPr>
              <a:t>2</a:t>
            </a:r>
            <a:r>
              <a:rPr lang="en-US" altLang="en-US" i="1" smtClean="0">
                <a:cs typeface="Arial" charset="0"/>
              </a:rPr>
              <a:t>)</a:t>
            </a:r>
            <a:r>
              <a:rPr lang="en-US" altLang="en-US" smtClean="0">
                <a:cs typeface="Arial" charset="0"/>
              </a:rPr>
              <a:t>=0</a:t>
            </a:r>
          </a:p>
          <a:p>
            <a:pPr lvl="1"/>
            <a:r>
              <a:rPr lang="en-US" altLang="en-US" smtClean="0"/>
              <a:t>Assume that the profit function is concave: </a:t>
            </a:r>
            <a:r>
              <a:rPr lang="el-GR" altLang="en-US" i="1" smtClean="0">
                <a:cs typeface="Arial" charset="0"/>
              </a:rPr>
              <a:t>π</a:t>
            </a:r>
            <a:r>
              <a:rPr lang="en-US" altLang="en-US" i="1" baseline="-25000" smtClean="0">
                <a:cs typeface="Arial" charset="0"/>
              </a:rPr>
              <a:t>11</a:t>
            </a:r>
            <a:r>
              <a:rPr lang="en-US" altLang="en-US" i="1" baseline="30000" smtClean="0">
                <a:cs typeface="Arial" charset="0"/>
              </a:rPr>
              <a:t>1</a:t>
            </a:r>
            <a:r>
              <a:rPr lang="en-US" altLang="en-US" i="1" smtClean="0">
                <a:cs typeface="Arial" charset="0"/>
              </a:rPr>
              <a:t>(a</a:t>
            </a:r>
            <a:r>
              <a:rPr lang="en-US" altLang="en-US" i="1" baseline="-25000" smtClean="0">
                <a:cs typeface="Arial" charset="0"/>
              </a:rPr>
              <a:t>1</a:t>
            </a:r>
            <a:r>
              <a:rPr lang="en-US" altLang="en-US" i="1" smtClean="0">
                <a:cs typeface="Arial" charset="0"/>
              </a:rPr>
              <a:t>,a</a:t>
            </a:r>
            <a:r>
              <a:rPr lang="en-US" altLang="en-US" i="1" baseline="-25000" smtClean="0">
                <a:cs typeface="Arial" charset="0"/>
              </a:rPr>
              <a:t>2</a:t>
            </a:r>
            <a:r>
              <a:rPr lang="en-US" altLang="en-US" i="1" smtClean="0">
                <a:cs typeface="Arial" charset="0"/>
              </a:rPr>
              <a:t>)&lt;</a:t>
            </a:r>
            <a:r>
              <a:rPr lang="en-US" altLang="en-US" smtClean="0">
                <a:cs typeface="Arial" charset="0"/>
              </a:rPr>
              <a:t>0</a:t>
            </a:r>
          </a:p>
          <a:p>
            <a:pPr lvl="1"/>
            <a:r>
              <a:rPr lang="en-US" altLang="en-US" smtClean="0">
                <a:cs typeface="Arial" charset="0"/>
              </a:rPr>
              <a:t>Unique maximum: </a:t>
            </a:r>
            <a:r>
              <a:rPr lang="en-US" altLang="en-US" i="1" smtClean="0">
                <a:cs typeface="Arial" charset="0"/>
              </a:rPr>
              <a:t>a</a:t>
            </a:r>
            <a:r>
              <a:rPr lang="en-US" altLang="en-US" i="1" baseline="-25000" smtClean="0">
                <a:cs typeface="Arial" charset="0"/>
              </a:rPr>
              <a:t>1</a:t>
            </a:r>
            <a:r>
              <a:rPr lang="en-US" altLang="en-US" i="1" smtClean="0">
                <a:cs typeface="Arial" charset="0"/>
              </a:rPr>
              <a:t> = BR</a:t>
            </a:r>
            <a:r>
              <a:rPr lang="en-US" altLang="en-US" i="1" baseline="-25000" smtClean="0">
                <a:cs typeface="Arial" charset="0"/>
              </a:rPr>
              <a:t>1</a:t>
            </a:r>
            <a:r>
              <a:rPr lang="en-US" altLang="en-US" i="1" smtClean="0">
                <a:cs typeface="Arial" charset="0"/>
              </a:rPr>
              <a:t>(a</a:t>
            </a:r>
            <a:r>
              <a:rPr lang="en-US" altLang="en-US" i="1" baseline="-25000" smtClean="0">
                <a:cs typeface="Arial" charset="0"/>
              </a:rPr>
              <a:t>2</a:t>
            </a:r>
            <a:r>
              <a:rPr lang="en-US" altLang="en-US" i="1" smtClean="0">
                <a:cs typeface="Arial" charset="0"/>
              </a:rPr>
              <a:t>) </a:t>
            </a:r>
          </a:p>
          <a:p>
            <a:r>
              <a:rPr lang="en-US" altLang="en-US" smtClean="0"/>
              <a:t> </a:t>
            </a:r>
            <a:r>
              <a:rPr lang="en-US" altLang="en-US" i="1" smtClean="0"/>
              <a:t>a</a:t>
            </a:r>
            <a:r>
              <a:rPr lang="en-US" altLang="en-US" baseline="-25000" smtClean="0"/>
              <a:t>1</a:t>
            </a:r>
            <a:r>
              <a:rPr lang="en-US" altLang="en-US" smtClean="0"/>
              <a:t> and </a:t>
            </a:r>
            <a:r>
              <a:rPr lang="en-US" altLang="en-US" i="1" smtClean="0"/>
              <a:t>a</a:t>
            </a:r>
            <a:r>
              <a:rPr lang="en-US" altLang="en-US" baseline="-25000" smtClean="0"/>
              <a:t>2</a:t>
            </a:r>
            <a:r>
              <a:rPr lang="en-US" altLang="en-US" smtClean="0"/>
              <a:t> are strategic substitutes </a:t>
            </a:r>
          </a:p>
          <a:p>
            <a:pPr lvl="1"/>
            <a:r>
              <a:rPr lang="en-US" altLang="en-US" smtClean="0"/>
              <a:t>If best responses are downward sloping</a:t>
            </a:r>
          </a:p>
          <a:p>
            <a:r>
              <a:rPr lang="en-US" altLang="en-US" smtClean="0"/>
              <a:t> </a:t>
            </a:r>
            <a:r>
              <a:rPr lang="en-US" altLang="en-US" i="1" smtClean="0"/>
              <a:t>a</a:t>
            </a:r>
            <a:r>
              <a:rPr lang="en-US" altLang="en-US" baseline="-25000" smtClean="0"/>
              <a:t>1</a:t>
            </a:r>
            <a:r>
              <a:rPr lang="en-US" altLang="en-US" smtClean="0"/>
              <a:t> and </a:t>
            </a:r>
            <a:r>
              <a:rPr lang="en-US" altLang="en-US" i="1" smtClean="0"/>
              <a:t>a</a:t>
            </a:r>
            <a:r>
              <a:rPr lang="en-US" altLang="en-US" baseline="-25000" smtClean="0"/>
              <a:t>2</a:t>
            </a:r>
            <a:r>
              <a:rPr lang="en-US" altLang="en-US" smtClean="0"/>
              <a:t> are strategic complements</a:t>
            </a:r>
          </a:p>
          <a:p>
            <a:pPr lvl="1"/>
            <a:r>
              <a:rPr lang="en-US" altLang="en-US" smtClean="0"/>
              <a:t>If best responses are upward sloping</a:t>
            </a:r>
          </a:p>
        </p:txBody>
      </p:sp>
    </p:spTree>
    <p:extLst>
      <p:ext uri="{BB962C8B-B14F-4D97-AF65-F5344CB8AC3E}">
        <p14:creationId xmlns:p14="http://schemas.microsoft.com/office/powerpoint/2010/main" val="34459294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r>
              <a:rPr lang="en-US" altLang="en-US" smtClean="0"/>
              <a:t>Inferences from the profit function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E351DB6-3AAD-41A5-9F7C-D132A7383CFC}" type="slidenum">
              <a:rPr lang="en-US" smtClean="0"/>
              <a:pPr>
                <a:defRPr/>
              </a:pPr>
              <a:t>99</a:t>
            </a:fld>
            <a:endParaRPr lang="en-US"/>
          </a:p>
        </p:txBody>
      </p:sp>
      <p:sp>
        <p:nvSpPr>
          <p:cNvPr id="107523" name="Content Placeholder 2"/>
          <p:cNvSpPr>
            <a:spLocks noGrp="1"/>
          </p:cNvSpPr>
          <p:nvPr>
            <p:ph type="body" sz="quarter" idx="12"/>
          </p:nvPr>
        </p:nvSpPr>
        <p:spPr/>
        <p:txBody>
          <a:bodyPr/>
          <a:lstStyle/>
          <a:p>
            <a:r>
              <a:rPr lang="en-US" altLang="en-US" smtClean="0"/>
              <a:t>Determine whether actions are strategic substitutes or complements </a:t>
            </a:r>
          </a:p>
          <a:p>
            <a:pPr lvl="1"/>
            <a:r>
              <a:rPr lang="en-US" altLang="en-US" smtClean="0"/>
              <a:t>By drawing inferences directly from the profit function</a:t>
            </a:r>
          </a:p>
          <a:p>
            <a:pPr lvl="1"/>
            <a:r>
              <a:rPr lang="en-US" altLang="en-US" smtClean="0"/>
              <a:t>First-order condition: </a:t>
            </a:r>
            <a:r>
              <a:rPr lang="el-GR" altLang="en-US" i="1" smtClean="0">
                <a:cs typeface="Arial" charset="0"/>
              </a:rPr>
              <a:t>π</a:t>
            </a:r>
            <a:r>
              <a:rPr lang="en-US" altLang="en-US" i="1" baseline="-25000" smtClean="0">
                <a:cs typeface="Arial" charset="0"/>
              </a:rPr>
              <a:t>1</a:t>
            </a:r>
            <a:r>
              <a:rPr lang="en-US" altLang="en-US" i="1" baseline="30000" smtClean="0">
                <a:cs typeface="Arial" charset="0"/>
              </a:rPr>
              <a:t>1</a:t>
            </a:r>
            <a:r>
              <a:rPr lang="en-US" altLang="en-US" i="1" smtClean="0">
                <a:cs typeface="Arial" charset="0"/>
              </a:rPr>
              <a:t>(a</a:t>
            </a:r>
            <a:r>
              <a:rPr lang="en-US" altLang="en-US" i="1" baseline="-25000" smtClean="0">
                <a:cs typeface="Arial" charset="0"/>
              </a:rPr>
              <a:t>1</a:t>
            </a:r>
            <a:r>
              <a:rPr lang="en-US" altLang="en-US" i="1" smtClean="0">
                <a:cs typeface="Arial" charset="0"/>
              </a:rPr>
              <a:t>,a</a:t>
            </a:r>
            <a:r>
              <a:rPr lang="en-US" altLang="en-US" i="1" baseline="-25000" smtClean="0">
                <a:cs typeface="Arial" charset="0"/>
              </a:rPr>
              <a:t>2</a:t>
            </a:r>
            <a:r>
              <a:rPr lang="en-US" altLang="en-US" i="1" smtClean="0">
                <a:cs typeface="Arial" charset="0"/>
              </a:rPr>
              <a:t>)=</a:t>
            </a:r>
            <a:r>
              <a:rPr lang="en-US" altLang="en-US" smtClean="0">
                <a:cs typeface="Arial" charset="0"/>
              </a:rPr>
              <a:t>0, or </a:t>
            </a:r>
            <a:r>
              <a:rPr lang="el-GR" altLang="en-US" i="1" smtClean="0">
                <a:cs typeface="Arial" charset="0"/>
              </a:rPr>
              <a:t>π</a:t>
            </a:r>
            <a:r>
              <a:rPr lang="en-US" altLang="en-US" i="1" baseline="-25000" smtClean="0">
                <a:cs typeface="Arial" charset="0"/>
              </a:rPr>
              <a:t>1</a:t>
            </a:r>
            <a:r>
              <a:rPr lang="en-US" altLang="en-US" i="1" baseline="30000" smtClean="0">
                <a:cs typeface="Arial" charset="0"/>
              </a:rPr>
              <a:t>1</a:t>
            </a:r>
            <a:r>
              <a:rPr lang="en-US" altLang="en-US" i="1" smtClean="0">
                <a:cs typeface="Arial" charset="0"/>
              </a:rPr>
              <a:t>(BR</a:t>
            </a:r>
            <a:r>
              <a:rPr lang="en-US" altLang="en-US" i="1" baseline="-25000" smtClean="0">
                <a:cs typeface="Arial" charset="0"/>
              </a:rPr>
              <a:t>1</a:t>
            </a:r>
            <a:r>
              <a:rPr lang="en-US" altLang="en-US" i="1" smtClean="0">
                <a:cs typeface="Arial" charset="0"/>
              </a:rPr>
              <a:t>(a</a:t>
            </a:r>
            <a:r>
              <a:rPr lang="en-US" altLang="en-US" i="1" baseline="-25000" smtClean="0">
                <a:cs typeface="Arial" charset="0"/>
              </a:rPr>
              <a:t>2</a:t>
            </a:r>
            <a:r>
              <a:rPr lang="en-US" altLang="en-US" i="1" smtClean="0">
                <a:cs typeface="Arial" charset="0"/>
              </a:rPr>
              <a:t>),a</a:t>
            </a:r>
            <a:r>
              <a:rPr lang="en-US" altLang="en-US" i="1" baseline="-25000" smtClean="0">
                <a:cs typeface="Arial" charset="0"/>
              </a:rPr>
              <a:t>2</a:t>
            </a:r>
            <a:r>
              <a:rPr lang="en-US" altLang="en-US" i="1" smtClean="0">
                <a:cs typeface="Arial" charset="0"/>
              </a:rPr>
              <a:t>)=</a:t>
            </a:r>
            <a:r>
              <a:rPr lang="en-US" altLang="en-US" smtClean="0">
                <a:cs typeface="Arial" charset="0"/>
              </a:rPr>
              <a:t>0</a:t>
            </a:r>
          </a:p>
          <a:p>
            <a:pPr lvl="1"/>
            <a:r>
              <a:rPr lang="en-US" altLang="en-US" smtClean="0">
                <a:cs typeface="Arial" charset="0"/>
              </a:rPr>
              <a:t>Differentiate with respect to </a:t>
            </a:r>
            <a:r>
              <a:rPr lang="en-US" altLang="en-US" i="1" smtClean="0">
                <a:cs typeface="Arial" charset="0"/>
              </a:rPr>
              <a:t>a</a:t>
            </a:r>
            <a:r>
              <a:rPr lang="en-US" altLang="en-US" baseline="-25000" smtClean="0">
                <a:cs typeface="Arial" charset="0"/>
              </a:rPr>
              <a:t>2</a:t>
            </a:r>
            <a:r>
              <a:rPr lang="en-US" altLang="en-US" smtClean="0">
                <a:cs typeface="Arial" charset="0"/>
              </a:rPr>
              <a:t>: </a:t>
            </a:r>
            <a:r>
              <a:rPr lang="el-GR" altLang="en-US" i="1" smtClean="0">
                <a:cs typeface="Arial" charset="0"/>
              </a:rPr>
              <a:t>π</a:t>
            </a:r>
            <a:r>
              <a:rPr lang="en-US" altLang="en-US" i="1" baseline="-25000" smtClean="0">
                <a:cs typeface="Arial" charset="0"/>
              </a:rPr>
              <a:t>11</a:t>
            </a:r>
            <a:r>
              <a:rPr lang="en-US" altLang="en-US" i="1" baseline="30000" smtClean="0">
                <a:cs typeface="Arial" charset="0"/>
              </a:rPr>
              <a:t>1 </a:t>
            </a:r>
            <a:r>
              <a:rPr lang="en-US" altLang="en-US" i="1" smtClean="0">
                <a:cs typeface="Arial" charset="0"/>
              </a:rPr>
              <a:t>BR’</a:t>
            </a:r>
            <a:r>
              <a:rPr lang="en-US" altLang="en-US" i="1" baseline="-25000" smtClean="0">
                <a:cs typeface="Arial" charset="0"/>
              </a:rPr>
              <a:t>1</a:t>
            </a:r>
            <a:r>
              <a:rPr lang="en-US" altLang="en-US" i="1" smtClean="0">
                <a:cs typeface="Arial" charset="0"/>
              </a:rPr>
              <a:t>+</a:t>
            </a:r>
            <a:r>
              <a:rPr lang="el-GR" altLang="en-US" i="1" smtClean="0">
                <a:cs typeface="Arial" charset="0"/>
              </a:rPr>
              <a:t> π</a:t>
            </a:r>
            <a:r>
              <a:rPr lang="en-US" altLang="en-US" i="1" baseline="-25000" smtClean="0">
                <a:cs typeface="Arial" charset="0"/>
              </a:rPr>
              <a:t>12</a:t>
            </a:r>
            <a:r>
              <a:rPr lang="en-US" altLang="en-US" i="1" baseline="30000" smtClean="0">
                <a:cs typeface="Arial" charset="0"/>
              </a:rPr>
              <a:t>1</a:t>
            </a:r>
            <a:r>
              <a:rPr lang="en-US" altLang="en-US" i="1" smtClean="0">
                <a:cs typeface="Arial" charset="0"/>
              </a:rPr>
              <a:t>=0, </a:t>
            </a:r>
            <a:r>
              <a:rPr lang="en-US" altLang="en-US" smtClean="0">
                <a:cs typeface="Arial" charset="0"/>
              </a:rPr>
              <a:t>or</a:t>
            </a:r>
            <a:r>
              <a:rPr lang="en-US" altLang="en-US" i="1" smtClean="0">
                <a:cs typeface="Arial" charset="0"/>
              </a:rPr>
              <a:t> BR’</a:t>
            </a:r>
            <a:r>
              <a:rPr lang="en-US" altLang="en-US" i="1" baseline="-25000" smtClean="0">
                <a:cs typeface="Arial" charset="0"/>
              </a:rPr>
              <a:t>1</a:t>
            </a:r>
            <a:r>
              <a:rPr lang="en-US" altLang="en-US" i="1" smtClean="0">
                <a:cs typeface="Arial" charset="0"/>
              </a:rPr>
              <a:t>= - </a:t>
            </a:r>
            <a:r>
              <a:rPr lang="el-GR" altLang="en-US" i="1" smtClean="0">
                <a:cs typeface="Arial" charset="0"/>
              </a:rPr>
              <a:t>π</a:t>
            </a:r>
            <a:r>
              <a:rPr lang="en-US" altLang="en-US" i="1" baseline="-25000" smtClean="0">
                <a:cs typeface="Arial" charset="0"/>
              </a:rPr>
              <a:t>12</a:t>
            </a:r>
            <a:r>
              <a:rPr lang="en-US" altLang="en-US" i="1" baseline="30000" smtClean="0">
                <a:cs typeface="Arial" charset="0"/>
              </a:rPr>
              <a:t>1</a:t>
            </a:r>
            <a:r>
              <a:rPr lang="en-US" altLang="en-US" i="1" smtClean="0">
                <a:cs typeface="Arial" charset="0"/>
              </a:rPr>
              <a:t>/</a:t>
            </a:r>
            <a:r>
              <a:rPr lang="el-GR" altLang="en-US" i="1" smtClean="0">
                <a:cs typeface="Arial" charset="0"/>
              </a:rPr>
              <a:t> π</a:t>
            </a:r>
            <a:r>
              <a:rPr lang="en-US" altLang="en-US" i="1" baseline="-25000" smtClean="0">
                <a:cs typeface="Arial" charset="0"/>
              </a:rPr>
              <a:t>11</a:t>
            </a:r>
            <a:r>
              <a:rPr lang="en-US" altLang="en-US" i="1" baseline="30000" smtClean="0">
                <a:cs typeface="Arial" charset="0"/>
              </a:rPr>
              <a:t>1 </a:t>
            </a:r>
          </a:p>
          <a:p>
            <a:pPr lvl="1"/>
            <a:r>
              <a:rPr lang="en-US" altLang="en-US" i="1" smtClean="0">
                <a:cs typeface="Arial" charset="0"/>
              </a:rPr>
              <a:t>BR’</a:t>
            </a:r>
            <a:r>
              <a:rPr lang="en-US" altLang="en-US" i="1" baseline="-25000" smtClean="0">
                <a:cs typeface="Arial" charset="0"/>
              </a:rPr>
              <a:t>1</a:t>
            </a:r>
            <a:r>
              <a:rPr lang="en-US" altLang="en-US" smtClean="0">
                <a:cs typeface="Arial" charset="0"/>
              </a:rPr>
              <a:t> has the same sign as </a:t>
            </a:r>
            <a:r>
              <a:rPr lang="el-GR" altLang="en-US" i="1" smtClean="0">
                <a:cs typeface="Arial" charset="0"/>
              </a:rPr>
              <a:t>π</a:t>
            </a:r>
            <a:r>
              <a:rPr lang="en-US" altLang="en-US" i="1" baseline="-25000" smtClean="0">
                <a:cs typeface="Arial" charset="0"/>
              </a:rPr>
              <a:t>12</a:t>
            </a:r>
            <a:r>
              <a:rPr lang="en-US" altLang="en-US" i="1" baseline="30000" smtClean="0">
                <a:cs typeface="Arial" charset="0"/>
              </a:rPr>
              <a:t>1</a:t>
            </a:r>
            <a:r>
              <a:rPr lang="en-US" altLang="en-US" i="1" smtClean="0">
                <a:cs typeface="Arial" charset="0"/>
              </a:rPr>
              <a:t> </a:t>
            </a:r>
            <a:endParaRPr lang="en-US" altLang="en-US" i="1" smtClean="0"/>
          </a:p>
        </p:txBody>
      </p:sp>
    </p:spTree>
    <p:extLst>
      <p:ext uri="{BB962C8B-B14F-4D97-AF65-F5344CB8AC3E}">
        <p14:creationId xmlns:p14="http://schemas.microsoft.com/office/powerpoint/2010/main" val="14366822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r>
              <a:rPr lang="en-US" altLang="en-US" smtClean="0"/>
              <a:t>Cournot model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722D0FF-97C8-41EB-86CE-1834ABA74E53}" type="slidenum">
              <a:rPr lang="en-US" smtClean="0"/>
              <a:pPr>
                <a:defRPr/>
              </a:pPr>
              <a:t>100</a:t>
            </a:fld>
            <a:endParaRPr lang="en-US"/>
          </a:p>
        </p:txBody>
      </p:sp>
      <p:sp>
        <p:nvSpPr>
          <p:cNvPr id="108547" name="Content Placeholder 2"/>
          <p:cNvSpPr>
            <a:spLocks noGrp="1"/>
          </p:cNvSpPr>
          <p:nvPr>
            <p:ph type="body" sz="quarter" idx="12"/>
          </p:nvPr>
        </p:nvSpPr>
        <p:spPr/>
        <p:txBody>
          <a:bodyPr/>
          <a:lstStyle/>
          <a:p>
            <a:r>
              <a:rPr lang="en-US" altLang="en-US" dirty="0" smtClean="0"/>
              <a:t>Profits: </a:t>
            </a: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)-C(q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a:t>
            </a:r>
          </a:p>
          <a:p>
            <a:pPr lvl="1"/>
            <a:r>
              <a:rPr lang="en-US" altLang="en-US" dirty="0" smtClean="0">
                <a:cs typeface="Arial" charset="0"/>
              </a:rPr>
              <a:t>First-order condition: </a:t>
            </a:r>
          </a:p>
          <a:p>
            <a:pPr lvl="1" algn="ctr">
              <a:buFont typeface="Arial" charset="0"/>
              <a:buNone/>
            </a:pP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baseline="30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q</a:t>
            </a:r>
            <a:r>
              <a:rPr lang="en-US" altLang="en-US" i="1" baseline="-25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P’(q</a:t>
            </a:r>
            <a:r>
              <a:rPr lang="en-US" altLang="en-US" i="1" baseline="-25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 P(q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 C’(q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1"/>
            <a:r>
              <a:rPr lang="en-US" altLang="en-US" dirty="0" smtClean="0">
                <a:cs typeface="Arial" charset="0"/>
              </a:rPr>
              <a:t>The derivative with respect to </a:t>
            </a:r>
            <a:r>
              <a:rPr lang="en-US" altLang="en-US" i="1" dirty="0" smtClean="0">
                <a:cs typeface="Arial" charset="0"/>
              </a:rPr>
              <a:t>q</a:t>
            </a:r>
            <a:r>
              <a:rPr lang="en-US" altLang="en-US" baseline="-25000" dirty="0" smtClean="0">
                <a:cs typeface="Arial" charset="0"/>
              </a:rPr>
              <a:t>2</a:t>
            </a:r>
            <a:r>
              <a:rPr lang="en-US" altLang="en-US" dirty="0" smtClean="0">
                <a:cs typeface="Arial" charset="0"/>
              </a:rPr>
              <a:t>: </a:t>
            </a:r>
          </a:p>
          <a:p>
            <a:pPr lvl="1" algn="ctr">
              <a:buFont typeface="Arial" charset="0"/>
              <a:buNone/>
            </a:pP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25000" dirty="0" smtClean="0">
                <a:solidFill>
                  <a:srgbClr val="FF0000"/>
                </a:solidFill>
                <a:latin typeface="Times New Roman" panose="02020603050405020304" pitchFamily="18" charset="0"/>
                <a:cs typeface="Times New Roman" panose="02020603050405020304" pitchFamily="18" charset="0"/>
              </a:rPr>
              <a:t>12</a:t>
            </a:r>
            <a:r>
              <a:rPr lang="en-US" altLang="en-US" i="1" baseline="30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q</a:t>
            </a:r>
            <a:r>
              <a:rPr lang="en-US" altLang="en-US" i="1" baseline="-25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P’’ + P’</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1"/>
            <a:r>
              <a:rPr lang="en-US" altLang="en-US" dirty="0" smtClean="0"/>
              <a:t>The sign of </a:t>
            </a:r>
            <a:r>
              <a:rPr lang="el-GR" altLang="en-US" i="1" dirty="0" smtClean="0">
                <a:cs typeface="Arial" charset="0"/>
              </a:rPr>
              <a:t>π</a:t>
            </a:r>
            <a:r>
              <a:rPr lang="en-US" altLang="en-US" i="1" baseline="-25000" dirty="0" smtClean="0">
                <a:cs typeface="Arial" charset="0"/>
              </a:rPr>
              <a:t>12</a:t>
            </a:r>
            <a:r>
              <a:rPr lang="en-US" altLang="en-US" i="1" baseline="30000" dirty="0" smtClean="0">
                <a:cs typeface="Arial" charset="0"/>
              </a:rPr>
              <a:t>1 </a:t>
            </a:r>
            <a:r>
              <a:rPr lang="en-US" altLang="en-US" dirty="0" smtClean="0">
                <a:cs typeface="Arial" charset="0"/>
              </a:rPr>
              <a:t> will depend on the sign of </a:t>
            </a:r>
            <a:r>
              <a:rPr lang="en-US" altLang="en-US" i="1" dirty="0" smtClean="0">
                <a:cs typeface="Arial" charset="0"/>
              </a:rPr>
              <a:t>P’’</a:t>
            </a:r>
          </a:p>
          <a:p>
            <a:pPr lvl="2"/>
            <a:r>
              <a:rPr lang="en-US" altLang="en-US" i="1" dirty="0" smtClean="0">
                <a:cs typeface="Arial" charset="0"/>
              </a:rPr>
              <a:t>P’</a:t>
            </a:r>
            <a:r>
              <a:rPr lang="en-US" altLang="en-US" dirty="0" smtClean="0">
                <a:cs typeface="Arial" charset="0"/>
              </a:rPr>
              <a:t>&lt;0</a:t>
            </a:r>
          </a:p>
          <a:p>
            <a:pPr lvl="2"/>
            <a:r>
              <a:rPr lang="en-US" altLang="en-US" dirty="0" smtClean="0">
                <a:cs typeface="Arial" charset="0"/>
              </a:rPr>
              <a:t>If </a:t>
            </a:r>
            <a:r>
              <a:rPr lang="en-US" altLang="en-US" i="1" dirty="0" smtClean="0">
                <a:cs typeface="Arial" charset="0"/>
              </a:rPr>
              <a:t>P’’=</a:t>
            </a:r>
            <a:r>
              <a:rPr lang="en-US" altLang="en-US" dirty="0" smtClean="0">
                <a:cs typeface="Arial" charset="0"/>
              </a:rPr>
              <a:t>0 (linear demand), then </a:t>
            </a:r>
            <a:r>
              <a:rPr lang="el-GR" altLang="en-US" i="1" dirty="0" smtClean="0">
                <a:cs typeface="Arial" charset="0"/>
              </a:rPr>
              <a:t>π</a:t>
            </a:r>
            <a:r>
              <a:rPr lang="en-US" altLang="en-US" i="1" baseline="-25000" dirty="0" smtClean="0">
                <a:cs typeface="Arial" charset="0"/>
              </a:rPr>
              <a:t>12</a:t>
            </a:r>
            <a:r>
              <a:rPr lang="en-US" altLang="en-US" i="1" baseline="30000" dirty="0" smtClean="0">
                <a:cs typeface="Arial" charset="0"/>
              </a:rPr>
              <a:t>1 </a:t>
            </a:r>
            <a:r>
              <a:rPr lang="en-US" altLang="en-US" dirty="0" smtClean="0">
                <a:cs typeface="Arial" charset="0"/>
              </a:rPr>
              <a:t>is negative</a:t>
            </a:r>
            <a:endParaRPr lang="en-US" altLang="en-US" dirty="0" smtClean="0"/>
          </a:p>
        </p:txBody>
      </p:sp>
    </p:spTree>
    <p:extLst>
      <p:ext uri="{BB962C8B-B14F-4D97-AF65-F5344CB8AC3E}">
        <p14:creationId xmlns:p14="http://schemas.microsoft.com/office/powerpoint/2010/main" val="11329081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r>
              <a:rPr lang="en-US" altLang="en-US" sz="3200" dirty="0" smtClean="0"/>
              <a:t>Bertrand model </a:t>
            </a:r>
            <a:r>
              <a:rPr lang="en-US" altLang="en-US" sz="3200" dirty="0" smtClean="0"/>
              <a:t>w/ </a:t>
            </a:r>
            <a:r>
              <a:rPr lang="en-US" altLang="en-US" sz="3200" dirty="0" smtClean="0"/>
              <a:t>differentiated products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11584C0-E687-459E-AE03-E38C4AB4E722}" type="slidenum">
              <a:rPr lang="en-US" smtClean="0"/>
              <a:pPr>
                <a:defRPr/>
              </a:pPr>
              <a:t>101</a:t>
            </a:fld>
            <a:endParaRPr lang="en-US"/>
          </a:p>
        </p:txBody>
      </p:sp>
      <p:sp>
        <p:nvSpPr>
          <p:cNvPr id="109571" name="Content Placeholder 2"/>
          <p:cNvSpPr>
            <a:spLocks noGrp="1"/>
          </p:cNvSpPr>
          <p:nvPr>
            <p:ph type="body" sz="quarter" idx="12"/>
          </p:nvPr>
        </p:nvSpPr>
        <p:spPr>
          <a:xfrm>
            <a:off x="381000" y="533400"/>
            <a:ext cx="8458200" cy="5867400"/>
          </a:xfrm>
        </p:spPr>
        <p:txBody>
          <a:bodyPr/>
          <a:lstStyle/>
          <a:p>
            <a:r>
              <a:rPr lang="en-US" altLang="en-US" dirty="0" smtClean="0"/>
              <a:t>Demand: </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D</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a:t>
            </a:r>
          </a:p>
          <a:p>
            <a:r>
              <a:rPr lang="en-US" altLang="en-US" dirty="0" smtClean="0"/>
              <a:t>Profit: </a:t>
            </a:r>
          </a:p>
          <a:p>
            <a:pPr lvl="1" algn="ctr">
              <a:buFont typeface="Arial" charset="0"/>
              <a:buNone/>
            </a:pP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30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C(q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D</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a:t>
            </a:r>
            <a:r>
              <a:rPr lang="en-US" altLang="en-US" i="1" baseline="-25000" dirty="0" smtClean="0">
                <a:solidFill>
                  <a:srgbClr val="FF0000"/>
                </a:solidFill>
                <a:latin typeface="Times New Roman" panose="02020603050405020304" pitchFamily="18" charset="0"/>
                <a:cs typeface="Times New Roman" panose="02020603050405020304" pitchFamily="18" charset="0"/>
              </a:rPr>
              <a:t> </a:t>
            </a:r>
            <a:r>
              <a:rPr lang="en-US" altLang="en-US" i="1" dirty="0" smtClean="0">
                <a:solidFill>
                  <a:srgbClr val="FF0000"/>
                </a:solidFill>
                <a:latin typeface="Times New Roman" panose="02020603050405020304" pitchFamily="18" charset="0"/>
                <a:cs typeface="Times New Roman" panose="02020603050405020304" pitchFamily="18" charset="0"/>
              </a:rPr>
              <a:t>- C(D</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t>First-order condition with respect to </a:t>
            </a:r>
            <a:r>
              <a:rPr lang="en-US" altLang="en-US" i="1" dirty="0" smtClean="0"/>
              <a:t>p</a:t>
            </a:r>
            <a:r>
              <a:rPr lang="en-US" altLang="en-US" baseline="-25000" dirty="0" smtClean="0"/>
              <a:t>1</a:t>
            </a:r>
            <a:r>
              <a:rPr lang="en-US" altLang="en-US" dirty="0" smtClean="0"/>
              <a:t> </a:t>
            </a:r>
          </a:p>
          <a:p>
            <a:pPr lvl="1" algn="ctr">
              <a:buFont typeface="Arial" charset="0"/>
              <a:buNone/>
            </a:pP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baseline="30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D</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 D</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a:t>
            </a:r>
            <a:r>
              <a:rPr lang="en-US" altLang="en-US" i="1" baseline="-25000" dirty="0" smtClean="0">
                <a:solidFill>
                  <a:srgbClr val="FF0000"/>
                </a:solidFill>
                <a:latin typeface="Times New Roman" panose="02020603050405020304" pitchFamily="18" charset="0"/>
                <a:cs typeface="Times New Roman" panose="02020603050405020304" pitchFamily="18" charset="0"/>
              </a:rPr>
              <a:t> </a:t>
            </a:r>
            <a:r>
              <a:rPr lang="en-US" altLang="en-US" i="1" dirty="0" smtClean="0">
                <a:solidFill>
                  <a:srgbClr val="FF0000"/>
                </a:solidFill>
                <a:latin typeface="Times New Roman" panose="02020603050405020304" pitchFamily="18" charset="0"/>
                <a:cs typeface="Times New Roman" panose="02020603050405020304" pitchFamily="18" charset="0"/>
              </a:rPr>
              <a:t>- C(D</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D</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t>Cross-partial derivative </a:t>
            </a:r>
          </a:p>
          <a:p>
            <a:pPr lvl="1" algn="ctr">
              <a:buFont typeface="Arial" charset="0"/>
              <a:buNone/>
            </a:pPr>
            <a:r>
              <a:rPr lang="el-GR" altLang="en-US" i="1" dirty="0" smtClean="0">
                <a:solidFill>
                  <a:srgbClr val="FF0000"/>
                </a:solidFill>
                <a:latin typeface="Times New Roman" panose="02020603050405020304" pitchFamily="18" charset="0"/>
                <a:cs typeface="Times New Roman" panose="02020603050405020304" pitchFamily="18" charset="0"/>
              </a:rPr>
              <a:t>π</a:t>
            </a:r>
            <a:r>
              <a:rPr lang="en-US" altLang="en-US" i="1" baseline="-25000" dirty="0" smtClean="0">
                <a:solidFill>
                  <a:srgbClr val="FF0000"/>
                </a:solidFill>
                <a:latin typeface="Times New Roman" panose="02020603050405020304" pitchFamily="18" charset="0"/>
                <a:cs typeface="Times New Roman" panose="02020603050405020304" pitchFamily="18" charset="0"/>
              </a:rPr>
              <a:t>12</a:t>
            </a:r>
            <a:r>
              <a:rPr lang="en-US" altLang="en-US" i="1" baseline="30000" dirty="0" smtClean="0">
                <a:solidFill>
                  <a:srgbClr val="FF0000"/>
                </a:solidFill>
                <a:latin typeface="Times New Roman" panose="02020603050405020304" pitchFamily="18" charset="0"/>
                <a:cs typeface="Times New Roman" panose="02020603050405020304" pitchFamily="18" charset="0"/>
              </a:rPr>
              <a:t>1 </a:t>
            </a:r>
            <a:r>
              <a:rPr lang="en-US" altLang="en-US" i="1" dirty="0" smtClean="0">
                <a:solidFill>
                  <a:srgbClr val="FF0000"/>
                </a:solidFill>
                <a:latin typeface="Times New Roman" panose="02020603050405020304" pitchFamily="18" charset="0"/>
                <a:cs typeface="Times New Roman" panose="02020603050405020304" pitchFamily="18" charset="0"/>
              </a:rPr>
              <a:t>= p</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D</a:t>
            </a:r>
            <a:r>
              <a:rPr lang="en-US" altLang="en-US" i="1" baseline="-25000" dirty="0" smtClean="0">
                <a:solidFill>
                  <a:srgbClr val="FF0000"/>
                </a:solidFill>
                <a:latin typeface="Times New Roman" panose="02020603050405020304" pitchFamily="18" charset="0"/>
                <a:cs typeface="Times New Roman" panose="02020603050405020304" pitchFamily="18" charset="0"/>
              </a:rPr>
              <a:t>12</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D</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baseline="-25000" dirty="0" smtClean="0">
                <a:solidFill>
                  <a:srgbClr val="FF0000"/>
                </a:solidFill>
                <a:latin typeface="Times New Roman" panose="02020603050405020304" pitchFamily="18" charset="0"/>
                <a:cs typeface="Times New Roman" panose="02020603050405020304" pitchFamily="18" charset="0"/>
              </a:rPr>
              <a:t> </a:t>
            </a:r>
            <a:r>
              <a:rPr lang="en-US" altLang="en-US" i="1" dirty="0" smtClean="0">
                <a:solidFill>
                  <a:srgbClr val="FF0000"/>
                </a:solidFill>
                <a:latin typeface="Times New Roman" panose="02020603050405020304" pitchFamily="18" charset="0"/>
                <a:cs typeface="Times New Roman" panose="02020603050405020304" pitchFamily="18" charset="0"/>
              </a:rPr>
              <a:t>– C’D</a:t>
            </a:r>
            <a:r>
              <a:rPr lang="en-US" altLang="en-US" i="1" baseline="-25000" dirty="0" smtClean="0">
                <a:solidFill>
                  <a:srgbClr val="FF0000"/>
                </a:solidFill>
                <a:latin typeface="Times New Roman" panose="02020603050405020304" pitchFamily="18" charset="0"/>
                <a:cs typeface="Times New Roman" panose="02020603050405020304" pitchFamily="18" charset="0"/>
              </a:rPr>
              <a:t>12</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C’’D</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D</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baseline="30000" dirty="0" smtClean="0">
                <a:solidFill>
                  <a:srgbClr val="FF0000"/>
                </a:solidFill>
                <a:latin typeface="Times New Roman" panose="02020603050405020304" pitchFamily="18" charset="0"/>
                <a:cs typeface="Times New Roman" panose="02020603050405020304" pitchFamily="18" charset="0"/>
              </a:rPr>
              <a:t>1</a:t>
            </a:r>
            <a:endParaRPr lang="en-US" alt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7653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p:txBody>
          <a:bodyPr/>
          <a:lstStyle/>
          <a:p>
            <a:r>
              <a:rPr lang="en-US" altLang="en-US" sz="3100" dirty="0" smtClean="0"/>
              <a:t>Entry </a:t>
            </a:r>
            <a:r>
              <a:rPr lang="en-US" altLang="en-US" sz="3100" dirty="0" smtClean="0"/>
              <a:t>accommodation: </a:t>
            </a:r>
            <a:r>
              <a:rPr lang="en-US" altLang="en-US" sz="3100" dirty="0" smtClean="0"/>
              <a:t>sequential game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4F5A754-45C5-48AD-9542-D760DDCBCF55}" type="slidenum">
              <a:rPr lang="en-US" smtClean="0"/>
              <a:pPr>
                <a:defRPr/>
              </a:pPr>
              <a:t>102</a:t>
            </a:fld>
            <a:endParaRPr lang="en-US"/>
          </a:p>
        </p:txBody>
      </p:sp>
      <p:sp>
        <p:nvSpPr>
          <p:cNvPr id="110595" name="Content Placeholder 2"/>
          <p:cNvSpPr>
            <a:spLocks noGrp="1"/>
          </p:cNvSpPr>
          <p:nvPr>
            <p:ph type="body" sz="quarter" idx="12"/>
          </p:nvPr>
        </p:nvSpPr>
        <p:spPr/>
        <p:txBody>
          <a:bodyPr/>
          <a:lstStyle/>
          <a:p>
            <a:r>
              <a:rPr lang="en-US" altLang="en-US" smtClean="0"/>
              <a:t>Sequential game</a:t>
            </a:r>
          </a:p>
          <a:p>
            <a:pPr lvl="1"/>
            <a:r>
              <a:rPr lang="en-US" altLang="en-US" smtClean="0"/>
              <a:t>Firm 1 chooses </a:t>
            </a:r>
            <a:r>
              <a:rPr lang="en-US" altLang="en-US" i="1" smtClean="0"/>
              <a:t>a</a:t>
            </a:r>
            <a:r>
              <a:rPr lang="en-US" altLang="en-US" i="1" baseline="-25000" smtClean="0"/>
              <a:t>1</a:t>
            </a:r>
            <a:r>
              <a:rPr lang="en-US" altLang="en-US" smtClean="0"/>
              <a:t> and then firm 2 chooses </a:t>
            </a:r>
            <a:r>
              <a:rPr lang="en-US" altLang="en-US" i="1" smtClean="0"/>
              <a:t>a</a:t>
            </a:r>
            <a:r>
              <a:rPr lang="en-US" altLang="en-US" i="1" baseline="-25000" smtClean="0"/>
              <a:t>2</a:t>
            </a:r>
          </a:p>
          <a:p>
            <a:pPr lvl="1"/>
            <a:r>
              <a:rPr lang="en-US" altLang="en-US" smtClean="0"/>
              <a:t>Firm 1 finds it more profitable to accommodate than to deter firm 2’s entry</a:t>
            </a:r>
          </a:p>
          <a:p>
            <a:pPr lvl="1"/>
            <a:r>
              <a:rPr lang="en-US" altLang="en-US" smtClean="0"/>
              <a:t>Firm 1’s profit function: </a:t>
            </a:r>
            <a:r>
              <a:rPr lang="el-GR" altLang="en-US" i="1" smtClean="0">
                <a:cs typeface="Arial" charset="0"/>
              </a:rPr>
              <a:t>π</a:t>
            </a:r>
            <a:r>
              <a:rPr lang="en-US" altLang="en-US" i="1" baseline="30000" smtClean="0">
                <a:cs typeface="Arial" charset="0"/>
              </a:rPr>
              <a:t>1</a:t>
            </a:r>
            <a:r>
              <a:rPr lang="en-US" altLang="en-US" i="1" smtClean="0">
                <a:cs typeface="Arial" charset="0"/>
              </a:rPr>
              <a:t>(a</a:t>
            </a:r>
            <a:r>
              <a:rPr lang="en-US" altLang="en-US" i="1" baseline="-25000" smtClean="0">
                <a:cs typeface="Arial" charset="0"/>
              </a:rPr>
              <a:t>1</a:t>
            </a:r>
            <a:r>
              <a:rPr lang="en-US" altLang="en-US" i="1" smtClean="0">
                <a:cs typeface="Arial" charset="0"/>
              </a:rPr>
              <a:t>,BR</a:t>
            </a:r>
            <a:r>
              <a:rPr lang="en-US" altLang="en-US" i="1" baseline="-25000" smtClean="0">
                <a:cs typeface="Arial" charset="0"/>
              </a:rPr>
              <a:t>2</a:t>
            </a:r>
            <a:r>
              <a:rPr lang="en-US" altLang="en-US" i="1" smtClean="0">
                <a:cs typeface="Arial" charset="0"/>
              </a:rPr>
              <a:t>(a</a:t>
            </a:r>
            <a:r>
              <a:rPr lang="en-US" altLang="en-US" i="1" baseline="-25000" smtClean="0">
                <a:cs typeface="Arial" charset="0"/>
              </a:rPr>
              <a:t>1</a:t>
            </a:r>
            <a:r>
              <a:rPr lang="en-US" altLang="en-US" i="1" smtClean="0">
                <a:cs typeface="Arial" charset="0"/>
              </a:rPr>
              <a:t>))</a:t>
            </a:r>
          </a:p>
          <a:p>
            <a:pPr lvl="1"/>
            <a:r>
              <a:rPr lang="en-US" altLang="en-US" smtClean="0">
                <a:cs typeface="Arial" charset="0"/>
              </a:rPr>
              <a:t>First-order condition: </a:t>
            </a:r>
            <a:r>
              <a:rPr lang="el-GR" altLang="en-US" i="1" smtClean="0">
                <a:cs typeface="Arial" charset="0"/>
              </a:rPr>
              <a:t>π</a:t>
            </a:r>
            <a:r>
              <a:rPr lang="en-US" altLang="en-US" i="1" baseline="-25000" smtClean="0">
                <a:cs typeface="Arial" charset="0"/>
              </a:rPr>
              <a:t>1</a:t>
            </a:r>
            <a:r>
              <a:rPr lang="en-US" altLang="en-US" i="1" baseline="30000" smtClean="0">
                <a:cs typeface="Arial" charset="0"/>
              </a:rPr>
              <a:t>1</a:t>
            </a:r>
            <a:r>
              <a:rPr lang="en-US" altLang="en-US" i="1" smtClean="0">
                <a:cs typeface="Arial" charset="0"/>
              </a:rPr>
              <a:t> + </a:t>
            </a:r>
            <a:r>
              <a:rPr lang="el-GR" altLang="en-US" i="1" smtClean="0">
                <a:cs typeface="Arial" charset="0"/>
              </a:rPr>
              <a:t>π</a:t>
            </a:r>
            <a:r>
              <a:rPr lang="en-US" altLang="en-US" i="1" baseline="-25000" smtClean="0">
                <a:cs typeface="Arial" charset="0"/>
              </a:rPr>
              <a:t>2</a:t>
            </a:r>
            <a:r>
              <a:rPr lang="en-US" altLang="en-US" i="1" baseline="30000" smtClean="0">
                <a:cs typeface="Arial" charset="0"/>
              </a:rPr>
              <a:t>1</a:t>
            </a:r>
            <a:r>
              <a:rPr lang="en-US" altLang="en-US" i="1" smtClean="0">
                <a:cs typeface="Arial" charset="0"/>
              </a:rPr>
              <a:t>BR’</a:t>
            </a:r>
            <a:r>
              <a:rPr lang="en-US" altLang="en-US" i="1" baseline="-25000" smtClean="0">
                <a:cs typeface="Arial" charset="0"/>
              </a:rPr>
              <a:t>2</a:t>
            </a:r>
            <a:r>
              <a:rPr lang="en-US" altLang="en-US" i="1" smtClean="0">
                <a:cs typeface="Arial" charset="0"/>
              </a:rPr>
              <a:t> </a:t>
            </a:r>
            <a:r>
              <a:rPr lang="en-US" altLang="en-US" smtClean="0">
                <a:cs typeface="Arial" charset="0"/>
              </a:rPr>
              <a:t>= 0</a:t>
            </a:r>
          </a:p>
          <a:p>
            <a:pPr lvl="2"/>
            <a:r>
              <a:rPr lang="en-US" altLang="en-US" smtClean="0"/>
              <a:t>Where </a:t>
            </a:r>
            <a:r>
              <a:rPr lang="en-US" altLang="en-US" i="1" smtClean="0"/>
              <a:t>S = </a:t>
            </a:r>
            <a:r>
              <a:rPr lang="el-GR" altLang="en-US" i="1" smtClean="0">
                <a:cs typeface="Arial" charset="0"/>
              </a:rPr>
              <a:t>π</a:t>
            </a:r>
            <a:r>
              <a:rPr lang="en-US" altLang="en-US" i="1" baseline="-25000" smtClean="0">
                <a:cs typeface="Arial" charset="0"/>
              </a:rPr>
              <a:t>2</a:t>
            </a:r>
            <a:r>
              <a:rPr lang="en-US" altLang="en-US" i="1" baseline="30000" smtClean="0">
                <a:cs typeface="Arial" charset="0"/>
              </a:rPr>
              <a:t>1</a:t>
            </a:r>
            <a:r>
              <a:rPr lang="en-US" altLang="en-US" i="1" smtClean="0">
                <a:cs typeface="Arial" charset="0"/>
              </a:rPr>
              <a:t>BR’</a:t>
            </a:r>
            <a:r>
              <a:rPr lang="en-US" altLang="en-US" i="1" baseline="-25000" smtClean="0">
                <a:cs typeface="Arial" charset="0"/>
              </a:rPr>
              <a:t>2</a:t>
            </a:r>
            <a:r>
              <a:rPr lang="en-US" altLang="en-US" i="1" smtClean="0"/>
              <a:t> </a:t>
            </a:r>
            <a:r>
              <a:rPr lang="en-US" altLang="en-US" smtClean="0"/>
              <a:t>- captures the strategic effect of moving first</a:t>
            </a:r>
          </a:p>
        </p:txBody>
      </p:sp>
    </p:spTree>
    <p:extLst>
      <p:ext uri="{BB962C8B-B14F-4D97-AF65-F5344CB8AC3E}">
        <p14:creationId xmlns:p14="http://schemas.microsoft.com/office/powerpoint/2010/main" val="16703932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p:txBody>
          <a:bodyPr/>
          <a:lstStyle/>
          <a:p>
            <a:r>
              <a:rPr lang="en-US" altLang="en-US" sz="3100" dirty="0" smtClean="0"/>
              <a:t>Entry </a:t>
            </a:r>
            <a:r>
              <a:rPr lang="en-US" altLang="en-US" sz="3100" dirty="0" smtClean="0"/>
              <a:t>accommodation: </a:t>
            </a:r>
            <a:r>
              <a:rPr lang="en-US" altLang="en-US" sz="3100" dirty="0" smtClean="0"/>
              <a:t>sequential game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3E6BBF3-901E-4254-9310-B9E963239D48}" type="slidenum">
              <a:rPr lang="en-US" smtClean="0"/>
              <a:pPr>
                <a:defRPr/>
              </a:pPr>
              <a:t>103</a:t>
            </a:fld>
            <a:endParaRPr lang="en-US"/>
          </a:p>
        </p:txBody>
      </p:sp>
      <p:sp>
        <p:nvSpPr>
          <p:cNvPr id="111619" name="Content Placeholder 2"/>
          <p:cNvSpPr>
            <a:spLocks noGrp="1"/>
          </p:cNvSpPr>
          <p:nvPr>
            <p:ph type="body" sz="quarter" idx="12"/>
          </p:nvPr>
        </p:nvSpPr>
        <p:spPr/>
        <p:txBody>
          <a:bodyPr/>
          <a:lstStyle/>
          <a:p>
            <a:r>
              <a:rPr lang="en-US" altLang="en-US" smtClean="0"/>
              <a:t>Sequential game</a:t>
            </a:r>
          </a:p>
          <a:p>
            <a:pPr lvl="1"/>
            <a:r>
              <a:rPr lang="en-US" altLang="en-US" smtClean="0"/>
              <a:t>The sign of </a:t>
            </a:r>
            <a:r>
              <a:rPr lang="en-US" altLang="en-US" i="1" smtClean="0"/>
              <a:t>S</a:t>
            </a:r>
            <a:r>
              <a:rPr lang="en-US" altLang="en-US" smtClean="0"/>
              <a:t> is determined by the signs of the two factors in </a:t>
            </a:r>
            <a:r>
              <a:rPr lang="en-US" altLang="en-US" i="1" smtClean="0"/>
              <a:t>S</a:t>
            </a:r>
          </a:p>
          <a:p>
            <a:pPr lvl="2"/>
            <a:r>
              <a:rPr lang="en-US" altLang="en-US" smtClean="0"/>
              <a:t>These two factors will typically have the same sign</a:t>
            </a:r>
          </a:p>
          <a:p>
            <a:pPr lvl="2"/>
            <a:r>
              <a:rPr lang="en-US" altLang="en-US" smtClean="0"/>
              <a:t>Implying that </a:t>
            </a:r>
            <a:r>
              <a:rPr lang="en-US" altLang="en-US" i="1" smtClean="0"/>
              <a:t>S</a:t>
            </a:r>
            <a:r>
              <a:rPr lang="en-US" altLang="en-US" smtClean="0"/>
              <a:t> &gt; 0 </a:t>
            </a:r>
          </a:p>
          <a:p>
            <a:pPr lvl="2"/>
            <a:r>
              <a:rPr lang="en-US" altLang="en-US" smtClean="0"/>
              <a:t>The first mover will typically distort its action upward in the sequential game compared with the simultaneous game</a:t>
            </a:r>
          </a:p>
        </p:txBody>
      </p:sp>
    </p:spTree>
    <p:extLst>
      <p:ext uri="{BB962C8B-B14F-4D97-AF65-F5344CB8AC3E}">
        <p14:creationId xmlns:p14="http://schemas.microsoft.com/office/powerpoint/2010/main" val="15899148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p:txBody>
          <a:bodyPr/>
          <a:lstStyle/>
          <a:p>
            <a:r>
              <a:rPr lang="en-US" altLang="en-US" smtClean="0"/>
              <a:t>Extension to general investments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B7FD2CE-871F-4C74-BB6F-62E9F07F59CE}" type="slidenum">
              <a:rPr lang="en-US" smtClean="0"/>
              <a:pPr>
                <a:defRPr/>
              </a:pPr>
              <a:t>104</a:t>
            </a:fld>
            <a:endParaRPr lang="en-US"/>
          </a:p>
        </p:txBody>
      </p:sp>
      <p:sp>
        <p:nvSpPr>
          <p:cNvPr id="112643" name="Content Placeholder 2"/>
          <p:cNvSpPr>
            <a:spLocks noGrp="1"/>
          </p:cNvSpPr>
          <p:nvPr>
            <p:ph type="body" sz="quarter" idx="12"/>
          </p:nvPr>
        </p:nvSpPr>
        <p:spPr/>
        <p:txBody>
          <a:bodyPr/>
          <a:lstStyle/>
          <a:p>
            <a:r>
              <a:rPr lang="en-US" altLang="en-US" i="1" smtClean="0"/>
              <a:t>K</a:t>
            </a:r>
            <a:r>
              <a:rPr lang="en-US" altLang="en-US" baseline="-25000" smtClean="0"/>
              <a:t>1</a:t>
            </a:r>
            <a:r>
              <a:rPr lang="en-US" altLang="en-US" smtClean="0"/>
              <a:t> </a:t>
            </a:r>
          </a:p>
          <a:p>
            <a:pPr lvl="1"/>
            <a:r>
              <a:rPr lang="en-US" altLang="en-US" smtClean="0"/>
              <a:t>General investment sunk at the outset of the game</a:t>
            </a:r>
          </a:p>
          <a:p>
            <a:r>
              <a:rPr lang="en-US" altLang="en-US" smtClean="0"/>
              <a:t>The two firms </a:t>
            </a:r>
          </a:p>
          <a:p>
            <a:pPr lvl="1"/>
            <a:r>
              <a:rPr lang="en-US" altLang="en-US" smtClean="0"/>
              <a:t>Choose their product-market actions a1 and </a:t>
            </a:r>
            <a:r>
              <a:rPr lang="en-US" altLang="en-US" i="1" smtClean="0"/>
              <a:t>a</a:t>
            </a:r>
            <a:r>
              <a:rPr lang="en-US" altLang="en-US" baseline="-25000" smtClean="0"/>
              <a:t>2 </a:t>
            </a:r>
            <a:r>
              <a:rPr lang="en-US" altLang="en-US" smtClean="0"/>
              <a:t>simultaneously in the second period</a:t>
            </a:r>
          </a:p>
          <a:p>
            <a:r>
              <a:rPr lang="en-US" altLang="en-US" smtClean="0"/>
              <a:t>Firms’ profits: </a:t>
            </a:r>
            <a:r>
              <a:rPr lang="en-US" altLang="en-US" smtClean="0">
                <a:cs typeface="Arial" charset="0"/>
              </a:rPr>
              <a:t> </a:t>
            </a:r>
            <a:r>
              <a:rPr lang="el-GR" altLang="en-US" sz="3200" i="1" smtClean="0">
                <a:solidFill>
                  <a:srgbClr val="FF0000"/>
                </a:solidFill>
                <a:cs typeface="Arial" charset="0"/>
              </a:rPr>
              <a:t>π</a:t>
            </a:r>
            <a:r>
              <a:rPr lang="en-US" altLang="en-US" sz="3200" i="1" baseline="30000" smtClean="0">
                <a:solidFill>
                  <a:srgbClr val="FF0000"/>
                </a:solidFill>
                <a:cs typeface="Arial" charset="0"/>
              </a:rPr>
              <a:t>1</a:t>
            </a:r>
            <a:r>
              <a:rPr lang="en-US" altLang="en-US" sz="3200" i="1" smtClean="0">
                <a:solidFill>
                  <a:srgbClr val="FF0000"/>
                </a:solidFill>
                <a:cs typeface="Arial" charset="0"/>
              </a:rPr>
              <a:t>(a</a:t>
            </a:r>
            <a:r>
              <a:rPr lang="en-US" altLang="en-US" sz="3200" i="1" baseline="-25000" smtClean="0">
                <a:solidFill>
                  <a:srgbClr val="FF0000"/>
                </a:solidFill>
                <a:cs typeface="Arial" charset="0"/>
              </a:rPr>
              <a:t>1</a:t>
            </a:r>
            <a:r>
              <a:rPr lang="en-US" altLang="en-US" sz="3200" i="1" smtClean="0">
                <a:solidFill>
                  <a:srgbClr val="FF0000"/>
                </a:solidFill>
                <a:cs typeface="Arial" charset="0"/>
              </a:rPr>
              <a:t>,a</a:t>
            </a:r>
            <a:r>
              <a:rPr lang="en-US" altLang="en-US" sz="3200" i="1" baseline="-25000" smtClean="0">
                <a:solidFill>
                  <a:srgbClr val="FF0000"/>
                </a:solidFill>
                <a:cs typeface="Arial" charset="0"/>
              </a:rPr>
              <a:t>2</a:t>
            </a:r>
            <a:r>
              <a:rPr lang="en-US" altLang="en-US" sz="3200" i="1" smtClean="0">
                <a:solidFill>
                  <a:srgbClr val="FF0000"/>
                </a:solidFill>
                <a:cs typeface="Arial" charset="0"/>
              </a:rPr>
              <a:t>,K</a:t>
            </a:r>
            <a:r>
              <a:rPr lang="en-US" altLang="en-US" sz="3200" i="1" baseline="-25000" smtClean="0">
                <a:solidFill>
                  <a:srgbClr val="FF0000"/>
                </a:solidFill>
                <a:cs typeface="Arial" charset="0"/>
              </a:rPr>
              <a:t>1</a:t>
            </a:r>
            <a:r>
              <a:rPr lang="en-US" altLang="en-US" sz="3200" i="1" smtClean="0">
                <a:solidFill>
                  <a:srgbClr val="FF0000"/>
                </a:solidFill>
                <a:cs typeface="Arial" charset="0"/>
              </a:rPr>
              <a:t>) </a:t>
            </a:r>
            <a:r>
              <a:rPr lang="en-US" altLang="en-US" smtClean="0">
                <a:cs typeface="Arial" charset="0"/>
              </a:rPr>
              <a:t>and </a:t>
            </a:r>
            <a:r>
              <a:rPr lang="el-GR" altLang="en-US" sz="3200" i="1" smtClean="0">
                <a:solidFill>
                  <a:srgbClr val="FF0000"/>
                </a:solidFill>
                <a:cs typeface="Arial" charset="0"/>
              </a:rPr>
              <a:t>π</a:t>
            </a:r>
            <a:r>
              <a:rPr lang="en-US" altLang="en-US" sz="3200" i="1" baseline="30000" smtClean="0">
                <a:solidFill>
                  <a:srgbClr val="FF0000"/>
                </a:solidFill>
                <a:cs typeface="Arial" charset="0"/>
              </a:rPr>
              <a:t>2</a:t>
            </a:r>
            <a:r>
              <a:rPr lang="en-US" altLang="en-US" sz="3200" i="1" smtClean="0">
                <a:solidFill>
                  <a:srgbClr val="FF0000"/>
                </a:solidFill>
                <a:cs typeface="Arial" charset="0"/>
              </a:rPr>
              <a:t>(a</a:t>
            </a:r>
            <a:r>
              <a:rPr lang="en-US" altLang="en-US" sz="3200" i="1" baseline="-25000" smtClean="0">
                <a:solidFill>
                  <a:srgbClr val="FF0000"/>
                </a:solidFill>
                <a:cs typeface="Arial" charset="0"/>
              </a:rPr>
              <a:t>1</a:t>
            </a:r>
            <a:r>
              <a:rPr lang="en-US" altLang="en-US" sz="3200" i="1" smtClean="0">
                <a:solidFill>
                  <a:srgbClr val="FF0000"/>
                </a:solidFill>
                <a:cs typeface="Arial" charset="0"/>
              </a:rPr>
              <a:t>,a</a:t>
            </a:r>
            <a:r>
              <a:rPr lang="en-US" altLang="en-US" sz="3200" i="1" baseline="-25000" smtClean="0">
                <a:solidFill>
                  <a:srgbClr val="FF0000"/>
                </a:solidFill>
                <a:cs typeface="Arial" charset="0"/>
              </a:rPr>
              <a:t>2</a:t>
            </a:r>
            <a:r>
              <a:rPr lang="en-US" altLang="en-US" sz="3200" i="1" smtClean="0">
                <a:solidFill>
                  <a:srgbClr val="FF0000"/>
                </a:solidFill>
                <a:cs typeface="Arial" charset="0"/>
              </a:rPr>
              <a:t>)</a:t>
            </a:r>
          </a:p>
        </p:txBody>
      </p:sp>
    </p:spTree>
    <p:extLst>
      <p:ext uri="{BB962C8B-B14F-4D97-AF65-F5344CB8AC3E}">
        <p14:creationId xmlns:p14="http://schemas.microsoft.com/office/powerpoint/2010/main" val="28961588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r>
              <a:rPr lang="en-US" altLang="en-US" smtClean="0"/>
              <a:t>Extension to general investments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1D7378C-9611-49BC-9710-78166918D721}" type="slidenum">
              <a:rPr lang="en-US" smtClean="0"/>
              <a:pPr>
                <a:defRPr/>
              </a:pPr>
              <a:t>105</a:t>
            </a:fld>
            <a:endParaRPr lang="en-US"/>
          </a:p>
        </p:txBody>
      </p:sp>
      <p:sp>
        <p:nvSpPr>
          <p:cNvPr id="113667" name="Content Placeholder 2"/>
          <p:cNvSpPr>
            <a:spLocks noGrp="1"/>
          </p:cNvSpPr>
          <p:nvPr>
            <p:ph type="body" sz="quarter" idx="12"/>
          </p:nvPr>
        </p:nvSpPr>
        <p:spPr/>
        <p:txBody>
          <a:bodyPr/>
          <a:lstStyle/>
          <a:p>
            <a:r>
              <a:rPr lang="en-US" altLang="en-US" dirty="0" smtClean="0"/>
              <a:t>Firms’ actions in a subgame-perfect equilibrium:</a:t>
            </a:r>
          </a:p>
          <a:p>
            <a:pPr algn="ctr">
              <a:buFontTx/>
              <a:buNone/>
            </a:pPr>
            <a:r>
              <a:rPr lang="en-US" altLang="en-US" dirty="0" smtClean="0"/>
              <a:t> </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)=BR</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a:t>
            </a:r>
            <a:r>
              <a:rPr lang="en-US" altLang="en-US" sz="3200" dirty="0" smtClean="0">
                <a:solidFill>
                  <a:schemeClr val="tx1"/>
                </a:solidFill>
              </a:rPr>
              <a:t>and</a:t>
            </a:r>
            <a:r>
              <a:rPr lang="en-US" altLang="en-US" sz="3200" i="1" dirty="0" smtClean="0">
                <a:solidFill>
                  <a:srgbClr val="FF0000"/>
                </a:solidFill>
              </a:rPr>
              <a:t> </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)=BR</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a:t>
            </a:r>
          </a:p>
          <a:p>
            <a:r>
              <a:rPr lang="en-US" altLang="en-US" dirty="0" smtClean="0"/>
              <a:t>Nash equilibrium profits in the subgame following firm 1’s choice of </a:t>
            </a:r>
            <a:r>
              <a:rPr lang="en-US" altLang="en-US" i="1" dirty="0" smtClean="0"/>
              <a:t>K</a:t>
            </a:r>
            <a:r>
              <a:rPr lang="en-US" altLang="en-US" baseline="-25000" dirty="0" smtClean="0"/>
              <a:t>1</a:t>
            </a:r>
            <a:r>
              <a:rPr lang="en-US" altLang="en-US" dirty="0" smtClean="0"/>
              <a:t> are</a:t>
            </a:r>
          </a:p>
          <a:p>
            <a:pPr algn="ctr">
              <a:buFontTx/>
              <a:buNone/>
            </a:pPr>
            <a:r>
              <a:rPr lang="en-US" altLang="en-US" dirty="0" smtClean="0">
                <a:cs typeface="Arial" charset="0"/>
              </a:rPr>
              <a:t> </a:t>
            </a:r>
            <a:r>
              <a:rPr lang="en-US" altLang="en-US" sz="2800" i="1" dirty="0" smtClean="0">
                <a:solidFill>
                  <a:srgbClr val="FF0000"/>
                </a:solidFill>
                <a:latin typeface="Times New Roman" panose="02020603050405020304" pitchFamily="18" charset="0"/>
                <a:cs typeface="Times New Roman" panose="02020603050405020304" pitchFamily="18" charset="0"/>
              </a:rPr>
              <a:t>π</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π</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a:t>
            </a:r>
            <a:r>
              <a:rPr lang="en-US" altLang="en-US" sz="3200" dirty="0" smtClean="0">
                <a:solidFill>
                  <a:schemeClr val="tx1"/>
                </a:solidFill>
                <a:cs typeface="Arial" charset="0"/>
              </a:rPr>
              <a:t>and</a:t>
            </a:r>
            <a:r>
              <a:rPr lang="en-US" altLang="en-US" sz="3200" i="1" dirty="0" smtClean="0">
                <a:solidFill>
                  <a:srgbClr val="FF0000"/>
                </a:solidFill>
                <a:cs typeface="Arial" charset="0"/>
              </a:rPr>
              <a:t> </a:t>
            </a:r>
          </a:p>
          <a:p>
            <a:pPr algn="ctr">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π</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π</a:t>
            </a:r>
            <a:r>
              <a:rPr lang="en-US" altLang="en-US" sz="2800" i="1" baseline="30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i="1" dirty="0" smtClean="0">
                <a:solidFill>
                  <a:srgbClr val="FF0000"/>
                </a:solidFill>
                <a:latin typeface="Times New Roman" panose="02020603050405020304" pitchFamily="18" charset="0"/>
                <a:cs typeface="Times New Roman" panose="02020603050405020304" pitchFamily="18" charset="0"/>
              </a:rPr>
              <a:t>*(K</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631428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itle 1"/>
          <p:cNvSpPr>
            <a:spLocks noGrp="1"/>
          </p:cNvSpPr>
          <p:nvPr>
            <p:ph type="title"/>
          </p:nvPr>
        </p:nvSpPr>
        <p:spPr/>
        <p:txBody>
          <a:bodyPr/>
          <a:lstStyle/>
          <a:p>
            <a:r>
              <a:rPr lang="en-US" altLang="en-US" smtClean="0"/>
              <a:t>Extension to general investments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37F2AD0-14D2-40DD-AC2C-3B1D6A926ACA}" type="slidenum">
              <a:rPr lang="en-US" smtClean="0"/>
              <a:pPr>
                <a:defRPr/>
              </a:pPr>
              <a:t>106</a:t>
            </a:fld>
            <a:endParaRPr lang="en-US"/>
          </a:p>
        </p:txBody>
      </p:sp>
      <p:sp>
        <p:nvSpPr>
          <p:cNvPr id="23556" name="Content Placeholder 2"/>
          <p:cNvSpPr>
            <a:spLocks noGrp="1"/>
          </p:cNvSpPr>
          <p:nvPr>
            <p:ph type="body" sz="quarter" idx="12"/>
          </p:nvPr>
        </p:nvSpPr>
        <p:spPr/>
        <p:txBody>
          <a:bodyPr/>
          <a:lstStyle/>
          <a:p>
            <a:r>
              <a:rPr lang="en-US" altLang="en-US" smtClean="0"/>
              <a:t>Totally differentiating </a:t>
            </a:r>
            <a:r>
              <a:rPr lang="el-GR" altLang="en-US" i="1" smtClean="0">
                <a:cs typeface="Arial" charset="0"/>
              </a:rPr>
              <a:t>π</a:t>
            </a:r>
            <a:r>
              <a:rPr lang="en-US" altLang="en-US" i="1" baseline="30000" smtClean="0"/>
              <a:t>1</a:t>
            </a:r>
            <a:r>
              <a:rPr lang="en-US" altLang="en-US" i="1" smtClean="0"/>
              <a:t>*(K</a:t>
            </a:r>
            <a:r>
              <a:rPr lang="en-US" altLang="en-US" i="1" baseline="-25000" smtClean="0"/>
              <a:t>1</a:t>
            </a:r>
            <a:r>
              <a:rPr lang="en-US" altLang="en-US" i="1" smtClean="0"/>
              <a:t>), </a:t>
            </a:r>
            <a:r>
              <a:rPr lang="en-US" altLang="en-US" smtClean="0"/>
              <a:t>the first-order condition</a:t>
            </a:r>
          </a:p>
        </p:txBody>
      </p:sp>
      <p:sp>
        <p:nvSpPr>
          <p:cNvPr id="2" name="Text Placeholder 1"/>
          <p:cNvSpPr>
            <a:spLocks noGrp="1"/>
          </p:cNvSpPr>
          <p:nvPr>
            <p:ph type="body" sz="quarter" idx="13"/>
          </p:nvPr>
        </p:nvSpPr>
        <p:spPr>
          <a:xfrm>
            <a:off x="457200" y="3887788"/>
            <a:ext cx="8305800" cy="2360612"/>
          </a:xfrm>
        </p:spPr>
        <p:txBody>
          <a:bodyPr/>
          <a:lstStyle/>
          <a:p>
            <a:pPr lvl="1"/>
            <a:r>
              <a:rPr lang="en-US" i="1" kern="0" dirty="0"/>
              <a:t>S</a:t>
            </a:r>
            <a:r>
              <a:rPr lang="en-US" kern="0" dirty="0"/>
              <a:t> is the strategic effect of an increase in </a:t>
            </a:r>
            <a:r>
              <a:rPr lang="en-US" i="1" kern="0" dirty="0"/>
              <a:t>K</a:t>
            </a:r>
            <a:r>
              <a:rPr lang="en-US" kern="0" baseline="-25000" dirty="0"/>
              <a:t>1</a:t>
            </a:r>
            <a:r>
              <a:rPr lang="en-US" kern="0" dirty="0"/>
              <a:t> on firm 1’s profit through firm 2’s action</a:t>
            </a:r>
          </a:p>
          <a:p>
            <a:pPr lvl="1"/>
            <a:endParaRPr lang="en-US" dirty="0"/>
          </a:p>
        </p:txBody>
      </p:sp>
      <p:grpSp>
        <p:nvGrpSpPr>
          <p:cNvPr id="9" name="Group 9"/>
          <p:cNvGrpSpPr>
            <a:grpSpLocks/>
          </p:cNvGrpSpPr>
          <p:nvPr/>
        </p:nvGrpSpPr>
        <p:grpSpPr bwMode="auto">
          <a:xfrm>
            <a:off x="2001838" y="1985963"/>
            <a:ext cx="3313112" cy="1901825"/>
            <a:chOff x="2002282" y="1985708"/>
            <a:chExt cx="3313430" cy="1902504"/>
          </a:xfrm>
        </p:grpSpPr>
        <p:graphicFrame>
          <p:nvGraphicFramePr>
            <p:cNvPr id="23554" name="Object 2"/>
            <p:cNvGraphicFramePr>
              <a:graphicFrameLocks noChangeAspect="1"/>
            </p:cNvGraphicFramePr>
            <p:nvPr/>
          </p:nvGraphicFramePr>
          <p:xfrm>
            <a:off x="2002282" y="1985708"/>
            <a:ext cx="3313430" cy="1158092"/>
          </p:xfrm>
          <a:graphic>
            <a:graphicData uri="http://schemas.openxmlformats.org/presentationml/2006/ole">
              <mc:AlternateContent xmlns:mc="http://schemas.openxmlformats.org/markup-compatibility/2006">
                <mc:Choice xmlns:v="urn:schemas-microsoft-com:vml" Requires="v">
                  <p:oleObj spid="_x0000_s341004" name="Equation" r:id="rId3" imgW="1307880" imgH="457200" progId="Equation.DSMT4">
                    <p:embed/>
                  </p:oleObj>
                </mc:Choice>
                <mc:Fallback>
                  <p:oleObj name="Equation" r:id="rId3" imgW="130788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2282" y="1985708"/>
                          <a:ext cx="3313430" cy="11580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61" name="Group 8"/>
            <p:cNvGrpSpPr>
              <a:grpSpLocks/>
            </p:cNvGrpSpPr>
            <p:nvPr/>
          </p:nvGrpSpPr>
          <p:grpSpPr bwMode="auto">
            <a:xfrm>
              <a:off x="3224784" y="3060192"/>
              <a:ext cx="1091184" cy="828020"/>
              <a:chOff x="3224784" y="3060192"/>
              <a:chExt cx="1091184" cy="828020"/>
            </a:xfrm>
          </p:grpSpPr>
          <p:sp>
            <p:nvSpPr>
              <p:cNvPr id="23562" name="Left Brace 6"/>
              <p:cNvSpPr>
                <a:spLocks/>
              </p:cNvSpPr>
              <p:nvPr/>
            </p:nvSpPr>
            <p:spPr bwMode="auto">
              <a:xfrm rot="-5400000">
                <a:off x="3602736" y="2682240"/>
                <a:ext cx="335280" cy="1091184"/>
              </a:xfrm>
              <a:prstGeom prst="leftBrace">
                <a:avLst>
                  <a:gd name="adj1" fmla="val 16228"/>
                  <a:gd name="adj2" fmla="val 48884"/>
                </a:avLst>
              </a:prstGeom>
              <a:noFill/>
              <a:ln w="28575" algn="ctr">
                <a:solidFill>
                  <a:srgbClr val="0D7D6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spcBef>
                    <a:spcPct val="20000"/>
                  </a:spcBef>
                  <a:buFontTx/>
                  <a:buChar char="•"/>
                </a:pPr>
                <a:endParaRPr lang="en-US" altLang="en-US"/>
              </a:p>
            </p:txBody>
          </p:sp>
          <p:sp>
            <p:nvSpPr>
              <p:cNvPr id="23563" name="TextBox 7"/>
              <p:cNvSpPr txBox="1">
                <a:spLocks noChangeArrowheads="1"/>
              </p:cNvSpPr>
              <p:nvPr/>
            </p:nvSpPr>
            <p:spPr bwMode="auto">
              <a:xfrm>
                <a:off x="3584448" y="336499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800">
                    <a:solidFill>
                      <a:srgbClr val="0D7D65"/>
                    </a:solidFill>
                  </a:rPr>
                  <a:t>s</a:t>
                </a:r>
              </a:p>
            </p:txBody>
          </p:sp>
        </p:grpSp>
      </p:grpSp>
    </p:spTree>
    <p:extLst>
      <p:ext uri="{BB962C8B-B14F-4D97-AF65-F5344CB8AC3E}">
        <p14:creationId xmlns:p14="http://schemas.microsoft.com/office/powerpoint/2010/main" val="18752533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1"/>
          <p:cNvSpPr>
            <a:spLocks noGrp="1"/>
          </p:cNvSpPr>
          <p:nvPr>
            <p:ph type="title"/>
          </p:nvPr>
        </p:nvSpPr>
        <p:spPr/>
        <p:txBody>
          <a:bodyPr/>
          <a:lstStyle/>
          <a:p>
            <a:r>
              <a:rPr lang="en-US" altLang="en-US" smtClean="0"/>
              <a:t>Extension to general investments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1DC4A12-4D8E-4AD7-A813-60F495159812}" type="slidenum">
              <a:rPr lang="en-US" smtClean="0"/>
              <a:pPr>
                <a:defRPr/>
              </a:pPr>
              <a:t>107</a:t>
            </a:fld>
            <a:endParaRPr lang="en-US"/>
          </a:p>
        </p:txBody>
      </p:sp>
      <p:sp>
        <p:nvSpPr>
          <p:cNvPr id="24580" name="Content Placeholder 2"/>
          <p:cNvSpPr>
            <a:spLocks noGrp="1"/>
          </p:cNvSpPr>
          <p:nvPr>
            <p:ph type="body" sz="quarter" idx="12"/>
          </p:nvPr>
        </p:nvSpPr>
        <p:spPr/>
        <p:txBody>
          <a:bodyPr/>
          <a:lstStyle/>
          <a:p>
            <a:r>
              <a:rPr lang="en-US" altLang="en-US" smtClean="0"/>
              <a:t>The sign of </a:t>
            </a:r>
            <a:r>
              <a:rPr lang="en-US" altLang="en-US" i="1" smtClean="0"/>
              <a:t>S</a:t>
            </a:r>
            <a:r>
              <a:rPr lang="en-US" altLang="en-US" smtClean="0"/>
              <a:t> </a:t>
            </a:r>
          </a:p>
          <a:p>
            <a:pPr lvl="1"/>
            <a:r>
              <a:rPr lang="en-US" altLang="en-US" smtClean="0"/>
              <a:t>Determines whether firm 1 strategically over- or under-invests in </a:t>
            </a:r>
            <a:r>
              <a:rPr lang="en-US" altLang="en-US" i="1" smtClean="0"/>
              <a:t>K</a:t>
            </a:r>
            <a:r>
              <a:rPr lang="en-US" altLang="en-US" baseline="-25000" smtClean="0"/>
              <a:t>1</a:t>
            </a:r>
            <a:r>
              <a:rPr lang="en-US" altLang="en-US" smtClean="0"/>
              <a:t> when it can make a strategic  commitment</a:t>
            </a:r>
          </a:p>
        </p:txBody>
      </p:sp>
      <p:graphicFrame>
        <p:nvGraphicFramePr>
          <p:cNvPr id="6" name="Object 2"/>
          <p:cNvGraphicFramePr>
            <a:graphicFrameLocks noChangeAspect="1"/>
          </p:cNvGraphicFramePr>
          <p:nvPr>
            <p:extLst>
              <p:ext uri="{D42A27DB-BD31-4B8C-83A1-F6EECF244321}">
                <p14:modId xmlns:p14="http://schemas.microsoft.com/office/powerpoint/2010/main" val="1914611621"/>
              </p:ext>
            </p:extLst>
          </p:nvPr>
        </p:nvGraphicFramePr>
        <p:xfrm>
          <a:off x="1069975" y="2667000"/>
          <a:ext cx="4148138" cy="3465513"/>
        </p:xfrm>
        <a:graphic>
          <a:graphicData uri="http://schemas.openxmlformats.org/presentationml/2006/ole">
            <mc:AlternateContent xmlns:mc="http://schemas.openxmlformats.org/markup-compatibility/2006">
              <mc:Choice xmlns:v="urn:schemas-microsoft-com:vml" Requires="v">
                <p:oleObj spid="_x0000_s342028" name="Equation" r:id="rId3" imgW="1765080" imgH="1473120" progId="Equation.DSMT4">
                  <p:embed/>
                </p:oleObj>
              </mc:Choice>
              <mc:Fallback>
                <p:oleObj name="Equation" r:id="rId3" imgW="1765080" imgH="14731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975" y="2667000"/>
                        <a:ext cx="4148138" cy="346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729674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r>
              <a:rPr lang="en-US" altLang="en-US" dirty="0"/>
              <a:t>Most-favored customer program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378C602-201F-4499-B15E-FD80CDC4C5A1}" type="slidenum">
              <a:rPr lang="en-US" smtClean="0"/>
              <a:pPr>
                <a:defRPr/>
              </a:pPr>
              <a:t>108</a:t>
            </a:fld>
            <a:endParaRPr lang="en-US"/>
          </a:p>
        </p:txBody>
      </p:sp>
      <p:sp>
        <p:nvSpPr>
          <p:cNvPr id="114691" name="Content Placeholder 2"/>
          <p:cNvSpPr>
            <a:spLocks noGrp="1"/>
          </p:cNvSpPr>
          <p:nvPr>
            <p:ph type="body" sz="quarter" idx="12"/>
          </p:nvPr>
        </p:nvSpPr>
        <p:spPr/>
        <p:txBody>
          <a:bodyPr/>
          <a:lstStyle/>
          <a:p>
            <a:r>
              <a:rPr lang="en-US" altLang="en-US" dirty="0" smtClean="0"/>
              <a:t>Most-favored customer program</a:t>
            </a:r>
          </a:p>
          <a:p>
            <a:pPr lvl="1"/>
            <a:r>
              <a:rPr lang="en-US" altLang="en-US" i="1" dirty="0" smtClean="0"/>
              <a:t>K</a:t>
            </a:r>
            <a:r>
              <a:rPr lang="en-US" altLang="en-US" baseline="-25000" dirty="0" smtClean="0"/>
              <a:t>1</a:t>
            </a:r>
            <a:r>
              <a:rPr lang="en-US" altLang="en-US" dirty="0" smtClean="0"/>
              <a:t> is a 0-1 choice</a:t>
            </a:r>
          </a:p>
          <a:p>
            <a:pPr lvl="1"/>
            <a:r>
              <a:rPr lang="en-US" altLang="en-US" dirty="0" smtClean="0"/>
              <a:t>Rebates the price difference to past customers </a:t>
            </a:r>
          </a:p>
          <a:p>
            <a:pPr lvl="2"/>
            <a:r>
              <a:rPr lang="en-US" altLang="en-US" dirty="0" smtClean="0"/>
              <a:t>If the firm lowers its price in the future</a:t>
            </a:r>
          </a:p>
          <a:p>
            <a:pPr lvl="1"/>
            <a:r>
              <a:rPr lang="en-US" altLang="en-US" dirty="0" smtClean="0"/>
              <a:t>Makes firm 1 ‘‘soft’’ by reducing its incentive to cut price</a:t>
            </a:r>
          </a:p>
          <a:p>
            <a:pPr lvl="1"/>
            <a:r>
              <a:rPr lang="en-US" altLang="en-US" dirty="0" smtClean="0"/>
              <a:t>Leads to less aggressive price competition</a:t>
            </a:r>
          </a:p>
          <a:p>
            <a:pPr lvl="2"/>
            <a:r>
              <a:rPr lang="en-US" altLang="en-US" dirty="0" smtClean="0"/>
              <a:t>Higher prices and profits</a:t>
            </a:r>
          </a:p>
        </p:txBody>
      </p:sp>
    </p:spTree>
    <p:extLst>
      <p:ext uri="{BB962C8B-B14F-4D97-AF65-F5344CB8AC3E}">
        <p14:creationId xmlns:p14="http://schemas.microsoft.com/office/powerpoint/2010/main" val="21088599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p:nvPr>
        </p:nvSpPr>
        <p:spPr/>
        <p:txBody>
          <a:bodyPr/>
          <a:lstStyle/>
          <a:p>
            <a:r>
              <a:rPr lang="en-US" altLang="en-US" smtClean="0"/>
              <a:t>Extension to general investments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94FFDBF-ED1D-42A7-A55A-01ED481B00B3}" type="slidenum">
              <a:rPr lang="en-US" smtClean="0"/>
              <a:pPr>
                <a:defRPr/>
              </a:pPr>
              <a:t>109</a:t>
            </a:fld>
            <a:endParaRPr lang="en-US"/>
          </a:p>
        </p:txBody>
      </p:sp>
      <p:sp>
        <p:nvSpPr>
          <p:cNvPr id="115715" name="Content Placeholder 2"/>
          <p:cNvSpPr>
            <a:spLocks noGrp="1"/>
          </p:cNvSpPr>
          <p:nvPr>
            <p:ph type="body" sz="quarter" idx="12"/>
          </p:nvPr>
        </p:nvSpPr>
        <p:spPr/>
        <p:txBody>
          <a:bodyPr/>
          <a:lstStyle/>
          <a:p>
            <a:r>
              <a:rPr lang="en-US" altLang="en-US" smtClean="0"/>
              <a:t>Trade policy</a:t>
            </a:r>
          </a:p>
          <a:p>
            <a:pPr lvl="1"/>
            <a:r>
              <a:rPr lang="en-US" altLang="en-US" i="1" smtClean="0"/>
              <a:t>K</a:t>
            </a:r>
            <a:r>
              <a:rPr lang="en-US" altLang="en-US" baseline="-25000" smtClean="0"/>
              <a:t>1</a:t>
            </a:r>
            <a:r>
              <a:rPr lang="en-US" altLang="en-US" smtClean="0"/>
              <a:t> is not a choice by firm 1 itself </a:t>
            </a:r>
          </a:p>
          <a:p>
            <a:pPr lvl="2"/>
            <a:r>
              <a:rPr lang="en-US" altLang="en-US" smtClean="0"/>
              <a:t>It is a government’s policy choice on behalf of its domestic firms</a:t>
            </a:r>
          </a:p>
          <a:p>
            <a:pPr lvl="2"/>
            <a:r>
              <a:rPr lang="en-US" altLang="en-US" smtClean="0"/>
              <a:t>Export subsidy program</a:t>
            </a:r>
          </a:p>
          <a:p>
            <a:pPr lvl="2"/>
            <a:r>
              <a:rPr lang="en-US" altLang="en-US" smtClean="0"/>
              <a:t>Makes firm 1 “tough”</a:t>
            </a:r>
          </a:p>
          <a:p>
            <a:r>
              <a:rPr lang="en-US" altLang="en-US" smtClean="0"/>
              <a:t>Entry deterrence</a:t>
            </a:r>
          </a:p>
          <a:p>
            <a:pPr lvl="2"/>
            <a:r>
              <a:rPr lang="en-US" altLang="en-US" smtClean="0"/>
              <a:t>Firm 1 prefers to deter rather than accommodate entry</a:t>
            </a:r>
          </a:p>
          <a:p>
            <a:pPr lvl="2"/>
            <a:r>
              <a:rPr lang="en-US" altLang="en-US" smtClean="0"/>
              <a:t>Firm 1’s objective is to choose </a:t>
            </a:r>
            <a:r>
              <a:rPr lang="en-US" altLang="en-US" i="1" smtClean="0"/>
              <a:t>K</a:t>
            </a:r>
            <a:r>
              <a:rPr lang="en-US" altLang="en-US" baseline="-25000" smtClean="0"/>
              <a:t>1</a:t>
            </a:r>
            <a:r>
              <a:rPr lang="en-US" altLang="en-US" smtClean="0"/>
              <a:t> to reduce firm 2’s profit </a:t>
            </a:r>
            <a:r>
              <a:rPr lang="el-GR" altLang="en-US" i="1" smtClean="0">
                <a:cs typeface="Arial" charset="0"/>
              </a:rPr>
              <a:t>π</a:t>
            </a:r>
            <a:r>
              <a:rPr lang="en-US" altLang="en-US" i="1" baseline="30000" smtClean="0"/>
              <a:t>2</a:t>
            </a:r>
            <a:r>
              <a:rPr lang="en-US" altLang="en-US" i="1" smtClean="0"/>
              <a:t>*</a:t>
            </a:r>
            <a:r>
              <a:rPr lang="en-US" altLang="en-US" smtClean="0"/>
              <a:t> to zero</a:t>
            </a:r>
          </a:p>
        </p:txBody>
      </p:sp>
    </p:spTree>
    <p:extLst>
      <p:ext uri="{BB962C8B-B14F-4D97-AF65-F5344CB8AC3E}">
        <p14:creationId xmlns:p14="http://schemas.microsoft.com/office/powerpoint/2010/main" val="31035646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15.1 	Strategic Effect when Accommodating </a:t>
            </a:r>
            <a:r>
              <a:rPr lang="en-US" altLang="en-US" dirty="0" smtClean="0"/>
              <a:t>Entry</a:t>
            </a:r>
            <a:endParaRPr lang="en-US" altLang="en-US" dirty="0" smtClean="0"/>
          </a:p>
        </p:txBody>
      </p:sp>
      <p:sp>
        <p:nvSpPr>
          <p:cNvPr id="11674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73803DF3-7ADD-4655-B2E7-8E50A1C996C6}" type="slidenum">
              <a:rPr lang="en-US" smtClean="0"/>
              <a:pPr>
                <a:defRPr/>
              </a:pPr>
              <a:t>110</a:t>
            </a:fld>
            <a:endParaRPr lang="en-US" dirty="0"/>
          </a:p>
        </p:txBody>
      </p:sp>
      <p:pic>
        <p:nvPicPr>
          <p:cNvPr id="839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38" y="1752600"/>
            <a:ext cx="8950325"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2442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wipe(left)">
                                      <p:cBhvr>
                                        <p:cTn id="7" dur="5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9794</TotalTime>
  <Words>12080</Words>
  <Application>Microsoft Office PowerPoint</Application>
  <PresentationFormat>On-screen Show (4:3)</PresentationFormat>
  <Paragraphs>891</Paragraphs>
  <Slides>110</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110</vt:i4>
      </vt:variant>
    </vt:vector>
  </HeadingPairs>
  <TitlesOfParts>
    <vt:vector size="117" baseType="lpstr">
      <vt:lpstr>chapter</vt:lpstr>
      <vt:lpstr>main</vt:lpstr>
      <vt:lpstr>figure</vt:lpstr>
      <vt:lpstr>table</vt:lpstr>
      <vt:lpstr>example</vt:lpstr>
      <vt:lpstr>extensions</vt:lpstr>
      <vt:lpstr>MathType 6.0 Equation</vt:lpstr>
      <vt:lpstr>CHAPTER      Imperfect   15    Competition </vt:lpstr>
      <vt:lpstr>Short-Run Decisions: Pricing And Output</vt:lpstr>
      <vt:lpstr>Short-Run Decisions: Pricing &amp; Output</vt:lpstr>
      <vt:lpstr>15.1 Pricing and Output under Imperfect   Competition</vt:lpstr>
      <vt:lpstr>Bertrand Model</vt:lpstr>
      <vt:lpstr>Nash Equilibrium of the Bertrand Model</vt:lpstr>
      <vt:lpstr>Nash Equilibrium of the Bertrand Model</vt:lpstr>
      <vt:lpstr>Nash Equilibrium of the Bertrand Model</vt:lpstr>
      <vt:lpstr>Bertrand Paradox</vt:lpstr>
      <vt:lpstr>Cournot Model</vt:lpstr>
      <vt:lpstr>Cournot Model</vt:lpstr>
      <vt:lpstr>Cournot Model</vt:lpstr>
      <vt:lpstr>Cartel Model</vt:lpstr>
      <vt:lpstr>15.1  Natural-Spring Duopoly</vt:lpstr>
      <vt:lpstr>15.1  Natural-Spring Duopoly</vt:lpstr>
      <vt:lpstr>15.1  Natural-Spring Duopoly</vt:lpstr>
      <vt:lpstr>15.2  Cournot Best-Response Diagrams</vt:lpstr>
      <vt:lpstr>15.2 Best-Response Diagram for Cournot Duopoly</vt:lpstr>
      <vt:lpstr>15.3 Shifting Cournot Best Responses</vt:lpstr>
      <vt:lpstr>Varying the Number of Cournot Firms</vt:lpstr>
      <vt:lpstr>Varying the Number of Cournot Firms</vt:lpstr>
      <vt:lpstr>15.3  Natural-Spring Oligopoly</vt:lpstr>
      <vt:lpstr>15.3  Natural-Spring Oligopoly</vt:lpstr>
      <vt:lpstr>Prices or Quantities?</vt:lpstr>
      <vt:lpstr>Capacity Constraints</vt:lpstr>
      <vt:lpstr>Capacity Constraints</vt:lpstr>
      <vt:lpstr>Product Differentiation</vt:lpstr>
      <vt:lpstr>Bertrand competition  with differentiated products</vt:lpstr>
      <vt:lpstr>Bertrand competition  with differentiated products</vt:lpstr>
      <vt:lpstr>Bertrand competition  with differentiated products</vt:lpstr>
      <vt:lpstr>15.4  Toothpaste as a Differentiated Product</vt:lpstr>
      <vt:lpstr>15.4  Toothpaste as a Differentiated Product</vt:lpstr>
      <vt:lpstr>15.4 Best Responses for Bertrand Model with   Differentiated Products</vt:lpstr>
      <vt:lpstr>15.5  Hotelling’s Beach</vt:lpstr>
      <vt:lpstr>15.5 Hotelling’s Beach</vt:lpstr>
      <vt:lpstr>15.5  Hotelling’s Beach</vt:lpstr>
      <vt:lpstr>15.5  Hotelling’s Beach</vt:lpstr>
      <vt:lpstr>15.5  Hotelling’s Beach</vt:lpstr>
      <vt:lpstr>Consumer Search and Price Dispersion</vt:lpstr>
      <vt:lpstr>Tacit Collusion</vt:lpstr>
      <vt:lpstr>Tacit Collusion</vt:lpstr>
      <vt:lpstr>Tacit Collusion</vt:lpstr>
      <vt:lpstr>Tacit Collusion</vt:lpstr>
      <vt:lpstr>Tacit Collusion</vt:lpstr>
      <vt:lpstr>15.6  Tacit Collusion in a Bertrand Model</vt:lpstr>
      <vt:lpstr>15.6  Tacit Collusion in a Bertrand Model</vt:lpstr>
      <vt:lpstr>15.7  Tacit Collusion in a Cournot Model</vt:lpstr>
      <vt:lpstr>15.7  Tacit Collusion in a Cournot Model</vt:lpstr>
      <vt:lpstr>15.7  Tacit Collusion in a Cournot Model</vt:lpstr>
      <vt:lpstr>Longer-Run Decisions:  Investment, Entry, and Exit</vt:lpstr>
      <vt:lpstr>Flexibility Versus Commitment</vt:lpstr>
      <vt:lpstr>Sunk Costs</vt:lpstr>
      <vt:lpstr>First-Mover Advantage  in the Stackelberg Model</vt:lpstr>
      <vt:lpstr>First-Mover Advantage  in the Stackelberg Model</vt:lpstr>
      <vt:lpstr>First-Mover Advantage  in the Stackelberg Model</vt:lpstr>
      <vt:lpstr>First-Mover Advantage  in the Stackelberg Model</vt:lpstr>
      <vt:lpstr>First-Mover Advantage  in the Stackelberg Model</vt:lpstr>
      <vt:lpstr>15.8  Stackelberg Springs</vt:lpstr>
      <vt:lpstr>15.8  Stackelberg Springs</vt:lpstr>
      <vt:lpstr>15.6 Stackelberg Game</vt:lpstr>
      <vt:lpstr>Contrast with Price Leadership</vt:lpstr>
      <vt:lpstr>Contrast with Price Leadership</vt:lpstr>
      <vt:lpstr>Contrast with Price Leadership</vt:lpstr>
      <vt:lpstr>15.9  Price-Leadership Game</vt:lpstr>
      <vt:lpstr>15.7 Price-Leadership Game</vt:lpstr>
      <vt:lpstr>Strategic Entry Deterrence</vt:lpstr>
      <vt:lpstr>15.10      Deterring Entry of a Natural Spring</vt:lpstr>
      <vt:lpstr>15.10      Deterring Entry of a Natural Spring</vt:lpstr>
      <vt:lpstr>15.10      Deterring Entry of a Natural Spring</vt:lpstr>
      <vt:lpstr>Signaling</vt:lpstr>
      <vt:lpstr>Entry-Deterrence Model</vt:lpstr>
      <vt:lpstr>Entry-Deterrence Model</vt:lpstr>
      <vt:lpstr>Entry-Deterrence Model</vt:lpstr>
      <vt:lpstr>Entry-Deterrence Model</vt:lpstr>
      <vt:lpstr>Entry-Deterrence Model</vt:lpstr>
      <vt:lpstr>15.8 Signaling for Entry Deterrence</vt:lpstr>
      <vt:lpstr>Separating Equilibrium</vt:lpstr>
      <vt:lpstr>Separating Equilibrium</vt:lpstr>
      <vt:lpstr>Pooling Equilibrium</vt:lpstr>
      <vt:lpstr>Predatory Pricing</vt:lpstr>
      <vt:lpstr>How Many Firms Enter?</vt:lpstr>
      <vt:lpstr>How Many Firms Enter?</vt:lpstr>
      <vt:lpstr>How Many Firms Enter?</vt:lpstr>
      <vt:lpstr>How Many Firms Enter?</vt:lpstr>
      <vt:lpstr>How Many Firms Enter?</vt:lpstr>
      <vt:lpstr>How Many Firms Enter?</vt:lpstr>
      <vt:lpstr>How Many Firms Enter?</vt:lpstr>
      <vt:lpstr>15.11  Cournot in the Long Run</vt:lpstr>
      <vt:lpstr>15.11  Cournot in the Long Run</vt:lpstr>
      <vt:lpstr>15.11  Cournot in the Long Run</vt:lpstr>
      <vt:lpstr>15.9 Profit and Consumer Surplus in   Example 15.11</vt:lpstr>
      <vt:lpstr>Feedback Effect</vt:lpstr>
      <vt:lpstr>Monopoly on Innovation</vt:lpstr>
      <vt:lpstr>Monopoly on Innovation</vt:lpstr>
      <vt:lpstr>Competition for Innovation</vt:lpstr>
      <vt:lpstr>Strategic substitutes and complements</vt:lpstr>
      <vt:lpstr>Nash Equilibrium</vt:lpstr>
      <vt:lpstr>Best-response functions in more detail</vt:lpstr>
      <vt:lpstr>Inferences from the profit function</vt:lpstr>
      <vt:lpstr>Cournot model</vt:lpstr>
      <vt:lpstr>Bertrand model w/ differentiated products</vt:lpstr>
      <vt:lpstr>Entry accommodation: sequential game</vt:lpstr>
      <vt:lpstr>Entry accommodation: sequential game</vt:lpstr>
      <vt:lpstr>Extension to general investments</vt:lpstr>
      <vt:lpstr>Extension to general investments</vt:lpstr>
      <vt:lpstr>Extension to general investments</vt:lpstr>
      <vt:lpstr>Extension to general investments</vt:lpstr>
      <vt:lpstr>Most-favored customer program</vt:lpstr>
      <vt:lpstr>Extension to general investments</vt:lpstr>
      <vt:lpstr>15.1  Strategic Effect when Accommodating Entry</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636</cp:revision>
  <dcterms:created xsi:type="dcterms:W3CDTF">2016-06-05T19:40:39Z</dcterms:created>
  <dcterms:modified xsi:type="dcterms:W3CDTF">2016-06-21T17:18:36Z</dcterms:modified>
</cp:coreProperties>
</file>